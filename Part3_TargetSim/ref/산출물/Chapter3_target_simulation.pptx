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이번 과제의 주제는 표적 궤적 모의입니다. 지난번에는 레이다가 잰 값을 위경도로 바꾸는 일을 했는데, 이번에는 반대로 표적을 우리가 직접 만들어서 60초 동안 움직여 보는 일입니다.</a:t>
            </a:r>
          </a:p>
          <a:p>
            <a:r>
              <a:t>원리, 기동 모델, C 구현, 결과 순서로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부분입니다.</a:t>
            </a:r>
          </a:p>
          <a:p>
            <a:r>
              <a:t>들어가며에서 과제가 무엇을 요구하는지 짚고, 첫째 장에서 표적을 움직이는 원리를 봅니다. 어느 좌표계를 쓰는지, 위치와 속도를 왜 다르게 다루는지, 시간을 어떻게 흘려보내는지입니다.</a:t>
            </a:r>
          </a:p>
          <a:p>
            <a:r>
              <a:t>둘째 장은 기동 모델입니다. 표적이 방향을 바꾸는 걸 몇 g 라는 숫자 하나로 어떻게 표현하는지 다룹니다.</a:t>
            </a:r>
          </a:p>
          <a:p>
            <a:r>
              <a:t>셋째 장은 C 구현입니다. 구조체, 과제 조건, 속도 변환, 한 스텝 함수를 코드로 보고, MFC 화면이 그걸 어떻게 돌리는지 봅니다.</a:t>
            </a:r>
          </a:p>
          <a:p>
            <a:r>
              <a:t>넷째 장은 결과입니다. 실행 화면과 궤적 그림, 그리고 결과가 맞는지 확인한 검증표입니다.</a:t>
            </a:r>
          </a:p>
          <a:p>
            <a:r>
              <a:t>수학은 고등학교 물리에 나오는 등속 원운동 정도면 충분합니다. 나올 때마다 다시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과제를 한 줄로 줄이면 이렇습니다. 표적을 정의하고, 0.1초마다 움직이고, 위경도로 그려라.</a:t>
            </a:r>
          </a:p>
          <a:p>
            <a:r>
              <a:t>왼쪽 그림이 상황입니다. 우리 배는 북위 32도, 동경 126도에 서 있고 움직이지 않습니다. 북쪽으로 13.3 킬로미터 떨어진 곳에 대공 표적이 고도 300 미터에서 초속 200 미터로 남쪽, 그러니까 우리 쪽으로 날아옵니다. 그 옆에 대함 표적이 초속 30 미터로 서쪽으로 갑니다. 이걸 60초 동안 0.1초 간격으로 갱신하면 표적마다 600개의 점이 찍힙니다.</a:t>
            </a:r>
          </a:p>
          <a:p>
            <a:r>
              <a:t>오른쪽이 요구사항 네 가지입니다. 표적 구조체를 정의할 것, 표적은 최대 10개, 기동은 표적마다 최대 30번. 위치와 속도는 ECEF 좌표계에서 갱신할 것. 시뮬레이션은 60초, 0.1초 간격. 결과는 위경도로 출력하고 그림으로 보일 것.</a:t>
            </a:r>
          </a:p>
          <a:p>
            <a:r>
              <a:t>지난 과제와 다른 점을 분명히 하고 가겠습니다. 지난번엔 측정값 하나가 변환 체인을 한 번 지나 점 하나가 나왔습니다. 이번엔 같은 계산을 600번 반복합니다. 그 변환 함수들은 제공된 참고 코드에 그대로 있어서 손댈 일이 없고, 새로 들어온 건 속도, 시간, 기동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장입니다. 표적 하나를 0.1초 뒤로 옮기려면 뭐가 필요한지 원리부터 보겠습니다. 좌표계 넷, 위치와 속도의 차이, 시간 적분과 지구 곡률, 그리고 한 스텝의 순서까지 네 장입니다.</a:t>
            </a:r>
          </a:p>
          <a:p>
            <a:r>
              <a:t>약속 하나만 드리면, 발표에서는 각도를 도로 말하고 프로그램 안에서는 라디안을 씁니다. 거리는 전부 미터입니다.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지난번에 여섯 개를 봤는데 이번에 쓰는 건 넷입니다.</a:t>
            </a:r>
          </a:p>
          <a:p>
            <a:r>
              <a:t>첫째, 위도 경도 고도. 지도 주소라고 생각하시면 됩니다. 사람이 읽는 자리라서 과제도 처음 위치를 이 형식으로 받고 결과도 이 형식으로 내라고 합니다.</a:t>
            </a:r>
          </a:p>
          <a:p>
            <a:r>
              <a:t>둘째, ECEF. 지구 중심에 원점을 두고 미터로 x, y, z 를 재는 직교좌표입니다. 지구에 박아 놓은 자입니다. 계산은 전부 여기서 합니다.</a:t>
            </a:r>
          </a:p>
          <a:p>
            <a:r>
              <a:t>셋째, NED. 표적이 서 있는 자리의 북쪽, 동쪽, 아래쪽입니다. 내 발밑 나침반입니다. 원점이 플랫폼이 아니라 표적 자신이라는 게 중요합니다. 자세각이 이 수평면 기준으로 정의되니까요.</a:t>
            </a:r>
          </a:p>
          <a:p>
            <a:r>
              <a:t>넷째, 동체. 표적의 몸 기준, 앞, 오른쪽, 아래입니다. 과제가 표적 속도를 앞으로 가는 속력 하나로 받으라고 했는데, 그게 적혀 있는 자리가 여기입니다.</a:t>
            </a:r>
          </a:p>
          <a:p>
            <a:r>
              <a:t>그러면 왜 굳이 ECEF에서 움직이느냐. 위도는 각도입니다. 북위 32도 근처에서 위도 1도는 111 킬로미터인데 경도 1도는 94 킬로미터밖에 안 됩니다. 같은 1도라는 눈금인데 길이가 다르고, 애초에 도에다 미터를 더할 수가 없습니다. ECEF는 세 축이 전부 미터라 지금 위치에 속도 곱하기 시간을 더하면 끝입니다. 그리고 플랫폼과 무관한 절대 좌표라 나중에 배가 움직여도 표적 궤적이 흔들리지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여기가 이번 과제의 핵심 하나입니다. 과제에 추가 고민 항목으로 나온, 동체 속도를 ECEF 성분으로 바꾸는 방법의 답이기도 합니다.</a:t>
            </a:r>
          </a:p>
          <a:p>
            <a:r>
              <a:t>위치는 어디에 있나라는 말이라 원점이 있어야 성립합니다. 같은 점을 원점 A에서 보면 어떤 숫자고 원점 B에서 보면 다른 숫자입니다. 그래서 위치를 옮길 때는 회전행렬로 돌리고 원점 차이를 더합니다. 지난 과제에서 계속 했던 그겁니다.</a:t>
            </a:r>
          </a:p>
          <a:p>
            <a:r>
              <a:t>속도는 어느 쪽으로 얼마나 빨리라는 말이라 원점이 필요 없습니다. 화살표 하나면 되고, 어디에 그려도 같은 화살표입니다. 그러니까 속도를 옮길 때는 축이 돌아간 만큼만 돌리면 됩니다. 회전만 하고 평행이동은 하지 않습니다.</a:t>
            </a:r>
          </a:p>
          <a:p>
            <a:r>
              <a:t>그림이 실제 순서입니다. 회전 두 번입니다. 첫째 칸, 표적은 앞으로만 가니까 동체 속도가 V, 0, 0 입니다. 대공 표적이면 200, 0, 0. 둘째 칸, 자세각 롤, 피치, 요로 돌리면 NED 속도가 됩니다. 요가 180도니까 마이너스 200, 0, 0, 남쪽으로 200 이라는 뜻입니다. 셋째 칸, 표적 자신의 위도 경도로 한 번 더 돌리면 ECEF 속도입니다.</a:t>
            </a:r>
          </a:p>
          <a:p>
            <a:r>
              <a:t>여기서 조심할 게 하나 있습니다. 참고 코드의 NED에서 ECEF로 가는 함수는 마지막에 플랫폼 위치를 더하게 되어 있습니다. 위치에는 맞는데 속도에는 그 항이 있으면 안 됩니다. 그래서 플랫폼 위치 인자에 0을 넣습니다. 검산은 간단합니다. 회전만 했으니 결과 크기가 정확히 200 이어야 합니다. 실수로 플랫폼 위치를 더하면 초속 6,372 킬로미터, 지구 반지름이 속도에 섞여 들어간 값이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속도를 구했으니 시간을 흘려보냅니다. 새 위치는 지금 위치 더하기 속도 곱하기 0.1초. 자동차로 치면 시속 720 킬로미터로 0.1초 가면 20 미터고, 600번 더하면 12 킬로미터입니다. 한 스텝 안에서는 속도가 일정하니까 이 한 줄이면 정확합니다. 곡선은 매 스텝 방향을 다시 정해서 만듭니다.</a:t>
            </a:r>
          </a:p>
          <a:p>
            <a:r>
              <a:t>그런데 여기 함정이 하나 있습니다. 참고 코드로 직접 돌려 본 실험입니다. 대공 표적을 고도 300 미터에서 60초 직진시켰습니다. A는 처음에 구한 ECEF 속도를 60초 내내 그대로 쓴 겁니다. B는 매 스텝 표적의 현재 위경도로 수평면을 다시 잡고 속도 방향을 다시 만든 겁니다.</a:t>
            </a:r>
          </a:p>
          <a:p>
            <a:r>
              <a:t>A는 60초 뒤 고도가 311.3 미터입니다. 11 미터 떠올랐습니다. B는 300.0 미터입니다.</a:t>
            </a:r>
          </a:p>
          <a:p>
            <a:r>
              <a:t>왜 떠오르느냐. 지구가 둥글기 때문입니다. 처음 자리의 수평면은 그 자리의 접선인데, 접선 방향으로 12 킬로미터를 쭉 가면 땅은 그 아래로 휘어 내려갑니다. 거리 제곱 나누기 2R, 12,000 제곱 나누기 2 곱하기 6,371,000 을 계산하면 11.3 미터입니다. 실험값과 딱 맞습니다.</a:t>
            </a:r>
          </a:p>
          <a:p>
            <a:r>
              <a:t>그래서 매 스텝 위경도로 되돌리는 마지막 단계가 그냥 출력용이 아닙니다. 다음 스텝의 수평면을 잡는 기준입니다. 이 순서를 지키면 수평 비행이 수평으로 유지됩니다.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나온 걸 한 스텝으로 정리하면 다섯 단계입니다.</a:t>
            </a:r>
          </a:p>
          <a:p>
            <a:r>
              <a:t>하나, 기동 판단. 지금 시각이 어느 기동 구간에 들어 있는지 봅니다. 둘, 자세 갱신. 기동 중이면 각속도 곱하기 0.1초만큼 자세각을 돌립니다. 이 둘은 다음 장에서 자세히 합니다. 셋, 속도 변환. 동체에서 NED, NED에서 ECEF, 회전 두 번. 넷, 위치 적분. ECEF에서 속도 곱하기 0.1초를 더합니다. 다섯, 위경도 변환. 기록도 하고 다음 스텝의 수평면 기준도 만듭니다.</a:t>
            </a:r>
          </a:p>
          <a:p>
            <a:r>
              <a:t>그리고 시각을 0.1초 올려 처음으로 돌아갑니다. 표적이 열 개면 6,000번인데 컴퓨터에는 아무것도 아닙니다. 순서가 중요한 건 셋, 넷, 다섯입니다. 자세가 정해져야 속도, 속도가 있어야 위치, 위치가 있어야 새 수평면입니다. 뒤에서 이 다섯 단계가 함수 하나로 그대로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기동입니다. 표적이 방향을 바꾸는 걸 어떻게 숫자로 만드느냐. 과제가 준 재료는 몇 g 인가, 어느 축인가, 언제 시작하고 끝나는가 넷입니다. 약속 하나, 기동 중에도 속력은 바뀌지 않는다고 놓습니다. 방향만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과제의 Gravity Value 가 하중배수, 흔히 몇 g 라고 하는 그 숫자입니다.</a:t>
            </a:r>
          </a:p>
          <a:p>
            <a:r>
              <a:t>커브를 도는 자동차를 생각하시면 됩니다. 속력은 그대로인데 방향이 계속 바뀌려면 안쪽으로 당기는 가속도가 있어야 합니다. 그 크기를 중력가속도 g 의 몇 배인가로 적은 게 n 입니다. 가만히 서 있으면 1 g, 승용차 커브가 0.3 g, 롤러코스터 바닥이나 전투기 급선회가 3 g, 전투기 한계가 9 g 정도입니다. 이 가속도는 속도에 수직이라 옆으로만 당기고, 그래서 속력은 안 변하고 방향만 변합니다.</a:t>
            </a:r>
          </a:p>
          <a:p>
            <a:r>
              <a:t>그러면 고등학교 물리 등속 원운동 그대로입니다. 반경 R 을 속력 V 로 돌면 구심가속도가 V 제곱 나누기 R 이고, 이게 n g 입니다. R 에 대해 풀면 선회 반경이 V 제곱 나누기 n g, 각속도는 n g 나누기 V 입니다.</a:t>
            </a:r>
          </a:p>
          <a:p>
            <a:r>
              <a:t>표가 실제 숫자입니다. 초속 200 미터 대공 표적이 3 g 로 돌면 1초에 8.4도, 반경 1.36 킬로미터, 반 바퀴에 21초입니다. 초속 30 미터 배는 0.1 g 만 돼도 1초에 1.9도, 반경 918 미터입니다. 같은 g 라도 느린 표적이 훨씬 빨리 돕니다. 각속도가 속력에 반비례하니까요. 그래서 배 기동에는 0.1 g 같은 작은 값을 넣어야 그럴듯합니다.</a:t>
            </a:r>
          </a:p>
          <a:p>
            <a:r>
              <a:t>프로그램에서 하는 일은 한 줄입니다. n g 나누기 V 를 구해 놓고 매 스텝 자세각에 그 값 곱하기 0.1초를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과제의 TurnType 이 어느 축을 돌리느냐입니다. 0은 안 돌리기, 1이 롤, 2가 요, 3이 피치입니다.</a:t>
            </a:r>
          </a:p>
          <a:p>
            <a:r>
              <a:t>피치는 날개 축을 중심으로 기수가 들리는 겁니다. 상승하거나 강하합니다. 요는 위아래 축을 중심으로 기수가 좌우로 돌아가는 겁니다. 수평 선회고, 배가 방향을 바꾸는 것도 이겁니다. 롤은 앞뒤 축, 그러니까 속도 방향 축을 중심으로 날개가 기우는 거라 속도 방향은 안 바뀌고 자세만 바뀝니다. 대신 그 뒤에 오는 피치 기동의 방향이 바뀝니다. 오른쪽으로 90도 롤을 한 다음 피치로 당기면 위가 아니라 오른쪽으로 돕니다. 실제 비행기가 선회하는 방식입니다.</a:t>
            </a:r>
          </a:p>
          <a:p>
            <a:r>
              <a:t>축을 돌린 다음 속도가 어느 쪽인지는 따로 계산할 필요가 없습니다. 자세각만 바꿔 두면 6장에서 본 회전 두 번이 새 속도 방향을 만들어 줍니다.</a:t>
            </a:r>
          </a:p>
          <a:p>
            <a:r>
              <a:t>기동 하나는 네 값으로 적습니다. 몇 g, 어느 축, 시작 시각, 끝 시각. 표적마다 최대 30개를 배열에 담고, 매 스텝 첫 단계에서 지금 시각이 어느 구간에 들어 있는지 봅니다. 규칙 셋을 정했습니다. g 값이 음수면 반대 방향으로 돕니다. 구간이 겹치면 먼저 적힌 걸 씁니다. 기동이 끝나면 그 순간의 자세를 유지하고 직진합니다.</a:t>
            </a:r>
          </a:p>
          <a:p>
            <a:r>
              <a:t>과제 조건에는 기동 목록이 없습니다. 그래서 발표용 예시 기동을 우리가 정해서 넣었습니다. 안 그러면 직진 두 개만 그려지고 30개짜리 배열을 만든 의미가 안 보이니까요.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구현입니다. 코드는 C 로 짰고, 제공받은 좌표변환 코드는 한 글자도 고치지 않고 그대로 링크했습니다. 화면은 지난 과제와 같은 방식으로 MFC 로 만들었는데, MFC 쪽은 계산을 전혀 하지 않고 C 코어를 돌려서 보여 주기만 합니다.</a:t>
            </a:r>
          </a:p>
          <a:p>
            <a:r>
              <a:t>프로그램 구성, 표적 구조체, 과제 조건, 속도 변환, 한 스텝 함수, 그리고 화면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덩어리입니다.</a:t>
            </a:r>
          </a:p>
          <a:p>
            <a:r>
              <a:t>왼쪽이 제공받은 참고 소스 코드입니다. 좌표변환 함수와 행렬 라이브러리, 상수 정의. 다섯 파일을 수정 없이 그대로 씁니다. 실제로 원본과 바이트 단위로 같은지 비교해서 확인했습니다.</a:t>
            </a:r>
          </a:p>
          <a:p>
            <a:r>
              <a:t>가운데가 이번에 짠 C 코어입니다. 헤더와 소스 하나씩, 합쳐서 250줄쯤 됩니다. 구조체 셋, 과제 조건을 채우는 함수, 시작 함수, 한 스텝 함수. 좌표변환은 전부 제공 코드를 부르기만 합니다.</a:t>
            </a:r>
          </a:p>
          <a:p>
            <a:r>
              <a:t>오른쪽이 MFC 화면입니다. 실행 버튼을 누르면 코어의 스텝 함수를 600번 불러서 위경도를 배열에 모으고, 지도에 그리고, 슬라이더와 재생으로 시각을 움직입니다. CSV로 저장도 됩니다.</a:t>
            </a:r>
          </a:p>
          <a:p>
            <a:r>
              <a:t>한 가지 짚을 게 있습니다. 제공된 Define.h 가 BOOL 을 bool 로 정의하고 있는데, 이게 MFC 의 BOOL 과 충돌합니다. 제공 코드를 고치는 대신 MFC 쪽에서 헤더를 읽은 직후 그 정의만 되돌렸습니다.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과제가 설명을 요구한 구조체입니다. 왼쪽 그림처럼 표적 하나를 카드 한 장으로 생각하면 편합니다.</a:t>
            </a:r>
          </a:p>
          <a:p>
            <a:r>
              <a:t>기동 하나가 ST_Maneuver 입니다. 하중배수, 축, 시작, 끝. 과제가 준 네 항목 그대로입니다.</a:t>
            </a:r>
          </a:p>
          <a:p>
            <a:r>
              <a:t>표적 하나가 ST_Target 이고 두 칸으로 나뉩니다. 위쪽 다섯 줄이 입력 칸입니다. 초기 위치를 위경도와 고도로, 속력을 동체 앞 방향 하나로, 초기 자세를 롤 피치 요로, 그리고 기동 목록을 배열 30칸과 개수로. 과제가 요구한 입력 형식이 그대로 칸이 됩니다.</a:t>
            </a:r>
          </a:p>
          <a:p>
            <a:r>
              <a:t>아래 네 줄이 상태 칸입니다. ECEF 위치, ECEF 속도, 현재 자세, 그리고 출력용 현재 위경도. 과제가 ECEF에서 갱신하라고 한 그 값들입니다. 처음에 입력 칸을 읽어 상태 칸을 채우고, 그 뒤 600번은 상태 칸만 고칩니다.</a:t>
            </a:r>
          </a:p>
          <a:p>
            <a:r>
              <a:t>시나리오가 ST_Scenario 입니다. 플랫폼 카드 한 장, 표적 카드 최대 10장과 개수, 시뮬레이션 시간과 간격. 플랫폼도 속력 0인 표적 카드로 둔 게 요령입니다. 갱신 함수가 하나로 통일되고, 나중에 배가 움직이는 시나리오가 와도 카드 값만 바꾸면 됩니다.</a:t>
            </a:r>
          </a:p>
          <a:p>
            <a:r>
              <a:t>좌표 타입은 제공 코드의 구조체를 그대로 썼습니다. 위경도, 직교좌표, 자세각 셋 다 참고 코드에 이미 있으니까요. 이름 규칙은 코딩 규칙대로 구조체는 ST 접두사, typedef 로 선언했습니다.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조건을 넣는 함수입니다. 왼쪽 코드, 오른쪽이 같은 값의 표입니다.</a:t>
            </a:r>
          </a:p>
          <a:p>
            <a:r>
              <a:t>시뮬레이션 시간 60초, 간격 0.1초, 표적 둘. 플랫폼은 북위 32도 동경 126도, 속력 0. 표적 1이 대함, 북위 32.125도 동경 126.03도, 초속 30 미터, 요 270도로 서쪽. 표적 2가 대공, 북위 32.12도 동경 126.0도 고도 300 미터, 초속 200 미터, 요 180도로 남쪽입니다.</a:t>
            </a:r>
          </a:p>
          <a:p>
            <a:r>
              <a:t>각도는 도로 받아서 함수 안에서 라디안으로 바꿉니다. 프로그램 안에서는 라디안만 쓴다는 약속입니다.</a:t>
            </a:r>
          </a:p>
          <a:p>
            <a:r>
              <a:t>아래 if 문이 발표용 기동 예시입니다. 화면의 체크박스를 켜면 붙습니다. 대함 표적에 20초부터 50초까지 0.1 g 좌선회, 음수라서 왼쪽입니다. 대공 표적에 10초부터 20초까지 3 g 우선회, 35초부터 40초까지 2 g 기수 들기. 표적을 더 넣고 싶으면 이 함수에 줄을 더 쓰면 되고, 최대 10개까지입니다.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6장에서 본 회전 두 번이 이 함수입니다. 열 줄이 안 됩니다.</a:t>
            </a:r>
          </a:p>
          <a:p>
            <a:r>
              <a:t>첫 줄이 동체에서 NED입니다. 제공 코드의 Body to Ned 함수에 속력을 x 성분으로, 나머지는 0으로 넣고, 자세각을 넘깁니다. 인자 순서가 롤, 요, 피치라서 제공 코드 헤더에 적힌 대로 맞췄습니다.</a:t>
            </a:r>
          </a:p>
          <a:p>
            <a:r>
              <a:t>둘째 줄이 NED에서 ECEF입니다. 제공 코드의 Ned to Ecef 함수인데, 가운데 세 인자가 플랫폼 위치입니다. 속도는 벡터라 여기에 0을 넣습니다. 그 뒤가 위도 경도인데, 플랫폼이 아니라 표적 자신의 현재 위경도를 넣습니다. 표적이 서 있는 자리의 수평면이니까요.</a:t>
            </a:r>
          </a:p>
          <a:p>
            <a:r>
              <a:t>그 아래가 초기화입니다. 위경도를 ECEF로 바꾸는 함수는 인자 순서가 경도, 위도, 고도입니다. 구조체는 위도가 먼저라 바꿔 넣기 쉬운데, 바꾸면 북위 54도 동경 212도라는 엉뚱한 점이 나옵니다. 참고 코드에서 조심할 점 두 가지가 이 화면에 다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8장의 다섯 단계가 함수 하나입니다. 주석의 번호가 8장 번호와 같습니다.</a:t>
            </a:r>
          </a:p>
          <a:p>
            <a:r>
              <a:t>첫째와 둘째가 for 문입니다. 기동 목록을 처음부터 훑다가 시작 시각 이하, 끝 시각 미만인 기동을 만나면, 각속도 n g 나누기 V 에 0.1초를 곱한 만큼 그 축의 자세각을 더하고 break 로 빠져나옵니다. 먼저 적힌 기동이 우선이라는 규칙이 이 break 입니다. 시각 비교에 붙인 1e-6 은 0.1을 600번 더하면서 생기는 부동소수점 찌꺼기 때문입니다.</a:t>
            </a:r>
          </a:p>
          <a:p>
            <a:r>
              <a:t>셋째, 방금 본 속도 변환 함수를 부릅니다. 자세가 바뀌었든 안 바뀌었든 매 스텝 부릅니다. 표적의 현재 위경도가 매 스텝 달라지니까요.</a:t>
            </a:r>
          </a:p>
          <a:p>
            <a:r>
              <a:t>넷째, ECEF 세 성분에 속도 곱하기 dt 를 더합니다. 위치 적분이 이 세 줄입니다.</a:t>
            </a:r>
          </a:p>
          <a:p>
            <a:r>
              <a:t>다섯째, 제공 코드로 ECEF를 위경도로 되돌립니다. 이 값이 기록되고, 다음 스텝 셋째 단계의 수평면 기준이 됩니다. 7장의 지구 곡률 문제를 해결하는 게 바로 이 순서입니다.</a:t>
            </a:r>
          </a:p>
          <a:p>
            <a:r>
              <a:t>속력이 0인 플랫폼도 같은 함수를 지납니다. 기동 판단에 속력 0이면 건너뛰는 조건이 있고, 속도가 0이니 위치가 안 변할 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MFC 쪽은 계산이 없습니다. 실행 버튼의 루프가 위 코드입니다. 시작 함수로 상태 칸을 채우고, 600번 스텝 함수를 부르면서 매번 위경도와 고도, 요 각을 배열에 담습니다. 그게 전부입니다. 배열이 채워지면 지도에 넘기고 슬라이더 범위를 0부터 600으로 잡습니다.</a:t>
            </a:r>
          </a:p>
          <a:p>
            <a:r>
              <a:t>지도에서 한 가지 신경 쓴 게 축 비율입니다. 5장에서 본 대로 위도 1도가 경도 1도보다 길기 때문에, 위도 축을 1 나누기 코사인 위도 배 늘려 그립니다. 안 그러면 선회 원이 찌그러진 타원으로 보입니다.</a:t>
            </a:r>
          </a:p>
          <a:p>
            <a:r>
              <a:t>재생은 100 밀리초 타이머입니다. 한 틱에 배속만큼 스텝을 넘기는데, 1배속이면 시뮬레이션 0.1초에 실제 0.1초라 실시간이고 10배속까지 있습니다. 오른쪽이 2배속으로 재생 중인 화면입니다. 표적 위치의 짧은 선이 진행 방향입니다.</a:t>
            </a:r>
          </a:p>
          <a:p>
            <a:r>
              <a:t>CSV 저장은 시각, 표적 번호, 위도, 경도, 고도, 요 각을 한 줄씩 적습니다. 과제가 요구한 위경도 출력이 이 파일이고, 뒤에 나올 파이썬 그림은 이 파일로 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결과입니다. 과제 조건을 지도에 놓고, 실행 화면을 보고, 궤적과 고도 그림을 보고, 기동을 넣은 시나리오를 보고, 마지막에 결과가 맞는지 확인한 검증표입니다.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과제가 준 조건을 지도 위에 놓은 겁니다.</a:t>
            </a:r>
          </a:p>
          <a:p>
            <a:r>
              <a:t>플랫폼이 북위 32도 동경 126도, 정지. 대공 표적이 정북 13.3 킬로미터, 고도 300 미터, 남쪽으로 초속 200 미터. 정확히 우리 쪽으로 날아오는 정면 접근입니다. 처음 고각이 1.2도입니다. 대함 표적은 북쪽 13.9 킬로미터, 동쪽 2.8 킬로미터, 거리 14.1 킬로미터에서 서쪽으로 초속 30 미터. 우리 정북 방향을 가로지릅니다.</a:t>
            </a:r>
          </a:p>
          <a:p>
            <a:r>
              <a:t>두 표적 출발점이 아주 가깝습니다. 550 미터, 2.8 킬로미터 차이입니다. 같은 자리에서 하나는 남쪽으로 빠르게, 하나는 서쪽으로 천천히 가니까 그림에서 대비가 분명합니다.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조건으로 실행한 화면입니다. 왼쪽 위가 표적 카드의 입력 칸, 오른쪽이 궤적 지도, 왼쪽 아래가 슬라이더 시각의 상태 칸입니다. 슬라이더가 60초 끝에 가 있습니다.</a:t>
            </a:r>
          </a:p>
          <a:p>
            <a:r>
              <a:t>지도를 보시면 대공 표적의 주황 선이 정남으로 내려와 플랫폼 삼각형 바로 위에서 끝납니다. 대함 표적의 초록 선은 오른쪽 위에서 서쪽으로 짧게 갑니다. 선 길이 차이가 속력 차이 그대로입니다.</a:t>
            </a:r>
          </a:p>
          <a:p>
            <a:r>
              <a:t>아래 표의 숫자를 읽어 보겠습니다. 대공 표적은 60초 뒤 북위 32.011788도, 경도는 그대로 126도입니다. 플랫폼에서 1,341 미터 앞이고 고각은 12.9도까지 올라갔습니다. 거의 머리 위입니다. 고도는 300.02 미터입니다. 대함 표적은 위도 그대로, 경도가 126.010925도, 서쪽으로 1.8 킬로미터 갔습니다.</a:t>
            </a:r>
          </a:p>
          <a:p>
            <a:r>
              <a:t>이 표의 값이 그대로 CSV로 저장됩니다.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저장한 CSV를 파이썬으로 그린 겁니다. 왼쪽이 평면 궤적, 오른쪽이 고도와 시간입니다.</a:t>
            </a:r>
          </a:p>
          <a:p>
            <a:r>
              <a:t>평면 궤적은 화면 지도와 같은 모양인데 축 비율을 맞춰 놨습니다. 위도 축이 경도 축보다 1.18배 길게 그려져 있어서 실제 거리 비율이 맞습니다.</a:t>
            </a:r>
          </a:p>
          <a:p>
            <a:r>
              <a:t>고도 그림이 중요합니다. 대공 300 미터, 대함 0 미터에서 완전히 평평합니다. 7장에서 매 스텝 수평면을 다시 잡지 않으면 11 미터 떠오른다고 했는데, 그게 처리됐다는 증거가 이 평평한 선입니다. 숫자로는 60초 뒤 300.019 미터, 2 센티미터 차이입니다. 이 2 센티미터도 이유가 있습니다. 한 스텝에 20 미터를 접선 방향으로 가니까 스텝마다 20 제곱 나누기 2R 만큼 뜨고, 그게 600번이면 1.9 센티미터입니다. 이론값과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체크박스를 켜고 기동 예시를 넣은 결과입니다. 왼쪽이 화면, 30초 시점입니다. 오른쪽이 파이썬 그림입니다.</a:t>
            </a:r>
          </a:p>
          <a:p>
            <a:r>
              <a:t>대공 표적을 보시면 10초에 3 g 우선회가 시작돼서 10초 동안 84도를 돌아 서쪽을 향하고, 그 뒤로 직진합니다. 이 원호의 반지름을 궤적 세 점의 외접원으로 재 보니 1,359.5 미터고, 이론값 V 제곱 나누기 n g 는 1,359.6 미터입니다. 0.01 퍼센트 차이입니다. 10장의 공식이 코드에서 그대로 재현된 겁니다.</a:t>
            </a:r>
          </a:p>
          <a:p>
            <a:r>
              <a:t>35초부터 5초 동안 2 g 로 기수를 들었습니다. 5초에 28도가 올라가고, 그 뒤 20초를 28도로 올라가니까 60초에 고도가 2,428 미터가 됩니다. 고도 그림에서 35초부터 올라가는 선이 그겁니다.</a:t>
            </a:r>
          </a:p>
          <a:p>
            <a:r>
              <a:t>대함 표적은 20초부터 50초까지 0.1 g 좌선회입니다. 30초 동안 56도를 돌아 남서쪽을 봅니다. 반경 918 미터, 이론값과 같습니다.</a:t>
            </a:r>
          </a:p>
          <a:p>
            <a:r>
              <a:t>화면 왼쪽 위의 기동 목록 열에 이 값들이 그대로 보입니다. 발표 중에 슬라이더를 움직여 표적이 도는 걸 직접 보여 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과제에서 얻은 교훈이 하나 있습니다. 좌표변환은 틀려도 그럴듯한 값이 나온다. 이번엔 점이 600개라 눈으로는 더 못 잡습니다. 그래서 확인 항목을 다섯 개 정해서 저장한 CSV로 계산했습니다.</a:t>
            </a:r>
          </a:p>
          <a:p>
            <a:r>
              <a:t>첫째, 이동 거리. 속력 곱하기 시간이니까 대공 표적은 12,000 미터를 가야 합니다. 경로 길이가 12,000.000 미터, 오차 1 나노미터 수준입니다. 대함은 1,800.000 미터.</a:t>
            </a:r>
          </a:p>
          <a:p>
            <a:r>
              <a:t>둘째, 속력 보존. 매 스텝 ECEF 속도의 크기가 입력 속력과 같아야 합니다. 최소 최대 모두 200.000000, 편차가 1e-14 입니다. 회전만 했다는 증거입니다.</a:t>
            </a:r>
          </a:p>
          <a:p>
            <a:r>
              <a:t>셋째, 고도 유지. 300.000 에서 300.019 미터, 앞에서 설명한 2 센티미터입니다.</a:t>
            </a:r>
          </a:p>
          <a:p>
            <a:r>
              <a:t>넷째, 선회 반경. 1,359.5 대 1,359.6 미터.</a:t>
            </a:r>
          </a:p>
          <a:p>
            <a:r>
              <a:t>다섯째, 위경도 왕복. 위경도를 ECEF로 갔다가 되돌리면 같은 값이어야 하는데 오차가 0.03 밀리미터입니다. 참고 코드는 반복을 다섯 번 고정으로 하는데 이 정도면 충분합니다.</a:t>
            </a:r>
          </a:p>
          <a:p>
            <a:r>
              <a:t>다섯 칸이 채워졌으니 궤적이 그림이 아니라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가지로 정리하겠습니다.</a:t>
            </a:r>
          </a:p>
          <a:p>
            <a:r>
              <a:t>하나, 과제 3은 과제 2의 변환 함수에 시간 루프와 기동 모델을 얹은 것입니다. 제공 코드는 한 줄도 안 고쳤습니다. 둘, 위치는 회전과 평행이동, 속도는 회전만입니다. 속도에 위치를 더하면 안 됩니다. 셋, 새 위치는 지금 위치 더하기 속도 곱하기 0.1초, ECEF에서 더합니다. 넷, 지구는 둥급니다. 매 스텝 표적 자리의 수평면을 다시 잡아야 고도가 유지됩니다. 다섯, 기동은 원운동입니다. 각속도 n g 나누기 V, 반경 V 제곱 나누기 n g. 코드가 이 값을 0.01 퍼센트로 재현했습니다. 여섯, 표적 카드는 입력 칸과 상태 칸으로 나눕니다. 플랫폼도 카드 한 장입니다. 일곱, 검증 없는 궤적은 그림일 뿐입니다. 거리, 속력, 고도, 반경, 왕복 다섯 가지로 확인했습니다.</a:t>
            </a:r>
          </a:p>
          <a:p>
            <a:r>
              <a:t>이상입니다. 질문 환영합니다.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제공된 좌표변환 코드에서 이번에 쓴 함수와 조심한 점입니다.</a:t>
            </a:r>
          </a:p>
          <a:p>
            <a:r>
              <a:t>쓴 건 넷입니다. 위경도와 ECEF를 오가는 둘, 동체에서 NED, NED에서 ECEF. 안테나 계열과 ENU 계열, 플랫폼 보상 함수는 안 썼습니다.</a:t>
            </a:r>
          </a:p>
          <a:p>
            <a:r>
              <a:t>함정이 넷입니다. 위경도에서 ECEF로 가는 함수는 경도가 첫째 인자입니다. 자세각 인자는 롤, 요, 피치 순서입니다. 모든 각도는 라디안입니다. NED에서 ECEF로 가는 함수는 플랫폼 위치를 더하므로 속도에는 0을 넣어야 합니다. 그리고 Define.h 의 BOOL 정의가 MFC와 충돌해서 MFC 쪽에서 되돌렸습니다.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용어를 한 표로 모았습니다. 하중배수, 각속도, 오일러 적분, 자세각, ECEF, NED, 타원체고, 회전행렬. 질문이 있으면 이 표를 보면서 답하겠습니다.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33F"/>
        </a:solidFill>
        <a:effectLst/>
      </p:bgPr>
    </p:bg>
    <p:spTree>
      <p:nvGrpSpPr>
        <p:cNvPr id="1" name=""/>
        <p:cNvGrpSpPr/>
        <p:nvPr/>
      </p:nvGrpSpPr>
      <p:grpSpPr/>
      <p:sp>
        <p:nvSpPr>
          <p:cNvPr id="2" name="TextBox 1"/>
          <p:cNvSpPr txBox="1"/>
          <p:nvPr/>
        </p:nvSpPr>
        <p:spPr>
          <a:xfrm>
            <a:off x="9418320" y="502920"/>
            <a:ext cx="2286000" cy="320040"/>
          </a:xfrm>
          <a:prstGeom prst="rect">
            <a:avLst/>
          </a:prstGeom>
          <a:noFill/>
        </p:spPr>
        <p:txBody>
          <a:bodyPr wrap="none" anchor="t" lIns="0" rIns="0" tIns="0" bIns="0">
            <a:spAutoFit/>
          </a:bodyPr>
          <a:lstStyle/>
          <a:p>
            <a:pPr algn="r"/>
            <a:r>
              <a:rPr sz="1100" b="1">
                <a:solidFill>
                  <a:srgbClr val="FFFFFF"/>
                </a:solidFill>
                <a:latin typeface="Arial"/>
              </a:rPr>
              <a:t>Chapter 3</a:t>
            </a:r>
          </a:p>
        </p:txBody>
      </p:sp>
      <p:sp>
        <p:nvSpPr>
          <p:cNvPr id="3" name="TextBox 2"/>
          <p:cNvSpPr txBox="1"/>
          <p:nvPr/>
        </p:nvSpPr>
        <p:spPr>
          <a:xfrm>
            <a:off x="3931920" y="2468880"/>
            <a:ext cx="7772400" cy="914400"/>
          </a:xfrm>
          <a:prstGeom prst="rect">
            <a:avLst/>
          </a:prstGeom>
          <a:noFill/>
        </p:spPr>
        <p:txBody>
          <a:bodyPr wrap="square" anchor="ctr" lIns="0" rIns="0" tIns="0" bIns="0">
            <a:spAutoFit/>
          </a:bodyPr>
          <a:lstStyle/>
          <a:p>
            <a:pPr algn="r"/>
            <a:r>
              <a:rPr sz="4000" b="1">
                <a:solidFill>
                  <a:srgbClr val="FFFFFF"/>
                </a:solidFill>
                <a:latin typeface="맑은 고딕"/>
              </a:rPr>
              <a:t>표적 궤적 모의</a:t>
            </a:r>
          </a:p>
        </p:txBody>
      </p:sp>
      <p:sp>
        <p:nvSpPr>
          <p:cNvPr id="4" name="TextBox 3"/>
          <p:cNvSpPr txBox="1"/>
          <p:nvPr/>
        </p:nvSpPr>
        <p:spPr>
          <a:xfrm>
            <a:off x="3931920" y="3401568"/>
            <a:ext cx="7772400" cy="384048"/>
          </a:xfrm>
          <a:prstGeom prst="rect">
            <a:avLst/>
          </a:prstGeom>
          <a:noFill/>
        </p:spPr>
        <p:txBody>
          <a:bodyPr wrap="square" anchor="t" lIns="0" rIns="0" tIns="0" bIns="0">
            <a:spAutoFit/>
          </a:bodyPr>
          <a:lstStyle/>
          <a:p>
            <a:pPr algn="r"/>
            <a:r>
              <a:rPr sz="1600" b="0">
                <a:solidFill>
                  <a:srgbClr val="C9D6EC"/>
                </a:solidFill>
                <a:latin typeface="맑은 고딕"/>
              </a:rPr>
              <a:t>표적을 정의하고, 0.1초마다 움직이고, 위경도로 그리기까지</a:t>
            </a:r>
          </a:p>
        </p:txBody>
      </p:sp>
      <p:sp>
        <p:nvSpPr>
          <p:cNvPr id="5" name="TextBox 4"/>
          <p:cNvSpPr txBox="1"/>
          <p:nvPr/>
        </p:nvSpPr>
        <p:spPr>
          <a:xfrm>
            <a:off x="3931920" y="3858768"/>
            <a:ext cx="7772400" cy="329184"/>
          </a:xfrm>
          <a:prstGeom prst="rect">
            <a:avLst/>
          </a:prstGeom>
          <a:noFill/>
        </p:spPr>
        <p:txBody>
          <a:bodyPr wrap="square" anchor="t" lIns="0" rIns="0" tIns="0" bIns="0">
            <a:spAutoFit/>
          </a:bodyPr>
          <a:lstStyle/>
          <a:p>
            <a:pPr algn="r"/>
            <a:r>
              <a:rPr sz="1200" b="0">
                <a:solidFill>
                  <a:srgbClr val="8FA6CC"/>
                </a:solidFill>
                <a:latin typeface="맑은 고딕"/>
              </a:rPr>
              <a:t>원리  ·  기동 모델  ·  C 구현  ·  결과</a:t>
            </a:r>
          </a:p>
        </p:txBody>
      </p:sp>
      <p:sp>
        <p:nvSpPr>
          <p:cNvPr id="6" name="TextBox 5"/>
          <p:cNvSpPr txBox="1"/>
          <p:nvPr/>
        </p:nvSpPr>
        <p:spPr>
          <a:xfrm>
            <a:off x="6217920" y="4389120"/>
            <a:ext cx="5486400" cy="320040"/>
          </a:xfrm>
          <a:prstGeom prst="rect">
            <a:avLst/>
          </a:prstGeom>
          <a:noFill/>
        </p:spPr>
        <p:txBody>
          <a:bodyPr wrap="square" anchor="t" lIns="0" rIns="0" tIns="0" bIns="0">
            <a:spAutoFit/>
          </a:bodyPr>
          <a:lstStyle/>
          <a:p>
            <a:pPr algn="r"/>
            <a:r>
              <a:rPr sz="1200" b="0">
                <a:solidFill>
                  <a:srgbClr val="C9D6EC"/>
                </a:solidFill>
                <a:latin typeface="맑은 고딕"/>
              </a:rPr>
              <a:t>레이다 시스템 소프트웨어 스터디  ·  Part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algn="l"/>
            <a:r>
              <a:rPr sz="3000" b="1">
                <a:solidFill>
                  <a:srgbClr val="FFFFFF"/>
                </a:solidFill>
                <a:latin typeface="Arial"/>
              </a:rPr>
              <a:t>INDEX</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algn="ctr"/>
            <a:r>
              <a:rPr sz="3000" b="1">
                <a:solidFill>
                  <a:srgbClr val="FFFFFF"/>
                </a:solidFill>
                <a:latin typeface="맑은 고딕"/>
              </a:rPr>
              <a:t>목차</a:t>
            </a:r>
          </a:p>
        </p:txBody>
      </p: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 name="TextBox 6"/>
          <p:cNvSpPr txBox="1"/>
          <p:nvPr/>
        </p:nvSpPr>
        <p:spPr>
          <a:xfrm>
            <a:off x="5074920" y="1051560"/>
            <a:ext cx="1005840" cy="566928"/>
          </a:xfrm>
          <a:prstGeom prst="rect">
            <a:avLst/>
          </a:prstGeom>
          <a:noFill/>
        </p:spPr>
        <p:txBody>
          <a:bodyPr wrap="none" anchor="ctr" lIns="0" rIns="0" tIns="0" bIns="0">
            <a:spAutoFit/>
          </a:bodyPr>
          <a:lstStyle/>
          <a:p>
            <a:pPr algn="l"/>
            <a:r>
              <a:rPr sz="3400" b="1">
                <a:solidFill>
                  <a:srgbClr val="13233F"/>
                </a:solidFill>
                <a:latin typeface="Arial"/>
              </a:rPr>
              <a:t>00</a:t>
            </a:r>
          </a:p>
        </p:txBody>
      </p:sp>
      <p:sp>
        <p:nvSpPr>
          <p:cNvPr id="8" name="TextBox 7"/>
          <p:cNvSpPr txBox="1"/>
          <p:nvPr/>
        </p:nvSpPr>
        <p:spPr>
          <a:xfrm>
            <a:off x="6217920" y="1051560"/>
            <a:ext cx="3246120" cy="566928"/>
          </a:xfrm>
          <a:prstGeom prst="rect">
            <a:avLst/>
          </a:prstGeom>
          <a:noFill/>
        </p:spPr>
        <p:txBody>
          <a:bodyPr wrap="none" anchor="ctr" lIns="0" rIns="0" tIns="0" bIns="0">
            <a:spAutoFit/>
          </a:bodyPr>
          <a:lstStyle/>
          <a:p>
            <a:pPr algn="l"/>
            <a:r>
              <a:rPr sz="1900" b="0">
                <a:solidFill>
                  <a:srgbClr val="1A2233"/>
                </a:solidFill>
                <a:latin typeface="맑은 고딕"/>
              </a:rPr>
              <a:t>들어가며</a:t>
            </a:r>
          </a:p>
        </p:txBody>
      </p:sp>
      <p:sp>
        <p:nvSpPr>
          <p:cNvPr id="9" name="TextBox 8"/>
          <p:cNvSpPr txBox="1"/>
          <p:nvPr/>
        </p:nvSpPr>
        <p:spPr>
          <a:xfrm>
            <a:off x="9555480" y="1051560"/>
            <a:ext cx="2194560" cy="566928"/>
          </a:xfrm>
          <a:prstGeom prst="rect">
            <a:avLst/>
          </a:prstGeom>
          <a:noFill/>
        </p:spPr>
        <p:txBody>
          <a:bodyPr wrap="square" anchor="ctr" lIns="0" rIns="0" tIns="0" bIns="0">
            <a:spAutoFit/>
          </a:bodyPr>
          <a:lstStyle/>
          <a:p>
            <a:pPr algn="l">
              <a:lnSpc>
                <a:spcPts val="1400"/>
              </a:lnSpc>
            </a:pPr>
            <a:r>
              <a:rPr sz="1100" b="0">
                <a:solidFill>
                  <a:srgbClr val="5A6478"/>
                </a:solidFill>
                <a:latin typeface="맑은 고딕"/>
              </a:rPr>
              <a:t>과제 3이 묻는 것</a:t>
            </a:r>
          </a:p>
        </p:txBody>
      </p:sp>
      <p:cxnSp>
        <p:nvCxnSpPr>
          <p:cNvPr id="10" name="Connector 9"/>
          <p:cNvCxnSpPr/>
          <p:nvPr/>
        </p:nvCxnSpPr>
        <p:spPr>
          <a:xfrm>
            <a:off x="5074920" y="1801367"/>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074920" y="1984248"/>
            <a:ext cx="1005840" cy="566928"/>
          </a:xfrm>
          <a:prstGeom prst="rect">
            <a:avLst/>
          </a:prstGeom>
          <a:noFill/>
        </p:spPr>
        <p:txBody>
          <a:bodyPr wrap="none" anchor="ctr" lIns="0" rIns="0" tIns="0" bIns="0">
            <a:spAutoFit/>
          </a:bodyPr>
          <a:lstStyle/>
          <a:p>
            <a:pPr algn="l"/>
            <a:r>
              <a:rPr sz="3400" b="1">
                <a:solidFill>
                  <a:srgbClr val="13233F"/>
                </a:solidFill>
                <a:latin typeface="Arial"/>
              </a:rPr>
              <a:t>01</a:t>
            </a:r>
          </a:p>
        </p:txBody>
      </p:sp>
      <p:sp>
        <p:nvSpPr>
          <p:cNvPr id="12" name="TextBox 11"/>
          <p:cNvSpPr txBox="1"/>
          <p:nvPr/>
        </p:nvSpPr>
        <p:spPr>
          <a:xfrm>
            <a:off x="6217920" y="1984248"/>
            <a:ext cx="3246120" cy="566928"/>
          </a:xfrm>
          <a:prstGeom prst="rect">
            <a:avLst/>
          </a:prstGeom>
          <a:noFill/>
        </p:spPr>
        <p:txBody>
          <a:bodyPr wrap="none" anchor="ctr" lIns="0" rIns="0" tIns="0" bIns="0">
            <a:spAutoFit/>
          </a:bodyPr>
          <a:lstStyle/>
          <a:p>
            <a:pPr algn="l"/>
            <a:r>
              <a:rPr sz="1900" b="0">
                <a:solidFill>
                  <a:srgbClr val="1A2233"/>
                </a:solidFill>
                <a:latin typeface="맑은 고딕"/>
              </a:rPr>
              <a:t>표적을 움직이는 원리</a:t>
            </a:r>
          </a:p>
        </p:txBody>
      </p:sp>
      <p:sp>
        <p:nvSpPr>
          <p:cNvPr id="13" name="TextBox 12"/>
          <p:cNvSpPr txBox="1"/>
          <p:nvPr/>
        </p:nvSpPr>
        <p:spPr>
          <a:xfrm>
            <a:off x="9555480" y="1984248"/>
            <a:ext cx="2194560" cy="566928"/>
          </a:xfrm>
          <a:prstGeom prst="rect">
            <a:avLst/>
          </a:prstGeom>
          <a:noFill/>
        </p:spPr>
        <p:txBody>
          <a:bodyPr wrap="square" anchor="ctr" lIns="0" rIns="0" tIns="0" bIns="0">
            <a:spAutoFit/>
          </a:bodyPr>
          <a:lstStyle/>
          <a:p>
            <a:pPr algn="l">
              <a:lnSpc>
                <a:spcPts val="1400"/>
              </a:lnSpc>
            </a:pPr>
            <a:r>
              <a:rPr sz="1100" b="0">
                <a:solidFill>
                  <a:srgbClr val="5A6478"/>
                </a:solidFill>
                <a:latin typeface="맑은 고딕"/>
              </a:rPr>
              <a:t>좌표계 넷 · 위치와 속도
시간 적분 · 지구 곡률 · 한 스텝</a:t>
            </a:r>
          </a:p>
        </p:txBody>
      </p:sp>
      <p:cxnSp>
        <p:nvCxnSpPr>
          <p:cNvPr id="14" name="Connector 13"/>
          <p:cNvCxnSpPr/>
          <p:nvPr/>
        </p:nvCxnSpPr>
        <p:spPr>
          <a:xfrm>
            <a:off x="5074920" y="2734056"/>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74920" y="2916936"/>
            <a:ext cx="1005840" cy="566928"/>
          </a:xfrm>
          <a:prstGeom prst="rect">
            <a:avLst/>
          </a:prstGeom>
          <a:noFill/>
        </p:spPr>
        <p:txBody>
          <a:bodyPr wrap="none" anchor="ctr" lIns="0" rIns="0" tIns="0" bIns="0">
            <a:spAutoFit/>
          </a:bodyPr>
          <a:lstStyle/>
          <a:p>
            <a:pPr algn="l"/>
            <a:r>
              <a:rPr sz="3400" b="1">
                <a:solidFill>
                  <a:srgbClr val="13233F"/>
                </a:solidFill>
                <a:latin typeface="Arial"/>
              </a:rPr>
              <a:t>02</a:t>
            </a:r>
          </a:p>
        </p:txBody>
      </p:sp>
      <p:sp>
        <p:nvSpPr>
          <p:cNvPr id="16" name="TextBox 15"/>
          <p:cNvSpPr txBox="1"/>
          <p:nvPr/>
        </p:nvSpPr>
        <p:spPr>
          <a:xfrm>
            <a:off x="6217920" y="2916936"/>
            <a:ext cx="3246120" cy="566928"/>
          </a:xfrm>
          <a:prstGeom prst="rect">
            <a:avLst/>
          </a:prstGeom>
          <a:noFill/>
        </p:spPr>
        <p:txBody>
          <a:bodyPr wrap="none" anchor="ctr" lIns="0" rIns="0" tIns="0" bIns="0">
            <a:spAutoFit/>
          </a:bodyPr>
          <a:lstStyle/>
          <a:p>
            <a:pPr algn="l"/>
            <a:r>
              <a:rPr sz="1900" b="0">
                <a:solidFill>
                  <a:srgbClr val="1A2233"/>
                </a:solidFill>
                <a:latin typeface="맑은 고딕"/>
              </a:rPr>
              <a:t>기동 모델</a:t>
            </a:r>
          </a:p>
        </p:txBody>
      </p:sp>
      <p:sp>
        <p:nvSpPr>
          <p:cNvPr id="17" name="TextBox 16"/>
          <p:cNvSpPr txBox="1"/>
          <p:nvPr/>
        </p:nvSpPr>
        <p:spPr>
          <a:xfrm>
            <a:off x="9555480" y="2916936"/>
            <a:ext cx="2194560" cy="566928"/>
          </a:xfrm>
          <a:prstGeom prst="rect">
            <a:avLst/>
          </a:prstGeom>
          <a:noFill/>
        </p:spPr>
        <p:txBody>
          <a:bodyPr wrap="square" anchor="ctr" lIns="0" rIns="0" tIns="0" bIns="0">
            <a:spAutoFit/>
          </a:bodyPr>
          <a:lstStyle/>
          <a:p>
            <a:pPr algn="l">
              <a:lnSpc>
                <a:spcPts val="1400"/>
              </a:lnSpc>
            </a:pPr>
            <a:r>
              <a:rPr sz="1100" b="0">
                <a:solidFill>
                  <a:srgbClr val="5A6478"/>
                </a:solidFill>
                <a:latin typeface="맑은 고딕"/>
              </a:rPr>
              <a:t>하중배수 · 원운동
세 축 · 기동 시간표</a:t>
            </a:r>
          </a:p>
        </p:txBody>
      </p:sp>
      <p:cxnSp>
        <p:nvCxnSpPr>
          <p:cNvPr id="18" name="Connector 17"/>
          <p:cNvCxnSpPr/>
          <p:nvPr/>
        </p:nvCxnSpPr>
        <p:spPr>
          <a:xfrm>
            <a:off x="5074920" y="3666744"/>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074920" y="3849624"/>
            <a:ext cx="1005840" cy="566928"/>
          </a:xfrm>
          <a:prstGeom prst="rect">
            <a:avLst/>
          </a:prstGeom>
          <a:noFill/>
        </p:spPr>
        <p:txBody>
          <a:bodyPr wrap="none" anchor="ctr" lIns="0" rIns="0" tIns="0" bIns="0">
            <a:spAutoFit/>
          </a:bodyPr>
          <a:lstStyle/>
          <a:p>
            <a:pPr algn="l"/>
            <a:r>
              <a:rPr sz="3400" b="1">
                <a:solidFill>
                  <a:srgbClr val="13233F"/>
                </a:solidFill>
                <a:latin typeface="Arial"/>
              </a:rPr>
              <a:t>03</a:t>
            </a:r>
          </a:p>
        </p:txBody>
      </p:sp>
      <p:sp>
        <p:nvSpPr>
          <p:cNvPr id="20" name="TextBox 19"/>
          <p:cNvSpPr txBox="1"/>
          <p:nvPr/>
        </p:nvSpPr>
        <p:spPr>
          <a:xfrm>
            <a:off x="6217920" y="3849624"/>
            <a:ext cx="3246120" cy="566928"/>
          </a:xfrm>
          <a:prstGeom prst="rect">
            <a:avLst/>
          </a:prstGeom>
          <a:noFill/>
        </p:spPr>
        <p:txBody>
          <a:bodyPr wrap="none" anchor="ctr" lIns="0" rIns="0" tIns="0" bIns="0">
            <a:spAutoFit/>
          </a:bodyPr>
          <a:lstStyle/>
          <a:p>
            <a:pPr algn="l"/>
            <a:r>
              <a:rPr sz="1900" b="0">
                <a:solidFill>
                  <a:srgbClr val="1A2233"/>
                </a:solidFill>
                <a:latin typeface="맑은 고딕"/>
              </a:rPr>
              <a:t>C 로 구현</a:t>
            </a:r>
          </a:p>
        </p:txBody>
      </p:sp>
      <p:sp>
        <p:nvSpPr>
          <p:cNvPr id="21" name="TextBox 20"/>
          <p:cNvSpPr txBox="1"/>
          <p:nvPr/>
        </p:nvSpPr>
        <p:spPr>
          <a:xfrm>
            <a:off x="9555480" y="3849624"/>
            <a:ext cx="2194560" cy="566928"/>
          </a:xfrm>
          <a:prstGeom prst="rect">
            <a:avLst/>
          </a:prstGeom>
          <a:noFill/>
        </p:spPr>
        <p:txBody>
          <a:bodyPr wrap="square" anchor="ctr" lIns="0" rIns="0" tIns="0" bIns="0">
            <a:spAutoFit/>
          </a:bodyPr>
          <a:lstStyle/>
          <a:p>
            <a:pPr algn="l">
              <a:lnSpc>
                <a:spcPts val="1400"/>
              </a:lnSpc>
            </a:pPr>
            <a:r>
              <a:rPr sz="1100" b="0">
                <a:solidFill>
                  <a:srgbClr val="5A6478"/>
                </a:solidFill>
                <a:latin typeface="맑은 고딕"/>
              </a:rPr>
              <a:t>구성 · 구조체 · 과제 조건
속도 변환 · 한 스텝 · 화면</a:t>
            </a:r>
          </a:p>
        </p:txBody>
      </p:sp>
      <p:cxnSp>
        <p:nvCxnSpPr>
          <p:cNvPr id="22" name="Connector 21"/>
          <p:cNvCxnSpPr/>
          <p:nvPr/>
        </p:nvCxnSpPr>
        <p:spPr>
          <a:xfrm>
            <a:off x="5074920" y="4599432"/>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074920" y="4782312"/>
            <a:ext cx="1005840" cy="566928"/>
          </a:xfrm>
          <a:prstGeom prst="rect">
            <a:avLst/>
          </a:prstGeom>
          <a:noFill/>
        </p:spPr>
        <p:txBody>
          <a:bodyPr wrap="none" anchor="ctr" lIns="0" rIns="0" tIns="0" bIns="0">
            <a:spAutoFit/>
          </a:bodyPr>
          <a:lstStyle/>
          <a:p>
            <a:pPr algn="l"/>
            <a:r>
              <a:rPr sz="3400" b="1">
                <a:solidFill>
                  <a:srgbClr val="13233F"/>
                </a:solidFill>
                <a:latin typeface="Arial"/>
              </a:rPr>
              <a:t>04</a:t>
            </a:r>
          </a:p>
        </p:txBody>
      </p:sp>
      <p:sp>
        <p:nvSpPr>
          <p:cNvPr id="24" name="TextBox 23"/>
          <p:cNvSpPr txBox="1"/>
          <p:nvPr/>
        </p:nvSpPr>
        <p:spPr>
          <a:xfrm>
            <a:off x="6217920" y="4782312"/>
            <a:ext cx="3246120" cy="566928"/>
          </a:xfrm>
          <a:prstGeom prst="rect">
            <a:avLst/>
          </a:prstGeom>
          <a:noFill/>
        </p:spPr>
        <p:txBody>
          <a:bodyPr wrap="none" anchor="ctr" lIns="0" rIns="0" tIns="0" bIns="0">
            <a:spAutoFit/>
          </a:bodyPr>
          <a:lstStyle/>
          <a:p>
            <a:pPr algn="l"/>
            <a:r>
              <a:rPr sz="1900" b="0">
                <a:solidFill>
                  <a:srgbClr val="1A2233"/>
                </a:solidFill>
                <a:latin typeface="맑은 고딕"/>
              </a:rPr>
              <a:t>결과</a:t>
            </a:r>
          </a:p>
        </p:txBody>
      </p:sp>
      <p:sp>
        <p:nvSpPr>
          <p:cNvPr id="25" name="TextBox 24"/>
          <p:cNvSpPr txBox="1"/>
          <p:nvPr/>
        </p:nvSpPr>
        <p:spPr>
          <a:xfrm>
            <a:off x="9555480" y="4782312"/>
            <a:ext cx="2194560" cy="566928"/>
          </a:xfrm>
          <a:prstGeom prst="rect">
            <a:avLst/>
          </a:prstGeom>
          <a:noFill/>
        </p:spPr>
        <p:txBody>
          <a:bodyPr wrap="square" anchor="ctr" lIns="0" rIns="0" tIns="0" bIns="0">
            <a:spAutoFit/>
          </a:bodyPr>
          <a:lstStyle/>
          <a:p>
            <a:pPr algn="l">
              <a:lnSpc>
                <a:spcPts val="1400"/>
              </a:lnSpc>
            </a:pPr>
            <a:r>
              <a:rPr sz="1100" b="0">
                <a:solidFill>
                  <a:srgbClr val="5A6478"/>
                </a:solidFill>
                <a:latin typeface="맑은 고딕"/>
              </a:rPr>
              <a:t>조건 · 실행 화면 · 궤적
기동 시나리오 · 검증</a:t>
            </a:r>
          </a:p>
        </p:txBody>
      </p:sp>
      <p:sp>
        <p:nvSpPr>
          <p:cNvPr id="26" name="TextBox 25"/>
          <p:cNvSpPr txBox="1"/>
          <p:nvPr/>
        </p:nvSpPr>
        <p:spPr>
          <a:xfrm>
            <a:off x="5074920" y="5806440"/>
            <a:ext cx="6675120" cy="365760"/>
          </a:xfrm>
          <a:prstGeom prst="rect">
            <a:avLst/>
          </a:prstGeom>
          <a:noFill/>
        </p:spPr>
        <p:txBody>
          <a:bodyPr wrap="square" anchor="t" lIns="0" rIns="0" tIns="0" bIns="0">
            <a:spAutoFit/>
          </a:bodyPr>
          <a:lstStyle/>
          <a:p>
            <a:pPr algn="l"/>
            <a:r>
              <a:rPr sz="1150" b="0">
                <a:solidFill>
                  <a:srgbClr val="5A6478"/>
                </a:solidFill>
                <a:latin typeface="맑은 고딕"/>
              </a:rPr>
              <a:t>수학은 고등학교 물리의 등속 원운동 정도면 충분하고, 나올 때마다 다시 설명합니다.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과제 3이 묻는 것</a:t>
            </a:r>
          </a:p>
          <a:p>
            <a:pPr algn="l">
              <a:lnSpc>
                <a:spcPts val="1400"/>
              </a:lnSpc>
            </a:pPr>
            <a:r>
              <a:rPr sz="1100" b="0">
                <a:solidFill>
                  <a:srgbClr val="C9D6EC"/>
                </a:solidFill>
                <a:latin typeface="맑은 고딕"/>
              </a:rPr>
              <a:t>표적을 정의하고, 0.1초마다 움직이고, 위경도로 그려라</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fig01_overview.png"/>
          <p:cNvPicPr>
            <a:picLocks noChangeAspect="1"/>
          </p:cNvPicPr>
          <p:nvPr/>
        </p:nvPicPr>
        <p:blipFill>
          <a:blip r:embed="rId2"/>
          <a:stretch>
            <a:fillRect/>
          </a:stretch>
        </p:blipFill>
        <p:spPr>
          <a:xfrm>
            <a:off x="566928" y="1371600"/>
            <a:ext cx="6766560" cy="3426310"/>
          </a:xfrm>
          <a:prstGeom prst="rect">
            <a:avLst/>
          </a:prstGeom>
        </p:spPr>
      </p:pic>
      <p:sp>
        <p:nvSpPr>
          <p:cNvPr id="8" name="Rounded Rectangle 7"/>
          <p:cNvSpPr/>
          <p:nvPr/>
        </p:nvSpPr>
        <p:spPr>
          <a:xfrm>
            <a:off x="7498079" y="1371600"/>
            <a:ext cx="4133087" cy="932688"/>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7680959" y="1499616"/>
            <a:ext cx="3767327" cy="713232"/>
          </a:xfrm>
          <a:prstGeom prst="rect">
            <a:avLst/>
          </a:prstGeom>
          <a:noFill/>
        </p:spPr>
        <p:txBody>
          <a:bodyPr wrap="square" anchor="t" lIns="0" rIns="0" tIns="0" bIns="0">
            <a:spAutoFit/>
          </a:bodyPr>
          <a:lstStyle/>
          <a:p>
            <a:pPr algn="l">
              <a:spcAft>
                <a:spcPts val="400"/>
              </a:spcAft>
            </a:pPr>
            <a:r>
              <a:rPr sz="1250" b="1">
                <a:solidFill>
                  <a:srgbClr val="2B57A6"/>
                </a:solidFill>
                <a:latin typeface="맑은 고딕"/>
              </a:rPr>
              <a:t>① 표적 구조체를 정의한다</a:t>
            </a:r>
          </a:p>
          <a:p>
            <a:pPr algn="l">
              <a:lnSpc>
                <a:spcPts val="1400"/>
              </a:lnSpc>
            </a:pPr>
            <a:r>
              <a:rPr sz="1050" b="0">
                <a:solidFill>
                  <a:srgbClr val="1A2233"/>
                </a:solidFill>
                <a:latin typeface="맑은 고딕"/>
              </a:rPr>
              <a:t>표적 최대 10개 · 표적마다 기동 최대 30개</a:t>
            </a:r>
          </a:p>
          <a:p>
            <a:pPr algn="l">
              <a:lnSpc>
                <a:spcPts val="1400"/>
              </a:lnSpc>
            </a:pPr>
            <a:r>
              <a:rPr sz="1050" b="0">
                <a:solidFill>
                  <a:srgbClr val="1A2233"/>
                </a:solidFill>
                <a:latin typeface="맑은 고딕"/>
              </a:rPr>
              <a:t>초기 위치는 위경도·고도, 속도는 동체 속력 하나로</a:t>
            </a:r>
          </a:p>
        </p:txBody>
      </p:sp>
      <p:sp>
        <p:nvSpPr>
          <p:cNvPr id="10" name="Rounded Rectangle 9"/>
          <p:cNvSpPr/>
          <p:nvPr/>
        </p:nvSpPr>
        <p:spPr>
          <a:xfrm>
            <a:off x="7498079" y="2395728"/>
            <a:ext cx="4133087" cy="786384"/>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7680959" y="2523744"/>
            <a:ext cx="3767327" cy="566928"/>
          </a:xfrm>
          <a:prstGeom prst="rect">
            <a:avLst/>
          </a:prstGeom>
          <a:noFill/>
        </p:spPr>
        <p:txBody>
          <a:bodyPr wrap="square" anchor="t" lIns="0" rIns="0" tIns="0" bIns="0">
            <a:spAutoFit/>
          </a:bodyPr>
          <a:lstStyle/>
          <a:p>
            <a:pPr algn="l">
              <a:spcAft>
                <a:spcPts val="400"/>
              </a:spcAft>
            </a:pPr>
            <a:r>
              <a:rPr sz="1250" b="1">
                <a:solidFill>
                  <a:srgbClr val="2B57A6"/>
                </a:solidFill>
                <a:latin typeface="맑은 고딕"/>
              </a:rPr>
              <a:t>② 위치·속도는 ECEF 에서 갱신한다</a:t>
            </a:r>
          </a:p>
          <a:p>
            <a:pPr algn="l">
              <a:lnSpc>
                <a:spcPts val="1400"/>
              </a:lnSpc>
            </a:pPr>
            <a:r>
              <a:rPr sz="1050" b="0">
                <a:solidFill>
                  <a:srgbClr val="1A2233"/>
                </a:solidFill>
                <a:latin typeface="맑은 고딕"/>
              </a:rPr>
              <a:t>동체 속력을 ECEF 성분으로 바꾸는 방법도 고민 (추가 항목)</a:t>
            </a:r>
          </a:p>
        </p:txBody>
      </p:sp>
      <p:sp>
        <p:nvSpPr>
          <p:cNvPr id="12" name="Rounded Rectangle 11"/>
          <p:cNvSpPr/>
          <p:nvPr/>
        </p:nvSpPr>
        <p:spPr>
          <a:xfrm>
            <a:off x="7498079" y="3273552"/>
            <a:ext cx="4133087" cy="786384"/>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7680959" y="3401568"/>
            <a:ext cx="3767327" cy="566928"/>
          </a:xfrm>
          <a:prstGeom prst="rect">
            <a:avLst/>
          </a:prstGeom>
          <a:noFill/>
        </p:spPr>
        <p:txBody>
          <a:bodyPr wrap="square" anchor="t" lIns="0" rIns="0" tIns="0" bIns="0">
            <a:spAutoFit/>
          </a:bodyPr>
          <a:lstStyle/>
          <a:p>
            <a:pPr algn="l">
              <a:spcAft>
                <a:spcPts val="400"/>
              </a:spcAft>
            </a:pPr>
            <a:r>
              <a:rPr sz="1250" b="1">
                <a:solidFill>
                  <a:srgbClr val="C2521C"/>
                </a:solidFill>
                <a:latin typeface="맑은 고딕"/>
              </a:rPr>
              <a:t>③ 60초 동안 0.1초 간격으로</a:t>
            </a:r>
          </a:p>
          <a:p>
            <a:pPr algn="l">
              <a:lnSpc>
                <a:spcPts val="1400"/>
              </a:lnSpc>
            </a:pPr>
            <a:r>
              <a:rPr sz="1050" b="0">
                <a:solidFill>
                  <a:srgbClr val="1A2233"/>
                </a:solidFill>
                <a:latin typeface="맑은 고딕"/>
              </a:rPr>
              <a:t>플랫폼 하나 (정지) · 대함 표적 · 대공 표적</a:t>
            </a:r>
          </a:p>
        </p:txBody>
      </p:sp>
      <p:sp>
        <p:nvSpPr>
          <p:cNvPr id="14" name="Rounded Rectangle 13"/>
          <p:cNvSpPr/>
          <p:nvPr/>
        </p:nvSpPr>
        <p:spPr>
          <a:xfrm>
            <a:off x="7498079" y="4151376"/>
            <a:ext cx="4133087" cy="786384"/>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7680959" y="4279392"/>
            <a:ext cx="3767327" cy="566928"/>
          </a:xfrm>
          <a:prstGeom prst="rect">
            <a:avLst/>
          </a:prstGeom>
          <a:noFill/>
        </p:spPr>
        <p:txBody>
          <a:bodyPr wrap="square" anchor="t" lIns="0" rIns="0" tIns="0" bIns="0">
            <a:spAutoFit/>
          </a:bodyPr>
          <a:lstStyle/>
          <a:p>
            <a:pPr algn="l">
              <a:spcAft>
                <a:spcPts val="400"/>
              </a:spcAft>
            </a:pPr>
            <a:r>
              <a:rPr sz="1250" b="1">
                <a:solidFill>
                  <a:srgbClr val="C2521C"/>
                </a:solidFill>
                <a:latin typeface="맑은 고딕"/>
              </a:rPr>
              <a:t>④ 위경도로 출력하고 그림으로</a:t>
            </a:r>
          </a:p>
          <a:p>
            <a:pPr algn="l">
              <a:lnSpc>
                <a:spcPts val="1400"/>
              </a:lnSpc>
            </a:pPr>
            <a:r>
              <a:rPr sz="1050" b="0">
                <a:solidFill>
                  <a:srgbClr val="1A2233"/>
                </a:solidFill>
                <a:latin typeface="맑은 고딕"/>
              </a:rPr>
              <a:t>플랫폼과 표적의 궤적을 지도 위에</a:t>
            </a:r>
          </a:p>
        </p:txBody>
      </p:sp>
      <p:sp>
        <p:nvSpPr>
          <p:cNvPr id="16" name="Rounded Rectangle 15"/>
          <p:cNvSpPr/>
          <p:nvPr/>
        </p:nvSpPr>
        <p:spPr>
          <a:xfrm>
            <a:off x="566928" y="4956048"/>
            <a:ext cx="11064240" cy="1207008"/>
          </a:xfrm>
          <a:prstGeom prst="roundRect">
            <a:avLst>
              <a:gd name="adj" fmla="val 8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786384" y="4956048"/>
            <a:ext cx="10625328" cy="1207008"/>
          </a:xfrm>
          <a:prstGeom prst="rect">
            <a:avLst/>
          </a:prstGeom>
          <a:noFill/>
        </p:spPr>
        <p:txBody>
          <a:bodyPr wrap="square" anchor="ctr" lIns="0" rIns="0" tIns="0" bIns="0">
            <a:spAutoFit/>
          </a:bodyPr>
          <a:lstStyle/>
          <a:p>
            <a:pPr algn="ctr">
              <a:spcAft>
                <a:spcPts val="300"/>
              </a:spcAft>
            </a:pPr>
            <a:r>
              <a:rPr sz="1300" b="1">
                <a:solidFill>
                  <a:srgbClr val="C2521C"/>
                </a:solidFill>
                <a:latin typeface="맑은 고딕"/>
              </a:rPr>
              <a:t>과제 2 와 다른 점 :  변환 함수 넷은 제공 코드 그대로,  새로 들어온 것은  속도 · 시간 · 기동</a:t>
            </a:r>
          </a:p>
          <a:p>
            <a:pPr algn="ctr">
              <a:lnSpc>
                <a:spcPts val="1400"/>
              </a:lnSpc>
            </a:pPr>
            <a:r>
              <a:rPr sz="1050" b="0">
                <a:solidFill>
                  <a:srgbClr val="5A6478"/>
                </a:solidFill>
                <a:latin typeface="맑은 고딕"/>
              </a:rPr>
              <a:t>지난번엔 측정값 하나가 체인을 한 번 지나 점 하나.  이번엔 같은 계산을 600번 반복해 선이 된다.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algn="l"/>
            <a:r>
              <a:rPr sz="3000" b="1">
                <a:solidFill>
                  <a:srgbClr val="FFFFFF"/>
                </a:solidFill>
                <a:latin typeface="Arial"/>
              </a:rPr>
              <a:t>01</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algn="ctr"/>
            <a:r>
              <a:rPr sz="3000" b="1">
                <a:solidFill>
                  <a:srgbClr val="FFFFFF"/>
                </a:solidFill>
                <a:latin typeface="맑은 고딕"/>
              </a:rPr>
              <a:t>표적을
움직이는 원리</a:t>
            </a:r>
          </a:p>
        </p:txBody>
      </p: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 name="TextBox 6"/>
          <p:cNvSpPr txBox="1"/>
          <p:nvPr/>
        </p:nvSpPr>
        <p:spPr>
          <a:xfrm>
            <a:off x="5074920" y="1481328"/>
            <a:ext cx="548640" cy="457200"/>
          </a:xfrm>
          <a:prstGeom prst="rect">
            <a:avLst/>
          </a:prstGeom>
          <a:noFill/>
        </p:spPr>
        <p:txBody>
          <a:bodyPr wrap="square" anchor="ctr" lIns="0" rIns="0" tIns="0" bIns="0">
            <a:spAutoFit/>
          </a:bodyPr>
          <a:lstStyle/>
          <a:p>
            <a:pPr algn="l"/>
            <a:r>
              <a:rPr sz="1600" b="1">
                <a:solidFill>
                  <a:srgbClr val="2B57A6"/>
                </a:solidFill>
                <a:latin typeface="Arial"/>
              </a:rPr>
              <a:t>1</a:t>
            </a:r>
          </a:p>
        </p:txBody>
      </p:sp>
      <p:sp>
        <p:nvSpPr>
          <p:cNvPr id="8" name="TextBox 7"/>
          <p:cNvSpPr txBox="1"/>
          <p:nvPr/>
        </p:nvSpPr>
        <p:spPr>
          <a:xfrm>
            <a:off x="5760720" y="148132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좌표계 넷, 그리고 왜 ECEF 인가</a:t>
            </a:r>
          </a:p>
        </p:txBody>
      </p:sp>
      <p:cxnSp>
        <p:nvCxnSpPr>
          <p:cNvPr id="9" name="Connector 8"/>
          <p:cNvCxnSpPr/>
          <p:nvPr/>
        </p:nvCxnSpPr>
        <p:spPr>
          <a:xfrm>
            <a:off x="5074920" y="20116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74920" y="2121408"/>
            <a:ext cx="548640" cy="457200"/>
          </a:xfrm>
          <a:prstGeom prst="rect">
            <a:avLst/>
          </a:prstGeom>
          <a:noFill/>
        </p:spPr>
        <p:txBody>
          <a:bodyPr wrap="square" anchor="ctr" lIns="0" rIns="0" tIns="0" bIns="0">
            <a:spAutoFit/>
          </a:bodyPr>
          <a:lstStyle/>
          <a:p>
            <a:pPr algn="l"/>
            <a:r>
              <a:rPr sz="1600" b="1">
                <a:solidFill>
                  <a:srgbClr val="2B57A6"/>
                </a:solidFill>
                <a:latin typeface="Arial"/>
              </a:rPr>
              <a:t>2</a:t>
            </a:r>
          </a:p>
        </p:txBody>
      </p:sp>
      <p:sp>
        <p:nvSpPr>
          <p:cNvPr id="11" name="TextBox 10"/>
          <p:cNvSpPr txBox="1"/>
          <p:nvPr/>
        </p:nvSpPr>
        <p:spPr>
          <a:xfrm>
            <a:off x="5760720" y="212140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위치와 속도는 다르게 변환한다 — 회전 두 번</a:t>
            </a:r>
          </a:p>
        </p:txBody>
      </p:sp>
      <p:cxnSp>
        <p:nvCxnSpPr>
          <p:cNvPr id="12" name="Connector 11"/>
          <p:cNvCxnSpPr/>
          <p:nvPr/>
        </p:nvCxnSpPr>
        <p:spPr>
          <a:xfrm>
            <a:off x="5074920" y="265176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2761488"/>
            <a:ext cx="548640" cy="457200"/>
          </a:xfrm>
          <a:prstGeom prst="rect">
            <a:avLst/>
          </a:prstGeom>
          <a:noFill/>
        </p:spPr>
        <p:txBody>
          <a:bodyPr wrap="square" anchor="ctr" lIns="0" rIns="0" tIns="0" bIns="0">
            <a:spAutoFit/>
          </a:bodyPr>
          <a:lstStyle/>
          <a:p>
            <a:pPr algn="l"/>
            <a:r>
              <a:rPr sz="1600" b="1">
                <a:solidFill>
                  <a:srgbClr val="2B57A6"/>
                </a:solidFill>
                <a:latin typeface="Arial"/>
              </a:rPr>
              <a:t>3</a:t>
            </a:r>
          </a:p>
        </p:txBody>
      </p:sp>
      <p:sp>
        <p:nvSpPr>
          <p:cNvPr id="14" name="TextBox 13"/>
          <p:cNvSpPr txBox="1"/>
          <p:nvPr/>
        </p:nvSpPr>
        <p:spPr>
          <a:xfrm>
            <a:off x="5760720" y="276148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시간 적분과 지구 곡률 — 60초 직진하면 11 m 떠오른다</a:t>
            </a:r>
          </a:p>
        </p:txBody>
      </p:sp>
      <p:cxnSp>
        <p:nvCxnSpPr>
          <p:cNvPr id="15" name="Connector 14"/>
          <p:cNvCxnSpPr/>
          <p:nvPr/>
        </p:nvCxnSpPr>
        <p:spPr>
          <a:xfrm>
            <a:off x="5074920" y="329184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74920" y="3401568"/>
            <a:ext cx="548640" cy="457200"/>
          </a:xfrm>
          <a:prstGeom prst="rect">
            <a:avLst/>
          </a:prstGeom>
          <a:noFill/>
        </p:spPr>
        <p:txBody>
          <a:bodyPr wrap="square" anchor="ctr" lIns="0" rIns="0" tIns="0" bIns="0">
            <a:spAutoFit/>
          </a:bodyPr>
          <a:lstStyle/>
          <a:p>
            <a:pPr algn="l"/>
            <a:r>
              <a:rPr sz="1600" b="1">
                <a:solidFill>
                  <a:srgbClr val="2B57A6"/>
                </a:solidFill>
                <a:latin typeface="Arial"/>
              </a:rPr>
              <a:t>4</a:t>
            </a:r>
          </a:p>
        </p:txBody>
      </p:sp>
      <p:sp>
        <p:nvSpPr>
          <p:cNvPr id="17" name="TextBox 16"/>
          <p:cNvSpPr txBox="1"/>
          <p:nvPr/>
        </p:nvSpPr>
        <p:spPr>
          <a:xfrm>
            <a:off x="5760720" y="340156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한 스텝의 순서 — 다섯 단계</a:t>
            </a:r>
          </a:p>
        </p:txBody>
      </p:sp>
      <p:cxnSp>
        <p:nvCxnSpPr>
          <p:cNvPr id="18" name="Connector 17"/>
          <p:cNvCxnSpPr/>
          <p:nvPr/>
        </p:nvCxnSpPr>
        <p:spPr>
          <a:xfrm>
            <a:off x="5074920" y="393192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074920" y="5870448"/>
            <a:ext cx="6629400" cy="365760"/>
          </a:xfrm>
          <a:prstGeom prst="rect">
            <a:avLst/>
          </a:prstGeom>
          <a:noFill/>
        </p:spPr>
        <p:txBody>
          <a:bodyPr wrap="square" anchor="t" lIns="0" rIns="0" tIns="0" bIns="0">
            <a:spAutoFit/>
          </a:bodyPr>
          <a:lstStyle/>
          <a:p>
            <a:pPr algn="l"/>
            <a:r>
              <a:rPr sz="1100" b="0">
                <a:solidFill>
                  <a:srgbClr val="5A6478"/>
                </a:solidFill>
                <a:latin typeface="맑은 고딕"/>
              </a:rPr>
              <a:t>이 발표의 약속 :  각도는 도(°) 로 말하고 프로그램 안에서는 라디안.  거리는 m, 시간은 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좌표계 넷, 그리고 왜 ECEF 인가</a:t>
            </a:r>
          </a:p>
          <a:p>
            <a:pPr algn="l">
              <a:lnSpc>
                <a:spcPts val="1400"/>
              </a:lnSpc>
            </a:pPr>
            <a:r>
              <a:rPr sz="1100" b="0">
                <a:solidFill>
                  <a:srgbClr val="C9D6EC"/>
                </a:solidFill>
                <a:latin typeface="맑은 고딕"/>
              </a:rPr>
              <a:t>입력·출력은 위경도,  계산은 ECEF,  수평면은 NED,  속력은 동체</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fig03_four_frames.png"/>
          <p:cNvPicPr>
            <a:picLocks noChangeAspect="1"/>
          </p:cNvPicPr>
          <p:nvPr/>
        </p:nvPicPr>
        <p:blipFill>
          <a:blip r:embed="rId2"/>
          <a:stretch>
            <a:fillRect/>
          </a:stretch>
        </p:blipFill>
        <p:spPr>
          <a:xfrm>
            <a:off x="566928" y="1371600"/>
            <a:ext cx="7680960" cy="3609190"/>
          </a:xfrm>
          <a:prstGeom prst="rect">
            <a:avLst/>
          </a:prstGeom>
        </p:spPr>
      </p:pic>
      <p:sp>
        <p:nvSpPr>
          <p:cNvPr id="8" name="Rounded Rectangle 7"/>
          <p:cNvSpPr/>
          <p:nvPr/>
        </p:nvSpPr>
        <p:spPr>
          <a:xfrm>
            <a:off x="8485632" y="1371600"/>
            <a:ext cx="3145536" cy="3611880"/>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686800" y="1512417"/>
            <a:ext cx="2743200" cy="3370478"/>
          </a:xfrm>
          <a:prstGeom prst="rect">
            <a:avLst/>
          </a:prstGeom>
          <a:noFill/>
        </p:spPr>
        <p:txBody>
          <a:bodyPr wrap="square" anchor="t" lIns="0" rIns="0" tIns="0" bIns="0">
            <a:spAutoFit/>
          </a:bodyPr>
          <a:lstStyle/>
          <a:p>
            <a:pPr algn="l">
              <a:spcAft>
                <a:spcPts val="400"/>
              </a:spcAft>
            </a:pPr>
            <a:r>
              <a:rPr sz="1300" b="1">
                <a:solidFill>
                  <a:srgbClr val="1A2233"/>
                </a:solidFill>
                <a:latin typeface="맑은 고딕"/>
              </a:rPr>
              <a:t>이번 과제에서의 역할</a:t>
            </a:r>
          </a:p>
          <a:p>
            <a:pPr algn="l">
              <a:spcBef>
                <a:spcPts val="200"/>
              </a:spcBef>
            </a:pPr>
            <a:r>
              <a:rPr sz="1150" b="1">
                <a:solidFill>
                  <a:srgbClr val="2B57A6"/>
                </a:solidFill>
                <a:latin typeface="맑은 고딕"/>
              </a:rPr>
              <a:t>LLA</a:t>
            </a:r>
          </a:p>
          <a:p>
            <a:pPr algn="l">
              <a:spcAft>
                <a:spcPts val="600"/>
              </a:spcAft>
            </a:pPr>
            <a:r>
              <a:rPr sz="1050" b="0">
                <a:solidFill>
                  <a:srgbClr val="1A2233"/>
                </a:solidFill>
                <a:latin typeface="맑은 고딕"/>
              </a:rPr>
              <a:t>초기값을 받고, 매 스텝 결과를 적는 형식</a:t>
            </a:r>
          </a:p>
          <a:p>
            <a:pPr algn="l"/>
            <a:r>
              <a:rPr sz="1150" b="1">
                <a:solidFill>
                  <a:srgbClr val="2B57A6"/>
                </a:solidFill>
                <a:latin typeface="맑은 고딕"/>
              </a:rPr>
              <a:t>ECEF</a:t>
            </a:r>
          </a:p>
          <a:p>
            <a:pPr algn="l">
              <a:spcAft>
                <a:spcPts val="600"/>
              </a:spcAft>
            </a:pPr>
            <a:r>
              <a:rPr sz="1050" b="0">
                <a:solidFill>
                  <a:srgbClr val="1A2233"/>
                </a:solidFill>
                <a:latin typeface="맑은 고딕"/>
              </a:rPr>
              <a:t>위치와 속도를 600번 갱신하는 자리</a:t>
            </a:r>
          </a:p>
          <a:p>
            <a:pPr algn="l"/>
            <a:r>
              <a:rPr sz="1150" b="1">
                <a:solidFill>
                  <a:srgbClr val="2F855A"/>
                </a:solidFill>
                <a:latin typeface="맑은 고딕"/>
              </a:rPr>
              <a:t>NED</a:t>
            </a:r>
          </a:p>
          <a:p>
            <a:pPr algn="l">
              <a:spcAft>
                <a:spcPts val="600"/>
              </a:spcAft>
            </a:pPr>
            <a:r>
              <a:rPr sz="1050" b="0">
                <a:solidFill>
                  <a:srgbClr val="1A2233"/>
                </a:solidFill>
                <a:latin typeface="맑은 고딕"/>
              </a:rPr>
              <a:t>표적 자리의 수평면. 자세각의 기준이자 속도 방향을 만드는 자리</a:t>
            </a:r>
          </a:p>
          <a:p>
            <a:pPr algn="l"/>
            <a:r>
              <a:rPr sz="1150" b="1">
                <a:solidFill>
                  <a:srgbClr val="C2521C"/>
                </a:solidFill>
                <a:latin typeface="맑은 고딕"/>
              </a:rPr>
              <a:t>동체</a:t>
            </a:r>
          </a:p>
          <a:p>
            <a:pPr algn="l"/>
            <a:r>
              <a:rPr sz="1050" b="0">
                <a:solidFill>
                  <a:srgbClr val="1A2233"/>
                </a:solidFill>
                <a:latin typeface="맑은 고딕"/>
              </a:rPr>
              <a:t>속력 V 가 적힌 자리. 앞으로 V, 옆·아래는 0</a:t>
            </a:r>
          </a:p>
        </p:txBody>
      </p:sp>
      <p:sp>
        <p:nvSpPr>
          <p:cNvPr id="10" name="Rounded Rectangle 9"/>
          <p:cNvSpPr/>
          <p:nvPr/>
        </p:nvSpPr>
        <p:spPr>
          <a:xfrm>
            <a:off x="566928" y="5230368"/>
            <a:ext cx="11064240" cy="932688"/>
          </a:xfrm>
          <a:prstGeom prst="roundRect">
            <a:avLst>
              <a:gd name="adj" fmla="val 8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786384" y="5230368"/>
            <a:ext cx="10625328" cy="932688"/>
          </a:xfrm>
          <a:prstGeom prst="rect">
            <a:avLst/>
          </a:prstGeom>
          <a:noFill/>
        </p:spPr>
        <p:txBody>
          <a:bodyPr wrap="square" anchor="ctr" lIns="0" rIns="0" tIns="0" bIns="0">
            <a:spAutoFit/>
          </a:bodyPr>
          <a:lstStyle/>
          <a:p>
            <a:pPr algn="ctr">
              <a:spcAft>
                <a:spcPts val="300"/>
              </a:spcAft>
            </a:pPr>
            <a:r>
              <a:rPr sz="1200" b="1">
                <a:solidFill>
                  <a:srgbClr val="C2521C"/>
                </a:solidFill>
                <a:latin typeface="맑은 고딕"/>
              </a:rPr>
              <a:t>왜 ECEF 인가 :  위도 1° = 111 km, 경도 1° = 94 km (32°N) — 각도에 미터를 더할 수 없다.  ECEF 는 세 축이 미터라 p + v·Δt 한 줄</a:t>
            </a:r>
          </a:p>
          <a:p>
            <a:pPr algn="ctr">
              <a:lnSpc>
                <a:spcPts val="1400"/>
              </a:lnSpc>
            </a:pPr>
            <a:r>
              <a:rPr sz="1050" b="0">
                <a:solidFill>
                  <a:srgbClr val="5A6478"/>
                </a:solidFill>
                <a:latin typeface="맑은 고딕"/>
              </a:rPr>
              <a:t>플랫폼과 무관한 절대 좌표라, 나중에 배가 움직여도 표적 궤적이 흔들리지 않는다.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위치와 속도는 다르게 변환한다 — 회전 두 번</a:t>
            </a:r>
          </a:p>
          <a:p>
            <a:pPr algn="l">
              <a:lnSpc>
                <a:spcPts val="1400"/>
              </a:lnSpc>
            </a:pPr>
            <a:r>
              <a:rPr sz="1100" b="0">
                <a:solidFill>
                  <a:srgbClr val="C9D6EC"/>
                </a:solidFill>
                <a:latin typeface="맑은 고딕"/>
              </a:rPr>
              <a:t>위치는 원점이 있어야 말이 되고,  속도는 화살표 하나면 된다.  그래서 속도는 회전만</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fig06_vel_chain.png"/>
          <p:cNvPicPr>
            <a:picLocks noChangeAspect="1"/>
          </p:cNvPicPr>
          <p:nvPr/>
        </p:nvPicPr>
        <p:blipFill>
          <a:blip r:embed="rId2"/>
          <a:stretch>
            <a:fillRect/>
          </a:stretch>
        </p:blipFill>
        <p:spPr>
          <a:xfrm>
            <a:off x="841247" y="1371600"/>
            <a:ext cx="10515600" cy="2011680"/>
          </a:xfrm>
          <a:prstGeom prst="rect">
            <a:avLst/>
          </a:prstGeom>
        </p:spPr>
      </p:pic>
      <p:sp>
        <p:nvSpPr>
          <p:cNvPr id="8" name="Rounded Rectangle 7"/>
          <p:cNvSpPr/>
          <p:nvPr/>
        </p:nvSpPr>
        <p:spPr>
          <a:xfrm>
            <a:off x="566928" y="3529584"/>
            <a:ext cx="3566160" cy="1298448"/>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768096" y="3670401"/>
            <a:ext cx="3163824" cy="1057046"/>
          </a:xfrm>
          <a:prstGeom prst="rect">
            <a:avLst/>
          </a:prstGeom>
          <a:noFill/>
        </p:spPr>
        <p:txBody>
          <a:bodyPr wrap="square" anchor="t" lIns="0" rIns="0" tIns="0" bIns="0">
            <a:spAutoFit/>
          </a:bodyPr>
          <a:lstStyle/>
          <a:p>
            <a:pPr algn="l">
              <a:spcAft>
                <a:spcPts val="400"/>
              </a:spcAft>
            </a:pPr>
            <a:r>
              <a:rPr sz="1300" b="1">
                <a:solidFill>
                  <a:srgbClr val="2B57A6"/>
                </a:solidFill>
                <a:latin typeface="맑은 고딕"/>
              </a:rPr>
              <a:t>위치 :  p_new = R · p + t</a:t>
            </a:r>
          </a:p>
          <a:p>
            <a:pPr algn="l">
              <a:lnSpc>
                <a:spcPts val="1400"/>
              </a:lnSpc>
            </a:pPr>
            <a:r>
              <a:rPr sz="1050" b="0">
                <a:solidFill>
                  <a:srgbClr val="1A2233"/>
                </a:solidFill>
                <a:latin typeface="맑은 고딕"/>
              </a:rPr>
              <a:t>원점이 다르면 숫자가 다르다.</a:t>
            </a:r>
          </a:p>
          <a:p>
            <a:pPr algn="l">
              <a:lnSpc>
                <a:spcPts val="1400"/>
              </a:lnSpc>
            </a:pPr>
            <a:r>
              <a:rPr sz="1050" b="0">
                <a:solidFill>
                  <a:srgbClr val="1A2233"/>
                </a:solidFill>
                <a:latin typeface="맑은 고딕"/>
              </a:rPr>
              <a:t>회전하고 원점 차이만큼 옮긴다 (과제 2).</a:t>
            </a:r>
          </a:p>
        </p:txBody>
      </p:sp>
      <p:sp>
        <p:nvSpPr>
          <p:cNvPr id="10" name="Rounded Rectangle 9"/>
          <p:cNvSpPr/>
          <p:nvPr/>
        </p:nvSpPr>
        <p:spPr>
          <a:xfrm>
            <a:off x="4315968" y="3529584"/>
            <a:ext cx="3566160" cy="1298448"/>
          </a:xfrm>
          <a:prstGeom prst="roundRect">
            <a:avLst>
              <a:gd name="adj" fmla="val 6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4517136" y="3670401"/>
            <a:ext cx="3163824" cy="1057046"/>
          </a:xfrm>
          <a:prstGeom prst="rect">
            <a:avLst/>
          </a:prstGeom>
          <a:noFill/>
        </p:spPr>
        <p:txBody>
          <a:bodyPr wrap="square" anchor="t" lIns="0" rIns="0" tIns="0" bIns="0">
            <a:spAutoFit/>
          </a:bodyPr>
          <a:lstStyle/>
          <a:p>
            <a:pPr algn="l">
              <a:spcAft>
                <a:spcPts val="400"/>
              </a:spcAft>
            </a:pPr>
            <a:r>
              <a:rPr sz="1300" b="1">
                <a:solidFill>
                  <a:srgbClr val="C2521C"/>
                </a:solidFill>
                <a:latin typeface="맑은 고딕"/>
              </a:rPr>
              <a:t>속도 :  v_new = R · v</a:t>
            </a:r>
          </a:p>
          <a:p>
            <a:pPr algn="l">
              <a:lnSpc>
                <a:spcPts val="1400"/>
              </a:lnSpc>
            </a:pPr>
            <a:r>
              <a:rPr sz="1050" b="0">
                <a:solidFill>
                  <a:srgbClr val="1A2233"/>
                </a:solidFill>
                <a:latin typeface="맑은 고딕"/>
              </a:rPr>
              <a:t>어디에 그려도 같은 화살표.</a:t>
            </a:r>
          </a:p>
          <a:p>
            <a:pPr algn="l">
              <a:lnSpc>
                <a:spcPts val="1400"/>
              </a:lnSpc>
            </a:pPr>
            <a:r>
              <a:rPr sz="1050" b="0">
                <a:solidFill>
                  <a:srgbClr val="1A2233"/>
                </a:solidFill>
                <a:latin typeface="맑은 고딕"/>
              </a:rPr>
              <a:t>축이 돌아간 만큼만 돌린다. t 를 더하면 속도가 아니게 된다.</a:t>
            </a:r>
          </a:p>
        </p:txBody>
      </p:sp>
      <p:sp>
        <p:nvSpPr>
          <p:cNvPr id="12" name="Rounded Rectangle 11"/>
          <p:cNvSpPr/>
          <p:nvPr/>
        </p:nvSpPr>
        <p:spPr>
          <a:xfrm>
            <a:off x="8065007" y="3529584"/>
            <a:ext cx="3566160" cy="1298448"/>
          </a:xfrm>
          <a:prstGeom prst="roundRect">
            <a:avLst>
              <a:gd name="adj" fmla="val 6000"/>
            </a:avLst>
          </a:prstGeom>
          <a:solidFill>
            <a:srgbClr val="E6F3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266175" y="3670401"/>
            <a:ext cx="3163824" cy="1057046"/>
          </a:xfrm>
          <a:prstGeom prst="rect">
            <a:avLst/>
          </a:prstGeom>
          <a:noFill/>
        </p:spPr>
        <p:txBody>
          <a:bodyPr wrap="square" anchor="t" lIns="0" rIns="0" tIns="0" bIns="0">
            <a:spAutoFit/>
          </a:bodyPr>
          <a:lstStyle/>
          <a:p>
            <a:pPr algn="l">
              <a:spcAft>
                <a:spcPts val="400"/>
              </a:spcAft>
            </a:pPr>
            <a:r>
              <a:rPr sz="1300" b="1">
                <a:solidFill>
                  <a:srgbClr val="2F855A"/>
                </a:solidFill>
                <a:latin typeface="맑은 고딕"/>
              </a:rPr>
              <a:t>검산</a:t>
            </a:r>
          </a:p>
          <a:p>
            <a:pPr algn="l">
              <a:lnSpc>
                <a:spcPts val="1400"/>
              </a:lnSpc>
            </a:pPr>
            <a:r>
              <a:rPr sz="1050" b="0">
                <a:solidFill>
                  <a:srgbClr val="1A2233"/>
                </a:solidFill>
                <a:latin typeface="맑은 고딕"/>
              </a:rPr>
              <a:t>결과 벡터의 크기는 항상 V (200.000).</a:t>
            </a:r>
          </a:p>
          <a:p>
            <a:pPr algn="l">
              <a:lnSpc>
                <a:spcPts val="1400"/>
              </a:lnSpc>
            </a:pPr>
            <a:r>
              <a:rPr sz="1050" b="0">
                <a:solidFill>
                  <a:srgbClr val="1A2233"/>
                </a:solidFill>
                <a:latin typeface="맑은 고딕"/>
              </a:rPr>
              <a:t>플랫폼 위치를 잘못 더하면 6,372 km/s.</a:t>
            </a:r>
          </a:p>
        </p:txBody>
      </p:sp>
      <p:sp>
        <p:nvSpPr>
          <p:cNvPr id="14" name="Rounded Rectangle 13"/>
          <p:cNvSpPr/>
          <p:nvPr/>
        </p:nvSpPr>
        <p:spPr>
          <a:xfrm>
            <a:off x="566928" y="4974336"/>
            <a:ext cx="11064240" cy="1188720"/>
          </a:xfrm>
          <a:prstGeom prst="roundRect">
            <a:avLst>
              <a:gd name="adj" fmla="val 8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786384" y="4974336"/>
            <a:ext cx="10625328" cy="1188720"/>
          </a:xfrm>
          <a:prstGeom prst="rect">
            <a:avLst/>
          </a:prstGeom>
          <a:noFill/>
        </p:spPr>
        <p:txBody>
          <a:bodyPr wrap="square" anchor="ctr" lIns="0" rIns="0" tIns="0" bIns="0">
            <a:spAutoFit/>
          </a:bodyPr>
          <a:lstStyle/>
          <a:p>
            <a:pPr algn="ctr">
              <a:spcAft>
                <a:spcPts val="300"/>
              </a:spcAft>
            </a:pPr>
            <a:r>
              <a:rPr sz="1200" b="1">
                <a:solidFill>
                  <a:srgbClr val="C2521C"/>
                </a:solidFill>
                <a:latin typeface="맑은 고딕"/>
              </a:rPr>
              <a:t>과제의 "추가 고민" (동체 속도 V_heading → ECEF) 의 답 :  자세각으로 한 번, 표적 자신의 위경도로 한 번, 평행이동은 없다</a:t>
            </a:r>
          </a:p>
          <a:p>
            <a:pPr algn="ctr">
              <a:lnSpc>
                <a:spcPts val="1400"/>
              </a:lnSpc>
            </a:pPr>
            <a:r>
              <a:rPr sz="1050" b="0">
                <a:solidFill>
                  <a:srgbClr val="5A6478"/>
                </a:solidFill>
                <a:latin typeface="맑은 고딕"/>
              </a:rPr>
              <a:t>참고 함수 f_Trans_Ned_To_Ecef 는 플랫폼 위치를 더하므로, 속도를 넣을 때는 그 인자에 0 을 준다.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시간 적분과 지구 곡률</a:t>
            </a:r>
          </a:p>
          <a:p>
            <a:pPr algn="l">
              <a:lnSpc>
                <a:spcPts val="1400"/>
              </a:lnSpc>
            </a:pPr>
            <a:r>
              <a:rPr sz="1100" b="0">
                <a:solidFill>
                  <a:srgbClr val="C9D6EC"/>
                </a:solidFill>
                <a:latin typeface="맑은 고딕"/>
              </a:rPr>
              <a:t>새 위치 = 지금 위치 + 속도 × 0.1 초.  단, 매 스텝 수평면을 다시 잡지 않으면 60초에 11 m 떠오른다</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fig08_curvature.png"/>
          <p:cNvPicPr>
            <a:picLocks noChangeAspect="1"/>
          </p:cNvPicPr>
          <p:nvPr/>
        </p:nvPicPr>
        <p:blipFill>
          <a:blip r:embed="rId2"/>
          <a:stretch>
            <a:fillRect/>
          </a:stretch>
        </p:blipFill>
        <p:spPr>
          <a:xfrm>
            <a:off x="566928" y="1371600"/>
            <a:ext cx="6766560" cy="3426310"/>
          </a:xfrm>
          <a:prstGeom prst="rect">
            <a:avLst/>
          </a:prstGeom>
        </p:spPr>
      </p:pic>
      <p:sp>
        <p:nvSpPr>
          <p:cNvPr id="8" name="Rounded Rectangle 7"/>
          <p:cNvSpPr/>
          <p:nvPr/>
        </p:nvSpPr>
        <p:spPr>
          <a:xfrm>
            <a:off x="7498079" y="1371600"/>
            <a:ext cx="4133087" cy="969264"/>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7699248" y="1512417"/>
            <a:ext cx="3730751" cy="727862"/>
          </a:xfrm>
          <a:prstGeom prst="rect">
            <a:avLst/>
          </a:prstGeom>
          <a:noFill/>
        </p:spPr>
        <p:txBody>
          <a:bodyPr wrap="square" anchor="t" lIns="0" rIns="0" tIns="0" bIns="0">
            <a:spAutoFit/>
          </a:bodyPr>
          <a:lstStyle/>
          <a:p>
            <a:pPr algn="l">
              <a:spcAft>
                <a:spcPts val="400"/>
              </a:spcAft>
            </a:pPr>
            <a:r>
              <a:rPr sz="1300" b="1">
                <a:solidFill>
                  <a:srgbClr val="2B57A6"/>
                </a:solidFill>
                <a:latin typeface="맑은 고딕"/>
              </a:rPr>
              <a:t>시간 적분 :  p(t+Δt) = p(t) + v(t)·Δt</a:t>
            </a:r>
          </a:p>
          <a:p>
            <a:pPr algn="l">
              <a:lnSpc>
                <a:spcPts val="1400"/>
              </a:lnSpc>
            </a:pPr>
            <a:r>
              <a:rPr sz="1050" b="0">
                <a:solidFill>
                  <a:srgbClr val="1A2233"/>
                </a:solidFill>
                <a:latin typeface="맑은 고딕"/>
              </a:rPr>
              <a:t>ECEF x, y, z 에 각각.  Δt = 0.1 s, 600 스텝.</a:t>
            </a:r>
          </a:p>
          <a:p>
            <a:pPr algn="l">
              <a:lnSpc>
                <a:spcPts val="1400"/>
              </a:lnSpc>
            </a:pPr>
            <a:r>
              <a:rPr sz="1050" b="0">
                <a:solidFill>
                  <a:srgbClr val="1A2233"/>
                </a:solidFill>
                <a:latin typeface="맑은 고딕"/>
              </a:rPr>
              <a:t>한 스텝 안에서 속도가 일정하니 이 한 줄이면 정확.</a:t>
            </a:r>
          </a:p>
        </p:txBody>
      </p:sp>
      <p:graphicFrame>
        <p:nvGraphicFramePr>
          <p:cNvPr id="10" name="Table 9"/>
          <p:cNvGraphicFramePr>
            <a:graphicFrameLocks noGrp="1"/>
          </p:cNvGraphicFramePr>
          <p:nvPr/>
        </p:nvGraphicFramePr>
        <p:xfrm>
          <a:off x="7498079" y="2450591"/>
          <a:ext cx="4133088" cy="1207008"/>
        </p:xfrm>
        <a:graphic>
          <a:graphicData uri="http://schemas.openxmlformats.org/drawingml/2006/table">
            <a:tbl>
              <a:tblPr firstRow="1">
                <a:tableStyleId>{5C22544A-7EE6-4342-B048-85BDC9FD1C3A}</a:tableStyleId>
              </a:tblPr>
              <a:tblGrid>
                <a:gridCol w="2852928"/>
                <a:gridCol w="1280160"/>
              </a:tblGrid>
              <a:tr h="402336">
                <a:tc>
                  <a:txBody>
                    <a:bodyPr wrap="square"/>
                    <a:lstStyle/>
                    <a:p>
                      <a:pPr algn="ctr"/>
                      <a:r>
                        <a:rPr sz="1050" b="1">
                          <a:solidFill>
                            <a:srgbClr val="FFFFFF"/>
                          </a:solidFill>
                          <a:latin typeface="맑은 고딕"/>
                        </a:rPr>
                        <a:t>실험 (대공 표적 60초 직진)</a:t>
                      </a:r>
                    </a:p>
                  </a:txBody>
                  <a:tcPr marL="91440" marR="91440" marT="36576" marB="36576" anchor="ctr">
                    <a:solidFill>
                      <a:srgbClr val="2B57A6"/>
                    </a:solidFill>
                  </a:tcPr>
                </a:tc>
                <a:tc>
                  <a:txBody>
                    <a:bodyPr wrap="square"/>
                    <a:lstStyle/>
                    <a:p>
                      <a:pPr algn="ctr"/>
                      <a:r>
                        <a:rPr sz="1050" b="1">
                          <a:solidFill>
                            <a:srgbClr val="FFFFFF"/>
                          </a:solidFill>
                          <a:latin typeface="맑은 고딕"/>
                        </a:rPr>
                        <a:t>60초 뒤 고도</a:t>
                      </a:r>
                    </a:p>
                  </a:txBody>
                  <a:tcPr marL="91440" marR="91440" marT="36576" marB="36576" anchor="ctr">
                    <a:solidFill>
                      <a:srgbClr val="2B57A6"/>
                    </a:solidFill>
                  </a:tcPr>
                </a:tc>
              </a:tr>
              <a:tr h="402336">
                <a:tc>
                  <a:txBody>
                    <a:bodyPr wrap="square"/>
                    <a:lstStyle/>
                    <a:p>
                      <a:pPr algn="l"/>
                      <a:r>
                        <a:rPr sz="1050" b="0">
                          <a:solidFill>
                            <a:srgbClr val="1A2233"/>
                          </a:solidFill>
                          <a:latin typeface="맑은 고딕"/>
                        </a:rPr>
                        <a:t>A  처음 ECEF 속도를 60초 내내 그대로</a:t>
                      </a:r>
                    </a:p>
                  </a:txBody>
                  <a:tcPr marL="91440" marR="91440" marT="36576" marB="36576" anchor="ctr">
                    <a:solidFill>
                      <a:srgbClr val="FFFFFF"/>
                    </a:solidFill>
                  </a:tcPr>
                </a:tc>
                <a:tc>
                  <a:txBody>
                    <a:bodyPr wrap="square"/>
                    <a:lstStyle/>
                    <a:p>
                      <a:pPr algn="ctr"/>
                      <a:r>
                        <a:rPr sz="1050" b="1">
                          <a:solidFill>
                            <a:srgbClr val="C2521C"/>
                          </a:solidFill>
                          <a:latin typeface="맑은 고딕"/>
                        </a:rPr>
                        <a:t>311.3 m</a:t>
                      </a:r>
                    </a:p>
                  </a:txBody>
                  <a:tcPr marL="91440" marR="91440" marT="36576" marB="36576" anchor="ctr">
                    <a:solidFill>
                      <a:srgbClr val="FFFFFF"/>
                    </a:solidFill>
                  </a:tcPr>
                </a:tc>
              </a:tr>
              <a:tr h="402336">
                <a:tc>
                  <a:txBody>
                    <a:bodyPr wrap="square"/>
                    <a:lstStyle/>
                    <a:p>
                      <a:pPr algn="l"/>
                      <a:r>
                        <a:rPr sz="1050" b="0">
                          <a:solidFill>
                            <a:srgbClr val="1A2233"/>
                          </a:solidFill>
                          <a:latin typeface="맑은 고딕"/>
                        </a:rPr>
                        <a:t>B  매 스텝 현재 위경도로 NED 를 다시 잡음</a:t>
                      </a:r>
                    </a:p>
                  </a:txBody>
                  <a:tcPr marL="91440" marR="91440" marT="36576" marB="36576" anchor="ctr">
                    <a:solidFill>
                      <a:srgbClr val="F4F6FA"/>
                    </a:solidFill>
                  </a:tcPr>
                </a:tc>
                <a:tc>
                  <a:txBody>
                    <a:bodyPr wrap="square"/>
                    <a:lstStyle/>
                    <a:p>
                      <a:pPr algn="ctr"/>
                      <a:r>
                        <a:rPr sz="1050" b="1">
                          <a:solidFill>
                            <a:srgbClr val="2F855A"/>
                          </a:solidFill>
                          <a:latin typeface="맑은 고딕"/>
                        </a:rPr>
                        <a:t>300.0 m</a:t>
                      </a:r>
                    </a:p>
                  </a:txBody>
                  <a:tcPr marL="91440" marR="91440" marT="36576" marB="36576" anchor="ctr">
                    <a:solidFill>
                      <a:srgbClr val="F4F6FA"/>
                    </a:solidFill>
                  </a:tcPr>
                </a:tc>
              </a:tr>
            </a:tbl>
          </a:graphicData>
        </a:graphic>
      </p:graphicFrame>
      <p:sp>
        <p:nvSpPr>
          <p:cNvPr id="11" name="Rounded Rectangle 10"/>
          <p:cNvSpPr/>
          <p:nvPr/>
        </p:nvSpPr>
        <p:spPr>
          <a:xfrm>
            <a:off x="7498079" y="3767328"/>
            <a:ext cx="4133087" cy="1042415"/>
          </a:xfrm>
          <a:prstGeom prst="roundRect">
            <a:avLst>
              <a:gd name="adj" fmla="val 6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7699248" y="3908145"/>
            <a:ext cx="3730751" cy="801014"/>
          </a:xfrm>
          <a:prstGeom prst="rect">
            <a:avLst/>
          </a:prstGeom>
          <a:noFill/>
        </p:spPr>
        <p:txBody>
          <a:bodyPr wrap="square" anchor="t" lIns="0" rIns="0" tIns="0" bIns="0">
            <a:spAutoFit/>
          </a:bodyPr>
          <a:lstStyle/>
          <a:p>
            <a:pPr algn="l">
              <a:spcAft>
                <a:spcPts val="400"/>
              </a:spcAft>
            </a:pPr>
            <a:r>
              <a:rPr sz="1300" b="1">
                <a:solidFill>
                  <a:srgbClr val="C2521C"/>
                </a:solidFill>
                <a:latin typeface="맑은 고딕"/>
              </a:rPr>
              <a:t>왜 11 m 인가</a:t>
            </a:r>
          </a:p>
          <a:p>
            <a:pPr algn="l">
              <a:lnSpc>
                <a:spcPts val="1400"/>
              </a:lnSpc>
            </a:pPr>
            <a:r>
              <a:rPr sz="1050" b="0">
                <a:solidFill>
                  <a:srgbClr val="1A2233"/>
                </a:solidFill>
                <a:latin typeface="맑은 고딕"/>
              </a:rPr>
              <a:t>접선을 따라 d 만큼 가면 땅은 d² / 2R 만큼 내려간다.</a:t>
            </a:r>
          </a:p>
          <a:p>
            <a:pPr algn="l">
              <a:lnSpc>
                <a:spcPts val="1400"/>
              </a:lnSpc>
            </a:pPr>
            <a:r>
              <a:rPr sz="1050" b="0">
                <a:solidFill>
                  <a:srgbClr val="1A2233"/>
                </a:solidFill>
                <a:latin typeface="맑은 고딕"/>
              </a:rPr>
              <a:t>12,000² / (2 × 6,371,000) = 11.3 m.  실험값과 일치.</a:t>
            </a:r>
          </a:p>
        </p:txBody>
      </p:sp>
      <p:sp>
        <p:nvSpPr>
          <p:cNvPr id="13" name="Rounded Rectangle 12"/>
          <p:cNvSpPr/>
          <p:nvPr/>
        </p:nvSpPr>
        <p:spPr>
          <a:xfrm>
            <a:off x="566928" y="4956048"/>
            <a:ext cx="11064240" cy="1207008"/>
          </a:xfrm>
          <a:prstGeom prst="roundRect">
            <a:avLst>
              <a:gd name="adj" fmla="val 8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786384" y="4956048"/>
            <a:ext cx="10625328" cy="1207008"/>
          </a:xfrm>
          <a:prstGeom prst="rect">
            <a:avLst/>
          </a:prstGeom>
          <a:noFill/>
        </p:spPr>
        <p:txBody>
          <a:bodyPr wrap="square" anchor="ctr" lIns="0" rIns="0" tIns="0" bIns="0">
            <a:spAutoFit/>
          </a:bodyPr>
          <a:lstStyle/>
          <a:p>
            <a:pPr algn="ctr">
              <a:spcAft>
                <a:spcPts val="300"/>
              </a:spcAft>
            </a:pPr>
            <a:r>
              <a:rPr sz="1300" b="1">
                <a:solidFill>
                  <a:srgbClr val="C2521C"/>
                </a:solidFill>
                <a:latin typeface="맑은 고딕"/>
              </a:rPr>
              <a:t>그래서 5단계 LLA 변환은 출력용만이 아니라 다음 스텝의 수평면(NED 축) 을 만드는 기준이다</a:t>
            </a:r>
          </a:p>
          <a:p>
            <a:pPr algn="ctr">
              <a:lnSpc>
                <a:spcPts val="1400"/>
              </a:lnSpc>
            </a:pPr>
            <a:r>
              <a:rPr sz="1050" b="0">
                <a:solidFill>
                  <a:srgbClr val="5A6478"/>
                </a:solidFill>
                <a:latin typeface="맑은 고딕"/>
              </a:rPr>
              <a:t>위경도를 구해야 NED 축이 나오고, NED 축이 있어야 속도 방향이 나온다.  이 순서를 지키면 수평 비행이 수평으로 유지된다.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한 스텝의 순서 — 다섯 단계</a:t>
            </a:r>
          </a:p>
          <a:p>
            <a:pPr algn="l">
              <a:lnSpc>
                <a:spcPts val="1400"/>
              </a:lnSpc>
            </a:pPr>
            <a:r>
              <a:rPr sz="1100" b="0">
                <a:solidFill>
                  <a:srgbClr val="C9D6EC"/>
                </a:solidFill>
                <a:latin typeface="맑은 고딕"/>
              </a:rPr>
              <a:t>표적 하나가 0.1초 뒤로 가는 일.  이 순서를 600번, 표적 수만큼 반복한다</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fig09_step_loop.png"/>
          <p:cNvPicPr>
            <a:picLocks noChangeAspect="1"/>
          </p:cNvPicPr>
          <p:nvPr/>
        </p:nvPicPr>
        <p:blipFill>
          <a:blip r:embed="rId2"/>
          <a:stretch>
            <a:fillRect/>
          </a:stretch>
        </p:blipFill>
        <p:spPr>
          <a:xfrm>
            <a:off x="841247" y="1371600"/>
            <a:ext cx="10515600" cy="2743200"/>
          </a:xfrm>
          <a:prstGeom prst="rect">
            <a:avLst/>
          </a:prstGeom>
        </p:spPr>
      </p:pic>
      <p:sp>
        <p:nvSpPr>
          <p:cNvPr id="8" name="Rounded Rectangle 7"/>
          <p:cNvSpPr/>
          <p:nvPr/>
        </p:nvSpPr>
        <p:spPr>
          <a:xfrm>
            <a:off x="566928" y="4224528"/>
            <a:ext cx="2110435" cy="1005840"/>
          </a:xfrm>
          <a:prstGeom prst="roundRect">
            <a:avLst>
              <a:gd name="adj" fmla="val 6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731520" y="4339742"/>
            <a:ext cx="1781251" cy="808329"/>
          </a:xfrm>
          <a:prstGeom prst="rect">
            <a:avLst/>
          </a:prstGeom>
          <a:noFill/>
        </p:spPr>
        <p:txBody>
          <a:bodyPr wrap="square" anchor="t" lIns="0" rIns="0" tIns="0" bIns="0">
            <a:spAutoFit/>
          </a:bodyPr>
          <a:lstStyle/>
          <a:p>
            <a:pPr algn="l">
              <a:spcAft>
                <a:spcPts val="400"/>
              </a:spcAft>
            </a:pPr>
            <a:r>
              <a:rPr sz="1150" b="1">
                <a:solidFill>
                  <a:srgbClr val="C2521C"/>
                </a:solidFill>
                <a:latin typeface="맑은 고딕"/>
              </a:rPr>
              <a:t>① 에 필요한 것</a:t>
            </a:r>
          </a:p>
          <a:p>
            <a:pPr algn="l">
              <a:lnSpc>
                <a:spcPts val="1500"/>
              </a:lnSpc>
            </a:pPr>
            <a:r>
              <a:rPr sz="1050" b="0">
                <a:solidFill>
                  <a:srgbClr val="1A2233"/>
                </a:solidFill>
                <a:latin typeface="맑은 고딕"/>
              </a:rPr>
              <a:t>기동 목록,  지금 시각 t</a:t>
            </a:r>
          </a:p>
        </p:txBody>
      </p:sp>
      <p:sp>
        <p:nvSpPr>
          <p:cNvPr id="10" name="Rounded Rectangle 9"/>
          <p:cNvSpPr/>
          <p:nvPr/>
        </p:nvSpPr>
        <p:spPr>
          <a:xfrm>
            <a:off x="2805379" y="4224528"/>
            <a:ext cx="2110435" cy="1005840"/>
          </a:xfrm>
          <a:prstGeom prst="roundRect">
            <a:avLst>
              <a:gd name="adj" fmla="val 6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2969971" y="4339742"/>
            <a:ext cx="1781251" cy="808329"/>
          </a:xfrm>
          <a:prstGeom prst="rect">
            <a:avLst/>
          </a:prstGeom>
          <a:noFill/>
        </p:spPr>
        <p:txBody>
          <a:bodyPr wrap="square" anchor="t" lIns="0" rIns="0" tIns="0" bIns="0">
            <a:spAutoFit/>
          </a:bodyPr>
          <a:lstStyle/>
          <a:p>
            <a:pPr algn="l">
              <a:spcAft>
                <a:spcPts val="400"/>
              </a:spcAft>
            </a:pPr>
            <a:r>
              <a:rPr sz="1150" b="1">
                <a:solidFill>
                  <a:srgbClr val="C2521C"/>
                </a:solidFill>
                <a:latin typeface="맑은 고딕"/>
              </a:rPr>
              <a:t>② 에 필요한 것</a:t>
            </a:r>
          </a:p>
          <a:p>
            <a:pPr algn="l">
              <a:lnSpc>
                <a:spcPts val="1500"/>
              </a:lnSpc>
            </a:pPr>
            <a:r>
              <a:rPr sz="1050" b="0">
                <a:solidFill>
                  <a:srgbClr val="1A2233"/>
                </a:solidFill>
                <a:latin typeface="맑은 고딕"/>
              </a:rPr>
              <a:t>각속도 ω = n·g / V,  Δt</a:t>
            </a:r>
          </a:p>
        </p:txBody>
      </p:sp>
      <p:sp>
        <p:nvSpPr>
          <p:cNvPr id="12" name="Rounded Rectangle 11"/>
          <p:cNvSpPr/>
          <p:nvPr/>
        </p:nvSpPr>
        <p:spPr>
          <a:xfrm>
            <a:off x="5043830" y="4224528"/>
            <a:ext cx="2110435" cy="1005840"/>
          </a:xfrm>
          <a:prstGeom prst="roundRect">
            <a:avLst>
              <a:gd name="adj" fmla="val 6000"/>
            </a:avLst>
          </a:prstGeom>
          <a:solidFill>
            <a:srgbClr val="E6F3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5208422" y="4339742"/>
            <a:ext cx="1781251" cy="808329"/>
          </a:xfrm>
          <a:prstGeom prst="rect">
            <a:avLst/>
          </a:prstGeom>
          <a:noFill/>
        </p:spPr>
        <p:txBody>
          <a:bodyPr wrap="square" anchor="t" lIns="0" rIns="0" tIns="0" bIns="0">
            <a:spAutoFit/>
          </a:bodyPr>
          <a:lstStyle/>
          <a:p>
            <a:pPr algn="l">
              <a:spcAft>
                <a:spcPts val="400"/>
              </a:spcAft>
            </a:pPr>
            <a:r>
              <a:rPr sz="1150" b="1">
                <a:solidFill>
                  <a:srgbClr val="2F855A"/>
                </a:solidFill>
                <a:latin typeface="맑은 고딕"/>
              </a:rPr>
              <a:t>③ 에 필요한 것</a:t>
            </a:r>
          </a:p>
          <a:p>
            <a:pPr algn="l">
              <a:lnSpc>
                <a:spcPts val="1500"/>
              </a:lnSpc>
            </a:pPr>
            <a:r>
              <a:rPr sz="1050" b="0">
                <a:solidFill>
                  <a:srgbClr val="1A2233"/>
                </a:solidFill>
                <a:latin typeface="맑은 고딕"/>
              </a:rPr>
              <a:t>자세각 3개,  표적 위경도</a:t>
            </a:r>
          </a:p>
        </p:txBody>
      </p:sp>
      <p:sp>
        <p:nvSpPr>
          <p:cNvPr id="14" name="Rounded Rectangle 13"/>
          <p:cNvSpPr/>
          <p:nvPr/>
        </p:nvSpPr>
        <p:spPr>
          <a:xfrm>
            <a:off x="7282281" y="4224528"/>
            <a:ext cx="2110435" cy="1005840"/>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7446873" y="4339742"/>
            <a:ext cx="1781251" cy="808329"/>
          </a:xfrm>
          <a:prstGeom prst="rect">
            <a:avLst/>
          </a:prstGeom>
          <a:noFill/>
        </p:spPr>
        <p:txBody>
          <a:bodyPr wrap="square" anchor="t" lIns="0" rIns="0" tIns="0" bIns="0">
            <a:spAutoFit/>
          </a:bodyPr>
          <a:lstStyle/>
          <a:p>
            <a:pPr algn="l">
              <a:spcAft>
                <a:spcPts val="400"/>
              </a:spcAft>
            </a:pPr>
            <a:r>
              <a:rPr sz="1150" b="1">
                <a:solidFill>
                  <a:srgbClr val="2B57A6"/>
                </a:solidFill>
                <a:latin typeface="맑은 고딕"/>
              </a:rPr>
              <a:t>④ 에 필요한 것</a:t>
            </a:r>
          </a:p>
          <a:p>
            <a:pPr algn="l">
              <a:lnSpc>
                <a:spcPts val="1500"/>
              </a:lnSpc>
            </a:pPr>
            <a:r>
              <a:rPr sz="1050" b="0">
                <a:solidFill>
                  <a:srgbClr val="1A2233"/>
                </a:solidFill>
                <a:latin typeface="맑은 고딕"/>
              </a:rPr>
              <a:t>ECEF 위치·속도,  Δt = 0.1 s</a:t>
            </a:r>
          </a:p>
        </p:txBody>
      </p:sp>
      <p:sp>
        <p:nvSpPr>
          <p:cNvPr id="16" name="Rounded Rectangle 15"/>
          <p:cNvSpPr/>
          <p:nvPr/>
        </p:nvSpPr>
        <p:spPr>
          <a:xfrm>
            <a:off x="9520732" y="4224528"/>
            <a:ext cx="2110435" cy="1005840"/>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685324" y="4339742"/>
            <a:ext cx="1781251" cy="808329"/>
          </a:xfrm>
          <a:prstGeom prst="rect">
            <a:avLst/>
          </a:prstGeom>
          <a:noFill/>
        </p:spPr>
        <p:txBody>
          <a:bodyPr wrap="square" anchor="t" lIns="0" rIns="0" tIns="0" bIns="0">
            <a:spAutoFit/>
          </a:bodyPr>
          <a:lstStyle/>
          <a:p>
            <a:pPr algn="l">
              <a:spcAft>
                <a:spcPts val="400"/>
              </a:spcAft>
            </a:pPr>
            <a:r>
              <a:rPr sz="1150" b="1">
                <a:solidFill>
                  <a:srgbClr val="2B57A6"/>
                </a:solidFill>
                <a:latin typeface="맑은 고딕"/>
              </a:rPr>
              <a:t>⑤ 에 필요한 것</a:t>
            </a:r>
          </a:p>
          <a:p>
            <a:pPr algn="l">
              <a:lnSpc>
                <a:spcPts val="1500"/>
              </a:lnSpc>
            </a:pPr>
            <a:r>
              <a:rPr sz="1050" b="0">
                <a:solidFill>
                  <a:srgbClr val="1A2233"/>
                </a:solidFill>
                <a:latin typeface="맑은 고딕"/>
              </a:rPr>
              <a:t>ECEF → LLA 변환 함수</a:t>
            </a:r>
          </a:p>
        </p:txBody>
      </p:sp>
      <p:sp>
        <p:nvSpPr>
          <p:cNvPr id="18" name="Rounded Rectangle 17"/>
          <p:cNvSpPr/>
          <p:nvPr/>
        </p:nvSpPr>
        <p:spPr>
          <a:xfrm>
            <a:off x="566928" y="5394960"/>
            <a:ext cx="11064240" cy="768096"/>
          </a:xfrm>
          <a:prstGeom prst="roundRect">
            <a:avLst>
              <a:gd name="adj" fmla="val 8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786384" y="5394960"/>
            <a:ext cx="10625328" cy="768096"/>
          </a:xfrm>
          <a:prstGeom prst="rect">
            <a:avLst/>
          </a:prstGeom>
          <a:noFill/>
        </p:spPr>
        <p:txBody>
          <a:bodyPr wrap="square" anchor="ctr" lIns="0" rIns="0" tIns="0" bIns="0">
            <a:spAutoFit/>
          </a:bodyPr>
          <a:lstStyle/>
          <a:p>
            <a:pPr algn="ctr">
              <a:spcAft>
                <a:spcPts val="300"/>
              </a:spcAft>
            </a:pPr>
            <a:r>
              <a:rPr sz="1200" b="1">
                <a:solidFill>
                  <a:srgbClr val="1A2233"/>
                </a:solidFill>
                <a:latin typeface="맑은 고딕"/>
              </a:rPr>
              <a:t>표적 10개 × 600 스텝 = 6,000번.   순서가 중요한 건 ③ ④ ⑤ — 자세가 정해져야 속도, 속도가 있어야 위치, 위치가 있어야 새 수평면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algn="l"/>
            <a:r>
              <a:rPr sz="3000" b="1">
                <a:solidFill>
                  <a:srgbClr val="FFFFFF"/>
                </a:solidFill>
                <a:latin typeface="Arial"/>
              </a:rPr>
              <a:t>02</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algn="ctr"/>
            <a:r>
              <a:rPr sz="3000" b="1">
                <a:solidFill>
                  <a:srgbClr val="FFFFFF"/>
                </a:solidFill>
                <a:latin typeface="맑은 고딕"/>
              </a:rPr>
              <a:t>기동 모델</a:t>
            </a:r>
          </a:p>
        </p:txBody>
      </p: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 name="TextBox 6"/>
          <p:cNvSpPr txBox="1"/>
          <p:nvPr/>
        </p:nvSpPr>
        <p:spPr>
          <a:xfrm>
            <a:off x="5074920" y="1481328"/>
            <a:ext cx="548640" cy="457200"/>
          </a:xfrm>
          <a:prstGeom prst="rect">
            <a:avLst/>
          </a:prstGeom>
          <a:noFill/>
        </p:spPr>
        <p:txBody>
          <a:bodyPr wrap="square" anchor="ctr" lIns="0" rIns="0" tIns="0" bIns="0">
            <a:spAutoFit/>
          </a:bodyPr>
          <a:lstStyle/>
          <a:p>
            <a:pPr algn="l"/>
            <a:r>
              <a:rPr sz="1600" b="1">
                <a:solidFill>
                  <a:srgbClr val="2B57A6"/>
                </a:solidFill>
                <a:latin typeface="Arial"/>
              </a:rPr>
              <a:t>1</a:t>
            </a:r>
          </a:p>
        </p:txBody>
      </p:sp>
      <p:sp>
        <p:nvSpPr>
          <p:cNvPr id="8" name="TextBox 7"/>
          <p:cNvSpPr txBox="1"/>
          <p:nvPr/>
        </p:nvSpPr>
        <p:spPr>
          <a:xfrm>
            <a:off x="5760720" y="148132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하중배수와 원운동 공식</a:t>
            </a:r>
          </a:p>
        </p:txBody>
      </p:sp>
      <p:cxnSp>
        <p:nvCxnSpPr>
          <p:cNvPr id="9" name="Connector 8"/>
          <p:cNvCxnSpPr/>
          <p:nvPr/>
        </p:nvCxnSpPr>
        <p:spPr>
          <a:xfrm>
            <a:off x="5074920" y="20116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74920" y="2121408"/>
            <a:ext cx="548640" cy="457200"/>
          </a:xfrm>
          <a:prstGeom prst="rect">
            <a:avLst/>
          </a:prstGeom>
          <a:noFill/>
        </p:spPr>
        <p:txBody>
          <a:bodyPr wrap="square" anchor="ctr" lIns="0" rIns="0" tIns="0" bIns="0">
            <a:spAutoFit/>
          </a:bodyPr>
          <a:lstStyle/>
          <a:p>
            <a:pPr algn="l"/>
            <a:r>
              <a:rPr sz="1600" b="1">
                <a:solidFill>
                  <a:srgbClr val="2B57A6"/>
                </a:solidFill>
                <a:latin typeface="Arial"/>
              </a:rPr>
              <a:t>2</a:t>
            </a:r>
          </a:p>
        </p:txBody>
      </p:sp>
      <p:sp>
        <p:nvSpPr>
          <p:cNvPr id="11" name="TextBox 10"/>
          <p:cNvSpPr txBox="1"/>
          <p:nvPr/>
        </p:nvSpPr>
        <p:spPr>
          <a:xfrm>
            <a:off x="5760720" y="212140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세 축과 기동 시간표</a:t>
            </a:r>
          </a:p>
        </p:txBody>
      </p:sp>
      <p:cxnSp>
        <p:nvCxnSpPr>
          <p:cNvPr id="12" name="Connector 11"/>
          <p:cNvCxnSpPr/>
          <p:nvPr/>
        </p:nvCxnSpPr>
        <p:spPr>
          <a:xfrm>
            <a:off x="5074920" y="265176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5870448"/>
            <a:ext cx="6629400" cy="365760"/>
          </a:xfrm>
          <a:prstGeom prst="rect">
            <a:avLst/>
          </a:prstGeom>
          <a:noFill/>
        </p:spPr>
        <p:txBody>
          <a:bodyPr wrap="square" anchor="t" lIns="0" rIns="0" tIns="0" bIns="0">
            <a:spAutoFit/>
          </a:bodyPr>
          <a:lstStyle/>
          <a:p>
            <a:pPr algn="l"/>
            <a:r>
              <a:rPr sz="1100" b="0">
                <a:solidFill>
                  <a:srgbClr val="5A6478"/>
                </a:solidFill>
                <a:latin typeface="맑은 고딕"/>
              </a:rPr>
              <a:t>약속 :  기동 중에도 속력은 바뀌지 않는다.  방향만 바뀐다.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하중배수와 원운동 공식</a:t>
            </a:r>
          </a:p>
          <a:p>
            <a:pPr algn="l">
              <a:lnSpc>
                <a:spcPts val="1400"/>
              </a:lnSpc>
            </a:pPr>
            <a:r>
              <a:rPr sz="1100" b="0">
                <a:solidFill>
                  <a:srgbClr val="C9D6EC"/>
                </a:solidFill>
                <a:latin typeface="맑은 고딕"/>
              </a:rPr>
              <a:t>과제의 Gravity Value 는 "몇 g 로 도는가".  속력은 그대로, 방향만 바뀐다</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fig11_circle.png"/>
          <p:cNvPicPr>
            <a:picLocks noChangeAspect="1"/>
          </p:cNvPicPr>
          <p:nvPr/>
        </p:nvPicPr>
        <p:blipFill>
          <a:blip r:embed="rId2"/>
          <a:stretch>
            <a:fillRect/>
          </a:stretch>
        </p:blipFill>
        <p:spPr>
          <a:xfrm>
            <a:off x="566928" y="1371600"/>
            <a:ext cx="5486400" cy="3291840"/>
          </a:xfrm>
          <a:prstGeom prst="rect">
            <a:avLst/>
          </a:prstGeom>
        </p:spPr>
      </p:pic>
      <p:graphicFrame>
        <p:nvGraphicFramePr>
          <p:cNvPr id="8" name="Table 7"/>
          <p:cNvGraphicFramePr>
            <a:graphicFrameLocks noGrp="1"/>
          </p:cNvGraphicFramePr>
          <p:nvPr/>
        </p:nvGraphicFramePr>
        <p:xfrm>
          <a:off x="6309360" y="1371600"/>
          <a:ext cx="5321808" cy="2011680"/>
        </p:xfrm>
        <a:graphic>
          <a:graphicData uri="http://schemas.openxmlformats.org/drawingml/2006/table">
            <a:tbl>
              <a:tblPr firstRow="1">
                <a:tableStyleId>{5C22544A-7EE6-4342-B048-85BDC9FD1C3A}</a:tableStyleId>
              </a:tblPr>
              <a:tblGrid>
                <a:gridCol w="1371600"/>
                <a:gridCol w="822960"/>
                <a:gridCol w="960120"/>
                <a:gridCol w="960120"/>
                <a:gridCol w="1207008"/>
              </a:tblGrid>
              <a:tr h="402336">
                <a:tc>
                  <a:txBody>
                    <a:bodyPr wrap="square"/>
                    <a:lstStyle/>
                    <a:p>
                      <a:pPr algn="ctr"/>
                      <a:r>
                        <a:rPr sz="1100" b="1">
                          <a:solidFill>
                            <a:srgbClr val="FFFFFF"/>
                          </a:solidFill>
                          <a:latin typeface="맑은 고딕"/>
                        </a:rPr>
                        <a:t>표적</a:t>
                      </a:r>
                    </a:p>
                  </a:txBody>
                  <a:tcPr marL="91440" marR="91440" marT="36576" marB="36576" anchor="ctr">
                    <a:solidFill>
                      <a:srgbClr val="2B57A6"/>
                    </a:solidFill>
                  </a:tcPr>
                </a:tc>
                <a:tc>
                  <a:txBody>
                    <a:bodyPr wrap="square"/>
                    <a:lstStyle/>
                    <a:p>
                      <a:pPr algn="ctr"/>
                      <a:r>
                        <a:rPr sz="1100" b="1">
                          <a:solidFill>
                            <a:srgbClr val="FFFFFF"/>
                          </a:solidFill>
                          <a:latin typeface="맑은 고딕"/>
                        </a:rPr>
                        <a:t>하중배수</a:t>
                      </a:r>
                    </a:p>
                  </a:txBody>
                  <a:tcPr marL="91440" marR="91440" marT="36576" marB="36576" anchor="ctr">
                    <a:solidFill>
                      <a:srgbClr val="2B57A6"/>
                    </a:solidFill>
                  </a:tcPr>
                </a:tc>
                <a:tc>
                  <a:txBody>
                    <a:bodyPr wrap="square"/>
                    <a:lstStyle/>
                    <a:p>
                      <a:pPr algn="ctr"/>
                      <a:r>
                        <a:rPr sz="1100" b="1">
                          <a:solidFill>
                            <a:srgbClr val="FFFFFF"/>
                          </a:solidFill>
                          <a:latin typeface="맑은 고딕"/>
                        </a:rPr>
                        <a:t>각속도</a:t>
                      </a:r>
                    </a:p>
                  </a:txBody>
                  <a:tcPr marL="91440" marR="91440" marT="36576" marB="36576" anchor="ctr">
                    <a:solidFill>
                      <a:srgbClr val="2B57A6"/>
                    </a:solidFill>
                  </a:tcPr>
                </a:tc>
                <a:tc>
                  <a:txBody>
                    <a:bodyPr wrap="square"/>
                    <a:lstStyle/>
                    <a:p>
                      <a:pPr algn="ctr"/>
                      <a:r>
                        <a:rPr sz="1100" b="1">
                          <a:solidFill>
                            <a:srgbClr val="FFFFFF"/>
                          </a:solidFill>
                          <a:latin typeface="맑은 고딕"/>
                        </a:rPr>
                        <a:t>선회 반경</a:t>
                      </a:r>
                    </a:p>
                  </a:txBody>
                  <a:tcPr marL="91440" marR="91440" marT="36576" marB="36576" anchor="ctr">
                    <a:solidFill>
                      <a:srgbClr val="2B57A6"/>
                    </a:solidFill>
                  </a:tcPr>
                </a:tc>
                <a:tc>
                  <a:txBody>
                    <a:bodyPr wrap="square"/>
                    <a:lstStyle/>
                    <a:p>
                      <a:pPr algn="ctr"/>
                      <a:r>
                        <a:rPr sz="1100" b="1">
                          <a:solidFill>
                            <a:srgbClr val="FFFFFF"/>
                          </a:solidFill>
                          <a:latin typeface="맑은 고딕"/>
                        </a:rPr>
                        <a:t>비고</a:t>
                      </a:r>
                    </a:p>
                  </a:txBody>
                  <a:tcPr marL="91440" marR="91440" marT="36576" marB="36576" anchor="ctr">
                    <a:solidFill>
                      <a:srgbClr val="2B57A6"/>
                    </a:solidFill>
                  </a:tcPr>
                </a:tc>
              </a:tr>
              <a:tr h="402336">
                <a:tc>
                  <a:txBody>
                    <a:bodyPr wrap="square"/>
                    <a:lstStyle/>
                    <a:p>
                      <a:pPr algn="l"/>
                      <a:r>
                        <a:rPr sz="1100" b="0">
                          <a:solidFill>
                            <a:srgbClr val="1A2233"/>
                          </a:solidFill>
                          <a:latin typeface="맑은 고딕"/>
                        </a:rPr>
                        <a:t>대공 200 m/s</a:t>
                      </a:r>
                    </a:p>
                  </a:txBody>
                  <a:tcPr marL="91440" marR="91440" marT="36576" marB="36576" anchor="ctr">
                    <a:solidFill>
                      <a:srgbClr val="FFFFFF"/>
                    </a:solidFill>
                  </a:tcPr>
                </a:tc>
                <a:tc>
                  <a:txBody>
                    <a:bodyPr wrap="square"/>
                    <a:lstStyle/>
                    <a:p>
                      <a:pPr algn="ctr"/>
                      <a:r>
                        <a:rPr sz="1100" b="0">
                          <a:solidFill>
                            <a:srgbClr val="1A2233"/>
                          </a:solidFill>
                          <a:latin typeface="맑은 고딕"/>
                        </a:rPr>
                        <a:t>1 g</a:t>
                      </a:r>
                    </a:p>
                  </a:txBody>
                  <a:tcPr marL="91440" marR="91440" marT="36576" marB="36576" anchor="ctr">
                    <a:solidFill>
                      <a:srgbClr val="FFFFFF"/>
                    </a:solidFill>
                  </a:tcPr>
                </a:tc>
                <a:tc>
                  <a:txBody>
                    <a:bodyPr wrap="square"/>
                    <a:lstStyle/>
                    <a:p>
                      <a:pPr algn="ctr"/>
                      <a:r>
                        <a:rPr sz="1100" b="0">
                          <a:solidFill>
                            <a:srgbClr val="1A2233"/>
                          </a:solidFill>
                          <a:latin typeface="맑은 고딕"/>
                        </a:rPr>
                        <a:t>2.81 °/s</a:t>
                      </a:r>
                    </a:p>
                  </a:txBody>
                  <a:tcPr marL="91440" marR="91440" marT="36576" marB="36576" anchor="ctr">
                    <a:solidFill>
                      <a:srgbClr val="FFFFFF"/>
                    </a:solidFill>
                  </a:tcPr>
                </a:tc>
                <a:tc>
                  <a:txBody>
                    <a:bodyPr wrap="square"/>
                    <a:lstStyle/>
                    <a:p>
                      <a:pPr algn="ctr"/>
                      <a:r>
                        <a:rPr sz="1100" b="0">
                          <a:solidFill>
                            <a:srgbClr val="1A2233"/>
                          </a:solidFill>
                          <a:latin typeface="맑은 고딕"/>
                        </a:rPr>
                        <a:t>4,079 m</a:t>
                      </a:r>
                    </a:p>
                  </a:txBody>
                  <a:tcPr marL="91440" marR="91440" marT="36576" marB="36576" anchor="ctr">
                    <a:solidFill>
                      <a:srgbClr val="FFFFFF"/>
                    </a:solidFill>
                  </a:tcPr>
                </a:tc>
                <a:tc>
                  <a:txBody>
                    <a:bodyPr wrap="square"/>
                    <a:lstStyle/>
                    <a:p>
                      <a:pPr algn="ctr"/>
                      <a:r>
                        <a:rPr sz="1100" b="0">
                          <a:solidFill>
                            <a:srgbClr val="1A2233"/>
                          </a:solidFill>
                          <a:latin typeface="맑은 고딕"/>
                        </a:rPr>
                        <a:t>180° 에 64 s</a:t>
                      </a:r>
                    </a:p>
                  </a:txBody>
                  <a:tcPr marL="91440" marR="91440" marT="36576" marB="36576" anchor="ctr">
                    <a:solidFill>
                      <a:srgbClr val="FFFFFF"/>
                    </a:solidFill>
                  </a:tcPr>
                </a:tc>
              </a:tr>
              <a:tr h="402336">
                <a:tc>
                  <a:txBody>
                    <a:bodyPr wrap="square"/>
                    <a:lstStyle/>
                    <a:p>
                      <a:pPr algn="l"/>
                      <a:r>
                        <a:rPr sz="1100" b="0">
                          <a:solidFill>
                            <a:srgbClr val="1A2233"/>
                          </a:solidFill>
                          <a:latin typeface="맑은 고딕"/>
                        </a:rPr>
                        <a:t>대공 200 m/s</a:t>
                      </a:r>
                    </a:p>
                  </a:txBody>
                  <a:tcPr marL="91440" marR="91440" marT="36576" marB="36576" anchor="ctr">
                    <a:solidFill>
                      <a:srgbClr val="F4F6FA"/>
                    </a:solidFill>
                  </a:tcPr>
                </a:tc>
                <a:tc>
                  <a:txBody>
                    <a:bodyPr wrap="square"/>
                    <a:lstStyle/>
                    <a:p>
                      <a:pPr algn="ctr"/>
                      <a:r>
                        <a:rPr sz="1100" b="1">
                          <a:solidFill>
                            <a:srgbClr val="C2521C"/>
                          </a:solidFill>
                          <a:latin typeface="맑은 고딕"/>
                        </a:rPr>
                        <a:t>3 g</a:t>
                      </a:r>
                    </a:p>
                  </a:txBody>
                  <a:tcPr marL="91440" marR="91440" marT="36576" marB="36576" anchor="ctr">
                    <a:solidFill>
                      <a:srgbClr val="F4F6FA"/>
                    </a:solidFill>
                  </a:tcPr>
                </a:tc>
                <a:tc>
                  <a:txBody>
                    <a:bodyPr wrap="square"/>
                    <a:lstStyle/>
                    <a:p>
                      <a:pPr algn="ctr"/>
                      <a:r>
                        <a:rPr sz="1100" b="1">
                          <a:solidFill>
                            <a:srgbClr val="C2521C"/>
                          </a:solidFill>
                          <a:latin typeface="맑은 고딕"/>
                        </a:rPr>
                        <a:t>8.43 °/s</a:t>
                      </a:r>
                    </a:p>
                  </a:txBody>
                  <a:tcPr marL="91440" marR="91440" marT="36576" marB="36576" anchor="ctr">
                    <a:solidFill>
                      <a:srgbClr val="F4F6FA"/>
                    </a:solidFill>
                  </a:tcPr>
                </a:tc>
                <a:tc>
                  <a:txBody>
                    <a:bodyPr wrap="square"/>
                    <a:lstStyle/>
                    <a:p>
                      <a:pPr algn="ctr"/>
                      <a:r>
                        <a:rPr sz="1100" b="1">
                          <a:solidFill>
                            <a:srgbClr val="C2521C"/>
                          </a:solidFill>
                          <a:latin typeface="맑은 고딕"/>
                        </a:rPr>
                        <a:t>1,360 m</a:t>
                      </a:r>
                    </a:p>
                  </a:txBody>
                  <a:tcPr marL="91440" marR="91440" marT="36576" marB="36576" anchor="ctr">
                    <a:solidFill>
                      <a:srgbClr val="F4F6FA"/>
                    </a:solidFill>
                  </a:tcPr>
                </a:tc>
                <a:tc>
                  <a:txBody>
                    <a:bodyPr wrap="square"/>
                    <a:lstStyle/>
                    <a:p>
                      <a:pPr algn="ctr"/>
                      <a:r>
                        <a:rPr sz="1100" b="0">
                          <a:solidFill>
                            <a:srgbClr val="1A2233"/>
                          </a:solidFill>
                          <a:latin typeface="맑은 고딕"/>
                        </a:rPr>
                        <a:t>180° 에 21 s</a:t>
                      </a:r>
                    </a:p>
                  </a:txBody>
                  <a:tcPr marL="91440" marR="91440" marT="36576" marB="36576" anchor="ctr">
                    <a:solidFill>
                      <a:srgbClr val="F4F6FA"/>
                    </a:solidFill>
                  </a:tcPr>
                </a:tc>
              </a:tr>
              <a:tr h="402336">
                <a:tc>
                  <a:txBody>
                    <a:bodyPr wrap="square"/>
                    <a:lstStyle/>
                    <a:p>
                      <a:pPr algn="l"/>
                      <a:r>
                        <a:rPr sz="1100" b="0">
                          <a:solidFill>
                            <a:srgbClr val="1A2233"/>
                          </a:solidFill>
                          <a:latin typeface="맑은 고딕"/>
                        </a:rPr>
                        <a:t>대공 200 m/s</a:t>
                      </a:r>
                    </a:p>
                  </a:txBody>
                  <a:tcPr marL="91440" marR="91440" marT="36576" marB="36576" anchor="ctr">
                    <a:solidFill>
                      <a:srgbClr val="FFFFFF"/>
                    </a:solidFill>
                  </a:tcPr>
                </a:tc>
                <a:tc>
                  <a:txBody>
                    <a:bodyPr wrap="square"/>
                    <a:lstStyle/>
                    <a:p>
                      <a:pPr algn="ctr"/>
                      <a:r>
                        <a:rPr sz="1100" b="0">
                          <a:solidFill>
                            <a:srgbClr val="1A2233"/>
                          </a:solidFill>
                          <a:latin typeface="맑은 고딕"/>
                        </a:rPr>
                        <a:t>5 g</a:t>
                      </a:r>
                    </a:p>
                  </a:txBody>
                  <a:tcPr marL="91440" marR="91440" marT="36576" marB="36576" anchor="ctr">
                    <a:solidFill>
                      <a:srgbClr val="FFFFFF"/>
                    </a:solidFill>
                  </a:tcPr>
                </a:tc>
                <a:tc>
                  <a:txBody>
                    <a:bodyPr wrap="square"/>
                    <a:lstStyle/>
                    <a:p>
                      <a:pPr algn="ctr"/>
                      <a:r>
                        <a:rPr sz="1100" b="0">
                          <a:solidFill>
                            <a:srgbClr val="1A2233"/>
                          </a:solidFill>
                          <a:latin typeface="맑은 고딕"/>
                        </a:rPr>
                        <a:t>14.05 °/s</a:t>
                      </a:r>
                    </a:p>
                  </a:txBody>
                  <a:tcPr marL="91440" marR="91440" marT="36576" marB="36576" anchor="ctr">
                    <a:solidFill>
                      <a:srgbClr val="FFFFFF"/>
                    </a:solidFill>
                  </a:tcPr>
                </a:tc>
                <a:tc>
                  <a:txBody>
                    <a:bodyPr wrap="square"/>
                    <a:lstStyle/>
                    <a:p>
                      <a:pPr algn="ctr"/>
                      <a:r>
                        <a:rPr sz="1100" b="0">
                          <a:solidFill>
                            <a:srgbClr val="1A2233"/>
                          </a:solidFill>
                          <a:latin typeface="맑은 고딕"/>
                        </a:rPr>
                        <a:t>816 m</a:t>
                      </a:r>
                    </a:p>
                  </a:txBody>
                  <a:tcPr marL="91440" marR="91440" marT="36576" marB="36576" anchor="ctr">
                    <a:solidFill>
                      <a:srgbClr val="FFFFFF"/>
                    </a:solidFill>
                  </a:tcPr>
                </a:tc>
                <a:tc>
                  <a:txBody>
                    <a:bodyPr wrap="square"/>
                    <a:lstStyle/>
                    <a:p>
                      <a:pPr algn="ctr"/>
                      <a:r>
                        <a:rPr sz="1100" b="0">
                          <a:solidFill>
                            <a:srgbClr val="1A2233"/>
                          </a:solidFill>
                          <a:latin typeface="맑은 고딕"/>
                        </a:rPr>
                        <a:t>180° 에 13 s</a:t>
                      </a:r>
                    </a:p>
                  </a:txBody>
                  <a:tcPr marL="91440" marR="91440" marT="36576" marB="36576" anchor="ctr">
                    <a:solidFill>
                      <a:srgbClr val="FFFFFF"/>
                    </a:solidFill>
                  </a:tcPr>
                </a:tc>
              </a:tr>
              <a:tr h="402336">
                <a:tc>
                  <a:txBody>
                    <a:bodyPr wrap="square"/>
                    <a:lstStyle/>
                    <a:p>
                      <a:pPr algn="l"/>
                      <a:r>
                        <a:rPr sz="1100" b="0">
                          <a:solidFill>
                            <a:srgbClr val="1A2233"/>
                          </a:solidFill>
                          <a:latin typeface="맑은 고딕"/>
                        </a:rPr>
                        <a:t>대함 30 m/s</a:t>
                      </a:r>
                    </a:p>
                  </a:txBody>
                  <a:tcPr marL="91440" marR="91440" marT="36576" marB="36576" anchor="ctr">
                    <a:solidFill>
                      <a:srgbClr val="F4F6FA"/>
                    </a:solidFill>
                  </a:tcPr>
                </a:tc>
                <a:tc>
                  <a:txBody>
                    <a:bodyPr wrap="square"/>
                    <a:lstStyle/>
                    <a:p>
                      <a:pPr algn="ctr"/>
                      <a:r>
                        <a:rPr sz="1100" b="0">
                          <a:solidFill>
                            <a:srgbClr val="1A2233"/>
                          </a:solidFill>
                          <a:latin typeface="맑은 고딕"/>
                        </a:rPr>
                        <a:t>0.1 g</a:t>
                      </a:r>
                    </a:p>
                  </a:txBody>
                  <a:tcPr marL="91440" marR="91440" marT="36576" marB="36576" anchor="ctr">
                    <a:solidFill>
                      <a:srgbClr val="F4F6FA"/>
                    </a:solidFill>
                  </a:tcPr>
                </a:tc>
                <a:tc>
                  <a:txBody>
                    <a:bodyPr wrap="square"/>
                    <a:lstStyle/>
                    <a:p>
                      <a:pPr algn="ctr"/>
                      <a:r>
                        <a:rPr sz="1100" b="0">
                          <a:solidFill>
                            <a:srgbClr val="1A2233"/>
                          </a:solidFill>
                          <a:latin typeface="맑은 고딕"/>
                        </a:rPr>
                        <a:t>1.87 °/s</a:t>
                      </a:r>
                    </a:p>
                  </a:txBody>
                  <a:tcPr marL="91440" marR="91440" marT="36576" marB="36576" anchor="ctr">
                    <a:solidFill>
                      <a:srgbClr val="F4F6FA"/>
                    </a:solidFill>
                  </a:tcPr>
                </a:tc>
                <a:tc>
                  <a:txBody>
                    <a:bodyPr wrap="square"/>
                    <a:lstStyle/>
                    <a:p>
                      <a:pPr algn="ctr"/>
                      <a:r>
                        <a:rPr sz="1100" b="0">
                          <a:solidFill>
                            <a:srgbClr val="1A2233"/>
                          </a:solidFill>
                          <a:latin typeface="맑은 고딕"/>
                        </a:rPr>
                        <a:t>918 m</a:t>
                      </a:r>
                    </a:p>
                  </a:txBody>
                  <a:tcPr marL="91440" marR="91440" marT="36576" marB="36576" anchor="ctr">
                    <a:solidFill>
                      <a:srgbClr val="F4F6FA"/>
                    </a:solidFill>
                  </a:tcPr>
                </a:tc>
                <a:tc>
                  <a:txBody>
                    <a:bodyPr wrap="square"/>
                    <a:lstStyle/>
                    <a:p>
                      <a:pPr algn="ctr"/>
                      <a:r>
                        <a:rPr sz="1100" b="0">
                          <a:solidFill>
                            <a:srgbClr val="1A2233"/>
                          </a:solidFill>
                          <a:latin typeface="맑은 고딕"/>
                        </a:rPr>
                        <a:t>90° 에 48 s</a:t>
                      </a:r>
                    </a:p>
                  </a:txBody>
                  <a:tcPr marL="91440" marR="91440" marT="36576" marB="36576" anchor="ctr">
                    <a:solidFill>
                      <a:srgbClr val="F4F6FA"/>
                    </a:solidFill>
                  </a:tcPr>
                </a:tc>
              </a:tr>
            </a:tbl>
          </a:graphicData>
        </a:graphic>
      </p:graphicFrame>
      <p:sp>
        <p:nvSpPr>
          <p:cNvPr id="9" name="Rounded Rectangle 8"/>
          <p:cNvSpPr/>
          <p:nvPr/>
        </p:nvSpPr>
        <p:spPr>
          <a:xfrm>
            <a:off x="6309360" y="3584448"/>
            <a:ext cx="5321808" cy="1097280"/>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510528" y="3725265"/>
            <a:ext cx="4919472" cy="855878"/>
          </a:xfrm>
          <a:prstGeom prst="rect">
            <a:avLst/>
          </a:prstGeom>
          <a:noFill/>
        </p:spPr>
        <p:txBody>
          <a:bodyPr wrap="square" anchor="t" lIns="0" rIns="0" tIns="0" bIns="0">
            <a:spAutoFit/>
          </a:bodyPr>
          <a:lstStyle/>
          <a:p>
            <a:pPr algn="l">
              <a:spcAft>
                <a:spcPts val="400"/>
              </a:spcAft>
            </a:pPr>
            <a:r>
              <a:rPr sz="1100" b="1">
                <a:solidFill>
                  <a:srgbClr val="2B57A6"/>
                </a:solidFill>
                <a:latin typeface="맑은 고딕"/>
              </a:rPr>
              <a:t>감 잡기 :  1 g 서 있을 때,  0.3 g 승용차 커브,  3 g 롤러코스터 바닥·전투기 급선회,  9 g 전투기 한계</a:t>
            </a:r>
          </a:p>
          <a:p>
            <a:pPr algn="l">
              <a:lnSpc>
                <a:spcPts val="1400"/>
              </a:lnSpc>
            </a:pPr>
            <a:r>
              <a:rPr sz="1050" b="0">
                <a:solidFill>
                  <a:srgbClr val="1A2233"/>
                </a:solidFill>
                <a:latin typeface="맑은 고딕"/>
              </a:rPr>
              <a:t>가속도가 속도에 수직이라 속력은 안 변하고 방향만 변한다.</a:t>
            </a:r>
          </a:p>
          <a:p>
            <a:pPr algn="l">
              <a:lnSpc>
                <a:spcPts val="1400"/>
              </a:lnSpc>
            </a:pPr>
            <a:r>
              <a:rPr sz="1050" b="0">
                <a:solidFill>
                  <a:srgbClr val="1A2233"/>
                </a:solidFill>
                <a:latin typeface="맑은 고딕"/>
              </a:rPr>
              <a:t>각속도가 속력에 반비례 — 배 기동에는 0.1 g 같은 작은 값을 넣어야 그럴듯하다.</a:t>
            </a:r>
          </a:p>
        </p:txBody>
      </p:sp>
      <p:sp>
        <p:nvSpPr>
          <p:cNvPr id="11" name="Rounded Rectangle 10"/>
          <p:cNvSpPr/>
          <p:nvPr/>
        </p:nvSpPr>
        <p:spPr>
          <a:xfrm>
            <a:off x="566928" y="5138928"/>
            <a:ext cx="11064240" cy="1024128"/>
          </a:xfrm>
          <a:prstGeom prst="roundRect">
            <a:avLst>
              <a:gd name="adj" fmla="val 8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786384" y="5138928"/>
            <a:ext cx="10625328" cy="1024128"/>
          </a:xfrm>
          <a:prstGeom prst="rect">
            <a:avLst/>
          </a:prstGeom>
          <a:noFill/>
        </p:spPr>
        <p:txBody>
          <a:bodyPr wrap="square" anchor="ctr" lIns="0" rIns="0" tIns="0" bIns="0">
            <a:spAutoFit/>
          </a:bodyPr>
          <a:lstStyle/>
          <a:p>
            <a:pPr algn="ctr">
              <a:spcAft>
                <a:spcPts val="300"/>
              </a:spcAft>
            </a:pPr>
            <a:r>
              <a:rPr sz="1250" b="1">
                <a:solidFill>
                  <a:srgbClr val="C2521C"/>
                </a:solidFill>
                <a:latin typeface="맑은 고딕"/>
              </a:rPr>
              <a:t>프로그램에서는 한 줄 :  ω = n·g / V  를 구해 놓고,  매 스텝 자세각에  ω × 0.1 s  를 더한다   (3 g 면 한 스텝에 0.84°)</a:t>
            </a:r>
          </a:p>
          <a:p>
            <a:pPr algn="ctr">
              <a:lnSpc>
                <a:spcPts val="1400"/>
              </a:lnSpc>
            </a:pPr>
            <a:r>
              <a:rPr sz="1050" b="0">
                <a:solidFill>
                  <a:srgbClr val="5A6478"/>
                </a:solidFill>
                <a:latin typeface="맑은 고딕"/>
              </a:rPr>
              <a:t>a = V²/R = n·g  →  R = V²/(n·g),  ω = V/R = n·g/V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세 축과 기동 시간표</a:t>
            </a:r>
          </a:p>
          <a:p>
            <a:pPr algn="l">
              <a:lnSpc>
                <a:spcPts val="1400"/>
              </a:lnSpc>
            </a:pPr>
            <a:r>
              <a:rPr sz="1100" b="0">
                <a:solidFill>
                  <a:srgbClr val="C9D6EC"/>
                </a:solidFill>
                <a:latin typeface="맑은 고딕"/>
              </a:rPr>
              <a:t>TurnType 은 동체의 어느 축을 돌리는가.  기동 하나 = { g, TurnType, StartTime, EndTime }, 표적마다 최대 30개</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fig12_axes.png"/>
          <p:cNvPicPr>
            <a:picLocks noChangeAspect="1"/>
          </p:cNvPicPr>
          <p:nvPr/>
        </p:nvPicPr>
        <p:blipFill>
          <a:blip r:embed="rId2"/>
          <a:stretch>
            <a:fillRect/>
          </a:stretch>
        </p:blipFill>
        <p:spPr>
          <a:xfrm>
            <a:off x="566928" y="1371600"/>
            <a:ext cx="7680960" cy="3108960"/>
          </a:xfrm>
          <a:prstGeom prst="rect">
            <a:avLst/>
          </a:prstGeom>
        </p:spPr>
      </p:pic>
      <p:graphicFrame>
        <p:nvGraphicFramePr>
          <p:cNvPr id="8" name="Table 7"/>
          <p:cNvGraphicFramePr>
            <a:graphicFrameLocks noGrp="1"/>
          </p:cNvGraphicFramePr>
          <p:nvPr/>
        </p:nvGraphicFramePr>
        <p:xfrm>
          <a:off x="8485632" y="1371600"/>
          <a:ext cx="3145536" cy="1828800"/>
        </p:xfrm>
        <a:graphic>
          <a:graphicData uri="http://schemas.openxmlformats.org/drawingml/2006/table">
            <a:tbl>
              <a:tblPr firstRow="1">
                <a:tableStyleId>{5C22544A-7EE6-4342-B048-85BDC9FD1C3A}</a:tableStyleId>
              </a:tblPr>
              <a:tblGrid>
                <a:gridCol w="950976"/>
                <a:gridCol w="969264"/>
                <a:gridCol w="1225296"/>
              </a:tblGrid>
              <a:tr h="365760">
                <a:tc>
                  <a:txBody>
                    <a:bodyPr wrap="square"/>
                    <a:lstStyle/>
                    <a:p>
                      <a:pPr algn="ctr"/>
                      <a:r>
                        <a:rPr sz="1050" b="1">
                          <a:solidFill>
                            <a:srgbClr val="FFFFFF"/>
                          </a:solidFill>
                          <a:latin typeface="맑은 고딕"/>
                        </a:rPr>
                        <a:t>TurnType</a:t>
                      </a:r>
                    </a:p>
                  </a:txBody>
                  <a:tcPr marL="91440" marR="91440" marT="36576" marB="36576" anchor="ctr">
                    <a:solidFill>
                      <a:srgbClr val="2B57A6"/>
                    </a:solidFill>
                  </a:tcPr>
                </a:tc>
                <a:tc>
                  <a:txBody>
                    <a:bodyPr wrap="square"/>
                    <a:lstStyle/>
                    <a:p>
                      <a:pPr algn="ctr"/>
                      <a:r>
                        <a:rPr sz="1050" b="1">
                          <a:solidFill>
                            <a:srgbClr val="FFFFFF"/>
                          </a:solidFill>
                          <a:latin typeface="맑은 고딕"/>
                        </a:rPr>
                        <a:t>축</a:t>
                      </a:r>
                    </a:p>
                  </a:txBody>
                  <a:tcPr marL="91440" marR="91440" marT="36576" marB="36576" anchor="ctr">
                    <a:solidFill>
                      <a:srgbClr val="2B57A6"/>
                    </a:solidFill>
                  </a:tcPr>
                </a:tc>
                <a:tc>
                  <a:txBody>
                    <a:bodyPr wrap="square"/>
                    <a:lstStyle/>
                    <a:p>
                      <a:pPr algn="ctr"/>
                      <a:r>
                        <a:rPr sz="1050" b="1">
                          <a:solidFill>
                            <a:srgbClr val="FFFFFF"/>
                          </a:solidFill>
                          <a:latin typeface="맑은 고딕"/>
                        </a:rPr>
                        <a:t>효과</a:t>
                      </a:r>
                    </a:p>
                  </a:txBody>
                  <a:tcPr marL="91440" marR="91440" marT="36576" marB="36576" anchor="ctr">
                    <a:solidFill>
                      <a:srgbClr val="2B57A6"/>
                    </a:solidFill>
                  </a:tcPr>
                </a:tc>
              </a:tr>
              <a:tr h="365760">
                <a:tc>
                  <a:txBody>
                    <a:bodyPr wrap="square"/>
                    <a:lstStyle/>
                    <a:p>
                      <a:pPr algn="ctr"/>
                      <a:r>
                        <a:rPr sz="1050" b="0">
                          <a:solidFill>
                            <a:srgbClr val="1A2233"/>
                          </a:solidFill>
                          <a:latin typeface="맑은 고딕"/>
                        </a:rPr>
                        <a:t>0</a:t>
                      </a:r>
                    </a:p>
                  </a:txBody>
                  <a:tcPr marL="91440" marR="91440" marT="36576" marB="36576" anchor="ctr">
                    <a:solidFill>
                      <a:srgbClr val="FFFFFF"/>
                    </a:solidFill>
                  </a:tcPr>
                </a:tc>
                <a:tc>
                  <a:txBody>
                    <a:bodyPr wrap="square"/>
                    <a:lstStyle/>
                    <a:p>
                      <a:pPr algn="ctr"/>
                      <a:r>
                        <a:rPr sz="1050" b="0">
                          <a:solidFill>
                            <a:srgbClr val="1A2233"/>
                          </a:solidFill>
                          <a:latin typeface="맑은 고딕"/>
                        </a:rPr>
                        <a:t>—</a:t>
                      </a:r>
                    </a:p>
                  </a:txBody>
                  <a:tcPr marL="91440" marR="91440" marT="36576" marB="36576" anchor="ctr">
                    <a:solidFill>
                      <a:srgbClr val="FFFFFF"/>
                    </a:solidFill>
                  </a:tcPr>
                </a:tc>
                <a:tc>
                  <a:txBody>
                    <a:bodyPr wrap="square"/>
                    <a:lstStyle/>
                    <a:p>
                      <a:pPr algn="ctr"/>
                      <a:r>
                        <a:rPr sz="1050" b="0">
                          <a:solidFill>
                            <a:srgbClr val="1A2233"/>
                          </a:solidFill>
                          <a:latin typeface="맑은 고딕"/>
                        </a:rPr>
                        <a:t>직진</a:t>
                      </a:r>
                    </a:p>
                  </a:txBody>
                  <a:tcPr marL="91440" marR="91440" marT="36576" marB="36576" anchor="ctr">
                    <a:solidFill>
                      <a:srgbClr val="FFFFFF"/>
                    </a:solidFill>
                  </a:tcPr>
                </a:tc>
              </a:tr>
              <a:tr h="365760">
                <a:tc>
                  <a:txBody>
                    <a:bodyPr wrap="square"/>
                    <a:lstStyle/>
                    <a:p>
                      <a:pPr algn="ctr"/>
                      <a:r>
                        <a:rPr sz="1050" b="0">
                          <a:solidFill>
                            <a:srgbClr val="1A2233"/>
                          </a:solidFill>
                          <a:latin typeface="맑은 고딕"/>
                        </a:rPr>
                        <a:t>1  Roll</a:t>
                      </a:r>
                    </a:p>
                  </a:txBody>
                  <a:tcPr marL="91440" marR="91440" marT="36576" marB="36576" anchor="ctr">
                    <a:solidFill>
                      <a:srgbClr val="F4F6FA"/>
                    </a:solidFill>
                  </a:tcPr>
                </a:tc>
                <a:tc>
                  <a:txBody>
                    <a:bodyPr wrap="square"/>
                    <a:lstStyle/>
                    <a:p>
                      <a:pPr algn="ctr"/>
                      <a:r>
                        <a:rPr sz="1050" b="0">
                          <a:solidFill>
                            <a:srgbClr val="1A2233"/>
                          </a:solidFill>
                          <a:latin typeface="맑은 고딕"/>
                        </a:rPr>
                        <a:t>x (앞뒤)</a:t>
                      </a:r>
                    </a:p>
                  </a:txBody>
                  <a:tcPr marL="91440" marR="91440" marT="36576" marB="36576" anchor="ctr">
                    <a:solidFill>
                      <a:srgbClr val="F4F6FA"/>
                    </a:solidFill>
                  </a:tcPr>
                </a:tc>
                <a:tc>
                  <a:txBody>
                    <a:bodyPr wrap="square"/>
                    <a:lstStyle/>
                    <a:p>
                      <a:pPr algn="ctr"/>
                      <a:r>
                        <a:rPr sz="1050" b="0">
                          <a:solidFill>
                            <a:srgbClr val="1A2233"/>
                          </a:solidFill>
                          <a:latin typeface="맑은 고딕"/>
                        </a:rPr>
                        <a:t>자세만 기움</a:t>
                      </a:r>
                    </a:p>
                  </a:txBody>
                  <a:tcPr marL="91440" marR="91440" marT="36576" marB="36576" anchor="ctr">
                    <a:solidFill>
                      <a:srgbClr val="F4F6FA"/>
                    </a:solidFill>
                  </a:tcPr>
                </a:tc>
              </a:tr>
              <a:tr h="365760">
                <a:tc>
                  <a:txBody>
                    <a:bodyPr wrap="square"/>
                    <a:lstStyle/>
                    <a:p>
                      <a:pPr algn="ctr"/>
                      <a:r>
                        <a:rPr sz="1050" b="0">
                          <a:solidFill>
                            <a:srgbClr val="1A2233"/>
                          </a:solidFill>
                          <a:latin typeface="맑은 고딕"/>
                        </a:rPr>
                        <a:t>2  Yaw</a:t>
                      </a:r>
                    </a:p>
                  </a:txBody>
                  <a:tcPr marL="91440" marR="91440" marT="36576" marB="36576" anchor="ctr">
                    <a:solidFill>
                      <a:srgbClr val="FFFFFF"/>
                    </a:solidFill>
                  </a:tcPr>
                </a:tc>
                <a:tc>
                  <a:txBody>
                    <a:bodyPr wrap="square"/>
                    <a:lstStyle/>
                    <a:p>
                      <a:pPr algn="ctr"/>
                      <a:r>
                        <a:rPr sz="1050" b="0">
                          <a:solidFill>
                            <a:srgbClr val="1A2233"/>
                          </a:solidFill>
                          <a:latin typeface="맑은 고딕"/>
                        </a:rPr>
                        <a:t>z (위아래)</a:t>
                      </a:r>
                    </a:p>
                  </a:txBody>
                  <a:tcPr marL="91440" marR="91440" marT="36576" marB="36576" anchor="ctr">
                    <a:solidFill>
                      <a:srgbClr val="FFFFFF"/>
                    </a:solidFill>
                  </a:tcPr>
                </a:tc>
                <a:tc>
                  <a:txBody>
                    <a:bodyPr wrap="square"/>
                    <a:lstStyle/>
                    <a:p>
                      <a:pPr algn="ctr"/>
                      <a:r>
                        <a:rPr sz="1050" b="0">
                          <a:solidFill>
                            <a:srgbClr val="1A2233"/>
                          </a:solidFill>
                          <a:latin typeface="맑은 고딕"/>
                        </a:rPr>
                        <a:t>좌우 선회</a:t>
                      </a:r>
                    </a:p>
                  </a:txBody>
                  <a:tcPr marL="91440" marR="91440" marT="36576" marB="36576" anchor="ctr">
                    <a:solidFill>
                      <a:srgbClr val="FFFFFF"/>
                    </a:solidFill>
                  </a:tcPr>
                </a:tc>
              </a:tr>
              <a:tr h="365760">
                <a:tc>
                  <a:txBody>
                    <a:bodyPr wrap="square"/>
                    <a:lstStyle/>
                    <a:p>
                      <a:pPr algn="ctr"/>
                      <a:r>
                        <a:rPr sz="1050" b="0">
                          <a:solidFill>
                            <a:srgbClr val="1A2233"/>
                          </a:solidFill>
                          <a:latin typeface="맑은 고딕"/>
                        </a:rPr>
                        <a:t>3  Pitch</a:t>
                      </a:r>
                    </a:p>
                  </a:txBody>
                  <a:tcPr marL="91440" marR="91440" marT="36576" marB="36576" anchor="ctr">
                    <a:solidFill>
                      <a:srgbClr val="F4F6FA"/>
                    </a:solidFill>
                  </a:tcPr>
                </a:tc>
                <a:tc>
                  <a:txBody>
                    <a:bodyPr wrap="square"/>
                    <a:lstStyle/>
                    <a:p>
                      <a:pPr algn="ctr"/>
                      <a:r>
                        <a:rPr sz="1050" b="0">
                          <a:solidFill>
                            <a:srgbClr val="1A2233"/>
                          </a:solidFill>
                          <a:latin typeface="맑은 고딕"/>
                        </a:rPr>
                        <a:t>y (날개)</a:t>
                      </a:r>
                    </a:p>
                  </a:txBody>
                  <a:tcPr marL="91440" marR="91440" marT="36576" marB="36576" anchor="ctr">
                    <a:solidFill>
                      <a:srgbClr val="F4F6FA"/>
                    </a:solidFill>
                  </a:tcPr>
                </a:tc>
                <a:tc>
                  <a:txBody>
                    <a:bodyPr wrap="square"/>
                    <a:lstStyle/>
                    <a:p>
                      <a:pPr algn="ctr"/>
                      <a:r>
                        <a:rPr sz="1050" b="0">
                          <a:solidFill>
                            <a:srgbClr val="1A2233"/>
                          </a:solidFill>
                          <a:latin typeface="맑은 고딕"/>
                        </a:rPr>
                        <a:t>상승 · 강하</a:t>
                      </a:r>
                    </a:p>
                  </a:txBody>
                  <a:tcPr marL="91440" marR="91440" marT="36576" marB="36576" anchor="ctr">
                    <a:solidFill>
                      <a:srgbClr val="F4F6FA"/>
                    </a:solidFill>
                  </a:tcPr>
                </a:tc>
              </a:tr>
            </a:tbl>
          </a:graphicData>
        </a:graphic>
      </p:graphicFrame>
      <p:sp>
        <p:nvSpPr>
          <p:cNvPr id="9" name="Rounded Rectangle 8"/>
          <p:cNvSpPr/>
          <p:nvPr/>
        </p:nvSpPr>
        <p:spPr>
          <a:xfrm>
            <a:off x="8485632" y="3328416"/>
            <a:ext cx="3145536" cy="1152144"/>
          </a:xfrm>
          <a:prstGeom prst="roundRect">
            <a:avLst>
              <a:gd name="adj" fmla="val 6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686800" y="3469233"/>
            <a:ext cx="2743200" cy="910742"/>
          </a:xfrm>
          <a:prstGeom prst="rect">
            <a:avLst/>
          </a:prstGeom>
          <a:noFill/>
        </p:spPr>
        <p:txBody>
          <a:bodyPr wrap="square" anchor="t" lIns="0" rIns="0" tIns="0" bIns="0">
            <a:spAutoFit/>
          </a:bodyPr>
          <a:lstStyle/>
          <a:p>
            <a:pPr algn="l">
              <a:spcAft>
                <a:spcPts val="400"/>
              </a:spcAft>
            </a:pPr>
            <a:r>
              <a:rPr sz="1200" b="1">
                <a:solidFill>
                  <a:srgbClr val="C2521C"/>
                </a:solidFill>
                <a:latin typeface="맑은 고딕"/>
              </a:rPr>
              <a:t>시간표 규칙 셋</a:t>
            </a:r>
          </a:p>
          <a:p>
            <a:pPr algn="l">
              <a:lnSpc>
                <a:spcPts val="1300"/>
              </a:lnSpc>
            </a:pPr>
            <a:r>
              <a:rPr sz="1000" b="0">
                <a:solidFill>
                  <a:srgbClr val="1A2233"/>
                </a:solidFill>
                <a:latin typeface="맑은 고딕"/>
              </a:rPr>
              <a:t>StartTime ≤ t &lt; EndTime 이면 적용, 밖이면 직진.</a:t>
            </a:r>
          </a:p>
          <a:p>
            <a:pPr algn="l">
              <a:lnSpc>
                <a:spcPts val="1300"/>
              </a:lnSpc>
            </a:pPr>
            <a:r>
              <a:rPr sz="1000" b="0">
                <a:solidFill>
                  <a:srgbClr val="1A2233"/>
                </a:solidFill>
                <a:latin typeface="맑은 고딕"/>
              </a:rPr>
              <a:t>부호 : n &lt; 0 이면 반대 방향.  겹침 : 먼저 적힌 것.  끝난 뒤 : 자세 유지.</a:t>
            </a:r>
          </a:p>
        </p:txBody>
      </p:sp>
      <p:sp>
        <p:nvSpPr>
          <p:cNvPr id="11" name="Rounded Rectangle 10"/>
          <p:cNvSpPr/>
          <p:nvPr/>
        </p:nvSpPr>
        <p:spPr>
          <a:xfrm>
            <a:off x="566928" y="4700016"/>
            <a:ext cx="11064240" cy="676656"/>
          </a:xfrm>
          <a:prstGeom prst="roundRect">
            <a:avLst>
              <a:gd name="adj" fmla="val 8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786384" y="4700016"/>
            <a:ext cx="10625328" cy="676656"/>
          </a:xfrm>
          <a:prstGeom prst="rect">
            <a:avLst/>
          </a:prstGeom>
          <a:noFill/>
        </p:spPr>
        <p:txBody>
          <a:bodyPr wrap="square" anchor="ctr" lIns="0" rIns="0" tIns="0" bIns="0">
            <a:spAutoFit/>
          </a:bodyPr>
          <a:lstStyle/>
          <a:p>
            <a:pPr algn="ctr">
              <a:spcAft>
                <a:spcPts val="300"/>
              </a:spcAft>
            </a:pPr>
            <a:r>
              <a:rPr sz="1200" b="1">
                <a:solidFill>
                  <a:srgbClr val="1A2233"/>
                </a:solidFill>
                <a:latin typeface="맑은 고딕"/>
              </a:rPr>
              <a:t>축을 돌린 뒤 속도가 어느 쪽인지는 따로 계산하지 않는다 — 자세각만 바꿔 두면 6장의 회전 두 번이 새 속도 방향을 만든다</a:t>
            </a:r>
          </a:p>
        </p:txBody>
      </p:sp>
      <p:sp>
        <p:nvSpPr>
          <p:cNvPr id="13" name="Rounded Rectangle 12"/>
          <p:cNvSpPr/>
          <p:nvPr/>
        </p:nvSpPr>
        <p:spPr>
          <a:xfrm>
            <a:off x="566928" y="5504688"/>
            <a:ext cx="11064240" cy="658368"/>
          </a:xfrm>
          <a:prstGeom prst="roundRect">
            <a:avLst>
              <a:gd name="adj" fmla="val 8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786384" y="5504688"/>
            <a:ext cx="10625328" cy="658368"/>
          </a:xfrm>
          <a:prstGeom prst="rect">
            <a:avLst/>
          </a:prstGeom>
          <a:noFill/>
        </p:spPr>
        <p:txBody>
          <a:bodyPr wrap="square" anchor="ctr" lIns="0" rIns="0" tIns="0" bIns="0">
            <a:spAutoFit/>
          </a:bodyPr>
          <a:lstStyle/>
          <a:p>
            <a:pPr algn="ctr">
              <a:spcAft>
                <a:spcPts val="300"/>
              </a:spcAft>
            </a:pPr>
            <a:r>
              <a:rPr sz="1150" b="1">
                <a:solidFill>
                  <a:srgbClr val="C2521C"/>
                </a:solidFill>
                <a:latin typeface="맑은 고딕"/>
              </a:rPr>
              <a:t>과제 조건에는 기동 목록이 없다 → 발표용 예시 기동을 정해 넣었다 (대공 3 g 우선회 10~20 s, 2 g 기수 들기 35~40 s, 대함 −0.1 g 좌선회 20~50 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algn="l"/>
            <a:r>
              <a:rPr sz="3000" b="1">
                <a:solidFill>
                  <a:srgbClr val="FFFFFF"/>
                </a:solidFill>
                <a:latin typeface="Arial"/>
              </a:rPr>
              <a:t>03</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algn="ctr"/>
            <a:r>
              <a:rPr sz="3000" b="1">
                <a:solidFill>
                  <a:srgbClr val="FFFFFF"/>
                </a:solidFill>
                <a:latin typeface="맑은 고딕"/>
              </a:rPr>
              <a:t>C 로 구현</a:t>
            </a:r>
          </a:p>
        </p:txBody>
      </p: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 name="TextBox 6"/>
          <p:cNvSpPr txBox="1"/>
          <p:nvPr/>
        </p:nvSpPr>
        <p:spPr>
          <a:xfrm>
            <a:off x="5074920" y="1481328"/>
            <a:ext cx="548640" cy="457200"/>
          </a:xfrm>
          <a:prstGeom prst="rect">
            <a:avLst/>
          </a:prstGeom>
          <a:noFill/>
        </p:spPr>
        <p:txBody>
          <a:bodyPr wrap="square" anchor="ctr" lIns="0" rIns="0" tIns="0" bIns="0">
            <a:spAutoFit/>
          </a:bodyPr>
          <a:lstStyle/>
          <a:p>
            <a:pPr algn="l"/>
            <a:r>
              <a:rPr sz="1600" b="1">
                <a:solidFill>
                  <a:srgbClr val="2B57A6"/>
                </a:solidFill>
                <a:latin typeface="Arial"/>
              </a:rPr>
              <a:t>1</a:t>
            </a:r>
          </a:p>
        </p:txBody>
      </p:sp>
      <p:sp>
        <p:nvSpPr>
          <p:cNvPr id="8" name="TextBox 7"/>
          <p:cNvSpPr txBox="1"/>
          <p:nvPr/>
        </p:nvSpPr>
        <p:spPr>
          <a:xfrm>
            <a:off x="5760720" y="148132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프로그램 구성 — 제공 코드 · C 코어 · MFC 화면</a:t>
            </a:r>
          </a:p>
        </p:txBody>
      </p:sp>
      <p:cxnSp>
        <p:nvCxnSpPr>
          <p:cNvPr id="9" name="Connector 8"/>
          <p:cNvCxnSpPr/>
          <p:nvPr/>
        </p:nvCxnSpPr>
        <p:spPr>
          <a:xfrm>
            <a:off x="5074920" y="20116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74920" y="2121408"/>
            <a:ext cx="548640" cy="457200"/>
          </a:xfrm>
          <a:prstGeom prst="rect">
            <a:avLst/>
          </a:prstGeom>
          <a:noFill/>
        </p:spPr>
        <p:txBody>
          <a:bodyPr wrap="square" anchor="ctr" lIns="0" rIns="0" tIns="0" bIns="0">
            <a:spAutoFit/>
          </a:bodyPr>
          <a:lstStyle/>
          <a:p>
            <a:pPr algn="l"/>
            <a:r>
              <a:rPr sz="1600" b="1">
                <a:solidFill>
                  <a:srgbClr val="2B57A6"/>
                </a:solidFill>
                <a:latin typeface="Arial"/>
              </a:rPr>
              <a:t>2</a:t>
            </a:r>
          </a:p>
        </p:txBody>
      </p:sp>
      <p:sp>
        <p:nvSpPr>
          <p:cNvPr id="11" name="TextBox 10"/>
          <p:cNvSpPr txBox="1"/>
          <p:nvPr/>
        </p:nvSpPr>
        <p:spPr>
          <a:xfrm>
            <a:off x="5760720" y="212140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표적 구조체 — target_sim.h</a:t>
            </a:r>
          </a:p>
        </p:txBody>
      </p:sp>
      <p:cxnSp>
        <p:nvCxnSpPr>
          <p:cNvPr id="12" name="Connector 11"/>
          <p:cNvCxnSpPr/>
          <p:nvPr/>
        </p:nvCxnSpPr>
        <p:spPr>
          <a:xfrm>
            <a:off x="5074920" y="265176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2761488"/>
            <a:ext cx="548640" cy="457200"/>
          </a:xfrm>
          <a:prstGeom prst="rect">
            <a:avLst/>
          </a:prstGeom>
          <a:noFill/>
        </p:spPr>
        <p:txBody>
          <a:bodyPr wrap="square" anchor="ctr" lIns="0" rIns="0" tIns="0" bIns="0">
            <a:spAutoFit/>
          </a:bodyPr>
          <a:lstStyle/>
          <a:p>
            <a:pPr algn="l"/>
            <a:r>
              <a:rPr sz="1600" b="1">
                <a:solidFill>
                  <a:srgbClr val="2B57A6"/>
                </a:solidFill>
                <a:latin typeface="Arial"/>
              </a:rPr>
              <a:t>3</a:t>
            </a:r>
          </a:p>
        </p:txBody>
      </p:sp>
      <p:sp>
        <p:nvSpPr>
          <p:cNvPr id="14" name="TextBox 13"/>
          <p:cNvSpPr txBox="1"/>
          <p:nvPr/>
        </p:nvSpPr>
        <p:spPr>
          <a:xfrm>
            <a:off x="5760720" y="276148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과제 조건 넣기 — f_SetAssignment</a:t>
            </a:r>
          </a:p>
        </p:txBody>
      </p:sp>
      <p:cxnSp>
        <p:nvCxnSpPr>
          <p:cNvPr id="15" name="Connector 14"/>
          <p:cNvCxnSpPr/>
          <p:nvPr/>
        </p:nvCxnSpPr>
        <p:spPr>
          <a:xfrm>
            <a:off x="5074920" y="329184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74920" y="3401568"/>
            <a:ext cx="548640" cy="457200"/>
          </a:xfrm>
          <a:prstGeom prst="rect">
            <a:avLst/>
          </a:prstGeom>
          <a:noFill/>
        </p:spPr>
        <p:txBody>
          <a:bodyPr wrap="square" anchor="ctr" lIns="0" rIns="0" tIns="0" bIns="0">
            <a:spAutoFit/>
          </a:bodyPr>
          <a:lstStyle/>
          <a:p>
            <a:pPr algn="l"/>
            <a:r>
              <a:rPr sz="1600" b="1">
                <a:solidFill>
                  <a:srgbClr val="2B57A6"/>
                </a:solidFill>
                <a:latin typeface="Arial"/>
              </a:rPr>
              <a:t>4</a:t>
            </a:r>
          </a:p>
        </p:txBody>
      </p:sp>
      <p:sp>
        <p:nvSpPr>
          <p:cNvPr id="17" name="TextBox 16"/>
          <p:cNvSpPr txBox="1"/>
          <p:nvPr/>
        </p:nvSpPr>
        <p:spPr>
          <a:xfrm>
            <a:off x="5760720" y="340156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속도 변환 — f_BodyVelToEcef</a:t>
            </a:r>
          </a:p>
        </p:txBody>
      </p:sp>
      <p:cxnSp>
        <p:nvCxnSpPr>
          <p:cNvPr id="18" name="Connector 17"/>
          <p:cNvCxnSpPr/>
          <p:nvPr/>
        </p:nvCxnSpPr>
        <p:spPr>
          <a:xfrm>
            <a:off x="5074920" y="393192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074920" y="4041648"/>
            <a:ext cx="548640" cy="457200"/>
          </a:xfrm>
          <a:prstGeom prst="rect">
            <a:avLst/>
          </a:prstGeom>
          <a:noFill/>
        </p:spPr>
        <p:txBody>
          <a:bodyPr wrap="square" anchor="ctr" lIns="0" rIns="0" tIns="0" bIns="0">
            <a:spAutoFit/>
          </a:bodyPr>
          <a:lstStyle/>
          <a:p>
            <a:pPr algn="l"/>
            <a:r>
              <a:rPr sz="1600" b="1">
                <a:solidFill>
                  <a:srgbClr val="2B57A6"/>
                </a:solidFill>
                <a:latin typeface="Arial"/>
              </a:rPr>
              <a:t>5</a:t>
            </a:r>
          </a:p>
        </p:txBody>
      </p:sp>
      <p:sp>
        <p:nvSpPr>
          <p:cNvPr id="20" name="TextBox 19"/>
          <p:cNvSpPr txBox="1"/>
          <p:nvPr/>
        </p:nvSpPr>
        <p:spPr>
          <a:xfrm>
            <a:off x="5760720" y="404164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한 스텝 — f_StepTarget</a:t>
            </a:r>
          </a:p>
        </p:txBody>
      </p:sp>
      <p:cxnSp>
        <p:nvCxnSpPr>
          <p:cNvPr id="21" name="Connector 20"/>
          <p:cNvCxnSpPr/>
          <p:nvPr/>
        </p:nvCxnSpPr>
        <p:spPr>
          <a:xfrm>
            <a:off x="5074920" y="457200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074920" y="4681728"/>
            <a:ext cx="548640" cy="457200"/>
          </a:xfrm>
          <a:prstGeom prst="rect">
            <a:avLst/>
          </a:prstGeom>
          <a:noFill/>
        </p:spPr>
        <p:txBody>
          <a:bodyPr wrap="square" anchor="ctr" lIns="0" rIns="0" tIns="0" bIns="0">
            <a:spAutoFit/>
          </a:bodyPr>
          <a:lstStyle/>
          <a:p>
            <a:pPr algn="l"/>
            <a:r>
              <a:rPr sz="1600" b="1">
                <a:solidFill>
                  <a:srgbClr val="2B57A6"/>
                </a:solidFill>
                <a:latin typeface="Arial"/>
              </a:rPr>
              <a:t>6</a:t>
            </a:r>
          </a:p>
        </p:txBody>
      </p:sp>
      <p:sp>
        <p:nvSpPr>
          <p:cNvPr id="23" name="TextBox 22"/>
          <p:cNvSpPr txBox="1"/>
          <p:nvPr/>
        </p:nvSpPr>
        <p:spPr>
          <a:xfrm>
            <a:off x="5760720" y="468172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루프와 화면 — TargetSimUI</a:t>
            </a:r>
          </a:p>
        </p:txBody>
      </p:sp>
      <p:cxnSp>
        <p:nvCxnSpPr>
          <p:cNvPr id="24" name="Connector 23"/>
          <p:cNvCxnSpPr/>
          <p:nvPr/>
        </p:nvCxnSpPr>
        <p:spPr>
          <a:xfrm>
            <a:off x="5074920" y="52120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5870448"/>
            <a:ext cx="6629400" cy="365760"/>
          </a:xfrm>
          <a:prstGeom prst="rect">
            <a:avLst/>
          </a:prstGeom>
          <a:noFill/>
        </p:spPr>
        <p:txBody>
          <a:bodyPr wrap="square" anchor="t" lIns="0" rIns="0" tIns="0" bIns="0">
            <a:spAutoFit/>
          </a:bodyPr>
          <a:lstStyle/>
          <a:p>
            <a:pPr algn="l"/>
            <a:r>
              <a:rPr sz="1100" b="0">
                <a:solidFill>
                  <a:srgbClr val="5A6478"/>
                </a:solidFill>
                <a:latin typeface="맑은 고딕"/>
              </a:rPr>
              <a:t>제공받은 좌표변환 코드는 한 글자도 고치지 않았다.  MFC 는 계산을 하지 않는다.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프로그램 구성</a:t>
            </a:r>
          </a:p>
          <a:p>
            <a:pPr algn="l">
              <a:lnSpc>
                <a:spcPts val="1400"/>
              </a:lnSpc>
            </a:pPr>
            <a:r>
              <a:rPr sz="1100" b="0">
                <a:solidFill>
                  <a:srgbClr val="C9D6EC"/>
                </a:solidFill>
                <a:latin typeface="맑은 고딕"/>
              </a:rPr>
              <a:t>제공 코드는 무수정으로 링크,  C 코어가 순서대로 부르고,  MFC 는 돌려서 보여 주기만 한다</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fig19_program.png"/>
          <p:cNvPicPr>
            <a:picLocks noChangeAspect="1"/>
          </p:cNvPicPr>
          <p:nvPr/>
        </p:nvPicPr>
        <p:blipFill>
          <a:blip r:embed="rId2"/>
          <a:stretch>
            <a:fillRect/>
          </a:stretch>
        </p:blipFill>
        <p:spPr>
          <a:xfrm>
            <a:off x="841247" y="1371600"/>
            <a:ext cx="10515600" cy="2468880"/>
          </a:xfrm>
          <a:prstGeom prst="rect">
            <a:avLst/>
          </a:prstGeom>
        </p:spPr>
      </p:pic>
      <p:sp>
        <p:nvSpPr>
          <p:cNvPr id="8" name="Rounded Rectangle 7"/>
          <p:cNvSpPr/>
          <p:nvPr/>
        </p:nvSpPr>
        <p:spPr>
          <a:xfrm>
            <a:off x="566928" y="3986784"/>
            <a:ext cx="3566160" cy="1188720"/>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768096" y="4127601"/>
            <a:ext cx="3163824" cy="947318"/>
          </a:xfrm>
          <a:prstGeom prst="rect">
            <a:avLst/>
          </a:prstGeom>
          <a:noFill/>
        </p:spPr>
        <p:txBody>
          <a:bodyPr wrap="square" anchor="t" lIns="0" rIns="0" tIns="0" bIns="0">
            <a:spAutoFit/>
          </a:bodyPr>
          <a:lstStyle/>
          <a:p>
            <a:pPr algn="l">
              <a:spcAft>
                <a:spcPts val="400"/>
              </a:spcAft>
            </a:pPr>
            <a:r>
              <a:rPr sz="1300" b="1">
                <a:solidFill>
                  <a:srgbClr val="2B57A6"/>
                </a:solidFill>
                <a:latin typeface="맑은 고딕"/>
              </a:rPr>
              <a:t>제공 코드 5 파일 = 원본 그대로</a:t>
            </a:r>
          </a:p>
          <a:p>
            <a:pPr algn="l">
              <a:lnSpc>
                <a:spcPts val="1400"/>
              </a:lnSpc>
            </a:pPr>
            <a:r>
              <a:rPr sz="1050" b="0">
                <a:solidFill>
                  <a:srgbClr val="1A2233"/>
                </a:solidFill>
                <a:latin typeface="맑은 고딕"/>
              </a:rPr>
              <a:t>복사 후 바이트 단위 비교로 확인.</a:t>
            </a:r>
          </a:p>
          <a:p>
            <a:pPr algn="l">
              <a:lnSpc>
                <a:spcPts val="1400"/>
              </a:lnSpc>
            </a:pPr>
            <a:r>
              <a:rPr sz="1050" b="0">
                <a:solidFill>
                  <a:srgbClr val="1A2233"/>
                </a:solidFill>
                <a:latin typeface="맑은 고딕"/>
              </a:rPr>
              <a:t>좌표변환은 이 코드만 부른다.</a:t>
            </a:r>
          </a:p>
        </p:txBody>
      </p:sp>
      <p:sp>
        <p:nvSpPr>
          <p:cNvPr id="10" name="Rounded Rectangle 9"/>
          <p:cNvSpPr/>
          <p:nvPr/>
        </p:nvSpPr>
        <p:spPr>
          <a:xfrm>
            <a:off x="4315968" y="3986784"/>
            <a:ext cx="3566160" cy="1188720"/>
          </a:xfrm>
          <a:prstGeom prst="roundRect">
            <a:avLst>
              <a:gd name="adj" fmla="val 6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4517136" y="4127601"/>
            <a:ext cx="3163824" cy="947318"/>
          </a:xfrm>
          <a:prstGeom prst="rect">
            <a:avLst/>
          </a:prstGeom>
          <a:noFill/>
        </p:spPr>
        <p:txBody>
          <a:bodyPr wrap="square" anchor="t" lIns="0" rIns="0" tIns="0" bIns="0">
            <a:spAutoFit/>
          </a:bodyPr>
          <a:lstStyle/>
          <a:p>
            <a:pPr algn="l">
              <a:spcAft>
                <a:spcPts val="400"/>
              </a:spcAft>
            </a:pPr>
            <a:r>
              <a:rPr sz="1300" b="1">
                <a:solidFill>
                  <a:srgbClr val="C2521C"/>
                </a:solidFill>
                <a:latin typeface="맑은 고딕"/>
              </a:rPr>
              <a:t>C 코어 250줄</a:t>
            </a:r>
          </a:p>
          <a:p>
            <a:pPr algn="l">
              <a:lnSpc>
                <a:spcPts val="1400"/>
              </a:lnSpc>
            </a:pPr>
            <a:r>
              <a:rPr sz="1050" b="0">
                <a:solidFill>
                  <a:srgbClr val="1A2233"/>
                </a:solidFill>
                <a:latin typeface="맑은 고딕"/>
              </a:rPr>
              <a:t>구조체 셋 + 함수 다섯.</a:t>
            </a:r>
          </a:p>
          <a:p>
            <a:pPr algn="l">
              <a:lnSpc>
                <a:spcPts val="1400"/>
              </a:lnSpc>
            </a:pPr>
            <a:r>
              <a:rPr sz="1050" b="0">
                <a:solidFill>
                  <a:srgbClr val="1A2233"/>
                </a:solidFill>
                <a:latin typeface="맑은 고딕"/>
              </a:rPr>
              <a:t>MSVC x64 · C17 · 경고 4단계 0건.</a:t>
            </a:r>
          </a:p>
        </p:txBody>
      </p:sp>
      <p:sp>
        <p:nvSpPr>
          <p:cNvPr id="12" name="Rounded Rectangle 11"/>
          <p:cNvSpPr/>
          <p:nvPr/>
        </p:nvSpPr>
        <p:spPr>
          <a:xfrm>
            <a:off x="8065007" y="3986784"/>
            <a:ext cx="3566160" cy="1188720"/>
          </a:xfrm>
          <a:prstGeom prst="roundRect">
            <a:avLst>
              <a:gd name="adj" fmla="val 6000"/>
            </a:avLst>
          </a:prstGeom>
          <a:solidFill>
            <a:srgbClr val="E6F3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266175" y="4127601"/>
            <a:ext cx="3163824" cy="947318"/>
          </a:xfrm>
          <a:prstGeom prst="rect">
            <a:avLst/>
          </a:prstGeom>
          <a:noFill/>
        </p:spPr>
        <p:txBody>
          <a:bodyPr wrap="square" anchor="t" lIns="0" rIns="0" tIns="0" bIns="0">
            <a:spAutoFit/>
          </a:bodyPr>
          <a:lstStyle/>
          <a:p>
            <a:pPr algn="l">
              <a:spcAft>
                <a:spcPts val="400"/>
              </a:spcAft>
            </a:pPr>
            <a:r>
              <a:rPr sz="1300" b="1">
                <a:solidFill>
                  <a:srgbClr val="2F855A"/>
                </a:solidFill>
                <a:latin typeface="맑은 고딕"/>
              </a:rPr>
              <a:t>MFC 화면 (Part 2 CoordUI 와 같은 뼈대)</a:t>
            </a:r>
          </a:p>
          <a:p>
            <a:pPr algn="l">
              <a:lnSpc>
                <a:spcPts val="1400"/>
              </a:lnSpc>
            </a:pPr>
            <a:r>
              <a:rPr sz="1050" b="0">
                <a:solidFill>
                  <a:srgbClr val="1A2233"/>
                </a:solidFill>
                <a:latin typeface="맑은 고딕"/>
              </a:rPr>
              <a:t>계산 없음.  코어를 600번 부르고 배열에 모아 그린다.</a:t>
            </a:r>
          </a:p>
          <a:p>
            <a:pPr algn="l">
              <a:lnSpc>
                <a:spcPts val="1400"/>
              </a:lnSpc>
            </a:pPr>
            <a:r>
              <a:rPr sz="1050" b="0">
                <a:solidFill>
                  <a:srgbClr val="1A2233"/>
                </a:solidFill>
                <a:latin typeface="맑은 고딕"/>
              </a:rPr>
              <a:t>지도 · 슬라이더 · 재생 · CSV 저장.</a:t>
            </a:r>
          </a:p>
        </p:txBody>
      </p:sp>
      <p:sp>
        <p:nvSpPr>
          <p:cNvPr id="14" name="Rounded Rectangle 13"/>
          <p:cNvSpPr/>
          <p:nvPr/>
        </p:nvSpPr>
        <p:spPr>
          <a:xfrm>
            <a:off x="566928" y="5340096"/>
            <a:ext cx="11064240" cy="822960"/>
          </a:xfrm>
          <a:prstGeom prst="roundRect">
            <a:avLst>
              <a:gd name="adj" fmla="val 8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786384" y="5340096"/>
            <a:ext cx="10625328" cy="822960"/>
          </a:xfrm>
          <a:prstGeom prst="rect">
            <a:avLst/>
          </a:prstGeom>
          <a:noFill/>
        </p:spPr>
        <p:txBody>
          <a:bodyPr wrap="square" anchor="ctr" lIns="0" rIns="0" tIns="0" bIns="0">
            <a:spAutoFit/>
          </a:bodyPr>
          <a:lstStyle/>
          <a:p>
            <a:pPr algn="ctr">
              <a:spcAft>
                <a:spcPts val="300"/>
              </a:spcAft>
            </a:pPr>
            <a:r>
              <a:rPr sz="1150" b="1">
                <a:solidFill>
                  <a:srgbClr val="1A2233"/>
                </a:solidFill>
                <a:latin typeface="맑은 고딕"/>
              </a:rPr>
              <a:t>걸린 것 하나 :  제공 Define.h 의  #define BOOL bool  이 MFC 의 BOOL(int) 과 충돌 → 제공 코드는 두고, MFC 쪽에서 헤더를 읽은 직후 #undef BOOL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표적 구조체 — target_sim.h</a:t>
            </a:r>
          </a:p>
          <a:p>
            <a:pPr algn="l">
              <a:lnSpc>
                <a:spcPts val="1400"/>
              </a:lnSpc>
            </a:pPr>
            <a:r>
              <a:rPr sz="1100" b="0">
                <a:solidFill>
                  <a:srgbClr val="C9D6EC"/>
                </a:solidFill>
                <a:latin typeface="맑은 고딕"/>
              </a:rPr>
              <a:t>위 다섯 칸이 입력(사람이 적는 값), 아래 네 칸이 상태(프로그램이 갱신).  좌표 타입은 제공 코드의 구조체 그대로</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fig14_target_card.png"/>
          <p:cNvPicPr>
            <a:picLocks noChangeAspect="1"/>
          </p:cNvPicPr>
          <p:nvPr/>
        </p:nvPicPr>
        <p:blipFill>
          <a:blip r:embed="rId2"/>
          <a:stretch>
            <a:fillRect/>
          </a:stretch>
        </p:blipFill>
        <p:spPr>
          <a:xfrm>
            <a:off x="566928" y="1371600"/>
            <a:ext cx="4937760" cy="3317557"/>
          </a:xfrm>
          <a:prstGeom prst="rect">
            <a:avLst/>
          </a:prstGeom>
        </p:spPr>
      </p:pic>
      <p:sp>
        <p:nvSpPr>
          <p:cNvPr id="8" name="Rounded Rectangle 7"/>
          <p:cNvSpPr/>
          <p:nvPr/>
        </p:nvSpPr>
        <p:spPr>
          <a:xfrm>
            <a:off x="5705856" y="1371600"/>
            <a:ext cx="5925312" cy="4800600"/>
          </a:xfrm>
          <a:prstGeom prst="roundRect">
            <a:avLst>
              <a:gd name="adj" fmla="val 4000"/>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5870448" y="1481328"/>
            <a:ext cx="5596128" cy="4599432"/>
          </a:xfrm>
          <a:prstGeom prst="rect">
            <a:avLst/>
          </a:prstGeom>
          <a:noFill/>
        </p:spPr>
        <p:txBody>
          <a:bodyPr wrap="square" anchor="t" lIns="0" rIns="0" tIns="0" bIns="0">
            <a:spAutoFit/>
          </a:bodyPr>
          <a:lstStyle/>
          <a:p>
            <a:pPr algn="l">
              <a:lnSpc>
                <a:spcPts val="1090"/>
              </a:lnSpc>
            </a:pPr>
            <a:r>
              <a:rPr sz="860" b="0">
                <a:solidFill>
                  <a:srgbClr val="1A2233"/>
                </a:solidFill>
                <a:latin typeface="Consolas"/>
              </a:rPr>
              <a:t>typedef struct</a:t>
            </a:r>
          </a:p>
          <a:p>
            <a:pPr algn="l">
              <a:lnSpc>
                <a:spcPts val="1090"/>
              </a:lnSpc>
            </a:pPr>
            <a:r>
              <a:rPr sz="860" b="0">
                <a:solidFill>
                  <a:srgbClr val="1A2233"/>
                </a:solidFill>
                <a:latin typeface="Consolas"/>
              </a:rPr>
              <a:t>{</a:t>
            </a:r>
          </a:p>
          <a:p>
            <a:pPr algn="l">
              <a:lnSpc>
                <a:spcPts val="1090"/>
              </a:lnSpc>
            </a:pPr>
            <a:r>
              <a:rPr sz="860" b="0">
                <a:solidFill>
                  <a:srgbClr val="1A2233"/>
                </a:solidFill>
                <a:latin typeface="Consolas"/>
              </a:rPr>
              <a:t>    DOUBLE64    dGravity;       // 하중배수 [g]. 부호가 방향</a:t>
            </a:r>
          </a:p>
          <a:p>
            <a:pPr algn="l">
              <a:lnSpc>
                <a:spcPts val="1090"/>
              </a:lnSpc>
            </a:pPr>
            <a:r>
              <a:rPr sz="860" b="0">
                <a:solidFill>
                  <a:srgbClr val="1A2233"/>
                </a:solidFill>
                <a:latin typeface="Consolas"/>
              </a:rPr>
              <a:t>    INT32       nTurnType;      // 0 없음 1 Roll 2 Yaw 3 Pitch</a:t>
            </a:r>
          </a:p>
          <a:p>
            <a:pPr algn="l">
              <a:lnSpc>
                <a:spcPts val="1090"/>
              </a:lnSpc>
            </a:pPr>
            <a:r>
              <a:rPr sz="860" b="0">
                <a:solidFill>
                  <a:srgbClr val="1A2233"/>
                </a:solidFill>
                <a:latin typeface="Consolas"/>
              </a:rPr>
              <a:t>    DOUBLE64    dStartTime;     // [s]</a:t>
            </a:r>
          </a:p>
          <a:p>
            <a:pPr algn="l">
              <a:lnSpc>
                <a:spcPts val="1090"/>
              </a:lnSpc>
            </a:pPr>
            <a:r>
              <a:rPr sz="860" b="0">
                <a:solidFill>
                  <a:srgbClr val="1A2233"/>
                </a:solidFill>
                <a:latin typeface="Consolas"/>
              </a:rPr>
              <a:t>    DOUBLE64    dEndTime;       // [s]</a:t>
            </a:r>
          </a:p>
          <a:p>
            <a:pPr algn="l">
              <a:lnSpc>
                <a:spcPts val="1090"/>
              </a:lnSpc>
            </a:pPr>
            <a:r>
              <a:rPr sz="860" b="0">
                <a:solidFill>
                  <a:srgbClr val="1A2233"/>
                </a:solidFill>
                <a:latin typeface="Consolas"/>
              </a:rPr>
              <a:t>} ST_Maneuver;</a:t>
            </a:r>
          </a:p>
          <a:p>
            <a:pPr algn="l">
              <a:lnSpc>
                <a:spcPts val="1090"/>
              </a:lnSpc>
            </a:pPr>
            <a:r>
              <a:rPr sz="860" b="0">
                <a:solidFill>
                  <a:srgbClr val="1A2233"/>
                </a:solidFill>
                <a:latin typeface="Consolas"/>
              </a:rPr>
              <a:t/>
            </a:r>
          </a:p>
          <a:p>
            <a:pPr algn="l">
              <a:lnSpc>
                <a:spcPts val="1090"/>
              </a:lnSpc>
            </a:pPr>
            <a:r>
              <a:rPr sz="860" b="0">
                <a:solidFill>
                  <a:srgbClr val="1A2233"/>
                </a:solidFill>
                <a:latin typeface="Consolas"/>
              </a:rPr>
              <a:t>typedef struct</a:t>
            </a:r>
          </a:p>
          <a:p>
            <a:pPr algn="l">
              <a:lnSpc>
                <a:spcPts val="1090"/>
              </a:lnSpc>
            </a:pPr>
            <a:r>
              <a:rPr sz="860" b="0">
                <a:solidFill>
                  <a:srgbClr val="1A2233"/>
                </a:solidFill>
                <a:latin typeface="Consolas"/>
              </a:rPr>
              <a:t>{                                                   /* 입력 */</a:t>
            </a:r>
          </a:p>
          <a:p>
            <a:pPr algn="l">
              <a:lnSpc>
                <a:spcPts val="1090"/>
              </a:lnSpc>
            </a:pPr>
            <a:r>
              <a:rPr sz="860" b="0">
                <a:solidFill>
                  <a:srgbClr val="1A2233"/>
                </a:solidFill>
                <a:latin typeface="Consolas"/>
              </a:rPr>
              <a:t>    STRUCT_Coord_Lla        stInitLla;              // 초기 위치 [rad, rad, m]</a:t>
            </a:r>
          </a:p>
          <a:p>
            <a:pPr algn="l">
              <a:lnSpc>
                <a:spcPts val="1090"/>
              </a:lnSpc>
            </a:pPr>
            <a:r>
              <a:rPr sz="860" b="0">
                <a:solidFill>
                  <a:srgbClr val="1A2233"/>
                </a:solidFill>
                <a:latin typeface="Consolas"/>
              </a:rPr>
              <a:t>    DOUBLE64                dVheading;              // 동체 속력 [m/s]</a:t>
            </a:r>
          </a:p>
          <a:p>
            <a:pPr algn="l">
              <a:lnSpc>
                <a:spcPts val="1090"/>
              </a:lnSpc>
            </a:pPr>
            <a:r>
              <a:rPr sz="860" b="0">
                <a:solidFill>
                  <a:srgbClr val="1A2233"/>
                </a:solidFill>
                <a:latin typeface="Consolas"/>
              </a:rPr>
              <a:t>    STRUCT_Coord_Attitude   stInitAtt;              // 초기 자세 [rad]</a:t>
            </a:r>
          </a:p>
          <a:p>
            <a:pPr algn="l">
              <a:lnSpc>
                <a:spcPts val="1090"/>
              </a:lnSpc>
            </a:pPr>
            <a:r>
              <a:rPr sz="860" b="0">
                <a:solidFill>
                  <a:srgbClr val="1A2233"/>
                </a:solidFill>
                <a:latin typeface="Consolas"/>
              </a:rPr>
              <a:t>    INT32                   nManeuverCnt;           // 기동 수</a:t>
            </a:r>
          </a:p>
          <a:p>
            <a:pPr algn="l">
              <a:lnSpc>
                <a:spcPts val="1090"/>
              </a:lnSpc>
            </a:pPr>
            <a:r>
              <a:rPr sz="860" b="0">
                <a:solidFill>
                  <a:srgbClr val="1A2233"/>
                </a:solidFill>
                <a:latin typeface="Consolas"/>
              </a:rPr>
              <a:t>    ST_Maneuver             astManeuver[MAX_MANEUVER];   // 30</a:t>
            </a:r>
          </a:p>
          <a:p>
            <a:pPr algn="l">
              <a:lnSpc>
                <a:spcPts val="1090"/>
              </a:lnSpc>
            </a:pPr>
            <a:r>
              <a:rPr sz="860" b="0">
                <a:solidFill>
                  <a:srgbClr val="5A6478"/>
                </a:solidFill>
                <a:latin typeface="Consolas"/>
              </a:rPr>
              <a:t>                                                    /* 상태 (ECEF 에서 갱신) */</a:t>
            </a:r>
          </a:p>
          <a:p>
            <a:pPr algn="l">
              <a:lnSpc>
                <a:spcPts val="1090"/>
              </a:lnSpc>
            </a:pPr>
            <a:r>
              <a:rPr sz="860" b="0">
                <a:solidFill>
                  <a:srgbClr val="1A2233"/>
                </a:solidFill>
                <a:latin typeface="Consolas"/>
              </a:rPr>
              <a:t>    STRUCT_Coord_Rect       stPos;                  // ECEF 위치 [m]</a:t>
            </a:r>
          </a:p>
          <a:p>
            <a:pPr algn="l">
              <a:lnSpc>
                <a:spcPts val="1090"/>
              </a:lnSpc>
            </a:pPr>
            <a:r>
              <a:rPr sz="860" b="0">
                <a:solidFill>
                  <a:srgbClr val="1A2233"/>
                </a:solidFill>
                <a:latin typeface="Consolas"/>
              </a:rPr>
              <a:t>    STRUCT_Coord_Rect       stVel;                  // ECEF 속도 [m/s]</a:t>
            </a:r>
          </a:p>
          <a:p>
            <a:pPr algn="l">
              <a:lnSpc>
                <a:spcPts val="1090"/>
              </a:lnSpc>
            </a:pPr>
            <a:r>
              <a:rPr sz="860" b="0">
                <a:solidFill>
                  <a:srgbClr val="1A2233"/>
                </a:solidFill>
                <a:latin typeface="Consolas"/>
              </a:rPr>
              <a:t>    STRUCT_Coord_Attitude   stAtt;                  // 현재 자세 [rad]</a:t>
            </a:r>
          </a:p>
          <a:p>
            <a:pPr algn="l">
              <a:lnSpc>
                <a:spcPts val="1090"/>
              </a:lnSpc>
            </a:pPr>
            <a:r>
              <a:rPr sz="860" b="0">
                <a:solidFill>
                  <a:srgbClr val="1A2233"/>
                </a:solidFill>
                <a:latin typeface="Consolas"/>
              </a:rPr>
              <a:t>    STRUCT_Coord_Lla        stLla;                  // 현재 위경도 (출력용)</a:t>
            </a:r>
          </a:p>
          <a:p>
            <a:pPr algn="l">
              <a:lnSpc>
                <a:spcPts val="1090"/>
              </a:lnSpc>
            </a:pPr>
            <a:r>
              <a:rPr sz="860" b="0">
                <a:solidFill>
                  <a:srgbClr val="1A2233"/>
                </a:solidFill>
                <a:latin typeface="Consolas"/>
              </a:rPr>
              <a:t>} ST_Target;</a:t>
            </a:r>
          </a:p>
          <a:p>
            <a:pPr algn="l">
              <a:lnSpc>
                <a:spcPts val="1090"/>
              </a:lnSpc>
            </a:pPr>
            <a:r>
              <a:rPr sz="860" b="0">
                <a:solidFill>
                  <a:srgbClr val="1A2233"/>
                </a:solidFill>
                <a:latin typeface="Consolas"/>
              </a:rPr>
              <a:t/>
            </a:r>
          </a:p>
          <a:p>
            <a:pPr algn="l">
              <a:lnSpc>
                <a:spcPts val="1090"/>
              </a:lnSpc>
            </a:pPr>
            <a:r>
              <a:rPr sz="860" b="0">
                <a:solidFill>
                  <a:srgbClr val="1A2233"/>
                </a:solidFill>
                <a:latin typeface="Consolas"/>
              </a:rPr>
              <a:t>typedef struct</a:t>
            </a:r>
          </a:p>
          <a:p>
            <a:pPr algn="l">
              <a:lnSpc>
                <a:spcPts val="1090"/>
              </a:lnSpc>
            </a:pPr>
            <a:r>
              <a:rPr sz="860" b="0">
                <a:solidFill>
                  <a:srgbClr val="1A2233"/>
                </a:solidFill>
                <a:latin typeface="Consolas"/>
              </a:rPr>
              <a:t>{</a:t>
            </a:r>
          </a:p>
          <a:p>
            <a:pPr algn="l">
              <a:lnSpc>
                <a:spcPts val="1090"/>
              </a:lnSpc>
            </a:pPr>
            <a:r>
              <a:rPr sz="860" b="0">
                <a:solidFill>
                  <a:srgbClr val="1A2233"/>
                </a:solidFill>
                <a:latin typeface="Consolas"/>
              </a:rPr>
              <a:t>    ST_Target   stPlatform;                         // 속력 0 인 표적 카드</a:t>
            </a:r>
          </a:p>
          <a:p>
            <a:pPr algn="l">
              <a:lnSpc>
                <a:spcPts val="1090"/>
              </a:lnSpc>
            </a:pPr>
            <a:r>
              <a:rPr sz="860" b="0">
                <a:solidFill>
                  <a:srgbClr val="1A2233"/>
                </a:solidFill>
                <a:latin typeface="Consolas"/>
              </a:rPr>
              <a:t>    INT32       nTargetCnt;</a:t>
            </a:r>
          </a:p>
          <a:p>
            <a:pPr algn="l">
              <a:lnSpc>
                <a:spcPts val="1090"/>
              </a:lnSpc>
            </a:pPr>
            <a:r>
              <a:rPr sz="860" b="0">
                <a:solidFill>
                  <a:srgbClr val="1A2233"/>
                </a:solidFill>
                <a:latin typeface="Consolas"/>
              </a:rPr>
              <a:t>    ST_Target   astTarget[MAX_TARGET];              // 10</a:t>
            </a:r>
          </a:p>
          <a:p>
            <a:pPr algn="l">
              <a:lnSpc>
                <a:spcPts val="1090"/>
              </a:lnSpc>
            </a:pPr>
            <a:r>
              <a:rPr sz="860" b="0">
                <a:solidFill>
                  <a:srgbClr val="1A2233"/>
                </a:solidFill>
                <a:latin typeface="Consolas"/>
              </a:rPr>
              <a:t>    DOUBLE64    dSimTime;                           // 60 s</a:t>
            </a:r>
          </a:p>
          <a:p>
            <a:pPr algn="l">
              <a:lnSpc>
                <a:spcPts val="1090"/>
              </a:lnSpc>
            </a:pPr>
            <a:r>
              <a:rPr sz="860" b="0">
                <a:solidFill>
                  <a:srgbClr val="1A2233"/>
                </a:solidFill>
                <a:latin typeface="Consolas"/>
              </a:rPr>
              <a:t>    DOUBLE64    dDt;                                // 0.1 s</a:t>
            </a:r>
          </a:p>
          <a:p>
            <a:pPr algn="l">
              <a:lnSpc>
                <a:spcPts val="1090"/>
              </a:lnSpc>
            </a:pPr>
            <a:r>
              <a:rPr sz="860" b="0">
                <a:solidFill>
                  <a:srgbClr val="1A2233"/>
                </a:solidFill>
                <a:latin typeface="Consolas"/>
              </a:rPr>
              <a:t>} ST_Scenario;</a:t>
            </a:r>
          </a:p>
        </p:txBody>
      </p:sp>
      <p:sp>
        <p:nvSpPr>
          <p:cNvPr id="10" name="Rounded Rectangle 9"/>
          <p:cNvSpPr/>
          <p:nvPr/>
        </p:nvSpPr>
        <p:spPr>
          <a:xfrm>
            <a:off x="566928" y="4846320"/>
            <a:ext cx="4937760" cy="1325880"/>
          </a:xfrm>
          <a:prstGeom prst="roundRect">
            <a:avLst>
              <a:gd name="adj" fmla="val 8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786384" y="4846320"/>
            <a:ext cx="4498848" cy="1325880"/>
          </a:xfrm>
          <a:prstGeom prst="rect">
            <a:avLst/>
          </a:prstGeom>
          <a:noFill/>
        </p:spPr>
        <p:txBody>
          <a:bodyPr wrap="square" anchor="ctr" lIns="0" rIns="0" tIns="0" bIns="0">
            <a:spAutoFit/>
          </a:bodyPr>
          <a:lstStyle/>
          <a:p>
            <a:pPr algn="ctr">
              <a:spcAft>
                <a:spcPts val="300"/>
              </a:spcAft>
            </a:pPr>
            <a:r>
              <a:rPr sz="1200" b="1">
                <a:solidFill>
                  <a:srgbClr val="C2521C"/>
                </a:solidFill>
                <a:latin typeface="맑은 고딕"/>
              </a:rPr>
              <a:t>플랫폼도 속력 0 인 표적 카드</a:t>
            </a:r>
          </a:p>
          <a:p>
            <a:pPr algn="ctr">
              <a:lnSpc>
                <a:spcPts val="1400"/>
              </a:lnSpc>
            </a:pPr>
            <a:r>
              <a:rPr sz="1050" b="0">
                <a:solidFill>
                  <a:srgbClr val="5A6478"/>
                </a:solidFill>
                <a:latin typeface="맑은 고딕"/>
              </a:rPr>
              <a:t>갱신 함수가 하나로 통일되고, 배가 움직이는 시나리오가 와도 카드 값만 바꾸면 된다.  MAX_TARGET 10, MAX_MANEUVER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과제 조건 넣기 — f_SetAssignment</a:t>
            </a:r>
          </a:p>
          <a:p>
            <a:pPr algn="l">
              <a:lnSpc>
                <a:spcPts val="1400"/>
              </a:lnSpc>
            </a:pPr>
            <a:r>
              <a:rPr sz="1100" b="0">
                <a:solidFill>
                  <a:srgbClr val="C9D6EC"/>
                </a:solidFill>
                <a:latin typeface="맑은 고딕"/>
              </a:rPr>
              <a:t>각도는 도로 받아 함수 안에서 라디안으로.  체크박스를 켜면 발표용 기동 예시가 붙는다</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 name="Rounded Rectangle 6"/>
          <p:cNvSpPr/>
          <p:nvPr/>
        </p:nvSpPr>
        <p:spPr>
          <a:xfrm>
            <a:off x="566928" y="1371600"/>
            <a:ext cx="7040880" cy="4160520"/>
          </a:xfrm>
          <a:prstGeom prst="roundRect">
            <a:avLst>
              <a:gd name="adj" fmla="val 4000"/>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731520" y="1481328"/>
            <a:ext cx="6711696" cy="3959352"/>
          </a:xfrm>
          <a:prstGeom prst="rect">
            <a:avLst/>
          </a:prstGeom>
          <a:noFill/>
        </p:spPr>
        <p:txBody>
          <a:bodyPr wrap="square" anchor="t" lIns="0" rIns="0" tIns="0" bIns="0">
            <a:spAutoFit/>
          </a:bodyPr>
          <a:lstStyle/>
          <a:p>
            <a:pPr algn="l">
              <a:lnSpc>
                <a:spcPts val="1220"/>
              </a:lnSpc>
            </a:pPr>
            <a:r>
              <a:rPr sz="919" b="0">
                <a:solidFill>
                  <a:srgbClr val="1A2233"/>
                </a:solidFill>
                <a:latin typeface="Consolas"/>
              </a:rPr>
              <a:t>VOID f_SetAssignment(ST_Scenario *pstScn, INT32 bWithManeuver)</a:t>
            </a:r>
          </a:p>
          <a:p>
            <a:pPr algn="l">
              <a:lnSpc>
                <a:spcPts val="1220"/>
              </a:lnSpc>
            </a:pPr>
            <a:r>
              <a:rPr sz="919" b="0">
                <a:solidFill>
                  <a:srgbClr val="1A2233"/>
                </a:solidFill>
                <a:latin typeface="Consolas"/>
              </a:rPr>
              <a:t>{</a:t>
            </a:r>
          </a:p>
          <a:p>
            <a:pPr algn="l">
              <a:lnSpc>
                <a:spcPts val="1220"/>
              </a:lnSpc>
            </a:pPr>
            <a:r>
              <a:rPr sz="919" b="0">
                <a:solidFill>
                  <a:srgbClr val="1A2233"/>
                </a:solidFill>
                <a:latin typeface="Consolas"/>
              </a:rPr>
              <a:t>    memset(pstScn, 0, sizeof(*pstScn));</a:t>
            </a:r>
          </a:p>
          <a:p>
            <a:pPr algn="l">
              <a:lnSpc>
                <a:spcPts val="1220"/>
              </a:lnSpc>
            </a:pPr>
            <a:r>
              <a:rPr sz="919" b="0">
                <a:solidFill>
                  <a:srgbClr val="1A2233"/>
                </a:solidFill>
                <a:latin typeface="Consolas"/>
              </a:rPr>
              <a:t>    pstScn-&gt;dSimTime   = 60.0;</a:t>
            </a:r>
          </a:p>
          <a:p>
            <a:pPr algn="l">
              <a:lnSpc>
                <a:spcPts val="1220"/>
              </a:lnSpc>
            </a:pPr>
            <a:r>
              <a:rPr sz="919" b="0">
                <a:solidFill>
                  <a:srgbClr val="1A2233"/>
                </a:solidFill>
                <a:latin typeface="Consolas"/>
              </a:rPr>
              <a:t>    pstScn-&gt;dDt        = 0.1;</a:t>
            </a:r>
          </a:p>
          <a:p>
            <a:pPr algn="l">
              <a:lnSpc>
                <a:spcPts val="1220"/>
              </a:lnSpc>
            </a:pPr>
            <a:r>
              <a:rPr sz="919" b="0">
                <a:solidFill>
                  <a:srgbClr val="1A2233"/>
                </a:solidFill>
                <a:latin typeface="Consolas"/>
              </a:rPr>
              <a:t>    pstScn-&gt;nTargetCnt = 2;</a:t>
            </a:r>
          </a:p>
          <a:p>
            <a:pPr algn="l">
              <a:lnSpc>
                <a:spcPts val="1220"/>
              </a:lnSpc>
            </a:pPr>
            <a:r>
              <a:rPr sz="919" b="0">
                <a:solidFill>
                  <a:srgbClr val="5A6478"/>
                </a:solidFill>
                <a:latin typeface="Consolas"/>
              </a:rPr>
              <a:t>                             /*     위도    경도    고도   속력  roll   yaw  pitch */</a:t>
            </a:r>
          </a:p>
          <a:p>
            <a:pPr algn="l">
              <a:lnSpc>
                <a:spcPts val="1220"/>
              </a:lnSpc>
            </a:pPr>
            <a:r>
              <a:rPr sz="919" b="0">
                <a:solidFill>
                  <a:srgbClr val="1A2233"/>
                </a:solidFill>
                <a:latin typeface="Consolas"/>
              </a:rPr>
              <a:t>    f_SetTarget(&amp;pstScn-&gt;stPlatform,   32.0,   126.0,    0.0,   0.0, 0.0,   0.0, 0.0);</a:t>
            </a:r>
          </a:p>
          <a:p>
            <a:pPr algn="l">
              <a:lnSpc>
                <a:spcPts val="1220"/>
              </a:lnSpc>
            </a:pPr>
            <a:r>
              <a:rPr sz="919" b="0">
                <a:solidFill>
                  <a:srgbClr val="1A2233"/>
                </a:solidFill>
                <a:latin typeface="Consolas"/>
              </a:rPr>
              <a:t>    f_SetTarget(&amp;pstScn-&gt;astTarget[0], 32.125, 126.03,   0.0,  30.0, 0.0, 270.0, 0.0);  // 대함</a:t>
            </a:r>
          </a:p>
          <a:p>
            <a:pPr algn="l">
              <a:lnSpc>
                <a:spcPts val="1220"/>
              </a:lnSpc>
            </a:pPr>
            <a:r>
              <a:rPr sz="919" b="0">
                <a:solidFill>
                  <a:srgbClr val="1A2233"/>
                </a:solidFill>
                <a:latin typeface="Consolas"/>
              </a:rPr>
              <a:t>    f_SetTarget(&amp;pstScn-&gt;astTarget[1], 32.12,  126.0,  300.0, 200.0, 0.0, 180.0, 0.0);  // 대공</a:t>
            </a:r>
          </a:p>
          <a:p>
            <a:pPr algn="l">
              <a:lnSpc>
                <a:spcPts val="1220"/>
              </a:lnSpc>
            </a:pPr>
            <a:r>
              <a:rPr sz="919" b="0">
                <a:solidFill>
                  <a:srgbClr val="1A2233"/>
                </a:solidFill>
                <a:latin typeface="Consolas"/>
              </a:rPr>
              <a:t/>
            </a:r>
          </a:p>
          <a:p>
            <a:pPr algn="l">
              <a:lnSpc>
                <a:spcPts val="1220"/>
              </a:lnSpc>
            </a:pPr>
            <a:r>
              <a:rPr sz="919" b="0">
                <a:solidFill>
                  <a:srgbClr val="1A2233"/>
                </a:solidFill>
                <a:latin typeface="Consolas"/>
              </a:rPr>
              <a:t>    if (bWithManeuver)                                 // 발표용 기동 예시</a:t>
            </a:r>
          </a:p>
          <a:p>
            <a:pPr algn="l">
              <a:lnSpc>
                <a:spcPts val="1220"/>
              </a:lnSpc>
            </a:pPr>
            <a:r>
              <a:rPr sz="919" b="0">
                <a:solidFill>
                  <a:srgbClr val="1A2233"/>
                </a:solidFill>
                <a:latin typeface="Consolas"/>
              </a:rPr>
              <a:t>    {</a:t>
            </a:r>
          </a:p>
          <a:p>
            <a:pPr algn="l">
              <a:lnSpc>
                <a:spcPts val="1220"/>
              </a:lnSpc>
            </a:pPr>
            <a:r>
              <a:rPr sz="919" b="0">
                <a:solidFill>
                  <a:srgbClr val="1A2233"/>
                </a:solidFill>
                <a:latin typeface="Consolas"/>
              </a:rPr>
              <a:t>        f_AddManeuver(&amp;pstScn-&gt;astTarget[0], -0.1, TURN_YAW,   20.0, 50.0);  // 대함 좌선회</a:t>
            </a:r>
          </a:p>
          <a:p>
            <a:pPr algn="l">
              <a:lnSpc>
                <a:spcPts val="1220"/>
              </a:lnSpc>
            </a:pPr>
            <a:r>
              <a:rPr sz="919" b="0">
                <a:solidFill>
                  <a:srgbClr val="1A2233"/>
                </a:solidFill>
                <a:latin typeface="Consolas"/>
              </a:rPr>
              <a:t>        f_AddManeuver(&amp;pstScn-&gt;astTarget[1],  3.0, TURN_YAW,   10.0, 20.0);  // 대공 3 g 우선회</a:t>
            </a:r>
          </a:p>
          <a:p>
            <a:pPr algn="l">
              <a:lnSpc>
                <a:spcPts val="1220"/>
              </a:lnSpc>
            </a:pPr>
            <a:r>
              <a:rPr sz="919" b="0">
                <a:solidFill>
                  <a:srgbClr val="1A2233"/>
                </a:solidFill>
                <a:latin typeface="Consolas"/>
              </a:rPr>
              <a:t>        f_AddManeuver(&amp;pstScn-&gt;astTarget[1],  2.0, TURN_PITCH, 35.0, 40.0);  // 대공 기수 들기</a:t>
            </a:r>
          </a:p>
          <a:p>
            <a:pPr algn="l">
              <a:lnSpc>
                <a:spcPts val="1220"/>
              </a:lnSpc>
            </a:pPr>
            <a:r>
              <a:rPr sz="919" b="0">
                <a:solidFill>
                  <a:srgbClr val="1A2233"/>
                </a:solidFill>
                <a:latin typeface="Consolas"/>
              </a:rPr>
              <a:t>    }</a:t>
            </a:r>
          </a:p>
          <a:p>
            <a:pPr algn="l">
              <a:lnSpc>
                <a:spcPts val="1220"/>
              </a:lnSpc>
            </a:pPr>
            <a:r>
              <a:rPr sz="919" b="0">
                <a:solidFill>
                  <a:srgbClr val="1A2233"/>
                </a:solidFill>
                <a:latin typeface="Consolas"/>
              </a:rPr>
              <a:t>}</a:t>
            </a:r>
          </a:p>
          <a:p>
            <a:pPr algn="l">
              <a:lnSpc>
                <a:spcPts val="1220"/>
              </a:lnSpc>
            </a:pPr>
            <a:r>
              <a:rPr sz="919" b="0">
                <a:solidFill>
                  <a:srgbClr val="1A2233"/>
                </a:solidFill>
                <a:latin typeface="Consolas"/>
              </a:rPr>
              <a:t/>
            </a:r>
          </a:p>
          <a:p>
            <a:pPr algn="l">
              <a:lnSpc>
                <a:spcPts val="1220"/>
              </a:lnSpc>
            </a:pPr>
            <a:r>
              <a:rPr sz="919" b="0">
                <a:solidFill>
                  <a:srgbClr val="5A6478"/>
                </a:solidFill>
                <a:latin typeface="Consolas"/>
              </a:rPr>
              <a:t>// f_SetTarget : 각도는 도로 받아 라디안으로 저장한다 (프로그램 안은 라디안)</a:t>
            </a:r>
          </a:p>
          <a:p>
            <a:pPr algn="l">
              <a:lnSpc>
                <a:spcPts val="1220"/>
              </a:lnSpc>
            </a:pPr>
            <a:r>
              <a:rPr sz="919" b="0">
                <a:solidFill>
                  <a:srgbClr val="1A2233"/>
                </a:solidFill>
                <a:latin typeface="Consolas"/>
              </a:rPr>
              <a:t>pstTgt-&gt;stInitLla.Lat  = DEG2RAD(dLatDeg);  ...  pstTgt-&gt;stInitAtt.Yaw = DEG2RAD(dYawDeg);</a:t>
            </a:r>
          </a:p>
        </p:txBody>
      </p:sp>
      <p:graphicFrame>
        <p:nvGraphicFramePr>
          <p:cNvPr id="9" name="Table 8"/>
          <p:cNvGraphicFramePr>
            <a:graphicFrameLocks noGrp="1"/>
          </p:cNvGraphicFramePr>
          <p:nvPr/>
        </p:nvGraphicFramePr>
        <p:xfrm>
          <a:off x="7790688" y="1371600"/>
          <a:ext cx="3840480" cy="1828800"/>
        </p:xfrm>
        <a:graphic>
          <a:graphicData uri="http://schemas.openxmlformats.org/drawingml/2006/table">
            <a:tbl>
              <a:tblPr firstRow="1">
                <a:tableStyleId>{5C22544A-7EE6-4342-B048-85BDC9FD1C3A}</a:tableStyleId>
              </a:tblPr>
              <a:tblGrid>
                <a:gridCol w="914400"/>
                <a:gridCol w="822960"/>
                <a:gridCol w="1051560"/>
                <a:gridCol w="1051560"/>
              </a:tblGrid>
              <a:tr h="365760">
                <a:tc>
                  <a:txBody>
                    <a:bodyPr wrap="square"/>
                    <a:lstStyle/>
                    <a:p>
                      <a:pPr algn="ctr"/>
                      <a:r>
                        <a:rPr sz="1000" b="1">
                          <a:solidFill>
                            <a:srgbClr val="FFFFFF"/>
                          </a:solidFill>
                          <a:latin typeface="맑은 고딕"/>
                        </a:rPr>
                        <a:t/>
                      </a:r>
                    </a:p>
                  </a:txBody>
                  <a:tcPr marL="91440" marR="91440" marT="36576" marB="36576" anchor="ctr">
                    <a:solidFill>
                      <a:srgbClr val="2B57A6"/>
                    </a:solidFill>
                  </a:tcPr>
                </a:tc>
                <a:tc>
                  <a:txBody>
                    <a:bodyPr wrap="square"/>
                    <a:lstStyle/>
                    <a:p>
                      <a:pPr algn="ctr"/>
                      <a:r>
                        <a:rPr sz="1000" b="1">
                          <a:solidFill>
                            <a:srgbClr val="FFFFFF"/>
                          </a:solidFill>
                          <a:latin typeface="맑은 고딕"/>
                        </a:rPr>
                        <a:t>플랫폼</a:t>
                      </a:r>
                    </a:p>
                  </a:txBody>
                  <a:tcPr marL="91440" marR="91440" marT="36576" marB="36576" anchor="ctr">
                    <a:solidFill>
                      <a:srgbClr val="2B57A6"/>
                    </a:solidFill>
                  </a:tcPr>
                </a:tc>
                <a:tc>
                  <a:txBody>
                    <a:bodyPr wrap="square"/>
                    <a:lstStyle/>
                    <a:p>
                      <a:pPr algn="ctr"/>
                      <a:r>
                        <a:rPr sz="1000" b="1">
                          <a:solidFill>
                            <a:srgbClr val="FFFFFF"/>
                          </a:solidFill>
                          <a:latin typeface="맑은 고딕"/>
                        </a:rPr>
                        <a:t>표적 1 대함</a:t>
                      </a:r>
                    </a:p>
                  </a:txBody>
                  <a:tcPr marL="91440" marR="91440" marT="36576" marB="36576" anchor="ctr">
                    <a:solidFill>
                      <a:srgbClr val="2B57A6"/>
                    </a:solidFill>
                  </a:tcPr>
                </a:tc>
                <a:tc>
                  <a:txBody>
                    <a:bodyPr wrap="square"/>
                    <a:lstStyle/>
                    <a:p>
                      <a:pPr algn="ctr"/>
                      <a:r>
                        <a:rPr sz="1000" b="1">
                          <a:solidFill>
                            <a:srgbClr val="FFFFFF"/>
                          </a:solidFill>
                          <a:latin typeface="맑은 고딕"/>
                        </a:rPr>
                        <a:t>표적 2 대공</a:t>
                      </a:r>
                    </a:p>
                  </a:txBody>
                  <a:tcPr marL="91440" marR="91440" marT="36576" marB="36576" anchor="ctr">
                    <a:solidFill>
                      <a:srgbClr val="2B57A6"/>
                    </a:solidFill>
                  </a:tcPr>
                </a:tc>
              </a:tr>
              <a:tr h="365760">
                <a:tc>
                  <a:txBody>
                    <a:bodyPr wrap="square"/>
                    <a:lstStyle/>
                    <a:p>
                      <a:pPr algn="l"/>
                      <a:r>
                        <a:rPr sz="1000" b="1">
                          <a:solidFill>
                            <a:srgbClr val="1A2233"/>
                          </a:solidFill>
                          <a:latin typeface="맑은 고딕"/>
                        </a:rPr>
                        <a:t>위도 · 경도</a:t>
                      </a:r>
                    </a:p>
                  </a:txBody>
                  <a:tcPr marL="91440" marR="91440" marT="36576" marB="36576" anchor="ctr">
                    <a:solidFill>
                      <a:srgbClr val="FFFFFF"/>
                    </a:solidFill>
                  </a:tcPr>
                </a:tc>
                <a:tc>
                  <a:txBody>
                    <a:bodyPr wrap="square"/>
                    <a:lstStyle/>
                    <a:p>
                      <a:pPr algn="ctr"/>
                      <a:r>
                        <a:rPr sz="1000" b="0">
                          <a:solidFill>
                            <a:srgbClr val="1A2233"/>
                          </a:solidFill>
                          <a:latin typeface="맑은 고딕"/>
                        </a:rPr>
                        <a:t>32.0 · 126.0</a:t>
                      </a:r>
                    </a:p>
                  </a:txBody>
                  <a:tcPr marL="91440" marR="91440" marT="36576" marB="36576" anchor="ctr">
                    <a:solidFill>
                      <a:srgbClr val="FFFFFF"/>
                    </a:solidFill>
                  </a:tcPr>
                </a:tc>
                <a:tc>
                  <a:txBody>
                    <a:bodyPr wrap="square"/>
                    <a:lstStyle/>
                    <a:p>
                      <a:pPr algn="ctr"/>
                      <a:r>
                        <a:rPr sz="1000" b="0">
                          <a:solidFill>
                            <a:srgbClr val="1A2233"/>
                          </a:solidFill>
                          <a:latin typeface="맑은 고딕"/>
                        </a:rPr>
                        <a:t>32.125 · 126.03</a:t>
                      </a:r>
                    </a:p>
                  </a:txBody>
                  <a:tcPr marL="91440" marR="91440" marT="36576" marB="36576" anchor="ctr">
                    <a:solidFill>
                      <a:srgbClr val="FFFFFF"/>
                    </a:solidFill>
                  </a:tcPr>
                </a:tc>
                <a:tc>
                  <a:txBody>
                    <a:bodyPr wrap="square"/>
                    <a:lstStyle/>
                    <a:p>
                      <a:pPr algn="ctr"/>
                      <a:r>
                        <a:rPr sz="1000" b="0">
                          <a:solidFill>
                            <a:srgbClr val="1A2233"/>
                          </a:solidFill>
                          <a:latin typeface="맑은 고딕"/>
                        </a:rPr>
                        <a:t>32.12 · 126.0</a:t>
                      </a:r>
                    </a:p>
                  </a:txBody>
                  <a:tcPr marL="91440" marR="91440" marT="36576" marB="36576" anchor="ctr">
                    <a:solidFill>
                      <a:srgbClr val="FFFFFF"/>
                    </a:solidFill>
                  </a:tcPr>
                </a:tc>
              </a:tr>
              <a:tr h="365760">
                <a:tc>
                  <a:txBody>
                    <a:bodyPr wrap="square"/>
                    <a:lstStyle/>
                    <a:p>
                      <a:pPr algn="l"/>
                      <a:r>
                        <a:rPr sz="1000" b="1">
                          <a:solidFill>
                            <a:srgbClr val="1A2233"/>
                          </a:solidFill>
                          <a:latin typeface="맑은 고딕"/>
                        </a:rPr>
                        <a:t>고도 m</a:t>
                      </a:r>
                    </a:p>
                  </a:txBody>
                  <a:tcPr marL="91440" marR="91440" marT="36576" marB="36576" anchor="ctr">
                    <a:solidFill>
                      <a:srgbClr val="F4F6FA"/>
                    </a:solidFill>
                  </a:tcPr>
                </a:tc>
                <a:tc>
                  <a:txBody>
                    <a:bodyPr wrap="square"/>
                    <a:lstStyle/>
                    <a:p>
                      <a:pPr algn="ctr"/>
                      <a:r>
                        <a:rPr sz="1000" b="0">
                          <a:solidFill>
                            <a:srgbClr val="1A2233"/>
                          </a:solidFill>
                          <a:latin typeface="맑은 고딕"/>
                        </a:rPr>
                        <a:t>0</a:t>
                      </a:r>
                    </a:p>
                  </a:txBody>
                  <a:tcPr marL="91440" marR="91440" marT="36576" marB="36576" anchor="ctr">
                    <a:solidFill>
                      <a:srgbClr val="F4F6FA"/>
                    </a:solidFill>
                  </a:tcPr>
                </a:tc>
                <a:tc>
                  <a:txBody>
                    <a:bodyPr wrap="square"/>
                    <a:lstStyle/>
                    <a:p>
                      <a:pPr algn="ctr"/>
                      <a:r>
                        <a:rPr sz="1000" b="0">
                          <a:solidFill>
                            <a:srgbClr val="1A2233"/>
                          </a:solidFill>
                          <a:latin typeface="맑은 고딕"/>
                        </a:rPr>
                        <a:t>0</a:t>
                      </a:r>
                    </a:p>
                  </a:txBody>
                  <a:tcPr marL="91440" marR="91440" marT="36576" marB="36576" anchor="ctr">
                    <a:solidFill>
                      <a:srgbClr val="F4F6FA"/>
                    </a:solidFill>
                  </a:tcPr>
                </a:tc>
                <a:tc>
                  <a:txBody>
                    <a:bodyPr wrap="square"/>
                    <a:lstStyle/>
                    <a:p>
                      <a:pPr algn="ctr"/>
                      <a:r>
                        <a:rPr sz="1000" b="0">
                          <a:solidFill>
                            <a:srgbClr val="1A2233"/>
                          </a:solidFill>
                          <a:latin typeface="맑은 고딕"/>
                        </a:rPr>
                        <a:t>300</a:t>
                      </a:r>
                    </a:p>
                  </a:txBody>
                  <a:tcPr marL="91440" marR="91440" marT="36576" marB="36576" anchor="ctr">
                    <a:solidFill>
                      <a:srgbClr val="F4F6FA"/>
                    </a:solidFill>
                  </a:tcPr>
                </a:tc>
              </a:tr>
              <a:tr h="365760">
                <a:tc>
                  <a:txBody>
                    <a:bodyPr wrap="square"/>
                    <a:lstStyle/>
                    <a:p>
                      <a:pPr algn="l"/>
                      <a:r>
                        <a:rPr sz="1000" b="1">
                          <a:solidFill>
                            <a:srgbClr val="1A2233"/>
                          </a:solidFill>
                          <a:latin typeface="맑은 고딕"/>
                        </a:rPr>
                        <a:t>속력 m/s</a:t>
                      </a:r>
                    </a:p>
                  </a:txBody>
                  <a:tcPr marL="91440" marR="91440" marT="36576" marB="36576" anchor="ctr">
                    <a:solidFill>
                      <a:srgbClr val="FFFFFF"/>
                    </a:solidFill>
                  </a:tcPr>
                </a:tc>
                <a:tc>
                  <a:txBody>
                    <a:bodyPr wrap="square"/>
                    <a:lstStyle/>
                    <a:p>
                      <a:pPr algn="ctr"/>
                      <a:r>
                        <a:rPr sz="1000" b="0">
                          <a:solidFill>
                            <a:srgbClr val="1A2233"/>
                          </a:solidFill>
                          <a:latin typeface="맑은 고딕"/>
                        </a:rPr>
                        <a:t>0</a:t>
                      </a:r>
                    </a:p>
                  </a:txBody>
                  <a:tcPr marL="91440" marR="91440" marT="36576" marB="36576" anchor="ctr">
                    <a:solidFill>
                      <a:srgbClr val="FFFFFF"/>
                    </a:solidFill>
                  </a:tcPr>
                </a:tc>
                <a:tc>
                  <a:txBody>
                    <a:bodyPr wrap="square"/>
                    <a:lstStyle/>
                    <a:p>
                      <a:pPr algn="ctr"/>
                      <a:r>
                        <a:rPr sz="1000" b="0">
                          <a:solidFill>
                            <a:srgbClr val="1A2233"/>
                          </a:solidFill>
                          <a:latin typeface="맑은 고딕"/>
                        </a:rPr>
                        <a:t>30</a:t>
                      </a:r>
                    </a:p>
                  </a:txBody>
                  <a:tcPr marL="91440" marR="91440" marT="36576" marB="36576" anchor="ctr">
                    <a:solidFill>
                      <a:srgbClr val="FFFFFF"/>
                    </a:solidFill>
                  </a:tcPr>
                </a:tc>
                <a:tc>
                  <a:txBody>
                    <a:bodyPr wrap="square"/>
                    <a:lstStyle/>
                    <a:p>
                      <a:pPr algn="ctr"/>
                      <a:r>
                        <a:rPr sz="1000" b="0">
                          <a:solidFill>
                            <a:srgbClr val="1A2233"/>
                          </a:solidFill>
                          <a:latin typeface="맑은 고딕"/>
                        </a:rPr>
                        <a:t>200</a:t>
                      </a:r>
                    </a:p>
                  </a:txBody>
                  <a:tcPr marL="91440" marR="91440" marT="36576" marB="36576" anchor="ctr">
                    <a:solidFill>
                      <a:srgbClr val="FFFFFF"/>
                    </a:solidFill>
                  </a:tcPr>
                </a:tc>
              </a:tr>
              <a:tr h="365760">
                <a:tc>
                  <a:txBody>
                    <a:bodyPr wrap="square"/>
                    <a:lstStyle/>
                    <a:p>
                      <a:pPr algn="l"/>
                      <a:r>
                        <a:rPr sz="1000" b="1">
                          <a:solidFill>
                            <a:srgbClr val="1A2233"/>
                          </a:solidFill>
                          <a:latin typeface="맑은 고딕"/>
                        </a:rPr>
                        <a:t>yaw</a:t>
                      </a:r>
                    </a:p>
                  </a:txBody>
                  <a:tcPr marL="91440" marR="91440" marT="36576" marB="36576" anchor="ctr">
                    <a:solidFill>
                      <a:srgbClr val="F4F6FA"/>
                    </a:solidFill>
                  </a:tcPr>
                </a:tc>
                <a:tc>
                  <a:txBody>
                    <a:bodyPr wrap="square"/>
                    <a:lstStyle/>
                    <a:p>
                      <a:pPr algn="ctr"/>
                      <a:r>
                        <a:rPr sz="1000" b="0">
                          <a:solidFill>
                            <a:srgbClr val="1A2233"/>
                          </a:solidFill>
                          <a:latin typeface="맑은 고딕"/>
                        </a:rPr>
                        <a:t>0</a:t>
                      </a:r>
                    </a:p>
                  </a:txBody>
                  <a:tcPr marL="91440" marR="91440" marT="36576" marB="36576" anchor="ctr">
                    <a:solidFill>
                      <a:srgbClr val="F4F6FA"/>
                    </a:solidFill>
                  </a:tcPr>
                </a:tc>
                <a:tc>
                  <a:txBody>
                    <a:bodyPr wrap="square"/>
                    <a:lstStyle/>
                    <a:p>
                      <a:pPr algn="ctr"/>
                      <a:r>
                        <a:rPr sz="1000" b="0">
                          <a:solidFill>
                            <a:srgbClr val="1A2233"/>
                          </a:solidFill>
                          <a:latin typeface="맑은 고딕"/>
                        </a:rPr>
                        <a:t>270 (서)</a:t>
                      </a:r>
                    </a:p>
                  </a:txBody>
                  <a:tcPr marL="91440" marR="91440" marT="36576" marB="36576" anchor="ctr">
                    <a:solidFill>
                      <a:srgbClr val="F4F6FA"/>
                    </a:solidFill>
                  </a:tcPr>
                </a:tc>
                <a:tc>
                  <a:txBody>
                    <a:bodyPr wrap="square"/>
                    <a:lstStyle/>
                    <a:p>
                      <a:pPr algn="ctr"/>
                      <a:r>
                        <a:rPr sz="1000" b="0">
                          <a:solidFill>
                            <a:srgbClr val="1A2233"/>
                          </a:solidFill>
                          <a:latin typeface="맑은 고딕"/>
                        </a:rPr>
                        <a:t>180 (남)</a:t>
                      </a:r>
                    </a:p>
                  </a:txBody>
                  <a:tcPr marL="91440" marR="91440" marT="36576" marB="36576" anchor="ctr">
                    <a:solidFill>
                      <a:srgbClr val="F4F6FA"/>
                    </a:solidFill>
                  </a:tcPr>
                </a:tc>
              </a:tr>
            </a:tbl>
          </a:graphicData>
        </a:graphic>
      </p:graphicFrame>
      <p:sp>
        <p:nvSpPr>
          <p:cNvPr id="10" name="Rounded Rectangle 9"/>
          <p:cNvSpPr/>
          <p:nvPr/>
        </p:nvSpPr>
        <p:spPr>
          <a:xfrm>
            <a:off x="7790688" y="3383280"/>
            <a:ext cx="3840480" cy="2148840"/>
          </a:xfrm>
          <a:prstGeom prst="roundRect">
            <a:avLst>
              <a:gd name="adj" fmla="val 6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7991856" y="3524097"/>
            <a:ext cx="3438144" cy="1907438"/>
          </a:xfrm>
          <a:prstGeom prst="rect">
            <a:avLst/>
          </a:prstGeom>
          <a:noFill/>
        </p:spPr>
        <p:txBody>
          <a:bodyPr wrap="square" anchor="t" lIns="0" rIns="0" tIns="0" bIns="0">
            <a:spAutoFit/>
          </a:bodyPr>
          <a:lstStyle/>
          <a:p>
            <a:pPr algn="l">
              <a:spcAft>
                <a:spcPts val="400"/>
              </a:spcAft>
            </a:pPr>
            <a:r>
              <a:rPr sz="1200" b="1">
                <a:solidFill>
                  <a:srgbClr val="C2521C"/>
                </a:solidFill>
                <a:latin typeface="맑은 고딕"/>
              </a:rPr>
              <a:t>기동 예시 (화면의 체크박스)</a:t>
            </a:r>
          </a:p>
          <a:p>
            <a:pPr algn="l">
              <a:lnSpc>
                <a:spcPts val="1500"/>
              </a:lnSpc>
            </a:pPr>
            <a:r>
              <a:rPr sz="1050" b="0">
                <a:solidFill>
                  <a:srgbClr val="1A2233"/>
                </a:solidFill>
                <a:latin typeface="맑은 고딕"/>
              </a:rPr>
              <a:t>대함 : −0.1 g yaw 20~50 s  (음수 = 좌선회)</a:t>
            </a:r>
          </a:p>
          <a:p>
            <a:pPr algn="l">
              <a:lnSpc>
                <a:spcPts val="1500"/>
              </a:lnSpc>
            </a:pPr>
            <a:r>
              <a:rPr sz="1050" b="0">
                <a:solidFill>
                  <a:srgbClr val="1A2233"/>
                </a:solidFill>
                <a:latin typeface="맑은 고딕"/>
              </a:rPr>
              <a:t>대공 :  +3 g yaw 10~20 s,  +2 g pitch 35~40 s</a:t>
            </a:r>
          </a:p>
          <a:p>
            <a:pPr algn="l">
              <a:lnSpc>
                <a:spcPts val="1500"/>
              </a:lnSpc>
            </a:pPr>
            <a:r>
              <a:rPr sz="1050" b="0">
                <a:solidFill>
                  <a:srgbClr val="1A2233"/>
                </a:solidFill>
                <a:latin typeface="맑은 고딕"/>
              </a:rPr>
              <a:t>표적을 더 넣으려면 f_SetTarget 줄을 더 쓴다 (최대 10).</a:t>
            </a:r>
          </a:p>
        </p:txBody>
      </p:sp>
      <p:sp>
        <p:nvSpPr>
          <p:cNvPr id="12" name="Rounded Rectangle 11"/>
          <p:cNvSpPr/>
          <p:nvPr/>
        </p:nvSpPr>
        <p:spPr>
          <a:xfrm>
            <a:off x="566928" y="5650992"/>
            <a:ext cx="11064240" cy="512064"/>
          </a:xfrm>
          <a:prstGeom prst="roundRect">
            <a:avLst>
              <a:gd name="adj" fmla="val 8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786384" y="5650992"/>
            <a:ext cx="10625328" cy="512064"/>
          </a:xfrm>
          <a:prstGeom prst="rect">
            <a:avLst/>
          </a:prstGeom>
          <a:noFill/>
        </p:spPr>
        <p:txBody>
          <a:bodyPr wrap="square" anchor="ctr" lIns="0" rIns="0" tIns="0" bIns="0">
            <a:spAutoFit/>
          </a:bodyPr>
          <a:lstStyle/>
          <a:p>
            <a:pPr algn="ctr">
              <a:spcAft>
                <a:spcPts val="300"/>
              </a:spcAft>
            </a:pPr>
            <a:r>
              <a:rPr sz="1150" b="1">
                <a:solidFill>
                  <a:srgbClr val="1A2233"/>
                </a:solidFill>
                <a:latin typeface="맑은 고딕"/>
              </a:rPr>
              <a:t>시간 60 s · 간격 0.1 s · 표적 2 개  —  과제 시뮬레이션 조건 그대로</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속도 변환 — f_BodyVelToEcef</a:t>
            </a:r>
          </a:p>
          <a:p>
            <a:pPr algn="l">
              <a:lnSpc>
                <a:spcPts val="1400"/>
              </a:lnSpc>
            </a:pPr>
            <a:r>
              <a:rPr sz="1100" b="0">
                <a:solidFill>
                  <a:srgbClr val="C9D6EC"/>
                </a:solidFill>
                <a:latin typeface="맑은 고딕"/>
              </a:rPr>
              <a:t>6장의 회전 두 번이 열 줄.  참고 코드에서 조심할 점 두 가지가 이 화면에 다 있다</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 name="Rounded Rectangle 6"/>
          <p:cNvSpPr/>
          <p:nvPr/>
        </p:nvSpPr>
        <p:spPr>
          <a:xfrm>
            <a:off x="566928" y="1371600"/>
            <a:ext cx="4023360" cy="1188720"/>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768096" y="1512417"/>
            <a:ext cx="3621024" cy="947318"/>
          </a:xfrm>
          <a:prstGeom prst="rect">
            <a:avLst/>
          </a:prstGeom>
          <a:noFill/>
        </p:spPr>
        <p:txBody>
          <a:bodyPr wrap="square" anchor="t" lIns="0" rIns="0" tIns="0" bIns="0">
            <a:spAutoFit/>
          </a:bodyPr>
          <a:lstStyle/>
          <a:p>
            <a:pPr algn="l">
              <a:spcAft>
                <a:spcPts val="400"/>
              </a:spcAft>
            </a:pPr>
            <a:r>
              <a:rPr sz="1300" b="1">
                <a:solidFill>
                  <a:srgbClr val="2B57A6"/>
                </a:solidFill>
                <a:latin typeface="맑은 고딕"/>
              </a:rPr>
              <a:t>① 동체 → NED</a:t>
            </a:r>
          </a:p>
          <a:p>
            <a:pPr algn="l">
              <a:lnSpc>
                <a:spcPts val="1400"/>
              </a:lnSpc>
            </a:pPr>
            <a:r>
              <a:rPr sz="1050" b="0">
                <a:solidFill>
                  <a:srgbClr val="1A2233"/>
                </a:solidFill>
                <a:latin typeface="맑은 고딕"/>
              </a:rPr>
              <a:t>f_Trans_Body_To_Ned 에 [V, 0, 0] 과 자세각.</a:t>
            </a:r>
          </a:p>
          <a:p>
            <a:pPr algn="l">
              <a:lnSpc>
                <a:spcPts val="1400"/>
              </a:lnSpc>
            </a:pPr>
            <a:r>
              <a:rPr sz="1050" b="0">
                <a:solidFill>
                  <a:srgbClr val="1A2233"/>
                </a:solidFill>
                <a:latin typeface="맑은 고딕"/>
              </a:rPr>
              <a:t>인자 순서는 Roll, Yaw, Pitch (헤더에 적힌 대로).</a:t>
            </a:r>
          </a:p>
        </p:txBody>
      </p:sp>
      <p:sp>
        <p:nvSpPr>
          <p:cNvPr id="9" name="Rounded Rectangle 8"/>
          <p:cNvSpPr/>
          <p:nvPr/>
        </p:nvSpPr>
        <p:spPr>
          <a:xfrm>
            <a:off x="566928" y="2670048"/>
            <a:ext cx="4023360" cy="1371600"/>
          </a:xfrm>
          <a:prstGeom prst="roundRect">
            <a:avLst>
              <a:gd name="adj" fmla="val 6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768096" y="2810865"/>
            <a:ext cx="3621024" cy="1130198"/>
          </a:xfrm>
          <a:prstGeom prst="rect">
            <a:avLst/>
          </a:prstGeom>
          <a:noFill/>
        </p:spPr>
        <p:txBody>
          <a:bodyPr wrap="square" anchor="t" lIns="0" rIns="0" tIns="0" bIns="0">
            <a:spAutoFit/>
          </a:bodyPr>
          <a:lstStyle/>
          <a:p>
            <a:pPr algn="l">
              <a:spcAft>
                <a:spcPts val="400"/>
              </a:spcAft>
            </a:pPr>
            <a:r>
              <a:rPr sz="1300" b="1">
                <a:solidFill>
                  <a:srgbClr val="C2521C"/>
                </a:solidFill>
                <a:latin typeface="맑은 고딕"/>
              </a:rPr>
              <a:t>② NED → ECEF</a:t>
            </a:r>
          </a:p>
          <a:p>
            <a:pPr algn="l">
              <a:lnSpc>
                <a:spcPts val="1400"/>
              </a:lnSpc>
            </a:pPr>
            <a:r>
              <a:rPr sz="1050" b="0">
                <a:solidFill>
                  <a:srgbClr val="1A2233"/>
                </a:solidFill>
                <a:latin typeface="맑은 고딕"/>
              </a:rPr>
              <a:t>f_Trans_Ned_To_Ecef 의 가운데 셋이 플랫폼 위치.</a:t>
            </a:r>
          </a:p>
          <a:p>
            <a:pPr algn="l">
              <a:lnSpc>
                <a:spcPts val="1400"/>
              </a:lnSpc>
            </a:pPr>
            <a:r>
              <a:rPr sz="1050" b="0">
                <a:solidFill>
                  <a:srgbClr val="1A2233"/>
                </a:solidFill>
                <a:latin typeface="맑은 고딕"/>
              </a:rPr>
              <a:t>속도는 벡터라 여기에 0.  위경도는 표적 자신의 것.</a:t>
            </a:r>
          </a:p>
        </p:txBody>
      </p:sp>
      <p:sp>
        <p:nvSpPr>
          <p:cNvPr id="11" name="Rounded Rectangle 10"/>
          <p:cNvSpPr/>
          <p:nvPr/>
        </p:nvSpPr>
        <p:spPr>
          <a:xfrm>
            <a:off x="566928" y="4151376"/>
            <a:ext cx="4023360" cy="1188720"/>
          </a:xfrm>
          <a:prstGeom prst="roundRect">
            <a:avLst>
              <a:gd name="adj" fmla="val 6000"/>
            </a:avLst>
          </a:prstGeom>
          <a:solidFill>
            <a:srgbClr val="E6F3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768096" y="4292193"/>
            <a:ext cx="3621024" cy="947318"/>
          </a:xfrm>
          <a:prstGeom prst="rect">
            <a:avLst/>
          </a:prstGeom>
          <a:noFill/>
        </p:spPr>
        <p:txBody>
          <a:bodyPr wrap="square" anchor="t" lIns="0" rIns="0" tIns="0" bIns="0">
            <a:spAutoFit/>
          </a:bodyPr>
          <a:lstStyle/>
          <a:p>
            <a:pPr algn="l">
              <a:spcAft>
                <a:spcPts val="400"/>
              </a:spcAft>
            </a:pPr>
            <a:r>
              <a:rPr sz="1300" b="1">
                <a:solidFill>
                  <a:srgbClr val="2F855A"/>
                </a:solidFill>
                <a:latin typeface="맑은 고딕"/>
              </a:rPr>
              <a:t>초기화의 함정</a:t>
            </a:r>
          </a:p>
          <a:p>
            <a:pPr algn="l">
              <a:lnSpc>
                <a:spcPts val="1400"/>
              </a:lnSpc>
            </a:pPr>
            <a:r>
              <a:rPr sz="1050" b="0">
                <a:solidFill>
                  <a:srgbClr val="1A2233"/>
                </a:solidFill>
                <a:latin typeface="맑은 고딕"/>
              </a:rPr>
              <a:t>f_Trans_Lla_To_Ecef 는 (경도, 위도, 고도) 순서.</a:t>
            </a:r>
          </a:p>
          <a:p>
            <a:pPr algn="l">
              <a:lnSpc>
                <a:spcPts val="1400"/>
              </a:lnSpc>
            </a:pPr>
            <a:r>
              <a:rPr sz="1050" b="0">
                <a:solidFill>
                  <a:srgbClr val="1A2233"/>
                </a:solidFill>
                <a:latin typeface="맑은 고딕"/>
              </a:rPr>
              <a:t>바꿔 넣으면 북위 54° 동경 212° 가 나온다.</a:t>
            </a:r>
          </a:p>
        </p:txBody>
      </p:sp>
      <p:sp>
        <p:nvSpPr>
          <p:cNvPr id="13" name="Rounded Rectangle 12"/>
          <p:cNvSpPr/>
          <p:nvPr/>
        </p:nvSpPr>
        <p:spPr>
          <a:xfrm>
            <a:off x="4773168" y="1371600"/>
            <a:ext cx="6858000" cy="4800600"/>
          </a:xfrm>
          <a:prstGeom prst="roundRect">
            <a:avLst>
              <a:gd name="adj" fmla="val 4000"/>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937759" y="1481328"/>
            <a:ext cx="6528816" cy="4599432"/>
          </a:xfrm>
          <a:prstGeom prst="rect">
            <a:avLst/>
          </a:prstGeom>
          <a:noFill/>
        </p:spPr>
        <p:txBody>
          <a:bodyPr wrap="square" anchor="t" lIns="0" rIns="0" tIns="0" bIns="0">
            <a:spAutoFit/>
          </a:bodyPr>
          <a:lstStyle/>
          <a:p>
            <a:pPr algn="l">
              <a:lnSpc>
                <a:spcPts val="1260"/>
              </a:lnSpc>
            </a:pPr>
            <a:r>
              <a:rPr sz="919" b="0">
                <a:solidFill>
                  <a:srgbClr val="5A6478"/>
                </a:solidFill>
                <a:latin typeface="Consolas"/>
              </a:rPr>
              <a:t>// 동체 속력 [V, 0, 0] 을 ECEF 속도로. 회전 두 번, 평행이동 없음</a:t>
            </a:r>
          </a:p>
          <a:p>
            <a:pPr algn="l">
              <a:lnSpc>
                <a:spcPts val="1260"/>
              </a:lnSpc>
            </a:pPr>
            <a:r>
              <a:rPr sz="919" b="0">
                <a:solidFill>
                  <a:srgbClr val="1A2233"/>
                </a:solidFill>
                <a:latin typeface="Consolas"/>
              </a:rPr>
              <a:t>static STRUCT_Coord_Rect f_BodyVelToEcef(const ST_Target *pstTgt)</a:t>
            </a:r>
          </a:p>
          <a:p>
            <a:pPr algn="l">
              <a:lnSpc>
                <a:spcPts val="1260"/>
              </a:lnSpc>
            </a:pPr>
            <a:r>
              <a:rPr sz="919" b="0">
                <a:solidFill>
                  <a:srgbClr val="1A2233"/>
                </a:solidFill>
                <a:latin typeface="Consolas"/>
              </a:rPr>
              <a:t>{</a:t>
            </a:r>
          </a:p>
          <a:p>
            <a:pPr algn="l">
              <a:lnSpc>
                <a:spcPts val="1260"/>
              </a:lnSpc>
            </a:pPr>
            <a:r>
              <a:rPr sz="919" b="0">
                <a:solidFill>
                  <a:srgbClr val="1A2233"/>
                </a:solidFill>
                <a:latin typeface="Consolas"/>
              </a:rPr>
              <a:t>    STRUCT_Coord_Rect stNed;</a:t>
            </a:r>
          </a:p>
          <a:p>
            <a:pPr algn="l">
              <a:lnSpc>
                <a:spcPts val="1260"/>
              </a:lnSpc>
            </a:pPr>
            <a:r>
              <a:rPr sz="919" b="0">
                <a:solidFill>
                  <a:srgbClr val="1A2233"/>
                </a:solidFill>
                <a:latin typeface="Consolas"/>
              </a:rPr>
              <a:t/>
            </a:r>
          </a:p>
          <a:p>
            <a:pPr algn="l">
              <a:lnSpc>
                <a:spcPts val="1260"/>
              </a:lnSpc>
            </a:pPr>
            <a:r>
              <a:rPr sz="919" b="0">
                <a:solidFill>
                  <a:srgbClr val="5A6478"/>
                </a:solidFill>
                <a:latin typeface="Consolas"/>
              </a:rPr>
              <a:t>    // 1) 동체 → NED : 자세각으로 회전 (인자 순서 Roll, Yaw, Pitch)</a:t>
            </a:r>
          </a:p>
          <a:p>
            <a:pPr algn="l">
              <a:lnSpc>
                <a:spcPts val="1260"/>
              </a:lnSpc>
            </a:pPr>
            <a:r>
              <a:rPr sz="919" b="0">
                <a:solidFill>
                  <a:srgbClr val="1A2233"/>
                </a:solidFill>
                <a:latin typeface="Consolas"/>
              </a:rPr>
              <a:t>    stNed = f_Trans_Body_To_Ned(pstTgt-&gt;dVheading, 0.0, 0.0,</a:t>
            </a:r>
          </a:p>
          <a:p>
            <a:pPr algn="l">
              <a:lnSpc>
                <a:spcPts val="1260"/>
              </a:lnSpc>
            </a:pPr>
            <a:r>
              <a:rPr sz="919" b="0">
                <a:solidFill>
                  <a:srgbClr val="1A2233"/>
                </a:solidFill>
                <a:latin typeface="Consolas"/>
              </a:rPr>
              <a:t>                                pstTgt-&gt;stAtt.Roll, pstTgt-&gt;stAtt.Yaw, pstTgt-&gt;stAtt.Pitch);</a:t>
            </a:r>
          </a:p>
          <a:p>
            <a:pPr algn="l">
              <a:lnSpc>
                <a:spcPts val="1260"/>
              </a:lnSpc>
            </a:pPr>
            <a:r>
              <a:rPr sz="919" b="0">
                <a:solidFill>
                  <a:srgbClr val="1A2233"/>
                </a:solidFill>
                <a:latin typeface="Consolas"/>
              </a:rPr>
              <a:t/>
            </a:r>
          </a:p>
          <a:p>
            <a:pPr algn="l">
              <a:lnSpc>
                <a:spcPts val="1260"/>
              </a:lnSpc>
            </a:pPr>
            <a:r>
              <a:rPr sz="919" b="0">
                <a:solidFill>
                  <a:srgbClr val="5A6478"/>
                </a:solidFill>
                <a:latin typeface="Consolas"/>
              </a:rPr>
              <a:t>    // 2) NED → ECEF : 표적 자신의 위경도로 회전.</a:t>
            </a:r>
          </a:p>
          <a:p>
            <a:pPr algn="l">
              <a:lnSpc>
                <a:spcPts val="1260"/>
              </a:lnSpc>
            </a:pPr>
            <a:r>
              <a:rPr sz="919" b="0">
                <a:solidFill>
                  <a:srgbClr val="5A6478"/>
                </a:solidFill>
                <a:latin typeface="Consolas"/>
              </a:rPr>
              <a:t>    //    속도는 벡터라 플랫폼 위치 인자(가운데 셋) 에 0</a:t>
            </a:r>
          </a:p>
          <a:p>
            <a:pPr algn="l">
              <a:lnSpc>
                <a:spcPts val="1260"/>
              </a:lnSpc>
            </a:pPr>
            <a:r>
              <a:rPr sz="919" b="0">
                <a:solidFill>
                  <a:srgbClr val="1A2233"/>
                </a:solidFill>
                <a:latin typeface="Consolas"/>
              </a:rPr>
              <a:t>    return f_Trans_Ned_To_Ecef(stNed.x, stNed.y, stNed.z,  0.0, 0.0, 0.0,</a:t>
            </a:r>
          </a:p>
          <a:p>
            <a:pPr algn="l">
              <a:lnSpc>
                <a:spcPts val="1260"/>
              </a:lnSpc>
            </a:pPr>
            <a:r>
              <a:rPr sz="919" b="0">
                <a:solidFill>
                  <a:srgbClr val="1A2233"/>
                </a:solidFill>
                <a:latin typeface="Consolas"/>
              </a:rPr>
              <a:t>                               pstTgt-&gt;stLla.Lat, pstTgt-&gt;stLla.Lon);</a:t>
            </a:r>
          </a:p>
          <a:p>
            <a:pPr algn="l">
              <a:lnSpc>
                <a:spcPts val="1260"/>
              </a:lnSpc>
            </a:pPr>
            <a:r>
              <a:rPr sz="919" b="0">
                <a:solidFill>
                  <a:srgbClr val="1A2233"/>
                </a:solidFill>
                <a:latin typeface="Consolas"/>
              </a:rPr>
              <a:t>}</a:t>
            </a:r>
          </a:p>
          <a:p>
            <a:pPr algn="l">
              <a:lnSpc>
                <a:spcPts val="1260"/>
              </a:lnSpc>
            </a:pPr>
            <a:r>
              <a:rPr sz="919" b="0">
                <a:solidFill>
                  <a:srgbClr val="1A2233"/>
                </a:solidFill>
                <a:latin typeface="Consolas"/>
              </a:rPr>
              <a:t/>
            </a:r>
          </a:p>
          <a:p>
            <a:pPr algn="l">
              <a:lnSpc>
                <a:spcPts val="1260"/>
              </a:lnSpc>
            </a:pPr>
            <a:r>
              <a:rPr sz="919" b="0">
                <a:solidFill>
                  <a:srgbClr val="5A6478"/>
                </a:solidFill>
                <a:latin typeface="Consolas"/>
              </a:rPr>
              <a:t>// 초기화 : 입력 칸 → 상태 칸. f_Trans_Lla_To_Ecef 는 인자 순서가 (경도, 위도, 고도)</a:t>
            </a:r>
          </a:p>
          <a:p>
            <a:pPr algn="l">
              <a:lnSpc>
                <a:spcPts val="1260"/>
              </a:lnSpc>
            </a:pPr>
            <a:r>
              <a:rPr sz="919" b="0">
                <a:solidFill>
                  <a:srgbClr val="1A2233"/>
                </a:solidFill>
                <a:latin typeface="Consolas"/>
              </a:rPr>
              <a:t>static VOID f_InitTarget(ST_Target *pstTgt)</a:t>
            </a:r>
          </a:p>
          <a:p>
            <a:pPr algn="l">
              <a:lnSpc>
                <a:spcPts val="1260"/>
              </a:lnSpc>
            </a:pPr>
            <a:r>
              <a:rPr sz="919" b="0">
                <a:solidFill>
                  <a:srgbClr val="1A2233"/>
                </a:solidFill>
                <a:latin typeface="Consolas"/>
              </a:rPr>
              <a:t>{</a:t>
            </a:r>
          </a:p>
          <a:p>
            <a:pPr algn="l">
              <a:lnSpc>
                <a:spcPts val="1260"/>
              </a:lnSpc>
            </a:pPr>
            <a:r>
              <a:rPr sz="919" b="0">
                <a:solidFill>
                  <a:srgbClr val="1A2233"/>
                </a:solidFill>
                <a:latin typeface="Consolas"/>
              </a:rPr>
              <a:t>    pstTgt-&gt;stPos = f_Trans_Lla_To_Ecef(pstTgt-&gt;stInitLla.Lon,</a:t>
            </a:r>
          </a:p>
          <a:p>
            <a:pPr algn="l">
              <a:lnSpc>
                <a:spcPts val="1260"/>
              </a:lnSpc>
            </a:pPr>
            <a:r>
              <a:rPr sz="919" b="0">
                <a:solidFill>
                  <a:srgbClr val="1A2233"/>
                </a:solidFill>
                <a:latin typeface="Consolas"/>
              </a:rPr>
              <a:t>                                        pstTgt-&gt;stInitLla.Lat, pstTgt-&gt;stInitLla.Alt);</a:t>
            </a:r>
          </a:p>
          <a:p>
            <a:pPr algn="l">
              <a:lnSpc>
                <a:spcPts val="1260"/>
              </a:lnSpc>
            </a:pPr>
            <a:r>
              <a:rPr sz="919" b="0">
                <a:solidFill>
                  <a:srgbClr val="1A2233"/>
                </a:solidFill>
                <a:latin typeface="Consolas"/>
              </a:rPr>
              <a:t>    pstTgt-&gt;stAtt = pstTgt-&gt;stInitAtt;</a:t>
            </a:r>
          </a:p>
          <a:p>
            <a:pPr algn="l">
              <a:lnSpc>
                <a:spcPts val="1260"/>
              </a:lnSpc>
            </a:pPr>
            <a:r>
              <a:rPr sz="919" b="0">
                <a:solidFill>
                  <a:srgbClr val="1A2233"/>
                </a:solidFill>
                <a:latin typeface="Consolas"/>
              </a:rPr>
              <a:t>    pstTgt-&gt;stLla = pstTgt-&gt;stInitLla;</a:t>
            </a:r>
          </a:p>
          <a:p>
            <a:pPr algn="l">
              <a:lnSpc>
                <a:spcPts val="1260"/>
              </a:lnSpc>
            </a:pPr>
            <a:r>
              <a:rPr sz="919" b="0">
                <a:solidFill>
                  <a:srgbClr val="1A2233"/>
                </a:solidFill>
                <a:latin typeface="Consolas"/>
              </a:rPr>
              <a:t>    pstTgt-&gt;stVel = f_BodyVelToEcef(pstTgt);</a:t>
            </a:r>
          </a:p>
          <a:p>
            <a:pPr algn="l">
              <a:lnSpc>
                <a:spcPts val="1260"/>
              </a:lnSpc>
            </a:pPr>
            <a:r>
              <a:rPr sz="919" b="0">
                <a:solidFill>
                  <a:srgbClr val="1A2233"/>
                </a:solidFill>
                <a:latin typeface="Consolas"/>
              </a:rPr>
              <a:t>}</a:t>
            </a:r>
          </a:p>
        </p:txBody>
      </p:sp>
      <p:sp>
        <p:nvSpPr>
          <p:cNvPr id="15" name="Rounded Rectangle 14"/>
          <p:cNvSpPr/>
          <p:nvPr/>
        </p:nvSpPr>
        <p:spPr>
          <a:xfrm>
            <a:off x="566928" y="5449824"/>
            <a:ext cx="4023360" cy="713232"/>
          </a:xfrm>
          <a:prstGeom prst="roundRect">
            <a:avLst>
              <a:gd name="adj" fmla="val 8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86384" y="5449824"/>
            <a:ext cx="3584448" cy="713232"/>
          </a:xfrm>
          <a:prstGeom prst="rect">
            <a:avLst/>
          </a:prstGeom>
          <a:noFill/>
        </p:spPr>
        <p:txBody>
          <a:bodyPr wrap="square" anchor="ctr" lIns="0" rIns="0" tIns="0" bIns="0">
            <a:spAutoFit/>
          </a:bodyPr>
          <a:lstStyle/>
          <a:p>
            <a:pPr algn="ctr">
              <a:spcAft>
                <a:spcPts val="300"/>
              </a:spcAft>
            </a:pPr>
            <a:r>
              <a:rPr sz="1150" b="1">
                <a:solidFill>
                  <a:srgbClr val="C2521C"/>
                </a:solidFill>
                <a:latin typeface="맑은 고딕"/>
              </a:rPr>
              <a:t>검산 :  |v_ecef| = 200.000000 m/s</a:t>
            </a:r>
          </a:p>
          <a:p>
            <a:pPr algn="ctr">
              <a:lnSpc>
                <a:spcPts val="1400"/>
              </a:lnSpc>
            </a:pPr>
            <a:r>
              <a:rPr sz="1050" b="0">
                <a:solidFill>
                  <a:srgbClr val="5A6478"/>
                </a:solidFill>
                <a:latin typeface="맑은 고딕"/>
              </a:rPr>
              <a:t>실수로 플랫폼 위치를 더하면 6,372 km/s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한 스텝 — f_StepTarget</a:t>
            </a:r>
          </a:p>
          <a:p>
            <a:pPr algn="l">
              <a:lnSpc>
                <a:spcPts val="1400"/>
              </a:lnSpc>
            </a:pPr>
            <a:r>
              <a:rPr sz="1100" b="0">
                <a:solidFill>
                  <a:srgbClr val="C9D6EC"/>
                </a:solidFill>
                <a:latin typeface="맑은 고딕"/>
              </a:rPr>
              <a:t>8장의 다섯 단계가 함수 하나.  주석 번호가 8장 번호와 같다</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 name="Rounded Rectangle 6"/>
          <p:cNvSpPr/>
          <p:nvPr/>
        </p:nvSpPr>
        <p:spPr>
          <a:xfrm>
            <a:off x="566928" y="1371600"/>
            <a:ext cx="3383280" cy="1298448"/>
          </a:xfrm>
          <a:prstGeom prst="roundRect">
            <a:avLst>
              <a:gd name="adj" fmla="val 6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731520" y="1486814"/>
            <a:ext cx="3054096" cy="1100937"/>
          </a:xfrm>
          <a:prstGeom prst="rect">
            <a:avLst/>
          </a:prstGeom>
          <a:noFill/>
        </p:spPr>
        <p:txBody>
          <a:bodyPr wrap="square" anchor="t" lIns="0" rIns="0" tIns="0" bIns="0">
            <a:spAutoFit/>
          </a:bodyPr>
          <a:lstStyle/>
          <a:p>
            <a:pPr algn="l">
              <a:spcAft>
                <a:spcPts val="400"/>
              </a:spcAft>
            </a:pPr>
            <a:r>
              <a:rPr sz="1150" b="1">
                <a:solidFill>
                  <a:srgbClr val="C2521C"/>
                </a:solidFill>
                <a:latin typeface="맑은 고딕"/>
              </a:rPr>
              <a:t>① ② 기동 판단 · 자세 갱신</a:t>
            </a:r>
          </a:p>
          <a:p>
            <a:pPr algn="l">
              <a:lnSpc>
                <a:spcPts val="1300"/>
              </a:lnSpc>
            </a:pPr>
            <a:r>
              <a:rPr sz="1000" b="0">
                <a:solidFill>
                  <a:srgbClr val="1A2233"/>
                </a:solidFill>
                <a:latin typeface="맑은 고딕"/>
              </a:rPr>
              <a:t>for 문. 구간 안이면 ω·dt 만큼 그 축을 돌리고 break (먼저 적힌 기동 우선). +1e-6 은 0.1 을 600번 더한 부동소수점 찌꺼기 여유.</a:t>
            </a:r>
          </a:p>
        </p:txBody>
      </p:sp>
      <p:sp>
        <p:nvSpPr>
          <p:cNvPr id="9" name="Rounded Rectangle 8"/>
          <p:cNvSpPr/>
          <p:nvPr/>
        </p:nvSpPr>
        <p:spPr>
          <a:xfrm>
            <a:off x="566928" y="2761488"/>
            <a:ext cx="3383280" cy="969264"/>
          </a:xfrm>
          <a:prstGeom prst="roundRect">
            <a:avLst>
              <a:gd name="adj" fmla="val 6000"/>
            </a:avLst>
          </a:prstGeom>
          <a:solidFill>
            <a:srgbClr val="E6F3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731520" y="2876702"/>
            <a:ext cx="3054096" cy="771753"/>
          </a:xfrm>
          <a:prstGeom prst="rect">
            <a:avLst/>
          </a:prstGeom>
          <a:noFill/>
        </p:spPr>
        <p:txBody>
          <a:bodyPr wrap="square" anchor="t" lIns="0" rIns="0" tIns="0" bIns="0">
            <a:spAutoFit/>
          </a:bodyPr>
          <a:lstStyle/>
          <a:p>
            <a:pPr algn="l">
              <a:spcAft>
                <a:spcPts val="400"/>
              </a:spcAft>
            </a:pPr>
            <a:r>
              <a:rPr sz="1150" b="1">
                <a:solidFill>
                  <a:srgbClr val="2F855A"/>
                </a:solidFill>
                <a:latin typeface="맑은 고딕"/>
              </a:rPr>
              <a:t>③ 속도 변환</a:t>
            </a:r>
          </a:p>
          <a:p>
            <a:pPr algn="l">
              <a:lnSpc>
                <a:spcPts val="1300"/>
              </a:lnSpc>
            </a:pPr>
            <a:r>
              <a:rPr sz="1000" b="0">
                <a:solidFill>
                  <a:srgbClr val="1A2233"/>
                </a:solidFill>
                <a:latin typeface="맑은 고딕"/>
              </a:rPr>
              <a:t>매 스텝 다시 부른다. 자세가 안 바뀌어도 표적의 위경도가 바뀌니까.</a:t>
            </a:r>
          </a:p>
        </p:txBody>
      </p:sp>
      <p:sp>
        <p:nvSpPr>
          <p:cNvPr id="11" name="Rounded Rectangle 10"/>
          <p:cNvSpPr/>
          <p:nvPr/>
        </p:nvSpPr>
        <p:spPr>
          <a:xfrm>
            <a:off x="566928" y="3822191"/>
            <a:ext cx="3383280" cy="969264"/>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731520" y="3937406"/>
            <a:ext cx="3054096" cy="771753"/>
          </a:xfrm>
          <a:prstGeom prst="rect">
            <a:avLst/>
          </a:prstGeom>
          <a:noFill/>
        </p:spPr>
        <p:txBody>
          <a:bodyPr wrap="square" anchor="t" lIns="0" rIns="0" tIns="0" bIns="0">
            <a:spAutoFit/>
          </a:bodyPr>
          <a:lstStyle/>
          <a:p>
            <a:pPr algn="l">
              <a:spcAft>
                <a:spcPts val="400"/>
              </a:spcAft>
            </a:pPr>
            <a:r>
              <a:rPr sz="1150" b="1">
                <a:solidFill>
                  <a:srgbClr val="2B57A6"/>
                </a:solidFill>
                <a:latin typeface="맑은 고딕"/>
              </a:rPr>
              <a:t>④ 위치 적분</a:t>
            </a:r>
          </a:p>
          <a:p>
            <a:pPr algn="l">
              <a:lnSpc>
                <a:spcPts val="1300"/>
              </a:lnSpc>
            </a:pPr>
            <a:r>
              <a:rPr sz="1000" b="0">
                <a:solidFill>
                  <a:srgbClr val="1A2233"/>
                </a:solidFill>
                <a:latin typeface="맑은 고딕"/>
              </a:rPr>
              <a:t>ECEF 세 성분에 v × dt.  이 세 줄이 시간 적분.</a:t>
            </a:r>
          </a:p>
        </p:txBody>
      </p:sp>
      <p:sp>
        <p:nvSpPr>
          <p:cNvPr id="13" name="Rounded Rectangle 12"/>
          <p:cNvSpPr/>
          <p:nvPr/>
        </p:nvSpPr>
        <p:spPr>
          <a:xfrm>
            <a:off x="566928" y="4882896"/>
            <a:ext cx="3383280" cy="969264"/>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731520" y="4998110"/>
            <a:ext cx="3054096" cy="771753"/>
          </a:xfrm>
          <a:prstGeom prst="rect">
            <a:avLst/>
          </a:prstGeom>
          <a:noFill/>
        </p:spPr>
        <p:txBody>
          <a:bodyPr wrap="square" anchor="t" lIns="0" rIns="0" tIns="0" bIns="0">
            <a:spAutoFit/>
          </a:bodyPr>
          <a:lstStyle/>
          <a:p>
            <a:pPr algn="l">
              <a:spcAft>
                <a:spcPts val="400"/>
              </a:spcAft>
            </a:pPr>
            <a:r>
              <a:rPr sz="1150" b="1">
                <a:solidFill>
                  <a:srgbClr val="2B57A6"/>
                </a:solidFill>
                <a:latin typeface="맑은 고딕"/>
              </a:rPr>
              <a:t>⑤ LLA 변환</a:t>
            </a:r>
          </a:p>
          <a:p>
            <a:pPr algn="l">
              <a:lnSpc>
                <a:spcPts val="1300"/>
              </a:lnSpc>
            </a:pPr>
            <a:r>
              <a:rPr sz="1000" b="0">
                <a:solidFill>
                  <a:srgbClr val="1A2233"/>
                </a:solidFill>
                <a:latin typeface="맑은 고딕"/>
              </a:rPr>
              <a:t>기록되고, 다음 스텝 ③ 의 수평면 기준이 된다 (지구 곡률 처리).</a:t>
            </a:r>
          </a:p>
        </p:txBody>
      </p:sp>
      <p:sp>
        <p:nvSpPr>
          <p:cNvPr id="15" name="Rounded Rectangle 14"/>
          <p:cNvSpPr/>
          <p:nvPr/>
        </p:nvSpPr>
        <p:spPr>
          <a:xfrm>
            <a:off x="4133087" y="1371600"/>
            <a:ext cx="7498079" cy="4800600"/>
          </a:xfrm>
          <a:prstGeom prst="roundRect">
            <a:avLst>
              <a:gd name="adj" fmla="val 4000"/>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4297679" y="1481328"/>
            <a:ext cx="7168895" cy="4599432"/>
          </a:xfrm>
          <a:prstGeom prst="rect">
            <a:avLst/>
          </a:prstGeom>
          <a:noFill/>
        </p:spPr>
        <p:txBody>
          <a:bodyPr wrap="square" anchor="t" lIns="0" rIns="0" tIns="0" bIns="0">
            <a:spAutoFit/>
          </a:bodyPr>
          <a:lstStyle/>
          <a:p>
            <a:pPr algn="l">
              <a:lnSpc>
                <a:spcPts val="1060"/>
              </a:lnSpc>
            </a:pPr>
            <a:r>
              <a:rPr sz="840" b="0">
                <a:solidFill>
                  <a:srgbClr val="1A2233"/>
                </a:solidFill>
                <a:latin typeface="Consolas"/>
              </a:rPr>
              <a:t>static VOID f_StepTarget(ST_Target *pstTgt, DOUBLE64 dTime, DOUBLE64 dDt)</a:t>
            </a:r>
          </a:p>
          <a:p>
            <a:pPr algn="l">
              <a:lnSpc>
                <a:spcPts val="1060"/>
              </a:lnSpc>
            </a:pPr>
            <a:r>
              <a:rPr sz="840" b="0">
                <a:solidFill>
                  <a:srgbClr val="1A2233"/>
                </a:solidFill>
                <a:latin typeface="Consolas"/>
              </a:rPr>
              <a:t>{</a:t>
            </a:r>
          </a:p>
          <a:p>
            <a:pPr algn="l">
              <a:lnSpc>
                <a:spcPts val="1060"/>
              </a:lnSpc>
            </a:pPr>
            <a:r>
              <a:rPr sz="840" b="0">
                <a:solidFill>
                  <a:srgbClr val="1A2233"/>
                </a:solidFill>
                <a:latin typeface="Consolas"/>
              </a:rPr>
              <a:t>    INT32 i;</a:t>
            </a:r>
          </a:p>
          <a:p>
            <a:pPr algn="l">
              <a:lnSpc>
                <a:spcPts val="1060"/>
              </a:lnSpc>
            </a:pPr>
            <a:r>
              <a:rPr sz="840" b="0">
                <a:solidFill>
                  <a:srgbClr val="1A2233"/>
                </a:solidFill>
                <a:latin typeface="Consolas"/>
              </a:rPr>
              <a:t/>
            </a:r>
          </a:p>
          <a:p>
            <a:pPr algn="l">
              <a:lnSpc>
                <a:spcPts val="1060"/>
              </a:lnSpc>
            </a:pPr>
            <a:r>
              <a:rPr sz="840" b="0">
                <a:solidFill>
                  <a:srgbClr val="5A6478"/>
                </a:solidFill>
                <a:latin typeface="Consolas"/>
              </a:rPr>
              <a:t>    // 1) 기동 판단, 2) 자세 갱신 : 각속도 ω = n g / V</a:t>
            </a:r>
          </a:p>
          <a:p>
            <a:pPr algn="l">
              <a:lnSpc>
                <a:spcPts val="1060"/>
              </a:lnSpc>
            </a:pPr>
            <a:r>
              <a:rPr sz="840" b="0">
                <a:solidFill>
                  <a:srgbClr val="1A2233"/>
                </a:solidFill>
                <a:latin typeface="Consolas"/>
              </a:rPr>
              <a:t>    for (i = 0; i &lt; pstTgt-&gt;nManeuverCnt; i++)</a:t>
            </a:r>
          </a:p>
          <a:p>
            <a:pPr algn="l">
              <a:lnSpc>
                <a:spcPts val="1060"/>
              </a:lnSpc>
            </a:pPr>
            <a:r>
              <a:rPr sz="840" b="0">
                <a:solidFill>
                  <a:srgbClr val="1A2233"/>
                </a:solidFill>
                <a:latin typeface="Consolas"/>
              </a:rPr>
              <a:t>    {</a:t>
            </a:r>
          </a:p>
          <a:p>
            <a:pPr algn="l">
              <a:lnSpc>
                <a:spcPts val="1060"/>
              </a:lnSpc>
            </a:pPr>
            <a:r>
              <a:rPr sz="840" b="0">
                <a:solidFill>
                  <a:srgbClr val="1A2233"/>
                </a:solidFill>
                <a:latin typeface="Consolas"/>
              </a:rPr>
              <a:t>        const ST_Maneuver *pstMan = &amp;pstTgt-&gt;astManeuver[i];</a:t>
            </a:r>
          </a:p>
          <a:p>
            <a:pPr algn="l">
              <a:lnSpc>
                <a:spcPts val="1060"/>
              </a:lnSpc>
            </a:pPr>
            <a:r>
              <a:rPr sz="840" b="0">
                <a:solidFill>
                  <a:srgbClr val="1A2233"/>
                </a:solidFill>
                <a:latin typeface="Consolas"/>
              </a:rPr>
              <a:t/>
            </a:r>
          </a:p>
          <a:p>
            <a:pPr algn="l">
              <a:lnSpc>
                <a:spcPts val="1060"/>
              </a:lnSpc>
            </a:pPr>
            <a:r>
              <a:rPr sz="840" b="0">
                <a:solidFill>
                  <a:srgbClr val="1A2233"/>
                </a:solidFill>
                <a:latin typeface="Consolas"/>
              </a:rPr>
              <a:t>        if ((dTime + 1e-6 &gt;= pstMan-&gt;dStartTime) &amp;&amp; (dTime + 1e-6 &lt; pstMan-&gt;dEndTime)</a:t>
            </a:r>
          </a:p>
          <a:p>
            <a:pPr algn="l">
              <a:lnSpc>
                <a:spcPts val="1060"/>
              </a:lnSpc>
            </a:pPr>
            <a:r>
              <a:rPr sz="840" b="0">
                <a:solidFill>
                  <a:srgbClr val="1A2233"/>
                </a:solidFill>
                <a:latin typeface="Consolas"/>
              </a:rPr>
              <a:t>            &amp;&amp; (pstTgt-&gt;dVheading &gt; 0.0))</a:t>
            </a:r>
          </a:p>
          <a:p>
            <a:pPr algn="l">
              <a:lnSpc>
                <a:spcPts val="1060"/>
              </a:lnSpc>
            </a:pPr>
            <a:r>
              <a:rPr sz="840" b="0">
                <a:solidFill>
                  <a:srgbClr val="1A2233"/>
                </a:solidFill>
                <a:latin typeface="Consolas"/>
              </a:rPr>
              <a:t>        {</a:t>
            </a:r>
          </a:p>
          <a:p>
            <a:pPr algn="l">
              <a:lnSpc>
                <a:spcPts val="1060"/>
              </a:lnSpc>
            </a:pPr>
            <a:r>
              <a:rPr sz="840" b="0">
                <a:solidFill>
                  <a:srgbClr val="1A2233"/>
                </a:solidFill>
                <a:latin typeface="Consolas"/>
              </a:rPr>
              <a:t>            DOUBLE64 dAng = pstMan-&gt;dGravity * G_FORCE / pstTgt-&gt;dVheading * dDt;</a:t>
            </a:r>
          </a:p>
          <a:p>
            <a:pPr algn="l">
              <a:lnSpc>
                <a:spcPts val="1060"/>
              </a:lnSpc>
            </a:pPr>
            <a:r>
              <a:rPr sz="840" b="0">
                <a:solidFill>
                  <a:srgbClr val="1A2233"/>
                </a:solidFill>
                <a:latin typeface="Consolas"/>
              </a:rPr>
              <a:t/>
            </a:r>
          </a:p>
          <a:p>
            <a:pPr algn="l">
              <a:lnSpc>
                <a:spcPts val="1060"/>
              </a:lnSpc>
            </a:pPr>
            <a:r>
              <a:rPr sz="840" b="0">
                <a:solidFill>
                  <a:srgbClr val="1A2233"/>
                </a:solidFill>
                <a:latin typeface="Consolas"/>
              </a:rPr>
              <a:t>            if (pstMan-&gt;nTurnType == TURN_ROLL)       pstTgt-&gt;stAtt.Roll  += dAng;</a:t>
            </a:r>
          </a:p>
          <a:p>
            <a:pPr algn="l">
              <a:lnSpc>
                <a:spcPts val="1060"/>
              </a:lnSpc>
            </a:pPr>
            <a:r>
              <a:rPr sz="840" b="0">
                <a:solidFill>
                  <a:srgbClr val="1A2233"/>
                </a:solidFill>
                <a:latin typeface="Consolas"/>
              </a:rPr>
              <a:t>            else if (pstMan-&gt;nTurnType == TURN_YAW)   pstTgt-&gt;stAtt.Yaw   += dAng;</a:t>
            </a:r>
          </a:p>
          <a:p>
            <a:pPr algn="l">
              <a:lnSpc>
                <a:spcPts val="1060"/>
              </a:lnSpc>
            </a:pPr>
            <a:r>
              <a:rPr sz="840" b="0">
                <a:solidFill>
                  <a:srgbClr val="1A2233"/>
                </a:solidFill>
                <a:latin typeface="Consolas"/>
              </a:rPr>
              <a:t>            else if (pstMan-&gt;nTurnType == TURN_PITCH) pstTgt-&gt;stAtt.Pitch += dAng;</a:t>
            </a:r>
          </a:p>
          <a:p>
            <a:pPr algn="l">
              <a:lnSpc>
                <a:spcPts val="1060"/>
              </a:lnSpc>
            </a:pPr>
            <a:r>
              <a:rPr sz="840" b="0">
                <a:solidFill>
                  <a:srgbClr val="1A2233"/>
                </a:solidFill>
                <a:latin typeface="Consolas"/>
              </a:rPr>
              <a:t>            break;                                     // 먼저 적힌 기동 하나만</a:t>
            </a:r>
          </a:p>
          <a:p>
            <a:pPr algn="l">
              <a:lnSpc>
                <a:spcPts val="1060"/>
              </a:lnSpc>
            </a:pPr>
            <a:r>
              <a:rPr sz="840" b="0">
                <a:solidFill>
                  <a:srgbClr val="1A2233"/>
                </a:solidFill>
                <a:latin typeface="Consolas"/>
              </a:rPr>
              <a:t>        }</a:t>
            </a:r>
          </a:p>
          <a:p>
            <a:pPr algn="l">
              <a:lnSpc>
                <a:spcPts val="1060"/>
              </a:lnSpc>
            </a:pPr>
            <a:r>
              <a:rPr sz="840" b="0">
                <a:solidFill>
                  <a:srgbClr val="1A2233"/>
                </a:solidFill>
                <a:latin typeface="Consolas"/>
              </a:rPr>
              <a:t>    }</a:t>
            </a:r>
          </a:p>
          <a:p>
            <a:pPr algn="l">
              <a:lnSpc>
                <a:spcPts val="1060"/>
              </a:lnSpc>
            </a:pPr>
            <a:r>
              <a:rPr sz="840" b="0">
                <a:solidFill>
                  <a:srgbClr val="1A2233"/>
                </a:solidFill>
                <a:latin typeface="Consolas"/>
              </a:rPr>
              <a:t/>
            </a:r>
          </a:p>
          <a:p>
            <a:pPr algn="l">
              <a:lnSpc>
                <a:spcPts val="1060"/>
              </a:lnSpc>
            </a:pPr>
            <a:r>
              <a:rPr sz="840" b="0">
                <a:solidFill>
                  <a:srgbClr val="5A6478"/>
                </a:solidFill>
                <a:latin typeface="Consolas"/>
              </a:rPr>
              <a:t>    // 3) 속도 변환 (표적 자신의 현재 위경도 기준 NED)</a:t>
            </a:r>
          </a:p>
          <a:p>
            <a:pPr algn="l">
              <a:lnSpc>
                <a:spcPts val="1060"/>
              </a:lnSpc>
            </a:pPr>
            <a:r>
              <a:rPr sz="840" b="0">
                <a:solidFill>
                  <a:srgbClr val="1A2233"/>
                </a:solidFill>
                <a:latin typeface="Consolas"/>
              </a:rPr>
              <a:t>    pstTgt-&gt;stVel = f_BodyVelToEcef(pstTgt);</a:t>
            </a:r>
          </a:p>
          <a:p>
            <a:pPr algn="l">
              <a:lnSpc>
                <a:spcPts val="1060"/>
              </a:lnSpc>
            </a:pPr>
            <a:r>
              <a:rPr sz="840" b="0">
                <a:solidFill>
                  <a:srgbClr val="1A2233"/>
                </a:solidFill>
                <a:latin typeface="Consolas"/>
              </a:rPr>
              <a:t/>
            </a:r>
          </a:p>
          <a:p>
            <a:pPr algn="l">
              <a:lnSpc>
                <a:spcPts val="1060"/>
              </a:lnSpc>
            </a:pPr>
            <a:r>
              <a:rPr sz="840" b="0">
                <a:solidFill>
                  <a:srgbClr val="5A6478"/>
                </a:solidFill>
                <a:latin typeface="Consolas"/>
              </a:rPr>
              <a:t>    // 4) 위치 적분 (ECEF)</a:t>
            </a:r>
          </a:p>
          <a:p>
            <a:pPr algn="l">
              <a:lnSpc>
                <a:spcPts val="1060"/>
              </a:lnSpc>
            </a:pPr>
            <a:r>
              <a:rPr sz="840" b="0">
                <a:solidFill>
                  <a:srgbClr val="1A2233"/>
                </a:solidFill>
                <a:latin typeface="Consolas"/>
              </a:rPr>
              <a:t>    pstTgt-&gt;stPos.x += pstTgt-&gt;stVel.x * dDt;</a:t>
            </a:r>
          </a:p>
          <a:p>
            <a:pPr algn="l">
              <a:lnSpc>
                <a:spcPts val="1060"/>
              </a:lnSpc>
            </a:pPr>
            <a:r>
              <a:rPr sz="840" b="0">
                <a:solidFill>
                  <a:srgbClr val="1A2233"/>
                </a:solidFill>
                <a:latin typeface="Consolas"/>
              </a:rPr>
              <a:t>    pstTgt-&gt;stPos.y += pstTgt-&gt;stVel.y * dDt;</a:t>
            </a:r>
          </a:p>
          <a:p>
            <a:pPr algn="l">
              <a:lnSpc>
                <a:spcPts val="1060"/>
              </a:lnSpc>
            </a:pPr>
            <a:r>
              <a:rPr sz="840" b="0">
                <a:solidFill>
                  <a:srgbClr val="1A2233"/>
                </a:solidFill>
                <a:latin typeface="Consolas"/>
              </a:rPr>
              <a:t>    pstTgt-&gt;stPos.z += pstTgt-&gt;stVel.z * dDt;</a:t>
            </a:r>
          </a:p>
          <a:p>
            <a:pPr algn="l">
              <a:lnSpc>
                <a:spcPts val="1060"/>
              </a:lnSpc>
            </a:pPr>
            <a:r>
              <a:rPr sz="840" b="0">
                <a:solidFill>
                  <a:srgbClr val="1A2233"/>
                </a:solidFill>
                <a:latin typeface="Consolas"/>
              </a:rPr>
              <a:t/>
            </a:r>
          </a:p>
          <a:p>
            <a:pPr algn="l">
              <a:lnSpc>
                <a:spcPts val="1060"/>
              </a:lnSpc>
            </a:pPr>
            <a:r>
              <a:rPr sz="840" b="0">
                <a:solidFill>
                  <a:srgbClr val="5A6478"/>
                </a:solidFill>
                <a:latin typeface="Consolas"/>
              </a:rPr>
              <a:t>    // 5) LLA 변환. 출력용이자 다음 스텝의 NED 기준</a:t>
            </a:r>
          </a:p>
          <a:p>
            <a:pPr algn="l">
              <a:lnSpc>
                <a:spcPts val="1060"/>
              </a:lnSpc>
            </a:pPr>
            <a:r>
              <a:rPr sz="840" b="0">
                <a:solidFill>
                  <a:srgbClr val="1A2233"/>
                </a:solidFill>
                <a:latin typeface="Consolas"/>
              </a:rPr>
              <a:t>    pstTgt-&gt;stLla = f_Trans_Ecef_To_Lla(pstTgt-&gt;stPos.x, pstTgt-&gt;stPos.y, pstTgt-&gt;stPos.z);</a:t>
            </a:r>
          </a:p>
          <a:p>
            <a:pPr algn="l">
              <a:lnSpc>
                <a:spcPts val="1060"/>
              </a:lnSpc>
            </a:pPr>
            <a:r>
              <a:rPr sz="840" b="0">
                <a:solidFill>
                  <a:srgbClr val="1A2233"/>
                </a:solidFill>
                <a:latin typeface="Consolas"/>
              </a:rPr>
              <a:t>}</a:t>
            </a:r>
          </a:p>
        </p:txBody>
      </p:sp>
      <p:sp>
        <p:nvSpPr>
          <p:cNvPr id="17" name="TextBox 16"/>
          <p:cNvSpPr txBox="1"/>
          <p:nvPr/>
        </p:nvSpPr>
        <p:spPr>
          <a:xfrm>
            <a:off x="566928" y="5815584"/>
            <a:ext cx="3383280" cy="365760"/>
          </a:xfrm>
          <a:prstGeom prst="rect">
            <a:avLst/>
          </a:prstGeom>
          <a:noFill/>
        </p:spPr>
        <p:txBody>
          <a:bodyPr wrap="square" anchor="t" lIns="0" rIns="0" tIns="0" bIns="0">
            <a:spAutoFit/>
          </a:bodyPr>
          <a:lstStyle/>
          <a:p>
            <a:pPr algn="l"/>
            <a:r>
              <a:rPr sz="950" b="0">
                <a:solidFill>
                  <a:srgbClr val="5A6478"/>
                </a:solidFill>
                <a:latin typeface="맑은 고딕"/>
              </a:rPr>
              <a:t>속력 0 인 플랫폼도 같은 함수를 지난다 — 기동 판단에 속력 0 이면 건너뛰는 조건이 있고, 속도가 0 이라 자리만 지킨다.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루프와 화면 — TargetSimUI (MFC)</a:t>
            </a:r>
          </a:p>
          <a:p>
            <a:pPr algn="l">
              <a:lnSpc>
                <a:spcPts val="1400"/>
              </a:lnSpc>
            </a:pPr>
            <a:r>
              <a:rPr sz="1100" b="0">
                <a:solidFill>
                  <a:srgbClr val="C9D6EC"/>
                </a:solidFill>
                <a:latin typeface="맑은 고딕"/>
              </a:rPr>
              <a:t>MFC 는 계산이 없다.  코어를 600번 부르고, 배열에 모으고, 지도에 그리고, 시각을 움직인다</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 name="Rounded Rectangle 6"/>
          <p:cNvSpPr/>
          <p:nvPr/>
        </p:nvSpPr>
        <p:spPr>
          <a:xfrm>
            <a:off x="566928" y="1371600"/>
            <a:ext cx="6309360" cy="2331720"/>
          </a:xfrm>
          <a:prstGeom prst="roundRect">
            <a:avLst>
              <a:gd name="adj" fmla="val 4000"/>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731520" y="1481328"/>
            <a:ext cx="5980176" cy="2130551"/>
          </a:xfrm>
          <a:prstGeom prst="rect">
            <a:avLst/>
          </a:prstGeom>
          <a:noFill/>
        </p:spPr>
        <p:txBody>
          <a:bodyPr wrap="square" anchor="t" lIns="0" rIns="0" tIns="0" bIns="0">
            <a:spAutoFit/>
          </a:bodyPr>
          <a:lstStyle/>
          <a:p>
            <a:pPr algn="l">
              <a:lnSpc>
                <a:spcPts val="1120"/>
              </a:lnSpc>
            </a:pPr>
            <a:r>
              <a:rPr sz="860" b="0">
                <a:solidFill>
                  <a:srgbClr val="5A6478"/>
                </a:solidFill>
                <a:latin typeface="Consolas"/>
              </a:rPr>
              <a:t>// TargetSimUIDlg.cpp  [실행] : 60 초를 0.1 초 간격으로 돌리며 매 스텝 위경도를 모은다</a:t>
            </a:r>
          </a:p>
          <a:p>
            <a:pPr algn="l">
              <a:lnSpc>
                <a:spcPts val="1120"/>
              </a:lnSpc>
            </a:pPr>
            <a:r>
              <a:rPr sz="860" b="0">
                <a:solidFill>
                  <a:srgbClr val="1A2233"/>
                </a:solidFill>
                <a:latin typeface="Consolas"/>
              </a:rPr>
              <a:t>const int nSteps = (int)floor(m_stScn.dSimTime / m_stScn.dDt + 0.5);     // 600</a:t>
            </a:r>
          </a:p>
          <a:p>
            <a:pPr algn="l">
              <a:lnSpc>
                <a:spcPts val="1120"/>
              </a:lnSpc>
            </a:pPr>
            <a:r>
              <a:rPr sz="860" b="0">
                <a:solidFill>
                  <a:srgbClr val="1A2233"/>
                </a:solidFill>
                <a:latin typeface="Consolas"/>
              </a:rPr>
              <a:t/>
            </a:r>
          </a:p>
          <a:p>
            <a:pPr algn="l">
              <a:lnSpc>
                <a:spcPts val="1120"/>
              </a:lnSpc>
            </a:pPr>
            <a:r>
              <a:rPr sz="860" b="0">
                <a:solidFill>
                  <a:srgbClr val="1A2233"/>
                </a:solidFill>
                <a:latin typeface="Consolas"/>
              </a:rPr>
              <a:t>f_StartScenario(&amp;m_stScn);                     // 위경도 → ECEF, 속도 초기화</a:t>
            </a:r>
          </a:p>
          <a:p>
            <a:pPr algn="l">
              <a:lnSpc>
                <a:spcPts val="1120"/>
              </a:lnSpc>
            </a:pPr>
            <a:r>
              <a:rPr sz="860" b="0">
                <a:solidFill>
                  <a:srgbClr val="1A2233"/>
                </a:solidFill>
                <a:latin typeface="Consolas"/>
              </a:rPr>
              <a:t>record();                                      // t = 0</a:t>
            </a:r>
          </a:p>
          <a:p>
            <a:pPr algn="l">
              <a:lnSpc>
                <a:spcPts val="1120"/>
              </a:lnSpc>
            </a:pPr>
            <a:r>
              <a:rPr sz="860" b="0">
                <a:solidFill>
                  <a:srgbClr val="1A2233"/>
                </a:solidFill>
                <a:latin typeface="Consolas"/>
              </a:rPr>
              <a:t>for (int k = 0; k &lt; nSteps; k++)</a:t>
            </a:r>
          </a:p>
          <a:p>
            <a:pPr algn="l">
              <a:lnSpc>
                <a:spcPts val="1120"/>
              </a:lnSpc>
            </a:pPr>
            <a:r>
              <a:rPr sz="860" b="0">
                <a:solidFill>
                  <a:srgbClr val="1A2233"/>
                </a:solidFill>
                <a:latin typeface="Consolas"/>
              </a:rPr>
              <a:t>{</a:t>
            </a:r>
          </a:p>
          <a:p>
            <a:pPr algn="l">
              <a:lnSpc>
                <a:spcPts val="1120"/>
              </a:lnSpc>
            </a:pPr>
            <a:r>
              <a:rPr sz="860" b="0">
                <a:solidFill>
                  <a:srgbClr val="1A2233"/>
                </a:solidFill>
                <a:latin typeface="Consolas"/>
              </a:rPr>
              <a:t>    f_StepScenario(&amp;m_stScn, k * m_stScn.dDt); // 플랫폼 + 표적 전부 한 스텝</a:t>
            </a:r>
          </a:p>
          <a:p>
            <a:pPr algn="l">
              <a:lnSpc>
                <a:spcPts val="1120"/>
              </a:lnSpc>
            </a:pPr>
            <a:r>
              <a:rPr sz="860" b="0">
                <a:solidFill>
                  <a:srgbClr val="1A2233"/>
                </a:solidFill>
                <a:latin typeface="Consolas"/>
              </a:rPr>
              <a:t>    record();                                  // 위도 · 경도 · 고도 · yaw 를 배열에</a:t>
            </a:r>
          </a:p>
          <a:p>
            <a:pPr algn="l">
              <a:lnSpc>
                <a:spcPts val="1120"/>
              </a:lnSpc>
            </a:pPr>
            <a:r>
              <a:rPr sz="860" b="0">
                <a:solidFill>
                  <a:srgbClr val="1A2233"/>
                </a:solidFill>
                <a:latin typeface="Consolas"/>
              </a:rPr>
              <a:t>}</a:t>
            </a:r>
          </a:p>
          <a:p>
            <a:pPr algn="l">
              <a:lnSpc>
                <a:spcPts val="1120"/>
              </a:lnSpc>
            </a:pPr>
            <a:r>
              <a:rPr sz="860" b="0">
                <a:solidFill>
                  <a:srgbClr val="1A2233"/>
                </a:solidFill>
                <a:latin typeface="Consolas"/>
              </a:rPr>
              <a:t>m_map.SetPaths(&amp;m_paths);                      // 지도에 궤적, 슬라이더 0 ~ 600</a:t>
            </a:r>
          </a:p>
        </p:txBody>
      </p:sp>
      <p:sp>
        <p:nvSpPr>
          <p:cNvPr id="9" name="Rounded Rectangle 8"/>
          <p:cNvSpPr/>
          <p:nvPr/>
        </p:nvSpPr>
        <p:spPr>
          <a:xfrm>
            <a:off x="566928" y="3822191"/>
            <a:ext cx="6309360" cy="1481328"/>
          </a:xfrm>
          <a:prstGeom prst="roundRect">
            <a:avLst>
              <a:gd name="adj" fmla="val 4000"/>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731520" y="3931920"/>
            <a:ext cx="5980176" cy="1280160"/>
          </a:xfrm>
          <a:prstGeom prst="rect">
            <a:avLst/>
          </a:prstGeom>
          <a:noFill/>
        </p:spPr>
        <p:txBody>
          <a:bodyPr wrap="square" anchor="t" lIns="0" rIns="0" tIns="0" bIns="0">
            <a:spAutoFit/>
          </a:bodyPr>
          <a:lstStyle/>
          <a:p>
            <a:pPr algn="l">
              <a:lnSpc>
                <a:spcPts val="1120"/>
              </a:lnSpc>
            </a:pPr>
            <a:r>
              <a:rPr sz="860" b="0">
                <a:solidFill>
                  <a:srgbClr val="5A6478"/>
                </a:solidFill>
                <a:latin typeface="Consolas"/>
              </a:rPr>
              <a:t>// MapView.cpp  위도 1 도가 경도 1 도보다 1/cos(위도) 배 길다 → 축 비율</a:t>
            </a:r>
          </a:p>
          <a:p>
            <a:pPr algn="l">
              <a:lnSpc>
                <a:spcPts val="1120"/>
              </a:lnSpc>
            </a:pPr>
            <a:r>
              <a:rPr sz="860" b="0">
                <a:solidFill>
                  <a:srgbClr val="1A2233"/>
                </a:solidFill>
                <a:latin typeface="Consolas"/>
              </a:rPr>
              <a:t>const double dAsp = 1.0 / cos(dLatC * PI / 180.0);</a:t>
            </a:r>
          </a:p>
          <a:p>
            <a:pPr algn="l">
              <a:lnSpc>
                <a:spcPts val="1120"/>
              </a:lnSpc>
            </a:pPr>
            <a:r>
              <a:rPr sz="860" b="0">
                <a:solidFill>
                  <a:srgbClr val="1A2233"/>
                </a:solidFill>
                <a:latin typeface="Consolas"/>
              </a:rPr>
              <a:t>if (dLatSpan * dAsp * dW / dH &gt; dLonSpan) dLonSpan = dLatSpan * dAsp * dW / dH;</a:t>
            </a:r>
          </a:p>
          <a:p>
            <a:pPr algn="l">
              <a:lnSpc>
                <a:spcPts val="1120"/>
              </a:lnSpc>
            </a:pPr>
            <a:r>
              <a:rPr sz="860" b="0">
                <a:solidFill>
                  <a:srgbClr val="1A2233"/>
                </a:solidFill>
                <a:latin typeface="Consolas"/>
              </a:rPr>
              <a:t>else                                      dLatSpan = dLonSpan / dAsp * dH / dW;</a:t>
            </a:r>
          </a:p>
          <a:p>
            <a:pPr algn="l">
              <a:lnSpc>
                <a:spcPts val="1120"/>
              </a:lnSpc>
            </a:pPr>
            <a:r>
              <a:rPr sz="860" b="0">
                <a:solidFill>
                  <a:srgbClr val="1A2233"/>
                </a:solidFill>
                <a:latin typeface="Consolas"/>
              </a:rPr>
              <a:t/>
            </a:r>
          </a:p>
          <a:p>
            <a:pPr algn="l">
              <a:lnSpc>
                <a:spcPts val="1120"/>
              </a:lnSpc>
            </a:pPr>
            <a:r>
              <a:rPr sz="860" b="0">
                <a:solidFill>
                  <a:srgbClr val="5A6478"/>
                </a:solidFill>
                <a:latin typeface="Consolas"/>
              </a:rPr>
              <a:t>// 재생 : 100 ms 타이머 한 틱에 배속(1·2·5·10) 만큼 스텝 → 1 배속 = 실시간</a:t>
            </a:r>
          </a:p>
          <a:p>
            <a:pPr algn="l">
              <a:lnSpc>
                <a:spcPts val="1120"/>
              </a:lnSpc>
            </a:pPr>
            <a:r>
              <a:rPr sz="860" b="0">
                <a:solidFill>
                  <a:srgbClr val="1A2233"/>
                </a:solidFill>
                <a:latin typeface="Consolas"/>
              </a:rPr>
              <a:t>SetTimer(TIMER_PLAY, 100, nullptr);</a:t>
            </a:r>
          </a:p>
        </p:txBody>
      </p:sp>
      <p:pic>
        <p:nvPicPr>
          <p:cNvPr id="11" name="Picture 10" descr="ui_playing.png"/>
          <p:cNvPicPr>
            <a:picLocks noChangeAspect="1"/>
          </p:cNvPicPr>
          <p:nvPr/>
        </p:nvPicPr>
        <p:blipFill>
          <a:blip r:embed="rId2"/>
          <a:stretch>
            <a:fillRect/>
          </a:stretch>
        </p:blipFill>
        <p:spPr>
          <a:xfrm>
            <a:off x="7059168" y="1371600"/>
            <a:ext cx="4572000" cy="2640724"/>
          </a:xfrm>
          <a:prstGeom prst="rect">
            <a:avLst/>
          </a:prstGeom>
        </p:spPr>
      </p:pic>
      <p:sp>
        <p:nvSpPr>
          <p:cNvPr id="12" name="TextBox 11"/>
          <p:cNvSpPr txBox="1"/>
          <p:nvPr/>
        </p:nvSpPr>
        <p:spPr>
          <a:xfrm>
            <a:off x="7059168" y="4041648"/>
            <a:ext cx="4572000" cy="274320"/>
          </a:xfrm>
          <a:prstGeom prst="rect">
            <a:avLst/>
          </a:prstGeom>
          <a:noFill/>
        </p:spPr>
        <p:txBody>
          <a:bodyPr wrap="square" anchor="t" lIns="0" rIns="0" tIns="0" bIns="0">
            <a:spAutoFit/>
          </a:bodyPr>
          <a:lstStyle/>
          <a:p>
            <a:pPr algn="ctr"/>
            <a:r>
              <a:rPr sz="1000" b="0">
                <a:solidFill>
                  <a:srgbClr val="5A6478"/>
                </a:solidFill>
                <a:latin typeface="맑은 고딕"/>
              </a:rPr>
              <a:t>2 배속 재생 중 (t = 6.2 s).  점의 짧은 선이 진행 방향.</a:t>
            </a:r>
          </a:p>
        </p:txBody>
      </p:sp>
      <p:sp>
        <p:nvSpPr>
          <p:cNvPr id="13" name="Rounded Rectangle 12"/>
          <p:cNvSpPr/>
          <p:nvPr/>
        </p:nvSpPr>
        <p:spPr>
          <a:xfrm>
            <a:off x="7059168" y="4389120"/>
            <a:ext cx="4572000" cy="914400"/>
          </a:xfrm>
          <a:prstGeom prst="roundRect">
            <a:avLst>
              <a:gd name="adj" fmla="val 6000"/>
            </a:avLst>
          </a:prstGeom>
          <a:solidFill>
            <a:srgbClr val="E6F3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7260336" y="4529937"/>
            <a:ext cx="4169663" cy="672998"/>
          </a:xfrm>
          <a:prstGeom prst="rect">
            <a:avLst/>
          </a:prstGeom>
          <a:noFill/>
        </p:spPr>
        <p:txBody>
          <a:bodyPr wrap="square" anchor="t" lIns="0" rIns="0" tIns="0" bIns="0">
            <a:spAutoFit/>
          </a:bodyPr>
          <a:lstStyle/>
          <a:p>
            <a:pPr algn="l">
              <a:spcAft>
                <a:spcPts val="400"/>
              </a:spcAft>
            </a:pPr>
            <a:r>
              <a:rPr sz="1200" b="1">
                <a:solidFill>
                  <a:srgbClr val="2F855A"/>
                </a:solidFill>
                <a:latin typeface="맑은 고딕"/>
              </a:rPr>
              <a:t>CSV 저장</a:t>
            </a:r>
          </a:p>
          <a:p>
            <a:pPr algn="l">
              <a:lnSpc>
                <a:spcPts val="1300"/>
              </a:lnSpc>
            </a:pPr>
            <a:r>
              <a:rPr sz="1000" b="0">
                <a:solidFill>
                  <a:srgbClr val="1A2233"/>
                </a:solidFill>
                <a:latin typeface="맑은 고딕"/>
              </a:rPr>
              <a:t>t, id, 위도, 경도, 고도, yaw 를 한 줄씩 — 과제가 요구한 위경도 출력.</a:t>
            </a:r>
          </a:p>
          <a:p>
            <a:pPr algn="l">
              <a:lnSpc>
                <a:spcPts val="1300"/>
              </a:lnSpc>
            </a:pPr>
            <a:r>
              <a:rPr sz="1000" b="0">
                <a:solidFill>
                  <a:srgbClr val="1A2233"/>
                </a:solidFill>
                <a:latin typeface="맑은 고딕"/>
              </a:rPr>
              <a:t>뒤의 파이썬 그림은 이 파일로 그렸다.</a:t>
            </a:r>
          </a:p>
        </p:txBody>
      </p:sp>
      <p:sp>
        <p:nvSpPr>
          <p:cNvPr id="15" name="Rounded Rectangle 14"/>
          <p:cNvSpPr/>
          <p:nvPr/>
        </p:nvSpPr>
        <p:spPr>
          <a:xfrm>
            <a:off x="566928" y="5449824"/>
            <a:ext cx="11064240" cy="713232"/>
          </a:xfrm>
          <a:prstGeom prst="roundRect">
            <a:avLst>
              <a:gd name="adj" fmla="val 8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86384" y="5449824"/>
            <a:ext cx="10625328" cy="713232"/>
          </a:xfrm>
          <a:prstGeom prst="rect">
            <a:avLst/>
          </a:prstGeom>
          <a:noFill/>
        </p:spPr>
        <p:txBody>
          <a:bodyPr wrap="square" anchor="ctr" lIns="0" rIns="0" tIns="0" bIns="0">
            <a:spAutoFit/>
          </a:bodyPr>
          <a:lstStyle/>
          <a:p>
            <a:pPr algn="ctr">
              <a:spcAft>
                <a:spcPts val="300"/>
              </a:spcAft>
            </a:pPr>
            <a:r>
              <a:rPr sz="1200" b="1">
                <a:solidFill>
                  <a:srgbClr val="1A2233"/>
                </a:solidFill>
                <a:latin typeface="맑은 고딕"/>
              </a:rPr>
              <a:t>지도의 축 비율 1/cos(위도) 를 안 맞추면 선회 원이 타원으로 보인다.   재생은 1 배속이 실시간, 10 배속까지.</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algn="l"/>
            <a:r>
              <a:rPr sz="3000" b="1">
                <a:solidFill>
                  <a:srgbClr val="FFFFFF"/>
                </a:solidFill>
                <a:latin typeface="Arial"/>
              </a:rPr>
              <a:t>04</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algn="ctr"/>
            <a:r>
              <a:rPr sz="3000" b="1">
                <a:solidFill>
                  <a:srgbClr val="FFFFFF"/>
                </a:solidFill>
                <a:latin typeface="맑은 고딕"/>
              </a:rPr>
              <a:t>결과</a:t>
            </a:r>
          </a:p>
        </p:txBody>
      </p: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 name="TextBox 6"/>
          <p:cNvSpPr txBox="1"/>
          <p:nvPr/>
        </p:nvSpPr>
        <p:spPr>
          <a:xfrm>
            <a:off x="5074920" y="1481328"/>
            <a:ext cx="548640" cy="457200"/>
          </a:xfrm>
          <a:prstGeom prst="rect">
            <a:avLst/>
          </a:prstGeom>
          <a:noFill/>
        </p:spPr>
        <p:txBody>
          <a:bodyPr wrap="square" anchor="ctr" lIns="0" rIns="0" tIns="0" bIns="0">
            <a:spAutoFit/>
          </a:bodyPr>
          <a:lstStyle/>
          <a:p>
            <a:pPr algn="l"/>
            <a:r>
              <a:rPr sz="1600" b="1">
                <a:solidFill>
                  <a:srgbClr val="2B57A6"/>
                </a:solidFill>
                <a:latin typeface="Arial"/>
              </a:rPr>
              <a:t>1</a:t>
            </a:r>
          </a:p>
        </p:txBody>
      </p:sp>
      <p:sp>
        <p:nvSpPr>
          <p:cNvPr id="8" name="TextBox 7"/>
          <p:cNvSpPr txBox="1"/>
          <p:nvPr/>
        </p:nvSpPr>
        <p:spPr>
          <a:xfrm>
            <a:off x="5760720" y="148132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시뮬레이션 조건</a:t>
            </a:r>
          </a:p>
        </p:txBody>
      </p:sp>
      <p:cxnSp>
        <p:nvCxnSpPr>
          <p:cNvPr id="9" name="Connector 8"/>
          <p:cNvCxnSpPr/>
          <p:nvPr/>
        </p:nvCxnSpPr>
        <p:spPr>
          <a:xfrm>
            <a:off x="5074920" y="20116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74920" y="2121408"/>
            <a:ext cx="548640" cy="457200"/>
          </a:xfrm>
          <a:prstGeom prst="rect">
            <a:avLst/>
          </a:prstGeom>
          <a:noFill/>
        </p:spPr>
        <p:txBody>
          <a:bodyPr wrap="square" anchor="ctr" lIns="0" rIns="0" tIns="0" bIns="0">
            <a:spAutoFit/>
          </a:bodyPr>
          <a:lstStyle/>
          <a:p>
            <a:pPr algn="l"/>
            <a:r>
              <a:rPr sz="1600" b="1">
                <a:solidFill>
                  <a:srgbClr val="2B57A6"/>
                </a:solidFill>
                <a:latin typeface="Arial"/>
              </a:rPr>
              <a:t>2</a:t>
            </a:r>
          </a:p>
        </p:txBody>
      </p:sp>
      <p:sp>
        <p:nvSpPr>
          <p:cNvPr id="11" name="TextBox 10"/>
          <p:cNvSpPr txBox="1"/>
          <p:nvPr/>
        </p:nvSpPr>
        <p:spPr>
          <a:xfrm>
            <a:off x="5760720" y="212140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실행 화면</a:t>
            </a:r>
          </a:p>
        </p:txBody>
      </p:sp>
      <p:cxnSp>
        <p:nvCxnSpPr>
          <p:cNvPr id="12" name="Connector 11"/>
          <p:cNvCxnSpPr/>
          <p:nvPr/>
        </p:nvCxnSpPr>
        <p:spPr>
          <a:xfrm>
            <a:off x="5074920" y="265176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2761488"/>
            <a:ext cx="548640" cy="457200"/>
          </a:xfrm>
          <a:prstGeom prst="rect">
            <a:avLst/>
          </a:prstGeom>
          <a:noFill/>
        </p:spPr>
        <p:txBody>
          <a:bodyPr wrap="square" anchor="ctr" lIns="0" rIns="0" tIns="0" bIns="0">
            <a:spAutoFit/>
          </a:bodyPr>
          <a:lstStyle/>
          <a:p>
            <a:pPr algn="l"/>
            <a:r>
              <a:rPr sz="1600" b="1">
                <a:solidFill>
                  <a:srgbClr val="2B57A6"/>
                </a:solidFill>
                <a:latin typeface="Arial"/>
              </a:rPr>
              <a:t>3</a:t>
            </a:r>
          </a:p>
        </p:txBody>
      </p:sp>
      <p:sp>
        <p:nvSpPr>
          <p:cNvPr id="14" name="TextBox 13"/>
          <p:cNvSpPr txBox="1"/>
          <p:nvPr/>
        </p:nvSpPr>
        <p:spPr>
          <a:xfrm>
            <a:off x="5760720" y="276148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궤적과 고도</a:t>
            </a:r>
          </a:p>
        </p:txBody>
      </p:sp>
      <p:cxnSp>
        <p:nvCxnSpPr>
          <p:cNvPr id="15" name="Connector 14"/>
          <p:cNvCxnSpPr/>
          <p:nvPr/>
        </p:nvCxnSpPr>
        <p:spPr>
          <a:xfrm>
            <a:off x="5074920" y="329184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74920" y="3401568"/>
            <a:ext cx="548640" cy="457200"/>
          </a:xfrm>
          <a:prstGeom prst="rect">
            <a:avLst/>
          </a:prstGeom>
          <a:noFill/>
        </p:spPr>
        <p:txBody>
          <a:bodyPr wrap="square" anchor="ctr" lIns="0" rIns="0" tIns="0" bIns="0">
            <a:spAutoFit/>
          </a:bodyPr>
          <a:lstStyle/>
          <a:p>
            <a:pPr algn="l"/>
            <a:r>
              <a:rPr sz="1600" b="1">
                <a:solidFill>
                  <a:srgbClr val="2B57A6"/>
                </a:solidFill>
                <a:latin typeface="Arial"/>
              </a:rPr>
              <a:t>4</a:t>
            </a:r>
          </a:p>
        </p:txBody>
      </p:sp>
      <p:sp>
        <p:nvSpPr>
          <p:cNvPr id="17" name="TextBox 16"/>
          <p:cNvSpPr txBox="1"/>
          <p:nvPr/>
        </p:nvSpPr>
        <p:spPr>
          <a:xfrm>
            <a:off x="5760720" y="340156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기동 시나리오</a:t>
            </a:r>
          </a:p>
        </p:txBody>
      </p:sp>
      <p:cxnSp>
        <p:nvCxnSpPr>
          <p:cNvPr id="18" name="Connector 17"/>
          <p:cNvCxnSpPr/>
          <p:nvPr/>
        </p:nvCxnSpPr>
        <p:spPr>
          <a:xfrm>
            <a:off x="5074920" y="393192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074920" y="4041648"/>
            <a:ext cx="548640" cy="457200"/>
          </a:xfrm>
          <a:prstGeom prst="rect">
            <a:avLst/>
          </a:prstGeom>
          <a:noFill/>
        </p:spPr>
        <p:txBody>
          <a:bodyPr wrap="square" anchor="ctr" lIns="0" rIns="0" tIns="0" bIns="0">
            <a:spAutoFit/>
          </a:bodyPr>
          <a:lstStyle/>
          <a:p>
            <a:pPr algn="l"/>
            <a:r>
              <a:rPr sz="1600" b="1">
                <a:solidFill>
                  <a:srgbClr val="2B57A6"/>
                </a:solidFill>
                <a:latin typeface="Arial"/>
              </a:rPr>
              <a:t>5</a:t>
            </a:r>
          </a:p>
        </p:txBody>
      </p:sp>
      <p:sp>
        <p:nvSpPr>
          <p:cNvPr id="20" name="TextBox 19"/>
          <p:cNvSpPr txBox="1"/>
          <p:nvPr/>
        </p:nvSpPr>
        <p:spPr>
          <a:xfrm>
            <a:off x="5760720" y="4041648"/>
            <a:ext cx="5943600" cy="457200"/>
          </a:xfrm>
          <a:prstGeom prst="rect">
            <a:avLst/>
          </a:prstGeom>
          <a:noFill/>
        </p:spPr>
        <p:txBody>
          <a:bodyPr wrap="square" anchor="ctr" lIns="0" rIns="0" tIns="0" bIns="0">
            <a:spAutoFit/>
          </a:bodyPr>
          <a:lstStyle/>
          <a:p>
            <a:pPr algn="l"/>
            <a:r>
              <a:rPr sz="1600" b="1">
                <a:solidFill>
                  <a:srgbClr val="1A2233"/>
                </a:solidFill>
                <a:latin typeface="맑은 고딕"/>
              </a:rPr>
              <a:t>검증</a:t>
            </a:r>
          </a:p>
        </p:txBody>
      </p:sp>
      <p:cxnSp>
        <p:nvCxnSpPr>
          <p:cNvPr id="21" name="Connector 20"/>
          <p:cNvCxnSpPr/>
          <p:nvPr/>
        </p:nvCxnSpPr>
        <p:spPr>
          <a:xfrm>
            <a:off x="5074920" y="457200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074920" y="5870448"/>
            <a:ext cx="6629400" cy="365760"/>
          </a:xfrm>
          <a:prstGeom prst="rect">
            <a:avLst/>
          </a:prstGeom>
          <a:noFill/>
        </p:spPr>
        <p:txBody>
          <a:bodyPr wrap="square" anchor="t" lIns="0" rIns="0" tIns="0" bIns="0">
            <a:spAutoFit/>
          </a:bodyPr>
          <a:lstStyle/>
          <a:p>
            <a:pPr algn="l"/>
            <a:r>
              <a:rPr sz="1100" b="0">
                <a:solidFill>
                  <a:srgbClr val="5A6478"/>
                </a:solidFill>
                <a:latin typeface="맑은 고딕"/>
              </a:rPr>
              <a:t>화면의 값 = CSV 의 값 = 파이썬 그림의 값.  같은 코드가 만든 같은 숫자다.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04.  시뮬레이션 조건 — 플랫폼 하나, 표적 둘</a:t>
            </a:r>
          </a:p>
          <a:p>
            <a:pPr algn="l">
              <a:lnSpc>
                <a:spcPts val="1400"/>
              </a:lnSpc>
            </a:pPr>
            <a:r>
              <a:rPr sz="1100" b="0">
                <a:solidFill>
                  <a:srgbClr val="C9D6EC"/>
                </a:solidFill>
                <a:latin typeface="맑은 고딕"/>
              </a:rPr>
              <a:t>대공 표적은 정면으로 접근하고, 대함 표적은 정북 방향을 가로지른다</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fig16_scenario_map.png"/>
          <p:cNvPicPr>
            <a:picLocks noChangeAspect="1"/>
          </p:cNvPicPr>
          <p:nvPr/>
        </p:nvPicPr>
        <p:blipFill>
          <a:blip r:embed="rId2"/>
          <a:stretch>
            <a:fillRect/>
          </a:stretch>
        </p:blipFill>
        <p:spPr>
          <a:xfrm>
            <a:off x="566928" y="1371600"/>
            <a:ext cx="5120640" cy="3931920"/>
          </a:xfrm>
          <a:prstGeom prst="rect">
            <a:avLst/>
          </a:prstGeom>
        </p:spPr>
      </p:pic>
      <p:graphicFrame>
        <p:nvGraphicFramePr>
          <p:cNvPr id="8" name="Table 7"/>
          <p:cNvGraphicFramePr>
            <a:graphicFrameLocks noGrp="1"/>
          </p:cNvGraphicFramePr>
          <p:nvPr/>
        </p:nvGraphicFramePr>
        <p:xfrm>
          <a:off x="5943600" y="1371600"/>
          <a:ext cx="5687568" cy="2414016"/>
        </p:xfrm>
        <a:graphic>
          <a:graphicData uri="http://schemas.openxmlformats.org/drawingml/2006/table">
            <a:tbl>
              <a:tblPr firstRow="1">
                <a:tableStyleId>{5C22544A-7EE6-4342-B048-85BDC9FD1C3A}</a:tableStyleId>
              </a:tblPr>
              <a:tblGrid>
                <a:gridCol w="1426464"/>
                <a:gridCol w="1225296"/>
                <a:gridCol w="1517904"/>
                <a:gridCol w="1517904"/>
              </a:tblGrid>
              <a:tr h="402336">
                <a:tc>
                  <a:txBody>
                    <a:bodyPr wrap="square"/>
                    <a:lstStyle/>
                    <a:p>
                      <a:pPr algn="ctr"/>
                      <a:r>
                        <a:rPr sz="1050" b="1">
                          <a:solidFill>
                            <a:srgbClr val="FFFFFF"/>
                          </a:solidFill>
                          <a:latin typeface="맑은 고딕"/>
                        </a:rPr>
                        <a:t>항목</a:t>
                      </a:r>
                    </a:p>
                  </a:txBody>
                  <a:tcPr marL="91440" marR="91440" marT="36576" marB="36576" anchor="ctr">
                    <a:solidFill>
                      <a:srgbClr val="2B57A6"/>
                    </a:solidFill>
                  </a:tcPr>
                </a:tc>
                <a:tc>
                  <a:txBody>
                    <a:bodyPr wrap="square"/>
                    <a:lstStyle/>
                    <a:p>
                      <a:pPr algn="ctr"/>
                      <a:r>
                        <a:rPr sz="1050" b="1">
                          <a:solidFill>
                            <a:srgbClr val="FFFFFF"/>
                          </a:solidFill>
                          <a:latin typeface="맑은 고딕"/>
                        </a:rPr>
                        <a:t>플랫폼</a:t>
                      </a:r>
                    </a:p>
                  </a:txBody>
                  <a:tcPr marL="91440" marR="91440" marT="36576" marB="36576" anchor="ctr">
                    <a:solidFill>
                      <a:srgbClr val="2B57A6"/>
                    </a:solidFill>
                  </a:tcPr>
                </a:tc>
                <a:tc>
                  <a:txBody>
                    <a:bodyPr wrap="square"/>
                    <a:lstStyle/>
                    <a:p>
                      <a:pPr algn="ctr"/>
                      <a:r>
                        <a:rPr sz="1050" b="1">
                          <a:solidFill>
                            <a:srgbClr val="FFFFFF"/>
                          </a:solidFill>
                          <a:latin typeface="맑은 고딕"/>
                        </a:rPr>
                        <a:t>대함 표적 (1)</a:t>
                      </a:r>
                    </a:p>
                  </a:txBody>
                  <a:tcPr marL="91440" marR="91440" marT="36576" marB="36576" anchor="ctr">
                    <a:solidFill>
                      <a:srgbClr val="2B57A6"/>
                    </a:solidFill>
                  </a:tcPr>
                </a:tc>
                <a:tc>
                  <a:txBody>
                    <a:bodyPr wrap="square"/>
                    <a:lstStyle/>
                    <a:p>
                      <a:pPr algn="ctr"/>
                      <a:r>
                        <a:rPr sz="1050" b="1">
                          <a:solidFill>
                            <a:srgbClr val="FFFFFF"/>
                          </a:solidFill>
                          <a:latin typeface="맑은 고딕"/>
                        </a:rPr>
                        <a:t>대공 표적 (2)</a:t>
                      </a:r>
                    </a:p>
                  </a:txBody>
                  <a:tcPr marL="91440" marR="91440" marT="36576" marB="36576" anchor="ctr">
                    <a:solidFill>
                      <a:srgbClr val="2B57A6"/>
                    </a:solidFill>
                  </a:tcPr>
                </a:tc>
              </a:tr>
              <a:tr h="402336">
                <a:tc>
                  <a:txBody>
                    <a:bodyPr wrap="square"/>
                    <a:lstStyle/>
                    <a:p>
                      <a:pPr algn="l"/>
                      <a:r>
                        <a:rPr sz="1050" b="1">
                          <a:solidFill>
                            <a:srgbClr val="1A2233"/>
                          </a:solidFill>
                          <a:latin typeface="맑은 고딕"/>
                        </a:rPr>
                        <a:t>위도 · 경도</a:t>
                      </a:r>
                    </a:p>
                  </a:txBody>
                  <a:tcPr marL="91440" marR="91440" marT="36576" marB="36576" anchor="ctr">
                    <a:solidFill>
                      <a:srgbClr val="FFFFFF"/>
                    </a:solidFill>
                  </a:tcPr>
                </a:tc>
                <a:tc>
                  <a:txBody>
                    <a:bodyPr wrap="square"/>
                    <a:lstStyle/>
                    <a:p>
                      <a:pPr algn="ctr"/>
                      <a:r>
                        <a:rPr sz="1050" b="0">
                          <a:solidFill>
                            <a:srgbClr val="1A2233"/>
                          </a:solidFill>
                          <a:latin typeface="맑은 고딕"/>
                        </a:rPr>
                        <a:t>32.0°N  126.0°E</a:t>
                      </a:r>
                    </a:p>
                  </a:txBody>
                  <a:tcPr marL="91440" marR="91440" marT="36576" marB="36576" anchor="ctr">
                    <a:solidFill>
                      <a:srgbClr val="FFFFFF"/>
                    </a:solidFill>
                  </a:tcPr>
                </a:tc>
                <a:tc>
                  <a:txBody>
                    <a:bodyPr wrap="square"/>
                    <a:lstStyle/>
                    <a:p>
                      <a:pPr algn="ctr"/>
                      <a:r>
                        <a:rPr sz="1050" b="0">
                          <a:solidFill>
                            <a:srgbClr val="1A2233"/>
                          </a:solidFill>
                          <a:latin typeface="맑은 고딕"/>
                        </a:rPr>
                        <a:t>32.125°N  126.03°E</a:t>
                      </a:r>
                    </a:p>
                  </a:txBody>
                  <a:tcPr marL="91440" marR="91440" marT="36576" marB="36576" anchor="ctr">
                    <a:solidFill>
                      <a:srgbClr val="FFFFFF"/>
                    </a:solidFill>
                  </a:tcPr>
                </a:tc>
                <a:tc>
                  <a:txBody>
                    <a:bodyPr wrap="square"/>
                    <a:lstStyle/>
                    <a:p>
                      <a:pPr algn="ctr"/>
                      <a:r>
                        <a:rPr sz="1050" b="0">
                          <a:solidFill>
                            <a:srgbClr val="1A2233"/>
                          </a:solidFill>
                          <a:latin typeface="맑은 고딕"/>
                        </a:rPr>
                        <a:t>32.12°N  126.0°E</a:t>
                      </a:r>
                    </a:p>
                  </a:txBody>
                  <a:tcPr marL="91440" marR="91440" marT="36576" marB="36576" anchor="ctr">
                    <a:solidFill>
                      <a:srgbClr val="FFFFFF"/>
                    </a:solidFill>
                  </a:tcPr>
                </a:tc>
              </a:tr>
              <a:tr h="402336">
                <a:tc>
                  <a:txBody>
                    <a:bodyPr wrap="square"/>
                    <a:lstStyle/>
                    <a:p>
                      <a:pPr algn="l"/>
                      <a:r>
                        <a:rPr sz="1050" b="1">
                          <a:solidFill>
                            <a:srgbClr val="1A2233"/>
                          </a:solidFill>
                          <a:latin typeface="맑은 고딕"/>
                        </a:rPr>
                        <a:t>고도</a:t>
                      </a:r>
                    </a:p>
                  </a:txBody>
                  <a:tcPr marL="91440" marR="91440" marT="36576" marB="36576" anchor="ctr">
                    <a:solidFill>
                      <a:srgbClr val="F4F6FA"/>
                    </a:solidFill>
                  </a:tcPr>
                </a:tc>
                <a:tc>
                  <a:txBody>
                    <a:bodyPr wrap="square"/>
                    <a:lstStyle/>
                    <a:p>
                      <a:pPr algn="ctr"/>
                      <a:r>
                        <a:rPr sz="1050" b="0">
                          <a:solidFill>
                            <a:srgbClr val="1A2233"/>
                          </a:solidFill>
                          <a:latin typeface="맑은 고딕"/>
                        </a:rPr>
                        <a:t>0 m</a:t>
                      </a:r>
                    </a:p>
                  </a:txBody>
                  <a:tcPr marL="91440" marR="91440" marT="36576" marB="36576" anchor="ctr">
                    <a:solidFill>
                      <a:srgbClr val="F4F6FA"/>
                    </a:solidFill>
                  </a:tcPr>
                </a:tc>
                <a:tc>
                  <a:txBody>
                    <a:bodyPr wrap="square"/>
                    <a:lstStyle/>
                    <a:p>
                      <a:pPr algn="ctr"/>
                      <a:r>
                        <a:rPr sz="1050" b="0">
                          <a:solidFill>
                            <a:srgbClr val="1A2233"/>
                          </a:solidFill>
                          <a:latin typeface="맑은 고딕"/>
                        </a:rPr>
                        <a:t>0 m</a:t>
                      </a:r>
                    </a:p>
                  </a:txBody>
                  <a:tcPr marL="91440" marR="91440" marT="36576" marB="36576" anchor="ctr">
                    <a:solidFill>
                      <a:srgbClr val="F4F6FA"/>
                    </a:solidFill>
                  </a:tcPr>
                </a:tc>
                <a:tc>
                  <a:txBody>
                    <a:bodyPr wrap="square"/>
                    <a:lstStyle/>
                    <a:p>
                      <a:pPr algn="ctr"/>
                      <a:r>
                        <a:rPr sz="1050" b="0">
                          <a:solidFill>
                            <a:srgbClr val="1A2233"/>
                          </a:solidFill>
                          <a:latin typeface="맑은 고딕"/>
                        </a:rPr>
                        <a:t>300 m</a:t>
                      </a:r>
                    </a:p>
                  </a:txBody>
                  <a:tcPr marL="91440" marR="91440" marT="36576" marB="36576" anchor="ctr">
                    <a:solidFill>
                      <a:srgbClr val="F4F6FA"/>
                    </a:solidFill>
                  </a:tcPr>
                </a:tc>
              </a:tr>
              <a:tr h="402336">
                <a:tc>
                  <a:txBody>
                    <a:bodyPr wrap="square"/>
                    <a:lstStyle/>
                    <a:p>
                      <a:pPr algn="l"/>
                      <a:r>
                        <a:rPr sz="1050" b="1">
                          <a:solidFill>
                            <a:srgbClr val="1A2233"/>
                          </a:solidFill>
                          <a:latin typeface="맑은 고딕"/>
                        </a:rPr>
                        <a:t>속력 (동체 앞)</a:t>
                      </a:r>
                    </a:p>
                  </a:txBody>
                  <a:tcPr marL="91440" marR="91440" marT="36576" marB="36576" anchor="ctr">
                    <a:solidFill>
                      <a:srgbClr val="FFFFFF"/>
                    </a:solidFill>
                  </a:tcPr>
                </a:tc>
                <a:tc>
                  <a:txBody>
                    <a:bodyPr wrap="square"/>
                    <a:lstStyle/>
                    <a:p>
                      <a:pPr algn="ctr"/>
                      <a:r>
                        <a:rPr sz="1050" b="0">
                          <a:solidFill>
                            <a:srgbClr val="1A2233"/>
                          </a:solidFill>
                          <a:latin typeface="맑은 고딕"/>
                        </a:rPr>
                        <a:t>0 m/s</a:t>
                      </a:r>
                    </a:p>
                  </a:txBody>
                  <a:tcPr marL="91440" marR="91440" marT="36576" marB="36576" anchor="ctr">
                    <a:solidFill>
                      <a:srgbClr val="FFFFFF"/>
                    </a:solidFill>
                  </a:tcPr>
                </a:tc>
                <a:tc>
                  <a:txBody>
                    <a:bodyPr wrap="square"/>
                    <a:lstStyle/>
                    <a:p>
                      <a:pPr algn="ctr"/>
                      <a:r>
                        <a:rPr sz="1050" b="0">
                          <a:solidFill>
                            <a:srgbClr val="1A2233"/>
                          </a:solidFill>
                          <a:latin typeface="맑은 고딕"/>
                        </a:rPr>
                        <a:t>30 m/s</a:t>
                      </a:r>
                    </a:p>
                  </a:txBody>
                  <a:tcPr marL="91440" marR="91440" marT="36576" marB="36576" anchor="ctr">
                    <a:solidFill>
                      <a:srgbClr val="FFFFFF"/>
                    </a:solidFill>
                  </a:tcPr>
                </a:tc>
                <a:tc>
                  <a:txBody>
                    <a:bodyPr wrap="square"/>
                    <a:lstStyle/>
                    <a:p>
                      <a:pPr algn="ctr"/>
                      <a:r>
                        <a:rPr sz="1050" b="0">
                          <a:solidFill>
                            <a:srgbClr val="1A2233"/>
                          </a:solidFill>
                          <a:latin typeface="맑은 고딕"/>
                        </a:rPr>
                        <a:t>200 m/s</a:t>
                      </a:r>
                    </a:p>
                  </a:txBody>
                  <a:tcPr marL="91440" marR="91440" marT="36576" marB="36576" anchor="ctr">
                    <a:solidFill>
                      <a:srgbClr val="FFFFFF"/>
                    </a:solidFill>
                  </a:tcPr>
                </a:tc>
              </a:tr>
              <a:tr h="402336">
                <a:tc>
                  <a:txBody>
                    <a:bodyPr wrap="square"/>
                    <a:lstStyle/>
                    <a:p>
                      <a:pPr algn="l"/>
                      <a:r>
                        <a:rPr sz="1050" b="1">
                          <a:solidFill>
                            <a:srgbClr val="1A2233"/>
                          </a:solidFill>
                          <a:latin typeface="맑은 고딕"/>
                        </a:rPr>
                        <a:t>자세각 (r · y · p)</a:t>
                      </a:r>
                    </a:p>
                  </a:txBody>
                  <a:tcPr marL="91440" marR="91440" marT="36576" marB="36576" anchor="ctr">
                    <a:solidFill>
                      <a:srgbClr val="F4F6FA"/>
                    </a:solidFill>
                  </a:tcPr>
                </a:tc>
                <a:tc>
                  <a:txBody>
                    <a:bodyPr wrap="square"/>
                    <a:lstStyle/>
                    <a:p>
                      <a:pPr algn="ctr"/>
                      <a:r>
                        <a:rPr sz="1050" b="0">
                          <a:solidFill>
                            <a:srgbClr val="1A2233"/>
                          </a:solidFill>
                          <a:latin typeface="맑은 고딕"/>
                        </a:rPr>
                        <a:t>—</a:t>
                      </a:r>
                    </a:p>
                  </a:txBody>
                  <a:tcPr marL="91440" marR="91440" marT="36576" marB="36576" anchor="ctr">
                    <a:solidFill>
                      <a:srgbClr val="F4F6FA"/>
                    </a:solidFill>
                  </a:tcPr>
                </a:tc>
                <a:tc>
                  <a:txBody>
                    <a:bodyPr wrap="square"/>
                    <a:lstStyle/>
                    <a:p>
                      <a:pPr algn="ctr"/>
                      <a:r>
                        <a:rPr sz="1000" b="0">
                          <a:solidFill>
                            <a:srgbClr val="1A2233"/>
                          </a:solidFill>
                          <a:latin typeface="맑은 고딕"/>
                        </a:rPr>
                        <a:t>0° · 270° · 0° (서쪽)</a:t>
                      </a:r>
                    </a:p>
                  </a:txBody>
                  <a:tcPr marL="91440" marR="91440" marT="36576" marB="36576" anchor="ctr">
                    <a:solidFill>
                      <a:srgbClr val="F4F6FA"/>
                    </a:solidFill>
                  </a:tcPr>
                </a:tc>
                <a:tc>
                  <a:txBody>
                    <a:bodyPr wrap="square"/>
                    <a:lstStyle/>
                    <a:p>
                      <a:pPr algn="ctr"/>
                      <a:r>
                        <a:rPr sz="1000" b="0">
                          <a:solidFill>
                            <a:srgbClr val="1A2233"/>
                          </a:solidFill>
                          <a:latin typeface="맑은 고딕"/>
                        </a:rPr>
                        <a:t>0° · 180° · 0° (남쪽)</a:t>
                      </a:r>
                    </a:p>
                  </a:txBody>
                  <a:tcPr marL="91440" marR="91440" marT="36576" marB="36576" anchor="ctr">
                    <a:solidFill>
                      <a:srgbClr val="F4F6FA"/>
                    </a:solidFill>
                  </a:tcPr>
                </a:tc>
              </a:tr>
              <a:tr h="402336">
                <a:tc>
                  <a:txBody>
                    <a:bodyPr wrap="square"/>
                    <a:lstStyle/>
                    <a:p>
                      <a:pPr algn="l"/>
                      <a:r>
                        <a:rPr sz="1050" b="1">
                          <a:solidFill>
                            <a:srgbClr val="1A2233"/>
                          </a:solidFill>
                          <a:latin typeface="맑은 고딕"/>
                        </a:rPr>
                        <a:t>시간</a:t>
                      </a:r>
                    </a:p>
                  </a:txBody>
                  <a:tcPr marL="91440" marR="91440" marT="36576" marB="36576" anchor="ctr">
                    <a:solidFill>
                      <a:srgbClr val="FFFFFF"/>
                    </a:solidFill>
                  </a:tcPr>
                </a:tc>
                <a:tc gridSpan="3">
                  <a:txBody>
                    <a:bodyPr wrap="square"/>
                    <a:lstStyle/>
                    <a:p>
                      <a:pPr algn="ctr"/>
                      <a:r>
                        <a:rPr sz="1050" b="0">
                          <a:solidFill>
                            <a:srgbClr val="1A2233"/>
                          </a:solidFill>
                          <a:latin typeface="맑은 고딕"/>
                        </a:rPr>
                        <a:t>60 s,  간격 0.1 s  (600 스텝)</a:t>
                      </a:r>
                    </a:p>
                  </a:txBody>
                  <a:tcPr marL="91440" marR="91440" marT="36576" marB="36576" anchor="ctr">
                    <a:solidFill>
                      <a:srgbClr val="FFFFFF"/>
                    </a:solidFill>
                  </a:tcPr>
                </a:tc>
                <a:tc hMerge="1">
                  <a:txBody>
                    <a:bodyPr wrap="square"/>
                    <a:lstStyle/>
                    <a:p>
                      <a:pPr algn="ctr"/>
                      <a:r>
                        <a:rPr sz="1050" b="0">
                          <a:solidFill>
                            <a:srgbClr val="1A2233"/>
                          </a:solidFill>
                          <a:latin typeface="맑은 고딕"/>
                        </a:rPr>
                        <a:t/>
                      </a:r>
                    </a:p>
                  </a:txBody>
                  <a:tcPr marL="91440" marR="91440" marT="36576" marB="36576" anchor="ctr">
                    <a:solidFill>
                      <a:srgbClr val="FFFFFF"/>
                    </a:solidFill>
                  </a:tcPr>
                </a:tc>
                <a:tc hMerge="1">
                  <a:txBody>
                    <a:bodyPr wrap="square"/>
                    <a:lstStyle/>
                    <a:p>
                      <a:pPr algn="ctr"/>
                      <a:r>
                        <a:rPr sz="1050" b="0">
                          <a:solidFill>
                            <a:srgbClr val="1A2233"/>
                          </a:solidFill>
                          <a:latin typeface="맑은 고딕"/>
                        </a:rPr>
                        <a:t/>
                      </a:r>
                    </a:p>
                  </a:txBody>
                  <a:tcPr marL="91440" marR="91440" marT="36576" marB="36576" anchor="ctr">
                    <a:solidFill>
                      <a:srgbClr val="FFFFFF"/>
                    </a:solidFill>
                  </a:tcPr>
                </a:tc>
              </a:tr>
            </a:tbl>
          </a:graphicData>
        </a:graphic>
      </p:graphicFrame>
      <p:sp>
        <p:nvSpPr>
          <p:cNvPr id="9" name="Rounded Rectangle 8"/>
          <p:cNvSpPr/>
          <p:nvPr/>
        </p:nvSpPr>
        <p:spPr>
          <a:xfrm>
            <a:off x="5943600" y="3986784"/>
            <a:ext cx="5687568" cy="1316736"/>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144768" y="4127601"/>
            <a:ext cx="5285231" cy="1075334"/>
          </a:xfrm>
          <a:prstGeom prst="rect">
            <a:avLst/>
          </a:prstGeom>
          <a:noFill/>
        </p:spPr>
        <p:txBody>
          <a:bodyPr wrap="square" anchor="t" lIns="0" rIns="0" tIns="0" bIns="0">
            <a:spAutoFit/>
          </a:bodyPr>
          <a:lstStyle/>
          <a:p>
            <a:pPr algn="l">
              <a:spcAft>
                <a:spcPts val="400"/>
              </a:spcAft>
            </a:pPr>
            <a:r>
              <a:rPr sz="1300" b="1">
                <a:solidFill>
                  <a:srgbClr val="2B57A6"/>
                </a:solidFill>
                <a:latin typeface="맑은 고딕"/>
              </a:rPr>
              <a:t>플랫폼 기준으로 바꿔 보면</a:t>
            </a:r>
          </a:p>
          <a:p>
            <a:pPr algn="l">
              <a:lnSpc>
                <a:spcPts val="1400"/>
              </a:lnSpc>
            </a:pPr>
            <a:r>
              <a:rPr sz="1050" b="0">
                <a:solidFill>
                  <a:srgbClr val="1A2233"/>
                </a:solidFill>
                <a:latin typeface="맑은 고딕"/>
              </a:rPr>
              <a:t>대공 :  정북 13.3 km,  고각 1.2°  →  정확히 우리 쪽으로 온다 (정면 접근)</a:t>
            </a:r>
          </a:p>
          <a:p>
            <a:pPr algn="l">
              <a:lnSpc>
                <a:spcPts val="1400"/>
              </a:lnSpc>
            </a:pPr>
            <a:r>
              <a:rPr sz="1050" b="0">
                <a:solidFill>
                  <a:srgbClr val="1A2233"/>
                </a:solidFill>
                <a:latin typeface="맑은 고딕"/>
              </a:rPr>
              <a:t>대함 :  북 13.9 km · 동 2.8 km,  거리 14.1 km  →  서쪽으로 가며 정북을 가로지른다</a:t>
            </a:r>
          </a:p>
          <a:p>
            <a:pPr algn="l">
              <a:lnSpc>
                <a:spcPts val="1400"/>
              </a:lnSpc>
            </a:pPr>
            <a:r>
              <a:rPr sz="1050" b="0">
                <a:solidFill>
                  <a:srgbClr val="1A2233"/>
                </a:solidFill>
                <a:latin typeface="맑은 고딕"/>
              </a:rPr>
              <a:t>두 표적의 출발점은 550 m · 2.8 km 차이로 아주 가깝다</a:t>
            </a:r>
          </a:p>
        </p:txBody>
      </p:sp>
      <p:sp>
        <p:nvSpPr>
          <p:cNvPr id="11" name="Rounded Rectangle 10"/>
          <p:cNvSpPr/>
          <p:nvPr/>
        </p:nvSpPr>
        <p:spPr>
          <a:xfrm>
            <a:off x="566928" y="5468112"/>
            <a:ext cx="11064240" cy="694944"/>
          </a:xfrm>
          <a:prstGeom prst="roundRect">
            <a:avLst>
              <a:gd name="adj" fmla="val 8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786384" y="5468112"/>
            <a:ext cx="10625328" cy="694944"/>
          </a:xfrm>
          <a:prstGeom prst="rect">
            <a:avLst/>
          </a:prstGeom>
          <a:noFill/>
        </p:spPr>
        <p:txBody>
          <a:bodyPr wrap="square" anchor="ctr" lIns="0" rIns="0" tIns="0" bIns="0">
            <a:spAutoFit/>
          </a:bodyPr>
          <a:lstStyle/>
          <a:p>
            <a:pPr algn="ctr">
              <a:spcAft>
                <a:spcPts val="300"/>
              </a:spcAft>
            </a:pPr>
            <a:r>
              <a:rPr sz="1200" b="1">
                <a:solidFill>
                  <a:srgbClr val="1A2233"/>
                </a:solidFill>
                <a:latin typeface="맑은 고딕"/>
              </a:rPr>
              <a:t>같은 자리에서 출발해 하나는 남쪽으로 빠르게, 하나는 서쪽으로 천천히  —  그림에서 대비가 분명하도록 짜인 조건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04.  실행 화면 — 과제 조건, t = 60 s</a:t>
            </a:r>
          </a:p>
          <a:p>
            <a:pPr algn="l">
              <a:lnSpc>
                <a:spcPts val="1400"/>
              </a:lnSpc>
            </a:pPr>
            <a:r>
              <a:rPr sz="1100" b="0">
                <a:solidFill>
                  <a:srgbClr val="C9D6EC"/>
                </a:solidFill>
                <a:latin typeface="맑은 고딕"/>
              </a:rPr>
              <a:t>왼쪽 위 표적 카드의 입력 칸,  오른쪽 궤적 지도,  왼쪽 아래 슬라이더 시각의 상태 칸</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ui_assignment.png"/>
          <p:cNvPicPr>
            <a:picLocks noChangeAspect="1"/>
          </p:cNvPicPr>
          <p:nvPr/>
        </p:nvPicPr>
        <p:blipFill>
          <a:blip r:embed="rId2"/>
          <a:stretch>
            <a:fillRect/>
          </a:stretch>
        </p:blipFill>
        <p:spPr>
          <a:xfrm>
            <a:off x="566928" y="1371600"/>
            <a:ext cx="6949440" cy="4013900"/>
          </a:xfrm>
          <a:prstGeom prst="rect">
            <a:avLst/>
          </a:prstGeom>
        </p:spPr>
      </p:pic>
      <p:sp>
        <p:nvSpPr>
          <p:cNvPr id="8" name="Rounded Rectangle 7"/>
          <p:cNvSpPr/>
          <p:nvPr/>
        </p:nvSpPr>
        <p:spPr>
          <a:xfrm>
            <a:off x="7717536" y="1371600"/>
            <a:ext cx="3913632" cy="1517904"/>
          </a:xfrm>
          <a:prstGeom prst="roundRect">
            <a:avLst>
              <a:gd name="adj" fmla="val 6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7918704" y="1512417"/>
            <a:ext cx="3511296" cy="1276502"/>
          </a:xfrm>
          <a:prstGeom prst="rect">
            <a:avLst/>
          </a:prstGeom>
          <a:noFill/>
        </p:spPr>
        <p:txBody>
          <a:bodyPr wrap="square" anchor="t" lIns="0" rIns="0" tIns="0" bIns="0">
            <a:spAutoFit/>
          </a:bodyPr>
          <a:lstStyle/>
          <a:p>
            <a:pPr algn="l">
              <a:spcAft>
                <a:spcPts val="400"/>
              </a:spcAft>
            </a:pPr>
            <a:r>
              <a:rPr sz="1200" b="1">
                <a:solidFill>
                  <a:srgbClr val="C2521C"/>
                </a:solidFill>
                <a:latin typeface="맑은 고딕"/>
              </a:rPr>
              <a:t>대공 표적 (주황)</a:t>
            </a:r>
          </a:p>
          <a:p>
            <a:pPr algn="l">
              <a:lnSpc>
                <a:spcPts val="1400"/>
              </a:lnSpc>
            </a:pPr>
            <a:r>
              <a:rPr sz="1050" b="0">
                <a:solidFill>
                  <a:srgbClr val="1A2233"/>
                </a:solidFill>
                <a:latin typeface="맑은 고딕"/>
              </a:rPr>
              <a:t>60 s 뒤  32.011788°N, 126.0°E,  고도 300.02 m</a:t>
            </a:r>
          </a:p>
          <a:p>
            <a:pPr algn="l">
              <a:lnSpc>
                <a:spcPts val="1400"/>
              </a:lnSpc>
            </a:pPr>
            <a:r>
              <a:rPr sz="1050" b="0">
                <a:solidFill>
                  <a:srgbClr val="1A2233"/>
                </a:solidFill>
                <a:latin typeface="맑은 고딕"/>
              </a:rPr>
              <a:t>플랫폼에서 1,341 m 앞,  고각 1.2° → 12.9°</a:t>
            </a:r>
          </a:p>
          <a:p>
            <a:pPr algn="l">
              <a:lnSpc>
                <a:spcPts val="1400"/>
              </a:lnSpc>
            </a:pPr>
            <a:r>
              <a:rPr sz="1050" b="0">
                <a:solidFill>
                  <a:srgbClr val="1A2233"/>
                </a:solidFill>
                <a:latin typeface="맑은 고딕"/>
              </a:rPr>
              <a:t>정남으로 내려와 삼각형 바로 위에서 끝난다</a:t>
            </a:r>
          </a:p>
        </p:txBody>
      </p:sp>
      <p:sp>
        <p:nvSpPr>
          <p:cNvPr id="10" name="Rounded Rectangle 9"/>
          <p:cNvSpPr/>
          <p:nvPr/>
        </p:nvSpPr>
        <p:spPr>
          <a:xfrm>
            <a:off x="7717536" y="2999232"/>
            <a:ext cx="3913632" cy="1188720"/>
          </a:xfrm>
          <a:prstGeom prst="roundRect">
            <a:avLst>
              <a:gd name="adj" fmla="val 6000"/>
            </a:avLst>
          </a:prstGeom>
          <a:solidFill>
            <a:srgbClr val="E6F3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7918704" y="3140049"/>
            <a:ext cx="3511296" cy="947318"/>
          </a:xfrm>
          <a:prstGeom prst="rect">
            <a:avLst/>
          </a:prstGeom>
          <a:noFill/>
        </p:spPr>
        <p:txBody>
          <a:bodyPr wrap="square" anchor="t" lIns="0" rIns="0" tIns="0" bIns="0">
            <a:spAutoFit/>
          </a:bodyPr>
          <a:lstStyle/>
          <a:p>
            <a:pPr algn="l">
              <a:spcAft>
                <a:spcPts val="400"/>
              </a:spcAft>
            </a:pPr>
            <a:r>
              <a:rPr sz="1200" b="1">
                <a:solidFill>
                  <a:srgbClr val="2F855A"/>
                </a:solidFill>
                <a:latin typeface="맑은 고딕"/>
              </a:rPr>
              <a:t>대함 표적 (초록)</a:t>
            </a:r>
          </a:p>
          <a:p>
            <a:pPr algn="l">
              <a:lnSpc>
                <a:spcPts val="1400"/>
              </a:lnSpc>
            </a:pPr>
            <a:r>
              <a:rPr sz="1050" b="0">
                <a:solidFill>
                  <a:srgbClr val="1A2233"/>
                </a:solidFill>
                <a:latin typeface="맑은 고딕"/>
              </a:rPr>
              <a:t>60 s 뒤  32.125°N, 126.010925°E</a:t>
            </a:r>
          </a:p>
          <a:p>
            <a:pPr algn="l">
              <a:lnSpc>
                <a:spcPts val="1400"/>
              </a:lnSpc>
            </a:pPr>
            <a:r>
              <a:rPr sz="1050" b="0">
                <a:solidFill>
                  <a:srgbClr val="1A2233"/>
                </a:solidFill>
                <a:latin typeface="맑은 고딕"/>
              </a:rPr>
              <a:t>서쪽으로 1.8 km.  선 길이 차이 = 속력 차이</a:t>
            </a:r>
          </a:p>
        </p:txBody>
      </p:sp>
      <p:sp>
        <p:nvSpPr>
          <p:cNvPr id="12" name="Rounded Rectangle 11"/>
          <p:cNvSpPr/>
          <p:nvPr/>
        </p:nvSpPr>
        <p:spPr>
          <a:xfrm>
            <a:off x="7717536" y="4297680"/>
            <a:ext cx="3913632" cy="1097280"/>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7918704" y="4438497"/>
            <a:ext cx="3511296" cy="855878"/>
          </a:xfrm>
          <a:prstGeom prst="rect">
            <a:avLst/>
          </a:prstGeom>
          <a:noFill/>
        </p:spPr>
        <p:txBody>
          <a:bodyPr wrap="square" anchor="t" lIns="0" rIns="0" tIns="0" bIns="0">
            <a:spAutoFit/>
          </a:bodyPr>
          <a:lstStyle/>
          <a:p>
            <a:pPr algn="l">
              <a:spcAft>
                <a:spcPts val="400"/>
              </a:spcAft>
            </a:pPr>
            <a:r>
              <a:rPr sz="1200" b="1">
                <a:solidFill>
                  <a:srgbClr val="2B57A6"/>
                </a:solidFill>
                <a:latin typeface="맑은 고딕"/>
              </a:rPr>
              <a:t>플랫폼 (파랑 삼각형)</a:t>
            </a:r>
          </a:p>
          <a:p>
            <a:pPr algn="l">
              <a:lnSpc>
                <a:spcPts val="1400"/>
              </a:lnSpc>
            </a:pPr>
            <a:r>
              <a:rPr sz="1050" b="0">
                <a:solidFill>
                  <a:srgbClr val="1A2233"/>
                </a:solidFill>
                <a:latin typeface="맑은 고딕"/>
              </a:rPr>
              <a:t>32.0°N 126.0°E 에서 자리를 지킨다.</a:t>
            </a:r>
          </a:p>
          <a:p>
            <a:pPr algn="l">
              <a:lnSpc>
                <a:spcPts val="1400"/>
              </a:lnSpc>
            </a:pPr>
            <a:r>
              <a:rPr sz="1050" b="0">
                <a:solidFill>
                  <a:srgbClr val="1A2233"/>
                </a:solidFill>
                <a:latin typeface="맑은 고딕"/>
              </a:rPr>
              <a:t>같은 스텝 함수를 지나지만 속력이 0.</a:t>
            </a:r>
          </a:p>
        </p:txBody>
      </p:sp>
      <p:sp>
        <p:nvSpPr>
          <p:cNvPr id="14" name="Rounded Rectangle 13"/>
          <p:cNvSpPr/>
          <p:nvPr/>
        </p:nvSpPr>
        <p:spPr>
          <a:xfrm>
            <a:off x="566928" y="5541264"/>
            <a:ext cx="11064240" cy="621792"/>
          </a:xfrm>
          <a:prstGeom prst="roundRect">
            <a:avLst>
              <a:gd name="adj" fmla="val 8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786384" y="5541264"/>
            <a:ext cx="10625328" cy="621792"/>
          </a:xfrm>
          <a:prstGeom prst="rect">
            <a:avLst/>
          </a:prstGeom>
          <a:noFill/>
        </p:spPr>
        <p:txBody>
          <a:bodyPr wrap="square" anchor="ctr" lIns="0" rIns="0" tIns="0" bIns="0">
            <a:spAutoFit/>
          </a:bodyPr>
          <a:lstStyle/>
          <a:p>
            <a:pPr algn="ctr">
              <a:spcAft>
                <a:spcPts val="300"/>
              </a:spcAft>
            </a:pPr>
            <a:r>
              <a:rPr sz="1200" b="1">
                <a:solidFill>
                  <a:srgbClr val="1A2233"/>
                </a:solidFill>
                <a:latin typeface="맑은 고딕"/>
              </a:rPr>
              <a:t>상태 칸의 값이 그대로 [CSV 저장] 으로 나간다  —  과제 요구 "시뮬레이션 결과를 LLA 로 출력"</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04.  궤적과 고도 — CSV 를 파이썬으로</a:t>
            </a:r>
          </a:p>
          <a:p>
            <a:pPr algn="l">
              <a:lnSpc>
                <a:spcPts val="1400"/>
              </a:lnSpc>
            </a:pPr>
            <a:r>
              <a:rPr sz="1100" b="0">
                <a:solidFill>
                  <a:srgbClr val="C9D6EC"/>
                </a:solidFill>
                <a:latin typeface="맑은 고딕"/>
              </a:rPr>
              <a:t>평면 궤적은 축 비율을 맞춰서,  고도는 평평해야 한다 (지구 곡률 처리의 증거)</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assignment_map.png"/>
          <p:cNvPicPr>
            <a:picLocks noChangeAspect="1"/>
          </p:cNvPicPr>
          <p:nvPr/>
        </p:nvPicPr>
        <p:blipFill>
          <a:blip r:embed="rId2"/>
          <a:stretch>
            <a:fillRect/>
          </a:stretch>
        </p:blipFill>
        <p:spPr>
          <a:xfrm>
            <a:off x="566928" y="1371600"/>
            <a:ext cx="4381499" cy="4206240"/>
          </a:xfrm>
          <a:prstGeom prst="rect">
            <a:avLst/>
          </a:prstGeom>
        </p:spPr>
      </p:pic>
      <p:pic>
        <p:nvPicPr>
          <p:cNvPr id="8" name="Picture 7" descr="assignment_alt.png"/>
          <p:cNvPicPr>
            <a:picLocks noChangeAspect="1"/>
          </p:cNvPicPr>
          <p:nvPr/>
        </p:nvPicPr>
        <p:blipFill>
          <a:blip r:embed="rId3"/>
          <a:stretch>
            <a:fillRect/>
          </a:stretch>
        </p:blipFill>
        <p:spPr>
          <a:xfrm>
            <a:off x="5303520" y="1371600"/>
            <a:ext cx="6327648" cy="3615798"/>
          </a:xfrm>
          <a:prstGeom prst="rect">
            <a:avLst/>
          </a:prstGeom>
        </p:spPr>
      </p:pic>
      <p:sp>
        <p:nvSpPr>
          <p:cNvPr id="9" name="Rounded Rectangle 8"/>
          <p:cNvSpPr/>
          <p:nvPr/>
        </p:nvSpPr>
        <p:spPr>
          <a:xfrm>
            <a:off x="5303520" y="5047488"/>
            <a:ext cx="6327648" cy="603504"/>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68112" y="5162702"/>
            <a:ext cx="5998464" cy="405993"/>
          </a:xfrm>
          <a:prstGeom prst="rect">
            <a:avLst/>
          </a:prstGeom>
          <a:noFill/>
        </p:spPr>
        <p:txBody>
          <a:bodyPr wrap="square" anchor="t" lIns="0" rIns="0" tIns="0" bIns="0">
            <a:spAutoFit/>
          </a:bodyPr>
          <a:lstStyle/>
          <a:p>
            <a:pPr algn="l">
              <a:spcAft>
                <a:spcPts val="200"/>
              </a:spcAft>
            </a:pPr>
            <a:r>
              <a:rPr sz="1150" b="1">
                <a:solidFill>
                  <a:srgbClr val="2B57A6"/>
                </a:solidFill>
                <a:latin typeface="맑은 고딕"/>
              </a:rPr>
              <a:t>60 s 뒤 고도 300.019 m — 2 cm 의 정체</a:t>
            </a:r>
          </a:p>
          <a:p>
            <a:pPr algn="l">
              <a:lnSpc>
                <a:spcPts val="1300"/>
              </a:lnSpc>
            </a:pPr>
            <a:r>
              <a:rPr sz="1000" b="0">
                <a:solidFill>
                  <a:srgbClr val="1A2233"/>
                </a:solidFill>
                <a:latin typeface="맑은 고딕"/>
              </a:rPr>
              <a:t>한 스텝에 20 m 접선으로 가서 20² / 2R 씩 뜨고, 600번이면 1.9 cm.  이론값과 같다.</a:t>
            </a:r>
          </a:p>
        </p:txBody>
      </p:sp>
      <p:sp>
        <p:nvSpPr>
          <p:cNvPr id="11" name="Rounded Rectangle 10"/>
          <p:cNvSpPr/>
          <p:nvPr/>
        </p:nvSpPr>
        <p:spPr>
          <a:xfrm>
            <a:off x="566928" y="5742432"/>
            <a:ext cx="11064240" cy="438912"/>
          </a:xfrm>
          <a:prstGeom prst="roundRect">
            <a:avLst>
              <a:gd name="adj" fmla="val 8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786384" y="5742432"/>
            <a:ext cx="10625328" cy="438912"/>
          </a:xfrm>
          <a:prstGeom prst="rect">
            <a:avLst/>
          </a:prstGeom>
          <a:noFill/>
        </p:spPr>
        <p:txBody>
          <a:bodyPr wrap="square" anchor="ctr" lIns="0" rIns="0" tIns="0" bIns="0">
            <a:spAutoFit/>
          </a:bodyPr>
          <a:lstStyle/>
          <a:p>
            <a:pPr algn="ctr">
              <a:spcAft>
                <a:spcPts val="300"/>
              </a:spcAft>
            </a:pPr>
            <a:r>
              <a:rPr sz="1150" b="1">
                <a:solidFill>
                  <a:srgbClr val="C2521C"/>
                </a:solidFill>
                <a:latin typeface="맑은 고딕"/>
              </a:rPr>
              <a:t>매 스텝 수평면을 다시 잡지 않았다면 이 선이 300 → 311 m 로 기울었을 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04.  기동 시나리오 — 3 g 우선회, 기수 들기, 좌선회</a:t>
            </a:r>
          </a:p>
          <a:p>
            <a:pPr algn="l">
              <a:lnSpc>
                <a:spcPts val="1400"/>
              </a:lnSpc>
            </a:pPr>
            <a:r>
              <a:rPr sz="1100" b="0">
                <a:solidFill>
                  <a:srgbClr val="C9D6EC"/>
                </a:solidFill>
                <a:latin typeface="맑은 고딕"/>
              </a:rPr>
              <a:t>체크박스를 켜고 실행.  왼쪽은 t = 30 s 화면,  오른쪽은 CSV 로 그린 궤적</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7" name="Picture 6" descr="ui_maneuver_t30.png"/>
          <p:cNvPicPr>
            <a:picLocks noChangeAspect="1"/>
          </p:cNvPicPr>
          <p:nvPr/>
        </p:nvPicPr>
        <p:blipFill>
          <a:blip r:embed="rId2"/>
          <a:stretch>
            <a:fillRect/>
          </a:stretch>
        </p:blipFill>
        <p:spPr>
          <a:xfrm>
            <a:off x="566928" y="1371600"/>
            <a:ext cx="6035040" cy="3485755"/>
          </a:xfrm>
          <a:prstGeom prst="rect">
            <a:avLst/>
          </a:prstGeom>
        </p:spPr>
      </p:pic>
      <p:pic>
        <p:nvPicPr>
          <p:cNvPr id="8" name="Picture 7" descr="maneuver_map.png"/>
          <p:cNvPicPr>
            <a:picLocks noChangeAspect="1"/>
          </p:cNvPicPr>
          <p:nvPr/>
        </p:nvPicPr>
        <p:blipFill>
          <a:blip r:embed="rId3"/>
          <a:stretch>
            <a:fillRect/>
          </a:stretch>
        </p:blipFill>
        <p:spPr>
          <a:xfrm>
            <a:off x="7040880" y="1371600"/>
            <a:ext cx="3619500" cy="3474720"/>
          </a:xfrm>
          <a:prstGeom prst="rect">
            <a:avLst/>
          </a:prstGeom>
        </p:spPr>
      </p:pic>
      <p:sp>
        <p:nvSpPr>
          <p:cNvPr id="9" name="Rounded Rectangle 8"/>
          <p:cNvSpPr/>
          <p:nvPr/>
        </p:nvSpPr>
        <p:spPr>
          <a:xfrm>
            <a:off x="566928" y="4974336"/>
            <a:ext cx="3566160" cy="1188720"/>
          </a:xfrm>
          <a:prstGeom prst="roundRect">
            <a:avLst>
              <a:gd name="adj" fmla="val 6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768096" y="5115153"/>
            <a:ext cx="3163824" cy="947318"/>
          </a:xfrm>
          <a:prstGeom prst="rect">
            <a:avLst/>
          </a:prstGeom>
          <a:noFill/>
        </p:spPr>
        <p:txBody>
          <a:bodyPr wrap="square" anchor="t" lIns="0" rIns="0" tIns="0" bIns="0">
            <a:spAutoFit/>
          </a:bodyPr>
          <a:lstStyle/>
          <a:p>
            <a:pPr algn="l">
              <a:spcAft>
                <a:spcPts val="400"/>
              </a:spcAft>
            </a:pPr>
            <a:r>
              <a:rPr sz="1200" b="1">
                <a:solidFill>
                  <a:srgbClr val="C2521C"/>
                </a:solidFill>
                <a:latin typeface="맑은 고딕"/>
              </a:rPr>
              <a:t>대공  3 g 우선회 (10~20 s)</a:t>
            </a:r>
          </a:p>
          <a:p>
            <a:pPr algn="l">
              <a:lnSpc>
                <a:spcPts val="1400"/>
              </a:lnSpc>
            </a:pPr>
            <a:r>
              <a:rPr sz="1050" b="0">
                <a:solidFill>
                  <a:srgbClr val="1A2233"/>
                </a:solidFill>
                <a:latin typeface="맑은 고딕"/>
              </a:rPr>
              <a:t>10초에 84.3° 돌아 서쪽으로.</a:t>
            </a:r>
          </a:p>
          <a:p>
            <a:pPr algn="l">
              <a:lnSpc>
                <a:spcPts val="1400"/>
              </a:lnSpc>
            </a:pPr>
            <a:r>
              <a:rPr sz="1050" b="0">
                <a:solidFill>
                  <a:srgbClr val="1A2233"/>
                </a:solidFill>
                <a:latin typeface="맑은 고딕"/>
              </a:rPr>
              <a:t>궤적 세 점 외접원 1,359.5 m  vs  V²/(n·g) 1,359.6 m</a:t>
            </a:r>
          </a:p>
        </p:txBody>
      </p:sp>
      <p:sp>
        <p:nvSpPr>
          <p:cNvPr id="11" name="Rounded Rectangle 10"/>
          <p:cNvSpPr/>
          <p:nvPr/>
        </p:nvSpPr>
        <p:spPr>
          <a:xfrm>
            <a:off x="4315968" y="4974336"/>
            <a:ext cx="3566160" cy="1188720"/>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517136" y="5115153"/>
            <a:ext cx="3163824" cy="947318"/>
          </a:xfrm>
          <a:prstGeom prst="rect">
            <a:avLst/>
          </a:prstGeom>
          <a:noFill/>
        </p:spPr>
        <p:txBody>
          <a:bodyPr wrap="square" anchor="t" lIns="0" rIns="0" tIns="0" bIns="0">
            <a:spAutoFit/>
          </a:bodyPr>
          <a:lstStyle/>
          <a:p>
            <a:pPr algn="l">
              <a:spcAft>
                <a:spcPts val="400"/>
              </a:spcAft>
            </a:pPr>
            <a:r>
              <a:rPr sz="1200" b="1">
                <a:solidFill>
                  <a:srgbClr val="2B57A6"/>
                </a:solidFill>
                <a:latin typeface="맑은 고딕"/>
              </a:rPr>
              <a:t>대공  2 g 기수 들기 (35~40 s)</a:t>
            </a:r>
          </a:p>
          <a:p>
            <a:pPr algn="l">
              <a:lnSpc>
                <a:spcPts val="1400"/>
              </a:lnSpc>
            </a:pPr>
            <a:r>
              <a:rPr sz="1050" b="0">
                <a:solidFill>
                  <a:srgbClr val="1A2233"/>
                </a:solidFill>
                <a:latin typeface="맑은 고딕"/>
              </a:rPr>
              <a:t>5초에 28.1° 올라간 뒤 그 각으로 20초.</a:t>
            </a:r>
          </a:p>
          <a:p>
            <a:pPr algn="l">
              <a:lnSpc>
                <a:spcPts val="1400"/>
              </a:lnSpc>
            </a:pPr>
            <a:r>
              <a:rPr sz="1050" b="0">
                <a:solidFill>
                  <a:srgbClr val="1A2233"/>
                </a:solidFill>
                <a:latin typeface="맑은 고딕"/>
              </a:rPr>
              <a:t>60 s 에 고도 2,428.7 m</a:t>
            </a:r>
          </a:p>
        </p:txBody>
      </p:sp>
      <p:sp>
        <p:nvSpPr>
          <p:cNvPr id="13" name="Rounded Rectangle 12"/>
          <p:cNvSpPr/>
          <p:nvPr/>
        </p:nvSpPr>
        <p:spPr>
          <a:xfrm>
            <a:off x="8065007" y="4974336"/>
            <a:ext cx="3566160" cy="1188720"/>
          </a:xfrm>
          <a:prstGeom prst="roundRect">
            <a:avLst>
              <a:gd name="adj" fmla="val 6000"/>
            </a:avLst>
          </a:prstGeom>
          <a:solidFill>
            <a:srgbClr val="E6F3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266175" y="5115153"/>
            <a:ext cx="3163824" cy="947318"/>
          </a:xfrm>
          <a:prstGeom prst="rect">
            <a:avLst/>
          </a:prstGeom>
          <a:noFill/>
        </p:spPr>
        <p:txBody>
          <a:bodyPr wrap="square" anchor="t" lIns="0" rIns="0" tIns="0" bIns="0">
            <a:spAutoFit/>
          </a:bodyPr>
          <a:lstStyle/>
          <a:p>
            <a:pPr algn="l">
              <a:spcAft>
                <a:spcPts val="400"/>
              </a:spcAft>
            </a:pPr>
            <a:r>
              <a:rPr sz="1200" b="1">
                <a:solidFill>
                  <a:srgbClr val="2F855A"/>
                </a:solidFill>
                <a:latin typeface="맑은 고딕"/>
              </a:rPr>
              <a:t>대함  −0.1 g 좌선회 (20~50 s)</a:t>
            </a:r>
          </a:p>
          <a:p>
            <a:pPr algn="l">
              <a:lnSpc>
                <a:spcPts val="1400"/>
              </a:lnSpc>
            </a:pPr>
            <a:r>
              <a:rPr sz="1050" b="0">
                <a:solidFill>
                  <a:srgbClr val="1A2233"/>
                </a:solidFill>
                <a:latin typeface="맑은 고딕"/>
              </a:rPr>
              <a:t>30초에 −56.2°, 남서쪽으로.</a:t>
            </a:r>
          </a:p>
          <a:p>
            <a:pPr algn="l">
              <a:lnSpc>
                <a:spcPts val="1400"/>
              </a:lnSpc>
            </a:pPr>
            <a:r>
              <a:rPr sz="1050" b="0">
                <a:solidFill>
                  <a:srgbClr val="1A2233"/>
                </a:solidFill>
                <a:latin typeface="맑은 고딕"/>
              </a:rPr>
              <a:t>반경 917.8 m  vs  이론 917.7 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04.  검증 — 다섯 가지로 확인</a:t>
            </a:r>
          </a:p>
          <a:p>
            <a:pPr algn="l">
              <a:lnSpc>
                <a:spcPts val="1400"/>
              </a:lnSpc>
            </a:pPr>
            <a:r>
              <a:rPr sz="1100" b="0">
                <a:solidFill>
                  <a:srgbClr val="C9D6EC"/>
                </a:solidFill>
                <a:latin typeface="맑은 고딕"/>
              </a:rPr>
              <a:t>좌표변환은 틀려도 그럴듯한 값이 나온다 (과제 2의 교훈).  저장한 CSV 로 계산했다</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graphicFrame>
        <p:nvGraphicFramePr>
          <p:cNvPr id="7" name="Table 6"/>
          <p:cNvGraphicFramePr>
            <a:graphicFrameLocks noGrp="1"/>
          </p:cNvGraphicFramePr>
          <p:nvPr/>
        </p:nvGraphicFramePr>
        <p:xfrm>
          <a:off x="566928" y="1371600"/>
          <a:ext cx="11064240" cy="2852928"/>
        </p:xfrm>
        <a:graphic>
          <a:graphicData uri="http://schemas.openxmlformats.org/drawingml/2006/table">
            <a:tbl>
              <a:tblPr firstRow="1">
                <a:tableStyleId>{5C22544A-7EE6-4342-B048-85BDC9FD1C3A}</a:tableStyleId>
              </a:tblPr>
              <a:tblGrid>
                <a:gridCol w="1554480"/>
                <a:gridCol w="3840480"/>
                <a:gridCol w="2103120"/>
                <a:gridCol w="3566160"/>
              </a:tblGrid>
              <a:tr h="475488">
                <a:tc>
                  <a:txBody>
                    <a:bodyPr wrap="square"/>
                    <a:lstStyle/>
                    <a:p>
                      <a:pPr algn="ctr"/>
                      <a:r>
                        <a:rPr sz="1100" b="1">
                          <a:solidFill>
                            <a:srgbClr val="FFFFFF"/>
                          </a:solidFill>
                          <a:latin typeface="맑은 고딕"/>
                        </a:rPr>
                        <a:t>항목</a:t>
                      </a:r>
                    </a:p>
                  </a:txBody>
                  <a:tcPr marL="91440" marR="91440" marT="36576" marB="36576" anchor="ctr">
                    <a:solidFill>
                      <a:srgbClr val="2B57A6"/>
                    </a:solidFill>
                  </a:tcPr>
                </a:tc>
                <a:tc>
                  <a:txBody>
                    <a:bodyPr wrap="square"/>
                    <a:lstStyle/>
                    <a:p>
                      <a:pPr algn="ctr"/>
                      <a:r>
                        <a:rPr sz="1100" b="1">
                          <a:solidFill>
                            <a:srgbClr val="FFFFFF"/>
                          </a:solidFill>
                          <a:latin typeface="맑은 고딕"/>
                        </a:rPr>
                        <a:t>어떻게 확인하나</a:t>
                      </a:r>
                    </a:p>
                  </a:txBody>
                  <a:tcPr marL="91440" marR="91440" marT="36576" marB="36576" anchor="ctr">
                    <a:solidFill>
                      <a:srgbClr val="2B57A6"/>
                    </a:solidFill>
                  </a:tcPr>
                </a:tc>
                <a:tc>
                  <a:txBody>
                    <a:bodyPr wrap="square"/>
                    <a:lstStyle/>
                    <a:p>
                      <a:pPr algn="ctr"/>
                      <a:r>
                        <a:rPr sz="1100" b="1">
                          <a:solidFill>
                            <a:srgbClr val="FFFFFF"/>
                          </a:solidFill>
                          <a:latin typeface="맑은 고딕"/>
                        </a:rPr>
                        <a:t>기대값</a:t>
                      </a:r>
                    </a:p>
                  </a:txBody>
                  <a:tcPr marL="91440" marR="91440" marT="36576" marB="36576" anchor="ctr">
                    <a:solidFill>
                      <a:srgbClr val="2B57A6"/>
                    </a:solidFill>
                  </a:tcPr>
                </a:tc>
                <a:tc>
                  <a:txBody>
                    <a:bodyPr wrap="square"/>
                    <a:lstStyle/>
                    <a:p>
                      <a:pPr algn="ctr"/>
                      <a:r>
                        <a:rPr sz="1100" b="1">
                          <a:solidFill>
                            <a:srgbClr val="FFFFFF"/>
                          </a:solidFill>
                          <a:latin typeface="맑은 고딕"/>
                        </a:rPr>
                        <a:t>결과</a:t>
                      </a:r>
                    </a:p>
                  </a:txBody>
                  <a:tcPr marL="91440" marR="91440" marT="36576" marB="36576" anchor="ctr">
                    <a:solidFill>
                      <a:srgbClr val="2B57A6"/>
                    </a:solidFill>
                  </a:tcPr>
                </a:tc>
              </a:tr>
              <a:tr h="475488">
                <a:tc>
                  <a:txBody>
                    <a:bodyPr wrap="square"/>
                    <a:lstStyle/>
                    <a:p>
                      <a:pPr algn="l"/>
                      <a:r>
                        <a:rPr sz="1100" b="1">
                          <a:solidFill>
                            <a:srgbClr val="1A2233"/>
                          </a:solidFill>
                          <a:latin typeface="맑은 고딕"/>
                        </a:rPr>
                        <a:t>① 이동 거리</a:t>
                      </a:r>
                    </a:p>
                  </a:txBody>
                  <a:tcPr marL="91440" marR="91440" marT="36576" marB="36576" anchor="ctr">
                    <a:solidFill>
                      <a:srgbClr val="FFFFFF"/>
                    </a:solidFill>
                  </a:tcPr>
                </a:tc>
                <a:tc>
                  <a:txBody>
                    <a:bodyPr wrap="square"/>
                    <a:lstStyle/>
                    <a:p>
                      <a:pPr algn="l"/>
                      <a:r>
                        <a:rPr sz="1100" b="0">
                          <a:solidFill>
                            <a:srgbClr val="1A2233"/>
                          </a:solidFill>
                          <a:latin typeface="맑은 고딕"/>
                        </a:rPr>
                        <a:t>ECEF 위치 차이의 합  vs  속력 × 시간</a:t>
                      </a:r>
                    </a:p>
                  </a:txBody>
                  <a:tcPr marL="91440" marR="91440" marT="36576" marB="36576" anchor="ctr">
                    <a:solidFill>
                      <a:srgbClr val="FFFFFF"/>
                    </a:solidFill>
                  </a:tcPr>
                </a:tc>
                <a:tc>
                  <a:txBody>
                    <a:bodyPr wrap="square"/>
                    <a:lstStyle/>
                    <a:p>
                      <a:pPr algn="ctr"/>
                      <a:r>
                        <a:rPr sz="1100" b="0">
                          <a:solidFill>
                            <a:srgbClr val="1A2233"/>
                          </a:solidFill>
                          <a:latin typeface="맑은 고딕"/>
                        </a:rPr>
                        <a:t>200 × 60 = 12,000 m</a:t>
                      </a:r>
                    </a:p>
                  </a:txBody>
                  <a:tcPr marL="91440" marR="91440" marT="36576" marB="36576" anchor="ctr">
                    <a:solidFill>
                      <a:srgbClr val="FFFFFF"/>
                    </a:solidFill>
                  </a:tcPr>
                </a:tc>
                <a:tc>
                  <a:txBody>
                    <a:bodyPr wrap="square"/>
                    <a:lstStyle/>
                    <a:p>
                      <a:pPr algn="ctr"/>
                      <a:r>
                        <a:rPr sz="1100" b="1">
                          <a:solidFill>
                            <a:srgbClr val="2F855A"/>
                          </a:solidFill>
                          <a:latin typeface="맑은 고딕"/>
                        </a:rPr>
                        <a:t>12,000.000 m  (차 1e-9 m)</a:t>
                      </a:r>
                    </a:p>
                  </a:txBody>
                  <a:tcPr marL="91440" marR="91440" marT="36576" marB="36576" anchor="ctr">
                    <a:solidFill>
                      <a:srgbClr val="FFFFFF"/>
                    </a:solidFill>
                  </a:tcPr>
                </a:tc>
              </a:tr>
              <a:tr h="475488">
                <a:tc>
                  <a:txBody>
                    <a:bodyPr wrap="square"/>
                    <a:lstStyle/>
                    <a:p>
                      <a:pPr algn="l"/>
                      <a:r>
                        <a:rPr sz="1100" b="1">
                          <a:solidFill>
                            <a:srgbClr val="1A2233"/>
                          </a:solidFill>
                          <a:latin typeface="맑은 고딕"/>
                        </a:rPr>
                        <a:t>② 속력 보존</a:t>
                      </a:r>
                    </a:p>
                  </a:txBody>
                  <a:tcPr marL="91440" marR="91440" marT="36576" marB="36576" anchor="ctr">
                    <a:solidFill>
                      <a:srgbClr val="F4F6FA"/>
                    </a:solidFill>
                  </a:tcPr>
                </a:tc>
                <a:tc>
                  <a:txBody>
                    <a:bodyPr wrap="square"/>
                    <a:lstStyle/>
                    <a:p>
                      <a:pPr algn="l"/>
                      <a:r>
                        <a:rPr sz="1100" b="0">
                          <a:solidFill>
                            <a:srgbClr val="1A2233"/>
                          </a:solidFill>
                          <a:latin typeface="맑은 고딕"/>
                        </a:rPr>
                        <a:t>매 스텝 |v_ecef|  vs  입력 속력</a:t>
                      </a:r>
                    </a:p>
                  </a:txBody>
                  <a:tcPr marL="91440" marR="91440" marT="36576" marB="36576" anchor="ctr">
                    <a:solidFill>
                      <a:srgbClr val="F4F6FA"/>
                    </a:solidFill>
                  </a:tcPr>
                </a:tc>
                <a:tc>
                  <a:txBody>
                    <a:bodyPr wrap="square"/>
                    <a:lstStyle/>
                    <a:p>
                      <a:pPr algn="ctr"/>
                      <a:r>
                        <a:rPr sz="1100" b="0">
                          <a:solidFill>
                            <a:srgbClr val="1A2233"/>
                          </a:solidFill>
                          <a:latin typeface="맑은 고딕"/>
                        </a:rPr>
                        <a:t>200 m/s</a:t>
                      </a:r>
                    </a:p>
                  </a:txBody>
                  <a:tcPr marL="91440" marR="91440" marT="36576" marB="36576" anchor="ctr">
                    <a:solidFill>
                      <a:srgbClr val="F4F6FA"/>
                    </a:solidFill>
                  </a:tcPr>
                </a:tc>
                <a:tc>
                  <a:txBody>
                    <a:bodyPr wrap="square"/>
                    <a:lstStyle/>
                    <a:p>
                      <a:pPr algn="ctr"/>
                      <a:r>
                        <a:rPr sz="1100" b="1">
                          <a:solidFill>
                            <a:srgbClr val="2F855A"/>
                          </a:solidFill>
                          <a:latin typeface="맑은 고딕"/>
                        </a:rPr>
                        <a:t>최소·최대 200.000000  (편차 1e-14)</a:t>
                      </a:r>
                    </a:p>
                  </a:txBody>
                  <a:tcPr marL="91440" marR="91440" marT="36576" marB="36576" anchor="ctr">
                    <a:solidFill>
                      <a:srgbClr val="F4F6FA"/>
                    </a:solidFill>
                  </a:tcPr>
                </a:tc>
              </a:tr>
              <a:tr h="475488">
                <a:tc>
                  <a:txBody>
                    <a:bodyPr wrap="square"/>
                    <a:lstStyle/>
                    <a:p>
                      <a:pPr algn="l"/>
                      <a:r>
                        <a:rPr sz="1100" b="1">
                          <a:solidFill>
                            <a:srgbClr val="1A2233"/>
                          </a:solidFill>
                          <a:latin typeface="맑은 고딕"/>
                        </a:rPr>
                        <a:t>③ 고도 유지</a:t>
                      </a:r>
                    </a:p>
                  </a:txBody>
                  <a:tcPr marL="91440" marR="91440" marT="36576" marB="36576" anchor="ctr">
                    <a:solidFill>
                      <a:srgbClr val="FFFFFF"/>
                    </a:solidFill>
                  </a:tcPr>
                </a:tc>
                <a:tc>
                  <a:txBody>
                    <a:bodyPr wrap="square"/>
                    <a:lstStyle/>
                    <a:p>
                      <a:pPr algn="l"/>
                      <a:r>
                        <a:rPr sz="1100" b="0">
                          <a:solidFill>
                            <a:srgbClr val="1A2233"/>
                          </a:solidFill>
                          <a:latin typeface="맑은 고딕"/>
                        </a:rPr>
                        <a:t>수평 비행 60 s 뒤 고도</a:t>
                      </a:r>
                    </a:p>
                  </a:txBody>
                  <a:tcPr marL="91440" marR="91440" marT="36576" marB="36576" anchor="ctr">
                    <a:solidFill>
                      <a:srgbClr val="FFFFFF"/>
                    </a:solidFill>
                  </a:tcPr>
                </a:tc>
                <a:tc>
                  <a:txBody>
                    <a:bodyPr wrap="square"/>
                    <a:lstStyle/>
                    <a:p>
                      <a:pPr algn="ctr"/>
                      <a:r>
                        <a:rPr sz="1100" b="0">
                          <a:solidFill>
                            <a:srgbClr val="1A2233"/>
                          </a:solidFill>
                          <a:latin typeface="맑은 고딕"/>
                        </a:rPr>
                        <a:t>300 m</a:t>
                      </a:r>
                    </a:p>
                  </a:txBody>
                  <a:tcPr marL="91440" marR="91440" marT="36576" marB="36576" anchor="ctr">
                    <a:solidFill>
                      <a:srgbClr val="FFFFFF"/>
                    </a:solidFill>
                  </a:tcPr>
                </a:tc>
                <a:tc>
                  <a:txBody>
                    <a:bodyPr wrap="square"/>
                    <a:lstStyle/>
                    <a:p>
                      <a:pPr algn="ctr"/>
                      <a:r>
                        <a:rPr sz="1100" b="1">
                          <a:solidFill>
                            <a:srgbClr val="2F855A"/>
                          </a:solidFill>
                          <a:latin typeface="맑은 고딕"/>
                        </a:rPr>
                        <a:t>300.019 m  (이론 +1.9 cm)</a:t>
                      </a:r>
                    </a:p>
                  </a:txBody>
                  <a:tcPr marL="91440" marR="91440" marT="36576" marB="36576" anchor="ctr">
                    <a:solidFill>
                      <a:srgbClr val="FFFFFF"/>
                    </a:solidFill>
                  </a:tcPr>
                </a:tc>
              </a:tr>
              <a:tr h="475488">
                <a:tc>
                  <a:txBody>
                    <a:bodyPr wrap="square"/>
                    <a:lstStyle/>
                    <a:p>
                      <a:pPr algn="l"/>
                      <a:r>
                        <a:rPr sz="1100" b="1">
                          <a:solidFill>
                            <a:srgbClr val="1A2233"/>
                          </a:solidFill>
                          <a:latin typeface="맑은 고딕"/>
                        </a:rPr>
                        <a:t>④ 선회 반경</a:t>
                      </a:r>
                    </a:p>
                  </a:txBody>
                  <a:tcPr marL="91440" marR="91440" marT="36576" marB="36576" anchor="ctr">
                    <a:solidFill>
                      <a:srgbClr val="F4F6FA"/>
                    </a:solidFill>
                  </a:tcPr>
                </a:tc>
                <a:tc>
                  <a:txBody>
                    <a:bodyPr wrap="square"/>
                    <a:lstStyle/>
                    <a:p>
                      <a:pPr algn="l"/>
                      <a:r>
                        <a:rPr sz="1100" b="0">
                          <a:solidFill>
                            <a:srgbClr val="1A2233"/>
                          </a:solidFill>
                          <a:latin typeface="맑은 고딕"/>
                        </a:rPr>
                        <a:t>기동 시작·중간·끝 세 점의 외접원  vs  V²/(n·g)</a:t>
                      </a:r>
                    </a:p>
                  </a:txBody>
                  <a:tcPr marL="91440" marR="91440" marT="36576" marB="36576" anchor="ctr">
                    <a:solidFill>
                      <a:srgbClr val="F4F6FA"/>
                    </a:solidFill>
                  </a:tcPr>
                </a:tc>
                <a:tc>
                  <a:txBody>
                    <a:bodyPr wrap="square"/>
                    <a:lstStyle/>
                    <a:p>
                      <a:pPr algn="ctr"/>
                      <a:r>
                        <a:rPr sz="1100" b="0">
                          <a:solidFill>
                            <a:srgbClr val="1A2233"/>
                          </a:solidFill>
                          <a:latin typeface="맑은 고딕"/>
                        </a:rPr>
                        <a:t>3 g : 1,359.6 m</a:t>
                      </a:r>
                    </a:p>
                  </a:txBody>
                  <a:tcPr marL="91440" marR="91440" marT="36576" marB="36576" anchor="ctr">
                    <a:solidFill>
                      <a:srgbClr val="F4F6FA"/>
                    </a:solidFill>
                  </a:tcPr>
                </a:tc>
                <a:tc>
                  <a:txBody>
                    <a:bodyPr wrap="square"/>
                    <a:lstStyle/>
                    <a:p>
                      <a:pPr algn="ctr"/>
                      <a:r>
                        <a:rPr sz="1100" b="1">
                          <a:solidFill>
                            <a:srgbClr val="2F855A"/>
                          </a:solidFill>
                          <a:latin typeface="맑은 고딕"/>
                        </a:rPr>
                        <a:t>1,359.5 m  (−0.01 %)</a:t>
                      </a:r>
                    </a:p>
                  </a:txBody>
                  <a:tcPr marL="91440" marR="91440" marT="36576" marB="36576" anchor="ctr">
                    <a:solidFill>
                      <a:srgbClr val="F4F6FA"/>
                    </a:solidFill>
                  </a:tcPr>
                </a:tc>
              </a:tr>
              <a:tr h="475488">
                <a:tc>
                  <a:txBody>
                    <a:bodyPr wrap="square"/>
                    <a:lstStyle/>
                    <a:p>
                      <a:pPr algn="l"/>
                      <a:r>
                        <a:rPr sz="1100" b="1">
                          <a:solidFill>
                            <a:srgbClr val="1A2233"/>
                          </a:solidFill>
                          <a:latin typeface="맑은 고딕"/>
                        </a:rPr>
                        <a:t>⑤ 위경도 왕복</a:t>
                      </a:r>
                    </a:p>
                  </a:txBody>
                  <a:tcPr marL="91440" marR="91440" marT="36576" marB="36576" anchor="ctr">
                    <a:solidFill>
                      <a:srgbClr val="FFFFFF"/>
                    </a:solidFill>
                  </a:tcPr>
                </a:tc>
                <a:tc>
                  <a:txBody>
                    <a:bodyPr wrap="square"/>
                    <a:lstStyle/>
                    <a:p>
                      <a:pPr algn="l"/>
                      <a:r>
                        <a:rPr sz="1100" b="0">
                          <a:solidFill>
                            <a:srgbClr val="1A2233"/>
                          </a:solidFill>
                          <a:latin typeface="맑은 고딕"/>
                        </a:rPr>
                        <a:t>LLA → ECEF → LLA → ECEF 거리</a:t>
                      </a:r>
                    </a:p>
                  </a:txBody>
                  <a:tcPr marL="91440" marR="91440" marT="36576" marB="36576" anchor="ctr">
                    <a:solidFill>
                      <a:srgbClr val="FFFFFF"/>
                    </a:solidFill>
                  </a:tcPr>
                </a:tc>
                <a:tc>
                  <a:txBody>
                    <a:bodyPr wrap="square"/>
                    <a:lstStyle/>
                    <a:p>
                      <a:pPr algn="ctr"/>
                      <a:r>
                        <a:rPr sz="1100" b="0">
                          <a:solidFill>
                            <a:srgbClr val="1A2233"/>
                          </a:solidFill>
                          <a:latin typeface="맑은 고딕"/>
                        </a:rPr>
                        <a:t>1 mm 미만</a:t>
                      </a:r>
                    </a:p>
                  </a:txBody>
                  <a:tcPr marL="91440" marR="91440" marT="36576" marB="36576" anchor="ctr">
                    <a:solidFill>
                      <a:srgbClr val="FFFFFF"/>
                    </a:solidFill>
                  </a:tcPr>
                </a:tc>
                <a:tc>
                  <a:txBody>
                    <a:bodyPr wrap="square"/>
                    <a:lstStyle/>
                    <a:p>
                      <a:pPr algn="ctr"/>
                      <a:r>
                        <a:rPr sz="1100" b="1">
                          <a:solidFill>
                            <a:srgbClr val="2F855A"/>
                          </a:solidFill>
                          <a:latin typeface="맑은 고딕"/>
                        </a:rPr>
                        <a:t>3e-5 m</a:t>
                      </a:r>
                    </a:p>
                  </a:txBody>
                  <a:tcPr marL="91440" marR="91440" marT="36576" marB="36576" anchor="ctr">
                    <a:solidFill>
                      <a:srgbClr val="FFFFFF"/>
                    </a:solidFill>
                  </a:tcPr>
                </a:tc>
              </a:tr>
            </a:tbl>
          </a:graphicData>
        </a:graphic>
      </p:graphicFrame>
      <p:sp>
        <p:nvSpPr>
          <p:cNvPr id="8" name="Rounded Rectangle 7"/>
          <p:cNvSpPr/>
          <p:nvPr/>
        </p:nvSpPr>
        <p:spPr>
          <a:xfrm>
            <a:off x="566928" y="4407408"/>
            <a:ext cx="5449824" cy="969264"/>
          </a:xfrm>
          <a:prstGeom prst="roundRect">
            <a:avLst>
              <a:gd name="adj" fmla="val 6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768096" y="4548225"/>
            <a:ext cx="5047488" cy="727862"/>
          </a:xfrm>
          <a:prstGeom prst="rect">
            <a:avLst/>
          </a:prstGeom>
          <a:noFill/>
        </p:spPr>
        <p:txBody>
          <a:bodyPr wrap="square" anchor="t" lIns="0" rIns="0" tIns="0" bIns="0">
            <a:spAutoFit/>
          </a:bodyPr>
          <a:lstStyle/>
          <a:p>
            <a:pPr algn="l">
              <a:spcAft>
                <a:spcPts val="400"/>
              </a:spcAft>
            </a:pPr>
            <a:r>
              <a:rPr sz="1300" b="1">
                <a:solidFill>
                  <a:srgbClr val="2B57A6"/>
                </a:solidFill>
                <a:latin typeface="맑은 고딕"/>
              </a:rPr>
              <a:t>왜 미리 정하나</a:t>
            </a:r>
          </a:p>
          <a:p>
            <a:pPr algn="l">
              <a:lnSpc>
                <a:spcPts val="1400"/>
              </a:lnSpc>
            </a:pPr>
            <a:r>
              <a:rPr sz="1050" b="0">
                <a:solidFill>
                  <a:srgbClr val="1A2233"/>
                </a:solidFill>
                <a:latin typeface="맑은 고딕"/>
              </a:rPr>
              <a:t>코드가 내놓을 값을 먼저 알고 있어야 코드가 맞는지 알 수 있다.</a:t>
            </a:r>
          </a:p>
          <a:p>
            <a:pPr algn="l">
              <a:lnSpc>
                <a:spcPts val="1400"/>
              </a:lnSpc>
            </a:pPr>
            <a:r>
              <a:rPr sz="1050" b="0">
                <a:solidFill>
                  <a:srgbClr val="1A2233"/>
                </a:solidFill>
                <a:latin typeface="맑은 고딕"/>
              </a:rPr>
              <a:t>①②③⑤ 는 개념편에서 손계산한 값과 같고, ④ 는 기동 코드가 붙은 뒤 쟀다.</a:t>
            </a:r>
          </a:p>
        </p:txBody>
      </p:sp>
      <p:sp>
        <p:nvSpPr>
          <p:cNvPr id="10" name="Rounded Rectangle 9"/>
          <p:cNvSpPr/>
          <p:nvPr/>
        </p:nvSpPr>
        <p:spPr>
          <a:xfrm>
            <a:off x="6181344" y="4407408"/>
            <a:ext cx="5449824" cy="969264"/>
          </a:xfrm>
          <a:prstGeom prst="roundRect">
            <a:avLst>
              <a:gd name="adj" fmla="val 6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382512" y="4548225"/>
            <a:ext cx="5047488" cy="727862"/>
          </a:xfrm>
          <a:prstGeom prst="rect">
            <a:avLst/>
          </a:prstGeom>
          <a:noFill/>
        </p:spPr>
        <p:txBody>
          <a:bodyPr wrap="square" anchor="t" lIns="0" rIns="0" tIns="0" bIns="0">
            <a:spAutoFit/>
          </a:bodyPr>
          <a:lstStyle/>
          <a:p>
            <a:pPr algn="l">
              <a:spcAft>
                <a:spcPts val="400"/>
              </a:spcAft>
            </a:pPr>
            <a:r>
              <a:rPr sz="1300" b="1">
                <a:solidFill>
                  <a:srgbClr val="C2521C"/>
                </a:solidFill>
                <a:latin typeface="맑은 고딕"/>
              </a:rPr>
              <a:t>한 번 틀리면 바로 드러나는 실수들</a:t>
            </a:r>
          </a:p>
          <a:p>
            <a:pPr algn="l">
              <a:lnSpc>
                <a:spcPts val="1400"/>
              </a:lnSpc>
            </a:pPr>
            <a:r>
              <a:rPr sz="1050" b="0">
                <a:solidFill>
                  <a:srgbClr val="1A2233"/>
                </a:solidFill>
                <a:latin typeface="맑은 고딕"/>
              </a:rPr>
              <a:t>경도·위도 인자 순서 바꿈 → 북위 54° 동경 212°.   속도에 플랫폼 위치 더함 → 6,372 km/s.</a:t>
            </a:r>
          </a:p>
          <a:p>
            <a:pPr algn="l">
              <a:lnSpc>
                <a:spcPts val="1400"/>
              </a:lnSpc>
            </a:pPr>
            <a:r>
              <a:rPr sz="1050" b="0">
                <a:solidFill>
                  <a:srgbClr val="1A2233"/>
                </a:solidFill>
                <a:latin typeface="맑은 고딕"/>
              </a:rPr>
              <a:t>수평면을 한 번만 잡음 → 고도 311 m.</a:t>
            </a:r>
          </a:p>
        </p:txBody>
      </p:sp>
      <p:sp>
        <p:nvSpPr>
          <p:cNvPr id="12" name="Rounded Rectangle 11"/>
          <p:cNvSpPr/>
          <p:nvPr/>
        </p:nvSpPr>
        <p:spPr>
          <a:xfrm>
            <a:off x="566928" y="5504688"/>
            <a:ext cx="11064240" cy="658368"/>
          </a:xfrm>
          <a:prstGeom prst="roundRect">
            <a:avLst>
              <a:gd name="adj" fmla="val 8000"/>
            </a:avLst>
          </a:prstGeom>
          <a:solidFill>
            <a:srgbClr val="FBEAD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786384" y="5504688"/>
            <a:ext cx="10625328" cy="658368"/>
          </a:xfrm>
          <a:prstGeom prst="rect">
            <a:avLst/>
          </a:prstGeom>
          <a:noFill/>
        </p:spPr>
        <p:txBody>
          <a:bodyPr wrap="square" anchor="ctr" lIns="0" rIns="0" tIns="0" bIns="0">
            <a:spAutoFit/>
          </a:bodyPr>
          <a:lstStyle/>
          <a:p>
            <a:pPr algn="ctr">
              <a:spcAft>
                <a:spcPts val="300"/>
              </a:spcAft>
            </a:pPr>
            <a:r>
              <a:rPr sz="1250" b="1">
                <a:solidFill>
                  <a:srgbClr val="C2521C"/>
                </a:solidFill>
                <a:latin typeface="맑은 고딕"/>
              </a:rPr>
              <a:t>다섯 칸이 채워졌으니 궤적이 "그림" 이 아니라 "결과" 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3233F"/>
        </a:solidFill>
        <a:effectLst/>
      </p:bgPr>
    </p:bg>
    <p:spTree>
      <p:nvGrpSpPr>
        <p:cNvPr id="1" name=""/>
        <p:cNvGrpSpPr/>
        <p:nvPr/>
      </p:nvGrpSpPr>
      <p:grpSpPr/>
      <p:cxnSp>
        <p:nvCxnSpPr>
          <p:cNvPr id="2" name="Connector 1"/>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868680" y="1115568"/>
            <a:ext cx="10515600" cy="530352"/>
          </a:xfrm>
          <a:prstGeom prst="rect">
            <a:avLst/>
          </a:prstGeom>
          <a:noFill/>
        </p:spPr>
        <p:txBody>
          <a:bodyPr wrap="square" anchor="ctr" lIns="0" rIns="0" tIns="0" bIns="0">
            <a:spAutoFit/>
          </a:bodyPr>
          <a:lstStyle/>
          <a:p>
            <a:pPr algn="l"/>
            <a:r>
              <a:rPr sz="3000" b="1">
                <a:solidFill>
                  <a:srgbClr val="FFFFFF"/>
                </a:solidFill>
                <a:latin typeface="맑은 고딕"/>
              </a:rPr>
              <a:t>정리</a:t>
            </a:r>
          </a:p>
        </p:txBody>
      </p:sp>
      <p:sp>
        <p:nvSpPr>
          <p:cNvPr id="4" name="Oval 3"/>
          <p:cNvSpPr/>
          <p:nvPr/>
        </p:nvSpPr>
        <p:spPr>
          <a:xfrm>
            <a:off x="822960" y="1865376"/>
            <a:ext cx="347472" cy="347472"/>
          </a:xfrm>
          <a:prstGeom prst="ellipse">
            <a:avLst/>
          </a:prstGeom>
          <a:solidFill>
            <a:srgbClr val="1E3157"/>
          </a:solidFill>
          <a:ln w="12700">
            <a:solidFill>
              <a:srgbClr val="3450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65376"/>
            <a:ext cx="347472" cy="347472"/>
          </a:xfrm>
          <a:prstGeom prst="rect">
            <a:avLst/>
          </a:prstGeom>
          <a:noFill/>
        </p:spPr>
        <p:txBody>
          <a:bodyPr wrap="square" anchor="ctr" lIns="0" rIns="0" tIns="0" bIns="0">
            <a:spAutoFit/>
          </a:bodyPr>
          <a:lstStyle/>
          <a:p>
            <a:pPr algn="ctr"/>
            <a:r>
              <a:rPr sz="1300" b="1">
                <a:solidFill>
                  <a:srgbClr val="9DB3D6"/>
                </a:solidFill>
                <a:latin typeface="맑은 고딕"/>
              </a:rPr>
              <a:t>1</a:t>
            </a:r>
          </a:p>
        </p:txBody>
      </p:sp>
      <p:sp>
        <p:nvSpPr>
          <p:cNvPr id="6" name="TextBox 5"/>
          <p:cNvSpPr txBox="1"/>
          <p:nvPr/>
        </p:nvSpPr>
        <p:spPr>
          <a:xfrm>
            <a:off x="1353312" y="1828800"/>
            <a:ext cx="10076688" cy="420624"/>
          </a:xfrm>
          <a:prstGeom prst="rect">
            <a:avLst/>
          </a:prstGeom>
          <a:noFill/>
        </p:spPr>
        <p:txBody>
          <a:bodyPr wrap="square" anchor="ctr" lIns="0" rIns="0" tIns="0" bIns="0">
            <a:spAutoFit/>
          </a:bodyPr>
          <a:lstStyle/>
          <a:p>
            <a:pPr algn="l"/>
            <a:r>
              <a:rPr sz="1600" b="0">
                <a:solidFill>
                  <a:srgbClr val="D6DFF0"/>
                </a:solidFill>
                <a:latin typeface="맑은 고딕"/>
              </a:rPr>
              <a:t>과제 3 = 과제 2의 변환 함수 + 시간 루프 + 기동 모델.  제공 코드는 한 줄도 안 고쳤다</a:t>
            </a:r>
          </a:p>
        </p:txBody>
      </p:sp>
      <p:sp>
        <p:nvSpPr>
          <p:cNvPr id="7" name="Oval 6"/>
          <p:cNvSpPr/>
          <p:nvPr/>
        </p:nvSpPr>
        <p:spPr>
          <a:xfrm>
            <a:off x="822960" y="2432304"/>
            <a:ext cx="347472" cy="347472"/>
          </a:xfrm>
          <a:prstGeom prst="ellipse">
            <a:avLst/>
          </a:prstGeom>
          <a:solidFill>
            <a:srgbClr val="1E3157"/>
          </a:solidFill>
          <a:ln w="12700">
            <a:solidFill>
              <a:srgbClr val="3450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32304"/>
            <a:ext cx="347472" cy="347472"/>
          </a:xfrm>
          <a:prstGeom prst="rect">
            <a:avLst/>
          </a:prstGeom>
          <a:noFill/>
        </p:spPr>
        <p:txBody>
          <a:bodyPr wrap="square" anchor="ctr" lIns="0" rIns="0" tIns="0" bIns="0">
            <a:spAutoFit/>
          </a:bodyPr>
          <a:lstStyle/>
          <a:p>
            <a:pPr algn="ctr"/>
            <a:r>
              <a:rPr sz="1300" b="1">
                <a:solidFill>
                  <a:srgbClr val="9DB3D6"/>
                </a:solidFill>
                <a:latin typeface="맑은 고딕"/>
              </a:rPr>
              <a:t>2</a:t>
            </a:r>
          </a:p>
        </p:txBody>
      </p:sp>
      <p:sp>
        <p:nvSpPr>
          <p:cNvPr id="9" name="TextBox 8"/>
          <p:cNvSpPr txBox="1"/>
          <p:nvPr/>
        </p:nvSpPr>
        <p:spPr>
          <a:xfrm>
            <a:off x="1353312" y="2395728"/>
            <a:ext cx="10076688" cy="420624"/>
          </a:xfrm>
          <a:prstGeom prst="rect">
            <a:avLst/>
          </a:prstGeom>
          <a:noFill/>
        </p:spPr>
        <p:txBody>
          <a:bodyPr wrap="square" anchor="ctr" lIns="0" rIns="0" tIns="0" bIns="0">
            <a:spAutoFit/>
          </a:bodyPr>
          <a:lstStyle/>
          <a:p>
            <a:pPr algn="l"/>
            <a:r>
              <a:rPr sz="1600" b="0">
                <a:solidFill>
                  <a:srgbClr val="D6DFF0"/>
                </a:solidFill>
                <a:latin typeface="맑은 고딕"/>
              </a:rPr>
              <a:t>위치는 회전 + 평행이동, 속도는 회전만.  속도에 위치를 더하면 안 된다</a:t>
            </a:r>
          </a:p>
        </p:txBody>
      </p:sp>
      <p:sp>
        <p:nvSpPr>
          <p:cNvPr id="10" name="Oval 9"/>
          <p:cNvSpPr/>
          <p:nvPr/>
        </p:nvSpPr>
        <p:spPr>
          <a:xfrm>
            <a:off x="822960" y="2999232"/>
            <a:ext cx="347472" cy="347472"/>
          </a:xfrm>
          <a:prstGeom prst="ellipse">
            <a:avLst/>
          </a:prstGeom>
          <a:solidFill>
            <a:srgbClr val="1E3157"/>
          </a:solidFill>
          <a:ln w="12700">
            <a:solidFill>
              <a:srgbClr val="3450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999232"/>
            <a:ext cx="347472" cy="347472"/>
          </a:xfrm>
          <a:prstGeom prst="rect">
            <a:avLst/>
          </a:prstGeom>
          <a:noFill/>
        </p:spPr>
        <p:txBody>
          <a:bodyPr wrap="square" anchor="ctr" lIns="0" rIns="0" tIns="0" bIns="0">
            <a:spAutoFit/>
          </a:bodyPr>
          <a:lstStyle/>
          <a:p>
            <a:pPr algn="ctr"/>
            <a:r>
              <a:rPr sz="1300" b="1">
                <a:solidFill>
                  <a:srgbClr val="9DB3D6"/>
                </a:solidFill>
                <a:latin typeface="맑은 고딕"/>
              </a:rPr>
              <a:t>3</a:t>
            </a:r>
          </a:p>
        </p:txBody>
      </p:sp>
      <p:sp>
        <p:nvSpPr>
          <p:cNvPr id="12" name="TextBox 11"/>
          <p:cNvSpPr txBox="1"/>
          <p:nvPr/>
        </p:nvSpPr>
        <p:spPr>
          <a:xfrm>
            <a:off x="1353312" y="2962656"/>
            <a:ext cx="10076688" cy="420624"/>
          </a:xfrm>
          <a:prstGeom prst="rect">
            <a:avLst/>
          </a:prstGeom>
          <a:noFill/>
        </p:spPr>
        <p:txBody>
          <a:bodyPr wrap="square" anchor="ctr" lIns="0" rIns="0" tIns="0" bIns="0">
            <a:spAutoFit/>
          </a:bodyPr>
          <a:lstStyle/>
          <a:p>
            <a:pPr algn="l"/>
            <a:r>
              <a:rPr sz="1600" b="0">
                <a:solidFill>
                  <a:srgbClr val="D6DFF0"/>
                </a:solidFill>
                <a:latin typeface="맑은 고딕"/>
              </a:rPr>
              <a:t>새 위치 = 지금 위치 + 속도 × 0.1 초.  ECEF 에서 더한다</a:t>
            </a:r>
          </a:p>
        </p:txBody>
      </p:sp>
      <p:sp>
        <p:nvSpPr>
          <p:cNvPr id="13" name="Oval 12"/>
          <p:cNvSpPr/>
          <p:nvPr/>
        </p:nvSpPr>
        <p:spPr>
          <a:xfrm>
            <a:off x="822960" y="3566160"/>
            <a:ext cx="347472" cy="347472"/>
          </a:xfrm>
          <a:prstGeom prst="ellipse">
            <a:avLst/>
          </a:prstGeom>
          <a:solidFill>
            <a:srgbClr val="1E3157"/>
          </a:solidFill>
          <a:ln w="12700">
            <a:solidFill>
              <a:srgbClr val="3450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566160"/>
            <a:ext cx="347472" cy="347472"/>
          </a:xfrm>
          <a:prstGeom prst="rect">
            <a:avLst/>
          </a:prstGeom>
          <a:noFill/>
        </p:spPr>
        <p:txBody>
          <a:bodyPr wrap="square" anchor="ctr" lIns="0" rIns="0" tIns="0" bIns="0">
            <a:spAutoFit/>
          </a:bodyPr>
          <a:lstStyle/>
          <a:p>
            <a:pPr algn="ctr"/>
            <a:r>
              <a:rPr sz="1300" b="1">
                <a:solidFill>
                  <a:srgbClr val="9DB3D6"/>
                </a:solidFill>
                <a:latin typeface="맑은 고딕"/>
              </a:rPr>
              <a:t>4</a:t>
            </a:r>
          </a:p>
        </p:txBody>
      </p:sp>
      <p:sp>
        <p:nvSpPr>
          <p:cNvPr id="15" name="TextBox 14"/>
          <p:cNvSpPr txBox="1"/>
          <p:nvPr/>
        </p:nvSpPr>
        <p:spPr>
          <a:xfrm>
            <a:off x="1353312" y="3529584"/>
            <a:ext cx="10076688" cy="420624"/>
          </a:xfrm>
          <a:prstGeom prst="rect">
            <a:avLst/>
          </a:prstGeom>
          <a:noFill/>
        </p:spPr>
        <p:txBody>
          <a:bodyPr wrap="square" anchor="ctr" lIns="0" rIns="0" tIns="0" bIns="0">
            <a:spAutoFit/>
          </a:bodyPr>
          <a:lstStyle/>
          <a:p>
            <a:pPr algn="l"/>
            <a:r>
              <a:rPr sz="1600" b="0">
                <a:solidFill>
                  <a:srgbClr val="D6DFF0"/>
                </a:solidFill>
                <a:latin typeface="맑은 고딕"/>
              </a:rPr>
              <a:t>지구는 둥글다.  매 스텝 표적 자리의 수평면을 다시 잡아야 고도가 유지된다</a:t>
            </a:r>
          </a:p>
        </p:txBody>
      </p:sp>
      <p:sp>
        <p:nvSpPr>
          <p:cNvPr id="16" name="Oval 15"/>
          <p:cNvSpPr/>
          <p:nvPr/>
        </p:nvSpPr>
        <p:spPr>
          <a:xfrm>
            <a:off x="822960" y="4133088"/>
            <a:ext cx="347472" cy="347472"/>
          </a:xfrm>
          <a:prstGeom prst="ellipse">
            <a:avLst/>
          </a:prstGeom>
          <a:solidFill>
            <a:srgbClr val="1E3157"/>
          </a:solidFill>
          <a:ln w="12700">
            <a:solidFill>
              <a:srgbClr val="3450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133088"/>
            <a:ext cx="347472" cy="347472"/>
          </a:xfrm>
          <a:prstGeom prst="rect">
            <a:avLst/>
          </a:prstGeom>
          <a:noFill/>
        </p:spPr>
        <p:txBody>
          <a:bodyPr wrap="square" anchor="ctr" lIns="0" rIns="0" tIns="0" bIns="0">
            <a:spAutoFit/>
          </a:bodyPr>
          <a:lstStyle/>
          <a:p>
            <a:pPr algn="ctr"/>
            <a:r>
              <a:rPr sz="1300" b="1">
                <a:solidFill>
                  <a:srgbClr val="9DB3D6"/>
                </a:solidFill>
                <a:latin typeface="맑은 고딕"/>
              </a:rPr>
              <a:t>5</a:t>
            </a:r>
          </a:p>
        </p:txBody>
      </p:sp>
      <p:sp>
        <p:nvSpPr>
          <p:cNvPr id="18" name="TextBox 17"/>
          <p:cNvSpPr txBox="1"/>
          <p:nvPr/>
        </p:nvSpPr>
        <p:spPr>
          <a:xfrm>
            <a:off x="1353312" y="4096512"/>
            <a:ext cx="10076688" cy="420624"/>
          </a:xfrm>
          <a:prstGeom prst="rect">
            <a:avLst/>
          </a:prstGeom>
          <a:noFill/>
        </p:spPr>
        <p:txBody>
          <a:bodyPr wrap="square" anchor="ctr" lIns="0" rIns="0" tIns="0" bIns="0">
            <a:spAutoFit/>
          </a:bodyPr>
          <a:lstStyle/>
          <a:p>
            <a:pPr algn="l"/>
            <a:r>
              <a:rPr sz="1600" b="0">
                <a:solidFill>
                  <a:srgbClr val="D6DFF0"/>
                </a:solidFill>
                <a:latin typeface="맑은 고딕"/>
              </a:rPr>
              <a:t>기동은 원운동.  ω = n·g / V,  R = V² / (n·g).  코드가 0.01 % 로 재현했다</a:t>
            </a:r>
          </a:p>
        </p:txBody>
      </p:sp>
      <p:sp>
        <p:nvSpPr>
          <p:cNvPr id="19" name="Oval 18"/>
          <p:cNvSpPr/>
          <p:nvPr/>
        </p:nvSpPr>
        <p:spPr>
          <a:xfrm>
            <a:off x="822960" y="4700016"/>
            <a:ext cx="347472" cy="347472"/>
          </a:xfrm>
          <a:prstGeom prst="ellipse">
            <a:avLst/>
          </a:prstGeom>
          <a:solidFill>
            <a:srgbClr val="C2521C"/>
          </a:solidFill>
          <a:ln w="12700">
            <a:solidFill>
              <a:srgbClr val="C252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700016"/>
            <a:ext cx="347472" cy="347472"/>
          </a:xfrm>
          <a:prstGeom prst="rect">
            <a:avLst/>
          </a:prstGeom>
          <a:noFill/>
        </p:spPr>
        <p:txBody>
          <a:bodyPr wrap="square" anchor="ctr" lIns="0" rIns="0" tIns="0" bIns="0">
            <a:spAutoFit/>
          </a:bodyPr>
          <a:lstStyle/>
          <a:p>
            <a:pPr algn="ctr"/>
            <a:r>
              <a:rPr sz="1300" b="1">
                <a:solidFill>
                  <a:srgbClr val="FFFFFF"/>
                </a:solidFill>
                <a:latin typeface="맑은 고딕"/>
              </a:rPr>
              <a:t>6</a:t>
            </a:r>
          </a:p>
        </p:txBody>
      </p:sp>
      <p:sp>
        <p:nvSpPr>
          <p:cNvPr id="21" name="TextBox 20"/>
          <p:cNvSpPr txBox="1"/>
          <p:nvPr/>
        </p:nvSpPr>
        <p:spPr>
          <a:xfrm>
            <a:off x="1353312" y="4663440"/>
            <a:ext cx="10076688" cy="420624"/>
          </a:xfrm>
          <a:prstGeom prst="rect">
            <a:avLst/>
          </a:prstGeom>
          <a:noFill/>
        </p:spPr>
        <p:txBody>
          <a:bodyPr wrap="square" anchor="ctr" lIns="0" rIns="0" tIns="0" bIns="0">
            <a:spAutoFit/>
          </a:bodyPr>
          <a:lstStyle/>
          <a:p>
            <a:pPr algn="l"/>
            <a:r>
              <a:rPr sz="1600" b="0">
                <a:solidFill>
                  <a:srgbClr val="FFFFFF"/>
                </a:solidFill>
                <a:latin typeface="맑은 고딕"/>
              </a:rPr>
              <a:t>표적 카드 = 입력 칸 + 상태 칸.  플랫폼도 카드 한 장</a:t>
            </a:r>
          </a:p>
        </p:txBody>
      </p:sp>
      <p:sp>
        <p:nvSpPr>
          <p:cNvPr id="22" name="Oval 21"/>
          <p:cNvSpPr/>
          <p:nvPr/>
        </p:nvSpPr>
        <p:spPr>
          <a:xfrm>
            <a:off x="822960" y="5266944"/>
            <a:ext cx="347472" cy="347472"/>
          </a:xfrm>
          <a:prstGeom prst="ellipse">
            <a:avLst/>
          </a:prstGeom>
          <a:solidFill>
            <a:srgbClr val="C2521C"/>
          </a:solidFill>
          <a:ln w="12700">
            <a:solidFill>
              <a:srgbClr val="C252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266944"/>
            <a:ext cx="347472" cy="347472"/>
          </a:xfrm>
          <a:prstGeom prst="rect">
            <a:avLst/>
          </a:prstGeom>
          <a:noFill/>
        </p:spPr>
        <p:txBody>
          <a:bodyPr wrap="square" anchor="ctr" lIns="0" rIns="0" tIns="0" bIns="0">
            <a:spAutoFit/>
          </a:bodyPr>
          <a:lstStyle/>
          <a:p>
            <a:pPr algn="ctr"/>
            <a:r>
              <a:rPr sz="1300" b="1">
                <a:solidFill>
                  <a:srgbClr val="FFFFFF"/>
                </a:solidFill>
                <a:latin typeface="맑은 고딕"/>
              </a:rPr>
              <a:t>7</a:t>
            </a:r>
          </a:p>
        </p:txBody>
      </p:sp>
      <p:sp>
        <p:nvSpPr>
          <p:cNvPr id="24" name="TextBox 23"/>
          <p:cNvSpPr txBox="1"/>
          <p:nvPr/>
        </p:nvSpPr>
        <p:spPr>
          <a:xfrm>
            <a:off x="1353312" y="5230368"/>
            <a:ext cx="10076688" cy="420624"/>
          </a:xfrm>
          <a:prstGeom prst="rect">
            <a:avLst/>
          </a:prstGeom>
          <a:noFill/>
        </p:spPr>
        <p:txBody>
          <a:bodyPr wrap="square" anchor="ctr" lIns="0" rIns="0" tIns="0" bIns="0">
            <a:spAutoFit/>
          </a:bodyPr>
          <a:lstStyle/>
          <a:p>
            <a:pPr algn="l"/>
            <a:r>
              <a:rPr sz="1600" b="0">
                <a:solidFill>
                  <a:srgbClr val="FFFFFF"/>
                </a:solidFill>
                <a:latin typeface="맑은 고딕"/>
              </a:rPr>
              <a:t>검증 없는 궤적은 그림일 뿐.  거리 · 속력 · 고도 · 반경 · 왕복 다섯 가지로 확인했다</a:t>
            </a:r>
          </a:p>
        </p:txBody>
      </p:sp>
      <p:sp>
        <p:nvSpPr>
          <p:cNvPr id="25" name="TextBox 24"/>
          <p:cNvSpPr txBox="1"/>
          <p:nvPr/>
        </p:nvSpPr>
        <p:spPr>
          <a:xfrm>
            <a:off x="868680" y="5907024"/>
            <a:ext cx="10515600" cy="384048"/>
          </a:xfrm>
          <a:prstGeom prst="rect">
            <a:avLst/>
          </a:prstGeom>
          <a:noFill/>
        </p:spPr>
        <p:txBody>
          <a:bodyPr wrap="square" anchor="t" lIns="0" rIns="0" tIns="0" bIns="0">
            <a:spAutoFit/>
          </a:bodyPr>
          <a:lstStyle/>
          <a:p>
            <a:pPr algn="l"/>
            <a:r>
              <a:rPr sz="1300" b="1">
                <a:solidFill>
                  <a:srgbClr val="FFFFFF"/>
                </a:solidFill>
                <a:latin typeface="맑은 고딕"/>
              </a:rPr>
              <a:t>질문 환영합니다       코드 · 문서 :  radar-sw-study / Part3_TargetSim</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부록 A.  참고 코드의 함수와 함정</a:t>
            </a:r>
          </a:p>
          <a:p>
            <a:pPr algn="l">
              <a:lnSpc>
                <a:spcPts val="1400"/>
              </a:lnSpc>
            </a:pPr>
            <a:r>
              <a:rPr sz="1100" b="0">
                <a:solidFill>
                  <a:srgbClr val="C9D6EC"/>
                </a:solidFill>
                <a:latin typeface="맑은 고딕"/>
              </a:rPr>
              <a:t>제공된 CoordinateTransform.c 에서 이번에 쓴 것과, 컴파일해서 확인한 주의점</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graphicFrame>
        <p:nvGraphicFramePr>
          <p:cNvPr id="7" name="Table 6"/>
          <p:cNvGraphicFramePr>
            <a:graphicFrameLocks noGrp="1"/>
          </p:cNvGraphicFramePr>
          <p:nvPr/>
        </p:nvGraphicFramePr>
        <p:xfrm>
          <a:off x="566928" y="1371600"/>
          <a:ext cx="11064240" cy="2852928"/>
        </p:xfrm>
        <a:graphic>
          <a:graphicData uri="http://schemas.openxmlformats.org/drawingml/2006/table">
            <a:tbl>
              <a:tblPr firstRow="1">
                <a:tableStyleId>{5C22544A-7EE6-4342-B048-85BDC9FD1C3A}</a:tableStyleId>
              </a:tblPr>
              <a:tblGrid>
                <a:gridCol w="3931920"/>
                <a:gridCol w="2743200"/>
                <a:gridCol w="4389120"/>
              </a:tblGrid>
              <a:tr h="475488">
                <a:tc>
                  <a:txBody>
                    <a:bodyPr wrap="square"/>
                    <a:lstStyle/>
                    <a:p>
                      <a:pPr algn="ctr"/>
                      <a:r>
                        <a:rPr sz="1100" b="1">
                          <a:solidFill>
                            <a:srgbClr val="FFFFFF"/>
                          </a:solidFill>
                          <a:latin typeface="맑은 고딕"/>
                        </a:rPr>
                        <a:t>함수</a:t>
                      </a:r>
                    </a:p>
                  </a:txBody>
                  <a:tcPr marL="91440" marR="91440" marT="36576" marB="36576" anchor="ctr">
                    <a:solidFill>
                      <a:srgbClr val="2B57A6"/>
                    </a:solidFill>
                  </a:tcPr>
                </a:tc>
                <a:tc>
                  <a:txBody>
                    <a:bodyPr wrap="square"/>
                    <a:lstStyle/>
                    <a:p>
                      <a:pPr algn="ctr"/>
                      <a:r>
                        <a:rPr sz="1100" b="1">
                          <a:solidFill>
                            <a:srgbClr val="FFFFFF"/>
                          </a:solidFill>
                          <a:latin typeface="맑은 고딕"/>
                        </a:rPr>
                        <a:t>이번 과제의 용도</a:t>
                      </a:r>
                    </a:p>
                  </a:txBody>
                  <a:tcPr marL="91440" marR="91440" marT="36576" marB="36576" anchor="ctr">
                    <a:solidFill>
                      <a:srgbClr val="2B57A6"/>
                    </a:solidFill>
                  </a:tcPr>
                </a:tc>
                <a:tc>
                  <a:txBody>
                    <a:bodyPr wrap="square"/>
                    <a:lstStyle/>
                    <a:p>
                      <a:pPr algn="ctr"/>
                      <a:r>
                        <a:rPr sz="1100" b="1">
                          <a:solidFill>
                            <a:srgbClr val="FFFFFF"/>
                          </a:solidFill>
                          <a:latin typeface="맑은 고딕"/>
                        </a:rPr>
                        <a:t>주의</a:t>
                      </a:r>
                    </a:p>
                  </a:txBody>
                  <a:tcPr marL="91440" marR="91440" marT="36576" marB="36576" anchor="ctr">
                    <a:solidFill>
                      <a:srgbClr val="2B57A6"/>
                    </a:solidFill>
                  </a:tcPr>
                </a:tc>
              </a:tr>
              <a:tr h="475488">
                <a:tc>
                  <a:txBody>
                    <a:bodyPr wrap="square"/>
                    <a:lstStyle/>
                    <a:p>
                      <a:pPr algn="l"/>
                      <a:r>
                        <a:rPr sz="1050" b="0">
                          <a:solidFill>
                            <a:srgbClr val="1A2233"/>
                          </a:solidFill>
                          <a:latin typeface="맑은 고딕"/>
                        </a:rPr>
                        <a:t>f_Trans_Lla_To_Ecef (Lon, Lat, Alt)</a:t>
                      </a:r>
                    </a:p>
                  </a:txBody>
                  <a:tcPr marL="91440" marR="91440" marT="36576" marB="36576" anchor="ctr">
                    <a:solidFill>
                      <a:srgbClr val="FFFFFF"/>
                    </a:solidFill>
                  </a:tcPr>
                </a:tc>
                <a:tc>
                  <a:txBody>
                    <a:bodyPr wrap="square"/>
                    <a:lstStyle/>
                    <a:p>
                      <a:pPr algn="l"/>
                      <a:r>
                        <a:rPr sz="1050" b="0">
                          <a:solidFill>
                            <a:srgbClr val="1A2233"/>
                          </a:solidFill>
                          <a:latin typeface="맑은 고딕"/>
                        </a:rPr>
                        <a:t>초기 위치 입력</a:t>
                      </a:r>
                    </a:p>
                  </a:txBody>
                  <a:tcPr marL="91440" marR="91440" marT="36576" marB="36576" anchor="ctr">
                    <a:solidFill>
                      <a:srgbClr val="FFFFFF"/>
                    </a:solidFill>
                  </a:tcPr>
                </a:tc>
                <a:tc>
                  <a:txBody>
                    <a:bodyPr wrap="square"/>
                    <a:lstStyle/>
                    <a:p>
                      <a:pPr algn="l"/>
                      <a:r>
                        <a:rPr sz="1050" b="1">
                          <a:solidFill>
                            <a:srgbClr val="C2521C"/>
                          </a:solidFill>
                          <a:latin typeface="맑은 고딕"/>
                        </a:rPr>
                        <a:t>경도가 첫째 인자.  바꾸면 북위 54° 동경 212°</a:t>
                      </a:r>
                    </a:p>
                  </a:txBody>
                  <a:tcPr marL="91440" marR="91440" marT="36576" marB="36576" anchor="ctr">
                    <a:solidFill>
                      <a:srgbClr val="FFFFFF"/>
                    </a:solidFill>
                  </a:tcPr>
                </a:tc>
              </a:tr>
              <a:tr h="475488">
                <a:tc>
                  <a:txBody>
                    <a:bodyPr wrap="square"/>
                    <a:lstStyle/>
                    <a:p>
                      <a:pPr algn="l"/>
                      <a:r>
                        <a:rPr sz="1050" b="0">
                          <a:solidFill>
                            <a:srgbClr val="1A2233"/>
                          </a:solidFill>
                          <a:latin typeface="맑은 고딕"/>
                        </a:rPr>
                        <a:t>f_Trans_Ecef_To_Lla (X, Y, Z)</a:t>
                      </a:r>
                    </a:p>
                  </a:txBody>
                  <a:tcPr marL="91440" marR="91440" marT="36576" marB="36576" anchor="ctr">
                    <a:solidFill>
                      <a:srgbClr val="F4F6FA"/>
                    </a:solidFill>
                  </a:tcPr>
                </a:tc>
                <a:tc>
                  <a:txBody>
                    <a:bodyPr wrap="square"/>
                    <a:lstStyle/>
                    <a:p>
                      <a:pPr algn="l"/>
                      <a:r>
                        <a:rPr sz="1050" b="0">
                          <a:solidFill>
                            <a:srgbClr val="1A2233"/>
                          </a:solidFill>
                          <a:latin typeface="맑은 고딕"/>
                        </a:rPr>
                        <a:t>매 스텝 출력 + 다음 수평면 기준</a:t>
                      </a:r>
                    </a:p>
                  </a:txBody>
                  <a:tcPr marL="91440" marR="91440" marT="36576" marB="36576" anchor="ctr">
                    <a:solidFill>
                      <a:srgbClr val="F4F6FA"/>
                    </a:solidFill>
                  </a:tcPr>
                </a:tc>
                <a:tc>
                  <a:txBody>
                    <a:bodyPr wrap="square"/>
                    <a:lstStyle/>
                    <a:p>
                      <a:pPr algn="l"/>
                      <a:r>
                        <a:rPr sz="1050" b="0">
                          <a:solidFill>
                            <a:srgbClr val="1A2233"/>
                          </a:solidFill>
                          <a:latin typeface="맑은 고딕"/>
                        </a:rPr>
                        <a:t>5회 고정 반복.  우리 위치에서 왕복 오차 3e-5 m</a:t>
                      </a:r>
                    </a:p>
                  </a:txBody>
                  <a:tcPr marL="91440" marR="91440" marT="36576" marB="36576" anchor="ctr">
                    <a:solidFill>
                      <a:srgbClr val="F4F6FA"/>
                    </a:solidFill>
                  </a:tcPr>
                </a:tc>
              </a:tr>
              <a:tr h="475488">
                <a:tc>
                  <a:txBody>
                    <a:bodyPr wrap="square"/>
                    <a:lstStyle/>
                    <a:p>
                      <a:pPr algn="l"/>
                      <a:r>
                        <a:rPr sz="1050" b="0">
                          <a:solidFill>
                            <a:srgbClr val="1A2233"/>
                          </a:solidFill>
                          <a:latin typeface="맑은 고딕"/>
                        </a:rPr>
                        <a:t>f_Trans_Body_To_Ned (…, Roll, Yaw, Pitch)</a:t>
                      </a:r>
                    </a:p>
                  </a:txBody>
                  <a:tcPr marL="91440" marR="91440" marT="36576" marB="36576" anchor="ctr">
                    <a:solidFill>
                      <a:srgbClr val="FFFFFF"/>
                    </a:solidFill>
                  </a:tcPr>
                </a:tc>
                <a:tc>
                  <a:txBody>
                    <a:bodyPr wrap="square"/>
                    <a:lstStyle/>
                    <a:p>
                      <a:pPr algn="l"/>
                      <a:r>
                        <a:rPr sz="1050" b="0">
                          <a:solidFill>
                            <a:srgbClr val="1A2233"/>
                          </a:solidFill>
                          <a:latin typeface="맑은 고딕"/>
                        </a:rPr>
                        <a:t>동체 속력 → NED 속도</a:t>
                      </a:r>
                    </a:p>
                  </a:txBody>
                  <a:tcPr marL="91440" marR="91440" marT="36576" marB="36576" anchor="ctr">
                    <a:solidFill>
                      <a:srgbClr val="FFFFFF"/>
                    </a:solidFill>
                  </a:tcPr>
                </a:tc>
                <a:tc>
                  <a:txBody>
                    <a:bodyPr wrap="square"/>
                    <a:lstStyle/>
                    <a:p>
                      <a:pPr algn="l"/>
                      <a:r>
                        <a:rPr sz="1050" b="1">
                          <a:solidFill>
                            <a:srgbClr val="C2521C"/>
                          </a:solidFill>
                          <a:latin typeface="맑은 고딕"/>
                        </a:rPr>
                        <a:t>인자 순서가 Roll, Yaw, Pitch</a:t>
                      </a:r>
                    </a:p>
                  </a:txBody>
                  <a:tcPr marL="91440" marR="91440" marT="36576" marB="36576" anchor="ctr">
                    <a:solidFill>
                      <a:srgbClr val="FFFFFF"/>
                    </a:solidFill>
                  </a:tcPr>
                </a:tc>
              </a:tr>
              <a:tr h="475488">
                <a:tc>
                  <a:txBody>
                    <a:bodyPr wrap="square"/>
                    <a:lstStyle/>
                    <a:p>
                      <a:pPr algn="l"/>
                      <a:r>
                        <a:rPr sz="1050" b="0">
                          <a:solidFill>
                            <a:srgbClr val="1A2233"/>
                          </a:solidFill>
                          <a:latin typeface="맑은 고딕"/>
                        </a:rPr>
                        <a:t>f_Trans_Ned_To_Ecef (…, Pf_X, Pf_Y, Pf_Z, Lat, Lon)</a:t>
                      </a:r>
                    </a:p>
                  </a:txBody>
                  <a:tcPr marL="91440" marR="91440" marT="36576" marB="36576" anchor="ctr">
                    <a:solidFill>
                      <a:srgbClr val="F4F6FA"/>
                    </a:solidFill>
                  </a:tcPr>
                </a:tc>
                <a:tc>
                  <a:txBody>
                    <a:bodyPr wrap="square"/>
                    <a:lstStyle/>
                    <a:p>
                      <a:pPr algn="l"/>
                      <a:r>
                        <a:rPr sz="1050" b="0">
                          <a:solidFill>
                            <a:srgbClr val="1A2233"/>
                          </a:solidFill>
                          <a:latin typeface="맑은 고딕"/>
                        </a:rPr>
                        <a:t>NED 속도 → ECEF 속도</a:t>
                      </a:r>
                    </a:p>
                  </a:txBody>
                  <a:tcPr marL="91440" marR="91440" marT="36576" marB="36576" anchor="ctr">
                    <a:solidFill>
                      <a:srgbClr val="F4F6FA"/>
                    </a:solidFill>
                  </a:tcPr>
                </a:tc>
                <a:tc>
                  <a:txBody>
                    <a:bodyPr wrap="square"/>
                    <a:lstStyle/>
                    <a:p>
                      <a:pPr algn="l"/>
                      <a:r>
                        <a:rPr sz="1050" b="1">
                          <a:solidFill>
                            <a:srgbClr val="C2521C"/>
                          </a:solidFill>
                          <a:latin typeface="맑은 고딕"/>
                        </a:rPr>
                        <a:t>속도에는 Pf_X·Y·Z = 0.  아니면 6,372 km/s</a:t>
                      </a:r>
                    </a:p>
                  </a:txBody>
                  <a:tcPr marL="91440" marR="91440" marT="36576" marB="36576" anchor="ctr">
                    <a:solidFill>
                      <a:srgbClr val="F4F6FA"/>
                    </a:solidFill>
                  </a:tcPr>
                </a:tc>
              </a:tr>
              <a:tr h="475488">
                <a:tc>
                  <a:txBody>
                    <a:bodyPr wrap="square"/>
                    <a:lstStyle/>
                    <a:p>
                      <a:pPr algn="l"/>
                      <a:r>
                        <a:rPr sz="1050" b="0">
                          <a:solidFill>
                            <a:srgbClr val="1A2233"/>
                          </a:solidFill>
                          <a:latin typeface="맑은 고딕"/>
                        </a:rPr>
                        <a:t>Ant 계열 4개 · Enu 계열 2개 · PfCompensation · Ecef_To_Ned</a:t>
                      </a:r>
                    </a:p>
                  </a:txBody>
                  <a:tcPr marL="91440" marR="91440" marT="36576" marB="36576" anchor="ctr">
                    <a:solidFill>
                      <a:srgbClr val="FFFFFF"/>
                    </a:solidFill>
                  </a:tcPr>
                </a:tc>
                <a:tc>
                  <a:txBody>
                    <a:bodyPr wrap="square"/>
                    <a:lstStyle/>
                    <a:p>
                      <a:pPr algn="l"/>
                      <a:r>
                        <a:rPr sz="1050" b="0">
                          <a:solidFill>
                            <a:srgbClr val="1A2233"/>
                          </a:solidFill>
                          <a:latin typeface="맑은 고딕"/>
                        </a:rPr>
                        <a:t>사용 안 함</a:t>
                      </a:r>
                    </a:p>
                  </a:txBody>
                  <a:tcPr marL="91440" marR="91440" marT="36576" marB="36576" anchor="ctr">
                    <a:solidFill>
                      <a:srgbClr val="FFFFFF"/>
                    </a:solidFill>
                  </a:tcPr>
                </a:tc>
                <a:tc>
                  <a:txBody>
                    <a:bodyPr wrap="square"/>
                    <a:lstStyle/>
                    <a:p>
                      <a:pPr algn="l"/>
                      <a:r>
                        <a:rPr sz="1050" b="0">
                          <a:solidFill>
                            <a:srgbClr val="1A2233"/>
                          </a:solidFill>
                          <a:latin typeface="맑은 고딕"/>
                        </a:rPr>
                        <a:t>표적을 만드는 쪽이라 안테나 좌표계가 없다</a:t>
                      </a:r>
                    </a:p>
                  </a:txBody>
                  <a:tcPr marL="91440" marR="91440" marT="36576" marB="36576" anchor="ctr">
                    <a:solidFill>
                      <a:srgbClr val="FFFFFF"/>
                    </a:solidFill>
                  </a:tcPr>
                </a:tc>
              </a:tr>
            </a:tbl>
          </a:graphicData>
        </a:graphic>
      </p:graphicFrame>
      <p:sp>
        <p:nvSpPr>
          <p:cNvPr id="8" name="Rounded Rectangle 7"/>
          <p:cNvSpPr/>
          <p:nvPr/>
        </p:nvSpPr>
        <p:spPr>
          <a:xfrm>
            <a:off x="566928" y="4480560"/>
            <a:ext cx="11064240" cy="1682496"/>
          </a:xfrm>
          <a:prstGeom prst="roundRect">
            <a:avLst>
              <a:gd name="adj" fmla="val 8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786384" y="4480560"/>
            <a:ext cx="10625328" cy="1682496"/>
          </a:xfrm>
          <a:prstGeom prst="rect">
            <a:avLst/>
          </a:prstGeom>
          <a:noFill/>
        </p:spPr>
        <p:txBody>
          <a:bodyPr wrap="square" anchor="ctr" lIns="0" rIns="0" tIns="0" bIns="0">
            <a:spAutoFit/>
          </a:bodyPr>
          <a:lstStyle/>
          <a:p>
            <a:pPr algn="ctr">
              <a:spcAft>
                <a:spcPts val="300"/>
              </a:spcAft>
            </a:pPr>
            <a:r>
              <a:rPr sz="1150" b="1">
                <a:solidFill>
                  <a:srgbClr val="1A2233"/>
                </a:solidFill>
                <a:latin typeface="맑은 고딕"/>
              </a:rPr>
              <a:t>각도는 전부 라디안 (DEG2RAD 매크로는 target_sim.h 에 정의)  ·  Body → NED 행렬은 Rz(yaw)·Ry(pitch)·Rx(roll) 과 소수점 6자리까지 일치 (과제 2 와 같은 규약)</a:t>
            </a:r>
          </a:p>
          <a:p>
            <a:pPr algn="ctr">
              <a:lnSpc>
                <a:spcPts val="1400"/>
              </a:lnSpc>
            </a:pPr>
            <a:r>
              <a:rPr sz="1050" b="0">
                <a:solidFill>
                  <a:srgbClr val="5A6478"/>
                </a:solidFill>
                <a:latin typeface="맑은 고딕"/>
              </a:rPr>
              <a:t>그 밖에 :  한글 주석이 UTF-8 이라 MSVC /utf-8 옵션 (vcxproj 에 포함).   Define.h 의 #define BOOL bool 은 MFC 와 충돌 → MFC 쪽에서 #undef.   G_FORCE = 9.80665 는 Define.h 에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TextBox 3"/>
          <p:cNvSpPr txBox="1"/>
          <p:nvPr/>
        </p:nvSpPr>
        <p:spPr>
          <a:xfrm>
            <a:off x="640080" y="411480"/>
            <a:ext cx="1060704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부록 B.  용어 정리</a:t>
            </a:r>
          </a:p>
          <a:p>
            <a:pPr algn="l">
              <a:lnSpc>
                <a:spcPts val="1400"/>
              </a:lnSpc>
            </a:pPr>
            <a:r>
              <a:rPr sz="1100" b="0">
                <a:solidFill>
                  <a:srgbClr val="C9D6EC"/>
                </a:solidFill>
                <a:latin typeface="맑은 고딕"/>
              </a:rPr>
              <a:t>발표에 나온 말들.  질문이 들어오면 이 표를 보면서 답한다</a:t>
            </a:r>
          </a:p>
        </p:txBody>
      </p:sp>
      <p:cxnSp>
        <p:nvCxnSpPr>
          <p:cNvPr id="5" name="Connector 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graphicFrame>
        <p:nvGraphicFramePr>
          <p:cNvPr id="7" name="Table 6"/>
          <p:cNvGraphicFramePr>
            <a:graphicFrameLocks noGrp="1"/>
          </p:cNvGraphicFramePr>
          <p:nvPr/>
        </p:nvGraphicFramePr>
        <p:xfrm>
          <a:off x="566928" y="1371600"/>
          <a:ext cx="11064240" cy="4114800"/>
        </p:xfrm>
        <a:graphic>
          <a:graphicData uri="http://schemas.openxmlformats.org/drawingml/2006/table">
            <a:tbl>
              <a:tblPr firstRow="1">
                <a:tableStyleId>{5C22544A-7EE6-4342-B048-85BDC9FD1C3A}</a:tableStyleId>
              </a:tblPr>
              <a:tblGrid>
                <a:gridCol w="2103120"/>
                <a:gridCol w="4572000"/>
                <a:gridCol w="4389120"/>
              </a:tblGrid>
              <a:tr h="457200">
                <a:tc>
                  <a:txBody>
                    <a:bodyPr wrap="square"/>
                    <a:lstStyle/>
                    <a:p>
                      <a:pPr algn="ctr"/>
                      <a:r>
                        <a:rPr sz="1100" b="1">
                          <a:solidFill>
                            <a:srgbClr val="FFFFFF"/>
                          </a:solidFill>
                          <a:latin typeface="맑은 고딕"/>
                        </a:rPr>
                        <a:t>용어</a:t>
                      </a:r>
                    </a:p>
                  </a:txBody>
                  <a:tcPr marL="91440" marR="91440" marT="36576" marB="36576" anchor="ctr">
                    <a:solidFill>
                      <a:srgbClr val="2B57A6"/>
                    </a:solidFill>
                  </a:tcPr>
                </a:tc>
                <a:tc>
                  <a:txBody>
                    <a:bodyPr wrap="square"/>
                    <a:lstStyle/>
                    <a:p>
                      <a:pPr algn="ctr"/>
                      <a:r>
                        <a:rPr sz="1100" b="1">
                          <a:solidFill>
                            <a:srgbClr val="FFFFFF"/>
                          </a:solidFill>
                          <a:latin typeface="맑은 고딕"/>
                        </a:rPr>
                        <a:t>뜻</a:t>
                      </a:r>
                    </a:p>
                  </a:txBody>
                  <a:tcPr marL="91440" marR="91440" marT="36576" marB="36576" anchor="ctr">
                    <a:solidFill>
                      <a:srgbClr val="2B57A6"/>
                    </a:solidFill>
                  </a:tcPr>
                </a:tc>
                <a:tc>
                  <a:txBody>
                    <a:bodyPr wrap="square"/>
                    <a:lstStyle/>
                    <a:p>
                      <a:pPr algn="ctr"/>
                      <a:r>
                        <a:rPr sz="1100" b="1">
                          <a:solidFill>
                            <a:srgbClr val="FFFFFF"/>
                          </a:solidFill>
                          <a:latin typeface="맑은 고딕"/>
                        </a:rPr>
                        <a:t>이번 과제에서</a:t>
                      </a:r>
                    </a:p>
                  </a:txBody>
                  <a:tcPr marL="91440" marR="91440" marT="36576" marB="36576" anchor="ctr">
                    <a:solidFill>
                      <a:srgbClr val="2B57A6"/>
                    </a:solidFill>
                  </a:tcPr>
                </a:tc>
              </a:tr>
              <a:tr h="457200">
                <a:tc>
                  <a:txBody>
                    <a:bodyPr wrap="square"/>
                    <a:lstStyle/>
                    <a:p>
                      <a:pPr algn="l"/>
                      <a:r>
                        <a:rPr sz="1050" b="1">
                          <a:solidFill>
                            <a:srgbClr val="1A2233"/>
                          </a:solidFill>
                          <a:latin typeface="맑은 고딕"/>
                        </a:rPr>
                        <a:t>하중배수 n (g)</a:t>
                      </a:r>
                    </a:p>
                  </a:txBody>
                  <a:tcPr marL="91440" marR="91440" marT="36576" marB="36576" anchor="ctr">
                    <a:solidFill>
                      <a:srgbClr val="FFFFFF"/>
                    </a:solidFill>
                  </a:tcPr>
                </a:tc>
                <a:tc>
                  <a:txBody>
                    <a:bodyPr wrap="square"/>
                    <a:lstStyle/>
                    <a:p>
                      <a:pPr algn="l"/>
                      <a:r>
                        <a:rPr sz="1050" b="0">
                          <a:solidFill>
                            <a:srgbClr val="1A2233"/>
                          </a:solidFill>
                          <a:latin typeface="맑은 고딕"/>
                        </a:rPr>
                        <a:t>안쪽으로 당기는 가속도가 중력가속도의 몇 배인가</a:t>
                      </a:r>
                    </a:p>
                  </a:txBody>
                  <a:tcPr marL="91440" marR="91440" marT="36576" marB="36576" anchor="ctr">
                    <a:solidFill>
                      <a:srgbClr val="FFFFFF"/>
                    </a:solidFill>
                  </a:tcPr>
                </a:tc>
                <a:tc>
                  <a:txBody>
                    <a:bodyPr wrap="square"/>
                    <a:lstStyle/>
                    <a:p>
                      <a:pPr algn="l"/>
                      <a:r>
                        <a:rPr sz="1050" b="0">
                          <a:solidFill>
                            <a:srgbClr val="1A2233"/>
                          </a:solidFill>
                          <a:latin typeface="맑은 고딕"/>
                        </a:rPr>
                        <a:t>기동의 Gravity Value.  a = n·g</a:t>
                      </a:r>
                    </a:p>
                  </a:txBody>
                  <a:tcPr marL="91440" marR="91440" marT="36576" marB="36576" anchor="ctr">
                    <a:solidFill>
                      <a:srgbClr val="FFFFFF"/>
                    </a:solidFill>
                  </a:tcPr>
                </a:tc>
              </a:tr>
              <a:tr h="457200">
                <a:tc>
                  <a:txBody>
                    <a:bodyPr wrap="square"/>
                    <a:lstStyle/>
                    <a:p>
                      <a:pPr algn="l"/>
                      <a:r>
                        <a:rPr sz="1050" b="1">
                          <a:solidFill>
                            <a:srgbClr val="1A2233"/>
                          </a:solidFill>
                          <a:latin typeface="맑은 고딕"/>
                        </a:rPr>
                        <a:t>각속도 ω</a:t>
                      </a:r>
                    </a:p>
                  </a:txBody>
                  <a:tcPr marL="91440" marR="91440" marT="36576" marB="36576" anchor="ctr">
                    <a:solidFill>
                      <a:srgbClr val="F4F6FA"/>
                    </a:solidFill>
                  </a:tcPr>
                </a:tc>
                <a:tc>
                  <a:txBody>
                    <a:bodyPr wrap="square"/>
                    <a:lstStyle/>
                    <a:p>
                      <a:pPr algn="l"/>
                      <a:r>
                        <a:rPr sz="1050" b="0">
                          <a:solidFill>
                            <a:srgbClr val="1A2233"/>
                          </a:solidFill>
                          <a:latin typeface="맑은 고딕"/>
                        </a:rPr>
                        <a:t>1초에 몇 도(라디안) 도는가</a:t>
                      </a:r>
                    </a:p>
                  </a:txBody>
                  <a:tcPr marL="91440" marR="91440" marT="36576" marB="36576" anchor="ctr">
                    <a:solidFill>
                      <a:srgbClr val="F4F6FA"/>
                    </a:solidFill>
                  </a:tcPr>
                </a:tc>
                <a:tc>
                  <a:txBody>
                    <a:bodyPr wrap="square"/>
                    <a:lstStyle/>
                    <a:p>
                      <a:pPr algn="l"/>
                      <a:r>
                        <a:rPr sz="1050" b="0">
                          <a:solidFill>
                            <a:srgbClr val="1A2233"/>
                          </a:solidFill>
                          <a:latin typeface="맑은 고딕"/>
                        </a:rPr>
                        <a:t>ω = n·g / V.  매 스텝 자세각 += ω × 0.1 s</a:t>
                      </a:r>
                    </a:p>
                  </a:txBody>
                  <a:tcPr marL="91440" marR="91440" marT="36576" marB="36576" anchor="ctr">
                    <a:solidFill>
                      <a:srgbClr val="F4F6FA"/>
                    </a:solidFill>
                  </a:tcPr>
                </a:tc>
              </a:tr>
              <a:tr h="457200">
                <a:tc>
                  <a:txBody>
                    <a:bodyPr wrap="square"/>
                    <a:lstStyle/>
                    <a:p>
                      <a:pPr algn="l"/>
                      <a:r>
                        <a:rPr sz="1050" b="1">
                          <a:solidFill>
                            <a:srgbClr val="1A2233"/>
                          </a:solidFill>
                          <a:latin typeface="맑은 고딕"/>
                        </a:rPr>
                        <a:t>오일러 적분</a:t>
                      </a:r>
                    </a:p>
                  </a:txBody>
                  <a:tcPr marL="91440" marR="91440" marT="36576" marB="36576" anchor="ctr">
                    <a:solidFill>
                      <a:srgbClr val="FFFFFF"/>
                    </a:solidFill>
                  </a:tcPr>
                </a:tc>
                <a:tc>
                  <a:txBody>
                    <a:bodyPr wrap="square"/>
                    <a:lstStyle/>
                    <a:p>
                      <a:pPr algn="l"/>
                      <a:r>
                        <a:rPr sz="1050" b="0">
                          <a:solidFill>
                            <a:srgbClr val="1A2233"/>
                          </a:solidFill>
                          <a:latin typeface="맑은 고딕"/>
                        </a:rPr>
                        <a:t>새 값 = 지금 값 + 변화율 × 시간 간격</a:t>
                      </a:r>
                    </a:p>
                  </a:txBody>
                  <a:tcPr marL="91440" marR="91440" marT="36576" marB="36576" anchor="ctr">
                    <a:solidFill>
                      <a:srgbClr val="FFFFFF"/>
                    </a:solidFill>
                  </a:tcPr>
                </a:tc>
                <a:tc>
                  <a:txBody>
                    <a:bodyPr wrap="square"/>
                    <a:lstStyle/>
                    <a:p>
                      <a:pPr algn="l"/>
                      <a:r>
                        <a:rPr sz="1050" b="0">
                          <a:solidFill>
                            <a:srgbClr val="1A2233"/>
                          </a:solidFill>
                          <a:latin typeface="맑은 고딕"/>
                        </a:rPr>
                        <a:t>p ← p + v × Δt.  스텝 안 속도 일정이라 정확</a:t>
                      </a:r>
                    </a:p>
                  </a:txBody>
                  <a:tcPr marL="91440" marR="91440" marT="36576" marB="36576" anchor="ctr">
                    <a:solidFill>
                      <a:srgbClr val="FFFFFF"/>
                    </a:solidFill>
                  </a:tcPr>
                </a:tc>
              </a:tr>
              <a:tr h="457200">
                <a:tc>
                  <a:txBody>
                    <a:bodyPr wrap="square"/>
                    <a:lstStyle/>
                    <a:p>
                      <a:pPr algn="l"/>
                      <a:r>
                        <a:rPr sz="1050" b="1">
                          <a:solidFill>
                            <a:srgbClr val="1A2233"/>
                          </a:solidFill>
                          <a:latin typeface="맑은 고딕"/>
                        </a:rPr>
                        <a:t>자세각 roll · pitch · yaw</a:t>
                      </a:r>
                    </a:p>
                  </a:txBody>
                  <a:tcPr marL="91440" marR="91440" marT="36576" marB="36576" anchor="ctr">
                    <a:solidFill>
                      <a:srgbClr val="F4F6FA"/>
                    </a:solidFill>
                  </a:tcPr>
                </a:tc>
                <a:tc>
                  <a:txBody>
                    <a:bodyPr wrap="square"/>
                    <a:lstStyle/>
                    <a:p>
                      <a:pPr algn="l"/>
                      <a:r>
                        <a:rPr sz="1050" b="0">
                          <a:solidFill>
                            <a:srgbClr val="1A2233"/>
                          </a:solidFill>
                          <a:latin typeface="맑은 고딕"/>
                        </a:rPr>
                        <a:t>동체 축이 수평면(NED) 에 대해 돌아간 세 각</a:t>
                      </a:r>
                    </a:p>
                  </a:txBody>
                  <a:tcPr marL="91440" marR="91440" marT="36576" marB="36576" anchor="ctr">
                    <a:solidFill>
                      <a:srgbClr val="F4F6FA"/>
                    </a:solidFill>
                  </a:tcPr>
                </a:tc>
                <a:tc>
                  <a:txBody>
                    <a:bodyPr wrap="square"/>
                    <a:lstStyle/>
                    <a:p>
                      <a:pPr algn="l"/>
                      <a:r>
                        <a:rPr sz="1050" b="0">
                          <a:solidFill>
                            <a:srgbClr val="1A2233"/>
                          </a:solidFill>
                          <a:latin typeface="맑은 고딕"/>
                        </a:rPr>
                        <a:t>표적의 진행 방향.  yaw 180° = 남쪽</a:t>
                      </a:r>
                    </a:p>
                  </a:txBody>
                  <a:tcPr marL="91440" marR="91440" marT="36576" marB="36576" anchor="ctr">
                    <a:solidFill>
                      <a:srgbClr val="F4F6FA"/>
                    </a:solidFill>
                  </a:tcPr>
                </a:tc>
              </a:tr>
              <a:tr h="457200">
                <a:tc>
                  <a:txBody>
                    <a:bodyPr wrap="square"/>
                    <a:lstStyle/>
                    <a:p>
                      <a:pPr algn="l"/>
                      <a:r>
                        <a:rPr sz="1050" b="1">
                          <a:solidFill>
                            <a:srgbClr val="1A2233"/>
                          </a:solidFill>
                          <a:latin typeface="맑은 고딕"/>
                        </a:rPr>
                        <a:t>ECEF</a:t>
                      </a:r>
                    </a:p>
                  </a:txBody>
                  <a:tcPr marL="91440" marR="91440" marT="36576" marB="36576" anchor="ctr">
                    <a:solidFill>
                      <a:srgbClr val="FFFFFF"/>
                    </a:solidFill>
                  </a:tcPr>
                </a:tc>
                <a:tc>
                  <a:txBody>
                    <a:bodyPr wrap="square"/>
                    <a:lstStyle/>
                    <a:p>
                      <a:pPr algn="l"/>
                      <a:r>
                        <a:rPr sz="1050" b="0">
                          <a:solidFill>
                            <a:srgbClr val="1A2233"/>
                          </a:solidFill>
                          <a:latin typeface="맑은 고딕"/>
                        </a:rPr>
                        <a:t>지구 중심 원점, 지구와 함께 도는 직교좌표 [m]</a:t>
                      </a:r>
                    </a:p>
                  </a:txBody>
                  <a:tcPr marL="91440" marR="91440" marT="36576" marB="36576" anchor="ctr">
                    <a:solidFill>
                      <a:srgbClr val="FFFFFF"/>
                    </a:solidFill>
                  </a:tcPr>
                </a:tc>
                <a:tc>
                  <a:txBody>
                    <a:bodyPr wrap="square"/>
                    <a:lstStyle/>
                    <a:p>
                      <a:pPr algn="l"/>
                      <a:r>
                        <a:rPr sz="1050" b="0">
                          <a:solidFill>
                            <a:srgbClr val="1A2233"/>
                          </a:solidFill>
                          <a:latin typeface="맑은 고딕"/>
                        </a:rPr>
                        <a:t>위치·속도를 갱신하는 자리</a:t>
                      </a:r>
                    </a:p>
                  </a:txBody>
                  <a:tcPr marL="91440" marR="91440" marT="36576" marB="36576" anchor="ctr">
                    <a:solidFill>
                      <a:srgbClr val="FFFFFF"/>
                    </a:solidFill>
                  </a:tcPr>
                </a:tc>
              </a:tr>
              <a:tr h="457200">
                <a:tc>
                  <a:txBody>
                    <a:bodyPr wrap="square"/>
                    <a:lstStyle/>
                    <a:p>
                      <a:pPr algn="l"/>
                      <a:r>
                        <a:rPr sz="1050" b="1">
                          <a:solidFill>
                            <a:srgbClr val="1A2233"/>
                          </a:solidFill>
                          <a:latin typeface="맑은 고딕"/>
                        </a:rPr>
                        <a:t>NED</a:t>
                      </a:r>
                    </a:p>
                  </a:txBody>
                  <a:tcPr marL="91440" marR="91440" marT="36576" marB="36576" anchor="ctr">
                    <a:solidFill>
                      <a:srgbClr val="F4F6FA"/>
                    </a:solidFill>
                  </a:tcPr>
                </a:tc>
                <a:tc>
                  <a:txBody>
                    <a:bodyPr wrap="square"/>
                    <a:lstStyle/>
                    <a:p>
                      <a:pPr algn="l"/>
                      <a:r>
                        <a:rPr sz="1050" b="0">
                          <a:solidFill>
                            <a:srgbClr val="1A2233"/>
                          </a:solidFill>
                          <a:latin typeface="맑은 고딕"/>
                        </a:rPr>
                        <a:t>한 지점의 북 · 동 · 아래 수평 좌표</a:t>
                      </a:r>
                    </a:p>
                  </a:txBody>
                  <a:tcPr marL="91440" marR="91440" marT="36576" marB="36576" anchor="ctr">
                    <a:solidFill>
                      <a:srgbClr val="F4F6FA"/>
                    </a:solidFill>
                  </a:tcPr>
                </a:tc>
                <a:tc>
                  <a:txBody>
                    <a:bodyPr wrap="square"/>
                    <a:lstStyle/>
                    <a:p>
                      <a:pPr algn="l"/>
                      <a:r>
                        <a:rPr sz="1050" b="0">
                          <a:solidFill>
                            <a:srgbClr val="1A2233"/>
                          </a:solidFill>
                          <a:latin typeface="맑은 고딕"/>
                        </a:rPr>
                        <a:t>표적 자신의 자리 기준.  매 스텝 다시 잡는다</a:t>
                      </a:r>
                    </a:p>
                  </a:txBody>
                  <a:tcPr marL="91440" marR="91440" marT="36576" marB="36576" anchor="ctr">
                    <a:solidFill>
                      <a:srgbClr val="F4F6FA"/>
                    </a:solidFill>
                  </a:tcPr>
                </a:tc>
              </a:tr>
              <a:tr h="457200">
                <a:tc>
                  <a:txBody>
                    <a:bodyPr wrap="square"/>
                    <a:lstStyle/>
                    <a:p>
                      <a:pPr algn="l"/>
                      <a:r>
                        <a:rPr sz="1050" b="1">
                          <a:solidFill>
                            <a:srgbClr val="1A2233"/>
                          </a:solidFill>
                          <a:latin typeface="맑은 고딕"/>
                        </a:rPr>
                        <a:t>타원체고</a:t>
                      </a:r>
                    </a:p>
                  </a:txBody>
                  <a:tcPr marL="91440" marR="91440" marT="36576" marB="36576" anchor="ctr">
                    <a:solidFill>
                      <a:srgbClr val="FFFFFF"/>
                    </a:solidFill>
                  </a:tcPr>
                </a:tc>
                <a:tc>
                  <a:txBody>
                    <a:bodyPr wrap="square"/>
                    <a:lstStyle/>
                    <a:p>
                      <a:pPr algn="l"/>
                      <a:r>
                        <a:rPr sz="1050" b="0">
                          <a:solidFill>
                            <a:srgbClr val="1A2233"/>
                          </a:solidFill>
                          <a:latin typeface="맑은 고딕"/>
                        </a:rPr>
                        <a:t>WGS-84 타원체 면에서 수직으로 잰 높이</a:t>
                      </a:r>
                    </a:p>
                  </a:txBody>
                  <a:tcPr marL="91440" marR="91440" marT="36576" marB="36576" anchor="ctr">
                    <a:solidFill>
                      <a:srgbClr val="FFFFFF"/>
                    </a:solidFill>
                  </a:tcPr>
                </a:tc>
                <a:tc>
                  <a:txBody>
                    <a:bodyPr wrap="square"/>
                    <a:lstStyle/>
                    <a:p>
                      <a:pPr algn="l"/>
                      <a:r>
                        <a:rPr sz="1050" b="0">
                          <a:solidFill>
                            <a:srgbClr val="1A2233"/>
                          </a:solidFill>
                          <a:latin typeface="맑은 고딕"/>
                        </a:rPr>
                        <a:t>과제의 "고도".  해발고도와 약 20 m 차이</a:t>
                      </a:r>
                    </a:p>
                  </a:txBody>
                  <a:tcPr marL="91440" marR="91440" marT="36576" marB="36576" anchor="ctr">
                    <a:solidFill>
                      <a:srgbClr val="FFFFFF"/>
                    </a:solidFill>
                  </a:tcPr>
                </a:tc>
              </a:tr>
              <a:tr h="457200">
                <a:tc>
                  <a:txBody>
                    <a:bodyPr wrap="square"/>
                    <a:lstStyle/>
                    <a:p>
                      <a:pPr algn="l"/>
                      <a:r>
                        <a:rPr sz="1050" b="1">
                          <a:solidFill>
                            <a:srgbClr val="1A2233"/>
                          </a:solidFill>
                          <a:latin typeface="맑은 고딕"/>
                        </a:rPr>
                        <a:t>회전행렬 R</a:t>
                      </a:r>
                    </a:p>
                  </a:txBody>
                  <a:tcPr marL="91440" marR="91440" marT="36576" marB="36576" anchor="ctr">
                    <a:solidFill>
                      <a:srgbClr val="F4F6FA"/>
                    </a:solidFill>
                  </a:tcPr>
                </a:tc>
                <a:tc>
                  <a:txBody>
                    <a:bodyPr wrap="square"/>
                    <a:lstStyle/>
                    <a:p>
                      <a:pPr algn="l"/>
                      <a:r>
                        <a:rPr sz="1050" b="0">
                          <a:solidFill>
                            <a:srgbClr val="1A2233"/>
                          </a:solidFill>
                          <a:latin typeface="맑은 고딕"/>
                        </a:rPr>
                        <a:t>한 좌표계의 축을 다른 좌표계 축으로 돌려 읽는 3×3</a:t>
                      </a:r>
                    </a:p>
                  </a:txBody>
                  <a:tcPr marL="91440" marR="91440" marT="36576" marB="36576" anchor="ctr">
                    <a:solidFill>
                      <a:srgbClr val="F4F6FA"/>
                    </a:solidFill>
                  </a:tcPr>
                </a:tc>
                <a:tc>
                  <a:txBody>
                    <a:bodyPr wrap="square"/>
                    <a:lstStyle/>
                    <a:p>
                      <a:pPr algn="l"/>
                      <a:r>
                        <a:rPr sz="1050" b="0">
                          <a:solidFill>
                            <a:srgbClr val="1A2233"/>
                          </a:solidFill>
                          <a:latin typeface="맑은 고딕"/>
                        </a:rPr>
                        <a:t>위치엔 R·p + t,  속도엔 R·v</a:t>
                      </a:r>
                    </a:p>
                  </a:txBody>
                  <a:tcPr marL="91440" marR="91440" marT="36576" marB="36576" anchor="ctr">
                    <a:solidFill>
                      <a:srgbClr val="F4F6FA"/>
                    </a:solidFill>
                  </a:tcPr>
                </a:tc>
              </a:tr>
            </a:tbl>
          </a:graphicData>
        </a:graphic>
      </p:graphicFrame>
      <p:sp>
        <p:nvSpPr>
          <p:cNvPr id="8" name="Rounded Rectangle 7"/>
          <p:cNvSpPr/>
          <p:nvPr/>
        </p:nvSpPr>
        <p:spPr>
          <a:xfrm>
            <a:off x="566928" y="5577840"/>
            <a:ext cx="11064240" cy="585216"/>
          </a:xfrm>
          <a:prstGeom prst="roundRect">
            <a:avLst>
              <a:gd name="adj" fmla="val 8000"/>
            </a:avLst>
          </a:prstGeom>
          <a:solidFill>
            <a:srgbClr val="EEF1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786384" y="5577840"/>
            <a:ext cx="10625328" cy="585216"/>
          </a:xfrm>
          <a:prstGeom prst="rect">
            <a:avLst/>
          </a:prstGeom>
          <a:noFill/>
        </p:spPr>
        <p:txBody>
          <a:bodyPr wrap="square" anchor="ctr" lIns="0" rIns="0" tIns="0" bIns="0">
            <a:spAutoFit/>
          </a:bodyPr>
          <a:lstStyle/>
          <a:p>
            <a:pPr algn="ctr">
              <a:spcAft>
                <a:spcPts val="300"/>
              </a:spcAft>
            </a:pPr>
            <a:r>
              <a:rPr sz="1200" b="1">
                <a:solidFill>
                  <a:srgbClr val="1A2233"/>
                </a:solidFill>
                <a:latin typeface="맑은 고딕"/>
              </a:rPr>
              <a:t>이상입니다.  질문 환영합니다.       코드 · 문서 :  radar-sw-study / Part3_TargetSim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