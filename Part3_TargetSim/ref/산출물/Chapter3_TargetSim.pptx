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83" r:id="rId34"/>
    <p:sldId id="258" r:id="rId9"/>
    <p:sldId id="259" r:id="rId10"/>
    <p:sldId id="284" r:id="rId35"/>
    <p:sldId id="260" r:id="rId11"/>
    <p:sldId id="261" r:id="rId12"/>
    <p:sldId id="263" r:id="rId14"/>
    <p:sldId id="274" r:id="rId25"/>
    <p:sldId id="275" r:id="rId26"/>
    <p:sldId id="285" r:id="rId36"/>
    <p:sldId id="276" r:id="rId27"/>
    <p:sldId id="264" r:id="rId15"/>
    <p:sldId id="277" r:id="rId28"/>
    <p:sldId id="278" r:id="rId29"/>
    <p:sldId id="279" r:id="rId30"/>
    <p:sldId id="265" r:id="rId16"/>
    <p:sldId id="266" r:id="rId17"/>
    <p:sldId id="267" r:id="rId18"/>
    <p:sldId id="268" r:id="rId6"/>
    <p:sldId id="280" r:id="rId31"/>
    <p:sldId id="286" r:id="rId37"/>
    <p:sldId id="269" r:id="rId5"/>
    <p:sldId id="270" r:id="rId4"/>
    <p:sldId id="282" r:id="rId33"/>
    <p:sldId id="271" r:id="rId3"/>
    <p:sldId id="281" r:id="rId32"/>
    <p:sldId id="287" r:id="rId38"/>
    <p:sldId id="272" r:id="rId2"/>
    <p:sldId id="273" r:id="rId24"/>
  </p:sldIdLst>
  <p:notesMasterIdLst>
    <p:notesMasterId r:id="rId19"/>
  </p:notesMasterIdLst>
  <p:sldSz cx="12191695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7.xml"/><Relationship Id="rId3" Type="http://schemas.openxmlformats.org/officeDocument/2006/relationships/slide" Target="slides/slide16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  <Relationship Id="rId33" Type="http://schemas.openxmlformats.org/officeDocument/2006/relationships/slide" Target="slides/slide27.xml"/>
  <Relationship Id="rId34" Type="http://schemas.openxmlformats.org/officeDocument/2006/relationships/slide" Target="slides/slide28.xml"/>
  <Relationship Id="rId35" Type="http://schemas.openxmlformats.org/officeDocument/2006/relationships/slide" Target="slides/slide29.xml"/>
  <Relationship Id="rId36" Type="http://schemas.openxmlformats.org/officeDocument/2006/relationships/slide" Target="slides/slide30.xml"/>
  <Relationship Id="rId37" Type="http://schemas.openxmlformats.org/officeDocument/2006/relationships/slide" Target="slides/slide31.xml"/>
  <Relationship Id="rId38" Type="http://schemas.openxmlformats.org/officeDocument/2006/relationships/slide" Target="slides/slide32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안녕하십니까. 이번 과제 주제는 표적 궤적 모의입니다. 표적의 초기 위치와 자세, 속력, 기동을 넣으면 시간에 따라 표적이 어떻게 움직이는지 계산하는 프로그램을 만들었습니다. 구현 내용과 결과를 설명드리겠습니다.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목차입니다. 발표는 개요, 표적 정의, 궤적 생성, 결과 확인, 결론의 다섯 장으로 구성했습니다.</a:t>
            </a:r>
          </a:p>
          <a:p>
            <a:r>
              <a:t>각 장의 첫 쪽에서 그 장에서 다룰 절을 먼저 소개하고 시작하겠습니다.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표적 궤적 모의는 레이다 처리 흐름의 맨 앞 블록입니다. 표적이 실제로 움직인 궤적, 즉 참값을 만들어 뒤쪽 블록에 넘겨줍니다. 추적 필터가 맞게 추적했는지도 이 참값으로 판단합니다.</a:t>
            </a:r>
          </a:p>
          <a:p>
            <a:r>
              <a:t>구현은 표적 정의, 궤적 생성, 결과 확인 세 단계로 나눴고, 이 순서대로 두 번째 장부터 네 번째 장까지 설명드리겠습니다. 아래는 과제 요구사항을 단계별로 정리한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프로그램은 계산을 맡는 DLL 과 화면을 맡는 UI 로 나눴습니다.</a:t>
            </a:r>
          </a:p>
          <a:p>
            <a:r>
              <a:t>아래 DLL 에서는 이번에 작성한 TargetSim.c 가 표적 상태를 갱신하고, 좌표 변환과 행렬 연산은 참고 소스 코드를 그대로 씁니다. 위쪽 UI 는 입력 표와 궤적 그림, 결과 표를 맡습니다.</a:t>
            </a:r>
          </a:p>
          <a:p>
            <a:r>
              <a:t>둘은 설정 구조체 ST_SimConfig 와 결과 구조체 ST_SimSample 로만 주고받습니다. 맨 아래가 UI 가 DLL 함수를 부르는 순서입니다.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표적 하나는 입력값 일곱 개로 정의합니다. 위도, 경도, 고도, 속력, 그리고 Roll, Pitch, Yaw 입니다. 속도는 크기만 받고 방향은 자세각이 정합니다. 예를 들어 Yaw 가 180도면 기수가 남쪽이라, 속력 200 만으로 남쪽 200 m/s 속도가 됩니다.</a:t>
            </a:r>
          </a:p>
          <a:p>
            <a:r>
              <a:t>계산할 때는 과제 요구사항대로 이 값을 ECEF 위치와 속도, 자세각, 아홉 개로 바꿔 씁니다. 결과를 출력할 때만 위경도로 다시 바꿉니다.</a:t>
            </a:r>
          </a:p>
          <a:p>
            <a:r>
              <a:t>오른쪽이 이 값을 담는 구조체입니다. 설정은 처음에 한 번 읽고, 스텝마다 바뀌는 건 상태뿐입니다.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기동 하나는 네 값으로 정합니다. 어느 축으로, 얼마나 세게, 언제부터 언제까지 도는지입니다. 세기는 G 값의 크기로, 방향은 부호로 받습니다.</a:t>
            </a:r>
          </a:p>
          <a:p>
            <a:r>
              <a:t>계산에 필요한 건 1초에 몇 도 도는지, 즉 각속도입니다. 원운동 가속도를 중력가속도의 n 배로 놓으면 각속도는 n 곱하기 g 를 속력으로 나눈 값이고, 코드도 이 식 한 줄입니다. 그래서 같은 4G 라도 느린 배는 빨리 돌고, 빠른 항공기는 천천히 돕니다.</a:t>
            </a:r>
          </a:p>
          <a:p>
            <a:r>
              <a:t>아래는 제목 밑에 적은 예시입니다. 12초부터 20초까지 오른쪽으로 4G 는 구조체 한 줄로 이렇게 들어갑니다. 대공 표적이라면 초당 11.2도씩, 8초 동안 약 90도를 돕니다. 기동 구간 밖에서는 각속도가 0 이라 직진합니다.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헤더 파일 TargetSim.h 의 구조체를 실제 코드 화면으로 보겠습니다. 왼쪽 숫자는 소스의 줄 번호이고, 변수마다 주석에 뜻이 적혀 있습니다. 작은 것부터 차례로 보고, 세 쪽에 나눠 담았습니다.</a:t>
            </a:r>
          </a:p>
          <a:p>
            <a:r>
              <a:t>1번은 기동의 회전축입니다. 번호는 과제 명세 그대로이고, 없음이면 각속도 0 으로 직진합니다. 2번은 기동 한 건입니다. 회전축, G 값, 시작 시각, 종료 시각 네 값이고, UI 기동 표의 한 줄이 이 구조체 하나가 됩니다.</a:t>
            </a:r>
          </a:p>
          <a:p>
            <a:r>
              <a:t>3번은 표적 하나의 초기값입니다. 처음 위치와 자세, 속력, 그리고 기동 목록을 가집니다. 속도는 크기만 받고, 방향은 자세각이 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표적을 0.1초 앞으로 보내는 한 스텝입니다. 위의 다섯 단계를 차례로 거칩니다.</a:t>
            </a:r>
          </a:p>
          <a:p>
            <a:r>
              <a:t>1번, 지금 시각에 걸린 기동을 찾아 각속도를 구합니다. 걸린 기동이 없으면 각속도 0 으로 직진합니다. 2번, 각속도만큼 자세를 돌립니다. 3번, 자세가 정해지면 기수 방향 속력을 ECEF 속도 벡터로 바꿉니다.</a:t>
            </a:r>
          </a:p>
          <a:p>
            <a:r>
              <a:t>4번, 그 속도로 위치를 0.1초 옮기고, 5번, 옮긴 위치를 위도, 경도, 고도로 바꿔 결과에 담습니다.</a:t>
            </a:r>
          </a:p>
          <a:p>
            <a:r>
              <a:t>왼쪽 아래처럼 3번과 4번은 실제로 두 번 계산합니다. 0.05초 앞 지점에서 속도를 다시 구해 그 속도로 옮기는데, 처음 속도로만 옮기면 도는 동안 바깥으로 벗어나기 때문입니다. 오른쪽 아래처럼 표적끼리는 서로 영향이 없어서 표적 수만큼 반복하면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다음은 과제의 추가 고민 항목인 속도 벡터 변환입니다. 입력은 속력 하나인데, 위치에 더하려면 ECEF 의 x, y, z 세 성분이 필요합니다.</a:t>
            </a:r>
          </a:p>
          <a:p>
            <a:r>
              <a:t>그래서 회전을 두 번 합니다. 기수 방향 속도를 자세각으로 돌리면 북, 동, 아래 성분이 되고, 이것을 위도와 경도로 한 번 더 돌리면 ECEF 속도가 됩니다.</a:t>
            </a:r>
          </a:p>
          <a:p>
            <a:r>
              <a:t>오른쪽은 대공 표적 예입니다. 남쪽으로 200 m/s 로 날면 NED 에서는 북쪽 성분이 마이너스 200 이고, ECEF 로 바꾸면 아래 세 성분이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방금 본 두 번의 회전을 옮긴 f_Tgt_GetVelEcef 입니다.</a:t>
            </a:r>
          </a:p>
          <a:p>
            <a:r>
              <a:t>1번, 자세와 위경도, 속력을 받아 ECEF 속도를 돌려줍니다. 시작할 때 한 번, 스텝마다 세 번 불립니다. 2번, 앞으로만 가는 속도를 자세각으로 돌려 북, 동, 아래 성분으로 나눕니다.</a:t>
            </a:r>
          </a:p>
          <a:p>
            <a:r>
              <a:t>3번, 이것을 위경도로 한 번 더 돌려 ECEF 로 바꿉니다. 이 함수는 원래 위치를 바꾸는 함수라 기준점을 더하는데, 속도는 돌리기만 하면 되므로 기준점을 0 으로 줬습니다.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위치를 옮길 때는 어느 지점의 속도를 쓰는지가 중요합니다.</a:t>
            </a:r>
          </a:p>
          <a:p>
            <a:r>
              <a:t>위 그림처럼 출발할 때 속도로만 가면, 표적이 도는 동안 방향이 바뀌어 실제 궤적에서 점점 벗어납니다. 그래서 아래 그림처럼 반 스텝을 먼저 가 보고, 그 지점에서 속도를 다시 구해, 그 속도로 처음 위치에서 한 스텝을 옮깁니다. 이것을 중점법이라고 합니다.</a:t>
            </a:r>
          </a:p>
          <a:p>
            <a:r>
              <a:t>오른쪽 식의 v mid 가 반 스텝 지점에서 다시 구한 속도입니다.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중점법을 구현한 f_Tgt_Propagate 입니다. 길어서 두 쪽으로 나눴습니다.</a:t>
            </a:r>
          </a:p>
          <a:p>
            <a:r>
              <a:t>1번, 0.05초 뒤, 즉 반 스텝 뒤의 자세입니다. 기동 중에는 각속도가 일정해서 자세에 각속도 곱하기 0.05초를 더하면 됩니다. 2번, 같은 식에 0.1초를 넣어 0.1초 뒤 자세를 미리 만들어 둡니다.</a:t>
            </a:r>
          </a:p>
          <a:p>
            <a:r>
              <a:t>3번, 지금 속도로 0.05초 먼저 가 본 위치입니다. 이 자리에서 속도를 다시 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시뮬레이션 조건입니다. 과제 명세 값을 그대로 넣었습니다.</a:t>
            </a:r>
          </a:p>
          <a:p>
            <a:r>
              <a:t>플랫폼은 위도 32도, 경도 126도에 정지해 있고, 그림은 이 위치를 원점으로 그립니다. 대함 표적은 서쪽으로 30 m/s, 대공 표적은 고도 300미터에서 남쪽으로 200 m/s 로, 둘 다 직진합니다.</a:t>
            </a:r>
          </a:p>
          <a:p>
            <a:r>
              <a:t>60초를 0.1초 간격으로 계산하니 스텝은 600번, 0초를 포함한 결과는 601개입니다.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조건으로 계산한 결과입니다. 왼쪽은 플랫폼을 원점으로 위에서 내려다본 궤적이고, 점 하나가 10초 간격입니다.</a:t>
            </a:r>
          </a:p>
          <a:p>
            <a:r>
              <a:t>대공 표적은 남쪽으로 12킬로미터, 대함 표적은 서쪽으로 1.8킬로미터를 직진했습니다. 각각 속력에 60초를 곱한 거리입니다. 오른쪽처럼 고도와 속력은 처음 값 그대로입니다.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앞에서 정한 기동 10개를 같은 초기값에 넣어 계산한 결과입니다.</a:t>
            </a:r>
          </a:p>
          <a:p>
            <a:r>
              <a:t>파란 대함 표적은 1G 로 45도씩 돌면서 한 번 비켜 가고, 빨간 대공 표적은 8.2G 로 90도씩 돌면서 지그재그로 내려옵니다.</a:t>
            </a:r>
          </a:p>
          <a:p>
            <a:r>
              <a:t>오른쪽 방위각 그래프에서 색칠한 부분이 기동 구간입니다. 구간 안에서만 방위각이 바뀌고, 밖에서는 그대로 직진합니다.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과제 요구사항과 구현을 한 표로 정리했습니다.</a:t>
            </a:r>
          </a:p>
          <a:p>
            <a:r>
              <a:t>표적 10개, 기동 30개는 고정 배열로 담았고, 위치와 속력, 기동은 구조체로 받습니다. 상태는 ECEF 에서 갱신하고, 속도 변환은 동체에서 NED, ECEF 로 두 번 회전해 구현했습니다. 좌표변환은 참고 소스 함수를 그대로 썼고, 결과는 표와 CSV, 그림으로 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이상으로 발표를 마치겠습니다. 코드는 radar-sw-study 저장소의 Part3_TargetSim 폴더에 있습니다. 감사합니다. 질문 주시면 답변드리겠습니다.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이어서 1번은 플랫폼의 초기값입니다. 플랫폼은 레이다가 실린 우리 쪽이고, 과제에서는 정지해 있어서 궤적 그림의 원점이 됩니다. 기동이 없으니 위치와 자세, 속력만 받습니다.</a:t>
            </a:r>
          </a:p>
          <a:p>
            <a:r>
              <a:t>2번은 시뮬레이션 전체 설정입니다. 전체 시간과 간격, 플랫폼 하나, 표적 최대 10개가 들어갑니다. 아래 띠처럼 UI 는 입력 표의 값으로 이 설정 한 묶음을 채워서 DLL 에 넘깁니다.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다음은 계산 결과 쪽입니다. 1번은 플랫폼이나 표적 하나의 한 시각 상태입니다. 위치와 속도는 ECEF 로 계산하고, 위도, 경도, 고도는 표와 CSV 에 씁니다. 플랫폼도 이 구조체에 담아 표적과 같은 방법으로 계산합니다.</a:t>
            </a:r>
          </a:p>
          <a:p>
            <a:r>
              <a:t>2번은 한 시각의 결과로, 플랫폼과 표적의 상태를 모두 담습니다. 3번은 DLL 이 들고 있는 진행 상태로, 스텝 수와 가장 최근 결과, 복사해 둔 설정이 들어 있습니다.</a:t>
            </a:r>
          </a:p>
          <a:p>
            <a:r>
              <a:t>4번, UI 는 두 함수만 부릅니다. f_Tgt_InitSim 을 한 번 불러 설정을 복사하고 0초 결과를 만든 뒤, f_Tgt_StepSim 을 600번 부르면 부를 때마다 결과가 0.1초 뒤로 바뀝니다. UI 는 그때마다 결과를 받아 601개를 모읍니다.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초기화 함수 f_Tgt_InitSim 입니다. TargetSim.c 의 122행부터 145행까지이고, 코드에 표시한 번호 순서대로 보겠습니다.</a:t>
            </a:r>
          </a:p>
          <a:p>
            <a:r>
              <a:t>1번, 128행에서 UI 가 넘긴 설정을 그대로 복사해 두고, 이후 스텝은 이 복사본을 읽습니다. 2번, 전체 시간을 간격으로 나눠 스텝 수를 구합니다. 60초를 0.1초로 나누면 600 스텝이고, 결과는 0초를 포함해 601개가 됩니다.</a:t>
            </a:r>
          </a:p>
          <a:p>
            <a:r>
              <a:t>3번, 0초 결과를 준비합니다. 시각과 스텝 번호는 0 이고, 표적 수를 넣습니다. 4번, 플랫폼과 표적마다 f_Tgt_InitState 로 처음 위치와 속도를 만듭니다. 위경도는 ECEF 위치로 바꾸고, 속도는 자세 방향의 속력을 ECEF 로 바꿔 넣습니다.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스텝을 진행하는 f_Tgt_StepSim 입니다. 147행부터 174행까지입니다.</a:t>
            </a:r>
          </a:p>
          <a:p>
            <a:r>
              <a:t>1번, 지금 시각과 다음 시각은 스텝 번호에 0.1초를 곱해 구합니다. 지금 시각으로는 걸린 기동을 찾고, 다음 시각은 옮긴 뒤의 새 시각이 됩니다. 2번, 플랫폼은 기동이 없으니 각속도 0 을 넘겨 표적과 같은 함수로 0.1초 옮깁니다.</a:t>
            </a:r>
          </a:p>
          <a:p>
            <a:r>
              <a:t>3번, 표적마다 지금 걸린 기동의 각속도를 구하고, 그 각속도로 0.1초 옮깁니다. 4번, 스텝 번호와 시각을 한 칸 올립니다. UI 는 이 함수를 600번 불러 결과 601개를 모읍니다.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지금 시각의 각속도를 구하는 f_Tgt_GetAttRate 입니다. 함수가 길어서 두 쪽으로 나눴고, 이 쪽은 3행부터 20행까지입니다.</a:t>
            </a:r>
          </a:p>
          <a:p>
            <a:r>
              <a:t>1번, 각속도는 0 에서 시작하고, 걸린 기동이 없으면 0 을 그대로 돌려줍니다. 2번, 기동 목록에서 지금 시각이 시작과 종료 사이에 드는 기동을 찾습니다.</a:t>
            </a:r>
          </a:p>
          <a:p>
            <a:r>
              <a:t>아래는 대공 표적에 기동 6개를 넣은 예입니다. 주황색이 기동 구간입니다. 15초는 두 번째 기동 구간 안이라 그 기동이 걸리고, 10초는 어느 구간에도 없어서 각속도 0 으로 직진합니다.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이어서 22행부터입니다. 3번, 찾은 기동의 G 값을 각속도로 바꿉니다. G 값에 중력가속도를 곱하고 속력으로 나누는 식이라, 같은 G 라도 빠른 표적일수록 천천히 돌고, 대공 표적이 8.2G 로 돌면 초당 약 23도입니다.</a:t>
            </a:r>
          </a:p>
          <a:p>
            <a:r>
              <a:t>4번, 그 값을 기동 축 하나에만 넣고 나머지 두 축은 0 으로 둡니다. 회전축이 없음이면 각속도 0 으로 직진합니다.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이어서 4번, 0.05초 뒤 지점의 위경도와 자세로 속도를 다시 구합니다. 이 중간 지점 속도를 이번 0.1초 동안의 평균 속도로 씁니다.</a:t>
            </a:r>
          </a:p>
          <a:p>
            <a:r>
              <a:t>5번, 시작 위치에 중간 지점 속도 곱하기 0.1초를 더해 옮깁니다. 6번, 옮긴 위치를 위경도로 바꾸고, 0.1초 뒤 자세로 속도도 다시 구합니다.</a:t>
            </a:r>
          </a:p>
          <a:p>
            <a:r>
              <a:t>7번, 계산하는 동안은 시작 값만 읽고, 끝에서 새 값으로 한꺼번에 덮어씁니다.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운용 화면입니다. 기동 시연 프리셋을 불러와 표적 2 를 고른 상태입니다.</a:t>
            </a:r>
          </a:p>
          <a:p>
            <a:r>
              <a:t>1번에서 시나리오를 고르고, 2번 표에서 플랫폼과 표적의 초기값을, 3번 표에서 고른 표적의 기동을 고칩니다. 오른쪽 4번은 궤적과 고도 그림, 5번은 시각별 위경도 표이고 CSV 로 저장할 수 있습니다.</a:t>
            </a:r>
          </a:p>
          <a:p>
            <a:r>
              <a:t>칸을 하나 고치면 아래 순서로 전 구간을 바로 다시 계산해서, 그림과 표가 함께 바뀝니다.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명세 조건은 두 표적 모두 직진이라, 기동 계산을 확인하려고 지그재그 기동을 따로 만들었습니다. 먼저 과제 속력에서 G 값마다 도는 데 몇 초가 걸리는지 계산했습니다. 위의 식으로 각속도를 구하면, 표처럼 한 바퀴와 90도를 도는 데 걸리는 시간과 선회 반경이 나옵니다.</a:t>
            </a:r>
          </a:p>
          <a:p>
            <a:r>
              <a:t>왼쪽 대함 표적은 느려서 1G 로도 45도를 2.4초에 돕니다. 45도씩 네 번 돌아서, 남쪽으로 170미터쯤 비켜 갔다가 원래 위도로 돌아오게 했습니다.</a:t>
            </a:r>
          </a:p>
          <a:p>
            <a:r>
              <a:t>오른쪽 대공 표적은 1G 면 90도 한 번에 32초가 걸리고, 4G 로도 여섯 번 도는 데 53초가 걸립니다. 그래서 8.2G 로 정했습니다. 90도는 3.9초, 마지막 150도는 6.5초에 돌고, 나머지 34초는 직진합니다.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장, 개요입니다. 과제 개요와 구현 구성을 차례로 말씀드리겠습니다.</a:t>
            </a:r>
          </a:p>
          <a:p>
            <a:r>
              <a:t>좌표변환 이론은 Part 2 에서 다뤘으니, 이번에는 그 이론을 적용한 구현 위주로 설명드리겠습니다.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장, 표적 정의입니다.</a:t>
            </a:r>
          </a:p>
          <a:p>
            <a:r>
              <a:t>표적과 기동을 어떤 값으로 받는지 먼저 보고, 그 값을 담은 구조체 코드를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장, 궤적 생성입니다.</a:t>
            </a:r>
          </a:p>
          <a:p>
            <a:r>
              <a:t>초기화와 한 스텝의 처리 순서를 먼저 보고, 기동 찾기, 속도 벡터 변환, 한 스텝 전진을 공식과 코드로 차례로 설명드리겠습니다.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번째 장, 결과 확인입니다.</a:t>
            </a:r>
          </a:p>
          <a:p>
            <a:r>
              <a:t>과제 조건으로 계산한 결과를 먼저 보고, 기동 시연의 설계와 결과, 운용 화면 순서로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장, 결론입니다.</a:t>
            </a:r>
          </a:p>
          <a:p>
            <a:r>
              <a:t>과제 요구사항별로 무엇을 어떻게 구현했는지 정리하겠습니다.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0" y="6583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505456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AEB9CC"/>
                </a:solidFill>
                <a:latin typeface="맑은 고딕"/>
              </a:rPr>
              <a:t>레이다 SW 학습 과제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2944368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맑은 고딕"/>
              </a:rPr>
              <a:t>표적 궤적 모의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3913632"/>
            <a:ext cx="3108960" cy="0"/>
          </a:xfrm>
          <a:prstGeom prst="rect">
            <a:avLst/>
          </a:prstGeom>
          <a:noFill/>
          <a:ln w="9525">
            <a:solidFill>
              <a:srgbClr val="AEB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4059936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AEB9CC"/>
                </a:solidFill>
                <a:latin typeface="Arial"/>
              </a:rPr>
              <a:t>Target Trajectory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512064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맑은 고딕"/>
              </a:rPr>
              <a:t>Janghwan Kim (Harley)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3120" y="722376"/>
            <a:ext cx="2103120" cy="0"/>
          </a:xfrm>
          <a:prstGeom prst="rect">
            <a:avLst/>
          </a:prstGeom>
          <a:noFill/>
          <a:ln w="9525">
            <a:solidFill>
              <a:srgbClr val="4A5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06240" y="722376"/>
            <a:ext cx="7269480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표적 궤적 모의</a:t>
            </a:r>
          </a:p>
          <a:p>
            <a:pPr algn="ctr">
              <a:lnSpc>
                <a:spcPct val="145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TargetSim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EB9CC"/>
                </a:solidFill>
                <a:latin typeface="맑은 고딕"/>
              </a:rPr>
              <a:t>Janghwan Kim (Harley)</a:t>
            </a:r>
          </a:p>
        </p:txBody>
      </p:sp>
      <p:sp>
        <p:nvSpPr>
          <p:cNvPr id="23" name="Index Num 1"/>
          <p:cNvSpPr txBox="1"/>
          <p:nvPr/>
        </p:nvSpPr>
        <p:spPr>
          <a:xfrm>
            <a:off x="4800600" y="1741932"/>
            <a:ext cx="914400" cy="5029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i="0" dirty="0">
                <a:solidFill>
                  <a:srgbClr val="1B2740"/>
                </a:solidFill>
                <a:latin typeface="Arial"/>
                <a:ea typeface="맑은 고딕"/>
                <a:cs typeface="맑은 고딕"/>
              </a:rPr>
              <a:t>01</a:t>
            </a:r>
            <a:endParaRPr lang="ko-KR" altLang="en-US" sz="1000" dirty="0"/>
          </a:p>
        </p:txBody>
      </p:sp>
      <p:sp>
        <p:nvSpPr>
          <p:cNvPr id="24" name="Index Title 1"/>
          <p:cNvSpPr txBox="1"/>
          <p:nvPr/>
        </p:nvSpPr>
        <p:spPr>
          <a:xfrm>
            <a:off x="5852160" y="1741932"/>
            <a:ext cx="431800" cy="5029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개요</a:t>
            </a:r>
            <a:endParaRPr lang="ko-KR" altLang="en-US" sz="1000" dirty="0"/>
          </a:p>
        </p:txBody>
      </p:sp>
      <p:sp>
        <p:nvSpPr>
          <p:cNvPr id="25" name="Index Leader 1"/>
          <p:cNvSpPr/>
          <p:nvPr/>
        </p:nvSpPr>
        <p:spPr>
          <a:xfrm>
            <a:off x="6436360" y="2044192"/>
            <a:ext cx="4450080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26" name="Index Page 1"/>
          <p:cNvSpPr txBox="1"/>
          <p:nvPr/>
        </p:nvSpPr>
        <p:spPr>
          <a:xfrm>
            <a:off x="11013440" y="1741932"/>
            <a:ext cx="508000" cy="5029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Arial"/>
                <a:ea typeface="맑은 고딕"/>
                <a:cs typeface="맑은 고딕"/>
              </a:rPr>
              <a:t>3</a:t>
            </a:r>
            <a:endParaRPr lang="ko-KR" altLang="en-US" sz="1000" dirty="0"/>
          </a:p>
        </p:txBody>
      </p:sp>
      <p:sp>
        <p:nvSpPr>
          <p:cNvPr id="27" name="Index Rule 1"/>
          <p:cNvSpPr/>
          <p:nvPr/>
        </p:nvSpPr>
        <p:spPr>
          <a:xfrm>
            <a:off x="4800600" y="2432304"/>
            <a:ext cx="6720840" cy="0"/>
          </a:xfrm>
          <a:prstGeom prst="line">
            <a:avLst/>
          </a:prstGeom>
          <a:noFill/>
          <a:ln w="9525" cap="rnd">
            <a:solidFill>
              <a:srgbClr val="D2D9E5"/>
            </a:solidFill>
            <a:prstDash val="solid"/>
          </a:ln>
        </p:spPr>
      </p:sp>
      <p:sp>
        <p:nvSpPr>
          <p:cNvPr id="28" name="Index Num 2"/>
          <p:cNvSpPr txBox="1"/>
          <p:nvPr/>
        </p:nvSpPr>
        <p:spPr>
          <a:xfrm>
            <a:off x="4800600" y="2619756"/>
            <a:ext cx="914400" cy="5029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i="0" dirty="0">
                <a:solidFill>
                  <a:srgbClr val="1B2740"/>
                </a:solidFill>
                <a:latin typeface="Arial"/>
                <a:ea typeface="맑은 고딕"/>
                <a:cs typeface="맑은 고딕"/>
              </a:rPr>
              <a:t>02</a:t>
            </a:r>
            <a:endParaRPr lang="ko-KR" altLang="en-US" sz="1000" dirty="0"/>
          </a:p>
        </p:txBody>
      </p:sp>
      <p:sp>
        <p:nvSpPr>
          <p:cNvPr id="29" name="Index Title 2"/>
          <p:cNvSpPr txBox="1"/>
          <p:nvPr/>
        </p:nvSpPr>
        <p:spPr>
          <a:xfrm>
            <a:off x="5852160" y="2619756"/>
            <a:ext cx="917537" cy="5029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표적 정의</a:t>
            </a:r>
            <a:endParaRPr lang="ko-KR" altLang="en-US" sz="1000" dirty="0"/>
          </a:p>
        </p:txBody>
      </p:sp>
      <p:sp>
        <p:nvSpPr>
          <p:cNvPr id="30" name="Index Leader 2"/>
          <p:cNvSpPr/>
          <p:nvPr/>
        </p:nvSpPr>
        <p:spPr>
          <a:xfrm>
            <a:off x="6922097" y="2922016"/>
            <a:ext cx="3964343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31" name="Index Page 2"/>
          <p:cNvSpPr txBox="1"/>
          <p:nvPr/>
        </p:nvSpPr>
        <p:spPr>
          <a:xfrm>
            <a:off x="11013440" y="2619756"/>
            <a:ext cx="508000" cy="5029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Arial"/>
                <a:ea typeface="맑은 고딕"/>
                <a:cs typeface="맑은 고딕"/>
              </a:rPr>
              <a:t>6</a:t>
            </a:r>
            <a:endParaRPr lang="ko-KR" altLang="en-US" sz="1000" dirty="0"/>
          </a:p>
        </p:txBody>
      </p:sp>
      <p:sp>
        <p:nvSpPr>
          <p:cNvPr id="32" name="Index Rule 2"/>
          <p:cNvSpPr/>
          <p:nvPr/>
        </p:nvSpPr>
        <p:spPr>
          <a:xfrm>
            <a:off x="4800600" y="3310128"/>
            <a:ext cx="6720840" cy="0"/>
          </a:xfrm>
          <a:prstGeom prst="line">
            <a:avLst/>
          </a:prstGeom>
          <a:noFill/>
          <a:ln w="9525" cap="rnd">
            <a:solidFill>
              <a:srgbClr val="D2D9E5"/>
            </a:solidFill>
            <a:prstDash val="solid"/>
          </a:ln>
        </p:spPr>
      </p:sp>
      <p:sp>
        <p:nvSpPr>
          <p:cNvPr id="33" name="Index Num 3"/>
          <p:cNvSpPr txBox="1"/>
          <p:nvPr/>
        </p:nvSpPr>
        <p:spPr>
          <a:xfrm>
            <a:off x="4800600" y="3497580"/>
            <a:ext cx="914400" cy="5029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i="0" dirty="0">
                <a:solidFill>
                  <a:srgbClr val="1B2740"/>
                </a:solidFill>
                <a:latin typeface="Arial"/>
                <a:ea typeface="맑은 고딕"/>
                <a:cs typeface="맑은 고딕"/>
              </a:rPr>
              <a:t>03</a:t>
            </a:r>
            <a:endParaRPr lang="ko-KR" altLang="en-US" sz="1000" dirty="0"/>
          </a:p>
        </p:txBody>
      </p:sp>
      <p:sp>
        <p:nvSpPr>
          <p:cNvPr id="34" name="Index Title 3"/>
          <p:cNvSpPr txBox="1"/>
          <p:nvPr/>
        </p:nvSpPr>
        <p:spPr>
          <a:xfrm>
            <a:off x="5852160" y="3497580"/>
            <a:ext cx="917537" cy="5029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궤적 생성</a:t>
            </a:r>
            <a:endParaRPr lang="ko-KR" altLang="en-US" sz="1000" dirty="0"/>
          </a:p>
        </p:txBody>
      </p:sp>
      <p:sp>
        <p:nvSpPr>
          <p:cNvPr id="35" name="Index Leader 3"/>
          <p:cNvSpPr/>
          <p:nvPr/>
        </p:nvSpPr>
        <p:spPr>
          <a:xfrm>
            <a:off x="6922097" y="3799840"/>
            <a:ext cx="3964343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36" name="Index Page 3"/>
          <p:cNvSpPr txBox="1"/>
          <p:nvPr/>
        </p:nvSpPr>
        <p:spPr>
          <a:xfrm>
            <a:off x="11013440" y="3497580"/>
            <a:ext cx="508000" cy="5029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Arial"/>
                <a:ea typeface="맑은 고딕"/>
                <a:cs typeface="맑은 고딕"/>
              </a:rPr>
              <a:t>12</a:t>
            </a:r>
            <a:endParaRPr lang="ko-KR" altLang="en-US" sz="1000" dirty="0"/>
          </a:p>
        </p:txBody>
      </p:sp>
      <p:sp>
        <p:nvSpPr>
          <p:cNvPr id="37" name="Index Rule 3"/>
          <p:cNvSpPr/>
          <p:nvPr/>
        </p:nvSpPr>
        <p:spPr>
          <a:xfrm>
            <a:off x="4800600" y="4187952"/>
            <a:ext cx="6720840" cy="0"/>
          </a:xfrm>
          <a:prstGeom prst="line">
            <a:avLst/>
          </a:prstGeom>
          <a:noFill/>
          <a:ln w="9525" cap="rnd">
            <a:solidFill>
              <a:srgbClr val="D2D9E5"/>
            </a:solidFill>
            <a:prstDash val="solid"/>
          </a:ln>
        </p:spPr>
      </p:sp>
      <p:sp>
        <p:nvSpPr>
          <p:cNvPr id="38" name="Index Num 4"/>
          <p:cNvSpPr txBox="1"/>
          <p:nvPr/>
        </p:nvSpPr>
        <p:spPr>
          <a:xfrm>
            <a:off x="4800600" y="4375404"/>
            <a:ext cx="914400" cy="5029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i="0" dirty="0">
                <a:solidFill>
                  <a:srgbClr val="1B2740"/>
                </a:solidFill>
                <a:latin typeface="Arial"/>
                <a:ea typeface="맑은 고딕"/>
                <a:cs typeface="맑은 고딕"/>
              </a:rPr>
              <a:t>04</a:t>
            </a:r>
            <a:endParaRPr lang="ko-KR" altLang="en-US" sz="1000" dirty="0"/>
          </a:p>
        </p:txBody>
      </p:sp>
      <p:sp>
        <p:nvSpPr>
          <p:cNvPr id="39" name="Index Title 4"/>
          <p:cNvSpPr txBox="1"/>
          <p:nvPr/>
        </p:nvSpPr>
        <p:spPr>
          <a:xfrm>
            <a:off x="5852160" y="4375404"/>
            <a:ext cx="917537" cy="5029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결과 확인</a:t>
            </a:r>
            <a:endParaRPr lang="ko-KR" altLang="en-US" sz="1000" dirty="0"/>
          </a:p>
        </p:txBody>
      </p:sp>
      <p:sp>
        <p:nvSpPr>
          <p:cNvPr id="40" name="Index Leader 4"/>
          <p:cNvSpPr/>
          <p:nvPr/>
        </p:nvSpPr>
        <p:spPr>
          <a:xfrm>
            <a:off x="6922097" y="4677664"/>
            <a:ext cx="3964343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41" name="Index Page 4"/>
          <p:cNvSpPr txBox="1"/>
          <p:nvPr/>
        </p:nvSpPr>
        <p:spPr>
          <a:xfrm>
            <a:off x="11013440" y="4375404"/>
            <a:ext cx="508000" cy="5029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Arial"/>
                <a:ea typeface="맑은 고딕"/>
                <a:cs typeface="맑은 고딕"/>
              </a:rPr>
              <a:t>23</a:t>
            </a:r>
            <a:endParaRPr lang="ko-KR" altLang="en-US" sz="1000" dirty="0"/>
          </a:p>
        </p:txBody>
      </p:sp>
      <p:sp>
        <p:nvSpPr>
          <p:cNvPr id="42" name="Index Rule 4"/>
          <p:cNvSpPr/>
          <p:nvPr/>
        </p:nvSpPr>
        <p:spPr>
          <a:xfrm>
            <a:off x="4800600" y="5065776"/>
            <a:ext cx="6720840" cy="0"/>
          </a:xfrm>
          <a:prstGeom prst="line">
            <a:avLst/>
          </a:prstGeom>
          <a:noFill/>
          <a:ln w="9525" cap="rnd">
            <a:solidFill>
              <a:srgbClr val="D2D9E5"/>
            </a:solidFill>
            <a:prstDash val="solid"/>
          </a:ln>
        </p:spPr>
      </p:sp>
      <p:sp>
        <p:nvSpPr>
          <p:cNvPr id="43" name="Index Num 5"/>
          <p:cNvSpPr txBox="1"/>
          <p:nvPr/>
        </p:nvSpPr>
        <p:spPr>
          <a:xfrm>
            <a:off x="4800600" y="5253228"/>
            <a:ext cx="914400" cy="5029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i="0" dirty="0">
                <a:solidFill>
                  <a:srgbClr val="1B2740"/>
                </a:solidFill>
                <a:latin typeface="Arial"/>
                <a:ea typeface="맑은 고딕"/>
                <a:cs typeface="맑은 고딕"/>
              </a:rPr>
              <a:t>05</a:t>
            </a:r>
            <a:endParaRPr lang="ko-KR" altLang="en-US" sz="1000" dirty="0"/>
          </a:p>
        </p:txBody>
      </p:sp>
      <p:sp>
        <p:nvSpPr>
          <p:cNvPr id="44" name="Index Title 5"/>
          <p:cNvSpPr txBox="1"/>
          <p:nvPr/>
        </p:nvSpPr>
        <p:spPr>
          <a:xfrm>
            <a:off x="5852160" y="5253228"/>
            <a:ext cx="431800" cy="5029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결론</a:t>
            </a:r>
            <a:endParaRPr lang="ko-KR" altLang="en-US" sz="1000" dirty="0"/>
          </a:p>
        </p:txBody>
      </p:sp>
      <p:sp>
        <p:nvSpPr>
          <p:cNvPr id="45" name="Index Leader 5"/>
          <p:cNvSpPr/>
          <p:nvPr/>
        </p:nvSpPr>
        <p:spPr>
          <a:xfrm>
            <a:off x="6436360" y="5555488"/>
            <a:ext cx="4450080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46" name="Index Page 5"/>
          <p:cNvSpPr txBox="1"/>
          <p:nvPr/>
        </p:nvSpPr>
        <p:spPr>
          <a:xfrm>
            <a:off x="11013440" y="5253228"/>
            <a:ext cx="508000" cy="5029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Arial"/>
                <a:ea typeface="맑은 고딕"/>
                <a:cs typeface="맑은 고딕"/>
              </a:rPr>
              <a:t>29</a:t>
            </a:r>
            <a:endParaRPr lang="ko-KR" altLang="en-US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7653527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01.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1.1 과제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515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5A7A"/>
                </a:solidFill>
                <a:latin typeface="맑은 고딕"/>
                <a:ea typeface="맑은 고딕"/>
              </a:rPr>
              <a:t>표적이 실제로 움직인 궤적, 즉 참값을 만들어 뒤쪽 처리 블록에 넘겨주는 모의입니다.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레이다 처리 흐름에서의 위치</a:t>
            </a:r>
            <a:endParaRPr lang="ko-KR" altLang="en-US" sz="1150" dirty="0"/>
          </a:p>
        </p:txBody>
      </p:sp>
      <p:sp>
        <p:nvSpPr>
          <p:cNvPr id="9" name="Rectangle 8"/>
          <p:cNvSpPr/>
          <p:nvPr/>
        </p:nvSpPr>
        <p:spPr>
          <a:xfrm>
            <a:off x="640080" y="2505456"/>
            <a:ext cx="2452878" cy="566928"/>
          </a:xfrm>
          <a:prstGeom prst="rect">
            <a:avLst/>
          </a:prstGeom>
          <a:solidFill>
            <a:srgbClr val="EEF3FE"/>
          </a:solidFill>
          <a:ln w="1905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78608"/>
            <a:ext cx="2452878" cy="2377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표적 궤적 모의</a:t>
            </a:r>
            <a:endParaRPr lang="ko-KR" altLang="en-US" sz="1150"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" y="2825496"/>
            <a:ext cx="2452878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시각별 위도 · 경도 · 고도</a:t>
            </a:r>
            <a:endParaRPr lang="ko-KR" altLang="en-US" sz="950" dirty="0"/>
          </a:p>
        </p:txBody>
      </p:sp>
      <p:cxnSp>
        <p:nvCxnSpPr>
          <p:cNvPr id="12" name="Connector 11"/>
          <p:cNvCxnSpPr/>
          <p:nvPr/>
        </p:nvCxnSpPr>
        <p:spPr>
          <a:xfrm>
            <a:off x="3147822" y="2788920"/>
            <a:ext cx="256032" cy="0"/>
          </a:xfrm>
          <a:prstGeom prst="line">
            <a:avLst/>
          </a:prstGeom>
          <a:ln w="15875">
            <a:solidFill>
              <a:srgbClr val="1B2740"/>
            </a:solidFill>
            <a:tailEnd type="triangle" w="med" len="med"/>
          </a:ln>
        </p:spPr>
      </p:cxnSp>
      <p:sp>
        <p:nvSpPr>
          <p:cNvPr id="13" name="Rectangle 12"/>
          <p:cNvSpPr/>
          <p:nvPr/>
        </p:nvSpPr>
        <p:spPr>
          <a:xfrm>
            <a:off x="3458718" y="2505456"/>
            <a:ext cx="2452878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8718" y="2578608"/>
            <a:ext cx="2452878" cy="2377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 dirty="0">
                <a:solidFill>
                  <a:srgbClr val="7A879F"/>
                </a:solidFill>
                <a:latin typeface="맑은 고딕"/>
                <a:ea typeface="맑은 고딕"/>
                <a:cs typeface="맑은 고딕"/>
              </a:rPr>
              <a:t>측정 모의</a:t>
            </a:r>
            <a:endParaRPr lang="ko-KR" altLang="en-US" sz="1150" dirty="0"/>
          </a:p>
        </p:txBody>
      </p:sp>
      <p:sp>
        <p:nvSpPr>
          <p:cNvPr id="15" name="TextBox 14"/>
          <p:cNvSpPr txBox="1"/>
          <p:nvPr/>
        </p:nvSpPr>
        <p:spPr>
          <a:xfrm>
            <a:off x="3458718" y="2825496"/>
            <a:ext cx="2452878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8794AC"/>
                </a:solidFill>
                <a:latin typeface="맑은 고딕"/>
                <a:ea typeface="맑은 고딕"/>
                <a:cs typeface="맑은 고딕"/>
              </a:rPr>
              <a:t>안테나 기준 거리 · 각도 + 잡음</a:t>
            </a:r>
            <a:endParaRPr lang="ko-KR" altLang="en-US" sz="950" dirty="0"/>
          </a:p>
        </p:txBody>
      </p:sp>
      <p:cxnSp>
        <p:nvCxnSpPr>
          <p:cNvPr id="16" name="Connector 15"/>
          <p:cNvCxnSpPr/>
          <p:nvPr/>
        </p:nvCxnSpPr>
        <p:spPr>
          <a:xfrm>
            <a:off x="5966460" y="2788920"/>
            <a:ext cx="256032" cy="0"/>
          </a:xfrm>
          <a:prstGeom prst="line">
            <a:avLst/>
          </a:prstGeom>
          <a:ln w="12700">
            <a:solidFill>
              <a:srgbClr val="8794AC"/>
            </a:solidFill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6277356" y="2505456"/>
            <a:ext cx="2452878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7356" y="2578608"/>
            <a:ext cx="2452878" cy="2377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 dirty="0">
                <a:solidFill>
                  <a:srgbClr val="7A879F"/>
                </a:solidFill>
                <a:latin typeface="맑은 고딕"/>
                <a:ea typeface="맑은 고딕"/>
                <a:cs typeface="맑은 고딕"/>
              </a:rPr>
              <a:t>추적 필터</a:t>
            </a:r>
            <a:endParaRPr lang="ko-KR" altLang="en-US" sz="1150" dirty="0"/>
          </a:p>
        </p:txBody>
      </p:sp>
      <p:sp>
        <p:nvSpPr>
          <p:cNvPr id="19" name="TextBox 18"/>
          <p:cNvSpPr txBox="1"/>
          <p:nvPr/>
        </p:nvSpPr>
        <p:spPr>
          <a:xfrm>
            <a:off x="6277356" y="2825496"/>
            <a:ext cx="2452878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8794AC"/>
                </a:solidFill>
                <a:latin typeface="맑은 고딕"/>
                <a:ea typeface="맑은 고딕"/>
                <a:cs typeface="맑은 고딕"/>
              </a:rPr>
              <a:t>측정값으로 표적 상태 추정</a:t>
            </a:r>
            <a:endParaRPr lang="ko-KR" altLang="en-US" sz="950" dirty="0"/>
          </a:p>
        </p:txBody>
      </p:sp>
      <p:cxnSp>
        <p:nvCxnSpPr>
          <p:cNvPr id="20" name="Connector 19"/>
          <p:cNvCxnSpPr/>
          <p:nvPr/>
        </p:nvCxnSpPr>
        <p:spPr>
          <a:xfrm>
            <a:off x="8785098" y="2788920"/>
            <a:ext cx="256032" cy="0"/>
          </a:xfrm>
          <a:prstGeom prst="line">
            <a:avLst/>
          </a:prstGeom>
          <a:ln w="12700">
            <a:solidFill>
              <a:srgbClr val="8794AC"/>
            </a:solidFill>
            <a:tailEnd type="triangle" w="med" len="med"/>
          </a:ln>
        </p:spPr>
      </p:cxnSp>
      <p:sp>
        <p:nvSpPr>
          <p:cNvPr id="21" name="Rectangle 20"/>
          <p:cNvSpPr/>
          <p:nvPr/>
        </p:nvSpPr>
        <p:spPr>
          <a:xfrm>
            <a:off x="9095994" y="2505456"/>
            <a:ext cx="2452878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5994" y="2578608"/>
            <a:ext cx="2452878" cy="2377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 dirty="0">
                <a:solidFill>
                  <a:srgbClr val="7A879F"/>
                </a:solidFill>
                <a:latin typeface="맑은 고딕"/>
                <a:ea typeface="맑은 고딕"/>
                <a:cs typeface="맑은 고딕"/>
              </a:rPr>
              <a:t>전시 · 통제</a:t>
            </a:r>
            <a:endParaRPr lang="ko-KR" altLang="en-US" sz="1150" dirty="0"/>
          </a:p>
        </p:txBody>
      </p:sp>
      <p:sp>
        <p:nvSpPr>
          <p:cNvPr id="23" name="TextBox 22"/>
          <p:cNvSpPr txBox="1"/>
          <p:nvPr/>
        </p:nvSpPr>
        <p:spPr>
          <a:xfrm>
            <a:off x="9095994" y="2825496"/>
            <a:ext cx="2452878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8794AC"/>
                </a:solidFill>
                <a:latin typeface="맑은 고딕"/>
                <a:ea typeface="맑은 고딕"/>
                <a:cs typeface="맑은 고딕"/>
              </a:rPr>
              <a:t>항적 표시</a:t>
            </a:r>
            <a:endParaRPr lang="ko-KR" altLang="en-US" sz="950" dirty="0"/>
          </a:p>
        </p:txBody>
      </p:sp>
      <p:sp>
        <p:nvSpPr>
          <p:cNvPr id="24" name="Rounded Rectangle 23"/>
          <p:cNvSpPr/>
          <p:nvPr/>
        </p:nvSpPr>
        <p:spPr>
          <a:xfrm>
            <a:off x="1482471" y="3154680"/>
            <a:ext cx="768096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82471" y="3154680"/>
            <a:ext cx="768096" cy="2286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이번 과제</a:t>
            </a:r>
            <a:endParaRPr lang="ko-KR" altLang="en-US" sz="900" dirty="0"/>
          </a:p>
        </p:txBody>
      </p:sp>
      <p:sp>
        <p:nvSpPr>
          <p:cNvPr id="26" name="TextBox 25"/>
          <p:cNvSpPr txBox="1"/>
          <p:nvPr/>
        </p:nvSpPr>
        <p:spPr>
          <a:xfrm>
            <a:off x="3458718" y="3163824"/>
            <a:ext cx="8090154" cy="2286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뒤쪽 블록은 이 참값을 기준으로 추적 결과가 맞는지 판단한다.</a:t>
            </a:r>
            <a:endParaRPr lang="ko-KR" altLang="en-US" sz="950" dirty="0"/>
          </a:p>
        </p:txBody>
      </p:sp>
      <p:cxnSp>
        <p:nvCxnSpPr>
          <p:cNvPr id="27" name="Connector 26"/>
          <p:cNvCxnSpPr/>
          <p:nvPr/>
        </p:nvCxnSpPr>
        <p:spPr>
          <a:xfrm>
            <a:off x="640080" y="3566160"/>
            <a:ext cx="10908792" cy="0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40080" y="3657600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구현 단계</a:t>
            </a:r>
            <a:endParaRPr lang="ko-KR" altLang="en-US" sz="1150" dirty="0"/>
          </a:p>
        </p:txBody>
      </p:sp>
      <p:sp>
        <p:nvSpPr>
          <p:cNvPr id="29" name="Rectangle 28"/>
          <p:cNvSpPr/>
          <p:nvPr/>
        </p:nvSpPr>
        <p:spPr>
          <a:xfrm>
            <a:off x="640080" y="3986784"/>
            <a:ext cx="34290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3986784"/>
            <a:ext cx="3429000" cy="3291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986784"/>
            <a:ext cx="3154680" cy="32918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단계 1</a:t>
            </a:r>
            <a:r>
              <a:rPr lang="ko-KR" altLang="en-US" sz="11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 표적 정의</a:t>
            </a:r>
            <a:endParaRPr lang="ko-KR" altLang="en-US" sz="1000" dirty="0"/>
          </a:p>
        </p:txBody>
      </p:sp>
      <p:sp>
        <p:nvSpPr>
          <p:cNvPr id="32" name="Rectangle 31"/>
          <p:cNvSpPr/>
          <p:nvPr/>
        </p:nvSpPr>
        <p:spPr>
          <a:xfrm>
            <a:off x="841248" y="4485132"/>
            <a:ext cx="54864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4407408"/>
            <a:ext cx="2971800" cy="21945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표적 입력값과 상태값</a:t>
            </a:r>
            <a:endParaRPr lang="ko-KR" altLang="en-US" sz="1050" dirty="0"/>
          </a:p>
        </p:txBody>
      </p:sp>
      <p:sp>
        <p:nvSpPr>
          <p:cNvPr id="34" name="Rectangle 33"/>
          <p:cNvSpPr/>
          <p:nvPr/>
        </p:nvSpPr>
        <p:spPr>
          <a:xfrm>
            <a:off x="841248" y="4713732"/>
            <a:ext cx="54864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636008"/>
            <a:ext cx="2971800" cy="21945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기동 입력값과 각속도</a:t>
            </a:r>
            <a:endParaRPr lang="ko-KR" altLang="en-US" sz="1050" dirty="0"/>
          </a:p>
        </p:txBody>
      </p:sp>
      <p:cxnSp>
        <p:nvCxnSpPr>
          <p:cNvPr id="36" name="Connector 35"/>
          <p:cNvCxnSpPr/>
          <p:nvPr/>
        </p:nvCxnSpPr>
        <p:spPr>
          <a:xfrm>
            <a:off x="804672" y="4882896"/>
            <a:ext cx="3099816" cy="0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804672" y="4937760"/>
            <a:ext cx="548640" cy="20116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0" b="0" i="0" dirty="0">
                <a:solidFill>
                  <a:srgbClr val="8794AC"/>
                </a:solidFill>
                <a:latin typeface="맑은 고딕"/>
                <a:ea typeface="맑은 고딕"/>
                <a:cs typeface="맑은 고딕"/>
              </a:rPr>
              <a:t>산출물</a:t>
            </a:r>
            <a:endParaRPr lang="ko-KR" altLang="en-US" sz="850" dirty="0"/>
          </a:p>
        </p:txBody>
      </p:sp>
      <p:sp>
        <p:nvSpPr>
          <p:cNvPr id="38" name="TextBox 37"/>
          <p:cNvSpPr txBox="1"/>
          <p:nvPr/>
        </p:nvSpPr>
        <p:spPr>
          <a:xfrm>
            <a:off x="1353312" y="4937760"/>
            <a:ext cx="2606040" cy="20116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ST_TargetInit, ST_TargetManeuver</a:t>
            </a:r>
            <a:endParaRPr lang="ko-KR" altLang="en-US" sz="900" dirty="0"/>
          </a:p>
        </p:txBody>
      </p:sp>
      <p:cxnSp>
        <p:nvCxnSpPr>
          <p:cNvPr id="39" name="Connector 38"/>
          <p:cNvCxnSpPr/>
          <p:nvPr/>
        </p:nvCxnSpPr>
        <p:spPr>
          <a:xfrm>
            <a:off x="4114800" y="4581144"/>
            <a:ext cx="219456" cy="0"/>
          </a:xfrm>
          <a:prstGeom prst="line">
            <a:avLst/>
          </a:prstGeom>
          <a:ln w="12700">
            <a:solidFill>
              <a:srgbClr val="8794AC"/>
            </a:solidFill>
            <a:tailEnd type="triangle" w="med" len="med"/>
          </a:ln>
        </p:spPr>
      </p:cxnSp>
      <p:sp>
        <p:nvSpPr>
          <p:cNvPr id="40" name="Rectangle 39"/>
          <p:cNvSpPr/>
          <p:nvPr/>
        </p:nvSpPr>
        <p:spPr>
          <a:xfrm>
            <a:off x="4379976" y="3986784"/>
            <a:ext cx="34290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79976" y="3986784"/>
            <a:ext cx="3429000" cy="32918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44568" y="3986784"/>
            <a:ext cx="3154680" cy="32918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단계 2</a:t>
            </a:r>
            <a:r>
              <a:rPr lang="ko-KR" altLang="en-US" sz="11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 궤적 생성</a:t>
            </a:r>
            <a:endParaRPr lang="ko-KR" altLang="en-US" sz="1000" dirty="0"/>
          </a:p>
        </p:txBody>
      </p:sp>
      <p:sp>
        <p:nvSpPr>
          <p:cNvPr id="43" name="Rectangle 42"/>
          <p:cNvSpPr/>
          <p:nvPr/>
        </p:nvSpPr>
        <p:spPr>
          <a:xfrm>
            <a:off x="4581144" y="4485132"/>
            <a:ext cx="54864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27448" y="4407408"/>
            <a:ext cx="2971800" cy="21945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속도 벡터 변환 (V → ECEF)</a:t>
            </a:r>
            <a:endParaRPr lang="ko-KR" altLang="en-US" sz="1050" dirty="0"/>
          </a:p>
        </p:txBody>
      </p:sp>
      <p:sp>
        <p:nvSpPr>
          <p:cNvPr id="45" name="Rectangle 44"/>
          <p:cNvSpPr/>
          <p:nvPr/>
        </p:nvSpPr>
        <p:spPr>
          <a:xfrm>
            <a:off x="4581144" y="4713732"/>
            <a:ext cx="54864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27448" y="4636008"/>
            <a:ext cx="2971800" cy="21945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한 스텝 전진 (0.1 s)</a:t>
            </a:r>
            <a:endParaRPr lang="ko-KR" altLang="en-US" sz="1050" dirty="0"/>
          </a:p>
        </p:txBody>
      </p:sp>
      <p:cxnSp>
        <p:nvCxnSpPr>
          <p:cNvPr id="47" name="Connector 46"/>
          <p:cNvCxnSpPr/>
          <p:nvPr/>
        </p:nvCxnSpPr>
        <p:spPr>
          <a:xfrm>
            <a:off x="4544568" y="4882896"/>
            <a:ext cx="3099816" cy="0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4544568" y="4937760"/>
            <a:ext cx="548640" cy="20116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0" b="0" i="0" dirty="0">
                <a:solidFill>
                  <a:srgbClr val="8794AC"/>
                </a:solidFill>
                <a:latin typeface="맑은 고딕"/>
                <a:ea typeface="맑은 고딕"/>
                <a:cs typeface="맑은 고딕"/>
              </a:rPr>
              <a:t>산출물</a:t>
            </a:r>
            <a:endParaRPr lang="ko-KR" altLang="en-US" sz="850" dirty="0"/>
          </a:p>
        </p:txBody>
      </p:sp>
      <p:sp>
        <p:nvSpPr>
          <p:cNvPr id="49" name="TextBox 48"/>
          <p:cNvSpPr txBox="1"/>
          <p:nvPr/>
        </p:nvSpPr>
        <p:spPr>
          <a:xfrm>
            <a:off x="5093208" y="4937760"/>
            <a:ext cx="2606040" cy="20116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f_Tgt_StepSim</a:t>
            </a:r>
            <a:endParaRPr lang="ko-KR" altLang="en-US" sz="900" dirty="0"/>
          </a:p>
        </p:txBody>
      </p:sp>
      <p:cxnSp>
        <p:nvCxnSpPr>
          <p:cNvPr id="50" name="Connector 49"/>
          <p:cNvCxnSpPr/>
          <p:nvPr/>
        </p:nvCxnSpPr>
        <p:spPr>
          <a:xfrm>
            <a:off x="7854696" y="4581144"/>
            <a:ext cx="219456" cy="0"/>
          </a:xfrm>
          <a:prstGeom prst="line">
            <a:avLst/>
          </a:prstGeom>
          <a:ln w="12700">
            <a:solidFill>
              <a:srgbClr val="8794AC"/>
            </a:solidFill>
            <a:tailEnd type="triangle" w="med" len="med"/>
          </a:ln>
        </p:spPr>
      </p:cxnSp>
      <p:sp>
        <p:nvSpPr>
          <p:cNvPr id="51" name="Rectangle 50"/>
          <p:cNvSpPr/>
          <p:nvPr/>
        </p:nvSpPr>
        <p:spPr>
          <a:xfrm>
            <a:off x="8119872" y="3986784"/>
            <a:ext cx="34290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19872" y="3986784"/>
            <a:ext cx="3429000" cy="32918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84464" y="3986784"/>
            <a:ext cx="3154680" cy="32918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단계 3</a:t>
            </a:r>
            <a:r>
              <a:rPr lang="ko-KR" altLang="en-US" sz="11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 결과 확인</a:t>
            </a:r>
            <a:endParaRPr lang="ko-KR" altLang="en-US" sz="1000" dirty="0"/>
          </a:p>
        </p:txBody>
      </p:sp>
      <p:sp>
        <p:nvSpPr>
          <p:cNvPr id="54" name="Rectangle 53"/>
          <p:cNvSpPr/>
          <p:nvPr/>
        </p:nvSpPr>
        <p:spPr>
          <a:xfrm>
            <a:off x="8321040" y="4485132"/>
            <a:ext cx="54864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67344" y="4407408"/>
            <a:ext cx="2971800" cy="21945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명세 조건 60 s 궤적</a:t>
            </a:r>
            <a:endParaRPr lang="ko-KR" altLang="en-US" sz="1050" dirty="0"/>
          </a:p>
        </p:txBody>
      </p:sp>
      <p:sp>
        <p:nvSpPr>
          <p:cNvPr id="56" name="Rectangle 55"/>
          <p:cNvSpPr/>
          <p:nvPr/>
        </p:nvSpPr>
        <p:spPr>
          <a:xfrm>
            <a:off x="8321040" y="4713732"/>
            <a:ext cx="54864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67344" y="4636008"/>
            <a:ext cx="2971800" cy="21945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기동 시연과 운용 화면</a:t>
            </a:r>
            <a:endParaRPr lang="ko-KR" altLang="en-US" sz="1050" dirty="0"/>
          </a:p>
        </p:txBody>
      </p:sp>
      <p:cxnSp>
        <p:nvCxnSpPr>
          <p:cNvPr id="58" name="Connector 57"/>
          <p:cNvCxnSpPr/>
          <p:nvPr/>
        </p:nvCxnSpPr>
        <p:spPr>
          <a:xfrm>
            <a:off x="8284464" y="4882896"/>
            <a:ext cx="3099816" cy="0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8284464" y="4937760"/>
            <a:ext cx="548640" cy="20116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0" b="0" i="0" dirty="0">
                <a:solidFill>
                  <a:srgbClr val="8794AC"/>
                </a:solidFill>
                <a:latin typeface="맑은 고딕"/>
                <a:ea typeface="맑은 고딕"/>
                <a:cs typeface="맑은 고딕"/>
              </a:rPr>
              <a:t>산출물</a:t>
            </a:r>
            <a:endParaRPr lang="ko-KR" altLang="en-US" sz="850" dirty="0"/>
          </a:p>
        </p:txBody>
      </p:sp>
      <p:sp>
        <p:nvSpPr>
          <p:cNvPr id="60" name="TextBox 59"/>
          <p:cNvSpPr txBox="1"/>
          <p:nvPr/>
        </p:nvSpPr>
        <p:spPr>
          <a:xfrm>
            <a:off x="8833104" y="4937760"/>
            <a:ext cx="2606040" cy="20116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LLA</a:t>
            </a:r>
            <a:r>
              <a:rPr lang="ko-KR" altLang="en-US" sz="9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 표</a:t>
            </a: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, CSV,</a:t>
            </a:r>
            <a:r>
              <a:rPr lang="ko-KR" altLang="en-US" sz="9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 궤적 그림</a:t>
            </a:r>
            <a:endParaRPr lang="ko-KR" altLang="en-US" sz="900" dirty="0"/>
          </a:p>
        </p:txBody>
      </p:sp>
      <p:sp>
        <p:nvSpPr>
          <p:cNvPr id="61" name="Rectangle 60"/>
          <p:cNvSpPr/>
          <p:nvPr/>
        </p:nvSpPr>
        <p:spPr>
          <a:xfrm>
            <a:off x="640080" y="5321808"/>
            <a:ext cx="10908792" cy="841248"/>
          </a:xfrm>
          <a:prstGeom prst="rect">
            <a:avLst/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" y="5385816"/>
            <a:ext cx="2743200" cy="21945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과제 요구사항 대응</a:t>
            </a:r>
            <a:endParaRPr lang="ko-KR" altLang="en-US" sz="1000" dirty="0"/>
          </a:p>
        </p:txBody>
      </p:sp>
      <p:sp>
        <p:nvSpPr>
          <p:cNvPr id="63" name="Rectangle 62"/>
          <p:cNvSpPr/>
          <p:nvPr/>
        </p:nvSpPr>
        <p:spPr>
          <a:xfrm>
            <a:off x="822960" y="5687568"/>
            <a:ext cx="64008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7552" y="564184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표적 10개, 기동 30개까지 설정</a:t>
            </a:r>
            <a:endParaRPr lang="ko-KR" altLang="en-US" sz="950" dirty="0"/>
          </a:p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위치 LLA, 속도 V_heading, 기동 정보 4개</a:t>
            </a:r>
            <a:endParaRPr lang="ko-KR" altLang="en-US" sz="950" dirty="0"/>
          </a:p>
        </p:txBody>
      </p:sp>
      <p:sp>
        <p:nvSpPr>
          <p:cNvPr id="65" name="Rectangle 64"/>
          <p:cNvSpPr/>
          <p:nvPr/>
        </p:nvSpPr>
        <p:spPr>
          <a:xfrm>
            <a:off x="4562856" y="5687568"/>
            <a:ext cx="64008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27448" y="564184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ECEF 에서 상태 갱신, 좌표변환 코드 이용</a:t>
            </a:r>
            <a:endParaRPr lang="ko-KR" altLang="en-US" sz="950" dirty="0"/>
          </a:p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V_heading 을 Vx, Vy, Vz 로 변환 (추가 고민)</a:t>
            </a:r>
            <a:endParaRPr lang="ko-KR" altLang="en-US" sz="950" dirty="0"/>
          </a:p>
        </p:txBody>
      </p:sp>
      <p:sp>
        <p:nvSpPr>
          <p:cNvPr id="67" name="Rectangle 66"/>
          <p:cNvSpPr/>
          <p:nvPr/>
        </p:nvSpPr>
        <p:spPr>
          <a:xfrm>
            <a:off x="8302752" y="5687568"/>
            <a:ext cx="64008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67344" y="564184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60 s, 0.1 s 간격, 명세 초기값</a:t>
            </a:r>
            <a:endParaRPr lang="ko-KR" altLang="en-US" sz="950" dirty="0"/>
          </a:p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결과를 LLA 로 출력하고 그림으로 표현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01.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1.2 구현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515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5A7A"/>
                </a:solidFill>
                <a:latin typeface="맑은 고딕"/>
                <a:ea typeface="맑은 고딕"/>
              </a:rPr>
              <a:t>계산은 DLL, 화면은 UI 로 나눠 구현했습니다. 궤적 그림과 결과 수치는 모두 DLL 을 직접 돌려 얻은 값입니다.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57984"/>
            <a:ext cx="681228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276856"/>
            <a:ext cx="841248" cy="256032"/>
          </a:xfrm>
          <a:prstGeom prst="roundRect">
            <a:avLst>
              <a:gd name="adj" fmla="val 21428"/>
            </a:avLst>
          </a:prstGeom>
          <a:solidFill>
            <a:srgbClr val="1B27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76856"/>
            <a:ext cx="841248" cy="25603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UI 구현</a:t>
            </a:r>
            <a:endParaRPr lang="ko-KR" altLang="en-US" sz="950" dirty="0"/>
          </a:p>
        </p:txBody>
      </p:sp>
      <p:sp>
        <p:nvSpPr>
          <p:cNvPr id="11" name="TextBox 10"/>
          <p:cNvSpPr txBox="1"/>
          <p:nvPr/>
        </p:nvSpPr>
        <p:spPr>
          <a:xfrm>
            <a:off x="1810512" y="2267712"/>
            <a:ext cx="5029200" cy="2743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TargetSimUI  (C++, MFC)</a:t>
            </a:r>
            <a:endParaRPr lang="ko-KR" altLang="en-US" sz="1200" dirty="0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633472"/>
            <a:ext cx="6446520" cy="0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868680" y="2706624"/>
            <a:ext cx="2834640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CTargetSimUIDlg</a:t>
            </a:r>
            <a:endParaRPr lang="ko-KR" altLang="en-US" sz="950" dirty="0"/>
          </a:p>
        </p:txBody>
      </p:sp>
      <p:sp>
        <p:nvSpPr>
          <p:cNvPr id="14" name="TextBox 13"/>
          <p:cNvSpPr txBox="1"/>
          <p:nvPr/>
        </p:nvSpPr>
        <p:spPr>
          <a:xfrm>
            <a:off x="3749040" y="2706624"/>
            <a:ext cx="3611880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화면 배치, 자동 실행, CSV 저장</a:t>
            </a:r>
            <a:endParaRPr lang="ko-KR" alt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868680" y="2926080"/>
            <a:ext cx="2834640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CScenario</a:t>
            </a:r>
            <a:endParaRPr lang="ko-KR" altLang="en-US" sz="950" dirty="0"/>
          </a:p>
        </p:txBody>
      </p:sp>
      <p:sp>
        <p:nvSpPr>
          <p:cNvPr id="16" name="TextBox 15"/>
          <p:cNvSpPr txBox="1"/>
          <p:nvPr/>
        </p:nvSpPr>
        <p:spPr>
          <a:xfrm>
            <a:off x="3749040" y="2926080"/>
            <a:ext cx="3611880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입력 보관, 프리셋, 설정 생성</a:t>
            </a:r>
            <a:endParaRPr lang="ko-KR" alt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868680" y="3145536"/>
            <a:ext cx="2834640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CTrajectoryPlot, CGridCtrl</a:t>
            </a:r>
            <a:endParaRPr lang="ko-KR" altLang="en-US" sz="950" dirty="0"/>
          </a:p>
        </p:txBody>
      </p:sp>
      <p:sp>
        <p:nvSpPr>
          <p:cNvPr id="18" name="TextBox 17"/>
          <p:cNvSpPr txBox="1"/>
          <p:nvPr/>
        </p:nvSpPr>
        <p:spPr>
          <a:xfrm>
            <a:off x="3749040" y="3145536"/>
            <a:ext cx="3611880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궤적 · 고도 그림, 표 편집</a:t>
            </a:r>
            <a:endParaRPr lang="ko-KR" altLang="en-US" sz="1000" dirty="0"/>
          </a:p>
        </p:txBody>
      </p:sp>
      <p:sp>
        <p:nvSpPr>
          <p:cNvPr id="19" name="Rectangle 18"/>
          <p:cNvSpPr/>
          <p:nvPr/>
        </p:nvSpPr>
        <p:spPr>
          <a:xfrm>
            <a:off x="640080" y="3895344"/>
            <a:ext cx="6812280" cy="1243584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4014216"/>
            <a:ext cx="841248" cy="256032"/>
          </a:xfrm>
          <a:prstGeom prst="roundRect">
            <a:avLst>
              <a:gd name="adj" fmla="val 21428"/>
            </a:avLst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14216"/>
            <a:ext cx="841248" cy="25603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DLL 구현</a:t>
            </a:r>
            <a:endParaRPr lang="ko-KR" altLang="en-US" sz="950" dirty="0"/>
          </a:p>
        </p:txBody>
      </p:sp>
      <p:sp>
        <p:nvSpPr>
          <p:cNvPr id="22" name="TextBox 21"/>
          <p:cNvSpPr txBox="1"/>
          <p:nvPr/>
        </p:nvSpPr>
        <p:spPr>
          <a:xfrm>
            <a:off x="1810512" y="4005072"/>
            <a:ext cx="5029200" cy="2743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TargetSimCore  (C, DLL)</a:t>
            </a:r>
            <a:endParaRPr lang="ko-KR" altLang="en-US" sz="1200" dirty="0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370832"/>
            <a:ext cx="6446520" cy="0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868680" y="4443984"/>
            <a:ext cx="2834640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2563EB"/>
                </a:solidFill>
                <a:latin typeface="Consolas"/>
                <a:ea typeface="맑은 고딕"/>
                <a:cs typeface="맑은 고딕"/>
              </a:rPr>
              <a:t>TargetSim.c</a:t>
            </a:r>
            <a:endParaRPr lang="ko-KR" altLang="en-US" sz="950" dirty="0"/>
          </a:p>
        </p:txBody>
      </p:sp>
      <p:sp>
        <p:nvSpPr>
          <p:cNvPr id="25" name="TextBox 24"/>
          <p:cNvSpPr txBox="1"/>
          <p:nvPr/>
        </p:nvSpPr>
        <p:spPr>
          <a:xfrm>
            <a:off x="3749040" y="4443984"/>
            <a:ext cx="3611880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표적 상태 갱신 (이번 과제에서 작성)</a:t>
            </a:r>
            <a:endParaRPr lang="ko-KR" altLang="en-US" sz="1000" dirty="0"/>
          </a:p>
        </p:txBody>
      </p:sp>
      <p:sp>
        <p:nvSpPr>
          <p:cNvPr id="26" name="TextBox 25"/>
          <p:cNvSpPr txBox="1"/>
          <p:nvPr/>
        </p:nvSpPr>
        <p:spPr>
          <a:xfrm>
            <a:off x="868680" y="4663440"/>
            <a:ext cx="2834640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CoordinateTransform.c</a:t>
            </a:r>
            <a:endParaRPr lang="ko-KR" altLang="en-US" sz="950" dirty="0"/>
          </a:p>
        </p:txBody>
      </p:sp>
      <p:sp>
        <p:nvSpPr>
          <p:cNvPr id="27" name="TextBox 26"/>
          <p:cNvSpPr txBox="1"/>
          <p:nvPr/>
        </p:nvSpPr>
        <p:spPr>
          <a:xfrm>
            <a:off x="3749040" y="4663440"/>
            <a:ext cx="3611880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좌표 변환 (참고 소스 코드)</a:t>
            </a:r>
            <a:endParaRPr lang="ko-KR" altLang="en-US" sz="1000" dirty="0"/>
          </a:p>
        </p:txBody>
      </p:sp>
      <p:sp>
        <p:nvSpPr>
          <p:cNvPr id="28" name="TextBox 27"/>
          <p:cNvSpPr txBox="1"/>
          <p:nvPr/>
        </p:nvSpPr>
        <p:spPr>
          <a:xfrm>
            <a:off x="868680" y="4882896"/>
            <a:ext cx="2834640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matrixCalcLib.c</a:t>
            </a:r>
            <a:endParaRPr lang="ko-KR" altLang="en-US" sz="950" dirty="0"/>
          </a:p>
        </p:txBody>
      </p:sp>
      <p:sp>
        <p:nvSpPr>
          <p:cNvPr id="29" name="TextBox 28"/>
          <p:cNvSpPr txBox="1"/>
          <p:nvPr/>
        </p:nvSpPr>
        <p:spPr>
          <a:xfrm>
            <a:off x="3749040" y="4882896"/>
            <a:ext cx="3611880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행렬 연산 (참고 소스 코드)</a:t>
            </a:r>
            <a:endParaRPr lang="ko-KR" altLang="en-US" sz="1000" dirty="0"/>
          </a:p>
        </p:txBody>
      </p:sp>
      <p:cxnSp>
        <p:nvCxnSpPr>
          <p:cNvPr id="30" name="Connector 29"/>
          <p:cNvCxnSpPr/>
          <p:nvPr/>
        </p:nvCxnSpPr>
        <p:spPr>
          <a:xfrm>
            <a:off x="2103120" y="3438144"/>
            <a:ext cx="0" cy="420624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</p:cxnSp>
      <p:sp>
        <p:nvSpPr>
          <p:cNvPr id="31" name="TextBox 30"/>
          <p:cNvSpPr txBox="1"/>
          <p:nvPr/>
        </p:nvSpPr>
        <p:spPr>
          <a:xfrm>
            <a:off x="2212848" y="3529584"/>
            <a:ext cx="2011680" cy="23774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2563EB"/>
                </a:solidFill>
                <a:latin typeface="Consolas"/>
                <a:ea typeface="맑은 고딕"/>
                <a:cs typeface="맑은 고딕"/>
              </a:rPr>
              <a:t>ST_SimConfig</a:t>
            </a:r>
            <a:endParaRPr lang="ko-KR" altLang="en-US" sz="950" dirty="0"/>
          </a:p>
        </p:txBody>
      </p:sp>
      <p:cxnSp>
        <p:nvCxnSpPr>
          <p:cNvPr id="32" name="Connector 31"/>
          <p:cNvCxnSpPr/>
          <p:nvPr/>
        </p:nvCxnSpPr>
        <p:spPr>
          <a:xfrm flipV="1">
            <a:off x="4846320" y="3438144"/>
            <a:ext cx="0" cy="420624"/>
          </a:xfrm>
          <a:prstGeom prst="line">
            <a:avLst/>
          </a:prstGeom>
          <a:ln w="19050">
            <a:solidFill>
              <a:srgbClr val="059669"/>
            </a:solidFill>
            <a:tailEnd type="triangle" w="med" len="med"/>
          </a:ln>
        </p:spPr>
      </p:cxnSp>
      <p:sp>
        <p:nvSpPr>
          <p:cNvPr id="33" name="TextBox 32"/>
          <p:cNvSpPr txBox="1"/>
          <p:nvPr/>
        </p:nvSpPr>
        <p:spPr>
          <a:xfrm>
            <a:off x="4956048" y="3529584"/>
            <a:ext cx="2011680" cy="23774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059669"/>
                </a:solidFill>
                <a:latin typeface="Consolas"/>
                <a:ea typeface="맑은 고딕"/>
                <a:cs typeface="맑은 고딕"/>
              </a:rPr>
              <a:t>ST_SimSample</a:t>
            </a:r>
            <a:endParaRPr lang="ko-KR" altLang="en-US" sz="950" dirty="0"/>
          </a:p>
        </p:txBody>
      </p:sp>
      <p:sp>
        <p:nvSpPr>
          <p:cNvPr id="34" name="Rectangle 33"/>
          <p:cNvSpPr/>
          <p:nvPr/>
        </p:nvSpPr>
        <p:spPr>
          <a:xfrm>
            <a:off x="7726680" y="2157984"/>
            <a:ext cx="3822192" cy="2980944"/>
          </a:xfrm>
          <a:prstGeom prst="rect">
            <a:avLst/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2267712"/>
            <a:ext cx="3456432" cy="27432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주고받는 구조체</a:t>
            </a:r>
            <a:endParaRPr lang="ko-KR" altLang="en-US" sz="1150" dirty="0"/>
          </a:p>
        </p:txBody>
      </p:sp>
      <p:cxnSp>
        <p:nvCxnSpPr>
          <p:cNvPr id="36" name="Connector 35"/>
          <p:cNvCxnSpPr/>
          <p:nvPr/>
        </p:nvCxnSpPr>
        <p:spPr>
          <a:xfrm>
            <a:off x="7927848" y="2615184"/>
            <a:ext cx="3419856" cy="0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7927848" y="2724912"/>
            <a:ext cx="502920" cy="23774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입력</a:t>
            </a:r>
            <a:endParaRPr lang="ko-KR" altLang="en-US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8458200" y="2724912"/>
            <a:ext cx="1554480" cy="23774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ST_SimConfig</a:t>
            </a:r>
            <a:endParaRPr lang="ko-KR" altLang="en-US" sz="1050" dirty="0"/>
          </a:p>
        </p:txBody>
      </p:sp>
      <p:sp>
        <p:nvSpPr>
          <p:cNvPr id="40" name="TextBox 39"/>
          <p:cNvSpPr txBox="1"/>
          <p:nvPr/>
        </p:nvSpPr>
        <p:spPr>
          <a:xfrm>
            <a:off x="8458200" y="2999232"/>
            <a:ext cx="2907792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시뮬레이션 시간 · 간격</a:t>
            </a:r>
            <a:endParaRPr lang="ko-KR" altLang="en-US" sz="100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플랫폼 1 + 표적 N (기동 포함)</a:t>
            </a:r>
            <a:endParaRPr lang="ko-KR" altLang="en-US" sz="1000" dirty="0"/>
          </a:p>
        </p:txBody>
      </p:sp>
      <p:sp>
        <p:nvSpPr>
          <p:cNvPr id="41" name="TextBox 40"/>
          <p:cNvSpPr txBox="1"/>
          <p:nvPr/>
        </p:nvSpPr>
        <p:spPr>
          <a:xfrm>
            <a:off x="7927848" y="3621024"/>
            <a:ext cx="502920" cy="23774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059669"/>
                </a:solidFill>
                <a:latin typeface="맑은 고딕"/>
                <a:ea typeface="맑은 고딕"/>
                <a:cs typeface="맑은 고딕"/>
              </a:rPr>
              <a:t>출력</a:t>
            </a:r>
            <a:endParaRPr lang="ko-KR" altLang="en-US" sz="1000" dirty="0"/>
          </a:p>
        </p:txBody>
      </p:sp>
      <p:sp>
        <p:nvSpPr>
          <p:cNvPr id="42" name="TextBox 41"/>
          <p:cNvSpPr txBox="1"/>
          <p:nvPr/>
        </p:nvSpPr>
        <p:spPr>
          <a:xfrm>
            <a:off x="8458200" y="3621024"/>
            <a:ext cx="1554480" cy="23774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ST_SimSample</a:t>
            </a:r>
            <a:endParaRPr lang="ko-KR" altLang="en-US" sz="1050" dirty="0"/>
          </a:p>
        </p:txBody>
      </p:sp>
      <p:sp>
        <p:nvSpPr>
          <p:cNvPr id="44" name="TextBox 43"/>
          <p:cNvSpPr txBox="1"/>
          <p:nvPr/>
        </p:nvSpPr>
        <p:spPr>
          <a:xfrm>
            <a:off x="8458200" y="3895344"/>
            <a:ext cx="2907792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스텝 번호 · 시각</a:t>
            </a:r>
            <a:endParaRPr lang="ko-KR" altLang="en-US" sz="100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플랫폼 · 표적별 ECEF · LLA · 자세</a:t>
            </a:r>
            <a:endParaRPr lang="ko-KR" altLang="en-US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7927848" y="4553712"/>
            <a:ext cx="3456432" cy="47548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UI 는 DLL 내부를 보지 않고</a:t>
            </a:r>
            <a:endParaRPr lang="ko-KR" altLang="en-US" sz="950" dirty="0"/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이 두 구조체와 함수로만 주고받는다.</a:t>
            </a:r>
            <a:endParaRPr lang="ko-KR" altLang="en-US" sz="950" dirty="0"/>
          </a:p>
        </p:txBody>
      </p:sp>
      <p:sp>
        <p:nvSpPr>
          <p:cNvPr id="46" name="TextBox 45"/>
          <p:cNvSpPr txBox="1"/>
          <p:nvPr/>
        </p:nvSpPr>
        <p:spPr>
          <a:xfrm>
            <a:off x="640080" y="5303520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UI 가 DLL 함수를 부르는 순서</a:t>
            </a:r>
            <a:endParaRPr lang="ko-KR" altLang="en-US" sz="1050" dirty="0"/>
          </a:p>
        </p:txBody>
      </p:sp>
      <p:sp>
        <p:nvSpPr>
          <p:cNvPr id="47" name="Rectangle 46"/>
          <p:cNvSpPr/>
          <p:nvPr/>
        </p:nvSpPr>
        <p:spPr>
          <a:xfrm>
            <a:off x="640080" y="5577840"/>
            <a:ext cx="252145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68096" y="5660136"/>
            <a:ext cx="201168" cy="201168"/>
          </a:xfrm>
          <a:prstGeom prst="ellipse">
            <a:avLst/>
          </a:prstGeom>
          <a:solidFill>
            <a:srgbClr val="1B27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" y="5660136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lang="ko-KR" altLang="en-US" sz="900" dirty="0"/>
          </a:p>
        </p:txBody>
      </p:sp>
      <p:sp>
        <p:nvSpPr>
          <p:cNvPr id="50" name="TextBox 49"/>
          <p:cNvSpPr txBox="1"/>
          <p:nvPr/>
        </p:nvSpPr>
        <p:spPr>
          <a:xfrm>
            <a:off x="1051560" y="5641848"/>
            <a:ext cx="2018538" cy="23774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f_Tgt_InitSim</a:t>
            </a:r>
            <a:endParaRPr lang="ko-KR" altLang="en-US" sz="950" dirty="0"/>
          </a:p>
        </p:txBody>
      </p:sp>
      <p:sp>
        <p:nvSpPr>
          <p:cNvPr id="51" name="TextBox 50"/>
          <p:cNvSpPr txBox="1"/>
          <p:nvPr/>
        </p:nvSpPr>
        <p:spPr>
          <a:xfrm>
            <a:off x="768096" y="5907024"/>
            <a:ext cx="2292858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0 초 상태 만들기</a:t>
            </a:r>
            <a:endParaRPr lang="ko-KR" altLang="en-US" sz="950" dirty="0"/>
          </a:p>
        </p:txBody>
      </p:sp>
      <p:cxnSp>
        <p:nvCxnSpPr>
          <p:cNvPr id="52" name="Connector 51"/>
          <p:cNvCxnSpPr/>
          <p:nvPr/>
        </p:nvCxnSpPr>
        <p:spPr>
          <a:xfrm>
            <a:off x="3207258" y="5870448"/>
            <a:ext cx="182880" cy="0"/>
          </a:xfrm>
          <a:prstGeom prst="line">
            <a:avLst/>
          </a:prstGeom>
          <a:ln w="12700">
            <a:solidFill>
              <a:srgbClr val="8794AC"/>
            </a:solidFill>
            <a:tailEnd type="triangle" w="med" len="med"/>
          </a:ln>
        </p:spPr>
      </p:cxnSp>
      <p:sp>
        <p:nvSpPr>
          <p:cNvPr id="53" name="Rectangle 52"/>
          <p:cNvSpPr/>
          <p:nvPr/>
        </p:nvSpPr>
        <p:spPr>
          <a:xfrm>
            <a:off x="3435858" y="5577840"/>
            <a:ext cx="252145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563874" y="5660136"/>
            <a:ext cx="201168" cy="201168"/>
          </a:xfrm>
          <a:prstGeom prst="ellipse">
            <a:avLst/>
          </a:prstGeom>
          <a:solidFill>
            <a:srgbClr val="1B27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63874" y="5660136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lang="ko-KR" altLang="en-US" sz="900" dirty="0"/>
          </a:p>
        </p:txBody>
      </p:sp>
      <p:sp>
        <p:nvSpPr>
          <p:cNvPr id="56" name="TextBox 55"/>
          <p:cNvSpPr txBox="1"/>
          <p:nvPr/>
        </p:nvSpPr>
        <p:spPr>
          <a:xfrm>
            <a:off x="3847338" y="5641848"/>
            <a:ext cx="2018538" cy="23774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f_Tgt_StepSim</a:t>
            </a:r>
            <a:endParaRPr lang="ko-KR" altLang="en-US" sz="950" dirty="0"/>
          </a:p>
        </p:txBody>
      </p:sp>
      <p:sp>
        <p:nvSpPr>
          <p:cNvPr id="57" name="TextBox 56"/>
          <p:cNvSpPr txBox="1"/>
          <p:nvPr/>
        </p:nvSpPr>
        <p:spPr>
          <a:xfrm>
            <a:off x="3563874" y="5907024"/>
            <a:ext cx="2292858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한 스텝 전진, 반복 호출</a:t>
            </a:r>
            <a:endParaRPr lang="ko-KR" altLang="en-US" sz="950" dirty="0"/>
          </a:p>
        </p:txBody>
      </p:sp>
      <p:cxnSp>
        <p:nvCxnSpPr>
          <p:cNvPr id="58" name="Connector 57"/>
          <p:cNvCxnSpPr/>
          <p:nvPr/>
        </p:nvCxnSpPr>
        <p:spPr>
          <a:xfrm>
            <a:off x="6003036" y="5870448"/>
            <a:ext cx="182880" cy="0"/>
          </a:xfrm>
          <a:prstGeom prst="line">
            <a:avLst/>
          </a:prstGeom>
          <a:ln w="12700">
            <a:solidFill>
              <a:srgbClr val="8794AC"/>
            </a:solidFill>
            <a:tailEnd type="triangle" w="med" len="med"/>
          </a:ln>
        </p:spPr>
      </p:cxnSp>
      <p:sp>
        <p:nvSpPr>
          <p:cNvPr id="59" name="Rectangle 58"/>
          <p:cNvSpPr/>
          <p:nvPr/>
        </p:nvSpPr>
        <p:spPr>
          <a:xfrm>
            <a:off x="6231636" y="5577840"/>
            <a:ext cx="252145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359652" y="5660136"/>
            <a:ext cx="201168" cy="201168"/>
          </a:xfrm>
          <a:prstGeom prst="ellipse">
            <a:avLst/>
          </a:prstGeom>
          <a:solidFill>
            <a:srgbClr val="1B27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9652" y="5660136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lang="ko-KR" altLang="en-US" sz="900" dirty="0"/>
          </a:p>
        </p:txBody>
      </p:sp>
      <p:sp>
        <p:nvSpPr>
          <p:cNvPr id="62" name="TextBox 61"/>
          <p:cNvSpPr txBox="1"/>
          <p:nvPr/>
        </p:nvSpPr>
        <p:spPr>
          <a:xfrm>
            <a:off x="6643116" y="5641848"/>
            <a:ext cx="2018538" cy="23774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f_Tgt_EcefToNed</a:t>
            </a:r>
            <a:endParaRPr lang="ko-KR" altLang="en-US" sz="950" dirty="0"/>
          </a:p>
        </p:txBody>
      </p:sp>
      <p:sp>
        <p:nvSpPr>
          <p:cNvPr id="63" name="TextBox 62"/>
          <p:cNvSpPr txBox="1"/>
          <p:nvPr/>
        </p:nvSpPr>
        <p:spPr>
          <a:xfrm>
            <a:off x="6359652" y="5907024"/>
            <a:ext cx="2292858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궤적을 동 · 북 좌표로 변환</a:t>
            </a:r>
            <a:endParaRPr lang="ko-KR" altLang="en-US" sz="950" dirty="0"/>
          </a:p>
        </p:txBody>
      </p:sp>
      <p:cxnSp>
        <p:nvCxnSpPr>
          <p:cNvPr id="64" name="Connector 63"/>
          <p:cNvCxnSpPr/>
          <p:nvPr/>
        </p:nvCxnSpPr>
        <p:spPr>
          <a:xfrm>
            <a:off x="8798814" y="5870448"/>
            <a:ext cx="182880" cy="0"/>
          </a:xfrm>
          <a:prstGeom prst="line">
            <a:avLst/>
          </a:prstGeom>
          <a:ln w="12700">
            <a:solidFill>
              <a:srgbClr val="8794AC"/>
            </a:solidFill>
            <a:tailEnd type="triangle" w="med" len="med"/>
          </a:ln>
        </p:spPr>
      </p:cxnSp>
      <p:sp>
        <p:nvSpPr>
          <p:cNvPr id="65" name="Rectangle 64"/>
          <p:cNvSpPr/>
          <p:nvPr/>
        </p:nvSpPr>
        <p:spPr>
          <a:xfrm>
            <a:off x="9027414" y="5577840"/>
            <a:ext cx="252145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55430" y="5660136"/>
            <a:ext cx="201168" cy="201168"/>
          </a:xfrm>
          <a:prstGeom prst="ellipse">
            <a:avLst/>
          </a:prstGeom>
          <a:solidFill>
            <a:srgbClr val="1B27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55430" y="5660136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lang="ko-KR" altLang="en-US" sz="900" dirty="0"/>
          </a:p>
        </p:txBody>
      </p:sp>
      <p:sp>
        <p:nvSpPr>
          <p:cNvPr id="68" name="TextBox 67"/>
          <p:cNvSpPr txBox="1"/>
          <p:nvPr/>
        </p:nvSpPr>
        <p:spPr>
          <a:xfrm>
            <a:off x="9438894" y="5641848"/>
            <a:ext cx="2018538" cy="23774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f_Tgt_NedToLla</a:t>
            </a:r>
            <a:r>
              <a:rPr lang="ko-KR" altLang="en-US" sz="9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 등</a:t>
            </a:r>
            <a:endParaRPr lang="ko-KR" altLang="en-US" sz="950" dirty="0"/>
          </a:p>
        </p:txBody>
      </p:sp>
      <p:sp>
        <p:nvSpPr>
          <p:cNvPr id="69" name="TextBox 68"/>
          <p:cNvSpPr txBox="1"/>
          <p:nvPr/>
        </p:nvSpPr>
        <p:spPr>
          <a:xfrm>
            <a:off x="9155430" y="5907024"/>
            <a:ext cx="2292858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격자 눈금용 위경도 계산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02. 표적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2.1 표적 입력값과 상태값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515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5A7A"/>
                </a:solidFill>
                <a:latin typeface="맑은 고딕"/>
                <a:ea typeface="맑은 고딕"/>
              </a:rPr>
              <a:t>과제에서 정한 입력값 7개를 받고, 계산할 때는 ECEF 기준 상태값 9개로 바꿔서 씁니다.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3246120" cy="27432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입력값 (과제 명세 7개)</a:t>
            </a:r>
            <a:endParaRPr lang="ko-KR" altLang="en-US" sz="1150" dirty="0"/>
          </a:p>
        </p:txBody>
      </p:sp>
      <p:cxnSp>
        <p:nvCxnSpPr>
          <p:cNvPr id="9" name="Connector 8"/>
          <p:cNvCxnSpPr/>
          <p:nvPr/>
        </p:nvCxnSpPr>
        <p:spPr>
          <a:xfrm>
            <a:off x="640080" y="2487168"/>
            <a:ext cx="3246120" cy="0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49808" y="2596896"/>
            <a:ext cx="11887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위도</a:t>
            </a:r>
            <a:endParaRPr lang="ko-KR" altLang="en-US" sz="1050" dirty="0"/>
          </a:p>
        </p:txBody>
      </p:sp>
      <p:sp>
        <p:nvSpPr>
          <p:cNvPr id="11" name="TextBox 10"/>
          <p:cNvSpPr txBox="1"/>
          <p:nvPr/>
        </p:nvSpPr>
        <p:spPr>
          <a:xfrm>
            <a:off x="2057400" y="2596896"/>
            <a:ext cx="11887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32.12</a:t>
            </a:r>
            <a:endParaRPr lang="ko-KR" altLang="en-US" sz="1050" dirty="0"/>
          </a:p>
        </p:txBody>
      </p:sp>
      <p:sp>
        <p:nvSpPr>
          <p:cNvPr id="12" name="TextBox 11"/>
          <p:cNvSpPr txBox="1"/>
          <p:nvPr/>
        </p:nvSpPr>
        <p:spPr>
          <a:xfrm>
            <a:off x="3337560" y="2596896"/>
            <a:ext cx="5029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°</a:t>
            </a:r>
            <a:endParaRPr lang="ko-KR" altLang="en-US" sz="1000" dirty="0"/>
          </a:p>
        </p:txBody>
      </p:sp>
      <p:cxnSp>
        <p:nvCxnSpPr>
          <p:cNvPr id="13" name="Connector 12"/>
          <p:cNvCxnSpPr/>
          <p:nvPr/>
        </p:nvCxnSpPr>
        <p:spPr>
          <a:xfrm>
            <a:off x="640080" y="2944368"/>
            <a:ext cx="3246120" cy="0"/>
          </a:xfrm>
          <a:prstGeom prst="line">
            <a:avLst/>
          </a:prstGeom>
          <a:ln w="9525">
            <a:solidFill>
              <a:srgbClr val="EDF0F6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749808" y="2944368"/>
            <a:ext cx="11887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경도</a:t>
            </a:r>
            <a:endParaRPr lang="ko-KR" altLang="en-US" sz="1050" dirty="0"/>
          </a:p>
        </p:txBody>
      </p:sp>
      <p:sp>
        <p:nvSpPr>
          <p:cNvPr id="15" name="TextBox 14"/>
          <p:cNvSpPr txBox="1"/>
          <p:nvPr/>
        </p:nvSpPr>
        <p:spPr>
          <a:xfrm>
            <a:off x="2057400" y="2944368"/>
            <a:ext cx="11887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126.00</a:t>
            </a:r>
            <a:endParaRPr lang="ko-KR" altLang="en-US" sz="1050" dirty="0"/>
          </a:p>
        </p:txBody>
      </p:sp>
      <p:sp>
        <p:nvSpPr>
          <p:cNvPr id="16" name="TextBox 15"/>
          <p:cNvSpPr txBox="1"/>
          <p:nvPr/>
        </p:nvSpPr>
        <p:spPr>
          <a:xfrm>
            <a:off x="3337560" y="2944368"/>
            <a:ext cx="5029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°</a:t>
            </a:r>
            <a:endParaRPr lang="ko-KR" altLang="en-US" sz="1000" dirty="0"/>
          </a:p>
        </p:txBody>
      </p:sp>
      <p:cxnSp>
        <p:nvCxnSpPr>
          <p:cNvPr id="17" name="Connector 16"/>
          <p:cNvCxnSpPr/>
          <p:nvPr/>
        </p:nvCxnSpPr>
        <p:spPr>
          <a:xfrm>
            <a:off x="640080" y="3291840"/>
            <a:ext cx="3246120" cy="0"/>
          </a:xfrm>
          <a:prstGeom prst="line">
            <a:avLst/>
          </a:prstGeom>
          <a:ln w="9525">
            <a:solidFill>
              <a:srgbClr val="EDF0F6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749808" y="3291840"/>
            <a:ext cx="11887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고도</a:t>
            </a:r>
            <a:endParaRPr lang="ko-KR" altLang="en-US" sz="1050" dirty="0"/>
          </a:p>
        </p:txBody>
      </p:sp>
      <p:sp>
        <p:nvSpPr>
          <p:cNvPr id="19" name="TextBox 18"/>
          <p:cNvSpPr txBox="1"/>
          <p:nvPr/>
        </p:nvSpPr>
        <p:spPr>
          <a:xfrm>
            <a:off x="2057400" y="3291840"/>
            <a:ext cx="11887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300</a:t>
            </a:r>
            <a:endParaRPr lang="ko-KR" altLang="en-US" sz="1050" dirty="0"/>
          </a:p>
        </p:txBody>
      </p:sp>
      <p:sp>
        <p:nvSpPr>
          <p:cNvPr id="20" name="TextBox 19"/>
          <p:cNvSpPr txBox="1"/>
          <p:nvPr/>
        </p:nvSpPr>
        <p:spPr>
          <a:xfrm>
            <a:off x="3337560" y="3291840"/>
            <a:ext cx="5029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m</a:t>
            </a:r>
            <a:endParaRPr lang="ko-KR" altLang="en-US" sz="1000" dirty="0"/>
          </a:p>
        </p:txBody>
      </p:sp>
      <p:cxnSp>
        <p:nvCxnSpPr>
          <p:cNvPr id="21" name="Connector 20"/>
          <p:cNvCxnSpPr/>
          <p:nvPr/>
        </p:nvCxnSpPr>
        <p:spPr>
          <a:xfrm>
            <a:off x="640080" y="3639312"/>
            <a:ext cx="3246120" cy="0"/>
          </a:xfrm>
          <a:prstGeom prst="line">
            <a:avLst/>
          </a:prstGeom>
          <a:ln w="9525">
            <a:solidFill>
              <a:srgbClr val="EDF0F6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749808" y="3639312"/>
            <a:ext cx="11887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속력</a:t>
            </a:r>
            <a:endParaRPr lang="ko-KR" altLang="en-US" sz="1050" dirty="0"/>
          </a:p>
        </p:txBody>
      </p:sp>
      <p:sp>
        <p:nvSpPr>
          <p:cNvPr id="23" name="TextBox 22"/>
          <p:cNvSpPr txBox="1"/>
          <p:nvPr/>
        </p:nvSpPr>
        <p:spPr>
          <a:xfrm>
            <a:off x="2057400" y="3639312"/>
            <a:ext cx="11887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200</a:t>
            </a:r>
            <a:endParaRPr lang="ko-KR" altLang="en-US" sz="1050" dirty="0"/>
          </a:p>
        </p:txBody>
      </p:sp>
      <p:sp>
        <p:nvSpPr>
          <p:cNvPr id="24" name="TextBox 23"/>
          <p:cNvSpPr txBox="1"/>
          <p:nvPr/>
        </p:nvSpPr>
        <p:spPr>
          <a:xfrm>
            <a:off x="3337560" y="3639312"/>
            <a:ext cx="5029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m/s</a:t>
            </a:r>
            <a:endParaRPr lang="ko-KR" altLang="en-US" sz="1000" dirty="0"/>
          </a:p>
        </p:txBody>
      </p:sp>
      <p:cxnSp>
        <p:nvCxnSpPr>
          <p:cNvPr id="25" name="Connector 24"/>
          <p:cNvCxnSpPr/>
          <p:nvPr/>
        </p:nvCxnSpPr>
        <p:spPr>
          <a:xfrm>
            <a:off x="640080" y="3986784"/>
            <a:ext cx="3246120" cy="0"/>
          </a:xfrm>
          <a:prstGeom prst="line">
            <a:avLst/>
          </a:prstGeom>
          <a:ln w="9525">
            <a:solidFill>
              <a:srgbClr val="EDF0F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749808" y="3986784"/>
            <a:ext cx="11887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Roll</a:t>
            </a:r>
            <a:endParaRPr lang="ko-KR" altLang="en-US" sz="1050" dirty="0"/>
          </a:p>
        </p:txBody>
      </p:sp>
      <p:sp>
        <p:nvSpPr>
          <p:cNvPr id="27" name="TextBox 26"/>
          <p:cNvSpPr txBox="1"/>
          <p:nvPr/>
        </p:nvSpPr>
        <p:spPr>
          <a:xfrm>
            <a:off x="2057400" y="3986784"/>
            <a:ext cx="11887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0</a:t>
            </a:r>
            <a:endParaRPr lang="ko-KR" altLang="en-US" sz="1050" dirty="0"/>
          </a:p>
        </p:txBody>
      </p:sp>
      <p:sp>
        <p:nvSpPr>
          <p:cNvPr id="28" name="TextBox 27"/>
          <p:cNvSpPr txBox="1"/>
          <p:nvPr/>
        </p:nvSpPr>
        <p:spPr>
          <a:xfrm>
            <a:off x="3337560" y="3986784"/>
            <a:ext cx="5029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°</a:t>
            </a:r>
            <a:endParaRPr lang="ko-KR" altLang="en-US" sz="1000" dirty="0"/>
          </a:p>
        </p:txBody>
      </p:sp>
      <p:cxnSp>
        <p:nvCxnSpPr>
          <p:cNvPr id="29" name="Connector 28"/>
          <p:cNvCxnSpPr/>
          <p:nvPr/>
        </p:nvCxnSpPr>
        <p:spPr>
          <a:xfrm>
            <a:off x="640080" y="4334256"/>
            <a:ext cx="3246120" cy="0"/>
          </a:xfrm>
          <a:prstGeom prst="line">
            <a:avLst/>
          </a:prstGeom>
          <a:ln w="9525">
            <a:solidFill>
              <a:srgbClr val="EDF0F6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749808" y="4334256"/>
            <a:ext cx="11887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Pitch</a:t>
            </a:r>
            <a:endParaRPr lang="ko-KR" altLang="en-US" sz="1050" dirty="0"/>
          </a:p>
        </p:txBody>
      </p:sp>
      <p:sp>
        <p:nvSpPr>
          <p:cNvPr id="31" name="TextBox 30"/>
          <p:cNvSpPr txBox="1"/>
          <p:nvPr/>
        </p:nvSpPr>
        <p:spPr>
          <a:xfrm>
            <a:off x="2057400" y="4334256"/>
            <a:ext cx="11887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0</a:t>
            </a:r>
            <a:endParaRPr lang="ko-KR" altLang="en-US" sz="1050" dirty="0"/>
          </a:p>
        </p:txBody>
      </p:sp>
      <p:sp>
        <p:nvSpPr>
          <p:cNvPr id="32" name="TextBox 31"/>
          <p:cNvSpPr txBox="1"/>
          <p:nvPr/>
        </p:nvSpPr>
        <p:spPr>
          <a:xfrm>
            <a:off x="3337560" y="4334256"/>
            <a:ext cx="5029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°</a:t>
            </a:r>
            <a:endParaRPr lang="ko-KR" altLang="en-US" sz="1000" dirty="0"/>
          </a:p>
        </p:txBody>
      </p:sp>
      <p:cxnSp>
        <p:nvCxnSpPr>
          <p:cNvPr id="33" name="Connector 32"/>
          <p:cNvCxnSpPr/>
          <p:nvPr/>
        </p:nvCxnSpPr>
        <p:spPr>
          <a:xfrm>
            <a:off x="640080" y="4681728"/>
            <a:ext cx="3246120" cy="0"/>
          </a:xfrm>
          <a:prstGeom prst="line">
            <a:avLst/>
          </a:prstGeom>
          <a:ln w="9525">
            <a:solidFill>
              <a:srgbClr val="EDF0F6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749808" y="4681728"/>
            <a:ext cx="11887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Yaw</a:t>
            </a:r>
            <a:endParaRPr lang="ko-KR" altLang="en-US" sz="1050" dirty="0"/>
          </a:p>
        </p:txBody>
      </p:sp>
      <p:sp>
        <p:nvSpPr>
          <p:cNvPr id="35" name="TextBox 34"/>
          <p:cNvSpPr txBox="1"/>
          <p:nvPr/>
        </p:nvSpPr>
        <p:spPr>
          <a:xfrm>
            <a:off x="2057400" y="4681728"/>
            <a:ext cx="11887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180</a:t>
            </a:r>
            <a:endParaRPr lang="ko-KR" altLang="en-US" sz="1050" dirty="0"/>
          </a:p>
        </p:txBody>
      </p:sp>
      <p:sp>
        <p:nvSpPr>
          <p:cNvPr id="36" name="TextBox 35"/>
          <p:cNvSpPr txBox="1"/>
          <p:nvPr/>
        </p:nvSpPr>
        <p:spPr>
          <a:xfrm>
            <a:off x="3337560" y="4681728"/>
            <a:ext cx="502920" cy="34747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°</a:t>
            </a:r>
            <a:endParaRPr lang="ko-KR" altLang="en-US" sz="1000" dirty="0"/>
          </a:p>
        </p:txBody>
      </p:sp>
      <p:cxnSp>
        <p:nvCxnSpPr>
          <p:cNvPr id="37" name="Connector 36"/>
          <p:cNvCxnSpPr/>
          <p:nvPr/>
        </p:nvCxnSpPr>
        <p:spPr>
          <a:xfrm>
            <a:off x="640080" y="5029200"/>
            <a:ext cx="3246120" cy="0"/>
          </a:xfrm>
          <a:prstGeom prst="line">
            <a:avLst/>
          </a:prstGeom>
          <a:ln w="9525">
            <a:solidFill>
              <a:srgbClr val="EDF0F6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640080" y="5175504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예시 값은 대공 표적입니다.</a:t>
            </a:r>
            <a:endParaRPr lang="ko-KR" altLang="en-US" sz="950" dirty="0"/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속도는 크기만 받고, 방향은 자세각이 정합니다.</a:t>
            </a:r>
            <a:endParaRPr lang="ko-KR" altLang="en-US" sz="950" dirty="0"/>
          </a:p>
        </p:txBody>
      </p:sp>
      <p:cxnSp>
        <p:nvCxnSpPr>
          <p:cNvPr id="39" name="Connector 38"/>
          <p:cNvCxnSpPr/>
          <p:nvPr/>
        </p:nvCxnSpPr>
        <p:spPr>
          <a:xfrm>
            <a:off x="3986784" y="3712464"/>
            <a:ext cx="512064" cy="0"/>
          </a:xfrm>
          <a:prstGeom prst="line">
            <a:avLst/>
          </a:prstGeom>
          <a:ln w="19050">
            <a:solidFill>
              <a:srgbClr val="1B2740"/>
            </a:solidFill>
            <a:tailEnd type="triangle" w="med" len="med"/>
          </a:ln>
        </p:spPr>
      </p:cxnSp>
      <p:sp>
        <p:nvSpPr>
          <p:cNvPr id="40" name="TextBox 39"/>
          <p:cNvSpPr txBox="1"/>
          <p:nvPr/>
        </p:nvSpPr>
        <p:spPr>
          <a:xfrm>
            <a:off x="3886200" y="3419856"/>
            <a:ext cx="713232" cy="21945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초기화</a:t>
            </a:r>
            <a:endParaRPr lang="ko-KR" altLang="en-US" sz="900" dirty="0"/>
          </a:p>
        </p:txBody>
      </p:sp>
      <p:sp>
        <p:nvSpPr>
          <p:cNvPr id="41" name="TextBox 40"/>
          <p:cNvSpPr txBox="1"/>
          <p:nvPr/>
        </p:nvSpPr>
        <p:spPr>
          <a:xfrm>
            <a:off x="4590288" y="2157984"/>
            <a:ext cx="3154680" cy="27432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 dirty="0">
                <a:solidFill>
                  <a:srgbClr val="D97706"/>
                </a:solidFill>
                <a:latin typeface="맑은 고딕"/>
                <a:ea typeface="맑은 고딕"/>
                <a:cs typeface="맑은 고딕"/>
              </a:rPr>
              <a:t>상태값 (ECEF 기준 9개)</a:t>
            </a:r>
            <a:endParaRPr lang="ko-KR" altLang="en-US" sz="1150" dirty="0"/>
          </a:p>
        </p:txBody>
      </p:sp>
      <p:cxnSp>
        <p:nvCxnSpPr>
          <p:cNvPr id="42" name="Connector 41"/>
          <p:cNvCxnSpPr/>
          <p:nvPr/>
        </p:nvCxnSpPr>
        <p:spPr>
          <a:xfrm>
            <a:off x="4590288" y="2487168"/>
            <a:ext cx="3154680" cy="0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43" name="Rounded Rectangle 42"/>
          <p:cNvSpPr/>
          <p:nvPr/>
        </p:nvSpPr>
        <p:spPr>
          <a:xfrm>
            <a:off x="4590288" y="263347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7F9FC"/>
          </a:solidFill>
          <a:ln w="15875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s5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348" y="2725674"/>
            <a:ext cx="204216" cy="2179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138928" y="2615184"/>
            <a:ext cx="2606040" cy="2286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ECEF 위치</a:t>
            </a:r>
            <a:endParaRPr lang="ko-KR" altLang="en-US" sz="1100" dirty="0"/>
          </a:p>
        </p:txBody>
      </p:sp>
      <p:sp>
        <p:nvSpPr>
          <p:cNvPr id="46" name="TextBox 45"/>
          <p:cNvSpPr txBox="1"/>
          <p:nvPr/>
        </p:nvSpPr>
        <p:spPr>
          <a:xfrm>
            <a:off x="5138928" y="2843784"/>
            <a:ext cx="2606040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Consolas"/>
                <a:ea typeface="맑은 고딕"/>
                <a:cs typeface="맑은 고딕"/>
              </a:rPr>
              <a:t>x, y, z  [m]</a:t>
            </a:r>
            <a:endParaRPr lang="ko-KR" altLang="en-US" sz="950" dirty="0"/>
          </a:p>
        </p:txBody>
      </p:sp>
      <p:sp>
        <p:nvSpPr>
          <p:cNvPr id="47" name="Rounded Rectangle 46"/>
          <p:cNvSpPr/>
          <p:nvPr/>
        </p:nvSpPr>
        <p:spPr>
          <a:xfrm>
            <a:off x="4590288" y="321868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7F9FC"/>
          </a:solidFill>
          <a:ln w="15875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s5_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682" y="3310890"/>
            <a:ext cx="193548" cy="21793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138928" y="3200400"/>
            <a:ext cx="2606040" cy="2286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ECEF 속도</a:t>
            </a:r>
            <a:endParaRPr lang="ko-KR" altLang="en-US" sz="1100" dirty="0"/>
          </a:p>
        </p:txBody>
      </p:sp>
      <p:sp>
        <p:nvSpPr>
          <p:cNvPr id="50" name="TextBox 49"/>
          <p:cNvSpPr txBox="1"/>
          <p:nvPr/>
        </p:nvSpPr>
        <p:spPr>
          <a:xfrm>
            <a:off x="5138928" y="3429000"/>
            <a:ext cx="2606040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Consolas"/>
                <a:ea typeface="맑은 고딕"/>
                <a:cs typeface="맑은 고딕"/>
              </a:rPr>
              <a:t>vx, vy, vz  [m/s]</a:t>
            </a:r>
            <a:endParaRPr lang="ko-KR" altLang="en-US" sz="950" dirty="0"/>
          </a:p>
        </p:txBody>
      </p:sp>
      <p:sp>
        <p:nvSpPr>
          <p:cNvPr id="51" name="Rounded Rectangle 50"/>
          <p:cNvSpPr/>
          <p:nvPr/>
        </p:nvSpPr>
        <p:spPr>
          <a:xfrm>
            <a:off x="4590288" y="380390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7F9FC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s5_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064" y="3896106"/>
            <a:ext cx="176784" cy="21793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138928" y="3785616"/>
            <a:ext cx="2606040" cy="2286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자세각</a:t>
            </a:r>
            <a:endParaRPr lang="ko-KR" altLang="en-US" sz="1100" dirty="0"/>
          </a:p>
        </p:txBody>
      </p:sp>
      <p:sp>
        <p:nvSpPr>
          <p:cNvPr id="54" name="TextBox 53"/>
          <p:cNvSpPr txBox="1"/>
          <p:nvPr/>
        </p:nvSpPr>
        <p:spPr>
          <a:xfrm>
            <a:off x="5138928" y="4014216"/>
            <a:ext cx="2606040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Consolas"/>
                <a:ea typeface="맑은 고딕"/>
                <a:cs typeface="맑은 고딕"/>
              </a:rPr>
              <a:t>Roll, Pitch, Yaw  [rad]</a:t>
            </a:r>
            <a:endParaRPr lang="ko-KR" altLang="en-US" sz="950" dirty="0"/>
          </a:p>
        </p:txBody>
      </p:sp>
      <p:sp>
        <p:nvSpPr>
          <p:cNvPr id="58" name="TextBox 57"/>
          <p:cNvSpPr txBox="1"/>
          <p:nvPr/>
        </p:nvSpPr>
        <p:spPr>
          <a:xfrm>
            <a:off x="4590288" y="4389120"/>
            <a:ext cx="3154680" cy="3556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과제 요구사항대로 위치, 속도는 ECEF 에서 갱신하고,</a:t>
            </a:r>
            <a:endParaRPr lang="ko-KR" altLang="en-US" sz="95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결과는 위경도(LLA)로 바꿔 출력합니다.</a:t>
            </a:r>
            <a:endParaRPr lang="ko-KR" altLang="en-US" sz="950" dirty="0"/>
          </a:p>
        </p:txBody>
      </p:sp>
      <p:cxnSp>
        <p:nvCxnSpPr>
          <p:cNvPr id="59" name="Connector 58"/>
          <p:cNvCxnSpPr/>
          <p:nvPr/>
        </p:nvCxnSpPr>
        <p:spPr>
          <a:xfrm>
            <a:off x="7991856" y="2194560"/>
            <a:ext cx="0" cy="3895344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8229600" y="2157984"/>
            <a:ext cx="3319272" cy="27432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구조체</a:t>
            </a:r>
            <a:endParaRPr lang="ko-KR" altLang="en-US" sz="1150" dirty="0"/>
          </a:p>
        </p:txBody>
      </p:sp>
      <p:cxnSp>
        <p:nvCxnSpPr>
          <p:cNvPr id="61" name="Connector 60"/>
          <p:cNvCxnSpPr/>
          <p:nvPr/>
        </p:nvCxnSpPr>
        <p:spPr>
          <a:xfrm>
            <a:off x="8229600" y="2487168"/>
            <a:ext cx="3319272" cy="0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62" name="Rectangle 61"/>
          <p:cNvSpPr/>
          <p:nvPr/>
        </p:nvSpPr>
        <p:spPr>
          <a:xfrm>
            <a:off x="8229600" y="2596896"/>
            <a:ext cx="3319272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57616" y="2633472"/>
            <a:ext cx="3090672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ST_SimConfig</a:t>
            </a:r>
            <a:endParaRPr lang="ko-KR" altLang="en-US" sz="950" dirty="0"/>
          </a:p>
        </p:txBody>
      </p:sp>
      <p:sp>
        <p:nvSpPr>
          <p:cNvPr id="64" name="TextBox 63"/>
          <p:cNvSpPr txBox="1"/>
          <p:nvPr/>
        </p:nvSpPr>
        <p:spPr>
          <a:xfrm>
            <a:off x="8357616" y="2825496"/>
            <a:ext cx="3090672" cy="18288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시간, 간격, 플랫폼, 표적 수</a:t>
            </a:r>
            <a:endParaRPr lang="ko-KR" altLang="en-US" sz="900" dirty="0"/>
          </a:p>
        </p:txBody>
      </p:sp>
      <p:sp>
        <p:nvSpPr>
          <p:cNvPr id="65" name="Rectangle 64"/>
          <p:cNvSpPr/>
          <p:nvPr/>
        </p:nvSpPr>
        <p:spPr>
          <a:xfrm>
            <a:off x="8503920" y="3108960"/>
            <a:ext cx="3044952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31936" y="3145536"/>
            <a:ext cx="2816352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ST_TargetInit</a:t>
            </a:r>
            <a:endParaRPr lang="ko-KR" altLang="en-US" sz="950" dirty="0"/>
          </a:p>
        </p:txBody>
      </p:sp>
      <p:sp>
        <p:nvSpPr>
          <p:cNvPr id="67" name="TextBox 66"/>
          <p:cNvSpPr txBox="1"/>
          <p:nvPr/>
        </p:nvSpPr>
        <p:spPr>
          <a:xfrm>
            <a:off x="8631936" y="3337560"/>
            <a:ext cx="2816352" cy="18288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입력값 7개 + 기동 개수</a:t>
            </a:r>
            <a:endParaRPr lang="ko-KR" altLang="en-US" sz="900" dirty="0"/>
          </a:p>
        </p:txBody>
      </p:sp>
      <p:sp>
        <p:nvSpPr>
          <p:cNvPr id="68" name="TextBox 67"/>
          <p:cNvSpPr txBox="1"/>
          <p:nvPr/>
        </p:nvSpPr>
        <p:spPr>
          <a:xfrm>
            <a:off x="8631936" y="3145536"/>
            <a:ext cx="2788920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× 10</a:t>
            </a:r>
            <a:endParaRPr lang="ko-KR" altLang="en-US" sz="900" dirty="0"/>
          </a:p>
        </p:txBody>
      </p:sp>
      <p:sp>
        <p:nvSpPr>
          <p:cNvPr id="69" name="Rectangle 68"/>
          <p:cNvSpPr/>
          <p:nvPr/>
        </p:nvSpPr>
        <p:spPr>
          <a:xfrm>
            <a:off x="8778240" y="3621024"/>
            <a:ext cx="2770632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06256" y="3657600"/>
            <a:ext cx="2542032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ST_TargetManeuver</a:t>
            </a:r>
            <a:endParaRPr lang="ko-KR" altLang="en-US" sz="950" dirty="0"/>
          </a:p>
        </p:txBody>
      </p:sp>
      <p:sp>
        <p:nvSpPr>
          <p:cNvPr id="71" name="TextBox 70"/>
          <p:cNvSpPr txBox="1"/>
          <p:nvPr/>
        </p:nvSpPr>
        <p:spPr>
          <a:xfrm>
            <a:off x="8906256" y="3849624"/>
            <a:ext cx="2542032" cy="18288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축, G, 시작, 종료</a:t>
            </a:r>
            <a:endParaRPr lang="ko-KR" altLang="en-US" sz="900" dirty="0"/>
          </a:p>
        </p:txBody>
      </p:sp>
      <p:sp>
        <p:nvSpPr>
          <p:cNvPr id="72" name="TextBox 71"/>
          <p:cNvSpPr txBox="1"/>
          <p:nvPr/>
        </p:nvSpPr>
        <p:spPr>
          <a:xfrm>
            <a:off x="8906256" y="3657600"/>
            <a:ext cx="2514600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i="0" dirty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× 30</a:t>
            </a:r>
            <a:endParaRPr lang="ko-KR" altLang="en-US" sz="900" dirty="0"/>
          </a:p>
        </p:txBody>
      </p:sp>
      <p:sp>
        <p:nvSpPr>
          <p:cNvPr id="73" name="Rectangle 72"/>
          <p:cNvSpPr/>
          <p:nvPr/>
        </p:nvSpPr>
        <p:spPr>
          <a:xfrm>
            <a:off x="8229600" y="4443984"/>
            <a:ext cx="3319272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57616" y="4480560"/>
            <a:ext cx="3090672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ST_SimSample</a:t>
            </a:r>
            <a:endParaRPr lang="ko-KR" altLang="en-US" sz="950" dirty="0"/>
          </a:p>
        </p:txBody>
      </p:sp>
      <p:sp>
        <p:nvSpPr>
          <p:cNvPr id="75" name="TextBox 74"/>
          <p:cNvSpPr txBox="1"/>
          <p:nvPr/>
        </p:nvSpPr>
        <p:spPr>
          <a:xfrm>
            <a:off x="8357616" y="4672584"/>
            <a:ext cx="3090672" cy="18288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한 시각의 전체 상태</a:t>
            </a:r>
            <a:endParaRPr lang="ko-KR" altLang="en-US" sz="900" dirty="0"/>
          </a:p>
        </p:txBody>
      </p:sp>
      <p:sp>
        <p:nvSpPr>
          <p:cNvPr id="76" name="Rectangle 75"/>
          <p:cNvSpPr/>
          <p:nvPr/>
        </p:nvSpPr>
        <p:spPr>
          <a:xfrm>
            <a:off x="8503920" y="4956048"/>
            <a:ext cx="3044952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31936" y="4992624"/>
            <a:ext cx="2816352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ST_TargetState</a:t>
            </a:r>
            <a:endParaRPr lang="ko-KR" altLang="en-US" sz="950" dirty="0"/>
          </a:p>
        </p:txBody>
      </p:sp>
      <p:sp>
        <p:nvSpPr>
          <p:cNvPr id="78" name="TextBox 77"/>
          <p:cNvSpPr txBox="1"/>
          <p:nvPr/>
        </p:nvSpPr>
        <p:spPr>
          <a:xfrm>
            <a:off x="8631936" y="5184648"/>
            <a:ext cx="2816352" cy="18288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상태값 9개 + 출력용 LLA</a:t>
            </a:r>
            <a:endParaRPr lang="ko-KR" altLang="en-US" sz="900" dirty="0"/>
          </a:p>
        </p:txBody>
      </p:sp>
      <p:sp>
        <p:nvSpPr>
          <p:cNvPr id="79" name="TextBox 78"/>
          <p:cNvSpPr txBox="1"/>
          <p:nvPr/>
        </p:nvSpPr>
        <p:spPr>
          <a:xfrm>
            <a:off x="8631936" y="4992624"/>
            <a:ext cx="2788920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i="0" dirty="0">
                <a:solidFill>
                  <a:srgbClr val="059669"/>
                </a:solidFill>
                <a:latin typeface="맑은 고딕"/>
                <a:ea typeface="맑은 고딕"/>
                <a:cs typeface="맑은 고딕"/>
              </a:rPr>
              <a:t>× 11</a:t>
            </a:r>
            <a:endParaRPr lang="ko-KR" altLang="en-US" sz="900" dirty="0"/>
          </a:p>
        </p:txBody>
      </p:sp>
      <p:cxnSp>
        <p:nvCxnSpPr>
          <p:cNvPr id="80" name="Connector 79"/>
          <p:cNvCxnSpPr/>
          <p:nvPr/>
        </p:nvCxnSpPr>
        <p:spPr>
          <a:xfrm>
            <a:off x="8357616" y="3035808"/>
            <a:ext cx="0" cy="292608"/>
          </a:xfrm>
          <a:prstGeom prst="line">
            <a:avLst/>
          </a:prstGeom>
          <a:ln w="9525">
            <a:solidFill>
              <a:srgbClr val="8794AC"/>
            </a:solidFill>
          </a:ln>
        </p:spPr>
      </p:cxnSp>
      <p:cxnSp>
        <p:nvCxnSpPr>
          <p:cNvPr id="81" name="Connector 80"/>
          <p:cNvCxnSpPr/>
          <p:nvPr/>
        </p:nvCxnSpPr>
        <p:spPr>
          <a:xfrm>
            <a:off x="8357616" y="3328416"/>
            <a:ext cx="146304" cy="0"/>
          </a:xfrm>
          <a:prstGeom prst="line">
            <a:avLst/>
          </a:prstGeom>
          <a:ln w="9525">
            <a:solidFill>
              <a:srgbClr val="8794AC"/>
            </a:solidFill>
          </a:ln>
        </p:spPr>
      </p:cxnSp>
      <p:cxnSp>
        <p:nvCxnSpPr>
          <p:cNvPr id="82" name="Connector 81"/>
          <p:cNvCxnSpPr/>
          <p:nvPr/>
        </p:nvCxnSpPr>
        <p:spPr>
          <a:xfrm>
            <a:off x="8631936" y="3547872"/>
            <a:ext cx="0" cy="292608"/>
          </a:xfrm>
          <a:prstGeom prst="line">
            <a:avLst/>
          </a:prstGeom>
          <a:ln w="9525">
            <a:solidFill>
              <a:srgbClr val="8794AC"/>
            </a:solidFill>
          </a:ln>
        </p:spPr>
      </p:cxnSp>
      <p:cxnSp>
        <p:nvCxnSpPr>
          <p:cNvPr id="83" name="Connector 82"/>
          <p:cNvCxnSpPr/>
          <p:nvPr/>
        </p:nvCxnSpPr>
        <p:spPr>
          <a:xfrm>
            <a:off x="8631936" y="3840480"/>
            <a:ext cx="146304" cy="0"/>
          </a:xfrm>
          <a:prstGeom prst="line">
            <a:avLst/>
          </a:prstGeom>
          <a:ln w="9525">
            <a:solidFill>
              <a:srgbClr val="8794AC"/>
            </a:solidFill>
          </a:ln>
        </p:spPr>
      </p:cxnSp>
      <p:cxnSp>
        <p:nvCxnSpPr>
          <p:cNvPr id="84" name="Connector 83"/>
          <p:cNvCxnSpPr/>
          <p:nvPr/>
        </p:nvCxnSpPr>
        <p:spPr>
          <a:xfrm>
            <a:off x="8357616" y="4882896"/>
            <a:ext cx="0" cy="292608"/>
          </a:xfrm>
          <a:prstGeom prst="line">
            <a:avLst/>
          </a:prstGeom>
          <a:ln w="9525">
            <a:solidFill>
              <a:srgbClr val="8794AC"/>
            </a:solidFill>
          </a:ln>
        </p:spPr>
      </p:cxnSp>
      <p:cxnSp>
        <p:nvCxnSpPr>
          <p:cNvPr id="85" name="Connector 84"/>
          <p:cNvCxnSpPr/>
          <p:nvPr/>
        </p:nvCxnSpPr>
        <p:spPr>
          <a:xfrm>
            <a:off x="8357616" y="5175504"/>
            <a:ext cx="146304" cy="0"/>
          </a:xfrm>
          <a:prstGeom prst="line">
            <a:avLst/>
          </a:prstGeom>
          <a:ln w="9525">
            <a:solidFill>
              <a:srgbClr val="8794AC"/>
            </a:solidFill>
          </a:ln>
        </p:spPr>
      </p:cxnSp>
      <p:cxnSp>
        <p:nvCxnSpPr>
          <p:cNvPr id="86" name="Connector 85"/>
          <p:cNvCxnSpPr/>
          <p:nvPr/>
        </p:nvCxnSpPr>
        <p:spPr>
          <a:xfrm>
            <a:off x="9692640" y="4096512"/>
            <a:ext cx="0" cy="310896"/>
          </a:xfrm>
          <a:prstGeom prst="line">
            <a:avLst/>
          </a:prstGeom>
          <a:ln w="15875">
            <a:solidFill>
              <a:srgbClr val="1B2740"/>
            </a:solidFill>
            <a:tailEnd type="triangle" w="med" len="med"/>
          </a:ln>
        </p:spPr>
      </p:cxnSp>
      <p:sp>
        <p:nvSpPr>
          <p:cNvPr id="87" name="TextBox 86"/>
          <p:cNvSpPr txBox="1"/>
          <p:nvPr/>
        </p:nvSpPr>
        <p:spPr>
          <a:xfrm>
            <a:off x="9802368" y="4142232"/>
            <a:ext cx="1828800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f_Tgt_StepSim</a:t>
            </a:r>
            <a:endParaRPr lang="ko-KR" altLang="en-US" sz="900" dirty="0"/>
          </a:p>
        </p:txBody>
      </p:sp>
      <p:sp>
        <p:nvSpPr>
          <p:cNvPr id="88" name="TextBox 87"/>
          <p:cNvSpPr txBox="1"/>
          <p:nvPr/>
        </p:nvSpPr>
        <p:spPr>
          <a:xfrm>
            <a:off x="8229600" y="5504688"/>
            <a:ext cx="331927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설정과 결과를 나눠, 설정은 처음 한 번만 읽고</a:t>
            </a:r>
            <a:endParaRPr lang="ko-KR" altLang="en-US" sz="950" dirty="0"/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스텝마다 바뀌는 것은 결과뿐입니다.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02. 표적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2.2 기동 입력값과 각속도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515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5A7A"/>
                </a:solidFill>
                <a:latin typeface="맑은 고딕"/>
                <a:ea typeface="맑은 고딕"/>
              </a:rPr>
              <a:t>12초부터 20초까지 오른쪽으로 4G 로 돌라는 기동 지시가 구조체 한 줄이 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4983480" cy="27432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기동 정보 (구조체 한 줄)</a:t>
            </a:r>
            <a:endParaRPr lang="ko-KR" altLang="en-US" sz="1150" dirty="0"/>
          </a:p>
        </p:txBody>
      </p:sp>
      <p:cxnSp>
        <p:nvCxnSpPr>
          <p:cNvPr id="9" name="Connector 8"/>
          <p:cNvCxnSpPr/>
          <p:nvPr/>
        </p:nvCxnSpPr>
        <p:spPr>
          <a:xfrm>
            <a:off x="640080" y="2487168"/>
            <a:ext cx="4983480" cy="0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85800" y="2578608"/>
            <a:ext cx="2103120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7C3AED"/>
                </a:solidFill>
                <a:latin typeface="Consolas"/>
                <a:ea typeface="맑은 고딕"/>
                <a:cs typeface="맑은 고딕"/>
              </a:rPr>
              <a:t>enTurnType</a:t>
            </a:r>
            <a:endParaRPr lang="ko-KR" alt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" y="2770632"/>
            <a:ext cx="2651760" cy="18288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0 없음, 1 Roll, 2 Yaw, 3 Pitch</a:t>
            </a:r>
            <a:endParaRPr lang="ko-KR" altLang="en-US" sz="900" dirty="0"/>
          </a:p>
        </p:txBody>
      </p:sp>
      <p:sp>
        <p:nvSpPr>
          <p:cNvPr id="12" name="TextBox 11"/>
          <p:cNvSpPr txBox="1"/>
          <p:nvPr/>
        </p:nvSpPr>
        <p:spPr>
          <a:xfrm>
            <a:off x="3429000" y="2578608"/>
            <a:ext cx="2148840" cy="36576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어느 축으로 도는가</a:t>
            </a:r>
            <a:endParaRPr lang="ko-KR" altLang="en-US" sz="1050" dirty="0"/>
          </a:p>
        </p:txBody>
      </p:sp>
      <p:cxnSp>
        <p:nvCxnSpPr>
          <p:cNvPr id="13" name="Connector 12"/>
          <p:cNvCxnSpPr/>
          <p:nvPr/>
        </p:nvCxnSpPr>
        <p:spPr>
          <a:xfrm>
            <a:off x="640080" y="2971800"/>
            <a:ext cx="4983480" cy="0"/>
          </a:xfrm>
          <a:prstGeom prst="line">
            <a:avLst/>
          </a:prstGeom>
          <a:ln w="9525">
            <a:solidFill>
              <a:srgbClr val="EDF0F6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85800" y="2999232"/>
            <a:ext cx="2103120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D97706"/>
                </a:solidFill>
                <a:latin typeface="Consolas"/>
                <a:ea typeface="맑은 고딕"/>
                <a:cs typeface="맑은 고딕"/>
              </a:rPr>
              <a:t>gravityValue</a:t>
            </a:r>
            <a:endParaRPr lang="ko-KR" alt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685800" y="3191256"/>
            <a:ext cx="2651760" cy="18288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크기가 세기, 부호가 방향 [G]</a:t>
            </a:r>
            <a:endParaRPr lang="ko-KR" altLang="en-US" sz="900" dirty="0"/>
          </a:p>
        </p:txBody>
      </p:sp>
      <p:sp>
        <p:nvSpPr>
          <p:cNvPr id="16" name="TextBox 15"/>
          <p:cNvSpPr txBox="1"/>
          <p:nvPr/>
        </p:nvSpPr>
        <p:spPr>
          <a:xfrm>
            <a:off x="3429000" y="2999232"/>
            <a:ext cx="2148840" cy="36576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얼마나 세게 도는가</a:t>
            </a:r>
            <a:endParaRPr lang="ko-KR" altLang="en-US" sz="1050" dirty="0"/>
          </a:p>
        </p:txBody>
      </p:sp>
      <p:cxnSp>
        <p:nvCxnSpPr>
          <p:cNvPr id="17" name="Connector 16"/>
          <p:cNvCxnSpPr/>
          <p:nvPr/>
        </p:nvCxnSpPr>
        <p:spPr>
          <a:xfrm>
            <a:off x="640080" y="3392424"/>
            <a:ext cx="4983480" cy="0"/>
          </a:xfrm>
          <a:prstGeom prst="line">
            <a:avLst/>
          </a:prstGeom>
          <a:ln w="9525">
            <a:solidFill>
              <a:srgbClr val="EDF0F6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85800" y="3419856"/>
            <a:ext cx="2103120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059669"/>
                </a:solidFill>
                <a:latin typeface="Consolas"/>
                <a:ea typeface="맑은 고딕"/>
                <a:cs typeface="맑은 고딕"/>
              </a:rPr>
              <a:t>startTime</a:t>
            </a:r>
            <a:endParaRPr lang="ko-KR" alt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685800" y="3611880"/>
            <a:ext cx="2651760" cy="18288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시작 시각 [s]</a:t>
            </a:r>
            <a:endParaRPr lang="ko-KR" altLang="en-US" sz="900" dirty="0"/>
          </a:p>
        </p:txBody>
      </p:sp>
      <p:sp>
        <p:nvSpPr>
          <p:cNvPr id="20" name="TextBox 19"/>
          <p:cNvSpPr txBox="1"/>
          <p:nvPr/>
        </p:nvSpPr>
        <p:spPr>
          <a:xfrm>
            <a:off x="3429000" y="3419856"/>
            <a:ext cx="2148840" cy="36576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언제부터</a:t>
            </a:r>
            <a:endParaRPr lang="ko-KR" altLang="en-US" sz="1050" dirty="0"/>
          </a:p>
        </p:txBody>
      </p:sp>
      <p:cxnSp>
        <p:nvCxnSpPr>
          <p:cNvPr id="21" name="Connector 20"/>
          <p:cNvCxnSpPr/>
          <p:nvPr/>
        </p:nvCxnSpPr>
        <p:spPr>
          <a:xfrm>
            <a:off x="640080" y="3813048"/>
            <a:ext cx="4983480" cy="0"/>
          </a:xfrm>
          <a:prstGeom prst="line">
            <a:avLst/>
          </a:prstGeom>
          <a:ln w="9525">
            <a:solidFill>
              <a:srgbClr val="EDF0F6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85800" y="3840480"/>
            <a:ext cx="2103120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059669"/>
                </a:solidFill>
                <a:latin typeface="Consolas"/>
                <a:ea typeface="맑은 고딕"/>
                <a:cs typeface="맑은 고딕"/>
              </a:rPr>
              <a:t>endTime</a:t>
            </a:r>
            <a:endParaRPr lang="ko-KR" altLang="en-US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685800" y="4032504"/>
            <a:ext cx="2651760" cy="18288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종료 시각 [s]</a:t>
            </a:r>
            <a:endParaRPr lang="ko-KR" altLang="en-US" sz="900" dirty="0"/>
          </a:p>
        </p:txBody>
      </p:sp>
      <p:sp>
        <p:nvSpPr>
          <p:cNvPr id="24" name="TextBox 23"/>
          <p:cNvSpPr txBox="1"/>
          <p:nvPr/>
        </p:nvSpPr>
        <p:spPr>
          <a:xfrm>
            <a:off x="3429000" y="3840480"/>
            <a:ext cx="2148840" cy="36576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언제까지</a:t>
            </a:r>
            <a:endParaRPr lang="ko-KR" altLang="en-US" sz="1050" dirty="0"/>
          </a:p>
        </p:txBody>
      </p:sp>
      <p:sp>
        <p:nvSpPr>
          <p:cNvPr id="25" name="Rectangle 24"/>
          <p:cNvSpPr/>
          <p:nvPr/>
        </p:nvSpPr>
        <p:spPr>
          <a:xfrm>
            <a:off x="640080" y="4297680"/>
            <a:ext cx="498348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352544"/>
            <a:ext cx="4709160" cy="47548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기동이 없는 시각에는 각속도 0 으로 직진한다.</a:t>
            </a:r>
            <a:endParaRPr lang="ko-KR" altLang="en-US" sz="100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기동 구간 안에서는 각속도가 일정하다.</a:t>
            </a:r>
            <a:endParaRPr lang="ko-KR" altLang="en-US"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5989320" y="2157984"/>
            <a:ext cx="5559552" cy="27432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G 값에서 각속도로</a:t>
            </a:r>
            <a:endParaRPr lang="ko-KR" altLang="en-US" sz="1150" dirty="0"/>
          </a:p>
        </p:txBody>
      </p:sp>
      <p:cxnSp>
        <p:nvCxnSpPr>
          <p:cNvPr id="28" name="Connector 27"/>
          <p:cNvCxnSpPr/>
          <p:nvPr/>
        </p:nvCxnSpPr>
        <p:spPr>
          <a:xfrm>
            <a:off x="5989320" y="2487168"/>
            <a:ext cx="5559552" cy="0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5989320" y="2560320"/>
            <a:ext cx="5559552" cy="2286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필요한 것은 1초에 몇 도 도는가(각속도)인데, 받는 값은 G 하나다.</a:t>
            </a:r>
            <a:endParaRPr lang="ko-KR" altLang="en-US" sz="1000" dirty="0"/>
          </a:p>
        </p:txBody>
      </p:sp>
      <p:pic>
        <p:nvPicPr>
          <p:cNvPr id="30" name="Picture 29" descr="s6_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852928"/>
            <a:ext cx="1499616" cy="2727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26680" y="2871216"/>
            <a:ext cx="3822192" cy="23774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8794AC"/>
                </a:solidFill>
                <a:latin typeface="맑은 고딕"/>
                <a:ea typeface="맑은 고딕"/>
                <a:cs typeface="맑은 고딕"/>
              </a:rPr>
              <a:t>원운동에 필요한 가속도를 중력가속도의 n 배로 둔다</a:t>
            </a:r>
            <a:endParaRPr lang="ko-KR" altLang="en-US" sz="900" dirty="0"/>
          </a:p>
        </p:txBody>
      </p:sp>
      <p:pic>
        <p:nvPicPr>
          <p:cNvPr id="32" name="Picture 31" descr="s6_omeg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200400"/>
            <a:ext cx="614172" cy="26822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58000" y="3218688"/>
            <a:ext cx="4690872" cy="23774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omega = (gravityValue * G_FORCE) / headingSpeed;</a:t>
            </a:r>
            <a:endParaRPr lang="ko-KR" altLang="en-US" sz="950" dirty="0"/>
          </a:p>
        </p:txBody>
      </p:sp>
      <p:sp>
        <p:nvSpPr>
          <p:cNvPr id="34" name="Rectangle 33"/>
          <p:cNvSpPr/>
          <p:nvPr/>
        </p:nvSpPr>
        <p:spPr>
          <a:xfrm>
            <a:off x="5989320" y="3621024"/>
            <a:ext cx="5559552" cy="676656"/>
          </a:xfrm>
          <a:prstGeom prst="rect">
            <a:avLst/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53912" y="3675888"/>
            <a:ext cx="5285232" cy="2377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같은 4G 라도 속력에 따라 다르다</a:t>
            </a:r>
            <a:endParaRPr lang="ko-KR" altLang="en-US" sz="1000" dirty="0"/>
          </a:p>
        </p:txBody>
      </p:sp>
      <p:sp>
        <p:nvSpPr>
          <p:cNvPr id="36" name="TextBox 35"/>
          <p:cNvSpPr txBox="1"/>
          <p:nvPr/>
        </p:nvSpPr>
        <p:spPr>
          <a:xfrm>
            <a:off x="6153912" y="3968496"/>
            <a:ext cx="2651760" cy="2377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대함 30 m/s</a:t>
            </a: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   초당 74.9°, 반경 23 m</a:t>
            </a:r>
            <a:endParaRPr lang="ko-KR" alt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8823960" y="3968496"/>
            <a:ext cx="2633472" cy="2377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대공 200 m/s</a:t>
            </a: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   초당 11.2°, 반경 1,020 m</a:t>
            </a:r>
            <a:endParaRPr lang="ko-KR" altLang="en-US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5989320" y="4389120"/>
            <a:ext cx="5559552" cy="2377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속력이 분모에 있어서 빠른 표적일수록 덜 돈다.</a:t>
            </a:r>
            <a:endParaRPr lang="ko-KR" altLang="en-US" sz="950" dirty="0"/>
          </a:p>
        </p:txBody>
      </p:sp>
      <p:sp>
        <p:nvSpPr>
          <p:cNvPr id="39" name="Example Title"/>
          <p:cNvSpPr txBox="1"/>
          <p:nvPr/>
        </p:nvSpPr>
        <p:spPr>
          <a:xfrm>
            <a:off x="640080" y="5029200"/>
            <a:ext cx="10908792" cy="2377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예시</a:t>
            </a: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  대공 표적 (200 m/s) 이 12 초부터 20 초까지 오른쪽으로 4 G</a:t>
            </a:r>
            <a:endParaRPr lang="ko-KR" altLang="en-US" sz="1000" dirty="0"/>
          </a:p>
        </p:txBody>
      </p:sp>
      <p:sp>
        <p:nvSpPr>
          <p:cNvPr id="40" name="Example Box"/>
          <p:cNvSpPr/>
          <p:nvPr/>
        </p:nvSpPr>
        <p:spPr>
          <a:xfrm>
            <a:off x="640080" y="5266944"/>
            <a:ext cx="10908792" cy="877824"/>
          </a:xfrm>
          <a:prstGeom prst="rect">
            <a:avLst/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xample Label 1"/>
          <p:cNvSpPr txBox="1"/>
          <p:nvPr/>
        </p:nvSpPr>
        <p:spPr>
          <a:xfrm>
            <a:off x="963676" y="5432044"/>
            <a:ext cx="3175000" cy="1778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구조체 한 줄 (ST_TargetManeuver)</a:t>
            </a:r>
            <a:endParaRPr lang="ko-KR" altLang="en-US" sz="1000" dirty="0"/>
          </a:p>
        </p:txBody>
      </p:sp>
      <p:sp>
        <p:nvSpPr>
          <p:cNvPr id="42" name="Example Value 1"/>
          <p:cNvSpPr txBox="1"/>
          <p:nvPr/>
        </p:nvSpPr>
        <p:spPr>
          <a:xfrm>
            <a:off x="963676" y="5686044"/>
            <a:ext cx="3175000" cy="254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{ TGT_TURN_YAW, 4.0, 12.0, 20.0 }</a:t>
            </a:r>
            <a:endParaRPr lang="ko-KR" altLang="en-US" sz="1000" dirty="0"/>
          </a:p>
        </p:txBody>
      </p:sp>
      <p:sp>
        <p:nvSpPr>
          <p:cNvPr id="43" name="Example Arrow 1"/>
          <p:cNvSpPr txBox="1"/>
          <p:nvPr/>
        </p:nvSpPr>
        <p:spPr>
          <a:xfrm>
            <a:off x="4138676" y="5686044"/>
            <a:ext cx="558800" cy="254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lang="ko-KR" altLang="en-US" sz="1000" dirty="0"/>
          </a:p>
        </p:txBody>
      </p:sp>
      <p:sp>
        <p:nvSpPr>
          <p:cNvPr id="44" name="Example Label 2"/>
          <p:cNvSpPr txBox="1"/>
          <p:nvPr/>
        </p:nvSpPr>
        <p:spPr>
          <a:xfrm>
            <a:off x="4697476" y="5432044"/>
            <a:ext cx="3810000" cy="1778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각속도  ω = n · g / V</a:t>
            </a:r>
            <a:endParaRPr lang="ko-KR" altLang="en-US" sz="1000" dirty="0"/>
          </a:p>
        </p:txBody>
      </p:sp>
      <p:sp>
        <p:nvSpPr>
          <p:cNvPr id="45" name="Example Value 2"/>
          <p:cNvSpPr txBox="1"/>
          <p:nvPr/>
        </p:nvSpPr>
        <p:spPr>
          <a:xfrm>
            <a:off x="4697476" y="5686044"/>
            <a:ext cx="3810000" cy="254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4 × 9.80665 / 200 = 0.196 rad/s  (초당 11.2°)</a:t>
            </a:r>
            <a:endParaRPr lang="ko-KR" altLang="en-US" sz="1000" dirty="0"/>
          </a:p>
        </p:txBody>
      </p:sp>
      <p:sp>
        <p:nvSpPr>
          <p:cNvPr id="46" name="Example Arrow 2"/>
          <p:cNvSpPr txBox="1"/>
          <p:nvPr/>
        </p:nvSpPr>
        <p:spPr>
          <a:xfrm>
            <a:off x="8507476" y="5686044"/>
            <a:ext cx="558800" cy="254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lang="ko-KR" altLang="en-US" sz="1000" dirty="0"/>
          </a:p>
        </p:txBody>
      </p:sp>
      <p:sp>
        <p:nvSpPr>
          <p:cNvPr id="47" name="Example Label 3"/>
          <p:cNvSpPr txBox="1"/>
          <p:nvPr/>
        </p:nvSpPr>
        <p:spPr>
          <a:xfrm>
            <a:off x="9066276" y="5432044"/>
            <a:ext cx="2159000" cy="1778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12 ~ 20 s, 8 s 동안</a:t>
            </a:r>
            <a:endParaRPr lang="ko-KR" altLang="en-US" sz="1000" dirty="0"/>
          </a:p>
        </p:txBody>
      </p:sp>
      <p:sp>
        <p:nvSpPr>
          <p:cNvPr id="48" name="Example Value 3"/>
          <p:cNvSpPr txBox="1"/>
          <p:nvPr/>
        </p:nvSpPr>
        <p:spPr>
          <a:xfrm>
            <a:off x="9066276" y="5686044"/>
            <a:ext cx="2159000" cy="254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오른쪽으로 약 90° 회전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02. 표적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2.3 구조체 구성과 흐름 (1/3)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9</a:t>
            </a:r>
          </a:p>
        </p:txBody>
      </p:sp>
      <p:pic>
        <p:nvPicPr>
          <p:cNvPr id="7" name="Code Capture" descr="TargetSim.h 25-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92224"/>
            <a:ext cx="6629718" cy="4079240"/>
          </a:xfrm>
          <a:prstGeom prst="rect">
            <a:avLst/>
          </a:prstGeom>
          <a:ln w="9525">
            <a:solidFill>
              <a:srgbClr val="C9D1DD"/>
            </a:solidFill>
          </a:ln>
        </p:spPr>
      </p:pic>
      <p:sp>
        <p:nvSpPr>
          <p:cNvPr id="8" name="Block 1"/>
          <p:cNvSpPr/>
          <p:nvPr/>
        </p:nvSpPr>
        <p:spPr>
          <a:xfrm>
            <a:off x="968692" y="1845564"/>
            <a:ext cx="6250306" cy="1178560"/>
          </a:xfrm>
          <a:prstGeom prst="roundRect">
            <a:avLst>
              <a:gd name="adj" fmla="val 3233"/>
            </a:avLst>
          </a:prstGeom>
          <a:solidFill>
            <a:srgbClr val="DC2626">
              <a:alpha val="9000"/>
            </a:srgbClr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lock 2"/>
          <p:cNvSpPr/>
          <p:nvPr/>
        </p:nvSpPr>
        <p:spPr>
          <a:xfrm>
            <a:off x="968692" y="3102864"/>
            <a:ext cx="6250306" cy="1318260"/>
          </a:xfrm>
          <a:prstGeom prst="roundRect">
            <a:avLst>
              <a:gd name="adj" fmla="val 2890"/>
            </a:avLst>
          </a:prstGeom>
          <a:solidFill>
            <a:srgbClr val="D97706">
              <a:alpha val="9000"/>
            </a:srgbClr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lock 3"/>
          <p:cNvSpPr/>
          <p:nvPr/>
        </p:nvSpPr>
        <p:spPr>
          <a:xfrm>
            <a:off x="968692" y="4499864"/>
            <a:ext cx="6250306" cy="1318260"/>
          </a:xfrm>
          <a:prstGeom prst="roundRect">
            <a:avLst>
              <a:gd name="adj" fmla="val 2890"/>
            </a:avLst>
          </a:prstGeom>
          <a:solidFill>
            <a:srgbClr val="059669">
              <a:alpha val="9000"/>
            </a:srgbClr>
          </a:solidFill>
          <a:ln w="12700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rd 1 Box"/>
          <p:cNvSpPr/>
          <p:nvPr/>
        </p:nvSpPr>
        <p:spPr>
          <a:xfrm>
            <a:off x="7701598" y="2055114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rd 1 Text"/>
          <p:cNvSpPr txBox="1"/>
          <p:nvPr/>
        </p:nvSpPr>
        <p:spPr>
          <a:xfrm>
            <a:off x="7828598" y="2144014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① 기동 회전축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기동이 어느 축으로 도는지. 번호는 과제 명세 그대로.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'없음' 이면 각속도 0 으로 직진한다.</a:t>
            </a:r>
            <a:endParaRPr lang="ko-KR" altLang="en-US" sz="950" dirty="0"/>
          </a:p>
        </p:txBody>
      </p:sp>
      <p:sp>
        <p:nvSpPr>
          <p:cNvPr id="13" name="Card 1 Lines"/>
          <p:cNvSpPr txBox="1"/>
          <p:nvPr/>
        </p:nvSpPr>
        <p:spPr>
          <a:xfrm>
            <a:off x="7828598" y="214401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25 ~ 32행</a:t>
            </a:r>
            <a:endParaRPr lang="ko-KR" altLang="en-US" sz="900" dirty="0"/>
          </a:p>
        </p:txBody>
      </p:sp>
      <p:cxnSp>
        <p:nvCxnSpPr>
          <p:cNvPr id="14" name="Arrow 1"/>
          <p:cNvCxnSpPr/>
          <p:nvPr/>
        </p:nvCxnSpPr>
        <p:spPr>
          <a:xfrm>
            <a:off x="7377748" y="2434844"/>
            <a:ext cx="323850" cy="0"/>
          </a:xfrm>
          <a:prstGeom prst="line">
            <a:avLst/>
          </a:prstGeom>
          <a:ln w="15875">
            <a:solidFill>
              <a:srgbClr val="DC2626"/>
            </a:solidFill>
            <a:tailEnd type="triangle" w="med" len="med"/>
          </a:ln>
        </p:spPr>
      </p:cxnSp>
      <p:sp>
        <p:nvSpPr>
          <p:cNvPr id="15" name="Badge 1"/>
          <p:cNvSpPr/>
          <p:nvPr/>
        </p:nvSpPr>
        <p:spPr>
          <a:xfrm>
            <a:off x="7161848" y="2326894"/>
            <a:ext cx="215900" cy="215900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1</a:t>
            </a:r>
            <a:endParaRPr lang="ko-KR" altLang="en-US" sz="950" dirty="0"/>
          </a:p>
        </p:txBody>
      </p:sp>
      <p:sp>
        <p:nvSpPr>
          <p:cNvPr id="16" name="Card 2 Box"/>
          <p:cNvSpPr/>
          <p:nvPr/>
        </p:nvSpPr>
        <p:spPr>
          <a:xfrm>
            <a:off x="7701598" y="3297174"/>
            <a:ext cx="3847274" cy="929640"/>
          </a:xfrm>
          <a:prstGeom prst="roundRect">
            <a:avLst>
              <a:gd name="adj" fmla="val 6000"/>
            </a:avLst>
          </a:prstGeom>
          <a:solidFill>
            <a:srgbClr val="FEF5E7"/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rd 2 Text"/>
          <p:cNvSpPr txBox="1"/>
          <p:nvPr/>
        </p:nvSpPr>
        <p:spPr>
          <a:xfrm>
            <a:off x="7828598" y="3386074"/>
            <a:ext cx="3593274" cy="73914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D97706"/>
                </a:solidFill>
                <a:latin typeface="맑은 고딕"/>
                <a:ea typeface="맑은 고딕"/>
                <a:cs typeface="맑은 고딕"/>
              </a:rPr>
              <a:t>② 기동 1 건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UI 기동 표의 한 줄이 이 구조체 하나가 된다.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어느 축으로, 몇 G 로, 언제부터 언제까지 도는지.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G 값 부호가 회전 방향을 정한다.</a:t>
            </a:r>
            <a:endParaRPr lang="ko-KR" altLang="en-US" sz="950" dirty="0"/>
          </a:p>
        </p:txBody>
      </p:sp>
      <p:sp>
        <p:nvSpPr>
          <p:cNvPr id="18" name="Card 2 Lines"/>
          <p:cNvSpPr txBox="1"/>
          <p:nvPr/>
        </p:nvSpPr>
        <p:spPr>
          <a:xfrm>
            <a:off x="7828598" y="338607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34 ~ 42행</a:t>
            </a:r>
            <a:endParaRPr lang="ko-KR" altLang="en-US" sz="900" dirty="0"/>
          </a:p>
        </p:txBody>
      </p:sp>
      <p:cxnSp>
        <p:nvCxnSpPr>
          <p:cNvPr id="19" name="Arrow 2"/>
          <p:cNvCxnSpPr/>
          <p:nvPr/>
        </p:nvCxnSpPr>
        <p:spPr>
          <a:xfrm>
            <a:off x="7377748" y="3761994"/>
            <a:ext cx="323850" cy="0"/>
          </a:xfrm>
          <a:prstGeom prst="line">
            <a:avLst/>
          </a:prstGeom>
          <a:ln w="15875">
            <a:solidFill>
              <a:srgbClr val="D97706"/>
            </a:solidFill>
            <a:tailEnd type="triangle" w="med" len="med"/>
          </a:ln>
        </p:spPr>
      </p:cxnSp>
      <p:sp>
        <p:nvSpPr>
          <p:cNvPr id="20" name="Badge 2"/>
          <p:cNvSpPr/>
          <p:nvPr/>
        </p:nvSpPr>
        <p:spPr>
          <a:xfrm>
            <a:off x="7161848" y="3654044"/>
            <a:ext cx="215900" cy="215900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2</a:t>
            </a:r>
            <a:endParaRPr lang="ko-KR" altLang="en-US" sz="950" dirty="0"/>
          </a:p>
        </p:txBody>
      </p:sp>
      <p:sp>
        <p:nvSpPr>
          <p:cNvPr id="21" name="Card 3 Box"/>
          <p:cNvSpPr/>
          <p:nvPr/>
        </p:nvSpPr>
        <p:spPr>
          <a:xfrm>
            <a:off x="7701598" y="4694174"/>
            <a:ext cx="3847274" cy="92964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 w="12700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ard 3 Text"/>
          <p:cNvSpPr txBox="1"/>
          <p:nvPr/>
        </p:nvSpPr>
        <p:spPr>
          <a:xfrm>
            <a:off x="7828598" y="4783074"/>
            <a:ext cx="3593274" cy="73914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059669"/>
                </a:solidFill>
                <a:latin typeface="맑은 고딕"/>
                <a:ea typeface="맑은 고딕"/>
                <a:cs typeface="맑은 고딕"/>
              </a:rPr>
              <a:t>③ 표적 하나의 초기값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UI 표적 표의 한 줄과 그 표적의 기동 목록.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속도는 크기 V 만 받고, 방향은 자세각이 정한다.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기동은 표적마다 최대 30 개.</a:t>
            </a:r>
            <a:endParaRPr lang="ko-KR" altLang="en-US" sz="950" dirty="0"/>
          </a:p>
        </p:txBody>
      </p:sp>
      <p:sp>
        <p:nvSpPr>
          <p:cNvPr id="23" name="Card 3 Lines"/>
          <p:cNvSpPr txBox="1"/>
          <p:nvPr/>
        </p:nvSpPr>
        <p:spPr>
          <a:xfrm>
            <a:off x="7828598" y="478307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44 ~ 52행</a:t>
            </a:r>
            <a:endParaRPr lang="ko-KR" altLang="en-US" sz="900" dirty="0"/>
          </a:p>
        </p:txBody>
      </p:sp>
      <p:cxnSp>
        <p:nvCxnSpPr>
          <p:cNvPr id="24" name="Arrow 3"/>
          <p:cNvCxnSpPr/>
          <p:nvPr/>
        </p:nvCxnSpPr>
        <p:spPr>
          <a:xfrm>
            <a:off x="7377748" y="5158994"/>
            <a:ext cx="323850" cy="0"/>
          </a:xfrm>
          <a:prstGeom prst="line">
            <a:avLst/>
          </a:prstGeom>
          <a:ln w="15875">
            <a:solidFill>
              <a:srgbClr val="059669"/>
            </a:solidFill>
            <a:tailEnd type="triangle" w="med" len="med"/>
          </a:ln>
        </p:spPr>
      </p:cxnSp>
      <p:sp>
        <p:nvSpPr>
          <p:cNvPr id="25" name="Badge 3"/>
          <p:cNvSpPr/>
          <p:nvPr/>
        </p:nvSpPr>
        <p:spPr>
          <a:xfrm>
            <a:off x="7161848" y="5051044"/>
            <a:ext cx="215900" cy="215900"/>
          </a:xfrm>
          <a:prstGeom prst="ellipse">
            <a:avLst/>
          </a:prstGeom>
          <a:solidFill>
            <a:srgbClr val="059669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3</a:t>
            </a:r>
            <a:endParaRPr lang="ko-KR" altLang="en-US" sz="950" dirty="0"/>
          </a:p>
        </p:txBody>
      </p:sp>
      <p:sp>
        <p:nvSpPr>
          <p:cNvPr id="26" name="File Tag"/>
          <p:cNvSpPr txBox="1"/>
          <p:nvPr/>
        </p:nvSpPr>
        <p:spPr>
          <a:xfrm>
            <a:off x="6214872" y="1345184"/>
            <a:ext cx="5334000" cy="2032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8794AC"/>
                </a:solidFill>
                <a:latin typeface="Consolas"/>
                <a:ea typeface="맑은 고딕"/>
                <a:cs typeface="맑은 고딕"/>
              </a:rPr>
              <a:t>TargetSimCore/include/TargetSim.h  25 ~ 52행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03. 궤적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3.2 한 스텝 처리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515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5A7A"/>
                </a:solidFill>
                <a:latin typeface="맑은 고딕"/>
                <a:ea typeface="맑은 고딕"/>
              </a:rPr>
              <a:t>다섯 단계가 f_Tgt_StepSim 한 번이고, 0.1초마다 반복하면 60초 궤적이 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57984"/>
            <a:ext cx="2006194" cy="2670048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57984"/>
            <a:ext cx="2006194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57984"/>
            <a:ext cx="1823314" cy="36576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 기동 찾기</a:t>
            </a:r>
            <a:endParaRPr lang="ko-KR" altLang="en-US" sz="1100" dirty="0"/>
          </a:p>
        </p:txBody>
      </p:sp>
      <p:sp>
        <p:nvSpPr>
          <p:cNvPr id="11" name="Rectangle 10"/>
          <p:cNvSpPr/>
          <p:nvPr/>
        </p:nvSpPr>
        <p:spPr>
          <a:xfrm>
            <a:off x="758952" y="2633472"/>
            <a:ext cx="1768450" cy="530352"/>
          </a:xfrm>
          <a:prstGeom prst="rect">
            <a:avLst/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s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799" y="2802636"/>
            <a:ext cx="714756" cy="1920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291840"/>
            <a:ext cx="1731874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무엇을</a:t>
            </a:r>
            <a:endParaRPr lang="ko-KR" altLang="en-US" sz="950" dirty="0"/>
          </a:p>
        </p:txBody>
      </p:sp>
      <p:sp>
        <p:nvSpPr>
          <p:cNvPr id="14" name="TextBox 13"/>
          <p:cNvSpPr txBox="1"/>
          <p:nvPr/>
        </p:nvSpPr>
        <p:spPr>
          <a:xfrm>
            <a:off x="777240" y="3502152"/>
            <a:ext cx="1731874" cy="51206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지금 시각에 걸린 기동이 있는지 찾는다.</a:t>
            </a:r>
            <a:endParaRPr lang="ko-KR" alt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777240" y="4050792"/>
            <a:ext cx="1731874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왜 필요한가</a:t>
            </a:r>
            <a:endParaRPr lang="ko-KR" altLang="en-US" sz="950" dirty="0"/>
          </a:p>
        </p:txBody>
      </p:sp>
      <p:sp>
        <p:nvSpPr>
          <p:cNvPr id="16" name="TextBox 15"/>
          <p:cNvSpPr txBox="1"/>
          <p:nvPr/>
        </p:nvSpPr>
        <p:spPr>
          <a:xfrm>
            <a:off x="777240" y="4261104"/>
            <a:ext cx="1731874" cy="51206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걸린 기동이 없으면 각속도 0 으로 직진한다.</a:t>
            </a:r>
            <a:endParaRPr lang="ko-KR" altLang="en-US" sz="950" dirty="0"/>
          </a:p>
        </p:txBody>
      </p:sp>
      <p:cxnSp>
        <p:nvCxnSpPr>
          <p:cNvPr id="17" name="Connector 16"/>
          <p:cNvCxnSpPr/>
          <p:nvPr/>
        </p:nvCxnSpPr>
        <p:spPr>
          <a:xfrm>
            <a:off x="2673706" y="2898648"/>
            <a:ext cx="164592" cy="0"/>
          </a:xfrm>
          <a:prstGeom prst="line">
            <a:avLst/>
          </a:prstGeom>
          <a:ln w="15875">
            <a:solidFill>
              <a:srgbClr val="1B2740"/>
            </a:solidFill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2865730" y="2157984"/>
            <a:ext cx="2006194" cy="2670048"/>
          </a:xfrm>
          <a:prstGeom prst="rect">
            <a:avLst/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65730" y="2157984"/>
            <a:ext cx="2006194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02890" y="2157984"/>
            <a:ext cx="1823314" cy="36576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 자세 회전</a:t>
            </a:r>
            <a:endParaRPr lang="ko-KR" altLang="en-US" sz="1100" dirty="0"/>
          </a:p>
        </p:txBody>
      </p:sp>
      <p:sp>
        <p:nvSpPr>
          <p:cNvPr id="21" name="Rectangle 20"/>
          <p:cNvSpPr/>
          <p:nvPr/>
        </p:nvSpPr>
        <p:spPr>
          <a:xfrm>
            <a:off x="2984602" y="2633472"/>
            <a:ext cx="1768450" cy="530352"/>
          </a:xfrm>
          <a:prstGeom prst="rect">
            <a:avLst/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s9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938" y="2802636"/>
            <a:ext cx="1255776" cy="1920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002890" y="3291840"/>
            <a:ext cx="1731874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D97706"/>
                </a:solidFill>
                <a:latin typeface="맑은 고딕"/>
                <a:ea typeface="맑은 고딕"/>
                <a:cs typeface="맑은 고딕"/>
              </a:rPr>
              <a:t>무엇을</a:t>
            </a:r>
            <a:endParaRPr lang="ko-KR" altLang="en-US" sz="950" dirty="0"/>
          </a:p>
        </p:txBody>
      </p:sp>
      <p:sp>
        <p:nvSpPr>
          <p:cNvPr id="24" name="TextBox 23"/>
          <p:cNvSpPr txBox="1"/>
          <p:nvPr/>
        </p:nvSpPr>
        <p:spPr>
          <a:xfrm>
            <a:off x="3002890" y="3502152"/>
            <a:ext cx="1731874" cy="51206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각속도만큼 자세를 돌린다.</a:t>
            </a:r>
            <a:endParaRPr lang="ko-KR" altLang="en-US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3002890" y="4050792"/>
            <a:ext cx="1731874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D97706"/>
                </a:solidFill>
                <a:latin typeface="맑은 고딕"/>
                <a:ea typeface="맑은 고딕"/>
                <a:cs typeface="맑은 고딕"/>
              </a:rPr>
              <a:t>왜 필요한가</a:t>
            </a:r>
            <a:endParaRPr lang="ko-KR" altLang="en-US" sz="950" dirty="0"/>
          </a:p>
        </p:txBody>
      </p:sp>
      <p:sp>
        <p:nvSpPr>
          <p:cNvPr id="26" name="TextBox 25"/>
          <p:cNvSpPr txBox="1"/>
          <p:nvPr/>
        </p:nvSpPr>
        <p:spPr>
          <a:xfrm>
            <a:off x="3002890" y="4261104"/>
            <a:ext cx="1731874" cy="51206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자세가 정해져야 속도 방향이 정해진다.</a:t>
            </a:r>
            <a:endParaRPr lang="ko-KR" altLang="en-US" sz="950" dirty="0"/>
          </a:p>
        </p:txBody>
      </p:sp>
      <p:cxnSp>
        <p:nvCxnSpPr>
          <p:cNvPr id="27" name="Connector 26"/>
          <p:cNvCxnSpPr/>
          <p:nvPr/>
        </p:nvCxnSpPr>
        <p:spPr>
          <a:xfrm>
            <a:off x="4899355" y="2898648"/>
            <a:ext cx="164592" cy="0"/>
          </a:xfrm>
          <a:prstGeom prst="line">
            <a:avLst/>
          </a:prstGeom>
          <a:ln w="15875">
            <a:solidFill>
              <a:srgbClr val="1B2740"/>
            </a:solidFill>
            <a:tailEnd type="triangle" w="med" len="med"/>
          </a:ln>
        </p:spPr>
      </p:cxnSp>
      <p:sp>
        <p:nvSpPr>
          <p:cNvPr id="28" name="Rectangle 27"/>
          <p:cNvSpPr/>
          <p:nvPr/>
        </p:nvSpPr>
        <p:spPr>
          <a:xfrm>
            <a:off x="5091379" y="2157984"/>
            <a:ext cx="2006194" cy="2670048"/>
          </a:xfrm>
          <a:prstGeom prst="rect">
            <a:avLst/>
          </a:prstGeom>
          <a:solidFill>
            <a:srgbClr val="FFFFFF"/>
          </a:solidFill>
          <a:ln w="15875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91379" y="2157984"/>
            <a:ext cx="2006194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28539" y="2157984"/>
            <a:ext cx="1823314" cy="36576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 속도 변환</a:t>
            </a:r>
            <a:endParaRPr lang="ko-KR" alt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5210251" y="2633472"/>
            <a:ext cx="1768450" cy="530352"/>
          </a:xfrm>
          <a:prstGeom prst="rect">
            <a:avLst/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s9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2298" y="2792730"/>
            <a:ext cx="1324356" cy="21183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228539" y="3291840"/>
            <a:ext cx="1731874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059669"/>
                </a:solidFill>
                <a:latin typeface="맑은 고딕"/>
                <a:ea typeface="맑은 고딕"/>
                <a:cs typeface="맑은 고딕"/>
              </a:rPr>
              <a:t>무엇을</a:t>
            </a:r>
            <a:endParaRPr lang="ko-KR" altLang="en-US" sz="950" dirty="0"/>
          </a:p>
        </p:txBody>
      </p:sp>
      <p:sp>
        <p:nvSpPr>
          <p:cNvPr id="34" name="TextBox 33"/>
          <p:cNvSpPr txBox="1"/>
          <p:nvPr/>
        </p:nvSpPr>
        <p:spPr>
          <a:xfrm>
            <a:off x="5228539" y="3502152"/>
            <a:ext cx="1731874" cy="51206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기수 방향 속력 V 를 ECEF 속도 벡터로 바꾼다.</a:t>
            </a:r>
            <a:endParaRPr lang="ko-KR" altLang="en-US" sz="1000" dirty="0"/>
          </a:p>
        </p:txBody>
      </p:sp>
      <p:sp>
        <p:nvSpPr>
          <p:cNvPr id="35" name="TextBox 34"/>
          <p:cNvSpPr txBox="1"/>
          <p:nvPr/>
        </p:nvSpPr>
        <p:spPr>
          <a:xfrm>
            <a:off x="5228539" y="4050792"/>
            <a:ext cx="1731874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059669"/>
                </a:solidFill>
                <a:latin typeface="맑은 고딕"/>
                <a:ea typeface="맑은 고딕"/>
                <a:cs typeface="맑은 고딕"/>
              </a:rPr>
              <a:t>왜 필요한가</a:t>
            </a:r>
            <a:endParaRPr lang="ko-KR" altLang="en-US" sz="950" dirty="0"/>
          </a:p>
        </p:txBody>
      </p:sp>
      <p:sp>
        <p:nvSpPr>
          <p:cNvPr id="36" name="TextBox 35"/>
          <p:cNvSpPr txBox="1"/>
          <p:nvPr/>
        </p:nvSpPr>
        <p:spPr>
          <a:xfrm>
            <a:off x="5228539" y="4261104"/>
            <a:ext cx="1731874" cy="51206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속력은 그대로, 방향만 자세가 정한다.</a:t>
            </a:r>
            <a:endParaRPr lang="ko-KR" altLang="en-US" sz="950" dirty="0"/>
          </a:p>
        </p:txBody>
      </p:sp>
      <p:cxnSp>
        <p:nvCxnSpPr>
          <p:cNvPr id="37" name="Connector 36"/>
          <p:cNvCxnSpPr/>
          <p:nvPr/>
        </p:nvCxnSpPr>
        <p:spPr>
          <a:xfrm>
            <a:off x="7125005" y="2898648"/>
            <a:ext cx="164592" cy="0"/>
          </a:xfrm>
          <a:prstGeom prst="line">
            <a:avLst/>
          </a:prstGeom>
          <a:ln w="15875">
            <a:solidFill>
              <a:srgbClr val="1B2740"/>
            </a:solidFill>
            <a:tailEnd type="triangle" w="med" len="med"/>
          </a:ln>
        </p:spPr>
      </p:cxnSp>
      <p:sp>
        <p:nvSpPr>
          <p:cNvPr id="38" name="Rectangle 37"/>
          <p:cNvSpPr/>
          <p:nvPr/>
        </p:nvSpPr>
        <p:spPr>
          <a:xfrm>
            <a:off x="7317029" y="2157984"/>
            <a:ext cx="2006194" cy="2670048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7029" y="2157984"/>
            <a:ext cx="2006194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4189" y="2157984"/>
            <a:ext cx="1823314" cy="36576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 위치 이동</a:t>
            </a:r>
            <a:endParaRPr lang="ko-KR" altLang="en-US" sz="1100" dirty="0"/>
          </a:p>
        </p:txBody>
      </p:sp>
      <p:sp>
        <p:nvSpPr>
          <p:cNvPr id="41" name="Rectangle 40"/>
          <p:cNvSpPr/>
          <p:nvPr/>
        </p:nvSpPr>
        <p:spPr>
          <a:xfrm>
            <a:off x="7435901" y="2633472"/>
            <a:ext cx="1768450" cy="530352"/>
          </a:xfrm>
          <a:prstGeom prst="rect">
            <a:avLst/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s9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2906" y="2800350"/>
            <a:ext cx="1234440" cy="19659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454189" y="3291840"/>
            <a:ext cx="1731874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무엇을</a:t>
            </a:r>
            <a:endParaRPr lang="ko-KR" altLang="en-US" sz="950" dirty="0"/>
          </a:p>
        </p:txBody>
      </p:sp>
      <p:sp>
        <p:nvSpPr>
          <p:cNvPr id="44" name="TextBox 43"/>
          <p:cNvSpPr txBox="1"/>
          <p:nvPr/>
        </p:nvSpPr>
        <p:spPr>
          <a:xfrm>
            <a:off x="7454189" y="3502152"/>
            <a:ext cx="1731874" cy="51206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중간 지점 속도로 위치를 0.1 s 옮긴다.</a:t>
            </a:r>
            <a:endParaRPr lang="ko-KR" altLang="en-US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7454189" y="4050792"/>
            <a:ext cx="1731874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왜 필요한가</a:t>
            </a:r>
            <a:endParaRPr lang="ko-KR" altLang="en-US" sz="950" dirty="0"/>
          </a:p>
        </p:txBody>
      </p:sp>
      <p:sp>
        <p:nvSpPr>
          <p:cNvPr id="46" name="TextBox 45"/>
          <p:cNvSpPr txBox="1"/>
          <p:nvPr/>
        </p:nvSpPr>
        <p:spPr>
          <a:xfrm>
            <a:off x="7454189" y="4261104"/>
            <a:ext cx="1731874" cy="51206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0.1 s 마다 옮긴 위치를 이으면 궤적이 된다.</a:t>
            </a:r>
            <a:endParaRPr lang="ko-KR" altLang="en-US" sz="950" dirty="0"/>
          </a:p>
        </p:txBody>
      </p:sp>
      <p:cxnSp>
        <p:nvCxnSpPr>
          <p:cNvPr id="47" name="Connector 46"/>
          <p:cNvCxnSpPr/>
          <p:nvPr/>
        </p:nvCxnSpPr>
        <p:spPr>
          <a:xfrm>
            <a:off x="9350654" y="2898648"/>
            <a:ext cx="164592" cy="0"/>
          </a:xfrm>
          <a:prstGeom prst="line">
            <a:avLst/>
          </a:prstGeom>
          <a:ln w="15875">
            <a:solidFill>
              <a:srgbClr val="1B2740"/>
            </a:solidFill>
            <a:tailEnd type="triangle" w="med" len="med"/>
          </a:ln>
        </p:spPr>
      </p:cxnSp>
      <p:sp>
        <p:nvSpPr>
          <p:cNvPr id="48" name="Rectangle 47"/>
          <p:cNvSpPr/>
          <p:nvPr/>
        </p:nvSpPr>
        <p:spPr>
          <a:xfrm>
            <a:off x="9542678" y="2157984"/>
            <a:ext cx="2006194" cy="2670048"/>
          </a:xfrm>
          <a:prstGeom prst="rect">
            <a:avLst/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42678" y="2157984"/>
            <a:ext cx="2006194" cy="3657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79838" y="2157984"/>
            <a:ext cx="1823314" cy="36576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 결과 기록</a:t>
            </a:r>
            <a:endParaRPr lang="ko-KR" altLang="en-US" sz="1100" dirty="0"/>
          </a:p>
        </p:txBody>
      </p:sp>
      <p:sp>
        <p:nvSpPr>
          <p:cNvPr id="51" name="Rectangle 50"/>
          <p:cNvSpPr/>
          <p:nvPr/>
        </p:nvSpPr>
        <p:spPr>
          <a:xfrm>
            <a:off x="9661550" y="2633472"/>
            <a:ext cx="1768450" cy="530352"/>
          </a:xfrm>
          <a:prstGeom prst="rect">
            <a:avLst/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s9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0663" y="2802636"/>
            <a:ext cx="1030224" cy="19202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679838" y="3291840"/>
            <a:ext cx="1731874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무엇을</a:t>
            </a:r>
            <a:endParaRPr lang="ko-KR" altLang="en-US" sz="950" dirty="0"/>
          </a:p>
        </p:txBody>
      </p:sp>
      <p:sp>
        <p:nvSpPr>
          <p:cNvPr id="54" name="TextBox 53"/>
          <p:cNvSpPr txBox="1"/>
          <p:nvPr/>
        </p:nvSpPr>
        <p:spPr>
          <a:xfrm>
            <a:off x="9679838" y="3502152"/>
            <a:ext cx="1731874" cy="51206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위도 · 경도 · 고도로 바꿔 결과에 담는다.</a:t>
            </a:r>
            <a:endParaRPr lang="ko-KR" altLang="en-US" sz="1000" dirty="0"/>
          </a:p>
        </p:txBody>
      </p:sp>
      <p:sp>
        <p:nvSpPr>
          <p:cNvPr id="55" name="TextBox 54"/>
          <p:cNvSpPr txBox="1"/>
          <p:nvPr/>
        </p:nvSpPr>
        <p:spPr>
          <a:xfrm>
            <a:off x="9679838" y="4050792"/>
            <a:ext cx="1731874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왜 필요한가</a:t>
            </a:r>
            <a:endParaRPr lang="ko-KR" altLang="en-US" sz="950" dirty="0"/>
          </a:p>
        </p:txBody>
      </p:sp>
      <p:sp>
        <p:nvSpPr>
          <p:cNvPr id="56" name="TextBox 55"/>
          <p:cNvSpPr txBox="1"/>
          <p:nvPr/>
        </p:nvSpPr>
        <p:spPr>
          <a:xfrm>
            <a:off x="9679838" y="4261104"/>
            <a:ext cx="1731874" cy="51206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사람이 읽고, 뒤쪽 처리 블록이 쓰는 형식이다.</a:t>
            </a:r>
            <a:endParaRPr lang="ko-KR" altLang="en-US" sz="950" dirty="0"/>
          </a:p>
        </p:txBody>
      </p:sp>
      <p:sp>
        <p:nvSpPr>
          <p:cNvPr id="57" name="Rectangle 56"/>
          <p:cNvSpPr/>
          <p:nvPr/>
        </p:nvSpPr>
        <p:spPr>
          <a:xfrm>
            <a:off x="640080" y="4992624"/>
            <a:ext cx="6675120" cy="1170432"/>
          </a:xfrm>
          <a:prstGeom prst="rect">
            <a:avLst/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" y="5102352"/>
            <a:ext cx="6309360" cy="256032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③ ④ 는 실제로 두 번 계산한다 (중점법)</a:t>
            </a:r>
            <a:endParaRPr lang="ko-KR" altLang="en-US" sz="1050" dirty="0"/>
          </a:p>
        </p:txBody>
      </p:sp>
      <p:sp>
        <p:nvSpPr>
          <p:cNvPr id="59" name="TextBox 58"/>
          <p:cNvSpPr txBox="1"/>
          <p:nvPr/>
        </p:nvSpPr>
        <p:spPr>
          <a:xfrm>
            <a:off x="841248" y="5431536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0.05 s 앞 지점에서 속도를 다시 구한 뒤, 그 속도로 처음 위치에서 0.1 s 를 옮긴다.</a:t>
            </a:r>
            <a:endParaRPr lang="ko-KR" altLang="en-US" sz="100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처음 속도로만 옮기면 도는 동안 바깥으로 벗어나는데, 이렇게 하면 실제 궤적에 더 가깝다.</a:t>
            </a:r>
            <a:endParaRPr lang="ko-KR" altLang="en-US" sz="1000" dirty="0"/>
          </a:p>
        </p:txBody>
      </p:sp>
      <p:sp>
        <p:nvSpPr>
          <p:cNvPr id="60" name="Rectangle 59"/>
          <p:cNvSpPr/>
          <p:nvPr/>
        </p:nvSpPr>
        <p:spPr>
          <a:xfrm>
            <a:off x="7543800" y="4992624"/>
            <a:ext cx="4005072" cy="1170432"/>
          </a:xfrm>
          <a:prstGeom prst="rect">
            <a:avLst/>
          </a:prstGeom>
          <a:solidFill>
            <a:srgbClr val="ECF8F3"/>
          </a:solidFill>
          <a:ln w="12700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44968" y="5102352"/>
            <a:ext cx="3639312" cy="256032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059669"/>
                </a:solidFill>
                <a:latin typeface="맑은 고딕"/>
                <a:ea typeface="맑은 고딕"/>
                <a:cs typeface="맑은 고딕"/>
              </a:rPr>
              <a:t>표적 수만큼 반복</a:t>
            </a:r>
            <a:endParaRPr lang="ko-KR" altLang="en-US" sz="1050" dirty="0"/>
          </a:p>
        </p:txBody>
      </p:sp>
      <p:sp>
        <p:nvSpPr>
          <p:cNvPr id="62" name="TextBox 61"/>
          <p:cNvSpPr txBox="1"/>
          <p:nvPr/>
        </p:nvSpPr>
        <p:spPr>
          <a:xfrm>
            <a:off x="7744968" y="5431536"/>
            <a:ext cx="3639312" cy="640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표적끼리 서로 영향을 주지 않아서</a:t>
            </a:r>
            <a:endParaRPr lang="ko-KR" altLang="en-US" sz="100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반복문 하나로 10개까지 그대로 늘어난다.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03. 궤적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3.5 속도 벡터 변환 공식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515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5A7A"/>
                </a:solidFill>
                <a:latin typeface="맑은 고딕"/>
                <a:ea typeface="맑은 고딕"/>
              </a:rPr>
              <a:t>과제의 추가 고민 항목인, 동체 속도 V_heading 을 ECEF 의 Vx, Vy, Vz 로 바꾸는 방법입니다.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6812280" cy="27432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받은 값은 속력 하나, 필요한 값은 x, y, z 세 성분</a:t>
            </a:r>
            <a:endParaRPr lang="ko-KR" altLang="en-US" sz="1150" dirty="0"/>
          </a:p>
        </p:txBody>
      </p:sp>
      <p:cxnSp>
        <p:nvCxnSpPr>
          <p:cNvPr id="9" name="Connector 8"/>
          <p:cNvCxnSpPr/>
          <p:nvPr/>
        </p:nvCxnSpPr>
        <p:spPr>
          <a:xfrm>
            <a:off x="640080" y="2487168"/>
            <a:ext cx="6812280" cy="0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10" name="Rectangle 9"/>
          <p:cNvSpPr/>
          <p:nvPr/>
        </p:nvSpPr>
        <p:spPr>
          <a:xfrm>
            <a:off x="640080" y="2633472"/>
            <a:ext cx="1874520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33472"/>
            <a:ext cx="1874520" cy="274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33472"/>
            <a:ext cx="1874520" cy="2743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동체 기준 (표적)</a:t>
            </a:r>
            <a:endParaRPr lang="ko-KR" altLang="en-US" sz="950" dirty="0"/>
          </a:p>
        </p:txBody>
      </p:sp>
      <p:pic>
        <p:nvPicPr>
          <p:cNvPr id="13" name="Picture 12" descr="s10_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530" y="3004566"/>
            <a:ext cx="769620" cy="2270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3236976"/>
            <a:ext cx="1874520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기수 방향으로 V</a:t>
            </a:r>
            <a:endParaRPr lang="ko-KR" altLang="en-US" sz="900" dirty="0"/>
          </a:p>
        </p:txBody>
      </p:sp>
      <p:cxnSp>
        <p:nvCxnSpPr>
          <p:cNvPr id="15" name="Connector 14"/>
          <p:cNvCxnSpPr/>
          <p:nvPr/>
        </p:nvCxnSpPr>
        <p:spPr>
          <a:xfrm>
            <a:off x="2569464" y="3118104"/>
            <a:ext cx="484632" cy="0"/>
          </a:xfrm>
          <a:prstGeom prst="line">
            <a:avLst/>
          </a:prstGeom>
          <a:ln w="15875">
            <a:solidFill>
              <a:srgbClr val="1B2740"/>
            </a:solidFill>
            <a:tailEnd type="triangle" w="med" len="med"/>
          </a:ln>
        </p:spPr>
      </p:cxnSp>
      <p:pic>
        <p:nvPicPr>
          <p:cNvPr id="16" name="Picture 15" descr="s10_cb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718" y="2779776"/>
            <a:ext cx="230124" cy="2194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478024" y="3182112"/>
            <a:ext cx="667512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자세각</a:t>
            </a:r>
            <a:endParaRPr lang="ko-KR" altLang="en-US" sz="850" dirty="0"/>
          </a:p>
        </p:txBody>
      </p:sp>
      <p:sp>
        <p:nvSpPr>
          <p:cNvPr id="18" name="Rectangle 17"/>
          <p:cNvSpPr/>
          <p:nvPr/>
        </p:nvSpPr>
        <p:spPr>
          <a:xfrm>
            <a:off x="3108960" y="2633472"/>
            <a:ext cx="1874520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08960" y="2633472"/>
            <a:ext cx="1874520" cy="274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2633472"/>
            <a:ext cx="1874520" cy="2743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NED (지표면 기준)</a:t>
            </a:r>
            <a:endParaRPr lang="ko-KR" altLang="en-US" sz="950" dirty="0"/>
          </a:p>
        </p:txBody>
      </p:sp>
      <p:pic>
        <p:nvPicPr>
          <p:cNvPr id="21" name="Picture 20" descr="s10_n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396" y="3004566"/>
            <a:ext cx="993648" cy="2270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108960" y="3236976"/>
            <a:ext cx="1874520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북, 동, 아래 성분</a:t>
            </a:r>
            <a:endParaRPr lang="ko-KR" altLang="en-US" sz="900" dirty="0"/>
          </a:p>
        </p:txBody>
      </p:sp>
      <p:cxnSp>
        <p:nvCxnSpPr>
          <p:cNvPr id="23" name="Connector 22"/>
          <p:cNvCxnSpPr/>
          <p:nvPr/>
        </p:nvCxnSpPr>
        <p:spPr>
          <a:xfrm>
            <a:off x="5038344" y="3118104"/>
            <a:ext cx="484632" cy="0"/>
          </a:xfrm>
          <a:prstGeom prst="line">
            <a:avLst/>
          </a:prstGeom>
          <a:ln w="15875">
            <a:solidFill>
              <a:srgbClr val="1B2740"/>
            </a:solidFill>
            <a:tailEnd type="triangle" w="med" len="med"/>
          </a:ln>
        </p:spPr>
      </p:cxnSp>
      <p:pic>
        <p:nvPicPr>
          <p:cNvPr id="24" name="Picture 23" descr="s10_c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5598" y="2782824"/>
            <a:ext cx="230124" cy="2164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946904" y="3182112"/>
            <a:ext cx="667512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위도 · 경도</a:t>
            </a:r>
            <a:endParaRPr lang="ko-KR" altLang="en-US" sz="850" dirty="0"/>
          </a:p>
        </p:txBody>
      </p:sp>
      <p:sp>
        <p:nvSpPr>
          <p:cNvPr id="26" name="Rectangle 25"/>
          <p:cNvSpPr/>
          <p:nvPr/>
        </p:nvSpPr>
        <p:spPr>
          <a:xfrm>
            <a:off x="5577840" y="2633472"/>
            <a:ext cx="1874520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77840" y="2633472"/>
            <a:ext cx="1874520" cy="274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2633472"/>
            <a:ext cx="1874520" cy="27432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ECEF (지구 중심 기준)</a:t>
            </a:r>
            <a:endParaRPr lang="ko-KR" altLang="en-US" sz="950" dirty="0"/>
          </a:p>
        </p:txBody>
      </p:sp>
      <p:pic>
        <p:nvPicPr>
          <p:cNvPr id="29" name="Picture 28" descr="s10_ec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3234" y="2999994"/>
            <a:ext cx="903732" cy="2362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77840" y="3236976"/>
            <a:ext cx="1874520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위치에 바로 더할 수 있다</a:t>
            </a:r>
            <a:endParaRPr lang="ko-KR" altLang="en-US" sz="900" dirty="0"/>
          </a:p>
        </p:txBody>
      </p:sp>
      <p:pic>
        <p:nvPicPr>
          <p:cNvPr id="31" name="Picture 30" descr="s10_m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675888"/>
            <a:ext cx="3137916" cy="2880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40080" y="4160520"/>
            <a:ext cx="6812280" cy="877824"/>
          </a:xfrm>
          <a:prstGeom prst="rect">
            <a:avLst/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233672"/>
            <a:ext cx="6446520" cy="2377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왜 이 식이 필요한가</a:t>
            </a:r>
            <a:endParaRPr lang="ko-KR" altLang="en-US" sz="1000" dirty="0"/>
          </a:p>
        </p:txBody>
      </p:sp>
      <p:sp>
        <p:nvSpPr>
          <p:cNvPr id="34" name="TextBox 33"/>
          <p:cNvSpPr txBox="1"/>
          <p:nvPr/>
        </p:nvSpPr>
        <p:spPr>
          <a:xfrm>
            <a:off x="822960" y="4507992"/>
            <a:ext cx="6446520" cy="502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입력은 속력 하나뿐이고, 방향은 자세각이 가지고 있다.</a:t>
            </a:r>
            <a:endParaRPr lang="ko-KR" altLang="en-US" sz="100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위치에 더하려면 위치와 같은 좌표계(ECEF)의 속도여야 한다.</a:t>
            </a:r>
            <a:endParaRPr lang="ko-KR" altLang="en-US" sz="1000" dirty="0"/>
          </a:p>
        </p:txBody>
      </p:sp>
      <p:sp>
        <p:nvSpPr>
          <p:cNvPr id="35" name="TextBox 34"/>
          <p:cNvSpPr txBox="1"/>
          <p:nvPr/>
        </p:nvSpPr>
        <p:spPr>
          <a:xfrm>
            <a:off x="640080" y="5193792"/>
            <a:ext cx="6812280" cy="502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두 회전은 참고 소스 코드의 좌표변환 함수를 그대로 호출했다.</a:t>
            </a:r>
            <a:endParaRPr lang="ko-KR" altLang="en-US" sz="950" dirty="0"/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새로 작성한 부분은 두 함수를 이어 붙인 것이다.</a:t>
            </a:r>
            <a:endParaRPr lang="ko-KR" altLang="en-US" sz="950" dirty="0"/>
          </a:p>
        </p:txBody>
      </p:sp>
      <p:cxnSp>
        <p:nvCxnSpPr>
          <p:cNvPr id="36" name="Connector 35"/>
          <p:cNvCxnSpPr/>
          <p:nvPr/>
        </p:nvCxnSpPr>
        <p:spPr>
          <a:xfrm>
            <a:off x="7699248" y="2194560"/>
            <a:ext cx="0" cy="3895344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7936992" y="2157984"/>
            <a:ext cx="3611880" cy="27432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대공 표적으로 따라가 보기</a:t>
            </a:r>
            <a:endParaRPr lang="ko-KR" altLang="en-US" sz="1150" dirty="0"/>
          </a:p>
        </p:txBody>
      </p:sp>
      <p:cxnSp>
        <p:nvCxnSpPr>
          <p:cNvPr id="38" name="Connector 37"/>
          <p:cNvCxnSpPr/>
          <p:nvPr/>
        </p:nvCxnSpPr>
        <p:spPr>
          <a:xfrm>
            <a:off x="7936992" y="2487168"/>
            <a:ext cx="3611880" cy="0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39" name="TextBox Example Input"/>
          <p:cNvSpPr txBox="1"/>
          <p:nvPr/>
        </p:nvSpPr>
        <p:spPr>
          <a:xfrm>
            <a:off x="7936992" y="2615184"/>
            <a:ext cx="3611880" cy="2377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입력   </a:t>
            </a: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V = 200 m/s,  Yaw = 180° (남쪽)</a:t>
            </a:r>
            <a:endParaRPr lang="ko-KR" altLang="en-US" sz="950" dirty="0"/>
          </a:p>
        </p:txBody>
      </p:sp>
      <p:sp>
        <p:nvSpPr>
          <p:cNvPr id="40" name="Rectangle Example 0"/>
          <p:cNvSpPr/>
          <p:nvPr/>
        </p:nvSpPr>
        <p:spPr>
          <a:xfrm>
            <a:off x="7936992" y="2944368"/>
            <a:ext cx="361188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Example Label 0"/>
          <p:cNvSpPr txBox="1"/>
          <p:nvPr/>
        </p:nvSpPr>
        <p:spPr>
          <a:xfrm>
            <a:off x="8028432" y="2944368"/>
            <a:ext cx="731520" cy="54864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동체</a:t>
            </a:r>
            <a:endParaRPr lang="ko-KR" altLang="en-US" sz="1000" dirty="0"/>
          </a:p>
        </p:txBody>
      </p:sp>
      <p:sp>
        <p:nvSpPr>
          <p:cNvPr id="42" name="TextBox Example Vector 0"/>
          <p:cNvSpPr txBox="1"/>
          <p:nvPr/>
        </p:nvSpPr>
        <p:spPr>
          <a:xfrm>
            <a:off x="8805672" y="2999232"/>
            <a:ext cx="2651760" cy="28346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 dirty="0">
                <a:solidFill>
                  <a:srgbClr val="1B2740"/>
                </a:solidFill>
                <a:latin typeface="Cambria"/>
                <a:ea typeface="맑은 고딕"/>
                <a:cs typeface="맑은 고딕"/>
              </a:rPr>
              <a:t>[ 200    0    0 ]</a:t>
            </a:r>
            <a:endParaRPr lang="ko-KR" altLang="en-US" sz="1200" dirty="0"/>
          </a:p>
        </p:txBody>
      </p:sp>
      <p:sp>
        <p:nvSpPr>
          <p:cNvPr id="43" name="TextBox Example Note 0"/>
          <p:cNvSpPr txBox="1"/>
          <p:nvPr/>
        </p:nvSpPr>
        <p:spPr>
          <a:xfrm>
            <a:off x="8805672" y="3264408"/>
            <a:ext cx="2651760" cy="18288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기수 방향으로만 200 m/s</a:t>
            </a:r>
            <a:endParaRPr lang="ko-KR" altLang="en-US" sz="900" dirty="0"/>
          </a:p>
        </p:txBody>
      </p:sp>
      <p:cxnSp>
        <p:nvCxnSpPr>
          <p:cNvPr id="44" name="Connector Example 0"/>
          <p:cNvCxnSpPr/>
          <p:nvPr/>
        </p:nvCxnSpPr>
        <p:spPr>
          <a:xfrm>
            <a:off x="8394192" y="3493008"/>
            <a:ext cx="0" cy="320040"/>
          </a:xfrm>
          <a:prstGeom prst="line">
            <a:avLst/>
          </a:prstGeom>
          <a:ln w="15875">
            <a:solidFill>
              <a:srgbClr val="1B2740"/>
            </a:solidFill>
            <a:tailEnd type="triangle" w="med" len="med"/>
          </a:ln>
        </p:spPr>
      </p:cxnSp>
      <p:sp>
        <p:nvSpPr>
          <p:cNvPr id="45" name="TextBox Example Arrow 0"/>
          <p:cNvSpPr txBox="1"/>
          <p:nvPr/>
        </p:nvSpPr>
        <p:spPr>
          <a:xfrm>
            <a:off x="8577072" y="3557016"/>
            <a:ext cx="2971800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자세각으로 회전 (Yaw 180°)</a:t>
            </a:r>
            <a:endParaRPr lang="ko-KR" altLang="en-US" sz="900" dirty="0"/>
          </a:p>
        </p:txBody>
      </p:sp>
      <p:sp>
        <p:nvSpPr>
          <p:cNvPr id="46" name="Rectangle Example 1"/>
          <p:cNvSpPr/>
          <p:nvPr/>
        </p:nvSpPr>
        <p:spPr>
          <a:xfrm>
            <a:off x="7936992" y="3813048"/>
            <a:ext cx="361188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Example Label 1"/>
          <p:cNvSpPr txBox="1"/>
          <p:nvPr/>
        </p:nvSpPr>
        <p:spPr>
          <a:xfrm>
            <a:off x="8028432" y="3813048"/>
            <a:ext cx="731520" cy="54864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D97706"/>
                </a:solidFill>
                <a:latin typeface="맑은 고딕"/>
                <a:ea typeface="맑은 고딕"/>
                <a:cs typeface="맑은 고딕"/>
              </a:rPr>
              <a:t>NED</a:t>
            </a:r>
            <a:endParaRPr lang="ko-KR" altLang="en-US" sz="1000" dirty="0"/>
          </a:p>
        </p:txBody>
      </p:sp>
      <p:sp>
        <p:nvSpPr>
          <p:cNvPr id="48" name="TextBox Example Vector 1"/>
          <p:cNvSpPr txBox="1"/>
          <p:nvPr/>
        </p:nvSpPr>
        <p:spPr>
          <a:xfrm>
            <a:off x="8805672" y="3867912"/>
            <a:ext cx="2651760" cy="28346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 dirty="0">
                <a:solidFill>
                  <a:srgbClr val="1B2740"/>
                </a:solidFill>
                <a:latin typeface="Cambria"/>
                <a:ea typeface="맑은 고딕"/>
                <a:cs typeface="맑은 고딕"/>
              </a:rPr>
              <a:t>[ −200    0    0 ]</a:t>
            </a:r>
            <a:endParaRPr lang="ko-KR" altLang="en-US" sz="1200" dirty="0"/>
          </a:p>
        </p:txBody>
      </p:sp>
      <p:sp>
        <p:nvSpPr>
          <p:cNvPr id="49" name="TextBox Example Note 1"/>
          <p:cNvSpPr txBox="1"/>
          <p:nvPr/>
        </p:nvSpPr>
        <p:spPr>
          <a:xfrm>
            <a:off x="8805672" y="4133088"/>
            <a:ext cx="2651760" cy="18288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북쪽 성분 -200 = 남쪽으로 200 m/s</a:t>
            </a:r>
            <a:endParaRPr lang="ko-KR" altLang="en-US" sz="900" dirty="0"/>
          </a:p>
        </p:txBody>
      </p:sp>
      <p:cxnSp>
        <p:nvCxnSpPr>
          <p:cNvPr id="50" name="Connector Example 1"/>
          <p:cNvCxnSpPr/>
          <p:nvPr/>
        </p:nvCxnSpPr>
        <p:spPr>
          <a:xfrm>
            <a:off x="8394192" y="4361688"/>
            <a:ext cx="0" cy="320040"/>
          </a:xfrm>
          <a:prstGeom prst="line">
            <a:avLst/>
          </a:prstGeom>
          <a:ln w="15875">
            <a:solidFill>
              <a:srgbClr val="1B2740"/>
            </a:solidFill>
            <a:tailEnd type="triangle" w="med" len="med"/>
          </a:ln>
        </p:spPr>
      </p:cxnSp>
      <p:sp>
        <p:nvSpPr>
          <p:cNvPr id="51" name="TextBox Example Arrow 1"/>
          <p:cNvSpPr txBox="1"/>
          <p:nvPr/>
        </p:nvSpPr>
        <p:spPr>
          <a:xfrm>
            <a:off x="8577072" y="4425696"/>
            <a:ext cx="2971800" cy="20116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위도 32.12° · 경도 126.0° 로 회전</a:t>
            </a:r>
            <a:endParaRPr lang="ko-KR" altLang="en-US" sz="900" dirty="0"/>
          </a:p>
        </p:txBody>
      </p:sp>
      <p:sp>
        <p:nvSpPr>
          <p:cNvPr id="52" name="Rectangle Example 2"/>
          <p:cNvSpPr/>
          <p:nvPr/>
        </p:nvSpPr>
        <p:spPr>
          <a:xfrm>
            <a:off x="7936992" y="4681728"/>
            <a:ext cx="361188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Example Label 2"/>
          <p:cNvSpPr txBox="1"/>
          <p:nvPr/>
        </p:nvSpPr>
        <p:spPr>
          <a:xfrm>
            <a:off x="8028432" y="4681728"/>
            <a:ext cx="731520" cy="54864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059669"/>
                </a:solidFill>
                <a:latin typeface="맑은 고딕"/>
                <a:ea typeface="맑은 고딕"/>
                <a:cs typeface="맑은 고딕"/>
              </a:rPr>
              <a:t>ECEF</a:t>
            </a:r>
            <a:endParaRPr lang="ko-KR" altLang="en-US" sz="1000" dirty="0"/>
          </a:p>
        </p:txBody>
      </p:sp>
      <p:sp>
        <p:nvSpPr>
          <p:cNvPr id="54" name="TextBox Example Vector 2"/>
          <p:cNvSpPr txBox="1"/>
          <p:nvPr/>
        </p:nvSpPr>
        <p:spPr>
          <a:xfrm>
            <a:off x="8805672" y="4736592"/>
            <a:ext cx="2651760" cy="28346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 dirty="0">
                <a:solidFill>
                  <a:srgbClr val="1B2740"/>
                </a:solidFill>
                <a:latin typeface="Cambria"/>
                <a:ea typeface="맑은 고딕"/>
                <a:cs typeface="맑은 고딕"/>
              </a:rPr>
              <a:t>[ −62.5    86.0    −169.4 ]</a:t>
            </a:r>
            <a:endParaRPr lang="ko-KR" altLang="en-US" sz="1200" dirty="0"/>
          </a:p>
        </p:txBody>
      </p:sp>
      <p:sp>
        <p:nvSpPr>
          <p:cNvPr id="55" name="TextBox Example Note 2"/>
          <p:cNvSpPr txBox="1"/>
          <p:nvPr/>
        </p:nvSpPr>
        <p:spPr>
          <a:xfrm>
            <a:off x="8805672" y="5001768"/>
            <a:ext cx="2651760" cy="18288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지구 중심 x · y · z 성분 [m/s]</a:t>
            </a:r>
            <a:endParaRPr lang="ko-KR" altLang="en-US" sz="900" dirty="0"/>
          </a:p>
        </p:txBody>
      </p:sp>
      <p:sp>
        <p:nvSpPr>
          <p:cNvPr id="56" name="TextBox Example Caption"/>
          <p:cNvSpPr txBox="1"/>
          <p:nvPr/>
        </p:nvSpPr>
        <p:spPr>
          <a:xfrm>
            <a:off x="7936992" y="5376672"/>
            <a:ext cx="3611880" cy="2377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이 속도에 0.1 s 를 곱해 ECEF 위치에 더한다.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03. 궤적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3.6 속도 벡터 변환 코드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19</a:t>
            </a:r>
          </a:p>
        </p:txBody>
      </p:sp>
      <p:sp>
        <p:nvSpPr>
          <p:cNvPr id="27" name="Example Box"/>
          <p:cNvSpPr/>
          <p:nvPr/>
        </p:nvSpPr>
        <p:spPr>
          <a:xfrm>
            <a:off x="640080" y="5655056"/>
            <a:ext cx="10908792" cy="50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xample Text"/>
          <p:cNvSpPr txBox="1"/>
          <p:nvPr/>
        </p:nvSpPr>
        <p:spPr>
          <a:xfrm>
            <a:off x="817880" y="5655056"/>
            <a:ext cx="10553192" cy="508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예시 (대공 표적)     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V = 200 m/s,  Yaw = 180°,  위도 32.12° · 경도 126.0°</a:t>
            </a:r>
            <a:r>
              <a:rPr lang="ko-KR" altLang="en-US" sz="105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     →     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NED  (-200, 0, 0)</a:t>
            </a:r>
            <a:r>
              <a:rPr lang="ko-KR" altLang="en-US" sz="105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     →     </a:t>
            </a:r>
            <a:r>
              <a:rPr lang="ko-KR" altLang="en-US" sz="1050" b="1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ECEF  (-62.5, 86.0, -169.4) m/s</a:t>
            </a:r>
            <a:endParaRPr lang="ko-KR" altLang="en-US" sz="1000" dirty="0"/>
          </a:p>
        </p:txBody>
      </p:sp>
      <p:pic>
        <p:nvPicPr>
          <p:cNvPr id="7" name="Code Capture" descr="TargetSim.c 51-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92224"/>
            <a:ext cx="6697980" cy="2625344"/>
          </a:xfrm>
          <a:prstGeom prst="rect">
            <a:avLst/>
          </a:prstGeom>
          <a:ln w="9525">
            <a:solidFill>
              <a:srgbClr val="C9D1DD"/>
            </a:solidFill>
          </a:ln>
        </p:spPr>
      </p:pic>
      <p:sp>
        <p:nvSpPr>
          <p:cNvPr id="8" name="Block 1"/>
          <p:cNvSpPr/>
          <p:nvPr/>
        </p:nvSpPr>
        <p:spPr>
          <a:xfrm>
            <a:off x="1071880" y="1865376"/>
            <a:ext cx="6215380" cy="548640"/>
          </a:xfrm>
          <a:prstGeom prst="roundRect">
            <a:avLst>
              <a:gd name="adj" fmla="val 6944"/>
            </a:avLst>
          </a:prstGeom>
          <a:solidFill>
            <a:srgbClr val="DC2626">
              <a:alpha val="9000"/>
            </a:srgbClr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lock 2"/>
          <p:cNvSpPr/>
          <p:nvPr/>
        </p:nvSpPr>
        <p:spPr>
          <a:xfrm>
            <a:off x="1071880" y="2901696"/>
            <a:ext cx="6215380" cy="579120"/>
          </a:xfrm>
          <a:prstGeom prst="roundRect">
            <a:avLst>
              <a:gd name="adj" fmla="val 6579"/>
            </a:avLst>
          </a:prstGeom>
          <a:solidFill>
            <a:srgbClr val="D97706">
              <a:alpha val="9000"/>
            </a:srgbClr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lock 3"/>
          <p:cNvSpPr/>
          <p:nvPr/>
        </p:nvSpPr>
        <p:spPr>
          <a:xfrm>
            <a:off x="1071880" y="3592576"/>
            <a:ext cx="6215380" cy="548640"/>
          </a:xfrm>
          <a:prstGeom prst="roundRect">
            <a:avLst>
              <a:gd name="adj" fmla="val 6944"/>
            </a:avLst>
          </a:prstGeom>
          <a:solidFill>
            <a:srgbClr val="059669">
              <a:alpha val="9000"/>
            </a:srgbClr>
          </a:solidFill>
          <a:ln w="12700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rd 1 Box"/>
          <p:cNvSpPr/>
          <p:nvPr/>
        </p:nvSpPr>
        <p:spPr>
          <a:xfrm>
            <a:off x="7769860" y="1792224"/>
            <a:ext cx="3779012" cy="100965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rd 1 Text"/>
          <p:cNvSpPr txBox="1"/>
          <p:nvPr/>
        </p:nvSpPr>
        <p:spPr>
          <a:xfrm>
            <a:off x="7896860" y="1881124"/>
            <a:ext cx="3525012" cy="8191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① 입력과 출력</a:t>
            </a:r>
            <a:endParaRPr lang="ko-KR" altLang="en-US" sz="1200" dirty="0"/>
          </a:p>
          <a:p>
            <a:pPr algn="l">
              <a:lnSpc>
                <a:spcPts val="15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자세 · 위경도 · 속력 V 를 받아 ECEF 속도를 돌려준다.</a:t>
            </a:r>
            <a:endParaRPr lang="ko-KR" altLang="en-US" sz="105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시작할 때 한 번 (</a:t>
            </a:r>
            <a:r>
              <a:rPr lang="ko-KR" altLang="en-US" sz="10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f_Tgt_InitState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),</a:t>
            </a:r>
            <a:endParaRPr lang="ko-KR" altLang="en-US" sz="105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스텝마다 세 번 (</a:t>
            </a:r>
            <a:r>
              <a:rPr lang="ko-KR" altLang="en-US" sz="10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f_Tgt_Propagate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) 불린다.</a:t>
            </a:r>
            <a:endParaRPr lang="ko-KR" altLang="en-US" sz="1050" dirty="0"/>
          </a:p>
        </p:txBody>
      </p:sp>
      <p:sp>
        <p:nvSpPr>
          <p:cNvPr id="13" name="Card 1 Lines"/>
          <p:cNvSpPr txBox="1"/>
          <p:nvPr/>
        </p:nvSpPr>
        <p:spPr>
          <a:xfrm>
            <a:off x="7896860" y="1881124"/>
            <a:ext cx="3525012" cy="2095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51 ~ 52행</a:t>
            </a:r>
            <a:endParaRPr lang="ko-KR" altLang="en-US" sz="950" dirty="0"/>
          </a:p>
        </p:txBody>
      </p:sp>
      <p:cxnSp>
        <p:nvCxnSpPr>
          <p:cNvPr id="14" name="Arrow 1"/>
          <p:cNvCxnSpPr/>
          <p:nvPr/>
        </p:nvCxnSpPr>
        <p:spPr>
          <a:xfrm>
            <a:off x="7446010" y="2139696"/>
            <a:ext cx="323850" cy="0"/>
          </a:xfrm>
          <a:prstGeom prst="line">
            <a:avLst/>
          </a:prstGeom>
          <a:ln w="15875">
            <a:solidFill>
              <a:srgbClr val="DC2626"/>
            </a:solidFill>
            <a:tailEnd type="triangle" w="med" len="med"/>
          </a:ln>
        </p:spPr>
      </p:cxnSp>
      <p:sp>
        <p:nvSpPr>
          <p:cNvPr id="15" name="Badge 1"/>
          <p:cNvSpPr/>
          <p:nvPr/>
        </p:nvSpPr>
        <p:spPr>
          <a:xfrm>
            <a:off x="7230110" y="2031746"/>
            <a:ext cx="215900" cy="215900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1</a:t>
            </a:r>
            <a:endParaRPr lang="ko-KR" altLang="en-US" sz="950" dirty="0"/>
          </a:p>
        </p:txBody>
      </p:sp>
      <p:sp>
        <p:nvSpPr>
          <p:cNvPr id="16" name="Card 2 Box"/>
          <p:cNvSpPr/>
          <p:nvPr/>
        </p:nvSpPr>
        <p:spPr>
          <a:xfrm>
            <a:off x="7769860" y="2890774"/>
            <a:ext cx="3779012" cy="819150"/>
          </a:xfrm>
          <a:prstGeom prst="roundRect">
            <a:avLst>
              <a:gd name="adj" fmla="val 6000"/>
            </a:avLst>
          </a:prstGeom>
          <a:solidFill>
            <a:srgbClr val="FEF5E7"/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rd 2 Text"/>
          <p:cNvSpPr txBox="1"/>
          <p:nvPr/>
        </p:nvSpPr>
        <p:spPr>
          <a:xfrm>
            <a:off x="7896860" y="2979674"/>
            <a:ext cx="3525012" cy="6286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 dirty="0">
                <a:solidFill>
                  <a:srgbClr val="D97706"/>
                </a:solidFill>
                <a:latin typeface="맑은 고딕"/>
                <a:ea typeface="맑은 고딕"/>
                <a:cs typeface="맑은 고딕"/>
              </a:rPr>
              <a:t>② 동체 → NED</a:t>
            </a:r>
            <a:endParaRPr lang="ko-KR" altLang="en-US" sz="1200" dirty="0"/>
          </a:p>
          <a:p>
            <a:pPr algn="l">
              <a:lnSpc>
                <a:spcPts val="15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앞으로만 가는 속도 (V, 0, 0) 를 자세각만큼 돌려</a:t>
            </a:r>
            <a:endParaRPr lang="ko-KR" altLang="en-US" sz="105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북 · 동 · 아래 방향 성분으로 나눈다.</a:t>
            </a:r>
            <a:endParaRPr lang="ko-KR" altLang="en-US" sz="1050" dirty="0"/>
          </a:p>
        </p:txBody>
      </p:sp>
      <p:sp>
        <p:nvSpPr>
          <p:cNvPr id="18" name="Card 2 Lines"/>
          <p:cNvSpPr txBox="1"/>
          <p:nvPr/>
        </p:nvSpPr>
        <p:spPr>
          <a:xfrm>
            <a:off x="7896860" y="2979674"/>
            <a:ext cx="3525012" cy="2095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56 ~ 57행</a:t>
            </a:r>
            <a:endParaRPr lang="ko-KR" altLang="en-US" sz="950" dirty="0"/>
          </a:p>
        </p:txBody>
      </p:sp>
      <p:cxnSp>
        <p:nvCxnSpPr>
          <p:cNvPr id="19" name="Arrow 2"/>
          <p:cNvCxnSpPr/>
          <p:nvPr/>
        </p:nvCxnSpPr>
        <p:spPr>
          <a:xfrm>
            <a:off x="7446010" y="3191256"/>
            <a:ext cx="323850" cy="0"/>
          </a:xfrm>
          <a:prstGeom prst="line">
            <a:avLst/>
          </a:prstGeom>
          <a:ln w="15875">
            <a:solidFill>
              <a:srgbClr val="D97706"/>
            </a:solidFill>
            <a:tailEnd type="triangle" w="med" len="med"/>
          </a:ln>
        </p:spPr>
      </p:cxnSp>
      <p:sp>
        <p:nvSpPr>
          <p:cNvPr id="20" name="Badge 2"/>
          <p:cNvSpPr/>
          <p:nvPr/>
        </p:nvSpPr>
        <p:spPr>
          <a:xfrm>
            <a:off x="7230110" y="3083306"/>
            <a:ext cx="215900" cy="215900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2</a:t>
            </a:r>
            <a:endParaRPr lang="ko-KR" altLang="en-US" sz="950" dirty="0"/>
          </a:p>
        </p:txBody>
      </p:sp>
      <p:sp>
        <p:nvSpPr>
          <p:cNvPr id="21" name="Card 3 Box"/>
          <p:cNvSpPr/>
          <p:nvPr/>
        </p:nvSpPr>
        <p:spPr>
          <a:xfrm>
            <a:off x="7769860" y="3798824"/>
            <a:ext cx="3779012" cy="100965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 w="12700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ard 3 Text"/>
          <p:cNvSpPr txBox="1"/>
          <p:nvPr/>
        </p:nvSpPr>
        <p:spPr>
          <a:xfrm>
            <a:off x="7896860" y="3887724"/>
            <a:ext cx="3525012" cy="8191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 dirty="0">
                <a:solidFill>
                  <a:srgbClr val="059669"/>
                </a:solidFill>
                <a:latin typeface="맑은 고딕"/>
                <a:ea typeface="맑은 고딕"/>
                <a:cs typeface="맑은 고딕"/>
              </a:rPr>
              <a:t>③ NED → ECEF</a:t>
            </a:r>
            <a:endParaRPr lang="ko-KR" altLang="en-US" sz="1200" dirty="0"/>
          </a:p>
          <a:p>
            <a:pPr algn="l">
              <a:lnSpc>
                <a:spcPts val="15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표적이 있는 곳의 위도 · 경도로 한 번 더 돌린다.</a:t>
            </a:r>
            <a:endParaRPr lang="ko-KR" altLang="en-US" sz="105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위치용 함수라 기준점을 더하게 되어 있는데,</a:t>
            </a:r>
            <a:endParaRPr lang="ko-KR" altLang="en-US" sz="105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속도는 돌리기만 하면 되므로 기준점을 0 으로 준다.</a:t>
            </a:r>
            <a:endParaRPr lang="ko-KR" altLang="en-US" sz="1050" dirty="0"/>
          </a:p>
        </p:txBody>
      </p:sp>
      <p:sp>
        <p:nvSpPr>
          <p:cNvPr id="23" name="Card 3 Lines"/>
          <p:cNvSpPr txBox="1"/>
          <p:nvPr/>
        </p:nvSpPr>
        <p:spPr>
          <a:xfrm>
            <a:off x="7896860" y="3887724"/>
            <a:ext cx="3525012" cy="2095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59 ~ 60행</a:t>
            </a:r>
            <a:endParaRPr lang="ko-KR" altLang="en-US" sz="950" dirty="0"/>
          </a:p>
        </p:txBody>
      </p:sp>
      <p:cxnSp>
        <p:nvCxnSpPr>
          <p:cNvPr id="24" name="Arrow 3"/>
          <p:cNvCxnSpPr/>
          <p:nvPr/>
        </p:nvCxnSpPr>
        <p:spPr>
          <a:xfrm>
            <a:off x="7446010" y="3866896"/>
            <a:ext cx="323850" cy="116078"/>
          </a:xfrm>
          <a:prstGeom prst="bentConnector3">
            <a:avLst>
              <a:gd name="adj1" fmla="val 50000"/>
            </a:avLst>
          </a:prstGeom>
          <a:ln w="15875">
            <a:solidFill>
              <a:srgbClr val="059669"/>
            </a:solidFill>
            <a:tailEnd type="triangle" w="med" len="med"/>
          </a:ln>
        </p:spPr>
      </p:cxnSp>
      <p:sp>
        <p:nvSpPr>
          <p:cNvPr id="25" name="Badge 3"/>
          <p:cNvSpPr/>
          <p:nvPr/>
        </p:nvSpPr>
        <p:spPr>
          <a:xfrm>
            <a:off x="7230110" y="3758946"/>
            <a:ext cx="215900" cy="215900"/>
          </a:xfrm>
          <a:prstGeom prst="ellipse">
            <a:avLst/>
          </a:prstGeom>
          <a:solidFill>
            <a:srgbClr val="059669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3</a:t>
            </a:r>
            <a:endParaRPr lang="ko-KR" altLang="en-US" sz="950" dirty="0"/>
          </a:p>
        </p:txBody>
      </p:sp>
      <p:sp>
        <p:nvSpPr>
          <p:cNvPr id="26" name="File Tag"/>
          <p:cNvSpPr txBox="1"/>
          <p:nvPr/>
        </p:nvSpPr>
        <p:spPr>
          <a:xfrm>
            <a:off x="6214872" y="1345184"/>
            <a:ext cx="5334000" cy="2032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8794AC"/>
                </a:solidFill>
                <a:latin typeface="Consolas"/>
                <a:ea typeface="맑은 고딕"/>
                <a:cs typeface="맑은 고딕"/>
              </a:rPr>
              <a:t>TargetSimCore/src/TargetSim.c  51 ~ 61행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03. 궤적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3.7 한 스텝 전진 공식 (중점법)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515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5A7A"/>
                </a:solidFill>
                <a:latin typeface="맑은 고딕"/>
                <a:ea typeface="맑은 고딕"/>
              </a:rPr>
              <a:t>어느 지점의 속도를 쓰느냐에 따라 결과가 달라집니다.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20</a:t>
            </a:r>
          </a:p>
        </p:txBody>
      </p:sp>
      <p:pic>
        <p:nvPicPr>
          <p:cNvPr id="8" name="Picture 7" descr="s12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5760720" cy="34015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650992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반 스텝 지점의 속도가 구간 전체의 평균에 가까워서,</a:t>
            </a:r>
            <a:endParaRPr lang="ko-KR" altLang="en-US" sz="950" dirty="0"/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같은 간격으로 계산해도 덜 벗어난다.</a:t>
            </a:r>
            <a:endParaRPr lang="ko-KR" altLang="en-US" sz="950" dirty="0"/>
          </a:p>
        </p:txBody>
      </p:sp>
      <p:cxnSp>
        <p:nvCxnSpPr>
          <p:cNvPr id="10" name="Connector 9"/>
          <p:cNvCxnSpPr/>
          <p:nvPr/>
        </p:nvCxnSpPr>
        <p:spPr>
          <a:xfrm>
            <a:off x="6656832" y="2194560"/>
            <a:ext cx="0" cy="3895344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903720" y="2157984"/>
            <a:ext cx="4645152" cy="27432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쓰는 식</a:t>
            </a:r>
            <a:endParaRPr lang="ko-KR" altLang="en-US" sz="1150" dirty="0"/>
          </a:p>
        </p:txBody>
      </p:sp>
      <p:cxnSp>
        <p:nvCxnSpPr>
          <p:cNvPr id="12" name="Connector 11"/>
          <p:cNvCxnSpPr/>
          <p:nvPr/>
        </p:nvCxnSpPr>
        <p:spPr>
          <a:xfrm>
            <a:off x="6903720" y="2487168"/>
            <a:ext cx="4645152" cy="0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pic>
        <p:nvPicPr>
          <p:cNvPr id="13" name="Picture 12" descr="s12_v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2615184"/>
            <a:ext cx="2478024" cy="245364"/>
          </a:xfrm>
          <a:prstGeom prst="rect">
            <a:avLst/>
          </a:prstGeom>
        </p:spPr>
      </p:pic>
      <p:pic>
        <p:nvPicPr>
          <p:cNvPr id="14" name="Picture 13" descr="s12_st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872" y="2980944"/>
            <a:ext cx="1536192" cy="2362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3720" y="3346704"/>
            <a:ext cx="4645152" cy="2377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반 스텝 지점의 위치와 자세로 속도를 한 번 더 만든다.</a:t>
            </a:r>
            <a:endParaRPr lang="ko-KR" altLang="en-US" sz="950" dirty="0"/>
          </a:p>
        </p:txBody>
      </p:sp>
      <p:sp>
        <p:nvSpPr>
          <p:cNvPr id="16" name="Rectangle 15"/>
          <p:cNvSpPr/>
          <p:nvPr/>
        </p:nvSpPr>
        <p:spPr>
          <a:xfrm>
            <a:off x="6903720" y="3675888"/>
            <a:ext cx="4645152" cy="822960"/>
          </a:xfrm>
          <a:prstGeom prst="rect">
            <a:avLst/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3749040"/>
            <a:ext cx="4279392" cy="2377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두 번 계산하는 이유</a:t>
            </a:r>
            <a:endParaRPr lang="ko-KR" altLang="en-US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7086600" y="4023360"/>
            <a:ext cx="4279392" cy="43891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표적은 돌고 있고 지구도 둥글어서,</a:t>
            </a:r>
            <a:endParaRPr lang="ko-KR" altLang="en-US" sz="100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한 스텝 안에서도 방향이 계속 바뀐다.</a:t>
            </a:r>
            <a:endParaRPr lang="ko-KR" altLang="en-US" sz="1000" dirty="0"/>
          </a:p>
        </p:txBody>
      </p:sp>
      <p:cxnSp>
        <p:nvCxnSpPr>
          <p:cNvPr id="20" name="Connector 19"/>
          <p:cNvCxnSpPr/>
          <p:nvPr/>
        </p:nvCxnSpPr>
        <p:spPr>
          <a:xfrm>
            <a:off x="6903720" y="4974336"/>
            <a:ext cx="4645152" cy="0"/>
          </a:xfrm>
          <a:prstGeom prst="line">
            <a:avLst/>
          </a:prstGeom>
          <a:ln w="9525">
            <a:solidFill>
              <a:srgbClr val="D2D9E5"/>
            </a:solidFill>
          </a:ln>
        </p:spPr>
      </p:cxnSp>
      <p:sp>
        <p:nvSpPr>
          <p:cNvPr id="21" name="TextBox Legend Title"/>
          <p:cNvSpPr txBox="1"/>
          <p:nvPr/>
        </p:nvSpPr>
        <p:spPr>
          <a:xfrm>
            <a:off x="6903720" y="4645152"/>
            <a:ext cx="4645152" cy="27432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식에 쓰인 기호</a:t>
            </a:r>
            <a:endParaRPr lang="ko-KR" altLang="en-US" sz="1050" dirty="0"/>
          </a:p>
        </p:txBody>
      </p:sp>
      <p:sp>
        <p:nvSpPr>
          <p:cNvPr id="22" name="TextBox Legend Symbol 0"/>
          <p:cNvSpPr txBox="1"/>
          <p:nvPr/>
        </p:nvSpPr>
        <p:spPr>
          <a:xfrm>
            <a:off x="6949440" y="5075784"/>
            <a:ext cx="1005840" cy="25603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1" dirty="0">
                <a:solidFill>
                  <a:srgbClr val="1B2740"/>
                </a:solidFill>
                <a:latin typeface="Times New Roman"/>
                <a:ea typeface="맑은 고딕"/>
                <a:cs typeface="맑은 고딕"/>
              </a:rPr>
              <a:t>p</a:t>
            </a:r>
            <a:r>
              <a:rPr lang="ko-KR" altLang="en-US" sz="1250" b="0" i="1" baseline="-25000" dirty="0">
                <a:solidFill>
                  <a:srgbClr val="1B2740"/>
                </a:solidFill>
                <a:latin typeface="Times New Roman"/>
                <a:ea typeface="맑은 고딕"/>
                <a:cs typeface="맑은 고딕"/>
              </a:rPr>
              <a:t>k</a:t>
            </a:r>
            <a:r>
              <a:rPr lang="ko-KR" altLang="en-US" sz="1250" b="0" i="0" dirty="0">
                <a:solidFill>
                  <a:srgbClr val="1B2740"/>
                </a:solidFill>
                <a:latin typeface="Times New Roman"/>
                <a:ea typeface="맑은 고딕"/>
                <a:cs typeface="맑은 고딕"/>
              </a:rPr>
              <a:t>,  </a:t>
            </a:r>
            <a:r>
              <a:rPr lang="ko-KR" altLang="en-US" sz="1250" b="1" i="1" dirty="0">
                <a:solidFill>
                  <a:srgbClr val="1B2740"/>
                </a:solidFill>
                <a:latin typeface="Times New Roman"/>
                <a:ea typeface="맑은 고딕"/>
                <a:cs typeface="맑은 고딕"/>
              </a:rPr>
              <a:t>v</a:t>
            </a:r>
            <a:r>
              <a:rPr lang="ko-KR" altLang="en-US" sz="1250" b="0" i="1" baseline="-25000" dirty="0">
                <a:solidFill>
                  <a:srgbClr val="1B2740"/>
                </a:solidFill>
                <a:latin typeface="Times New Roman"/>
                <a:ea typeface="맑은 고딕"/>
                <a:cs typeface="맑은 고딕"/>
              </a:rPr>
              <a:t>k</a:t>
            </a:r>
            <a:endParaRPr lang="ko-KR" altLang="en-US" sz="1250" dirty="0"/>
          </a:p>
        </p:txBody>
      </p:sp>
      <p:sp>
        <p:nvSpPr>
          <p:cNvPr id="23" name="TextBox Legend Text 0"/>
          <p:cNvSpPr txBox="1"/>
          <p:nvPr/>
        </p:nvSpPr>
        <p:spPr>
          <a:xfrm>
            <a:off x="8001000" y="5075784"/>
            <a:ext cx="3547872" cy="25603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스텝 시작의 위치 · 속도 (ECEF)</a:t>
            </a:r>
            <a:endParaRPr lang="ko-KR" altLang="en-US" sz="1000" dirty="0"/>
          </a:p>
        </p:txBody>
      </p:sp>
      <p:sp>
        <p:nvSpPr>
          <p:cNvPr id="24" name="TextBox Legend Symbol 1"/>
          <p:cNvSpPr txBox="1"/>
          <p:nvPr/>
        </p:nvSpPr>
        <p:spPr>
          <a:xfrm>
            <a:off x="6949440" y="5331816"/>
            <a:ext cx="1005840" cy="25603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1" dirty="0">
                <a:solidFill>
                  <a:srgbClr val="1B2740"/>
                </a:solidFill>
                <a:latin typeface="Times New Roman"/>
                <a:ea typeface="맑은 고딕"/>
                <a:cs typeface="맑은 고딕"/>
              </a:rPr>
              <a:t>Θ</a:t>
            </a:r>
            <a:r>
              <a:rPr lang="ko-KR" altLang="en-US" sz="1250" b="0" i="1" baseline="-25000" dirty="0">
                <a:solidFill>
                  <a:srgbClr val="1B2740"/>
                </a:solidFill>
                <a:latin typeface="Times New Roman"/>
                <a:ea typeface="맑은 고딕"/>
                <a:cs typeface="맑은 고딕"/>
              </a:rPr>
              <a:t>k</a:t>
            </a:r>
            <a:r>
              <a:rPr lang="ko-KR" altLang="en-US" sz="1250" b="0" i="0" dirty="0">
                <a:solidFill>
                  <a:srgbClr val="1B2740"/>
                </a:solidFill>
                <a:latin typeface="Times New Roman"/>
                <a:ea typeface="맑은 고딕"/>
                <a:cs typeface="맑은 고딕"/>
              </a:rPr>
              <a:t>,  </a:t>
            </a:r>
            <a:r>
              <a:rPr lang="ko-KR" altLang="en-US" sz="1250" b="0" i="1" dirty="0">
                <a:solidFill>
                  <a:srgbClr val="1B2740"/>
                </a:solidFill>
                <a:latin typeface="Times New Roman"/>
                <a:ea typeface="맑은 고딕"/>
                <a:cs typeface="맑은 고딕"/>
              </a:rPr>
              <a:t>ω</a:t>
            </a:r>
            <a:endParaRPr lang="ko-KR" altLang="en-US" sz="1250" dirty="0"/>
          </a:p>
        </p:txBody>
      </p:sp>
      <p:sp>
        <p:nvSpPr>
          <p:cNvPr id="25" name="TextBox Legend Text 1"/>
          <p:cNvSpPr txBox="1"/>
          <p:nvPr/>
        </p:nvSpPr>
        <p:spPr>
          <a:xfrm>
            <a:off x="8001000" y="5331816"/>
            <a:ext cx="3547872" cy="25603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스텝 시작 자세, 기동 각속도</a:t>
            </a:r>
            <a:endParaRPr lang="ko-KR" altLang="en-US" sz="1000" dirty="0"/>
          </a:p>
        </p:txBody>
      </p:sp>
      <p:sp>
        <p:nvSpPr>
          <p:cNvPr id="26" name="TextBox Legend Symbol 2"/>
          <p:cNvSpPr txBox="1"/>
          <p:nvPr/>
        </p:nvSpPr>
        <p:spPr>
          <a:xfrm>
            <a:off x="6949440" y="5587848"/>
            <a:ext cx="1005840" cy="25603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 dirty="0">
                <a:solidFill>
                  <a:srgbClr val="1B2740"/>
                </a:solidFill>
                <a:latin typeface="Times New Roman"/>
                <a:ea typeface="맑은 고딕"/>
                <a:cs typeface="맑은 고딕"/>
              </a:rPr>
              <a:t>Δ</a:t>
            </a:r>
            <a:r>
              <a:rPr lang="ko-KR" altLang="en-US" sz="1250" b="0" i="1" dirty="0">
                <a:solidFill>
                  <a:srgbClr val="1B2740"/>
                </a:solidFill>
                <a:latin typeface="Times New Roman"/>
                <a:ea typeface="맑은 고딕"/>
                <a:cs typeface="맑은 고딕"/>
              </a:rPr>
              <a:t>t</a:t>
            </a:r>
            <a:endParaRPr lang="ko-KR" altLang="en-US" sz="1250" dirty="0"/>
          </a:p>
        </p:txBody>
      </p:sp>
      <p:sp>
        <p:nvSpPr>
          <p:cNvPr id="27" name="TextBox Legend Text 2"/>
          <p:cNvSpPr txBox="1"/>
          <p:nvPr/>
        </p:nvSpPr>
        <p:spPr>
          <a:xfrm>
            <a:off x="8001000" y="5587848"/>
            <a:ext cx="3547872" cy="25603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간격 (0.1 s)</a:t>
            </a:r>
            <a:endParaRPr lang="ko-KR" altLang="en-US" sz="1000" dirty="0"/>
          </a:p>
        </p:txBody>
      </p:sp>
      <p:sp>
        <p:nvSpPr>
          <p:cNvPr id="28" name="TextBox Legend Symbol 3"/>
          <p:cNvSpPr txBox="1"/>
          <p:nvPr/>
        </p:nvSpPr>
        <p:spPr>
          <a:xfrm>
            <a:off x="6949440" y="5843880"/>
            <a:ext cx="1005840" cy="25603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1" dirty="0">
                <a:solidFill>
                  <a:srgbClr val="1B2740"/>
                </a:solidFill>
                <a:latin typeface="Times New Roman"/>
                <a:ea typeface="맑은 고딕"/>
                <a:cs typeface="맑은 고딕"/>
              </a:rPr>
              <a:t>v</a:t>
            </a:r>
            <a:r>
              <a:rPr lang="ko-KR" altLang="en-US" sz="1250" b="0" i="1" baseline="-25000" dirty="0">
                <a:solidFill>
                  <a:srgbClr val="1B2740"/>
                </a:solidFill>
                <a:latin typeface="Times New Roman"/>
                <a:ea typeface="맑은 고딕"/>
                <a:cs typeface="맑은 고딕"/>
              </a:rPr>
              <a:t>mid</a:t>
            </a:r>
            <a:endParaRPr lang="ko-KR" altLang="en-US" sz="1250" dirty="0"/>
          </a:p>
        </p:txBody>
      </p:sp>
      <p:sp>
        <p:nvSpPr>
          <p:cNvPr id="29" name="TextBox Legend Text 3"/>
          <p:cNvSpPr txBox="1"/>
          <p:nvPr/>
        </p:nvSpPr>
        <p:spPr>
          <a:xfrm>
            <a:off x="8001000" y="5843880"/>
            <a:ext cx="3547872" cy="25603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반 스텝 지점에서 다시 구한 속도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03. 궤적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3.8 한 스텝 전진 코드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21</a:t>
            </a:r>
          </a:p>
        </p:txBody>
      </p:sp>
      <p:pic>
        <p:nvPicPr>
          <p:cNvPr id="7" name="Code Capture" descr="TargetSim.c 75-1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92224"/>
            <a:ext cx="6629718" cy="4358640"/>
          </a:xfrm>
          <a:prstGeom prst="rect">
            <a:avLst/>
          </a:prstGeom>
          <a:ln w="9525">
            <a:solidFill>
              <a:srgbClr val="C9D1DD"/>
            </a:solidFill>
          </a:ln>
        </p:spPr>
      </p:pic>
      <p:sp>
        <p:nvSpPr>
          <p:cNvPr id="8" name="Block 1"/>
          <p:cNvSpPr/>
          <p:nvPr/>
        </p:nvSpPr>
        <p:spPr>
          <a:xfrm>
            <a:off x="968692" y="3521964"/>
            <a:ext cx="6250306" cy="899160"/>
          </a:xfrm>
          <a:prstGeom prst="roundRect">
            <a:avLst>
              <a:gd name="adj" fmla="val 4237"/>
            </a:avLst>
          </a:prstGeom>
          <a:solidFill>
            <a:srgbClr val="DC2626">
              <a:alpha val="9000"/>
            </a:srgbClr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lock 2"/>
          <p:cNvSpPr/>
          <p:nvPr/>
        </p:nvSpPr>
        <p:spPr>
          <a:xfrm>
            <a:off x="968692" y="4499864"/>
            <a:ext cx="6250306" cy="619760"/>
          </a:xfrm>
          <a:prstGeom prst="roundRect">
            <a:avLst>
              <a:gd name="adj" fmla="val 6148"/>
            </a:avLst>
          </a:prstGeom>
          <a:solidFill>
            <a:srgbClr val="D97706">
              <a:alpha val="9000"/>
            </a:srgbClr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lock 3"/>
          <p:cNvSpPr/>
          <p:nvPr/>
        </p:nvSpPr>
        <p:spPr>
          <a:xfrm>
            <a:off x="968692" y="5198364"/>
            <a:ext cx="6250306" cy="899160"/>
          </a:xfrm>
          <a:prstGeom prst="roundRect">
            <a:avLst>
              <a:gd name="adj" fmla="val 4237"/>
            </a:avLst>
          </a:prstGeom>
          <a:solidFill>
            <a:srgbClr val="059669">
              <a:alpha val="9000"/>
            </a:srgbClr>
          </a:solidFill>
          <a:ln w="12700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rd 1 Box"/>
          <p:cNvSpPr/>
          <p:nvPr/>
        </p:nvSpPr>
        <p:spPr>
          <a:xfrm>
            <a:off x="7701598" y="3591814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rd 1 Text"/>
          <p:cNvSpPr txBox="1"/>
          <p:nvPr/>
        </p:nvSpPr>
        <p:spPr>
          <a:xfrm>
            <a:off x="7828598" y="3680714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① 0.05 s 뒤 자세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지금 자세 + 각속도 × 0.05 s (반 스텝).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기동 중에는 각속도가 일정해서 더하기만 하면 된다.</a:t>
            </a:r>
            <a:endParaRPr lang="ko-KR" altLang="en-US" sz="950" dirty="0"/>
          </a:p>
        </p:txBody>
      </p:sp>
      <p:sp>
        <p:nvSpPr>
          <p:cNvPr id="13" name="Card 1 Lines"/>
          <p:cNvSpPr txBox="1"/>
          <p:nvPr/>
        </p:nvSpPr>
        <p:spPr>
          <a:xfrm>
            <a:off x="7828598" y="368071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86 ~ 91행</a:t>
            </a:r>
            <a:endParaRPr lang="ko-KR" altLang="en-US" sz="900" dirty="0"/>
          </a:p>
        </p:txBody>
      </p:sp>
      <p:cxnSp>
        <p:nvCxnSpPr>
          <p:cNvPr id="14" name="Arrow 1"/>
          <p:cNvCxnSpPr/>
          <p:nvPr/>
        </p:nvCxnSpPr>
        <p:spPr>
          <a:xfrm>
            <a:off x="7377748" y="3971544"/>
            <a:ext cx="323850" cy="0"/>
          </a:xfrm>
          <a:prstGeom prst="line">
            <a:avLst/>
          </a:prstGeom>
          <a:ln w="15875">
            <a:solidFill>
              <a:srgbClr val="DC2626"/>
            </a:solidFill>
            <a:tailEnd type="triangle" w="med" len="med"/>
          </a:ln>
        </p:spPr>
      </p:cxnSp>
      <p:sp>
        <p:nvSpPr>
          <p:cNvPr id="15" name="Badge 1"/>
          <p:cNvSpPr/>
          <p:nvPr/>
        </p:nvSpPr>
        <p:spPr>
          <a:xfrm>
            <a:off x="7161848" y="3863594"/>
            <a:ext cx="215900" cy="215900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1</a:t>
            </a:r>
            <a:endParaRPr lang="ko-KR" altLang="en-US" sz="950" dirty="0"/>
          </a:p>
        </p:txBody>
      </p:sp>
      <p:sp>
        <p:nvSpPr>
          <p:cNvPr id="16" name="Card 2 Box"/>
          <p:cNvSpPr/>
          <p:nvPr/>
        </p:nvSpPr>
        <p:spPr>
          <a:xfrm>
            <a:off x="7701598" y="4440174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FEF5E7"/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rd 2 Text"/>
          <p:cNvSpPr txBox="1"/>
          <p:nvPr/>
        </p:nvSpPr>
        <p:spPr>
          <a:xfrm>
            <a:off x="7828598" y="4529074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D97706"/>
                </a:solidFill>
                <a:latin typeface="맑은 고딕"/>
                <a:ea typeface="맑은 고딕"/>
                <a:cs typeface="맑은 고딕"/>
              </a:rPr>
              <a:t>② 0.1 s 뒤 자세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같은 식에 0.05 s 대신 0.1 s 를 쓴다.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st_Next</a:t>
            </a: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에 넣어 두고, 끝에서 한꺼번에 바꾼다.</a:t>
            </a:r>
            <a:endParaRPr lang="ko-KR" altLang="en-US" sz="950" dirty="0"/>
          </a:p>
        </p:txBody>
      </p:sp>
      <p:sp>
        <p:nvSpPr>
          <p:cNvPr id="18" name="Card 2 Lines"/>
          <p:cNvSpPr txBox="1"/>
          <p:nvPr/>
        </p:nvSpPr>
        <p:spPr>
          <a:xfrm>
            <a:off x="7828598" y="452907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93 ~ 96행</a:t>
            </a:r>
            <a:endParaRPr lang="ko-KR" altLang="en-US" sz="900" dirty="0"/>
          </a:p>
        </p:txBody>
      </p:sp>
      <p:cxnSp>
        <p:nvCxnSpPr>
          <p:cNvPr id="19" name="Arrow 2"/>
          <p:cNvCxnSpPr/>
          <p:nvPr/>
        </p:nvCxnSpPr>
        <p:spPr>
          <a:xfrm>
            <a:off x="7377748" y="4809744"/>
            <a:ext cx="323850" cy="0"/>
          </a:xfrm>
          <a:prstGeom prst="line">
            <a:avLst/>
          </a:prstGeom>
          <a:ln w="15875">
            <a:solidFill>
              <a:srgbClr val="D97706"/>
            </a:solidFill>
            <a:tailEnd type="triangle" w="med" len="med"/>
          </a:ln>
        </p:spPr>
      </p:cxnSp>
      <p:sp>
        <p:nvSpPr>
          <p:cNvPr id="20" name="Badge 2"/>
          <p:cNvSpPr/>
          <p:nvPr/>
        </p:nvSpPr>
        <p:spPr>
          <a:xfrm>
            <a:off x="7161848" y="4701794"/>
            <a:ext cx="215900" cy="215900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2</a:t>
            </a:r>
            <a:endParaRPr lang="ko-KR" altLang="en-US" sz="950" dirty="0"/>
          </a:p>
        </p:txBody>
      </p:sp>
      <p:sp>
        <p:nvSpPr>
          <p:cNvPr id="21" name="Card 3 Box"/>
          <p:cNvSpPr/>
          <p:nvPr/>
        </p:nvSpPr>
        <p:spPr>
          <a:xfrm>
            <a:off x="7701598" y="5288534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 w="12700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ard 3 Text"/>
          <p:cNvSpPr txBox="1"/>
          <p:nvPr/>
        </p:nvSpPr>
        <p:spPr>
          <a:xfrm>
            <a:off x="7828598" y="5377434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059669"/>
                </a:solidFill>
                <a:latin typeface="맑은 고딕"/>
                <a:ea typeface="맑은 고딕"/>
                <a:cs typeface="맑은 고딕"/>
              </a:rPr>
              <a:t>③ 0.05 s 뒤 위치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지금 속도로 0.05 s 먼저 가 본 위치.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이 자리의 속도를 ④ 에서 다시 구한다.</a:t>
            </a:r>
            <a:endParaRPr lang="ko-KR" altLang="en-US" sz="950" dirty="0"/>
          </a:p>
        </p:txBody>
      </p:sp>
      <p:sp>
        <p:nvSpPr>
          <p:cNvPr id="23" name="Card 3 Lines"/>
          <p:cNvSpPr txBox="1"/>
          <p:nvPr/>
        </p:nvSpPr>
        <p:spPr>
          <a:xfrm>
            <a:off x="7828598" y="537743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98 ~ 103행</a:t>
            </a:r>
            <a:endParaRPr lang="ko-KR" altLang="en-US" sz="900" dirty="0"/>
          </a:p>
        </p:txBody>
      </p:sp>
      <p:cxnSp>
        <p:nvCxnSpPr>
          <p:cNvPr id="24" name="Arrow 3"/>
          <p:cNvCxnSpPr/>
          <p:nvPr/>
        </p:nvCxnSpPr>
        <p:spPr>
          <a:xfrm>
            <a:off x="7377748" y="5647944"/>
            <a:ext cx="323850" cy="0"/>
          </a:xfrm>
          <a:prstGeom prst="line">
            <a:avLst/>
          </a:prstGeom>
          <a:ln w="15875">
            <a:solidFill>
              <a:srgbClr val="059669"/>
            </a:solidFill>
            <a:tailEnd type="triangle" w="med" len="med"/>
          </a:ln>
        </p:spPr>
      </p:cxnSp>
      <p:sp>
        <p:nvSpPr>
          <p:cNvPr id="25" name="Badge 3"/>
          <p:cNvSpPr/>
          <p:nvPr/>
        </p:nvSpPr>
        <p:spPr>
          <a:xfrm>
            <a:off x="7161848" y="5539994"/>
            <a:ext cx="215900" cy="215900"/>
          </a:xfrm>
          <a:prstGeom prst="ellipse">
            <a:avLst/>
          </a:prstGeom>
          <a:solidFill>
            <a:srgbClr val="059669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3</a:t>
            </a:r>
            <a:endParaRPr lang="ko-KR" altLang="en-US" sz="950" dirty="0"/>
          </a:p>
        </p:txBody>
      </p:sp>
      <p:sp>
        <p:nvSpPr>
          <p:cNvPr id="26" name="File Tag"/>
          <p:cNvSpPr txBox="1"/>
          <p:nvPr/>
        </p:nvSpPr>
        <p:spPr>
          <a:xfrm>
            <a:off x="6214872" y="1345184"/>
            <a:ext cx="5334000" cy="2032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8794AC"/>
                </a:solidFill>
                <a:latin typeface="Consolas"/>
                <a:ea typeface="맑은 고딕"/>
                <a:cs typeface="맑은 고딕"/>
              </a:rPr>
              <a:t>TargetSimCore/src/TargetSim.c  75 ~ 103행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04. 결과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</a:rPr>
              <a:t>4.1 시뮬레이션 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515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5A7A"/>
                </a:solidFill>
                <a:latin typeface="맑은 고딕"/>
                <a:ea typeface="맑은 고딕"/>
              </a:rPr>
              <a:t>과제 명세 2항의 값을 그대로 넣었습니다.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12848"/>
            <a:ext cx="10908792" cy="512064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212848"/>
            <a:ext cx="1764792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34056" y="2212848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위도 [°]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4216" y="2212848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경도 [°]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94376" y="2212848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고도 [m]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4536" y="2212848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속력 [m/s]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4696" y="2212848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Roll [°]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6" y="2212848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Pitch [°]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5016" y="2212848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Yaw [°]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24912"/>
            <a:ext cx="10908792" cy="512064"/>
          </a:xfrm>
          <a:prstGeom prst="rect">
            <a:avLst/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724912"/>
            <a:ext cx="1764792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2740"/>
                </a:solidFill>
                <a:latin typeface="맑은 고딕"/>
              </a:rPr>
              <a:t>플랫폼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4056" y="2724912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32.0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6" y="2724912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126.0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4376" y="2724912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2724912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54696" y="2724912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6" y="2724912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5016" y="2724912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3236976"/>
            <a:ext cx="1764792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2740"/>
                </a:solidFill>
                <a:latin typeface="맑은 고딕"/>
              </a:rPr>
              <a:t>대함 표적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4056" y="3236976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32.125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14216" y="3236976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126.03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4376" y="3236976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4536" y="3236976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54696" y="3236976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6" y="3236976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15016" y="3236976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270  (서)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749039"/>
            <a:ext cx="10908792" cy="512064"/>
          </a:xfrm>
          <a:prstGeom prst="rect">
            <a:avLst/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3749039"/>
            <a:ext cx="1764792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2740"/>
                </a:solidFill>
                <a:latin typeface="맑은 고딕"/>
              </a:rPr>
              <a:t>대공 표적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4056" y="3749039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32.12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14216" y="3749039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126.0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94376" y="3749039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300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4536" y="3749039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200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54696" y="3749039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34856" y="3749039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15016" y="3749039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180  (남)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517136"/>
            <a:ext cx="35204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4517136"/>
            <a:ext cx="50292" cy="16276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7000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563EB"/>
                </a:solidFill>
                <a:latin typeface="맑은 고딕"/>
              </a:rPr>
              <a:t>시간 60 s · 간격 0.1 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047488"/>
            <a:ext cx="3017520" cy="969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A5A7A"/>
                </a:solidFill>
                <a:latin typeface="맑은 고딕"/>
              </a:rPr>
              <a:t>스텝 600 회, 결과 601 개 (0 초 포함).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4A5A7A"/>
                </a:solidFill>
                <a:latin typeface="맑은 고딕"/>
              </a:rPr>
              <a:t>시각 = 스텝 번호 × 0.1 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517136"/>
            <a:ext cx="35204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43400" y="4517136"/>
            <a:ext cx="50292" cy="16276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47000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59669"/>
                </a:solidFill>
                <a:latin typeface="맑은 고딕"/>
              </a:rPr>
              <a:t>플랫폼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5047488"/>
            <a:ext cx="3017520" cy="969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A5A7A"/>
                </a:solidFill>
                <a:latin typeface="맑은 고딕"/>
              </a:rPr>
              <a:t>위도 32°, 경도 126° 에 정지해 있다.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4A5A7A"/>
                </a:solidFill>
                <a:latin typeface="맑은 고딕"/>
              </a:rPr>
              <a:t>궤적 그림은 이 위치를 원점으로 그린다.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19" y="4517136"/>
            <a:ext cx="35021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46719" y="4517136"/>
            <a:ext cx="50292" cy="16276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4700016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D97706"/>
                </a:solidFill>
                <a:latin typeface="맑은 고딕"/>
              </a:rPr>
              <a:t>두 표적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5047488"/>
            <a:ext cx="2999232" cy="969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A5A7A"/>
                </a:solidFill>
                <a:latin typeface="맑은 고딕"/>
              </a:rPr>
              <a:t>대함: 서쪽으로 30 m/s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4A5A7A"/>
                </a:solidFill>
                <a:latin typeface="맑은 고딕"/>
              </a:rPr>
              <a:t>대공: 고도 300 m, 남쪽으로 200 m/s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4A5A7A"/>
                </a:solidFill>
                <a:latin typeface="맑은 고딕"/>
              </a:rPr>
              <a:t>둘 다 기동 없이 직진한다.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04. 결과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4.2 명세 조건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230368"/>
            <a:ext cx="35204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30368"/>
            <a:ext cx="50292" cy="9509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132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563EB"/>
                </a:solidFill>
                <a:latin typeface="맑은 고딕"/>
              </a:rPr>
              <a:t>대함 표적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960" b="0">
                <a:solidFill>
                  <a:srgbClr val="4A5A7A"/>
                </a:solidFill>
                <a:latin typeface="맑은 고딕"/>
              </a:rPr>
              <a:t>서쪽으로 1.8 km 직진</a:t>
            </a:r>
          </a:p>
          <a:p>
            <a:pPr algn="l">
              <a:lnSpc>
                <a:spcPct val="128000"/>
              </a:lnSpc>
            </a:pPr>
            <a:r>
              <a:rPr sz="960" b="0">
                <a:solidFill>
                  <a:srgbClr val="4A5A7A"/>
                </a:solidFill>
                <a:latin typeface="맑은 고딕"/>
              </a:rPr>
              <a:t>(30 m/s × 60 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5230368"/>
            <a:ext cx="35204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5230368"/>
            <a:ext cx="50292" cy="95097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54132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59669"/>
                </a:solidFill>
                <a:latin typeface="맑은 고딕"/>
              </a:rPr>
              <a:t>대공 표적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76072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960" b="0">
                <a:solidFill>
                  <a:srgbClr val="4A5A7A"/>
                </a:solidFill>
                <a:latin typeface="맑은 고딕"/>
              </a:rPr>
              <a:t>남쪽으로 12 km 직진</a:t>
            </a:r>
          </a:p>
          <a:p>
            <a:pPr algn="l">
              <a:lnSpc>
                <a:spcPct val="128000"/>
              </a:lnSpc>
            </a:pPr>
            <a:r>
              <a:rPr sz="960" b="0">
                <a:solidFill>
                  <a:srgbClr val="4A5A7A"/>
                </a:solidFill>
                <a:latin typeface="맑은 고딕"/>
              </a:rPr>
              <a:t>(200 m/s × 60 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5230368"/>
            <a:ext cx="350215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5230368"/>
            <a:ext cx="50292" cy="95097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5413248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D97706"/>
                </a:solidFill>
                <a:latin typeface="맑은 고딕"/>
              </a:rPr>
              <a:t>고도 · 속력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760720"/>
            <a:ext cx="29992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960" b="0">
                <a:solidFill>
                  <a:srgbClr val="4A5A7A"/>
                </a:solidFill>
                <a:latin typeface="맑은 고딕"/>
              </a:rPr>
              <a:t>두 표적 모두 60 초 동안</a:t>
            </a:r>
          </a:p>
          <a:p>
            <a:pPr algn="l">
              <a:lnSpc>
                <a:spcPct val="128000"/>
              </a:lnSpc>
            </a:pPr>
            <a:r>
              <a:rPr sz="960" b="0">
                <a:solidFill>
                  <a:srgbClr val="4A5A7A"/>
                </a:solidFill>
                <a:latin typeface="맑은 고딕"/>
              </a:rPr>
              <a:t>처음 넣은 값 그대로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1737360"/>
            <a:ext cx="10451592" cy="27432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과제 조건 그대로 60초를 0.1초 간격으로 계산한 결과입니다.</a:t>
            </a:r>
            <a:endParaRPr lang="ko-KR" altLang="en-US" sz="1150" dirty="0"/>
          </a:p>
        </p:txBody>
      </p:sp>
      <p:pic>
        <p:nvPicPr>
          <p:cNvPr id="21" name="Picture 20" descr="s15_sp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66544"/>
            <a:ext cx="10451592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04. 결과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4.4 기동 시연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515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5A7A"/>
                </a:solidFill>
                <a:latin typeface="맑은 고딕"/>
                <a:ea typeface="맑은 고딕"/>
              </a:rPr>
              <a:t>초기값과 시간, 간격은 명세 그대로 두고 기동 10개만 추가했습니다.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27</a:t>
            </a:r>
          </a:p>
        </p:txBody>
      </p:sp>
      <p:pic>
        <p:nvPicPr>
          <p:cNvPr id="9" name="Picture 8" descr="s16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3854881" cy="4005072"/>
          </a:xfrm>
          <a:prstGeom prst="rect">
            <a:avLst/>
          </a:prstGeom>
        </p:spPr>
      </p:pic>
      <p:sp>
        <p:nvSpPr>
          <p:cNvPr id="10" name="Demo Card 1 Box"/>
          <p:cNvSpPr/>
          <p:nvPr/>
        </p:nvSpPr>
        <p:spPr>
          <a:xfrm>
            <a:off x="4850561" y="2148840"/>
            <a:ext cx="6698311" cy="819150"/>
          </a:xfrm>
          <a:prstGeom prst="roundRect">
            <a:avLst>
              <a:gd name="adj" fmla="val 6000"/>
            </a:avLst>
          </a:prstGeom>
          <a:solidFill>
            <a:srgbClr val="EBF2FE"/>
          </a:solidFill>
          <a:ln w="1270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Demo Card 1 Text"/>
          <p:cNvSpPr txBox="1"/>
          <p:nvPr/>
        </p:nvSpPr>
        <p:spPr>
          <a:xfrm>
            <a:off x="4977561" y="2237740"/>
            <a:ext cx="6444311" cy="6286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대함 표적 (파랑)  ·  기동 4 개, Yaw ±1 G</a:t>
            </a:r>
            <a:endParaRPr lang="ko-KR" altLang="en-US" sz="1200" dirty="0"/>
          </a:p>
          <a:p>
            <a:pPr algn="l">
              <a:lnSpc>
                <a:spcPts val="15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서쪽으로 가다가 남서 → 서 → 북서 → 서로 한 번 비켜 간다.</a:t>
            </a:r>
            <a:endParaRPr lang="ko-KR" altLang="en-US" sz="100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한 번에 45° 씩 돌고, 출발한 위도로 돌아온다.</a:t>
            </a:r>
            <a:endParaRPr lang="ko-KR" altLang="en-US" sz="1000" dirty="0"/>
          </a:p>
        </p:txBody>
      </p:sp>
      <p:sp>
        <p:nvSpPr>
          <p:cNvPr id="12" name="Demo Card 2 Box"/>
          <p:cNvSpPr/>
          <p:nvPr/>
        </p:nvSpPr>
        <p:spPr>
          <a:xfrm>
            <a:off x="4850561" y="3741801"/>
            <a:ext cx="6698311" cy="81915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Demo Card 2 Text"/>
          <p:cNvSpPr txBox="1"/>
          <p:nvPr/>
        </p:nvSpPr>
        <p:spPr>
          <a:xfrm>
            <a:off x="4977561" y="3830701"/>
            <a:ext cx="6444311" cy="6286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대공 표적 (빨강)  ·  기동 6 개, Yaw ±8.2 G</a:t>
            </a:r>
            <a:endParaRPr lang="ko-KR" altLang="en-US" sz="1200" dirty="0"/>
          </a:p>
          <a:p>
            <a:pPr algn="l">
              <a:lnSpc>
                <a:spcPts val="15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남쪽으로 출발해 동 → 남 → 서 → 남 → 동 → 남서로 방향을 바꾼다.</a:t>
            </a:r>
            <a:endParaRPr lang="ko-KR" altLang="en-US" sz="100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한 번에 90° 씩 돌고, 마지막 기동만 150° 를 돈다.</a:t>
            </a:r>
            <a:endParaRPr lang="ko-KR" altLang="en-US" sz="1000" dirty="0"/>
          </a:p>
        </p:txBody>
      </p:sp>
      <p:sp>
        <p:nvSpPr>
          <p:cNvPr id="14" name="Demo Card 3 Box"/>
          <p:cNvSpPr/>
          <p:nvPr/>
        </p:nvSpPr>
        <p:spPr>
          <a:xfrm>
            <a:off x="4850561" y="5334762"/>
            <a:ext cx="6698311" cy="81915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 w="12700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Demo Card 3 Text"/>
          <p:cNvSpPr txBox="1"/>
          <p:nvPr/>
        </p:nvSpPr>
        <p:spPr>
          <a:xfrm>
            <a:off x="4977561" y="5423662"/>
            <a:ext cx="6444311" cy="6286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 dirty="0">
                <a:solidFill>
                  <a:srgbClr val="059669"/>
                </a:solidFill>
                <a:latin typeface="맑은 고딕"/>
                <a:ea typeface="맑은 고딕"/>
                <a:cs typeface="맑은 고딕"/>
              </a:rPr>
              <a:t>방위각 그래프 읽기</a:t>
            </a:r>
            <a:endParaRPr lang="ko-KR" altLang="en-US" sz="1200" dirty="0"/>
          </a:p>
          <a:p>
            <a:pPr algn="l">
              <a:lnSpc>
                <a:spcPts val="15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색칠한 부분이 기동 구간이다. 구간 안에서만 방위각이 일정하게 바뀌고,</a:t>
            </a:r>
            <a:endParaRPr lang="ko-KR" altLang="en-US" sz="100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구간 밖에서는 방위각이 그대로다 (직진).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05.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</a:rPr>
              <a:t>5.1 과제 요구사항과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515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5A7A"/>
                </a:solidFill>
                <a:latin typeface="맑은 고딕"/>
                <a:ea typeface="맑은 고딕"/>
              </a:rPr>
              <a:t>과제 요구사항과 구현 내용을 한 장에 정리했습니다.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85415"/>
            <a:ext cx="10908792" cy="45720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5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맑은 고딕"/>
              </a:rPr>
              <a:t>과제 요구사항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2664" y="2185415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맑은 고딕"/>
              </a:rPr>
              <a:t>구현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42615"/>
            <a:ext cx="10908792" cy="457200"/>
          </a:xfrm>
          <a:prstGeom prst="rect">
            <a:avLst/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642615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2740"/>
                </a:solidFill>
                <a:latin typeface="맑은 고딕"/>
              </a:rPr>
              <a:t>표적 10 · 기동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2642615"/>
            <a:ext cx="6089904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고정 배열로 상한, 추가 단추에서 개수 제한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099815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2740"/>
                </a:solidFill>
                <a:latin typeface="맑은 고딕"/>
              </a:rPr>
              <a:t>위치 LLA · 속도 V_heading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3099815"/>
            <a:ext cx="6089904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ST_TargetInit (방향은 자세각이 담당)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57015"/>
            <a:ext cx="10908792" cy="457200"/>
          </a:xfrm>
          <a:prstGeom prst="rect">
            <a:avLst/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557015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2740"/>
                </a:solidFill>
                <a:latin typeface="맑은 고딕"/>
              </a:rPr>
              <a:t>기동 = G · 축 · 시작 · 종료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3557015"/>
            <a:ext cx="6089904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ST_TargetManeuver 4 필드, 구간 [시작, 종료)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014215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2740"/>
                </a:solidFill>
                <a:latin typeface="맑은 고딕"/>
              </a:rPr>
              <a:t>ECEF 에서 상태 갱신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4014215"/>
            <a:ext cx="6089904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위치 · 속도는 ECEF, 출력용 LLA 병행 보관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71415"/>
            <a:ext cx="10908792" cy="457200"/>
          </a:xfrm>
          <a:prstGeom prst="rect">
            <a:avLst/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471415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2740"/>
                </a:solidFill>
                <a:latin typeface="맑은 고딕"/>
              </a:rPr>
              <a:t>V_heading → Vx, Vy, Vz  (추가 고민)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2664" y="4471415"/>
            <a:ext cx="6089904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동체 → NED → ECEF, 회전 두 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4928615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2740"/>
                </a:solidFill>
                <a:latin typeface="맑은 고딕"/>
              </a:rPr>
              <a:t>좌표변환 코드 이용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2664" y="4928615"/>
            <a:ext cx="6089904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CoordinateTransform.c, matrixCalcLib.c 함수 호출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385815"/>
            <a:ext cx="10908792" cy="457200"/>
          </a:xfrm>
          <a:prstGeom prst="rect">
            <a:avLst/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5385815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2740"/>
                </a:solidFill>
                <a:latin typeface="맑은 고딕"/>
              </a:rPr>
              <a:t>결과를 LLA 로 출력하고 그림으로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12664" y="5385815"/>
            <a:ext cx="6089904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A7A"/>
                </a:solidFill>
                <a:latin typeface="맑은 고딕"/>
              </a:rPr>
              <a:t>표, CSV, 궤적 · 고도 그림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9808" y="713232"/>
            <a:ext cx="10698480" cy="0"/>
          </a:xfrm>
          <a:prstGeom prst="rect">
            <a:avLst/>
          </a:prstGeom>
          <a:noFill/>
          <a:ln w="9525">
            <a:solidFill>
              <a:srgbClr val="4A5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6336792"/>
            <a:ext cx="10698480" cy="0"/>
          </a:xfrm>
          <a:prstGeom prst="rect">
            <a:avLst/>
          </a:prstGeom>
          <a:noFill/>
          <a:ln w="9525">
            <a:solidFill>
              <a:srgbClr val="4A5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EB9CC"/>
                </a:solidFill>
                <a:latin typeface="맑은 고딕"/>
              </a:rPr>
              <a:t>질문 주시면 답변드리겠습니다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02. 표적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2.3 구조체 구성과 흐름 (2/3)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10</a:t>
            </a:r>
          </a:p>
        </p:txBody>
      </p:sp>
      <p:sp>
        <p:nvSpPr>
          <p:cNvPr id="21" name="Summary Box"/>
          <p:cNvSpPr/>
          <p:nvPr/>
        </p:nvSpPr>
        <p:spPr>
          <a:xfrm>
            <a:off x="640080" y="5655056"/>
            <a:ext cx="10908792" cy="50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Summary Text"/>
          <p:cNvSpPr txBox="1"/>
          <p:nvPr/>
        </p:nvSpPr>
        <p:spPr>
          <a:xfrm>
            <a:off x="817880" y="5655056"/>
            <a:ext cx="10553192" cy="508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UI 가 채워 넘기는 설정 한 묶음     </a:t>
            </a:r>
            <a:r>
              <a:rPr lang="ko-KR" altLang="en-US" sz="10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ST_SimConfig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 =  시간 설정  +  </a:t>
            </a:r>
            <a:r>
              <a:rPr lang="ko-KR" altLang="en-US" sz="10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ST_PlatformInit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1 개  +  </a:t>
            </a:r>
            <a:r>
              <a:rPr lang="ko-KR" altLang="en-US" sz="10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ST_TargetInit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최대 10 개   (표적마다 </a:t>
            </a:r>
            <a:r>
              <a:rPr lang="ko-KR" altLang="en-US" sz="10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ST_TargetManeuver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최대 30 개)</a:t>
            </a:r>
            <a:endParaRPr lang="ko-KR" altLang="en-US" sz="1000" dirty="0"/>
          </a:p>
        </p:txBody>
      </p:sp>
      <p:pic>
        <p:nvPicPr>
          <p:cNvPr id="7" name="Code Capture" descr="TargetSim.h 54-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92224"/>
            <a:ext cx="6629718" cy="2542540"/>
          </a:xfrm>
          <a:prstGeom prst="rect">
            <a:avLst/>
          </a:prstGeom>
          <a:ln w="9525">
            <a:solidFill>
              <a:srgbClr val="C9D1DD"/>
            </a:solidFill>
          </a:ln>
        </p:spPr>
      </p:pic>
      <p:sp>
        <p:nvSpPr>
          <p:cNvPr id="8" name="Block 1"/>
          <p:cNvSpPr/>
          <p:nvPr/>
        </p:nvSpPr>
        <p:spPr>
          <a:xfrm>
            <a:off x="968692" y="1845564"/>
            <a:ext cx="6250306" cy="1038860"/>
          </a:xfrm>
          <a:prstGeom prst="roundRect">
            <a:avLst>
              <a:gd name="adj" fmla="val 3667"/>
            </a:avLst>
          </a:prstGeom>
          <a:solidFill>
            <a:srgbClr val="DC2626">
              <a:alpha val="9000"/>
            </a:srgbClr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lock 2"/>
          <p:cNvSpPr/>
          <p:nvPr/>
        </p:nvSpPr>
        <p:spPr>
          <a:xfrm>
            <a:off x="968692" y="2963164"/>
            <a:ext cx="6250306" cy="1318260"/>
          </a:xfrm>
          <a:prstGeom prst="roundRect">
            <a:avLst>
              <a:gd name="adj" fmla="val 2890"/>
            </a:avLst>
          </a:prstGeom>
          <a:solidFill>
            <a:srgbClr val="D97706">
              <a:alpha val="9000"/>
            </a:srgbClr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rd 1 Box"/>
          <p:cNvSpPr/>
          <p:nvPr/>
        </p:nvSpPr>
        <p:spPr>
          <a:xfrm>
            <a:off x="7701598" y="1900174"/>
            <a:ext cx="3847274" cy="92964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rd 1 Text"/>
          <p:cNvSpPr txBox="1"/>
          <p:nvPr/>
        </p:nvSpPr>
        <p:spPr>
          <a:xfrm>
            <a:off x="7828598" y="1989074"/>
            <a:ext cx="3593274" cy="73914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① 플랫폼 초기값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플랫폼은 레이다가 실린 우리 쪽.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과제에서는 정지해 있고, 궤적 그림의 원점이 된다.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기동이 없어 위치 · 자세 · 속력만 받는다.</a:t>
            </a:r>
            <a:endParaRPr lang="ko-KR" altLang="en-US" sz="950" dirty="0"/>
          </a:p>
        </p:txBody>
      </p:sp>
      <p:sp>
        <p:nvSpPr>
          <p:cNvPr id="12" name="Card 1 Lines"/>
          <p:cNvSpPr txBox="1"/>
          <p:nvPr/>
        </p:nvSpPr>
        <p:spPr>
          <a:xfrm>
            <a:off x="7828598" y="198907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54 ~ 60행</a:t>
            </a:r>
            <a:endParaRPr lang="ko-KR" altLang="en-US" sz="900" dirty="0"/>
          </a:p>
        </p:txBody>
      </p:sp>
      <p:cxnSp>
        <p:nvCxnSpPr>
          <p:cNvPr id="13" name="Arrow 1"/>
          <p:cNvCxnSpPr/>
          <p:nvPr/>
        </p:nvCxnSpPr>
        <p:spPr>
          <a:xfrm>
            <a:off x="7377748" y="2364994"/>
            <a:ext cx="323850" cy="0"/>
          </a:xfrm>
          <a:prstGeom prst="line">
            <a:avLst/>
          </a:prstGeom>
          <a:ln w="15875">
            <a:solidFill>
              <a:srgbClr val="DC2626"/>
            </a:solidFill>
            <a:tailEnd type="triangle" w="med" len="med"/>
          </a:ln>
        </p:spPr>
      </p:cxnSp>
      <p:sp>
        <p:nvSpPr>
          <p:cNvPr id="14" name="Badge 1"/>
          <p:cNvSpPr/>
          <p:nvPr/>
        </p:nvSpPr>
        <p:spPr>
          <a:xfrm>
            <a:off x="7161848" y="2257044"/>
            <a:ext cx="215900" cy="215900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1</a:t>
            </a:r>
            <a:endParaRPr lang="ko-KR" altLang="en-US" sz="950" dirty="0"/>
          </a:p>
        </p:txBody>
      </p:sp>
      <p:sp>
        <p:nvSpPr>
          <p:cNvPr id="15" name="Card 2 Box"/>
          <p:cNvSpPr/>
          <p:nvPr/>
        </p:nvSpPr>
        <p:spPr>
          <a:xfrm>
            <a:off x="7701598" y="3157474"/>
            <a:ext cx="3847274" cy="929640"/>
          </a:xfrm>
          <a:prstGeom prst="roundRect">
            <a:avLst>
              <a:gd name="adj" fmla="val 6000"/>
            </a:avLst>
          </a:prstGeom>
          <a:solidFill>
            <a:srgbClr val="FEF5E7"/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rd 2 Text"/>
          <p:cNvSpPr txBox="1"/>
          <p:nvPr/>
        </p:nvSpPr>
        <p:spPr>
          <a:xfrm>
            <a:off x="7828598" y="3246374"/>
            <a:ext cx="3593274" cy="73914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D97706"/>
                </a:solidFill>
                <a:latin typeface="맑은 고딕"/>
                <a:ea typeface="맑은 고딕"/>
                <a:cs typeface="맑은 고딕"/>
              </a:rPr>
              <a:t>② 시뮬레이션 전체 설정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전체 시간 60 s, 간격 0.1 s,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플랫폼 하나와 표적 최대 10 개.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UI 가 입력 표 값으로 채워 DLL 에 넘긴다.</a:t>
            </a:r>
            <a:endParaRPr lang="ko-KR" altLang="en-US" sz="950" dirty="0"/>
          </a:p>
        </p:txBody>
      </p:sp>
      <p:sp>
        <p:nvSpPr>
          <p:cNvPr id="17" name="Card 2 Lines"/>
          <p:cNvSpPr txBox="1"/>
          <p:nvPr/>
        </p:nvSpPr>
        <p:spPr>
          <a:xfrm>
            <a:off x="7828598" y="324637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62 ~ 70행</a:t>
            </a:r>
            <a:endParaRPr lang="ko-KR" altLang="en-US" sz="900" dirty="0"/>
          </a:p>
        </p:txBody>
      </p:sp>
      <p:cxnSp>
        <p:nvCxnSpPr>
          <p:cNvPr id="18" name="Arrow 2"/>
          <p:cNvCxnSpPr/>
          <p:nvPr/>
        </p:nvCxnSpPr>
        <p:spPr>
          <a:xfrm>
            <a:off x="7377748" y="3622294"/>
            <a:ext cx="323850" cy="0"/>
          </a:xfrm>
          <a:prstGeom prst="line">
            <a:avLst/>
          </a:prstGeom>
          <a:ln w="15875">
            <a:solidFill>
              <a:srgbClr val="D97706"/>
            </a:solidFill>
            <a:tailEnd type="triangle" w="med" len="med"/>
          </a:ln>
        </p:spPr>
      </p:cxnSp>
      <p:sp>
        <p:nvSpPr>
          <p:cNvPr id="19" name="Badge 2"/>
          <p:cNvSpPr/>
          <p:nvPr/>
        </p:nvSpPr>
        <p:spPr>
          <a:xfrm>
            <a:off x="7161848" y="3514344"/>
            <a:ext cx="215900" cy="215900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2</a:t>
            </a:r>
            <a:endParaRPr lang="ko-KR" altLang="en-US" sz="950" dirty="0"/>
          </a:p>
        </p:txBody>
      </p:sp>
      <p:sp>
        <p:nvSpPr>
          <p:cNvPr id="20" name="File Tag"/>
          <p:cNvSpPr txBox="1"/>
          <p:nvPr/>
        </p:nvSpPr>
        <p:spPr>
          <a:xfrm>
            <a:off x="6214872" y="1345184"/>
            <a:ext cx="5334000" cy="2032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8794AC"/>
                </a:solidFill>
                <a:latin typeface="Consolas"/>
                <a:ea typeface="맑은 고딕"/>
                <a:cs typeface="맑은 고딕"/>
              </a:rPr>
              <a:t>TargetSimCore/include/TargetSim.h  54 ~ 70행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02. 표적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2.3 구조체 구성과 흐름 (3/3)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11</a:t>
            </a:r>
          </a:p>
        </p:txBody>
      </p:sp>
      <p:pic>
        <p:nvPicPr>
          <p:cNvPr id="7" name="Code Capture" descr="TargetSim.h 72-1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92224"/>
            <a:ext cx="6629718" cy="4358640"/>
          </a:xfrm>
          <a:prstGeom prst="rect">
            <a:avLst/>
          </a:prstGeom>
          <a:ln w="9525">
            <a:solidFill>
              <a:srgbClr val="C9D1DD"/>
            </a:solidFill>
          </a:ln>
        </p:spPr>
      </p:pic>
      <p:sp>
        <p:nvSpPr>
          <p:cNvPr id="8" name="Block 1"/>
          <p:cNvSpPr/>
          <p:nvPr/>
        </p:nvSpPr>
        <p:spPr>
          <a:xfrm>
            <a:off x="968692" y="1845564"/>
            <a:ext cx="6250306" cy="1318260"/>
          </a:xfrm>
          <a:prstGeom prst="roundRect">
            <a:avLst>
              <a:gd name="adj" fmla="val 2890"/>
            </a:avLst>
          </a:prstGeom>
          <a:solidFill>
            <a:srgbClr val="DC2626">
              <a:alpha val="9000"/>
            </a:srgbClr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lock 2"/>
          <p:cNvSpPr/>
          <p:nvPr/>
        </p:nvSpPr>
        <p:spPr>
          <a:xfrm>
            <a:off x="968692" y="3242564"/>
            <a:ext cx="6250306" cy="1318260"/>
          </a:xfrm>
          <a:prstGeom prst="roundRect">
            <a:avLst>
              <a:gd name="adj" fmla="val 2890"/>
            </a:avLst>
          </a:prstGeom>
          <a:solidFill>
            <a:srgbClr val="D97706">
              <a:alpha val="9000"/>
            </a:srgbClr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lock 3"/>
          <p:cNvSpPr/>
          <p:nvPr/>
        </p:nvSpPr>
        <p:spPr>
          <a:xfrm>
            <a:off x="968692" y="4639564"/>
            <a:ext cx="6250306" cy="1038860"/>
          </a:xfrm>
          <a:prstGeom prst="roundRect">
            <a:avLst>
              <a:gd name="adj" fmla="val 3667"/>
            </a:avLst>
          </a:prstGeom>
          <a:solidFill>
            <a:srgbClr val="059669">
              <a:alpha val="9000"/>
            </a:srgbClr>
          </a:solidFill>
          <a:ln w="12700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lock 4"/>
          <p:cNvSpPr/>
          <p:nvPr/>
        </p:nvSpPr>
        <p:spPr>
          <a:xfrm>
            <a:off x="968692" y="5757164"/>
            <a:ext cx="6250306" cy="340360"/>
          </a:xfrm>
          <a:prstGeom prst="roundRect">
            <a:avLst>
              <a:gd name="adj" fmla="val 11194"/>
            </a:avLst>
          </a:prstGeom>
          <a:solidFill>
            <a:srgbClr val="2563EB">
              <a:alpha val="9000"/>
            </a:srgbClr>
          </a:solidFill>
          <a:ln w="1270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rd 1 Box"/>
          <p:cNvSpPr/>
          <p:nvPr/>
        </p:nvSpPr>
        <p:spPr>
          <a:xfrm>
            <a:off x="7701598" y="2039874"/>
            <a:ext cx="3847274" cy="92964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rd 1 Text"/>
          <p:cNvSpPr txBox="1"/>
          <p:nvPr/>
        </p:nvSpPr>
        <p:spPr>
          <a:xfrm>
            <a:off x="7828598" y="2128774"/>
            <a:ext cx="3593274" cy="73914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① 플랫폼 · 표적 하나의 상태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위치 · 속도는 ECEF 로 계산하고,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위도 · 경도 · 고도는 표와 CSV 에 쓴다.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플랫폼도 이 구조체에 담아 표적과 같이 계산한다.</a:t>
            </a:r>
            <a:endParaRPr lang="ko-KR" altLang="en-US" sz="950" dirty="0"/>
          </a:p>
        </p:txBody>
      </p:sp>
      <p:sp>
        <p:nvSpPr>
          <p:cNvPr id="14" name="Card 1 Lines"/>
          <p:cNvSpPr txBox="1"/>
          <p:nvPr/>
        </p:nvSpPr>
        <p:spPr>
          <a:xfrm>
            <a:off x="7828598" y="212877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72 ~ 80행</a:t>
            </a:r>
            <a:endParaRPr lang="ko-KR" altLang="en-US" sz="900" dirty="0"/>
          </a:p>
        </p:txBody>
      </p:sp>
      <p:cxnSp>
        <p:nvCxnSpPr>
          <p:cNvPr id="15" name="Arrow 1"/>
          <p:cNvCxnSpPr/>
          <p:nvPr/>
        </p:nvCxnSpPr>
        <p:spPr>
          <a:xfrm>
            <a:off x="7377748" y="2504694"/>
            <a:ext cx="323850" cy="0"/>
          </a:xfrm>
          <a:prstGeom prst="line">
            <a:avLst/>
          </a:prstGeom>
          <a:ln w="15875">
            <a:solidFill>
              <a:srgbClr val="DC2626"/>
            </a:solidFill>
            <a:tailEnd type="triangle" w="med" len="med"/>
          </a:ln>
        </p:spPr>
      </p:cxnSp>
      <p:sp>
        <p:nvSpPr>
          <p:cNvPr id="16" name="Badge 1"/>
          <p:cNvSpPr/>
          <p:nvPr/>
        </p:nvSpPr>
        <p:spPr>
          <a:xfrm>
            <a:off x="7161848" y="2396744"/>
            <a:ext cx="215900" cy="215900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1</a:t>
            </a:r>
            <a:endParaRPr lang="ko-KR" altLang="en-US" sz="950" dirty="0"/>
          </a:p>
        </p:txBody>
      </p:sp>
      <p:sp>
        <p:nvSpPr>
          <p:cNvPr id="17" name="Card 2 Box"/>
          <p:cNvSpPr/>
          <p:nvPr/>
        </p:nvSpPr>
        <p:spPr>
          <a:xfrm>
            <a:off x="7701598" y="3521964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FEF5E7"/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rd 2 Text"/>
          <p:cNvSpPr txBox="1"/>
          <p:nvPr/>
        </p:nvSpPr>
        <p:spPr>
          <a:xfrm>
            <a:off x="7828598" y="3610864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D97706"/>
                </a:solidFill>
                <a:latin typeface="맑은 고딕"/>
                <a:ea typeface="맑은 고딕"/>
                <a:cs typeface="맑은 고딕"/>
              </a:rPr>
              <a:t>② 한 시각의 결과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시각, 스텝 번호, 플랫폼과 표적의 상태.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UI 는 스텝마다 이것을 받아 601 개를 모은다.</a:t>
            </a:r>
            <a:endParaRPr lang="ko-KR" altLang="en-US" sz="950" dirty="0"/>
          </a:p>
        </p:txBody>
      </p:sp>
      <p:sp>
        <p:nvSpPr>
          <p:cNvPr id="19" name="Card 2 Lines"/>
          <p:cNvSpPr txBox="1"/>
          <p:nvPr/>
        </p:nvSpPr>
        <p:spPr>
          <a:xfrm>
            <a:off x="7828598" y="361086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82 ~ 90행</a:t>
            </a:r>
            <a:endParaRPr lang="ko-KR" altLang="en-US" sz="900" dirty="0"/>
          </a:p>
        </p:txBody>
      </p:sp>
      <p:cxnSp>
        <p:nvCxnSpPr>
          <p:cNvPr id="20" name="Arrow 2"/>
          <p:cNvCxnSpPr/>
          <p:nvPr/>
        </p:nvCxnSpPr>
        <p:spPr>
          <a:xfrm>
            <a:off x="7377748" y="3901694"/>
            <a:ext cx="323850" cy="0"/>
          </a:xfrm>
          <a:prstGeom prst="line">
            <a:avLst/>
          </a:prstGeom>
          <a:ln w="15875">
            <a:solidFill>
              <a:srgbClr val="D97706"/>
            </a:solidFill>
            <a:tailEnd type="triangle" w="med" len="med"/>
          </a:ln>
        </p:spPr>
      </p:cxnSp>
      <p:sp>
        <p:nvSpPr>
          <p:cNvPr id="21" name="Badge 2"/>
          <p:cNvSpPr/>
          <p:nvPr/>
        </p:nvSpPr>
        <p:spPr>
          <a:xfrm>
            <a:off x="7161848" y="3793744"/>
            <a:ext cx="215900" cy="215900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2</a:t>
            </a:r>
            <a:endParaRPr lang="ko-KR" altLang="en-US" sz="950" dirty="0"/>
          </a:p>
        </p:txBody>
      </p:sp>
      <p:sp>
        <p:nvSpPr>
          <p:cNvPr id="22" name="Card 3 Box"/>
          <p:cNvSpPr/>
          <p:nvPr/>
        </p:nvSpPr>
        <p:spPr>
          <a:xfrm>
            <a:off x="7701598" y="4555236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 w="12700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rd 3 Text"/>
          <p:cNvSpPr txBox="1"/>
          <p:nvPr/>
        </p:nvSpPr>
        <p:spPr>
          <a:xfrm>
            <a:off x="7828598" y="4644136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059669"/>
                </a:solidFill>
                <a:latin typeface="맑은 고딕"/>
                <a:ea typeface="맑은 고딕"/>
                <a:cs typeface="맑은 고딕"/>
              </a:rPr>
              <a:t>③ 진행 상태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스텝 수, 가장 최근 결과, 복사해 둔 설정.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DLL 은 이 구조체 하나로 계산을 이어 간다.</a:t>
            </a:r>
            <a:endParaRPr lang="ko-KR" altLang="en-US" sz="950" dirty="0"/>
          </a:p>
        </p:txBody>
      </p:sp>
      <p:sp>
        <p:nvSpPr>
          <p:cNvPr id="24" name="Card 3 Lines"/>
          <p:cNvSpPr txBox="1"/>
          <p:nvPr/>
        </p:nvSpPr>
        <p:spPr>
          <a:xfrm>
            <a:off x="7828598" y="4644136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92 ~ 98행</a:t>
            </a:r>
            <a:endParaRPr lang="ko-KR" altLang="en-US" sz="900" dirty="0"/>
          </a:p>
        </p:txBody>
      </p:sp>
      <p:cxnSp>
        <p:nvCxnSpPr>
          <p:cNvPr id="25" name="Arrow 3"/>
          <p:cNvCxnSpPr/>
          <p:nvPr/>
        </p:nvCxnSpPr>
        <p:spPr>
          <a:xfrm>
            <a:off x="7377748" y="5158994"/>
            <a:ext cx="323850" cy="0"/>
          </a:xfrm>
          <a:prstGeom prst="line">
            <a:avLst/>
          </a:prstGeom>
          <a:ln w="15875">
            <a:solidFill>
              <a:srgbClr val="059669"/>
            </a:solidFill>
            <a:tailEnd type="triangle" w="med" len="med"/>
          </a:ln>
        </p:spPr>
      </p:cxnSp>
      <p:sp>
        <p:nvSpPr>
          <p:cNvPr id="26" name="Badge 3"/>
          <p:cNvSpPr/>
          <p:nvPr/>
        </p:nvSpPr>
        <p:spPr>
          <a:xfrm>
            <a:off x="7161848" y="5051044"/>
            <a:ext cx="215900" cy="215900"/>
          </a:xfrm>
          <a:prstGeom prst="ellipse">
            <a:avLst/>
          </a:prstGeom>
          <a:solidFill>
            <a:srgbClr val="059669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3</a:t>
            </a:r>
            <a:endParaRPr lang="ko-KR" altLang="en-US" sz="950" dirty="0"/>
          </a:p>
        </p:txBody>
      </p:sp>
      <p:sp>
        <p:nvSpPr>
          <p:cNvPr id="27" name="Card 4 Box"/>
          <p:cNvSpPr/>
          <p:nvPr/>
        </p:nvSpPr>
        <p:spPr>
          <a:xfrm>
            <a:off x="7701598" y="5403596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EBF2FE"/>
          </a:solidFill>
          <a:ln w="1270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ard 4 Text"/>
          <p:cNvSpPr txBox="1"/>
          <p:nvPr/>
        </p:nvSpPr>
        <p:spPr>
          <a:xfrm>
            <a:off x="7828598" y="5492496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④ UI 가 부르는 두 함수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f_Tgt_InitSim</a:t>
            </a: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한 번: 설정을 복사하고 0 초 결과.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f_Tgt_StepSim</a:t>
            </a: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600 번: 부를 때마다 0.1 s 뒤로.</a:t>
            </a:r>
            <a:endParaRPr lang="ko-KR" altLang="en-US" sz="950" dirty="0"/>
          </a:p>
        </p:txBody>
      </p:sp>
      <p:sp>
        <p:nvSpPr>
          <p:cNvPr id="29" name="Card 4 Lines"/>
          <p:cNvSpPr txBox="1"/>
          <p:nvPr/>
        </p:nvSpPr>
        <p:spPr>
          <a:xfrm>
            <a:off x="7828598" y="5492496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100 ~ 101행</a:t>
            </a:r>
            <a:endParaRPr lang="ko-KR" altLang="en-US" sz="900" dirty="0"/>
          </a:p>
        </p:txBody>
      </p:sp>
      <p:cxnSp>
        <p:nvCxnSpPr>
          <p:cNvPr id="30" name="Arrow 4"/>
          <p:cNvCxnSpPr/>
          <p:nvPr/>
        </p:nvCxnSpPr>
        <p:spPr>
          <a:xfrm>
            <a:off x="7377748" y="5927344"/>
            <a:ext cx="323850" cy="0"/>
          </a:xfrm>
          <a:prstGeom prst="line">
            <a:avLst/>
          </a:prstGeom>
          <a:ln w="15875">
            <a:solidFill>
              <a:srgbClr val="2563EB"/>
            </a:solidFill>
            <a:tailEnd type="triangle" w="med" len="med"/>
          </a:ln>
        </p:spPr>
      </p:cxnSp>
      <p:sp>
        <p:nvSpPr>
          <p:cNvPr id="31" name="Badge 4"/>
          <p:cNvSpPr/>
          <p:nvPr/>
        </p:nvSpPr>
        <p:spPr>
          <a:xfrm>
            <a:off x="7161848" y="5819394"/>
            <a:ext cx="215900" cy="2159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4</a:t>
            </a:r>
            <a:endParaRPr lang="ko-KR" altLang="en-US" sz="950" dirty="0"/>
          </a:p>
        </p:txBody>
      </p:sp>
      <p:sp>
        <p:nvSpPr>
          <p:cNvPr id="32" name="File Tag"/>
          <p:cNvSpPr txBox="1"/>
          <p:nvPr/>
        </p:nvSpPr>
        <p:spPr>
          <a:xfrm>
            <a:off x="6214872" y="1345184"/>
            <a:ext cx="5334000" cy="2032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8794AC"/>
                </a:solidFill>
                <a:latin typeface="Consolas"/>
                <a:ea typeface="맑은 고딕"/>
                <a:cs typeface="맑은 고딕"/>
              </a:rPr>
              <a:t>TargetSimCore/include/TargetSim.h  72 ~ 101행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03. 궤적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3.1 초기화 코드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13</a:t>
            </a:r>
          </a:p>
        </p:txBody>
      </p:sp>
      <p:pic>
        <p:nvPicPr>
          <p:cNvPr id="7" name="Code Capture" descr="TargetSim.c 122-1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92224"/>
            <a:ext cx="6629718" cy="3799840"/>
          </a:xfrm>
          <a:prstGeom prst="rect">
            <a:avLst/>
          </a:prstGeom>
          <a:ln w="9525">
            <a:solidFill>
              <a:srgbClr val="C9D1DD"/>
            </a:solidFill>
          </a:ln>
        </p:spPr>
      </p:pic>
      <p:sp>
        <p:nvSpPr>
          <p:cNvPr id="8" name="Block 1"/>
          <p:cNvSpPr/>
          <p:nvPr/>
        </p:nvSpPr>
        <p:spPr>
          <a:xfrm>
            <a:off x="968692" y="2683764"/>
            <a:ext cx="6250306" cy="200660"/>
          </a:xfrm>
          <a:prstGeom prst="roundRect">
            <a:avLst>
              <a:gd name="adj" fmla="val 18987"/>
            </a:avLst>
          </a:prstGeom>
          <a:solidFill>
            <a:srgbClr val="DC2626">
              <a:alpha val="9000"/>
            </a:srgbClr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lock 2"/>
          <p:cNvSpPr/>
          <p:nvPr/>
        </p:nvSpPr>
        <p:spPr>
          <a:xfrm>
            <a:off x="968692" y="2963164"/>
            <a:ext cx="6250306" cy="340360"/>
          </a:xfrm>
          <a:prstGeom prst="roundRect">
            <a:avLst>
              <a:gd name="adj" fmla="val 11194"/>
            </a:avLst>
          </a:prstGeom>
          <a:solidFill>
            <a:srgbClr val="D97706">
              <a:alpha val="9000"/>
            </a:srgbClr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lock 3"/>
          <p:cNvSpPr/>
          <p:nvPr/>
        </p:nvSpPr>
        <p:spPr>
          <a:xfrm>
            <a:off x="968692" y="3382264"/>
            <a:ext cx="6250306" cy="480060"/>
          </a:xfrm>
          <a:prstGeom prst="roundRect">
            <a:avLst>
              <a:gd name="adj" fmla="val 7937"/>
            </a:avLst>
          </a:prstGeom>
          <a:solidFill>
            <a:srgbClr val="059669">
              <a:alpha val="9000"/>
            </a:srgbClr>
          </a:solidFill>
          <a:ln w="12700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lock 4"/>
          <p:cNvSpPr/>
          <p:nvPr/>
        </p:nvSpPr>
        <p:spPr>
          <a:xfrm>
            <a:off x="968692" y="3941064"/>
            <a:ext cx="6250306" cy="1427480"/>
          </a:xfrm>
          <a:prstGeom prst="roundRect">
            <a:avLst>
              <a:gd name="adj" fmla="val 2669"/>
            </a:avLst>
          </a:prstGeom>
          <a:solidFill>
            <a:srgbClr val="2563EB">
              <a:alpha val="9000"/>
            </a:srgbClr>
          </a:solidFill>
          <a:ln w="1270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rd 1 Box"/>
          <p:cNvSpPr/>
          <p:nvPr/>
        </p:nvSpPr>
        <p:spPr>
          <a:xfrm>
            <a:off x="7701598" y="2404364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rd 1 Text"/>
          <p:cNvSpPr txBox="1"/>
          <p:nvPr/>
        </p:nvSpPr>
        <p:spPr>
          <a:xfrm>
            <a:off x="7828598" y="2493264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① 설정 복사해 두기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UI 가 넘긴 설정을 </a:t>
            </a: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st_Sim</a:t>
            </a: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안에 그대로 복사한다.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이후 스텝은 이 복사본을 읽는다.</a:t>
            </a:r>
            <a:endParaRPr lang="ko-KR" altLang="en-US" sz="950" dirty="0"/>
          </a:p>
        </p:txBody>
      </p:sp>
      <p:sp>
        <p:nvSpPr>
          <p:cNvPr id="14" name="Card 1 Lines"/>
          <p:cNvSpPr txBox="1"/>
          <p:nvPr/>
        </p:nvSpPr>
        <p:spPr>
          <a:xfrm>
            <a:off x="7828598" y="249326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128행</a:t>
            </a:r>
            <a:endParaRPr lang="ko-KR" altLang="en-US" sz="900" dirty="0"/>
          </a:p>
        </p:txBody>
      </p:sp>
      <p:cxnSp>
        <p:nvCxnSpPr>
          <p:cNvPr id="15" name="Arrow 1"/>
          <p:cNvCxnSpPr/>
          <p:nvPr/>
        </p:nvCxnSpPr>
        <p:spPr>
          <a:xfrm>
            <a:off x="7377748" y="2784094"/>
            <a:ext cx="323850" cy="0"/>
          </a:xfrm>
          <a:prstGeom prst="line">
            <a:avLst/>
          </a:prstGeom>
          <a:ln w="15875">
            <a:solidFill>
              <a:srgbClr val="DC2626"/>
            </a:solidFill>
            <a:tailEnd type="triangle" w="med" len="med"/>
          </a:ln>
        </p:spPr>
      </p:cxnSp>
      <p:sp>
        <p:nvSpPr>
          <p:cNvPr id="16" name="Badge 1"/>
          <p:cNvSpPr/>
          <p:nvPr/>
        </p:nvSpPr>
        <p:spPr>
          <a:xfrm>
            <a:off x="7161848" y="2676144"/>
            <a:ext cx="215900" cy="215900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1</a:t>
            </a:r>
            <a:endParaRPr lang="ko-KR" altLang="en-US" sz="950" dirty="0"/>
          </a:p>
        </p:txBody>
      </p:sp>
      <p:sp>
        <p:nvSpPr>
          <p:cNvPr id="17" name="Card 2 Box"/>
          <p:cNvSpPr/>
          <p:nvPr/>
        </p:nvSpPr>
        <p:spPr>
          <a:xfrm>
            <a:off x="7701598" y="3252724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FEF5E7"/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rd 2 Text"/>
          <p:cNvSpPr txBox="1"/>
          <p:nvPr/>
        </p:nvSpPr>
        <p:spPr>
          <a:xfrm>
            <a:off x="7828598" y="3341624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D97706"/>
                </a:solidFill>
                <a:latin typeface="맑은 고딕"/>
                <a:ea typeface="맑은 고딕"/>
                <a:cs typeface="맑은 고딕"/>
              </a:rPr>
              <a:t>② 스텝 수 구하기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전체 시간을 간격으로 나눈다.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60 s / 0.1 s = 600 스텝, 결과는 0 초 포함 601 개.</a:t>
            </a:r>
            <a:endParaRPr lang="ko-KR" altLang="en-US" sz="950" dirty="0"/>
          </a:p>
        </p:txBody>
      </p:sp>
      <p:sp>
        <p:nvSpPr>
          <p:cNvPr id="19" name="Card 2 Lines"/>
          <p:cNvSpPr txBox="1"/>
          <p:nvPr/>
        </p:nvSpPr>
        <p:spPr>
          <a:xfrm>
            <a:off x="7828598" y="334162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130 ~ 131행</a:t>
            </a:r>
            <a:endParaRPr lang="ko-KR" altLang="en-US" sz="900" dirty="0"/>
          </a:p>
        </p:txBody>
      </p:sp>
      <p:cxnSp>
        <p:nvCxnSpPr>
          <p:cNvPr id="20" name="Arrow 2"/>
          <p:cNvCxnSpPr/>
          <p:nvPr/>
        </p:nvCxnSpPr>
        <p:spPr>
          <a:xfrm>
            <a:off x="7377748" y="3133344"/>
            <a:ext cx="323850" cy="303530"/>
          </a:xfrm>
          <a:prstGeom prst="bentConnector3">
            <a:avLst>
              <a:gd name="adj1" fmla="val 72000"/>
            </a:avLst>
          </a:prstGeom>
          <a:ln w="15875">
            <a:solidFill>
              <a:srgbClr val="D97706"/>
            </a:solidFill>
            <a:tailEnd type="triangle" w="med" len="med"/>
          </a:ln>
        </p:spPr>
      </p:cxnSp>
      <p:sp>
        <p:nvSpPr>
          <p:cNvPr id="21" name="Badge 2"/>
          <p:cNvSpPr/>
          <p:nvPr/>
        </p:nvSpPr>
        <p:spPr>
          <a:xfrm>
            <a:off x="7161848" y="3025394"/>
            <a:ext cx="215900" cy="215900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2</a:t>
            </a:r>
            <a:endParaRPr lang="ko-KR" altLang="en-US" sz="950" dirty="0"/>
          </a:p>
        </p:txBody>
      </p:sp>
      <p:sp>
        <p:nvSpPr>
          <p:cNvPr id="22" name="Card 3 Box"/>
          <p:cNvSpPr/>
          <p:nvPr/>
        </p:nvSpPr>
        <p:spPr>
          <a:xfrm>
            <a:off x="7701598" y="4101084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 w="12700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rd 3 Text"/>
          <p:cNvSpPr txBox="1"/>
          <p:nvPr/>
        </p:nvSpPr>
        <p:spPr>
          <a:xfrm>
            <a:off x="7828598" y="4189984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059669"/>
                </a:solidFill>
                <a:latin typeface="맑은 고딕"/>
                <a:ea typeface="맑은 고딕"/>
                <a:cs typeface="맑은 고딕"/>
              </a:rPr>
              <a:t>③ 0 초 결과 준비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시각 0, 스텝 번호 0, 표적 수를 넣는다.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st_Sample</a:t>
            </a: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에는 늘 가장 최근 시각의 결과가 있다.</a:t>
            </a:r>
            <a:endParaRPr lang="ko-KR" altLang="en-US" sz="950" dirty="0"/>
          </a:p>
        </p:txBody>
      </p:sp>
      <p:sp>
        <p:nvSpPr>
          <p:cNvPr id="24" name="Card 3 Lines"/>
          <p:cNvSpPr txBox="1"/>
          <p:nvPr/>
        </p:nvSpPr>
        <p:spPr>
          <a:xfrm>
            <a:off x="7828598" y="418998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133 ~ 135행</a:t>
            </a:r>
            <a:endParaRPr lang="ko-KR" altLang="en-US" sz="900" dirty="0"/>
          </a:p>
        </p:txBody>
      </p:sp>
      <p:cxnSp>
        <p:nvCxnSpPr>
          <p:cNvPr id="25" name="Arrow 3"/>
          <p:cNvCxnSpPr/>
          <p:nvPr/>
        </p:nvCxnSpPr>
        <p:spPr>
          <a:xfrm>
            <a:off x="7377748" y="3622294"/>
            <a:ext cx="323850" cy="662940"/>
          </a:xfrm>
          <a:prstGeom prst="bentConnector3">
            <a:avLst>
              <a:gd name="adj1" fmla="val 50000"/>
            </a:avLst>
          </a:prstGeom>
          <a:ln w="15875">
            <a:solidFill>
              <a:srgbClr val="059669"/>
            </a:solidFill>
            <a:tailEnd type="triangle" w="med" len="med"/>
          </a:ln>
        </p:spPr>
      </p:cxnSp>
      <p:sp>
        <p:nvSpPr>
          <p:cNvPr id="26" name="Badge 3"/>
          <p:cNvSpPr/>
          <p:nvPr/>
        </p:nvSpPr>
        <p:spPr>
          <a:xfrm>
            <a:off x="7161848" y="3514344"/>
            <a:ext cx="215900" cy="215900"/>
          </a:xfrm>
          <a:prstGeom prst="ellipse">
            <a:avLst/>
          </a:prstGeom>
          <a:solidFill>
            <a:srgbClr val="059669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3</a:t>
            </a:r>
            <a:endParaRPr lang="ko-KR" altLang="en-US" sz="950" dirty="0"/>
          </a:p>
        </p:txBody>
      </p:sp>
      <p:sp>
        <p:nvSpPr>
          <p:cNvPr id="27" name="Card 4 Box"/>
          <p:cNvSpPr/>
          <p:nvPr/>
        </p:nvSpPr>
        <p:spPr>
          <a:xfrm>
            <a:off x="7701598" y="4949444"/>
            <a:ext cx="3847274" cy="929640"/>
          </a:xfrm>
          <a:prstGeom prst="roundRect">
            <a:avLst>
              <a:gd name="adj" fmla="val 6000"/>
            </a:avLst>
          </a:prstGeom>
          <a:solidFill>
            <a:srgbClr val="EBF2FE"/>
          </a:solidFill>
          <a:ln w="1270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ard 4 Text"/>
          <p:cNvSpPr txBox="1"/>
          <p:nvPr/>
        </p:nvSpPr>
        <p:spPr>
          <a:xfrm>
            <a:off x="7828598" y="5038344"/>
            <a:ext cx="3593274" cy="73914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④ 처음 위치 · 속도 만들기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플랫폼과 표적마다 </a:t>
            </a: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f_Tgt_InitState</a:t>
            </a: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를 부른다.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위경도는 ECEF 위치로 바꾸고, 속도는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자세 방향의 속력 V 를 ECEF 로 바꿔 넣는다.</a:t>
            </a:r>
            <a:endParaRPr lang="ko-KR" altLang="en-US" sz="950" dirty="0"/>
          </a:p>
        </p:txBody>
      </p:sp>
      <p:sp>
        <p:nvSpPr>
          <p:cNvPr id="29" name="Card 4 Lines"/>
          <p:cNvSpPr txBox="1"/>
          <p:nvPr/>
        </p:nvSpPr>
        <p:spPr>
          <a:xfrm>
            <a:off x="7828598" y="503834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137 ~ 144행</a:t>
            </a:r>
            <a:endParaRPr lang="ko-KR" altLang="en-US" sz="900" dirty="0"/>
          </a:p>
        </p:txBody>
      </p:sp>
      <p:cxnSp>
        <p:nvCxnSpPr>
          <p:cNvPr id="30" name="Arrow 4"/>
          <p:cNvCxnSpPr/>
          <p:nvPr/>
        </p:nvCxnSpPr>
        <p:spPr>
          <a:xfrm>
            <a:off x="7377748" y="4654804"/>
            <a:ext cx="323850" cy="478790"/>
          </a:xfrm>
          <a:prstGeom prst="bentConnector3">
            <a:avLst>
              <a:gd name="adj1" fmla="val 27999"/>
            </a:avLst>
          </a:prstGeom>
          <a:ln w="15875">
            <a:solidFill>
              <a:srgbClr val="2563EB"/>
            </a:solidFill>
            <a:tailEnd type="triangle" w="med" len="med"/>
          </a:ln>
        </p:spPr>
      </p:cxnSp>
      <p:sp>
        <p:nvSpPr>
          <p:cNvPr id="31" name="Badge 4"/>
          <p:cNvSpPr/>
          <p:nvPr/>
        </p:nvSpPr>
        <p:spPr>
          <a:xfrm>
            <a:off x="7161848" y="4546854"/>
            <a:ext cx="215900" cy="2159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4</a:t>
            </a:r>
            <a:endParaRPr lang="ko-KR" altLang="en-US" sz="950" dirty="0"/>
          </a:p>
        </p:txBody>
      </p:sp>
      <p:sp>
        <p:nvSpPr>
          <p:cNvPr id="32" name="File Tag"/>
          <p:cNvSpPr txBox="1"/>
          <p:nvPr/>
        </p:nvSpPr>
        <p:spPr>
          <a:xfrm>
            <a:off x="6214872" y="1345184"/>
            <a:ext cx="5334000" cy="2032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8794AC"/>
                </a:solidFill>
                <a:latin typeface="Consolas"/>
                <a:ea typeface="맑은 고딕"/>
                <a:cs typeface="맑은 고딕"/>
              </a:rPr>
              <a:t>TargetSimCore/src/TargetSim.c  122 ~ 145행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03. 궤적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3.3 한 스텝 진행 코드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15</a:t>
            </a:r>
          </a:p>
        </p:txBody>
      </p:sp>
      <p:pic>
        <p:nvPicPr>
          <p:cNvPr id="7" name="Code Capture" descr="TargetSim.c 147-1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92224"/>
            <a:ext cx="6629718" cy="4358640"/>
          </a:xfrm>
          <a:prstGeom prst="rect">
            <a:avLst/>
          </a:prstGeom>
          <a:ln w="9525">
            <a:solidFill>
              <a:srgbClr val="C9D1DD"/>
            </a:solidFill>
          </a:ln>
        </p:spPr>
      </p:pic>
      <p:sp>
        <p:nvSpPr>
          <p:cNvPr id="8" name="Block 1"/>
          <p:cNvSpPr/>
          <p:nvPr/>
        </p:nvSpPr>
        <p:spPr>
          <a:xfrm>
            <a:off x="968692" y="3382264"/>
            <a:ext cx="6250306" cy="480060"/>
          </a:xfrm>
          <a:prstGeom prst="roundRect">
            <a:avLst>
              <a:gd name="adj" fmla="val 7937"/>
            </a:avLst>
          </a:prstGeom>
          <a:solidFill>
            <a:srgbClr val="DC2626">
              <a:alpha val="9000"/>
            </a:srgbClr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lock 2"/>
          <p:cNvSpPr/>
          <p:nvPr/>
        </p:nvSpPr>
        <p:spPr>
          <a:xfrm>
            <a:off x="968692" y="3941064"/>
            <a:ext cx="6250306" cy="480060"/>
          </a:xfrm>
          <a:prstGeom prst="roundRect">
            <a:avLst>
              <a:gd name="adj" fmla="val 7937"/>
            </a:avLst>
          </a:prstGeom>
          <a:solidFill>
            <a:srgbClr val="D97706">
              <a:alpha val="9000"/>
            </a:srgbClr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lock 3"/>
          <p:cNvSpPr/>
          <p:nvPr/>
        </p:nvSpPr>
        <p:spPr>
          <a:xfrm>
            <a:off x="968692" y="4499864"/>
            <a:ext cx="6250306" cy="1038860"/>
          </a:xfrm>
          <a:prstGeom prst="roundRect">
            <a:avLst>
              <a:gd name="adj" fmla="val 3667"/>
            </a:avLst>
          </a:prstGeom>
          <a:solidFill>
            <a:srgbClr val="059669">
              <a:alpha val="9000"/>
            </a:srgbClr>
          </a:solidFill>
          <a:ln w="12700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lock 4"/>
          <p:cNvSpPr/>
          <p:nvPr/>
        </p:nvSpPr>
        <p:spPr>
          <a:xfrm>
            <a:off x="968692" y="5617464"/>
            <a:ext cx="6250306" cy="309880"/>
          </a:xfrm>
          <a:prstGeom prst="roundRect">
            <a:avLst>
              <a:gd name="adj" fmla="val 12295"/>
            </a:avLst>
          </a:prstGeom>
          <a:solidFill>
            <a:srgbClr val="2563EB">
              <a:alpha val="9000"/>
            </a:srgbClr>
          </a:solidFill>
          <a:ln w="1270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rd 1 Box"/>
          <p:cNvSpPr/>
          <p:nvPr/>
        </p:nvSpPr>
        <p:spPr>
          <a:xfrm>
            <a:off x="7701598" y="2518156"/>
            <a:ext cx="3847274" cy="92964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rd 1 Text"/>
          <p:cNvSpPr txBox="1"/>
          <p:nvPr/>
        </p:nvSpPr>
        <p:spPr>
          <a:xfrm>
            <a:off x="7828598" y="2607056"/>
            <a:ext cx="3593274" cy="73914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① 지금 시각과 다음 시각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스텝 번호 × 0.1 s 로 구한다.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curTime</a:t>
            </a: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은 걸린 기동을 찾는 데 쓰고,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nextTime</a:t>
            </a: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은 옮긴 뒤의 새 시각이 된다.</a:t>
            </a:r>
            <a:endParaRPr lang="ko-KR" altLang="en-US" sz="950" dirty="0"/>
          </a:p>
        </p:txBody>
      </p:sp>
      <p:sp>
        <p:nvSpPr>
          <p:cNvPr id="14" name="Card 1 Lines"/>
          <p:cNvSpPr txBox="1"/>
          <p:nvPr/>
        </p:nvSpPr>
        <p:spPr>
          <a:xfrm>
            <a:off x="7828598" y="2607056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158 ~ 160행</a:t>
            </a:r>
            <a:endParaRPr lang="ko-KR" altLang="en-US" sz="900" dirty="0"/>
          </a:p>
        </p:txBody>
      </p:sp>
      <p:cxnSp>
        <p:nvCxnSpPr>
          <p:cNvPr id="15" name="Arrow 1"/>
          <p:cNvCxnSpPr/>
          <p:nvPr/>
        </p:nvCxnSpPr>
        <p:spPr>
          <a:xfrm flipV="1">
            <a:off x="7377748" y="3320796"/>
            <a:ext cx="323850" cy="301498"/>
          </a:xfrm>
          <a:prstGeom prst="bentConnector3">
            <a:avLst>
              <a:gd name="adj1" fmla="val 28000"/>
            </a:avLst>
          </a:prstGeom>
          <a:ln w="15875">
            <a:solidFill>
              <a:srgbClr val="DC2626"/>
            </a:solidFill>
            <a:tailEnd type="triangle" w="med" len="med"/>
          </a:ln>
        </p:spPr>
      </p:cxnSp>
      <p:sp>
        <p:nvSpPr>
          <p:cNvPr id="16" name="Badge 1"/>
          <p:cNvSpPr/>
          <p:nvPr/>
        </p:nvSpPr>
        <p:spPr>
          <a:xfrm>
            <a:off x="7161848" y="3514344"/>
            <a:ext cx="215900" cy="215900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1</a:t>
            </a:r>
            <a:endParaRPr lang="ko-KR" altLang="en-US" sz="950" dirty="0"/>
          </a:p>
        </p:txBody>
      </p:sp>
      <p:sp>
        <p:nvSpPr>
          <p:cNvPr id="17" name="Card 2 Box"/>
          <p:cNvSpPr/>
          <p:nvPr/>
        </p:nvSpPr>
        <p:spPr>
          <a:xfrm>
            <a:off x="7701598" y="3536696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FEF5E7"/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rd 2 Text"/>
          <p:cNvSpPr txBox="1"/>
          <p:nvPr/>
        </p:nvSpPr>
        <p:spPr>
          <a:xfrm>
            <a:off x="7828598" y="3625596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D97706"/>
                </a:solidFill>
                <a:latin typeface="맑은 고딕"/>
                <a:ea typeface="맑은 고딕"/>
                <a:cs typeface="맑은 고딕"/>
              </a:rPr>
              <a:t>② 플랫폼 이동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기동이 없어 각속도 0 (</a:t>
            </a: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st_NoRate</a:t>
            </a: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) 을 넘기고,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표적과 같은 함수로 0.1 s 옮긴다.</a:t>
            </a:r>
            <a:endParaRPr lang="ko-KR" altLang="en-US" sz="950" dirty="0"/>
          </a:p>
        </p:txBody>
      </p:sp>
      <p:sp>
        <p:nvSpPr>
          <p:cNvPr id="19" name="Card 2 Lines"/>
          <p:cNvSpPr txBox="1"/>
          <p:nvPr/>
        </p:nvSpPr>
        <p:spPr>
          <a:xfrm>
            <a:off x="7828598" y="3625596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162 ~ 163행</a:t>
            </a:r>
            <a:endParaRPr lang="ko-KR" altLang="en-US" sz="900" dirty="0"/>
          </a:p>
        </p:txBody>
      </p:sp>
      <p:cxnSp>
        <p:nvCxnSpPr>
          <p:cNvPr id="20" name="Arrow 2"/>
          <p:cNvCxnSpPr/>
          <p:nvPr/>
        </p:nvCxnSpPr>
        <p:spPr>
          <a:xfrm flipV="1">
            <a:off x="7377748" y="4169156"/>
            <a:ext cx="323850" cy="11938"/>
          </a:xfrm>
          <a:prstGeom prst="bentConnector3">
            <a:avLst>
              <a:gd name="adj1" fmla="val 72000"/>
            </a:avLst>
          </a:prstGeom>
          <a:ln w="15875">
            <a:solidFill>
              <a:srgbClr val="D97706"/>
            </a:solidFill>
            <a:tailEnd type="triangle" w="med" len="med"/>
          </a:ln>
        </p:spPr>
      </p:cxnSp>
      <p:sp>
        <p:nvSpPr>
          <p:cNvPr id="21" name="Badge 2"/>
          <p:cNvSpPr/>
          <p:nvPr/>
        </p:nvSpPr>
        <p:spPr>
          <a:xfrm>
            <a:off x="7161848" y="4073144"/>
            <a:ext cx="215900" cy="215900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2</a:t>
            </a:r>
            <a:endParaRPr lang="ko-KR" altLang="en-US" sz="950" dirty="0"/>
          </a:p>
        </p:txBody>
      </p:sp>
      <p:sp>
        <p:nvSpPr>
          <p:cNvPr id="22" name="Card 3 Box"/>
          <p:cNvSpPr/>
          <p:nvPr/>
        </p:nvSpPr>
        <p:spPr>
          <a:xfrm>
            <a:off x="7701598" y="4385056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 w="12700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rd 3 Text"/>
          <p:cNvSpPr txBox="1"/>
          <p:nvPr/>
        </p:nvSpPr>
        <p:spPr>
          <a:xfrm>
            <a:off x="7828598" y="4473956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059669"/>
                </a:solidFill>
                <a:latin typeface="맑은 고딕"/>
                <a:ea typeface="맑은 고딕"/>
                <a:cs typeface="맑은 고딕"/>
              </a:rPr>
              <a:t>③ 표적 이동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표적마다 </a:t>
            </a: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f_Tgt_GetAttRate</a:t>
            </a: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로 지금 걸린 기동의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각속도를 구하고, </a:t>
            </a: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f_Tgt_Propagate</a:t>
            </a: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로 0.1 s 옮긴다.</a:t>
            </a:r>
            <a:endParaRPr lang="ko-KR" altLang="en-US" sz="950" dirty="0"/>
          </a:p>
        </p:txBody>
      </p:sp>
      <p:sp>
        <p:nvSpPr>
          <p:cNvPr id="24" name="Card 3 Lines"/>
          <p:cNvSpPr txBox="1"/>
          <p:nvPr/>
        </p:nvSpPr>
        <p:spPr>
          <a:xfrm>
            <a:off x="7828598" y="4473956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165 ~ 170행</a:t>
            </a:r>
            <a:endParaRPr lang="ko-KR" altLang="en-US" sz="900" dirty="0"/>
          </a:p>
        </p:txBody>
      </p:sp>
      <p:cxnSp>
        <p:nvCxnSpPr>
          <p:cNvPr id="25" name="Arrow 3"/>
          <p:cNvCxnSpPr/>
          <p:nvPr/>
        </p:nvCxnSpPr>
        <p:spPr>
          <a:xfrm>
            <a:off x="7377748" y="5018405"/>
            <a:ext cx="323850" cy="0"/>
          </a:xfrm>
          <a:prstGeom prst="line">
            <a:avLst/>
          </a:prstGeom>
          <a:ln w="15875">
            <a:solidFill>
              <a:srgbClr val="059669"/>
            </a:solidFill>
            <a:tailEnd type="triangle" w="med" len="med"/>
          </a:ln>
        </p:spPr>
      </p:cxnSp>
      <p:sp>
        <p:nvSpPr>
          <p:cNvPr id="26" name="Badge 3"/>
          <p:cNvSpPr/>
          <p:nvPr/>
        </p:nvSpPr>
        <p:spPr>
          <a:xfrm>
            <a:off x="7161848" y="4911344"/>
            <a:ext cx="215900" cy="215900"/>
          </a:xfrm>
          <a:prstGeom prst="ellipse">
            <a:avLst/>
          </a:prstGeom>
          <a:solidFill>
            <a:srgbClr val="059669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3</a:t>
            </a:r>
            <a:endParaRPr lang="ko-KR" altLang="en-US" sz="950" dirty="0"/>
          </a:p>
        </p:txBody>
      </p:sp>
      <p:sp>
        <p:nvSpPr>
          <p:cNvPr id="27" name="Card 4 Box"/>
          <p:cNvSpPr/>
          <p:nvPr/>
        </p:nvSpPr>
        <p:spPr>
          <a:xfrm>
            <a:off x="7701598" y="5233416"/>
            <a:ext cx="3847274" cy="929640"/>
          </a:xfrm>
          <a:prstGeom prst="roundRect">
            <a:avLst>
              <a:gd name="adj" fmla="val 6000"/>
            </a:avLst>
          </a:prstGeom>
          <a:solidFill>
            <a:srgbClr val="EBF2FE"/>
          </a:solidFill>
          <a:ln w="1270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ard 4 Text"/>
          <p:cNvSpPr txBox="1"/>
          <p:nvPr/>
        </p:nvSpPr>
        <p:spPr>
          <a:xfrm>
            <a:off x="7828598" y="5322316"/>
            <a:ext cx="3593274" cy="73914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④ 시각 한 칸 올리기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스텝 번호와 시각을 한 칸 올린다.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UI 가 이 함수를 600 번 불러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0 초 포함 결과 601 개를 모은다.</a:t>
            </a:r>
            <a:endParaRPr lang="ko-KR" altLang="en-US" sz="950" dirty="0"/>
          </a:p>
        </p:txBody>
      </p:sp>
      <p:sp>
        <p:nvSpPr>
          <p:cNvPr id="29" name="Card 4 Lines"/>
          <p:cNvSpPr txBox="1"/>
          <p:nvPr/>
        </p:nvSpPr>
        <p:spPr>
          <a:xfrm>
            <a:off x="7828598" y="5322316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172 ~ 173행</a:t>
            </a:r>
            <a:endParaRPr lang="ko-KR" altLang="en-US" sz="900" dirty="0"/>
          </a:p>
        </p:txBody>
      </p:sp>
      <p:cxnSp>
        <p:nvCxnSpPr>
          <p:cNvPr id="30" name="Arrow 4"/>
          <p:cNvCxnSpPr/>
          <p:nvPr/>
        </p:nvCxnSpPr>
        <p:spPr>
          <a:xfrm>
            <a:off x="7377748" y="5772404"/>
            <a:ext cx="323850" cy="0"/>
          </a:xfrm>
          <a:prstGeom prst="line">
            <a:avLst/>
          </a:prstGeom>
          <a:ln w="15875">
            <a:solidFill>
              <a:srgbClr val="2563EB"/>
            </a:solidFill>
            <a:tailEnd type="triangle" w="med" len="med"/>
          </a:ln>
        </p:spPr>
      </p:cxnSp>
      <p:sp>
        <p:nvSpPr>
          <p:cNvPr id="31" name="Badge 4"/>
          <p:cNvSpPr/>
          <p:nvPr/>
        </p:nvSpPr>
        <p:spPr>
          <a:xfrm>
            <a:off x="7161848" y="5664454"/>
            <a:ext cx="215900" cy="2159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4</a:t>
            </a:r>
            <a:endParaRPr lang="ko-KR" altLang="en-US" sz="950" dirty="0"/>
          </a:p>
        </p:txBody>
      </p:sp>
      <p:sp>
        <p:nvSpPr>
          <p:cNvPr id="32" name="File Tag"/>
          <p:cNvSpPr txBox="1"/>
          <p:nvPr/>
        </p:nvSpPr>
        <p:spPr>
          <a:xfrm>
            <a:off x="6214872" y="1345184"/>
            <a:ext cx="5334000" cy="2032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8794AC"/>
                </a:solidFill>
                <a:latin typeface="Consolas"/>
                <a:ea typeface="맑은 고딕"/>
                <a:cs typeface="맑은 고딕"/>
              </a:rPr>
              <a:t>TargetSimCore/src/TargetSim.c  147 ~ 174행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03. 궤적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3.4 기동 찾기와 각속도 코드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16</a:t>
            </a:r>
          </a:p>
        </p:txBody>
      </p:sp>
      <p:sp>
        <p:nvSpPr>
          <p:cNvPr id="21" name="Example Box"/>
          <p:cNvSpPr/>
          <p:nvPr/>
        </p:nvSpPr>
        <p:spPr>
          <a:xfrm>
            <a:off x="640080" y="5426456"/>
            <a:ext cx="10908792" cy="736600"/>
          </a:xfrm>
          <a:prstGeom prst="rect">
            <a:avLst/>
          </a:prstGeom>
          <a:solidFill>
            <a:srgbClr val="F7F9FC"/>
          </a:solidFill>
          <a:ln w="12700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Example Title"/>
          <p:cNvSpPr txBox="1"/>
          <p:nvPr/>
        </p:nvSpPr>
        <p:spPr>
          <a:xfrm>
            <a:off x="817880" y="5540756"/>
            <a:ext cx="1905000" cy="5080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예시</a:t>
            </a:r>
            <a:endParaRPr lang="ko-KR" altLang="en-US" sz="100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대공 표적, 기동 6 개</a:t>
            </a:r>
            <a:endParaRPr lang="ko-KR" altLang="en-US" sz="1000" dirty="0"/>
          </a:p>
        </p:txBody>
      </p:sp>
      <p:sp>
        <p:nvSpPr>
          <p:cNvPr id="23" name="Example Axis"/>
          <p:cNvSpPr/>
          <p:nvPr/>
        </p:nvSpPr>
        <p:spPr>
          <a:xfrm>
            <a:off x="2545080" y="5820156"/>
            <a:ext cx="4965192" cy="0"/>
          </a:xfrm>
          <a:prstGeom prst="line">
            <a:avLst/>
          </a:prstGeom>
          <a:noFill/>
          <a:ln w="12700" cap="rnd">
            <a:solidFill>
              <a:srgbClr val="AEB9CC"/>
            </a:solidFill>
            <a:prstDash val="solid"/>
          </a:ln>
        </p:spPr>
      </p:sp>
      <p:sp>
        <p:nvSpPr>
          <p:cNvPr id="24" name="Example Tick 0"/>
          <p:cNvSpPr txBox="1"/>
          <p:nvPr/>
        </p:nvSpPr>
        <p:spPr>
          <a:xfrm>
            <a:off x="2341880" y="5896356"/>
            <a:ext cx="406400" cy="152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0</a:t>
            </a:r>
            <a:endParaRPr lang="ko-KR" altLang="en-US" sz="1000" dirty="0"/>
          </a:p>
        </p:txBody>
      </p:sp>
      <p:sp>
        <p:nvSpPr>
          <p:cNvPr id="25" name="Example Tick 10"/>
          <p:cNvSpPr txBox="1"/>
          <p:nvPr/>
        </p:nvSpPr>
        <p:spPr>
          <a:xfrm>
            <a:off x="3169412" y="5896356"/>
            <a:ext cx="406400" cy="152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10</a:t>
            </a:r>
            <a:endParaRPr lang="ko-KR" altLang="en-US" sz="1000" dirty="0"/>
          </a:p>
        </p:txBody>
      </p:sp>
      <p:sp>
        <p:nvSpPr>
          <p:cNvPr id="26" name="Example Tick 20"/>
          <p:cNvSpPr txBox="1"/>
          <p:nvPr/>
        </p:nvSpPr>
        <p:spPr>
          <a:xfrm>
            <a:off x="3996944" y="5896356"/>
            <a:ext cx="406400" cy="152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lang="ko-KR" altLang="en-US" sz="1000" dirty="0"/>
          </a:p>
        </p:txBody>
      </p:sp>
      <p:sp>
        <p:nvSpPr>
          <p:cNvPr id="27" name="Example Tick 30"/>
          <p:cNvSpPr txBox="1"/>
          <p:nvPr/>
        </p:nvSpPr>
        <p:spPr>
          <a:xfrm>
            <a:off x="4824476" y="5896356"/>
            <a:ext cx="406400" cy="152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30</a:t>
            </a:r>
            <a:endParaRPr lang="ko-KR" altLang="en-US" sz="1000" dirty="0"/>
          </a:p>
        </p:txBody>
      </p:sp>
      <p:sp>
        <p:nvSpPr>
          <p:cNvPr id="28" name="Example Tick 40"/>
          <p:cNvSpPr txBox="1"/>
          <p:nvPr/>
        </p:nvSpPr>
        <p:spPr>
          <a:xfrm>
            <a:off x="5652008" y="5896356"/>
            <a:ext cx="406400" cy="152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40</a:t>
            </a:r>
            <a:endParaRPr lang="ko-KR" altLang="en-US" sz="1000" dirty="0"/>
          </a:p>
        </p:txBody>
      </p:sp>
      <p:sp>
        <p:nvSpPr>
          <p:cNvPr id="29" name="Example Tick 50"/>
          <p:cNvSpPr txBox="1"/>
          <p:nvPr/>
        </p:nvSpPr>
        <p:spPr>
          <a:xfrm>
            <a:off x="6479540" y="5896356"/>
            <a:ext cx="406400" cy="152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50</a:t>
            </a:r>
            <a:endParaRPr lang="ko-KR" altLang="en-US" sz="1000" dirty="0"/>
          </a:p>
        </p:txBody>
      </p:sp>
      <p:sp>
        <p:nvSpPr>
          <p:cNvPr id="30" name="Example Tick 60"/>
          <p:cNvSpPr txBox="1"/>
          <p:nvPr/>
        </p:nvSpPr>
        <p:spPr>
          <a:xfrm>
            <a:off x="7307072" y="5896356"/>
            <a:ext cx="406400" cy="152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60 s</a:t>
            </a:r>
            <a:endParaRPr lang="ko-KR" altLang="en-US" sz="1000" dirty="0"/>
          </a:p>
        </p:txBody>
      </p:sp>
      <p:sp>
        <p:nvSpPr>
          <p:cNvPr id="31" name="Example Maneuver 1"/>
          <p:cNvSpPr/>
          <p:nvPr/>
        </p:nvSpPr>
        <p:spPr>
          <a:xfrm>
            <a:off x="2776789" y="5763006"/>
            <a:ext cx="322737" cy="1143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Example Maneuver 2"/>
          <p:cNvSpPr/>
          <p:nvPr/>
        </p:nvSpPr>
        <p:spPr>
          <a:xfrm>
            <a:off x="3645698" y="5763006"/>
            <a:ext cx="322737" cy="1143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Example Maneuver 3"/>
          <p:cNvSpPr/>
          <p:nvPr/>
        </p:nvSpPr>
        <p:spPr>
          <a:xfrm>
            <a:off x="4084290" y="5763006"/>
            <a:ext cx="322737" cy="1143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xample Maneuver 4"/>
          <p:cNvSpPr/>
          <p:nvPr/>
        </p:nvSpPr>
        <p:spPr>
          <a:xfrm>
            <a:off x="5540746" y="5763006"/>
            <a:ext cx="322737" cy="1143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xample Maneuver 5"/>
          <p:cNvSpPr/>
          <p:nvPr/>
        </p:nvSpPr>
        <p:spPr>
          <a:xfrm>
            <a:off x="5979338" y="5763006"/>
            <a:ext cx="322737" cy="1143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xample Maneuver 6"/>
          <p:cNvSpPr/>
          <p:nvPr/>
        </p:nvSpPr>
        <p:spPr>
          <a:xfrm>
            <a:off x="6972376" y="5763006"/>
            <a:ext cx="537896" cy="1143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xample Mark 10"/>
          <p:cNvSpPr/>
          <p:nvPr/>
        </p:nvSpPr>
        <p:spPr>
          <a:xfrm>
            <a:off x="3363087" y="5655056"/>
            <a:ext cx="19050" cy="228600"/>
          </a:xfrm>
          <a:prstGeom prst="rect">
            <a:avLst/>
          </a:prstGeom>
          <a:solidFill>
            <a:srgbClr val="6B78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xample Mark Label 10"/>
          <p:cNvSpPr txBox="1"/>
          <p:nvPr/>
        </p:nvSpPr>
        <p:spPr>
          <a:xfrm>
            <a:off x="3118612" y="5464556"/>
            <a:ext cx="508000" cy="1651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10 s</a:t>
            </a:r>
            <a:endParaRPr lang="ko-KR" altLang="en-US" sz="1000" dirty="0"/>
          </a:p>
        </p:txBody>
      </p:sp>
      <p:sp>
        <p:nvSpPr>
          <p:cNvPr id="39" name="Example Mark 15"/>
          <p:cNvSpPr/>
          <p:nvPr/>
        </p:nvSpPr>
        <p:spPr>
          <a:xfrm>
            <a:off x="3776853" y="5655056"/>
            <a:ext cx="19050" cy="22860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xample Mark Label 15"/>
          <p:cNvSpPr txBox="1"/>
          <p:nvPr/>
        </p:nvSpPr>
        <p:spPr>
          <a:xfrm>
            <a:off x="3532378" y="5464556"/>
            <a:ext cx="508000" cy="1651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15 s</a:t>
            </a:r>
            <a:endParaRPr lang="ko-KR" altLang="en-US" sz="1000" dirty="0"/>
          </a:p>
        </p:txBody>
      </p:sp>
      <p:sp>
        <p:nvSpPr>
          <p:cNvPr id="41" name="Example Result"/>
          <p:cNvSpPr txBox="1"/>
          <p:nvPr/>
        </p:nvSpPr>
        <p:spPr>
          <a:xfrm>
            <a:off x="7738872" y="5540756"/>
            <a:ext cx="3657600" cy="5080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15 s</a:t>
            </a:r>
            <a:r>
              <a:rPr lang="ko-KR" altLang="en-US" sz="10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 →  두 번째 기동 (13.3 ~ 17.2 s, Yaw 8.2 G) 이 걸림</a:t>
            </a:r>
            <a:endParaRPr lang="ko-KR" altLang="en-US" sz="1000" dirty="0"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10 s</a:t>
            </a:r>
            <a:r>
              <a:rPr lang="ko-KR" altLang="en-US" sz="10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 →  걸린 기동 없음, 각속도 0 (직진)</a:t>
            </a:r>
            <a:endParaRPr lang="ko-KR" altLang="en-US" sz="1000" dirty="0"/>
          </a:p>
        </p:txBody>
      </p:sp>
      <p:pic>
        <p:nvPicPr>
          <p:cNvPr id="7" name="Code Capture" descr="TargetSim.c 3-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92224"/>
            <a:ext cx="6629718" cy="2821940"/>
          </a:xfrm>
          <a:prstGeom prst="rect">
            <a:avLst/>
          </a:prstGeom>
          <a:ln w="9525">
            <a:solidFill>
              <a:srgbClr val="C9D1DD"/>
            </a:solidFill>
          </a:ln>
        </p:spPr>
      </p:pic>
      <p:sp>
        <p:nvSpPr>
          <p:cNvPr id="8" name="Block 1"/>
          <p:cNvSpPr/>
          <p:nvPr/>
        </p:nvSpPr>
        <p:spPr>
          <a:xfrm>
            <a:off x="968692" y="2295144"/>
            <a:ext cx="6250306" cy="279400"/>
          </a:xfrm>
          <a:prstGeom prst="roundRect">
            <a:avLst>
              <a:gd name="adj" fmla="val 13636"/>
            </a:avLst>
          </a:prstGeom>
          <a:solidFill>
            <a:srgbClr val="DC2626">
              <a:alpha val="9000"/>
            </a:srgbClr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lock 2"/>
          <p:cNvSpPr/>
          <p:nvPr/>
        </p:nvSpPr>
        <p:spPr>
          <a:xfrm>
            <a:off x="968692" y="3102864"/>
            <a:ext cx="6250306" cy="1457960"/>
          </a:xfrm>
          <a:prstGeom prst="roundRect">
            <a:avLst>
              <a:gd name="adj" fmla="val 2613"/>
            </a:avLst>
          </a:prstGeom>
          <a:solidFill>
            <a:srgbClr val="D97706">
              <a:alpha val="9000"/>
            </a:srgbClr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rd 1 Box"/>
          <p:cNvSpPr/>
          <p:nvPr/>
        </p:nvSpPr>
        <p:spPr>
          <a:xfrm>
            <a:off x="7701598" y="2055114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rd 1 Text"/>
          <p:cNvSpPr txBox="1"/>
          <p:nvPr/>
        </p:nvSpPr>
        <p:spPr>
          <a:xfrm>
            <a:off x="7828598" y="2144014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① 각속도 0 으로 시작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세 축 각속도를 모두 0 으로 두고 시작한다.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걸린 기동이 없으면 0 그대로 돌려준다 (직진).</a:t>
            </a:r>
            <a:endParaRPr lang="ko-KR" altLang="en-US" sz="950" dirty="0"/>
          </a:p>
        </p:txBody>
      </p:sp>
      <p:sp>
        <p:nvSpPr>
          <p:cNvPr id="12" name="Card 1 Lines"/>
          <p:cNvSpPr txBox="1"/>
          <p:nvPr/>
        </p:nvSpPr>
        <p:spPr>
          <a:xfrm>
            <a:off x="7828598" y="214401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6 ~ 7행</a:t>
            </a:r>
            <a:endParaRPr lang="ko-KR" altLang="en-US" sz="900" dirty="0"/>
          </a:p>
        </p:txBody>
      </p:sp>
      <p:cxnSp>
        <p:nvCxnSpPr>
          <p:cNvPr id="13" name="Arrow 1"/>
          <p:cNvCxnSpPr/>
          <p:nvPr/>
        </p:nvCxnSpPr>
        <p:spPr>
          <a:xfrm>
            <a:off x="7377748" y="2434844"/>
            <a:ext cx="323850" cy="0"/>
          </a:xfrm>
          <a:prstGeom prst="line">
            <a:avLst/>
          </a:prstGeom>
          <a:ln w="15875">
            <a:solidFill>
              <a:srgbClr val="DC2626"/>
            </a:solidFill>
            <a:tailEnd type="triangle" w="med" len="med"/>
          </a:ln>
        </p:spPr>
      </p:cxnSp>
      <p:sp>
        <p:nvSpPr>
          <p:cNvPr id="14" name="Badge 1"/>
          <p:cNvSpPr/>
          <p:nvPr/>
        </p:nvSpPr>
        <p:spPr>
          <a:xfrm>
            <a:off x="7161848" y="2326894"/>
            <a:ext cx="215900" cy="215900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1</a:t>
            </a:r>
            <a:endParaRPr lang="ko-KR" altLang="en-US" sz="950" dirty="0"/>
          </a:p>
        </p:txBody>
      </p:sp>
      <p:sp>
        <p:nvSpPr>
          <p:cNvPr id="15" name="Card 2 Box"/>
          <p:cNvSpPr/>
          <p:nvPr/>
        </p:nvSpPr>
        <p:spPr>
          <a:xfrm>
            <a:off x="7701598" y="3367024"/>
            <a:ext cx="3847274" cy="929640"/>
          </a:xfrm>
          <a:prstGeom prst="roundRect">
            <a:avLst>
              <a:gd name="adj" fmla="val 6000"/>
            </a:avLst>
          </a:prstGeom>
          <a:solidFill>
            <a:srgbClr val="FEF5E7"/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rd 2 Text"/>
          <p:cNvSpPr txBox="1"/>
          <p:nvPr/>
        </p:nvSpPr>
        <p:spPr>
          <a:xfrm>
            <a:off x="7828598" y="3455924"/>
            <a:ext cx="3593274" cy="73914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D97706"/>
                </a:solidFill>
                <a:latin typeface="맑은 고딕"/>
                <a:ea typeface="맑은 고딕"/>
                <a:cs typeface="맑은 고딕"/>
              </a:rPr>
              <a:t>② 지금 걸린 기동 찾기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기동 목록에서 지금 시각이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시작 ~ 종료 사이에 드는 기동을 찾아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st_Active</a:t>
            </a: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에 담는다.</a:t>
            </a:r>
            <a:endParaRPr lang="ko-KR" altLang="en-US" sz="950" dirty="0"/>
          </a:p>
        </p:txBody>
      </p:sp>
      <p:sp>
        <p:nvSpPr>
          <p:cNvPr id="17" name="Card 2 Lines"/>
          <p:cNvSpPr txBox="1"/>
          <p:nvPr/>
        </p:nvSpPr>
        <p:spPr>
          <a:xfrm>
            <a:off x="7828598" y="345592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12 ~ 20행</a:t>
            </a:r>
            <a:endParaRPr lang="ko-KR" altLang="en-US" sz="900" dirty="0"/>
          </a:p>
        </p:txBody>
      </p:sp>
      <p:cxnSp>
        <p:nvCxnSpPr>
          <p:cNvPr id="18" name="Arrow 2"/>
          <p:cNvCxnSpPr/>
          <p:nvPr/>
        </p:nvCxnSpPr>
        <p:spPr>
          <a:xfrm>
            <a:off x="7377748" y="3831844"/>
            <a:ext cx="323850" cy="0"/>
          </a:xfrm>
          <a:prstGeom prst="line">
            <a:avLst/>
          </a:prstGeom>
          <a:ln w="15875">
            <a:solidFill>
              <a:srgbClr val="D97706"/>
            </a:solidFill>
            <a:tailEnd type="triangle" w="med" len="med"/>
          </a:ln>
        </p:spPr>
      </p:cxnSp>
      <p:sp>
        <p:nvSpPr>
          <p:cNvPr id="19" name="Badge 2"/>
          <p:cNvSpPr/>
          <p:nvPr/>
        </p:nvSpPr>
        <p:spPr>
          <a:xfrm>
            <a:off x="7161848" y="3723894"/>
            <a:ext cx="215900" cy="215900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2</a:t>
            </a:r>
            <a:endParaRPr lang="ko-KR" altLang="en-US" sz="950" dirty="0"/>
          </a:p>
        </p:txBody>
      </p:sp>
      <p:sp>
        <p:nvSpPr>
          <p:cNvPr id="20" name="File Tag"/>
          <p:cNvSpPr txBox="1"/>
          <p:nvPr/>
        </p:nvSpPr>
        <p:spPr>
          <a:xfrm>
            <a:off x="6214872" y="1345184"/>
            <a:ext cx="5334000" cy="2032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8794AC"/>
                </a:solidFill>
                <a:latin typeface="Consolas"/>
                <a:ea typeface="맑은 고딕"/>
                <a:cs typeface="맑은 고딕"/>
              </a:rPr>
              <a:t>TargetSimCore/src/TargetSim.c  3 ~ 20행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03. 궤적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3.4 기동 찾기와 각속도 코드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17</a:t>
            </a:r>
          </a:p>
        </p:txBody>
      </p:sp>
      <p:pic>
        <p:nvPicPr>
          <p:cNvPr id="7" name="Code Capture" descr="TargetSim.c 22-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92224"/>
            <a:ext cx="6629718" cy="4079240"/>
          </a:xfrm>
          <a:prstGeom prst="rect">
            <a:avLst/>
          </a:prstGeom>
          <a:ln w="9525">
            <a:solidFill>
              <a:srgbClr val="C9D1DD"/>
            </a:solidFill>
          </a:ln>
        </p:spPr>
      </p:pic>
      <p:sp>
        <p:nvSpPr>
          <p:cNvPr id="8" name="Block 3"/>
          <p:cNvSpPr/>
          <p:nvPr/>
        </p:nvSpPr>
        <p:spPr>
          <a:xfrm>
            <a:off x="968692" y="1845564"/>
            <a:ext cx="6250306" cy="619760"/>
          </a:xfrm>
          <a:prstGeom prst="roundRect">
            <a:avLst>
              <a:gd name="adj" fmla="val 6148"/>
            </a:avLst>
          </a:prstGeom>
          <a:solidFill>
            <a:srgbClr val="059669">
              <a:alpha val="9000"/>
            </a:srgbClr>
          </a:solidFill>
          <a:ln w="12700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lock 4"/>
          <p:cNvSpPr/>
          <p:nvPr/>
        </p:nvSpPr>
        <p:spPr>
          <a:xfrm>
            <a:off x="968692" y="2544064"/>
            <a:ext cx="6250306" cy="2684780"/>
          </a:xfrm>
          <a:prstGeom prst="roundRect">
            <a:avLst>
              <a:gd name="adj" fmla="val 1419"/>
            </a:avLst>
          </a:prstGeom>
          <a:solidFill>
            <a:srgbClr val="2563EB">
              <a:alpha val="9000"/>
            </a:srgbClr>
          </a:solidFill>
          <a:ln w="1270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rd 3 Box"/>
          <p:cNvSpPr/>
          <p:nvPr/>
        </p:nvSpPr>
        <p:spPr>
          <a:xfrm>
            <a:off x="7701598" y="1792224"/>
            <a:ext cx="3847274" cy="92964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 w="12700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rd 3 Text"/>
          <p:cNvSpPr txBox="1"/>
          <p:nvPr/>
        </p:nvSpPr>
        <p:spPr>
          <a:xfrm>
            <a:off x="7828598" y="1881124"/>
            <a:ext cx="3593274" cy="73914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059669"/>
                </a:solidFill>
                <a:latin typeface="맑은 고딕"/>
                <a:ea typeface="맑은 고딕"/>
                <a:cs typeface="맑은 고딕"/>
              </a:rPr>
              <a:t>③ G 값을 각속도로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ω = n · g / V (n 은 G 값, g 는 중력가속도).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같은 G 라도 빠른 표적일수록 천천히 돈다.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대공 표적 8.2 G, 200 m/s 면 초당 약 23°.</a:t>
            </a:r>
            <a:endParaRPr lang="ko-KR" altLang="en-US" sz="950" dirty="0"/>
          </a:p>
        </p:txBody>
      </p:sp>
      <p:sp>
        <p:nvSpPr>
          <p:cNvPr id="12" name="Card 3 Lines"/>
          <p:cNvSpPr txBox="1"/>
          <p:nvPr/>
        </p:nvSpPr>
        <p:spPr>
          <a:xfrm>
            <a:off x="7828598" y="188112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22 ~ 25행</a:t>
            </a:r>
            <a:endParaRPr lang="ko-KR" altLang="en-US" sz="900" dirty="0"/>
          </a:p>
        </p:txBody>
      </p:sp>
      <p:cxnSp>
        <p:nvCxnSpPr>
          <p:cNvPr id="13" name="Arrow 3"/>
          <p:cNvCxnSpPr/>
          <p:nvPr/>
        </p:nvCxnSpPr>
        <p:spPr>
          <a:xfrm>
            <a:off x="7377748" y="2155444"/>
            <a:ext cx="323850" cy="0"/>
          </a:xfrm>
          <a:prstGeom prst="line">
            <a:avLst/>
          </a:prstGeom>
          <a:ln w="15875">
            <a:solidFill>
              <a:srgbClr val="059669"/>
            </a:solidFill>
            <a:tailEnd type="triangle" w="med" len="med"/>
          </a:ln>
        </p:spPr>
      </p:cxnSp>
      <p:sp>
        <p:nvSpPr>
          <p:cNvPr id="14" name="Badge 3"/>
          <p:cNvSpPr/>
          <p:nvPr/>
        </p:nvSpPr>
        <p:spPr>
          <a:xfrm>
            <a:off x="7161848" y="2047494"/>
            <a:ext cx="215900" cy="215900"/>
          </a:xfrm>
          <a:prstGeom prst="ellipse">
            <a:avLst/>
          </a:prstGeom>
          <a:solidFill>
            <a:srgbClr val="059669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3</a:t>
            </a:r>
            <a:endParaRPr lang="ko-KR" altLang="en-US" sz="950" dirty="0"/>
          </a:p>
        </p:txBody>
      </p:sp>
      <p:sp>
        <p:nvSpPr>
          <p:cNvPr id="15" name="Card 4 Box"/>
          <p:cNvSpPr/>
          <p:nvPr/>
        </p:nvSpPr>
        <p:spPr>
          <a:xfrm>
            <a:off x="7701598" y="3506724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EBF2FE"/>
          </a:solidFill>
          <a:ln w="1270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rd 4 Text"/>
          <p:cNvSpPr txBox="1"/>
          <p:nvPr/>
        </p:nvSpPr>
        <p:spPr>
          <a:xfrm>
            <a:off x="7828598" y="3595624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④ 기동 축에만 넣기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기동 축에만 ω 를 넣고 나머지 두 축은 0.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회전축이 '없음' 이면 각속도 0 으로 직진한다.</a:t>
            </a:r>
            <a:endParaRPr lang="ko-KR" altLang="en-US" sz="950" dirty="0"/>
          </a:p>
        </p:txBody>
      </p:sp>
      <p:sp>
        <p:nvSpPr>
          <p:cNvPr id="17" name="Card 4 Lines"/>
          <p:cNvSpPr txBox="1"/>
          <p:nvPr/>
        </p:nvSpPr>
        <p:spPr>
          <a:xfrm>
            <a:off x="7828598" y="359562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27 ~ 45행</a:t>
            </a:r>
            <a:endParaRPr lang="ko-KR" altLang="en-US" sz="900" dirty="0"/>
          </a:p>
        </p:txBody>
      </p:sp>
      <p:cxnSp>
        <p:nvCxnSpPr>
          <p:cNvPr id="18" name="Arrow 4"/>
          <p:cNvCxnSpPr/>
          <p:nvPr/>
        </p:nvCxnSpPr>
        <p:spPr>
          <a:xfrm>
            <a:off x="7377748" y="3886454"/>
            <a:ext cx="323850" cy="0"/>
          </a:xfrm>
          <a:prstGeom prst="line">
            <a:avLst/>
          </a:prstGeom>
          <a:ln w="15875">
            <a:solidFill>
              <a:srgbClr val="2563EB"/>
            </a:solidFill>
            <a:tailEnd type="triangle" w="med" len="med"/>
          </a:ln>
        </p:spPr>
      </p:cxnSp>
      <p:sp>
        <p:nvSpPr>
          <p:cNvPr id="19" name="Badge 4"/>
          <p:cNvSpPr/>
          <p:nvPr/>
        </p:nvSpPr>
        <p:spPr>
          <a:xfrm>
            <a:off x="7161848" y="3778504"/>
            <a:ext cx="215900" cy="2159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4</a:t>
            </a:r>
            <a:endParaRPr lang="ko-KR" altLang="en-US" sz="950" dirty="0"/>
          </a:p>
        </p:txBody>
      </p:sp>
      <p:sp>
        <p:nvSpPr>
          <p:cNvPr id="20" name="File Tag"/>
          <p:cNvSpPr txBox="1"/>
          <p:nvPr/>
        </p:nvSpPr>
        <p:spPr>
          <a:xfrm>
            <a:off x="6214872" y="1345184"/>
            <a:ext cx="5334000" cy="2032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8794AC"/>
                </a:solidFill>
                <a:latin typeface="Consolas"/>
                <a:ea typeface="맑은 고딕"/>
                <a:cs typeface="맑은 고딕"/>
              </a:rPr>
              <a:t>TargetSimCore/src/TargetSim.c  22 ~ 49행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03. 궤적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3.8 한 스텝 전진 코드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22</a:t>
            </a:r>
          </a:p>
        </p:txBody>
      </p:sp>
      <p:sp>
        <p:nvSpPr>
          <p:cNvPr id="33" name="Flow Box"/>
          <p:cNvSpPr/>
          <p:nvPr/>
        </p:nvSpPr>
        <p:spPr>
          <a:xfrm>
            <a:off x="640080" y="5655056"/>
            <a:ext cx="10908792" cy="50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Flow Text"/>
          <p:cNvSpPr txBox="1"/>
          <p:nvPr/>
        </p:nvSpPr>
        <p:spPr>
          <a:xfrm>
            <a:off x="817880" y="5655056"/>
            <a:ext cx="10553192" cy="508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f_Tgt_Propagate 한 번     </a:t>
            </a:r>
            <a:r>
              <a:rPr lang="ko-KR" altLang="en-US" sz="105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①② 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자세 (0.05 s 뒤, 0.1 s 뒤)</a:t>
            </a:r>
            <a:r>
              <a:rPr lang="ko-KR" altLang="en-US" sz="105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   →   </a:t>
            </a:r>
            <a:r>
              <a:rPr lang="ko-KR" altLang="en-US" sz="1050" b="1" i="0" dirty="0">
                <a:solidFill>
                  <a:srgbClr val="059669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0.05 s 뒤 위치</a:t>
            </a:r>
            <a:r>
              <a:rPr lang="ko-KR" altLang="en-US" sz="105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   →   </a:t>
            </a:r>
            <a:r>
              <a:rPr lang="ko-KR" altLang="en-US" sz="105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④ 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중간 지점 속도</a:t>
            </a:r>
            <a:r>
              <a:rPr lang="ko-KR" altLang="en-US" sz="105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   →   </a:t>
            </a:r>
            <a:r>
              <a:rPr lang="ko-KR" altLang="en-US" sz="1050" b="1" i="0" dirty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⑤ 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0.1 s 이동</a:t>
            </a:r>
            <a:r>
              <a:rPr lang="ko-KR" altLang="en-US" sz="105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   →   </a:t>
            </a:r>
            <a:r>
              <a:rPr lang="ko-KR" altLang="en-US" sz="105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⑥ 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위경도 · 속도</a:t>
            </a:r>
            <a:r>
              <a:rPr lang="ko-KR" altLang="en-US" sz="105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   →   </a:t>
            </a:r>
            <a:r>
              <a:rPr lang="ko-KR" altLang="en-US" sz="1050" b="1" i="0" dirty="0">
                <a:solidFill>
                  <a:srgbClr val="D97706"/>
                </a:solidFill>
                <a:latin typeface="맑은 고딕"/>
                <a:ea typeface="맑은 고딕"/>
                <a:cs typeface="맑은 고딕"/>
              </a:rPr>
              <a:t>⑦ 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한꺼번에 바꾸기</a:t>
            </a:r>
            <a:endParaRPr lang="ko-KR" altLang="en-US" sz="1000" dirty="0"/>
          </a:p>
        </p:txBody>
      </p:sp>
      <p:pic>
        <p:nvPicPr>
          <p:cNvPr id="7" name="Code Capture" descr="TargetSim.c 105-1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92224"/>
            <a:ext cx="6629718" cy="2542540"/>
          </a:xfrm>
          <a:prstGeom prst="rect">
            <a:avLst/>
          </a:prstGeom>
          <a:ln w="9525">
            <a:solidFill>
              <a:srgbClr val="C9D1DD"/>
            </a:solidFill>
          </a:ln>
        </p:spPr>
      </p:pic>
      <p:sp>
        <p:nvSpPr>
          <p:cNvPr id="8" name="Block 4"/>
          <p:cNvSpPr/>
          <p:nvPr/>
        </p:nvSpPr>
        <p:spPr>
          <a:xfrm>
            <a:off x="968692" y="1845564"/>
            <a:ext cx="6250306" cy="480060"/>
          </a:xfrm>
          <a:prstGeom prst="roundRect">
            <a:avLst>
              <a:gd name="adj" fmla="val 7937"/>
            </a:avLst>
          </a:prstGeom>
          <a:solidFill>
            <a:srgbClr val="2563EB">
              <a:alpha val="9000"/>
            </a:srgbClr>
          </a:solidFill>
          <a:ln w="1270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lock 5"/>
          <p:cNvSpPr/>
          <p:nvPr/>
        </p:nvSpPr>
        <p:spPr>
          <a:xfrm>
            <a:off x="968692" y="2404364"/>
            <a:ext cx="6250306" cy="619760"/>
          </a:xfrm>
          <a:prstGeom prst="roundRect">
            <a:avLst>
              <a:gd name="adj" fmla="val 6148"/>
            </a:avLst>
          </a:prstGeom>
          <a:solidFill>
            <a:srgbClr val="7C3AED">
              <a:alpha val="9000"/>
            </a:srgbClr>
          </a:solidFill>
          <a:ln w="12700">
            <a:solidFill>
              <a:srgbClr val="7C3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lock 6"/>
          <p:cNvSpPr/>
          <p:nvPr/>
        </p:nvSpPr>
        <p:spPr>
          <a:xfrm>
            <a:off x="968692" y="3102864"/>
            <a:ext cx="6250306" cy="759460"/>
          </a:xfrm>
          <a:prstGeom prst="roundRect">
            <a:avLst>
              <a:gd name="adj" fmla="val 5017"/>
            </a:avLst>
          </a:prstGeom>
          <a:solidFill>
            <a:srgbClr val="DC2626">
              <a:alpha val="9000"/>
            </a:srgbClr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lock 7"/>
          <p:cNvSpPr/>
          <p:nvPr/>
        </p:nvSpPr>
        <p:spPr>
          <a:xfrm>
            <a:off x="968692" y="3941064"/>
            <a:ext cx="6250306" cy="170180"/>
          </a:xfrm>
          <a:prstGeom prst="roundRect">
            <a:avLst>
              <a:gd name="adj" fmla="val 22388"/>
            </a:avLst>
          </a:prstGeom>
          <a:solidFill>
            <a:srgbClr val="D97706">
              <a:alpha val="9000"/>
            </a:srgbClr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rd 4 Box"/>
          <p:cNvSpPr/>
          <p:nvPr/>
        </p:nvSpPr>
        <p:spPr>
          <a:xfrm>
            <a:off x="7701598" y="1792224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EBF2FE"/>
          </a:solidFill>
          <a:ln w="1270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rd 4 Text"/>
          <p:cNvSpPr txBox="1"/>
          <p:nvPr/>
        </p:nvSpPr>
        <p:spPr>
          <a:xfrm>
            <a:off x="7828598" y="1881124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④ 중간 지점 속도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0.05 s 뒤 위치 · 자세로 속도를 다시 구한다.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이번 0.1 s 동안의 평균 속도로 쓴다.</a:t>
            </a:r>
            <a:endParaRPr lang="ko-KR" altLang="en-US" sz="950" dirty="0"/>
          </a:p>
        </p:txBody>
      </p:sp>
      <p:sp>
        <p:nvSpPr>
          <p:cNvPr id="14" name="Card 4 Lines"/>
          <p:cNvSpPr txBox="1"/>
          <p:nvPr/>
        </p:nvSpPr>
        <p:spPr>
          <a:xfrm>
            <a:off x="7828598" y="188112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105 ~ 107행</a:t>
            </a:r>
            <a:endParaRPr lang="ko-KR" altLang="en-US" sz="900" dirty="0"/>
          </a:p>
        </p:txBody>
      </p:sp>
      <p:cxnSp>
        <p:nvCxnSpPr>
          <p:cNvPr id="15" name="Arrow 4"/>
          <p:cNvCxnSpPr/>
          <p:nvPr/>
        </p:nvCxnSpPr>
        <p:spPr>
          <a:xfrm>
            <a:off x="7377748" y="2085594"/>
            <a:ext cx="323850" cy="0"/>
          </a:xfrm>
          <a:prstGeom prst="line">
            <a:avLst/>
          </a:prstGeom>
          <a:ln w="15875">
            <a:solidFill>
              <a:srgbClr val="2563EB"/>
            </a:solidFill>
            <a:tailEnd type="triangle" w="med" len="med"/>
          </a:ln>
        </p:spPr>
      </p:cxnSp>
      <p:sp>
        <p:nvSpPr>
          <p:cNvPr id="16" name="Badge 4"/>
          <p:cNvSpPr/>
          <p:nvPr/>
        </p:nvSpPr>
        <p:spPr>
          <a:xfrm>
            <a:off x="7161848" y="1977644"/>
            <a:ext cx="215900" cy="2159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4</a:t>
            </a:r>
            <a:endParaRPr lang="ko-KR" altLang="en-US" sz="950" dirty="0"/>
          </a:p>
        </p:txBody>
      </p:sp>
      <p:sp>
        <p:nvSpPr>
          <p:cNvPr id="17" name="Card 5 Box"/>
          <p:cNvSpPr/>
          <p:nvPr/>
        </p:nvSpPr>
        <p:spPr>
          <a:xfrm>
            <a:off x="7701598" y="2640584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F3EEFE"/>
          </a:solidFill>
          <a:ln w="12700">
            <a:solidFill>
              <a:srgbClr val="7C3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rd 5 Text"/>
          <p:cNvSpPr txBox="1"/>
          <p:nvPr/>
        </p:nvSpPr>
        <p:spPr>
          <a:xfrm>
            <a:off x="7828598" y="2729484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⑤ 0.1 s 이동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시작 위치 + 중간 지점 속도 × 0.1 s.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x, y, z 세 성분에 같은 식을 쓴다.</a:t>
            </a:r>
            <a:endParaRPr lang="ko-KR" altLang="en-US" sz="950" dirty="0"/>
          </a:p>
        </p:txBody>
      </p:sp>
      <p:sp>
        <p:nvSpPr>
          <p:cNvPr id="19" name="Card 5 Lines"/>
          <p:cNvSpPr txBox="1"/>
          <p:nvPr/>
        </p:nvSpPr>
        <p:spPr>
          <a:xfrm>
            <a:off x="7828598" y="272948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109 ~ 112행</a:t>
            </a:r>
            <a:endParaRPr lang="ko-KR" altLang="en-US" sz="900" dirty="0"/>
          </a:p>
        </p:txBody>
      </p:sp>
      <p:cxnSp>
        <p:nvCxnSpPr>
          <p:cNvPr id="20" name="Arrow 5"/>
          <p:cNvCxnSpPr/>
          <p:nvPr/>
        </p:nvCxnSpPr>
        <p:spPr>
          <a:xfrm>
            <a:off x="7377748" y="2714244"/>
            <a:ext cx="323850" cy="110490"/>
          </a:xfrm>
          <a:prstGeom prst="bentConnector3">
            <a:avLst>
              <a:gd name="adj1" fmla="val 72000"/>
            </a:avLst>
          </a:prstGeom>
          <a:ln w="15875">
            <a:solidFill>
              <a:srgbClr val="7C3AED"/>
            </a:solidFill>
            <a:tailEnd type="triangle" w="med" len="med"/>
          </a:ln>
        </p:spPr>
      </p:cxnSp>
      <p:sp>
        <p:nvSpPr>
          <p:cNvPr id="21" name="Badge 5"/>
          <p:cNvSpPr/>
          <p:nvPr/>
        </p:nvSpPr>
        <p:spPr>
          <a:xfrm>
            <a:off x="7161848" y="2606294"/>
            <a:ext cx="215900" cy="2159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5</a:t>
            </a:r>
            <a:endParaRPr lang="ko-KR" altLang="en-US" sz="950" dirty="0"/>
          </a:p>
        </p:txBody>
      </p:sp>
      <p:sp>
        <p:nvSpPr>
          <p:cNvPr id="22" name="Card 6 Box"/>
          <p:cNvSpPr/>
          <p:nvPr/>
        </p:nvSpPr>
        <p:spPr>
          <a:xfrm>
            <a:off x="7701598" y="3488944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rd 6 Text"/>
          <p:cNvSpPr txBox="1"/>
          <p:nvPr/>
        </p:nvSpPr>
        <p:spPr>
          <a:xfrm>
            <a:off x="7828598" y="3577844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⑥ 새 위경도와 속도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옮긴 위치를 위경도로 바꾸고,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0.1 s 뒤 자세로 속도를 다시 구한다.</a:t>
            </a:r>
            <a:endParaRPr lang="ko-KR" altLang="en-US" sz="950" dirty="0"/>
          </a:p>
        </p:txBody>
      </p:sp>
      <p:sp>
        <p:nvSpPr>
          <p:cNvPr id="24" name="Card 6 Lines"/>
          <p:cNvSpPr txBox="1"/>
          <p:nvPr/>
        </p:nvSpPr>
        <p:spPr>
          <a:xfrm>
            <a:off x="7828598" y="357784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114 ~ 117행</a:t>
            </a:r>
            <a:endParaRPr lang="ko-KR" altLang="en-US" sz="900" dirty="0"/>
          </a:p>
        </p:txBody>
      </p:sp>
      <p:cxnSp>
        <p:nvCxnSpPr>
          <p:cNvPr id="25" name="Arrow 6"/>
          <p:cNvCxnSpPr/>
          <p:nvPr/>
        </p:nvCxnSpPr>
        <p:spPr>
          <a:xfrm>
            <a:off x="7377748" y="3482594"/>
            <a:ext cx="323850" cy="190500"/>
          </a:xfrm>
          <a:prstGeom prst="bentConnector3">
            <a:avLst>
              <a:gd name="adj1" fmla="val 50000"/>
            </a:avLst>
          </a:prstGeom>
          <a:ln w="15875">
            <a:solidFill>
              <a:srgbClr val="DC2626"/>
            </a:solidFill>
            <a:tailEnd type="triangle" w="med" len="med"/>
          </a:ln>
        </p:spPr>
      </p:cxnSp>
      <p:sp>
        <p:nvSpPr>
          <p:cNvPr id="26" name="Badge 6"/>
          <p:cNvSpPr/>
          <p:nvPr/>
        </p:nvSpPr>
        <p:spPr>
          <a:xfrm>
            <a:off x="7161848" y="3374644"/>
            <a:ext cx="215900" cy="215900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6</a:t>
            </a:r>
            <a:endParaRPr lang="ko-KR" altLang="en-US" sz="950" dirty="0"/>
          </a:p>
        </p:txBody>
      </p:sp>
      <p:sp>
        <p:nvSpPr>
          <p:cNvPr id="27" name="Card 7 Box"/>
          <p:cNvSpPr/>
          <p:nvPr/>
        </p:nvSpPr>
        <p:spPr>
          <a:xfrm>
            <a:off x="7701598" y="4337304"/>
            <a:ext cx="3847274" cy="759460"/>
          </a:xfrm>
          <a:prstGeom prst="roundRect">
            <a:avLst>
              <a:gd name="adj" fmla="val 6000"/>
            </a:avLst>
          </a:prstGeom>
          <a:solidFill>
            <a:srgbClr val="FEF5E7"/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ard 7 Text"/>
          <p:cNvSpPr txBox="1"/>
          <p:nvPr/>
        </p:nvSpPr>
        <p:spPr>
          <a:xfrm>
            <a:off x="7828598" y="4426204"/>
            <a:ext cx="3593274" cy="5689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D97706"/>
                </a:solidFill>
                <a:latin typeface="맑은 고딕"/>
                <a:ea typeface="맑은 고딕"/>
                <a:cs typeface="맑은 고딕"/>
              </a:rPr>
              <a:t>⑦ 끝에서 한꺼번에 바꾸기</a:t>
            </a:r>
            <a:endParaRPr lang="ko-KR" altLang="en-US" sz="1100" dirty="0"/>
          </a:p>
          <a:p>
            <a:pPr algn="l">
              <a:lnSpc>
                <a:spcPts val="134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계산하는 동안은 시작 값만 읽고,</a:t>
            </a:r>
            <a:endParaRPr lang="ko-KR" altLang="en-US" sz="950" dirty="0"/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끝에서 </a:t>
            </a:r>
            <a:r>
              <a:rPr lang="ko-KR" altLang="en-US" sz="90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st_Next</a:t>
            </a:r>
            <a:r>
              <a:rPr lang="ko-KR" altLang="en-US" sz="9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로 한꺼번에 덮어쓴다.</a:t>
            </a:r>
            <a:endParaRPr lang="ko-KR" altLang="en-US" sz="950" dirty="0"/>
          </a:p>
        </p:txBody>
      </p:sp>
      <p:sp>
        <p:nvSpPr>
          <p:cNvPr id="29" name="Card 7 Lines"/>
          <p:cNvSpPr txBox="1"/>
          <p:nvPr/>
        </p:nvSpPr>
        <p:spPr>
          <a:xfrm>
            <a:off x="7828598" y="4426204"/>
            <a:ext cx="3593274" cy="1905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119행</a:t>
            </a:r>
            <a:endParaRPr lang="ko-KR" altLang="en-US" sz="900" dirty="0"/>
          </a:p>
        </p:txBody>
      </p:sp>
      <p:cxnSp>
        <p:nvCxnSpPr>
          <p:cNvPr id="30" name="Arrow 7"/>
          <p:cNvCxnSpPr/>
          <p:nvPr/>
        </p:nvCxnSpPr>
        <p:spPr>
          <a:xfrm>
            <a:off x="7377748" y="4026154"/>
            <a:ext cx="323850" cy="495300"/>
          </a:xfrm>
          <a:prstGeom prst="bentConnector3">
            <a:avLst>
              <a:gd name="adj1" fmla="val 27999"/>
            </a:avLst>
          </a:prstGeom>
          <a:ln w="15875">
            <a:solidFill>
              <a:srgbClr val="D97706"/>
            </a:solidFill>
            <a:tailEnd type="triangle" w="med" len="med"/>
          </a:ln>
        </p:spPr>
      </p:cxnSp>
      <p:sp>
        <p:nvSpPr>
          <p:cNvPr id="31" name="Badge 7"/>
          <p:cNvSpPr/>
          <p:nvPr/>
        </p:nvSpPr>
        <p:spPr>
          <a:xfrm>
            <a:off x="7161848" y="3918204"/>
            <a:ext cx="215900" cy="215900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7</a:t>
            </a:r>
            <a:endParaRPr lang="ko-KR" altLang="en-US" sz="950" dirty="0"/>
          </a:p>
        </p:txBody>
      </p:sp>
      <p:sp>
        <p:nvSpPr>
          <p:cNvPr id="32" name="File Tag"/>
          <p:cNvSpPr txBox="1"/>
          <p:nvPr/>
        </p:nvSpPr>
        <p:spPr>
          <a:xfrm>
            <a:off x="6214872" y="1345184"/>
            <a:ext cx="5334000" cy="2032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i="0" dirty="0">
                <a:solidFill>
                  <a:srgbClr val="8794AC"/>
                </a:solidFill>
                <a:latin typeface="Consolas"/>
                <a:ea typeface="맑은 고딕"/>
                <a:cs typeface="맑은 고딕"/>
              </a:rPr>
              <a:t>TargetSimCore/src/TargetSim.c  105 ~ 120행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04. 결과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  <a:ea typeface="맑은 고딕"/>
              </a:rPr>
              <a:t>4.5 운용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515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5A7A"/>
                </a:solidFill>
                <a:latin typeface="맑은 고딕"/>
                <a:ea typeface="맑은 고딕"/>
              </a:rPr>
              <a:t>기동 시연 프리셋에서 표적 2(대공)를 고른 화면입니다. 칸을 고치면 바로 다시 계산합니다.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28</a:t>
            </a:r>
          </a:p>
        </p:txBody>
      </p:sp>
      <p:pic>
        <p:nvPicPr>
          <p:cNvPr id="11" name="Picture 10" descr="ui_cl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276" y="2148840"/>
            <a:ext cx="5994400" cy="3553822"/>
          </a:xfrm>
          <a:prstGeom prst="rect">
            <a:avLst/>
          </a:prstGeom>
        </p:spPr>
      </p:pic>
      <p:sp>
        <p:nvSpPr>
          <p:cNvPr id="12" name="UI Frame"/>
          <p:cNvSpPr/>
          <p:nvPr/>
        </p:nvSpPr>
        <p:spPr>
          <a:xfrm>
            <a:off x="3097276" y="2148840"/>
            <a:ext cx="5994400" cy="3553822"/>
          </a:xfrm>
          <a:prstGeom prst="rect">
            <a:avLst/>
          </a:prstGeom>
          <a:noFill/>
          <a:ln w="12700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UI Region 1"/>
          <p:cNvSpPr/>
          <p:nvPr/>
        </p:nvSpPr>
        <p:spPr>
          <a:xfrm>
            <a:off x="3097276" y="2148840"/>
            <a:ext cx="5994400" cy="205522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UI Card 1 Box"/>
          <p:cNvSpPr/>
          <p:nvPr/>
        </p:nvSpPr>
        <p:spPr>
          <a:xfrm>
            <a:off x="640080" y="2148840"/>
            <a:ext cx="2203196" cy="73279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UI Card 1 Text"/>
          <p:cNvSpPr txBox="1"/>
          <p:nvPr/>
        </p:nvSpPr>
        <p:spPr>
          <a:xfrm>
            <a:off x="767080" y="2237740"/>
            <a:ext cx="1949196" cy="54229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① 시나리오 선택</a:t>
            </a:r>
            <a:endParaRPr lang="ko-KR" altLang="en-US" sz="1050" dirty="0"/>
          </a:p>
          <a:p>
            <a:pPr algn="l">
              <a:lnSpc>
                <a:spcPts val="126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명세 · 기동 시연 프리셋을</a:t>
            </a:r>
            <a:endParaRPr lang="ko-KR" altLang="en-US" sz="900" dirty="0"/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불러온다 (</a:t>
            </a:r>
            <a:r>
              <a:rPr lang="ko-KR" altLang="en-US" sz="8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f_LoadPreset</a:t>
            </a:r>
            <a:r>
              <a:rPr lang="ko-KR" altLang="en-US" sz="9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).</a:t>
            </a:r>
            <a:endParaRPr lang="ko-KR" altLang="en-US" sz="900" dirty="0"/>
          </a:p>
        </p:txBody>
      </p:sp>
      <p:cxnSp>
        <p:nvCxnSpPr>
          <p:cNvPr id="16" name="UI Arrow 1"/>
          <p:cNvCxnSpPr/>
          <p:nvPr/>
        </p:nvCxnSpPr>
        <p:spPr>
          <a:xfrm flipH="1">
            <a:off x="2843276" y="2251601"/>
            <a:ext cx="146050" cy="49639"/>
          </a:xfrm>
          <a:prstGeom prst="bentConnector3">
            <a:avLst>
              <a:gd name="adj1" fmla="val 50000"/>
            </a:avLst>
          </a:prstGeom>
          <a:ln w="15875">
            <a:solidFill>
              <a:srgbClr val="DC2626"/>
            </a:solidFill>
            <a:tailEnd type="triangle" w="med" len="med"/>
          </a:ln>
        </p:spPr>
      </p:cxnSp>
      <p:sp>
        <p:nvSpPr>
          <p:cNvPr id="17" name="UI Badge 1"/>
          <p:cNvSpPr/>
          <p:nvPr/>
        </p:nvSpPr>
        <p:spPr>
          <a:xfrm>
            <a:off x="2989326" y="2143651"/>
            <a:ext cx="215900" cy="215900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1</a:t>
            </a:r>
            <a:endParaRPr lang="ko-KR" altLang="en-US" sz="950" dirty="0"/>
          </a:p>
        </p:txBody>
      </p:sp>
      <p:sp>
        <p:nvSpPr>
          <p:cNvPr id="18" name="UI Region 2"/>
          <p:cNvSpPr/>
          <p:nvPr/>
        </p:nvSpPr>
        <p:spPr>
          <a:xfrm>
            <a:off x="3148656" y="2405742"/>
            <a:ext cx="2997200" cy="732172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UI Card 2 Box"/>
          <p:cNvSpPr/>
          <p:nvPr/>
        </p:nvSpPr>
        <p:spPr>
          <a:xfrm>
            <a:off x="640080" y="2983230"/>
            <a:ext cx="2203196" cy="732790"/>
          </a:xfrm>
          <a:prstGeom prst="roundRect">
            <a:avLst>
              <a:gd name="adj" fmla="val 6000"/>
            </a:avLst>
          </a:prstGeom>
          <a:solidFill>
            <a:srgbClr val="FEF5E7"/>
          </a:solidFill>
          <a:ln w="1270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UI Card 2 Text"/>
          <p:cNvSpPr txBox="1"/>
          <p:nvPr/>
        </p:nvSpPr>
        <p:spPr>
          <a:xfrm>
            <a:off x="767080" y="3072130"/>
            <a:ext cx="1949196" cy="54229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D97706"/>
                </a:solidFill>
                <a:latin typeface="맑은 고딕"/>
                <a:ea typeface="맑은 고딕"/>
                <a:cs typeface="맑은 고딕"/>
              </a:rPr>
              <a:t>② 플랫폼 · 표적 표</a:t>
            </a:r>
            <a:endParaRPr lang="ko-KR" altLang="en-US" sz="1050" dirty="0"/>
          </a:p>
          <a:p>
            <a:pPr algn="l">
              <a:lnSpc>
                <a:spcPts val="126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초기값 7 칸을 바로 고친다.</a:t>
            </a:r>
            <a:endParaRPr lang="ko-KR" altLang="en-US" sz="900" dirty="0"/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표적 최대 10 개 (</a:t>
            </a:r>
            <a:r>
              <a:rPr lang="ko-KR" altLang="en-US" sz="8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CGridCtrl</a:t>
            </a:r>
            <a:r>
              <a:rPr lang="ko-KR" altLang="en-US" sz="9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).</a:t>
            </a:r>
            <a:endParaRPr lang="ko-KR" altLang="en-US" sz="900" dirty="0"/>
          </a:p>
        </p:txBody>
      </p:sp>
      <p:cxnSp>
        <p:nvCxnSpPr>
          <p:cNvPr id="21" name="UI Arrow 2"/>
          <p:cNvCxnSpPr/>
          <p:nvPr/>
        </p:nvCxnSpPr>
        <p:spPr>
          <a:xfrm flipH="1">
            <a:off x="2843276" y="2771829"/>
            <a:ext cx="146050" cy="363801"/>
          </a:xfrm>
          <a:prstGeom prst="bentConnector3">
            <a:avLst>
              <a:gd name="adj1" fmla="val 50000"/>
            </a:avLst>
          </a:prstGeom>
          <a:ln w="15875">
            <a:solidFill>
              <a:srgbClr val="D97706"/>
            </a:solidFill>
            <a:tailEnd type="triangle" w="med" len="med"/>
          </a:ln>
        </p:spPr>
      </p:cxnSp>
      <p:sp>
        <p:nvSpPr>
          <p:cNvPr id="22" name="UI Badge 2"/>
          <p:cNvSpPr/>
          <p:nvPr/>
        </p:nvSpPr>
        <p:spPr>
          <a:xfrm>
            <a:off x="2989326" y="2663879"/>
            <a:ext cx="215900" cy="215900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2</a:t>
            </a:r>
            <a:endParaRPr lang="ko-KR" altLang="en-US" sz="950" dirty="0"/>
          </a:p>
        </p:txBody>
      </p:sp>
      <p:sp>
        <p:nvSpPr>
          <p:cNvPr id="23" name="UI Region 3"/>
          <p:cNvSpPr/>
          <p:nvPr/>
        </p:nvSpPr>
        <p:spPr>
          <a:xfrm>
            <a:off x="3148656" y="3180732"/>
            <a:ext cx="2997200" cy="2470548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UI Card 3 Box"/>
          <p:cNvSpPr/>
          <p:nvPr/>
        </p:nvSpPr>
        <p:spPr>
          <a:xfrm>
            <a:off x="640080" y="4049612"/>
            <a:ext cx="2203196" cy="73279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 w="12700">
            <a:solidFill>
              <a:srgbClr val="0596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UI Card 3 Text"/>
          <p:cNvSpPr txBox="1"/>
          <p:nvPr/>
        </p:nvSpPr>
        <p:spPr>
          <a:xfrm>
            <a:off x="767080" y="4138512"/>
            <a:ext cx="1949196" cy="54229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059669"/>
                </a:solidFill>
                <a:latin typeface="맑은 고딕"/>
                <a:ea typeface="맑은 고딕"/>
                <a:cs typeface="맑은 고딕"/>
              </a:rPr>
              <a:t>③ 기동 표</a:t>
            </a:r>
            <a:endParaRPr lang="ko-KR" altLang="en-US" sz="1050" dirty="0"/>
          </a:p>
          <a:p>
            <a:pPr algn="l">
              <a:lnSpc>
                <a:spcPts val="126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고른 표적의 기동, 최대 30 개.</a:t>
            </a:r>
            <a:endParaRPr lang="ko-KR" altLang="en-US" sz="900" dirty="0"/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축 · G · 시작 · 종료를 고친다.</a:t>
            </a:r>
            <a:endParaRPr lang="ko-KR" altLang="en-US" sz="900" dirty="0"/>
          </a:p>
        </p:txBody>
      </p:sp>
      <p:cxnSp>
        <p:nvCxnSpPr>
          <p:cNvPr id="26" name="UI Arrow 3"/>
          <p:cNvCxnSpPr/>
          <p:nvPr/>
        </p:nvCxnSpPr>
        <p:spPr>
          <a:xfrm flipH="1">
            <a:off x="2843276" y="4416007"/>
            <a:ext cx="146050" cy="0"/>
          </a:xfrm>
          <a:prstGeom prst="line">
            <a:avLst/>
          </a:prstGeom>
          <a:ln w="15875">
            <a:solidFill>
              <a:srgbClr val="059669"/>
            </a:solidFill>
            <a:tailEnd type="triangle" w="med" len="med"/>
          </a:ln>
        </p:spPr>
      </p:cxnSp>
      <p:sp>
        <p:nvSpPr>
          <p:cNvPr id="27" name="UI Badge 3"/>
          <p:cNvSpPr/>
          <p:nvPr/>
        </p:nvSpPr>
        <p:spPr>
          <a:xfrm>
            <a:off x="2989326" y="4308057"/>
            <a:ext cx="215900" cy="215900"/>
          </a:xfrm>
          <a:prstGeom prst="ellipse">
            <a:avLst/>
          </a:prstGeom>
          <a:solidFill>
            <a:srgbClr val="059669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3</a:t>
            </a:r>
            <a:endParaRPr lang="ko-KR" altLang="en-US" sz="950" dirty="0"/>
          </a:p>
        </p:txBody>
      </p:sp>
      <p:sp>
        <p:nvSpPr>
          <p:cNvPr id="28" name="UI Region 4"/>
          <p:cNvSpPr/>
          <p:nvPr/>
        </p:nvSpPr>
        <p:spPr>
          <a:xfrm>
            <a:off x="6188673" y="2405742"/>
            <a:ext cx="2851621" cy="1943897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UI Card 4 Box"/>
          <p:cNvSpPr/>
          <p:nvPr/>
        </p:nvSpPr>
        <p:spPr>
          <a:xfrm>
            <a:off x="9345676" y="3011296"/>
            <a:ext cx="2203196" cy="732790"/>
          </a:xfrm>
          <a:prstGeom prst="roundRect">
            <a:avLst>
              <a:gd name="adj" fmla="val 6000"/>
            </a:avLst>
          </a:prstGeom>
          <a:solidFill>
            <a:srgbClr val="EBF2FE"/>
          </a:solidFill>
          <a:ln w="1270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UI Card 4 Text"/>
          <p:cNvSpPr txBox="1"/>
          <p:nvPr/>
        </p:nvSpPr>
        <p:spPr>
          <a:xfrm>
            <a:off x="9472676" y="3100196"/>
            <a:ext cx="1949196" cy="54229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④ 궤적 · 고도 그림</a:t>
            </a:r>
            <a:endParaRPr lang="ko-KR" altLang="en-US" sz="1050" dirty="0"/>
          </a:p>
          <a:p>
            <a:pPr algn="l">
              <a:lnSpc>
                <a:spcPts val="126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플랫폼 기준 동-북 평면과</a:t>
            </a:r>
            <a:endParaRPr lang="ko-KR" altLang="en-US" sz="900" dirty="0"/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고도-시각 (</a:t>
            </a:r>
            <a:r>
              <a:rPr lang="ko-KR" altLang="en-US" sz="8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CTrajectoryPlot</a:t>
            </a:r>
            <a:r>
              <a:rPr lang="ko-KR" altLang="en-US" sz="9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).</a:t>
            </a:r>
            <a:endParaRPr lang="ko-KR" altLang="en-US" sz="900" dirty="0"/>
          </a:p>
        </p:txBody>
      </p:sp>
      <p:cxnSp>
        <p:nvCxnSpPr>
          <p:cNvPr id="31" name="UI Arrow 4"/>
          <p:cNvCxnSpPr/>
          <p:nvPr/>
        </p:nvCxnSpPr>
        <p:spPr>
          <a:xfrm>
            <a:off x="9199626" y="3377691"/>
            <a:ext cx="146050" cy="0"/>
          </a:xfrm>
          <a:prstGeom prst="line">
            <a:avLst/>
          </a:prstGeom>
          <a:ln w="15875">
            <a:solidFill>
              <a:srgbClr val="2563EB"/>
            </a:solidFill>
            <a:tailEnd type="triangle" w="med" len="med"/>
          </a:ln>
        </p:spPr>
      </p:cxnSp>
      <p:sp>
        <p:nvSpPr>
          <p:cNvPr id="32" name="UI Badge 4"/>
          <p:cNvSpPr/>
          <p:nvPr/>
        </p:nvSpPr>
        <p:spPr>
          <a:xfrm>
            <a:off x="8983726" y="3269741"/>
            <a:ext cx="215900" cy="2159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4</a:t>
            </a:r>
            <a:endParaRPr lang="ko-KR" altLang="en-US" sz="950" dirty="0"/>
          </a:p>
        </p:txBody>
      </p:sp>
      <p:sp>
        <p:nvSpPr>
          <p:cNvPr id="33" name="UI Region 5"/>
          <p:cNvSpPr/>
          <p:nvPr/>
        </p:nvSpPr>
        <p:spPr>
          <a:xfrm>
            <a:off x="6188673" y="4392457"/>
            <a:ext cx="2851621" cy="1258823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7C3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UI Card 5 Box"/>
          <p:cNvSpPr/>
          <p:nvPr/>
        </p:nvSpPr>
        <p:spPr>
          <a:xfrm>
            <a:off x="9345676" y="4655474"/>
            <a:ext cx="2203196" cy="732790"/>
          </a:xfrm>
          <a:prstGeom prst="roundRect">
            <a:avLst>
              <a:gd name="adj" fmla="val 6000"/>
            </a:avLst>
          </a:prstGeom>
          <a:solidFill>
            <a:srgbClr val="F3EEFE"/>
          </a:solidFill>
          <a:ln w="12700">
            <a:solidFill>
              <a:srgbClr val="7C3A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UI Card 5 Text"/>
          <p:cNvSpPr txBox="1"/>
          <p:nvPr/>
        </p:nvSpPr>
        <p:spPr>
          <a:xfrm>
            <a:off x="9472676" y="4744374"/>
            <a:ext cx="1949196" cy="54229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⑤ 결과 표 · CSV</a:t>
            </a:r>
            <a:endParaRPr lang="ko-KR" altLang="en-US" sz="1050" dirty="0"/>
          </a:p>
          <a:p>
            <a:pPr algn="l">
              <a:lnSpc>
                <a:spcPts val="126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시각별 위도 · 경도 · 고도 601 행.</a:t>
            </a:r>
            <a:endParaRPr lang="ko-KR" altLang="en-US" sz="900" dirty="0"/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CSV 저장 (</a:t>
            </a:r>
            <a:r>
              <a:rPr lang="ko-KR" altLang="en-US" sz="8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f_WriteCsv</a:t>
            </a:r>
            <a:r>
              <a:rPr lang="ko-KR" altLang="en-US" sz="9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).</a:t>
            </a:r>
            <a:endParaRPr lang="ko-KR" altLang="en-US" sz="900" dirty="0"/>
          </a:p>
        </p:txBody>
      </p:sp>
      <p:cxnSp>
        <p:nvCxnSpPr>
          <p:cNvPr id="36" name="UI Arrow 5"/>
          <p:cNvCxnSpPr/>
          <p:nvPr/>
        </p:nvCxnSpPr>
        <p:spPr>
          <a:xfrm>
            <a:off x="9199626" y="5021869"/>
            <a:ext cx="146050" cy="0"/>
          </a:xfrm>
          <a:prstGeom prst="line">
            <a:avLst/>
          </a:prstGeom>
          <a:ln w="15875">
            <a:solidFill>
              <a:srgbClr val="7C3AED"/>
            </a:solidFill>
            <a:tailEnd type="triangle" w="med" len="med"/>
          </a:ln>
        </p:spPr>
      </p:cxnSp>
      <p:sp>
        <p:nvSpPr>
          <p:cNvPr id="37" name="UI Badge 5"/>
          <p:cNvSpPr/>
          <p:nvPr/>
        </p:nvSpPr>
        <p:spPr>
          <a:xfrm>
            <a:off x="8983726" y="4913919"/>
            <a:ext cx="215900" cy="2159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i="0" dirty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5</a:t>
            </a:r>
            <a:endParaRPr lang="ko-KR" altLang="en-US" sz="950" dirty="0"/>
          </a:p>
        </p:txBody>
      </p:sp>
      <p:sp>
        <p:nvSpPr>
          <p:cNvPr id="38" name="UI Note Box"/>
          <p:cNvSpPr/>
          <p:nvPr/>
        </p:nvSpPr>
        <p:spPr>
          <a:xfrm>
            <a:off x="640080" y="5816962"/>
            <a:ext cx="10908792" cy="346094"/>
          </a:xfrm>
          <a:prstGeom prst="rect">
            <a:avLst/>
          </a:prstGeom>
          <a:solidFill>
            <a:srgbClr val="F7F9FC"/>
          </a:solidFill>
          <a:ln w="12700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UI Note"/>
          <p:cNvSpPr txBox="1"/>
          <p:nvPr/>
        </p:nvSpPr>
        <p:spPr>
          <a:xfrm>
            <a:off x="792480" y="5816962"/>
            <a:ext cx="10603992" cy="34609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칸을 고치면  </a:t>
            </a:r>
            <a:r>
              <a:rPr lang="ko-KR" altLang="en-US" sz="9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f_RunScenario </a:t>
            </a:r>
            <a:r>
              <a:rPr lang="ko-KR" altLang="en-US" sz="95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lang="ko-KR" altLang="en-US" sz="9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 CScenario::f_BuildConfig </a:t>
            </a:r>
            <a:r>
              <a:rPr lang="ko-KR" altLang="en-US" sz="95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lang="ko-KR" altLang="en-US" sz="950" b="0" i="0" dirty="0">
                <a:solidFill>
                  <a:srgbClr val="1B2740"/>
                </a:solidFill>
                <a:latin typeface="Consolas"/>
                <a:ea typeface="맑은 고딕"/>
                <a:cs typeface="맑은 고딕"/>
              </a:rPr>
              <a:t> CSimResult::f_Run</a:t>
            </a:r>
            <a:r>
              <a:rPr lang="ko-KR" altLang="en-US" sz="10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 순서로 전 구간을 다시 계산하고 그림 · 표를 새로 그린다.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04. 결과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43584"/>
            <a:ext cx="1045159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740"/>
                </a:solidFill>
                <a:latin typeface="맑은 고딕"/>
              </a:rPr>
              <a:t>4.3 기동 시연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515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5A7A"/>
                </a:solidFill>
                <a:latin typeface="맑은 고딕"/>
                <a:ea typeface="맑은 고딕"/>
              </a:rPr>
              <a:t>과제 속력(대함 30 m/s, 대공 200 m/s)으로 G 값마다 도는 데 걸리는 시간을 계산해 지그재그 기동을 정했습니다.</a:t>
            </a:r>
          </a:p>
        </p:txBody>
      </p:sp>
      <p:sp>
        <p:nvSpPr>
          <p:cNvPr id="8" name="Formula Box"/>
          <p:cNvSpPr/>
          <p:nvPr/>
        </p:nvSpPr>
        <p:spPr>
          <a:xfrm>
            <a:off x="640080" y="2157984"/>
            <a:ext cx="10908792" cy="381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2D9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Formula Text"/>
          <p:cNvSpPr txBox="1"/>
          <p:nvPr/>
        </p:nvSpPr>
        <p:spPr>
          <a:xfrm>
            <a:off x="817880" y="2157984"/>
            <a:ext cx="10553192" cy="381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각속도  </a:t>
            </a:r>
            <a:r>
              <a:rPr lang="ko-KR" altLang="en-US" sz="12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ω = n · g / V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           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θ 만큼 도는 시간  </a:t>
            </a:r>
            <a:r>
              <a:rPr lang="ko-KR" altLang="en-US" sz="12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T = θ / ω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           </a:t>
            </a:r>
            <a:r>
              <a:rPr lang="ko-KR" altLang="en-US" sz="105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선회 반경  </a:t>
            </a:r>
            <a:r>
              <a:rPr lang="ko-KR" altLang="en-US" sz="125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R = V / ω</a:t>
            </a:r>
            <a:r>
              <a:rPr lang="ko-KR" altLang="en-US" sz="950" b="0" i="0" dirty="0">
                <a:solidFill>
                  <a:srgbClr val="6B7890"/>
                </a:solidFill>
                <a:latin typeface="맑은 고딕"/>
                <a:ea typeface="맑은 고딕"/>
                <a:cs typeface="맑은 고딕"/>
              </a:rPr>
              <a:t>            n : G 값,  g = 9.80665 m/s²,  V : 속력</a:t>
            </a:r>
            <a:endParaRPr lang="ko-KR" altLang="en-US" sz="1000" dirty="0"/>
          </a:p>
        </p:txBody>
      </p:sp>
      <p:sp>
        <p:nvSpPr>
          <p:cNvPr id="10" name="대함 표적 Title"/>
          <p:cNvSpPr txBox="1"/>
          <p:nvPr/>
        </p:nvSpPr>
        <p:spPr>
          <a:xfrm>
            <a:off x="640080" y="2742184"/>
            <a:ext cx="5301996" cy="254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대함 표적</a:t>
            </a:r>
            <a:r>
              <a:rPr lang="ko-KR" altLang="en-US" sz="11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  V = 30 m/s</a:t>
            </a:r>
            <a:endParaRPr lang="ko-KR" altLang="en-US" sz="1000" dirty="0"/>
          </a:p>
        </p:txBody>
      </p:sp>
      <p:sp>
        <p:nvSpPr>
          <p:cNvPr id="11" name="대함 표적 Head"/>
          <p:cNvSpPr/>
          <p:nvPr/>
        </p:nvSpPr>
        <p:spPr>
          <a:xfrm>
            <a:off x="640080" y="3046984"/>
            <a:ext cx="5301996" cy="31750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대함 표적 Head G"/>
          <p:cNvSpPr txBox="1"/>
          <p:nvPr/>
        </p:nvSpPr>
        <p:spPr>
          <a:xfrm>
            <a:off x="640080" y="3046984"/>
            <a:ext cx="74227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</a:t>
            </a:r>
            <a:endParaRPr lang="ko-KR" altLang="en-US" sz="1000" dirty="0"/>
          </a:p>
        </p:txBody>
      </p:sp>
      <p:sp>
        <p:nvSpPr>
          <p:cNvPr id="13" name="대함 표적 Head 초당 회전"/>
          <p:cNvSpPr txBox="1"/>
          <p:nvPr/>
        </p:nvSpPr>
        <p:spPr>
          <a:xfrm>
            <a:off x="1382359" y="3046984"/>
            <a:ext cx="84831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초당 회전</a:t>
            </a:r>
            <a:endParaRPr lang="ko-KR" altLang="en-US" sz="1000" dirty="0"/>
          </a:p>
        </p:txBody>
      </p:sp>
      <p:sp>
        <p:nvSpPr>
          <p:cNvPr id="14" name="대함 표적 Head 한 바퀴 360°"/>
          <p:cNvSpPr txBox="1"/>
          <p:nvPr/>
        </p:nvSpPr>
        <p:spPr>
          <a:xfrm>
            <a:off x="2230678" y="3046984"/>
            <a:ext cx="10603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바퀴 360°</a:t>
            </a:r>
            <a:endParaRPr lang="ko-KR" altLang="en-US" sz="1000" dirty="0"/>
          </a:p>
        </p:txBody>
      </p:sp>
      <p:sp>
        <p:nvSpPr>
          <p:cNvPr id="15" name="대함 표적 Head 90°"/>
          <p:cNvSpPr txBox="1"/>
          <p:nvPr/>
        </p:nvSpPr>
        <p:spPr>
          <a:xfrm>
            <a:off x="3291077" y="30469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90°</a:t>
            </a:r>
            <a:endParaRPr lang="ko-KR" altLang="en-US" sz="1000" dirty="0"/>
          </a:p>
        </p:txBody>
      </p:sp>
      <p:sp>
        <p:nvSpPr>
          <p:cNvPr id="16" name="대함 표적 Head 45°"/>
          <p:cNvSpPr txBox="1"/>
          <p:nvPr/>
        </p:nvSpPr>
        <p:spPr>
          <a:xfrm>
            <a:off x="4086376" y="30469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45°</a:t>
            </a:r>
            <a:endParaRPr lang="ko-KR" altLang="en-US" sz="1000" dirty="0"/>
          </a:p>
        </p:txBody>
      </p:sp>
      <p:sp>
        <p:nvSpPr>
          <p:cNvPr id="17" name="대함 표적 Head 선회 반경"/>
          <p:cNvSpPr txBox="1"/>
          <p:nvPr/>
        </p:nvSpPr>
        <p:spPr>
          <a:xfrm>
            <a:off x="4881675" y="3046984"/>
            <a:ext cx="1060401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선회 반경</a:t>
            </a:r>
            <a:endParaRPr lang="ko-KR" altLang="en-US" sz="1000" dirty="0"/>
          </a:p>
        </p:txBody>
      </p:sp>
      <p:sp>
        <p:nvSpPr>
          <p:cNvPr id="18" name="대함 표적 Row 1"/>
          <p:cNvSpPr/>
          <p:nvPr/>
        </p:nvSpPr>
        <p:spPr>
          <a:xfrm>
            <a:off x="640080" y="3364484"/>
            <a:ext cx="5301996" cy="317500"/>
          </a:xfrm>
          <a:prstGeom prst="rect">
            <a:avLst/>
          </a:prstGeom>
          <a:solidFill>
            <a:srgbClr val="EDF0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대함 표적 Cell 1-1"/>
          <p:cNvSpPr txBox="1"/>
          <p:nvPr/>
        </p:nvSpPr>
        <p:spPr>
          <a:xfrm>
            <a:off x="640080" y="3364484"/>
            <a:ext cx="74227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0.5 G</a:t>
            </a:r>
            <a:endParaRPr lang="ko-KR" altLang="en-US" sz="1000" dirty="0"/>
          </a:p>
        </p:txBody>
      </p:sp>
      <p:sp>
        <p:nvSpPr>
          <p:cNvPr id="20" name="대함 표적 Cell 1-2"/>
          <p:cNvSpPr txBox="1"/>
          <p:nvPr/>
        </p:nvSpPr>
        <p:spPr>
          <a:xfrm>
            <a:off x="1382359" y="3364484"/>
            <a:ext cx="84831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9.4°</a:t>
            </a:r>
            <a:endParaRPr lang="ko-KR" altLang="en-US" sz="1000" dirty="0"/>
          </a:p>
        </p:txBody>
      </p:sp>
      <p:sp>
        <p:nvSpPr>
          <p:cNvPr id="21" name="대함 표적 Cell 1-3"/>
          <p:cNvSpPr txBox="1"/>
          <p:nvPr/>
        </p:nvSpPr>
        <p:spPr>
          <a:xfrm>
            <a:off x="2230678" y="3364484"/>
            <a:ext cx="10603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38.4 s</a:t>
            </a:r>
            <a:endParaRPr lang="ko-KR" altLang="en-US" sz="1000" dirty="0"/>
          </a:p>
        </p:txBody>
      </p:sp>
      <p:sp>
        <p:nvSpPr>
          <p:cNvPr id="22" name="대함 표적 Cell 1-4"/>
          <p:cNvSpPr txBox="1"/>
          <p:nvPr/>
        </p:nvSpPr>
        <p:spPr>
          <a:xfrm>
            <a:off x="3291077" y="33644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9.6 s</a:t>
            </a:r>
            <a:endParaRPr lang="ko-KR" altLang="en-US" sz="1000" dirty="0"/>
          </a:p>
        </p:txBody>
      </p:sp>
      <p:sp>
        <p:nvSpPr>
          <p:cNvPr id="23" name="대함 표적 Cell 1-5"/>
          <p:cNvSpPr txBox="1"/>
          <p:nvPr/>
        </p:nvSpPr>
        <p:spPr>
          <a:xfrm>
            <a:off x="4086376" y="33644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4.8 s</a:t>
            </a:r>
            <a:endParaRPr lang="ko-KR" altLang="en-US" sz="1000" dirty="0"/>
          </a:p>
        </p:txBody>
      </p:sp>
      <p:sp>
        <p:nvSpPr>
          <p:cNvPr id="24" name="대함 표적 Cell 1-6"/>
          <p:cNvSpPr txBox="1"/>
          <p:nvPr/>
        </p:nvSpPr>
        <p:spPr>
          <a:xfrm>
            <a:off x="4881675" y="3364484"/>
            <a:ext cx="1060401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184 m</a:t>
            </a:r>
            <a:endParaRPr lang="ko-KR" altLang="en-US" sz="1000" dirty="0"/>
          </a:p>
        </p:txBody>
      </p:sp>
      <p:sp>
        <p:nvSpPr>
          <p:cNvPr id="25" name="대함 표적 Use"/>
          <p:cNvSpPr/>
          <p:nvPr/>
        </p:nvSpPr>
        <p:spPr>
          <a:xfrm>
            <a:off x="640080" y="3694684"/>
            <a:ext cx="5301996" cy="292100"/>
          </a:xfrm>
          <a:prstGeom prst="roundRect">
            <a:avLst>
              <a:gd name="adj" fmla="val 12000"/>
            </a:avLst>
          </a:prstGeom>
          <a:solidFill>
            <a:srgbClr val="EBF2FE"/>
          </a:solidFill>
          <a:ln w="1270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대함 표적 Cell 2-1"/>
          <p:cNvSpPr txBox="1"/>
          <p:nvPr/>
        </p:nvSpPr>
        <p:spPr>
          <a:xfrm>
            <a:off x="640080" y="3681984"/>
            <a:ext cx="74227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 G</a:t>
            </a:r>
            <a:endParaRPr lang="ko-KR" altLang="en-US" sz="1000" dirty="0"/>
          </a:p>
        </p:txBody>
      </p:sp>
      <p:sp>
        <p:nvSpPr>
          <p:cNvPr id="27" name="대함 표적 Cell 2-2"/>
          <p:cNvSpPr txBox="1"/>
          <p:nvPr/>
        </p:nvSpPr>
        <p:spPr>
          <a:xfrm>
            <a:off x="1382359" y="3681984"/>
            <a:ext cx="84831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18.7°</a:t>
            </a:r>
            <a:endParaRPr lang="ko-KR" altLang="en-US" sz="1000" dirty="0"/>
          </a:p>
        </p:txBody>
      </p:sp>
      <p:sp>
        <p:nvSpPr>
          <p:cNvPr id="28" name="대함 표적 Cell 2-3"/>
          <p:cNvSpPr txBox="1"/>
          <p:nvPr/>
        </p:nvSpPr>
        <p:spPr>
          <a:xfrm>
            <a:off x="2230678" y="3681984"/>
            <a:ext cx="10603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19.2 s</a:t>
            </a:r>
            <a:endParaRPr lang="ko-KR" altLang="en-US" sz="1000" dirty="0"/>
          </a:p>
        </p:txBody>
      </p:sp>
      <p:sp>
        <p:nvSpPr>
          <p:cNvPr id="29" name="대함 표적 Cell 2-4"/>
          <p:cNvSpPr txBox="1"/>
          <p:nvPr/>
        </p:nvSpPr>
        <p:spPr>
          <a:xfrm>
            <a:off x="3291077" y="36819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4.8 s</a:t>
            </a:r>
            <a:endParaRPr lang="ko-KR" altLang="en-US" sz="1000" dirty="0"/>
          </a:p>
        </p:txBody>
      </p:sp>
      <p:sp>
        <p:nvSpPr>
          <p:cNvPr id="30" name="대함 표적 Cell 2-5"/>
          <p:cNvSpPr txBox="1"/>
          <p:nvPr/>
        </p:nvSpPr>
        <p:spPr>
          <a:xfrm>
            <a:off x="4086376" y="36819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2.4 s</a:t>
            </a:r>
            <a:endParaRPr lang="ko-KR" altLang="en-US" sz="1000" dirty="0"/>
          </a:p>
        </p:txBody>
      </p:sp>
      <p:sp>
        <p:nvSpPr>
          <p:cNvPr id="31" name="대함 표적 Cell 2-6"/>
          <p:cNvSpPr txBox="1"/>
          <p:nvPr/>
        </p:nvSpPr>
        <p:spPr>
          <a:xfrm>
            <a:off x="4881675" y="3681984"/>
            <a:ext cx="1060401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92 m</a:t>
            </a:r>
            <a:endParaRPr lang="ko-KR" altLang="en-US" sz="1000" dirty="0"/>
          </a:p>
        </p:txBody>
      </p:sp>
      <p:sp>
        <p:nvSpPr>
          <p:cNvPr id="32" name="대함 표적 Row 3"/>
          <p:cNvSpPr/>
          <p:nvPr/>
        </p:nvSpPr>
        <p:spPr>
          <a:xfrm>
            <a:off x="640080" y="3999484"/>
            <a:ext cx="5301996" cy="317500"/>
          </a:xfrm>
          <a:prstGeom prst="rect">
            <a:avLst/>
          </a:prstGeom>
          <a:solidFill>
            <a:srgbClr val="EDF0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대함 표적 Cell 3-1"/>
          <p:cNvSpPr txBox="1"/>
          <p:nvPr/>
        </p:nvSpPr>
        <p:spPr>
          <a:xfrm>
            <a:off x="640080" y="3999484"/>
            <a:ext cx="74227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2 G</a:t>
            </a:r>
            <a:endParaRPr lang="ko-KR" altLang="en-US" sz="1000" dirty="0"/>
          </a:p>
        </p:txBody>
      </p:sp>
      <p:sp>
        <p:nvSpPr>
          <p:cNvPr id="34" name="대함 표적 Cell 3-2"/>
          <p:cNvSpPr txBox="1"/>
          <p:nvPr/>
        </p:nvSpPr>
        <p:spPr>
          <a:xfrm>
            <a:off x="1382359" y="3999484"/>
            <a:ext cx="84831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37.5°</a:t>
            </a:r>
            <a:endParaRPr lang="ko-KR" altLang="en-US" sz="1000" dirty="0"/>
          </a:p>
        </p:txBody>
      </p:sp>
      <p:sp>
        <p:nvSpPr>
          <p:cNvPr id="35" name="대함 표적 Cell 3-3"/>
          <p:cNvSpPr txBox="1"/>
          <p:nvPr/>
        </p:nvSpPr>
        <p:spPr>
          <a:xfrm>
            <a:off x="2230678" y="3999484"/>
            <a:ext cx="10603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9.6 s</a:t>
            </a:r>
            <a:endParaRPr lang="ko-KR" altLang="en-US" sz="1000" dirty="0"/>
          </a:p>
        </p:txBody>
      </p:sp>
      <p:sp>
        <p:nvSpPr>
          <p:cNvPr id="36" name="대함 표적 Cell 3-4"/>
          <p:cNvSpPr txBox="1"/>
          <p:nvPr/>
        </p:nvSpPr>
        <p:spPr>
          <a:xfrm>
            <a:off x="3291077" y="39994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2.4 s</a:t>
            </a:r>
            <a:endParaRPr lang="ko-KR" altLang="en-US" sz="1000" dirty="0"/>
          </a:p>
        </p:txBody>
      </p:sp>
      <p:sp>
        <p:nvSpPr>
          <p:cNvPr id="37" name="대함 표적 Cell 3-5"/>
          <p:cNvSpPr txBox="1"/>
          <p:nvPr/>
        </p:nvSpPr>
        <p:spPr>
          <a:xfrm>
            <a:off x="4086376" y="39994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1.2 s</a:t>
            </a:r>
            <a:endParaRPr lang="ko-KR" altLang="en-US" sz="1000" dirty="0"/>
          </a:p>
        </p:txBody>
      </p:sp>
      <p:sp>
        <p:nvSpPr>
          <p:cNvPr id="38" name="대함 표적 Cell 3-6"/>
          <p:cNvSpPr txBox="1"/>
          <p:nvPr/>
        </p:nvSpPr>
        <p:spPr>
          <a:xfrm>
            <a:off x="4881675" y="3999484"/>
            <a:ext cx="1060401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46 m</a:t>
            </a:r>
            <a:endParaRPr lang="ko-KR" altLang="en-US" sz="1000" dirty="0"/>
          </a:p>
        </p:txBody>
      </p:sp>
      <p:sp>
        <p:nvSpPr>
          <p:cNvPr id="39" name="대함 표적 Cell 4-1"/>
          <p:cNvSpPr txBox="1"/>
          <p:nvPr/>
        </p:nvSpPr>
        <p:spPr>
          <a:xfrm>
            <a:off x="640080" y="4316984"/>
            <a:ext cx="74227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4 G</a:t>
            </a:r>
            <a:endParaRPr lang="ko-KR" altLang="en-US" sz="1000" dirty="0"/>
          </a:p>
        </p:txBody>
      </p:sp>
      <p:sp>
        <p:nvSpPr>
          <p:cNvPr id="40" name="대함 표적 Cell 4-2"/>
          <p:cNvSpPr txBox="1"/>
          <p:nvPr/>
        </p:nvSpPr>
        <p:spPr>
          <a:xfrm>
            <a:off x="1382359" y="4316984"/>
            <a:ext cx="84831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74.9°</a:t>
            </a:r>
            <a:endParaRPr lang="ko-KR" altLang="en-US" sz="1000" dirty="0"/>
          </a:p>
        </p:txBody>
      </p:sp>
      <p:sp>
        <p:nvSpPr>
          <p:cNvPr id="41" name="대함 표적 Cell 4-3"/>
          <p:cNvSpPr txBox="1"/>
          <p:nvPr/>
        </p:nvSpPr>
        <p:spPr>
          <a:xfrm>
            <a:off x="2230678" y="4316984"/>
            <a:ext cx="10603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4.8 s</a:t>
            </a:r>
            <a:endParaRPr lang="ko-KR" altLang="en-US" sz="1000" dirty="0"/>
          </a:p>
        </p:txBody>
      </p:sp>
      <p:sp>
        <p:nvSpPr>
          <p:cNvPr id="42" name="대함 표적 Cell 4-4"/>
          <p:cNvSpPr txBox="1"/>
          <p:nvPr/>
        </p:nvSpPr>
        <p:spPr>
          <a:xfrm>
            <a:off x="3291077" y="43169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1.2 s</a:t>
            </a:r>
            <a:endParaRPr lang="ko-KR" altLang="en-US" sz="1000" dirty="0"/>
          </a:p>
        </p:txBody>
      </p:sp>
      <p:sp>
        <p:nvSpPr>
          <p:cNvPr id="43" name="대함 표적 Cell 4-5"/>
          <p:cNvSpPr txBox="1"/>
          <p:nvPr/>
        </p:nvSpPr>
        <p:spPr>
          <a:xfrm>
            <a:off x="4086376" y="43169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0.6 s</a:t>
            </a:r>
            <a:endParaRPr lang="ko-KR" altLang="en-US" sz="1000" dirty="0"/>
          </a:p>
        </p:txBody>
      </p:sp>
      <p:sp>
        <p:nvSpPr>
          <p:cNvPr id="44" name="대함 표적 Cell 4-6"/>
          <p:cNvSpPr txBox="1"/>
          <p:nvPr/>
        </p:nvSpPr>
        <p:spPr>
          <a:xfrm>
            <a:off x="4881675" y="4316984"/>
            <a:ext cx="1060401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23 m</a:t>
            </a:r>
            <a:endParaRPr lang="ko-KR" altLang="en-US" sz="1000" dirty="0"/>
          </a:p>
        </p:txBody>
      </p:sp>
      <p:sp>
        <p:nvSpPr>
          <p:cNvPr id="45" name="Design Card 1 Box"/>
          <p:cNvSpPr/>
          <p:nvPr/>
        </p:nvSpPr>
        <p:spPr>
          <a:xfrm>
            <a:off x="640080" y="4837684"/>
            <a:ext cx="5301996" cy="1003300"/>
          </a:xfrm>
          <a:prstGeom prst="roundRect">
            <a:avLst>
              <a:gd name="adj" fmla="val 6000"/>
            </a:avLst>
          </a:prstGeom>
          <a:solidFill>
            <a:srgbClr val="EBF2FE"/>
          </a:solidFill>
          <a:ln w="1270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Design Card 1 Text"/>
          <p:cNvSpPr txBox="1"/>
          <p:nvPr/>
        </p:nvSpPr>
        <p:spPr>
          <a:xfrm>
            <a:off x="767080" y="4926584"/>
            <a:ext cx="5047996" cy="8128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대함 · 1 G 로 45° 씩 네 번</a:t>
            </a:r>
            <a:endParaRPr lang="ko-KR" altLang="en-US" sz="1150" dirty="0"/>
          </a:p>
          <a:p>
            <a:pPr algn="l">
              <a:lnSpc>
                <a:spcPts val="15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속력이 느려 1 G 로도 45° 를 2.4 s 에 돈다 (반경 92 m).</a:t>
            </a:r>
            <a:endParaRPr lang="ko-KR" altLang="en-US" sz="100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네 번 모두 9.6 s 만 돌고, 나머지는 서쪽으로 직진한다.</a:t>
            </a:r>
            <a:endParaRPr lang="ko-KR" altLang="en-US" sz="100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남쪽으로 약 170 m 비켜 갔다가 원래 위도로 돌아온다.</a:t>
            </a:r>
            <a:endParaRPr lang="ko-KR" altLang="en-US" sz="1000" dirty="0"/>
          </a:p>
        </p:txBody>
      </p:sp>
      <p:sp>
        <p:nvSpPr>
          <p:cNvPr id="47" name="대공 표적 Title"/>
          <p:cNvSpPr txBox="1"/>
          <p:nvPr/>
        </p:nvSpPr>
        <p:spPr>
          <a:xfrm>
            <a:off x="6246876" y="2742184"/>
            <a:ext cx="5301996" cy="254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대공 표적</a:t>
            </a:r>
            <a:r>
              <a:rPr lang="ko-KR" altLang="en-US" sz="11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   V = 200 m/s</a:t>
            </a:r>
            <a:endParaRPr lang="ko-KR" altLang="en-US" sz="1000" dirty="0"/>
          </a:p>
        </p:txBody>
      </p:sp>
      <p:sp>
        <p:nvSpPr>
          <p:cNvPr id="48" name="대공 표적 Head"/>
          <p:cNvSpPr/>
          <p:nvPr/>
        </p:nvSpPr>
        <p:spPr>
          <a:xfrm>
            <a:off x="6246876" y="3046984"/>
            <a:ext cx="5301996" cy="31750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대공 표적 Head G"/>
          <p:cNvSpPr txBox="1"/>
          <p:nvPr/>
        </p:nvSpPr>
        <p:spPr>
          <a:xfrm>
            <a:off x="6246876" y="3046984"/>
            <a:ext cx="74227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</a:t>
            </a:r>
            <a:endParaRPr lang="ko-KR" altLang="en-US" sz="1000" dirty="0"/>
          </a:p>
        </p:txBody>
      </p:sp>
      <p:sp>
        <p:nvSpPr>
          <p:cNvPr id="50" name="대공 표적 Head 초당 회전"/>
          <p:cNvSpPr txBox="1"/>
          <p:nvPr/>
        </p:nvSpPr>
        <p:spPr>
          <a:xfrm>
            <a:off x="6989155" y="3046984"/>
            <a:ext cx="84831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초당 회전</a:t>
            </a:r>
            <a:endParaRPr lang="ko-KR" altLang="en-US" sz="1000" dirty="0"/>
          </a:p>
        </p:txBody>
      </p:sp>
      <p:sp>
        <p:nvSpPr>
          <p:cNvPr id="51" name="대공 표적 Head 한 바퀴 360°"/>
          <p:cNvSpPr txBox="1"/>
          <p:nvPr/>
        </p:nvSpPr>
        <p:spPr>
          <a:xfrm>
            <a:off x="7837474" y="3046984"/>
            <a:ext cx="10603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바퀴 360°</a:t>
            </a:r>
            <a:endParaRPr lang="ko-KR" altLang="en-US" sz="1000" dirty="0"/>
          </a:p>
        </p:txBody>
      </p:sp>
      <p:sp>
        <p:nvSpPr>
          <p:cNvPr id="52" name="대공 표적 Head 90°"/>
          <p:cNvSpPr txBox="1"/>
          <p:nvPr/>
        </p:nvSpPr>
        <p:spPr>
          <a:xfrm>
            <a:off x="8897873" y="30469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90°</a:t>
            </a:r>
            <a:endParaRPr lang="ko-KR" altLang="en-US" sz="1000" dirty="0"/>
          </a:p>
        </p:txBody>
      </p:sp>
      <p:sp>
        <p:nvSpPr>
          <p:cNvPr id="53" name="대공 표적 Head 150°"/>
          <p:cNvSpPr txBox="1"/>
          <p:nvPr/>
        </p:nvSpPr>
        <p:spPr>
          <a:xfrm>
            <a:off x="9693172" y="30469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150°</a:t>
            </a:r>
            <a:endParaRPr lang="ko-KR" altLang="en-US" sz="1000" dirty="0"/>
          </a:p>
        </p:txBody>
      </p:sp>
      <p:sp>
        <p:nvSpPr>
          <p:cNvPr id="54" name="대공 표적 Head 선회 반경"/>
          <p:cNvSpPr txBox="1"/>
          <p:nvPr/>
        </p:nvSpPr>
        <p:spPr>
          <a:xfrm>
            <a:off x="10488471" y="3046984"/>
            <a:ext cx="1060401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선회 반경</a:t>
            </a:r>
            <a:endParaRPr lang="ko-KR" altLang="en-US" sz="1000" dirty="0"/>
          </a:p>
        </p:txBody>
      </p:sp>
      <p:sp>
        <p:nvSpPr>
          <p:cNvPr id="55" name="대공 표적 Row 1"/>
          <p:cNvSpPr/>
          <p:nvPr/>
        </p:nvSpPr>
        <p:spPr>
          <a:xfrm>
            <a:off x="6246876" y="3364484"/>
            <a:ext cx="5301996" cy="317500"/>
          </a:xfrm>
          <a:prstGeom prst="rect">
            <a:avLst/>
          </a:prstGeom>
          <a:solidFill>
            <a:srgbClr val="EDF0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대공 표적 Cell 1-1"/>
          <p:cNvSpPr txBox="1"/>
          <p:nvPr/>
        </p:nvSpPr>
        <p:spPr>
          <a:xfrm>
            <a:off x="6246876" y="3364484"/>
            <a:ext cx="74227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1 G</a:t>
            </a:r>
            <a:endParaRPr lang="ko-KR" altLang="en-US" sz="1000" dirty="0"/>
          </a:p>
        </p:txBody>
      </p:sp>
      <p:sp>
        <p:nvSpPr>
          <p:cNvPr id="57" name="대공 표적 Cell 1-2"/>
          <p:cNvSpPr txBox="1"/>
          <p:nvPr/>
        </p:nvSpPr>
        <p:spPr>
          <a:xfrm>
            <a:off x="6989155" y="3364484"/>
            <a:ext cx="84831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2.8°</a:t>
            </a:r>
            <a:endParaRPr lang="ko-KR" altLang="en-US" sz="1000" dirty="0"/>
          </a:p>
        </p:txBody>
      </p:sp>
      <p:sp>
        <p:nvSpPr>
          <p:cNvPr id="58" name="대공 표적 Cell 1-3"/>
          <p:cNvSpPr txBox="1"/>
          <p:nvPr/>
        </p:nvSpPr>
        <p:spPr>
          <a:xfrm>
            <a:off x="7837474" y="3364484"/>
            <a:ext cx="10603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128.1 s</a:t>
            </a:r>
            <a:endParaRPr lang="ko-KR" altLang="en-US" sz="1000" dirty="0"/>
          </a:p>
        </p:txBody>
      </p:sp>
      <p:sp>
        <p:nvSpPr>
          <p:cNvPr id="59" name="대공 표적 Cell 1-4"/>
          <p:cNvSpPr txBox="1"/>
          <p:nvPr/>
        </p:nvSpPr>
        <p:spPr>
          <a:xfrm>
            <a:off x="8897873" y="33644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32.0 s</a:t>
            </a:r>
            <a:endParaRPr lang="ko-KR" altLang="en-US" sz="1000" dirty="0"/>
          </a:p>
        </p:txBody>
      </p:sp>
      <p:sp>
        <p:nvSpPr>
          <p:cNvPr id="60" name="대공 표적 Cell 1-5"/>
          <p:cNvSpPr txBox="1"/>
          <p:nvPr/>
        </p:nvSpPr>
        <p:spPr>
          <a:xfrm>
            <a:off x="9693172" y="33644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53.4 s</a:t>
            </a:r>
            <a:endParaRPr lang="ko-KR" altLang="en-US" sz="1000" dirty="0"/>
          </a:p>
        </p:txBody>
      </p:sp>
      <p:sp>
        <p:nvSpPr>
          <p:cNvPr id="61" name="대공 표적 Cell 1-6"/>
          <p:cNvSpPr txBox="1"/>
          <p:nvPr/>
        </p:nvSpPr>
        <p:spPr>
          <a:xfrm>
            <a:off x="10488471" y="3364484"/>
            <a:ext cx="1060401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4,079 m</a:t>
            </a:r>
            <a:endParaRPr lang="ko-KR" altLang="en-US" sz="1000" dirty="0"/>
          </a:p>
        </p:txBody>
      </p:sp>
      <p:sp>
        <p:nvSpPr>
          <p:cNvPr id="62" name="대공 표적 Cell 2-1"/>
          <p:cNvSpPr txBox="1"/>
          <p:nvPr/>
        </p:nvSpPr>
        <p:spPr>
          <a:xfrm>
            <a:off x="6246876" y="3681984"/>
            <a:ext cx="74227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2 G</a:t>
            </a:r>
            <a:endParaRPr lang="ko-KR" altLang="en-US" sz="1000" dirty="0"/>
          </a:p>
        </p:txBody>
      </p:sp>
      <p:sp>
        <p:nvSpPr>
          <p:cNvPr id="63" name="대공 표적 Cell 2-2"/>
          <p:cNvSpPr txBox="1"/>
          <p:nvPr/>
        </p:nvSpPr>
        <p:spPr>
          <a:xfrm>
            <a:off x="6989155" y="3681984"/>
            <a:ext cx="84831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5.6°</a:t>
            </a:r>
            <a:endParaRPr lang="ko-KR" altLang="en-US" sz="1000" dirty="0"/>
          </a:p>
        </p:txBody>
      </p:sp>
      <p:sp>
        <p:nvSpPr>
          <p:cNvPr id="64" name="대공 표적 Cell 2-3"/>
          <p:cNvSpPr txBox="1"/>
          <p:nvPr/>
        </p:nvSpPr>
        <p:spPr>
          <a:xfrm>
            <a:off x="7837474" y="3681984"/>
            <a:ext cx="10603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64.1 s</a:t>
            </a:r>
            <a:endParaRPr lang="ko-KR" altLang="en-US" sz="1000" dirty="0"/>
          </a:p>
        </p:txBody>
      </p:sp>
      <p:sp>
        <p:nvSpPr>
          <p:cNvPr id="65" name="대공 표적 Cell 2-4"/>
          <p:cNvSpPr txBox="1"/>
          <p:nvPr/>
        </p:nvSpPr>
        <p:spPr>
          <a:xfrm>
            <a:off x="8897873" y="36819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16.0 s</a:t>
            </a:r>
            <a:endParaRPr lang="ko-KR" altLang="en-US" sz="1000" dirty="0"/>
          </a:p>
        </p:txBody>
      </p:sp>
      <p:sp>
        <p:nvSpPr>
          <p:cNvPr id="66" name="대공 표적 Cell 2-5"/>
          <p:cNvSpPr txBox="1"/>
          <p:nvPr/>
        </p:nvSpPr>
        <p:spPr>
          <a:xfrm>
            <a:off x="9693172" y="36819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26.7 s</a:t>
            </a:r>
            <a:endParaRPr lang="ko-KR" altLang="en-US" sz="1000" dirty="0"/>
          </a:p>
        </p:txBody>
      </p:sp>
      <p:sp>
        <p:nvSpPr>
          <p:cNvPr id="67" name="대공 표적 Cell 2-6"/>
          <p:cNvSpPr txBox="1"/>
          <p:nvPr/>
        </p:nvSpPr>
        <p:spPr>
          <a:xfrm>
            <a:off x="10488471" y="3681984"/>
            <a:ext cx="1060401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2,039 m</a:t>
            </a:r>
            <a:endParaRPr lang="ko-KR" altLang="en-US" sz="1000" dirty="0"/>
          </a:p>
        </p:txBody>
      </p:sp>
      <p:sp>
        <p:nvSpPr>
          <p:cNvPr id="68" name="대공 표적 Row 3"/>
          <p:cNvSpPr/>
          <p:nvPr/>
        </p:nvSpPr>
        <p:spPr>
          <a:xfrm>
            <a:off x="6246876" y="3999484"/>
            <a:ext cx="5301996" cy="317500"/>
          </a:xfrm>
          <a:prstGeom prst="rect">
            <a:avLst/>
          </a:prstGeom>
          <a:solidFill>
            <a:srgbClr val="EDF0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대공 표적 Cell 3-1"/>
          <p:cNvSpPr txBox="1"/>
          <p:nvPr/>
        </p:nvSpPr>
        <p:spPr>
          <a:xfrm>
            <a:off x="6246876" y="3999484"/>
            <a:ext cx="74227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4 G</a:t>
            </a:r>
            <a:endParaRPr lang="ko-KR" altLang="en-US" sz="1000" dirty="0"/>
          </a:p>
        </p:txBody>
      </p:sp>
      <p:sp>
        <p:nvSpPr>
          <p:cNvPr id="70" name="대공 표적 Cell 3-2"/>
          <p:cNvSpPr txBox="1"/>
          <p:nvPr/>
        </p:nvSpPr>
        <p:spPr>
          <a:xfrm>
            <a:off x="6989155" y="3999484"/>
            <a:ext cx="84831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11.2°</a:t>
            </a:r>
            <a:endParaRPr lang="ko-KR" altLang="en-US" sz="1000" dirty="0"/>
          </a:p>
        </p:txBody>
      </p:sp>
      <p:sp>
        <p:nvSpPr>
          <p:cNvPr id="71" name="대공 표적 Cell 3-3"/>
          <p:cNvSpPr txBox="1"/>
          <p:nvPr/>
        </p:nvSpPr>
        <p:spPr>
          <a:xfrm>
            <a:off x="7837474" y="3999484"/>
            <a:ext cx="10603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32.0 s</a:t>
            </a:r>
            <a:endParaRPr lang="ko-KR" altLang="en-US" sz="1000" dirty="0"/>
          </a:p>
        </p:txBody>
      </p:sp>
      <p:sp>
        <p:nvSpPr>
          <p:cNvPr id="72" name="대공 표적 Cell 3-4"/>
          <p:cNvSpPr txBox="1"/>
          <p:nvPr/>
        </p:nvSpPr>
        <p:spPr>
          <a:xfrm>
            <a:off x="8897873" y="39994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8.0 s</a:t>
            </a:r>
            <a:endParaRPr lang="ko-KR" altLang="en-US" sz="1000" dirty="0"/>
          </a:p>
        </p:txBody>
      </p:sp>
      <p:sp>
        <p:nvSpPr>
          <p:cNvPr id="73" name="대공 표적 Cell 3-5"/>
          <p:cNvSpPr txBox="1"/>
          <p:nvPr/>
        </p:nvSpPr>
        <p:spPr>
          <a:xfrm>
            <a:off x="9693172" y="39994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13.3 s</a:t>
            </a:r>
            <a:endParaRPr lang="ko-KR" altLang="en-US" sz="1000" dirty="0"/>
          </a:p>
        </p:txBody>
      </p:sp>
      <p:sp>
        <p:nvSpPr>
          <p:cNvPr id="74" name="대공 표적 Cell 3-6"/>
          <p:cNvSpPr txBox="1"/>
          <p:nvPr/>
        </p:nvSpPr>
        <p:spPr>
          <a:xfrm>
            <a:off x="10488471" y="3999484"/>
            <a:ext cx="1060401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1,020 m</a:t>
            </a:r>
            <a:endParaRPr lang="ko-KR" altLang="en-US" sz="1000" dirty="0"/>
          </a:p>
        </p:txBody>
      </p:sp>
      <p:sp>
        <p:nvSpPr>
          <p:cNvPr id="75" name="대공 표적 Use"/>
          <p:cNvSpPr/>
          <p:nvPr/>
        </p:nvSpPr>
        <p:spPr>
          <a:xfrm>
            <a:off x="6246876" y="4329684"/>
            <a:ext cx="5301996" cy="292100"/>
          </a:xfrm>
          <a:prstGeom prst="roundRect">
            <a:avLst>
              <a:gd name="adj" fmla="val 12000"/>
            </a:avLst>
          </a:prstGeom>
          <a:solidFill>
            <a:srgbClr val="FDEEEE"/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대공 표적 Cell 4-1"/>
          <p:cNvSpPr txBox="1"/>
          <p:nvPr/>
        </p:nvSpPr>
        <p:spPr>
          <a:xfrm>
            <a:off x="6246876" y="4316984"/>
            <a:ext cx="74227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8.2 G</a:t>
            </a:r>
            <a:endParaRPr lang="ko-KR" altLang="en-US" sz="1000" dirty="0"/>
          </a:p>
        </p:txBody>
      </p:sp>
      <p:sp>
        <p:nvSpPr>
          <p:cNvPr id="77" name="대공 표적 Cell 4-2"/>
          <p:cNvSpPr txBox="1"/>
          <p:nvPr/>
        </p:nvSpPr>
        <p:spPr>
          <a:xfrm>
            <a:off x="6989155" y="4316984"/>
            <a:ext cx="84831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23.0°</a:t>
            </a:r>
            <a:endParaRPr lang="ko-KR" altLang="en-US" sz="1000" dirty="0"/>
          </a:p>
        </p:txBody>
      </p:sp>
      <p:sp>
        <p:nvSpPr>
          <p:cNvPr id="78" name="대공 표적 Cell 4-3"/>
          <p:cNvSpPr txBox="1"/>
          <p:nvPr/>
        </p:nvSpPr>
        <p:spPr>
          <a:xfrm>
            <a:off x="7837474" y="4316984"/>
            <a:ext cx="10603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15.6 s</a:t>
            </a:r>
            <a:endParaRPr lang="ko-KR" altLang="en-US" sz="1000" dirty="0"/>
          </a:p>
        </p:txBody>
      </p:sp>
      <p:sp>
        <p:nvSpPr>
          <p:cNvPr id="79" name="대공 표적 Cell 4-4"/>
          <p:cNvSpPr txBox="1"/>
          <p:nvPr/>
        </p:nvSpPr>
        <p:spPr>
          <a:xfrm>
            <a:off x="8897873" y="43169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3.9 s</a:t>
            </a:r>
            <a:endParaRPr lang="ko-KR" altLang="en-US" sz="1000" dirty="0"/>
          </a:p>
        </p:txBody>
      </p:sp>
      <p:sp>
        <p:nvSpPr>
          <p:cNvPr id="80" name="대공 표적 Cell 4-5"/>
          <p:cNvSpPr txBox="1"/>
          <p:nvPr/>
        </p:nvSpPr>
        <p:spPr>
          <a:xfrm>
            <a:off x="9693172" y="4316984"/>
            <a:ext cx="795299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6.5 s</a:t>
            </a:r>
            <a:endParaRPr lang="ko-KR" altLang="en-US" sz="1000" dirty="0"/>
          </a:p>
        </p:txBody>
      </p:sp>
      <p:sp>
        <p:nvSpPr>
          <p:cNvPr id="81" name="대공 표적 Cell 4-6"/>
          <p:cNvSpPr txBox="1"/>
          <p:nvPr/>
        </p:nvSpPr>
        <p:spPr>
          <a:xfrm>
            <a:off x="10488471" y="4316984"/>
            <a:ext cx="1060401" cy="3175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497 m</a:t>
            </a:r>
            <a:endParaRPr lang="ko-KR" altLang="en-US" sz="1000" dirty="0"/>
          </a:p>
        </p:txBody>
      </p:sp>
      <p:sp>
        <p:nvSpPr>
          <p:cNvPr id="82" name="Design Card 2 Box"/>
          <p:cNvSpPr/>
          <p:nvPr/>
        </p:nvSpPr>
        <p:spPr>
          <a:xfrm>
            <a:off x="6246876" y="4837684"/>
            <a:ext cx="5301996" cy="100330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1270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Design Card 2 Text"/>
          <p:cNvSpPr txBox="1"/>
          <p:nvPr/>
        </p:nvSpPr>
        <p:spPr>
          <a:xfrm>
            <a:off x="6373876" y="4926584"/>
            <a:ext cx="5047996" cy="8128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 dirty="0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대공 · 8.2 G 로 90° 씩, 마지막만 150°</a:t>
            </a:r>
            <a:endParaRPr lang="ko-KR" altLang="en-US" sz="1150" dirty="0"/>
          </a:p>
          <a:p>
            <a:pPr algn="l">
              <a:lnSpc>
                <a:spcPts val="15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90° 다섯 번과 150° 한 번, 모두 600° 를 60 s 안에 돈다.</a:t>
            </a:r>
            <a:endParaRPr lang="ko-KR" altLang="en-US" sz="100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1 G 는 90° 한 번에 32 s, 4 G 도 여섯 번에 53 s 가 걸린다.</a:t>
            </a:r>
            <a:endParaRPr lang="ko-KR" altLang="en-US" sz="100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dirty="0">
                <a:solidFill>
                  <a:srgbClr val="3F4B63"/>
                </a:solidFill>
                <a:latin typeface="맑은 고딕"/>
                <a:ea typeface="맑은 고딕"/>
                <a:cs typeface="맑은 고딕"/>
              </a:rPr>
              <a:t>8.2 G 면 90° 3.9 s, 150° 6.5 s, 모두 26 s 라 34 s 는 직진한다.</a:t>
            </a:r>
            <a:endParaRPr lang="ko-KR" altLang="en-US" sz="1000" dirty="0"/>
          </a:p>
        </p:txBody>
      </p:sp>
      <p:sp>
        <p:nvSpPr>
          <p:cNvPr id="6" name="Rectangle 5"/>
          <p:cNvSpPr/>
          <p:nvPr/>
        </p:nvSpPr>
        <p:spPr>
          <a:xfrm>
            <a:off x="640080" y="6327648"/>
            <a:ext cx="10908792" cy="0"/>
          </a:xfrm>
          <a:prstGeom prst="rect">
            <a:avLst/>
          </a:prstGeom>
          <a:noFill/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3</a:t>
            </a:r>
          </a:p>
        </p:txBody>
      </p:sp>
      <p:sp>
        <p:nvSpPr>
          <p:cNvPr id="8" name="Part Top Rule"/>
          <p:cNvSpPr/>
          <p:nvPr/>
        </p:nvSpPr>
        <p:spPr>
          <a:xfrm>
            <a:off x="749808" y="713232"/>
            <a:ext cx="10698480" cy="0"/>
          </a:xfrm>
          <a:prstGeom prst="line">
            <a:avLst/>
          </a:prstGeom>
          <a:noFill/>
          <a:ln w="9525" cap="rnd">
            <a:solidFill>
              <a:srgbClr val="AEB9CC"/>
            </a:solidFill>
            <a:prstDash val="solid"/>
          </a:ln>
        </p:spPr>
      </p:sp>
      <p:sp>
        <p:nvSpPr>
          <p:cNvPr id="9" name="Part Bottom Rule"/>
          <p:cNvSpPr/>
          <p:nvPr/>
        </p:nvSpPr>
        <p:spPr>
          <a:xfrm>
            <a:off x="749808" y="6336792"/>
            <a:ext cx="10698480" cy="0"/>
          </a:xfrm>
          <a:prstGeom prst="line">
            <a:avLst/>
          </a:prstGeom>
          <a:noFill/>
          <a:ln w="9525" cap="rnd">
            <a:solidFill>
              <a:srgbClr val="AEB9CC"/>
            </a:solidFill>
            <a:prstDash val="solid"/>
          </a:ln>
        </p:spPr>
      </p:sp>
      <p:sp>
        <p:nvSpPr>
          <p:cNvPr id="10" name="Part Title"/>
          <p:cNvSpPr txBox="1"/>
          <p:nvPr/>
        </p:nvSpPr>
        <p:spPr>
          <a:xfrm>
            <a:off x="859536" y="914400"/>
            <a:ext cx="9144000" cy="47548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01. 개요</a:t>
            </a:r>
            <a:endParaRPr lang="ko-KR" altLang="en-US" sz="1000" dirty="0"/>
          </a:p>
        </p:txBody>
      </p:sp>
      <p:sp>
        <p:nvSpPr>
          <p:cNvPr id="11" name="Part Lead"/>
          <p:cNvSpPr txBox="1"/>
          <p:nvPr/>
        </p:nvSpPr>
        <p:spPr>
          <a:xfrm>
            <a:off x="859536" y="1444752"/>
            <a:ext cx="10588752" cy="3048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과제의 배경과 프로그램 구성을 소개합니다.</a:t>
            </a:r>
            <a:endParaRPr lang="ko-KR" altLang="en-US" sz="1000" dirty="0"/>
          </a:p>
        </p:txBody>
      </p:sp>
      <p:sp>
        <p:nvSpPr>
          <p:cNvPr id="12" name="Part Sec Num 1"/>
          <p:cNvSpPr txBox="1"/>
          <p:nvPr/>
        </p:nvSpPr>
        <p:spPr>
          <a:xfrm>
            <a:off x="859536" y="20574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1.1</a:t>
            </a:r>
            <a:endParaRPr lang="ko-KR" altLang="en-US" sz="1000" dirty="0"/>
          </a:p>
        </p:txBody>
      </p:sp>
      <p:sp>
        <p:nvSpPr>
          <p:cNvPr id="13" name="Part Sec Title 1"/>
          <p:cNvSpPr txBox="1"/>
          <p:nvPr/>
        </p:nvSpPr>
        <p:spPr>
          <a:xfrm>
            <a:off x="1418336" y="2057400"/>
            <a:ext cx="824586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과제 개요</a:t>
            </a:r>
            <a:endParaRPr lang="ko-KR" altLang="en-US" sz="1000" dirty="0"/>
          </a:p>
        </p:txBody>
      </p:sp>
      <p:sp>
        <p:nvSpPr>
          <p:cNvPr id="14" name="Part Sec Leader 1"/>
          <p:cNvSpPr/>
          <p:nvPr/>
        </p:nvSpPr>
        <p:spPr>
          <a:xfrm>
            <a:off x="2395322" y="2311400"/>
            <a:ext cx="8214766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15" name="Part Sec Page 1"/>
          <p:cNvSpPr txBox="1"/>
          <p:nvPr/>
        </p:nvSpPr>
        <p:spPr>
          <a:xfrm>
            <a:off x="10737088" y="20574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lang="ko-KR" altLang="en-US" sz="1000" dirty="0"/>
          </a:p>
        </p:txBody>
      </p:sp>
      <p:sp>
        <p:nvSpPr>
          <p:cNvPr id="16" name="Part Sec Num 2"/>
          <p:cNvSpPr txBox="1"/>
          <p:nvPr/>
        </p:nvSpPr>
        <p:spPr>
          <a:xfrm>
            <a:off x="859536" y="24638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1.2</a:t>
            </a:r>
            <a:endParaRPr lang="ko-KR" altLang="en-US" sz="1000" dirty="0"/>
          </a:p>
        </p:txBody>
      </p:sp>
      <p:sp>
        <p:nvSpPr>
          <p:cNvPr id="17" name="Part Sec Title 2"/>
          <p:cNvSpPr txBox="1"/>
          <p:nvPr/>
        </p:nvSpPr>
        <p:spPr>
          <a:xfrm>
            <a:off x="1418336" y="2463800"/>
            <a:ext cx="824586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구현 구성</a:t>
            </a:r>
            <a:endParaRPr lang="ko-KR" altLang="en-US" sz="1000" dirty="0"/>
          </a:p>
        </p:txBody>
      </p:sp>
      <p:sp>
        <p:nvSpPr>
          <p:cNvPr id="18" name="Part Sec Leader 2"/>
          <p:cNvSpPr/>
          <p:nvPr/>
        </p:nvSpPr>
        <p:spPr>
          <a:xfrm>
            <a:off x="2395322" y="2717800"/>
            <a:ext cx="8214766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19" name="Part Sec Page 2"/>
          <p:cNvSpPr txBox="1"/>
          <p:nvPr/>
        </p:nvSpPr>
        <p:spPr>
          <a:xfrm>
            <a:off x="10737088" y="24638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6</a:t>
            </a:r>
          </a:p>
        </p:txBody>
      </p:sp>
      <p:sp>
        <p:nvSpPr>
          <p:cNvPr id="8" name="Part Top Rule"/>
          <p:cNvSpPr/>
          <p:nvPr/>
        </p:nvSpPr>
        <p:spPr>
          <a:xfrm>
            <a:off x="749808" y="713232"/>
            <a:ext cx="10698480" cy="0"/>
          </a:xfrm>
          <a:prstGeom prst="line">
            <a:avLst/>
          </a:prstGeom>
          <a:noFill/>
          <a:ln w="9525" cap="rnd">
            <a:solidFill>
              <a:srgbClr val="AEB9CC"/>
            </a:solidFill>
            <a:prstDash val="solid"/>
          </a:ln>
        </p:spPr>
      </p:sp>
      <p:sp>
        <p:nvSpPr>
          <p:cNvPr id="9" name="Part Bottom Rule"/>
          <p:cNvSpPr/>
          <p:nvPr/>
        </p:nvSpPr>
        <p:spPr>
          <a:xfrm>
            <a:off x="749808" y="6336792"/>
            <a:ext cx="10698480" cy="0"/>
          </a:xfrm>
          <a:prstGeom prst="line">
            <a:avLst/>
          </a:prstGeom>
          <a:noFill/>
          <a:ln w="9525" cap="rnd">
            <a:solidFill>
              <a:srgbClr val="AEB9CC"/>
            </a:solidFill>
            <a:prstDash val="solid"/>
          </a:ln>
        </p:spPr>
      </p:sp>
      <p:sp>
        <p:nvSpPr>
          <p:cNvPr id="10" name="Part Title"/>
          <p:cNvSpPr txBox="1"/>
          <p:nvPr/>
        </p:nvSpPr>
        <p:spPr>
          <a:xfrm>
            <a:off x="859536" y="914400"/>
            <a:ext cx="9144000" cy="47548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02. 표적 정의</a:t>
            </a:r>
            <a:endParaRPr lang="ko-KR" altLang="en-US" sz="1000" dirty="0"/>
          </a:p>
        </p:txBody>
      </p:sp>
      <p:sp>
        <p:nvSpPr>
          <p:cNvPr id="11" name="Part Lead"/>
          <p:cNvSpPr txBox="1"/>
          <p:nvPr/>
        </p:nvSpPr>
        <p:spPr>
          <a:xfrm>
            <a:off x="859536" y="1444752"/>
            <a:ext cx="10588752" cy="3048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표적과 기동을 어떤 값으로 받고, 어떤 구조체에 담는지 정의합니다.</a:t>
            </a:r>
            <a:endParaRPr lang="ko-KR" altLang="en-US" sz="1000" dirty="0"/>
          </a:p>
        </p:txBody>
      </p:sp>
      <p:sp>
        <p:nvSpPr>
          <p:cNvPr id="12" name="Part Sec Num 1"/>
          <p:cNvSpPr txBox="1"/>
          <p:nvPr/>
        </p:nvSpPr>
        <p:spPr>
          <a:xfrm>
            <a:off x="859536" y="20574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2.1</a:t>
            </a:r>
            <a:endParaRPr lang="ko-KR" altLang="en-US" sz="1000" dirty="0"/>
          </a:p>
        </p:txBody>
      </p:sp>
      <p:sp>
        <p:nvSpPr>
          <p:cNvPr id="13" name="Part Sec Title 1"/>
          <p:cNvSpPr txBox="1"/>
          <p:nvPr/>
        </p:nvSpPr>
        <p:spPr>
          <a:xfrm>
            <a:off x="1418336" y="2057400"/>
            <a:ext cx="1776171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표적 입력값과 상태값</a:t>
            </a:r>
            <a:endParaRPr lang="ko-KR" altLang="en-US" sz="1000" dirty="0"/>
          </a:p>
        </p:txBody>
      </p:sp>
      <p:sp>
        <p:nvSpPr>
          <p:cNvPr id="14" name="Part Sec Leader 1"/>
          <p:cNvSpPr/>
          <p:nvPr/>
        </p:nvSpPr>
        <p:spPr>
          <a:xfrm>
            <a:off x="3346907" y="2311400"/>
            <a:ext cx="7263181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15" name="Part Sec Page 1"/>
          <p:cNvSpPr txBox="1"/>
          <p:nvPr/>
        </p:nvSpPr>
        <p:spPr>
          <a:xfrm>
            <a:off x="10737088" y="20574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7</a:t>
            </a:r>
            <a:endParaRPr lang="ko-KR" altLang="en-US" sz="1000" dirty="0"/>
          </a:p>
        </p:txBody>
      </p:sp>
      <p:sp>
        <p:nvSpPr>
          <p:cNvPr id="16" name="Part Sec Num 2"/>
          <p:cNvSpPr txBox="1"/>
          <p:nvPr/>
        </p:nvSpPr>
        <p:spPr>
          <a:xfrm>
            <a:off x="859536" y="24638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2.2</a:t>
            </a:r>
            <a:endParaRPr lang="ko-KR" altLang="en-US" sz="1000" dirty="0"/>
          </a:p>
        </p:txBody>
      </p:sp>
      <p:sp>
        <p:nvSpPr>
          <p:cNvPr id="17" name="Part Sec Title 2"/>
          <p:cNvSpPr txBox="1"/>
          <p:nvPr/>
        </p:nvSpPr>
        <p:spPr>
          <a:xfrm>
            <a:off x="1418336" y="2463800"/>
            <a:ext cx="1776171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기동 입력값과 각속도</a:t>
            </a:r>
            <a:endParaRPr lang="ko-KR" altLang="en-US" sz="1000" dirty="0"/>
          </a:p>
        </p:txBody>
      </p:sp>
      <p:sp>
        <p:nvSpPr>
          <p:cNvPr id="18" name="Part Sec Leader 2"/>
          <p:cNvSpPr/>
          <p:nvPr/>
        </p:nvSpPr>
        <p:spPr>
          <a:xfrm>
            <a:off x="3346907" y="2717800"/>
            <a:ext cx="7263181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19" name="Part Sec Page 2"/>
          <p:cNvSpPr txBox="1"/>
          <p:nvPr/>
        </p:nvSpPr>
        <p:spPr>
          <a:xfrm>
            <a:off x="10737088" y="24638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8</a:t>
            </a:r>
            <a:endParaRPr lang="ko-KR" altLang="en-US" sz="1000" dirty="0"/>
          </a:p>
        </p:txBody>
      </p:sp>
      <p:sp>
        <p:nvSpPr>
          <p:cNvPr id="20" name="Part Sec Num 3"/>
          <p:cNvSpPr txBox="1"/>
          <p:nvPr/>
        </p:nvSpPr>
        <p:spPr>
          <a:xfrm>
            <a:off x="859536" y="28702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2.3</a:t>
            </a:r>
            <a:endParaRPr lang="ko-KR" altLang="en-US" sz="1000" dirty="0"/>
          </a:p>
        </p:txBody>
      </p:sp>
      <p:sp>
        <p:nvSpPr>
          <p:cNvPr id="21" name="Part Sec Title 3"/>
          <p:cNvSpPr txBox="1"/>
          <p:nvPr/>
        </p:nvSpPr>
        <p:spPr>
          <a:xfrm>
            <a:off x="1418336" y="2870200"/>
            <a:ext cx="1598371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구조체 구성과 흐름</a:t>
            </a:r>
            <a:endParaRPr lang="ko-KR" altLang="en-US" sz="1000" dirty="0"/>
          </a:p>
        </p:txBody>
      </p:sp>
      <p:sp>
        <p:nvSpPr>
          <p:cNvPr id="22" name="Part Sec Leader 3"/>
          <p:cNvSpPr/>
          <p:nvPr/>
        </p:nvSpPr>
        <p:spPr>
          <a:xfrm>
            <a:off x="3169107" y="3124200"/>
            <a:ext cx="7440981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23" name="Part Sec Page 3"/>
          <p:cNvSpPr txBox="1"/>
          <p:nvPr/>
        </p:nvSpPr>
        <p:spPr>
          <a:xfrm>
            <a:off x="10737088" y="28702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9 ~ 11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12</a:t>
            </a:r>
          </a:p>
        </p:txBody>
      </p:sp>
      <p:sp>
        <p:nvSpPr>
          <p:cNvPr id="8" name="Part Top Rule"/>
          <p:cNvSpPr/>
          <p:nvPr/>
        </p:nvSpPr>
        <p:spPr>
          <a:xfrm>
            <a:off x="749808" y="713232"/>
            <a:ext cx="10698480" cy="0"/>
          </a:xfrm>
          <a:prstGeom prst="line">
            <a:avLst/>
          </a:prstGeom>
          <a:noFill/>
          <a:ln w="9525" cap="rnd">
            <a:solidFill>
              <a:srgbClr val="AEB9CC"/>
            </a:solidFill>
            <a:prstDash val="solid"/>
          </a:ln>
        </p:spPr>
      </p:sp>
      <p:sp>
        <p:nvSpPr>
          <p:cNvPr id="9" name="Part Bottom Rule"/>
          <p:cNvSpPr/>
          <p:nvPr/>
        </p:nvSpPr>
        <p:spPr>
          <a:xfrm>
            <a:off x="749808" y="6336792"/>
            <a:ext cx="10698480" cy="0"/>
          </a:xfrm>
          <a:prstGeom prst="line">
            <a:avLst/>
          </a:prstGeom>
          <a:noFill/>
          <a:ln w="9525" cap="rnd">
            <a:solidFill>
              <a:srgbClr val="AEB9CC"/>
            </a:solidFill>
            <a:prstDash val="solid"/>
          </a:ln>
        </p:spPr>
      </p:sp>
      <p:sp>
        <p:nvSpPr>
          <p:cNvPr id="10" name="Part Title"/>
          <p:cNvSpPr txBox="1"/>
          <p:nvPr/>
        </p:nvSpPr>
        <p:spPr>
          <a:xfrm>
            <a:off x="859536" y="914400"/>
            <a:ext cx="9144000" cy="47548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03. 궤적 생성</a:t>
            </a:r>
            <a:endParaRPr lang="ko-KR" altLang="en-US" sz="1000" dirty="0"/>
          </a:p>
        </p:txBody>
      </p:sp>
      <p:sp>
        <p:nvSpPr>
          <p:cNvPr id="11" name="Part Lead"/>
          <p:cNvSpPr txBox="1"/>
          <p:nvPr/>
        </p:nvSpPr>
        <p:spPr>
          <a:xfrm>
            <a:off x="859536" y="1444752"/>
            <a:ext cx="10588752" cy="3048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초기 상태를 만들고 한 스텝씩 전진시키는 계산을 공식과 코드로 설명합니다.</a:t>
            </a:r>
            <a:endParaRPr lang="ko-KR" altLang="en-US" sz="1000" dirty="0"/>
          </a:p>
        </p:txBody>
      </p:sp>
      <p:sp>
        <p:nvSpPr>
          <p:cNvPr id="12" name="Part Sec Num 1"/>
          <p:cNvSpPr txBox="1"/>
          <p:nvPr/>
        </p:nvSpPr>
        <p:spPr>
          <a:xfrm>
            <a:off x="859536" y="20574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3.1</a:t>
            </a:r>
            <a:endParaRPr lang="ko-KR" altLang="en-US" sz="1000" dirty="0"/>
          </a:p>
        </p:txBody>
      </p:sp>
      <p:sp>
        <p:nvSpPr>
          <p:cNvPr id="13" name="Part Sec Title 1"/>
          <p:cNvSpPr txBox="1"/>
          <p:nvPr/>
        </p:nvSpPr>
        <p:spPr>
          <a:xfrm>
            <a:off x="1418336" y="2057400"/>
            <a:ext cx="1002386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초기화 코드</a:t>
            </a:r>
            <a:endParaRPr lang="ko-KR" altLang="en-US" sz="1000" dirty="0"/>
          </a:p>
        </p:txBody>
      </p:sp>
      <p:sp>
        <p:nvSpPr>
          <p:cNvPr id="14" name="Part Sec Leader 1"/>
          <p:cNvSpPr/>
          <p:nvPr/>
        </p:nvSpPr>
        <p:spPr>
          <a:xfrm>
            <a:off x="2573122" y="2311400"/>
            <a:ext cx="8036966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15" name="Part Sec Page 1"/>
          <p:cNvSpPr txBox="1"/>
          <p:nvPr/>
        </p:nvSpPr>
        <p:spPr>
          <a:xfrm>
            <a:off x="10737088" y="20574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13</a:t>
            </a:r>
            <a:endParaRPr lang="ko-KR" altLang="en-US" sz="1000" dirty="0"/>
          </a:p>
        </p:txBody>
      </p:sp>
      <p:sp>
        <p:nvSpPr>
          <p:cNvPr id="16" name="Part Sec Num 2"/>
          <p:cNvSpPr txBox="1"/>
          <p:nvPr/>
        </p:nvSpPr>
        <p:spPr>
          <a:xfrm>
            <a:off x="859536" y="24638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3.2</a:t>
            </a:r>
            <a:endParaRPr lang="ko-KR" altLang="en-US" sz="1000" dirty="0"/>
          </a:p>
        </p:txBody>
      </p:sp>
      <p:sp>
        <p:nvSpPr>
          <p:cNvPr id="17" name="Part Sec Title 2"/>
          <p:cNvSpPr txBox="1"/>
          <p:nvPr/>
        </p:nvSpPr>
        <p:spPr>
          <a:xfrm>
            <a:off x="1418336" y="2463800"/>
            <a:ext cx="1483157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한 스텝 처리 순서</a:t>
            </a:r>
            <a:endParaRPr lang="ko-KR" altLang="en-US" sz="1000" dirty="0"/>
          </a:p>
        </p:txBody>
      </p:sp>
      <p:sp>
        <p:nvSpPr>
          <p:cNvPr id="18" name="Part Sec Leader 2"/>
          <p:cNvSpPr/>
          <p:nvPr/>
        </p:nvSpPr>
        <p:spPr>
          <a:xfrm>
            <a:off x="3053893" y="2717800"/>
            <a:ext cx="7556195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19" name="Part Sec Page 2"/>
          <p:cNvSpPr txBox="1"/>
          <p:nvPr/>
        </p:nvSpPr>
        <p:spPr>
          <a:xfrm>
            <a:off x="10737088" y="24638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lang="ko-KR" altLang="en-US" sz="1000" dirty="0"/>
          </a:p>
        </p:txBody>
      </p:sp>
      <p:sp>
        <p:nvSpPr>
          <p:cNvPr id="20" name="Part Sec Num 3"/>
          <p:cNvSpPr txBox="1"/>
          <p:nvPr/>
        </p:nvSpPr>
        <p:spPr>
          <a:xfrm>
            <a:off x="859536" y="28702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3.3</a:t>
            </a:r>
            <a:endParaRPr lang="ko-KR" altLang="en-US" sz="1000" dirty="0"/>
          </a:p>
        </p:txBody>
      </p:sp>
      <p:sp>
        <p:nvSpPr>
          <p:cNvPr id="21" name="Part Sec Title 3"/>
          <p:cNvSpPr txBox="1"/>
          <p:nvPr/>
        </p:nvSpPr>
        <p:spPr>
          <a:xfrm>
            <a:off x="1418336" y="2870200"/>
            <a:ext cx="1483157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한 스텝 진행 코드</a:t>
            </a:r>
            <a:endParaRPr lang="ko-KR" altLang="en-US" sz="1000" dirty="0"/>
          </a:p>
        </p:txBody>
      </p:sp>
      <p:sp>
        <p:nvSpPr>
          <p:cNvPr id="22" name="Part Sec Leader 3"/>
          <p:cNvSpPr/>
          <p:nvPr/>
        </p:nvSpPr>
        <p:spPr>
          <a:xfrm>
            <a:off x="3053893" y="3124200"/>
            <a:ext cx="7556195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23" name="Part Sec Page 3"/>
          <p:cNvSpPr txBox="1"/>
          <p:nvPr/>
        </p:nvSpPr>
        <p:spPr>
          <a:xfrm>
            <a:off x="10737088" y="28702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lang="ko-KR" altLang="en-US" sz="1000" dirty="0"/>
          </a:p>
        </p:txBody>
      </p:sp>
      <p:sp>
        <p:nvSpPr>
          <p:cNvPr id="24" name="Part Sec Num 4"/>
          <p:cNvSpPr txBox="1"/>
          <p:nvPr/>
        </p:nvSpPr>
        <p:spPr>
          <a:xfrm>
            <a:off x="859536" y="32766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3.4</a:t>
            </a:r>
            <a:endParaRPr lang="ko-KR" altLang="en-US" sz="1000" dirty="0"/>
          </a:p>
        </p:txBody>
      </p:sp>
      <p:sp>
        <p:nvSpPr>
          <p:cNvPr id="25" name="Part Sec Title 4"/>
          <p:cNvSpPr txBox="1"/>
          <p:nvPr/>
        </p:nvSpPr>
        <p:spPr>
          <a:xfrm>
            <a:off x="1418336" y="3276600"/>
            <a:ext cx="2016557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기동 찾기와 각속도 코드</a:t>
            </a:r>
            <a:endParaRPr lang="ko-KR" altLang="en-US" sz="1000" dirty="0"/>
          </a:p>
        </p:txBody>
      </p:sp>
      <p:sp>
        <p:nvSpPr>
          <p:cNvPr id="26" name="Part Sec Leader 4"/>
          <p:cNvSpPr/>
          <p:nvPr/>
        </p:nvSpPr>
        <p:spPr>
          <a:xfrm>
            <a:off x="3587293" y="3530600"/>
            <a:ext cx="7022795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27" name="Part Sec Page 4"/>
          <p:cNvSpPr txBox="1"/>
          <p:nvPr/>
        </p:nvSpPr>
        <p:spPr>
          <a:xfrm>
            <a:off x="10737088" y="32766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16 ~ 17</a:t>
            </a:r>
            <a:endParaRPr lang="ko-KR" altLang="en-US" sz="1000" dirty="0"/>
          </a:p>
        </p:txBody>
      </p:sp>
      <p:sp>
        <p:nvSpPr>
          <p:cNvPr id="28" name="Part Sec Num 5"/>
          <p:cNvSpPr txBox="1"/>
          <p:nvPr/>
        </p:nvSpPr>
        <p:spPr>
          <a:xfrm>
            <a:off x="859536" y="36830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3.5</a:t>
            </a:r>
            <a:endParaRPr lang="ko-KR" altLang="en-US" sz="1000" dirty="0"/>
          </a:p>
        </p:txBody>
      </p:sp>
      <p:sp>
        <p:nvSpPr>
          <p:cNvPr id="29" name="Part Sec Title 5"/>
          <p:cNvSpPr txBox="1"/>
          <p:nvPr/>
        </p:nvSpPr>
        <p:spPr>
          <a:xfrm>
            <a:off x="1418336" y="3683000"/>
            <a:ext cx="1660957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속도 벡터 변환 공식</a:t>
            </a:r>
            <a:endParaRPr lang="ko-KR" altLang="en-US" sz="1000" dirty="0"/>
          </a:p>
        </p:txBody>
      </p:sp>
      <p:sp>
        <p:nvSpPr>
          <p:cNvPr id="30" name="Part Sec Leader 5"/>
          <p:cNvSpPr/>
          <p:nvPr/>
        </p:nvSpPr>
        <p:spPr>
          <a:xfrm>
            <a:off x="3231693" y="3937000"/>
            <a:ext cx="7378395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31" name="Part Sec Page 5"/>
          <p:cNvSpPr txBox="1"/>
          <p:nvPr/>
        </p:nvSpPr>
        <p:spPr>
          <a:xfrm>
            <a:off x="10737088" y="36830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18</a:t>
            </a:r>
            <a:endParaRPr lang="ko-KR" altLang="en-US" sz="1000" dirty="0"/>
          </a:p>
        </p:txBody>
      </p:sp>
      <p:sp>
        <p:nvSpPr>
          <p:cNvPr id="32" name="Part Sec Num 6"/>
          <p:cNvSpPr txBox="1"/>
          <p:nvPr/>
        </p:nvSpPr>
        <p:spPr>
          <a:xfrm>
            <a:off x="859536" y="40894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3.6</a:t>
            </a:r>
            <a:endParaRPr lang="ko-KR" altLang="en-US" sz="1000" dirty="0"/>
          </a:p>
        </p:txBody>
      </p:sp>
      <p:sp>
        <p:nvSpPr>
          <p:cNvPr id="33" name="Part Sec Title 6"/>
          <p:cNvSpPr txBox="1"/>
          <p:nvPr/>
        </p:nvSpPr>
        <p:spPr>
          <a:xfrm>
            <a:off x="1418336" y="4089400"/>
            <a:ext cx="1660957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속도 벡터 변환 코드</a:t>
            </a:r>
            <a:endParaRPr lang="ko-KR" altLang="en-US" sz="1000" dirty="0"/>
          </a:p>
        </p:txBody>
      </p:sp>
      <p:sp>
        <p:nvSpPr>
          <p:cNvPr id="34" name="Part Sec Leader 6"/>
          <p:cNvSpPr/>
          <p:nvPr/>
        </p:nvSpPr>
        <p:spPr>
          <a:xfrm>
            <a:off x="3231693" y="4343400"/>
            <a:ext cx="7378395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35" name="Part Sec Page 6"/>
          <p:cNvSpPr txBox="1"/>
          <p:nvPr/>
        </p:nvSpPr>
        <p:spPr>
          <a:xfrm>
            <a:off x="10737088" y="40894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19</a:t>
            </a:r>
            <a:endParaRPr lang="ko-KR" altLang="en-US" sz="1000" dirty="0"/>
          </a:p>
        </p:txBody>
      </p:sp>
      <p:sp>
        <p:nvSpPr>
          <p:cNvPr id="36" name="Part Sec Num 7"/>
          <p:cNvSpPr txBox="1"/>
          <p:nvPr/>
        </p:nvSpPr>
        <p:spPr>
          <a:xfrm>
            <a:off x="859536" y="44958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3.7</a:t>
            </a:r>
            <a:endParaRPr lang="ko-KR" altLang="en-US" sz="1000" dirty="0"/>
          </a:p>
        </p:txBody>
      </p:sp>
      <p:sp>
        <p:nvSpPr>
          <p:cNvPr id="37" name="Part Sec Title 7"/>
          <p:cNvSpPr txBox="1"/>
          <p:nvPr/>
        </p:nvSpPr>
        <p:spPr>
          <a:xfrm>
            <a:off x="1418336" y="4495800"/>
            <a:ext cx="21876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한 스텝 전진 공식 (중점법)</a:t>
            </a:r>
            <a:endParaRPr lang="ko-KR" altLang="en-US" sz="1000" dirty="0"/>
          </a:p>
        </p:txBody>
      </p:sp>
      <p:sp>
        <p:nvSpPr>
          <p:cNvPr id="38" name="Part Sec Leader 7"/>
          <p:cNvSpPr/>
          <p:nvPr/>
        </p:nvSpPr>
        <p:spPr>
          <a:xfrm>
            <a:off x="3758336" y="4749800"/>
            <a:ext cx="6851752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39" name="Part Sec Page 7"/>
          <p:cNvSpPr txBox="1"/>
          <p:nvPr/>
        </p:nvSpPr>
        <p:spPr>
          <a:xfrm>
            <a:off x="10737088" y="44958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lang="ko-KR" altLang="en-US" sz="1000" dirty="0"/>
          </a:p>
        </p:txBody>
      </p:sp>
      <p:sp>
        <p:nvSpPr>
          <p:cNvPr id="40" name="Part Sec Num 8"/>
          <p:cNvSpPr txBox="1"/>
          <p:nvPr/>
        </p:nvSpPr>
        <p:spPr>
          <a:xfrm>
            <a:off x="859536" y="49022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3.8</a:t>
            </a:r>
            <a:endParaRPr lang="ko-KR" altLang="en-US" sz="1000" dirty="0"/>
          </a:p>
        </p:txBody>
      </p:sp>
      <p:sp>
        <p:nvSpPr>
          <p:cNvPr id="41" name="Part Sec Title 8"/>
          <p:cNvSpPr txBox="1"/>
          <p:nvPr/>
        </p:nvSpPr>
        <p:spPr>
          <a:xfrm>
            <a:off x="1418336" y="4902200"/>
            <a:ext cx="1483157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한 스텝 전진 코드</a:t>
            </a:r>
            <a:endParaRPr lang="ko-KR" altLang="en-US" sz="1000" dirty="0"/>
          </a:p>
        </p:txBody>
      </p:sp>
      <p:sp>
        <p:nvSpPr>
          <p:cNvPr id="42" name="Part Sec Leader 8"/>
          <p:cNvSpPr/>
          <p:nvPr/>
        </p:nvSpPr>
        <p:spPr>
          <a:xfrm>
            <a:off x="3053893" y="5156200"/>
            <a:ext cx="7556195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43" name="Part Sec Page 8"/>
          <p:cNvSpPr txBox="1"/>
          <p:nvPr/>
        </p:nvSpPr>
        <p:spPr>
          <a:xfrm>
            <a:off x="10737088" y="49022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21 ~ 22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23</a:t>
            </a:r>
          </a:p>
        </p:txBody>
      </p:sp>
      <p:sp>
        <p:nvSpPr>
          <p:cNvPr id="8" name="Part Top Rule"/>
          <p:cNvSpPr/>
          <p:nvPr/>
        </p:nvSpPr>
        <p:spPr>
          <a:xfrm>
            <a:off x="749808" y="713232"/>
            <a:ext cx="10698480" cy="0"/>
          </a:xfrm>
          <a:prstGeom prst="line">
            <a:avLst/>
          </a:prstGeom>
          <a:noFill/>
          <a:ln w="9525" cap="rnd">
            <a:solidFill>
              <a:srgbClr val="AEB9CC"/>
            </a:solidFill>
            <a:prstDash val="solid"/>
          </a:ln>
        </p:spPr>
      </p:sp>
      <p:sp>
        <p:nvSpPr>
          <p:cNvPr id="9" name="Part Bottom Rule"/>
          <p:cNvSpPr/>
          <p:nvPr/>
        </p:nvSpPr>
        <p:spPr>
          <a:xfrm>
            <a:off x="749808" y="6336792"/>
            <a:ext cx="10698480" cy="0"/>
          </a:xfrm>
          <a:prstGeom prst="line">
            <a:avLst/>
          </a:prstGeom>
          <a:noFill/>
          <a:ln w="9525" cap="rnd">
            <a:solidFill>
              <a:srgbClr val="AEB9CC"/>
            </a:solidFill>
            <a:prstDash val="solid"/>
          </a:ln>
        </p:spPr>
      </p:sp>
      <p:sp>
        <p:nvSpPr>
          <p:cNvPr id="10" name="Part Title"/>
          <p:cNvSpPr txBox="1"/>
          <p:nvPr/>
        </p:nvSpPr>
        <p:spPr>
          <a:xfrm>
            <a:off x="859536" y="914400"/>
            <a:ext cx="9144000" cy="47548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04. 결과 확인</a:t>
            </a:r>
            <a:endParaRPr lang="ko-KR" altLang="en-US" sz="1000" dirty="0"/>
          </a:p>
        </p:txBody>
      </p:sp>
      <p:sp>
        <p:nvSpPr>
          <p:cNvPr id="11" name="Part Lead"/>
          <p:cNvSpPr txBox="1"/>
          <p:nvPr/>
        </p:nvSpPr>
        <p:spPr>
          <a:xfrm>
            <a:off x="859536" y="1444752"/>
            <a:ext cx="10588752" cy="3048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과제 조건과 기동 시연의 계산 결과, 운용 화면을 확인합니다.</a:t>
            </a:r>
            <a:endParaRPr lang="ko-KR" altLang="en-US" sz="1000" dirty="0"/>
          </a:p>
        </p:txBody>
      </p:sp>
      <p:sp>
        <p:nvSpPr>
          <p:cNvPr id="12" name="Part Sec Num 1"/>
          <p:cNvSpPr txBox="1"/>
          <p:nvPr/>
        </p:nvSpPr>
        <p:spPr>
          <a:xfrm>
            <a:off x="859536" y="20574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4.1</a:t>
            </a:r>
            <a:endParaRPr lang="ko-KR" altLang="en-US" sz="1000" dirty="0"/>
          </a:p>
        </p:txBody>
      </p:sp>
      <p:sp>
        <p:nvSpPr>
          <p:cNvPr id="13" name="Part Sec Title 1"/>
          <p:cNvSpPr txBox="1"/>
          <p:nvPr/>
        </p:nvSpPr>
        <p:spPr>
          <a:xfrm>
            <a:off x="1418336" y="2057400"/>
            <a:ext cx="1357986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시뮬레이션 조건</a:t>
            </a:r>
            <a:endParaRPr lang="ko-KR" altLang="en-US" sz="1000" dirty="0"/>
          </a:p>
        </p:txBody>
      </p:sp>
      <p:sp>
        <p:nvSpPr>
          <p:cNvPr id="14" name="Part Sec Leader 1"/>
          <p:cNvSpPr/>
          <p:nvPr/>
        </p:nvSpPr>
        <p:spPr>
          <a:xfrm>
            <a:off x="2928722" y="2311400"/>
            <a:ext cx="7681366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15" name="Part Sec Page 1"/>
          <p:cNvSpPr txBox="1"/>
          <p:nvPr/>
        </p:nvSpPr>
        <p:spPr>
          <a:xfrm>
            <a:off x="10737088" y="20574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24</a:t>
            </a:r>
            <a:endParaRPr lang="ko-KR" altLang="en-US" sz="1000" dirty="0"/>
          </a:p>
        </p:txBody>
      </p:sp>
      <p:sp>
        <p:nvSpPr>
          <p:cNvPr id="16" name="Part Sec Num 2"/>
          <p:cNvSpPr txBox="1"/>
          <p:nvPr/>
        </p:nvSpPr>
        <p:spPr>
          <a:xfrm>
            <a:off x="859536" y="24638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4.2</a:t>
            </a:r>
            <a:endParaRPr lang="ko-KR" altLang="en-US" sz="1000" dirty="0"/>
          </a:p>
        </p:txBody>
      </p:sp>
      <p:sp>
        <p:nvSpPr>
          <p:cNvPr id="17" name="Part Sec Title 2"/>
          <p:cNvSpPr txBox="1"/>
          <p:nvPr/>
        </p:nvSpPr>
        <p:spPr>
          <a:xfrm>
            <a:off x="1418336" y="2463800"/>
            <a:ext cx="1242771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명세 조건 결과</a:t>
            </a:r>
            <a:endParaRPr lang="ko-KR" altLang="en-US" sz="1000" dirty="0"/>
          </a:p>
        </p:txBody>
      </p:sp>
      <p:sp>
        <p:nvSpPr>
          <p:cNvPr id="18" name="Part Sec Leader 2"/>
          <p:cNvSpPr/>
          <p:nvPr/>
        </p:nvSpPr>
        <p:spPr>
          <a:xfrm>
            <a:off x="2813507" y="2717800"/>
            <a:ext cx="7796581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19" name="Part Sec Page 2"/>
          <p:cNvSpPr txBox="1"/>
          <p:nvPr/>
        </p:nvSpPr>
        <p:spPr>
          <a:xfrm>
            <a:off x="10737088" y="24638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25</a:t>
            </a:r>
            <a:endParaRPr lang="ko-KR" altLang="en-US" sz="1000" dirty="0"/>
          </a:p>
        </p:txBody>
      </p:sp>
      <p:sp>
        <p:nvSpPr>
          <p:cNvPr id="20" name="Part Sec Num 3"/>
          <p:cNvSpPr txBox="1"/>
          <p:nvPr/>
        </p:nvSpPr>
        <p:spPr>
          <a:xfrm>
            <a:off x="859536" y="28702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4.3</a:t>
            </a:r>
            <a:endParaRPr lang="ko-KR" altLang="en-US" sz="1000" dirty="0"/>
          </a:p>
        </p:txBody>
      </p:sp>
      <p:sp>
        <p:nvSpPr>
          <p:cNvPr id="21" name="Part Sec Title 3"/>
          <p:cNvSpPr txBox="1"/>
          <p:nvPr/>
        </p:nvSpPr>
        <p:spPr>
          <a:xfrm>
            <a:off x="1418336" y="2870200"/>
            <a:ext cx="1242771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기동 시연 설계</a:t>
            </a:r>
            <a:endParaRPr lang="ko-KR" altLang="en-US" sz="1000" dirty="0"/>
          </a:p>
        </p:txBody>
      </p:sp>
      <p:sp>
        <p:nvSpPr>
          <p:cNvPr id="22" name="Part Sec Leader 3"/>
          <p:cNvSpPr/>
          <p:nvPr/>
        </p:nvSpPr>
        <p:spPr>
          <a:xfrm>
            <a:off x="2813507" y="3124200"/>
            <a:ext cx="7796581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23" name="Part Sec Page 3"/>
          <p:cNvSpPr txBox="1"/>
          <p:nvPr/>
        </p:nvSpPr>
        <p:spPr>
          <a:xfrm>
            <a:off x="10737088" y="28702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26</a:t>
            </a:r>
            <a:endParaRPr lang="ko-KR" altLang="en-US" sz="1000" dirty="0"/>
          </a:p>
        </p:txBody>
      </p:sp>
      <p:sp>
        <p:nvSpPr>
          <p:cNvPr id="24" name="Part Sec Num 4"/>
          <p:cNvSpPr txBox="1"/>
          <p:nvPr/>
        </p:nvSpPr>
        <p:spPr>
          <a:xfrm>
            <a:off x="859536" y="32766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4.4</a:t>
            </a:r>
            <a:endParaRPr lang="ko-KR" altLang="en-US" sz="1000" dirty="0"/>
          </a:p>
        </p:txBody>
      </p:sp>
      <p:sp>
        <p:nvSpPr>
          <p:cNvPr id="25" name="Part Sec Title 4"/>
          <p:cNvSpPr txBox="1"/>
          <p:nvPr/>
        </p:nvSpPr>
        <p:spPr>
          <a:xfrm>
            <a:off x="1418336" y="3276600"/>
            <a:ext cx="1242771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기동 시연 결과</a:t>
            </a:r>
            <a:endParaRPr lang="ko-KR" altLang="en-US" sz="1000" dirty="0"/>
          </a:p>
        </p:txBody>
      </p:sp>
      <p:sp>
        <p:nvSpPr>
          <p:cNvPr id="26" name="Part Sec Leader 4"/>
          <p:cNvSpPr/>
          <p:nvPr/>
        </p:nvSpPr>
        <p:spPr>
          <a:xfrm>
            <a:off x="2813507" y="3530600"/>
            <a:ext cx="7796581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27" name="Part Sec Page 4"/>
          <p:cNvSpPr txBox="1"/>
          <p:nvPr/>
        </p:nvSpPr>
        <p:spPr>
          <a:xfrm>
            <a:off x="10737088" y="32766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27</a:t>
            </a:r>
            <a:endParaRPr lang="ko-KR" altLang="en-US" sz="1000" dirty="0"/>
          </a:p>
        </p:txBody>
      </p:sp>
      <p:sp>
        <p:nvSpPr>
          <p:cNvPr id="28" name="Part Sec Num 5"/>
          <p:cNvSpPr txBox="1"/>
          <p:nvPr/>
        </p:nvSpPr>
        <p:spPr>
          <a:xfrm>
            <a:off x="859536" y="36830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4.5</a:t>
            </a:r>
            <a:endParaRPr lang="ko-KR" altLang="en-US" sz="1000" dirty="0"/>
          </a:p>
        </p:txBody>
      </p:sp>
      <p:sp>
        <p:nvSpPr>
          <p:cNvPr id="29" name="Part Sec Title 5"/>
          <p:cNvSpPr txBox="1"/>
          <p:nvPr/>
        </p:nvSpPr>
        <p:spPr>
          <a:xfrm>
            <a:off x="1418336" y="3683000"/>
            <a:ext cx="824586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운용 화면</a:t>
            </a:r>
            <a:endParaRPr lang="ko-KR" altLang="en-US" sz="1000" dirty="0"/>
          </a:p>
        </p:txBody>
      </p:sp>
      <p:sp>
        <p:nvSpPr>
          <p:cNvPr id="30" name="Part Sec Leader 5"/>
          <p:cNvSpPr/>
          <p:nvPr/>
        </p:nvSpPr>
        <p:spPr>
          <a:xfrm>
            <a:off x="2395322" y="3937000"/>
            <a:ext cx="8214766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31" name="Part Sec Page 5"/>
          <p:cNvSpPr txBox="1"/>
          <p:nvPr/>
        </p:nvSpPr>
        <p:spPr>
          <a:xfrm>
            <a:off x="10737088" y="36830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28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TextBox 6"/>
          <p:cNvSpPr txBox="1"/>
          <p:nvPr/>
        </p:nvSpPr>
        <p:spPr>
          <a:xfrm>
            <a:off x="5550408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794AC"/>
                </a:solidFill>
                <a:latin typeface="Arial"/>
              </a:rPr>
              <a:t>29</a:t>
            </a:r>
          </a:p>
        </p:txBody>
      </p:sp>
      <p:sp>
        <p:nvSpPr>
          <p:cNvPr id="8" name="Part Top Rule"/>
          <p:cNvSpPr/>
          <p:nvPr/>
        </p:nvSpPr>
        <p:spPr>
          <a:xfrm>
            <a:off x="749808" y="713232"/>
            <a:ext cx="10698480" cy="0"/>
          </a:xfrm>
          <a:prstGeom prst="line">
            <a:avLst/>
          </a:prstGeom>
          <a:noFill/>
          <a:ln w="9525" cap="rnd">
            <a:solidFill>
              <a:srgbClr val="AEB9CC"/>
            </a:solidFill>
            <a:prstDash val="solid"/>
          </a:ln>
        </p:spPr>
      </p:sp>
      <p:sp>
        <p:nvSpPr>
          <p:cNvPr id="9" name="Part Bottom Rule"/>
          <p:cNvSpPr/>
          <p:nvPr/>
        </p:nvSpPr>
        <p:spPr>
          <a:xfrm>
            <a:off x="749808" y="6336792"/>
            <a:ext cx="10698480" cy="0"/>
          </a:xfrm>
          <a:prstGeom prst="line">
            <a:avLst/>
          </a:prstGeom>
          <a:noFill/>
          <a:ln w="9525" cap="rnd">
            <a:solidFill>
              <a:srgbClr val="AEB9CC"/>
            </a:solidFill>
            <a:prstDash val="solid"/>
          </a:ln>
        </p:spPr>
      </p:sp>
      <p:sp>
        <p:nvSpPr>
          <p:cNvPr id="10" name="Part Title"/>
          <p:cNvSpPr txBox="1"/>
          <p:nvPr/>
        </p:nvSpPr>
        <p:spPr>
          <a:xfrm>
            <a:off x="859536" y="914400"/>
            <a:ext cx="9144000" cy="47548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05. 결론</a:t>
            </a:r>
            <a:endParaRPr lang="ko-KR" altLang="en-US" sz="1000" dirty="0"/>
          </a:p>
        </p:txBody>
      </p:sp>
      <p:sp>
        <p:nvSpPr>
          <p:cNvPr id="11" name="Part Lead"/>
          <p:cNvSpPr txBox="1"/>
          <p:nvPr/>
        </p:nvSpPr>
        <p:spPr>
          <a:xfrm>
            <a:off x="859536" y="1444752"/>
            <a:ext cx="10588752" cy="3048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과제 요구사항별 구현 내용을 정리합니다.</a:t>
            </a:r>
            <a:endParaRPr lang="ko-KR" altLang="en-US" sz="1000" dirty="0"/>
          </a:p>
        </p:txBody>
      </p:sp>
      <p:sp>
        <p:nvSpPr>
          <p:cNvPr id="12" name="Part Sec Num 1"/>
          <p:cNvSpPr txBox="1"/>
          <p:nvPr/>
        </p:nvSpPr>
        <p:spPr>
          <a:xfrm>
            <a:off x="859536" y="2057400"/>
            <a:ext cx="5080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5.1</a:t>
            </a:r>
            <a:endParaRPr lang="ko-KR" altLang="en-US" sz="1000" dirty="0"/>
          </a:p>
        </p:txBody>
      </p:sp>
      <p:sp>
        <p:nvSpPr>
          <p:cNvPr id="13" name="Part Sec Title 1"/>
          <p:cNvSpPr txBox="1"/>
          <p:nvPr/>
        </p:nvSpPr>
        <p:spPr>
          <a:xfrm>
            <a:off x="1418336" y="2057400"/>
            <a:ext cx="1776171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dirty="0">
                <a:solidFill>
                  <a:srgbClr val="1B2740"/>
                </a:solidFill>
                <a:latin typeface="맑은 고딕"/>
                <a:ea typeface="맑은 고딕"/>
                <a:cs typeface="맑은 고딕"/>
              </a:rPr>
              <a:t>과제 요구사항과 구현</a:t>
            </a:r>
            <a:endParaRPr lang="ko-KR" altLang="en-US" sz="1000" dirty="0"/>
          </a:p>
        </p:txBody>
      </p:sp>
      <p:sp>
        <p:nvSpPr>
          <p:cNvPr id="14" name="Part Sec Leader 1"/>
          <p:cNvSpPr/>
          <p:nvPr/>
        </p:nvSpPr>
        <p:spPr>
          <a:xfrm>
            <a:off x="3346907" y="2311400"/>
            <a:ext cx="7263181" cy="0"/>
          </a:xfrm>
          <a:prstGeom prst="line">
            <a:avLst/>
          </a:prstGeom>
          <a:noFill/>
          <a:ln w="15875" cap="rnd">
            <a:solidFill>
              <a:srgbClr val="AEB9CC"/>
            </a:solidFill>
            <a:prstDash val="sysDot"/>
          </a:ln>
        </p:spPr>
      </p:sp>
      <p:sp>
        <p:nvSpPr>
          <p:cNvPr id="15" name="Part Sec Page 1"/>
          <p:cNvSpPr txBox="1"/>
          <p:nvPr/>
        </p:nvSpPr>
        <p:spPr>
          <a:xfrm>
            <a:off x="10737088" y="2057400"/>
            <a:ext cx="711200" cy="4064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 dirty="0">
                <a:solidFill>
                  <a:srgbClr val="4A5A7A"/>
                </a:solidFill>
                <a:latin typeface="맑은 고딕"/>
                <a:ea typeface="맑은 고딕"/>
                <a:cs typeface="맑은 고딕"/>
              </a:rPr>
              <a:t>30</a:t>
            </a:r>
            <a:endParaRPr lang="ko-KR" alt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3  표적 궤적 모의</dc:title>
  <dc:subject>표준 제안/보고 서식</dc:subject>
  <dc:creator>Janghwan Kim (Harley)</dc:creator>
  <cp:lastModifiedBy>PptxGenJS</cp:lastModifiedBy>
  <cp:revision>1</cp:revision>
  <dcterms:created xsi:type="dcterms:W3CDTF">2026-09-21T04:55:30Z</dcterms:created>
  <dcterms:modified xsi:type="dcterms:W3CDTF">2026-09-21T04:55:30Z</dcterms:modified>
</cp:coreProperties>
</file>