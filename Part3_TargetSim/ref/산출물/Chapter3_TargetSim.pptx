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notesMasterIdLst>
    <p:notesMasterId r:id="rId19"/>
  </p:notesMasterIdLst>
  <p:sldSz cx="12191695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안녕하십니까. 과제 3, 표적 궤적 모의 발표를 시작하겠습니다.</a:t>
            </a:r>
          </a:p>
          <a:p>
            <a:r>
              <a:t>내용은 세 덩어리입니다. 표적을 어떤 구조체로 정의했는지, 그 표적을 시간에 따라 어떻게 움직였는지, 그리고 그 결과가 맞다는 것을 어떻게 확인했는지입니다.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1장은 구조체 설계입니다. 표적 하나의 상태를 어떤 변수로 잡을지, 그리고 "기동" 이라는 말을 코드가 다룰 수 있는 값 네 개로 어떻게 바꿨는지를 봅니다.</a:t>
            </a:r>
          </a:p>
          <a:p>
            <a:r>
              <a:t>2장이 구현입니다. 표적 운동을 지배하는 방정식을 먼저 세우고, 거기에 과제에서 추가로 고민해 보라고 한 항목 — 동체 속도를 ECEF 성분으로 바꾸는 방법 — 이 들어갑니다. 0.1초를 전진시키는 수치적분도 여기서 다룹니다.</a:t>
            </a:r>
          </a:p>
          <a:p>
            <a:r>
              <a:t>3장이 결과와 검증입니다. 그림이 그럴듯하게 나왔다는 것만으로는 맞다고 할 수 없어서, 세 가지 방법으로 따로 확인했습니다.</a:t>
            </a:r>
          </a:p>
          <a:p>
            <a:r>
              <a:t>수학은 삼각함수와 행렬 곱셈 정도가 전부이고, 그마저도 필요한 자리에서 다시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문서의 요구사항을 네 덩어리로 묶었습니다.</a:t>
            </a:r>
          </a:p>
          <a:p>
            <a:r>
              <a:t>첫째가 구조체 정의입니다. 표적은 최대 10개, 표적마다 기동은 최대 30개. 위치는 위도 경도 고도로, 속도는 동체 속도 하나로 받고, 기동에는 G 값과 회전축, 시작과 종료 시각이 들어가야 합니다. 이건 1장에서 다룹니다.</a:t>
            </a:r>
          </a:p>
          <a:p>
            <a:r>
              <a:t>둘째가 상태 갱신인데, ECEF 좌표계에서 하라고 되어 있습니다. 여기에 괄호로 "동체 속도를 ECEF 성분으로 바꾸는 방법을 고민해 보라, 안 해도 된다" 는 항목이 붙어 있습니다. 그런데 이건 안 풀면 구현 자체가 안 되는 부분이라 정면으로 다뤘고, 2장의 한가운데에 놓았습니다.</a:t>
            </a:r>
          </a:p>
          <a:p>
            <a:r>
              <a:t>셋째가 시뮬레이션 조건, 넷째가 결과 제시입니다. 둘 다 3장입니다.</a:t>
            </a:r>
          </a:p>
          <a:p>
            <a:r>
              <a:t>아래 띠에 두 가지를 미리 적어 뒀습니다. 하나, 좌표변환과 행렬 연산은 제공받은 코드를 한 줄도 고치지 않고 그대로 썼습니다. 새로 작성한 것은 TargetSim.c 하나입니다. 둘, 오늘 나오는 숫자는 전부 그 코드를 실제로 빌드해서 돌린 결과이고, 원본 CSV 를 같이 제출했습니다.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 그림이 레이다 데이터처리 체인입니다. 안테나가 전파를 받고, 신호처리가 표적 후보를 뽑고, 데이터처리가 그걸 위경고도로 바꿔서 추적 필터로 넘기고, 전시기에 뿌립니다.</a:t>
            </a:r>
          </a:p>
          <a:p>
            <a:r>
              <a:t>저희가 만드는 것은 세 번째 칸부터입니다. 그러면 그 앞의 두 칸이 내보내는 것과 같은 규격의 입력이 있어야 개발을 시작할 수 있습니다. 그 자리를 대신 채우는 게 이번 과제입니다.</a:t>
            </a:r>
          </a:p>
          <a:p>
            <a:r>
              <a:t>왜 실제 시험 대신 모의를 쓰냐면, 표 왼쪽이 그 이유입니다. 배와 비행기를 띄워야 하고, 같은 상황을 두 번 만들 수 없고, 무엇보다 표적이 정확히 어디 있었는지를 알려면 기준 장비가 또 필요한데 그 장비도 오차가 있습니다.</a:t>
            </a:r>
          </a:p>
          <a:p>
            <a:r>
              <a:t>모의는 반대입니다. 제가 넣은 값이 곧 정답입니다. 그래서 알고리즘이 틀렸는지 데이터가 틀렸는지 헷갈릴 일이 없습니다.</a:t>
            </a:r>
          </a:p>
          <a:p>
            <a:r>
              <a:t>오른쪽 세 줄이 그 대신 모의가 지켜야 하는 조건입니다. 규격이 같아야 하고, 물리적으로 말이 돼야 하고, 갱신 간격을 줄이면 오차가 정해진 비율로 줄어야 합니다. 세 번째가 오늘 발표에서 가장 강조하고 싶은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만든 물건은 두 계층입니다.</a:t>
            </a:r>
          </a:p>
          <a:p>
            <a:r>
              <a:t>아래 연산 계층이 순수 C 로 된 TargetSimCore 입니다. 이 중에서 CoordinateTransform 과 matrixCalcLib 는 제공받은 코드 원본이고, 제가 새로 쓴 것은 맨 위 TargetSim.c 하나입니다.</a:t>
            </a:r>
          </a:p>
          <a:p>
            <a:r>
              <a:t>위 표현 계층이 MFC 로 만든 화면입니다.</a:t>
            </a:r>
          </a:p>
          <a:p>
            <a:r>
              <a:t>둘 사이에 오가는 것은 오른쪽 구조체 두 개뿐입니다. 설정을 담은 ST_SimConfig 를 넣으면 시각마다의 상태인 ST_SimSample 이 나옵니다. 공개 함수는 여섯 개고, UI 는 Core 안을 전혀 모릅니다.</a:t>
            </a:r>
          </a:p>
          <a:p>
            <a:r>
              <a:t>이렇게 나눈 덕을 실제로 봤습니다. 이 발표 자료의 숫자를 뽑을 때 리눅스에서 gcc 로 Core 만 따로 컴파일해서 돌렸는데, MFC 쪽은 손댈 필요가 없었습니다. 계산과 화면이 붙어 있었다면 못 했을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1장입니다. 표적 하나를 어떤 숫자들로 적을지 정하는 일입니다.</a:t>
            </a:r>
          </a:p>
          <a:p>
            <a:r>
              <a:t>코드를 짜기 전에 종이에서 결정해야 하고, 한 번 정하면 나중에 바꾸기가 제일 어려운 부분이기도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표적 하나를 다음 순간으로 옮기려면 지금 무엇을 알아야 하는가. 이걸 상태 벡터라고 부릅니다.</a:t>
            </a:r>
          </a:p>
          <a:p>
            <a:r>
              <a:t>셋으로 묶었습니다. ECEF 위치 세 개, ECEF 속도 세 개, 자세각 세 개. 합쳐서 아홉 개입니다.</a:t>
            </a:r>
          </a:p>
          <a:p>
            <a:r>
              <a:t>위치와 속도를 ECEF 로 잡은 것은 명세 조건이고, 왜 그래야 하는지는 2장에서 따로 보겠습니다. 자세각은 Roll, Pitch, Yaw 세 개입니다.</a:t>
            </a:r>
          </a:p>
          <a:p>
            <a:r>
              <a:t>아래가 명세가 주는 입력이 이 상태로 어떻게 들어가는지입니다.</a:t>
            </a:r>
          </a:p>
          <a:p>
            <a:r>
              <a:t>위도 경도 고도는 좌표변환 함수 한 번으로 ECEF 위치가 됩니다. 자세각은 그대로 들어갑니다.</a:t>
            </a:r>
          </a:p>
          <a:p>
            <a:r>
              <a:t>문제는 세 번째 줄입니다. 명세는 속력 하나만 줍니다. 그런데 상태에는 속도 세 성분이 필요합니다. 이 한 줄을 채우는 게 과제에서 추가로 고민해 보라고 한 항목이고, 2장에서 자세히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좌표계는 Part 2 에서 여섯 개를 봤는데, 표적을 움직이는 데 실제로 쓰는 것은 넷입니다.</a:t>
            </a:r>
          </a:p>
          <a:p>
            <a:r>
              <a:t>왼쪽이 ECEF 입니다. 지구 중심이 원점이고, Z 축이 자전축, X 축이 본초자오선 방향입니다. 지구에 박혀 있어서 지구와 같이 돕니다. 단위는 미터입니다.</a:t>
            </a:r>
          </a:p>
          <a:p>
            <a:r>
              <a:t>같은 점 P 를 각도로 적으면 위도 경도 고도, LLA 가 됩니다. 그림에서 파란 호가 위도, 초록 호가 경도, 빨간 점선이 고도입니다. 같은 점을 다르게 적은 것뿐이라 서로 언제든 바꿀 수 있습니다.</a:t>
            </a:r>
          </a:p>
          <a:p>
            <a:r>
              <a:t>오른쪽이 표적이 있는 자리를 확대한 것입니다. 표적 발밑에 접평면을 하나 깔고, 북쪽을 N, 동쪽을 E, 지구 중심 쪽을 D 로 잡은 것이 NED 입니다.</a:t>
            </a:r>
          </a:p>
          <a:p>
            <a:r>
              <a:t>그 위에 빨간 축이 동체 좌표계입니다. x_b 가 기수 방향입니다. 수평 비행이면 Roll 과 Pitch 가 0 이라, 기수 축과 북쪽 사이의 각이 곧 Yaw 입니다. 주황색 호가 그 각입니다.</a:t>
            </a:r>
          </a:p>
          <a:p>
            <a:r>
              <a:t>아래 띠가 넷을 잇는 순서입니다. 사람은 LLA 로 말하고, 방향은 NED 에서 풀고, 더하기는 ECEF 에서 합니다. 이번 과제는 이 화살표를 거꾸로 타고 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자세각 셋이 각각 어느 축 둘레의 회전인지 정리하겠습니다.</a:t>
            </a:r>
          </a:p>
          <a:p>
            <a:r>
              <a:t>왼쪽 Roll 은 기수 방향 축, 그러니까 x_b 둘레입니다. 정면에서 본 그림이고 날개가 기웁니다. 회전축이 화면 밖으로 나오니까 가운데를 점으로 찍었습니다.</a:t>
            </a:r>
          </a:p>
          <a:p>
            <a:r>
              <a:t>가운데 Pitch 는 오른쪽 날개 축, y_b 둘레입니다. 옆에서 본 그림이고 기수가 들립니다. 고도가 바뀌는 회전입니다.</a:t>
            </a:r>
          </a:p>
          <a:p>
            <a:r>
              <a:t>오른쪽 Yaw 는 아래 방향 축, z_b 둘레입니다. 위에서 본 그림이고 기수가 좌우로 돕니다. 수평 선회가 이 축입니다. Pitch 와 Yaw 는 축이 화면 안으로 들어가서 엑스 표시로 찍었습니다.</a:t>
            </a:r>
          </a:p>
          <a:p>
            <a:r>
              <a:t>세 그림 모두 회색 파선이 회전 전 기준선입니다.</a:t>
            </a:r>
          </a:p>
          <a:p>
            <a:r>
              <a:t>아래가 중요합니다. 동체에서 NED 로 가는 회전행렬은 이 세 회전의 곱인데, 순서가 정해져 있습니다. Yaw 먼저, 그다음 Pitch, 마지막이 Roll 입니다. 순서를 바꾸면 다른 자세가 됩니다.</a:t>
            </a:r>
          </a:p>
          <a:p>
            <a:r>
              <a:t>그리고 빨간 줄. 제공받은 f_Trans_Body_To_Ned 함수는 인자를 Roll, Yaw, Pitch 순서로 받습니다. 구조체 필드 순서인 Roll, Pitch, Yaw 와 다릅니다. 여기서 한 번 틀려서 고생했기 때문에 호출하는 자리마다 주석을 남겨 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다음이 기동입니다. "12초부터 16초까지 오른쪽으로 8G 로 꺾어라" 라는 말을 구조체 한 줄로 바꿔야 합니다.</a:t>
            </a:r>
          </a:p>
          <a:p>
            <a:r>
              <a:t>왼쪽 위가 그 네 개입니다. 회전축, G 값, 시작 시각, 종료 시각. 축은 명세가 정한 그대로 0이 없음, 1이 Roll, 2가 Yaw, 3이 Pitch 입니다. G 값은 크기가 세기, 부호가 방향입니다.</a:t>
            </a:r>
          </a:p>
          <a:p>
            <a:r>
              <a:t>그 아래 구간 규칙을 하나 정했습니다. 시작은 포함하고 끝은 포함하지 않습니다. 그래야 한 기동이 16초에 끝나고 다음이 16초에 시작해도 겹침으로 잡히지 않고, 연속 기동을 한 줄씩 이어 붙일 수 있습니다. 실제로 겹치는 경우에는 계산을 시작하기 전에 오류 코드로 돌려보냅니다.</a:t>
            </a:r>
          </a:p>
          <a:p>
            <a:r>
              <a:t>오른쪽 그림이 그 기동표가 실제 결과로 어떻게 나타나는지입니다. 세로축이 기수 방위각이고, 분홍색 구간이 기동표에 적은 구간입니다.</a:t>
            </a:r>
          </a:p>
          <a:p>
            <a:r>
              <a:t>색칠한 데서만 선이 기울고, 나머지는 평평합니다. 그리고 기울어진 정도가 각속도인데, 그 값이 다음 장의 식에서 나옵니다.</a:t>
            </a:r>
          </a:p>
          <a:p>
            <a:r>
              <a:t>한 가지 덧붙이면, 기동 지시는 보통 "위도 32.1 에서 좌 90도" 처럼 좌표로 옵니다. 구조체에는 시각 칸밖에 없어서, Core 를 실제로 돌려 그 좌표에 닿는 시각을 찾아 옮기는 작업을 따로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각속도를 직접 받지 않고 G 로 받을까요.</a:t>
            </a:r>
          </a:p>
          <a:p>
            <a:r>
              <a:t>G 가 실제 한계값이기 때문입니다. 전투기는 9G 근처가 한계이고 조종사도 그 근처에서 의식을 잃습니다. 시나리오를 만드는 사람은 "이 표적이 낼 수 있는 G 가 얼마인가" 로 생각하지, "초당 몇 도" 로 생각하지 않습니다.</a:t>
            </a:r>
          </a:p>
          <a:p>
            <a:r>
              <a:t>왼쪽이 수평 선회의 기하입니다. 속도는 원의 접선 방향이고, 가속도는 항상 중심을 향합니다. 이걸 구심가속도라고 합니다.</a:t>
            </a:r>
          </a:p>
          <a:p>
            <a:r>
              <a:t>오른쪽이 유도입니다. 세 줄입니다.</a:t>
            </a:r>
          </a:p>
          <a:p>
            <a:r>
              <a:t>첫 줄, 원운동의 구심가속도는 속력 제곱 나누기 반경이고, 이건 속력 곱하기 각속도와 같습니다.</a:t>
            </a:r>
          </a:p>
          <a:p>
            <a:r>
              <a:t>둘째 줄, 그 구심가속도를 중력가속도의 n 배로 적자는 게 G 값입니다.</a:t>
            </a:r>
          </a:p>
          <a:p>
            <a:r>
              <a:t>셋째 줄, 두 줄을 합치면 각속도는 n 곱하기 9.80665 나누기 V, 선회 반경은 V 제곱 나누기 n 곱하기 9.80665 입니다. G 값 하나가 회전 속도와 반경을 동시에 정합니다.</a:t>
            </a:r>
          </a:p>
          <a:p>
            <a:r>
              <a:t>코드에서는 그 밑의 한 줄이 전부입니다.</a:t>
            </a:r>
          </a:p>
          <a:p>
            <a:r>
              <a:t>아래 표가 이번 과제 두 표적에 실제로 G 를 걸었을 때 값입니다. 여기서 읽으실 것은, 같은 G 라도 빠른 표적이 훨씬 덜 꺾인다는 점입니다. 분모에 속력이 있으니까요. 초속 30미터 대함은 1G 로도 초당 18.7도를 도는데, 초속 200미터 대공은 2.8도밖에 못 돕니다. 반경도 92미터 대 4킬로미터로 차이가 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축이 셋이라고 말로만 하면 감이 안 오니까 실제로 돌려 봤습니다.</a:t>
            </a:r>
          </a:p>
          <a:p>
            <a:r>
              <a:t>같은 대공 표적, 같은 2G, 같은 10초입니다. 축만 바꿨습니다.</a:t>
            </a:r>
          </a:p>
          <a:p>
            <a:r>
              <a:t>왼쪽이 위에서 본 지상 궤적입니다. 파란색 Yaw 는 기수가 옆으로 돌아 궤적이 크게 휘었습니다. 118도 돌았습니다.</a:t>
            </a:r>
          </a:p>
          <a:p>
            <a:r>
              <a:t>가운데가 고도입니다. 주황색 Pitch 가 10초 동안 7.55킬로미터를 올라갔습니다. 대신 위에서 보면 거의 제자리입니다. 파란 Yaw 는 고도가 300.000미터 그대로입니다.</a:t>
            </a:r>
          </a:p>
          <a:p>
            <a:r>
              <a:t>보라색 Roll 이 재미있습니다. 궤적도 고도도 전혀 안 변했습니다. 처음에는 구현이 틀린 줄 알고 한참 봤습니다.</a:t>
            </a:r>
          </a:p>
          <a:p>
            <a:r>
              <a:t>그런데 물리적으로 맞는 결과였습니다. Roll 축이 곧 속도 방향 그 자체이기 때문입니다. 자기가 가는 방향을 축으로 삼아 몸통만 돌리는 거라, 방향이 바뀔 수가 없습니다.</a:t>
            </a:r>
          </a:p>
          <a:p>
            <a:r>
              <a:t>실제 비행기도 Roll 만으로는 방향을 못 바꿉니다. Roll 로 기울인 다음 Pitch 를 당겨야 선회가 됩니다. 저희 모델은 Roll 과 Pitch 를 독립적으로 적분하니까 그 결합이 없고, 그래서 Roll 이 궤적을 바꾸지 않습니다. 이건 모델의 한계이기도 해서 뒤에 다시 언급하겠습니다.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지금까지 이야기한 것을 구조체로 그리면 이렇게 됩니다.</a:t>
            </a:r>
          </a:p>
          <a:p>
            <a:r>
              <a:t>왼쪽이 입력입니다. 맨 위 ST_SimConfig 가 시뮬레이션 시간과 갱신 간격, 표적 수를 들고, 그 안에 플랫폼 하나와 표적 배열이 들어갑니다. 표적마다 기동 배열이 또 들어갑니다. 10개와 30개는 배열 크기로 박아 뒀습니다.</a:t>
            </a:r>
          </a:p>
          <a:p>
            <a:r>
              <a:t>오른쪽이 출력입니다. ST_SimState 가 진행 상태를 들고, 그 안의 ST_SimSample 이 "이 시각 전원의 상태" 한 장입니다. 그 안에 객체마다 ST_TargetState 가 있고, 거기에 ECEF 위치, ECEF 속도, LLA, 자세각이 들어갑니다.</a:t>
            </a:r>
          </a:p>
          <a:p>
            <a:r>
              <a:t>각 필드 옆에 타입과 단위, 개수를 같이 적어 뒀습니다. 단위를 문서가 아니라 구조체 옆에 적어 두는 게 나중에 헷갈리지 않는 방법이라고 봤습니다.</a:t>
            </a:r>
          </a:p>
          <a:p>
            <a:r>
              <a:t>아래 세 가지가 설계 결정입니다.</a:t>
            </a:r>
          </a:p>
          <a:p>
            <a:r>
              <a:t>입력과 출력을 완전히 갈랐습니다. 설정은 처음 한 번만 읽고, 매 스텝 바뀌는 것은 상태뿐입니다. 섞어 두면 "이 값이 내가 넣은 값인지 계산된 값인지" 가 헷갈립니다.</a:t>
            </a:r>
          </a:p>
          <a:p>
            <a:r>
              <a:t>고정 배열을 썼습니다. 10 곱하기 30 이면 구조체가 10킬로바이트 정도인데, 요즘 기준으로 작은 값이고 대신 실행 중에 메모리 할당이 실패할 자리가 없습니다.</a:t>
            </a:r>
          </a:p>
          <a:p>
            <a:r>
              <a:t>그리고 위치와 자세 구조체는 제공받은 좌표변환 헤더에 이미 있던 것을 그대로 썼습니다. 새로 만들면 변환할 때마다 복사해 넣어야 하니까요.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헤더 파일입니다.</a:t>
            </a:r>
          </a:p>
          <a:p>
            <a:r>
              <a:t>위가 회전축 enum 입니다. 값을 0, 1, 2, 3 으로 명세와 똑같이 맞췄습니다. 이렇게 해 두면 화면에서 사용자가 고른 번호를 그대로 넣을 수 있어서 변환표가 필요 없습니다.</a:t>
            </a:r>
          </a:p>
          <a:p>
            <a:r>
              <a:t>가운데가 기동 한 건입니다. 앞에서 본 네 개가 그대로 들어가 있습니다.</a:t>
            </a:r>
          </a:p>
          <a:p>
            <a:r>
              <a:t>아래가 표적 초기 설정입니다. 위치가 STRUCT_Coord_Lla, 자세가 STRUCT_Coord_Attitude 인데 방금 말씀드린 대로 제공받은 구조체입니다. 단위가 라디안인 것도 그 헤더를 따랐습니다. 그 아래 headingSpeed 가 속력 하나입니다.</a:t>
            </a:r>
          </a:p>
          <a:p>
            <a:r>
              <a:t>오른쪽 메모 셋만 짚겠습니다.</a:t>
            </a:r>
          </a:p>
          <a:p>
            <a:r>
              <a:t>구간을 반열린 구간으로 둔 이유는 앞에서 말씀드렸습니다.</a:t>
            </a:r>
          </a:p>
          <a:p>
            <a:r>
              <a:t>겹치면 계산 전에 거부합니다. 시작해 놓고 중간에 이상한 값이 나오는 것보다, 시작하기 전에 못 하겠다고 하는 쪽이 낫다고 봤습니다.</a:t>
            </a:r>
          </a:p>
          <a:p>
            <a:r>
              <a:t>10 곱하기 30 은 고정 배열입니다.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출력 쪽입니다.</a:t>
            </a:r>
          </a:p>
          <a:p>
            <a:r>
              <a:t>위가 객체 하나의 상태입니다. 눈여겨보실 것은 파란 두 줄, ECEF 위치와 속도를 들고 있으면서 그 아래 LLA 도 같이 들고 있다는 점입니다.</a:t>
            </a:r>
          </a:p>
          <a:p>
            <a:r>
              <a:t>값이 중복되는 것처럼 보이는데 이유가 셋입니다.</a:t>
            </a:r>
          </a:p>
          <a:p>
            <a:r>
              <a:t>하나, 갱신은 ECEF 에서 해야 지구 곡률 항이 사라집니다. 둘, 출력과 화면과 CSV 는 LLA 라야 읽힙니다. 셋, 이게 덜 알려진 부분인데 다음 스텝의 속도를 만들 때도 그 지점의 위도와 경도가 필요합니다. NED 축을 세우려면 내가 지금 지구 어디에 있는지를 알아야 하니까요.</a:t>
            </a:r>
          </a:p>
          <a:p>
            <a:r>
              <a:t>세 군데에서 쓰는데 스텝마다 한 번만 변환해 두면 되니까, 들고 있는 쪽이 이득입니다.</a:t>
            </a:r>
          </a:p>
          <a:p>
            <a:r>
              <a:t>아래가 한 시각의 전원 상태입니다. 플랫폼이 따로 한 칸, 표적이 배열로 들어갑니다.</a:t>
            </a:r>
          </a:p>
          <a:p>
            <a:r>
              <a:t>플랫폼도 같은 ST_TargetState 를 씁니다. 플랫폼은 기동이 없는 표적일 뿐이라, 각속도만 0 으로 넣고 똑같은 함수를 통과시킵니다. 코드가 두 벌이 안 됩니다. 그리고 속력으로 나누는 연산이 기동 조회 안에만 있어서, 속력이 0 인 정지 플랫폼도 안전합니다.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2장입니다. 구조체에 담긴 값을 실제로 움직이는 부분입니다.</a:t>
            </a:r>
          </a:p>
          <a:p>
            <a:r>
              <a:t>여기가 과제의 핵심이고, 추가로 고민해 보라고 한 항목도 이 안에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구현을 시작하기 전에 방정식부터 세웠습니다. 세 줄입니다.</a:t>
            </a:r>
          </a:p>
          <a:p>
            <a:r>
              <a:t>첫 줄. 위치의 시간 변화율이 곧 속도다. 이건 정의입니다.</a:t>
            </a:r>
          </a:p>
          <a:p>
            <a:r>
              <a:t>둘째 줄. 속도는 기수 방향 크기 V 를 두 번 돌려 만든다. 회전행렬 두 개가 곱해져 있는데, 오른쪽이 동체에서 NED 로, 왼쪽이 NED 에서 ECEF 로 가는 행렬입니다. 이 줄이 뒤에 나올 추가 고민 항목의 답입니다.</a:t>
            </a:r>
          </a:p>
          <a:p>
            <a:r>
              <a:t>셋째 줄. 자세각은 기동표가 지시하는 각속도로 돈다. 그 각속도가 앞에서 본 n 곱하기 g 나누기 V 이고, 기동이 걸린 구간에서만 0 이 아닙니다.</a:t>
            </a:r>
          </a:p>
          <a:p>
            <a:r>
              <a:t>아래 세 칸이 이 모델이 전제하는 것입니다. 이걸 명시적으로 적어 두는 게 중요하다고 봤습니다.</a:t>
            </a:r>
          </a:p>
          <a:p>
            <a:r>
              <a:t>첫째, 운동학 모델입니다. 힘이 아니라 속도와 각속도를 직접 줍니다. 중력이나 추력, 항력을 풀지 않으니까 탄도 표적에는 맞지 않습니다.</a:t>
            </a:r>
          </a:p>
          <a:p>
            <a:r>
              <a:t>둘째, 속력이 일정합니다. 회전만 하니까 크기가 안 변합니다. 가속하는 표적이 필요하면 V 를 시간 함수로 바꿔야 합니다.</a:t>
            </a:r>
          </a:p>
          <a:p>
            <a:r>
              <a:t>셋째, 오일러각을 직접 적분합니다. 그래서 Pitch 가 90도 근처로 가면 짐벌락이 생깁니다. 사원수로 바꾸면 풀리는데, 이번 과제 범위를 넘는다고 보고 남겨 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명세가 ECEF 에서 갱신하라고 정해 놨는데, 왜 그런지 직접 계산해 보면 이유가 분명합니다.</a:t>
            </a:r>
          </a:p>
          <a:p>
            <a:r>
              <a:t>왼쪽이 LLA 에서 바로 적분하는 경우입니다. 위도의 변화율을 쓰려면 분모에 곡률반경이 들어갑니다. 그런데 그 곡률반경이 위도마다 다릅니다. 그러니까 매 스텝 다시 구해야 합니다.</a:t>
            </a:r>
          </a:p>
          <a:p>
            <a:r>
              <a:t>그것만이면 계산이 좀 늘어나는 정도인데, 진짜 문제는 그 아래입니다. 곧게 날려도 스텝마다 고도가 조금씩 올라갑니다. 지면이 곡면인데 표적은 직선으로 나아가려고 하니까, 그 차이가 매번 쌓입니다.</a:t>
            </a:r>
          </a:p>
          <a:p>
            <a:r>
              <a:t>오른쪽이 ECEF 입니다. 미터 단위 직교좌표라 새 위치는 옛 위치에 속도 곱하기 델타티를 그냥 더하면 됩니다. 지구가 둥근 것은 좌표계가 이미 품고 있습니다.</a:t>
            </a:r>
          </a:p>
          <a:p>
            <a:r>
              <a:t>대신 치러야 하는 값이 있습니다. 사람이 못 읽으니까 출력할 때 되돌려야 하고, 속도를 만들 때는 그 지점의 위경도가 필요합니다. 그래서 앞에서 LLA 를 같이 들고 있다고 말씀드린 겁니다.</a:t>
            </a:r>
          </a:p>
          <a:p>
            <a:r>
              <a:t>아래가 실제 숫자입니다. 대공 표적은 0.1초에 20미터를 갑니다. 그러면 스텝당 고도 편차가 31마이크로미터, 600스텝이면 18.8밀리미터입니다.</a:t>
            </a:r>
          </a:p>
          <a:p>
            <a:r>
              <a:t>값 자체는 작습니다. 그런데 중요한 건 크기가 아니라 성질입니다. 이런 항이 남아 있으면 갱신 간격을 줄여도 오차가 선형으로만 줄어듭니다. 2차 수렴이 깨집니다. 마지막 줄이 실제 결과인데, 중점법으로 보정한 뒤에는 고도가 소수점 여섯째 자리까지 고정입니다.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과제에서 추가로 고민해 보라고 한 항목입니다. 동체 속도 V_heading 을 ECEF 의 Vx, Vy, Vz 로 어떻게 바꿀 것인가.</a:t>
            </a:r>
          </a:p>
          <a:p>
            <a:r>
              <a:t>결론부터 말씀드리면 회전 두 번입니다.</a:t>
            </a:r>
          </a:p>
          <a:p>
            <a:r>
              <a:t>출발은 동체 좌표입니다. 기수 방향이 x 축이니까 속도는 그냥 V, 0, 0 입니다. 옆도 0, 아래도 0. 이게 제일 쉬운 형태이고, 속도를 크기 하나로 받은 덕입니다.</a:t>
            </a:r>
          </a:p>
          <a:p>
            <a:r>
              <a:t>첫 번째 회전이 동체에서 NED 로 가는 것입니다. 자세각으로 돌리면 북쪽 성분, 동쪽 성분, 아래 성분이 나옵니다. Yaw 가 180도면 북쪽 성분이 마이너스 V, 나머지가 0 이 나오겠죠. 남쪽으로 간다는 뜻입니다.</a:t>
            </a:r>
          </a:p>
          <a:p>
            <a:r>
              <a:t>두 번째 회전이 NED 에서 ECEF 로 가는 것입니다. 여기에 그 지점의 위도와 경도가 들어갑니다. 같은 "북쪽" 이라도 제주 앞바다에서의 북쪽과 뉴욕에서의 북쪽은 ECEF 에서 전혀 다른 방향이니까요.</a:t>
            </a:r>
          </a:p>
          <a:p>
            <a:r>
              <a:t>가운데 아래 식이 그 둘을 합친 것입니다.</a:t>
            </a:r>
          </a:p>
          <a:p>
            <a:r>
              <a:t>그 오른쪽이 이 방식의 이점입니다. 두 번 다 회전행렬이고, 회전행렬은 직교행렬이라 벡터의 크기를 바꾸지 않습니다. 그래서 결과 속도의 크기는 처음 넣은 V 와 정확히 같습니다.</a:t>
            </a:r>
          </a:p>
          <a:p>
            <a:r>
              <a:t>이건 증명된 성질이지 시험으로 알아내는 게 아닙니다. 다만 구현이 그 성질을 지키는지는 확인해야 해서, 뒤에서 601개 표본의 속력을 재 본 결과를 보여 드리겠습니다.</a:t>
            </a:r>
          </a:p>
          <a:p>
            <a:r>
              <a:t>아래 두 줄이 구현할 때 주의한 부분인데, 다음다음 장에서 코드로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행렬을 펼치면 이렇게 됩니다. 외우실 필요는 없고 구조만 보시면 됩니다.</a:t>
            </a:r>
          </a:p>
          <a:p>
            <a:r>
              <a:t>왼쪽이 동체에서 NED 로 가는 행렬입니다. Roll, Pitch, Yaw 세 각의 사인 코사인이 섞여 있습니다. 세 축 회전을 순서대로 곱해서 펼친 결과이고, c 는 코사인, s 는 사인입니다.</a:t>
            </a:r>
          </a:p>
          <a:p>
            <a:r>
              <a:t>오른쪽이 NED 에서 ECEF 로 가는 행렬입니다. 이건 훨씬 단순해서 위도와 경도만 들어갑니다. 표적이 움직이면 위경도가 바뀌니까, 이 행렬도 매 스텝 다시 만들어야 합니다.</a:t>
            </a:r>
          </a:p>
          <a:p>
            <a:r>
              <a:t>아래가 두 행렬을 실제로 쓰는 방법인데, 여기가 제가 한 번 틀렸던 자리입니다.</a:t>
            </a:r>
          </a:p>
          <a:p>
            <a:r>
              <a:t>왼쪽. 위치를 옮길 때는 회전한 다음 기준점을 더합니다. 원점이 다르니까요.</a:t>
            </a:r>
          </a:p>
          <a:p>
            <a:r>
              <a:t>오른쪽. 속도는 방향뿐이라 기준점을 더하면 안 됩니다. 그런데 제공받은 함수는 위치를 옮기라고 만든 거라 평행이동이 들어 있습니다. 그래서 기준점 자리에 0, 0, 0 을 넣어서 회전만 남겼습니다.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방금 설명한 게 코드로는 실행문 두 줄입니다.</a:t>
            </a:r>
          </a:p>
          <a:p>
            <a:r>
              <a:t>첫 줄이 동체에서 NED 입니다. headingSpeed 를 첫 인자로 주고 나머지 둘을 0 으로 줍니다. 이게 "기수 방향으로 V" 라는 뜻입니다.</a:t>
            </a:r>
          </a:p>
          <a:p>
            <a:r>
              <a:t>둘째 줄이 NED 에서 ECEF 인데, 기준점 자리에 0 이 세 개 들어가 있는 게 보이실 겁니다. 방금 말씀드린 그 부분입니다.</a:t>
            </a:r>
          </a:p>
          <a:p>
            <a:r>
              <a:t>아래 카드 셋이 이 함수에서 신경 쓴 것들입니다.</a:t>
            </a:r>
          </a:p>
          <a:p>
            <a:r>
              <a:t>왼쪽이 기준점 이야기입니다.</a:t>
            </a:r>
          </a:p>
          <a:p>
            <a:r>
              <a:t>가운데가 인자 순서입니다. 제공받은 함수가 Roll, Yaw, Pitch 순서로 받는데 구조체 필드는 Roll, Pitch, Yaw 순서입니다. 컴파일도 되고 실행도 되는데 결과만 틀리는 종류의 실수라, 주석을 남겨 뒀습니다.</a:t>
            </a:r>
          </a:p>
          <a:p>
            <a:r>
              <a:t>오른쪽이 속력 보존 확인입니다. 601개 표본에서 속력이 소수점 열두 자리까지 입력값과 같았습니다.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위치와 속도를 구했으면 이제 0.1초를 전진시켜야 합니다.</a:t>
            </a:r>
          </a:p>
          <a:p>
            <a:r>
              <a:t>왼쪽 위가 제일 단순한 방법입니다. 지금 속도로 0.1초 곱해서 더한다. 오일러법이라고 합니다.</a:t>
            </a:r>
          </a:p>
          <a:p>
            <a:r>
              <a:t>직진이면 아무 문제가 없습니다. 그런데 선회 중이면 0.1초 동안에도 기수가 계속 돌고 있는데, 출발할 때의 방향으로 쭉 밀어 버리니까 굽은 길을 직선 토막으로 근사하게 됩니다. 늘 바깥쪽으로 밀립니다. 그림 오른쪽 끝에 "벌어짐" 이라고 표시한 부분입니다.</a:t>
            </a:r>
          </a:p>
          <a:p>
            <a:r>
              <a:t>왼쪽 아래가 중점법입니다. 일단 반 걸음만 가봅니다. 회색 점선이 그겁니다. 거기서 방향을 다시 재고, 그 방향으로 한 걸음을 갑니다. 반 걸음 간 자리의 기울기가 구간 평균에 훨씬 가깝습니다.</a:t>
            </a:r>
          </a:p>
          <a:p>
            <a:r>
              <a:t>오른쪽이 식과 오차 차수입니다. 오일러법은 국소 오차가 델타티 제곱, 전역 오차가 델타티에 비례합니다. 1차입니다. 중점법은 국소가 세제곱, 전역이 제곱입니다. 2차입니다.</a:t>
            </a:r>
          </a:p>
          <a:p>
            <a:r>
              <a:t>2차라는 말은 간격을 절반으로 줄이면 오차가 4분의 1이 된다는 뜻입니다. 이건 뒤에서 숫자로 확인하겠습니다.</a:t>
            </a:r>
          </a:p>
          <a:p>
            <a:r>
              <a:t>계산량은 좌표변환 두 번에서 네 번으로 늘어납니다. 대신 0.1초에서 오차가 1.36미터에서 1.36센티미터로, 100배 줄었습니다. 그 정도면 치를 만한 값이라고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중점법이 코드로는 이렇게 생겼습니다. 네 덩어리입니다.</a:t>
            </a:r>
          </a:p>
          <a:p>
            <a:r>
              <a:t>①번. 자세각을 반 스텝 돌립니다. 각속도가 구간 안에서 상수라 그냥 더하면 됩니다.</a:t>
            </a:r>
          </a:p>
          <a:p>
            <a:r>
              <a:t>②번. 반 스텝 뒤의 위치를 구합니다. 스텝 시작 속도로 예측합니다.</a:t>
            </a:r>
          </a:p>
          <a:p>
            <a:r>
              <a:t>③번. 그 자리, 그 자세에서 속도를 다시 구합니다. 이게 이 스텝의 대표 속도입니다.</a:t>
            </a:r>
          </a:p>
          <a:p>
            <a:r>
              <a:t>④번. 그 속도로 한 스텝을 옮깁니다.</a:t>
            </a:r>
          </a:p>
          <a:p>
            <a:r>
              <a:t>오른쪽 위 카드가 ②번 이야기인데, 여기가 제가 처음에 빼먹었던 부분입니다.</a:t>
            </a:r>
          </a:p>
          <a:p>
            <a:r>
              <a:t>원래는 자세만 반 스텝 돌리고 위치는 그대로 두고 속도를 만들었습니다. 그렇게 해도 겉보기에는 잘 돌았습니다. 그런데 수평으로 날린 표적의 고도가 스텝마다 아주 조금씩 올라갔습니다.</a:t>
            </a:r>
          </a:p>
          <a:p>
            <a:r>
              <a:t>이유가 이겁니다. 스텝 시작 지점의 위경도로 NED 축을 세우면, 표적은 이미 앞으로 나아갔는데 "북쪽" 의 방향은 뒤에 남아 있는 셈이 됩니다. 앞 장에서 본 d 제곱 나누기 2R 이 바로 이 항입니다. 위치까지 반 스텝 옮기고 나서 이 항이 사라졌습니다.</a:t>
            </a:r>
          </a:p>
          <a:p>
            <a:r>
              <a:t>오른쪽 아래가 알고도 남겨 둔 한계입니다. 오일러각을 직접 적분하니까 Pitch 가 플러스마이너스 90도 근처로 가면 Yaw 축이 속도 방향과 겹쳐서 Yaw 기동이 궤적을 못 바꿉니다. 짐벌락입니다. 사원수를 쓰면 풀리는데 과제 범위를 넘는다고 보고 주석으로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왼쪽이 지금까지 이야기한 것을 의사코드로 적은 것입니다. 플랫폼 하나와 표적 N 개에 대해 이 다섯 단계가 돕니다. 색이 옅은 줄이 주석이고, 실제로 하는 일은 대입문 몇 줄입니다.</a:t>
            </a:r>
          </a:p>
          <a:p>
            <a:r>
              <a:t>오른쪽 위가 한 스텝의 비용입니다. 좌표변환 호출이 네 번, 그 안에서 행렬 곱셈이 여덟 번, 삼각함수가 스무 번쯤입니다. 나눗셈이 들어가는 곳은 기동 조회 한 군데뿐입니다.</a:t>
            </a:r>
          </a:p>
          <a:p>
            <a:r>
              <a:t>그 아래가 실측 성능입니다. 601 표본에 객체 3개면 4.8밀리초입니다. 한 스텝 한 객체가 2.7마이크로초쯤 됩니다. 표적을 10개로 늘리고 간격을 0.01초로 줄여도 0.5초 안에 끝납니다.</a:t>
            </a:r>
          </a:p>
          <a:p>
            <a:r>
              <a:t>이 정도면 화면에서 값을 고칠 때마다 다시 돌려도 사용자가 기다림을 못 느낍니다. 실제로 UI 는 그렇게 동작합니다.</a:t>
            </a:r>
          </a:p>
          <a:p>
            <a:r>
              <a:t>맨 아래 빨간 상자가 다시 한번 ④번 강조입니다.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방어적 구현입니다.</a:t>
            </a:r>
          </a:p>
          <a:p>
            <a:r>
              <a:t>위 네 칸이 한 스텝의 처리 순서입니다. 먼저 지금 상태를 사본으로 뜹니다. 사본에서 전부 계산합니다. 결과가 유한한지 확인합니다. 다 통과했을 때만 한 번에 반영합니다.</a:t>
            </a:r>
          </a:p>
          <a:p>
            <a:r>
              <a:t>왜 이렇게 했냐면, 제공받은 변환 함수들이 값만 돌려줄 뿐 실패를 알려주지 않기 때문입니다. 0으로 나누거나 정의역을 벗어나도 NaN 이나 무한대를 그냥 리턴합니다. 그래서 결과가 유한한지를 제가 직접 봅니다.</a:t>
            </a:r>
          </a:p>
          <a:p>
            <a:r>
              <a:t>가운데 분홍 상자가 이렇게 해서 생기지 않는 상태들입니다. 표적 1은 새 시각인데 표적 2는 옛 시각인 표본, 위치는 갱신됐는데 속도는 안 된 객체, NaN 이 섞인 채 다음 스텝으로 넘어가서 전체가 오염되는 것.</a:t>
            </a:r>
          </a:p>
          <a:p>
            <a:r>
              <a:t>이런 건 한 번 생기면 어디서부터 틀렸는지 찾기가 굉장히 어렵습니다. 그래서 아예 못 생기게 막았습니다.</a:t>
            </a:r>
          </a:p>
          <a:p>
            <a:r>
              <a:t>아래가 오류 코드 목록입니다. 맨 오른쪽 초록색 하나만 오류가 아니라 정상 종료입니다.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3장, 결과입니다.</a:t>
            </a:r>
          </a:p>
          <a:p>
            <a:r>
              <a:t>명세 조건 그대로 돌린 궤적을 보여 드리고, 그게 맞다는 것을 세 가지 방법으로 확인하겠습니다. 그림이 그럴듯하게 나왔다고 맞는 건 아니니까요.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문서 2항의 값을 그대로 넣었습니다.</a:t>
            </a:r>
          </a:p>
          <a:p>
            <a:r>
              <a:t>플랫폼은 위도 32도, 경도 126도, 고도 0, 속력 0 입니다. 움직이지 않습니다.</a:t>
            </a:r>
          </a:p>
          <a:p>
            <a:r>
              <a:t>대함 표적은 위도 32.125, 경도 126.03, 고도 0, 초속 30미터, Yaw 270도. 270도면 서쪽입니다.</a:t>
            </a:r>
          </a:p>
          <a:p>
            <a:r>
              <a:t>대공 표적은 위도 32.12, 경도 126.0, 고도 300미터, 초속 200미터, Yaw 180도. 남쪽입니다.</a:t>
            </a:r>
          </a:p>
          <a:p>
            <a:r>
              <a:t>60초에 0.1초 간격이니까 스텝이 600번, 표본이 601개입니다. 시각은 누적해서 더하지 않고 스텝 번호에 간격을 곱해서 매겼습니다. 0.1을 600번 더하면 반올림 오차가 쌓이는데, 곱셈은 한 번이라 안 쌓입니다.</a:t>
            </a:r>
          </a:p>
          <a:p>
            <a:r>
              <a:t>가운데 카드가 중요합니다. 이 조건은 검증하기 아주 좋은 조건입니다. 기동이 없으니까 답을 미리 알 수 있습니다. 대함은 정서쪽으로만 가니까 위도가 변하면 안 되고, 대공은 정남쪽으로만 가니까 경도가 변하면 안 되고, 둘 다 수평이니까 고도가 변하면 안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결과입니다. 플랫폼을 원점으로 잡은 동-북 평면이고, 점 하나가 10초입니다.</a:t>
            </a:r>
          </a:p>
          <a:p>
            <a:r>
              <a:t>빨간색 대공 표적이 정남쪽으로 12킬로미터를 내려갔습니다. 초속 200미터 곱하기 60초니까 12킬로미터가 맞습니다.</a:t>
            </a:r>
          </a:p>
          <a:p>
            <a:r>
              <a:t>파란색 대함 표적은 너무 작아서 왼쪽 위에 확대해서 넣었습니다. 서쪽으로 1.8킬로미터입니다.</a:t>
            </a:r>
          </a:p>
          <a:p>
            <a:r>
              <a:t>둘 다 완벽한 직선입니다. 기동을 안 걸었으니 그래야 합니다.</a:t>
            </a:r>
          </a:p>
          <a:p>
            <a:r>
              <a:t>오른쪽 위가 고도입니다. 60초 내내 평평합니다. 대공은 300.000000미터, 대함은 0.000000미터입니다.</a:t>
            </a:r>
          </a:p>
          <a:p>
            <a:r>
              <a:t>오른쪽 아래가 ECEF 속도의 크기입니다. 소수점 열두 자리까지 넣은 값 그대로입니다. 앞에서 회전행렬이 크기를 안 바꾼다고 말씀드린 그 성질이 그대로 나온 겁니다.</a:t>
            </a:r>
          </a:p>
          <a:p>
            <a:r>
              <a:t>여기까지가 눈으로 보는 확인이고, 다음 세 장이 숫자로 하는 확인입니다.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변하면 안 되는 값이 실제로 얼마나 변했는지를 마이크로미터 단위까지 봤습니다.</a:t>
            </a:r>
          </a:p>
          <a:p>
            <a:r>
              <a:t>왼쪽 그래프에서 세로축 단위가 마이크로미터입니다. 100만분의 1미터입니다.</a:t>
            </a:r>
          </a:p>
          <a:p>
            <a:r>
              <a:t>빨간색이 대공 고도, 파란 점선이 대함 고도인데 둘이 겹쳐 있습니다. 첫 스텝에서 30.8마이크로미터 올랐다가 그 뒤 60초 내내 그대로입니다. 초록색 대함 위도 편차는 사실상 0 입니다.</a:t>
            </a:r>
          </a:p>
          <a:p>
            <a:r>
              <a:t>여기서 읽을 것은 값의 크기가 아니라 모양입니다. 시간에 따라 자라지 않습니다. 계단 하나 올라간 다음 평평합니다.</a:t>
            </a:r>
          </a:p>
          <a:p>
            <a:r>
              <a:t>적분이 만든 오차라면 시간에 비례해서 커져야 합니다. 그런데 안 커집니다. 그러면 적분 때문이 아니라는 뜻입니다.</a:t>
            </a:r>
          </a:p>
          <a:p>
            <a:r>
              <a:t>원인을 찾아보니 제공받은 ECEF 에서 LLA 로 가는 함수였습니다. 그 함수가 반복법으로 다섯 번 돌아서 근사값을 냅니다. t = 0 일 때는 제가 넣은 LLA 를 그대로 쓰니까 오차가 0 이고, 첫 스텝부터는 변환한 값을 쓰니까 그 근사의 몫이 상수로 얹힙니다.</a:t>
            </a:r>
          </a:p>
          <a:p>
            <a:r>
              <a:t>오른쪽 표가 불변량별 최대 잔차입니다. 고도가 30.8마이크로미터, 위도 편차가 0.11마이크로미터, 경도는 완전히 0, 속력은 두 표적 모두 0 입니다. 여기서 0 은 반올림해서 0 이 아니라 비트까지 같다는 뜻입니다.</a:t>
            </a:r>
          </a:p>
          <a:p>
            <a:r>
              <a:t>Bowring 폐형식으로 바꾸면 고도 잔차도 사라집니다. 실제로 그 판을 따로 만들어 봤는데, 과제 조건이 "제공한 좌표변환 코드 이용" 이라서 본체는 원본을 쓰고 개선본은 ref 폴더에 보관해 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검증을 세 가지 방법으로 나눠서 했습니다.</a:t>
            </a:r>
          </a:p>
          <a:p>
            <a:r>
              <a:t>첫째, 해석해와 대조입니다. 답을 손으로 계산할 수 있는 항목을 골랐습니다. 대함은 초속 30미터 곱하기 60초 해서 1800미터, 대공은 12000미터여야 합니다. 시뮬레이션 결과가 각각 1.25에 10의 마이너스 8제곱 미터, 1.66에 10의 마이너스 7제곱 미터 차이입니다. 12킬로미터를 날아서 0.0002밀리미터 차이입니다.</a:t>
            </a:r>
          </a:p>
          <a:p>
            <a:r>
              <a:t>이 거리는 601개 점 사이의 거리를 전부 더해서 잰 것입니다. 시작점과 끝점 사이 직선거리가 아니라 실제로 지나간 길이입니다.</a:t>
            </a:r>
          </a:p>
          <a:p>
            <a:r>
              <a:t>둘째가 방금 본 불변량 보존입니다.</a:t>
            </a:r>
          </a:p>
          <a:p>
            <a:r>
              <a:t>셋째가 수렴 차수인데, 이게 세 방법 중에 제일 강한 증거라고 생각합니다. 다음 장에서 자세히 보겠습니다.</a:t>
            </a:r>
          </a:p>
          <a:p>
            <a:r>
              <a:t>왜 세 가지로 나눴냐면, 각각이 다른 종류의 실수를 잡기 때문입니다. 첫째는 스케일이 틀린 경우를 잡고, 둘째는 방향이 틀린 경우를 잡고, 셋째는 적분 방법이 틀린 경우를 잡습니다.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직진은 틀릴 수가 없으니 가장 많이 휘는 경우로 확인했습니다.</a:t>
            </a:r>
          </a:p>
          <a:p>
            <a:r>
              <a:t>대공 표적에 2G 로 20초 선회를 걸어 놓고, 갱신 간격만 1초부터 0.01초까지 바꿔 가며 60초를 돌렸습니다. 기준은 0.001초로 돌린 결과입니다.</a:t>
            </a:r>
          </a:p>
          <a:p>
            <a:r>
              <a:t>왼쪽 그래프는 양쪽 축이 모두 로그입니다. 파란 실선이 실측 오차고, 회색 점선이 "간격의 제곱에 비례하는 선" 입니다. 둘이 나란합니다.</a:t>
            </a:r>
          </a:p>
          <a:p>
            <a:r>
              <a:t>나란하다는 건 간격을 절반으로 줄이면 오차가 4분의 1이 된다는 뜻입니다. 실제로 회귀로 기울기를 재보면 2.002 가 나옵니다. 중점법이 설계한 대로 2차 정확도로 돌고 있다는 증거입니다.</a:t>
            </a:r>
          </a:p>
          <a:p>
            <a:r>
              <a:t>주황 세로선이 과제 조건인 0.1초 자리입니다. 거기서 오차가 1.36센티미터입니다. 20초 동안 2G 로 꺾는 내내 쌓인 게 1.4센티미터입니다. 레이다 거리 분해능이 보통 수 미터 단위인 걸 생각하면 없는 값이라고 봐도 됩니다.</a:t>
            </a:r>
          </a:p>
          <a:p>
            <a:r>
              <a:t>오른쪽 마지막 칸이 제가 이 장에서 제일 하고 싶은 말입니다. 값 하나가 작은 건 사실 별 의미가 없습니다. 우연히 작을 수도 있으니까요. 그런데 간격을 바꿨을 때 정해진 기울기로 줄어들면, 그건 구현이 의도한 방법을 정확히 따르고 있다는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기동을 얹은 결과입니다.</a:t>
            </a:r>
          </a:p>
          <a:p>
            <a:r>
              <a:t>초기값도, 시뮬레이션 시간도, 갱신 간격도 명세 그대로입니다. 기동표 10줄만 추가했습니다.</a:t>
            </a:r>
          </a:p>
          <a:p>
            <a:r>
              <a:t>빨간색 대공 표적이 남쪽으로 내려가다가 동쪽으로 꺾고, 다시 남쪽, 다시 서쪽으로 훑고 내려갑니다. 파란 대함은 서쪽으로 가다가 한 번 비켜 갑니다.</a:t>
            </a:r>
          </a:p>
          <a:p>
            <a:r>
              <a:t>오른쪽 두 그림이 기수 방위각입니다. 계단처럼 생겼는데, 평평한 데가 직진이고 기울어진 데가 기동입니다. 기울기가 곧 각속도이고, 그 값이 1장에서 본 n 곱하기 g 나누기 V 입니다.</a:t>
            </a:r>
          </a:p>
          <a:p>
            <a:r>
              <a:t>아래 설명에 적어 뒀는데, 회전 지점이 좌표로 주어져서 시각으로 바꾸는 작업을 따로 했습니다. Core 를 실제로 돌려서 그 좌표에 닿는 시각을 찾았고, 회전하는 동안에도 표적이 계속 나아가니까 선회 반경만큼 미리 꺾어야 지정한 자리에서 수평이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값을 코드에 박아 놓고 다시 컴파일하는 건 불편해서 화면을 붙였습니다.</a:t>
            </a:r>
          </a:p>
          <a:p>
            <a:r>
              <a:t>왼쪽 위 표에서 표적 초기값을 고치면 0.25초 뒤에 자동으로 다시 계산합니다. 4.8밀리초면 끝나니까 기다릴 일이 없습니다. 왼쪽 아래가 기동표인데, 회전각과 선회 반경은 입력한 G 와 시간으로 계산해서 같이 보여 줍니다. 앞에서 본 그 식입니다.</a:t>
            </a:r>
          </a:p>
          <a:p>
            <a:r>
              <a:t>오른쪽 위가 궤적입니다. 시작점 표식을 마우스로 끌면 위도와 경도가 바뀌고, 기수 손잡이를 끌면 Yaw 가 바뀝니다. 표에 숫자로 넣는 것보다 시나리오를 잡을 때 훨씬 빠릅니다.</a:t>
            </a:r>
          </a:p>
          <a:p>
            <a:r>
              <a:t>아래가 결과 표인데 시각마다의 LLA 가 그대로 나옵니다. 슬라이더로 되감아 볼 수 있고, CSV 로 내보낼 수 있습니다. 오늘 보여 드린 숫자들이 전부 여기서 나온 CSV 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요구사항과 결과를 한 장에 놓고 보겠습니다.</a:t>
            </a:r>
          </a:p>
          <a:p>
            <a:r>
              <a:t>표적 10개와 기동 30개는 고정 배열로 상한을 두고, 범위를 넘으면 오류 코드로 거부했습니다.</a:t>
            </a:r>
          </a:p>
          <a:p>
            <a:r>
              <a:t>위치는 LLA, 속도는 V_heading 하나로 받았고 방향은 자세각이 담당합니다.</a:t>
            </a:r>
          </a:p>
          <a:p>
            <a:r>
              <a:t>기동은 축, G, 시작, 종료 네 필드로 정의하고 구간 겹침까지 검사합니다.</a:t>
            </a:r>
          </a:p>
          <a:p>
            <a:r>
              <a:t>상태 갱신은 ECEF 에서 하고, 출력용 LLA 를 같이 보관합니다. 고도 잔차 30마이크로미터는 좌표변환 근사의 몫입니다.</a:t>
            </a:r>
          </a:p>
          <a:p>
            <a:r>
              <a:t>추가 고민 항목이었던 속도 변환은 동체에서 NED, NED 에서 ECEF 로 두 번 회전했고, 속력이 완전히 보존되는 것을 601개 표본으로 확인했습니다.</a:t>
            </a:r>
          </a:p>
          <a:p>
            <a:r>
              <a:t>좌표변환 코드는 제공받은 것을 무수정으로 썼습니다.</a:t>
            </a:r>
          </a:p>
          <a:p>
            <a:r>
              <a:t>결과는 표와 CSV, 그리고 궤적, 고도, 방위 그림으로 냈습니다.</a:t>
            </a:r>
          </a:p>
          <a:p>
            <a:r>
              <a:t>아래 왼쪽이 남겨 둔 한계입니다. 짐벌락, 힘을 풀지 않는 운동학 모델, 그리고 고도 잔차. 셋 다 원인을 알고 남겨 둔 것이고 각각 해결 방법도 적어 뒀습니다.</a:t>
            </a:r>
          </a:p>
          <a:p>
            <a:r>
              <a:t>오른쪽이 이어 붙일 수 있는 것입니다. 이 궤적에 측정 잡음만 얹으면 바로 추적 필터 입력이 됩니다. Part 2 에서 만든 좌표변환을 붙이면 안테나 기준 거리와 방위각, 고각이 나옵니다. 다음 과제로 이어지는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이상입니다. 감사합니다.</a:t>
            </a:r>
          </a:p>
          <a:p>
            <a:r>
              <a:t>질문 있으시면 답변드리겠습니다.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658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2505456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AEB9CC"/>
                </a:solidFill>
                <a:latin typeface="맑은 고딕"/>
              </a:rPr>
              <a:t>레이다 SW 학습 과제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2944368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맑은 고딕"/>
              </a:rPr>
              <a:t>표적 궤적 모의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3913632"/>
            <a:ext cx="3108960" cy="0"/>
          </a:xfrm>
          <a:prstGeom prst="rect">
            <a:avLst/>
          </a:prstGeom>
          <a:noFill/>
          <a:ln w="9525">
            <a:solidFill>
              <a:srgbClr val="AEB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4059936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Target Trajectory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12064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맑은 고딕"/>
              </a:rPr>
              <a:t>Janghwan Kim (Harley)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2103120" y="722376"/>
            <a:ext cx="210312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0" y="722376"/>
            <a:ext cx="726948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291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맑은 고딕"/>
              </a:rPr>
              <a:t>표적 궤적 모의</a:t>
            </a:r>
          </a:p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맑은 고딕"/>
              </a:rPr>
              <a:t>TargetSim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EB9CC"/>
                </a:solidFill>
                <a:latin typeface="맑은 고딕"/>
              </a:rPr>
              <a:t>Janghwan Kim (Harley)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69164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7830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</a:rPr>
              <a:t>표적 구조체 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64592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상태 벡터와 좌표계 정의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기동을 G · 축 · 구간으로 환원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구조체 관계와 실제 헤더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2843784"/>
            <a:ext cx="672084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172968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26440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</a:rPr>
              <a:t>표적 궤적 모의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12724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운동학 모델과 회전행렬 전개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동체 속도 → ECEF 속도 (추가 고민)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중점법 적분과 방어적 구현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4325112"/>
            <a:ext cx="672084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654296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474573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</a:rPr>
              <a:t>시뮬레이션 결과 및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4608576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명세 조건 60 s 결과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해석해 대조 · 불변량 보존 · 수렴 차수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기동 시연과 운용 화면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과제 요구사항과 발표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「과제 3 내용」의 요구사항을 네 덩어리로 묶고, 각각을 어느 장에서 다루는지 먼저 짚겠습니다.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04288"/>
            <a:ext cx="50292" cy="2395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1  표적 구조체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20574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표적 최대 10, 표적별 기동 최대 30.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위치는 위도 · 경도 · 고도,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속도는 동체 속도 V_heading 한 개.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기동은 G · 축 · 시작 · 종료.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563EB"/>
                </a:solidFill>
                <a:latin typeface="맑은 고딕"/>
              </a:rPr>
              <a:t>01 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1" y="2304288"/>
            <a:ext cx="256032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1" y="2304288"/>
            <a:ext cx="50292" cy="2395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1" y="248716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2  표적 상태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1" y="2834640"/>
            <a:ext cx="20574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위치와 속도를 ECEF 에서 갱신.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추가 고민 — V_heading 을 ECEF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Vx, Vy, Vz 로 변환하는 방법.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1" y="438912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97706"/>
                </a:solidFill>
                <a:latin typeface="맑은 고딕"/>
              </a:rPr>
              <a:t>02 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304288"/>
            <a:ext cx="256032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2304288"/>
            <a:ext cx="50292" cy="2395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48716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3AED"/>
                </a:solidFill>
                <a:latin typeface="맑은 고딕"/>
              </a:rPr>
              <a:t>3  시뮬레이션 조건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34640"/>
            <a:ext cx="20574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60 s · 0.1 s 간격.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플랫폼 1 + 대함 1 + 대공 1.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제공받은 좌표변환 코드 사용.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438912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C3AED"/>
                </a:solidFill>
                <a:latin typeface="맑은 고딕"/>
              </a:rPr>
              <a:t>03 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2304288"/>
            <a:ext cx="256032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1976" y="2304288"/>
            <a:ext cx="50292" cy="2395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6296" y="248716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4  결과 제시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2834640"/>
            <a:ext cx="20574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궤적을 LLA 로 출력하고 그림으로.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구조체 · 구현 방법 · 결과를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코드와 함께 설명.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438912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59669"/>
                </a:solidFill>
                <a:latin typeface="맑은 고딕"/>
              </a:rPr>
              <a:t>03 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992624"/>
            <a:ext cx="10908792" cy="93268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992624"/>
            <a:ext cx="10360152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좌표변환과 행렬 연산은 제공받은 코드를 한 줄도 고치지 않고 그대로 사용했습니다. 새로 작성한 것은 TargetSim.c 하나입니다.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발표에 나오는 숫자는 모두 그 Core 를 실제로 빌드해 돌린 결과이며, 원본 CSV 를 함께 제출합니다.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표적 모의가 들어가는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레이다 데이터처리 소프트웨어를 만들려면, 그 앞단이 내보내는 것과 같은 규격의 입력이 필요합니다.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4</a:t>
            </a:r>
          </a:p>
        </p:txBody>
      </p:sp>
      <p:pic>
        <p:nvPicPr>
          <p:cNvPr id="8" name="Picture 7" descr="fig01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914" y="2139696"/>
            <a:ext cx="9761122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소프트웨어 구성과 인터페이스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연산과 화면을 분리해, 계산 엔진만 따로 빌드해 검증할 수 있게 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fig02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592" y="2139696"/>
            <a:ext cx="9557766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A5A7A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87168"/>
            <a:ext cx="73152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맑은 고딕"/>
              </a:rPr>
              <a:t>표적 구조체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2304" y="32004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Target State and Structure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4" y="393192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표적 하나의 상태를 어떤 변수로 잡을 것인가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431596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"기동" 을 코드가 다룰 수 있는 네 개의 값으로 환원하기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470001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설정(입력)과 상태(출력)를 분리한 이유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표적 상태 벡터의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위치 3 + 속도 3 + 자세각 3, 모두 아홉 개 성분으로 표적 하나의 상태가 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7</a:t>
            </a:r>
          </a:p>
        </p:txBody>
      </p:sp>
      <p:pic>
        <p:nvPicPr>
          <p:cNvPr id="8" name="Picture 7" descr="fig03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914" y="2139696"/>
            <a:ext cx="9761122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쓰는 좌표계 — ECEF · LLA · NED · 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Part 2 에서 정리한 좌표계 중 표적 모의에 실제로 필요한 것은 이 넷입니다.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8</a:t>
            </a:r>
          </a:p>
        </p:txBody>
      </p:sp>
      <p:pic>
        <p:nvPicPr>
          <p:cNvPr id="8" name="Picture 7" descr="fig04_fr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21" y="2139696"/>
            <a:ext cx="9362709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자세각 정의와 회전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Roll · Pitch · Yaw 가 각각 어느 축 둘레의 회전인지, 그리고 곱하는 순서를 고정합니다.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9</a:t>
            </a:r>
          </a:p>
        </p:txBody>
      </p:sp>
      <p:pic>
        <p:nvPicPr>
          <p:cNvPr id="8" name="Picture 7" descr="fig05_e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00" y="2139696"/>
            <a:ext cx="10194950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기동을 네 개의 값으로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"12 초부터 16 초까지 오른쪽으로 8 G" 라는 지시를 구조체 한 줄로 옮깁니다.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fig06_maneu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15" y="2139696"/>
            <a:ext cx="9973321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G 값이 각속도와 선회 반경을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각속도를 직접 받지 않고 G 로 받는 이유는, G 가 조종사와 기체가 실제로 견디는 한계이기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fig07_g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38" y="2139696"/>
            <a:ext cx="9514674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회전축 세 가지의 응답 —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같은 표적에 같은 2 G 를 10 초씩, 축만 바꿔 걸어 본 결과입니다.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12</a:t>
            </a:r>
          </a:p>
        </p:txBody>
      </p:sp>
      <p:pic>
        <p:nvPicPr>
          <p:cNvPr id="8" name="Picture 7" descr="fig08_turn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75776"/>
            <a:ext cx="10908792" cy="37877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구조체 관계와 설계 결정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fig09_str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73936"/>
            <a:ext cx="9299447" cy="44439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코드로 보는 구조체 ① — 입력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92224"/>
            <a:ext cx="6675120" cy="4315968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20240"/>
            <a:ext cx="6272783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794AC"/>
                </a:solidFill>
                <a:latin typeface="Arial"/>
              </a:rPr>
              <a:t>TargetSimCore/include/TargetSim.h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49424"/>
            <a:ext cx="6272783" cy="37124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기동 회전축. 값은 과제 명세를 그대로 따른다.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typedef enum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TGT_TURN_NONE = 0,   TGT_TURN_ROLL  = 1,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TGT_TURN_YAW  = 2,   TGT_TURN_PITCH = 3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} EN_TurnType;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기동 1건. gravityValue 의 부호가 회전 방향이며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동체축 오른손 법칙을 따른다.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EN_TurnType   enTurnType;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FLOAT64       gravityValue;   // [G] 중력가속도 배수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FLOAT64       startTime;      // [s]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FLOAT64       endTime;        // [s]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} ST_TargetManeuver;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위치는 위도/경도/고도, 속도는 동체 x 축 방향 크기.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STRUCT_Coord_Lla       st_InitLla;     // Lat, Lon [rad] / Alt [m]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STRUCT_Coord_Attitude  st_InitAtt;     // Roll, Pitch, Yaw [rad]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FLOAT64                headingSpeed;   // V_heading [m/s]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INT32                  nManeuverNum;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ST_TargetManeuver      st_Maneuver[TGT_MAX_MANEUVER_NUM];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} ST_TargetInit;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792224"/>
            <a:ext cx="3913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1792224"/>
            <a:ext cx="5029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975104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구간은 [시작, 종료)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322576"/>
            <a:ext cx="3410712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한 기동의 끝과 다음 기동의 시작이 같아도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겹침으로 보지 않는다. 경계를 열어 두어야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연속 기동을 한 줄씩 이어 붙일 수 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291839"/>
            <a:ext cx="3913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3291839"/>
            <a:ext cx="50292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474720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겹치면 계산 전에 거부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822191"/>
            <a:ext cx="3410712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같은 표적에서 두 구간이 실제로 겹치면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어느 쪽을 따를지 정의되지 않는다.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TGT_ERR_MANEUVER_OVERLAP 을 돌려준다.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791456"/>
            <a:ext cx="391363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4791456"/>
            <a:ext cx="50292" cy="131673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4974336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10 × 30 은 고정 배열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321808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구조체 하나가 약 10 KB. 동적 할당이 없어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실행 중 메모리 실패가 생길 자리가 없다.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01. 표적 구조체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코드로 보는 구조체 ② — 출력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92224"/>
            <a:ext cx="6675120" cy="4315968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20240"/>
            <a:ext cx="6272783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794AC"/>
                </a:solidFill>
                <a:latin typeface="Arial"/>
              </a:rPr>
              <a:t>TargetSimCore/include/TargetSim.h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49424"/>
            <a:ext cx="6272783" cy="37124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한 시각의 상태. 위치와 속도는 ECEF 에서 갱신하고,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LLA 는 출력과 다음 스텝의 NED 기준으로 함께 보관한다.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FLOAT64                simTime;      // [s]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    STRUCT_Coord_Rect      st_PosEcef;   // [m]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    STRUCT_Coord_Rect      st_VelEcef;   // [m/s]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STRUCT_Coord_Lla       st_Lla;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STRUCT_Coord_Attitude  st_Att;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} ST_TargetState;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한 시각의 플랫폼 · 표적 상태. 호출자는 스텝마다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// 이 구조체를 복사해 보관한다.</a:t>
            </a:r>
          </a:p>
          <a:p>
            <a:pPr algn="l">
              <a:lnSpc>
                <a:spcPct val="112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typedef struct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FLOAT64         simTime;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INT32           nStepIndex;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INT32           nTargetNum;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ST_TargetState  st_Platform;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ST_TargetState  st_Target[TGT_MAX_TARGET_NUM];</a:t>
            </a:r>
          </a:p>
          <a:p>
            <a:pPr algn="l">
              <a:lnSpc>
                <a:spcPct val="112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} ST_SimSample;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792224"/>
            <a:ext cx="3913632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1792224"/>
            <a:ext cx="50292" cy="208483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975104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ECEF 와 LLA 를 함께 두는 이유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322576"/>
            <a:ext cx="3410712" cy="14264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· 갱신은 ECEF 에서 해야 곡률 항이 사라진다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· 출력 · 화면 · CSV 는 LLA 라야 읽힌다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· 다음 스텝의 속도를 만들 때도 그 지점의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   위도 · 경도가 필요하다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스텝당 한 번만 변환해 두면 세 용도를 모두 덮는다.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4005072"/>
            <a:ext cx="3913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4005072"/>
            <a:ext cx="50292" cy="21031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4187952"/>
            <a:ext cx="34107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플랫폼도 같은 구조체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535424"/>
            <a:ext cx="3410712" cy="1444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플랫폼은 기동이 없는 표적일 뿐이다.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같은 ST_TargetState 를 쓰고 각속도만 0 으로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넣어 같은 적분 경로를 통과시킨다.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속력으로 나누는 연산은 기동 조회 안에만 있어,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정지 플랫폼(V = 0)도 안전하다.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A5A7A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87168"/>
            <a:ext cx="73152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맑은 고딕"/>
              </a:rPr>
              <a:t>표적 궤적 모의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2304" y="32004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Trajectory Propagation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4" y="393192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표적 운동을 지배하는 방정식과 그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431596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동체 속도 한 개를 ECEF 속도 세 성분으로 — 과제의 추가 고민 항목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470001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0.1 초를 전진시키는 방법과 오차 차수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표적 운동을 지배하는 세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이 세 줄이 곧 구현이고, 아래 세 가지 가정을 명시적으로 두고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17</a:t>
            </a:r>
          </a:p>
        </p:txBody>
      </p:sp>
      <p:pic>
        <p:nvPicPr>
          <p:cNvPr id="8" name="Picture 7" descr="fig10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08" y="2139696"/>
            <a:ext cx="10669134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왜 ECEF 에서 적분하는가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명세가 정한 조건이지만, 왜 그래야 하는지는 오차 구조를 보면 분명합니다.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18</a:t>
            </a:r>
          </a:p>
        </p:txBody>
      </p:sp>
      <p:pic>
        <p:nvPicPr>
          <p:cNvPr id="8" name="Picture 7" descr="fig11_whyec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24" y="2139696"/>
            <a:ext cx="9954503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동체 속도를 ECEF 속도로 — 과제의 추가 고민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"표적 동체 속도 값(V_heading)을 ECEF 좌표계 Vx, Vy, Vz 성분으로 변환하는 방법" 에 대한 답입니다.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19</a:t>
            </a:r>
          </a:p>
        </p:txBody>
      </p:sp>
      <p:pic>
        <p:nvPicPr>
          <p:cNvPr id="8" name="Picture 7" descr="fig12_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00" y="2139696"/>
            <a:ext cx="10194950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회전행렬의 원소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두 행렬을 펼치면 이렇게 됩니다. 위치에는 평행이동이 붙고, 속도에는 붙지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20</a:t>
            </a:r>
          </a:p>
        </p:txBody>
      </p:sp>
      <p:pic>
        <p:nvPicPr>
          <p:cNvPr id="8" name="Picture 7" descr="fig13_d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15" y="2139696"/>
            <a:ext cx="9973321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 ③ — 동체 속도를 ECEF 속도로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19656"/>
            <a:ext cx="10908792" cy="292608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47672"/>
            <a:ext cx="105064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794AC"/>
                </a:solidFill>
                <a:latin typeface="Arial"/>
              </a:rPr>
              <a:t>TargetSimCore/src/TargetSim.c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76856"/>
            <a:ext cx="10506456" cy="23225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동체 속도 (V, 0, 0) 을 자세로 한 번, 위경도로 한 번 돌려 ECEF 속도로 만든다.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// 회전만 거치므로 속력은 그대로 보존된다.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static STRUCT_Coord_Rect f_Tgt_GetVelEcef(const STRUCT_Coord_Attitude *st_Att,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    const STRUCT_Coord_Lla *st_Lla, FLOAT64 headingSpeed)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{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STRUCT_Coord_Rect  st_VelNed;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    // 참고 소스의 f_Trans_Body_To_Ned 는 인자를 Roll, Yaw, Pitch 순서로 받는다.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    st_VelNed = f_Trans_Body_To_Ned(headingSpeed, 0.0, 0.0,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        st_Att-&gt;Roll, st_Att-&gt;Yaw, st_Att-&gt;Pitch);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8794AC"/>
                </a:solidFill>
                <a:latin typeface="Consolas"/>
              </a:rPr>
              <a:t>    // f_Trans_Ned_To_Ecef 는 기준점 이동까지 더한다. 방향만 옮길 때는 기준점을 원점으로 준다.</a:t>
            </a:r>
          </a:p>
          <a:p>
            <a:pPr algn="l">
              <a:lnSpc>
                <a:spcPct val="116000"/>
              </a:lnSpc>
            </a:pPr>
            <a:r>
              <a:rPr sz="940" b="1">
                <a:solidFill>
                  <a:srgbClr val="2563EB"/>
                </a:solidFill>
                <a:latin typeface="Consolas"/>
              </a:rPr>
              <a:t>    return f_Trans_Ned_To_Ecef(st_VelNed.x, st_VelNed.y, st_VelNed.z,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            0.0, 0.0, 0.0, st_Lla-&gt;Lat, st_Lla-&gt;Lon);</a:t>
            </a:r>
          </a:p>
          <a:p>
            <a:pPr algn="l">
              <a:lnSpc>
                <a:spcPct val="116000"/>
              </a:lnSpc>
            </a:pPr>
            <a:r>
              <a:rPr sz="940">
                <a:solidFill>
                  <a:srgbClr val="1B2740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64608"/>
            <a:ext cx="3520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864608"/>
            <a:ext cx="50292" cy="12984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C2626"/>
                </a:solidFill>
                <a:latin typeface="맑은 고딕"/>
              </a:rPr>
              <a:t>기준점을 0 으로 주는 이유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f_Trans_Ned_To_Ecef 는 회전에 더해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기준점만큼 평행이동까지 한다. 속도는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"위치"가 아니라 "방향"이라 빼야 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4864608"/>
            <a:ext cx="3520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4864608"/>
            <a:ext cx="50292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5047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인자 순서를 주석에 남긴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53949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제공받은 함수가 Roll, Yaw, Pitch 순서로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받는다. 자세각 구조체 필드 순서와 달라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한 번 틀렸던 자리다.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4864608"/>
            <a:ext cx="350215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9" y="4864608"/>
            <a:ext cx="50292" cy="12984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504748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속력 보존은 성질, 시험은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394960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회전행렬은 직교행렬이라 크기를 바꾸지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않는다. 601 표본에서 속력이 소수점</a:t>
            </a:r>
          </a:p>
          <a:p>
            <a:pPr algn="l">
              <a:lnSpc>
                <a:spcPct val="128000"/>
              </a:lnSpc>
            </a:pPr>
            <a:r>
              <a:rPr sz="950" b="0">
                <a:solidFill>
                  <a:srgbClr val="4A5A7A"/>
                </a:solidFill>
                <a:latin typeface="맑은 고딕"/>
              </a:rPr>
              <a:t>12 자리까지 입력값과 일치했다.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0.1 초를 어떻게 전진시킬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속도가 계속 바뀌는 구간에서 어느 지점의 기울기를 쓰느냐가 오차 차수를 가릅니다.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22</a:t>
            </a:r>
          </a:p>
        </p:txBody>
      </p:sp>
      <p:pic>
        <p:nvPicPr>
          <p:cNvPr id="8" name="Picture 7" descr="fig14_mid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24" y="2139696"/>
            <a:ext cx="9954503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코드 ④ — 한 스텝 전진 (중점법)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19656"/>
            <a:ext cx="6967728" cy="429768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47672"/>
            <a:ext cx="65653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794AC"/>
                </a:solidFill>
                <a:latin typeface="Arial"/>
              </a:rPr>
              <a:t>TargetSimCore/src/TargetSim.c   f_Tgt_Propagate (발췌)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76856"/>
            <a:ext cx="6565392" cy="3694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halfStep = 0.5 * stepTime;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    // ① 반 스텝 뒤의 자세 — 각속도가 구간 내 상수라 바로 더한다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st_AttMid.Roll  = st_State-&gt;st_Att.Roll  + (st_Rate-&gt;Roll  * halfStep);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st_AttMid.Pitch = st_State-&gt;st_Att.Pitch + (st_Rate-&gt;Pitch * halfStep);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st_AttMid.Yaw   = st_State-&gt;st_Att.Yaw   + (st_Rate-&gt;Yaw   * halfStep);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    // ② 반 스텝 뒤의 위치 — 스텝 시작 속도로 예측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st_VelStart = f_Tgt_GetVelEcef(&amp;st_State-&gt;st_Att, &amp;st_State-&gt;st_Lla, headingSpeed);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   st_PosMid.x = st_State-&gt;st_PosEcef.x + (st_VelStart.x * halfStep);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    ...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    // ③ 그 자리 · 그 자세에서 구한 속도가 이 스텝의 대표 속도</a:t>
            </a:r>
          </a:p>
          <a:p>
            <a:pPr algn="l">
              <a:lnSpc>
                <a:spcPct val="114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    st_LlaMid = f_Trans_Ecef_To_Lla(st_PosMid.x, st_PosMid.y, st_PosMid.z);</a:t>
            </a:r>
          </a:p>
          <a:p>
            <a:pPr algn="l">
              <a:lnSpc>
                <a:spcPct val="114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    st_VelMid = f_Tgt_GetVelEcef(&amp;st_AttMid, &amp;st_LlaMid, headingSpeed);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1B2740"/>
                </a:solidFill>
                <a:latin typeface="Consolas"/>
              </a:rPr>
              <a:t> 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    // ④ 그 속도로 한 스텝을 옮긴다</a:t>
            </a:r>
          </a:p>
          <a:p>
            <a:pPr algn="l">
              <a:lnSpc>
                <a:spcPct val="114000"/>
              </a:lnSpc>
            </a:pPr>
            <a:r>
              <a:rPr sz="880" b="1">
                <a:solidFill>
                  <a:srgbClr val="2563EB"/>
                </a:solidFill>
                <a:latin typeface="Consolas"/>
              </a:rPr>
              <a:t>    st_Next.st_PosEcef.x = st_State-&gt;st_PosEcef.x + (st_VelMid.x * stepTime);</a:t>
            </a:r>
          </a:p>
          <a:p>
            <a:pPr algn="l">
              <a:lnSpc>
                <a:spcPct val="114000"/>
              </a:lnSpc>
            </a:pPr>
            <a:r>
              <a:rPr sz="880">
                <a:solidFill>
                  <a:srgbClr val="8794AC"/>
                </a:solidFill>
                <a:latin typeface="Consolas"/>
              </a:rPr>
              <a:t>   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90688" y="1819656"/>
            <a:ext cx="3758184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819656"/>
            <a:ext cx="50292" cy="208483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002536"/>
            <a:ext cx="325526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C2626"/>
                </a:solidFill>
                <a:latin typeface="맑은 고딕"/>
              </a:rPr>
              <a:t>② 를 빼먹었을 때 생긴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350008"/>
            <a:ext cx="3255264" cy="14264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처음에는 자세만 반 스텝 돌리고 위치는 그대로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두었다. 그러면 스텝 시작 지점의 위경도로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NED 를 잡게 되어, 표적은 앞으로 나아갔는데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"북쪽" 의 방향은 뒤에 남는다.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그 차이가 매 스텝 d²/2R 만큼 고도로 쌓인다.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4032504"/>
            <a:ext cx="3758184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4032504"/>
            <a:ext cx="50292" cy="208483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15384"/>
            <a:ext cx="325526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알고도 남겨 둔 한계 — 짐벌락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8" y="4562856"/>
            <a:ext cx="3255264" cy="14264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오일러각을 직접 적분하므로 Pitch 가 ±90°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근처면 Yaw 축이 속도 방향과 겹쳐 Yaw 기동이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궤적을 바꾸지 못한다.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사원수로 바꾸면 풀리지만 과제 범위를 넘는다고</a:t>
            </a:r>
          </a:p>
          <a:p>
            <a:pPr algn="l">
              <a:lnSpc>
                <a:spcPct val="128000"/>
              </a:lnSpc>
            </a:pPr>
            <a:r>
              <a:rPr sz="919" b="0">
                <a:solidFill>
                  <a:srgbClr val="4A5A7A"/>
                </a:solidFill>
                <a:latin typeface="맑은 고딕"/>
              </a:rPr>
              <a:t>보고 코드에 주석으로 명시했다.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한 스텝 알고리즘과 계산 비용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24</a:t>
            </a:r>
          </a:p>
        </p:txBody>
      </p:sp>
      <p:pic>
        <p:nvPicPr>
          <p:cNvPr id="7" name="Picture 6" descr="fig15_algori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239" y="1773936"/>
            <a:ext cx="10684472" cy="444398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02. 표적 궤적 모의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계산이 깨져도 상태는 지킨다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제공받은 변환 함수는 실패를 알려 주지 않습니다. 그래서 결과의 유한성을 직접 확인합니다.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25</a:t>
            </a:r>
          </a:p>
        </p:txBody>
      </p:sp>
      <p:pic>
        <p:nvPicPr>
          <p:cNvPr id="8" name="Picture 7" descr="fig16_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08" y="2139696"/>
            <a:ext cx="10669134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33172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A5A7A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87168"/>
            <a:ext cx="73152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맑은 고딕"/>
              </a:rPr>
              <a:t>시뮬레이션 결과 및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2304" y="32004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Results and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4" y="393192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명세 조건 그대로 60 초를 돌린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4" y="431596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해석해 대조 · 불변량 보존 · 수렴 차수 — 세 가지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470001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AEB9CC"/>
                </a:solidFill>
                <a:latin typeface="맑은 고딕"/>
              </a:rPr>
              <a:t>·   기동을 얹은 시연과 운용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시뮬레이션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「과제 3 내용」 2항의 값을 그대로 넣었습니다.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08792" cy="402336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05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위도 [°]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경도 [°]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437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고도 [m]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속력 [m/s]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69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Roll [°]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Pitch [°]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5016" y="2212848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Yaw [°]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615184"/>
            <a:ext cx="10908792" cy="40233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15184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740"/>
                </a:solidFill>
                <a:latin typeface="맑은 고딕"/>
              </a:rPr>
              <a:t>플랫폼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3405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126.0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469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5016" y="261518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3017520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740"/>
                </a:solidFill>
                <a:latin typeface="맑은 고딕"/>
              </a:rPr>
              <a:t>대함 표적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405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32.125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421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126.03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453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469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5016" y="3017520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270  (서)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419856"/>
            <a:ext cx="10908792" cy="40233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3419856"/>
            <a:ext cx="176479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740"/>
                </a:solidFill>
                <a:latin typeface="맑은 고딕"/>
              </a:rPr>
              <a:t>대공 표적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32.12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21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126.0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437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7453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5469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85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5016" y="3419856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5A7A"/>
                </a:solidFill>
                <a:latin typeface="맑은 고딕"/>
              </a:rPr>
              <a:t>180  (남)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096511"/>
            <a:ext cx="3520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096511"/>
            <a:ext cx="50292" cy="12984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2793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시간 60 s · 간격 0.1 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62686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스텝 600 회, 표본 601 개.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t = 0 과 t = 60 을 모두 포함한다.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시각은 누적이 아니라 스텝 번호 × 간격으로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매겨 반올림 오차가 쌓이지 않게 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4096511"/>
            <a:ext cx="3520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43400" y="4096511"/>
            <a:ext cx="50292" cy="12984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2793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검증하기 좋은 조건이다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462686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기동이 없으므로 답을 미리 알 수 있다.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대함은 정서진 → 위도 불변,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대공은 정남진 → 경도 불변,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둘 다 수평 → 고도 불변.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6719" y="4096511"/>
            <a:ext cx="350215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19" y="4096511"/>
            <a:ext cx="50292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279392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플랫폼 속력이 0 인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62686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각속도 계산에 속력이 분모로 들어가지만,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그 계산은 기동 조회 안에만 있다.</a:t>
            </a:r>
          </a:p>
          <a:p>
            <a:pPr algn="l">
              <a:lnSpc>
                <a:spcPct val="128000"/>
              </a:lnSpc>
            </a:pPr>
            <a:r>
              <a:rPr sz="940" b="0">
                <a:solidFill>
                  <a:srgbClr val="4A5A7A"/>
                </a:solidFill>
                <a:latin typeface="맑은 고딕"/>
              </a:rPr>
              <a:t>플랫폼은 기동이 없어 그 자리를 지나가지 않는다.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① — 60 초 궤적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플랫폼을 원점으로 잡은 동-북 평면입니다. 점 하나가 10 초입니다.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28</a:t>
            </a:r>
          </a:p>
        </p:txBody>
      </p:sp>
      <p:pic>
        <p:nvPicPr>
          <p:cNvPr id="8" name="Picture 7" descr="fig17_resul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273" y="2139696"/>
            <a:ext cx="9408405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② — 불변량 잔차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변하면 안 되는 값이 실제로 얼마나 변했는지, 마이크로미터 단위까지 봤습니다.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29</a:t>
            </a:r>
          </a:p>
        </p:txBody>
      </p:sp>
      <p:pic>
        <p:nvPicPr>
          <p:cNvPr id="8" name="Picture 7" descr="fig18_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9" y="2173399"/>
            <a:ext cx="10908792" cy="399252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③ — 검증 종합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30</a:t>
            </a:r>
          </a:p>
        </p:txBody>
      </p:sp>
      <p:pic>
        <p:nvPicPr>
          <p:cNvPr id="7" name="Picture 6" descr="fig19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3823"/>
            <a:ext cx="10908792" cy="43442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④ — 갱신 간격에 대한 수렴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값 하나가 작은 것보다, 간격을 바꿨을 때 정해진 차수로 줄어드는 것이 더 강한 증거입니다.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31</a:t>
            </a:r>
          </a:p>
        </p:txBody>
      </p:sp>
      <p:pic>
        <p:nvPicPr>
          <p:cNvPr id="8" name="Picture 7" descr="fig20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05731"/>
            <a:ext cx="10908792" cy="39278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결과 ⑤ — 기동을 얹으면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초기값 · 시뮬레이션 시간 · 갱신 간격은 명세 그대로, 기동표 10줄만 추가했습니다.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32</a:t>
            </a:r>
          </a:p>
        </p:txBody>
      </p:sp>
      <p:pic>
        <p:nvPicPr>
          <p:cNvPr id="8" name="Picture 7" descr="fig21_zigz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80" y="2139696"/>
            <a:ext cx="10009190" cy="405993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TargetSim — 값을 바꿔 가며 확인하는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표에서 숫자를 고치면 자동으로 다시 돌고, 그림에서 시작점과 기수를 끌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33</a:t>
            </a:r>
          </a:p>
        </p:txBody>
      </p:sp>
      <p:pic>
        <p:nvPicPr>
          <p:cNvPr id="8" name="Picture 7" descr="fig22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99" y="2093976"/>
            <a:ext cx="6648880" cy="413308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2139696"/>
            <a:ext cx="3730752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2139696"/>
            <a:ext cx="50292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322576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고치면 곧바로 다시 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670048"/>
            <a:ext cx="3227832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표의 칸을 고치면 0.25 초 뒤 자동으로 다시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계산한다. 601 표본 × 3 객체가 4.8 ms 라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기다릴 일이 없다.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3557015"/>
            <a:ext cx="3730752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18120" y="3557015"/>
            <a:ext cx="50292" cy="12801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3739896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그림에서 끌어서 배치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087368"/>
            <a:ext cx="3227832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시작점과 기수 손잡이를 마우스로 끌면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위도 · 경도 · Yaw 가 표에 반영된다.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회전각과 선회 반경은 G 로부터 계산해 보여 준다.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4974336"/>
            <a:ext cx="373075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4974336"/>
            <a:ext cx="50292" cy="12984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157216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결과는 표 · CSV · 그림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504688"/>
            <a:ext cx="3227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시각별 LLA 를 표로 보고, 슬라이더로 되감고,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CSV 로 내보낸다. 시나리오는 텍스트 파일로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저장해 다시 불러올 수 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03. 시뮬레이션 결과 및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</a:rPr>
              <a:t>요구사항과 결과를 한 장에 놓고 보겠습니다.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5"/>
            <a:ext cx="10908792" cy="333756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85415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과제 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2185415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424" y="2185415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19172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519172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표적 10 · 기동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519172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고정 배열로 상한, 범위 밖은 오류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50424" y="2519172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범위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위치 LLA · 속도 V_heading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2664" y="2852928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ST_TargetInit, 방향은 자세각이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0424" y="2852928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검증 통과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6684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186684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기동 = G · 축 · 시작 · 종료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2664" y="3186684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ST_TargetManeuver 4 필드, 구간 겹침 검사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0424" y="3186684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검증 통과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520439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ECEF 에서 상태 갱신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520439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위치 · 속도 ECEF, 출력용 LLA 병행 보관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50424" y="3520439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고도 잔차 30 µm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854196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854196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V_heading → Vx, Vy, Vz  (추가 고민)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2664" y="3854196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동체 → NED → ECEF, 회전 2회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0424" y="3854196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속력 완전 보존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4187952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제공 좌표변환 코드 사용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12664" y="4187952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CoordinateTransform.c / matrixCalcLib.c 원본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0424" y="4187952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무수정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521708"/>
            <a:ext cx="10908792" cy="333756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521708"/>
            <a:ext cx="434340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1B2740"/>
                </a:solidFill>
                <a:latin typeface="맑은 고딕"/>
              </a:rPr>
              <a:t>결과를 LLA 로 출력하고 그림으로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12664" y="4521708"/>
            <a:ext cx="4754880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A5A7A"/>
                </a:solidFill>
                <a:latin typeface="맑은 고딕"/>
              </a:rPr>
              <a:t>표 · CSV · 궤적 · 고도 · 방위 그림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50424" y="4521708"/>
            <a:ext cx="1261872" cy="3337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980" b="1">
                <a:solidFill>
                  <a:srgbClr val="059669"/>
                </a:solidFill>
                <a:latin typeface="Consolas"/>
              </a:rPr>
              <a:t>601 표본 출력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093207"/>
            <a:ext cx="534924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093207"/>
            <a:ext cx="50292" cy="11521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276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남겨 둔 한계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23559"/>
            <a:ext cx="4846320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· Pitch ±90° 근처의 짐벌락 — 사원수로 전환하면 해소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· 힘을 풀지 않는 운동학 모델 — 탄도 표적에는 부적합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· 고도 잔차 30.8 µm 는 제공 코드의 ECEF→LLA 반복 근사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5093207"/>
            <a:ext cx="534924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5093207"/>
            <a:ext cx="50292" cy="11521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5276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이어 붙일 수 있는 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5623559"/>
            <a:ext cx="4846320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· 궤적에 측정 잡음을 얹으면 그대로 추적 필터 입력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· Part 2 의 좌표변환을 붙이면 안테나 기준 R · Az · El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· 표본 생성기를 바꾸면 RCS · 도플러까지 확장 가능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맑은 고딕"/>
              </a:rPr>
              <a:t>질문 주시면 답변드리겠습니다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3  표적 궤적 모의</dc:title>
  <dc:subject>표준 제안/보고 서식</dc:subject>
  <dc:creator>Janghwan Kim (Harley)</dc:creator>
  <cp:lastModifiedBy>PptxGenJS</cp:lastModifiedBy>
  <cp:revision>1</cp:revision>
  <dcterms:created xsi:type="dcterms:W3CDTF">2026-09-21T04:55:30Z</dcterms:created>
  <dcterms:modified xsi:type="dcterms:W3CDTF">2026-09-21T04:55:30Z</dcterms:modified>
</cp:coreProperties>
</file>