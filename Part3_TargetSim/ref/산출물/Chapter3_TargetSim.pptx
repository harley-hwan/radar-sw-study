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74" r:id="rId25"/>
    <p:sldId id="264" r:id="rId15"/>
    <p:sldId id="275" r:id="rId26"/>
    <p:sldId id="276" r:id="rId27"/>
    <p:sldId id="265" r:id="rId16"/>
    <p:sldId id="266" r:id="rId17"/>
    <p:sldId id="267" r:id="rId18"/>
    <p:sldId id="268" r:id="rId6"/>
    <p:sldId id="277" r:id="rId28"/>
    <p:sldId id="269" r:id="rId5"/>
    <p:sldId id="270" r:id="rId4"/>
    <p:sldId id="271" r:id="rId3"/>
    <p:sldId id="278" r:id="rId29"/>
    <p:sldId id="272" r:id="rId2"/>
    <p:sldId id="273" r:id="rId24"/>
  </p:sldIdLst>
  <p:notesMasterIdLst>
    <p:notesMasterId r:id="rId19"/>
  </p:notesMasterIdLst>
  <p:sldSz cx="12191695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  <Relationship Id="rId25" Type="http://schemas.openxmlformats.org/officeDocument/2006/relationships/slide" Target="slides/slide19.xml"/>
  <Relationship Id="rId26" Type="http://schemas.openxmlformats.org/officeDocument/2006/relationships/slide" Target="slides/slide20.xml"/>
  <Relationship Id="rId27" Type="http://schemas.openxmlformats.org/officeDocument/2006/relationships/slide" Target="slides/slide21.xml"/>
  <Relationship Id="rId28" Type="http://schemas.openxmlformats.org/officeDocument/2006/relationships/slide" Target="slides/slide22.xml"/>
  <Relationship Id="rId29" Type="http://schemas.openxmlformats.org/officeDocument/2006/relationships/slide" Target="slides/slide23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안녕하십니까. 이번 과제 주제는 표적 궤적 모의입니다. 표적의 초기 위치와 자세, 속력, 기동을 넣으면 시간에 따라 표적이 어떻게 움직이는지 계산하는 프로그램을 만들었습니다. 구현 내용과 결과를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발표는 세 부분입니다.</a:t>
            </a:r>
          </a:p>
          <a:p>
            <a:r>
              <a:t>첫 번째 표적 정의에서는 표적과 기동을 어떤 값으로 받고, 어떤 구조체에 담는지 설명합니다.</a:t>
            </a:r>
          </a:p>
          <a:p>
            <a:r>
              <a:t>두 번째 궤적 생성에서는 초기화부터 한 스텝 진행, 속도 변환, 중점법까지 공식과 코드로 보여드립니다.</a:t>
            </a:r>
          </a:p>
          <a:p>
            <a:r>
              <a:t>세 번째 결과 확인에서는 과제 조건의 결과와 기동 시연, 운용 화면을 보여드립니다. 좌표변환 이론은 Part 2 에서 다뤘으니, 이번에는 구현 위주로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표적 궤적 모의는 레이다 처리 흐름의 맨 앞 블록입니다. 표적이 실제로 움직인 궤적, 즉 참값을 만들어 뒤쪽 블록에 넘겨줍니다. 추적 필터가 맞게 추적했는지도 이 참값으로 판단합니다.</a:t>
            </a:r>
          </a:p>
          <a:p>
            <a:r>
              <a:t>구현은 표적 정의, 궤적 생성, 결과 확인 세 단계로 나눴고, 이 순서가 발표 순서입니다. 아래는 과제 요구사항을 단계별로 정리한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프로그램은 계산을 맡는 DLL 과 화면을 맡는 UI 로 나눴습니다.</a:t>
            </a:r>
          </a:p>
          <a:p>
            <a:r>
              <a:t>아래 DLL 에서는 이번에 작성한 TargetSim.c 가 표적 상태를 갱신하고, 좌표 변환과 행렬 연산은 참고 소스 코드를 그대로 씁니다. 위쪽 UI 는 입력 표와 궤적 그림, 결과 표를 맡습니다.</a:t>
            </a:r>
          </a:p>
          <a:p>
            <a:r>
              <a:t>둘은 설정 구조체 ST_SimConfig 와 결과 구조체 ST_SimSample 로만 주고받습니다. 맨 아래가 UI 가 DLL 함수를 부르는 순서입니다.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표적 하나는 입력값 일곱 개로 정의합니다. 위도, 경도, 고도, 속력, 그리고 Roll, Pitch, Yaw 입니다. 속도는 크기만 받고 방향은 자세각이 정합니다. 예를 들어 Yaw 가 180도면 기수가 남쪽이라, 속력 200 만으로 남쪽 200 m/s 속도가 됩니다.</a:t>
            </a:r>
          </a:p>
          <a:p>
            <a:r>
              <a:t>계산할 때는 과제 요구사항대로 이 값을 ECEF 위치와 속도, 자세각, 아홉 개로 바꿔 씁니다. 결과를 출력할 때만 위경도로 다시 바꿉니다.</a:t>
            </a:r>
          </a:p>
          <a:p>
            <a:r>
              <a:t>오른쪽이 이 값을 담는 구조체입니다. 설정은 처음에 한 번 읽고, 스텝마다 바뀌는 건 상태뿐입니다.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기동 하나는 네 값으로 정합니다. 어느 축으로, 얼마나 세게, 언제부터 언제까지 도는지입니다. 세기는 G 값의 크기로, 방향은 부호로 받습니다.</a:t>
            </a:r>
          </a:p>
          <a:p>
            <a:r>
              <a:t>계산에 필요한 건 1초에 몇 도 도는지, 즉 각속도입니다. 원운동 가속도를 중력가속도의 n 배로 놓으면 각속도는 n 곱하기 g 를 속력으로 나눈 값이고, 코드도 이 식 한 줄입니다. 그래서 같은 4G 라도 느린 배는 빨리 돌고, 빠른 항공기는 천천히 돕니다.</a:t>
            </a:r>
          </a:p>
          <a:p>
            <a:r>
              <a:t>아래 그래프처럼 기동 구간에서만 방위각이 바뀌고, 그 밖에서는 직진합니다.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앞에서 정한 값을 헤더 파일에 옮긴 모습입니다. 왼쪽이 입력으로 위가 기동 하나, 아래가 표적 하나의 설정입니다. 오른쪽이 출력으로 위가 표적 하나의 상태, 아래가 한 시각의 표본입니다.</a:t>
            </a:r>
          </a:p>
          <a:p>
            <a:r>
              <a:t>기동 구간은 시작 시각은 포함하고 종료 시각은 포함하지 않습니다. 그래서 앞 기동이 끝나는 순간 다음 기동이 바로 이어집니다. 상태에는 계산용 ECEF 와 출력용 위경도를 함께 둡니다. 플랫폼도 같은 구조체를 쓰고, 각속도만 0 으로 넣어 같은 함수로 전진시킵니다.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이제 표적을 0.1초 앞으로 보내는 한 스텝입니다. 다섯 단계로 나뉩니다.</a:t>
            </a:r>
          </a:p>
          <a:p>
            <a:r>
              <a:t>지금 시각에 걸린 기동을 찾고, 각속도만큼 자세를 돌립니다. 기수 방향 속력을 ECEF 속도로 바꾸고, 그 속도로 위치를 옮긴 뒤, 위경도로 바꿔 표본에 담습니다.</a:t>
            </a:r>
          </a:p>
          <a:p>
            <a:r>
              <a:t>속도 변환과 위치 이동은 반 스텝 지점에서 한 번 더 계산합니다. 이유는 14장에서 설명드리겠습니다. 표적끼리는 서로 영향이 없어서 표적 수만큼 반복하면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다음은 과제의 추가 고민 항목인 속도 벡터 변환입니다. 입력은 속력 하나인데, 위치에 더하려면 ECEF 의 x, y, z 세 성분이 필요합니다.</a:t>
            </a:r>
          </a:p>
          <a:p>
            <a:r>
              <a:t>그래서 회전을 두 번 합니다. 기수 방향 속도를 자세각으로 돌리면 북, 동, 아래 성분이 되고, 이것을 위도와 경도로 한 번 더 돌리면 ECEF 속도가 됩니다.</a:t>
            </a:r>
          </a:p>
          <a:p>
            <a:r>
              <a:t>오른쪽은 대공 표적 예입니다. 남쪽으로 200 m/s 로 날면 NED 에서는 북쪽 성분이 마이너스 200 이고, ECEF 로 바꾸면 아래 세 성분이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방금 본 두 번의 회전을 옮긴 f_Tgt_GetVelEcef 입니다.</a:t>
            </a:r>
          </a:p>
          <a:p>
            <a:r>
              <a:t>1번, 자세와 위경도, 속력을 받아 ECEF 속도를 돌려줍니다. 초기화 때 한 번, 스텝마다 세 번 불립니다. 2번, 앞으로만 가는 속도를 자세각으로 돌려 북, 동, 아래 성분으로 나눕니다.</a:t>
            </a:r>
          </a:p>
          <a:p>
            <a:r>
              <a:t>3번, 이것을 위경도로 한 번 더 돌려 ECEF 로 바꿉니다. 이 함수는 원래 기준점만큼 평행이동도 하는데, 속도는 방향만 바꾸면 되므로 기준점에 0 을 넣었습니다.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위치를 옮길 때는 어느 지점의 속도를 쓰는지가 중요합니다.</a:t>
            </a:r>
          </a:p>
          <a:p>
            <a:r>
              <a:t>위 그림처럼 출발할 때 속도로만 가면, 표적이 도는 동안 방향이 바뀌어 실제 궤적에서 점점 벗어납니다. 그래서 아래 그림처럼 반 스텝을 먼저 가 보고, 그 지점에서 속도를 다시 구해, 그 속도로 처음 위치에서 한 스텝을 옮깁니다. 이것을 중점법이라고 합니다.</a:t>
            </a:r>
          </a:p>
          <a:p>
            <a:r>
              <a:t>오른쪽 식의 v mid 가 반 스텝 지점에서 다시 구한 속도입니다.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중점법을 구현한 f_Tgt_Propagate 입니다. 길어서 두 장으로 나눴습니다.</a:t>
            </a:r>
          </a:p>
          <a:p>
            <a:r>
              <a:t>1번, 반 스텝 뒤 자세입니다. 기동 구간 안에서는 각속도가 일정해서, 자세에 각속도 곱하기 0.05초를 더하면 됩니다. 2번, 같은 식에 0.1초를 곱해 다음 스텝 자세를 미리 만들어 둡니다.</a:t>
            </a:r>
          </a:p>
          <a:p>
            <a:r>
              <a:t>3번, 스텝 시작 속도로 0.05초 먼저 가 본 위치입니다. 이 자리에서 대표 속도를 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파트, 결과 확인입니다. 조건은 과제 명세 값을 그대로 넣었습니다.</a:t>
            </a:r>
          </a:p>
          <a:p>
            <a:r>
              <a:t>플랫폼은 위도 32도, 경도 126도에 정지해 있고, 그림은 이 위치를 원점으로 그립니다. 대함 표적은 서쪽으로 30 m/s, 대공 표적은 고도 300미터에서 남쪽으로 200 m/s 로, 둘 다 직진합니다.</a:t>
            </a:r>
          </a:p>
          <a:p>
            <a:r>
              <a:t>60초를 0.1초 간격으로 계산하니 스텝은 600번, 표본은 601개입니다.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조건으로 계산한 결과입니다. 왼쪽은 플랫폼을 원점으로 위에서 내려다본 궤적이고, 점 하나가 10초 간격입니다.</a:t>
            </a:r>
          </a:p>
          <a:p>
            <a:r>
              <a:t>대공 표적은 남쪽으로 12킬로미터, 대함 표적은 서쪽으로 1.8킬로미터를 직진했습니다. 각각 속력에 60초를 곱한 거리입니다. 오른쪽처럼 고도와 속력은 처음 값 그대로입니다.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초기값에 기동 10개를 넣어 다시 계산했습니다.</a:t>
            </a:r>
          </a:p>
          <a:p>
            <a:r>
              <a:t>파란 대함 표적은 1G 로 45도씩 돌면서 한 번 비켜 가고, 빨간 대공 표적은 8.2G 로 90도씩 돌면서 지그재그로 내려옵니다.</a:t>
            </a:r>
          </a:p>
          <a:p>
            <a:r>
              <a:t>오른쪽 방위각 그래프에서 색칠한 부분이 기동 구간입니다. 구간 안에서만 방위각이 바뀌고, 밖에서는 그대로 직진합니다.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과제 요구사항과 구현을 정리했습니다.</a:t>
            </a:r>
          </a:p>
          <a:p>
            <a:r>
              <a:t>표적 10개, 기동 30개는 고정 배열로 담았고, 위치와 속력, 기동은 구조체로 받습니다. 상태는 ECEF 에서 갱신하고, 속도 변환은 동체에서 NED, ECEF 로 두 번 회전해 구현했습니다. 좌표변환은 참고 소스 함수를 그대로 썼고, 결과는 표와 CSV, 그림으로 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이상으로 발표를 마치겠습니다. 코드는 radar-sw-study 저장소의 Part3_TargetSim 폴더에 있습니다. 감사합니다. 질문 주시면 답변드리겠습니다.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파트, 궤적 생성입니다. 먼저 초기화 함수 f_Tgt_InitSim 입니다. 코드에 표시한 번호 순서대로 보겠습니다.</a:t>
            </a:r>
          </a:p>
          <a:p>
            <a:r>
              <a:t>1번, 설정 전체를 복사해 두고, 스텝을 진행할 때는 이 사본을 읽습니다. 2번, 전체 시간을 간격으로 나눠 스텝 수를 구합니다. 60초를 0.1초로 나누면 600 스텝입니다.</a:t>
            </a:r>
          </a:p>
          <a:p>
            <a:r>
              <a:t>3번, 시각 0 인 첫 표본을 채웁니다. 4번, 플랫폼과 표적마다 f_Tgt_InitState 로 초기 상태를 만듭니다. 오른쪽 아래처럼 위경도는 ECEF 위치로 바꾸고, 속도는 뒤에 나올 속도 변환 함수로 만듭니다.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한 스텝을 진행하는 f_Tgt_StepSim 입니다.</a:t>
            </a:r>
          </a:p>
          <a:p>
            <a:r>
              <a:t>1번, 지금 시각과 다음 시각은 스텝 번호에 0.1초를 곱해 구합니다. 2번, 플랫폼은 기동이 없으니 각속도 0 을 넘겨 표적과 같은 함수로 전진시킵니다.</a:t>
            </a:r>
          </a:p>
          <a:p>
            <a:r>
              <a:t>3번, 표적마다 지금 걸린 기동의 각속도를 구하고, 그 각속도로 한 스텝 전진합니다. 4번, 스텝 번호와 시각을 올립니다. UI 는 이 함수를 600번 불러 표본 601개를 모읍니다.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지금 시각의 각속도를 구하는 f_Tgt_GetAttRate 입니다.</a:t>
            </a:r>
          </a:p>
          <a:p>
            <a:r>
              <a:t>1번, 각속도는 0 에서 시작하고, 걸린 기동이 없으면 0 을 그대로 돌려줍니다. 2번, 시작 시각 이상, 종료 시각 미만인 첫 기동을 찾습니다.</a:t>
            </a:r>
          </a:p>
          <a:p>
            <a:r>
              <a:t>3번, 앞에서 본 식으로 G 를 각속도로 바꾸고, 4번, 그 값을 기동 축 하나에만 넣습니다. 축이 없음이면 각속도 0 으로 직진합니다.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이어서 4번, 반 스텝 지점의 위경도와 자세로 속도를 다시 만듭니다. 이 속도가 이번 스텝의 대표 속도입니다.</a:t>
            </a:r>
          </a:p>
          <a:p>
            <a:r>
              <a:t>5번, 시작 위치에 대표 속도 곱하기 0.1초를 더해 옮깁니다. 6번, 새 위치를 위경도로 바꾸고 속도도 다시 구해 표본에 담습니다.</a:t>
            </a:r>
          </a:p>
          <a:p>
            <a:r>
              <a:t>7번, 계산하는 동안은 시작 상태만 읽고, 마지막에 새 상태를 한 번에 덮어씁니다.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운용 화면입니다. 기동 시연 프리셋을 불러와 표적 2 를 고른 상태입니다.</a:t>
            </a:r>
          </a:p>
          <a:p>
            <a:r>
              <a:t>1번에서 시나리오를 고르고, 2번 표에서 플랫폼과 표적의 초기값을, 3번 표에서 고른 표적의 기동을 고칩니다. 오른쪽 4번은 궤적과 고도 그림, 5번은 시각별 위경도 표이고 CSV 로 저장할 수 있습니다.</a:t>
            </a:r>
          </a:p>
          <a:p>
            <a:r>
              <a:t>칸을 하나 고치면 아래 순서로 전 구간을 바로 다시 계산해서, 그림과 표가 함께 바뀝니다.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0" y="658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2505456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400" b="0">
                <a:solidFill>
                  <a:srgbClr val="AEB9CC"/>
                </a:solidFill>
                <a:latin typeface="맑은 고딕"/>
              </a:rPr>
              <a:t>레이다 SW 학습 과제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2944368"/>
            <a:ext cx="676656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맑은 고딕"/>
              </a:rPr>
              <a:t>표적 궤적 모의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0" y="3913632"/>
            <a:ext cx="3108960" cy="0"/>
          </a:xfrm>
          <a:prstGeom prst="rect">
            <a:avLst/>
          </a:prstGeom>
          <a:noFill/>
          <a:ln w="9525">
            <a:solidFill>
              <a:srgbClr val="AEB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06240" y="4059936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300" b="0">
                <a:solidFill>
                  <a:srgbClr val="AEB9CC"/>
                </a:solidFill>
                <a:latin typeface="Arial"/>
              </a:rPr>
              <a:t>Target Trajectory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5120640"/>
            <a:ext cx="676656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맑은 고딕"/>
              </a:rPr>
              <a:t>Janghwan Kim (Harley)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2103120" y="722376"/>
            <a:ext cx="210312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06240" y="722376"/>
            <a:ext cx="7269480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32918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맑은 고딕"/>
              </a:rPr>
              <a:t>표적 궤적 모의</a:t>
            </a:r>
          </a:p>
          <a:p>
            <a:pPr algn="ctr"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맑은 고딕"/>
              </a:rPr>
              <a:t>TargetSim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350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AEB9CC"/>
                </a:solidFill>
                <a:latin typeface="맑은 고딕"/>
              </a:rPr>
              <a:t>Janghwan Kim (Harley)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69164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74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9164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740"/>
                </a:solidFill>
                <a:latin typeface="맑은 고딕"/>
                <a:ea typeface="맑은 고딕"/>
              </a:rPr>
              <a:t>표적 정의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2843784"/>
            <a:ext cx="6720840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3172968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740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3172968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740"/>
                </a:solidFill>
                <a:latin typeface="맑은 고딕"/>
                <a:ea typeface="맑은 고딕"/>
              </a:rPr>
              <a:t>궤적 생성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4325112"/>
            <a:ext cx="6720840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4654296"/>
            <a:ext cx="914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2740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4654296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740"/>
                </a:solidFill>
                <a:latin typeface="맑은 고딕"/>
                <a:ea typeface="맑은 고딕"/>
              </a:rPr>
              <a:t>결과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5352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1691640"/>
            <a:ext cx="3154680" cy="50292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표적 · 기동 데이터 구조</a:t>
            </a:r>
            <a:endParaRPr lang="ko-KR" altLang="en-US" sz="1050" dirty="0"/>
          </a:p>
        </p:txBody>
      </p:sp>
      <p:sp>
        <p:nvSpPr>
          <p:cNvPr id="24" name="TextBox 23"/>
          <p:cNvSpPr txBox="1"/>
          <p:nvPr/>
        </p:nvSpPr>
        <p:spPr>
          <a:xfrm>
            <a:off x="10881360" y="1691640"/>
            <a:ext cx="658368" cy="50292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맑은 고딕"/>
                <a:ea typeface="맑은 고딕"/>
                <a:cs typeface="맑은 고딕"/>
              </a:rPr>
              <a:t>5 ~ 7</a:t>
            </a:r>
            <a:endParaRPr lang="ko-KR" altLang="en-US" sz="950" dirty="0"/>
          </a:p>
        </p:txBody>
      </p:sp>
      <p:sp>
        <p:nvSpPr>
          <p:cNvPr id="25" name="TextBox 24"/>
          <p:cNvSpPr txBox="1"/>
          <p:nvPr/>
        </p:nvSpPr>
        <p:spPr>
          <a:xfrm>
            <a:off x="7726680" y="3172968"/>
            <a:ext cx="3154680" cy="50292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초기화 · 스텝 진행 · 속도 변환 · 중점법</a:t>
            </a:r>
            <a:endParaRPr lang="ko-KR" altLang="en-US" sz="1050" dirty="0"/>
          </a:p>
        </p:txBody>
      </p:sp>
      <p:sp>
        <p:nvSpPr>
          <p:cNvPr id="26" name="TextBox 25"/>
          <p:cNvSpPr txBox="1"/>
          <p:nvPr/>
        </p:nvSpPr>
        <p:spPr>
          <a:xfrm>
            <a:off x="10881360" y="3172968"/>
            <a:ext cx="658368" cy="50292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맑은 고딕"/>
                <a:ea typeface="맑은 고딕"/>
                <a:cs typeface="맑은 고딕"/>
              </a:rPr>
              <a:t>8 ~ 16</a:t>
            </a:r>
            <a:endParaRPr lang="ko-KR" altLang="en-US" sz="950" dirty="0"/>
          </a:p>
        </p:txBody>
      </p:sp>
      <p:sp>
        <p:nvSpPr>
          <p:cNvPr id="27" name="TextBox 26"/>
          <p:cNvSpPr txBox="1"/>
          <p:nvPr/>
        </p:nvSpPr>
        <p:spPr>
          <a:xfrm>
            <a:off x="7726680" y="4654296"/>
            <a:ext cx="3154680" cy="50292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시뮬레이션 조건 · 결과 · 운용 화면</a:t>
            </a:r>
            <a:endParaRPr lang="ko-KR" altLang="en-US" sz="1050" dirty="0"/>
          </a:p>
        </p:txBody>
      </p:sp>
      <p:sp>
        <p:nvSpPr>
          <p:cNvPr id="28" name="TextBox 27"/>
          <p:cNvSpPr txBox="1"/>
          <p:nvPr/>
        </p:nvSpPr>
        <p:spPr>
          <a:xfrm>
            <a:off x="10881360" y="4654296"/>
            <a:ext cx="658368" cy="50292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맑은 고딕"/>
                <a:ea typeface="맑은 고딕"/>
                <a:cs typeface="맑은 고딕"/>
              </a:rPr>
              <a:t>17 ~ 21</a:t>
            </a:r>
            <a:endParaRPr lang="ko-KR" altLang="en-US" sz="950" dirty="0"/>
          </a:p>
        </p:txBody>
      </p:sp>
      <p:sp>
        <p:nvSpPr>
          <p:cNvPr id="29" name="TextBox 28"/>
          <p:cNvSpPr txBox="1"/>
          <p:nvPr/>
        </p:nvSpPr>
        <p:spPr>
          <a:xfrm>
            <a:off x="4800600" y="5596128"/>
            <a:ext cx="6720840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맑은 고딕"/>
                <a:ea typeface="맑은 고딕"/>
                <a:cs typeface="맑은 고딕"/>
              </a:rPr>
              <a:t>좌표계와 좌표변환 이론은 Part 2 에서 다뤘으므로, 이번에는 그 이론을 적용한 구현을 중심으로 설명합니다.</a:t>
            </a:r>
            <a:endParaRPr lang="ko-KR" alt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들어가며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과제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  <a:ea typeface="맑은 고딕"/>
              </a:rPr>
              <a:t>표적이 실제로 움직인 궤적, 즉 참값을 만들어 뒤쪽 처리 블록에 넘겨주는 모의입니다.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57984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레이다 처리 흐름에서의 위치</a:t>
            </a:r>
            <a:endParaRPr lang="ko-KR" altLang="en-US" sz="1150" dirty="0"/>
          </a:p>
        </p:txBody>
      </p:sp>
      <p:sp>
        <p:nvSpPr>
          <p:cNvPr id="9" name="Rectangle 8"/>
          <p:cNvSpPr/>
          <p:nvPr/>
        </p:nvSpPr>
        <p:spPr>
          <a:xfrm>
            <a:off x="640080" y="2505456"/>
            <a:ext cx="2452878" cy="566928"/>
          </a:xfrm>
          <a:prstGeom prst="rect">
            <a:avLst/>
          </a:prstGeom>
          <a:solidFill>
            <a:srgbClr val="EEF3FE"/>
          </a:solidFill>
          <a:ln w="19050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8608"/>
            <a:ext cx="2452878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표적 궤적 모의</a:t>
            </a:r>
            <a:endParaRPr lang="ko-KR" altLang="en-US" sz="1150" dirty="0"/>
          </a:p>
        </p:txBody>
      </p:sp>
      <p:sp>
        <p:nvSpPr>
          <p:cNvPr id="11" name="TextBox 10"/>
          <p:cNvSpPr txBox="1"/>
          <p:nvPr/>
        </p:nvSpPr>
        <p:spPr>
          <a:xfrm>
            <a:off x="640080" y="2825496"/>
            <a:ext cx="2452878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시각별 위도 · 경도 · 고도</a:t>
            </a:r>
            <a:endParaRPr lang="ko-KR" altLang="en-US" sz="950" dirty="0"/>
          </a:p>
        </p:txBody>
      </p:sp>
      <p:cxnSp>
        <p:nvCxnSpPr>
          <p:cNvPr id="12" name="Connector 11"/>
          <p:cNvCxnSpPr/>
          <p:nvPr/>
        </p:nvCxnSpPr>
        <p:spPr>
          <a:xfrm>
            <a:off x="3147822" y="2788920"/>
            <a:ext cx="256032" cy="0"/>
          </a:xfrm>
          <a:prstGeom prst="line">
            <a:avLst/>
          </a:prstGeom>
          <a:ln w="15875">
            <a:solidFill>
              <a:srgbClr val="1B2740"/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3458718" y="2505456"/>
            <a:ext cx="2452878" cy="566928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8718" y="2578608"/>
            <a:ext cx="2452878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7A879F"/>
                </a:solidFill>
                <a:latin typeface="맑은 고딕"/>
                <a:ea typeface="맑은 고딕"/>
                <a:cs typeface="맑은 고딕"/>
              </a:rPr>
              <a:t>측정 모의</a:t>
            </a:r>
            <a:endParaRPr lang="ko-KR" altLang="en-US" sz="1150" dirty="0"/>
          </a:p>
        </p:txBody>
      </p:sp>
      <p:sp>
        <p:nvSpPr>
          <p:cNvPr id="15" name="TextBox 14"/>
          <p:cNvSpPr txBox="1"/>
          <p:nvPr/>
        </p:nvSpPr>
        <p:spPr>
          <a:xfrm>
            <a:off x="3458718" y="2825496"/>
            <a:ext cx="2452878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맑은 고딕"/>
                <a:ea typeface="맑은 고딕"/>
                <a:cs typeface="맑은 고딕"/>
              </a:rPr>
              <a:t>안테나 기준 거리 · 각도 + 잡음</a:t>
            </a:r>
            <a:endParaRPr lang="ko-KR" altLang="en-US" sz="950" dirty="0"/>
          </a:p>
        </p:txBody>
      </p:sp>
      <p:cxnSp>
        <p:nvCxnSpPr>
          <p:cNvPr id="16" name="Connector 15"/>
          <p:cNvCxnSpPr/>
          <p:nvPr/>
        </p:nvCxnSpPr>
        <p:spPr>
          <a:xfrm>
            <a:off x="5966460" y="2788920"/>
            <a:ext cx="256032" cy="0"/>
          </a:xfrm>
          <a:prstGeom prst="line">
            <a:avLst/>
          </a:prstGeom>
          <a:ln w="12700">
            <a:solidFill>
              <a:srgbClr val="8794AC"/>
            </a:solidFill>
            <a:tailEnd type="triangle" w="med" len="med"/>
          </a:ln>
        </p:spPr>
      </p:cxnSp>
      <p:sp>
        <p:nvSpPr>
          <p:cNvPr id="17" name="Rectangle 16"/>
          <p:cNvSpPr/>
          <p:nvPr/>
        </p:nvSpPr>
        <p:spPr>
          <a:xfrm>
            <a:off x="6277356" y="2505456"/>
            <a:ext cx="2452878" cy="566928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7356" y="2578608"/>
            <a:ext cx="2452878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7A879F"/>
                </a:solidFill>
                <a:latin typeface="맑은 고딕"/>
                <a:ea typeface="맑은 고딕"/>
                <a:cs typeface="맑은 고딕"/>
              </a:rPr>
              <a:t>추적 필터</a:t>
            </a:r>
            <a:endParaRPr lang="ko-KR" altLang="en-US" sz="1150" dirty="0"/>
          </a:p>
        </p:txBody>
      </p:sp>
      <p:sp>
        <p:nvSpPr>
          <p:cNvPr id="19" name="TextBox 18"/>
          <p:cNvSpPr txBox="1"/>
          <p:nvPr/>
        </p:nvSpPr>
        <p:spPr>
          <a:xfrm>
            <a:off x="6277356" y="2825496"/>
            <a:ext cx="2452878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맑은 고딕"/>
                <a:ea typeface="맑은 고딕"/>
                <a:cs typeface="맑은 고딕"/>
              </a:rPr>
              <a:t>측정값으로 표적 상태 추정</a:t>
            </a:r>
            <a:endParaRPr lang="ko-KR" altLang="en-US" sz="950" dirty="0"/>
          </a:p>
        </p:txBody>
      </p:sp>
      <p:cxnSp>
        <p:nvCxnSpPr>
          <p:cNvPr id="20" name="Connector 19"/>
          <p:cNvCxnSpPr/>
          <p:nvPr/>
        </p:nvCxnSpPr>
        <p:spPr>
          <a:xfrm>
            <a:off x="8785098" y="2788920"/>
            <a:ext cx="256032" cy="0"/>
          </a:xfrm>
          <a:prstGeom prst="line">
            <a:avLst/>
          </a:prstGeom>
          <a:ln w="12700">
            <a:solidFill>
              <a:srgbClr val="8794AC"/>
            </a:solidFill>
            <a:tailEnd type="triangle" w="med" len="med"/>
          </a:ln>
        </p:spPr>
      </p:cxnSp>
      <p:sp>
        <p:nvSpPr>
          <p:cNvPr id="21" name="Rectangle 20"/>
          <p:cNvSpPr/>
          <p:nvPr/>
        </p:nvSpPr>
        <p:spPr>
          <a:xfrm>
            <a:off x="9095994" y="2505456"/>
            <a:ext cx="2452878" cy="566928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5994" y="2578608"/>
            <a:ext cx="2452878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7A879F"/>
                </a:solidFill>
                <a:latin typeface="맑은 고딕"/>
                <a:ea typeface="맑은 고딕"/>
                <a:cs typeface="맑은 고딕"/>
              </a:rPr>
              <a:t>전시 · 통제</a:t>
            </a:r>
            <a:endParaRPr lang="ko-KR" altLang="en-US" sz="1150" dirty="0"/>
          </a:p>
        </p:txBody>
      </p:sp>
      <p:sp>
        <p:nvSpPr>
          <p:cNvPr id="23" name="TextBox 22"/>
          <p:cNvSpPr txBox="1"/>
          <p:nvPr/>
        </p:nvSpPr>
        <p:spPr>
          <a:xfrm>
            <a:off x="9095994" y="2825496"/>
            <a:ext cx="2452878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맑은 고딕"/>
                <a:ea typeface="맑은 고딕"/>
                <a:cs typeface="맑은 고딕"/>
              </a:rPr>
              <a:t>항적 표시</a:t>
            </a:r>
            <a:endParaRPr lang="ko-KR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1482471" y="3154680"/>
            <a:ext cx="768096" cy="2286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2471" y="3154680"/>
            <a:ext cx="768096" cy="2286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이번 과제</a:t>
            </a:r>
            <a:endParaRPr lang="ko-KR" altLang="en-US" sz="900" dirty="0"/>
          </a:p>
        </p:txBody>
      </p:sp>
      <p:sp>
        <p:nvSpPr>
          <p:cNvPr id="26" name="TextBox 25"/>
          <p:cNvSpPr txBox="1"/>
          <p:nvPr/>
        </p:nvSpPr>
        <p:spPr>
          <a:xfrm>
            <a:off x="3458718" y="3163824"/>
            <a:ext cx="8090154" cy="2286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뒤쪽 블록은 이 참값을 기준으로 추적 결과가 맞는지 판단한다.</a:t>
            </a:r>
            <a:endParaRPr lang="ko-KR" altLang="en-US" sz="950" dirty="0"/>
          </a:p>
        </p:txBody>
      </p:sp>
      <p:cxnSp>
        <p:nvCxnSpPr>
          <p:cNvPr id="27" name="Connector 26"/>
          <p:cNvCxnSpPr/>
          <p:nvPr/>
        </p:nvCxnSpPr>
        <p:spPr>
          <a:xfrm>
            <a:off x="640080" y="3566160"/>
            <a:ext cx="10908792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640080" y="3657600"/>
            <a:ext cx="4572000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구현 단계</a:t>
            </a:r>
            <a:endParaRPr lang="ko-KR" altLang="en-US" sz="1150" dirty="0"/>
          </a:p>
        </p:txBody>
      </p:sp>
      <p:sp>
        <p:nvSpPr>
          <p:cNvPr id="29" name="Rectangle 28"/>
          <p:cNvSpPr/>
          <p:nvPr/>
        </p:nvSpPr>
        <p:spPr>
          <a:xfrm>
            <a:off x="640080" y="3986784"/>
            <a:ext cx="3429000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3986784"/>
            <a:ext cx="3429000" cy="3291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3986784"/>
            <a:ext cx="3154680" cy="32918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 1</a:t>
            </a:r>
            <a:r>
              <a:rPr lang="ko-KR" altLang="en-US" sz="115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   표적 정의</a:t>
            </a:r>
            <a:endParaRPr lang="ko-KR" alt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841248" y="4485132"/>
            <a:ext cx="54864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4407408"/>
            <a:ext cx="2971800" cy="219456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표적 입력값과 상태값</a:t>
            </a:r>
            <a:endParaRPr lang="ko-KR" altLang="en-US" sz="1050" dirty="0"/>
          </a:p>
        </p:txBody>
      </p:sp>
      <p:sp>
        <p:nvSpPr>
          <p:cNvPr id="34" name="Rectangle 33"/>
          <p:cNvSpPr/>
          <p:nvPr/>
        </p:nvSpPr>
        <p:spPr>
          <a:xfrm>
            <a:off x="841248" y="4713732"/>
            <a:ext cx="54864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4636008"/>
            <a:ext cx="2971800" cy="219456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기동 입력값과 각속도</a:t>
            </a:r>
            <a:endParaRPr lang="ko-KR" altLang="en-US" sz="1050" dirty="0"/>
          </a:p>
        </p:txBody>
      </p:sp>
      <p:cxnSp>
        <p:nvCxnSpPr>
          <p:cNvPr id="36" name="Connector 35"/>
          <p:cNvCxnSpPr/>
          <p:nvPr/>
        </p:nvCxnSpPr>
        <p:spPr>
          <a:xfrm>
            <a:off x="804672" y="4882896"/>
            <a:ext cx="3099816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804672" y="4937760"/>
            <a:ext cx="548640" cy="201168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8794AC"/>
                </a:solidFill>
                <a:latin typeface="맑은 고딕"/>
                <a:ea typeface="맑은 고딕"/>
                <a:cs typeface="맑은 고딕"/>
              </a:rPr>
              <a:t>산출물</a:t>
            </a:r>
            <a:endParaRPr lang="ko-KR" altLang="en-US" sz="850" dirty="0"/>
          </a:p>
        </p:txBody>
      </p:sp>
      <p:sp>
        <p:nvSpPr>
          <p:cNvPr id="38" name="TextBox 37"/>
          <p:cNvSpPr txBox="1"/>
          <p:nvPr/>
        </p:nvSpPr>
        <p:spPr>
          <a:xfrm>
            <a:off x="1353312" y="4937760"/>
            <a:ext cx="2606040" cy="201168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ST_TargetInit, ST_TargetManeuver</a:t>
            </a:r>
            <a:endParaRPr lang="ko-KR" altLang="en-US" sz="900" dirty="0"/>
          </a:p>
        </p:txBody>
      </p:sp>
      <p:cxnSp>
        <p:nvCxnSpPr>
          <p:cNvPr id="39" name="Connector 38"/>
          <p:cNvCxnSpPr/>
          <p:nvPr/>
        </p:nvCxnSpPr>
        <p:spPr>
          <a:xfrm>
            <a:off x="4114800" y="4581144"/>
            <a:ext cx="219456" cy="0"/>
          </a:xfrm>
          <a:prstGeom prst="line">
            <a:avLst/>
          </a:prstGeom>
          <a:ln w="12700">
            <a:solidFill>
              <a:srgbClr val="8794AC"/>
            </a:solidFill>
            <a:tailEnd type="triangle" w="med" len="med"/>
          </a:ln>
        </p:spPr>
      </p:cxnSp>
      <p:sp>
        <p:nvSpPr>
          <p:cNvPr id="40" name="Rectangle 39"/>
          <p:cNvSpPr/>
          <p:nvPr/>
        </p:nvSpPr>
        <p:spPr>
          <a:xfrm>
            <a:off x="4379976" y="3986784"/>
            <a:ext cx="3429000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79976" y="3986784"/>
            <a:ext cx="3429000" cy="32918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44568" y="3986784"/>
            <a:ext cx="3154680" cy="32918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 2</a:t>
            </a:r>
            <a:r>
              <a:rPr lang="ko-KR" altLang="en-US" sz="115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   궤적 생성</a:t>
            </a:r>
            <a:endParaRPr lang="ko-KR" altLang="en-US" sz="1000" dirty="0"/>
          </a:p>
        </p:txBody>
      </p:sp>
      <p:sp>
        <p:nvSpPr>
          <p:cNvPr id="43" name="Rectangle 42"/>
          <p:cNvSpPr/>
          <p:nvPr/>
        </p:nvSpPr>
        <p:spPr>
          <a:xfrm>
            <a:off x="4581144" y="4485132"/>
            <a:ext cx="54864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27448" y="4407408"/>
            <a:ext cx="2971800" cy="219456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속도 벡터 변환 (V → ECEF)</a:t>
            </a:r>
            <a:endParaRPr lang="ko-KR" altLang="en-US" sz="1050" dirty="0"/>
          </a:p>
        </p:txBody>
      </p:sp>
      <p:sp>
        <p:nvSpPr>
          <p:cNvPr id="45" name="Rectangle 44"/>
          <p:cNvSpPr/>
          <p:nvPr/>
        </p:nvSpPr>
        <p:spPr>
          <a:xfrm>
            <a:off x="4581144" y="4713732"/>
            <a:ext cx="54864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27448" y="4636008"/>
            <a:ext cx="2971800" cy="219456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한 스텝 전진 (0.1 s)</a:t>
            </a:r>
            <a:endParaRPr lang="ko-KR" altLang="en-US" sz="1050" dirty="0"/>
          </a:p>
        </p:txBody>
      </p:sp>
      <p:cxnSp>
        <p:nvCxnSpPr>
          <p:cNvPr id="47" name="Connector 46"/>
          <p:cNvCxnSpPr/>
          <p:nvPr/>
        </p:nvCxnSpPr>
        <p:spPr>
          <a:xfrm>
            <a:off x="4544568" y="4882896"/>
            <a:ext cx="3099816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48" name="TextBox 47"/>
          <p:cNvSpPr txBox="1"/>
          <p:nvPr/>
        </p:nvSpPr>
        <p:spPr>
          <a:xfrm>
            <a:off x="4544568" y="4937760"/>
            <a:ext cx="548640" cy="201168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8794AC"/>
                </a:solidFill>
                <a:latin typeface="맑은 고딕"/>
                <a:ea typeface="맑은 고딕"/>
                <a:cs typeface="맑은 고딕"/>
              </a:rPr>
              <a:t>산출물</a:t>
            </a:r>
            <a:endParaRPr lang="ko-KR" altLang="en-US" sz="850" dirty="0"/>
          </a:p>
        </p:txBody>
      </p:sp>
      <p:sp>
        <p:nvSpPr>
          <p:cNvPr id="49" name="TextBox 48"/>
          <p:cNvSpPr txBox="1"/>
          <p:nvPr/>
        </p:nvSpPr>
        <p:spPr>
          <a:xfrm>
            <a:off x="5093208" y="4937760"/>
            <a:ext cx="2606040" cy="201168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f_Tgt_StepSim</a:t>
            </a:r>
            <a:endParaRPr lang="ko-KR" altLang="en-US" sz="900" dirty="0"/>
          </a:p>
        </p:txBody>
      </p:sp>
      <p:cxnSp>
        <p:nvCxnSpPr>
          <p:cNvPr id="50" name="Connector 49"/>
          <p:cNvCxnSpPr/>
          <p:nvPr/>
        </p:nvCxnSpPr>
        <p:spPr>
          <a:xfrm>
            <a:off x="7854696" y="4581144"/>
            <a:ext cx="219456" cy="0"/>
          </a:xfrm>
          <a:prstGeom prst="line">
            <a:avLst/>
          </a:prstGeom>
          <a:ln w="12700">
            <a:solidFill>
              <a:srgbClr val="8794AC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8119872" y="3986784"/>
            <a:ext cx="3429000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19872" y="3986784"/>
            <a:ext cx="3429000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84464" y="3986784"/>
            <a:ext cx="3154680" cy="32918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 3</a:t>
            </a:r>
            <a:r>
              <a:rPr lang="ko-KR" altLang="en-US" sz="115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   결과 확인</a:t>
            </a:r>
            <a:endParaRPr lang="ko-KR" altLang="en-US" sz="1000" dirty="0"/>
          </a:p>
        </p:txBody>
      </p:sp>
      <p:sp>
        <p:nvSpPr>
          <p:cNvPr id="54" name="Rectangle 53"/>
          <p:cNvSpPr/>
          <p:nvPr/>
        </p:nvSpPr>
        <p:spPr>
          <a:xfrm>
            <a:off x="8321040" y="4485132"/>
            <a:ext cx="54864" cy="548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67344" y="4407408"/>
            <a:ext cx="2971800" cy="219456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명세 조건 60 s 궤적</a:t>
            </a:r>
            <a:endParaRPr lang="ko-KR" altLang="en-US" sz="1050" dirty="0"/>
          </a:p>
        </p:txBody>
      </p:sp>
      <p:sp>
        <p:nvSpPr>
          <p:cNvPr id="56" name="Rectangle 55"/>
          <p:cNvSpPr/>
          <p:nvPr/>
        </p:nvSpPr>
        <p:spPr>
          <a:xfrm>
            <a:off x="8321040" y="4713732"/>
            <a:ext cx="54864" cy="548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4636008"/>
            <a:ext cx="2971800" cy="219456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기동 시연과 운용 화면</a:t>
            </a:r>
            <a:endParaRPr lang="ko-KR" altLang="en-US" sz="1050" dirty="0"/>
          </a:p>
        </p:txBody>
      </p:sp>
      <p:cxnSp>
        <p:nvCxnSpPr>
          <p:cNvPr id="58" name="Connector 57"/>
          <p:cNvCxnSpPr/>
          <p:nvPr/>
        </p:nvCxnSpPr>
        <p:spPr>
          <a:xfrm>
            <a:off x="8284464" y="4882896"/>
            <a:ext cx="3099816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8284464" y="4937760"/>
            <a:ext cx="548640" cy="201168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8794AC"/>
                </a:solidFill>
                <a:latin typeface="맑은 고딕"/>
                <a:ea typeface="맑은 고딕"/>
                <a:cs typeface="맑은 고딕"/>
              </a:rPr>
              <a:t>산출물</a:t>
            </a:r>
            <a:endParaRPr lang="ko-KR" altLang="en-US" sz="850" dirty="0"/>
          </a:p>
        </p:txBody>
      </p:sp>
      <p:sp>
        <p:nvSpPr>
          <p:cNvPr id="60" name="TextBox 59"/>
          <p:cNvSpPr txBox="1"/>
          <p:nvPr/>
        </p:nvSpPr>
        <p:spPr>
          <a:xfrm>
            <a:off x="8833104" y="4937760"/>
            <a:ext cx="2606040" cy="201168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LLA</a:t>
            </a:r>
            <a:r>
              <a:rPr lang="ko-KR" altLang="en-US" sz="90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 표</a:t>
            </a: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, CSV,</a:t>
            </a:r>
            <a:r>
              <a:rPr lang="ko-KR" altLang="en-US" sz="90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 궤적 그림</a:t>
            </a:r>
            <a:endParaRPr lang="ko-KR" altLang="en-US" sz="900" dirty="0"/>
          </a:p>
        </p:txBody>
      </p:sp>
      <p:sp>
        <p:nvSpPr>
          <p:cNvPr id="61" name="Rectangle 60"/>
          <p:cNvSpPr/>
          <p:nvPr/>
        </p:nvSpPr>
        <p:spPr>
          <a:xfrm>
            <a:off x="640080" y="5321808"/>
            <a:ext cx="10908792" cy="841248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" y="5385816"/>
            <a:ext cx="2743200" cy="219456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과제 요구사항 대응</a:t>
            </a:r>
            <a:endParaRPr lang="ko-KR" altLang="en-US" sz="1000" dirty="0"/>
          </a:p>
        </p:txBody>
      </p:sp>
      <p:sp>
        <p:nvSpPr>
          <p:cNvPr id="63" name="Rectangle 62"/>
          <p:cNvSpPr/>
          <p:nvPr/>
        </p:nvSpPr>
        <p:spPr>
          <a:xfrm>
            <a:off x="822960" y="5687568"/>
            <a:ext cx="64008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87552" y="5641848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표적 10개, 기동 30개까지 설정</a:t>
            </a:r>
            <a:endParaRPr lang="ko-KR" altLang="en-US" sz="95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위치 LLA, 속도 V_heading, 기동 정보 4개</a:t>
            </a:r>
            <a:endParaRPr lang="ko-KR" altLang="en-US" sz="950" dirty="0"/>
          </a:p>
        </p:txBody>
      </p:sp>
      <p:sp>
        <p:nvSpPr>
          <p:cNvPr id="65" name="Rectangle 64"/>
          <p:cNvSpPr/>
          <p:nvPr/>
        </p:nvSpPr>
        <p:spPr>
          <a:xfrm>
            <a:off x="4562856" y="5687568"/>
            <a:ext cx="64008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27448" y="5641848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ECEF 에서 상태 갱신, 좌표변환 코드 이용</a:t>
            </a:r>
            <a:endParaRPr lang="ko-KR" altLang="en-US" sz="95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V_heading 을 Vx, Vy, Vz 로 변환 (추가 고민)</a:t>
            </a:r>
            <a:endParaRPr lang="ko-KR" altLang="en-US" sz="950" dirty="0"/>
          </a:p>
        </p:txBody>
      </p:sp>
      <p:sp>
        <p:nvSpPr>
          <p:cNvPr id="67" name="Rectangle 66"/>
          <p:cNvSpPr/>
          <p:nvPr/>
        </p:nvSpPr>
        <p:spPr>
          <a:xfrm>
            <a:off x="8302752" y="5687568"/>
            <a:ext cx="64008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67344" y="5641848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60 s, 0.1 s 간격, 명세 초기값</a:t>
            </a:r>
            <a:endParaRPr lang="ko-KR" altLang="en-US" sz="95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결과를 LLA 로 출력하고 그림으로 표현</a:t>
            </a:r>
            <a:endParaRPr lang="ko-KR" alt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</a:rPr>
              <a:t>들어가며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구현 구성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  <a:ea typeface="맑은 고딕"/>
              </a:rPr>
              <a:t>계산은 DLL, 화면은 UI 로 나눠 구현했습니다. 궤적 그림과 결과 수치는 모두 DLL 을 직접 돌려 얻은 값입니다.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57984"/>
            <a:ext cx="681228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276856"/>
            <a:ext cx="841248" cy="256032"/>
          </a:xfrm>
          <a:prstGeom prst="roundRect">
            <a:avLst>
              <a:gd name="adj" fmla="val 21428"/>
            </a:avLst>
          </a:prstGeom>
          <a:solidFill>
            <a:srgbClr val="1B27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76856"/>
            <a:ext cx="841248" cy="25603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UI 구현</a:t>
            </a:r>
            <a:endParaRPr lang="ko-KR" altLang="en-US" sz="950" dirty="0"/>
          </a:p>
        </p:txBody>
      </p:sp>
      <p:sp>
        <p:nvSpPr>
          <p:cNvPr id="11" name="TextBox 10"/>
          <p:cNvSpPr txBox="1"/>
          <p:nvPr/>
        </p:nvSpPr>
        <p:spPr>
          <a:xfrm>
            <a:off x="1810512" y="2267712"/>
            <a:ext cx="5029200" cy="27432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TargetSimUI  (C++, MFC)</a:t>
            </a:r>
            <a:endParaRPr lang="ko-KR" altLang="en-US" sz="1200" dirty="0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633472"/>
            <a:ext cx="6446520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868680" y="2706624"/>
            <a:ext cx="2834640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CTargetSimUIDlg</a:t>
            </a:r>
            <a:endParaRPr lang="ko-KR" altLang="en-US" sz="950" dirty="0"/>
          </a:p>
        </p:txBody>
      </p:sp>
      <p:sp>
        <p:nvSpPr>
          <p:cNvPr id="14" name="TextBox 13"/>
          <p:cNvSpPr txBox="1"/>
          <p:nvPr/>
        </p:nvSpPr>
        <p:spPr>
          <a:xfrm>
            <a:off x="3749040" y="2706624"/>
            <a:ext cx="3611880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화면 배치, 자동 실행, CSV 저장</a:t>
            </a:r>
            <a:endParaRPr lang="ko-KR" altLang="en-US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868680" y="2926080"/>
            <a:ext cx="2834640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CScenario</a:t>
            </a:r>
            <a:endParaRPr lang="ko-KR" altLang="en-US" sz="950" dirty="0"/>
          </a:p>
        </p:txBody>
      </p:sp>
      <p:sp>
        <p:nvSpPr>
          <p:cNvPr id="16" name="TextBox 15"/>
          <p:cNvSpPr txBox="1"/>
          <p:nvPr/>
        </p:nvSpPr>
        <p:spPr>
          <a:xfrm>
            <a:off x="3749040" y="2926080"/>
            <a:ext cx="3611880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입력 보관, 프리셋, 설정 생성</a:t>
            </a:r>
            <a:endParaRPr lang="ko-KR" altLang="en-US" sz="1000" dirty="0"/>
          </a:p>
        </p:txBody>
      </p:sp>
      <p:sp>
        <p:nvSpPr>
          <p:cNvPr id="17" name="TextBox 16"/>
          <p:cNvSpPr txBox="1"/>
          <p:nvPr/>
        </p:nvSpPr>
        <p:spPr>
          <a:xfrm>
            <a:off x="868680" y="3145536"/>
            <a:ext cx="2834640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CTrajectoryPlot, CGridCtrl</a:t>
            </a:r>
            <a:endParaRPr lang="ko-KR" altLang="en-US" sz="950" dirty="0"/>
          </a:p>
        </p:txBody>
      </p:sp>
      <p:sp>
        <p:nvSpPr>
          <p:cNvPr id="18" name="TextBox 17"/>
          <p:cNvSpPr txBox="1"/>
          <p:nvPr/>
        </p:nvSpPr>
        <p:spPr>
          <a:xfrm>
            <a:off x="3749040" y="3145536"/>
            <a:ext cx="3611880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궤적 · 고도 그림, 표 편집</a:t>
            </a:r>
            <a:endParaRPr lang="ko-KR" altLang="en-US" sz="1000" dirty="0"/>
          </a:p>
        </p:txBody>
      </p:sp>
      <p:sp>
        <p:nvSpPr>
          <p:cNvPr id="19" name="Rectangle 18"/>
          <p:cNvSpPr/>
          <p:nvPr/>
        </p:nvSpPr>
        <p:spPr>
          <a:xfrm>
            <a:off x="640080" y="3895344"/>
            <a:ext cx="6812280" cy="1243584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4014216"/>
            <a:ext cx="841248" cy="256032"/>
          </a:xfrm>
          <a:prstGeom prst="roundRect">
            <a:avLst>
              <a:gd name="adj" fmla="val 21428"/>
            </a:avLst>
          </a:prstGeom>
          <a:solidFill>
            <a:srgbClr val="2563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014216"/>
            <a:ext cx="841248" cy="25603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DLL 구현</a:t>
            </a:r>
            <a:endParaRPr lang="ko-KR" altLang="en-US" sz="950" dirty="0"/>
          </a:p>
        </p:txBody>
      </p:sp>
      <p:sp>
        <p:nvSpPr>
          <p:cNvPr id="22" name="TextBox 21"/>
          <p:cNvSpPr txBox="1"/>
          <p:nvPr/>
        </p:nvSpPr>
        <p:spPr>
          <a:xfrm>
            <a:off x="1810512" y="4005072"/>
            <a:ext cx="5029200" cy="27432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TargetSimCore  (C, DLL)</a:t>
            </a:r>
            <a:endParaRPr lang="ko-KR" altLang="en-US" sz="12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370832"/>
            <a:ext cx="6446520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868680" y="4443984"/>
            <a:ext cx="2834640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TargetSim.c</a:t>
            </a:r>
            <a:endParaRPr lang="ko-KR" altLang="en-US" sz="950" dirty="0"/>
          </a:p>
        </p:txBody>
      </p:sp>
      <p:sp>
        <p:nvSpPr>
          <p:cNvPr id="25" name="TextBox 24"/>
          <p:cNvSpPr txBox="1"/>
          <p:nvPr/>
        </p:nvSpPr>
        <p:spPr>
          <a:xfrm>
            <a:off x="3749040" y="4443984"/>
            <a:ext cx="3611880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표적 상태 갱신 (이번 과제에서 작성)</a:t>
            </a:r>
            <a:endParaRPr lang="ko-KR" altLang="en-US" sz="1000" dirty="0"/>
          </a:p>
        </p:txBody>
      </p:sp>
      <p:sp>
        <p:nvSpPr>
          <p:cNvPr id="26" name="TextBox 25"/>
          <p:cNvSpPr txBox="1"/>
          <p:nvPr/>
        </p:nvSpPr>
        <p:spPr>
          <a:xfrm>
            <a:off x="868680" y="4663440"/>
            <a:ext cx="2834640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CoordinateTransform.c</a:t>
            </a:r>
            <a:endParaRPr lang="ko-KR" altLang="en-US" sz="950" dirty="0"/>
          </a:p>
        </p:txBody>
      </p:sp>
      <p:sp>
        <p:nvSpPr>
          <p:cNvPr id="27" name="TextBox 26"/>
          <p:cNvSpPr txBox="1"/>
          <p:nvPr/>
        </p:nvSpPr>
        <p:spPr>
          <a:xfrm>
            <a:off x="3749040" y="4663440"/>
            <a:ext cx="3611880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좌표 변환 (참고 소스 코드)</a:t>
            </a:r>
            <a:endParaRPr lang="ko-KR" altLang="en-US" sz="1000" dirty="0"/>
          </a:p>
        </p:txBody>
      </p:sp>
      <p:sp>
        <p:nvSpPr>
          <p:cNvPr id="28" name="TextBox 27"/>
          <p:cNvSpPr txBox="1"/>
          <p:nvPr/>
        </p:nvSpPr>
        <p:spPr>
          <a:xfrm>
            <a:off x="868680" y="4882896"/>
            <a:ext cx="2834640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matrixCalcLib.c</a:t>
            </a:r>
            <a:endParaRPr lang="ko-KR" altLang="en-US" sz="950" dirty="0"/>
          </a:p>
        </p:txBody>
      </p:sp>
      <p:sp>
        <p:nvSpPr>
          <p:cNvPr id="29" name="TextBox 28"/>
          <p:cNvSpPr txBox="1"/>
          <p:nvPr/>
        </p:nvSpPr>
        <p:spPr>
          <a:xfrm>
            <a:off x="3749040" y="4882896"/>
            <a:ext cx="3611880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행렬 연산 (참고 소스 코드)</a:t>
            </a:r>
            <a:endParaRPr lang="ko-KR" altLang="en-US" sz="10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2103120" y="3438144"/>
            <a:ext cx="0" cy="420624"/>
          </a:xfrm>
          <a:prstGeom prst="line">
            <a:avLst/>
          </a:prstGeom>
          <a:ln w="19050">
            <a:solidFill>
              <a:srgbClr val="2563EB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212848" y="3529584"/>
            <a:ext cx="2011680" cy="23774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ST_SimConfig</a:t>
            </a:r>
            <a:endParaRPr lang="ko-KR" altLang="en-US" sz="950" dirty="0"/>
          </a:p>
        </p:txBody>
      </p:sp>
      <p:cxnSp>
        <p:nvCxnSpPr>
          <p:cNvPr id="32" name="Connector 31"/>
          <p:cNvCxnSpPr/>
          <p:nvPr/>
        </p:nvCxnSpPr>
        <p:spPr>
          <a:xfrm flipV="1">
            <a:off x="4846320" y="3438144"/>
            <a:ext cx="0" cy="420624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</p:cxnSp>
      <p:sp>
        <p:nvSpPr>
          <p:cNvPr id="33" name="TextBox 32"/>
          <p:cNvSpPr txBox="1"/>
          <p:nvPr/>
        </p:nvSpPr>
        <p:spPr>
          <a:xfrm>
            <a:off x="4956048" y="3529584"/>
            <a:ext cx="2011680" cy="23774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059669"/>
                </a:solidFill>
                <a:latin typeface="Consolas"/>
                <a:ea typeface="맑은 고딕"/>
                <a:cs typeface="맑은 고딕"/>
              </a:rPr>
              <a:t>ST_SimSample</a:t>
            </a:r>
            <a:endParaRPr lang="ko-KR" altLang="en-US" sz="950" dirty="0"/>
          </a:p>
        </p:txBody>
      </p:sp>
      <p:sp>
        <p:nvSpPr>
          <p:cNvPr id="34" name="Rectangle 33"/>
          <p:cNvSpPr/>
          <p:nvPr/>
        </p:nvSpPr>
        <p:spPr>
          <a:xfrm>
            <a:off x="7726680" y="2157984"/>
            <a:ext cx="3822192" cy="2980944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27848" y="2267712"/>
            <a:ext cx="3456432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주고받는 구조체</a:t>
            </a:r>
            <a:endParaRPr lang="ko-KR" altLang="en-US" sz="1150" dirty="0"/>
          </a:p>
        </p:txBody>
      </p:sp>
      <p:cxnSp>
        <p:nvCxnSpPr>
          <p:cNvPr id="36" name="Connector 35"/>
          <p:cNvCxnSpPr/>
          <p:nvPr/>
        </p:nvCxnSpPr>
        <p:spPr>
          <a:xfrm>
            <a:off x="7927848" y="2615184"/>
            <a:ext cx="3419856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7927848" y="2724912"/>
            <a:ext cx="502920" cy="23774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입력</a:t>
            </a:r>
            <a:endParaRPr lang="ko-KR" altLang="en-US" sz="1000" dirty="0"/>
          </a:p>
        </p:txBody>
      </p:sp>
      <p:sp>
        <p:nvSpPr>
          <p:cNvPr id="38" name="TextBox 37"/>
          <p:cNvSpPr txBox="1"/>
          <p:nvPr/>
        </p:nvSpPr>
        <p:spPr>
          <a:xfrm>
            <a:off x="8458200" y="2724912"/>
            <a:ext cx="1554480" cy="23774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ST_SimConfig</a:t>
            </a:r>
            <a:endParaRPr lang="ko-KR" altLang="en-US" sz="1050" dirty="0"/>
          </a:p>
        </p:txBody>
      </p:sp>
      <p:sp>
        <p:nvSpPr>
          <p:cNvPr id="40" name="TextBox 39"/>
          <p:cNvSpPr txBox="1"/>
          <p:nvPr/>
        </p:nvSpPr>
        <p:spPr>
          <a:xfrm>
            <a:off x="8458200" y="2999232"/>
            <a:ext cx="2907792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시뮬레이션 시간 · 간격</a:t>
            </a:r>
            <a:endParaRPr lang="ko-KR" altLang="en-US" sz="100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플랫폼 1 + 표적 N (기동 포함)</a:t>
            </a:r>
            <a:endParaRPr lang="ko-KR" altLang="en-US" sz="1000" dirty="0"/>
          </a:p>
        </p:txBody>
      </p:sp>
      <p:sp>
        <p:nvSpPr>
          <p:cNvPr id="41" name="TextBox 40"/>
          <p:cNvSpPr txBox="1"/>
          <p:nvPr/>
        </p:nvSpPr>
        <p:spPr>
          <a:xfrm>
            <a:off x="7927848" y="3621024"/>
            <a:ext cx="502920" cy="23774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출력</a:t>
            </a:r>
            <a:endParaRPr lang="ko-KR" altLang="en-US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8458200" y="3621024"/>
            <a:ext cx="1554480" cy="23774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ST_SimSample</a:t>
            </a:r>
            <a:endParaRPr lang="ko-KR" altLang="en-US" sz="1050" dirty="0"/>
          </a:p>
        </p:txBody>
      </p:sp>
      <p:sp>
        <p:nvSpPr>
          <p:cNvPr id="44" name="TextBox 43"/>
          <p:cNvSpPr txBox="1"/>
          <p:nvPr/>
        </p:nvSpPr>
        <p:spPr>
          <a:xfrm>
            <a:off x="8458200" y="3895344"/>
            <a:ext cx="2907792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스텝 번호 · 시각</a:t>
            </a:r>
            <a:endParaRPr lang="ko-KR" altLang="en-US" sz="100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객체별 ECEF · LLA · 자세</a:t>
            </a:r>
            <a:endParaRPr lang="ko-KR" altLang="en-US" sz="1000" dirty="0"/>
          </a:p>
        </p:txBody>
      </p:sp>
      <p:sp>
        <p:nvSpPr>
          <p:cNvPr id="45" name="TextBox 44"/>
          <p:cNvSpPr txBox="1"/>
          <p:nvPr/>
        </p:nvSpPr>
        <p:spPr>
          <a:xfrm>
            <a:off x="7927848" y="4553712"/>
            <a:ext cx="3456432" cy="47548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UI 는 DLL 내부를 보지 않고</a:t>
            </a:r>
            <a:endParaRPr lang="ko-KR" altLang="en-US" sz="950" dirty="0"/>
          </a:p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이 두 구조체와 함수로만 주고받는다.</a:t>
            </a:r>
            <a:endParaRPr lang="ko-KR" altLang="en-US" sz="950" dirty="0"/>
          </a:p>
        </p:txBody>
      </p:sp>
      <p:sp>
        <p:nvSpPr>
          <p:cNvPr id="46" name="TextBox 45"/>
          <p:cNvSpPr txBox="1"/>
          <p:nvPr/>
        </p:nvSpPr>
        <p:spPr>
          <a:xfrm>
            <a:off x="640080" y="5303520"/>
            <a:ext cx="3657600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UI 가 DLL 함수를 부르는 순서</a:t>
            </a:r>
            <a:endParaRPr lang="ko-KR" altLang="en-US" sz="1050" dirty="0"/>
          </a:p>
        </p:txBody>
      </p:sp>
      <p:sp>
        <p:nvSpPr>
          <p:cNvPr id="47" name="Rectangle 46"/>
          <p:cNvSpPr/>
          <p:nvPr/>
        </p:nvSpPr>
        <p:spPr>
          <a:xfrm>
            <a:off x="640080" y="5577840"/>
            <a:ext cx="2521458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68096" y="5660136"/>
            <a:ext cx="201168" cy="201168"/>
          </a:xfrm>
          <a:prstGeom prst="ellipse">
            <a:avLst/>
          </a:prstGeom>
          <a:solidFill>
            <a:srgbClr val="1B27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660136"/>
            <a:ext cx="201168" cy="201168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  <a:endParaRPr lang="ko-KR" altLang="en-US" sz="900" dirty="0"/>
          </a:p>
        </p:txBody>
      </p:sp>
      <p:sp>
        <p:nvSpPr>
          <p:cNvPr id="50" name="TextBox 49"/>
          <p:cNvSpPr txBox="1"/>
          <p:nvPr/>
        </p:nvSpPr>
        <p:spPr>
          <a:xfrm>
            <a:off x="1051560" y="5641848"/>
            <a:ext cx="2018538" cy="23774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f_Tgt_InitSim</a:t>
            </a:r>
            <a:endParaRPr lang="ko-KR" altLang="en-US" sz="950" dirty="0"/>
          </a:p>
        </p:txBody>
      </p:sp>
      <p:sp>
        <p:nvSpPr>
          <p:cNvPr id="51" name="TextBox 50"/>
          <p:cNvSpPr txBox="1"/>
          <p:nvPr/>
        </p:nvSpPr>
        <p:spPr>
          <a:xfrm>
            <a:off x="768096" y="5907024"/>
            <a:ext cx="2292858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초기 상태 (표본 0) 생성</a:t>
            </a:r>
            <a:endParaRPr lang="ko-KR" altLang="en-US" sz="950" dirty="0"/>
          </a:p>
        </p:txBody>
      </p:sp>
      <p:cxnSp>
        <p:nvCxnSpPr>
          <p:cNvPr id="52" name="Connector 51"/>
          <p:cNvCxnSpPr/>
          <p:nvPr/>
        </p:nvCxnSpPr>
        <p:spPr>
          <a:xfrm>
            <a:off x="3207258" y="5870448"/>
            <a:ext cx="182880" cy="0"/>
          </a:xfrm>
          <a:prstGeom prst="line">
            <a:avLst/>
          </a:prstGeom>
          <a:ln w="12700">
            <a:solidFill>
              <a:srgbClr val="8794AC"/>
            </a:solidFill>
            <a:tailEnd type="triangle" w="med" len="med"/>
          </a:ln>
        </p:spPr>
      </p:cxnSp>
      <p:sp>
        <p:nvSpPr>
          <p:cNvPr id="53" name="Rectangle 52"/>
          <p:cNvSpPr/>
          <p:nvPr/>
        </p:nvSpPr>
        <p:spPr>
          <a:xfrm>
            <a:off x="3435858" y="5577840"/>
            <a:ext cx="2521458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563874" y="5660136"/>
            <a:ext cx="201168" cy="201168"/>
          </a:xfrm>
          <a:prstGeom prst="ellipse">
            <a:avLst/>
          </a:prstGeom>
          <a:solidFill>
            <a:srgbClr val="1B27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63874" y="5660136"/>
            <a:ext cx="201168" cy="201168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  <a:endParaRPr lang="ko-KR" altLang="en-US" sz="900" dirty="0"/>
          </a:p>
        </p:txBody>
      </p:sp>
      <p:sp>
        <p:nvSpPr>
          <p:cNvPr id="56" name="TextBox 55"/>
          <p:cNvSpPr txBox="1"/>
          <p:nvPr/>
        </p:nvSpPr>
        <p:spPr>
          <a:xfrm>
            <a:off x="3847338" y="5641848"/>
            <a:ext cx="2018538" cy="23774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f_Tgt_StepSim</a:t>
            </a:r>
            <a:endParaRPr lang="ko-KR" altLang="en-US" sz="950" dirty="0"/>
          </a:p>
        </p:txBody>
      </p:sp>
      <p:sp>
        <p:nvSpPr>
          <p:cNvPr id="57" name="TextBox 56"/>
          <p:cNvSpPr txBox="1"/>
          <p:nvPr/>
        </p:nvSpPr>
        <p:spPr>
          <a:xfrm>
            <a:off x="3563874" y="5907024"/>
            <a:ext cx="2292858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한 스텝 전진, 반복 호출</a:t>
            </a:r>
            <a:endParaRPr lang="ko-KR" altLang="en-US" sz="950" dirty="0"/>
          </a:p>
        </p:txBody>
      </p:sp>
      <p:cxnSp>
        <p:nvCxnSpPr>
          <p:cNvPr id="58" name="Connector 57"/>
          <p:cNvCxnSpPr/>
          <p:nvPr/>
        </p:nvCxnSpPr>
        <p:spPr>
          <a:xfrm>
            <a:off x="6003036" y="5870448"/>
            <a:ext cx="182880" cy="0"/>
          </a:xfrm>
          <a:prstGeom prst="line">
            <a:avLst/>
          </a:prstGeom>
          <a:ln w="12700">
            <a:solidFill>
              <a:srgbClr val="8794AC"/>
            </a:solidFill>
            <a:tailEnd type="triangle" w="med" len="med"/>
          </a:ln>
        </p:spPr>
      </p:cxnSp>
      <p:sp>
        <p:nvSpPr>
          <p:cNvPr id="59" name="Rectangle 58"/>
          <p:cNvSpPr/>
          <p:nvPr/>
        </p:nvSpPr>
        <p:spPr>
          <a:xfrm>
            <a:off x="6231636" y="5577840"/>
            <a:ext cx="2521458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359652" y="5660136"/>
            <a:ext cx="201168" cy="201168"/>
          </a:xfrm>
          <a:prstGeom prst="ellipse">
            <a:avLst/>
          </a:prstGeom>
          <a:solidFill>
            <a:srgbClr val="1B27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59652" y="5660136"/>
            <a:ext cx="201168" cy="201168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  <a:endParaRPr lang="ko-KR" altLang="en-US" sz="900" dirty="0"/>
          </a:p>
        </p:txBody>
      </p:sp>
      <p:sp>
        <p:nvSpPr>
          <p:cNvPr id="62" name="TextBox 61"/>
          <p:cNvSpPr txBox="1"/>
          <p:nvPr/>
        </p:nvSpPr>
        <p:spPr>
          <a:xfrm>
            <a:off x="6643116" y="5641848"/>
            <a:ext cx="2018538" cy="23774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f_Tgt_EcefToNed</a:t>
            </a:r>
            <a:endParaRPr lang="ko-KR" altLang="en-US" sz="950" dirty="0"/>
          </a:p>
        </p:txBody>
      </p:sp>
      <p:sp>
        <p:nvSpPr>
          <p:cNvPr id="63" name="TextBox 62"/>
          <p:cNvSpPr txBox="1"/>
          <p:nvPr/>
        </p:nvSpPr>
        <p:spPr>
          <a:xfrm>
            <a:off x="6359652" y="5907024"/>
            <a:ext cx="2292858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궤적을 동 · 북 좌표로 변환</a:t>
            </a:r>
            <a:endParaRPr lang="ko-KR" altLang="en-US" sz="950" dirty="0"/>
          </a:p>
        </p:txBody>
      </p:sp>
      <p:cxnSp>
        <p:nvCxnSpPr>
          <p:cNvPr id="64" name="Connector 63"/>
          <p:cNvCxnSpPr/>
          <p:nvPr/>
        </p:nvCxnSpPr>
        <p:spPr>
          <a:xfrm>
            <a:off x="8798814" y="5870448"/>
            <a:ext cx="182880" cy="0"/>
          </a:xfrm>
          <a:prstGeom prst="line">
            <a:avLst/>
          </a:prstGeom>
          <a:ln w="12700">
            <a:solidFill>
              <a:srgbClr val="8794AC"/>
            </a:solidFill>
            <a:tailEnd type="triangle" w="med" len="med"/>
          </a:ln>
        </p:spPr>
      </p:cxnSp>
      <p:sp>
        <p:nvSpPr>
          <p:cNvPr id="65" name="Rectangle 64"/>
          <p:cNvSpPr/>
          <p:nvPr/>
        </p:nvSpPr>
        <p:spPr>
          <a:xfrm>
            <a:off x="9027414" y="5577840"/>
            <a:ext cx="2521458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155430" y="5660136"/>
            <a:ext cx="201168" cy="201168"/>
          </a:xfrm>
          <a:prstGeom prst="ellipse">
            <a:avLst/>
          </a:prstGeom>
          <a:solidFill>
            <a:srgbClr val="1B27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55430" y="5660136"/>
            <a:ext cx="201168" cy="201168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  <a:endParaRPr lang="ko-KR" altLang="en-US" sz="900" dirty="0"/>
          </a:p>
        </p:txBody>
      </p:sp>
      <p:sp>
        <p:nvSpPr>
          <p:cNvPr id="68" name="TextBox 67"/>
          <p:cNvSpPr txBox="1"/>
          <p:nvPr/>
        </p:nvSpPr>
        <p:spPr>
          <a:xfrm>
            <a:off x="9438894" y="5641848"/>
            <a:ext cx="2018538" cy="23774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f_Tgt_NedToLla</a:t>
            </a:r>
            <a:r>
              <a:rPr lang="ko-KR" altLang="en-US" sz="9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 등</a:t>
            </a:r>
            <a:endParaRPr lang="ko-KR" altLang="en-US" sz="950" dirty="0"/>
          </a:p>
        </p:txBody>
      </p:sp>
      <p:sp>
        <p:nvSpPr>
          <p:cNvPr id="69" name="TextBox 68"/>
          <p:cNvSpPr txBox="1"/>
          <p:nvPr/>
        </p:nvSpPr>
        <p:spPr>
          <a:xfrm>
            <a:off x="9155430" y="5907024"/>
            <a:ext cx="2292858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격자 눈금용 위경도 계산</a:t>
            </a:r>
            <a:endParaRPr lang="ko-KR" alt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01. 표적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표적 입력값과 상태값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  <a:ea typeface="맑은 고딕"/>
              </a:rPr>
              <a:t>과제에서 정한 입력값 7개를 받고, 계산할 때는 ECEF 기준 상태값 9개로 바꿔서 씁니다.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57984"/>
            <a:ext cx="3246120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입력값 (과제 명세 7개)</a:t>
            </a:r>
            <a:endParaRPr lang="ko-KR" altLang="en-US" sz="1150" dirty="0"/>
          </a:p>
        </p:txBody>
      </p:sp>
      <p:cxnSp>
        <p:nvCxnSpPr>
          <p:cNvPr id="9" name="Connector 8"/>
          <p:cNvCxnSpPr/>
          <p:nvPr/>
        </p:nvCxnSpPr>
        <p:spPr>
          <a:xfrm>
            <a:off x="640080" y="2487168"/>
            <a:ext cx="3246120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49808" y="2596896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위도</a:t>
            </a:r>
            <a:endParaRPr lang="ko-KR" altLang="en-US" sz="1050" dirty="0"/>
          </a:p>
        </p:txBody>
      </p:sp>
      <p:sp>
        <p:nvSpPr>
          <p:cNvPr id="11" name="TextBox 10"/>
          <p:cNvSpPr txBox="1"/>
          <p:nvPr/>
        </p:nvSpPr>
        <p:spPr>
          <a:xfrm>
            <a:off x="2057400" y="2596896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32.12</a:t>
            </a:r>
            <a:endParaRPr lang="ko-KR" altLang="en-US" sz="1050" dirty="0"/>
          </a:p>
        </p:txBody>
      </p:sp>
      <p:sp>
        <p:nvSpPr>
          <p:cNvPr id="12" name="TextBox 11"/>
          <p:cNvSpPr txBox="1"/>
          <p:nvPr/>
        </p:nvSpPr>
        <p:spPr>
          <a:xfrm>
            <a:off x="3337560" y="2596896"/>
            <a:ext cx="5029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°</a:t>
            </a:r>
            <a:endParaRPr lang="ko-KR" altLang="en-US" sz="1000" dirty="0"/>
          </a:p>
        </p:txBody>
      </p:sp>
      <p:cxnSp>
        <p:nvCxnSpPr>
          <p:cNvPr id="13" name="Connector 12"/>
          <p:cNvCxnSpPr/>
          <p:nvPr/>
        </p:nvCxnSpPr>
        <p:spPr>
          <a:xfrm>
            <a:off x="640080" y="2944368"/>
            <a:ext cx="3246120" cy="0"/>
          </a:xfrm>
          <a:prstGeom prst="line">
            <a:avLst/>
          </a:prstGeom>
          <a:ln w="9525">
            <a:solidFill>
              <a:srgbClr val="EDF0F6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749808" y="2944368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경도</a:t>
            </a:r>
            <a:endParaRPr lang="ko-KR" altLang="en-US" sz="1050" dirty="0"/>
          </a:p>
        </p:txBody>
      </p:sp>
      <p:sp>
        <p:nvSpPr>
          <p:cNvPr id="15" name="TextBox 14"/>
          <p:cNvSpPr txBox="1"/>
          <p:nvPr/>
        </p:nvSpPr>
        <p:spPr>
          <a:xfrm>
            <a:off x="2057400" y="2944368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126.00</a:t>
            </a:r>
            <a:endParaRPr lang="ko-KR" altLang="en-US" sz="1050" dirty="0"/>
          </a:p>
        </p:txBody>
      </p:sp>
      <p:sp>
        <p:nvSpPr>
          <p:cNvPr id="16" name="TextBox 15"/>
          <p:cNvSpPr txBox="1"/>
          <p:nvPr/>
        </p:nvSpPr>
        <p:spPr>
          <a:xfrm>
            <a:off x="3337560" y="2944368"/>
            <a:ext cx="5029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°</a:t>
            </a:r>
            <a:endParaRPr lang="ko-KR" altLang="en-US" sz="1000" dirty="0"/>
          </a:p>
        </p:txBody>
      </p:sp>
      <p:cxnSp>
        <p:nvCxnSpPr>
          <p:cNvPr id="17" name="Connector 16"/>
          <p:cNvCxnSpPr/>
          <p:nvPr/>
        </p:nvCxnSpPr>
        <p:spPr>
          <a:xfrm>
            <a:off x="640080" y="3291840"/>
            <a:ext cx="3246120" cy="0"/>
          </a:xfrm>
          <a:prstGeom prst="line">
            <a:avLst/>
          </a:prstGeom>
          <a:ln w="9525">
            <a:solidFill>
              <a:srgbClr val="EDF0F6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749808" y="3291840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고도</a:t>
            </a:r>
            <a:endParaRPr lang="ko-KR" altLang="en-US" sz="1050" dirty="0"/>
          </a:p>
        </p:txBody>
      </p:sp>
      <p:sp>
        <p:nvSpPr>
          <p:cNvPr id="19" name="TextBox 18"/>
          <p:cNvSpPr txBox="1"/>
          <p:nvPr/>
        </p:nvSpPr>
        <p:spPr>
          <a:xfrm>
            <a:off x="2057400" y="3291840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300</a:t>
            </a:r>
            <a:endParaRPr lang="ko-KR" altLang="en-US" sz="1050" dirty="0"/>
          </a:p>
        </p:txBody>
      </p:sp>
      <p:sp>
        <p:nvSpPr>
          <p:cNvPr id="20" name="TextBox 19"/>
          <p:cNvSpPr txBox="1"/>
          <p:nvPr/>
        </p:nvSpPr>
        <p:spPr>
          <a:xfrm>
            <a:off x="3337560" y="3291840"/>
            <a:ext cx="5029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m</a:t>
            </a:r>
            <a:endParaRPr lang="ko-KR" altLang="en-US" sz="1000" dirty="0"/>
          </a:p>
        </p:txBody>
      </p:sp>
      <p:cxnSp>
        <p:nvCxnSpPr>
          <p:cNvPr id="21" name="Connector 20"/>
          <p:cNvCxnSpPr/>
          <p:nvPr/>
        </p:nvCxnSpPr>
        <p:spPr>
          <a:xfrm>
            <a:off x="640080" y="3639312"/>
            <a:ext cx="3246120" cy="0"/>
          </a:xfrm>
          <a:prstGeom prst="line">
            <a:avLst/>
          </a:prstGeom>
          <a:ln w="9525">
            <a:solidFill>
              <a:srgbClr val="EDF0F6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49808" y="3639312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속력</a:t>
            </a:r>
            <a:endParaRPr lang="ko-KR" altLang="en-US" sz="1050" dirty="0"/>
          </a:p>
        </p:txBody>
      </p:sp>
      <p:sp>
        <p:nvSpPr>
          <p:cNvPr id="23" name="TextBox 22"/>
          <p:cNvSpPr txBox="1"/>
          <p:nvPr/>
        </p:nvSpPr>
        <p:spPr>
          <a:xfrm>
            <a:off x="2057400" y="3639312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200</a:t>
            </a:r>
            <a:endParaRPr lang="ko-KR" altLang="en-US" sz="1050" dirty="0"/>
          </a:p>
        </p:txBody>
      </p:sp>
      <p:sp>
        <p:nvSpPr>
          <p:cNvPr id="24" name="TextBox 23"/>
          <p:cNvSpPr txBox="1"/>
          <p:nvPr/>
        </p:nvSpPr>
        <p:spPr>
          <a:xfrm>
            <a:off x="3337560" y="3639312"/>
            <a:ext cx="5029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m/s</a:t>
            </a:r>
            <a:endParaRPr lang="ko-KR" altLang="en-US" sz="1000" dirty="0"/>
          </a:p>
        </p:txBody>
      </p:sp>
      <p:cxnSp>
        <p:nvCxnSpPr>
          <p:cNvPr id="25" name="Connector 24"/>
          <p:cNvCxnSpPr/>
          <p:nvPr/>
        </p:nvCxnSpPr>
        <p:spPr>
          <a:xfrm>
            <a:off x="640080" y="3986784"/>
            <a:ext cx="3246120" cy="0"/>
          </a:xfrm>
          <a:prstGeom prst="line">
            <a:avLst/>
          </a:prstGeom>
          <a:ln w="9525">
            <a:solidFill>
              <a:srgbClr val="EDF0F6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749808" y="3986784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Roll</a:t>
            </a:r>
            <a:endParaRPr lang="ko-KR" altLang="en-US" sz="1050" dirty="0"/>
          </a:p>
        </p:txBody>
      </p:sp>
      <p:sp>
        <p:nvSpPr>
          <p:cNvPr id="27" name="TextBox 26"/>
          <p:cNvSpPr txBox="1"/>
          <p:nvPr/>
        </p:nvSpPr>
        <p:spPr>
          <a:xfrm>
            <a:off x="2057400" y="3986784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0</a:t>
            </a:r>
            <a:endParaRPr lang="ko-KR" altLang="en-US" sz="1050" dirty="0"/>
          </a:p>
        </p:txBody>
      </p:sp>
      <p:sp>
        <p:nvSpPr>
          <p:cNvPr id="28" name="TextBox 27"/>
          <p:cNvSpPr txBox="1"/>
          <p:nvPr/>
        </p:nvSpPr>
        <p:spPr>
          <a:xfrm>
            <a:off x="3337560" y="3986784"/>
            <a:ext cx="5029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°</a:t>
            </a:r>
            <a:endParaRPr lang="ko-KR" altLang="en-US" sz="10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640080" y="4334256"/>
            <a:ext cx="3246120" cy="0"/>
          </a:xfrm>
          <a:prstGeom prst="line">
            <a:avLst/>
          </a:prstGeom>
          <a:ln w="9525">
            <a:solidFill>
              <a:srgbClr val="EDF0F6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49808" y="4334256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Pitch</a:t>
            </a:r>
            <a:endParaRPr lang="ko-KR" altLang="en-US" sz="1050" dirty="0"/>
          </a:p>
        </p:txBody>
      </p:sp>
      <p:sp>
        <p:nvSpPr>
          <p:cNvPr id="31" name="TextBox 30"/>
          <p:cNvSpPr txBox="1"/>
          <p:nvPr/>
        </p:nvSpPr>
        <p:spPr>
          <a:xfrm>
            <a:off x="2057400" y="4334256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0</a:t>
            </a:r>
            <a:endParaRPr lang="ko-KR" altLang="en-US" sz="1050" dirty="0"/>
          </a:p>
        </p:txBody>
      </p:sp>
      <p:sp>
        <p:nvSpPr>
          <p:cNvPr id="32" name="TextBox 31"/>
          <p:cNvSpPr txBox="1"/>
          <p:nvPr/>
        </p:nvSpPr>
        <p:spPr>
          <a:xfrm>
            <a:off x="3337560" y="4334256"/>
            <a:ext cx="5029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°</a:t>
            </a:r>
            <a:endParaRPr lang="ko-KR" altLang="en-US" sz="1000" dirty="0"/>
          </a:p>
        </p:txBody>
      </p:sp>
      <p:cxnSp>
        <p:nvCxnSpPr>
          <p:cNvPr id="33" name="Connector 32"/>
          <p:cNvCxnSpPr/>
          <p:nvPr/>
        </p:nvCxnSpPr>
        <p:spPr>
          <a:xfrm>
            <a:off x="640080" y="4681728"/>
            <a:ext cx="3246120" cy="0"/>
          </a:xfrm>
          <a:prstGeom prst="line">
            <a:avLst/>
          </a:prstGeom>
          <a:ln w="9525">
            <a:solidFill>
              <a:srgbClr val="EDF0F6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749808" y="4681728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Yaw</a:t>
            </a:r>
            <a:endParaRPr lang="ko-KR" altLang="en-US" sz="1050" dirty="0"/>
          </a:p>
        </p:txBody>
      </p:sp>
      <p:sp>
        <p:nvSpPr>
          <p:cNvPr id="35" name="TextBox 34"/>
          <p:cNvSpPr txBox="1"/>
          <p:nvPr/>
        </p:nvSpPr>
        <p:spPr>
          <a:xfrm>
            <a:off x="2057400" y="4681728"/>
            <a:ext cx="11887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180</a:t>
            </a:r>
            <a:endParaRPr lang="ko-KR" altLang="en-US" sz="1050" dirty="0"/>
          </a:p>
        </p:txBody>
      </p:sp>
      <p:sp>
        <p:nvSpPr>
          <p:cNvPr id="36" name="TextBox 35"/>
          <p:cNvSpPr txBox="1"/>
          <p:nvPr/>
        </p:nvSpPr>
        <p:spPr>
          <a:xfrm>
            <a:off x="3337560" y="4681728"/>
            <a:ext cx="502920" cy="34747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°</a:t>
            </a:r>
            <a:endParaRPr lang="ko-KR" altLang="en-US" sz="1000" dirty="0"/>
          </a:p>
        </p:txBody>
      </p:sp>
      <p:cxnSp>
        <p:nvCxnSpPr>
          <p:cNvPr id="37" name="Connector 36"/>
          <p:cNvCxnSpPr/>
          <p:nvPr/>
        </p:nvCxnSpPr>
        <p:spPr>
          <a:xfrm>
            <a:off x="640080" y="5029200"/>
            <a:ext cx="3246120" cy="0"/>
          </a:xfrm>
          <a:prstGeom prst="line">
            <a:avLst/>
          </a:prstGeom>
          <a:ln w="9525">
            <a:solidFill>
              <a:srgbClr val="EDF0F6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640080" y="5175504"/>
            <a:ext cx="3246120" cy="5669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예시 값은 대공 표적입니다.</a:t>
            </a:r>
            <a:endParaRPr lang="ko-KR" altLang="en-US" sz="950" dirty="0"/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속도는 크기만 받고, 방향은 자세각이 정합니다.</a:t>
            </a:r>
            <a:endParaRPr lang="ko-KR" altLang="en-US" sz="950" dirty="0"/>
          </a:p>
        </p:txBody>
      </p:sp>
      <p:cxnSp>
        <p:nvCxnSpPr>
          <p:cNvPr id="39" name="Connector 38"/>
          <p:cNvCxnSpPr/>
          <p:nvPr/>
        </p:nvCxnSpPr>
        <p:spPr>
          <a:xfrm>
            <a:off x="3986784" y="3712464"/>
            <a:ext cx="512064" cy="0"/>
          </a:xfrm>
          <a:prstGeom prst="line">
            <a:avLst/>
          </a:prstGeom>
          <a:ln w="19050">
            <a:solidFill>
              <a:srgbClr val="1B2740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3886200" y="3419856"/>
            <a:ext cx="713232" cy="219456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초기화</a:t>
            </a:r>
            <a:endParaRPr lang="ko-KR" altLang="en-US" sz="900" dirty="0"/>
          </a:p>
        </p:txBody>
      </p:sp>
      <p:sp>
        <p:nvSpPr>
          <p:cNvPr id="41" name="TextBox 40"/>
          <p:cNvSpPr txBox="1"/>
          <p:nvPr/>
        </p:nvSpPr>
        <p:spPr>
          <a:xfrm>
            <a:off x="4590288" y="2157984"/>
            <a:ext cx="3154680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상태값 (ECEF 기준 9개)</a:t>
            </a:r>
            <a:endParaRPr lang="ko-KR" altLang="en-US" sz="1150" dirty="0"/>
          </a:p>
        </p:txBody>
      </p:sp>
      <p:cxnSp>
        <p:nvCxnSpPr>
          <p:cNvPr id="42" name="Connector 41"/>
          <p:cNvCxnSpPr/>
          <p:nvPr/>
        </p:nvCxnSpPr>
        <p:spPr>
          <a:xfrm>
            <a:off x="4590288" y="2487168"/>
            <a:ext cx="3154680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90288" y="2633472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5875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4" name="Picture 43" descr="s5_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348" y="2725674"/>
            <a:ext cx="204216" cy="21793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138928" y="2615184"/>
            <a:ext cx="2606040" cy="2286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ECEF 위치</a:t>
            </a:r>
            <a:endParaRPr lang="ko-KR" altLang="en-US" sz="1100" dirty="0"/>
          </a:p>
        </p:txBody>
      </p:sp>
      <p:sp>
        <p:nvSpPr>
          <p:cNvPr id="46" name="TextBox 45"/>
          <p:cNvSpPr txBox="1"/>
          <p:nvPr/>
        </p:nvSpPr>
        <p:spPr>
          <a:xfrm>
            <a:off x="5138928" y="2843784"/>
            <a:ext cx="260604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Consolas"/>
                <a:ea typeface="맑은 고딕"/>
                <a:cs typeface="맑은 고딕"/>
              </a:rPr>
              <a:t>x, y, z  [m]</a:t>
            </a:r>
            <a:endParaRPr lang="ko-KR" altLang="en-US" sz="950" dirty="0"/>
          </a:p>
        </p:txBody>
      </p:sp>
      <p:sp>
        <p:nvSpPr>
          <p:cNvPr id="47" name="Rounded Rectangle 46"/>
          <p:cNvSpPr/>
          <p:nvPr/>
        </p:nvSpPr>
        <p:spPr>
          <a:xfrm>
            <a:off x="4590288" y="3218688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5875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8" name="Picture 47" descr="s5_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682" y="3310890"/>
            <a:ext cx="193548" cy="21793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138928" y="3200400"/>
            <a:ext cx="2606040" cy="2286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ECEF 속도</a:t>
            </a:r>
            <a:endParaRPr lang="ko-KR" altLang="en-US" sz="1100" dirty="0"/>
          </a:p>
        </p:txBody>
      </p:sp>
      <p:sp>
        <p:nvSpPr>
          <p:cNvPr id="50" name="TextBox 49"/>
          <p:cNvSpPr txBox="1"/>
          <p:nvPr/>
        </p:nvSpPr>
        <p:spPr>
          <a:xfrm>
            <a:off x="5138928" y="3429000"/>
            <a:ext cx="260604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Consolas"/>
                <a:ea typeface="맑은 고딕"/>
                <a:cs typeface="맑은 고딕"/>
              </a:rPr>
              <a:t>vx, vy, vz  [m/s]</a:t>
            </a:r>
            <a:endParaRPr lang="ko-KR" altLang="en-US" sz="950" dirty="0"/>
          </a:p>
        </p:txBody>
      </p:sp>
      <p:sp>
        <p:nvSpPr>
          <p:cNvPr id="51" name="Rounded Rectangle 50"/>
          <p:cNvSpPr/>
          <p:nvPr/>
        </p:nvSpPr>
        <p:spPr>
          <a:xfrm>
            <a:off x="4590288" y="380390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F7F9FC"/>
          </a:solidFill>
          <a:ln w="15875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s5_t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064" y="3896106"/>
            <a:ext cx="176784" cy="21793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138928" y="3785616"/>
            <a:ext cx="2606040" cy="2286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자세각</a:t>
            </a:r>
            <a:endParaRPr lang="ko-KR" altLang="en-US" sz="1100" dirty="0"/>
          </a:p>
        </p:txBody>
      </p:sp>
      <p:sp>
        <p:nvSpPr>
          <p:cNvPr id="54" name="TextBox 53"/>
          <p:cNvSpPr txBox="1"/>
          <p:nvPr/>
        </p:nvSpPr>
        <p:spPr>
          <a:xfrm>
            <a:off x="5138928" y="4014216"/>
            <a:ext cx="260604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Consolas"/>
                <a:ea typeface="맑은 고딕"/>
                <a:cs typeface="맑은 고딕"/>
              </a:rPr>
              <a:t>Roll, Pitch, Yaw  [rad]</a:t>
            </a:r>
            <a:endParaRPr lang="ko-KR" altLang="en-US" sz="950" dirty="0"/>
          </a:p>
        </p:txBody>
      </p:sp>
      <p:sp>
        <p:nvSpPr>
          <p:cNvPr id="58" name="TextBox 57"/>
          <p:cNvSpPr txBox="1"/>
          <p:nvPr/>
        </p:nvSpPr>
        <p:spPr>
          <a:xfrm>
            <a:off x="4590288" y="4389120"/>
            <a:ext cx="3154680" cy="3556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과제 요구사항대로 위치, 속도는 ECEF 에서 갱신하고,</a:t>
            </a:r>
            <a:endParaRPr lang="ko-KR" altLang="en-US" sz="95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결과는 위경도(LLA)로 바꿔 출력합니다.</a:t>
            </a:r>
            <a:endParaRPr lang="ko-KR" altLang="en-US" sz="950" dirty="0"/>
          </a:p>
        </p:txBody>
      </p:sp>
      <p:cxnSp>
        <p:nvCxnSpPr>
          <p:cNvPr id="59" name="Connector 58"/>
          <p:cNvCxnSpPr/>
          <p:nvPr/>
        </p:nvCxnSpPr>
        <p:spPr>
          <a:xfrm>
            <a:off x="7991856" y="2194560"/>
            <a:ext cx="0" cy="3895344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8229600" y="2157984"/>
            <a:ext cx="3319272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구조체</a:t>
            </a:r>
            <a:endParaRPr lang="ko-KR" altLang="en-US" sz="1150" dirty="0"/>
          </a:p>
        </p:txBody>
      </p:sp>
      <p:cxnSp>
        <p:nvCxnSpPr>
          <p:cNvPr id="61" name="Connector 60"/>
          <p:cNvCxnSpPr/>
          <p:nvPr/>
        </p:nvCxnSpPr>
        <p:spPr>
          <a:xfrm>
            <a:off x="8229600" y="2487168"/>
            <a:ext cx="3319272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62" name="Rectangle 61"/>
          <p:cNvSpPr/>
          <p:nvPr/>
        </p:nvSpPr>
        <p:spPr>
          <a:xfrm>
            <a:off x="8229600" y="2596896"/>
            <a:ext cx="3319272" cy="43891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57616" y="2633472"/>
            <a:ext cx="3090672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ST_SimConfig</a:t>
            </a:r>
            <a:endParaRPr lang="ko-KR" altLang="en-US" sz="950" dirty="0"/>
          </a:p>
        </p:txBody>
      </p:sp>
      <p:sp>
        <p:nvSpPr>
          <p:cNvPr id="64" name="TextBox 63"/>
          <p:cNvSpPr txBox="1"/>
          <p:nvPr/>
        </p:nvSpPr>
        <p:spPr>
          <a:xfrm>
            <a:off x="8357616" y="2825496"/>
            <a:ext cx="3090672" cy="1828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시간, 간격, 플랫폼, 표적 수</a:t>
            </a:r>
            <a:endParaRPr lang="ko-KR" altLang="en-US" sz="900" dirty="0"/>
          </a:p>
        </p:txBody>
      </p:sp>
      <p:sp>
        <p:nvSpPr>
          <p:cNvPr id="65" name="Rectangle 64"/>
          <p:cNvSpPr/>
          <p:nvPr/>
        </p:nvSpPr>
        <p:spPr>
          <a:xfrm>
            <a:off x="8503920" y="3108960"/>
            <a:ext cx="3044952" cy="438912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31936" y="3145536"/>
            <a:ext cx="2816352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ST_TargetInit</a:t>
            </a:r>
            <a:endParaRPr lang="ko-KR" altLang="en-US" sz="950" dirty="0"/>
          </a:p>
        </p:txBody>
      </p:sp>
      <p:sp>
        <p:nvSpPr>
          <p:cNvPr id="67" name="TextBox 66"/>
          <p:cNvSpPr txBox="1"/>
          <p:nvPr/>
        </p:nvSpPr>
        <p:spPr>
          <a:xfrm>
            <a:off x="8631936" y="3337560"/>
            <a:ext cx="2816352" cy="1828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입력값 7개 + 기동 개수</a:t>
            </a:r>
            <a:endParaRPr lang="ko-KR" altLang="en-US" sz="900" dirty="0"/>
          </a:p>
        </p:txBody>
      </p:sp>
      <p:sp>
        <p:nvSpPr>
          <p:cNvPr id="68" name="TextBox 67"/>
          <p:cNvSpPr txBox="1"/>
          <p:nvPr/>
        </p:nvSpPr>
        <p:spPr>
          <a:xfrm>
            <a:off x="8631936" y="3145536"/>
            <a:ext cx="278892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× 10</a:t>
            </a:r>
            <a:endParaRPr lang="ko-KR" altLang="en-US" sz="900" dirty="0"/>
          </a:p>
        </p:txBody>
      </p:sp>
      <p:sp>
        <p:nvSpPr>
          <p:cNvPr id="69" name="Rectangle 68"/>
          <p:cNvSpPr/>
          <p:nvPr/>
        </p:nvSpPr>
        <p:spPr>
          <a:xfrm>
            <a:off x="8778240" y="3621024"/>
            <a:ext cx="2770632" cy="438912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06256" y="3657600"/>
            <a:ext cx="2542032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ST_TargetManeuver</a:t>
            </a:r>
            <a:endParaRPr lang="ko-KR" altLang="en-US" sz="950" dirty="0"/>
          </a:p>
        </p:txBody>
      </p:sp>
      <p:sp>
        <p:nvSpPr>
          <p:cNvPr id="71" name="TextBox 70"/>
          <p:cNvSpPr txBox="1"/>
          <p:nvPr/>
        </p:nvSpPr>
        <p:spPr>
          <a:xfrm>
            <a:off x="8906256" y="3849624"/>
            <a:ext cx="2542032" cy="1828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축, G, 시작, 종료</a:t>
            </a:r>
            <a:endParaRPr lang="ko-KR" altLang="en-US" sz="900" dirty="0"/>
          </a:p>
        </p:txBody>
      </p:sp>
      <p:sp>
        <p:nvSpPr>
          <p:cNvPr id="72" name="TextBox 71"/>
          <p:cNvSpPr txBox="1"/>
          <p:nvPr/>
        </p:nvSpPr>
        <p:spPr>
          <a:xfrm>
            <a:off x="8906256" y="3657600"/>
            <a:ext cx="251460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dirty="0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× 30</a:t>
            </a:r>
            <a:endParaRPr lang="ko-KR" altLang="en-US" sz="900" dirty="0"/>
          </a:p>
        </p:txBody>
      </p:sp>
      <p:sp>
        <p:nvSpPr>
          <p:cNvPr id="73" name="Rectangle 72"/>
          <p:cNvSpPr/>
          <p:nvPr/>
        </p:nvSpPr>
        <p:spPr>
          <a:xfrm>
            <a:off x="8229600" y="4443984"/>
            <a:ext cx="3319272" cy="438912"/>
          </a:xfrm>
          <a:prstGeom prst="rect">
            <a:avLst/>
          </a:prstGeom>
          <a:solidFill>
            <a:srgbClr val="FFFFFF"/>
          </a:solidFill>
          <a:ln w="15875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57616" y="4480560"/>
            <a:ext cx="3090672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ST_SimSample</a:t>
            </a:r>
            <a:endParaRPr lang="ko-KR" altLang="en-US" sz="950" dirty="0"/>
          </a:p>
        </p:txBody>
      </p:sp>
      <p:sp>
        <p:nvSpPr>
          <p:cNvPr id="75" name="TextBox 74"/>
          <p:cNvSpPr txBox="1"/>
          <p:nvPr/>
        </p:nvSpPr>
        <p:spPr>
          <a:xfrm>
            <a:off x="8357616" y="4672584"/>
            <a:ext cx="3090672" cy="1828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한 시각의 전체 상태</a:t>
            </a:r>
            <a:endParaRPr lang="ko-KR" altLang="en-US" sz="900" dirty="0"/>
          </a:p>
        </p:txBody>
      </p:sp>
      <p:sp>
        <p:nvSpPr>
          <p:cNvPr id="76" name="Rectangle 75"/>
          <p:cNvSpPr/>
          <p:nvPr/>
        </p:nvSpPr>
        <p:spPr>
          <a:xfrm>
            <a:off x="8503920" y="4956048"/>
            <a:ext cx="3044952" cy="438912"/>
          </a:xfrm>
          <a:prstGeom prst="rect">
            <a:avLst/>
          </a:prstGeom>
          <a:solidFill>
            <a:srgbClr val="FFFFFF"/>
          </a:solidFill>
          <a:ln w="15875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631936" y="4992624"/>
            <a:ext cx="2816352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ST_TargetState</a:t>
            </a:r>
            <a:endParaRPr lang="ko-KR" altLang="en-US" sz="950" dirty="0"/>
          </a:p>
        </p:txBody>
      </p:sp>
      <p:sp>
        <p:nvSpPr>
          <p:cNvPr id="78" name="TextBox 77"/>
          <p:cNvSpPr txBox="1"/>
          <p:nvPr/>
        </p:nvSpPr>
        <p:spPr>
          <a:xfrm>
            <a:off x="8631936" y="5184648"/>
            <a:ext cx="2816352" cy="1828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상태값 9개 + 출력용 LLA</a:t>
            </a:r>
            <a:endParaRPr lang="ko-KR" altLang="en-US" sz="900" dirty="0"/>
          </a:p>
        </p:txBody>
      </p:sp>
      <p:sp>
        <p:nvSpPr>
          <p:cNvPr id="79" name="TextBox 78"/>
          <p:cNvSpPr txBox="1"/>
          <p:nvPr/>
        </p:nvSpPr>
        <p:spPr>
          <a:xfrm>
            <a:off x="8631936" y="4992624"/>
            <a:ext cx="278892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× 11</a:t>
            </a:r>
            <a:endParaRPr lang="ko-KR" altLang="en-US" sz="900" dirty="0"/>
          </a:p>
        </p:txBody>
      </p:sp>
      <p:cxnSp>
        <p:nvCxnSpPr>
          <p:cNvPr id="80" name="Connector 79"/>
          <p:cNvCxnSpPr/>
          <p:nvPr/>
        </p:nvCxnSpPr>
        <p:spPr>
          <a:xfrm>
            <a:off x="8357616" y="3035808"/>
            <a:ext cx="0" cy="292608"/>
          </a:xfrm>
          <a:prstGeom prst="line">
            <a:avLst/>
          </a:prstGeom>
          <a:ln w="9525">
            <a:solidFill>
              <a:srgbClr val="8794AC"/>
            </a:solidFill>
          </a:ln>
        </p:spPr>
      </p:cxnSp>
      <p:cxnSp>
        <p:nvCxnSpPr>
          <p:cNvPr id="81" name="Connector 80"/>
          <p:cNvCxnSpPr/>
          <p:nvPr/>
        </p:nvCxnSpPr>
        <p:spPr>
          <a:xfrm>
            <a:off x="8357616" y="3328416"/>
            <a:ext cx="146304" cy="0"/>
          </a:xfrm>
          <a:prstGeom prst="line">
            <a:avLst/>
          </a:prstGeom>
          <a:ln w="9525">
            <a:solidFill>
              <a:srgbClr val="8794AC"/>
            </a:solidFill>
          </a:ln>
        </p:spPr>
      </p:cxnSp>
      <p:cxnSp>
        <p:nvCxnSpPr>
          <p:cNvPr id="82" name="Connector 81"/>
          <p:cNvCxnSpPr/>
          <p:nvPr/>
        </p:nvCxnSpPr>
        <p:spPr>
          <a:xfrm>
            <a:off x="8631936" y="3547872"/>
            <a:ext cx="0" cy="292608"/>
          </a:xfrm>
          <a:prstGeom prst="line">
            <a:avLst/>
          </a:prstGeom>
          <a:ln w="9525">
            <a:solidFill>
              <a:srgbClr val="8794AC"/>
            </a:solidFill>
          </a:ln>
        </p:spPr>
      </p:cxnSp>
      <p:cxnSp>
        <p:nvCxnSpPr>
          <p:cNvPr id="83" name="Connector 82"/>
          <p:cNvCxnSpPr/>
          <p:nvPr/>
        </p:nvCxnSpPr>
        <p:spPr>
          <a:xfrm>
            <a:off x="8631936" y="3840480"/>
            <a:ext cx="146304" cy="0"/>
          </a:xfrm>
          <a:prstGeom prst="line">
            <a:avLst/>
          </a:prstGeom>
          <a:ln w="9525">
            <a:solidFill>
              <a:srgbClr val="8794AC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8357616" y="4882896"/>
            <a:ext cx="0" cy="292608"/>
          </a:xfrm>
          <a:prstGeom prst="line">
            <a:avLst/>
          </a:prstGeom>
          <a:ln w="9525">
            <a:solidFill>
              <a:srgbClr val="8794AC"/>
            </a:solidFill>
          </a:ln>
        </p:spPr>
      </p:cxnSp>
      <p:cxnSp>
        <p:nvCxnSpPr>
          <p:cNvPr id="85" name="Connector 84"/>
          <p:cNvCxnSpPr/>
          <p:nvPr/>
        </p:nvCxnSpPr>
        <p:spPr>
          <a:xfrm>
            <a:off x="8357616" y="5175504"/>
            <a:ext cx="146304" cy="0"/>
          </a:xfrm>
          <a:prstGeom prst="line">
            <a:avLst/>
          </a:prstGeom>
          <a:ln w="9525">
            <a:solidFill>
              <a:srgbClr val="8794AC"/>
            </a:solidFill>
          </a:ln>
        </p:spPr>
      </p:cxnSp>
      <p:cxnSp>
        <p:nvCxnSpPr>
          <p:cNvPr id="86" name="Connector 85"/>
          <p:cNvCxnSpPr/>
          <p:nvPr/>
        </p:nvCxnSpPr>
        <p:spPr>
          <a:xfrm>
            <a:off x="9692640" y="4096512"/>
            <a:ext cx="0" cy="310896"/>
          </a:xfrm>
          <a:prstGeom prst="line">
            <a:avLst/>
          </a:prstGeom>
          <a:ln w="15875">
            <a:solidFill>
              <a:srgbClr val="1B2740"/>
            </a:solidFill>
            <a:tailEnd type="triangle" w="med" len="med"/>
          </a:ln>
        </p:spPr>
      </p:cxnSp>
      <p:sp>
        <p:nvSpPr>
          <p:cNvPr id="87" name="TextBox 86"/>
          <p:cNvSpPr txBox="1"/>
          <p:nvPr/>
        </p:nvSpPr>
        <p:spPr>
          <a:xfrm>
            <a:off x="9802368" y="4142232"/>
            <a:ext cx="1828800" cy="219456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f_Tgt_StepSim</a:t>
            </a:r>
            <a:endParaRPr lang="ko-KR" altLang="en-US" sz="900" dirty="0"/>
          </a:p>
        </p:txBody>
      </p:sp>
      <p:sp>
        <p:nvSpPr>
          <p:cNvPr id="88" name="TextBox 87"/>
          <p:cNvSpPr txBox="1"/>
          <p:nvPr/>
        </p:nvSpPr>
        <p:spPr>
          <a:xfrm>
            <a:off x="8229600" y="5504688"/>
            <a:ext cx="3319272" cy="56692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설정과 표본을 나눠, 설정은 처음 한 번만 읽고</a:t>
            </a:r>
            <a:endParaRPr lang="ko-KR" altLang="en-US" sz="950" dirty="0"/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스텝마다 바뀌는 것은 상태뿐입니다.</a:t>
            </a:r>
            <a:endParaRPr lang="ko-KR" alt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01. 표적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기동 입력값과 각속도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  <a:ea typeface="맑은 고딕"/>
              </a:rPr>
              <a:t>12초부터 16초까지 오른쪽으로 8G 로 돌라는 기동 지시가 구조체 한 줄이 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57984"/>
            <a:ext cx="4983480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기동 정보 (구조체 한 줄)</a:t>
            </a:r>
            <a:endParaRPr lang="ko-KR" altLang="en-US" sz="1150" dirty="0"/>
          </a:p>
        </p:txBody>
      </p:sp>
      <p:cxnSp>
        <p:nvCxnSpPr>
          <p:cNvPr id="9" name="Connector 8"/>
          <p:cNvCxnSpPr/>
          <p:nvPr/>
        </p:nvCxnSpPr>
        <p:spPr>
          <a:xfrm>
            <a:off x="640080" y="2487168"/>
            <a:ext cx="4983480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685800" y="2578608"/>
            <a:ext cx="210312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7C3AED"/>
                </a:solidFill>
                <a:latin typeface="Consolas"/>
                <a:ea typeface="맑은 고딕"/>
                <a:cs typeface="맑은 고딕"/>
              </a:rPr>
              <a:t>enTurnType</a:t>
            </a:r>
            <a:endParaRPr lang="ko-KR" altLang="en-US" sz="1000" dirty="0"/>
          </a:p>
        </p:txBody>
      </p:sp>
      <p:sp>
        <p:nvSpPr>
          <p:cNvPr id="11" name="TextBox 10"/>
          <p:cNvSpPr txBox="1"/>
          <p:nvPr/>
        </p:nvSpPr>
        <p:spPr>
          <a:xfrm>
            <a:off x="685800" y="2770632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0 없음, 1 Roll, 2 Yaw, 3 Pitch</a:t>
            </a:r>
            <a:endParaRPr lang="ko-KR" altLang="en-US" sz="900" dirty="0"/>
          </a:p>
        </p:txBody>
      </p:sp>
      <p:sp>
        <p:nvSpPr>
          <p:cNvPr id="12" name="TextBox 11"/>
          <p:cNvSpPr txBox="1"/>
          <p:nvPr/>
        </p:nvSpPr>
        <p:spPr>
          <a:xfrm>
            <a:off x="3429000" y="2578608"/>
            <a:ext cx="2148840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어느 축으로 도는가</a:t>
            </a:r>
            <a:endParaRPr lang="ko-KR" altLang="en-US" sz="1050" dirty="0"/>
          </a:p>
        </p:txBody>
      </p:sp>
      <p:cxnSp>
        <p:nvCxnSpPr>
          <p:cNvPr id="13" name="Connector 12"/>
          <p:cNvCxnSpPr/>
          <p:nvPr/>
        </p:nvCxnSpPr>
        <p:spPr>
          <a:xfrm>
            <a:off x="640080" y="2971800"/>
            <a:ext cx="4983480" cy="0"/>
          </a:xfrm>
          <a:prstGeom prst="line">
            <a:avLst/>
          </a:prstGeom>
          <a:ln w="9525">
            <a:solidFill>
              <a:srgbClr val="EDF0F6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85800" y="2999232"/>
            <a:ext cx="210312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D97706"/>
                </a:solidFill>
                <a:latin typeface="Consolas"/>
                <a:ea typeface="맑은 고딕"/>
                <a:cs typeface="맑은 고딕"/>
              </a:rPr>
              <a:t>gravityValue</a:t>
            </a:r>
            <a:endParaRPr lang="ko-KR" altLang="en-US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685800" y="3191256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크기가 세기, 부호가 방향 [G]</a:t>
            </a:r>
            <a:endParaRPr lang="ko-KR" altLang="en-US" sz="900" dirty="0"/>
          </a:p>
        </p:txBody>
      </p:sp>
      <p:sp>
        <p:nvSpPr>
          <p:cNvPr id="16" name="TextBox 15"/>
          <p:cNvSpPr txBox="1"/>
          <p:nvPr/>
        </p:nvSpPr>
        <p:spPr>
          <a:xfrm>
            <a:off x="3429000" y="2999232"/>
            <a:ext cx="2148840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얼마나 세게 도는가</a:t>
            </a:r>
            <a:endParaRPr lang="ko-KR" altLang="en-US" sz="1050" dirty="0"/>
          </a:p>
        </p:txBody>
      </p:sp>
      <p:cxnSp>
        <p:nvCxnSpPr>
          <p:cNvPr id="17" name="Connector 16"/>
          <p:cNvCxnSpPr/>
          <p:nvPr/>
        </p:nvCxnSpPr>
        <p:spPr>
          <a:xfrm>
            <a:off x="640080" y="3392424"/>
            <a:ext cx="4983480" cy="0"/>
          </a:xfrm>
          <a:prstGeom prst="line">
            <a:avLst/>
          </a:prstGeom>
          <a:ln w="9525">
            <a:solidFill>
              <a:srgbClr val="EDF0F6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85800" y="3419856"/>
            <a:ext cx="210312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059669"/>
                </a:solidFill>
                <a:latin typeface="Consolas"/>
                <a:ea typeface="맑은 고딕"/>
                <a:cs typeface="맑은 고딕"/>
              </a:rPr>
              <a:t>startTime</a:t>
            </a:r>
            <a:endParaRPr lang="ko-KR" altLang="en-US" sz="1000" dirty="0"/>
          </a:p>
        </p:txBody>
      </p:sp>
      <p:sp>
        <p:nvSpPr>
          <p:cNvPr id="19" name="TextBox 18"/>
          <p:cNvSpPr txBox="1"/>
          <p:nvPr/>
        </p:nvSpPr>
        <p:spPr>
          <a:xfrm>
            <a:off x="685800" y="3611880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이 시각 포함 [s]</a:t>
            </a:r>
            <a:endParaRPr lang="ko-KR" altLang="en-US" sz="900" dirty="0"/>
          </a:p>
        </p:txBody>
      </p:sp>
      <p:sp>
        <p:nvSpPr>
          <p:cNvPr id="20" name="TextBox 19"/>
          <p:cNvSpPr txBox="1"/>
          <p:nvPr/>
        </p:nvSpPr>
        <p:spPr>
          <a:xfrm>
            <a:off x="3429000" y="3419856"/>
            <a:ext cx="2148840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언제부터</a:t>
            </a:r>
            <a:endParaRPr lang="ko-KR" altLang="en-US" sz="1050" dirty="0"/>
          </a:p>
        </p:txBody>
      </p:sp>
      <p:cxnSp>
        <p:nvCxnSpPr>
          <p:cNvPr id="21" name="Connector 20"/>
          <p:cNvCxnSpPr/>
          <p:nvPr/>
        </p:nvCxnSpPr>
        <p:spPr>
          <a:xfrm>
            <a:off x="640080" y="3813048"/>
            <a:ext cx="4983480" cy="0"/>
          </a:xfrm>
          <a:prstGeom prst="line">
            <a:avLst/>
          </a:prstGeom>
          <a:ln w="9525">
            <a:solidFill>
              <a:srgbClr val="EDF0F6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85800" y="3840480"/>
            <a:ext cx="210312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059669"/>
                </a:solidFill>
                <a:latin typeface="Consolas"/>
                <a:ea typeface="맑은 고딕"/>
                <a:cs typeface="맑은 고딕"/>
              </a:rPr>
              <a:t>endTime</a:t>
            </a:r>
            <a:endParaRPr lang="ko-KR" altLang="en-US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685800" y="4032504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이 시각 직전까지 [s]</a:t>
            </a:r>
            <a:endParaRPr lang="ko-KR" altLang="en-US" sz="900" dirty="0"/>
          </a:p>
        </p:txBody>
      </p:sp>
      <p:sp>
        <p:nvSpPr>
          <p:cNvPr id="24" name="TextBox 23"/>
          <p:cNvSpPr txBox="1"/>
          <p:nvPr/>
        </p:nvSpPr>
        <p:spPr>
          <a:xfrm>
            <a:off x="3429000" y="3840480"/>
            <a:ext cx="2148840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언제까지</a:t>
            </a:r>
            <a:endParaRPr lang="ko-KR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640080" y="4297680"/>
            <a:ext cx="4983480" cy="566928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352544"/>
            <a:ext cx="4709160" cy="47548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기동이 없는 시각에는 각속도 0 으로 직진한다.</a:t>
            </a:r>
            <a:endParaRPr lang="ko-KR" altLang="en-US" sz="100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기동 구간 안에서는 각속도가 일정하다.</a:t>
            </a:r>
            <a:endParaRPr lang="ko-KR" altLang="en-US" sz="1000" dirty="0"/>
          </a:p>
        </p:txBody>
      </p:sp>
      <p:sp>
        <p:nvSpPr>
          <p:cNvPr id="27" name="TextBox 26"/>
          <p:cNvSpPr txBox="1"/>
          <p:nvPr/>
        </p:nvSpPr>
        <p:spPr>
          <a:xfrm>
            <a:off x="5989320" y="2157984"/>
            <a:ext cx="5559552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G 값에서 각속도로</a:t>
            </a:r>
            <a:endParaRPr lang="ko-KR" altLang="en-US" sz="1150" dirty="0"/>
          </a:p>
        </p:txBody>
      </p:sp>
      <p:cxnSp>
        <p:nvCxnSpPr>
          <p:cNvPr id="28" name="Connector 27"/>
          <p:cNvCxnSpPr/>
          <p:nvPr/>
        </p:nvCxnSpPr>
        <p:spPr>
          <a:xfrm>
            <a:off x="5989320" y="2487168"/>
            <a:ext cx="5559552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5989320" y="2560320"/>
            <a:ext cx="5559552" cy="2286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필요한 것은 1초에 몇 도 도는가(각속도)인데, 받는 값은 G 하나다.</a:t>
            </a:r>
            <a:endParaRPr lang="ko-KR" altLang="en-US" sz="1000" dirty="0"/>
          </a:p>
        </p:txBody>
      </p:sp>
      <p:pic>
        <p:nvPicPr>
          <p:cNvPr id="30" name="Picture 29" descr="s6_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852928"/>
            <a:ext cx="1499616" cy="2727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26680" y="2871216"/>
            <a:ext cx="3822192" cy="23774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8794AC"/>
                </a:solidFill>
                <a:latin typeface="맑은 고딕"/>
                <a:ea typeface="맑은 고딕"/>
                <a:cs typeface="맑은 고딕"/>
              </a:rPr>
              <a:t>원운동에 필요한 가속도를 중력가속도의 n 배로 둔다</a:t>
            </a:r>
            <a:endParaRPr lang="ko-KR" altLang="en-US" sz="900" dirty="0"/>
          </a:p>
        </p:txBody>
      </p:sp>
      <p:pic>
        <p:nvPicPr>
          <p:cNvPr id="32" name="Picture 31" descr="s6_omeg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3200400"/>
            <a:ext cx="614172" cy="26822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858000" y="3218688"/>
            <a:ext cx="4690872" cy="23774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omega = (gravityValue * G_FORCE) / headingSpeed;</a:t>
            </a:r>
            <a:endParaRPr lang="ko-KR" altLang="en-US" sz="950" dirty="0"/>
          </a:p>
        </p:txBody>
      </p:sp>
      <p:sp>
        <p:nvSpPr>
          <p:cNvPr id="34" name="Rectangle 33"/>
          <p:cNvSpPr/>
          <p:nvPr/>
        </p:nvSpPr>
        <p:spPr>
          <a:xfrm>
            <a:off x="5989320" y="3621024"/>
            <a:ext cx="5559552" cy="676656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53912" y="3675888"/>
            <a:ext cx="5285232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같은 4G 라도 속력에 따라 다르다</a:t>
            </a:r>
            <a:endParaRPr lang="ko-KR" altLang="en-US" sz="1000" dirty="0"/>
          </a:p>
        </p:txBody>
      </p:sp>
      <p:sp>
        <p:nvSpPr>
          <p:cNvPr id="36" name="TextBox 35"/>
          <p:cNvSpPr txBox="1"/>
          <p:nvPr/>
        </p:nvSpPr>
        <p:spPr>
          <a:xfrm>
            <a:off x="6153912" y="3968496"/>
            <a:ext cx="2651760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대함 30 m/s</a:t>
            </a: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   초당 74.9°, 반경 23 m</a:t>
            </a:r>
            <a:endParaRPr lang="ko-KR" altLang="en-US" sz="1000" dirty="0"/>
          </a:p>
        </p:txBody>
      </p:sp>
      <p:sp>
        <p:nvSpPr>
          <p:cNvPr id="37" name="TextBox 36"/>
          <p:cNvSpPr txBox="1"/>
          <p:nvPr/>
        </p:nvSpPr>
        <p:spPr>
          <a:xfrm>
            <a:off x="8823960" y="3968496"/>
            <a:ext cx="2633472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대공 200 m/s</a:t>
            </a: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   초당 11.2°, 반경 1,020 m</a:t>
            </a:r>
            <a:endParaRPr lang="ko-KR" altLang="en-US" sz="1000" dirty="0"/>
          </a:p>
        </p:txBody>
      </p:sp>
      <p:sp>
        <p:nvSpPr>
          <p:cNvPr id="38" name="TextBox 37"/>
          <p:cNvSpPr txBox="1"/>
          <p:nvPr/>
        </p:nvSpPr>
        <p:spPr>
          <a:xfrm>
            <a:off x="5989320" y="4389120"/>
            <a:ext cx="5559552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속력이 분모에 있어서 빠른 표적일수록 덜 돈다.</a:t>
            </a:r>
            <a:endParaRPr lang="ko-KR" altLang="en-US" sz="950" dirty="0"/>
          </a:p>
        </p:txBody>
      </p:sp>
      <p:sp>
        <p:nvSpPr>
          <p:cNvPr id="39" name="TextBox 38"/>
          <p:cNvSpPr txBox="1"/>
          <p:nvPr/>
        </p:nvSpPr>
        <p:spPr>
          <a:xfrm>
            <a:off x="640080" y="4974336"/>
            <a:ext cx="9144000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기동 시연 대공 표적의 방위각</a:t>
            </a: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   색칠한 구간에서만 방위각이 바뀐다 (가로축은 시각 [s])</a:t>
            </a:r>
            <a:endParaRPr lang="ko-KR" altLang="en-US" sz="1050" dirty="0"/>
          </a:p>
        </p:txBody>
      </p:sp>
      <p:pic>
        <p:nvPicPr>
          <p:cNvPr id="40" name="Picture 39" descr="s6_hea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5212080"/>
            <a:ext cx="10908792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01. 표적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구조체 코드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92224"/>
            <a:ext cx="5486400" cy="3310128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83664"/>
            <a:ext cx="5120640" cy="219456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맑은 고딕"/>
                <a:ea typeface="맑은 고딕"/>
                <a:cs typeface="맑은 고딕"/>
              </a:rPr>
              <a:t>입력  (TargetSim.h)</a:t>
            </a:r>
            <a:endParaRPr lang="ko-KR" altLang="en-US" sz="950" dirty="0"/>
          </a:p>
        </p:txBody>
      </p:sp>
      <p:sp>
        <p:nvSpPr>
          <p:cNvPr id="9" name="TextBox 8"/>
          <p:cNvSpPr txBox="1"/>
          <p:nvPr/>
        </p:nvSpPr>
        <p:spPr>
          <a:xfrm>
            <a:off x="841248" y="2157984"/>
            <a:ext cx="5157216" cy="2871216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기동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구간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[startTime, endTime).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gravityValue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부호가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회전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방향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 +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는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우측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뱅크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우선회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기수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상승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typedef struct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{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EN_TurnType    enTurnType;  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회전축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(0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, 1 Roll, 2 Yaw, 3 Pitch)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FLOAT64        gravityValue;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[G]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세기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부호가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회전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방향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FLOAT64        startTime;   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[s]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시작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포함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FLOAT64        endTime;     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[s]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종료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직전까지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} ST_TargetManeuver;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표적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초기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설정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속도는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기수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방향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크기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V_heading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typedef struct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{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STRUCT_Coord_Lla       st_InitLla;  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초기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위도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경도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[rad],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고도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[m]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STRUCT_Coord_Attitude  st_InitAtt;  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초기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Roll, Pitch, Yaw [rad]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    FLOAT64                headingSpeed;   </a:t>
            </a:r>
            <a:r>
              <a:rPr lang="ko-KR" altLang="en-US" sz="850" b="0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속력</a:t>
            </a:r>
            <a:r>
              <a:rPr lang="ko-KR" altLang="en-US" sz="850" b="0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 V_heading [m/s]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INT32                  nManeuverNum;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기동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(0 ~ TGT_MAX_MANEUVER_NUM)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ST_TargetManeuver      st_Maneuver[TGT_MAX_MANEUVER_NUM];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기동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목록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} ST_TargetInit;</a:t>
            </a:r>
            <a:endParaRPr lang="ko-KR" altLang="en-US" sz="850" dirty="0"/>
          </a:p>
        </p:txBody>
      </p:sp>
      <p:sp>
        <p:nvSpPr>
          <p:cNvPr id="10" name="Rectangle 9"/>
          <p:cNvSpPr/>
          <p:nvPr/>
        </p:nvSpPr>
        <p:spPr>
          <a:xfrm>
            <a:off x="6245352" y="1792224"/>
            <a:ext cx="5303520" cy="3310128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883664"/>
            <a:ext cx="4937760" cy="219456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맑은 고딕"/>
                <a:ea typeface="맑은 고딕"/>
                <a:cs typeface="맑은 고딕"/>
              </a:rPr>
              <a:t>출력  (TargetSim.h)</a:t>
            </a:r>
            <a:endParaRPr lang="ko-KR" altLang="en-US" sz="950" dirty="0"/>
          </a:p>
        </p:txBody>
      </p:sp>
      <p:sp>
        <p:nvSpPr>
          <p:cNvPr id="12" name="TextBox 11"/>
          <p:cNvSpPr txBox="1"/>
          <p:nvPr/>
        </p:nvSpPr>
        <p:spPr>
          <a:xfrm>
            <a:off x="6446520" y="2157984"/>
            <a:ext cx="4974336" cy="2871216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객체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하나의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속도는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ECEF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이고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LLA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는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출력용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typedef struct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{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FLOAT64                simTime;   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[s]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    STRUCT_Coord_Rect      st_PosEcef;   </a:t>
            </a:r>
            <a:r>
              <a:rPr lang="ko-KR" altLang="en-US" sz="850" b="0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// ECEF </a:t>
            </a:r>
            <a:r>
              <a:rPr lang="ko-KR" altLang="en-US" sz="850" b="0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ko-KR" altLang="en-US" sz="850" b="0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 [m]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    STRUCT_Coord_Rect      st_VelEcef;   </a:t>
            </a:r>
            <a:r>
              <a:rPr lang="ko-KR" altLang="en-US" sz="850" b="0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// ECEF </a:t>
            </a:r>
            <a:r>
              <a:rPr lang="ko-KR" altLang="en-US" sz="850" b="0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속도</a:t>
            </a:r>
            <a:r>
              <a:rPr lang="ko-KR" altLang="en-US" sz="850" b="0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 [m/s]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STRUCT_Coord_Lla       st_Lla;    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위도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경도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[rad],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고도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[m]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STRUCT_Coord_Attitude  st_Att;    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Roll, Pitch, Yaw [rad]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} ST_TargetState;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시각의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플랫폼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표적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표본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).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2563EB"/>
                </a:solidFill>
                <a:latin typeface="Consolas"/>
                <a:ea typeface="맑은 고딕"/>
                <a:cs typeface="맑은 고딕"/>
              </a:rPr>
              <a:t>typedef struct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{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FLOAT64         simTime;     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[s] = nStepIndex * stepTime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INT32           nStepIndex;  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스텝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(0 ~ nStepNum)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INT32           nTargetNum;  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표적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수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ST_TargetState  st_Platform;  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플랫폼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상태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ST_TargetState  st_Target[TGT_MAX_TARGET_NUM];  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표적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(nTargetNum </a:t>
            </a:r>
            <a:r>
              <a:rPr lang="ko-KR" altLang="en-US" sz="8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개</a:t>
            </a:r>
            <a:r>
              <a:rPr lang="ko-KR" altLang="en-US" sz="85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)</a:t>
            </a:r>
            <a:endParaRPr lang="ko-KR" altLang="en-US" sz="85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} ST_SimSample;</a:t>
            </a:r>
            <a:endParaRPr lang="ko-KR" altLang="en-US" sz="850" dirty="0"/>
          </a:p>
        </p:txBody>
      </p:sp>
      <p:sp>
        <p:nvSpPr>
          <p:cNvPr id="13" name="Rectangle 12"/>
          <p:cNvSpPr/>
          <p:nvPr/>
        </p:nvSpPr>
        <p:spPr>
          <a:xfrm>
            <a:off x="640080" y="5248656"/>
            <a:ext cx="351434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248656"/>
            <a:ext cx="50292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404104"/>
            <a:ext cx="3057144" cy="29260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구간은 [시작, 종료)</a:t>
            </a:r>
            <a:endParaRPr lang="ko-KR" altLang="en-US" sz="1250" dirty="0"/>
          </a:p>
        </p:txBody>
      </p:sp>
      <p:sp>
        <p:nvSpPr>
          <p:cNvPr id="16" name="TextBox 15"/>
          <p:cNvSpPr txBox="1"/>
          <p:nvPr/>
        </p:nvSpPr>
        <p:spPr>
          <a:xfrm>
            <a:off x="914400" y="5751576"/>
            <a:ext cx="3057144" cy="38404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8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시작 시각부터 종료 직전까지 기동이 걸린다.</a:t>
            </a:r>
            <a:endParaRPr lang="ko-KR" altLang="en-US" sz="980" dirty="0"/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8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앞 기동이 끝나는 순간 다음 기동이 이어진다.</a:t>
            </a:r>
            <a:endParaRPr lang="ko-KR" altLang="en-US" sz="980" dirty="0"/>
          </a:p>
        </p:txBody>
      </p:sp>
      <p:sp>
        <p:nvSpPr>
          <p:cNvPr id="17" name="Rectangle 16"/>
          <p:cNvSpPr/>
          <p:nvPr/>
        </p:nvSpPr>
        <p:spPr>
          <a:xfrm>
            <a:off x="4337304" y="5248656"/>
            <a:ext cx="351434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37304" y="5248656"/>
            <a:ext cx="50292" cy="914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1624" y="5404104"/>
            <a:ext cx="3057144" cy="29260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i="0" dirty="0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계산용과 출력용을 함께</a:t>
            </a:r>
            <a:endParaRPr lang="ko-KR" altLang="en-US" sz="1250" dirty="0"/>
          </a:p>
        </p:txBody>
      </p:sp>
      <p:sp>
        <p:nvSpPr>
          <p:cNvPr id="20" name="TextBox 19"/>
          <p:cNvSpPr txBox="1"/>
          <p:nvPr/>
        </p:nvSpPr>
        <p:spPr>
          <a:xfrm>
            <a:off x="4611624" y="5751576"/>
            <a:ext cx="3057144" cy="38404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8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계산은 ECEF, 사람이 읽는 값은 LLA.</a:t>
            </a:r>
            <a:endParaRPr lang="ko-KR" altLang="en-US" sz="980" dirty="0"/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8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스텝마다 둘 다 갱신한다.</a:t>
            </a:r>
            <a:endParaRPr lang="ko-KR" altLang="en-US" sz="980" dirty="0"/>
          </a:p>
        </p:txBody>
      </p:sp>
      <p:sp>
        <p:nvSpPr>
          <p:cNvPr id="21" name="Rectangle 20"/>
          <p:cNvSpPr/>
          <p:nvPr/>
        </p:nvSpPr>
        <p:spPr>
          <a:xfrm>
            <a:off x="8034528" y="5248656"/>
            <a:ext cx="351434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5248656"/>
            <a:ext cx="50292" cy="914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8848" y="5404104"/>
            <a:ext cx="3057144" cy="29260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플랫폼도 같은 구조체</a:t>
            </a:r>
            <a:endParaRPr lang="ko-KR" altLang="en-US" sz="1250" dirty="0"/>
          </a:p>
        </p:txBody>
      </p:sp>
      <p:sp>
        <p:nvSpPr>
          <p:cNvPr id="24" name="TextBox 23"/>
          <p:cNvSpPr txBox="1"/>
          <p:nvPr/>
        </p:nvSpPr>
        <p:spPr>
          <a:xfrm>
            <a:off x="8308848" y="5751576"/>
            <a:ext cx="3057144" cy="38404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8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기동이 없는 표적으로 보고 각속도만 0 으로</a:t>
            </a:r>
            <a:endParaRPr lang="ko-KR" altLang="en-US" sz="980" dirty="0"/>
          </a:p>
          <a:p>
            <a:pPr algn="l">
              <a:lnSpc>
                <a:spcPts val="1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8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넣어 같은 함수로 전진시킨다.</a:t>
            </a:r>
            <a:endParaRPr lang="ko-KR" alt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02. 궤적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한 스텝 처리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  <a:ea typeface="맑은 고딕"/>
              </a:rPr>
              <a:t>다섯 단계가 f_Tgt_StepSim 한 번이고, 0.1초마다 반복하면 60초 궤적이 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57984"/>
            <a:ext cx="2006194" cy="2670048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57984"/>
            <a:ext cx="2006194" cy="3657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57984"/>
            <a:ext cx="1823314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 기동 찾기</a:t>
            </a:r>
            <a:endParaRPr lang="ko-KR" altLang="en-US" sz="1100" dirty="0"/>
          </a:p>
        </p:txBody>
      </p:sp>
      <p:sp>
        <p:nvSpPr>
          <p:cNvPr id="11" name="Rectangle 10"/>
          <p:cNvSpPr/>
          <p:nvPr/>
        </p:nvSpPr>
        <p:spPr>
          <a:xfrm>
            <a:off x="758952" y="2633472"/>
            <a:ext cx="1768450" cy="530352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s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799" y="2802636"/>
            <a:ext cx="714756" cy="1920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291840"/>
            <a:ext cx="1731874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무엇을</a:t>
            </a:r>
            <a:endParaRPr lang="ko-KR" altLang="en-US" sz="950" dirty="0"/>
          </a:p>
        </p:txBody>
      </p:sp>
      <p:sp>
        <p:nvSpPr>
          <p:cNvPr id="14" name="TextBox 13"/>
          <p:cNvSpPr txBox="1"/>
          <p:nvPr/>
        </p:nvSpPr>
        <p:spPr>
          <a:xfrm>
            <a:off x="777240" y="3502152"/>
            <a:ext cx="1731874" cy="5120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지금 시각이 어느 기동 구간에 있는지 찾는다.</a:t>
            </a:r>
            <a:endParaRPr lang="ko-KR" altLang="en-US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777240" y="4050792"/>
            <a:ext cx="1731874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왜 필요한가</a:t>
            </a:r>
            <a:endParaRPr lang="ko-KR" altLang="en-US" sz="950" dirty="0"/>
          </a:p>
        </p:txBody>
      </p:sp>
      <p:sp>
        <p:nvSpPr>
          <p:cNvPr id="16" name="TextBox 15"/>
          <p:cNvSpPr txBox="1"/>
          <p:nvPr/>
        </p:nvSpPr>
        <p:spPr>
          <a:xfrm>
            <a:off x="777240" y="4261104"/>
            <a:ext cx="1731874" cy="5120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구간 밖이면 각속도가 0 이라 직진한다.</a:t>
            </a:r>
            <a:endParaRPr lang="ko-KR" altLang="en-US" sz="950" dirty="0"/>
          </a:p>
        </p:txBody>
      </p:sp>
      <p:cxnSp>
        <p:nvCxnSpPr>
          <p:cNvPr id="17" name="Connector 16"/>
          <p:cNvCxnSpPr/>
          <p:nvPr/>
        </p:nvCxnSpPr>
        <p:spPr>
          <a:xfrm>
            <a:off x="2673706" y="2898648"/>
            <a:ext cx="164592" cy="0"/>
          </a:xfrm>
          <a:prstGeom prst="line">
            <a:avLst/>
          </a:prstGeom>
          <a:ln w="15875">
            <a:solidFill>
              <a:srgbClr val="1B2740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2865730" y="2157984"/>
            <a:ext cx="2006194" cy="2670048"/>
          </a:xfrm>
          <a:prstGeom prst="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65730" y="2157984"/>
            <a:ext cx="2006194" cy="3657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02890" y="2157984"/>
            <a:ext cx="1823314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 자세 회전</a:t>
            </a:r>
            <a:endParaRPr lang="ko-KR" altLang="en-US" sz="1100" dirty="0"/>
          </a:p>
        </p:txBody>
      </p:sp>
      <p:sp>
        <p:nvSpPr>
          <p:cNvPr id="21" name="Rectangle 20"/>
          <p:cNvSpPr/>
          <p:nvPr/>
        </p:nvSpPr>
        <p:spPr>
          <a:xfrm>
            <a:off x="2984602" y="2633472"/>
            <a:ext cx="1768450" cy="530352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s9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938" y="2802636"/>
            <a:ext cx="1255776" cy="19202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002890" y="3291840"/>
            <a:ext cx="1731874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무엇을</a:t>
            </a:r>
            <a:endParaRPr lang="ko-KR" altLang="en-US" sz="950" dirty="0"/>
          </a:p>
        </p:txBody>
      </p:sp>
      <p:sp>
        <p:nvSpPr>
          <p:cNvPr id="24" name="TextBox 23"/>
          <p:cNvSpPr txBox="1"/>
          <p:nvPr/>
        </p:nvSpPr>
        <p:spPr>
          <a:xfrm>
            <a:off x="3002890" y="3502152"/>
            <a:ext cx="1731874" cy="5120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각속도만큼 자세를 돌린다.</a:t>
            </a:r>
            <a:endParaRPr lang="ko-KR" altLang="en-US" sz="1000" dirty="0"/>
          </a:p>
        </p:txBody>
      </p:sp>
      <p:sp>
        <p:nvSpPr>
          <p:cNvPr id="25" name="TextBox 24"/>
          <p:cNvSpPr txBox="1"/>
          <p:nvPr/>
        </p:nvSpPr>
        <p:spPr>
          <a:xfrm>
            <a:off x="3002890" y="4050792"/>
            <a:ext cx="1731874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왜 필요한가</a:t>
            </a:r>
            <a:endParaRPr lang="ko-KR" altLang="en-US" sz="950" dirty="0"/>
          </a:p>
        </p:txBody>
      </p:sp>
      <p:sp>
        <p:nvSpPr>
          <p:cNvPr id="26" name="TextBox 25"/>
          <p:cNvSpPr txBox="1"/>
          <p:nvPr/>
        </p:nvSpPr>
        <p:spPr>
          <a:xfrm>
            <a:off x="3002890" y="4261104"/>
            <a:ext cx="1731874" cy="5120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방향이 정해져야 속도를 만들 수 있다.</a:t>
            </a:r>
            <a:endParaRPr lang="ko-KR" altLang="en-US" sz="950" dirty="0"/>
          </a:p>
        </p:txBody>
      </p:sp>
      <p:cxnSp>
        <p:nvCxnSpPr>
          <p:cNvPr id="27" name="Connector 26"/>
          <p:cNvCxnSpPr/>
          <p:nvPr/>
        </p:nvCxnSpPr>
        <p:spPr>
          <a:xfrm>
            <a:off x="4899355" y="2898648"/>
            <a:ext cx="164592" cy="0"/>
          </a:xfrm>
          <a:prstGeom prst="line">
            <a:avLst/>
          </a:prstGeom>
          <a:ln w="15875">
            <a:solidFill>
              <a:srgbClr val="1B2740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5091379" y="2157984"/>
            <a:ext cx="2006194" cy="2670048"/>
          </a:xfrm>
          <a:prstGeom prst="rect">
            <a:avLst/>
          </a:prstGeom>
          <a:solidFill>
            <a:srgbClr val="FFFFFF"/>
          </a:solidFill>
          <a:ln w="15875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91379" y="2157984"/>
            <a:ext cx="2006194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28539" y="2157984"/>
            <a:ext cx="1823314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 속도 변환</a:t>
            </a:r>
            <a:endParaRPr lang="ko-KR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210251" y="2633472"/>
            <a:ext cx="1768450" cy="530352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s9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2298" y="2792730"/>
            <a:ext cx="1324356" cy="2118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28539" y="3291840"/>
            <a:ext cx="1731874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무엇을</a:t>
            </a:r>
            <a:endParaRPr lang="ko-KR" altLang="en-US" sz="950" dirty="0"/>
          </a:p>
        </p:txBody>
      </p:sp>
      <p:sp>
        <p:nvSpPr>
          <p:cNvPr id="34" name="TextBox 33"/>
          <p:cNvSpPr txBox="1"/>
          <p:nvPr/>
        </p:nvSpPr>
        <p:spPr>
          <a:xfrm>
            <a:off x="5228539" y="3502152"/>
            <a:ext cx="1731874" cy="5120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기수 방향 속력 V 를 ECEF 속도 벡터로 바꾼다.</a:t>
            </a:r>
            <a:endParaRPr lang="ko-KR" altLang="en-US" sz="1000" dirty="0"/>
          </a:p>
        </p:txBody>
      </p:sp>
      <p:sp>
        <p:nvSpPr>
          <p:cNvPr id="35" name="TextBox 34"/>
          <p:cNvSpPr txBox="1"/>
          <p:nvPr/>
        </p:nvSpPr>
        <p:spPr>
          <a:xfrm>
            <a:off x="5228539" y="4050792"/>
            <a:ext cx="1731874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왜 필요한가</a:t>
            </a:r>
            <a:endParaRPr lang="ko-KR" altLang="en-US" sz="950" dirty="0"/>
          </a:p>
        </p:txBody>
      </p:sp>
      <p:sp>
        <p:nvSpPr>
          <p:cNvPr id="36" name="TextBox 35"/>
          <p:cNvSpPr txBox="1"/>
          <p:nvPr/>
        </p:nvSpPr>
        <p:spPr>
          <a:xfrm>
            <a:off x="5228539" y="4261104"/>
            <a:ext cx="1731874" cy="5120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속력은 그대로, 방향만 자세가 정한다.</a:t>
            </a:r>
            <a:endParaRPr lang="ko-KR" altLang="en-US" sz="950" dirty="0"/>
          </a:p>
        </p:txBody>
      </p:sp>
      <p:cxnSp>
        <p:nvCxnSpPr>
          <p:cNvPr id="37" name="Connector 36"/>
          <p:cNvCxnSpPr/>
          <p:nvPr/>
        </p:nvCxnSpPr>
        <p:spPr>
          <a:xfrm>
            <a:off x="7125005" y="2898648"/>
            <a:ext cx="164592" cy="0"/>
          </a:xfrm>
          <a:prstGeom prst="line">
            <a:avLst/>
          </a:prstGeom>
          <a:ln w="15875">
            <a:solidFill>
              <a:srgbClr val="1B2740"/>
            </a:solidFill>
            <a:tailEnd type="triangle" w="med" len="med"/>
          </a:ln>
        </p:spPr>
      </p:cxnSp>
      <p:sp>
        <p:nvSpPr>
          <p:cNvPr id="38" name="Rectangle 37"/>
          <p:cNvSpPr/>
          <p:nvPr/>
        </p:nvSpPr>
        <p:spPr>
          <a:xfrm>
            <a:off x="7317029" y="2157984"/>
            <a:ext cx="2006194" cy="2670048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7029" y="2157984"/>
            <a:ext cx="2006194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54189" y="2157984"/>
            <a:ext cx="1823314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④  위치 이동</a:t>
            </a:r>
            <a:endParaRPr lang="ko-KR" altLang="en-US" sz="1100" dirty="0"/>
          </a:p>
        </p:txBody>
      </p:sp>
      <p:sp>
        <p:nvSpPr>
          <p:cNvPr id="41" name="Rectangle 40"/>
          <p:cNvSpPr/>
          <p:nvPr/>
        </p:nvSpPr>
        <p:spPr>
          <a:xfrm>
            <a:off x="7435901" y="2633472"/>
            <a:ext cx="1768450" cy="530352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2" name="Picture 41" descr="s9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2906" y="2800350"/>
            <a:ext cx="1234440" cy="196596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454189" y="3291840"/>
            <a:ext cx="1731874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무엇을</a:t>
            </a:r>
            <a:endParaRPr lang="ko-KR" altLang="en-US" sz="950" dirty="0"/>
          </a:p>
        </p:txBody>
      </p:sp>
      <p:sp>
        <p:nvSpPr>
          <p:cNvPr id="44" name="TextBox 43"/>
          <p:cNvSpPr txBox="1"/>
          <p:nvPr/>
        </p:nvSpPr>
        <p:spPr>
          <a:xfrm>
            <a:off x="7454189" y="3502152"/>
            <a:ext cx="1731874" cy="5120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중점 속도로 위치를 한 스텝 옮긴다.</a:t>
            </a:r>
            <a:endParaRPr lang="ko-KR" altLang="en-US" sz="1000" dirty="0"/>
          </a:p>
        </p:txBody>
      </p:sp>
      <p:sp>
        <p:nvSpPr>
          <p:cNvPr id="45" name="TextBox 44"/>
          <p:cNvSpPr txBox="1"/>
          <p:nvPr/>
        </p:nvSpPr>
        <p:spPr>
          <a:xfrm>
            <a:off x="7454189" y="4050792"/>
            <a:ext cx="1731874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왜 필요한가</a:t>
            </a:r>
            <a:endParaRPr lang="ko-KR" altLang="en-US" sz="950" dirty="0"/>
          </a:p>
        </p:txBody>
      </p:sp>
      <p:sp>
        <p:nvSpPr>
          <p:cNvPr id="46" name="TextBox 45"/>
          <p:cNvSpPr txBox="1"/>
          <p:nvPr/>
        </p:nvSpPr>
        <p:spPr>
          <a:xfrm>
            <a:off x="7454189" y="4261104"/>
            <a:ext cx="1731874" cy="5120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0.1 s 마다 옮긴 위치를 이으면 궤적이 된다.</a:t>
            </a:r>
            <a:endParaRPr lang="ko-KR" altLang="en-US" sz="950" dirty="0"/>
          </a:p>
        </p:txBody>
      </p:sp>
      <p:cxnSp>
        <p:nvCxnSpPr>
          <p:cNvPr id="47" name="Connector 46"/>
          <p:cNvCxnSpPr/>
          <p:nvPr/>
        </p:nvCxnSpPr>
        <p:spPr>
          <a:xfrm>
            <a:off x="9350654" y="2898648"/>
            <a:ext cx="164592" cy="0"/>
          </a:xfrm>
          <a:prstGeom prst="line">
            <a:avLst/>
          </a:prstGeom>
          <a:ln w="15875">
            <a:solidFill>
              <a:srgbClr val="1B2740"/>
            </a:solidFill>
            <a:tailEnd type="triangle" w="med" len="med"/>
          </a:ln>
        </p:spPr>
      </p:cxnSp>
      <p:sp>
        <p:nvSpPr>
          <p:cNvPr id="48" name="Rectangle 47"/>
          <p:cNvSpPr/>
          <p:nvPr/>
        </p:nvSpPr>
        <p:spPr>
          <a:xfrm>
            <a:off x="9542678" y="2157984"/>
            <a:ext cx="2006194" cy="2670048"/>
          </a:xfrm>
          <a:prstGeom prst="rect">
            <a:avLst/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42678" y="2157984"/>
            <a:ext cx="2006194" cy="3657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79838" y="2157984"/>
            <a:ext cx="1823314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⑤  결과 기록</a:t>
            </a:r>
            <a:endParaRPr lang="ko-KR" altLang="en-US" sz="1100" dirty="0"/>
          </a:p>
        </p:txBody>
      </p:sp>
      <p:sp>
        <p:nvSpPr>
          <p:cNvPr id="63" name="Code Ref Rectangle 8"/>
          <p:cNvSpPr txBox="1"/>
          <p:nvPr/>
        </p:nvSpPr>
        <p:spPr>
          <a:xfrm>
            <a:off x="1884274" y="2157984"/>
            <a:ext cx="660400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 ③</a:t>
            </a:r>
            <a:endParaRPr lang="ko-KR" altLang="en-US" sz="1000" dirty="0"/>
          </a:p>
        </p:txBody>
      </p:sp>
      <p:sp>
        <p:nvSpPr>
          <p:cNvPr id="64" name="Code Ref Rectangle 18"/>
          <p:cNvSpPr txBox="1"/>
          <p:nvPr/>
        </p:nvSpPr>
        <p:spPr>
          <a:xfrm>
            <a:off x="4109924" y="2157984"/>
            <a:ext cx="660400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 ⑤</a:t>
            </a:r>
            <a:endParaRPr lang="ko-KR" altLang="en-US" sz="1000" dirty="0"/>
          </a:p>
        </p:txBody>
      </p:sp>
      <p:sp>
        <p:nvSpPr>
          <p:cNvPr id="65" name="Code Ref Rectangle 28"/>
          <p:cNvSpPr txBox="1"/>
          <p:nvPr/>
        </p:nvSpPr>
        <p:spPr>
          <a:xfrm>
            <a:off x="6335573" y="2157984"/>
            <a:ext cx="660400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 ④</a:t>
            </a:r>
            <a:endParaRPr lang="ko-KR" altLang="en-US" sz="1000" dirty="0"/>
          </a:p>
        </p:txBody>
      </p:sp>
      <p:sp>
        <p:nvSpPr>
          <p:cNvPr id="66" name="Code Ref Rectangle 38"/>
          <p:cNvSpPr txBox="1"/>
          <p:nvPr/>
        </p:nvSpPr>
        <p:spPr>
          <a:xfrm>
            <a:off x="8561223" y="2157984"/>
            <a:ext cx="660400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 ⑤</a:t>
            </a:r>
            <a:endParaRPr lang="ko-KR" altLang="en-US" sz="1000" dirty="0"/>
          </a:p>
        </p:txBody>
      </p:sp>
      <p:sp>
        <p:nvSpPr>
          <p:cNvPr id="67" name="Code Ref Rectangle 48"/>
          <p:cNvSpPr txBox="1"/>
          <p:nvPr/>
        </p:nvSpPr>
        <p:spPr>
          <a:xfrm>
            <a:off x="10786872" y="2157984"/>
            <a:ext cx="660400" cy="36576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코드 ⑤</a:t>
            </a:r>
            <a:endParaRPr lang="ko-KR" altLang="en-US" sz="1000" dirty="0"/>
          </a:p>
        </p:txBody>
      </p:sp>
      <p:sp>
        <p:nvSpPr>
          <p:cNvPr id="51" name="Rectangle 50"/>
          <p:cNvSpPr/>
          <p:nvPr/>
        </p:nvSpPr>
        <p:spPr>
          <a:xfrm>
            <a:off x="9661550" y="2633472"/>
            <a:ext cx="1768450" cy="530352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2" name="Picture 51" descr="s9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30663" y="2802636"/>
            <a:ext cx="1030224" cy="1920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679838" y="3291840"/>
            <a:ext cx="1731874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무엇을</a:t>
            </a:r>
            <a:endParaRPr lang="ko-KR" altLang="en-US" sz="950" dirty="0"/>
          </a:p>
        </p:txBody>
      </p:sp>
      <p:sp>
        <p:nvSpPr>
          <p:cNvPr id="54" name="TextBox 53"/>
          <p:cNvSpPr txBox="1"/>
          <p:nvPr/>
        </p:nvSpPr>
        <p:spPr>
          <a:xfrm>
            <a:off x="9679838" y="3502152"/>
            <a:ext cx="1731874" cy="5120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위도, 경도, 고도로 되돌려 표본에 담는다.</a:t>
            </a:r>
            <a:endParaRPr lang="ko-KR" altLang="en-US" sz="1000" dirty="0"/>
          </a:p>
        </p:txBody>
      </p:sp>
      <p:sp>
        <p:nvSpPr>
          <p:cNvPr id="55" name="TextBox 54"/>
          <p:cNvSpPr txBox="1"/>
          <p:nvPr/>
        </p:nvSpPr>
        <p:spPr>
          <a:xfrm>
            <a:off x="9679838" y="4050792"/>
            <a:ext cx="1731874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왜 필요한가</a:t>
            </a:r>
            <a:endParaRPr lang="ko-KR" altLang="en-US" sz="950" dirty="0"/>
          </a:p>
        </p:txBody>
      </p:sp>
      <p:sp>
        <p:nvSpPr>
          <p:cNvPr id="56" name="TextBox 55"/>
          <p:cNvSpPr txBox="1"/>
          <p:nvPr/>
        </p:nvSpPr>
        <p:spPr>
          <a:xfrm>
            <a:off x="9679838" y="4261104"/>
            <a:ext cx="1731874" cy="51206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사람이 읽고 다음 블록이 쓰는 형식이다.</a:t>
            </a:r>
            <a:endParaRPr lang="ko-KR" altLang="en-US" sz="950" dirty="0"/>
          </a:p>
        </p:txBody>
      </p:sp>
      <p:sp>
        <p:nvSpPr>
          <p:cNvPr id="57" name="Rectangle 56"/>
          <p:cNvSpPr/>
          <p:nvPr/>
        </p:nvSpPr>
        <p:spPr>
          <a:xfrm>
            <a:off x="640080" y="4992624"/>
            <a:ext cx="6675120" cy="1170432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1248" y="5102352"/>
            <a:ext cx="6309360" cy="256032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③ ④ 는 실제로 두 번 계산한다 (중점법)</a:t>
            </a:r>
            <a:endParaRPr lang="ko-KR" altLang="en-US" sz="1050" dirty="0"/>
          </a:p>
        </p:txBody>
      </p:sp>
      <p:sp>
        <p:nvSpPr>
          <p:cNvPr id="59" name="TextBox 58"/>
          <p:cNvSpPr txBox="1"/>
          <p:nvPr/>
        </p:nvSpPr>
        <p:spPr>
          <a:xfrm>
            <a:off x="841248" y="5431536"/>
            <a:ext cx="6309360" cy="6400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반 스텝 가서 속도를 다시 구한 뒤, 그 속도로 처음 위치에서 한 스텝을 옮긴다.</a:t>
            </a:r>
            <a:endParaRPr lang="ko-KR" altLang="en-US" sz="100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굽은 길일수록 실제 궤적에 더 가깝다. 이유는 14장에서 설명한다.</a:t>
            </a:r>
            <a:endParaRPr lang="ko-KR" altLang="en-US" sz="1000" dirty="0"/>
          </a:p>
        </p:txBody>
      </p:sp>
      <p:sp>
        <p:nvSpPr>
          <p:cNvPr id="60" name="Rectangle 59"/>
          <p:cNvSpPr/>
          <p:nvPr/>
        </p:nvSpPr>
        <p:spPr>
          <a:xfrm>
            <a:off x="7543800" y="4992624"/>
            <a:ext cx="4005072" cy="1170432"/>
          </a:xfrm>
          <a:prstGeom prst="rect">
            <a:avLst/>
          </a:prstGeom>
          <a:solidFill>
            <a:srgbClr val="ECF8F3"/>
          </a:solidFill>
          <a:ln w="12700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44968" y="5102352"/>
            <a:ext cx="3639312" cy="256032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표적 수만큼 반복</a:t>
            </a:r>
            <a:endParaRPr lang="ko-KR" altLang="en-US" sz="1050" dirty="0"/>
          </a:p>
        </p:txBody>
      </p:sp>
      <p:sp>
        <p:nvSpPr>
          <p:cNvPr id="62" name="TextBox 61"/>
          <p:cNvSpPr txBox="1"/>
          <p:nvPr/>
        </p:nvSpPr>
        <p:spPr>
          <a:xfrm>
            <a:off x="7744968" y="5431536"/>
            <a:ext cx="3639312" cy="64008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표적끼리 서로 영향을 주지 않아서</a:t>
            </a:r>
            <a:endParaRPr lang="ko-KR" altLang="en-US" sz="100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반복문 하나로 10개까지 그대로 늘어난다.</a:t>
            </a:r>
            <a:endParaRPr lang="ko-KR" alt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02. 궤적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공식 ① 속도 벡터 변환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  <a:ea typeface="맑은 고딕"/>
              </a:rPr>
              <a:t>과제의 추가 고민 항목인, 동체 속도 V_heading 을 ECEF 의 Vx, Vy, Vz 로 바꾸는 방법입니다.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57984"/>
            <a:ext cx="6812280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받은 값은 속력 하나, 필요한 값은 x, y, z 세 성분</a:t>
            </a:r>
            <a:endParaRPr lang="ko-KR" altLang="en-US" sz="1150" dirty="0"/>
          </a:p>
        </p:txBody>
      </p:sp>
      <p:cxnSp>
        <p:nvCxnSpPr>
          <p:cNvPr id="9" name="Connector 8"/>
          <p:cNvCxnSpPr/>
          <p:nvPr/>
        </p:nvCxnSpPr>
        <p:spPr>
          <a:xfrm>
            <a:off x="640080" y="2487168"/>
            <a:ext cx="6812280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10" name="Rectangle 9"/>
          <p:cNvSpPr/>
          <p:nvPr/>
        </p:nvSpPr>
        <p:spPr>
          <a:xfrm>
            <a:off x="640080" y="2633472"/>
            <a:ext cx="1874520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633472"/>
            <a:ext cx="1874520" cy="274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33472"/>
            <a:ext cx="1874520" cy="27432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동체 기준 (표적)</a:t>
            </a:r>
            <a:endParaRPr lang="ko-KR" altLang="en-US" sz="950" dirty="0"/>
          </a:p>
        </p:txBody>
      </p:sp>
      <p:pic>
        <p:nvPicPr>
          <p:cNvPr id="13" name="Picture 12" descr="s10_bo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30" y="3004566"/>
            <a:ext cx="769620" cy="2270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0080" y="3236976"/>
            <a:ext cx="187452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기수 방향으로 V</a:t>
            </a:r>
            <a:endParaRPr lang="ko-KR" altLang="en-US" sz="900" dirty="0"/>
          </a:p>
        </p:txBody>
      </p:sp>
      <p:cxnSp>
        <p:nvCxnSpPr>
          <p:cNvPr id="15" name="Connector 14"/>
          <p:cNvCxnSpPr/>
          <p:nvPr/>
        </p:nvCxnSpPr>
        <p:spPr>
          <a:xfrm>
            <a:off x="2569464" y="3118104"/>
            <a:ext cx="484632" cy="0"/>
          </a:xfrm>
          <a:prstGeom prst="line">
            <a:avLst/>
          </a:prstGeom>
          <a:ln w="15875">
            <a:solidFill>
              <a:srgbClr val="1B2740"/>
            </a:solidFill>
            <a:tailEnd type="triangle" w="med" len="med"/>
          </a:ln>
        </p:spPr>
      </p:cxnSp>
      <p:pic>
        <p:nvPicPr>
          <p:cNvPr id="16" name="Picture 15" descr="s10_cb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6718" y="2779776"/>
            <a:ext cx="230124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478024" y="3182112"/>
            <a:ext cx="667512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자세각</a:t>
            </a:r>
            <a:endParaRPr lang="ko-KR" altLang="en-US" sz="850" dirty="0"/>
          </a:p>
        </p:txBody>
      </p:sp>
      <p:sp>
        <p:nvSpPr>
          <p:cNvPr id="18" name="Rectangle 17"/>
          <p:cNvSpPr/>
          <p:nvPr/>
        </p:nvSpPr>
        <p:spPr>
          <a:xfrm>
            <a:off x="3108960" y="2633472"/>
            <a:ext cx="1874520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08960" y="2633472"/>
            <a:ext cx="1874520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2633472"/>
            <a:ext cx="1874520" cy="27432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NED (지표면 기준)</a:t>
            </a:r>
            <a:endParaRPr lang="ko-KR" altLang="en-US" sz="950" dirty="0"/>
          </a:p>
        </p:txBody>
      </p:sp>
      <p:pic>
        <p:nvPicPr>
          <p:cNvPr id="21" name="Picture 20" descr="s10_n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9396" y="3004566"/>
            <a:ext cx="993648" cy="2270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108960" y="3236976"/>
            <a:ext cx="187452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북, 동, 아래 성분</a:t>
            </a:r>
            <a:endParaRPr lang="ko-KR" altLang="en-US" sz="9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5038344" y="3118104"/>
            <a:ext cx="484632" cy="0"/>
          </a:xfrm>
          <a:prstGeom prst="line">
            <a:avLst/>
          </a:prstGeom>
          <a:ln w="15875">
            <a:solidFill>
              <a:srgbClr val="1B2740"/>
            </a:solidFill>
            <a:tailEnd type="triangle" w="med" len="med"/>
          </a:ln>
        </p:spPr>
      </p:cxnSp>
      <p:pic>
        <p:nvPicPr>
          <p:cNvPr id="24" name="Picture 23" descr="s10_c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5598" y="2782824"/>
            <a:ext cx="230124" cy="2164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946904" y="3182112"/>
            <a:ext cx="667512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위도 · 경도</a:t>
            </a:r>
            <a:endParaRPr lang="ko-KR" altLang="en-US" sz="850" dirty="0"/>
          </a:p>
        </p:txBody>
      </p:sp>
      <p:sp>
        <p:nvSpPr>
          <p:cNvPr id="26" name="Rectangle 25"/>
          <p:cNvSpPr/>
          <p:nvPr/>
        </p:nvSpPr>
        <p:spPr>
          <a:xfrm>
            <a:off x="5577840" y="2633472"/>
            <a:ext cx="1874520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77840" y="2633472"/>
            <a:ext cx="18745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2633472"/>
            <a:ext cx="1874520" cy="27432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ECEF (지구 중심 기준)</a:t>
            </a:r>
            <a:endParaRPr lang="ko-KR" altLang="en-US" sz="950" dirty="0"/>
          </a:p>
        </p:txBody>
      </p:sp>
      <p:pic>
        <p:nvPicPr>
          <p:cNvPr id="29" name="Picture 28" descr="s10_ece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3234" y="2999994"/>
            <a:ext cx="903732" cy="2362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577840" y="3236976"/>
            <a:ext cx="187452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위치에 바로 더할 수 있다</a:t>
            </a:r>
            <a:endParaRPr lang="ko-KR" altLang="en-US" sz="900" dirty="0"/>
          </a:p>
        </p:txBody>
      </p:sp>
      <p:pic>
        <p:nvPicPr>
          <p:cNvPr id="31" name="Picture 30" descr="s10_ma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3675888"/>
            <a:ext cx="3137916" cy="288036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40080" y="4160520"/>
            <a:ext cx="6812280" cy="877824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233672"/>
            <a:ext cx="6446520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왜 이 식이 필요한가</a:t>
            </a:r>
            <a:endParaRPr lang="ko-KR" altLang="en-US" sz="1000" dirty="0"/>
          </a:p>
        </p:txBody>
      </p:sp>
      <p:sp>
        <p:nvSpPr>
          <p:cNvPr id="34" name="TextBox 33"/>
          <p:cNvSpPr txBox="1"/>
          <p:nvPr/>
        </p:nvSpPr>
        <p:spPr>
          <a:xfrm>
            <a:off x="822960" y="4507992"/>
            <a:ext cx="6446520" cy="502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입력은 속력 하나뿐이고, 방향은 자세각이 가지고 있다.</a:t>
            </a:r>
            <a:endParaRPr lang="ko-KR" altLang="en-US" sz="100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위치에 더하려면 위치와 같은 좌표계(ECEF)의 속도여야 한다.</a:t>
            </a:r>
            <a:endParaRPr lang="ko-KR" altLang="en-US" sz="1000" dirty="0"/>
          </a:p>
        </p:txBody>
      </p:sp>
      <p:sp>
        <p:nvSpPr>
          <p:cNvPr id="35" name="TextBox 34"/>
          <p:cNvSpPr txBox="1"/>
          <p:nvPr/>
        </p:nvSpPr>
        <p:spPr>
          <a:xfrm>
            <a:off x="640080" y="5193792"/>
            <a:ext cx="6812280" cy="5029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두 회전은 참고 소스 코드의 좌표변환 함수를 그대로 호출했다.</a:t>
            </a:r>
            <a:endParaRPr lang="ko-KR" altLang="en-US" sz="950" dirty="0"/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새로 작성한 부분은 두 함수를 이어 붙인 것이다.</a:t>
            </a:r>
            <a:endParaRPr lang="ko-KR" altLang="en-US" sz="950" dirty="0"/>
          </a:p>
        </p:txBody>
      </p:sp>
      <p:cxnSp>
        <p:nvCxnSpPr>
          <p:cNvPr id="36" name="Connector 35"/>
          <p:cNvCxnSpPr/>
          <p:nvPr/>
        </p:nvCxnSpPr>
        <p:spPr>
          <a:xfrm>
            <a:off x="7699248" y="2194560"/>
            <a:ext cx="0" cy="3895344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7936992" y="2157984"/>
            <a:ext cx="3611880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대공 표적으로 따라가 보기</a:t>
            </a:r>
            <a:endParaRPr lang="ko-KR" altLang="en-US" sz="1150" dirty="0"/>
          </a:p>
        </p:txBody>
      </p:sp>
      <p:cxnSp>
        <p:nvCxnSpPr>
          <p:cNvPr id="38" name="Connector 37"/>
          <p:cNvCxnSpPr/>
          <p:nvPr/>
        </p:nvCxnSpPr>
        <p:spPr>
          <a:xfrm>
            <a:off x="7936992" y="2487168"/>
            <a:ext cx="3611880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39" name="TextBox Example Input"/>
          <p:cNvSpPr txBox="1"/>
          <p:nvPr/>
        </p:nvSpPr>
        <p:spPr>
          <a:xfrm>
            <a:off x="7936992" y="2615184"/>
            <a:ext cx="3611880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입력   </a:t>
            </a: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V = 200 m/s,  Yaw = 180° (남쪽)</a:t>
            </a:r>
            <a:endParaRPr lang="ko-KR" altLang="en-US" sz="950" dirty="0"/>
          </a:p>
        </p:txBody>
      </p:sp>
      <p:sp>
        <p:nvSpPr>
          <p:cNvPr id="40" name="Rectangle Example 0"/>
          <p:cNvSpPr/>
          <p:nvPr/>
        </p:nvSpPr>
        <p:spPr>
          <a:xfrm>
            <a:off x="7936992" y="2944368"/>
            <a:ext cx="361188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Example Label 0"/>
          <p:cNvSpPr txBox="1"/>
          <p:nvPr/>
        </p:nvSpPr>
        <p:spPr>
          <a:xfrm>
            <a:off x="8028432" y="2944368"/>
            <a:ext cx="731520" cy="54864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동체</a:t>
            </a:r>
            <a:endParaRPr lang="ko-KR" altLang="en-US" sz="1000" dirty="0"/>
          </a:p>
        </p:txBody>
      </p:sp>
      <p:sp>
        <p:nvSpPr>
          <p:cNvPr id="42" name="TextBox Example Vector 0"/>
          <p:cNvSpPr txBox="1"/>
          <p:nvPr/>
        </p:nvSpPr>
        <p:spPr>
          <a:xfrm>
            <a:off x="8805672" y="2999232"/>
            <a:ext cx="2651760" cy="28346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0" i="0" dirty="0">
                <a:solidFill>
                  <a:srgbClr val="1B2740"/>
                </a:solidFill>
                <a:latin typeface="Cambria"/>
                <a:ea typeface="맑은 고딕"/>
                <a:cs typeface="맑은 고딕"/>
              </a:rPr>
              <a:t>[ 200    0    0 ]</a:t>
            </a:r>
            <a:endParaRPr lang="ko-KR" altLang="en-US" sz="1200" dirty="0"/>
          </a:p>
        </p:txBody>
      </p:sp>
      <p:sp>
        <p:nvSpPr>
          <p:cNvPr id="43" name="TextBox Example Note 0"/>
          <p:cNvSpPr txBox="1"/>
          <p:nvPr/>
        </p:nvSpPr>
        <p:spPr>
          <a:xfrm>
            <a:off x="8805672" y="3264408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기수 방향으로만 200 m/s</a:t>
            </a:r>
            <a:endParaRPr lang="ko-KR" altLang="en-US" sz="900" dirty="0"/>
          </a:p>
        </p:txBody>
      </p:sp>
      <p:cxnSp>
        <p:nvCxnSpPr>
          <p:cNvPr id="44" name="Connector Example 0"/>
          <p:cNvCxnSpPr/>
          <p:nvPr/>
        </p:nvCxnSpPr>
        <p:spPr>
          <a:xfrm>
            <a:off x="8394192" y="3493008"/>
            <a:ext cx="0" cy="320040"/>
          </a:xfrm>
          <a:prstGeom prst="line">
            <a:avLst/>
          </a:prstGeom>
          <a:ln w="15875">
            <a:solidFill>
              <a:srgbClr val="1B2740"/>
            </a:solidFill>
            <a:tailEnd type="triangle" w="med" len="med"/>
          </a:ln>
        </p:spPr>
      </p:cxnSp>
      <p:sp>
        <p:nvSpPr>
          <p:cNvPr id="45" name="TextBox Example Arrow 0"/>
          <p:cNvSpPr txBox="1"/>
          <p:nvPr/>
        </p:nvSpPr>
        <p:spPr>
          <a:xfrm>
            <a:off x="8577072" y="3557016"/>
            <a:ext cx="297180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자세각으로 회전 (Yaw 180°)</a:t>
            </a:r>
            <a:endParaRPr lang="ko-KR" altLang="en-US" sz="900" dirty="0"/>
          </a:p>
        </p:txBody>
      </p:sp>
      <p:sp>
        <p:nvSpPr>
          <p:cNvPr id="46" name="Rectangle Example 1"/>
          <p:cNvSpPr/>
          <p:nvPr/>
        </p:nvSpPr>
        <p:spPr>
          <a:xfrm>
            <a:off x="7936992" y="3813048"/>
            <a:ext cx="361188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Example Label 1"/>
          <p:cNvSpPr txBox="1"/>
          <p:nvPr/>
        </p:nvSpPr>
        <p:spPr>
          <a:xfrm>
            <a:off x="8028432" y="3813048"/>
            <a:ext cx="731520" cy="54864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NED</a:t>
            </a:r>
            <a:endParaRPr lang="ko-KR" altLang="en-US" sz="1000" dirty="0"/>
          </a:p>
        </p:txBody>
      </p:sp>
      <p:sp>
        <p:nvSpPr>
          <p:cNvPr id="48" name="TextBox Example Vector 1"/>
          <p:cNvSpPr txBox="1"/>
          <p:nvPr/>
        </p:nvSpPr>
        <p:spPr>
          <a:xfrm>
            <a:off x="8805672" y="3867912"/>
            <a:ext cx="2651760" cy="28346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0" i="0" dirty="0">
                <a:solidFill>
                  <a:srgbClr val="1B2740"/>
                </a:solidFill>
                <a:latin typeface="Cambria"/>
                <a:ea typeface="맑은 고딕"/>
                <a:cs typeface="맑은 고딕"/>
              </a:rPr>
              <a:t>[ −200    0    0 ]</a:t>
            </a:r>
            <a:endParaRPr lang="ko-KR" altLang="en-US" sz="1200" dirty="0"/>
          </a:p>
        </p:txBody>
      </p:sp>
      <p:sp>
        <p:nvSpPr>
          <p:cNvPr id="49" name="TextBox Example Note 1"/>
          <p:cNvSpPr txBox="1"/>
          <p:nvPr/>
        </p:nvSpPr>
        <p:spPr>
          <a:xfrm>
            <a:off x="8805672" y="4133088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북쪽 성분 -200 = 남쪽으로 200 m/s</a:t>
            </a:r>
            <a:endParaRPr lang="ko-KR" altLang="en-US" sz="900" dirty="0"/>
          </a:p>
        </p:txBody>
      </p:sp>
      <p:cxnSp>
        <p:nvCxnSpPr>
          <p:cNvPr id="50" name="Connector Example 1"/>
          <p:cNvCxnSpPr/>
          <p:nvPr/>
        </p:nvCxnSpPr>
        <p:spPr>
          <a:xfrm>
            <a:off x="8394192" y="4361688"/>
            <a:ext cx="0" cy="320040"/>
          </a:xfrm>
          <a:prstGeom prst="line">
            <a:avLst/>
          </a:prstGeom>
          <a:ln w="15875">
            <a:solidFill>
              <a:srgbClr val="1B2740"/>
            </a:solidFill>
            <a:tailEnd type="triangle" w="med" len="med"/>
          </a:ln>
        </p:spPr>
      </p:cxnSp>
      <p:sp>
        <p:nvSpPr>
          <p:cNvPr id="51" name="TextBox Example Arrow 1"/>
          <p:cNvSpPr txBox="1"/>
          <p:nvPr/>
        </p:nvSpPr>
        <p:spPr>
          <a:xfrm>
            <a:off x="8577072" y="4425696"/>
            <a:ext cx="2971800" cy="201168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위도 32.12° · 경도 126.0° 로 회전</a:t>
            </a:r>
            <a:endParaRPr lang="ko-KR" altLang="en-US" sz="900" dirty="0"/>
          </a:p>
        </p:txBody>
      </p:sp>
      <p:sp>
        <p:nvSpPr>
          <p:cNvPr id="52" name="Rectangle Example 2"/>
          <p:cNvSpPr/>
          <p:nvPr/>
        </p:nvSpPr>
        <p:spPr>
          <a:xfrm>
            <a:off x="7936992" y="4681728"/>
            <a:ext cx="361188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Example Label 2"/>
          <p:cNvSpPr txBox="1"/>
          <p:nvPr/>
        </p:nvSpPr>
        <p:spPr>
          <a:xfrm>
            <a:off x="8028432" y="4681728"/>
            <a:ext cx="731520" cy="54864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ECEF</a:t>
            </a:r>
            <a:endParaRPr lang="ko-KR" altLang="en-US" sz="1000" dirty="0"/>
          </a:p>
        </p:txBody>
      </p:sp>
      <p:sp>
        <p:nvSpPr>
          <p:cNvPr id="54" name="TextBox Example Vector 2"/>
          <p:cNvSpPr txBox="1"/>
          <p:nvPr/>
        </p:nvSpPr>
        <p:spPr>
          <a:xfrm>
            <a:off x="8805672" y="4736592"/>
            <a:ext cx="2651760" cy="28346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0" i="0" dirty="0">
                <a:solidFill>
                  <a:srgbClr val="1B2740"/>
                </a:solidFill>
                <a:latin typeface="Cambria"/>
                <a:ea typeface="맑은 고딕"/>
                <a:cs typeface="맑은 고딕"/>
              </a:rPr>
              <a:t>[ −62.5    86.0    −169.4 ]</a:t>
            </a:r>
            <a:endParaRPr lang="ko-KR" altLang="en-US" sz="1200" dirty="0"/>
          </a:p>
        </p:txBody>
      </p:sp>
      <p:sp>
        <p:nvSpPr>
          <p:cNvPr id="55" name="TextBox Example Note 2"/>
          <p:cNvSpPr txBox="1"/>
          <p:nvPr/>
        </p:nvSpPr>
        <p:spPr>
          <a:xfrm>
            <a:off x="8805672" y="5001768"/>
            <a:ext cx="2651760" cy="1828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지구 중심 x · y · z 성분 [m/s]</a:t>
            </a:r>
            <a:endParaRPr lang="ko-KR" altLang="en-US" sz="900" dirty="0"/>
          </a:p>
        </p:txBody>
      </p:sp>
      <p:sp>
        <p:nvSpPr>
          <p:cNvPr id="56" name="TextBox Example Caption"/>
          <p:cNvSpPr txBox="1"/>
          <p:nvPr/>
        </p:nvSpPr>
        <p:spPr>
          <a:xfrm>
            <a:off x="7936992" y="5376672"/>
            <a:ext cx="3611880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이 속도에 0.1 s 를 곱해 ECEF 위치에 더한다.</a:t>
            </a:r>
            <a:endParaRPr lang="ko-KR" alt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02. 궤적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코드 ④ 속도 벡터 변환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13</a:t>
            </a:r>
          </a:p>
        </p:txBody>
      </p:sp>
      <p:sp>
        <p:nvSpPr>
          <p:cNvPr id="25" name="Example Box"/>
          <p:cNvSpPr/>
          <p:nvPr/>
        </p:nvSpPr>
        <p:spPr>
          <a:xfrm>
            <a:off x="640080" y="5655056"/>
            <a:ext cx="10908792" cy="50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Example Text"/>
          <p:cNvSpPr txBox="1"/>
          <p:nvPr/>
        </p:nvSpPr>
        <p:spPr>
          <a:xfrm>
            <a:off x="817880" y="5655056"/>
            <a:ext cx="10553192" cy="508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예시 (12장 대공 표적)     </a:t>
            </a: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V = 200 m/s,  Yaw = 180°,  위도 32.12° · 경도 126.0°</a:t>
            </a:r>
            <a:r>
              <a:rPr lang="ko-KR" altLang="en-US" sz="10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     →     </a:t>
            </a: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NED  (-200, 0, 0)</a:t>
            </a:r>
            <a:r>
              <a:rPr lang="ko-KR" altLang="en-US" sz="10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     →     </a:t>
            </a:r>
            <a:r>
              <a:rPr lang="ko-KR" altLang="en-US" sz="1050" b="1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ECEF  (-62.5, 86.0, -169.4) m/s</a:t>
            </a:r>
            <a:endParaRPr lang="ko-KR" altLang="en-US" sz="1000" dirty="0"/>
          </a:p>
        </p:txBody>
      </p:sp>
      <p:sp>
        <p:nvSpPr>
          <p:cNvPr id="8" name="Code Panel"/>
          <p:cNvSpPr/>
          <p:nvPr/>
        </p:nvSpPr>
        <p:spPr>
          <a:xfrm>
            <a:off x="640080" y="1792224"/>
            <a:ext cx="6473551" cy="2711450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lock 1"/>
          <p:cNvSpPr/>
          <p:nvPr/>
        </p:nvSpPr>
        <p:spPr>
          <a:xfrm>
            <a:off x="703580" y="1878584"/>
            <a:ext cx="6346551" cy="474980"/>
          </a:xfrm>
          <a:prstGeom prst="roundRect">
            <a:avLst>
              <a:gd name="adj" fmla="val 7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lock 2"/>
          <p:cNvSpPr/>
          <p:nvPr/>
        </p:nvSpPr>
        <p:spPr>
          <a:xfrm>
            <a:off x="703580" y="2805684"/>
            <a:ext cx="6346551" cy="684530"/>
          </a:xfrm>
          <a:prstGeom prst="roundRect">
            <a:avLst>
              <a:gd name="adj" fmla="val 7000"/>
            </a:avLst>
          </a:prstGeom>
          <a:solidFill>
            <a:srgbClr val="FEF5E7"/>
          </a:solidFill>
          <a:ln w="12700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lock 3"/>
          <p:cNvSpPr/>
          <p:nvPr/>
        </p:nvSpPr>
        <p:spPr>
          <a:xfrm>
            <a:off x="703580" y="3523234"/>
            <a:ext cx="6346551" cy="684530"/>
          </a:xfrm>
          <a:prstGeom prst="roundRect">
            <a:avLst>
              <a:gd name="adj" fmla="val 7000"/>
            </a:avLst>
          </a:prstGeom>
          <a:solidFill>
            <a:srgbClr val="E8F6F0"/>
          </a:solidFill>
          <a:ln w="12700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ode Text"/>
          <p:cNvSpPr txBox="1"/>
          <p:nvPr/>
        </p:nvSpPr>
        <p:spPr>
          <a:xfrm>
            <a:off x="817880" y="1906524"/>
            <a:ext cx="6117951" cy="248285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static STRUCT_Coord_Rect f_Tgt_GetVelEcef(const STRUCT_Coord_Attitude *st_Att,</a:t>
            </a:r>
            <a:endParaRPr lang="ko-KR" altLang="en-US" sz="1100" dirty="0"/>
          </a:p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const STRUCT_Coord_Lla *st_Lla, FLOAT64 headingSpeed)</a:t>
            </a:r>
            <a:endParaRPr lang="ko-KR" altLang="en-US" sz="1100" dirty="0"/>
          </a:p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{</a:t>
            </a:r>
            <a:endParaRPr lang="ko-KR" altLang="en-US" sz="1100" dirty="0"/>
          </a:p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STRUCT_Coord_Rect st_VelNed;</a:t>
            </a:r>
            <a:endParaRPr lang="ko-KR" altLang="en-US" sz="1100" dirty="0"/>
          </a:p>
          <a:p>
            <a:pPr algn="l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lang="ko-KR" altLang="en-US" sz="11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11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동체</a:t>
            </a:r>
            <a:r>
              <a:rPr lang="ko-KR" altLang="en-US" sz="11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-&gt; NED. </a:t>
            </a:r>
            <a:r>
              <a:rPr lang="ko-KR" altLang="en-US" sz="11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인자</a:t>
            </a:r>
            <a:r>
              <a:rPr lang="ko-KR" altLang="en-US" sz="11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1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lang="ko-KR" altLang="en-US" sz="11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Roll, Yaw, Pitch.</a:t>
            </a:r>
            <a:endParaRPr lang="ko-KR" altLang="en-US" sz="1100" dirty="0"/>
          </a:p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st_VelNed = f_Trans_Body_To_Ned(headingSpeed, 0.0, 0.0,</a:t>
            </a:r>
            <a:endParaRPr lang="ko-KR" altLang="en-US" sz="1100" dirty="0"/>
          </a:p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    st_Att-&gt;Roll, st_Att-&gt;Yaw, st_Att-&gt;Pitch);</a:t>
            </a:r>
            <a:endParaRPr lang="ko-KR" altLang="en-US" sz="1100" dirty="0"/>
          </a:p>
          <a:p>
            <a:pPr algn="l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lang="ko-KR" altLang="en-US" sz="11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NED -&gt; ECEF. </a:t>
            </a:r>
            <a:r>
              <a:rPr lang="ko-KR" altLang="en-US" sz="11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기준점</a:t>
            </a:r>
            <a:r>
              <a:rPr lang="ko-KR" altLang="en-US" sz="11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0 </a:t>
            </a:r>
            <a:r>
              <a:rPr lang="ko-KR" altLang="en-US" sz="11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으로</a:t>
            </a:r>
            <a:r>
              <a:rPr lang="ko-KR" altLang="en-US" sz="11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1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회전만</a:t>
            </a:r>
            <a:r>
              <a:rPr lang="ko-KR" altLang="en-US" sz="11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1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적용</a:t>
            </a:r>
            <a:r>
              <a:rPr lang="ko-KR" altLang="en-US" sz="11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1100" dirty="0"/>
          </a:p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return f_Trans_Ned_To_Ecef(st_VelNed.x, st_VelNed.y, st_VelNed.z,</a:t>
            </a:r>
            <a:endParaRPr lang="ko-KR" altLang="en-US" sz="1100" dirty="0"/>
          </a:p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    0.0, 0.0, 0.0, st_Lla-&gt;Lat, st_Lla-&gt;Lon);</a:t>
            </a:r>
            <a:endParaRPr lang="ko-KR" altLang="en-US" sz="1100" dirty="0"/>
          </a:p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}</a:t>
            </a:r>
            <a:endParaRPr lang="ko-KR" altLang="en-US" sz="1100" dirty="0"/>
          </a:p>
        </p:txBody>
      </p:sp>
      <p:sp>
        <p:nvSpPr>
          <p:cNvPr id="12" name="Card 1 Box"/>
          <p:cNvSpPr/>
          <p:nvPr/>
        </p:nvSpPr>
        <p:spPr>
          <a:xfrm>
            <a:off x="7545431" y="1792224"/>
            <a:ext cx="4003441" cy="100965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rd 1 Text"/>
          <p:cNvSpPr txBox="1"/>
          <p:nvPr/>
        </p:nvSpPr>
        <p:spPr>
          <a:xfrm>
            <a:off x="7672431" y="1881124"/>
            <a:ext cx="3749441" cy="81915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입력 → 출력</a:t>
            </a:r>
            <a:endParaRPr lang="ko-KR" altLang="en-US" sz="1200" dirty="0"/>
          </a:p>
          <a:p>
            <a:pPr algn="l">
              <a:lnSpc>
                <a:spcPts val="15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자세 · 위경도 · 속력 V 를 받아 ECEF 속도를 낸다.</a:t>
            </a:r>
            <a:endParaRPr lang="ko-KR" altLang="en-US" sz="105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f_Tgt_InitState</a:t>
            </a: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 가 t = 0 에 한 번,</a:t>
            </a:r>
            <a:endParaRPr lang="ko-KR" altLang="en-US" sz="105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f_Tgt_Propagate</a:t>
            </a: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 가 스텝마다 세 번 부른다.</a:t>
            </a:r>
            <a:endParaRPr lang="ko-KR" altLang="en-US" sz="1050" dirty="0"/>
          </a:p>
        </p:txBody>
      </p:sp>
      <p:cxnSp>
        <p:nvCxnSpPr>
          <p:cNvPr id="14" name="Arrow 1"/>
          <p:cNvCxnSpPr/>
          <p:nvPr/>
        </p:nvCxnSpPr>
        <p:spPr>
          <a:xfrm>
            <a:off x="7221581" y="2116074"/>
            <a:ext cx="323850" cy="0"/>
          </a:xfrm>
          <a:prstGeom prst="line">
            <a:avLst/>
          </a:prstGeom>
          <a:ln w="15875">
            <a:solidFill>
              <a:srgbClr val="DC2626"/>
            </a:solidFill>
            <a:tailEnd type="triangle" w="med" len="med"/>
          </a:ln>
        </p:spPr>
      </p:cxnSp>
      <p:sp>
        <p:nvSpPr>
          <p:cNvPr id="15" name="Badge 1"/>
          <p:cNvSpPr/>
          <p:nvPr/>
        </p:nvSpPr>
        <p:spPr>
          <a:xfrm>
            <a:off x="7005681" y="2008124"/>
            <a:ext cx="215900" cy="21590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1</a:t>
            </a:r>
            <a:endParaRPr lang="ko-KR" altLang="en-US" sz="950" dirty="0"/>
          </a:p>
        </p:txBody>
      </p:sp>
      <p:sp>
        <p:nvSpPr>
          <p:cNvPr id="16" name="Card 2 Box"/>
          <p:cNvSpPr/>
          <p:nvPr/>
        </p:nvSpPr>
        <p:spPr>
          <a:xfrm>
            <a:off x="7545431" y="2890774"/>
            <a:ext cx="4003441" cy="819150"/>
          </a:xfrm>
          <a:prstGeom prst="roundRect">
            <a:avLst>
              <a:gd name="adj" fmla="val 6000"/>
            </a:avLst>
          </a:prstGeom>
          <a:solidFill>
            <a:srgbClr val="FEF5E7"/>
          </a:solidFill>
          <a:ln w="12700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rd 2 Text"/>
          <p:cNvSpPr txBox="1"/>
          <p:nvPr/>
        </p:nvSpPr>
        <p:spPr>
          <a:xfrm>
            <a:off x="7672431" y="2979674"/>
            <a:ext cx="3749441" cy="62865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i="0" dirty="0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② 동체 → NED</a:t>
            </a:r>
            <a:endParaRPr lang="ko-KR" altLang="en-US" sz="1200" dirty="0"/>
          </a:p>
          <a:p>
            <a:pPr algn="l">
              <a:lnSpc>
                <a:spcPts val="15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기수 방향으로만 가는 속도 (V, 0, 0) 를 자세각으로</a:t>
            </a:r>
            <a:endParaRPr lang="ko-KR" altLang="en-US" sz="105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돌려 북 · 동 · 아래 성분으로 나눈다.</a:t>
            </a:r>
            <a:endParaRPr lang="ko-KR" altLang="en-US" sz="1050" dirty="0"/>
          </a:p>
        </p:txBody>
      </p:sp>
      <p:cxnSp>
        <p:nvCxnSpPr>
          <p:cNvPr id="18" name="Arrow 2"/>
          <p:cNvCxnSpPr/>
          <p:nvPr/>
        </p:nvCxnSpPr>
        <p:spPr>
          <a:xfrm>
            <a:off x="7221581" y="3147949"/>
            <a:ext cx="323850" cy="0"/>
          </a:xfrm>
          <a:prstGeom prst="line">
            <a:avLst/>
          </a:prstGeom>
          <a:ln w="15875">
            <a:solidFill>
              <a:srgbClr val="D97706"/>
            </a:solidFill>
            <a:tailEnd type="triangle" w="med" len="med"/>
          </a:ln>
        </p:spPr>
      </p:cxnSp>
      <p:sp>
        <p:nvSpPr>
          <p:cNvPr id="19" name="Badge 2"/>
          <p:cNvSpPr/>
          <p:nvPr/>
        </p:nvSpPr>
        <p:spPr>
          <a:xfrm>
            <a:off x="7005681" y="3039999"/>
            <a:ext cx="215900" cy="215900"/>
          </a:xfrm>
          <a:prstGeom prst="ellipse">
            <a:avLst/>
          </a:prstGeom>
          <a:solidFill>
            <a:srgbClr val="D9770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2</a:t>
            </a:r>
            <a:endParaRPr lang="ko-KR" altLang="en-US" sz="950" dirty="0"/>
          </a:p>
        </p:txBody>
      </p:sp>
      <p:sp>
        <p:nvSpPr>
          <p:cNvPr id="20" name="Card 3 Box"/>
          <p:cNvSpPr/>
          <p:nvPr/>
        </p:nvSpPr>
        <p:spPr>
          <a:xfrm>
            <a:off x="7545431" y="3798824"/>
            <a:ext cx="4003441" cy="1009650"/>
          </a:xfrm>
          <a:prstGeom prst="roundRect">
            <a:avLst>
              <a:gd name="adj" fmla="val 6000"/>
            </a:avLst>
          </a:prstGeom>
          <a:solidFill>
            <a:srgbClr val="E8F6F0"/>
          </a:solidFill>
          <a:ln w="12700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rd 3 Text"/>
          <p:cNvSpPr txBox="1"/>
          <p:nvPr/>
        </p:nvSpPr>
        <p:spPr>
          <a:xfrm>
            <a:off x="7672431" y="3887724"/>
            <a:ext cx="3749441" cy="81915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③ NED → ECEF</a:t>
            </a:r>
            <a:endParaRPr lang="ko-KR" altLang="en-US" sz="1200" dirty="0"/>
          </a:p>
          <a:p>
            <a:pPr algn="l">
              <a:lnSpc>
                <a:spcPts val="15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표적 위치의 위도 · 경도로 한 번 더 돌린다.</a:t>
            </a:r>
            <a:endParaRPr lang="ko-KR" altLang="en-US" sz="105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속도는 방향만 바꾸면 되므로 기준점 자리에</a:t>
            </a:r>
            <a:endParaRPr lang="ko-KR" altLang="en-US" sz="105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0 을 넣는다.</a:t>
            </a:r>
            <a:endParaRPr lang="ko-KR" altLang="en-US" sz="1050" dirty="0"/>
          </a:p>
        </p:txBody>
      </p:sp>
      <p:cxnSp>
        <p:nvCxnSpPr>
          <p:cNvPr id="22" name="Arrow 3"/>
          <p:cNvCxnSpPr/>
          <p:nvPr/>
        </p:nvCxnSpPr>
        <p:spPr>
          <a:xfrm>
            <a:off x="7221581" y="3865499"/>
            <a:ext cx="323850" cy="117475"/>
          </a:xfrm>
          <a:prstGeom prst="bentConnector3">
            <a:avLst>
              <a:gd name="adj1" fmla="val 50000"/>
            </a:avLst>
          </a:prstGeom>
          <a:ln w="15875">
            <a:solidFill>
              <a:srgbClr val="059669"/>
            </a:solidFill>
            <a:tailEnd type="triangle" w="med" len="med"/>
          </a:ln>
        </p:spPr>
      </p:cxnSp>
      <p:sp>
        <p:nvSpPr>
          <p:cNvPr id="23" name="Badge 3"/>
          <p:cNvSpPr/>
          <p:nvPr/>
        </p:nvSpPr>
        <p:spPr>
          <a:xfrm>
            <a:off x="7005681" y="3757549"/>
            <a:ext cx="215900" cy="215900"/>
          </a:xfrm>
          <a:prstGeom prst="ellipse">
            <a:avLst/>
          </a:prstGeom>
          <a:solidFill>
            <a:srgbClr val="059669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3</a:t>
            </a:r>
            <a:endParaRPr lang="ko-KR" altLang="en-US" sz="950" dirty="0"/>
          </a:p>
        </p:txBody>
      </p:sp>
      <p:sp>
        <p:nvSpPr>
          <p:cNvPr id="24" name="File Tag"/>
          <p:cNvSpPr txBox="1"/>
          <p:nvPr/>
        </p:nvSpPr>
        <p:spPr>
          <a:xfrm>
            <a:off x="6214872" y="1345184"/>
            <a:ext cx="5334000" cy="2032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Consolas"/>
                <a:ea typeface="맑은 고딕"/>
                <a:cs typeface="맑은 고딕"/>
              </a:rPr>
              <a:t>TargetSimCore/src/TargetSim.c</a:t>
            </a:r>
            <a:endParaRPr lang="ko-KR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02. 궤적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공식 ② 한 스텝 전진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  <a:ea typeface="맑은 고딕"/>
              </a:rPr>
              <a:t>어느 지점의 속도를 쓰느냐에 따라 결과가 달라집니다.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14</a:t>
            </a:r>
          </a:p>
        </p:txBody>
      </p:sp>
      <p:pic>
        <p:nvPicPr>
          <p:cNvPr id="8" name="Picture 7" descr="s12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760720" cy="34015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50992"/>
            <a:ext cx="5760720" cy="475488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반 스텝 지점의 속도가 구간 전체의 평균에 가까워서,</a:t>
            </a:r>
            <a:endParaRPr lang="ko-KR" altLang="en-US" sz="950" dirty="0"/>
          </a:p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같은 간격으로 계산해도 덜 벗어난다.</a:t>
            </a:r>
            <a:endParaRPr lang="ko-KR" altLang="en-US" sz="950" dirty="0"/>
          </a:p>
        </p:txBody>
      </p:sp>
      <p:cxnSp>
        <p:nvCxnSpPr>
          <p:cNvPr id="10" name="Connector 9"/>
          <p:cNvCxnSpPr/>
          <p:nvPr/>
        </p:nvCxnSpPr>
        <p:spPr>
          <a:xfrm>
            <a:off x="6656832" y="2194560"/>
            <a:ext cx="0" cy="3895344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903720" y="2157984"/>
            <a:ext cx="4645152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쓰는 식</a:t>
            </a:r>
            <a:endParaRPr lang="ko-KR" altLang="en-US" sz="1150" dirty="0"/>
          </a:p>
        </p:txBody>
      </p:sp>
      <p:cxnSp>
        <p:nvCxnSpPr>
          <p:cNvPr id="12" name="Connector 11"/>
          <p:cNvCxnSpPr/>
          <p:nvPr/>
        </p:nvCxnSpPr>
        <p:spPr>
          <a:xfrm>
            <a:off x="6903720" y="2487168"/>
            <a:ext cx="4645152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pic>
        <p:nvPicPr>
          <p:cNvPr id="13" name="Picture 12" descr="s12_v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2615184"/>
            <a:ext cx="2478024" cy="245364"/>
          </a:xfrm>
          <a:prstGeom prst="rect">
            <a:avLst/>
          </a:prstGeom>
        </p:spPr>
      </p:pic>
      <p:pic>
        <p:nvPicPr>
          <p:cNvPr id="14" name="Picture 13" descr="s12_st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6872" y="2980944"/>
            <a:ext cx="1536192" cy="2362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3346704"/>
            <a:ext cx="4645152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반 스텝 지점의 위치와 자세로 속도를 한 번 더 만든다.</a:t>
            </a:r>
            <a:endParaRPr lang="ko-KR" altLang="en-US" sz="950" dirty="0"/>
          </a:p>
        </p:txBody>
      </p:sp>
      <p:sp>
        <p:nvSpPr>
          <p:cNvPr id="16" name="Rectangle 15"/>
          <p:cNvSpPr/>
          <p:nvPr/>
        </p:nvSpPr>
        <p:spPr>
          <a:xfrm>
            <a:off x="6903720" y="3675888"/>
            <a:ext cx="4645152" cy="822960"/>
          </a:xfrm>
          <a:prstGeom prst="rect">
            <a:avLst/>
          </a:prstGeom>
          <a:solidFill>
            <a:srgbClr val="F7F9FC"/>
          </a:solidFill>
          <a:ln w="9525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3749040"/>
            <a:ext cx="4279392" cy="237744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두 번 계산하는 이유</a:t>
            </a:r>
            <a:endParaRPr lang="ko-KR" altLang="en-US" sz="1000" dirty="0"/>
          </a:p>
        </p:txBody>
      </p:sp>
      <p:sp>
        <p:nvSpPr>
          <p:cNvPr id="18" name="TextBox 17"/>
          <p:cNvSpPr txBox="1"/>
          <p:nvPr/>
        </p:nvSpPr>
        <p:spPr>
          <a:xfrm>
            <a:off x="7086600" y="4023360"/>
            <a:ext cx="4279392" cy="43891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표적은 돌고 있고 지구도 둥글어서,</a:t>
            </a:r>
            <a:endParaRPr lang="ko-KR" altLang="en-US" sz="100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한 스텝 안에서도 방향이 계속 바뀐다.</a:t>
            </a:r>
            <a:endParaRPr lang="ko-KR" altLang="en-US" sz="1000" dirty="0"/>
          </a:p>
        </p:txBody>
      </p:sp>
      <p:cxnSp>
        <p:nvCxnSpPr>
          <p:cNvPr id="20" name="Connector 19"/>
          <p:cNvCxnSpPr/>
          <p:nvPr/>
        </p:nvCxnSpPr>
        <p:spPr>
          <a:xfrm>
            <a:off x="6903720" y="4974336"/>
            <a:ext cx="4645152" cy="0"/>
          </a:xfrm>
          <a:prstGeom prst="line">
            <a:avLst/>
          </a:prstGeom>
          <a:ln w="9525">
            <a:solidFill>
              <a:srgbClr val="D2D9E5"/>
            </a:solidFill>
          </a:ln>
        </p:spPr>
      </p:cxnSp>
      <p:sp>
        <p:nvSpPr>
          <p:cNvPr id="21" name="TextBox Legend Title"/>
          <p:cNvSpPr txBox="1"/>
          <p:nvPr/>
        </p:nvSpPr>
        <p:spPr>
          <a:xfrm>
            <a:off x="6903720" y="4645152"/>
            <a:ext cx="4645152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식에 쓰인 기호</a:t>
            </a:r>
            <a:endParaRPr lang="ko-KR" altLang="en-US" sz="1050" dirty="0"/>
          </a:p>
        </p:txBody>
      </p:sp>
      <p:sp>
        <p:nvSpPr>
          <p:cNvPr id="22" name="TextBox Legend Symbol 0"/>
          <p:cNvSpPr txBox="1"/>
          <p:nvPr/>
        </p:nvSpPr>
        <p:spPr>
          <a:xfrm>
            <a:off x="6949440" y="5075784"/>
            <a:ext cx="1005840" cy="25603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i="1" dirty="0">
                <a:solidFill>
                  <a:srgbClr val="1B2740"/>
                </a:solidFill>
                <a:latin typeface="Times New Roman"/>
                <a:ea typeface="맑은 고딕"/>
                <a:cs typeface="맑은 고딕"/>
              </a:rPr>
              <a:t>p</a:t>
            </a:r>
            <a:r>
              <a:rPr lang="ko-KR" altLang="en-US" sz="1250" b="0" i="1" baseline="-25000" dirty="0">
                <a:solidFill>
                  <a:srgbClr val="1B2740"/>
                </a:solidFill>
                <a:latin typeface="Times New Roman"/>
                <a:ea typeface="맑은 고딕"/>
                <a:cs typeface="맑은 고딕"/>
              </a:rPr>
              <a:t>k</a:t>
            </a:r>
            <a:r>
              <a:rPr lang="ko-KR" altLang="en-US" sz="1250" b="0" i="0" dirty="0">
                <a:solidFill>
                  <a:srgbClr val="1B2740"/>
                </a:solidFill>
                <a:latin typeface="Times New Roman"/>
                <a:ea typeface="맑은 고딕"/>
                <a:cs typeface="맑은 고딕"/>
              </a:rPr>
              <a:t>,  </a:t>
            </a:r>
            <a:r>
              <a:rPr lang="ko-KR" altLang="en-US" sz="1250" b="1" i="1" dirty="0">
                <a:solidFill>
                  <a:srgbClr val="1B2740"/>
                </a:solidFill>
                <a:latin typeface="Times New Roman"/>
                <a:ea typeface="맑은 고딕"/>
                <a:cs typeface="맑은 고딕"/>
              </a:rPr>
              <a:t>v</a:t>
            </a:r>
            <a:r>
              <a:rPr lang="ko-KR" altLang="en-US" sz="1250" b="0" i="1" baseline="-25000" dirty="0">
                <a:solidFill>
                  <a:srgbClr val="1B2740"/>
                </a:solidFill>
                <a:latin typeface="Times New Roman"/>
                <a:ea typeface="맑은 고딕"/>
                <a:cs typeface="맑은 고딕"/>
              </a:rPr>
              <a:t>k</a:t>
            </a:r>
            <a:endParaRPr lang="ko-KR" altLang="en-US" sz="1250" dirty="0"/>
          </a:p>
        </p:txBody>
      </p:sp>
      <p:sp>
        <p:nvSpPr>
          <p:cNvPr id="23" name="TextBox Legend Text 0"/>
          <p:cNvSpPr txBox="1"/>
          <p:nvPr/>
        </p:nvSpPr>
        <p:spPr>
          <a:xfrm>
            <a:off x="8001000" y="5075784"/>
            <a:ext cx="3547872" cy="25603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스텝 시작의 위치 · 속도 (ECEF)</a:t>
            </a:r>
            <a:endParaRPr lang="ko-KR" altLang="en-US" sz="1000" dirty="0"/>
          </a:p>
        </p:txBody>
      </p:sp>
      <p:sp>
        <p:nvSpPr>
          <p:cNvPr id="24" name="TextBox Legend Symbol 1"/>
          <p:cNvSpPr txBox="1"/>
          <p:nvPr/>
        </p:nvSpPr>
        <p:spPr>
          <a:xfrm>
            <a:off x="6949440" y="5331816"/>
            <a:ext cx="1005840" cy="25603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i="1" dirty="0">
                <a:solidFill>
                  <a:srgbClr val="1B2740"/>
                </a:solidFill>
                <a:latin typeface="Times New Roman"/>
                <a:ea typeface="맑은 고딕"/>
                <a:cs typeface="맑은 고딕"/>
              </a:rPr>
              <a:t>Θ</a:t>
            </a:r>
            <a:r>
              <a:rPr lang="ko-KR" altLang="en-US" sz="1250" b="0" i="1" baseline="-25000" dirty="0">
                <a:solidFill>
                  <a:srgbClr val="1B2740"/>
                </a:solidFill>
                <a:latin typeface="Times New Roman"/>
                <a:ea typeface="맑은 고딕"/>
                <a:cs typeface="맑은 고딕"/>
              </a:rPr>
              <a:t>k</a:t>
            </a:r>
            <a:r>
              <a:rPr lang="ko-KR" altLang="en-US" sz="1250" b="0" i="0" dirty="0">
                <a:solidFill>
                  <a:srgbClr val="1B2740"/>
                </a:solidFill>
                <a:latin typeface="Times New Roman"/>
                <a:ea typeface="맑은 고딕"/>
                <a:cs typeface="맑은 고딕"/>
              </a:rPr>
              <a:t>,  </a:t>
            </a:r>
            <a:r>
              <a:rPr lang="ko-KR" altLang="en-US" sz="1250" b="0" i="1" dirty="0">
                <a:solidFill>
                  <a:srgbClr val="1B2740"/>
                </a:solidFill>
                <a:latin typeface="Times New Roman"/>
                <a:ea typeface="맑은 고딕"/>
                <a:cs typeface="맑은 고딕"/>
              </a:rPr>
              <a:t>ω</a:t>
            </a:r>
            <a:endParaRPr lang="ko-KR" altLang="en-US" sz="1250" dirty="0"/>
          </a:p>
        </p:txBody>
      </p:sp>
      <p:sp>
        <p:nvSpPr>
          <p:cNvPr id="25" name="TextBox Legend Text 1"/>
          <p:cNvSpPr txBox="1"/>
          <p:nvPr/>
        </p:nvSpPr>
        <p:spPr>
          <a:xfrm>
            <a:off x="8001000" y="5331816"/>
            <a:ext cx="3547872" cy="25603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스텝 시작 자세, 기동 각속도</a:t>
            </a:r>
            <a:endParaRPr lang="ko-KR" altLang="en-US" sz="1000" dirty="0"/>
          </a:p>
        </p:txBody>
      </p:sp>
      <p:sp>
        <p:nvSpPr>
          <p:cNvPr id="26" name="TextBox Legend Symbol 2"/>
          <p:cNvSpPr txBox="1"/>
          <p:nvPr/>
        </p:nvSpPr>
        <p:spPr>
          <a:xfrm>
            <a:off x="6949440" y="5587848"/>
            <a:ext cx="1005840" cy="25603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0" i="0" dirty="0">
                <a:solidFill>
                  <a:srgbClr val="1B2740"/>
                </a:solidFill>
                <a:latin typeface="Times New Roman"/>
                <a:ea typeface="맑은 고딕"/>
                <a:cs typeface="맑은 고딕"/>
              </a:rPr>
              <a:t>Δ</a:t>
            </a:r>
            <a:r>
              <a:rPr lang="ko-KR" altLang="en-US" sz="1250" b="0" i="1" dirty="0">
                <a:solidFill>
                  <a:srgbClr val="1B2740"/>
                </a:solidFill>
                <a:latin typeface="Times New Roman"/>
                <a:ea typeface="맑은 고딕"/>
                <a:cs typeface="맑은 고딕"/>
              </a:rPr>
              <a:t>t</a:t>
            </a:r>
            <a:endParaRPr lang="ko-KR" altLang="en-US" sz="1250" dirty="0"/>
          </a:p>
        </p:txBody>
      </p:sp>
      <p:sp>
        <p:nvSpPr>
          <p:cNvPr id="27" name="TextBox Legend Text 2"/>
          <p:cNvSpPr txBox="1"/>
          <p:nvPr/>
        </p:nvSpPr>
        <p:spPr>
          <a:xfrm>
            <a:off x="8001000" y="5587848"/>
            <a:ext cx="3547872" cy="25603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간격 (0.1 s)</a:t>
            </a:r>
            <a:endParaRPr lang="ko-KR" altLang="en-US" sz="1000" dirty="0"/>
          </a:p>
        </p:txBody>
      </p:sp>
      <p:sp>
        <p:nvSpPr>
          <p:cNvPr id="28" name="TextBox Legend Symbol 3"/>
          <p:cNvSpPr txBox="1"/>
          <p:nvPr/>
        </p:nvSpPr>
        <p:spPr>
          <a:xfrm>
            <a:off x="6949440" y="5843880"/>
            <a:ext cx="1005840" cy="25603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50" b="1" i="1" dirty="0">
                <a:solidFill>
                  <a:srgbClr val="1B2740"/>
                </a:solidFill>
                <a:latin typeface="Times New Roman"/>
                <a:ea typeface="맑은 고딕"/>
                <a:cs typeface="맑은 고딕"/>
              </a:rPr>
              <a:t>v</a:t>
            </a:r>
            <a:r>
              <a:rPr lang="ko-KR" altLang="en-US" sz="1250" b="0" i="1" baseline="-25000" dirty="0">
                <a:solidFill>
                  <a:srgbClr val="1B2740"/>
                </a:solidFill>
                <a:latin typeface="Times New Roman"/>
                <a:ea typeface="맑은 고딕"/>
                <a:cs typeface="맑은 고딕"/>
              </a:rPr>
              <a:t>mid</a:t>
            </a:r>
            <a:endParaRPr lang="ko-KR" altLang="en-US" sz="1250" dirty="0"/>
          </a:p>
        </p:txBody>
      </p:sp>
      <p:sp>
        <p:nvSpPr>
          <p:cNvPr id="29" name="TextBox Legend Text 3"/>
          <p:cNvSpPr txBox="1"/>
          <p:nvPr/>
        </p:nvSpPr>
        <p:spPr>
          <a:xfrm>
            <a:off x="8001000" y="5843880"/>
            <a:ext cx="3547872" cy="256032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반 스텝 지점에서 다시 구한 속도</a:t>
            </a:r>
            <a:endParaRPr lang="ko-KR" alt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02. 궤적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코드 ⑤ 한 스텝 전진 (1/2)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15</a:t>
            </a:r>
          </a:p>
        </p:txBody>
      </p:sp>
      <p:sp>
        <p:nvSpPr>
          <p:cNvPr id="8" name="Code Panel"/>
          <p:cNvSpPr/>
          <p:nvPr/>
        </p:nvSpPr>
        <p:spPr>
          <a:xfrm>
            <a:off x="640080" y="1792224"/>
            <a:ext cx="6836639" cy="3448050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lock 1"/>
          <p:cNvSpPr/>
          <p:nvPr/>
        </p:nvSpPr>
        <p:spPr>
          <a:xfrm>
            <a:off x="703580" y="2392934"/>
            <a:ext cx="6709639" cy="989330"/>
          </a:xfrm>
          <a:prstGeom prst="roundRect">
            <a:avLst>
              <a:gd name="adj" fmla="val 7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lock 2"/>
          <p:cNvSpPr/>
          <p:nvPr/>
        </p:nvSpPr>
        <p:spPr>
          <a:xfrm>
            <a:off x="703580" y="3402584"/>
            <a:ext cx="6709639" cy="741680"/>
          </a:xfrm>
          <a:prstGeom prst="roundRect">
            <a:avLst>
              <a:gd name="adj" fmla="val 7000"/>
            </a:avLst>
          </a:prstGeom>
          <a:solidFill>
            <a:srgbClr val="FEF5E7"/>
          </a:solidFill>
          <a:ln w="12700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lock 3"/>
          <p:cNvSpPr/>
          <p:nvPr/>
        </p:nvSpPr>
        <p:spPr>
          <a:xfrm>
            <a:off x="703580" y="4164584"/>
            <a:ext cx="6709639" cy="989330"/>
          </a:xfrm>
          <a:prstGeom prst="roundRect">
            <a:avLst>
              <a:gd name="adj" fmla="val 7000"/>
            </a:avLst>
          </a:prstGeom>
          <a:solidFill>
            <a:srgbClr val="E8F6F0"/>
          </a:solidFill>
          <a:ln w="12700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ode Text"/>
          <p:cNvSpPr txBox="1"/>
          <p:nvPr/>
        </p:nvSpPr>
        <p:spPr>
          <a:xfrm>
            <a:off x="817880" y="1906524"/>
            <a:ext cx="6481039" cy="321945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static VOID f_Tgt_Propagate(ST_TargetState *st_State, const STRUCT_Coord_Attitude *st_Rate,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                    FLOAT64 headingSpeed, FLOAT64 stepTime, FLOAT64 nextTime)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{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반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스텝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자세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halfStep = 0.5 * stepTime;</a:t>
            </a:r>
            <a:endParaRPr lang="ko-KR" altLang="en-US" sz="1000" dirty="0"/>
          </a:p>
          <a:p>
            <a:pPr algn="l">
              <a:lnSpc>
                <a:spcPts val="6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st_AttMid.Roll  = st_State-&gt;st_Att.Roll  + (st_Rate-&gt;Roll  * halfStep);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st_AttMid.Pitch = st_State-&gt;st_Att.Pitch + (st_Rate-&gt;Pitch * halfStep);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st_AttMid.Yaw   = st_State-&gt;st_Att.Yaw   + (st_Rate-&gt;Yaw   * halfStep);</a:t>
            </a:r>
            <a:endParaRPr lang="ko-KR" altLang="en-US" sz="1000" dirty="0"/>
          </a:p>
          <a:p>
            <a:pPr algn="l">
              <a:lnSpc>
                <a:spcPts val="6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스텝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자세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st_Next.st_Att.Roll  = st_State-&gt;st_Att.Roll  + (st_Rate-&gt;Roll  * stepTime);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st_Next.st_Att.Pitch = st_State-&gt;st_Att.Pitch + (st_Rate-&gt;Pitch * stepTime);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st_Next.st_Att.Yaw   = st_State-&gt;st_Att.Yaw   + (st_Rate-&gt;Yaw   * stepTime);</a:t>
            </a:r>
            <a:endParaRPr lang="ko-KR" altLang="en-US" sz="1000" dirty="0"/>
          </a:p>
          <a:p>
            <a:pPr algn="l">
              <a:lnSpc>
                <a:spcPts val="6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반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스텝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스텝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시작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속도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사용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st_VelStart = f_Tgt_GetVelEcef(&amp;st_State-&gt;st_Att, &amp;st_State-&gt;st_Lla, headingSpeed);</a:t>
            </a:r>
            <a:endParaRPr lang="ko-KR" altLang="en-US" sz="1000" dirty="0"/>
          </a:p>
          <a:p>
            <a:pPr algn="l">
              <a:lnSpc>
                <a:spcPts val="6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st_PosMid.x = st_State-&gt;st_PosEcef.x + (st_VelStart.x * halfStep);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st_PosMid.y = st_State-&gt;st_PosEcef.y + (st_VelStart.y * halfStep);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st_PosMid.z = st_State-&gt;st_PosEcef.z + (st_VelStart.z * halfStep);</a:t>
            </a:r>
            <a:endParaRPr lang="ko-KR" altLang="en-US" sz="1000" dirty="0"/>
          </a:p>
        </p:txBody>
      </p:sp>
      <p:sp>
        <p:nvSpPr>
          <p:cNvPr id="12" name="Card 1 Box"/>
          <p:cNvSpPr/>
          <p:nvPr/>
        </p:nvSpPr>
        <p:spPr>
          <a:xfrm>
            <a:off x="7908519" y="2507869"/>
            <a:ext cx="3640353" cy="75946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ard 1 Text"/>
          <p:cNvSpPr txBox="1"/>
          <p:nvPr/>
        </p:nvSpPr>
        <p:spPr>
          <a:xfrm>
            <a:off x="8035519" y="2596769"/>
            <a:ext cx="3386353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반 스텝 뒤 자세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자세 + 각속도 × 0.05 s 로 구한다.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기동 구간 안에서는 각속도가 일정하다.</a:t>
            </a:r>
            <a:endParaRPr lang="ko-KR" altLang="en-US" sz="950" dirty="0"/>
          </a:p>
        </p:txBody>
      </p:sp>
      <p:cxnSp>
        <p:nvCxnSpPr>
          <p:cNvPr id="14" name="Arrow 1"/>
          <p:cNvCxnSpPr/>
          <p:nvPr/>
        </p:nvCxnSpPr>
        <p:spPr>
          <a:xfrm>
            <a:off x="7584669" y="2887599"/>
            <a:ext cx="323850" cy="0"/>
          </a:xfrm>
          <a:prstGeom prst="line">
            <a:avLst/>
          </a:prstGeom>
          <a:ln w="15875">
            <a:solidFill>
              <a:srgbClr val="DC2626"/>
            </a:solidFill>
            <a:tailEnd type="triangle" w="med" len="med"/>
          </a:ln>
        </p:spPr>
      </p:cxnSp>
      <p:sp>
        <p:nvSpPr>
          <p:cNvPr id="15" name="Badge 1"/>
          <p:cNvSpPr/>
          <p:nvPr/>
        </p:nvSpPr>
        <p:spPr>
          <a:xfrm>
            <a:off x="7368769" y="2779649"/>
            <a:ext cx="215900" cy="21590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1</a:t>
            </a:r>
            <a:endParaRPr lang="ko-KR" altLang="en-US" sz="950" dirty="0"/>
          </a:p>
        </p:txBody>
      </p:sp>
      <p:sp>
        <p:nvSpPr>
          <p:cNvPr id="16" name="Card 2 Box"/>
          <p:cNvSpPr/>
          <p:nvPr/>
        </p:nvSpPr>
        <p:spPr>
          <a:xfrm>
            <a:off x="7908519" y="3393694"/>
            <a:ext cx="3640353" cy="759460"/>
          </a:xfrm>
          <a:prstGeom prst="roundRect">
            <a:avLst>
              <a:gd name="adj" fmla="val 6000"/>
            </a:avLst>
          </a:prstGeom>
          <a:solidFill>
            <a:srgbClr val="FEF5E7"/>
          </a:solidFill>
          <a:ln w="12700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ard 2 Text"/>
          <p:cNvSpPr txBox="1"/>
          <p:nvPr/>
        </p:nvSpPr>
        <p:spPr>
          <a:xfrm>
            <a:off x="8035519" y="3482594"/>
            <a:ext cx="3386353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② 스텝 끝 자세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같은 식에 0.1 s 를 곱한 다음 스텝 자세.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st_Next</a:t>
            </a: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 에 모아 두고 마지막에 반영한다.</a:t>
            </a:r>
            <a:endParaRPr lang="ko-KR" altLang="en-US" sz="950" dirty="0"/>
          </a:p>
        </p:txBody>
      </p:sp>
      <p:cxnSp>
        <p:nvCxnSpPr>
          <p:cNvPr id="18" name="Arrow 2"/>
          <p:cNvCxnSpPr/>
          <p:nvPr/>
        </p:nvCxnSpPr>
        <p:spPr>
          <a:xfrm>
            <a:off x="7584669" y="3773424"/>
            <a:ext cx="323850" cy="0"/>
          </a:xfrm>
          <a:prstGeom prst="line">
            <a:avLst/>
          </a:prstGeom>
          <a:ln w="15875">
            <a:solidFill>
              <a:srgbClr val="D97706"/>
            </a:solidFill>
            <a:tailEnd type="triangle" w="med" len="med"/>
          </a:ln>
        </p:spPr>
      </p:cxnSp>
      <p:sp>
        <p:nvSpPr>
          <p:cNvPr id="19" name="Badge 2"/>
          <p:cNvSpPr/>
          <p:nvPr/>
        </p:nvSpPr>
        <p:spPr>
          <a:xfrm>
            <a:off x="7368769" y="3665474"/>
            <a:ext cx="215900" cy="215900"/>
          </a:xfrm>
          <a:prstGeom prst="ellipse">
            <a:avLst/>
          </a:prstGeom>
          <a:solidFill>
            <a:srgbClr val="D9770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2</a:t>
            </a:r>
            <a:endParaRPr lang="ko-KR" altLang="en-US" sz="950" dirty="0"/>
          </a:p>
        </p:txBody>
      </p:sp>
      <p:sp>
        <p:nvSpPr>
          <p:cNvPr id="20" name="Card 3 Box"/>
          <p:cNvSpPr/>
          <p:nvPr/>
        </p:nvSpPr>
        <p:spPr>
          <a:xfrm>
            <a:off x="7908519" y="4279519"/>
            <a:ext cx="3640353" cy="759460"/>
          </a:xfrm>
          <a:prstGeom prst="roundRect">
            <a:avLst>
              <a:gd name="adj" fmla="val 6000"/>
            </a:avLst>
          </a:prstGeom>
          <a:solidFill>
            <a:srgbClr val="E8F6F0"/>
          </a:solidFill>
          <a:ln w="12700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ard 3 Text"/>
          <p:cNvSpPr txBox="1"/>
          <p:nvPr/>
        </p:nvSpPr>
        <p:spPr>
          <a:xfrm>
            <a:off x="8035519" y="4368419"/>
            <a:ext cx="3386353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③ 반 스텝 뒤 위치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스텝 시작 속도로 0.05 s 먼저 가 본 위치.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여기서 대표 속도를 구한다 (다음 장).</a:t>
            </a:r>
            <a:endParaRPr lang="ko-KR" altLang="en-US" sz="950" dirty="0"/>
          </a:p>
        </p:txBody>
      </p:sp>
      <p:cxnSp>
        <p:nvCxnSpPr>
          <p:cNvPr id="22" name="Arrow 3"/>
          <p:cNvCxnSpPr/>
          <p:nvPr/>
        </p:nvCxnSpPr>
        <p:spPr>
          <a:xfrm>
            <a:off x="7584669" y="4659249"/>
            <a:ext cx="323850" cy="0"/>
          </a:xfrm>
          <a:prstGeom prst="line">
            <a:avLst/>
          </a:prstGeom>
          <a:ln w="15875">
            <a:solidFill>
              <a:srgbClr val="059669"/>
            </a:solidFill>
            <a:tailEnd type="triangle" w="med" len="med"/>
          </a:ln>
        </p:spPr>
      </p:cxnSp>
      <p:sp>
        <p:nvSpPr>
          <p:cNvPr id="23" name="Badge 3"/>
          <p:cNvSpPr/>
          <p:nvPr/>
        </p:nvSpPr>
        <p:spPr>
          <a:xfrm>
            <a:off x="7368769" y="4551299"/>
            <a:ext cx="215900" cy="215900"/>
          </a:xfrm>
          <a:prstGeom prst="ellipse">
            <a:avLst/>
          </a:prstGeom>
          <a:solidFill>
            <a:srgbClr val="059669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3</a:t>
            </a:r>
            <a:endParaRPr lang="ko-KR" altLang="en-US" sz="950" dirty="0"/>
          </a:p>
        </p:txBody>
      </p:sp>
      <p:sp>
        <p:nvSpPr>
          <p:cNvPr id="24" name="File Tag"/>
          <p:cNvSpPr txBox="1"/>
          <p:nvPr/>
        </p:nvSpPr>
        <p:spPr>
          <a:xfrm>
            <a:off x="6214872" y="1345184"/>
            <a:ext cx="5334000" cy="2032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Consolas"/>
                <a:ea typeface="맑은 고딕"/>
                <a:cs typeface="맑은 고딕"/>
              </a:rPr>
              <a:t>TargetSimCore/src/TargetSim.c  (선언 생략, 앞부분)</a:t>
            </a:r>
            <a:endParaRPr lang="ko-KR" alt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03. 결과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시뮬레이션 조건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  <a:ea typeface="맑은 고딕"/>
              </a:rPr>
              <a:t>과제 명세 2항의 값을 그대로 넣었습니다.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12848"/>
            <a:ext cx="10908792" cy="512064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212848"/>
            <a:ext cx="1764792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4056" y="2212848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위도 [°]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4216" y="2212848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경도 [°]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94376" y="2212848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고도 [m]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4536" y="2212848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속력 [m/s]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4696" y="2212848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Roll [°]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6" y="2212848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Pitch [°]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5016" y="2212848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맑은 고딕"/>
              </a:rPr>
              <a:t>Yaw [°]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24912"/>
            <a:ext cx="10908792" cy="512064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724912"/>
            <a:ext cx="1764792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2740"/>
                </a:solidFill>
                <a:latin typeface="맑은 고딕"/>
              </a:rPr>
              <a:t>플랫폼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34056" y="2724912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32.0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6" y="2724912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126.0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94376" y="2724912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74536" y="2724912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4696" y="2724912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4856" y="2724912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15016" y="2724912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3236976"/>
            <a:ext cx="1764792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2740"/>
                </a:solidFill>
                <a:latin typeface="맑은 고딕"/>
              </a:rPr>
              <a:t>대함 표적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34056" y="3236976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32.125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14216" y="3236976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126.03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6" y="3236976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4536" y="3236976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54696" y="3236976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4856" y="3236976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15016" y="3236976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270  (서)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3749039"/>
            <a:ext cx="10908792" cy="512064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6384" y="3749039"/>
            <a:ext cx="1764792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2740"/>
                </a:solidFill>
                <a:latin typeface="맑은 고딕"/>
              </a:rPr>
              <a:t>대공 표적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3749039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32.12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216" y="3749039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126.0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94376" y="3749039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300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74536" y="3749039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54696" y="3749039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34856" y="3749039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15016" y="3749039"/>
            <a:ext cx="109728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180  (남)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4517136"/>
            <a:ext cx="352044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4517136"/>
            <a:ext cx="50292" cy="16276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70001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시간 60 s · 간격 0.1 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047488"/>
            <a:ext cx="3017520" cy="9692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스텝 600 회, 표본 601 개.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시각 = 스텝 번호 × 0.1 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43400" y="4517136"/>
            <a:ext cx="352044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43400" y="4517136"/>
            <a:ext cx="50292" cy="16276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17720" y="470001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플랫폼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17720" y="5047488"/>
            <a:ext cx="3017520" cy="9692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위도 32°, 경도 126° 에 정지해 있다.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궤적 그림은 이 위치를 원점으로 그린다.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46719" y="4517136"/>
            <a:ext cx="3502152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46719" y="4517136"/>
            <a:ext cx="50292" cy="162763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4700016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두 표적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5047488"/>
            <a:ext cx="2999232" cy="9692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대함: 서쪽으로 30 m/s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대공: 고도 300 m, 남쪽으로 200 m/s</a:t>
            </a:r>
          </a:p>
          <a:p>
            <a:pPr algn="l">
              <a:lnSpc>
                <a:spcPct val="128000"/>
              </a:lnSpc>
            </a:pPr>
            <a:r>
              <a:rPr sz="1000" b="0">
                <a:solidFill>
                  <a:srgbClr val="4A5A7A"/>
                </a:solidFill>
                <a:latin typeface="맑은 고딕"/>
              </a:rPr>
              <a:t>둘 다 기동 없이 직진한다.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03. 결과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결과 ① 명세 조건 60초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230368"/>
            <a:ext cx="352044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230368"/>
            <a:ext cx="50292" cy="95097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41324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563EB"/>
                </a:solidFill>
                <a:latin typeface="맑은 고딕"/>
              </a:rPr>
              <a:t>대함 표적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76072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서쪽으로 1.8 km 직진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(30 m/s × 60 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5230368"/>
            <a:ext cx="3520440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5230368"/>
            <a:ext cx="50292" cy="95097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541324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059669"/>
                </a:solidFill>
                <a:latin typeface="맑은 고딕"/>
              </a:rPr>
              <a:t>대공 표적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76072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남쪽으로 12 km 직진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(200 m/s × 60 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5230368"/>
            <a:ext cx="3502152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19" y="5230368"/>
            <a:ext cx="50292" cy="95097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5413248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D97706"/>
                </a:solidFill>
                <a:latin typeface="맑은 고딕"/>
              </a:rPr>
              <a:t>고도 · 속력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5760720"/>
            <a:ext cx="299923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두 표적 모두 60 초 동안</a:t>
            </a:r>
          </a:p>
          <a:p>
            <a:pPr algn="l">
              <a:lnSpc>
                <a:spcPct val="128000"/>
              </a:lnSpc>
            </a:pPr>
            <a:r>
              <a:rPr sz="960" b="0">
                <a:solidFill>
                  <a:srgbClr val="4A5A7A"/>
                </a:solidFill>
                <a:latin typeface="맑은 고딕"/>
              </a:rPr>
              <a:t>처음 넣은 값 그대로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50" b="0" i="0" dirty="0">
                <a:solidFill>
                  <a:srgbClr val="4A5A7A"/>
                </a:solidFill>
                <a:latin typeface="맑은 고딕"/>
                <a:ea typeface="맑은 고딕"/>
                <a:cs typeface="맑은 고딕"/>
              </a:rPr>
              <a:t>과제 조건 그대로 60초를 0.1초 간격으로 계산한 결과입니다.</a:t>
            </a:r>
            <a:endParaRPr lang="ko-KR" altLang="en-US" sz="1150" dirty="0"/>
          </a:p>
        </p:txBody>
      </p:sp>
      <p:pic>
        <p:nvPicPr>
          <p:cNvPr id="21" name="Picture 20" descr="s15_sp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066544"/>
            <a:ext cx="10451592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03. 결과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결과 ② 기동 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  <a:ea typeface="맑은 고딕"/>
              </a:rPr>
              <a:t>초기값과 시간, 간격은 명세 그대로 두고 기동 10개만 추가했습니다.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19</a:t>
            </a:r>
          </a:p>
        </p:txBody>
      </p:sp>
      <p:pic>
        <p:nvPicPr>
          <p:cNvPr id="9" name="Picture 8" descr="s16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8840"/>
            <a:ext cx="3854881" cy="4005072"/>
          </a:xfrm>
          <a:prstGeom prst="rect">
            <a:avLst/>
          </a:prstGeom>
        </p:spPr>
      </p:pic>
      <p:sp>
        <p:nvSpPr>
          <p:cNvPr id="10" name="Demo Card 1 Box"/>
          <p:cNvSpPr/>
          <p:nvPr/>
        </p:nvSpPr>
        <p:spPr>
          <a:xfrm>
            <a:off x="4850561" y="2148840"/>
            <a:ext cx="6698311" cy="819150"/>
          </a:xfrm>
          <a:prstGeom prst="roundRect">
            <a:avLst>
              <a:gd name="adj" fmla="val 6000"/>
            </a:avLst>
          </a:prstGeom>
          <a:solidFill>
            <a:srgbClr val="EBF2FE"/>
          </a:solidFill>
          <a:ln w="12700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Demo Card 1 Text"/>
          <p:cNvSpPr txBox="1"/>
          <p:nvPr/>
        </p:nvSpPr>
        <p:spPr>
          <a:xfrm>
            <a:off x="4977561" y="2237740"/>
            <a:ext cx="6444311" cy="62865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대함 표적 (파랑)  ·  기동 4 개, Yaw ±1 G</a:t>
            </a:r>
            <a:endParaRPr lang="ko-KR" altLang="en-US" sz="1200" dirty="0"/>
          </a:p>
          <a:p>
            <a:pPr algn="l">
              <a:lnSpc>
                <a:spcPts val="15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서쪽으로 가다가 남서 → 서 → 북서 → 서로 한 번 비켜 간다.</a:t>
            </a:r>
            <a:endParaRPr lang="ko-KR" altLang="en-US" sz="100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한 번에 45° 씩 돌고, 출발한 위도로 돌아온다.</a:t>
            </a:r>
            <a:endParaRPr lang="ko-KR" altLang="en-US" sz="1000" dirty="0"/>
          </a:p>
        </p:txBody>
      </p:sp>
      <p:sp>
        <p:nvSpPr>
          <p:cNvPr id="12" name="Demo Card 2 Box"/>
          <p:cNvSpPr/>
          <p:nvPr/>
        </p:nvSpPr>
        <p:spPr>
          <a:xfrm>
            <a:off x="4850561" y="3741801"/>
            <a:ext cx="6698311" cy="81915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Demo Card 2 Text"/>
          <p:cNvSpPr txBox="1"/>
          <p:nvPr/>
        </p:nvSpPr>
        <p:spPr>
          <a:xfrm>
            <a:off x="4977561" y="3830701"/>
            <a:ext cx="6444311" cy="62865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대공 표적 (빨강)  ·  기동 6 개, Yaw ±8.2 G</a:t>
            </a:r>
            <a:endParaRPr lang="ko-KR" altLang="en-US" sz="1200" dirty="0"/>
          </a:p>
          <a:p>
            <a:pPr algn="l">
              <a:lnSpc>
                <a:spcPts val="15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남쪽으로 출발해 동 → 남 → 서 → 남 → 동 → 남서로 방향을 바꾼다.</a:t>
            </a:r>
            <a:endParaRPr lang="ko-KR" altLang="en-US" sz="100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한 번에 90° 씩 돌고, 마지막 기동만 150° 를 돈다.</a:t>
            </a:r>
            <a:endParaRPr lang="ko-KR" altLang="en-US" sz="1000" dirty="0"/>
          </a:p>
        </p:txBody>
      </p:sp>
      <p:sp>
        <p:nvSpPr>
          <p:cNvPr id="14" name="Demo Card 3 Box"/>
          <p:cNvSpPr/>
          <p:nvPr/>
        </p:nvSpPr>
        <p:spPr>
          <a:xfrm>
            <a:off x="4850561" y="5334762"/>
            <a:ext cx="6698311" cy="819150"/>
          </a:xfrm>
          <a:prstGeom prst="roundRect">
            <a:avLst>
              <a:gd name="adj" fmla="val 6000"/>
            </a:avLst>
          </a:prstGeom>
          <a:solidFill>
            <a:srgbClr val="E8F6F0"/>
          </a:solidFill>
          <a:ln w="12700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Demo Card 3 Text"/>
          <p:cNvSpPr txBox="1"/>
          <p:nvPr/>
        </p:nvSpPr>
        <p:spPr>
          <a:xfrm>
            <a:off x="4977561" y="5423662"/>
            <a:ext cx="6444311" cy="62865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20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방위각 그래프 읽기</a:t>
            </a:r>
            <a:endParaRPr lang="ko-KR" altLang="en-US" sz="1200" dirty="0"/>
          </a:p>
          <a:p>
            <a:pPr algn="l">
              <a:lnSpc>
                <a:spcPts val="15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색칠한 부분이 기동 구간이다. 구간 안에서만 방위각이 일정하게 바뀌고,</a:t>
            </a:r>
            <a:endParaRPr lang="ko-KR" altLang="en-US" sz="1000" dirty="0"/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구간 밖에서는 방위각이 그대로다 (직진).</a:t>
            </a:r>
            <a:endParaRPr lang="ko-KR" alt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03. 결과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  <a:ea typeface="맑은 고딕"/>
              </a:rPr>
              <a:t>과제 요구사항과 구현 내용을 한 장에 정리했습니다.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85415"/>
            <a:ext cx="10908792" cy="457200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185415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</a:rPr>
              <a:t>과제 요구사항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2664" y="2185415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맑은 고딕"/>
              </a:rPr>
              <a:t>구현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42615"/>
            <a:ext cx="10908792" cy="457200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2642615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2740"/>
                </a:solidFill>
                <a:latin typeface="맑은 고딕"/>
              </a:rPr>
              <a:t>표적 10 · 기동 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642615"/>
            <a:ext cx="60899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고정 배열로 상한, 추가 단추에서 개수 제한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099815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2740"/>
                </a:solidFill>
                <a:latin typeface="맑은 고딕"/>
              </a:rPr>
              <a:t>위치 LLA · 속도 V_heading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12664" y="3099815"/>
            <a:ext cx="60899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ST_TargetInit (방향은 자세각이 담당)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57015"/>
            <a:ext cx="10908792" cy="457200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557015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2740"/>
                </a:solidFill>
                <a:latin typeface="맑은 고딕"/>
              </a:rPr>
              <a:t>기동 = G · 축 · 시작 · 종료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2664" y="3557015"/>
            <a:ext cx="60899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ST_TargetManeuver 4 필드, 구간 [시작, 종료)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014215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2740"/>
                </a:solidFill>
                <a:latin typeface="맑은 고딕"/>
              </a:rPr>
              <a:t>ECEF 에서 상태 갱신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4014215"/>
            <a:ext cx="60899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위치 · 속도는 ECEF, 출력용 LLA 병행 보관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71415"/>
            <a:ext cx="10908792" cy="457200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4471415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2740"/>
                </a:solidFill>
                <a:latin typeface="맑은 고딕"/>
              </a:rPr>
              <a:t>V_heading → Vx, Vy, Vz  (추가 고민)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12664" y="4471415"/>
            <a:ext cx="60899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동체 → NED → ECEF, 회전 두 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" y="4928615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2740"/>
                </a:solidFill>
                <a:latin typeface="맑은 고딕"/>
              </a:rPr>
              <a:t>좌표변환 코드 이용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12664" y="4928615"/>
            <a:ext cx="60899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CoordinateTransform.c, matrixCalcLib.c 함수 호출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385815"/>
            <a:ext cx="10908792" cy="457200"/>
          </a:xfrm>
          <a:prstGeom prst="rect">
            <a:avLst/>
          </a:prstGeom>
          <a:solidFill>
            <a:srgbClr val="ED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5385815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2740"/>
                </a:solidFill>
                <a:latin typeface="맑은 고딕"/>
              </a:rPr>
              <a:t>결과를 LLA 로 출력하고 그림으로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12664" y="5385815"/>
            <a:ext cx="60899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A5A7A"/>
                </a:solidFill>
                <a:latin typeface="맑은 고딕"/>
              </a:rPr>
              <a:t>표, CSV, 궤적 · 고도 그림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9808" y="71323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6336792"/>
            <a:ext cx="10698480" cy="0"/>
          </a:xfrm>
          <a:prstGeom prst="rect">
            <a:avLst/>
          </a:prstGeom>
          <a:noFill/>
          <a:ln w="9525">
            <a:solidFill>
              <a:srgbClr val="4A5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788920"/>
            <a:ext cx="12191695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AEB9CC"/>
                </a:solidFill>
                <a:latin typeface="맑은 고딕"/>
              </a:rPr>
              <a:t>질문 주시면 답변드리겠습니다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02. 궤적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코드 ① 초기화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8</a:t>
            </a:r>
          </a:p>
        </p:txBody>
      </p:sp>
      <p:sp>
        <p:nvSpPr>
          <p:cNvPr id="8" name="Code Panel"/>
          <p:cNvSpPr/>
          <p:nvPr/>
        </p:nvSpPr>
        <p:spPr>
          <a:xfrm>
            <a:off x="640080" y="1792224"/>
            <a:ext cx="6703972" cy="3279140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lock 1"/>
          <p:cNvSpPr/>
          <p:nvPr/>
        </p:nvSpPr>
        <p:spPr>
          <a:xfrm>
            <a:off x="703580" y="2401824"/>
            <a:ext cx="6576972" cy="200660"/>
          </a:xfrm>
          <a:prstGeom prst="roundRect">
            <a:avLst>
              <a:gd name="adj" fmla="val 7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lock 2"/>
          <p:cNvSpPr/>
          <p:nvPr/>
        </p:nvSpPr>
        <p:spPr>
          <a:xfrm>
            <a:off x="703580" y="2635504"/>
            <a:ext cx="6576972" cy="345440"/>
          </a:xfrm>
          <a:prstGeom prst="roundRect">
            <a:avLst>
              <a:gd name="adj" fmla="val 7000"/>
            </a:avLst>
          </a:prstGeom>
          <a:solidFill>
            <a:srgbClr val="FEF5E7"/>
          </a:solidFill>
          <a:ln w="12700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lock 3"/>
          <p:cNvSpPr/>
          <p:nvPr/>
        </p:nvSpPr>
        <p:spPr>
          <a:xfrm>
            <a:off x="703580" y="3013964"/>
            <a:ext cx="6576972" cy="490220"/>
          </a:xfrm>
          <a:prstGeom prst="roundRect">
            <a:avLst>
              <a:gd name="adj" fmla="val 7000"/>
            </a:avLst>
          </a:prstGeom>
          <a:solidFill>
            <a:srgbClr val="E8F6F0"/>
          </a:solidFill>
          <a:ln w="12700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lock 4"/>
          <p:cNvSpPr/>
          <p:nvPr/>
        </p:nvSpPr>
        <p:spPr>
          <a:xfrm>
            <a:off x="703580" y="3537204"/>
            <a:ext cx="6576972" cy="1303020"/>
          </a:xfrm>
          <a:prstGeom prst="roundRect">
            <a:avLst>
              <a:gd name="adj" fmla="val 7000"/>
            </a:avLst>
          </a:prstGeom>
          <a:solidFill>
            <a:srgbClr val="EBF2FE"/>
          </a:solidFill>
          <a:ln w="12700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ode Text"/>
          <p:cNvSpPr txBox="1"/>
          <p:nvPr/>
        </p:nvSpPr>
        <p:spPr>
          <a:xfrm>
            <a:off x="817880" y="1906524"/>
            <a:ext cx="6348372" cy="305054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VOID f_Tgt_InitSim(ST_SimState *st_Sim, const ST_SimConfig *st_Config)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{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ST_SimSample *st_Sample = &amp;st_Sim-&gt;st_Sample;</a:t>
            </a:r>
            <a:endParaRPr lang="ko-KR" altLang="en-US" sz="900" dirty="0"/>
          </a:p>
          <a:p>
            <a:pPr algn="l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st_Sim-&gt;st_Config = *st_Config;</a:t>
            </a:r>
            <a:endParaRPr lang="ko-KR" altLang="en-US" sz="900" dirty="0"/>
          </a:p>
          <a:p>
            <a:pPr algn="l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스텝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st_Sim-&gt;nStepNum = (INT32)(st_Config-&gt;durationTime / st_Config-&gt;stepTime);</a:t>
            </a:r>
            <a:endParaRPr lang="ko-KR" altLang="en-US" sz="900" dirty="0"/>
          </a:p>
          <a:p>
            <a:pPr algn="l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st_Sample-&gt;simTime    = 0.0;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st_Sample-&gt;nStepIndex = 0;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st_Sample-&gt;nTargetNum = st_Config-&gt;nTargetNum;</a:t>
            </a:r>
            <a:endParaRPr lang="ko-KR" altLang="en-US" sz="900" dirty="0"/>
          </a:p>
          <a:p>
            <a:pPr algn="l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플랫폼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표적의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t = 0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f_Tgt_InitState(&amp;st_Sample-&gt;st_Platform, &amp;st_Config-&gt;st_Platform.st_InitLla,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            &amp;st_Config-&gt;st_Platform.st_InitAtt, st_Config-&gt;st_Platform.headingSpeed);</a:t>
            </a:r>
            <a:endParaRPr lang="ko-KR" altLang="en-US" sz="900" dirty="0"/>
          </a:p>
          <a:p>
            <a:pPr algn="l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for (nTarget = 0; nTarget &lt; st_Config-&gt;nTargetNum; nTarget++)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{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f_Tgt_InitState(&amp;st_Sample-&gt;st_Target[nTarget], &amp;st_Config-&gt;st_Target[nTarget].st_InitLla,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    &amp;st_Config-&gt;st_Target[nTarget].st_InitAtt, st_Config-&gt;st_Target[nTarget].headingSpeed);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}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}</a:t>
            </a:r>
            <a:endParaRPr lang="ko-KR" altLang="en-US" sz="900" dirty="0"/>
          </a:p>
        </p:txBody>
      </p:sp>
      <p:sp>
        <p:nvSpPr>
          <p:cNvPr id="13" name="Card 1 Box"/>
          <p:cNvSpPr/>
          <p:nvPr/>
        </p:nvSpPr>
        <p:spPr>
          <a:xfrm>
            <a:off x="7775852" y="2111756"/>
            <a:ext cx="3773020" cy="75946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rd 1 Text"/>
          <p:cNvSpPr txBox="1"/>
          <p:nvPr/>
        </p:nvSpPr>
        <p:spPr>
          <a:xfrm>
            <a:off x="7902852" y="2200656"/>
            <a:ext cx="3519020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설정 사본 보관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설정 전체를 </a:t>
            </a: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st_Sim</a:t>
            </a: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 안에 복사해 두고,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스텝을 진행할 때는 이 사본을 읽는다.</a:t>
            </a:r>
            <a:endParaRPr lang="ko-KR" altLang="en-US" sz="950" dirty="0"/>
          </a:p>
        </p:txBody>
      </p:sp>
      <p:cxnSp>
        <p:nvCxnSpPr>
          <p:cNvPr id="15" name="Arrow 1"/>
          <p:cNvCxnSpPr/>
          <p:nvPr/>
        </p:nvCxnSpPr>
        <p:spPr>
          <a:xfrm>
            <a:off x="7452002" y="2502154"/>
            <a:ext cx="323850" cy="0"/>
          </a:xfrm>
          <a:prstGeom prst="line">
            <a:avLst/>
          </a:prstGeom>
          <a:ln w="15875">
            <a:solidFill>
              <a:srgbClr val="DC2626"/>
            </a:solidFill>
            <a:tailEnd type="triangle" w="med" len="med"/>
          </a:ln>
        </p:spPr>
      </p:cxnSp>
      <p:sp>
        <p:nvSpPr>
          <p:cNvPr id="16" name="Badge 1"/>
          <p:cNvSpPr/>
          <p:nvPr/>
        </p:nvSpPr>
        <p:spPr>
          <a:xfrm>
            <a:off x="7236102" y="2394204"/>
            <a:ext cx="215900" cy="21590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1</a:t>
            </a:r>
            <a:endParaRPr lang="ko-KR" altLang="en-US" sz="950" dirty="0"/>
          </a:p>
        </p:txBody>
      </p:sp>
      <p:sp>
        <p:nvSpPr>
          <p:cNvPr id="17" name="Card 2 Box"/>
          <p:cNvSpPr/>
          <p:nvPr/>
        </p:nvSpPr>
        <p:spPr>
          <a:xfrm>
            <a:off x="7775852" y="2960116"/>
            <a:ext cx="3773020" cy="759460"/>
          </a:xfrm>
          <a:prstGeom prst="roundRect">
            <a:avLst>
              <a:gd name="adj" fmla="val 6000"/>
            </a:avLst>
          </a:prstGeom>
          <a:solidFill>
            <a:srgbClr val="FEF5E7"/>
          </a:solidFill>
          <a:ln w="12700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rd 2 Text"/>
          <p:cNvSpPr txBox="1"/>
          <p:nvPr/>
        </p:nvSpPr>
        <p:spPr>
          <a:xfrm>
            <a:off x="7902852" y="3049016"/>
            <a:ext cx="3519020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② 스텝 수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전체 시간을 간격으로 나눈다.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60 s / 0.1 s = 600 스텝, 표본은 601 개.</a:t>
            </a:r>
            <a:endParaRPr lang="ko-KR" altLang="en-US" sz="950" dirty="0"/>
          </a:p>
        </p:txBody>
      </p:sp>
      <p:cxnSp>
        <p:nvCxnSpPr>
          <p:cNvPr id="19" name="Arrow 2"/>
          <p:cNvCxnSpPr/>
          <p:nvPr/>
        </p:nvCxnSpPr>
        <p:spPr>
          <a:xfrm>
            <a:off x="7452002" y="2808224"/>
            <a:ext cx="323850" cy="336042"/>
          </a:xfrm>
          <a:prstGeom prst="bentConnector3">
            <a:avLst>
              <a:gd name="adj1" fmla="val 72000"/>
            </a:avLst>
          </a:prstGeom>
          <a:ln w="15875">
            <a:solidFill>
              <a:srgbClr val="D97706"/>
            </a:solidFill>
            <a:tailEnd type="triangle" w="med" len="med"/>
          </a:ln>
        </p:spPr>
      </p:cxnSp>
      <p:sp>
        <p:nvSpPr>
          <p:cNvPr id="20" name="Badge 2"/>
          <p:cNvSpPr/>
          <p:nvPr/>
        </p:nvSpPr>
        <p:spPr>
          <a:xfrm>
            <a:off x="7236102" y="2700274"/>
            <a:ext cx="215900" cy="215900"/>
          </a:xfrm>
          <a:prstGeom prst="ellipse">
            <a:avLst/>
          </a:prstGeom>
          <a:solidFill>
            <a:srgbClr val="D9770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2</a:t>
            </a:r>
            <a:endParaRPr lang="ko-KR" altLang="en-US" sz="950" dirty="0"/>
          </a:p>
        </p:txBody>
      </p:sp>
      <p:sp>
        <p:nvSpPr>
          <p:cNvPr id="21" name="Card 3 Box"/>
          <p:cNvSpPr/>
          <p:nvPr/>
        </p:nvSpPr>
        <p:spPr>
          <a:xfrm>
            <a:off x="7775852" y="3808476"/>
            <a:ext cx="3773020" cy="759460"/>
          </a:xfrm>
          <a:prstGeom prst="roundRect">
            <a:avLst>
              <a:gd name="adj" fmla="val 6000"/>
            </a:avLst>
          </a:prstGeom>
          <a:solidFill>
            <a:srgbClr val="E8F6F0"/>
          </a:solidFill>
          <a:ln w="12700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ard 3 Text"/>
          <p:cNvSpPr txBox="1"/>
          <p:nvPr/>
        </p:nvSpPr>
        <p:spPr>
          <a:xfrm>
            <a:off x="7902852" y="3897376"/>
            <a:ext cx="3519020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③ 표본 0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시각 0, 스텝 번호 0, 표적 수를 채운다.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st_Sample</a:t>
            </a: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 은 늘 가장 최근 표본이다.</a:t>
            </a:r>
            <a:endParaRPr lang="ko-KR" altLang="en-US" sz="950" dirty="0"/>
          </a:p>
        </p:txBody>
      </p:sp>
      <p:cxnSp>
        <p:nvCxnSpPr>
          <p:cNvPr id="23" name="Arrow 3"/>
          <p:cNvCxnSpPr/>
          <p:nvPr/>
        </p:nvCxnSpPr>
        <p:spPr>
          <a:xfrm>
            <a:off x="7452002" y="3259074"/>
            <a:ext cx="323850" cy="733552"/>
          </a:xfrm>
          <a:prstGeom prst="bentConnector3">
            <a:avLst>
              <a:gd name="adj1" fmla="val 50000"/>
            </a:avLst>
          </a:prstGeom>
          <a:ln w="15875">
            <a:solidFill>
              <a:srgbClr val="059669"/>
            </a:solidFill>
            <a:tailEnd type="triangle" w="med" len="med"/>
          </a:ln>
        </p:spPr>
      </p:cxnSp>
      <p:sp>
        <p:nvSpPr>
          <p:cNvPr id="24" name="Badge 3"/>
          <p:cNvSpPr/>
          <p:nvPr/>
        </p:nvSpPr>
        <p:spPr>
          <a:xfrm>
            <a:off x="7236102" y="3151124"/>
            <a:ext cx="215900" cy="215900"/>
          </a:xfrm>
          <a:prstGeom prst="ellipse">
            <a:avLst/>
          </a:prstGeom>
          <a:solidFill>
            <a:srgbClr val="059669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3</a:t>
            </a:r>
            <a:endParaRPr lang="ko-KR" altLang="en-US" sz="950" dirty="0"/>
          </a:p>
        </p:txBody>
      </p:sp>
      <p:sp>
        <p:nvSpPr>
          <p:cNvPr id="25" name="Card 4 Box"/>
          <p:cNvSpPr/>
          <p:nvPr/>
        </p:nvSpPr>
        <p:spPr>
          <a:xfrm>
            <a:off x="7775852" y="4656836"/>
            <a:ext cx="3773020" cy="1506220"/>
          </a:xfrm>
          <a:prstGeom prst="roundRect">
            <a:avLst>
              <a:gd name="adj" fmla="val 6000"/>
            </a:avLst>
          </a:prstGeom>
          <a:solidFill>
            <a:srgbClr val="EBF2FE"/>
          </a:solidFill>
          <a:ln w="12700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rd 4 Text"/>
          <p:cNvSpPr txBox="1"/>
          <p:nvPr/>
        </p:nvSpPr>
        <p:spPr>
          <a:xfrm>
            <a:off x="7902852" y="4745736"/>
            <a:ext cx="3519020" cy="3987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④ 객체별 t = 0 상태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f_Tgt_InitState</a:t>
            </a: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 가 객체 하나의 상태를 만든다.</a:t>
            </a:r>
            <a:endParaRPr lang="ko-KR" altLang="en-US" sz="950" dirty="0"/>
          </a:p>
        </p:txBody>
      </p:sp>
      <p:sp>
        <p:nvSpPr>
          <p:cNvPr id="27" name="Card 4 Mini"/>
          <p:cNvSpPr/>
          <p:nvPr/>
        </p:nvSpPr>
        <p:spPr>
          <a:xfrm>
            <a:off x="7902852" y="5208016"/>
            <a:ext cx="3519020" cy="64516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ard 4 Mini Text"/>
          <p:cNvSpPr txBox="1"/>
          <p:nvPr/>
        </p:nvSpPr>
        <p:spPr>
          <a:xfrm>
            <a:off x="7979052" y="5271516"/>
            <a:ext cx="3366620" cy="5181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st_State-&gt;st_PosEcef = f_Trans_Lla_To_Ecef(</a:t>
            </a:r>
            <a:endParaRPr lang="ko-KR" altLang="en-US" sz="800" dirty="0"/>
          </a:p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st_InitLla-&gt;Lon, st_InitLla-&gt;Lat, st_InitLla-&gt;Alt);</a:t>
            </a:r>
            <a:endParaRPr lang="ko-KR" altLang="en-US" sz="800" dirty="0"/>
          </a:p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st_State-&gt;st_VelEcef = f_Tgt_GetVelEcef(</a:t>
            </a:r>
            <a:endParaRPr lang="ko-KR" altLang="en-US" sz="800" dirty="0"/>
          </a:p>
          <a:p>
            <a:pPr algn="l">
              <a:lnSpc>
                <a:spcPts val="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8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st_InitAtt, st_InitLla, headingSpeed);</a:t>
            </a:r>
            <a:endParaRPr lang="ko-KR" altLang="en-US" sz="800" dirty="0"/>
          </a:p>
        </p:txBody>
      </p:sp>
      <p:sp>
        <p:nvSpPr>
          <p:cNvPr id="29" name="Card 4 After"/>
          <p:cNvSpPr txBox="1"/>
          <p:nvPr/>
        </p:nvSpPr>
        <p:spPr>
          <a:xfrm>
            <a:off x="7902852" y="5891276"/>
            <a:ext cx="3519020" cy="1701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위치는 LLA → ECEF, 속도는 코드 ④ 로 만든다.</a:t>
            </a:r>
            <a:endParaRPr lang="ko-KR" altLang="en-US" sz="950" dirty="0"/>
          </a:p>
        </p:txBody>
      </p:sp>
      <p:cxnSp>
        <p:nvCxnSpPr>
          <p:cNvPr id="30" name="Arrow 4"/>
          <p:cNvCxnSpPr/>
          <p:nvPr/>
        </p:nvCxnSpPr>
        <p:spPr>
          <a:xfrm>
            <a:off x="7452002" y="4188714"/>
            <a:ext cx="323850" cy="652272"/>
          </a:xfrm>
          <a:prstGeom prst="bentConnector3">
            <a:avLst>
              <a:gd name="adj1" fmla="val 27999"/>
            </a:avLst>
          </a:prstGeom>
          <a:ln w="15875">
            <a:solidFill>
              <a:srgbClr val="2563EB"/>
            </a:solidFill>
            <a:tailEnd type="triangle" w="med" len="med"/>
          </a:ln>
        </p:spPr>
      </p:cxnSp>
      <p:sp>
        <p:nvSpPr>
          <p:cNvPr id="31" name="Badge 4"/>
          <p:cNvSpPr/>
          <p:nvPr/>
        </p:nvSpPr>
        <p:spPr>
          <a:xfrm>
            <a:off x="7236102" y="4080764"/>
            <a:ext cx="215900" cy="215900"/>
          </a:xfrm>
          <a:prstGeom prst="ellipse">
            <a:avLst/>
          </a:prstGeom>
          <a:solidFill>
            <a:srgbClr val="2563EB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4</a:t>
            </a:r>
            <a:endParaRPr lang="ko-KR" altLang="en-US" sz="950" dirty="0"/>
          </a:p>
        </p:txBody>
      </p:sp>
      <p:sp>
        <p:nvSpPr>
          <p:cNvPr id="32" name="File Tag"/>
          <p:cNvSpPr txBox="1"/>
          <p:nvPr/>
        </p:nvSpPr>
        <p:spPr>
          <a:xfrm>
            <a:off x="6214872" y="1345184"/>
            <a:ext cx="5334000" cy="2032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Consolas"/>
                <a:ea typeface="맑은 고딕"/>
                <a:cs typeface="맑은 고딕"/>
              </a:rPr>
              <a:t>TargetSimCore/src/TargetSim.c  (선언 일부 생략)</a:t>
            </a:r>
            <a:endParaRPr lang="ko-KR" alt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02. 궤적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코드 ② 한 스텝 진행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10</a:t>
            </a:r>
          </a:p>
        </p:txBody>
      </p:sp>
      <p:sp>
        <p:nvSpPr>
          <p:cNvPr id="8" name="Code Panel"/>
          <p:cNvSpPr/>
          <p:nvPr/>
        </p:nvSpPr>
        <p:spPr>
          <a:xfrm>
            <a:off x="640080" y="1792224"/>
            <a:ext cx="6703972" cy="3624580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lock 1"/>
          <p:cNvSpPr/>
          <p:nvPr/>
        </p:nvSpPr>
        <p:spPr>
          <a:xfrm>
            <a:off x="703580" y="2691384"/>
            <a:ext cx="6576972" cy="490220"/>
          </a:xfrm>
          <a:prstGeom prst="roundRect">
            <a:avLst>
              <a:gd name="adj" fmla="val 7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lock 2"/>
          <p:cNvSpPr/>
          <p:nvPr/>
        </p:nvSpPr>
        <p:spPr>
          <a:xfrm>
            <a:off x="703580" y="3214624"/>
            <a:ext cx="6576972" cy="490220"/>
          </a:xfrm>
          <a:prstGeom prst="roundRect">
            <a:avLst>
              <a:gd name="adj" fmla="val 7000"/>
            </a:avLst>
          </a:prstGeom>
          <a:solidFill>
            <a:srgbClr val="FEF5E7"/>
          </a:solidFill>
          <a:ln w="12700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lock 3"/>
          <p:cNvSpPr/>
          <p:nvPr/>
        </p:nvSpPr>
        <p:spPr>
          <a:xfrm>
            <a:off x="703580" y="3737864"/>
            <a:ext cx="6576972" cy="1069340"/>
          </a:xfrm>
          <a:prstGeom prst="roundRect">
            <a:avLst>
              <a:gd name="adj" fmla="val 7000"/>
            </a:avLst>
          </a:prstGeom>
          <a:solidFill>
            <a:srgbClr val="E8F6F0"/>
          </a:solidFill>
          <a:ln w="12700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lock 4"/>
          <p:cNvSpPr/>
          <p:nvPr/>
        </p:nvSpPr>
        <p:spPr>
          <a:xfrm>
            <a:off x="703580" y="4840224"/>
            <a:ext cx="6576972" cy="345440"/>
          </a:xfrm>
          <a:prstGeom prst="roundRect">
            <a:avLst>
              <a:gd name="adj" fmla="val 7000"/>
            </a:avLst>
          </a:prstGeom>
          <a:solidFill>
            <a:srgbClr val="EBF2FE"/>
          </a:solidFill>
          <a:ln w="12700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ode Text"/>
          <p:cNvSpPr txBox="1"/>
          <p:nvPr/>
        </p:nvSpPr>
        <p:spPr>
          <a:xfrm>
            <a:off x="817880" y="1906524"/>
            <a:ext cx="6348372" cy="33959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VOID f_Tgt_StepSim(ST_SimState *st_Sim)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{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const ST_SimConfig          *st_Config = &amp;st_Sim-&gt;st_Config;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const STRUCT_Coord_Attitude st_NoRate = { 0.0, 0.0, 0.0 };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ST_SimSample                *st_Sample = &amp;st_Sim-&gt;st_Sample;</a:t>
            </a:r>
            <a:endParaRPr lang="ko-KR" altLang="en-US" sz="900" dirty="0"/>
          </a:p>
          <a:p>
            <a:pPr algn="l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시각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스텝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* stepTime.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curTime  = (FLOAT64)st_Sample-&gt;nStepIndex * st_Config-&gt;stepTime;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nextTime = (FLOAT64)(st_Sample-&gt;nStepIndex + 1) * st_Config-&gt;stepTime;</a:t>
            </a:r>
            <a:endParaRPr lang="ko-KR" altLang="en-US" sz="900" dirty="0"/>
          </a:p>
          <a:p>
            <a:pPr algn="l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플랫폼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기동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각속도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0.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f_Tgt_Propagate(&amp;st_Sample-&gt;st_Platform, &amp;st_NoRate, st_Config-&gt;st_Platform.headingSpeed,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            st_Config-&gt;stepTime, nextTime);</a:t>
            </a:r>
            <a:endParaRPr lang="ko-KR" altLang="en-US" sz="900" dirty="0"/>
          </a:p>
          <a:p>
            <a:pPr algn="l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표적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현재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시각의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기동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각속도로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전진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for (nTarget = 0; nTarget &lt; st_Config-&gt;nTargetNum; nTarget++)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{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st_Rate = f_Tgt_GetAttRate(&amp;st_Config-&gt;st_Target[nTarget], curTime);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f_Tgt_Propagate(&amp;st_Sample-&gt;st_Target[nTarget], &amp;st_Rate,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                st_Config-&gt;st_Target[nTarget].headingSpeed, st_Config-&gt;stepTime, nextTime);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}</a:t>
            </a:r>
            <a:endParaRPr lang="ko-KR" altLang="en-US" sz="900" dirty="0"/>
          </a:p>
          <a:p>
            <a:pPr algn="l">
              <a:lnSpc>
                <a:spcPts val="7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st_Sample-&gt;nStepIndex = st_Sample-&gt;nStepIndex + 1;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st_Sample-&gt;simTime    = nextTime;</a:t>
            </a:r>
            <a:endParaRPr lang="ko-KR" altLang="en-US" sz="900" dirty="0"/>
          </a:p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}</a:t>
            </a:r>
            <a:endParaRPr lang="ko-KR" altLang="en-US" sz="900" dirty="0"/>
          </a:p>
        </p:txBody>
      </p:sp>
      <p:sp>
        <p:nvSpPr>
          <p:cNvPr id="13" name="Card 1 Box"/>
          <p:cNvSpPr/>
          <p:nvPr/>
        </p:nvSpPr>
        <p:spPr>
          <a:xfrm>
            <a:off x="7775852" y="2556764"/>
            <a:ext cx="3773020" cy="75946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rd 1 Text"/>
          <p:cNvSpPr txBox="1"/>
          <p:nvPr/>
        </p:nvSpPr>
        <p:spPr>
          <a:xfrm>
            <a:off x="7902852" y="2645664"/>
            <a:ext cx="3519020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시각 계산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스텝 번호 × 0.1 s 로 지금 시각과 다음 시각.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curTime</a:t>
            </a: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 은 기동 판정, </a:t>
            </a: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nextTime</a:t>
            </a: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 은 새 시각.</a:t>
            </a:r>
            <a:endParaRPr lang="ko-KR" altLang="en-US" sz="950" dirty="0"/>
          </a:p>
        </p:txBody>
      </p:sp>
      <p:cxnSp>
        <p:nvCxnSpPr>
          <p:cNvPr id="15" name="Arrow 1"/>
          <p:cNvCxnSpPr/>
          <p:nvPr/>
        </p:nvCxnSpPr>
        <p:spPr>
          <a:xfrm>
            <a:off x="7452002" y="2936494"/>
            <a:ext cx="323850" cy="0"/>
          </a:xfrm>
          <a:prstGeom prst="line">
            <a:avLst/>
          </a:prstGeom>
          <a:ln w="15875">
            <a:solidFill>
              <a:srgbClr val="DC2626"/>
            </a:solidFill>
            <a:tailEnd type="triangle" w="med" len="med"/>
          </a:ln>
        </p:spPr>
      </p:cxnSp>
      <p:sp>
        <p:nvSpPr>
          <p:cNvPr id="16" name="Badge 1"/>
          <p:cNvSpPr/>
          <p:nvPr/>
        </p:nvSpPr>
        <p:spPr>
          <a:xfrm>
            <a:off x="7236102" y="2828544"/>
            <a:ext cx="215900" cy="21590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1</a:t>
            </a:r>
            <a:endParaRPr lang="ko-KR" altLang="en-US" sz="950" dirty="0"/>
          </a:p>
        </p:txBody>
      </p:sp>
      <p:sp>
        <p:nvSpPr>
          <p:cNvPr id="17" name="Card 2 Box"/>
          <p:cNvSpPr/>
          <p:nvPr/>
        </p:nvSpPr>
        <p:spPr>
          <a:xfrm>
            <a:off x="7775852" y="3405124"/>
            <a:ext cx="3773020" cy="759460"/>
          </a:xfrm>
          <a:prstGeom prst="roundRect">
            <a:avLst>
              <a:gd name="adj" fmla="val 6000"/>
            </a:avLst>
          </a:prstGeom>
          <a:solidFill>
            <a:srgbClr val="FEF5E7"/>
          </a:solidFill>
          <a:ln w="12700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rd 2 Text"/>
          <p:cNvSpPr txBox="1"/>
          <p:nvPr/>
        </p:nvSpPr>
        <p:spPr>
          <a:xfrm>
            <a:off x="7902852" y="3494024"/>
            <a:ext cx="3519020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② 플랫폼 전진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기동이 없으므로 각속도 0 (</a:t>
            </a: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st_NoRate</a:t>
            </a: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) 을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넘겨 표적과 같은 함수로 전진시킨다.</a:t>
            </a:r>
            <a:endParaRPr lang="ko-KR" altLang="en-US" sz="950" dirty="0"/>
          </a:p>
        </p:txBody>
      </p:sp>
      <p:cxnSp>
        <p:nvCxnSpPr>
          <p:cNvPr id="19" name="Arrow 2"/>
          <p:cNvCxnSpPr/>
          <p:nvPr/>
        </p:nvCxnSpPr>
        <p:spPr>
          <a:xfrm>
            <a:off x="7452002" y="3459734"/>
            <a:ext cx="323850" cy="129540"/>
          </a:xfrm>
          <a:prstGeom prst="bentConnector3">
            <a:avLst>
              <a:gd name="adj1" fmla="val 72000"/>
            </a:avLst>
          </a:prstGeom>
          <a:ln w="15875">
            <a:solidFill>
              <a:srgbClr val="D97706"/>
            </a:solidFill>
            <a:tailEnd type="triangle" w="med" len="med"/>
          </a:ln>
        </p:spPr>
      </p:cxnSp>
      <p:sp>
        <p:nvSpPr>
          <p:cNvPr id="20" name="Badge 2"/>
          <p:cNvSpPr/>
          <p:nvPr/>
        </p:nvSpPr>
        <p:spPr>
          <a:xfrm>
            <a:off x="7236102" y="3351784"/>
            <a:ext cx="215900" cy="215900"/>
          </a:xfrm>
          <a:prstGeom prst="ellipse">
            <a:avLst/>
          </a:prstGeom>
          <a:solidFill>
            <a:srgbClr val="D9770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2</a:t>
            </a:r>
            <a:endParaRPr lang="ko-KR" altLang="en-US" sz="950" dirty="0"/>
          </a:p>
        </p:txBody>
      </p:sp>
      <p:sp>
        <p:nvSpPr>
          <p:cNvPr id="21" name="Card 3 Box"/>
          <p:cNvSpPr/>
          <p:nvPr/>
        </p:nvSpPr>
        <p:spPr>
          <a:xfrm>
            <a:off x="7775852" y="4253484"/>
            <a:ext cx="3773020" cy="759460"/>
          </a:xfrm>
          <a:prstGeom prst="roundRect">
            <a:avLst>
              <a:gd name="adj" fmla="val 6000"/>
            </a:avLst>
          </a:prstGeom>
          <a:solidFill>
            <a:srgbClr val="E8F6F0"/>
          </a:solidFill>
          <a:ln w="12700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ard 3 Text"/>
          <p:cNvSpPr txBox="1"/>
          <p:nvPr/>
        </p:nvSpPr>
        <p:spPr>
          <a:xfrm>
            <a:off x="7902852" y="4342384"/>
            <a:ext cx="3519020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③ 표적 전진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표적마다 지금 걸린 기동의 각속도를 구하고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(코드 ③) 그 각속도로 한 스텝 간다 (코드 ⑤).</a:t>
            </a:r>
            <a:endParaRPr lang="ko-KR" altLang="en-US" sz="950" dirty="0"/>
          </a:p>
        </p:txBody>
      </p:sp>
      <p:cxnSp>
        <p:nvCxnSpPr>
          <p:cNvPr id="23" name="Arrow 3"/>
          <p:cNvCxnSpPr/>
          <p:nvPr/>
        </p:nvCxnSpPr>
        <p:spPr>
          <a:xfrm>
            <a:off x="7452002" y="4272534"/>
            <a:ext cx="323850" cy="165100"/>
          </a:xfrm>
          <a:prstGeom prst="bentConnector3">
            <a:avLst>
              <a:gd name="adj1" fmla="val 50000"/>
            </a:avLst>
          </a:prstGeom>
          <a:ln w="15875">
            <a:solidFill>
              <a:srgbClr val="059669"/>
            </a:solidFill>
            <a:tailEnd type="triangle" w="med" len="med"/>
          </a:ln>
        </p:spPr>
      </p:cxnSp>
      <p:sp>
        <p:nvSpPr>
          <p:cNvPr id="24" name="Badge 3"/>
          <p:cNvSpPr/>
          <p:nvPr/>
        </p:nvSpPr>
        <p:spPr>
          <a:xfrm>
            <a:off x="7236102" y="4164584"/>
            <a:ext cx="215900" cy="215900"/>
          </a:xfrm>
          <a:prstGeom prst="ellipse">
            <a:avLst/>
          </a:prstGeom>
          <a:solidFill>
            <a:srgbClr val="059669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3</a:t>
            </a:r>
            <a:endParaRPr lang="ko-KR" altLang="en-US" sz="950" dirty="0"/>
          </a:p>
        </p:txBody>
      </p:sp>
      <p:sp>
        <p:nvSpPr>
          <p:cNvPr id="25" name="Card 4 Box"/>
          <p:cNvSpPr/>
          <p:nvPr/>
        </p:nvSpPr>
        <p:spPr>
          <a:xfrm>
            <a:off x="7775852" y="5101844"/>
            <a:ext cx="3773020" cy="929640"/>
          </a:xfrm>
          <a:prstGeom prst="roundRect">
            <a:avLst>
              <a:gd name="adj" fmla="val 6000"/>
            </a:avLst>
          </a:prstGeom>
          <a:solidFill>
            <a:srgbClr val="EBF2FE"/>
          </a:solidFill>
          <a:ln w="12700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rd 4 Text"/>
          <p:cNvSpPr txBox="1"/>
          <p:nvPr/>
        </p:nvSpPr>
        <p:spPr>
          <a:xfrm>
            <a:off x="7902852" y="5190744"/>
            <a:ext cx="3519020" cy="73914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④ 표본 갱신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스텝 번호와 시각을 한 칸 올린다.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UI 의 </a:t>
            </a: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CSimResult::f_Run</a:t>
            </a: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 이 600 번 불러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표본 601 개를 모은다.</a:t>
            </a:r>
            <a:endParaRPr lang="ko-KR" altLang="en-US" sz="950" dirty="0"/>
          </a:p>
        </p:txBody>
      </p:sp>
      <p:cxnSp>
        <p:nvCxnSpPr>
          <p:cNvPr id="27" name="Arrow 4"/>
          <p:cNvCxnSpPr/>
          <p:nvPr/>
        </p:nvCxnSpPr>
        <p:spPr>
          <a:xfrm>
            <a:off x="7452002" y="5012944"/>
            <a:ext cx="323850" cy="273050"/>
          </a:xfrm>
          <a:prstGeom prst="bentConnector3">
            <a:avLst>
              <a:gd name="adj1" fmla="val 27999"/>
            </a:avLst>
          </a:prstGeom>
          <a:ln w="15875">
            <a:solidFill>
              <a:srgbClr val="2563EB"/>
            </a:solidFill>
            <a:tailEnd type="triangle" w="med" len="med"/>
          </a:ln>
        </p:spPr>
      </p:cxnSp>
      <p:sp>
        <p:nvSpPr>
          <p:cNvPr id="28" name="Badge 4"/>
          <p:cNvSpPr/>
          <p:nvPr/>
        </p:nvSpPr>
        <p:spPr>
          <a:xfrm>
            <a:off x="7236102" y="4904994"/>
            <a:ext cx="215900" cy="215900"/>
          </a:xfrm>
          <a:prstGeom prst="ellipse">
            <a:avLst/>
          </a:prstGeom>
          <a:solidFill>
            <a:srgbClr val="2563EB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4</a:t>
            </a:r>
            <a:endParaRPr lang="ko-KR" altLang="en-US" sz="950" dirty="0"/>
          </a:p>
        </p:txBody>
      </p:sp>
      <p:sp>
        <p:nvSpPr>
          <p:cNvPr id="29" name="File Tag"/>
          <p:cNvSpPr txBox="1"/>
          <p:nvPr/>
        </p:nvSpPr>
        <p:spPr>
          <a:xfrm>
            <a:off x="6214872" y="1345184"/>
            <a:ext cx="5334000" cy="2032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Consolas"/>
                <a:ea typeface="맑은 고딕"/>
                <a:cs typeface="맑은 고딕"/>
              </a:rPr>
              <a:t>TargetSimCore/src/TargetSim.c  (선언 일부 생략)</a:t>
            </a:r>
            <a:endParaRPr lang="ko-KR" alt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02. 궤적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코드 ③ 기동 찾기와 각속도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11</a:t>
            </a:r>
          </a:p>
        </p:txBody>
      </p:sp>
      <p:sp>
        <p:nvSpPr>
          <p:cNvPr id="8" name="Code Panel"/>
          <p:cNvSpPr/>
          <p:nvPr/>
        </p:nvSpPr>
        <p:spPr>
          <a:xfrm>
            <a:off x="640080" y="1792224"/>
            <a:ext cx="7206709" cy="4259580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lock 1"/>
          <p:cNvSpPr/>
          <p:nvPr/>
        </p:nvSpPr>
        <p:spPr>
          <a:xfrm>
            <a:off x="703580" y="2135124"/>
            <a:ext cx="7079709" cy="312420"/>
          </a:xfrm>
          <a:prstGeom prst="roundRect">
            <a:avLst>
              <a:gd name="adj" fmla="val 7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lock 2"/>
          <p:cNvSpPr/>
          <p:nvPr/>
        </p:nvSpPr>
        <p:spPr>
          <a:xfrm>
            <a:off x="703580" y="2467864"/>
            <a:ext cx="7079709" cy="1107440"/>
          </a:xfrm>
          <a:prstGeom prst="roundRect">
            <a:avLst>
              <a:gd name="adj" fmla="val 7000"/>
            </a:avLst>
          </a:prstGeom>
          <a:solidFill>
            <a:srgbClr val="FEF5E7"/>
          </a:solidFill>
          <a:ln w="12700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lock 3"/>
          <p:cNvSpPr/>
          <p:nvPr/>
        </p:nvSpPr>
        <p:spPr>
          <a:xfrm>
            <a:off x="703580" y="3595624"/>
            <a:ext cx="7079709" cy="568960"/>
          </a:xfrm>
          <a:prstGeom prst="roundRect">
            <a:avLst>
              <a:gd name="adj" fmla="val 7000"/>
            </a:avLst>
          </a:prstGeom>
          <a:solidFill>
            <a:srgbClr val="E8F6F0"/>
          </a:solidFill>
          <a:ln w="12700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lock 4"/>
          <p:cNvSpPr/>
          <p:nvPr/>
        </p:nvSpPr>
        <p:spPr>
          <a:xfrm>
            <a:off x="703580" y="4184904"/>
            <a:ext cx="7079709" cy="1389380"/>
          </a:xfrm>
          <a:prstGeom prst="roundRect">
            <a:avLst>
              <a:gd name="adj" fmla="val 7000"/>
            </a:avLst>
          </a:prstGeom>
          <a:solidFill>
            <a:srgbClr val="EBF2FE"/>
          </a:solidFill>
          <a:ln w="12700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ode Text"/>
          <p:cNvSpPr txBox="1"/>
          <p:nvPr/>
        </p:nvSpPr>
        <p:spPr>
          <a:xfrm>
            <a:off x="817880" y="1893824"/>
            <a:ext cx="6851109" cy="405638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static STRUCT_Coord_Attitude f_Tgt_GetAttRate(const ST_TargetInit *st_Target, FLOAT64 simTime)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{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STRUCT_Coord_Attitude   st_Rate = { 0.0, 0.0, 0.0 };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const ST_TargetManeuver *st_Active = NULL;</a:t>
            </a:r>
            <a:endParaRPr lang="ko-KR" altLang="en-US" sz="900" dirty="0"/>
          </a:p>
          <a:p>
            <a:pPr algn="l">
              <a:lnSpc>
                <a:spcPts val="4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for (nManeuver = 0; nManeuver &lt; st_Target-&gt;nManeuverNum; nManeuver++)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{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st_Maneuver = &amp;st_Target-&gt;st_Maneuver[nManeuver];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if ((st_Active == NULL) &amp;&amp; (st_Maneuver-&gt;startTime &lt;= simTime) &amp;&amp; (simTime &lt; st_Maneuver-&gt;endTime))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{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    st_Active = st_Maneuver;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}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}</a:t>
            </a:r>
            <a:endParaRPr lang="ko-KR" altLang="en-US" sz="900" dirty="0"/>
          </a:p>
          <a:p>
            <a:pPr algn="l">
              <a:lnSpc>
                <a:spcPts val="4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if (st_Active != NULL)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{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각속도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omega = n * g / V.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omega = (st_Active-&gt;gravityValue * G_FORCE) / st_Target-&gt;headingSpeed;</a:t>
            </a:r>
            <a:endParaRPr lang="ko-KR" altLang="en-US" sz="900" dirty="0"/>
          </a:p>
          <a:p>
            <a:pPr algn="l">
              <a:lnSpc>
                <a:spcPts val="4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switch (st_Active-&gt;enTurnType)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{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case TGT_TURN_ROLL:  st_Rate.Roll  = omega; break;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case TGT_TURN_YAW:   st_Rate.Yaw   = omega; break;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case TGT_TURN_PITCH: st_Rate.Pitch = omega; break;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case TGT_TURN_NONE: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default: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    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회전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9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없음</a:t>
            </a:r>
            <a:r>
              <a:rPr lang="ko-KR" altLang="en-US" sz="9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    break;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}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}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return st_Rate;</a:t>
            </a:r>
            <a:endParaRPr lang="ko-KR" altLang="en-US" sz="900" dirty="0"/>
          </a:p>
          <a:p>
            <a:pPr algn="l">
              <a:lnSpc>
                <a:spcPts val="1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}</a:t>
            </a:r>
            <a:endParaRPr lang="ko-KR" altLang="en-US" sz="900" dirty="0"/>
          </a:p>
        </p:txBody>
      </p:sp>
      <p:sp>
        <p:nvSpPr>
          <p:cNvPr id="13" name="Card 1 Box"/>
          <p:cNvSpPr/>
          <p:nvPr/>
        </p:nvSpPr>
        <p:spPr>
          <a:xfrm>
            <a:off x="8278589" y="1917954"/>
            <a:ext cx="3270283" cy="75946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rd 1 Text"/>
          <p:cNvSpPr txBox="1"/>
          <p:nvPr/>
        </p:nvSpPr>
        <p:spPr>
          <a:xfrm>
            <a:off x="8405589" y="2006854"/>
            <a:ext cx="3016283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초기값 0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각속도는 세 축 모두 0 에서 시작한다.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걸린 기동이 없으면 0 을 그대로 돌려준다.</a:t>
            </a:r>
            <a:endParaRPr lang="ko-KR" altLang="en-US" sz="950" dirty="0"/>
          </a:p>
        </p:txBody>
      </p:sp>
      <p:cxnSp>
        <p:nvCxnSpPr>
          <p:cNvPr id="15" name="Arrow 1"/>
          <p:cNvCxnSpPr/>
          <p:nvPr/>
        </p:nvCxnSpPr>
        <p:spPr>
          <a:xfrm>
            <a:off x="7954739" y="2297684"/>
            <a:ext cx="323850" cy="0"/>
          </a:xfrm>
          <a:prstGeom prst="line">
            <a:avLst/>
          </a:prstGeom>
          <a:ln w="15875">
            <a:solidFill>
              <a:srgbClr val="DC2626"/>
            </a:solidFill>
            <a:tailEnd type="triangle" w="med" len="med"/>
          </a:ln>
        </p:spPr>
      </p:cxnSp>
      <p:sp>
        <p:nvSpPr>
          <p:cNvPr id="16" name="Badge 1"/>
          <p:cNvSpPr/>
          <p:nvPr/>
        </p:nvSpPr>
        <p:spPr>
          <a:xfrm>
            <a:off x="7738839" y="2189734"/>
            <a:ext cx="215900" cy="21590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1</a:t>
            </a:r>
            <a:endParaRPr lang="ko-KR" altLang="en-US" sz="950" dirty="0"/>
          </a:p>
        </p:txBody>
      </p:sp>
      <p:sp>
        <p:nvSpPr>
          <p:cNvPr id="17" name="Card 2 Box"/>
          <p:cNvSpPr/>
          <p:nvPr/>
        </p:nvSpPr>
        <p:spPr>
          <a:xfrm>
            <a:off x="8278589" y="2766314"/>
            <a:ext cx="3270283" cy="759460"/>
          </a:xfrm>
          <a:prstGeom prst="roundRect">
            <a:avLst>
              <a:gd name="adj" fmla="val 6000"/>
            </a:avLst>
          </a:prstGeom>
          <a:solidFill>
            <a:srgbClr val="FEF5E7"/>
          </a:solidFill>
          <a:ln w="12700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rd 2 Text"/>
          <p:cNvSpPr txBox="1"/>
          <p:nvPr/>
        </p:nvSpPr>
        <p:spPr>
          <a:xfrm>
            <a:off x="8405589" y="2855214"/>
            <a:ext cx="3016283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② 걸린 기동 찾기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시작 ≤ 지금 &lt; 종료 인 첫 기동 하나를 고른다.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앞 기동이 끝나는 순간 다음 기동이 이어진다.</a:t>
            </a:r>
            <a:endParaRPr lang="ko-KR" altLang="en-US" sz="950" dirty="0"/>
          </a:p>
        </p:txBody>
      </p:sp>
      <p:cxnSp>
        <p:nvCxnSpPr>
          <p:cNvPr id="19" name="Arrow 2"/>
          <p:cNvCxnSpPr/>
          <p:nvPr/>
        </p:nvCxnSpPr>
        <p:spPr>
          <a:xfrm>
            <a:off x="7954739" y="3021584"/>
            <a:ext cx="323850" cy="0"/>
          </a:xfrm>
          <a:prstGeom prst="line">
            <a:avLst/>
          </a:prstGeom>
          <a:ln w="15875">
            <a:solidFill>
              <a:srgbClr val="D97706"/>
            </a:solidFill>
            <a:tailEnd type="triangle" w="med" len="med"/>
          </a:ln>
        </p:spPr>
      </p:cxnSp>
      <p:sp>
        <p:nvSpPr>
          <p:cNvPr id="20" name="Badge 2"/>
          <p:cNvSpPr/>
          <p:nvPr/>
        </p:nvSpPr>
        <p:spPr>
          <a:xfrm>
            <a:off x="7738839" y="2913634"/>
            <a:ext cx="215900" cy="215900"/>
          </a:xfrm>
          <a:prstGeom prst="ellipse">
            <a:avLst/>
          </a:prstGeom>
          <a:solidFill>
            <a:srgbClr val="D9770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2</a:t>
            </a:r>
            <a:endParaRPr lang="ko-KR" altLang="en-US" sz="950" dirty="0"/>
          </a:p>
        </p:txBody>
      </p:sp>
      <p:sp>
        <p:nvSpPr>
          <p:cNvPr id="21" name="Card 3 Box"/>
          <p:cNvSpPr/>
          <p:nvPr/>
        </p:nvSpPr>
        <p:spPr>
          <a:xfrm>
            <a:off x="8278589" y="3614674"/>
            <a:ext cx="3270283" cy="759460"/>
          </a:xfrm>
          <a:prstGeom prst="roundRect">
            <a:avLst>
              <a:gd name="adj" fmla="val 6000"/>
            </a:avLst>
          </a:prstGeom>
          <a:solidFill>
            <a:srgbClr val="E8F6F0"/>
          </a:solidFill>
          <a:ln w="12700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ard 3 Text"/>
          <p:cNvSpPr txBox="1"/>
          <p:nvPr/>
        </p:nvSpPr>
        <p:spPr>
          <a:xfrm>
            <a:off x="8405589" y="3703574"/>
            <a:ext cx="3016283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③ G → 각속도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ω = n · g / V (n 은 G 값, g 는 중력가속도).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같은 G 라도 빠른 표적일수록 덜 돈다.</a:t>
            </a:r>
            <a:endParaRPr lang="ko-KR" altLang="en-US" sz="950" dirty="0"/>
          </a:p>
        </p:txBody>
      </p:sp>
      <p:cxnSp>
        <p:nvCxnSpPr>
          <p:cNvPr id="23" name="Arrow 3"/>
          <p:cNvCxnSpPr/>
          <p:nvPr/>
        </p:nvCxnSpPr>
        <p:spPr>
          <a:xfrm>
            <a:off x="7954739" y="3880104"/>
            <a:ext cx="323850" cy="0"/>
          </a:xfrm>
          <a:prstGeom prst="line">
            <a:avLst/>
          </a:prstGeom>
          <a:ln w="15875">
            <a:solidFill>
              <a:srgbClr val="059669"/>
            </a:solidFill>
            <a:tailEnd type="triangle" w="med" len="med"/>
          </a:ln>
        </p:spPr>
      </p:cxnSp>
      <p:sp>
        <p:nvSpPr>
          <p:cNvPr id="24" name="Badge 3"/>
          <p:cNvSpPr/>
          <p:nvPr/>
        </p:nvSpPr>
        <p:spPr>
          <a:xfrm>
            <a:off x="7738839" y="3772154"/>
            <a:ext cx="215900" cy="215900"/>
          </a:xfrm>
          <a:prstGeom prst="ellipse">
            <a:avLst/>
          </a:prstGeom>
          <a:solidFill>
            <a:srgbClr val="059669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3</a:t>
            </a:r>
            <a:endParaRPr lang="ko-KR" altLang="en-US" sz="950" dirty="0"/>
          </a:p>
        </p:txBody>
      </p:sp>
      <p:sp>
        <p:nvSpPr>
          <p:cNvPr id="25" name="Card 4 Box"/>
          <p:cNvSpPr/>
          <p:nvPr/>
        </p:nvSpPr>
        <p:spPr>
          <a:xfrm>
            <a:off x="8278589" y="4493514"/>
            <a:ext cx="3270283" cy="759460"/>
          </a:xfrm>
          <a:prstGeom prst="roundRect">
            <a:avLst>
              <a:gd name="adj" fmla="val 6000"/>
            </a:avLst>
          </a:prstGeom>
          <a:solidFill>
            <a:srgbClr val="EBF2FE"/>
          </a:solidFill>
          <a:ln w="12700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rd 4 Text"/>
          <p:cNvSpPr txBox="1"/>
          <p:nvPr/>
        </p:nvSpPr>
        <p:spPr>
          <a:xfrm>
            <a:off x="8405589" y="4582414"/>
            <a:ext cx="3016283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④ 회전축 하나에만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기동 축에만 ω 를 넣고 나머지 축은 0.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축이 0 (없음) 이면 각속도 0 으로 직진한다.</a:t>
            </a:r>
            <a:endParaRPr lang="ko-KR" altLang="en-US" sz="950" dirty="0"/>
          </a:p>
        </p:txBody>
      </p:sp>
      <p:cxnSp>
        <p:nvCxnSpPr>
          <p:cNvPr id="27" name="Arrow 4"/>
          <p:cNvCxnSpPr/>
          <p:nvPr/>
        </p:nvCxnSpPr>
        <p:spPr>
          <a:xfrm>
            <a:off x="7954739" y="4873244"/>
            <a:ext cx="323850" cy="0"/>
          </a:xfrm>
          <a:prstGeom prst="line">
            <a:avLst/>
          </a:prstGeom>
          <a:ln w="15875">
            <a:solidFill>
              <a:srgbClr val="2563EB"/>
            </a:solidFill>
            <a:tailEnd type="triangle" w="med" len="med"/>
          </a:ln>
        </p:spPr>
      </p:cxnSp>
      <p:sp>
        <p:nvSpPr>
          <p:cNvPr id="28" name="Badge 4"/>
          <p:cNvSpPr/>
          <p:nvPr/>
        </p:nvSpPr>
        <p:spPr>
          <a:xfrm>
            <a:off x="7738839" y="4765294"/>
            <a:ext cx="215900" cy="215900"/>
          </a:xfrm>
          <a:prstGeom prst="ellipse">
            <a:avLst/>
          </a:prstGeom>
          <a:solidFill>
            <a:srgbClr val="2563EB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4</a:t>
            </a:r>
            <a:endParaRPr lang="ko-KR" altLang="en-US" sz="950" dirty="0"/>
          </a:p>
        </p:txBody>
      </p:sp>
      <p:sp>
        <p:nvSpPr>
          <p:cNvPr id="29" name="File Tag"/>
          <p:cNvSpPr txBox="1"/>
          <p:nvPr/>
        </p:nvSpPr>
        <p:spPr>
          <a:xfrm>
            <a:off x="6214872" y="1345184"/>
            <a:ext cx="5334000" cy="2032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Consolas"/>
                <a:ea typeface="맑은 고딕"/>
                <a:cs typeface="맑은 고딕"/>
              </a:rPr>
              <a:t>TargetSimCore/src/TargetSim.c  (선언 일부 생략)</a:t>
            </a:r>
            <a:endParaRPr lang="ko-KR" alt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02. 궤적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코드 ⑤ 한 스텝 전진 (2/2)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16</a:t>
            </a:r>
          </a:p>
        </p:txBody>
      </p:sp>
      <p:sp>
        <p:nvSpPr>
          <p:cNvPr id="30" name="Flow Box"/>
          <p:cNvSpPr/>
          <p:nvPr/>
        </p:nvSpPr>
        <p:spPr>
          <a:xfrm>
            <a:off x="640080" y="5655056"/>
            <a:ext cx="10908792" cy="50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Flow Text"/>
          <p:cNvSpPr txBox="1"/>
          <p:nvPr/>
        </p:nvSpPr>
        <p:spPr>
          <a:xfrm>
            <a:off x="817880" y="5655056"/>
            <a:ext cx="10553192" cy="5080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f_Tgt_Propagate 한 번     </a:t>
            </a:r>
            <a:r>
              <a:rPr lang="ko-KR" altLang="en-US" sz="105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①② </a:t>
            </a: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자세 (반 스텝, 끝)</a:t>
            </a:r>
            <a:r>
              <a:rPr lang="ko-KR" altLang="en-US" sz="10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    →    </a:t>
            </a:r>
            <a:r>
              <a:rPr lang="ko-KR" altLang="en-US" sz="105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③ </a:t>
            </a: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반 스텝 뒤 위치</a:t>
            </a:r>
            <a:r>
              <a:rPr lang="ko-KR" altLang="en-US" sz="10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    →    </a:t>
            </a:r>
            <a:r>
              <a:rPr lang="ko-KR" altLang="en-US" sz="105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④ </a:t>
            </a: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대표 속도</a:t>
            </a:r>
            <a:r>
              <a:rPr lang="ko-KR" altLang="en-US" sz="10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    →    </a:t>
            </a:r>
            <a:r>
              <a:rPr lang="ko-KR" altLang="en-US" sz="1050" b="1" i="0" dirty="0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⑤ </a:t>
            </a: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한 스텝 이동</a:t>
            </a:r>
            <a:r>
              <a:rPr lang="ko-KR" altLang="en-US" sz="10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    →    </a:t>
            </a:r>
            <a:r>
              <a:rPr lang="ko-KR" altLang="en-US" sz="105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⑥ </a:t>
            </a: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LLA, 속도</a:t>
            </a:r>
            <a:r>
              <a:rPr lang="ko-KR" altLang="en-US" sz="105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    →    </a:t>
            </a:r>
            <a:r>
              <a:rPr lang="ko-KR" altLang="en-US" sz="1050" b="1" i="0" dirty="0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⑦ </a:t>
            </a:r>
            <a:r>
              <a:rPr lang="ko-KR" altLang="en-US" sz="10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반영</a:t>
            </a:r>
            <a:endParaRPr lang="ko-KR" altLang="en-US" sz="1000" dirty="0"/>
          </a:p>
        </p:txBody>
      </p:sp>
      <p:sp>
        <p:nvSpPr>
          <p:cNvPr id="8" name="Code Panel"/>
          <p:cNvSpPr/>
          <p:nvPr/>
        </p:nvSpPr>
        <p:spPr>
          <a:xfrm>
            <a:off x="640080" y="1792224"/>
            <a:ext cx="6766814" cy="2857500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Block 4"/>
          <p:cNvSpPr/>
          <p:nvPr/>
        </p:nvSpPr>
        <p:spPr>
          <a:xfrm>
            <a:off x="703580" y="1878584"/>
            <a:ext cx="6639814" cy="570230"/>
          </a:xfrm>
          <a:prstGeom prst="roundRect">
            <a:avLst>
              <a:gd name="adj" fmla="val 7000"/>
            </a:avLst>
          </a:prstGeom>
          <a:solidFill>
            <a:srgbClr val="EBF2FE"/>
          </a:solidFill>
          <a:ln w="12700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Block 5"/>
          <p:cNvSpPr/>
          <p:nvPr/>
        </p:nvSpPr>
        <p:spPr>
          <a:xfrm>
            <a:off x="703580" y="2469134"/>
            <a:ext cx="6639814" cy="741680"/>
          </a:xfrm>
          <a:prstGeom prst="roundRect">
            <a:avLst>
              <a:gd name="adj" fmla="val 7000"/>
            </a:avLst>
          </a:prstGeom>
          <a:solidFill>
            <a:srgbClr val="F3EEFE"/>
          </a:solidFill>
          <a:ln w="12700">
            <a:solidFill>
              <a:srgbClr val="7C3AE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Block 6"/>
          <p:cNvSpPr/>
          <p:nvPr/>
        </p:nvSpPr>
        <p:spPr>
          <a:xfrm>
            <a:off x="703580" y="3231134"/>
            <a:ext cx="6639814" cy="913130"/>
          </a:xfrm>
          <a:prstGeom prst="roundRect">
            <a:avLst>
              <a:gd name="adj" fmla="val 7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Block 7"/>
          <p:cNvSpPr/>
          <p:nvPr/>
        </p:nvSpPr>
        <p:spPr>
          <a:xfrm>
            <a:off x="703580" y="4164584"/>
            <a:ext cx="6639814" cy="227330"/>
          </a:xfrm>
          <a:prstGeom prst="roundRect">
            <a:avLst>
              <a:gd name="adj" fmla="val 7000"/>
            </a:avLst>
          </a:prstGeom>
          <a:solidFill>
            <a:srgbClr val="FEF5E7"/>
          </a:solidFill>
          <a:ln w="12700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ode Text"/>
          <p:cNvSpPr txBox="1"/>
          <p:nvPr/>
        </p:nvSpPr>
        <p:spPr>
          <a:xfrm>
            <a:off x="817880" y="1906524"/>
            <a:ext cx="6411214" cy="26289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반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스텝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뒤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위경도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자세로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대표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속도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계산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st_LlaMid = f_Trans_Ecef_To_Lla(st_PosMid.x, st_PosMid.y, st_PosMid.z);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st_VelMid = f_Tgt_GetVelEcef(&amp;st_AttMid, &amp;st_LlaMid, headingSpeed);</a:t>
            </a:r>
            <a:endParaRPr lang="ko-KR" altLang="en-US" sz="1000" dirty="0"/>
          </a:p>
          <a:p>
            <a:pPr algn="l">
              <a:lnSpc>
                <a:spcPts val="6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대표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속도로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스텝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이동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st_Next.st_PosEcef.x = st_State-&gt;st_PosEcef.x + (st_VelMid.x * stepTime);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st_Next.st_PosEcef.y = st_State-&gt;st_PosEcef.y + (st_VelMid.y * stepTime);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st_Next.st_PosEcef.z = st_State-&gt;st_PosEcef.z + (st_VelMid.z * stepTime);</a:t>
            </a:r>
            <a:endParaRPr lang="ko-KR" altLang="en-US" sz="1000" dirty="0"/>
          </a:p>
          <a:p>
            <a:pPr algn="l">
              <a:lnSpc>
                <a:spcPts val="6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위치의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LLA,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속도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계산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후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lang="ko-KR" altLang="en-US" sz="1000" b="0" i="0" dirty="0">
                <a:solidFill>
                  <a:srgbClr val="6B7890"/>
                </a:solidFill>
                <a:latin typeface="맑은 고딕"/>
                <a:ea typeface="맑은 고딕"/>
                <a:cs typeface="맑은 고딕"/>
              </a:rPr>
              <a:t>반영</a:t>
            </a:r>
            <a:r>
              <a:rPr lang="ko-KR" altLang="en-US" sz="1000" b="0" i="0" dirty="0">
                <a:solidFill>
                  <a:srgbClr val="6B7890"/>
                </a:solidFill>
                <a:latin typeface="Consolas"/>
                <a:ea typeface="맑은 고딕"/>
                <a:cs typeface="맑은 고딕"/>
              </a:rPr>
              <a:t>.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st_Next.st_Lla     = f_Trans_Ecef_To_Lla(st_Next.st_PosEcef.x, st_Next.st_PosEcef.y,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                                         st_Next.st_PosEcef.z);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st_Next.st_VelEcef = f_Tgt_GetVelEcef(&amp;st_Next.st_Att, &amp;st_Next.st_Lla, headingSpeed);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st_Next.simTime    = nextTime;</a:t>
            </a:r>
            <a:endParaRPr lang="ko-KR" altLang="en-US" sz="1000" dirty="0"/>
          </a:p>
          <a:p>
            <a:pPr algn="l">
              <a:lnSpc>
                <a:spcPts val="6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3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   *st_State = st_Next;</a:t>
            </a:r>
            <a:endParaRPr lang="ko-KR" altLang="en-US" sz="1000" dirty="0"/>
          </a:p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}</a:t>
            </a:r>
            <a:endParaRPr lang="ko-KR" altLang="en-US" sz="1000" dirty="0"/>
          </a:p>
        </p:txBody>
      </p:sp>
      <p:sp>
        <p:nvSpPr>
          <p:cNvPr id="13" name="Card 4 Box"/>
          <p:cNvSpPr/>
          <p:nvPr/>
        </p:nvSpPr>
        <p:spPr>
          <a:xfrm>
            <a:off x="7838694" y="1792224"/>
            <a:ext cx="3710178" cy="759460"/>
          </a:xfrm>
          <a:prstGeom prst="roundRect">
            <a:avLst>
              <a:gd name="adj" fmla="val 6000"/>
            </a:avLst>
          </a:prstGeom>
          <a:solidFill>
            <a:srgbClr val="EBF2FE"/>
          </a:solidFill>
          <a:ln w="12700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ard 4 Text"/>
          <p:cNvSpPr txBox="1"/>
          <p:nvPr/>
        </p:nvSpPr>
        <p:spPr>
          <a:xfrm>
            <a:off x="7965694" y="1881124"/>
            <a:ext cx="3456178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④ 대표 속도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반 스텝 지점의 위경도 · 자세로 속도를 다시 만든다.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이 속도가 이번 스텝의 대표 속도다.</a:t>
            </a:r>
            <a:endParaRPr lang="ko-KR" altLang="en-US" sz="950" dirty="0"/>
          </a:p>
        </p:txBody>
      </p:sp>
      <p:cxnSp>
        <p:nvCxnSpPr>
          <p:cNvPr id="15" name="Arrow 4"/>
          <p:cNvCxnSpPr/>
          <p:nvPr/>
        </p:nvCxnSpPr>
        <p:spPr>
          <a:xfrm>
            <a:off x="7514844" y="2163699"/>
            <a:ext cx="323850" cy="0"/>
          </a:xfrm>
          <a:prstGeom prst="line">
            <a:avLst/>
          </a:prstGeom>
          <a:ln w="15875">
            <a:solidFill>
              <a:srgbClr val="2563EB"/>
            </a:solidFill>
            <a:tailEnd type="triangle" w="med" len="med"/>
          </a:ln>
        </p:spPr>
      </p:cxnSp>
      <p:sp>
        <p:nvSpPr>
          <p:cNvPr id="16" name="Badge 4"/>
          <p:cNvSpPr/>
          <p:nvPr/>
        </p:nvSpPr>
        <p:spPr>
          <a:xfrm>
            <a:off x="7298944" y="2055749"/>
            <a:ext cx="215900" cy="215900"/>
          </a:xfrm>
          <a:prstGeom prst="ellipse">
            <a:avLst/>
          </a:prstGeom>
          <a:solidFill>
            <a:srgbClr val="2563EB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4</a:t>
            </a:r>
            <a:endParaRPr lang="ko-KR" altLang="en-US" sz="950" dirty="0"/>
          </a:p>
        </p:txBody>
      </p:sp>
      <p:sp>
        <p:nvSpPr>
          <p:cNvPr id="17" name="Card 5 Box"/>
          <p:cNvSpPr/>
          <p:nvPr/>
        </p:nvSpPr>
        <p:spPr>
          <a:xfrm>
            <a:off x="7838694" y="2640584"/>
            <a:ext cx="3710178" cy="759460"/>
          </a:xfrm>
          <a:prstGeom prst="roundRect">
            <a:avLst>
              <a:gd name="adj" fmla="val 6000"/>
            </a:avLst>
          </a:prstGeom>
          <a:solidFill>
            <a:srgbClr val="F3EEFE"/>
          </a:solidFill>
          <a:ln w="12700">
            <a:solidFill>
              <a:srgbClr val="7C3AE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ard 5 Text"/>
          <p:cNvSpPr txBox="1"/>
          <p:nvPr/>
        </p:nvSpPr>
        <p:spPr>
          <a:xfrm>
            <a:off x="7965694" y="2729484"/>
            <a:ext cx="3456178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⑤ 한 스텝 이동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시작 위치 + 대표 속도 × 0.1 s.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공식 ② 의 식을 x, y, z 에 그대로 옮겼다.</a:t>
            </a:r>
            <a:endParaRPr lang="ko-KR" altLang="en-US" sz="950" dirty="0"/>
          </a:p>
        </p:txBody>
      </p:sp>
      <p:cxnSp>
        <p:nvCxnSpPr>
          <p:cNvPr id="19" name="Arrow 5"/>
          <p:cNvCxnSpPr/>
          <p:nvPr/>
        </p:nvCxnSpPr>
        <p:spPr>
          <a:xfrm>
            <a:off x="7514844" y="2839974"/>
            <a:ext cx="323850" cy="0"/>
          </a:xfrm>
          <a:prstGeom prst="line">
            <a:avLst/>
          </a:prstGeom>
          <a:ln w="15875">
            <a:solidFill>
              <a:srgbClr val="7C3AED"/>
            </a:solidFill>
            <a:tailEnd type="triangle" w="med" len="med"/>
          </a:ln>
        </p:spPr>
      </p:cxnSp>
      <p:sp>
        <p:nvSpPr>
          <p:cNvPr id="20" name="Badge 5"/>
          <p:cNvSpPr/>
          <p:nvPr/>
        </p:nvSpPr>
        <p:spPr>
          <a:xfrm>
            <a:off x="7298944" y="2732024"/>
            <a:ext cx="215900" cy="215900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5</a:t>
            </a:r>
            <a:endParaRPr lang="ko-KR" altLang="en-US" sz="950" dirty="0"/>
          </a:p>
        </p:txBody>
      </p:sp>
      <p:sp>
        <p:nvSpPr>
          <p:cNvPr id="21" name="Card 6 Box"/>
          <p:cNvSpPr/>
          <p:nvPr/>
        </p:nvSpPr>
        <p:spPr>
          <a:xfrm>
            <a:off x="7838694" y="3488944"/>
            <a:ext cx="3710178" cy="75946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ard 6 Text"/>
          <p:cNvSpPr txBox="1"/>
          <p:nvPr/>
        </p:nvSpPr>
        <p:spPr>
          <a:xfrm>
            <a:off x="7965694" y="3577844"/>
            <a:ext cx="3456178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⑥ 출력값 갱신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새 위치를 위경도로 바꾸고, 스텝 끝 자세로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속도를 다시 구해 표본에 담는다.</a:t>
            </a:r>
            <a:endParaRPr lang="ko-KR" altLang="en-US" sz="950" dirty="0"/>
          </a:p>
        </p:txBody>
      </p:sp>
      <p:cxnSp>
        <p:nvCxnSpPr>
          <p:cNvPr id="23" name="Arrow 6"/>
          <p:cNvCxnSpPr/>
          <p:nvPr/>
        </p:nvCxnSpPr>
        <p:spPr>
          <a:xfrm>
            <a:off x="7514844" y="3687699"/>
            <a:ext cx="323850" cy="0"/>
          </a:xfrm>
          <a:prstGeom prst="line">
            <a:avLst/>
          </a:prstGeom>
          <a:ln w="15875">
            <a:solidFill>
              <a:srgbClr val="DC2626"/>
            </a:solidFill>
            <a:tailEnd type="triangle" w="med" len="med"/>
          </a:ln>
        </p:spPr>
      </p:cxnSp>
      <p:sp>
        <p:nvSpPr>
          <p:cNvPr id="24" name="Badge 6"/>
          <p:cNvSpPr/>
          <p:nvPr/>
        </p:nvSpPr>
        <p:spPr>
          <a:xfrm>
            <a:off x="7298944" y="3579749"/>
            <a:ext cx="215900" cy="21590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6</a:t>
            </a:r>
            <a:endParaRPr lang="ko-KR" altLang="en-US" sz="950" dirty="0"/>
          </a:p>
        </p:txBody>
      </p:sp>
      <p:sp>
        <p:nvSpPr>
          <p:cNvPr id="25" name="Card 7 Box"/>
          <p:cNvSpPr/>
          <p:nvPr/>
        </p:nvSpPr>
        <p:spPr>
          <a:xfrm>
            <a:off x="7838694" y="4337304"/>
            <a:ext cx="3710178" cy="759460"/>
          </a:xfrm>
          <a:prstGeom prst="roundRect">
            <a:avLst>
              <a:gd name="adj" fmla="val 6000"/>
            </a:avLst>
          </a:prstGeom>
          <a:solidFill>
            <a:srgbClr val="FEF5E7"/>
          </a:solidFill>
          <a:ln w="12700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ard 7 Text"/>
          <p:cNvSpPr txBox="1"/>
          <p:nvPr/>
        </p:nvSpPr>
        <p:spPr>
          <a:xfrm>
            <a:off x="7965694" y="4426204"/>
            <a:ext cx="3456178" cy="56896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b="1" i="0" dirty="0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⑦ 한 번에 반영</a:t>
            </a:r>
            <a:endParaRPr lang="ko-KR" altLang="en-US" sz="1100" dirty="0"/>
          </a:p>
          <a:p>
            <a:pPr algn="l">
              <a:lnSpc>
                <a:spcPts val="134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계산하는 동안은 시작 상태만 읽고,</a:t>
            </a:r>
            <a:endParaRPr lang="ko-KR" altLang="en-US" sz="950" dirty="0"/>
          </a:p>
          <a:p>
            <a:pPr algn="l">
              <a:lnSpc>
                <a:spcPts val="1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끝에서 </a:t>
            </a:r>
            <a:r>
              <a:rPr lang="ko-KR" altLang="en-US" sz="90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st_Next</a:t>
            </a:r>
            <a:r>
              <a:rPr lang="ko-KR" altLang="en-US" sz="95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 로 한 번에 덮어쓴다.</a:t>
            </a:r>
            <a:endParaRPr lang="ko-KR" altLang="en-US" sz="950" dirty="0"/>
          </a:p>
        </p:txBody>
      </p:sp>
      <p:cxnSp>
        <p:nvCxnSpPr>
          <p:cNvPr id="27" name="Arrow 7"/>
          <p:cNvCxnSpPr/>
          <p:nvPr/>
        </p:nvCxnSpPr>
        <p:spPr>
          <a:xfrm>
            <a:off x="7514844" y="4278249"/>
            <a:ext cx="323850" cy="243205"/>
          </a:xfrm>
          <a:prstGeom prst="bentConnector3">
            <a:avLst>
              <a:gd name="adj1" fmla="val 50000"/>
            </a:avLst>
          </a:prstGeom>
          <a:ln w="15875">
            <a:solidFill>
              <a:srgbClr val="D97706"/>
            </a:solidFill>
            <a:tailEnd type="triangle" w="med" len="med"/>
          </a:ln>
        </p:spPr>
      </p:cxnSp>
      <p:sp>
        <p:nvSpPr>
          <p:cNvPr id="28" name="Badge 7"/>
          <p:cNvSpPr/>
          <p:nvPr/>
        </p:nvSpPr>
        <p:spPr>
          <a:xfrm>
            <a:off x="7298944" y="4170299"/>
            <a:ext cx="215900" cy="215900"/>
          </a:xfrm>
          <a:prstGeom prst="ellipse">
            <a:avLst/>
          </a:prstGeom>
          <a:solidFill>
            <a:srgbClr val="D9770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7</a:t>
            </a:r>
            <a:endParaRPr lang="ko-KR" altLang="en-US" sz="950" dirty="0"/>
          </a:p>
        </p:txBody>
      </p:sp>
      <p:sp>
        <p:nvSpPr>
          <p:cNvPr id="29" name="File Tag"/>
          <p:cNvSpPr txBox="1"/>
          <p:nvPr/>
        </p:nvSpPr>
        <p:spPr>
          <a:xfrm>
            <a:off x="6214872" y="1345184"/>
            <a:ext cx="5334000" cy="20320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0" i="0" dirty="0">
                <a:solidFill>
                  <a:srgbClr val="8794AC"/>
                </a:solidFill>
                <a:latin typeface="Consolas"/>
                <a:ea typeface="맑은 고딕"/>
                <a:cs typeface="맑은 고딕"/>
              </a:rPr>
              <a:t>TargetSimCore/src/TargetSim.c  (이어서)</a:t>
            </a:r>
            <a:endParaRPr lang="ko-KR" alt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10908792" cy="566928"/>
          </a:xfrm>
          <a:prstGeom prst="rect">
            <a:avLst/>
          </a:prstGeom>
          <a:solidFill>
            <a:srgbClr val="1B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566928"/>
            <a:ext cx="1039672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03. 결과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243584"/>
            <a:ext cx="10451592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B2740"/>
                </a:solidFill>
                <a:latin typeface="맑은 고딕"/>
                <a:ea typeface="맑은 고딕"/>
              </a:rPr>
              <a:t>운용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515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A5A7A"/>
                </a:solidFill>
                <a:latin typeface="맑은 고딕"/>
                <a:ea typeface="맑은 고딕"/>
              </a:rPr>
              <a:t>기동 시연 프리셋에서 표적 2(대공)를 고른 화면입니다. 칸을 고치면 바로 다시 계산합니다.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327648"/>
            <a:ext cx="10908792" cy="0"/>
          </a:xfrm>
          <a:prstGeom prst="rect">
            <a:avLst/>
          </a:prstGeom>
          <a:noFill/>
          <a:ln w="9525">
            <a:solidFill>
              <a:srgbClr val="D2D9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50408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8794AC"/>
                </a:solidFill>
                <a:latin typeface="Arial"/>
              </a:rPr>
              <a:t>20</a:t>
            </a:r>
          </a:p>
        </p:txBody>
      </p:sp>
      <p:pic>
        <p:nvPicPr>
          <p:cNvPr id="11" name="Picture 10" descr="ui_cl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7276" y="2148840"/>
            <a:ext cx="5994400" cy="3553822"/>
          </a:xfrm>
          <a:prstGeom prst="rect">
            <a:avLst/>
          </a:prstGeom>
        </p:spPr>
      </p:pic>
      <p:sp>
        <p:nvSpPr>
          <p:cNvPr id="12" name="UI Frame"/>
          <p:cNvSpPr/>
          <p:nvPr/>
        </p:nvSpPr>
        <p:spPr>
          <a:xfrm>
            <a:off x="3097276" y="2148840"/>
            <a:ext cx="5994400" cy="3553822"/>
          </a:xfrm>
          <a:prstGeom prst="rect">
            <a:avLst/>
          </a:prstGeom>
          <a:noFill/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UI Region 1"/>
          <p:cNvSpPr/>
          <p:nvPr/>
        </p:nvSpPr>
        <p:spPr>
          <a:xfrm>
            <a:off x="3097276" y="2148840"/>
            <a:ext cx="5994400" cy="205522"/>
          </a:xfrm>
          <a:prstGeom prst="roundRect">
            <a:avLst>
              <a:gd name="adj" fmla="val 4000"/>
            </a:avLst>
          </a:prstGeom>
          <a:noFill/>
          <a:ln w="22225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UI Card 1 Box"/>
          <p:cNvSpPr/>
          <p:nvPr/>
        </p:nvSpPr>
        <p:spPr>
          <a:xfrm>
            <a:off x="640080" y="2148840"/>
            <a:ext cx="2203196" cy="732790"/>
          </a:xfrm>
          <a:prstGeom prst="roundRect">
            <a:avLst>
              <a:gd name="adj" fmla="val 6000"/>
            </a:avLst>
          </a:prstGeom>
          <a:solidFill>
            <a:srgbClr val="FDEEEE"/>
          </a:solidFill>
          <a:ln w="12700">
            <a:solidFill>
              <a:srgbClr val="DC26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UI Card 1 Text"/>
          <p:cNvSpPr txBox="1"/>
          <p:nvPr/>
        </p:nvSpPr>
        <p:spPr>
          <a:xfrm>
            <a:off x="767080" y="2237740"/>
            <a:ext cx="1949196" cy="54229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시나리오 선택</a:t>
            </a:r>
            <a:endParaRPr lang="ko-KR" altLang="en-US" sz="1050" dirty="0"/>
          </a:p>
          <a:p>
            <a:pPr algn="l">
              <a:lnSpc>
                <a:spcPts val="126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명세 · 기동 시연 프리셋을</a:t>
            </a:r>
            <a:endParaRPr lang="ko-KR" altLang="en-US" sz="900" dirty="0"/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불러온다 (</a:t>
            </a: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f_LoadPreset</a:t>
            </a: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).</a:t>
            </a:r>
            <a:endParaRPr lang="ko-KR" altLang="en-US" sz="900" dirty="0"/>
          </a:p>
        </p:txBody>
      </p:sp>
      <p:cxnSp>
        <p:nvCxnSpPr>
          <p:cNvPr id="16" name="UI Arrow 1"/>
          <p:cNvCxnSpPr/>
          <p:nvPr/>
        </p:nvCxnSpPr>
        <p:spPr>
          <a:xfrm flipH="1">
            <a:off x="2843276" y="2251601"/>
            <a:ext cx="146050" cy="49639"/>
          </a:xfrm>
          <a:prstGeom prst="bentConnector3">
            <a:avLst>
              <a:gd name="adj1" fmla="val 50000"/>
            </a:avLst>
          </a:prstGeom>
          <a:ln w="15875">
            <a:solidFill>
              <a:srgbClr val="DC2626"/>
            </a:solidFill>
            <a:tailEnd type="triangle" w="med" len="med"/>
          </a:ln>
        </p:spPr>
      </p:cxnSp>
      <p:sp>
        <p:nvSpPr>
          <p:cNvPr id="17" name="UI Badge 1"/>
          <p:cNvSpPr/>
          <p:nvPr/>
        </p:nvSpPr>
        <p:spPr>
          <a:xfrm>
            <a:off x="2989326" y="2143651"/>
            <a:ext cx="215900" cy="215900"/>
          </a:xfrm>
          <a:prstGeom prst="ellipse">
            <a:avLst/>
          </a:prstGeom>
          <a:solidFill>
            <a:srgbClr val="DC262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1</a:t>
            </a:r>
            <a:endParaRPr lang="ko-KR" altLang="en-US" sz="950" dirty="0"/>
          </a:p>
        </p:txBody>
      </p:sp>
      <p:sp>
        <p:nvSpPr>
          <p:cNvPr id="18" name="UI Region 2"/>
          <p:cNvSpPr/>
          <p:nvPr/>
        </p:nvSpPr>
        <p:spPr>
          <a:xfrm>
            <a:off x="3148656" y="2405742"/>
            <a:ext cx="2997200" cy="732172"/>
          </a:xfrm>
          <a:prstGeom prst="roundRect">
            <a:avLst>
              <a:gd name="adj" fmla="val 4000"/>
            </a:avLst>
          </a:prstGeom>
          <a:noFill/>
          <a:ln w="22225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UI Card 2 Box"/>
          <p:cNvSpPr/>
          <p:nvPr/>
        </p:nvSpPr>
        <p:spPr>
          <a:xfrm>
            <a:off x="640080" y="2983230"/>
            <a:ext cx="2203196" cy="732790"/>
          </a:xfrm>
          <a:prstGeom prst="roundRect">
            <a:avLst>
              <a:gd name="adj" fmla="val 6000"/>
            </a:avLst>
          </a:prstGeom>
          <a:solidFill>
            <a:srgbClr val="FEF5E7"/>
          </a:solidFill>
          <a:ln w="12700">
            <a:solidFill>
              <a:srgbClr val="D9770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UI Card 2 Text"/>
          <p:cNvSpPr txBox="1"/>
          <p:nvPr/>
        </p:nvSpPr>
        <p:spPr>
          <a:xfrm>
            <a:off x="767080" y="3072130"/>
            <a:ext cx="1949196" cy="54229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D97706"/>
                </a:solidFill>
                <a:latin typeface="맑은 고딕"/>
                <a:ea typeface="맑은 고딕"/>
                <a:cs typeface="맑은 고딕"/>
              </a:rPr>
              <a:t>② 플랫폼 · 표적 표</a:t>
            </a:r>
            <a:endParaRPr lang="ko-KR" altLang="en-US" sz="1050" dirty="0"/>
          </a:p>
          <a:p>
            <a:pPr algn="l">
              <a:lnSpc>
                <a:spcPts val="126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초기값 7 칸을 바로 고친다.</a:t>
            </a:r>
            <a:endParaRPr lang="ko-KR" altLang="en-US" sz="900" dirty="0"/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표적 최대 10 개 (</a:t>
            </a: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CGridCtrl</a:t>
            </a: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).</a:t>
            </a:r>
            <a:endParaRPr lang="ko-KR" altLang="en-US" sz="900" dirty="0"/>
          </a:p>
        </p:txBody>
      </p:sp>
      <p:cxnSp>
        <p:nvCxnSpPr>
          <p:cNvPr id="21" name="UI Arrow 2"/>
          <p:cNvCxnSpPr/>
          <p:nvPr/>
        </p:nvCxnSpPr>
        <p:spPr>
          <a:xfrm flipH="1">
            <a:off x="2843276" y="2771829"/>
            <a:ext cx="146050" cy="363801"/>
          </a:xfrm>
          <a:prstGeom prst="bentConnector3">
            <a:avLst>
              <a:gd name="adj1" fmla="val 50000"/>
            </a:avLst>
          </a:prstGeom>
          <a:ln w="15875">
            <a:solidFill>
              <a:srgbClr val="D97706"/>
            </a:solidFill>
            <a:tailEnd type="triangle" w="med" len="med"/>
          </a:ln>
        </p:spPr>
      </p:cxnSp>
      <p:sp>
        <p:nvSpPr>
          <p:cNvPr id="22" name="UI Badge 2"/>
          <p:cNvSpPr/>
          <p:nvPr/>
        </p:nvSpPr>
        <p:spPr>
          <a:xfrm>
            <a:off x="2989326" y="2663879"/>
            <a:ext cx="215900" cy="215900"/>
          </a:xfrm>
          <a:prstGeom prst="ellipse">
            <a:avLst/>
          </a:prstGeom>
          <a:solidFill>
            <a:srgbClr val="D97706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2</a:t>
            </a:r>
            <a:endParaRPr lang="ko-KR" altLang="en-US" sz="950" dirty="0"/>
          </a:p>
        </p:txBody>
      </p:sp>
      <p:sp>
        <p:nvSpPr>
          <p:cNvPr id="23" name="UI Region 3"/>
          <p:cNvSpPr/>
          <p:nvPr/>
        </p:nvSpPr>
        <p:spPr>
          <a:xfrm>
            <a:off x="3148656" y="3180732"/>
            <a:ext cx="2997200" cy="2470548"/>
          </a:xfrm>
          <a:prstGeom prst="roundRect">
            <a:avLst>
              <a:gd name="adj" fmla="val 4000"/>
            </a:avLst>
          </a:prstGeom>
          <a:noFill/>
          <a:ln w="22225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UI Card 3 Box"/>
          <p:cNvSpPr/>
          <p:nvPr/>
        </p:nvSpPr>
        <p:spPr>
          <a:xfrm>
            <a:off x="640080" y="4049612"/>
            <a:ext cx="2203196" cy="732790"/>
          </a:xfrm>
          <a:prstGeom prst="roundRect">
            <a:avLst>
              <a:gd name="adj" fmla="val 6000"/>
            </a:avLst>
          </a:prstGeom>
          <a:solidFill>
            <a:srgbClr val="E8F6F0"/>
          </a:solidFill>
          <a:ln w="12700">
            <a:solidFill>
              <a:srgbClr val="05966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UI Card 3 Text"/>
          <p:cNvSpPr txBox="1"/>
          <p:nvPr/>
        </p:nvSpPr>
        <p:spPr>
          <a:xfrm>
            <a:off x="767080" y="4138512"/>
            <a:ext cx="1949196" cy="54229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059669"/>
                </a:solidFill>
                <a:latin typeface="맑은 고딕"/>
                <a:ea typeface="맑은 고딕"/>
                <a:cs typeface="맑은 고딕"/>
              </a:rPr>
              <a:t>③ 기동 표</a:t>
            </a:r>
            <a:endParaRPr lang="ko-KR" altLang="en-US" sz="1050" dirty="0"/>
          </a:p>
          <a:p>
            <a:pPr algn="l">
              <a:lnSpc>
                <a:spcPts val="126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고른 표적의 기동, 최대 30 개.</a:t>
            </a:r>
            <a:endParaRPr lang="ko-KR" altLang="en-US" sz="900" dirty="0"/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축 · G · 시작 · 종료를 고친다.</a:t>
            </a:r>
            <a:endParaRPr lang="ko-KR" altLang="en-US" sz="900" dirty="0"/>
          </a:p>
        </p:txBody>
      </p:sp>
      <p:cxnSp>
        <p:nvCxnSpPr>
          <p:cNvPr id="26" name="UI Arrow 3"/>
          <p:cNvCxnSpPr/>
          <p:nvPr/>
        </p:nvCxnSpPr>
        <p:spPr>
          <a:xfrm flipH="1">
            <a:off x="2843276" y="4416007"/>
            <a:ext cx="146050" cy="0"/>
          </a:xfrm>
          <a:prstGeom prst="line">
            <a:avLst/>
          </a:prstGeom>
          <a:ln w="15875">
            <a:solidFill>
              <a:srgbClr val="059669"/>
            </a:solidFill>
            <a:tailEnd type="triangle" w="med" len="med"/>
          </a:ln>
        </p:spPr>
      </p:cxnSp>
      <p:sp>
        <p:nvSpPr>
          <p:cNvPr id="27" name="UI Badge 3"/>
          <p:cNvSpPr/>
          <p:nvPr/>
        </p:nvSpPr>
        <p:spPr>
          <a:xfrm>
            <a:off x="2989326" y="4308057"/>
            <a:ext cx="215900" cy="215900"/>
          </a:xfrm>
          <a:prstGeom prst="ellipse">
            <a:avLst/>
          </a:prstGeom>
          <a:solidFill>
            <a:srgbClr val="059669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3</a:t>
            </a:r>
            <a:endParaRPr lang="ko-KR" altLang="en-US" sz="950" dirty="0"/>
          </a:p>
        </p:txBody>
      </p:sp>
      <p:sp>
        <p:nvSpPr>
          <p:cNvPr id="28" name="UI Region 4"/>
          <p:cNvSpPr/>
          <p:nvPr/>
        </p:nvSpPr>
        <p:spPr>
          <a:xfrm>
            <a:off x="6188673" y="2405742"/>
            <a:ext cx="2851621" cy="1943897"/>
          </a:xfrm>
          <a:prstGeom prst="roundRect">
            <a:avLst>
              <a:gd name="adj" fmla="val 4000"/>
            </a:avLst>
          </a:prstGeom>
          <a:noFill/>
          <a:ln w="22225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UI Card 4 Box"/>
          <p:cNvSpPr/>
          <p:nvPr/>
        </p:nvSpPr>
        <p:spPr>
          <a:xfrm>
            <a:off x="9345676" y="3011296"/>
            <a:ext cx="2203196" cy="732790"/>
          </a:xfrm>
          <a:prstGeom prst="roundRect">
            <a:avLst>
              <a:gd name="adj" fmla="val 6000"/>
            </a:avLst>
          </a:prstGeom>
          <a:solidFill>
            <a:srgbClr val="EBF2FE"/>
          </a:solidFill>
          <a:ln w="12700">
            <a:solidFill>
              <a:srgbClr val="2563E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UI Card 4 Text"/>
          <p:cNvSpPr txBox="1"/>
          <p:nvPr/>
        </p:nvSpPr>
        <p:spPr>
          <a:xfrm>
            <a:off x="9472676" y="3100196"/>
            <a:ext cx="1949196" cy="54229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④ 궤적 · 고도 그림</a:t>
            </a:r>
            <a:endParaRPr lang="ko-KR" altLang="en-US" sz="1050" dirty="0"/>
          </a:p>
          <a:p>
            <a:pPr algn="l">
              <a:lnSpc>
                <a:spcPts val="126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플랫폼 기준 동-북 평면과</a:t>
            </a:r>
            <a:endParaRPr lang="ko-KR" altLang="en-US" sz="900" dirty="0"/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고도-시각 (</a:t>
            </a: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CTrajectoryPlot</a:t>
            </a: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).</a:t>
            </a:r>
            <a:endParaRPr lang="ko-KR" altLang="en-US" sz="900" dirty="0"/>
          </a:p>
        </p:txBody>
      </p:sp>
      <p:cxnSp>
        <p:nvCxnSpPr>
          <p:cNvPr id="31" name="UI Arrow 4"/>
          <p:cNvCxnSpPr/>
          <p:nvPr/>
        </p:nvCxnSpPr>
        <p:spPr>
          <a:xfrm>
            <a:off x="9199626" y="3377691"/>
            <a:ext cx="146050" cy="0"/>
          </a:xfrm>
          <a:prstGeom prst="line">
            <a:avLst/>
          </a:prstGeom>
          <a:ln w="15875">
            <a:solidFill>
              <a:srgbClr val="2563EB"/>
            </a:solidFill>
            <a:tailEnd type="triangle" w="med" len="med"/>
          </a:ln>
        </p:spPr>
      </p:cxnSp>
      <p:sp>
        <p:nvSpPr>
          <p:cNvPr id="32" name="UI Badge 4"/>
          <p:cNvSpPr/>
          <p:nvPr/>
        </p:nvSpPr>
        <p:spPr>
          <a:xfrm>
            <a:off x="8983726" y="3269741"/>
            <a:ext cx="215900" cy="215900"/>
          </a:xfrm>
          <a:prstGeom prst="ellipse">
            <a:avLst/>
          </a:prstGeom>
          <a:solidFill>
            <a:srgbClr val="2563EB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4</a:t>
            </a:r>
            <a:endParaRPr lang="ko-KR" altLang="en-US" sz="950" dirty="0"/>
          </a:p>
        </p:txBody>
      </p:sp>
      <p:sp>
        <p:nvSpPr>
          <p:cNvPr id="33" name="UI Region 5"/>
          <p:cNvSpPr/>
          <p:nvPr/>
        </p:nvSpPr>
        <p:spPr>
          <a:xfrm>
            <a:off x="6188673" y="4392457"/>
            <a:ext cx="2851621" cy="1258823"/>
          </a:xfrm>
          <a:prstGeom prst="roundRect">
            <a:avLst>
              <a:gd name="adj" fmla="val 4000"/>
            </a:avLst>
          </a:prstGeom>
          <a:noFill/>
          <a:ln w="22225">
            <a:solidFill>
              <a:srgbClr val="7C3AE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UI Card 5 Box"/>
          <p:cNvSpPr/>
          <p:nvPr/>
        </p:nvSpPr>
        <p:spPr>
          <a:xfrm>
            <a:off x="9345676" y="4655474"/>
            <a:ext cx="2203196" cy="732790"/>
          </a:xfrm>
          <a:prstGeom prst="roundRect">
            <a:avLst>
              <a:gd name="adj" fmla="val 6000"/>
            </a:avLst>
          </a:prstGeom>
          <a:solidFill>
            <a:srgbClr val="F3EEFE"/>
          </a:solidFill>
          <a:ln w="12700">
            <a:solidFill>
              <a:srgbClr val="7C3AE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UI Card 5 Text"/>
          <p:cNvSpPr txBox="1"/>
          <p:nvPr/>
        </p:nvSpPr>
        <p:spPr>
          <a:xfrm>
            <a:off x="9472676" y="4744374"/>
            <a:ext cx="1949196" cy="542290"/>
          </a:xfrm>
          <a:prstGeom prst="rect">
            <a:avLst/>
          </a:prstGeom>
          <a:noFill/>
        </p:spPr>
        <p:txBody>
          <a:bodyPr wrap="none" lIns="0" tIns="0" rIns="0" bIns="0" anchor="t" rtlCol="0">
            <a:noAutofit/>
          </a:bodyPr>
          <a:lstStyle/>
          <a:p>
            <a:pPr algn="l"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50" b="1" i="0" dirty="0">
                <a:solidFill>
                  <a:srgbClr val="7C3AED"/>
                </a:solidFill>
                <a:latin typeface="맑은 고딕"/>
                <a:ea typeface="맑은 고딕"/>
                <a:cs typeface="맑은 고딕"/>
              </a:rPr>
              <a:t>⑤ 결과 표 · CSV</a:t>
            </a:r>
            <a:endParaRPr lang="ko-KR" altLang="en-US" sz="1050" dirty="0"/>
          </a:p>
          <a:p>
            <a:pPr algn="l">
              <a:lnSpc>
                <a:spcPts val="126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시각별 위도 · 경도 · 고도 601 행.</a:t>
            </a:r>
            <a:endParaRPr lang="ko-KR" altLang="en-US" sz="900" dirty="0"/>
          </a:p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CSV 저장 (</a:t>
            </a:r>
            <a:r>
              <a:rPr lang="ko-KR" altLang="en-US" sz="8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f_WriteCsv</a:t>
            </a:r>
            <a:r>
              <a:rPr lang="ko-KR" altLang="en-US" sz="9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).</a:t>
            </a:r>
            <a:endParaRPr lang="ko-KR" altLang="en-US" sz="900" dirty="0"/>
          </a:p>
        </p:txBody>
      </p:sp>
      <p:cxnSp>
        <p:nvCxnSpPr>
          <p:cNvPr id="36" name="UI Arrow 5"/>
          <p:cNvCxnSpPr/>
          <p:nvPr/>
        </p:nvCxnSpPr>
        <p:spPr>
          <a:xfrm>
            <a:off x="9199626" y="5021869"/>
            <a:ext cx="146050" cy="0"/>
          </a:xfrm>
          <a:prstGeom prst="line">
            <a:avLst/>
          </a:prstGeom>
          <a:ln w="15875">
            <a:solidFill>
              <a:srgbClr val="7C3AED"/>
            </a:solidFill>
            <a:tailEnd type="triangle" w="med" len="med"/>
          </a:ln>
        </p:spPr>
      </p:cxnSp>
      <p:sp>
        <p:nvSpPr>
          <p:cNvPr id="37" name="UI Badge 5"/>
          <p:cNvSpPr/>
          <p:nvPr/>
        </p:nvSpPr>
        <p:spPr>
          <a:xfrm>
            <a:off x="8983726" y="4913919"/>
            <a:ext cx="215900" cy="215900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</a:ln>
          <a:effectLst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50" b="1" i="0" dirty="0">
                <a:solidFill>
                  <a:srgbClr val="FFFFFF"/>
                </a:solidFill>
                <a:latin typeface="Arial"/>
                <a:ea typeface="맑은 고딕"/>
                <a:cs typeface="맑은 고딕"/>
              </a:rPr>
              <a:t>5</a:t>
            </a:r>
            <a:endParaRPr lang="ko-KR" altLang="en-US" sz="950" dirty="0"/>
          </a:p>
        </p:txBody>
      </p:sp>
      <p:sp>
        <p:nvSpPr>
          <p:cNvPr id="38" name="UI Note Box"/>
          <p:cNvSpPr/>
          <p:nvPr/>
        </p:nvSpPr>
        <p:spPr>
          <a:xfrm>
            <a:off x="640080" y="5816962"/>
            <a:ext cx="10908792" cy="346094"/>
          </a:xfrm>
          <a:prstGeom prst="rect">
            <a:avLst/>
          </a:prstGeom>
          <a:solidFill>
            <a:srgbClr val="F7F9FC"/>
          </a:solidFill>
          <a:ln w="12700">
            <a:solidFill>
              <a:srgbClr val="D2D9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UI Note"/>
          <p:cNvSpPr txBox="1"/>
          <p:nvPr/>
        </p:nvSpPr>
        <p:spPr>
          <a:xfrm>
            <a:off x="792480" y="5816962"/>
            <a:ext cx="10603992" cy="346094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칸을 고치면  </a:t>
            </a:r>
            <a:r>
              <a:rPr lang="ko-KR" altLang="en-US" sz="9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f_RunScenario </a:t>
            </a:r>
            <a:r>
              <a:rPr lang="ko-KR" altLang="en-US" sz="9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lang="ko-KR" altLang="en-US" sz="9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CScenario::f_BuildConfig </a:t>
            </a:r>
            <a:r>
              <a:rPr lang="ko-KR" altLang="en-US" sz="950" b="0" i="0" dirty="0">
                <a:solidFill>
                  <a:srgbClr val="1B2740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lang="ko-KR" altLang="en-US" sz="950" b="0" i="0" dirty="0">
                <a:solidFill>
                  <a:srgbClr val="1B2740"/>
                </a:solidFill>
                <a:latin typeface="Consolas"/>
                <a:ea typeface="맑은 고딕"/>
                <a:cs typeface="맑은 고딕"/>
              </a:rPr>
              <a:t> CSimResult::f_Run</a:t>
            </a:r>
            <a:r>
              <a:rPr lang="ko-KR" altLang="en-US" sz="1000" b="0" i="0" dirty="0">
                <a:solidFill>
                  <a:srgbClr val="3F4B63"/>
                </a:solidFill>
                <a:latin typeface="맑은 고딕"/>
                <a:ea typeface="맑은 고딕"/>
                <a:cs typeface="맑은 고딕"/>
              </a:rPr>
              <a:t>  순서로 전 구간을 다시 계산하고 그림 · 표를 새로 그린다.</a:t>
            </a:r>
            <a:endParaRPr lang="ko-KR" alt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 3  표적 궤적 모의</dc:title>
  <dc:subject>표준 제안/보고 서식</dc:subject>
  <dc:creator>Janghwan Kim (Harley)</dc:creator>
  <cp:lastModifiedBy>PptxGenJS</cp:lastModifiedBy>
  <cp:revision>1</cp:revision>
  <dcterms:created xsi:type="dcterms:W3CDTF">2026-09-21T04:55:30Z</dcterms:created>
  <dcterms:modified xsi:type="dcterms:W3CDTF">2026-09-21T04:55:30Z</dcterms:modified>
</cp:coreProperties>
</file>