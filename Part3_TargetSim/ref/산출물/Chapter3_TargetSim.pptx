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82" r:id="rId33"/>
    <p:sldId id="258" r:id="rId9"/>
    <p:sldId id="259" r:id="rId10"/>
    <p:sldId id="283" r:id="rId34"/>
    <p:sldId id="260" r:id="rId11"/>
    <p:sldId id="261" r:id="rId12"/>
    <p:sldId id="263" r:id="rId14"/>
    <p:sldId id="274" r:id="rId25"/>
    <p:sldId id="275" r:id="rId26"/>
    <p:sldId id="284" r:id="rId35"/>
    <p:sldId id="276" r:id="rId27"/>
    <p:sldId id="264" r:id="rId15"/>
    <p:sldId id="277" r:id="rId28"/>
    <p:sldId id="278" r:id="rId29"/>
    <p:sldId id="279" r:id="rId30"/>
    <p:sldId id="265" r:id="rId16"/>
    <p:sldId id="266" r:id="rId17"/>
    <p:sldId id="267" r:id="rId18"/>
    <p:sldId id="268" r:id="rId6"/>
    <p:sldId id="280" r:id="rId31"/>
    <p:sldId id="285" r:id="rId36"/>
    <p:sldId id="269" r:id="rId5"/>
    <p:sldId id="271" r:id="rId3"/>
    <p:sldId id="281" r:id="rId32"/>
    <p:sldId id="286" r:id="rId37"/>
    <p:sldId id="272" r:id="rId2"/>
    <p:sldId id="273" r:id="rId24"/>
  </p:sldIdLst>
  <p:notesMasterIdLst>
    <p:notesMasterId r:id="rId19"/>
  </p:notesMasterIdLst>
  <p:sldSz cx="12191695"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 Id="rId32" Type="http://schemas.openxmlformats.org/officeDocument/2006/relationships/slide" Target="slides/slide26.xml"/>
  <Relationship Id="rId33" Type="http://schemas.openxmlformats.org/officeDocument/2006/relationships/slide" Target="slides/slide27.xml"/>
  <Relationship Id="rId34" Type="http://schemas.openxmlformats.org/officeDocument/2006/relationships/slide" Target="slides/slide28.xml"/>
  <Relationship Id="rId35" Type="http://schemas.openxmlformats.org/officeDocument/2006/relationships/slide" Target="slides/slide29.xml"/>
  <Relationship Id="rId36" Type="http://schemas.openxmlformats.org/officeDocument/2006/relationships/slide" Target="slides/slide30.xml"/>
  <Relationship Id="rId37" Type="http://schemas.openxmlformats.org/officeDocument/2006/relationships/slide" Target="slides/slide3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이번 과제 주제는 표적 궤적 모의입니다. 표적의 초기 위치와 자세, 속력, 기동을 넣으면 시간에 따라 표적이 어떻게 움직이는지 계산하는 프로그램을 만들었습니다. 구현 내용과 결과를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목차입니다. 발표는 개요, 표적 정의, 궤적 생성, 결과 확인, 결론의 다섯 장으로 구성했습니다.</a:t>
            </a:r>
          </a:p>
          <a:p>
            <a:r>
              <a:t>각 장의 첫 쪽에서 그 장에서 다룰 절을 먼저 소개하고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표적 궤적 모의는 레이다 처리 흐름의 맨 앞 블록입니다. 표적이 실제로 움직인 궤적, 즉 참값을 만들어 뒤쪽 블록에 넘겨줍니다. 추적 필터가 맞게 추적했는지도 이 참값으로 판단합니다.</a:t>
            </a:r>
          </a:p>
          <a:p>
            <a:r>
              <a:t>구현은 표적 정의, 궤적 생성, 결과 확인 세 단계로 나눴고, 이 순서대로 두 번째 장부터 네 번째 장까지 설명드리겠습니다. 아래는 과제 요구사항을 단계별로 정리한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프로그램은 계산을 맡는 DLL 과 화면을 맡는 UI 로 나눴습니다.</a:t>
            </a:r>
          </a:p>
          <a:p>
            <a:r>
              <a:t>아래 DLL 에서는 이번에 작성한 TargetSim.c 가 표적 상태를 갱신하고, 좌표 변환과 행렬 연산은 참고 소스 코드를 그대로 씁니다. 위쪽 UI 는 입력 표와 궤적 그림, 결과 표를 맡습니다.</a:t>
            </a:r>
          </a:p>
          <a:p>
            <a:r>
              <a:t>둘은 설정 구조체 ST_SimConfig 와 결과 구조체 ST_SimSample 로만 주고받습니다.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표적 하나는 입력값 일곱 개로 정의합니다. 위도, 경도, 고도, 속력, 그리고 Roll, Pitch, Yaw 입니다. 속도는 크기만 받고 방향은 자세각이 정합니다. 예를 들어 Yaw 가 180도면 기수가 남쪽이라, 속력 200 만으로 남쪽 200 m/s 속도가 됩니다.</a:t>
            </a:r>
          </a:p>
          <a:p>
            <a:r>
              <a:t>계산할 때는 과제 요구사항대로 이 값을 ECEF 위치와 속도, 자세각, 아홉 개로 바꿔 씁니다. 결과를 출력할 때만 위경도로 다시 바꿉니다.</a:t>
            </a:r>
          </a:p>
          <a:p>
            <a:r>
              <a:t>오른쪽이 이 값을 담는 구조체입니다. 설정에는 플랫폼 하나와 표적 최대 10개, 표적마다 기동 최대 30개가 들어갑니다. 결과에서는 플랫폼도 표적과 같은 상태 구조체를 써서, 한 시각의 결과에 플랫폼 1개와 표적 최대 10개, 모두 11개의 상태 자리가 있습니다. 설정은 처음에 한 번 읽고, 스텝마다 바뀌는 건 결과뿐입니다.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기동 하나는 네 값으로 정합니다. 어느 축으로, 얼마나 세게, 언제부터 언제까지 도는지입니다. 세기는 G 값의 크기로, 방향은 부호로 받습니다.</a:t>
            </a:r>
          </a:p>
          <a:p>
            <a:r>
              <a:t>계산에 필요한 건 1초에 몇 도 도는지, 즉 각속도입니다. 원운동 가속도를 중력가속도의 n 배로 놓으면 각속도는 n 곱하기 g 를 속력으로 나눈 값이고, 코드도 이 식 한 줄입니다. 그래서 같은 4G 라도 느린 배는 빨리 돌고, 빠른 항공기는 천천히 돕니다.</a:t>
            </a:r>
          </a:p>
          <a:p>
            <a:r>
              <a:t>아래는 제목 밑에 적은 예시입니다. 12초부터 20초까지 오른쪽으로 4G 는 구조체 한 줄로 이렇게 들어갑니다. 대공 표적이라면 초당 11.2도씩, 8초 동안 약 90도를 돕니다. 기동 구간 밖에서는 각속도가 0 이라 직진합니다.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헤더 파일 TargetSim.h 의 구조체를 실제 코드 화면으로 보겠습니다. 왼쪽 숫자는 소스의 줄 번호이고, 변수마다 주석에 뜻이 적혀 있습니다. 작은 것부터 차례로, 세 쪽에 나눠 담았습니다.</a:t>
            </a:r>
          </a:p>
          <a:p>
            <a:r>
              <a:t>먼저 회전축 번호입니다. 기동 표의 축 칸에 들어가는 값으로, 1 은 좌우로 기울이는 Roll, 2 는 좌우로 방향을 트는 Yaw, 3 은 기수를 들고 내리는 Pitch 이고, 0 은 돌지 않고 직진합니다.</a:t>
            </a:r>
          </a:p>
          <a:p>
            <a:r>
              <a:t>다음은 기동 한 건으로, 기동 표의 한 줄입니다. 어느 축으로 몇 G 로, 언제부터 언제까지 돌지를 적습니다. gravityValue 가 G 값이고 부호가 도는 방향입니다. 예를 들어 Yaw, 4G, 12초부터 20초까지면 그동안 오른쪽으로 선회합니다.</a:t>
            </a:r>
          </a:p>
          <a:p>
            <a:r>
              <a:t>아래는 표적 하나의 초기값으로, 표적 표의 한 줄과 그 표적의 기동 목록입니다. 처음 위치와 자세, 속력을 받는데, 속도는 크기만 받고 방향은 자세가 정합니다. 대공 표적이라면 고도 300미터에서 Yaw 180도, 즉 남쪽으로 200 m/s 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표적을 0.1초 앞으로 보내는 한 스텝입니다. 위의 다섯 단계를 차례로 거칩니다.</a:t>
            </a:r>
          </a:p>
          <a:p>
            <a:r>
              <a:t>1번, 지금 시각에 걸린 기동을 찾아 각속도를 구합니다. 걸린 기동이 없으면 각속도 0 으로 직진합니다. 2번, 각속도만큼 자세를 돌립니다. 3번, 자세가 정해지면 기수 방향 속력을 ECEF 속도 벡터로 바꿉니다.</a:t>
            </a:r>
          </a:p>
          <a:p>
            <a:r>
              <a:t>4번, 그 속도로 위치를 0.1초 옮기고, 5번, 옮긴 위치를 위도, 경도, 고도로 바꿔 결과에 담습니다.</a:t>
            </a:r>
          </a:p>
          <a:p>
            <a:r>
              <a:t>아래 짧은 화살표처럼 3번과 4번은 0.05초 앞 지점에서 한 번 더 계산합니다. 중점법이라고 하는데, 도는 동안 궤적에서 덜 벗어나게 하려는 것입니다. 긴 화살표처럼 이 다섯 단계를 표적 수만큼 반복하고, 표적끼리는 서로 영향이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과제의 추가 고민 항목인 속도 벡터 변환입니다. 입력은 속력 하나인데, 위치에 더하려면 ECEF 의 x, y, z 세 성분이 필요합니다.</a:t>
            </a:r>
          </a:p>
          <a:p>
            <a:r>
              <a:t>그래서 회전을 두 번 합니다. 기수 방향 속도를 자세각으로 돌리면 북, 동, 아래 성분이 되고, 이것을 위도와 경도로 한 번 더 돌리면 ECEF 속도가 됩니다.</a:t>
            </a:r>
          </a:p>
          <a:p>
            <a:r>
              <a:t>오른쪽은 대공 표적 예입니다. 남쪽으로 200 m/s 로 날면 NED 에서는 북쪽 성분이 마이너스 200 이고, ECEF 로 바꾸면 아래 세 성분이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본 두 번의 회전을 옮긴 f_Tgt_GetVelEcef 입니다.</a:t>
            </a:r>
          </a:p>
          <a:p>
            <a:r>
              <a:t>함수 머리를 보면 자세와 위치, 속력을 받아서 그 순간의 ECEF 속도 x, y, z 를 돌려줍니다. 플랫폼 상태는 플랫폼 기준 비교일 때만 넘어오고, 평소에는 NULL 입니다. 67행에서 기수 쪽으로 V 인 속도를 자세만큼 돌려 북, 동, 아래 세 성분으로 나눕니다. Yaw 180도로 200 m/s 면 북쪽 성분이 마이너스 200 입니다.</a:t>
            </a:r>
          </a:p>
          <a:p>
            <a:r>
              <a:t>72행에서 이것을 표적이 있는 위도, 경도만큼 한 번 더 돌려 ECEF 로 바꿉니다. 위치가 아니라 속도라서 돌리기만 하면 되므로, 기준점 자리에는 0 을 넣습니다.</a:t>
            </a:r>
          </a:p>
          <a:p>
            <a:r>
              <a:t>아래 else 쪽은 비교용입니다. 설정의 usePlatform 이 1 이면 기준점에 플랫폼 위치를 넣었다가 다시 빼서, 북, 동, 아래를 플랫폼, 즉 레이다 수평면 기준으로 잡습니다. 그러면 표적이 레이다 수평면과 나란히 날아서 대공 표적 고도가 60초 동안 300미터에서 286미터로 내려갑니다. 실제 비행체는 자기 자리의 고도를 지키므로 평소에는 표적 자리 기준으로 계산하고, UI 결과 표에서 플랫폼 기준 비교를 켜면 두 결과를 나란히 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위치를 옮길 때는 어느 지점의 속도를 쓰는지가 중요합니다.</a:t>
            </a:r>
          </a:p>
          <a:p>
            <a:r>
              <a:t>위 그림처럼 출발할 때 속도로만 가면, 표적이 도는 동안 방향이 바뀌어 실제 궤적에서 점점 벗어납니다. 그래서 아래 그림처럼 반 스텝을 먼저 가 보고, 그 지점에서 속도를 다시 구해, 그 속도로 처음 위치에서 한 스텝을 옮깁니다. 이것을 중점법이라고 합니다.</a:t>
            </a:r>
          </a:p>
          <a:p>
            <a:r>
              <a:t>오른쪽 식의 v mid 가 반 스텝 지점에서 다시 구한 속도입니다.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중점법을 구현한 f_Tgt_Propagate 입니다. 길어서 두 쪽으로 나눴습니다.</a:t>
            </a:r>
          </a:p>
          <a:p>
            <a:r>
              <a:t>먼저 0.05초 뒤 자세입니다. halfStep 이 한 스텝의 절반인 0.05초이고, 초당 22.5도로 도는 중이면 1.12도 더 돌아 있습니다. 이 자세는 이번 0.1초 동안 갈 방향을 정하는 데만 쓰고 버립니다.</a:t>
            </a:r>
          </a:p>
          <a:p>
            <a:r>
              <a:t>다음 0.1초 뒤 자세는 같은 식에 0.1초를 넣은 스텝 끝 자세입니다. 스텝이 끝난 뒤 표적의 실제 자세라서 st_NextState 에 저장했다가 다음 스텝의 출발 자세로 넘깁니다. 계산하는 동안 지금 상태는 건드리지 않습니다.</a:t>
            </a:r>
          </a:p>
          <a:p>
            <a:r>
              <a:t>그 아래 0.05초 뒤 위치는 지금 속도로 0.05초 먼저 가 본 자리입니다. 200 m/s 면 10미터 앞입니다. 중간 지점의 속도를 구하려면 자세와 함께 그 자리의 위도, 경도가 필요해서 구하는 위치이고, 이것도 쓰고 버립니다. 정리하면 0.05초 뒤 자세와 위치는 방향을 구하는 데만 쓰고, 0.1초 뒤 자세만 다음 스텝으로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기본 시나리오입니다. 위의 표처럼 과제 명세 2항의 값을 그대로 넣었습니다. 플랫폼은 위도 32도, 경도 126도에 정지해 있고, 대함 표적은 서쪽으로 30 m/s, 대공 표적은 고도 300미터에서 남쪽으로 200 m/s 로, 둘 다 기동 없이 직진합니다. 60초를 0.1초 간격으로 계산하니 스텝은 600번, 0초를 포함한 결과는 601개입니다.</a:t>
            </a:r>
          </a:p>
          <a:p>
            <a:r>
              <a:t>아래가 계산 결과입니다. 왼쪽은 플랫폼을 원점으로 위에서 내려다본 궤적이고, 점 하나가 10초 간격입니다. 대공 표적은 남쪽으로 12킬로미터, 대함 표적은 서쪽으로 1.8킬로미터를 직진했고, 각각 속력에 60초를 곱한 거리입니다. 오른쪽처럼 고도와 속력은 두 표적 모두 60초 동안 처음 값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응용 시나리오입니다. 기본 시나리오는 두 표적 모두 직진이라, 기동 계산을 확인하려고 지그재그 기동 10개를 넣었습니다. 왼쪽 표는 두 표적의 속력에서 G 값마다 각도를 도는 데 걸리는 시간입니다. 같은 1G 라도 90도를 도는 데 대함 표적은 4.8초, 대공 표적은 32초가 걸립니다. 빠른 표적일수록 같은 G 로 천천히 돌기 때문입니다.</a:t>
            </a:r>
          </a:p>
          <a:p>
            <a:r>
              <a:t>그래서 느린 대함 표적은 1G 로 45도씩 네 번, 한 번에 2.4초씩 돌게 했습니다. 대공 표적은 90도 다섯 번과 150도 한 번을 60초 안에 돌아야 하는데, 4G 로도 모두 53초가 걸려 직진할 틈이 거의 없습니다. 그래서 두 배인 8G 로 정해 90도는 4초, 150도는 6.7초에 돌고, 나머지 33초는 직진합니다.</a:t>
            </a:r>
          </a:p>
          <a:p>
            <a:r>
              <a:t>아래 띠는 기동이 걸린 시각과 방향이고, 막대 하나가 오른쪽 궤적에서 꺾인 곳 하나입니다. 파란 대함 표적은 서쪽으로 가다가 8초부터 남서쪽으로 돌아 남쪽으로 170미터쯤 비켜 가고, 16초부터 다시 서쪽, 42초부터 북서쪽, 50초부터 서쪽으로 돌아 원래 위도로 돌아옵니다. 빨간 대공 표적은 남쪽으로 출발해 동, 남, 서, 남, 동 순서로 90도씩 돌고, 마지막 53.3초부터 150도를 돌아 남서쪽으로 향합니다. 기동 구간에서만 방향이 바뀌고, 나머지 구간은 직진합니다.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 요구사항과 구현을 한 표로 정리했습니다.</a:t>
            </a:r>
          </a:p>
          <a:p>
            <a:r>
              <a:t>표적 10개, 기동 30개는 고정 배열로 담았고, 위치와 속력, 기동은 구조체로 받습니다. 상태는 ECEF 에서 갱신하고, 속도 변환은 동체에서 NED, ECEF 로 두 번 회전해 구현했습니다. 좌표변환은 참고 소스 함수를 그대로 썼고, 결과는 표와 CSV, 그림으로 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마치겠습니다. 코드는 radar-sw-study 저장소의 Part3_TargetSim 폴더에 있습니다. 감사합니다. 질문 주시면 답변드리겠습니다.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플랫폼 초기값입니다. 플랫폼은 레이다를 실은 우리 쪽이고, 기동이 없어서 위치와 자세, 속력만 받습니다. 자세는 바뀌지 않고, 속력이 있다면 그 자세 방향으로 움직입니다. 과제에서는 위도 32도, 경도 126도에 정지해 있고, 궤적 그림에서는 이 위치가 원점이 됩니다.</a:t>
            </a:r>
          </a:p>
          <a:p>
            <a:r>
              <a:t>아래는 시뮬레이션 전체 설정입니다. 60초를 0.1초 간격으로 계산하고, 플랫폼 하나와 표적 최대 10개가 들어갑니다. noMidPoint 와 usePlatform 은 계산 방식을 비교할 때만 1 로 두는 값이고, 평소에는 0 입니다. 아래 띠처럼 UI 는 입력 표를 읽어 이 설정 한 묶음을 채운 뒤 DLL 에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계산 결과 쪽입니다. 맨 위는 플랫폼이나 표적 하나의 상태로, 한 시각에 어디에서 어느 쪽으로 가고 있는지를 담습니다. 계산에는 ECEF 위치와 속도를 쓰고, 같은 위치의 위도, 경도, 고도는 표와 CSV 에 씁니다. 플랫폼도 이 구조체를 씁니다.</a:t>
            </a:r>
          </a:p>
          <a:p>
            <a:r>
              <a:t>그 아래는 한 시각의 결과로, 결과 표의 한 줄에 해당합니다. 0.1초마다 하나씩 쌓여 60초면 601개가 되고, 시각과 스텝 번호, 그 시각의 플랫폼과 표적 상태가 들어 있습니다. 이어서 진행 상태는 DLL 이 계산을 이어 가려고 들고 있는 값으로, 처음에 복사해 둔 설정과 가장 최근 결과, 모두 몇 번 나아갈지를 담습니다.</a:t>
            </a:r>
          </a:p>
          <a:p>
            <a:r>
              <a:t>마지막으로 UI 는 이 두 함수만 부릅니다. f_Tgt_InitSim 을 처음에 한 번 부르면 0초 결과가 만들어지고, f_Tgt_StepSim 을 부를 때마다 0.1초 뒤 결과가 나옵니다. 600번 부르면 60초까지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초기화 함수 f_Tgt_InitSim 입니다. TargetSim.c 의 156행부터 181행까지이고, 표시한 블록을 위에서부터 차례로 보겠습니다.</a:t>
            </a:r>
          </a:p>
          <a:p>
            <a:r>
              <a:t>163행에서 UI 가 준 설정을 st_Sim 안에 통째로 복사해 둡니다. 한 스텝 함수는 st_Sim 만 받기 때문에, 이후에는 이 복사본을 읽습니다. 다음 스텝 수는 60초를 0.1초씩 나눈 600번이고, 0초 결과까지 합치면 결과는 601개입니다. 나눗셈에 0.5를 더하는 건 반올림입니다. 103.6초를 0.1초로 나누면 컴퓨터에서는 1035.999… 로 조금 모자라게 나와서, 그냥 자르면 한 번이 빠지기 때문입니다.</a:t>
            </a:r>
          </a:p>
          <a:p>
            <a:r>
              <a:t>이어서 결과를 0초로 맞춥니다. 시각과 스텝 번호를 0 으로 두고 표적 수를 넣습니다. st_Sample 에는 늘 가장 최근 결과가 들어 있습니다. 마지막으로 플랫폼과 표적마다 0초의 위치와 속도를 만듭니다. 입력한 위도, 경도, 고도는 ECEF 위치로 바꾸고, 속력과 자세로 ECEF 속도를 구합니다.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스텝을 진행하는 f_Tgt_StepSim 입니다. 183행부터 213행까지입니다.</a:t>
            </a:r>
          </a:p>
          <a:p>
            <a:r>
              <a:t>먼저 이번 스텝이 몇 초에서 몇 초로 가는지 정합니다. curTime 이 지금 시각, nextTime 이 0.1초 뒤 시각이고, 스텝 5 라면 0.5초에서 0.6초로 갑니다.</a:t>
            </a:r>
          </a:p>
          <a:p>
            <a:r>
              <a:t>다음은 플랫폼을 0.1초 옮깁니다. 기동이 없으니 세 축 모두 0 인 각속도를 넘기고, 과제의 플랫폼은 속력이 0 이라 제자리에 있습니다. 그 아래는 표적 수만큼 반복하면서 206행에서 지금 걸린 기동의 각속도를 구하고, 207행에서 그 각속도로 표적을 0.1초 옮깁니다.</a:t>
            </a:r>
          </a:p>
          <a:p>
            <a:r>
              <a:t>마지막으로 다음 스텝으로 넘어갑니다. 스텝 번호를 하나 올리고 시각을 nextTime 으로 바꿔서, 스텝 5 였다면 스텝 6, 0.6초가 됩니다. UI 가 이 함수를 600번 부르면 60초가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 시각의 각속도를 구하는 f_Tgt_GetAttRate 입니다. 함수가 길어서 두 쪽으로 나눴고, 이 쪽은 11행부터 28행까지입니다.</a:t>
            </a:r>
          </a:p>
          <a:p>
            <a:r>
              <a:t>처음에는 기동이 없다고 보고 시작합니다. 돌려줄 각속도 st_AttRate 는 세 축이 1초에 도는 각도인데, 모두 0, 즉 직진으로 둡니다. 기동을 못 찾으면 이 0 을 그대로 돌려줍니다. 이어서 기동 목록을 처음부터 하나씩 확인해서, 지금 시각이 시작과 종료 사이인 기동을 st_ActiveManeuver 에 담습니다.</a:t>
            </a:r>
          </a:p>
          <a:p>
            <a:r>
              <a:t>아래는 대공 표적에 기동 6개를 넣은 예입니다. 주황색이 기동 구간입니다. 15초는 두 번째 기동 구간 안이라 그 기동이 걸리고, 10초는 어느 구간에도 없어서 각속도 0 으로 직진합니다.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30행부터입니다. 찾은 기동의 G 값을 1초에 도는 각도로 바꿉니다. omega 는 G 값에 9.8 을 곱하고 속력으로 나눈 값입니다. 대공 표적이 8G, 200 m/s 면 약 0.39 rad/s, 초당 약 22.5도입니다. 같은 G 라도 빠른 표적일수록 천천히 돕니다.</a:t>
            </a:r>
          </a:p>
          <a:p>
            <a:r>
              <a:t>그 아래 switch 문에서 이 값을 기동 축 한 칸에만 넣습니다. Yaw 기동이면 st_AttRate 의 Yaw 만 0.39 이고 나머지 두 칸은 0 입니다. 회전축이 없음이면 세 칸 모두 0 그대로라 직진합니다.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중간 지점 속도입니다. 앞에서 구한 중간 지점의 위도, 경도, 고도와 중간 지점 자세로 속도를 다시 구하고, 이 st_VelMid 를 이번 0.1초 동안의 평균 속도로 씁니다.</a:t>
            </a:r>
          </a:p>
          <a:p>
            <a:r>
              <a:t>다음 0.1초 이동은 처음 위치에서 이 속도로 0.1초 가는 것입니다. 200 m/s 면 20미터입니다.</a:t>
            </a:r>
          </a:p>
          <a:p>
            <a:r>
              <a:t>바로 아래 if 문은 비교용입니다. 설정의 noMidPoint 가 1 이면 중간 지점 속도 대신 출발할 때 속도로 0.1초 갑니다. 이렇게 하면 직진만 해도 60초 동안 고도가 2센티미터쯤 올라가고, 대공 표적이 도는 구간에서는 궤적이 최대 14미터 벗어납니다. UI 결과 표에서 비중점법 비교를 켜면 두 결과를 나란히 볼 수 있습니다.</a:t>
            </a:r>
          </a:p>
          <a:p>
            <a:r>
              <a:t>그 아래에서는 옮긴 위치에 맞게 새 위도, 경도, 고도와 새 시각, 그리고 0.1초 뒤 자세로 구한 새 속도를 채웁니다. 마지막 153행에서 다 만든 st_NextState 로 지금 상태를 한 번에 덮어씁니다. 중간에 바꾸면 뒤 계산이 바뀐 값을 읽기 때문입니다. 아래 띠가 두 쪽에 걸친 이 함수 한 번의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운용 화면입니다. 응용 시나리오를 불러와 표적 2 를 고른 상태입니다.</a:t>
            </a:r>
          </a:p>
          <a:p>
            <a:r>
              <a:t>1번에서 시나리오를 고릅니다. 기본, 응용 시나리오 말고도 응용 시나리오 원본 크기가 있는데, 지그재그를 60초에 맞추지 않고 크게 그린 것이라 116초 동안 계산합니다. 2번 표에서 플랫폼과 표적의 초기값을, 3번 표에서 고른 표적의 기동을 고칩니다.</a:t>
            </a:r>
          </a:p>
          <a:p>
            <a:r>
              <a:t>오른쪽 4번은 궤적과 고도, 속력 그림이고, 5번은 시각별 위경도 표입니다. 표 위에서 전체, 플랫폼, 표적 하나를 골라 볼 수 있고, 지금은 표적 2 만 보고 있습니다. 옆의 비중점법 비교나 플랫폼 기준 비교를 켜면 위도, 경도, 고도마다 그 계산 값이 바로 옆에 나옵니다. 플랫폼 기준 비교는 4번 그림에도 같은 색 점선으로 겹쳐 그려서, 고도가 내려가는 것을 바로 볼 수 있습니다. CSV 는 보기, 비교와 관계없이 기본 결과 전체를 저장합니다.</a:t>
            </a:r>
          </a:p>
          <a:p>
            <a:r>
              <a:t>칸을 하나 고치면 아래 순서로 전 구간을 바로 다시 계산해서, 그림과 표가 함께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장, 개요입니다. 과제 개요와 구현 구성을 차례로 말씀드리겠습니다.</a:t>
            </a:r>
          </a:p>
          <a:p>
            <a:r>
              <a:t>좌표변환 이론은 Part 2 에서 다뤘으니, 이번에는 그 이론을 적용한 구현 위주로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장, 표적 정의입니다.</a:t>
            </a:r>
          </a:p>
          <a:p>
            <a:r>
              <a:t>표적과 기동을 어떤 값으로 받는지 먼저 보고, 그 값을 담은 구조체 코드를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장, 궤적 생성입니다.</a:t>
            </a:r>
          </a:p>
          <a:p>
            <a:r>
              <a:t>초기화와 한 스텝의 처리 순서를 먼저 보고, 기동 찾기, 속도 벡터 변환, 한 스텝 전진을 공식과 코드로 차례로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장, 결과 확인입니다.</a:t>
            </a:r>
          </a:p>
          <a:p>
            <a:r>
              <a:t>과제 조건 그대로인 기본 시나리오를 먼저 보고, 지그재그 기동을 넣은 응용 시나리오, 운용 화면 순서로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 결론입니다.</a:t>
            </a:r>
          </a:p>
          <a:p>
            <a:r>
              <a:t>과제 요구사항별로 무엇을 어떻게 구현했는지 정리하겠습니다.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5.xml"/><Relationship Id="rId4" Type="http://schemas.openxmlformats.org/officeDocument/2006/relationships/image" Target="../media/image3.png"/><Relationship Id="rId5"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6.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9.xml"/><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10.xml"/><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12.xml"/><Relationship Id="rId4" Type="http://schemas.openxmlformats.org/officeDocument/2006/relationships/image" Target="../media/image24.png"/><Relationship Id="rId5"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7.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notesSlide" Target="../notesSlides/notesSlide16.xml"/><Relationship Id="rId5" Type="http://schemas.openxmlformats.org/officeDocument/2006/relationships/image" Target="../media/image3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5" Type="http://schemas.openxmlformats.org/officeDocument/2006/relationships/notesSlide" Target="../notesSlides/notesSlide26.xml"/><Relationship Id="rId6" Type="http://schemas.openxmlformats.org/officeDocument/2006/relationships/image" Target="../media/image4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0" y="658368"/>
            <a:ext cx="3017520" cy="274320"/>
          </a:xfrm>
          <a:prstGeom prst="rect">
            <a:avLst/>
          </a:prstGeom>
          <a:noFill/>
        </p:spPr>
        <p:txBody>
          <a:bodyPr wrap="square" lIns="0" rIns="0" tIns="0" bIns="0" anchor="t">
            <a:noAutofit/>
          </a:bodyPr>
          <a:lstStyle/>
          <a:p>
            <a:pPr algn="r">
              <a:lnSpc>
                <a:spcPct val="100000"/>
              </a:lnSpc>
            </a:pPr>
            <a:r>
              <a:rPr sz="1000" b="1">
                <a:solidFill>
                  <a:srgbClr val="FFFFFF"/>
                </a:solidFill>
                <a:latin typeface="Arial"/>
              </a:rPr>
              <a:t>Confidential</a:t>
            </a:r>
          </a:p>
        </p:txBody>
      </p:sp>
      <p:sp>
        <p:nvSpPr>
          <p:cNvPr id="4" name="TextBox 3"/>
          <p:cNvSpPr txBox="1"/>
          <p:nvPr/>
        </p:nvSpPr>
        <p:spPr>
          <a:xfrm>
            <a:off x="4206240" y="2505456"/>
            <a:ext cx="6766560" cy="457200"/>
          </a:xfrm>
          <a:prstGeom prst="rect">
            <a:avLst/>
          </a:prstGeom>
          <a:noFill/>
        </p:spPr>
        <p:txBody>
          <a:bodyPr wrap="square" lIns="0" rIns="0" tIns="0" bIns="0" anchor="t">
            <a:noAutofit/>
          </a:bodyPr>
          <a:lstStyle/>
          <a:p>
            <a:pPr algn="r">
              <a:lnSpc>
                <a:spcPct val="100000"/>
              </a:lnSpc>
            </a:pPr>
            <a:r>
              <a:rPr sz="1400" b="0">
                <a:solidFill>
                  <a:srgbClr val="AEB9CC"/>
                </a:solidFill>
                <a:latin typeface="맑은 고딕"/>
              </a:rPr>
              <a:t>레이다 SW 학습 과제 3</a:t>
            </a:r>
          </a:p>
        </p:txBody>
      </p:sp>
      <p:sp>
        <p:nvSpPr>
          <p:cNvPr id="5" name="TextBox 4"/>
          <p:cNvSpPr txBox="1"/>
          <p:nvPr/>
        </p:nvSpPr>
        <p:spPr>
          <a:xfrm>
            <a:off x="4206240" y="2944368"/>
            <a:ext cx="6766560" cy="685800"/>
          </a:xfrm>
          <a:prstGeom prst="rect">
            <a:avLst/>
          </a:prstGeom>
          <a:noFill/>
        </p:spPr>
        <p:txBody>
          <a:bodyPr wrap="square" lIns="0" rIns="0" tIns="0" bIns="0" anchor="t">
            <a:noAutofit/>
          </a:bodyPr>
          <a:lstStyle/>
          <a:p>
            <a:pPr algn="r">
              <a:lnSpc>
                <a:spcPct val="100000"/>
              </a:lnSpc>
            </a:pPr>
            <a:r>
              <a:rPr sz="3800" b="1">
                <a:solidFill>
                  <a:srgbClr val="FFFFFF"/>
                </a:solidFill>
                <a:latin typeface="맑은 고딕"/>
              </a:rPr>
              <a:t>표적 궤적 모의</a:t>
            </a:r>
          </a:p>
        </p:txBody>
      </p:sp>
      <p:sp>
        <p:nvSpPr>
          <p:cNvPr id="6" name="Rectangle 5"/>
          <p:cNvSpPr/>
          <p:nvPr/>
        </p:nvSpPr>
        <p:spPr>
          <a:xfrm>
            <a:off x="7863840" y="3913632"/>
            <a:ext cx="3108960" cy="0"/>
          </a:xfrm>
          <a:prstGeom prst="rect">
            <a:avLst/>
          </a:prstGeom>
          <a:noFill/>
          <a:ln w="9525">
            <a:solidFill>
              <a:srgbClr val="AEB9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06240" y="4059936"/>
            <a:ext cx="6766560" cy="292608"/>
          </a:xfrm>
          <a:prstGeom prst="rect">
            <a:avLst/>
          </a:prstGeom>
          <a:noFill/>
        </p:spPr>
        <p:txBody>
          <a:bodyPr wrap="square" lIns="0" rIns="0" tIns="0" bIns="0" anchor="t">
            <a:noAutofit/>
          </a:bodyPr>
          <a:lstStyle/>
          <a:p>
            <a:pPr algn="r">
              <a:lnSpc>
                <a:spcPct val="100000"/>
              </a:lnSpc>
            </a:pPr>
            <a:r>
              <a:rPr sz="1300" b="0">
                <a:solidFill>
                  <a:srgbClr val="AEB9CC"/>
                </a:solidFill>
                <a:latin typeface="Arial"/>
              </a:rPr>
              <a:t>Target Trajectory Simulation</a:t>
            </a:r>
          </a:p>
        </p:txBody>
      </p:sp>
      <p:sp>
        <p:nvSpPr>
          <p:cNvPr id="8" name="TextBox 7"/>
          <p:cNvSpPr txBox="1"/>
          <p:nvPr/>
        </p:nvSpPr>
        <p:spPr>
          <a:xfrm>
            <a:off x="4206240" y="5120640"/>
            <a:ext cx="6766560" cy="292608"/>
          </a:xfrm>
          <a:prstGeom prst="rect">
            <a:avLst/>
          </a:prstGeom>
          <a:noFill/>
        </p:spPr>
        <p:txBody>
          <a:bodyPr wrap="square" lIns="0" rIns="0" tIns="0" bIns="0" anchor="t">
            <a:noAutofit/>
          </a:bodyPr>
          <a:lstStyle/>
          <a:p>
            <a:pPr algn="r">
              <a:lnSpc>
                <a:spcPct val="100000"/>
              </a:lnSpc>
            </a:pPr>
            <a:r>
              <a:rPr sz="1200" b="0">
                <a:solidFill>
                  <a:srgbClr val="FFFFFF"/>
                </a:solidFill>
                <a:latin typeface="맑은 고딕"/>
              </a:rPr>
              <a:t>Janghwan Kim (Harley)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206240" cy="6858000"/>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77240" y="502920"/>
            <a:ext cx="1828800" cy="411480"/>
          </a:xfrm>
          <a:prstGeom prst="rect">
            <a:avLst/>
          </a:prstGeom>
          <a:noFill/>
        </p:spPr>
        <p:txBody>
          <a:bodyPr wrap="square" lIns="0" rIns="0" tIns="0" bIns="0" anchor="t">
            <a:noAutofit/>
          </a:bodyPr>
          <a:lstStyle/>
          <a:p>
            <a:pPr algn="l">
              <a:lnSpc>
                <a:spcPct val="100000"/>
              </a:lnSpc>
            </a:pPr>
            <a:r>
              <a:rPr sz="2600" b="1">
                <a:solidFill>
                  <a:srgbClr val="FFFFFF"/>
                </a:solidFill>
                <a:latin typeface="Arial"/>
              </a:rPr>
              <a:t>INDEX</a:t>
            </a:r>
          </a:p>
        </p:txBody>
      </p:sp>
      <p:sp>
        <p:nvSpPr>
          <p:cNvPr id="4" name="Rectangle 3"/>
          <p:cNvSpPr/>
          <p:nvPr/>
        </p:nvSpPr>
        <p:spPr>
          <a:xfrm>
            <a:off x="2103120" y="722376"/>
            <a:ext cx="2103120" cy="0"/>
          </a:xfrm>
          <a:prstGeom prst="rect">
            <a:avLst/>
          </a:prstGeom>
          <a:noFill/>
          <a:ln w="9525">
            <a:solidFill>
              <a:srgbClr val="4A5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206240" y="722376"/>
            <a:ext cx="7269480"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743200"/>
            <a:ext cx="3291840" cy="1188720"/>
          </a:xfrm>
          <a:prstGeom prst="rect">
            <a:avLst/>
          </a:prstGeom>
          <a:noFill/>
        </p:spPr>
        <p:txBody>
          <a:bodyPr wrap="square" lIns="0" rIns="0" tIns="0" bIns="0" anchor="t">
            <a:noAutofit/>
          </a:bodyPr>
          <a:lstStyle/>
          <a:p>
            <a:pPr algn="ctr">
              <a:lnSpc>
                <a:spcPct val="145000"/>
              </a:lnSpc>
            </a:pPr>
            <a:r>
              <a:rPr sz="1800" b="1">
                <a:solidFill>
                  <a:srgbClr val="FFFFFF"/>
                </a:solidFill>
                <a:latin typeface="맑은 고딕"/>
              </a:rPr>
              <a:t>표적 궤적 모의</a:t>
            </a:r>
          </a:p>
          <a:p>
            <a:pPr algn="ctr">
              <a:lnSpc>
                <a:spcPct val="145000"/>
              </a:lnSpc>
            </a:pPr>
            <a:r>
              <a:rPr sz="1800" b="1">
                <a:solidFill>
                  <a:srgbClr val="FFFFFF"/>
                </a:solidFill>
                <a:latin typeface="맑은 고딕"/>
              </a:rPr>
              <a:t>TargetSim</a:t>
            </a:r>
          </a:p>
        </p:txBody>
      </p:sp>
      <p:sp>
        <p:nvSpPr>
          <p:cNvPr id="7" name="TextBox 6"/>
          <p:cNvSpPr txBox="1"/>
          <p:nvPr/>
        </p:nvSpPr>
        <p:spPr>
          <a:xfrm>
            <a:off x="457200" y="6035040"/>
            <a:ext cx="3291840" cy="274320"/>
          </a:xfrm>
          <a:prstGeom prst="rect">
            <a:avLst/>
          </a:prstGeom>
          <a:noFill/>
        </p:spPr>
        <p:txBody>
          <a:bodyPr wrap="square" lIns="0" rIns="0" tIns="0" bIns="0" anchor="t">
            <a:noAutofit/>
          </a:bodyPr>
          <a:lstStyle/>
          <a:p>
            <a:pPr algn="ctr">
              <a:lnSpc>
                <a:spcPct val="100000"/>
              </a:lnSpc>
            </a:pPr>
            <a:r>
              <a:rPr sz="1000" b="0">
                <a:solidFill>
                  <a:srgbClr val="AEB9CC"/>
                </a:solidFill>
                <a:latin typeface="맑은 고딕"/>
              </a:rPr>
              <a:t>Janghwan Kim (Harley)</a:t>
            </a:r>
          </a:p>
        </p:txBody>
      </p:sp>
      <p:sp>
        <p:nvSpPr>
          <p:cNvPr id="23" name="Index Num 1"/>
          <p:cNvSpPr txBox="1"/>
          <p:nvPr/>
        </p:nvSpPr>
        <p:spPr>
          <a:xfrm>
            <a:off x="4800600" y="1741932"/>
            <a:ext cx="9144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3000" b="1" i="0" dirty="0">
                <a:solidFill>
                  <a:srgbClr val="1B2740"/>
                </a:solidFill>
                <a:latin typeface="Arial"/>
                <a:ea typeface="맑은 고딕"/>
                <a:cs typeface="맑은 고딕"/>
              </a:rPr>
              <a:t>01</a:t>
            </a:r>
            <a:endParaRPr lang="ko-KR" altLang="en-US" sz="1000" dirty="0"/>
          </a:p>
        </p:txBody>
      </p:sp>
      <p:sp>
        <p:nvSpPr>
          <p:cNvPr id="24" name="Index Title 1"/>
          <p:cNvSpPr txBox="1"/>
          <p:nvPr/>
        </p:nvSpPr>
        <p:spPr>
          <a:xfrm>
            <a:off x="5852160" y="1741932"/>
            <a:ext cx="4318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500" b="1" i="0" dirty="0">
                <a:solidFill>
                  <a:srgbClr val="1B2740"/>
                </a:solidFill>
                <a:latin typeface="맑은 고딕"/>
                <a:ea typeface="맑은 고딕"/>
                <a:cs typeface="맑은 고딕"/>
              </a:rPr>
              <a:t>개요</a:t>
            </a:r>
            <a:endParaRPr lang="ko-KR" altLang="en-US" sz="1000" dirty="0"/>
          </a:p>
        </p:txBody>
      </p:sp>
      <p:sp>
        <p:nvSpPr>
          <p:cNvPr id="25" name="Index Leader 1"/>
          <p:cNvSpPr/>
          <p:nvPr/>
        </p:nvSpPr>
        <p:spPr>
          <a:xfrm>
            <a:off x="6436360" y="2044192"/>
            <a:ext cx="4450080" cy="0"/>
          </a:xfrm>
          <a:prstGeom prst="line">
            <a:avLst/>
          </a:prstGeom>
          <a:noFill/>
          <a:ln w="15875" cap="rnd">
            <a:solidFill>
              <a:srgbClr val="AEB9CC"/>
            </a:solidFill>
            <a:prstDash val="sysDot"/>
          </a:ln>
        </p:spPr>
      </p:sp>
      <p:sp>
        <p:nvSpPr>
          <p:cNvPr id="26" name="Index Page 1"/>
          <p:cNvSpPr txBox="1"/>
          <p:nvPr/>
        </p:nvSpPr>
        <p:spPr>
          <a:xfrm>
            <a:off x="11013440" y="1741932"/>
            <a:ext cx="508000"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400" b="0" i="0" dirty="0">
                <a:solidFill>
                  <a:srgbClr val="1B2740"/>
                </a:solidFill>
                <a:latin typeface="Arial"/>
                <a:ea typeface="맑은 고딕"/>
                <a:cs typeface="맑은 고딕"/>
              </a:rPr>
              <a:t>3</a:t>
            </a:r>
            <a:endParaRPr lang="ko-KR" altLang="en-US" sz="1000" dirty="0"/>
          </a:p>
        </p:txBody>
      </p:sp>
      <p:sp>
        <p:nvSpPr>
          <p:cNvPr id="27" name="Index Rule 1"/>
          <p:cNvSpPr/>
          <p:nvPr/>
        </p:nvSpPr>
        <p:spPr>
          <a:xfrm>
            <a:off x="4800600" y="2432304"/>
            <a:ext cx="6720840" cy="0"/>
          </a:xfrm>
          <a:prstGeom prst="line">
            <a:avLst/>
          </a:prstGeom>
          <a:noFill/>
          <a:ln w="9525" cap="rnd">
            <a:solidFill>
              <a:srgbClr val="D2D9E5"/>
            </a:solidFill>
            <a:prstDash val="solid"/>
          </a:ln>
        </p:spPr>
      </p:sp>
      <p:sp>
        <p:nvSpPr>
          <p:cNvPr id="28" name="Index Num 2"/>
          <p:cNvSpPr txBox="1"/>
          <p:nvPr/>
        </p:nvSpPr>
        <p:spPr>
          <a:xfrm>
            <a:off x="4800600" y="2619756"/>
            <a:ext cx="9144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3000" b="1" i="0" dirty="0">
                <a:solidFill>
                  <a:srgbClr val="1B2740"/>
                </a:solidFill>
                <a:latin typeface="Arial"/>
                <a:ea typeface="맑은 고딕"/>
                <a:cs typeface="맑은 고딕"/>
              </a:rPr>
              <a:t>02</a:t>
            </a:r>
            <a:endParaRPr lang="ko-KR" altLang="en-US" sz="1000" dirty="0"/>
          </a:p>
        </p:txBody>
      </p:sp>
      <p:sp>
        <p:nvSpPr>
          <p:cNvPr id="29" name="Index Title 2"/>
          <p:cNvSpPr txBox="1"/>
          <p:nvPr/>
        </p:nvSpPr>
        <p:spPr>
          <a:xfrm>
            <a:off x="5852160" y="2619756"/>
            <a:ext cx="917537"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500" b="1" i="0" dirty="0">
                <a:solidFill>
                  <a:srgbClr val="1B2740"/>
                </a:solidFill>
                <a:latin typeface="맑은 고딕"/>
                <a:ea typeface="맑은 고딕"/>
                <a:cs typeface="맑은 고딕"/>
              </a:rPr>
              <a:t>표적 정의</a:t>
            </a:r>
            <a:endParaRPr lang="ko-KR" altLang="en-US" sz="1000" dirty="0"/>
          </a:p>
        </p:txBody>
      </p:sp>
      <p:sp>
        <p:nvSpPr>
          <p:cNvPr id="30" name="Index Leader 2"/>
          <p:cNvSpPr/>
          <p:nvPr/>
        </p:nvSpPr>
        <p:spPr>
          <a:xfrm>
            <a:off x="6922097" y="2922016"/>
            <a:ext cx="3964343" cy="0"/>
          </a:xfrm>
          <a:prstGeom prst="line">
            <a:avLst/>
          </a:prstGeom>
          <a:noFill/>
          <a:ln w="15875" cap="rnd">
            <a:solidFill>
              <a:srgbClr val="AEB9CC"/>
            </a:solidFill>
            <a:prstDash val="sysDot"/>
          </a:ln>
        </p:spPr>
      </p:sp>
      <p:sp>
        <p:nvSpPr>
          <p:cNvPr id="31" name="Index Page 2"/>
          <p:cNvSpPr txBox="1"/>
          <p:nvPr/>
        </p:nvSpPr>
        <p:spPr>
          <a:xfrm>
            <a:off x="11013440" y="2619756"/>
            <a:ext cx="508000"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400" b="0" i="0" dirty="0">
                <a:solidFill>
                  <a:srgbClr val="1B2740"/>
                </a:solidFill>
                <a:latin typeface="Arial"/>
                <a:ea typeface="맑은 고딕"/>
                <a:cs typeface="맑은 고딕"/>
              </a:rPr>
              <a:t>6</a:t>
            </a:r>
            <a:endParaRPr lang="ko-KR" altLang="en-US" sz="1000" dirty="0"/>
          </a:p>
        </p:txBody>
      </p:sp>
      <p:sp>
        <p:nvSpPr>
          <p:cNvPr id="32" name="Index Rule 2"/>
          <p:cNvSpPr/>
          <p:nvPr/>
        </p:nvSpPr>
        <p:spPr>
          <a:xfrm>
            <a:off x="4800600" y="3310128"/>
            <a:ext cx="6720840" cy="0"/>
          </a:xfrm>
          <a:prstGeom prst="line">
            <a:avLst/>
          </a:prstGeom>
          <a:noFill/>
          <a:ln w="9525" cap="rnd">
            <a:solidFill>
              <a:srgbClr val="D2D9E5"/>
            </a:solidFill>
            <a:prstDash val="solid"/>
          </a:ln>
        </p:spPr>
      </p:sp>
      <p:sp>
        <p:nvSpPr>
          <p:cNvPr id="33" name="Index Num 3"/>
          <p:cNvSpPr txBox="1"/>
          <p:nvPr/>
        </p:nvSpPr>
        <p:spPr>
          <a:xfrm>
            <a:off x="4800600" y="3497580"/>
            <a:ext cx="9144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3000" b="1" i="0" dirty="0">
                <a:solidFill>
                  <a:srgbClr val="1B2740"/>
                </a:solidFill>
                <a:latin typeface="Arial"/>
                <a:ea typeface="맑은 고딕"/>
                <a:cs typeface="맑은 고딕"/>
              </a:rPr>
              <a:t>03</a:t>
            </a:r>
            <a:endParaRPr lang="ko-KR" altLang="en-US" sz="1000" dirty="0"/>
          </a:p>
        </p:txBody>
      </p:sp>
      <p:sp>
        <p:nvSpPr>
          <p:cNvPr id="34" name="Index Title 3"/>
          <p:cNvSpPr txBox="1"/>
          <p:nvPr/>
        </p:nvSpPr>
        <p:spPr>
          <a:xfrm>
            <a:off x="5852160" y="3497580"/>
            <a:ext cx="917537"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500" b="1" i="0" dirty="0">
                <a:solidFill>
                  <a:srgbClr val="1B2740"/>
                </a:solidFill>
                <a:latin typeface="맑은 고딕"/>
                <a:ea typeface="맑은 고딕"/>
                <a:cs typeface="맑은 고딕"/>
              </a:rPr>
              <a:t>궤적 생성</a:t>
            </a:r>
            <a:endParaRPr lang="ko-KR" altLang="en-US" sz="1000" dirty="0"/>
          </a:p>
        </p:txBody>
      </p:sp>
      <p:sp>
        <p:nvSpPr>
          <p:cNvPr id="35" name="Index Leader 3"/>
          <p:cNvSpPr/>
          <p:nvPr/>
        </p:nvSpPr>
        <p:spPr>
          <a:xfrm>
            <a:off x="6922097" y="3799840"/>
            <a:ext cx="3964343" cy="0"/>
          </a:xfrm>
          <a:prstGeom prst="line">
            <a:avLst/>
          </a:prstGeom>
          <a:noFill/>
          <a:ln w="15875" cap="rnd">
            <a:solidFill>
              <a:srgbClr val="AEB9CC"/>
            </a:solidFill>
            <a:prstDash val="sysDot"/>
          </a:ln>
        </p:spPr>
      </p:sp>
      <p:sp>
        <p:nvSpPr>
          <p:cNvPr id="36" name="Index Page 3"/>
          <p:cNvSpPr txBox="1"/>
          <p:nvPr/>
        </p:nvSpPr>
        <p:spPr>
          <a:xfrm>
            <a:off x="11013440" y="3497580"/>
            <a:ext cx="508000"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400" b="0" i="0" dirty="0">
                <a:solidFill>
                  <a:srgbClr val="1B2740"/>
                </a:solidFill>
                <a:latin typeface="Arial"/>
                <a:ea typeface="맑은 고딕"/>
                <a:cs typeface="맑은 고딕"/>
              </a:rPr>
              <a:t>12</a:t>
            </a:r>
            <a:endParaRPr lang="ko-KR" altLang="en-US" sz="1000" dirty="0"/>
          </a:p>
        </p:txBody>
      </p:sp>
      <p:sp>
        <p:nvSpPr>
          <p:cNvPr id="37" name="Index Rule 3"/>
          <p:cNvSpPr/>
          <p:nvPr/>
        </p:nvSpPr>
        <p:spPr>
          <a:xfrm>
            <a:off x="4800600" y="4187952"/>
            <a:ext cx="6720840" cy="0"/>
          </a:xfrm>
          <a:prstGeom prst="line">
            <a:avLst/>
          </a:prstGeom>
          <a:noFill/>
          <a:ln w="9525" cap="rnd">
            <a:solidFill>
              <a:srgbClr val="D2D9E5"/>
            </a:solidFill>
            <a:prstDash val="solid"/>
          </a:ln>
        </p:spPr>
      </p:sp>
      <p:sp>
        <p:nvSpPr>
          <p:cNvPr id="38" name="Index Num 4"/>
          <p:cNvSpPr txBox="1"/>
          <p:nvPr/>
        </p:nvSpPr>
        <p:spPr>
          <a:xfrm>
            <a:off x="4800600" y="4375404"/>
            <a:ext cx="9144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3000" b="1" i="0" dirty="0">
                <a:solidFill>
                  <a:srgbClr val="1B2740"/>
                </a:solidFill>
                <a:latin typeface="Arial"/>
                <a:ea typeface="맑은 고딕"/>
                <a:cs typeface="맑은 고딕"/>
              </a:rPr>
              <a:t>04</a:t>
            </a:r>
            <a:endParaRPr lang="ko-KR" altLang="en-US" sz="1000" dirty="0"/>
          </a:p>
        </p:txBody>
      </p:sp>
      <p:sp>
        <p:nvSpPr>
          <p:cNvPr id="39" name="Index Title 4"/>
          <p:cNvSpPr txBox="1"/>
          <p:nvPr/>
        </p:nvSpPr>
        <p:spPr>
          <a:xfrm>
            <a:off x="5852160" y="4375404"/>
            <a:ext cx="917537"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500" b="1" i="0" dirty="0">
                <a:solidFill>
                  <a:srgbClr val="1B2740"/>
                </a:solidFill>
                <a:latin typeface="맑은 고딕"/>
                <a:ea typeface="맑은 고딕"/>
                <a:cs typeface="맑은 고딕"/>
              </a:rPr>
              <a:t>결과 확인</a:t>
            </a:r>
            <a:endParaRPr lang="ko-KR" altLang="en-US" sz="1000" dirty="0"/>
          </a:p>
        </p:txBody>
      </p:sp>
      <p:sp>
        <p:nvSpPr>
          <p:cNvPr id="40" name="Index Leader 4"/>
          <p:cNvSpPr/>
          <p:nvPr/>
        </p:nvSpPr>
        <p:spPr>
          <a:xfrm>
            <a:off x="6922097" y="4677664"/>
            <a:ext cx="3964343" cy="0"/>
          </a:xfrm>
          <a:prstGeom prst="line">
            <a:avLst/>
          </a:prstGeom>
          <a:noFill/>
          <a:ln w="15875" cap="rnd">
            <a:solidFill>
              <a:srgbClr val="AEB9CC"/>
            </a:solidFill>
            <a:prstDash val="sysDot"/>
          </a:ln>
        </p:spPr>
      </p:sp>
      <p:sp>
        <p:nvSpPr>
          <p:cNvPr id="41" name="Index Page 4"/>
          <p:cNvSpPr txBox="1"/>
          <p:nvPr/>
        </p:nvSpPr>
        <p:spPr>
          <a:xfrm>
            <a:off x="11013440" y="4375404"/>
            <a:ext cx="508000"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400" b="0" i="0" dirty="0">
                <a:solidFill>
                  <a:srgbClr val="1B2740"/>
                </a:solidFill>
                <a:latin typeface="Arial"/>
                <a:ea typeface="맑은 고딕"/>
                <a:cs typeface="맑은 고딕"/>
              </a:rPr>
              <a:t>23</a:t>
            </a:r>
            <a:endParaRPr lang="ko-KR" altLang="en-US" sz="1000" dirty="0"/>
          </a:p>
        </p:txBody>
      </p:sp>
      <p:sp>
        <p:nvSpPr>
          <p:cNvPr id="42" name="Index Rule 4"/>
          <p:cNvSpPr/>
          <p:nvPr/>
        </p:nvSpPr>
        <p:spPr>
          <a:xfrm>
            <a:off x="4800600" y="5065776"/>
            <a:ext cx="6720840" cy="0"/>
          </a:xfrm>
          <a:prstGeom prst="line">
            <a:avLst/>
          </a:prstGeom>
          <a:noFill/>
          <a:ln w="9525" cap="rnd">
            <a:solidFill>
              <a:srgbClr val="D2D9E5"/>
            </a:solidFill>
            <a:prstDash val="solid"/>
          </a:ln>
        </p:spPr>
      </p:sp>
      <p:sp>
        <p:nvSpPr>
          <p:cNvPr id="43" name="Index Num 5"/>
          <p:cNvSpPr txBox="1"/>
          <p:nvPr/>
        </p:nvSpPr>
        <p:spPr>
          <a:xfrm>
            <a:off x="4800600" y="5253228"/>
            <a:ext cx="9144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3000" b="1" i="0" dirty="0">
                <a:solidFill>
                  <a:srgbClr val="1B2740"/>
                </a:solidFill>
                <a:latin typeface="Arial"/>
                <a:ea typeface="맑은 고딕"/>
                <a:cs typeface="맑은 고딕"/>
              </a:rPr>
              <a:t>05</a:t>
            </a:r>
            <a:endParaRPr lang="ko-KR" altLang="en-US" sz="1000" dirty="0"/>
          </a:p>
        </p:txBody>
      </p:sp>
      <p:sp>
        <p:nvSpPr>
          <p:cNvPr id="44" name="Index Title 5"/>
          <p:cNvSpPr txBox="1"/>
          <p:nvPr/>
        </p:nvSpPr>
        <p:spPr>
          <a:xfrm>
            <a:off x="5852160" y="5253228"/>
            <a:ext cx="4318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500" b="1" i="0" dirty="0">
                <a:solidFill>
                  <a:srgbClr val="1B2740"/>
                </a:solidFill>
                <a:latin typeface="맑은 고딕"/>
                <a:ea typeface="맑은 고딕"/>
                <a:cs typeface="맑은 고딕"/>
              </a:rPr>
              <a:t>결론</a:t>
            </a:r>
            <a:endParaRPr lang="ko-KR" altLang="en-US" sz="1000" dirty="0"/>
          </a:p>
        </p:txBody>
      </p:sp>
      <p:sp>
        <p:nvSpPr>
          <p:cNvPr id="45" name="Index Leader 5"/>
          <p:cNvSpPr/>
          <p:nvPr/>
        </p:nvSpPr>
        <p:spPr>
          <a:xfrm>
            <a:off x="6436360" y="5555488"/>
            <a:ext cx="4450080" cy="0"/>
          </a:xfrm>
          <a:prstGeom prst="line">
            <a:avLst/>
          </a:prstGeom>
          <a:noFill/>
          <a:ln w="15875" cap="rnd">
            <a:solidFill>
              <a:srgbClr val="AEB9CC"/>
            </a:solidFill>
            <a:prstDash val="sysDot"/>
          </a:ln>
        </p:spPr>
      </p:sp>
      <p:sp>
        <p:nvSpPr>
          <p:cNvPr id="46" name="Index Page 5"/>
          <p:cNvSpPr txBox="1"/>
          <p:nvPr/>
        </p:nvSpPr>
        <p:spPr>
          <a:xfrm>
            <a:off x="11013440" y="5253228"/>
            <a:ext cx="508000"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400" b="0" i="0" dirty="0">
                <a:solidFill>
                  <a:srgbClr val="1B2740"/>
                </a:solidFill>
                <a:latin typeface="Arial"/>
                <a:ea typeface="맑은 고딕"/>
                <a:cs typeface="맑은 고딕"/>
              </a:rPr>
              <a:t>27</a:t>
            </a:r>
            <a:endParaRPr lang="ko-KR" altLang="en-US" sz="1000" dirty="0"/>
          </a:p>
        </p:txBody>
      </p:sp>
      <p:sp>
        <p:nvSpPr>
          <p:cNvPr id="22" name="TextBox 21"/>
          <p:cNvSpPr txBox="1"/>
          <p:nvPr/>
        </p:nvSpPr>
        <p:spPr>
          <a:xfrm>
            <a:off x="7653527"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01. 개요</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1.1 과제 개요</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표적이 실제로 움직인 궤적, 즉 참값을 만들어 뒤쪽 처리 블록에 넘겨주는 모의입니다.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4</a:t>
            </a:r>
          </a:p>
        </p:txBody>
      </p:sp>
      <p:sp>
        <p:nvSpPr>
          <p:cNvPr id="8" name="TextBox 7"/>
          <p:cNvSpPr txBox="1"/>
          <p:nvPr/>
        </p:nvSpPr>
        <p:spPr>
          <a:xfrm>
            <a:off x="640080" y="2157984"/>
            <a:ext cx="457200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레이다 처리 흐름에서의 위치</a:t>
            </a:r>
            <a:endParaRPr lang="ko-KR" altLang="en-US" sz="1150" dirty="0"/>
          </a:p>
        </p:txBody>
      </p:sp>
      <p:sp>
        <p:nvSpPr>
          <p:cNvPr id="9" name="Rectangle 8"/>
          <p:cNvSpPr/>
          <p:nvPr/>
        </p:nvSpPr>
        <p:spPr>
          <a:xfrm>
            <a:off x="640080" y="2505456"/>
            <a:ext cx="2452878" cy="566928"/>
          </a:xfrm>
          <a:prstGeom prst="rect">
            <a:avLst/>
          </a:prstGeom>
          <a:solidFill>
            <a:srgbClr val="EEF3FE"/>
          </a:solidFill>
          <a:ln w="19050">
            <a:solidFill>
              <a:srgbClr val="2563EB"/>
            </a:solidFill>
          </a:ln>
          <a:effectLst/>
        </p:spPr>
        <p:txBody>
          <a:bodyPr rtlCol="0" anchor="ctr"/>
          <a:lstStyle/>
          <a:p>
            <a:pPr algn="ctr"/>
          </a:p>
        </p:txBody>
      </p:sp>
      <p:sp>
        <p:nvSpPr>
          <p:cNvPr id="10" name="TextBox 9"/>
          <p:cNvSpPr txBox="1"/>
          <p:nvPr/>
        </p:nvSpPr>
        <p:spPr>
          <a:xfrm>
            <a:off x="640080" y="2578608"/>
            <a:ext cx="2452878" cy="237744"/>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표적 궤적 모의</a:t>
            </a:r>
            <a:endParaRPr lang="ko-KR" altLang="en-US" sz="1150" dirty="0"/>
          </a:p>
        </p:txBody>
      </p:sp>
      <p:sp>
        <p:nvSpPr>
          <p:cNvPr id="11" name="TextBox 10"/>
          <p:cNvSpPr txBox="1"/>
          <p:nvPr/>
        </p:nvSpPr>
        <p:spPr>
          <a:xfrm>
            <a:off x="640080" y="2825496"/>
            <a:ext cx="2452878"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시각별 위도 · 경도 · 고도</a:t>
            </a:r>
            <a:endParaRPr lang="ko-KR" altLang="en-US" sz="950" dirty="0"/>
          </a:p>
        </p:txBody>
      </p:sp>
      <p:cxnSp>
        <p:nvCxnSpPr>
          <p:cNvPr id="12" name="Connector 11"/>
          <p:cNvCxnSpPr/>
          <p:nvPr/>
        </p:nvCxnSpPr>
        <p:spPr>
          <a:xfrm>
            <a:off x="3147822" y="2788920"/>
            <a:ext cx="256032" cy="0"/>
          </a:xfrm>
          <a:prstGeom prst="line">
            <a:avLst/>
          </a:prstGeom>
          <a:ln w="15875">
            <a:solidFill>
              <a:srgbClr val="1B2740"/>
            </a:solidFill>
            <a:tailEnd type="triangle" w="med" len="med"/>
          </a:ln>
        </p:spPr>
      </p:cxnSp>
      <p:sp>
        <p:nvSpPr>
          <p:cNvPr id="13" name="Rectangle 12"/>
          <p:cNvSpPr/>
          <p:nvPr/>
        </p:nvSpPr>
        <p:spPr>
          <a:xfrm>
            <a:off x="3458718" y="2505456"/>
            <a:ext cx="2452878" cy="566928"/>
          </a:xfrm>
          <a:prstGeom prst="rect">
            <a:avLst/>
          </a:prstGeom>
          <a:solidFill>
            <a:srgbClr val="F7F9FC"/>
          </a:solidFill>
          <a:ln w="9525">
            <a:solidFill>
              <a:srgbClr val="D2D9E5"/>
            </a:solidFill>
          </a:ln>
          <a:effectLst/>
        </p:spPr>
        <p:txBody>
          <a:bodyPr rtlCol="0" anchor="ctr"/>
          <a:lstStyle/>
          <a:p>
            <a:pPr algn="ctr"/>
          </a:p>
        </p:txBody>
      </p:sp>
      <p:sp>
        <p:nvSpPr>
          <p:cNvPr id="14" name="TextBox 13"/>
          <p:cNvSpPr txBox="1"/>
          <p:nvPr/>
        </p:nvSpPr>
        <p:spPr>
          <a:xfrm>
            <a:off x="3458718" y="2578608"/>
            <a:ext cx="2452878" cy="237744"/>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1150" b="1" i="0" dirty="0">
                <a:solidFill>
                  <a:srgbClr val="7A879F"/>
                </a:solidFill>
                <a:latin typeface="맑은 고딕"/>
                <a:ea typeface="맑은 고딕"/>
                <a:cs typeface="맑은 고딕"/>
              </a:rPr>
              <a:t>측정 모의</a:t>
            </a:r>
            <a:endParaRPr lang="ko-KR" altLang="en-US" sz="1150" dirty="0"/>
          </a:p>
        </p:txBody>
      </p:sp>
      <p:sp>
        <p:nvSpPr>
          <p:cNvPr id="15" name="TextBox 14"/>
          <p:cNvSpPr txBox="1"/>
          <p:nvPr/>
        </p:nvSpPr>
        <p:spPr>
          <a:xfrm>
            <a:off x="3458718" y="2825496"/>
            <a:ext cx="2452878"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안테나 기준 거리 · 각도 + 잡음</a:t>
            </a:r>
            <a:endParaRPr lang="ko-KR" altLang="en-US" sz="950" dirty="0"/>
          </a:p>
        </p:txBody>
      </p:sp>
      <p:cxnSp>
        <p:nvCxnSpPr>
          <p:cNvPr id="16" name="Connector 15"/>
          <p:cNvCxnSpPr/>
          <p:nvPr/>
        </p:nvCxnSpPr>
        <p:spPr>
          <a:xfrm>
            <a:off x="5966460" y="2788920"/>
            <a:ext cx="256032" cy="0"/>
          </a:xfrm>
          <a:prstGeom prst="line">
            <a:avLst/>
          </a:prstGeom>
          <a:ln w="12700">
            <a:solidFill>
              <a:srgbClr val="8794AC"/>
            </a:solidFill>
            <a:tailEnd type="triangle" w="med" len="med"/>
          </a:ln>
        </p:spPr>
      </p:cxnSp>
      <p:sp>
        <p:nvSpPr>
          <p:cNvPr id="17" name="Rectangle 16"/>
          <p:cNvSpPr/>
          <p:nvPr/>
        </p:nvSpPr>
        <p:spPr>
          <a:xfrm>
            <a:off x="6277356" y="2505456"/>
            <a:ext cx="2452878" cy="566928"/>
          </a:xfrm>
          <a:prstGeom prst="rect">
            <a:avLst/>
          </a:prstGeom>
          <a:solidFill>
            <a:srgbClr val="F7F9FC"/>
          </a:solidFill>
          <a:ln w="9525">
            <a:solidFill>
              <a:srgbClr val="D2D9E5"/>
            </a:solidFill>
          </a:ln>
          <a:effectLst/>
        </p:spPr>
        <p:txBody>
          <a:bodyPr rtlCol="0" anchor="ctr"/>
          <a:lstStyle/>
          <a:p>
            <a:pPr algn="ctr"/>
          </a:p>
        </p:txBody>
      </p:sp>
      <p:sp>
        <p:nvSpPr>
          <p:cNvPr id="18" name="TextBox 17"/>
          <p:cNvSpPr txBox="1"/>
          <p:nvPr/>
        </p:nvSpPr>
        <p:spPr>
          <a:xfrm>
            <a:off x="6277356" y="2578608"/>
            <a:ext cx="2452878" cy="237744"/>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1150" b="1" i="0" dirty="0">
                <a:solidFill>
                  <a:srgbClr val="7A879F"/>
                </a:solidFill>
                <a:latin typeface="맑은 고딕"/>
                <a:ea typeface="맑은 고딕"/>
                <a:cs typeface="맑은 고딕"/>
              </a:rPr>
              <a:t>추적 필터</a:t>
            </a:r>
            <a:endParaRPr lang="ko-KR" altLang="en-US" sz="1150" dirty="0"/>
          </a:p>
        </p:txBody>
      </p:sp>
      <p:sp>
        <p:nvSpPr>
          <p:cNvPr id="19" name="TextBox 18"/>
          <p:cNvSpPr txBox="1"/>
          <p:nvPr/>
        </p:nvSpPr>
        <p:spPr>
          <a:xfrm>
            <a:off x="6277356" y="2825496"/>
            <a:ext cx="2452878"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측정값으로 표적 상태 추정</a:t>
            </a:r>
            <a:endParaRPr lang="ko-KR" altLang="en-US" sz="950" dirty="0"/>
          </a:p>
        </p:txBody>
      </p:sp>
      <p:cxnSp>
        <p:nvCxnSpPr>
          <p:cNvPr id="20" name="Connector 19"/>
          <p:cNvCxnSpPr/>
          <p:nvPr/>
        </p:nvCxnSpPr>
        <p:spPr>
          <a:xfrm>
            <a:off x="8785098" y="2788920"/>
            <a:ext cx="256032" cy="0"/>
          </a:xfrm>
          <a:prstGeom prst="line">
            <a:avLst/>
          </a:prstGeom>
          <a:ln w="12700">
            <a:solidFill>
              <a:srgbClr val="8794AC"/>
            </a:solidFill>
            <a:tailEnd type="triangle" w="med" len="med"/>
          </a:ln>
        </p:spPr>
      </p:cxnSp>
      <p:sp>
        <p:nvSpPr>
          <p:cNvPr id="21" name="Rectangle 20"/>
          <p:cNvSpPr/>
          <p:nvPr/>
        </p:nvSpPr>
        <p:spPr>
          <a:xfrm>
            <a:off x="9095994" y="2505456"/>
            <a:ext cx="2452878" cy="566928"/>
          </a:xfrm>
          <a:prstGeom prst="rect">
            <a:avLst/>
          </a:prstGeom>
          <a:solidFill>
            <a:srgbClr val="F7F9FC"/>
          </a:solidFill>
          <a:ln w="9525">
            <a:solidFill>
              <a:srgbClr val="D2D9E5"/>
            </a:solidFill>
          </a:ln>
          <a:effectLst/>
        </p:spPr>
        <p:txBody>
          <a:bodyPr rtlCol="0" anchor="ctr"/>
          <a:lstStyle/>
          <a:p>
            <a:pPr algn="ctr"/>
          </a:p>
        </p:txBody>
      </p:sp>
      <p:sp>
        <p:nvSpPr>
          <p:cNvPr id="22" name="TextBox 21"/>
          <p:cNvSpPr txBox="1"/>
          <p:nvPr/>
        </p:nvSpPr>
        <p:spPr>
          <a:xfrm>
            <a:off x="9095994" y="2578608"/>
            <a:ext cx="2452878" cy="237744"/>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1150" b="1" i="0" dirty="0">
                <a:solidFill>
                  <a:srgbClr val="7A879F"/>
                </a:solidFill>
                <a:latin typeface="맑은 고딕"/>
                <a:ea typeface="맑은 고딕"/>
                <a:cs typeface="맑은 고딕"/>
              </a:rPr>
              <a:t>전시 · 통제</a:t>
            </a:r>
            <a:endParaRPr lang="ko-KR" altLang="en-US" sz="1150" dirty="0"/>
          </a:p>
        </p:txBody>
      </p:sp>
      <p:sp>
        <p:nvSpPr>
          <p:cNvPr id="23" name="TextBox 22"/>
          <p:cNvSpPr txBox="1"/>
          <p:nvPr/>
        </p:nvSpPr>
        <p:spPr>
          <a:xfrm>
            <a:off x="9095994" y="2825496"/>
            <a:ext cx="2452878"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항적 표시</a:t>
            </a:r>
            <a:endParaRPr lang="ko-KR" altLang="en-US" sz="950" dirty="0"/>
          </a:p>
        </p:txBody>
      </p:sp>
      <p:sp>
        <p:nvSpPr>
          <p:cNvPr id="24" name="Rounded Rectangle 23"/>
          <p:cNvSpPr/>
          <p:nvPr/>
        </p:nvSpPr>
        <p:spPr>
          <a:xfrm>
            <a:off x="1482471" y="3154680"/>
            <a:ext cx="768096" cy="228600"/>
          </a:xfrm>
          <a:prstGeom prst="roundRect">
            <a:avLst>
              <a:gd name="adj" fmla="val 24000"/>
            </a:avLst>
          </a:prstGeom>
          <a:solidFill>
            <a:srgbClr val="FFFFFF"/>
          </a:solidFill>
          <a:ln w="12700">
            <a:solidFill>
              <a:srgbClr val="2563EB"/>
            </a:solidFill>
          </a:ln>
          <a:effectLst/>
        </p:spPr>
        <p:txBody>
          <a:bodyPr rtlCol="0" anchor="ctr"/>
          <a:lstStyle/>
          <a:p>
            <a:pPr algn="ctr"/>
          </a:p>
        </p:txBody>
      </p:sp>
      <p:sp>
        <p:nvSpPr>
          <p:cNvPr id="25" name="TextBox 24"/>
          <p:cNvSpPr txBox="1"/>
          <p:nvPr/>
        </p:nvSpPr>
        <p:spPr>
          <a:xfrm>
            <a:off x="1482471" y="3154680"/>
            <a:ext cx="768096" cy="2286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1" i="0" dirty="0">
                <a:solidFill>
                  <a:srgbClr val="2563EB"/>
                </a:solidFill>
                <a:latin typeface="맑은 고딕"/>
                <a:ea typeface="맑은 고딕"/>
                <a:cs typeface="맑은 고딕"/>
              </a:rPr>
              <a:t>이번 과제</a:t>
            </a:r>
            <a:endParaRPr lang="ko-KR" altLang="en-US" sz="900" dirty="0"/>
          </a:p>
        </p:txBody>
      </p:sp>
      <p:sp>
        <p:nvSpPr>
          <p:cNvPr id="26" name="TextBox 25"/>
          <p:cNvSpPr txBox="1"/>
          <p:nvPr/>
        </p:nvSpPr>
        <p:spPr>
          <a:xfrm>
            <a:off x="3458718" y="3163824"/>
            <a:ext cx="8090154" cy="22860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뒤쪽 블록은 이 참값을 기준으로 추적 결과가 맞는지 판단한다.</a:t>
            </a:r>
            <a:endParaRPr lang="ko-KR" altLang="en-US" sz="950" dirty="0"/>
          </a:p>
        </p:txBody>
      </p:sp>
      <p:cxnSp>
        <p:nvCxnSpPr>
          <p:cNvPr id="27" name="Connector 26"/>
          <p:cNvCxnSpPr/>
          <p:nvPr/>
        </p:nvCxnSpPr>
        <p:spPr>
          <a:xfrm>
            <a:off x="640080" y="3566160"/>
            <a:ext cx="10908792" cy="0"/>
          </a:xfrm>
          <a:prstGeom prst="line">
            <a:avLst/>
          </a:prstGeom>
          <a:ln w="9525">
            <a:solidFill>
              <a:srgbClr val="D2D9E5"/>
            </a:solidFill>
          </a:ln>
        </p:spPr>
      </p:cxnSp>
      <p:sp>
        <p:nvSpPr>
          <p:cNvPr id="28" name="TextBox 27"/>
          <p:cNvSpPr txBox="1"/>
          <p:nvPr/>
        </p:nvSpPr>
        <p:spPr>
          <a:xfrm>
            <a:off x="640080" y="3657600"/>
            <a:ext cx="457200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구현 단계</a:t>
            </a:r>
            <a:endParaRPr lang="ko-KR" altLang="en-US" sz="1150" dirty="0"/>
          </a:p>
        </p:txBody>
      </p:sp>
      <p:sp>
        <p:nvSpPr>
          <p:cNvPr id="29" name="Rectangle 28"/>
          <p:cNvSpPr/>
          <p:nvPr/>
        </p:nvSpPr>
        <p:spPr>
          <a:xfrm>
            <a:off x="640080" y="3986784"/>
            <a:ext cx="3429000" cy="1188720"/>
          </a:xfrm>
          <a:prstGeom prst="rect">
            <a:avLst/>
          </a:prstGeom>
          <a:solidFill>
            <a:srgbClr val="FFFFFF"/>
          </a:solidFill>
          <a:ln w="15875">
            <a:solidFill>
              <a:srgbClr val="2563EB"/>
            </a:solidFill>
          </a:ln>
          <a:effectLst/>
        </p:spPr>
        <p:txBody>
          <a:bodyPr rtlCol="0" anchor="ctr"/>
          <a:lstStyle/>
          <a:p>
            <a:pPr algn="ctr"/>
          </a:p>
        </p:txBody>
      </p:sp>
      <p:sp>
        <p:nvSpPr>
          <p:cNvPr id="30" name="Rectangle 29"/>
          <p:cNvSpPr/>
          <p:nvPr/>
        </p:nvSpPr>
        <p:spPr>
          <a:xfrm>
            <a:off x="640080" y="3986784"/>
            <a:ext cx="3429000" cy="329184"/>
          </a:xfrm>
          <a:prstGeom prst="rect">
            <a:avLst/>
          </a:prstGeom>
          <a:solidFill>
            <a:srgbClr val="2563EB"/>
          </a:solidFill>
          <a:ln>
            <a:noFill/>
          </a:ln>
          <a:effectLst/>
        </p:spPr>
        <p:txBody>
          <a:bodyPr rtlCol="0" anchor="ctr"/>
          <a:lstStyle/>
          <a:p>
            <a:pPr algn="ctr"/>
          </a:p>
        </p:txBody>
      </p:sp>
      <p:sp>
        <p:nvSpPr>
          <p:cNvPr id="31" name="TextBox 30"/>
          <p:cNvSpPr txBox="1"/>
          <p:nvPr/>
        </p:nvSpPr>
        <p:spPr>
          <a:xfrm>
            <a:off x="804672" y="3986784"/>
            <a:ext cx="3154680" cy="32918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FFFFFF"/>
                </a:solidFill>
                <a:latin typeface="맑은 고딕"/>
                <a:ea typeface="맑은 고딕"/>
                <a:cs typeface="맑은 고딕"/>
              </a:rPr>
              <a:t>단계 1</a:t>
            </a:r>
            <a:r>
              <a:rPr lang="ko-KR" altLang="en-US" sz="1150" b="1" i="0" dirty="0">
                <a:solidFill>
                  <a:srgbClr val="FFFFFF"/>
                </a:solidFill>
                <a:latin typeface="맑은 고딕"/>
                <a:ea typeface="맑은 고딕"/>
                <a:cs typeface="맑은 고딕"/>
              </a:rPr>
              <a:t>    표적 정의</a:t>
            </a:r>
            <a:endParaRPr lang="ko-KR" altLang="en-US" sz="1000" dirty="0"/>
          </a:p>
        </p:txBody>
      </p:sp>
      <p:sp>
        <p:nvSpPr>
          <p:cNvPr id="32" name="Rectangle 31"/>
          <p:cNvSpPr/>
          <p:nvPr/>
        </p:nvSpPr>
        <p:spPr>
          <a:xfrm>
            <a:off x="841248" y="4485132"/>
            <a:ext cx="54864" cy="54864"/>
          </a:xfrm>
          <a:prstGeom prst="rect">
            <a:avLst/>
          </a:prstGeom>
          <a:solidFill>
            <a:srgbClr val="2563EB"/>
          </a:solidFill>
          <a:ln>
            <a:noFill/>
          </a:ln>
          <a:effectLst/>
        </p:spPr>
        <p:txBody>
          <a:bodyPr rtlCol="0" anchor="ctr"/>
          <a:lstStyle/>
          <a:p>
            <a:pPr algn="ctr"/>
          </a:p>
        </p:txBody>
      </p:sp>
      <p:sp>
        <p:nvSpPr>
          <p:cNvPr id="33" name="TextBox 32"/>
          <p:cNvSpPr txBox="1"/>
          <p:nvPr/>
        </p:nvSpPr>
        <p:spPr>
          <a:xfrm>
            <a:off x="987552" y="4407408"/>
            <a:ext cx="29718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표적 입력값과 상태값</a:t>
            </a:r>
            <a:endParaRPr lang="ko-KR" altLang="en-US" sz="1050" dirty="0"/>
          </a:p>
        </p:txBody>
      </p:sp>
      <p:sp>
        <p:nvSpPr>
          <p:cNvPr id="34" name="Rectangle 33"/>
          <p:cNvSpPr/>
          <p:nvPr/>
        </p:nvSpPr>
        <p:spPr>
          <a:xfrm>
            <a:off x="841248" y="4713732"/>
            <a:ext cx="54864" cy="54864"/>
          </a:xfrm>
          <a:prstGeom prst="rect">
            <a:avLst/>
          </a:prstGeom>
          <a:solidFill>
            <a:srgbClr val="2563EB"/>
          </a:solidFill>
          <a:ln>
            <a:noFill/>
          </a:ln>
          <a:effectLst/>
        </p:spPr>
        <p:txBody>
          <a:bodyPr rtlCol="0" anchor="ctr"/>
          <a:lstStyle/>
          <a:p>
            <a:pPr algn="ctr"/>
          </a:p>
        </p:txBody>
      </p:sp>
      <p:sp>
        <p:nvSpPr>
          <p:cNvPr id="35" name="TextBox 34"/>
          <p:cNvSpPr txBox="1"/>
          <p:nvPr/>
        </p:nvSpPr>
        <p:spPr>
          <a:xfrm>
            <a:off x="987552" y="4636008"/>
            <a:ext cx="29718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기동 입력값과 각속도</a:t>
            </a:r>
            <a:endParaRPr lang="ko-KR" altLang="en-US" sz="1050" dirty="0"/>
          </a:p>
        </p:txBody>
      </p:sp>
      <p:cxnSp>
        <p:nvCxnSpPr>
          <p:cNvPr id="36" name="Connector 35"/>
          <p:cNvCxnSpPr/>
          <p:nvPr/>
        </p:nvCxnSpPr>
        <p:spPr>
          <a:xfrm>
            <a:off x="804672" y="4882896"/>
            <a:ext cx="3099816" cy="0"/>
          </a:xfrm>
          <a:prstGeom prst="line">
            <a:avLst/>
          </a:prstGeom>
          <a:ln w="9525">
            <a:solidFill>
              <a:srgbClr val="D2D9E5"/>
            </a:solidFill>
          </a:ln>
        </p:spPr>
      </p:cxnSp>
      <p:sp>
        <p:nvSpPr>
          <p:cNvPr id="37" name="TextBox 36"/>
          <p:cNvSpPr txBox="1"/>
          <p:nvPr/>
        </p:nvSpPr>
        <p:spPr>
          <a:xfrm>
            <a:off x="804672" y="4937760"/>
            <a:ext cx="548640" cy="20116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850" b="0" i="0" dirty="0">
                <a:solidFill>
                  <a:srgbClr val="8794AC"/>
                </a:solidFill>
                <a:latin typeface="맑은 고딕"/>
                <a:ea typeface="맑은 고딕"/>
                <a:cs typeface="맑은 고딕"/>
              </a:rPr>
              <a:t>산출물</a:t>
            </a:r>
            <a:endParaRPr lang="ko-KR" altLang="en-US" sz="850" dirty="0"/>
          </a:p>
        </p:txBody>
      </p:sp>
      <p:sp>
        <p:nvSpPr>
          <p:cNvPr id="38" name="TextBox 37"/>
          <p:cNvSpPr txBox="1"/>
          <p:nvPr/>
        </p:nvSpPr>
        <p:spPr>
          <a:xfrm>
            <a:off x="1353312" y="4937760"/>
            <a:ext cx="2606040" cy="20116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00" b="0" i="0" dirty="0">
                <a:solidFill>
                  <a:srgbClr val="1B2740"/>
                </a:solidFill>
                <a:latin typeface="Consolas"/>
                <a:ea typeface="맑은 고딕"/>
                <a:cs typeface="맑은 고딕"/>
              </a:rPr>
              <a:t>ST_TargetInit, ST_TargetManeuver</a:t>
            </a:r>
            <a:endParaRPr lang="ko-KR" altLang="en-US" sz="900" dirty="0"/>
          </a:p>
        </p:txBody>
      </p:sp>
      <p:cxnSp>
        <p:nvCxnSpPr>
          <p:cNvPr id="39" name="Connector 38"/>
          <p:cNvCxnSpPr/>
          <p:nvPr/>
        </p:nvCxnSpPr>
        <p:spPr>
          <a:xfrm>
            <a:off x="4114800" y="4581144"/>
            <a:ext cx="219456" cy="0"/>
          </a:xfrm>
          <a:prstGeom prst="line">
            <a:avLst/>
          </a:prstGeom>
          <a:ln w="12700">
            <a:solidFill>
              <a:srgbClr val="8794AC"/>
            </a:solidFill>
            <a:tailEnd type="triangle" w="med" len="med"/>
          </a:ln>
        </p:spPr>
      </p:cxnSp>
      <p:sp>
        <p:nvSpPr>
          <p:cNvPr id="40" name="Rectangle 39"/>
          <p:cNvSpPr/>
          <p:nvPr/>
        </p:nvSpPr>
        <p:spPr>
          <a:xfrm>
            <a:off x="4379976" y="3986784"/>
            <a:ext cx="3429000" cy="1188720"/>
          </a:xfrm>
          <a:prstGeom prst="rect">
            <a:avLst/>
          </a:prstGeom>
          <a:solidFill>
            <a:srgbClr val="FFFFFF"/>
          </a:solidFill>
          <a:ln w="15875">
            <a:solidFill>
              <a:srgbClr val="D97706"/>
            </a:solidFill>
          </a:ln>
          <a:effectLst/>
        </p:spPr>
        <p:txBody>
          <a:bodyPr rtlCol="0" anchor="ctr"/>
          <a:lstStyle/>
          <a:p>
            <a:pPr algn="ctr"/>
          </a:p>
        </p:txBody>
      </p:sp>
      <p:sp>
        <p:nvSpPr>
          <p:cNvPr id="41" name="Rectangle 40"/>
          <p:cNvSpPr/>
          <p:nvPr/>
        </p:nvSpPr>
        <p:spPr>
          <a:xfrm>
            <a:off x="4379976" y="3986784"/>
            <a:ext cx="3429000" cy="329184"/>
          </a:xfrm>
          <a:prstGeom prst="rect">
            <a:avLst/>
          </a:prstGeom>
          <a:solidFill>
            <a:srgbClr val="D97706"/>
          </a:solidFill>
          <a:ln>
            <a:noFill/>
          </a:ln>
          <a:effectLst/>
        </p:spPr>
        <p:txBody>
          <a:bodyPr rtlCol="0" anchor="ctr"/>
          <a:lstStyle/>
          <a:p>
            <a:pPr algn="ctr"/>
          </a:p>
        </p:txBody>
      </p:sp>
      <p:sp>
        <p:nvSpPr>
          <p:cNvPr id="42" name="TextBox 41"/>
          <p:cNvSpPr txBox="1"/>
          <p:nvPr/>
        </p:nvSpPr>
        <p:spPr>
          <a:xfrm>
            <a:off x="4544568" y="3986784"/>
            <a:ext cx="3154680" cy="32918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FFFFFF"/>
                </a:solidFill>
                <a:latin typeface="맑은 고딕"/>
                <a:ea typeface="맑은 고딕"/>
                <a:cs typeface="맑은 고딕"/>
              </a:rPr>
              <a:t>단계 2</a:t>
            </a:r>
            <a:r>
              <a:rPr lang="ko-KR" altLang="en-US" sz="1150" b="1" i="0" dirty="0">
                <a:solidFill>
                  <a:srgbClr val="FFFFFF"/>
                </a:solidFill>
                <a:latin typeface="맑은 고딕"/>
                <a:ea typeface="맑은 고딕"/>
                <a:cs typeface="맑은 고딕"/>
              </a:rPr>
              <a:t>    궤적 생성</a:t>
            </a:r>
            <a:endParaRPr lang="ko-KR" altLang="en-US" sz="1000" dirty="0"/>
          </a:p>
        </p:txBody>
      </p:sp>
      <p:sp>
        <p:nvSpPr>
          <p:cNvPr id="43" name="Rectangle 42"/>
          <p:cNvSpPr/>
          <p:nvPr/>
        </p:nvSpPr>
        <p:spPr>
          <a:xfrm>
            <a:off x="4581144" y="4485132"/>
            <a:ext cx="54864" cy="54864"/>
          </a:xfrm>
          <a:prstGeom prst="rect">
            <a:avLst/>
          </a:prstGeom>
          <a:solidFill>
            <a:srgbClr val="D97706"/>
          </a:solidFill>
          <a:ln>
            <a:noFill/>
          </a:ln>
          <a:effectLst/>
        </p:spPr>
        <p:txBody>
          <a:bodyPr rtlCol="0" anchor="ctr"/>
          <a:lstStyle/>
          <a:p>
            <a:pPr algn="ctr"/>
          </a:p>
        </p:txBody>
      </p:sp>
      <p:sp>
        <p:nvSpPr>
          <p:cNvPr id="44" name="TextBox 43"/>
          <p:cNvSpPr txBox="1"/>
          <p:nvPr/>
        </p:nvSpPr>
        <p:spPr>
          <a:xfrm>
            <a:off x="4727448" y="4407408"/>
            <a:ext cx="29718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속도 벡터 변환 (V → ECEF)</a:t>
            </a:r>
            <a:endParaRPr lang="ko-KR" altLang="en-US" sz="1050" dirty="0"/>
          </a:p>
        </p:txBody>
      </p:sp>
      <p:sp>
        <p:nvSpPr>
          <p:cNvPr id="45" name="Rectangle 44"/>
          <p:cNvSpPr/>
          <p:nvPr/>
        </p:nvSpPr>
        <p:spPr>
          <a:xfrm>
            <a:off x="4581144" y="4713732"/>
            <a:ext cx="54864" cy="54864"/>
          </a:xfrm>
          <a:prstGeom prst="rect">
            <a:avLst/>
          </a:prstGeom>
          <a:solidFill>
            <a:srgbClr val="D97706"/>
          </a:solidFill>
          <a:ln>
            <a:noFill/>
          </a:ln>
          <a:effectLst/>
        </p:spPr>
        <p:txBody>
          <a:bodyPr rtlCol="0" anchor="ctr"/>
          <a:lstStyle/>
          <a:p>
            <a:pPr algn="ctr"/>
          </a:p>
        </p:txBody>
      </p:sp>
      <p:sp>
        <p:nvSpPr>
          <p:cNvPr id="46" name="TextBox 45"/>
          <p:cNvSpPr txBox="1"/>
          <p:nvPr/>
        </p:nvSpPr>
        <p:spPr>
          <a:xfrm>
            <a:off x="4727448" y="4636008"/>
            <a:ext cx="29718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한 스텝 전진 (0.1 s)</a:t>
            </a:r>
            <a:endParaRPr lang="ko-KR" altLang="en-US" sz="1050" dirty="0"/>
          </a:p>
        </p:txBody>
      </p:sp>
      <p:cxnSp>
        <p:nvCxnSpPr>
          <p:cNvPr id="47" name="Connector 46"/>
          <p:cNvCxnSpPr/>
          <p:nvPr/>
        </p:nvCxnSpPr>
        <p:spPr>
          <a:xfrm>
            <a:off x="4544568" y="4882896"/>
            <a:ext cx="3099816" cy="0"/>
          </a:xfrm>
          <a:prstGeom prst="line">
            <a:avLst/>
          </a:prstGeom>
          <a:ln w="9525">
            <a:solidFill>
              <a:srgbClr val="D2D9E5"/>
            </a:solidFill>
          </a:ln>
        </p:spPr>
      </p:cxnSp>
      <p:sp>
        <p:nvSpPr>
          <p:cNvPr id="48" name="TextBox 47"/>
          <p:cNvSpPr txBox="1"/>
          <p:nvPr/>
        </p:nvSpPr>
        <p:spPr>
          <a:xfrm>
            <a:off x="4544568" y="4937760"/>
            <a:ext cx="548640" cy="20116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850" b="0" i="0" dirty="0">
                <a:solidFill>
                  <a:srgbClr val="8794AC"/>
                </a:solidFill>
                <a:latin typeface="맑은 고딕"/>
                <a:ea typeface="맑은 고딕"/>
                <a:cs typeface="맑은 고딕"/>
              </a:rPr>
              <a:t>산출물</a:t>
            </a:r>
            <a:endParaRPr lang="ko-KR" altLang="en-US" sz="850" dirty="0"/>
          </a:p>
        </p:txBody>
      </p:sp>
      <p:sp>
        <p:nvSpPr>
          <p:cNvPr id="49" name="TextBox 48"/>
          <p:cNvSpPr txBox="1"/>
          <p:nvPr/>
        </p:nvSpPr>
        <p:spPr>
          <a:xfrm>
            <a:off x="5093208" y="4937760"/>
            <a:ext cx="2606040" cy="20116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00" b="0" i="0" dirty="0">
                <a:solidFill>
                  <a:srgbClr val="1B2740"/>
                </a:solidFill>
                <a:latin typeface="Consolas"/>
                <a:ea typeface="맑은 고딕"/>
                <a:cs typeface="맑은 고딕"/>
              </a:rPr>
              <a:t>f_Tgt_StepSim</a:t>
            </a:r>
            <a:endParaRPr lang="ko-KR" altLang="en-US" sz="900" dirty="0"/>
          </a:p>
        </p:txBody>
      </p:sp>
      <p:cxnSp>
        <p:nvCxnSpPr>
          <p:cNvPr id="50" name="Connector 49"/>
          <p:cNvCxnSpPr/>
          <p:nvPr/>
        </p:nvCxnSpPr>
        <p:spPr>
          <a:xfrm>
            <a:off x="7854696" y="4581144"/>
            <a:ext cx="219456" cy="0"/>
          </a:xfrm>
          <a:prstGeom prst="line">
            <a:avLst/>
          </a:prstGeom>
          <a:ln w="12700">
            <a:solidFill>
              <a:srgbClr val="8794AC"/>
            </a:solidFill>
            <a:tailEnd type="triangle" w="med" len="med"/>
          </a:ln>
        </p:spPr>
      </p:cxnSp>
      <p:sp>
        <p:nvSpPr>
          <p:cNvPr id="51" name="Rectangle 50"/>
          <p:cNvSpPr/>
          <p:nvPr/>
        </p:nvSpPr>
        <p:spPr>
          <a:xfrm>
            <a:off x="8119872" y="3986784"/>
            <a:ext cx="3429000" cy="1188720"/>
          </a:xfrm>
          <a:prstGeom prst="rect">
            <a:avLst/>
          </a:prstGeom>
          <a:solidFill>
            <a:srgbClr val="FFFFFF"/>
          </a:solidFill>
          <a:ln w="15875">
            <a:solidFill>
              <a:srgbClr val="059669"/>
            </a:solidFill>
          </a:ln>
          <a:effectLst/>
        </p:spPr>
        <p:txBody>
          <a:bodyPr rtlCol="0" anchor="ctr"/>
          <a:lstStyle/>
          <a:p>
            <a:pPr algn="ctr"/>
          </a:p>
        </p:txBody>
      </p:sp>
      <p:sp>
        <p:nvSpPr>
          <p:cNvPr id="52" name="Rectangle 51"/>
          <p:cNvSpPr/>
          <p:nvPr/>
        </p:nvSpPr>
        <p:spPr>
          <a:xfrm>
            <a:off x="8119872" y="3986784"/>
            <a:ext cx="3429000" cy="329184"/>
          </a:xfrm>
          <a:prstGeom prst="rect">
            <a:avLst/>
          </a:prstGeom>
          <a:solidFill>
            <a:srgbClr val="059669"/>
          </a:solidFill>
          <a:ln>
            <a:noFill/>
          </a:ln>
          <a:effectLst/>
        </p:spPr>
        <p:txBody>
          <a:bodyPr rtlCol="0" anchor="ctr"/>
          <a:lstStyle/>
          <a:p>
            <a:pPr algn="ctr"/>
          </a:p>
        </p:txBody>
      </p:sp>
      <p:sp>
        <p:nvSpPr>
          <p:cNvPr id="53" name="TextBox 52"/>
          <p:cNvSpPr txBox="1"/>
          <p:nvPr/>
        </p:nvSpPr>
        <p:spPr>
          <a:xfrm>
            <a:off x="8284464" y="3986784"/>
            <a:ext cx="3154680" cy="32918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FFFFFF"/>
                </a:solidFill>
                <a:latin typeface="맑은 고딕"/>
                <a:ea typeface="맑은 고딕"/>
                <a:cs typeface="맑은 고딕"/>
              </a:rPr>
              <a:t>단계 3</a:t>
            </a:r>
            <a:r>
              <a:rPr lang="ko-KR" altLang="en-US" sz="1150" b="1" i="0" dirty="0">
                <a:solidFill>
                  <a:srgbClr val="FFFFFF"/>
                </a:solidFill>
                <a:latin typeface="맑은 고딕"/>
                <a:ea typeface="맑은 고딕"/>
                <a:cs typeface="맑은 고딕"/>
              </a:rPr>
              <a:t>    결과 확인</a:t>
            </a:r>
            <a:endParaRPr lang="ko-KR" altLang="en-US" sz="1000" dirty="0"/>
          </a:p>
        </p:txBody>
      </p:sp>
      <p:sp>
        <p:nvSpPr>
          <p:cNvPr id="54" name="Rectangle 53"/>
          <p:cNvSpPr/>
          <p:nvPr/>
        </p:nvSpPr>
        <p:spPr>
          <a:xfrm>
            <a:off x="8321040" y="4485132"/>
            <a:ext cx="54864" cy="54864"/>
          </a:xfrm>
          <a:prstGeom prst="rect">
            <a:avLst/>
          </a:prstGeom>
          <a:solidFill>
            <a:srgbClr val="059669"/>
          </a:solidFill>
          <a:ln>
            <a:noFill/>
          </a:ln>
          <a:effectLst/>
        </p:spPr>
        <p:txBody>
          <a:bodyPr rtlCol="0" anchor="ctr"/>
          <a:lstStyle/>
          <a:p>
            <a:pPr algn="ctr"/>
          </a:p>
        </p:txBody>
      </p:sp>
      <p:sp>
        <p:nvSpPr>
          <p:cNvPr id="55" name="TextBox 54"/>
          <p:cNvSpPr txBox="1"/>
          <p:nvPr/>
        </p:nvSpPr>
        <p:spPr>
          <a:xfrm>
            <a:off x="8467344" y="4407408"/>
            <a:ext cx="29718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기본 시나리오 60 s 궤적</a:t>
            </a:r>
            <a:endParaRPr lang="ko-KR" altLang="en-US" sz="1050" dirty="0"/>
          </a:p>
        </p:txBody>
      </p:sp>
      <p:sp>
        <p:nvSpPr>
          <p:cNvPr id="56" name="Rectangle 55"/>
          <p:cNvSpPr/>
          <p:nvPr/>
        </p:nvSpPr>
        <p:spPr>
          <a:xfrm>
            <a:off x="8321040" y="4713732"/>
            <a:ext cx="54864" cy="54864"/>
          </a:xfrm>
          <a:prstGeom prst="rect">
            <a:avLst/>
          </a:prstGeom>
          <a:solidFill>
            <a:srgbClr val="059669"/>
          </a:solidFill>
          <a:ln>
            <a:noFill/>
          </a:ln>
          <a:effectLst/>
        </p:spPr>
        <p:txBody>
          <a:bodyPr rtlCol="0" anchor="ctr"/>
          <a:lstStyle/>
          <a:p>
            <a:pPr algn="ctr"/>
          </a:p>
        </p:txBody>
      </p:sp>
      <p:sp>
        <p:nvSpPr>
          <p:cNvPr id="57" name="TextBox 56"/>
          <p:cNvSpPr txBox="1"/>
          <p:nvPr/>
        </p:nvSpPr>
        <p:spPr>
          <a:xfrm>
            <a:off x="8467344" y="4636008"/>
            <a:ext cx="29718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응용 시나리오와 운용 화면</a:t>
            </a:r>
            <a:endParaRPr lang="ko-KR" altLang="en-US" sz="1050" dirty="0"/>
          </a:p>
        </p:txBody>
      </p:sp>
      <p:cxnSp>
        <p:nvCxnSpPr>
          <p:cNvPr id="58" name="Connector 57"/>
          <p:cNvCxnSpPr/>
          <p:nvPr/>
        </p:nvCxnSpPr>
        <p:spPr>
          <a:xfrm>
            <a:off x="8284464" y="4882896"/>
            <a:ext cx="3099816" cy="0"/>
          </a:xfrm>
          <a:prstGeom prst="line">
            <a:avLst/>
          </a:prstGeom>
          <a:ln w="9525">
            <a:solidFill>
              <a:srgbClr val="D2D9E5"/>
            </a:solidFill>
          </a:ln>
        </p:spPr>
      </p:cxnSp>
      <p:sp>
        <p:nvSpPr>
          <p:cNvPr id="59" name="TextBox 58"/>
          <p:cNvSpPr txBox="1"/>
          <p:nvPr/>
        </p:nvSpPr>
        <p:spPr>
          <a:xfrm>
            <a:off x="8284464" y="4937760"/>
            <a:ext cx="548640" cy="20116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850" b="0" i="0" dirty="0">
                <a:solidFill>
                  <a:srgbClr val="8794AC"/>
                </a:solidFill>
                <a:latin typeface="맑은 고딕"/>
                <a:ea typeface="맑은 고딕"/>
                <a:cs typeface="맑은 고딕"/>
              </a:rPr>
              <a:t>산출물</a:t>
            </a:r>
            <a:endParaRPr lang="ko-KR" altLang="en-US" sz="850" dirty="0"/>
          </a:p>
        </p:txBody>
      </p:sp>
      <p:sp>
        <p:nvSpPr>
          <p:cNvPr id="60" name="TextBox 59"/>
          <p:cNvSpPr txBox="1"/>
          <p:nvPr/>
        </p:nvSpPr>
        <p:spPr>
          <a:xfrm>
            <a:off x="8833104" y="4937760"/>
            <a:ext cx="2606040" cy="20116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00" b="0" i="0" dirty="0">
                <a:solidFill>
                  <a:srgbClr val="1B2740"/>
                </a:solidFill>
                <a:latin typeface="Consolas"/>
                <a:ea typeface="맑은 고딕"/>
                <a:cs typeface="맑은 고딕"/>
              </a:rPr>
              <a:t>LLA</a:t>
            </a:r>
            <a:r>
              <a:rPr lang="ko-KR" altLang="en-US" sz="900" b="0" i="0" dirty="0">
                <a:solidFill>
                  <a:srgbClr val="1B2740"/>
                </a:solidFill>
                <a:latin typeface="맑은 고딕"/>
                <a:ea typeface="맑은 고딕"/>
                <a:cs typeface="맑은 고딕"/>
              </a:rPr>
              <a:t> 표</a:t>
            </a:r>
            <a:r>
              <a:rPr lang="ko-KR" altLang="en-US" sz="900" b="0" i="0" dirty="0">
                <a:solidFill>
                  <a:srgbClr val="1B2740"/>
                </a:solidFill>
                <a:latin typeface="Consolas"/>
                <a:ea typeface="맑은 고딕"/>
                <a:cs typeface="맑은 고딕"/>
              </a:rPr>
              <a:t>, CSV,</a:t>
            </a:r>
            <a:r>
              <a:rPr lang="ko-KR" altLang="en-US" sz="900" b="0" i="0" dirty="0">
                <a:solidFill>
                  <a:srgbClr val="1B2740"/>
                </a:solidFill>
                <a:latin typeface="맑은 고딕"/>
                <a:ea typeface="맑은 고딕"/>
                <a:cs typeface="맑은 고딕"/>
              </a:rPr>
              <a:t> 궤적 그림</a:t>
            </a:r>
            <a:endParaRPr lang="ko-KR" altLang="en-US" sz="900" dirty="0"/>
          </a:p>
        </p:txBody>
      </p:sp>
      <p:sp>
        <p:nvSpPr>
          <p:cNvPr id="61" name="Rectangle 60"/>
          <p:cNvSpPr/>
          <p:nvPr/>
        </p:nvSpPr>
        <p:spPr>
          <a:xfrm>
            <a:off x="640080" y="5321808"/>
            <a:ext cx="10908792" cy="841248"/>
          </a:xfrm>
          <a:prstGeom prst="rect">
            <a:avLst/>
          </a:prstGeom>
          <a:solidFill>
            <a:srgbClr val="F7F9FC"/>
          </a:solidFill>
          <a:ln w="9525">
            <a:solidFill>
              <a:srgbClr val="D2D9E5"/>
            </a:solidFill>
          </a:ln>
          <a:effectLst/>
        </p:spPr>
        <p:txBody>
          <a:bodyPr rtlCol="0" anchor="ctr"/>
          <a:lstStyle/>
          <a:p>
            <a:pPr algn="ctr"/>
          </a:p>
        </p:txBody>
      </p:sp>
      <p:sp>
        <p:nvSpPr>
          <p:cNvPr id="62" name="TextBox 61"/>
          <p:cNvSpPr txBox="1"/>
          <p:nvPr/>
        </p:nvSpPr>
        <p:spPr>
          <a:xfrm>
            <a:off x="822960" y="5385816"/>
            <a:ext cx="27432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1B2740"/>
                </a:solidFill>
                <a:latin typeface="맑은 고딕"/>
                <a:ea typeface="맑은 고딕"/>
                <a:cs typeface="맑은 고딕"/>
              </a:rPr>
              <a:t>과제 요구사항 대응</a:t>
            </a:r>
            <a:endParaRPr lang="ko-KR" altLang="en-US" sz="1000" dirty="0"/>
          </a:p>
        </p:txBody>
      </p:sp>
      <p:sp>
        <p:nvSpPr>
          <p:cNvPr id="63" name="Rectangle 62"/>
          <p:cNvSpPr/>
          <p:nvPr/>
        </p:nvSpPr>
        <p:spPr>
          <a:xfrm>
            <a:off x="822960" y="5687568"/>
            <a:ext cx="64008" cy="365760"/>
          </a:xfrm>
          <a:prstGeom prst="rect">
            <a:avLst/>
          </a:prstGeom>
          <a:solidFill>
            <a:srgbClr val="2563EB"/>
          </a:solidFill>
          <a:ln>
            <a:noFill/>
          </a:ln>
          <a:effectLst/>
        </p:spPr>
        <p:txBody>
          <a:bodyPr rtlCol="0" anchor="ctr"/>
          <a:lstStyle/>
          <a:p>
            <a:pPr algn="ctr"/>
          </a:p>
        </p:txBody>
      </p:sp>
      <p:sp>
        <p:nvSpPr>
          <p:cNvPr id="64" name="TextBox 63"/>
          <p:cNvSpPr txBox="1"/>
          <p:nvPr/>
        </p:nvSpPr>
        <p:spPr>
          <a:xfrm>
            <a:off x="987552" y="5641848"/>
            <a:ext cx="3017520" cy="457200"/>
          </a:xfrm>
          <a:prstGeom prst="rect">
            <a:avLst/>
          </a:prstGeom>
          <a:noFill/>
        </p:spPr>
        <p:txBody>
          <a:bodyPr wrap="square" lIns="0" tIns="0" rIns="0" bIns="0" anchor="t" rtlCol="0">
            <a:noAutofit/>
          </a:bodyPr>
          <a:lstStyle/>
          <a:p>
            <a:pPr algn="l">
              <a:lnSpc>
                <a:spcPts val="1350"/>
              </a:lnSpc>
              <a:spcBef>
                <a:spcPts val="0"/>
              </a:spcBef>
              <a:spcAft>
                <a:spcPts val="0"/>
              </a:spcAft>
              <a:buNone/>
            </a:pPr>
            <a:r>
              <a:rPr lang="ko-KR" altLang="en-US" sz="950" b="0" i="0" dirty="0">
                <a:solidFill>
                  <a:srgbClr val="4A5A7A"/>
                </a:solidFill>
                <a:latin typeface="맑은 고딕"/>
                <a:ea typeface="맑은 고딕"/>
                <a:cs typeface="맑은 고딕"/>
              </a:rPr>
              <a:t>표적 10개, 기동 30개까지 설정</a:t>
            </a:r>
            <a:endParaRPr lang="ko-KR" altLang="en-US" sz="950" dirty="0"/>
          </a:p>
          <a:p>
            <a:pPr algn="l">
              <a:lnSpc>
                <a:spcPts val="1350"/>
              </a:lnSpc>
              <a:spcBef>
                <a:spcPts val="0"/>
              </a:spcBef>
              <a:spcAft>
                <a:spcPts val="0"/>
              </a:spcAft>
              <a:buNone/>
            </a:pPr>
            <a:r>
              <a:rPr lang="ko-KR" altLang="en-US" sz="950" b="0" i="0" dirty="0">
                <a:solidFill>
                  <a:srgbClr val="4A5A7A"/>
                </a:solidFill>
                <a:latin typeface="맑은 고딕"/>
                <a:ea typeface="맑은 고딕"/>
                <a:cs typeface="맑은 고딕"/>
              </a:rPr>
              <a:t>위치 LLA, 속도 V_heading, 기동 정보 4개</a:t>
            </a:r>
            <a:endParaRPr lang="ko-KR" altLang="en-US" sz="950" dirty="0"/>
          </a:p>
        </p:txBody>
      </p:sp>
      <p:sp>
        <p:nvSpPr>
          <p:cNvPr id="65" name="Rectangle 64"/>
          <p:cNvSpPr/>
          <p:nvPr/>
        </p:nvSpPr>
        <p:spPr>
          <a:xfrm>
            <a:off x="4562856" y="5687568"/>
            <a:ext cx="64008" cy="365760"/>
          </a:xfrm>
          <a:prstGeom prst="rect">
            <a:avLst/>
          </a:prstGeom>
          <a:solidFill>
            <a:srgbClr val="D97706"/>
          </a:solidFill>
          <a:ln>
            <a:noFill/>
          </a:ln>
          <a:effectLst/>
        </p:spPr>
        <p:txBody>
          <a:bodyPr rtlCol="0" anchor="ctr"/>
          <a:lstStyle/>
          <a:p>
            <a:pPr algn="ctr"/>
          </a:p>
        </p:txBody>
      </p:sp>
      <p:sp>
        <p:nvSpPr>
          <p:cNvPr id="66" name="TextBox 65"/>
          <p:cNvSpPr txBox="1"/>
          <p:nvPr/>
        </p:nvSpPr>
        <p:spPr>
          <a:xfrm>
            <a:off x="4727448" y="5641848"/>
            <a:ext cx="3017520" cy="457200"/>
          </a:xfrm>
          <a:prstGeom prst="rect">
            <a:avLst/>
          </a:prstGeom>
          <a:noFill/>
        </p:spPr>
        <p:txBody>
          <a:bodyPr wrap="square" lIns="0" tIns="0" rIns="0" bIns="0" anchor="t" rtlCol="0">
            <a:noAutofit/>
          </a:bodyPr>
          <a:lstStyle/>
          <a:p>
            <a:pPr algn="l">
              <a:lnSpc>
                <a:spcPts val="1350"/>
              </a:lnSpc>
              <a:spcBef>
                <a:spcPts val="0"/>
              </a:spcBef>
              <a:spcAft>
                <a:spcPts val="0"/>
              </a:spcAft>
              <a:buNone/>
            </a:pPr>
            <a:r>
              <a:rPr lang="ko-KR" altLang="en-US" sz="950" b="0" i="0" dirty="0">
                <a:solidFill>
                  <a:srgbClr val="4A5A7A"/>
                </a:solidFill>
                <a:latin typeface="맑은 고딕"/>
                <a:ea typeface="맑은 고딕"/>
                <a:cs typeface="맑은 고딕"/>
              </a:rPr>
              <a:t>ECEF 에서 상태 갱신, 좌표변환 코드 이용</a:t>
            </a:r>
            <a:endParaRPr lang="ko-KR" altLang="en-US" sz="950" dirty="0"/>
          </a:p>
          <a:p>
            <a:pPr algn="l">
              <a:lnSpc>
                <a:spcPts val="1350"/>
              </a:lnSpc>
              <a:spcBef>
                <a:spcPts val="0"/>
              </a:spcBef>
              <a:spcAft>
                <a:spcPts val="0"/>
              </a:spcAft>
              <a:buNone/>
            </a:pPr>
            <a:r>
              <a:rPr lang="ko-KR" altLang="en-US" sz="950" b="0" i="0" dirty="0">
                <a:solidFill>
                  <a:srgbClr val="4A5A7A"/>
                </a:solidFill>
                <a:latin typeface="맑은 고딕"/>
                <a:ea typeface="맑은 고딕"/>
                <a:cs typeface="맑은 고딕"/>
              </a:rPr>
              <a:t>V_heading 을 Vx, Vy, Vz 로 변환 (추가 고민)</a:t>
            </a:r>
            <a:endParaRPr lang="ko-KR" altLang="en-US" sz="950" dirty="0"/>
          </a:p>
        </p:txBody>
      </p:sp>
      <p:sp>
        <p:nvSpPr>
          <p:cNvPr id="67" name="Rectangle 66"/>
          <p:cNvSpPr/>
          <p:nvPr/>
        </p:nvSpPr>
        <p:spPr>
          <a:xfrm>
            <a:off x="8302752" y="5687568"/>
            <a:ext cx="64008" cy="365760"/>
          </a:xfrm>
          <a:prstGeom prst="rect">
            <a:avLst/>
          </a:prstGeom>
          <a:solidFill>
            <a:srgbClr val="059669"/>
          </a:solidFill>
          <a:ln>
            <a:noFill/>
          </a:ln>
          <a:effectLst/>
        </p:spPr>
        <p:txBody>
          <a:bodyPr rtlCol="0" anchor="ctr"/>
          <a:lstStyle/>
          <a:p>
            <a:pPr algn="ctr"/>
          </a:p>
        </p:txBody>
      </p:sp>
      <p:sp>
        <p:nvSpPr>
          <p:cNvPr id="68" name="TextBox 67"/>
          <p:cNvSpPr txBox="1"/>
          <p:nvPr/>
        </p:nvSpPr>
        <p:spPr>
          <a:xfrm>
            <a:off x="8467344" y="5641848"/>
            <a:ext cx="3017520" cy="457200"/>
          </a:xfrm>
          <a:prstGeom prst="rect">
            <a:avLst/>
          </a:prstGeom>
          <a:noFill/>
        </p:spPr>
        <p:txBody>
          <a:bodyPr wrap="square" lIns="0" tIns="0" rIns="0" bIns="0" anchor="t" rtlCol="0">
            <a:noAutofit/>
          </a:bodyPr>
          <a:lstStyle/>
          <a:p>
            <a:pPr algn="l">
              <a:lnSpc>
                <a:spcPts val="1350"/>
              </a:lnSpc>
              <a:spcBef>
                <a:spcPts val="0"/>
              </a:spcBef>
              <a:spcAft>
                <a:spcPts val="0"/>
              </a:spcAft>
              <a:buNone/>
            </a:pPr>
            <a:r>
              <a:rPr lang="ko-KR" altLang="en-US" sz="950" b="0" i="0" dirty="0">
                <a:solidFill>
                  <a:srgbClr val="4A5A7A"/>
                </a:solidFill>
                <a:latin typeface="맑은 고딕"/>
                <a:ea typeface="맑은 고딕"/>
                <a:cs typeface="맑은 고딕"/>
              </a:rPr>
              <a:t>60 s, 0.1 s 간격, 명세 초기값</a:t>
            </a:r>
            <a:endParaRPr lang="ko-KR" altLang="en-US" sz="950" dirty="0"/>
          </a:p>
          <a:p>
            <a:pPr algn="l">
              <a:lnSpc>
                <a:spcPts val="1350"/>
              </a:lnSpc>
              <a:spcBef>
                <a:spcPts val="0"/>
              </a:spcBef>
              <a:spcAft>
                <a:spcPts val="0"/>
              </a:spcAft>
              <a:buNone/>
            </a:pPr>
            <a:r>
              <a:rPr lang="ko-KR" altLang="en-US" sz="950" b="0" i="0" dirty="0">
                <a:solidFill>
                  <a:srgbClr val="4A5A7A"/>
                </a:solidFill>
                <a:latin typeface="맑은 고딕"/>
                <a:ea typeface="맑은 고딕"/>
                <a:cs typeface="맑은 고딕"/>
              </a:rPr>
              <a:t>결과를 LLA 로 출력하고 그림으로 표현</a:t>
            </a:r>
            <a:endParaRPr lang="ko-KR" altLang="en-US" sz="95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01. 개요</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1.2 구현 구성</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계산은 DLL, 화면은 UI 로 나눠 구현했습니다. 궤적 그림과 결과 수치는 모두 DLL 을 직접 돌려 얻은 값입니다.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5</a:t>
            </a:r>
          </a:p>
        </p:txBody>
      </p:sp>
      <p:sp>
        <p:nvSpPr>
          <p:cNvPr id="8" name="Rectangle 7"/>
          <p:cNvSpPr/>
          <p:nvPr/>
        </p:nvSpPr>
        <p:spPr>
          <a:xfrm>
            <a:off x="640080" y="2157984"/>
            <a:ext cx="6812280" cy="1670828"/>
          </a:xfrm>
          <a:prstGeom prst="rect">
            <a:avLst/>
          </a:prstGeom>
          <a:solidFill>
            <a:srgbClr val="FFFFFF"/>
          </a:solidFill>
          <a:ln w="12700">
            <a:solidFill>
              <a:srgbClr val="D2D9E5"/>
            </a:solidFill>
          </a:ln>
          <a:effectLst/>
        </p:spPr>
        <p:txBody>
          <a:bodyPr rtlCol="0" anchor="ctr"/>
          <a:lstStyle/>
          <a:p>
            <a:pPr algn="ctr"/>
          </a:p>
        </p:txBody>
      </p:sp>
      <p:sp>
        <p:nvSpPr>
          <p:cNvPr id="9" name="Rounded Rectangle 8"/>
          <p:cNvSpPr/>
          <p:nvPr/>
        </p:nvSpPr>
        <p:spPr>
          <a:xfrm>
            <a:off x="822960" y="2361676"/>
            <a:ext cx="841248" cy="256032"/>
          </a:xfrm>
          <a:prstGeom prst="roundRect">
            <a:avLst>
              <a:gd name="adj" fmla="val 21428"/>
            </a:avLst>
          </a:prstGeom>
          <a:solidFill>
            <a:srgbClr val="1B2740"/>
          </a:solidFill>
          <a:ln>
            <a:noFill/>
          </a:ln>
          <a:effectLst/>
        </p:spPr>
        <p:txBody>
          <a:bodyPr rtlCol="0" anchor="ctr"/>
          <a:lstStyle/>
          <a:p>
            <a:pPr algn="ctr"/>
          </a:p>
        </p:txBody>
      </p:sp>
      <p:sp>
        <p:nvSpPr>
          <p:cNvPr id="10" name="TextBox 9"/>
          <p:cNvSpPr txBox="1"/>
          <p:nvPr/>
        </p:nvSpPr>
        <p:spPr>
          <a:xfrm>
            <a:off x="822960" y="2361676"/>
            <a:ext cx="841248" cy="256032"/>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맑은 고딕"/>
                <a:ea typeface="맑은 고딕"/>
                <a:cs typeface="맑은 고딕"/>
              </a:rPr>
              <a:t>UI 구현</a:t>
            </a:r>
            <a:endParaRPr lang="ko-KR" altLang="en-US" sz="950" dirty="0"/>
          </a:p>
        </p:txBody>
      </p:sp>
      <p:sp>
        <p:nvSpPr>
          <p:cNvPr id="11" name="TextBox 10"/>
          <p:cNvSpPr txBox="1"/>
          <p:nvPr/>
        </p:nvSpPr>
        <p:spPr>
          <a:xfrm>
            <a:off x="1810512" y="2352532"/>
            <a:ext cx="5029200" cy="2743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200" b="1" i="0" dirty="0">
                <a:solidFill>
                  <a:srgbClr val="1B2740"/>
                </a:solidFill>
                <a:latin typeface="맑은 고딕"/>
                <a:ea typeface="맑은 고딕"/>
                <a:cs typeface="맑은 고딕"/>
              </a:rPr>
              <a:t>TargetSimUI  (C++, MFC)</a:t>
            </a:r>
            <a:endParaRPr lang="ko-KR" altLang="en-US" sz="1200" dirty="0"/>
          </a:p>
        </p:txBody>
      </p:sp>
      <p:cxnSp>
        <p:nvCxnSpPr>
          <p:cNvPr id="12" name="Connector 11"/>
          <p:cNvCxnSpPr/>
          <p:nvPr/>
        </p:nvCxnSpPr>
        <p:spPr>
          <a:xfrm>
            <a:off x="822960" y="2796830"/>
            <a:ext cx="6446520" cy="0"/>
          </a:xfrm>
          <a:prstGeom prst="line">
            <a:avLst/>
          </a:prstGeom>
          <a:ln w="9525">
            <a:solidFill>
              <a:srgbClr val="D2D9E5"/>
            </a:solidFill>
          </a:ln>
        </p:spPr>
      </p:cxnSp>
      <p:sp>
        <p:nvSpPr>
          <p:cNvPr id="13" name="TextBox 12"/>
          <p:cNvSpPr txBox="1"/>
          <p:nvPr/>
        </p:nvSpPr>
        <p:spPr>
          <a:xfrm>
            <a:off x="868680" y="2932812"/>
            <a:ext cx="283464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1B2740"/>
                </a:solidFill>
                <a:latin typeface="Consolas"/>
                <a:ea typeface="맑은 고딕"/>
                <a:cs typeface="맑은 고딕"/>
              </a:rPr>
              <a:t>CTargetSimUIDlg</a:t>
            </a:r>
            <a:endParaRPr lang="ko-KR" altLang="en-US" sz="950" dirty="0"/>
          </a:p>
        </p:txBody>
      </p:sp>
      <p:sp>
        <p:nvSpPr>
          <p:cNvPr id="14" name="TextBox 13"/>
          <p:cNvSpPr txBox="1"/>
          <p:nvPr/>
        </p:nvSpPr>
        <p:spPr>
          <a:xfrm>
            <a:off x="3749040" y="2932812"/>
            <a:ext cx="361188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화면 배치, 자동 실행, CSV 저장</a:t>
            </a:r>
            <a:endParaRPr lang="ko-KR" altLang="en-US" sz="1000" dirty="0"/>
          </a:p>
        </p:txBody>
      </p:sp>
      <p:sp>
        <p:nvSpPr>
          <p:cNvPr id="15" name="TextBox 14"/>
          <p:cNvSpPr txBox="1"/>
          <p:nvPr/>
        </p:nvSpPr>
        <p:spPr>
          <a:xfrm>
            <a:off x="868680" y="3227664"/>
            <a:ext cx="283464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1B2740"/>
                </a:solidFill>
                <a:latin typeface="Consolas"/>
                <a:ea typeface="맑은 고딕"/>
                <a:cs typeface="맑은 고딕"/>
              </a:rPr>
              <a:t>CScenario</a:t>
            </a:r>
            <a:endParaRPr lang="ko-KR" altLang="en-US" sz="950" dirty="0"/>
          </a:p>
        </p:txBody>
      </p:sp>
      <p:sp>
        <p:nvSpPr>
          <p:cNvPr id="16" name="TextBox 15"/>
          <p:cNvSpPr txBox="1"/>
          <p:nvPr/>
        </p:nvSpPr>
        <p:spPr>
          <a:xfrm>
            <a:off x="3749040" y="3227664"/>
            <a:ext cx="361188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입력 보관, 프리셋, 설정 생성</a:t>
            </a:r>
            <a:endParaRPr lang="ko-KR" altLang="en-US" sz="1000" dirty="0"/>
          </a:p>
        </p:txBody>
      </p:sp>
      <p:sp>
        <p:nvSpPr>
          <p:cNvPr id="17" name="TextBox 16"/>
          <p:cNvSpPr txBox="1"/>
          <p:nvPr/>
        </p:nvSpPr>
        <p:spPr>
          <a:xfrm>
            <a:off x="868680" y="3522516"/>
            <a:ext cx="283464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1B2740"/>
                </a:solidFill>
                <a:latin typeface="Consolas"/>
                <a:ea typeface="맑은 고딕"/>
                <a:cs typeface="맑은 고딕"/>
              </a:rPr>
              <a:t>CTrajectoryPlot, CGridCtrl</a:t>
            </a:r>
            <a:endParaRPr lang="ko-KR" altLang="en-US" sz="950" dirty="0"/>
          </a:p>
        </p:txBody>
      </p:sp>
      <p:sp>
        <p:nvSpPr>
          <p:cNvPr id="18" name="TextBox 17"/>
          <p:cNvSpPr txBox="1"/>
          <p:nvPr/>
        </p:nvSpPr>
        <p:spPr>
          <a:xfrm>
            <a:off x="3749040" y="3522516"/>
            <a:ext cx="361188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궤적 · 고도 · 속력 그림, 표 편집</a:t>
            </a:r>
            <a:endParaRPr lang="ko-KR" altLang="en-US" sz="1000" dirty="0"/>
          </a:p>
        </p:txBody>
      </p:sp>
      <p:sp>
        <p:nvSpPr>
          <p:cNvPr id="19" name="Rectangle 18"/>
          <p:cNvSpPr/>
          <p:nvPr/>
        </p:nvSpPr>
        <p:spPr>
          <a:xfrm>
            <a:off x="640080" y="4492228"/>
            <a:ext cx="6812280" cy="1670828"/>
          </a:xfrm>
          <a:prstGeom prst="rect">
            <a:avLst/>
          </a:prstGeom>
          <a:solidFill>
            <a:srgbClr val="FFFFFF"/>
          </a:solidFill>
          <a:ln w="15875">
            <a:solidFill>
              <a:srgbClr val="2563EB"/>
            </a:solidFill>
          </a:ln>
          <a:effectLst/>
        </p:spPr>
        <p:txBody>
          <a:bodyPr rtlCol="0" anchor="ctr"/>
          <a:lstStyle/>
          <a:p>
            <a:pPr algn="ctr"/>
          </a:p>
        </p:txBody>
      </p:sp>
      <p:sp>
        <p:nvSpPr>
          <p:cNvPr id="20" name="Rounded Rectangle 19"/>
          <p:cNvSpPr/>
          <p:nvPr/>
        </p:nvSpPr>
        <p:spPr>
          <a:xfrm>
            <a:off x="822960" y="4695921"/>
            <a:ext cx="841248" cy="256032"/>
          </a:xfrm>
          <a:prstGeom prst="roundRect">
            <a:avLst>
              <a:gd name="adj" fmla="val 21428"/>
            </a:avLst>
          </a:prstGeom>
          <a:solidFill>
            <a:srgbClr val="2563EB"/>
          </a:solidFill>
          <a:ln>
            <a:noFill/>
          </a:ln>
          <a:effectLst/>
        </p:spPr>
        <p:txBody>
          <a:bodyPr rtlCol="0" anchor="ctr"/>
          <a:lstStyle/>
          <a:p>
            <a:pPr algn="ctr"/>
          </a:p>
        </p:txBody>
      </p:sp>
      <p:sp>
        <p:nvSpPr>
          <p:cNvPr id="21" name="TextBox 20"/>
          <p:cNvSpPr txBox="1"/>
          <p:nvPr/>
        </p:nvSpPr>
        <p:spPr>
          <a:xfrm>
            <a:off x="822960" y="4695921"/>
            <a:ext cx="841248" cy="256032"/>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맑은 고딕"/>
                <a:ea typeface="맑은 고딕"/>
                <a:cs typeface="맑은 고딕"/>
              </a:rPr>
              <a:t>DLL 구현</a:t>
            </a:r>
            <a:endParaRPr lang="ko-KR" altLang="en-US" sz="950" dirty="0"/>
          </a:p>
        </p:txBody>
      </p:sp>
      <p:sp>
        <p:nvSpPr>
          <p:cNvPr id="22" name="TextBox 21"/>
          <p:cNvSpPr txBox="1"/>
          <p:nvPr/>
        </p:nvSpPr>
        <p:spPr>
          <a:xfrm>
            <a:off x="1810512" y="4686777"/>
            <a:ext cx="5029200" cy="2743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200" b="1" i="0" dirty="0">
                <a:solidFill>
                  <a:srgbClr val="1B2740"/>
                </a:solidFill>
                <a:latin typeface="맑은 고딕"/>
                <a:ea typeface="맑은 고딕"/>
                <a:cs typeface="맑은 고딕"/>
              </a:rPr>
              <a:t>TargetSimCore  (C, DLL)</a:t>
            </a:r>
            <a:endParaRPr lang="ko-KR" altLang="en-US" sz="1200" dirty="0"/>
          </a:p>
        </p:txBody>
      </p:sp>
      <p:cxnSp>
        <p:nvCxnSpPr>
          <p:cNvPr id="23" name="Connector 22"/>
          <p:cNvCxnSpPr/>
          <p:nvPr/>
        </p:nvCxnSpPr>
        <p:spPr>
          <a:xfrm>
            <a:off x="822960" y="5131074"/>
            <a:ext cx="6446520" cy="0"/>
          </a:xfrm>
          <a:prstGeom prst="line">
            <a:avLst/>
          </a:prstGeom>
          <a:ln w="9525">
            <a:solidFill>
              <a:srgbClr val="D2D9E5"/>
            </a:solidFill>
          </a:ln>
        </p:spPr>
      </p:cxnSp>
      <p:sp>
        <p:nvSpPr>
          <p:cNvPr id="24" name="TextBox 23"/>
          <p:cNvSpPr txBox="1"/>
          <p:nvPr/>
        </p:nvSpPr>
        <p:spPr>
          <a:xfrm>
            <a:off x="868680" y="5267056"/>
            <a:ext cx="283464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1" i="0" dirty="0">
                <a:solidFill>
                  <a:srgbClr val="2563EB"/>
                </a:solidFill>
                <a:latin typeface="Consolas"/>
                <a:ea typeface="맑은 고딕"/>
                <a:cs typeface="맑은 고딕"/>
              </a:rPr>
              <a:t>TargetSim.c</a:t>
            </a:r>
            <a:endParaRPr lang="ko-KR" altLang="en-US" sz="950" dirty="0"/>
          </a:p>
        </p:txBody>
      </p:sp>
      <p:sp>
        <p:nvSpPr>
          <p:cNvPr id="25" name="TextBox 24"/>
          <p:cNvSpPr txBox="1"/>
          <p:nvPr/>
        </p:nvSpPr>
        <p:spPr>
          <a:xfrm>
            <a:off x="3749040" y="5267056"/>
            <a:ext cx="361188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2563EB"/>
                </a:solidFill>
                <a:latin typeface="맑은 고딕"/>
                <a:ea typeface="맑은 고딕"/>
                <a:cs typeface="맑은 고딕"/>
              </a:rPr>
              <a:t>표적 상태 갱신 (이번 과제에서 작성)</a:t>
            </a:r>
            <a:endParaRPr lang="ko-KR" altLang="en-US" sz="1000" dirty="0"/>
          </a:p>
        </p:txBody>
      </p:sp>
      <p:sp>
        <p:nvSpPr>
          <p:cNvPr id="26" name="TextBox 25"/>
          <p:cNvSpPr txBox="1"/>
          <p:nvPr/>
        </p:nvSpPr>
        <p:spPr>
          <a:xfrm>
            <a:off x="868680" y="5561908"/>
            <a:ext cx="283464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1B2740"/>
                </a:solidFill>
                <a:latin typeface="Consolas"/>
                <a:ea typeface="맑은 고딕"/>
                <a:cs typeface="맑은 고딕"/>
              </a:rPr>
              <a:t>CoordinateTransform.c</a:t>
            </a:r>
            <a:endParaRPr lang="ko-KR" altLang="en-US" sz="950" dirty="0"/>
          </a:p>
        </p:txBody>
      </p:sp>
      <p:sp>
        <p:nvSpPr>
          <p:cNvPr id="27" name="TextBox 26"/>
          <p:cNvSpPr txBox="1"/>
          <p:nvPr/>
        </p:nvSpPr>
        <p:spPr>
          <a:xfrm>
            <a:off x="3749040" y="5561908"/>
            <a:ext cx="361188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좌표 변환 (참고 소스 코드)</a:t>
            </a:r>
            <a:endParaRPr lang="ko-KR" altLang="en-US" sz="1000" dirty="0"/>
          </a:p>
        </p:txBody>
      </p:sp>
      <p:sp>
        <p:nvSpPr>
          <p:cNvPr id="28" name="TextBox 27"/>
          <p:cNvSpPr txBox="1"/>
          <p:nvPr/>
        </p:nvSpPr>
        <p:spPr>
          <a:xfrm>
            <a:off x="868680" y="5856760"/>
            <a:ext cx="283464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1B2740"/>
                </a:solidFill>
                <a:latin typeface="Consolas"/>
                <a:ea typeface="맑은 고딕"/>
                <a:cs typeface="맑은 고딕"/>
              </a:rPr>
              <a:t>matrixCalcLib.c</a:t>
            </a:r>
            <a:endParaRPr lang="ko-KR" altLang="en-US" sz="950" dirty="0"/>
          </a:p>
        </p:txBody>
      </p:sp>
      <p:sp>
        <p:nvSpPr>
          <p:cNvPr id="29" name="TextBox 28"/>
          <p:cNvSpPr txBox="1"/>
          <p:nvPr/>
        </p:nvSpPr>
        <p:spPr>
          <a:xfrm>
            <a:off x="3749040" y="5856760"/>
            <a:ext cx="361188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행렬 연산 (참고 소스 코드)</a:t>
            </a:r>
            <a:endParaRPr lang="ko-KR" altLang="en-US" sz="1000" dirty="0"/>
          </a:p>
        </p:txBody>
      </p:sp>
      <p:cxnSp>
        <p:nvCxnSpPr>
          <p:cNvPr id="30" name="Connector 29"/>
          <p:cNvCxnSpPr/>
          <p:nvPr/>
        </p:nvCxnSpPr>
        <p:spPr>
          <a:xfrm>
            <a:off x="2103120" y="3877954"/>
            <a:ext cx="0" cy="565133"/>
          </a:xfrm>
          <a:prstGeom prst="line">
            <a:avLst/>
          </a:prstGeom>
          <a:ln w="19050">
            <a:solidFill>
              <a:srgbClr val="2563EB"/>
            </a:solidFill>
            <a:tailEnd type="triangle" w="med" len="med"/>
          </a:ln>
        </p:spPr>
      </p:cxnSp>
      <p:sp>
        <p:nvSpPr>
          <p:cNvPr id="31" name="TextBox 30"/>
          <p:cNvSpPr txBox="1"/>
          <p:nvPr/>
        </p:nvSpPr>
        <p:spPr>
          <a:xfrm>
            <a:off x="2212848" y="4041648"/>
            <a:ext cx="2011680"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1" i="0" dirty="0">
                <a:solidFill>
                  <a:srgbClr val="2563EB"/>
                </a:solidFill>
                <a:latin typeface="Consolas"/>
                <a:ea typeface="맑은 고딕"/>
                <a:cs typeface="맑은 고딕"/>
              </a:rPr>
              <a:t>ST_SimConfig</a:t>
            </a:r>
            <a:endParaRPr lang="ko-KR" altLang="en-US" sz="950" dirty="0"/>
          </a:p>
        </p:txBody>
      </p:sp>
      <p:cxnSp>
        <p:nvCxnSpPr>
          <p:cNvPr id="32" name="Connector 31"/>
          <p:cNvCxnSpPr/>
          <p:nvPr/>
        </p:nvCxnSpPr>
        <p:spPr>
          <a:xfrm flipV="1">
            <a:off x="4846320" y="3877954"/>
            <a:ext cx="0" cy="565133"/>
          </a:xfrm>
          <a:prstGeom prst="line">
            <a:avLst/>
          </a:prstGeom>
          <a:ln w="19050">
            <a:solidFill>
              <a:srgbClr val="059669"/>
            </a:solidFill>
            <a:tailEnd type="triangle" w="med" len="med"/>
          </a:ln>
        </p:spPr>
      </p:cxnSp>
      <p:sp>
        <p:nvSpPr>
          <p:cNvPr id="33" name="TextBox 32"/>
          <p:cNvSpPr txBox="1"/>
          <p:nvPr/>
        </p:nvSpPr>
        <p:spPr>
          <a:xfrm>
            <a:off x="4956048" y="4041648"/>
            <a:ext cx="2011680"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1" i="0" dirty="0">
                <a:solidFill>
                  <a:srgbClr val="059669"/>
                </a:solidFill>
                <a:latin typeface="Consolas"/>
                <a:ea typeface="맑은 고딕"/>
                <a:cs typeface="맑은 고딕"/>
              </a:rPr>
              <a:t>ST_SimSample</a:t>
            </a:r>
            <a:endParaRPr lang="ko-KR" altLang="en-US" sz="950" dirty="0"/>
          </a:p>
        </p:txBody>
      </p:sp>
      <p:sp>
        <p:nvSpPr>
          <p:cNvPr id="34" name="Rectangle 33"/>
          <p:cNvSpPr/>
          <p:nvPr/>
        </p:nvSpPr>
        <p:spPr>
          <a:xfrm>
            <a:off x="7726680" y="2157984"/>
            <a:ext cx="3822192" cy="4005072"/>
          </a:xfrm>
          <a:prstGeom prst="rect">
            <a:avLst/>
          </a:prstGeom>
          <a:solidFill>
            <a:srgbClr val="F7F9FC"/>
          </a:solidFill>
          <a:ln w="9525">
            <a:solidFill>
              <a:srgbClr val="D2D9E5"/>
            </a:solidFill>
          </a:ln>
          <a:effectLst/>
        </p:spPr>
        <p:txBody>
          <a:bodyPr rtlCol="0" anchor="ctr"/>
          <a:lstStyle/>
          <a:p>
            <a:pPr algn="ctr"/>
          </a:p>
        </p:txBody>
      </p:sp>
      <p:sp>
        <p:nvSpPr>
          <p:cNvPr id="35" name="TextBox 34"/>
          <p:cNvSpPr txBox="1"/>
          <p:nvPr/>
        </p:nvSpPr>
        <p:spPr>
          <a:xfrm>
            <a:off x="7927848" y="2352532"/>
            <a:ext cx="345643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주고받는 구조체</a:t>
            </a:r>
            <a:endParaRPr lang="ko-KR" altLang="en-US" sz="1150" dirty="0"/>
          </a:p>
        </p:txBody>
      </p:sp>
      <p:cxnSp>
        <p:nvCxnSpPr>
          <p:cNvPr id="36" name="Connector 35"/>
          <p:cNvCxnSpPr/>
          <p:nvPr/>
        </p:nvCxnSpPr>
        <p:spPr>
          <a:xfrm>
            <a:off x="7927848" y="2772259"/>
            <a:ext cx="3419856" cy="0"/>
          </a:xfrm>
          <a:prstGeom prst="line">
            <a:avLst/>
          </a:prstGeom>
          <a:ln w="9525">
            <a:solidFill>
              <a:srgbClr val="D2D9E5"/>
            </a:solidFill>
          </a:ln>
        </p:spPr>
      </p:cxnSp>
      <p:sp>
        <p:nvSpPr>
          <p:cNvPr id="37" name="TextBox 36"/>
          <p:cNvSpPr txBox="1"/>
          <p:nvPr/>
        </p:nvSpPr>
        <p:spPr>
          <a:xfrm>
            <a:off x="7927848" y="2960524"/>
            <a:ext cx="502920"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2563EB"/>
                </a:solidFill>
                <a:latin typeface="맑은 고딕"/>
                <a:ea typeface="맑은 고딕"/>
                <a:cs typeface="맑은 고딕"/>
              </a:rPr>
              <a:t>입력</a:t>
            </a:r>
            <a:endParaRPr lang="ko-KR" altLang="en-US" sz="1000" dirty="0"/>
          </a:p>
        </p:txBody>
      </p:sp>
      <p:sp>
        <p:nvSpPr>
          <p:cNvPr id="38" name="TextBox 37"/>
          <p:cNvSpPr txBox="1"/>
          <p:nvPr/>
        </p:nvSpPr>
        <p:spPr>
          <a:xfrm>
            <a:off x="8458200" y="2960524"/>
            <a:ext cx="1554480"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1" i="0" dirty="0">
                <a:solidFill>
                  <a:srgbClr val="1B2740"/>
                </a:solidFill>
                <a:latin typeface="Consolas"/>
                <a:ea typeface="맑은 고딕"/>
                <a:cs typeface="맑은 고딕"/>
              </a:rPr>
              <a:t>ST_SimConfig</a:t>
            </a:r>
            <a:endParaRPr lang="ko-KR" altLang="en-US" sz="1050" dirty="0"/>
          </a:p>
        </p:txBody>
      </p:sp>
      <p:sp>
        <p:nvSpPr>
          <p:cNvPr id="40" name="TextBox 39"/>
          <p:cNvSpPr txBox="1"/>
          <p:nvPr/>
        </p:nvSpPr>
        <p:spPr>
          <a:xfrm>
            <a:off x="8458200" y="3366787"/>
            <a:ext cx="2907792" cy="457200"/>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시뮬레이션 시간 · 간격</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플랫폼 1 + 표적 N (기동 포함)</a:t>
            </a:r>
            <a:endParaRPr lang="ko-KR" altLang="en-US" sz="1000" dirty="0"/>
          </a:p>
        </p:txBody>
      </p:sp>
      <p:sp>
        <p:nvSpPr>
          <p:cNvPr id="41" name="TextBox 40"/>
          <p:cNvSpPr txBox="1"/>
          <p:nvPr/>
        </p:nvSpPr>
        <p:spPr>
          <a:xfrm>
            <a:off x="7927848" y="4164503"/>
            <a:ext cx="502920"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059669"/>
                </a:solidFill>
                <a:latin typeface="맑은 고딕"/>
                <a:ea typeface="맑은 고딕"/>
                <a:cs typeface="맑은 고딕"/>
              </a:rPr>
              <a:t>출력</a:t>
            </a:r>
            <a:endParaRPr lang="ko-KR" altLang="en-US" sz="1000" dirty="0"/>
          </a:p>
        </p:txBody>
      </p:sp>
      <p:sp>
        <p:nvSpPr>
          <p:cNvPr id="42" name="TextBox 41"/>
          <p:cNvSpPr txBox="1"/>
          <p:nvPr/>
        </p:nvSpPr>
        <p:spPr>
          <a:xfrm>
            <a:off x="8458200" y="4164503"/>
            <a:ext cx="1554480"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1" i="0" dirty="0">
                <a:solidFill>
                  <a:srgbClr val="1B2740"/>
                </a:solidFill>
                <a:latin typeface="Consolas"/>
                <a:ea typeface="맑은 고딕"/>
                <a:cs typeface="맑은 고딕"/>
              </a:rPr>
              <a:t>ST_SimSample</a:t>
            </a:r>
            <a:endParaRPr lang="ko-KR" altLang="en-US" sz="1050" dirty="0"/>
          </a:p>
        </p:txBody>
      </p:sp>
      <p:sp>
        <p:nvSpPr>
          <p:cNvPr id="44" name="TextBox 43"/>
          <p:cNvSpPr txBox="1"/>
          <p:nvPr/>
        </p:nvSpPr>
        <p:spPr>
          <a:xfrm>
            <a:off x="8458200" y="4570766"/>
            <a:ext cx="2907792" cy="457200"/>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스텝 번호 · 시각</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플랫폼 · 표적별 ECEF · LLA · 자세</a:t>
            </a:r>
            <a:endParaRPr lang="ko-KR" altLang="en-US" sz="1000" dirty="0"/>
          </a:p>
        </p:txBody>
      </p:sp>
      <p:sp>
        <p:nvSpPr>
          <p:cNvPr id="45" name="TextBox 44"/>
          <p:cNvSpPr txBox="1"/>
          <p:nvPr/>
        </p:nvSpPr>
        <p:spPr>
          <a:xfrm>
            <a:off x="7927848" y="5458463"/>
            <a:ext cx="3456432" cy="475488"/>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UI 는 DLL 내부를 보지 않고</a:t>
            </a:r>
            <a:endParaRPr lang="ko-KR" altLang="en-US" sz="950" dirty="0"/>
          </a:p>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이 두 구조체와 함수로만 주고받는다.</a:t>
            </a:r>
            <a:endParaRPr lang="ko-KR" altLang="en-US" sz="950"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02. 표적 정의</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2.1 표적 입력값과 상태값</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과제에서 정한 입력값 7개를 받고, 계산할 때는 ECEF 기준 상태값 9개로 바꿔서 씁니다.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7</a:t>
            </a:r>
          </a:p>
        </p:txBody>
      </p:sp>
      <p:sp>
        <p:nvSpPr>
          <p:cNvPr id="8" name="TextBox 7"/>
          <p:cNvSpPr txBox="1"/>
          <p:nvPr/>
        </p:nvSpPr>
        <p:spPr>
          <a:xfrm>
            <a:off x="640080" y="2157984"/>
            <a:ext cx="324612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2563EB"/>
                </a:solidFill>
                <a:latin typeface="맑은 고딕"/>
                <a:ea typeface="맑은 고딕"/>
                <a:cs typeface="맑은 고딕"/>
              </a:rPr>
              <a:t>입력값 (과제 명세 7개)</a:t>
            </a:r>
            <a:endParaRPr lang="ko-KR" altLang="en-US" sz="1150" dirty="0"/>
          </a:p>
        </p:txBody>
      </p:sp>
      <p:cxnSp>
        <p:nvCxnSpPr>
          <p:cNvPr id="9" name="Connector 8"/>
          <p:cNvCxnSpPr/>
          <p:nvPr/>
        </p:nvCxnSpPr>
        <p:spPr>
          <a:xfrm>
            <a:off x="640080" y="2487168"/>
            <a:ext cx="3246120" cy="0"/>
          </a:xfrm>
          <a:prstGeom prst="line">
            <a:avLst/>
          </a:prstGeom>
          <a:ln w="9525">
            <a:solidFill>
              <a:srgbClr val="D2D9E5"/>
            </a:solidFill>
          </a:ln>
        </p:spPr>
      </p:cxnSp>
      <p:sp>
        <p:nvSpPr>
          <p:cNvPr id="10" name="TextBox 9"/>
          <p:cNvSpPr txBox="1"/>
          <p:nvPr/>
        </p:nvSpPr>
        <p:spPr>
          <a:xfrm>
            <a:off x="749808" y="2596896"/>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위도</a:t>
            </a:r>
            <a:endParaRPr lang="ko-KR" altLang="en-US" sz="1050" dirty="0"/>
          </a:p>
        </p:txBody>
      </p:sp>
      <p:sp>
        <p:nvSpPr>
          <p:cNvPr id="11" name="TextBox 10"/>
          <p:cNvSpPr txBox="1"/>
          <p:nvPr/>
        </p:nvSpPr>
        <p:spPr>
          <a:xfrm>
            <a:off x="2057400" y="2596896"/>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32.12</a:t>
            </a:r>
            <a:endParaRPr lang="ko-KR" altLang="en-US" sz="1050" dirty="0"/>
          </a:p>
        </p:txBody>
      </p:sp>
      <p:sp>
        <p:nvSpPr>
          <p:cNvPr id="12" name="TextBox 11"/>
          <p:cNvSpPr txBox="1"/>
          <p:nvPr/>
        </p:nvSpPr>
        <p:spPr>
          <a:xfrm>
            <a:off x="3337560" y="2596896"/>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a:t>
            </a:r>
            <a:endParaRPr lang="ko-KR" altLang="en-US" sz="1000" dirty="0"/>
          </a:p>
        </p:txBody>
      </p:sp>
      <p:cxnSp>
        <p:nvCxnSpPr>
          <p:cNvPr id="13" name="Connector 12"/>
          <p:cNvCxnSpPr/>
          <p:nvPr/>
        </p:nvCxnSpPr>
        <p:spPr>
          <a:xfrm>
            <a:off x="640080" y="2944368"/>
            <a:ext cx="3246120" cy="0"/>
          </a:xfrm>
          <a:prstGeom prst="line">
            <a:avLst/>
          </a:prstGeom>
          <a:ln w="9525">
            <a:solidFill>
              <a:srgbClr val="EDF0F6"/>
            </a:solidFill>
          </a:ln>
        </p:spPr>
      </p:cxnSp>
      <p:sp>
        <p:nvSpPr>
          <p:cNvPr id="14" name="TextBox 13"/>
          <p:cNvSpPr txBox="1"/>
          <p:nvPr/>
        </p:nvSpPr>
        <p:spPr>
          <a:xfrm>
            <a:off x="749808" y="2944368"/>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경도</a:t>
            </a:r>
            <a:endParaRPr lang="ko-KR" altLang="en-US" sz="1050" dirty="0"/>
          </a:p>
        </p:txBody>
      </p:sp>
      <p:sp>
        <p:nvSpPr>
          <p:cNvPr id="15" name="TextBox 14"/>
          <p:cNvSpPr txBox="1"/>
          <p:nvPr/>
        </p:nvSpPr>
        <p:spPr>
          <a:xfrm>
            <a:off x="2057400" y="2944368"/>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126.00</a:t>
            </a:r>
            <a:endParaRPr lang="ko-KR" altLang="en-US" sz="1050" dirty="0"/>
          </a:p>
        </p:txBody>
      </p:sp>
      <p:sp>
        <p:nvSpPr>
          <p:cNvPr id="16" name="TextBox 15"/>
          <p:cNvSpPr txBox="1"/>
          <p:nvPr/>
        </p:nvSpPr>
        <p:spPr>
          <a:xfrm>
            <a:off x="3337560" y="2944368"/>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a:t>
            </a:r>
            <a:endParaRPr lang="ko-KR" altLang="en-US" sz="1000" dirty="0"/>
          </a:p>
        </p:txBody>
      </p:sp>
      <p:cxnSp>
        <p:nvCxnSpPr>
          <p:cNvPr id="17" name="Connector 16"/>
          <p:cNvCxnSpPr/>
          <p:nvPr/>
        </p:nvCxnSpPr>
        <p:spPr>
          <a:xfrm>
            <a:off x="640080" y="3291840"/>
            <a:ext cx="3246120" cy="0"/>
          </a:xfrm>
          <a:prstGeom prst="line">
            <a:avLst/>
          </a:prstGeom>
          <a:ln w="9525">
            <a:solidFill>
              <a:srgbClr val="EDF0F6"/>
            </a:solidFill>
          </a:ln>
        </p:spPr>
      </p:cxnSp>
      <p:sp>
        <p:nvSpPr>
          <p:cNvPr id="18" name="TextBox 17"/>
          <p:cNvSpPr txBox="1"/>
          <p:nvPr/>
        </p:nvSpPr>
        <p:spPr>
          <a:xfrm>
            <a:off x="749808" y="3291840"/>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고도</a:t>
            </a:r>
            <a:endParaRPr lang="ko-KR" altLang="en-US" sz="1050" dirty="0"/>
          </a:p>
        </p:txBody>
      </p:sp>
      <p:sp>
        <p:nvSpPr>
          <p:cNvPr id="19" name="TextBox 18"/>
          <p:cNvSpPr txBox="1"/>
          <p:nvPr/>
        </p:nvSpPr>
        <p:spPr>
          <a:xfrm>
            <a:off x="2057400" y="3291840"/>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300</a:t>
            </a:r>
            <a:endParaRPr lang="ko-KR" altLang="en-US" sz="1050" dirty="0"/>
          </a:p>
        </p:txBody>
      </p:sp>
      <p:sp>
        <p:nvSpPr>
          <p:cNvPr id="20" name="TextBox 19"/>
          <p:cNvSpPr txBox="1"/>
          <p:nvPr/>
        </p:nvSpPr>
        <p:spPr>
          <a:xfrm>
            <a:off x="3337560" y="3291840"/>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m</a:t>
            </a:r>
            <a:endParaRPr lang="ko-KR" altLang="en-US" sz="1000" dirty="0"/>
          </a:p>
        </p:txBody>
      </p:sp>
      <p:cxnSp>
        <p:nvCxnSpPr>
          <p:cNvPr id="21" name="Connector 20"/>
          <p:cNvCxnSpPr/>
          <p:nvPr/>
        </p:nvCxnSpPr>
        <p:spPr>
          <a:xfrm>
            <a:off x="640080" y="3639312"/>
            <a:ext cx="3246120" cy="0"/>
          </a:xfrm>
          <a:prstGeom prst="line">
            <a:avLst/>
          </a:prstGeom>
          <a:ln w="9525">
            <a:solidFill>
              <a:srgbClr val="EDF0F6"/>
            </a:solidFill>
          </a:ln>
        </p:spPr>
      </p:cxnSp>
      <p:sp>
        <p:nvSpPr>
          <p:cNvPr id="22" name="TextBox 21"/>
          <p:cNvSpPr txBox="1"/>
          <p:nvPr/>
        </p:nvSpPr>
        <p:spPr>
          <a:xfrm>
            <a:off x="749808" y="3639312"/>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속력</a:t>
            </a:r>
            <a:endParaRPr lang="ko-KR" altLang="en-US" sz="1050" dirty="0"/>
          </a:p>
        </p:txBody>
      </p:sp>
      <p:sp>
        <p:nvSpPr>
          <p:cNvPr id="23" name="TextBox 22"/>
          <p:cNvSpPr txBox="1"/>
          <p:nvPr/>
        </p:nvSpPr>
        <p:spPr>
          <a:xfrm>
            <a:off x="2057400" y="3639312"/>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200</a:t>
            </a:r>
            <a:endParaRPr lang="ko-KR" altLang="en-US" sz="1050" dirty="0"/>
          </a:p>
        </p:txBody>
      </p:sp>
      <p:sp>
        <p:nvSpPr>
          <p:cNvPr id="24" name="TextBox 23"/>
          <p:cNvSpPr txBox="1"/>
          <p:nvPr/>
        </p:nvSpPr>
        <p:spPr>
          <a:xfrm>
            <a:off x="3337560" y="3639312"/>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m/s</a:t>
            </a:r>
            <a:endParaRPr lang="ko-KR" altLang="en-US" sz="1000" dirty="0"/>
          </a:p>
        </p:txBody>
      </p:sp>
      <p:cxnSp>
        <p:nvCxnSpPr>
          <p:cNvPr id="25" name="Connector 24"/>
          <p:cNvCxnSpPr/>
          <p:nvPr/>
        </p:nvCxnSpPr>
        <p:spPr>
          <a:xfrm>
            <a:off x="640080" y="3986784"/>
            <a:ext cx="3246120" cy="0"/>
          </a:xfrm>
          <a:prstGeom prst="line">
            <a:avLst/>
          </a:prstGeom>
          <a:ln w="9525">
            <a:solidFill>
              <a:srgbClr val="EDF0F6"/>
            </a:solidFill>
          </a:ln>
        </p:spPr>
      </p:cxnSp>
      <p:sp>
        <p:nvSpPr>
          <p:cNvPr id="26" name="TextBox 25"/>
          <p:cNvSpPr txBox="1"/>
          <p:nvPr/>
        </p:nvSpPr>
        <p:spPr>
          <a:xfrm>
            <a:off x="749808" y="3986784"/>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Roll</a:t>
            </a:r>
            <a:endParaRPr lang="ko-KR" altLang="en-US" sz="1050" dirty="0"/>
          </a:p>
        </p:txBody>
      </p:sp>
      <p:sp>
        <p:nvSpPr>
          <p:cNvPr id="27" name="TextBox 26"/>
          <p:cNvSpPr txBox="1"/>
          <p:nvPr/>
        </p:nvSpPr>
        <p:spPr>
          <a:xfrm>
            <a:off x="2057400" y="3986784"/>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0</a:t>
            </a:r>
            <a:endParaRPr lang="ko-KR" altLang="en-US" sz="1050" dirty="0"/>
          </a:p>
        </p:txBody>
      </p:sp>
      <p:sp>
        <p:nvSpPr>
          <p:cNvPr id="28" name="TextBox 27"/>
          <p:cNvSpPr txBox="1"/>
          <p:nvPr/>
        </p:nvSpPr>
        <p:spPr>
          <a:xfrm>
            <a:off x="3337560" y="3986784"/>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a:t>
            </a:r>
            <a:endParaRPr lang="ko-KR" altLang="en-US" sz="1000" dirty="0"/>
          </a:p>
        </p:txBody>
      </p:sp>
      <p:cxnSp>
        <p:nvCxnSpPr>
          <p:cNvPr id="29" name="Connector 28"/>
          <p:cNvCxnSpPr/>
          <p:nvPr/>
        </p:nvCxnSpPr>
        <p:spPr>
          <a:xfrm>
            <a:off x="640080" y="4334256"/>
            <a:ext cx="3246120" cy="0"/>
          </a:xfrm>
          <a:prstGeom prst="line">
            <a:avLst/>
          </a:prstGeom>
          <a:ln w="9525">
            <a:solidFill>
              <a:srgbClr val="EDF0F6"/>
            </a:solidFill>
          </a:ln>
        </p:spPr>
      </p:cxnSp>
      <p:sp>
        <p:nvSpPr>
          <p:cNvPr id="30" name="TextBox 29"/>
          <p:cNvSpPr txBox="1"/>
          <p:nvPr/>
        </p:nvSpPr>
        <p:spPr>
          <a:xfrm>
            <a:off x="749808" y="4334256"/>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Pitch</a:t>
            </a:r>
            <a:endParaRPr lang="ko-KR" altLang="en-US" sz="1050" dirty="0"/>
          </a:p>
        </p:txBody>
      </p:sp>
      <p:sp>
        <p:nvSpPr>
          <p:cNvPr id="31" name="TextBox 30"/>
          <p:cNvSpPr txBox="1"/>
          <p:nvPr/>
        </p:nvSpPr>
        <p:spPr>
          <a:xfrm>
            <a:off x="2057400" y="4334256"/>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0</a:t>
            </a:r>
            <a:endParaRPr lang="ko-KR" altLang="en-US" sz="1050" dirty="0"/>
          </a:p>
        </p:txBody>
      </p:sp>
      <p:sp>
        <p:nvSpPr>
          <p:cNvPr id="32" name="TextBox 31"/>
          <p:cNvSpPr txBox="1"/>
          <p:nvPr/>
        </p:nvSpPr>
        <p:spPr>
          <a:xfrm>
            <a:off x="3337560" y="4334256"/>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a:t>
            </a:r>
            <a:endParaRPr lang="ko-KR" altLang="en-US" sz="1000" dirty="0"/>
          </a:p>
        </p:txBody>
      </p:sp>
      <p:cxnSp>
        <p:nvCxnSpPr>
          <p:cNvPr id="33" name="Connector 32"/>
          <p:cNvCxnSpPr/>
          <p:nvPr/>
        </p:nvCxnSpPr>
        <p:spPr>
          <a:xfrm>
            <a:off x="640080" y="4681728"/>
            <a:ext cx="3246120" cy="0"/>
          </a:xfrm>
          <a:prstGeom prst="line">
            <a:avLst/>
          </a:prstGeom>
          <a:ln w="9525">
            <a:solidFill>
              <a:srgbClr val="EDF0F6"/>
            </a:solidFill>
          </a:ln>
        </p:spPr>
      </p:cxnSp>
      <p:sp>
        <p:nvSpPr>
          <p:cNvPr id="34" name="TextBox 33"/>
          <p:cNvSpPr txBox="1"/>
          <p:nvPr/>
        </p:nvSpPr>
        <p:spPr>
          <a:xfrm>
            <a:off x="749808" y="4681728"/>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Yaw</a:t>
            </a:r>
            <a:endParaRPr lang="ko-KR" altLang="en-US" sz="1050" dirty="0"/>
          </a:p>
        </p:txBody>
      </p:sp>
      <p:sp>
        <p:nvSpPr>
          <p:cNvPr id="35" name="TextBox 34"/>
          <p:cNvSpPr txBox="1"/>
          <p:nvPr/>
        </p:nvSpPr>
        <p:spPr>
          <a:xfrm>
            <a:off x="2057400" y="4681728"/>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180</a:t>
            </a:r>
            <a:endParaRPr lang="ko-KR" altLang="en-US" sz="1050" dirty="0"/>
          </a:p>
        </p:txBody>
      </p:sp>
      <p:sp>
        <p:nvSpPr>
          <p:cNvPr id="36" name="TextBox 35"/>
          <p:cNvSpPr txBox="1"/>
          <p:nvPr/>
        </p:nvSpPr>
        <p:spPr>
          <a:xfrm>
            <a:off x="3337560" y="4681728"/>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a:t>
            </a:r>
            <a:endParaRPr lang="ko-KR" altLang="en-US" sz="1000" dirty="0"/>
          </a:p>
        </p:txBody>
      </p:sp>
      <p:cxnSp>
        <p:nvCxnSpPr>
          <p:cNvPr id="37" name="Connector 36"/>
          <p:cNvCxnSpPr/>
          <p:nvPr/>
        </p:nvCxnSpPr>
        <p:spPr>
          <a:xfrm>
            <a:off x="640080" y="5029200"/>
            <a:ext cx="3246120" cy="0"/>
          </a:xfrm>
          <a:prstGeom prst="line">
            <a:avLst/>
          </a:prstGeom>
          <a:ln w="9525">
            <a:solidFill>
              <a:srgbClr val="EDF0F6"/>
            </a:solidFill>
          </a:ln>
        </p:spPr>
      </p:cxnSp>
      <p:sp>
        <p:nvSpPr>
          <p:cNvPr id="38" name="TextBox 37"/>
          <p:cNvSpPr txBox="1"/>
          <p:nvPr/>
        </p:nvSpPr>
        <p:spPr>
          <a:xfrm>
            <a:off x="640080" y="5175504"/>
            <a:ext cx="3246120" cy="566928"/>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예시 값은 대공 표적입니다.</a:t>
            </a:r>
            <a:endParaRPr lang="ko-KR" altLang="en-US" sz="950" dirty="0"/>
          </a:p>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속도는 크기만 받고, 방향은 자세각이 정합니다.</a:t>
            </a:r>
            <a:endParaRPr lang="ko-KR" altLang="en-US" sz="950" dirty="0"/>
          </a:p>
        </p:txBody>
      </p:sp>
      <p:cxnSp>
        <p:nvCxnSpPr>
          <p:cNvPr id="39" name="Connector 38"/>
          <p:cNvCxnSpPr/>
          <p:nvPr/>
        </p:nvCxnSpPr>
        <p:spPr>
          <a:xfrm>
            <a:off x="3986784" y="3712464"/>
            <a:ext cx="512064" cy="0"/>
          </a:xfrm>
          <a:prstGeom prst="line">
            <a:avLst/>
          </a:prstGeom>
          <a:ln w="19050">
            <a:solidFill>
              <a:srgbClr val="1B2740"/>
            </a:solidFill>
            <a:tailEnd type="triangle" w="med" len="med"/>
          </a:ln>
        </p:spPr>
      </p:cxnSp>
      <p:sp>
        <p:nvSpPr>
          <p:cNvPr id="40" name="TextBox 39"/>
          <p:cNvSpPr txBox="1"/>
          <p:nvPr/>
        </p:nvSpPr>
        <p:spPr>
          <a:xfrm>
            <a:off x="3886200" y="3419856"/>
            <a:ext cx="713232" cy="219456"/>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00" b="1" i="0" dirty="0">
                <a:solidFill>
                  <a:srgbClr val="1B2740"/>
                </a:solidFill>
                <a:latin typeface="맑은 고딕"/>
                <a:ea typeface="맑은 고딕"/>
                <a:cs typeface="맑은 고딕"/>
              </a:rPr>
              <a:t>초기화</a:t>
            </a:r>
            <a:endParaRPr lang="ko-KR" altLang="en-US" sz="900" dirty="0"/>
          </a:p>
        </p:txBody>
      </p:sp>
      <p:sp>
        <p:nvSpPr>
          <p:cNvPr id="41" name="TextBox 40"/>
          <p:cNvSpPr txBox="1"/>
          <p:nvPr/>
        </p:nvSpPr>
        <p:spPr>
          <a:xfrm>
            <a:off x="4590288" y="2157984"/>
            <a:ext cx="315468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D97706"/>
                </a:solidFill>
                <a:latin typeface="맑은 고딕"/>
                <a:ea typeface="맑은 고딕"/>
                <a:cs typeface="맑은 고딕"/>
              </a:rPr>
              <a:t>상태값 (ECEF 기준 9개)</a:t>
            </a:r>
            <a:endParaRPr lang="ko-KR" altLang="en-US" sz="1150" dirty="0"/>
          </a:p>
        </p:txBody>
      </p:sp>
      <p:cxnSp>
        <p:nvCxnSpPr>
          <p:cNvPr id="42" name="Connector 41"/>
          <p:cNvCxnSpPr/>
          <p:nvPr/>
        </p:nvCxnSpPr>
        <p:spPr>
          <a:xfrm>
            <a:off x="4590288" y="2487168"/>
            <a:ext cx="3154680" cy="0"/>
          </a:xfrm>
          <a:prstGeom prst="line">
            <a:avLst/>
          </a:prstGeom>
          <a:ln w="9525">
            <a:solidFill>
              <a:srgbClr val="D2D9E5"/>
            </a:solidFill>
          </a:ln>
        </p:spPr>
      </p:cxnSp>
      <p:sp>
        <p:nvSpPr>
          <p:cNvPr id="43" name="Rounded Rectangle 42"/>
          <p:cNvSpPr/>
          <p:nvPr/>
        </p:nvSpPr>
        <p:spPr>
          <a:xfrm>
            <a:off x="4590288" y="2633472"/>
            <a:ext cx="402336" cy="402336"/>
          </a:xfrm>
          <a:prstGeom prst="roundRect">
            <a:avLst>
              <a:gd name="adj" fmla="val 13636"/>
            </a:avLst>
          </a:prstGeom>
          <a:solidFill>
            <a:srgbClr val="F7F9FC"/>
          </a:solidFill>
          <a:ln w="15875">
            <a:solidFill>
              <a:srgbClr val="2563EB"/>
            </a:solidFill>
          </a:ln>
          <a:effectLst/>
        </p:spPr>
        <p:txBody>
          <a:bodyPr rtlCol="0" anchor="ctr"/>
          <a:lstStyle/>
          <a:p>
            <a:pPr algn="ctr"/>
          </a:p>
        </p:txBody>
      </p:sp>
      <p:pic>
        <p:nvPicPr>
          <p:cNvPr id="44" name="Picture 43" descr="s5_p.png"/>
          <p:cNvPicPr>
            <a:picLocks noChangeAspect="1"/>
          </p:cNvPicPr>
          <p:nvPr/>
        </p:nvPicPr>
        <p:blipFill>
          <a:blip r:embed="rId2"/>
          <a:stretch>
            <a:fillRect/>
          </a:stretch>
        </p:blipFill>
        <p:spPr>
          <a:xfrm>
            <a:off x="4689348" y="2725674"/>
            <a:ext cx="204216" cy="217932"/>
          </a:xfrm>
          <a:prstGeom prst="rect">
            <a:avLst/>
          </a:prstGeom>
        </p:spPr>
      </p:pic>
      <p:sp>
        <p:nvSpPr>
          <p:cNvPr id="45" name="TextBox 44"/>
          <p:cNvSpPr txBox="1"/>
          <p:nvPr/>
        </p:nvSpPr>
        <p:spPr>
          <a:xfrm>
            <a:off x="5138928" y="2615184"/>
            <a:ext cx="2606040" cy="22860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00" b="1" i="0" dirty="0">
                <a:solidFill>
                  <a:srgbClr val="1B2740"/>
                </a:solidFill>
                <a:latin typeface="맑은 고딕"/>
                <a:ea typeface="맑은 고딕"/>
                <a:cs typeface="맑은 고딕"/>
              </a:rPr>
              <a:t>ECEF 위치</a:t>
            </a:r>
            <a:endParaRPr lang="ko-KR" altLang="en-US" sz="1100" dirty="0"/>
          </a:p>
        </p:txBody>
      </p:sp>
      <p:sp>
        <p:nvSpPr>
          <p:cNvPr id="46" name="TextBox 45"/>
          <p:cNvSpPr txBox="1"/>
          <p:nvPr/>
        </p:nvSpPr>
        <p:spPr>
          <a:xfrm>
            <a:off x="5138928" y="2843784"/>
            <a:ext cx="260604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Consolas"/>
                <a:ea typeface="맑은 고딕"/>
                <a:cs typeface="맑은 고딕"/>
              </a:rPr>
              <a:t>x, y, z  [m]</a:t>
            </a:r>
            <a:endParaRPr lang="ko-KR" altLang="en-US" sz="950" dirty="0"/>
          </a:p>
        </p:txBody>
      </p:sp>
      <p:sp>
        <p:nvSpPr>
          <p:cNvPr id="47" name="Rounded Rectangle 46"/>
          <p:cNvSpPr/>
          <p:nvPr/>
        </p:nvSpPr>
        <p:spPr>
          <a:xfrm>
            <a:off x="4590288" y="3218688"/>
            <a:ext cx="402336" cy="402336"/>
          </a:xfrm>
          <a:prstGeom prst="roundRect">
            <a:avLst>
              <a:gd name="adj" fmla="val 13636"/>
            </a:avLst>
          </a:prstGeom>
          <a:solidFill>
            <a:srgbClr val="F7F9FC"/>
          </a:solidFill>
          <a:ln w="15875">
            <a:solidFill>
              <a:srgbClr val="059669"/>
            </a:solidFill>
          </a:ln>
          <a:effectLst/>
        </p:spPr>
        <p:txBody>
          <a:bodyPr rtlCol="0" anchor="ctr"/>
          <a:lstStyle/>
          <a:p>
            <a:pPr algn="ctr"/>
          </a:p>
        </p:txBody>
      </p:sp>
      <p:pic>
        <p:nvPicPr>
          <p:cNvPr id="48" name="Picture 47" descr="s5_v.png"/>
          <p:cNvPicPr>
            <a:picLocks noChangeAspect="1"/>
          </p:cNvPicPr>
          <p:nvPr/>
        </p:nvPicPr>
        <p:blipFill>
          <a:blip r:embed="rId4"/>
          <a:stretch>
            <a:fillRect/>
          </a:stretch>
        </p:blipFill>
        <p:spPr>
          <a:xfrm>
            <a:off x="4694682" y="3310890"/>
            <a:ext cx="193548" cy="217932"/>
          </a:xfrm>
          <a:prstGeom prst="rect">
            <a:avLst/>
          </a:prstGeom>
        </p:spPr>
      </p:pic>
      <p:sp>
        <p:nvSpPr>
          <p:cNvPr id="49" name="TextBox 48"/>
          <p:cNvSpPr txBox="1"/>
          <p:nvPr/>
        </p:nvSpPr>
        <p:spPr>
          <a:xfrm>
            <a:off x="5138928" y="3200400"/>
            <a:ext cx="2606040" cy="22860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00" b="1" i="0" dirty="0">
                <a:solidFill>
                  <a:srgbClr val="1B2740"/>
                </a:solidFill>
                <a:latin typeface="맑은 고딕"/>
                <a:ea typeface="맑은 고딕"/>
                <a:cs typeface="맑은 고딕"/>
              </a:rPr>
              <a:t>ECEF 속도</a:t>
            </a:r>
            <a:endParaRPr lang="ko-KR" altLang="en-US" sz="1100" dirty="0"/>
          </a:p>
        </p:txBody>
      </p:sp>
      <p:sp>
        <p:nvSpPr>
          <p:cNvPr id="50" name="TextBox 49"/>
          <p:cNvSpPr txBox="1"/>
          <p:nvPr/>
        </p:nvSpPr>
        <p:spPr>
          <a:xfrm>
            <a:off x="5138928" y="3429000"/>
            <a:ext cx="260604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Consolas"/>
                <a:ea typeface="맑은 고딕"/>
                <a:cs typeface="맑은 고딕"/>
              </a:rPr>
              <a:t>vx, vy, vz  [m/s]</a:t>
            </a:r>
            <a:endParaRPr lang="ko-KR" altLang="en-US" sz="950" dirty="0"/>
          </a:p>
        </p:txBody>
      </p:sp>
      <p:sp>
        <p:nvSpPr>
          <p:cNvPr id="51" name="Rounded Rectangle 50"/>
          <p:cNvSpPr/>
          <p:nvPr/>
        </p:nvSpPr>
        <p:spPr>
          <a:xfrm>
            <a:off x="4590288" y="3803904"/>
            <a:ext cx="402336" cy="402336"/>
          </a:xfrm>
          <a:prstGeom prst="roundRect">
            <a:avLst>
              <a:gd name="adj" fmla="val 13636"/>
            </a:avLst>
          </a:prstGeom>
          <a:solidFill>
            <a:srgbClr val="F7F9FC"/>
          </a:solidFill>
          <a:ln w="15875">
            <a:solidFill>
              <a:srgbClr val="D97706"/>
            </a:solidFill>
          </a:ln>
          <a:effectLst/>
        </p:spPr>
        <p:txBody>
          <a:bodyPr rtlCol="0" anchor="ctr"/>
          <a:lstStyle/>
          <a:p>
            <a:pPr algn="ctr"/>
          </a:p>
        </p:txBody>
      </p:sp>
      <p:pic>
        <p:nvPicPr>
          <p:cNvPr id="52" name="Picture 51" descr="s5_th.png"/>
          <p:cNvPicPr>
            <a:picLocks noChangeAspect="1"/>
          </p:cNvPicPr>
          <p:nvPr/>
        </p:nvPicPr>
        <p:blipFill>
          <a:blip r:embed="rId5"/>
          <a:stretch>
            <a:fillRect/>
          </a:stretch>
        </p:blipFill>
        <p:spPr>
          <a:xfrm>
            <a:off x="4703064" y="3896106"/>
            <a:ext cx="176784" cy="217932"/>
          </a:xfrm>
          <a:prstGeom prst="rect">
            <a:avLst/>
          </a:prstGeom>
        </p:spPr>
      </p:pic>
      <p:sp>
        <p:nvSpPr>
          <p:cNvPr id="53" name="TextBox 52"/>
          <p:cNvSpPr txBox="1"/>
          <p:nvPr/>
        </p:nvSpPr>
        <p:spPr>
          <a:xfrm>
            <a:off x="5138928" y="3785616"/>
            <a:ext cx="2606040" cy="22860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00" b="1" i="0" dirty="0">
                <a:solidFill>
                  <a:srgbClr val="1B2740"/>
                </a:solidFill>
                <a:latin typeface="맑은 고딕"/>
                <a:ea typeface="맑은 고딕"/>
                <a:cs typeface="맑은 고딕"/>
              </a:rPr>
              <a:t>자세각</a:t>
            </a:r>
            <a:endParaRPr lang="ko-KR" altLang="en-US" sz="1100" dirty="0"/>
          </a:p>
        </p:txBody>
      </p:sp>
      <p:sp>
        <p:nvSpPr>
          <p:cNvPr id="54" name="TextBox 53"/>
          <p:cNvSpPr txBox="1"/>
          <p:nvPr/>
        </p:nvSpPr>
        <p:spPr>
          <a:xfrm>
            <a:off x="5138928" y="4014216"/>
            <a:ext cx="260604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Consolas"/>
                <a:ea typeface="맑은 고딕"/>
                <a:cs typeface="맑은 고딕"/>
              </a:rPr>
              <a:t>Roll, Pitch, Yaw  [rad]</a:t>
            </a:r>
            <a:endParaRPr lang="ko-KR" altLang="en-US" sz="950" dirty="0"/>
          </a:p>
        </p:txBody>
      </p:sp>
      <p:sp>
        <p:nvSpPr>
          <p:cNvPr id="58" name="TextBox 57"/>
          <p:cNvSpPr txBox="1"/>
          <p:nvPr/>
        </p:nvSpPr>
        <p:spPr>
          <a:xfrm>
            <a:off x="4590288" y="4389120"/>
            <a:ext cx="3154680" cy="35560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과제 요구사항대로 위치, 속도는 ECEF 에서 갱신하고,</a:t>
            </a:r>
            <a:endParaRPr lang="ko-KR" altLang="en-US" sz="950" dirty="0"/>
          </a:p>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결과는 위경도(LLA)로 바꿔 출력합니다.</a:t>
            </a:r>
            <a:endParaRPr lang="ko-KR" altLang="en-US" sz="950" dirty="0"/>
          </a:p>
        </p:txBody>
      </p:sp>
      <p:cxnSp>
        <p:nvCxnSpPr>
          <p:cNvPr id="59" name="Connector 58"/>
          <p:cNvCxnSpPr/>
          <p:nvPr/>
        </p:nvCxnSpPr>
        <p:spPr>
          <a:xfrm>
            <a:off x="7991856" y="2194560"/>
            <a:ext cx="0" cy="3895344"/>
          </a:xfrm>
          <a:prstGeom prst="line">
            <a:avLst/>
          </a:prstGeom>
          <a:ln w="9525">
            <a:solidFill>
              <a:srgbClr val="D2D9E5"/>
            </a:solidFill>
          </a:ln>
        </p:spPr>
      </p:cxnSp>
      <p:sp>
        <p:nvSpPr>
          <p:cNvPr id="60" name="TextBox 59"/>
          <p:cNvSpPr txBox="1"/>
          <p:nvPr/>
        </p:nvSpPr>
        <p:spPr>
          <a:xfrm>
            <a:off x="8229600" y="2157984"/>
            <a:ext cx="331927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구조체</a:t>
            </a:r>
            <a:endParaRPr lang="ko-KR" altLang="en-US" sz="1150" dirty="0"/>
          </a:p>
        </p:txBody>
      </p:sp>
      <p:cxnSp>
        <p:nvCxnSpPr>
          <p:cNvPr id="61" name="Connector 60"/>
          <p:cNvCxnSpPr/>
          <p:nvPr/>
        </p:nvCxnSpPr>
        <p:spPr>
          <a:xfrm>
            <a:off x="8229600" y="2487168"/>
            <a:ext cx="3319272" cy="0"/>
          </a:xfrm>
          <a:prstGeom prst="line">
            <a:avLst/>
          </a:prstGeom>
          <a:ln w="9525">
            <a:solidFill>
              <a:srgbClr val="D2D9E5"/>
            </a:solidFill>
          </a:ln>
        </p:spPr>
      </p:cxnSp>
      <p:sp>
        <p:nvSpPr>
          <p:cNvPr id="62" name="Rectangle 61"/>
          <p:cNvSpPr/>
          <p:nvPr/>
        </p:nvSpPr>
        <p:spPr>
          <a:xfrm>
            <a:off x="8229600" y="2596896"/>
            <a:ext cx="3319272" cy="402336"/>
          </a:xfrm>
          <a:prstGeom prst="rect">
            <a:avLst/>
          </a:prstGeom>
          <a:solidFill>
            <a:srgbClr val="FFFFFF"/>
          </a:solidFill>
          <a:ln w="15875">
            <a:solidFill>
              <a:srgbClr val="2563EB"/>
            </a:solidFill>
          </a:ln>
          <a:effectLst/>
        </p:spPr>
        <p:txBody>
          <a:bodyPr rtlCol="0" anchor="ctr"/>
          <a:lstStyle/>
          <a:p>
            <a:pPr algn="ctr"/>
          </a:p>
        </p:txBody>
      </p:sp>
      <p:sp>
        <p:nvSpPr>
          <p:cNvPr id="63" name="TextBox 62"/>
          <p:cNvSpPr txBox="1"/>
          <p:nvPr/>
        </p:nvSpPr>
        <p:spPr>
          <a:xfrm>
            <a:off x="8357616" y="2630424"/>
            <a:ext cx="3090672"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ST_SimConfig</a:t>
            </a:r>
            <a:endParaRPr lang="ko-KR" altLang="en-US" sz="950" dirty="0"/>
          </a:p>
        </p:txBody>
      </p:sp>
      <p:sp>
        <p:nvSpPr>
          <p:cNvPr id="64" name="TextBox 63"/>
          <p:cNvSpPr txBox="1"/>
          <p:nvPr/>
        </p:nvSpPr>
        <p:spPr>
          <a:xfrm>
            <a:off x="8357616" y="2806446"/>
            <a:ext cx="3090672"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시간, 간격, 표적 수</a:t>
            </a:r>
            <a:endParaRPr lang="ko-KR" altLang="en-US" sz="900" dirty="0"/>
          </a:p>
        </p:txBody>
      </p:sp>
      <p:sp>
        <p:nvSpPr>
          <p:cNvPr id="89" name="Rectangle 88"/>
          <p:cNvSpPr/>
          <p:nvPr/>
        </p:nvSpPr>
        <p:spPr>
          <a:xfrm>
            <a:off x="8503920" y="3072384"/>
            <a:ext cx="3044952" cy="402336"/>
          </a:xfrm>
          <a:prstGeom prst="rect">
            <a:avLst/>
          </a:prstGeom>
          <a:solidFill>
            <a:srgbClr val="FFFFFF"/>
          </a:solidFill>
          <a:ln w="15875">
            <a:solidFill>
              <a:srgbClr val="2563EB"/>
            </a:solidFill>
          </a:ln>
          <a:effectLst/>
        </p:spPr>
        <p:txBody>
          <a:bodyPr rtlCol="0" anchor="ctr"/>
          <a:lstStyle/>
          <a:p>
            <a:pPr algn="ctr"/>
          </a:p>
        </p:txBody>
      </p:sp>
      <p:sp>
        <p:nvSpPr>
          <p:cNvPr id="90" name="TextBox 89"/>
          <p:cNvSpPr txBox="1"/>
          <p:nvPr/>
        </p:nvSpPr>
        <p:spPr>
          <a:xfrm>
            <a:off x="8631936" y="3105912"/>
            <a:ext cx="2816352"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ST_PlatformInit</a:t>
            </a:r>
            <a:endParaRPr lang="ko-KR" altLang="en-US" sz="950" dirty="0"/>
          </a:p>
        </p:txBody>
      </p:sp>
      <p:sp>
        <p:nvSpPr>
          <p:cNvPr id="91" name="TextBox 90"/>
          <p:cNvSpPr txBox="1"/>
          <p:nvPr/>
        </p:nvSpPr>
        <p:spPr>
          <a:xfrm>
            <a:off x="8631936" y="3281934"/>
            <a:ext cx="2816352"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입력값 7개, 기동 없음</a:t>
            </a:r>
            <a:endParaRPr lang="ko-KR" altLang="en-US" sz="900" dirty="0"/>
          </a:p>
        </p:txBody>
      </p:sp>
      <p:sp>
        <p:nvSpPr>
          <p:cNvPr id="92" name="TextBox 91"/>
          <p:cNvSpPr txBox="1"/>
          <p:nvPr/>
        </p:nvSpPr>
        <p:spPr>
          <a:xfrm>
            <a:off x="8631936" y="3105912"/>
            <a:ext cx="2788920" cy="201168"/>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00" b="1" i="0" dirty="0">
                <a:solidFill>
                  <a:srgbClr val="2563EB"/>
                </a:solidFill>
                <a:latin typeface="맑은 고딕"/>
                <a:ea typeface="맑은 고딕"/>
                <a:cs typeface="맑은 고딕"/>
              </a:rPr>
              <a:t>× 1</a:t>
            </a:r>
            <a:endParaRPr lang="ko-KR" altLang="en-US" sz="900" dirty="0"/>
          </a:p>
        </p:txBody>
      </p:sp>
      <p:cxnSp>
        <p:nvCxnSpPr>
          <p:cNvPr id="93" name="Connector 92"/>
          <p:cNvCxnSpPr/>
          <p:nvPr/>
        </p:nvCxnSpPr>
        <p:spPr>
          <a:xfrm>
            <a:off x="8357616" y="3273552"/>
            <a:ext cx="146304" cy="0"/>
          </a:xfrm>
          <a:prstGeom prst="line">
            <a:avLst/>
          </a:prstGeom>
          <a:ln w="9525">
            <a:solidFill>
              <a:srgbClr val="8794AC"/>
            </a:solidFill>
          </a:ln>
        </p:spPr>
      </p:cxnSp>
      <p:sp>
        <p:nvSpPr>
          <p:cNvPr id="65" name="Rectangle 64"/>
          <p:cNvSpPr/>
          <p:nvPr/>
        </p:nvSpPr>
        <p:spPr>
          <a:xfrm>
            <a:off x="8503920" y="3547872"/>
            <a:ext cx="3044952" cy="402336"/>
          </a:xfrm>
          <a:prstGeom prst="rect">
            <a:avLst/>
          </a:prstGeom>
          <a:solidFill>
            <a:srgbClr val="FFFFFF"/>
          </a:solidFill>
          <a:ln w="15875">
            <a:solidFill>
              <a:srgbClr val="2563EB"/>
            </a:solidFill>
          </a:ln>
          <a:effectLst/>
        </p:spPr>
        <p:txBody>
          <a:bodyPr rtlCol="0" anchor="ctr"/>
          <a:lstStyle/>
          <a:p>
            <a:pPr algn="ctr"/>
          </a:p>
        </p:txBody>
      </p:sp>
      <p:sp>
        <p:nvSpPr>
          <p:cNvPr id="66" name="TextBox 65"/>
          <p:cNvSpPr txBox="1"/>
          <p:nvPr/>
        </p:nvSpPr>
        <p:spPr>
          <a:xfrm>
            <a:off x="8631936" y="3581400"/>
            <a:ext cx="2816352"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ST_TargetInit</a:t>
            </a:r>
            <a:endParaRPr lang="ko-KR" altLang="en-US" sz="950" dirty="0"/>
          </a:p>
        </p:txBody>
      </p:sp>
      <p:sp>
        <p:nvSpPr>
          <p:cNvPr id="67" name="TextBox 66"/>
          <p:cNvSpPr txBox="1"/>
          <p:nvPr/>
        </p:nvSpPr>
        <p:spPr>
          <a:xfrm>
            <a:off x="8631936" y="3757422"/>
            <a:ext cx="2816352"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입력값 7개 + 기동 개수</a:t>
            </a:r>
            <a:endParaRPr lang="ko-KR" altLang="en-US" sz="900" dirty="0"/>
          </a:p>
        </p:txBody>
      </p:sp>
      <p:sp>
        <p:nvSpPr>
          <p:cNvPr id="68" name="TextBox 67"/>
          <p:cNvSpPr txBox="1"/>
          <p:nvPr/>
        </p:nvSpPr>
        <p:spPr>
          <a:xfrm>
            <a:off x="8631936" y="3581400"/>
            <a:ext cx="2788920" cy="201168"/>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00" b="1" i="0" dirty="0">
                <a:solidFill>
                  <a:srgbClr val="2563EB"/>
                </a:solidFill>
                <a:latin typeface="맑은 고딕"/>
                <a:ea typeface="맑은 고딕"/>
                <a:cs typeface="맑은 고딕"/>
              </a:rPr>
              <a:t>× 10</a:t>
            </a:r>
            <a:endParaRPr lang="ko-KR" altLang="en-US" sz="900" dirty="0"/>
          </a:p>
        </p:txBody>
      </p:sp>
      <p:sp>
        <p:nvSpPr>
          <p:cNvPr id="69" name="Rectangle 68"/>
          <p:cNvSpPr/>
          <p:nvPr/>
        </p:nvSpPr>
        <p:spPr>
          <a:xfrm>
            <a:off x="8778240" y="4023360"/>
            <a:ext cx="2770632" cy="402336"/>
          </a:xfrm>
          <a:prstGeom prst="rect">
            <a:avLst/>
          </a:prstGeom>
          <a:solidFill>
            <a:srgbClr val="FFFFFF"/>
          </a:solidFill>
          <a:ln w="15875">
            <a:solidFill>
              <a:srgbClr val="7C3AED"/>
            </a:solidFill>
          </a:ln>
          <a:effectLst/>
        </p:spPr>
        <p:txBody>
          <a:bodyPr rtlCol="0" anchor="ctr"/>
          <a:lstStyle/>
          <a:p>
            <a:pPr algn="ctr"/>
          </a:p>
        </p:txBody>
      </p:sp>
      <p:sp>
        <p:nvSpPr>
          <p:cNvPr id="70" name="TextBox 69"/>
          <p:cNvSpPr txBox="1"/>
          <p:nvPr/>
        </p:nvSpPr>
        <p:spPr>
          <a:xfrm>
            <a:off x="8906256" y="4056888"/>
            <a:ext cx="2542032"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ST_TargetManeuver</a:t>
            </a:r>
            <a:endParaRPr lang="ko-KR" altLang="en-US" sz="950" dirty="0"/>
          </a:p>
        </p:txBody>
      </p:sp>
      <p:sp>
        <p:nvSpPr>
          <p:cNvPr id="71" name="TextBox 70"/>
          <p:cNvSpPr txBox="1"/>
          <p:nvPr/>
        </p:nvSpPr>
        <p:spPr>
          <a:xfrm>
            <a:off x="8906256" y="4232910"/>
            <a:ext cx="2542032"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축, G, 시작, 종료</a:t>
            </a:r>
            <a:endParaRPr lang="ko-KR" altLang="en-US" sz="900" dirty="0"/>
          </a:p>
        </p:txBody>
      </p:sp>
      <p:sp>
        <p:nvSpPr>
          <p:cNvPr id="72" name="TextBox 71"/>
          <p:cNvSpPr txBox="1"/>
          <p:nvPr/>
        </p:nvSpPr>
        <p:spPr>
          <a:xfrm>
            <a:off x="8906256" y="4056888"/>
            <a:ext cx="2514600" cy="201168"/>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00" b="1" i="0" dirty="0">
                <a:solidFill>
                  <a:srgbClr val="7C3AED"/>
                </a:solidFill>
                <a:latin typeface="맑은 고딕"/>
                <a:ea typeface="맑은 고딕"/>
                <a:cs typeface="맑은 고딕"/>
              </a:rPr>
              <a:t>× 30</a:t>
            </a:r>
            <a:endParaRPr lang="ko-KR" altLang="en-US" sz="900" dirty="0"/>
          </a:p>
        </p:txBody>
      </p:sp>
      <p:sp>
        <p:nvSpPr>
          <p:cNvPr id="73" name="Rectangle 72"/>
          <p:cNvSpPr/>
          <p:nvPr/>
        </p:nvSpPr>
        <p:spPr>
          <a:xfrm>
            <a:off x="8229600" y="4773168"/>
            <a:ext cx="3319272" cy="402336"/>
          </a:xfrm>
          <a:prstGeom prst="rect">
            <a:avLst/>
          </a:prstGeom>
          <a:solidFill>
            <a:srgbClr val="FFFFFF"/>
          </a:solidFill>
          <a:ln w="15875">
            <a:solidFill>
              <a:srgbClr val="059669"/>
            </a:solidFill>
          </a:ln>
          <a:effectLst/>
        </p:spPr>
        <p:txBody>
          <a:bodyPr rtlCol="0" anchor="ctr"/>
          <a:lstStyle/>
          <a:p>
            <a:pPr algn="ctr"/>
          </a:p>
        </p:txBody>
      </p:sp>
      <p:sp>
        <p:nvSpPr>
          <p:cNvPr id="74" name="TextBox 73"/>
          <p:cNvSpPr txBox="1"/>
          <p:nvPr/>
        </p:nvSpPr>
        <p:spPr>
          <a:xfrm>
            <a:off x="8357616" y="4806696"/>
            <a:ext cx="3090672"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ST_SimSample</a:t>
            </a:r>
            <a:endParaRPr lang="ko-KR" altLang="en-US" sz="950" dirty="0"/>
          </a:p>
        </p:txBody>
      </p:sp>
      <p:sp>
        <p:nvSpPr>
          <p:cNvPr id="75" name="TextBox 74"/>
          <p:cNvSpPr txBox="1"/>
          <p:nvPr/>
        </p:nvSpPr>
        <p:spPr>
          <a:xfrm>
            <a:off x="8357616" y="4982718"/>
            <a:ext cx="3090672"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한 시각의 전체 상태</a:t>
            </a:r>
            <a:endParaRPr lang="ko-KR" altLang="en-US" sz="900" dirty="0"/>
          </a:p>
        </p:txBody>
      </p:sp>
      <p:sp>
        <p:nvSpPr>
          <p:cNvPr id="76" name="Rectangle 75"/>
          <p:cNvSpPr/>
          <p:nvPr/>
        </p:nvSpPr>
        <p:spPr>
          <a:xfrm>
            <a:off x="8503920" y="5248656"/>
            <a:ext cx="3044952" cy="402336"/>
          </a:xfrm>
          <a:prstGeom prst="rect">
            <a:avLst/>
          </a:prstGeom>
          <a:solidFill>
            <a:srgbClr val="FFFFFF"/>
          </a:solidFill>
          <a:ln w="15875">
            <a:solidFill>
              <a:srgbClr val="059669"/>
            </a:solidFill>
          </a:ln>
          <a:effectLst/>
        </p:spPr>
        <p:txBody>
          <a:bodyPr rtlCol="0" anchor="ctr"/>
          <a:lstStyle/>
          <a:p>
            <a:pPr algn="ctr"/>
          </a:p>
        </p:txBody>
      </p:sp>
      <p:sp>
        <p:nvSpPr>
          <p:cNvPr id="77" name="TextBox 76"/>
          <p:cNvSpPr txBox="1"/>
          <p:nvPr/>
        </p:nvSpPr>
        <p:spPr>
          <a:xfrm>
            <a:off x="8631936" y="5282184"/>
            <a:ext cx="2816352"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ST_TargetState</a:t>
            </a:r>
            <a:endParaRPr lang="ko-KR" altLang="en-US" sz="950" dirty="0"/>
          </a:p>
        </p:txBody>
      </p:sp>
      <p:sp>
        <p:nvSpPr>
          <p:cNvPr id="78" name="TextBox 77"/>
          <p:cNvSpPr txBox="1"/>
          <p:nvPr/>
        </p:nvSpPr>
        <p:spPr>
          <a:xfrm>
            <a:off x="8631936" y="5458206"/>
            <a:ext cx="2816352"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플랫폼 1 + 표적 10, 상태값 9개 + LLA</a:t>
            </a:r>
            <a:endParaRPr lang="ko-KR" altLang="en-US" sz="900" dirty="0"/>
          </a:p>
        </p:txBody>
      </p:sp>
      <p:sp>
        <p:nvSpPr>
          <p:cNvPr id="79" name="TextBox 78"/>
          <p:cNvSpPr txBox="1"/>
          <p:nvPr/>
        </p:nvSpPr>
        <p:spPr>
          <a:xfrm>
            <a:off x="8631936" y="5282184"/>
            <a:ext cx="2788920" cy="201168"/>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00" b="1" i="0" dirty="0">
                <a:solidFill>
                  <a:srgbClr val="059669"/>
                </a:solidFill>
                <a:latin typeface="맑은 고딕"/>
                <a:ea typeface="맑은 고딕"/>
                <a:cs typeface="맑은 고딕"/>
              </a:rPr>
              <a:t>× 11</a:t>
            </a:r>
            <a:endParaRPr lang="ko-KR" altLang="en-US" sz="900" dirty="0"/>
          </a:p>
        </p:txBody>
      </p:sp>
      <p:cxnSp>
        <p:nvCxnSpPr>
          <p:cNvPr id="80" name="Connector 79"/>
          <p:cNvCxnSpPr/>
          <p:nvPr/>
        </p:nvCxnSpPr>
        <p:spPr>
          <a:xfrm>
            <a:off x="8357616" y="2999232"/>
            <a:ext cx="0" cy="749808"/>
          </a:xfrm>
          <a:prstGeom prst="line">
            <a:avLst/>
          </a:prstGeom>
          <a:ln w="9525">
            <a:solidFill>
              <a:srgbClr val="8794AC"/>
            </a:solidFill>
          </a:ln>
        </p:spPr>
      </p:cxnSp>
      <p:cxnSp>
        <p:nvCxnSpPr>
          <p:cNvPr id="81" name="Connector 80"/>
          <p:cNvCxnSpPr/>
          <p:nvPr/>
        </p:nvCxnSpPr>
        <p:spPr>
          <a:xfrm>
            <a:off x="8357616" y="3749040"/>
            <a:ext cx="146304" cy="0"/>
          </a:xfrm>
          <a:prstGeom prst="line">
            <a:avLst/>
          </a:prstGeom>
          <a:ln w="9525">
            <a:solidFill>
              <a:srgbClr val="8794AC"/>
            </a:solidFill>
          </a:ln>
        </p:spPr>
      </p:cxnSp>
      <p:cxnSp>
        <p:nvCxnSpPr>
          <p:cNvPr id="82" name="Connector 81"/>
          <p:cNvCxnSpPr/>
          <p:nvPr/>
        </p:nvCxnSpPr>
        <p:spPr>
          <a:xfrm>
            <a:off x="8631936" y="3950208"/>
            <a:ext cx="0" cy="274320"/>
          </a:xfrm>
          <a:prstGeom prst="line">
            <a:avLst/>
          </a:prstGeom>
          <a:ln w="9525">
            <a:solidFill>
              <a:srgbClr val="8794AC"/>
            </a:solidFill>
          </a:ln>
        </p:spPr>
      </p:cxnSp>
      <p:cxnSp>
        <p:nvCxnSpPr>
          <p:cNvPr id="83" name="Connector 82"/>
          <p:cNvCxnSpPr/>
          <p:nvPr/>
        </p:nvCxnSpPr>
        <p:spPr>
          <a:xfrm>
            <a:off x="8631936" y="4224528"/>
            <a:ext cx="146304" cy="0"/>
          </a:xfrm>
          <a:prstGeom prst="line">
            <a:avLst/>
          </a:prstGeom>
          <a:ln w="9525">
            <a:solidFill>
              <a:srgbClr val="8794AC"/>
            </a:solidFill>
          </a:ln>
        </p:spPr>
      </p:cxnSp>
      <p:cxnSp>
        <p:nvCxnSpPr>
          <p:cNvPr id="84" name="Connector 83"/>
          <p:cNvCxnSpPr/>
          <p:nvPr/>
        </p:nvCxnSpPr>
        <p:spPr>
          <a:xfrm>
            <a:off x="8357616" y="5175504"/>
            <a:ext cx="0" cy="274320"/>
          </a:xfrm>
          <a:prstGeom prst="line">
            <a:avLst/>
          </a:prstGeom>
          <a:ln w="9525">
            <a:solidFill>
              <a:srgbClr val="8794AC"/>
            </a:solidFill>
          </a:ln>
        </p:spPr>
      </p:cxnSp>
      <p:cxnSp>
        <p:nvCxnSpPr>
          <p:cNvPr id="85" name="Connector 84"/>
          <p:cNvCxnSpPr/>
          <p:nvPr/>
        </p:nvCxnSpPr>
        <p:spPr>
          <a:xfrm>
            <a:off x="8357616" y="5449824"/>
            <a:ext cx="146304" cy="0"/>
          </a:xfrm>
          <a:prstGeom prst="line">
            <a:avLst/>
          </a:prstGeom>
          <a:ln w="9525">
            <a:solidFill>
              <a:srgbClr val="8794AC"/>
            </a:solidFill>
          </a:ln>
        </p:spPr>
      </p:cxnSp>
      <p:cxnSp>
        <p:nvCxnSpPr>
          <p:cNvPr id="86" name="Connector 85"/>
          <p:cNvCxnSpPr/>
          <p:nvPr/>
        </p:nvCxnSpPr>
        <p:spPr>
          <a:xfrm>
            <a:off x="9692640" y="4462272"/>
            <a:ext cx="0" cy="274320"/>
          </a:xfrm>
          <a:prstGeom prst="line">
            <a:avLst/>
          </a:prstGeom>
          <a:ln w="15875">
            <a:solidFill>
              <a:srgbClr val="1B2740"/>
            </a:solidFill>
            <a:tailEnd type="triangle" w="med" len="med"/>
          </a:ln>
        </p:spPr>
      </p:cxnSp>
      <p:sp>
        <p:nvSpPr>
          <p:cNvPr id="87" name="TextBox 86"/>
          <p:cNvSpPr txBox="1"/>
          <p:nvPr/>
        </p:nvSpPr>
        <p:spPr>
          <a:xfrm>
            <a:off x="9802368" y="4489704"/>
            <a:ext cx="182880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00" b="0" i="0" dirty="0">
                <a:solidFill>
                  <a:srgbClr val="1B2740"/>
                </a:solidFill>
                <a:latin typeface="Consolas"/>
                <a:ea typeface="맑은 고딕"/>
                <a:cs typeface="맑은 고딕"/>
              </a:rPr>
              <a:t>f_Tgt_StepSim</a:t>
            </a:r>
            <a:endParaRPr lang="ko-KR" altLang="en-US" sz="900" dirty="0"/>
          </a:p>
        </p:txBody>
      </p:sp>
      <p:sp>
        <p:nvSpPr>
          <p:cNvPr id="88" name="TextBox 87"/>
          <p:cNvSpPr txBox="1"/>
          <p:nvPr/>
        </p:nvSpPr>
        <p:spPr>
          <a:xfrm>
            <a:off x="8229600" y="5760720"/>
            <a:ext cx="3319272" cy="402336"/>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설정과 결과를 나눠, 설정은 처음 한 번만 읽고</a:t>
            </a:r>
            <a:endParaRPr lang="ko-KR" altLang="en-US" sz="950" dirty="0"/>
          </a:p>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스텝마다 바뀌는 것은 결과뿐입니다.</a:t>
            </a:r>
            <a:endParaRPr lang="ko-KR" altLang="en-US" sz="95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02. 표적 정의</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2.2 기동 입력값과 각속도</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12초부터 20초까지 오른쪽으로 4G 로 돌라는 기동 지시가 구조체 한 줄이 됩니다.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8</a:t>
            </a:r>
          </a:p>
        </p:txBody>
      </p:sp>
      <p:sp>
        <p:nvSpPr>
          <p:cNvPr id="8" name="TextBox 7"/>
          <p:cNvSpPr txBox="1"/>
          <p:nvPr/>
        </p:nvSpPr>
        <p:spPr>
          <a:xfrm>
            <a:off x="640080" y="2157984"/>
            <a:ext cx="498348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기동 정보 (구조체 한 줄)</a:t>
            </a:r>
            <a:endParaRPr lang="ko-KR" altLang="en-US" sz="1150" dirty="0"/>
          </a:p>
        </p:txBody>
      </p:sp>
      <p:cxnSp>
        <p:nvCxnSpPr>
          <p:cNvPr id="9" name="Connector 8"/>
          <p:cNvCxnSpPr/>
          <p:nvPr/>
        </p:nvCxnSpPr>
        <p:spPr>
          <a:xfrm>
            <a:off x="640080" y="2487168"/>
            <a:ext cx="4983480" cy="0"/>
          </a:xfrm>
          <a:prstGeom prst="line">
            <a:avLst/>
          </a:prstGeom>
          <a:ln w="9525">
            <a:solidFill>
              <a:srgbClr val="D2D9E5"/>
            </a:solidFill>
          </a:ln>
        </p:spPr>
      </p:cxnSp>
      <p:sp>
        <p:nvSpPr>
          <p:cNvPr id="10" name="TextBox 9"/>
          <p:cNvSpPr txBox="1"/>
          <p:nvPr/>
        </p:nvSpPr>
        <p:spPr>
          <a:xfrm>
            <a:off x="685800" y="2578608"/>
            <a:ext cx="210312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7C3AED"/>
                </a:solidFill>
                <a:latin typeface="Consolas"/>
                <a:ea typeface="맑은 고딕"/>
                <a:cs typeface="맑은 고딕"/>
              </a:rPr>
              <a:t>enTurnType</a:t>
            </a:r>
            <a:endParaRPr lang="ko-KR" altLang="en-US" sz="1000" dirty="0"/>
          </a:p>
        </p:txBody>
      </p:sp>
      <p:sp>
        <p:nvSpPr>
          <p:cNvPr id="11" name="TextBox 10"/>
          <p:cNvSpPr txBox="1"/>
          <p:nvPr/>
        </p:nvSpPr>
        <p:spPr>
          <a:xfrm>
            <a:off x="685800" y="2770632"/>
            <a:ext cx="2651760"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0 없음, 1 Roll, 2 Yaw, 3 Pitch</a:t>
            </a:r>
            <a:endParaRPr lang="ko-KR" altLang="en-US" sz="900" dirty="0"/>
          </a:p>
        </p:txBody>
      </p:sp>
      <p:sp>
        <p:nvSpPr>
          <p:cNvPr id="12" name="TextBox 11"/>
          <p:cNvSpPr txBox="1"/>
          <p:nvPr/>
        </p:nvSpPr>
        <p:spPr>
          <a:xfrm>
            <a:off x="3429000" y="2578608"/>
            <a:ext cx="2148840"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어느 축으로 도는가</a:t>
            </a:r>
            <a:endParaRPr lang="ko-KR" altLang="en-US" sz="1050" dirty="0"/>
          </a:p>
        </p:txBody>
      </p:sp>
      <p:cxnSp>
        <p:nvCxnSpPr>
          <p:cNvPr id="13" name="Connector 12"/>
          <p:cNvCxnSpPr/>
          <p:nvPr/>
        </p:nvCxnSpPr>
        <p:spPr>
          <a:xfrm>
            <a:off x="640080" y="2971800"/>
            <a:ext cx="4983480" cy="0"/>
          </a:xfrm>
          <a:prstGeom prst="line">
            <a:avLst/>
          </a:prstGeom>
          <a:ln w="9525">
            <a:solidFill>
              <a:srgbClr val="EDF0F6"/>
            </a:solidFill>
          </a:ln>
        </p:spPr>
      </p:cxnSp>
      <p:sp>
        <p:nvSpPr>
          <p:cNvPr id="14" name="TextBox 13"/>
          <p:cNvSpPr txBox="1"/>
          <p:nvPr/>
        </p:nvSpPr>
        <p:spPr>
          <a:xfrm>
            <a:off x="685800" y="2999232"/>
            <a:ext cx="210312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D97706"/>
                </a:solidFill>
                <a:latin typeface="Consolas"/>
                <a:ea typeface="맑은 고딕"/>
                <a:cs typeface="맑은 고딕"/>
              </a:rPr>
              <a:t>gravityValue</a:t>
            </a:r>
            <a:endParaRPr lang="ko-KR" altLang="en-US" sz="1000" dirty="0"/>
          </a:p>
        </p:txBody>
      </p:sp>
      <p:sp>
        <p:nvSpPr>
          <p:cNvPr id="15" name="TextBox 14"/>
          <p:cNvSpPr txBox="1"/>
          <p:nvPr/>
        </p:nvSpPr>
        <p:spPr>
          <a:xfrm>
            <a:off x="685800" y="3191256"/>
            <a:ext cx="2651760"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크기가 세기, 부호가 방향 [G]</a:t>
            </a:r>
            <a:endParaRPr lang="ko-KR" altLang="en-US" sz="900" dirty="0"/>
          </a:p>
        </p:txBody>
      </p:sp>
      <p:sp>
        <p:nvSpPr>
          <p:cNvPr id="16" name="TextBox 15"/>
          <p:cNvSpPr txBox="1"/>
          <p:nvPr/>
        </p:nvSpPr>
        <p:spPr>
          <a:xfrm>
            <a:off x="3429000" y="2999232"/>
            <a:ext cx="2148840"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얼마나 세게 도는가</a:t>
            </a:r>
            <a:endParaRPr lang="ko-KR" altLang="en-US" sz="1050" dirty="0"/>
          </a:p>
        </p:txBody>
      </p:sp>
      <p:cxnSp>
        <p:nvCxnSpPr>
          <p:cNvPr id="17" name="Connector 16"/>
          <p:cNvCxnSpPr/>
          <p:nvPr/>
        </p:nvCxnSpPr>
        <p:spPr>
          <a:xfrm>
            <a:off x="640080" y="3392424"/>
            <a:ext cx="4983480" cy="0"/>
          </a:xfrm>
          <a:prstGeom prst="line">
            <a:avLst/>
          </a:prstGeom>
          <a:ln w="9525">
            <a:solidFill>
              <a:srgbClr val="EDF0F6"/>
            </a:solidFill>
          </a:ln>
        </p:spPr>
      </p:cxnSp>
      <p:sp>
        <p:nvSpPr>
          <p:cNvPr id="18" name="TextBox 17"/>
          <p:cNvSpPr txBox="1"/>
          <p:nvPr/>
        </p:nvSpPr>
        <p:spPr>
          <a:xfrm>
            <a:off x="685800" y="3419856"/>
            <a:ext cx="210312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059669"/>
                </a:solidFill>
                <a:latin typeface="Consolas"/>
                <a:ea typeface="맑은 고딕"/>
                <a:cs typeface="맑은 고딕"/>
              </a:rPr>
              <a:t>startTime</a:t>
            </a:r>
            <a:endParaRPr lang="ko-KR" altLang="en-US" sz="1000" dirty="0"/>
          </a:p>
        </p:txBody>
      </p:sp>
      <p:sp>
        <p:nvSpPr>
          <p:cNvPr id="19" name="TextBox 18"/>
          <p:cNvSpPr txBox="1"/>
          <p:nvPr/>
        </p:nvSpPr>
        <p:spPr>
          <a:xfrm>
            <a:off x="685800" y="3611880"/>
            <a:ext cx="2651760"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시작 시각 [s]</a:t>
            </a:r>
            <a:endParaRPr lang="ko-KR" altLang="en-US" sz="900" dirty="0"/>
          </a:p>
        </p:txBody>
      </p:sp>
      <p:sp>
        <p:nvSpPr>
          <p:cNvPr id="20" name="TextBox 19"/>
          <p:cNvSpPr txBox="1"/>
          <p:nvPr/>
        </p:nvSpPr>
        <p:spPr>
          <a:xfrm>
            <a:off x="3429000" y="3419856"/>
            <a:ext cx="2148840"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언제부터</a:t>
            </a:r>
            <a:endParaRPr lang="ko-KR" altLang="en-US" sz="1050" dirty="0"/>
          </a:p>
        </p:txBody>
      </p:sp>
      <p:cxnSp>
        <p:nvCxnSpPr>
          <p:cNvPr id="21" name="Connector 20"/>
          <p:cNvCxnSpPr/>
          <p:nvPr/>
        </p:nvCxnSpPr>
        <p:spPr>
          <a:xfrm>
            <a:off x="640080" y="3813048"/>
            <a:ext cx="4983480" cy="0"/>
          </a:xfrm>
          <a:prstGeom prst="line">
            <a:avLst/>
          </a:prstGeom>
          <a:ln w="9525">
            <a:solidFill>
              <a:srgbClr val="EDF0F6"/>
            </a:solidFill>
          </a:ln>
        </p:spPr>
      </p:cxnSp>
      <p:sp>
        <p:nvSpPr>
          <p:cNvPr id="22" name="TextBox 21"/>
          <p:cNvSpPr txBox="1"/>
          <p:nvPr/>
        </p:nvSpPr>
        <p:spPr>
          <a:xfrm>
            <a:off x="685800" y="3840480"/>
            <a:ext cx="210312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059669"/>
                </a:solidFill>
                <a:latin typeface="Consolas"/>
                <a:ea typeface="맑은 고딕"/>
                <a:cs typeface="맑은 고딕"/>
              </a:rPr>
              <a:t>endTime</a:t>
            </a:r>
            <a:endParaRPr lang="ko-KR" altLang="en-US" sz="1000" dirty="0"/>
          </a:p>
        </p:txBody>
      </p:sp>
      <p:sp>
        <p:nvSpPr>
          <p:cNvPr id="23" name="TextBox 22"/>
          <p:cNvSpPr txBox="1"/>
          <p:nvPr/>
        </p:nvSpPr>
        <p:spPr>
          <a:xfrm>
            <a:off x="685800" y="4032504"/>
            <a:ext cx="2651760"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종료 시각 [s]</a:t>
            </a:r>
            <a:endParaRPr lang="ko-KR" altLang="en-US" sz="900" dirty="0"/>
          </a:p>
        </p:txBody>
      </p:sp>
      <p:sp>
        <p:nvSpPr>
          <p:cNvPr id="24" name="TextBox 23"/>
          <p:cNvSpPr txBox="1"/>
          <p:nvPr/>
        </p:nvSpPr>
        <p:spPr>
          <a:xfrm>
            <a:off x="3429000" y="3840480"/>
            <a:ext cx="2148840"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언제까지</a:t>
            </a:r>
            <a:endParaRPr lang="ko-KR" altLang="en-US" sz="1050" dirty="0"/>
          </a:p>
        </p:txBody>
      </p:sp>
      <p:sp>
        <p:nvSpPr>
          <p:cNvPr id="25" name="Rectangle 24"/>
          <p:cNvSpPr/>
          <p:nvPr/>
        </p:nvSpPr>
        <p:spPr>
          <a:xfrm>
            <a:off x="640080" y="4297680"/>
            <a:ext cx="4983480" cy="566928"/>
          </a:xfrm>
          <a:prstGeom prst="rect">
            <a:avLst/>
          </a:prstGeom>
          <a:solidFill>
            <a:srgbClr val="F7F9FC"/>
          </a:solidFill>
          <a:ln w="9525">
            <a:solidFill>
              <a:srgbClr val="D2D9E5"/>
            </a:solidFill>
          </a:ln>
          <a:effectLst/>
        </p:spPr>
        <p:txBody>
          <a:bodyPr rtlCol="0" anchor="ctr"/>
          <a:lstStyle/>
          <a:p>
            <a:pPr algn="ctr"/>
          </a:p>
        </p:txBody>
      </p:sp>
      <p:sp>
        <p:nvSpPr>
          <p:cNvPr id="26" name="TextBox 25"/>
          <p:cNvSpPr txBox="1"/>
          <p:nvPr/>
        </p:nvSpPr>
        <p:spPr>
          <a:xfrm>
            <a:off x="804672" y="4352544"/>
            <a:ext cx="4709160" cy="475488"/>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1B2740"/>
                </a:solidFill>
                <a:latin typeface="맑은 고딕"/>
                <a:ea typeface="맑은 고딕"/>
                <a:cs typeface="맑은 고딕"/>
              </a:rPr>
              <a:t>기동이 없는 시각에는 각속도 0 으로 직진한다.</a:t>
            </a:r>
            <a:endParaRPr lang="ko-KR" altLang="en-US" sz="1000" dirty="0"/>
          </a:p>
          <a:p>
            <a:pPr algn="l">
              <a:lnSpc>
                <a:spcPts val="1500"/>
              </a:lnSpc>
              <a:spcBef>
                <a:spcPts val="0"/>
              </a:spcBef>
              <a:spcAft>
                <a:spcPts val="0"/>
              </a:spcAft>
              <a:buNone/>
            </a:pPr>
            <a:r>
              <a:rPr lang="ko-KR" altLang="en-US" sz="1000" b="0" i="0" dirty="0">
                <a:solidFill>
                  <a:srgbClr val="1B2740"/>
                </a:solidFill>
                <a:latin typeface="맑은 고딕"/>
                <a:ea typeface="맑은 고딕"/>
                <a:cs typeface="맑은 고딕"/>
              </a:rPr>
              <a:t>기동 구간 안에서는 각속도가 일정하다.</a:t>
            </a:r>
            <a:endParaRPr lang="ko-KR" altLang="en-US" sz="1000" dirty="0"/>
          </a:p>
        </p:txBody>
      </p:sp>
      <p:sp>
        <p:nvSpPr>
          <p:cNvPr id="27" name="TextBox 26"/>
          <p:cNvSpPr txBox="1"/>
          <p:nvPr/>
        </p:nvSpPr>
        <p:spPr>
          <a:xfrm>
            <a:off x="5989320" y="2157984"/>
            <a:ext cx="555955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G 값에서 각속도로</a:t>
            </a:r>
            <a:endParaRPr lang="ko-KR" altLang="en-US" sz="1150" dirty="0"/>
          </a:p>
        </p:txBody>
      </p:sp>
      <p:cxnSp>
        <p:nvCxnSpPr>
          <p:cNvPr id="28" name="Connector 27"/>
          <p:cNvCxnSpPr/>
          <p:nvPr/>
        </p:nvCxnSpPr>
        <p:spPr>
          <a:xfrm>
            <a:off x="5989320" y="2487168"/>
            <a:ext cx="5559552" cy="0"/>
          </a:xfrm>
          <a:prstGeom prst="line">
            <a:avLst/>
          </a:prstGeom>
          <a:ln w="9525">
            <a:solidFill>
              <a:srgbClr val="D2D9E5"/>
            </a:solidFill>
          </a:ln>
        </p:spPr>
      </p:cxnSp>
      <p:sp>
        <p:nvSpPr>
          <p:cNvPr id="29" name="TextBox 28"/>
          <p:cNvSpPr txBox="1"/>
          <p:nvPr/>
        </p:nvSpPr>
        <p:spPr>
          <a:xfrm>
            <a:off x="5989320" y="2560320"/>
            <a:ext cx="5559552" cy="22860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필요한 것은 1초에 몇 도 도는가(각속도)인데, 받는 값은 G 하나다.</a:t>
            </a:r>
            <a:endParaRPr lang="ko-KR" altLang="en-US" sz="1000" dirty="0"/>
          </a:p>
        </p:txBody>
      </p:sp>
      <p:pic>
        <p:nvPicPr>
          <p:cNvPr id="30" name="Picture 29" descr="s6_ac.png"/>
          <p:cNvPicPr>
            <a:picLocks noChangeAspect="1"/>
          </p:cNvPicPr>
          <p:nvPr/>
        </p:nvPicPr>
        <p:blipFill>
          <a:blip r:embed="rId2"/>
          <a:stretch>
            <a:fillRect/>
          </a:stretch>
        </p:blipFill>
        <p:spPr>
          <a:xfrm>
            <a:off x="6035040" y="2852928"/>
            <a:ext cx="1499616" cy="272796"/>
          </a:xfrm>
          <a:prstGeom prst="rect">
            <a:avLst/>
          </a:prstGeom>
        </p:spPr>
      </p:pic>
      <p:sp>
        <p:nvSpPr>
          <p:cNvPr id="31" name="TextBox 30"/>
          <p:cNvSpPr txBox="1"/>
          <p:nvPr/>
        </p:nvSpPr>
        <p:spPr>
          <a:xfrm>
            <a:off x="7726680" y="2871216"/>
            <a:ext cx="3822192"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00" b="0" i="0" dirty="0">
                <a:solidFill>
                  <a:srgbClr val="8794AC"/>
                </a:solidFill>
                <a:latin typeface="맑은 고딕"/>
                <a:ea typeface="맑은 고딕"/>
                <a:cs typeface="맑은 고딕"/>
              </a:rPr>
              <a:t>원운동에 필요한 가속도를 중력가속도의 n 배로 둔다</a:t>
            </a:r>
            <a:endParaRPr lang="ko-KR" altLang="en-US" sz="900" dirty="0"/>
          </a:p>
        </p:txBody>
      </p:sp>
      <p:pic>
        <p:nvPicPr>
          <p:cNvPr id="32" name="Picture 31" descr="s6_omega.png"/>
          <p:cNvPicPr>
            <a:picLocks noChangeAspect="1"/>
          </p:cNvPicPr>
          <p:nvPr/>
        </p:nvPicPr>
        <p:blipFill>
          <a:blip r:embed="rId4"/>
          <a:stretch>
            <a:fillRect/>
          </a:stretch>
        </p:blipFill>
        <p:spPr>
          <a:xfrm>
            <a:off x="6035040" y="3200400"/>
            <a:ext cx="614172" cy="268224"/>
          </a:xfrm>
          <a:prstGeom prst="rect">
            <a:avLst/>
          </a:prstGeom>
        </p:spPr>
      </p:pic>
      <p:sp>
        <p:nvSpPr>
          <p:cNvPr id="33" name="TextBox 32"/>
          <p:cNvSpPr txBox="1"/>
          <p:nvPr/>
        </p:nvSpPr>
        <p:spPr>
          <a:xfrm>
            <a:off x="6858000" y="3218688"/>
            <a:ext cx="4690872"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1B2740"/>
                </a:solidFill>
                <a:latin typeface="Consolas"/>
                <a:ea typeface="맑은 고딕"/>
                <a:cs typeface="맑은 고딕"/>
              </a:rPr>
              <a:t>omega = (gravityValue * G_FORCE) / headingSpeed;</a:t>
            </a:r>
            <a:endParaRPr lang="ko-KR" altLang="en-US" sz="950" dirty="0"/>
          </a:p>
        </p:txBody>
      </p:sp>
      <p:sp>
        <p:nvSpPr>
          <p:cNvPr id="34" name="Rectangle 33"/>
          <p:cNvSpPr/>
          <p:nvPr/>
        </p:nvSpPr>
        <p:spPr>
          <a:xfrm>
            <a:off x="5989320" y="3621024"/>
            <a:ext cx="5559552" cy="676656"/>
          </a:xfrm>
          <a:prstGeom prst="rect">
            <a:avLst/>
          </a:prstGeom>
          <a:solidFill>
            <a:srgbClr val="F7F9FC"/>
          </a:solidFill>
          <a:ln w="9525">
            <a:solidFill>
              <a:srgbClr val="D2D9E5"/>
            </a:solidFill>
          </a:ln>
          <a:effectLst/>
        </p:spPr>
        <p:txBody>
          <a:bodyPr rtlCol="0" anchor="ctr"/>
          <a:lstStyle/>
          <a:p>
            <a:pPr algn="ctr"/>
          </a:p>
        </p:txBody>
      </p:sp>
      <p:sp>
        <p:nvSpPr>
          <p:cNvPr id="35" name="TextBox 34"/>
          <p:cNvSpPr txBox="1"/>
          <p:nvPr/>
        </p:nvSpPr>
        <p:spPr>
          <a:xfrm>
            <a:off x="6153912" y="3675888"/>
            <a:ext cx="5285232"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1B2740"/>
                </a:solidFill>
                <a:latin typeface="맑은 고딕"/>
                <a:ea typeface="맑은 고딕"/>
                <a:cs typeface="맑은 고딕"/>
              </a:rPr>
              <a:t>같은 4G 라도 속력에 따라 다르다</a:t>
            </a:r>
            <a:endParaRPr lang="ko-KR" altLang="en-US" sz="1000" dirty="0"/>
          </a:p>
        </p:txBody>
      </p:sp>
      <p:sp>
        <p:nvSpPr>
          <p:cNvPr id="36" name="TextBox 35"/>
          <p:cNvSpPr txBox="1"/>
          <p:nvPr/>
        </p:nvSpPr>
        <p:spPr>
          <a:xfrm>
            <a:off x="6153912" y="3968496"/>
            <a:ext cx="2651760"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2563EB"/>
                </a:solidFill>
                <a:latin typeface="맑은 고딕"/>
                <a:ea typeface="맑은 고딕"/>
                <a:cs typeface="맑은 고딕"/>
              </a:rPr>
              <a:t>대함 30 m/s</a:t>
            </a:r>
            <a:r>
              <a:rPr lang="ko-KR" altLang="en-US" sz="1000" b="0" i="0" dirty="0">
                <a:solidFill>
                  <a:srgbClr val="4A5A7A"/>
                </a:solidFill>
                <a:latin typeface="맑은 고딕"/>
                <a:ea typeface="맑은 고딕"/>
                <a:cs typeface="맑은 고딕"/>
              </a:rPr>
              <a:t>   초당 74.9°, 반경 23 m</a:t>
            </a:r>
            <a:endParaRPr lang="ko-KR" altLang="en-US" sz="1000" dirty="0"/>
          </a:p>
        </p:txBody>
      </p:sp>
      <p:sp>
        <p:nvSpPr>
          <p:cNvPr id="37" name="TextBox 36"/>
          <p:cNvSpPr txBox="1"/>
          <p:nvPr/>
        </p:nvSpPr>
        <p:spPr>
          <a:xfrm>
            <a:off x="8823960" y="3968496"/>
            <a:ext cx="2633472"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DC2626"/>
                </a:solidFill>
                <a:latin typeface="맑은 고딕"/>
                <a:ea typeface="맑은 고딕"/>
                <a:cs typeface="맑은 고딕"/>
              </a:rPr>
              <a:t>대공 200 m/s</a:t>
            </a:r>
            <a:r>
              <a:rPr lang="ko-KR" altLang="en-US" sz="1000" b="0" i="0" dirty="0">
                <a:solidFill>
                  <a:srgbClr val="4A5A7A"/>
                </a:solidFill>
                <a:latin typeface="맑은 고딕"/>
                <a:ea typeface="맑은 고딕"/>
                <a:cs typeface="맑은 고딕"/>
              </a:rPr>
              <a:t>   초당 11.2°, 반경 1,020 m</a:t>
            </a:r>
            <a:endParaRPr lang="ko-KR" altLang="en-US" sz="1000" dirty="0"/>
          </a:p>
        </p:txBody>
      </p:sp>
      <p:sp>
        <p:nvSpPr>
          <p:cNvPr id="38" name="TextBox 37"/>
          <p:cNvSpPr txBox="1"/>
          <p:nvPr/>
        </p:nvSpPr>
        <p:spPr>
          <a:xfrm>
            <a:off x="5989320" y="4389120"/>
            <a:ext cx="5559552"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속력이 분모에 있어서 빠른 표적일수록 덜 돈다.</a:t>
            </a:r>
            <a:endParaRPr lang="ko-KR" altLang="en-US" sz="950" dirty="0"/>
          </a:p>
        </p:txBody>
      </p:sp>
      <p:sp>
        <p:nvSpPr>
          <p:cNvPr id="39" name="Example Title"/>
          <p:cNvSpPr txBox="1"/>
          <p:nvPr/>
        </p:nvSpPr>
        <p:spPr>
          <a:xfrm>
            <a:off x="640080" y="5029200"/>
            <a:ext cx="10908792"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예시</a:t>
            </a:r>
            <a:r>
              <a:rPr lang="ko-KR" altLang="en-US" sz="950" b="0" i="0" dirty="0">
                <a:solidFill>
                  <a:srgbClr val="3F4B63"/>
                </a:solidFill>
                <a:latin typeface="맑은 고딕"/>
                <a:ea typeface="맑은 고딕"/>
                <a:cs typeface="맑은 고딕"/>
              </a:rPr>
              <a:t>   대공 표적 (200 m/s) 이 12 초부터 20 초까지 오른쪽으로 4 G</a:t>
            </a:r>
            <a:endParaRPr lang="ko-KR" altLang="en-US" sz="1000" dirty="0"/>
          </a:p>
        </p:txBody>
      </p:sp>
      <p:sp>
        <p:nvSpPr>
          <p:cNvPr id="40" name="Example Box"/>
          <p:cNvSpPr/>
          <p:nvPr/>
        </p:nvSpPr>
        <p:spPr>
          <a:xfrm>
            <a:off x="640080" y="5266944"/>
            <a:ext cx="10908792" cy="877824"/>
          </a:xfrm>
          <a:prstGeom prst="rect">
            <a:avLst/>
          </a:prstGeom>
          <a:solidFill>
            <a:srgbClr val="F7F9FC"/>
          </a:solidFill>
          <a:ln w="9525">
            <a:solidFill>
              <a:srgbClr val="D2D9E5"/>
            </a:solidFill>
          </a:ln>
          <a:effectLst/>
        </p:spPr>
        <p:txBody>
          <a:bodyPr rtlCol="0" anchor="ctr"/>
          <a:lstStyle/>
          <a:p>
            <a:pPr algn="ctr"/>
          </a:p>
        </p:txBody>
      </p:sp>
      <p:sp>
        <p:nvSpPr>
          <p:cNvPr id="41" name="Example Label 1"/>
          <p:cNvSpPr txBox="1"/>
          <p:nvPr/>
        </p:nvSpPr>
        <p:spPr>
          <a:xfrm>
            <a:off x="963676" y="5432044"/>
            <a:ext cx="3175000" cy="1778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구조체 한 줄 (ST_TargetManeuver)</a:t>
            </a:r>
            <a:endParaRPr lang="ko-KR" altLang="en-US" sz="1000" dirty="0"/>
          </a:p>
        </p:txBody>
      </p:sp>
      <p:sp>
        <p:nvSpPr>
          <p:cNvPr id="42" name="Example Value 1"/>
          <p:cNvSpPr txBox="1"/>
          <p:nvPr/>
        </p:nvSpPr>
        <p:spPr>
          <a:xfrm>
            <a:off x="963676" y="5686044"/>
            <a:ext cx="3175000" cy="2540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100" b="0" i="0" dirty="0">
                <a:solidFill>
                  <a:srgbClr val="1B2740"/>
                </a:solidFill>
                <a:latin typeface="Consolas"/>
                <a:ea typeface="맑은 고딕"/>
                <a:cs typeface="맑은 고딕"/>
              </a:rPr>
              <a:t>{ TGT_TURN_YAW, 4.0, 12.0, 20.0 }</a:t>
            </a:r>
            <a:endParaRPr lang="ko-KR" altLang="en-US" sz="1000" dirty="0"/>
          </a:p>
        </p:txBody>
      </p:sp>
      <p:sp>
        <p:nvSpPr>
          <p:cNvPr id="43" name="Example Arrow 1"/>
          <p:cNvSpPr txBox="1"/>
          <p:nvPr/>
        </p:nvSpPr>
        <p:spPr>
          <a:xfrm>
            <a:off x="4138676" y="5686044"/>
            <a:ext cx="558800" cy="2540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6B7890"/>
                </a:solidFill>
                <a:latin typeface="맑은 고딕"/>
                <a:ea typeface="맑은 고딕"/>
                <a:cs typeface="맑은 고딕"/>
              </a:rPr>
              <a:t>→</a:t>
            </a:r>
            <a:endParaRPr lang="ko-KR" altLang="en-US" sz="1000" dirty="0"/>
          </a:p>
        </p:txBody>
      </p:sp>
      <p:sp>
        <p:nvSpPr>
          <p:cNvPr id="44" name="Example Label 2"/>
          <p:cNvSpPr txBox="1"/>
          <p:nvPr/>
        </p:nvSpPr>
        <p:spPr>
          <a:xfrm>
            <a:off x="4697476" y="5432044"/>
            <a:ext cx="3810000" cy="1778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각속도  ω = n · g / V</a:t>
            </a:r>
            <a:endParaRPr lang="ko-KR" altLang="en-US" sz="1000" dirty="0"/>
          </a:p>
        </p:txBody>
      </p:sp>
      <p:sp>
        <p:nvSpPr>
          <p:cNvPr id="45" name="Example Value 2"/>
          <p:cNvSpPr txBox="1"/>
          <p:nvPr/>
        </p:nvSpPr>
        <p:spPr>
          <a:xfrm>
            <a:off x="4697476" y="5686044"/>
            <a:ext cx="3810000" cy="2540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100" b="0" i="0" dirty="0">
                <a:solidFill>
                  <a:srgbClr val="1B2740"/>
                </a:solidFill>
                <a:latin typeface="맑은 고딕"/>
                <a:ea typeface="맑은 고딕"/>
                <a:cs typeface="맑은 고딕"/>
              </a:rPr>
              <a:t>4 × 9.80665 / 200 = 0.196 rad/s  (초당 11.2°)</a:t>
            </a:r>
            <a:endParaRPr lang="ko-KR" altLang="en-US" sz="1000" dirty="0"/>
          </a:p>
        </p:txBody>
      </p:sp>
      <p:sp>
        <p:nvSpPr>
          <p:cNvPr id="46" name="Example Arrow 2"/>
          <p:cNvSpPr txBox="1"/>
          <p:nvPr/>
        </p:nvSpPr>
        <p:spPr>
          <a:xfrm>
            <a:off x="8507476" y="5686044"/>
            <a:ext cx="558800" cy="2540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6B7890"/>
                </a:solidFill>
                <a:latin typeface="맑은 고딕"/>
                <a:ea typeface="맑은 고딕"/>
                <a:cs typeface="맑은 고딕"/>
              </a:rPr>
              <a:t>→</a:t>
            </a:r>
            <a:endParaRPr lang="ko-KR" altLang="en-US" sz="1000" dirty="0"/>
          </a:p>
        </p:txBody>
      </p:sp>
      <p:sp>
        <p:nvSpPr>
          <p:cNvPr id="47" name="Example Label 3"/>
          <p:cNvSpPr txBox="1"/>
          <p:nvPr/>
        </p:nvSpPr>
        <p:spPr>
          <a:xfrm>
            <a:off x="9066276" y="5432044"/>
            <a:ext cx="2159000" cy="1778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12 ~ 20 s, 8 s 동안</a:t>
            </a:r>
            <a:endParaRPr lang="ko-KR" altLang="en-US" sz="1000" dirty="0"/>
          </a:p>
        </p:txBody>
      </p:sp>
      <p:sp>
        <p:nvSpPr>
          <p:cNvPr id="48" name="Example Value 3"/>
          <p:cNvSpPr txBox="1"/>
          <p:nvPr/>
        </p:nvSpPr>
        <p:spPr>
          <a:xfrm>
            <a:off x="9066276" y="5686044"/>
            <a:ext cx="2159000" cy="2540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100" b="1" i="0" dirty="0">
                <a:solidFill>
                  <a:srgbClr val="1B2740"/>
                </a:solidFill>
                <a:latin typeface="맑은 고딕"/>
                <a:ea typeface="맑은 고딕"/>
                <a:cs typeface="맑은 고딕"/>
              </a:rPr>
              <a:t>오른쪽으로 약 90° 회전</a:t>
            </a:r>
            <a:endParaRPr lang="ko-KR" altLang="en-US" sz="10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02. 표적 정의</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2.3 구조체 구성과 흐름 (1/3)</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9</a:t>
            </a:r>
          </a:p>
        </p:txBody>
      </p:sp>
      <p:pic>
        <p:nvPicPr>
          <p:cNvPr id="7" name="Code Capture" descr="TargetSim.h 25-52"/>
          <p:cNvPicPr>
            <a:picLocks noChangeAspect="1"/>
          </p:cNvPicPr>
          <p:nvPr/>
        </p:nvPicPr>
        <p:blipFill>
          <a:blip r:embed="rId3"/>
          <a:stretch>
            <a:fillRect/>
          </a:stretch>
        </p:blipFill>
        <p:spPr>
          <a:xfrm>
            <a:off x="640080" y="1792224"/>
            <a:ext cx="6714172" cy="4079240"/>
          </a:xfrm>
          <a:prstGeom prst="rect">
            <a:avLst/>
          </a:prstGeom>
          <a:ln w="9525">
            <a:solidFill>
              <a:srgbClr val="C9D1DD"/>
            </a:solidFill>
          </a:ln>
        </p:spPr>
      </p:pic>
      <p:sp>
        <p:nvSpPr>
          <p:cNvPr id="8" name="Block 1"/>
          <p:cNvSpPr/>
          <p:nvPr/>
        </p:nvSpPr>
        <p:spPr>
          <a:xfrm>
            <a:off x="968692" y="1845564"/>
            <a:ext cx="6334760" cy="1178560"/>
          </a:xfrm>
          <a:prstGeom prst="roundRect">
            <a:avLst>
              <a:gd name="adj" fmla="val 3233"/>
            </a:avLst>
          </a:prstGeom>
          <a:solidFill>
            <a:srgbClr val="DC2626">
              <a:alpha val="9000"/>
            </a:srgbClr>
          </a:solidFill>
          <a:ln w="12700">
            <a:solidFill>
              <a:srgbClr val="DC2626"/>
            </a:solidFill>
          </a:ln>
          <a:effectLst/>
        </p:spPr>
        <p:txBody>
          <a:bodyPr rtlCol="0" anchor="ctr"/>
          <a:lstStyle/>
          <a:p>
            <a:pPr algn="ctr"/>
          </a:p>
        </p:txBody>
      </p:sp>
      <p:sp>
        <p:nvSpPr>
          <p:cNvPr id="9" name="Block 2"/>
          <p:cNvSpPr/>
          <p:nvPr/>
        </p:nvSpPr>
        <p:spPr>
          <a:xfrm>
            <a:off x="968692" y="3102864"/>
            <a:ext cx="6334760" cy="1318260"/>
          </a:xfrm>
          <a:prstGeom prst="roundRect">
            <a:avLst>
              <a:gd name="adj" fmla="val 2890"/>
            </a:avLst>
          </a:prstGeom>
          <a:solidFill>
            <a:srgbClr val="D97706">
              <a:alpha val="9000"/>
            </a:srgbClr>
          </a:solidFill>
          <a:ln w="12700">
            <a:solidFill>
              <a:srgbClr val="D97706"/>
            </a:solidFill>
          </a:ln>
          <a:effectLst/>
        </p:spPr>
        <p:txBody>
          <a:bodyPr rtlCol="0" anchor="ctr"/>
          <a:lstStyle/>
          <a:p>
            <a:pPr algn="ctr"/>
          </a:p>
        </p:txBody>
      </p:sp>
      <p:sp>
        <p:nvSpPr>
          <p:cNvPr id="10" name="Block 3"/>
          <p:cNvSpPr/>
          <p:nvPr/>
        </p:nvSpPr>
        <p:spPr>
          <a:xfrm>
            <a:off x="968692" y="4499864"/>
            <a:ext cx="6334760" cy="1318260"/>
          </a:xfrm>
          <a:prstGeom prst="roundRect">
            <a:avLst>
              <a:gd name="adj" fmla="val 2890"/>
            </a:avLst>
          </a:prstGeom>
          <a:solidFill>
            <a:srgbClr val="059669">
              <a:alpha val="9000"/>
            </a:srgbClr>
          </a:solidFill>
          <a:ln w="12700">
            <a:solidFill>
              <a:srgbClr val="059669"/>
            </a:solidFill>
          </a:ln>
          <a:effectLst/>
        </p:spPr>
        <p:txBody>
          <a:bodyPr rtlCol="0" anchor="ctr"/>
          <a:lstStyle/>
          <a:p>
            <a:pPr algn="ctr"/>
          </a:p>
        </p:txBody>
      </p:sp>
      <p:cxnSp>
        <p:nvCxnSpPr>
          <p:cNvPr id="13" name="Arrow 1"/>
          <p:cNvCxnSpPr/>
          <p:nvPr/>
        </p:nvCxnSpPr>
        <p:spPr>
          <a:xfrm>
            <a:off x="7303452" y="2434844"/>
            <a:ext cx="330200" cy="0"/>
          </a:xfrm>
          <a:prstGeom prst="line">
            <a:avLst/>
          </a:prstGeom>
          <a:ln w="15875">
            <a:solidFill>
              <a:srgbClr val="DC2626"/>
            </a:solidFill>
            <a:tailEnd type="triangle" w="med" len="med"/>
          </a:ln>
        </p:spPr>
      </p:cxnSp>
      <p:sp>
        <p:nvSpPr>
          <p:cNvPr id="11" name="Label 1 Box"/>
          <p:cNvSpPr/>
          <p:nvPr/>
        </p:nvSpPr>
        <p:spPr>
          <a:xfrm>
            <a:off x="7633652" y="2295144"/>
            <a:ext cx="1176609" cy="279400"/>
          </a:xfrm>
          <a:prstGeom prst="roundRect">
            <a:avLst>
              <a:gd name="adj" fmla="val 20000"/>
            </a:avLst>
          </a:prstGeom>
          <a:solidFill>
            <a:srgbClr val="FDEEEE"/>
          </a:solidFill>
          <a:ln w="12700">
            <a:solidFill>
              <a:srgbClr val="DC2626"/>
            </a:solidFill>
          </a:ln>
          <a:effectLst/>
        </p:spPr>
        <p:txBody>
          <a:bodyPr rtlCol="0" anchor="ctr"/>
          <a:lstStyle/>
          <a:p>
            <a:pPr algn="ctr"/>
          </a:p>
        </p:txBody>
      </p:sp>
      <p:sp>
        <p:nvSpPr>
          <p:cNvPr id="12" name="Label 1 Text"/>
          <p:cNvSpPr txBox="1"/>
          <p:nvPr/>
        </p:nvSpPr>
        <p:spPr>
          <a:xfrm>
            <a:off x="7633652" y="2295144"/>
            <a:ext cx="117660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C2626"/>
                </a:solidFill>
                <a:latin typeface="맑은 고딕"/>
                <a:ea typeface="맑은 고딕"/>
                <a:cs typeface="맑은 고딕"/>
              </a:rPr>
              <a:t>회전축 번호</a:t>
            </a:r>
            <a:endParaRPr lang="ko-KR" altLang="en-US" sz="1200" dirty="0"/>
          </a:p>
        </p:txBody>
      </p:sp>
      <p:cxnSp>
        <p:nvCxnSpPr>
          <p:cNvPr id="16" name="Arrow 2"/>
          <p:cNvCxnSpPr/>
          <p:nvPr/>
        </p:nvCxnSpPr>
        <p:spPr>
          <a:xfrm>
            <a:off x="7303452" y="3761994"/>
            <a:ext cx="330200" cy="0"/>
          </a:xfrm>
          <a:prstGeom prst="line">
            <a:avLst/>
          </a:prstGeom>
          <a:ln w="15875">
            <a:solidFill>
              <a:srgbClr val="D97706"/>
            </a:solidFill>
            <a:tailEnd type="triangle" w="med" len="med"/>
          </a:ln>
        </p:spPr>
      </p:cxnSp>
      <p:sp>
        <p:nvSpPr>
          <p:cNvPr id="14" name="Label 2 Box"/>
          <p:cNvSpPr/>
          <p:nvPr/>
        </p:nvSpPr>
        <p:spPr>
          <a:xfrm>
            <a:off x="7633652" y="3622294"/>
            <a:ext cx="938560" cy="279400"/>
          </a:xfrm>
          <a:prstGeom prst="roundRect">
            <a:avLst>
              <a:gd name="adj" fmla="val 20000"/>
            </a:avLst>
          </a:prstGeom>
          <a:solidFill>
            <a:srgbClr val="FEF5E7"/>
          </a:solidFill>
          <a:ln w="12700">
            <a:solidFill>
              <a:srgbClr val="D97706"/>
            </a:solidFill>
          </a:ln>
          <a:effectLst/>
        </p:spPr>
        <p:txBody>
          <a:bodyPr rtlCol="0" anchor="ctr"/>
          <a:lstStyle/>
          <a:p>
            <a:pPr algn="ctr"/>
          </a:p>
        </p:txBody>
      </p:sp>
      <p:sp>
        <p:nvSpPr>
          <p:cNvPr id="15" name="Label 2 Text"/>
          <p:cNvSpPr txBox="1"/>
          <p:nvPr/>
        </p:nvSpPr>
        <p:spPr>
          <a:xfrm>
            <a:off x="7633652" y="3622294"/>
            <a:ext cx="938560"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97706"/>
                </a:solidFill>
                <a:latin typeface="맑은 고딕"/>
                <a:ea typeface="맑은 고딕"/>
                <a:cs typeface="맑은 고딕"/>
              </a:rPr>
              <a:t>기동 1건</a:t>
            </a:r>
            <a:endParaRPr lang="ko-KR" altLang="en-US" sz="1200" dirty="0"/>
          </a:p>
        </p:txBody>
      </p:sp>
      <p:cxnSp>
        <p:nvCxnSpPr>
          <p:cNvPr id="19" name="Arrow 3"/>
          <p:cNvCxnSpPr/>
          <p:nvPr/>
        </p:nvCxnSpPr>
        <p:spPr>
          <a:xfrm>
            <a:off x="7303452" y="5158994"/>
            <a:ext cx="330200" cy="0"/>
          </a:xfrm>
          <a:prstGeom prst="line">
            <a:avLst/>
          </a:prstGeom>
          <a:ln w="15875">
            <a:solidFill>
              <a:srgbClr val="059669"/>
            </a:solidFill>
            <a:tailEnd type="triangle" w="med" len="med"/>
          </a:ln>
        </p:spPr>
      </p:cxnSp>
      <p:sp>
        <p:nvSpPr>
          <p:cNvPr id="17" name="Label 3 Box"/>
          <p:cNvSpPr/>
          <p:nvPr/>
        </p:nvSpPr>
        <p:spPr>
          <a:xfrm>
            <a:off x="7633652" y="5019294"/>
            <a:ext cx="1738539" cy="279400"/>
          </a:xfrm>
          <a:prstGeom prst="roundRect">
            <a:avLst>
              <a:gd name="adj" fmla="val 20000"/>
            </a:avLst>
          </a:prstGeom>
          <a:solidFill>
            <a:srgbClr val="E8F6F0"/>
          </a:solidFill>
          <a:ln w="12700">
            <a:solidFill>
              <a:srgbClr val="059669"/>
            </a:solidFill>
          </a:ln>
          <a:effectLst/>
        </p:spPr>
        <p:txBody>
          <a:bodyPr rtlCol="0" anchor="ctr"/>
          <a:lstStyle/>
          <a:p>
            <a:pPr algn="ctr"/>
          </a:p>
        </p:txBody>
      </p:sp>
      <p:sp>
        <p:nvSpPr>
          <p:cNvPr id="18" name="Label 3 Text"/>
          <p:cNvSpPr txBox="1"/>
          <p:nvPr/>
        </p:nvSpPr>
        <p:spPr>
          <a:xfrm>
            <a:off x="7633652" y="5019294"/>
            <a:ext cx="173853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059669"/>
                </a:solidFill>
                <a:latin typeface="맑은 고딕"/>
                <a:ea typeface="맑은 고딕"/>
                <a:cs typeface="맑은 고딕"/>
              </a:rPr>
              <a:t>표적 하나의 초기값</a:t>
            </a:r>
            <a:endParaRPr lang="ko-KR" altLang="en-US" sz="1200" dirty="0"/>
          </a:p>
        </p:txBody>
      </p:sp>
      <p:sp>
        <p:nvSpPr>
          <p:cNvPr id="20" name="File Tag"/>
          <p:cNvSpPr txBox="1"/>
          <p:nvPr/>
        </p:nvSpPr>
        <p:spPr>
          <a:xfrm>
            <a:off x="6214872" y="1345184"/>
            <a:ext cx="5334000" cy="203200"/>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50" b="0" i="0" dirty="0">
                <a:solidFill>
                  <a:srgbClr val="8794AC"/>
                </a:solidFill>
                <a:latin typeface="Consolas"/>
                <a:ea typeface="맑은 고딕"/>
                <a:cs typeface="맑은 고딕"/>
              </a:rPr>
              <a:t>TargetSimCore/include/TargetSim.h  25 ~ 52행</a:t>
            </a:r>
            <a:endParaRPr lang="ko-KR" altLang="en-US" sz="10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3.2 한 스텝 처리 순서</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다섯 단계가 f_Tgt_StepSim 한 번이고, 0.1초마다 반복하면 60초 궤적이 됩니다.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14</a:t>
            </a:r>
          </a:p>
        </p:txBody>
      </p:sp>
      <p:sp>
        <p:nvSpPr>
          <p:cNvPr id="8" name="Rectangle 7"/>
          <p:cNvSpPr/>
          <p:nvPr/>
        </p:nvSpPr>
        <p:spPr>
          <a:xfrm>
            <a:off x="640080" y="2157984"/>
            <a:ext cx="2006194" cy="2670048"/>
          </a:xfrm>
          <a:prstGeom prst="rect">
            <a:avLst/>
          </a:prstGeom>
          <a:solidFill>
            <a:srgbClr val="FFFFFF"/>
          </a:solidFill>
          <a:ln w="15875">
            <a:solidFill>
              <a:srgbClr val="7C3AED"/>
            </a:solidFill>
          </a:ln>
          <a:effectLst/>
        </p:spPr>
        <p:txBody>
          <a:bodyPr rtlCol="0" anchor="ctr"/>
          <a:lstStyle/>
          <a:p>
            <a:pPr algn="ctr"/>
          </a:p>
        </p:txBody>
      </p:sp>
      <p:sp>
        <p:nvSpPr>
          <p:cNvPr id="9" name="Rectangle 8"/>
          <p:cNvSpPr/>
          <p:nvPr/>
        </p:nvSpPr>
        <p:spPr>
          <a:xfrm>
            <a:off x="640080" y="2157984"/>
            <a:ext cx="2006194" cy="365760"/>
          </a:xfrm>
          <a:prstGeom prst="rect">
            <a:avLst/>
          </a:prstGeom>
          <a:solidFill>
            <a:srgbClr val="7C3AED"/>
          </a:solidFill>
          <a:ln>
            <a:noFill/>
          </a:ln>
          <a:effectLst/>
        </p:spPr>
        <p:txBody>
          <a:bodyPr rtlCol="0" anchor="ctr"/>
          <a:lstStyle/>
          <a:p>
            <a:pPr algn="ctr"/>
          </a:p>
        </p:txBody>
      </p:sp>
      <p:sp>
        <p:nvSpPr>
          <p:cNvPr id="10" name="TextBox 9"/>
          <p:cNvSpPr txBox="1"/>
          <p:nvPr/>
        </p:nvSpPr>
        <p:spPr>
          <a:xfrm>
            <a:off x="777240" y="2157984"/>
            <a:ext cx="1823314"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①  기동 찾기</a:t>
            </a:r>
            <a:endParaRPr lang="ko-KR" altLang="en-US" sz="1100" dirty="0"/>
          </a:p>
        </p:txBody>
      </p:sp>
      <p:sp>
        <p:nvSpPr>
          <p:cNvPr id="11" name="Rectangle 10"/>
          <p:cNvSpPr/>
          <p:nvPr/>
        </p:nvSpPr>
        <p:spPr>
          <a:xfrm>
            <a:off x="758952" y="2633472"/>
            <a:ext cx="1768450" cy="530352"/>
          </a:xfrm>
          <a:prstGeom prst="rect">
            <a:avLst/>
          </a:prstGeom>
          <a:solidFill>
            <a:srgbClr val="F7F9FC"/>
          </a:solidFill>
          <a:ln w="9525">
            <a:solidFill>
              <a:srgbClr val="D2D9E5"/>
            </a:solidFill>
          </a:ln>
          <a:effectLst/>
        </p:spPr>
        <p:txBody>
          <a:bodyPr rtlCol="0" anchor="ctr"/>
          <a:lstStyle/>
          <a:p>
            <a:pPr algn="ctr"/>
          </a:p>
        </p:txBody>
      </p:sp>
      <p:pic>
        <p:nvPicPr>
          <p:cNvPr id="12" name="Picture 11" descr="s9_1.png"/>
          <p:cNvPicPr>
            <a:picLocks noChangeAspect="1"/>
          </p:cNvPicPr>
          <p:nvPr/>
        </p:nvPicPr>
        <p:blipFill>
          <a:blip r:embed="rId2"/>
          <a:stretch>
            <a:fillRect/>
          </a:stretch>
        </p:blipFill>
        <p:spPr>
          <a:xfrm>
            <a:off x="1285799" y="2802636"/>
            <a:ext cx="714756" cy="192024"/>
          </a:xfrm>
          <a:prstGeom prst="rect">
            <a:avLst/>
          </a:prstGeom>
        </p:spPr>
      </p:pic>
      <p:sp>
        <p:nvSpPr>
          <p:cNvPr id="13" name="TextBox 12"/>
          <p:cNvSpPr txBox="1"/>
          <p:nvPr/>
        </p:nvSpPr>
        <p:spPr>
          <a:xfrm>
            <a:off x="777240" y="3291840"/>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7C3AED"/>
                </a:solidFill>
                <a:latin typeface="맑은 고딕"/>
                <a:ea typeface="맑은 고딕"/>
                <a:cs typeface="맑은 고딕"/>
              </a:rPr>
              <a:t>무엇을</a:t>
            </a:r>
            <a:endParaRPr lang="ko-KR" altLang="en-US" sz="950" dirty="0"/>
          </a:p>
        </p:txBody>
      </p:sp>
      <p:sp>
        <p:nvSpPr>
          <p:cNvPr id="14" name="TextBox 13"/>
          <p:cNvSpPr txBox="1"/>
          <p:nvPr/>
        </p:nvSpPr>
        <p:spPr>
          <a:xfrm>
            <a:off x="777240" y="3502152"/>
            <a:ext cx="1731874" cy="512064"/>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1000" b="0" i="0" dirty="0">
                <a:solidFill>
                  <a:srgbClr val="1B2740"/>
                </a:solidFill>
                <a:latin typeface="맑은 고딕"/>
                <a:ea typeface="맑은 고딕"/>
                <a:cs typeface="맑은 고딕"/>
              </a:rPr>
              <a:t>지금 시각에 걸린 기동이 있는지 찾는다.</a:t>
            </a:r>
            <a:endParaRPr lang="ko-KR" altLang="en-US" sz="1000" dirty="0"/>
          </a:p>
        </p:txBody>
      </p:sp>
      <p:sp>
        <p:nvSpPr>
          <p:cNvPr id="15" name="TextBox 14"/>
          <p:cNvSpPr txBox="1"/>
          <p:nvPr/>
        </p:nvSpPr>
        <p:spPr>
          <a:xfrm>
            <a:off x="777240" y="4050792"/>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7C3AED"/>
                </a:solidFill>
                <a:latin typeface="맑은 고딕"/>
                <a:ea typeface="맑은 고딕"/>
                <a:cs typeface="맑은 고딕"/>
              </a:rPr>
              <a:t>왜 필요한가</a:t>
            </a:r>
            <a:endParaRPr lang="ko-KR" altLang="en-US" sz="950" dirty="0"/>
          </a:p>
        </p:txBody>
      </p:sp>
      <p:sp>
        <p:nvSpPr>
          <p:cNvPr id="16" name="TextBox 15"/>
          <p:cNvSpPr txBox="1"/>
          <p:nvPr/>
        </p:nvSpPr>
        <p:spPr>
          <a:xfrm>
            <a:off x="777240" y="4261104"/>
            <a:ext cx="1731874" cy="512064"/>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걸린 기동이 없으면 각속도 0 으로 직진한다.</a:t>
            </a:r>
            <a:endParaRPr lang="ko-KR" altLang="en-US" sz="950" dirty="0"/>
          </a:p>
        </p:txBody>
      </p:sp>
      <p:cxnSp>
        <p:nvCxnSpPr>
          <p:cNvPr id="17" name="Connector 16"/>
          <p:cNvCxnSpPr/>
          <p:nvPr/>
        </p:nvCxnSpPr>
        <p:spPr>
          <a:xfrm>
            <a:off x="2673706" y="2898648"/>
            <a:ext cx="164592" cy="0"/>
          </a:xfrm>
          <a:prstGeom prst="line">
            <a:avLst/>
          </a:prstGeom>
          <a:ln w="15875">
            <a:solidFill>
              <a:srgbClr val="1B2740"/>
            </a:solidFill>
            <a:tailEnd type="triangle" w="med" len="med"/>
          </a:ln>
        </p:spPr>
      </p:cxnSp>
      <p:sp>
        <p:nvSpPr>
          <p:cNvPr id="18" name="Rectangle 17"/>
          <p:cNvSpPr/>
          <p:nvPr/>
        </p:nvSpPr>
        <p:spPr>
          <a:xfrm>
            <a:off x="2865730" y="2157984"/>
            <a:ext cx="2006194" cy="2670048"/>
          </a:xfrm>
          <a:prstGeom prst="rect">
            <a:avLst/>
          </a:prstGeom>
          <a:solidFill>
            <a:srgbClr val="FFFFFF"/>
          </a:solidFill>
          <a:ln w="15875">
            <a:solidFill>
              <a:srgbClr val="D97706"/>
            </a:solidFill>
          </a:ln>
          <a:effectLst/>
        </p:spPr>
        <p:txBody>
          <a:bodyPr rtlCol="0" anchor="ctr"/>
          <a:lstStyle/>
          <a:p>
            <a:pPr algn="ctr"/>
          </a:p>
        </p:txBody>
      </p:sp>
      <p:sp>
        <p:nvSpPr>
          <p:cNvPr id="19" name="Rectangle 18"/>
          <p:cNvSpPr/>
          <p:nvPr/>
        </p:nvSpPr>
        <p:spPr>
          <a:xfrm>
            <a:off x="2865730" y="2157984"/>
            <a:ext cx="2006194" cy="365760"/>
          </a:xfrm>
          <a:prstGeom prst="rect">
            <a:avLst/>
          </a:prstGeom>
          <a:solidFill>
            <a:srgbClr val="D97706"/>
          </a:solidFill>
          <a:ln>
            <a:noFill/>
          </a:ln>
          <a:effectLst/>
        </p:spPr>
        <p:txBody>
          <a:bodyPr rtlCol="0" anchor="ctr"/>
          <a:lstStyle/>
          <a:p>
            <a:pPr algn="ctr"/>
          </a:p>
        </p:txBody>
      </p:sp>
      <p:sp>
        <p:nvSpPr>
          <p:cNvPr id="20" name="TextBox 19"/>
          <p:cNvSpPr txBox="1"/>
          <p:nvPr/>
        </p:nvSpPr>
        <p:spPr>
          <a:xfrm>
            <a:off x="3002890" y="2157984"/>
            <a:ext cx="1823314"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②  자세 회전</a:t>
            </a:r>
            <a:endParaRPr lang="ko-KR" altLang="en-US" sz="1100" dirty="0"/>
          </a:p>
        </p:txBody>
      </p:sp>
      <p:sp>
        <p:nvSpPr>
          <p:cNvPr id="21" name="Rectangle 20"/>
          <p:cNvSpPr/>
          <p:nvPr/>
        </p:nvSpPr>
        <p:spPr>
          <a:xfrm>
            <a:off x="2984602" y="2633472"/>
            <a:ext cx="1768450" cy="530352"/>
          </a:xfrm>
          <a:prstGeom prst="rect">
            <a:avLst/>
          </a:prstGeom>
          <a:solidFill>
            <a:srgbClr val="F7F9FC"/>
          </a:solidFill>
          <a:ln w="9525">
            <a:solidFill>
              <a:srgbClr val="D2D9E5"/>
            </a:solidFill>
          </a:ln>
          <a:effectLst/>
        </p:spPr>
        <p:txBody>
          <a:bodyPr rtlCol="0" anchor="ctr"/>
          <a:lstStyle/>
          <a:p>
            <a:pPr algn="ctr"/>
          </a:p>
        </p:txBody>
      </p:sp>
      <p:pic>
        <p:nvPicPr>
          <p:cNvPr id="22" name="Picture 21" descr="s9_2.png"/>
          <p:cNvPicPr>
            <a:picLocks noChangeAspect="1"/>
          </p:cNvPicPr>
          <p:nvPr/>
        </p:nvPicPr>
        <p:blipFill>
          <a:blip r:embed="rId4"/>
          <a:stretch>
            <a:fillRect/>
          </a:stretch>
        </p:blipFill>
        <p:spPr>
          <a:xfrm>
            <a:off x="3240938" y="2802636"/>
            <a:ext cx="1255776" cy="192024"/>
          </a:xfrm>
          <a:prstGeom prst="rect">
            <a:avLst/>
          </a:prstGeom>
        </p:spPr>
      </p:pic>
      <p:sp>
        <p:nvSpPr>
          <p:cNvPr id="23" name="TextBox 22"/>
          <p:cNvSpPr txBox="1"/>
          <p:nvPr/>
        </p:nvSpPr>
        <p:spPr>
          <a:xfrm>
            <a:off x="3002890" y="3291840"/>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D97706"/>
                </a:solidFill>
                <a:latin typeface="맑은 고딕"/>
                <a:ea typeface="맑은 고딕"/>
                <a:cs typeface="맑은 고딕"/>
              </a:rPr>
              <a:t>무엇을</a:t>
            </a:r>
            <a:endParaRPr lang="ko-KR" altLang="en-US" sz="950" dirty="0"/>
          </a:p>
        </p:txBody>
      </p:sp>
      <p:sp>
        <p:nvSpPr>
          <p:cNvPr id="24" name="TextBox 23"/>
          <p:cNvSpPr txBox="1"/>
          <p:nvPr/>
        </p:nvSpPr>
        <p:spPr>
          <a:xfrm>
            <a:off x="3002890" y="3502152"/>
            <a:ext cx="1731874" cy="512064"/>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1000" b="0" i="0" dirty="0">
                <a:solidFill>
                  <a:srgbClr val="1B2740"/>
                </a:solidFill>
                <a:latin typeface="맑은 고딕"/>
                <a:ea typeface="맑은 고딕"/>
                <a:cs typeface="맑은 고딕"/>
              </a:rPr>
              <a:t>각속도만큼 자세를 돌린다.</a:t>
            </a:r>
            <a:endParaRPr lang="ko-KR" altLang="en-US" sz="1000" dirty="0"/>
          </a:p>
        </p:txBody>
      </p:sp>
      <p:sp>
        <p:nvSpPr>
          <p:cNvPr id="25" name="TextBox 24"/>
          <p:cNvSpPr txBox="1"/>
          <p:nvPr/>
        </p:nvSpPr>
        <p:spPr>
          <a:xfrm>
            <a:off x="3002890" y="4050792"/>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D97706"/>
                </a:solidFill>
                <a:latin typeface="맑은 고딕"/>
                <a:ea typeface="맑은 고딕"/>
                <a:cs typeface="맑은 고딕"/>
              </a:rPr>
              <a:t>왜 필요한가</a:t>
            </a:r>
            <a:endParaRPr lang="ko-KR" altLang="en-US" sz="950" dirty="0"/>
          </a:p>
        </p:txBody>
      </p:sp>
      <p:sp>
        <p:nvSpPr>
          <p:cNvPr id="26" name="TextBox 25"/>
          <p:cNvSpPr txBox="1"/>
          <p:nvPr/>
        </p:nvSpPr>
        <p:spPr>
          <a:xfrm>
            <a:off x="3002890" y="4261104"/>
            <a:ext cx="1731874" cy="512064"/>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자세가 정해져야 속도 방향이 정해진다.</a:t>
            </a:r>
            <a:endParaRPr lang="ko-KR" altLang="en-US" sz="950" dirty="0"/>
          </a:p>
        </p:txBody>
      </p:sp>
      <p:cxnSp>
        <p:nvCxnSpPr>
          <p:cNvPr id="27" name="Connector 26"/>
          <p:cNvCxnSpPr/>
          <p:nvPr/>
        </p:nvCxnSpPr>
        <p:spPr>
          <a:xfrm>
            <a:off x="4899355" y="2898648"/>
            <a:ext cx="164592" cy="0"/>
          </a:xfrm>
          <a:prstGeom prst="line">
            <a:avLst/>
          </a:prstGeom>
          <a:ln w="15875">
            <a:solidFill>
              <a:srgbClr val="1B2740"/>
            </a:solidFill>
            <a:tailEnd type="triangle" w="med" len="med"/>
          </a:ln>
        </p:spPr>
      </p:cxnSp>
      <p:sp>
        <p:nvSpPr>
          <p:cNvPr id="28" name="Rectangle 27"/>
          <p:cNvSpPr/>
          <p:nvPr/>
        </p:nvSpPr>
        <p:spPr>
          <a:xfrm>
            <a:off x="5091379" y="2157984"/>
            <a:ext cx="2006194" cy="2670048"/>
          </a:xfrm>
          <a:prstGeom prst="rect">
            <a:avLst/>
          </a:prstGeom>
          <a:solidFill>
            <a:srgbClr val="FFFFFF"/>
          </a:solidFill>
          <a:ln w="15875">
            <a:solidFill>
              <a:srgbClr val="059669"/>
            </a:solidFill>
          </a:ln>
          <a:effectLst/>
        </p:spPr>
        <p:txBody>
          <a:bodyPr rtlCol="0" anchor="ctr"/>
          <a:lstStyle/>
          <a:p>
            <a:pPr algn="ctr"/>
          </a:p>
        </p:txBody>
      </p:sp>
      <p:sp>
        <p:nvSpPr>
          <p:cNvPr id="29" name="Rectangle 28"/>
          <p:cNvSpPr/>
          <p:nvPr/>
        </p:nvSpPr>
        <p:spPr>
          <a:xfrm>
            <a:off x="5091379" y="2157984"/>
            <a:ext cx="2006194" cy="365760"/>
          </a:xfrm>
          <a:prstGeom prst="rect">
            <a:avLst/>
          </a:prstGeom>
          <a:solidFill>
            <a:srgbClr val="059669"/>
          </a:solidFill>
          <a:ln>
            <a:noFill/>
          </a:ln>
          <a:effectLst/>
        </p:spPr>
        <p:txBody>
          <a:bodyPr rtlCol="0" anchor="ctr"/>
          <a:lstStyle/>
          <a:p>
            <a:pPr algn="ctr"/>
          </a:p>
        </p:txBody>
      </p:sp>
      <p:sp>
        <p:nvSpPr>
          <p:cNvPr id="30" name="TextBox 29"/>
          <p:cNvSpPr txBox="1"/>
          <p:nvPr/>
        </p:nvSpPr>
        <p:spPr>
          <a:xfrm>
            <a:off x="5228539" y="2157984"/>
            <a:ext cx="1823314"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③  속도 변환</a:t>
            </a:r>
            <a:endParaRPr lang="ko-KR" altLang="en-US" sz="1100" dirty="0"/>
          </a:p>
        </p:txBody>
      </p:sp>
      <p:sp>
        <p:nvSpPr>
          <p:cNvPr id="31" name="Rectangle 30"/>
          <p:cNvSpPr/>
          <p:nvPr/>
        </p:nvSpPr>
        <p:spPr>
          <a:xfrm>
            <a:off x="5210251" y="2633472"/>
            <a:ext cx="1768450" cy="530352"/>
          </a:xfrm>
          <a:prstGeom prst="rect">
            <a:avLst/>
          </a:prstGeom>
          <a:solidFill>
            <a:srgbClr val="F7F9FC"/>
          </a:solidFill>
          <a:ln w="9525">
            <a:solidFill>
              <a:srgbClr val="D2D9E5"/>
            </a:solidFill>
          </a:ln>
          <a:effectLst/>
        </p:spPr>
        <p:txBody>
          <a:bodyPr rtlCol="0" anchor="ctr"/>
          <a:lstStyle/>
          <a:p>
            <a:pPr algn="ctr"/>
          </a:p>
        </p:txBody>
      </p:sp>
      <p:pic>
        <p:nvPicPr>
          <p:cNvPr id="32" name="Picture 31" descr="s9_3.png"/>
          <p:cNvPicPr>
            <a:picLocks noChangeAspect="1"/>
          </p:cNvPicPr>
          <p:nvPr/>
        </p:nvPicPr>
        <p:blipFill>
          <a:blip r:embed="rId5"/>
          <a:stretch>
            <a:fillRect/>
          </a:stretch>
        </p:blipFill>
        <p:spPr>
          <a:xfrm>
            <a:off x="5432298" y="2792730"/>
            <a:ext cx="1324356" cy="211836"/>
          </a:xfrm>
          <a:prstGeom prst="rect">
            <a:avLst/>
          </a:prstGeom>
        </p:spPr>
      </p:pic>
      <p:sp>
        <p:nvSpPr>
          <p:cNvPr id="33" name="TextBox 32"/>
          <p:cNvSpPr txBox="1"/>
          <p:nvPr/>
        </p:nvSpPr>
        <p:spPr>
          <a:xfrm>
            <a:off x="5228539" y="3291840"/>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059669"/>
                </a:solidFill>
                <a:latin typeface="맑은 고딕"/>
                <a:ea typeface="맑은 고딕"/>
                <a:cs typeface="맑은 고딕"/>
              </a:rPr>
              <a:t>무엇을</a:t>
            </a:r>
            <a:endParaRPr lang="ko-KR" altLang="en-US" sz="950" dirty="0"/>
          </a:p>
        </p:txBody>
      </p:sp>
      <p:sp>
        <p:nvSpPr>
          <p:cNvPr id="34" name="TextBox 33"/>
          <p:cNvSpPr txBox="1"/>
          <p:nvPr/>
        </p:nvSpPr>
        <p:spPr>
          <a:xfrm>
            <a:off x="5228539" y="3502152"/>
            <a:ext cx="1731874" cy="512064"/>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1000" b="0" i="0" dirty="0">
                <a:solidFill>
                  <a:srgbClr val="1B2740"/>
                </a:solidFill>
                <a:latin typeface="맑은 고딕"/>
                <a:ea typeface="맑은 고딕"/>
                <a:cs typeface="맑은 고딕"/>
              </a:rPr>
              <a:t>기수 방향 속력 V 를 ECEF 속도 벡터로 바꾼다.</a:t>
            </a:r>
            <a:endParaRPr lang="ko-KR" altLang="en-US" sz="1000" dirty="0"/>
          </a:p>
        </p:txBody>
      </p:sp>
      <p:sp>
        <p:nvSpPr>
          <p:cNvPr id="35" name="TextBox 34"/>
          <p:cNvSpPr txBox="1"/>
          <p:nvPr/>
        </p:nvSpPr>
        <p:spPr>
          <a:xfrm>
            <a:off x="5228539" y="4050792"/>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059669"/>
                </a:solidFill>
                <a:latin typeface="맑은 고딕"/>
                <a:ea typeface="맑은 고딕"/>
                <a:cs typeface="맑은 고딕"/>
              </a:rPr>
              <a:t>왜 필요한가</a:t>
            </a:r>
            <a:endParaRPr lang="ko-KR" altLang="en-US" sz="950" dirty="0"/>
          </a:p>
        </p:txBody>
      </p:sp>
      <p:sp>
        <p:nvSpPr>
          <p:cNvPr id="36" name="TextBox 35"/>
          <p:cNvSpPr txBox="1"/>
          <p:nvPr/>
        </p:nvSpPr>
        <p:spPr>
          <a:xfrm>
            <a:off x="5228539" y="4261104"/>
            <a:ext cx="1731874" cy="512064"/>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속력은 그대로, 방향만 자세가 정한다.</a:t>
            </a:r>
            <a:endParaRPr lang="ko-KR" altLang="en-US" sz="950" dirty="0"/>
          </a:p>
        </p:txBody>
      </p:sp>
      <p:cxnSp>
        <p:nvCxnSpPr>
          <p:cNvPr id="37" name="Connector 36"/>
          <p:cNvCxnSpPr/>
          <p:nvPr/>
        </p:nvCxnSpPr>
        <p:spPr>
          <a:xfrm>
            <a:off x="7125005" y="2898648"/>
            <a:ext cx="164592" cy="0"/>
          </a:xfrm>
          <a:prstGeom prst="line">
            <a:avLst/>
          </a:prstGeom>
          <a:ln w="15875">
            <a:solidFill>
              <a:srgbClr val="1B2740"/>
            </a:solidFill>
            <a:tailEnd type="triangle" w="med" len="med"/>
          </a:ln>
        </p:spPr>
      </p:cxnSp>
      <p:sp>
        <p:nvSpPr>
          <p:cNvPr id="38" name="Rectangle 37"/>
          <p:cNvSpPr/>
          <p:nvPr/>
        </p:nvSpPr>
        <p:spPr>
          <a:xfrm>
            <a:off x="7317029" y="2157984"/>
            <a:ext cx="2006194" cy="2670048"/>
          </a:xfrm>
          <a:prstGeom prst="rect">
            <a:avLst/>
          </a:prstGeom>
          <a:solidFill>
            <a:srgbClr val="FFFFFF"/>
          </a:solidFill>
          <a:ln w="15875">
            <a:solidFill>
              <a:srgbClr val="2563EB"/>
            </a:solidFill>
          </a:ln>
          <a:effectLst/>
        </p:spPr>
        <p:txBody>
          <a:bodyPr rtlCol="0" anchor="ctr"/>
          <a:lstStyle/>
          <a:p>
            <a:pPr algn="ctr"/>
          </a:p>
        </p:txBody>
      </p:sp>
      <p:sp>
        <p:nvSpPr>
          <p:cNvPr id="39" name="Rectangle 38"/>
          <p:cNvSpPr/>
          <p:nvPr/>
        </p:nvSpPr>
        <p:spPr>
          <a:xfrm>
            <a:off x="7317029" y="2157984"/>
            <a:ext cx="2006194" cy="365760"/>
          </a:xfrm>
          <a:prstGeom prst="rect">
            <a:avLst/>
          </a:prstGeom>
          <a:solidFill>
            <a:srgbClr val="2563EB"/>
          </a:solidFill>
          <a:ln>
            <a:noFill/>
          </a:ln>
          <a:effectLst/>
        </p:spPr>
        <p:txBody>
          <a:bodyPr rtlCol="0" anchor="ctr"/>
          <a:lstStyle/>
          <a:p>
            <a:pPr algn="ctr"/>
          </a:p>
        </p:txBody>
      </p:sp>
      <p:sp>
        <p:nvSpPr>
          <p:cNvPr id="40" name="TextBox 39"/>
          <p:cNvSpPr txBox="1"/>
          <p:nvPr/>
        </p:nvSpPr>
        <p:spPr>
          <a:xfrm>
            <a:off x="7454189" y="2157984"/>
            <a:ext cx="1823314"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④  위치 이동</a:t>
            </a:r>
            <a:endParaRPr lang="ko-KR" altLang="en-US" sz="1100" dirty="0"/>
          </a:p>
        </p:txBody>
      </p:sp>
      <p:sp>
        <p:nvSpPr>
          <p:cNvPr id="41" name="Rectangle 40"/>
          <p:cNvSpPr/>
          <p:nvPr/>
        </p:nvSpPr>
        <p:spPr>
          <a:xfrm>
            <a:off x="7435901" y="2633472"/>
            <a:ext cx="1768450" cy="530352"/>
          </a:xfrm>
          <a:prstGeom prst="rect">
            <a:avLst/>
          </a:prstGeom>
          <a:solidFill>
            <a:srgbClr val="F7F9FC"/>
          </a:solidFill>
          <a:ln w="9525">
            <a:solidFill>
              <a:srgbClr val="D2D9E5"/>
            </a:solidFill>
          </a:ln>
          <a:effectLst/>
        </p:spPr>
        <p:txBody>
          <a:bodyPr rtlCol="0" anchor="ctr"/>
          <a:lstStyle/>
          <a:p>
            <a:pPr algn="ctr"/>
          </a:p>
        </p:txBody>
      </p:sp>
      <p:pic>
        <p:nvPicPr>
          <p:cNvPr id="42" name="Picture 41" descr="s9_4.png"/>
          <p:cNvPicPr>
            <a:picLocks noChangeAspect="1"/>
          </p:cNvPicPr>
          <p:nvPr/>
        </p:nvPicPr>
        <p:blipFill>
          <a:blip r:embed="rId6"/>
          <a:stretch>
            <a:fillRect/>
          </a:stretch>
        </p:blipFill>
        <p:spPr>
          <a:xfrm>
            <a:off x="7702906" y="2800350"/>
            <a:ext cx="1234440" cy="196596"/>
          </a:xfrm>
          <a:prstGeom prst="rect">
            <a:avLst/>
          </a:prstGeom>
        </p:spPr>
      </p:pic>
      <p:sp>
        <p:nvSpPr>
          <p:cNvPr id="43" name="TextBox 42"/>
          <p:cNvSpPr txBox="1"/>
          <p:nvPr/>
        </p:nvSpPr>
        <p:spPr>
          <a:xfrm>
            <a:off x="7454189" y="3291840"/>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2563EB"/>
                </a:solidFill>
                <a:latin typeface="맑은 고딕"/>
                <a:ea typeface="맑은 고딕"/>
                <a:cs typeface="맑은 고딕"/>
              </a:rPr>
              <a:t>무엇을</a:t>
            </a:r>
            <a:endParaRPr lang="ko-KR" altLang="en-US" sz="950" dirty="0"/>
          </a:p>
        </p:txBody>
      </p:sp>
      <p:sp>
        <p:nvSpPr>
          <p:cNvPr id="44" name="TextBox 43"/>
          <p:cNvSpPr txBox="1"/>
          <p:nvPr/>
        </p:nvSpPr>
        <p:spPr>
          <a:xfrm>
            <a:off x="7454189" y="3502152"/>
            <a:ext cx="1731874" cy="512064"/>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1000" b="0" i="0" dirty="0">
                <a:solidFill>
                  <a:srgbClr val="1B2740"/>
                </a:solidFill>
                <a:latin typeface="맑은 고딕"/>
                <a:ea typeface="맑은 고딕"/>
                <a:cs typeface="맑은 고딕"/>
              </a:rPr>
              <a:t>중간 지점 속도로 위치를 0.1 s 옮긴다.</a:t>
            </a:r>
            <a:endParaRPr lang="ko-KR" altLang="en-US" sz="1000" dirty="0"/>
          </a:p>
        </p:txBody>
      </p:sp>
      <p:sp>
        <p:nvSpPr>
          <p:cNvPr id="45" name="TextBox 44"/>
          <p:cNvSpPr txBox="1"/>
          <p:nvPr/>
        </p:nvSpPr>
        <p:spPr>
          <a:xfrm>
            <a:off x="7454189" y="4050792"/>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2563EB"/>
                </a:solidFill>
                <a:latin typeface="맑은 고딕"/>
                <a:ea typeface="맑은 고딕"/>
                <a:cs typeface="맑은 고딕"/>
              </a:rPr>
              <a:t>왜 필요한가</a:t>
            </a:r>
            <a:endParaRPr lang="ko-KR" altLang="en-US" sz="950" dirty="0"/>
          </a:p>
        </p:txBody>
      </p:sp>
      <p:sp>
        <p:nvSpPr>
          <p:cNvPr id="46" name="TextBox 45"/>
          <p:cNvSpPr txBox="1"/>
          <p:nvPr/>
        </p:nvSpPr>
        <p:spPr>
          <a:xfrm>
            <a:off x="7454189" y="4261104"/>
            <a:ext cx="1731874" cy="512064"/>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0.1 s 마다 옮긴 위치를 이으면 궤적이 된다.</a:t>
            </a:r>
            <a:endParaRPr lang="ko-KR" altLang="en-US" sz="950" dirty="0"/>
          </a:p>
        </p:txBody>
      </p:sp>
      <p:cxnSp>
        <p:nvCxnSpPr>
          <p:cNvPr id="47" name="Connector 46"/>
          <p:cNvCxnSpPr/>
          <p:nvPr/>
        </p:nvCxnSpPr>
        <p:spPr>
          <a:xfrm>
            <a:off x="9350654" y="2898648"/>
            <a:ext cx="164592" cy="0"/>
          </a:xfrm>
          <a:prstGeom prst="line">
            <a:avLst/>
          </a:prstGeom>
          <a:ln w="15875">
            <a:solidFill>
              <a:srgbClr val="1B2740"/>
            </a:solidFill>
            <a:tailEnd type="triangle" w="med" len="med"/>
          </a:ln>
        </p:spPr>
      </p:cxnSp>
      <p:sp>
        <p:nvSpPr>
          <p:cNvPr id="48" name="Rectangle 47"/>
          <p:cNvSpPr/>
          <p:nvPr/>
        </p:nvSpPr>
        <p:spPr>
          <a:xfrm>
            <a:off x="9542678" y="2157984"/>
            <a:ext cx="2006194" cy="2670048"/>
          </a:xfrm>
          <a:prstGeom prst="rect">
            <a:avLst/>
          </a:prstGeom>
          <a:solidFill>
            <a:srgbClr val="FFFFFF"/>
          </a:solidFill>
          <a:ln w="15875">
            <a:solidFill>
              <a:srgbClr val="DC2626"/>
            </a:solidFill>
          </a:ln>
          <a:effectLst/>
        </p:spPr>
        <p:txBody>
          <a:bodyPr rtlCol="0" anchor="ctr"/>
          <a:lstStyle/>
          <a:p>
            <a:pPr algn="ctr"/>
          </a:p>
        </p:txBody>
      </p:sp>
      <p:sp>
        <p:nvSpPr>
          <p:cNvPr id="49" name="Rectangle 48"/>
          <p:cNvSpPr/>
          <p:nvPr/>
        </p:nvSpPr>
        <p:spPr>
          <a:xfrm>
            <a:off x="9542678" y="2157984"/>
            <a:ext cx="2006194" cy="365760"/>
          </a:xfrm>
          <a:prstGeom prst="rect">
            <a:avLst/>
          </a:prstGeom>
          <a:solidFill>
            <a:srgbClr val="DC2626"/>
          </a:solidFill>
          <a:ln>
            <a:noFill/>
          </a:ln>
          <a:effectLst/>
        </p:spPr>
        <p:txBody>
          <a:bodyPr rtlCol="0" anchor="ctr"/>
          <a:lstStyle/>
          <a:p>
            <a:pPr algn="ctr"/>
          </a:p>
        </p:txBody>
      </p:sp>
      <p:sp>
        <p:nvSpPr>
          <p:cNvPr id="50" name="TextBox 49"/>
          <p:cNvSpPr txBox="1"/>
          <p:nvPr/>
        </p:nvSpPr>
        <p:spPr>
          <a:xfrm>
            <a:off x="9679838" y="2157984"/>
            <a:ext cx="1823314"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⑤  결과 기록</a:t>
            </a:r>
            <a:endParaRPr lang="ko-KR" altLang="en-US" sz="1100" dirty="0"/>
          </a:p>
        </p:txBody>
      </p:sp>
      <p:sp>
        <p:nvSpPr>
          <p:cNvPr id="51" name="Rectangle 50"/>
          <p:cNvSpPr/>
          <p:nvPr/>
        </p:nvSpPr>
        <p:spPr>
          <a:xfrm>
            <a:off x="9661550" y="2633472"/>
            <a:ext cx="1768450" cy="530352"/>
          </a:xfrm>
          <a:prstGeom prst="rect">
            <a:avLst/>
          </a:prstGeom>
          <a:solidFill>
            <a:srgbClr val="F7F9FC"/>
          </a:solidFill>
          <a:ln w="9525">
            <a:solidFill>
              <a:srgbClr val="D2D9E5"/>
            </a:solidFill>
          </a:ln>
          <a:effectLst/>
        </p:spPr>
        <p:txBody>
          <a:bodyPr rtlCol="0" anchor="ctr"/>
          <a:lstStyle/>
          <a:p>
            <a:pPr algn="ctr"/>
          </a:p>
        </p:txBody>
      </p:sp>
      <p:pic>
        <p:nvPicPr>
          <p:cNvPr id="52" name="Picture 51" descr="s9_5.png"/>
          <p:cNvPicPr>
            <a:picLocks noChangeAspect="1"/>
          </p:cNvPicPr>
          <p:nvPr/>
        </p:nvPicPr>
        <p:blipFill>
          <a:blip r:embed="rId7"/>
          <a:stretch>
            <a:fillRect/>
          </a:stretch>
        </p:blipFill>
        <p:spPr>
          <a:xfrm>
            <a:off x="10030663" y="2802636"/>
            <a:ext cx="1030224" cy="192024"/>
          </a:xfrm>
          <a:prstGeom prst="rect">
            <a:avLst/>
          </a:prstGeom>
        </p:spPr>
      </p:pic>
      <p:sp>
        <p:nvSpPr>
          <p:cNvPr id="53" name="TextBox 52"/>
          <p:cNvSpPr txBox="1"/>
          <p:nvPr/>
        </p:nvSpPr>
        <p:spPr>
          <a:xfrm>
            <a:off x="9679838" y="3291840"/>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DC2626"/>
                </a:solidFill>
                <a:latin typeface="맑은 고딕"/>
                <a:ea typeface="맑은 고딕"/>
                <a:cs typeface="맑은 고딕"/>
              </a:rPr>
              <a:t>무엇을</a:t>
            </a:r>
            <a:endParaRPr lang="ko-KR" altLang="en-US" sz="950" dirty="0"/>
          </a:p>
        </p:txBody>
      </p:sp>
      <p:sp>
        <p:nvSpPr>
          <p:cNvPr id="54" name="TextBox 53"/>
          <p:cNvSpPr txBox="1"/>
          <p:nvPr/>
        </p:nvSpPr>
        <p:spPr>
          <a:xfrm>
            <a:off x="9679838" y="3502152"/>
            <a:ext cx="1731874" cy="512064"/>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1000" b="0" i="0" dirty="0">
                <a:solidFill>
                  <a:srgbClr val="1B2740"/>
                </a:solidFill>
                <a:latin typeface="맑은 고딕"/>
                <a:ea typeface="맑은 고딕"/>
                <a:cs typeface="맑은 고딕"/>
              </a:rPr>
              <a:t>위도 · 경도 · 고도로 바꿔 결과에 담는다.</a:t>
            </a:r>
            <a:endParaRPr lang="ko-KR" altLang="en-US" sz="1000" dirty="0"/>
          </a:p>
        </p:txBody>
      </p:sp>
      <p:sp>
        <p:nvSpPr>
          <p:cNvPr id="55" name="TextBox 54"/>
          <p:cNvSpPr txBox="1"/>
          <p:nvPr/>
        </p:nvSpPr>
        <p:spPr>
          <a:xfrm>
            <a:off x="9679838" y="4050792"/>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DC2626"/>
                </a:solidFill>
                <a:latin typeface="맑은 고딕"/>
                <a:ea typeface="맑은 고딕"/>
                <a:cs typeface="맑은 고딕"/>
              </a:rPr>
              <a:t>왜 필요한가</a:t>
            </a:r>
            <a:endParaRPr lang="ko-KR" altLang="en-US" sz="950" dirty="0"/>
          </a:p>
        </p:txBody>
      </p:sp>
      <p:sp>
        <p:nvSpPr>
          <p:cNvPr id="56" name="TextBox 55"/>
          <p:cNvSpPr txBox="1"/>
          <p:nvPr/>
        </p:nvSpPr>
        <p:spPr>
          <a:xfrm>
            <a:off x="9679838" y="4261104"/>
            <a:ext cx="1731874" cy="512064"/>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사람이 읽고, 뒤쪽 처리 블록이 쓰는 형식이다.</a:t>
            </a:r>
            <a:endParaRPr lang="ko-KR" altLang="en-US" sz="950" dirty="0"/>
          </a:p>
        </p:txBody>
      </p:sp>
      <p:sp>
        <p:nvSpPr>
          <p:cNvPr id="57" name="Loop Midpoint"/>
          <p:cNvSpPr/>
          <p:nvPr/>
        </p:nvSpPr>
        <p:spPr>
          <a:xfrm>
            <a:off x="6094476" y="4828032"/>
            <a:ext cx="2225650" cy="304800"/>
          </a:xfrm>
          <a:custGeom>
            <a:avLst/>
            <a:gdLst/>
            <a:ahLst/>
            <a:cxnLst/>
            <a:rect l="0" t="0" r="r" b="b"/>
            <a:pathLst>
              <a:path w="2225650" h="304800" fill="none">
                <a:moveTo>
                  <a:pt x="2225650" y="0"/>
                </a:moveTo>
                <a:lnTo>
                  <a:pt x="2225650" y="304800"/>
                </a:lnTo>
                <a:lnTo>
                  <a:pt x="0" y="304800"/>
                </a:lnTo>
                <a:lnTo>
                  <a:pt x="0" y="0"/>
                </a:lnTo>
              </a:path>
            </a:pathLst>
          </a:custGeom>
          <a:noFill/>
          <a:ln w="19050">
            <a:solidFill>
              <a:srgbClr val="1B2740"/>
            </a:solidFill>
            <a:miter lim="800000"/>
            <a:tailEnd type="triangle" w="med" len="med"/>
          </a:ln>
        </p:spPr>
        <p:txBody>
          <a:bodyPr rtlCol="0" anchor="ctr"/>
          <a:lstStyle/>
          <a:p>
            <a:pPr algn="ctr"/>
          </a:p>
        </p:txBody>
      </p:sp>
      <p:sp>
        <p:nvSpPr>
          <p:cNvPr id="58" name="Loop Targets"/>
          <p:cNvSpPr/>
          <p:nvPr/>
        </p:nvSpPr>
        <p:spPr>
          <a:xfrm>
            <a:off x="1643177" y="4828032"/>
            <a:ext cx="8902598" cy="812800"/>
          </a:xfrm>
          <a:custGeom>
            <a:avLst/>
            <a:gdLst/>
            <a:ahLst/>
            <a:cxnLst/>
            <a:rect l="0" t="0" r="r" b="b"/>
            <a:pathLst>
              <a:path w="8902598" h="812800" fill="none">
                <a:moveTo>
                  <a:pt x="8902598" y="0"/>
                </a:moveTo>
                <a:lnTo>
                  <a:pt x="8902598" y="812800"/>
                </a:lnTo>
                <a:lnTo>
                  <a:pt x="0" y="812800"/>
                </a:lnTo>
                <a:lnTo>
                  <a:pt x="0" y="0"/>
                </a:lnTo>
              </a:path>
            </a:pathLst>
          </a:custGeom>
          <a:noFill/>
          <a:ln w="19050">
            <a:solidFill>
              <a:srgbClr val="8794AC"/>
            </a:solidFill>
            <a:miter lim="800000"/>
            <a:tailEnd type="triangle" w="med" len="med"/>
          </a:ln>
        </p:spPr>
        <p:txBody>
          <a:bodyPr rtlCol="0" anchor="ctr"/>
          <a:lstStyle/>
          <a:p>
            <a:pPr algn="ctr"/>
          </a:p>
        </p:txBody>
      </p:sp>
      <p:sp>
        <p:nvSpPr>
          <p:cNvPr id="59" name="Loop Midpoint Label Box"/>
          <p:cNvSpPr/>
          <p:nvPr/>
        </p:nvSpPr>
        <p:spPr>
          <a:xfrm>
            <a:off x="6449632" y="5018532"/>
            <a:ext cx="1515339" cy="228600"/>
          </a:xfrm>
          <a:prstGeom prst="roundRect">
            <a:avLst>
              <a:gd name="adj" fmla="val 50000"/>
            </a:avLst>
          </a:prstGeom>
          <a:solidFill>
            <a:srgbClr val="FFFFFF"/>
          </a:solidFill>
          <a:ln w="12700">
            <a:solidFill>
              <a:srgbClr val="1B2740"/>
            </a:solidFill>
          </a:ln>
          <a:effectLst/>
        </p:spPr>
        <p:txBody>
          <a:bodyPr rtlCol="0" anchor="ctr"/>
          <a:lstStyle/>
          <a:p>
            <a:pPr algn="ctr"/>
          </a:p>
        </p:txBody>
      </p:sp>
      <p:sp>
        <p:nvSpPr>
          <p:cNvPr id="60" name="Loop Midpoint Label Text"/>
          <p:cNvSpPr txBox="1"/>
          <p:nvPr/>
        </p:nvSpPr>
        <p:spPr>
          <a:xfrm>
            <a:off x="6449632" y="5018532"/>
            <a:ext cx="1515339" cy="2286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1B2740"/>
                </a:solidFill>
                <a:latin typeface="맑은 고딕"/>
                <a:ea typeface="맑은 고딕"/>
                <a:cs typeface="맑은 고딕"/>
              </a:rPr>
              <a:t>0.05 s 앞에서 한 번 더</a:t>
            </a:r>
            <a:endParaRPr lang="ko-KR" altLang="en-US" sz="1000" dirty="0"/>
          </a:p>
        </p:txBody>
      </p:sp>
      <p:sp>
        <p:nvSpPr>
          <p:cNvPr id="61" name="Loop Targets Label Box"/>
          <p:cNvSpPr/>
          <p:nvPr/>
        </p:nvSpPr>
        <p:spPr>
          <a:xfrm>
            <a:off x="4917504" y="5526532"/>
            <a:ext cx="2353945" cy="228600"/>
          </a:xfrm>
          <a:prstGeom prst="roundRect">
            <a:avLst>
              <a:gd name="adj" fmla="val 50000"/>
            </a:avLst>
          </a:prstGeom>
          <a:solidFill>
            <a:srgbClr val="FFFFFF"/>
          </a:solidFill>
          <a:ln w="12700">
            <a:solidFill>
              <a:srgbClr val="8794AC"/>
            </a:solidFill>
          </a:ln>
          <a:effectLst/>
        </p:spPr>
        <p:txBody>
          <a:bodyPr rtlCol="0" anchor="ctr"/>
          <a:lstStyle/>
          <a:p>
            <a:pPr algn="ctr"/>
          </a:p>
        </p:txBody>
      </p:sp>
      <p:sp>
        <p:nvSpPr>
          <p:cNvPr id="62" name="Loop Targets Label Text"/>
          <p:cNvSpPr txBox="1"/>
          <p:nvPr/>
        </p:nvSpPr>
        <p:spPr>
          <a:xfrm>
            <a:off x="4917504" y="5526532"/>
            <a:ext cx="2353945" cy="2286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1B2740"/>
                </a:solidFill>
                <a:latin typeface="맑은 고딕"/>
                <a:ea typeface="맑은 고딕"/>
                <a:cs typeface="맑은 고딕"/>
              </a:rPr>
              <a:t>표적 수만큼 반복</a:t>
            </a:r>
            <a:r>
              <a:rPr lang="ko-KR" altLang="en-US" sz="900" b="0" i="0" dirty="0">
                <a:solidFill>
                  <a:srgbClr val="6B7890"/>
                </a:solidFill>
                <a:latin typeface="맑은 고딕"/>
                <a:ea typeface="맑은 고딕"/>
                <a:cs typeface="맑은 고딕"/>
              </a:rPr>
              <a:t>  (표적끼리 영향 없음)</a:t>
            </a:r>
            <a:endParaRPr lang="ko-KR" altLang="en-US" sz="10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3.5 속도 벡터 변환 공식</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과제의 추가 고민 항목인, 동체 속도 V_heading 을 ECEF 의 Vx, Vy, Vz 로 바꾸는 방법입니다.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18</a:t>
            </a:r>
          </a:p>
        </p:txBody>
      </p:sp>
      <p:sp>
        <p:nvSpPr>
          <p:cNvPr id="8" name="TextBox 7"/>
          <p:cNvSpPr txBox="1"/>
          <p:nvPr/>
        </p:nvSpPr>
        <p:spPr>
          <a:xfrm>
            <a:off x="640080" y="2157984"/>
            <a:ext cx="681228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받은 값은 속력 하나, 필요한 값은 x, y, z 세 성분</a:t>
            </a:r>
            <a:endParaRPr lang="ko-KR" altLang="en-US" sz="1150" dirty="0"/>
          </a:p>
        </p:txBody>
      </p:sp>
      <p:cxnSp>
        <p:nvCxnSpPr>
          <p:cNvPr id="9" name="Connector 8"/>
          <p:cNvCxnSpPr/>
          <p:nvPr/>
        </p:nvCxnSpPr>
        <p:spPr>
          <a:xfrm>
            <a:off x="640080" y="2487168"/>
            <a:ext cx="6812280" cy="0"/>
          </a:xfrm>
          <a:prstGeom prst="line">
            <a:avLst/>
          </a:prstGeom>
          <a:ln w="9525">
            <a:solidFill>
              <a:srgbClr val="D2D9E5"/>
            </a:solidFill>
          </a:ln>
        </p:spPr>
      </p:cxnSp>
      <p:sp>
        <p:nvSpPr>
          <p:cNvPr id="10" name="Rectangle 9"/>
          <p:cNvSpPr/>
          <p:nvPr/>
        </p:nvSpPr>
        <p:spPr>
          <a:xfrm>
            <a:off x="640080" y="2633472"/>
            <a:ext cx="1874520" cy="841248"/>
          </a:xfrm>
          <a:prstGeom prst="rect">
            <a:avLst/>
          </a:prstGeom>
          <a:solidFill>
            <a:srgbClr val="FFFFFF"/>
          </a:solidFill>
          <a:ln w="15875">
            <a:solidFill>
              <a:srgbClr val="DC2626"/>
            </a:solidFill>
          </a:ln>
          <a:effectLst/>
        </p:spPr>
        <p:txBody>
          <a:bodyPr rtlCol="0" anchor="ctr"/>
          <a:lstStyle/>
          <a:p>
            <a:pPr algn="ctr"/>
          </a:p>
        </p:txBody>
      </p:sp>
      <p:sp>
        <p:nvSpPr>
          <p:cNvPr id="11" name="Rectangle 10"/>
          <p:cNvSpPr/>
          <p:nvPr/>
        </p:nvSpPr>
        <p:spPr>
          <a:xfrm>
            <a:off x="640080" y="2633472"/>
            <a:ext cx="1874520" cy="274320"/>
          </a:xfrm>
          <a:prstGeom prst="rect">
            <a:avLst/>
          </a:prstGeom>
          <a:solidFill>
            <a:srgbClr val="DC2626"/>
          </a:solidFill>
          <a:ln>
            <a:noFill/>
          </a:ln>
          <a:effectLst/>
        </p:spPr>
        <p:txBody>
          <a:bodyPr rtlCol="0" anchor="ctr"/>
          <a:lstStyle/>
          <a:p>
            <a:pPr algn="ctr"/>
          </a:p>
        </p:txBody>
      </p:sp>
      <p:sp>
        <p:nvSpPr>
          <p:cNvPr id="12" name="TextBox 11"/>
          <p:cNvSpPr txBox="1"/>
          <p:nvPr/>
        </p:nvSpPr>
        <p:spPr>
          <a:xfrm>
            <a:off x="640080" y="2633472"/>
            <a:ext cx="1874520" cy="27432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맑은 고딕"/>
                <a:ea typeface="맑은 고딕"/>
                <a:cs typeface="맑은 고딕"/>
              </a:rPr>
              <a:t>동체 기준 (표적)</a:t>
            </a:r>
            <a:endParaRPr lang="ko-KR" altLang="en-US" sz="950" dirty="0"/>
          </a:p>
        </p:txBody>
      </p:sp>
      <p:pic>
        <p:nvPicPr>
          <p:cNvPr id="13" name="Picture 12" descr="s10_body.png"/>
          <p:cNvPicPr>
            <a:picLocks noChangeAspect="1"/>
          </p:cNvPicPr>
          <p:nvPr/>
        </p:nvPicPr>
        <p:blipFill>
          <a:blip r:embed="rId2"/>
          <a:stretch>
            <a:fillRect/>
          </a:stretch>
        </p:blipFill>
        <p:spPr>
          <a:xfrm>
            <a:off x="1192530" y="3004566"/>
            <a:ext cx="769620" cy="227076"/>
          </a:xfrm>
          <a:prstGeom prst="rect">
            <a:avLst/>
          </a:prstGeom>
        </p:spPr>
      </p:pic>
      <p:sp>
        <p:nvSpPr>
          <p:cNvPr id="14" name="TextBox 13"/>
          <p:cNvSpPr txBox="1"/>
          <p:nvPr/>
        </p:nvSpPr>
        <p:spPr>
          <a:xfrm>
            <a:off x="640080" y="3236976"/>
            <a:ext cx="1874520"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기수 방향으로 V</a:t>
            </a:r>
            <a:endParaRPr lang="ko-KR" altLang="en-US" sz="900" dirty="0"/>
          </a:p>
        </p:txBody>
      </p:sp>
      <p:cxnSp>
        <p:nvCxnSpPr>
          <p:cNvPr id="15" name="Connector 14"/>
          <p:cNvCxnSpPr/>
          <p:nvPr/>
        </p:nvCxnSpPr>
        <p:spPr>
          <a:xfrm>
            <a:off x="2569464" y="3118104"/>
            <a:ext cx="484632" cy="0"/>
          </a:xfrm>
          <a:prstGeom prst="line">
            <a:avLst/>
          </a:prstGeom>
          <a:ln w="15875">
            <a:solidFill>
              <a:srgbClr val="1B2740"/>
            </a:solidFill>
            <a:tailEnd type="triangle" w="med" len="med"/>
          </a:ln>
        </p:spPr>
      </p:cxnSp>
      <p:pic>
        <p:nvPicPr>
          <p:cNvPr id="16" name="Picture 15" descr="s10_cbn.png"/>
          <p:cNvPicPr>
            <a:picLocks noChangeAspect="1"/>
          </p:cNvPicPr>
          <p:nvPr/>
        </p:nvPicPr>
        <p:blipFill>
          <a:blip r:embed="rId4"/>
          <a:stretch>
            <a:fillRect/>
          </a:stretch>
        </p:blipFill>
        <p:spPr>
          <a:xfrm>
            <a:off x="2696718" y="2779776"/>
            <a:ext cx="230124" cy="219456"/>
          </a:xfrm>
          <a:prstGeom prst="rect">
            <a:avLst/>
          </a:prstGeom>
        </p:spPr>
      </p:pic>
      <p:sp>
        <p:nvSpPr>
          <p:cNvPr id="17" name="TextBox 16"/>
          <p:cNvSpPr txBox="1"/>
          <p:nvPr/>
        </p:nvSpPr>
        <p:spPr>
          <a:xfrm>
            <a:off x="2478024" y="3182112"/>
            <a:ext cx="667512"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850" b="0" i="0" dirty="0">
                <a:solidFill>
                  <a:srgbClr val="4A5A7A"/>
                </a:solidFill>
                <a:latin typeface="맑은 고딕"/>
                <a:ea typeface="맑은 고딕"/>
                <a:cs typeface="맑은 고딕"/>
              </a:rPr>
              <a:t>자세각</a:t>
            </a:r>
            <a:endParaRPr lang="ko-KR" altLang="en-US" sz="850" dirty="0"/>
          </a:p>
        </p:txBody>
      </p:sp>
      <p:sp>
        <p:nvSpPr>
          <p:cNvPr id="18" name="Rectangle 17"/>
          <p:cNvSpPr/>
          <p:nvPr/>
        </p:nvSpPr>
        <p:spPr>
          <a:xfrm>
            <a:off x="3108960" y="2633472"/>
            <a:ext cx="1874520" cy="841248"/>
          </a:xfrm>
          <a:prstGeom prst="rect">
            <a:avLst/>
          </a:prstGeom>
          <a:solidFill>
            <a:srgbClr val="FFFFFF"/>
          </a:solidFill>
          <a:ln w="15875">
            <a:solidFill>
              <a:srgbClr val="D97706"/>
            </a:solidFill>
          </a:ln>
          <a:effectLst/>
        </p:spPr>
        <p:txBody>
          <a:bodyPr rtlCol="0" anchor="ctr"/>
          <a:lstStyle/>
          <a:p>
            <a:pPr algn="ctr"/>
          </a:p>
        </p:txBody>
      </p:sp>
      <p:sp>
        <p:nvSpPr>
          <p:cNvPr id="19" name="Rectangle 18"/>
          <p:cNvSpPr/>
          <p:nvPr/>
        </p:nvSpPr>
        <p:spPr>
          <a:xfrm>
            <a:off x="3108960" y="2633472"/>
            <a:ext cx="1874520" cy="274320"/>
          </a:xfrm>
          <a:prstGeom prst="rect">
            <a:avLst/>
          </a:prstGeom>
          <a:solidFill>
            <a:srgbClr val="D97706"/>
          </a:solidFill>
          <a:ln>
            <a:noFill/>
          </a:ln>
          <a:effectLst/>
        </p:spPr>
        <p:txBody>
          <a:bodyPr rtlCol="0" anchor="ctr"/>
          <a:lstStyle/>
          <a:p>
            <a:pPr algn="ctr"/>
          </a:p>
        </p:txBody>
      </p:sp>
      <p:sp>
        <p:nvSpPr>
          <p:cNvPr id="20" name="TextBox 19"/>
          <p:cNvSpPr txBox="1"/>
          <p:nvPr/>
        </p:nvSpPr>
        <p:spPr>
          <a:xfrm>
            <a:off x="3108960" y="2633472"/>
            <a:ext cx="1874520" cy="27432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맑은 고딕"/>
                <a:ea typeface="맑은 고딕"/>
                <a:cs typeface="맑은 고딕"/>
              </a:rPr>
              <a:t>NED (지표면 기준)</a:t>
            </a:r>
            <a:endParaRPr lang="ko-KR" altLang="en-US" sz="950" dirty="0"/>
          </a:p>
        </p:txBody>
      </p:sp>
      <p:pic>
        <p:nvPicPr>
          <p:cNvPr id="21" name="Picture 20" descr="s10_ned.png"/>
          <p:cNvPicPr>
            <a:picLocks noChangeAspect="1"/>
          </p:cNvPicPr>
          <p:nvPr/>
        </p:nvPicPr>
        <p:blipFill>
          <a:blip r:embed="rId5"/>
          <a:stretch>
            <a:fillRect/>
          </a:stretch>
        </p:blipFill>
        <p:spPr>
          <a:xfrm>
            <a:off x="3549396" y="3004566"/>
            <a:ext cx="993648" cy="227076"/>
          </a:xfrm>
          <a:prstGeom prst="rect">
            <a:avLst/>
          </a:prstGeom>
        </p:spPr>
      </p:pic>
      <p:sp>
        <p:nvSpPr>
          <p:cNvPr id="22" name="TextBox 21"/>
          <p:cNvSpPr txBox="1"/>
          <p:nvPr/>
        </p:nvSpPr>
        <p:spPr>
          <a:xfrm>
            <a:off x="3108960" y="3236976"/>
            <a:ext cx="1874520"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북, 동, 아래 성분</a:t>
            </a:r>
            <a:endParaRPr lang="ko-KR" altLang="en-US" sz="900" dirty="0"/>
          </a:p>
        </p:txBody>
      </p:sp>
      <p:cxnSp>
        <p:nvCxnSpPr>
          <p:cNvPr id="23" name="Connector 22"/>
          <p:cNvCxnSpPr/>
          <p:nvPr/>
        </p:nvCxnSpPr>
        <p:spPr>
          <a:xfrm>
            <a:off x="5038344" y="3118104"/>
            <a:ext cx="484632" cy="0"/>
          </a:xfrm>
          <a:prstGeom prst="line">
            <a:avLst/>
          </a:prstGeom>
          <a:ln w="15875">
            <a:solidFill>
              <a:srgbClr val="1B2740"/>
            </a:solidFill>
            <a:tailEnd type="triangle" w="med" len="med"/>
          </a:ln>
        </p:spPr>
      </p:cxnSp>
      <p:pic>
        <p:nvPicPr>
          <p:cNvPr id="24" name="Picture 23" descr="s10_cne.png"/>
          <p:cNvPicPr>
            <a:picLocks noChangeAspect="1"/>
          </p:cNvPicPr>
          <p:nvPr/>
        </p:nvPicPr>
        <p:blipFill>
          <a:blip r:embed="rId6"/>
          <a:stretch>
            <a:fillRect/>
          </a:stretch>
        </p:blipFill>
        <p:spPr>
          <a:xfrm>
            <a:off x="5165598" y="2782824"/>
            <a:ext cx="230124" cy="216408"/>
          </a:xfrm>
          <a:prstGeom prst="rect">
            <a:avLst/>
          </a:prstGeom>
        </p:spPr>
      </p:pic>
      <p:sp>
        <p:nvSpPr>
          <p:cNvPr id="25" name="TextBox 24"/>
          <p:cNvSpPr txBox="1"/>
          <p:nvPr/>
        </p:nvSpPr>
        <p:spPr>
          <a:xfrm>
            <a:off x="4946904" y="3182112"/>
            <a:ext cx="667512"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850" b="0" i="0" dirty="0">
                <a:solidFill>
                  <a:srgbClr val="4A5A7A"/>
                </a:solidFill>
                <a:latin typeface="맑은 고딕"/>
                <a:ea typeface="맑은 고딕"/>
                <a:cs typeface="맑은 고딕"/>
              </a:rPr>
              <a:t>위도 · 경도</a:t>
            </a:r>
            <a:endParaRPr lang="ko-KR" altLang="en-US" sz="850" dirty="0"/>
          </a:p>
        </p:txBody>
      </p:sp>
      <p:sp>
        <p:nvSpPr>
          <p:cNvPr id="26" name="Rectangle 25"/>
          <p:cNvSpPr/>
          <p:nvPr/>
        </p:nvSpPr>
        <p:spPr>
          <a:xfrm>
            <a:off x="5577840" y="2633472"/>
            <a:ext cx="1874520" cy="841248"/>
          </a:xfrm>
          <a:prstGeom prst="rect">
            <a:avLst/>
          </a:prstGeom>
          <a:solidFill>
            <a:srgbClr val="FFFFFF"/>
          </a:solidFill>
          <a:ln w="15875">
            <a:solidFill>
              <a:srgbClr val="059669"/>
            </a:solidFill>
          </a:ln>
          <a:effectLst/>
        </p:spPr>
        <p:txBody>
          <a:bodyPr rtlCol="0" anchor="ctr"/>
          <a:lstStyle/>
          <a:p>
            <a:pPr algn="ctr"/>
          </a:p>
        </p:txBody>
      </p:sp>
      <p:sp>
        <p:nvSpPr>
          <p:cNvPr id="27" name="Rectangle 26"/>
          <p:cNvSpPr/>
          <p:nvPr/>
        </p:nvSpPr>
        <p:spPr>
          <a:xfrm>
            <a:off x="5577840" y="2633472"/>
            <a:ext cx="1874520" cy="274320"/>
          </a:xfrm>
          <a:prstGeom prst="rect">
            <a:avLst/>
          </a:prstGeom>
          <a:solidFill>
            <a:srgbClr val="059669"/>
          </a:solidFill>
          <a:ln>
            <a:noFill/>
          </a:ln>
          <a:effectLst/>
        </p:spPr>
        <p:txBody>
          <a:bodyPr rtlCol="0" anchor="ctr"/>
          <a:lstStyle/>
          <a:p>
            <a:pPr algn="ctr"/>
          </a:p>
        </p:txBody>
      </p:sp>
      <p:sp>
        <p:nvSpPr>
          <p:cNvPr id="28" name="TextBox 27"/>
          <p:cNvSpPr txBox="1"/>
          <p:nvPr/>
        </p:nvSpPr>
        <p:spPr>
          <a:xfrm>
            <a:off x="5577840" y="2633472"/>
            <a:ext cx="1874520" cy="27432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맑은 고딕"/>
                <a:ea typeface="맑은 고딕"/>
                <a:cs typeface="맑은 고딕"/>
              </a:rPr>
              <a:t>ECEF (지구 중심 기준)</a:t>
            </a:r>
            <a:endParaRPr lang="ko-KR" altLang="en-US" sz="950" dirty="0"/>
          </a:p>
        </p:txBody>
      </p:sp>
      <p:pic>
        <p:nvPicPr>
          <p:cNvPr id="29" name="Picture 28" descr="s10_ecef.png"/>
          <p:cNvPicPr>
            <a:picLocks noChangeAspect="1"/>
          </p:cNvPicPr>
          <p:nvPr/>
        </p:nvPicPr>
        <p:blipFill>
          <a:blip r:embed="rId7"/>
          <a:stretch>
            <a:fillRect/>
          </a:stretch>
        </p:blipFill>
        <p:spPr>
          <a:xfrm>
            <a:off x="6063234" y="2999994"/>
            <a:ext cx="903732" cy="236220"/>
          </a:xfrm>
          <a:prstGeom prst="rect">
            <a:avLst/>
          </a:prstGeom>
        </p:spPr>
      </p:pic>
      <p:sp>
        <p:nvSpPr>
          <p:cNvPr id="30" name="TextBox 29"/>
          <p:cNvSpPr txBox="1"/>
          <p:nvPr/>
        </p:nvSpPr>
        <p:spPr>
          <a:xfrm>
            <a:off x="5577840" y="3236976"/>
            <a:ext cx="1874520"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위치에 바로 더할 수 있다</a:t>
            </a:r>
            <a:endParaRPr lang="ko-KR" altLang="en-US" sz="900" dirty="0"/>
          </a:p>
        </p:txBody>
      </p:sp>
      <p:pic>
        <p:nvPicPr>
          <p:cNvPr id="31" name="Picture 30" descr="s10_main.png"/>
          <p:cNvPicPr>
            <a:picLocks noChangeAspect="1"/>
          </p:cNvPicPr>
          <p:nvPr/>
        </p:nvPicPr>
        <p:blipFill>
          <a:blip r:embed="rId8"/>
          <a:stretch>
            <a:fillRect/>
          </a:stretch>
        </p:blipFill>
        <p:spPr>
          <a:xfrm>
            <a:off x="731520" y="3675888"/>
            <a:ext cx="3137916" cy="288036"/>
          </a:xfrm>
          <a:prstGeom prst="rect">
            <a:avLst/>
          </a:prstGeom>
        </p:spPr>
      </p:pic>
      <p:sp>
        <p:nvSpPr>
          <p:cNvPr id="32" name="Rectangle 31"/>
          <p:cNvSpPr/>
          <p:nvPr/>
        </p:nvSpPr>
        <p:spPr>
          <a:xfrm>
            <a:off x="640080" y="4160520"/>
            <a:ext cx="6812280" cy="877824"/>
          </a:xfrm>
          <a:prstGeom prst="rect">
            <a:avLst/>
          </a:prstGeom>
          <a:solidFill>
            <a:srgbClr val="F7F9FC"/>
          </a:solidFill>
          <a:ln w="9525">
            <a:solidFill>
              <a:srgbClr val="D2D9E5"/>
            </a:solidFill>
          </a:ln>
          <a:effectLst/>
        </p:spPr>
        <p:txBody>
          <a:bodyPr rtlCol="0" anchor="ctr"/>
          <a:lstStyle/>
          <a:p>
            <a:pPr algn="ctr"/>
          </a:p>
        </p:txBody>
      </p:sp>
      <p:sp>
        <p:nvSpPr>
          <p:cNvPr id="33" name="TextBox 32"/>
          <p:cNvSpPr txBox="1"/>
          <p:nvPr/>
        </p:nvSpPr>
        <p:spPr>
          <a:xfrm>
            <a:off x="822960" y="4233672"/>
            <a:ext cx="6446520"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1B2740"/>
                </a:solidFill>
                <a:latin typeface="맑은 고딕"/>
                <a:ea typeface="맑은 고딕"/>
                <a:cs typeface="맑은 고딕"/>
              </a:rPr>
              <a:t>왜 이 식이 필요한가</a:t>
            </a:r>
            <a:endParaRPr lang="ko-KR" altLang="en-US" sz="1000" dirty="0"/>
          </a:p>
        </p:txBody>
      </p:sp>
      <p:sp>
        <p:nvSpPr>
          <p:cNvPr id="34" name="TextBox 33"/>
          <p:cNvSpPr txBox="1"/>
          <p:nvPr/>
        </p:nvSpPr>
        <p:spPr>
          <a:xfrm>
            <a:off x="822960" y="4507992"/>
            <a:ext cx="6446520" cy="502920"/>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입력은 속력 하나뿐이고, 방향은 자세각이 가지고 있다.</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위치에 더하려면 위치와 같은 좌표계(ECEF)의 속도여야 한다.</a:t>
            </a:r>
            <a:endParaRPr lang="ko-KR" altLang="en-US" sz="1000" dirty="0"/>
          </a:p>
        </p:txBody>
      </p:sp>
      <p:sp>
        <p:nvSpPr>
          <p:cNvPr id="35" name="TextBox 34"/>
          <p:cNvSpPr txBox="1"/>
          <p:nvPr/>
        </p:nvSpPr>
        <p:spPr>
          <a:xfrm>
            <a:off x="640080" y="5193792"/>
            <a:ext cx="6812280" cy="502920"/>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두 회전은 참고 소스 코드의 좌표변환 함수를 그대로 호출했다.</a:t>
            </a:r>
            <a:endParaRPr lang="ko-KR" altLang="en-US" sz="950" dirty="0"/>
          </a:p>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새로 작성한 부분은 두 함수를 이어 붙인 것이다.</a:t>
            </a:r>
            <a:endParaRPr lang="ko-KR" altLang="en-US" sz="950" dirty="0"/>
          </a:p>
        </p:txBody>
      </p:sp>
      <p:cxnSp>
        <p:nvCxnSpPr>
          <p:cNvPr id="36" name="Connector 35"/>
          <p:cNvCxnSpPr/>
          <p:nvPr/>
        </p:nvCxnSpPr>
        <p:spPr>
          <a:xfrm>
            <a:off x="7699248" y="2194560"/>
            <a:ext cx="0" cy="3895344"/>
          </a:xfrm>
          <a:prstGeom prst="line">
            <a:avLst/>
          </a:prstGeom>
          <a:ln w="9525">
            <a:solidFill>
              <a:srgbClr val="D2D9E5"/>
            </a:solidFill>
          </a:ln>
        </p:spPr>
      </p:cxnSp>
      <p:sp>
        <p:nvSpPr>
          <p:cNvPr id="37" name="TextBox 36"/>
          <p:cNvSpPr txBox="1"/>
          <p:nvPr/>
        </p:nvSpPr>
        <p:spPr>
          <a:xfrm>
            <a:off x="7936992" y="2157984"/>
            <a:ext cx="361188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대공 표적으로 따라가 보기</a:t>
            </a:r>
            <a:endParaRPr lang="ko-KR" altLang="en-US" sz="1150" dirty="0"/>
          </a:p>
        </p:txBody>
      </p:sp>
      <p:cxnSp>
        <p:nvCxnSpPr>
          <p:cNvPr id="38" name="Connector 37"/>
          <p:cNvCxnSpPr/>
          <p:nvPr/>
        </p:nvCxnSpPr>
        <p:spPr>
          <a:xfrm>
            <a:off x="7936992" y="2487168"/>
            <a:ext cx="3611880" cy="0"/>
          </a:xfrm>
          <a:prstGeom prst="line">
            <a:avLst/>
          </a:prstGeom>
          <a:ln w="9525">
            <a:solidFill>
              <a:srgbClr val="D2D9E5"/>
            </a:solidFill>
          </a:ln>
        </p:spPr>
      </p:cxnSp>
      <p:sp>
        <p:nvSpPr>
          <p:cNvPr id="39" name="TextBox Example Input"/>
          <p:cNvSpPr txBox="1"/>
          <p:nvPr/>
        </p:nvSpPr>
        <p:spPr>
          <a:xfrm>
            <a:off x="7936992" y="2615184"/>
            <a:ext cx="3611880"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1B2740"/>
                </a:solidFill>
                <a:latin typeface="맑은 고딕"/>
                <a:ea typeface="맑은 고딕"/>
                <a:cs typeface="맑은 고딕"/>
              </a:rPr>
              <a:t>입력   </a:t>
            </a:r>
            <a:r>
              <a:rPr lang="ko-KR" altLang="en-US" sz="950" b="0" i="0" dirty="0">
                <a:solidFill>
                  <a:srgbClr val="4A5A7A"/>
                </a:solidFill>
                <a:latin typeface="맑은 고딕"/>
                <a:ea typeface="맑은 고딕"/>
                <a:cs typeface="맑은 고딕"/>
              </a:rPr>
              <a:t>V = 200 m/s,  Yaw = 180° (남쪽)</a:t>
            </a:r>
            <a:endParaRPr lang="ko-KR" altLang="en-US" sz="950" dirty="0"/>
          </a:p>
        </p:txBody>
      </p:sp>
      <p:sp>
        <p:nvSpPr>
          <p:cNvPr id="40" name="Rectangle Example 0"/>
          <p:cNvSpPr/>
          <p:nvPr/>
        </p:nvSpPr>
        <p:spPr>
          <a:xfrm>
            <a:off x="7936992" y="2944368"/>
            <a:ext cx="3611880" cy="548640"/>
          </a:xfrm>
          <a:prstGeom prst="rect">
            <a:avLst/>
          </a:prstGeom>
          <a:solidFill>
            <a:srgbClr val="FFFFFF"/>
          </a:solidFill>
          <a:ln w="15875">
            <a:solidFill>
              <a:srgbClr val="DC2626"/>
            </a:solidFill>
          </a:ln>
          <a:effectLst/>
        </p:spPr>
        <p:txBody>
          <a:bodyPr rtlCol="0" anchor="ctr"/>
          <a:lstStyle/>
          <a:p>
            <a:pPr algn="ctr"/>
          </a:p>
        </p:txBody>
      </p:sp>
      <p:sp>
        <p:nvSpPr>
          <p:cNvPr id="41" name="TextBox Example Label 0"/>
          <p:cNvSpPr txBox="1"/>
          <p:nvPr/>
        </p:nvSpPr>
        <p:spPr>
          <a:xfrm>
            <a:off x="8028432" y="2944368"/>
            <a:ext cx="731520" cy="54864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DC2626"/>
                </a:solidFill>
                <a:latin typeface="맑은 고딕"/>
                <a:ea typeface="맑은 고딕"/>
                <a:cs typeface="맑은 고딕"/>
              </a:rPr>
              <a:t>동체</a:t>
            </a:r>
            <a:endParaRPr lang="ko-KR" altLang="en-US" sz="1000" dirty="0"/>
          </a:p>
        </p:txBody>
      </p:sp>
      <p:sp>
        <p:nvSpPr>
          <p:cNvPr id="42" name="TextBox Example Vector 0"/>
          <p:cNvSpPr txBox="1"/>
          <p:nvPr/>
        </p:nvSpPr>
        <p:spPr>
          <a:xfrm>
            <a:off x="8805672" y="2999232"/>
            <a:ext cx="2651760" cy="28346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200" b="0" i="0" dirty="0">
                <a:solidFill>
                  <a:srgbClr val="1B2740"/>
                </a:solidFill>
                <a:latin typeface="Cambria"/>
                <a:ea typeface="맑은 고딕"/>
                <a:cs typeface="맑은 고딕"/>
              </a:rPr>
              <a:t>[ 200    0    0 ]</a:t>
            </a:r>
            <a:endParaRPr lang="ko-KR" altLang="en-US" sz="1200" dirty="0"/>
          </a:p>
        </p:txBody>
      </p:sp>
      <p:sp>
        <p:nvSpPr>
          <p:cNvPr id="43" name="TextBox Example Note 0"/>
          <p:cNvSpPr txBox="1"/>
          <p:nvPr/>
        </p:nvSpPr>
        <p:spPr>
          <a:xfrm>
            <a:off x="8805672" y="3264408"/>
            <a:ext cx="2651760"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기수 방향으로만 200 m/s</a:t>
            </a:r>
            <a:endParaRPr lang="ko-KR" altLang="en-US" sz="900" dirty="0"/>
          </a:p>
        </p:txBody>
      </p:sp>
      <p:cxnSp>
        <p:nvCxnSpPr>
          <p:cNvPr id="44" name="Connector Example 0"/>
          <p:cNvCxnSpPr/>
          <p:nvPr/>
        </p:nvCxnSpPr>
        <p:spPr>
          <a:xfrm>
            <a:off x="8394192" y="3493008"/>
            <a:ext cx="0" cy="320040"/>
          </a:xfrm>
          <a:prstGeom prst="line">
            <a:avLst/>
          </a:prstGeom>
          <a:ln w="15875">
            <a:solidFill>
              <a:srgbClr val="1B2740"/>
            </a:solidFill>
            <a:tailEnd type="triangle" w="med" len="med"/>
          </a:ln>
        </p:spPr>
      </p:cxnSp>
      <p:sp>
        <p:nvSpPr>
          <p:cNvPr id="45" name="TextBox Example Arrow 0"/>
          <p:cNvSpPr txBox="1"/>
          <p:nvPr/>
        </p:nvSpPr>
        <p:spPr>
          <a:xfrm>
            <a:off x="8577072" y="3557016"/>
            <a:ext cx="297180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자세각으로 회전 (Yaw 180°)</a:t>
            </a:r>
            <a:endParaRPr lang="ko-KR" altLang="en-US" sz="900" dirty="0"/>
          </a:p>
        </p:txBody>
      </p:sp>
      <p:sp>
        <p:nvSpPr>
          <p:cNvPr id="46" name="Rectangle Example 1"/>
          <p:cNvSpPr/>
          <p:nvPr/>
        </p:nvSpPr>
        <p:spPr>
          <a:xfrm>
            <a:off x="7936992" y="3813048"/>
            <a:ext cx="3611880" cy="548640"/>
          </a:xfrm>
          <a:prstGeom prst="rect">
            <a:avLst/>
          </a:prstGeom>
          <a:solidFill>
            <a:srgbClr val="FFFFFF"/>
          </a:solidFill>
          <a:ln w="15875">
            <a:solidFill>
              <a:srgbClr val="D97706"/>
            </a:solidFill>
          </a:ln>
          <a:effectLst/>
        </p:spPr>
        <p:txBody>
          <a:bodyPr rtlCol="0" anchor="ctr"/>
          <a:lstStyle/>
          <a:p>
            <a:pPr algn="ctr"/>
          </a:p>
        </p:txBody>
      </p:sp>
      <p:sp>
        <p:nvSpPr>
          <p:cNvPr id="47" name="TextBox Example Label 1"/>
          <p:cNvSpPr txBox="1"/>
          <p:nvPr/>
        </p:nvSpPr>
        <p:spPr>
          <a:xfrm>
            <a:off x="8028432" y="3813048"/>
            <a:ext cx="731520" cy="54864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D97706"/>
                </a:solidFill>
                <a:latin typeface="맑은 고딕"/>
                <a:ea typeface="맑은 고딕"/>
                <a:cs typeface="맑은 고딕"/>
              </a:rPr>
              <a:t>NED</a:t>
            </a:r>
            <a:endParaRPr lang="ko-KR" altLang="en-US" sz="1000" dirty="0"/>
          </a:p>
        </p:txBody>
      </p:sp>
      <p:sp>
        <p:nvSpPr>
          <p:cNvPr id="48" name="TextBox Example Vector 1"/>
          <p:cNvSpPr txBox="1"/>
          <p:nvPr/>
        </p:nvSpPr>
        <p:spPr>
          <a:xfrm>
            <a:off x="8805672" y="3867912"/>
            <a:ext cx="2651760" cy="28346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200" b="0" i="0" dirty="0">
                <a:solidFill>
                  <a:srgbClr val="1B2740"/>
                </a:solidFill>
                <a:latin typeface="Cambria"/>
                <a:ea typeface="맑은 고딕"/>
                <a:cs typeface="맑은 고딕"/>
              </a:rPr>
              <a:t>[ −200    0    0 ]</a:t>
            </a:r>
            <a:endParaRPr lang="ko-KR" altLang="en-US" sz="1200" dirty="0"/>
          </a:p>
        </p:txBody>
      </p:sp>
      <p:sp>
        <p:nvSpPr>
          <p:cNvPr id="49" name="TextBox Example Note 1"/>
          <p:cNvSpPr txBox="1"/>
          <p:nvPr/>
        </p:nvSpPr>
        <p:spPr>
          <a:xfrm>
            <a:off x="8805672" y="4133088"/>
            <a:ext cx="2651760"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북쪽 성분 -200 = 남쪽으로 200 m/s</a:t>
            </a:r>
            <a:endParaRPr lang="ko-KR" altLang="en-US" sz="900" dirty="0"/>
          </a:p>
        </p:txBody>
      </p:sp>
      <p:cxnSp>
        <p:nvCxnSpPr>
          <p:cNvPr id="50" name="Connector Example 1"/>
          <p:cNvCxnSpPr/>
          <p:nvPr/>
        </p:nvCxnSpPr>
        <p:spPr>
          <a:xfrm>
            <a:off x="8394192" y="4361688"/>
            <a:ext cx="0" cy="320040"/>
          </a:xfrm>
          <a:prstGeom prst="line">
            <a:avLst/>
          </a:prstGeom>
          <a:ln w="15875">
            <a:solidFill>
              <a:srgbClr val="1B2740"/>
            </a:solidFill>
            <a:tailEnd type="triangle" w="med" len="med"/>
          </a:ln>
        </p:spPr>
      </p:cxnSp>
      <p:sp>
        <p:nvSpPr>
          <p:cNvPr id="51" name="TextBox Example Arrow 1"/>
          <p:cNvSpPr txBox="1"/>
          <p:nvPr/>
        </p:nvSpPr>
        <p:spPr>
          <a:xfrm>
            <a:off x="8577072" y="4425696"/>
            <a:ext cx="297180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위도 32.12° · 경도 126.0° 로 회전</a:t>
            </a:r>
            <a:endParaRPr lang="ko-KR" altLang="en-US" sz="900" dirty="0"/>
          </a:p>
        </p:txBody>
      </p:sp>
      <p:sp>
        <p:nvSpPr>
          <p:cNvPr id="52" name="Rectangle Example 2"/>
          <p:cNvSpPr/>
          <p:nvPr/>
        </p:nvSpPr>
        <p:spPr>
          <a:xfrm>
            <a:off x="7936992" y="4681728"/>
            <a:ext cx="3611880" cy="548640"/>
          </a:xfrm>
          <a:prstGeom prst="rect">
            <a:avLst/>
          </a:prstGeom>
          <a:solidFill>
            <a:srgbClr val="FFFFFF"/>
          </a:solidFill>
          <a:ln w="15875">
            <a:solidFill>
              <a:srgbClr val="059669"/>
            </a:solidFill>
          </a:ln>
          <a:effectLst/>
        </p:spPr>
        <p:txBody>
          <a:bodyPr rtlCol="0" anchor="ctr"/>
          <a:lstStyle/>
          <a:p>
            <a:pPr algn="ctr"/>
          </a:p>
        </p:txBody>
      </p:sp>
      <p:sp>
        <p:nvSpPr>
          <p:cNvPr id="53" name="TextBox Example Label 2"/>
          <p:cNvSpPr txBox="1"/>
          <p:nvPr/>
        </p:nvSpPr>
        <p:spPr>
          <a:xfrm>
            <a:off x="8028432" y="4681728"/>
            <a:ext cx="731520" cy="54864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059669"/>
                </a:solidFill>
                <a:latin typeface="맑은 고딕"/>
                <a:ea typeface="맑은 고딕"/>
                <a:cs typeface="맑은 고딕"/>
              </a:rPr>
              <a:t>ECEF</a:t>
            </a:r>
            <a:endParaRPr lang="ko-KR" altLang="en-US" sz="1000" dirty="0"/>
          </a:p>
        </p:txBody>
      </p:sp>
      <p:sp>
        <p:nvSpPr>
          <p:cNvPr id="54" name="TextBox Example Vector 2"/>
          <p:cNvSpPr txBox="1"/>
          <p:nvPr/>
        </p:nvSpPr>
        <p:spPr>
          <a:xfrm>
            <a:off x="8805672" y="4736592"/>
            <a:ext cx="2651760" cy="28346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200" b="0" i="0" dirty="0">
                <a:solidFill>
                  <a:srgbClr val="1B2740"/>
                </a:solidFill>
                <a:latin typeface="Cambria"/>
                <a:ea typeface="맑은 고딕"/>
                <a:cs typeface="맑은 고딕"/>
              </a:rPr>
              <a:t>[ −62.5    86.0    −169.4 ]</a:t>
            </a:r>
            <a:endParaRPr lang="ko-KR" altLang="en-US" sz="1200" dirty="0"/>
          </a:p>
        </p:txBody>
      </p:sp>
      <p:sp>
        <p:nvSpPr>
          <p:cNvPr id="55" name="TextBox Example Note 2"/>
          <p:cNvSpPr txBox="1"/>
          <p:nvPr/>
        </p:nvSpPr>
        <p:spPr>
          <a:xfrm>
            <a:off x="8805672" y="5001768"/>
            <a:ext cx="2651760"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지구 중심 x · y · z 성분 [m/s]</a:t>
            </a:r>
            <a:endParaRPr lang="ko-KR" altLang="en-US" sz="900" dirty="0"/>
          </a:p>
        </p:txBody>
      </p:sp>
      <p:sp>
        <p:nvSpPr>
          <p:cNvPr id="56" name="TextBox Example Caption"/>
          <p:cNvSpPr txBox="1"/>
          <p:nvPr/>
        </p:nvSpPr>
        <p:spPr>
          <a:xfrm>
            <a:off x="7936992" y="5376672"/>
            <a:ext cx="3611880"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이 속도에 0.1 s 를 곱해 ECEF 위치에 더한다.</a:t>
            </a:r>
            <a:endParaRPr lang="ko-KR" altLang="en-US" sz="95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3.6 속도 벡터 변환 코드</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19</a:t>
            </a:r>
          </a:p>
        </p:txBody>
      </p:sp>
      <p:pic>
        <p:nvPicPr>
          <p:cNvPr id="7" name="Code Capture" descr="TargetSim.c 59-85"/>
          <p:cNvPicPr>
            <a:picLocks noChangeAspect="1"/>
          </p:cNvPicPr>
          <p:nvPr/>
        </p:nvPicPr>
        <p:blipFill>
          <a:blip r:embed="rId3"/>
          <a:stretch>
            <a:fillRect/>
          </a:stretch>
        </p:blipFill>
        <p:spPr>
          <a:xfrm>
            <a:off x="640080" y="1792224"/>
            <a:ext cx="6714172" cy="4358640"/>
          </a:xfrm>
          <a:prstGeom prst="rect">
            <a:avLst/>
          </a:prstGeom>
          <a:ln w="9525">
            <a:solidFill>
              <a:srgbClr val="C9D1DD"/>
            </a:solidFill>
          </a:ln>
        </p:spPr>
      </p:pic>
      <p:sp>
        <p:nvSpPr>
          <p:cNvPr id="8" name="Block 1"/>
          <p:cNvSpPr/>
          <p:nvPr/>
        </p:nvSpPr>
        <p:spPr>
          <a:xfrm>
            <a:off x="968692" y="1845564"/>
            <a:ext cx="6334760" cy="589280"/>
          </a:xfrm>
          <a:prstGeom prst="roundRect">
            <a:avLst>
              <a:gd name="adj" fmla="val 6466"/>
            </a:avLst>
          </a:prstGeom>
          <a:solidFill>
            <a:srgbClr val="DC2626">
              <a:alpha val="9000"/>
            </a:srgbClr>
          </a:solidFill>
          <a:ln w="12700">
            <a:solidFill>
              <a:srgbClr val="DC2626"/>
            </a:solidFill>
          </a:ln>
          <a:effectLst/>
        </p:spPr>
        <p:txBody>
          <a:bodyPr rtlCol="0" anchor="ctr"/>
          <a:lstStyle/>
          <a:p>
            <a:pPr algn="ctr"/>
          </a:p>
        </p:txBody>
      </p:sp>
      <p:sp>
        <p:nvSpPr>
          <p:cNvPr id="9" name="Block 2"/>
          <p:cNvSpPr/>
          <p:nvPr/>
        </p:nvSpPr>
        <p:spPr>
          <a:xfrm>
            <a:off x="968692" y="2963164"/>
            <a:ext cx="6334760" cy="340360"/>
          </a:xfrm>
          <a:prstGeom prst="roundRect">
            <a:avLst>
              <a:gd name="adj" fmla="val 11194"/>
            </a:avLst>
          </a:prstGeom>
          <a:solidFill>
            <a:srgbClr val="D97706">
              <a:alpha val="9000"/>
            </a:srgbClr>
          </a:solidFill>
          <a:ln w="12700">
            <a:solidFill>
              <a:srgbClr val="D97706"/>
            </a:solidFill>
          </a:ln>
          <a:effectLst/>
        </p:spPr>
        <p:txBody>
          <a:bodyPr rtlCol="0" anchor="ctr"/>
          <a:lstStyle/>
          <a:p>
            <a:pPr algn="ctr"/>
          </a:p>
        </p:txBody>
      </p:sp>
      <p:sp>
        <p:nvSpPr>
          <p:cNvPr id="10" name="Block 3"/>
          <p:cNvSpPr/>
          <p:nvPr/>
        </p:nvSpPr>
        <p:spPr>
          <a:xfrm>
            <a:off x="968692" y="3382264"/>
            <a:ext cx="6334760" cy="868680"/>
          </a:xfrm>
          <a:prstGeom prst="roundRect">
            <a:avLst>
              <a:gd name="adj" fmla="val 4386"/>
            </a:avLst>
          </a:prstGeom>
          <a:solidFill>
            <a:srgbClr val="059669">
              <a:alpha val="9000"/>
            </a:srgbClr>
          </a:solidFill>
          <a:ln w="12700">
            <a:solidFill>
              <a:srgbClr val="059669"/>
            </a:solidFill>
          </a:ln>
          <a:effectLst/>
        </p:spPr>
        <p:txBody>
          <a:bodyPr rtlCol="0" anchor="ctr"/>
          <a:lstStyle/>
          <a:p>
            <a:pPr algn="ctr"/>
          </a:p>
        </p:txBody>
      </p:sp>
      <p:cxnSp>
        <p:nvCxnSpPr>
          <p:cNvPr id="13" name="Arrow 1"/>
          <p:cNvCxnSpPr/>
          <p:nvPr/>
        </p:nvCxnSpPr>
        <p:spPr>
          <a:xfrm>
            <a:off x="7303452" y="2140204"/>
            <a:ext cx="330200" cy="0"/>
          </a:xfrm>
          <a:prstGeom prst="line">
            <a:avLst/>
          </a:prstGeom>
          <a:ln w="15875">
            <a:solidFill>
              <a:srgbClr val="DC2626"/>
            </a:solidFill>
            <a:tailEnd type="triangle" w="med" len="med"/>
          </a:ln>
        </p:spPr>
      </p:cxnSp>
      <p:sp>
        <p:nvSpPr>
          <p:cNvPr id="11" name="Label 1 Box"/>
          <p:cNvSpPr/>
          <p:nvPr/>
        </p:nvSpPr>
        <p:spPr>
          <a:xfrm>
            <a:off x="7633652" y="2000504"/>
            <a:ext cx="1900479" cy="279400"/>
          </a:xfrm>
          <a:prstGeom prst="roundRect">
            <a:avLst>
              <a:gd name="adj" fmla="val 20000"/>
            </a:avLst>
          </a:prstGeom>
          <a:solidFill>
            <a:srgbClr val="FDEEEE"/>
          </a:solidFill>
          <a:ln w="12700">
            <a:solidFill>
              <a:srgbClr val="DC2626"/>
            </a:solidFill>
          </a:ln>
          <a:effectLst/>
        </p:spPr>
        <p:txBody>
          <a:bodyPr rtlCol="0" anchor="ctr"/>
          <a:lstStyle/>
          <a:p>
            <a:pPr algn="ctr"/>
          </a:p>
        </p:txBody>
      </p:sp>
      <p:sp>
        <p:nvSpPr>
          <p:cNvPr id="12" name="Label 1 Text"/>
          <p:cNvSpPr txBox="1"/>
          <p:nvPr/>
        </p:nvSpPr>
        <p:spPr>
          <a:xfrm>
            <a:off x="7633652" y="2000504"/>
            <a:ext cx="190047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C2626"/>
                </a:solidFill>
                <a:latin typeface="맑은 고딕"/>
                <a:ea typeface="맑은 고딕"/>
                <a:cs typeface="맑은 고딕"/>
              </a:rPr>
              <a:t>받는 값 · 돌려주는 값</a:t>
            </a:r>
            <a:endParaRPr lang="ko-KR" altLang="en-US" sz="1200" dirty="0"/>
          </a:p>
        </p:txBody>
      </p:sp>
      <p:cxnSp>
        <p:nvCxnSpPr>
          <p:cNvPr id="16" name="Arrow 2"/>
          <p:cNvCxnSpPr/>
          <p:nvPr/>
        </p:nvCxnSpPr>
        <p:spPr>
          <a:xfrm>
            <a:off x="7303452" y="3133344"/>
            <a:ext cx="330200" cy="0"/>
          </a:xfrm>
          <a:prstGeom prst="line">
            <a:avLst/>
          </a:prstGeom>
          <a:ln w="15875">
            <a:solidFill>
              <a:srgbClr val="D97706"/>
            </a:solidFill>
            <a:tailEnd type="triangle" w="med" len="med"/>
          </a:ln>
        </p:spPr>
      </p:cxnSp>
      <p:sp>
        <p:nvSpPr>
          <p:cNvPr id="14" name="Label 2 Box"/>
          <p:cNvSpPr/>
          <p:nvPr/>
        </p:nvSpPr>
        <p:spPr>
          <a:xfrm>
            <a:off x="7633652" y="2993644"/>
            <a:ext cx="2289068" cy="279400"/>
          </a:xfrm>
          <a:prstGeom prst="roundRect">
            <a:avLst>
              <a:gd name="adj" fmla="val 20000"/>
            </a:avLst>
          </a:prstGeom>
          <a:solidFill>
            <a:srgbClr val="FEF5E7"/>
          </a:solidFill>
          <a:ln w="12700">
            <a:solidFill>
              <a:srgbClr val="D97706"/>
            </a:solidFill>
          </a:ln>
          <a:effectLst/>
        </p:spPr>
        <p:txBody>
          <a:bodyPr rtlCol="0" anchor="ctr"/>
          <a:lstStyle/>
          <a:p>
            <a:pPr algn="ctr"/>
          </a:p>
        </p:txBody>
      </p:sp>
      <p:sp>
        <p:nvSpPr>
          <p:cNvPr id="15" name="Label 2 Text"/>
          <p:cNvSpPr txBox="1"/>
          <p:nvPr/>
        </p:nvSpPr>
        <p:spPr>
          <a:xfrm>
            <a:off x="7633652" y="2993644"/>
            <a:ext cx="2289068"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97706"/>
                </a:solidFill>
                <a:latin typeface="맑은 고딕"/>
                <a:ea typeface="맑은 고딕"/>
                <a:cs typeface="맑은 고딕"/>
              </a:rPr>
              <a:t>기수 방향 → 북 · 동 · 아래</a:t>
            </a:r>
            <a:endParaRPr lang="ko-KR" altLang="en-US" sz="1200" dirty="0"/>
          </a:p>
        </p:txBody>
      </p:sp>
      <p:cxnSp>
        <p:nvCxnSpPr>
          <p:cNvPr id="19" name="Arrow 3"/>
          <p:cNvCxnSpPr/>
          <p:nvPr/>
        </p:nvCxnSpPr>
        <p:spPr>
          <a:xfrm>
            <a:off x="7303452" y="3816604"/>
            <a:ext cx="330200" cy="0"/>
          </a:xfrm>
          <a:prstGeom prst="line">
            <a:avLst/>
          </a:prstGeom>
          <a:ln w="15875">
            <a:solidFill>
              <a:srgbClr val="059669"/>
            </a:solidFill>
            <a:tailEnd type="triangle" w="med" len="med"/>
          </a:ln>
        </p:spPr>
      </p:cxnSp>
      <p:sp>
        <p:nvSpPr>
          <p:cNvPr id="17" name="Label 3 Box"/>
          <p:cNvSpPr/>
          <p:nvPr/>
        </p:nvSpPr>
        <p:spPr>
          <a:xfrm>
            <a:off x="7633652" y="3676904"/>
            <a:ext cx="1935180" cy="279400"/>
          </a:xfrm>
          <a:prstGeom prst="roundRect">
            <a:avLst>
              <a:gd name="adj" fmla="val 20000"/>
            </a:avLst>
          </a:prstGeom>
          <a:solidFill>
            <a:srgbClr val="E8F6F0"/>
          </a:solidFill>
          <a:ln w="12700">
            <a:solidFill>
              <a:srgbClr val="059669"/>
            </a:solidFill>
          </a:ln>
          <a:effectLst/>
        </p:spPr>
        <p:txBody>
          <a:bodyPr rtlCol="0" anchor="ctr"/>
          <a:lstStyle/>
          <a:p>
            <a:pPr algn="ctr"/>
          </a:p>
        </p:txBody>
      </p:sp>
      <p:sp>
        <p:nvSpPr>
          <p:cNvPr id="18" name="Label 3 Text"/>
          <p:cNvSpPr txBox="1"/>
          <p:nvPr/>
        </p:nvSpPr>
        <p:spPr>
          <a:xfrm>
            <a:off x="7633652" y="3676904"/>
            <a:ext cx="1935180"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059669"/>
                </a:solidFill>
                <a:latin typeface="맑은 고딕"/>
                <a:ea typeface="맑은 고딕"/>
                <a:cs typeface="맑은 고딕"/>
              </a:rPr>
              <a:t>북 · 동 · 아래 → ECEF</a:t>
            </a:r>
            <a:endParaRPr lang="ko-KR" altLang="en-US" sz="1200" dirty="0"/>
          </a:p>
        </p:txBody>
      </p:sp>
      <p:sp>
        <p:nvSpPr>
          <p:cNvPr id="20" name="File Tag"/>
          <p:cNvSpPr txBox="1"/>
          <p:nvPr/>
        </p:nvSpPr>
        <p:spPr>
          <a:xfrm>
            <a:off x="6214872" y="1345184"/>
            <a:ext cx="5334000" cy="203200"/>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50" b="0" i="0" dirty="0">
                <a:solidFill>
                  <a:srgbClr val="8794AC"/>
                </a:solidFill>
                <a:latin typeface="Consolas"/>
                <a:ea typeface="맑은 고딕"/>
                <a:cs typeface="맑은 고딕"/>
              </a:rPr>
              <a:t>TargetSimCore/src/TargetSim.c  59 ~ 85행</a:t>
            </a:r>
            <a:endParaRPr lang="ko-KR" altLang="en-US" sz="10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3.7 한 스텝 전진 공식 (중점법)</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어느 지점의 속도를 쓰느냐에 따라 결과가 달라집니다.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20</a:t>
            </a:r>
          </a:p>
        </p:txBody>
      </p:sp>
      <p:pic>
        <p:nvPicPr>
          <p:cNvPr id="8" name="Picture 7" descr="s12_steps.png"/>
          <p:cNvPicPr>
            <a:picLocks noChangeAspect="1"/>
          </p:cNvPicPr>
          <p:nvPr/>
        </p:nvPicPr>
        <p:blipFill>
          <a:blip r:embed="rId2"/>
          <a:stretch>
            <a:fillRect/>
          </a:stretch>
        </p:blipFill>
        <p:spPr>
          <a:xfrm>
            <a:off x="640080" y="2194560"/>
            <a:ext cx="5760720" cy="3401568"/>
          </a:xfrm>
          <a:prstGeom prst="rect">
            <a:avLst/>
          </a:prstGeom>
        </p:spPr>
      </p:pic>
      <p:sp>
        <p:nvSpPr>
          <p:cNvPr id="9" name="TextBox 8"/>
          <p:cNvSpPr txBox="1"/>
          <p:nvPr/>
        </p:nvSpPr>
        <p:spPr>
          <a:xfrm>
            <a:off x="640080" y="5650992"/>
            <a:ext cx="5760720" cy="475488"/>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반 스텝 지점의 속도가 구간 전체의 평균에 가까워서,</a:t>
            </a:r>
            <a:endParaRPr lang="ko-KR" altLang="en-US" sz="950" dirty="0"/>
          </a:p>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같은 간격으로 계산해도 덜 벗어난다.</a:t>
            </a:r>
            <a:endParaRPr lang="ko-KR" altLang="en-US" sz="950" dirty="0"/>
          </a:p>
        </p:txBody>
      </p:sp>
      <p:cxnSp>
        <p:nvCxnSpPr>
          <p:cNvPr id="10" name="Connector 9"/>
          <p:cNvCxnSpPr/>
          <p:nvPr/>
        </p:nvCxnSpPr>
        <p:spPr>
          <a:xfrm>
            <a:off x="6656832" y="2194560"/>
            <a:ext cx="0" cy="3895344"/>
          </a:xfrm>
          <a:prstGeom prst="line">
            <a:avLst/>
          </a:prstGeom>
          <a:ln w="9525">
            <a:solidFill>
              <a:srgbClr val="D2D9E5"/>
            </a:solidFill>
          </a:ln>
        </p:spPr>
      </p:cxnSp>
      <p:sp>
        <p:nvSpPr>
          <p:cNvPr id="11" name="TextBox 10"/>
          <p:cNvSpPr txBox="1"/>
          <p:nvPr/>
        </p:nvSpPr>
        <p:spPr>
          <a:xfrm>
            <a:off x="6903720" y="2157984"/>
            <a:ext cx="464515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쓰는 식</a:t>
            </a:r>
            <a:endParaRPr lang="ko-KR" altLang="en-US" sz="1150" dirty="0"/>
          </a:p>
        </p:txBody>
      </p:sp>
      <p:cxnSp>
        <p:nvCxnSpPr>
          <p:cNvPr id="12" name="Connector 11"/>
          <p:cNvCxnSpPr/>
          <p:nvPr/>
        </p:nvCxnSpPr>
        <p:spPr>
          <a:xfrm>
            <a:off x="6903720" y="2487168"/>
            <a:ext cx="4645152" cy="0"/>
          </a:xfrm>
          <a:prstGeom prst="line">
            <a:avLst/>
          </a:prstGeom>
          <a:ln w="9525">
            <a:solidFill>
              <a:srgbClr val="D2D9E5"/>
            </a:solidFill>
          </a:ln>
        </p:spPr>
      </p:cxnSp>
      <p:pic>
        <p:nvPicPr>
          <p:cNvPr id="13" name="Picture 12" descr="s12_vmid.png"/>
          <p:cNvPicPr>
            <a:picLocks noChangeAspect="1"/>
          </p:cNvPicPr>
          <p:nvPr/>
        </p:nvPicPr>
        <p:blipFill>
          <a:blip r:embed="rId4"/>
          <a:stretch>
            <a:fillRect/>
          </a:stretch>
        </p:blipFill>
        <p:spPr>
          <a:xfrm>
            <a:off x="6976872" y="2615184"/>
            <a:ext cx="2478024" cy="245364"/>
          </a:xfrm>
          <a:prstGeom prst="rect">
            <a:avLst/>
          </a:prstGeom>
        </p:spPr>
      </p:pic>
      <p:pic>
        <p:nvPicPr>
          <p:cNvPr id="14" name="Picture 13" descr="s12_step.png"/>
          <p:cNvPicPr>
            <a:picLocks noChangeAspect="1"/>
          </p:cNvPicPr>
          <p:nvPr/>
        </p:nvPicPr>
        <p:blipFill>
          <a:blip r:embed="rId5"/>
          <a:stretch>
            <a:fillRect/>
          </a:stretch>
        </p:blipFill>
        <p:spPr>
          <a:xfrm>
            <a:off x="6976872" y="2980944"/>
            <a:ext cx="1536192" cy="236220"/>
          </a:xfrm>
          <a:prstGeom prst="rect">
            <a:avLst/>
          </a:prstGeom>
        </p:spPr>
      </p:pic>
      <p:sp>
        <p:nvSpPr>
          <p:cNvPr id="15" name="TextBox 14"/>
          <p:cNvSpPr txBox="1"/>
          <p:nvPr/>
        </p:nvSpPr>
        <p:spPr>
          <a:xfrm>
            <a:off x="6903720" y="3346704"/>
            <a:ext cx="4645152"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반 스텝 지점의 위치와 자세로 속도를 한 번 더 만든다.</a:t>
            </a:r>
            <a:endParaRPr lang="ko-KR" altLang="en-US" sz="950" dirty="0"/>
          </a:p>
        </p:txBody>
      </p:sp>
      <p:sp>
        <p:nvSpPr>
          <p:cNvPr id="16" name="Rectangle 15"/>
          <p:cNvSpPr/>
          <p:nvPr/>
        </p:nvSpPr>
        <p:spPr>
          <a:xfrm>
            <a:off x="6903720" y="3675888"/>
            <a:ext cx="4645152" cy="822960"/>
          </a:xfrm>
          <a:prstGeom prst="rect">
            <a:avLst/>
          </a:prstGeom>
          <a:solidFill>
            <a:srgbClr val="F7F9FC"/>
          </a:solidFill>
          <a:ln w="9525">
            <a:solidFill>
              <a:srgbClr val="D2D9E5"/>
            </a:solidFill>
          </a:ln>
          <a:effectLst/>
        </p:spPr>
        <p:txBody>
          <a:bodyPr rtlCol="0" anchor="ctr"/>
          <a:lstStyle/>
          <a:p>
            <a:pPr algn="ctr"/>
          </a:p>
        </p:txBody>
      </p:sp>
      <p:sp>
        <p:nvSpPr>
          <p:cNvPr id="17" name="TextBox 16"/>
          <p:cNvSpPr txBox="1"/>
          <p:nvPr/>
        </p:nvSpPr>
        <p:spPr>
          <a:xfrm>
            <a:off x="7086600" y="3749040"/>
            <a:ext cx="4279392"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1B2740"/>
                </a:solidFill>
                <a:latin typeface="맑은 고딕"/>
                <a:ea typeface="맑은 고딕"/>
                <a:cs typeface="맑은 고딕"/>
              </a:rPr>
              <a:t>두 번 계산하는 이유</a:t>
            </a:r>
            <a:endParaRPr lang="ko-KR" altLang="en-US" sz="1000" dirty="0"/>
          </a:p>
        </p:txBody>
      </p:sp>
      <p:sp>
        <p:nvSpPr>
          <p:cNvPr id="18" name="TextBox 17"/>
          <p:cNvSpPr txBox="1"/>
          <p:nvPr/>
        </p:nvSpPr>
        <p:spPr>
          <a:xfrm>
            <a:off x="7086600" y="4023360"/>
            <a:ext cx="4279392" cy="438912"/>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표적은 돌고 있고 지구도 둥글어서,</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한 스텝 안에서도 방향이 계속 바뀐다.</a:t>
            </a:r>
            <a:endParaRPr lang="ko-KR" altLang="en-US" sz="1000" dirty="0"/>
          </a:p>
        </p:txBody>
      </p:sp>
      <p:cxnSp>
        <p:nvCxnSpPr>
          <p:cNvPr id="20" name="Connector 19"/>
          <p:cNvCxnSpPr/>
          <p:nvPr/>
        </p:nvCxnSpPr>
        <p:spPr>
          <a:xfrm>
            <a:off x="6903720" y="4974336"/>
            <a:ext cx="4645152" cy="0"/>
          </a:xfrm>
          <a:prstGeom prst="line">
            <a:avLst/>
          </a:prstGeom>
          <a:ln w="9525">
            <a:solidFill>
              <a:srgbClr val="D2D9E5"/>
            </a:solidFill>
          </a:ln>
        </p:spPr>
      </p:cxnSp>
      <p:sp>
        <p:nvSpPr>
          <p:cNvPr id="21" name="TextBox Legend Title"/>
          <p:cNvSpPr txBox="1"/>
          <p:nvPr/>
        </p:nvSpPr>
        <p:spPr>
          <a:xfrm>
            <a:off x="6903720" y="4645152"/>
            <a:ext cx="464515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식에 쓰인 기호</a:t>
            </a:r>
            <a:endParaRPr lang="ko-KR" altLang="en-US" sz="1050" dirty="0"/>
          </a:p>
        </p:txBody>
      </p:sp>
      <p:sp>
        <p:nvSpPr>
          <p:cNvPr id="22" name="TextBox Legend Symbol 0"/>
          <p:cNvSpPr txBox="1"/>
          <p:nvPr/>
        </p:nvSpPr>
        <p:spPr>
          <a:xfrm>
            <a:off x="6949440" y="5075784"/>
            <a:ext cx="1005840" cy="25603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250" b="1" i="1" dirty="0">
                <a:solidFill>
                  <a:srgbClr val="1B2740"/>
                </a:solidFill>
                <a:latin typeface="Times New Roman"/>
                <a:ea typeface="맑은 고딕"/>
                <a:cs typeface="맑은 고딕"/>
              </a:rPr>
              <a:t>p</a:t>
            </a:r>
            <a:r>
              <a:rPr lang="ko-KR" altLang="en-US" sz="1250" b="0" i="1" baseline="-25000" dirty="0">
                <a:solidFill>
                  <a:srgbClr val="1B2740"/>
                </a:solidFill>
                <a:latin typeface="Times New Roman"/>
                <a:ea typeface="맑은 고딕"/>
                <a:cs typeface="맑은 고딕"/>
              </a:rPr>
              <a:t>k</a:t>
            </a:r>
            <a:r>
              <a:rPr lang="ko-KR" altLang="en-US" sz="1250" b="0" i="0" dirty="0">
                <a:solidFill>
                  <a:srgbClr val="1B2740"/>
                </a:solidFill>
                <a:latin typeface="Times New Roman"/>
                <a:ea typeface="맑은 고딕"/>
                <a:cs typeface="맑은 고딕"/>
              </a:rPr>
              <a:t>,  </a:t>
            </a:r>
            <a:r>
              <a:rPr lang="ko-KR" altLang="en-US" sz="1250" b="1" i="1" dirty="0">
                <a:solidFill>
                  <a:srgbClr val="1B2740"/>
                </a:solidFill>
                <a:latin typeface="Times New Roman"/>
                <a:ea typeface="맑은 고딕"/>
                <a:cs typeface="맑은 고딕"/>
              </a:rPr>
              <a:t>v</a:t>
            </a:r>
            <a:r>
              <a:rPr lang="ko-KR" altLang="en-US" sz="1250" b="0" i="1" baseline="-25000" dirty="0">
                <a:solidFill>
                  <a:srgbClr val="1B2740"/>
                </a:solidFill>
                <a:latin typeface="Times New Roman"/>
                <a:ea typeface="맑은 고딕"/>
                <a:cs typeface="맑은 고딕"/>
              </a:rPr>
              <a:t>k</a:t>
            </a:r>
            <a:endParaRPr lang="ko-KR" altLang="en-US" sz="1250" dirty="0"/>
          </a:p>
        </p:txBody>
      </p:sp>
      <p:sp>
        <p:nvSpPr>
          <p:cNvPr id="23" name="TextBox Legend Text 0"/>
          <p:cNvSpPr txBox="1"/>
          <p:nvPr/>
        </p:nvSpPr>
        <p:spPr>
          <a:xfrm>
            <a:off x="8001000" y="5075784"/>
            <a:ext cx="3547872" cy="25603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스텝 시작의 위치 · 속도 (ECEF)</a:t>
            </a:r>
            <a:endParaRPr lang="ko-KR" altLang="en-US" sz="1000" dirty="0"/>
          </a:p>
        </p:txBody>
      </p:sp>
      <p:sp>
        <p:nvSpPr>
          <p:cNvPr id="24" name="TextBox Legend Symbol 1"/>
          <p:cNvSpPr txBox="1"/>
          <p:nvPr/>
        </p:nvSpPr>
        <p:spPr>
          <a:xfrm>
            <a:off x="6949440" y="5331816"/>
            <a:ext cx="1005840" cy="25603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250" b="1" i="1" dirty="0">
                <a:solidFill>
                  <a:srgbClr val="1B2740"/>
                </a:solidFill>
                <a:latin typeface="Times New Roman"/>
                <a:ea typeface="맑은 고딕"/>
                <a:cs typeface="맑은 고딕"/>
              </a:rPr>
              <a:t>Θ</a:t>
            </a:r>
            <a:r>
              <a:rPr lang="ko-KR" altLang="en-US" sz="1250" b="0" i="1" baseline="-25000" dirty="0">
                <a:solidFill>
                  <a:srgbClr val="1B2740"/>
                </a:solidFill>
                <a:latin typeface="Times New Roman"/>
                <a:ea typeface="맑은 고딕"/>
                <a:cs typeface="맑은 고딕"/>
              </a:rPr>
              <a:t>k</a:t>
            </a:r>
            <a:r>
              <a:rPr lang="ko-KR" altLang="en-US" sz="1250" b="0" i="0" dirty="0">
                <a:solidFill>
                  <a:srgbClr val="1B2740"/>
                </a:solidFill>
                <a:latin typeface="Times New Roman"/>
                <a:ea typeface="맑은 고딕"/>
                <a:cs typeface="맑은 고딕"/>
              </a:rPr>
              <a:t>,  </a:t>
            </a:r>
            <a:r>
              <a:rPr lang="ko-KR" altLang="en-US" sz="1250" b="0" i="1" dirty="0">
                <a:solidFill>
                  <a:srgbClr val="1B2740"/>
                </a:solidFill>
                <a:latin typeface="Times New Roman"/>
                <a:ea typeface="맑은 고딕"/>
                <a:cs typeface="맑은 고딕"/>
              </a:rPr>
              <a:t>ω</a:t>
            </a:r>
            <a:endParaRPr lang="ko-KR" altLang="en-US" sz="1250" dirty="0"/>
          </a:p>
        </p:txBody>
      </p:sp>
      <p:sp>
        <p:nvSpPr>
          <p:cNvPr id="25" name="TextBox Legend Text 1"/>
          <p:cNvSpPr txBox="1"/>
          <p:nvPr/>
        </p:nvSpPr>
        <p:spPr>
          <a:xfrm>
            <a:off x="8001000" y="5331816"/>
            <a:ext cx="3547872" cy="25603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스텝 시작 자세, 기동 각속도</a:t>
            </a:r>
            <a:endParaRPr lang="ko-KR" altLang="en-US" sz="1000" dirty="0"/>
          </a:p>
        </p:txBody>
      </p:sp>
      <p:sp>
        <p:nvSpPr>
          <p:cNvPr id="26" name="TextBox Legend Symbol 2"/>
          <p:cNvSpPr txBox="1"/>
          <p:nvPr/>
        </p:nvSpPr>
        <p:spPr>
          <a:xfrm>
            <a:off x="6949440" y="5587848"/>
            <a:ext cx="1005840" cy="25603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250" b="0" i="0" dirty="0">
                <a:solidFill>
                  <a:srgbClr val="1B2740"/>
                </a:solidFill>
                <a:latin typeface="Times New Roman"/>
                <a:ea typeface="맑은 고딕"/>
                <a:cs typeface="맑은 고딕"/>
              </a:rPr>
              <a:t>Δ</a:t>
            </a:r>
            <a:r>
              <a:rPr lang="ko-KR" altLang="en-US" sz="1250" b="0" i="1" dirty="0">
                <a:solidFill>
                  <a:srgbClr val="1B2740"/>
                </a:solidFill>
                <a:latin typeface="Times New Roman"/>
                <a:ea typeface="맑은 고딕"/>
                <a:cs typeface="맑은 고딕"/>
              </a:rPr>
              <a:t>t</a:t>
            </a:r>
            <a:endParaRPr lang="ko-KR" altLang="en-US" sz="1250" dirty="0"/>
          </a:p>
        </p:txBody>
      </p:sp>
      <p:sp>
        <p:nvSpPr>
          <p:cNvPr id="27" name="TextBox Legend Text 2"/>
          <p:cNvSpPr txBox="1"/>
          <p:nvPr/>
        </p:nvSpPr>
        <p:spPr>
          <a:xfrm>
            <a:off x="8001000" y="5587848"/>
            <a:ext cx="3547872" cy="25603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간격 (0.1 s)</a:t>
            </a:r>
            <a:endParaRPr lang="ko-KR" altLang="en-US" sz="1000" dirty="0"/>
          </a:p>
        </p:txBody>
      </p:sp>
      <p:sp>
        <p:nvSpPr>
          <p:cNvPr id="28" name="TextBox Legend Symbol 3"/>
          <p:cNvSpPr txBox="1"/>
          <p:nvPr/>
        </p:nvSpPr>
        <p:spPr>
          <a:xfrm>
            <a:off x="6949440" y="5843880"/>
            <a:ext cx="1005840" cy="25603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250" b="1" i="1" dirty="0">
                <a:solidFill>
                  <a:srgbClr val="1B2740"/>
                </a:solidFill>
                <a:latin typeface="Times New Roman"/>
                <a:ea typeface="맑은 고딕"/>
                <a:cs typeface="맑은 고딕"/>
              </a:rPr>
              <a:t>v</a:t>
            </a:r>
            <a:r>
              <a:rPr lang="ko-KR" altLang="en-US" sz="1250" b="0" i="1" baseline="-25000" dirty="0">
                <a:solidFill>
                  <a:srgbClr val="1B2740"/>
                </a:solidFill>
                <a:latin typeface="Times New Roman"/>
                <a:ea typeface="맑은 고딕"/>
                <a:cs typeface="맑은 고딕"/>
              </a:rPr>
              <a:t>mid</a:t>
            </a:r>
            <a:endParaRPr lang="ko-KR" altLang="en-US" sz="1250" dirty="0"/>
          </a:p>
        </p:txBody>
      </p:sp>
      <p:sp>
        <p:nvSpPr>
          <p:cNvPr id="29" name="TextBox Legend Text 3"/>
          <p:cNvSpPr txBox="1"/>
          <p:nvPr/>
        </p:nvSpPr>
        <p:spPr>
          <a:xfrm>
            <a:off x="8001000" y="5843880"/>
            <a:ext cx="3547872" cy="25603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반 스텝 지점에서 다시 구한 속도</a:t>
            </a:r>
            <a:endParaRPr lang="ko-KR" altLang="en-US" sz="10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3.8 한 스텝 전진 코드 (1/2)</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21</a:t>
            </a:r>
          </a:p>
        </p:txBody>
      </p:sp>
      <p:pic>
        <p:nvPicPr>
          <p:cNvPr id="7" name="Code Capture" descr="TargetSim.c 100-129"/>
          <p:cNvPicPr>
            <a:picLocks noChangeAspect="1"/>
          </p:cNvPicPr>
          <p:nvPr/>
        </p:nvPicPr>
        <p:blipFill>
          <a:blip r:embed="rId3"/>
          <a:stretch>
            <a:fillRect/>
          </a:stretch>
        </p:blipFill>
        <p:spPr>
          <a:xfrm>
            <a:off x="640080" y="1792224"/>
            <a:ext cx="6714172" cy="4334764"/>
          </a:xfrm>
          <a:prstGeom prst="rect">
            <a:avLst/>
          </a:prstGeom>
          <a:ln w="9525">
            <a:solidFill>
              <a:srgbClr val="C9D1DD"/>
            </a:solidFill>
          </a:ln>
        </p:spPr>
      </p:pic>
      <p:sp>
        <p:nvSpPr>
          <p:cNvPr id="8" name="Block 1"/>
          <p:cNvSpPr/>
          <p:nvPr/>
        </p:nvSpPr>
        <p:spPr>
          <a:xfrm>
            <a:off x="968692" y="3592576"/>
            <a:ext cx="6334760" cy="868680"/>
          </a:xfrm>
          <a:prstGeom prst="roundRect">
            <a:avLst>
              <a:gd name="adj" fmla="val 4386"/>
            </a:avLst>
          </a:prstGeom>
          <a:solidFill>
            <a:srgbClr val="DC2626">
              <a:alpha val="9000"/>
            </a:srgbClr>
          </a:solidFill>
          <a:ln w="12700">
            <a:solidFill>
              <a:srgbClr val="DC2626"/>
            </a:solidFill>
          </a:ln>
          <a:effectLst/>
        </p:spPr>
        <p:txBody>
          <a:bodyPr rtlCol="0" anchor="ctr"/>
          <a:lstStyle/>
          <a:p>
            <a:pPr algn="ctr"/>
          </a:p>
        </p:txBody>
      </p:sp>
      <p:sp>
        <p:nvSpPr>
          <p:cNvPr id="9" name="Block 2"/>
          <p:cNvSpPr/>
          <p:nvPr/>
        </p:nvSpPr>
        <p:spPr>
          <a:xfrm>
            <a:off x="968692" y="4534916"/>
            <a:ext cx="6334760" cy="599440"/>
          </a:xfrm>
          <a:prstGeom prst="roundRect">
            <a:avLst>
              <a:gd name="adj" fmla="val 6356"/>
            </a:avLst>
          </a:prstGeom>
          <a:solidFill>
            <a:srgbClr val="D97706">
              <a:alpha val="9000"/>
            </a:srgbClr>
          </a:solidFill>
          <a:ln w="12700">
            <a:solidFill>
              <a:srgbClr val="D97706"/>
            </a:solidFill>
          </a:ln>
          <a:effectLst/>
        </p:spPr>
        <p:txBody>
          <a:bodyPr rtlCol="0" anchor="ctr"/>
          <a:lstStyle/>
          <a:p>
            <a:pPr algn="ctr"/>
          </a:p>
        </p:txBody>
      </p:sp>
      <p:sp>
        <p:nvSpPr>
          <p:cNvPr id="10" name="Block 3"/>
          <p:cNvSpPr/>
          <p:nvPr/>
        </p:nvSpPr>
        <p:spPr>
          <a:xfrm>
            <a:off x="968692" y="5208016"/>
            <a:ext cx="6334760" cy="868680"/>
          </a:xfrm>
          <a:prstGeom prst="roundRect">
            <a:avLst>
              <a:gd name="adj" fmla="val 4386"/>
            </a:avLst>
          </a:prstGeom>
          <a:solidFill>
            <a:srgbClr val="059669">
              <a:alpha val="9000"/>
            </a:srgbClr>
          </a:solidFill>
          <a:ln w="12700">
            <a:solidFill>
              <a:srgbClr val="059669"/>
            </a:solidFill>
          </a:ln>
          <a:effectLst/>
        </p:spPr>
        <p:txBody>
          <a:bodyPr rtlCol="0" anchor="ctr"/>
          <a:lstStyle/>
          <a:p>
            <a:pPr algn="ctr"/>
          </a:p>
        </p:txBody>
      </p:sp>
      <p:cxnSp>
        <p:nvCxnSpPr>
          <p:cNvPr id="13" name="Arrow 1"/>
          <p:cNvCxnSpPr/>
          <p:nvPr/>
        </p:nvCxnSpPr>
        <p:spPr>
          <a:xfrm>
            <a:off x="7303452" y="4026916"/>
            <a:ext cx="330200" cy="0"/>
          </a:xfrm>
          <a:prstGeom prst="line">
            <a:avLst/>
          </a:prstGeom>
          <a:ln w="15875">
            <a:solidFill>
              <a:srgbClr val="DC2626"/>
            </a:solidFill>
            <a:tailEnd type="triangle" w="med" len="med"/>
          </a:ln>
        </p:spPr>
      </p:cxnSp>
      <p:sp>
        <p:nvSpPr>
          <p:cNvPr id="11" name="Label 1 Box"/>
          <p:cNvSpPr/>
          <p:nvPr/>
        </p:nvSpPr>
        <p:spPr>
          <a:xfrm>
            <a:off x="7633652" y="3887216"/>
            <a:ext cx="1406947" cy="279400"/>
          </a:xfrm>
          <a:prstGeom prst="roundRect">
            <a:avLst>
              <a:gd name="adj" fmla="val 20000"/>
            </a:avLst>
          </a:prstGeom>
          <a:solidFill>
            <a:srgbClr val="FDEEEE"/>
          </a:solidFill>
          <a:ln w="12700">
            <a:solidFill>
              <a:srgbClr val="DC2626"/>
            </a:solidFill>
          </a:ln>
          <a:effectLst/>
        </p:spPr>
        <p:txBody>
          <a:bodyPr rtlCol="0" anchor="ctr"/>
          <a:lstStyle/>
          <a:p>
            <a:pPr algn="ctr"/>
          </a:p>
        </p:txBody>
      </p:sp>
      <p:sp>
        <p:nvSpPr>
          <p:cNvPr id="12" name="Label 1 Text"/>
          <p:cNvSpPr txBox="1"/>
          <p:nvPr/>
        </p:nvSpPr>
        <p:spPr>
          <a:xfrm>
            <a:off x="7633652" y="3887216"/>
            <a:ext cx="1406947"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C2626"/>
                </a:solidFill>
                <a:latin typeface="맑은 고딕"/>
                <a:ea typeface="맑은 고딕"/>
                <a:cs typeface="맑은 고딕"/>
              </a:rPr>
              <a:t>0.05초 뒤 자세</a:t>
            </a:r>
            <a:endParaRPr lang="ko-KR" altLang="en-US" sz="1200" dirty="0"/>
          </a:p>
        </p:txBody>
      </p:sp>
      <p:cxnSp>
        <p:nvCxnSpPr>
          <p:cNvPr id="16" name="Arrow 2"/>
          <p:cNvCxnSpPr/>
          <p:nvPr/>
        </p:nvCxnSpPr>
        <p:spPr>
          <a:xfrm>
            <a:off x="7303452" y="4834636"/>
            <a:ext cx="330200" cy="0"/>
          </a:xfrm>
          <a:prstGeom prst="line">
            <a:avLst/>
          </a:prstGeom>
          <a:ln w="15875">
            <a:solidFill>
              <a:srgbClr val="D97706"/>
            </a:solidFill>
            <a:tailEnd type="triangle" w="med" len="med"/>
          </a:ln>
        </p:spPr>
      </p:cxnSp>
      <p:sp>
        <p:nvSpPr>
          <p:cNvPr id="14" name="Label 2 Box"/>
          <p:cNvSpPr/>
          <p:nvPr/>
        </p:nvSpPr>
        <p:spPr>
          <a:xfrm>
            <a:off x="7633652" y="4694936"/>
            <a:ext cx="1306363" cy="279400"/>
          </a:xfrm>
          <a:prstGeom prst="roundRect">
            <a:avLst>
              <a:gd name="adj" fmla="val 20000"/>
            </a:avLst>
          </a:prstGeom>
          <a:solidFill>
            <a:srgbClr val="FEF5E7"/>
          </a:solidFill>
          <a:ln w="12700">
            <a:solidFill>
              <a:srgbClr val="D97706"/>
            </a:solidFill>
          </a:ln>
          <a:effectLst/>
        </p:spPr>
        <p:txBody>
          <a:bodyPr rtlCol="0" anchor="ctr"/>
          <a:lstStyle/>
          <a:p>
            <a:pPr algn="ctr"/>
          </a:p>
        </p:txBody>
      </p:sp>
      <p:sp>
        <p:nvSpPr>
          <p:cNvPr id="15" name="Label 2 Text"/>
          <p:cNvSpPr txBox="1"/>
          <p:nvPr/>
        </p:nvSpPr>
        <p:spPr>
          <a:xfrm>
            <a:off x="7633652" y="4694936"/>
            <a:ext cx="1306363"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97706"/>
                </a:solidFill>
                <a:latin typeface="맑은 고딕"/>
                <a:ea typeface="맑은 고딕"/>
                <a:cs typeface="맑은 고딕"/>
              </a:rPr>
              <a:t>0.1초 뒤 자세</a:t>
            </a:r>
            <a:endParaRPr lang="ko-KR" altLang="en-US" sz="1200" dirty="0"/>
          </a:p>
        </p:txBody>
      </p:sp>
      <p:cxnSp>
        <p:nvCxnSpPr>
          <p:cNvPr id="19" name="Arrow 3"/>
          <p:cNvCxnSpPr/>
          <p:nvPr/>
        </p:nvCxnSpPr>
        <p:spPr>
          <a:xfrm>
            <a:off x="7303452" y="5642356"/>
            <a:ext cx="330200" cy="0"/>
          </a:xfrm>
          <a:prstGeom prst="line">
            <a:avLst/>
          </a:prstGeom>
          <a:ln w="15875">
            <a:solidFill>
              <a:srgbClr val="059669"/>
            </a:solidFill>
            <a:tailEnd type="triangle" w="med" len="med"/>
          </a:ln>
        </p:spPr>
      </p:cxnSp>
      <p:sp>
        <p:nvSpPr>
          <p:cNvPr id="17" name="Label 3 Box"/>
          <p:cNvSpPr/>
          <p:nvPr/>
        </p:nvSpPr>
        <p:spPr>
          <a:xfrm>
            <a:off x="7633652" y="5502656"/>
            <a:ext cx="1406947" cy="279400"/>
          </a:xfrm>
          <a:prstGeom prst="roundRect">
            <a:avLst>
              <a:gd name="adj" fmla="val 20000"/>
            </a:avLst>
          </a:prstGeom>
          <a:solidFill>
            <a:srgbClr val="E8F6F0"/>
          </a:solidFill>
          <a:ln w="12700">
            <a:solidFill>
              <a:srgbClr val="059669"/>
            </a:solidFill>
          </a:ln>
          <a:effectLst/>
        </p:spPr>
        <p:txBody>
          <a:bodyPr rtlCol="0" anchor="ctr"/>
          <a:lstStyle/>
          <a:p>
            <a:pPr algn="ctr"/>
          </a:p>
        </p:txBody>
      </p:sp>
      <p:sp>
        <p:nvSpPr>
          <p:cNvPr id="18" name="Label 3 Text"/>
          <p:cNvSpPr txBox="1"/>
          <p:nvPr/>
        </p:nvSpPr>
        <p:spPr>
          <a:xfrm>
            <a:off x="7633652" y="5502656"/>
            <a:ext cx="1406947"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059669"/>
                </a:solidFill>
                <a:latin typeface="맑은 고딕"/>
                <a:ea typeface="맑은 고딕"/>
                <a:cs typeface="맑은 고딕"/>
              </a:rPr>
              <a:t>0.05초 뒤 위치</a:t>
            </a:r>
            <a:endParaRPr lang="ko-KR" altLang="en-US" sz="1200" dirty="0"/>
          </a:p>
        </p:txBody>
      </p:sp>
      <p:sp>
        <p:nvSpPr>
          <p:cNvPr id="20" name="File Tag"/>
          <p:cNvSpPr txBox="1"/>
          <p:nvPr/>
        </p:nvSpPr>
        <p:spPr>
          <a:xfrm>
            <a:off x="6214872" y="1345184"/>
            <a:ext cx="5334000" cy="203200"/>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50" b="0" i="0" dirty="0">
                <a:solidFill>
                  <a:srgbClr val="8794AC"/>
                </a:solidFill>
                <a:latin typeface="Consolas"/>
                <a:ea typeface="맑은 고딕"/>
                <a:cs typeface="맑은 고딕"/>
              </a:rPr>
              <a:t>TargetSimCore/src/TargetSim.c  100 ~ 129행</a:t>
            </a:r>
            <a:endParaRPr lang="ko-KR" altLang="en-US" sz="10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04. 결과 확인</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4.1 기본 시나리오</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과제 명세 2항의 값을 그대로 넣고, 60초를 0.1초 간격으로 계산한 결과입니다.</a:t>
            </a:r>
          </a:p>
        </p:txBody>
      </p:sp>
      <p:pic>
        <p:nvPicPr>
          <p:cNvPr id="43" name="Picture 42" descr="기본 시나리오 궤적"/>
          <p:cNvPicPr>
            <a:picLocks noChangeAspect="1"/>
          </p:cNvPicPr>
          <p:nvPr/>
        </p:nvPicPr>
        <p:blipFill>
          <a:blip r:embed="rId3"/>
          <a:stretch>
            <a:fillRect/>
          </a:stretch>
        </p:blipFill>
        <p:spPr>
          <a:xfrm>
            <a:off x="2346048" y="3373120"/>
            <a:ext cx="2499669" cy="2789936"/>
          </a:xfrm>
          <a:prstGeom prst="rect">
            <a:avLst/>
          </a:prstGeom>
          <a:ln>
            <a:noFill/>
          </a:ln>
        </p:spPr>
      </p:pic>
      <p:pic>
        <p:nvPicPr>
          <p:cNvPr id="44" name="Picture 43" descr="기본 시나리오 고도 · 속력"/>
          <p:cNvPicPr>
            <a:picLocks noChangeAspect="1"/>
          </p:cNvPicPr>
          <p:nvPr/>
        </p:nvPicPr>
        <p:blipFill>
          <a:blip r:embed="rId4"/>
          <a:stretch>
            <a:fillRect/>
          </a:stretch>
        </p:blipFill>
        <p:spPr>
          <a:xfrm>
            <a:off x="5302917" y="3373120"/>
            <a:ext cx="4539986" cy="2789936"/>
          </a:xfrm>
          <a:prstGeom prst="rect">
            <a:avLst/>
          </a:prstGeom>
          <a:ln>
            <a:noFill/>
          </a:ln>
        </p:spPr>
      </p:pic>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24</a:t>
            </a:r>
          </a:p>
        </p:txBody>
      </p:sp>
      <p:sp>
        <p:nvSpPr>
          <p:cNvPr id="8" name="Rectangle 7"/>
          <p:cNvSpPr/>
          <p:nvPr/>
        </p:nvSpPr>
        <p:spPr>
          <a:xfrm>
            <a:off x="640080" y="2103120"/>
            <a:ext cx="10908792" cy="279400"/>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86384" y="2103120"/>
            <a:ext cx="1764792" cy="279400"/>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
            </a:r>
          </a:p>
        </p:txBody>
      </p:sp>
      <p:sp>
        <p:nvSpPr>
          <p:cNvPr id="10" name="TextBox 9"/>
          <p:cNvSpPr txBox="1"/>
          <p:nvPr/>
        </p:nvSpPr>
        <p:spPr>
          <a:xfrm>
            <a:off x="2734056" y="2103120"/>
            <a:ext cx="1097280" cy="279400"/>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위도 [°]</a:t>
            </a:r>
          </a:p>
        </p:txBody>
      </p:sp>
      <p:sp>
        <p:nvSpPr>
          <p:cNvPr id="11" name="TextBox 10"/>
          <p:cNvSpPr txBox="1"/>
          <p:nvPr/>
        </p:nvSpPr>
        <p:spPr>
          <a:xfrm>
            <a:off x="4014216" y="2103120"/>
            <a:ext cx="1097280" cy="279400"/>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경도 [°]</a:t>
            </a:r>
          </a:p>
        </p:txBody>
      </p:sp>
      <p:sp>
        <p:nvSpPr>
          <p:cNvPr id="12" name="TextBox 11"/>
          <p:cNvSpPr txBox="1"/>
          <p:nvPr/>
        </p:nvSpPr>
        <p:spPr>
          <a:xfrm>
            <a:off x="5294376" y="2103120"/>
            <a:ext cx="1097280" cy="279400"/>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고도 [m]</a:t>
            </a:r>
          </a:p>
        </p:txBody>
      </p:sp>
      <p:sp>
        <p:nvSpPr>
          <p:cNvPr id="13" name="TextBox 12"/>
          <p:cNvSpPr txBox="1"/>
          <p:nvPr/>
        </p:nvSpPr>
        <p:spPr>
          <a:xfrm>
            <a:off x="6574536" y="2103120"/>
            <a:ext cx="1097280" cy="279400"/>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속력 [m/s]</a:t>
            </a:r>
          </a:p>
        </p:txBody>
      </p:sp>
      <p:sp>
        <p:nvSpPr>
          <p:cNvPr id="14" name="TextBox 13"/>
          <p:cNvSpPr txBox="1"/>
          <p:nvPr/>
        </p:nvSpPr>
        <p:spPr>
          <a:xfrm>
            <a:off x="7854696" y="2103120"/>
            <a:ext cx="1097280" cy="279400"/>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Roll [°]</a:t>
            </a:r>
          </a:p>
        </p:txBody>
      </p:sp>
      <p:sp>
        <p:nvSpPr>
          <p:cNvPr id="15" name="TextBox 14"/>
          <p:cNvSpPr txBox="1"/>
          <p:nvPr/>
        </p:nvSpPr>
        <p:spPr>
          <a:xfrm>
            <a:off x="9134856" y="2103120"/>
            <a:ext cx="1097280" cy="279400"/>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Pitch [°]</a:t>
            </a:r>
          </a:p>
        </p:txBody>
      </p:sp>
      <p:sp>
        <p:nvSpPr>
          <p:cNvPr id="16" name="TextBox 15"/>
          <p:cNvSpPr txBox="1"/>
          <p:nvPr/>
        </p:nvSpPr>
        <p:spPr>
          <a:xfrm>
            <a:off x="10415016" y="2103120"/>
            <a:ext cx="1097280" cy="279400"/>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Yaw [°]</a:t>
            </a:r>
          </a:p>
        </p:txBody>
      </p:sp>
      <p:sp>
        <p:nvSpPr>
          <p:cNvPr id="17" name="Rectangle 16"/>
          <p:cNvSpPr/>
          <p:nvPr/>
        </p:nvSpPr>
        <p:spPr>
          <a:xfrm>
            <a:off x="640080" y="2382520"/>
            <a:ext cx="10908792" cy="279400"/>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86384" y="2382520"/>
            <a:ext cx="1764792" cy="279400"/>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플랫폼</a:t>
            </a:r>
          </a:p>
        </p:txBody>
      </p:sp>
      <p:sp>
        <p:nvSpPr>
          <p:cNvPr id="19" name="TextBox 18"/>
          <p:cNvSpPr txBox="1"/>
          <p:nvPr/>
        </p:nvSpPr>
        <p:spPr>
          <a:xfrm>
            <a:off x="2734056" y="23825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32.0</a:t>
            </a:r>
          </a:p>
        </p:txBody>
      </p:sp>
      <p:sp>
        <p:nvSpPr>
          <p:cNvPr id="20" name="TextBox 19"/>
          <p:cNvSpPr txBox="1"/>
          <p:nvPr/>
        </p:nvSpPr>
        <p:spPr>
          <a:xfrm>
            <a:off x="4014216" y="23825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126.0</a:t>
            </a:r>
          </a:p>
        </p:txBody>
      </p:sp>
      <p:sp>
        <p:nvSpPr>
          <p:cNvPr id="21" name="TextBox 20"/>
          <p:cNvSpPr txBox="1"/>
          <p:nvPr/>
        </p:nvSpPr>
        <p:spPr>
          <a:xfrm>
            <a:off x="5294376" y="23825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22" name="TextBox 21"/>
          <p:cNvSpPr txBox="1"/>
          <p:nvPr/>
        </p:nvSpPr>
        <p:spPr>
          <a:xfrm>
            <a:off x="6574536" y="23825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23" name="TextBox 22"/>
          <p:cNvSpPr txBox="1"/>
          <p:nvPr/>
        </p:nvSpPr>
        <p:spPr>
          <a:xfrm>
            <a:off x="7854696" y="23825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24" name="TextBox 23"/>
          <p:cNvSpPr txBox="1"/>
          <p:nvPr/>
        </p:nvSpPr>
        <p:spPr>
          <a:xfrm>
            <a:off x="9134856" y="23825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25" name="TextBox 24"/>
          <p:cNvSpPr txBox="1"/>
          <p:nvPr/>
        </p:nvSpPr>
        <p:spPr>
          <a:xfrm>
            <a:off x="10415016" y="23825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26" name="TextBox 25"/>
          <p:cNvSpPr txBox="1"/>
          <p:nvPr/>
        </p:nvSpPr>
        <p:spPr>
          <a:xfrm>
            <a:off x="786384" y="2661920"/>
            <a:ext cx="1764792" cy="279400"/>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대함 표적</a:t>
            </a:r>
          </a:p>
        </p:txBody>
      </p:sp>
      <p:sp>
        <p:nvSpPr>
          <p:cNvPr id="27" name="TextBox 26"/>
          <p:cNvSpPr txBox="1"/>
          <p:nvPr/>
        </p:nvSpPr>
        <p:spPr>
          <a:xfrm>
            <a:off x="2734056" y="26619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32.125</a:t>
            </a:r>
          </a:p>
        </p:txBody>
      </p:sp>
      <p:sp>
        <p:nvSpPr>
          <p:cNvPr id="28" name="TextBox 27"/>
          <p:cNvSpPr txBox="1"/>
          <p:nvPr/>
        </p:nvSpPr>
        <p:spPr>
          <a:xfrm>
            <a:off x="4014216" y="26619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126.03</a:t>
            </a:r>
          </a:p>
        </p:txBody>
      </p:sp>
      <p:sp>
        <p:nvSpPr>
          <p:cNvPr id="29" name="TextBox 28"/>
          <p:cNvSpPr txBox="1"/>
          <p:nvPr/>
        </p:nvSpPr>
        <p:spPr>
          <a:xfrm>
            <a:off x="5294376" y="26619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30" name="TextBox 29"/>
          <p:cNvSpPr txBox="1"/>
          <p:nvPr/>
        </p:nvSpPr>
        <p:spPr>
          <a:xfrm>
            <a:off x="6574536" y="26619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30</a:t>
            </a:r>
          </a:p>
        </p:txBody>
      </p:sp>
      <p:sp>
        <p:nvSpPr>
          <p:cNvPr id="31" name="TextBox 30"/>
          <p:cNvSpPr txBox="1"/>
          <p:nvPr/>
        </p:nvSpPr>
        <p:spPr>
          <a:xfrm>
            <a:off x="7854696" y="26619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32" name="TextBox 31"/>
          <p:cNvSpPr txBox="1"/>
          <p:nvPr/>
        </p:nvSpPr>
        <p:spPr>
          <a:xfrm>
            <a:off x="9134856" y="26619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33" name="TextBox 32"/>
          <p:cNvSpPr txBox="1"/>
          <p:nvPr/>
        </p:nvSpPr>
        <p:spPr>
          <a:xfrm>
            <a:off x="10415016" y="26619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270  (서)</a:t>
            </a:r>
          </a:p>
        </p:txBody>
      </p:sp>
      <p:sp>
        <p:nvSpPr>
          <p:cNvPr id="34" name="Rectangle 33"/>
          <p:cNvSpPr/>
          <p:nvPr/>
        </p:nvSpPr>
        <p:spPr>
          <a:xfrm>
            <a:off x="640080" y="2941320"/>
            <a:ext cx="10908792" cy="279400"/>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86384" y="2941320"/>
            <a:ext cx="1764792" cy="279400"/>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대공 표적</a:t>
            </a:r>
          </a:p>
        </p:txBody>
      </p:sp>
      <p:sp>
        <p:nvSpPr>
          <p:cNvPr id="36" name="TextBox 35"/>
          <p:cNvSpPr txBox="1"/>
          <p:nvPr/>
        </p:nvSpPr>
        <p:spPr>
          <a:xfrm>
            <a:off x="2734056" y="29413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32.12</a:t>
            </a:r>
          </a:p>
        </p:txBody>
      </p:sp>
      <p:sp>
        <p:nvSpPr>
          <p:cNvPr id="37" name="TextBox 36"/>
          <p:cNvSpPr txBox="1"/>
          <p:nvPr/>
        </p:nvSpPr>
        <p:spPr>
          <a:xfrm>
            <a:off x="4014216" y="29413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126.0</a:t>
            </a:r>
          </a:p>
        </p:txBody>
      </p:sp>
      <p:sp>
        <p:nvSpPr>
          <p:cNvPr id="38" name="TextBox 37"/>
          <p:cNvSpPr txBox="1"/>
          <p:nvPr/>
        </p:nvSpPr>
        <p:spPr>
          <a:xfrm>
            <a:off x="5294376" y="29413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300</a:t>
            </a:r>
          </a:p>
        </p:txBody>
      </p:sp>
      <p:sp>
        <p:nvSpPr>
          <p:cNvPr id="39" name="TextBox 38"/>
          <p:cNvSpPr txBox="1"/>
          <p:nvPr/>
        </p:nvSpPr>
        <p:spPr>
          <a:xfrm>
            <a:off x="6574536" y="29413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200</a:t>
            </a:r>
          </a:p>
        </p:txBody>
      </p:sp>
      <p:sp>
        <p:nvSpPr>
          <p:cNvPr id="40" name="TextBox 39"/>
          <p:cNvSpPr txBox="1"/>
          <p:nvPr/>
        </p:nvSpPr>
        <p:spPr>
          <a:xfrm>
            <a:off x="7854696" y="29413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41" name="TextBox 40"/>
          <p:cNvSpPr txBox="1"/>
          <p:nvPr/>
        </p:nvSpPr>
        <p:spPr>
          <a:xfrm>
            <a:off x="9134856" y="29413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42" name="TextBox 41"/>
          <p:cNvSpPr txBox="1"/>
          <p:nvPr/>
        </p:nvSpPr>
        <p:spPr>
          <a:xfrm>
            <a:off x="10415016" y="29413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180  (남)</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04. 결과 확인</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4.2 응용 시나리오</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기본 시나리오에 지그재그 기동 10개를 넣었습니다. G 값은 과제 속력에서 도는 데 걸리는 시간을 계산해 정했습니다.</a:t>
            </a:r>
          </a:p>
        </p:txBody>
      </p:sp>
      <p:sp>
        <p:nvSpPr>
          <p:cNvPr id="8" name="Turn Table Title"/>
          <p:cNvSpPr txBox="1"/>
          <p:nvPr/>
        </p:nvSpPr>
        <p:spPr>
          <a:xfrm>
            <a:off x="640080" y="2148840"/>
            <a:ext cx="8563360" cy="279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250" b="1" i="0" dirty="0">
                <a:solidFill>
                  <a:srgbClr val="1B2740"/>
                </a:solidFill>
                <a:latin typeface="맑은 고딕"/>
                <a:ea typeface="맑은 고딕"/>
                <a:cs typeface="맑은 고딕"/>
              </a:rPr>
              <a:t>G 값에 따라 도는 데 걸리는 시간</a:t>
            </a:r>
            <a:endParaRPr lang="ko-KR" altLang="en-US" sz="1000" dirty="0"/>
          </a:p>
        </p:txBody>
      </p:sp>
      <p:sp>
        <p:nvSpPr>
          <p:cNvPr id="9" name="Turn Table Formula"/>
          <p:cNvSpPr txBox="1"/>
          <p:nvPr/>
        </p:nvSpPr>
        <p:spPr>
          <a:xfrm>
            <a:off x="640080" y="2148840"/>
            <a:ext cx="8563360" cy="279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100" b="1" i="0" dirty="0">
                <a:solidFill>
                  <a:srgbClr val="1B2740"/>
                </a:solidFill>
                <a:latin typeface="맑은 고딕"/>
                <a:ea typeface="맑은 고딕"/>
                <a:cs typeface="맑은 고딕"/>
              </a:rPr>
              <a:t>T = θ / ω,   ω = n · g / V</a:t>
            </a:r>
            <a:r>
              <a:rPr lang="ko-KR" altLang="en-US" sz="950" b="0" i="0" dirty="0">
                <a:solidFill>
                  <a:srgbClr val="6B7890"/>
                </a:solidFill>
                <a:latin typeface="맑은 고딕"/>
                <a:ea typeface="맑은 고딕"/>
                <a:cs typeface="맑은 고딕"/>
              </a:rPr>
              <a:t>      n : G 값,  g = 9.80665 m/s²,  V : 속력</a:t>
            </a:r>
            <a:endParaRPr lang="ko-KR" altLang="en-US" sz="1000" dirty="0"/>
          </a:p>
        </p:txBody>
      </p:sp>
      <p:sp>
        <p:nvSpPr>
          <p:cNvPr id="10" name="대함 표적 Head"/>
          <p:cNvSpPr/>
          <p:nvPr/>
        </p:nvSpPr>
        <p:spPr>
          <a:xfrm>
            <a:off x="2035617" y="2504440"/>
            <a:ext cx="3545811" cy="304800"/>
          </a:xfrm>
          <a:prstGeom prst="rect">
            <a:avLst/>
          </a:prstGeom>
          <a:solidFill>
            <a:srgbClr val="EBF2FE"/>
          </a:solidFill>
          <a:ln>
            <a:noFill/>
          </a:ln>
          <a:effectLst/>
        </p:spPr>
        <p:txBody>
          <a:bodyPr rtlCol="0" anchor="ctr"/>
          <a:lstStyle/>
          <a:p>
            <a:pPr algn="ctr"/>
          </a:p>
        </p:txBody>
      </p:sp>
      <p:sp>
        <p:nvSpPr>
          <p:cNvPr id="11" name="대함 표적 Head Text"/>
          <p:cNvSpPr txBox="1"/>
          <p:nvPr/>
        </p:nvSpPr>
        <p:spPr>
          <a:xfrm>
            <a:off x="2010217" y="2504440"/>
            <a:ext cx="3596611" cy="3048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1" i="0" dirty="0">
                <a:solidFill>
                  <a:srgbClr val="2563EB"/>
                </a:solidFill>
                <a:latin typeface="맑은 고딕"/>
                <a:ea typeface="맑은 고딕"/>
                <a:cs typeface="맑은 고딕"/>
              </a:rPr>
              <a:t>대함 표적</a:t>
            </a:r>
            <a:r>
              <a:rPr lang="ko-KR" altLang="en-US" sz="1100" b="0" i="0" dirty="0">
                <a:solidFill>
                  <a:srgbClr val="3F4B63"/>
                </a:solidFill>
                <a:latin typeface="맑은 고딕"/>
                <a:ea typeface="맑은 고딕"/>
                <a:cs typeface="맑은 고딕"/>
              </a:rPr>
              <a:t>   V = 30 m/s</a:t>
            </a:r>
            <a:endParaRPr lang="ko-KR" altLang="en-US" sz="1000" dirty="0"/>
          </a:p>
        </p:txBody>
      </p:sp>
      <p:sp>
        <p:nvSpPr>
          <p:cNvPr id="12" name="대공 표적 Head"/>
          <p:cNvSpPr/>
          <p:nvPr/>
        </p:nvSpPr>
        <p:spPr>
          <a:xfrm>
            <a:off x="5632228" y="2504440"/>
            <a:ext cx="3545812" cy="304800"/>
          </a:xfrm>
          <a:prstGeom prst="rect">
            <a:avLst/>
          </a:prstGeom>
          <a:solidFill>
            <a:srgbClr val="FDEEEE"/>
          </a:solidFill>
          <a:ln>
            <a:noFill/>
          </a:ln>
          <a:effectLst/>
        </p:spPr>
        <p:txBody>
          <a:bodyPr rtlCol="0" anchor="ctr"/>
          <a:lstStyle/>
          <a:p>
            <a:pPr algn="ctr"/>
          </a:p>
        </p:txBody>
      </p:sp>
      <p:sp>
        <p:nvSpPr>
          <p:cNvPr id="13" name="대공 표적 Head Text"/>
          <p:cNvSpPr txBox="1"/>
          <p:nvPr/>
        </p:nvSpPr>
        <p:spPr>
          <a:xfrm>
            <a:off x="5606828" y="2504440"/>
            <a:ext cx="3596612" cy="3048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1" i="0" dirty="0">
                <a:solidFill>
                  <a:srgbClr val="DC2626"/>
                </a:solidFill>
                <a:latin typeface="맑은 고딕"/>
                <a:ea typeface="맑은 고딕"/>
                <a:cs typeface="맑은 고딕"/>
              </a:rPr>
              <a:t>대공 표적</a:t>
            </a:r>
            <a:r>
              <a:rPr lang="ko-KR" altLang="en-US" sz="1100" b="0" i="0" dirty="0">
                <a:solidFill>
                  <a:srgbClr val="3F4B63"/>
                </a:solidFill>
                <a:latin typeface="맑은 고딕"/>
                <a:ea typeface="맑은 고딕"/>
                <a:cs typeface="맑은 고딕"/>
              </a:rPr>
              <a:t>   V = 200 m/s</a:t>
            </a:r>
            <a:endParaRPr lang="ko-KR" altLang="en-US" sz="1000" dirty="0"/>
          </a:p>
        </p:txBody>
      </p:sp>
      <p:sp>
        <p:nvSpPr>
          <p:cNvPr id="14" name="Turn Table Head"/>
          <p:cNvSpPr/>
          <p:nvPr/>
        </p:nvSpPr>
        <p:spPr>
          <a:xfrm>
            <a:off x="640080" y="2834640"/>
            <a:ext cx="8563360" cy="304800"/>
          </a:xfrm>
          <a:prstGeom prst="rect">
            <a:avLst/>
          </a:prstGeom>
          <a:solidFill>
            <a:srgbClr val="1B2740"/>
          </a:solidFill>
          <a:ln>
            <a:noFill/>
          </a:ln>
          <a:effectLst/>
        </p:spPr>
        <p:txBody>
          <a:bodyPr rtlCol="0" anchor="ctr"/>
          <a:lstStyle/>
          <a:p>
            <a:pPr algn="ctr"/>
          </a:p>
        </p:txBody>
      </p:sp>
      <p:sp>
        <p:nvSpPr>
          <p:cNvPr id="15" name="Turn Table Head 1"/>
          <p:cNvSpPr txBox="1"/>
          <p:nvPr/>
        </p:nvSpPr>
        <p:spPr>
          <a:xfrm>
            <a:off x="640080" y="2834640"/>
            <a:ext cx="1370137" cy="3048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G 값</a:t>
            </a:r>
            <a:endParaRPr lang="ko-KR" altLang="en-US" sz="1000" dirty="0"/>
          </a:p>
        </p:txBody>
      </p:sp>
      <p:sp>
        <p:nvSpPr>
          <p:cNvPr id="16" name="Turn Table Head 2"/>
          <p:cNvSpPr txBox="1"/>
          <p:nvPr/>
        </p:nvSpPr>
        <p:spPr>
          <a:xfrm>
            <a:off x="2010217" y="2834640"/>
            <a:ext cx="1798305" cy="3048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45°</a:t>
            </a:r>
            <a:endParaRPr lang="ko-KR" altLang="en-US" sz="1000" dirty="0"/>
          </a:p>
        </p:txBody>
      </p:sp>
      <p:sp>
        <p:nvSpPr>
          <p:cNvPr id="17" name="Turn Table Head 3"/>
          <p:cNvSpPr txBox="1"/>
          <p:nvPr/>
        </p:nvSpPr>
        <p:spPr>
          <a:xfrm>
            <a:off x="3808522" y="2834640"/>
            <a:ext cx="1798306" cy="3048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90°</a:t>
            </a:r>
            <a:endParaRPr lang="ko-KR" altLang="en-US" sz="1000" dirty="0"/>
          </a:p>
        </p:txBody>
      </p:sp>
      <p:sp>
        <p:nvSpPr>
          <p:cNvPr id="18" name="Turn Table Head 4"/>
          <p:cNvSpPr txBox="1"/>
          <p:nvPr/>
        </p:nvSpPr>
        <p:spPr>
          <a:xfrm>
            <a:off x="5606828" y="2834640"/>
            <a:ext cx="1798306" cy="3048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90°</a:t>
            </a:r>
            <a:endParaRPr lang="ko-KR" altLang="en-US" sz="1000" dirty="0"/>
          </a:p>
        </p:txBody>
      </p:sp>
      <p:sp>
        <p:nvSpPr>
          <p:cNvPr id="19" name="Turn Table Head 5"/>
          <p:cNvSpPr txBox="1"/>
          <p:nvPr/>
        </p:nvSpPr>
        <p:spPr>
          <a:xfrm>
            <a:off x="7405134" y="2834640"/>
            <a:ext cx="1798306" cy="3048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150°</a:t>
            </a:r>
            <a:endParaRPr lang="ko-KR" altLang="en-US" sz="1000" dirty="0"/>
          </a:p>
        </p:txBody>
      </p:sp>
      <p:sp>
        <p:nvSpPr>
          <p:cNvPr id="20" name="Turn Table Row 1"/>
          <p:cNvSpPr/>
          <p:nvPr/>
        </p:nvSpPr>
        <p:spPr>
          <a:xfrm>
            <a:off x="640080" y="3139440"/>
            <a:ext cx="8563360" cy="342900"/>
          </a:xfrm>
          <a:prstGeom prst="rect">
            <a:avLst/>
          </a:prstGeom>
          <a:solidFill>
            <a:srgbClr val="EDF0F6"/>
          </a:solidFill>
          <a:ln>
            <a:noFill/>
          </a:ln>
          <a:effectLst/>
        </p:spPr>
        <p:txBody>
          <a:bodyPr rtlCol="0" anchor="ctr"/>
          <a:lstStyle/>
          <a:p>
            <a:pPr algn="ctr"/>
          </a:p>
        </p:txBody>
      </p:sp>
      <p:sp>
        <p:nvSpPr>
          <p:cNvPr id="21" name="Turn Table Cell 1-1"/>
          <p:cNvSpPr txBox="1"/>
          <p:nvPr/>
        </p:nvSpPr>
        <p:spPr>
          <a:xfrm>
            <a:off x="640080" y="3139440"/>
            <a:ext cx="1370137"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1" i="0" dirty="0">
                <a:solidFill>
                  <a:srgbClr val="1B2740"/>
                </a:solidFill>
                <a:latin typeface="맑은 고딕"/>
                <a:ea typeface="맑은 고딕"/>
                <a:cs typeface="맑은 고딕"/>
              </a:rPr>
              <a:t>1 G</a:t>
            </a:r>
            <a:endParaRPr lang="ko-KR" altLang="en-US" sz="1000" dirty="0"/>
          </a:p>
        </p:txBody>
      </p:sp>
      <p:sp>
        <p:nvSpPr>
          <p:cNvPr id="22" name="대함 표적 Use"/>
          <p:cNvSpPr/>
          <p:nvPr/>
        </p:nvSpPr>
        <p:spPr>
          <a:xfrm>
            <a:off x="2086417" y="3177540"/>
            <a:ext cx="1645905" cy="266700"/>
          </a:xfrm>
          <a:prstGeom prst="roundRect">
            <a:avLst>
              <a:gd name="adj" fmla="val 16000"/>
            </a:avLst>
          </a:prstGeom>
          <a:solidFill>
            <a:srgbClr val="EBF2FE"/>
          </a:solidFill>
          <a:ln w="12700">
            <a:solidFill>
              <a:srgbClr val="2563EB"/>
            </a:solidFill>
          </a:ln>
          <a:effectLst/>
        </p:spPr>
        <p:txBody>
          <a:bodyPr rtlCol="0" anchor="ctr"/>
          <a:lstStyle/>
          <a:p>
            <a:pPr algn="ctr"/>
          </a:p>
        </p:txBody>
      </p:sp>
      <p:sp>
        <p:nvSpPr>
          <p:cNvPr id="23" name="Turn Table Cell 1-2"/>
          <p:cNvSpPr txBox="1"/>
          <p:nvPr/>
        </p:nvSpPr>
        <p:spPr>
          <a:xfrm>
            <a:off x="2010217" y="3139440"/>
            <a:ext cx="1798305"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50" b="1" i="0" dirty="0">
                <a:solidFill>
                  <a:srgbClr val="2563EB"/>
                </a:solidFill>
                <a:latin typeface="맑은 고딕"/>
                <a:ea typeface="맑은 고딕"/>
                <a:cs typeface="맑은 고딕"/>
              </a:rPr>
              <a:t>2.4 s</a:t>
            </a:r>
            <a:endParaRPr lang="ko-KR" altLang="en-US" sz="1000" dirty="0"/>
          </a:p>
        </p:txBody>
      </p:sp>
      <p:sp>
        <p:nvSpPr>
          <p:cNvPr id="24" name="Turn Table Cell 1-3"/>
          <p:cNvSpPr txBox="1"/>
          <p:nvPr/>
        </p:nvSpPr>
        <p:spPr>
          <a:xfrm>
            <a:off x="3808522" y="3139440"/>
            <a:ext cx="1798306"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4.8 s</a:t>
            </a:r>
            <a:endParaRPr lang="ko-KR" altLang="en-US" sz="1000" dirty="0"/>
          </a:p>
        </p:txBody>
      </p:sp>
      <p:sp>
        <p:nvSpPr>
          <p:cNvPr id="25" name="Turn Table Cell 1-4"/>
          <p:cNvSpPr txBox="1"/>
          <p:nvPr/>
        </p:nvSpPr>
        <p:spPr>
          <a:xfrm>
            <a:off x="5606828" y="3139440"/>
            <a:ext cx="1798306"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32.0 s</a:t>
            </a:r>
            <a:endParaRPr lang="ko-KR" altLang="en-US" sz="1000" dirty="0"/>
          </a:p>
        </p:txBody>
      </p:sp>
      <p:sp>
        <p:nvSpPr>
          <p:cNvPr id="26" name="Turn Table Cell 1-5"/>
          <p:cNvSpPr txBox="1"/>
          <p:nvPr/>
        </p:nvSpPr>
        <p:spPr>
          <a:xfrm>
            <a:off x="7405134" y="3139440"/>
            <a:ext cx="1798306"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53.4 s</a:t>
            </a:r>
            <a:endParaRPr lang="ko-KR" altLang="en-US" sz="1000" dirty="0"/>
          </a:p>
        </p:txBody>
      </p:sp>
      <p:sp>
        <p:nvSpPr>
          <p:cNvPr id="27" name="Turn Table Cell 2-1"/>
          <p:cNvSpPr txBox="1"/>
          <p:nvPr/>
        </p:nvSpPr>
        <p:spPr>
          <a:xfrm>
            <a:off x="640080" y="3482340"/>
            <a:ext cx="1370137"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1" i="0" dirty="0">
                <a:solidFill>
                  <a:srgbClr val="1B2740"/>
                </a:solidFill>
                <a:latin typeface="맑은 고딕"/>
                <a:ea typeface="맑은 고딕"/>
                <a:cs typeface="맑은 고딕"/>
              </a:rPr>
              <a:t>2 G</a:t>
            </a:r>
            <a:endParaRPr lang="ko-KR" altLang="en-US" sz="1000" dirty="0"/>
          </a:p>
        </p:txBody>
      </p:sp>
      <p:sp>
        <p:nvSpPr>
          <p:cNvPr id="28" name="Turn Table Cell 2-2"/>
          <p:cNvSpPr txBox="1"/>
          <p:nvPr/>
        </p:nvSpPr>
        <p:spPr>
          <a:xfrm>
            <a:off x="2010217" y="3482340"/>
            <a:ext cx="1798305"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1.2 s</a:t>
            </a:r>
            <a:endParaRPr lang="ko-KR" altLang="en-US" sz="1000" dirty="0"/>
          </a:p>
        </p:txBody>
      </p:sp>
      <p:sp>
        <p:nvSpPr>
          <p:cNvPr id="29" name="Turn Table Cell 2-3"/>
          <p:cNvSpPr txBox="1"/>
          <p:nvPr/>
        </p:nvSpPr>
        <p:spPr>
          <a:xfrm>
            <a:off x="3808522" y="3482340"/>
            <a:ext cx="1798306"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2.4 s</a:t>
            </a:r>
            <a:endParaRPr lang="ko-KR" altLang="en-US" sz="1000" dirty="0"/>
          </a:p>
        </p:txBody>
      </p:sp>
      <p:sp>
        <p:nvSpPr>
          <p:cNvPr id="30" name="Turn Table Cell 2-4"/>
          <p:cNvSpPr txBox="1"/>
          <p:nvPr/>
        </p:nvSpPr>
        <p:spPr>
          <a:xfrm>
            <a:off x="5606828" y="3482340"/>
            <a:ext cx="1798306"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16.0 s</a:t>
            </a:r>
            <a:endParaRPr lang="ko-KR" altLang="en-US" sz="1000" dirty="0"/>
          </a:p>
        </p:txBody>
      </p:sp>
      <p:sp>
        <p:nvSpPr>
          <p:cNvPr id="31" name="Turn Table Cell 2-5"/>
          <p:cNvSpPr txBox="1"/>
          <p:nvPr/>
        </p:nvSpPr>
        <p:spPr>
          <a:xfrm>
            <a:off x="7405134" y="3482340"/>
            <a:ext cx="1798306"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26.7 s</a:t>
            </a:r>
            <a:endParaRPr lang="ko-KR" altLang="en-US" sz="1000" dirty="0"/>
          </a:p>
        </p:txBody>
      </p:sp>
      <p:sp>
        <p:nvSpPr>
          <p:cNvPr id="32" name="Turn Table Row 3"/>
          <p:cNvSpPr/>
          <p:nvPr/>
        </p:nvSpPr>
        <p:spPr>
          <a:xfrm>
            <a:off x="640080" y="3825240"/>
            <a:ext cx="8563360" cy="342900"/>
          </a:xfrm>
          <a:prstGeom prst="rect">
            <a:avLst/>
          </a:prstGeom>
          <a:solidFill>
            <a:srgbClr val="EDF0F6"/>
          </a:solidFill>
          <a:ln>
            <a:noFill/>
          </a:ln>
          <a:effectLst/>
        </p:spPr>
        <p:txBody>
          <a:bodyPr rtlCol="0" anchor="ctr"/>
          <a:lstStyle/>
          <a:p>
            <a:pPr algn="ctr"/>
          </a:p>
        </p:txBody>
      </p:sp>
      <p:sp>
        <p:nvSpPr>
          <p:cNvPr id="33" name="Turn Table Cell 3-1"/>
          <p:cNvSpPr txBox="1"/>
          <p:nvPr/>
        </p:nvSpPr>
        <p:spPr>
          <a:xfrm>
            <a:off x="640080" y="3825240"/>
            <a:ext cx="1370137"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1" i="0" dirty="0">
                <a:solidFill>
                  <a:srgbClr val="1B2740"/>
                </a:solidFill>
                <a:latin typeface="맑은 고딕"/>
                <a:ea typeface="맑은 고딕"/>
                <a:cs typeface="맑은 고딕"/>
              </a:rPr>
              <a:t>4 G</a:t>
            </a:r>
            <a:endParaRPr lang="ko-KR" altLang="en-US" sz="1000" dirty="0"/>
          </a:p>
        </p:txBody>
      </p:sp>
      <p:sp>
        <p:nvSpPr>
          <p:cNvPr id="34" name="Turn Table Cell 3-2"/>
          <p:cNvSpPr txBox="1"/>
          <p:nvPr/>
        </p:nvSpPr>
        <p:spPr>
          <a:xfrm>
            <a:off x="2010217" y="3825240"/>
            <a:ext cx="1798305"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0.6 s</a:t>
            </a:r>
            <a:endParaRPr lang="ko-KR" altLang="en-US" sz="1000" dirty="0"/>
          </a:p>
        </p:txBody>
      </p:sp>
      <p:sp>
        <p:nvSpPr>
          <p:cNvPr id="35" name="Turn Table Cell 3-3"/>
          <p:cNvSpPr txBox="1"/>
          <p:nvPr/>
        </p:nvSpPr>
        <p:spPr>
          <a:xfrm>
            <a:off x="3808522" y="3825240"/>
            <a:ext cx="1798306"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1.2 s</a:t>
            </a:r>
            <a:endParaRPr lang="ko-KR" altLang="en-US" sz="1000" dirty="0"/>
          </a:p>
        </p:txBody>
      </p:sp>
      <p:sp>
        <p:nvSpPr>
          <p:cNvPr id="36" name="Turn Table Cell 3-4"/>
          <p:cNvSpPr txBox="1"/>
          <p:nvPr/>
        </p:nvSpPr>
        <p:spPr>
          <a:xfrm>
            <a:off x="5606828" y="3825240"/>
            <a:ext cx="1798306"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8.0 s</a:t>
            </a:r>
            <a:endParaRPr lang="ko-KR" altLang="en-US" sz="1000" dirty="0"/>
          </a:p>
        </p:txBody>
      </p:sp>
      <p:sp>
        <p:nvSpPr>
          <p:cNvPr id="37" name="Turn Table Cell 3-5"/>
          <p:cNvSpPr txBox="1"/>
          <p:nvPr/>
        </p:nvSpPr>
        <p:spPr>
          <a:xfrm>
            <a:off x="7405134" y="3825240"/>
            <a:ext cx="1798306"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13.3 s</a:t>
            </a:r>
            <a:endParaRPr lang="ko-KR" altLang="en-US" sz="1000" dirty="0"/>
          </a:p>
        </p:txBody>
      </p:sp>
      <p:sp>
        <p:nvSpPr>
          <p:cNvPr id="38" name="Turn Table Cell 4-1"/>
          <p:cNvSpPr txBox="1"/>
          <p:nvPr/>
        </p:nvSpPr>
        <p:spPr>
          <a:xfrm>
            <a:off x="640080" y="4168140"/>
            <a:ext cx="1370137"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1" i="0" dirty="0">
                <a:solidFill>
                  <a:srgbClr val="1B2740"/>
                </a:solidFill>
                <a:latin typeface="맑은 고딕"/>
                <a:ea typeface="맑은 고딕"/>
                <a:cs typeface="맑은 고딕"/>
              </a:rPr>
              <a:t>8 G</a:t>
            </a:r>
            <a:endParaRPr lang="ko-KR" altLang="en-US" sz="1000" dirty="0"/>
          </a:p>
        </p:txBody>
      </p:sp>
      <p:sp>
        <p:nvSpPr>
          <p:cNvPr id="39" name="Turn Table Cell 4-2"/>
          <p:cNvSpPr txBox="1"/>
          <p:nvPr/>
        </p:nvSpPr>
        <p:spPr>
          <a:xfrm>
            <a:off x="2010217" y="4168140"/>
            <a:ext cx="1798305"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0.3 s</a:t>
            </a:r>
            <a:endParaRPr lang="ko-KR" altLang="en-US" sz="1000" dirty="0"/>
          </a:p>
        </p:txBody>
      </p:sp>
      <p:sp>
        <p:nvSpPr>
          <p:cNvPr id="40" name="Turn Table Cell 4-3"/>
          <p:cNvSpPr txBox="1"/>
          <p:nvPr/>
        </p:nvSpPr>
        <p:spPr>
          <a:xfrm>
            <a:off x="3808522" y="4168140"/>
            <a:ext cx="1798306"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0.6 s</a:t>
            </a:r>
            <a:endParaRPr lang="ko-KR" altLang="en-US" sz="1000" dirty="0"/>
          </a:p>
        </p:txBody>
      </p:sp>
      <p:sp>
        <p:nvSpPr>
          <p:cNvPr id="41" name="대공 표적 Use"/>
          <p:cNvSpPr/>
          <p:nvPr/>
        </p:nvSpPr>
        <p:spPr>
          <a:xfrm>
            <a:off x="5683028" y="4206240"/>
            <a:ext cx="3444212" cy="266700"/>
          </a:xfrm>
          <a:prstGeom prst="roundRect">
            <a:avLst>
              <a:gd name="adj" fmla="val 16000"/>
            </a:avLst>
          </a:prstGeom>
          <a:solidFill>
            <a:srgbClr val="FDEEEE"/>
          </a:solidFill>
          <a:ln w="12700">
            <a:solidFill>
              <a:srgbClr val="DC2626"/>
            </a:solidFill>
          </a:ln>
          <a:effectLst/>
        </p:spPr>
        <p:txBody>
          <a:bodyPr rtlCol="0" anchor="ctr"/>
          <a:lstStyle/>
          <a:p>
            <a:pPr algn="ctr"/>
          </a:p>
        </p:txBody>
      </p:sp>
      <p:sp>
        <p:nvSpPr>
          <p:cNvPr id="42" name="Turn Table Cell 4-4"/>
          <p:cNvSpPr txBox="1"/>
          <p:nvPr/>
        </p:nvSpPr>
        <p:spPr>
          <a:xfrm>
            <a:off x="5606828" y="4168140"/>
            <a:ext cx="1798306"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50" b="1" i="0" dirty="0">
                <a:solidFill>
                  <a:srgbClr val="DC2626"/>
                </a:solidFill>
                <a:latin typeface="맑은 고딕"/>
                <a:ea typeface="맑은 고딕"/>
                <a:cs typeface="맑은 고딕"/>
              </a:rPr>
              <a:t>4.0 s</a:t>
            </a:r>
            <a:endParaRPr lang="ko-KR" altLang="en-US" sz="1000" dirty="0"/>
          </a:p>
        </p:txBody>
      </p:sp>
      <p:sp>
        <p:nvSpPr>
          <p:cNvPr id="43" name="Turn Table Cell 4-5"/>
          <p:cNvSpPr txBox="1"/>
          <p:nvPr/>
        </p:nvSpPr>
        <p:spPr>
          <a:xfrm>
            <a:off x="7405134" y="4168140"/>
            <a:ext cx="1798306"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50" b="1" i="0" dirty="0">
                <a:solidFill>
                  <a:srgbClr val="DC2626"/>
                </a:solidFill>
                <a:latin typeface="맑은 고딕"/>
                <a:ea typeface="맑은 고딕"/>
                <a:cs typeface="맑은 고딕"/>
              </a:rPr>
              <a:t>6.7 s</a:t>
            </a:r>
            <a:endParaRPr lang="ko-KR" altLang="en-US" sz="1000" dirty="0"/>
          </a:p>
        </p:txBody>
      </p:sp>
      <p:sp>
        <p:nvSpPr>
          <p:cNvPr id="44" name="Turn Table Divider"/>
          <p:cNvSpPr/>
          <p:nvPr/>
        </p:nvSpPr>
        <p:spPr>
          <a:xfrm>
            <a:off x="5600478" y="3139440"/>
            <a:ext cx="12700" cy="1371600"/>
          </a:xfrm>
          <a:prstGeom prst="rect">
            <a:avLst/>
          </a:prstGeom>
          <a:solidFill>
            <a:srgbClr val="D2D9E5"/>
          </a:solidFill>
          <a:ln>
            <a:noFill/>
          </a:ln>
          <a:effectLst/>
        </p:spPr>
        <p:txBody>
          <a:bodyPr rtlCol="0" anchor="ctr"/>
          <a:lstStyle/>
          <a:p>
            <a:pPr algn="ctr"/>
          </a:p>
        </p:txBody>
      </p:sp>
      <p:sp>
        <p:nvSpPr>
          <p:cNvPr id="45" name="Maneuver Title"/>
          <p:cNvSpPr txBox="1"/>
          <p:nvPr/>
        </p:nvSpPr>
        <p:spPr>
          <a:xfrm>
            <a:off x="640080" y="4688840"/>
            <a:ext cx="8563360" cy="2540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250" b="1" i="0" dirty="0">
                <a:solidFill>
                  <a:srgbClr val="1B2740"/>
                </a:solidFill>
                <a:latin typeface="맑은 고딕"/>
                <a:ea typeface="맑은 고딕"/>
                <a:cs typeface="맑은 고딕"/>
              </a:rPr>
              <a:t>넣은 기동</a:t>
            </a:r>
            <a:endParaRPr lang="ko-KR" altLang="en-US" sz="1000" dirty="0"/>
          </a:p>
        </p:txBody>
      </p:sp>
      <p:sp>
        <p:nvSpPr>
          <p:cNvPr id="46" name="Maneuver Legend"/>
          <p:cNvSpPr txBox="1"/>
          <p:nvPr/>
        </p:nvSpPr>
        <p:spPr>
          <a:xfrm>
            <a:off x="640080" y="4688840"/>
            <a:ext cx="8563360" cy="2540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950" b="0" i="0" dirty="0">
                <a:solidFill>
                  <a:srgbClr val="6B7890"/>
                </a:solidFill>
                <a:latin typeface="맑은 고딕"/>
                <a:ea typeface="맑은 고딕"/>
                <a:cs typeface="맑은 고딕"/>
              </a:rPr>
              <a:t>막대: 선회 구간,  위: 회전 방향 · 각도,  아래: 선회 뒤 진행 방향</a:t>
            </a:r>
            <a:endParaRPr lang="ko-KR" altLang="en-US" sz="1000" dirty="0"/>
          </a:p>
        </p:txBody>
      </p:sp>
      <p:sp>
        <p:nvSpPr>
          <p:cNvPr id="47" name="Maneuver Grid 0"/>
          <p:cNvSpPr/>
          <p:nvPr/>
        </p:nvSpPr>
        <p:spPr>
          <a:xfrm>
            <a:off x="2132454" y="4942840"/>
            <a:ext cx="9525" cy="1016000"/>
          </a:xfrm>
          <a:prstGeom prst="rect">
            <a:avLst/>
          </a:prstGeom>
          <a:solidFill>
            <a:srgbClr val="E3E8EF"/>
          </a:solidFill>
          <a:ln>
            <a:noFill/>
          </a:ln>
          <a:effectLst/>
        </p:spPr>
        <p:txBody>
          <a:bodyPr rtlCol="0" anchor="ctr"/>
          <a:lstStyle/>
          <a:p>
            <a:pPr algn="ctr"/>
          </a:p>
        </p:txBody>
      </p:sp>
      <p:sp>
        <p:nvSpPr>
          <p:cNvPr id="48" name="Maneuver Grid 1"/>
          <p:cNvSpPr/>
          <p:nvPr/>
        </p:nvSpPr>
        <p:spPr>
          <a:xfrm>
            <a:off x="3288991" y="4942840"/>
            <a:ext cx="9525" cy="1016000"/>
          </a:xfrm>
          <a:prstGeom prst="rect">
            <a:avLst/>
          </a:prstGeom>
          <a:solidFill>
            <a:srgbClr val="E3E8EF"/>
          </a:solidFill>
          <a:ln>
            <a:noFill/>
          </a:ln>
          <a:effectLst/>
        </p:spPr>
        <p:txBody>
          <a:bodyPr rtlCol="0" anchor="ctr"/>
          <a:lstStyle/>
          <a:p>
            <a:pPr algn="ctr"/>
          </a:p>
        </p:txBody>
      </p:sp>
      <p:sp>
        <p:nvSpPr>
          <p:cNvPr id="49" name="Maneuver Grid 2"/>
          <p:cNvSpPr/>
          <p:nvPr/>
        </p:nvSpPr>
        <p:spPr>
          <a:xfrm>
            <a:off x="4445528" y="4942840"/>
            <a:ext cx="9525" cy="1016000"/>
          </a:xfrm>
          <a:prstGeom prst="rect">
            <a:avLst/>
          </a:prstGeom>
          <a:solidFill>
            <a:srgbClr val="E3E8EF"/>
          </a:solidFill>
          <a:ln>
            <a:noFill/>
          </a:ln>
          <a:effectLst/>
        </p:spPr>
        <p:txBody>
          <a:bodyPr rtlCol="0" anchor="ctr"/>
          <a:lstStyle/>
          <a:p>
            <a:pPr algn="ctr"/>
          </a:p>
        </p:txBody>
      </p:sp>
      <p:sp>
        <p:nvSpPr>
          <p:cNvPr id="50" name="Maneuver Grid 3"/>
          <p:cNvSpPr/>
          <p:nvPr/>
        </p:nvSpPr>
        <p:spPr>
          <a:xfrm>
            <a:off x="5602065" y="4942840"/>
            <a:ext cx="9525" cy="1016000"/>
          </a:xfrm>
          <a:prstGeom prst="rect">
            <a:avLst/>
          </a:prstGeom>
          <a:solidFill>
            <a:srgbClr val="E3E8EF"/>
          </a:solidFill>
          <a:ln>
            <a:noFill/>
          </a:ln>
          <a:effectLst/>
        </p:spPr>
        <p:txBody>
          <a:bodyPr rtlCol="0" anchor="ctr"/>
          <a:lstStyle/>
          <a:p>
            <a:pPr algn="ctr"/>
          </a:p>
        </p:txBody>
      </p:sp>
      <p:sp>
        <p:nvSpPr>
          <p:cNvPr id="51" name="Maneuver Grid 4"/>
          <p:cNvSpPr/>
          <p:nvPr/>
        </p:nvSpPr>
        <p:spPr>
          <a:xfrm>
            <a:off x="6758602" y="4942840"/>
            <a:ext cx="9525" cy="1016000"/>
          </a:xfrm>
          <a:prstGeom prst="rect">
            <a:avLst/>
          </a:prstGeom>
          <a:solidFill>
            <a:srgbClr val="E3E8EF"/>
          </a:solidFill>
          <a:ln>
            <a:noFill/>
          </a:ln>
          <a:effectLst/>
        </p:spPr>
        <p:txBody>
          <a:bodyPr rtlCol="0" anchor="ctr"/>
          <a:lstStyle/>
          <a:p>
            <a:pPr algn="ctr"/>
          </a:p>
        </p:txBody>
      </p:sp>
      <p:sp>
        <p:nvSpPr>
          <p:cNvPr id="52" name="Maneuver Grid 5"/>
          <p:cNvSpPr/>
          <p:nvPr/>
        </p:nvSpPr>
        <p:spPr>
          <a:xfrm>
            <a:off x="7915139" y="4942840"/>
            <a:ext cx="9525" cy="1016000"/>
          </a:xfrm>
          <a:prstGeom prst="rect">
            <a:avLst/>
          </a:prstGeom>
          <a:solidFill>
            <a:srgbClr val="E3E8EF"/>
          </a:solidFill>
          <a:ln>
            <a:noFill/>
          </a:ln>
          <a:effectLst/>
        </p:spPr>
        <p:txBody>
          <a:bodyPr rtlCol="0" anchor="ctr"/>
          <a:lstStyle/>
          <a:p>
            <a:pPr algn="ctr"/>
          </a:p>
        </p:txBody>
      </p:sp>
      <p:sp>
        <p:nvSpPr>
          <p:cNvPr id="53" name="Maneuver Grid 6"/>
          <p:cNvSpPr/>
          <p:nvPr/>
        </p:nvSpPr>
        <p:spPr>
          <a:xfrm>
            <a:off x="9071677" y="4942840"/>
            <a:ext cx="9525" cy="1016000"/>
          </a:xfrm>
          <a:prstGeom prst="rect">
            <a:avLst/>
          </a:prstGeom>
          <a:solidFill>
            <a:srgbClr val="E3E8EF"/>
          </a:solidFill>
          <a:ln>
            <a:noFill/>
          </a:ln>
          <a:effectLst/>
        </p:spPr>
        <p:txBody>
          <a:bodyPr rtlCol="0" anchor="ctr"/>
          <a:lstStyle/>
          <a:p>
            <a:pPr algn="ctr"/>
          </a:p>
        </p:txBody>
      </p:sp>
      <p:sp>
        <p:nvSpPr>
          <p:cNvPr id="54" name="대함 표적 Strip Name"/>
          <p:cNvSpPr txBox="1"/>
          <p:nvPr/>
        </p:nvSpPr>
        <p:spPr>
          <a:xfrm>
            <a:off x="640080" y="5019040"/>
            <a:ext cx="1370137" cy="1905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100" b="1" i="0" dirty="0">
                <a:solidFill>
                  <a:srgbClr val="2563EB"/>
                </a:solidFill>
                <a:latin typeface="맑은 고딕"/>
                <a:ea typeface="맑은 고딕"/>
                <a:cs typeface="맑은 고딕"/>
              </a:rPr>
              <a:t>대함 표적</a:t>
            </a:r>
            <a:endParaRPr lang="ko-KR" altLang="en-US" sz="1000" dirty="0"/>
          </a:p>
        </p:txBody>
      </p:sp>
      <p:sp>
        <p:nvSpPr>
          <p:cNvPr id="55" name="대함 표적 Strip Sub"/>
          <p:cNvSpPr txBox="1"/>
          <p:nvPr/>
        </p:nvSpPr>
        <p:spPr>
          <a:xfrm>
            <a:off x="640080" y="5209540"/>
            <a:ext cx="1370137" cy="1651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1 G, 서쪽 출발</a:t>
            </a:r>
            <a:endParaRPr lang="ko-KR" altLang="en-US" sz="1000" dirty="0"/>
          </a:p>
        </p:txBody>
      </p:sp>
      <p:sp>
        <p:nvSpPr>
          <p:cNvPr id="56" name="대함 표적 Strip Line"/>
          <p:cNvSpPr/>
          <p:nvPr/>
        </p:nvSpPr>
        <p:spPr>
          <a:xfrm>
            <a:off x="2137217" y="5190490"/>
            <a:ext cx="6939223" cy="12700"/>
          </a:xfrm>
          <a:prstGeom prst="rect">
            <a:avLst/>
          </a:prstGeom>
          <a:solidFill>
            <a:srgbClr val="D2D9E5"/>
          </a:solidFill>
          <a:ln>
            <a:noFill/>
          </a:ln>
          <a:effectLst/>
        </p:spPr>
        <p:txBody>
          <a:bodyPr rtlCol="0" anchor="ctr"/>
          <a:lstStyle/>
          <a:p>
            <a:pPr algn="ctr"/>
          </a:p>
        </p:txBody>
      </p:sp>
      <p:sp>
        <p:nvSpPr>
          <p:cNvPr id="57" name="대함 표적 Turn 1"/>
          <p:cNvSpPr/>
          <p:nvPr/>
        </p:nvSpPr>
        <p:spPr>
          <a:xfrm>
            <a:off x="3062446" y="5133340"/>
            <a:ext cx="277569" cy="127000"/>
          </a:xfrm>
          <a:prstGeom prst="roundRect">
            <a:avLst>
              <a:gd name="adj" fmla="val 30000"/>
            </a:avLst>
          </a:prstGeom>
          <a:solidFill>
            <a:srgbClr val="EBF2FE"/>
          </a:solidFill>
          <a:ln w="12700">
            <a:solidFill>
              <a:srgbClr val="2563EB"/>
            </a:solidFill>
          </a:ln>
          <a:effectLst/>
        </p:spPr>
        <p:txBody>
          <a:bodyPr rtlCol="0" anchor="ctr"/>
          <a:lstStyle/>
          <a:p>
            <a:pPr algn="ctr"/>
          </a:p>
        </p:txBody>
      </p:sp>
      <p:sp>
        <p:nvSpPr>
          <p:cNvPr id="58" name="대함 표적 Turn 1 Angle"/>
          <p:cNvSpPr txBox="1"/>
          <p:nvPr/>
        </p:nvSpPr>
        <p:spPr>
          <a:xfrm>
            <a:off x="2845630" y="49682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2563EB"/>
                </a:solidFill>
                <a:latin typeface="맑은 고딕"/>
                <a:ea typeface="맑은 고딕"/>
                <a:cs typeface="맑은 고딕"/>
              </a:rPr>
              <a:t>좌 45°</a:t>
            </a:r>
            <a:endParaRPr lang="ko-KR" altLang="en-US" sz="1000" dirty="0"/>
          </a:p>
        </p:txBody>
      </p:sp>
      <p:sp>
        <p:nvSpPr>
          <p:cNvPr id="59" name="대함 표적 Turn 1 Heading"/>
          <p:cNvSpPr txBox="1"/>
          <p:nvPr/>
        </p:nvSpPr>
        <p:spPr>
          <a:xfrm>
            <a:off x="2845630" y="52730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3F4B63"/>
                </a:solidFill>
                <a:latin typeface="맑은 고딕"/>
                <a:ea typeface="맑은 고딕"/>
                <a:cs typeface="맑은 고딕"/>
              </a:rPr>
              <a:t>→ 남서</a:t>
            </a:r>
            <a:endParaRPr lang="ko-KR" altLang="en-US" sz="1000" dirty="0"/>
          </a:p>
        </p:txBody>
      </p:sp>
      <p:sp>
        <p:nvSpPr>
          <p:cNvPr id="60" name="대함 표적 Turn 2"/>
          <p:cNvSpPr/>
          <p:nvPr/>
        </p:nvSpPr>
        <p:spPr>
          <a:xfrm>
            <a:off x="3964545" y="5133340"/>
            <a:ext cx="277569" cy="127000"/>
          </a:xfrm>
          <a:prstGeom prst="roundRect">
            <a:avLst>
              <a:gd name="adj" fmla="val 30000"/>
            </a:avLst>
          </a:prstGeom>
          <a:solidFill>
            <a:srgbClr val="EBF2FE"/>
          </a:solidFill>
          <a:ln w="12700">
            <a:solidFill>
              <a:srgbClr val="2563EB"/>
            </a:solidFill>
          </a:ln>
          <a:effectLst/>
        </p:spPr>
        <p:txBody>
          <a:bodyPr rtlCol="0" anchor="ctr"/>
          <a:lstStyle/>
          <a:p>
            <a:pPr algn="ctr"/>
          </a:p>
        </p:txBody>
      </p:sp>
      <p:sp>
        <p:nvSpPr>
          <p:cNvPr id="61" name="대함 표적 Turn 2 Angle"/>
          <p:cNvSpPr txBox="1"/>
          <p:nvPr/>
        </p:nvSpPr>
        <p:spPr>
          <a:xfrm>
            <a:off x="3747729" y="49682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2563EB"/>
                </a:solidFill>
                <a:latin typeface="맑은 고딕"/>
                <a:ea typeface="맑은 고딕"/>
                <a:cs typeface="맑은 고딕"/>
              </a:rPr>
              <a:t>우 45°</a:t>
            </a:r>
            <a:endParaRPr lang="ko-KR" altLang="en-US" sz="1000" dirty="0"/>
          </a:p>
        </p:txBody>
      </p:sp>
      <p:sp>
        <p:nvSpPr>
          <p:cNvPr id="62" name="대함 표적 Turn 2 Heading"/>
          <p:cNvSpPr txBox="1"/>
          <p:nvPr/>
        </p:nvSpPr>
        <p:spPr>
          <a:xfrm>
            <a:off x="3747729" y="52730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3F4B63"/>
                </a:solidFill>
                <a:latin typeface="맑은 고딕"/>
                <a:ea typeface="맑은 고딕"/>
                <a:cs typeface="맑은 고딕"/>
              </a:rPr>
              <a:t>→ 서</a:t>
            </a:r>
            <a:endParaRPr lang="ko-KR" altLang="en-US" sz="1000" dirty="0"/>
          </a:p>
        </p:txBody>
      </p:sp>
      <p:sp>
        <p:nvSpPr>
          <p:cNvPr id="63" name="대함 표적 Turn 3"/>
          <p:cNvSpPr/>
          <p:nvPr/>
        </p:nvSpPr>
        <p:spPr>
          <a:xfrm>
            <a:off x="6983107" y="5133340"/>
            <a:ext cx="277569" cy="127000"/>
          </a:xfrm>
          <a:prstGeom prst="roundRect">
            <a:avLst>
              <a:gd name="adj" fmla="val 30000"/>
            </a:avLst>
          </a:prstGeom>
          <a:solidFill>
            <a:srgbClr val="EBF2FE"/>
          </a:solidFill>
          <a:ln w="12700">
            <a:solidFill>
              <a:srgbClr val="2563EB"/>
            </a:solidFill>
          </a:ln>
          <a:effectLst/>
        </p:spPr>
        <p:txBody>
          <a:bodyPr rtlCol="0" anchor="ctr"/>
          <a:lstStyle/>
          <a:p>
            <a:pPr algn="ctr"/>
          </a:p>
        </p:txBody>
      </p:sp>
      <p:sp>
        <p:nvSpPr>
          <p:cNvPr id="64" name="대함 표적 Turn 3 Angle"/>
          <p:cNvSpPr txBox="1"/>
          <p:nvPr/>
        </p:nvSpPr>
        <p:spPr>
          <a:xfrm>
            <a:off x="6766291" y="49682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2563EB"/>
                </a:solidFill>
                <a:latin typeface="맑은 고딕"/>
                <a:ea typeface="맑은 고딕"/>
                <a:cs typeface="맑은 고딕"/>
              </a:rPr>
              <a:t>우 45°</a:t>
            </a:r>
            <a:endParaRPr lang="ko-KR" altLang="en-US" sz="1000" dirty="0"/>
          </a:p>
        </p:txBody>
      </p:sp>
      <p:sp>
        <p:nvSpPr>
          <p:cNvPr id="65" name="대함 표적 Turn 3 Heading"/>
          <p:cNvSpPr txBox="1"/>
          <p:nvPr/>
        </p:nvSpPr>
        <p:spPr>
          <a:xfrm>
            <a:off x="6766291" y="52730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3F4B63"/>
                </a:solidFill>
                <a:latin typeface="맑은 고딕"/>
                <a:ea typeface="맑은 고딕"/>
                <a:cs typeface="맑은 고딕"/>
              </a:rPr>
              <a:t>→ 북서</a:t>
            </a:r>
            <a:endParaRPr lang="ko-KR" altLang="en-US" sz="1000" dirty="0"/>
          </a:p>
        </p:txBody>
      </p:sp>
      <p:sp>
        <p:nvSpPr>
          <p:cNvPr id="66" name="대함 표적 Turn 4"/>
          <p:cNvSpPr/>
          <p:nvPr/>
        </p:nvSpPr>
        <p:spPr>
          <a:xfrm>
            <a:off x="7885206" y="5133340"/>
            <a:ext cx="277569" cy="127000"/>
          </a:xfrm>
          <a:prstGeom prst="roundRect">
            <a:avLst>
              <a:gd name="adj" fmla="val 30000"/>
            </a:avLst>
          </a:prstGeom>
          <a:solidFill>
            <a:srgbClr val="EBF2FE"/>
          </a:solidFill>
          <a:ln w="12700">
            <a:solidFill>
              <a:srgbClr val="2563EB"/>
            </a:solidFill>
          </a:ln>
          <a:effectLst/>
        </p:spPr>
        <p:txBody>
          <a:bodyPr rtlCol="0" anchor="ctr"/>
          <a:lstStyle/>
          <a:p>
            <a:pPr algn="ctr"/>
          </a:p>
        </p:txBody>
      </p:sp>
      <p:sp>
        <p:nvSpPr>
          <p:cNvPr id="67" name="대함 표적 Turn 4 Angle"/>
          <p:cNvSpPr txBox="1"/>
          <p:nvPr/>
        </p:nvSpPr>
        <p:spPr>
          <a:xfrm>
            <a:off x="7668390" y="49682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2563EB"/>
                </a:solidFill>
                <a:latin typeface="맑은 고딕"/>
                <a:ea typeface="맑은 고딕"/>
                <a:cs typeface="맑은 고딕"/>
              </a:rPr>
              <a:t>좌 45°</a:t>
            </a:r>
            <a:endParaRPr lang="ko-KR" altLang="en-US" sz="1000" dirty="0"/>
          </a:p>
        </p:txBody>
      </p:sp>
      <p:sp>
        <p:nvSpPr>
          <p:cNvPr id="68" name="대함 표적 Turn 4 Heading"/>
          <p:cNvSpPr txBox="1"/>
          <p:nvPr/>
        </p:nvSpPr>
        <p:spPr>
          <a:xfrm>
            <a:off x="7668390" y="52730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3F4B63"/>
                </a:solidFill>
                <a:latin typeface="맑은 고딕"/>
                <a:ea typeface="맑은 고딕"/>
                <a:cs typeface="맑은 고딕"/>
              </a:rPr>
              <a:t>→ 서</a:t>
            </a:r>
            <a:endParaRPr lang="ko-KR" altLang="en-US" sz="1000" dirty="0"/>
          </a:p>
        </p:txBody>
      </p:sp>
      <p:sp>
        <p:nvSpPr>
          <p:cNvPr id="69" name="대공 표적 Strip Name"/>
          <p:cNvSpPr txBox="1"/>
          <p:nvPr/>
        </p:nvSpPr>
        <p:spPr>
          <a:xfrm>
            <a:off x="640080" y="5527040"/>
            <a:ext cx="1370137" cy="1905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100" b="1" i="0" dirty="0">
                <a:solidFill>
                  <a:srgbClr val="DC2626"/>
                </a:solidFill>
                <a:latin typeface="맑은 고딕"/>
                <a:ea typeface="맑은 고딕"/>
                <a:cs typeface="맑은 고딕"/>
              </a:rPr>
              <a:t>대공 표적</a:t>
            </a:r>
            <a:endParaRPr lang="ko-KR" altLang="en-US" sz="1000" dirty="0"/>
          </a:p>
        </p:txBody>
      </p:sp>
      <p:sp>
        <p:nvSpPr>
          <p:cNvPr id="70" name="대공 표적 Strip Sub"/>
          <p:cNvSpPr txBox="1"/>
          <p:nvPr/>
        </p:nvSpPr>
        <p:spPr>
          <a:xfrm>
            <a:off x="640080" y="5717540"/>
            <a:ext cx="1370137" cy="1651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8 G, 남쪽 출발</a:t>
            </a:r>
            <a:endParaRPr lang="ko-KR" altLang="en-US" sz="1000" dirty="0"/>
          </a:p>
        </p:txBody>
      </p:sp>
      <p:sp>
        <p:nvSpPr>
          <p:cNvPr id="71" name="대공 표적 Strip Line"/>
          <p:cNvSpPr/>
          <p:nvPr/>
        </p:nvSpPr>
        <p:spPr>
          <a:xfrm>
            <a:off x="2137217" y="5698490"/>
            <a:ext cx="6939223" cy="12700"/>
          </a:xfrm>
          <a:prstGeom prst="rect">
            <a:avLst/>
          </a:prstGeom>
          <a:solidFill>
            <a:srgbClr val="D2D9E5"/>
          </a:solidFill>
          <a:ln>
            <a:noFill/>
          </a:ln>
          <a:effectLst/>
        </p:spPr>
        <p:txBody>
          <a:bodyPr rtlCol="0" anchor="ctr"/>
          <a:lstStyle/>
          <a:p>
            <a:pPr algn="ctr"/>
          </a:p>
        </p:txBody>
      </p:sp>
      <p:sp>
        <p:nvSpPr>
          <p:cNvPr id="72" name="대공 표적 Turn 1"/>
          <p:cNvSpPr/>
          <p:nvPr/>
        </p:nvSpPr>
        <p:spPr>
          <a:xfrm>
            <a:off x="2449482" y="5641340"/>
            <a:ext cx="462614" cy="127000"/>
          </a:xfrm>
          <a:prstGeom prst="roundRect">
            <a:avLst>
              <a:gd name="adj" fmla="val 30000"/>
            </a:avLst>
          </a:prstGeom>
          <a:solidFill>
            <a:srgbClr val="FDEEEE"/>
          </a:solidFill>
          <a:ln w="12700">
            <a:solidFill>
              <a:srgbClr val="DC2626"/>
            </a:solidFill>
          </a:ln>
          <a:effectLst/>
        </p:spPr>
        <p:txBody>
          <a:bodyPr rtlCol="0" anchor="ctr"/>
          <a:lstStyle/>
          <a:p>
            <a:pPr algn="ctr"/>
          </a:p>
        </p:txBody>
      </p:sp>
      <p:sp>
        <p:nvSpPr>
          <p:cNvPr id="73" name="대공 표적 Turn 1 Angle"/>
          <p:cNvSpPr txBox="1"/>
          <p:nvPr/>
        </p:nvSpPr>
        <p:spPr>
          <a:xfrm>
            <a:off x="2325189" y="54762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DC2626"/>
                </a:solidFill>
                <a:latin typeface="맑은 고딕"/>
                <a:ea typeface="맑은 고딕"/>
                <a:cs typeface="맑은 고딕"/>
              </a:rPr>
              <a:t>좌 90°</a:t>
            </a:r>
            <a:endParaRPr lang="ko-KR" altLang="en-US" sz="1000" dirty="0"/>
          </a:p>
        </p:txBody>
      </p:sp>
      <p:sp>
        <p:nvSpPr>
          <p:cNvPr id="74" name="대공 표적 Turn 1 Heading"/>
          <p:cNvSpPr txBox="1"/>
          <p:nvPr/>
        </p:nvSpPr>
        <p:spPr>
          <a:xfrm>
            <a:off x="2325189" y="57810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3F4B63"/>
                </a:solidFill>
                <a:latin typeface="맑은 고딕"/>
                <a:ea typeface="맑은 고딕"/>
                <a:cs typeface="맑은 고딕"/>
              </a:rPr>
              <a:t>→ 동</a:t>
            </a:r>
            <a:endParaRPr lang="ko-KR" altLang="en-US" sz="1000" dirty="0"/>
          </a:p>
        </p:txBody>
      </p:sp>
      <p:sp>
        <p:nvSpPr>
          <p:cNvPr id="75" name="대공 표적 Turn 2"/>
          <p:cNvSpPr/>
          <p:nvPr/>
        </p:nvSpPr>
        <p:spPr>
          <a:xfrm>
            <a:off x="3663846" y="5641340"/>
            <a:ext cx="462614" cy="127000"/>
          </a:xfrm>
          <a:prstGeom prst="roundRect">
            <a:avLst>
              <a:gd name="adj" fmla="val 30000"/>
            </a:avLst>
          </a:prstGeom>
          <a:solidFill>
            <a:srgbClr val="FDEEEE"/>
          </a:solidFill>
          <a:ln w="12700">
            <a:solidFill>
              <a:srgbClr val="DC2626"/>
            </a:solidFill>
          </a:ln>
          <a:effectLst/>
        </p:spPr>
        <p:txBody>
          <a:bodyPr rtlCol="0" anchor="ctr"/>
          <a:lstStyle/>
          <a:p>
            <a:pPr algn="ctr"/>
          </a:p>
        </p:txBody>
      </p:sp>
      <p:sp>
        <p:nvSpPr>
          <p:cNvPr id="76" name="대공 표적 Turn 2 Angle"/>
          <p:cNvSpPr txBox="1"/>
          <p:nvPr/>
        </p:nvSpPr>
        <p:spPr>
          <a:xfrm>
            <a:off x="3539553" y="54762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DC2626"/>
                </a:solidFill>
                <a:latin typeface="맑은 고딕"/>
                <a:ea typeface="맑은 고딕"/>
                <a:cs typeface="맑은 고딕"/>
              </a:rPr>
              <a:t>우 90°</a:t>
            </a:r>
            <a:endParaRPr lang="ko-KR" altLang="en-US" sz="1000" dirty="0"/>
          </a:p>
        </p:txBody>
      </p:sp>
      <p:sp>
        <p:nvSpPr>
          <p:cNvPr id="77" name="대공 표적 Turn 2 Heading"/>
          <p:cNvSpPr txBox="1"/>
          <p:nvPr/>
        </p:nvSpPr>
        <p:spPr>
          <a:xfrm>
            <a:off x="3539553" y="57810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3F4B63"/>
                </a:solidFill>
                <a:latin typeface="맑은 고딕"/>
                <a:ea typeface="맑은 고딕"/>
                <a:cs typeface="맑은 고딕"/>
              </a:rPr>
              <a:t>→ 남</a:t>
            </a:r>
            <a:endParaRPr lang="ko-KR" altLang="en-US" sz="1000" dirty="0"/>
          </a:p>
        </p:txBody>
      </p:sp>
      <p:sp>
        <p:nvSpPr>
          <p:cNvPr id="78" name="대공 표적 Turn 3"/>
          <p:cNvSpPr/>
          <p:nvPr/>
        </p:nvSpPr>
        <p:spPr>
          <a:xfrm>
            <a:off x="4276810" y="5641340"/>
            <a:ext cx="462615" cy="127000"/>
          </a:xfrm>
          <a:prstGeom prst="roundRect">
            <a:avLst>
              <a:gd name="adj" fmla="val 30000"/>
            </a:avLst>
          </a:prstGeom>
          <a:solidFill>
            <a:srgbClr val="FDEEEE"/>
          </a:solidFill>
          <a:ln w="12700">
            <a:solidFill>
              <a:srgbClr val="DC2626"/>
            </a:solidFill>
          </a:ln>
          <a:effectLst/>
        </p:spPr>
        <p:txBody>
          <a:bodyPr rtlCol="0" anchor="ctr"/>
          <a:lstStyle/>
          <a:p>
            <a:pPr algn="ctr"/>
          </a:p>
        </p:txBody>
      </p:sp>
      <p:sp>
        <p:nvSpPr>
          <p:cNvPr id="79" name="대공 표적 Turn 3 Angle"/>
          <p:cNvSpPr txBox="1"/>
          <p:nvPr/>
        </p:nvSpPr>
        <p:spPr>
          <a:xfrm>
            <a:off x="4152517" y="54762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DC2626"/>
                </a:solidFill>
                <a:latin typeface="맑은 고딕"/>
                <a:ea typeface="맑은 고딕"/>
                <a:cs typeface="맑은 고딕"/>
              </a:rPr>
              <a:t>우 90°</a:t>
            </a:r>
            <a:endParaRPr lang="ko-KR" altLang="en-US" sz="1000" dirty="0"/>
          </a:p>
        </p:txBody>
      </p:sp>
      <p:sp>
        <p:nvSpPr>
          <p:cNvPr id="80" name="대공 표적 Turn 3 Heading"/>
          <p:cNvSpPr txBox="1"/>
          <p:nvPr/>
        </p:nvSpPr>
        <p:spPr>
          <a:xfrm>
            <a:off x="4152517" y="57810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3F4B63"/>
                </a:solidFill>
                <a:latin typeface="맑은 고딕"/>
                <a:ea typeface="맑은 고딕"/>
                <a:cs typeface="맑은 고딕"/>
              </a:rPr>
              <a:t>→ 서</a:t>
            </a:r>
            <a:endParaRPr lang="ko-KR" altLang="en-US" sz="1000" dirty="0"/>
          </a:p>
        </p:txBody>
      </p:sp>
      <p:sp>
        <p:nvSpPr>
          <p:cNvPr id="81" name="대공 표적 Turn 4"/>
          <p:cNvSpPr/>
          <p:nvPr/>
        </p:nvSpPr>
        <p:spPr>
          <a:xfrm>
            <a:off x="6312316" y="5641340"/>
            <a:ext cx="462615" cy="127000"/>
          </a:xfrm>
          <a:prstGeom prst="roundRect">
            <a:avLst>
              <a:gd name="adj" fmla="val 30000"/>
            </a:avLst>
          </a:prstGeom>
          <a:solidFill>
            <a:srgbClr val="FDEEEE"/>
          </a:solidFill>
          <a:ln w="12700">
            <a:solidFill>
              <a:srgbClr val="DC2626"/>
            </a:solidFill>
          </a:ln>
          <a:effectLst/>
        </p:spPr>
        <p:txBody>
          <a:bodyPr rtlCol="0" anchor="ctr"/>
          <a:lstStyle/>
          <a:p>
            <a:pPr algn="ctr"/>
          </a:p>
        </p:txBody>
      </p:sp>
      <p:sp>
        <p:nvSpPr>
          <p:cNvPr id="82" name="대공 표적 Turn 4 Angle"/>
          <p:cNvSpPr txBox="1"/>
          <p:nvPr/>
        </p:nvSpPr>
        <p:spPr>
          <a:xfrm>
            <a:off x="6188023" y="54762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DC2626"/>
                </a:solidFill>
                <a:latin typeface="맑은 고딕"/>
                <a:ea typeface="맑은 고딕"/>
                <a:cs typeface="맑은 고딕"/>
              </a:rPr>
              <a:t>좌 90°</a:t>
            </a:r>
            <a:endParaRPr lang="ko-KR" altLang="en-US" sz="1000" dirty="0"/>
          </a:p>
        </p:txBody>
      </p:sp>
      <p:sp>
        <p:nvSpPr>
          <p:cNvPr id="83" name="대공 표적 Turn 4 Heading"/>
          <p:cNvSpPr txBox="1"/>
          <p:nvPr/>
        </p:nvSpPr>
        <p:spPr>
          <a:xfrm>
            <a:off x="6188023" y="57810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3F4B63"/>
                </a:solidFill>
                <a:latin typeface="맑은 고딕"/>
                <a:ea typeface="맑은 고딕"/>
                <a:cs typeface="맑은 고딕"/>
              </a:rPr>
              <a:t>→ 남</a:t>
            </a:r>
            <a:endParaRPr lang="ko-KR" altLang="en-US" sz="1000" dirty="0"/>
          </a:p>
        </p:txBody>
      </p:sp>
      <p:sp>
        <p:nvSpPr>
          <p:cNvPr id="84" name="대공 표적 Turn 5"/>
          <p:cNvSpPr/>
          <p:nvPr/>
        </p:nvSpPr>
        <p:spPr>
          <a:xfrm>
            <a:off x="6925280" y="5641340"/>
            <a:ext cx="462615" cy="127000"/>
          </a:xfrm>
          <a:prstGeom prst="roundRect">
            <a:avLst>
              <a:gd name="adj" fmla="val 30000"/>
            </a:avLst>
          </a:prstGeom>
          <a:solidFill>
            <a:srgbClr val="FDEEEE"/>
          </a:solidFill>
          <a:ln w="12700">
            <a:solidFill>
              <a:srgbClr val="DC2626"/>
            </a:solidFill>
          </a:ln>
          <a:effectLst/>
        </p:spPr>
        <p:txBody>
          <a:bodyPr rtlCol="0" anchor="ctr"/>
          <a:lstStyle/>
          <a:p>
            <a:pPr algn="ctr"/>
          </a:p>
        </p:txBody>
      </p:sp>
      <p:sp>
        <p:nvSpPr>
          <p:cNvPr id="85" name="대공 표적 Turn 5 Angle"/>
          <p:cNvSpPr txBox="1"/>
          <p:nvPr/>
        </p:nvSpPr>
        <p:spPr>
          <a:xfrm>
            <a:off x="6800987" y="54762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DC2626"/>
                </a:solidFill>
                <a:latin typeface="맑은 고딕"/>
                <a:ea typeface="맑은 고딕"/>
                <a:cs typeface="맑은 고딕"/>
              </a:rPr>
              <a:t>좌 90°</a:t>
            </a:r>
            <a:endParaRPr lang="ko-KR" altLang="en-US" sz="1000" dirty="0"/>
          </a:p>
        </p:txBody>
      </p:sp>
      <p:sp>
        <p:nvSpPr>
          <p:cNvPr id="86" name="대공 표적 Turn 5 Heading"/>
          <p:cNvSpPr txBox="1"/>
          <p:nvPr/>
        </p:nvSpPr>
        <p:spPr>
          <a:xfrm>
            <a:off x="6800987" y="57810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3F4B63"/>
                </a:solidFill>
                <a:latin typeface="맑은 고딕"/>
                <a:ea typeface="맑은 고딕"/>
                <a:cs typeface="맑은 고딕"/>
              </a:rPr>
              <a:t>→ 동</a:t>
            </a:r>
            <a:endParaRPr lang="ko-KR" altLang="en-US" sz="1000" dirty="0"/>
          </a:p>
        </p:txBody>
      </p:sp>
      <p:sp>
        <p:nvSpPr>
          <p:cNvPr id="87" name="대공 표적 Turn 6"/>
          <p:cNvSpPr/>
          <p:nvPr/>
        </p:nvSpPr>
        <p:spPr>
          <a:xfrm>
            <a:off x="8301560" y="5641340"/>
            <a:ext cx="774880" cy="127000"/>
          </a:xfrm>
          <a:prstGeom prst="roundRect">
            <a:avLst>
              <a:gd name="adj" fmla="val 30000"/>
            </a:avLst>
          </a:prstGeom>
          <a:solidFill>
            <a:srgbClr val="FDEEEE"/>
          </a:solidFill>
          <a:ln w="12700">
            <a:solidFill>
              <a:srgbClr val="DC2626"/>
            </a:solidFill>
          </a:ln>
          <a:effectLst/>
        </p:spPr>
        <p:txBody>
          <a:bodyPr rtlCol="0" anchor="ctr"/>
          <a:lstStyle/>
          <a:p>
            <a:pPr algn="ctr"/>
          </a:p>
        </p:txBody>
      </p:sp>
      <p:sp>
        <p:nvSpPr>
          <p:cNvPr id="88" name="대공 표적 Turn 6 Angle"/>
          <p:cNvSpPr txBox="1"/>
          <p:nvPr/>
        </p:nvSpPr>
        <p:spPr>
          <a:xfrm>
            <a:off x="8333400" y="54762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DC2626"/>
                </a:solidFill>
                <a:latin typeface="맑은 고딕"/>
                <a:ea typeface="맑은 고딕"/>
                <a:cs typeface="맑은 고딕"/>
              </a:rPr>
              <a:t>우 150°</a:t>
            </a:r>
            <a:endParaRPr lang="ko-KR" altLang="en-US" sz="1000" dirty="0"/>
          </a:p>
        </p:txBody>
      </p:sp>
      <p:sp>
        <p:nvSpPr>
          <p:cNvPr id="89" name="대공 표적 Turn 6 Heading"/>
          <p:cNvSpPr txBox="1"/>
          <p:nvPr/>
        </p:nvSpPr>
        <p:spPr>
          <a:xfrm>
            <a:off x="8333400" y="57810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3F4B63"/>
                </a:solidFill>
                <a:latin typeface="맑은 고딕"/>
                <a:ea typeface="맑은 고딕"/>
                <a:cs typeface="맑은 고딕"/>
              </a:rPr>
              <a:t>→ 남서</a:t>
            </a:r>
            <a:endParaRPr lang="ko-KR" altLang="en-US" sz="1000" dirty="0"/>
          </a:p>
        </p:txBody>
      </p:sp>
      <p:sp>
        <p:nvSpPr>
          <p:cNvPr id="90" name="Maneuver Axis 0"/>
          <p:cNvSpPr txBox="1"/>
          <p:nvPr/>
        </p:nvSpPr>
        <p:spPr>
          <a:xfrm>
            <a:off x="1883217" y="5958840"/>
            <a:ext cx="5080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0</a:t>
            </a:r>
            <a:endParaRPr lang="ko-KR" altLang="en-US" sz="1000" dirty="0"/>
          </a:p>
        </p:txBody>
      </p:sp>
      <p:sp>
        <p:nvSpPr>
          <p:cNvPr id="91" name="Maneuver Axis 1"/>
          <p:cNvSpPr txBox="1"/>
          <p:nvPr/>
        </p:nvSpPr>
        <p:spPr>
          <a:xfrm>
            <a:off x="3039754" y="5958840"/>
            <a:ext cx="5080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10</a:t>
            </a:r>
            <a:endParaRPr lang="ko-KR" altLang="en-US" sz="1000" dirty="0"/>
          </a:p>
        </p:txBody>
      </p:sp>
      <p:sp>
        <p:nvSpPr>
          <p:cNvPr id="92" name="Maneuver Axis 2"/>
          <p:cNvSpPr txBox="1"/>
          <p:nvPr/>
        </p:nvSpPr>
        <p:spPr>
          <a:xfrm>
            <a:off x="4196291" y="5958840"/>
            <a:ext cx="5080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20</a:t>
            </a:r>
            <a:endParaRPr lang="ko-KR" altLang="en-US" sz="1000" dirty="0"/>
          </a:p>
        </p:txBody>
      </p:sp>
      <p:sp>
        <p:nvSpPr>
          <p:cNvPr id="93" name="Maneuver Axis 3"/>
          <p:cNvSpPr txBox="1"/>
          <p:nvPr/>
        </p:nvSpPr>
        <p:spPr>
          <a:xfrm>
            <a:off x="5352828" y="5958840"/>
            <a:ext cx="5080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30</a:t>
            </a:r>
            <a:endParaRPr lang="ko-KR" altLang="en-US" sz="1000" dirty="0"/>
          </a:p>
        </p:txBody>
      </p:sp>
      <p:sp>
        <p:nvSpPr>
          <p:cNvPr id="94" name="Maneuver Axis 4"/>
          <p:cNvSpPr txBox="1"/>
          <p:nvPr/>
        </p:nvSpPr>
        <p:spPr>
          <a:xfrm>
            <a:off x="6509365" y="5958840"/>
            <a:ext cx="5080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40</a:t>
            </a:r>
            <a:endParaRPr lang="ko-KR" altLang="en-US" sz="1000" dirty="0"/>
          </a:p>
        </p:txBody>
      </p:sp>
      <p:sp>
        <p:nvSpPr>
          <p:cNvPr id="95" name="Maneuver Axis 5"/>
          <p:cNvSpPr txBox="1"/>
          <p:nvPr/>
        </p:nvSpPr>
        <p:spPr>
          <a:xfrm>
            <a:off x="7665902" y="5958840"/>
            <a:ext cx="5080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50</a:t>
            </a:r>
            <a:endParaRPr lang="ko-KR" altLang="en-US" sz="1000" dirty="0"/>
          </a:p>
        </p:txBody>
      </p:sp>
      <p:sp>
        <p:nvSpPr>
          <p:cNvPr id="96" name="Maneuver Axis 6"/>
          <p:cNvSpPr txBox="1"/>
          <p:nvPr/>
        </p:nvSpPr>
        <p:spPr>
          <a:xfrm>
            <a:off x="8822440" y="5958840"/>
            <a:ext cx="5080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60 s</a:t>
            </a:r>
            <a:endParaRPr lang="ko-KR" altLang="en-US" sz="1000" dirty="0"/>
          </a:p>
        </p:txBody>
      </p:sp>
      <p:grpSp>
        <p:nvGrpSpPr>
          <p:cNvPr id="97" name="Group 96"/>
          <p:cNvGrpSpPr/>
          <p:nvPr/>
        </p:nvGrpSpPr>
        <p:grpSpPr>
          <a:xfrm>
            <a:off x="9660640" y="2148840"/>
            <a:ext cx="1888232" cy="4014216"/>
            <a:chOff x="9660640" y="2148840"/>
            <a:chExt cx="1888232" cy="4014216"/>
          </a:xfrm>
        </p:grpSpPr>
        <p:pic>
          <p:nvPicPr>
            <p:cNvPr id="98" name="Picture 97" descr="응용 시나리오 궤적"/>
            <p:cNvPicPr>
              <a:picLocks noChangeAspect="1"/>
            </p:cNvPicPr>
            <p:nvPr/>
          </p:nvPicPr>
          <p:blipFill>
            <a:blip r:embed="rId5"/>
            <a:stretch>
              <a:fillRect/>
            </a:stretch>
          </p:blipFill>
          <p:spPr>
            <a:xfrm>
              <a:off x="9660640" y="2148840"/>
              <a:ext cx="1888232" cy="4014216"/>
            </a:xfrm>
            <a:prstGeom prst="rect">
              <a:avLst/>
            </a:prstGeom>
            <a:ln>
              <a:noFill/>
            </a:ln>
          </p:spPr>
        </p:pic>
        <p:sp>
          <p:nvSpPr>
            <p:cNvPr id="99" name="대함 표적 Label"/>
            <p:cNvSpPr txBox="1"/>
            <p:nvPr/>
          </p:nvSpPr>
          <p:spPr>
            <a:xfrm>
              <a:off x="11051706" y="2697983"/>
              <a:ext cx="381000" cy="2032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050" b="1" i="0" dirty="0">
                  <a:solidFill>
                    <a:srgbClr val="2563EB"/>
                  </a:solidFill>
                  <a:latin typeface="맑은 고딕"/>
                  <a:ea typeface="맑은 고딕"/>
                  <a:cs typeface="맑은 고딕"/>
                </a:rPr>
                <a:t>대함</a:t>
              </a:r>
              <a:endParaRPr lang="ko-KR" altLang="en-US" sz="1000" dirty="0"/>
            </a:p>
          </p:txBody>
        </p:sp>
        <p:sp>
          <p:nvSpPr>
            <p:cNvPr id="100" name="대공 표적 Label"/>
            <p:cNvSpPr txBox="1"/>
            <p:nvPr/>
          </p:nvSpPr>
          <p:spPr>
            <a:xfrm>
              <a:off x="10074114" y="2657125"/>
              <a:ext cx="381000" cy="2032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1" i="0" dirty="0">
                  <a:solidFill>
                    <a:srgbClr val="DC2626"/>
                  </a:solidFill>
                  <a:latin typeface="맑은 고딕"/>
                  <a:ea typeface="맑은 고딕"/>
                  <a:cs typeface="맑은 고딕"/>
                </a:rPr>
                <a:t>대공</a:t>
              </a:r>
              <a:endParaRPr lang="ko-KR" altLang="en-US" sz="1000" dirty="0"/>
            </a:p>
          </p:txBody>
        </p:sp>
      </p:gr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05. 결론</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5.1 과제 요구사항과 구현</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과제 요구사항과 구현 내용을 한 장에 정리했습니다.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28</a:t>
            </a:r>
          </a:p>
        </p:txBody>
      </p:sp>
      <p:sp>
        <p:nvSpPr>
          <p:cNvPr id="8" name="Rectangle 7"/>
          <p:cNvSpPr/>
          <p:nvPr/>
        </p:nvSpPr>
        <p:spPr>
          <a:xfrm>
            <a:off x="640080" y="2185415"/>
            <a:ext cx="10908792" cy="457200"/>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86384" y="2185415"/>
            <a:ext cx="4343400" cy="457200"/>
          </a:xfrm>
          <a:prstGeom prst="rect">
            <a:avLst/>
          </a:prstGeom>
          <a:noFill/>
        </p:spPr>
        <p:txBody>
          <a:bodyPr wrap="square" lIns="0" rIns="0" tIns="0" bIns="0" anchor="ctr">
            <a:noAutofit/>
          </a:bodyPr>
          <a:lstStyle/>
          <a:p>
            <a:pPr algn="l">
              <a:lnSpc>
                <a:spcPct val="100000"/>
              </a:lnSpc>
            </a:pPr>
            <a:r>
              <a:rPr sz="1150" b="1">
                <a:solidFill>
                  <a:srgbClr val="FFFFFF"/>
                </a:solidFill>
                <a:latin typeface="맑은 고딕"/>
              </a:rPr>
              <a:t>과제 요구사항</a:t>
            </a:r>
          </a:p>
        </p:txBody>
      </p:sp>
      <p:sp>
        <p:nvSpPr>
          <p:cNvPr id="10" name="TextBox 9"/>
          <p:cNvSpPr txBox="1"/>
          <p:nvPr/>
        </p:nvSpPr>
        <p:spPr>
          <a:xfrm>
            <a:off x="5312664" y="2185415"/>
            <a:ext cx="4754880" cy="457200"/>
          </a:xfrm>
          <a:prstGeom prst="rect">
            <a:avLst/>
          </a:prstGeom>
          <a:noFill/>
        </p:spPr>
        <p:txBody>
          <a:bodyPr wrap="square" lIns="0" rIns="0" tIns="0" bIns="0" anchor="ctr">
            <a:noAutofit/>
          </a:bodyPr>
          <a:lstStyle/>
          <a:p>
            <a:pPr algn="l">
              <a:lnSpc>
                <a:spcPct val="100000"/>
              </a:lnSpc>
            </a:pPr>
            <a:r>
              <a:rPr sz="1150" b="1">
                <a:solidFill>
                  <a:srgbClr val="FFFFFF"/>
                </a:solidFill>
                <a:latin typeface="맑은 고딕"/>
              </a:rPr>
              <a:t>구현</a:t>
            </a:r>
          </a:p>
        </p:txBody>
      </p:sp>
      <p:sp>
        <p:nvSpPr>
          <p:cNvPr id="12" name="Rectangle 11"/>
          <p:cNvSpPr/>
          <p:nvPr/>
        </p:nvSpPr>
        <p:spPr>
          <a:xfrm>
            <a:off x="640080" y="2642615"/>
            <a:ext cx="10908792" cy="457200"/>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86384" y="2642615"/>
            <a:ext cx="4343400" cy="457200"/>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표적 10 · 기동 30</a:t>
            </a:r>
          </a:p>
        </p:txBody>
      </p:sp>
      <p:sp>
        <p:nvSpPr>
          <p:cNvPr id="14" name="TextBox 13"/>
          <p:cNvSpPr txBox="1"/>
          <p:nvPr/>
        </p:nvSpPr>
        <p:spPr>
          <a:xfrm>
            <a:off x="5312664" y="2642615"/>
            <a:ext cx="6089904" cy="4572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고정 배열로 상한, 추가 단추에서 개수 제한</a:t>
            </a:r>
          </a:p>
        </p:txBody>
      </p:sp>
      <p:sp>
        <p:nvSpPr>
          <p:cNvPr id="16" name="TextBox 15"/>
          <p:cNvSpPr txBox="1"/>
          <p:nvPr/>
        </p:nvSpPr>
        <p:spPr>
          <a:xfrm>
            <a:off x="786384" y="3099815"/>
            <a:ext cx="4343400" cy="457200"/>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위치 LLA · 속도 V_heading</a:t>
            </a:r>
          </a:p>
        </p:txBody>
      </p:sp>
      <p:sp>
        <p:nvSpPr>
          <p:cNvPr id="17" name="TextBox 16"/>
          <p:cNvSpPr txBox="1"/>
          <p:nvPr/>
        </p:nvSpPr>
        <p:spPr>
          <a:xfrm>
            <a:off x="5312664" y="3099815"/>
            <a:ext cx="6089904" cy="4572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ST_TargetInit (방향은 자세각이 담당)</a:t>
            </a:r>
          </a:p>
        </p:txBody>
      </p:sp>
      <p:sp>
        <p:nvSpPr>
          <p:cNvPr id="19" name="Rectangle 18"/>
          <p:cNvSpPr/>
          <p:nvPr/>
        </p:nvSpPr>
        <p:spPr>
          <a:xfrm>
            <a:off x="640080" y="3557015"/>
            <a:ext cx="10908792" cy="457200"/>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86384" y="3557015"/>
            <a:ext cx="4343400" cy="457200"/>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기동 = G · 축 · 시작 · 종료</a:t>
            </a:r>
          </a:p>
        </p:txBody>
      </p:sp>
      <p:sp>
        <p:nvSpPr>
          <p:cNvPr id="21" name="TextBox 20"/>
          <p:cNvSpPr txBox="1"/>
          <p:nvPr/>
        </p:nvSpPr>
        <p:spPr>
          <a:xfrm>
            <a:off x="5312664" y="3557015"/>
            <a:ext cx="6089904" cy="4572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ST_TargetManeuver 4 필드, 구간 [시작, 종료)</a:t>
            </a:r>
          </a:p>
        </p:txBody>
      </p:sp>
      <p:sp>
        <p:nvSpPr>
          <p:cNvPr id="23" name="TextBox 22"/>
          <p:cNvSpPr txBox="1"/>
          <p:nvPr/>
        </p:nvSpPr>
        <p:spPr>
          <a:xfrm>
            <a:off x="786384" y="4014215"/>
            <a:ext cx="4343400" cy="457200"/>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ECEF 에서 상태 갱신</a:t>
            </a:r>
          </a:p>
        </p:txBody>
      </p:sp>
      <p:sp>
        <p:nvSpPr>
          <p:cNvPr id="24" name="TextBox 23"/>
          <p:cNvSpPr txBox="1"/>
          <p:nvPr/>
        </p:nvSpPr>
        <p:spPr>
          <a:xfrm>
            <a:off x="5312664" y="4014215"/>
            <a:ext cx="6089904" cy="4572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위치 · 속도는 ECEF, 출력용 LLA 병행 보관</a:t>
            </a:r>
          </a:p>
        </p:txBody>
      </p:sp>
      <p:sp>
        <p:nvSpPr>
          <p:cNvPr id="26" name="Rectangle 25"/>
          <p:cNvSpPr/>
          <p:nvPr/>
        </p:nvSpPr>
        <p:spPr>
          <a:xfrm>
            <a:off x="640080" y="4471415"/>
            <a:ext cx="10908792" cy="457200"/>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86384" y="4471415"/>
            <a:ext cx="4343400" cy="457200"/>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V_heading → Vx, Vy, Vz  (추가 고민)</a:t>
            </a:r>
          </a:p>
        </p:txBody>
      </p:sp>
      <p:sp>
        <p:nvSpPr>
          <p:cNvPr id="28" name="TextBox 27"/>
          <p:cNvSpPr txBox="1"/>
          <p:nvPr/>
        </p:nvSpPr>
        <p:spPr>
          <a:xfrm>
            <a:off x="5312664" y="4471415"/>
            <a:ext cx="6089904" cy="4572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동체 → NED → ECEF, 회전 두 번</a:t>
            </a:r>
          </a:p>
        </p:txBody>
      </p:sp>
      <p:sp>
        <p:nvSpPr>
          <p:cNvPr id="30" name="TextBox 29"/>
          <p:cNvSpPr txBox="1"/>
          <p:nvPr/>
        </p:nvSpPr>
        <p:spPr>
          <a:xfrm>
            <a:off x="786384" y="4928615"/>
            <a:ext cx="4343400" cy="457200"/>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좌표변환 코드 이용</a:t>
            </a:r>
          </a:p>
        </p:txBody>
      </p:sp>
      <p:sp>
        <p:nvSpPr>
          <p:cNvPr id="31" name="TextBox 30"/>
          <p:cNvSpPr txBox="1"/>
          <p:nvPr/>
        </p:nvSpPr>
        <p:spPr>
          <a:xfrm>
            <a:off x="5312664" y="4928615"/>
            <a:ext cx="6089904" cy="4572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CoordinateTransform.c, matrixCalcLib.c 함수 호출</a:t>
            </a:r>
          </a:p>
        </p:txBody>
      </p:sp>
      <p:sp>
        <p:nvSpPr>
          <p:cNvPr id="33" name="Rectangle 32"/>
          <p:cNvSpPr/>
          <p:nvPr/>
        </p:nvSpPr>
        <p:spPr>
          <a:xfrm>
            <a:off x="640080" y="5385815"/>
            <a:ext cx="10908792" cy="457200"/>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86384" y="5385815"/>
            <a:ext cx="4343400" cy="457200"/>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결과를 LLA 로 출력하고 그림으로</a:t>
            </a:r>
          </a:p>
        </p:txBody>
      </p:sp>
      <p:sp>
        <p:nvSpPr>
          <p:cNvPr id="35" name="TextBox 34"/>
          <p:cNvSpPr txBox="1"/>
          <p:nvPr/>
        </p:nvSpPr>
        <p:spPr>
          <a:xfrm>
            <a:off x="5312664" y="5385815"/>
            <a:ext cx="6089904" cy="4572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표, CSV, 궤적 · 고도 · 속력 그림</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749808" y="713232"/>
            <a:ext cx="10698480" cy="0"/>
          </a:xfrm>
          <a:prstGeom prst="rect">
            <a:avLst/>
          </a:prstGeom>
          <a:noFill/>
          <a:ln w="9525">
            <a:solidFill>
              <a:srgbClr val="4A5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49808" y="6336792"/>
            <a:ext cx="10698480" cy="0"/>
          </a:xfrm>
          <a:prstGeom prst="rect">
            <a:avLst/>
          </a:prstGeom>
          <a:noFill/>
          <a:ln w="9525">
            <a:solidFill>
              <a:srgbClr val="4A5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788920"/>
            <a:ext cx="12191695" cy="731520"/>
          </a:xfrm>
          <a:prstGeom prst="rect">
            <a:avLst/>
          </a:prstGeom>
          <a:noFill/>
        </p:spPr>
        <p:txBody>
          <a:bodyPr wrap="square" lIns="0" rIns="0" tIns="0" bIns="0" anchor="t">
            <a:noAutofit/>
          </a:bodyPr>
          <a:lstStyle/>
          <a:p>
            <a:pPr algn="ctr">
              <a:lnSpc>
                <a:spcPct val="100000"/>
              </a:lnSpc>
            </a:pPr>
            <a:r>
              <a:rPr sz="3400" b="1">
                <a:solidFill>
                  <a:srgbClr val="FFFFFF"/>
                </a:solidFill>
                <a:latin typeface="맑은 고딕"/>
              </a:rPr>
              <a:t>감사합니다</a:t>
            </a:r>
          </a:p>
        </p:txBody>
      </p:sp>
      <p:sp>
        <p:nvSpPr>
          <p:cNvPr id="6" name="TextBox 5"/>
          <p:cNvSpPr txBox="1"/>
          <p:nvPr/>
        </p:nvSpPr>
        <p:spPr>
          <a:xfrm>
            <a:off x="0" y="3703320"/>
            <a:ext cx="12191695" cy="310896"/>
          </a:xfrm>
          <a:prstGeom prst="rect">
            <a:avLst/>
          </a:prstGeom>
          <a:noFill/>
        </p:spPr>
        <p:txBody>
          <a:bodyPr wrap="square" lIns="0" rIns="0" tIns="0" bIns="0" anchor="t">
            <a:noAutofit/>
          </a:bodyPr>
          <a:lstStyle/>
          <a:p>
            <a:pPr algn="ctr">
              <a:lnSpc>
                <a:spcPct val="100000"/>
              </a:lnSpc>
            </a:pPr>
            <a:r>
              <a:rPr sz="1300" b="0">
                <a:solidFill>
                  <a:srgbClr val="AEB9CC"/>
                </a:solidFill>
                <a:latin typeface="맑은 고딕"/>
              </a:rPr>
              <a:t>질문 주시면 답변드리겠습니다</a:t>
            </a: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02. 표적 정의</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2.3 구조체 구성과 흐름 (2/3)</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10</a:t>
            </a:r>
          </a:p>
        </p:txBody>
      </p:sp>
      <p:sp>
        <p:nvSpPr>
          <p:cNvPr id="17" name="Summary Box"/>
          <p:cNvSpPr/>
          <p:nvPr/>
        </p:nvSpPr>
        <p:spPr>
          <a:xfrm>
            <a:off x="640080" y="5655056"/>
            <a:ext cx="10908792" cy="508000"/>
          </a:xfrm>
          <a:prstGeom prst="rect">
            <a:avLst/>
          </a:prstGeom>
          <a:solidFill>
            <a:srgbClr val="F7F9FC"/>
          </a:solidFill>
          <a:ln w="12700">
            <a:solidFill>
              <a:srgbClr val="D2D9E5"/>
            </a:solidFill>
          </a:ln>
          <a:effectLst/>
        </p:spPr>
        <p:txBody>
          <a:bodyPr rtlCol="0" anchor="ctr"/>
          <a:lstStyle/>
          <a:p>
            <a:pPr algn="ctr"/>
          </a:p>
        </p:txBody>
      </p:sp>
      <p:sp>
        <p:nvSpPr>
          <p:cNvPr id="18" name="Summary Text"/>
          <p:cNvSpPr txBox="1"/>
          <p:nvPr/>
        </p:nvSpPr>
        <p:spPr>
          <a:xfrm>
            <a:off x="817880" y="5655056"/>
            <a:ext cx="10553192" cy="5080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UI 가 채워 넘기는 설정 한 묶음     </a:t>
            </a:r>
            <a:r>
              <a:rPr lang="ko-KR" altLang="en-US" sz="1000" b="0" i="0" dirty="0">
                <a:solidFill>
                  <a:srgbClr val="1B2740"/>
                </a:solidFill>
                <a:latin typeface="Consolas"/>
                <a:ea typeface="맑은 고딕"/>
                <a:cs typeface="맑은 고딕"/>
              </a:rPr>
              <a:t>ST_SimConfig</a:t>
            </a:r>
            <a:r>
              <a:rPr lang="ko-KR" altLang="en-US" sz="1050" b="0" i="0" dirty="0">
                <a:solidFill>
                  <a:srgbClr val="3F4B63"/>
                </a:solidFill>
                <a:latin typeface="맑은 고딕"/>
                <a:ea typeface="맑은 고딕"/>
                <a:cs typeface="맑은 고딕"/>
              </a:rPr>
              <a:t>  =  시간 설정  +  </a:t>
            </a:r>
            <a:r>
              <a:rPr lang="ko-KR" altLang="en-US" sz="1000" b="0" i="0" dirty="0">
                <a:solidFill>
                  <a:srgbClr val="1B2740"/>
                </a:solidFill>
                <a:latin typeface="Consolas"/>
                <a:ea typeface="맑은 고딕"/>
                <a:cs typeface="맑은 고딕"/>
              </a:rPr>
              <a:t>ST_PlatformInit</a:t>
            </a:r>
            <a:r>
              <a:rPr lang="ko-KR" altLang="en-US" sz="1050" b="0" i="0" dirty="0">
                <a:solidFill>
                  <a:srgbClr val="3F4B63"/>
                </a:solidFill>
                <a:latin typeface="맑은 고딕"/>
                <a:ea typeface="맑은 고딕"/>
                <a:cs typeface="맑은 고딕"/>
              </a:rPr>
              <a:t> 1 개  +  </a:t>
            </a:r>
            <a:r>
              <a:rPr lang="ko-KR" altLang="en-US" sz="1000" b="0" i="0" dirty="0">
                <a:solidFill>
                  <a:srgbClr val="1B2740"/>
                </a:solidFill>
                <a:latin typeface="Consolas"/>
                <a:ea typeface="맑은 고딕"/>
                <a:cs typeface="맑은 고딕"/>
              </a:rPr>
              <a:t>ST_TargetInit</a:t>
            </a:r>
            <a:r>
              <a:rPr lang="ko-KR" altLang="en-US" sz="1050" b="0" i="0" dirty="0">
                <a:solidFill>
                  <a:srgbClr val="3F4B63"/>
                </a:solidFill>
                <a:latin typeface="맑은 고딕"/>
                <a:ea typeface="맑은 고딕"/>
                <a:cs typeface="맑은 고딕"/>
              </a:rPr>
              <a:t> 최대 10 개   (표적마다 </a:t>
            </a:r>
            <a:r>
              <a:rPr lang="ko-KR" altLang="en-US" sz="1000" b="0" i="0" dirty="0">
                <a:solidFill>
                  <a:srgbClr val="1B2740"/>
                </a:solidFill>
                <a:latin typeface="Consolas"/>
                <a:ea typeface="맑은 고딕"/>
                <a:cs typeface="맑은 고딕"/>
              </a:rPr>
              <a:t>ST_TargetManeuver</a:t>
            </a:r>
            <a:r>
              <a:rPr lang="ko-KR" altLang="en-US" sz="1050" b="0" i="0" dirty="0">
                <a:solidFill>
                  <a:srgbClr val="3F4B63"/>
                </a:solidFill>
                <a:latin typeface="맑은 고딕"/>
                <a:ea typeface="맑은 고딕"/>
                <a:cs typeface="맑은 고딕"/>
              </a:rPr>
              <a:t> 최대 30 개)</a:t>
            </a:r>
            <a:endParaRPr lang="ko-KR" altLang="en-US" sz="1000" dirty="0"/>
          </a:p>
        </p:txBody>
      </p:sp>
      <p:pic>
        <p:nvPicPr>
          <p:cNvPr id="7" name="Code Capture" descr="TargetSim.h 54-72"/>
          <p:cNvPicPr>
            <a:picLocks noChangeAspect="1"/>
          </p:cNvPicPr>
          <p:nvPr/>
        </p:nvPicPr>
        <p:blipFill>
          <a:blip r:embed="rId3"/>
          <a:stretch>
            <a:fillRect/>
          </a:stretch>
        </p:blipFill>
        <p:spPr>
          <a:xfrm>
            <a:off x="640080" y="1792224"/>
            <a:ext cx="6714172" cy="2821940"/>
          </a:xfrm>
          <a:prstGeom prst="rect">
            <a:avLst/>
          </a:prstGeom>
          <a:ln w="9525">
            <a:solidFill>
              <a:srgbClr val="C9D1DD"/>
            </a:solidFill>
          </a:ln>
        </p:spPr>
      </p:pic>
      <p:sp>
        <p:nvSpPr>
          <p:cNvPr id="8" name="Block 1"/>
          <p:cNvSpPr/>
          <p:nvPr/>
        </p:nvSpPr>
        <p:spPr>
          <a:xfrm>
            <a:off x="968692" y="1845564"/>
            <a:ext cx="6334760" cy="1038860"/>
          </a:xfrm>
          <a:prstGeom prst="roundRect">
            <a:avLst>
              <a:gd name="adj" fmla="val 3667"/>
            </a:avLst>
          </a:prstGeom>
          <a:solidFill>
            <a:srgbClr val="DC2626">
              <a:alpha val="9000"/>
            </a:srgbClr>
          </a:solidFill>
          <a:ln w="12700">
            <a:solidFill>
              <a:srgbClr val="DC2626"/>
            </a:solidFill>
          </a:ln>
          <a:effectLst/>
        </p:spPr>
        <p:txBody>
          <a:bodyPr rtlCol="0" anchor="ctr"/>
          <a:lstStyle/>
          <a:p>
            <a:pPr algn="ctr"/>
          </a:p>
        </p:txBody>
      </p:sp>
      <p:sp>
        <p:nvSpPr>
          <p:cNvPr id="9" name="Block 2"/>
          <p:cNvSpPr/>
          <p:nvPr/>
        </p:nvSpPr>
        <p:spPr>
          <a:xfrm>
            <a:off x="968692" y="2963164"/>
            <a:ext cx="6334760" cy="1597660"/>
          </a:xfrm>
          <a:prstGeom prst="roundRect">
            <a:avLst>
              <a:gd name="adj" fmla="val 2385"/>
            </a:avLst>
          </a:prstGeom>
          <a:solidFill>
            <a:srgbClr val="D97706">
              <a:alpha val="9000"/>
            </a:srgbClr>
          </a:solidFill>
          <a:ln w="12700">
            <a:solidFill>
              <a:srgbClr val="D97706"/>
            </a:solidFill>
          </a:ln>
          <a:effectLst/>
        </p:spPr>
        <p:txBody>
          <a:bodyPr rtlCol="0" anchor="ctr"/>
          <a:lstStyle/>
          <a:p>
            <a:pPr algn="ctr"/>
          </a:p>
        </p:txBody>
      </p:sp>
      <p:cxnSp>
        <p:nvCxnSpPr>
          <p:cNvPr id="12" name="Arrow 1"/>
          <p:cNvCxnSpPr/>
          <p:nvPr/>
        </p:nvCxnSpPr>
        <p:spPr>
          <a:xfrm>
            <a:off x="7303452" y="2364994"/>
            <a:ext cx="330200" cy="0"/>
          </a:xfrm>
          <a:prstGeom prst="line">
            <a:avLst/>
          </a:prstGeom>
          <a:ln w="15875">
            <a:solidFill>
              <a:srgbClr val="DC2626"/>
            </a:solidFill>
            <a:tailEnd type="triangle" w="med" len="med"/>
          </a:ln>
        </p:spPr>
      </p:cxnSp>
      <p:sp>
        <p:nvSpPr>
          <p:cNvPr id="10" name="Label 1 Box"/>
          <p:cNvSpPr/>
          <p:nvPr/>
        </p:nvSpPr>
        <p:spPr>
          <a:xfrm>
            <a:off x="7633652" y="2225294"/>
            <a:ext cx="1344249" cy="279400"/>
          </a:xfrm>
          <a:prstGeom prst="roundRect">
            <a:avLst>
              <a:gd name="adj" fmla="val 20000"/>
            </a:avLst>
          </a:prstGeom>
          <a:solidFill>
            <a:srgbClr val="FDEEEE"/>
          </a:solidFill>
          <a:ln w="12700">
            <a:solidFill>
              <a:srgbClr val="DC2626"/>
            </a:solidFill>
          </a:ln>
          <a:effectLst/>
        </p:spPr>
        <p:txBody>
          <a:bodyPr rtlCol="0" anchor="ctr"/>
          <a:lstStyle/>
          <a:p>
            <a:pPr algn="ctr"/>
          </a:p>
        </p:txBody>
      </p:sp>
      <p:sp>
        <p:nvSpPr>
          <p:cNvPr id="11" name="Label 1 Text"/>
          <p:cNvSpPr txBox="1"/>
          <p:nvPr/>
        </p:nvSpPr>
        <p:spPr>
          <a:xfrm>
            <a:off x="7633652" y="2225294"/>
            <a:ext cx="134424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C2626"/>
                </a:solidFill>
                <a:latin typeface="맑은 고딕"/>
                <a:ea typeface="맑은 고딕"/>
                <a:cs typeface="맑은 고딕"/>
              </a:rPr>
              <a:t>플랫폼 초기값</a:t>
            </a:r>
            <a:endParaRPr lang="ko-KR" altLang="en-US" sz="1200" dirty="0"/>
          </a:p>
        </p:txBody>
      </p:sp>
      <p:cxnSp>
        <p:nvCxnSpPr>
          <p:cNvPr id="15" name="Arrow 2"/>
          <p:cNvCxnSpPr/>
          <p:nvPr/>
        </p:nvCxnSpPr>
        <p:spPr>
          <a:xfrm>
            <a:off x="7303452" y="3761994"/>
            <a:ext cx="330200" cy="0"/>
          </a:xfrm>
          <a:prstGeom prst="line">
            <a:avLst/>
          </a:prstGeom>
          <a:ln w="15875">
            <a:solidFill>
              <a:srgbClr val="D97706"/>
            </a:solidFill>
            <a:tailEnd type="triangle" w="med" len="med"/>
          </a:ln>
        </p:spPr>
      </p:cxnSp>
      <p:sp>
        <p:nvSpPr>
          <p:cNvPr id="13" name="Label 2 Box"/>
          <p:cNvSpPr/>
          <p:nvPr/>
        </p:nvSpPr>
        <p:spPr>
          <a:xfrm>
            <a:off x="7633652" y="3622294"/>
            <a:ext cx="1906179" cy="279400"/>
          </a:xfrm>
          <a:prstGeom prst="roundRect">
            <a:avLst>
              <a:gd name="adj" fmla="val 20000"/>
            </a:avLst>
          </a:prstGeom>
          <a:solidFill>
            <a:srgbClr val="FEF5E7"/>
          </a:solidFill>
          <a:ln w="12700">
            <a:solidFill>
              <a:srgbClr val="D97706"/>
            </a:solidFill>
          </a:ln>
          <a:effectLst/>
        </p:spPr>
        <p:txBody>
          <a:bodyPr rtlCol="0" anchor="ctr"/>
          <a:lstStyle/>
          <a:p>
            <a:pPr algn="ctr"/>
          </a:p>
        </p:txBody>
      </p:sp>
      <p:sp>
        <p:nvSpPr>
          <p:cNvPr id="14" name="Label 2 Text"/>
          <p:cNvSpPr txBox="1"/>
          <p:nvPr/>
        </p:nvSpPr>
        <p:spPr>
          <a:xfrm>
            <a:off x="7633652" y="3622294"/>
            <a:ext cx="190617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97706"/>
                </a:solidFill>
                <a:latin typeface="맑은 고딕"/>
                <a:ea typeface="맑은 고딕"/>
                <a:cs typeface="맑은 고딕"/>
              </a:rPr>
              <a:t>시뮬레이션 전체 설정</a:t>
            </a:r>
            <a:endParaRPr lang="ko-KR" altLang="en-US" sz="1200" dirty="0"/>
          </a:p>
        </p:txBody>
      </p:sp>
      <p:sp>
        <p:nvSpPr>
          <p:cNvPr id="16" name="File Tag"/>
          <p:cNvSpPr txBox="1"/>
          <p:nvPr/>
        </p:nvSpPr>
        <p:spPr>
          <a:xfrm>
            <a:off x="6214872" y="1345184"/>
            <a:ext cx="5334000" cy="203200"/>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50" b="0" i="0" dirty="0">
                <a:solidFill>
                  <a:srgbClr val="8794AC"/>
                </a:solidFill>
                <a:latin typeface="Consolas"/>
                <a:ea typeface="맑은 고딕"/>
                <a:cs typeface="맑은 고딕"/>
              </a:rPr>
              <a:t>TargetSimCore/include/TargetSim.h  54 ~ 72행</a:t>
            </a:r>
            <a:endParaRPr lang="ko-KR" altLang="en-US" sz="10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02. 표적 정의</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2.3 구조체 구성과 흐름 (3/3)</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11</a:t>
            </a:r>
          </a:p>
        </p:txBody>
      </p:sp>
      <p:pic>
        <p:nvPicPr>
          <p:cNvPr id="7" name="Code Capture" descr="TargetSim.h 74-103"/>
          <p:cNvPicPr>
            <a:picLocks noChangeAspect="1"/>
          </p:cNvPicPr>
          <p:nvPr/>
        </p:nvPicPr>
        <p:blipFill>
          <a:blip r:embed="rId3"/>
          <a:stretch>
            <a:fillRect/>
          </a:stretch>
        </p:blipFill>
        <p:spPr>
          <a:xfrm>
            <a:off x="640080" y="1792224"/>
            <a:ext cx="6714172" cy="4358640"/>
          </a:xfrm>
          <a:prstGeom prst="rect">
            <a:avLst/>
          </a:prstGeom>
          <a:ln w="9525">
            <a:solidFill>
              <a:srgbClr val="C9D1DD"/>
            </a:solidFill>
          </a:ln>
        </p:spPr>
      </p:pic>
      <p:sp>
        <p:nvSpPr>
          <p:cNvPr id="8" name="Block 1"/>
          <p:cNvSpPr/>
          <p:nvPr/>
        </p:nvSpPr>
        <p:spPr>
          <a:xfrm>
            <a:off x="968692" y="1845564"/>
            <a:ext cx="6334760" cy="1318260"/>
          </a:xfrm>
          <a:prstGeom prst="roundRect">
            <a:avLst>
              <a:gd name="adj" fmla="val 2890"/>
            </a:avLst>
          </a:prstGeom>
          <a:solidFill>
            <a:srgbClr val="DC2626">
              <a:alpha val="9000"/>
            </a:srgbClr>
          </a:solidFill>
          <a:ln w="12700">
            <a:solidFill>
              <a:srgbClr val="DC2626"/>
            </a:solidFill>
          </a:ln>
          <a:effectLst/>
        </p:spPr>
        <p:txBody>
          <a:bodyPr rtlCol="0" anchor="ctr"/>
          <a:lstStyle/>
          <a:p>
            <a:pPr algn="ctr"/>
          </a:p>
        </p:txBody>
      </p:sp>
      <p:sp>
        <p:nvSpPr>
          <p:cNvPr id="9" name="Block 2"/>
          <p:cNvSpPr/>
          <p:nvPr/>
        </p:nvSpPr>
        <p:spPr>
          <a:xfrm>
            <a:off x="968692" y="3242564"/>
            <a:ext cx="6334760" cy="1318260"/>
          </a:xfrm>
          <a:prstGeom prst="roundRect">
            <a:avLst>
              <a:gd name="adj" fmla="val 2890"/>
            </a:avLst>
          </a:prstGeom>
          <a:solidFill>
            <a:srgbClr val="D97706">
              <a:alpha val="9000"/>
            </a:srgbClr>
          </a:solidFill>
          <a:ln w="12700">
            <a:solidFill>
              <a:srgbClr val="D97706"/>
            </a:solidFill>
          </a:ln>
          <a:effectLst/>
        </p:spPr>
        <p:txBody>
          <a:bodyPr rtlCol="0" anchor="ctr"/>
          <a:lstStyle/>
          <a:p>
            <a:pPr algn="ctr"/>
          </a:p>
        </p:txBody>
      </p:sp>
      <p:sp>
        <p:nvSpPr>
          <p:cNvPr id="10" name="Block 3"/>
          <p:cNvSpPr/>
          <p:nvPr/>
        </p:nvSpPr>
        <p:spPr>
          <a:xfrm>
            <a:off x="968692" y="4639564"/>
            <a:ext cx="6334760" cy="1038860"/>
          </a:xfrm>
          <a:prstGeom prst="roundRect">
            <a:avLst>
              <a:gd name="adj" fmla="val 3667"/>
            </a:avLst>
          </a:prstGeom>
          <a:solidFill>
            <a:srgbClr val="059669">
              <a:alpha val="9000"/>
            </a:srgbClr>
          </a:solidFill>
          <a:ln w="12700">
            <a:solidFill>
              <a:srgbClr val="059669"/>
            </a:solidFill>
          </a:ln>
          <a:effectLst/>
        </p:spPr>
        <p:txBody>
          <a:bodyPr rtlCol="0" anchor="ctr"/>
          <a:lstStyle/>
          <a:p>
            <a:pPr algn="ctr"/>
          </a:p>
        </p:txBody>
      </p:sp>
      <p:sp>
        <p:nvSpPr>
          <p:cNvPr id="11" name="Block 4"/>
          <p:cNvSpPr/>
          <p:nvPr/>
        </p:nvSpPr>
        <p:spPr>
          <a:xfrm>
            <a:off x="968692" y="5757164"/>
            <a:ext cx="6334760" cy="340360"/>
          </a:xfrm>
          <a:prstGeom prst="roundRect">
            <a:avLst>
              <a:gd name="adj" fmla="val 11194"/>
            </a:avLst>
          </a:prstGeom>
          <a:solidFill>
            <a:srgbClr val="2563EB">
              <a:alpha val="9000"/>
            </a:srgbClr>
          </a:solidFill>
          <a:ln w="12700">
            <a:solidFill>
              <a:srgbClr val="2563EB"/>
            </a:solidFill>
          </a:ln>
          <a:effectLst/>
        </p:spPr>
        <p:txBody>
          <a:bodyPr rtlCol="0" anchor="ctr"/>
          <a:lstStyle/>
          <a:p>
            <a:pPr algn="ctr"/>
          </a:p>
        </p:txBody>
      </p:sp>
      <p:cxnSp>
        <p:nvCxnSpPr>
          <p:cNvPr id="14" name="Arrow 1"/>
          <p:cNvCxnSpPr/>
          <p:nvPr/>
        </p:nvCxnSpPr>
        <p:spPr>
          <a:xfrm>
            <a:off x="7303452" y="2504694"/>
            <a:ext cx="330200" cy="0"/>
          </a:xfrm>
          <a:prstGeom prst="line">
            <a:avLst/>
          </a:prstGeom>
          <a:ln w="15875">
            <a:solidFill>
              <a:srgbClr val="DC2626"/>
            </a:solidFill>
            <a:tailEnd type="triangle" w="med" len="med"/>
          </a:ln>
        </p:spPr>
      </p:cxnSp>
      <p:sp>
        <p:nvSpPr>
          <p:cNvPr id="12" name="Label 1 Box"/>
          <p:cNvSpPr/>
          <p:nvPr/>
        </p:nvSpPr>
        <p:spPr>
          <a:xfrm>
            <a:off x="7633652" y="2364994"/>
            <a:ext cx="2235759" cy="279400"/>
          </a:xfrm>
          <a:prstGeom prst="roundRect">
            <a:avLst>
              <a:gd name="adj" fmla="val 20000"/>
            </a:avLst>
          </a:prstGeom>
          <a:solidFill>
            <a:srgbClr val="FDEEEE"/>
          </a:solidFill>
          <a:ln w="12700">
            <a:solidFill>
              <a:srgbClr val="DC2626"/>
            </a:solidFill>
          </a:ln>
          <a:effectLst/>
        </p:spPr>
        <p:txBody>
          <a:bodyPr rtlCol="0" anchor="ctr"/>
          <a:lstStyle/>
          <a:p>
            <a:pPr algn="ctr"/>
          </a:p>
        </p:txBody>
      </p:sp>
      <p:sp>
        <p:nvSpPr>
          <p:cNvPr id="13" name="Label 1 Text"/>
          <p:cNvSpPr txBox="1"/>
          <p:nvPr/>
        </p:nvSpPr>
        <p:spPr>
          <a:xfrm>
            <a:off x="7633652" y="2364994"/>
            <a:ext cx="223575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C2626"/>
                </a:solidFill>
                <a:latin typeface="맑은 고딕"/>
                <a:ea typeface="맑은 고딕"/>
                <a:cs typeface="맑은 고딕"/>
              </a:rPr>
              <a:t>플랫폼 · 표적 하나의 상태</a:t>
            </a:r>
            <a:endParaRPr lang="ko-KR" altLang="en-US" sz="1200" dirty="0"/>
          </a:p>
        </p:txBody>
      </p:sp>
      <p:cxnSp>
        <p:nvCxnSpPr>
          <p:cNvPr id="17" name="Arrow 2"/>
          <p:cNvCxnSpPr/>
          <p:nvPr/>
        </p:nvCxnSpPr>
        <p:spPr>
          <a:xfrm>
            <a:off x="7303452" y="3901694"/>
            <a:ext cx="330200" cy="0"/>
          </a:xfrm>
          <a:prstGeom prst="line">
            <a:avLst/>
          </a:prstGeom>
          <a:ln w="15875">
            <a:solidFill>
              <a:srgbClr val="D97706"/>
            </a:solidFill>
            <a:tailEnd type="triangle" w="med" len="med"/>
          </a:ln>
        </p:spPr>
      </p:cxnSp>
      <p:sp>
        <p:nvSpPr>
          <p:cNvPr id="15" name="Label 2 Box"/>
          <p:cNvSpPr/>
          <p:nvPr/>
        </p:nvSpPr>
        <p:spPr>
          <a:xfrm>
            <a:off x="7633652" y="3761994"/>
            <a:ext cx="1403259" cy="279400"/>
          </a:xfrm>
          <a:prstGeom prst="roundRect">
            <a:avLst>
              <a:gd name="adj" fmla="val 20000"/>
            </a:avLst>
          </a:prstGeom>
          <a:solidFill>
            <a:srgbClr val="FEF5E7"/>
          </a:solidFill>
          <a:ln w="12700">
            <a:solidFill>
              <a:srgbClr val="D97706"/>
            </a:solidFill>
          </a:ln>
          <a:effectLst/>
        </p:spPr>
        <p:txBody>
          <a:bodyPr rtlCol="0" anchor="ctr"/>
          <a:lstStyle/>
          <a:p>
            <a:pPr algn="ctr"/>
          </a:p>
        </p:txBody>
      </p:sp>
      <p:sp>
        <p:nvSpPr>
          <p:cNvPr id="16" name="Label 2 Text"/>
          <p:cNvSpPr txBox="1"/>
          <p:nvPr/>
        </p:nvSpPr>
        <p:spPr>
          <a:xfrm>
            <a:off x="7633652" y="3761994"/>
            <a:ext cx="140325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97706"/>
                </a:solidFill>
                <a:latin typeface="맑은 고딕"/>
                <a:ea typeface="맑은 고딕"/>
                <a:cs typeface="맑은 고딕"/>
              </a:rPr>
              <a:t>한 시각의 결과</a:t>
            </a:r>
            <a:endParaRPr lang="ko-KR" altLang="en-US" sz="1200" dirty="0"/>
          </a:p>
        </p:txBody>
      </p:sp>
      <p:cxnSp>
        <p:nvCxnSpPr>
          <p:cNvPr id="20" name="Arrow 3"/>
          <p:cNvCxnSpPr/>
          <p:nvPr/>
        </p:nvCxnSpPr>
        <p:spPr>
          <a:xfrm>
            <a:off x="7303452" y="5158994"/>
            <a:ext cx="330200" cy="0"/>
          </a:xfrm>
          <a:prstGeom prst="line">
            <a:avLst/>
          </a:prstGeom>
          <a:ln w="15875">
            <a:solidFill>
              <a:srgbClr val="059669"/>
            </a:solidFill>
            <a:tailEnd type="triangle" w="med" len="med"/>
          </a:ln>
        </p:spPr>
      </p:cxnSp>
      <p:sp>
        <p:nvSpPr>
          <p:cNvPr id="18" name="Label 3 Box"/>
          <p:cNvSpPr/>
          <p:nvPr/>
        </p:nvSpPr>
        <p:spPr>
          <a:xfrm>
            <a:off x="7633652" y="5019294"/>
            <a:ext cx="1008969" cy="279400"/>
          </a:xfrm>
          <a:prstGeom prst="roundRect">
            <a:avLst>
              <a:gd name="adj" fmla="val 20000"/>
            </a:avLst>
          </a:prstGeom>
          <a:solidFill>
            <a:srgbClr val="E8F6F0"/>
          </a:solidFill>
          <a:ln w="12700">
            <a:solidFill>
              <a:srgbClr val="059669"/>
            </a:solidFill>
          </a:ln>
          <a:effectLst/>
        </p:spPr>
        <p:txBody>
          <a:bodyPr rtlCol="0" anchor="ctr"/>
          <a:lstStyle/>
          <a:p>
            <a:pPr algn="ctr"/>
          </a:p>
        </p:txBody>
      </p:sp>
      <p:sp>
        <p:nvSpPr>
          <p:cNvPr id="19" name="Label 3 Text"/>
          <p:cNvSpPr txBox="1"/>
          <p:nvPr/>
        </p:nvSpPr>
        <p:spPr>
          <a:xfrm>
            <a:off x="7633652" y="5019294"/>
            <a:ext cx="100896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059669"/>
                </a:solidFill>
                <a:latin typeface="맑은 고딕"/>
                <a:ea typeface="맑은 고딕"/>
                <a:cs typeface="맑은 고딕"/>
              </a:rPr>
              <a:t>진행 상태</a:t>
            </a:r>
            <a:endParaRPr lang="ko-KR" altLang="en-US" sz="1200" dirty="0"/>
          </a:p>
        </p:txBody>
      </p:sp>
      <p:cxnSp>
        <p:nvCxnSpPr>
          <p:cNvPr id="23" name="Arrow 4"/>
          <p:cNvCxnSpPr/>
          <p:nvPr/>
        </p:nvCxnSpPr>
        <p:spPr>
          <a:xfrm>
            <a:off x="7303452" y="5927344"/>
            <a:ext cx="330200" cy="0"/>
          </a:xfrm>
          <a:prstGeom prst="line">
            <a:avLst/>
          </a:prstGeom>
          <a:ln w="15875">
            <a:solidFill>
              <a:srgbClr val="2563EB"/>
            </a:solidFill>
            <a:tailEnd type="triangle" w="med" len="med"/>
          </a:ln>
        </p:spPr>
      </p:cxnSp>
      <p:sp>
        <p:nvSpPr>
          <p:cNvPr id="21" name="Label 4 Box"/>
          <p:cNvSpPr/>
          <p:nvPr/>
        </p:nvSpPr>
        <p:spPr>
          <a:xfrm>
            <a:off x="7633652" y="5787644"/>
            <a:ext cx="1636781" cy="279400"/>
          </a:xfrm>
          <a:prstGeom prst="roundRect">
            <a:avLst>
              <a:gd name="adj" fmla="val 20000"/>
            </a:avLst>
          </a:prstGeom>
          <a:solidFill>
            <a:srgbClr val="EBF2FE"/>
          </a:solidFill>
          <a:ln w="12700">
            <a:solidFill>
              <a:srgbClr val="2563EB"/>
            </a:solidFill>
          </a:ln>
          <a:effectLst/>
        </p:spPr>
        <p:txBody>
          <a:bodyPr rtlCol="0" anchor="ctr"/>
          <a:lstStyle/>
          <a:p>
            <a:pPr algn="ctr"/>
          </a:p>
        </p:txBody>
      </p:sp>
      <p:sp>
        <p:nvSpPr>
          <p:cNvPr id="22" name="Label 4 Text"/>
          <p:cNvSpPr txBox="1"/>
          <p:nvPr/>
        </p:nvSpPr>
        <p:spPr>
          <a:xfrm>
            <a:off x="7633652" y="5787644"/>
            <a:ext cx="1636781"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2563EB"/>
                </a:solidFill>
                <a:latin typeface="맑은 고딕"/>
                <a:ea typeface="맑은 고딕"/>
                <a:cs typeface="맑은 고딕"/>
              </a:rPr>
              <a:t>UI 가 부르는 함수</a:t>
            </a:r>
            <a:endParaRPr lang="ko-KR" altLang="en-US" sz="1200" dirty="0"/>
          </a:p>
        </p:txBody>
      </p:sp>
      <p:sp>
        <p:nvSpPr>
          <p:cNvPr id="24" name="File Tag"/>
          <p:cNvSpPr txBox="1"/>
          <p:nvPr/>
        </p:nvSpPr>
        <p:spPr>
          <a:xfrm>
            <a:off x="6214872" y="1345184"/>
            <a:ext cx="5334000" cy="203200"/>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50" b="0" i="0" dirty="0">
                <a:solidFill>
                  <a:srgbClr val="8794AC"/>
                </a:solidFill>
                <a:latin typeface="Consolas"/>
                <a:ea typeface="맑은 고딕"/>
                <a:cs typeface="맑은 고딕"/>
              </a:rPr>
              <a:t>TargetSimCore/include/TargetSim.h  74 ~ 103행</a:t>
            </a:r>
            <a:endParaRPr lang="ko-KR" altLang="en-US" sz="10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3.1 초기화 코드</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13</a:t>
            </a:r>
          </a:p>
        </p:txBody>
      </p:sp>
      <p:pic>
        <p:nvPicPr>
          <p:cNvPr id="7" name="Code Capture" descr="TargetSim.c 156-181"/>
          <p:cNvPicPr>
            <a:picLocks noChangeAspect="1"/>
          </p:cNvPicPr>
          <p:nvPr/>
        </p:nvPicPr>
        <p:blipFill>
          <a:blip r:embed="rId3"/>
          <a:stretch>
            <a:fillRect/>
          </a:stretch>
        </p:blipFill>
        <p:spPr>
          <a:xfrm>
            <a:off x="640080" y="1792224"/>
            <a:ext cx="6714172" cy="4079240"/>
          </a:xfrm>
          <a:prstGeom prst="rect">
            <a:avLst/>
          </a:prstGeom>
          <a:ln w="9525">
            <a:solidFill>
              <a:srgbClr val="C9D1DD"/>
            </a:solidFill>
          </a:ln>
        </p:spPr>
      </p:pic>
      <p:sp>
        <p:nvSpPr>
          <p:cNvPr id="8" name="Block 1"/>
          <p:cNvSpPr/>
          <p:nvPr/>
        </p:nvSpPr>
        <p:spPr>
          <a:xfrm>
            <a:off x="968692" y="2823464"/>
            <a:ext cx="6334760" cy="200660"/>
          </a:xfrm>
          <a:prstGeom prst="roundRect">
            <a:avLst>
              <a:gd name="adj" fmla="val 18987"/>
            </a:avLst>
          </a:prstGeom>
          <a:solidFill>
            <a:srgbClr val="DC2626">
              <a:alpha val="9000"/>
            </a:srgbClr>
          </a:solidFill>
          <a:ln w="12700">
            <a:solidFill>
              <a:srgbClr val="DC2626"/>
            </a:solidFill>
          </a:ln>
          <a:effectLst/>
        </p:spPr>
        <p:txBody>
          <a:bodyPr rtlCol="0" anchor="ctr"/>
          <a:lstStyle/>
          <a:p>
            <a:pPr algn="ctr"/>
          </a:p>
        </p:txBody>
      </p:sp>
      <p:sp>
        <p:nvSpPr>
          <p:cNvPr id="9" name="Block 2"/>
          <p:cNvSpPr/>
          <p:nvPr/>
        </p:nvSpPr>
        <p:spPr>
          <a:xfrm>
            <a:off x="968692" y="3102864"/>
            <a:ext cx="6334760" cy="340360"/>
          </a:xfrm>
          <a:prstGeom prst="roundRect">
            <a:avLst>
              <a:gd name="adj" fmla="val 11194"/>
            </a:avLst>
          </a:prstGeom>
          <a:solidFill>
            <a:srgbClr val="D97706">
              <a:alpha val="9000"/>
            </a:srgbClr>
          </a:solidFill>
          <a:ln w="12700">
            <a:solidFill>
              <a:srgbClr val="D97706"/>
            </a:solidFill>
          </a:ln>
          <a:effectLst/>
        </p:spPr>
        <p:txBody>
          <a:bodyPr rtlCol="0" anchor="ctr"/>
          <a:lstStyle/>
          <a:p>
            <a:pPr algn="ctr"/>
          </a:p>
        </p:txBody>
      </p:sp>
      <p:sp>
        <p:nvSpPr>
          <p:cNvPr id="10" name="Block 3"/>
          <p:cNvSpPr/>
          <p:nvPr/>
        </p:nvSpPr>
        <p:spPr>
          <a:xfrm>
            <a:off x="968692" y="3521964"/>
            <a:ext cx="6334760" cy="480060"/>
          </a:xfrm>
          <a:prstGeom prst="roundRect">
            <a:avLst>
              <a:gd name="adj" fmla="val 7937"/>
            </a:avLst>
          </a:prstGeom>
          <a:solidFill>
            <a:srgbClr val="059669">
              <a:alpha val="9000"/>
            </a:srgbClr>
          </a:solidFill>
          <a:ln w="12700">
            <a:solidFill>
              <a:srgbClr val="059669"/>
            </a:solidFill>
          </a:ln>
          <a:effectLst/>
        </p:spPr>
        <p:txBody>
          <a:bodyPr rtlCol="0" anchor="ctr"/>
          <a:lstStyle/>
          <a:p>
            <a:pPr algn="ctr"/>
          </a:p>
        </p:txBody>
      </p:sp>
      <p:sp>
        <p:nvSpPr>
          <p:cNvPr id="11" name="Block 4"/>
          <p:cNvSpPr/>
          <p:nvPr/>
        </p:nvSpPr>
        <p:spPr>
          <a:xfrm>
            <a:off x="968692" y="4080764"/>
            <a:ext cx="6334760" cy="1567180"/>
          </a:xfrm>
          <a:prstGeom prst="roundRect">
            <a:avLst>
              <a:gd name="adj" fmla="val 2431"/>
            </a:avLst>
          </a:prstGeom>
          <a:solidFill>
            <a:srgbClr val="2563EB">
              <a:alpha val="9000"/>
            </a:srgbClr>
          </a:solidFill>
          <a:ln w="12700">
            <a:solidFill>
              <a:srgbClr val="2563EB"/>
            </a:solidFill>
          </a:ln>
          <a:effectLst/>
        </p:spPr>
        <p:txBody>
          <a:bodyPr rtlCol="0" anchor="ctr"/>
          <a:lstStyle/>
          <a:p>
            <a:pPr algn="ctr"/>
          </a:p>
        </p:txBody>
      </p:sp>
      <p:cxnSp>
        <p:nvCxnSpPr>
          <p:cNvPr id="14" name="Arrow 1"/>
          <p:cNvCxnSpPr/>
          <p:nvPr/>
        </p:nvCxnSpPr>
        <p:spPr>
          <a:xfrm>
            <a:off x="7303452" y="2923794"/>
            <a:ext cx="330200" cy="0"/>
          </a:xfrm>
          <a:prstGeom prst="line">
            <a:avLst/>
          </a:prstGeom>
          <a:ln w="15875">
            <a:solidFill>
              <a:srgbClr val="DC2626"/>
            </a:solidFill>
            <a:tailEnd type="triangle" w="med" len="med"/>
          </a:ln>
        </p:spPr>
      </p:cxnSp>
      <p:sp>
        <p:nvSpPr>
          <p:cNvPr id="12" name="Label 1 Box"/>
          <p:cNvSpPr/>
          <p:nvPr/>
        </p:nvSpPr>
        <p:spPr>
          <a:xfrm>
            <a:off x="7633652" y="2784094"/>
            <a:ext cx="1008969" cy="279400"/>
          </a:xfrm>
          <a:prstGeom prst="roundRect">
            <a:avLst>
              <a:gd name="adj" fmla="val 20000"/>
            </a:avLst>
          </a:prstGeom>
          <a:solidFill>
            <a:srgbClr val="FDEEEE"/>
          </a:solidFill>
          <a:ln w="12700">
            <a:solidFill>
              <a:srgbClr val="DC2626"/>
            </a:solidFill>
          </a:ln>
          <a:effectLst/>
        </p:spPr>
        <p:txBody>
          <a:bodyPr rtlCol="0" anchor="ctr"/>
          <a:lstStyle/>
          <a:p>
            <a:pPr algn="ctr"/>
          </a:p>
        </p:txBody>
      </p:sp>
      <p:sp>
        <p:nvSpPr>
          <p:cNvPr id="13" name="Label 1 Text"/>
          <p:cNvSpPr txBox="1"/>
          <p:nvPr/>
        </p:nvSpPr>
        <p:spPr>
          <a:xfrm>
            <a:off x="7633652" y="2784094"/>
            <a:ext cx="100896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C2626"/>
                </a:solidFill>
                <a:latin typeface="맑은 고딕"/>
                <a:ea typeface="맑은 고딕"/>
                <a:cs typeface="맑은 고딕"/>
              </a:rPr>
              <a:t>설정 복사</a:t>
            </a:r>
            <a:endParaRPr lang="ko-KR" altLang="en-US" sz="1200" dirty="0"/>
          </a:p>
        </p:txBody>
      </p:sp>
      <p:cxnSp>
        <p:nvCxnSpPr>
          <p:cNvPr id="17" name="Arrow 2"/>
          <p:cNvCxnSpPr/>
          <p:nvPr/>
        </p:nvCxnSpPr>
        <p:spPr>
          <a:xfrm>
            <a:off x="7303452" y="3273044"/>
            <a:ext cx="330200" cy="0"/>
          </a:xfrm>
          <a:prstGeom prst="line">
            <a:avLst/>
          </a:prstGeom>
          <a:ln w="15875">
            <a:solidFill>
              <a:srgbClr val="D97706"/>
            </a:solidFill>
            <a:tailEnd type="triangle" w="med" len="med"/>
          </a:ln>
        </p:spPr>
      </p:cxnSp>
      <p:sp>
        <p:nvSpPr>
          <p:cNvPr id="15" name="Label 2 Box"/>
          <p:cNvSpPr/>
          <p:nvPr/>
        </p:nvSpPr>
        <p:spPr>
          <a:xfrm>
            <a:off x="7633652" y="3133344"/>
            <a:ext cx="841329" cy="279400"/>
          </a:xfrm>
          <a:prstGeom prst="roundRect">
            <a:avLst>
              <a:gd name="adj" fmla="val 20000"/>
            </a:avLst>
          </a:prstGeom>
          <a:solidFill>
            <a:srgbClr val="FEF5E7"/>
          </a:solidFill>
          <a:ln w="12700">
            <a:solidFill>
              <a:srgbClr val="D97706"/>
            </a:solidFill>
          </a:ln>
          <a:effectLst/>
        </p:spPr>
        <p:txBody>
          <a:bodyPr rtlCol="0" anchor="ctr"/>
          <a:lstStyle/>
          <a:p>
            <a:pPr algn="ctr"/>
          </a:p>
        </p:txBody>
      </p:sp>
      <p:sp>
        <p:nvSpPr>
          <p:cNvPr id="16" name="Label 2 Text"/>
          <p:cNvSpPr txBox="1"/>
          <p:nvPr/>
        </p:nvSpPr>
        <p:spPr>
          <a:xfrm>
            <a:off x="7633652" y="3133344"/>
            <a:ext cx="84132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97706"/>
                </a:solidFill>
                <a:latin typeface="맑은 고딕"/>
                <a:ea typeface="맑은 고딕"/>
                <a:cs typeface="맑은 고딕"/>
              </a:rPr>
              <a:t>스텝 수</a:t>
            </a:r>
            <a:endParaRPr lang="ko-KR" altLang="en-US" sz="1200" dirty="0"/>
          </a:p>
        </p:txBody>
      </p:sp>
      <p:cxnSp>
        <p:nvCxnSpPr>
          <p:cNvPr id="20" name="Arrow 3"/>
          <p:cNvCxnSpPr/>
          <p:nvPr/>
        </p:nvCxnSpPr>
        <p:spPr>
          <a:xfrm>
            <a:off x="7303452" y="3761994"/>
            <a:ext cx="330200" cy="0"/>
          </a:xfrm>
          <a:prstGeom prst="line">
            <a:avLst/>
          </a:prstGeom>
          <a:ln w="15875">
            <a:solidFill>
              <a:srgbClr val="059669"/>
            </a:solidFill>
            <a:tailEnd type="triangle" w="med" len="med"/>
          </a:ln>
        </p:spPr>
      </p:cxnSp>
      <p:sp>
        <p:nvSpPr>
          <p:cNvPr id="18" name="Label 3 Box"/>
          <p:cNvSpPr/>
          <p:nvPr/>
        </p:nvSpPr>
        <p:spPr>
          <a:xfrm>
            <a:off x="7633652" y="3622294"/>
            <a:ext cx="1273840" cy="279400"/>
          </a:xfrm>
          <a:prstGeom prst="roundRect">
            <a:avLst>
              <a:gd name="adj" fmla="val 20000"/>
            </a:avLst>
          </a:prstGeom>
          <a:solidFill>
            <a:srgbClr val="E8F6F0"/>
          </a:solidFill>
          <a:ln w="12700">
            <a:solidFill>
              <a:srgbClr val="059669"/>
            </a:solidFill>
          </a:ln>
          <a:effectLst/>
        </p:spPr>
        <p:txBody>
          <a:bodyPr rtlCol="0" anchor="ctr"/>
          <a:lstStyle/>
          <a:p>
            <a:pPr algn="ctr"/>
          </a:p>
        </p:txBody>
      </p:sp>
      <p:sp>
        <p:nvSpPr>
          <p:cNvPr id="19" name="Label 3 Text"/>
          <p:cNvSpPr txBox="1"/>
          <p:nvPr/>
        </p:nvSpPr>
        <p:spPr>
          <a:xfrm>
            <a:off x="7633652" y="3622294"/>
            <a:ext cx="1273840"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059669"/>
                </a:solidFill>
                <a:latin typeface="맑은 고딕"/>
                <a:ea typeface="맑은 고딕"/>
                <a:cs typeface="맑은 고딕"/>
              </a:rPr>
              <a:t>결과를 0초로</a:t>
            </a:r>
            <a:endParaRPr lang="ko-KR" altLang="en-US" sz="1200" dirty="0"/>
          </a:p>
        </p:txBody>
      </p:sp>
      <p:cxnSp>
        <p:nvCxnSpPr>
          <p:cNvPr id="23" name="Arrow 4"/>
          <p:cNvCxnSpPr/>
          <p:nvPr/>
        </p:nvCxnSpPr>
        <p:spPr>
          <a:xfrm>
            <a:off x="7303452" y="4864354"/>
            <a:ext cx="330200" cy="0"/>
          </a:xfrm>
          <a:prstGeom prst="line">
            <a:avLst/>
          </a:prstGeom>
          <a:ln w="15875">
            <a:solidFill>
              <a:srgbClr val="2563EB"/>
            </a:solidFill>
            <a:tailEnd type="triangle" w="med" len="med"/>
          </a:ln>
        </p:spPr>
      </p:cxnSp>
      <p:sp>
        <p:nvSpPr>
          <p:cNvPr id="21" name="Label 4 Box"/>
          <p:cNvSpPr/>
          <p:nvPr/>
        </p:nvSpPr>
        <p:spPr>
          <a:xfrm>
            <a:off x="7633652" y="4724654"/>
            <a:ext cx="1435781" cy="279400"/>
          </a:xfrm>
          <a:prstGeom prst="roundRect">
            <a:avLst>
              <a:gd name="adj" fmla="val 20000"/>
            </a:avLst>
          </a:prstGeom>
          <a:solidFill>
            <a:srgbClr val="EBF2FE"/>
          </a:solidFill>
          <a:ln w="12700">
            <a:solidFill>
              <a:srgbClr val="2563EB"/>
            </a:solidFill>
          </a:ln>
          <a:effectLst/>
        </p:spPr>
        <p:txBody>
          <a:bodyPr rtlCol="0" anchor="ctr"/>
          <a:lstStyle/>
          <a:p>
            <a:pPr algn="ctr"/>
          </a:p>
        </p:txBody>
      </p:sp>
      <p:sp>
        <p:nvSpPr>
          <p:cNvPr id="22" name="Label 4 Text"/>
          <p:cNvSpPr txBox="1"/>
          <p:nvPr/>
        </p:nvSpPr>
        <p:spPr>
          <a:xfrm>
            <a:off x="7633652" y="4724654"/>
            <a:ext cx="1435781"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2563EB"/>
                </a:solidFill>
                <a:latin typeface="맑은 고딕"/>
                <a:ea typeface="맑은 고딕"/>
                <a:cs typeface="맑은 고딕"/>
              </a:rPr>
              <a:t>0초 위치 · 속도</a:t>
            </a:r>
            <a:endParaRPr lang="ko-KR" altLang="en-US" sz="1200" dirty="0"/>
          </a:p>
        </p:txBody>
      </p:sp>
      <p:sp>
        <p:nvSpPr>
          <p:cNvPr id="24" name="File Tag"/>
          <p:cNvSpPr txBox="1"/>
          <p:nvPr/>
        </p:nvSpPr>
        <p:spPr>
          <a:xfrm>
            <a:off x="6214872" y="1345184"/>
            <a:ext cx="5334000" cy="203200"/>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50" b="0" i="0" dirty="0">
                <a:solidFill>
                  <a:srgbClr val="8794AC"/>
                </a:solidFill>
                <a:latin typeface="Consolas"/>
                <a:ea typeface="맑은 고딕"/>
                <a:cs typeface="맑은 고딕"/>
              </a:rPr>
              <a:t>TargetSimCore/src/TargetSim.c  156 ~ 181행</a:t>
            </a:r>
            <a:endParaRPr lang="ko-KR" altLang="en-US" sz="1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3.3 한 스텝 진행 코드</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15</a:t>
            </a:r>
          </a:p>
        </p:txBody>
      </p:sp>
      <p:pic>
        <p:nvPicPr>
          <p:cNvPr id="7" name="Code Capture" descr="TargetSim.c 183-213"/>
          <p:cNvPicPr>
            <a:picLocks noChangeAspect="1"/>
          </p:cNvPicPr>
          <p:nvPr/>
        </p:nvPicPr>
        <p:blipFill>
          <a:blip r:embed="rId3"/>
          <a:stretch>
            <a:fillRect/>
          </a:stretch>
        </p:blipFill>
        <p:spPr>
          <a:xfrm>
            <a:off x="640080" y="1792224"/>
            <a:ext cx="6714172" cy="4342892"/>
          </a:xfrm>
          <a:prstGeom prst="rect">
            <a:avLst/>
          </a:prstGeom>
          <a:ln w="9525">
            <a:solidFill>
              <a:srgbClr val="C9D1DD"/>
            </a:solidFill>
          </a:ln>
        </p:spPr>
      </p:pic>
      <p:sp>
        <p:nvSpPr>
          <p:cNvPr id="8" name="Block 1"/>
          <p:cNvSpPr/>
          <p:nvPr/>
        </p:nvSpPr>
        <p:spPr>
          <a:xfrm>
            <a:off x="968692" y="3409950"/>
            <a:ext cx="6334760" cy="453390"/>
          </a:xfrm>
          <a:prstGeom prst="roundRect">
            <a:avLst>
              <a:gd name="adj" fmla="val 8403"/>
            </a:avLst>
          </a:prstGeom>
          <a:solidFill>
            <a:srgbClr val="DC2626">
              <a:alpha val="9000"/>
            </a:srgbClr>
          </a:solidFill>
          <a:ln w="12700">
            <a:solidFill>
              <a:srgbClr val="DC2626"/>
            </a:solidFill>
          </a:ln>
          <a:effectLst/>
        </p:spPr>
        <p:txBody>
          <a:bodyPr rtlCol="0" anchor="ctr"/>
          <a:lstStyle/>
          <a:p>
            <a:pPr algn="ctr"/>
          </a:p>
        </p:txBody>
      </p:sp>
      <p:sp>
        <p:nvSpPr>
          <p:cNvPr id="9" name="Block 2"/>
          <p:cNvSpPr/>
          <p:nvPr/>
        </p:nvSpPr>
        <p:spPr>
          <a:xfrm>
            <a:off x="968692" y="3933190"/>
            <a:ext cx="6334760" cy="453390"/>
          </a:xfrm>
          <a:prstGeom prst="roundRect">
            <a:avLst>
              <a:gd name="adj" fmla="val 8403"/>
            </a:avLst>
          </a:prstGeom>
          <a:solidFill>
            <a:srgbClr val="D97706">
              <a:alpha val="9000"/>
            </a:srgbClr>
          </a:solidFill>
          <a:ln w="12700">
            <a:solidFill>
              <a:srgbClr val="D97706"/>
            </a:solidFill>
          </a:ln>
          <a:effectLst/>
        </p:spPr>
        <p:txBody>
          <a:bodyPr rtlCol="0" anchor="ctr"/>
          <a:lstStyle/>
          <a:p>
            <a:pPr algn="ctr"/>
          </a:p>
        </p:txBody>
      </p:sp>
      <p:sp>
        <p:nvSpPr>
          <p:cNvPr id="10" name="Block 3"/>
          <p:cNvSpPr/>
          <p:nvPr/>
        </p:nvSpPr>
        <p:spPr>
          <a:xfrm>
            <a:off x="968692" y="4456430"/>
            <a:ext cx="6334760" cy="1107440"/>
          </a:xfrm>
          <a:prstGeom prst="roundRect">
            <a:avLst>
              <a:gd name="adj" fmla="val 3440"/>
            </a:avLst>
          </a:prstGeom>
          <a:solidFill>
            <a:srgbClr val="059669">
              <a:alpha val="9000"/>
            </a:srgbClr>
          </a:solidFill>
          <a:ln w="12700">
            <a:solidFill>
              <a:srgbClr val="059669"/>
            </a:solidFill>
          </a:ln>
          <a:effectLst/>
        </p:spPr>
        <p:txBody>
          <a:bodyPr rtlCol="0" anchor="ctr"/>
          <a:lstStyle/>
          <a:p>
            <a:pPr algn="ctr"/>
          </a:p>
        </p:txBody>
      </p:sp>
      <p:sp>
        <p:nvSpPr>
          <p:cNvPr id="11" name="Block 4"/>
          <p:cNvSpPr/>
          <p:nvPr/>
        </p:nvSpPr>
        <p:spPr>
          <a:xfrm>
            <a:off x="968692" y="5633720"/>
            <a:ext cx="6334760" cy="292100"/>
          </a:xfrm>
          <a:prstGeom prst="roundRect">
            <a:avLst>
              <a:gd name="adj" fmla="val 13043"/>
            </a:avLst>
          </a:prstGeom>
          <a:solidFill>
            <a:srgbClr val="2563EB">
              <a:alpha val="9000"/>
            </a:srgbClr>
          </a:solidFill>
          <a:ln w="12700">
            <a:solidFill>
              <a:srgbClr val="2563EB"/>
            </a:solidFill>
          </a:ln>
          <a:effectLst/>
        </p:spPr>
        <p:txBody>
          <a:bodyPr rtlCol="0" anchor="ctr"/>
          <a:lstStyle/>
          <a:p>
            <a:pPr algn="ctr"/>
          </a:p>
        </p:txBody>
      </p:sp>
      <p:cxnSp>
        <p:nvCxnSpPr>
          <p:cNvPr id="14" name="Arrow 1"/>
          <p:cNvCxnSpPr/>
          <p:nvPr/>
        </p:nvCxnSpPr>
        <p:spPr>
          <a:xfrm>
            <a:off x="7303452" y="3636645"/>
            <a:ext cx="330200" cy="0"/>
          </a:xfrm>
          <a:prstGeom prst="line">
            <a:avLst/>
          </a:prstGeom>
          <a:ln w="15875">
            <a:solidFill>
              <a:srgbClr val="DC2626"/>
            </a:solidFill>
            <a:tailEnd type="triangle" w="med" len="med"/>
          </a:ln>
        </p:spPr>
      </p:cxnSp>
      <p:sp>
        <p:nvSpPr>
          <p:cNvPr id="12" name="Label 1 Box"/>
          <p:cNvSpPr/>
          <p:nvPr/>
        </p:nvSpPr>
        <p:spPr>
          <a:xfrm>
            <a:off x="7633652" y="3496945"/>
            <a:ext cx="1900479" cy="279400"/>
          </a:xfrm>
          <a:prstGeom prst="roundRect">
            <a:avLst>
              <a:gd name="adj" fmla="val 20000"/>
            </a:avLst>
          </a:prstGeom>
          <a:solidFill>
            <a:srgbClr val="FDEEEE"/>
          </a:solidFill>
          <a:ln w="12700">
            <a:solidFill>
              <a:srgbClr val="DC2626"/>
            </a:solidFill>
          </a:ln>
          <a:effectLst/>
        </p:spPr>
        <p:txBody>
          <a:bodyPr rtlCol="0" anchor="ctr"/>
          <a:lstStyle/>
          <a:p>
            <a:pPr algn="ctr"/>
          </a:p>
        </p:txBody>
      </p:sp>
      <p:sp>
        <p:nvSpPr>
          <p:cNvPr id="13" name="Label 1 Text"/>
          <p:cNvSpPr txBox="1"/>
          <p:nvPr/>
        </p:nvSpPr>
        <p:spPr>
          <a:xfrm>
            <a:off x="7633652" y="3496945"/>
            <a:ext cx="190047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C2626"/>
                </a:solidFill>
                <a:latin typeface="맑은 고딕"/>
                <a:ea typeface="맑은 고딕"/>
                <a:cs typeface="맑은 고딕"/>
              </a:rPr>
              <a:t>지금 시각 · 다음 시각</a:t>
            </a:r>
            <a:endParaRPr lang="ko-KR" altLang="en-US" sz="1200" dirty="0"/>
          </a:p>
        </p:txBody>
      </p:sp>
      <p:cxnSp>
        <p:nvCxnSpPr>
          <p:cNvPr id="17" name="Arrow 2"/>
          <p:cNvCxnSpPr/>
          <p:nvPr/>
        </p:nvCxnSpPr>
        <p:spPr>
          <a:xfrm>
            <a:off x="7303452" y="4159885"/>
            <a:ext cx="330200" cy="0"/>
          </a:xfrm>
          <a:prstGeom prst="line">
            <a:avLst/>
          </a:prstGeom>
          <a:ln w="15875">
            <a:solidFill>
              <a:srgbClr val="D97706"/>
            </a:solidFill>
            <a:tailEnd type="triangle" w="med" len="med"/>
          </a:ln>
        </p:spPr>
      </p:cxnSp>
      <p:sp>
        <p:nvSpPr>
          <p:cNvPr id="15" name="Label 2 Box"/>
          <p:cNvSpPr/>
          <p:nvPr/>
        </p:nvSpPr>
        <p:spPr>
          <a:xfrm>
            <a:off x="7633652" y="4020185"/>
            <a:ext cx="1641643" cy="279400"/>
          </a:xfrm>
          <a:prstGeom prst="roundRect">
            <a:avLst>
              <a:gd name="adj" fmla="val 20000"/>
            </a:avLst>
          </a:prstGeom>
          <a:solidFill>
            <a:srgbClr val="FEF5E7"/>
          </a:solidFill>
          <a:ln w="12700">
            <a:solidFill>
              <a:srgbClr val="D97706"/>
            </a:solidFill>
          </a:ln>
          <a:effectLst/>
        </p:spPr>
        <p:txBody>
          <a:bodyPr rtlCol="0" anchor="ctr"/>
          <a:lstStyle/>
          <a:p>
            <a:pPr algn="ctr"/>
          </a:p>
        </p:txBody>
      </p:sp>
      <p:sp>
        <p:nvSpPr>
          <p:cNvPr id="16" name="Label 2 Text"/>
          <p:cNvSpPr txBox="1"/>
          <p:nvPr/>
        </p:nvSpPr>
        <p:spPr>
          <a:xfrm>
            <a:off x="7633652" y="4020185"/>
            <a:ext cx="1641643"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97706"/>
                </a:solidFill>
                <a:latin typeface="맑은 고딕"/>
                <a:ea typeface="맑은 고딕"/>
                <a:cs typeface="맑은 고딕"/>
              </a:rPr>
              <a:t>플랫폼 0.1초 이동</a:t>
            </a:r>
            <a:endParaRPr lang="ko-KR" altLang="en-US" sz="1200" dirty="0"/>
          </a:p>
        </p:txBody>
      </p:sp>
      <p:cxnSp>
        <p:nvCxnSpPr>
          <p:cNvPr id="20" name="Arrow 3"/>
          <p:cNvCxnSpPr/>
          <p:nvPr/>
        </p:nvCxnSpPr>
        <p:spPr>
          <a:xfrm>
            <a:off x="7303452" y="5010150"/>
            <a:ext cx="330200" cy="0"/>
          </a:xfrm>
          <a:prstGeom prst="line">
            <a:avLst/>
          </a:prstGeom>
          <a:ln w="15875">
            <a:solidFill>
              <a:srgbClr val="059669"/>
            </a:solidFill>
            <a:tailEnd type="triangle" w="med" len="med"/>
          </a:ln>
        </p:spPr>
      </p:cxnSp>
      <p:sp>
        <p:nvSpPr>
          <p:cNvPr id="18" name="Label 3 Box"/>
          <p:cNvSpPr/>
          <p:nvPr/>
        </p:nvSpPr>
        <p:spPr>
          <a:xfrm>
            <a:off x="7633652" y="4870450"/>
            <a:ext cx="1809283" cy="279400"/>
          </a:xfrm>
          <a:prstGeom prst="roundRect">
            <a:avLst>
              <a:gd name="adj" fmla="val 20000"/>
            </a:avLst>
          </a:prstGeom>
          <a:solidFill>
            <a:srgbClr val="E8F6F0"/>
          </a:solidFill>
          <a:ln w="12700">
            <a:solidFill>
              <a:srgbClr val="059669"/>
            </a:solidFill>
          </a:ln>
          <a:effectLst/>
        </p:spPr>
        <p:txBody>
          <a:bodyPr rtlCol="0" anchor="ctr"/>
          <a:lstStyle/>
          <a:p>
            <a:pPr algn="ctr"/>
          </a:p>
        </p:txBody>
      </p:sp>
      <p:sp>
        <p:nvSpPr>
          <p:cNvPr id="19" name="Label 3 Text"/>
          <p:cNvSpPr txBox="1"/>
          <p:nvPr/>
        </p:nvSpPr>
        <p:spPr>
          <a:xfrm>
            <a:off x="7633652" y="4870450"/>
            <a:ext cx="1809283"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059669"/>
                </a:solidFill>
                <a:latin typeface="맑은 고딕"/>
                <a:ea typeface="맑은 고딕"/>
                <a:cs typeface="맑은 고딕"/>
              </a:rPr>
              <a:t>표적마다 0.1초 이동</a:t>
            </a:r>
            <a:endParaRPr lang="ko-KR" altLang="en-US" sz="1200" dirty="0"/>
          </a:p>
        </p:txBody>
      </p:sp>
      <p:cxnSp>
        <p:nvCxnSpPr>
          <p:cNvPr id="23" name="Arrow 4"/>
          <p:cNvCxnSpPr/>
          <p:nvPr/>
        </p:nvCxnSpPr>
        <p:spPr>
          <a:xfrm>
            <a:off x="7303452" y="5779770"/>
            <a:ext cx="330200" cy="0"/>
          </a:xfrm>
          <a:prstGeom prst="line">
            <a:avLst/>
          </a:prstGeom>
          <a:ln w="15875">
            <a:solidFill>
              <a:srgbClr val="2563EB"/>
            </a:solidFill>
            <a:tailEnd type="triangle" w="med" len="med"/>
          </a:ln>
        </p:spPr>
      </p:cxnSp>
      <p:sp>
        <p:nvSpPr>
          <p:cNvPr id="21" name="Label 4 Box"/>
          <p:cNvSpPr/>
          <p:nvPr/>
        </p:nvSpPr>
        <p:spPr>
          <a:xfrm>
            <a:off x="7633652" y="5640070"/>
            <a:ext cx="1344249" cy="279400"/>
          </a:xfrm>
          <a:prstGeom prst="roundRect">
            <a:avLst>
              <a:gd name="adj" fmla="val 20000"/>
            </a:avLst>
          </a:prstGeom>
          <a:solidFill>
            <a:srgbClr val="EBF2FE"/>
          </a:solidFill>
          <a:ln w="12700">
            <a:solidFill>
              <a:srgbClr val="2563EB"/>
            </a:solidFill>
          </a:ln>
          <a:effectLst/>
        </p:spPr>
        <p:txBody>
          <a:bodyPr rtlCol="0" anchor="ctr"/>
          <a:lstStyle/>
          <a:p>
            <a:pPr algn="ctr"/>
          </a:p>
        </p:txBody>
      </p:sp>
      <p:sp>
        <p:nvSpPr>
          <p:cNvPr id="22" name="Label 4 Text"/>
          <p:cNvSpPr txBox="1"/>
          <p:nvPr/>
        </p:nvSpPr>
        <p:spPr>
          <a:xfrm>
            <a:off x="7633652" y="5640070"/>
            <a:ext cx="134424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2563EB"/>
                </a:solidFill>
                <a:latin typeface="맑은 고딕"/>
                <a:ea typeface="맑은 고딕"/>
                <a:cs typeface="맑은 고딕"/>
              </a:rPr>
              <a:t>다음 스텝으로</a:t>
            </a:r>
            <a:endParaRPr lang="ko-KR" altLang="en-US" sz="1200" dirty="0"/>
          </a:p>
        </p:txBody>
      </p:sp>
      <p:sp>
        <p:nvSpPr>
          <p:cNvPr id="24" name="File Tag"/>
          <p:cNvSpPr txBox="1"/>
          <p:nvPr/>
        </p:nvSpPr>
        <p:spPr>
          <a:xfrm>
            <a:off x="6214872" y="1345184"/>
            <a:ext cx="5334000" cy="203200"/>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50" b="0" i="0" dirty="0">
                <a:solidFill>
                  <a:srgbClr val="8794AC"/>
                </a:solidFill>
                <a:latin typeface="Consolas"/>
                <a:ea typeface="맑은 고딕"/>
                <a:cs typeface="맑은 고딕"/>
              </a:rPr>
              <a:t>TargetSimCore/src/TargetSim.c  183 ~ 213행</a:t>
            </a:r>
            <a:endParaRPr lang="ko-KR" altLang="en-US" sz="10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3.4 기동 찾기와 각속도 코드 (1/2)</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16</a:t>
            </a:r>
          </a:p>
        </p:txBody>
      </p:sp>
      <p:sp>
        <p:nvSpPr>
          <p:cNvPr id="17" name="Example Box"/>
          <p:cNvSpPr/>
          <p:nvPr/>
        </p:nvSpPr>
        <p:spPr>
          <a:xfrm>
            <a:off x="640080" y="5426456"/>
            <a:ext cx="10908792" cy="736600"/>
          </a:xfrm>
          <a:prstGeom prst="rect">
            <a:avLst/>
          </a:prstGeom>
          <a:solidFill>
            <a:srgbClr val="F7F9FC"/>
          </a:solidFill>
          <a:ln w="12700">
            <a:solidFill>
              <a:srgbClr val="D2D9E5"/>
            </a:solidFill>
          </a:ln>
          <a:effectLst/>
        </p:spPr>
        <p:txBody>
          <a:bodyPr rtlCol="0" anchor="ctr"/>
          <a:lstStyle/>
          <a:p>
            <a:pPr algn="ctr"/>
          </a:p>
        </p:txBody>
      </p:sp>
      <p:sp>
        <p:nvSpPr>
          <p:cNvPr id="18" name="Example Title"/>
          <p:cNvSpPr txBox="1"/>
          <p:nvPr/>
        </p:nvSpPr>
        <p:spPr>
          <a:xfrm>
            <a:off x="817880" y="5540756"/>
            <a:ext cx="1905000" cy="50800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예시</a:t>
            </a:r>
            <a:endParaRPr lang="ko-KR" altLang="en-US" sz="1000" dirty="0"/>
          </a:p>
          <a:p>
            <a:pPr algn="l">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대공 표적, 기동 6 개</a:t>
            </a:r>
            <a:endParaRPr lang="ko-KR" altLang="en-US" sz="1000" dirty="0"/>
          </a:p>
        </p:txBody>
      </p:sp>
      <p:sp>
        <p:nvSpPr>
          <p:cNvPr id="19" name="Example Axis"/>
          <p:cNvSpPr/>
          <p:nvPr/>
        </p:nvSpPr>
        <p:spPr>
          <a:xfrm>
            <a:off x="2545080" y="5820156"/>
            <a:ext cx="4965192" cy="0"/>
          </a:xfrm>
          <a:prstGeom prst="line">
            <a:avLst/>
          </a:prstGeom>
          <a:noFill/>
          <a:ln w="12700" cap="rnd">
            <a:solidFill>
              <a:srgbClr val="AEB9CC"/>
            </a:solidFill>
            <a:prstDash val="solid"/>
          </a:ln>
        </p:spPr>
      </p:sp>
      <p:sp>
        <p:nvSpPr>
          <p:cNvPr id="20" name="Example Tick 0"/>
          <p:cNvSpPr txBox="1"/>
          <p:nvPr/>
        </p:nvSpPr>
        <p:spPr>
          <a:xfrm>
            <a:off x="2341880" y="5896356"/>
            <a:ext cx="4064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800" b="0" i="0" dirty="0">
                <a:solidFill>
                  <a:srgbClr val="6B7890"/>
                </a:solidFill>
                <a:latin typeface="맑은 고딕"/>
                <a:ea typeface="맑은 고딕"/>
                <a:cs typeface="맑은 고딕"/>
              </a:rPr>
              <a:t>0</a:t>
            </a:r>
            <a:endParaRPr lang="ko-KR" altLang="en-US" sz="1000" dirty="0"/>
          </a:p>
        </p:txBody>
      </p:sp>
      <p:sp>
        <p:nvSpPr>
          <p:cNvPr id="21" name="Example Tick 10"/>
          <p:cNvSpPr txBox="1"/>
          <p:nvPr/>
        </p:nvSpPr>
        <p:spPr>
          <a:xfrm>
            <a:off x="3169412" y="5896356"/>
            <a:ext cx="4064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800" b="0" i="0" dirty="0">
                <a:solidFill>
                  <a:srgbClr val="6B7890"/>
                </a:solidFill>
                <a:latin typeface="맑은 고딕"/>
                <a:ea typeface="맑은 고딕"/>
                <a:cs typeface="맑은 고딕"/>
              </a:rPr>
              <a:t>10</a:t>
            </a:r>
            <a:endParaRPr lang="ko-KR" altLang="en-US" sz="1000" dirty="0"/>
          </a:p>
        </p:txBody>
      </p:sp>
      <p:sp>
        <p:nvSpPr>
          <p:cNvPr id="22" name="Example Tick 20"/>
          <p:cNvSpPr txBox="1"/>
          <p:nvPr/>
        </p:nvSpPr>
        <p:spPr>
          <a:xfrm>
            <a:off x="3996944" y="5896356"/>
            <a:ext cx="4064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800" b="0" i="0" dirty="0">
                <a:solidFill>
                  <a:srgbClr val="6B7890"/>
                </a:solidFill>
                <a:latin typeface="맑은 고딕"/>
                <a:ea typeface="맑은 고딕"/>
                <a:cs typeface="맑은 고딕"/>
              </a:rPr>
              <a:t>20</a:t>
            </a:r>
            <a:endParaRPr lang="ko-KR" altLang="en-US" sz="1000" dirty="0"/>
          </a:p>
        </p:txBody>
      </p:sp>
      <p:sp>
        <p:nvSpPr>
          <p:cNvPr id="23" name="Example Tick 30"/>
          <p:cNvSpPr txBox="1"/>
          <p:nvPr/>
        </p:nvSpPr>
        <p:spPr>
          <a:xfrm>
            <a:off x="4824476" y="5896356"/>
            <a:ext cx="4064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800" b="0" i="0" dirty="0">
                <a:solidFill>
                  <a:srgbClr val="6B7890"/>
                </a:solidFill>
                <a:latin typeface="맑은 고딕"/>
                <a:ea typeface="맑은 고딕"/>
                <a:cs typeface="맑은 고딕"/>
              </a:rPr>
              <a:t>30</a:t>
            </a:r>
            <a:endParaRPr lang="ko-KR" altLang="en-US" sz="1000" dirty="0"/>
          </a:p>
        </p:txBody>
      </p:sp>
      <p:sp>
        <p:nvSpPr>
          <p:cNvPr id="24" name="Example Tick 40"/>
          <p:cNvSpPr txBox="1"/>
          <p:nvPr/>
        </p:nvSpPr>
        <p:spPr>
          <a:xfrm>
            <a:off x="5652008" y="5896356"/>
            <a:ext cx="4064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800" b="0" i="0" dirty="0">
                <a:solidFill>
                  <a:srgbClr val="6B7890"/>
                </a:solidFill>
                <a:latin typeface="맑은 고딕"/>
                <a:ea typeface="맑은 고딕"/>
                <a:cs typeface="맑은 고딕"/>
              </a:rPr>
              <a:t>40</a:t>
            </a:r>
            <a:endParaRPr lang="ko-KR" altLang="en-US" sz="1000" dirty="0"/>
          </a:p>
        </p:txBody>
      </p:sp>
      <p:sp>
        <p:nvSpPr>
          <p:cNvPr id="25" name="Example Tick 50"/>
          <p:cNvSpPr txBox="1"/>
          <p:nvPr/>
        </p:nvSpPr>
        <p:spPr>
          <a:xfrm>
            <a:off x="6479540" y="5896356"/>
            <a:ext cx="4064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800" b="0" i="0" dirty="0">
                <a:solidFill>
                  <a:srgbClr val="6B7890"/>
                </a:solidFill>
                <a:latin typeface="맑은 고딕"/>
                <a:ea typeface="맑은 고딕"/>
                <a:cs typeface="맑은 고딕"/>
              </a:rPr>
              <a:t>50</a:t>
            </a:r>
            <a:endParaRPr lang="ko-KR" altLang="en-US" sz="1000" dirty="0"/>
          </a:p>
        </p:txBody>
      </p:sp>
      <p:sp>
        <p:nvSpPr>
          <p:cNvPr id="26" name="Example Tick 60"/>
          <p:cNvSpPr txBox="1"/>
          <p:nvPr/>
        </p:nvSpPr>
        <p:spPr>
          <a:xfrm>
            <a:off x="7307072" y="5896356"/>
            <a:ext cx="4064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800" b="0" i="0" dirty="0">
                <a:solidFill>
                  <a:srgbClr val="6B7890"/>
                </a:solidFill>
                <a:latin typeface="맑은 고딕"/>
                <a:ea typeface="맑은 고딕"/>
                <a:cs typeface="맑은 고딕"/>
              </a:rPr>
              <a:t>60 s</a:t>
            </a:r>
            <a:endParaRPr lang="ko-KR" altLang="en-US" sz="1000" dirty="0"/>
          </a:p>
        </p:txBody>
      </p:sp>
      <p:sp>
        <p:nvSpPr>
          <p:cNvPr id="27" name="Example Maneuver 1"/>
          <p:cNvSpPr/>
          <p:nvPr/>
        </p:nvSpPr>
        <p:spPr>
          <a:xfrm>
            <a:off x="2768514" y="5763006"/>
            <a:ext cx="331012" cy="114300"/>
          </a:xfrm>
          <a:prstGeom prst="rect">
            <a:avLst/>
          </a:prstGeom>
          <a:solidFill>
            <a:srgbClr val="D97706"/>
          </a:solidFill>
          <a:ln>
            <a:noFill/>
          </a:ln>
          <a:effectLst/>
        </p:spPr>
        <p:txBody>
          <a:bodyPr rtlCol="0" anchor="ctr"/>
          <a:lstStyle/>
          <a:p>
            <a:pPr algn="ctr"/>
          </a:p>
        </p:txBody>
      </p:sp>
      <p:sp>
        <p:nvSpPr>
          <p:cNvPr id="28" name="Example Maneuver 2"/>
          <p:cNvSpPr/>
          <p:nvPr/>
        </p:nvSpPr>
        <p:spPr>
          <a:xfrm>
            <a:off x="3637422" y="5763006"/>
            <a:ext cx="331013" cy="114300"/>
          </a:xfrm>
          <a:prstGeom prst="rect">
            <a:avLst/>
          </a:prstGeom>
          <a:solidFill>
            <a:srgbClr val="D97706"/>
          </a:solidFill>
          <a:ln>
            <a:noFill/>
          </a:ln>
          <a:effectLst/>
        </p:spPr>
        <p:txBody>
          <a:bodyPr rtlCol="0" anchor="ctr"/>
          <a:lstStyle/>
          <a:p>
            <a:pPr algn="ctr"/>
          </a:p>
        </p:txBody>
      </p:sp>
      <p:sp>
        <p:nvSpPr>
          <p:cNvPr id="29" name="Example Maneuver 3"/>
          <p:cNvSpPr/>
          <p:nvPr/>
        </p:nvSpPr>
        <p:spPr>
          <a:xfrm>
            <a:off x="4076014" y="5763006"/>
            <a:ext cx="331013" cy="114300"/>
          </a:xfrm>
          <a:prstGeom prst="rect">
            <a:avLst/>
          </a:prstGeom>
          <a:solidFill>
            <a:srgbClr val="D97706"/>
          </a:solidFill>
          <a:ln>
            <a:noFill/>
          </a:ln>
          <a:effectLst/>
        </p:spPr>
        <p:txBody>
          <a:bodyPr rtlCol="0" anchor="ctr"/>
          <a:lstStyle/>
          <a:p>
            <a:pPr algn="ctr"/>
          </a:p>
        </p:txBody>
      </p:sp>
      <p:sp>
        <p:nvSpPr>
          <p:cNvPr id="30" name="Example Maneuver 4"/>
          <p:cNvSpPr/>
          <p:nvPr/>
        </p:nvSpPr>
        <p:spPr>
          <a:xfrm>
            <a:off x="5532471" y="5763006"/>
            <a:ext cx="331012" cy="114300"/>
          </a:xfrm>
          <a:prstGeom prst="rect">
            <a:avLst/>
          </a:prstGeom>
          <a:solidFill>
            <a:srgbClr val="D97706"/>
          </a:solidFill>
          <a:ln>
            <a:noFill/>
          </a:ln>
          <a:effectLst/>
        </p:spPr>
        <p:txBody>
          <a:bodyPr rtlCol="0" anchor="ctr"/>
          <a:lstStyle/>
          <a:p>
            <a:pPr algn="ctr"/>
          </a:p>
        </p:txBody>
      </p:sp>
      <p:sp>
        <p:nvSpPr>
          <p:cNvPr id="31" name="Example Maneuver 5"/>
          <p:cNvSpPr/>
          <p:nvPr/>
        </p:nvSpPr>
        <p:spPr>
          <a:xfrm>
            <a:off x="5971062" y="5763006"/>
            <a:ext cx="331013" cy="114300"/>
          </a:xfrm>
          <a:prstGeom prst="rect">
            <a:avLst/>
          </a:prstGeom>
          <a:solidFill>
            <a:srgbClr val="D97706"/>
          </a:solidFill>
          <a:ln>
            <a:noFill/>
          </a:ln>
          <a:effectLst/>
        </p:spPr>
        <p:txBody>
          <a:bodyPr rtlCol="0" anchor="ctr"/>
          <a:lstStyle/>
          <a:p>
            <a:pPr algn="ctr"/>
          </a:p>
        </p:txBody>
      </p:sp>
      <p:sp>
        <p:nvSpPr>
          <p:cNvPr id="32" name="Example Maneuver 6"/>
          <p:cNvSpPr/>
          <p:nvPr/>
        </p:nvSpPr>
        <p:spPr>
          <a:xfrm>
            <a:off x="6955826" y="5763006"/>
            <a:ext cx="554446" cy="114300"/>
          </a:xfrm>
          <a:prstGeom prst="rect">
            <a:avLst/>
          </a:prstGeom>
          <a:solidFill>
            <a:srgbClr val="D97706"/>
          </a:solidFill>
          <a:ln>
            <a:noFill/>
          </a:ln>
          <a:effectLst/>
        </p:spPr>
        <p:txBody>
          <a:bodyPr rtlCol="0" anchor="ctr"/>
          <a:lstStyle/>
          <a:p>
            <a:pPr algn="ctr"/>
          </a:p>
        </p:txBody>
      </p:sp>
      <p:sp>
        <p:nvSpPr>
          <p:cNvPr id="33" name="Example Mark 10"/>
          <p:cNvSpPr/>
          <p:nvPr/>
        </p:nvSpPr>
        <p:spPr>
          <a:xfrm>
            <a:off x="3363087" y="5655056"/>
            <a:ext cx="19050" cy="228600"/>
          </a:xfrm>
          <a:prstGeom prst="rect">
            <a:avLst/>
          </a:prstGeom>
          <a:solidFill>
            <a:srgbClr val="6B7890"/>
          </a:solidFill>
          <a:ln>
            <a:noFill/>
          </a:ln>
          <a:effectLst/>
        </p:spPr>
        <p:txBody>
          <a:bodyPr rtlCol="0" anchor="ctr"/>
          <a:lstStyle/>
          <a:p>
            <a:pPr algn="ctr"/>
          </a:p>
        </p:txBody>
      </p:sp>
      <p:sp>
        <p:nvSpPr>
          <p:cNvPr id="34" name="Example Mark Label 10"/>
          <p:cNvSpPr txBox="1"/>
          <p:nvPr/>
        </p:nvSpPr>
        <p:spPr>
          <a:xfrm>
            <a:off x="3118612" y="5464556"/>
            <a:ext cx="508000" cy="1651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850" b="0" i="0" dirty="0">
                <a:solidFill>
                  <a:srgbClr val="6B7890"/>
                </a:solidFill>
                <a:latin typeface="맑은 고딕"/>
                <a:ea typeface="맑은 고딕"/>
                <a:cs typeface="맑은 고딕"/>
              </a:rPr>
              <a:t>10 s</a:t>
            </a:r>
            <a:endParaRPr lang="ko-KR" altLang="en-US" sz="1000" dirty="0"/>
          </a:p>
        </p:txBody>
      </p:sp>
      <p:sp>
        <p:nvSpPr>
          <p:cNvPr id="35" name="Example Mark 15"/>
          <p:cNvSpPr/>
          <p:nvPr/>
        </p:nvSpPr>
        <p:spPr>
          <a:xfrm>
            <a:off x="3776853" y="5655056"/>
            <a:ext cx="19050" cy="228600"/>
          </a:xfrm>
          <a:prstGeom prst="rect">
            <a:avLst/>
          </a:prstGeom>
          <a:solidFill>
            <a:srgbClr val="1B2740"/>
          </a:solidFill>
          <a:ln>
            <a:noFill/>
          </a:ln>
          <a:effectLst/>
        </p:spPr>
        <p:txBody>
          <a:bodyPr rtlCol="0" anchor="ctr"/>
          <a:lstStyle/>
          <a:p>
            <a:pPr algn="ctr"/>
          </a:p>
        </p:txBody>
      </p:sp>
      <p:sp>
        <p:nvSpPr>
          <p:cNvPr id="36" name="Example Mark Label 15"/>
          <p:cNvSpPr txBox="1"/>
          <p:nvPr/>
        </p:nvSpPr>
        <p:spPr>
          <a:xfrm>
            <a:off x="3532378" y="5464556"/>
            <a:ext cx="508000" cy="1651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850" b="1" i="0" dirty="0">
                <a:solidFill>
                  <a:srgbClr val="1B2740"/>
                </a:solidFill>
                <a:latin typeface="맑은 고딕"/>
                <a:ea typeface="맑은 고딕"/>
                <a:cs typeface="맑은 고딕"/>
              </a:rPr>
              <a:t>15 s</a:t>
            </a:r>
            <a:endParaRPr lang="ko-KR" altLang="en-US" sz="1000" dirty="0"/>
          </a:p>
        </p:txBody>
      </p:sp>
      <p:sp>
        <p:nvSpPr>
          <p:cNvPr id="37" name="Example Result"/>
          <p:cNvSpPr txBox="1"/>
          <p:nvPr/>
        </p:nvSpPr>
        <p:spPr>
          <a:xfrm>
            <a:off x="7738872" y="5540756"/>
            <a:ext cx="3657600" cy="508000"/>
          </a:xfrm>
          <a:prstGeom prst="rect">
            <a:avLst/>
          </a:prstGeom>
          <a:noFill/>
        </p:spPr>
        <p:txBody>
          <a:bodyPr wrap="none" lIns="0" tIns="0" rIns="0" bIns="0" anchor="t" rtlCol="0">
            <a:noAutofit/>
          </a:bodyPr>
          <a:lstStyle/>
          <a:p>
            <a:pPr algn="l">
              <a:lnSpc>
                <a:spcPct val="125000"/>
              </a:lnSpc>
              <a:spcBef>
                <a:spcPts val="0"/>
              </a:spcBef>
              <a:spcAft>
                <a:spcPts val="0"/>
              </a:spcAft>
              <a:buNone/>
            </a:pPr>
            <a:r>
              <a:rPr lang="ko-KR" altLang="en-US" sz="1000" b="1" i="0" dirty="0">
                <a:solidFill>
                  <a:srgbClr val="1B2740"/>
                </a:solidFill>
                <a:latin typeface="맑은 고딕"/>
                <a:ea typeface="맑은 고딕"/>
                <a:cs typeface="맑은 고딕"/>
              </a:rPr>
              <a:t>15 s</a:t>
            </a:r>
            <a:r>
              <a:rPr lang="ko-KR" altLang="en-US" sz="1000" b="0" i="0" dirty="0">
                <a:solidFill>
                  <a:srgbClr val="3F4B63"/>
                </a:solidFill>
                <a:latin typeface="맑은 고딕"/>
                <a:ea typeface="맑은 고딕"/>
                <a:cs typeface="맑은 고딕"/>
              </a:rPr>
              <a:t>  →  두 번째 기동 (13.2 ~ 17.2 s, Yaw 8 G) 이 걸림</a:t>
            </a:r>
            <a:endParaRPr lang="ko-KR" altLang="en-US" sz="1000" dirty="0"/>
          </a:p>
          <a:p>
            <a:pPr algn="l">
              <a:lnSpc>
                <a:spcPct val="125000"/>
              </a:lnSpc>
              <a:spcBef>
                <a:spcPts val="0"/>
              </a:spcBef>
              <a:spcAft>
                <a:spcPts val="0"/>
              </a:spcAft>
              <a:buNone/>
            </a:pPr>
            <a:r>
              <a:rPr lang="ko-KR" altLang="en-US" sz="1000" b="1" i="0" dirty="0">
                <a:solidFill>
                  <a:srgbClr val="6B7890"/>
                </a:solidFill>
                <a:latin typeface="맑은 고딕"/>
                <a:ea typeface="맑은 고딕"/>
                <a:cs typeface="맑은 고딕"/>
              </a:rPr>
              <a:t>10 s</a:t>
            </a:r>
            <a:r>
              <a:rPr lang="ko-KR" altLang="en-US" sz="1000" b="0" i="0" dirty="0">
                <a:solidFill>
                  <a:srgbClr val="3F4B63"/>
                </a:solidFill>
                <a:latin typeface="맑은 고딕"/>
                <a:ea typeface="맑은 고딕"/>
                <a:cs typeface="맑은 고딕"/>
              </a:rPr>
              <a:t>  →  걸린 기동 없음, 각속도 0 (직진)</a:t>
            </a:r>
            <a:endParaRPr lang="ko-KR" altLang="en-US" sz="1000" dirty="0"/>
          </a:p>
        </p:txBody>
      </p:sp>
      <p:pic>
        <p:nvPicPr>
          <p:cNvPr id="7" name="Code Capture" descr="TargetSim.c 11-28"/>
          <p:cNvPicPr>
            <a:picLocks noChangeAspect="1"/>
          </p:cNvPicPr>
          <p:nvPr/>
        </p:nvPicPr>
        <p:blipFill>
          <a:blip r:embed="rId3"/>
          <a:stretch>
            <a:fillRect/>
          </a:stretch>
        </p:blipFill>
        <p:spPr>
          <a:xfrm>
            <a:off x="640080" y="1792224"/>
            <a:ext cx="6714172" cy="2821940"/>
          </a:xfrm>
          <a:prstGeom prst="rect">
            <a:avLst/>
          </a:prstGeom>
          <a:ln w="9525">
            <a:solidFill>
              <a:srgbClr val="C9D1DD"/>
            </a:solidFill>
          </a:ln>
        </p:spPr>
      </p:pic>
      <p:sp>
        <p:nvSpPr>
          <p:cNvPr id="8" name="Block 1"/>
          <p:cNvSpPr/>
          <p:nvPr/>
        </p:nvSpPr>
        <p:spPr>
          <a:xfrm>
            <a:off x="968692" y="2295144"/>
            <a:ext cx="6334760" cy="279400"/>
          </a:xfrm>
          <a:prstGeom prst="roundRect">
            <a:avLst>
              <a:gd name="adj" fmla="val 13636"/>
            </a:avLst>
          </a:prstGeom>
          <a:solidFill>
            <a:srgbClr val="DC2626">
              <a:alpha val="9000"/>
            </a:srgbClr>
          </a:solidFill>
          <a:ln w="12700">
            <a:solidFill>
              <a:srgbClr val="DC2626"/>
            </a:solidFill>
          </a:ln>
          <a:effectLst/>
        </p:spPr>
        <p:txBody>
          <a:bodyPr rtlCol="0" anchor="ctr"/>
          <a:lstStyle/>
          <a:p>
            <a:pPr algn="ctr"/>
          </a:p>
        </p:txBody>
      </p:sp>
      <p:sp>
        <p:nvSpPr>
          <p:cNvPr id="9" name="Block 2"/>
          <p:cNvSpPr/>
          <p:nvPr/>
        </p:nvSpPr>
        <p:spPr>
          <a:xfrm>
            <a:off x="968692" y="3102864"/>
            <a:ext cx="6334760" cy="1457960"/>
          </a:xfrm>
          <a:prstGeom prst="roundRect">
            <a:avLst>
              <a:gd name="adj" fmla="val 2613"/>
            </a:avLst>
          </a:prstGeom>
          <a:solidFill>
            <a:srgbClr val="D97706">
              <a:alpha val="9000"/>
            </a:srgbClr>
          </a:solidFill>
          <a:ln w="12700">
            <a:solidFill>
              <a:srgbClr val="D97706"/>
            </a:solidFill>
          </a:ln>
          <a:effectLst/>
        </p:spPr>
        <p:txBody>
          <a:bodyPr rtlCol="0" anchor="ctr"/>
          <a:lstStyle/>
          <a:p>
            <a:pPr algn="ctr"/>
          </a:p>
        </p:txBody>
      </p:sp>
      <p:cxnSp>
        <p:nvCxnSpPr>
          <p:cNvPr id="12" name="Arrow 1"/>
          <p:cNvCxnSpPr/>
          <p:nvPr/>
        </p:nvCxnSpPr>
        <p:spPr>
          <a:xfrm>
            <a:off x="7303452" y="2434844"/>
            <a:ext cx="330200" cy="0"/>
          </a:xfrm>
          <a:prstGeom prst="line">
            <a:avLst/>
          </a:prstGeom>
          <a:ln w="15875">
            <a:solidFill>
              <a:srgbClr val="DC2626"/>
            </a:solidFill>
            <a:tailEnd type="triangle" w="med" len="med"/>
          </a:ln>
        </p:spPr>
      </p:cxnSp>
      <p:sp>
        <p:nvSpPr>
          <p:cNvPr id="10" name="Label 1 Box"/>
          <p:cNvSpPr/>
          <p:nvPr/>
        </p:nvSpPr>
        <p:spPr>
          <a:xfrm>
            <a:off x="7633652" y="2295144"/>
            <a:ext cx="1727139" cy="279400"/>
          </a:xfrm>
          <a:prstGeom prst="roundRect">
            <a:avLst>
              <a:gd name="adj" fmla="val 20000"/>
            </a:avLst>
          </a:prstGeom>
          <a:solidFill>
            <a:srgbClr val="FDEEEE"/>
          </a:solidFill>
          <a:ln w="12700">
            <a:solidFill>
              <a:srgbClr val="DC2626"/>
            </a:solidFill>
          </a:ln>
          <a:effectLst/>
        </p:spPr>
        <p:txBody>
          <a:bodyPr rtlCol="0" anchor="ctr"/>
          <a:lstStyle/>
          <a:p>
            <a:pPr algn="ctr"/>
          </a:p>
        </p:txBody>
      </p:sp>
      <p:sp>
        <p:nvSpPr>
          <p:cNvPr id="11" name="Label 1 Text"/>
          <p:cNvSpPr txBox="1"/>
          <p:nvPr/>
        </p:nvSpPr>
        <p:spPr>
          <a:xfrm>
            <a:off x="7633652" y="2295144"/>
            <a:ext cx="172713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C2626"/>
                </a:solidFill>
                <a:latin typeface="맑은 고딕"/>
                <a:ea typeface="맑은 고딕"/>
                <a:cs typeface="맑은 고딕"/>
              </a:rPr>
              <a:t>각속도 0 으로 시작</a:t>
            </a:r>
            <a:endParaRPr lang="ko-KR" altLang="en-US" sz="1200" dirty="0"/>
          </a:p>
        </p:txBody>
      </p:sp>
      <p:cxnSp>
        <p:nvCxnSpPr>
          <p:cNvPr id="15" name="Arrow 2"/>
          <p:cNvCxnSpPr/>
          <p:nvPr/>
        </p:nvCxnSpPr>
        <p:spPr>
          <a:xfrm>
            <a:off x="7303452" y="3831844"/>
            <a:ext cx="330200" cy="0"/>
          </a:xfrm>
          <a:prstGeom prst="line">
            <a:avLst/>
          </a:prstGeom>
          <a:ln w="15875">
            <a:solidFill>
              <a:srgbClr val="D97706"/>
            </a:solidFill>
            <a:tailEnd type="triangle" w="med" len="med"/>
          </a:ln>
        </p:spPr>
      </p:cxnSp>
      <p:sp>
        <p:nvSpPr>
          <p:cNvPr id="13" name="Label 2 Box"/>
          <p:cNvSpPr/>
          <p:nvPr/>
        </p:nvSpPr>
        <p:spPr>
          <a:xfrm>
            <a:off x="7633652" y="3692144"/>
            <a:ext cx="1797548" cy="279400"/>
          </a:xfrm>
          <a:prstGeom prst="roundRect">
            <a:avLst>
              <a:gd name="adj" fmla="val 20000"/>
            </a:avLst>
          </a:prstGeom>
          <a:solidFill>
            <a:srgbClr val="FEF5E7"/>
          </a:solidFill>
          <a:ln w="12700">
            <a:solidFill>
              <a:srgbClr val="D97706"/>
            </a:solidFill>
          </a:ln>
          <a:effectLst/>
        </p:spPr>
        <p:txBody>
          <a:bodyPr rtlCol="0" anchor="ctr"/>
          <a:lstStyle/>
          <a:p>
            <a:pPr algn="ctr"/>
          </a:p>
        </p:txBody>
      </p:sp>
      <p:sp>
        <p:nvSpPr>
          <p:cNvPr id="14" name="Label 2 Text"/>
          <p:cNvSpPr txBox="1"/>
          <p:nvPr/>
        </p:nvSpPr>
        <p:spPr>
          <a:xfrm>
            <a:off x="7633652" y="3692144"/>
            <a:ext cx="1797548"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97706"/>
                </a:solidFill>
                <a:latin typeface="맑은 고딕"/>
                <a:ea typeface="맑은 고딕"/>
                <a:cs typeface="맑은 고딕"/>
              </a:rPr>
              <a:t>지금 걸린 기동 찾기</a:t>
            </a:r>
            <a:endParaRPr lang="ko-KR" altLang="en-US" sz="1200" dirty="0"/>
          </a:p>
        </p:txBody>
      </p:sp>
      <p:sp>
        <p:nvSpPr>
          <p:cNvPr id="16" name="File Tag"/>
          <p:cNvSpPr txBox="1"/>
          <p:nvPr/>
        </p:nvSpPr>
        <p:spPr>
          <a:xfrm>
            <a:off x="6214872" y="1345184"/>
            <a:ext cx="5334000" cy="203200"/>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50" b="0" i="0" dirty="0">
                <a:solidFill>
                  <a:srgbClr val="8794AC"/>
                </a:solidFill>
                <a:latin typeface="Consolas"/>
                <a:ea typeface="맑은 고딕"/>
                <a:cs typeface="맑은 고딕"/>
              </a:rPr>
              <a:t>TargetSimCore/src/TargetSim.c  11 ~ 28행</a:t>
            </a:r>
            <a:endParaRPr lang="ko-KR" altLang="en-US" sz="10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3.4 기동 찾기와 각속도 코드 (2/2)</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17</a:t>
            </a:r>
          </a:p>
        </p:txBody>
      </p:sp>
      <p:pic>
        <p:nvPicPr>
          <p:cNvPr id="7" name="Code Capture" descr="TargetSim.c 30-57"/>
          <p:cNvPicPr>
            <a:picLocks noChangeAspect="1"/>
          </p:cNvPicPr>
          <p:nvPr/>
        </p:nvPicPr>
        <p:blipFill>
          <a:blip r:embed="rId3"/>
          <a:stretch>
            <a:fillRect/>
          </a:stretch>
        </p:blipFill>
        <p:spPr>
          <a:xfrm>
            <a:off x="640080" y="1792224"/>
            <a:ext cx="6714172" cy="4079240"/>
          </a:xfrm>
          <a:prstGeom prst="rect">
            <a:avLst/>
          </a:prstGeom>
          <a:ln w="9525">
            <a:solidFill>
              <a:srgbClr val="C9D1DD"/>
            </a:solidFill>
          </a:ln>
        </p:spPr>
      </p:pic>
      <p:sp>
        <p:nvSpPr>
          <p:cNvPr id="8" name="Block 3"/>
          <p:cNvSpPr/>
          <p:nvPr/>
        </p:nvSpPr>
        <p:spPr>
          <a:xfrm>
            <a:off x="968692" y="1845564"/>
            <a:ext cx="6334760" cy="619760"/>
          </a:xfrm>
          <a:prstGeom prst="roundRect">
            <a:avLst>
              <a:gd name="adj" fmla="val 6148"/>
            </a:avLst>
          </a:prstGeom>
          <a:solidFill>
            <a:srgbClr val="059669">
              <a:alpha val="9000"/>
            </a:srgbClr>
          </a:solidFill>
          <a:ln w="12700">
            <a:solidFill>
              <a:srgbClr val="059669"/>
            </a:solidFill>
          </a:ln>
          <a:effectLst/>
        </p:spPr>
        <p:txBody>
          <a:bodyPr rtlCol="0" anchor="ctr"/>
          <a:lstStyle/>
          <a:p>
            <a:pPr algn="ctr"/>
          </a:p>
        </p:txBody>
      </p:sp>
      <p:sp>
        <p:nvSpPr>
          <p:cNvPr id="9" name="Block 4"/>
          <p:cNvSpPr/>
          <p:nvPr/>
        </p:nvSpPr>
        <p:spPr>
          <a:xfrm>
            <a:off x="968692" y="2544064"/>
            <a:ext cx="6334760" cy="2684780"/>
          </a:xfrm>
          <a:prstGeom prst="roundRect">
            <a:avLst>
              <a:gd name="adj" fmla="val 1419"/>
            </a:avLst>
          </a:prstGeom>
          <a:solidFill>
            <a:srgbClr val="2563EB">
              <a:alpha val="9000"/>
            </a:srgbClr>
          </a:solidFill>
          <a:ln w="12700">
            <a:solidFill>
              <a:srgbClr val="2563EB"/>
            </a:solidFill>
          </a:ln>
          <a:effectLst/>
        </p:spPr>
        <p:txBody>
          <a:bodyPr rtlCol="0" anchor="ctr"/>
          <a:lstStyle/>
          <a:p>
            <a:pPr algn="ctr"/>
          </a:p>
        </p:txBody>
      </p:sp>
      <p:cxnSp>
        <p:nvCxnSpPr>
          <p:cNvPr id="12" name="Arrow 3"/>
          <p:cNvCxnSpPr/>
          <p:nvPr/>
        </p:nvCxnSpPr>
        <p:spPr>
          <a:xfrm>
            <a:off x="7303452" y="2155444"/>
            <a:ext cx="330200" cy="0"/>
          </a:xfrm>
          <a:prstGeom prst="line">
            <a:avLst/>
          </a:prstGeom>
          <a:ln w="15875">
            <a:solidFill>
              <a:srgbClr val="059669"/>
            </a:solidFill>
            <a:tailEnd type="triangle" w="med" len="med"/>
          </a:ln>
        </p:spPr>
      </p:cxnSp>
      <p:sp>
        <p:nvSpPr>
          <p:cNvPr id="10" name="Label 3 Box"/>
          <p:cNvSpPr/>
          <p:nvPr/>
        </p:nvSpPr>
        <p:spPr>
          <a:xfrm>
            <a:off x="7633652" y="2015744"/>
            <a:ext cx="1415664" cy="279400"/>
          </a:xfrm>
          <a:prstGeom prst="roundRect">
            <a:avLst>
              <a:gd name="adj" fmla="val 20000"/>
            </a:avLst>
          </a:prstGeom>
          <a:solidFill>
            <a:srgbClr val="E8F6F0"/>
          </a:solidFill>
          <a:ln w="12700">
            <a:solidFill>
              <a:srgbClr val="059669"/>
            </a:solidFill>
          </a:ln>
          <a:effectLst/>
        </p:spPr>
        <p:txBody>
          <a:bodyPr rtlCol="0" anchor="ctr"/>
          <a:lstStyle/>
          <a:p>
            <a:pPr algn="ctr"/>
          </a:p>
        </p:txBody>
      </p:sp>
      <p:sp>
        <p:nvSpPr>
          <p:cNvPr id="11" name="Label 3 Text"/>
          <p:cNvSpPr txBox="1"/>
          <p:nvPr/>
        </p:nvSpPr>
        <p:spPr>
          <a:xfrm>
            <a:off x="7633652" y="2015744"/>
            <a:ext cx="1415664"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059669"/>
                </a:solidFill>
                <a:latin typeface="맑은 고딕"/>
                <a:ea typeface="맑은 고딕"/>
                <a:cs typeface="맑은 고딕"/>
              </a:rPr>
              <a:t>G 값 → 각속도</a:t>
            </a:r>
            <a:endParaRPr lang="ko-KR" altLang="en-US" sz="1200" dirty="0"/>
          </a:p>
        </p:txBody>
      </p:sp>
      <p:cxnSp>
        <p:nvCxnSpPr>
          <p:cNvPr id="15" name="Arrow 4"/>
          <p:cNvCxnSpPr/>
          <p:nvPr/>
        </p:nvCxnSpPr>
        <p:spPr>
          <a:xfrm>
            <a:off x="7303452" y="3886454"/>
            <a:ext cx="330200" cy="0"/>
          </a:xfrm>
          <a:prstGeom prst="line">
            <a:avLst/>
          </a:prstGeom>
          <a:ln w="15875">
            <a:solidFill>
              <a:srgbClr val="2563EB"/>
            </a:solidFill>
            <a:tailEnd type="triangle" w="med" len="med"/>
          </a:ln>
        </p:spPr>
      </p:cxnSp>
      <p:sp>
        <p:nvSpPr>
          <p:cNvPr id="13" name="Label 4 Box"/>
          <p:cNvSpPr/>
          <p:nvPr/>
        </p:nvSpPr>
        <p:spPr>
          <a:xfrm>
            <a:off x="7633652" y="3746754"/>
            <a:ext cx="1570899" cy="279400"/>
          </a:xfrm>
          <a:prstGeom prst="roundRect">
            <a:avLst>
              <a:gd name="adj" fmla="val 20000"/>
            </a:avLst>
          </a:prstGeom>
          <a:solidFill>
            <a:srgbClr val="EBF2FE"/>
          </a:solidFill>
          <a:ln w="12700">
            <a:solidFill>
              <a:srgbClr val="2563EB"/>
            </a:solidFill>
          </a:ln>
          <a:effectLst/>
        </p:spPr>
        <p:txBody>
          <a:bodyPr rtlCol="0" anchor="ctr"/>
          <a:lstStyle/>
          <a:p>
            <a:pPr algn="ctr"/>
          </a:p>
        </p:txBody>
      </p:sp>
      <p:sp>
        <p:nvSpPr>
          <p:cNvPr id="14" name="Label 4 Text"/>
          <p:cNvSpPr txBox="1"/>
          <p:nvPr/>
        </p:nvSpPr>
        <p:spPr>
          <a:xfrm>
            <a:off x="7633652" y="3746754"/>
            <a:ext cx="157089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2563EB"/>
                </a:solidFill>
                <a:latin typeface="맑은 고딕"/>
                <a:ea typeface="맑은 고딕"/>
                <a:cs typeface="맑은 고딕"/>
              </a:rPr>
              <a:t>기동 축에만 넣기</a:t>
            </a:r>
            <a:endParaRPr lang="ko-KR" altLang="en-US" sz="1200" dirty="0"/>
          </a:p>
        </p:txBody>
      </p:sp>
      <p:sp>
        <p:nvSpPr>
          <p:cNvPr id="16" name="File Tag"/>
          <p:cNvSpPr txBox="1"/>
          <p:nvPr/>
        </p:nvSpPr>
        <p:spPr>
          <a:xfrm>
            <a:off x="6214872" y="1345184"/>
            <a:ext cx="5334000" cy="203200"/>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50" b="0" i="0" dirty="0">
                <a:solidFill>
                  <a:srgbClr val="8794AC"/>
                </a:solidFill>
                <a:latin typeface="Consolas"/>
                <a:ea typeface="맑은 고딕"/>
                <a:cs typeface="맑은 고딕"/>
              </a:rPr>
              <a:t>TargetSimCore/src/TargetSim.c  30 ~ 57행</a:t>
            </a:r>
            <a:endParaRPr lang="ko-KR" altLang="en-US" sz="10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3.8 한 스텝 전진 코드 (2/2)</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22</a:t>
            </a:r>
          </a:p>
        </p:txBody>
      </p:sp>
      <p:sp>
        <p:nvSpPr>
          <p:cNvPr id="25" name="Flow Box"/>
          <p:cNvSpPr/>
          <p:nvPr/>
        </p:nvSpPr>
        <p:spPr>
          <a:xfrm>
            <a:off x="640080" y="5655056"/>
            <a:ext cx="10908792" cy="508000"/>
          </a:xfrm>
          <a:prstGeom prst="rect">
            <a:avLst/>
          </a:prstGeom>
          <a:solidFill>
            <a:srgbClr val="F7F9FC"/>
          </a:solidFill>
          <a:ln w="12700">
            <a:solidFill>
              <a:srgbClr val="D2D9E5"/>
            </a:solidFill>
          </a:ln>
          <a:effectLst/>
        </p:spPr>
        <p:txBody>
          <a:bodyPr rtlCol="0" anchor="ctr"/>
          <a:lstStyle/>
          <a:p>
            <a:pPr algn="ctr"/>
          </a:p>
        </p:txBody>
      </p:sp>
      <p:sp>
        <p:nvSpPr>
          <p:cNvPr id="26" name="Flow Text"/>
          <p:cNvSpPr txBox="1"/>
          <p:nvPr/>
        </p:nvSpPr>
        <p:spPr>
          <a:xfrm>
            <a:off x="817880" y="5655056"/>
            <a:ext cx="10553192" cy="5080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f_Tgt_Propagate 한 번     </a:t>
            </a:r>
            <a:r>
              <a:rPr lang="ko-KR" altLang="en-US" sz="1050" b="1" i="0" dirty="0">
                <a:solidFill>
                  <a:srgbClr val="DC2626"/>
                </a:solidFill>
                <a:latin typeface="맑은 고딕"/>
                <a:ea typeface="맑은 고딕"/>
                <a:cs typeface="맑은 고딕"/>
              </a:rPr>
              <a:t>0.05초 뒤 자세</a:t>
            </a:r>
            <a:r>
              <a:rPr lang="ko-KR" altLang="en-US" sz="1050" b="0" i="0" dirty="0">
                <a:solidFill>
                  <a:srgbClr val="6B7890"/>
                </a:solidFill>
                <a:latin typeface="맑은 고딕"/>
                <a:ea typeface="맑은 고딕"/>
                <a:cs typeface="맑은 고딕"/>
              </a:rPr>
              <a:t>  →  </a:t>
            </a:r>
            <a:r>
              <a:rPr lang="ko-KR" altLang="en-US" sz="1050" b="1" i="0" dirty="0">
                <a:solidFill>
                  <a:srgbClr val="D97706"/>
                </a:solidFill>
                <a:latin typeface="맑은 고딕"/>
                <a:ea typeface="맑은 고딕"/>
                <a:cs typeface="맑은 고딕"/>
              </a:rPr>
              <a:t>0.1초 뒤 자세</a:t>
            </a:r>
            <a:r>
              <a:rPr lang="ko-KR" altLang="en-US" sz="1050" b="0" i="0" dirty="0">
                <a:solidFill>
                  <a:srgbClr val="6B7890"/>
                </a:solidFill>
                <a:latin typeface="맑은 고딕"/>
                <a:ea typeface="맑은 고딕"/>
                <a:cs typeface="맑은 고딕"/>
              </a:rPr>
              <a:t>  →  </a:t>
            </a:r>
            <a:r>
              <a:rPr lang="ko-KR" altLang="en-US" sz="1050" b="1" i="0" dirty="0">
                <a:solidFill>
                  <a:srgbClr val="059669"/>
                </a:solidFill>
                <a:latin typeface="맑은 고딕"/>
                <a:ea typeface="맑은 고딕"/>
                <a:cs typeface="맑은 고딕"/>
              </a:rPr>
              <a:t>0.05초 뒤 위치</a:t>
            </a:r>
            <a:r>
              <a:rPr lang="ko-KR" altLang="en-US" sz="1050" b="0" i="0" dirty="0">
                <a:solidFill>
                  <a:srgbClr val="6B7890"/>
                </a:solidFill>
                <a:latin typeface="맑은 고딕"/>
                <a:ea typeface="맑은 고딕"/>
                <a:cs typeface="맑은 고딕"/>
              </a:rPr>
              <a:t>  →  </a:t>
            </a:r>
            <a:r>
              <a:rPr lang="ko-KR" altLang="en-US" sz="1050" b="1" i="0" dirty="0">
                <a:solidFill>
                  <a:srgbClr val="2563EB"/>
                </a:solidFill>
                <a:latin typeface="맑은 고딕"/>
                <a:ea typeface="맑은 고딕"/>
                <a:cs typeface="맑은 고딕"/>
              </a:rPr>
              <a:t>중간 지점 속도</a:t>
            </a:r>
            <a:r>
              <a:rPr lang="ko-KR" altLang="en-US" sz="1050" b="0" i="0" dirty="0">
                <a:solidFill>
                  <a:srgbClr val="6B7890"/>
                </a:solidFill>
                <a:latin typeface="맑은 고딕"/>
                <a:ea typeface="맑은 고딕"/>
                <a:cs typeface="맑은 고딕"/>
              </a:rPr>
              <a:t>  →  </a:t>
            </a:r>
            <a:r>
              <a:rPr lang="ko-KR" altLang="en-US" sz="1050" b="1" i="0" dirty="0">
                <a:solidFill>
                  <a:srgbClr val="7C3AED"/>
                </a:solidFill>
                <a:latin typeface="맑은 고딕"/>
                <a:ea typeface="맑은 고딕"/>
                <a:cs typeface="맑은 고딕"/>
              </a:rPr>
              <a:t>0.1초 이동</a:t>
            </a:r>
            <a:r>
              <a:rPr lang="ko-KR" altLang="en-US" sz="1050" b="0" i="0" dirty="0">
                <a:solidFill>
                  <a:srgbClr val="6B7890"/>
                </a:solidFill>
                <a:latin typeface="맑은 고딕"/>
                <a:ea typeface="맑은 고딕"/>
                <a:cs typeface="맑은 고딕"/>
              </a:rPr>
              <a:t>  →  </a:t>
            </a:r>
            <a:r>
              <a:rPr lang="ko-KR" altLang="en-US" sz="1050" b="1" i="0" dirty="0">
                <a:solidFill>
                  <a:srgbClr val="DC2626"/>
                </a:solidFill>
                <a:latin typeface="맑은 고딕"/>
                <a:ea typeface="맑은 고딕"/>
                <a:cs typeface="맑은 고딕"/>
              </a:rPr>
              <a:t>새 위경도와 속도</a:t>
            </a:r>
            <a:r>
              <a:rPr lang="ko-KR" altLang="en-US" sz="1050" b="0" i="0" dirty="0">
                <a:solidFill>
                  <a:srgbClr val="6B7890"/>
                </a:solidFill>
                <a:latin typeface="맑은 고딕"/>
                <a:ea typeface="맑은 고딕"/>
                <a:cs typeface="맑은 고딕"/>
              </a:rPr>
              <a:t>  →  </a:t>
            </a:r>
            <a:r>
              <a:rPr lang="ko-KR" altLang="en-US" sz="1050" b="1" i="0" dirty="0">
                <a:solidFill>
                  <a:srgbClr val="D97706"/>
                </a:solidFill>
                <a:latin typeface="맑은 고딕"/>
                <a:ea typeface="맑은 고딕"/>
                <a:cs typeface="맑은 고딕"/>
              </a:rPr>
              <a:t>한꺼번에 바꾸기</a:t>
            </a:r>
            <a:endParaRPr lang="ko-KR" altLang="en-US" sz="1000" dirty="0"/>
          </a:p>
        </p:txBody>
      </p:sp>
      <p:pic>
        <p:nvPicPr>
          <p:cNvPr id="7" name="Code Capture" descr="TargetSim.c 131-154"/>
          <p:cNvPicPr>
            <a:picLocks noChangeAspect="1"/>
          </p:cNvPicPr>
          <p:nvPr/>
        </p:nvPicPr>
        <p:blipFill>
          <a:blip r:embed="rId3"/>
          <a:stretch>
            <a:fillRect/>
          </a:stretch>
        </p:blipFill>
        <p:spPr>
          <a:xfrm>
            <a:off x="640080" y="1792224"/>
            <a:ext cx="6714172" cy="3661664"/>
          </a:xfrm>
          <a:prstGeom prst="rect">
            <a:avLst/>
          </a:prstGeom>
          <a:ln w="9525">
            <a:solidFill>
              <a:srgbClr val="C9D1DD"/>
            </a:solidFill>
          </a:ln>
        </p:spPr>
      </p:pic>
      <p:sp>
        <p:nvSpPr>
          <p:cNvPr id="8" name="Block 4"/>
          <p:cNvSpPr/>
          <p:nvPr/>
        </p:nvSpPr>
        <p:spPr>
          <a:xfrm>
            <a:off x="968692" y="1842516"/>
            <a:ext cx="6334760" cy="464820"/>
          </a:xfrm>
          <a:prstGeom prst="roundRect">
            <a:avLst>
              <a:gd name="adj" fmla="val 8197"/>
            </a:avLst>
          </a:prstGeom>
          <a:solidFill>
            <a:srgbClr val="2563EB">
              <a:alpha val="9000"/>
            </a:srgbClr>
          </a:solidFill>
          <a:ln w="12700">
            <a:solidFill>
              <a:srgbClr val="2563EB"/>
            </a:solidFill>
          </a:ln>
          <a:effectLst/>
        </p:spPr>
        <p:txBody>
          <a:bodyPr rtlCol="0" anchor="ctr"/>
          <a:lstStyle/>
          <a:p>
            <a:pPr algn="ctr"/>
          </a:p>
        </p:txBody>
      </p:sp>
      <p:sp>
        <p:nvSpPr>
          <p:cNvPr id="9" name="Block 5"/>
          <p:cNvSpPr/>
          <p:nvPr/>
        </p:nvSpPr>
        <p:spPr>
          <a:xfrm>
            <a:off x="968692" y="2380996"/>
            <a:ext cx="6334760" cy="599440"/>
          </a:xfrm>
          <a:prstGeom prst="roundRect">
            <a:avLst>
              <a:gd name="adj" fmla="val 6356"/>
            </a:avLst>
          </a:prstGeom>
          <a:solidFill>
            <a:srgbClr val="7C3AED">
              <a:alpha val="9000"/>
            </a:srgbClr>
          </a:solidFill>
          <a:ln w="12700">
            <a:solidFill>
              <a:srgbClr val="7C3AED"/>
            </a:solidFill>
          </a:ln>
          <a:effectLst/>
        </p:spPr>
        <p:txBody>
          <a:bodyPr rtlCol="0" anchor="ctr"/>
          <a:lstStyle/>
          <a:p>
            <a:pPr algn="ctr"/>
          </a:p>
        </p:txBody>
      </p:sp>
      <p:sp>
        <p:nvSpPr>
          <p:cNvPr id="10" name="Block 6"/>
          <p:cNvSpPr/>
          <p:nvPr/>
        </p:nvSpPr>
        <p:spPr>
          <a:xfrm>
            <a:off x="968692" y="4131056"/>
            <a:ext cx="6334760" cy="868680"/>
          </a:xfrm>
          <a:prstGeom prst="roundRect">
            <a:avLst>
              <a:gd name="adj" fmla="val 4386"/>
            </a:avLst>
          </a:prstGeom>
          <a:solidFill>
            <a:srgbClr val="DC2626">
              <a:alpha val="9000"/>
            </a:srgbClr>
          </a:solidFill>
          <a:ln w="12700">
            <a:solidFill>
              <a:srgbClr val="DC2626"/>
            </a:solidFill>
          </a:ln>
          <a:effectLst/>
        </p:spPr>
        <p:txBody>
          <a:bodyPr rtlCol="0" anchor="ctr"/>
          <a:lstStyle/>
          <a:p>
            <a:pPr algn="ctr"/>
          </a:p>
        </p:txBody>
      </p:sp>
      <p:sp>
        <p:nvSpPr>
          <p:cNvPr id="11" name="Block 7"/>
          <p:cNvSpPr/>
          <p:nvPr/>
        </p:nvSpPr>
        <p:spPr>
          <a:xfrm>
            <a:off x="968692" y="5073396"/>
            <a:ext cx="6334760" cy="165100"/>
          </a:xfrm>
          <a:prstGeom prst="roundRect">
            <a:avLst>
              <a:gd name="adj" fmla="val 23077"/>
            </a:avLst>
          </a:prstGeom>
          <a:solidFill>
            <a:srgbClr val="D97706">
              <a:alpha val="9000"/>
            </a:srgbClr>
          </a:solidFill>
          <a:ln w="12700">
            <a:solidFill>
              <a:srgbClr val="D97706"/>
            </a:solidFill>
          </a:ln>
          <a:effectLst/>
        </p:spPr>
        <p:txBody>
          <a:bodyPr rtlCol="0" anchor="ctr"/>
          <a:lstStyle/>
          <a:p>
            <a:pPr algn="ctr"/>
          </a:p>
        </p:txBody>
      </p:sp>
      <p:cxnSp>
        <p:nvCxnSpPr>
          <p:cNvPr id="14" name="Arrow 4"/>
          <p:cNvCxnSpPr/>
          <p:nvPr/>
        </p:nvCxnSpPr>
        <p:spPr>
          <a:xfrm>
            <a:off x="7303452" y="2074926"/>
            <a:ext cx="330200" cy="0"/>
          </a:xfrm>
          <a:prstGeom prst="line">
            <a:avLst/>
          </a:prstGeom>
          <a:ln w="15875">
            <a:solidFill>
              <a:srgbClr val="2563EB"/>
            </a:solidFill>
            <a:tailEnd type="triangle" w="med" len="med"/>
          </a:ln>
        </p:spPr>
      </p:cxnSp>
      <p:sp>
        <p:nvSpPr>
          <p:cNvPr id="12" name="Label 4 Box"/>
          <p:cNvSpPr/>
          <p:nvPr/>
        </p:nvSpPr>
        <p:spPr>
          <a:xfrm>
            <a:off x="7633652" y="1935226"/>
            <a:ext cx="1403259" cy="279400"/>
          </a:xfrm>
          <a:prstGeom prst="roundRect">
            <a:avLst>
              <a:gd name="adj" fmla="val 20000"/>
            </a:avLst>
          </a:prstGeom>
          <a:solidFill>
            <a:srgbClr val="EBF2FE"/>
          </a:solidFill>
          <a:ln w="12700">
            <a:solidFill>
              <a:srgbClr val="2563EB"/>
            </a:solidFill>
          </a:ln>
          <a:effectLst/>
        </p:spPr>
        <p:txBody>
          <a:bodyPr rtlCol="0" anchor="ctr"/>
          <a:lstStyle/>
          <a:p>
            <a:pPr algn="ctr"/>
          </a:p>
        </p:txBody>
      </p:sp>
      <p:sp>
        <p:nvSpPr>
          <p:cNvPr id="13" name="Label 4 Text"/>
          <p:cNvSpPr txBox="1"/>
          <p:nvPr/>
        </p:nvSpPr>
        <p:spPr>
          <a:xfrm>
            <a:off x="7633652" y="1935226"/>
            <a:ext cx="140325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2563EB"/>
                </a:solidFill>
                <a:latin typeface="맑은 고딕"/>
                <a:ea typeface="맑은 고딕"/>
                <a:cs typeface="맑은 고딕"/>
              </a:rPr>
              <a:t>중간 지점 속도</a:t>
            </a:r>
            <a:endParaRPr lang="ko-KR" altLang="en-US" sz="1200" dirty="0"/>
          </a:p>
        </p:txBody>
      </p:sp>
      <p:cxnSp>
        <p:nvCxnSpPr>
          <p:cNvPr id="17" name="Arrow 5"/>
          <p:cNvCxnSpPr/>
          <p:nvPr/>
        </p:nvCxnSpPr>
        <p:spPr>
          <a:xfrm>
            <a:off x="7303452" y="2680716"/>
            <a:ext cx="330200" cy="0"/>
          </a:xfrm>
          <a:prstGeom prst="line">
            <a:avLst/>
          </a:prstGeom>
          <a:ln w="15875">
            <a:solidFill>
              <a:srgbClr val="7C3AED"/>
            </a:solidFill>
            <a:tailEnd type="triangle" w="med" len="med"/>
          </a:ln>
        </p:spPr>
      </p:cxnSp>
      <p:sp>
        <p:nvSpPr>
          <p:cNvPr id="15" name="Label 5 Box"/>
          <p:cNvSpPr/>
          <p:nvPr/>
        </p:nvSpPr>
        <p:spPr>
          <a:xfrm>
            <a:off x="7633652" y="2541016"/>
            <a:ext cx="1079713" cy="279400"/>
          </a:xfrm>
          <a:prstGeom prst="roundRect">
            <a:avLst>
              <a:gd name="adj" fmla="val 20000"/>
            </a:avLst>
          </a:prstGeom>
          <a:solidFill>
            <a:srgbClr val="F3EEFE"/>
          </a:solidFill>
          <a:ln w="12700">
            <a:solidFill>
              <a:srgbClr val="7C3AED"/>
            </a:solidFill>
          </a:ln>
          <a:effectLst/>
        </p:spPr>
        <p:txBody>
          <a:bodyPr rtlCol="0" anchor="ctr"/>
          <a:lstStyle/>
          <a:p>
            <a:pPr algn="ctr"/>
          </a:p>
        </p:txBody>
      </p:sp>
      <p:sp>
        <p:nvSpPr>
          <p:cNvPr id="16" name="Label 5 Text"/>
          <p:cNvSpPr txBox="1"/>
          <p:nvPr/>
        </p:nvSpPr>
        <p:spPr>
          <a:xfrm>
            <a:off x="7633652" y="2541016"/>
            <a:ext cx="1079713"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7C3AED"/>
                </a:solidFill>
                <a:latin typeface="맑은 고딕"/>
                <a:ea typeface="맑은 고딕"/>
                <a:cs typeface="맑은 고딕"/>
              </a:rPr>
              <a:t>0.1초 이동</a:t>
            </a:r>
            <a:endParaRPr lang="ko-KR" altLang="en-US" sz="1200" dirty="0"/>
          </a:p>
        </p:txBody>
      </p:sp>
      <p:cxnSp>
        <p:nvCxnSpPr>
          <p:cNvPr id="20" name="Arrow 6"/>
          <p:cNvCxnSpPr/>
          <p:nvPr/>
        </p:nvCxnSpPr>
        <p:spPr>
          <a:xfrm>
            <a:off x="7303452" y="4565396"/>
            <a:ext cx="330200" cy="0"/>
          </a:xfrm>
          <a:prstGeom prst="line">
            <a:avLst/>
          </a:prstGeom>
          <a:ln w="15875">
            <a:solidFill>
              <a:srgbClr val="DC2626"/>
            </a:solidFill>
            <a:tailEnd type="triangle" w="med" len="med"/>
          </a:ln>
        </p:spPr>
      </p:cxnSp>
      <p:sp>
        <p:nvSpPr>
          <p:cNvPr id="18" name="Label 6 Box"/>
          <p:cNvSpPr/>
          <p:nvPr/>
        </p:nvSpPr>
        <p:spPr>
          <a:xfrm>
            <a:off x="7633652" y="4425696"/>
            <a:ext cx="1570899" cy="279400"/>
          </a:xfrm>
          <a:prstGeom prst="roundRect">
            <a:avLst>
              <a:gd name="adj" fmla="val 20000"/>
            </a:avLst>
          </a:prstGeom>
          <a:solidFill>
            <a:srgbClr val="FDEEEE"/>
          </a:solidFill>
          <a:ln w="12700">
            <a:solidFill>
              <a:srgbClr val="DC2626"/>
            </a:solidFill>
          </a:ln>
          <a:effectLst/>
        </p:spPr>
        <p:txBody>
          <a:bodyPr rtlCol="0" anchor="ctr"/>
          <a:lstStyle/>
          <a:p>
            <a:pPr algn="ctr"/>
          </a:p>
        </p:txBody>
      </p:sp>
      <p:sp>
        <p:nvSpPr>
          <p:cNvPr id="19" name="Label 6 Text"/>
          <p:cNvSpPr txBox="1"/>
          <p:nvPr/>
        </p:nvSpPr>
        <p:spPr>
          <a:xfrm>
            <a:off x="7633652" y="4425696"/>
            <a:ext cx="157089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C2626"/>
                </a:solidFill>
                <a:latin typeface="맑은 고딕"/>
                <a:ea typeface="맑은 고딕"/>
                <a:cs typeface="맑은 고딕"/>
              </a:rPr>
              <a:t>새 위경도와 속도</a:t>
            </a:r>
            <a:endParaRPr lang="ko-KR" altLang="en-US" sz="1200" dirty="0"/>
          </a:p>
        </p:txBody>
      </p:sp>
      <p:cxnSp>
        <p:nvCxnSpPr>
          <p:cNvPr id="23" name="Arrow 7"/>
          <p:cNvCxnSpPr/>
          <p:nvPr/>
        </p:nvCxnSpPr>
        <p:spPr>
          <a:xfrm>
            <a:off x="7303452" y="5155946"/>
            <a:ext cx="330200" cy="0"/>
          </a:xfrm>
          <a:prstGeom prst="line">
            <a:avLst/>
          </a:prstGeom>
          <a:ln w="15875">
            <a:solidFill>
              <a:srgbClr val="D97706"/>
            </a:solidFill>
            <a:tailEnd type="triangle" w="med" len="med"/>
          </a:ln>
        </p:spPr>
      </p:cxnSp>
      <p:sp>
        <p:nvSpPr>
          <p:cNvPr id="21" name="Label 7 Box"/>
          <p:cNvSpPr/>
          <p:nvPr/>
        </p:nvSpPr>
        <p:spPr>
          <a:xfrm>
            <a:off x="7633652" y="5016246"/>
            <a:ext cx="1511889" cy="279400"/>
          </a:xfrm>
          <a:prstGeom prst="roundRect">
            <a:avLst>
              <a:gd name="adj" fmla="val 20000"/>
            </a:avLst>
          </a:prstGeom>
          <a:solidFill>
            <a:srgbClr val="FEF5E7"/>
          </a:solidFill>
          <a:ln w="12700">
            <a:solidFill>
              <a:srgbClr val="D97706"/>
            </a:solidFill>
          </a:ln>
          <a:effectLst/>
        </p:spPr>
        <p:txBody>
          <a:bodyPr rtlCol="0" anchor="ctr"/>
          <a:lstStyle/>
          <a:p>
            <a:pPr algn="ctr"/>
          </a:p>
        </p:txBody>
      </p:sp>
      <p:sp>
        <p:nvSpPr>
          <p:cNvPr id="22" name="Label 7 Text"/>
          <p:cNvSpPr txBox="1"/>
          <p:nvPr/>
        </p:nvSpPr>
        <p:spPr>
          <a:xfrm>
            <a:off x="7633652" y="5016246"/>
            <a:ext cx="151188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97706"/>
                </a:solidFill>
                <a:latin typeface="맑은 고딕"/>
                <a:ea typeface="맑은 고딕"/>
                <a:cs typeface="맑은 고딕"/>
              </a:rPr>
              <a:t>한꺼번에 바꾸기</a:t>
            </a:r>
            <a:endParaRPr lang="ko-KR" altLang="en-US" sz="1200" dirty="0"/>
          </a:p>
        </p:txBody>
      </p:sp>
      <p:sp>
        <p:nvSpPr>
          <p:cNvPr id="24" name="File Tag"/>
          <p:cNvSpPr txBox="1"/>
          <p:nvPr/>
        </p:nvSpPr>
        <p:spPr>
          <a:xfrm>
            <a:off x="6214872" y="1345184"/>
            <a:ext cx="5334000" cy="203200"/>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50" b="0" i="0" dirty="0">
                <a:solidFill>
                  <a:srgbClr val="8794AC"/>
                </a:solidFill>
                <a:latin typeface="Consolas"/>
                <a:ea typeface="맑은 고딕"/>
                <a:cs typeface="맑은 고딕"/>
              </a:rPr>
              <a:t>TargetSimCore/src/TargetSim.c  131 ~ 154행</a:t>
            </a:r>
            <a:endParaRPr lang="ko-KR" altLang="en-US" sz="10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04. 결과 확인</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4.3 운용 화면</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응용 시나리오를 불러와 표적 2(대공)를 고른 화면입니다. 칸을 고치면 바로 다시 계산합니다.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26</a:t>
            </a:r>
          </a:p>
        </p:txBody>
      </p:sp>
      <p:pic>
        <p:nvPicPr>
          <p:cNvPr id="11" name="Picture 10" descr="ui_client.png"/>
          <p:cNvPicPr>
            <a:picLocks noChangeAspect="1"/>
          </p:cNvPicPr>
          <p:nvPr/>
        </p:nvPicPr>
        <p:blipFill>
          <a:blip r:embed="rId6"/>
          <a:stretch>
            <a:fillRect/>
          </a:stretch>
        </p:blipFill>
        <p:spPr>
          <a:xfrm>
            <a:off x="3097276" y="2148840"/>
            <a:ext cx="5994400" cy="3553822"/>
          </a:xfrm>
          <a:prstGeom prst="rect">
            <a:avLst/>
          </a:prstGeom>
        </p:spPr>
      </p:pic>
      <p:sp>
        <p:nvSpPr>
          <p:cNvPr id="12" name="UI Frame"/>
          <p:cNvSpPr/>
          <p:nvPr/>
        </p:nvSpPr>
        <p:spPr>
          <a:xfrm>
            <a:off x="3097276" y="2148840"/>
            <a:ext cx="5994400" cy="3553822"/>
          </a:xfrm>
          <a:prstGeom prst="rect">
            <a:avLst/>
          </a:prstGeom>
          <a:noFill/>
          <a:ln w="12700">
            <a:solidFill>
              <a:srgbClr val="D2D9E5"/>
            </a:solidFill>
          </a:ln>
          <a:effectLst/>
        </p:spPr>
        <p:txBody>
          <a:bodyPr rtlCol="0" anchor="ctr"/>
          <a:lstStyle/>
          <a:p>
            <a:pPr algn="ctr"/>
          </a:p>
        </p:txBody>
      </p:sp>
      <p:sp>
        <p:nvSpPr>
          <p:cNvPr id="13" name="UI Region 1"/>
          <p:cNvSpPr/>
          <p:nvPr/>
        </p:nvSpPr>
        <p:spPr>
          <a:xfrm>
            <a:off x="3097276" y="2148840"/>
            <a:ext cx="5994400" cy="205522"/>
          </a:xfrm>
          <a:prstGeom prst="roundRect">
            <a:avLst>
              <a:gd name="adj" fmla="val 4000"/>
            </a:avLst>
          </a:prstGeom>
          <a:noFill/>
          <a:ln w="22225">
            <a:solidFill>
              <a:srgbClr val="DC2626"/>
            </a:solidFill>
          </a:ln>
          <a:effectLst/>
        </p:spPr>
        <p:txBody>
          <a:bodyPr rtlCol="0" anchor="ctr"/>
          <a:lstStyle/>
          <a:p>
            <a:pPr algn="ctr"/>
          </a:p>
        </p:txBody>
      </p:sp>
      <p:sp>
        <p:nvSpPr>
          <p:cNvPr id="14" name="UI Card 1 Box"/>
          <p:cNvSpPr/>
          <p:nvPr/>
        </p:nvSpPr>
        <p:spPr>
          <a:xfrm>
            <a:off x="640080" y="2148840"/>
            <a:ext cx="2203196" cy="732790"/>
          </a:xfrm>
          <a:prstGeom prst="roundRect">
            <a:avLst>
              <a:gd name="adj" fmla="val 6000"/>
            </a:avLst>
          </a:prstGeom>
          <a:solidFill>
            <a:srgbClr val="FDEEEE"/>
          </a:solidFill>
          <a:ln w="12700">
            <a:solidFill>
              <a:srgbClr val="DC2626"/>
            </a:solidFill>
          </a:ln>
          <a:effectLst/>
        </p:spPr>
        <p:txBody>
          <a:bodyPr rtlCol="0" anchor="ctr"/>
          <a:lstStyle/>
          <a:p>
            <a:pPr algn="ctr"/>
          </a:p>
        </p:txBody>
      </p:sp>
      <p:sp>
        <p:nvSpPr>
          <p:cNvPr id="15" name="UI Card 1 Text"/>
          <p:cNvSpPr txBox="1"/>
          <p:nvPr/>
        </p:nvSpPr>
        <p:spPr>
          <a:xfrm>
            <a:off x="767080" y="2237740"/>
            <a:ext cx="1949196" cy="542290"/>
          </a:xfrm>
          <a:prstGeom prst="rect">
            <a:avLst/>
          </a:prstGeom>
          <a:noFill/>
        </p:spPr>
        <p:txBody>
          <a:bodyPr wrap="none" lIns="0" tIns="0" rIns="0" bIns="0" anchor="t" rtlCol="0">
            <a:noAutofit/>
          </a:bodyPr>
          <a:lstStyle/>
          <a:p>
            <a:pPr algn="l">
              <a:lnSpc>
                <a:spcPts val="1450"/>
              </a:lnSpc>
              <a:spcBef>
                <a:spcPts val="0"/>
              </a:spcBef>
              <a:spcAft>
                <a:spcPts val="0"/>
              </a:spcAft>
              <a:buNone/>
            </a:pPr>
            <a:r>
              <a:rPr lang="ko-KR" altLang="en-US" sz="1050" b="1" i="0" dirty="0">
                <a:solidFill>
                  <a:srgbClr val="DC2626"/>
                </a:solidFill>
                <a:latin typeface="맑은 고딕"/>
                <a:ea typeface="맑은 고딕"/>
                <a:cs typeface="맑은 고딕"/>
              </a:rPr>
              <a:t>① 시나리오 선택</a:t>
            </a:r>
            <a:endParaRPr lang="ko-KR" altLang="en-US" sz="1050" dirty="0"/>
          </a:p>
          <a:p>
            <a:pPr algn="l">
              <a:lnSpc>
                <a:spcPts val="1260"/>
              </a:lnSpc>
              <a:spcBef>
                <a:spcPts val="300"/>
              </a:spcBef>
              <a:spcAft>
                <a:spcPts val="0"/>
              </a:spcAft>
              <a:buNone/>
            </a:pPr>
            <a:r>
              <a:rPr lang="ko-KR" altLang="en-US" sz="900" b="0" i="0" dirty="0">
                <a:solidFill>
                  <a:srgbClr val="3F4B63"/>
                </a:solidFill>
                <a:latin typeface="맑은 고딕"/>
                <a:ea typeface="맑은 고딕"/>
                <a:cs typeface="맑은 고딕"/>
              </a:rPr>
              <a:t>시나리오 3 개 중 하나를</a:t>
            </a:r>
            <a:endParaRPr lang="ko-KR" altLang="en-US" sz="900" dirty="0"/>
          </a:p>
          <a:p>
            <a:pPr algn="l">
              <a:lnSpc>
                <a:spcPts val="1260"/>
              </a:lnSpc>
              <a:spcBef>
                <a:spcPts val="0"/>
              </a:spcBef>
              <a:spcAft>
                <a:spcPts val="0"/>
              </a:spcAft>
              <a:buNone/>
            </a:pPr>
            <a:r>
              <a:rPr lang="ko-KR" altLang="en-US" sz="900" b="0" i="0" dirty="0">
                <a:solidFill>
                  <a:srgbClr val="3F4B63"/>
                </a:solidFill>
                <a:latin typeface="맑은 고딕"/>
                <a:ea typeface="맑은 고딕"/>
                <a:cs typeface="맑은 고딕"/>
              </a:rPr>
              <a:t>불러온다 (</a:t>
            </a:r>
            <a:r>
              <a:rPr lang="ko-KR" altLang="en-US" sz="850" b="1" i="0" dirty="0">
                <a:solidFill>
                  <a:srgbClr val="1B2740"/>
                </a:solidFill>
                <a:latin typeface="Consolas"/>
                <a:ea typeface="맑은 고딕"/>
                <a:cs typeface="맑은 고딕"/>
              </a:rPr>
              <a:t>f_LoadPreset</a:t>
            </a:r>
            <a:r>
              <a:rPr lang="ko-KR" altLang="en-US" sz="900" b="0" i="0" dirty="0">
                <a:solidFill>
                  <a:srgbClr val="3F4B63"/>
                </a:solidFill>
                <a:latin typeface="맑은 고딕"/>
                <a:ea typeface="맑은 고딕"/>
                <a:cs typeface="맑은 고딕"/>
              </a:rPr>
              <a:t>).</a:t>
            </a:r>
            <a:endParaRPr lang="ko-KR" altLang="en-US" sz="900" dirty="0"/>
          </a:p>
        </p:txBody>
      </p:sp>
      <p:cxnSp>
        <p:nvCxnSpPr>
          <p:cNvPr id="16" name="UI Arrow 1"/>
          <p:cNvCxnSpPr/>
          <p:nvPr/>
        </p:nvCxnSpPr>
        <p:spPr>
          <a:xfrm flipH="1">
            <a:off x="2843276" y="2251601"/>
            <a:ext cx="146050" cy="49639"/>
          </a:xfrm>
          <a:prstGeom prst="bentConnector3">
            <a:avLst>
              <a:gd name="adj1" fmla="val 50000"/>
            </a:avLst>
          </a:prstGeom>
          <a:ln w="15875">
            <a:solidFill>
              <a:srgbClr val="DC2626"/>
            </a:solidFill>
            <a:tailEnd type="triangle" w="med" len="med"/>
          </a:ln>
        </p:spPr>
      </p:cxnSp>
      <p:sp>
        <p:nvSpPr>
          <p:cNvPr id="17" name="UI Badge 1"/>
          <p:cNvSpPr/>
          <p:nvPr/>
        </p:nvSpPr>
        <p:spPr>
          <a:xfrm>
            <a:off x="2989326" y="2143651"/>
            <a:ext cx="215900" cy="215900"/>
          </a:xfrm>
          <a:prstGeom prst="ellipse">
            <a:avLst/>
          </a:prstGeom>
          <a:solidFill>
            <a:srgbClr val="DC2626"/>
          </a:solidFill>
          <a:ln w="19050">
            <a:solidFill>
              <a:srgbClr val="FFFFFF"/>
            </a:solidFill>
          </a:ln>
          <a:effectLst/>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Arial"/>
                <a:ea typeface="맑은 고딕"/>
                <a:cs typeface="맑은 고딕"/>
              </a:rPr>
              <a:t>1</a:t>
            </a:r>
            <a:endParaRPr lang="ko-KR" altLang="en-US" sz="950" dirty="0"/>
          </a:p>
        </p:txBody>
      </p:sp>
      <p:sp>
        <p:nvSpPr>
          <p:cNvPr id="18" name="UI Region 2"/>
          <p:cNvSpPr/>
          <p:nvPr/>
        </p:nvSpPr>
        <p:spPr>
          <a:xfrm>
            <a:off x="3148656" y="2405742"/>
            <a:ext cx="2997200" cy="732172"/>
          </a:xfrm>
          <a:prstGeom prst="roundRect">
            <a:avLst>
              <a:gd name="adj" fmla="val 4000"/>
            </a:avLst>
          </a:prstGeom>
          <a:noFill/>
          <a:ln w="22225">
            <a:solidFill>
              <a:srgbClr val="D97706"/>
            </a:solidFill>
          </a:ln>
          <a:effectLst/>
        </p:spPr>
        <p:txBody>
          <a:bodyPr rtlCol="0" anchor="ctr"/>
          <a:lstStyle/>
          <a:p>
            <a:pPr algn="ctr"/>
          </a:p>
        </p:txBody>
      </p:sp>
      <p:sp>
        <p:nvSpPr>
          <p:cNvPr id="19" name="UI Card 2 Box"/>
          <p:cNvSpPr/>
          <p:nvPr/>
        </p:nvSpPr>
        <p:spPr>
          <a:xfrm>
            <a:off x="640080" y="2983230"/>
            <a:ext cx="2203196" cy="732790"/>
          </a:xfrm>
          <a:prstGeom prst="roundRect">
            <a:avLst>
              <a:gd name="adj" fmla="val 6000"/>
            </a:avLst>
          </a:prstGeom>
          <a:solidFill>
            <a:srgbClr val="FEF5E7"/>
          </a:solidFill>
          <a:ln w="12700">
            <a:solidFill>
              <a:srgbClr val="D97706"/>
            </a:solidFill>
          </a:ln>
          <a:effectLst/>
        </p:spPr>
        <p:txBody>
          <a:bodyPr rtlCol="0" anchor="ctr"/>
          <a:lstStyle/>
          <a:p>
            <a:pPr algn="ctr"/>
          </a:p>
        </p:txBody>
      </p:sp>
      <p:sp>
        <p:nvSpPr>
          <p:cNvPr id="20" name="UI Card 2 Text"/>
          <p:cNvSpPr txBox="1"/>
          <p:nvPr/>
        </p:nvSpPr>
        <p:spPr>
          <a:xfrm>
            <a:off x="767080" y="3072130"/>
            <a:ext cx="1949196" cy="542290"/>
          </a:xfrm>
          <a:prstGeom prst="rect">
            <a:avLst/>
          </a:prstGeom>
          <a:noFill/>
        </p:spPr>
        <p:txBody>
          <a:bodyPr wrap="none" lIns="0" tIns="0" rIns="0" bIns="0" anchor="t" rtlCol="0">
            <a:noAutofit/>
          </a:bodyPr>
          <a:lstStyle/>
          <a:p>
            <a:pPr algn="l">
              <a:lnSpc>
                <a:spcPts val="1450"/>
              </a:lnSpc>
              <a:spcBef>
                <a:spcPts val="0"/>
              </a:spcBef>
              <a:spcAft>
                <a:spcPts val="0"/>
              </a:spcAft>
              <a:buNone/>
            </a:pPr>
            <a:r>
              <a:rPr lang="ko-KR" altLang="en-US" sz="1050" b="1" i="0" dirty="0">
                <a:solidFill>
                  <a:srgbClr val="D97706"/>
                </a:solidFill>
                <a:latin typeface="맑은 고딕"/>
                <a:ea typeface="맑은 고딕"/>
                <a:cs typeface="맑은 고딕"/>
              </a:rPr>
              <a:t>② 플랫폼 · 표적 표</a:t>
            </a:r>
            <a:endParaRPr lang="ko-KR" altLang="en-US" sz="1050" dirty="0"/>
          </a:p>
          <a:p>
            <a:pPr algn="l">
              <a:lnSpc>
                <a:spcPts val="1260"/>
              </a:lnSpc>
              <a:spcBef>
                <a:spcPts val="300"/>
              </a:spcBef>
              <a:spcAft>
                <a:spcPts val="0"/>
              </a:spcAft>
              <a:buNone/>
            </a:pPr>
            <a:r>
              <a:rPr lang="ko-KR" altLang="en-US" sz="900" b="0" i="0" dirty="0">
                <a:solidFill>
                  <a:srgbClr val="3F4B63"/>
                </a:solidFill>
                <a:latin typeface="맑은 고딕"/>
                <a:ea typeface="맑은 고딕"/>
                <a:cs typeface="맑은 고딕"/>
              </a:rPr>
              <a:t>초기값 7 칸을 바로 고친다.</a:t>
            </a:r>
            <a:endParaRPr lang="ko-KR" altLang="en-US" sz="900" dirty="0"/>
          </a:p>
          <a:p>
            <a:pPr algn="l">
              <a:lnSpc>
                <a:spcPts val="1260"/>
              </a:lnSpc>
              <a:spcBef>
                <a:spcPts val="0"/>
              </a:spcBef>
              <a:spcAft>
                <a:spcPts val="0"/>
              </a:spcAft>
              <a:buNone/>
            </a:pPr>
            <a:r>
              <a:rPr lang="ko-KR" altLang="en-US" sz="900" b="0" i="0" dirty="0">
                <a:solidFill>
                  <a:srgbClr val="3F4B63"/>
                </a:solidFill>
                <a:latin typeface="맑은 고딕"/>
                <a:ea typeface="맑은 고딕"/>
                <a:cs typeface="맑은 고딕"/>
              </a:rPr>
              <a:t>표적 최대 10 개 (</a:t>
            </a:r>
            <a:r>
              <a:rPr lang="ko-KR" altLang="en-US" sz="850" b="1" i="0" dirty="0">
                <a:solidFill>
                  <a:srgbClr val="1B2740"/>
                </a:solidFill>
                <a:latin typeface="Consolas"/>
                <a:ea typeface="맑은 고딕"/>
                <a:cs typeface="맑은 고딕"/>
              </a:rPr>
              <a:t>CGridCtrl</a:t>
            </a:r>
            <a:r>
              <a:rPr lang="ko-KR" altLang="en-US" sz="900" b="0" i="0" dirty="0">
                <a:solidFill>
                  <a:srgbClr val="3F4B63"/>
                </a:solidFill>
                <a:latin typeface="맑은 고딕"/>
                <a:ea typeface="맑은 고딕"/>
                <a:cs typeface="맑은 고딕"/>
              </a:rPr>
              <a:t>).</a:t>
            </a:r>
            <a:endParaRPr lang="ko-KR" altLang="en-US" sz="900" dirty="0"/>
          </a:p>
        </p:txBody>
      </p:sp>
      <p:cxnSp>
        <p:nvCxnSpPr>
          <p:cNvPr id="21" name="UI Arrow 2"/>
          <p:cNvCxnSpPr/>
          <p:nvPr/>
        </p:nvCxnSpPr>
        <p:spPr>
          <a:xfrm flipH="1">
            <a:off x="2843276" y="2771829"/>
            <a:ext cx="146050" cy="363801"/>
          </a:xfrm>
          <a:prstGeom prst="bentConnector3">
            <a:avLst>
              <a:gd name="adj1" fmla="val 50000"/>
            </a:avLst>
          </a:prstGeom>
          <a:ln w="15875">
            <a:solidFill>
              <a:srgbClr val="D97706"/>
            </a:solidFill>
            <a:tailEnd type="triangle" w="med" len="med"/>
          </a:ln>
        </p:spPr>
      </p:cxnSp>
      <p:sp>
        <p:nvSpPr>
          <p:cNvPr id="22" name="UI Badge 2"/>
          <p:cNvSpPr/>
          <p:nvPr/>
        </p:nvSpPr>
        <p:spPr>
          <a:xfrm>
            <a:off x="2989326" y="2663879"/>
            <a:ext cx="215900" cy="215900"/>
          </a:xfrm>
          <a:prstGeom prst="ellipse">
            <a:avLst/>
          </a:prstGeom>
          <a:solidFill>
            <a:srgbClr val="D97706"/>
          </a:solidFill>
          <a:ln w="19050">
            <a:solidFill>
              <a:srgbClr val="FFFFFF"/>
            </a:solidFill>
          </a:ln>
          <a:effectLst/>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Arial"/>
                <a:ea typeface="맑은 고딕"/>
                <a:cs typeface="맑은 고딕"/>
              </a:rPr>
              <a:t>2</a:t>
            </a:r>
            <a:endParaRPr lang="ko-KR" altLang="en-US" sz="950" dirty="0"/>
          </a:p>
        </p:txBody>
      </p:sp>
      <p:sp>
        <p:nvSpPr>
          <p:cNvPr id="23" name="UI Region 3"/>
          <p:cNvSpPr/>
          <p:nvPr/>
        </p:nvSpPr>
        <p:spPr>
          <a:xfrm>
            <a:off x="3148656" y="3180732"/>
            <a:ext cx="2997200" cy="2470548"/>
          </a:xfrm>
          <a:prstGeom prst="roundRect">
            <a:avLst>
              <a:gd name="adj" fmla="val 4000"/>
            </a:avLst>
          </a:prstGeom>
          <a:noFill/>
          <a:ln w="22225">
            <a:solidFill>
              <a:srgbClr val="059669"/>
            </a:solidFill>
          </a:ln>
          <a:effectLst/>
        </p:spPr>
        <p:txBody>
          <a:bodyPr rtlCol="0" anchor="ctr"/>
          <a:lstStyle/>
          <a:p>
            <a:pPr algn="ctr"/>
          </a:p>
        </p:txBody>
      </p:sp>
      <p:sp>
        <p:nvSpPr>
          <p:cNvPr id="24" name="UI Card 3 Box"/>
          <p:cNvSpPr/>
          <p:nvPr/>
        </p:nvSpPr>
        <p:spPr>
          <a:xfrm>
            <a:off x="640080" y="4049612"/>
            <a:ext cx="2203196" cy="732790"/>
          </a:xfrm>
          <a:prstGeom prst="roundRect">
            <a:avLst>
              <a:gd name="adj" fmla="val 6000"/>
            </a:avLst>
          </a:prstGeom>
          <a:solidFill>
            <a:srgbClr val="E8F6F0"/>
          </a:solidFill>
          <a:ln w="12700">
            <a:solidFill>
              <a:srgbClr val="059669"/>
            </a:solidFill>
          </a:ln>
          <a:effectLst/>
        </p:spPr>
        <p:txBody>
          <a:bodyPr rtlCol="0" anchor="ctr"/>
          <a:lstStyle/>
          <a:p>
            <a:pPr algn="ctr"/>
          </a:p>
        </p:txBody>
      </p:sp>
      <p:sp>
        <p:nvSpPr>
          <p:cNvPr id="25" name="UI Card 3 Text"/>
          <p:cNvSpPr txBox="1"/>
          <p:nvPr/>
        </p:nvSpPr>
        <p:spPr>
          <a:xfrm>
            <a:off x="767080" y="4138512"/>
            <a:ext cx="1949196" cy="542290"/>
          </a:xfrm>
          <a:prstGeom prst="rect">
            <a:avLst/>
          </a:prstGeom>
          <a:noFill/>
        </p:spPr>
        <p:txBody>
          <a:bodyPr wrap="none" lIns="0" tIns="0" rIns="0" bIns="0" anchor="t" rtlCol="0">
            <a:noAutofit/>
          </a:bodyPr>
          <a:lstStyle/>
          <a:p>
            <a:pPr algn="l">
              <a:lnSpc>
                <a:spcPts val="1450"/>
              </a:lnSpc>
              <a:spcBef>
                <a:spcPts val="0"/>
              </a:spcBef>
              <a:spcAft>
                <a:spcPts val="0"/>
              </a:spcAft>
              <a:buNone/>
            </a:pPr>
            <a:r>
              <a:rPr lang="ko-KR" altLang="en-US" sz="1050" b="1" i="0" dirty="0">
                <a:solidFill>
                  <a:srgbClr val="059669"/>
                </a:solidFill>
                <a:latin typeface="맑은 고딕"/>
                <a:ea typeface="맑은 고딕"/>
                <a:cs typeface="맑은 고딕"/>
              </a:rPr>
              <a:t>③ 기동 표</a:t>
            </a:r>
            <a:endParaRPr lang="ko-KR" altLang="en-US" sz="1050" dirty="0"/>
          </a:p>
          <a:p>
            <a:pPr algn="l">
              <a:lnSpc>
                <a:spcPts val="1260"/>
              </a:lnSpc>
              <a:spcBef>
                <a:spcPts val="300"/>
              </a:spcBef>
              <a:spcAft>
                <a:spcPts val="0"/>
              </a:spcAft>
              <a:buNone/>
            </a:pPr>
            <a:r>
              <a:rPr lang="ko-KR" altLang="en-US" sz="900" b="0" i="0" dirty="0">
                <a:solidFill>
                  <a:srgbClr val="3F4B63"/>
                </a:solidFill>
                <a:latin typeface="맑은 고딕"/>
                <a:ea typeface="맑은 고딕"/>
                <a:cs typeface="맑은 고딕"/>
              </a:rPr>
              <a:t>고른 표적의 기동, 최대 30 개.</a:t>
            </a:r>
            <a:endParaRPr lang="ko-KR" altLang="en-US" sz="900" dirty="0"/>
          </a:p>
          <a:p>
            <a:pPr algn="l">
              <a:lnSpc>
                <a:spcPts val="1260"/>
              </a:lnSpc>
              <a:spcBef>
                <a:spcPts val="0"/>
              </a:spcBef>
              <a:spcAft>
                <a:spcPts val="0"/>
              </a:spcAft>
              <a:buNone/>
            </a:pPr>
            <a:r>
              <a:rPr lang="ko-KR" altLang="en-US" sz="900" b="0" i="0" dirty="0">
                <a:solidFill>
                  <a:srgbClr val="3F4B63"/>
                </a:solidFill>
                <a:latin typeface="맑은 고딕"/>
                <a:ea typeface="맑은 고딕"/>
                <a:cs typeface="맑은 고딕"/>
              </a:rPr>
              <a:t>축 · G · 시작 · 종료를 고친다.</a:t>
            </a:r>
            <a:endParaRPr lang="ko-KR" altLang="en-US" sz="900" dirty="0"/>
          </a:p>
        </p:txBody>
      </p:sp>
      <p:cxnSp>
        <p:nvCxnSpPr>
          <p:cNvPr id="26" name="UI Arrow 3"/>
          <p:cNvCxnSpPr/>
          <p:nvPr/>
        </p:nvCxnSpPr>
        <p:spPr>
          <a:xfrm flipH="1">
            <a:off x="2843276" y="4416007"/>
            <a:ext cx="146050" cy="0"/>
          </a:xfrm>
          <a:prstGeom prst="line">
            <a:avLst/>
          </a:prstGeom>
          <a:ln w="15875">
            <a:solidFill>
              <a:srgbClr val="059669"/>
            </a:solidFill>
            <a:tailEnd type="triangle" w="med" len="med"/>
          </a:ln>
        </p:spPr>
      </p:cxnSp>
      <p:sp>
        <p:nvSpPr>
          <p:cNvPr id="27" name="UI Badge 3"/>
          <p:cNvSpPr/>
          <p:nvPr/>
        </p:nvSpPr>
        <p:spPr>
          <a:xfrm>
            <a:off x="2989326" y="4308057"/>
            <a:ext cx="215900" cy="215900"/>
          </a:xfrm>
          <a:prstGeom prst="ellipse">
            <a:avLst/>
          </a:prstGeom>
          <a:solidFill>
            <a:srgbClr val="059669"/>
          </a:solidFill>
          <a:ln w="19050">
            <a:solidFill>
              <a:srgbClr val="FFFFFF"/>
            </a:solidFill>
          </a:ln>
          <a:effectLst/>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Arial"/>
                <a:ea typeface="맑은 고딕"/>
                <a:cs typeface="맑은 고딕"/>
              </a:rPr>
              <a:t>3</a:t>
            </a:r>
            <a:endParaRPr lang="ko-KR" altLang="en-US" sz="950" dirty="0"/>
          </a:p>
        </p:txBody>
      </p:sp>
      <p:sp>
        <p:nvSpPr>
          <p:cNvPr id="28" name="UI Region 4"/>
          <p:cNvSpPr/>
          <p:nvPr/>
        </p:nvSpPr>
        <p:spPr>
          <a:xfrm>
            <a:off x="6188673" y="2405742"/>
            <a:ext cx="2851621" cy="1943897"/>
          </a:xfrm>
          <a:prstGeom prst="roundRect">
            <a:avLst>
              <a:gd name="adj" fmla="val 4000"/>
            </a:avLst>
          </a:prstGeom>
          <a:noFill/>
          <a:ln w="22225">
            <a:solidFill>
              <a:srgbClr val="2563EB"/>
            </a:solidFill>
          </a:ln>
          <a:effectLst/>
        </p:spPr>
        <p:txBody>
          <a:bodyPr rtlCol="0" anchor="ctr"/>
          <a:lstStyle/>
          <a:p>
            <a:pPr algn="ctr"/>
          </a:p>
        </p:txBody>
      </p:sp>
      <p:sp>
        <p:nvSpPr>
          <p:cNvPr id="29" name="UI Card 4 Box"/>
          <p:cNvSpPr/>
          <p:nvPr/>
        </p:nvSpPr>
        <p:spPr>
          <a:xfrm>
            <a:off x="9345676" y="2931286"/>
            <a:ext cx="2203196" cy="892810"/>
          </a:xfrm>
          <a:prstGeom prst="roundRect">
            <a:avLst>
              <a:gd name="adj" fmla="val 6000"/>
            </a:avLst>
          </a:prstGeom>
          <a:solidFill>
            <a:srgbClr val="EBF2FE"/>
          </a:solidFill>
          <a:ln w="12700">
            <a:solidFill>
              <a:srgbClr val="2563EB"/>
            </a:solidFill>
          </a:ln>
          <a:effectLst/>
        </p:spPr>
        <p:txBody>
          <a:bodyPr rtlCol="0" anchor="ctr"/>
          <a:lstStyle/>
          <a:p>
            <a:pPr algn="ctr"/>
          </a:p>
        </p:txBody>
      </p:sp>
      <p:sp>
        <p:nvSpPr>
          <p:cNvPr id="30" name="UI Card 4 Text"/>
          <p:cNvSpPr txBox="1"/>
          <p:nvPr/>
        </p:nvSpPr>
        <p:spPr>
          <a:xfrm>
            <a:off x="9472676" y="3020186"/>
            <a:ext cx="1949196" cy="702310"/>
          </a:xfrm>
          <a:prstGeom prst="rect">
            <a:avLst/>
          </a:prstGeom>
          <a:noFill/>
        </p:spPr>
        <p:txBody>
          <a:bodyPr wrap="none" lIns="0" tIns="0" rIns="0" bIns="0" anchor="t" rtlCol="0">
            <a:noAutofit/>
          </a:bodyPr>
          <a:lstStyle/>
          <a:p>
            <a:pPr algn="l">
              <a:lnSpc>
                <a:spcPts val="1450"/>
              </a:lnSpc>
              <a:spcBef>
                <a:spcPts val="0"/>
              </a:spcBef>
              <a:spcAft>
                <a:spcPts val="0"/>
              </a:spcAft>
              <a:buNone/>
            </a:pPr>
            <a:r>
              <a:rPr lang="ko-KR" altLang="en-US" sz="1050" b="1" i="0" dirty="0">
                <a:solidFill>
                  <a:srgbClr val="2563EB"/>
                </a:solidFill>
                <a:latin typeface="맑은 고딕"/>
                <a:ea typeface="맑은 고딕"/>
                <a:cs typeface="맑은 고딕"/>
              </a:rPr>
              <a:t>④ 궤적 · 고도 · 속력 그림</a:t>
            </a:r>
            <a:endParaRPr lang="ko-KR" altLang="en-US" sz="1050" dirty="0"/>
          </a:p>
          <a:p>
            <a:pPr algn="l">
              <a:lnSpc>
                <a:spcPts val="1260"/>
              </a:lnSpc>
              <a:spcBef>
                <a:spcPts val="300"/>
              </a:spcBef>
              <a:spcAft>
                <a:spcPts val="0"/>
              </a:spcAft>
              <a:buNone/>
            </a:pPr>
            <a:r>
              <a:rPr lang="ko-KR" altLang="en-US" sz="900" b="0" i="0" dirty="0">
                <a:solidFill>
                  <a:srgbClr val="3F4B63"/>
                </a:solidFill>
                <a:latin typeface="맑은 고딕"/>
                <a:ea typeface="맑은 고딕"/>
                <a:cs typeface="맑은 고딕"/>
              </a:rPr>
              <a:t>동-북 평면과 고도-시각,</a:t>
            </a:r>
            <a:endParaRPr lang="ko-KR" altLang="en-US" sz="900" dirty="0"/>
          </a:p>
          <a:p>
            <a:pPr algn="l">
              <a:lnSpc>
                <a:spcPts val="1260"/>
              </a:lnSpc>
              <a:spcBef>
                <a:spcPts val="0"/>
              </a:spcBef>
              <a:spcAft>
                <a:spcPts val="0"/>
              </a:spcAft>
              <a:buNone/>
            </a:pPr>
            <a:r>
              <a:rPr lang="ko-KR" altLang="en-US" sz="900" b="0" i="0" dirty="0">
                <a:solidFill>
                  <a:srgbClr val="3F4B63"/>
                </a:solidFill>
                <a:latin typeface="맑은 고딕"/>
                <a:ea typeface="맑은 고딕"/>
                <a:cs typeface="맑은 고딕"/>
              </a:rPr>
              <a:t>속력-시각 (</a:t>
            </a:r>
            <a:r>
              <a:rPr lang="ko-KR" altLang="en-US" sz="850" b="1" i="0" dirty="0">
                <a:solidFill>
                  <a:srgbClr val="1B2740"/>
                </a:solidFill>
                <a:latin typeface="Consolas"/>
                <a:ea typeface="맑은 고딕"/>
                <a:cs typeface="맑은 고딕"/>
              </a:rPr>
              <a:t>CTrajectoryPlot</a:t>
            </a:r>
            <a:r>
              <a:rPr lang="ko-KR" altLang="en-US" sz="900" b="0" i="0" dirty="0">
                <a:solidFill>
                  <a:srgbClr val="3F4B63"/>
                </a:solidFill>
                <a:latin typeface="맑은 고딕"/>
                <a:ea typeface="맑은 고딕"/>
                <a:cs typeface="맑은 고딕"/>
              </a:rPr>
              <a:t>).</a:t>
            </a:r>
            <a:endParaRPr lang="ko-KR" altLang="en-US" sz="900" dirty="0"/>
          </a:p>
          <a:p>
            <a:pPr algn="l">
              <a:lnSpc>
                <a:spcPts val="1260"/>
              </a:lnSpc>
              <a:spcBef>
                <a:spcPts val="0"/>
              </a:spcBef>
              <a:spcAft>
                <a:spcPts val="0"/>
              </a:spcAft>
              <a:buNone/>
            </a:pPr>
            <a:r>
              <a:rPr lang="ko-KR" altLang="en-US" sz="900" b="0" i="0" dirty="0">
                <a:solidFill>
                  <a:srgbClr val="3F4B63"/>
                </a:solidFill>
                <a:latin typeface="맑은 고딕"/>
                <a:ea typeface="맑은 고딕"/>
                <a:cs typeface="맑은 고딕"/>
              </a:rPr>
              <a:t>플랫폼 기준 비교는 점선으로 겹친다.</a:t>
            </a:r>
            <a:endParaRPr lang="ko-KR" altLang="en-US" sz="900" dirty="0"/>
          </a:p>
        </p:txBody>
      </p:sp>
      <p:cxnSp>
        <p:nvCxnSpPr>
          <p:cNvPr id="31" name="UI Arrow 4"/>
          <p:cNvCxnSpPr/>
          <p:nvPr/>
        </p:nvCxnSpPr>
        <p:spPr>
          <a:xfrm>
            <a:off x="9199626" y="3377691"/>
            <a:ext cx="146050" cy="0"/>
          </a:xfrm>
          <a:prstGeom prst="line">
            <a:avLst/>
          </a:prstGeom>
          <a:ln w="15875">
            <a:solidFill>
              <a:srgbClr val="2563EB"/>
            </a:solidFill>
            <a:tailEnd type="triangle" w="med" len="med"/>
          </a:ln>
        </p:spPr>
      </p:cxnSp>
      <p:sp>
        <p:nvSpPr>
          <p:cNvPr id="32" name="UI Badge 4"/>
          <p:cNvSpPr/>
          <p:nvPr/>
        </p:nvSpPr>
        <p:spPr>
          <a:xfrm>
            <a:off x="8983726" y="3269741"/>
            <a:ext cx="215900" cy="215900"/>
          </a:xfrm>
          <a:prstGeom prst="ellipse">
            <a:avLst/>
          </a:prstGeom>
          <a:solidFill>
            <a:srgbClr val="2563EB"/>
          </a:solidFill>
          <a:ln w="19050">
            <a:solidFill>
              <a:srgbClr val="FFFFFF"/>
            </a:solidFill>
          </a:ln>
          <a:effectLst/>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Arial"/>
                <a:ea typeface="맑은 고딕"/>
                <a:cs typeface="맑은 고딕"/>
              </a:rPr>
              <a:t>4</a:t>
            </a:r>
            <a:endParaRPr lang="ko-KR" altLang="en-US" sz="950" dirty="0"/>
          </a:p>
        </p:txBody>
      </p:sp>
      <p:sp>
        <p:nvSpPr>
          <p:cNvPr id="33" name="UI Region 5"/>
          <p:cNvSpPr/>
          <p:nvPr/>
        </p:nvSpPr>
        <p:spPr>
          <a:xfrm>
            <a:off x="6188673" y="4392457"/>
            <a:ext cx="2851621" cy="1258823"/>
          </a:xfrm>
          <a:prstGeom prst="roundRect">
            <a:avLst>
              <a:gd name="adj" fmla="val 4000"/>
            </a:avLst>
          </a:prstGeom>
          <a:noFill/>
          <a:ln w="22225">
            <a:solidFill>
              <a:srgbClr val="7C3AED"/>
            </a:solidFill>
          </a:ln>
          <a:effectLst/>
        </p:spPr>
        <p:txBody>
          <a:bodyPr rtlCol="0" anchor="ctr"/>
          <a:lstStyle/>
          <a:p>
            <a:pPr algn="ctr"/>
          </a:p>
        </p:txBody>
      </p:sp>
      <p:sp>
        <p:nvSpPr>
          <p:cNvPr id="34" name="UI Card 5 Box"/>
          <p:cNvSpPr/>
          <p:nvPr/>
        </p:nvSpPr>
        <p:spPr>
          <a:xfrm>
            <a:off x="9345676" y="4575464"/>
            <a:ext cx="2203196" cy="892810"/>
          </a:xfrm>
          <a:prstGeom prst="roundRect">
            <a:avLst>
              <a:gd name="adj" fmla="val 6000"/>
            </a:avLst>
          </a:prstGeom>
          <a:solidFill>
            <a:srgbClr val="F3EEFE"/>
          </a:solidFill>
          <a:ln w="12700">
            <a:solidFill>
              <a:srgbClr val="7C3AED"/>
            </a:solidFill>
          </a:ln>
          <a:effectLst/>
        </p:spPr>
        <p:txBody>
          <a:bodyPr rtlCol="0" anchor="ctr"/>
          <a:lstStyle/>
          <a:p>
            <a:pPr algn="ctr"/>
          </a:p>
        </p:txBody>
      </p:sp>
      <p:sp>
        <p:nvSpPr>
          <p:cNvPr id="35" name="UI Card 5 Text"/>
          <p:cNvSpPr txBox="1"/>
          <p:nvPr/>
        </p:nvSpPr>
        <p:spPr>
          <a:xfrm>
            <a:off x="9472676" y="4664364"/>
            <a:ext cx="1949196" cy="702310"/>
          </a:xfrm>
          <a:prstGeom prst="rect">
            <a:avLst/>
          </a:prstGeom>
          <a:noFill/>
        </p:spPr>
        <p:txBody>
          <a:bodyPr wrap="none" lIns="0" tIns="0" rIns="0" bIns="0" anchor="t" rtlCol="0">
            <a:noAutofit/>
          </a:bodyPr>
          <a:lstStyle/>
          <a:p>
            <a:pPr algn="l">
              <a:lnSpc>
                <a:spcPts val="1450"/>
              </a:lnSpc>
              <a:spcBef>
                <a:spcPts val="0"/>
              </a:spcBef>
              <a:spcAft>
                <a:spcPts val="0"/>
              </a:spcAft>
              <a:buNone/>
            </a:pPr>
            <a:r>
              <a:rPr lang="ko-KR" altLang="en-US" sz="1050" b="1" i="0" dirty="0">
                <a:solidFill>
                  <a:srgbClr val="7C3AED"/>
                </a:solidFill>
                <a:latin typeface="맑은 고딕"/>
                <a:ea typeface="맑은 고딕"/>
                <a:cs typeface="맑은 고딕"/>
              </a:rPr>
              <a:t>⑤ 결과 표 · CSV</a:t>
            </a:r>
            <a:endParaRPr lang="ko-KR" altLang="en-US" sz="1050" dirty="0"/>
          </a:p>
          <a:p>
            <a:pPr algn="l">
              <a:lnSpc>
                <a:spcPts val="1260"/>
              </a:lnSpc>
              <a:spcBef>
                <a:spcPts val="300"/>
              </a:spcBef>
              <a:spcAft>
                <a:spcPts val="0"/>
              </a:spcAft>
              <a:buNone/>
            </a:pPr>
            <a:r>
              <a:rPr lang="ko-KR" altLang="en-US" sz="900" b="0" i="0" dirty="0">
                <a:solidFill>
                  <a:srgbClr val="3F4B63"/>
                </a:solidFill>
                <a:latin typeface="맑은 고딕"/>
                <a:ea typeface="맑은 고딕"/>
                <a:cs typeface="맑은 고딕"/>
              </a:rPr>
              <a:t>전체 · 플랫폼 · 표적별로 골라 본다.</a:t>
            </a:r>
            <a:endParaRPr lang="ko-KR" altLang="en-US" sz="900" dirty="0"/>
          </a:p>
          <a:p>
            <a:pPr algn="l">
              <a:lnSpc>
                <a:spcPts val="1260"/>
              </a:lnSpc>
              <a:spcBef>
                <a:spcPts val="0"/>
              </a:spcBef>
              <a:spcAft>
                <a:spcPts val="0"/>
              </a:spcAft>
              <a:buNone/>
            </a:pPr>
            <a:r>
              <a:rPr lang="ko-KR" altLang="en-US" sz="900" b="0" i="0" dirty="0">
                <a:solidFill>
                  <a:srgbClr val="3F4B63"/>
                </a:solidFill>
                <a:latin typeface="맑은 고딕"/>
                <a:ea typeface="맑은 고딕"/>
                <a:cs typeface="맑은 고딕"/>
              </a:rPr>
              <a:t>비중점법 · 플랫폼 기준과 비교한다.</a:t>
            </a:r>
            <a:endParaRPr lang="ko-KR" altLang="en-US" sz="900" dirty="0"/>
          </a:p>
          <a:p>
            <a:pPr algn="l">
              <a:lnSpc>
                <a:spcPts val="1260"/>
              </a:lnSpc>
              <a:spcBef>
                <a:spcPts val="0"/>
              </a:spcBef>
              <a:spcAft>
                <a:spcPts val="0"/>
              </a:spcAft>
              <a:buNone/>
            </a:pPr>
            <a:r>
              <a:rPr lang="ko-KR" altLang="en-US" sz="900" b="0" i="0" dirty="0">
                <a:solidFill>
                  <a:srgbClr val="3F4B63"/>
                </a:solidFill>
                <a:latin typeface="맑은 고딕"/>
                <a:ea typeface="맑은 고딕"/>
                <a:cs typeface="맑은 고딕"/>
              </a:rPr>
              <a:t>CSV 는 전체 저장 (</a:t>
            </a:r>
            <a:r>
              <a:rPr lang="ko-KR" altLang="en-US" sz="850" b="1" i="0" dirty="0">
                <a:solidFill>
                  <a:srgbClr val="1B2740"/>
                </a:solidFill>
                <a:latin typeface="Consolas"/>
                <a:ea typeface="맑은 고딕"/>
                <a:cs typeface="맑은 고딕"/>
              </a:rPr>
              <a:t>f_WriteCsv</a:t>
            </a:r>
            <a:r>
              <a:rPr lang="ko-KR" altLang="en-US" sz="900" b="0" i="0" dirty="0">
                <a:solidFill>
                  <a:srgbClr val="3F4B63"/>
                </a:solidFill>
                <a:latin typeface="맑은 고딕"/>
                <a:ea typeface="맑은 고딕"/>
                <a:cs typeface="맑은 고딕"/>
              </a:rPr>
              <a:t>).</a:t>
            </a:r>
            <a:endParaRPr lang="ko-KR" altLang="en-US" sz="900" dirty="0"/>
          </a:p>
        </p:txBody>
      </p:sp>
      <p:cxnSp>
        <p:nvCxnSpPr>
          <p:cNvPr id="36" name="UI Arrow 5"/>
          <p:cNvCxnSpPr/>
          <p:nvPr/>
        </p:nvCxnSpPr>
        <p:spPr>
          <a:xfrm>
            <a:off x="9199626" y="5021869"/>
            <a:ext cx="146050" cy="0"/>
          </a:xfrm>
          <a:prstGeom prst="line">
            <a:avLst/>
          </a:prstGeom>
          <a:ln w="15875">
            <a:solidFill>
              <a:srgbClr val="7C3AED"/>
            </a:solidFill>
            <a:tailEnd type="triangle" w="med" len="med"/>
          </a:ln>
        </p:spPr>
      </p:cxnSp>
      <p:sp>
        <p:nvSpPr>
          <p:cNvPr id="37" name="UI Badge 5"/>
          <p:cNvSpPr/>
          <p:nvPr/>
        </p:nvSpPr>
        <p:spPr>
          <a:xfrm>
            <a:off x="8983726" y="4913919"/>
            <a:ext cx="215900" cy="215900"/>
          </a:xfrm>
          <a:prstGeom prst="ellipse">
            <a:avLst/>
          </a:prstGeom>
          <a:solidFill>
            <a:srgbClr val="7C3AED"/>
          </a:solidFill>
          <a:ln w="19050">
            <a:solidFill>
              <a:srgbClr val="FFFFFF"/>
            </a:solidFill>
          </a:ln>
          <a:effectLst/>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Arial"/>
                <a:ea typeface="맑은 고딕"/>
                <a:cs typeface="맑은 고딕"/>
              </a:rPr>
              <a:t>5</a:t>
            </a:r>
            <a:endParaRPr lang="ko-KR" altLang="en-US" sz="950" dirty="0"/>
          </a:p>
        </p:txBody>
      </p:sp>
      <p:sp>
        <p:nvSpPr>
          <p:cNvPr id="38" name="UI Note Box"/>
          <p:cNvSpPr/>
          <p:nvPr/>
        </p:nvSpPr>
        <p:spPr>
          <a:xfrm>
            <a:off x="640080" y="5816962"/>
            <a:ext cx="10908792" cy="346094"/>
          </a:xfrm>
          <a:prstGeom prst="rect">
            <a:avLst/>
          </a:prstGeom>
          <a:solidFill>
            <a:srgbClr val="F7F9FC"/>
          </a:solidFill>
          <a:ln w="12700">
            <a:solidFill>
              <a:srgbClr val="D2D9E5"/>
            </a:solidFill>
          </a:ln>
          <a:effectLst/>
        </p:spPr>
        <p:txBody>
          <a:bodyPr rtlCol="0" anchor="ctr"/>
          <a:lstStyle/>
          <a:p>
            <a:pPr algn="ctr"/>
          </a:p>
        </p:txBody>
      </p:sp>
      <p:sp>
        <p:nvSpPr>
          <p:cNvPr id="39" name="UI Note"/>
          <p:cNvSpPr txBox="1"/>
          <p:nvPr/>
        </p:nvSpPr>
        <p:spPr>
          <a:xfrm>
            <a:off x="792480" y="5816962"/>
            <a:ext cx="10603992" cy="346094"/>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000" b="0" i="0" dirty="0">
                <a:solidFill>
                  <a:srgbClr val="3F4B63"/>
                </a:solidFill>
                <a:latin typeface="맑은 고딕"/>
                <a:ea typeface="맑은 고딕"/>
                <a:cs typeface="맑은 고딕"/>
              </a:rPr>
              <a:t>칸을 고치면  </a:t>
            </a:r>
            <a:r>
              <a:rPr lang="ko-KR" altLang="en-US" sz="950" b="0" i="0" dirty="0">
                <a:solidFill>
                  <a:srgbClr val="1B2740"/>
                </a:solidFill>
                <a:latin typeface="Consolas"/>
                <a:ea typeface="맑은 고딕"/>
                <a:cs typeface="맑은 고딕"/>
              </a:rPr>
              <a:t>f_RunScenario </a:t>
            </a:r>
            <a:r>
              <a:rPr lang="ko-KR" altLang="en-US" sz="950" b="0" i="0" dirty="0">
                <a:solidFill>
                  <a:srgbClr val="1B2740"/>
                </a:solidFill>
                <a:latin typeface="맑은 고딕"/>
                <a:ea typeface="맑은 고딕"/>
                <a:cs typeface="맑은 고딕"/>
              </a:rPr>
              <a:t>→</a:t>
            </a:r>
            <a:r>
              <a:rPr lang="ko-KR" altLang="en-US" sz="950" b="0" i="0" dirty="0">
                <a:solidFill>
                  <a:srgbClr val="1B2740"/>
                </a:solidFill>
                <a:latin typeface="Consolas"/>
                <a:ea typeface="맑은 고딕"/>
                <a:cs typeface="맑은 고딕"/>
              </a:rPr>
              <a:t> CScenario::f_BuildConfig </a:t>
            </a:r>
            <a:r>
              <a:rPr lang="ko-KR" altLang="en-US" sz="950" b="0" i="0" dirty="0">
                <a:solidFill>
                  <a:srgbClr val="1B2740"/>
                </a:solidFill>
                <a:latin typeface="맑은 고딕"/>
                <a:ea typeface="맑은 고딕"/>
                <a:cs typeface="맑은 고딕"/>
              </a:rPr>
              <a:t>→</a:t>
            </a:r>
            <a:r>
              <a:rPr lang="ko-KR" altLang="en-US" sz="950" b="0" i="0" dirty="0">
                <a:solidFill>
                  <a:srgbClr val="1B2740"/>
                </a:solidFill>
                <a:latin typeface="Consolas"/>
                <a:ea typeface="맑은 고딕"/>
                <a:cs typeface="맑은 고딕"/>
              </a:rPr>
              <a:t> CSimResult::f_Run</a:t>
            </a:r>
            <a:r>
              <a:rPr lang="ko-KR" altLang="en-US" sz="1000" b="0" i="0" dirty="0">
                <a:solidFill>
                  <a:srgbClr val="3F4B63"/>
                </a:solidFill>
                <a:latin typeface="맑은 고딕"/>
                <a:ea typeface="맑은 고딕"/>
                <a:cs typeface="맑은 고딕"/>
              </a:rPr>
              <a:t>  순서로 전 구간을 다시 계산하고 그림 · 표를 새로 그린다.</a:t>
            </a:r>
            <a:endParaRPr lang="ko-KR" altLang="en-US" sz="10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3</a:t>
            </a:r>
          </a:p>
        </p:txBody>
      </p:sp>
      <p:sp>
        <p:nvSpPr>
          <p:cNvPr id="8" name="Part Top Rule"/>
          <p:cNvSpPr/>
          <p:nvPr/>
        </p:nvSpPr>
        <p:spPr>
          <a:xfrm>
            <a:off x="749808" y="713232"/>
            <a:ext cx="10698480" cy="0"/>
          </a:xfrm>
          <a:prstGeom prst="line">
            <a:avLst/>
          </a:prstGeom>
          <a:noFill/>
          <a:ln w="9525" cap="rnd">
            <a:solidFill>
              <a:srgbClr val="AEB9CC"/>
            </a:solidFill>
            <a:prstDash val="solid"/>
          </a:ln>
        </p:spPr>
      </p:sp>
      <p:sp>
        <p:nvSpPr>
          <p:cNvPr id="9" name="Part Bottom Rule"/>
          <p:cNvSpPr/>
          <p:nvPr/>
        </p:nvSpPr>
        <p:spPr>
          <a:xfrm>
            <a:off x="749808" y="6336792"/>
            <a:ext cx="10698480" cy="0"/>
          </a:xfrm>
          <a:prstGeom prst="line">
            <a:avLst/>
          </a:prstGeom>
          <a:noFill/>
          <a:ln w="9525" cap="rnd">
            <a:solidFill>
              <a:srgbClr val="AEB9CC"/>
            </a:solidFill>
            <a:prstDash val="solid"/>
          </a:ln>
        </p:spPr>
      </p:sp>
      <p:sp>
        <p:nvSpPr>
          <p:cNvPr id="10" name="Part Title"/>
          <p:cNvSpPr txBox="1"/>
          <p:nvPr/>
        </p:nvSpPr>
        <p:spPr>
          <a:xfrm>
            <a:off x="859536" y="914400"/>
            <a:ext cx="9144000" cy="47548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2400" b="1" i="0" dirty="0">
                <a:solidFill>
                  <a:srgbClr val="1B2740"/>
                </a:solidFill>
                <a:latin typeface="맑은 고딕"/>
                <a:ea typeface="맑은 고딕"/>
                <a:cs typeface="맑은 고딕"/>
              </a:rPr>
              <a:t>01. 개요</a:t>
            </a:r>
            <a:endParaRPr lang="ko-KR" altLang="en-US" sz="1000" dirty="0"/>
          </a:p>
        </p:txBody>
      </p:sp>
      <p:sp>
        <p:nvSpPr>
          <p:cNvPr id="11" name="Part Lead"/>
          <p:cNvSpPr txBox="1"/>
          <p:nvPr/>
        </p:nvSpPr>
        <p:spPr>
          <a:xfrm>
            <a:off x="859536" y="1444752"/>
            <a:ext cx="10588752" cy="304800"/>
          </a:xfrm>
          <a:prstGeom prst="rect">
            <a:avLst/>
          </a:prstGeom>
          <a:noFill/>
        </p:spPr>
        <p:txBody>
          <a:bodyPr wrap="none" lIns="0" tIns="0" rIns="0" bIns="0" anchor="t" rtlCol="0">
            <a:noAutofit/>
          </a:bodyPr>
          <a:lstStyle/>
          <a:p>
            <a:pPr algn="l">
              <a:lnSpc>
                <a:spcPct val="130000"/>
              </a:lnSpc>
              <a:spcBef>
                <a:spcPts val="0"/>
              </a:spcBef>
              <a:spcAft>
                <a:spcPts val="0"/>
              </a:spcAft>
              <a:buNone/>
            </a:pPr>
            <a:r>
              <a:rPr lang="ko-KR" altLang="en-US" sz="1300" b="0" i="0" dirty="0">
                <a:solidFill>
                  <a:srgbClr val="1B2740"/>
                </a:solidFill>
                <a:latin typeface="맑은 고딕"/>
                <a:ea typeface="맑은 고딕"/>
                <a:cs typeface="맑은 고딕"/>
              </a:rPr>
              <a:t>과제의 배경과 프로그램 구성을 소개합니다.</a:t>
            </a:r>
            <a:endParaRPr lang="ko-KR" altLang="en-US" sz="1000" dirty="0"/>
          </a:p>
        </p:txBody>
      </p:sp>
      <p:sp>
        <p:nvSpPr>
          <p:cNvPr id="12" name="Part Sec Num 1"/>
          <p:cNvSpPr txBox="1"/>
          <p:nvPr/>
        </p:nvSpPr>
        <p:spPr>
          <a:xfrm>
            <a:off x="859536" y="20574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1.1</a:t>
            </a:r>
            <a:endParaRPr lang="ko-KR" altLang="en-US" sz="1000" dirty="0"/>
          </a:p>
        </p:txBody>
      </p:sp>
      <p:sp>
        <p:nvSpPr>
          <p:cNvPr id="13" name="Part Sec Title 1"/>
          <p:cNvSpPr txBox="1"/>
          <p:nvPr/>
        </p:nvSpPr>
        <p:spPr>
          <a:xfrm>
            <a:off x="1418336" y="2057400"/>
            <a:ext cx="824586"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과제 개요</a:t>
            </a:r>
            <a:endParaRPr lang="ko-KR" altLang="en-US" sz="1000" dirty="0"/>
          </a:p>
        </p:txBody>
      </p:sp>
      <p:sp>
        <p:nvSpPr>
          <p:cNvPr id="14" name="Part Sec Leader 1"/>
          <p:cNvSpPr/>
          <p:nvPr/>
        </p:nvSpPr>
        <p:spPr>
          <a:xfrm>
            <a:off x="2395322" y="2311400"/>
            <a:ext cx="8214766" cy="0"/>
          </a:xfrm>
          <a:prstGeom prst="line">
            <a:avLst/>
          </a:prstGeom>
          <a:noFill/>
          <a:ln w="15875" cap="rnd">
            <a:solidFill>
              <a:srgbClr val="AEB9CC"/>
            </a:solidFill>
            <a:prstDash val="sysDot"/>
          </a:ln>
        </p:spPr>
      </p:sp>
      <p:sp>
        <p:nvSpPr>
          <p:cNvPr id="15" name="Part Sec Page 1"/>
          <p:cNvSpPr txBox="1"/>
          <p:nvPr/>
        </p:nvSpPr>
        <p:spPr>
          <a:xfrm>
            <a:off x="10737088" y="20574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4</a:t>
            </a:r>
            <a:endParaRPr lang="ko-KR" altLang="en-US" sz="1000" dirty="0"/>
          </a:p>
        </p:txBody>
      </p:sp>
      <p:sp>
        <p:nvSpPr>
          <p:cNvPr id="16" name="Part Sec Num 2"/>
          <p:cNvSpPr txBox="1"/>
          <p:nvPr/>
        </p:nvSpPr>
        <p:spPr>
          <a:xfrm>
            <a:off x="859536" y="24638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1.2</a:t>
            </a:r>
            <a:endParaRPr lang="ko-KR" altLang="en-US" sz="1000" dirty="0"/>
          </a:p>
        </p:txBody>
      </p:sp>
      <p:sp>
        <p:nvSpPr>
          <p:cNvPr id="17" name="Part Sec Title 2"/>
          <p:cNvSpPr txBox="1"/>
          <p:nvPr/>
        </p:nvSpPr>
        <p:spPr>
          <a:xfrm>
            <a:off x="1418336" y="2463800"/>
            <a:ext cx="824586"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구현 구성</a:t>
            </a:r>
            <a:endParaRPr lang="ko-KR" altLang="en-US" sz="1000" dirty="0"/>
          </a:p>
        </p:txBody>
      </p:sp>
      <p:sp>
        <p:nvSpPr>
          <p:cNvPr id="18" name="Part Sec Leader 2"/>
          <p:cNvSpPr/>
          <p:nvPr/>
        </p:nvSpPr>
        <p:spPr>
          <a:xfrm>
            <a:off x="2395322" y="2717800"/>
            <a:ext cx="8214766" cy="0"/>
          </a:xfrm>
          <a:prstGeom prst="line">
            <a:avLst/>
          </a:prstGeom>
          <a:noFill/>
          <a:ln w="15875" cap="rnd">
            <a:solidFill>
              <a:srgbClr val="AEB9CC"/>
            </a:solidFill>
            <a:prstDash val="sysDot"/>
          </a:ln>
        </p:spPr>
      </p:sp>
      <p:sp>
        <p:nvSpPr>
          <p:cNvPr id="19" name="Part Sec Page 2"/>
          <p:cNvSpPr txBox="1"/>
          <p:nvPr/>
        </p:nvSpPr>
        <p:spPr>
          <a:xfrm>
            <a:off x="10737088" y="24638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5</a:t>
            </a:r>
            <a:endParaRPr lang="ko-KR" altLang="en-US" sz="10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6</a:t>
            </a:r>
          </a:p>
        </p:txBody>
      </p:sp>
      <p:sp>
        <p:nvSpPr>
          <p:cNvPr id="8" name="Part Top Rule"/>
          <p:cNvSpPr/>
          <p:nvPr/>
        </p:nvSpPr>
        <p:spPr>
          <a:xfrm>
            <a:off x="749808" y="713232"/>
            <a:ext cx="10698480" cy="0"/>
          </a:xfrm>
          <a:prstGeom prst="line">
            <a:avLst/>
          </a:prstGeom>
          <a:noFill/>
          <a:ln w="9525" cap="rnd">
            <a:solidFill>
              <a:srgbClr val="AEB9CC"/>
            </a:solidFill>
            <a:prstDash val="solid"/>
          </a:ln>
        </p:spPr>
      </p:sp>
      <p:sp>
        <p:nvSpPr>
          <p:cNvPr id="9" name="Part Bottom Rule"/>
          <p:cNvSpPr/>
          <p:nvPr/>
        </p:nvSpPr>
        <p:spPr>
          <a:xfrm>
            <a:off x="749808" y="6336792"/>
            <a:ext cx="10698480" cy="0"/>
          </a:xfrm>
          <a:prstGeom prst="line">
            <a:avLst/>
          </a:prstGeom>
          <a:noFill/>
          <a:ln w="9525" cap="rnd">
            <a:solidFill>
              <a:srgbClr val="AEB9CC"/>
            </a:solidFill>
            <a:prstDash val="solid"/>
          </a:ln>
        </p:spPr>
      </p:sp>
      <p:sp>
        <p:nvSpPr>
          <p:cNvPr id="10" name="Part Title"/>
          <p:cNvSpPr txBox="1"/>
          <p:nvPr/>
        </p:nvSpPr>
        <p:spPr>
          <a:xfrm>
            <a:off x="859536" y="914400"/>
            <a:ext cx="9144000" cy="47548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2400" b="1" i="0" dirty="0">
                <a:solidFill>
                  <a:srgbClr val="1B2740"/>
                </a:solidFill>
                <a:latin typeface="맑은 고딕"/>
                <a:ea typeface="맑은 고딕"/>
                <a:cs typeface="맑은 고딕"/>
              </a:rPr>
              <a:t>02. 표적 정의</a:t>
            </a:r>
            <a:endParaRPr lang="ko-KR" altLang="en-US" sz="1000" dirty="0"/>
          </a:p>
        </p:txBody>
      </p:sp>
      <p:sp>
        <p:nvSpPr>
          <p:cNvPr id="11" name="Part Lead"/>
          <p:cNvSpPr txBox="1"/>
          <p:nvPr/>
        </p:nvSpPr>
        <p:spPr>
          <a:xfrm>
            <a:off x="859536" y="1444752"/>
            <a:ext cx="10588752" cy="304800"/>
          </a:xfrm>
          <a:prstGeom prst="rect">
            <a:avLst/>
          </a:prstGeom>
          <a:noFill/>
        </p:spPr>
        <p:txBody>
          <a:bodyPr wrap="none" lIns="0" tIns="0" rIns="0" bIns="0" anchor="t" rtlCol="0">
            <a:noAutofit/>
          </a:bodyPr>
          <a:lstStyle/>
          <a:p>
            <a:pPr algn="l">
              <a:lnSpc>
                <a:spcPct val="130000"/>
              </a:lnSpc>
              <a:spcBef>
                <a:spcPts val="0"/>
              </a:spcBef>
              <a:spcAft>
                <a:spcPts val="0"/>
              </a:spcAft>
              <a:buNone/>
            </a:pPr>
            <a:r>
              <a:rPr lang="ko-KR" altLang="en-US" sz="1300" b="0" i="0" dirty="0">
                <a:solidFill>
                  <a:srgbClr val="1B2740"/>
                </a:solidFill>
                <a:latin typeface="맑은 고딕"/>
                <a:ea typeface="맑은 고딕"/>
                <a:cs typeface="맑은 고딕"/>
              </a:rPr>
              <a:t>표적과 기동을 어떤 값으로 받고, 어떤 구조체에 담는지 정의합니다.</a:t>
            </a:r>
            <a:endParaRPr lang="ko-KR" altLang="en-US" sz="1000" dirty="0"/>
          </a:p>
        </p:txBody>
      </p:sp>
      <p:sp>
        <p:nvSpPr>
          <p:cNvPr id="12" name="Part Sec Num 1"/>
          <p:cNvSpPr txBox="1"/>
          <p:nvPr/>
        </p:nvSpPr>
        <p:spPr>
          <a:xfrm>
            <a:off x="859536" y="20574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2.1</a:t>
            </a:r>
            <a:endParaRPr lang="ko-KR" altLang="en-US" sz="1000" dirty="0"/>
          </a:p>
        </p:txBody>
      </p:sp>
      <p:sp>
        <p:nvSpPr>
          <p:cNvPr id="13" name="Part Sec Title 1"/>
          <p:cNvSpPr txBox="1"/>
          <p:nvPr/>
        </p:nvSpPr>
        <p:spPr>
          <a:xfrm>
            <a:off x="1418336" y="2057400"/>
            <a:ext cx="1776171"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표적 입력값과 상태값</a:t>
            </a:r>
            <a:endParaRPr lang="ko-KR" altLang="en-US" sz="1000" dirty="0"/>
          </a:p>
        </p:txBody>
      </p:sp>
      <p:sp>
        <p:nvSpPr>
          <p:cNvPr id="14" name="Part Sec Leader 1"/>
          <p:cNvSpPr/>
          <p:nvPr/>
        </p:nvSpPr>
        <p:spPr>
          <a:xfrm>
            <a:off x="3346907" y="2311400"/>
            <a:ext cx="7263181" cy="0"/>
          </a:xfrm>
          <a:prstGeom prst="line">
            <a:avLst/>
          </a:prstGeom>
          <a:noFill/>
          <a:ln w="15875" cap="rnd">
            <a:solidFill>
              <a:srgbClr val="AEB9CC"/>
            </a:solidFill>
            <a:prstDash val="sysDot"/>
          </a:ln>
        </p:spPr>
      </p:sp>
      <p:sp>
        <p:nvSpPr>
          <p:cNvPr id="15" name="Part Sec Page 1"/>
          <p:cNvSpPr txBox="1"/>
          <p:nvPr/>
        </p:nvSpPr>
        <p:spPr>
          <a:xfrm>
            <a:off x="10737088" y="20574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7</a:t>
            </a:r>
            <a:endParaRPr lang="ko-KR" altLang="en-US" sz="1000" dirty="0"/>
          </a:p>
        </p:txBody>
      </p:sp>
      <p:sp>
        <p:nvSpPr>
          <p:cNvPr id="16" name="Part Sec Num 2"/>
          <p:cNvSpPr txBox="1"/>
          <p:nvPr/>
        </p:nvSpPr>
        <p:spPr>
          <a:xfrm>
            <a:off x="859536" y="24638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2.2</a:t>
            </a:r>
            <a:endParaRPr lang="ko-KR" altLang="en-US" sz="1000" dirty="0"/>
          </a:p>
        </p:txBody>
      </p:sp>
      <p:sp>
        <p:nvSpPr>
          <p:cNvPr id="17" name="Part Sec Title 2"/>
          <p:cNvSpPr txBox="1"/>
          <p:nvPr/>
        </p:nvSpPr>
        <p:spPr>
          <a:xfrm>
            <a:off x="1418336" y="2463800"/>
            <a:ext cx="1776171"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기동 입력값과 각속도</a:t>
            </a:r>
            <a:endParaRPr lang="ko-KR" altLang="en-US" sz="1000" dirty="0"/>
          </a:p>
        </p:txBody>
      </p:sp>
      <p:sp>
        <p:nvSpPr>
          <p:cNvPr id="18" name="Part Sec Leader 2"/>
          <p:cNvSpPr/>
          <p:nvPr/>
        </p:nvSpPr>
        <p:spPr>
          <a:xfrm>
            <a:off x="3346907" y="2717800"/>
            <a:ext cx="7263181" cy="0"/>
          </a:xfrm>
          <a:prstGeom prst="line">
            <a:avLst/>
          </a:prstGeom>
          <a:noFill/>
          <a:ln w="15875" cap="rnd">
            <a:solidFill>
              <a:srgbClr val="AEB9CC"/>
            </a:solidFill>
            <a:prstDash val="sysDot"/>
          </a:ln>
        </p:spPr>
      </p:sp>
      <p:sp>
        <p:nvSpPr>
          <p:cNvPr id="19" name="Part Sec Page 2"/>
          <p:cNvSpPr txBox="1"/>
          <p:nvPr/>
        </p:nvSpPr>
        <p:spPr>
          <a:xfrm>
            <a:off x="10737088" y="24638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8</a:t>
            </a:r>
            <a:endParaRPr lang="ko-KR" altLang="en-US" sz="1000" dirty="0"/>
          </a:p>
        </p:txBody>
      </p:sp>
      <p:sp>
        <p:nvSpPr>
          <p:cNvPr id="20" name="Part Sec Num 3"/>
          <p:cNvSpPr txBox="1"/>
          <p:nvPr/>
        </p:nvSpPr>
        <p:spPr>
          <a:xfrm>
            <a:off x="859536" y="28702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2.3</a:t>
            </a:r>
            <a:endParaRPr lang="ko-KR" altLang="en-US" sz="1000" dirty="0"/>
          </a:p>
        </p:txBody>
      </p:sp>
      <p:sp>
        <p:nvSpPr>
          <p:cNvPr id="21" name="Part Sec Title 3"/>
          <p:cNvSpPr txBox="1"/>
          <p:nvPr/>
        </p:nvSpPr>
        <p:spPr>
          <a:xfrm>
            <a:off x="1418336" y="2870200"/>
            <a:ext cx="1598371"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구조체 구성과 흐름</a:t>
            </a:r>
            <a:endParaRPr lang="ko-KR" altLang="en-US" sz="1000" dirty="0"/>
          </a:p>
        </p:txBody>
      </p:sp>
      <p:sp>
        <p:nvSpPr>
          <p:cNvPr id="22" name="Part Sec Leader 3"/>
          <p:cNvSpPr/>
          <p:nvPr/>
        </p:nvSpPr>
        <p:spPr>
          <a:xfrm>
            <a:off x="3169107" y="3124200"/>
            <a:ext cx="7440981" cy="0"/>
          </a:xfrm>
          <a:prstGeom prst="line">
            <a:avLst/>
          </a:prstGeom>
          <a:noFill/>
          <a:ln w="15875" cap="rnd">
            <a:solidFill>
              <a:srgbClr val="AEB9CC"/>
            </a:solidFill>
            <a:prstDash val="sysDot"/>
          </a:ln>
        </p:spPr>
      </p:sp>
      <p:sp>
        <p:nvSpPr>
          <p:cNvPr id="23" name="Part Sec Page 3"/>
          <p:cNvSpPr txBox="1"/>
          <p:nvPr/>
        </p:nvSpPr>
        <p:spPr>
          <a:xfrm>
            <a:off x="10737088" y="28702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9 ~ 11</a:t>
            </a:r>
            <a:endParaRPr lang="ko-KR" altLang="en-US" sz="10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12</a:t>
            </a:r>
          </a:p>
        </p:txBody>
      </p:sp>
      <p:sp>
        <p:nvSpPr>
          <p:cNvPr id="8" name="Part Top Rule"/>
          <p:cNvSpPr/>
          <p:nvPr/>
        </p:nvSpPr>
        <p:spPr>
          <a:xfrm>
            <a:off x="749808" y="713232"/>
            <a:ext cx="10698480" cy="0"/>
          </a:xfrm>
          <a:prstGeom prst="line">
            <a:avLst/>
          </a:prstGeom>
          <a:noFill/>
          <a:ln w="9525" cap="rnd">
            <a:solidFill>
              <a:srgbClr val="AEB9CC"/>
            </a:solidFill>
            <a:prstDash val="solid"/>
          </a:ln>
        </p:spPr>
      </p:sp>
      <p:sp>
        <p:nvSpPr>
          <p:cNvPr id="9" name="Part Bottom Rule"/>
          <p:cNvSpPr/>
          <p:nvPr/>
        </p:nvSpPr>
        <p:spPr>
          <a:xfrm>
            <a:off x="749808" y="6336792"/>
            <a:ext cx="10698480" cy="0"/>
          </a:xfrm>
          <a:prstGeom prst="line">
            <a:avLst/>
          </a:prstGeom>
          <a:noFill/>
          <a:ln w="9525" cap="rnd">
            <a:solidFill>
              <a:srgbClr val="AEB9CC"/>
            </a:solidFill>
            <a:prstDash val="solid"/>
          </a:ln>
        </p:spPr>
      </p:sp>
      <p:sp>
        <p:nvSpPr>
          <p:cNvPr id="10" name="Part Title"/>
          <p:cNvSpPr txBox="1"/>
          <p:nvPr/>
        </p:nvSpPr>
        <p:spPr>
          <a:xfrm>
            <a:off x="859536" y="914400"/>
            <a:ext cx="9144000" cy="47548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2400" b="1" i="0" dirty="0">
                <a:solidFill>
                  <a:srgbClr val="1B2740"/>
                </a:solidFill>
                <a:latin typeface="맑은 고딕"/>
                <a:ea typeface="맑은 고딕"/>
                <a:cs typeface="맑은 고딕"/>
              </a:rPr>
              <a:t>03. 궤적 생성</a:t>
            </a:r>
            <a:endParaRPr lang="ko-KR" altLang="en-US" sz="1000" dirty="0"/>
          </a:p>
        </p:txBody>
      </p:sp>
      <p:sp>
        <p:nvSpPr>
          <p:cNvPr id="11" name="Part Lead"/>
          <p:cNvSpPr txBox="1"/>
          <p:nvPr/>
        </p:nvSpPr>
        <p:spPr>
          <a:xfrm>
            <a:off x="859536" y="1444752"/>
            <a:ext cx="10588752" cy="304800"/>
          </a:xfrm>
          <a:prstGeom prst="rect">
            <a:avLst/>
          </a:prstGeom>
          <a:noFill/>
        </p:spPr>
        <p:txBody>
          <a:bodyPr wrap="none" lIns="0" tIns="0" rIns="0" bIns="0" anchor="t" rtlCol="0">
            <a:noAutofit/>
          </a:bodyPr>
          <a:lstStyle/>
          <a:p>
            <a:pPr algn="l">
              <a:lnSpc>
                <a:spcPct val="130000"/>
              </a:lnSpc>
              <a:spcBef>
                <a:spcPts val="0"/>
              </a:spcBef>
              <a:spcAft>
                <a:spcPts val="0"/>
              </a:spcAft>
              <a:buNone/>
            </a:pPr>
            <a:r>
              <a:rPr lang="ko-KR" altLang="en-US" sz="1300" b="0" i="0" dirty="0">
                <a:solidFill>
                  <a:srgbClr val="1B2740"/>
                </a:solidFill>
                <a:latin typeface="맑은 고딕"/>
                <a:ea typeface="맑은 고딕"/>
                <a:cs typeface="맑은 고딕"/>
              </a:rPr>
              <a:t>초기 상태를 만들고 한 스텝씩 전진시키는 계산을 공식과 코드로 설명합니다.</a:t>
            </a:r>
            <a:endParaRPr lang="ko-KR" altLang="en-US" sz="1000" dirty="0"/>
          </a:p>
        </p:txBody>
      </p:sp>
      <p:sp>
        <p:nvSpPr>
          <p:cNvPr id="12" name="Part Sec Num 1"/>
          <p:cNvSpPr txBox="1"/>
          <p:nvPr/>
        </p:nvSpPr>
        <p:spPr>
          <a:xfrm>
            <a:off x="859536" y="20574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3.1</a:t>
            </a:r>
            <a:endParaRPr lang="ko-KR" altLang="en-US" sz="1000" dirty="0"/>
          </a:p>
        </p:txBody>
      </p:sp>
      <p:sp>
        <p:nvSpPr>
          <p:cNvPr id="13" name="Part Sec Title 1"/>
          <p:cNvSpPr txBox="1"/>
          <p:nvPr/>
        </p:nvSpPr>
        <p:spPr>
          <a:xfrm>
            <a:off x="1418336" y="2057400"/>
            <a:ext cx="1002386"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초기화 코드</a:t>
            </a:r>
            <a:endParaRPr lang="ko-KR" altLang="en-US" sz="1000" dirty="0"/>
          </a:p>
        </p:txBody>
      </p:sp>
      <p:sp>
        <p:nvSpPr>
          <p:cNvPr id="14" name="Part Sec Leader 1"/>
          <p:cNvSpPr/>
          <p:nvPr/>
        </p:nvSpPr>
        <p:spPr>
          <a:xfrm>
            <a:off x="2573122" y="2311400"/>
            <a:ext cx="8036966" cy="0"/>
          </a:xfrm>
          <a:prstGeom prst="line">
            <a:avLst/>
          </a:prstGeom>
          <a:noFill/>
          <a:ln w="15875" cap="rnd">
            <a:solidFill>
              <a:srgbClr val="AEB9CC"/>
            </a:solidFill>
            <a:prstDash val="sysDot"/>
          </a:ln>
        </p:spPr>
      </p:sp>
      <p:sp>
        <p:nvSpPr>
          <p:cNvPr id="15" name="Part Sec Page 1"/>
          <p:cNvSpPr txBox="1"/>
          <p:nvPr/>
        </p:nvSpPr>
        <p:spPr>
          <a:xfrm>
            <a:off x="10737088" y="20574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13</a:t>
            </a:r>
            <a:endParaRPr lang="ko-KR" altLang="en-US" sz="1000" dirty="0"/>
          </a:p>
        </p:txBody>
      </p:sp>
      <p:sp>
        <p:nvSpPr>
          <p:cNvPr id="16" name="Part Sec Num 2"/>
          <p:cNvSpPr txBox="1"/>
          <p:nvPr/>
        </p:nvSpPr>
        <p:spPr>
          <a:xfrm>
            <a:off x="859536" y="24638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3.2</a:t>
            </a:r>
            <a:endParaRPr lang="ko-KR" altLang="en-US" sz="1000" dirty="0"/>
          </a:p>
        </p:txBody>
      </p:sp>
      <p:sp>
        <p:nvSpPr>
          <p:cNvPr id="17" name="Part Sec Title 2"/>
          <p:cNvSpPr txBox="1"/>
          <p:nvPr/>
        </p:nvSpPr>
        <p:spPr>
          <a:xfrm>
            <a:off x="1418336" y="2463800"/>
            <a:ext cx="1483157"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한 스텝 처리 순서</a:t>
            </a:r>
            <a:endParaRPr lang="ko-KR" altLang="en-US" sz="1000" dirty="0"/>
          </a:p>
        </p:txBody>
      </p:sp>
      <p:sp>
        <p:nvSpPr>
          <p:cNvPr id="18" name="Part Sec Leader 2"/>
          <p:cNvSpPr/>
          <p:nvPr/>
        </p:nvSpPr>
        <p:spPr>
          <a:xfrm>
            <a:off x="3053893" y="2717800"/>
            <a:ext cx="7556195" cy="0"/>
          </a:xfrm>
          <a:prstGeom prst="line">
            <a:avLst/>
          </a:prstGeom>
          <a:noFill/>
          <a:ln w="15875" cap="rnd">
            <a:solidFill>
              <a:srgbClr val="AEB9CC"/>
            </a:solidFill>
            <a:prstDash val="sysDot"/>
          </a:ln>
        </p:spPr>
      </p:sp>
      <p:sp>
        <p:nvSpPr>
          <p:cNvPr id="19" name="Part Sec Page 2"/>
          <p:cNvSpPr txBox="1"/>
          <p:nvPr/>
        </p:nvSpPr>
        <p:spPr>
          <a:xfrm>
            <a:off x="10737088" y="24638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14</a:t>
            </a:r>
            <a:endParaRPr lang="ko-KR" altLang="en-US" sz="1000" dirty="0"/>
          </a:p>
        </p:txBody>
      </p:sp>
      <p:sp>
        <p:nvSpPr>
          <p:cNvPr id="20" name="Part Sec Num 3"/>
          <p:cNvSpPr txBox="1"/>
          <p:nvPr/>
        </p:nvSpPr>
        <p:spPr>
          <a:xfrm>
            <a:off x="859536" y="28702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3.3</a:t>
            </a:r>
            <a:endParaRPr lang="ko-KR" altLang="en-US" sz="1000" dirty="0"/>
          </a:p>
        </p:txBody>
      </p:sp>
      <p:sp>
        <p:nvSpPr>
          <p:cNvPr id="21" name="Part Sec Title 3"/>
          <p:cNvSpPr txBox="1"/>
          <p:nvPr/>
        </p:nvSpPr>
        <p:spPr>
          <a:xfrm>
            <a:off x="1418336" y="2870200"/>
            <a:ext cx="1483157"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한 스텝 진행 코드</a:t>
            </a:r>
            <a:endParaRPr lang="ko-KR" altLang="en-US" sz="1000" dirty="0"/>
          </a:p>
        </p:txBody>
      </p:sp>
      <p:sp>
        <p:nvSpPr>
          <p:cNvPr id="22" name="Part Sec Leader 3"/>
          <p:cNvSpPr/>
          <p:nvPr/>
        </p:nvSpPr>
        <p:spPr>
          <a:xfrm>
            <a:off x="3053893" y="3124200"/>
            <a:ext cx="7556195" cy="0"/>
          </a:xfrm>
          <a:prstGeom prst="line">
            <a:avLst/>
          </a:prstGeom>
          <a:noFill/>
          <a:ln w="15875" cap="rnd">
            <a:solidFill>
              <a:srgbClr val="AEB9CC"/>
            </a:solidFill>
            <a:prstDash val="sysDot"/>
          </a:ln>
        </p:spPr>
      </p:sp>
      <p:sp>
        <p:nvSpPr>
          <p:cNvPr id="23" name="Part Sec Page 3"/>
          <p:cNvSpPr txBox="1"/>
          <p:nvPr/>
        </p:nvSpPr>
        <p:spPr>
          <a:xfrm>
            <a:off x="10737088" y="28702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15</a:t>
            </a:r>
            <a:endParaRPr lang="ko-KR" altLang="en-US" sz="1000" dirty="0"/>
          </a:p>
        </p:txBody>
      </p:sp>
      <p:sp>
        <p:nvSpPr>
          <p:cNvPr id="24" name="Part Sec Num 4"/>
          <p:cNvSpPr txBox="1"/>
          <p:nvPr/>
        </p:nvSpPr>
        <p:spPr>
          <a:xfrm>
            <a:off x="859536" y="32766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3.4</a:t>
            </a:r>
            <a:endParaRPr lang="ko-KR" altLang="en-US" sz="1000" dirty="0"/>
          </a:p>
        </p:txBody>
      </p:sp>
      <p:sp>
        <p:nvSpPr>
          <p:cNvPr id="25" name="Part Sec Title 4"/>
          <p:cNvSpPr txBox="1"/>
          <p:nvPr/>
        </p:nvSpPr>
        <p:spPr>
          <a:xfrm>
            <a:off x="1418336" y="3276600"/>
            <a:ext cx="2016557"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기동 찾기와 각속도 코드</a:t>
            </a:r>
            <a:endParaRPr lang="ko-KR" altLang="en-US" sz="1000" dirty="0"/>
          </a:p>
        </p:txBody>
      </p:sp>
      <p:sp>
        <p:nvSpPr>
          <p:cNvPr id="26" name="Part Sec Leader 4"/>
          <p:cNvSpPr/>
          <p:nvPr/>
        </p:nvSpPr>
        <p:spPr>
          <a:xfrm>
            <a:off x="3587293" y="3530600"/>
            <a:ext cx="7022795" cy="0"/>
          </a:xfrm>
          <a:prstGeom prst="line">
            <a:avLst/>
          </a:prstGeom>
          <a:noFill/>
          <a:ln w="15875" cap="rnd">
            <a:solidFill>
              <a:srgbClr val="AEB9CC"/>
            </a:solidFill>
            <a:prstDash val="sysDot"/>
          </a:ln>
        </p:spPr>
      </p:sp>
      <p:sp>
        <p:nvSpPr>
          <p:cNvPr id="27" name="Part Sec Page 4"/>
          <p:cNvSpPr txBox="1"/>
          <p:nvPr/>
        </p:nvSpPr>
        <p:spPr>
          <a:xfrm>
            <a:off x="10737088" y="32766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16 ~ 17</a:t>
            </a:r>
            <a:endParaRPr lang="ko-KR" altLang="en-US" sz="1000" dirty="0"/>
          </a:p>
        </p:txBody>
      </p:sp>
      <p:sp>
        <p:nvSpPr>
          <p:cNvPr id="28" name="Part Sec Num 5"/>
          <p:cNvSpPr txBox="1"/>
          <p:nvPr/>
        </p:nvSpPr>
        <p:spPr>
          <a:xfrm>
            <a:off x="859536" y="36830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3.5</a:t>
            </a:r>
            <a:endParaRPr lang="ko-KR" altLang="en-US" sz="1000" dirty="0"/>
          </a:p>
        </p:txBody>
      </p:sp>
      <p:sp>
        <p:nvSpPr>
          <p:cNvPr id="29" name="Part Sec Title 5"/>
          <p:cNvSpPr txBox="1"/>
          <p:nvPr/>
        </p:nvSpPr>
        <p:spPr>
          <a:xfrm>
            <a:off x="1418336" y="3683000"/>
            <a:ext cx="1660957"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속도 벡터 변환 공식</a:t>
            </a:r>
            <a:endParaRPr lang="ko-KR" altLang="en-US" sz="1000" dirty="0"/>
          </a:p>
        </p:txBody>
      </p:sp>
      <p:sp>
        <p:nvSpPr>
          <p:cNvPr id="30" name="Part Sec Leader 5"/>
          <p:cNvSpPr/>
          <p:nvPr/>
        </p:nvSpPr>
        <p:spPr>
          <a:xfrm>
            <a:off x="3231693" y="3937000"/>
            <a:ext cx="7378395" cy="0"/>
          </a:xfrm>
          <a:prstGeom prst="line">
            <a:avLst/>
          </a:prstGeom>
          <a:noFill/>
          <a:ln w="15875" cap="rnd">
            <a:solidFill>
              <a:srgbClr val="AEB9CC"/>
            </a:solidFill>
            <a:prstDash val="sysDot"/>
          </a:ln>
        </p:spPr>
      </p:sp>
      <p:sp>
        <p:nvSpPr>
          <p:cNvPr id="31" name="Part Sec Page 5"/>
          <p:cNvSpPr txBox="1"/>
          <p:nvPr/>
        </p:nvSpPr>
        <p:spPr>
          <a:xfrm>
            <a:off x="10737088" y="36830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18</a:t>
            </a:r>
            <a:endParaRPr lang="ko-KR" altLang="en-US" sz="1000" dirty="0"/>
          </a:p>
        </p:txBody>
      </p:sp>
      <p:sp>
        <p:nvSpPr>
          <p:cNvPr id="32" name="Part Sec Num 6"/>
          <p:cNvSpPr txBox="1"/>
          <p:nvPr/>
        </p:nvSpPr>
        <p:spPr>
          <a:xfrm>
            <a:off x="859536" y="40894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3.6</a:t>
            </a:r>
            <a:endParaRPr lang="ko-KR" altLang="en-US" sz="1000" dirty="0"/>
          </a:p>
        </p:txBody>
      </p:sp>
      <p:sp>
        <p:nvSpPr>
          <p:cNvPr id="33" name="Part Sec Title 6"/>
          <p:cNvSpPr txBox="1"/>
          <p:nvPr/>
        </p:nvSpPr>
        <p:spPr>
          <a:xfrm>
            <a:off x="1418336" y="4089400"/>
            <a:ext cx="1660957"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속도 벡터 변환 코드</a:t>
            </a:r>
            <a:endParaRPr lang="ko-KR" altLang="en-US" sz="1000" dirty="0"/>
          </a:p>
        </p:txBody>
      </p:sp>
      <p:sp>
        <p:nvSpPr>
          <p:cNvPr id="34" name="Part Sec Leader 6"/>
          <p:cNvSpPr/>
          <p:nvPr/>
        </p:nvSpPr>
        <p:spPr>
          <a:xfrm>
            <a:off x="3231693" y="4343400"/>
            <a:ext cx="7378395" cy="0"/>
          </a:xfrm>
          <a:prstGeom prst="line">
            <a:avLst/>
          </a:prstGeom>
          <a:noFill/>
          <a:ln w="15875" cap="rnd">
            <a:solidFill>
              <a:srgbClr val="AEB9CC"/>
            </a:solidFill>
            <a:prstDash val="sysDot"/>
          </a:ln>
        </p:spPr>
      </p:sp>
      <p:sp>
        <p:nvSpPr>
          <p:cNvPr id="35" name="Part Sec Page 6"/>
          <p:cNvSpPr txBox="1"/>
          <p:nvPr/>
        </p:nvSpPr>
        <p:spPr>
          <a:xfrm>
            <a:off x="10737088" y="40894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19</a:t>
            </a:r>
            <a:endParaRPr lang="ko-KR" altLang="en-US" sz="1000" dirty="0"/>
          </a:p>
        </p:txBody>
      </p:sp>
      <p:sp>
        <p:nvSpPr>
          <p:cNvPr id="36" name="Part Sec Num 7"/>
          <p:cNvSpPr txBox="1"/>
          <p:nvPr/>
        </p:nvSpPr>
        <p:spPr>
          <a:xfrm>
            <a:off x="859536" y="44958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3.7</a:t>
            </a:r>
            <a:endParaRPr lang="ko-KR" altLang="en-US" sz="1000" dirty="0"/>
          </a:p>
        </p:txBody>
      </p:sp>
      <p:sp>
        <p:nvSpPr>
          <p:cNvPr id="37" name="Part Sec Title 7"/>
          <p:cNvSpPr txBox="1"/>
          <p:nvPr/>
        </p:nvSpPr>
        <p:spPr>
          <a:xfrm>
            <a:off x="1418336" y="4495800"/>
            <a:ext cx="21876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한 스텝 전진 공식 (중점법)</a:t>
            </a:r>
            <a:endParaRPr lang="ko-KR" altLang="en-US" sz="1000" dirty="0"/>
          </a:p>
        </p:txBody>
      </p:sp>
      <p:sp>
        <p:nvSpPr>
          <p:cNvPr id="38" name="Part Sec Leader 7"/>
          <p:cNvSpPr/>
          <p:nvPr/>
        </p:nvSpPr>
        <p:spPr>
          <a:xfrm>
            <a:off x="3758336" y="4749800"/>
            <a:ext cx="6851752" cy="0"/>
          </a:xfrm>
          <a:prstGeom prst="line">
            <a:avLst/>
          </a:prstGeom>
          <a:noFill/>
          <a:ln w="15875" cap="rnd">
            <a:solidFill>
              <a:srgbClr val="AEB9CC"/>
            </a:solidFill>
            <a:prstDash val="sysDot"/>
          </a:ln>
        </p:spPr>
      </p:sp>
      <p:sp>
        <p:nvSpPr>
          <p:cNvPr id="39" name="Part Sec Page 7"/>
          <p:cNvSpPr txBox="1"/>
          <p:nvPr/>
        </p:nvSpPr>
        <p:spPr>
          <a:xfrm>
            <a:off x="10737088" y="44958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20</a:t>
            </a:r>
            <a:endParaRPr lang="ko-KR" altLang="en-US" sz="1000" dirty="0"/>
          </a:p>
        </p:txBody>
      </p:sp>
      <p:sp>
        <p:nvSpPr>
          <p:cNvPr id="40" name="Part Sec Num 8"/>
          <p:cNvSpPr txBox="1"/>
          <p:nvPr/>
        </p:nvSpPr>
        <p:spPr>
          <a:xfrm>
            <a:off x="859536" y="49022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3.8</a:t>
            </a:r>
            <a:endParaRPr lang="ko-KR" altLang="en-US" sz="1000" dirty="0"/>
          </a:p>
        </p:txBody>
      </p:sp>
      <p:sp>
        <p:nvSpPr>
          <p:cNvPr id="41" name="Part Sec Title 8"/>
          <p:cNvSpPr txBox="1"/>
          <p:nvPr/>
        </p:nvSpPr>
        <p:spPr>
          <a:xfrm>
            <a:off x="1418336" y="4902200"/>
            <a:ext cx="1483157"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한 스텝 전진 코드</a:t>
            </a:r>
            <a:endParaRPr lang="ko-KR" altLang="en-US" sz="1000" dirty="0"/>
          </a:p>
        </p:txBody>
      </p:sp>
      <p:sp>
        <p:nvSpPr>
          <p:cNvPr id="42" name="Part Sec Leader 8"/>
          <p:cNvSpPr/>
          <p:nvPr/>
        </p:nvSpPr>
        <p:spPr>
          <a:xfrm>
            <a:off x="3053893" y="5156200"/>
            <a:ext cx="7556195" cy="0"/>
          </a:xfrm>
          <a:prstGeom prst="line">
            <a:avLst/>
          </a:prstGeom>
          <a:noFill/>
          <a:ln w="15875" cap="rnd">
            <a:solidFill>
              <a:srgbClr val="AEB9CC"/>
            </a:solidFill>
            <a:prstDash val="sysDot"/>
          </a:ln>
        </p:spPr>
      </p:sp>
      <p:sp>
        <p:nvSpPr>
          <p:cNvPr id="43" name="Part Sec Page 8"/>
          <p:cNvSpPr txBox="1"/>
          <p:nvPr/>
        </p:nvSpPr>
        <p:spPr>
          <a:xfrm>
            <a:off x="10737088" y="49022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21 ~ 22</a:t>
            </a:r>
            <a:endParaRPr lang="ko-KR" altLang="en-US" sz="10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23</a:t>
            </a:r>
          </a:p>
        </p:txBody>
      </p:sp>
      <p:sp>
        <p:nvSpPr>
          <p:cNvPr id="8" name="Part Top Rule"/>
          <p:cNvSpPr/>
          <p:nvPr/>
        </p:nvSpPr>
        <p:spPr>
          <a:xfrm>
            <a:off x="749808" y="713232"/>
            <a:ext cx="10698480" cy="0"/>
          </a:xfrm>
          <a:prstGeom prst="line">
            <a:avLst/>
          </a:prstGeom>
          <a:noFill/>
          <a:ln w="9525" cap="rnd">
            <a:solidFill>
              <a:srgbClr val="AEB9CC"/>
            </a:solidFill>
            <a:prstDash val="solid"/>
          </a:ln>
        </p:spPr>
      </p:sp>
      <p:sp>
        <p:nvSpPr>
          <p:cNvPr id="9" name="Part Bottom Rule"/>
          <p:cNvSpPr/>
          <p:nvPr/>
        </p:nvSpPr>
        <p:spPr>
          <a:xfrm>
            <a:off x="749808" y="6336792"/>
            <a:ext cx="10698480" cy="0"/>
          </a:xfrm>
          <a:prstGeom prst="line">
            <a:avLst/>
          </a:prstGeom>
          <a:noFill/>
          <a:ln w="9525" cap="rnd">
            <a:solidFill>
              <a:srgbClr val="AEB9CC"/>
            </a:solidFill>
            <a:prstDash val="solid"/>
          </a:ln>
        </p:spPr>
      </p:sp>
      <p:sp>
        <p:nvSpPr>
          <p:cNvPr id="10" name="Part Title"/>
          <p:cNvSpPr txBox="1"/>
          <p:nvPr/>
        </p:nvSpPr>
        <p:spPr>
          <a:xfrm>
            <a:off x="859536" y="914400"/>
            <a:ext cx="9144000" cy="47548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2400" b="1" i="0" dirty="0">
                <a:solidFill>
                  <a:srgbClr val="1B2740"/>
                </a:solidFill>
                <a:latin typeface="맑은 고딕"/>
                <a:ea typeface="맑은 고딕"/>
                <a:cs typeface="맑은 고딕"/>
              </a:rPr>
              <a:t>04. 결과 확인</a:t>
            </a:r>
            <a:endParaRPr lang="ko-KR" altLang="en-US" sz="1000" dirty="0"/>
          </a:p>
        </p:txBody>
      </p:sp>
      <p:sp>
        <p:nvSpPr>
          <p:cNvPr id="11" name="Part Lead"/>
          <p:cNvSpPr txBox="1"/>
          <p:nvPr/>
        </p:nvSpPr>
        <p:spPr>
          <a:xfrm>
            <a:off x="859536" y="1444752"/>
            <a:ext cx="10588752" cy="304800"/>
          </a:xfrm>
          <a:prstGeom prst="rect">
            <a:avLst/>
          </a:prstGeom>
          <a:noFill/>
        </p:spPr>
        <p:txBody>
          <a:bodyPr wrap="none" lIns="0" tIns="0" rIns="0" bIns="0" anchor="t" rtlCol="0">
            <a:noAutofit/>
          </a:bodyPr>
          <a:lstStyle/>
          <a:p>
            <a:pPr algn="l">
              <a:lnSpc>
                <a:spcPct val="130000"/>
              </a:lnSpc>
              <a:spcBef>
                <a:spcPts val="0"/>
              </a:spcBef>
              <a:spcAft>
                <a:spcPts val="0"/>
              </a:spcAft>
              <a:buNone/>
            </a:pPr>
            <a:r>
              <a:rPr lang="ko-KR" altLang="en-US" sz="1300" b="0" i="0" dirty="0">
                <a:solidFill>
                  <a:srgbClr val="1B2740"/>
                </a:solidFill>
                <a:latin typeface="맑은 고딕"/>
                <a:ea typeface="맑은 고딕"/>
                <a:cs typeface="맑은 고딕"/>
              </a:rPr>
              <a:t>기본 시나리오와 응용 시나리오의 계산 결과, 운용 화면을 확인합니다.</a:t>
            </a:r>
            <a:endParaRPr lang="ko-KR" altLang="en-US" sz="1000" dirty="0"/>
          </a:p>
        </p:txBody>
      </p:sp>
      <p:sp>
        <p:nvSpPr>
          <p:cNvPr id="12" name="Part Sec Num 1"/>
          <p:cNvSpPr txBox="1"/>
          <p:nvPr/>
        </p:nvSpPr>
        <p:spPr>
          <a:xfrm>
            <a:off x="859536" y="20574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4.1</a:t>
            </a:r>
            <a:endParaRPr lang="ko-KR" altLang="en-US" sz="1000" dirty="0"/>
          </a:p>
        </p:txBody>
      </p:sp>
      <p:sp>
        <p:nvSpPr>
          <p:cNvPr id="13" name="Part Sec Title 1"/>
          <p:cNvSpPr txBox="1"/>
          <p:nvPr/>
        </p:nvSpPr>
        <p:spPr>
          <a:xfrm>
            <a:off x="1418336" y="2057400"/>
            <a:ext cx="1180186"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기본 시나리오</a:t>
            </a:r>
            <a:endParaRPr lang="ko-KR" altLang="en-US" sz="1000" dirty="0"/>
          </a:p>
        </p:txBody>
      </p:sp>
      <p:sp>
        <p:nvSpPr>
          <p:cNvPr id="14" name="Part Sec Leader 1"/>
          <p:cNvSpPr/>
          <p:nvPr/>
        </p:nvSpPr>
        <p:spPr>
          <a:xfrm>
            <a:off x="2750922" y="2311400"/>
            <a:ext cx="7859166" cy="0"/>
          </a:xfrm>
          <a:prstGeom prst="line">
            <a:avLst/>
          </a:prstGeom>
          <a:noFill/>
          <a:ln w="15875" cap="rnd">
            <a:solidFill>
              <a:srgbClr val="AEB9CC"/>
            </a:solidFill>
            <a:prstDash val="sysDot"/>
          </a:ln>
        </p:spPr>
      </p:sp>
      <p:sp>
        <p:nvSpPr>
          <p:cNvPr id="15" name="Part Sec Page 1"/>
          <p:cNvSpPr txBox="1"/>
          <p:nvPr/>
        </p:nvSpPr>
        <p:spPr>
          <a:xfrm>
            <a:off x="10737088" y="20574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24</a:t>
            </a:r>
            <a:endParaRPr lang="ko-KR" altLang="en-US" sz="1000" dirty="0"/>
          </a:p>
        </p:txBody>
      </p:sp>
      <p:sp>
        <p:nvSpPr>
          <p:cNvPr id="16" name="Part Sec Num 2"/>
          <p:cNvSpPr txBox="1"/>
          <p:nvPr/>
        </p:nvSpPr>
        <p:spPr>
          <a:xfrm>
            <a:off x="859536" y="24638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4.2</a:t>
            </a:r>
            <a:endParaRPr lang="ko-KR" altLang="en-US" sz="1000" dirty="0"/>
          </a:p>
        </p:txBody>
      </p:sp>
      <p:sp>
        <p:nvSpPr>
          <p:cNvPr id="17" name="Part Sec Title 2"/>
          <p:cNvSpPr txBox="1"/>
          <p:nvPr/>
        </p:nvSpPr>
        <p:spPr>
          <a:xfrm>
            <a:off x="1418336" y="2463800"/>
            <a:ext cx="1180186"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응용 시나리오</a:t>
            </a:r>
            <a:endParaRPr lang="ko-KR" altLang="en-US" sz="1000" dirty="0"/>
          </a:p>
        </p:txBody>
      </p:sp>
      <p:sp>
        <p:nvSpPr>
          <p:cNvPr id="18" name="Part Sec Leader 2"/>
          <p:cNvSpPr/>
          <p:nvPr/>
        </p:nvSpPr>
        <p:spPr>
          <a:xfrm>
            <a:off x="2750922" y="2717800"/>
            <a:ext cx="7859166" cy="0"/>
          </a:xfrm>
          <a:prstGeom prst="line">
            <a:avLst/>
          </a:prstGeom>
          <a:noFill/>
          <a:ln w="15875" cap="rnd">
            <a:solidFill>
              <a:srgbClr val="AEB9CC"/>
            </a:solidFill>
            <a:prstDash val="sysDot"/>
          </a:ln>
        </p:spPr>
      </p:sp>
      <p:sp>
        <p:nvSpPr>
          <p:cNvPr id="19" name="Part Sec Page 2"/>
          <p:cNvSpPr txBox="1"/>
          <p:nvPr/>
        </p:nvSpPr>
        <p:spPr>
          <a:xfrm>
            <a:off x="10737088" y="24638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25</a:t>
            </a:r>
            <a:endParaRPr lang="ko-KR" altLang="en-US" sz="1000" dirty="0"/>
          </a:p>
        </p:txBody>
      </p:sp>
      <p:sp>
        <p:nvSpPr>
          <p:cNvPr id="20" name="Part Sec Num 3"/>
          <p:cNvSpPr txBox="1"/>
          <p:nvPr/>
        </p:nvSpPr>
        <p:spPr>
          <a:xfrm>
            <a:off x="859536" y="28702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4.3</a:t>
            </a:r>
            <a:endParaRPr lang="ko-KR" altLang="en-US" sz="1000" dirty="0"/>
          </a:p>
        </p:txBody>
      </p:sp>
      <p:sp>
        <p:nvSpPr>
          <p:cNvPr id="21" name="Part Sec Title 3"/>
          <p:cNvSpPr txBox="1"/>
          <p:nvPr/>
        </p:nvSpPr>
        <p:spPr>
          <a:xfrm>
            <a:off x="1418336" y="2870200"/>
            <a:ext cx="824586"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운용 화면</a:t>
            </a:r>
            <a:endParaRPr lang="ko-KR" altLang="en-US" sz="1000" dirty="0"/>
          </a:p>
        </p:txBody>
      </p:sp>
      <p:sp>
        <p:nvSpPr>
          <p:cNvPr id="22" name="Part Sec Leader 3"/>
          <p:cNvSpPr/>
          <p:nvPr/>
        </p:nvSpPr>
        <p:spPr>
          <a:xfrm>
            <a:off x="2395322" y="3124200"/>
            <a:ext cx="8214766" cy="0"/>
          </a:xfrm>
          <a:prstGeom prst="line">
            <a:avLst/>
          </a:prstGeom>
          <a:noFill/>
          <a:ln w="15875" cap="rnd">
            <a:solidFill>
              <a:srgbClr val="AEB9CC"/>
            </a:solidFill>
            <a:prstDash val="sysDot"/>
          </a:ln>
        </p:spPr>
      </p:sp>
      <p:sp>
        <p:nvSpPr>
          <p:cNvPr id="23" name="Part Sec Page 3"/>
          <p:cNvSpPr txBox="1"/>
          <p:nvPr/>
        </p:nvSpPr>
        <p:spPr>
          <a:xfrm>
            <a:off x="10737088" y="28702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26</a:t>
            </a:r>
            <a:endParaRPr lang="ko-KR" altLang="en-US" sz="10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27</a:t>
            </a:r>
          </a:p>
        </p:txBody>
      </p:sp>
      <p:sp>
        <p:nvSpPr>
          <p:cNvPr id="8" name="Part Top Rule"/>
          <p:cNvSpPr/>
          <p:nvPr/>
        </p:nvSpPr>
        <p:spPr>
          <a:xfrm>
            <a:off x="749808" y="713232"/>
            <a:ext cx="10698480" cy="0"/>
          </a:xfrm>
          <a:prstGeom prst="line">
            <a:avLst/>
          </a:prstGeom>
          <a:noFill/>
          <a:ln w="9525" cap="rnd">
            <a:solidFill>
              <a:srgbClr val="AEB9CC"/>
            </a:solidFill>
            <a:prstDash val="solid"/>
          </a:ln>
        </p:spPr>
      </p:sp>
      <p:sp>
        <p:nvSpPr>
          <p:cNvPr id="9" name="Part Bottom Rule"/>
          <p:cNvSpPr/>
          <p:nvPr/>
        </p:nvSpPr>
        <p:spPr>
          <a:xfrm>
            <a:off x="749808" y="6336792"/>
            <a:ext cx="10698480" cy="0"/>
          </a:xfrm>
          <a:prstGeom prst="line">
            <a:avLst/>
          </a:prstGeom>
          <a:noFill/>
          <a:ln w="9525" cap="rnd">
            <a:solidFill>
              <a:srgbClr val="AEB9CC"/>
            </a:solidFill>
            <a:prstDash val="solid"/>
          </a:ln>
        </p:spPr>
      </p:sp>
      <p:sp>
        <p:nvSpPr>
          <p:cNvPr id="10" name="Part Title"/>
          <p:cNvSpPr txBox="1"/>
          <p:nvPr/>
        </p:nvSpPr>
        <p:spPr>
          <a:xfrm>
            <a:off x="859536" y="914400"/>
            <a:ext cx="9144000" cy="47548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2400" b="1" i="0" dirty="0">
                <a:solidFill>
                  <a:srgbClr val="1B2740"/>
                </a:solidFill>
                <a:latin typeface="맑은 고딕"/>
                <a:ea typeface="맑은 고딕"/>
                <a:cs typeface="맑은 고딕"/>
              </a:rPr>
              <a:t>05. 결론</a:t>
            </a:r>
            <a:endParaRPr lang="ko-KR" altLang="en-US" sz="1000" dirty="0"/>
          </a:p>
        </p:txBody>
      </p:sp>
      <p:sp>
        <p:nvSpPr>
          <p:cNvPr id="11" name="Part Lead"/>
          <p:cNvSpPr txBox="1"/>
          <p:nvPr/>
        </p:nvSpPr>
        <p:spPr>
          <a:xfrm>
            <a:off x="859536" y="1444752"/>
            <a:ext cx="10588752" cy="304800"/>
          </a:xfrm>
          <a:prstGeom prst="rect">
            <a:avLst/>
          </a:prstGeom>
          <a:noFill/>
        </p:spPr>
        <p:txBody>
          <a:bodyPr wrap="none" lIns="0" tIns="0" rIns="0" bIns="0" anchor="t" rtlCol="0">
            <a:noAutofit/>
          </a:bodyPr>
          <a:lstStyle/>
          <a:p>
            <a:pPr algn="l">
              <a:lnSpc>
                <a:spcPct val="130000"/>
              </a:lnSpc>
              <a:spcBef>
                <a:spcPts val="0"/>
              </a:spcBef>
              <a:spcAft>
                <a:spcPts val="0"/>
              </a:spcAft>
              <a:buNone/>
            </a:pPr>
            <a:r>
              <a:rPr lang="ko-KR" altLang="en-US" sz="1300" b="0" i="0" dirty="0">
                <a:solidFill>
                  <a:srgbClr val="1B2740"/>
                </a:solidFill>
                <a:latin typeface="맑은 고딕"/>
                <a:ea typeface="맑은 고딕"/>
                <a:cs typeface="맑은 고딕"/>
              </a:rPr>
              <a:t>과제 요구사항별 구현 내용을 정리합니다.</a:t>
            </a:r>
            <a:endParaRPr lang="ko-KR" altLang="en-US" sz="1000" dirty="0"/>
          </a:p>
        </p:txBody>
      </p:sp>
      <p:sp>
        <p:nvSpPr>
          <p:cNvPr id="12" name="Part Sec Num 1"/>
          <p:cNvSpPr txBox="1"/>
          <p:nvPr/>
        </p:nvSpPr>
        <p:spPr>
          <a:xfrm>
            <a:off x="859536" y="20574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5.1</a:t>
            </a:r>
            <a:endParaRPr lang="ko-KR" altLang="en-US" sz="1000" dirty="0"/>
          </a:p>
        </p:txBody>
      </p:sp>
      <p:sp>
        <p:nvSpPr>
          <p:cNvPr id="13" name="Part Sec Title 1"/>
          <p:cNvSpPr txBox="1"/>
          <p:nvPr/>
        </p:nvSpPr>
        <p:spPr>
          <a:xfrm>
            <a:off x="1418336" y="2057400"/>
            <a:ext cx="1776171"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과제 요구사항과 구현</a:t>
            </a:r>
            <a:endParaRPr lang="ko-KR" altLang="en-US" sz="1000" dirty="0"/>
          </a:p>
        </p:txBody>
      </p:sp>
      <p:sp>
        <p:nvSpPr>
          <p:cNvPr id="14" name="Part Sec Leader 1"/>
          <p:cNvSpPr/>
          <p:nvPr/>
        </p:nvSpPr>
        <p:spPr>
          <a:xfrm>
            <a:off x="3346907" y="2311400"/>
            <a:ext cx="7263181" cy="0"/>
          </a:xfrm>
          <a:prstGeom prst="line">
            <a:avLst/>
          </a:prstGeom>
          <a:noFill/>
          <a:ln w="15875" cap="rnd">
            <a:solidFill>
              <a:srgbClr val="AEB9CC"/>
            </a:solidFill>
            <a:prstDash val="sysDot"/>
          </a:ln>
        </p:spPr>
      </p:sp>
      <p:sp>
        <p:nvSpPr>
          <p:cNvPr id="15" name="Part Sec Page 1"/>
          <p:cNvSpPr txBox="1"/>
          <p:nvPr/>
        </p:nvSpPr>
        <p:spPr>
          <a:xfrm>
            <a:off x="10737088" y="20574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28</a:t>
            </a:r>
            <a:endParaRPr lang="ko-KR" alt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Part 3  표적 궤적 모의</dc:title>
  <dc:subject>표준 제안/보고 서식</dc:subject>
  <dc:creator>Janghwan Kim (Harley)</dc:creator>
  <cp:lastModifiedBy>PptxGenJS</cp:lastModifiedBy>
  <cp:revision>1</cp:revision>
  <dcterms:created xsi:type="dcterms:W3CDTF">2026-09-21T04:55:30Z</dcterms:created>
  <dcterms:modified xsi:type="dcterms:W3CDTF">2026-09-21T04:55:30Z</dcterms:modified>
</cp:coreProperties>
</file>