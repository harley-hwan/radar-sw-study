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9" r:id="rId20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21"/>
    <p:sldId id="271" r:id="rId22"/>
    <p:sldId id="272" r:id="rId2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7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2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3 표적 궤적 모의. 오늘은 명세의 1번 구현 방법과 2번 시뮬레이션 조건까지 다룹니다. 결과 출력과 검증은 다음 자료에서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명세는 이 세 가지를 지정하지 않았습니다. 구현하려면 반드시 정해야 하는 것들이라 판단 근거를 함께 정리했습니다.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는 MISRA C 를 적용한 순수 C 코드이고, UI 는 MFC C++ 입니다. 둘 사이에 오가는 자료구조를 두 개로 묶어 두면 나중에 화면을 바꿔도 계산 코드는 손대지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설정은 불변, 상태는 가변. 이렇게 나누면 시뮬레이션 도중 사용자가 화면 값을 바꿔도 진행 중인 계산이 흔들리지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선택 덕분에 '속력 보존'이 나중에 검증해야 할 성질이 아니라 구조적으로 성립하는 성질이 됩니다. 실제로 60초 내내 30.000000 / 200.000000 이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은 기동이 하나뿐이면 전혀 문제가 되지 않습니다. 표적마다 기동을 30개까지 허용했기 때문에 정해야 했던 규칙입니다.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위경도를 직접 적분하면 곡률반경이 매 스텝 식에 끼어들고 극점에서는 계산이 터집니다. ECEF 로 옮기면 그 문제가 전부 사라집니다.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함수가 과제의 핵심입니다. 함수가 st_Lla 를 인자로 받는 이유는 위경도 회전 행렬을 매번 현재 위치로 새로 만들어야 하기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속력이 분모에 있으므로 0이면 안 됩니다. 표적 속력은 0보다 커야 한다는 검사를 미리 겁니다. 플랫폼은 기동이 없어 이 나눗셈을 지나가지 않으므로 정지가 허용됩니다.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자주 나오는 질문: 간격이 0.1초로 같은데 왜 다르냐. 간격은 같지만 그 간격을 대표하는 속도를 어느 시점에서 뽑느냐가 다릅니다. 잘 고른 대표값인지는 간격을 줄였을 때 오차가 얼마나 빨리 줄어드는지로 드러납니다 — 시작 방향은 1/2, 중점법은 1/4. 중점법은 RK2 라고도 부르고 전역 오차가 간격의 제곱에 비례합니다.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표본 601개는 약 0.66 MB 입니다. 화면 쪽에서 한 번에 잡고, 계산 쪽은 가장 최근 표본 하나만 들고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실측 대조는 다음 단계에서 진행합니다. 여기서는 무엇과 비교할 것인지 기준을 먼저 세워 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다룬 범위는 여기까지입니다. 다음 자료에서 실제 실행 결과와 검증을 이어갑니다.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 명세가 1절 구현 방법, 2절 시뮬레이션 조건, 3절 기타 사항 순서로 되어 있어 그 차례를 그대로 따릅니다.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위치 조건을 시각으로 바꾸는 일은 엔진을 실제로 돌려 보는 것 말고는 방법이 없습니다. 도구가 Core 를 그대로 링크하므로 도구가 찾은 시각과 UI 가 돌린 결과가 어긋날 일이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궤적 모두 표본 601 개, 마지막 표본이 정확히 60.0 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제공 코드는 고치지 않는 것이 요구사항이라, 맞춰야 할 것은 전부 호출하는 쪽에 두었습니다.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554480"/>
            <a:ext cx="3749040" cy="3749040"/>
          </a:xfrm>
          <a:prstGeom prst="ellipse">
            <a:avLst/>
          </a:prstGeom>
          <a:ln w="15240">
            <a:solidFill>
              <a:srgbClr val="23395B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732520" y="2468880"/>
            <a:ext cx="1920240" cy="1920240"/>
          </a:xfrm>
          <a:prstGeom prst="ellipse">
            <a:avLst/>
          </a:prstGeom>
          <a:ln w="12700">
            <a:solidFill>
              <a:srgbClr val="23395B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89720" y="2926080"/>
            <a:ext cx="1005840" cy="1005840"/>
          </a:xfrm>
          <a:prstGeom prst="ellipse">
            <a:avLst/>
          </a:prstGeom>
          <a:ln w="12700">
            <a:solidFill>
              <a:srgbClr val="2E4A7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92640" y="2331720"/>
            <a:ext cx="1435608" cy="1097280"/>
          </a:xfrm>
          <a:prstGeom prst="line">
            <a:avLst/>
          </a:prstGeom>
          <a:noFill/>
          <a:ln w="2032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055096" y="225856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887968" y="4133088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1965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RADAR SW STUDY · PART 3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59152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궤적 모의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21868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방법 및 시뮬레이션 조건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04164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TargetSimCore (C17 / DLL)  ·  TargetSimUI (MFC)  ·  WGS84 좌표변환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5486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424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과제가 요구한 차례를 그대로 따라간다.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3502152" cy="2834640"/>
          </a:xfrm>
          <a:prstGeom prst="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41247" y="1627632"/>
            <a:ext cx="457200" cy="457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162763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1627632"/>
            <a:ext cx="236829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231136"/>
            <a:ext cx="29535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표적을 정의하고 움직인다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7" y="2706624"/>
            <a:ext cx="2953512" cy="13716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7" y="2880360"/>
            <a:ext cx="12801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880360"/>
            <a:ext cx="27706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구조체 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282696"/>
            <a:ext cx="12801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7706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상태 정보 갱신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1371600"/>
            <a:ext cx="3502152" cy="2834640"/>
          </a:xfrm>
          <a:prstGeom prst="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617720" y="1627632"/>
            <a:ext cx="457200" cy="457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17720" y="162763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2936" y="1627632"/>
            <a:ext cx="236829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시뮬레이션 조건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231136"/>
            <a:ext cx="29535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주어진 조건으로 60 초를 돌린다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2706624"/>
            <a:ext cx="2953512" cy="13716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617720" y="2880360"/>
            <a:ext cx="12801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880360"/>
            <a:ext cx="27706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조건값과 실행 순서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3282696"/>
            <a:ext cx="12801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282696"/>
            <a:ext cx="27706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 시나리오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685032"/>
            <a:ext cx="12801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685032"/>
            <a:ext cx="27706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확인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19871" y="1371600"/>
            <a:ext cx="3502152" cy="2834640"/>
          </a:xfrm>
          <a:prstGeom prst="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394192" y="1627632"/>
            <a:ext cx="457200" cy="457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394192" y="162763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7" y="1627632"/>
            <a:ext cx="236829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2231136"/>
            <a:ext cx="29535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 코드 이용과 결과 설명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94192" y="2706624"/>
            <a:ext cx="2953512" cy="13716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394192" y="2880360"/>
            <a:ext cx="12801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7072" y="2880360"/>
            <a:ext cx="27706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 좌표변환 코드 이용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4192" y="3282696"/>
            <a:ext cx="12801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7072" y="3282696"/>
            <a:ext cx="27706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구조체 · 구현 · 결과 설명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4864608"/>
            <a:ext cx="11055096" cy="987552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59536" y="5029200"/>
            <a:ext cx="10469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1절 → 2절 → 3절 순서 그대로다. </a:t>
            </a:r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1절에서 표적을 정의하고 한 스텝 나아가는 규칙을 만들고, 2절에서 주어진 조건으로 60 초를 돌려 LLA 와 그림을 내고, 3절에서 제공 코드 이용과 설명 위치를 정리한다.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5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요구사항과 진행 순서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325880"/>
            <a:ext cx="3511296" cy="2331720"/>
          </a:xfrm>
          <a:prstGeom prst="roundRect">
            <a:avLst>
              <a:gd name="adj" fmla="val 1569"/>
            </a:avLst>
          </a:prstGeom>
          <a:solidFill>
            <a:srgbClr val="EDF1F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86384" y="153619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170432" y="157276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 구현 방법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029968"/>
            <a:ext cx="3035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표적 구조체 정의 — 표적 10개 · 기동 30개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표적 상태 정보 갱신 — ECEF 좌표계에서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(+) 동체 속도를 ECEF 성분으로 (추가 고민)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52544" y="1325880"/>
            <a:ext cx="3511296" cy="2331720"/>
          </a:xfrm>
          <a:prstGeom prst="roundRect">
            <a:avLst>
              <a:gd name="adj" fmla="val 1569"/>
            </a:avLst>
          </a:prstGeom>
          <a:solidFill>
            <a:srgbClr val="EDF1F6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153619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956048" y="157276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 시뮬레이션 조건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029968"/>
            <a:ext cx="3035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초 · 0.1 초 간격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1 + 대함 표적 1 + 대공 표적 1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LLA 로 출력하고 그림으로 표현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1325880"/>
            <a:ext cx="3511296" cy="2331720"/>
          </a:xfrm>
          <a:prstGeom prst="roundRect">
            <a:avLst>
              <a:gd name="adj" fmla="val 1569"/>
            </a:avLst>
          </a:prstGeom>
          <a:solidFill>
            <a:srgbClr val="EDF1F6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357616" y="153619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741664" y="157276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 기타 사항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029968"/>
            <a:ext cx="3035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제공한 좌표변환 코드 이용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표적 구조체 정의 설명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(3) 구현 방법을 코드로 설명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(4) 시뮬레이션 결과 설명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3886200"/>
            <a:ext cx="11055096" cy="2148840"/>
          </a:xfrm>
          <a:prstGeom prst="roundRect">
            <a:avLst>
              <a:gd name="adj" fmla="val 170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41248" y="409651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순서 — 이 자료가 따라가는 차례</a:t>
            </a:r>
            <a:endParaRPr lang="en-US" sz="1350" dirty="0"/>
          </a:p>
        </p:txBody>
      </p:sp>
      <p:sp>
        <p:nvSpPr>
          <p:cNvPr id="21" name="Rectangle 20"/>
          <p:cNvSpPr/>
          <p:nvPr/>
        </p:nvSpPr>
        <p:spPr>
          <a:xfrm>
            <a:off x="841248" y="4498848"/>
            <a:ext cx="1901952" cy="603504"/>
          </a:xfrm>
          <a:prstGeom prst="rect">
            <a:avLst/>
          </a:prstGeom>
          <a:solidFill>
            <a:srgbClr val="15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4553712"/>
            <a:ext cx="190195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  구조체 정의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791456"/>
            <a:ext cx="190195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498848"/>
            <a:ext cx="256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99232" y="4498848"/>
            <a:ext cx="1901952" cy="603504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999232" y="4553712"/>
            <a:ext cx="190195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상태 갱신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9232" y="4791456"/>
            <a:ext cx="190195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01183" y="4498848"/>
            <a:ext cx="256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57216" y="4498848"/>
            <a:ext cx="1901952" cy="603504"/>
          </a:xfrm>
          <a:prstGeom prst="rect">
            <a:avLst/>
          </a:prstGeom>
          <a:solidFill>
            <a:srgbClr val="15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57216" y="4553712"/>
            <a:ext cx="190195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조건 입력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57216" y="4791456"/>
            <a:ext cx="190195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4498848"/>
            <a:ext cx="256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4498848"/>
            <a:ext cx="1901952" cy="603504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15200" y="4553712"/>
            <a:ext cx="190195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600 스텝 실행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791456"/>
            <a:ext cx="190195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7152" y="4498848"/>
            <a:ext cx="256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73184" y="4498848"/>
            <a:ext cx="1901952" cy="603504"/>
          </a:xfrm>
          <a:prstGeom prst="rect">
            <a:avLst/>
          </a:prstGeom>
          <a:solidFill>
            <a:srgbClr val="15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473184" y="4553712"/>
            <a:ext cx="190195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 LLA · 그림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73184" y="4791456"/>
            <a:ext cx="190195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" y="5303520"/>
            <a:ext cx="10515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표적을 정의하고(1-(1)), 한 스텝 나아가는 규칙을 세운 뒤(1-(2)), 주어진 조건을 넣어 600 스텝을 돌리고 결과를 LLA 와 그림으로 낸다. </a:t>
            </a:r>
            <a:r>
              <a:rPr sz="110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제공한 좌표변환 코드는 이 과정 전부에서 그대로 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구현 방법</a:t>
            </a:r>
            <a:r>
              <a:rPr sz="1100" b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준비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5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구조 — 계산과 화면의 분리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371600"/>
            <a:ext cx="5394960" cy="3703320"/>
          </a:xfrm>
          <a:prstGeom prst="roundRect">
            <a:avLst>
              <a:gd name="adj" fmla="val 988"/>
            </a:avLst>
          </a:prstGeom>
          <a:solidFill>
            <a:srgbClr val="EDF1F6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59536" y="16276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TargetSimCore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19568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C17 / DLL · 화면을 전혀 모른다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359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Define.h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3591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 · 물리 상수 (참고 소스 + 보완)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2743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matrixCalcLib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743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행렬 연산 (참고 소스 원본)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31272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CoordinateTransform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1272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WGS84 좌표변환 (참고 소스 원본)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35112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TargetSim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3511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구조체 · 궤적 모의 엔진 (자체 작성)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59536" y="4133088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표적을 한 스텝 나아가게 하는 계산은 전부 여기 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콘솔이든 웹이든 다른 화면을 붙여도 그대로 쓴다.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72784" y="1371600"/>
            <a:ext cx="5349240" cy="3703320"/>
          </a:xfrm>
          <a:prstGeom prst="roundRect">
            <a:avLst>
              <a:gd name="adj" fmla="val 98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565392" y="16276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TargetSimUI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565392" y="19568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MFC 다이얼로그 · 계산을 하지 않는다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565392" y="2359152"/>
            <a:ext cx="4754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칸을 읽어 도(°) → 라디안 변환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Core 에 넘기기 전에 값의 형식·범위 검사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오류는 어느 칸에서 났는지 지목해 반려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601개 결과 표본을 모아서 보관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LLA 표 · CSV 저장 · 궤적 그림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슬라이더로 임의 시점 이동 · 재생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48656"/>
            <a:ext cx="11055096" cy="841248"/>
          </a:xfrm>
          <a:prstGeom prst="roundRect">
            <a:avLst>
              <a:gd name="adj" fmla="val 4348"/>
            </a:avLst>
          </a:prstGeom>
          <a:solidFill>
            <a:srgbClr val="E2E9F1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841248" y="543153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경계가 하나다.  </a:t>
            </a:r>
            <a:pPr indent="0" marL="0">
              <a:buNone/>
            </a:pPr>
            <a:r>
              <a:rPr lang="en-US" sz="12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는 ST_SimConfig 를 채워 넣고, Core 는 ST_SimSample 을 돌려준다. 그 사이에 오가는 것은 이 두 구조체뿐이다.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구현 방법  ·  1-(1) 표적 구조체 정의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5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설정값과 상태값의 분리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28016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넣는 설정값과 매 순간 바뀌는 상태값은 수명이 다르다. 한 덩어리로 두면 어느 값이 계산 중에 바뀌는지 알 수 없다.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70078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— 시작할 때 정해지고 끝까지 안 변한다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011680"/>
            <a:ext cx="5394960" cy="1828800"/>
          </a:xfrm>
          <a:prstGeom prst="roundRect">
            <a:avLst>
              <a:gd name="adj" fmla="val 1500"/>
            </a:avLst>
          </a:prstGeom>
          <a:solidFill>
            <a:srgbClr val="16273F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13232" y="2121408"/>
            <a:ext cx="5102352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STRUCT_Coord_Lla        st_InitLla;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STRUCT_Coord_Attitude   st_InitAtt;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           headingSpeed;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INT32                   nManeuverNum;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ST_TargetManeuver       st_Maneuver[30];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ST_TargetInit;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272784" y="1700784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— 0.1초마다 바뀐다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72784" y="2011680"/>
            <a:ext cx="5349240" cy="1828800"/>
          </a:xfrm>
          <a:prstGeom prst="roundRect">
            <a:avLst>
              <a:gd name="adj" fmla="val 1500"/>
            </a:avLst>
          </a:prstGeom>
          <a:solidFill>
            <a:srgbClr val="16273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19088" y="2121408"/>
            <a:ext cx="5056632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           simTime;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STRUCT_Coord_Rect       st_PosEcef;   // 계산 기준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STRUCT_Coord_Rect       st_VelEcef;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STRUCT_Coord_Lla        st_Lla;       // 출력 + NED 기준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STRUCT_Coord_Attitude   st_Att;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ST_TargetState;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114800"/>
            <a:ext cx="5394960" cy="1984248"/>
          </a:xfrm>
          <a:prstGeom prst="roundRect">
            <a:avLst>
              <a:gd name="adj" fmla="val 1843"/>
            </a:avLst>
          </a:prstGeom>
          <a:solidFill>
            <a:srgbClr val="EDF1F6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2960" y="43159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개수는 배열이 아니라 숫자로 관리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645152"/>
            <a:ext cx="4864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자리는 최대치(10개 / 30개)로 미리 잡아두고, 지금 몇 개를 쓰는지만 따로 적는다. 좌석 10개 버스에 승객 수를 적어두는 것과 같다. 표적을 늘리고 줄여도 메모리 크기가 변하지 않는다.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72784" y="4114800"/>
            <a:ext cx="5349240" cy="1984248"/>
          </a:xfrm>
          <a:prstGeom prst="roundRect">
            <a:avLst>
              <a:gd name="adj" fmla="val 1843"/>
            </a:avLst>
          </a:prstGeom>
          <a:solidFill>
            <a:srgbClr val="EDF1F6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528816" y="43159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가 기준, 위경고도는 파생값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528816" y="464515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계산은 ECEF 에서 하고, 위도·경도·고도는 매 스텝 ECEF 에서 다시 뽑아 같이 보관한다. 화면 출력과 다음 스텝의 기준 방향 계산에 모두 쓰이기 때문이다.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구현 방법  ·  1-(1) 표적 구조체 정의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5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위치는 LLA, 속도는 V_heading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26187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속도를 V_heading 하나, 즉 숫자 하나로 받는다.  그러면 방향은? — 자세각(Yaw·Pitch·Roll)이 갖고 있다. 기수가 향하는 쪽이 곧 진행 방향이다.</a:t>
            </a:r>
            <a:pPr indent="0" marL="0">
              <a:buNone/>
            </a:pP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5394960" cy="2286000"/>
          </a:xfrm>
          <a:prstGeom prst="roundRect">
            <a:avLst>
              <a:gd name="adj" fmla="val 1600"/>
            </a:avLst>
          </a:prstGeom>
          <a:solidFill>
            <a:srgbClr val="DAE4F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1883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F4E79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22960" y="1883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1901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화살표를 들고 다니며 조금씩 비튼다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28600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속도를 (Vx, Vy, Vz) 세 숫자로 들고 다니면서, 스텝마다 끝을 옆으로 조금씩 밀어 방향을 바꾼다. 민 만큼 빗변이 생겨 화살표가 길어지고, 그게 600번 쌓인다.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0358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200.00  →  201.45 m/s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51129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1G 로 60초 선회했을 뿐인데 속력이 0.7 % 늘어난다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72784" y="1664208"/>
            <a:ext cx="5349240" cy="2286000"/>
          </a:xfrm>
          <a:prstGeom prst="roundRect">
            <a:avLst>
              <a:gd name="adj" fmla="val 1600"/>
            </a:avLst>
          </a:prstGeom>
          <a:solidFill>
            <a:srgbClr val="DBEEF5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528816" y="1883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528816" y="1883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94576" y="1901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길이는 숫자로 붙박고 각도만 바꾼다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528816" y="228600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표적의 속력은 200" 은 숫자 하나로 붙박아 둔다. 스텝마다 자세각에서 기수 방향만 꺼내 거기에 200 을 곱한다.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528816" y="30358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200.000000  유지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528816" y="351129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번을 돌든 200 은 200 이다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096512"/>
            <a:ext cx="11055096" cy="2029968"/>
          </a:xfrm>
          <a:prstGeom prst="roundRect">
            <a:avLst>
              <a:gd name="adj" fmla="val 1887"/>
            </a:avLst>
          </a:prstGeom>
          <a:solidFill>
            <a:srgbClr val="EDF1F6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163056" y="4297680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길이가 변할 수 없는가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163056" y="4626864"/>
            <a:ext cx="5175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속도를 만들 때 쓰는 것은 회전 행렬뿐이다. 물건을 돌려도 길이가 변하지 않는 것처럼, 회전 행렬은 벡터의 크기를 바꾸지 못한다.</a:t>
            </a:r>
            <a:endParaRPr lang="en-US" sz="1200" dirty="0"/>
          </a:p>
        </p:txBody>
      </p:sp>
      <p:pic>
        <p:nvPicPr>
          <p:cNvPr id="25" name="Picture 24" descr="dg_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4261104"/>
            <a:ext cx="512064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구현 방법  ·  1-(1) 표적 구조체 정의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5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 정보 네 가지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98448"/>
            <a:ext cx="5394960" cy="1444752"/>
          </a:xfrm>
          <a:prstGeom prst="roundRect">
            <a:avLst>
              <a:gd name="adj" fmla="val 1899"/>
            </a:avLst>
          </a:prstGeom>
          <a:solidFill>
            <a:srgbClr val="16273F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13232" y="1408176"/>
            <a:ext cx="510235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EN_TurnType  enTurnType;     // 0~3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gravityValue;   // [G]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startTime;      // [s]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endTime;        // [s]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ST_TargetManeuver;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76148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과제가 요구한 네 개를 그대로 담는다.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2784" y="1298448"/>
            <a:ext cx="5349240" cy="1463040"/>
          </a:xfrm>
          <a:prstGeom prst="roundRect">
            <a:avLst>
              <a:gd name="adj" fmla="val 2500"/>
            </a:avLst>
          </a:prstGeom>
          <a:solidFill>
            <a:srgbClr val="EDF1F6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528816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TurnType — 회전축을 그대로 쓴다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18288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Roll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534656" y="18288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옆으로 기울임 · 궤적은 그대로, 자세만 변함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213969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 Yaw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534656" y="21396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수평으로 선회 · 위에서 보면 원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528816" y="245059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Pitch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534656" y="245059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위아래로 선회 · 옆에서 보면 원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34670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 한 건이 궤적에 걸리는 방식</a:t>
            </a:r>
            <a:endParaRPr lang="en-US" sz="1400" dirty="0"/>
          </a:p>
        </p:txBody>
      </p:sp>
      <p:sp>
        <p:nvSpPr>
          <p:cNvPr id="19" name="Rectangle 18"/>
          <p:cNvSpPr/>
          <p:nvPr/>
        </p:nvSpPr>
        <p:spPr>
          <a:xfrm>
            <a:off x="566928" y="3694176"/>
            <a:ext cx="5394960" cy="2377440"/>
          </a:xfrm>
          <a:prstGeom prst="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2960" y="3877056"/>
            <a:ext cx="4882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필드가 뜻하는 것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822960" y="4242816"/>
          <a:ext cx="4882896" cy="1371600"/>
        </p:xfrm>
        <a:graphic>
          <a:graphicData uri="http://schemas.openxmlformats.org/drawingml/2006/table">
            <a:tbl>
              <a:tblPr firstRow="0" bandRow="0" firstCol="0" bandCol="0" lastRow="0" lastCol="0"/>
              <a:tblGrid>
                <a:gridCol w="1691640"/>
                <a:gridCol w="319125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필드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enTurnType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회전축 — 0 없음 · 1 Roll · 2 Yaw · 3 Pitch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gravityValue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중력 배수 [G], 부호가 회전 방향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startTime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기동이 시작되는 시각 [s]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endTime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기동이 끝나는 시각 [s]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6272784" y="3694176"/>
            <a:ext cx="5349240" cy="2377440"/>
          </a:xfrm>
          <a:prstGeom prst="rect">
            <a:avLst/>
          </a:prstGeom>
          <a:solidFill>
            <a:srgbClr val="DB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28816" y="3877056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안에서만 자세가 돌아간다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24528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startTime 부터 endTime 직전까지 자세각이 일정한 각속도로 돌아가고, 구간 밖에서는 각속도가 0 이다. 기동이 끝나면 그때의 침로 그대로 계속 나아간다.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28816" y="5047488"/>
            <a:ext cx="4846320" cy="384048"/>
          </a:xfrm>
          <a:prstGeom prst="rect">
            <a:avLst/>
          </a:prstGeom>
          <a:solidFill>
            <a:srgbClr val="15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528816" y="5047488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ω = gravityValue × 9.80665 / V_heading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8816" y="5541264"/>
            <a:ext cx="48463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1524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예)  2, −1.0, 8.0, 10.4  </a:t>
            </a:r>
            <a:r>
              <a:rPr sz="1050" b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8.0 ~ 10.4 초 동안 1G 좌선회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구현 방법  ·  1-(2) 표적 상태 정보 갱신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5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좌표계 — ECEF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98448"/>
            <a:ext cx="5394960" cy="2103120"/>
          </a:xfrm>
          <a:prstGeom prst="roundRect">
            <a:avLst>
              <a:gd name="adj" fmla="val 1739"/>
            </a:avLst>
          </a:prstGeom>
          <a:solidFill>
            <a:srgbClr val="DBEEF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41248" y="14996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는 그냥 더하면 된다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41248" y="1828800"/>
            <a:ext cx="4864608" cy="566928"/>
          </a:xfrm>
          <a:prstGeom prst="roundRect">
            <a:avLst>
              <a:gd name="adj" fmla="val 4839"/>
            </a:avLst>
          </a:prstGeom>
          <a:solidFill>
            <a:srgbClr val="16273F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87552" y="193852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새 위치 = 이전 위치 + 속도 x 0.1초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505456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중심이 원점인 평범한 x·y·z 직교좌표. 위치 갱신이 벡터 덧셈 한 줄로 끝난다.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72784" y="1298448"/>
            <a:ext cx="5349240" cy="2103120"/>
          </a:xfrm>
          <a:prstGeom prst="roundRect">
            <a:avLst>
              <a:gd name="adj" fmla="val 1739"/>
            </a:avLst>
          </a:prstGeom>
          <a:solidFill>
            <a:srgbClr val="DAE4F2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547104" y="14996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위도·경도로는 그렇게 안 된다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547104" y="18288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동쪽으로 1 m 갔을 때 경도가 얼마나 변하는지가 위도마다 다르다. 위로 갈수록 경도선 사이가 좁아지기 때문이다.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47104" y="2304288"/>
          <a:ext cx="48463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24231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동쪽 1 m 이동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경도 변화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적도 (위도 0°)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0.0000090°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위도 60°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0.0000179°  (약 두 배)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566928" y="3547872"/>
            <a:ext cx="11055096" cy="1243584"/>
          </a:xfrm>
          <a:prstGeom prst="roundRect">
            <a:avLst>
              <a:gd name="adj" fmla="val 2941"/>
            </a:avLst>
          </a:prstGeom>
          <a:solidFill>
            <a:srgbClr val="EDF1F6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859536" y="371246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ECEF → 위경도 변환을 매 스텝 해야 한다. 변환 정확도가 곧 궤적 정확도다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59536" y="40233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소스의 변환은 같은 계산을 5번 반복해 위도와 고도를 다듬는다. 반복 횟수가 고정이라 위도가 아주 높거나 고도가 크면 수렴이 모자랄 수 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과제 조건(위도 32도, 고도 0 ~ 300 m)에서는 5번이면 충분하다. 폐형식(Bowring)과 맞춰 보니 60초 내내 수평 차이 0.0003 mm, 고도 유지 오차 0.03 mm 였다.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4956048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스텝에서 위치가 갱신되는 경로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15243A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66928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위치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2514600" y="5285232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2843784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E2E9F1"/>
          </a:solidFill>
          <a:ln/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2843784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속도 × 0.1초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791456" y="5285232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120640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15243A"/>
          </a:solidFill>
          <a:ln/>
        </p:spPr>
        <p:txBody>
          <a:bodyPr/>
          <a:p/>
        </p:txBody>
      </p:sp>
      <p:sp>
        <p:nvSpPr>
          <p:cNvPr id="27" name="Text 24"/>
          <p:cNvSpPr txBox="1"/>
          <p:nvPr/>
        </p:nvSpPr>
        <p:spPr>
          <a:xfrm>
            <a:off x="5120640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ECEF 위치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068312" y="5285232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397496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E2E9F1"/>
          </a:solidFill>
          <a:ln/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7397496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소스 변환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9345168" y="5285232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9674352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15243A"/>
          </a:solidFill>
          <a:ln/>
        </p:spPr>
        <p:txBody>
          <a:bodyPr/>
          <a:p/>
        </p:txBody>
      </p:sp>
      <p:sp>
        <p:nvSpPr>
          <p:cNvPr id="33" name="Text 30"/>
          <p:cNvSpPr txBox="1"/>
          <p:nvPr/>
        </p:nvSpPr>
        <p:spPr>
          <a:xfrm>
            <a:off x="9674352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위도·경도·고도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구현 방법  ·  1-(2) 추가 고민 항목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5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동체 속도 → ECEF 속도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61872"/>
            <a:ext cx="11055096" cy="1005840"/>
          </a:xfrm>
          <a:prstGeom prst="roundRect">
            <a:avLst>
              <a:gd name="adj" fmla="val 3636"/>
            </a:avLst>
          </a:prstGeom>
          <a:solidFill>
            <a:srgbClr val="E2E9F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59536" y="1389888"/>
            <a:ext cx="10469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Yaw 180° 는 "남쪽을 보고 있다"는 뜻이다. 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그 남쪽이 우주에서 어느 방향인지는 내가 어디에 서 있느냐에 따라 다르다.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서울에서의 남쪽과 브라질에서의 남쪽은 완전히 다른 방향이다. 그래서 회전을 두 번 나눠서 한다.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432304"/>
            <a:ext cx="3511296" cy="1371600"/>
          </a:xfrm>
          <a:prstGeom prst="roundRect">
            <a:avLst>
              <a:gd name="adj" fmla="val 2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04672" y="2615184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04672" y="2615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62432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V_body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2999232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(200, 0, 0)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327355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기수 방향으로 200 m/s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078224" y="2432304"/>
            <a:ext cx="256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352544" y="2432304"/>
            <a:ext cx="3511296" cy="1371600"/>
          </a:xfrm>
          <a:prstGeom prst="roundRect">
            <a:avLst>
              <a:gd name="adj" fmla="val 2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90288" y="2615184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4590288" y="2615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92624" y="262432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V_ned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90288" y="2999232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자세각으로 회전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327355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선 자리의 북·동·아래 성분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2432304"/>
            <a:ext cx="256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38160" y="2432304"/>
            <a:ext cx="3511296" cy="1371600"/>
          </a:xfrm>
          <a:prstGeom prst="roundRect">
            <a:avLst>
              <a:gd name="adj" fmla="val 2667"/>
            </a:avLst>
          </a:prstGeom>
          <a:solidFill>
            <a:srgbClr val="DBEEF5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375904" y="2615184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375904" y="2615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262432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V_ecef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75904" y="2999232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위경도로 회전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375904" y="327355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좌표계 성분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3950208"/>
            <a:ext cx="6720840" cy="2212848"/>
          </a:xfrm>
          <a:prstGeom prst="roundRect">
            <a:avLst>
              <a:gd name="adj" fmla="val 1240"/>
            </a:avLst>
          </a:prstGeom>
          <a:solidFill>
            <a:srgbClr val="16273F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13232" y="4059936"/>
            <a:ext cx="642823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STRUCT_Coord_Rect f_Tgt_GetVelEcef(const STRUCT_Coord_Attitude *st_Att,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const STRUCT_Coord_Lla *st_Lla, FLOAT64 headingSpeed)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STRUCT_Coord_Rect  st_VelNed;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참고 소스는 Roll, Yaw, Pitch 순서로 받는다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st_VelNed = f_Trans_Body_To_Ned(headingSpeed, 0.0, 0.0,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st_Att-&gt;Roll, st_Att-&gt;Yaw, st_Att-&gt;Pitch);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방향만 옮기므로 기준점은 원점으로 준다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f_Trans_Ned_To_Ecef(st_VelNed.x, st_VelNed.y, st_VelNed.z,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0.0, 0.0, 0.0, st_Lla-&gt;Lat, st_Lla-&gt;Lon);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507224" y="3950208"/>
            <a:ext cx="4114800" cy="2212848"/>
          </a:xfrm>
          <a:prstGeom prst="roundRect">
            <a:avLst>
              <a:gd name="adj" fmla="val 1653"/>
            </a:avLst>
          </a:prstGeom>
          <a:solidFill>
            <a:srgbClr val="EDF1F6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763256" y="4151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두 번 나눠 도는가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7763256" y="5669280"/>
            <a:ext cx="3621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번째 회전은 표적이 움직일 때마다 다시 만든다</a:t>
            </a:r>
            <a:endParaRPr lang="en-US" sz="1050" dirty="0"/>
          </a:p>
        </p:txBody>
      </p:sp>
      <p:pic>
        <p:nvPicPr>
          <p:cNvPr id="34" name="Picture 33" descr="dg_sou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3256" y="4443984"/>
            <a:ext cx="362102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구현 방법  ·  1-(2) 표적 상태 정보 갱신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5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기동과 선회 반경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80160"/>
            <a:ext cx="11055096" cy="566928"/>
          </a:xfrm>
          <a:prstGeom prst="roundRect">
            <a:avLst>
              <a:gd name="adj" fmla="val 6452"/>
            </a:avLst>
          </a:prstGeom>
          <a:solidFill>
            <a:srgbClr val="E2E9F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59536" y="1426464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기동은 위치를 직접 건드리지 않는다.  </a:t>
            </a:r>
            <a:pPr indent="0" marL="0">
              <a:buNone/>
            </a:pPr>
            <a:r>
              <a:rPr lang="en-US" sz="12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자세각을 돌리면 다음 스텝의 속도 방향이 바뀌고, 그 결과로 궤적이 휜다.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1993392"/>
            <a:ext cx="5394960" cy="2148840"/>
          </a:xfrm>
          <a:prstGeom prst="roundRect">
            <a:avLst>
              <a:gd name="adj" fmla="val 170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41248" y="21945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G 로 돌면 얼마나 빨리 도는가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5054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원운동에서 안쪽으로 당기는 가속도는 속력 × 각속도. Gravity Value 는 이 가속도를 중력의 몇 배로 준 것이다.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" y="3017520"/>
            <a:ext cx="4864608" cy="950976"/>
          </a:xfrm>
          <a:prstGeom prst="roundRect">
            <a:avLst>
              <a:gd name="adj" fmla="val 3061"/>
            </a:avLst>
          </a:prstGeom>
          <a:solidFill>
            <a:srgbClr val="16273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87552" y="3127248"/>
            <a:ext cx="4572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 × ω  =  n × g          ω  =  n × 9.80665 / V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선회 반경  R  =  V / ω  =  V² / (n × g)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선회 주기  T  =  2π V / (n × g)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72784" y="1993392"/>
            <a:ext cx="5349240" cy="2148840"/>
          </a:xfrm>
          <a:prstGeom prst="roundRect">
            <a:avLst>
              <a:gd name="adj" fmla="val 1702"/>
            </a:avLst>
          </a:prstGeom>
          <a:solidFill>
            <a:srgbClr val="F7F9FC"/>
          </a:solidFill>
          <a:ln/>
        </p:spPr>
        <p:txBody>
          <a:bodyPr/>
          <a:p/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389120"/>
          <a:ext cx="7205472" cy="914400"/>
        </p:xfrm>
        <a:graphic>
          <a:graphicData uri="http://schemas.openxmlformats.org/drawingml/2006/table">
            <a:tbl>
              <a:tblPr/>
              <a:tblGrid>
                <a:gridCol w="1115568"/>
                <a:gridCol w="749808"/>
                <a:gridCol w="1188720"/>
                <a:gridCol w="1325880"/>
                <a:gridCol w="1280160"/>
                <a:gridCol w="154533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각속도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선회 반경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바퀴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0.1초에 도는 각도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m/s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18.7 °/s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92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 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1.87°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m/s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37.5 °/s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9.6 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3.75°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 m/s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 °/s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4,079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128.1 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0.28°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 m/s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5.6 °/s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2,039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64.1 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0.56°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6"/>
          <p:cNvSpPr/>
          <p:nvPr/>
        </p:nvSpPr>
        <p:spPr>
          <a:xfrm>
            <a:off x="8101584" y="4389120"/>
            <a:ext cx="3520440" cy="1682496"/>
          </a:xfrm>
          <a:prstGeom prst="roundRect">
            <a:avLst>
              <a:gd name="adj" fmla="val 2174"/>
            </a:avLst>
          </a:prstGeom>
          <a:solidFill>
            <a:srgbClr val="EDF1F6"/>
          </a:solidFill>
          <a:ln/>
        </p:spPr>
        <p:txBody>
          <a:bodyPr/>
          <a:p/>
        </p:txBody>
      </p:sp>
      <p:sp>
        <p:nvSpPr>
          <p:cNvPr id="17" name="Text 17"/>
          <p:cNvSpPr txBox="1"/>
          <p:nvPr/>
        </p:nvSpPr>
        <p:spPr>
          <a:xfrm>
            <a:off x="8357616" y="45720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G 라도 느린 표적이 훨씬 급하게 돈다.</a:t>
            </a:r>
            <a:endParaRPr lang="en-US" sz="1200" dirty="0"/>
          </a:p>
        </p:txBody>
      </p:sp>
      <p:sp>
        <p:nvSpPr>
          <p:cNvPr id="18" name="Text 18"/>
          <p:cNvSpPr txBox="1"/>
          <p:nvPr/>
        </p:nvSpPr>
        <p:spPr>
          <a:xfrm>
            <a:off x="8357616" y="488289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m/s 배는 2G 로 반경 46 m 안에서 돌고, 200 m/s 비행기는 같은 2G 로 2 km 짜리 원을 그린다. 익숙한 감각과 반대다.</a:t>
            </a:r>
            <a:endParaRPr lang="en-US" sz="1100" dirty="0"/>
          </a:p>
        </p:txBody>
      </p:sp>
      <p:sp>
        <p:nvSpPr>
          <p:cNvPr id="19" name="TextBox 21"/>
          <p:cNvSpPr txBox="1"/>
          <p:nvPr/>
        </p:nvSpPr>
        <p:spPr>
          <a:xfrm>
            <a:off x="6547104" y="219456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보면</a:t>
            </a:r>
          </a:p>
        </p:txBody>
      </p:sp>
      <p:pic>
        <p:nvPicPr>
          <p:cNvPr id="20" name="Picture 22" descr="dg_t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4" y="2523744"/>
            <a:ext cx="484632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구현 방법  ·  1-(2) 표적 상태 정보 갱신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5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적분 방법 — 중점법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80160"/>
            <a:ext cx="5394960" cy="1417320"/>
          </a:xfrm>
          <a:prstGeom prst="roundRect">
            <a:avLst>
              <a:gd name="adj" fmla="val 2817"/>
            </a:avLst>
          </a:prstGeom>
          <a:solidFill>
            <a:srgbClr val="DAE4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41248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0.1초인데 무엇이 갈리나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1773936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0.1초 동안 속도가 안 변한다고 치고 직선으로 옮긴다. 그 "안 변하는 속도"를 시작(0초) 시점에서 뽑으면 도는 내내 뒤처진 방향으로 간다. 그래서 한가운데(0.05초)의 자세와 위치로 속도를 만들어 쓴다.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72784" y="1280160"/>
            <a:ext cx="5349240" cy="1417320"/>
          </a:xfrm>
          <a:prstGeom prst="roundRect">
            <a:avLst>
              <a:gd name="adj" fmla="val 2817"/>
            </a:avLst>
          </a:prstGeom>
          <a:solidFill>
            <a:srgbClr val="DBEEF5"/>
          </a:solidFill>
          <a:ln/>
        </p:spPr>
        <p:txBody>
          <a:bodyPr/>
          <a:p/>
        </p:txBody>
      </p:sp>
      <p:sp>
        <p:nvSpPr>
          <p:cNvPr id="11" name="Shape 11"/>
          <p:cNvSpPr/>
          <p:nvPr/>
        </p:nvSpPr>
        <p:spPr>
          <a:xfrm>
            <a:off x="566928" y="2761488"/>
            <a:ext cx="6629400" cy="2212848"/>
          </a:xfrm>
          <a:prstGeom prst="roundRect">
            <a:avLst>
              <a:gd name="adj" fmla="val 1376"/>
            </a:avLst>
          </a:prstGeom>
          <a:solidFill>
            <a:srgbClr val="16273F"/>
          </a:solidFill>
          <a:ln/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713232" y="2871216"/>
            <a:ext cx="633679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halfStep = 0.5 * stepTime;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st_AttMid.Yaw = st_State-&gt;st_Att.Yaw + (st_Rate-&gt;Yaw * halfStep);      // 중앙 자세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st_VelStart = f_Tgt_GetVelEcef(&amp;st_State-&gt;st_Att, &amp;st_State-&gt;st_Lla, headingSpeed);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st_PosMid.x = st_State-&gt;st_PosEcef.x + (st_VelStart.x * halfStep);     // 반 스텝만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st_PosMid.y = ... ;     st_PosMid.z = ... ;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st_LlaMid = f_Trans_Ecef_To_Lla(st_PosMid.x, st_PosMid.y, st_PosMid.z);  // 중앙 위치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st_VelMid = f_Tgt_GetVelEcef(&amp;st_AttMid, &amp;st_LlaMid, headingSpeed);      // 중앙 속도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st_Next.st_PosEcef.x = st_State-&gt;st_PosEcef.x + (st_VelMid.x * stepTime);</a:t>
            </a:r>
            <a:endParaRPr lang="en-US" sz="950" dirty="0"/>
          </a:p>
        </p:txBody>
      </p:sp>
      <p:sp>
        <p:nvSpPr>
          <p:cNvPr id="13" name="Shape 13"/>
          <p:cNvSpPr/>
          <p:nvPr/>
        </p:nvSpPr>
        <p:spPr>
          <a:xfrm>
            <a:off x="7507224" y="2761488"/>
            <a:ext cx="4114800" cy="2286000"/>
          </a:xfrm>
          <a:prstGeom prst="roundRect">
            <a:avLst>
              <a:gd name="adj" fmla="val 1653"/>
            </a:avLst>
          </a:prstGeom>
          <a:solidFill>
            <a:srgbClr val="EDF1F6"/>
          </a:solidFill>
          <a:ln/>
        </p:spPr>
        <p:txBody>
          <a:bodyPr/>
          <a:p/>
        </p:txBody>
      </p:sp>
      <p:sp>
        <p:nvSpPr>
          <p:cNvPr id="14" name="Text 14"/>
          <p:cNvSpPr txBox="1"/>
          <p:nvPr/>
        </p:nvSpPr>
        <p:spPr>
          <a:xfrm>
            <a:off x="6547104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간격을 줄이면 — 200 m/s · 1G 선회 · 60초 뒤 위치 오차</a:t>
            </a:r>
            <a:endParaRPr lang="en-US" sz="13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47104" y="1773936"/>
          <a:ext cx="4846320" cy="841248"/>
        </p:xfrm>
        <a:graphic>
          <a:graphicData uri="http://schemas.openxmlformats.org/drawingml/2006/table">
            <a:tbl>
              <a:tblPr/>
              <a:tblGrid>
                <a:gridCol w="914400"/>
                <a:gridCol w="1353312"/>
                <a:gridCol w="1353312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방향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중점법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19.9 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0.008 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0.05초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9.95 m  (1/2)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0.002 m  (1/4)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7"/>
          <p:cNvSpPr/>
          <p:nvPr/>
        </p:nvSpPr>
        <p:spPr>
          <a:xfrm>
            <a:off x="566928" y="5157216"/>
            <a:ext cx="11055096" cy="932688"/>
          </a:xfrm>
          <a:prstGeom prst="roundRect">
            <a:avLst>
              <a:gd name="adj" fmla="val 3922"/>
            </a:avLst>
          </a:prstGeom>
          <a:solidFill>
            <a:srgbClr val="E2E9F1"/>
          </a:solidFill>
          <a:ln/>
        </p:spPr>
        <p:txBody>
          <a:bodyPr/>
          <a:p/>
        </p:txBody>
      </p:sp>
      <p:sp>
        <p:nvSpPr>
          <p:cNvPr id="17" name="Text 18"/>
          <p:cNvSpPr txBox="1"/>
          <p:nvPr/>
        </p:nvSpPr>
        <p:spPr>
          <a:xfrm>
            <a:off x="859536" y="5321808"/>
            <a:ext cx="10469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pPr indent="0" marL="0">
              <a:lnSpc>
                <a:spcPct val="125000"/>
              </a:lnSpc>
              <a:buNone/>
            </a:pPr>
            <a:pPr indent="0" marL="0">
              <a:lnSpc>
                <a:spcPct val="125000"/>
              </a:lnSpc>
              <a:buNone/>
            </a:pPr>
            <a:pPr indent="0" marL="0">
              <a:lnSpc>
                <a:spcPct val="125000"/>
              </a:lnSpc>
              <a:buNone/>
            </a:pPr>
            <a:r>
              <a:rPr sz="110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반경은 두 방법 모두 정확하다. </a:t>
            </a:r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차이는 궤적이 반 스텝(10 m)만큼 옆으로 밀리는 것으로 나타난다. 드는 비용은 스텝당 속도 계산 두 번과 위경도 변환 한 번뿐이라, 같은 정확도를 시작 방향으로 내려는 것보다 훨씬 싸다.</a:t>
            </a:r>
            <a:endParaRPr lang="en-US" sz="1100" dirty="0"/>
          </a:p>
          <a:p>
            <a:r>
              <a:rPr sz="1100" b="1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 하나 — </a:t>
            </a:r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자세를 roll·pitch·yaw 로 직접 다루므로 pitch 가 ±90° 근처면 yaw 축이 진행 방향과 겹쳐(짐벌락) yaw 기동이 궤적을 바꾸지 못한다.</a:t>
            </a:r>
          </a:p>
        </p:txBody>
      </p:sp>
      <p:sp>
        <p:nvSpPr>
          <p:cNvPr id="18" name="TextBox 22"/>
          <p:cNvSpPr txBox="1"/>
          <p:nvPr/>
        </p:nvSpPr>
        <p:spPr>
          <a:xfrm>
            <a:off x="7735824" y="2926080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스텝 안에서 무엇이 갈리나</a:t>
            </a:r>
          </a:p>
        </p:txBody>
      </p:sp>
      <p:pic>
        <p:nvPicPr>
          <p:cNvPr id="19" name="Picture 23" descr="dg_mi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5824" y="3255264"/>
            <a:ext cx="36576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시뮬레이션 조건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5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조건값과 실행 순서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5096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397496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주어진 조건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설정값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시뮬레이션 시간 / 갱신 간격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durationTime = 60.0  ·  stepTime = 0.1  →  600 스텝, 표본 601개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플랫폼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32.0°N, 126.0°E, 0 m, 0 m/s  (정지)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대함 표적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32.125°N, 126.03°E, 0 m, 30 m/s, Yaw 270° (서쪽)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대공 표적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32.12°N, 126.0°E, 300 m, 200 m/s, Yaw 180° (남쪽)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nTargetNum = 2   ·   기동 없음 (등속 직진)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66928" y="331012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768096" y="3803904"/>
            <a:ext cx="274320" cy="274320"/>
          </a:xfrm>
          <a:prstGeom prst="ellipse">
            <a:avLst/>
          </a:prstGeom>
          <a:solidFill>
            <a:srgbClr val="15243A"/>
          </a:solidFill>
          <a:ln/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768096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구성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68096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값을 읽어 도 → 라디안 변환. 형식·범위 검사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587752" y="3639312"/>
            <a:ext cx="23774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2825496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3026664" y="3803904"/>
            <a:ext cx="274320" cy="274320"/>
          </a:xfrm>
          <a:prstGeom prst="ellipse">
            <a:avLst/>
          </a:prstGeom>
          <a:solidFill>
            <a:srgbClr val="15243A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3026664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3374136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검증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3026664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수, 스텝 수가 정수배인지, 기동 시각 순서·겹침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846320" y="3639312"/>
            <a:ext cx="23774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084064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5285232" y="3803904"/>
            <a:ext cx="274320" cy="274320"/>
          </a:xfrm>
          <a:prstGeom prst="ellipse">
            <a:avLst/>
          </a:prstGeom>
          <a:solidFill>
            <a:srgbClr val="15243A"/>
          </a:solidFill>
          <a:ln/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5285232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32704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초기화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285232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위경고도 → ECEF, 자세 → 초기 속도 벡터 생성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104888" y="3639312"/>
            <a:ext cx="23774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342632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7543800" y="3803904"/>
            <a:ext cx="274320" cy="274320"/>
          </a:xfrm>
          <a:prstGeom prst="ellipse">
            <a:avLst/>
          </a:prstGeom>
          <a:solidFill>
            <a:srgbClr val="15243A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7543800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891272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600회 반복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7543800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→ 표적 순서로 한 스텝씩. 모두 성공해야 반영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9363456" y="3639312"/>
            <a:ext cx="23774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9601200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DBEEF5"/>
          </a:solidFill>
          <a:ln/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9802368" y="3803904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35" name="Text 32"/>
          <p:cNvSpPr txBox="1"/>
          <p:nvPr/>
        </p:nvSpPr>
        <p:spPr>
          <a:xfrm>
            <a:off x="9802368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0149840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9802368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 601개 → LLA 표 · CSV · 궤적 그림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66928" y="5193792"/>
            <a:ext cx="5394960" cy="896112"/>
          </a:xfrm>
          <a:prstGeom prst="roundRect">
            <a:avLst>
              <a:gd name="adj" fmla="val 4082"/>
            </a:avLst>
          </a:prstGeom>
          <a:solidFill>
            <a:srgbClr val="EDF1F6"/>
          </a:solidFill>
          <a:ln/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841248" y="5358384"/>
            <a:ext cx="4864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시각은 더하지 않고 곱한다.  </a:t>
            </a:r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 을 600번 더하면 60.0000000000006 이 되지만, 600 × 0.1 은 정확히 60.0 이다.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6272784" y="5193792"/>
            <a:ext cx="5349240" cy="896112"/>
          </a:xfrm>
          <a:prstGeom prst="roundRect">
            <a:avLst>
              <a:gd name="adj" fmla="val 4082"/>
            </a:avLst>
          </a:prstGeom>
          <a:solidFill>
            <a:srgbClr val="EDF1F6"/>
          </a:solidFill>
          <a:ln/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6547104" y="5358384"/>
            <a:ext cx="4846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스텝은 통째로 성공하거나 통째로 실패한다.  </a:t>
            </a:r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사본에서 전부 진행한 뒤 반영하므로 시각이 섞인 중간 상태가 나오지 않는다.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시뮬레이션 조건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25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초기값 — 조건이 ECEF 로 바뀐 모습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261872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 = 0 에서 계산된 ECEF 초기값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51960"/>
                <a:gridCol w="3657600"/>
                <a:gridCol w="1956816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ECEF 위치 [m]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ECEF 속도 [m/s]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플랫폼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(−3 182 303.6,  4 380 065.1,  3 360 431.4)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(0, 0, 0)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(−3 180 268.5,  4 372 447.8,  3 372 178.2)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(24.2613, 17.6463, 0.0000)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30.000000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(−3 178 301.3,  4 374 556.4,  3 371 868.1)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(−62.5044, 86.0299, −169.3873)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200.000000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ectangle 13"/>
          <p:cNvSpPr/>
          <p:nvPr/>
        </p:nvSpPr>
        <p:spPr>
          <a:xfrm>
            <a:off x="566928" y="2788920"/>
            <a:ext cx="11055096" cy="2971800"/>
          </a:xfrm>
          <a:prstGeom prst="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14"/>
          <p:cNvSpPr txBox="1"/>
          <p:nvPr/>
        </p:nvSpPr>
        <p:spPr>
          <a:xfrm>
            <a:off x="859536" y="2944368"/>
            <a:ext cx="104698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숫자들을 어떻게 읽나</a:t>
            </a:r>
          </a:p>
        </p:txBody>
      </p:sp>
      <p:pic>
        <p:nvPicPr>
          <p:cNvPr id="11" name="Picture 15" descr="dg_ec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3291840"/>
            <a:ext cx="104698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시뮬레이션 조건  ·  기동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 지점을 기동 시간표로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80160"/>
            <a:ext cx="5394960" cy="1298448"/>
          </a:xfrm>
          <a:prstGeom prst="rect">
            <a:avLst/>
          </a:prstGeom>
          <a:solidFill>
            <a:srgbClr val="DA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146304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요구는 위치로 온다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773936"/>
            <a:ext cx="48463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지그재그 기동은 "Lat 32.1 에서 왼쪽으로 90도" 처럼 좌표로 주어진다. 그런데 기동 구조체에는 시작 시각과 종료 시각 칸뿐이고 위치를 적을 칸이 없다. 좌표를 시각으로 번역해 줘야 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280160"/>
            <a:ext cx="5349240" cy="1298448"/>
          </a:xfrm>
          <a:prstGeom prst="rect">
            <a:avLst/>
          </a:prstGeom>
          <a:solidFill>
            <a:srgbClr val="DB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47104" y="146304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한 번 돌려 보고 시각을 읽는다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1773936"/>
            <a:ext cx="48463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Core 를 그대로 링크한 도구로 앞에서부터 한 기동씩 푼다. 지금까지 정한 기동만 넣고 돌려서, 지정한 좌표를 넘는 순간의 시각을 그 기동의 시작 시각으로 적고 다음 기동으로 넘어간다.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761488"/>
            <a:ext cx="5394960" cy="2212848"/>
          </a:xfrm>
          <a:prstGeom prst="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292608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짚을 것 1 — 도는 동안에도 계속 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236976"/>
            <a:ext cx="48463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지정한 위도에서 꺾기 시작하면 90도를 다 돌았을 때는 이미 선회 반경만큼 더 내려가 있다. 그래서 회전이 끝나는 자리가 지정 좌표가 되도록 반경만큼 미리 꺾는다.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41248" y="3931920"/>
          <a:ext cx="4846320" cy="768096"/>
        </p:xfrm>
        <a:graphic>
          <a:graphicData uri="http://schemas.openxmlformats.org/drawingml/2006/table">
            <a:tbl>
              <a:tblPr firstRow="0" bandRow="0" firstCol="0" bandCol="0" lastRow="0" lastCol="0"/>
              <a:tblGrid>
                <a:gridCol w="2331720"/>
                <a:gridCol w="2514600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대공 1기동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위도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꺾기 시작 (트리거)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32.114950°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회전 끝 = 직진 시작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32.110467°  ← 여기가 목표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41248" y="4736592"/>
            <a:ext cx="4846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 0.004483° = 497 m = 선회 반경 497 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2784" y="2761488"/>
            <a:ext cx="5349240" cy="2212848"/>
          </a:xfrm>
          <a:prstGeom prst="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47104" y="292608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짚을 것 2 — 시작도 끝도 0.1 초 격자 위에만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3236976"/>
            <a:ext cx="48463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 시간이 0.1 초의 정수배여야 한다. 그래서 45 · 90 · 150 도를 정확히 맞출 수 없다. 부호가 번갈아 상쇄되어 누적 침로 오차는 0.1 도 수준이다.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67912"/>
            <a:ext cx="48463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>
                <a:solidFill>
                  <a:srgbClr val="1524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= dYaw[rad] × V / (g × T)</a:t>
            </a:r>
            <a:r>
              <a:rPr sz="1000" b="0">
                <a:solidFill>
                  <a:srgbClr val="5C6B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g = 9.80665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547104" y="4169663"/>
          <a:ext cx="4846320" cy="768096"/>
        </p:xfrm>
        <a:graphic>
          <a:graphicData uri="http://schemas.openxmlformats.org/drawingml/2006/table">
            <a:tbl>
              <a:tblPr firstRow="0" bandRow="0" firstCol="0" bandCol="0" lastRow="0" lastCol="0"/>
              <a:tblGrid>
                <a:gridCol w="1417320"/>
                <a:gridCol w="1234440"/>
                <a:gridCol w="960120"/>
                <a:gridCol w="1234440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 · 목표각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회전각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|G|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대함 · 45°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44.9504°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2.4 s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1.000000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대공 · 90° / 150°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89.90° / 149.83°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 / 6.5 s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8.205060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566928" y="5157216"/>
            <a:ext cx="11055096" cy="932688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59536" y="5321808"/>
            <a:ext cx="10469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 지점 10 곳이 기동표 10 줄이 된다. </a:t>
            </a:r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대함 4 줄 · 대공 6 줄. 검출이 0.1 초 격자에 걸려 지정 좌표와 최대 5 m 어긋나는데, 그림으로는 구분되지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시뮬레이션 조건  ·  기동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초 시나리오와 검사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43584"/>
            <a:ext cx="32918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대공 표적 (숫자는 회전이 시작되는 지점)</a:t>
            </a:r>
          </a:p>
        </p:txBody>
      </p:sp>
      <p:pic>
        <p:nvPicPr>
          <p:cNvPr id="8" name="Picture 7" descr="f60_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3291840" cy="363748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995928" y="1243584"/>
            <a:ext cx="76260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초 시나리오 한눈에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995928" y="1481328"/>
          <a:ext cx="7626096" cy="1664208"/>
        </p:xfrm>
        <a:graphic>
          <a:graphicData uri="http://schemas.openxmlformats.org/drawingml/2006/table">
            <a:tbl>
              <a:tblPr firstRow="0" bandRow="0" firstCol="0" bandCol="0" lastRow="0" lastCol="0"/>
              <a:tblGrid>
                <a:gridCol w="2011680"/>
                <a:gridCol w="2807208"/>
                <a:gridCol w="2807208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대함 표적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대공 표적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조건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32.125 / 126.03 / 0 m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32.12 / 126.0 / 300 m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속도 · 침로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m/s · Yaw 270°(서)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 m/s · Yaw 180°(남)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기동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Yaw 선회 4회 (±44.95°)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Yaw 선회 6회 (±89.90° 5 + 149.83°)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|G| · 선회 반경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1.000000 · 92 m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8.205060 · 497 m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스텝당 회전각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1.87°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2.31°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 초 종점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32.125000 / 126.012232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32.079032 / 126.010006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995928" y="3419856"/>
            <a:ext cx="76260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50" b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대함 표적 (좌우 대칭 지그재그)</a:t>
            </a:r>
          </a:p>
        </p:txBody>
      </p:sp>
      <p:pic>
        <p:nvPicPr>
          <p:cNvPr id="12" name="Picture 11" descr="f60_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28" y="3657600"/>
            <a:ext cx="7626096" cy="160294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66928" y="5394960"/>
            <a:ext cx="11055096" cy="694944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5504688"/>
            <a:ext cx="10469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엔진으로 검사했다. </a:t>
            </a:r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사전검사(1 ms 격자 · 시간/간격 정수배 · 기동 시각 격자 · |G| 한계 · 스텝당 회전각 · 기동 겹침), 설정 검증, 속력 30 · 200 m/s 와 고도 300 m 유지까지 전부 통과. 실패 0 건.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기타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 코드 이용과 설명 위치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80160"/>
            <a:ext cx="5394960" cy="3200400"/>
          </a:xfrm>
          <a:prstGeom prst="rect">
            <a:avLst/>
          </a:prstGeom>
          <a:solidFill>
            <a:srgbClr val="DB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146304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 제공한 좌표변환 코드 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773936"/>
            <a:ext cx="4846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좌표변환과 행렬 코드는 한 글자도 고치지 않고 그대로 쓴다. 프로젝트에 넣은 사본이 원본과 바이트 단위로 같음을 확인했다.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41248" y="2414016"/>
          <a:ext cx="4882896" cy="1325880"/>
        </p:xfrm>
        <a:graphic>
          <a:graphicData uri="http://schemas.openxmlformats.org/drawingml/2006/table">
            <a:tbl>
              <a:tblPr firstRow="0" bandRow="0" firstCol="0" bandCol="0" lastRow="0" lastCol="0"/>
              <a:tblGrid>
                <a:gridCol w="2194560"/>
                <a:gridCol w="2688336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엔진이 부르는 함수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f_Trans_Lla_To_Ecef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위경고도 → ECEF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f_Trans_Ecef_To_Lla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ECEF → 위경고도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f_Trans_Body_To_Ned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동체 → NED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f_Trans_Ned_To_Ecef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NED → ECEF (기준점 포함)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41248" y="3858768"/>
            <a:ext cx="48463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CoordinateTransform.c/.h · matrixCalcLib.c/.h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2784" y="1280160"/>
            <a:ext cx="5349240" cy="3200400"/>
          </a:xfrm>
          <a:prstGeom prst="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47104" y="146304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~ (4)  설명은 어디에 있는가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47104" y="1828800"/>
          <a:ext cx="4828032" cy="1170432"/>
        </p:xfrm>
        <a:graphic>
          <a:graphicData uri="http://schemas.openxmlformats.org/drawingml/2006/table">
            <a:tbl>
              <a:tblPr firstRow="0" bandRow="0" firstCol="0" bandCol="0" lastRow="0" lastCol="0"/>
              <a:tblGrid>
                <a:gridCol w="3017520"/>
                <a:gridCol w="181051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과제가 요구한 설명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자료에서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solidFill>
                      <a:srgbClr val="15243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(2) 표적 구조체 정의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~ 7 장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(3) 구현 방법을 코드로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 ~ 11 장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(4) 시뮬레이션 결과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~ 15 장</a:t>
                      </a:r>
                    </a:p>
                  </a:txBody>
                  <a:tcPr marL="88696" marR="88696" marT="51206" marB="51206" anchor="ctr">
                    <a:lnB w="6350" cap="flat" cmpd="sng" algn="ctr">
                      <a:solidFill>
                        <a:srgbClr val="CBD5E1"/>
                      </a:solidFill>
                    </a:lnB>
                    <a:lnT w="6350" cap="flat" cmpd="sng" algn="ctr">
                      <a:solidFill>
                        <a:srgbClr val="CBD5E1"/>
                      </a:solidFill>
                    </a:lnT>
                    <a:lnR w="6350" cap="flat" cmpd="sng" algn="ctr">
                      <a:solidFill>
                        <a:srgbClr val="CBD5E1"/>
                      </a:solidFill>
                    </a:lnR>
                    <a:lnL w="6350" cap="flat" cmpd="sng" algn="ctr">
                      <a:solidFill>
                        <a:srgbClr val="CBD5E1"/>
                      </a:solidFill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547104" y="3163824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구조체는 설정값·상태값·기동 정보 세 장으로, 구현 방법은 좌표계·속도 변환·선회·적분 네 장으로, 결과는 조건값과 초기값, 기동 시나리오 네 장으로 나눠 설명한다.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626864"/>
            <a:ext cx="11055096" cy="1463040"/>
          </a:xfrm>
          <a:prstGeom prst="rect">
            <a:avLst/>
          </a:prstGeom>
          <a:solidFill>
            <a:srgbClr val="E2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9536" y="4791456"/>
            <a:ext cx="10469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원본을 그대로 쓰면서 맞춘 세 가지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138928"/>
            <a:ext cx="10469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인자 순서 — </a:t>
            </a:r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f_Trans_Lla_To_Ecef 는 경도를 먼저, f_Trans_Body_To_Ned 는 Roll · Yaw · Pitch 순서로 받는다. 속도처럼 방향만 옮길 때는 f_Trans_Ned_To_Ecef 에 기준점을 원점으로 준다.</a:t>
            </a:r>
            <a:b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경계 — </a:t>
            </a:r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는 TargetSim.h 한 장만 참조한다. 화면이 쓰는 좌표 변환도 이 헤더로 내보내 원본 함수는 감췄다.</a:t>
            </a:r>
            <a:b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</a:br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r>
              <a:rPr sz="1100" b="1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 이름 — </a:t>
            </a:r>
            <a:r>
              <a:rPr sz="1100" b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코딩룰이 요구하는 FLOAT64 · CHAR 를 Define.h 에 더하고, MFC 와 부딪히는 BOOL 매크로는 뺐다.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583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3560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6FB3D9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1225296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설정과 상태를 나눴다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882896" y="14173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입력값은 안 변하고 상태값만 변한다. 개수는 배열이 아니라 숫자로 관리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1892807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6FB3D9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225296" y="1874519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속도를 숫자 하나로 받았다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882896" y="1874519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방향만 자세각에서 매번 새로 만든다 — 회전뿐이라 속력이 변할 데가 없다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235000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6FB3D9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225296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기동은 네 필드 그대로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82896" y="23317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[start, end) 동안 각속도가 걸리고 그 밖에서는 직진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280720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8BB8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225296" y="2788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계산은 ECEF 에서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82896" y="27889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위경도는 그냥 더할 수 없다. 변환은 참고 소스 코드를 그대로 쓴다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326440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8BB8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225296" y="3246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동체 속도 → ECEF 는 두 번 회전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82896" y="32461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"남쪽"은 서 있는 자리마다 다른 방향이기 때문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3721607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8BB8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1225296" y="3703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스텝은 중점법으로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882896" y="37033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자세와 위치 모두 한가운데 값으로 — 선회할 때 옆으로 밀리는 오차를 상쇄한다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" y="4809744"/>
            <a:ext cx="10561320" cy="1280160"/>
          </a:xfrm>
          <a:prstGeom prst="roundRect">
            <a:avLst>
              <a:gd name="adj" fmla="val 3333"/>
            </a:avLst>
          </a:prstGeom>
          <a:solidFill>
            <a:srgbClr val="1A2E4A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1133856" y="4974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B3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33856" y="5285232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출력 및 검증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초 시나리오를 UI 에서 돌려 LLA 를 CSV 로 저장하고, 속력과 고도가 끝까지 유지되는지 확인한다. 시간 간격을 0.1 → 0.05 로 줄여 오차가 1/4 로 떨어지는지도 함께 본다.</a:t>
            </a:r>
            <a:endParaRPr lang="en-US" sz="1200" dirty="0"/>
          </a:p>
        </p:txBody>
      </p:sp>
      <p:sp>
        <p:nvSpPr>
          <p:cNvPr id="24" name="Rectangle 23"/>
          <p:cNvSpPr/>
          <p:nvPr/>
        </p:nvSpPr>
        <p:spPr>
          <a:xfrm>
            <a:off x="822960" y="4178807"/>
            <a:ext cx="237744" cy="237744"/>
          </a:xfrm>
          <a:prstGeom prst="rect">
            <a:avLst/>
          </a:prstGeom>
          <a:solidFill>
            <a:srgbClr val="6FB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25296" y="4160520"/>
            <a:ext cx="3566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 지점은 좌표로, 기동표는 시각으로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82896" y="4160520"/>
            <a:ext cx="6492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엔진을 그대로 돌려 0.1 초 격자 위의 시각을 찾아 옮겼다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과제 3 - 표적 궤적 모의</dc:title>
  <dc:subject>PptxGenJS Presentation</dc:subject>
  <dc:creator>harley</dc:creator>
  <cp:lastModifiedBy>harley</cp:lastModifiedBy>
  <cp:revision>1</cp:revision>
  <dcterms:created xsi:type="dcterms:W3CDTF">2026-09-17T09:41:30Z</dcterms:created>
  <dcterms:modified xsi:type="dcterms:W3CDTF">2026-09-17T09:41:30Z</dcterms:modified>
</cp:coreProperties>
</file>