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779A347-3E25-444C-94BE-8AFE8DD5828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과제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표적 궤적 모의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오늘은 명세의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번 구현 방법과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번 시뮬레이션 조건까지 다룹니다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결과 출력과 검증은 다음 자료에서 이어집니다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C0FC4D-C5EC-425B-8762-39E2A73D96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과제 명세가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절 구현 방법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2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절 시뮬레이션 조건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3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절 기타 사항 순서로 되어 있어 그 차례를 그대로 따릅니다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1A36EB-27E5-489E-A3D6-657F1B63223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명세는 이 세 가지를 지정하지 않았습니다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구현하려면 반드시 정해야 하는 것들이라 판단 근거를 함께 정리했습니다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C461CE-9587-458E-8B8D-76608129BF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Core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MISRA 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적용한 순수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코드이고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UI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MFC C++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둘 사이에 오가는 자료구조를 두 개로 묶어 두면 나중에 화면을 바꿔도 계산 코드는 손대지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EA65A8-7FC4-43D5-9883-688C37B9B1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설정은 불변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상태는 가변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이렇게 나누면 시뮬레이션 도중 사용자가 화면 값을 바꿔도 진행 중인 계산이 흔들리지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8AECE-BD2F-42A0-A662-6F4D82148E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 선택 덕분에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속력 보존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 나중에 검증해야 할 성질이 아니라 구조적으로 성립하는 성질이 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실제로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초 내내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30.000000 / 200.000000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 나옵니다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195A06-8457-4685-A4A5-6F552CD213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③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은 기동이 하나뿐이면 전혀 문제가 되지 않습니다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표적마다 기동을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개까지 허용했기 때문에 정해야 했던 규칙입니다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C1E05A-3213-46C6-A1A8-E5C5048F47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위경도를 직접 적분하면 곡률반경이 매 스텝 식에 끼어들고 극점에서는 계산이 터집니다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ECEF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로 옮기면 그 문제가 전부 사라집니다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E11CF7-F36B-4E25-8CB5-D881BF0344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 함수가 과제의 핵심입니다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함수가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st_Lla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인자로 받는 이유는 위경도 회전 행렬을 매번 현재 위치로 새로 만들어야 하기 때문입니다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8811D3-3F53-47FD-877D-82801110DA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속력이 분모에 있으므로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이면 안 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표적 속력은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보다 커야 한다는 검사를 미리 겁니다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플랫폼은 기동이 없어 이 나눗셈을 지나가지 않으므로 정지가 허용됩니다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E8D345-DD26-4769-AF05-154AE77A4F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자주 나오는 질문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간격이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초로 같은데 왜 다르냐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간격은 같지만 그 간격을 대표하는 속도를 어느 시점에서 뽑느냐가 다릅니다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잘 고른 대표값인지는 간격을 줄였을 때 오차가 얼마나 빨리 줄어드는지로 드러납니다 — 시작 방향은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1/2,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중점법은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1/4.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중점법은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RK2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라고도 부르고 전역 오차가 간격의 제곱에 비례합니다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2F681A-AC91-4703-82C3-7A7559CF05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표본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601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개는 약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0.66 MB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화면 쪽에서 한 번에 잡고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계산 쪽은 가장 최근 표본 하나만 들고 있습니다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2AAA4-69BB-4709-BBD1-85D39A675D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실측 대조는 다음 단계에서 진행합니다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여기서는 무엇과 비교할 것인지 기준을 먼저 세워 둔 것입니다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921619-4CCC-4585-AF74-5B5F11B610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위치 조건을 시각으로 바꾸는 일은 엔진을 실제로 돌려 보는 것 말고는 방법이 없습니다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도구가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Core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를 그대로 링크하므로 도구가 찾은 시각과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UI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가 돌린 결과가 어긋날 일이 없습니다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7A8816-FD38-4776-998A-4ABBEA0AF82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두 궤적 모두 표본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601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마지막 표본이 정확히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60.0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초입니다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D91A80-070C-45DB-BC60-C395821BA44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제공 코드는 고치지 않는 것이 요구사항이라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맞춰야 할 것은 전부 호출하는 쪽에 두었습니다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D54E705-261A-4BDB-B9F4-49BF223F636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오늘 다룬 범위는 여기까지입니다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다음 자료에서 실제 실행 결과와 검증을 이어갑니다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65822D-4EE5-43D1-81E6-144BB08CA0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554480"/>
            <a:ext cx="3748680" cy="3748680"/>
          </a:xfrm>
          <a:prstGeom prst="ellipse">
            <a:avLst/>
          </a:prstGeom>
          <a:noFill/>
          <a:ln w="15240">
            <a:solidFill>
              <a:srgbClr val="2339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732520" y="2468880"/>
            <a:ext cx="1919880" cy="1919880"/>
          </a:xfrm>
          <a:prstGeom prst="ellipse">
            <a:avLst/>
          </a:prstGeom>
          <a:noFill/>
          <a:ln w="12700">
            <a:solidFill>
              <a:srgbClr val="2339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89720" y="2926080"/>
            <a:ext cx="1005480" cy="1005480"/>
          </a:xfrm>
          <a:prstGeom prst="ellipse">
            <a:avLst/>
          </a:prstGeom>
          <a:noFill/>
          <a:ln w="12700">
            <a:solidFill>
              <a:srgbClr val="2e4a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92640" y="2331720"/>
            <a:ext cx="1435320" cy="1097280"/>
          </a:xfrm>
          <a:prstGeom prst="line">
            <a:avLst/>
          </a:prstGeom>
          <a:ln w="2032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055240" y="2258640"/>
            <a:ext cx="145800" cy="145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888040" y="413316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맑은 고딕"/>
                <a:ea typeface="맑은 고딕"/>
              </a:rPr>
              <a:t>RADAR SW STUDY · PART 3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359080"/>
            <a:ext cx="7680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4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표적 궤적 모의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218760"/>
            <a:ext cx="7680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21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구현 방법 및 시뮬레이션 조건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04172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e93ae"/>
                </a:solidFill>
                <a:latin typeface="맑은 고딕"/>
                <a:ea typeface="맑은 고딕"/>
              </a:rPr>
              <a:t>TargetSimCore (C17 / DLL)  ·  TargetSimUI (MFC)  ·  WGS84 </a:t>
            </a:r>
            <a:r>
              <a:rPr b="0" lang="zh-CN" sz="1200" spc="-1" strike="noStrike">
                <a:solidFill>
                  <a:srgbClr val="7e93ae"/>
                </a:solidFill>
                <a:latin typeface="맑은 고딕"/>
                <a:ea typeface="맑은 고딕"/>
              </a:rPr>
              <a:t>좌표변환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/>
          <p:nvPr/>
        </p:nvSpPr>
        <p:spPr>
          <a:xfrm>
            <a:off x="567000" y="374400"/>
            <a:ext cx="548604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30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목차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/>
          <p:nvPr/>
        </p:nvSpPr>
        <p:spPr>
          <a:xfrm>
            <a:off x="567000" y="904320"/>
            <a:ext cx="10423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2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과제가 요구한 차례를 그대로 따라간다</a:t>
            </a:r>
            <a:r>
              <a:rPr b="0" lang="en-US" sz="12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567000" y="6422760"/>
            <a:ext cx="4571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7000" y="1371600"/>
            <a:ext cx="3501720" cy="283428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1320" y="1627560"/>
            <a:ext cx="456840" cy="456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" name="TextBox 6"/>
          <p:cNvSpPr/>
          <p:nvPr/>
        </p:nvSpPr>
        <p:spPr>
          <a:xfrm>
            <a:off x="841320" y="1725840"/>
            <a:ext cx="45684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/>
          <p:cNvSpPr/>
          <p:nvPr/>
        </p:nvSpPr>
        <p:spPr>
          <a:xfrm>
            <a:off x="1426320" y="1680480"/>
            <a:ext cx="2368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3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/>
          <p:nvPr/>
        </p:nvSpPr>
        <p:spPr>
          <a:xfrm>
            <a:off x="841320" y="2231280"/>
            <a:ext cx="29530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1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표적을 정의하고 움직인다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1320" y="2706480"/>
            <a:ext cx="2953080" cy="13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" name="TextBox 10"/>
          <p:cNvSpPr/>
          <p:nvPr/>
        </p:nvSpPr>
        <p:spPr>
          <a:xfrm>
            <a:off x="841320" y="2907000"/>
            <a:ext cx="127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·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1"/>
          <p:cNvSpPr/>
          <p:nvPr/>
        </p:nvSpPr>
        <p:spPr>
          <a:xfrm>
            <a:off x="1024200" y="2880360"/>
            <a:ext cx="2770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구조체 정의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12"/>
          <p:cNvSpPr/>
          <p:nvPr/>
        </p:nvSpPr>
        <p:spPr>
          <a:xfrm>
            <a:off x="841320" y="3309480"/>
            <a:ext cx="127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·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Box 13"/>
          <p:cNvSpPr/>
          <p:nvPr/>
        </p:nvSpPr>
        <p:spPr>
          <a:xfrm>
            <a:off x="1024200" y="3282840"/>
            <a:ext cx="2770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상태 정보 갱신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3501720" cy="283428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17720" y="1627560"/>
            <a:ext cx="456840" cy="456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" name="TextBox 16"/>
          <p:cNvSpPr/>
          <p:nvPr/>
        </p:nvSpPr>
        <p:spPr>
          <a:xfrm>
            <a:off x="4617720" y="1725840"/>
            <a:ext cx="45684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17"/>
          <p:cNvSpPr/>
          <p:nvPr/>
        </p:nvSpPr>
        <p:spPr>
          <a:xfrm>
            <a:off x="5203080" y="1680480"/>
            <a:ext cx="2368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3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시뮬레이션 조건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18"/>
          <p:cNvSpPr/>
          <p:nvPr/>
        </p:nvSpPr>
        <p:spPr>
          <a:xfrm>
            <a:off x="4617720" y="2231280"/>
            <a:ext cx="29530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1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주어진 조건으로 </a:t>
            </a:r>
            <a:r>
              <a:rPr b="0" lang="en-US" sz="11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60 </a:t>
            </a:r>
            <a:r>
              <a:rPr b="0" lang="zh-CN" sz="11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초를 돌린다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17720" y="2706480"/>
            <a:ext cx="2953080" cy="13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" name="TextBox 20"/>
          <p:cNvSpPr/>
          <p:nvPr/>
        </p:nvSpPr>
        <p:spPr>
          <a:xfrm>
            <a:off x="4617720" y="2907000"/>
            <a:ext cx="127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·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21"/>
          <p:cNvSpPr/>
          <p:nvPr/>
        </p:nvSpPr>
        <p:spPr>
          <a:xfrm>
            <a:off x="4800600" y="2880360"/>
            <a:ext cx="2770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조건값과 실행 순서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Box 22"/>
          <p:cNvSpPr/>
          <p:nvPr/>
        </p:nvSpPr>
        <p:spPr>
          <a:xfrm>
            <a:off x="4617720" y="3309480"/>
            <a:ext cx="127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·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23"/>
          <p:cNvSpPr/>
          <p:nvPr/>
        </p:nvSpPr>
        <p:spPr>
          <a:xfrm>
            <a:off x="4800600" y="3282840"/>
            <a:ext cx="2770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시나리오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Box 24"/>
          <p:cNvSpPr/>
          <p:nvPr/>
        </p:nvSpPr>
        <p:spPr>
          <a:xfrm>
            <a:off x="4617720" y="3711600"/>
            <a:ext cx="127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·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25"/>
          <p:cNvSpPr/>
          <p:nvPr/>
        </p:nvSpPr>
        <p:spPr>
          <a:xfrm>
            <a:off x="4800600" y="3684960"/>
            <a:ext cx="2770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결과 확인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19800" y="1371600"/>
            <a:ext cx="3501720" cy="283428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94120" y="1627560"/>
            <a:ext cx="456840" cy="456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" name="TextBox 28"/>
          <p:cNvSpPr/>
          <p:nvPr/>
        </p:nvSpPr>
        <p:spPr>
          <a:xfrm>
            <a:off x="8394120" y="1725840"/>
            <a:ext cx="45684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29"/>
          <p:cNvSpPr/>
          <p:nvPr/>
        </p:nvSpPr>
        <p:spPr>
          <a:xfrm>
            <a:off x="8979480" y="1680480"/>
            <a:ext cx="2368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3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기타 사항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Box 30"/>
          <p:cNvSpPr/>
          <p:nvPr/>
        </p:nvSpPr>
        <p:spPr>
          <a:xfrm>
            <a:off x="8394120" y="2231280"/>
            <a:ext cx="29530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1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제공 코드 이용과 결과 설명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94120" y="2706480"/>
            <a:ext cx="2953080" cy="13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1320" bIns="-3132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" name="TextBox 32"/>
          <p:cNvSpPr/>
          <p:nvPr/>
        </p:nvSpPr>
        <p:spPr>
          <a:xfrm>
            <a:off x="8394120" y="2907000"/>
            <a:ext cx="127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·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Box 33"/>
          <p:cNvSpPr/>
          <p:nvPr/>
        </p:nvSpPr>
        <p:spPr>
          <a:xfrm>
            <a:off x="8577000" y="2880360"/>
            <a:ext cx="2770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제공 좌표변환 코드 이용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Box 34"/>
          <p:cNvSpPr/>
          <p:nvPr/>
        </p:nvSpPr>
        <p:spPr>
          <a:xfrm>
            <a:off x="8394120" y="3309480"/>
            <a:ext cx="127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·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Box 35"/>
          <p:cNvSpPr/>
          <p:nvPr/>
        </p:nvSpPr>
        <p:spPr>
          <a:xfrm>
            <a:off x="8577000" y="3282840"/>
            <a:ext cx="2770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구조체 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결과 설명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7000" y="4864680"/>
            <a:ext cx="11054880" cy="987120"/>
          </a:xfrm>
          <a:prstGeom prst="rect">
            <a:avLst/>
          </a:prstGeom>
          <a:solidFill>
            <a:srgbClr val="e2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" name="TextBox 37"/>
          <p:cNvSpPr/>
          <p:nvPr/>
        </p:nvSpPr>
        <p:spPr>
          <a:xfrm>
            <a:off x="859680" y="5190120"/>
            <a:ext cx="1046952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과제 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1</a:t>
            </a: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절 → 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2</a:t>
            </a: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절 → 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3</a:t>
            </a: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절 순서 그대로다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.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절에서 표적을 정의하고 한 스텝 나아가는 규칙을 만들고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2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절에서 주어진 조건으로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초를 돌려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LLA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와 그림을 내고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3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절에서 제공 코드 이용과 설명 위치를 정리한다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과제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요구사항과 진행 순서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7000" y="1325880"/>
            <a:ext cx="3511080" cy="2331360"/>
          </a:xfrm>
          <a:prstGeom prst="roundRect">
            <a:avLst>
              <a:gd name="adj" fmla="val 1569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6240" y="1536120"/>
            <a:ext cx="273960" cy="2739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360" y="1572840"/>
            <a:ext cx="268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1. 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00" y="2030040"/>
            <a:ext cx="3035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(1)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구조체 정의 — 표적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10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개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30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개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(2)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상태 정보 갱신 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좌표계에서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(+)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동체 속도를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성분으로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추가 고민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52400" y="1325880"/>
            <a:ext cx="3511080" cy="2331360"/>
          </a:xfrm>
          <a:prstGeom prst="roundRect">
            <a:avLst>
              <a:gd name="adj" fmla="val 1569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1536120"/>
            <a:ext cx="273960" cy="2739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56120" y="1572840"/>
            <a:ext cx="268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2. 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시뮬레이션 조건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0360" y="2030040"/>
            <a:ext cx="3035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0.1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 간격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플랫폼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 +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대함 표적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 +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대공 표적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결과를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LLA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로 출력하고 그림으로 표현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511080" cy="2331360"/>
          </a:xfrm>
          <a:prstGeom prst="roundRect">
            <a:avLst>
              <a:gd name="adj" fmla="val 1569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57760" y="1536120"/>
            <a:ext cx="273960" cy="2739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41520" y="1572840"/>
            <a:ext cx="2688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3. 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기타 사항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75760" y="2030040"/>
            <a:ext cx="3035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(1)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제공한 좌표변환 코드 이용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(2)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구조체 정의 설명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(3)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방법을 코드로 설명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(4)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시뮬레이션 결과 설명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7000" y="3886200"/>
            <a:ext cx="11054880" cy="214848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1320" y="4096440"/>
            <a:ext cx="10515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진행 순서 — 이 자료가 따라가는 차례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41320" y="4498920"/>
            <a:ext cx="1901520" cy="603000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" name="TextBox 21"/>
          <p:cNvSpPr/>
          <p:nvPr/>
        </p:nvSpPr>
        <p:spPr>
          <a:xfrm>
            <a:off x="841320" y="4584240"/>
            <a:ext cx="19015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   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구조체 정의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Box 22"/>
          <p:cNvSpPr/>
          <p:nvPr/>
        </p:nvSpPr>
        <p:spPr>
          <a:xfrm>
            <a:off x="841320" y="4828320"/>
            <a:ext cx="1901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50" spc="-1" strike="noStrike">
                <a:solidFill>
                  <a:srgbClr val="9fb3cc"/>
                </a:solidFill>
                <a:latin typeface="맑은 고딕"/>
                <a:ea typeface="맑은 고딕"/>
              </a:rPr>
              <a:t>1-(1)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23"/>
          <p:cNvSpPr/>
          <p:nvPr/>
        </p:nvSpPr>
        <p:spPr>
          <a:xfrm>
            <a:off x="2743200" y="4708440"/>
            <a:ext cx="2556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999160" y="4498920"/>
            <a:ext cx="1901520" cy="603000"/>
          </a:xfrm>
          <a:prstGeom prst="rect">
            <a:avLst/>
          </a:prstGeom>
          <a:solidFill>
            <a:srgbClr val="e2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" name="TextBox 25"/>
          <p:cNvSpPr/>
          <p:nvPr/>
        </p:nvSpPr>
        <p:spPr>
          <a:xfrm>
            <a:off x="2999160" y="4584240"/>
            <a:ext cx="19015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   </a:t>
            </a:r>
            <a:r>
              <a:rPr b="1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상태 갱신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Box 26"/>
          <p:cNvSpPr/>
          <p:nvPr/>
        </p:nvSpPr>
        <p:spPr>
          <a:xfrm>
            <a:off x="2999160" y="4828320"/>
            <a:ext cx="1901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1-(2)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Box 27"/>
          <p:cNvSpPr/>
          <p:nvPr/>
        </p:nvSpPr>
        <p:spPr>
          <a:xfrm>
            <a:off x="4901040" y="4708440"/>
            <a:ext cx="2556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157360" y="4498920"/>
            <a:ext cx="1901520" cy="603000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" name="TextBox 29"/>
          <p:cNvSpPr/>
          <p:nvPr/>
        </p:nvSpPr>
        <p:spPr>
          <a:xfrm>
            <a:off x="5157360" y="4584240"/>
            <a:ext cx="19015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3   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조건 입력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Box 30"/>
          <p:cNvSpPr/>
          <p:nvPr/>
        </p:nvSpPr>
        <p:spPr>
          <a:xfrm>
            <a:off x="5157360" y="4828320"/>
            <a:ext cx="1901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50" spc="-1" strike="noStrike">
                <a:solidFill>
                  <a:srgbClr val="9fb3cc"/>
                </a:solidFill>
                <a:latin typeface="맑은 고딕"/>
                <a:ea typeface="맑은 고딕"/>
              </a:rPr>
              <a:t>2</a:t>
            </a:r>
            <a:r>
              <a:rPr b="0" lang="zh-CN" sz="95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절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Box 31"/>
          <p:cNvSpPr/>
          <p:nvPr/>
        </p:nvSpPr>
        <p:spPr>
          <a:xfrm>
            <a:off x="7059240" y="4708440"/>
            <a:ext cx="2556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315200" y="4498920"/>
            <a:ext cx="1901520" cy="603000"/>
          </a:xfrm>
          <a:prstGeom prst="rect">
            <a:avLst/>
          </a:prstGeom>
          <a:solidFill>
            <a:srgbClr val="e2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" name="TextBox 33"/>
          <p:cNvSpPr/>
          <p:nvPr/>
        </p:nvSpPr>
        <p:spPr>
          <a:xfrm>
            <a:off x="7315200" y="4584240"/>
            <a:ext cx="19015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4   600 </a:t>
            </a:r>
            <a:r>
              <a:rPr b="1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스텝 실행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Box 34"/>
          <p:cNvSpPr/>
          <p:nvPr/>
        </p:nvSpPr>
        <p:spPr>
          <a:xfrm>
            <a:off x="7315200" y="4828320"/>
            <a:ext cx="1901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2</a:t>
            </a:r>
            <a:r>
              <a:rPr b="0" lang="zh-CN" sz="9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절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Box 35"/>
          <p:cNvSpPr/>
          <p:nvPr/>
        </p:nvSpPr>
        <p:spPr>
          <a:xfrm>
            <a:off x="9217080" y="4708440"/>
            <a:ext cx="2556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473040" y="4498920"/>
            <a:ext cx="1901520" cy="603000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" name="TextBox 37"/>
          <p:cNvSpPr/>
          <p:nvPr/>
        </p:nvSpPr>
        <p:spPr>
          <a:xfrm>
            <a:off x="9473040" y="4584240"/>
            <a:ext cx="19015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5   LLA · 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그림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/>
          <p:cNvSpPr/>
          <p:nvPr/>
        </p:nvSpPr>
        <p:spPr>
          <a:xfrm>
            <a:off x="9473040" y="4828320"/>
            <a:ext cx="19015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50" spc="-1" strike="noStrike">
                <a:solidFill>
                  <a:srgbClr val="9fb3cc"/>
                </a:solidFill>
                <a:latin typeface="맑은 고딕"/>
                <a:ea typeface="맑은 고딕"/>
              </a:rPr>
              <a:t>2</a:t>
            </a:r>
            <a:r>
              <a:rPr b="0" lang="zh-CN" sz="95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절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Box 39"/>
          <p:cNvSpPr/>
          <p:nvPr/>
        </p:nvSpPr>
        <p:spPr>
          <a:xfrm>
            <a:off x="841320" y="5409360"/>
            <a:ext cx="1051524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먼저 표적을 정의하고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(1-(1)),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한 스텝 나아가는 규칙을 세운 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(1-(2)),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주어진 조건을 넣어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600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스텝을 돌리고 결과를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LLA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와 그림으로 낸다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제공한 좌표변환 코드는 이 과정 전부에서 그대로 쓴다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</a:t>
            </a:r>
            <a:r>
              <a:rPr b="0" lang="en-US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  </a:t>
            </a:r>
            <a:r>
              <a:rPr b="0" lang="en-US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·  </a:t>
            </a:r>
            <a:r>
              <a:rPr b="0" lang="zh-CN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준비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전체 구조 — 계산과 화면의 분리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7000" y="1371600"/>
            <a:ext cx="5394600" cy="3702960"/>
          </a:xfrm>
          <a:prstGeom prst="roundRect">
            <a:avLst>
              <a:gd name="adj" fmla="val 988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9680" y="162756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TargetSimCore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9680" y="19569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C17 / DLL · </a:t>
            </a:r>
            <a:r>
              <a:rPr b="0" lang="zh-CN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화면을 전혀 모른다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9680" y="235908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c7293"/>
                </a:solidFill>
                <a:latin typeface="Consolas"/>
                <a:ea typeface="Consolas"/>
              </a:rPr>
              <a:t>Define.h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235908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기본형 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물리 상수 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</a:t>
            </a: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참고 소스 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+ </a:t>
            </a: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보완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9680" y="27432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c7293"/>
                </a:solidFill>
                <a:latin typeface="Consolas"/>
                <a:ea typeface="Consolas"/>
              </a:rPr>
              <a:t>matrixCalcLib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0" y="274320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행렬 연산 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</a:t>
            </a: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참고 소스 원본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9680" y="31273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c7293"/>
                </a:solidFill>
                <a:latin typeface="Consolas"/>
                <a:ea typeface="Consolas"/>
              </a:rPr>
              <a:t>CoordinateTransform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0" y="312732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WGS84 </a:t>
            </a: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좌표변환 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</a:t>
            </a: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참고 소스 원본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9680" y="35114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c7293"/>
                </a:solidFill>
                <a:latin typeface="Consolas"/>
                <a:ea typeface="Consolas"/>
              </a:rPr>
              <a:t>TargetSim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0" y="35114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구조체 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궤적 모의 엔진 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</a:t>
            </a: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자체 작성</a:t>
            </a:r>
            <a:r>
              <a:rPr b="0" lang="en-US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9680" y="4133160"/>
            <a:ext cx="480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표적을 한 스텝 나아가게 하는 계산은 전부 여기 있다</a:t>
            </a:r>
            <a:r>
              <a:rPr b="0" lang="en-US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콘솔이든 웹이든 다른 화면을 붙여도 그대로 쓴다</a:t>
            </a:r>
            <a:r>
              <a:rPr b="0" lang="en-US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72640" y="1371600"/>
            <a:ext cx="5348880" cy="3702960"/>
          </a:xfrm>
          <a:prstGeom prst="roundRect">
            <a:avLst>
              <a:gd name="adj" fmla="val 988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65320" y="162756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TargetSimUI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65320" y="19569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MFC </a:t>
            </a:r>
            <a:r>
              <a:rPr b="0" lang="zh-CN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다이얼로그 </a:t>
            </a:r>
            <a:r>
              <a:rPr b="0" lang="en-US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계산을 하지 않는다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65320" y="2359080"/>
            <a:ext cx="475452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입력 칸을 읽어 도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(°) →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라디안 변환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Core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에 넘기기 전에 값의 형식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범위 검사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오류는 어느 칸에서 났는지 지목해 반려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601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개 결과 표본을 모아서 보관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LLA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CSV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저장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궤적 그림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시간 슬라이더로 임의 시점 이동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재생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7000" y="5248800"/>
            <a:ext cx="11054880" cy="840960"/>
          </a:xfrm>
          <a:prstGeom prst="roundRect">
            <a:avLst>
              <a:gd name="adj" fmla="val 4348"/>
            </a:avLst>
          </a:prstGeom>
          <a:solidFill>
            <a:srgbClr val="e2e9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1320" y="543168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경계가 하나다</a:t>
            </a:r>
            <a:r>
              <a:rPr b="1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 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UI </a:t>
            </a: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는 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ST_SimConfig </a:t>
            </a: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를 채워 넣고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Core </a:t>
            </a: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는 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ST_SimSample </a:t>
            </a: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을 돌려준다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 사이에 오가는 것은 이 두 구조체뿐이다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 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 1-(1)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구조체 정의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설정값과 상태값의 분리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7000" y="1280160"/>
            <a:ext cx="11054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사용자가 넣는 설정값과 매 순간 바뀌는 상태값은 수명이 다르다</a:t>
            </a:r>
            <a:r>
              <a:rPr b="0" lang="en-US" sz="12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. </a:t>
            </a:r>
            <a:r>
              <a:rPr b="0" lang="zh-CN" sz="12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한 덩어리로 두면 어느 값이 계산 중에 바뀌는지 알 수 없다</a:t>
            </a:r>
            <a:r>
              <a:rPr b="0" lang="en-US" sz="12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7000" y="1700640"/>
            <a:ext cx="5394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입력 — 시작할 때 정해지고 끝까지 안 변한다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7000" y="2011680"/>
            <a:ext cx="5394600" cy="1828440"/>
          </a:xfrm>
          <a:prstGeom prst="roundRect">
            <a:avLst>
              <a:gd name="adj" fmla="val 1500"/>
            </a:avLst>
          </a:prstGeom>
          <a:solidFill>
            <a:srgbClr val="162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160" y="2121480"/>
            <a:ext cx="510192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b96e"/>
                </a:solidFill>
                <a:latin typeface="Consolas"/>
                <a:ea typeface="Consolas"/>
              </a:rPr>
              <a:t>typedef struct 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STRUCT_Coord_Lla        st_InitLla;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STRUCT_Coord_Attitude   st_InitAtt;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FLOAT64                 headingSpeed;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INT32                   nManeuverNum;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ST_TargetManeuver       st_Maneuver[30];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b96e"/>
                </a:solidFill>
                <a:latin typeface="Consolas"/>
                <a:ea typeface="Consolas"/>
              </a:rPr>
              <a:t>} ST_TargetInit;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72640" y="1700640"/>
            <a:ext cx="5348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상태 — 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0.1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초마다 바뀐다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72640" y="2011680"/>
            <a:ext cx="5348880" cy="1828440"/>
          </a:xfrm>
          <a:prstGeom prst="roundRect">
            <a:avLst>
              <a:gd name="adj" fmla="val 1500"/>
            </a:avLst>
          </a:prstGeom>
          <a:solidFill>
            <a:srgbClr val="162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19160" y="2121480"/>
            <a:ext cx="505620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b96e"/>
                </a:solidFill>
                <a:latin typeface="Consolas"/>
                <a:ea typeface="Consolas"/>
              </a:rPr>
              <a:t>typedef struct 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FLOAT64                 simTime;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STRUCT_Coord_Rect       st_PosEcef;   // </a:t>
            </a:r>
            <a:r>
              <a:rPr b="0" lang="zh-CN" sz="1100" spc="-1" strike="noStrike">
                <a:solidFill>
                  <a:srgbClr val="d7e3f2"/>
                </a:solidFill>
                <a:latin typeface="Consolas"/>
                <a:ea typeface="Consolas"/>
              </a:rPr>
              <a:t>계산 기준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STRUCT_Coord_Rect       st_VelEcef;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STRUCT_Coord_Lla        st_Lla;       // </a:t>
            </a:r>
            <a:r>
              <a:rPr b="0" lang="zh-CN" sz="1100" spc="-1" strike="noStrike">
                <a:solidFill>
                  <a:srgbClr val="d7e3f2"/>
                </a:solidFill>
                <a:latin typeface="Consolas"/>
                <a:ea typeface="Consolas"/>
              </a:rPr>
              <a:t>출력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+ NED </a:t>
            </a:r>
            <a:r>
              <a:rPr b="0" lang="zh-CN" sz="1100" spc="-1" strike="noStrike">
                <a:solidFill>
                  <a:srgbClr val="d7e3f2"/>
                </a:solidFill>
                <a:latin typeface="Consolas"/>
                <a:ea typeface="Consolas"/>
              </a:rPr>
              <a:t>기준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STRUCT_Coord_Attitude   st_Att;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b96e"/>
                </a:solidFill>
                <a:latin typeface="Consolas"/>
                <a:ea typeface="Consolas"/>
              </a:rPr>
              <a:t>} ST_TargetState;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7000" y="4114800"/>
            <a:ext cx="5394600" cy="1983960"/>
          </a:xfrm>
          <a:prstGeom prst="roundRect">
            <a:avLst>
              <a:gd name="adj" fmla="val 1843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31604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개수는 배열이 아니라 숫자로 관리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645080"/>
            <a:ext cx="4864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자리는 최대치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(10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개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/ 30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개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로 미리 잡아두고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지금 몇 개를 쓰는지만 따로 적는다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좌석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10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개 버스에 승객 수를 적어두는 것과 같다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표적을 늘리고 줄여도 메모리 크기가 변하지 않는다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72640" y="4114800"/>
            <a:ext cx="5348880" cy="1983960"/>
          </a:xfrm>
          <a:prstGeom prst="roundRect">
            <a:avLst>
              <a:gd name="adj" fmla="val 1843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28960" y="431604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가 기준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위경고도는 파생값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28960" y="4645080"/>
            <a:ext cx="4845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계산은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에서 하고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위도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경도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고도는 매 스텝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에서 다시 뽑아 같이 보관한다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화면 출력과 다음 스텝의 기준 방향 계산에 모두 쓰이기 때문이다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 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 1-(1)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구조체 정의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위치는 </a:t>
            </a:r>
            <a:r>
              <a:rPr b="1" lang="en-US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LLA, </a:t>
            </a: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속도는 </a:t>
            </a:r>
            <a:r>
              <a:rPr b="1" lang="en-US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V_heading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7000" y="1261800"/>
            <a:ext cx="11054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속도를 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V_heading 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하나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즉 숫자 하나로 받는다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 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그러면 방향은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? — 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자세각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(Yaw·Pitch·Roll)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이 갖고 있다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기수가 향하는 쪽이 곧 진행 방향이다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7000" y="1664280"/>
            <a:ext cx="5394600" cy="2285640"/>
          </a:xfrm>
          <a:prstGeom prst="roundRect">
            <a:avLst>
              <a:gd name="adj" fmla="val 1600"/>
            </a:avLst>
          </a:prstGeom>
          <a:solidFill>
            <a:srgbClr val="dae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1883520"/>
            <a:ext cx="255600" cy="255600"/>
          </a:xfrm>
          <a:prstGeom prst="roundRect">
            <a:avLst>
              <a:gd name="adj" fmla="val 21429"/>
            </a:avLst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18835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19018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f4e79"/>
                </a:solidFill>
                <a:latin typeface="맑은 고딕"/>
                <a:ea typeface="맑은 고딕"/>
              </a:rPr>
              <a:t>화살표를 들고 다니며 조금씩 비튼다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4845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속도를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(Vx, Vy, Vz)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세 숫자로 들고 다니면서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스텝마다 끝을 옆으로 조금씩 밀어 방향을 바꾼다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민 만큼 빗변이 생겨 화살표가 길어지고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그게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600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번 쌓인다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03588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f4e79"/>
                </a:solidFill>
                <a:latin typeface="Consolas"/>
                <a:ea typeface="Consolas"/>
              </a:rPr>
              <a:t>200.00  →  201.45 m/s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351144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1G 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로 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60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초 선회했을 뿐인데 속력이 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0.7 % 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늘어난다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72640" y="1664280"/>
            <a:ext cx="5348880" cy="2285640"/>
          </a:xfrm>
          <a:prstGeom prst="roundRect">
            <a:avLst>
              <a:gd name="adj" fmla="val 1600"/>
            </a:avLst>
          </a:prstGeom>
          <a:solidFill>
            <a:srgbClr val="dbee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28960" y="1883520"/>
            <a:ext cx="255600" cy="255600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28960" y="18835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94720" y="19018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길이는 숫자로 붙박고 각도만 바꾼다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28960" y="2286000"/>
            <a:ext cx="4845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"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이 표적의 속력은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200"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은 숫자 하나로 붙박아 둔다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스텝마다 자세각에서 기수 방향만 꺼내 거기에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200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을 곱한다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28960" y="303588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7293"/>
                </a:solidFill>
                <a:latin typeface="Consolas"/>
                <a:ea typeface="Consolas"/>
              </a:rPr>
              <a:t>200.000000  </a:t>
            </a:r>
            <a:r>
              <a:rPr b="1" lang="zh-CN" sz="1900" spc="-1" strike="noStrike">
                <a:solidFill>
                  <a:srgbClr val="1c7293"/>
                </a:solidFill>
                <a:latin typeface="Consolas"/>
                <a:ea typeface="Consolas"/>
              </a:rPr>
              <a:t>유지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28960" y="351144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몇 번을 돌든 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200 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은 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200 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이다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7000" y="4096440"/>
            <a:ext cx="11054880" cy="2029680"/>
          </a:xfrm>
          <a:prstGeom prst="roundRect">
            <a:avLst>
              <a:gd name="adj" fmla="val 1887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63200" y="4297680"/>
            <a:ext cx="517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왜 길이가 변할 수 없는가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63200" y="4626720"/>
            <a:ext cx="5175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속도를 만들 때 쓰는 것은 회전 행렬뿐이다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물건을 돌려도 길이가 변하지 않는 것처럼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회전 행렬은 벡터의 크기를 바꾸지 못한다</a:t>
            </a:r>
            <a:r>
              <a:rPr b="0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Picture 24" descr="dg_vel.png"/>
          <p:cNvPicPr/>
          <p:nvPr/>
        </p:nvPicPr>
        <p:blipFill>
          <a:blip r:embed="rId1"/>
          <a:stretch/>
        </p:blipFill>
        <p:spPr>
          <a:xfrm>
            <a:off x="859680" y="4260960"/>
            <a:ext cx="5120280" cy="173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 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 1-(1)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구조체 정의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정보 네 가지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7000" y="1298520"/>
            <a:ext cx="5394600" cy="1444320"/>
          </a:xfrm>
          <a:prstGeom prst="roundRect">
            <a:avLst>
              <a:gd name="adj" fmla="val 1899"/>
            </a:avLst>
          </a:prstGeom>
          <a:solidFill>
            <a:srgbClr val="162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160" y="1408320"/>
            <a:ext cx="510192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b96e"/>
                </a:solidFill>
                <a:latin typeface="Consolas"/>
                <a:ea typeface="Consolas"/>
              </a:rPr>
              <a:t>typedef struct {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EN_TurnType  enTurnType;     // 0~3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FLOAT64      gravityValue;   // [G]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FLOAT64      startTime;      // [s]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7e3f2"/>
                </a:solidFill>
                <a:latin typeface="Consolas"/>
                <a:ea typeface="Consolas"/>
              </a:rPr>
              <a:t>FLOAT64      endTime;        // [s]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b96e"/>
                </a:solidFill>
                <a:latin typeface="Consolas"/>
                <a:ea typeface="Consolas"/>
              </a:rPr>
              <a:t>} ST_TargetManeuver;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7000" y="2761560"/>
            <a:ext cx="539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과제가 요구한 네 개를 그대로 담는다</a:t>
            </a:r>
            <a:r>
              <a:rPr b="0" lang="en-US" sz="11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72640" y="1298520"/>
            <a:ext cx="5348880" cy="1462680"/>
          </a:xfrm>
          <a:prstGeom prst="roundRect">
            <a:avLst>
              <a:gd name="adj" fmla="val 2500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28960" y="146304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TurnType —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회전축을 그대로 쓴다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28960" y="1828800"/>
            <a:ext cx="959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7293"/>
                </a:solidFill>
                <a:latin typeface="Consolas"/>
                <a:ea typeface="Consolas"/>
              </a:rPr>
              <a:t>1  Roll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34800" y="1828800"/>
            <a:ext cx="3931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옆으로 기울임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궤적은 그대로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자세만 변함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28960" y="2139840"/>
            <a:ext cx="959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7293"/>
                </a:solidFill>
                <a:latin typeface="Consolas"/>
                <a:ea typeface="Consolas"/>
              </a:rPr>
              <a:t>2  Yaw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34800" y="2139840"/>
            <a:ext cx="3931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수평으로 선회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위에서 보면 원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8960" y="2450520"/>
            <a:ext cx="959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7293"/>
                </a:solidFill>
                <a:latin typeface="Consolas"/>
                <a:ea typeface="Consolas"/>
              </a:rPr>
              <a:t>3  Pitch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34800" y="2450520"/>
            <a:ext cx="3931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위아래로 선회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옆에서 보면 원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7000" y="3346560"/>
            <a:ext cx="11054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한 건이 궤적에 걸리는 방식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7000" y="3694320"/>
            <a:ext cx="5394600" cy="237708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" name="TextBox 19"/>
          <p:cNvSpPr/>
          <p:nvPr/>
        </p:nvSpPr>
        <p:spPr>
          <a:xfrm>
            <a:off x="822960" y="3901680"/>
            <a:ext cx="48826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네 필드가 뜻하는 것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" name="Table 20"/>
          <p:cNvGraphicFramePr/>
          <p:nvPr/>
        </p:nvGraphicFramePr>
        <p:xfrm>
          <a:off x="822960" y="4242960"/>
          <a:ext cx="4882680" cy="1371600"/>
        </p:xfrm>
        <a:graphic>
          <a:graphicData uri="http://schemas.openxmlformats.org/drawingml/2006/table">
            <a:tbl>
              <a:tblPr/>
              <a:tblGrid>
                <a:gridCol w="1691640"/>
                <a:gridCol w="3191040"/>
              </a:tblGrid>
              <a:tr h="27432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필드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뜻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7432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enTurnType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회전축 —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없음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· 1 Roll · 2 Yaw · 3 Pitch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gravityValue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중력 배수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[G],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부호가 회전 방향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startTime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기동이 시작되는 시각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[s]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endTime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기동이 끝나는 시각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[s]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72640" y="3694320"/>
            <a:ext cx="5348880" cy="2377080"/>
          </a:xfrm>
          <a:prstGeom prst="rect">
            <a:avLst/>
          </a:prstGeom>
          <a:solidFill>
            <a:srgbClr val="d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" name="TextBox 22"/>
          <p:cNvSpPr/>
          <p:nvPr/>
        </p:nvSpPr>
        <p:spPr>
          <a:xfrm>
            <a:off x="6528960" y="3901680"/>
            <a:ext cx="48459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구간 안에서만 자세가 돌아간다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23"/>
          <p:cNvSpPr/>
          <p:nvPr/>
        </p:nvSpPr>
        <p:spPr>
          <a:xfrm>
            <a:off x="6528960" y="4224600"/>
            <a:ext cx="4845960" cy="5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startTime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부터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endTime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직전까지 자세각이 일정한 각속도로 돌아가고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구간 밖에서는 각속도가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이다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기동이 끝나면 그때의 침로 그대로 계속 나아간다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28960" y="5047560"/>
            <a:ext cx="4845960" cy="383760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" name="TextBox 25"/>
          <p:cNvSpPr/>
          <p:nvPr/>
        </p:nvSpPr>
        <p:spPr>
          <a:xfrm>
            <a:off x="6528960" y="5155200"/>
            <a:ext cx="484596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ω = gravityValue × 9.80665 / V_heading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Box 26"/>
          <p:cNvSpPr/>
          <p:nvPr/>
        </p:nvSpPr>
        <p:spPr>
          <a:xfrm>
            <a:off x="6528960" y="5541120"/>
            <a:ext cx="4845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050" spc="-1" strike="noStrike">
                <a:solidFill>
                  <a:srgbClr val="15243a"/>
                </a:solidFill>
                <a:latin typeface="Consolas"/>
                <a:ea typeface="Consolas"/>
              </a:rPr>
              <a:t>예</a:t>
            </a:r>
            <a:r>
              <a:rPr b="1" lang="en-US" sz="1050" spc="-1" strike="noStrike">
                <a:solidFill>
                  <a:srgbClr val="15243a"/>
                </a:solidFill>
                <a:latin typeface="Consolas"/>
                <a:ea typeface="Consolas"/>
              </a:rPr>
              <a:t>)  2, −1.0, 8.0, 10.4  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→  8.0 ~ 10.4 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초 동안 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1G 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좌선회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 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 1-(2)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상태 정보 갱신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계산 좌표계 — </a:t>
            </a:r>
            <a:r>
              <a:rPr b="1" lang="en-US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7000" y="1298520"/>
            <a:ext cx="5394600" cy="2102760"/>
          </a:xfrm>
          <a:prstGeom prst="roundRect">
            <a:avLst>
              <a:gd name="adj" fmla="val 1739"/>
            </a:avLst>
          </a:prstGeom>
          <a:solidFill>
            <a:srgbClr val="dbee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320" y="149976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ECEF </a:t>
            </a:r>
            <a:r>
              <a:rPr b="1" lang="zh-CN" sz="13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는 그냥 더하면 된다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41320" y="1828800"/>
            <a:ext cx="4864320" cy="566640"/>
          </a:xfrm>
          <a:prstGeom prst="roundRect">
            <a:avLst>
              <a:gd name="adj" fmla="val 4839"/>
            </a:avLst>
          </a:prstGeom>
          <a:solidFill>
            <a:srgbClr val="162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480" y="193860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e9b96e"/>
                </a:solidFill>
                <a:latin typeface="Consolas"/>
                <a:ea typeface="Consolas"/>
              </a:rPr>
              <a:t>새 위치 </a:t>
            </a:r>
            <a:r>
              <a:rPr b="0" lang="en-US" sz="1200" spc="-1" strike="noStrike">
                <a:solidFill>
                  <a:srgbClr val="e9b96e"/>
                </a:solidFill>
                <a:latin typeface="Consolas"/>
                <a:ea typeface="Consolas"/>
              </a:rPr>
              <a:t>= </a:t>
            </a:r>
            <a:r>
              <a:rPr b="0" lang="zh-CN" sz="1200" spc="-1" strike="noStrike">
                <a:solidFill>
                  <a:srgbClr val="e9b96e"/>
                </a:solidFill>
                <a:latin typeface="Consolas"/>
                <a:ea typeface="Consolas"/>
              </a:rPr>
              <a:t>이전 위치 </a:t>
            </a:r>
            <a:r>
              <a:rPr b="0" lang="en-US" sz="1200" spc="-1" strike="noStrike">
                <a:solidFill>
                  <a:srgbClr val="e9b96e"/>
                </a:solidFill>
                <a:latin typeface="Consolas"/>
                <a:ea typeface="Consolas"/>
              </a:rPr>
              <a:t>+ </a:t>
            </a:r>
            <a:r>
              <a:rPr b="0" lang="zh-CN" sz="1200" spc="-1" strike="noStrike">
                <a:solidFill>
                  <a:srgbClr val="e9b96e"/>
                </a:solidFill>
                <a:latin typeface="Consolas"/>
                <a:ea typeface="Consolas"/>
              </a:rPr>
              <a:t>속도 </a:t>
            </a:r>
            <a:r>
              <a:rPr b="0" lang="en-US" sz="1200" spc="-1" strike="noStrike">
                <a:solidFill>
                  <a:srgbClr val="e9b96e"/>
                </a:solidFill>
                <a:latin typeface="Consolas"/>
                <a:ea typeface="Consolas"/>
              </a:rPr>
              <a:t>x 0.1</a:t>
            </a:r>
            <a:r>
              <a:rPr b="0" lang="zh-CN" sz="1200" spc="-1" strike="noStrike">
                <a:solidFill>
                  <a:srgbClr val="e9b96e"/>
                </a:solidFill>
                <a:latin typeface="Consolas"/>
                <a:ea typeface="Consolas"/>
              </a:rPr>
              <a:t>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320" y="2505600"/>
            <a:ext cx="4864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지구 중심이 원점인 평범한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x·y·z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직교좌표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위치 갱신이 벡터 덧셈 한 줄로 끝난다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72640" y="1298520"/>
            <a:ext cx="5348880" cy="2102760"/>
          </a:xfrm>
          <a:prstGeom prst="roundRect">
            <a:avLst>
              <a:gd name="adj" fmla="val 1739"/>
            </a:avLst>
          </a:prstGeom>
          <a:solidFill>
            <a:srgbClr val="dae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46960" y="149976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f4e79"/>
                </a:solidFill>
                <a:latin typeface="맑은 고딕"/>
                <a:ea typeface="맑은 고딕"/>
              </a:rPr>
              <a:t>위도</a:t>
            </a:r>
            <a:r>
              <a:rPr b="1" lang="en-US" sz="1350" spc="-1" strike="noStrike">
                <a:solidFill>
                  <a:srgbClr val="1f4e79"/>
                </a:solidFill>
                <a:latin typeface="맑은 고딕"/>
                <a:ea typeface="맑은 고딕"/>
              </a:rPr>
              <a:t>·</a:t>
            </a:r>
            <a:r>
              <a:rPr b="1" lang="zh-CN" sz="1350" spc="-1" strike="noStrike">
                <a:solidFill>
                  <a:srgbClr val="1f4e79"/>
                </a:solidFill>
                <a:latin typeface="맑은 고딕"/>
                <a:ea typeface="맑은 고딕"/>
              </a:rPr>
              <a:t>경도로는 그렇게 안 된다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46960" y="182880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동쪽으로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 m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갔을 때 경도가 얼마나 변하는지가 위도마다 다르다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위로 갈수록 경도선 사이가 좁아지기 때문이다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" name="Table 0"/>
          <p:cNvGraphicFramePr/>
          <p:nvPr/>
        </p:nvGraphicFramePr>
        <p:xfrm>
          <a:off x="6546960" y="2304360"/>
          <a:ext cx="4845960" cy="80892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24660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동쪽 </a:t>
                      </a: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 m </a:t>
                      </a: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이동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경도 변화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4660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적도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위도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0°)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0.0000090°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위도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60°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0.0000179°  (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약 두 배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7000" y="3547800"/>
            <a:ext cx="11054880" cy="1243080"/>
          </a:xfrm>
          <a:prstGeom prst="roundRect">
            <a:avLst>
              <a:gd name="adj" fmla="val 2941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9680" y="3712320"/>
            <a:ext cx="10423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대신 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 →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위경도 변환을 매 스텝 해야 한다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변환 정확도가 곧 궤적 정확도다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59680" y="4023360"/>
            <a:ext cx="10423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참고 소스의 변환은 같은 계산을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5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번 반복해 위도와 고도를 다듬는다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반복 횟수가 고정이라 위도가 아주 높거나 고도가 크면 수렴이 모자랄 수 있다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이 과제 조건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위도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32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도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고도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 ~ 300 m)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에서는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5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번이면 충분하다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폐형식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(Bowring)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과 맞춰 보니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 내내 수평 차이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0.0003 mm,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고도 유지 오차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0.03 mm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였다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67000" y="4956120"/>
            <a:ext cx="11054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한 스텝에서 위치가 갱신되는 경로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67000" y="5285160"/>
            <a:ext cx="1947240" cy="566640"/>
          </a:xfrm>
          <a:prstGeom prst="roundRect">
            <a:avLst>
              <a:gd name="adj" fmla="val 9677"/>
            </a:avLst>
          </a:prstGeom>
          <a:solidFill>
            <a:srgbClr val="15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67000" y="528516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ECEF 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위치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514600" y="5285160"/>
            <a:ext cx="32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843640" y="5285160"/>
            <a:ext cx="1947240" cy="566640"/>
          </a:xfrm>
          <a:prstGeom prst="roundRect">
            <a:avLst>
              <a:gd name="adj" fmla="val 9677"/>
            </a:avLst>
          </a:prstGeom>
          <a:solidFill>
            <a:srgbClr val="e2e9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843640" y="528516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+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속도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× 0.1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91600" y="5285160"/>
            <a:ext cx="32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120640" y="5285160"/>
            <a:ext cx="1947240" cy="566640"/>
          </a:xfrm>
          <a:prstGeom prst="roundRect">
            <a:avLst>
              <a:gd name="adj" fmla="val 9677"/>
            </a:avLst>
          </a:prstGeom>
          <a:solidFill>
            <a:srgbClr val="15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120640" y="528516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새 </a:t>
            </a:r>
            <a:r>
              <a:rPr b="1" lang="en-US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ECEF 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위치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068240" y="5285160"/>
            <a:ext cx="32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397640" y="5285160"/>
            <a:ext cx="1947240" cy="566640"/>
          </a:xfrm>
          <a:prstGeom prst="roundRect">
            <a:avLst>
              <a:gd name="adj" fmla="val 9677"/>
            </a:avLst>
          </a:prstGeom>
          <a:solidFill>
            <a:srgbClr val="e2e9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397640" y="528516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참고 소스 변환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9345240" y="5285160"/>
            <a:ext cx="32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674280" y="5285160"/>
            <a:ext cx="1947240" cy="566640"/>
          </a:xfrm>
          <a:prstGeom prst="roundRect">
            <a:avLst>
              <a:gd name="adj" fmla="val 9677"/>
            </a:avLst>
          </a:prstGeom>
          <a:solidFill>
            <a:srgbClr val="15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9674280" y="5285160"/>
            <a:ext cx="194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위도</a:t>
            </a:r>
            <a:r>
              <a:rPr b="1" lang="en-US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·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경도</a:t>
            </a:r>
            <a:r>
              <a:rPr b="1" lang="en-US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·</a:t>
            </a:r>
            <a:r>
              <a:rPr b="1" lang="zh-CN" sz="115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고도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 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 1-(2)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추가 고민 항목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동체 속도 → </a:t>
            </a:r>
            <a:r>
              <a:rPr b="1" lang="en-US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 </a:t>
            </a: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속도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7000" y="1261800"/>
            <a:ext cx="11054880" cy="1005480"/>
          </a:xfrm>
          <a:prstGeom prst="roundRect">
            <a:avLst>
              <a:gd name="adj" fmla="val 3636"/>
            </a:avLst>
          </a:prstGeom>
          <a:solidFill>
            <a:srgbClr val="e2e9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9680" y="1389960"/>
            <a:ext cx="104695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Yaw 180° 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는 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"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남쪽을 보고 있다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"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는 뜻이다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 </a:t>
            </a:r>
            <a:r>
              <a:rPr b="0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그런데 그 남쪽이 우주에서 어느 방향인지는 내가 어디에 서 있느냐에 따라 다르다</a:t>
            </a:r>
            <a:r>
              <a:rPr b="0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8000"/>
              </a:lnSpc>
              <a:tabLst>
                <a:tab algn="l" pos="0"/>
              </a:tabLst>
            </a:pPr>
            <a:r>
              <a:rPr b="0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서울에서의 남쪽과 브라질에서의 남쪽은 완전히 다른 방향이다</a:t>
            </a:r>
            <a:r>
              <a:rPr b="0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그래서 회전을 두 번 나눠서 한다</a:t>
            </a:r>
            <a:r>
              <a:rPr b="0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7000" y="2432160"/>
            <a:ext cx="3511080" cy="137124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00" y="2615040"/>
            <a:ext cx="292320" cy="292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600" y="2615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07080" y="2624400"/>
            <a:ext cx="263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243a"/>
                </a:solidFill>
                <a:latin typeface="Consolas"/>
                <a:ea typeface="Consolas"/>
              </a:rPr>
              <a:t>V_body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00" y="2999160"/>
            <a:ext cx="303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(200, 0, 0)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00" y="3273480"/>
            <a:ext cx="303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기수 방향으로 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200 m/s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78080" y="2432160"/>
            <a:ext cx="25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52400" y="2432160"/>
            <a:ext cx="3511080" cy="137124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90360" y="2615040"/>
            <a:ext cx="292320" cy="292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90360" y="2615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92480" y="2624400"/>
            <a:ext cx="263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243a"/>
                </a:solidFill>
                <a:latin typeface="Consolas"/>
                <a:ea typeface="Consolas"/>
              </a:rPr>
              <a:t>V_ned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90360" y="2999160"/>
            <a:ext cx="303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자세각으로 회전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90360" y="3273480"/>
            <a:ext cx="303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내가 선 자리의 북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·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동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·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아래 성분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863840" y="2432160"/>
            <a:ext cx="25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38160" y="2432160"/>
            <a:ext cx="3511080" cy="1371240"/>
          </a:xfrm>
          <a:prstGeom prst="roundRect">
            <a:avLst>
              <a:gd name="adj" fmla="val 2667"/>
            </a:avLst>
          </a:prstGeom>
          <a:solidFill>
            <a:srgbClr val="dbee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375760" y="2615040"/>
            <a:ext cx="292320" cy="292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75760" y="2615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778240" y="2624400"/>
            <a:ext cx="263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243a"/>
                </a:solidFill>
                <a:latin typeface="Consolas"/>
                <a:ea typeface="Consolas"/>
              </a:rPr>
              <a:t>V_ecef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75760" y="2999160"/>
            <a:ext cx="303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위경도로 회전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75760" y="3273480"/>
            <a:ext cx="303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지구 좌표계 성분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7000" y="3950280"/>
            <a:ext cx="6720480" cy="2212560"/>
          </a:xfrm>
          <a:prstGeom prst="roundRect">
            <a:avLst>
              <a:gd name="adj" fmla="val 1240"/>
            </a:avLst>
          </a:prstGeom>
          <a:solidFill>
            <a:srgbClr val="162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160" y="4060080"/>
            <a:ext cx="642780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3f2"/>
                </a:solidFill>
                <a:latin typeface="Consolas"/>
                <a:ea typeface="Consolas"/>
              </a:rPr>
              <a:t>static STRUCT_Coord_Rect f_Tgt_GetVelEcef(const STRUCT_Coord_Attitude *st_Att,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3f2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7e3f2"/>
                </a:solidFill>
                <a:latin typeface="Consolas"/>
                <a:ea typeface="Consolas"/>
              </a:rPr>
              <a:t>const STRUCT_Coord_Lla *st_Lla, FLOAT64 headingSpeed)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3f2"/>
                </a:solidFill>
                <a:latin typeface="Consolas"/>
                <a:ea typeface="Consolas"/>
              </a:rPr>
              <a:t>{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3f2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d7e3f2"/>
                </a:solidFill>
                <a:latin typeface="Consolas"/>
                <a:ea typeface="Consolas"/>
              </a:rPr>
              <a:t>STRUCT_Coord_Rect  st_VelNed;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3f2"/>
                </a:solidFill>
                <a:latin typeface="Consolas"/>
                <a:ea typeface="Consolas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9b96e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9b96e"/>
                </a:solidFill>
                <a:latin typeface="Consolas"/>
                <a:ea typeface="Consolas"/>
              </a:rPr>
              <a:t>// </a:t>
            </a:r>
            <a:r>
              <a:rPr b="0" lang="zh-CN" sz="900" spc="-1" strike="noStrike">
                <a:solidFill>
                  <a:srgbClr val="e9b96e"/>
                </a:solidFill>
                <a:latin typeface="Consolas"/>
                <a:ea typeface="Consolas"/>
              </a:rPr>
              <a:t>참고 소스는 </a:t>
            </a:r>
            <a:r>
              <a:rPr b="0" lang="en-US" sz="900" spc="-1" strike="noStrike">
                <a:solidFill>
                  <a:srgbClr val="e9b96e"/>
                </a:solidFill>
                <a:latin typeface="Consolas"/>
                <a:ea typeface="Consolas"/>
              </a:rPr>
              <a:t>Roll, Yaw, Pitch </a:t>
            </a:r>
            <a:r>
              <a:rPr b="0" lang="zh-CN" sz="900" spc="-1" strike="noStrike">
                <a:solidFill>
                  <a:srgbClr val="e9b96e"/>
                </a:solidFill>
                <a:latin typeface="Consolas"/>
                <a:ea typeface="Consolas"/>
              </a:rPr>
              <a:t>순서로 받는다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cd3b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cd3b8"/>
                </a:solidFill>
                <a:latin typeface="Consolas"/>
                <a:ea typeface="Consolas"/>
              </a:rPr>
              <a:t>st_VelNed = f_Trans_Body_To_Ned(headingSpeed, 0.0, 0.0,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cd3b8"/>
                </a:solidFill>
                <a:latin typeface="Consolas"/>
                <a:ea typeface="Consolas"/>
              </a:rPr>
              <a:t>            </a:t>
            </a:r>
            <a:r>
              <a:rPr b="0" lang="en-US" sz="900" spc="-1" strike="noStrike">
                <a:solidFill>
                  <a:srgbClr val="9cd3b8"/>
                </a:solidFill>
                <a:latin typeface="Consolas"/>
                <a:ea typeface="Consolas"/>
              </a:rPr>
              <a:t>st_Att-&gt;Roll, st_Att-&gt;Yaw, st_Att-&gt;Pitch);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3f2"/>
                </a:solidFill>
                <a:latin typeface="Consolas"/>
                <a:ea typeface="Consolas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9b96e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9b96e"/>
                </a:solidFill>
                <a:latin typeface="Consolas"/>
                <a:ea typeface="Consolas"/>
              </a:rPr>
              <a:t>// </a:t>
            </a:r>
            <a:r>
              <a:rPr b="0" lang="zh-CN" sz="900" spc="-1" strike="noStrike">
                <a:solidFill>
                  <a:srgbClr val="e9b96e"/>
                </a:solidFill>
                <a:latin typeface="Consolas"/>
                <a:ea typeface="Consolas"/>
              </a:rPr>
              <a:t>방향만 옮기므로 기준점은 원점으로 준다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cd3b8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9cd3b8"/>
                </a:solidFill>
                <a:latin typeface="Consolas"/>
                <a:ea typeface="Consolas"/>
              </a:rPr>
              <a:t>return f_Trans_Ned_To_Ecef(st_VelNed.x, st_VelNed.y, st_VelNed.z,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cd3b8"/>
                </a:solidFill>
                <a:latin typeface="Consolas"/>
                <a:ea typeface="Consolas"/>
              </a:rPr>
              <a:t>            </a:t>
            </a:r>
            <a:r>
              <a:rPr b="0" lang="en-US" sz="900" spc="-1" strike="noStrike">
                <a:solidFill>
                  <a:srgbClr val="9cd3b8"/>
                </a:solidFill>
                <a:latin typeface="Consolas"/>
                <a:ea typeface="Consolas"/>
              </a:rPr>
              <a:t>0.0, 0.0, 0.0, st_Lla-&gt;Lat, st_Lla-&gt;Lon);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3f2"/>
                </a:solidFill>
                <a:latin typeface="Consolas"/>
                <a:ea typeface="Consolas"/>
              </a:rPr>
              <a:t>}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507080" y="3950280"/>
            <a:ext cx="4114440" cy="2212560"/>
          </a:xfrm>
          <a:prstGeom prst="roundRect">
            <a:avLst>
              <a:gd name="adj" fmla="val 1653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63400" y="41515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왜 두 번 나눠 도는가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63400" y="5669280"/>
            <a:ext cx="36205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spcAft>
                <a:spcPts val="601"/>
              </a:spcAft>
              <a:buClr>
                <a:srgbClr val="15243a"/>
              </a:buClr>
              <a:buFont typeface="Symbol" charset="2"/>
              <a:buChar char=""/>
            </a:pPr>
            <a:r>
              <a:rPr b="0" lang="zh-CN" sz="10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두 번째 회전은 표적이 움직일 때마다 다시 만든다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Picture 33" descr="dg_south.png"/>
          <p:cNvPicPr/>
          <p:nvPr/>
        </p:nvPicPr>
        <p:blipFill>
          <a:blip r:embed="rId1"/>
          <a:stretch/>
        </p:blipFill>
        <p:spPr>
          <a:xfrm>
            <a:off x="7763400" y="4443840"/>
            <a:ext cx="3620520" cy="118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 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 1-(2)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상태 정보 갱신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기동과 선회 반경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7000" y="1280160"/>
            <a:ext cx="11054880" cy="566640"/>
          </a:xfrm>
          <a:prstGeom prst="roundRect">
            <a:avLst>
              <a:gd name="adj" fmla="val 6452"/>
            </a:avLst>
          </a:prstGeom>
          <a:solidFill>
            <a:srgbClr val="e2e9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9680" y="1426320"/>
            <a:ext cx="10469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기동은 위치를 직접 건드리지 않는다</a:t>
            </a: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 </a:t>
            </a:r>
            <a:r>
              <a:rPr b="0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자세각을 돌리면 다음 스텝의 속도 방향이 바뀌고</a:t>
            </a:r>
            <a:r>
              <a:rPr b="0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 결과로 궤적이 휜다</a:t>
            </a:r>
            <a:r>
              <a:rPr b="0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7000" y="1993320"/>
            <a:ext cx="5394600" cy="214848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320" y="219456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몇 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G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로 돌면 얼마나 빨리 도는가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320" y="25056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원운동에서 안쪽으로 당기는 가속도는 속력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×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각속도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Gravity Value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는 이 가속도를 중력의 몇 배로 준 것이다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41320" y="3017520"/>
            <a:ext cx="4864320" cy="950760"/>
          </a:xfrm>
          <a:prstGeom prst="roundRect">
            <a:avLst>
              <a:gd name="adj" fmla="val 3061"/>
            </a:avLst>
          </a:prstGeom>
          <a:solidFill>
            <a:srgbClr val="162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7480" y="3127320"/>
            <a:ext cx="457164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2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7e3f2"/>
                </a:solidFill>
                <a:latin typeface="Consolas"/>
                <a:ea typeface="Consolas"/>
              </a:rPr>
              <a:t>V × ω  =  n × g          ω  =  n × 9.80665 / V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2"/>
                </a:solidFill>
                <a:latin typeface="Consolas"/>
                <a:ea typeface="Consolas"/>
              </a:rPr>
              <a:t>  </a:t>
            </a:r>
            <a:r>
              <a:rPr b="0" lang="zh-CN" sz="1200" spc="-1" strike="noStrike">
                <a:solidFill>
                  <a:srgbClr val="d7e3f2"/>
                </a:solidFill>
                <a:latin typeface="Consolas"/>
                <a:ea typeface="Consolas"/>
              </a:rPr>
              <a:t>선회 반경  </a:t>
            </a:r>
            <a:r>
              <a:rPr b="0" lang="en-US" sz="1200" spc="-1" strike="noStrike">
                <a:solidFill>
                  <a:srgbClr val="d7e3f2"/>
                </a:solidFill>
                <a:latin typeface="Consolas"/>
                <a:ea typeface="Consolas"/>
              </a:rPr>
              <a:t>R  =  V / ω  =  V² / (n × 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3f2"/>
                </a:solidFill>
                <a:latin typeface="Consolas"/>
                <a:ea typeface="Consolas"/>
              </a:rPr>
              <a:t>  </a:t>
            </a:r>
            <a:r>
              <a:rPr b="0" lang="zh-CN" sz="1200" spc="-1" strike="noStrike">
                <a:solidFill>
                  <a:srgbClr val="d7e3f2"/>
                </a:solidFill>
                <a:latin typeface="Consolas"/>
                <a:ea typeface="Consolas"/>
              </a:rPr>
              <a:t>선회 주기  </a:t>
            </a:r>
            <a:r>
              <a:rPr b="0" lang="en-US" sz="1200" spc="-1" strike="noStrike">
                <a:solidFill>
                  <a:srgbClr val="d7e3f2"/>
                </a:solidFill>
                <a:latin typeface="Consolas"/>
                <a:ea typeface="Consolas"/>
              </a:rPr>
              <a:t>T  =  2π V / (n × 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72640" y="1993320"/>
            <a:ext cx="5348880" cy="214848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5" name="Table 0"/>
          <p:cNvGraphicFramePr/>
          <p:nvPr/>
        </p:nvGraphicFramePr>
        <p:xfrm>
          <a:off x="567000" y="4389120"/>
          <a:ext cx="7205040" cy="1462680"/>
        </p:xfrm>
        <a:graphic>
          <a:graphicData uri="http://schemas.openxmlformats.org/drawingml/2006/table">
            <a:tbl>
              <a:tblPr/>
              <a:tblGrid>
                <a:gridCol w="1115280"/>
                <a:gridCol w="749520"/>
                <a:gridCol w="1188720"/>
                <a:gridCol w="1325880"/>
                <a:gridCol w="1280160"/>
                <a:gridCol w="1545120"/>
              </a:tblGrid>
              <a:tr h="292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속력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G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각속도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선회 반경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한 바퀴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0.1</a:t>
                      </a:r>
                      <a:r>
                        <a:rPr b="1" lang="zh-CN" sz="11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초에 도는 각도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92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30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 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18.7 °/s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92 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19.2 </a:t>
                      </a:r>
                      <a:r>
                        <a:rPr b="0" lang="zh-CN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초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1.87°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92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30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 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37.5 °/s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46 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9.6 </a:t>
                      </a:r>
                      <a:r>
                        <a:rPr b="0" lang="zh-CN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초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3.75°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92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200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 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2.8 °/s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4,079 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128.1 </a:t>
                      </a:r>
                      <a:r>
                        <a:rPr b="0" lang="zh-CN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초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0.28°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92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200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 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5.6 °/s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2,039 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64.1 </a:t>
                      </a:r>
                      <a:r>
                        <a:rPr b="0" lang="zh-CN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초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0.56°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Shape 16"/>
          <p:cNvSpPr/>
          <p:nvPr/>
        </p:nvSpPr>
        <p:spPr>
          <a:xfrm>
            <a:off x="8101440" y="4389120"/>
            <a:ext cx="3520080" cy="1682280"/>
          </a:xfrm>
          <a:prstGeom prst="roundRect">
            <a:avLst>
              <a:gd name="adj" fmla="val 2174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17"/>
          <p:cNvSpPr/>
          <p:nvPr/>
        </p:nvSpPr>
        <p:spPr>
          <a:xfrm>
            <a:off x="8357760" y="45720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같은 </a:t>
            </a:r>
            <a:r>
              <a:rPr b="1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G </a:t>
            </a:r>
            <a:r>
              <a:rPr b="1" lang="zh-CN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라도 느린 표적이 훨씬 급하게 돈다</a:t>
            </a:r>
            <a:r>
              <a:rPr b="1" lang="en-US" sz="12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8"/>
          <p:cNvSpPr/>
          <p:nvPr/>
        </p:nvSpPr>
        <p:spPr>
          <a:xfrm>
            <a:off x="8357760" y="4883040"/>
            <a:ext cx="301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30 m/s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배는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2G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로 반경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46 m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안에서 돌고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200 m/s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비행기는 같은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2G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로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 km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짜리 원을 그린다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익숙한 감각과 반대다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Box 21"/>
          <p:cNvSpPr/>
          <p:nvPr/>
        </p:nvSpPr>
        <p:spPr>
          <a:xfrm>
            <a:off x="6546960" y="2219040"/>
            <a:ext cx="48459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그림으로 보면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Picture 22" descr="dg_turn.png"/>
          <p:cNvPicPr/>
          <p:nvPr/>
        </p:nvPicPr>
        <p:blipFill>
          <a:blip r:embed="rId1"/>
          <a:stretch/>
        </p:blipFill>
        <p:spPr>
          <a:xfrm>
            <a:off x="6546960" y="2523600"/>
            <a:ext cx="4845960" cy="150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 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 1-(2)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표적 상태 정보 갱신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적분 방법 — 중점법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7000" y="1280160"/>
            <a:ext cx="5394600" cy="1416960"/>
          </a:xfrm>
          <a:prstGeom prst="roundRect">
            <a:avLst>
              <a:gd name="adj" fmla="val 2817"/>
            </a:avLst>
          </a:prstGeom>
          <a:solidFill>
            <a:srgbClr val="dae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320" y="146304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f4e79"/>
                </a:solidFill>
                <a:latin typeface="맑은 고딕"/>
                <a:ea typeface="맑은 고딕"/>
              </a:rPr>
              <a:t>같은 </a:t>
            </a:r>
            <a:r>
              <a:rPr b="1" lang="en-US" sz="1350" spc="-1" strike="noStrike">
                <a:solidFill>
                  <a:srgbClr val="1f4e79"/>
                </a:solidFill>
                <a:latin typeface="맑은 고딕"/>
                <a:ea typeface="맑은 고딕"/>
              </a:rPr>
              <a:t>0.1</a:t>
            </a:r>
            <a:r>
              <a:rPr b="1" lang="zh-CN" sz="1350" spc="-1" strike="noStrike">
                <a:solidFill>
                  <a:srgbClr val="1f4e79"/>
                </a:solidFill>
                <a:latin typeface="맑은 고딕"/>
                <a:ea typeface="맑은 고딕"/>
              </a:rPr>
              <a:t>초인데 무엇이 갈리나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1320" y="1774080"/>
            <a:ext cx="4845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0.1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 동안 속도가 안 변한다고 치고 직선으로 옮긴다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"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안 변하는 속도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"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를 시작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(0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시점에서 뽑으면 도는 내내 뒤처진 방향으로 간다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그래서 한가운데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(0.05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의 자세와 위치로 속도를 만들어 쓴다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72640" y="1280160"/>
            <a:ext cx="5348880" cy="1416960"/>
          </a:xfrm>
          <a:prstGeom prst="roundRect">
            <a:avLst>
              <a:gd name="adj" fmla="val 2817"/>
            </a:avLst>
          </a:prstGeom>
          <a:solidFill>
            <a:srgbClr val="dbee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567000" y="2761560"/>
            <a:ext cx="6629040" cy="2212560"/>
          </a:xfrm>
          <a:prstGeom prst="roundRect">
            <a:avLst>
              <a:gd name="adj" fmla="val 1376"/>
            </a:avLst>
          </a:prstGeom>
          <a:solidFill>
            <a:srgbClr val="162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Text 12"/>
          <p:cNvSpPr/>
          <p:nvPr/>
        </p:nvSpPr>
        <p:spPr>
          <a:xfrm>
            <a:off x="713160" y="2871360"/>
            <a:ext cx="633636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e3f2"/>
                </a:solidFill>
                <a:latin typeface="Consolas"/>
                <a:ea typeface="Consolas"/>
              </a:rPr>
              <a:t>halfStep = 0.5 * stepTime;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9b96e"/>
                </a:solidFill>
                <a:latin typeface="Consolas"/>
                <a:ea typeface="Consolas"/>
              </a:rPr>
              <a:t>st_AttMid.Yaw = st_State-&gt;st_Att.Yaw + (st_Rate-&gt;Yaw * halfStep);      // </a:t>
            </a:r>
            <a:r>
              <a:rPr b="0" lang="zh-CN" sz="950" spc="-1" strike="noStrike">
                <a:solidFill>
                  <a:srgbClr val="e9b96e"/>
                </a:solidFill>
                <a:latin typeface="Consolas"/>
                <a:ea typeface="Consolas"/>
              </a:rPr>
              <a:t>중앙 자세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e3f2"/>
                </a:solidFill>
                <a:latin typeface="Consolas"/>
                <a:ea typeface="Consolas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d3b8"/>
                </a:solidFill>
                <a:latin typeface="Consolas"/>
                <a:ea typeface="Consolas"/>
              </a:rPr>
              <a:t>st_VelStart = f_Tgt_GetVelEcef(&amp;st_State-&gt;st_Att, &amp;st_State-&gt;st_Lla, headingSpeed);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e3f2"/>
                </a:solidFill>
                <a:latin typeface="Consolas"/>
                <a:ea typeface="Consolas"/>
              </a:rPr>
              <a:t>st_PosMid.x = st_State-&gt;st_PosEcef.x + (st_VelStart.x * halfStep);     // </a:t>
            </a:r>
            <a:r>
              <a:rPr b="0" lang="zh-CN" sz="950" spc="-1" strike="noStrike">
                <a:solidFill>
                  <a:srgbClr val="d7e3f2"/>
                </a:solidFill>
                <a:latin typeface="Consolas"/>
                <a:ea typeface="Consolas"/>
              </a:rPr>
              <a:t>반 스텝만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e3f2"/>
                </a:solidFill>
                <a:latin typeface="Consolas"/>
                <a:ea typeface="Consolas"/>
              </a:rPr>
              <a:t>st_PosMid.y = ... ;     st_PosMid.z = ... ;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e3f2"/>
                </a:solidFill>
                <a:latin typeface="Consolas"/>
                <a:ea typeface="Consolas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d3b8"/>
                </a:solidFill>
                <a:latin typeface="Consolas"/>
                <a:ea typeface="Consolas"/>
              </a:rPr>
              <a:t>st_LlaMid = f_Trans_Ecef_To_Lla(st_PosMid.x, st_PosMid.y, st_PosMid.z);  // </a:t>
            </a:r>
            <a:r>
              <a:rPr b="0" lang="zh-CN" sz="950" spc="-1" strike="noStrike">
                <a:solidFill>
                  <a:srgbClr val="9cd3b8"/>
                </a:solidFill>
                <a:latin typeface="Consolas"/>
                <a:ea typeface="Consolas"/>
              </a:rPr>
              <a:t>중앙 위치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d3b8"/>
                </a:solidFill>
                <a:latin typeface="Consolas"/>
                <a:ea typeface="Consolas"/>
              </a:rPr>
              <a:t>st_VelMid = f_Tgt_GetVelEcef(&amp;st_AttMid, &amp;st_LlaMid, headingSpeed);      // </a:t>
            </a:r>
            <a:r>
              <a:rPr b="0" lang="zh-CN" sz="950" spc="-1" strike="noStrike">
                <a:solidFill>
                  <a:srgbClr val="9cd3b8"/>
                </a:solidFill>
                <a:latin typeface="Consolas"/>
                <a:ea typeface="Consolas"/>
              </a:rPr>
              <a:t>중앙 속도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e3f2"/>
                </a:solidFill>
                <a:latin typeface="Consolas"/>
                <a:ea typeface="Consolas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7e3f2"/>
                </a:solidFill>
                <a:latin typeface="Consolas"/>
                <a:ea typeface="Consolas"/>
              </a:rPr>
              <a:t>st_Next.st_PosEcef.x = st_State-&gt;st_PosEcef.x + (st_VelMid.x * stepTime);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7507080" y="2761560"/>
            <a:ext cx="4114440" cy="2285640"/>
          </a:xfrm>
          <a:prstGeom prst="roundRect">
            <a:avLst>
              <a:gd name="adj" fmla="val 1653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Text 14"/>
          <p:cNvSpPr/>
          <p:nvPr/>
        </p:nvSpPr>
        <p:spPr>
          <a:xfrm>
            <a:off x="6546960" y="146304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간격을 줄이면 — 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200 m/s · 1G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선회 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60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 뒤 위치 오차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" name="Table 0"/>
          <p:cNvGraphicFramePr/>
          <p:nvPr/>
        </p:nvGraphicFramePr>
        <p:xfrm>
          <a:off x="6546960" y="1774080"/>
          <a:ext cx="3620520" cy="808920"/>
        </p:xfrm>
        <a:graphic>
          <a:graphicData uri="http://schemas.openxmlformats.org/drawingml/2006/table">
            <a:tbl>
              <a:tblPr/>
              <a:tblGrid>
                <a:gridCol w="914400"/>
                <a:gridCol w="1353240"/>
                <a:gridCol w="1353240"/>
              </a:tblGrid>
              <a:tr h="23760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간격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시작 방향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중점법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3760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0.1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초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19.9 m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0.008 m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3760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0.05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초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9.95 m  (1/2)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0.002 m  (1/4)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Shape 17"/>
          <p:cNvSpPr/>
          <p:nvPr/>
        </p:nvSpPr>
        <p:spPr>
          <a:xfrm>
            <a:off x="567000" y="5157360"/>
            <a:ext cx="11054880" cy="932400"/>
          </a:xfrm>
          <a:prstGeom prst="roundRect">
            <a:avLst>
              <a:gd name="adj" fmla="val 3922"/>
            </a:avLst>
          </a:prstGeom>
          <a:solidFill>
            <a:srgbClr val="e2e9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18"/>
          <p:cNvSpPr/>
          <p:nvPr/>
        </p:nvSpPr>
        <p:spPr>
          <a:xfrm>
            <a:off x="859680" y="5321880"/>
            <a:ext cx="10469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반경은 두 방법 모두 정확하다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차이는 궤적이 반 스텝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(10 m)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만큼 옆으로 밀리는 것으로 나타난다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드는 비용은 스텝당 속도 계산 두 번과 위경도 변환 한 번뿐이라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같은 정확도를 시작 방향으로 내려는 것보다 훨씬 싸다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f4e79"/>
                </a:solidFill>
                <a:latin typeface="맑은 고딕"/>
                <a:ea typeface="맑은 고딕"/>
              </a:rPr>
              <a:t>한계 하나 —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자세를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roll·pitch·yaw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로 직접 다루므로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pitch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가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±90°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근처면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yaw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축이 진행 방향과 겹쳐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짐벌락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 yaw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기동이 궤적을 바꾸지 못한다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22"/>
          <p:cNvSpPr/>
          <p:nvPr/>
        </p:nvSpPr>
        <p:spPr>
          <a:xfrm>
            <a:off x="7735680" y="2958840"/>
            <a:ext cx="36572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한 스텝 안에서 무엇이 갈리나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23" descr="dg_mid2.png"/>
          <p:cNvPicPr/>
          <p:nvPr/>
        </p:nvPicPr>
        <p:blipFill>
          <a:blip r:embed="rId1"/>
          <a:stretch/>
        </p:blipFill>
        <p:spPr>
          <a:xfrm>
            <a:off x="7735680" y="3255120"/>
            <a:ext cx="3657240" cy="15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시뮬레이션 조건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조건값과 실행 순서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" name="Table 0"/>
          <p:cNvGraphicFramePr/>
          <p:nvPr/>
        </p:nvGraphicFramePr>
        <p:xfrm>
          <a:off x="567000" y="1298520"/>
          <a:ext cx="11054880" cy="1810080"/>
        </p:xfrm>
        <a:graphic>
          <a:graphicData uri="http://schemas.openxmlformats.org/drawingml/2006/table">
            <a:tbl>
              <a:tblPr/>
              <a:tblGrid>
                <a:gridCol w="3657600"/>
                <a:gridCol w="7397280"/>
              </a:tblGrid>
              <a:tr h="30168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주어진 조건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설정값</a:t>
                      </a:r>
                      <a:endParaRPr b="0" lang="en-U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30168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시뮬레이션 시간 </a:t>
                      </a: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/ </a:t>
                      </a: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갱신 간격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durationTime = 60.0  ·  stepTime = 0.1  →  600 </a:t>
                      </a: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스텝</a:t>
                      </a: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표본 </a:t>
                      </a: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601</a:t>
                      </a: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개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플랫폼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32.0°N, 126.0°E, 0 m, 0 m/s  (</a:t>
                      </a: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정지</a:t>
                      </a: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대함 표적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32.125°N, 126.03°E, 0 m, 30 m/s, Yaw 270° (</a:t>
                      </a: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서쪽</a:t>
                      </a: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대공 표적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32.12°N, 126.0°E, 300 m, 200 m/s, Yaw 180° (</a:t>
                      </a: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남쪽</a:t>
                      </a: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표적 수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nTargetNum = 2   ·   </a:t>
                      </a: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기동 없음 </a:t>
                      </a: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b="0" lang="zh-CN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등속 직진</a:t>
                      </a:r>
                      <a:r>
                        <a:rPr b="0" lang="en-US" sz="11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7000" y="3310200"/>
            <a:ext cx="11054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실행 순서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7000" y="3639240"/>
            <a:ext cx="2020320" cy="1425960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8240" y="3803760"/>
            <a:ext cx="273960" cy="273960"/>
          </a:xfrm>
          <a:prstGeom prst="ellipse">
            <a:avLst/>
          </a:prstGeom>
          <a:solidFill>
            <a:srgbClr val="15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8240" y="3803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15640" y="3813120"/>
            <a:ext cx="1270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설정 구성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8240" y="4169520"/>
            <a:ext cx="16182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화면 값을 읽어 도 → 라디안 변환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. 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형식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·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범위 검사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587680" y="3639240"/>
            <a:ext cx="237240" cy="14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825640" y="3639240"/>
            <a:ext cx="2020320" cy="1425960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026520" y="3803760"/>
            <a:ext cx="273960" cy="273960"/>
          </a:xfrm>
          <a:prstGeom prst="ellipse">
            <a:avLst/>
          </a:prstGeom>
          <a:solidFill>
            <a:srgbClr val="15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026520" y="3803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374280" y="3813120"/>
            <a:ext cx="1270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설정 검증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026520" y="4169520"/>
            <a:ext cx="16182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표적 수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, 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스텝 수가 정수배인지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, 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기동 시각 순서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·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겹침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846320" y="3639240"/>
            <a:ext cx="237240" cy="14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083920" y="3639240"/>
            <a:ext cx="2020320" cy="1425960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285160" y="3803760"/>
            <a:ext cx="273960" cy="273960"/>
          </a:xfrm>
          <a:prstGeom prst="ellipse">
            <a:avLst/>
          </a:prstGeom>
          <a:solidFill>
            <a:srgbClr val="15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285160" y="3803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632560" y="3813120"/>
            <a:ext cx="1270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초기화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285160" y="4169520"/>
            <a:ext cx="16182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위경고도 → 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ECEF, 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자세 → 초기 속도 벡터 생성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104960" y="3639240"/>
            <a:ext cx="237240" cy="14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342560" y="3639240"/>
            <a:ext cx="2020320" cy="1425960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543800" y="3803760"/>
            <a:ext cx="273960" cy="273960"/>
          </a:xfrm>
          <a:prstGeom prst="ellipse">
            <a:avLst/>
          </a:prstGeom>
          <a:solidFill>
            <a:srgbClr val="15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543800" y="3803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891200" y="3813120"/>
            <a:ext cx="1270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600</a:t>
            </a: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회 반복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543800" y="4169520"/>
            <a:ext cx="16182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플랫폼 → 표적 순서로 한 스텝씩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. 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모두 성공해야 반영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9363600" y="3639240"/>
            <a:ext cx="237240" cy="14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601200" y="3639240"/>
            <a:ext cx="2020320" cy="1425960"/>
          </a:xfrm>
          <a:prstGeom prst="roundRect">
            <a:avLst>
              <a:gd name="adj" fmla="val 2564"/>
            </a:avLst>
          </a:prstGeom>
          <a:solidFill>
            <a:srgbClr val="dbee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802440" y="3803760"/>
            <a:ext cx="273960" cy="2739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802440" y="38037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0149840" y="3813120"/>
            <a:ext cx="1270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출력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802440" y="4169520"/>
            <a:ext cx="16182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표본 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601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개 → 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LLA 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표 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· CSV · 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궤적 그림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67000" y="5193720"/>
            <a:ext cx="5394600" cy="895680"/>
          </a:xfrm>
          <a:prstGeom prst="roundRect">
            <a:avLst>
              <a:gd name="adj" fmla="val 4082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41320" y="5358240"/>
            <a:ext cx="48643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시각은 더하지 않고 곱한다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0.1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을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600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번 더하면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60.0000000000006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이 되지만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600 × 0.1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은 정확히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60.0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이다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272640" y="5193720"/>
            <a:ext cx="5348880" cy="895680"/>
          </a:xfrm>
          <a:prstGeom prst="roundRect">
            <a:avLst>
              <a:gd name="adj" fmla="val 4082"/>
            </a:avLst>
          </a:prstGeom>
          <a:solidFill>
            <a:srgbClr val="ed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46960" y="5358240"/>
            <a:ext cx="48459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한 스텝은 통째로 성공하거나 통째로 실패한다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사본에서 전부 진행한 뒤 반영하므로 시각이 섞인 중간 상태가 나오지 않는다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7000" y="402480"/>
            <a:ext cx="420120" cy="420120"/>
          </a:xfrm>
          <a:prstGeom prst="roundRect">
            <a:avLst>
              <a:gd name="adj" fmla="val 17391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640" y="365760"/>
            <a:ext cx="10423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시뮬레이션 조건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640" y="576000"/>
            <a:ext cx="1042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초기값 — 조건이 </a:t>
            </a:r>
            <a:r>
              <a:rPr b="1" lang="en-US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 </a:t>
            </a: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로 바뀐 모습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7000" y="638244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7000" y="1261800"/>
            <a:ext cx="11054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t = 0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에서 계산된 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ECEF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초기값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" name="Table 0"/>
          <p:cNvGraphicFramePr/>
          <p:nvPr/>
        </p:nvGraphicFramePr>
        <p:xfrm>
          <a:off x="567000" y="1554480"/>
          <a:ext cx="11054880" cy="1133640"/>
        </p:xfrm>
        <a:graphic>
          <a:graphicData uri="http://schemas.openxmlformats.org/drawingml/2006/table">
            <a:tbl>
              <a:tblPr/>
              <a:tblGrid>
                <a:gridCol w="1188720"/>
                <a:gridCol w="4251960"/>
                <a:gridCol w="3657600"/>
                <a:gridCol w="1956600"/>
              </a:tblGrid>
              <a:tr h="283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050" spc="-1" strike="noStrike">
                        <a:solidFill>
                          <a:schemeClr val="dk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ECEF </a:t>
                      </a: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위치 </a:t>
                      </a: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[m]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ECEF </a:t>
                      </a: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속도 </a:t>
                      </a: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[m/s]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속력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83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플랫폼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(−3 182 303.6,  4 380 065.1,  3 360 431.4)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(0, 0, 0)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83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대함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(−3 180 268.5,  4 372 447.8,  3 372 178.2)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(24.2613, 17.6463, 0.0000)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30.000000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83320"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대공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(−3 178 301.3,  4 374 556.4,  3 371 868.1)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(−62.5044, 86.0299, −169.3873)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076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200.000000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13"/>
          <p:cNvSpPr/>
          <p:nvPr/>
        </p:nvSpPr>
        <p:spPr>
          <a:xfrm>
            <a:off x="567000" y="2788920"/>
            <a:ext cx="11054880" cy="297144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" name="TextBox 14"/>
          <p:cNvSpPr/>
          <p:nvPr/>
        </p:nvSpPr>
        <p:spPr>
          <a:xfrm>
            <a:off x="859680" y="2968920"/>
            <a:ext cx="104695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이 숫자들을 어떻게 읽나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Picture 15" descr="dg_ecef.png"/>
          <p:cNvPicPr/>
          <p:nvPr/>
        </p:nvPicPr>
        <p:blipFill>
          <a:blip r:embed="rId1"/>
          <a:stretch/>
        </p:blipFill>
        <p:spPr>
          <a:xfrm>
            <a:off x="859680" y="3291840"/>
            <a:ext cx="10469520" cy="239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" name="TextBox 2"/>
          <p:cNvSpPr/>
          <p:nvPr/>
        </p:nvSpPr>
        <p:spPr>
          <a:xfrm>
            <a:off x="567000" y="497880"/>
            <a:ext cx="4201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1115640" y="390960"/>
            <a:ext cx="1042380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시뮬레이션 조건 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시나리오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/>
          <p:nvPr/>
        </p:nvSpPr>
        <p:spPr>
          <a:xfrm>
            <a:off x="1115640" y="577080"/>
            <a:ext cx="104238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회전 지점을 기동 시간표로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/>
          <p:nvPr/>
        </p:nvSpPr>
        <p:spPr>
          <a:xfrm>
            <a:off x="567000" y="6422760"/>
            <a:ext cx="4571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7000" y="1280160"/>
            <a:ext cx="5394600" cy="1298160"/>
          </a:xfrm>
          <a:prstGeom prst="rect">
            <a:avLst/>
          </a:prstGeom>
          <a:solidFill>
            <a:srgbClr val="dae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" name="TextBox 7"/>
          <p:cNvSpPr/>
          <p:nvPr/>
        </p:nvSpPr>
        <p:spPr>
          <a:xfrm>
            <a:off x="841320" y="1487520"/>
            <a:ext cx="48459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50" spc="-1" strike="noStrike">
                <a:solidFill>
                  <a:srgbClr val="1f4e79"/>
                </a:solidFill>
                <a:latin typeface="맑은 고딕"/>
                <a:ea typeface="맑은 고딕"/>
              </a:rPr>
              <a:t>요구는 위치로 온다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/>
          <p:nvPr/>
        </p:nvSpPr>
        <p:spPr>
          <a:xfrm>
            <a:off x="841320" y="1866960"/>
            <a:ext cx="484596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지그재그 기동은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"Lat 32.1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에서 왼쪽으로 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90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도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"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처럼 좌표로 주어진다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그런데 기동 구조체에는 시작 시각과 종료 시각 칸뿐이고 위치를 적을 칸이 없다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좌표를 시각으로 번역해 줘야 한다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2640" y="1280160"/>
            <a:ext cx="5348880" cy="1298160"/>
          </a:xfrm>
          <a:prstGeom prst="rect">
            <a:avLst/>
          </a:prstGeom>
          <a:solidFill>
            <a:srgbClr val="d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" name="TextBox 10"/>
          <p:cNvSpPr/>
          <p:nvPr/>
        </p:nvSpPr>
        <p:spPr>
          <a:xfrm>
            <a:off x="6546960" y="1487520"/>
            <a:ext cx="48459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그래서 한 번 돌려 보고 시각을 읽는다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1"/>
          <p:cNvSpPr/>
          <p:nvPr/>
        </p:nvSpPr>
        <p:spPr>
          <a:xfrm>
            <a:off x="6546960" y="1866960"/>
            <a:ext cx="484596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Core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를 그대로 링크한 도구로 앞에서부터 한 기동씩 푼다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지금까지 정한 기동만 넣고 돌려서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지정한 좌표를 넘는 순간의 시각을 그 기동의 시작 시각으로 적고 다음 기동으로 넘어간다</a:t>
            </a:r>
            <a:r>
              <a:rPr b="0" lang="en-US" sz="11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7000" y="2761560"/>
            <a:ext cx="5394600" cy="221256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" name="TextBox 13"/>
          <p:cNvSpPr/>
          <p:nvPr/>
        </p:nvSpPr>
        <p:spPr>
          <a:xfrm>
            <a:off x="841320" y="2950560"/>
            <a:ext cx="48459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짚을 것 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1 —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도는 동안에도 계속 간다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4"/>
          <p:cNvSpPr/>
          <p:nvPr/>
        </p:nvSpPr>
        <p:spPr>
          <a:xfrm>
            <a:off x="841320" y="3277440"/>
            <a:ext cx="4845960" cy="5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지정한 위도에서 꺾기 시작하면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90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도를 다 돌았을 때는 이미 선회 반경만큼 더 내려가 있다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그래서 회전이 끝나는 자리가 지정 좌표가 되도록 반경만큼 미리 꺾는다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" name="Table 15"/>
          <p:cNvGraphicFramePr/>
          <p:nvPr/>
        </p:nvGraphicFramePr>
        <p:xfrm>
          <a:off x="841320" y="3931920"/>
          <a:ext cx="4845960" cy="787320"/>
        </p:xfrm>
        <a:graphic>
          <a:graphicData uri="http://schemas.openxmlformats.org/drawingml/2006/table">
            <a:tbl>
              <a:tblPr/>
              <a:tblGrid>
                <a:gridCol w="2331720"/>
                <a:gridCol w="2514600"/>
              </a:tblGrid>
              <a:tr h="255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대공 </a:t>
                      </a: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기동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위도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55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꺾기 시작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트리거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32.114950°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55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회전 끝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=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직진 시작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32.110467°  ←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여기가 목표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/>
          <p:nvPr/>
        </p:nvSpPr>
        <p:spPr>
          <a:xfrm>
            <a:off x="841320" y="4760280"/>
            <a:ext cx="484596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차이 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0.004483° = 497 m = </a:t>
            </a:r>
            <a:r>
              <a:rPr b="0" lang="zh-CN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선회 반경 </a:t>
            </a: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497 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72640" y="2761560"/>
            <a:ext cx="5348880" cy="221256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" name="TextBox 18"/>
          <p:cNvSpPr/>
          <p:nvPr/>
        </p:nvSpPr>
        <p:spPr>
          <a:xfrm>
            <a:off x="6546960" y="2950560"/>
            <a:ext cx="48459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짚을 것 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 —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시작도 끝도 </a:t>
            </a: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0.1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 격자 위에만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19"/>
          <p:cNvSpPr/>
          <p:nvPr/>
        </p:nvSpPr>
        <p:spPr>
          <a:xfrm>
            <a:off x="6546960" y="3361320"/>
            <a:ext cx="484596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회전 시간이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0.1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초의 정수배여야 한다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그래서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45 · 90 · 150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도를 정확히 맞출 수 없다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부호가 번갈아 상쇄되어 누적 침로 오차는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0.1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도 수준이다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20"/>
          <p:cNvSpPr/>
          <p:nvPr/>
        </p:nvSpPr>
        <p:spPr>
          <a:xfrm>
            <a:off x="6546960" y="3893040"/>
            <a:ext cx="484596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5243a"/>
                </a:solidFill>
                <a:latin typeface="Consolas"/>
                <a:ea typeface="Consolas"/>
              </a:rPr>
              <a:t>G = dYaw[rad] × V / (g × T)</a:t>
            </a:r>
            <a:r>
              <a:rPr b="0" lang="en-US" sz="1000" spc="-1" strike="noStrike">
                <a:solidFill>
                  <a:srgbClr val="5c6b80"/>
                </a:solidFill>
                <a:latin typeface="Consolas"/>
                <a:ea typeface="Consolas"/>
              </a:rPr>
              <a:t>      g = 9.80665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" name="Table 21"/>
          <p:cNvGraphicFramePr/>
          <p:nvPr/>
        </p:nvGraphicFramePr>
        <p:xfrm>
          <a:off x="6546960" y="4169520"/>
          <a:ext cx="4845960" cy="76788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960120"/>
                <a:gridCol w="1234440"/>
              </a:tblGrid>
              <a:tr h="255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9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표적 </a:t>
                      </a: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· </a:t>
                      </a:r>
                      <a:r>
                        <a:rPr b="1" lang="zh-CN" sz="9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목표각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9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실제 회전각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9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|G|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55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대함 </a:t>
                      </a:r>
                      <a:r>
                        <a:rPr b="0" lang="en-US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· 45°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44.9504°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2.4 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1.000000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55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대공 </a:t>
                      </a:r>
                      <a:r>
                        <a:rPr b="0" lang="en-US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· 90° / 150°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89.90° / 149.83°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3.9 / 6.5 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8.205060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567000" y="5157360"/>
            <a:ext cx="11054880" cy="932400"/>
          </a:xfrm>
          <a:prstGeom prst="rect">
            <a:avLst/>
          </a:prstGeom>
          <a:solidFill>
            <a:srgbClr val="e2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" name="TextBox 23"/>
          <p:cNvSpPr/>
          <p:nvPr/>
        </p:nvSpPr>
        <p:spPr>
          <a:xfrm>
            <a:off x="859680" y="5557320"/>
            <a:ext cx="1046952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회전 지점 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10 </a:t>
            </a: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곳이 기동표 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10 </a:t>
            </a: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줄이 된다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대함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4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줄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대공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줄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검출이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0.1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 격자에 걸려 지정 좌표와 최대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5 m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어긋나는데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그림으로는 구분되지 않는다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" name="TextBox 2"/>
          <p:cNvSpPr/>
          <p:nvPr/>
        </p:nvSpPr>
        <p:spPr>
          <a:xfrm>
            <a:off x="567000" y="497880"/>
            <a:ext cx="4201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1115640" y="390960"/>
            <a:ext cx="1042380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2.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시뮬레이션 조건  </a:t>
            </a: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시나리오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/>
          <p:nvPr/>
        </p:nvSpPr>
        <p:spPr>
          <a:xfrm>
            <a:off x="1115640" y="577080"/>
            <a:ext cx="104238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60 </a:t>
            </a: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초 시나리오와 검사 결과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/>
          <p:nvPr/>
        </p:nvSpPr>
        <p:spPr>
          <a:xfrm>
            <a:off x="567000" y="6422760"/>
            <a:ext cx="4571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/>
          <p:nvPr/>
        </p:nvSpPr>
        <p:spPr>
          <a:xfrm>
            <a:off x="567000" y="1272600"/>
            <a:ext cx="329148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대공 표적 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(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숫자는 회전이 시작되는 지점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Picture 7" descr="f60_air.png"/>
          <p:cNvPicPr/>
          <p:nvPr/>
        </p:nvPicPr>
        <p:blipFill>
          <a:blip r:embed="rId1"/>
          <a:stretch/>
        </p:blipFill>
        <p:spPr>
          <a:xfrm>
            <a:off x="567000" y="1481400"/>
            <a:ext cx="3291480" cy="3637080"/>
          </a:xfrm>
          <a:prstGeom prst="rect">
            <a:avLst/>
          </a:prstGeom>
          <a:ln w="0">
            <a:noFill/>
          </a:ln>
        </p:spPr>
      </p:pic>
      <p:sp>
        <p:nvSpPr>
          <p:cNvPr id="9" name="TextBox 8"/>
          <p:cNvSpPr/>
          <p:nvPr/>
        </p:nvSpPr>
        <p:spPr>
          <a:xfrm>
            <a:off x="3996000" y="1272600"/>
            <a:ext cx="762588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60 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초 시나리오 한눈에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3996000" y="1481400"/>
          <a:ext cx="7625880" cy="1908360"/>
        </p:xfrm>
        <a:graphic>
          <a:graphicData uri="http://schemas.openxmlformats.org/drawingml/2006/table">
            <a:tbl>
              <a:tblPr/>
              <a:tblGrid>
                <a:gridCol w="2011680"/>
                <a:gridCol w="2806920"/>
                <a:gridCol w="2806920"/>
              </a:tblGrid>
              <a:tr h="23760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대함 표적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대공 표적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3760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초기 조건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32.125 / 126.03 / 0 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32.12 / 126.0 / 300 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3760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속도 </a:t>
                      </a: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· </a:t>
                      </a: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침로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30 m/s · Yaw 270°(</a:t>
                      </a: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서</a:t>
                      </a: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200 m/s · Yaw 180°(</a:t>
                      </a: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남</a:t>
                      </a: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3760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기동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Yaw </a:t>
                      </a: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선회 </a:t>
                      </a: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회 </a:t>
                      </a: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(±44.95°)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Yaw </a:t>
                      </a: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선회 </a:t>
                      </a: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회 </a:t>
                      </a: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(±89.90° 5 + 149.83°)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3760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|G| · </a:t>
                      </a: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선회 반경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1.000000 · 92 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8.205060 · 497 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3760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스텝당 회전각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1.87°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2.31°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3760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60 </a:t>
                      </a:r>
                      <a:r>
                        <a:rPr b="0" lang="zh-CN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초 종점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32.125000 / 126.012232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32.079032 / 126.010006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/>
          <p:nvPr/>
        </p:nvSpPr>
        <p:spPr>
          <a:xfrm>
            <a:off x="3996000" y="3449160"/>
            <a:ext cx="762588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대함 표적 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(</a:t>
            </a:r>
            <a:r>
              <a:rPr b="0" lang="zh-CN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좌우 대칭 지그재그</a:t>
            </a:r>
            <a:r>
              <a:rPr b="0" lang="en-US" sz="1050" spc="-1" strike="noStrike">
                <a:solidFill>
                  <a:srgbClr val="5c6b80"/>
                </a:solidFill>
                <a:latin typeface="맑은 고딕"/>
                <a:ea typeface="맑은 고딕"/>
              </a:rPr>
              <a:t>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Picture 11" descr="f60_ship.png"/>
          <p:cNvPicPr/>
          <p:nvPr/>
        </p:nvPicPr>
        <p:blipFill>
          <a:blip r:embed="rId2"/>
          <a:stretch/>
        </p:blipFill>
        <p:spPr>
          <a:xfrm>
            <a:off x="3996000" y="3657600"/>
            <a:ext cx="7625880" cy="1602720"/>
          </a:xfrm>
          <a:prstGeom prst="rect">
            <a:avLst/>
          </a:prstGeom>
          <a:ln w="0">
            <a:noFill/>
          </a:ln>
        </p:spPr>
      </p:pic>
      <p:sp>
        <p:nvSpPr>
          <p:cNvPr id="13" name="Rectangle 12"/>
          <p:cNvSpPr/>
          <p:nvPr/>
        </p:nvSpPr>
        <p:spPr>
          <a:xfrm>
            <a:off x="567000" y="5394960"/>
            <a:ext cx="11054880" cy="694440"/>
          </a:xfrm>
          <a:prstGeom prst="rect">
            <a:avLst/>
          </a:prstGeom>
          <a:solidFill>
            <a:srgbClr val="e2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" name="TextBox 13"/>
          <p:cNvSpPr/>
          <p:nvPr/>
        </p:nvSpPr>
        <p:spPr>
          <a:xfrm>
            <a:off x="859680" y="5574240"/>
            <a:ext cx="1046952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실제 엔진으로 검사했다</a:t>
            </a:r>
            <a:r>
              <a:rPr b="1" lang="en-US" sz="1100" spc="-1" strike="noStrike">
                <a:solidFill>
                  <a:srgbClr val="1c7293"/>
                </a:solidFill>
                <a:latin typeface="맑은 고딕"/>
                <a:ea typeface="맑은 고딕"/>
              </a:rPr>
              <a:t>.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UI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사전검사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(1 ms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격자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시간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/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간격 정수배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시각 격자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|G|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한계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스텝당 회전각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겹침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),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설정 검증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속력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30 · 200 m/s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와 고도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300 m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유지까지 전부 통과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실패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0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건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7000" y="402480"/>
            <a:ext cx="420120" cy="42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" name="TextBox 2"/>
          <p:cNvSpPr/>
          <p:nvPr/>
        </p:nvSpPr>
        <p:spPr>
          <a:xfrm>
            <a:off x="567000" y="497880"/>
            <a:ext cx="4201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14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1115640" y="390960"/>
            <a:ext cx="1042380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3. </a:t>
            </a: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기타 사항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/>
          <p:nvPr/>
        </p:nvSpPr>
        <p:spPr>
          <a:xfrm>
            <a:off x="1115640" y="577080"/>
            <a:ext cx="104238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25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제공 코드 이용과 설명 위치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/>
          <p:nvPr/>
        </p:nvSpPr>
        <p:spPr>
          <a:xfrm>
            <a:off x="567000" y="6422760"/>
            <a:ext cx="45716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과제 </a:t>
            </a:r>
            <a:r>
              <a:rPr b="0" lang="en-US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3 · </a:t>
            </a:r>
            <a:r>
              <a:rPr b="0" lang="zh-CN" sz="900" spc="-1" strike="noStrike">
                <a:solidFill>
                  <a:srgbClr val="a8b4c4"/>
                </a:solidFill>
                <a:latin typeface="맑은 고딕"/>
                <a:ea typeface="맑은 고딕"/>
              </a:rPr>
              <a:t>표적 궤적 모의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7000" y="1280160"/>
            <a:ext cx="5394600" cy="3200040"/>
          </a:xfrm>
          <a:prstGeom prst="rect">
            <a:avLst/>
          </a:prstGeom>
          <a:solidFill>
            <a:srgbClr val="db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" name="TextBox 7"/>
          <p:cNvSpPr/>
          <p:nvPr/>
        </p:nvSpPr>
        <p:spPr>
          <a:xfrm>
            <a:off x="841320" y="1487520"/>
            <a:ext cx="48459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(1)  </a:t>
            </a:r>
            <a:r>
              <a:rPr b="1" lang="zh-CN" sz="13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제공한 좌표변환 코드 이용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/>
          <p:nvPr/>
        </p:nvSpPr>
        <p:spPr>
          <a:xfrm>
            <a:off x="841320" y="1774080"/>
            <a:ext cx="48459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좌표변환과 행렬 코드는 한 글자도 고치지 않고 그대로 쓴다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프로젝트에 넣은 사본이 원본과 바이트 단위로 같음을 확인했다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841320" y="2414160"/>
          <a:ext cx="4882680" cy="1325520"/>
        </p:xfrm>
        <a:graphic>
          <a:graphicData uri="http://schemas.openxmlformats.org/drawingml/2006/table">
            <a:tbl>
              <a:tblPr/>
              <a:tblGrid>
                <a:gridCol w="2194560"/>
                <a:gridCol w="2688120"/>
              </a:tblGrid>
              <a:tr h="264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엔진이 부르는 함수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하는 일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64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f_Trans_Lla_To_Ecef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위경고도 →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ECEF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64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f_Trans_Ecef_To_Lla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ECEF →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위경고도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64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f_Trans_Body_To_Ned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동체 → 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NED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6496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f_Trans_Ned_To_Ecef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NED → ECEF (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기준점 포함</a:t>
                      </a: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/>
          <p:nvPr/>
        </p:nvSpPr>
        <p:spPr>
          <a:xfrm>
            <a:off x="841320" y="3858840"/>
            <a:ext cx="48459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5c6b80"/>
                </a:solidFill>
                <a:latin typeface="맑은 고딕"/>
                <a:ea typeface="맑은 고딕"/>
              </a:rPr>
              <a:t>CoordinateTransform.c/.h · matrixCalcLib.c/.h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72640" y="1280160"/>
            <a:ext cx="5348880" cy="320004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" name="TextBox 12"/>
          <p:cNvSpPr/>
          <p:nvPr/>
        </p:nvSpPr>
        <p:spPr>
          <a:xfrm>
            <a:off x="6546960" y="1487520"/>
            <a:ext cx="48459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(2) ~ (4)  </a:t>
            </a:r>
            <a:r>
              <a:rPr b="1" lang="zh-CN" sz="135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설명은 어디에 있는가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" name="Table 13"/>
          <p:cNvGraphicFramePr/>
          <p:nvPr/>
        </p:nvGraphicFramePr>
        <p:xfrm>
          <a:off x="6546960" y="1828800"/>
          <a:ext cx="4827600" cy="1170000"/>
        </p:xfrm>
        <a:graphic>
          <a:graphicData uri="http://schemas.openxmlformats.org/drawingml/2006/table">
            <a:tbl>
              <a:tblPr/>
              <a:tblGrid>
                <a:gridCol w="3017520"/>
                <a:gridCol w="1810440"/>
              </a:tblGrid>
              <a:tr h="29232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과제가 요구한 설명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zh-CN" sz="105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 자료에서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15243a"/>
                    </a:solidFill>
                  </a:tcPr>
                </a:tc>
              </a:tr>
              <a:tr h="29232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(2)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표적 구조체 정의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5 ~ 7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장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9232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(3)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구현 방법을 코드로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8 ~ 11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장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92320"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(4)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시뮬레이션 결과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8560" rIns="88560" tIns="51120" bIns="51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12 ~ 15 </a:t>
                      </a:r>
                      <a:r>
                        <a:rPr b="0" lang="zh-CN" sz="1050" spc="-1" strike="noStrike">
                          <a:solidFill>
                            <a:srgbClr val="15243a"/>
                          </a:solidFill>
                          <a:latin typeface="맑은 고딕"/>
                          <a:ea typeface="맑은 고딕"/>
                        </a:rPr>
                        <a:t>장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8560" marR="8856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/>
          <p:nvPr/>
        </p:nvSpPr>
        <p:spPr>
          <a:xfrm>
            <a:off x="6546960" y="3163680"/>
            <a:ext cx="4845960" cy="5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구조체는 설정값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상태값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정보 세 장으로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구현 방법은 좌표계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속도 변환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선회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·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적분 네 장으로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결과는 조건값과 초기값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기동 시나리오 네 장으로 나눠 설명한다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7000" y="4626720"/>
            <a:ext cx="11054880" cy="1462680"/>
          </a:xfrm>
          <a:prstGeom prst="rect">
            <a:avLst/>
          </a:prstGeom>
          <a:solidFill>
            <a:srgbClr val="e2e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" name="TextBox 16"/>
          <p:cNvSpPr/>
          <p:nvPr/>
        </p:nvSpPr>
        <p:spPr>
          <a:xfrm>
            <a:off x="859680" y="4825440"/>
            <a:ext cx="104695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50" spc="-1" strike="noStrike">
                <a:solidFill>
                  <a:srgbClr val="1c7293"/>
                </a:solidFill>
                <a:latin typeface="맑은 고딕"/>
                <a:ea typeface="맑은 고딕"/>
              </a:rPr>
              <a:t>원본을 그대로 쓰면서 맞춘 세 가지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17"/>
          <p:cNvSpPr/>
          <p:nvPr/>
        </p:nvSpPr>
        <p:spPr>
          <a:xfrm>
            <a:off x="859680" y="5214240"/>
            <a:ext cx="10469520" cy="6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인자 순서 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f_Trans_Lla_To_Ecef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는 경도를 먼저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f_Trans_Body_To_Ned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Roll · Yaw · Pitch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순서로 받는다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속도처럼 방향만 옮길 때는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f_Trans_Ned_To_Ecef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에 기준점을 원점으로 준다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br>
              <a:rPr sz="1100"/>
            </a:b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경계 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UI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TargetSim.h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한 장만 참조한다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화면이 쓰는 좌표 변환도 이 헤더로 내보내 원본 함수는 감췄다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br>
              <a:rPr sz="1100"/>
            </a:br>
            <a:r>
              <a:rPr b="1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형 이름 —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코딩룰이 요구하는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FLOAT64 · CHAR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를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Define.h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에 더하고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, MFC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와 부딪히는 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BOOL </a:t>
            </a:r>
            <a:r>
              <a:rPr b="0" lang="zh-CN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매크로는 뺐다</a:t>
            </a:r>
            <a:r>
              <a:rPr b="0" lang="en-US" sz="1100" spc="-1" strike="noStrike">
                <a:solidFill>
                  <a:srgbClr val="15243a"/>
                </a:solidFill>
                <a:latin typeface="맑은 고딕"/>
                <a:ea typeface="맑은 고딕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4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0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정리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435680"/>
            <a:ext cx="237240" cy="237240"/>
          </a:xfrm>
          <a:prstGeom prst="roundRect">
            <a:avLst>
              <a:gd name="adj" fmla="val 19231"/>
            </a:avLst>
          </a:prstGeom>
          <a:solidFill>
            <a:srgbClr val="6fb3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25440" y="14173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설정과 상태를 나눴다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83040" y="141732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입력값은 안 변하고 상태값만 변한다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.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개수는 배열이 아니라 숫자로 관리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892880"/>
            <a:ext cx="237240" cy="237240"/>
          </a:xfrm>
          <a:prstGeom prst="roundRect">
            <a:avLst>
              <a:gd name="adj" fmla="val 19231"/>
            </a:avLst>
          </a:prstGeom>
          <a:solidFill>
            <a:srgbClr val="6fb3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25440" y="18745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속도를 숫자 하나로 받았다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83040" y="187452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방향만 자세각에서 매번 새로 만든다 — 회전뿐이라 속력이 변할 데가 없다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350080"/>
            <a:ext cx="237240" cy="237240"/>
          </a:xfrm>
          <a:prstGeom prst="roundRect">
            <a:avLst>
              <a:gd name="adj" fmla="val 19231"/>
            </a:avLst>
          </a:prstGeom>
          <a:solidFill>
            <a:srgbClr val="6fb3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25440" y="23317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기동은 네 필드 그대로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83040" y="233172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구간 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[start, end)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동안 각속도가 걸리고 그 밖에서는 직진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2807280"/>
            <a:ext cx="237240" cy="237240"/>
          </a:xfrm>
          <a:prstGeom prst="roundRect">
            <a:avLst>
              <a:gd name="adj" fmla="val 19231"/>
            </a:avLst>
          </a:prstGeom>
          <a:solidFill>
            <a:srgbClr val="2e8b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25440" y="27889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계산은 </a:t>
            </a:r>
            <a:r>
              <a:rPr b="1" lang="en-US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ECEF </a:t>
            </a: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에서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83040" y="278892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위경도는 그냥 더할 수 없다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.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변환은 참고 소스 코드를 그대로 쓴다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3264480"/>
            <a:ext cx="237240" cy="237240"/>
          </a:xfrm>
          <a:prstGeom prst="roundRect">
            <a:avLst>
              <a:gd name="adj" fmla="val 19231"/>
            </a:avLst>
          </a:prstGeom>
          <a:solidFill>
            <a:srgbClr val="2e8b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25440" y="3246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동체 속도 → </a:t>
            </a:r>
            <a:r>
              <a:rPr b="1" lang="en-US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ECEF </a:t>
            </a: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는 두 번 회전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83040" y="324612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"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남쪽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"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은 서 있는 자리마다 다른 방향이기 때문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3721680"/>
            <a:ext cx="237240" cy="237240"/>
          </a:xfrm>
          <a:prstGeom prst="roundRect">
            <a:avLst>
              <a:gd name="adj" fmla="val 19231"/>
            </a:avLst>
          </a:prstGeom>
          <a:solidFill>
            <a:srgbClr val="2e8b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25440" y="37033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한 스텝은 중점법으로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83040" y="3703320"/>
            <a:ext cx="649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자세와 위치 모두 한가운데 값으로 — 선회할 때 옆으로 밀리는 오차를 상쇄한다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4809600"/>
            <a:ext cx="10560960" cy="1279800"/>
          </a:xfrm>
          <a:prstGeom prst="roundRect">
            <a:avLst>
              <a:gd name="adj" fmla="val 3333"/>
            </a:avLst>
          </a:prstGeom>
          <a:solidFill>
            <a:srgbClr val="1a2e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34000" y="49744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6fb3d9"/>
                </a:solidFill>
                <a:latin typeface="맑은 고딕"/>
                <a:ea typeface="맑은 고딕"/>
              </a:rPr>
              <a:t>다음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4000" y="5285160"/>
            <a:ext cx="9966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zh-CN" sz="12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결과 출력 및 검증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60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초 시나리오를 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UI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에서 돌려 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LLA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를 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CSV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로 저장하고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,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속력과 고도가 끝까지 유지되는지 확인한다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.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시간 간격을 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0.1 → 0.05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로 줄여 오차가 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1/4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로 떨어지는지도 함께 본다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2960" y="4178880"/>
            <a:ext cx="237240" cy="237240"/>
          </a:xfrm>
          <a:prstGeom prst="rect">
            <a:avLst/>
          </a:prstGeom>
          <a:solidFill>
            <a:srgbClr val="6fb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" name="TextBox 24"/>
          <p:cNvSpPr/>
          <p:nvPr/>
        </p:nvSpPr>
        <p:spPr>
          <a:xfrm>
            <a:off x="1225440" y="4197960"/>
            <a:ext cx="35658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회전 지점은 좌표로</a:t>
            </a:r>
            <a:r>
              <a:rPr b="1" lang="en-US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, </a:t>
            </a:r>
            <a:r>
              <a:rPr b="1" lang="zh-CN" sz="13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기동표는 시각으로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Box 25"/>
          <p:cNvSpPr/>
          <p:nvPr/>
        </p:nvSpPr>
        <p:spPr>
          <a:xfrm>
            <a:off x="4883040" y="4205520"/>
            <a:ext cx="649188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엔진을 그대로 돌려 </a:t>
            </a:r>
            <a:r>
              <a:rPr b="0" lang="en-US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0.1 </a:t>
            </a:r>
            <a:r>
              <a:rPr b="0" lang="zh-CN" sz="1200" spc="-1" strike="noStrike">
                <a:solidFill>
                  <a:srgbClr val="9fb3cc"/>
                </a:solidFill>
                <a:latin typeface="맑은 고딕"/>
                <a:ea typeface="맑은 고딕"/>
              </a:rPr>
              <a:t>초 격자 위의 시각을 찾아 옮겼다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2026-09-17T09:41:30Z</dcterms:created>
  <dc:creator>harley</dc:creator>
  <dc:description/>
  <dc:language>en-US</dc:language>
  <cp:lastModifiedBy>harley</cp:lastModifiedBy>
  <dcterms:modified xsi:type="dcterms:W3CDTF">2026-09-17T09:41:30Z</dcterms:modified>
  <cp:revision>1</cp:revision>
  <dc:subject>PptxGenJS Presentation</dc:subject>
  <dc:title>과제 3 - 표적 궤적 모의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17</vt:r8>
  </property>
  <property fmtid="{D5CDD505-2E9C-101B-9397-08002B2CF9AE}" pid="3" name="PresentationFormat">
    <vt:lpwstr>On-screen Show (16:9)</vt:lpwstr>
  </property>
  <property fmtid="{D5CDD505-2E9C-101B-9397-08002B2CF9AE}" pid="4" name="Slides">
    <vt:r8>17</vt:r8>
  </property>
</Properties>
</file>