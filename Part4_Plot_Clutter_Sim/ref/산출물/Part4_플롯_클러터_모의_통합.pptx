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6" r:id="rId17"/>
    <p:sldId id="267" r:id="rId18"/>
    <p:sldId id="268" r:id="rId6"/>
    <p:sldId id="269" r:id="rId5"/>
    <p:sldId id="270" r:id="rId4"/>
    <p:sldId id="271" r:id="rId3"/>
    <p:sldId id="272" r:id="rId2"/>
    <p:sldId id="273" r:id="rId24"/>
    <p:sldId id="274" r:id="rId25"/>
    <p:sldId id="275" r:id="rId26"/>
    <p:sldId id="276" r:id="rId27"/>
    <p:sldId id="277" r:id="rId28"/>
    <p:sldId id="278" r:id="rId29"/>
    <p:sldId id="279" r:id="rId30"/>
    <p:sldId id="280" r:id="rId31"/>
    <p:sldId id="281" r:id="rId32"/>
    <p:sldId id="282" r:id="rId33"/>
    <p:sldId id="283" r:id="rId34"/>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플롯과 클러터 모의를 발표하겠습니다. 레이다가 표적을 잰 것 같은 측정값을 컴퓨터로 만드는 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다섯 부분입니다. 플롯, 플롯 모의, 클러터의 개념을 먼저 설명드리고, 네 번째로 구현과 핵심 코드를, 다섯 번째로 실습 결과를 보여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플롯입니다. 플롯은 레이다가 표적을 한 번 잰 결과입니다. 위 흐름을 보시면, 과제 3에서는 표적의 실제 궤적을 만들었습니다. 이번 과제는 그 궤적을 레이다가 잰 것처럼 바꾸는 측정 모의이고, 여기서 만든 플롯을 다음 단계인 추적 필터가 받습니다. 아래 그림처럼 신호가 문턱을 넘은 칸을 히트라고 합니다. 붙어 있는 히트를 묶어 대표점 하나로 만든 것이 플롯이고, 플롯을 시간 순서로 이은 것이 트랙입니다. 빔이 한 방향에 머무는 시간을 드웰이라고 하며, 드웰마다 플롯이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플롯을 만드는 길은 두 가지입니다. 위쪽은 실제 레이다로, 수신 신호를 7단계로 처리합니다. 1번에서 3번은 신호를 다듬고 키우고, 4번과 5번은 문턱을 넘은 칸을 고르고, 6번과 7번은 그 칸을 묶고 모노펄스로 각도를 재서 위치를 정합니다. 아래쪽이 이번 과제의 플롯 모의입니다. 신호 생성과 신호처리를 건너뛰고, 참값에 잡음을 바로 더합니다. 이래도 되는 이유는 두 가지입니다. 첫째, 추적 필터가 받는 것은 플롯뿐입니다. 둘째, 신호처리를 거친 플롯도 결국 참값에 작은 오차가 더해진 값입니다. 그래서 오차 크기, 즉 표준편차 세 개만 맞추면 같은 입력을 만들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플롯 모의입니다. 위의 네 단계로 진행합니다. SNR 을 정하고, 표준편차 p 를 계산하고, 잡음을 뽑아서, 참값에 더합니다. SNR 은 신호 세기를 잡음 세기로 나눈 선형값입니다. 원래는 왼쪽 레이다 방정식으로 구하고 표적이 다가오면 커지지만, 실습은 20, 즉 신호가 잡음의 20배로 고정합니다. 참값을 구하는 방법은 4.5 에서 코드와 함께 보여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핵심인 표준편차 p 입니다. p 는 측정값이 참값에서 보통 얼마나 벗어나는지를 나타냅니다. 왼쪽 식은 세 개지만 모양이 같습니다. 분해능을 루트 2 SNR 로 나누고, 각도는 모노펄스 상수 KM 으로 한 번 더 나눕니다. 가운데 그림처럼 분해능은 두 표적을 따로 볼 수 있는 간격으로, 거리는 약 30 m 입니다. 한 표적의 측정값은 이보다 훨씬 좁게 흔들리는데, 그 폭이 p 입니다. 오른쪽에 과제 값을 넣었습니다. 루트 40 은 6.32 이고, 거리는 29.98 m 를 6.32 로 나눠 4.74 m 입니다. 방위각은 5.14도를 1.7 곱하기 6.32 로 나눠 0.478도, 고각은 0.494도입니다. 대역폭이 넓고, 빔이 좁고, SNR 이 클수록 p 가 작아집니다.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p 로 잡음을 뽑습니다. 왼쪽 식처럼 플롯 z 는 참값 x 에 잡음 v 를 더한 값이고, v 는 평균 0, 표준편차 p 인 정규분포를 따릅니다. 가운데 그림처럼 뽑은 값의 68 퍼센트는 플러스 마이너스 p 안에 들어옵니다. 오른쪽처럼 거리, 방위각, 고각마다 GAUSS 함수로 따로 뽑고, 세 잡음은 서로 독립입니다. 그래서 플롯은 참값 주위에 폭 p 로 흩어집니다. 실제 숫자로 만든 첫 플롯은 실습 결과에서 보여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클러터입니다. 레이다 전파는 표적에서만 돌아오지 않습니다. 파도, 섬, 비구름, 새 떼에서도 돌아옵니다. 이렇게 표적이 아닌 것에서 생긴 탐지가 클러터입니다. 클러터도 거리, 방위각, 고각을 가진 플롯으로 들어오기 때문에, 오른쪽처럼 플롯만 봐서는 어느 것이 표적인지 알 수 없습니다. 실제 클러터를 그대로 만드는 것은 하나의 연구 분야일 만큼 어려워서, 이번에는 범위 안에 무작위로 생기는 클러터로 단순하게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클러터 모의는 위의 세 단계입니다. 개수를 정하고, 생길 수 있는 범위인 FOV 를 정하고, 그 안에서 거리, 방위각, 고각을 균등난수로 따로 뽑습니다. 개수는 실습 조건대로 스캔마다 5개입니다. 오른쪽 아래처럼 0 과 1 사이 균등난수 u 를 범위에 곱합니다. 예를 들어 u 가 0.37 이면, 거리는 200 m 에 14,800 m 의 0.37 배를 더한 5,676 m 입니다. 클러터는 스캔마다 새로 뽑고, 표적과는 상관이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구현과 핵심 코드입니다. 과제 3 에서 표적을 모의했으니, 이번에는 그 표적을 레이다가 재는 단계입니다. 그래서 과제 3 프로그램을 Part 4 폴더에 그대로 복사하고, 그 위에 측정 모의를 더했습니다. 과제 3 원본은 손대지 않았습니다. 계산 라이브러리 TargetSimCore 에는 측정 모의 파일 PlotSim.c 를 더했고, 화면이 부르는 함수는 난수 확인, 표준편차 계산, 측정 모의 세 개입니다. 화면에는 네 가지를 더했습니다. 1번에 SNR 과 스캔당 클러터 수를 넣으면 바로 다시 모의하고, 2번에 이론 p 와 실제 오차가 나옵니다. 3번 지도는 표적 궤적 위에 플롯과 클러터를 겹쳐 그리고, 4번 버튼은 난수 확인 창을 엽니다. 실습 조건은 이 화면의 설정 그대로입니다. 맨 위에 시간 60초, 간격 0.1초, 왼쪽 표에 표적 5개, 1번 칸에 SNR 20 과 스캔당 클러터 5개가 보입니다. 표적은 과제 3 기본 시나리오의 대함, 대공에 3개를 더했고, 번호는 과제 3 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전체 흐름입니다. 왼쪽 상자가 함수이고, 들여쓴 것이 그 함수가 부르는 함수입니다. 파란 글자는 C 라이브러리 함수입니다. 시나리오를 실행하면 f_RunScenario 가 먼저 1번, 궤적을 과제 3 그대로 계산합니다. 표본은 601개입니다. 이어서 f_RunMeasure 가 측정 모의를 합니다. CPlotResult 의 f_Run 이 2번, C 라이브러리의 f_Pcs_Measure 를 불러 600 스캔의 참값, 플롯, 클러터를 만들고, 3번, 오차 표준편차와 지도 좌표를 정리합니다. 4번, 화면 요약 두 줄을 쓰고 f_SetMeasure 로 지도를 다시 그립니다. SNR 이나 클러터 수만 바꾸면 f_RunMeasure 부터 다시 하고, 궤적은 그대로 씁니다. 보이기 체크는 지도만 다시 그리고, 난수 확인 버튼은 따로 f_Pcs_TestRand 를 부릅니다. 이제 오른쪽 장 번호 순서로 코드를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재료인 표준편차와 난수입니다. 오른쪽 f_Pcs_CalcSigma 는 2.2 의 식을 그대로 옮겼습니다. 루트 2 SNR 을 root 로 한 번 구하고, 거리는 광속을 2 곱하기 대역폭 곱하기 root 로 나눕니다. 각도는 빔폭을 라디안으로 바꿔 KM 곱하기 root 로 나눕니다. SNR 20 을 넣으면 거리 4.740 m, 방위각 0.4781도, 고각 0.4939도이고, 화면 요약 첫 줄과 같은 값입니다. 왼쪽은 참고 소스의 난수 함수 그대로입니다. UNIRAN 은 이전 값에 16807 을 곱하고, 2의 31승 빼기 1 로 나눈 나머지를 다음 값으로 씁니다. 이 값을 SEED 에 남겨 이어 쓰므로, seed 가 같으면 늘 같은 순서가 나옵니다. GAUSS 는 UNIRAN 12개를 더해 6 을 빼고, dev 를 곱하고 m 을 더합니다. 12개 합은 평균 6, 분산 1 이라, 6 을 빼면 평균 0, 분산 1 인 종 모양이 됩니다. 그래서 잡음 v 는 GAUSS 0, p 로 뽑습니다.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모의의 본체인 f_Pcs_Measure 입니다. 왼쪽 번호를 따라가겠습니다. 1번, 처음에 p 를 계산하고 seed 를 12345 로 맞춥니다. 그래서 같은 입력이면 언제나 같은 결과가 나옵니다. 2번, 스캔마다 과제 3 의 표본 하나를 씁니다. 0.1초마다 하나씩 600 스캔이고, 레이다 위치와 자세는 그 시각의 플랫폼입니다. 3번, 표적마다 참값을 레이다 기준 거리, 방위각, 고각으로 바꿉니다. 4번, 성분마다 GAUSS 로 뽑은 잡음을 더하면 플롯이고, 지도에 그리려고 위경도로도 바꿔 둡니다. 5번, 클러터는 FOV 의 최솟값에 범위와 균등난수를 곱해 더하고, 스캔마다 새로 뽑습니다. 난수는 스캔마다 표적 1번부터 거리, 방위각, 고각 순서로 쓰고, 그다음 클러터에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3번과 4번에서 쓴 좌표 변환입니다. 위 함수는 참값을 구하고, 아래 함수는 지도에 그리려고 거꾸로 바꿉니다. 둘 다 참고 소스의 변환 함수를 차례로 부르기만 했습니다. 과제 3 의 표적 위치는 지구 중심 기준인 ECEF 입니다. 이것을 레이다 위치 기준 북, 동, 아래 좌표로 바꾸고, 레이다 자세로 동체 좌표, 다시 안테나 좌표로 바꾼 뒤 거리와 두 각도를 구합니다. 오른쪽 그림처럼 방위각은 조준축에서 왼쪽이 플러스입니다. 지금은 조준축이 북쪽이라 서쪽이 플러스입니다. 예를 들어 표적 1, 대함 표적은 처음에 거리 14,148 m, 방위각 마이너스 11.54도로 동쪽에 있고, 고각은 마이너스 0.06도입니다. 고각이 마이너스인 것은 지구가 둥글어서 14 km 떨어진 해면이 레이다 수평면보다 낮기 때문입니다. 참값으로 바꿨다가 아래 함수로 되돌려 보니 위치 차이는 최대 0.03 mm 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구현의 마지막은 화면 쪽에서 결과를 정리하는 CPlotResult 의 f_Run 입니다. 1번, 스캔 수는 표본 수 빼기 1, 즉 600 입니다. 2번, f_Pcs_Measure 를 한 번 불러 600 스캔을 모두 채웁니다. 3번, 플롯에서 참값을 뺀 오차를 성분마다 합과 제곱합으로 모아 마지막에 표준편차를 구합니다. 4번, 플롯과 클러터의 위경도는 지도 좌표로 바꿔 둡니다. 오른쪽 아래 f_RunMeasure 가 이 함수를 부르고, 이론 p 와 오차 표준편차를 요약 두 줄로 쓴 뒤 지도를 다시 그립니다. 지도는 클러터, 플롯, 궤적 순서로 그려서 점이 선을 가리지 않습니다. 여기까지가 구현이고, 이제 결과를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실습 결과입니다. 실습 1 은 난수입니다. 잡음과 클러터를 모두 난수로 만들기 때문에 난수부터 확인했습니다. 왼쪽은 화면의 난수 확인 창입니다. 아래 f_Pcs_TestRand 가 seed 를 12345 로 맞추고, UNIRAN 과 GAUSS 를 각각 10,000개 뽑아 막대로 셉니다. 오른쪽 숫자를 보시면, UNIRAN 은 막대 높이가 0.97 에서 1.05 사이로 1 근처에 고르게 나왔고, 평균은 0.503 입니다. GAUSS 는 평균 0.004, 표준편차 0.998 로 이론 곡선과 겹칩니다. 두 함수 모두 통과입니다.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플롯입니다. 위는 첫 플롯입니다. 표적 1 의 첫 거리 참값은 14,147.51 m 입니다. 처음 뽑은 GAUSS 에서 UNIRAN 12개의 합이 5.5538 이고, 6 을 빼고 4.74 m 를 곱하면 잡음은 마이너스 2.12 m, 더하면 플롯은 14,145.40 m 입니다. 이렇게 표적 5개로 600 스캔 동안 플롯 3,000개를 만들고, 플롯에서 참값을 빼서 오차의 표준편차를 구했습니다. 화면 요약 둘째 줄과 같은 값입니다. 거리는 4.80 m 로 이론값의 1.013배, 방위각은 0.996배, 고각은 0.998배입니다. 3,000개면 1.3 퍼센트 정도 흔들리는 것이 정상이라 잘 맞습니다. 아래 히스토그램도 이론 곡선과 겹칩니다.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 클러터입니다. 위 코드처럼 범위의 최솟값에, 범위 폭과 균등난수를 곱한 값을 더합니다. 방위각과 고각도 같은 식입니다. 스캔마다 5개, 모두 3,000개를 만들었고 FOV 밖은 하나도 없습니다. 그래프는 성분마다 막대 10개로 나눈 개수입니다. 고르게 뽑혔다면 막대마다 300개쯤이고, 점선이 그 300 입니다. 고른 정도는 카이제곱으로 봤습니다. 거리 5.91, 방위각 5.09, 고각 5.53 으로 모두 기준 21.67 보다 작아서 고르다고 볼 수 있습니다. 방위각이 플러스인 클러터는 모두 서쪽에 찍혀 부호도 맞았습니다.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결과를 LLA 지도에 그렸습니다. 과제 3 의 궤적 지도에 겹쳐 그렸고, 4.5 의 f_Pcs_SphToLla 로 위도, 경도, 고도로 바꿉니다. 선이 참값, 즉 표적 5개가 실제로 지나간 길입니다. 과제 3 처럼 표적마다 색이 다르고, 이름표가 있는 곳이 시작 위치입니다. 검은 점은 플롯 3,000개로, 선 바로 옆에 붙어 있습니다. 3번 표적이 크게 도는 모습도 보입니다. 회색 점은 클러터 3,000개이고, 부채꼴 범위 안에만 있습니다. 레이다 가까이 클러터가 촘촘한 것은 오류가 아닙니다. 거리를 고르게 뽑아서, 넓이가 작은 가까운 곳에 점이 몰려 보이는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들어주셔서 감사합니다. 질문 있으시면 말씀해 주세요.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4206240" y="2505456"/>
            <a:ext cx="6766560" cy="457200"/>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400" b="0" i="0" dirty="0">
                <a:solidFill>
                  <a:srgbClr val="AEB9CC"/>
                </a:solidFill>
                <a:latin typeface="맑은 고딕"/>
                <a:ea typeface="맑은 고딕"/>
                <a:cs typeface="맑은 고딕"/>
              </a:rPr>
              <a:t>레이다 SW 학습 과제 4</a:t>
            </a:r>
          </a:p>
        </p:txBody>
      </p:sp>
      <p:sp>
        <p:nvSpPr>
          <p:cNvPr id="5" name="Cover Title"/>
          <p:cNvSpPr txBox="1"/>
          <p:nvPr/>
        </p:nvSpPr>
        <p:spPr>
          <a:xfrm>
            <a:off x="4206240" y="2944368"/>
            <a:ext cx="6766560" cy="685800"/>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3800" b="1" i="0" dirty="0">
                <a:solidFill>
                  <a:srgbClr val="FFFFFF"/>
                </a:solidFill>
                <a:latin typeface="맑은 고딕"/>
                <a:ea typeface="맑은 고딕"/>
                <a:cs typeface="맑은 고딕"/>
              </a:rPr>
              <a:t>플롯 · 클러터 모의</a:t>
            </a:r>
          </a:p>
        </p:txBody>
      </p:sp>
      <p:cxnSp>
        <p:nvCxnSpPr>
          <p:cNvPr id="6" name="Connector 5"/>
          <p:cNvCxnSpPr/>
          <p:nvPr/>
        </p:nvCxnSpPr>
        <p:spPr>
          <a:xfrm>
            <a:off x="7863840" y="3913632"/>
            <a:ext cx="3108960" cy="0"/>
          </a:xfrm>
          <a:prstGeom prst="line">
            <a:avLst/>
          </a:prstGeom>
          <a:ln w="9525">
            <a:solidFill>
              <a:srgbClr val="AEB9CC"/>
            </a:solidFill>
          </a:ln>
        </p:spPr>
      </p:cxnSp>
      <p:sp>
        <p:nvSpPr>
          <p:cNvPr id="7" name="TextBox 6"/>
          <p:cNvSpPr txBox="1"/>
          <p:nvPr/>
        </p:nvSpPr>
        <p:spPr>
          <a:xfrm>
            <a:off x="4206240" y="4059936"/>
            <a:ext cx="6766560" cy="292608"/>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300" b="0" i="0" dirty="0">
                <a:solidFill>
                  <a:srgbClr val="AEB9CC"/>
                </a:solidFill>
                <a:latin typeface="Arial"/>
                <a:ea typeface="맑은 고딕"/>
                <a:cs typeface="맑은 고딕"/>
              </a:rPr>
              <a:t>Plot and Clutter Simulation</a:t>
            </a:r>
          </a:p>
        </p:txBody>
      </p:sp>
      <p:sp>
        <p:nvSpPr>
          <p:cNvPr id="8" name="TextBox 7"/>
          <p:cNvSpPr txBox="1"/>
          <p:nvPr/>
        </p:nvSpPr>
        <p:spPr>
          <a:xfrm>
            <a:off x="4206240" y="5120640"/>
            <a:ext cx="6766560" cy="292608"/>
          </a:xfrm>
          <a:prstGeom prst="rect">
            <a:avLst/>
          </a:prstGeom>
          <a:noFill/>
        </p:spPr>
        <p:txBody>
          <a:bodyPr wrap="none" lIns="0" tIns="0" rIns="0" bIns="0" anchor="t" rtlCol="0">
            <a:noAutofit/>
          </a:bodyPr>
          <a:lstStyle/>
          <a:p>
            <a:pPr algn="r">
              <a:lnSpc>
                <a:spcPct val="100000"/>
              </a:lnSpc>
              <a:spcBef>
                <a:spcPts val="0"/>
              </a:spcBef>
              <a:spcAft>
                <a:spcPts val="0"/>
              </a:spcAft>
              <a:buNone/>
            </a:pPr>
            <a:r>
              <a:rPr lang="ko-KR" altLang="en-US" sz="1200" b="0" i="0" dirty="0">
                <a:solidFill>
                  <a:srgbClr val="FFFFFF"/>
                </a:solidFill>
                <a:latin typeface="맑은 고딕"/>
                <a:ea typeface="맑은 고딕"/>
                <a:cs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1B2740"/>
          </a:solidFill>
          <a:ln>
            <a:noFill/>
          </a:ln>
          <a:effectLst/>
        </p:spPr>
        <p:txBody>
          <a:bodyPr rtlCol="0" anchor="ctr"/>
          <a:lstStyle/>
          <a:p>
            <a:pPr algn="ctr"/>
          </a:p>
        </p:txBody>
      </p:sp>
      <p:sp>
        <p:nvSpPr>
          <p:cNvPr id="3" name="TextBox 2"/>
          <p:cNvSpPr txBox="1"/>
          <p:nvPr/>
        </p:nvSpPr>
        <p:spPr>
          <a:xfrm>
            <a:off x="777240" y="502920"/>
            <a:ext cx="1828800" cy="411480"/>
          </a:xfrm>
          <a:prstGeom prst="rect">
            <a:avLst/>
          </a:prstGeom>
          <a:noFill/>
        </p:spPr>
        <p:txBody>
          <a:bodyPr wrap="none" lIns="0" tIns="0" rIns="0" bIns="0" anchor="t" rtlCol="0">
            <a:noAutofit/>
          </a:bodyPr>
          <a:lstStyle/>
          <a:p>
            <a:pPr algn="l">
              <a:lnSpc>
                <a:spcPct val="100000"/>
              </a:lnSpc>
              <a:spcBef>
                <a:spcPts val="0"/>
              </a:spcBef>
              <a:spcAft>
                <a:spcPts val="0"/>
              </a:spcAft>
              <a:buNone/>
            </a:pPr>
            <a:r>
              <a:rPr lang="ko-KR" altLang="en-US" sz="2600" b="1" i="0" dirty="0">
                <a:solidFill>
                  <a:srgbClr val="FFFFFF"/>
                </a:solidFill>
                <a:latin typeface="Arial"/>
                <a:ea typeface="맑은 고딕"/>
                <a:cs typeface="맑은 고딕"/>
              </a:rPr>
              <a:t>INDEX</a:t>
            </a:r>
          </a:p>
        </p:txBody>
      </p:sp>
      <p:cxnSp>
        <p:nvCxnSpPr>
          <p:cNvPr id="4" name="Connector 3"/>
          <p:cNvCxnSpPr/>
          <p:nvPr/>
        </p:nvCxnSpPr>
        <p:spPr>
          <a:xfrm>
            <a:off x="2103120" y="722376"/>
            <a:ext cx="2103120" cy="0"/>
          </a:xfrm>
          <a:prstGeom prst="line">
            <a:avLst/>
          </a:prstGeom>
          <a:ln w="9525">
            <a:solidFill>
              <a:srgbClr val="4A5A7A"/>
            </a:solidFill>
          </a:ln>
        </p:spPr>
      </p:cxnSp>
      <p:cxnSp>
        <p:nvCxnSpPr>
          <p:cNvPr id="5" name="Connector 4"/>
          <p:cNvCxnSpPr/>
          <p:nvPr/>
        </p:nvCxnSpPr>
        <p:spPr>
          <a:xfrm>
            <a:off x="4206240" y="722376"/>
            <a:ext cx="7269480" cy="0"/>
          </a:xfrm>
          <a:prstGeom prst="line">
            <a:avLst/>
          </a:prstGeom>
          <a:ln w="9525">
            <a:solidFill>
              <a:srgbClr val="D2D9E5"/>
            </a:solidFill>
          </a:ln>
        </p:spPr>
      </p:cxnSp>
      <p:sp>
        <p:nvSpPr>
          <p:cNvPr id="6" name="TextBox 5"/>
          <p:cNvSpPr txBox="1"/>
          <p:nvPr/>
        </p:nvSpPr>
        <p:spPr>
          <a:xfrm>
            <a:off x="457200" y="2743200"/>
            <a:ext cx="3291840" cy="1188720"/>
          </a:xfrm>
          <a:prstGeom prst="rect">
            <a:avLst/>
          </a:prstGeom>
          <a:noFill/>
        </p:spPr>
        <p:txBody>
          <a:bodyPr wrap="none" lIns="0" tIns="0" rIns="0" bIns="0" anchor="t" rtlCol="0">
            <a:noAutofit/>
          </a:bodyPr>
          <a:lstStyle/>
          <a:p>
            <a:pPr algn="ctr">
              <a:lnSpc>
                <a:spcPct val="135000"/>
              </a:lnSpc>
              <a:spcBef>
                <a:spcPts val="0"/>
              </a:spcBef>
              <a:spcAft>
                <a:spcPts val="0"/>
              </a:spcAft>
              <a:buNone/>
            </a:pPr>
            <a:r>
              <a:rPr lang="ko-KR" altLang="en-US" sz="1800" b="1" i="0" dirty="0">
                <a:solidFill>
                  <a:srgbClr val="FFFFFF"/>
                </a:solidFill>
                <a:latin typeface="맑은 고딕"/>
                <a:ea typeface="맑은 고딕"/>
                <a:cs typeface="맑은 고딕"/>
              </a:rPr>
              <a:t>플롯 · 클러터 모의</a:t>
            </a:r>
          </a:p>
          <a:p>
            <a:pPr algn="ctr">
              <a:lnSpc>
                <a:spcPct val="135000"/>
              </a:lnSpc>
              <a:spcBef>
                <a:spcPts val="0"/>
              </a:spcBef>
              <a:spcAft>
                <a:spcPts val="0"/>
              </a:spcAft>
              <a:buNone/>
            </a:pPr>
            <a:r>
              <a:rPr lang="ko-KR" altLang="en-US" sz="1100" b="0" i="0" dirty="0">
                <a:solidFill>
                  <a:srgbClr val="AEB9CC"/>
                </a:solidFill>
                <a:latin typeface="Arial"/>
                <a:ea typeface="맑은 고딕"/>
                <a:cs typeface="맑은 고딕"/>
              </a:rPr>
              <a:t>Plot and Clutter Simulation</a:t>
            </a:r>
          </a:p>
        </p:txBody>
      </p:sp>
      <p:sp>
        <p:nvSpPr>
          <p:cNvPr id="7" name="TextBox 6"/>
          <p:cNvSpPr txBox="1"/>
          <p:nvPr/>
        </p:nvSpPr>
        <p:spPr>
          <a:xfrm>
            <a:off x="457200" y="6035040"/>
            <a:ext cx="329184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1000" b="0" i="0" dirty="0">
                <a:solidFill>
                  <a:srgbClr val="AEB9CC"/>
                </a:solidFill>
                <a:latin typeface="맑은 고딕"/>
                <a:ea typeface="맑은 고딕"/>
                <a:cs typeface="맑은 고딕"/>
              </a:rPr>
              <a:t>Janghwan Kim (Harley)</a:t>
            </a:r>
          </a:p>
        </p:txBody>
      </p:sp>
      <p:sp>
        <p:nvSpPr>
          <p:cNvPr id="8" name="Index Num 1"/>
          <p:cNvSpPr txBox="1"/>
          <p:nvPr/>
        </p:nvSpPr>
        <p:spPr>
          <a:xfrm>
            <a:off x="4800600" y="1389888"/>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01</a:t>
            </a:r>
          </a:p>
        </p:txBody>
      </p:sp>
      <p:sp>
        <p:nvSpPr>
          <p:cNvPr id="9" name="Index Title 1"/>
          <p:cNvSpPr txBox="1"/>
          <p:nvPr/>
        </p:nvSpPr>
        <p:spPr>
          <a:xfrm>
            <a:off x="5852160" y="1389888"/>
            <a:ext cx="416966"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플롯</a:t>
            </a:r>
          </a:p>
        </p:txBody>
      </p:sp>
      <p:cxnSp>
        <p:nvCxnSpPr>
          <p:cNvPr id="10" name="Index Leader 1"/>
          <p:cNvCxnSpPr/>
          <p:nvPr/>
        </p:nvCxnSpPr>
        <p:spPr>
          <a:xfrm>
            <a:off x="6387998" y="1691640"/>
            <a:ext cx="4502506" cy="0"/>
          </a:xfrm>
          <a:prstGeom prst="line">
            <a:avLst/>
          </a:prstGeom>
          <a:ln w="15875">
            <a:solidFill>
              <a:srgbClr val="AEB9CC"/>
            </a:solidFill>
            <a:prstDash val="sysDot"/>
          </a:ln>
        </p:spPr>
      </p:cxnSp>
      <p:sp>
        <p:nvSpPr>
          <p:cNvPr id="11" name="Index Page 1"/>
          <p:cNvSpPr txBox="1"/>
          <p:nvPr/>
        </p:nvSpPr>
        <p:spPr>
          <a:xfrm>
            <a:off x="11009376" y="1389888"/>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3</a:t>
            </a:r>
          </a:p>
        </p:txBody>
      </p:sp>
      <p:cxnSp>
        <p:nvCxnSpPr>
          <p:cNvPr id="12" name="Index Rule 1"/>
          <p:cNvCxnSpPr/>
          <p:nvPr/>
        </p:nvCxnSpPr>
        <p:spPr>
          <a:xfrm>
            <a:off x="4800600" y="2020824"/>
            <a:ext cx="6720840" cy="0"/>
          </a:xfrm>
          <a:prstGeom prst="line">
            <a:avLst/>
          </a:prstGeom>
          <a:ln w="9525">
            <a:solidFill>
              <a:srgbClr val="D2D9E5"/>
            </a:solidFill>
          </a:ln>
        </p:spPr>
      </p:cxnSp>
      <p:sp>
        <p:nvSpPr>
          <p:cNvPr id="13" name="Index Num 2"/>
          <p:cNvSpPr txBox="1"/>
          <p:nvPr/>
        </p:nvSpPr>
        <p:spPr>
          <a:xfrm>
            <a:off x="4800600" y="2258568"/>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02</a:t>
            </a:r>
          </a:p>
        </p:txBody>
      </p:sp>
      <p:sp>
        <p:nvSpPr>
          <p:cNvPr id="14" name="Index Title 2"/>
          <p:cNvSpPr txBox="1"/>
          <p:nvPr/>
        </p:nvSpPr>
        <p:spPr>
          <a:xfrm>
            <a:off x="5852160" y="2258568"/>
            <a:ext cx="85222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플롯 모의</a:t>
            </a:r>
          </a:p>
        </p:txBody>
      </p:sp>
      <p:cxnSp>
        <p:nvCxnSpPr>
          <p:cNvPr id="15" name="Index Leader 2"/>
          <p:cNvCxnSpPr/>
          <p:nvPr/>
        </p:nvCxnSpPr>
        <p:spPr>
          <a:xfrm>
            <a:off x="6823252" y="2560320"/>
            <a:ext cx="4067252" cy="0"/>
          </a:xfrm>
          <a:prstGeom prst="line">
            <a:avLst/>
          </a:prstGeom>
          <a:ln w="15875">
            <a:solidFill>
              <a:srgbClr val="AEB9CC"/>
            </a:solidFill>
            <a:prstDash val="sysDot"/>
          </a:ln>
        </p:spPr>
      </p:cxnSp>
      <p:sp>
        <p:nvSpPr>
          <p:cNvPr id="16" name="Index Page 2"/>
          <p:cNvSpPr txBox="1"/>
          <p:nvPr/>
        </p:nvSpPr>
        <p:spPr>
          <a:xfrm>
            <a:off x="11009376" y="2258568"/>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5</a:t>
            </a:r>
          </a:p>
        </p:txBody>
      </p:sp>
      <p:cxnSp>
        <p:nvCxnSpPr>
          <p:cNvPr id="17" name="Index Rule 2"/>
          <p:cNvCxnSpPr/>
          <p:nvPr/>
        </p:nvCxnSpPr>
        <p:spPr>
          <a:xfrm>
            <a:off x="4800600" y="2889504"/>
            <a:ext cx="6720840" cy="0"/>
          </a:xfrm>
          <a:prstGeom prst="line">
            <a:avLst/>
          </a:prstGeom>
          <a:ln w="9525">
            <a:solidFill>
              <a:srgbClr val="D2D9E5"/>
            </a:solidFill>
          </a:ln>
        </p:spPr>
      </p:cxnSp>
      <p:sp>
        <p:nvSpPr>
          <p:cNvPr id="18" name="Index Num 3"/>
          <p:cNvSpPr txBox="1"/>
          <p:nvPr/>
        </p:nvSpPr>
        <p:spPr>
          <a:xfrm>
            <a:off x="4800600" y="3127248"/>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03</a:t>
            </a:r>
          </a:p>
        </p:txBody>
      </p:sp>
      <p:sp>
        <p:nvSpPr>
          <p:cNvPr id="19" name="Index Title 3"/>
          <p:cNvSpPr txBox="1"/>
          <p:nvPr/>
        </p:nvSpPr>
        <p:spPr>
          <a:xfrm>
            <a:off x="5852160" y="3127248"/>
            <a:ext cx="607161"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클러터</a:t>
            </a:r>
          </a:p>
        </p:txBody>
      </p:sp>
      <p:cxnSp>
        <p:nvCxnSpPr>
          <p:cNvPr id="20" name="Index Leader 3"/>
          <p:cNvCxnSpPr/>
          <p:nvPr/>
        </p:nvCxnSpPr>
        <p:spPr>
          <a:xfrm>
            <a:off x="6578193" y="3429000"/>
            <a:ext cx="4312311" cy="0"/>
          </a:xfrm>
          <a:prstGeom prst="line">
            <a:avLst/>
          </a:prstGeom>
          <a:ln w="15875">
            <a:solidFill>
              <a:srgbClr val="AEB9CC"/>
            </a:solidFill>
            <a:prstDash val="sysDot"/>
          </a:ln>
        </p:spPr>
      </p:cxnSp>
      <p:sp>
        <p:nvSpPr>
          <p:cNvPr id="21" name="Index Page 3"/>
          <p:cNvSpPr txBox="1"/>
          <p:nvPr/>
        </p:nvSpPr>
        <p:spPr>
          <a:xfrm>
            <a:off x="11009376" y="3127248"/>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8</a:t>
            </a:r>
          </a:p>
        </p:txBody>
      </p:sp>
      <p:cxnSp>
        <p:nvCxnSpPr>
          <p:cNvPr id="22" name="Index Rule 3"/>
          <p:cNvCxnSpPr/>
          <p:nvPr/>
        </p:nvCxnSpPr>
        <p:spPr>
          <a:xfrm>
            <a:off x="4800600" y="3758184"/>
            <a:ext cx="6720840" cy="0"/>
          </a:xfrm>
          <a:prstGeom prst="line">
            <a:avLst/>
          </a:prstGeom>
          <a:ln w="9525">
            <a:solidFill>
              <a:srgbClr val="D2D9E5"/>
            </a:solidFill>
          </a:ln>
        </p:spPr>
      </p:cxnSp>
      <p:sp>
        <p:nvSpPr>
          <p:cNvPr id="23" name="Index Num 4"/>
          <p:cNvSpPr txBox="1"/>
          <p:nvPr/>
        </p:nvSpPr>
        <p:spPr>
          <a:xfrm>
            <a:off x="4800600" y="3995927"/>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04</a:t>
            </a:r>
          </a:p>
        </p:txBody>
      </p:sp>
      <p:sp>
        <p:nvSpPr>
          <p:cNvPr id="24" name="Index Title 4"/>
          <p:cNvSpPr txBox="1"/>
          <p:nvPr/>
        </p:nvSpPr>
        <p:spPr>
          <a:xfrm>
            <a:off x="5852160" y="3995927"/>
            <a:ext cx="147767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구현과 핵심 코드</a:t>
            </a:r>
          </a:p>
        </p:txBody>
      </p:sp>
      <p:cxnSp>
        <p:nvCxnSpPr>
          <p:cNvPr id="25" name="Index Leader 4"/>
          <p:cNvCxnSpPr/>
          <p:nvPr/>
        </p:nvCxnSpPr>
        <p:spPr>
          <a:xfrm>
            <a:off x="7448702" y="4297679"/>
            <a:ext cx="3441802" cy="0"/>
          </a:xfrm>
          <a:prstGeom prst="line">
            <a:avLst/>
          </a:prstGeom>
          <a:ln w="15875">
            <a:solidFill>
              <a:srgbClr val="AEB9CC"/>
            </a:solidFill>
            <a:prstDash val="sysDot"/>
          </a:ln>
        </p:spPr>
      </p:cxnSp>
      <p:sp>
        <p:nvSpPr>
          <p:cNvPr id="26" name="Index Page 4"/>
          <p:cNvSpPr txBox="1"/>
          <p:nvPr/>
        </p:nvSpPr>
        <p:spPr>
          <a:xfrm>
            <a:off x="11009376" y="3995927"/>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10</a:t>
            </a:r>
          </a:p>
        </p:txBody>
      </p:sp>
      <p:cxnSp>
        <p:nvCxnSpPr>
          <p:cNvPr id="27" name="Index Rule 4"/>
          <p:cNvCxnSpPr/>
          <p:nvPr/>
        </p:nvCxnSpPr>
        <p:spPr>
          <a:xfrm>
            <a:off x="4800600" y="4626863"/>
            <a:ext cx="6720840" cy="0"/>
          </a:xfrm>
          <a:prstGeom prst="line">
            <a:avLst/>
          </a:prstGeom>
          <a:ln w="9525">
            <a:solidFill>
              <a:srgbClr val="D2D9E5"/>
            </a:solidFill>
          </a:ln>
        </p:spPr>
      </p:cxnSp>
      <p:sp>
        <p:nvSpPr>
          <p:cNvPr id="28" name="Index Num 5"/>
          <p:cNvSpPr txBox="1"/>
          <p:nvPr/>
        </p:nvSpPr>
        <p:spPr>
          <a:xfrm>
            <a:off x="4800600" y="4864608"/>
            <a:ext cx="91440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3000" b="1" i="0" dirty="0">
                <a:solidFill>
                  <a:srgbClr val="1B2740"/>
                </a:solidFill>
                <a:latin typeface="Arial"/>
                <a:ea typeface="맑은 고딕"/>
                <a:cs typeface="맑은 고딕"/>
              </a:rPr>
              <a:t>05</a:t>
            </a:r>
          </a:p>
        </p:txBody>
      </p:sp>
      <p:sp>
        <p:nvSpPr>
          <p:cNvPr id="29" name="Index Title 5"/>
          <p:cNvSpPr txBox="1"/>
          <p:nvPr/>
        </p:nvSpPr>
        <p:spPr>
          <a:xfrm>
            <a:off x="5852160" y="4864608"/>
            <a:ext cx="852220" cy="502920"/>
          </a:xfrm>
          <a:prstGeom prst="rect">
            <a:avLst/>
          </a:prstGeom>
          <a:noFill/>
        </p:spPr>
        <p:txBody>
          <a:bodyPr wrap="none" lIns="0" tIns="0" rIns="0" bIns="0" anchor="ctr" rtlCol="0">
            <a:noAutofit/>
          </a:bodyPr>
          <a:lstStyle/>
          <a:p>
            <a:pPr algn="l">
              <a:lnSpc>
                <a:spcPct val="100000"/>
              </a:lnSpc>
              <a:spcBef>
                <a:spcPts val="0"/>
              </a:spcBef>
              <a:spcAft>
                <a:spcPts val="0"/>
              </a:spcAft>
              <a:buNone/>
            </a:pPr>
            <a:r>
              <a:rPr lang="ko-KR" altLang="en-US" sz="1500" b="1" i="0" dirty="0">
                <a:solidFill>
                  <a:srgbClr val="1B2740"/>
                </a:solidFill>
                <a:latin typeface="맑은 고딕"/>
                <a:ea typeface="맑은 고딕"/>
                <a:cs typeface="맑은 고딕"/>
              </a:rPr>
              <a:t>실습 결과</a:t>
            </a:r>
          </a:p>
        </p:txBody>
      </p:sp>
      <p:cxnSp>
        <p:nvCxnSpPr>
          <p:cNvPr id="30" name="Index Rule 5"/>
          <p:cNvCxnSpPr/>
          <p:nvPr/>
        </p:nvCxnSpPr>
        <p:spPr>
          <a:xfrm>
            <a:off x="4800600" y="5495544"/>
            <a:ext cx="6720840" cy="0"/>
          </a:xfrm>
          <a:prstGeom prst="line">
            <a:avLst/>
          </a:prstGeom>
          <a:ln w="9525">
            <a:solidFill>
              <a:srgbClr val="D2D9E5"/>
            </a:solidFill>
          </a:ln>
        </p:spPr>
      </p:cxnSp>
      <p:sp>
        <p:nvSpPr>
          <p:cNvPr id="33" name="TextBox 32"/>
          <p:cNvSpPr txBox="1"/>
          <p:nvPr/>
        </p:nvSpPr>
        <p:spPr>
          <a:xfrm>
            <a:off x="7653528" y="6382512"/>
            <a:ext cx="1097280" cy="274320"/>
          </a:xfrm>
          <a:prstGeom prst="rect">
            <a:avLst/>
          </a:prstGeom>
          <a:noFill/>
        </p:spPr>
        <p:txBody>
          <a:bodyPr wrap="none" lIns="0" tIns="0" rIns="0" bIns="0" anchor="t" rtlCol="0">
            <a:noAutofit/>
          </a:bodyPr>
          <a:lstStyle/>
          <a:p>
            <a:pPr algn="ctr">
              <a:lnSpc>
                <a:spcPct val="100000"/>
              </a:lnSpc>
              <a:spcBef>
                <a:spcPts val="0"/>
              </a:spcBef>
              <a:spcAft>
                <a:spcPts val="0"/>
              </a:spcAft>
              <a:buNone/>
            </a:pPr>
            <a:r>
              <a:rPr lang="ko-KR" altLang="en-US" sz="900" b="0" i="0" dirty="0">
                <a:solidFill>
                  <a:srgbClr val="8794AC"/>
                </a:solidFill>
                <a:latin typeface="Arial"/>
                <a:ea typeface="맑은 고딕"/>
                <a:cs typeface="맑은 고딕"/>
              </a:rPr>
              <a:t>2</a:t>
            </a:r>
          </a:p>
        </p:txBody>
      </p:sp>
      <p:cxnSp>
        <p:nvCxnSpPr>
          <p:cNvPr id="34" name="Index Leader 5"/>
          <p:cNvCxnSpPr/>
          <p:nvPr/>
        </p:nvCxnSpPr>
        <p:spPr>
          <a:xfrm>
            <a:off x="6823252" y="5166360"/>
            <a:ext cx="4067252" cy="0"/>
          </a:xfrm>
          <a:prstGeom prst="line">
            <a:avLst/>
          </a:prstGeom>
          <a:ln w="15875">
            <a:solidFill>
              <a:srgbClr val="AEB9CC"/>
            </a:solidFill>
            <a:prstDash val="sysDot"/>
          </a:ln>
        </p:spPr>
      </p:cxnSp>
      <p:sp>
        <p:nvSpPr>
          <p:cNvPr id="35" name="Index Page 5"/>
          <p:cNvSpPr txBox="1"/>
          <p:nvPr/>
        </p:nvSpPr>
        <p:spPr>
          <a:xfrm>
            <a:off x="11009376" y="4864608"/>
            <a:ext cx="512064" cy="502920"/>
          </a:xfrm>
          <a:prstGeom prst="rect">
            <a:avLst/>
          </a:prstGeom>
          <a:noFill/>
        </p:spPr>
        <p:txBody>
          <a:bodyPr wrap="none" lIns="0" tIns="0" rIns="0" bIns="0" anchor="ctr" rtlCol="0">
            <a:noAutofit/>
          </a:bodyPr>
          <a:lstStyle/>
          <a:p>
            <a:pPr algn="r">
              <a:lnSpc>
                <a:spcPct val="100000"/>
              </a:lnSpc>
              <a:spcBef>
                <a:spcPts val="0"/>
              </a:spcBef>
              <a:spcAft>
                <a:spcPts val="0"/>
              </a:spcAft>
              <a:buNone/>
            </a:pPr>
            <a:r>
              <a:rPr lang="ko-KR" altLang="en-US" sz="1400" b="0" i="0" dirty="0">
                <a:solidFill>
                  <a:srgbClr val="1B2740"/>
                </a:solidFill>
                <a:latin typeface="Arial"/>
                <a:ea typeface="맑은 고딕"/>
                <a:cs typeface="맑은 고딕"/>
              </a:rPr>
              <a:t>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01. 플롯</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1.1 플롯은 레이다가 표적을 한 번 잰 결과입니다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3</a:t>
            </a:r>
          </a:p>
        </p:txBody>
      </p:sp>
      <p:sp>
        <p:nvSpPr>
          <p:cNvPr id="7" name="TextBox 6"/>
          <p:cNvSpPr txBox="1"/>
          <p:nvPr/>
        </p:nvSpPr>
        <p:spPr>
          <a:xfrm>
            <a:off x="640080" y="1965960"/>
            <a:ext cx="731520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레이다 처리 흐름에서의 위치</a:t>
            </a:r>
          </a:p>
        </p:txBody>
      </p:sp>
      <p:sp>
        <p:nvSpPr>
          <p:cNvPr id="8" name="Rectangle 7"/>
          <p:cNvSpPr/>
          <p:nvPr/>
        </p:nvSpPr>
        <p:spPr>
          <a:xfrm>
            <a:off x="640080" y="2304288"/>
            <a:ext cx="2452878" cy="74980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2340864"/>
            <a:ext cx="2269998" cy="347472"/>
          </a:xfrm>
          <a:prstGeom prst="rect">
            <a:avLst/>
          </a:prstGeom>
          <a:noFill/>
        </p:spPr>
        <p:txBody>
          <a:bodyPr wrap="square" anchor="ctr" lIns="0" tIns="0" rIns="0" bIns="0">
            <a:noAutofit/>
          </a:bodyPr>
          <a:lstStyle/>
          <a:p>
            <a:pPr algn="ctr">
              <a:lnSpc>
                <a:spcPct val="115000"/>
              </a:lnSpc>
              <a:spcAft>
                <a:spcPts val="0"/>
              </a:spcAft>
            </a:pPr>
            <a:r>
              <a:rPr sz="1350" b="1" i="0" lang="ko-KR" altLang="en-US">
                <a:solidFill>
                  <a:srgbClr val="1B2740"/>
                </a:solidFill>
                <a:latin typeface="맑은 고딕"/>
                <a:ea typeface="맑은 고딕"/>
                <a:cs typeface="맑은 고딕"/>
              </a:rPr>
              <a:t>표적 궤적 모의</a:t>
            </a:r>
          </a:p>
        </p:txBody>
      </p:sp>
      <p:sp>
        <p:nvSpPr>
          <p:cNvPr id="10" name="TextBox 9"/>
          <p:cNvSpPr txBox="1"/>
          <p:nvPr/>
        </p:nvSpPr>
        <p:spPr>
          <a:xfrm>
            <a:off x="731519" y="2688336"/>
            <a:ext cx="2269998" cy="292608"/>
          </a:xfrm>
          <a:prstGeom prst="rect">
            <a:avLst/>
          </a:prstGeom>
          <a:noFill/>
        </p:spPr>
        <p:txBody>
          <a:bodyPr wrap="square" anchor="ctr" lIns="0" tIns="0" rIns="0" bIns="0">
            <a:noAutofit/>
          </a:bodyPr>
          <a:lstStyle/>
          <a:p>
            <a:pPr algn="ctr">
              <a:lnSpc>
                <a:spcPct val="115000"/>
              </a:lnSpc>
              <a:spcAft>
                <a:spcPts val="0"/>
              </a:spcAft>
            </a:pPr>
            <a:r>
              <a:rPr sz="1100" b="0" i="0" lang="ko-KR" altLang="en-US">
                <a:solidFill>
                  <a:srgbClr val="4A5A7A"/>
                </a:solidFill>
                <a:latin typeface="맑은 고딕"/>
                <a:ea typeface="맑은 고딕"/>
                <a:cs typeface="맑은 고딕"/>
              </a:rPr>
              <a:t>참값: 시각별 위치 (과제 3)</a:t>
            </a:r>
          </a:p>
        </p:txBody>
      </p:sp>
      <p:cxnSp>
        <p:nvCxnSpPr>
          <p:cNvPr id="11" name="Connector 10"/>
          <p:cNvCxnSpPr/>
          <p:nvPr/>
        </p:nvCxnSpPr>
        <p:spPr>
          <a:xfrm>
            <a:off x="3147822" y="2679192"/>
            <a:ext cx="256032"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458718" y="2304288"/>
            <a:ext cx="2452878" cy="749808"/>
          </a:xfrm>
          <a:prstGeom prst="rect">
            <a:avLst/>
          </a:prstGeom>
          <a:solidFill>
            <a:srgbClr val="EEF3FE"/>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0158" y="2340864"/>
            <a:ext cx="2269998" cy="347472"/>
          </a:xfrm>
          <a:prstGeom prst="rect">
            <a:avLst/>
          </a:prstGeom>
          <a:noFill/>
        </p:spPr>
        <p:txBody>
          <a:bodyPr wrap="square" anchor="ctr" lIns="0" tIns="0" rIns="0" bIns="0">
            <a:noAutofit/>
          </a:bodyPr>
          <a:lstStyle/>
          <a:p>
            <a:pPr algn="ctr">
              <a:lnSpc>
                <a:spcPct val="115000"/>
              </a:lnSpc>
              <a:spcAft>
                <a:spcPts val="0"/>
              </a:spcAft>
            </a:pPr>
            <a:r>
              <a:rPr sz="1350" b="1" i="0" lang="ko-KR" altLang="en-US">
                <a:solidFill>
                  <a:srgbClr val="2563EB"/>
                </a:solidFill>
                <a:latin typeface="맑은 고딕"/>
                <a:ea typeface="맑은 고딕"/>
                <a:cs typeface="맑은 고딕"/>
              </a:rPr>
              <a:t>측정 모의  (이번 과제)</a:t>
            </a:r>
          </a:p>
        </p:txBody>
      </p:sp>
      <p:sp>
        <p:nvSpPr>
          <p:cNvPr id="14" name="TextBox 13"/>
          <p:cNvSpPr txBox="1"/>
          <p:nvPr/>
        </p:nvSpPr>
        <p:spPr>
          <a:xfrm>
            <a:off x="3550158" y="2688336"/>
            <a:ext cx="2269998" cy="292608"/>
          </a:xfrm>
          <a:prstGeom prst="rect">
            <a:avLst/>
          </a:prstGeom>
          <a:noFill/>
        </p:spPr>
        <p:txBody>
          <a:bodyPr wrap="square" anchor="ctr" lIns="0" tIns="0" rIns="0" bIns="0">
            <a:noAutofit/>
          </a:bodyPr>
          <a:lstStyle/>
          <a:p>
            <a:pPr algn="ctr">
              <a:lnSpc>
                <a:spcPct val="115000"/>
              </a:lnSpc>
              <a:spcAft>
                <a:spcPts val="0"/>
              </a:spcAft>
            </a:pPr>
            <a:r>
              <a:rPr sz="1100" b="0" i="0" lang="ko-KR" altLang="en-US">
                <a:solidFill>
                  <a:srgbClr val="4A5A7A"/>
                </a:solidFill>
                <a:latin typeface="맑은 고딕"/>
                <a:ea typeface="맑은 고딕"/>
                <a:cs typeface="맑은 고딕"/>
              </a:rPr>
              <a:t>플롯 · 클러터 만들기</a:t>
            </a:r>
          </a:p>
        </p:txBody>
      </p:sp>
      <p:cxnSp>
        <p:nvCxnSpPr>
          <p:cNvPr id="15" name="Connector 14"/>
          <p:cNvCxnSpPr/>
          <p:nvPr/>
        </p:nvCxnSpPr>
        <p:spPr>
          <a:xfrm>
            <a:off x="5966459" y="2679192"/>
            <a:ext cx="256033"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277356" y="2304288"/>
            <a:ext cx="2452878" cy="74980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8796" y="2340864"/>
            <a:ext cx="2269998" cy="347472"/>
          </a:xfrm>
          <a:prstGeom prst="rect">
            <a:avLst/>
          </a:prstGeom>
          <a:noFill/>
        </p:spPr>
        <p:txBody>
          <a:bodyPr wrap="square" anchor="ctr" lIns="0" tIns="0" rIns="0" bIns="0">
            <a:noAutofit/>
          </a:bodyPr>
          <a:lstStyle/>
          <a:p>
            <a:pPr algn="ctr">
              <a:lnSpc>
                <a:spcPct val="115000"/>
              </a:lnSpc>
              <a:spcAft>
                <a:spcPts val="0"/>
              </a:spcAft>
            </a:pPr>
            <a:r>
              <a:rPr sz="1350" b="1" i="0" lang="ko-KR" altLang="en-US">
                <a:solidFill>
                  <a:srgbClr val="1B2740"/>
                </a:solidFill>
                <a:latin typeface="맑은 고딕"/>
                <a:ea typeface="맑은 고딕"/>
                <a:cs typeface="맑은 고딕"/>
              </a:rPr>
              <a:t>추적 필터</a:t>
            </a:r>
          </a:p>
        </p:txBody>
      </p:sp>
      <p:sp>
        <p:nvSpPr>
          <p:cNvPr id="18" name="TextBox 17"/>
          <p:cNvSpPr txBox="1"/>
          <p:nvPr/>
        </p:nvSpPr>
        <p:spPr>
          <a:xfrm>
            <a:off x="6368796" y="2688336"/>
            <a:ext cx="2269998" cy="292608"/>
          </a:xfrm>
          <a:prstGeom prst="rect">
            <a:avLst/>
          </a:prstGeom>
          <a:noFill/>
        </p:spPr>
        <p:txBody>
          <a:bodyPr wrap="square" anchor="ctr" lIns="0" tIns="0" rIns="0" bIns="0">
            <a:noAutofit/>
          </a:bodyPr>
          <a:lstStyle/>
          <a:p>
            <a:pPr algn="ctr">
              <a:lnSpc>
                <a:spcPct val="115000"/>
              </a:lnSpc>
              <a:spcAft>
                <a:spcPts val="0"/>
              </a:spcAft>
            </a:pPr>
            <a:r>
              <a:rPr sz="1100" b="0" i="0" lang="ko-KR" altLang="en-US">
                <a:solidFill>
                  <a:srgbClr val="4A5A7A"/>
                </a:solidFill>
                <a:latin typeface="맑은 고딕"/>
                <a:ea typeface="맑은 고딕"/>
                <a:cs typeface="맑은 고딕"/>
              </a:rPr>
              <a:t>플롯으로 위치 · 속도 추정</a:t>
            </a:r>
          </a:p>
        </p:txBody>
      </p:sp>
      <p:cxnSp>
        <p:nvCxnSpPr>
          <p:cNvPr id="19" name="Connector 18"/>
          <p:cNvCxnSpPr/>
          <p:nvPr/>
        </p:nvCxnSpPr>
        <p:spPr>
          <a:xfrm>
            <a:off x="8785098" y="2679192"/>
            <a:ext cx="256032"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095994" y="2304288"/>
            <a:ext cx="2452878" cy="74980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7434" y="2340864"/>
            <a:ext cx="2269998" cy="347472"/>
          </a:xfrm>
          <a:prstGeom prst="rect">
            <a:avLst/>
          </a:prstGeom>
          <a:noFill/>
        </p:spPr>
        <p:txBody>
          <a:bodyPr wrap="square" anchor="ctr" lIns="0" tIns="0" rIns="0" bIns="0">
            <a:noAutofit/>
          </a:bodyPr>
          <a:lstStyle/>
          <a:p>
            <a:pPr algn="ctr">
              <a:lnSpc>
                <a:spcPct val="115000"/>
              </a:lnSpc>
              <a:spcAft>
                <a:spcPts val="0"/>
              </a:spcAft>
            </a:pPr>
            <a:r>
              <a:rPr sz="1350" b="1" i="0" lang="ko-KR" altLang="en-US">
                <a:solidFill>
                  <a:srgbClr val="1B2740"/>
                </a:solidFill>
                <a:latin typeface="맑은 고딕"/>
                <a:ea typeface="맑은 고딕"/>
                <a:cs typeface="맑은 고딕"/>
              </a:rPr>
              <a:t>전시 · 통제</a:t>
            </a:r>
          </a:p>
        </p:txBody>
      </p:sp>
      <p:sp>
        <p:nvSpPr>
          <p:cNvPr id="22" name="TextBox 21"/>
          <p:cNvSpPr txBox="1"/>
          <p:nvPr/>
        </p:nvSpPr>
        <p:spPr>
          <a:xfrm>
            <a:off x="9187434" y="2688336"/>
            <a:ext cx="2269998" cy="292608"/>
          </a:xfrm>
          <a:prstGeom prst="rect">
            <a:avLst/>
          </a:prstGeom>
          <a:noFill/>
        </p:spPr>
        <p:txBody>
          <a:bodyPr wrap="square" anchor="ctr" lIns="0" tIns="0" rIns="0" bIns="0">
            <a:noAutofit/>
          </a:bodyPr>
          <a:lstStyle/>
          <a:p>
            <a:pPr algn="ctr">
              <a:lnSpc>
                <a:spcPct val="115000"/>
              </a:lnSpc>
              <a:spcAft>
                <a:spcPts val="0"/>
              </a:spcAft>
            </a:pPr>
            <a:r>
              <a:rPr sz="1100" b="0" i="0" lang="ko-KR" altLang="en-US">
                <a:solidFill>
                  <a:srgbClr val="4A5A7A"/>
                </a:solidFill>
                <a:latin typeface="맑은 고딕"/>
                <a:ea typeface="맑은 고딕"/>
                <a:cs typeface="맑은 고딕"/>
              </a:rPr>
              <a:t>항적 표시</a:t>
            </a:r>
          </a:p>
        </p:txBody>
      </p:sp>
      <p:sp>
        <p:nvSpPr>
          <p:cNvPr id="23" name="TextBox 22"/>
          <p:cNvSpPr txBox="1"/>
          <p:nvPr/>
        </p:nvSpPr>
        <p:spPr>
          <a:xfrm>
            <a:off x="640080" y="3337560"/>
            <a:ext cx="640080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히트  →  플롯  →  트랙</a:t>
            </a:r>
          </a:p>
        </p:txBody>
      </p:sp>
      <p:pic>
        <p:nvPicPr>
          <p:cNvPr id="24" name="Picture 23" descr="image.png"/>
          <p:cNvPicPr>
            <a:picLocks noChangeAspect="1"/>
          </p:cNvPicPr>
          <p:nvPr/>
        </p:nvPicPr>
        <p:blipFill>
          <a:blip r:embed="rId2"/>
          <a:stretch>
            <a:fillRect/>
          </a:stretch>
        </p:blipFill>
        <p:spPr>
          <a:xfrm>
            <a:off x="640080" y="3703320"/>
            <a:ext cx="6400800" cy="1855304"/>
          </a:xfrm>
          <a:prstGeom prst="rect">
            <a:avLst/>
          </a:prstGeom>
        </p:spPr>
      </p:pic>
      <p:sp>
        <p:nvSpPr>
          <p:cNvPr id="25" name="TextBox 24"/>
          <p:cNvSpPr txBox="1"/>
          <p:nvPr/>
        </p:nvSpPr>
        <p:spPr>
          <a:xfrm>
            <a:off x="732434" y="5613488"/>
            <a:ext cx="1645920" cy="310896"/>
          </a:xfrm>
          <a:prstGeom prst="rect">
            <a:avLst/>
          </a:prstGeom>
          <a:noFill/>
        </p:spPr>
        <p:txBody>
          <a:bodyPr wrap="square" anchor="ctr" lIns="0" tIns="0" rIns="0" bIns="0">
            <a:noAutofit/>
          </a:bodyPr>
          <a:lstStyle/>
          <a:p>
            <a:pPr algn="ctr">
              <a:lnSpc>
                <a:spcPct val="115000"/>
              </a:lnSpc>
              <a:spcAft>
                <a:spcPts val="0"/>
              </a:spcAft>
            </a:pPr>
            <a:r>
              <a:rPr sz="1250" b="1" i="0" lang="ko-KR" altLang="en-US">
                <a:solidFill>
                  <a:srgbClr val="2563EB"/>
                </a:solidFill>
                <a:latin typeface="맑은 고딕"/>
                <a:ea typeface="맑은 고딕"/>
                <a:cs typeface="맑은 고딕"/>
              </a:rPr>
              <a:t>히트</a:t>
            </a:r>
          </a:p>
        </p:txBody>
      </p:sp>
      <p:sp>
        <p:nvSpPr>
          <p:cNvPr id="26" name="TextBox 25"/>
          <p:cNvSpPr txBox="1"/>
          <p:nvPr/>
        </p:nvSpPr>
        <p:spPr>
          <a:xfrm>
            <a:off x="3017520" y="5613488"/>
            <a:ext cx="1645920" cy="310896"/>
          </a:xfrm>
          <a:prstGeom prst="rect">
            <a:avLst/>
          </a:prstGeom>
          <a:noFill/>
        </p:spPr>
        <p:txBody>
          <a:bodyPr wrap="square" anchor="ctr" lIns="0" tIns="0" rIns="0" bIns="0">
            <a:noAutofit/>
          </a:bodyPr>
          <a:lstStyle/>
          <a:p>
            <a:pPr algn="ctr">
              <a:lnSpc>
                <a:spcPct val="115000"/>
              </a:lnSpc>
              <a:spcAft>
                <a:spcPts val="0"/>
              </a:spcAft>
            </a:pPr>
            <a:r>
              <a:rPr sz="1250" b="1" i="0" lang="ko-KR" altLang="en-US">
                <a:solidFill>
                  <a:srgbClr val="D97706"/>
                </a:solidFill>
                <a:latin typeface="맑은 고딕"/>
                <a:ea typeface="맑은 고딕"/>
                <a:cs typeface="맑은 고딕"/>
              </a:rPr>
              <a:t>플롯</a:t>
            </a:r>
          </a:p>
        </p:txBody>
      </p:sp>
      <p:sp>
        <p:nvSpPr>
          <p:cNvPr id="27" name="TextBox 26"/>
          <p:cNvSpPr txBox="1"/>
          <p:nvPr/>
        </p:nvSpPr>
        <p:spPr>
          <a:xfrm>
            <a:off x="5302605" y="5613488"/>
            <a:ext cx="1645920" cy="310896"/>
          </a:xfrm>
          <a:prstGeom prst="rect">
            <a:avLst/>
          </a:prstGeom>
          <a:noFill/>
        </p:spPr>
        <p:txBody>
          <a:bodyPr wrap="square" anchor="ctr" lIns="0" tIns="0" rIns="0" bIns="0">
            <a:noAutofit/>
          </a:bodyPr>
          <a:lstStyle/>
          <a:p>
            <a:pPr algn="ctr">
              <a:lnSpc>
                <a:spcPct val="115000"/>
              </a:lnSpc>
              <a:spcAft>
                <a:spcPts val="0"/>
              </a:spcAft>
            </a:pPr>
            <a:r>
              <a:rPr sz="1250" b="1" i="0" lang="ko-KR" altLang="en-US">
                <a:solidFill>
                  <a:srgbClr val="059669"/>
                </a:solidFill>
                <a:latin typeface="맑은 고딕"/>
                <a:ea typeface="맑은 고딕"/>
                <a:cs typeface="맑은 고딕"/>
              </a:rPr>
              <a:t>트랙</a:t>
            </a:r>
          </a:p>
        </p:txBody>
      </p:sp>
      <p:cxnSp>
        <p:nvCxnSpPr>
          <p:cNvPr id="28" name="Connector 27"/>
          <p:cNvCxnSpPr/>
          <p:nvPr/>
        </p:nvCxnSpPr>
        <p:spPr>
          <a:xfrm>
            <a:off x="7360920" y="3337560"/>
            <a:ext cx="418795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06640" y="3337560"/>
            <a:ext cx="731520" cy="786384"/>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2563EB"/>
                </a:solidFill>
                <a:latin typeface="맑은 고딕"/>
                <a:ea typeface="맑은 고딕"/>
                <a:cs typeface="맑은 고딕"/>
              </a:rPr>
              <a:t>히트</a:t>
            </a:r>
          </a:p>
        </p:txBody>
      </p:sp>
      <p:sp>
        <p:nvSpPr>
          <p:cNvPr id="30" name="TextBox 29"/>
          <p:cNvSpPr txBox="1"/>
          <p:nvPr/>
        </p:nvSpPr>
        <p:spPr>
          <a:xfrm>
            <a:off x="8183880" y="3337560"/>
            <a:ext cx="3319272" cy="786384"/>
          </a:xfrm>
          <a:prstGeom prst="rect">
            <a:avLst/>
          </a:prstGeom>
          <a:noFill/>
        </p:spPr>
        <p:txBody>
          <a:bodyPr wrap="square" anchor="ctr" lIns="0" tIns="0" rIns="0" bIns="0">
            <a:noAutofit/>
          </a:bodyPr>
          <a:lstStyle/>
          <a:p>
            <a:pPr algn="l">
              <a:lnSpc>
                <a:spcPct val="112000"/>
              </a:lnSpc>
              <a:spcAft>
                <a:spcPts val="0"/>
              </a:spcAft>
            </a:pPr>
            <a:r>
              <a:rPr sz="1200" b="0" i="0" lang="ko-KR" altLang="en-US">
                <a:solidFill>
                  <a:srgbClr val="1B2740"/>
                </a:solidFill>
                <a:latin typeface="맑은 고딕"/>
                <a:ea typeface="맑은 고딕"/>
                <a:cs typeface="맑은 고딕"/>
              </a:rPr>
              <a:t>신호가 문턱을 넘은 칸 하나. 표적 하나가 여러 히트를 낸다</a:t>
            </a:r>
          </a:p>
        </p:txBody>
      </p:sp>
      <p:cxnSp>
        <p:nvCxnSpPr>
          <p:cNvPr id="31" name="Connector 30"/>
          <p:cNvCxnSpPr/>
          <p:nvPr/>
        </p:nvCxnSpPr>
        <p:spPr>
          <a:xfrm>
            <a:off x="7360920" y="4123944"/>
            <a:ext cx="418795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06640" y="4123944"/>
            <a:ext cx="731520" cy="786384"/>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D97706"/>
                </a:solidFill>
                <a:latin typeface="맑은 고딕"/>
                <a:ea typeface="맑은 고딕"/>
                <a:cs typeface="맑은 고딕"/>
              </a:rPr>
              <a:t>플롯</a:t>
            </a:r>
          </a:p>
        </p:txBody>
      </p:sp>
      <p:sp>
        <p:nvSpPr>
          <p:cNvPr id="33" name="TextBox 32"/>
          <p:cNvSpPr txBox="1"/>
          <p:nvPr/>
        </p:nvSpPr>
        <p:spPr>
          <a:xfrm>
            <a:off x="8183880" y="4123944"/>
            <a:ext cx="3319272" cy="786384"/>
          </a:xfrm>
          <a:prstGeom prst="rect">
            <a:avLst/>
          </a:prstGeom>
          <a:noFill/>
        </p:spPr>
        <p:txBody>
          <a:bodyPr wrap="square" anchor="ctr" lIns="0" tIns="0" rIns="0" bIns="0">
            <a:noAutofit/>
          </a:bodyPr>
          <a:lstStyle/>
          <a:p>
            <a:pPr algn="l">
              <a:lnSpc>
                <a:spcPct val="112000"/>
              </a:lnSpc>
              <a:spcAft>
                <a:spcPts val="0"/>
              </a:spcAft>
            </a:pPr>
            <a:r>
              <a:rPr sz="1200" b="0" i="0" lang="ko-KR" altLang="en-US">
                <a:solidFill>
                  <a:srgbClr val="1B2740"/>
                </a:solidFill>
                <a:latin typeface="맑은 고딕"/>
                <a:ea typeface="맑은 고딕"/>
                <a:cs typeface="맑은 고딕"/>
              </a:rPr>
              <a:t>히트를 묶은 대표점. 거리 · 방위각 · 고각을 가진다</a:t>
            </a:r>
          </a:p>
        </p:txBody>
      </p:sp>
      <p:cxnSp>
        <p:nvCxnSpPr>
          <p:cNvPr id="34" name="Connector 33"/>
          <p:cNvCxnSpPr/>
          <p:nvPr/>
        </p:nvCxnSpPr>
        <p:spPr>
          <a:xfrm>
            <a:off x="7360920" y="4910328"/>
            <a:ext cx="418795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406640" y="4910328"/>
            <a:ext cx="731520" cy="786384"/>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059669"/>
                </a:solidFill>
                <a:latin typeface="맑은 고딕"/>
                <a:ea typeface="맑은 고딕"/>
                <a:cs typeface="맑은 고딕"/>
              </a:rPr>
              <a:t>트랙</a:t>
            </a:r>
          </a:p>
        </p:txBody>
      </p:sp>
      <p:sp>
        <p:nvSpPr>
          <p:cNvPr id="36" name="TextBox 35"/>
          <p:cNvSpPr txBox="1"/>
          <p:nvPr/>
        </p:nvSpPr>
        <p:spPr>
          <a:xfrm>
            <a:off x="8183880" y="4910328"/>
            <a:ext cx="3319272" cy="786384"/>
          </a:xfrm>
          <a:prstGeom prst="rect">
            <a:avLst/>
          </a:prstGeom>
          <a:noFill/>
        </p:spPr>
        <p:txBody>
          <a:bodyPr wrap="square" anchor="ctr" lIns="0" tIns="0" rIns="0" bIns="0">
            <a:noAutofit/>
          </a:bodyPr>
          <a:lstStyle/>
          <a:p>
            <a:pPr algn="l">
              <a:lnSpc>
                <a:spcPct val="112000"/>
              </a:lnSpc>
              <a:spcAft>
                <a:spcPts val="0"/>
              </a:spcAft>
            </a:pPr>
            <a:r>
              <a:rPr sz="1200" b="0" i="0" lang="ko-KR" altLang="en-US">
                <a:solidFill>
                  <a:srgbClr val="1B2740"/>
                </a:solidFill>
                <a:latin typeface="맑은 고딕"/>
                <a:ea typeface="맑은 고딕"/>
                <a:cs typeface="맑은 고딕"/>
              </a:rPr>
              <a:t>플롯을 시간 순서로 이은 궤적 (다음 단계)</a:t>
            </a:r>
          </a:p>
        </p:txBody>
      </p:sp>
      <p:cxnSp>
        <p:nvCxnSpPr>
          <p:cNvPr id="37" name="Connector 36"/>
          <p:cNvCxnSpPr/>
          <p:nvPr/>
        </p:nvCxnSpPr>
        <p:spPr>
          <a:xfrm>
            <a:off x="7360920" y="5696712"/>
            <a:ext cx="418795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406640" y="5806440"/>
            <a:ext cx="4096512" cy="310896"/>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1B2740"/>
                </a:solidFill>
                <a:latin typeface="맑은 고딕"/>
                <a:ea typeface="맑은 고딕"/>
                <a:cs typeface="맑은 고딕"/>
              </a:rPr>
              <a:t>드웰</a:t>
            </a:r>
            <a:r>
              <a:rPr sz="1100" b="0" i="0" lang="ko-KR" altLang="en-US">
                <a:solidFill>
                  <a:srgbClr val="4A5A7A"/>
                </a:solidFill>
                <a:latin typeface="맑은 고딕"/>
                <a:ea typeface="맑은 고딕"/>
                <a:cs typeface="맑은 고딕"/>
              </a:rPr>
              <a:t>  빔이 한 방향에 머무는 시간. 드웰마다 플롯이 나온다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01. 플롯</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1.2 플롯을 만드는 길은 두 가지, 이번 과제는 신호처리를 건너뜁니다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4</a:t>
            </a:r>
          </a:p>
        </p:txBody>
      </p:sp>
      <p:sp>
        <p:nvSpPr>
          <p:cNvPr id="7" name="Rounded Rectangle 6"/>
          <p:cNvSpPr/>
          <p:nvPr/>
        </p:nvSpPr>
        <p:spPr>
          <a:xfrm>
            <a:off x="640080" y="1965960"/>
            <a:ext cx="1417320" cy="420624"/>
          </a:xfrm>
          <a:prstGeom prst="roundRect">
            <a:avLst>
              <a:gd name="adj" fmla="val 1800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1965960"/>
            <a:ext cx="1271016" cy="420624"/>
          </a:xfrm>
          <a:prstGeom prst="rect">
            <a:avLst/>
          </a:prstGeom>
          <a:noFill/>
        </p:spPr>
        <p:txBody>
          <a:bodyPr wrap="square" anchor="ctr" lIns="0" tIns="0" rIns="0" bIns="0">
            <a:noAutofit/>
          </a:bodyPr>
          <a:lstStyle/>
          <a:p>
            <a:pPr algn="ctr">
              <a:lnSpc>
                <a:spcPct val="110000"/>
              </a:lnSpc>
              <a:spcAft>
                <a:spcPts val="0"/>
              </a:spcAft>
            </a:pPr>
            <a:r>
              <a:rPr sz="1250" b="1" i="0" lang="ko-KR" altLang="en-US">
                <a:solidFill>
                  <a:srgbClr val="FFFFFF"/>
                </a:solidFill>
                <a:latin typeface="맑은 고딕"/>
                <a:ea typeface="맑은 고딕"/>
                <a:cs typeface="맑은 고딕"/>
              </a:rPr>
              <a:t>① 실제 레이다</a:t>
            </a:r>
          </a:p>
        </p:txBody>
      </p:sp>
      <p:sp>
        <p:nvSpPr>
          <p:cNvPr id="9" name="Rounded Rectangle 8"/>
          <p:cNvSpPr/>
          <p:nvPr/>
        </p:nvSpPr>
        <p:spPr>
          <a:xfrm>
            <a:off x="2240280" y="1965960"/>
            <a:ext cx="3937145" cy="365760"/>
          </a:xfrm>
          <a:prstGeom prst="roundRect">
            <a:avLst>
              <a:gd name="adj" fmla="val 18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95144" y="1965960"/>
            <a:ext cx="3827417" cy="365760"/>
          </a:xfrm>
          <a:prstGeom prst="rect">
            <a:avLst/>
          </a:prstGeom>
          <a:noFill/>
        </p:spPr>
        <p:txBody>
          <a:bodyPr wrap="square" anchor="ctr" lIns="0" tIns="0" rIns="0" bIns="0">
            <a:noAutofit/>
          </a:bodyPr>
          <a:lstStyle/>
          <a:p>
            <a:pPr algn="ctr">
              <a:lnSpc>
                <a:spcPct val="110000"/>
              </a:lnSpc>
              <a:spcAft>
                <a:spcPts val="0"/>
              </a:spcAft>
            </a:pPr>
            <a:r>
              <a:rPr sz="1200" b="1" i="0" lang="ko-KR" altLang="en-US">
                <a:solidFill>
                  <a:srgbClr val="2563EB"/>
                </a:solidFill>
                <a:latin typeface="맑은 고딕"/>
                <a:ea typeface="맑은 고딕"/>
                <a:cs typeface="맑은 고딕"/>
              </a:rPr>
              <a:t>신호를 다듬고 키운다</a:t>
            </a:r>
          </a:p>
        </p:txBody>
      </p:sp>
      <p:sp>
        <p:nvSpPr>
          <p:cNvPr id="11" name="Rounded Rectangle 10"/>
          <p:cNvSpPr/>
          <p:nvPr/>
        </p:nvSpPr>
        <p:spPr>
          <a:xfrm>
            <a:off x="6268865" y="1965960"/>
            <a:ext cx="2594283" cy="365760"/>
          </a:xfrm>
          <a:prstGeom prst="roundRect">
            <a:avLst>
              <a:gd name="adj" fmla="val 18000"/>
            </a:avLst>
          </a:prstGeom>
          <a:solidFill>
            <a:srgbClr val="FD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3729" y="1965960"/>
            <a:ext cx="2484555" cy="365760"/>
          </a:xfrm>
          <a:prstGeom prst="rect">
            <a:avLst/>
          </a:prstGeom>
          <a:noFill/>
        </p:spPr>
        <p:txBody>
          <a:bodyPr wrap="square" anchor="ctr" lIns="0" tIns="0" rIns="0" bIns="0">
            <a:noAutofit/>
          </a:bodyPr>
          <a:lstStyle/>
          <a:p>
            <a:pPr algn="ctr">
              <a:lnSpc>
                <a:spcPct val="110000"/>
              </a:lnSpc>
              <a:spcAft>
                <a:spcPts val="0"/>
              </a:spcAft>
            </a:pPr>
            <a:r>
              <a:rPr sz="1200" b="1" i="0" lang="ko-KR" altLang="en-US">
                <a:solidFill>
                  <a:srgbClr val="D97706"/>
                </a:solidFill>
                <a:latin typeface="맑은 고딕"/>
                <a:ea typeface="맑은 고딕"/>
                <a:cs typeface="맑은 고딕"/>
              </a:rPr>
              <a:t>문턱을 넘은 칸을 고른다</a:t>
            </a:r>
          </a:p>
        </p:txBody>
      </p:sp>
      <p:sp>
        <p:nvSpPr>
          <p:cNvPr id="13" name="Rounded Rectangle 12"/>
          <p:cNvSpPr/>
          <p:nvPr/>
        </p:nvSpPr>
        <p:spPr>
          <a:xfrm>
            <a:off x="8954588" y="1965960"/>
            <a:ext cx="2594283" cy="365760"/>
          </a:xfrm>
          <a:prstGeom prst="roundRect">
            <a:avLst>
              <a:gd name="adj" fmla="val 18000"/>
            </a:avLst>
          </a:prstGeom>
          <a:solidFill>
            <a:srgbClr val="E7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9452" y="1965960"/>
            <a:ext cx="2484555" cy="365760"/>
          </a:xfrm>
          <a:prstGeom prst="rect">
            <a:avLst/>
          </a:prstGeom>
          <a:noFill/>
        </p:spPr>
        <p:txBody>
          <a:bodyPr wrap="square" anchor="ctr" lIns="0" tIns="0" rIns="0" bIns="0">
            <a:noAutofit/>
          </a:bodyPr>
          <a:lstStyle/>
          <a:p>
            <a:pPr algn="ctr">
              <a:lnSpc>
                <a:spcPct val="110000"/>
              </a:lnSpc>
              <a:spcAft>
                <a:spcPts val="0"/>
              </a:spcAft>
            </a:pPr>
            <a:r>
              <a:rPr sz="1200" b="1" i="0" lang="ko-KR" altLang="en-US">
                <a:solidFill>
                  <a:srgbClr val="059669"/>
                </a:solidFill>
                <a:latin typeface="맑은 고딕"/>
                <a:ea typeface="맑은 고딕"/>
                <a:cs typeface="맑은 고딕"/>
              </a:rPr>
              <a:t>묶어서 위치를 정한다</a:t>
            </a:r>
          </a:p>
        </p:txBody>
      </p:sp>
      <p:sp>
        <p:nvSpPr>
          <p:cNvPr id="15" name="TextBox 14"/>
          <p:cNvSpPr txBox="1"/>
          <p:nvPr/>
        </p:nvSpPr>
        <p:spPr>
          <a:xfrm>
            <a:off x="2240280"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2563EB"/>
                </a:solidFill>
                <a:latin typeface="Arial"/>
                <a:ea typeface="맑은 고딕"/>
                <a:cs typeface="Arial"/>
              </a:rPr>
              <a:t>1 </a:t>
            </a:r>
            <a:r>
              <a:rPr sz="1100" b="1" i="0" lang="ko-KR" altLang="en-US">
                <a:solidFill>
                  <a:srgbClr val="1B2740"/>
                </a:solidFill>
                <a:latin typeface="맑은 고딕"/>
                <a:ea typeface="맑은 고딕"/>
                <a:cs typeface="맑은 고딕"/>
              </a:rPr>
              <a:t>IQ 데이터</a:t>
            </a:r>
          </a:p>
        </p:txBody>
      </p:sp>
      <p:pic>
        <p:nvPicPr>
          <p:cNvPr id="16" name="Picture 15" descr="image.png"/>
          <p:cNvPicPr>
            <a:picLocks noChangeAspect="1"/>
          </p:cNvPicPr>
          <p:nvPr/>
        </p:nvPicPr>
        <p:blipFill>
          <a:blip r:embed="rId2"/>
          <a:stretch>
            <a:fillRect/>
          </a:stretch>
        </p:blipFill>
        <p:spPr>
          <a:xfrm>
            <a:off x="2240280" y="2697480"/>
            <a:ext cx="1251421" cy="814604"/>
          </a:xfrm>
          <a:prstGeom prst="rect">
            <a:avLst/>
          </a:prstGeom>
        </p:spPr>
      </p:pic>
      <p:sp>
        <p:nvSpPr>
          <p:cNvPr id="17" name="TextBox 16"/>
          <p:cNvSpPr txBox="1"/>
          <p:nvPr/>
        </p:nvSpPr>
        <p:spPr>
          <a:xfrm>
            <a:off x="3583141"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2563EB"/>
                </a:solidFill>
                <a:latin typeface="Arial"/>
                <a:ea typeface="맑은 고딕"/>
                <a:cs typeface="Arial"/>
              </a:rPr>
              <a:t>2 </a:t>
            </a:r>
            <a:r>
              <a:rPr sz="1100" b="1" i="0" lang="ko-KR" altLang="en-US">
                <a:solidFill>
                  <a:srgbClr val="1B2740"/>
                </a:solidFill>
                <a:latin typeface="맑은 고딕"/>
                <a:ea typeface="맑은 고딕"/>
                <a:cs typeface="맑은 고딕"/>
              </a:rPr>
              <a:t>펄스압축</a:t>
            </a:r>
          </a:p>
        </p:txBody>
      </p:sp>
      <p:pic>
        <p:nvPicPr>
          <p:cNvPr id="18" name="Picture 17" descr="image.png"/>
          <p:cNvPicPr>
            <a:picLocks noChangeAspect="1"/>
          </p:cNvPicPr>
          <p:nvPr/>
        </p:nvPicPr>
        <p:blipFill>
          <a:blip r:embed="rId3"/>
          <a:stretch>
            <a:fillRect/>
          </a:stretch>
        </p:blipFill>
        <p:spPr>
          <a:xfrm>
            <a:off x="3583141" y="2697480"/>
            <a:ext cx="1251421" cy="814604"/>
          </a:xfrm>
          <a:prstGeom prst="rect">
            <a:avLst/>
          </a:prstGeom>
        </p:spPr>
      </p:pic>
      <p:sp>
        <p:nvSpPr>
          <p:cNvPr id="19" name="TextBox 18"/>
          <p:cNvSpPr txBox="1"/>
          <p:nvPr/>
        </p:nvSpPr>
        <p:spPr>
          <a:xfrm>
            <a:off x="4926003"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2563EB"/>
                </a:solidFill>
                <a:latin typeface="Arial"/>
                <a:ea typeface="맑은 고딕"/>
                <a:cs typeface="Arial"/>
              </a:rPr>
              <a:t>3 </a:t>
            </a:r>
            <a:r>
              <a:rPr sz="1100" b="1" i="0" lang="ko-KR" altLang="en-US">
                <a:solidFill>
                  <a:srgbClr val="1B2740"/>
                </a:solidFill>
                <a:latin typeface="맑은 고딕"/>
                <a:ea typeface="맑은 고딕"/>
                <a:cs typeface="맑은 고딕"/>
              </a:rPr>
              <a:t>도플러 처리</a:t>
            </a:r>
          </a:p>
        </p:txBody>
      </p:sp>
      <p:pic>
        <p:nvPicPr>
          <p:cNvPr id="20" name="Picture 19" descr="image.png"/>
          <p:cNvPicPr>
            <a:picLocks noChangeAspect="1"/>
          </p:cNvPicPr>
          <p:nvPr/>
        </p:nvPicPr>
        <p:blipFill>
          <a:blip r:embed="rId4"/>
          <a:stretch>
            <a:fillRect/>
          </a:stretch>
        </p:blipFill>
        <p:spPr>
          <a:xfrm>
            <a:off x="4926003" y="2697480"/>
            <a:ext cx="1251421" cy="814604"/>
          </a:xfrm>
          <a:prstGeom prst="rect">
            <a:avLst/>
          </a:prstGeom>
        </p:spPr>
      </p:pic>
      <p:sp>
        <p:nvSpPr>
          <p:cNvPr id="21" name="TextBox 20"/>
          <p:cNvSpPr txBox="1"/>
          <p:nvPr/>
        </p:nvSpPr>
        <p:spPr>
          <a:xfrm>
            <a:off x="6268865"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D97706"/>
                </a:solidFill>
                <a:latin typeface="Arial"/>
                <a:ea typeface="맑은 고딕"/>
                <a:cs typeface="Arial"/>
              </a:rPr>
              <a:t>4 </a:t>
            </a:r>
            <a:r>
              <a:rPr sz="1100" b="1" i="0" lang="ko-KR" altLang="en-US">
                <a:solidFill>
                  <a:srgbClr val="1B2740"/>
                </a:solidFill>
                <a:latin typeface="맑은 고딕"/>
                <a:ea typeface="맑은 고딕"/>
                <a:cs typeface="맑은 고딕"/>
              </a:rPr>
              <a:t>CFAR</a:t>
            </a:r>
          </a:p>
        </p:txBody>
      </p:sp>
      <p:pic>
        <p:nvPicPr>
          <p:cNvPr id="22" name="Picture 21" descr="image.png"/>
          <p:cNvPicPr>
            <a:picLocks noChangeAspect="1"/>
          </p:cNvPicPr>
          <p:nvPr/>
        </p:nvPicPr>
        <p:blipFill>
          <a:blip r:embed="rId5"/>
          <a:stretch>
            <a:fillRect/>
          </a:stretch>
        </p:blipFill>
        <p:spPr>
          <a:xfrm>
            <a:off x="6268865" y="2697480"/>
            <a:ext cx="1251421" cy="814604"/>
          </a:xfrm>
          <a:prstGeom prst="rect">
            <a:avLst/>
          </a:prstGeom>
        </p:spPr>
      </p:pic>
      <p:sp>
        <p:nvSpPr>
          <p:cNvPr id="23" name="TextBox 22"/>
          <p:cNvSpPr txBox="1"/>
          <p:nvPr/>
        </p:nvSpPr>
        <p:spPr>
          <a:xfrm>
            <a:off x="7611726"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D97706"/>
                </a:solidFill>
                <a:latin typeface="Arial"/>
                <a:ea typeface="맑은 고딕"/>
                <a:cs typeface="Arial"/>
              </a:rPr>
              <a:t>5 </a:t>
            </a:r>
            <a:r>
              <a:rPr sz="1100" b="1" i="0" lang="ko-KR" altLang="en-US">
                <a:solidFill>
                  <a:srgbClr val="1B2740"/>
                </a:solidFill>
                <a:latin typeface="맑은 고딕"/>
                <a:ea typeface="맑은 고딕"/>
                <a:cs typeface="맑은 고딕"/>
              </a:rPr>
              <a:t>Hit 추출</a:t>
            </a:r>
          </a:p>
        </p:txBody>
      </p:sp>
      <p:pic>
        <p:nvPicPr>
          <p:cNvPr id="24" name="Picture 23" descr="image.png"/>
          <p:cNvPicPr>
            <a:picLocks noChangeAspect="1"/>
          </p:cNvPicPr>
          <p:nvPr/>
        </p:nvPicPr>
        <p:blipFill>
          <a:blip r:embed="rId6"/>
          <a:stretch>
            <a:fillRect/>
          </a:stretch>
        </p:blipFill>
        <p:spPr>
          <a:xfrm>
            <a:off x="7611726" y="2697480"/>
            <a:ext cx="1251421" cy="814604"/>
          </a:xfrm>
          <a:prstGeom prst="rect">
            <a:avLst/>
          </a:prstGeom>
        </p:spPr>
      </p:pic>
      <p:sp>
        <p:nvSpPr>
          <p:cNvPr id="25" name="TextBox 24"/>
          <p:cNvSpPr txBox="1"/>
          <p:nvPr/>
        </p:nvSpPr>
        <p:spPr>
          <a:xfrm>
            <a:off x="8954588"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059669"/>
                </a:solidFill>
                <a:latin typeface="Arial"/>
                <a:ea typeface="맑은 고딕"/>
                <a:cs typeface="Arial"/>
              </a:rPr>
              <a:t>6 </a:t>
            </a:r>
            <a:r>
              <a:rPr sz="1100" b="1" i="0" lang="ko-KR" altLang="en-US">
                <a:solidFill>
                  <a:srgbClr val="1B2740"/>
                </a:solidFill>
                <a:latin typeface="맑은 고딕"/>
                <a:ea typeface="맑은 고딕"/>
                <a:cs typeface="맑은 고딕"/>
              </a:rPr>
              <a:t>Hit 클러스터링</a:t>
            </a:r>
          </a:p>
        </p:txBody>
      </p:sp>
      <p:pic>
        <p:nvPicPr>
          <p:cNvPr id="26" name="Picture 25" descr="image.png"/>
          <p:cNvPicPr>
            <a:picLocks noChangeAspect="1"/>
          </p:cNvPicPr>
          <p:nvPr/>
        </p:nvPicPr>
        <p:blipFill>
          <a:blip r:embed="rId7"/>
          <a:stretch>
            <a:fillRect/>
          </a:stretch>
        </p:blipFill>
        <p:spPr>
          <a:xfrm>
            <a:off x="8954588" y="2697480"/>
            <a:ext cx="1251421" cy="814604"/>
          </a:xfrm>
          <a:prstGeom prst="rect">
            <a:avLst/>
          </a:prstGeom>
        </p:spPr>
      </p:pic>
      <p:sp>
        <p:nvSpPr>
          <p:cNvPr id="27" name="TextBox 26"/>
          <p:cNvSpPr txBox="1"/>
          <p:nvPr/>
        </p:nvSpPr>
        <p:spPr>
          <a:xfrm>
            <a:off x="10297450" y="2377440"/>
            <a:ext cx="1251421" cy="292608"/>
          </a:xfrm>
          <a:prstGeom prst="rect">
            <a:avLst/>
          </a:prstGeom>
          <a:noFill/>
        </p:spPr>
        <p:txBody>
          <a:bodyPr wrap="square" anchor="ctr" lIns="0" tIns="0" rIns="0" bIns="0">
            <a:noAutofit/>
          </a:bodyPr>
          <a:lstStyle/>
          <a:p>
            <a:pPr algn="l">
              <a:lnSpc>
                <a:spcPct val="115000"/>
              </a:lnSpc>
              <a:spcAft>
                <a:spcPts val="0"/>
              </a:spcAft>
            </a:pPr>
            <a:r>
              <a:rPr sz="1100" b="1" i="0" lang="ko-KR" altLang="en-US">
                <a:solidFill>
                  <a:srgbClr val="059669"/>
                </a:solidFill>
                <a:latin typeface="Arial"/>
                <a:ea typeface="맑은 고딕"/>
                <a:cs typeface="Arial"/>
              </a:rPr>
              <a:t>7 </a:t>
            </a:r>
            <a:r>
              <a:rPr sz="1100" b="1" i="0" lang="ko-KR" altLang="en-US">
                <a:solidFill>
                  <a:srgbClr val="1B2740"/>
                </a:solidFill>
                <a:latin typeface="맑은 고딕"/>
                <a:ea typeface="맑은 고딕"/>
                <a:cs typeface="맑은 고딕"/>
              </a:rPr>
              <a:t>모노펄스</a:t>
            </a:r>
          </a:p>
        </p:txBody>
      </p:sp>
      <p:pic>
        <p:nvPicPr>
          <p:cNvPr id="28" name="Picture 27" descr="image.png"/>
          <p:cNvPicPr>
            <a:picLocks noChangeAspect="1"/>
          </p:cNvPicPr>
          <p:nvPr/>
        </p:nvPicPr>
        <p:blipFill>
          <a:blip r:embed="rId8"/>
          <a:stretch>
            <a:fillRect/>
          </a:stretch>
        </p:blipFill>
        <p:spPr>
          <a:xfrm>
            <a:off x="10297450" y="2697480"/>
            <a:ext cx="1251421" cy="814604"/>
          </a:xfrm>
          <a:prstGeom prst="rect">
            <a:avLst/>
          </a:prstGeom>
        </p:spPr>
      </p:pic>
      <p:sp>
        <p:nvSpPr>
          <p:cNvPr id="29" name="TextBox 28"/>
          <p:cNvSpPr txBox="1"/>
          <p:nvPr/>
        </p:nvSpPr>
        <p:spPr>
          <a:xfrm>
            <a:off x="2240280" y="3584448"/>
            <a:ext cx="9308592" cy="31089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수신 신호 (IQ)  →  신호처리 7단계  →  </a:t>
            </a:r>
            <a:r>
              <a:rPr sz="1150" b="1" i="0" lang="ko-KR" altLang="en-US">
                <a:solidFill>
                  <a:srgbClr val="1B2740"/>
                </a:solidFill>
                <a:latin typeface="맑은 고딕"/>
                <a:ea typeface="맑은 고딕"/>
                <a:cs typeface="맑은 고딕"/>
              </a:rPr>
              <a:t>드웰 플롯</a:t>
            </a:r>
            <a:r>
              <a:rPr sz="1150" b="0" i="0" lang="ko-KR" altLang="en-US">
                <a:solidFill>
                  <a:srgbClr val="4A5A7A"/>
                </a:solidFill>
                <a:latin typeface="맑은 고딕"/>
                <a:ea typeface="맑은 고딕"/>
                <a:cs typeface="맑은 고딕"/>
              </a:rPr>
              <a:t>  (거리 · 방위각 · 고각)</a:t>
            </a:r>
            <a:r>
              <a:rPr sz="1150" b="0" i="0" lang="ko-KR" altLang="en-US">
                <a:solidFill>
                  <a:srgbClr val="647089"/>
                </a:solidFill>
                <a:latin typeface="맑은 고딕"/>
                <a:ea typeface="맑은 고딕"/>
                <a:cs typeface="맑은 고딕"/>
              </a:rPr>
              <a:t>        필요한 것: 파형, 안테나, 신호처리 전체</a:t>
            </a:r>
          </a:p>
        </p:txBody>
      </p:sp>
      <p:cxnSp>
        <p:nvCxnSpPr>
          <p:cNvPr id="30" name="Connector 29"/>
          <p:cNvCxnSpPr/>
          <p:nvPr/>
        </p:nvCxnSpPr>
        <p:spPr>
          <a:xfrm>
            <a:off x="640080" y="4023360"/>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 y="4224528"/>
            <a:ext cx="1417320" cy="42062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1" y="4224528"/>
            <a:ext cx="1271016" cy="420624"/>
          </a:xfrm>
          <a:prstGeom prst="rect">
            <a:avLst/>
          </a:prstGeom>
          <a:noFill/>
        </p:spPr>
        <p:txBody>
          <a:bodyPr wrap="square" anchor="ctr" lIns="0" tIns="0" rIns="0" bIns="0">
            <a:noAutofit/>
          </a:bodyPr>
          <a:lstStyle/>
          <a:p>
            <a:pPr algn="ctr">
              <a:lnSpc>
                <a:spcPct val="110000"/>
              </a:lnSpc>
              <a:spcAft>
                <a:spcPts val="0"/>
              </a:spcAft>
            </a:pPr>
            <a:r>
              <a:rPr sz="1250" b="1" i="0" lang="ko-KR" altLang="en-US">
                <a:solidFill>
                  <a:srgbClr val="FFFFFF"/>
                </a:solidFill>
                <a:latin typeface="맑은 고딕"/>
                <a:ea typeface="맑은 고딕"/>
                <a:cs typeface="맑은 고딕"/>
              </a:rPr>
              <a:t>② 플롯 모의</a:t>
            </a:r>
          </a:p>
        </p:txBody>
      </p:sp>
      <p:sp>
        <p:nvSpPr>
          <p:cNvPr id="33" name="Rectangle 32"/>
          <p:cNvSpPr/>
          <p:nvPr/>
        </p:nvSpPr>
        <p:spPr>
          <a:xfrm>
            <a:off x="2240280" y="4114800"/>
            <a:ext cx="1691640" cy="64008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13432" y="4114800"/>
            <a:ext cx="1545336" cy="640080"/>
          </a:xfrm>
          <a:prstGeom prst="rect">
            <a:avLst/>
          </a:prstGeom>
          <a:noFill/>
        </p:spPr>
        <p:txBody>
          <a:bodyPr wrap="square" anchor="ctr" lIns="0" tIns="0" rIns="0" bIns="0">
            <a:noAutofit/>
          </a:bodyPr>
          <a:lstStyle/>
          <a:p>
            <a:pPr algn="ctr">
              <a:lnSpc>
                <a:spcPct val="110000"/>
              </a:lnSpc>
              <a:spcAft>
                <a:spcPts val="0"/>
              </a:spcAft>
            </a:pPr>
            <a:r>
              <a:rPr sz="1300" b="1" i="0" lang="ko-KR" altLang="en-US">
                <a:solidFill>
                  <a:srgbClr val="1B2740"/>
                </a:solidFill>
                <a:latin typeface="맑은 고딕"/>
                <a:ea typeface="맑은 고딕"/>
                <a:cs typeface="맑은 고딕"/>
              </a:rPr>
              <a:t>표적 참값 x</a:t>
            </a:r>
          </a:p>
        </p:txBody>
      </p:sp>
      <p:cxnSp>
        <p:nvCxnSpPr>
          <p:cNvPr id="35" name="Connector 34"/>
          <p:cNvCxnSpPr/>
          <p:nvPr/>
        </p:nvCxnSpPr>
        <p:spPr>
          <a:xfrm>
            <a:off x="3977640" y="4434840"/>
            <a:ext cx="274320"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297680" y="4224528"/>
            <a:ext cx="3383280" cy="420623"/>
          </a:xfrm>
          <a:prstGeom prst="roundRect">
            <a:avLst>
              <a:gd name="adj" fmla="val 18000"/>
            </a:avLst>
          </a:prstGeom>
          <a:solidFill>
            <a:srgbClr val="FFFFFF"/>
          </a:solidFill>
          <a:ln w="9525">
            <a:solidFill>
              <a:srgbClr val="2563E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7680" y="4224528"/>
            <a:ext cx="3383280" cy="420623"/>
          </a:xfrm>
          <a:prstGeom prst="rect">
            <a:avLst/>
          </a:prstGeom>
          <a:noFill/>
        </p:spPr>
        <p:txBody>
          <a:bodyPr wrap="square" anchor="ctr" lIns="0" tIns="0" rIns="0" bIns="0">
            <a:noAutofit/>
          </a:bodyPr>
          <a:lstStyle/>
          <a:p>
            <a:pPr algn="ctr">
              <a:lnSpc>
                <a:spcPct val="115000"/>
              </a:lnSpc>
              <a:spcAft>
                <a:spcPts val="0"/>
              </a:spcAft>
            </a:pPr>
            <a:r>
              <a:rPr sz="1250" b="1" i="0" lang="ko-KR" altLang="en-US">
                <a:solidFill>
                  <a:srgbClr val="2563EB"/>
                </a:solidFill>
                <a:latin typeface="맑은 고딕"/>
                <a:ea typeface="맑은 고딕"/>
                <a:cs typeface="맑은 고딕"/>
              </a:rPr>
              <a:t>신호 생성 · 신호처리 생략</a:t>
            </a:r>
          </a:p>
        </p:txBody>
      </p:sp>
      <p:cxnSp>
        <p:nvCxnSpPr>
          <p:cNvPr id="38" name="Connector 37"/>
          <p:cNvCxnSpPr/>
          <p:nvPr/>
        </p:nvCxnSpPr>
        <p:spPr>
          <a:xfrm>
            <a:off x="7726680" y="4434840"/>
            <a:ext cx="274320"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046720" y="4114800"/>
            <a:ext cx="2057400" cy="640080"/>
          </a:xfrm>
          <a:prstGeom prst="rect">
            <a:avLst/>
          </a:prstGeom>
          <a:solidFill>
            <a:srgbClr val="EEF3FE"/>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19872" y="4114800"/>
            <a:ext cx="1911095" cy="640080"/>
          </a:xfrm>
          <a:prstGeom prst="rect">
            <a:avLst/>
          </a:prstGeom>
          <a:noFill/>
        </p:spPr>
        <p:txBody>
          <a:bodyPr wrap="square" anchor="ctr" lIns="0" tIns="0" rIns="0" bIns="0">
            <a:noAutofit/>
          </a:bodyPr>
          <a:lstStyle/>
          <a:p>
            <a:pPr algn="ctr">
              <a:lnSpc>
                <a:spcPct val="110000"/>
              </a:lnSpc>
              <a:spcAft>
                <a:spcPts val="0"/>
              </a:spcAft>
            </a:pPr>
            <a:r>
              <a:rPr sz="1300" b="1" i="0" lang="ko-KR" altLang="en-US">
                <a:solidFill>
                  <a:srgbClr val="2563EB"/>
                </a:solidFill>
                <a:latin typeface="맑은 고딕"/>
                <a:ea typeface="맑은 고딕"/>
                <a:cs typeface="맑은 고딕"/>
              </a:rPr>
              <a:t>플롯 z = x + v</a:t>
            </a:r>
          </a:p>
        </p:txBody>
      </p:sp>
      <p:sp>
        <p:nvSpPr>
          <p:cNvPr id="41" name="TextBox 40"/>
          <p:cNvSpPr txBox="1"/>
          <p:nvPr/>
        </p:nvSpPr>
        <p:spPr>
          <a:xfrm>
            <a:off x="10305288" y="4114800"/>
            <a:ext cx="1243583" cy="640080"/>
          </a:xfrm>
          <a:prstGeom prst="rect">
            <a:avLst/>
          </a:prstGeom>
          <a:noFill/>
        </p:spPr>
        <p:txBody>
          <a:bodyPr wrap="square" anchor="ctr" lIns="0" tIns="0" rIns="0" bIns="0">
            <a:noAutofit/>
          </a:bodyPr>
          <a:lstStyle/>
          <a:p>
            <a:pPr algn="l">
              <a:lnSpc>
                <a:spcPct val="110000"/>
              </a:lnSpc>
              <a:spcAft>
                <a:spcPts val="100"/>
              </a:spcAft>
            </a:pPr>
            <a:r>
              <a:rPr sz="1050" b="0" i="0" lang="ko-KR" altLang="en-US">
                <a:solidFill>
                  <a:srgbClr val="647089"/>
                </a:solidFill>
                <a:latin typeface="맑은 고딕"/>
                <a:ea typeface="맑은 고딕"/>
                <a:cs typeface="맑은 고딕"/>
              </a:rPr>
              <a:t>필요한 것</a:t>
            </a:r>
          </a:p>
          <a:p>
            <a:pPr algn="l">
              <a:lnSpc>
                <a:spcPct val="110000"/>
              </a:lnSpc>
              <a:spcAft>
                <a:spcPts val="0"/>
              </a:spcAft>
            </a:pPr>
            <a:r>
              <a:rPr sz="1200" b="1" i="0" lang="ko-KR" altLang="en-US">
                <a:solidFill>
                  <a:srgbClr val="1B2740"/>
                </a:solidFill>
                <a:latin typeface="맑은 고딕"/>
                <a:ea typeface="맑은 고딕"/>
                <a:cs typeface="맑은 고딕"/>
              </a:rPr>
              <a:t>표준편차 3개</a:t>
            </a:r>
          </a:p>
        </p:txBody>
      </p:sp>
      <p:sp>
        <p:nvSpPr>
          <p:cNvPr id="42" name="TextBox 41"/>
          <p:cNvSpPr txBox="1"/>
          <p:nvPr/>
        </p:nvSpPr>
        <p:spPr>
          <a:xfrm>
            <a:off x="640080" y="4956048"/>
            <a:ext cx="640080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건너뛰어도 되는 이유</a:t>
            </a:r>
          </a:p>
        </p:txBody>
      </p:sp>
      <p:sp>
        <p:nvSpPr>
          <p:cNvPr id="43" name="TextBox 42"/>
          <p:cNvSpPr txBox="1"/>
          <p:nvPr/>
        </p:nvSpPr>
        <p:spPr>
          <a:xfrm>
            <a:off x="640080" y="5303520"/>
            <a:ext cx="6949440" cy="868680"/>
          </a:xfrm>
          <a:prstGeom prst="rect">
            <a:avLst/>
          </a:prstGeom>
          <a:noFill/>
        </p:spPr>
        <p:txBody>
          <a:bodyPr wrap="square" anchor="t" lIns="0" tIns="0" rIns="0" bIns="0">
            <a:noAutofit/>
          </a:bodyPr>
          <a:lstStyle/>
          <a:p>
            <a:pPr algn="l" marL="164592" indent="-164592">
              <a:lnSpc>
                <a:spcPct val="115000"/>
              </a:lnSpc>
              <a:spcAft>
                <a:spcPts val="500"/>
              </a:spcAft>
              <a:buClr>
                <a:srgbClr val="2563EB"/>
              </a:buClr>
              <a:buFont typeface="Arial"/>
              <a:buChar char="▪"/>
            </a:pPr>
            <a:r>
              <a:rPr sz="1250" b="1" i="0" lang="ko-KR" altLang="en-US">
                <a:solidFill>
                  <a:srgbClr val="1B2740"/>
                </a:solidFill>
                <a:latin typeface="맑은 고딕"/>
                <a:ea typeface="맑은 고딕"/>
                <a:cs typeface="맑은 고딕"/>
              </a:rPr>
              <a:t>추적 필터가 받는 것은 플롯뿐이다</a:t>
            </a:r>
          </a:p>
          <a:p>
            <a:pPr algn="l" marL="164592" indent="-164592">
              <a:lnSpc>
                <a:spcPct val="115000"/>
              </a:lnSpc>
              <a:spcAft>
                <a:spcPts val="0"/>
              </a:spcAft>
              <a:buClr>
                <a:srgbClr val="2563EB"/>
              </a:buClr>
              <a:buFont typeface="Arial"/>
              <a:buChar char="▪"/>
            </a:pPr>
            <a:r>
              <a:rPr sz="1250" b="1" i="0" lang="ko-KR" altLang="en-US">
                <a:solidFill>
                  <a:srgbClr val="1B2740"/>
                </a:solidFill>
                <a:latin typeface="맑은 고딕"/>
                <a:ea typeface="맑은 고딕"/>
                <a:cs typeface="맑은 고딕"/>
              </a:rPr>
              <a:t>신호처리를 거친 플롯도 참값 + 작은 오차</a:t>
            </a:r>
            <a:r>
              <a:rPr sz="1250" b="0" i="0" lang="ko-KR" altLang="en-US">
                <a:solidFill>
                  <a:srgbClr val="4A5A7A"/>
                </a:solidFill>
                <a:latin typeface="맑은 고딕"/>
                <a:ea typeface="맑은 고딕"/>
                <a:cs typeface="맑은 고딕"/>
              </a:rPr>
              <a:t>  →  오차 크기만 맞추면 같은 입력</a:t>
            </a:r>
          </a:p>
        </p:txBody>
      </p:sp>
      <p:pic>
        <p:nvPicPr>
          <p:cNvPr id="44" name="Picture 43" descr="image.png"/>
          <p:cNvPicPr>
            <a:picLocks noChangeAspect="1"/>
          </p:cNvPicPr>
          <p:nvPr/>
        </p:nvPicPr>
        <p:blipFill>
          <a:blip r:embed="rId9"/>
          <a:stretch>
            <a:fillRect/>
          </a:stretch>
        </p:blipFill>
        <p:spPr>
          <a:xfrm>
            <a:off x="8302752" y="4846320"/>
            <a:ext cx="3246120" cy="134482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02. 플롯 모의</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2.1 플롯 모의는 SNR → 표준편차 → 잡음 → 플롯 순서입니다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5</a:t>
            </a:r>
          </a:p>
        </p:txBody>
      </p:sp>
      <p:sp>
        <p:nvSpPr>
          <p:cNvPr id="7" name="Rectangle 6"/>
          <p:cNvSpPr/>
          <p:nvPr/>
        </p:nvSpPr>
        <p:spPr>
          <a:xfrm>
            <a:off x="640080" y="1965960"/>
            <a:ext cx="2507741" cy="1188720"/>
          </a:xfrm>
          <a:prstGeom prst="rect">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65960"/>
            <a:ext cx="2507741" cy="365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65960"/>
            <a:ext cx="2251709" cy="365760"/>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FFFFFF"/>
                </a:solidFill>
                <a:latin typeface="맑은 고딕"/>
                <a:ea typeface="맑은 고딕"/>
                <a:cs typeface="맑은 고딕"/>
              </a:rPr>
              <a:t>단계 1   SNR 정하기</a:t>
            </a:r>
          </a:p>
        </p:txBody>
      </p:sp>
      <p:sp>
        <p:nvSpPr>
          <p:cNvPr id="10" name="TextBox 9"/>
          <p:cNvSpPr txBox="1"/>
          <p:nvPr/>
        </p:nvSpPr>
        <p:spPr>
          <a:xfrm>
            <a:off x="768096" y="2368296"/>
            <a:ext cx="2251709" cy="749808"/>
          </a:xfrm>
          <a:prstGeom prst="rect">
            <a:avLst/>
          </a:prstGeom>
          <a:noFill/>
        </p:spPr>
        <p:txBody>
          <a:bodyPr wrap="square" anchor="ctr" lIns="0" tIns="0" rIns="0" bIns="0">
            <a:noAutofit/>
          </a:bodyPr>
          <a:lstStyle/>
          <a:p>
            <a:pPr algn="l">
              <a:lnSpc>
                <a:spcPct val="110000"/>
              </a:lnSpc>
              <a:spcAft>
                <a:spcPts val="300"/>
              </a:spcAft>
            </a:pPr>
            <a:r>
              <a:rPr sz="1250" b="0" i="0" lang="ko-KR" altLang="en-US">
                <a:solidFill>
                  <a:srgbClr val="1B2740"/>
                </a:solidFill>
                <a:latin typeface="맑은 고딕"/>
                <a:ea typeface="맑은 고딕"/>
                <a:cs typeface="맑은 고딕"/>
              </a:rPr>
              <a:t>신호 세기 ÷ 잡음 세기</a:t>
            </a:r>
          </a:p>
          <a:p>
            <a:pPr algn="l">
              <a:lnSpc>
                <a:spcPct val="110000"/>
              </a:lnSpc>
              <a:spcAft>
                <a:spcPts val="0"/>
              </a:spcAft>
            </a:pPr>
            <a:r>
              <a:rPr sz="1100" b="0" i="0" lang="ko-KR" altLang="en-US">
                <a:solidFill>
                  <a:srgbClr val="4A5A7A"/>
                </a:solidFill>
                <a:latin typeface="맑은 고딕"/>
                <a:ea typeface="맑은 고딕"/>
                <a:cs typeface="맑은 고딕"/>
              </a:rPr>
              <a:t>실습은 20 으로 고정</a:t>
            </a:r>
          </a:p>
        </p:txBody>
      </p:sp>
      <p:cxnSp>
        <p:nvCxnSpPr>
          <p:cNvPr id="11" name="Connector 10"/>
          <p:cNvCxnSpPr/>
          <p:nvPr/>
        </p:nvCxnSpPr>
        <p:spPr>
          <a:xfrm>
            <a:off x="3193541" y="2560320"/>
            <a:ext cx="201169"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440429" y="1965960"/>
            <a:ext cx="2507741" cy="1188720"/>
          </a:xfrm>
          <a:prstGeom prst="rect">
            <a:avLst/>
          </a:prstGeom>
          <a:solidFill>
            <a:srgbClr val="FFFFFF"/>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40429" y="1965960"/>
            <a:ext cx="2507741" cy="3657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8445" y="1965960"/>
            <a:ext cx="2251709" cy="365760"/>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FFFFFF"/>
                </a:solidFill>
                <a:latin typeface="맑은 고딕"/>
                <a:ea typeface="맑은 고딕"/>
                <a:cs typeface="맑은 고딕"/>
              </a:rPr>
              <a:t>단계 2   표준편차 p</a:t>
            </a:r>
          </a:p>
        </p:txBody>
      </p:sp>
      <p:sp>
        <p:nvSpPr>
          <p:cNvPr id="15" name="TextBox 14"/>
          <p:cNvSpPr txBox="1"/>
          <p:nvPr/>
        </p:nvSpPr>
        <p:spPr>
          <a:xfrm>
            <a:off x="3568445" y="2368296"/>
            <a:ext cx="2251709" cy="749808"/>
          </a:xfrm>
          <a:prstGeom prst="rect">
            <a:avLst/>
          </a:prstGeom>
          <a:noFill/>
        </p:spPr>
        <p:txBody>
          <a:bodyPr wrap="square" anchor="ctr" lIns="0" tIns="0" rIns="0" bIns="0">
            <a:noAutofit/>
          </a:bodyPr>
          <a:lstStyle/>
          <a:p>
            <a:pPr algn="l">
              <a:lnSpc>
                <a:spcPct val="110000"/>
              </a:lnSpc>
              <a:spcAft>
                <a:spcPts val="300"/>
              </a:spcAft>
            </a:pPr>
            <a:r>
              <a:rPr sz="1250" b="0" i="0" lang="ko-KR" altLang="en-US">
                <a:solidFill>
                  <a:srgbClr val="1B2740"/>
                </a:solidFill>
                <a:latin typeface="맑은 고딕"/>
                <a:ea typeface="맑은 고딕"/>
                <a:cs typeface="맑은 고딕"/>
              </a:rPr>
              <a:t>측정 오차의 크기</a:t>
            </a:r>
          </a:p>
          <a:p>
            <a:pPr algn="l">
              <a:lnSpc>
                <a:spcPct val="110000"/>
              </a:lnSpc>
              <a:spcAft>
                <a:spcPts val="0"/>
              </a:spcAft>
            </a:pPr>
            <a:r>
              <a:rPr sz="1100" b="0" i="0" lang="ko-KR" altLang="en-US">
                <a:solidFill>
                  <a:srgbClr val="4A5A7A"/>
                </a:solidFill>
                <a:latin typeface="맑은 고딕"/>
                <a:ea typeface="맑은 고딕"/>
                <a:cs typeface="맑은 고딕"/>
              </a:rPr>
              <a:t>대역폭 · 빔폭 · SNR 로 계산</a:t>
            </a:r>
          </a:p>
        </p:txBody>
      </p:sp>
      <p:cxnSp>
        <p:nvCxnSpPr>
          <p:cNvPr id="16" name="Connector 15"/>
          <p:cNvCxnSpPr/>
          <p:nvPr/>
        </p:nvCxnSpPr>
        <p:spPr>
          <a:xfrm>
            <a:off x="5993891" y="2560320"/>
            <a:ext cx="201168"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40779" y="1965960"/>
            <a:ext cx="2507741" cy="1188720"/>
          </a:xfrm>
          <a:prstGeom prst="rect">
            <a:avLst/>
          </a:prstGeom>
          <a:solidFill>
            <a:srgbClr val="FFFFFF"/>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0779" y="1965960"/>
            <a:ext cx="2507741" cy="36576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8795" y="1965960"/>
            <a:ext cx="2251709" cy="365760"/>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FFFFFF"/>
                </a:solidFill>
                <a:latin typeface="맑은 고딕"/>
                <a:ea typeface="맑은 고딕"/>
                <a:cs typeface="맑은 고딕"/>
              </a:rPr>
              <a:t>단계 3   잡음 v 뽑기</a:t>
            </a:r>
          </a:p>
        </p:txBody>
      </p:sp>
      <p:sp>
        <p:nvSpPr>
          <p:cNvPr id="20" name="TextBox 19"/>
          <p:cNvSpPr txBox="1"/>
          <p:nvPr/>
        </p:nvSpPr>
        <p:spPr>
          <a:xfrm>
            <a:off x="6368795" y="2368296"/>
            <a:ext cx="2251709" cy="749808"/>
          </a:xfrm>
          <a:prstGeom prst="rect">
            <a:avLst/>
          </a:prstGeom>
          <a:noFill/>
        </p:spPr>
        <p:txBody>
          <a:bodyPr wrap="square" anchor="ctr" lIns="0" tIns="0" rIns="0" bIns="0">
            <a:noAutofit/>
          </a:bodyPr>
          <a:lstStyle/>
          <a:p>
            <a:pPr algn="l">
              <a:lnSpc>
                <a:spcPct val="110000"/>
              </a:lnSpc>
              <a:spcAft>
                <a:spcPts val="300"/>
              </a:spcAft>
            </a:pPr>
            <a:r>
              <a:rPr sz="1250" b="0" i="0" lang="ko-KR" altLang="en-US">
                <a:solidFill>
                  <a:srgbClr val="1B2740"/>
                </a:solidFill>
                <a:latin typeface="맑은 고딕"/>
                <a:ea typeface="맑은 고딕"/>
                <a:cs typeface="맑은 고딕"/>
              </a:rPr>
              <a:t>평균 0, 크기 p 인 난수</a:t>
            </a:r>
          </a:p>
          <a:p>
            <a:pPr algn="l">
              <a:lnSpc>
                <a:spcPct val="110000"/>
              </a:lnSpc>
              <a:spcAft>
                <a:spcPts val="0"/>
              </a:spcAft>
            </a:pPr>
            <a:r>
              <a:rPr sz="1100" b="0" i="0" lang="ko-KR" altLang="en-US">
                <a:solidFill>
                  <a:srgbClr val="4A5A7A"/>
                </a:solidFill>
                <a:latin typeface="맑은 고딕"/>
                <a:ea typeface="맑은 고딕"/>
                <a:cs typeface="맑은 고딕"/>
              </a:rPr>
              <a:t>GAUSS 함수로 뽑음</a:t>
            </a:r>
          </a:p>
        </p:txBody>
      </p:sp>
      <p:cxnSp>
        <p:nvCxnSpPr>
          <p:cNvPr id="21" name="Connector 20"/>
          <p:cNvCxnSpPr/>
          <p:nvPr/>
        </p:nvCxnSpPr>
        <p:spPr>
          <a:xfrm>
            <a:off x="8794242" y="2560320"/>
            <a:ext cx="201168"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041129" y="1965960"/>
            <a:ext cx="2507741" cy="118872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41129" y="1965960"/>
            <a:ext cx="2507741"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69145" y="1965960"/>
            <a:ext cx="2251709" cy="365760"/>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FFFFFF"/>
                </a:solidFill>
                <a:latin typeface="맑은 고딕"/>
                <a:ea typeface="맑은 고딕"/>
                <a:cs typeface="맑은 고딕"/>
              </a:rPr>
              <a:t>단계 4   플롯 계산</a:t>
            </a:r>
          </a:p>
        </p:txBody>
      </p:sp>
      <p:sp>
        <p:nvSpPr>
          <p:cNvPr id="25" name="TextBox 24"/>
          <p:cNvSpPr txBox="1"/>
          <p:nvPr/>
        </p:nvSpPr>
        <p:spPr>
          <a:xfrm>
            <a:off x="9169145" y="2368296"/>
            <a:ext cx="2251709" cy="749808"/>
          </a:xfrm>
          <a:prstGeom prst="rect">
            <a:avLst/>
          </a:prstGeom>
          <a:noFill/>
        </p:spPr>
        <p:txBody>
          <a:bodyPr wrap="square" anchor="ctr" lIns="0" tIns="0" rIns="0" bIns="0">
            <a:noAutofit/>
          </a:bodyPr>
          <a:lstStyle/>
          <a:p>
            <a:pPr algn="l">
              <a:lnSpc>
                <a:spcPct val="110000"/>
              </a:lnSpc>
              <a:spcAft>
                <a:spcPts val="300"/>
              </a:spcAft>
            </a:pPr>
            <a:r>
              <a:rPr sz="1250" b="0" i="0" lang="ko-KR" altLang="en-US">
                <a:solidFill>
                  <a:srgbClr val="1B2740"/>
                </a:solidFill>
                <a:latin typeface="맑은 고딕"/>
                <a:ea typeface="맑은 고딕"/>
                <a:cs typeface="맑은 고딕"/>
              </a:rPr>
              <a:t>플롯 z = 참값 x + 잡음 v</a:t>
            </a:r>
          </a:p>
          <a:p>
            <a:pPr algn="l">
              <a:lnSpc>
                <a:spcPct val="110000"/>
              </a:lnSpc>
              <a:spcAft>
                <a:spcPts val="0"/>
              </a:spcAft>
            </a:pPr>
            <a:r>
              <a:rPr sz="1100" b="0" i="0" lang="ko-KR" altLang="en-US">
                <a:solidFill>
                  <a:srgbClr val="4A5A7A"/>
                </a:solidFill>
                <a:latin typeface="맑은 고딕"/>
                <a:ea typeface="맑은 고딕"/>
                <a:cs typeface="맑은 고딕"/>
              </a:rPr>
              <a:t>거리 · 방위각 · 고각 각각</a:t>
            </a:r>
          </a:p>
        </p:txBody>
      </p:sp>
      <p:sp>
        <p:nvSpPr>
          <p:cNvPr id="26" name="TextBox 25"/>
          <p:cNvSpPr txBox="1"/>
          <p:nvPr/>
        </p:nvSpPr>
        <p:spPr>
          <a:xfrm>
            <a:off x="640080" y="3429000"/>
            <a:ext cx="548640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단계 1   SNR 은 원래 레이다 방정식으로 구한다</a:t>
            </a:r>
          </a:p>
        </p:txBody>
      </p:sp>
      <p:pic>
        <p:nvPicPr>
          <p:cNvPr id="27" name="Picture 26" descr="image.png"/>
          <p:cNvPicPr>
            <a:picLocks noChangeAspect="1"/>
          </p:cNvPicPr>
          <p:nvPr/>
        </p:nvPicPr>
        <p:blipFill>
          <a:blip r:embed="rId2"/>
          <a:stretch>
            <a:fillRect/>
          </a:stretch>
        </p:blipFill>
        <p:spPr>
          <a:xfrm>
            <a:off x="640080" y="3822191"/>
            <a:ext cx="3108960" cy="853440"/>
          </a:xfrm>
          <a:prstGeom prst="rect">
            <a:avLst/>
          </a:prstGeom>
        </p:spPr>
      </p:pic>
      <p:sp>
        <p:nvSpPr>
          <p:cNvPr id="28" name="TextBox 27"/>
          <p:cNvSpPr txBox="1"/>
          <p:nvPr/>
        </p:nvSpPr>
        <p:spPr>
          <a:xfrm>
            <a:off x="3931920" y="3794760"/>
            <a:ext cx="2148840" cy="859536"/>
          </a:xfrm>
          <a:prstGeom prst="rect">
            <a:avLst/>
          </a:prstGeom>
          <a:noFill/>
        </p:spPr>
        <p:txBody>
          <a:bodyPr wrap="square" anchor="ctr" lIns="0" tIns="0" rIns="0" bIns="0">
            <a:noAutofit/>
          </a:bodyPr>
          <a:lstStyle/>
          <a:p>
            <a:pPr algn="l">
              <a:lnSpc>
                <a:spcPct val="130000"/>
              </a:lnSpc>
              <a:spcAft>
                <a:spcPts val="0"/>
              </a:spcAft>
            </a:pPr>
            <a:r>
              <a:rPr sz="1150" b="1" i="0" lang="ko-KR" altLang="en-US">
                <a:solidFill>
                  <a:srgbClr val="1B2740"/>
                </a:solidFill>
                <a:latin typeface="맑은 고딕"/>
                <a:ea typeface="맑은 고딕"/>
                <a:cs typeface="맑은 고딕"/>
              </a:rPr>
              <a:t>빔폭</a:t>
            </a:r>
            <a:r>
              <a:rPr sz="1150" b="0" i="0" lang="ko-KR" altLang="en-US">
                <a:solidFill>
                  <a:srgbClr val="4A5A7A"/>
                </a:solidFill>
                <a:latin typeface="맑은 고딕"/>
                <a:ea typeface="맑은 고딕"/>
                <a:cs typeface="맑은 고딕"/>
              </a:rPr>
              <a:t> → 안테나 이득</a:t>
            </a:r>
          </a:p>
          <a:p>
            <a:pPr algn="l">
              <a:lnSpc>
                <a:spcPct val="130000"/>
              </a:lnSpc>
              <a:spcAft>
                <a:spcPts val="0"/>
              </a:spcAft>
            </a:pPr>
            <a:r>
              <a:rPr sz="1150" b="1" i="0" lang="ko-KR" altLang="en-US">
                <a:solidFill>
                  <a:srgbClr val="1B2740"/>
                </a:solidFill>
                <a:latin typeface="맑은 고딕"/>
                <a:ea typeface="맑은 고딕"/>
                <a:cs typeface="맑은 고딕"/>
              </a:rPr>
              <a:t>대역폭</a:t>
            </a:r>
            <a:r>
              <a:rPr sz="1150" b="0" i="0" lang="ko-KR" altLang="en-US">
                <a:solidFill>
                  <a:srgbClr val="4A5A7A"/>
                </a:solidFill>
                <a:latin typeface="맑은 고딕"/>
                <a:ea typeface="맑은 고딕"/>
                <a:cs typeface="맑은 고딕"/>
              </a:rPr>
              <a:t> → 잡음 전력</a:t>
            </a:r>
          </a:p>
        </p:txBody>
      </p:sp>
      <p:sp>
        <p:nvSpPr>
          <p:cNvPr id="29" name="TextBox 28"/>
          <p:cNvSpPr txBox="1"/>
          <p:nvPr/>
        </p:nvSpPr>
        <p:spPr>
          <a:xfrm>
            <a:off x="640080" y="4864608"/>
            <a:ext cx="5440680" cy="1188720"/>
          </a:xfrm>
          <a:prstGeom prst="rect">
            <a:avLst/>
          </a:prstGeom>
          <a:noFill/>
        </p:spPr>
        <p:txBody>
          <a:bodyPr wrap="square" anchor="t" lIns="0" tIns="0" rIns="0" bIns="0">
            <a:noAutofit/>
          </a:bodyPr>
          <a:lstStyle/>
          <a:p>
            <a:pPr algn="l">
              <a:lnSpc>
                <a:spcPct val="125000"/>
              </a:lnSpc>
              <a:spcAft>
                <a:spcPts val="0"/>
              </a:spcAft>
            </a:pPr>
            <a:r>
              <a:rPr sz="1200" b="0" i="0" lang="ko-KR" altLang="en-US">
                <a:solidFill>
                  <a:srgbClr val="4A5A7A"/>
                </a:solidFill>
                <a:latin typeface="맑은 고딕"/>
                <a:ea typeface="맑은 고딕"/>
                <a:cs typeface="맑은 고딕"/>
              </a:rPr>
              <a:t>실제 SNR 은 거리의 네제곱에 반비례해서</a:t>
            </a:r>
          </a:p>
          <a:p>
            <a:pPr algn="l">
              <a:lnSpc>
                <a:spcPct val="125000"/>
              </a:lnSpc>
              <a:spcAft>
                <a:spcPts val="0"/>
              </a:spcAft>
            </a:pPr>
            <a:r>
              <a:rPr sz="1200" b="0" i="0" lang="ko-KR" altLang="en-US">
                <a:solidFill>
                  <a:srgbClr val="4A5A7A"/>
                </a:solidFill>
                <a:latin typeface="맑은 고딕"/>
                <a:ea typeface="맑은 고딕"/>
                <a:cs typeface="맑은 고딕"/>
              </a:rPr>
              <a:t>표적이 다가오면 커진다.</a:t>
            </a:r>
          </a:p>
          <a:p>
            <a:pPr algn="l">
              <a:lnSpc>
                <a:spcPct val="125000"/>
              </a:lnSpc>
              <a:spcAft>
                <a:spcPts val="0"/>
              </a:spcAft>
            </a:pPr>
            <a:r>
              <a:rPr sz="1200" b="1" i="0" lang="ko-KR" altLang="en-US">
                <a:solidFill>
                  <a:srgbClr val="1B2740"/>
                </a:solidFill>
                <a:latin typeface="맑은 고딕"/>
                <a:ea typeface="맑은 고딕"/>
                <a:cs typeface="맑은 고딕"/>
              </a:rPr>
              <a:t>실습은 SNR 을 20 으로 고정한다.</a:t>
            </a:r>
          </a:p>
        </p:txBody>
      </p:sp>
      <p:sp>
        <p:nvSpPr>
          <p:cNvPr id="30" name="Rectangle 29"/>
          <p:cNvSpPr/>
          <p:nvPr/>
        </p:nvSpPr>
        <p:spPr>
          <a:xfrm>
            <a:off x="6355080" y="3429000"/>
            <a:ext cx="5193792" cy="105156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3429000"/>
            <a:ext cx="4828032" cy="1051560"/>
          </a:xfrm>
          <a:prstGeom prst="rect">
            <a:avLst/>
          </a:prstGeom>
          <a:noFill/>
        </p:spPr>
        <p:txBody>
          <a:bodyPr wrap="square" anchor="ctr" lIns="0" tIns="0" rIns="0" bIns="0">
            <a:noAutofit/>
          </a:bodyPr>
          <a:lstStyle/>
          <a:p>
            <a:pPr algn="l">
              <a:lnSpc>
                <a:spcPct val="115000"/>
              </a:lnSpc>
              <a:spcAft>
                <a:spcPts val="300"/>
              </a:spcAft>
            </a:pPr>
            <a:r>
              <a:rPr sz="1250" b="1" i="0" lang="ko-KR" altLang="en-US">
                <a:solidFill>
                  <a:srgbClr val="1B2740"/>
                </a:solidFill>
                <a:latin typeface="맑은 고딕"/>
                <a:ea typeface="맑은 고딕"/>
                <a:cs typeface="맑은 고딕"/>
              </a:rPr>
              <a:t>SNR 은 선형값</a:t>
            </a:r>
          </a:p>
          <a:p>
            <a:pPr algn="l">
              <a:lnSpc>
                <a:spcPct val="115000"/>
              </a:lnSpc>
              <a:spcAft>
                <a:spcPts val="0"/>
              </a:spcAft>
            </a:pPr>
            <a:r>
              <a:rPr sz="1150" b="0" i="0" lang="ko-KR" altLang="en-US">
                <a:solidFill>
                  <a:srgbClr val="4A5A7A"/>
                </a:solidFill>
                <a:latin typeface="맑은 고딕"/>
                <a:ea typeface="맑은 고딕"/>
                <a:cs typeface="맑은 고딕"/>
              </a:rPr>
              <a:t>신호 세기 ÷ 잡음 세기.  SNR 20 = 신호가 잡음의 20배</a:t>
            </a:r>
          </a:p>
        </p:txBody>
      </p:sp>
      <p:sp>
        <p:nvSpPr>
          <p:cNvPr id="32" name="Rectangle 31"/>
          <p:cNvSpPr/>
          <p:nvPr/>
        </p:nvSpPr>
        <p:spPr>
          <a:xfrm>
            <a:off x="6355080" y="4663440"/>
            <a:ext cx="5193792" cy="105156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4663440"/>
            <a:ext cx="4828032" cy="1051560"/>
          </a:xfrm>
          <a:prstGeom prst="rect">
            <a:avLst/>
          </a:prstGeom>
          <a:noFill/>
        </p:spPr>
        <p:txBody>
          <a:bodyPr wrap="square" anchor="ctr" lIns="0" tIns="0" rIns="0" bIns="0">
            <a:noAutofit/>
          </a:bodyPr>
          <a:lstStyle/>
          <a:p>
            <a:pPr algn="l">
              <a:lnSpc>
                <a:spcPct val="115000"/>
              </a:lnSpc>
              <a:spcAft>
                <a:spcPts val="300"/>
              </a:spcAft>
            </a:pPr>
            <a:r>
              <a:rPr sz="1250" b="1" i="0" lang="ko-KR" altLang="en-US">
                <a:solidFill>
                  <a:srgbClr val="1B2740"/>
                </a:solidFill>
                <a:latin typeface="맑은 고딕"/>
                <a:ea typeface="맑은 고딕"/>
                <a:cs typeface="맑은 고딕"/>
              </a:rPr>
              <a:t>참값 x 는 안테나에서 본 거리 · 방위각 · 고각</a:t>
            </a:r>
          </a:p>
          <a:p>
            <a:pPr algn="l">
              <a:lnSpc>
                <a:spcPct val="115000"/>
              </a:lnSpc>
              <a:spcAft>
                <a:spcPts val="0"/>
              </a:spcAft>
            </a:pPr>
            <a:r>
              <a:rPr sz="1150" b="0" i="0" lang="ko-KR" altLang="en-US">
                <a:solidFill>
                  <a:srgbClr val="4A5A7A"/>
                </a:solidFill>
                <a:latin typeface="맑은 고딕"/>
                <a:ea typeface="맑은 고딕"/>
                <a:cs typeface="맑은 고딕"/>
              </a:rPr>
              <a:t>과제 3 의 표적 위치에서 구한다  →  4.5 에서 코드와 함께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02. 플롯 모의</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2.2 측정 오차 p 는 분해능을 √(2·SNR) 로 나눈 값입니다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6</a:t>
            </a:r>
          </a:p>
        </p:txBody>
      </p:sp>
      <p:sp>
        <p:nvSpPr>
          <p:cNvPr id="7" name="TextBox 6"/>
          <p:cNvSpPr txBox="1"/>
          <p:nvPr/>
        </p:nvSpPr>
        <p:spPr>
          <a:xfrm>
            <a:off x="640080" y="1965960"/>
            <a:ext cx="393192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식: 세 개 모두 같은 꼴</a:t>
            </a:r>
          </a:p>
        </p:txBody>
      </p:sp>
      <p:sp>
        <p:nvSpPr>
          <p:cNvPr id="8" name="Rectangle 7"/>
          <p:cNvSpPr/>
          <p:nvPr/>
        </p:nvSpPr>
        <p:spPr>
          <a:xfrm>
            <a:off x="640080" y="2304288"/>
            <a:ext cx="3931920" cy="731520"/>
          </a:xfrm>
          <a:prstGeom prst="rect">
            <a:avLst/>
          </a:prstGeom>
          <a:solidFill>
            <a:srgbClr val="EEF3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04288"/>
            <a:ext cx="3931920" cy="731520"/>
          </a:xfrm>
          <a:prstGeom prst="rect">
            <a:avLst/>
          </a:prstGeom>
          <a:noFill/>
        </p:spPr>
        <p:txBody>
          <a:bodyPr wrap="square" anchor="ctr" lIns="0" tIns="0" rIns="0" bIns="0">
            <a:noAutofit/>
          </a:bodyPr>
          <a:lstStyle/>
          <a:p>
            <a:pPr algn="ctr">
              <a:lnSpc>
                <a:spcPct val="115000"/>
              </a:lnSpc>
              <a:spcAft>
                <a:spcPts val="0"/>
              </a:spcAft>
            </a:pPr>
            <a:r>
              <a:rPr sz="1900" b="1" i="0" lang="ko-KR" altLang="en-US">
                <a:solidFill>
                  <a:srgbClr val="2563EB"/>
                </a:solidFill>
                <a:latin typeface="맑은 고딕"/>
                <a:ea typeface="맑은 고딕"/>
                <a:cs typeface="맑은 고딕"/>
              </a:rPr>
              <a:t>p = 분해능 ÷ √(2·SNR)</a:t>
            </a:r>
          </a:p>
        </p:txBody>
      </p:sp>
      <p:sp>
        <p:nvSpPr>
          <p:cNvPr id="10" name="TextBox 9"/>
          <p:cNvSpPr txBox="1"/>
          <p:nvPr/>
        </p:nvSpPr>
        <p:spPr>
          <a:xfrm>
            <a:off x="640080" y="3054096"/>
            <a:ext cx="3931920" cy="237744"/>
          </a:xfrm>
          <a:prstGeom prst="rect">
            <a:avLst/>
          </a:prstGeom>
          <a:noFill/>
        </p:spPr>
        <p:txBody>
          <a:bodyPr wrap="square" anchor="ctr" lIns="0" tIns="0" rIns="0" bIns="0">
            <a:noAutofit/>
          </a:bodyPr>
          <a:lstStyle/>
          <a:p>
            <a:pPr algn="ctr">
              <a:lnSpc>
                <a:spcPct val="115000"/>
              </a:lnSpc>
              <a:spcAft>
                <a:spcPts val="0"/>
              </a:spcAft>
            </a:pPr>
            <a:r>
              <a:rPr sz="1050" b="0" i="0" lang="ko-KR" altLang="en-US">
                <a:solidFill>
                  <a:srgbClr val="647089"/>
                </a:solidFill>
                <a:latin typeface="맑은 고딕"/>
                <a:ea typeface="맑은 고딕"/>
                <a:cs typeface="맑은 고딕"/>
              </a:rPr>
              <a:t>각도는 모노펄스 상수 KM 으로 한 번 더 나눈다</a:t>
            </a:r>
          </a:p>
        </p:txBody>
      </p:sp>
      <p:sp>
        <p:nvSpPr>
          <p:cNvPr id="11" name="Rounded Rectangle 10"/>
          <p:cNvSpPr/>
          <p:nvPr/>
        </p:nvSpPr>
        <p:spPr>
          <a:xfrm>
            <a:off x="640080" y="3502152"/>
            <a:ext cx="749808" cy="29260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502152"/>
            <a:ext cx="713231" cy="292608"/>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거리</a:t>
            </a:r>
          </a:p>
        </p:txBody>
      </p:sp>
      <p:sp>
        <p:nvSpPr>
          <p:cNvPr id="13" name="TextBox 12"/>
          <p:cNvSpPr txBox="1"/>
          <p:nvPr/>
        </p:nvSpPr>
        <p:spPr>
          <a:xfrm>
            <a:off x="1508760" y="3383280"/>
            <a:ext cx="3063239" cy="347472"/>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p_rng = 29.98 m ÷ √(2·SNR)</a:t>
            </a:r>
          </a:p>
        </p:txBody>
      </p:sp>
      <p:sp>
        <p:nvSpPr>
          <p:cNvPr id="14" name="TextBox 13"/>
          <p:cNvSpPr txBox="1"/>
          <p:nvPr/>
        </p:nvSpPr>
        <p:spPr>
          <a:xfrm>
            <a:off x="1508760" y="3712464"/>
            <a:ext cx="3063239" cy="237744"/>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647089"/>
                </a:solidFill>
                <a:latin typeface="맑은 고딕"/>
                <a:ea typeface="맑은 고딕"/>
                <a:cs typeface="맑은 고딕"/>
              </a:rPr>
              <a:t>분해능 = c ÷ 2B</a:t>
            </a:r>
          </a:p>
        </p:txBody>
      </p:sp>
      <p:sp>
        <p:nvSpPr>
          <p:cNvPr id="15" name="Rounded Rectangle 14"/>
          <p:cNvSpPr/>
          <p:nvPr/>
        </p:nvSpPr>
        <p:spPr>
          <a:xfrm>
            <a:off x="640080" y="4160520"/>
            <a:ext cx="749808" cy="292608"/>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160520"/>
            <a:ext cx="713231" cy="292608"/>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방위각</a:t>
            </a:r>
          </a:p>
        </p:txBody>
      </p:sp>
      <p:sp>
        <p:nvSpPr>
          <p:cNvPr id="17" name="TextBox 16"/>
          <p:cNvSpPr txBox="1"/>
          <p:nvPr/>
        </p:nvSpPr>
        <p:spPr>
          <a:xfrm>
            <a:off x="1508760" y="4041648"/>
            <a:ext cx="3063239" cy="347472"/>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p_azi = 5.14° ÷ (1.7 × √(2·SNR))</a:t>
            </a:r>
          </a:p>
        </p:txBody>
      </p:sp>
      <p:sp>
        <p:nvSpPr>
          <p:cNvPr id="18" name="TextBox 17"/>
          <p:cNvSpPr txBox="1"/>
          <p:nvPr/>
        </p:nvSpPr>
        <p:spPr>
          <a:xfrm>
            <a:off x="1508760" y="4370832"/>
            <a:ext cx="3063239" cy="237744"/>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647089"/>
                </a:solidFill>
                <a:latin typeface="맑은 고딕"/>
                <a:ea typeface="맑은 고딕"/>
                <a:cs typeface="맑은 고딕"/>
              </a:rPr>
              <a:t>분해능 = 빔폭,  1.7 = KM</a:t>
            </a:r>
          </a:p>
        </p:txBody>
      </p:sp>
      <p:sp>
        <p:nvSpPr>
          <p:cNvPr id="19" name="Rounded Rectangle 18"/>
          <p:cNvSpPr/>
          <p:nvPr/>
        </p:nvSpPr>
        <p:spPr>
          <a:xfrm>
            <a:off x="640080" y="4818888"/>
            <a:ext cx="749808" cy="292608"/>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818888"/>
            <a:ext cx="713231" cy="292608"/>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고각</a:t>
            </a:r>
          </a:p>
        </p:txBody>
      </p:sp>
      <p:sp>
        <p:nvSpPr>
          <p:cNvPr id="21" name="TextBox 20"/>
          <p:cNvSpPr txBox="1"/>
          <p:nvPr/>
        </p:nvSpPr>
        <p:spPr>
          <a:xfrm>
            <a:off x="1508760" y="4700016"/>
            <a:ext cx="3063239" cy="347472"/>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p_ele = 5.31° ÷ (1.7 × √(2·SNR))</a:t>
            </a:r>
          </a:p>
        </p:txBody>
      </p:sp>
      <p:sp>
        <p:nvSpPr>
          <p:cNvPr id="22" name="TextBox 21"/>
          <p:cNvSpPr txBox="1"/>
          <p:nvPr/>
        </p:nvSpPr>
        <p:spPr>
          <a:xfrm>
            <a:off x="1508760" y="5029200"/>
            <a:ext cx="3063239" cy="237744"/>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647089"/>
                </a:solidFill>
                <a:latin typeface="맑은 고딕"/>
                <a:ea typeface="맑은 고딕"/>
                <a:cs typeface="맑은 고딕"/>
              </a:rPr>
              <a:t>분해능 = 빔폭,  1.7 = KM</a:t>
            </a:r>
          </a:p>
        </p:txBody>
      </p:sp>
      <p:sp>
        <p:nvSpPr>
          <p:cNvPr id="23" name="TextBox 22"/>
          <p:cNvSpPr txBox="1"/>
          <p:nvPr/>
        </p:nvSpPr>
        <p:spPr>
          <a:xfrm>
            <a:off x="640080" y="5504688"/>
            <a:ext cx="3931920" cy="603504"/>
          </a:xfrm>
          <a:prstGeom prst="rect">
            <a:avLst/>
          </a:prstGeom>
          <a:noFill/>
        </p:spPr>
        <p:txBody>
          <a:bodyPr wrap="square" anchor="t" lIns="0" tIns="0" rIns="0" bIns="0">
            <a:noAutofit/>
          </a:bodyPr>
          <a:lstStyle/>
          <a:p>
            <a:pPr algn="l">
              <a:lnSpc>
                <a:spcPct val="120000"/>
              </a:lnSpc>
              <a:spcAft>
                <a:spcPts val="0"/>
              </a:spcAft>
            </a:pPr>
            <a:r>
              <a:rPr sz="1050" b="0" i="0" lang="ko-KR" altLang="en-US">
                <a:solidFill>
                  <a:srgbClr val="4A5A7A"/>
                </a:solidFill>
                <a:latin typeface="맑은 고딕"/>
                <a:ea typeface="맑은 고딕"/>
                <a:cs typeface="맑은 고딕"/>
              </a:rPr>
              <a:t>c 광속,  B 대역폭 5 MHz,  KM 모노펄스 기울기 상수</a:t>
            </a:r>
          </a:p>
          <a:p>
            <a:pPr algn="l">
              <a:lnSpc>
                <a:spcPct val="120000"/>
              </a:lnSpc>
              <a:spcAft>
                <a:spcPts val="0"/>
              </a:spcAft>
            </a:pPr>
            <a:r>
              <a:rPr sz="1050" b="0" i="0" lang="ko-KR" altLang="en-US">
                <a:solidFill>
                  <a:srgbClr val="4A5A7A"/>
                </a:solidFill>
                <a:latin typeface="맑은 고딕"/>
                <a:ea typeface="맑은 고딕"/>
                <a:cs typeface="맑은 고딕"/>
              </a:rPr>
              <a:t>SNR 은 선형값</a:t>
            </a:r>
          </a:p>
        </p:txBody>
      </p:sp>
      <p:sp>
        <p:nvSpPr>
          <p:cNvPr id="24" name="TextBox 23"/>
          <p:cNvSpPr txBox="1"/>
          <p:nvPr/>
        </p:nvSpPr>
        <p:spPr>
          <a:xfrm>
            <a:off x="4846320" y="1965960"/>
            <a:ext cx="329184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분해능과 정확도</a:t>
            </a:r>
          </a:p>
        </p:txBody>
      </p:sp>
      <p:pic>
        <p:nvPicPr>
          <p:cNvPr id="25" name="Picture 24" descr="image.png"/>
          <p:cNvPicPr>
            <a:picLocks noChangeAspect="1"/>
          </p:cNvPicPr>
          <p:nvPr/>
        </p:nvPicPr>
        <p:blipFill>
          <a:blip r:embed="rId2"/>
          <a:stretch>
            <a:fillRect/>
          </a:stretch>
        </p:blipFill>
        <p:spPr>
          <a:xfrm>
            <a:off x="4846320" y="2304288"/>
            <a:ext cx="3291840" cy="2236180"/>
          </a:xfrm>
          <a:prstGeom prst="rect">
            <a:avLst/>
          </a:prstGeom>
        </p:spPr>
      </p:pic>
      <p:sp>
        <p:nvSpPr>
          <p:cNvPr id="26" name="TextBox 25"/>
          <p:cNvSpPr txBox="1"/>
          <p:nvPr/>
        </p:nvSpPr>
        <p:spPr>
          <a:xfrm>
            <a:off x="4846320" y="4681728"/>
            <a:ext cx="3291840" cy="1463040"/>
          </a:xfrm>
          <a:prstGeom prst="rect">
            <a:avLst/>
          </a:prstGeom>
          <a:noFill/>
        </p:spPr>
        <p:txBody>
          <a:bodyPr wrap="square" anchor="t"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분해능</a:t>
            </a:r>
          </a:p>
          <a:p>
            <a:pPr algn="l">
              <a:lnSpc>
                <a:spcPct val="115000"/>
              </a:lnSpc>
              <a:spcAft>
                <a:spcPts val="800"/>
              </a:spcAft>
            </a:pPr>
            <a:r>
              <a:rPr sz="1150" b="0" i="0" lang="ko-KR" altLang="en-US">
                <a:solidFill>
                  <a:srgbClr val="4A5A7A"/>
                </a:solidFill>
                <a:latin typeface="맑은 고딕"/>
                <a:ea typeface="맑은 고딕"/>
                <a:cs typeface="맑은 고딕"/>
              </a:rPr>
              <a:t>두 표적을 따로 볼 수 있는 간격 (거리 약 30 m)</a:t>
            </a:r>
          </a:p>
          <a:p>
            <a:pPr algn="l">
              <a:lnSpc>
                <a:spcPct val="115000"/>
              </a:lnSpc>
              <a:spcAft>
                <a:spcPts val="0"/>
              </a:spcAft>
            </a:pPr>
            <a:r>
              <a:rPr sz="1250" b="1" i="0" lang="ko-KR" altLang="en-US">
                <a:solidFill>
                  <a:srgbClr val="D97706"/>
                </a:solidFill>
                <a:latin typeface="맑은 고딕"/>
                <a:ea typeface="맑은 고딕"/>
                <a:cs typeface="맑은 고딕"/>
              </a:rPr>
              <a:t>정확도 = p</a:t>
            </a:r>
          </a:p>
          <a:p>
            <a:pPr algn="l">
              <a:lnSpc>
                <a:spcPct val="115000"/>
              </a:lnSpc>
              <a:spcAft>
                <a:spcPts val="0"/>
              </a:spcAft>
            </a:pPr>
            <a:r>
              <a:rPr sz="1150" b="0" i="0" lang="ko-KR" altLang="en-US">
                <a:solidFill>
                  <a:srgbClr val="4A5A7A"/>
                </a:solidFill>
                <a:latin typeface="맑은 고딕"/>
                <a:ea typeface="맑은 고딕"/>
                <a:cs typeface="맑은 고딕"/>
              </a:rPr>
              <a:t>한 표적의 측정값이 흔들리는 폭 (약 4.7 m)</a:t>
            </a:r>
          </a:p>
        </p:txBody>
      </p:sp>
      <p:sp>
        <p:nvSpPr>
          <p:cNvPr id="27" name="TextBox 26"/>
          <p:cNvSpPr txBox="1"/>
          <p:nvPr/>
        </p:nvSpPr>
        <p:spPr>
          <a:xfrm>
            <a:off x="8412480" y="1965960"/>
            <a:ext cx="3136392"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과제 값 넣기</a:t>
            </a:r>
          </a:p>
        </p:txBody>
      </p:sp>
      <p:sp>
        <p:nvSpPr>
          <p:cNvPr id="28" name="Rectangle 27"/>
          <p:cNvSpPr/>
          <p:nvPr/>
        </p:nvSpPr>
        <p:spPr>
          <a:xfrm>
            <a:off x="8412480" y="2304288"/>
            <a:ext cx="3136392" cy="50292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304288"/>
            <a:ext cx="3136392" cy="502920"/>
          </a:xfrm>
          <a:prstGeom prst="rect">
            <a:avLst/>
          </a:prstGeom>
          <a:noFill/>
        </p:spPr>
        <p:txBody>
          <a:bodyPr wrap="square" anchor="ctr" lIns="0" tIns="0" rIns="0" bIns="0">
            <a:noAutofit/>
          </a:bodyPr>
          <a:lstStyle/>
          <a:p>
            <a:pPr algn="ctr">
              <a:lnSpc>
                <a:spcPct val="115000"/>
              </a:lnSpc>
              <a:spcAft>
                <a:spcPts val="0"/>
              </a:spcAft>
            </a:pPr>
            <a:r>
              <a:rPr sz="1300" b="1" i="0" lang="ko-KR" altLang="en-US">
                <a:solidFill>
                  <a:srgbClr val="1B2740"/>
                </a:solidFill>
                <a:latin typeface="맑은 고딕"/>
                <a:ea typeface="맑은 고딕"/>
                <a:cs typeface="맑은 고딕"/>
              </a:rPr>
              <a:t>√(2 × 20) = √40 = 6.32</a:t>
            </a:r>
          </a:p>
        </p:txBody>
      </p:sp>
      <p:sp>
        <p:nvSpPr>
          <p:cNvPr id="30" name="TextBox 29"/>
          <p:cNvSpPr txBox="1"/>
          <p:nvPr/>
        </p:nvSpPr>
        <p:spPr>
          <a:xfrm>
            <a:off x="8458200" y="2944368"/>
            <a:ext cx="1645920" cy="36576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거리</a:t>
            </a:r>
          </a:p>
        </p:txBody>
      </p:sp>
      <p:sp>
        <p:nvSpPr>
          <p:cNvPr id="31" name="TextBox 30"/>
          <p:cNvSpPr txBox="1"/>
          <p:nvPr/>
        </p:nvSpPr>
        <p:spPr>
          <a:xfrm>
            <a:off x="8458200" y="3291840"/>
            <a:ext cx="1920240" cy="292608"/>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4A5A7A"/>
                </a:solidFill>
                <a:latin typeface="맑은 고딕"/>
                <a:ea typeface="맑은 고딕"/>
                <a:cs typeface="맑은 고딕"/>
              </a:rPr>
              <a:t>29.98 m ÷ 6.32</a:t>
            </a:r>
          </a:p>
        </p:txBody>
      </p:sp>
      <p:sp>
        <p:nvSpPr>
          <p:cNvPr id="32" name="TextBox 31"/>
          <p:cNvSpPr txBox="1"/>
          <p:nvPr/>
        </p:nvSpPr>
        <p:spPr>
          <a:xfrm>
            <a:off x="10058400" y="2944368"/>
            <a:ext cx="1444752" cy="676656"/>
          </a:xfrm>
          <a:prstGeom prst="rect">
            <a:avLst/>
          </a:prstGeom>
          <a:noFill/>
        </p:spPr>
        <p:txBody>
          <a:bodyPr wrap="square" anchor="ctr" lIns="0" tIns="0" rIns="0" bIns="0">
            <a:noAutofit/>
          </a:bodyPr>
          <a:lstStyle/>
          <a:p>
            <a:pPr algn="r">
              <a:lnSpc>
                <a:spcPct val="115000"/>
              </a:lnSpc>
              <a:spcAft>
                <a:spcPts val="0"/>
              </a:spcAft>
            </a:pPr>
            <a:r>
              <a:rPr sz="2300" b="1" i="0" lang="ko-KR" altLang="en-US">
                <a:solidFill>
                  <a:srgbClr val="2563EB"/>
                </a:solidFill>
                <a:latin typeface="Arial"/>
                <a:ea typeface="맑은 고딕"/>
                <a:cs typeface="Arial"/>
              </a:rPr>
              <a:t>4.74 m</a:t>
            </a:r>
          </a:p>
        </p:txBody>
      </p:sp>
      <p:cxnSp>
        <p:nvCxnSpPr>
          <p:cNvPr id="33" name="Connector 32"/>
          <p:cNvCxnSpPr/>
          <p:nvPr/>
        </p:nvCxnSpPr>
        <p:spPr>
          <a:xfrm>
            <a:off x="8412480" y="3675888"/>
            <a:ext cx="31363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458200" y="3730752"/>
            <a:ext cx="1645920" cy="36576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방위각</a:t>
            </a:r>
          </a:p>
        </p:txBody>
      </p:sp>
      <p:sp>
        <p:nvSpPr>
          <p:cNvPr id="35" name="TextBox 34"/>
          <p:cNvSpPr txBox="1"/>
          <p:nvPr/>
        </p:nvSpPr>
        <p:spPr>
          <a:xfrm>
            <a:off x="8458200" y="4078224"/>
            <a:ext cx="1920240" cy="292608"/>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4A5A7A"/>
                </a:solidFill>
                <a:latin typeface="맑은 고딕"/>
                <a:ea typeface="맑은 고딕"/>
                <a:cs typeface="맑은 고딕"/>
              </a:rPr>
              <a:t>5.14° ÷ (1.7 × 6.32)</a:t>
            </a:r>
          </a:p>
        </p:txBody>
      </p:sp>
      <p:sp>
        <p:nvSpPr>
          <p:cNvPr id="36" name="TextBox 35"/>
          <p:cNvSpPr txBox="1"/>
          <p:nvPr/>
        </p:nvSpPr>
        <p:spPr>
          <a:xfrm>
            <a:off x="10058400" y="3730752"/>
            <a:ext cx="1444752" cy="676656"/>
          </a:xfrm>
          <a:prstGeom prst="rect">
            <a:avLst/>
          </a:prstGeom>
          <a:noFill/>
        </p:spPr>
        <p:txBody>
          <a:bodyPr wrap="square" anchor="ctr" lIns="0" tIns="0" rIns="0" bIns="0">
            <a:noAutofit/>
          </a:bodyPr>
          <a:lstStyle/>
          <a:p>
            <a:pPr algn="r">
              <a:lnSpc>
                <a:spcPct val="115000"/>
              </a:lnSpc>
              <a:spcAft>
                <a:spcPts val="0"/>
              </a:spcAft>
            </a:pPr>
            <a:r>
              <a:rPr sz="2300" b="1" i="0" lang="ko-KR" altLang="en-US">
                <a:solidFill>
                  <a:srgbClr val="D97706"/>
                </a:solidFill>
                <a:latin typeface="Arial"/>
                <a:ea typeface="맑은 고딕"/>
                <a:cs typeface="Arial"/>
              </a:rPr>
              <a:t>0.478°</a:t>
            </a:r>
          </a:p>
        </p:txBody>
      </p:sp>
      <p:cxnSp>
        <p:nvCxnSpPr>
          <p:cNvPr id="37" name="Connector 36"/>
          <p:cNvCxnSpPr/>
          <p:nvPr/>
        </p:nvCxnSpPr>
        <p:spPr>
          <a:xfrm>
            <a:off x="8412480" y="4462272"/>
            <a:ext cx="31363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458200" y="4517136"/>
            <a:ext cx="1645920" cy="36576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고각</a:t>
            </a:r>
          </a:p>
        </p:txBody>
      </p:sp>
      <p:sp>
        <p:nvSpPr>
          <p:cNvPr id="39" name="TextBox 38"/>
          <p:cNvSpPr txBox="1"/>
          <p:nvPr/>
        </p:nvSpPr>
        <p:spPr>
          <a:xfrm>
            <a:off x="8458200" y="4864608"/>
            <a:ext cx="1920240" cy="292608"/>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4A5A7A"/>
                </a:solidFill>
                <a:latin typeface="맑은 고딕"/>
                <a:ea typeface="맑은 고딕"/>
                <a:cs typeface="맑은 고딕"/>
              </a:rPr>
              <a:t>5.31° ÷ (1.7 × 6.32)</a:t>
            </a:r>
          </a:p>
        </p:txBody>
      </p:sp>
      <p:sp>
        <p:nvSpPr>
          <p:cNvPr id="40" name="TextBox 39"/>
          <p:cNvSpPr txBox="1"/>
          <p:nvPr/>
        </p:nvSpPr>
        <p:spPr>
          <a:xfrm>
            <a:off x="10058400" y="4517136"/>
            <a:ext cx="1444752" cy="676656"/>
          </a:xfrm>
          <a:prstGeom prst="rect">
            <a:avLst/>
          </a:prstGeom>
          <a:noFill/>
        </p:spPr>
        <p:txBody>
          <a:bodyPr wrap="square" anchor="ctr" lIns="0" tIns="0" rIns="0" bIns="0">
            <a:noAutofit/>
          </a:bodyPr>
          <a:lstStyle/>
          <a:p>
            <a:pPr algn="r">
              <a:lnSpc>
                <a:spcPct val="115000"/>
              </a:lnSpc>
              <a:spcAft>
                <a:spcPts val="0"/>
              </a:spcAft>
            </a:pPr>
            <a:r>
              <a:rPr sz="2300" b="1" i="0" lang="ko-KR" altLang="en-US">
                <a:solidFill>
                  <a:srgbClr val="059669"/>
                </a:solidFill>
                <a:latin typeface="Arial"/>
                <a:ea typeface="맑은 고딕"/>
                <a:cs typeface="Arial"/>
              </a:rPr>
              <a:t>0.494°</a:t>
            </a:r>
          </a:p>
        </p:txBody>
      </p:sp>
      <p:cxnSp>
        <p:nvCxnSpPr>
          <p:cNvPr id="41" name="Connector 40"/>
          <p:cNvCxnSpPr/>
          <p:nvPr/>
        </p:nvCxnSpPr>
        <p:spPr>
          <a:xfrm>
            <a:off x="8412480" y="5248656"/>
            <a:ext cx="31363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412480" y="5413248"/>
            <a:ext cx="3136392" cy="713232"/>
          </a:xfrm>
          <a:prstGeom prst="rect">
            <a:avLst/>
          </a:prstGeom>
          <a:noFill/>
        </p:spPr>
        <p:txBody>
          <a:bodyPr wrap="square" anchor="t" lIns="0" tIns="0" rIns="0" bIns="0">
            <a:noAutofit/>
          </a:bodyPr>
          <a:lstStyle/>
          <a:p>
            <a:pPr algn="l">
              <a:lnSpc>
                <a:spcPct val="120000"/>
              </a:lnSpc>
              <a:spcAft>
                <a:spcPts val="0"/>
              </a:spcAft>
            </a:pPr>
            <a:r>
              <a:rPr sz="1150" b="0" i="0" lang="ko-KR" altLang="en-US">
                <a:solidFill>
                  <a:srgbClr val="4A5A7A"/>
                </a:solidFill>
                <a:latin typeface="맑은 고딕"/>
                <a:ea typeface="맑은 고딕"/>
                <a:cs typeface="맑은 고딕"/>
              </a:rPr>
              <a:t>대역폭이 넓고, 빔이 좁고, SNR 이 클수록</a:t>
            </a:r>
          </a:p>
          <a:p>
            <a:pPr algn="l">
              <a:lnSpc>
                <a:spcPct val="120000"/>
              </a:lnSpc>
              <a:spcAft>
                <a:spcPts val="0"/>
              </a:spcAft>
            </a:pPr>
            <a:r>
              <a:rPr sz="1150" b="0" i="0" lang="ko-KR" altLang="en-US">
                <a:solidFill>
                  <a:srgbClr val="4A5A7A"/>
                </a:solidFill>
                <a:latin typeface="맑은 고딕"/>
                <a:ea typeface="맑은 고딕"/>
                <a:cs typeface="맑은 고딕"/>
              </a:rPr>
              <a:t>p 가 작다 = 더 정확하다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02. 플롯 모의</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2.3 거리 · 방위각 · 고각마다 잡음을 따로 뽑아 더합니다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7</a:t>
            </a:r>
          </a:p>
        </p:txBody>
      </p:sp>
      <p:sp>
        <p:nvSpPr>
          <p:cNvPr id="7" name="Rectangle 6"/>
          <p:cNvSpPr/>
          <p:nvPr/>
        </p:nvSpPr>
        <p:spPr>
          <a:xfrm>
            <a:off x="640080" y="1965960"/>
            <a:ext cx="3520440" cy="269748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21408"/>
            <a:ext cx="3520440" cy="603504"/>
          </a:xfrm>
          <a:prstGeom prst="rect">
            <a:avLst/>
          </a:prstGeom>
          <a:noFill/>
        </p:spPr>
        <p:txBody>
          <a:bodyPr wrap="square" anchor="ctr" lIns="0" tIns="0" rIns="0" bIns="0">
            <a:noAutofit/>
          </a:bodyPr>
          <a:lstStyle/>
          <a:p>
            <a:pPr algn="ctr">
              <a:lnSpc>
                <a:spcPct val="115000"/>
              </a:lnSpc>
              <a:spcAft>
                <a:spcPts val="0"/>
              </a:spcAft>
            </a:pPr>
            <a:r>
              <a:rPr sz="2800" b="1" i="0" lang="ko-KR" altLang="en-US">
                <a:solidFill>
                  <a:srgbClr val="1B2740"/>
                </a:solidFill>
                <a:latin typeface="Arial"/>
                <a:ea typeface="맑은 고딕"/>
                <a:cs typeface="Arial"/>
              </a:rPr>
              <a:t>z = x + v</a:t>
            </a:r>
          </a:p>
        </p:txBody>
      </p:sp>
      <p:sp>
        <p:nvSpPr>
          <p:cNvPr id="9" name="TextBox 8"/>
          <p:cNvSpPr txBox="1"/>
          <p:nvPr/>
        </p:nvSpPr>
        <p:spPr>
          <a:xfrm>
            <a:off x="640080" y="2743200"/>
            <a:ext cx="3520440" cy="402336"/>
          </a:xfrm>
          <a:prstGeom prst="rect">
            <a:avLst/>
          </a:prstGeom>
          <a:noFill/>
        </p:spPr>
        <p:txBody>
          <a:bodyPr wrap="square" anchor="ctr" lIns="0" tIns="0" rIns="0" bIns="0">
            <a:noAutofit/>
          </a:bodyPr>
          <a:lstStyle/>
          <a:p>
            <a:pPr algn="ctr">
              <a:lnSpc>
                <a:spcPct val="115000"/>
              </a:lnSpc>
              <a:spcAft>
                <a:spcPts val="0"/>
              </a:spcAft>
            </a:pPr>
            <a:r>
              <a:rPr sz="1800" b="0" i="0" lang="ko-KR" altLang="en-US">
                <a:solidFill>
                  <a:srgbClr val="1B2740"/>
                </a:solidFill>
                <a:latin typeface="Arial"/>
                <a:ea typeface="맑은 고딕"/>
                <a:cs typeface="Arial"/>
              </a:rPr>
              <a:t>v ~ N(0, p²)</a:t>
            </a:r>
          </a:p>
        </p:txBody>
      </p:sp>
      <p:sp>
        <p:nvSpPr>
          <p:cNvPr id="10" name="TextBox 9"/>
          <p:cNvSpPr txBox="1"/>
          <p:nvPr/>
        </p:nvSpPr>
        <p:spPr>
          <a:xfrm>
            <a:off x="640080" y="3200400"/>
            <a:ext cx="3520440" cy="292608"/>
          </a:xfrm>
          <a:prstGeom prst="rect">
            <a:avLst/>
          </a:prstGeom>
          <a:noFill/>
        </p:spPr>
        <p:txBody>
          <a:bodyPr wrap="square" anchor="ctr" lIns="0" tIns="0" rIns="0" bIns="0">
            <a:noAutofit/>
          </a:bodyPr>
          <a:lstStyle/>
          <a:p>
            <a:pPr algn="ctr">
              <a:lnSpc>
                <a:spcPct val="115000"/>
              </a:lnSpc>
              <a:spcAft>
                <a:spcPts val="0"/>
              </a:spcAft>
            </a:pPr>
            <a:r>
              <a:rPr sz="1200" b="0" i="0" lang="ko-KR" altLang="en-US">
                <a:solidFill>
                  <a:srgbClr val="4A5A7A"/>
                </a:solidFill>
                <a:latin typeface="맑은 고딕"/>
                <a:ea typeface="맑은 고딕"/>
                <a:cs typeface="맑은 고딕"/>
              </a:rPr>
              <a:t>평균 0, 표준편차 p 인 정규분포</a:t>
            </a:r>
          </a:p>
        </p:txBody>
      </p:sp>
      <p:sp>
        <p:nvSpPr>
          <p:cNvPr id="11" name="TextBox 10"/>
          <p:cNvSpPr txBox="1"/>
          <p:nvPr/>
        </p:nvSpPr>
        <p:spPr>
          <a:xfrm>
            <a:off x="868680" y="3639312"/>
            <a:ext cx="3063240" cy="868680"/>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Arial"/>
                <a:ea typeface="맑은 고딕"/>
                <a:cs typeface="Arial"/>
              </a:rPr>
              <a:t>x</a:t>
            </a:r>
            <a:r>
              <a:rPr sz="1200" b="0" i="0" lang="ko-KR" altLang="en-US">
                <a:solidFill>
                  <a:srgbClr val="1B2740"/>
                </a:solidFill>
                <a:latin typeface="맑은 고딕"/>
                <a:ea typeface="맑은 고딕"/>
                <a:cs typeface="맑은 고딕"/>
              </a:rPr>
              <a:t>  참값</a:t>
            </a:r>
          </a:p>
          <a:p>
            <a:pPr algn="l">
              <a:lnSpc>
                <a:spcPct val="115000"/>
              </a:lnSpc>
              <a:spcAft>
                <a:spcPts val="0"/>
              </a:spcAft>
            </a:pPr>
            <a:r>
              <a:rPr sz="1200" b="1" i="0" lang="ko-KR" altLang="en-US">
                <a:solidFill>
                  <a:srgbClr val="1B2740"/>
                </a:solidFill>
                <a:latin typeface="Arial"/>
                <a:ea typeface="맑은 고딕"/>
                <a:cs typeface="Arial"/>
              </a:rPr>
              <a:t>v</a:t>
            </a:r>
            <a:r>
              <a:rPr sz="1200" b="0" i="0" lang="ko-KR" altLang="en-US">
                <a:solidFill>
                  <a:srgbClr val="1B2740"/>
                </a:solidFill>
                <a:latin typeface="맑은 고딕"/>
                <a:ea typeface="맑은 고딕"/>
                <a:cs typeface="맑은 고딕"/>
              </a:rPr>
              <a:t>  잡음</a:t>
            </a:r>
          </a:p>
          <a:p>
            <a:pPr algn="l">
              <a:lnSpc>
                <a:spcPct val="115000"/>
              </a:lnSpc>
              <a:spcAft>
                <a:spcPts val="0"/>
              </a:spcAft>
            </a:pPr>
            <a:r>
              <a:rPr sz="1200" b="1" i="0" lang="ko-KR" altLang="en-US">
                <a:solidFill>
                  <a:srgbClr val="1B2740"/>
                </a:solidFill>
                <a:latin typeface="Arial"/>
                <a:ea typeface="맑은 고딕"/>
                <a:cs typeface="Arial"/>
              </a:rPr>
              <a:t>z</a:t>
            </a:r>
            <a:r>
              <a:rPr sz="1200" b="0" i="0" lang="ko-KR" altLang="en-US">
                <a:solidFill>
                  <a:srgbClr val="1B2740"/>
                </a:solidFill>
                <a:latin typeface="맑은 고딕"/>
                <a:ea typeface="맑은 고딕"/>
                <a:cs typeface="맑은 고딕"/>
              </a:rPr>
              <a:t>  플롯 (레이다가 잰 값)</a:t>
            </a:r>
          </a:p>
        </p:txBody>
      </p:sp>
      <p:pic>
        <p:nvPicPr>
          <p:cNvPr id="12" name="Picture 11" descr="image.png"/>
          <p:cNvPicPr>
            <a:picLocks noChangeAspect="1"/>
          </p:cNvPicPr>
          <p:nvPr/>
        </p:nvPicPr>
        <p:blipFill>
          <a:blip r:embed="rId2"/>
          <a:stretch>
            <a:fillRect/>
          </a:stretch>
        </p:blipFill>
        <p:spPr>
          <a:xfrm>
            <a:off x="4389120" y="1965960"/>
            <a:ext cx="3566160" cy="2394421"/>
          </a:xfrm>
          <a:prstGeom prst="rect">
            <a:avLst/>
          </a:prstGeom>
        </p:spPr>
      </p:pic>
      <p:sp>
        <p:nvSpPr>
          <p:cNvPr id="13" name="TextBox 12"/>
          <p:cNvSpPr txBox="1"/>
          <p:nvPr/>
        </p:nvSpPr>
        <p:spPr>
          <a:xfrm>
            <a:off x="4389120" y="4370832"/>
            <a:ext cx="3566160" cy="329184"/>
          </a:xfrm>
          <a:prstGeom prst="rect">
            <a:avLst/>
          </a:prstGeom>
          <a:noFill/>
        </p:spPr>
        <p:txBody>
          <a:bodyPr wrap="square" anchor="ctr" lIns="0" tIns="0" rIns="0" bIns="0">
            <a:noAutofit/>
          </a:bodyPr>
          <a:lstStyle/>
          <a:p>
            <a:pPr algn="ctr">
              <a:lnSpc>
                <a:spcPct val="115000"/>
              </a:lnSpc>
              <a:spcAft>
                <a:spcPts val="0"/>
              </a:spcAft>
            </a:pPr>
            <a:r>
              <a:rPr sz="1250" b="1" i="0" lang="ko-KR" altLang="en-US">
                <a:solidFill>
                  <a:srgbClr val="1B2740"/>
                </a:solidFill>
                <a:latin typeface="맑은 고딕"/>
                <a:ea typeface="맑은 고딕"/>
                <a:cs typeface="맑은 고딕"/>
              </a:rPr>
              <a:t>±p 안에 68 %,  ±3p 안에 99.7 %</a:t>
            </a:r>
          </a:p>
        </p:txBody>
      </p:sp>
      <p:sp>
        <p:nvSpPr>
          <p:cNvPr id="14" name="TextBox 13"/>
          <p:cNvSpPr txBox="1"/>
          <p:nvPr/>
        </p:nvSpPr>
        <p:spPr>
          <a:xfrm>
            <a:off x="8229600" y="1965960"/>
            <a:ext cx="3319272"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성분마다 따로 뽑는다</a:t>
            </a:r>
          </a:p>
        </p:txBody>
      </p:sp>
      <p:sp>
        <p:nvSpPr>
          <p:cNvPr id="15" name="Rectangle 14"/>
          <p:cNvSpPr/>
          <p:nvPr/>
        </p:nvSpPr>
        <p:spPr>
          <a:xfrm>
            <a:off x="8229600" y="2331720"/>
            <a:ext cx="3319272" cy="621792"/>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57616" y="2496312"/>
            <a:ext cx="749808" cy="292608"/>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496312"/>
            <a:ext cx="713231" cy="292608"/>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거리</a:t>
            </a:r>
          </a:p>
        </p:txBody>
      </p:sp>
      <p:sp>
        <p:nvSpPr>
          <p:cNvPr id="18" name="TextBox 17"/>
          <p:cNvSpPr txBox="1"/>
          <p:nvPr/>
        </p:nvSpPr>
        <p:spPr>
          <a:xfrm>
            <a:off x="9217152" y="2331720"/>
            <a:ext cx="2267712" cy="621792"/>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Arial"/>
                <a:ea typeface="맑은 고딕"/>
                <a:cs typeface="Arial"/>
              </a:rPr>
              <a:t>GAUSS(0, 4.74 m)</a:t>
            </a:r>
          </a:p>
        </p:txBody>
      </p:sp>
      <p:sp>
        <p:nvSpPr>
          <p:cNvPr id="19" name="Rectangle 18"/>
          <p:cNvSpPr/>
          <p:nvPr/>
        </p:nvSpPr>
        <p:spPr>
          <a:xfrm>
            <a:off x="8229600" y="3063239"/>
            <a:ext cx="3319272" cy="621792"/>
          </a:xfrm>
          <a:prstGeom prst="rect">
            <a:avLst/>
          </a:prstGeom>
          <a:solidFill>
            <a:srgbClr val="FFFFFF"/>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57616" y="3227832"/>
            <a:ext cx="749808" cy="292608"/>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75904" y="3227832"/>
            <a:ext cx="713231" cy="292608"/>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방위각</a:t>
            </a:r>
          </a:p>
        </p:txBody>
      </p:sp>
      <p:sp>
        <p:nvSpPr>
          <p:cNvPr id="22" name="TextBox 21"/>
          <p:cNvSpPr txBox="1"/>
          <p:nvPr/>
        </p:nvSpPr>
        <p:spPr>
          <a:xfrm>
            <a:off x="9217152" y="3063239"/>
            <a:ext cx="2267712" cy="621792"/>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Arial"/>
                <a:ea typeface="맑은 고딕"/>
                <a:cs typeface="Arial"/>
              </a:rPr>
              <a:t>GAUSS(0, 0.478°)</a:t>
            </a:r>
          </a:p>
        </p:txBody>
      </p:sp>
      <p:sp>
        <p:nvSpPr>
          <p:cNvPr id="23" name="Rectangle 22"/>
          <p:cNvSpPr/>
          <p:nvPr/>
        </p:nvSpPr>
        <p:spPr>
          <a:xfrm>
            <a:off x="8229600" y="3794760"/>
            <a:ext cx="3319272" cy="621792"/>
          </a:xfrm>
          <a:prstGeom prst="rect">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57616" y="3959352"/>
            <a:ext cx="749808" cy="292608"/>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75904" y="3959352"/>
            <a:ext cx="713231" cy="292608"/>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고각</a:t>
            </a:r>
          </a:p>
        </p:txBody>
      </p:sp>
      <p:sp>
        <p:nvSpPr>
          <p:cNvPr id="26" name="TextBox 25"/>
          <p:cNvSpPr txBox="1"/>
          <p:nvPr/>
        </p:nvSpPr>
        <p:spPr>
          <a:xfrm>
            <a:off x="9217152" y="3794760"/>
            <a:ext cx="2267712" cy="621792"/>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Arial"/>
                <a:ea typeface="맑은 고딕"/>
                <a:cs typeface="Arial"/>
              </a:rPr>
              <a:t>GAUSS(0, 0.494°)</a:t>
            </a:r>
          </a:p>
        </p:txBody>
      </p:sp>
      <p:sp>
        <p:nvSpPr>
          <p:cNvPr id="27" name="TextBox 26"/>
          <p:cNvSpPr txBox="1"/>
          <p:nvPr/>
        </p:nvSpPr>
        <p:spPr>
          <a:xfrm>
            <a:off x="8229600" y="4553712"/>
            <a:ext cx="3319272" cy="310896"/>
          </a:xfrm>
          <a:prstGeom prst="rect">
            <a:avLst/>
          </a:prstGeom>
          <a:noFill/>
        </p:spPr>
        <p:txBody>
          <a:bodyPr wrap="square" anchor="ctr" lIns="0" tIns="0" rIns="0" bIns="0">
            <a:noAutofit/>
          </a:bodyPr>
          <a:lstStyle/>
          <a:p>
            <a:pPr algn="ctr">
              <a:lnSpc>
                <a:spcPct val="115000"/>
              </a:lnSpc>
              <a:spcAft>
                <a:spcPts val="0"/>
              </a:spcAft>
            </a:pPr>
            <a:r>
              <a:rPr sz="1150" b="0" i="0" lang="ko-KR" altLang="en-US">
                <a:solidFill>
                  <a:srgbClr val="4A5A7A"/>
                </a:solidFill>
                <a:latin typeface="맑은 고딕"/>
                <a:ea typeface="맑은 고딕"/>
                <a:cs typeface="맑은 고딕"/>
              </a:rPr>
              <a:t>세 성분의 잡음은 서로 독립</a:t>
            </a:r>
          </a:p>
        </p:txBody>
      </p:sp>
      <p:sp>
        <p:nvSpPr>
          <p:cNvPr id="28" name="Rectangle 27"/>
          <p:cNvSpPr/>
          <p:nvPr/>
        </p:nvSpPr>
        <p:spPr>
          <a:xfrm>
            <a:off x="640080" y="5074920"/>
            <a:ext cx="10908792" cy="1051560"/>
          </a:xfrm>
          <a:prstGeom prst="rect">
            <a:avLst/>
          </a:prstGeom>
          <a:solidFill>
            <a:srgbClr val="EEF3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074920"/>
            <a:ext cx="10451592" cy="1051560"/>
          </a:xfrm>
          <a:prstGeom prst="rect">
            <a:avLst/>
          </a:prstGeom>
          <a:noFill/>
        </p:spPr>
        <p:txBody>
          <a:bodyPr wrap="square" anchor="ctr" lIns="0" tIns="0" rIns="0" bIns="0">
            <a:noAutofit/>
          </a:bodyPr>
          <a:lstStyle/>
          <a:p>
            <a:pPr algn="l">
              <a:lnSpc>
                <a:spcPct val="115000"/>
              </a:lnSpc>
              <a:spcAft>
                <a:spcPts val="400"/>
              </a:spcAft>
            </a:pPr>
            <a:r>
              <a:rPr sz="1400" b="1" i="0" lang="ko-KR" altLang="en-US">
                <a:solidFill>
                  <a:srgbClr val="1B2740"/>
                </a:solidFill>
                <a:latin typeface="맑은 고딕"/>
                <a:ea typeface="맑은 고딕"/>
                <a:cs typeface="맑은 고딕"/>
              </a:rPr>
              <a:t>그래서 플롯 z 는 참값 x 주위에 흩어지고, 흩어지는 폭이 p 다</a:t>
            </a:r>
          </a:p>
          <a:p>
            <a:pPr algn="l">
              <a:lnSpc>
                <a:spcPct val="115000"/>
              </a:lnSpc>
              <a:spcAft>
                <a:spcPts val="0"/>
              </a:spcAft>
            </a:pPr>
            <a:r>
              <a:rPr sz="1250" b="0" i="0" lang="ko-KR" altLang="en-US">
                <a:solidFill>
                  <a:srgbClr val="1B2740"/>
                </a:solidFill>
                <a:latin typeface="맑은 고딕"/>
                <a:ea typeface="맑은 고딕"/>
                <a:cs typeface="맑은 고딕"/>
              </a:rPr>
              <a:t>실제 숫자로 만든 첫 플롯과 3,000개 확인 결과는 실습 2 (5.2) 에서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03. 클러터</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3.1 클러터는 표적이 아닌 것에서 돌아온 탐지입니다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8</a:t>
            </a:r>
          </a:p>
        </p:txBody>
      </p:sp>
      <p:sp>
        <p:nvSpPr>
          <p:cNvPr id="7" name="TextBox 6"/>
          <p:cNvSpPr txBox="1"/>
          <p:nvPr/>
        </p:nvSpPr>
        <p:spPr>
          <a:xfrm>
            <a:off x="640080" y="1965960"/>
            <a:ext cx="630936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클러터가 생기는 곳</a:t>
            </a:r>
          </a:p>
        </p:txBody>
      </p:sp>
      <p:pic>
        <p:nvPicPr>
          <p:cNvPr id="8" name="Picture 7" descr="image.png"/>
          <p:cNvPicPr>
            <a:picLocks noChangeAspect="1"/>
          </p:cNvPicPr>
          <p:nvPr/>
        </p:nvPicPr>
        <p:blipFill>
          <a:blip r:embed="rId2"/>
          <a:stretch>
            <a:fillRect/>
          </a:stretch>
        </p:blipFill>
        <p:spPr>
          <a:xfrm>
            <a:off x="640080" y="2286000"/>
            <a:ext cx="6309360" cy="2822004"/>
          </a:xfrm>
          <a:prstGeom prst="rect">
            <a:avLst/>
          </a:prstGeom>
        </p:spPr>
      </p:pic>
      <p:sp>
        <p:nvSpPr>
          <p:cNvPr id="9" name="TextBox 8"/>
          <p:cNvSpPr txBox="1"/>
          <p:nvPr/>
        </p:nvSpPr>
        <p:spPr>
          <a:xfrm>
            <a:off x="7269480" y="1965960"/>
            <a:ext cx="4279392"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추적 필터가 받는 모습 (예시)</a:t>
            </a:r>
          </a:p>
        </p:txBody>
      </p:sp>
      <p:pic>
        <p:nvPicPr>
          <p:cNvPr id="10" name="Picture 9" descr="image.png"/>
          <p:cNvPicPr>
            <a:picLocks noChangeAspect="1"/>
          </p:cNvPicPr>
          <p:nvPr/>
        </p:nvPicPr>
        <p:blipFill>
          <a:blip r:embed="rId3"/>
          <a:stretch>
            <a:fillRect/>
          </a:stretch>
        </p:blipFill>
        <p:spPr>
          <a:xfrm>
            <a:off x="7269480" y="2286000"/>
            <a:ext cx="4279392" cy="1711756"/>
          </a:xfrm>
          <a:prstGeom prst="rect">
            <a:avLst/>
          </a:prstGeom>
        </p:spPr>
      </p:pic>
      <p:sp>
        <p:nvSpPr>
          <p:cNvPr id="11" name="TextBox 10"/>
          <p:cNvSpPr txBox="1"/>
          <p:nvPr/>
        </p:nvSpPr>
        <p:spPr>
          <a:xfrm>
            <a:off x="7269480" y="4133087"/>
            <a:ext cx="4279392" cy="932688"/>
          </a:xfrm>
          <a:prstGeom prst="rect">
            <a:avLst/>
          </a:prstGeom>
          <a:noFill/>
        </p:spPr>
        <p:txBody>
          <a:bodyPr wrap="square" anchor="t" lIns="0" tIns="0" rIns="0" bIns="0">
            <a:noAutofit/>
          </a:bodyPr>
          <a:lstStyle/>
          <a:p>
            <a:pPr algn="l">
              <a:lnSpc>
                <a:spcPct val="120000"/>
              </a:lnSpc>
              <a:spcAft>
                <a:spcPts val="0"/>
              </a:spcAft>
            </a:pPr>
            <a:r>
              <a:rPr sz="1200" b="0" i="0" lang="ko-KR" altLang="en-US">
                <a:solidFill>
                  <a:srgbClr val="1B2740"/>
                </a:solidFill>
                <a:latin typeface="맑은 고딕"/>
                <a:ea typeface="맑은 고딕"/>
                <a:cs typeface="맑은 고딕"/>
              </a:rPr>
              <a:t>클러터도 거리 · 방위각 · 고각을 가진</a:t>
            </a:r>
          </a:p>
          <a:p>
            <a:pPr algn="l">
              <a:lnSpc>
                <a:spcPct val="120000"/>
              </a:lnSpc>
              <a:spcAft>
                <a:spcPts val="0"/>
              </a:spcAft>
            </a:pPr>
            <a:r>
              <a:rPr sz="1200" b="0" i="0" lang="ko-KR" altLang="en-US">
                <a:solidFill>
                  <a:srgbClr val="1B2740"/>
                </a:solidFill>
                <a:latin typeface="맑은 고딕"/>
                <a:ea typeface="맑은 고딕"/>
                <a:cs typeface="맑은 고딕"/>
              </a:rPr>
              <a:t>플롯으로 들어온다.</a:t>
            </a:r>
          </a:p>
          <a:p>
            <a:pPr algn="l">
              <a:lnSpc>
                <a:spcPct val="120000"/>
              </a:lnSpc>
              <a:spcAft>
                <a:spcPts val="0"/>
              </a:spcAft>
            </a:pPr>
            <a:r>
              <a:rPr sz="1200" b="1" i="0" lang="ko-KR" altLang="en-US">
                <a:solidFill>
                  <a:srgbClr val="1B2740"/>
                </a:solidFill>
                <a:latin typeface="맑은 고딕"/>
                <a:ea typeface="맑은 고딕"/>
                <a:cs typeface="맑은 고딕"/>
              </a:rPr>
              <a:t>플롯만 봐서는 표적을 구분할 수 없다.</a:t>
            </a:r>
          </a:p>
        </p:txBody>
      </p:sp>
      <p:sp>
        <p:nvSpPr>
          <p:cNvPr id="12" name="Rectangle 11"/>
          <p:cNvSpPr/>
          <p:nvPr/>
        </p:nvSpPr>
        <p:spPr>
          <a:xfrm>
            <a:off x="640080" y="5303520"/>
            <a:ext cx="5349240"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5303520"/>
            <a:ext cx="4983479" cy="841248"/>
          </a:xfrm>
          <a:prstGeom prst="rect">
            <a:avLst/>
          </a:prstGeom>
          <a:noFill/>
        </p:spPr>
        <p:txBody>
          <a:bodyPr wrap="square" anchor="ctr" lIns="0" tIns="0" rIns="0" bIns="0">
            <a:noAutofit/>
          </a:bodyPr>
          <a:lstStyle/>
          <a:p>
            <a:pPr algn="l">
              <a:lnSpc>
                <a:spcPct val="115000"/>
              </a:lnSpc>
              <a:spcAft>
                <a:spcPts val="300"/>
              </a:spcAft>
            </a:pPr>
            <a:r>
              <a:rPr sz="1300" b="1" i="0" lang="ko-KR" altLang="en-US">
                <a:solidFill>
                  <a:srgbClr val="1B2740"/>
                </a:solidFill>
                <a:latin typeface="맑은 고딕"/>
                <a:ea typeface="맑은 고딕"/>
                <a:cs typeface="맑은 고딕"/>
              </a:rPr>
              <a:t>실제 클러터를 그대로 만들기는 어렵다</a:t>
            </a:r>
          </a:p>
          <a:p>
            <a:pPr algn="l">
              <a:lnSpc>
                <a:spcPct val="115000"/>
              </a:lnSpc>
              <a:spcAft>
                <a:spcPts val="0"/>
              </a:spcAft>
            </a:pPr>
            <a:r>
              <a:rPr sz="1150" b="0" i="0" lang="ko-KR" altLang="en-US">
                <a:solidFill>
                  <a:srgbClr val="4A5A7A"/>
                </a:solidFill>
                <a:latin typeface="맑은 고딕"/>
                <a:ea typeface="맑은 고딕"/>
                <a:cs typeface="맑은 고딕"/>
              </a:rPr>
              <a:t>바다 상태 · 지형 · 날씨까지 넣어야 하는 별도 연구 분야</a:t>
            </a:r>
          </a:p>
        </p:txBody>
      </p:sp>
      <p:sp>
        <p:nvSpPr>
          <p:cNvPr id="14" name="Rectangle 13"/>
          <p:cNvSpPr/>
          <p:nvPr/>
        </p:nvSpPr>
        <p:spPr>
          <a:xfrm>
            <a:off x="6199632" y="5303520"/>
            <a:ext cx="5349240" cy="841248"/>
          </a:xfrm>
          <a:prstGeom prst="rect">
            <a:avLst/>
          </a:prstGeom>
          <a:solidFill>
            <a:srgbClr val="EEF3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5303520"/>
            <a:ext cx="4983479" cy="841248"/>
          </a:xfrm>
          <a:prstGeom prst="rect">
            <a:avLst/>
          </a:prstGeom>
          <a:noFill/>
        </p:spPr>
        <p:txBody>
          <a:bodyPr wrap="square" anchor="ctr" lIns="0" tIns="0" rIns="0" bIns="0">
            <a:noAutofit/>
          </a:bodyPr>
          <a:lstStyle/>
          <a:p>
            <a:pPr algn="l">
              <a:lnSpc>
                <a:spcPct val="115000"/>
              </a:lnSpc>
              <a:spcAft>
                <a:spcPts val="300"/>
              </a:spcAft>
            </a:pPr>
            <a:r>
              <a:rPr sz="1300" b="1" i="0" lang="ko-KR" altLang="en-US">
                <a:solidFill>
                  <a:srgbClr val="2563EB"/>
                </a:solidFill>
                <a:latin typeface="맑은 고딕"/>
                <a:ea typeface="맑은 고딕"/>
                <a:cs typeface="맑은 고딕"/>
              </a:rPr>
              <a:t>그래서 단순하게 만든다</a:t>
            </a:r>
          </a:p>
          <a:p>
            <a:pPr algn="l">
              <a:lnSpc>
                <a:spcPct val="115000"/>
              </a:lnSpc>
              <a:spcAft>
                <a:spcPts val="0"/>
              </a:spcAft>
            </a:pPr>
            <a:r>
              <a:rPr sz="1150" b="0" i="0" lang="ko-KR" altLang="en-US">
                <a:solidFill>
                  <a:srgbClr val="4A5A7A"/>
                </a:solidFill>
                <a:latin typeface="맑은 고딕"/>
                <a:ea typeface="맑은 고딕"/>
                <a:cs typeface="맑은 고딕"/>
              </a:rPr>
              <a:t>범위 안에 무작위로 생기는 클러터  →  클러터 속 추적 시험에 충분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03. 클러터</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3.2 클러터는 FOV 안에서 균등난수로 뽑습니다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9</a:t>
            </a:r>
          </a:p>
        </p:txBody>
      </p:sp>
      <p:sp>
        <p:nvSpPr>
          <p:cNvPr id="7" name="Rectangle 6"/>
          <p:cNvSpPr/>
          <p:nvPr/>
        </p:nvSpPr>
        <p:spPr>
          <a:xfrm>
            <a:off x="640080" y="1965960"/>
            <a:ext cx="2331720" cy="786384"/>
          </a:xfrm>
          <a:prstGeom prst="rect">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965960"/>
            <a:ext cx="2057400" cy="786384"/>
          </a:xfrm>
          <a:prstGeom prst="rect">
            <a:avLst/>
          </a:prstGeom>
          <a:noFill/>
        </p:spPr>
        <p:txBody>
          <a:bodyPr wrap="square" anchor="ctr" lIns="0" tIns="0" rIns="0" bIns="0">
            <a:noAutofit/>
          </a:bodyPr>
          <a:lstStyle/>
          <a:p>
            <a:pPr algn="l">
              <a:lnSpc>
                <a:spcPct val="110000"/>
              </a:lnSpc>
              <a:spcAft>
                <a:spcPts val="200"/>
              </a:spcAft>
            </a:pPr>
            <a:r>
              <a:rPr sz="1250" b="1" i="0" lang="ko-KR" altLang="en-US">
                <a:solidFill>
                  <a:srgbClr val="2563EB"/>
                </a:solidFill>
                <a:latin typeface="맑은 고딕"/>
                <a:ea typeface="맑은 고딕"/>
                <a:cs typeface="맑은 고딕"/>
              </a:rPr>
              <a:t>① 개수</a:t>
            </a:r>
          </a:p>
          <a:p>
            <a:pPr algn="l">
              <a:lnSpc>
                <a:spcPct val="110000"/>
              </a:lnSpc>
              <a:spcAft>
                <a:spcPts val="0"/>
              </a:spcAft>
            </a:pPr>
            <a:r>
              <a:rPr sz="1200" b="0" i="0" lang="ko-KR" altLang="en-US">
                <a:solidFill>
                  <a:srgbClr val="1B2740"/>
                </a:solidFill>
                <a:latin typeface="맑은 고딕"/>
                <a:ea typeface="맑은 고딕"/>
                <a:cs typeface="맑은 고딕"/>
              </a:rPr>
              <a:t>스캔마다 5개</a:t>
            </a:r>
          </a:p>
        </p:txBody>
      </p:sp>
      <p:cxnSp>
        <p:nvCxnSpPr>
          <p:cNvPr id="9" name="Connector 8"/>
          <p:cNvCxnSpPr/>
          <p:nvPr/>
        </p:nvCxnSpPr>
        <p:spPr>
          <a:xfrm>
            <a:off x="3008376" y="2359152"/>
            <a:ext cx="201168"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246120" y="1965960"/>
            <a:ext cx="4736592" cy="786384"/>
          </a:xfrm>
          <a:prstGeom prst="rect">
            <a:avLst/>
          </a:prstGeom>
          <a:solidFill>
            <a:srgbClr val="FFFFFF"/>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0712" y="1965960"/>
            <a:ext cx="4462272" cy="786384"/>
          </a:xfrm>
          <a:prstGeom prst="rect">
            <a:avLst/>
          </a:prstGeom>
          <a:noFill/>
        </p:spPr>
        <p:txBody>
          <a:bodyPr wrap="square" anchor="ctr" lIns="0" tIns="0" rIns="0" bIns="0">
            <a:noAutofit/>
          </a:bodyPr>
          <a:lstStyle/>
          <a:p>
            <a:pPr algn="l">
              <a:lnSpc>
                <a:spcPct val="110000"/>
              </a:lnSpc>
              <a:spcAft>
                <a:spcPts val="200"/>
              </a:spcAft>
            </a:pPr>
            <a:r>
              <a:rPr sz="1250" b="1" i="0" lang="ko-KR" altLang="en-US">
                <a:solidFill>
                  <a:srgbClr val="D97706"/>
                </a:solidFill>
                <a:latin typeface="맑은 고딕"/>
                <a:ea typeface="맑은 고딕"/>
                <a:cs typeface="맑은 고딕"/>
              </a:rPr>
              <a:t>② FOV 범위</a:t>
            </a:r>
          </a:p>
          <a:p>
            <a:pPr algn="l">
              <a:lnSpc>
                <a:spcPct val="110000"/>
              </a:lnSpc>
              <a:spcAft>
                <a:spcPts val="0"/>
              </a:spcAft>
            </a:pPr>
            <a:r>
              <a:rPr sz="1200" b="0" i="0" lang="ko-KR" altLang="en-US">
                <a:solidFill>
                  <a:srgbClr val="1B2740"/>
                </a:solidFill>
                <a:latin typeface="맑은 고딕"/>
                <a:ea typeface="맑은 고딕"/>
                <a:cs typeface="맑은 고딕"/>
              </a:rPr>
              <a:t>거리 200 m ~ 15 km,  방위각 ±60°,  고각 0 ~ 30°</a:t>
            </a:r>
          </a:p>
        </p:txBody>
      </p:sp>
      <p:cxnSp>
        <p:nvCxnSpPr>
          <p:cNvPr id="12" name="Connector 11"/>
          <p:cNvCxnSpPr/>
          <p:nvPr/>
        </p:nvCxnSpPr>
        <p:spPr>
          <a:xfrm>
            <a:off x="8019288" y="2359152"/>
            <a:ext cx="201168"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257031" y="1965960"/>
            <a:ext cx="3291840" cy="786384"/>
          </a:xfrm>
          <a:prstGeom prst="rect">
            <a:avLst/>
          </a:prstGeom>
          <a:solidFill>
            <a:srgbClr val="FFFFFF"/>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1624" y="1965960"/>
            <a:ext cx="3017520" cy="786384"/>
          </a:xfrm>
          <a:prstGeom prst="rect">
            <a:avLst/>
          </a:prstGeom>
          <a:noFill/>
        </p:spPr>
        <p:txBody>
          <a:bodyPr wrap="square" anchor="ctr" lIns="0" tIns="0" rIns="0" bIns="0">
            <a:noAutofit/>
          </a:bodyPr>
          <a:lstStyle/>
          <a:p>
            <a:pPr algn="l">
              <a:lnSpc>
                <a:spcPct val="110000"/>
              </a:lnSpc>
              <a:spcAft>
                <a:spcPts val="200"/>
              </a:spcAft>
            </a:pPr>
            <a:r>
              <a:rPr sz="1250" b="1" i="0" lang="ko-KR" altLang="en-US">
                <a:solidFill>
                  <a:srgbClr val="059669"/>
                </a:solidFill>
                <a:latin typeface="맑은 고딕"/>
                <a:ea typeface="맑은 고딕"/>
                <a:cs typeface="맑은 고딕"/>
              </a:rPr>
              <a:t>③ 뽑기</a:t>
            </a:r>
          </a:p>
          <a:p>
            <a:pPr algn="l">
              <a:lnSpc>
                <a:spcPct val="110000"/>
              </a:lnSpc>
              <a:spcAft>
                <a:spcPts val="0"/>
              </a:spcAft>
            </a:pPr>
            <a:r>
              <a:rPr sz="1200" b="0" i="0" lang="ko-KR" altLang="en-US">
                <a:solidFill>
                  <a:srgbClr val="1B2740"/>
                </a:solidFill>
                <a:latin typeface="맑은 고딕"/>
                <a:ea typeface="맑은 고딕"/>
                <a:cs typeface="맑은 고딕"/>
              </a:rPr>
              <a:t>거리 · 방위각 · 고각을 균등난수로 따로</a:t>
            </a:r>
          </a:p>
        </p:txBody>
      </p:sp>
      <p:sp>
        <p:nvSpPr>
          <p:cNvPr id="15" name="TextBox 14"/>
          <p:cNvSpPr txBox="1"/>
          <p:nvPr/>
        </p:nvSpPr>
        <p:spPr>
          <a:xfrm>
            <a:off x="640080" y="3035808"/>
            <a:ext cx="594360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FOV: 레이다가 보는 범위 (과제 값)</a:t>
            </a:r>
          </a:p>
        </p:txBody>
      </p:sp>
      <p:pic>
        <p:nvPicPr>
          <p:cNvPr id="16" name="Picture 15" descr="image.png"/>
          <p:cNvPicPr>
            <a:picLocks noChangeAspect="1"/>
          </p:cNvPicPr>
          <p:nvPr/>
        </p:nvPicPr>
        <p:blipFill>
          <a:blip r:embed="rId2"/>
          <a:stretch>
            <a:fillRect/>
          </a:stretch>
        </p:blipFill>
        <p:spPr>
          <a:xfrm>
            <a:off x="640080" y="3383280"/>
            <a:ext cx="5989320" cy="2257512"/>
          </a:xfrm>
          <a:prstGeom prst="rect">
            <a:avLst/>
          </a:prstGeom>
        </p:spPr>
      </p:pic>
      <p:sp>
        <p:nvSpPr>
          <p:cNvPr id="17" name="TextBox 16"/>
          <p:cNvSpPr txBox="1"/>
          <p:nvPr/>
        </p:nvSpPr>
        <p:spPr>
          <a:xfrm>
            <a:off x="640080" y="5669280"/>
            <a:ext cx="5989320" cy="274320"/>
          </a:xfrm>
          <a:prstGeom prst="rect">
            <a:avLst/>
          </a:prstGeom>
          <a:noFill/>
        </p:spPr>
        <p:txBody>
          <a:bodyPr wrap="square" anchor="ctr" lIns="0" tIns="0" rIns="0" bIns="0">
            <a:noAutofit/>
          </a:bodyPr>
          <a:lstStyle/>
          <a:p>
            <a:pPr algn="l">
              <a:lnSpc>
                <a:spcPct val="115000"/>
              </a:lnSpc>
              <a:spcAft>
                <a:spcPts val="0"/>
              </a:spcAft>
            </a:pPr>
            <a:r>
              <a:rPr sz="1100" b="0" i="0" lang="ko-KR" altLang="en-US">
                <a:solidFill>
                  <a:srgbClr val="4A5A7A"/>
                </a:solidFill>
                <a:latin typeface="맑은 고딕"/>
                <a:ea typeface="맑은 고딕"/>
                <a:cs typeface="맑은 고딕"/>
              </a:rPr>
              <a:t>빨간 점 = 한 스캔의 클러터 5개</a:t>
            </a:r>
          </a:p>
        </p:txBody>
      </p:sp>
      <p:sp>
        <p:nvSpPr>
          <p:cNvPr id="18" name="TextBox 17"/>
          <p:cNvSpPr txBox="1"/>
          <p:nvPr/>
        </p:nvSpPr>
        <p:spPr>
          <a:xfrm>
            <a:off x="6949440" y="3035808"/>
            <a:ext cx="4599432"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균등난수로 뽑는 법</a:t>
            </a:r>
          </a:p>
        </p:txBody>
      </p:sp>
      <p:pic>
        <p:nvPicPr>
          <p:cNvPr id="19" name="Picture 18" descr="image.png"/>
          <p:cNvPicPr>
            <a:picLocks noChangeAspect="1"/>
          </p:cNvPicPr>
          <p:nvPr/>
        </p:nvPicPr>
        <p:blipFill>
          <a:blip r:embed="rId3"/>
          <a:stretch>
            <a:fillRect/>
          </a:stretch>
        </p:blipFill>
        <p:spPr>
          <a:xfrm>
            <a:off x="6949440" y="3429000"/>
            <a:ext cx="4160520" cy="288174"/>
          </a:xfrm>
          <a:prstGeom prst="rect">
            <a:avLst/>
          </a:prstGeom>
        </p:spPr>
      </p:pic>
      <p:pic>
        <p:nvPicPr>
          <p:cNvPr id="20" name="Picture 19" descr="image.png"/>
          <p:cNvPicPr>
            <a:picLocks noChangeAspect="1"/>
          </p:cNvPicPr>
          <p:nvPr/>
        </p:nvPicPr>
        <p:blipFill>
          <a:blip r:embed="rId4"/>
          <a:stretch>
            <a:fillRect/>
          </a:stretch>
        </p:blipFill>
        <p:spPr>
          <a:xfrm>
            <a:off x="6949440" y="3822191"/>
            <a:ext cx="3931920" cy="1469296"/>
          </a:xfrm>
          <a:prstGeom prst="rect">
            <a:avLst/>
          </a:prstGeom>
        </p:spPr>
      </p:pic>
      <p:sp>
        <p:nvSpPr>
          <p:cNvPr id="21" name="TextBox 20"/>
          <p:cNvSpPr txBox="1"/>
          <p:nvPr/>
        </p:nvSpPr>
        <p:spPr>
          <a:xfrm>
            <a:off x="6949440" y="5321808"/>
            <a:ext cx="4599432" cy="566928"/>
          </a:xfrm>
          <a:prstGeom prst="rect">
            <a:avLst/>
          </a:prstGeom>
          <a:noFill/>
        </p:spPr>
        <p:txBody>
          <a:bodyPr wrap="square" anchor="t" lIns="0" tIns="0" rIns="0" bIns="0">
            <a:noAutofit/>
          </a:bodyPr>
          <a:lstStyle/>
          <a:p>
            <a:pPr algn="l">
              <a:lnSpc>
                <a:spcPct val="120000"/>
              </a:lnSpc>
              <a:spcAft>
                <a:spcPts val="0"/>
              </a:spcAft>
            </a:pPr>
            <a:r>
              <a:rPr sz="1150" b="0" i="0" lang="ko-KR" altLang="en-US">
                <a:solidFill>
                  <a:srgbClr val="1B2740"/>
                </a:solidFill>
                <a:latin typeface="맑은 고딕"/>
                <a:ea typeface="맑은 고딕"/>
                <a:cs typeface="맑은 고딕"/>
              </a:rPr>
              <a:t>방위각 = −60° + 120° × u,    고각 = 30° × u</a:t>
            </a:r>
          </a:p>
          <a:p>
            <a:pPr algn="l">
              <a:lnSpc>
                <a:spcPct val="120000"/>
              </a:lnSpc>
              <a:spcAft>
                <a:spcPts val="0"/>
              </a:spcAft>
            </a:pPr>
            <a:r>
              <a:rPr sz="1150" b="0" i="0" lang="ko-KR" altLang="en-US">
                <a:solidFill>
                  <a:srgbClr val="1B2740"/>
                </a:solidFill>
                <a:latin typeface="맑은 고딕"/>
                <a:ea typeface="맑은 고딕"/>
                <a:cs typeface="맑은 고딕"/>
              </a:rPr>
              <a:t>스캔마다 새로 뽑고, 표적과는 상관없다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04. 구현과 핵심 코드</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4.1 과제 3 프로그램을 복사해 측정 모의를 더했습니다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10</a:t>
            </a:r>
          </a:p>
        </p:txBody>
      </p:sp>
      <p:pic>
        <p:nvPicPr>
          <p:cNvPr id="7" name="Picture 6" descr="ui_main_v6.png"/>
          <p:cNvPicPr>
            <a:picLocks noChangeAspect="1"/>
          </p:cNvPicPr>
          <p:nvPr/>
        </p:nvPicPr>
        <p:blipFill>
          <a:blip r:embed="rId2"/>
          <a:stretch>
            <a:fillRect/>
          </a:stretch>
        </p:blipFill>
        <p:spPr>
          <a:xfrm>
            <a:off x="640080" y="1965960"/>
            <a:ext cx="6619009" cy="4160520"/>
          </a:xfrm>
          <a:prstGeom prst="rect">
            <a:avLst/>
          </a:prstGeom>
        </p:spPr>
      </p:pic>
      <p:sp>
        <p:nvSpPr>
          <p:cNvPr id="8" name="Rectangle 7"/>
          <p:cNvSpPr/>
          <p:nvPr/>
        </p:nvSpPr>
        <p:spPr>
          <a:xfrm>
            <a:off x="640080" y="1965960"/>
            <a:ext cx="6619009" cy="4160520"/>
          </a:xfrm>
          <a:prstGeom prst="rect">
            <a:avLst/>
          </a:prstGeom>
          <a:no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1555" y="542828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21555" y="5428280"/>
            <a:ext cx="274320" cy="274320"/>
          </a:xfrm>
          <a:prstGeom prst="rect">
            <a:avLst/>
          </a:prstGeom>
          <a:noFill/>
        </p:spPr>
        <p:txBody>
          <a:bodyPr wrap="square" anchor="ctr" lIns="0" tIns="0" rIns="0" bIns="0">
            <a:noAutofit/>
          </a:bodyPr>
          <a:lstStyle/>
          <a:p>
            <a:pPr algn="ctr">
              <a:lnSpc>
                <a:spcPct val="110000"/>
              </a:lnSpc>
              <a:spcAft>
                <a:spcPts val="0"/>
              </a:spcAft>
            </a:pPr>
            <a:r>
              <a:rPr sz="1050" b="1" i="0" lang="ko-KR" altLang="en-US">
                <a:solidFill>
                  <a:srgbClr val="FFFFFF"/>
                </a:solidFill>
                <a:latin typeface="Arial"/>
                <a:ea typeface="맑은 고딕"/>
                <a:cs typeface="Arial"/>
              </a:rPr>
              <a:t>1</a:t>
            </a:r>
          </a:p>
        </p:txBody>
      </p:sp>
      <p:sp>
        <p:nvSpPr>
          <p:cNvPr id="11" name="Oval 10"/>
          <p:cNvSpPr/>
          <p:nvPr/>
        </p:nvSpPr>
        <p:spPr>
          <a:xfrm>
            <a:off x="3188346" y="577499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88346" y="5774990"/>
            <a:ext cx="274320" cy="274320"/>
          </a:xfrm>
          <a:prstGeom prst="rect">
            <a:avLst/>
          </a:prstGeom>
          <a:noFill/>
        </p:spPr>
        <p:txBody>
          <a:bodyPr wrap="square" anchor="ctr" lIns="0" tIns="0" rIns="0" bIns="0">
            <a:noAutofit/>
          </a:bodyPr>
          <a:lstStyle/>
          <a:p>
            <a:pPr algn="ctr">
              <a:lnSpc>
                <a:spcPct val="110000"/>
              </a:lnSpc>
              <a:spcAft>
                <a:spcPts val="0"/>
              </a:spcAft>
            </a:pPr>
            <a:r>
              <a:rPr sz="1050" b="1" i="0" lang="ko-KR" altLang="en-US">
                <a:solidFill>
                  <a:srgbClr val="FFFFFF"/>
                </a:solidFill>
                <a:latin typeface="Arial"/>
                <a:ea typeface="맑은 고딕"/>
                <a:cs typeface="Arial"/>
              </a:rPr>
              <a:t>2</a:t>
            </a:r>
          </a:p>
        </p:txBody>
      </p:sp>
      <p:sp>
        <p:nvSpPr>
          <p:cNvPr id="13" name="Oval 12"/>
          <p:cNvSpPr/>
          <p:nvPr/>
        </p:nvSpPr>
        <p:spPr>
          <a:xfrm>
            <a:off x="5300125" y="2241700"/>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0125" y="2241700"/>
            <a:ext cx="274320" cy="274320"/>
          </a:xfrm>
          <a:prstGeom prst="rect">
            <a:avLst/>
          </a:prstGeom>
          <a:noFill/>
        </p:spPr>
        <p:txBody>
          <a:bodyPr wrap="square" anchor="ctr" lIns="0" tIns="0" rIns="0" bIns="0">
            <a:noAutofit/>
          </a:bodyPr>
          <a:lstStyle/>
          <a:p>
            <a:pPr algn="ctr">
              <a:lnSpc>
                <a:spcPct val="110000"/>
              </a:lnSpc>
              <a:spcAft>
                <a:spcPts val="0"/>
              </a:spcAft>
            </a:pPr>
            <a:r>
              <a:rPr sz="1050" b="1" i="0" lang="ko-KR" altLang="en-US">
                <a:solidFill>
                  <a:srgbClr val="FFFFFF"/>
                </a:solidFill>
                <a:latin typeface="Arial"/>
                <a:ea typeface="맑은 고딕"/>
                <a:cs typeface="Arial"/>
              </a:rPr>
              <a:t>3</a:t>
            </a:r>
          </a:p>
        </p:txBody>
      </p:sp>
      <p:sp>
        <p:nvSpPr>
          <p:cNvPr id="15" name="Oval 14"/>
          <p:cNvSpPr/>
          <p:nvPr/>
        </p:nvSpPr>
        <p:spPr>
          <a:xfrm>
            <a:off x="3137915" y="54251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7915" y="5425128"/>
            <a:ext cx="274320" cy="274320"/>
          </a:xfrm>
          <a:prstGeom prst="rect">
            <a:avLst/>
          </a:prstGeom>
          <a:noFill/>
        </p:spPr>
        <p:txBody>
          <a:bodyPr wrap="square" anchor="ctr" lIns="0" tIns="0" rIns="0" bIns="0">
            <a:noAutofit/>
          </a:bodyPr>
          <a:lstStyle/>
          <a:p>
            <a:pPr algn="ctr">
              <a:lnSpc>
                <a:spcPct val="110000"/>
              </a:lnSpc>
              <a:spcAft>
                <a:spcPts val="0"/>
              </a:spcAft>
            </a:pPr>
            <a:r>
              <a:rPr sz="1050" b="1" i="0" lang="ko-KR" altLang="en-US">
                <a:solidFill>
                  <a:srgbClr val="FFFFFF"/>
                </a:solidFill>
                <a:latin typeface="Arial"/>
                <a:ea typeface="맑은 고딕"/>
                <a:cs typeface="Arial"/>
              </a:rPr>
              <a:t>4</a:t>
            </a:r>
          </a:p>
        </p:txBody>
      </p:sp>
      <p:sp>
        <p:nvSpPr>
          <p:cNvPr id="17" name="Rectangle 16"/>
          <p:cNvSpPr/>
          <p:nvPr/>
        </p:nvSpPr>
        <p:spPr>
          <a:xfrm>
            <a:off x="7533409" y="1965960"/>
            <a:ext cx="4015463" cy="202996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6289" y="2011680"/>
            <a:ext cx="3649703" cy="365760"/>
          </a:xfrm>
          <a:prstGeom prst="rect">
            <a:avLst/>
          </a:prstGeom>
          <a:noFill/>
        </p:spPr>
        <p:txBody>
          <a:bodyPr wrap="square" anchor="ctr" lIns="0" tIns="0" rIns="0" bIns="0">
            <a:noAutofit/>
          </a:bodyPr>
          <a:lstStyle/>
          <a:p>
            <a:pPr algn="l">
              <a:lnSpc>
                <a:spcPct val="115000"/>
              </a:lnSpc>
              <a:spcAft>
                <a:spcPts val="0"/>
              </a:spcAft>
            </a:pPr>
            <a:r>
              <a:rPr sz="1400" b="1" i="0" lang="ko-KR" altLang="en-US">
                <a:solidFill>
                  <a:srgbClr val="1B2740"/>
                </a:solidFill>
                <a:latin typeface="맑은 고딕"/>
                <a:ea typeface="맑은 고딕"/>
                <a:cs typeface="맑은 고딕"/>
              </a:rPr>
              <a:t>TargetSimCore</a:t>
            </a:r>
            <a:r>
              <a:rPr sz="1150" b="0" i="0" lang="ko-KR" altLang="en-US">
                <a:solidFill>
                  <a:srgbClr val="4A5A7A"/>
                </a:solidFill>
                <a:latin typeface="맑은 고딕"/>
                <a:ea typeface="맑은 고딕"/>
                <a:cs typeface="맑은 고딕"/>
              </a:rPr>
              <a:t>   C 라이브러리 (DLL)</a:t>
            </a:r>
          </a:p>
        </p:txBody>
      </p:sp>
      <p:sp>
        <p:nvSpPr>
          <p:cNvPr id="19" name="TextBox 18"/>
          <p:cNvSpPr txBox="1"/>
          <p:nvPr/>
        </p:nvSpPr>
        <p:spPr>
          <a:xfrm>
            <a:off x="7734577" y="2359152"/>
            <a:ext cx="3649703" cy="274320"/>
          </a:xfrm>
          <a:prstGeom prst="rect">
            <a:avLst/>
          </a:prstGeom>
          <a:noFill/>
        </p:spPr>
        <p:txBody>
          <a:bodyPr wrap="square" anchor="ctr" lIns="0" tIns="0" rIns="0" bIns="0">
            <a:noAutofit/>
          </a:bodyPr>
          <a:lstStyle/>
          <a:p>
            <a:pPr algn="l">
              <a:lnSpc>
                <a:spcPct val="115000"/>
              </a:lnSpc>
              <a:spcAft>
                <a:spcPts val="0"/>
              </a:spcAft>
            </a:pPr>
            <a:r>
              <a:rPr sz="1100" b="0" i="0" lang="ko-KR" altLang="en-US">
                <a:solidFill>
                  <a:srgbClr val="4A5A7A"/>
                </a:solidFill>
                <a:latin typeface="맑은 고딕"/>
                <a:ea typeface="맑은 고딕"/>
                <a:cs typeface="맑은 고딕"/>
              </a:rPr>
              <a:t>과제 3 계산 코드 그대로 + 측정 모의 PlotSim.c</a:t>
            </a:r>
          </a:p>
        </p:txBody>
      </p:sp>
      <p:sp>
        <p:nvSpPr>
          <p:cNvPr id="20" name="TextBox 19"/>
          <p:cNvSpPr txBox="1"/>
          <p:nvPr/>
        </p:nvSpPr>
        <p:spPr>
          <a:xfrm>
            <a:off x="7734577" y="2670048"/>
            <a:ext cx="1783080" cy="329184"/>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2563EB"/>
                </a:solidFill>
                <a:latin typeface="Arial"/>
                <a:ea typeface="맑은 고딕"/>
                <a:cs typeface="Arial"/>
              </a:rPr>
              <a:t>f_Pcs_TestRand</a:t>
            </a:r>
          </a:p>
        </p:txBody>
      </p:sp>
      <p:sp>
        <p:nvSpPr>
          <p:cNvPr id="21" name="TextBox 20"/>
          <p:cNvSpPr txBox="1"/>
          <p:nvPr/>
        </p:nvSpPr>
        <p:spPr>
          <a:xfrm>
            <a:off x="9545089" y="2670048"/>
            <a:ext cx="1866623" cy="329184"/>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1B2740"/>
                </a:solidFill>
                <a:latin typeface="맑은 고딕"/>
                <a:ea typeface="맑은 고딕"/>
                <a:cs typeface="맑은 고딕"/>
              </a:rPr>
              <a:t>난수 확인</a:t>
            </a:r>
          </a:p>
        </p:txBody>
      </p:sp>
      <p:sp>
        <p:nvSpPr>
          <p:cNvPr id="22" name="Rounded Rectangle 21"/>
          <p:cNvSpPr/>
          <p:nvPr/>
        </p:nvSpPr>
        <p:spPr>
          <a:xfrm>
            <a:off x="11024006" y="2724912"/>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033150" y="2724912"/>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5.1</a:t>
            </a:r>
          </a:p>
        </p:txBody>
      </p:sp>
      <p:sp>
        <p:nvSpPr>
          <p:cNvPr id="24" name="TextBox 23"/>
          <p:cNvSpPr txBox="1"/>
          <p:nvPr/>
        </p:nvSpPr>
        <p:spPr>
          <a:xfrm>
            <a:off x="7734577" y="3008376"/>
            <a:ext cx="1783080" cy="329184"/>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2563EB"/>
                </a:solidFill>
                <a:latin typeface="Arial"/>
                <a:ea typeface="맑은 고딕"/>
                <a:cs typeface="Arial"/>
              </a:rPr>
              <a:t>f_Pcs_CalcSigma</a:t>
            </a:r>
          </a:p>
        </p:txBody>
      </p:sp>
      <p:sp>
        <p:nvSpPr>
          <p:cNvPr id="25" name="TextBox 24"/>
          <p:cNvSpPr txBox="1"/>
          <p:nvPr/>
        </p:nvSpPr>
        <p:spPr>
          <a:xfrm>
            <a:off x="9545089" y="3008376"/>
            <a:ext cx="1866623" cy="329184"/>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1B2740"/>
                </a:solidFill>
                <a:latin typeface="맑은 고딕"/>
                <a:ea typeface="맑은 고딕"/>
                <a:cs typeface="맑은 고딕"/>
              </a:rPr>
              <a:t>표준편차 p</a:t>
            </a:r>
          </a:p>
        </p:txBody>
      </p:sp>
      <p:sp>
        <p:nvSpPr>
          <p:cNvPr id="26" name="Rounded Rectangle 25"/>
          <p:cNvSpPr/>
          <p:nvPr/>
        </p:nvSpPr>
        <p:spPr>
          <a:xfrm>
            <a:off x="11024006" y="3063240"/>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33150" y="3063240"/>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4.3</a:t>
            </a:r>
          </a:p>
        </p:txBody>
      </p:sp>
      <p:sp>
        <p:nvSpPr>
          <p:cNvPr id="28" name="TextBox 27"/>
          <p:cNvSpPr txBox="1"/>
          <p:nvPr/>
        </p:nvSpPr>
        <p:spPr>
          <a:xfrm>
            <a:off x="7734577" y="3346704"/>
            <a:ext cx="1783080" cy="329184"/>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2563EB"/>
                </a:solidFill>
                <a:latin typeface="Arial"/>
                <a:ea typeface="맑은 고딕"/>
                <a:cs typeface="Arial"/>
              </a:rPr>
              <a:t>f_Pcs_Measure</a:t>
            </a:r>
          </a:p>
        </p:txBody>
      </p:sp>
      <p:sp>
        <p:nvSpPr>
          <p:cNvPr id="29" name="TextBox 28"/>
          <p:cNvSpPr txBox="1"/>
          <p:nvPr/>
        </p:nvSpPr>
        <p:spPr>
          <a:xfrm>
            <a:off x="9545089" y="3346704"/>
            <a:ext cx="1866623" cy="329184"/>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1B2740"/>
                </a:solidFill>
                <a:latin typeface="맑은 고딕"/>
                <a:ea typeface="맑은 고딕"/>
                <a:cs typeface="맑은 고딕"/>
              </a:rPr>
              <a:t>플롯 · 클러터 모의</a:t>
            </a:r>
          </a:p>
        </p:txBody>
      </p:sp>
      <p:sp>
        <p:nvSpPr>
          <p:cNvPr id="30" name="Rounded Rectangle 29"/>
          <p:cNvSpPr/>
          <p:nvPr/>
        </p:nvSpPr>
        <p:spPr>
          <a:xfrm>
            <a:off x="11024006" y="3401568"/>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033150" y="3401568"/>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4.4</a:t>
            </a:r>
          </a:p>
        </p:txBody>
      </p:sp>
      <p:sp>
        <p:nvSpPr>
          <p:cNvPr id="32" name="TextBox 31"/>
          <p:cNvSpPr txBox="1"/>
          <p:nvPr/>
        </p:nvSpPr>
        <p:spPr>
          <a:xfrm>
            <a:off x="7734577" y="3675887"/>
            <a:ext cx="3649703" cy="256032"/>
          </a:xfrm>
          <a:prstGeom prst="rect">
            <a:avLst/>
          </a:prstGeom>
          <a:noFill/>
        </p:spPr>
        <p:txBody>
          <a:bodyPr wrap="square" anchor="ctr" lIns="0" tIns="0" rIns="0" bIns="0">
            <a:noAutofit/>
          </a:bodyPr>
          <a:lstStyle/>
          <a:p>
            <a:pPr algn="l">
              <a:lnSpc>
                <a:spcPct val="115000"/>
              </a:lnSpc>
              <a:spcAft>
                <a:spcPts val="0"/>
              </a:spcAft>
            </a:pPr>
            <a:r>
              <a:rPr sz="1050" b="0" i="0" lang="ko-KR" altLang="en-US">
                <a:solidFill>
                  <a:srgbClr val="4A5A7A"/>
                </a:solidFill>
                <a:latin typeface="맑은 고딕"/>
                <a:ea typeface="맑은 고딕"/>
                <a:cs typeface="맑은 고딕"/>
              </a:rPr>
              <a:t>난수 UNIRAN · GAUSS 는 참고 소스 그대로</a:t>
            </a:r>
          </a:p>
        </p:txBody>
      </p:sp>
      <p:sp>
        <p:nvSpPr>
          <p:cNvPr id="33" name="Rectangle 32"/>
          <p:cNvSpPr/>
          <p:nvPr/>
        </p:nvSpPr>
        <p:spPr>
          <a:xfrm>
            <a:off x="7533409" y="4133087"/>
            <a:ext cx="4015463" cy="1993392"/>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16289" y="4187952"/>
            <a:ext cx="3649703" cy="365760"/>
          </a:xfrm>
          <a:prstGeom prst="rect">
            <a:avLst/>
          </a:prstGeom>
          <a:noFill/>
        </p:spPr>
        <p:txBody>
          <a:bodyPr wrap="square" anchor="ctr" lIns="0" tIns="0" rIns="0" bIns="0">
            <a:noAutofit/>
          </a:bodyPr>
          <a:lstStyle/>
          <a:p>
            <a:pPr algn="l">
              <a:lnSpc>
                <a:spcPct val="115000"/>
              </a:lnSpc>
              <a:spcAft>
                <a:spcPts val="0"/>
              </a:spcAft>
            </a:pPr>
            <a:r>
              <a:rPr sz="1400" b="1" i="0" lang="ko-KR" altLang="en-US">
                <a:solidFill>
                  <a:srgbClr val="FFFFFF"/>
                </a:solidFill>
                <a:latin typeface="맑은 고딕"/>
                <a:ea typeface="맑은 고딕"/>
                <a:cs typeface="맑은 고딕"/>
              </a:rPr>
              <a:t>TargetSimUI</a:t>
            </a:r>
            <a:r>
              <a:rPr sz="1150" b="0" i="0" lang="ko-KR" altLang="en-US">
                <a:solidFill>
                  <a:srgbClr val="C7D0E2"/>
                </a:solidFill>
                <a:latin typeface="맑은 고딕"/>
                <a:ea typeface="맑은 고딕"/>
                <a:cs typeface="맑은 고딕"/>
              </a:rPr>
              <a:t>   과제 3 화면에 추가</a:t>
            </a:r>
          </a:p>
        </p:txBody>
      </p:sp>
      <p:sp>
        <p:nvSpPr>
          <p:cNvPr id="35" name="Oval 34"/>
          <p:cNvSpPr/>
          <p:nvPr/>
        </p:nvSpPr>
        <p:spPr>
          <a:xfrm>
            <a:off x="7734577" y="4672583"/>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34577" y="4672583"/>
            <a:ext cx="256032" cy="256032"/>
          </a:xfrm>
          <a:prstGeom prst="rect">
            <a:avLst/>
          </a:prstGeom>
          <a:noFill/>
        </p:spPr>
        <p:txBody>
          <a:bodyPr wrap="square" anchor="ctr" lIns="0" tIns="0" rIns="0" bIns="0">
            <a:noAutofit/>
          </a:bodyPr>
          <a:lstStyle/>
          <a:p>
            <a:pPr algn="ctr">
              <a:lnSpc>
                <a:spcPct val="110000"/>
              </a:lnSpc>
              <a:spcAft>
                <a:spcPts val="0"/>
              </a:spcAft>
            </a:pPr>
            <a:r>
              <a:rPr sz="1000" b="1" i="0" lang="ko-KR" altLang="en-US">
                <a:solidFill>
                  <a:srgbClr val="FFFFFF"/>
                </a:solidFill>
                <a:latin typeface="Arial"/>
                <a:ea typeface="맑은 고딕"/>
                <a:cs typeface="Arial"/>
              </a:rPr>
              <a:t>1</a:t>
            </a:r>
          </a:p>
        </p:txBody>
      </p:sp>
      <p:sp>
        <p:nvSpPr>
          <p:cNvPr id="37" name="TextBox 36"/>
          <p:cNvSpPr txBox="1"/>
          <p:nvPr/>
        </p:nvSpPr>
        <p:spPr>
          <a:xfrm>
            <a:off x="8100337" y="4626864"/>
            <a:ext cx="3283943" cy="347472"/>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FFFFFF"/>
                </a:solidFill>
                <a:latin typeface="맑은 고딕"/>
                <a:ea typeface="맑은 고딕"/>
                <a:cs typeface="맑은 고딕"/>
              </a:rPr>
              <a:t>입력: SNR, 스캔당 클러터 수</a:t>
            </a:r>
          </a:p>
        </p:txBody>
      </p:sp>
      <p:sp>
        <p:nvSpPr>
          <p:cNvPr id="38" name="Oval 37"/>
          <p:cNvSpPr/>
          <p:nvPr/>
        </p:nvSpPr>
        <p:spPr>
          <a:xfrm>
            <a:off x="7734577" y="5038344"/>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34577" y="5038344"/>
            <a:ext cx="256032" cy="256032"/>
          </a:xfrm>
          <a:prstGeom prst="rect">
            <a:avLst/>
          </a:prstGeom>
          <a:noFill/>
        </p:spPr>
        <p:txBody>
          <a:bodyPr wrap="square" anchor="ctr" lIns="0" tIns="0" rIns="0" bIns="0">
            <a:noAutofit/>
          </a:bodyPr>
          <a:lstStyle/>
          <a:p>
            <a:pPr algn="ctr">
              <a:lnSpc>
                <a:spcPct val="110000"/>
              </a:lnSpc>
              <a:spcAft>
                <a:spcPts val="0"/>
              </a:spcAft>
            </a:pPr>
            <a:r>
              <a:rPr sz="1000" b="1" i="0" lang="ko-KR" altLang="en-US">
                <a:solidFill>
                  <a:srgbClr val="FFFFFF"/>
                </a:solidFill>
                <a:latin typeface="Arial"/>
                <a:ea typeface="맑은 고딕"/>
                <a:cs typeface="Arial"/>
              </a:rPr>
              <a:t>2</a:t>
            </a:r>
          </a:p>
        </p:txBody>
      </p:sp>
      <p:sp>
        <p:nvSpPr>
          <p:cNvPr id="40" name="TextBox 39"/>
          <p:cNvSpPr txBox="1"/>
          <p:nvPr/>
        </p:nvSpPr>
        <p:spPr>
          <a:xfrm>
            <a:off x="8100337" y="4992624"/>
            <a:ext cx="3283943" cy="347472"/>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FFFFFF"/>
                </a:solidFill>
                <a:latin typeface="맑은 고딕"/>
                <a:ea typeface="맑은 고딕"/>
                <a:cs typeface="맑은 고딕"/>
              </a:rPr>
              <a:t>요약: 이론 p 와 실제 오차</a:t>
            </a:r>
          </a:p>
        </p:txBody>
      </p:sp>
      <p:sp>
        <p:nvSpPr>
          <p:cNvPr id="41" name="Oval 40"/>
          <p:cNvSpPr/>
          <p:nvPr/>
        </p:nvSpPr>
        <p:spPr>
          <a:xfrm>
            <a:off x="7734577" y="5404103"/>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4577" y="5404103"/>
            <a:ext cx="256032" cy="256032"/>
          </a:xfrm>
          <a:prstGeom prst="rect">
            <a:avLst/>
          </a:prstGeom>
          <a:noFill/>
        </p:spPr>
        <p:txBody>
          <a:bodyPr wrap="square" anchor="ctr" lIns="0" tIns="0" rIns="0" bIns="0">
            <a:noAutofit/>
          </a:bodyPr>
          <a:lstStyle/>
          <a:p>
            <a:pPr algn="ctr">
              <a:lnSpc>
                <a:spcPct val="110000"/>
              </a:lnSpc>
              <a:spcAft>
                <a:spcPts val="0"/>
              </a:spcAft>
            </a:pPr>
            <a:r>
              <a:rPr sz="1000" b="1" i="0" lang="ko-KR" altLang="en-US">
                <a:solidFill>
                  <a:srgbClr val="FFFFFF"/>
                </a:solidFill>
                <a:latin typeface="Arial"/>
                <a:ea typeface="맑은 고딕"/>
                <a:cs typeface="Arial"/>
              </a:rPr>
              <a:t>3</a:t>
            </a:r>
          </a:p>
        </p:txBody>
      </p:sp>
      <p:sp>
        <p:nvSpPr>
          <p:cNvPr id="43" name="TextBox 42"/>
          <p:cNvSpPr txBox="1"/>
          <p:nvPr/>
        </p:nvSpPr>
        <p:spPr>
          <a:xfrm>
            <a:off x="8100337" y="5358383"/>
            <a:ext cx="3283943" cy="347472"/>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FFFFFF"/>
                </a:solidFill>
                <a:latin typeface="맑은 고딕"/>
                <a:ea typeface="맑은 고딕"/>
                <a:cs typeface="맑은 고딕"/>
              </a:rPr>
              <a:t>지도: 궤적 위에 플롯 · 클러터</a:t>
            </a:r>
          </a:p>
        </p:txBody>
      </p:sp>
      <p:sp>
        <p:nvSpPr>
          <p:cNvPr id="44" name="Oval 43"/>
          <p:cNvSpPr/>
          <p:nvPr/>
        </p:nvSpPr>
        <p:spPr>
          <a:xfrm>
            <a:off x="7734577" y="5769864"/>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34577" y="5769864"/>
            <a:ext cx="256032" cy="256032"/>
          </a:xfrm>
          <a:prstGeom prst="rect">
            <a:avLst/>
          </a:prstGeom>
          <a:noFill/>
        </p:spPr>
        <p:txBody>
          <a:bodyPr wrap="square" anchor="ctr" lIns="0" tIns="0" rIns="0" bIns="0">
            <a:noAutofit/>
          </a:bodyPr>
          <a:lstStyle/>
          <a:p>
            <a:pPr algn="ctr">
              <a:lnSpc>
                <a:spcPct val="110000"/>
              </a:lnSpc>
              <a:spcAft>
                <a:spcPts val="0"/>
              </a:spcAft>
            </a:pPr>
            <a:r>
              <a:rPr sz="1000" b="1" i="0" lang="ko-KR" altLang="en-US">
                <a:solidFill>
                  <a:srgbClr val="FFFFFF"/>
                </a:solidFill>
                <a:latin typeface="Arial"/>
                <a:ea typeface="맑은 고딕"/>
                <a:cs typeface="Arial"/>
              </a:rPr>
              <a:t>4</a:t>
            </a:r>
          </a:p>
        </p:txBody>
      </p:sp>
      <p:sp>
        <p:nvSpPr>
          <p:cNvPr id="46" name="TextBox 45"/>
          <p:cNvSpPr txBox="1"/>
          <p:nvPr/>
        </p:nvSpPr>
        <p:spPr>
          <a:xfrm>
            <a:off x="8100337" y="5724144"/>
            <a:ext cx="3283943" cy="347472"/>
          </a:xfrm>
          <a:prstGeom prst="rect">
            <a:avLst/>
          </a:prstGeom>
          <a:noFill/>
        </p:spPr>
        <p:txBody>
          <a:bodyPr wrap="square" anchor="ctr" lIns="0" tIns="0" rIns="0" bIns="0">
            <a:noAutofit/>
          </a:bodyPr>
          <a:lstStyle/>
          <a:p>
            <a:pPr algn="l">
              <a:lnSpc>
                <a:spcPct val="115000"/>
              </a:lnSpc>
              <a:spcAft>
                <a:spcPts val="0"/>
              </a:spcAft>
            </a:pPr>
            <a:r>
              <a:rPr sz="1200" b="0" i="0" lang="ko-KR" altLang="en-US">
                <a:solidFill>
                  <a:srgbClr val="FFFFFF"/>
                </a:solidFill>
                <a:latin typeface="맑은 고딕"/>
                <a:ea typeface="맑은 고딕"/>
                <a:cs typeface="맑은 고딕"/>
              </a:rPr>
              <a:t>난수 확인 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04. 구현과 핵심 코드</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4.2 실행하면 궤적 → 측정 모의 → 정리 → 화면 순서로 계산합니다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11</a:t>
            </a:r>
          </a:p>
        </p:txBody>
      </p:sp>
      <p:sp>
        <p:nvSpPr>
          <p:cNvPr id="7" name="Rectangle 6"/>
          <p:cNvSpPr/>
          <p:nvPr/>
        </p:nvSpPr>
        <p:spPr>
          <a:xfrm>
            <a:off x="640080" y="1984248"/>
            <a:ext cx="2103120" cy="347472"/>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84248"/>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FFFFFF"/>
                </a:solidFill>
                <a:latin typeface="Arial"/>
                <a:ea typeface="맑은 고딕"/>
                <a:cs typeface="Arial"/>
              </a:rPr>
              <a:t>f_RunScenario</a:t>
            </a:r>
          </a:p>
        </p:txBody>
      </p:sp>
      <p:sp>
        <p:nvSpPr>
          <p:cNvPr id="9" name="TextBox 8"/>
          <p:cNvSpPr txBox="1"/>
          <p:nvPr/>
        </p:nvSpPr>
        <p:spPr>
          <a:xfrm>
            <a:off x="3675887" y="1965960"/>
            <a:ext cx="7781544" cy="384048"/>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시나리오 실행.  프리셋 · 표적 · 기동을 바꿀 때마다 처음부터</a:t>
            </a:r>
          </a:p>
        </p:txBody>
      </p:sp>
      <p:cxnSp>
        <p:nvCxnSpPr>
          <p:cNvPr id="10" name="Connector 9"/>
          <p:cNvCxnSpPr/>
          <p:nvPr/>
        </p:nvCxnSpPr>
        <p:spPr>
          <a:xfrm>
            <a:off x="3675887" y="2386584"/>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87552" y="2441448"/>
            <a:ext cx="2103120" cy="3474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2441448"/>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1B2740"/>
                </a:solidFill>
                <a:latin typeface="Arial"/>
                <a:ea typeface="맑은 고딕"/>
                <a:cs typeface="Arial"/>
              </a:rPr>
              <a:t>CSimResult::f_Run</a:t>
            </a:r>
          </a:p>
        </p:txBody>
      </p:sp>
      <p:cxnSp>
        <p:nvCxnSpPr>
          <p:cNvPr id="13" name="Connector 12"/>
          <p:cNvCxnSpPr/>
          <p:nvPr/>
        </p:nvCxnSpPr>
        <p:spPr>
          <a:xfrm>
            <a:off x="804671" y="2331720"/>
            <a:ext cx="0" cy="283464"/>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4671" y="2615184"/>
            <a:ext cx="182881" cy="0"/>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75887" y="2478024"/>
            <a:ext cx="1188720" cy="274320"/>
          </a:xfrm>
          <a:prstGeom prst="roundRect">
            <a:avLst>
              <a:gd name="adj" fmla="val 18000"/>
            </a:avLst>
          </a:prstGeom>
          <a:solidFill>
            <a:srgbClr val="6470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4175" y="2478024"/>
            <a:ext cx="11521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① 궤적</a:t>
            </a:r>
          </a:p>
        </p:txBody>
      </p:sp>
      <p:sp>
        <p:nvSpPr>
          <p:cNvPr id="17" name="TextBox 16"/>
          <p:cNvSpPr txBox="1"/>
          <p:nvPr/>
        </p:nvSpPr>
        <p:spPr>
          <a:xfrm>
            <a:off x="5029199" y="2423160"/>
            <a:ext cx="6428232" cy="384048"/>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2563EB"/>
                </a:solidFill>
                <a:latin typeface="Arial"/>
                <a:ea typeface="맑은 고딕"/>
                <a:cs typeface="Arial"/>
              </a:rPr>
              <a:t>f_Tgt_InitSim</a:t>
            </a:r>
            <a:r>
              <a:rPr sz="1150" b="0" i="0" lang="ko-KR" altLang="en-US">
                <a:solidFill>
                  <a:srgbClr val="1B2740"/>
                </a:solidFill>
                <a:latin typeface="맑은 고딕"/>
                <a:ea typeface="맑은 고딕"/>
                <a:cs typeface="맑은 고딕"/>
              </a:rPr>
              <a:t>,  </a:t>
            </a:r>
            <a:r>
              <a:rPr sz="1150" b="1" i="0" lang="ko-KR" altLang="en-US">
                <a:solidFill>
                  <a:srgbClr val="2563EB"/>
                </a:solidFill>
                <a:latin typeface="Arial"/>
                <a:ea typeface="맑은 고딕"/>
                <a:cs typeface="Arial"/>
              </a:rPr>
              <a:t>f_Tgt_StepSim</a:t>
            </a:r>
            <a:r>
              <a:rPr sz="1150" b="0" i="0" lang="ko-KR" altLang="en-US">
                <a:solidFill>
                  <a:srgbClr val="1B2740"/>
                </a:solidFill>
                <a:latin typeface="맑은 고딕"/>
                <a:ea typeface="맑은 고딕"/>
                <a:cs typeface="맑은 고딕"/>
              </a:rPr>
              <a:t> × 600  →  표본 601개 (0 ~ 60 s).  과제 3 그대로</a:t>
            </a:r>
          </a:p>
        </p:txBody>
      </p:sp>
      <p:cxnSp>
        <p:nvCxnSpPr>
          <p:cNvPr id="18" name="Connector 17"/>
          <p:cNvCxnSpPr/>
          <p:nvPr/>
        </p:nvCxnSpPr>
        <p:spPr>
          <a:xfrm>
            <a:off x="3675887" y="2843784"/>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87552" y="2898648"/>
            <a:ext cx="2103120" cy="3474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 y="2898648"/>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1B2740"/>
                </a:solidFill>
                <a:latin typeface="Arial"/>
                <a:ea typeface="맑은 고딕"/>
                <a:cs typeface="Arial"/>
              </a:rPr>
              <a:t>f_RunMeasure</a:t>
            </a:r>
          </a:p>
        </p:txBody>
      </p:sp>
      <p:cxnSp>
        <p:nvCxnSpPr>
          <p:cNvPr id="21" name="Connector 20"/>
          <p:cNvCxnSpPr/>
          <p:nvPr/>
        </p:nvCxnSpPr>
        <p:spPr>
          <a:xfrm>
            <a:off x="804671" y="2331720"/>
            <a:ext cx="0" cy="740664"/>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04671" y="3072384"/>
            <a:ext cx="182881" cy="0"/>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75887" y="2880360"/>
            <a:ext cx="7781544" cy="384048"/>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SNR · 클러터 수를 바꾸면 여기부터 다시 (궤적은 그대로)</a:t>
            </a:r>
          </a:p>
        </p:txBody>
      </p:sp>
      <p:cxnSp>
        <p:nvCxnSpPr>
          <p:cNvPr id="24" name="Connector 23"/>
          <p:cNvCxnSpPr/>
          <p:nvPr/>
        </p:nvCxnSpPr>
        <p:spPr>
          <a:xfrm>
            <a:off x="3675887" y="3300984"/>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335024" y="3529584"/>
            <a:ext cx="2103120" cy="3474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63040" y="3529584"/>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1B2740"/>
                </a:solidFill>
                <a:latin typeface="Arial"/>
                <a:ea typeface="맑은 고딕"/>
                <a:cs typeface="Arial"/>
              </a:rPr>
              <a:t>CPlotResult::f_Run</a:t>
            </a:r>
          </a:p>
        </p:txBody>
      </p:sp>
      <p:cxnSp>
        <p:nvCxnSpPr>
          <p:cNvPr id="27" name="Connector 26"/>
          <p:cNvCxnSpPr/>
          <p:nvPr/>
        </p:nvCxnSpPr>
        <p:spPr>
          <a:xfrm>
            <a:off x="1152144" y="3246120"/>
            <a:ext cx="0" cy="457200"/>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2144" y="3703320"/>
            <a:ext cx="182880" cy="0"/>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675887" y="3383279"/>
            <a:ext cx="1188720" cy="27432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94175" y="3383279"/>
            <a:ext cx="11521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② 측정 모의</a:t>
            </a:r>
          </a:p>
        </p:txBody>
      </p:sp>
      <p:sp>
        <p:nvSpPr>
          <p:cNvPr id="31" name="Rounded Rectangle 30"/>
          <p:cNvSpPr/>
          <p:nvPr/>
        </p:nvSpPr>
        <p:spPr>
          <a:xfrm>
            <a:off x="10724083" y="3410712"/>
            <a:ext cx="824788"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33227" y="3410712"/>
            <a:ext cx="806500"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4.3 ~ 4.5</a:t>
            </a:r>
          </a:p>
        </p:txBody>
      </p:sp>
      <p:sp>
        <p:nvSpPr>
          <p:cNvPr id="33" name="TextBox 32"/>
          <p:cNvSpPr txBox="1"/>
          <p:nvPr/>
        </p:nvSpPr>
        <p:spPr>
          <a:xfrm>
            <a:off x="5029199" y="3337560"/>
            <a:ext cx="5603443" cy="365760"/>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2563EB"/>
                </a:solidFill>
                <a:latin typeface="Arial"/>
                <a:ea typeface="맑은 고딕"/>
                <a:cs typeface="Arial"/>
              </a:rPr>
              <a:t>f_Pcs_Measure</a:t>
            </a:r>
            <a:r>
              <a:rPr sz="1150" b="0" i="0" lang="ko-KR" altLang="en-US">
                <a:solidFill>
                  <a:srgbClr val="1B2740"/>
                </a:solidFill>
                <a:latin typeface="맑은 고딕"/>
                <a:ea typeface="맑은 고딕"/>
                <a:cs typeface="맑은 고딕"/>
              </a:rPr>
              <a:t>  →  스캔 600개의 참값 · 플롯 · 클러터</a:t>
            </a:r>
          </a:p>
        </p:txBody>
      </p:sp>
      <p:sp>
        <p:nvSpPr>
          <p:cNvPr id="34" name="Rounded Rectangle 33"/>
          <p:cNvSpPr/>
          <p:nvPr/>
        </p:nvSpPr>
        <p:spPr>
          <a:xfrm>
            <a:off x="3675887" y="3749039"/>
            <a:ext cx="1188720" cy="274320"/>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94175" y="3749039"/>
            <a:ext cx="11521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③ 정리</a:t>
            </a:r>
          </a:p>
        </p:txBody>
      </p:sp>
      <p:sp>
        <p:nvSpPr>
          <p:cNvPr id="36" name="Rounded Rectangle 35"/>
          <p:cNvSpPr/>
          <p:nvPr/>
        </p:nvSpPr>
        <p:spPr>
          <a:xfrm>
            <a:off x="11152022" y="3776472"/>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161166" y="3776472"/>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4.6</a:t>
            </a:r>
          </a:p>
        </p:txBody>
      </p:sp>
      <p:sp>
        <p:nvSpPr>
          <p:cNvPr id="38" name="TextBox 37"/>
          <p:cNvSpPr txBox="1"/>
          <p:nvPr/>
        </p:nvSpPr>
        <p:spPr>
          <a:xfrm>
            <a:off x="5029199" y="3703320"/>
            <a:ext cx="6031382" cy="365760"/>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오차 표준편차,  플롯 · 클러터의 지도 좌표</a:t>
            </a:r>
          </a:p>
        </p:txBody>
      </p:sp>
      <p:cxnSp>
        <p:nvCxnSpPr>
          <p:cNvPr id="39" name="Connector 38"/>
          <p:cNvCxnSpPr/>
          <p:nvPr/>
        </p:nvCxnSpPr>
        <p:spPr>
          <a:xfrm>
            <a:off x="3675887" y="4105656"/>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335024" y="4160520"/>
            <a:ext cx="2103120" cy="3474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63040" y="4160520"/>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1B2740"/>
                </a:solidFill>
                <a:latin typeface="Arial"/>
                <a:ea typeface="맑은 고딕"/>
                <a:cs typeface="Arial"/>
              </a:rPr>
              <a:t>SetDlgItemText</a:t>
            </a:r>
          </a:p>
        </p:txBody>
      </p:sp>
      <p:cxnSp>
        <p:nvCxnSpPr>
          <p:cNvPr id="42" name="Connector 41"/>
          <p:cNvCxnSpPr/>
          <p:nvPr/>
        </p:nvCxnSpPr>
        <p:spPr>
          <a:xfrm>
            <a:off x="1152144" y="3246120"/>
            <a:ext cx="0" cy="1088136"/>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52144" y="4334256"/>
            <a:ext cx="182880" cy="0"/>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675887" y="4197096"/>
            <a:ext cx="1188720" cy="274320"/>
          </a:xfrm>
          <a:prstGeom prst="roundRect">
            <a:avLst>
              <a:gd name="adj"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94175" y="4197096"/>
            <a:ext cx="11521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④ 화면</a:t>
            </a:r>
          </a:p>
        </p:txBody>
      </p:sp>
      <p:sp>
        <p:nvSpPr>
          <p:cNvPr id="46" name="Rounded Rectangle 45"/>
          <p:cNvSpPr/>
          <p:nvPr/>
        </p:nvSpPr>
        <p:spPr>
          <a:xfrm>
            <a:off x="11152022" y="4224528"/>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161166" y="4224528"/>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4.6</a:t>
            </a:r>
          </a:p>
        </p:txBody>
      </p:sp>
      <p:sp>
        <p:nvSpPr>
          <p:cNvPr id="48" name="TextBox 47"/>
          <p:cNvSpPr txBox="1"/>
          <p:nvPr/>
        </p:nvSpPr>
        <p:spPr>
          <a:xfrm>
            <a:off x="5029199" y="4142232"/>
            <a:ext cx="6031382" cy="384048"/>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요약 2줄: 이론 p 와 오차 표준편차</a:t>
            </a:r>
          </a:p>
        </p:txBody>
      </p:sp>
      <p:cxnSp>
        <p:nvCxnSpPr>
          <p:cNvPr id="49" name="Connector 48"/>
          <p:cNvCxnSpPr/>
          <p:nvPr/>
        </p:nvCxnSpPr>
        <p:spPr>
          <a:xfrm>
            <a:off x="3675887" y="4562856"/>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335024" y="4617720"/>
            <a:ext cx="2103120" cy="3474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63040" y="4617720"/>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1B2740"/>
                </a:solidFill>
                <a:latin typeface="Arial"/>
                <a:ea typeface="맑은 고딕"/>
                <a:cs typeface="Arial"/>
              </a:rPr>
              <a:t>f_SetMeasure</a:t>
            </a:r>
          </a:p>
        </p:txBody>
      </p:sp>
      <p:cxnSp>
        <p:nvCxnSpPr>
          <p:cNvPr id="52" name="Connector 51"/>
          <p:cNvCxnSpPr/>
          <p:nvPr/>
        </p:nvCxnSpPr>
        <p:spPr>
          <a:xfrm>
            <a:off x="1152144" y="3246120"/>
            <a:ext cx="0" cy="1545336"/>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52144" y="4791456"/>
            <a:ext cx="182880" cy="0"/>
          </a:xfrm>
          <a:prstGeom prst="line">
            <a:avLst/>
          </a:prstGeom>
          <a:ln w="12700">
            <a:solidFill>
              <a:srgbClr val="8794AC"/>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3675887" y="4654296"/>
            <a:ext cx="1188720" cy="274320"/>
          </a:xfrm>
          <a:prstGeom prst="roundRect">
            <a:avLst>
              <a:gd name="adj" fmla="val 1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94175" y="4654296"/>
            <a:ext cx="11521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④ 화면</a:t>
            </a:r>
          </a:p>
        </p:txBody>
      </p:sp>
      <p:sp>
        <p:nvSpPr>
          <p:cNvPr id="56" name="Rounded Rectangle 55"/>
          <p:cNvSpPr/>
          <p:nvPr/>
        </p:nvSpPr>
        <p:spPr>
          <a:xfrm>
            <a:off x="11152022" y="4681728"/>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161166" y="4681728"/>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4.6</a:t>
            </a:r>
          </a:p>
        </p:txBody>
      </p:sp>
      <p:sp>
        <p:nvSpPr>
          <p:cNvPr id="58" name="TextBox 57"/>
          <p:cNvSpPr txBox="1"/>
          <p:nvPr/>
        </p:nvSpPr>
        <p:spPr>
          <a:xfrm>
            <a:off x="5029199" y="4599432"/>
            <a:ext cx="6031382" cy="384048"/>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지도 다시 그리기 (OnPaint → f_DrawMap).  보이기 체크는 여기만</a:t>
            </a:r>
          </a:p>
        </p:txBody>
      </p:sp>
      <p:cxnSp>
        <p:nvCxnSpPr>
          <p:cNvPr id="59" name="Connector 58"/>
          <p:cNvCxnSpPr/>
          <p:nvPr/>
        </p:nvCxnSpPr>
        <p:spPr>
          <a:xfrm>
            <a:off x="3675887" y="5020056"/>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40080" y="5111496"/>
            <a:ext cx="109087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640080" y="5257800"/>
            <a:ext cx="2103120" cy="347472"/>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8096" y="5257800"/>
            <a:ext cx="1847087" cy="347472"/>
          </a:xfrm>
          <a:prstGeom prst="rect">
            <a:avLst/>
          </a:prstGeom>
          <a:noFill/>
        </p:spPr>
        <p:txBody>
          <a:bodyPr wrap="square" anchor="ctr" lIns="0" tIns="0" rIns="0" bIns="0">
            <a:noAutofit/>
          </a:bodyPr>
          <a:lstStyle/>
          <a:p>
            <a:pPr algn="l">
              <a:lnSpc>
                <a:spcPct val="110000"/>
              </a:lnSpc>
              <a:spcAft>
                <a:spcPts val="0"/>
              </a:spcAft>
            </a:pPr>
            <a:r>
              <a:rPr sz="1150" b="1" i="0" lang="ko-KR" altLang="en-US">
                <a:solidFill>
                  <a:srgbClr val="FFFFFF"/>
                </a:solidFill>
                <a:latin typeface="Arial"/>
                <a:ea typeface="맑은 고딕"/>
                <a:cs typeface="Arial"/>
              </a:rPr>
              <a:t>CRandDlg</a:t>
            </a:r>
          </a:p>
        </p:txBody>
      </p:sp>
      <p:sp>
        <p:nvSpPr>
          <p:cNvPr id="63" name="Rounded Rectangle 62"/>
          <p:cNvSpPr/>
          <p:nvPr/>
        </p:nvSpPr>
        <p:spPr>
          <a:xfrm>
            <a:off x="11152022" y="5321808"/>
            <a:ext cx="396849" cy="219456"/>
          </a:xfrm>
          <a:prstGeom prst="roundRect">
            <a:avLst>
              <a:gd name="adj" fmla="val 1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161166" y="5321808"/>
            <a:ext cx="378561" cy="219456"/>
          </a:xfrm>
          <a:prstGeom prst="rect">
            <a:avLst/>
          </a:prstGeom>
          <a:noFill/>
        </p:spPr>
        <p:txBody>
          <a:bodyPr wrap="square" anchor="ctr" lIns="0" tIns="0" rIns="0" bIns="0">
            <a:noAutofit/>
          </a:bodyPr>
          <a:lstStyle/>
          <a:p>
            <a:pPr algn="ctr">
              <a:lnSpc>
                <a:spcPct val="110000"/>
              </a:lnSpc>
              <a:spcAft>
                <a:spcPts val="0"/>
              </a:spcAft>
            </a:pPr>
            <a:r>
              <a:rPr sz="950" b="0" i="0" lang="ko-KR" altLang="en-US">
                <a:solidFill>
                  <a:srgbClr val="647089"/>
                </a:solidFill>
                <a:latin typeface="Arial"/>
                <a:ea typeface="맑은 고딕"/>
                <a:cs typeface="Arial"/>
              </a:rPr>
              <a:t>5.1</a:t>
            </a:r>
          </a:p>
        </p:txBody>
      </p:sp>
      <p:sp>
        <p:nvSpPr>
          <p:cNvPr id="65" name="TextBox 64"/>
          <p:cNvSpPr txBox="1"/>
          <p:nvPr/>
        </p:nvSpPr>
        <p:spPr>
          <a:xfrm>
            <a:off x="3675887" y="5239512"/>
            <a:ext cx="7384694" cy="384048"/>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난수 확인 버튼.  </a:t>
            </a:r>
            <a:r>
              <a:rPr sz="1150" b="1" i="0" lang="ko-KR" altLang="en-US">
                <a:solidFill>
                  <a:srgbClr val="2563EB"/>
                </a:solidFill>
                <a:latin typeface="Arial"/>
                <a:ea typeface="맑은 고딕"/>
                <a:cs typeface="Arial"/>
              </a:rPr>
              <a:t>f_Pcs_TestRand</a:t>
            </a:r>
            <a:r>
              <a:rPr sz="1150" b="0" i="0" lang="ko-KR" altLang="en-US">
                <a:solidFill>
                  <a:srgbClr val="4A5A7A"/>
                </a:solidFill>
                <a:latin typeface="맑은 고딕"/>
                <a:ea typeface="맑은 고딕"/>
                <a:cs typeface="맑은 고딕"/>
              </a:rPr>
              <a:t> 로 UNIRAN · GAUSS 를 10,000개씩</a:t>
            </a:r>
          </a:p>
        </p:txBody>
      </p:sp>
      <p:cxnSp>
        <p:nvCxnSpPr>
          <p:cNvPr id="66" name="Connector 65"/>
          <p:cNvCxnSpPr/>
          <p:nvPr/>
        </p:nvCxnSpPr>
        <p:spPr>
          <a:xfrm>
            <a:off x="3675887" y="5660136"/>
            <a:ext cx="7872985" cy="0"/>
          </a:xfrm>
          <a:prstGeom prst="line">
            <a:avLst/>
          </a:prstGeom>
          <a:ln w="6350">
            <a:solidFill>
              <a:srgbClr val="D2D9E5"/>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40080" y="5897880"/>
            <a:ext cx="10908792" cy="256032"/>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1B2740"/>
                </a:solidFill>
                <a:latin typeface="맑은 고딕"/>
                <a:ea typeface="맑은 고딕"/>
                <a:cs typeface="맑은 고딕"/>
              </a:rPr>
              <a:t>상자</a:t>
            </a:r>
            <a:r>
              <a:rPr sz="1050" b="0" i="0" lang="ko-KR" altLang="en-US">
                <a:solidFill>
                  <a:srgbClr val="4A5A7A"/>
                </a:solidFill>
                <a:latin typeface="맑은 고딕"/>
                <a:ea typeface="맑은 고딕"/>
                <a:cs typeface="맑은 고딕"/>
              </a:rPr>
              <a:t> = 화면 쪽 (TargetSimUI) 함수, 들여쓰기는 부르는 함수.   </a:t>
            </a:r>
            <a:r>
              <a:rPr sz="1050" b="1" i="0" lang="ko-KR" altLang="en-US">
                <a:solidFill>
                  <a:srgbClr val="2563EB"/>
                </a:solidFill>
                <a:latin typeface="맑은 고딕"/>
                <a:ea typeface="맑은 고딕"/>
                <a:cs typeface="맑은 고딕"/>
              </a:rPr>
              <a:t>파란 글자</a:t>
            </a:r>
            <a:r>
              <a:rPr sz="1050" b="0" i="0" lang="ko-KR" altLang="en-US">
                <a:solidFill>
                  <a:srgbClr val="4A5A7A"/>
                </a:solidFill>
                <a:latin typeface="맑은 고딕"/>
                <a:ea typeface="맑은 고딕"/>
                <a:cs typeface="맑은 고딕"/>
              </a:rPr>
              <a:t> = C 라이브러리 (TargetSimCore) 함수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04. 구현과 핵심 코드</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4.3 p 는 2.2 의 식 그대로, 잡음은 참고 소스 GAUSS 로 뽑습니다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12</a:t>
            </a:r>
          </a:p>
        </p:txBody>
      </p:sp>
      <p:sp>
        <p:nvSpPr>
          <p:cNvPr id="7" name="TextBox 6"/>
          <p:cNvSpPr txBox="1"/>
          <p:nvPr/>
        </p:nvSpPr>
        <p:spPr>
          <a:xfrm>
            <a:off x="640080" y="1938528"/>
            <a:ext cx="3566160" cy="274320"/>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1B2740"/>
                </a:solidFill>
                <a:latin typeface="Arial"/>
                <a:ea typeface="맑은 고딕"/>
                <a:cs typeface="Arial"/>
              </a:rPr>
              <a:t>NoiseGeneration.c</a:t>
            </a:r>
            <a:r>
              <a:rPr sz="1050" b="0" i="0" lang="ko-KR" altLang="en-US">
                <a:solidFill>
                  <a:srgbClr val="647089"/>
                </a:solidFill>
                <a:latin typeface="맑은 고딕"/>
                <a:ea typeface="맑은 고딕"/>
                <a:cs typeface="맑은 고딕"/>
              </a:rPr>
              <a:t>   참고 소스 그대로</a:t>
            </a:r>
          </a:p>
        </p:txBody>
      </p:sp>
      <p:sp>
        <p:nvSpPr>
          <p:cNvPr id="8" name="Rectangle 7"/>
          <p:cNvSpPr/>
          <p:nvPr/>
        </p:nvSpPr>
        <p:spPr>
          <a:xfrm>
            <a:off x="640080" y="2240280"/>
            <a:ext cx="3108960" cy="3977639"/>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87600"/>
            <a:ext cx="2926079" cy="3701287"/>
          </a:xfrm>
          <a:prstGeom prst="rect">
            <a:avLst/>
          </a:prstGeom>
          <a:noFill/>
        </p:spPr>
        <p:txBody>
          <a:bodyPr wrap="none" anchor="t" lIns="0" tIns="0" rIns="0" bIns="0">
            <a:noAutofit/>
          </a:bodyPr>
          <a:lstStyle/>
          <a:p>
            <a:pPr algn="l">
              <a:lnSpc>
                <a:spcPts val="1160"/>
              </a:lnSpc>
              <a:spcAft>
                <a:spcPts val="0"/>
              </a:spcAft>
            </a:pP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int</a:t>
            </a:r>
            <a:r>
              <a:rPr sz="1000" b="0" i="0" lang="ko-KR" altLang="en-US">
                <a:solidFill>
                  <a:srgbClr val="E3E8F2"/>
                </a:solidFill>
                <a:latin typeface="Consolas"/>
                <a:ea typeface="맑은 고딕"/>
                <a:cs typeface="Consolas"/>
              </a:rPr>
              <a:t>  SEED = 12345;</a:t>
            </a:r>
          </a:p>
          <a:p>
            <a:pPr algn="l">
              <a:lnSpc>
                <a:spcPts val="1160"/>
              </a:lnSpc>
              <a:spcAft>
                <a:spcPts val="0"/>
              </a:spcAft>
            </a:pPr>
            <a:r>
              <a:rPr sz="1000" b="0" i="0" lang="ko-KR" altLang="en-US">
                <a:solidFill>
                  <a:srgbClr val="8E9BB5"/>
                </a:solidFill>
                <a:latin typeface="Consolas"/>
                <a:ea typeface="맑은 고딕"/>
                <a:cs typeface="Consolas"/>
              </a:rPr>
              <a:t>...</a:t>
            </a:r>
          </a:p>
          <a:p>
            <a:pPr algn="l">
              <a:lnSpc>
                <a:spcPts val="1160"/>
              </a:lnSpc>
              <a:spcAft>
                <a:spcPts val="0"/>
              </a:spcAft>
            </a:pP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 </a:t>
            </a:r>
            <a:r>
              <a:rPr sz="1000" b="0" i="0" lang="ko-KR" altLang="en-US">
                <a:solidFill>
                  <a:srgbClr val="F2C46D"/>
                </a:solidFill>
                <a:latin typeface="Consolas"/>
                <a:ea typeface="맑은 고딕"/>
                <a:cs typeface="Consolas"/>
              </a:rPr>
              <a:t>UNIRAN</a:t>
            </a:r>
            <a:r>
              <a:rPr sz="1000" b="0" i="0" lang="ko-KR" altLang="en-US">
                <a:solidFill>
                  <a:srgbClr val="E3E8F2"/>
                </a:solidFill>
                <a:latin typeface="Consolas"/>
                <a:ea typeface="맑은 고딕"/>
                <a:cs typeface="Consolas"/>
              </a:rPr>
              <a:t>(</a:t>
            </a:r>
            <a:r>
              <a:rPr sz="1000" b="0" i="0" lang="ko-KR" altLang="en-US">
                <a:solidFill>
                  <a:srgbClr val="8FB4FF"/>
                </a:solidFill>
                <a:latin typeface="Consolas"/>
                <a:ea typeface="맑은 고딕"/>
                <a:cs typeface="Consolas"/>
              </a:rPr>
              <a:t>void</a:t>
            </a:r>
            <a:r>
              <a:rPr sz="1000" b="0" i="0" lang="ko-KR" altLang="en-US">
                <a:solidFill>
                  <a:srgbClr val="E3E8F2"/>
                </a:solidFill>
                <a:latin typeface="Consolas"/>
                <a:ea typeface="맑은 고딕"/>
                <a:cs typeface="Consolas"/>
              </a:rPr>
              <a:t>)</a:t>
            </a:r>
          </a:p>
          <a:p>
            <a:pPr algn="l">
              <a:lnSpc>
                <a:spcPts val="1160"/>
              </a:lnSpc>
              <a:spcAft>
                <a:spcPts val="0"/>
              </a:spcAft>
            </a:pPr>
            <a:r>
              <a:rPr sz="1000" b="0" i="0" lang="ko-KR" altLang="en-US">
                <a:solidFill>
                  <a:srgbClr val="E3E8F2"/>
                </a:solidFill>
                <a:latin typeface="Consolas"/>
                <a:ea typeface="맑은 고딕"/>
                <a:cs typeface="Consolas"/>
              </a:rPr>
              <a:t>{</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int</a:t>
            </a:r>
            <a:r>
              <a:rPr sz="1000" b="0" i="0" lang="ko-KR" altLang="en-US">
                <a:solidFill>
                  <a:srgbClr val="E3E8F2"/>
                </a:solidFill>
                <a:latin typeface="Consolas"/>
                <a:ea typeface="맑은 고딕"/>
                <a:cs typeface="Consolas"/>
              </a:rPr>
              <a:t>  M  = 2147483647;</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int</a:t>
            </a:r>
            <a:r>
              <a:rPr sz="1000" b="0" i="0" lang="ko-KR" altLang="en-US">
                <a:solidFill>
                  <a:srgbClr val="E3E8F2"/>
                </a:solidFill>
                <a:latin typeface="Consolas"/>
                <a:ea typeface="맑은 고딕"/>
                <a:cs typeface="Consolas"/>
              </a:rPr>
              <a:t>  a  = 16807;</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long</a:t>
            </a: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int</a:t>
            </a:r>
            <a:r>
              <a:rPr sz="1000" b="0" i="0" lang="ko-KR" altLang="en-US">
                <a:solidFill>
                  <a:srgbClr val="E3E8F2"/>
                </a:solidFill>
                <a:latin typeface="Consolas"/>
                <a:ea typeface="맑은 고딕"/>
                <a:cs typeface="Consolas"/>
              </a:rPr>
              <a:t>  xn = 0;</a:t>
            </a:r>
          </a:p>
          <a:p>
            <a:pPr algn="l">
              <a:lnSpc>
                <a:spcPts val="1160"/>
              </a:lnSpc>
              <a:spcAft>
                <a:spcPts val="0"/>
              </a:spcAft>
            </a:pPr>
            <a:r>
              <a:rPr sz="1000" b="0" i="0" lang="ko-KR" altLang="en-US">
                <a:solidFill>
                  <a:srgbClr val="8E9BB5"/>
                </a:solidFill>
                <a:latin typeface="Consolas"/>
                <a:ea typeface="맑은 고딕"/>
                <a:cs typeface="Consolas"/>
              </a:rPr>
              <a:t>  ...</a:t>
            </a:r>
          </a:p>
          <a:p>
            <a:pPr algn="l">
              <a:lnSpc>
                <a:spcPts val="1160"/>
              </a:lnSpc>
              <a:spcAft>
                <a:spcPts val="0"/>
              </a:spcAft>
            </a:pPr>
            <a:r>
              <a:rPr sz="1000" b="0" i="0" lang="ko-KR" altLang="en-US">
                <a:solidFill>
                  <a:srgbClr val="E3E8F2"/>
                </a:solidFill>
                <a:latin typeface="Consolas"/>
                <a:ea typeface="맑은 고딕"/>
                <a:cs typeface="Consolas"/>
              </a:rPr>
              <a:t>  xn = SEED;</a:t>
            </a:r>
          </a:p>
          <a:p>
            <a:pPr algn="l">
              <a:lnSpc>
                <a:spcPts val="1160"/>
              </a:lnSpc>
              <a:spcAft>
                <a:spcPts val="0"/>
              </a:spcAft>
            </a:pPr>
            <a:r>
              <a:rPr sz="1000" b="0" i="0" lang="ko-KR" altLang="en-US">
                <a:solidFill>
                  <a:srgbClr val="E3E8F2"/>
                </a:solidFill>
                <a:latin typeface="Consolas"/>
                <a:ea typeface="맑은 고딕"/>
                <a:cs typeface="Consolas"/>
              </a:rPr>
              <a:t>  xn = abs((a * xn) % M);</a:t>
            </a:r>
          </a:p>
          <a:p>
            <a:pPr algn="l">
              <a:lnSpc>
                <a:spcPts val="1160"/>
              </a:lnSpc>
              <a:spcAft>
                <a:spcPts val="0"/>
              </a:spcAft>
            </a:pPr>
            <a:r>
              <a:rPr sz="1000" b="0" i="0" lang="ko-KR" altLang="en-US">
                <a:solidFill>
                  <a:srgbClr val="E3E8F2"/>
                </a:solidFill>
                <a:latin typeface="Consolas"/>
                <a:ea typeface="맑은 고딕"/>
                <a:cs typeface="Consolas"/>
              </a:rPr>
              <a:t>  SEED = xn;</a:t>
            </a:r>
          </a:p>
          <a:p>
            <a:pPr algn="l">
              <a:lnSpc>
                <a:spcPts val="1160"/>
              </a:lnSpc>
              <a:spcAft>
                <a:spcPts val="0"/>
              </a:spcAft>
            </a:pPr>
            <a:r>
              <a:rPr sz="1000" b="0" i="0" lang="ko-KR" altLang="en-US">
                <a:solidFill>
                  <a:srgbClr val="E3E8F2"/>
                </a:solidFill>
                <a:latin typeface="Consolas"/>
                <a:ea typeface="맑은 고딕"/>
                <a:cs typeface="Consolas"/>
              </a:rPr>
              <a:t>  ans = (</a:t>
            </a: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)xn / (</a:t>
            </a: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)M;</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return</a:t>
            </a:r>
            <a:r>
              <a:rPr sz="1000" b="0" i="0" lang="ko-KR" altLang="en-US">
                <a:solidFill>
                  <a:srgbClr val="E3E8F2"/>
                </a:solidFill>
                <a:latin typeface="Consolas"/>
                <a:ea typeface="맑은 고딕"/>
                <a:cs typeface="Consolas"/>
              </a:rPr>
              <a:t> ans;</a:t>
            </a:r>
          </a:p>
          <a:p>
            <a:pPr algn="l">
              <a:lnSpc>
                <a:spcPts val="1160"/>
              </a:lnSpc>
              <a:spcAft>
                <a:spcPts val="0"/>
              </a:spcAft>
            </a:pPr>
            <a:r>
              <a:rPr sz="1000" b="0" i="0" lang="ko-KR" altLang="en-US">
                <a:solidFill>
                  <a:srgbClr val="E3E8F2"/>
                </a:solidFill>
                <a:latin typeface="Consolas"/>
                <a:ea typeface="맑은 고딕"/>
                <a:cs typeface="Consolas"/>
              </a:rPr>
              <a:t>}</a:t>
            </a:r>
          </a:p>
          <a:p>
            <a:pPr algn="l">
              <a:lnSpc>
                <a:spcPts val="1160"/>
              </a:lnSpc>
              <a:spcAft>
                <a:spcPts val="0"/>
              </a:spcAft>
            </a:pPr>
            <a:r>
              <a:rPr sz="1000" b="0" i="0" lang="ko-KR" altLang="en-US">
                <a:solidFill>
                  <a:srgbClr val="E3E8F2"/>
                </a:solidFill>
                <a:latin typeface="Consolas"/>
                <a:ea typeface="맑은 고딕"/>
                <a:cs typeface="Consolas"/>
              </a:rPr>
              <a:t> </a:t>
            </a:r>
          </a:p>
          <a:p>
            <a:pPr algn="l">
              <a:lnSpc>
                <a:spcPts val="1160"/>
              </a:lnSpc>
              <a:spcAft>
                <a:spcPts val="0"/>
              </a:spcAft>
            </a:pP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 </a:t>
            </a:r>
            <a:r>
              <a:rPr sz="1000" b="0" i="0" lang="ko-KR" altLang="en-US">
                <a:solidFill>
                  <a:srgbClr val="F2C46D"/>
                </a:solidFill>
                <a:latin typeface="Consolas"/>
                <a:ea typeface="맑은 고딕"/>
                <a:cs typeface="Consolas"/>
              </a:rPr>
              <a:t>GAUSS</a:t>
            </a:r>
            <a:r>
              <a:rPr sz="1000" b="0" i="0" lang="ko-KR" altLang="en-US">
                <a:solidFill>
                  <a:srgbClr val="E3E8F2"/>
                </a:solidFill>
                <a:latin typeface="Consolas"/>
                <a:ea typeface="맑은 고딕"/>
                <a:cs typeface="Consolas"/>
              </a:rPr>
              <a:t>(</a:t>
            </a: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 m, </a:t>
            </a: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 dev)</a:t>
            </a:r>
          </a:p>
          <a:p>
            <a:pPr algn="l">
              <a:lnSpc>
                <a:spcPts val="1160"/>
              </a:lnSpc>
              <a:spcAft>
                <a:spcPts val="0"/>
              </a:spcAft>
            </a:pPr>
            <a:r>
              <a:rPr sz="1000" b="0" i="0" lang="ko-KR" altLang="en-US">
                <a:solidFill>
                  <a:srgbClr val="E3E8F2"/>
                </a:solidFill>
                <a:latin typeface="Consolas"/>
                <a:ea typeface="맑은 고딕"/>
                <a:cs typeface="Consolas"/>
              </a:rPr>
              <a:t>{</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int</a:t>
            </a:r>
            <a:r>
              <a:rPr sz="1000" b="0" i="0" lang="ko-KR" altLang="en-US">
                <a:solidFill>
                  <a:srgbClr val="E3E8F2"/>
                </a:solidFill>
                <a:latin typeface="Consolas"/>
                <a:ea typeface="맑은 고딕"/>
                <a:cs typeface="Consolas"/>
              </a:rPr>
              <a:t> i;</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double</a:t>
            </a:r>
            <a:r>
              <a:rPr sz="1000" b="0" i="0" lang="ko-KR" altLang="en-US">
                <a:solidFill>
                  <a:srgbClr val="E3E8F2"/>
                </a:solidFill>
                <a:latin typeface="Consolas"/>
                <a:ea typeface="맑은 고딕"/>
                <a:cs typeface="Consolas"/>
              </a:rPr>
              <a:t> a = 0.;</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for</a:t>
            </a:r>
            <a:r>
              <a:rPr sz="1000" b="0" i="0" lang="ko-KR" altLang="en-US">
                <a:solidFill>
                  <a:srgbClr val="E3E8F2"/>
                </a:solidFill>
                <a:latin typeface="Consolas"/>
                <a:ea typeface="맑은 고딕"/>
                <a:cs typeface="Consolas"/>
              </a:rPr>
              <a:t> (i = 0; i &lt; 12; i++)</a:t>
            </a:r>
          </a:p>
          <a:p>
            <a:pPr algn="l">
              <a:lnSpc>
                <a:spcPts val="1160"/>
              </a:lnSpc>
              <a:spcAft>
                <a:spcPts val="0"/>
              </a:spcAft>
            </a:pPr>
            <a:r>
              <a:rPr sz="1000" b="0" i="0" lang="ko-KR" altLang="en-US">
                <a:solidFill>
                  <a:srgbClr val="E3E8F2"/>
                </a:solidFill>
                <a:latin typeface="Consolas"/>
                <a:ea typeface="맑은 고딕"/>
                <a:cs typeface="Consolas"/>
              </a:rPr>
              <a:t>  {</a:t>
            </a:r>
          </a:p>
          <a:p>
            <a:pPr algn="l">
              <a:lnSpc>
                <a:spcPts val="1160"/>
              </a:lnSpc>
              <a:spcAft>
                <a:spcPts val="0"/>
              </a:spcAft>
            </a:pPr>
            <a:r>
              <a:rPr sz="1000" b="0" i="0" lang="ko-KR" altLang="en-US">
                <a:solidFill>
                  <a:srgbClr val="E3E8F2"/>
                </a:solidFill>
                <a:latin typeface="Consolas"/>
                <a:ea typeface="맑은 고딕"/>
                <a:cs typeface="Consolas"/>
              </a:rPr>
              <a:t>    a += </a:t>
            </a:r>
            <a:r>
              <a:rPr sz="1000" b="0" i="0" lang="ko-KR" altLang="en-US">
                <a:solidFill>
                  <a:srgbClr val="F2C46D"/>
                </a:solidFill>
                <a:latin typeface="Consolas"/>
                <a:ea typeface="맑은 고딕"/>
                <a:cs typeface="Consolas"/>
              </a:rPr>
              <a:t>UNIRAN</a:t>
            </a:r>
            <a:r>
              <a:rPr sz="1000" b="0" i="0" lang="ko-KR" altLang="en-US">
                <a:solidFill>
                  <a:srgbClr val="E3E8F2"/>
                </a:solidFill>
                <a:latin typeface="Consolas"/>
                <a:ea typeface="맑은 고딕"/>
                <a:cs typeface="Consolas"/>
              </a:rPr>
              <a:t>();</a:t>
            </a:r>
          </a:p>
          <a:p>
            <a:pPr algn="l">
              <a:lnSpc>
                <a:spcPts val="1160"/>
              </a:lnSpc>
              <a:spcAft>
                <a:spcPts val="0"/>
              </a:spcAft>
            </a:pPr>
            <a:r>
              <a:rPr sz="1000" b="0" i="0" lang="ko-KR" altLang="en-US">
                <a:solidFill>
                  <a:srgbClr val="E3E8F2"/>
                </a:solidFill>
                <a:latin typeface="Consolas"/>
                <a:ea typeface="맑은 고딕"/>
                <a:cs typeface="Consolas"/>
              </a:rPr>
              <a:t>  }</a:t>
            </a:r>
          </a:p>
          <a:p>
            <a:pPr algn="l">
              <a:lnSpc>
                <a:spcPts val="1160"/>
              </a:lnSpc>
              <a:spcAft>
                <a:spcPts val="0"/>
              </a:spcAft>
            </a:pPr>
            <a:r>
              <a:rPr sz="1000" b="0" i="0" lang="ko-KR" altLang="en-US">
                <a:solidFill>
                  <a:srgbClr val="E3E8F2"/>
                </a:solidFill>
                <a:latin typeface="Consolas"/>
                <a:ea typeface="맑은 고딕"/>
                <a:cs typeface="Consolas"/>
              </a:rPr>
              <a:t>  </a:t>
            </a:r>
            <a:r>
              <a:rPr sz="1000" b="0" i="0" lang="ko-KR" altLang="en-US">
                <a:solidFill>
                  <a:srgbClr val="8FB4FF"/>
                </a:solidFill>
                <a:latin typeface="Consolas"/>
                <a:ea typeface="맑은 고딕"/>
                <a:cs typeface="Consolas"/>
              </a:rPr>
              <a:t>return</a:t>
            </a:r>
            <a:r>
              <a:rPr sz="1000" b="0" i="0" lang="ko-KR" altLang="en-US">
                <a:solidFill>
                  <a:srgbClr val="E3E8F2"/>
                </a:solidFill>
                <a:latin typeface="Consolas"/>
                <a:ea typeface="맑은 고딕"/>
                <a:cs typeface="Consolas"/>
              </a:rPr>
              <a:t> ((a - 6.0) * dev + m);</a:t>
            </a:r>
          </a:p>
          <a:p>
            <a:pPr algn="l">
              <a:lnSpc>
                <a:spcPts val="1160"/>
              </a:lnSpc>
              <a:spcAft>
                <a:spcPts val="0"/>
              </a:spcAft>
            </a:pPr>
            <a:r>
              <a:rPr sz="1000" b="0" i="0" lang="ko-KR" altLang="en-US">
                <a:solidFill>
                  <a:srgbClr val="E3E8F2"/>
                </a:solidFill>
                <a:latin typeface="Consolas"/>
                <a:ea typeface="맑은 고딕"/>
                <a:cs typeface="Consolas"/>
              </a:rPr>
              <a:t>}</a:t>
            </a:r>
          </a:p>
        </p:txBody>
      </p:sp>
      <p:sp>
        <p:nvSpPr>
          <p:cNvPr id="10" name="Rectangle 9"/>
          <p:cNvSpPr/>
          <p:nvPr/>
        </p:nvSpPr>
        <p:spPr>
          <a:xfrm>
            <a:off x="3950208" y="2618740"/>
            <a:ext cx="45720" cy="115214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2600452"/>
            <a:ext cx="2532888" cy="310896"/>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2563EB"/>
                </a:solidFill>
                <a:latin typeface="Arial"/>
                <a:ea typeface="맑은 고딕"/>
                <a:cs typeface="Arial"/>
              </a:rPr>
              <a:t>UNIRAN</a:t>
            </a:r>
            <a:r>
              <a:rPr sz="1250" b="1" i="0" lang="ko-KR" altLang="en-US">
                <a:solidFill>
                  <a:srgbClr val="1B2740"/>
                </a:solidFill>
                <a:latin typeface="맑은 고딕"/>
                <a:ea typeface="맑은 고딕"/>
                <a:cs typeface="맑은 고딕"/>
              </a:rPr>
              <a:t>  (0, 1) 균등난수</a:t>
            </a:r>
          </a:p>
        </p:txBody>
      </p:sp>
      <p:sp>
        <p:nvSpPr>
          <p:cNvPr id="12" name="TextBox 11"/>
          <p:cNvSpPr txBox="1"/>
          <p:nvPr/>
        </p:nvSpPr>
        <p:spPr>
          <a:xfrm>
            <a:off x="4114800" y="2957068"/>
            <a:ext cx="2532888" cy="877824"/>
          </a:xfrm>
          <a:prstGeom prst="rect">
            <a:avLst/>
          </a:prstGeom>
          <a:noFill/>
        </p:spPr>
        <p:txBody>
          <a:bodyPr wrap="square" anchor="t" lIns="0" tIns="0" rIns="0" bIns="0">
            <a:noAutofit/>
          </a:bodyPr>
          <a:lstStyle/>
          <a:p>
            <a:pPr algn="l">
              <a:lnSpc>
                <a:spcPct val="120000"/>
              </a:lnSpc>
              <a:spcAft>
                <a:spcPts val="0"/>
              </a:spcAft>
            </a:pPr>
            <a:r>
              <a:rPr sz="1100" b="0" i="0" lang="ko-KR" altLang="en-US">
                <a:solidFill>
                  <a:srgbClr val="4A5A7A"/>
                </a:solidFill>
                <a:latin typeface="맑은 고딕"/>
                <a:ea typeface="맑은 고딕"/>
                <a:cs typeface="맑은 고딕"/>
              </a:rPr>
              <a:t>xn ← 16807 × xn  mod  (2³¹ − 1)</a:t>
            </a:r>
          </a:p>
          <a:p>
            <a:pPr algn="l">
              <a:lnSpc>
                <a:spcPct val="120000"/>
              </a:lnSpc>
              <a:spcAft>
                <a:spcPts val="0"/>
              </a:spcAft>
            </a:pPr>
            <a:r>
              <a:rPr sz="1100" b="0" i="0" lang="ko-KR" altLang="en-US">
                <a:solidFill>
                  <a:srgbClr val="4A5A7A"/>
                </a:solidFill>
                <a:latin typeface="맑은 고딕"/>
                <a:ea typeface="맑은 고딕"/>
                <a:cs typeface="맑은 고딕"/>
              </a:rPr>
              <a:t>돌려주는 값은 xn ÷ M</a:t>
            </a:r>
          </a:p>
          <a:p>
            <a:pPr algn="l">
              <a:lnSpc>
                <a:spcPct val="120000"/>
              </a:lnSpc>
              <a:spcAft>
                <a:spcPts val="0"/>
              </a:spcAft>
            </a:pPr>
            <a:r>
              <a:rPr sz="1100" b="0" i="0" lang="ko-KR" altLang="en-US">
                <a:solidFill>
                  <a:srgbClr val="4A5A7A"/>
                </a:solidFill>
                <a:latin typeface="맑은 고딕"/>
                <a:ea typeface="맑은 고딕"/>
                <a:cs typeface="맑은 고딕"/>
              </a:rPr>
              <a:t>xn 은 SEED 에 남겨 다음에 이어 씀</a:t>
            </a:r>
          </a:p>
          <a:p>
            <a:pPr algn="l">
              <a:lnSpc>
                <a:spcPct val="120000"/>
              </a:lnSpc>
              <a:spcAft>
                <a:spcPts val="0"/>
              </a:spcAft>
            </a:pPr>
            <a:r>
              <a:rPr sz="1100" b="1" i="0" lang="ko-KR" altLang="en-US">
                <a:solidFill>
                  <a:srgbClr val="1B2740"/>
                </a:solidFill>
                <a:latin typeface="맑은 고딕"/>
                <a:ea typeface="맑은 고딕"/>
                <a:cs typeface="맑은 고딕"/>
              </a:rPr>
              <a:t>seed 가 같으면 늘 같은 순서</a:t>
            </a:r>
          </a:p>
        </p:txBody>
      </p:sp>
      <p:sp>
        <p:nvSpPr>
          <p:cNvPr id="13" name="Rectangle 12"/>
          <p:cNvSpPr/>
          <p:nvPr/>
        </p:nvSpPr>
        <p:spPr>
          <a:xfrm>
            <a:off x="3950208" y="4533899"/>
            <a:ext cx="45720" cy="13487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4515611"/>
            <a:ext cx="2532888" cy="310896"/>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D97706"/>
                </a:solidFill>
                <a:latin typeface="Arial"/>
                <a:ea typeface="맑은 고딕"/>
                <a:cs typeface="Arial"/>
              </a:rPr>
              <a:t>GAUSS</a:t>
            </a:r>
            <a:r>
              <a:rPr sz="1250" b="1" i="0" lang="ko-KR" altLang="en-US">
                <a:solidFill>
                  <a:srgbClr val="1B2740"/>
                </a:solidFill>
                <a:latin typeface="맑은 고딕"/>
                <a:ea typeface="맑은 고딕"/>
                <a:cs typeface="맑은 고딕"/>
              </a:rPr>
              <a:t>  정규난수</a:t>
            </a:r>
          </a:p>
        </p:txBody>
      </p:sp>
      <p:sp>
        <p:nvSpPr>
          <p:cNvPr id="15" name="TextBox 14"/>
          <p:cNvSpPr txBox="1"/>
          <p:nvPr/>
        </p:nvSpPr>
        <p:spPr>
          <a:xfrm>
            <a:off x="4114800" y="4872227"/>
            <a:ext cx="2532888" cy="1074420"/>
          </a:xfrm>
          <a:prstGeom prst="rect">
            <a:avLst/>
          </a:prstGeom>
          <a:noFill/>
        </p:spPr>
        <p:txBody>
          <a:bodyPr wrap="square" anchor="t" lIns="0" tIns="0" rIns="0" bIns="0">
            <a:noAutofit/>
          </a:bodyPr>
          <a:lstStyle/>
          <a:p>
            <a:pPr algn="l">
              <a:lnSpc>
                <a:spcPct val="120000"/>
              </a:lnSpc>
              <a:spcAft>
                <a:spcPts val="0"/>
              </a:spcAft>
            </a:pPr>
            <a:r>
              <a:rPr sz="1100" b="0" i="0" lang="ko-KR" altLang="en-US">
                <a:solidFill>
                  <a:srgbClr val="4A5A7A"/>
                </a:solidFill>
                <a:latin typeface="맑은 고딕"/>
                <a:ea typeface="맑은 고딕"/>
                <a:cs typeface="맑은 고딕"/>
              </a:rPr>
              <a:t>UNIRAN 12개 합: 평균 6, 분산 1</a:t>
            </a:r>
          </a:p>
          <a:p>
            <a:pPr algn="l">
              <a:lnSpc>
                <a:spcPct val="120000"/>
              </a:lnSpc>
              <a:spcAft>
                <a:spcPts val="0"/>
              </a:spcAft>
            </a:pPr>
            <a:r>
              <a:rPr sz="1100" b="0" i="0" lang="ko-KR" altLang="en-US">
                <a:solidFill>
                  <a:srgbClr val="4A5A7A"/>
                </a:solidFill>
                <a:latin typeface="맑은 고딕"/>
                <a:ea typeface="맑은 고딕"/>
                <a:cs typeface="맑은 고딕"/>
              </a:rPr>
              <a:t>6 을 빼면 평균 0, 분산 1</a:t>
            </a:r>
          </a:p>
          <a:p>
            <a:pPr algn="l">
              <a:lnSpc>
                <a:spcPct val="120000"/>
              </a:lnSpc>
              <a:spcAft>
                <a:spcPts val="0"/>
              </a:spcAft>
            </a:pPr>
            <a:r>
              <a:rPr sz="1100" b="0" i="0" lang="ko-KR" altLang="en-US">
                <a:solidFill>
                  <a:srgbClr val="4A5A7A"/>
                </a:solidFill>
                <a:latin typeface="맑은 고딕"/>
                <a:ea typeface="맑은 고딕"/>
                <a:cs typeface="맑은 고딕"/>
              </a:rPr>
              <a:t>(중심극한정리로 종 모양)</a:t>
            </a:r>
          </a:p>
          <a:p>
            <a:pPr algn="l">
              <a:lnSpc>
                <a:spcPct val="120000"/>
              </a:lnSpc>
              <a:spcAft>
                <a:spcPts val="0"/>
              </a:spcAft>
            </a:pPr>
            <a:r>
              <a:rPr sz="1100" b="0" i="0" lang="ko-KR" altLang="en-US">
                <a:solidFill>
                  <a:srgbClr val="4A5A7A"/>
                </a:solidFill>
                <a:latin typeface="맑은 고딕"/>
                <a:ea typeface="맑은 고딕"/>
                <a:cs typeface="맑은 고딕"/>
              </a:rPr>
              <a:t>dev 를 곱하고 m 을 더함</a:t>
            </a:r>
          </a:p>
          <a:p>
            <a:pPr algn="l">
              <a:lnSpc>
                <a:spcPct val="120000"/>
              </a:lnSpc>
              <a:spcAft>
                <a:spcPts val="0"/>
              </a:spcAft>
            </a:pPr>
            <a:r>
              <a:rPr sz="1100" b="1" i="0" lang="ko-KR" altLang="en-US">
                <a:solidFill>
                  <a:srgbClr val="1B2740"/>
                </a:solidFill>
                <a:latin typeface="맑은 고딕"/>
                <a:ea typeface="맑은 고딕"/>
                <a:cs typeface="맑은 고딕"/>
              </a:rPr>
              <a:t>잡음 v = GAUSS(0, p)</a:t>
            </a:r>
          </a:p>
        </p:txBody>
      </p:sp>
      <p:sp>
        <p:nvSpPr>
          <p:cNvPr id="16" name="TextBox 15"/>
          <p:cNvSpPr txBox="1"/>
          <p:nvPr/>
        </p:nvSpPr>
        <p:spPr>
          <a:xfrm>
            <a:off x="6858000" y="1938528"/>
            <a:ext cx="4690872" cy="274320"/>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1B2740"/>
                </a:solidFill>
                <a:latin typeface="Arial"/>
                <a:ea typeface="맑은 고딕"/>
                <a:cs typeface="Arial"/>
              </a:rPr>
              <a:t>PlotSim.c</a:t>
            </a:r>
            <a:r>
              <a:rPr sz="1050" b="0" i="0" lang="ko-KR" altLang="en-US">
                <a:solidFill>
                  <a:srgbClr val="647089"/>
                </a:solidFill>
                <a:latin typeface="맑은 고딕"/>
                <a:ea typeface="맑은 고딕"/>
                <a:cs typeface="맑은 고딕"/>
              </a:rPr>
              <a:t>   f_Pcs_CalcSigma  (2.2 의 식)</a:t>
            </a:r>
          </a:p>
        </p:txBody>
      </p:sp>
      <p:sp>
        <p:nvSpPr>
          <p:cNvPr id="17" name="Rectangle 16"/>
          <p:cNvSpPr/>
          <p:nvPr/>
        </p:nvSpPr>
        <p:spPr>
          <a:xfrm>
            <a:off x="6858000" y="2240280"/>
            <a:ext cx="4690872" cy="201168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6016" y="2338070"/>
            <a:ext cx="4507992" cy="1834388"/>
          </a:xfrm>
          <a:prstGeom prst="rect">
            <a:avLst/>
          </a:prstGeom>
          <a:noFill/>
        </p:spPr>
        <p:txBody>
          <a:bodyPr wrap="none" anchor="t" lIns="0" tIns="0" rIns="0" bIns="0">
            <a:noAutofit/>
          </a:bodyPr>
          <a:lstStyle/>
          <a:p>
            <a:pPr algn="l">
              <a:lnSpc>
                <a:spcPts val="1100"/>
              </a:lnSpc>
              <a:spcAft>
                <a:spcPts val="0"/>
              </a:spcAft>
            </a:pPr>
            <a:r>
              <a:rPr sz="950" b="0" i="0" lang="ko-KR" altLang="en-US">
                <a:solidFill>
                  <a:srgbClr val="7FB77E"/>
                </a:solidFill>
                <a:latin typeface="Consolas"/>
                <a:ea typeface="맑은 고딕"/>
                <a:cs typeface="Consolas"/>
              </a:rPr>
              <a:t>// 측정 표준편차 p. snr 은 선형값.</a:t>
            </a:r>
          </a:p>
          <a:p>
            <a:pPr algn="l">
              <a:lnSpc>
                <a:spcPts val="1100"/>
              </a:lnSpc>
              <a:spcAft>
                <a:spcPts val="0"/>
              </a:spcAft>
            </a:pPr>
            <a:r>
              <a:rPr sz="950" b="0" i="0" lang="ko-KR" altLang="en-US">
                <a:solidFill>
                  <a:srgbClr val="8E9BB5"/>
                </a:solidFill>
                <a:latin typeface="Consolas"/>
                <a:ea typeface="맑은 고딕"/>
                <a:cs typeface="Consolas"/>
              </a:rPr>
              <a:t>...</a:t>
            </a:r>
          </a:p>
          <a:p>
            <a:pPr algn="l">
              <a:lnSpc>
                <a:spcPts val="1100"/>
              </a:lnSpc>
              <a:spcAft>
                <a:spcPts val="0"/>
              </a:spcAft>
            </a:pPr>
            <a:r>
              <a:rPr sz="950" b="0" i="0" lang="ko-KR" altLang="en-US">
                <a:solidFill>
                  <a:srgbClr val="8FB4FF"/>
                </a:solidFill>
                <a:latin typeface="Consolas"/>
                <a:ea typeface="맑은 고딕"/>
                <a:cs typeface="Consolas"/>
              </a:rPr>
              <a:t>STRUCT_Coord_Sph</a:t>
            </a:r>
            <a:r>
              <a:rPr sz="950" b="0" i="0" lang="ko-KR" altLang="en-US">
                <a:solidFill>
                  <a:srgbClr val="E3E8F2"/>
                </a:solidFill>
                <a:latin typeface="Consolas"/>
                <a:ea typeface="맑은 고딕"/>
                <a:cs typeface="Consolas"/>
              </a:rPr>
              <a:t> </a:t>
            </a:r>
            <a:r>
              <a:rPr sz="950" b="0" i="0" lang="ko-KR" altLang="en-US">
                <a:solidFill>
                  <a:srgbClr val="F2C46D"/>
                </a:solidFill>
                <a:latin typeface="Consolas"/>
                <a:ea typeface="맑은 고딕"/>
                <a:cs typeface="Consolas"/>
              </a:rPr>
              <a:t>f_Pcs_CalcSigma</a:t>
            </a:r>
            <a:r>
              <a:rPr sz="950" b="0" i="0" lang="ko-KR" altLang="en-US">
                <a:solidFill>
                  <a:srgbClr val="E3E8F2"/>
                </a:solidFill>
                <a:latin typeface="Consolas"/>
                <a:ea typeface="맑은 고딕"/>
                <a:cs typeface="Consolas"/>
              </a:rPr>
              <a:t>(</a:t>
            </a:r>
            <a:r>
              <a:rPr sz="950" b="0" i="0" lang="ko-KR" altLang="en-US">
                <a:solidFill>
                  <a:srgbClr val="8FB4FF"/>
                </a:solidFill>
                <a:latin typeface="Consolas"/>
                <a:ea typeface="맑은 고딕"/>
                <a:cs typeface="Consolas"/>
              </a:rPr>
              <a:t>FLOAT64</a:t>
            </a:r>
            <a:r>
              <a:rPr sz="950" b="0" i="0" lang="ko-KR" altLang="en-US">
                <a:solidFill>
                  <a:srgbClr val="E3E8F2"/>
                </a:solidFill>
                <a:latin typeface="Consolas"/>
                <a:ea typeface="맑은 고딕"/>
                <a:cs typeface="Consolas"/>
              </a:rPr>
              <a:t> snr)</a:t>
            </a:r>
          </a:p>
          <a:p>
            <a:pPr algn="l">
              <a:lnSpc>
                <a:spcPts val="1100"/>
              </a:lnSpc>
              <a:spcAft>
                <a:spcPts val="0"/>
              </a:spcAft>
            </a:pPr>
            <a:r>
              <a:rPr sz="950" b="0" i="0" lang="ko-KR" altLang="en-US">
                <a:solidFill>
                  <a:srgbClr val="E3E8F2"/>
                </a:solidFill>
                <a:latin typeface="Consolas"/>
                <a:ea typeface="맑은 고딕"/>
                <a:cs typeface="Consolas"/>
              </a:rPr>
              <a:t>{</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const</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FLOAT64</a:t>
            </a:r>
            <a:r>
              <a:rPr sz="950" b="0" i="0" lang="ko-KR" altLang="en-US">
                <a:solidFill>
                  <a:srgbClr val="E3E8F2"/>
                </a:solidFill>
                <a:latin typeface="Consolas"/>
                <a:ea typeface="맑은 고딕"/>
                <a:cs typeface="Consolas"/>
              </a:rPr>
              <a:t>     root = </a:t>
            </a:r>
            <a:r>
              <a:rPr sz="950" b="0" i="0" lang="ko-KR" altLang="en-US">
                <a:solidFill>
                  <a:srgbClr val="F2C46D"/>
                </a:solidFill>
                <a:latin typeface="Consolas"/>
                <a:ea typeface="맑은 고딕"/>
                <a:cs typeface="Consolas"/>
              </a:rPr>
              <a:t>sqrt</a:t>
            </a:r>
            <a:r>
              <a:rPr sz="950" b="0" i="0" lang="ko-KR" altLang="en-US">
                <a:solidFill>
                  <a:srgbClr val="E3E8F2"/>
                </a:solidFill>
                <a:latin typeface="Consolas"/>
                <a:ea typeface="맑은 고딕"/>
                <a:cs typeface="Consolas"/>
              </a:rPr>
              <a:t>(2.0 * snr);</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STRUCT_Coord_Sph</a:t>
            </a:r>
            <a:r>
              <a:rPr sz="950" b="0" i="0" lang="ko-KR" altLang="en-US">
                <a:solidFill>
                  <a:srgbClr val="E3E8F2"/>
                </a:solidFill>
                <a:latin typeface="Consolas"/>
                <a:ea typeface="맑은 고딕"/>
                <a:cs typeface="Consolas"/>
              </a:rPr>
              <a:t>  st_Sigma;</a:t>
            </a:r>
          </a:p>
          <a:p>
            <a:pPr algn="l">
              <a:lnSpc>
                <a:spcPts val="1100"/>
              </a:lnSpc>
              <a:spcAft>
                <a:spcPts val="0"/>
              </a:spcAft>
            </a:pPr>
            <a:r>
              <a:rPr sz="950" b="0" i="0" lang="ko-KR" altLang="en-US">
                <a:solidFill>
                  <a:srgbClr val="E3E8F2"/>
                </a:solidFill>
                <a:latin typeface="Consolas"/>
                <a:ea typeface="맑은 고딕"/>
                <a:cs typeface="Consolas"/>
              </a:rPr>
              <a:t> </a:t>
            </a:r>
          </a:p>
          <a:p>
            <a:pPr algn="l">
              <a:lnSpc>
                <a:spcPts val="1100"/>
              </a:lnSpc>
              <a:spcAft>
                <a:spcPts val="0"/>
              </a:spcAft>
            </a:pPr>
            <a:r>
              <a:rPr sz="950" b="0" i="0" lang="ko-KR" altLang="en-US">
                <a:solidFill>
                  <a:srgbClr val="E3E8F2"/>
                </a:solidFill>
                <a:latin typeface="Consolas"/>
                <a:ea typeface="맑은 고딕"/>
                <a:cs typeface="Consolas"/>
              </a:rPr>
              <a:t>  st_Sigma.r  = LIGHT_SPEED / (2.0 * PCS_BANDWIDTH * root);</a:t>
            </a:r>
          </a:p>
          <a:p>
            <a:pPr algn="l">
              <a:lnSpc>
                <a:spcPts val="1100"/>
              </a:lnSpc>
              <a:spcAft>
                <a:spcPts val="0"/>
              </a:spcAft>
            </a:pPr>
            <a:r>
              <a:rPr sz="950" b="0" i="0" lang="ko-KR" altLang="en-US">
                <a:solidFill>
                  <a:srgbClr val="E3E8F2"/>
                </a:solidFill>
                <a:latin typeface="Consolas"/>
                <a:ea typeface="맑은 고딕"/>
                <a:cs typeface="Consolas"/>
              </a:rPr>
              <a:t>  st_Sigma.az = </a:t>
            </a:r>
            <a:r>
              <a:rPr sz="950" b="0" i="0" lang="ko-KR" altLang="en-US">
                <a:solidFill>
                  <a:srgbClr val="F2C46D"/>
                </a:solidFill>
                <a:latin typeface="Consolas"/>
                <a:ea typeface="맑은 고딕"/>
                <a:cs typeface="Consolas"/>
              </a:rPr>
              <a:t>f_Deg_To_Rad</a:t>
            </a:r>
            <a:r>
              <a:rPr sz="950" b="0" i="0" lang="ko-KR" altLang="en-US">
                <a:solidFill>
                  <a:srgbClr val="E3E8F2"/>
                </a:solidFill>
                <a:latin typeface="Consolas"/>
                <a:ea typeface="맑은 고딕"/>
                <a:cs typeface="Consolas"/>
              </a:rPr>
              <a:t>(PCS_BEAM_AZI) / (PCS_KM * root);</a:t>
            </a:r>
          </a:p>
          <a:p>
            <a:pPr algn="l">
              <a:lnSpc>
                <a:spcPts val="1100"/>
              </a:lnSpc>
              <a:spcAft>
                <a:spcPts val="0"/>
              </a:spcAft>
            </a:pPr>
            <a:r>
              <a:rPr sz="950" b="0" i="0" lang="ko-KR" altLang="en-US">
                <a:solidFill>
                  <a:srgbClr val="E3E8F2"/>
                </a:solidFill>
                <a:latin typeface="Consolas"/>
                <a:ea typeface="맑은 고딕"/>
                <a:cs typeface="Consolas"/>
              </a:rPr>
              <a:t>  st_Sigma.el = </a:t>
            </a:r>
            <a:r>
              <a:rPr sz="950" b="0" i="0" lang="ko-KR" altLang="en-US">
                <a:solidFill>
                  <a:srgbClr val="F2C46D"/>
                </a:solidFill>
                <a:latin typeface="Consolas"/>
                <a:ea typeface="맑은 고딕"/>
                <a:cs typeface="Consolas"/>
              </a:rPr>
              <a:t>f_Deg_To_Rad</a:t>
            </a:r>
            <a:r>
              <a:rPr sz="950" b="0" i="0" lang="ko-KR" altLang="en-US">
                <a:solidFill>
                  <a:srgbClr val="E3E8F2"/>
                </a:solidFill>
                <a:latin typeface="Consolas"/>
                <a:ea typeface="맑은 고딕"/>
                <a:cs typeface="Consolas"/>
              </a:rPr>
              <a:t>(PCS_BEAM_ELE) / (PCS_KM * root);</a:t>
            </a:r>
          </a:p>
          <a:p>
            <a:pPr algn="l">
              <a:lnSpc>
                <a:spcPts val="1100"/>
              </a:lnSpc>
              <a:spcAft>
                <a:spcPts val="0"/>
              </a:spcAft>
            </a:pPr>
            <a:r>
              <a:rPr sz="950" b="0" i="0" lang="ko-KR" altLang="en-US">
                <a:solidFill>
                  <a:srgbClr val="E3E8F2"/>
                </a:solidFill>
                <a:latin typeface="Consolas"/>
                <a:ea typeface="맑은 고딕"/>
                <a:cs typeface="Consolas"/>
              </a:rPr>
              <a:t> </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return</a:t>
            </a:r>
            <a:r>
              <a:rPr sz="950" b="0" i="0" lang="ko-KR" altLang="en-US">
                <a:solidFill>
                  <a:srgbClr val="E3E8F2"/>
                </a:solidFill>
                <a:latin typeface="Consolas"/>
                <a:ea typeface="맑은 고딕"/>
                <a:cs typeface="Consolas"/>
              </a:rPr>
              <a:t> st_Sigma;</a:t>
            </a:r>
          </a:p>
          <a:p>
            <a:pPr algn="l">
              <a:lnSpc>
                <a:spcPts val="1100"/>
              </a:lnSpc>
              <a:spcAft>
                <a:spcPts val="0"/>
              </a:spcAft>
            </a:pPr>
            <a:r>
              <a:rPr sz="950" b="0" i="0" lang="ko-KR" altLang="en-US">
                <a:solidFill>
                  <a:srgbClr val="E3E8F2"/>
                </a:solidFill>
                <a:latin typeface="Consolas"/>
                <a:ea typeface="맑은 고딕"/>
                <a:cs typeface="Consolas"/>
              </a:rPr>
              <a:t>}</a:t>
            </a:r>
          </a:p>
        </p:txBody>
      </p:sp>
      <p:sp>
        <p:nvSpPr>
          <p:cNvPr id="19" name="TextBox 18"/>
          <p:cNvSpPr txBox="1"/>
          <p:nvPr/>
        </p:nvSpPr>
        <p:spPr>
          <a:xfrm>
            <a:off x="6858000" y="4407408"/>
            <a:ext cx="4690872" cy="274320"/>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SNR 20 을 넣으면   root = √(2 × 20) = 6.325</a:t>
            </a:r>
          </a:p>
        </p:txBody>
      </p:sp>
      <p:sp>
        <p:nvSpPr>
          <p:cNvPr id="20" name="Rounded Rectangle 19"/>
          <p:cNvSpPr/>
          <p:nvPr/>
        </p:nvSpPr>
        <p:spPr>
          <a:xfrm>
            <a:off x="6858000" y="4782312"/>
            <a:ext cx="731520" cy="27432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76288" y="4782312"/>
            <a:ext cx="6949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거리</a:t>
            </a:r>
          </a:p>
        </p:txBody>
      </p:sp>
      <p:sp>
        <p:nvSpPr>
          <p:cNvPr id="22" name="TextBox 21"/>
          <p:cNvSpPr txBox="1"/>
          <p:nvPr/>
        </p:nvSpPr>
        <p:spPr>
          <a:xfrm>
            <a:off x="7726679" y="4718304"/>
            <a:ext cx="2468880" cy="40233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c ÷ (2 × 5 MHz × 6.325)</a:t>
            </a:r>
          </a:p>
        </p:txBody>
      </p:sp>
      <p:sp>
        <p:nvSpPr>
          <p:cNvPr id="23" name="TextBox 22"/>
          <p:cNvSpPr txBox="1"/>
          <p:nvPr/>
        </p:nvSpPr>
        <p:spPr>
          <a:xfrm>
            <a:off x="9966960" y="4718304"/>
            <a:ext cx="1581912" cy="402336"/>
          </a:xfrm>
          <a:prstGeom prst="rect">
            <a:avLst/>
          </a:prstGeom>
          <a:noFill/>
        </p:spPr>
        <p:txBody>
          <a:bodyPr wrap="square" anchor="ctr" lIns="0" tIns="0" rIns="0" bIns="0">
            <a:noAutofit/>
          </a:bodyPr>
          <a:lstStyle/>
          <a:p>
            <a:pPr algn="r">
              <a:lnSpc>
                <a:spcPct val="115000"/>
              </a:lnSpc>
              <a:spcAft>
                <a:spcPts val="0"/>
              </a:spcAft>
            </a:pPr>
            <a:r>
              <a:rPr sz="1700" b="1" i="0" lang="ko-KR" altLang="en-US">
                <a:solidFill>
                  <a:srgbClr val="2563EB"/>
                </a:solidFill>
                <a:latin typeface="Arial"/>
                <a:ea typeface="맑은 고딕"/>
                <a:cs typeface="Arial"/>
              </a:rPr>
              <a:t>4.740 m</a:t>
            </a:r>
          </a:p>
        </p:txBody>
      </p:sp>
      <p:cxnSp>
        <p:nvCxnSpPr>
          <p:cNvPr id="24" name="Connector 23"/>
          <p:cNvCxnSpPr/>
          <p:nvPr/>
        </p:nvCxnSpPr>
        <p:spPr>
          <a:xfrm>
            <a:off x="6858000" y="5120640"/>
            <a:ext cx="469087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0" y="5184648"/>
            <a:ext cx="731520" cy="274320"/>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76288" y="5184648"/>
            <a:ext cx="6949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방위각</a:t>
            </a:r>
          </a:p>
        </p:txBody>
      </p:sp>
      <p:sp>
        <p:nvSpPr>
          <p:cNvPr id="27" name="TextBox 26"/>
          <p:cNvSpPr txBox="1"/>
          <p:nvPr/>
        </p:nvSpPr>
        <p:spPr>
          <a:xfrm>
            <a:off x="7726679" y="5120640"/>
            <a:ext cx="2468880" cy="40233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5.14° ÷ (1.7 × 6.325)</a:t>
            </a:r>
          </a:p>
        </p:txBody>
      </p:sp>
      <p:sp>
        <p:nvSpPr>
          <p:cNvPr id="28" name="TextBox 27"/>
          <p:cNvSpPr txBox="1"/>
          <p:nvPr/>
        </p:nvSpPr>
        <p:spPr>
          <a:xfrm>
            <a:off x="9966960" y="5120640"/>
            <a:ext cx="1581912" cy="402336"/>
          </a:xfrm>
          <a:prstGeom prst="rect">
            <a:avLst/>
          </a:prstGeom>
          <a:noFill/>
        </p:spPr>
        <p:txBody>
          <a:bodyPr wrap="square" anchor="ctr" lIns="0" tIns="0" rIns="0" bIns="0">
            <a:noAutofit/>
          </a:bodyPr>
          <a:lstStyle/>
          <a:p>
            <a:pPr algn="r">
              <a:lnSpc>
                <a:spcPct val="115000"/>
              </a:lnSpc>
              <a:spcAft>
                <a:spcPts val="0"/>
              </a:spcAft>
            </a:pPr>
            <a:r>
              <a:rPr sz="1700" b="1" i="0" lang="ko-KR" altLang="en-US">
                <a:solidFill>
                  <a:srgbClr val="D97706"/>
                </a:solidFill>
                <a:latin typeface="Arial"/>
                <a:ea typeface="맑은 고딕"/>
                <a:cs typeface="Arial"/>
              </a:rPr>
              <a:t>0.4781°</a:t>
            </a:r>
          </a:p>
        </p:txBody>
      </p:sp>
      <p:cxnSp>
        <p:nvCxnSpPr>
          <p:cNvPr id="29" name="Connector 28"/>
          <p:cNvCxnSpPr/>
          <p:nvPr/>
        </p:nvCxnSpPr>
        <p:spPr>
          <a:xfrm>
            <a:off x="6858000" y="5522976"/>
            <a:ext cx="469087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858000" y="5586984"/>
            <a:ext cx="731520" cy="274320"/>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76288" y="5586984"/>
            <a:ext cx="694944"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고각</a:t>
            </a:r>
          </a:p>
        </p:txBody>
      </p:sp>
      <p:sp>
        <p:nvSpPr>
          <p:cNvPr id="32" name="TextBox 31"/>
          <p:cNvSpPr txBox="1"/>
          <p:nvPr/>
        </p:nvSpPr>
        <p:spPr>
          <a:xfrm>
            <a:off x="7726679" y="5522976"/>
            <a:ext cx="2468880" cy="40233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1B2740"/>
                </a:solidFill>
                <a:latin typeface="맑은 고딕"/>
                <a:ea typeface="맑은 고딕"/>
                <a:cs typeface="맑은 고딕"/>
              </a:rPr>
              <a:t>5.31° ÷ (1.7 × 6.325)</a:t>
            </a:r>
          </a:p>
        </p:txBody>
      </p:sp>
      <p:sp>
        <p:nvSpPr>
          <p:cNvPr id="33" name="TextBox 32"/>
          <p:cNvSpPr txBox="1"/>
          <p:nvPr/>
        </p:nvSpPr>
        <p:spPr>
          <a:xfrm>
            <a:off x="9966960" y="5522976"/>
            <a:ext cx="1581912" cy="402336"/>
          </a:xfrm>
          <a:prstGeom prst="rect">
            <a:avLst/>
          </a:prstGeom>
          <a:noFill/>
        </p:spPr>
        <p:txBody>
          <a:bodyPr wrap="square" anchor="ctr" lIns="0" tIns="0" rIns="0" bIns="0">
            <a:noAutofit/>
          </a:bodyPr>
          <a:lstStyle/>
          <a:p>
            <a:pPr algn="r">
              <a:lnSpc>
                <a:spcPct val="115000"/>
              </a:lnSpc>
              <a:spcAft>
                <a:spcPts val="0"/>
              </a:spcAft>
            </a:pPr>
            <a:r>
              <a:rPr sz="1700" b="1" i="0" lang="ko-KR" altLang="en-US">
                <a:solidFill>
                  <a:srgbClr val="059669"/>
                </a:solidFill>
                <a:latin typeface="Arial"/>
                <a:ea typeface="맑은 고딕"/>
                <a:cs typeface="Arial"/>
              </a:rPr>
              <a:t>0.4939°</a:t>
            </a:r>
          </a:p>
        </p:txBody>
      </p:sp>
      <p:cxnSp>
        <p:nvCxnSpPr>
          <p:cNvPr id="34" name="Connector 33"/>
          <p:cNvCxnSpPr/>
          <p:nvPr/>
        </p:nvCxnSpPr>
        <p:spPr>
          <a:xfrm>
            <a:off x="6858000" y="5925312"/>
            <a:ext cx="469087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5961888"/>
            <a:ext cx="4690872" cy="256032"/>
          </a:xfrm>
          <a:prstGeom prst="rect">
            <a:avLst/>
          </a:prstGeom>
          <a:noFill/>
        </p:spPr>
        <p:txBody>
          <a:bodyPr wrap="square" anchor="ctr" lIns="0" tIns="0" rIns="0" bIns="0">
            <a:noAutofit/>
          </a:bodyPr>
          <a:lstStyle/>
          <a:p>
            <a:pPr algn="l">
              <a:lnSpc>
                <a:spcPct val="115000"/>
              </a:lnSpc>
              <a:spcAft>
                <a:spcPts val="0"/>
              </a:spcAft>
            </a:pPr>
            <a:r>
              <a:rPr sz="1000" b="0" i="0" lang="ko-KR" altLang="en-US">
                <a:solidFill>
                  <a:srgbClr val="647089"/>
                </a:solidFill>
                <a:latin typeface="맑은 고딕"/>
                <a:ea typeface="맑은 고딕"/>
                <a:cs typeface="맑은 고딕"/>
              </a:rPr>
              <a:t>각도는 라디안으로 계산 (f_Deg_To_Rad).  화면 요약 첫 줄과 같은 값</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04. 구현과 핵심 코드</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4.4 f_Pcs_Measure 가 스캔마다 참값 · 플롯 · 클러터를 만듭니다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13</a:t>
            </a:r>
          </a:p>
        </p:txBody>
      </p:sp>
      <p:sp>
        <p:nvSpPr>
          <p:cNvPr id="7" name="Rectangle 6"/>
          <p:cNvSpPr/>
          <p:nvPr/>
        </p:nvSpPr>
        <p:spPr>
          <a:xfrm>
            <a:off x="640080" y="1901952"/>
            <a:ext cx="7699248" cy="4352544"/>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61769"/>
            <a:ext cx="7187184" cy="4251197"/>
          </a:xfrm>
          <a:prstGeom prst="rect">
            <a:avLst/>
          </a:prstGeom>
          <a:noFill/>
        </p:spPr>
        <p:txBody>
          <a:bodyPr wrap="none" anchor="t" lIns="0" tIns="0" rIns="0" bIns="0">
            <a:noAutofit/>
          </a:bodyPr>
          <a:lstStyle/>
          <a:p>
            <a:pPr algn="l">
              <a:lnSpc>
                <a:spcPts val="1010"/>
              </a:lnSpc>
              <a:spcAft>
                <a:spcPts val="0"/>
              </a:spcAft>
            </a:pPr>
            <a:r>
              <a:rPr sz="900" b="0" i="0" lang="ko-KR" altLang="en-US">
                <a:solidFill>
                  <a:srgbClr val="8FB4FF"/>
                </a:solidFill>
                <a:latin typeface="Consolas"/>
                <a:ea typeface="맑은 고딕"/>
                <a:cs typeface="Consolas"/>
              </a:rPr>
              <a:t>VOID</a:t>
            </a:r>
            <a:r>
              <a:rPr sz="900" b="0" i="0" lang="ko-KR" altLang="en-US">
                <a:solidFill>
                  <a:srgbClr val="E3E8F2"/>
                </a:solidFill>
                <a:latin typeface="Consolas"/>
                <a:ea typeface="맑은 고딕"/>
                <a:cs typeface="Consolas"/>
              </a:rPr>
              <a:t> f_Pcs_Measure(</a:t>
            </a:r>
            <a:r>
              <a:rPr sz="900" b="0" i="0" lang="ko-KR" altLang="en-US">
                <a:solidFill>
                  <a:srgbClr val="8FB4FF"/>
                </a:solidFill>
                <a:latin typeface="Consolas"/>
                <a:ea typeface="맑은 고딕"/>
                <a:cs typeface="Consolas"/>
              </a:rPr>
              <a:t>ST_PcsScan</a:t>
            </a:r>
            <a:r>
              <a:rPr sz="900" b="0" i="0" lang="ko-KR" altLang="en-US">
                <a:solidFill>
                  <a:srgbClr val="E3E8F2"/>
                </a:solidFill>
                <a:latin typeface="Consolas"/>
                <a:ea typeface="맑은 고딕"/>
                <a:cs typeface="Consolas"/>
              </a:rPr>
              <a:t> *st_Scan, </a:t>
            </a:r>
            <a:r>
              <a:rPr sz="900" b="0" i="0" lang="ko-KR" altLang="en-US">
                <a:solidFill>
                  <a:srgbClr val="8FB4FF"/>
                </a:solidFill>
                <a:latin typeface="Consolas"/>
                <a:ea typeface="맑은 고딕"/>
                <a:cs typeface="Consolas"/>
              </a:rPr>
              <a:t>const</a:t>
            </a: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ST_SimSample</a:t>
            </a:r>
            <a:r>
              <a:rPr sz="900" b="0" i="0" lang="ko-KR" altLang="en-US">
                <a:solidFill>
                  <a:srgbClr val="E3E8F2"/>
                </a:solidFill>
                <a:latin typeface="Consolas"/>
                <a:ea typeface="맑은 고딕"/>
                <a:cs typeface="Consolas"/>
              </a:rPr>
              <a:t> *st_Sample, </a:t>
            </a:r>
            <a:r>
              <a:rPr sz="900" b="0" i="0" lang="ko-KR" altLang="en-US">
                <a:solidFill>
                  <a:srgbClr val="8FB4FF"/>
                </a:solidFill>
                <a:latin typeface="Consolas"/>
                <a:ea typeface="맑은 고딕"/>
                <a:cs typeface="Consolas"/>
              </a:rPr>
              <a:t>INT32</a:t>
            </a:r>
            <a:r>
              <a:rPr sz="900" b="0" i="0" lang="ko-KR" altLang="en-US">
                <a:solidFill>
                  <a:srgbClr val="E3E8F2"/>
                </a:solidFill>
                <a:latin typeface="Consolas"/>
                <a:ea typeface="맑은 고딕"/>
                <a:cs typeface="Consolas"/>
              </a:rPr>
              <a:t> nScanNum, </a:t>
            </a:r>
            <a:r>
              <a:rPr sz="900" b="0" i="0" lang="ko-KR" altLang="en-US">
                <a:solidFill>
                  <a:srgbClr val="8E9BB5"/>
                </a:solidFill>
                <a:latin typeface="Consolas"/>
                <a:ea typeface="맑은 고딕"/>
                <a:cs typeface="Consolas"/>
              </a:rPr>
              <a:t>...</a:t>
            </a:r>
            <a:r>
              <a:rPr sz="900" b="0" i="0" lang="ko-KR" altLang="en-US">
                <a:solidFill>
                  <a:srgbClr val="E3E8F2"/>
                </a:solidFill>
                <a:latin typeface="Consolas"/>
                <a:ea typeface="맑은 고딕"/>
                <a:cs typeface="Consolas"/>
              </a:rPr>
              <a:t>)</a:t>
            </a:r>
          </a:p>
          <a:p>
            <a:pPr algn="l">
              <a:lnSpc>
                <a:spcPts val="1010"/>
              </a:lnSpc>
              <a:spcAft>
                <a:spcPts val="0"/>
              </a:spcAft>
            </a:pPr>
            <a:r>
              <a:rPr sz="900" b="0" i="0" lang="ko-KR" altLang="en-US">
                <a:solidFill>
                  <a:srgbClr val="E3E8F2"/>
                </a:solidFill>
                <a:latin typeface="Consolas"/>
                <a:ea typeface="맑은 고딕"/>
                <a:cs typeface="Consolas"/>
              </a:rPr>
              <a:t>{</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const</a:t>
            </a: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STRUCT_Coord_Sph</a:t>
            </a:r>
            <a:r>
              <a:rPr sz="900" b="0" i="0" lang="ko-KR" altLang="en-US">
                <a:solidFill>
                  <a:srgbClr val="E3E8F2"/>
                </a:solidFill>
                <a:latin typeface="Consolas"/>
                <a:ea typeface="맑은 고딕"/>
                <a:cs typeface="Consolas"/>
              </a:rPr>
              <a:t>  st_Sigma = </a:t>
            </a:r>
            <a:r>
              <a:rPr sz="900" b="0" i="0" lang="ko-KR" altLang="en-US">
                <a:solidFill>
                  <a:srgbClr val="F2C46D"/>
                </a:solidFill>
                <a:latin typeface="Consolas"/>
                <a:ea typeface="맑은 고딕"/>
                <a:cs typeface="Consolas"/>
              </a:rPr>
              <a:t>f_Pcs_CalcSigma</a:t>
            </a:r>
            <a:r>
              <a:rPr sz="900" b="0" i="0" lang="ko-KR" altLang="en-US">
                <a:solidFill>
                  <a:srgbClr val="E3E8F2"/>
                </a:solidFill>
                <a:latin typeface="Consolas"/>
                <a:ea typeface="맑은 고딕"/>
                <a:cs typeface="Consolas"/>
              </a:rPr>
              <a:t>(snr);</a:t>
            </a:r>
          </a:p>
          <a:p>
            <a:pPr algn="l">
              <a:lnSpc>
                <a:spcPts val="1010"/>
              </a:lnSpc>
              <a:spcAft>
                <a:spcPts val="0"/>
              </a:spcAft>
            </a:pPr>
            <a:r>
              <a:rPr sz="900" b="0" i="0" lang="ko-KR" altLang="en-US">
                <a:solidFill>
                  <a:srgbClr val="8E9BB5"/>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F2C46D"/>
                </a:solidFill>
                <a:latin typeface="Consolas"/>
                <a:ea typeface="맑은 고딕"/>
                <a:cs typeface="Consolas"/>
              </a:rPr>
              <a:t>changeSEED</a:t>
            </a:r>
            <a:r>
              <a:rPr sz="900" b="0" i="0" lang="ko-KR" altLang="en-US">
                <a:solidFill>
                  <a:srgbClr val="E3E8F2"/>
                </a:solidFill>
                <a:latin typeface="Consolas"/>
                <a:ea typeface="맑은 고딕"/>
                <a:cs typeface="Consolas"/>
              </a:rPr>
              <a:t>(PCS_SEED);</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for</a:t>
            </a:r>
            <a:r>
              <a:rPr sz="900" b="0" i="0" lang="ko-KR" altLang="en-US">
                <a:solidFill>
                  <a:srgbClr val="E3E8F2"/>
                </a:solidFill>
                <a:latin typeface="Consolas"/>
                <a:ea typeface="맑은 고딕"/>
                <a:cs typeface="Consolas"/>
              </a:rPr>
              <a:t> (nScan = 0; nScan &lt; nScanNum; nScan++)</a:t>
            </a:r>
          </a:p>
          <a:p>
            <a:pPr algn="l">
              <a:lnSpc>
                <a:spcPts val="1010"/>
              </a:lnSpc>
              <a:spcAft>
                <a:spcPts val="0"/>
              </a:spcAft>
            </a:pPr>
            <a:r>
              <a:rPr sz="900" b="0" i="0" lang="ko-KR" altLang="en-US">
                <a:solidFill>
                  <a:srgbClr val="E3E8F2"/>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st_In    = &amp;st_Sample[nScan];</a:t>
            </a:r>
          </a:p>
          <a:p>
            <a:pPr algn="l">
              <a:lnSpc>
                <a:spcPts val="1010"/>
              </a:lnSpc>
              <a:spcAft>
                <a:spcPts val="0"/>
              </a:spcAft>
            </a:pPr>
            <a:r>
              <a:rPr sz="900" b="0" i="0" lang="ko-KR" altLang="en-US">
                <a:solidFill>
                  <a:srgbClr val="E3E8F2"/>
                </a:solidFill>
                <a:latin typeface="Consolas"/>
                <a:ea typeface="맑은 고딕"/>
                <a:cs typeface="Consolas"/>
              </a:rPr>
              <a:t>    st_Radar = &amp;st_In-&gt;st_Platform;</a:t>
            </a:r>
          </a:p>
          <a:p>
            <a:pPr algn="l">
              <a:lnSpc>
                <a:spcPts val="1010"/>
              </a:lnSpc>
              <a:spcAft>
                <a:spcPts val="0"/>
              </a:spcAft>
            </a:pPr>
            <a:r>
              <a:rPr sz="900" b="0" i="0" lang="ko-KR" altLang="en-US">
                <a:solidFill>
                  <a:srgbClr val="E3E8F2"/>
                </a:solidFill>
                <a:latin typeface="Consolas"/>
                <a:ea typeface="맑은 고딕"/>
                <a:cs typeface="Consolas"/>
              </a:rPr>
              <a:t>    st_Out   = &amp;st_Scan[nScan];</a:t>
            </a:r>
          </a:p>
          <a:p>
            <a:pPr algn="l">
              <a:lnSpc>
                <a:spcPts val="1010"/>
              </a:lnSpc>
              <a:spcAft>
                <a:spcPts val="0"/>
              </a:spcAft>
            </a:pPr>
            <a:r>
              <a:rPr sz="900" b="0" i="0" lang="ko-KR" altLang="en-US">
                <a:solidFill>
                  <a:srgbClr val="8E9BB5"/>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for</a:t>
            </a:r>
            <a:r>
              <a:rPr sz="900" b="0" i="0" lang="ko-KR" altLang="en-US">
                <a:solidFill>
                  <a:srgbClr val="E3E8F2"/>
                </a:solidFill>
                <a:latin typeface="Consolas"/>
                <a:ea typeface="맑은 고딕"/>
                <a:cs typeface="Consolas"/>
              </a:rPr>
              <a:t> (nTarget = 0; nTarget &lt; st_In-&gt;nTargetNum; nTarget++)</a:t>
            </a:r>
          </a:p>
          <a:p>
            <a:pPr algn="l">
              <a:lnSpc>
                <a:spcPts val="1010"/>
              </a:lnSpc>
              <a:spcAft>
                <a:spcPts val="0"/>
              </a:spcAft>
            </a:pPr>
            <a:r>
              <a:rPr sz="900" b="0" i="0" lang="ko-KR" altLang="en-US">
                <a:solidFill>
                  <a:srgbClr val="E3E8F2"/>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7FB77E"/>
                </a:solidFill>
                <a:latin typeface="Consolas"/>
                <a:ea typeface="맑은 고딕"/>
                <a:cs typeface="Consolas"/>
              </a:rPr>
              <a:t>// 참값 x</a:t>
            </a:r>
          </a:p>
          <a:p>
            <a:pPr algn="l">
              <a:lnSpc>
                <a:spcPts val="1010"/>
              </a:lnSpc>
              <a:spcAft>
                <a:spcPts val="0"/>
              </a:spcAft>
            </a:pPr>
            <a:r>
              <a:rPr sz="900" b="0" i="0" lang="ko-KR" altLang="en-US">
                <a:solidFill>
                  <a:srgbClr val="E3E8F2"/>
                </a:solidFill>
                <a:latin typeface="Consolas"/>
                <a:ea typeface="맑은 고딕"/>
                <a:cs typeface="Consolas"/>
              </a:rPr>
              <a:t>      st_Out-&gt;st_True[nTarget] = </a:t>
            </a:r>
            <a:r>
              <a:rPr sz="900" b="0" i="0" lang="ko-KR" altLang="en-US">
                <a:solidFill>
                  <a:srgbClr val="F2C46D"/>
                </a:solidFill>
                <a:latin typeface="Consolas"/>
                <a:ea typeface="맑은 고딕"/>
                <a:cs typeface="Consolas"/>
              </a:rPr>
              <a:t>f_Pcs_EcefToSph</a:t>
            </a:r>
            <a:r>
              <a:rPr sz="900" b="0" i="0" lang="ko-KR" altLang="en-US">
                <a:solidFill>
                  <a:srgbClr val="E3E8F2"/>
                </a:solidFill>
                <a:latin typeface="Consolas"/>
                <a:ea typeface="맑은 고딕"/>
                <a:cs typeface="Consolas"/>
              </a:rPr>
              <a:t>(&amp;st_In-&gt;st_Target[nTarget].st_PosEcef, st_Radar);</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7FB77E"/>
                </a:solidFill>
                <a:latin typeface="Consolas"/>
                <a:ea typeface="맑은 고딕"/>
                <a:cs typeface="Consolas"/>
              </a:rPr>
              <a:t>// 플롯 z = x + v, v ~ N(0, p^2)</a:t>
            </a:r>
          </a:p>
          <a:p>
            <a:pPr algn="l">
              <a:lnSpc>
                <a:spcPts val="1010"/>
              </a:lnSpc>
              <a:spcAft>
                <a:spcPts val="0"/>
              </a:spcAft>
            </a:pPr>
            <a:r>
              <a:rPr sz="900" b="0" i="0" lang="ko-KR" altLang="en-US">
                <a:solidFill>
                  <a:srgbClr val="E3E8F2"/>
                </a:solidFill>
                <a:latin typeface="Consolas"/>
                <a:ea typeface="맑은 고딕"/>
                <a:cs typeface="Consolas"/>
              </a:rPr>
              <a:t>      st_Out-&gt;st_Plot[nTarget].r  = st_Out-&gt;st_True[nTarget].r + </a:t>
            </a:r>
            <a:r>
              <a:rPr sz="900" b="0" i="0" lang="ko-KR" altLang="en-US">
                <a:solidFill>
                  <a:srgbClr val="F2C46D"/>
                </a:solidFill>
                <a:latin typeface="Consolas"/>
                <a:ea typeface="맑은 고딕"/>
                <a:cs typeface="Consolas"/>
              </a:rPr>
              <a:t>GAUSS</a:t>
            </a:r>
            <a:r>
              <a:rPr sz="900" b="0" i="0" lang="ko-KR" altLang="en-US">
                <a:solidFill>
                  <a:srgbClr val="E3E8F2"/>
                </a:solidFill>
                <a:latin typeface="Consolas"/>
                <a:ea typeface="맑은 고딕"/>
                <a:cs typeface="Consolas"/>
              </a:rPr>
              <a:t>(0.0, st_Sigma.r);</a:t>
            </a:r>
          </a:p>
          <a:p>
            <a:pPr algn="l">
              <a:lnSpc>
                <a:spcPts val="1010"/>
              </a:lnSpc>
              <a:spcAft>
                <a:spcPts val="0"/>
              </a:spcAft>
            </a:pPr>
            <a:r>
              <a:rPr sz="900" b="0" i="0" lang="ko-KR" altLang="en-US">
                <a:solidFill>
                  <a:srgbClr val="E3E8F2"/>
                </a:solidFill>
                <a:latin typeface="Consolas"/>
                <a:ea typeface="맑은 고딕"/>
                <a:cs typeface="Consolas"/>
              </a:rPr>
              <a:t>      st_Out-&gt;st_Plot[nTarget].az = st_Out-&gt;st_True[nTarget].az + </a:t>
            </a:r>
            <a:r>
              <a:rPr sz="900" b="0" i="0" lang="ko-KR" altLang="en-US">
                <a:solidFill>
                  <a:srgbClr val="F2C46D"/>
                </a:solidFill>
                <a:latin typeface="Consolas"/>
                <a:ea typeface="맑은 고딕"/>
                <a:cs typeface="Consolas"/>
              </a:rPr>
              <a:t>GAUSS</a:t>
            </a:r>
            <a:r>
              <a:rPr sz="900" b="0" i="0" lang="ko-KR" altLang="en-US">
                <a:solidFill>
                  <a:srgbClr val="E3E8F2"/>
                </a:solidFill>
                <a:latin typeface="Consolas"/>
                <a:ea typeface="맑은 고딕"/>
                <a:cs typeface="Consolas"/>
              </a:rPr>
              <a:t>(0.0, st_Sigma.az);</a:t>
            </a:r>
          </a:p>
          <a:p>
            <a:pPr algn="l">
              <a:lnSpc>
                <a:spcPts val="1010"/>
              </a:lnSpc>
              <a:spcAft>
                <a:spcPts val="0"/>
              </a:spcAft>
            </a:pPr>
            <a:r>
              <a:rPr sz="900" b="0" i="0" lang="ko-KR" altLang="en-US">
                <a:solidFill>
                  <a:srgbClr val="E3E8F2"/>
                </a:solidFill>
                <a:latin typeface="Consolas"/>
                <a:ea typeface="맑은 고딕"/>
                <a:cs typeface="Consolas"/>
              </a:rPr>
              <a:t>      st_Out-&gt;st_Plot[nTarget].el = st_Out-&gt;st_True[nTarget].el + </a:t>
            </a:r>
            <a:r>
              <a:rPr sz="900" b="0" i="0" lang="ko-KR" altLang="en-US">
                <a:solidFill>
                  <a:srgbClr val="F2C46D"/>
                </a:solidFill>
                <a:latin typeface="Consolas"/>
                <a:ea typeface="맑은 고딕"/>
                <a:cs typeface="Consolas"/>
              </a:rPr>
              <a:t>GAUSS</a:t>
            </a:r>
            <a:r>
              <a:rPr sz="900" b="0" i="0" lang="ko-KR" altLang="en-US">
                <a:solidFill>
                  <a:srgbClr val="E3E8F2"/>
                </a:solidFill>
                <a:latin typeface="Consolas"/>
                <a:ea typeface="맑은 고딕"/>
                <a:cs typeface="Consolas"/>
              </a:rPr>
              <a:t>(0.0, st_Sigma.el);</a:t>
            </a:r>
          </a:p>
          <a:p>
            <a:pPr algn="l">
              <a:lnSpc>
                <a:spcPts val="1010"/>
              </a:lnSpc>
              <a:spcAft>
                <a:spcPts val="0"/>
              </a:spcAft>
            </a:pPr>
            <a:r>
              <a:rPr sz="900" b="0" i="0" lang="ko-KR" altLang="en-US">
                <a:solidFill>
                  <a:srgbClr val="E3E8F2"/>
                </a:solidFill>
                <a:latin typeface="Consolas"/>
                <a:ea typeface="맑은 고딕"/>
                <a:cs typeface="Consolas"/>
              </a:rPr>
              <a:t>      st_Out-&gt;st_PlotLla[nTarget] = </a:t>
            </a:r>
            <a:r>
              <a:rPr sz="900" b="0" i="0" lang="ko-KR" altLang="en-US">
                <a:solidFill>
                  <a:srgbClr val="F2C46D"/>
                </a:solidFill>
                <a:latin typeface="Consolas"/>
                <a:ea typeface="맑은 고딕"/>
                <a:cs typeface="Consolas"/>
              </a:rPr>
              <a:t>f_Pcs_SphToLla</a:t>
            </a:r>
            <a:r>
              <a:rPr sz="900" b="0" i="0" lang="ko-KR" altLang="en-US">
                <a:solidFill>
                  <a:srgbClr val="E3E8F2"/>
                </a:solidFill>
                <a:latin typeface="Consolas"/>
                <a:ea typeface="맑은 고딕"/>
                <a:cs typeface="Consolas"/>
              </a:rPr>
              <a:t>(&amp;st_Out-&gt;st_Plot[nTarget], st_Radar);</a:t>
            </a:r>
          </a:p>
          <a:p>
            <a:pPr algn="l">
              <a:lnSpc>
                <a:spcPts val="1010"/>
              </a:lnSpc>
              <a:spcAft>
                <a:spcPts val="0"/>
              </a:spcAft>
            </a:pPr>
            <a:r>
              <a:rPr sz="900" b="0" i="0" lang="ko-KR" altLang="en-US">
                <a:solidFill>
                  <a:srgbClr val="E3E8F2"/>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7FB77E"/>
                </a:solidFill>
                <a:latin typeface="Consolas"/>
                <a:ea typeface="맑은 고딕"/>
                <a:cs typeface="Consolas"/>
              </a:rPr>
              <a:t>// 클러터: FOV 안 균등분포, 매 스캔 새로 뽑음</a:t>
            </a:r>
          </a:p>
          <a:p>
            <a:pPr algn="l">
              <a:lnSpc>
                <a:spcPts val="1010"/>
              </a:lnSpc>
              <a:spcAft>
                <a:spcPts val="0"/>
              </a:spcAft>
            </a:pPr>
            <a:r>
              <a:rPr sz="900" b="0" i="0" lang="ko-KR" altLang="en-US">
                <a:solidFill>
                  <a:srgbClr val="E3E8F2"/>
                </a:solidFill>
                <a:latin typeface="Consolas"/>
                <a:ea typeface="맑은 고딕"/>
                <a:cs typeface="Consolas"/>
              </a:rPr>
              <a:t>    st_Out-&gt;nClutterNum = nClutterNum;</a:t>
            </a:r>
          </a:p>
          <a:p>
            <a:pPr algn="l">
              <a:lnSpc>
                <a:spcPts val="101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for</a:t>
            </a:r>
            <a:r>
              <a:rPr sz="900" b="0" i="0" lang="ko-KR" altLang="en-US">
                <a:solidFill>
                  <a:srgbClr val="E3E8F2"/>
                </a:solidFill>
                <a:latin typeface="Consolas"/>
                <a:ea typeface="맑은 고딕"/>
                <a:cs typeface="Consolas"/>
              </a:rPr>
              <a:t> (nClutter = 0; nClutter &lt; nClutterNum; nClutter++)</a:t>
            </a:r>
          </a:p>
          <a:p>
            <a:pPr algn="l">
              <a:lnSpc>
                <a:spcPts val="1010"/>
              </a:lnSpc>
              <a:spcAft>
                <a:spcPts val="0"/>
              </a:spcAft>
            </a:pPr>
            <a:r>
              <a:rPr sz="900" b="0" i="0" lang="ko-KR" altLang="en-US">
                <a:solidFill>
                  <a:srgbClr val="E3E8F2"/>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st_Clutter     = &amp;st_Out-&gt;st_Clutter[nClutter];</a:t>
            </a:r>
          </a:p>
          <a:p>
            <a:pPr algn="l">
              <a:lnSpc>
                <a:spcPts val="1010"/>
              </a:lnSpc>
              <a:spcAft>
                <a:spcPts val="0"/>
              </a:spcAft>
            </a:pPr>
            <a:r>
              <a:rPr sz="900" b="0" i="0" lang="ko-KR" altLang="en-US">
                <a:solidFill>
                  <a:srgbClr val="E3E8F2"/>
                </a:solidFill>
                <a:latin typeface="Consolas"/>
                <a:ea typeface="맑은 고딕"/>
                <a:cs typeface="Consolas"/>
              </a:rPr>
              <a:t>      st_Clutter-&gt;r  = PCS_CLT_RNG_MIN + ((PCS_CLT_RNG_MAX - PCS_CLT_RNG_MIN) * </a:t>
            </a:r>
            <a:r>
              <a:rPr sz="900" b="0" i="0" lang="ko-KR" altLang="en-US">
                <a:solidFill>
                  <a:srgbClr val="F2C46D"/>
                </a:solidFill>
                <a:latin typeface="Consolas"/>
                <a:ea typeface="맑은 고딕"/>
                <a:cs typeface="Consolas"/>
              </a:rPr>
              <a:t>UNIRAN</a:t>
            </a:r>
            <a:r>
              <a:rPr sz="900" b="0" i="0" lang="ko-KR" altLang="en-US">
                <a:solidFill>
                  <a:srgbClr val="E3E8F2"/>
                </a:solidFill>
                <a:latin typeface="Consolas"/>
                <a:ea typeface="맑은 고딕"/>
                <a:cs typeface="Consolas"/>
              </a:rPr>
              <a:t>());</a:t>
            </a:r>
          </a:p>
          <a:p>
            <a:pPr algn="l">
              <a:lnSpc>
                <a:spcPts val="1010"/>
              </a:lnSpc>
              <a:spcAft>
                <a:spcPts val="0"/>
              </a:spcAft>
            </a:pPr>
            <a:r>
              <a:rPr sz="900" b="0" i="0" lang="ko-KR" altLang="en-US">
                <a:solidFill>
                  <a:srgbClr val="E3E8F2"/>
                </a:solidFill>
                <a:latin typeface="Consolas"/>
                <a:ea typeface="맑은 고딕"/>
                <a:cs typeface="Consolas"/>
              </a:rPr>
              <a:t>      st_Clutter-&gt;az = f_Deg_To_Rad(PCS_CLT_AZI_MIN + ((PCS_CLT_AZI_MAX - PCS_CLT_AZI_MIN) * </a:t>
            </a:r>
            <a:r>
              <a:rPr sz="900" b="0" i="0" lang="ko-KR" altLang="en-US">
                <a:solidFill>
                  <a:srgbClr val="F2C46D"/>
                </a:solidFill>
                <a:latin typeface="Consolas"/>
                <a:ea typeface="맑은 고딕"/>
                <a:cs typeface="Consolas"/>
              </a:rPr>
              <a:t>UNIRAN</a:t>
            </a:r>
            <a:r>
              <a:rPr sz="900" b="0" i="0" lang="ko-KR" altLang="en-US">
                <a:solidFill>
                  <a:srgbClr val="E3E8F2"/>
                </a:solidFill>
                <a:latin typeface="Consolas"/>
                <a:ea typeface="맑은 고딕"/>
                <a:cs typeface="Consolas"/>
              </a:rPr>
              <a:t>()));</a:t>
            </a:r>
          </a:p>
          <a:p>
            <a:pPr algn="l">
              <a:lnSpc>
                <a:spcPts val="1010"/>
              </a:lnSpc>
              <a:spcAft>
                <a:spcPts val="0"/>
              </a:spcAft>
            </a:pPr>
            <a:r>
              <a:rPr sz="900" b="0" i="0" lang="ko-KR" altLang="en-US">
                <a:solidFill>
                  <a:srgbClr val="E3E8F2"/>
                </a:solidFill>
                <a:latin typeface="Consolas"/>
                <a:ea typeface="맑은 고딕"/>
                <a:cs typeface="Consolas"/>
              </a:rPr>
              <a:t>      st_Clutter-&gt;el = f_Deg_To_Rad(PCS_CLT_ELE_MIN + ((PCS_CLT_ELE_MAX - PCS_CLT_ELE_MIN) * </a:t>
            </a:r>
            <a:r>
              <a:rPr sz="900" b="0" i="0" lang="ko-KR" altLang="en-US">
                <a:solidFill>
                  <a:srgbClr val="F2C46D"/>
                </a:solidFill>
                <a:latin typeface="Consolas"/>
                <a:ea typeface="맑은 고딕"/>
                <a:cs typeface="Consolas"/>
              </a:rPr>
              <a:t>UNIRAN</a:t>
            </a:r>
            <a:r>
              <a:rPr sz="900" b="0" i="0" lang="ko-KR" altLang="en-US">
                <a:solidFill>
                  <a:srgbClr val="E3E8F2"/>
                </a:solidFill>
                <a:latin typeface="Consolas"/>
                <a:ea typeface="맑은 고딕"/>
                <a:cs typeface="Consolas"/>
              </a:rPr>
              <a:t>()));</a:t>
            </a:r>
          </a:p>
          <a:p>
            <a:pPr algn="l">
              <a:lnSpc>
                <a:spcPts val="1010"/>
              </a:lnSpc>
              <a:spcAft>
                <a:spcPts val="0"/>
              </a:spcAft>
            </a:pPr>
            <a:r>
              <a:rPr sz="900" b="0" i="0" lang="ko-KR" altLang="en-US">
                <a:solidFill>
                  <a:srgbClr val="E3E8F2"/>
                </a:solidFill>
                <a:latin typeface="Consolas"/>
                <a:ea typeface="맑은 고딕"/>
                <a:cs typeface="Consolas"/>
              </a:rPr>
              <a:t>      st_Out-&gt;st_ClutterLla[nClutter] = </a:t>
            </a:r>
            <a:r>
              <a:rPr sz="900" b="0" i="0" lang="ko-KR" altLang="en-US">
                <a:solidFill>
                  <a:srgbClr val="F2C46D"/>
                </a:solidFill>
                <a:latin typeface="Consolas"/>
                <a:ea typeface="맑은 고딕"/>
                <a:cs typeface="Consolas"/>
              </a:rPr>
              <a:t>f_Pcs_SphToLla</a:t>
            </a:r>
            <a:r>
              <a:rPr sz="900" b="0" i="0" lang="ko-KR" altLang="en-US">
                <a:solidFill>
                  <a:srgbClr val="E3E8F2"/>
                </a:solidFill>
                <a:latin typeface="Consolas"/>
                <a:ea typeface="맑은 고딕"/>
                <a:cs typeface="Consolas"/>
              </a:rPr>
              <a:t>(st_Clutter, st_Radar);</a:t>
            </a:r>
          </a:p>
          <a:p>
            <a:pPr algn="l">
              <a:lnSpc>
                <a:spcPts val="1010"/>
              </a:lnSpc>
              <a:spcAft>
                <a:spcPts val="0"/>
              </a:spcAft>
            </a:pPr>
            <a:r>
              <a:rPr sz="900" b="0" i="0" lang="ko-KR" altLang="en-US">
                <a:solidFill>
                  <a:srgbClr val="E3E8F2"/>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  }</a:t>
            </a:r>
          </a:p>
          <a:p>
            <a:pPr algn="l">
              <a:lnSpc>
                <a:spcPts val="1010"/>
              </a:lnSpc>
              <a:spcAft>
                <a:spcPts val="0"/>
              </a:spcAft>
            </a:pPr>
            <a:r>
              <a:rPr sz="900" b="0" i="0" lang="ko-KR" altLang="en-US">
                <a:solidFill>
                  <a:srgbClr val="E3E8F2"/>
                </a:solidFill>
                <a:latin typeface="Consolas"/>
                <a:ea typeface="맑은 고딕"/>
                <a:cs typeface="Consolas"/>
              </a:rPr>
              <a:t>}</a:t>
            </a:r>
          </a:p>
        </p:txBody>
      </p:sp>
      <p:cxnSp>
        <p:nvCxnSpPr>
          <p:cNvPr id="9" name="Connector 8"/>
          <p:cNvCxnSpPr/>
          <p:nvPr/>
        </p:nvCxnSpPr>
        <p:spPr>
          <a:xfrm>
            <a:off x="813815" y="2282444"/>
            <a:ext cx="0" cy="25654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13815" y="2538984"/>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04087" y="2172716"/>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7" y="2172716"/>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1</a:t>
            </a:r>
          </a:p>
        </p:txBody>
      </p:sp>
      <p:cxnSp>
        <p:nvCxnSpPr>
          <p:cNvPr id="13" name="Connector 12"/>
          <p:cNvCxnSpPr/>
          <p:nvPr/>
        </p:nvCxnSpPr>
        <p:spPr>
          <a:xfrm>
            <a:off x="813815" y="2923794"/>
            <a:ext cx="0" cy="25654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13815" y="3180334"/>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04087" y="2814065"/>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7" y="2814065"/>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2</a:t>
            </a:r>
          </a:p>
        </p:txBody>
      </p:sp>
      <p:sp>
        <p:nvSpPr>
          <p:cNvPr id="17" name="Oval 16"/>
          <p:cNvSpPr/>
          <p:nvPr/>
        </p:nvSpPr>
        <p:spPr>
          <a:xfrm>
            <a:off x="704087" y="3711955"/>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7" y="3711955"/>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3</a:t>
            </a:r>
          </a:p>
        </p:txBody>
      </p:sp>
      <p:cxnSp>
        <p:nvCxnSpPr>
          <p:cNvPr id="19" name="Connector 18"/>
          <p:cNvCxnSpPr/>
          <p:nvPr/>
        </p:nvCxnSpPr>
        <p:spPr>
          <a:xfrm>
            <a:off x="813815" y="4078224"/>
            <a:ext cx="0" cy="38481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13815" y="4463034"/>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4087" y="3968496"/>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7" y="3968496"/>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4</a:t>
            </a:r>
          </a:p>
        </p:txBody>
      </p:sp>
      <p:cxnSp>
        <p:nvCxnSpPr>
          <p:cNvPr id="23" name="Connector 22"/>
          <p:cNvCxnSpPr/>
          <p:nvPr/>
        </p:nvCxnSpPr>
        <p:spPr>
          <a:xfrm>
            <a:off x="813815" y="5360924"/>
            <a:ext cx="0" cy="38481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13815" y="5745734"/>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04087" y="5251196"/>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7" y="5251196"/>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5</a:t>
            </a:r>
          </a:p>
        </p:txBody>
      </p:sp>
      <p:sp>
        <p:nvSpPr>
          <p:cNvPr id="27" name="Oval 26"/>
          <p:cNvSpPr/>
          <p:nvPr/>
        </p:nvSpPr>
        <p:spPr>
          <a:xfrm>
            <a:off x="8567928" y="1984248"/>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1984248"/>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1</a:t>
            </a:r>
          </a:p>
        </p:txBody>
      </p:sp>
      <p:sp>
        <p:nvSpPr>
          <p:cNvPr id="29" name="TextBox 28"/>
          <p:cNvSpPr txBox="1"/>
          <p:nvPr/>
        </p:nvSpPr>
        <p:spPr>
          <a:xfrm>
            <a:off x="8915400" y="1965960"/>
            <a:ext cx="26334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p 계산, seed 맞춤</a:t>
            </a:r>
          </a:p>
        </p:txBody>
      </p:sp>
      <p:sp>
        <p:nvSpPr>
          <p:cNvPr id="30" name="TextBox 29"/>
          <p:cNvSpPr txBox="1"/>
          <p:nvPr/>
        </p:nvSpPr>
        <p:spPr>
          <a:xfrm>
            <a:off x="8915400" y="2249424"/>
            <a:ext cx="2633472" cy="484632"/>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f_Pcs_CalcSigma 로 p (4.3).</a:t>
            </a:r>
          </a:p>
          <a:p>
            <a:pPr algn="l">
              <a:lnSpc>
                <a:spcPct val="112000"/>
              </a:lnSpc>
              <a:spcAft>
                <a:spcPts val="0"/>
              </a:spcAft>
            </a:pPr>
            <a:r>
              <a:rPr sz="1050" b="0" i="0" lang="ko-KR" altLang="en-US">
                <a:solidFill>
                  <a:srgbClr val="4A5A7A"/>
                </a:solidFill>
                <a:latin typeface="맑은 고딕"/>
                <a:ea typeface="맑은 고딕"/>
                <a:cs typeface="맑은 고딕"/>
              </a:rPr>
              <a:t>seed 를 12345 로 맞춰 늘 같은 결과</a:t>
            </a:r>
          </a:p>
        </p:txBody>
      </p:sp>
      <p:sp>
        <p:nvSpPr>
          <p:cNvPr id="31" name="Oval 30"/>
          <p:cNvSpPr/>
          <p:nvPr/>
        </p:nvSpPr>
        <p:spPr>
          <a:xfrm>
            <a:off x="8567928" y="2770632"/>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67928" y="2770632"/>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2</a:t>
            </a:r>
          </a:p>
        </p:txBody>
      </p:sp>
      <p:sp>
        <p:nvSpPr>
          <p:cNvPr id="33" name="TextBox 32"/>
          <p:cNvSpPr txBox="1"/>
          <p:nvPr/>
        </p:nvSpPr>
        <p:spPr>
          <a:xfrm>
            <a:off x="8915400" y="2752344"/>
            <a:ext cx="26334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스캔 = 과제 3 표본</a:t>
            </a:r>
          </a:p>
        </p:txBody>
      </p:sp>
      <p:sp>
        <p:nvSpPr>
          <p:cNvPr id="34" name="TextBox 33"/>
          <p:cNvSpPr txBox="1"/>
          <p:nvPr/>
        </p:nvSpPr>
        <p:spPr>
          <a:xfrm>
            <a:off x="8915400" y="3035808"/>
            <a:ext cx="2633472" cy="484632"/>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0.1 s 마다 하나, 600개.</a:t>
            </a:r>
          </a:p>
          <a:p>
            <a:pPr algn="l">
              <a:lnSpc>
                <a:spcPct val="112000"/>
              </a:lnSpc>
              <a:spcAft>
                <a:spcPts val="0"/>
              </a:spcAft>
            </a:pPr>
            <a:r>
              <a:rPr sz="1050" b="0" i="0" lang="ko-KR" altLang="en-US">
                <a:solidFill>
                  <a:srgbClr val="4A5A7A"/>
                </a:solidFill>
                <a:latin typeface="맑은 고딕"/>
                <a:ea typeface="맑은 고딕"/>
                <a:cs typeface="맑은 고딕"/>
              </a:rPr>
              <a:t>레이다 = 그 시각의 플랫폼 위치 · 자세</a:t>
            </a:r>
          </a:p>
        </p:txBody>
      </p:sp>
      <p:sp>
        <p:nvSpPr>
          <p:cNvPr id="35" name="Oval 34"/>
          <p:cNvSpPr/>
          <p:nvPr/>
        </p:nvSpPr>
        <p:spPr>
          <a:xfrm>
            <a:off x="8567928" y="3557015"/>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67928" y="3557015"/>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3</a:t>
            </a:r>
          </a:p>
        </p:txBody>
      </p:sp>
      <p:sp>
        <p:nvSpPr>
          <p:cNvPr id="37" name="TextBox 36"/>
          <p:cNvSpPr txBox="1"/>
          <p:nvPr/>
        </p:nvSpPr>
        <p:spPr>
          <a:xfrm>
            <a:off x="8915400" y="3538727"/>
            <a:ext cx="26334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참값 x</a:t>
            </a:r>
          </a:p>
        </p:txBody>
      </p:sp>
      <p:sp>
        <p:nvSpPr>
          <p:cNvPr id="38" name="TextBox 37"/>
          <p:cNvSpPr txBox="1"/>
          <p:nvPr/>
        </p:nvSpPr>
        <p:spPr>
          <a:xfrm>
            <a:off x="8915400" y="3822191"/>
            <a:ext cx="2633472" cy="484632"/>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f_Pcs_EcefToSph: 표적 ECEF 위치 → 레이다 기준 거리 · 방위각 · 고각 (4.5)</a:t>
            </a:r>
          </a:p>
        </p:txBody>
      </p:sp>
      <p:sp>
        <p:nvSpPr>
          <p:cNvPr id="39" name="Oval 38"/>
          <p:cNvSpPr/>
          <p:nvPr/>
        </p:nvSpPr>
        <p:spPr>
          <a:xfrm>
            <a:off x="8567928" y="4343399"/>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67928" y="4343399"/>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4</a:t>
            </a:r>
          </a:p>
        </p:txBody>
      </p:sp>
      <p:sp>
        <p:nvSpPr>
          <p:cNvPr id="41" name="TextBox 40"/>
          <p:cNvSpPr txBox="1"/>
          <p:nvPr/>
        </p:nvSpPr>
        <p:spPr>
          <a:xfrm>
            <a:off x="8915400" y="4325112"/>
            <a:ext cx="26334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플롯 z = x + v</a:t>
            </a:r>
          </a:p>
        </p:txBody>
      </p:sp>
      <p:sp>
        <p:nvSpPr>
          <p:cNvPr id="42" name="TextBox 41"/>
          <p:cNvSpPr txBox="1"/>
          <p:nvPr/>
        </p:nvSpPr>
        <p:spPr>
          <a:xfrm>
            <a:off x="8915400" y="4608575"/>
            <a:ext cx="2633472" cy="484632"/>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성분마다 GAUSS(0, p) 를 더함.</a:t>
            </a:r>
          </a:p>
          <a:p>
            <a:pPr algn="l">
              <a:lnSpc>
                <a:spcPct val="112000"/>
              </a:lnSpc>
              <a:spcAft>
                <a:spcPts val="0"/>
              </a:spcAft>
            </a:pPr>
            <a:r>
              <a:rPr sz="1050" b="0" i="0" lang="ko-KR" altLang="en-US">
                <a:solidFill>
                  <a:srgbClr val="4A5A7A"/>
                </a:solidFill>
                <a:latin typeface="맑은 고딕"/>
                <a:ea typeface="맑은 고딕"/>
                <a:cs typeface="맑은 고딕"/>
              </a:rPr>
              <a:t>지도용 위경도도 저장 (4.5)</a:t>
            </a:r>
          </a:p>
        </p:txBody>
      </p:sp>
      <p:sp>
        <p:nvSpPr>
          <p:cNvPr id="43" name="Oval 42"/>
          <p:cNvSpPr/>
          <p:nvPr/>
        </p:nvSpPr>
        <p:spPr>
          <a:xfrm>
            <a:off x="8567928" y="5129783"/>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67928" y="5129783"/>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5</a:t>
            </a:r>
          </a:p>
        </p:txBody>
      </p:sp>
      <p:sp>
        <p:nvSpPr>
          <p:cNvPr id="45" name="TextBox 44"/>
          <p:cNvSpPr txBox="1"/>
          <p:nvPr/>
        </p:nvSpPr>
        <p:spPr>
          <a:xfrm>
            <a:off x="8915400" y="5111496"/>
            <a:ext cx="26334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클러터</a:t>
            </a:r>
          </a:p>
        </p:txBody>
      </p:sp>
      <p:sp>
        <p:nvSpPr>
          <p:cNvPr id="46" name="TextBox 45"/>
          <p:cNvSpPr txBox="1"/>
          <p:nvPr/>
        </p:nvSpPr>
        <p:spPr>
          <a:xfrm>
            <a:off x="8915400" y="5394959"/>
            <a:ext cx="2633472" cy="484632"/>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FOV 최솟값 + 범위 × UNIRAN.</a:t>
            </a:r>
          </a:p>
          <a:p>
            <a:pPr algn="l">
              <a:lnSpc>
                <a:spcPct val="112000"/>
              </a:lnSpc>
              <a:spcAft>
                <a:spcPts val="0"/>
              </a:spcAft>
            </a:pPr>
            <a:r>
              <a:rPr sz="1050" b="0" i="0" lang="ko-KR" altLang="en-US">
                <a:solidFill>
                  <a:srgbClr val="4A5A7A"/>
                </a:solidFill>
                <a:latin typeface="맑은 고딕"/>
                <a:ea typeface="맑은 고딕"/>
                <a:cs typeface="맑은 고딕"/>
              </a:rPr>
              <a:t>스캔마다 N개 (기본 5) 를 새로 뽑음</a:t>
            </a:r>
          </a:p>
        </p:txBody>
      </p:sp>
      <p:sp>
        <p:nvSpPr>
          <p:cNvPr id="47" name="TextBox 46"/>
          <p:cNvSpPr txBox="1"/>
          <p:nvPr/>
        </p:nvSpPr>
        <p:spPr>
          <a:xfrm>
            <a:off x="8567928" y="5916168"/>
            <a:ext cx="2980944" cy="457200"/>
          </a:xfrm>
          <a:prstGeom prst="rect">
            <a:avLst/>
          </a:prstGeom>
          <a:noFill/>
        </p:spPr>
        <p:txBody>
          <a:bodyPr wrap="square" anchor="t" lIns="0" tIns="0" rIns="0" bIns="0">
            <a:noAutofit/>
          </a:bodyPr>
          <a:lstStyle/>
          <a:p>
            <a:pPr algn="l">
              <a:lnSpc>
                <a:spcPct val="112000"/>
              </a:lnSpc>
              <a:spcAft>
                <a:spcPts val="0"/>
              </a:spcAft>
            </a:pPr>
            <a:r>
              <a:rPr sz="1000" b="1" i="0" lang="ko-KR" altLang="en-US">
                <a:solidFill>
                  <a:srgbClr val="1B2740"/>
                </a:solidFill>
                <a:latin typeface="맑은 고딕"/>
                <a:ea typeface="맑은 고딕"/>
                <a:cs typeface="맑은 고딕"/>
              </a:rPr>
              <a:t>난수 순서</a:t>
            </a:r>
            <a:r>
              <a:rPr sz="1000" b="0" i="0" lang="ko-KR" altLang="en-US">
                <a:solidFill>
                  <a:srgbClr val="4A5A7A"/>
                </a:solidFill>
                <a:latin typeface="맑은 고딕"/>
                <a:ea typeface="맑은 고딕"/>
                <a:cs typeface="맑은 고딕"/>
              </a:rPr>
              <a:t>  스캔마다 표적 1 ~ N 의 거리 · 방위각 · 고각, 그다음 클러터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04. 구현과 핵심 코드</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4.5 좌표 변환은 참고 소스의 변환 함수를 차례로 부릅니다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14</a:t>
            </a:r>
          </a:p>
        </p:txBody>
      </p:sp>
      <p:sp>
        <p:nvSpPr>
          <p:cNvPr id="7" name="Rectangle 6"/>
          <p:cNvSpPr/>
          <p:nvPr/>
        </p:nvSpPr>
        <p:spPr>
          <a:xfrm>
            <a:off x="640080" y="1965960"/>
            <a:ext cx="6492240" cy="210312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39619"/>
            <a:ext cx="6309359" cy="1974088"/>
          </a:xfrm>
          <a:prstGeom prst="rect">
            <a:avLst/>
          </a:prstGeom>
          <a:noFill/>
        </p:spPr>
        <p:txBody>
          <a:bodyPr wrap="none" anchor="t" lIns="0" tIns="0" rIns="0" bIns="0">
            <a:noAutofit/>
          </a:bodyPr>
          <a:lstStyle/>
          <a:p>
            <a:pPr algn="l">
              <a:lnSpc>
                <a:spcPts val="1100"/>
              </a:lnSpc>
              <a:spcAft>
                <a:spcPts val="0"/>
              </a:spcAft>
            </a:pPr>
            <a:r>
              <a:rPr sz="950" b="0" i="0" lang="ko-KR" altLang="en-US">
                <a:solidFill>
                  <a:srgbClr val="7FB77E"/>
                </a:solidFill>
                <a:latin typeface="Consolas"/>
                <a:ea typeface="맑은 고딕"/>
                <a:cs typeface="Consolas"/>
              </a:rPr>
              <a:t>// ECEF -&gt; NED -&gt; 동체 -&gt; 안테나 -&gt; 구좌표.</a:t>
            </a:r>
          </a:p>
          <a:p>
            <a:pPr algn="l">
              <a:lnSpc>
                <a:spcPts val="1100"/>
              </a:lnSpc>
              <a:spcAft>
                <a:spcPts val="0"/>
              </a:spcAft>
            </a:pPr>
            <a:r>
              <a:rPr sz="950" b="0" i="0" lang="ko-KR" altLang="en-US">
                <a:solidFill>
                  <a:srgbClr val="8FB4FF"/>
                </a:solidFill>
                <a:latin typeface="Consolas"/>
                <a:ea typeface="맑은 고딕"/>
                <a:cs typeface="Consolas"/>
              </a:rPr>
              <a:t>static</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STRUCT_Coord_Sph</a:t>
            </a:r>
            <a:r>
              <a:rPr sz="950" b="0" i="0" lang="ko-KR" altLang="en-US">
                <a:solidFill>
                  <a:srgbClr val="E3E8F2"/>
                </a:solidFill>
                <a:latin typeface="Consolas"/>
                <a:ea typeface="맑은 고딕"/>
                <a:cs typeface="Consolas"/>
              </a:rPr>
              <a:t> </a:t>
            </a:r>
            <a:r>
              <a:rPr sz="950" b="0" i="0" lang="ko-KR" altLang="en-US">
                <a:solidFill>
                  <a:srgbClr val="F2C46D"/>
                </a:solidFill>
                <a:latin typeface="Consolas"/>
                <a:ea typeface="맑은 고딕"/>
                <a:cs typeface="Consolas"/>
              </a:rPr>
              <a:t>f_Pcs_EcefToSph</a:t>
            </a:r>
            <a:r>
              <a:rPr sz="950" b="0" i="0" lang="ko-KR" altLang="en-US">
                <a:solidFill>
                  <a:srgbClr val="E3E8F2"/>
                </a:solidFill>
                <a:latin typeface="Consolas"/>
                <a:ea typeface="맑은 고딕"/>
                <a:cs typeface="Consolas"/>
              </a:rPr>
              <a:t>(</a:t>
            </a:r>
            <a:r>
              <a:rPr sz="950" b="0" i="0" lang="ko-KR" altLang="en-US">
                <a:solidFill>
                  <a:srgbClr val="8FB4FF"/>
                </a:solidFill>
                <a:latin typeface="Consolas"/>
                <a:ea typeface="맑은 고딕"/>
                <a:cs typeface="Consolas"/>
              </a:rPr>
              <a:t>const</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STRUCT_Coord_Rect</a:t>
            </a:r>
            <a:r>
              <a:rPr sz="950" b="0" i="0" lang="ko-KR" altLang="en-US">
                <a:solidFill>
                  <a:srgbClr val="E3E8F2"/>
                </a:solidFill>
                <a:latin typeface="Consolas"/>
                <a:ea typeface="맑은 고딕"/>
                <a:cs typeface="Consolas"/>
              </a:rPr>
              <a:t> *st_Ecef,</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const</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ST_TargetState</a:t>
            </a:r>
            <a:r>
              <a:rPr sz="950" b="0" i="0" lang="ko-KR" altLang="en-US">
                <a:solidFill>
                  <a:srgbClr val="E3E8F2"/>
                </a:solidFill>
                <a:latin typeface="Consolas"/>
                <a:ea typeface="맑은 고딕"/>
                <a:cs typeface="Consolas"/>
              </a:rPr>
              <a:t> *st_Radar)</a:t>
            </a:r>
          </a:p>
          <a:p>
            <a:pPr algn="l">
              <a:lnSpc>
                <a:spcPts val="1100"/>
              </a:lnSpc>
              <a:spcAft>
                <a:spcPts val="0"/>
              </a:spcAft>
            </a:pPr>
            <a:r>
              <a:rPr sz="950" b="0" i="0" lang="ko-KR" altLang="en-US">
                <a:solidFill>
                  <a:srgbClr val="E3E8F2"/>
                </a:solidFill>
                <a:latin typeface="Consolas"/>
                <a:ea typeface="맑은 고딕"/>
                <a:cs typeface="Consolas"/>
              </a:rPr>
              <a:t>{</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const</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STRUCT_Coord_Attitude</a:t>
            </a:r>
            <a:r>
              <a:rPr sz="950" b="0" i="0" lang="ko-KR" altLang="en-US">
                <a:solidFill>
                  <a:srgbClr val="E3E8F2"/>
                </a:solidFill>
                <a:latin typeface="Consolas"/>
                <a:ea typeface="맑은 고딕"/>
                <a:cs typeface="Consolas"/>
              </a:rPr>
              <a:t>  *st_Att = &amp;st_Radar-&gt;st_Att;</a:t>
            </a:r>
          </a:p>
          <a:p>
            <a:pPr algn="l">
              <a:lnSpc>
                <a:spcPts val="1100"/>
              </a:lnSpc>
              <a:spcAft>
                <a:spcPts val="0"/>
              </a:spcAft>
            </a:pPr>
            <a:r>
              <a:rPr sz="950" b="0" i="0" lang="ko-KR" altLang="en-US">
                <a:solidFill>
                  <a:srgbClr val="8E9BB5"/>
                </a:solidFill>
                <a:latin typeface="Consolas"/>
                <a:ea typeface="맑은 고딕"/>
                <a:cs typeface="Consolas"/>
              </a:rPr>
              <a:t>  ...</a:t>
            </a:r>
          </a:p>
          <a:p>
            <a:pPr algn="l">
              <a:lnSpc>
                <a:spcPts val="1100"/>
              </a:lnSpc>
              <a:spcAft>
                <a:spcPts val="0"/>
              </a:spcAft>
            </a:pPr>
            <a:r>
              <a:rPr sz="950" b="0" i="0" lang="ko-KR" altLang="en-US">
                <a:solidFill>
                  <a:srgbClr val="E3E8F2"/>
                </a:solidFill>
                <a:latin typeface="Consolas"/>
                <a:ea typeface="맑은 고딕"/>
                <a:cs typeface="Consolas"/>
              </a:rPr>
              <a:t>  st_Ned  = </a:t>
            </a:r>
            <a:r>
              <a:rPr sz="950" b="0" i="0" lang="ko-KR" altLang="en-US">
                <a:solidFill>
                  <a:srgbClr val="F2C46D"/>
                </a:solidFill>
                <a:latin typeface="Consolas"/>
                <a:ea typeface="맑은 고딕"/>
                <a:cs typeface="Consolas"/>
              </a:rPr>
              <a:t>f_Trans_Ecef_To_Ned</a:t>
            </a:r>
            <a:r>
              <a:rPr sz="950" b="0" i="0" lang="ko-KR" altLang="en-US">
                <a:solidFill>
                  <a:srgbClr val="E3E8F2"/>
                </a:solidFill>
                <a:latin typeface="Consolas"/>
                <a:ea typeface="맑은 고딕"/>
                <a:cs typeface="Consolas"/>
              </a:rPr>
              <a:t>(st_Ecef-&gt;x, st_Ecef-&gt;y, st_Ecef-&gt;z,</a:t>
            </a:r>
          </a:p>
          <a:p>
            <a:pPr algn="l">
              <a:lnSpc>
                <a:spcPts val="1100"/>
              </a:lnSpc>
              <a:spcAft>
                <a:spcPts val="0"/>
              </a:spcAft>
            </a:pPr>
            <a:r>
              <a:rPr sz="950" b="0" i="0" lang="ko-KR" altLang="en-US">
                <a:solidFill>
                  <a:srgbClr val="E3E8F2"/>
                </a:solidFill>
                <a:latin typeface="Consolas"/>
                <a:ea typeface="맑은 고딕"/>
                <a:cs typeface="Consolas"/>
              </a:rPr>
              <a:t>              st_Radar-&gt;st_PosEcef.x, st_Radar-&gt;st_PosEcef.y, st_Radar-&gt;st_PosEcef.z,</a:t>
            </a:r>
          </a:p>
          <a:p>
            <a:pPr algn="l">
              <a:lnSpc>
                <a:spcPts val="1100"/>
              </a:lnSpc>
              <a:spcAft>
                <a:spcPts val="0"/>
              </a:spcAft>
            </a:pPr>
            <a:r>
              <a:rPr sz="950" b="0" i="0" lang="ko-KR" altLang="en-US">
                <a:solidFill>
                  <a:srgbClr val="E3E8F2"/>
                </a:solidFill>
                <a:latin typeface="Consolas"/>
                <a:ea typeface="맑은 고딕"/>
                <a:cs typeface="Consolas"/>
              </a:rPr>
              <a:t>              st_Radar-&gt;st_Lla.Lat, st_Radar-&gt;st_Lla.Lon);</a:t>
            </a:r>
          </a:p>
          <a:p>
            <a:pPr algn="l">
              <a:lnSpc>
                <a:spcPts val="1100"/>
              </a:lnSpc>
              <a:spcAft>
                <a:spcPts val="0"/>
              </a:spcAft>
            </a:pPr>
            <a:r>
              <a:rPr sz="950" b="0" i="0" lang="ko-KR" altLang="en-US">
                <a:solidFill>
                  <a:srgbClr val="E3E8F2"/>
                </a:solidFill>
                <a:latin typeface="Consolas"/>
                <a:ea typeface="맑은 고딕"/>
                <a:cs typeface="Consolas"/>
              </a:rPr>
              <a:t>  st_Body = </a:t>
            </a:r>
            <a:r>
              <a:rPr sz="950" b="0" i="0" lang="ko-KR" altLang="en-US">
                <a:solidFill>
                  <a:srgbClr val="F2C46D"/>
                </a:solidFill>
                <a:latin typeface="Consolas"/>
                <a:ea typeface="맑은 고딕"/>
                <a:cs typeface="Consolas"/>
              </a:rPr>
              <a:t>f_Trans_Ned_To_Body</a:t>
            </a:r>
            <a:r>
              <a:rPr sz="950" b="0" i="0" lang="ko-KR" altLang="en-US">
                <a:solidFill>
                  <a:srgbClr val="E3E8F2"/>
                </a:solidFill>
                <a:latin typeface="Consolas"/>
                <a:ea typeface="맑은 고딕"/>
                <a:cs typeface="Consolas"/>
              </a:rPr>
              <a:t>(st_Ned.x, st_Ned.y, st_Ned.z,</a:t>
            </a:r>
          </a:p>
          <a:p>
            <a:pPr algn="l">
              <a:lnSpc>
                <a:spcPts val="1100"/>
              </a:lnSpc>
              <a:spcAft>
                <a:spcPts val="0"/>
              </a:spcAft>
            </a:pPr>
            <a:r>
              <a:rPr sz="950" b="0" i="0" lang="ko-KR" altLang="en-US">
                <a:solidFill>
                  <a:srgbClr val="E3E8F2"/>
                </a:solidFill>
                <a:latin typeface="Consolas"/>
                <a:ea typeface="맑은 고딕"/>
                <a:cs typeface="Consolas"/>
              </a:rPr>
              <a:t>              st_Att-&gt;Roll, st_Att-&gt;Yaw, st_Att-&gt;Pitch);</a:t>
            </a:r>
          </a:p>
          <a:p>
            <a:pPr algn="l">
              <a:lnSpc>
                <a:spcPts val="1100"/>
              </a:lnSpc>
              <a:spcAft>
                <a:spcPts val="0"/>
              </a:spcAft>
            </a:pPr>
            <a:r>
              <a:rPr sz="950" b="0" i="0" lang="ko-KR" altLang="en-US">
                <a:solidFill>
                  <a:srgbClr val="E3E8F2"/>
                </a:solidFill>
                <a:latin typeface="Consolas"/>
                <a:ea typeface="맑은 고딕"/>
                <a:cs typeface="Consolas"/>
              </a:rPr>
              <a:t>  st_Ant  = </a:t>
            </a:r>
            <a:r>
              <a:rPr sz="950" b="0" i="0" lang="ko-KR" altLang="en-US">
                <a:solidFill>
                  <a:srgbClr val="F2C46D"/>
                </a:solidFill>
                <a:latin typeface="Consolas"/>
                <a:ea typeface="맑은 고딕"/>
                <a:cs typeface="Consolas"/>
              </a:rPr>
              <a:t>f_Trans_Body_To_Ant</a:t>
            </a:r>
            <a:r>
              <a:rPr sz="950" b="0" i="0" lang="ko-KR" altLang="en-US">
                <a:solidFill>
                  <a:srgbClr val="E3E8F2"/>
                </a:solidFill>
                <a:latin typeface="Consolas"/>
                <a:ea typeface="맑은 고딕"/>
                <a:cs typeface="Consolas"/>
              </a:rPr>
              <a:t>(st_Body.x, st_Body.y, st_Body.z);</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return</a:t>
            </a:r>
            <a:r>
              <a:rPr sz="950" b="0" i="0" lang="ko-KR" altLang="en-US">
                <a:solidFill>
                  <a:srgbClr val="E3E8F2"/>
                </a:solidFill>
                <a:latin typeface="Consolas"/>
                <a:ea typeface="맑은 고딕"/>
                <a:cs typeface="Consolas"/>
              </a:rPr>
              <a:t> </a:t>
            </a:r>
            <a:r>
              <a:rPr sz="950" b="0" i="0" lang="ko-KR" altLang="en-US">
                <a:solidFill>
                  <a:srgbClr val="F2C46D"/>
                </a:solidFill>
                <a:latin typeface="Consolas"/>
                <a:ea typeface="맑은 고딕"/>
                <a:cs typeface="Consolas"/>
              </a:rPr>
              <a:t>f_Trans_Ant_XYZ_To_Sph</a:t>
            </a:r>
            <a:r>
              <a:rPr sz="950" b="0" i="0" lang="ko-KR" altLang="en-US">
                <a:solidFill>
                  <a:srgbClr val="E3E8F2"/>
                </a:solidFill>
                <a:latin typeface="Consolas"/>
                <a:ea typeface="맑은 고딕"/>
                <a:cs typeface="Consolas"/>
              </a:rPr>
              <a:t>(st_Ant.x, st_Ant.y, st_Ant.z);</a:t>
            </a:r>
          </a:p>
          <a:p>
            <a:pPr algn="l">
              <a:lnSpc>
                <a:spcPts val="1100"/>
              </a:lnSpc>
              <a:spcAft>
                <a:spcPts val="0"/>
              </a:spcAft>
            </a:pPr>
            <a:r>
              <a:rPr sz="950" b="0" i="0" lang="ko-KR" altLang="en-US">
                <a:solidFill>
                  <a:srgbClr val="E3E8F2"/>
                </a:solidFill>
                <a:latin typeface="Consolas"/>
                <a:ea typeface="맑은 고딕"/>
                <a:cs typeface="Consolas"/>
              </a:rPr>
              <a:t>}</a:t>
            </a:r>
          </a:p>
        </p:txBody>
      </p:sp>
      <p:sp>
        <p:nvSpPr>
          <p:cNvPr id="9" name="Oval 8"/>
          <p:cNvSpPr/>
          <p:nvPr/>
        </p:nvSpPr>
        <p:spPr>
          <a:xfrm>
            <a:off x="4791456" y="1999741"/>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91456" y="1999741"/>
            <a:ext cx="182880" cy="182880"/>
          </a:xfrm>
          <a:prstGeom prst="rect">
            <a:avLst/>
          </a:prstGeom>
          <a:noFill/>
        </p:spPr>
        <p:txBody>
          <a:bodyPr wrap="square" anchor="ctr" lIns="0" tIns="0" rIns="0" bIns="0">
            <a:noAutofit/>
          </a:bodyPr>
          <a:lstStyle/>
          <a:p>
            <a:pPr algn="ctr">
              <a:lnSpc>
                <a:spcPct val="110000"/>
              </a:lnSpc>
              <a:spcAft>
                <a:spcPts val="0"/>
              </a:spcAft>
            </a:pPr>
            <a:r>
              <a:rPr sz="850" b="1" i="0" lang="ko-KR" altLang="en-US">
                <a:solidFill>
                  <a:srgbClr val="FFFFFF"/>
                </a:solidFill>
                <a:latin typeface="Arial"/>
                <a:ea typeface="맑은 고딕"/>
                <a:cs typeface="Arial"/>
              </a:rPr>
              <a:t>3</a:t>
            </a:r>
          </a:p>
        </p:txBody>
      </p:sp>
      <p:sp>
        <p:nvSpPr>
          <p:cNvPr id="11" name="TextBox 10"/>
          <p:cNvSpPr txBox="1"/>
          <p:nvPr/>
        </p:nvSpPr>
        <p:spPr>
          <a:xfrm>
            <a:off x="5047488" y="1963165"/>
            <a:ext cx="2011680" cy="256032"/>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C7D0E2"/>
                </a:solidFill>
                <a:latin typeface="맑은 고딕"/>
                <a:ea typeface="맑은 고딕"/>
                <a:cs typeface="맑은 고딕"/>
              </a:rPr>
              <a:t>참값 x  (4.4 의 3번)</a:t>
            </a:r>
          </a:p>
        </p:txBody>
      </p:sp>
      <p:sp>
        <p:nvSpPr>
          <p:cNvPr id="12" name="Rectangle 11"/>
          <p:cNvSpPr/>
          <p:nvPr/>
        </p:nvSpPr>
        <p:spPr>
          <a:xfrm>
            <a:off x="640080" y="4178808"/>
            <a:ext cx="6492240" cy="1700784"/>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4260850"/>
            <a:ext cx="6309359" cy="1554988"/>
          </a:xfrm>
          <a:prstGeom prst="rect">
            <a:avLst/>
          </a:prstGeom>
          <a:noFill/>
        </p:spPr>
        <p:txBody>
          <a:bodyPr wrap="none" anchor="t" lIns="0" tIns="0" rIns="0" bIns="0">
            <a:noAutofit/>
          </a:bodyPr>
          <a:lstStyle/>
          <a:p>
            <a:pPr algn="l">
              <a:lnSpc>
                <a:spcPts val="1100"/>
              </a:lnSpc>
              <a:spcAft>
                <a:spcPts val="0"/>
              </a:spcAft>
            </a:pPr>
            <a:r>
              <a:rPr sz="950" b="0" i="0" lang="ko-KR" altLang="en-US">
                <a:solidFill>
                  <a:srgbClr val="7FB77E"/>
                </a:solidFill>
                <a:latin typeface="Consolas"/>
                <a:ea typeface="맑은 고딕"/>
                <a:cs typeface="Consolas"/>
              </a:rPr>
              <a:t>// 구좌표 -&gt; 안테나 -&gt; 동체 -&gt; NED -&gt; ECEF -&gt; LLA.</a:t>
            </a:r>
          </a:p>
          <a:p>
            <a:pPr algn="l">
              <a:lnSpc>
                <a:spcPts val="1100"/>
              </a:lnSpc>
              <a:spcAft>
                <a:spcPts val="0"/>
              </a:spcAft>
            </a:pPr>
            <a:r>
              <a:rPr sz="950" b="0" i="0" lang="ko-KR" altLang="en-US">
                <a:solidFill>
                  <a:srgbClr val="8FB4FF"/>
                </a:solidFill>
                <a:latin typeface="Consolas"/>
                <a:ea typeface="맑은 고딕"/>
                <a:cs typeface="Consolas"/>
              </a:rPr>
              <a:t>static</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STRUCT_Coord_Lla</a:t>
            </a:r>
            <a:r>
              <a:rPr sz="950" b="0" i="0" lang="ko-KR" altLang="en-US">
                <a:solidFill>
                  <a:srgbClr val="E3E8F2"/>
                </a:solidFill>
                <a:latin typeface="Consolas"/>
                <a:ea typeface="맑은 고딕"/>
                <a:cs typeface="Consolas"/>
              </a:rPr>
              <a:t> </a:t>
            </a:r>
            <a:r>
              <a:rPr sz="950" b="0" i="0" lang="ko-KR" altLang="en-US">
                <a:solidFill>
                  <a:srgbClr val="F2C46D"/>
                </a:solidFill>
                <a:latin typeface="Consolas"/>
                <a:ea typeface="맑은 고딕"/>
                <a:cs typeface="Consolas"/>
              </a:rPr>
              <a:t>f_Pcs_SphToLla</a:t>
            </a:r>
            <a:r>
              <a:rPr sz="950" b="0" i="0" lang="ko-KR" altLang="en-US">
                <a:solidFill>
                  <a:srgbClr val="E3E8F2"/>
                </a:solidFill>
                <a:latin typeface="Consolas"/>
                <a:ea typeface="맑은 고딕"/>
                <a:cs typeface="Consolas"/>
              </a:rPr>
              <a:t>(</a:t>
            </a:r>
            <a:r>
              <a:rPr sz="950" b="0" i="0" lang="ko-KR" altLang="en-US">
                <a:solidFill>
                  <a:srgbClr val="8FB4FF"/>
                </a:solidFill>
                <a:latin typeface="Consolas"/>
                <a:ea typeface="맑은 고딕"/>
                <a:cs typeface="Consolas"/>
              </a:rPr>
              <a:t>const</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STRUCT_Coord_Sph</a:t>
            </a:r>
            <a:r>
              <a:rPr sz="950" b="0" i="0" lang="ko-KR" altLang="en-US">
                <a:solidFill>
                  <a:srgbClr val="E3E8F2"/>
                </a:solidFill>
                <a:latin typeface="Consolas"/>
                <a:ea typeface="맑은 고딕"/>
                <a:cs typeface="Consolas"/>
              </a:rPr>
              <a:t> *st_Sph,</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const</a:t>
            </a: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ST_TargetState</a:t>
            </a:r>
            <a:r>
              <a:rPr sz="950" b="0" i="0" lang="ko-KR" altLang="en-US">
                <a:solidFill>
                  <a:srgbClr val="E3E8F2"/>
                </a:solidFill>
                <a:latin typeface="Consolas"/>
                <a:ea typeface="맑은 고딕"/>
                <a:cs typeface="Consolas"/>
              </a:rPr>
              <a:t> *st_Radar)</a:t>
            </a:r>
          </a:p>
          <a:p>
            <a:pPr algn="l">
              <a:lnSpc>
                <a:spcPts val="1100"/>
              </a:lnSpc>
              <a:spcAft>
                <a:spcPts val="0"/>
              </a:spcAft>
            </a:pPr>
            <a:r>
              <a:rPr sz="950" b="0" i="0" lang="ko-KR" altLang="en-US">
                <a:solidFill>
                  <a:srgbClr val="E3E8F2"/>
                </a:solidFill>
                <a:latin typeface="Consolas"/>
                <a:ea typeface="맑은 고딕"/>
                <a:cs typeface="Consolas"/>
              </a:rPr>
              <a:t>{</a:t>
            </a:r>
          </a:p>
          <a:p>
            <a:pPr algn="l">
              <a:lnSpc>
                <a:spcPts val="1100"/>
              </a:lnSpc>
              <a:spcAft>
                <a:spcPts val="0"/>
              </a:spcAft>
            </a:pPr>
            <a:r>
              <a:rPr sz="950" b="0" i="0" lang="ko-KR" altLang="en-US">
                <a:solidFill>
                  <a:srgbClr val="8E9BB5"/>
                </a:solidFill>
                <a:latin typeface="Consolas"/>
                <a:ea typeface="맑은 고딕"/>
                <a:cs typeface="Consolas"/>
              </a:rPr>
              <a:t>  ...</a:t>
            </a:r>
          </a:p>
          <a:p>
            <a:pPr algn="l">
              <a:lnSpc>
                <a:spcPts val="1100"/>
              </a:lnSpc>
              <a:spcAft>
                <a:spcPts val="0"/>
              </a:spcAft>
            </a:pPr>
            <a:r>
              <a:rPr sz="950" b="0" i="0" lang="ko-KR" altLang="en-US">
                <a:solidFill>
                  <a:srgbClr val="E3E8F2"/>
                </a:solidFill>
                <a:latin typeface="Consolas"/>
                <a:ea typeface="맑은 고딕"/>
                <a:cs typeface="Consolas"/>
              </a:rPr>
              <a:t>  st_Ant  = </a:t>
            </a:r>
            <a:r>
              <a:rPr sz="950" b="0" i="0" lang="ko-KR" altLang="en-US">
                <a:solidFill>
                  <a:srgbClr val="F2C46D"/>
                </a:solidFill>
                <a:latin typeface="Consolas"/>
                <a:ea typeface="맑은 고딕"/>
                <a:cs typeface="Consolas"/>
              </a:rPr>
              <a:t>f_Trans_Ant_Sph_To_XYZ</a:t>
            </a:r>
            <a:r>
              <a:rPr sz="950" b="0" i="0" lang="ko-KR" altLang="en-US">
                <a:solidFill>
                  <a:srgbClr val="E3E8F2"/>
                </a:solidFill>
                <a:latin typeface="Consolas"/>
                <a:ea typeface="맑은 고딕"/>
                <a:cs typeface="Consolas"/>
              </a:rPr>
              <a:t>(st_Sph-&gt;r, st_Sph-&gt;az, st_Sph-&gt;el);</a:t>
            </a:r>
          </a:p>
          <a:p>
            <a:pPr algn="l">
              <a:lnSpc>
                <a:spcPts val="1100"/>
              </a:lnSpc>
              <a:spcAft>
                <a:spcPts val="0"/>
              </a:spcAft>
            </a:pPr>
            <a:r>
              <a:rPr sz="950" b="0" i="0" lang="ko-KR" altLang="en-US">
                <a:solidFill>
                  <a:srgbClr val="E3E8F2"/>
                </a:solidFill>
                <a:latin typeface="Consolas"/>
                <a:ea typeface="맑은 고딕"/>
                <a:cs typeface="Consolas"/>
              </a:rPr>
              <a:t>  st_Body = </a:t>
            </a:r>
            <a:r>
              <a:rPr sz="950" b="0" i="0" lang="ko-KR" altLang="en-US">
                <a:solidFill>
                  <a:srgbClr val="F2C46D"/>
                </a:solidFill>
                <a:latin typeface="Consolas"/>
                <a:ea typeface="맑은 고딕"/>
                <a:cs typeface="Consolas"/>
              </a:rPr>
              <a:t>f_Trans_Ant_To_Body</a:t>
            </a:r>
            <a:r>
              <a:rPr sz="950" b="0" i="0" lang="ko-KR" altLang="en-US">
                <a:solidFill>
                  <a:srgbClr val="E3E8F2"/>
                </a:solidFill>
                <a:latin typeface="Consolas"/>
                <a:ea typeface="맑은 고딕"/>
                <a:cs typeface="Consolas"/>
              </a:rPr>
              <a:t>(st_Ant.x, st_Ant.y, st_Ant.z);</a:t>
            </a:r>
          </a:p>
          <a:p>
            <a:pPr algn="l">
              <a:lnSpc>
                <a:spcPts val="1100"/>
              </a:lnSpc>
              <a:spcAft>
                <a:spcPts val="0"/>
              </a:spcAft>
            </a:pPr>
            <a:r>
              <a:rPr sz="950" b="0" i="0" lang="ko-KR" altLang="en-US">
                <a:solidFill>
                  <a:srgbClr val="E3E8F2"/>
                </a:solidFill>
                <a:latin typeface="Consolas"/>
                <a:ea typeface="맑은 고딕"/>
                <a:cs typeface="Consolas"/>
              </a:rPr>
              <a:t>  st_Ned  = </a:t>
            </a:r>
            <a:r>
              <a:rPr sz="950" b="0" i="0" lang="ko-KR" altLang="en-US">
                <a:solidFill>
                  <a:srgbClr val="F2C46D"/>
                </a:solidFill>
                <a:latin typeface="Consolas"/>
                <a:ea typeface="맑은 고딕"/>
                <a:cs typeface="Consolas"/>
              </a:rPr>
              <a:t>f_Trans_Body_To_Ned</a:t>
            </a:r>
            <a:r>
              <a:rPr sz="950" b="0" i="0" lang="ko-KR" altLang="en-US">
                <a:solidFill>
                  <a:srgbClr val="E3E8F2"/>
                </a:solidFill>
                <a:latin typeface="Consolas"/>
                <a:ea typeface="맑은 고딕"/>
                <a:cs typeface="Consolas"/>
              </a:rPr>
              <a:t>(st_Body.x, st_Body.y, st_Body.z, </a:t>
            </a:r>
            <a:r>
              <a:rPr sz="950" b="0" i="0" lang="ko-KR" altLang="en-US">
                <a:solidFill>
                  <a:srgbClr val="8E9BB5"/>
                </a:solidFill>
                <a:latin typeface="Consolas"/>
                <a:ea typeface="맑은 고딕"/>
                <a:cs typeface="Consolas"/>
              </a:rPr>
              <a:t>...</a:t>
            </a:r>
            <a:r>
              <a:rPr sz="950" b="0" i="0" lang="ko-KR" altLang="en-US">
                <a:solidFill>
                  <a:srgbClr val="E3E8F2"/>
                </a:solidFill>
                <a:latin typeface="Consolas"/>
                <a:ea typeface="맑은 고딕"/>
                <a:cs typeface="Consolas"/>
              </a:rPr>
              <a:t>);</a:t>
            </a:r>
          </a:p>
          <a:p>
            <a:pPr algn="l">
              <a:lnSpc>
                <a:spcPts val="1100"/>
              </a:lnSpc>
              <a:spcAft>
                <a:spcPts val="0"/>
              </a:spcAft>
            </a:pPr>
            <a:r>
              <a:rPr sz="950" b="0" i="0" lang="ko-KR" altLang="en-US">
                <a:solidFill>
                  <a:srgbClr val="E3E8F2"/>
                </a:solidFill>
                <a:latin typeface="Consolas"/>
                <a:ea typeface="맑은 고딕"/>
                <a:cs typeface="Consolas"/>
              </a:rPr>
              <a:t>  st_Ecef = </a:t>
            </a:r>
            <a:r>
              <a:rPr sz="950" b="0" i="0" lang="ko-KR" altLang="en-US">
                <a:solidFill>
                  <a:srgbClr val="F2C46D"/>
                </a:solidFill>
                <a:latin typeface="Consolas"/>
                <a:ea typeface="맑은 고딕"/>
                <a:cs typeface="Consolas"/>
              </a:rPr>
              <a:t>f_Trans_Ned_To_Ecef</a:t>
            </a:r>
            <a:r>
              <a:rPr sz="950" b="0" i="0" lang="ko-KR" altLang="en-US">
                <a:solidFill>
                  <a:srgbClr val="E3E8F2"/>
                </a:solidFill>
                <a:latin typeface="Consolas"/>
                <a:ea typeface="맑은 고딕"/>
                <a:cs typeface="Consolas"/>
              </a:rPr>
              <a:t>(st_Ned.x, st_Ned.y, st_Ned.z, </a:t>
            </a:r>
            <a:r>
              <a:rPr sz="950" b="0" i="0" lang="ko-KR" altLang="en-US">
                <a:solidFill>
                  <a:srgbClr val="8E9BB5"/>
                </a:solidFill>
                <a:latin typeface="Consolas"/>
                <a:ea typeface="맑은 고딕"/>
                <a:cs typeface="Consolas"/>
              </a:rPr>
              <a:t>...</a:t>
            </a:r>
            <a:r>
              <a:rPr sz="950" b="0" i="0" lang="ko-KR" altLang="en-US">
                <a:solidFill>
                  <a:srgbClr val="E3E8F2"/>
                </a:solidFill>
                <a:latin typeface="Consolas"/>
                <a:ea typeface="맑은 고딕"/>
                <a:cs typeface="Consolas"/>
              </a:rPr>
              <a:t>);</a:t>
            </a:r>
          </a:p>
          <a:p>
            <a:pPr algn="l">
              <a:lnSpc>
                <a:spcPts val="1100"/>
              </a:lnSpc>
              <a:spcAft>
                <a:spcPts val="0"/>
              </a:spcAft>
            </a:pPr>
            <a:r>
              <a:rPr sz="950" b="0" i="0" lang="ko-KR" altLang="en-US">
                <a:solidFill>
                  <a:srgbClr val="E3E8F2"/>
                </a:solidFill>
                <a:latin typeface="Consolas"/>
                <a:ea typeface="맑은 고딕"/>
                <a:cs typeface="Consolas"/>
              </a:rPr>
              <a:t>  </a:t>
            </a:r>
            <a:r>
              <a:rPr sz="950" b="0" i="0" lang="ko-KR" altLang="en-US">
                <a:solidFill>
                  <a:srgbClr val="8FB4FF"/>
                </a:solidFill>
                <a:latin typeface="Consolas"/>
                <a:ea typeface="맑은 고딕"/>
                <a:cs typeface="Consolas"/>
              </a:rPr>
              <a:t>return</a:t>
            </a:r>
            <a:r>
              <a:rPr sz="950" b="0" i="0" lang="ko-KR" altLang="en-US">
                <a:solidFill>
                  <a:srgbClr val="E3E8F2"/>
                </a:solidFill>
                <a:latin typeface="Consolas"/>
                <a:ea typeface="맑은 고딕"/>
                <a:cs typeface="Consolas"/>
              </a:rPr>
              <a:t> </a:t>
            </a:r>
            <a:r>
              <a:rPr sz="950" b="0" i="0" lang="ko-KR" altLang="en-US">
                <a:solidFill>
                  <a:srgbClr val="F2C46D"/>
                </a:solidFill>
                <a:latin typeface="Consolas"/>
                <a:ea typeface="맑은 고딕"/>
                <a:cs typeface="Consolas"/>
              </a:rPr>
              <a:t>f_Trans_Ecef_To_Lla</a:t>
            </a:r>
            <a:r>
              <a:rPr sz="950" b="0" i="0" lang="ko-KR" altLang="en-US">
                <a:solidFill>
                  <a:srgbClr val="E3E8F2"/>
                </a:solidFill>
                <a:latin typeface="Consolas"/>
                <a:ea typeface="맑은 고딕"/>
                <a:cs typeface="Consolas"/>
              </a:rPr>
              <a:t>(st_Ecef.x, st_Ecef.y, st_Ecef.z);</a:t>
            </a:r>
          </a:p>
          <a:p>
            <a:pPr algn="l">
              <a:lnSpc>
                <a:spcPts val="1100"/>
              </a:lnSpc>
              <a:spcAft>
                <a:spcPts val="0"/>
              </a:spcAft>
            </a:pPr>
            <a:r>
              <a:rPr sz="950" b="0" i="0" lang="ko-KR" altLang="en-US">
                <a:solidFill>
                  <a:srgbClr val="E3E8F2"/>
                </a:solidFill>
                <a:latin typeface="Consolas"/>
                <a:ea typeface="맑은 고딕"/>
                <a:cs typeface="Consolas"/>
              </a:rPr>
              <a:t>}</a:t>
            </a:r>
          </a:p>
        </p:txBody>
      </p:sp>
      <p:sp>
        <p:nvSpPr>
          <p:cNvPr id="14" name="Oval 13"/>
          <p:cNvSpPr/>
          <p:nvPr/>
        </p:nvSpPr>
        <p:spPr>
          <a:xfrm>
            <a:off x="4553712" y="4220972"/>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4220972"/>
            <a:ext cx="182880" cy="182880"/>
          </a:xfrm>
          <a:prstGeom prst="rect">
            <a:avLst/>
          </a:prstGeom>
          <a:noFill/>
        </p:spPr>
        <p:txBody>
          <a:bodyPr wrap="square" anchor="ctr" lIns="0" tIns="0" rIns="0" bIns="0">
            <a:noAutofit/>
          </a:bodyPr>
          <a:lstStyle/>
          <a:p>
            <a:pPr algn="ctr">
              <a:lnSpc>
                <a:spcPct val="110000"/>
              </a:lnSpc>
              <a:spcAft>
                <a:spcPts val="0"/>
              </a:spcAft>
            </a:pPr>
            <a:r>
              <a:rPr sz="850" b="1" i="0" lang="ko-KR" altLang="en-US">
                <a:solidFill>
                  <a:srgbClr val="FFFFFF"/>
                </a:solidFill>
                <a:latin typeface="Arial"/>
                <a:ea typeface="맑은 고딕"/>
                <a:cs typeface="Arial"/>
              </a:rPr>
              <a:t>4</a:t>
            </a:r>
          </a:p>
        </p:txBody>
      </p:sp>
      <p:sp>
        <p:nvSpPr>
          <p:cNvPr id="16" name="Oval 15"/>
          <p:cNvSpPr/>
          <p:nvPr/>
        </p:nvSpPr>
        <p:spPr>
          <a:xfrm>
            <a:off x="4791456" y="4220972"/>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91456" y="4220972"/>
            <a:ext cx="182880" cy="182880"/>
          </a:xfrm>
          <a:prstGeom prst="rect">
            <a:avLst/>
          </a:prstGeom>
          <a:noFill/>
        </p:spPr>
        <p:txBody>
          <a:bodyPr wrap="square" anchor="ctr" lIns="0" tIns="0" rIns="0" bIns="0">
            <a:noAutofit/>
          </a:bodyPr>
          <a:lstStyle/>
          <a:p>
            <a:pPr algn="ctr">
              <a:lnSpc>
                <a:spcPct val="110000"/>
              </a:lnSpc>
              <a:spcAft>
                <a:spcPts val="0"/>
              </a:spcAft>
            </a:pPr>
            <a:r>
              <a:rPr sz="850" b="1" i="0" lang="ko-KR" altLang="en-US">
                <a:solidFill>
                  <a:srgbClr val="FFFFFF"/>
                </a:solidFill>
                <a:latin typeface="Arial"/>
                <a:ea typeface="맑은 고딕"/>
                <a:cs typeface="Arial"/>
              </a:rPr>
              <a:t>5</a:t>
            </a:r>
          </a:p>
        </p:txBody>
      </p:sp>
      <p:sp>
        <p:nvSpPr>
          <p:cNvPr id="18" name="TextBox 17"/>
          <p:cNvSpPr txBox="1"/>
          <p:nvPr/>
        </p:nvSpPr>
        <p:spPr>
          <a:xfrm>
            <a:off x="5047488" y="4184396"/>
            <a:ext cx="2011680" cy="256032"/>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C7D0E2"/>
                </a:solidFill>
                <a:latin typeface="맑은 고딕"/>
                <a:ea typeface="맑은 고딕"/>
                <a:cs typeface="맑은 고딕"/>
              </a:rPr>
              <a:t>지도용 위경도  (4.4 의 4, 5번)</a:t>
            </a:r>
          </a:p>
        </p:txBody>
      </p:sp>
      <p:sp>
        <p:nvSpPr>
          <p:cNvPr id="19" name="TextBox 18"/>
          <p:cNvSpPr txBox="1"/>
          <p:nvPr/>
        </p:nvSpPr>
        <p:spPr>
          <a:xfrm>
            <a:off x="640080" y="5943600"/>
            <a:ext cx="6492240" cy="256032"/>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1B2740"/>
                </a:solidFill>
                <a:latin typeface="맑은 고딕"/>
                <a:ea typeface="맑은 고딕"/>
                <a:cs typeface="맑은 고딕"/>
              </a:rPr>
              <a:t>f_Trans_ 함수</a:t>
            </a:r>
            <a:r>
              <a:rPr sz="1050" b="0" i="0" lang="ko-KR" altLang="en-US">
                <a:solidFill>
                  <a:srgbClr val="4A5A7A"/>
                </a:solidFill>
                <a:latin typeface="맑은 고딕"/>
                <a:ea typeface="맑은 고딕"/>
                <a:cs typeface="맑은 고딕"/>
              </a:rPr>
              <a:t> = 참고 소스 CoordinateTransform.c 그대로.   레이다 = 그 시각의 플랫폼 (위치 · 자세)</a:t>
            </a:r>
          </a:p>
        </p:txBody>
      </p:sp>
      <p:pic>
        <p:nvPicPr>
          <p:cNvPr id="20" name="Picture 19" descr="f5_geometry.png"/>
          <p:cNvPicPr>
            <a:picLocks noChangeAspect="1"/>
          </p:cNvPicPr>
          <p:nvPr/>
        </p:nvPicPr>
        <p:blipFill>
          <a:blip r:embed="rId2"/>
          <a:stretch>
            <a:fillRect/>
          </a:stretch>
        </p:blipFill>
        <p:spPr>
          <a:xfrm>
            <a:off x="8197596" y="1965960"/>
            <a:ext cx="2560320" cy="2560320"/>
          </a:xfrm>
          <a:prstGeom prst="rect">
            <a:avLst/>
          </a:prstGeom>
        </p:spPr>
      </p:pic>
      <p:sp>
        <p:nvSpPr>
          <p:cNvPr id="21" name="TextBox 20"/>
          <p:cNvSpPr txBox="1"/>
          <p:nvPr/>
        </p:nvSpPr>
        <p:spPr>
          <a:xfrm>
            <a:off x="7406640" y="4562855"/>
            <a:ext cx="4142232" cy="457200"/>
          </a:xfrm>
          <a:prstGeom prst="rect">
            <a:avLst/>
          </a:prstGeom>
          <a:noFill/>
        </p:spPr>
        <p:txBody>
          <a:bodyPr wrap="square" anchor="t" lIns="0" tIns="0" rIns="0" bIns="0">
            <a:noAutofit/>
          </a:bodyPr>
          <a:lstStyle/>
          <a:p>
            <a:pPr algn="ctr">
              <a:lnSpc>
                <a:spcPct val="115000"/>
              </a:lnSpc>
              <a:spcAft>
                <a:spcPts val="0"/>
              </a:spcAft>
            </a:pPr>
            <a:r>
              <a:rPr sz="1100" b="1" i="0" lang="ko-KR" altLang="en-US">
                <a:solidFill>
                  <a:srgbClr val="1B2740"/>
                </a:solidFill>
                <a:latin typeface="맑은 고딕"/>
                <a:ea typeface="맑은 고딕"/>
                <a:cs typeface="맑은 고딕"/>
              </a:rPr>
              <a:t>방위각</a:t>
            </a:r>
            <a:r>
              <a:rPr sz="1100" b="0" i="0" lang="ko-KR" altLang="en-US">
                <a:solidFill>
                  <a:srgbClr val="1B2740"/>
                </a:solidFill>
                <a:latin typeface="맑은 고딕"/>
                <a:ea typeface="맑은 고딕"/>
                <a:cs typeface="맑은 고딕"/>
              </a:rPr>
              <a:t>: 조준축에서 왼쪽이 +</a:t>
            </a:r>
          </a:p>
          <a:p>
            <a:pPr algn="ctr">
              <a:lnSpc>
                <a:spcPct val="115000"/>
              </a:lnSpc>
              <a:spcAft>
                <a:spcPts val="0"/>
              </a:spcAft>
            </a:pPr>
            <a:r>
              <a:rPr sz="1100" b="0" i="0" lang="ko-KR" altLang="en-US">
                <a:solidFill>
                  <a:srgbClr val="1B2740"/>
                </a:solidFill>
                <a:latin typeface="맑은 고딕"/>
                <a:ea typeface="맑은 고딕"/>
                <a:cs typeface="맑은 고딕"/>
              </a:rPr>
              <a:t>지금은 조준축 = 북쪽  →  서쪽이 +</a:t>
            </a:r>
          </a:p>
        </p:txBody>
      </p:sp>
      <p:sp>
        <p:nvSpPr>
          <p:cNvPr id="22" name="Rectangle 21"/>
          <p:cNvSpPr/>
          <p:nvPr/>
        </p:nvSpPr>
        <p:spPr>
          <a:xfrm>
            <a:off x="7406640" y="5102352"/>
            <a:ext cx="4142232" cy="603504"/>
          </a:xfrm>
          <a:prstGeom prst="rect">
            <a:avLst/>
          </a:prstGeom>
          <a:solidFill>
            <a:srgbClr val="EEF3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71231" y="5102352"/>
            <a:ext cx="3813048" cy="603504"/>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2563EB"/>
                </a:solidFill>
                <a:latin typeface="맑은 고딕"/>
                <a:ea typeface="맑은 고딕"/>
                <a:cs typeface="맑은 고딕"/>
              </a:rPr>
              <a:t>예</a:t>
            </a:r>
            <a:r>
              <a:rPr sz="1050" b="1" i="0" lang="ko-KR" altLang="en-US">
                <a:solidFill>
                  <a:srgbClr val="1B2740"/>
                </a:solidFill>
                <a:latin typeface="맑은 고딕"/>
                <a:ea typeface="맑은 고딕"/>
                <a:cs typeface="맑은 고딕"/>
              </a:rPr>
              <a:t>   표적 1 (대함), t = 0 s</a:t>
            </a:r>
          </a:p>
          <a:p>
            <a:pPr algn="l">
              <a:lnSpc>
                <a:spcPct val="115000"/>
              </a:lnSpc>
              <a:spcAft>
                <a:spcPts val="0"/>
              </a:spcAft>
            </a:pPr>
            <a:r>
              <a:rPr sz="1050" b="0" i="0" lang="ko-KR" altLang="en-US">
                <a:solidFill>
                  <a:srgbClr val="1B2740"/>
                </a:solidFill>
                <a:latin typeface="맑은 고딕"/>
                <a:ea typeface="맑은 고딕"/>
                <a:cs typeface="맑은 고딕"/>
              </a:rPr>
              <a:t>거리 14,148 m · 방위각 −11.54° (동쪽) · 고각 −0.06°</a:t>
            </a:r>
          </a:p>
        </p:txBody>
      </p:sp>
      <p:sp>
        <p:nvSpPr>
          <p:cNvPr id="24" name="Rectangle 23"/>
          <p:cNvSpPr/>
          <p:nvPr/>
        </p:nvSpPr>
        <p:spPr>
          <a:xfrm>
            <a:off x="7406640" y="5797296"/>
            <a:ext cx="4142232" cy="420624"/>
          </a:xfrm>
          <a:prstGeom prst="rect">
            <a:avLst/>
          </a:prstGeom>
          <a:solidFill>
            <a:srgbClr val="E7F6E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52944" y="5879592"/>
            <a:ext cx="448056" cy="256032"/>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879592"/>
            <a:ext cx="411480" cy="256032"/>
          </a:xfrm>
          <a:prstGeom prst="rect">
            <a:avLst/>
          </a:prstGeom>
          <a:noFill/>
        </p:spPr>
        <p:txBody>
          <a:bodyPr wrap="square" anchor="ctr" lIns="0" tIns="0" rIns="0" bIns="0">
            <a:noAutofit/>
          </a:bodyPr>
          <a:lstStyle/>
          <a:p>
            <a:pPr algn="ctr">
              <a:lnSpc>
                <a:spcPct val="110000"/>
              </a:lnSpc>
              <a:spcAft>
                <a:spcPts val="0"/>
              </a:spcAft>
            </a:pPr>
            <a:r>
              <a:rPr sz="1000" b="1" i="0" lang="ko-KR" altLang="en-US">
                <a:solidFill>
                  <a:srgbClr val="FFFFFF"/>
                </a:solidFill>
                <a:latin typeface="맑은 고딕"/>
                <a:ea typeface="맑은 고딕"/>
                <a:cs typeface="맑은 고딕"/>
              </a:rPr>
              <a:t>확인</a:t>
            </a:r>
          </a:p>
        </p:txBody>
      </p:sp>
      <p:sp>
        <p:nvSpPr>
          <p:cNvPr id="27" name="TextBox 26"/>
          <p:cNvSpPr txBox="1"/>
          <p:nvPr/>
        </p:nvSpPr>
        <p:spPr>
          <a:xfrm>
            <a:off x="8110727" y="5843016"/>
            <a:ext cx="3282696" cy="329184"/>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1B2740"/>
                </a:solidFill>
                <a:latin typeface="맑은 고딕"/>
                <a:ea typeface="맑은 고딕"/>
                <a:cs typeface="맑은 고딕"/>
              </a:rPr>
              <a:t>바꿨다가 되돌린 위치 차이: 최대 0.03 mm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04. 구현과 핵심 코드</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4.6 결과를 모아 오차 표준편차를 구하고 요약과 지도에 씁니다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15</a:t>
            </a:r>
          </a:p>
        </p:txBody>
      </p:sp>
      <p:sp>
        <p:nvSpPr>
          <p:cNvPr id="7" name="Rectangle 6"/>
          <p:cNvSpPr/>
          <p:nvPr/>
        </p:nvSpPr>
        <p:spPr>
          <a:xfrm>
            <a:off x="640080" y="1965960"/>
            <a:ext cx="6327648" cy="425196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44700"/>
            <a:ext cx="5815583" cy="4112767"/>
          </a:xfrm>
          <a:prstGeom prst="rect">
            <a:avLst/>
          </a:prstGeom>
          <a:noFill/>
        </p:spPr>
        <p:txBody>
          <a:bodyPr wrap="none" anchor="t" lIns="0" tIns="0" rIns="0" bIns="0">
            <a:noAutofit/>
          </a:bodyPr>
          <a:lstStyle/>
          <a:p>
            <a:pPr algn="l">
              <a:lnSpc>
                <a:spcPts val="1040"/>
              </a:lnSpc>
              <a:spcAft>
                <a:spcPts val="0"/>
              </a:spcAft>
            </a:pPr>
            <a:r>
              <a:rPr sz="900" b="0" i="0" lang="ko-KR" altLang="en-US">
                <a:solidFill>
                  <a:srgbClr val="8FB4FF"/>
                </a:solidFill>
                <a:latin typeface="Consolas"/>
                <a:ea typeface="맑은 고딕"/>
                <a:cs typeface="Consolas"/>
              </a:rPr>
              <a:t>VOID</a:t>
            </a:r>
            <a:r>
              <a:rPr sz="900" b="0" i="0" lang="ko-KR" altLang="en-US">
                <a:solidFill>
                  <a:srgbClr val="E3E8F2"/>
                </a:solidFill>
                <a:latin typeface="Consolas"/>
                <a:ea typeface="맑은 고딕"/>
                <a:cs typeface="Consolas"/>
              </a:rPr>
              <a:t> CPlotResult::f_Run(</a:t>
            </a:r>
            <a:r>
              <a:rPr sz="900" b="0" i="0" lang="ko-KR" altLang="en-US">
                <a:solidFill>
                  <a:srgbClr val="8FB4FF"/>
                </a:solidFill>
                <a:latin typeface="Consolas"/>
                <a:ea typeface="맑은 고딕"/>
                <a:cs typeface="Consolas"/>
              </a:rPr>
              <a:t>const</a:t>
            </a: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CSimResult</a:t>
            </a:r>
            <a:r>
              <a:rPr sz="900" b="0" i="0" lang="ko-KR" altLang="en-US">
                <a:solidFill>
                  <a:srgbClr val="E3E8F2"/>
                </a:solidFill>
                <a:latin typeface="Consolas"/>
                <a:ea typeface="맑은 고딕"/>
                <a:cs typeface="Consolas"/>
              </a:rPr>
              <a:t> *st_Source, </a:t>
            </a:r>
            <a:r>
              <a:rPr sz="900" b="0" i="0" lang="ko-KR" altLang="en-US">
                <a:solidFill>
                  <a:srgbClr val="8FB4FF"/>
                </a:solidFill>
                <a:latin typeface="Consolas"/>
                <a:ea typeface="맑은 고딕"/>
                <a:cs typeface="Consolas"/>
              </a:rPr>
              <a:t>FLOAT64</a:t>
            </a:r>
            <a:r>
              <a:rPr sz="900" b="0" i="0" lang="ko-KR" altLang="en-US">
                <a:solidFill>
                  <a:srgbClr val="E3E8F2"/>
                </a:solidFill>
                <a:latin typeface="Consolas"/>
                <a:ea typeface="맑은 고딕"/>
                <a:cs typeface="Consolas"/>
              </a:rPr>
              <a:t> snr, </a:t>
            </a:r>
            <a:r>
              <a:rPr sz="900" b="0" i="0" lang="ko-KR" altLang="en-US">
                <a:solidFill>
                  <a:srgbClr val="8FB4FF"/>
                </a:solidFill>
                <a:latin typeface="Consolas"/>
                <a:ea typeface="맑은 고딕"/>
                <a:cs typeface="Consolas"/>
              </a:rPr>
              <a:t>INT32</a:t>
            </a:r>
            <a:r>
              <a:rPr sz="900" b="0" i="0" lang="ko-KR" altLang="en-US">
                <a:solidFill>
                  <a:srgbClr val="E3E8F2"/>
                </a:solidFill>
                <a:latin typeface="Consolas"/>
                <a:ea typeface="맑은 고딕"/>
                <a:cs typeface="Consolas"/>
              </a:rPr>
              <a:t> nClutterNum)</a:t>
            </a:r>
          </a:p>
          <a:p>
            <a:pPr algn="l">
              <a:lnSpc>
                <a:spcPts val="1040"/>
              </a:lnSpc>
              <a:spcAft>
                <a:spcPts val="0"/>
              </a:spcAft>
            </a:pPr>
            <a:r>
              <a:rPr sz="900" b="0" i="0" lang="ko-KR" altLang="en-US">
                <a:solidFill>
                  <a:srgbClr val="E3E8F2"/>
                </a:solidFill>
                <a:latin typeface="Consolas"/>
                <a:ea typeface="맑은 고딕"/>
                <a:cs typeface="Consolas"/>
              </a:rPr>
              <a:t>{</a:t>
            </a:r>
          </a:p>
          <a:p>
            <a:pPr algn="l">
              <a:lnSpc>
                <a:spcPts val="1040"/>
              </a:lnSpc>
              <a:spcAft>
                <a:spcPts val="0"/>
              </a:spcAft>
            </a:pPr>
            <a:r>
              <a:rPr sz="900" b="0" i="0" lang="ko-KR" altLang="en-US">
                <a:solidFill>
                  <a:srgbClr val="8E9BB5"/>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const</a:t>
            </a: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INT32</a:t>
            </a:r>
            <a:r>
              <a:rPr sz="900" b="0" i="0" lang="ko-KR" altLang="en-US">
                <a:solidFill>
                  <a:srgbClr val="E3E8F2"/>
                </a:solidFill>
                <a:latin typeface="Consolas"/>
                <a:ea typeface="맑은 고딕"/>
                <a:cs typeface="Consolas"/>
              </a:rPr>
              <a:t>  nScanNum = st_Source-&gt;f_GetSampleNum() - 1;</a:t>
            </a:r>
          </a:p>
          <a:p>
            <a:pPr algn="l">
              <a:lnSpc>
                <a:spcPts val="1040"/>
              </a:lnSpc>
              <a:spcAft>
                <a:spcPts val="0"/>
              </a:spcAft>
            </a:pPr>
            <a:r>
              <a:rPr sz="900" b="0" i="0" lang="ko-KR" altLang="en-US">
                <a:solidFill>
                  <a:srgbClr val="8E9BB5"/>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st_Sigma = </a:t>
            </a:r>
            <a:r>
              <a:rPr sz="900" b="0" i="0" lang="ko-KR" altLang="en-US">
                <a:solidFill>
                  <a:srgbClr val="F2C46D"/>
                </a:solidFill>
                <a:latin typeface="Consolas"/>
                <a:ea typeface="맑은 고딕"/>
                <a:cs typeface="Consolas"/>
              </a:rPr>
              <a:t>f_Pcs_CalcSigma</a:t>
            </a:r>
            <a:r>
              <a:rPr sz="900" b="0" i="0" lang="ko-KR" altLang="en-US">
                <a:solidFill>
                  <a:srgbClr val="E3E8F2"/>
                </a:solidFill>
                <a:latin typeface="Consolas"/>
                <a:ea typeface="맑은 고딕"/>
                <a:cs typeface="Consolas"/>
              </a:rPr>
              <a:t>(snr);</a:t>
            </a:r>
          </a:p>
          <a:p>
            <a:pPr algn="l">
              <a:lnSpc>
                <a:spcPts val="1040"/>
              </a:lnSpc>
              <a:spcAft>
                <a:spcPts val="0"/>
              </a:spcAft>
            </a:pPr>
            <a:r>
              <a:rPr sz="900" b="0" i="0" lang="ko-KR" altLang="en-US">
                <a:solidFill>
                  <a:srgbClr val="E3E8F2"/>
                </a:solidFill>
                <a:latin typeface="Consolas"/>
                <a:ea typeface="맑은 고딕"/>
                <a:cs typeface="Consolas"/>
              </a:rPr>
              <a:t>  st_ScanBuf.resize(static_cast&lt;</a:t>
            </a:r>
            <a:r>
              <a:rPr sz="900" b="0" i="0" lang="ko-KR" altLang="en-US">
                <a:solidFill>
                  <a:srgbClr val="8FB4FF"/>
                </a:solidFill>
                <a:latin typeface="Consolas"/>
                <a:ea typeface="맑은 고딕"/>
                <a:cs typeface="Consolas"/>
              </a:rPr>
              <a:t>UINT64</a:t>
            </a:r>
            <a:r>
              <a:rPr sz="900" b="0" i="0" lang="ko-KR" altLang="en-US">
                <a:solidFill>
                  <a:srgbClr val="E3E8F2"/>
                </a:solidFill>
                <a:latin typeface="Consolas"/>
                <a:ea typeface="맑은 고딕"/>
                <a:cs typeface="Consolas"/>
              </a:rPr>
              <a:t>&gt;(nScanNum));</a:t>
            </a:r>
          </a:p>
          <a:p>
            <a:pPr algn="l">
              <a:lnSpc>
                <a:spcPts val="1040"/>
              </a:lnSpc>
              <a:spcAft>
                <a:spcPts val="0"/>
              </a:spcAft>
            </a:pPr>
            <a:r>
              <a:rPr sz="900" b="0" i="0" lang="ko-KR" altLang="en-US">
                <a:solidFill>
                  <a:srgbClr val="E3E8F2"/>
                </a:solidFill>
                <a:latin typeface="Consolas"/>
                <a:ea typeface="맑은 고딕"/>
                <a:cs typeface="Consolas"/>
              </a:rPr>
              <a:t>  </a:t>
            </a:r>
            <a:r>
              <a:rPr sz="900" b="0" i="0" lang="ko-KR" altLang="en-US">
                <a:solidFill>
                  <a:srgbClr val="F2C46D"/>
                </a:solidFill>
                <a:latin typeface="Consolas"/>
                <a:ea typeface="맑은 고딕"/>
                <a:cs typeface="Consolas"/>
              </a:rPr>
              <a:t>f_Pcs_Measure</a:t>
            </a:r>
            <a:r>
              <a:rPr sz="900" b="0" i="0" lang="ko-KR" altLang="en-US">
                <a:solidFill>
                  <a:srgbClr val="E3E8F2"/>
                </a:solidFill>
                <a:latin typeface="Consolas"/>
                <a:ea typeface="맑은 고딕"/>
                <a:cs typeface="Consolas"/>
              </a:rPr>
              <a:t>(st_ScanBuf.data(), st_Source-&gt;f_GetSample(0),</a:t>
            </a:r>
          </a:p>
          <a:p>
            <a:pPr algn="l">
              <a:lnSpc>
                <a:spcPts val="1040"/>
              </a:lnSpc>
              <a:spcAft>
                <a:spcPts val="0"/>
              </a:spcAft>
            </a:pPr>
            <a:r>
              <a:rPr sz="900" b="0" i="0" lang="ko-KR" altLang="en-US">
                <a:solidFill>
                  <a:srgbClr val="E3E8F2"/>
                </a:solidFill>
                <a:latin typeface="Consolas"/>
                <a:ea typeface="맑은 고딕"/>
                <a:cs typeface="Consolas"/>
              </a:rPr>
              <a:t>                nScanNum, snr, nClutterNum);</a:t>
            </a:r>
          </a:p>
          <a:p>
            <a:pPr algn="l">
              <a:lnSpc>
                <a:spcPts val="1040"/>
              </a:lnSpc>
              <a:spcAft>
                <a:spcPts val="0"/>
              </a:spcAft>
            </a:pPr>
            <a:r>
              <a:rPr sz="900" b="0" i="0" lang="ko-KR" altLang="en-US">
                <a:solidFill>
                  <a:srgbClr val="8E9BB5"/>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for</a:t>
            </a:r>
            <a:r>
              <a:rPr sz="900" b="0" i="0" lang="ko-KR" altLang="en-US">
                <a:solidFill>
                  <a:srgbClr val="E3E8F2"/>
                </a:solidFill>
                <a:latin typeface="Consolas"/>
                <a:ea typeface="맑은 고딕"/>
                <a:cs typeface="Consolas"/>
              </a:rPr>
              <a:t> (nScan = 0; nScan &lt; nScanNum; nScan++)</a:t>
            </a:r>
          </a:p>
          <a:p>
            <a:pPr algn="l">
              <a:lnSpc>
                <a:spcPts val="1040"/>
              </a:lnSpc>
              <a:spcAft>
                <a:spcPts val="0"/>
              </a:spcAft>
            </a:pPr>
            <a:r>
              <a:rPr sz="900" b="0" i="0" lang="ko-KR" altLang="en-US">
                <a:solidFill>
                  <a:srgbClr val="E3E8F2"/>
                </a:solidFill>
                <a:latin typeface="Consolas"/>
                <a:ea typeface="맑은 고딕"/>
                <a:cs typeface="Consolas"/>
              </a:rPr>
              <a:t>  {</a:t>
            </a:r>
          </a:p>
          <a:p>
            <a:pPr algn="l">
              <a:lnSpc>
                <a:spcPts val="1040"/>
              </a:lnSpc>
              <a:spcAft>
                <a:spcPts val="0"/>
              </a:spcAft>
            </a:pPr>
            <a:r>
              <a:rPr sz="900" b="0" i="0" lang="ko-KR" altLang="en-US">
                <a:solidFill>
                  <a:srgbClr val="8E9BB5"/>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a:t>
            </a:r>
            <a:r>
              <a:rPr sz="900" b="0" i="0" lang="ko-KR" altLang="en-US">
                <a:solidFill>
                  <a:srgbClr val="7FB77E"/>
                </a:solidFill>
                <a:latin typeface="Consolas"/>
                <a:ea typeface="맑은 고딕"/>
                <a:cs typeface="Consolas"/>
              </a:rPr>
              <a:t>// 플롯 오차 z - x 는 성분마다 넣은 잡음 v 와 같음</a:t>
            </a:r>
          </a:p>
          <a:p>
            <a:pPr algn="l">
              <a:lnSpc>
                <a:spcPts val="104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for</a:t>
            </a:r>
            <a:r>
              <a:rPr sz="900" b="0" i="0" lang="ko-KR" altLang="en-US">
                <a:solidFill>
                  <a:srgbClr val="E3E8F2"/>
                </a:solidFill>
                <a:latin typeface="Consolas"/>
                <a:ea typeface="맑은 고딕"/>
                <a:cs typeface="Consolas"/>
              </a:rPr>
              <a:t> (nTarget = 0; nTarget &lt; nTargetNum; nTarget++)</a:t>
            </a:r>
          </a:p>
          <a:p>
            <a:pPr algn="l">
              <a:lnSpc>
                <a:spcPts val="1040"/>
              </a:lnSpc>
              <a:spcAft>
                <a:spcPts val="0"/>
              </a:spcAft>
            </a:pPr>
            <a:r>
              <a:rPr sz="900" b="0" i="0" lang="ko-KR" altLang="en-US">
                <a:solidFill>
                  <a:srgbClr val="E3E8F2"/>
                </a:solidFill>
                <a:latin typeface="Consolas"/>
                <a:ea typeface="맑은 고딕"/>
                <a:cs typeface="Consolas"/>
              </a:rPr>
              <a:t>    {</a:t>
            </a:r>
          </a:p>
          <a:p>
            <a:pPr algn="l">
              <a:lnSpc>
                <a:spcPts val="1040"/>
              </a:lnSpc>
              <a:spcAft>
                <a:spcPts val="0"/>
              </a:spcAft>
            </a:pPr>
            <a:r>
              <a:rPr sz="900" b="0" i="0" lang="ko-KR" altLang="en-US">
                <a:solidFill>
                  <a:srgbClr val="8E9BB5"/>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a:t>
            </a:r>
            <a:r>
              <a:rPr sz="900" b="0" i="0" lang="ko-KR" altLang="en-US">
                <a:solidFill>
                  <a:srgbClr val="8FB4FF"/>
                </a:solidFill>
                <a:latin typeface="Consolas"/>
                <a:ea typeface="맑은 고딕"/>
                <a:cs typeface="Consolas"/>
              </a:rPr>
              <a:t>for</a:t>
            </a:r>
            <a:r>
              <a:rPr sz="900" b="0" i="0" lang="ko-KR" altLang="en-US">
                <a:solidFill>
                  <a:srgbClr val="E3E8F2"/>
                </a:solidFill>
                <a:latin typeface="Consolas"/>
                <a:ea typeface="맑은 고딕"/>
                <a:cs typeface="Consolas"/>
              </a:rPr>
              <a:t> (nPart = 0; nPart &lt; 3; nPart++)</a:t>
            </a:r>
          </a:p>
          <a:p>
            <a:pPr algn="l">
              <a:lnSpc>
                <a:spcPts val="1040"/>
              </a:lnSpc>
              <a:spcAft>
                <a:spcPts val="0"/>
              </a:spcAft>
            </a:pPr>
            <a:r>
              <a:rPr sz="900" b="0" i="0" lang="ko-KR" altLang="en-US">
                <a:solidFill>
                  <a:srgbClr val="E3E8F2"/>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sum[nPart]   = sum[nPart] + diff[nPart];</a:t>
            </a:r>
          </a:p>
          <a:p>
            <a:pPr algn="l">
              <a:lnSpc>
                <a:spcPts val="1040"/>
              </a:lnSpc>
              <a:spcAft>
                <a:spcPts val="0"/>
              </a:spcAft>
            </a:pPr>
            <a:r>
              <a:rPr sz="900" b="0" i="0" lang="ko-KR" altLang="en-US">
                <a:solidFill>
                  <a:srgbClr val="E3E8F2"/>
                </a:solidFill>
                <a:latin typeface="Consolas"/>
                <a:ea typeface="맑은 고딕"/>
                <a:cs typeface="Consolas"/>
              </a:rPr>
              <a:t>        sumSq[nPart] = sumSq[nPart] + (diff[nPart] * diff[nPart]);</a:t>
            </a:r>
          </a:p>
          <a:p>
            <a:pPr algn="l">
              <a:lnSpc>
                <a:spcPts val="1040"/>
              </a:lnSpc>
              <a:spcAft>
                <a:spcPts val="0"/>
              </a:spcAft>
            </a:pPr>
            <a:r>
              <a:rPr sz="900" b="0" i="0" lang="ko-KR" altLang="en-US">
                <a:solidFill>
                  <a:srgbClr val="E3E8F2"/>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st_PlotPointBuf.push_back(</a:t>
            </a:r>
            <a:r>
              <a:rPr sz="900" b="0" i="0" lang="ko-KR" altLang="en-US">
                <a:solidFill>
                  <a:srgbClr val="F2C46D"/>
                </a:solidFill>
                <a:latin typeface="Consolas"/>
                <a:ea typeface="맑은 고딕"/>
                <a:cs typeface="Consolas"/>
              </a:rPr>
              <a:t>f_Meas_ToPoint</a:t>
            </a:r>
            <a:r>
              <a:rPr sz="900" b="0" i="0" lang="ko-KR" altLang="en-US">
                <a:solidFill>
                  <a:srgbClr val="E3E8F2"/>
                </a:solidFill>
                <a:latin typeface="Consolas"/>
                <a:ea typeface="맑은 고딕"/>
                <a:cs typeface="Consolas"/>
              </a:rPr>
              <a:t>(&amp;st_Scan-&gt;st_PlotLla[nTarget],</a:t>
            </a:r>
          </a:p>
          <a:p>
            <a:pPr algn="l">
              <a:lnSpc>
                <a:spcPts val="1040"/>
              </a:lnSpc>
              <a:spcAft>
                <a:spcPts val="0"/>
              </a:spcAft>
            </a:pPr>
            <a:r>
              <a:rPr sz="900" b="0" i="0" lang="ko-KR" altLang="en-US">
                <a:solidFill>
                  <a:srgbClr val="E3E8F2"/>
                </a:solidFill>
                <a:latin typeface="Consolas"/>
                <a:ea typeface="맑은 고딕"/>
                <a:cs typeface="Consolas"/>
              </a:rPr>
              <a:t>                                               st_Origin));</a:t>
            </a:r>
          </a:p>
          <a:p>
            <a:pPr algn="l">
              <a:lnSpc>
                <a:spcPts val="1040"/>
              </a:lnSpc>
              <a:spcAft>
                <a:spcPts val="0"/>
              </a:spcAft>
            </a:pPr>
            <a:r>
              <a:rPr sz="900" b="0" i="0" lang="ko-KR" altLang="en-US">
                <a:solidFill>
                  <a:srgbClr val="E3E8F2"/>
                </a:solidFill>
                <a:latin typeface="Consolas"/>
                <a:ea typeface="맑은 고딕"/>
                <a:cs typeface="Consolas"/>
              </a:rPr>
              <a:t>    }</a:t>
            </a:r>
          </a:p>
          <a:p>
            <a:pPr algn="l">
              <a:lnSpc>
                <a:spcPts val="1040"/>
              </a:lnSpc>
              <a:spcAft>
                <a:spcPts val="0"/>
              </a:spcAft>
            </a:pPr>
            <a:r>
              <a:rPr sz="900" b="0" i="0" lang="ko-KR" altLang="en-US">
                <a:solidFill>
                  <a:srgbClr val="8E9BB5"/>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a:t>
            </a:r>
          </a:p>
          <a:p>
            <a:pPr algn="l">
              <a:lnSpc>
                <a:spcPts val="1040"/>
              </a:lnSpc>
              <a:spcAft>
                <a:spcPts val="0"/>
              </a:spcAft>
            </a:pPr>
            <a:r>
              <a:rPr sz="900" b="0" i="0" lang="ko-KR" altLang="en-US">
                <a:solidFill>
                  <a:srgbClr val="E3E8F2"/>
                </a:solidFill>
                <a:latin typeface="Consolas"/>
                <a:ea typeface="맑은 고딕"/>
                <a:cs typeface="Consolas"/>
              </a:rPr>
              <a:t>  st_ErrorStd.r  = </a:t>
            </a:r>
            <a:r>
              <a:rPr sz="900" b="0" i="0" lang="ko-KR" altLang="en-US">
                <a:solidFill>
                  <a:srgbClr val="F2C46D"/>
                </a:solidFill>
                <a:latin typeface="Consolas"/>
                <a:ea typeface="맑은 고딕"/>
                <a:cs typeface="Consolas"/>
              </a:rPr>
              <a:t>f_Meas_Std</a:t>
            </a:r>
            <a:r>
              <a:rPr sz="900" b="0" i="0" lang="ko-KR" altLang="en-US">
                <a:solidFill>
                  <a:srgbClr val="E3E8F2"/>
                </a:solidFill>
                <a:latin typeface="Consolas"/>
                <a:ea typeface="맑은 고딕"/>
                <a:cs typeface="Consolas"/>
              </a:rPr>
              <a:t>(sum[0], sumSq[0], nPlotNum);</a:t>
            </a:r>
          </a:p>
          <a:p>
            <a:pPr algn="l">
              <a:lnSpc>
                <a:spcPts val="1040"/>
              </a:lnSpc>
              <a:spcAft>
                <a:spcPts val="0"/>
              </a:spcAft>
            </a:pPr>
            <a:r>
              <a:rPr sz="900" b="0" i="0" lang="ko-KR" altLang="en-US">
                <a:solidFill>
                  <a:srgbClr val="E3E8F2"/>
                </a:solidFill>
                <a:latin typeface="Consolas"/>
                <a:ea typeface="맑은 고딕"/>
                <a:cs typeface="Consolas"/>
              </a:rPr>
              <a:t>  st_ErrorStd.az = </a:t>
            </a:r>
            <a:r>
              <a:rPr sz="900" b="0" i="0" lang="ko-KR" altLang="en-US">
                <a:solidFill>
                  <a:srgbClr val="F2C46D"/>
                </a:solidFill>
                <a:latin typeface="Consolas"/>
                <a:ea typeface="맑은 고딕"/>
                <a:cs typeface="Consolas"/>
              </a:rPr>
              <a:t>f_Meas_Std</a:t>
            </a:r>
            <a:r>
              <a:rPr sz="900" b="0" i="0" lang="ko-KR" altLang="en-US">
                <a:solidFill>
                  <a:srgbClr val="E3E8F2"/>
                </a:solidFill>
                <a:latin typeface="Consolas"/>
                <a:ea typeface="맑은 고딕"/>
                <a:cs typeface="Consolas"/>
              </a:rPr>
              <a:t>(sum[1], sumSq[1], nPlotNum);</a:t>
            </a:r>
          </a:p>
          <a:p>
            <a:pPr algn="l">
              <a:lnSpc>
                <a:spcPts val="1040"/>
              </a:lnSpc>
              <a:spcAft>
                <a:spcPts val="0"/>
              </a:spcAft>
            </a:pPr>
            <a:r>
              <a:rPr sz="900" b="0" i="0" lang="ko-KR" altLang="en-US">
                <a:solidFill>
                  <a:srgbClr val="E3E8F2"/>
                </a:solidFill>
                <a:latin typeface="Consolas"/>
                <a:ea typeface="맑은 고딕"/>
                <a:cs typeface="Consolas"/>
              </a:rPr>
              <a:t>  st_ErrorStd.el = </a:t>
            </a:r>
            <a:r>
              <a:rPr sz="900" b="0" i="0" lang="ko-KR" altLang="en-US">
                <a:solidFill>
                  <a:srgbClr val="F2C46D"/>
                </a:solidFill>
                <a:latin typeface="Consolas"/>
                <a:ea typeface="맑은 고딕"/>
                <a:cs typeface="Consolas"/>
              </a:rPr>
              <a:t>f_Meas_Std</a:t>
            </a:r>
            <a:r>
              <a:rPr sz="900" b="0" i="0" lang="ko-KR" altLang="en-US">
                <a:solidFill>
                  <a:srgbClr val="E3E8F2"/>
                </a:solidFill>
                <a:latin typeface="Consolas"/>
                <a:ea typeface="맑은 고딕"/>
                <a:cs typeface="Consolas"/>
              </a:rPr>
              <a:t>(sum[2], sumSq[2], nPlotNum);</a:t>
            </a:r>
          </a:p>
          <a:p>
            <a:pPr algn="l">
              <a:lnSpc>
                <a:spcPts val="1040"/>
              </a:lnSpc>
              <a:spcAft>
                <a:spcPts val="0"/>
              </a:spcAft>
            </a:pPr>
            <a:r>
              <a:rPr sz="900" b="0" i="0" lang="ko-KR" altLang="en-US">
                <a:solidFill>
                  <a:srgbClr val="E3E8F2"/>
                </a:solidFill>
                <a:latin typeface="Consolas"/>
                <a:ea typeface="맑은 고딕"/>
                <a:cs typeface="Consolas"/>
              </a:rPr>
              <a:t>}</a:t>
            </a:r>
          </a:p>
        </p:txBody>
      </p:sp>
      <p:sp>
        <p:nvSpPr>
          <p:cNvPr id="9" name="Oval 8"/>
          <p:cNvSpPr/>
          <p:nvPr/>
        </p:nvSpPr>
        <p:spPr>
          <a:xfrm>
            <a:off x="704087" y="2397252"/>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7" y="2397252"/>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1</a:t>
            </a:r>
          </a:p>
        </p:txBody>
      </p:sp>
      <p:cxnSp>
        <p:nvCxnSpPr>
          <p:cNvPr id="11" name="Connector 10"/>
          <p:cNvCxnSpPr/>
          <p:nvPr/>
        </p:nvCxnSpPr>
        <p:spPr>
          <a:xfrm>
            <a:off x="813815" y="3035300"/>
            <a:ext cx="0" cy="13208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13815" y="3167380"/>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04087" y="2925572"/>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7" y="2925572"/>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2</a:t>
            </a:r>
          </a:p>
        </p:txBody>
      </p:sp>
      <p:cxnSp>
        <p:nvCxnSpPr>
          <p:cNvPr id="15" name="Connector 14"/>
          <p:cNvCxnSpPr/>
          <p:nvPr/>
        </p:nvCxnSpPr>
        <p:spPr>
          <a:xfrm>
            <a:off x="813815" y="4620260"/>
            <a:ext cx="0" cy="13208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13815" y="4752340"/>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04087" y="4510532"/>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7" y="4510532"/>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3</a:t>
            </a:r>
          </a:p>
        </p:txBody>
      </p:sp>
      <p:cxnSp>
        <p:nvCxnSpPr>
          <p:cNvPr id="19" name="Connector 18"/>
          <p:cNvCxnSpPr/>
          <p:nvPr/>
        </p:nvCxnSpPr>
        <p:spPr>
          <a:xfrm>
            <a:off x="813815" y="5016500"/>
            <a:ext cx="0" cy="13208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13815" y="5148580"/>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4087" y="4906772"/>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7" y="4906772"/>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4</a:t>
            </a:r>
          </a:p>
        </p:txBody>
      </p:sp>
      <p:cxnSp>
        <p:nvCxnSpPr>
          <p:cNvPr id="23" name="Connector 22"/>
          <p:cNvCxnSpPr/>
          <p:nvPr/>
        </p:nvCxnSpPr>
        <p:spPr>
          <a:xfrm>
            <a:off x="813815" y="5676900"/>
            <a:ext cx="0" cy="26416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13815" y="5941060"/>
            <a:ext cx="100584" cy="0"/>
          </a:xfrm>
          <a:prstGeom prst="line">
            <a:avLst/>
          </a:prstGeom>
          <a:ln w="15875">
            <a:solidFill>
              <a:srgbClr val="D9770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04087" y="5567172"/>
            <a:ext cx="219456" cy="21945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7" y="5567172"/>
            <a:ext cx="219456" cy="219456"/>
          </a:xfrm>
          <a:prstGeom prst="rect">
            <a:avLst/>
          </a:prstGeom>
          <a:noFill/>
        </p:spPr>
        <p:txBody>
          <a:bodyPr wrap="square" anchor="ctr" lIns="0" tIns="0" rIns="0" bIns="0">
            <a:noAutofit/>
          </a:bodyPr>
          <a:lstStyle/>
          <a:p>
            <a:pPr algn="ctr">
              <a:lnSpc>
                <a:spcPct val="110000"/>
              </a:lnSpc>
              <a:spcAft>
                <a:spcPts val="0"/>
              </a:spcAft>
            </a:pPr>
            <a:r>
              <a:rPr sz="900" b="1" i="0" lang="ko-KR" altLang="en-US">
                <a:solidFill>
                  <a:srgbClr val="FFFFFF"/>
                </a:solidFill>
                <a:latin typeface="Arial"/>
                <a:ea typeface="맑은 고딕"/>
                <a:cs typeface="Arial"/>
              </a:rPr>
              <a:t>3</a:t>
            </a:r>
          </a:p>
        </p:txBody>
      </p:sp>
      <p:sp>
        <p:nvSpPr>
          <p:cNvPr id="27" name="Oval 26"/>
          <p:cNvSpPr/>
          <p:nvPr/>
        </p:nvSpPr>
        <p:spPr>
          <a:xfrm>
            <a:off x="7196328" y="1984248"/>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96328" y="1984248"/>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1</a:t>
            </a:r>
          </a:p>
        </p:txBody>
      </p:sp>
      <p:sp>
        <p:nvSpPr>
          <p:cNvPr id="29" name="TextBox 28"/>
          <p:cNvSpPr txBox="1"/>
          <p:nvPr/>
        </p:nvSpPr>
        <p:spPr>
          <a:xfrm>
            <a:off x="7543800" y="1965960"/>
            <a:ext cx="40050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스캔 600개</a:t>
            </a:r>
          </a:p>
        </p:txBody>
      </p:sp>
      <p:sp>
        <p:nvSpPr>
          <p:cNvPr id="30" name="TextBox 29"/>
          <p:cNvSpPr txBox="1"/>
          <p:nvPr/>
        </p:nvSpPr>
        <p:spPr>
          <a:xfrm>
            <a:off x="7543800" y="2249424"/>
            <a:ext cx="4005072" cy="265176"/>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표본 601개 − 1  (t = 0 ~ 59.9 s)</a:t>
            </a:r>
          </a:p>
        </p:txBody>
      </p:sp>
      <p:sp>
        <p:nvSpPr>
          <p:cNvPr id="31" name="Oval 30"/>
          <p:cNvSpPr/>
          <p:nvPr/>
        </p:nvSpPr>
        <p:spPr>
          <a:xfrm>
            <a:off x="7196328" y="2551176"/>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96328" y="2551176"/>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2</a:t>
            </a:r>
          </a:p>
        </p:txBody>
      </p:sp>
      <p:sp>
        <p:nvSpPr>
          <p:cNvPr id="33" name="TextBox 32"/>
          <p:cNvSpPr txBox="1"/>
          <p:nvPr/>
        </p:nvSpPr>
        <p:spPr>
          <a:xfrm>
            <a:off x="7543800" y="2532888"/>
            <a:ext cx="40050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측정 모의는 한 번에</a:t>
            </a:r>
          </a:p>
        </p:txBody>
      </p:sp>
      <p:sp>
        <p:nvSpPr>
          <p:cNvPr id="34" name="TextBox 33"/>
          <p:cNvSpPr txBox="1"/>
          <p:nvPr/>
        </p:nvSpPr>
        <p:spPr>
          <a:xfrm>
            <a:off x="7543800" y="2816352"/>
            <a:ext cx="4005072" cy="265176"/>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f_Pcs_Measure 가 600 스캔을 모두 채움 (4.4)</a:t>
            </a:r>
          </a:p>
        </p:txBody>
      </p:sp>
      <p:sp>
        <p:nvSpPr>
          <p:cNvPr id="35" name="Oval 34"/>
          <p:cNvSpPr/>
          <p:nvPr/>
        </p:nvSpPr>
        <p:spPr>
          <a:xfrm>
            <a:off x="7196328" y="3118104"/>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96328" y="3118104"/>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3</a:t>
            </a:r>
          </a:p>
        </p:txBody>
      </p:sp>
      <p:sp>
        <p:nvSpPr>
          <p:cNvPr id="37" name="TextBox 36"/>
          <p:cNvSpPr txBox="1"/>
          <p:nvPr/>
        </p:nvSpPr>
        <p:spPr>
          <a:xfrm>
            <a:off x="7543800" y="3099816"/>
            <a:ext cx="40050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오차 표준편차</a:t>
            </a:r>
          </a:p>
        </p:txBody>
      </p:sp>
      <p:sp>
        <p:nvSpPr>
          <p:cNvPr id="38" name="TextBox 37"/>
          <p:cNvSpPr txBox="1"/>
          <p:nvPr/>
        </p:nvSpPr>
        <p:spPr>
          <a:xfrm>
            <a:off x="7543800" y="3383280"/>
            <a:ext cx="4005072" cy="265176"/>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플롯 − 참값 (z − x) 의 합 · 제곱합을 모아 f_Meas_Std (N 으로 나눔)</a:t>
            </a:r>
          </a:p>
        </p:txBody>
      </p:sp>
      <p:sp>
        <p:nvSpPr>
          <p:cNvPr id="39" name="Oval 38"/>
          <p:cNvSpPr/>
          <p:nvPr/>
        </p:nvSpPr>
        <p:spPr>
          <a:xfrm>
            <a:off x="7196328" y="3685031"/>
            <a:ext cx="246888" cy="2468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96328" y="3685031"/>
            <a:ext cx="246888" cy="246888"/>
          </a:xfrm>
          <a:prstGeom prst="rect">
            <a:avLst/>
          </a:prstGeom>
          <a:noFill/>
        </p:spPr>
        <p:txBody>
          <a:bodyPr wrap="square" anchor="ctr" lIns="0" tIns="0" rIns="0" bIns="0">
            <a:noAutofit/>
          </a:bodyPr>
          <a:lstStyle/>
          <a:p>
            <a:pPr algn="ctr">
              <a:lnSpc>
                <a:spcPct val="110000"/>
              </a:lnSpc>
              <a:spcAft>
                <a:spcPts val="0"/>
              </a:spcAft>
            </a:pPr>
            <a:r>
              <a:rPr sz="950" b="1" i="0" lang="ko-KR" altLang="en-US">
                <a:solidFill>
                  <a:srgbClr val="FFFFFF"/>
                </a:solidFill>
                <a:latin typeface="Arial"/>
                <a:ea typeface="맑은 고딕"/>
                <a:cs typeface="Arial"/>
              </a:rPr>
              <a:t>4</a:t>
            </a:r>
          </a:p>
        </p:txBody>
      </p:sp>
      <p:sp>
        <p:nvSpPr>
          <p:cNvPr id="41" name="TextBox 40"/>
          <p:cNvSpPr txBox="1"/>
          <p:nvPr/>
        </p:nvSpPr>
        <p:spPr>
          <a:xfrm>
            <a:off x="7543800" y="3666744"/>
            <a:ext cx="4005072" cy="283464"/>
          </a:xfrm>
          <a:prstGeom prst="rect">
            <a:avLst/>
          </a:prstGeom>
          <a:noFill/>
        </p:spPr>
        <p:txBody>
          <a:bodyPr wrap="square" anchor="ctr" lIns="0" tIns="0" rIns="0" bIns="0">
            <a:noAutofit/>
          </a:bodyPr>
          <a:lstStyle/>
          <a:p>
            <a:pPr algn="l">
              <a:lnSpc>
                <a:spcPct val="115000"/>
              </a:lnSpc>
              <a:spcAft>
                <a:spcPts val="0"/>
              </a:spcAft>
            </a:pPr>
            <a:r>
              <a:rPr sz="1200" b="1" i="0" lang="ko-KR" altLang="en-US">
                <a:solidFill>
                  <a:srgbClr val="1B2740"/>
                </a:solidFill>
                <a:latin typeface="맑은 고딕"/>
                <a:ea typeface="맑은 고딕"/>
                <a:cs typeface="맑은 고딕"/>
              </a:rPr>
              <a:t>지도 좌표</a:t>
            </a:r>
          </a:p>
        </p:txBody>
      </p:sp>
      <p:sp>
        <p:nvSpPr>
          <p:cNvPr id="42" name="TextBox 41"/>
          <p:cNvSpPr txBox="1"/>
          <p:nvPr/>
        </p:nvSpPr>
        <p:spPr>
          <a:xfrm>
            <a:off x="7543800" y="3950207"/>
            <a:ext cx="4005072" cy="265176"/>
          </a:xfrm>
          <a:prstGeom prst="rect">
            <a:avLst/>
          </a:prstGeom>
          <a:noFill/>
        </p:spPr>
        <p:txBody>
          <a:bodyPr wrap="square" anchor="t" lIns="0" tIns="0" rIns="0" bIns="0">
            <a:noAutofit/>
          </a:bodyPr>
          <a:lstStyle/>
          <a:p>
            <a:pPr algn="l">
              <a:lnSpc>
                <a:spcPct val="112000"/>
              </a:lnSpc>
              <a:spcAft>
                <a:spcPts val="0"/>
              </a:spcAft>
            </a:pPr>
            <a:r>
              <a:rPr sz="1050" b="0" i="0" lang="ko-KR" altLang="en-US">
                <a:solidFill>
                  <a:srgbClr val="4A5A7A"/>
                </a:solidFill>
                <a:latin typeface="맑은 고딕"/>
                <a:ea typeface="맑은 고딕"/>
                <a:cs typeface="맑은 고딕"/>
              </a:rPr>
              <a:t>플롯 · 클러터 위경도 → 플랫폼 처음 위치 기준 동-북</a:t>
            </a:r>
          </a:p>
        </p:txBody>
      </p:sp>
      <p:sp>
        <p:nvSpPr>
          <p:cNvPr id="43" name="TextBox 42"/>
          <p:cNvSpPr txBox="1"/>
          <p:nvPr/>
        </p:nvSpPr>
        <p:spPr>
          <a:xfrm>
            <a:off x="7196328" y="4279392"/>
            <a:ext cx="4352544" cy="274320"/>
          </a:xfrm>
          <a:prstGeom prst="rect">
            <a:avLst/>
          </a:prstGeom>
          <a:noFill/>
        </p:spPr>
        <p:txBody>
          <a:bodyPr wrap="square" anchor="ctr" lIns="0" tIns="0" rIns="0" bIns="0">
            <a:noAutofit/>
          </a:bodyPr>
          <a:lstStyle/>
          <a:p>
            <a:pPr algn="l">
              <a:lnSpc>
                <a:spcPct val="115000"/>
              </a:lnSpc>
              <a:spcAft>
                <a:spcPts val="0"/>
              </a:spcAft>
            </a:pPr>
            <a:r>
              <a:rPr sz="1050" b="1" i="0" lang="ko-KR" altLang="en-US">
                <a:solidFill>
                  <a:srgbClr val="1B2740"/>
                </a:solidFill>
                <a:latin typeface="Arial"/>
                <a:ea typeface="맑은 고딕"/>
                <a:cs typeface="Arial"/>
              </a:rPr>
              <a:t>TargetSimUIDlg.cpp</a:t>
            </a:r>
            <a:r>
              <a:rPr sz="1050" b="0" i="0" lang="ko-KR" altLang="en-US">
                <a:solidFill>
                  <a:srgbClr val="647089"/>
                </a:solidFill>
                <a:latin typeface="맑은 고딕"/>
                <a:ea typeface="맑은 고딕"/>
                <a:cs typeface="맑은 고딕"/>
              </a:rPr>
              <a:t>   f_RunMeasure</a:t>
            </a:r>
          </a:p>
        </p:txBody>
      </p:sp>
      <p:sp>
        <p:nvSpPr>
          <p:cNvPr id="44" name="Rectangle 43"/>
          <p:cNvSpPr/>
          <p:nvPr/>
        </p:nvSpPr>
        <p:spPr>
          <a:xfrm>
            <a:off x="7196328" y="4572000"/>
            <a:ext cx="4352544" cy="1243584"/>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24344" y="4645152"/>
            <a:ext cx="4169664" cy="1115568"/>
          </a:xfrm>
          <a:prstGeom prst="rect">
            <a:avLst/>
          </a:prstGeom>
          <a:noFill/>
        </p:spPr>
        <p:txBody>
          <a:bodyPr wrap="none" anchor="t" lIns="0" tIns="0" rIns="0" bIns="0">
            <a:noAutofit/>
          </a:bodyPr>
          <a:lstStyle/>
          <a:p>
            <a:pPr algn="l">
              <a:lnSpc>
                <a:spcPts val="960"/>
              </a:lnSpc>
              <a:spcAft>
                <a:spcPts val="0"/>
              </a:spcAft>
            </a:pPr>
            <a:r>
              <a:rPr sz="850" b="0" i="0" lang="ko-KR" altLang="en-US">
                <a:solidFill>
                  <a:srgbClr val="8FB4FF"/>
                </a:solidFill>
                <a:latin typeface="Consolas"/>
                <a:ea typeface="맑은 고딕"/>
                <a:cs typeface="Consolas"/>
              </a:rPr>
              <a:t>VOID</a:t>
            </a:r>
            <a:r>
              <a:rPr sz="850" b="0" i="0" lang="ko-KR" altLang="en-US">
                <a:solidFill>
                  <a:srgbClr val="E3E8F2"/>
                </a:solidFill>
                <a:latin typeface="Consolas"/>
                <a:ea typeface="맑은 고딕"/>
                <a:cs typeface="Consolas"/>
              </a:rPr>
              <a:t> CTargetSimUIDlg::f_RunMeasure(</a:t>
            </a:r>
            <a:r>
              <a:rPr sz="850" b="0" i="0" lang="ko-KR" altLang="en-US">
                <a:solidFill>
                  <a:srgbClr val="8FB4FF"/>
                </a:solidFill>
                <a:latin typeface="Consolas"/>
                <a:ea typeface="맑은 고딕"/>
                <a:cs typeface="Consolas"/>
              </a:rPr>
              <a:t>VOID</a:t>
            </a:r>
            <a:r>
              <a:rPr sz="850" b="0" i="0" lang="ko-KR" altLang="en-US">
                <a:solidFill>
                  <a:srgbClr val="E3E8F2"/>
                </a:solidFill>
                <a:latin typeface="Consolas"/>
                <a:ea typeface="맑은 고딕"/>
                <a:cs typeface="Consolas"/>
              </a:rPr>
              <a:t>)</a:t>
            </a:r>
          </a:p>
          <a:p>
            <a:pPr algn="l">
              <a:lnSpc>
                <a:spcPts val="960"/>
              </a:lnSpc>
              <a:spcAft>
                <a:spcPts val="0"/>
              </a:spcAft>
            </a:pPr>
            <a:r>
              <a:rPr sz="850" b="0" i="0" lang="ko-KR" altLang="en-US">
                <a:solidFill>
                  <a:srgbClr val="E3E8F2"/>
                </a:solidFill>
                <a:latin typeface="Consolas"/>
                <a:ea typeface="맑은 고딕"/>
                <a:cs typeface="Consolas"/>
              </a:rPr>
              <a:t>{</a:t>
            </a:r>
          </a:p>
          <a:p>
            <a:pPr algn="l">
              <a:lnSpc>
                <a:spcPts val="960"/>
              </a:lnSpc>
              <a:spcAft>
                <a:spcPts val="0"/>
              </a:spcAft>
            </a:pPr>
            <a:r>
              <a:rPr sz="850" b="0" i="0" lang="ko-KR" altLang="en-US">
                <a:solidFill>
                  <a:srgbClr val="E3E8F2"/>
                </a:solidFill>
                <a:latin typeface="Consolas"/>
                <a:ea typeface="맑은 고딕"/>
                <a:cs typeface="Consolas"/>
              </a:rPr>
              <a:t>  </a:t>
            </a:r>
            <a:r>
              <a:rPr sz="850" b="0" i="0" lang="ko-KR" altLang="en-US">
                <a:solidFill>
                  <a:srgbClr val="8FB4FF"/>
                </a:solidFill>
                <a:latin typeface="Consolas"/>
                <a:ea typeface="맑은 고딕"/>
                <a:cs typeface="Consolas"/>
              </a:rPr>
              <a:t>CString</a:t>
            </a:r>
            <a:r>
              <a:rPr sz="850" b="0" i="0" lang="ko-KR" altLang="en-US">
                <a:solidFill>
                  <a:srgbClr val="E3E8F2"/>
                </a:solidFill>
                <a:latin typeface="Consolas"/>
                <a:ea typeface="맑은 고딕"/>
                <a:cs typeface="Consolas"/>
              </a:rPr>
              <a:t> st_Text;</a:t>
            </a:r>
          </a:p>
          <a:p>
            <a:pPr algn="l">
              <a:lnSpc>
                <a:spcPts val="960"/>
              </a:lnSpc>
              <a:spcAft>
                <a:spcPts val="0"/>
              </a:spcAft>
            </a:pPr>
            <a:r>
              <a:rPr sz="850" b="0" i="0" lang="ko-KR" altLang="en-US">
                <a:solidFill>
                  <a:srgbClr val="E3E8F2"/>
                </a:solidFill>
                <a:latin typeface="Consolas"/>
                <a:ea typeface="맑은 고딕"/>
                <a:cs typeface="Consolas"/>
              </a:rPr>
              <a:t>  st_PlotResult.</a:t>
            </a:r>
            <a:r>
              <a:rPr sz="850" b="0" i="0" lang="ko-KR" altLang="en-US">
                <a:solidFill>
                  <a:srgbClr val="F2C46D"/>
                </a:solidFill>
                <a:latin typeface="Consolas"/>
                <a:ea typeface="맑은 고딕"/>
                <a:cs typeface="Consolas"/>
              </a:rPr>
              <a:t>f_Run</a:t>
            </a:r>
            <a:r>
              <a:rPr sz="850" b="0" i="0" lang="ko-KR" altLang="en-US">
                <a:solidFill>
                  <a:srgbClr val="E3E8F2"/>
                </a:solidFill>
                <a:latin typeface="Consolas"/>
                <a:ea typeface="맑은 고딕"/>
                <a:cs typeface="Consolas"/>
              </a:rPr>
              <a:t>(&amp;st_Result, snr, nClutterNum);</a:t>
            </a:r>
          </a:p>
          <a:p>
            <a:pPr algn="l">
              <a:lnSpc>
                <a:spcPts val="960"/>
              </a:lnSpc>
              <a:spcAft>
                <a:spcPts val="0"/>
              </a:spcAft>
            </a:pPr>
            <a:r>
              <a:rPr sz="850" b="0" i="0" lang="ko-KR" altLang="en-US">
                <a:solidFill>
                  <a:srgbClr val="E3E8F2"/>
                </a:solidFill>
                <a:latin typeface="Consolas"/>
                <a:ea typeface="맑은 고딕"/>
                <a:cs typeface="Consolas"/>
              </a:rPr>
              <a:t>  st_Text.Format(</a:t>
            </a:r>
            <a:r>
              <a:rPr sz="850" b="0" i="0" lang="ko-KR" altLang="en-US">
                <a:solidFill>
                  <a:srgbClr val="E9A86B"/>
                </a:solidFill>
                <a:latin typeface="Consolas"/>
                <a:ea typeface="맑은 고딕"/>
                <a:cs typeface="Consolas"/>
              </a:rPr>
              <a:t>_T("표준편차 p (이론) ...")</a:t>
            </a:r>
            <a:r>
              <a:rPr sz="850" b="0" i="0" lang="ko-KR" altLang="en-US">
                <a:solidFill>
                  <a:srgbClr val="E3E8F2"/>
                </a:solidFill>
                <a:latin typeface="Consolas"/>
                <a:ea typeface="맑은 고딕"/>
                <a:cs typeface="Consolas"/>
              </a:rPr>
              <a:t>, </a:t>
            </a:r>
            <a:r>
              <a:rPr sz="850" b="0" i="0" lang="ko-KR" altLang="en-US">
                <a:solidFill>
                  <a:srgbClr val="8E9BB5"/>
                </a:solidFill>
                <a:latin typeface="Consolas"/>
                <a:ea typeface="맑은 고딕"/>
                <a:cs typeface="Consolas"/>
              </a:rPr>
              <a:t>...</a:t>
            </a:r>
            <a:r>
              <a:rPr sz="850" b="0" i="0" lang="ko-KR" altLang="en-US">
                <a:solidFill>
                  <a:srgbClr val="E3E8F2"/>
                </a:solidFill>
                <a:latin typeface="Consolas"/>
                <a:ea typeface="맑은 고딕"/>
                <a:cs typeface="Consolas"/>
              </a:rPr>
              <a:t>);</a:t>
            </a:r>
          </a:p>
          <a:p>
            <a:pPr algn="l">
              <a:lnSpc>
                <a:spcPts val="960"/>
              </a:lnSpc>
              <a:spcAft>
                <a:spcPts val="0"/>
              </a:spcAft>
            </a:pPr>
            <a:r>
              <a:rPr sz="850" b="0" i="0" lang="ko-KR" altLang="en-US">
                <a:solidFill>
                  <a:srgbClr val="E3E8F2"/>
                </a:solidFill>
                <a:latin typeface="Consolas"/>
                <a:ea typeface="맑은 고딕"/>
                <a:cs typeface="Consolas"/>
              </a:rPr>
              <a:t>  </a:t>
            </a:r>
            <a:r>
              <a:rPr sz="850" b="0" i="0" lang="ko-KR" altLang="en-US">
                <a:solidFill>
                  <a:srgbClr val="F2C46D"/>
                </a:solidFill>
                <a:latin typeface="Consolas"/>
                <a:ea typeface="맑은 고딕"/>
                <a:cs typeface="Consolas"/>
              </a:rPr>
              <a:t>SetDlgItemText</a:t>
            </a:r>
            <a:r>
              <a:rPr sz="850" b="0" i="0" lang="ko-KR" altLang="en-US">
                <a:solidFill>
                  <a:srgbClr val="E3E8F2"/>
                </a:solidFill>
                <a:latin typeface="Consolas"/>
                <a:ea typeface="맑은 고딕"/>
                <a:cs typeface="Consolas"/>
              </a:rPr>
              <a:t>(IDC_PCS_SUMMARY, st_Text);</a:t>
            </a:r>
          </a:p>
          <a:p>
            <a:pPr algn="l">
              <a:lnSpc>
                <a:spcPts val="960"/>
              </a:lnSpc>
              <a:spcAft>
                <a:spcPts val="0"/>
              </a:spcAft>
            </a:pPr>
            <a:r>
              <a:rPr sz="850" b="0" i="0" lang="ko-KR" altLang="en-US">
                <a:solidFill>
                  <a:srgbClr val="E3E8F2"/>
                </a:solidFill>
                <a:latin typeface="Consolas"/>
                <a:ea typeface="맑은 고딕"/>
                <a:cs typeface="Consolas"/>
              </a:rPr>
              <a:t>  st_Plot.</a:t>
            </a:r>
            <a:r>
              <a:rPr sz="850" b="0" i="0" lang="ko-KR" altLang="en-US">
                <a:solidFill>
                  <a:srgbClr val="F2C46D"/>
                </a:solidFill>
                <a:latin typeface="Consolas"/>
                <a:ea typeface="맑은 고딕"/>
                <a:cs typeface="Consolas"/>
              </a:rPr>
              <a:t>f_SetMeasure</a:t>
            </a:r>
            <a:r>
              <a:rPr sz="850" b="0" i="0" lang="ko-KR" altLang="en-US">
                <a:solidFill>
                  <a:srgbClr val="E3E8F2"/>
                </a:solidFill>
                <a:latin typeface="Consolas"/>
                <a:ea typeface="맑은 고딕"/>
                <a:cs typeface="Consolas"/>
              </a:rPr>
              <a:t>(&amp;st_PlotResult,</a:t>
            </a:r>
          </a:p>
          <a:p>
            <a:pPr algn="l">
              <a:lnSpc>
                <a:spcPts val="960"/>
              </a:lnSpc>
              <a:spcAft>
                <a:spcPts val="0"/>
              </a:spcAft>
            </a:pPr>
            <a:r>
              <a:rPr sz="850" b="0" i="0" lang="ko-KR" altLang="en-US">
                <a:solidFill>
                  <a:srgbClr val="E3E8F2"/>
                </a:solidFill>
                <a:latin typeface="Consolas"/>
                <a:ea typeface="맑은 고딕"/>
                <a:cs typeface="Consolas"/>
              </a:rPr>
              <a:t>                       isShowPlot, isShowClutter);</a:t>
            </a:r>
          </a:p>
          <a:p>
            <a:pPr algn="l">
              <a:lnSpc>
                <a:spcPts val="960"/>
              </a:lnSpc>
              <a:spcAft>
                <a:spcPts val="0"/>
              </a:spcAft>
            </a:pPr>
            <a:r>
              <a:rPr sz="850" b="0" i="0" lang="ko-KR" altLang="en-US">
                <a:solidFill>
                  <a:srgbClr val="E3E8F2"/>
                </a:solidFill>
                <a:latin typeface="Consolas"/>
                <a:ea typeface="맑은 고딕"/>
                <a:cs typeface="Consolas"/>
              </a:rPr>
              <a:t>}</a:t>
            </a:r>
          </a:p>
        </p:txBody>
      </p:sp>
      <p:sp>
        <p:nvSpPr>
          <p:cNvPr id="46" name="TextBox 45"/>
          <p:cNvSpPr txBox="1"/>
          <p:nvPr/>
        </p:nvSpPr>
        <p:spPr>
          <a:xfrm>
            <a:off x="7196328" y="5852160"/>
            <a:ext cx="4352544" cy="365760"/>
          </a:xfrm>
          <a:prstGeom prst="rect">
            <a:avLst/>
          </a:prstGeom>
          <a:noFill/>
        </p:spPr>
        <p:txBody>
          <a:bodyPr wrap="square" anchor="t" lIns="0" tIns="0" rIns="0" bIns="0">
            <a:noAutofit/>
          </a:bodyPr>
          <a:lstStyle/>
          <a:p>
            <a:pPr algn="l">
              <a:lnSpc>
                <a:spcPct val="110000"/>
              </a:lnSpc>
              <a:spcAft>
                <a:spcPts val="0"/>
              </a:spcAft>
            </a:pPr>
            <a:r>
              <a:rPr sz="1000" b="0" i="0" lang="ko-KR" altLang="en-US">
                <a:solidFill>
                  <a:srgbClr val="4A5A7A"/>
                </a:solidFill>
                <a:latin typeface="맑은 고딕"/>
                <a:ea typeface="맑은 고딕"/>
                <a:cs typeface="맑은 고딕"/>
              </a:rPr>
              <a:t>요약 2줄 = 이론 p 와 오차 표준편차.  f_SetMeasure 로 지도를 다시 그림 (클러터 → 플롯 → 궤적 순서)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05. 실습 결과</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5.1 실습 1  난수 UNIRAN 과 GAUSS 가 이론 분포와 맞았습니다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16</a:t>
            </a:r>
          </a:p>
        </p:txBody>
      </p:sp>
      <p:pic>
        <p:nvPicPr>
          <p:cNvPr id="7" name="Picture 6" descr="ui_rand_v6.png"/>
          <p:cNvPicPr>
            <a:picLocks noChangeAspect="1"/>
          </p:cNvPicPr>
          <p:nvPr/>
        </p:nvPicPr>
        <p:blipFill>
          <a:blip r:embed="rId2"/>
          <a:stretch>
            <a:fillRect/>
          </a:stretch>
        </p:blipFill>
        <p:spPr>
          <a:xfrm>
            <a:off x="640080" y="1965960"/>
            <a:ext cx="5669280" cy="2744735"/>
          </a:xfrm>
          <a:prstGeom prst="rect">
            <a:avLst/>
          </a:prstGeom>
        </p:spPr>
      </p:pic>
      <p:sp>
        <p:nvSpPr>
          <p:cNvPr id="8" name="Rectangle 7"/>
          <p:cNvSpPr/>
          <p:nvPr/>
        </p:nvSpPr>
        <p:spPr>
          <a:xfrm>
            <a:off x="640080" y="1965960"/>
            <a:ext cx="5669280" cy="2744735"/>
          </a:xfrm>
          <a:prstGeom prst="rect">
            <a:avLst/>
          </a:prstGeom>
          <a:no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738127"/>
            <a:ext cx="5669280" cy="237744"/>
          </a:xfrm>
          <a:prstGeom prst="rect">
            <a:avLst/>
          </a:prstGeom>
          <a:noFill/>
        </p:spPr>
        <p:txBody>
          <a:bodyPr wrap="square" anchor="ctr" lIns="0" tIns="0" rIns="0" bIns="0">
            <a:noAutofit/>
          </a:bodyPr>
          <a:lstStyle/>
          <a:p>
            <a:pPr algn="ctr">
              <a:lnSpc>
                <a:spcPct val="115000"/>
              </a:lnSpc>
              <a:spcAft>
                <a:spcPts val="0"/>
              </a:spcAft>
            </a:pPr>
            <a:r>
              <a:rPr sz="1000" b="0" i="0" lang="ko-KR" altLang="en-US">
                <a:solidFill>
                  <a:srgbClr val="4A5A7A"/>
                </a:solidFill>
                <a:latin typeface="맑은 고딕"/>
                <a:ea typeface="맑은 고딕"/>
                <a:cs typeface="맑은 고딕"/>
              </a:rPr>
              <a:t>난수 확인 창 (각 10,000개, seed 12345).  막대가 주황 선 (이론) 과 비슷하면 OK</a:t>
            </a:r>
          </a:p>
        </p:txBody>
      </p:sp>
      <p:sp>
        <p:nvSpPr>
          <p:cNvPr id="10" name="Rectangle 9"/>
          <p:cNvSpPr/>
          <p:nvPr/>
        </p:nvSpPr>
        <p:spPr>
          <a:xfrm>
            <a:off x="640080" y="5039879"/>
            <a:ext cx="5669280" cy="117804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120899"/>
            <a:ext cx="5486400" cy="1034288"/>
          </a:xfrm>
          <a:prstGeom prst="rect">
            <a:avLst/>
          </a:prstGeom>
          <a:noFill/>
        </p:spPr>
        <p:txBody>
          <a:bodyPr wrap="none" anchor="t" lIns="0" tIns="0" rIns="0" bIns="0">
            <a:noAutofit/>
          </a:bodyPr>
          <a:lstStyle/>
          <a:p>
            <a:pPr algn="l">
              <a:lnSpc>
                <a:spcPts val="1000"/>
              </a:lnSpc>
              <a:spcAft>
                <a:spcPts val="0"/>
              </a:spcAft>
            </a:pPr>
            <a:r>
              <a:rPr sz="900" b="0" i="0" lang="ko-KR" altLang="en-US">
                <a:solidFill>
                  <a:srgbClr val="7FB77E"/>
                </a:solidFill>
                <a:latin typeface="Consolas"/>
                <a:ea typeface="맑은 고딕"/>
                <a:cs typeface="Consolas"/>
              </a:rPr>
              <a:t>// 난수 검증. 검증마다 seed 를 처음 값으로 맞춤.</a:t>
            </a:r>
          </a:p>
          <a:p>
            <a:pPr algn="l">
              <a:lnSpc>
                <a:spcPts val="1000"/>
              </a:lnSpc>
              <a:spcAft>
                <a:spcPts val="0"/>
              </a:spcAft>
            </a:pPr>
            <a:r>
              <a:rPr sz="900" b="0" i="0" lang="ko-KR" altLang="en-US">
                <a:solidFill>
                  <a:srgbClr val="8FB4FF"/>
                </a:solidFill>
                <a:latin typeface="Consolas"/>
                <a:ea typeface="맑은 고딕"/>
                <a:cs typeface="Consolas"/>
              </a:rPr>
              <a:t>VOID</a:t>
            </a:r>
            <a:r>
              <a:rPr sz="900" b="0" i="0" lang="ko-KR" altLang="en-US">
                <a:solidFill>
                  <a:srgbClr val="E3E8F2"/>
                </a:solidFill>
                <a:latin typeface="Consolas"/>
                <a:ea typeface="맑은 고딕"/>
                <a:cs typeface="Consolas"/>
              </a:rPr>
              <a:t> f_Pcs_TestRand(</a:t>
            </a:r>
            <a:r>
              <a:rPr sz="900" b="0" i="0" lang="ko-KR" altLang="en-US">
                <a:solidFill>
                  <a:srgbClr val="8FB4FF"/>
                </a:solidFill>
                <a:latin typeface="Consolas"/>
                <a:ea typeface="맑은 고딕"/>
                <a:cs typeface="Consolas"/>
              </a:rPr>
              <a:t>ST_PcsHist</a:t>
            </a:r>
            <a:r>
              <a:rPr sz="900" b="0" i="0" lang="ko-KR" altLang="en-US">
                <a:solidFill>
                  <a:srgbClr val="E3E8F2"/>
                </a:solidFill>
                <a:latin typeface="Consolas"/>
                <a:ea typeface="맑은 고딕"/>
                <a:cs typeface="Consolas"/>
              </a:rPr>
              <a:t> *st_Uniform, </a:t>
            </a:r>
            <a:r>
              <a:rPr sz="900" b="0" i="0" lang="ko-KR" altLang="en-US">
                <a:solidFill>
                  <a:srgbClr val="8FB4FF"/>
                </a:solidFill>
                <a:latin typeface="Consolas"/>
                <a:ea typeface="맑은 고딕"/>
                <a:cs typeface="Consolas"/>
              </a:rPr>
              <a:t>ST_PcsHist</a:t>
            </a:r>
            <a:r>
              <a:rPr sz="900" b="0" i="0" lang="ko-KR" altLang="en-US">
                <a:solidFill>
                  <a:srgbClr val="E3E8F2"/>
                </a:solidFill>
                <a:latin typeface="Consolas"/>
                <a:ea typeface="맑은 고딕"/>
                <a:cs typeface="Consolas"/>
              </a:rPr>
              <a:t> *st_Gauss)</a:t>
            </a:r>
          </a:p>
          <a:p>
            <a:pPr algn="l">
              <a:lnSpc>
                <a:spcPts val="1000"/>
              </a:lnSpc>
              <a:spcAft>
                <a:spcPts val="0"/>
              </a:spcAft>
            </a:pPr>
            <a:r>
              <a:rPr sz="900" b="0" i="0" lang="ko-KR" altLang="en-US">
                <a:solidFill>
                  <a:srgbClr val="E3E8F2"/>
                </a:solidFill>
                <a:latin typeface="Consolas"/>
                <a:ea typeface="맑은 고딕"/>
                <a:cs typeface="Consolas"/>
              </a:rPr>
              <a:t>{</a:t>
            </a:r>
          </a:p>
          <a:p>
            <a:pPr algn="l">
              <a:lnSpc>
                <a:spcPts val="1000"/>
              </a:lnSpc>
              <a:spcAft>
                <a:spcPts val="0"/>
              </a:spcAft>
            </a:pPr>
            <a:r>
              <a:rPr sz="900" b="0" i="0" lang="ko-KR" altLang="en-US">
                <a:solidFill>
                  <a:srgbClr val="E3E8F2"/>
                </a:solidFill>
                <a:latin typeface="Consolas"/>
                <a:ea typeface="맑은 고딕"/>
                <a:cs typeface="Consolas"/>
              </a:rPr>
              <a:t>  </a:t>
            </a:r>
            <a:r>
              <a:rPr sz="900" b="0" i="0" lang="ko-KR" altLang="en-US">
                <a:solidFill>
                  <a:srgbClr val="F2C46D"/>
                </a:solidFill>
                <a:latin typeface="Consolas"/>
                <a:ea typeface="맑은 고딕"/>
                <a:cs typeface="Consolas"/>
              </a:rPr>
              <a:t>changeSEED</a:t>
            </a:r>
            <a:r>
              <a:rPr sz="900" b="0" i="0" lang="ko-KR" altLang="en-US">
                <a:solidFill>
                  <a:srgbClr val="E3E8F2"/>
                </a:solidFill>
                <a:latin typeface="Consolas"/>
                <a:ea typeface="맑은 고딕"/>
                <a:cs typeface="Consolas"/>
              </a:rPr>
              <a:t>(PCS_SEED);</a:t>
            </a:r>
          </a:p>
          <a:p>
            <a:pPr algn="l">
              <a:lnSpc>
                <a:spcPts val="1000"/>
              </a:lnSpc>
              <a:spcAft>
                <a:spcPts val="0"/>
              </a:spcAft>
            </a:pPr>
            <a:r>
              <a:rPr sz="900" b="0" i="0" lang="ko-KR" altLang="en-US">
                <a:solidFill>
                  <a:srgbClr val="E3E8F2"/>
                </a:solidFill>
                <a:latin typeface="Consolas"/>
                <a:ea typeface="맑은 고딕"/>
                <a:cs typeface="Consolas"/>
              </a:rPr>
              <a:t>  </a:t>
            </a:r>
            <a:r>
              <a:rPr sz="900" b="0" i="0" lang="ko-KR" altLang="en-US">
                <a:solidFill>
                  <a:srgbClr val="F2C46D"/>
                </a:solidFill>
                <a:latin typeface="Consolas"/>
                <a:ea typeface="맑은 고딕"/>
                <a:cs typeface="Consolas"/>
              </a:rPr>
              <a:t>f_Pcs_FillHist</a:t>
            </a:r>
            <a:r>
              <a:rPr sz="900" b="0" i="0" lang="ko-KR" altLang="en-US">
                <a:solidFill>
                  <a:srgbClr val="E3E8F2"/>
                </a:solidFill>
                <a:latin typeface="Consolas"/>
                <a:ea typeface="맑은 고딕"/>
                <a:cs typeface="Consolas"/>
              </a:rPr>
              <a:t>(st_Uniform, PCS_UNIFORM_BIN, 0.0, 1.0, 0);</a:t>
            </a:r>
          </a:p>
          <a:p>
            <a:pPr algn="l">
              <a:lnSpc>
                <a:spcPts val="1000"/>
              </a:lnSpc>
              <a:spcAft>
                <a:spcPts val="0"/>
              </a:spcAft>
            </a:pPr>
            <a:r>
              <a:rPr sz="900" b="0" i="0" lang="ko-KR" altLang="en-US">
                <a:solidFill>
                  <a:srgbClr val="E3E8F2"/>
                </a:solidFill>
                <a:latin typeface="Consolas"/>
                <a:ea typeface="맑은 고딕"/>
                <a:cs typeface="Consolas"/>
              </a:rPr>
              <a:t>  </a:t>
            </a:r>
            <a:r>
              <a:rPr sz="900" b="0" i="0" lang="ko-KR" altLang="en-US">
                <a:solidFill>
                  <a:srgbClr val="F2C46D"/>
                </a:solidFill>
                <a:latin typeface="Consolas"/>
                <a:ea typeface="맑은 고딕"/>
                <a:cs typeface="Consolas"/>
              </a:rPr>
              <a:t>changeSEED</a:t>
            </a:r>
            <a:r>
              <a:rPr sz="900" b="0" i="0" lang="ko-KR" altLang="en-US">
                <a:solidFill>
                  <a:srgbClr val="E3E8F2"/>
                </a:solidFill>
                <a:latin typeface="Consolas"/>
                <a:ea typeface="맑은 고딕"/>
                <a:cs typeface="Consolas"/>
              </a:rPr>
              <a:t>(PCS_SEED);</a:t>
            </a:r>
          </a:p>
          <a:p>
            <a:pPr algn="l">
              <a:lnSpc>
                <a:spcPts val="1000"/>
              </a:lnSpc>
              <a:spcAft>
                <a:spcPts val="0"/>
              </a:spcAft>
            </a:pPr>
            <a:r>
              <a:rPr sz="900" b="0" i="0" lang="ko-KR" altLang="en-US">
                <a:solidFill>
                  <a:srgbClr val="E3E8F2"/>
                </a:solidFill>
                <a:latin typeface="Consolas"/>
                <a:ea typeface="맑은 고딕"/>
                <a:cs typeface="Consolas"/>
              </a:rPr>
              <a:t>  </a:t>
            </a:r>
            <a:r>
              <a:rPr sz="900" b="0" i="0" lang="ko-KR" altLang="en-US">
                <a:solidFill>
                  <a:srgbClr val="F2C46D"/>
                </a:solidFill>
                <a:latin typeface="Consolas"/>
                <a:ea typeface="맑은 고딕"/>
                <a:cs typeface="Consolas"/>
              </a:rPr>
              <a:t>f_Pcs_FillHist</a:t>
            </a:r>
            <a:r>
              <a:rPr sz="900" b="0" i="0" lang="ko-KR" altLang="en-US">
                <a:solidFill>
                  <a:srgbClr val="E3E8F2"/>
                </a:solidFill>
                <a:latin typeface="Consolas"/>
                <a:ea typeface="맑은 고딕"/>
                <a:cs typeface="Consolas"/>
              </a:rPr>
              <a:t>(st_Gauss, PCS_GAUSS_BIN, PCS_GAUSS_MIN, PCS_GAUSS_MAX, 1);</a:t>
            </a:r>
          </a:p>
          <a:p>
            <a:pPr algn="l">
              <a:lnSpc>
                <a:spcPts val="1000"/>
              </a:lnSpc>
              <a:spcAft>
                <a:spcPts val="0"/>
              </a:spcAft>
            </a:pPr>
            <a:r>
              <a:rPr sz="900" b="0" i="0" lang="ko-KR" altLang="en-US">
                <a:solidFill>
                  <a:srgbClr val="E3E8F2"/>
                </a:solidFill>
                <a:latin typeface="Consolas"/>
                <a:ea typeface="맑은 고딕"/>
                <a:cs typeface="Consolas"/>
              </a:rPr>
              <a:t>}</a:t>
            </a:r>
          </a:p>
        </p:txBody>
      </p:sp>
      <p:sp>
        <p:nvSpPr>
          <p:cNvPr id="12" name="Rectangle 11"/>
          <p:cNvSpPr/>
          <p:nvPr/>
        </p:nvSpPr>
        <p:spPr>
          <a:xfrm>
            <a:off x="6583680" y="1965960"/>
            <a:ext cx="4965192" cy="38404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9984" y="1965960"/>
            <a:ext cx="4672584" cy="384048"/>
          </a:xfrm>
          <a:prstGeom prst="rect">
            <a:avLst/>
          </a:prstGeom>
          <a:noFill/>
        </p:spPr>
        <p:txBody>
          <a:bodyPr wrap="square" anchor="ctr" lIns="0" tIns="0" rIns="0" bIns="0">
            <a:noAutofit/>
          </a:bodyPr>
          <a:lstStyle/>
          <a:p>
            <a:pPr algn="l">
              <a:lnSpc>
                <a:spcPct val="110000"/>
              </a:lnSpc>
              <a:spcAft>
                <a:spcPts val="0"/>
              </a:spcAft>
            </a:pPr>
            <a:r>
              <a:rPr sz="1300" b="1" i="0" lang="ko-KR" altLang="en-US">
                <a:solidFill>
                  <a:srgbClr val="FFFFFF"/>
                </a:solidFill>
                <a:latin typeface="맑은 고딕"/>
                <a:ea typeface="맑은 고딕"/>
                <a:cs typeface="맑은 고딕"/>
              </a:rPr>
              <a:t>UNIRAN 균등난수</a:t>
            </a:r>
          </a:p>
        </p:txBody>
      </p:sp>
      <p:sp>
        <p:nvSpPr>
          <p:cNvPr id="14" name="TextBox 13"/>
          <p:cNvSpPr txBox="1"/>
          <p:nvPr/>
        </p:nvSpPr>
        <p:spPr>
          <a:xfrm>
            <a:off x="6629400" y="2395728"/>
            <a:ext cx="2085380" cy="365760"/>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맑은 고딕"/>
                <a:ea typeface="맑은 고딕"/>
                <a:cs typeface="맑은 고딕"/>
              </a:rPr>
              <a:t>막대 높이</a:t>
            </a:r>
          </a:p>
        </p:txBody>
      </p:sp>
      <p:sp>
        <p:nvSpPr>
          <p:cNvPr id="15" name="TextBox 14"/>
          <p:cNvSpPr txBox="1"/>
          <p:nvPr/>
        </p:nvSpPr>
        <p:spPr>
          <a:xfrm>
            <a:off x="8569756" y="2395728"/>
            <a:ext cx="1489557" cy="365760"/>
          </a:xfrm>
          <a:prstGeom prst="rect">
            <a:avLst/>
          </a:prstGeom>
          <a:noFill/>
        </p:spPr>
        <p:txBody>
          <a:bodyPr wrap="square" anchor="ctr" lIns="0" tIns="0" rIns="0" bIns="0">
            <a:noAutofit/>
          </a:bodyPr>
          <a:lstStyle/>
          <a:p>
            <a:pPr algn="r">
              <a:lnSpc>
                <a:spcPct val="115000"/>
              </a:lnSpc>
              <a:spcAft>
                <a:spcPts val="0"/>
              </a:spcAft>
            </a:pPr>
            <a:r>
              <a:rPr sz="1250" b="1" i="0" lang="ko-KR" altLang="en-US">
                <a:solidFill>
                  <a:srgbClr val="1B2740"/>
                </a:solidFill>
                <a:latin typeface="Arial"/>
                <a:ea typeface="맑은 고딕"/>
                <a:cs typeface="Arial"/>
              </a:rPr>
              <a:t>0.97 ~ 1.05</a:t>
            </a:r>
          </a:p>
        </p:txBody>
      </p:sp>
      <p:sp>
        <p:nvSpPr>
          <p:cNvPr id="16" name="TextBox 15"/>
          <p:cNvSpPr txBox="1"/>
          <p:nvPr/>
        </p:nvSpPr>
        <p:spPr>
          <a:xfrm>
            <a:off x="10158618" y="2395728"/>
            <a:ext cx="1344533" cy="365760"/>
          </a:xfrm>
          <a:prstGeom prst="rect">
            <a:avLst/>
          </a:prstGeom>
          <a:noFill/>
        </p:spPr>
        <p:txBody>
          <a:bodyPr wrap="square" anchor="ctr" lIns="0" tIns="0" rIns="0" bIns="0">
            <a:noAutofit/>
          </a:bodyPr>
          <a:lstStyle/>
          <a:p>
            <a:pPr algn="r">
              <a:lnSpc>
                <a:spcPct val="115000"/>
              </a:lnSpc>
              <a:spcAft>
                <a:spcPts val="0"/>
              </a:spcAft>
            </a:pPr>
            <a:r>
              <a:rPr sz="1100" b="0" i="0" lang="ko-KR" altLang="en-US">
                <a:solidFill>
                  <a:srgbClr val="647089"/>
                </a:solidFill>
                <a:latin typeface="맑은 고딕"/>
                <a:ea typeface="맑은 고딕"/>
                <a:cs typeface="맑은 고딕"/>
              </a:rPr>
              <a:t>기준 1</a:t>
            </a:r>
          </a:p>
        </p:txBody>
      </p:sp>
      <p:cxnSp>
        <p:nvCxnSpPr>
          <p:cNvPr id="17" name="Connector 16"/>
          <p:cNvCxnSpPr/>
          <p:nvPr/>
        </p:nvCxnSpPr>
        <p:spPr>
          <a:xfrm>
            <a:off x="6583680" y="2761488"/>
            <a:ext cx="49651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629400" y="2761488"/>
            <a:ext cx="2085380" cy="365760"/>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맑은 고딕"/>
                <a:ea typeface="맑은 고딕"/>
                <a:cs typeface="맑은 고딕"/>
              </a:rPr>
              <a:t>평균</a:t>
            </a:r>
          </a:p>
        </p:txBody>
      </p:sp>
      <p:sp>
        <p:nvSpPr>
          <p:cNvPr id="19" name="TextBox 18"/>
          <p:cNvSpPr txBox="1"/>
          <p:nvPr/>
        </p:nvSpPr>
        <p:spPr>
          <a:xfrm>
            <a:off x="8569756" y="2761488"/>
            <a:ext cx="1489557" cy="365760"/>
          </a:xfrm>
          <a:prstGeom prst="rect">
            <a:avLst/>
          </a:prstGeom>
          <a:noFill/>
        </p:spPr>
        <p:txBody>
          <a:bodyPr wrap="square" anchor="ctr" lIns="0" tIns="0" rIns="0" bIns="0">
            <a:noAutofit/>
          </a:bodyPr>
          <a:lstStyle/>
          <a:p>
            <a:pPr algn="r">
              <a:lnSpc>
                <a:spcPct val="115000"/>
              </a:lnSpc>
              <a:spcAft>
                <a:spcPts val="0"/>
              </a:spcAft>
            </a:pPr>
            <a:r>
              <a:rPr sz="1250" b="1" i="0" lang="ko-KR" altLang="en-US">
                <a:solidFill>
                  <a:srgbClr val="1B2740"/>
                </a:solidFill>
                <a:latin typeface="Arial"/>
                <a:ea typeface="맑은 고딕"/>
                <a:cs typeface="Arial"/>
              </a:rPr>
              <a:t>0.503</a:t>
            </a:r>
          </a:p>
        </p:txBody>
      </p:sp>
      <p:sp>
        <p:nvSpPr>
          <p:cNvPr id="20" name="TextBox 19"/>
          <p:cNvSpPr txBox="1"/>
          <p:nvPr/>
        </p:nvSpPr>
        <p:spPr>
          <a:xfrm>
            <a:off x="10158618" y="2761488"/>
            <a:ext cx="1344533" cy="365760"/>
          </a:xfrm>
          <a:prstGeom prst="rect">
            <a:avLst/>
          </a:prstGeom>
          <a:noFill/>
        </p:spPr>
        <p:txBody>
          <a:bodyPr wrap="square" anchor="ctr" lIns="0" tIns="0" rIns="0" bIns="0">
            <a:noAutofit/>
          </a:bodyPr>
          <a:lstStyle/>
          <a:p>
            <a:pPr algn="r">
              <a:lnSpc>
                <a:spcPct val="115000"/>
              </a:lnSpc>
              <a:spcAft>
                <a:spcPts val="0"/>
              </a:spcAft>
            </a:pPr>
            <a:r>
              <a:rPr sz="1100" b="0" i="0" lang="ko-KR" altLang="en-US">
                <a:solidFill>
                  <a:srgbClr val="647089"/>
                </a:solidFill>
                <a:latin typeface="맑은 고딕"/>
                <a:ea typeface="맑은 고딕"/>
                <a:cs typeface="맑은 고딕"/>
              </a:rPr>
              <a:t>기준 0.5</a:t>
            </a:r>
          </a:p>
        </p:txBody>
      </p:sp>
      <p:cxnSp>
        <p:nvCxnSpPr>
          <p:cNvPr id="21" name="Connector 20"/>
          <p:cNvCxnSpPr/>
          <p:nvPr/>
        </p:nvCxnSpPr>
        <p:spPr>
          <a:xfrm>
            <a:off x="6583680" y="3127248"/>
            <a:ext cx="49651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29400" y="3127248"/>
            <a:ext cx="2085380" cy="365760"/>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맑은 고딕"/>
                <a:ea typeface="맑은 고딕"/>
                <a:cs typeface="맑은 고딕"/>
              </a:rPr>
              <a:t>0 과 1</a:t>
            </a:r>
          </a:p>
        </p:txBody>
      </p:sp>
      <p:sp>
        <p:nvSpPr>
          <p:cNvPr id="23" name="TextBox 22"/>
          <p:cNvSpPr txBox="1"/>
          <p:nvPr/>
        </p:nvSpPr>
        <p:spPr>
          <a:xfrm>
            <a:off x="8569756" y="3127248"/>
            <a:ext cx="1489557" cy="365760"/>
          </a:xfrm>
          <a:prstGeom prst="rect">
            <a:avLst/>
          </a:prstGeom>
          <a:noFill/>
        </p:spPr>
        <p:txBody>
          <a:bodyPr wrap="square" anchor="ctr" lIns="0" tIns="0" rIns="0" bIns="0">
            <a:noAutofit/>
          </a:bodyPr>
          <a:lstStyle/>
          <a:p>
            <a:pPr algn="r">
              <a:lnSpc>
                <a:spcPct val="115000"/>
              </a:lnSpc>
              <a:spcAft>
                <a:spcPts val="0"/>
              </a:spcAft>
            </a:pPr>
            <a:r>
              <a:rPr sz="1250" b="1" i="0" lang="ko-KR" altLang="en-US">
                <a:solidFill>
                  <a:srgbClr val="1B2740"/>
                </a:solidFill>
                <a:latin typeface="Arial"/>
                <a:ea typeface="맑은 고딕"/>
                <a:cs typeface="Arial"/>
              </a:rPr>
              <a:t>안 나옴</a:t>
            </a:r>
          </a:p>
        </p:txBody>
      </p:sp>
      <p:sp>
        <p:nvSpPr>
          <p:cNvPr id="24" name="TextBox 23"/>
          <p:cNvSpPr txBox="1"/>
          <p:nvPr/>
        </p:nvSpPr>
        <p:spPr>
          <a:xfrm>
            <a:off x="10158618" y="3127248"/>
            <a:ext cx="1344533" cy="365760"/>
          </a:xfrm>
          <a:prstGeom prst="rect">
            <a:avLst/>
          </a:prstGeom>
          <a:noFill/>
        </p:spPr>
        <p:txBody>
          <a:bodyPr wrap="square" anchor="ctr" lIns="0" tIns="0" rIns="0" bIns="0">
            <a:noAutofit/>
          </a:bodyPr>
          <a:lstStyle/>
          <a:p>
            <a:pPr algn="r">
              <a:lnSpc>
                <a:spcPct val="115000"/>
              </a:lnSpc>
              <a:spcAft>
                <a:spcPts val="0"/>
              </a:spcAft>
            </a:pPr>
            <a:r>
              <a:rPr sz="1100" b="0" i="0" lang="ko-KR" altLang="en-US">
                <a:solidFill>
                  <a:srgbClr val="647089"/>
                </a:solidFill>
                <a:latin typeface="맑은 고딕"/>
                <a:ea typeface="맑은 고딕"/>
                <a:cs typeface="맑은 고딕"/>
              </a:rPr>
              <a:t>(0, 1) 구간</a:t>
            </a:r>
          </a:p>
        </p:txBody>
      </p:sp>
      <p:cxnSp>
        <p:nvCxnSpPr>
          <p:cNvPr id="25" name="Connector 24"/>
          <p:cNvCxnSpPr/>
          <p:nvPr/>
        </p:nvCxnSpPr>
        <p:spPr>
          <a:xfrm>
            <a:off x="6583680" y="3493008"/>
            <a:ext cx="49651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583680" y="3657600"/>
            <a:ext cx="4965192" cy="38404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9984" y="3657600"/>
            <a:ext cx="4672584" cy="384048"/>
          </a:xfrm>
          <a:prstGeom prst="rect">
            <a:avLst/>
          </a:prstGeom>
          <a:noFill/>
        </p:spPr>
        <p:txBody>
          <a:bodyPr wrap="square" anchor="ctr" lIns="0" tIns="0" rIns="0" bIns="0">
            <a:noAutofit/>
          </a:bodyPr>
          <a:lstStyle/>
          <a:p>
            <a:pPr algn="l">
              <a:lnSpc>
                <a:spcPct val="110000"/>
              </a:lnSpc>
              <a:spcAft>
                <a:spcPts val="0"/>
              </a:spcAft>
            </a:pPr>
            <a:r>
              <a:rPr sz="1300" b="1" i="0" lang="ko-KR" altLang="en-US">
                <a:solidFill>
                  <a:srgbClr val="FFFFFF"/>
                </a:solidFill>
                <a:latin typeface="맑은 고딕"/>
                <a:ea typeface="맑은 고딕"/>
                <a:cs typeface="맑은 고딕"/>
              </a:rPr>
              <a:t>GAUSS 정규난수</a:t>
            </a:r>
          </a:p>
        </p:txBody>
      </p:sp>
      <p:sp>
        <p:nvSpPr>
          <p:cNvPr id="28" name="TextBox 27"/>
          <p:cNvSpPr txBox="1"/>
          <p:nvPr/>
        </p:nvSpPr>
        <p:spPr>
          <a:xfrm>
            <a:off x="6629400" y="4087368"/>
            <a:ext cx="2085380" cy="365760"/>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맑은 고딕"/>
                <a:ea typeface="맑은 고딕"/>
                <a:cs typeface="맑은 고딕"/>
              </a:rPr>
              <a:t>평균</a:t>
            </a:r>
          </a:p>
        </p:txBody>
      </p:sp>
      <p:sp>
        <p:nvSpPr>
          <p:cNvPr id="29" name="TextBox 28"/>
          <p:cNvSpPr txBox="1"/>
          <p:nvPr/>
        </p:nvSpPr>
        <p:spPr>
          <a:xfrm>
            <a:off x="8569756" y="4087368"/>
            <a:ext cx="1489557" cy="365760"/>
          </a:xfrm>
          <a:prstGeom prst="rect">
            <a:avLst/>
          </a:prstGeom>
          <a:noFill/>
        </p:spPr>
        <p:txBody>
          <a:bodyPr wrap="square" anchor="ctr" lIns="0" tIns="0" rIns="0" bIns="0">
            <a:noAutofit/>
          </a:bodyPr>
          <a:lstStyle/>
          <a:p>
            <a:pPr algn="r">
              <a:lnSpc>
                <a:spcPct val="115000"/>
              </a:lnSpc>
              <a:spcAft>
                <a:spcPts val="0"/>
              </a:spcAft>
            </a:pPr>
            <a:r>
              <a:rPr sz="1250" b="1" i="0" lang="ko-KR" altLang="en-US">
                <a:solidFill>
                  <a:srgbClr val="1B2740"/>
                </a:solidFill>
                <a:latin typeface="Arial"/>
                <a:ea typeface="맑은 고딕"/>
                <a:cs typeface="Arial"/>
              </a:rPr>
              <a:t>+0.004</a:t>
            </a:r>
          </a:p>
        </p:txBody>
      </p:sp>
      <p:sp>
        <p:nvSpPr>
          <p:cNvPr id="30" name="TextBox 29"/>
          <p:cNvSpPr txBox="1"/>
          <p:nvPr/>
        </p:nvSpPr>
        <p:spPr>
          <a:xfrm>
            <a:off x="10158618" y="4087368"/>
            <a:ext cx="1344533" cy="365760"/>
          </a:xfrm>
          <a:prstGeom prst="rect">
            <a:avLst/>
          </a:prstGeom>
          <a:noFill/>
        </p:spPr>
        <p:txBody>
          <a:bodyPr wrap="square" anchor="ctr" lIns="0" tIns="0" rIns="0" bIns="0">
            <a:noAutofit/>
          </a:bodyPr>
          <a:lstStyle/>
          <a:p>
            <a:pPr algn="r">
              <a:lnSpc>
                <a:spcPct val="115000"/>
              </a:lnSpc>
              <a:spcAft>
                <a:spcPts val="0"/>
              </a:spcAft>
            </a:pPr>
            <a:r>
              <a:rPr sz="1100" b="0" i="0" lang="ko-KR" altLang="en-US">
                <a:solidFill>
                  <a:srgbClr val="647089"/>
                </a:solidFill>
                <a:latin typeface="맑은 고딕"/>
                <a:ea typeface="맑은 고딕"/>
                <a:cs typeface="맑은 고딕"/>
              </a:rPr>
              <a:t>기준 0</a:t>
            </a:r>
          </a:p>
        </p:txBody>
      </p:sp>
      <p:cxnSp>
        <p:nvCxnSpPr>
          <p:cNvPr id="31" name="Connector 30"/>
          <p:cNvCxnSpPr/>
          <p:nvPr/>
        </p:nvCxnSpPr>
        <p:spPr>
          <a:xfrm>
            <a:off x="6583680" y="4453128"/>
            <a:ext cx="49651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29400" y="4453128"/>
            <a:ext cx="2085380" cy="365760"/>
          </a:xfrm>
          <a:prstGeom prst="rect">
            <a:avLst/>
          </a:prstGeom>
          <a:noFill/>
        </p:spPr>
        <p:txBody>
          <a:bodyPr wrap="square" anchor="ctr" lIns="0" tIns="0" rIns="0" bIns="0">
            <a:noAutofit/>
          </a:bodyPr>
          <a:lstStyle/>
          <a:p>
            <a:pPr algn="l">
              <a:lnSpc>
                <a:spcPct val="115000"/>
              </a:lnSpc>
              <a:spcAft>
                <a:spcPts val="0"/>
              </a:spcAft>
            </a:pPr>
            <a:r>
              <a:rPr sz="1250" b="0" i="0" lang="ko-KR" altLang="en-US">
                <a:solidFill>
                  <a:srgbClr val="1B2740"/>
                </a:solidFill>
                <a:latin typeface="맑은 고딕"/>
                <a:ea typeface="맑은 고딕"/>
                <a:cs typeface="맑은 고딕"/>
              </a:rPr>
              <a:t>표준편차</a:t>
            </a:r>
          </a:p>
        </p:txBody>
      </p:sp>
      <p:sp>
        <p:nvSpPr>
          <p:cNvPr id="33" name="TextBox 32"/>
          <p:cNvSpPr txBox="1"/>
          <p:nvPr/>
        </p:nvSpPr>
        <p:spPr>
          <a:xfrm>
            <a:off x="8569756" y="4453128"/>
            <a:ext cx="1489557" cy="365760"/>
          </a:xfrm>
          <a:prstGeom prst="rect">
            <a:avLst/>
          </a:prstGeom>
          <a:noFill/>
        </p:spPr>
        <p:txBody>
          <a:bodyPr wrap="square" anchor="ctr" lIns="0" tIns="0" rIns="0" bIns="0">
            <a:noAutofit/>
          </a:bodyPr>
          <a:lstStyle/>
          <a:p>
            <a:pPr algn="r">
              <a:lnSpc>
                <a:spcPct val="115000"/>
              </a:lnSpc>
              <a:spcAft>
                <a:spcPts val="0"/>
              </a:spcAft>
            </a:pPr>
            <a:r>
              <a:rPr sz="1250" b="1" i="0" lang="ko-KR" altLang="en-US">
                <a:solidFill>
                  <a:srgbClr val="1B2740"/>
                </a:solidFill>
                <a:latin typeface="Arial"/>
                <a:ea typeface="맑은 고딕"/>
                <a:cs typeface="Arial"/>
              </a:rPr>
              <a:t>0.998</a:t>
            </a:r>
          </a:p>
        </p:txBody>
      </p:sp>
      <p:sp>
        <p:nvSpPr>
          <p:cNvPr id="34" name="TextBox 33"/>
          <p:cNvSpPr txBox="1"/>
          <p:nvPr/>
        </p:nvSpPr>
        <p:spPr>
          <a:xfrm>
            <a:off x="10158618" y="4453128"/>
            <a:ext cx="1344533" cy="365760"/>
          </a:xfrm>
          <a:prstGeom prst="rect">
            <a:avLst/>
          </a:prstGeom>
          <a:noFill/>
        </p:spPr>
        <p:txBody>
          <a:bodyPr wrap="square" anchor="ctr" lIns="0" tIns="0" rIns="0" bIns="0">
            <a:noAutofit/>
          </a:bodyPr>
          <a:lstStyle/>
          <a:p>
            <a:pPr algn="r">
              <a:lnSpc>
                <a:spcPct val="115000"/>
              </a:lnSpc>
              <a:spcAft>
                <a:spcPts val="0"/>
              </a:spcAft>
            </a:pPr>
            <a:r>
              <a:rPr sz="1100" b="0" i="0" lang="ko-KR" altLang="en-US">
                <a:solidFill>
                  <a:srgbClr val="647089"/>
                </a:solidFill>
                <a:latin typeface="맑은 고딕"/>
                <a:ea typeface="맑은 고딕"/>
                <a:cs typeface="맑은 고딕"/>
              </a:rPr>
              <a:t>기준 1</a:t>
            </a:r>
          </a:p>
        </p:txBody>
      </p:sp>
      <p:cxnSp>
        <p:nvCxnSpPr>
          <p:cNvPr id="35" name="Connector 34"/>
          <p:cNvCxnSpPr/>
          <p:nvPr/>
        </p:nvCxnSpPr>
        <p:spPr>
          <a:xfrm>
            <a:off x="6583680" y="4818888"/>
            <a:ext cx="49651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83680" y="4937760"/>
            <a:ext cx="4965192" cy="566928"/>
          </a:xfrm>
          <a:prstGeom prst="rect">
            <a:avLst/>
          </a:prstGeom>
          <a:noFill/>
        </p:spPr>
        <p:txBody>
          <a:bodyPr wrap="square" anchor="t" lIns="0" tIns="0" rIns="0" bIns="0">
            <a:noAutofit/>
          </a:bodyPr>
          <a:lstStyle/>
          <a:p>
            <a:pPr algn="l">
              <a:lnSpc>
                <a:spcPct val="120000"/>
              </a:lnSpc>
              <a:spcAft>
                <a:spcPts val="0"/>
              </a:spcAft>
            </a:pPr>
            <a:r>
              <a:rPr sz="1050" b="0" i="0" lang="ko-KR" altLang="en-US">
                <a:solidFill>
                  <a:srgbClr val="647089"/>
                </a:solidFill>
                <a:latin typeface="맑은 고딕"/>
                <a:ea typeface="맑은 고딕"/>
                <a:cs typeface="맑은 고딕"/>
              </a:rPr>
              <a:t>막대 높이 = 개수 ÷ (10,000 × 막대 폭)</a:t>
            </a:r>
          </a:p>
          <a:p>
            <a:pPr algn="l">
              <a:lnSpc>
                <a:spcPct val="120000"/>
              </a:lnSpc>
              <a:spcAft>
                <a:spcPts val="0"/>
              </a:spcAft>
            </a:pPr>
            <a:r>
              <a:rPr sz="1050" b="0" i="0" lang="ko-KR" altLang="en-US">
                <a:solidFill>
                  <a:srgbClr val="647089"/>
                </a:solidFill>
                <a:latin typeface="맑은 고딕"/>
                <a:ea typeface="맑은 고딕"/>
                <a:cs typeface="맑은 고딕"/>
              </a:rPr>
              <a:t>이론 선: UNIRAN 은 높이 1, GAUSS 는 N(0, 1) 곡선</a:t>
            </a:r>
          </a:p>
        </p:txBody>
      </p:sp>
      <p:sp>
        <p:nvSpPr>
          <p:cNvPr id="37" name="Rounded Rectangle 36"/>
          <p:cNvSpPr/>
          <p:nvPr/>
        </p:nvSpPr>
        <p:spPr>
          <a:xfrm>
            <a:off x="6583680" y="5815584"/>
            <a:ext cx="2391156" cy="329184"/>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0256" y="5815584"/>
            <a:ext cx="2318004" cy="329184"/>
          </a:xfrm>
          <a:prstGeom prst="rect">
            <a:avLst/>
          </a:prstGeom>
          <a:noFill/>
        </p:spPr>
        <p:txBody>
          <a:bodyPr wrap="square" anchor="ctr" lIns="0" tIns="0" rIns="0" bIns="0">
            <a:noAutofit/>
          </a:bodyPr>
          <a:lstStyle/>
          <a:p>
            <a:pPr algn="ctr">
              <a:lnSpc>
                <a:spcPct val="110000"/>
              </a:lnSpc>
              <a:spcAft>
                <a:spcPts val="0"/>
              </a:spcAft>
            </a:pPr>
            <a:r>
              <a:rPr sz="1150" b="1" i="0" lang="ko-KR" altLang="en-US">
                <a:solidFill>
                  <a:srgbClr val="FFFFFF"/>
                </a:solidFill>
                <a:latin typeface="맑은 고딕"/>
                <a:ea typeface="맑은 고딕"/>
                <a:cs typeface="맑은 고딕"/>
              </a:rPr>
              <a:t>UNIRAN  PASS</a:t>
            </a:r>
          </a:p>
        </p:txBody>
      </p:sp>
      <p:sp>
        <p:nvSpPr>
          <p:cNvPr id="39" name="Rounded Rectangle 38"/>
          <p:cNvSpPr/>
          <p:nvPr/>
        </p:nvSpPr>
        <p:spPr>
          <a:xfrm>
            <a:off x="9157716" y="5815584"/>
            <a:ext cx="2391156" cy="329184"/>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94292" y="5815584"/>
            <a:ext cx="2318004" cy="329184"/>
          </a:xfrm>
          <a:prstGeom prst="rect">
            <a:avLst/>
          </a:prstGeom>
          <a:noFill/>
        </p:spPr>
        <p:txBody>
          <a:bodyPr wrap="square" anchor="ctr" lIns="0" tIns="0" rIns="0" bIns="0">
            <a:noAutofit/>
          </a:bodyPr>
          <a:lstStyle/>
          <a:p>
            <a:pPr algn="ctr">
              <a:lnSpc>
                <a:spcPct val="110000"/>
              </a:lnSpc>
              <a:spcAft>
                <a:spcPts val="0"/>
              </a:spcAft>
            </a:pPr>
            <a:r>
              <a:rPr sz="1150" b="1" i="0" lang="ko-KR" altLang="en-US">
                <a:solidFill>
                  <a:srgbClr val="FFFFFF"/>
                </a:solidFill>
                <a:latin typeface="맑은 고딕"/>
                <a:ea typeface="맑은 고딕"/>
                <a:cs typeface="맑은 고딕"/>
              </a:rPr>
              <a:t>GAUSS  PASS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05. 실습 결과</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5.2 실습 2  플롯 오차의 표준편차가 이론값 p 와 맞았습니다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17</a:t>
            </a:r>
          </a:p>
        </p:txBody>
      </p:sp>
      <p:sp>
        <p:nvSpPr>
          <p:cNvPr id="7" name="TextBox 6"/>
          <p:cNvSpPr txBox="1"/>
          <p:nvPr/>
        </p:nvSpPr>
        <p:spPr>
          <a:xfrm>
            <a:off x="640080" y="1938528"/>
            <a:ext cx="7772400" cy="274320"/>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첫 플롯   표적 1, t = 0 s, 거리</a:t>
            </a:r>
          </a:p>
        </p:txBody>
      </p:sp>
      <p:sp>
        <p:nvSpPr>
          <p:cNvPr id="8" name="Rectangle 7"/>
          <p:cNvSpPr/>
          <p:nvPr/>
        </p:nvSpPr>
        <p:spPr>
          <a:xfrm>
            <a:off x="640080" y="2249424"/>
            <a:ext cx="3017520" cy="768096"/>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49424"/>
            <a:ext cx="2743200" cy="768096"/>
          </a:xfrm>
          <a:prstGeom prst="rect">
            <a:avLst/>
          </a:prstGeom>
          <a:noFill/>
        </p:spPr>
        <p:txBody>
          <a:bodyPr wrap="square" anchor="ctr" lIns="0" tIns="0" rIns="0" bIns="0">
            <a:noAutofit/>
          </a:bodyPr>
          <a:lstStyle/>
          <a:p>
            <a:pPr algn="l">
              <a:lnSpc>
                <a:spcPct val="105000"/>
              </a:lnSpc>
              <a:spcAft>
                <a:spcPts val="100"/>
              </a:spcAft>
            </a:pPr>
            <a:r>
              <a:rPr sz="1050" b="0" i="0" lang="ko-KR" altLang="en-US">
                <a:solidFill>
                  <a:srgbClr val="4A5A7A"/>
                </a:solidFill>
                <a:latin typeface="맑은 고딕"/>
                <a:ea typeface="맑은 고딕"/>
                <a:cs typeface="맑은 고딕"/>
              </a:rPr>
              <a:t>참값 x</a:t>
            </a:r>
          </a:p>
          <a:p>
            <a:pPr algn="l">
              <a:lnSpc>
                <a:spcPct val="105000"/>
              </a:lnSpc>
              <a:spcAft>
                <a:spcPts val="0"/>
              </a:spcAft>
            </a:pPr>
            <a:r>
              <a:rPr sz="1600" b="1" i="0" lang="ko-KR" altLang="en-US">
                <a:solidFill>
                  <a:srgbClr val="1B2740"/>
                </a:solidFill>
                <a:latin typeface="맑은 고딕"/>
                <a:ea typeface="맑은 고딕"/>
                <a:cs typeface="맑은 고딕"/>
              </a:rPr>
              <a:t>14,147.51 m</a:t>
            </a:r>
          </a:p>
        </p:txBody>
      </p:sp>
      <p:sp>
        <p:nvSpPr>
          <p:cNvPr id="10" name="Rectangle 9"/>
          <p:cNvSpPr/>
          <p:nvPr/>
        </p:nvSpPr>
        <p:spPr>
          <a:xfrm>
            <a:off x="4069080" y="2249424"/>
            <a:ext cx="3749039" cy="768096"/>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2249424"/>
            <a:ext cx="3474720" cy="768096"/>
          </a:xfrm>
          <a:prstGeom prst="rect">
            <a:avLst/>
          </a:prstGeom>
          <a:noFill/>
        </p:spPr>
        <p:txBody>
          <a:bodyPr wrap="square" anchor="ctr" lIns="0" tIns="0" rIns="0" bIns="0">
            <a:noAutofit/>
          </a:bodyPr>
          <a:lstStyle/>
          <a:p>
            <a:pPr algn="l">
              <a:lnSpc>
                <a:spcPct val="105000"/>
              </a:lnSpc>
              <a:spcAft>
                <a:spcPts val="100"/>
              </a:spcAft>
            </a:pPr>
            <a:r>
              <a:rPr sz="1050" b="0" i="0" lang="ko-KR" altLang="en-US">
                <a:solidFill>
                  <a:srgbClr val="4A5A7A"/>
                </a:solidFill>
                <a:latin typeface="맑은 고딕"/>
                <a:ea typeface="맑은 고딕"/>
                <a:cs typeface="맑은 고딕"/>
              </a:rPr>
              <a:t>잡음 v = GAUSS(0, 4.74 m)</a:t>
            </a:r>
          </a:p>
          <a:p>
            <a:pPr algn="l">
              <a:lnSpc>
                <a:spcPct val="105000"/>
              </a:lnSpc>
              <a:spcAft>
                <a:spcPts val="0"/>
              </a:spcAft>
            </a:pPr>
            <a:r>
              <a:rPr sz="1600" b="1" i="0" lang="ko-KR" altLang="en-US">
                <a:solidFill>
                  <a:srgbClr val="1B2740"/>
                </a:solidFill>
                <a:latin typeface="맑은 고딕"/>
                <a:ea typeface="맑은 고딕"/>
                <a:cs typeface="맑은 고딕"/>
              </a:rPr>
              <a:t>−2.12 m</a:t>
            </a:r>
          </a:p>
          <a:p>
            <a:pPr algn="l">
              <a:lnSpc>
                <a:spcPct val="105000"/>
              </a:lnSpc>
              <a:spcAft>
                <a:spcPts val="0"/>
              </a:spcAft>
            </a:pPr>
            <a:r>
              <a:rPr sz="1000" b="0" i="0" lang="ko-KR" altLang="en-US">
                <a:solidFill>
                  <a:srgbClr val="647089"/>
                </a:solidFill>
                <a:latin typeface="맑은 고딕"/>
                <a:ea typeface="맑은 고딕"/>
                <a:cs typeface="맑은 고딕"/>
              </a:rPr>
              <a:t>(UNIRAN 12개 합 5.5538 − 6) × 4.74 m</a:t>
            </a:r>
          </a:p>
        </p:txBody>
      </p:sp>
      <p:sp>
        <p:nvSpPr>
          <p:cNvPr id="12" name="Rectangle 11"/>
          <p:cNvSpPr/>
          <p:nvPr/>
        </p:nvSpPr>
        <p:spPr>
          <a:xfrm>
            <a:off x="8229600" y="2249424"/>
            <a:ext cx="3319272" cy="768096"/>
          </a:xfrm>
          <a:prstGeom prst="rect">
            <a:avLst/>
          </a:prstGeom>
          <a:solidFill>
            <a:srgbClr val="EEF3FE"/>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2249424"/>
            <a:ext cx="3044952" cy="768096"/>
          </a:xfrm>
          <a:prstGeom prst="rect">
            <a:avLst/>
          </a:prstGeom>
          <a:noFill/>
        </p:spPr>
        <p:txBody>
          <a:bodyPr wrap="square" anchor="ctr" lIns="0" tIns="0" rIns="0" bIns="0">
            <a:noAutofit/>
          </a:bodyPr>
          <a:lstStyle/>
          <a:p>
            <a:pPr algn="l">
              <a:lnSpc>
                <a:spcPct val="105000"/>
              </a:lnSpc>
              <a:spcAft>
                <a:spcPts val="100"/>
              </a:spcAft>
            </a:pPr>
            <a:r>
              <a:rPr sz="1050" b="0" i="0" lang="ko-KR" altLang="en-US">
                <a:solidFill>
                  <a:srgbClr val="4A5A7A"/>
                </a:solidFill>
                <a:latin typeface="맑은 고딕"/>
                <a:ea typeface="맑은 고딕"/>
                <a:cs typeface="맑은 고딕"/>
              </a:rPr>
              <a:t>플롯 z = x + v</a:t>
            </a:r>
          </a:p>
          <a:p>
            <a:pPr algn="l">
              <a:lnSpc>
                <a:spcPct val="105000"/>
              </a:lnSpc>
              <a:spcAft>
                <a:spcPts val="0"/>
              </a:spcAft>
            </a:pPr>
            <a:r>
              <a:rPr sz="1600" b="1" i="0" lang="ko-KR" altLang="en-US">
                <a:solidFill>
                  <a:srgbClr val="2563EB"/>
                </a:solidFill>
                <a:latin typeface="맑은 고딕"/>
                <a:ea typeface="맑은 고딕"/>
                <a:cs typeface="맑은 고딕"/>
              </a:rPr>
              <a:t>14,145.40 m</a:t>
            </a:r>
          </a:p>
        </p:txBody>
      </p:sp>
      <p:sp>
        <p:nvSpPr>
          <p:cNvPr id="14" name="TextBox 13"/>
          <p:cNvSpPr txBox="1"/>
          <p:nvPr/>
        </p:nvSpPr>
        <p:spPr>
          <a:xfrm>
            <a:off x="3680460" y="2249424"/>
            <a:ext cx="365760" cy="768096"/>
          </a:xfrm>
          <a:prstGeom prst="rect">
            <a:avLst/>
          </a:prstGeom>
          <a:noFill/>
        </p:spPr>
        <p:txBody>
          <a:bodyPr wrap="square" anchor="ctr" lIns="0" tIns="0" rIns="0" bIns="0">
            <a:noAutofit/>
          </a:bodyPr>
          <a:lstStyle/>
          <a:p>
            <a:pPr algn="ctr">
              <a:lnSpc>
                <a:spcPct val="115000"/>
              </a:lnSpc>
              <a:spcAft>
                <a:spcPts val="0"/>
              </a:spcAft>
            </a:pPr>
            <a:r>
              <a:rPr sz="2200" b="1" i="0" lang="ko-KR" altLang="en-US">
                <a:solidFill>
                  <a:srgbClr val="4A5A7A"/>
                </a:solidFill>
                <a:latin typeface="맑은 고딕"/>
                <a:ea typeface="맑은 고딕"/>
                <a:cs typeface="맑은 고딕"/>
              </a:rPr>
              <a:t>+</a:t>
            </a:r>
          </a:p>
        </p:txBody>
      </p:sp>
      <p:sp>
        <p:nvSpPr>
          <p:cNvPr id="15" name="TextBox 14"/>
          <p:cNvSpPr txBox="1"/>
          <p:nvPr/>
        </p:nvSpPr>
        <p:spPr>
          <a:xfrm>
            <a:off x="7840979" y="2249424"/>
            <a:ext cx="365760" cy="768096"/>
          </a:xfrm>
          <a:prstGeom prst="rect">
            <a:avLst/>
          </a:prstGeom>
          <a:noFill/>
        </p:spPr>
        <p:txBody>
          <a:bodyPr wrap="square" anchor="ctr" lIns="0" tIns="0" rIns="0" bIns="0">
            <a:noAutofit/>
          </a:bodyPr>
          <a:lstStyle/>
          <a:p>
            <a:pPr algn="ctr">
              <a:lnSpc>
                <a:spcPct val="115000"/>
              </a:lnSpc>
              <a:spcAft>
                <a:spcPts val="0"/>
              </a:spcAft>
            </a:pPr>
            <a:r>
              <a:rPr sz="2200" b="1" i="0" lang="ko-KR" altLang="en-US">
                <a:solidFill>
                  <a:srgbClr val="4A5A7A"/>
                </a:solidFill>
                <a:latin typeface="맑은 고딕"/>
                <a:ea typeface="맑은 고딕"/>
                <a:cs typeface="맑은 고딕"/>
              </a:rPr>
              <a:t>=</a:t>
            </a:r>
          </a:p>
        </p:txBody>
      </p:sp>
      <p:sp>
        <p:nvSpPr>
          <p:cNvPr id="16" name="Rectangle 15"/>
          <p:cNvSpPr/>
          <p:nvPr/>
        </p:nvSpPr>
        <p:spPr>
          <a:xfrm>
            <a:off x="640080" y="3145536"/>
            <a:ext cx="3483864"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6384" y="3246120"/>
            <a:ext cx="749808" cy="274320"/>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246120"/>
            <a:ext cx="713231"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거리</a:t>
            </a:r>
          </a:p>
        </p:txBody>
      </p:sp>
      <p:sp>
        <p:nvSpPr>
          <p:cNvPr id="19" name="TextBox 18"/>
          <p:cNvSpPr txBox="1"/>
          <p:nvPr/>
        </p:nvSpPr>
        <p:spPr>
          <a:xfrm>
            <a:off x="786384" y="3538728"/>
            <a:ext cx="1783080" cy="402336"/>
          </a:xfrm>
          <a:prstGeom prst="rect">
            <a:avLst/>
          </a:prstGeom>
          <a:noFill/>
        </p:spPr>
        <p:txBody>
          <a:bodyPr wrap="square" anchor="ctr" lIns="0" tIns="0" rIns="0" bIns="0">
            <a:noAutofit/>
          </a:bodyPr>
          <a:lstStyle/>
          <a:p>
            <a:pPr algn="l">
              <a:lnSpc>
                <a:spcPct val="115000"/>
              </a:lnSpc>
              <a:spcAft>
                <a:spcPts val="0"/>
              </a:spcAft>
            </a:pPr>
            <a:r>
              <a:rPr sz="2100" b="1" i="0" lang="ko-KR" altLang="en-US">
                <a:solidFill>
                  <a:srgbClr val="1B2740"/>
                </a:solidFill>
                <a:latin typeface="Arial"/>
                <a:ea typeface="맑은 고딕"/>
                <a:cs typeface="Arial"/>
              </a:rPr>
              <a:t>4.80 m</a:t>
            </a:r>
          </a:p>
        </p:txBody>
      </p:sp>
      <p:sp>
        <p:nvSpPr>
          <p:cNvPr id="20" name="TextBox 19"/>
          <p:cNvSpPr txBox="1"/>
          <p:nvPr/>
        </p:nvSpPr>
        <p:spPr>
          <a:xfrm>
            <a:off x="2468880" y="3227832"/>
            <a:ext cx="1508760" cy="310896"/>
          </a:xfrm>
          <a:prstGeom prst="rect">
            <a:avLst/>
          </a:prstGeom>
          <a:noFill/>
        </p:spPr>
        <p:txBody>
          <a:bodyPr wrap="square" anchor="ctr" lIns="0" tIns="0" rIns="0" bIns="0">
            <a:noAutofit/>
          </a:bodyPr>
          <a:lstStyle/>
          <a:p>
            <a:pPr algn="r">
              <a:lnSpc>
                <a:spcPct val="115000"/>
              </a:lnSpc>
              <a:spcAft>
                <a:spcPts val="0"/>
              </a:spcAft>
            </a:pPr>
            <a:r>
              <a:rPr sz="1150" b="0" i="0" lang="ko-KR" altLang="en-US">
                <a:solidFill>
                  <a:srgbClr val="4A5A7A"/>
                </a:solidFill>
                <a:latin typeface="맑은 고딕"/>
                <a:ea typeface="맑은 고딕"/>
                <a:cs typeface="맑은 고딕"/>
              </a:rPr>
              <a:t>이론 4.74 m</a:t>
            </a:r>
          </a:p>
        </p:txBody>
      </p:sp>
      <p:sp>
        <p:nvSpPr>
          <p:cNvPr id="21" name="TextBox 20"/>
          <p:cNvSpPr txBox="1"/>
          <p:nvPr/>
        </p:nvSpPr>
        <p:spPr>
          <a:xfrm>
            <a:off x="2468880" y="3557016"/>
            <a:ext cx="1508760" cy="365760"/>
          </a:xfrm>
          <a:prstGeom prst="rect">
            <a:avLst/>
          </a:prstGeom>
          <a:noFill/>
        </p:spPr>
        <p:txBody>
          <a:bodyPr wrap="square" anchor="ctr" lIns="0" tIns="0" rIns="0" bIns="0">
            <a:noAutofit/>
          </a:bodyPr>
          <a:lstStyle/>
          <a:p>
            <a:pPr algn="r">
              <a:lnSpc>
                <a:spcPct val="115000"/>
              </a:lnSpc>
              <a:spcAft>
                <a:spcPts val="0"/>
              </a:spcAft>
            </a:pPr>
            <a:r>
              <a:rPr sz="1600" b="1" i="0" lang="ko-KR" altLang="en-US">
                <a:solidFill>
                  <a:srgbClr val="1B2740"/>
                </a:solidFill>
                <a:latin typeface="Arial"/>
                <a:ea typeface="맑은 고딕"/>
                <a:cs typeface="Arial"/>
              </a:rPr>
              <a:t>× 1.013</a:t>
            </a:r>
          </a:p>
        </p:txBody>
      </p:sp>
      <p:sp>
        <p:nvSpPr>
          <p:cNvPr id="22" name="Rectangle 21"/>
          <p:cNvSpPr/>
          <p:nvPr/>
        </p:nvSpPr>
        <p:spPr>
          <a:xfrm>
            <a:off x="4352544" y="3145536"/>
            <a:ext cx="3483864"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498848" y="3246120"/>
            <a:ext cx="749808" cy="274320"/>
          </a:xfrm>
          <a:prstGeom prst="roundRect">
            <a:avLst>
              <a:gd name="adj" fmla="val 1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7136" y="3246120"/>
            <a:ext cx="713231"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방위각</a:t>
            </a:r>
          </a:p>
        </p:txBody>
      </p:sp>
      <p:sp>
        <p:nvSpPr>
          <p:cNvPr id="25" name="TextBox 24"/>
          <p:cNvSpPr txBox="1"/>
          <p:nvPr/>
        </p:nvSpPr>
        <p:spPr>
          <a:xfrm>
            <a:off x="4498848" y="3538728"/>
            <a:ext cx="1783080" cy="402336"/>
          </a:xfrm>
          <a:prstGeom prst="rect">
            <a:avLst/>
          </a:prstGeom>
          <a:noFill/>
        </p:spPr>
        <p:txBody>
          <a:bodyPr wrap="square" anchor="ctr" lIns="0" tIns="0" rIns="0" bIns="0">
            <a:noAutofit/>
          </a:bodyPr>
          <a:lstStyle/>
          <a:p>
            <a:pPr algn="l">
              <a:lnSpc>
                <a:spcPct val="115000"/>
              </a:lnSpc>
              <a:spcAft>
                <a:spcPts val="0"/>
              </a:spcAft>
            </a:pPr>
            <a:r>
              <a:rPr sz="2100" b="1" i="0" lang="ko-KR" altLang="en-US">
                <a:solidFill>
                  <a:srgbClr val="1B2740"/>
                </a:solidFill>
                <a:latin typeface="Arial"/>
                <a:ea typeface="맑은 고딕"/>
                <a:cs typeface="Arial"/>
              </a:rPr>
              <a:t>0.476°</a:t>
            </a:r>
          </a:p>
        </p:txBody>
      </p:sp>
      <p:sp>
        <p:nvSpPr>
          <p:cNvPr id="26" name="TextBox 25"/>
          <p:cNvSpPr txBox="1"/>
          <p:nvPr/>
        </p:nvSpPr>
        <p:spPr>
          <a:xfrm>
            <a:off x="6181344" y="3227832"/>
            <a:ext cx="1508760" cy="310896"/>
          </a:xfrm>
          <a:prstGeom prst="rect">
            <a:avLst/>
          </a:prstGeom>
          <a:noFill/>
        </p:spPr>
        <p:txBody>
          <a:bodyPr wrap="square" anchor="ctr" lIns="0" tIns="0" rIns="0" bIns="0">
            <a:noAutofit/>
          </a:bodyPr>
          <a:lstStyle/>
          <a:p>
            <a:pPr algn="r">
              <a:lnSpc>
                <a:spcPct val="115000"/>
              </a:lnSpc>
              <a:spcAft>
                <a:spcPts val="0"/>
              </a:spcAft>
            </a:pPr>
            <a:r>
              <a:rPr sz="1150" b="0" i="0" lang="ko-KR" altLang="en-US">
                <a:solidFill>
                  <a:srgbClr val="4A5A7A"/>
                </a:solidFill>
                <a:latin typeface="맑은 고딕"/>
                <a:ea typeface="맑은 고딕"/>
                <a:cs typeface="맑은 고딕"/>
              </a:rPr>
              <a:t>이론 0.478°</a:t>
            </a:r>
          </a:p>
        </p:txBody>
      </p:sp>
      <p:sp>
        <p:nvSpPr>
          <p:cNvPr id="27" name="TextBox 26"/>
          <p:cNvSpPr txBox="1"/>
          <p:nvPr/>
        </p:nvSpPr>
        <p:spPr>
          <a:xfrm>
            <a:off x="6181344" y="3557016"/>
            <a:ext cx="1508760" cy="365760"/>
          </a:xfrm>
          <a:prstGeom prst="rect">
            <a:avLst/>
          </a:prstGeom>
          <a:noFill/>
        </p:spPr>
        <p:txBody>
          <a:bodyPr wrap="square" anchor="ctr" lIns="0" tIns="0" rIns="0" bIns="0">
            <a:noAutofit/>
          </a:bodyPr>
          <a:lstStyle/>
          <a:p>
            <a:pPr algn="r">
              <a:lnSpc>
                <a:spcPct val="115000"/>
              </a:lnSpc>
              <a:spcAft>
                <a:spcPts val="0"/>
              </a:spcAft>
            </a:pPr>
            <a:r>
              <a:rPr sz="1600" b="1" i="0" lang="ko-KR" altLang="en-US">
                <a:solidFill>
                  <a:srgbClr val="1B2740"/>
                </a:solidFill>
                <a:latin typeface="Arial"/>
                <a:ea typeface="맑은 고딕"/>
                <a:cs typeface="Arial"/>
              </a:rPr>
              <a:t>× 0.996</a:t>
            </a:r>
          </a:p>
        </p:txBody>
      </p:sp>
      <p:sp>
        <p:nvSpPr>
          <p:cNvPr id="28" name="Rectangle 27"/>
          <p:cNvSpPr/>
          <p:nvPr/>
        </p:nvSpPr>
        <p:spPr>
          <a:xfrm>
            <a:off x="8065008" y="3145536"/>
            <a:ext cx="3483864"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11312" y="3246120"/>
            <a:ext cx="749808" cy="274320"/>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3246120"/>
            <a:ext cx="713231" cy="274320"/>
          </a:xfrm>
          <a:prstGeom prst="rect">
            <a:avLst/>
          </a:prstGeom>
          <a:noFill/>
        </p:spPr>
        <p:txBody>
          <a:bodyPr wrap="square" anchor="ctr" lIns="0" tIns="0" rIns="0" bIns="0">
            <a:noAutofit/>
          </a:bodyPr>
          <a:lstStyle/>
          <a:p>
            <a:pPr algn="ctr">
              <a:lnSpc>
                <a:spcPct val="110000"/>
              </a:lnSpc>
              <a:spcAft>
                <a:spcPts val="0"/>
              </a:spcAft>
            </a:pPr>
            <a:r>
              <a:rPr sz="1100" b="1" i="0" lang="ko-KR" altLang="en-US">
                <a:solidFill>
                  <a:srgbClr val="FFFFFF"/>
                </a:solidFill>
                <a:latin typeface="맑은 고딕"/>
                <a:ea typeface="맑은 고딕"/>
                <a:cs typeface="맑은 고딕"/>
              </a:rPr>
              <a:t>고각</a:t>
            </a:r>
          </a:p>
        </p:txBody>
      </p:sp>
      <p:sp>
        <p:nvSpPr>
          <p:cNvPr id="31" name="TextBox 30"/>
          <p:cNvSpPr txBox="1"/>
          <p:nvPr/>
        </p:nvSpPr>
        <p:spPr>
          <a:xfrm>
            <a:off x="8211312" y="3538728"/>
            <a:ext cx="1783080" cy="402336"/>
          </a:xfrm>
          <a:prstGeom prst="rect">
            <a:avLst/>
          </a:prstGeom>
          <a:noFill/>
        </p:spPr>
        <p:txBody>
          <a:bodyPr wrap="square" anchor="ctr" lIns="0" tIns="0" rIns="0" bIns="0">
            <a:noAutofit/>
          </a:bodyPr>
          <a:lstStyle/>
          <a:p>
            <a:pPr algn="l">
              <a:lnSpc>
                <a:spcPct val="115000"/>
              </a:lnSpc>
              <a:spcAft>
                <a:spcPts val="0"/>
              </a:spcAft>
            </a:pPr>
            <a:r>
              <a:rPr sz="2100" b="1" i="0" lang="ko-KR" altLang="en-US">
                <a:solidFill>
                  <a:srgbClr val="1B2740"/>
                </a:solidFill>
                <a:latin typeface="Arial"/>
                <a:ea typeface="맑은 고딕"/>
                <a:cs typeface="Arial"/>
              </a:rPr>
              <a:t>0.493°</a:t>
            </a:r>
          </a:p>
        </p:txBody>
      </p:sp>
      <p:sp>
        <p:nvSpPr>
          <p:cNvPr id="32" name="TextBox 31"/>
          <p:cNvSpPr txBox="1"/>
          <p:nvPr/>
        </p:nvSpPr>
        <p:spPr>
          <a:xfrm>
            <a:off x="9893808" y="3227832"/>
            <a:ext cx="1508760" cy="310896"/>
          </a:xfrm>
          <a:prstGeom prst="rect">
            <a:avLst/>
          </a:prstGeom>
          <a:noFill/>
        </p:spPr>
        <p:txBody>
          <a:bodyPr wrap="square" anchor="ctr" lIns="0" tIns="0" rIns="0" bIns="0">
            <a:noAutofit/>
          </a:bodyPr>
          <a:lstStyle/>
          <a:p>
            <a:pPr algn="r">
              <a:lnSpc>
                <a:spcPct val="115000"/>
              </a:lnSpc>
              <a:spcAft>
                <a:spcPts val="0"/>
              </a:spcAft>
            </a:pPr>
            <a:r>
              <a:rPr sz="1150" b="0" i="0" lang="ko-KR" altLang="en-US">
                <a:solidFill>
                  <a:srgbClr val="4A5A7A"/>
                </a:solidFill>
                <a:latin typeface="맑은 고딕"/>
                <a:ea typeface="맑은 고딕"/>
                <a:cs typeface="맑은 고딕"/>
              </a:rPr>
              <a:t>이론 0.494°</a:t>
            </a:r>
          </a:p>
        </p:txBody>
      </p:sp>
      <p:sp>
        <p:nvSpPr>
          <p:cNvPr id="33" name="TextBox 32"/>
          <p:cNvSpPr txBox="1"/>
          <p:nvPr/>
        </p:nvSpPr>
        <p:spPr>
          <a:xfrm>
            <a:off x="9893808" y="3557016"/>
            <a:ext cx="1508760" cy="365760"/>
          </a:xfrm>
          <a:prstGeom prst="rect">
            <a:avLst/>
          </a:prstGeom>
          <a:noFill/>
        </p:spPr>
        <p:txBody>
          <a:bodyPr wrap="square" anchor="ctr" lIns="0" tIns="0" rIns="0" bIns="0">
            <a:noAutofit/>
          </a:bodyPr>
          <a:lstStyle/>
          <a:p>
            <a:pPr algn="r">
              <a:lnSpc>
                <a:spcPct val="115000"/>
              </a:lnSpc>
              <a:spcAft>
                <a:spcPts val="0"/>
              </a:spcAft>
            </a:pPr>
            <a:r>
              <a:rPr sz="1600" b="1" i="0" lang="ko-KR" altLang="en-US">
                <a:solidFill>
                  <a:srgbClr val="1B2740"/>
                </a:solidFill>
                <a:latin typeface="Arial"/>
                <a:ea typeface="맑은 고딕"/>
                <a:cs typeface="Arial"/>
              </a:rPr>
              <a:t>× 0.998</a:t>
            </a:r>
          </a:p>
        </p:txBody>
      </p:sp>
      <p:sp>
        <p:nvSpPr>
          <p:cNvPr id="34" name="TextBox 33"/>
          <p:cNvSpPr txBox="1"/>
          <p:nvPr/>
        </p:nvSpPr>
        <p:spPr>
          <a:xfrm>
            <a:off x="640080" y="4059936"/>
            <a:ext cx="9692640" cy="274320"/>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1B2740"/>
                </a:solidFill>
                <a:latin typeface="맑은 고딕"/>
                <a:ea typeface="맑은 고딕"/>
                <a:cs typeface="맑은 고딕"/>
              </a:rPr>
              <a:t>실제 표준편차 (3,000개) ÷ 이론</a:t>
            </a:r>
            <a:r>
              <a:rPr sz="1150" b="0" i="0" lang="ko-KR" altLang="en-US">
                <a:solidFill>
                  <a:srgbClr val="4A5A7A"/>
                </a:solidFill>
                <a:latin typeface="맑은 고딕"/>
                <a:ea typeface="맑은 고딕"/>
                <a:cs typeface="맑은 고딕"/>
              </a:rPr>
              <a:t>  모두 1 근처, 기준 0.9 ~ 1.1.   3,000개면 ±1.3 % 흔들림은 정상</a:t>
            </a:r>
          </a:p>
        </p:txBody>
      </p:sp>
      <p:sp>
        <p:nvSpPr>
          <p:cNvPr id="35" name="Rounded Rectangle 34"/>
          <p:cNvSpPr/>
          <p:nvPr/>
        </p:nvSpPr>
        <p:spPr>
          <a:xfrm>
            <a:off x="10469880" y="4069080"/>
            <a:ext cx="1078992" cy="256032"/>
          </a:xfrm>
          <a:prstGeom prst="roundRect">
            <a:avLst>
              <a:gd name="adj" fmla="val 1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06455" y="4069080"/>
            <a:ext cx="1005839" cy="256032"/>
          </a:xfrm>
          <a:prstGeom prst="rect">
            <a:avLst/>
          </a:prstGeom>
          <a:noFill/>
        </p:spPr>
        <p:txBody>
          <a:bodyPr wrap="square" anchor="ctr" lIns="0" tIns="0" rIns="0" bIns="0">
            <a:noAutofit/>
          </a:bodyPr>
          <a:lstStyle/>
          <a:p>
            <a:pPr algn="ctr">
              <a:lnSpc>
                <a:spcPct val="110000"/>
              </a:lnSpc>
              <a:spcAft>
                <a:spcPts val="0"/>
              </a:spcAft>
            </a:pPr>
            <a:r>
              <a:rPr sz="1050" b="1" i="0" lang="ko-KR" altLang="en-US">
                <a:solidFill>
                  <a:srgbClr val="FFFFFF"/>
                </a:solidFill>
                <a:latin typeface="맑은 고딕"/>
                <a:ea typeface="맑은 고딕"/>
                <a:cs typeface="맑은 고딕"/>
              </a:rPr>
              <a:t>PASS</a:t>
            </a:r>
          </a:p>
        </p:txBody>
      </p:sp>
      <p:pic>
        <p:nvPicPr>
          <p:cNvPr id="37" name="Picture 36" descr="f13_v5.png"/>
          <p:cNvPicPr>
            <a:picLocks noChangeAspect="1"/>
          </p:cNvPicPr>
          <p:nvPr/>
        </p:nvPicPr>
        <p:blipFill>
          <a:blip r:embed="rId2"/>
          <a:stretch>
            <a:fillRect/>
          </a:stretch>
        </p:blipFill>
        <p:spPr>
          <a:xfrm>
            <a:off x="790956" y="4425696"/>
            <a:ext cx="10607040" cy="18288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05. 실습 결과</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5.3 실습 3  클러터 3,000개가 FOV 안에 고르게 퍼졌습니다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18</a:t>
            </a:r>
          </a:p>
        </p:txBody>
      </p:sp>
      <p:sp>
        <p:nvSpPr>
          <p:cNvPr id="7" name="Rectangle 6"/>
          <p:cNvSpPr/>
          <p:nvPr/>
        </p:nvSpPr>
        <p:spPr>
          <a:xfrm>
            <a:off x="640080" y="1965960"/>
            <a:ext cx="6766560" cy="457200"/>
          </a:xfrm>
          <a:prstGeom prst="rect">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118360"/>
            <a:ext cx="6583680" cy="170687"/>
          </a:xfrm>
          <a:prstGeom prst="rect">
            <a:avLst/>
          </a:prstGeom>
          <a:noFill/>
        </p:spPr>
        <p:txBody>
          <a:bodyPr wrap="none" anchor="t" lIns="0" tIns="0" rIns="0" bIns="0">
            <a:noAutofit/>
          </a:bodyPr>
          <a:lstStyle/>
          <a:p>
            <a:pPr algn="l">
              <a:lnSpc>
                <a:spcPts val="1200"/>
              </a:lnSpc>
              <a:spcAft>
                <a:spcPts val="0"/>
              </a:spcAft>
            </a:pPr>
            <a:r>
              <a:rPr sz="1000" b="0" i="0" lang="ko-KR" altLang="en-US">
                <a:solidFill>
                  <a:srgbClr val="E3E8F2"/>
                </a:solidFill>
                <a:latin typeface="Consolas"/>
                <a:ea typeface="맑은 고딕"/>
                <a:cs typeface="Consolas"/>
              </a:rPr>
              <a:t>st_Clutter-&gt;r  = PCS_CLT_RNG_MIN + ((PCS_CLT_RNG_MAX - PCS_CLT_RNG_MIN) * </a:t>
            </a:r>
            <a:r>
              <a:rPr sz="1000" b="0" i="0" lang="ko-KR" altLang="en-US">
                <a:solidFill>
                  <a:srgbClr val="F2C46D"/>
                </a:solidFill>
                <a:latin typeface="Consolas"/>
                <a:ea typeface="맑은 고딕"/>
                <a:cs typeface="Consolas"/>
              </a:rPr>
              <a:t>UNIRAN</a:t>
            </a:r>
            <a:r>
              <a:rPr sz="1000" b="0" i="0" lang="ko-KR" altLang="en-US">
                <a:solidFill>
                  <a:srgbClr val="E3E8F2"/>
                </a:solidFill>
                <a:latin typeface="Consolas"/>
                <a:ea typeface="맑은 고딕"/>
                <a:cs typeface="Consolas"/>
              </a:rPr>
              <a:t>());</a:t>
            </a:r>
          </a:p>
        </p:txBody>
      </p:sp>
      <p:sp>
        <p:nvSpPr>
          <p:cNvPr id="9" name="TextBox 8"/>
          <p:cNvSpPr txBox="1"/>
          <p:nvPr/>
        </p:nvSpPr>
        <p:spPr>
          <a:xfrm>
            <a:off x="7635240" y="1965960"/>
            <a:ext cx="3913632" cy="457200"/>
          </a:xfrm>
          <a:prstGeom prst="rect">
            <a:avLst/>
          </a:prstGeom>
          <a:noFill/>
        </p:spPr>
        <p:txBody>
          <a:bodyPr wrap="square" anchor="ctr" lIns="0" tIns="0" rIns="0" bIns="0">
            <a:noAutofit/>
          </a:bodyPr>
          <a:lstStyle/>
          <a:p>
            <a:pPr algn="l">
              <a:lnSpc>
                <a:spcPct val="115000"/>
              </a:lnSpc>
              <a:spcAft>
                <a:spcPts val="0"/>
              </a:spcAft>
            </a:pPr>
            <a:r>
              <a:rPr sz="1150" b="1" i="0" lang="ko-KR" altLang="en-US">
                <a:solidFill>
                  <a:srgbClr val="1B2740"/>
                </a:solidFill>
                <a:latin typeface="맑은 고딕"/>
                <a:ea typeface="맑은 고딕"/>
                <a:cs typeface="맑은 고딕"/>
              </a:rPr>
              <a:t>방위각 · 고각도 같은 식 (4.4)</a:t>
            </a:r>
            <a:r>
              <a:rPr sz="1150" b="0" i="0" lang="ko-KR" altLang="en-US">
                <a:solidFill>
                  <a:srgbClr val="4A5A7A"/>
                </a:solidFill>
                <a:latin typeface="맑은 고딕"/>
                <a:ea typeface="맑은 고딕"/>
                <a:cs typeface="맑은 고딕"/>
              </a:rPr>
              <a:t>    스캔마다 5개</a:t>
            </a:r>
          </a:p>
        </p:txBody>
      </p:sp>
      <p:pic>
        <p:nvPicPr>
          <p:cNvPr id="10" name="Picture 9" descr="f14_v5.png"/>
          <p:cNvPicPr>
            <a:picLocks noChangeAspect="1"/>
          </p:cNvPicPr>
          <p:nvPr/>
        </p:nvPicPr>
        <p:blipFill>
          <a:blip r:embed="rId2"/>
          <a:stretch>
            <a:fillRect/>
          </a:stretch>
        </p:blipFill>
        <p:spPr>
          <a:xfrm>
            <a:off x="790956" y="2542032"/>
            <a:ext cx="10607040" cy="2377440"/>
          </a:xfrm>
          <a:prstGeom prst="rect">
            <a:avLst/>
          </a:prstGeom>
        </p:spPr>
      </p:pic>
      <p:sp>
        <p:nvSpPr>
          <p:cNvPr id="11" name="Rectangle 10"/>
          <p:cNvSpPr/>
          <p:nvPr/>
        </p:nvSpPr>
        <p:spPr>
          <a:xfrm>
            <a:off x="640080" y="5029200"/>
            <a:ext cx="2331720"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5065776"/>
            <a:ext cx="2002536" cy="310896"/>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거리</a:t>
            </a:r>
            <a:r>
              <a:rPr sz="1100" b="0" i="0" lang="ko-KR" altLang="en-US">
                <a:solidFill>
                  <a:srgbClr val="4A5A7A"/>
                </a:solidFill>
                <a:latin typeface="맑은 고딕"/>
                <a:ea typeface="맑은 고딕"/>
                <a:cs typeface="맑은 고딕"/>
              </a:rPr>
              <a:t>  카이제곱</a:t>
            </a:r>
          </a:p>
        </p:txBody>
      </p:sp>
      <p:sp>
        <p:nvSpPr>
          <p:cNvPr id="13" name="TextBox 12"/>
          <p:cNvSpPr txBox="1"/>
          <p:nvPr/>
        </p:nvSpPr>
        <p:spPr>
          <a:xfrm>
            <a:off x="804671" y="5394960"/>
            <a:ext cx="1143000" cy="420624"/>
          </a:xfrm>
          <a:prstGeom prst="rect">
            <a:avLst/>
          </a:prstGeom>
          <a:noFill/>
        </p:spPr>
        <p:txBody>
          <a:bodyPr wrap="square" anchor="ctr" lIns="0" tIns="0" rIns="0" bIns="0">
            <a:noAutofit/>
          </a:bodyPr>
          <a:lstStyle/>
          <a:p>
            <a:pPr algn="l">
              <a:lnSpc>
                <a:spcPct val="115000"/>
              </a:lnSpc>
              <a:spcAft>
                <a:spcPts val="0"/>
              </a:spcAft>
            </a:pPr>
            <a:r>
              <a:rPr sz="2100" b="1" i="0" lang="ko-KR" altLang="en-US">
                <a:solidFill>
                  <a:srgbClr val="1B2740"/>
                </a:solidFill>
                <a:latin typeface="Arial"/>
                <a:ea typeface="맑은 고딕"/>
                <a:cs typeface="Arial"/>
              </a:rPr>
              <a:t>5.91</a:t>
            </a:r>
          </a:p>
        </p:txBody>
      </p:sp>
      <p:sp>
        <p:nvSpPr>
          <p:cNvPr id="14" name="TextBox 13"/>
          <p:cNvSpPr txBox="1"/>
          <p:nvPr/>
        </p:nvSpPr>
        <p:spPr>
          <a:xfrm>
            <a:off x="1828800" y="5394960"/>
            <a:ext cx="978407" cy="420624"/>
          </a:xfrm>
          <a:prstGeom prst="rect">
            <a:avLst/>
          </a:prstGeom>
          <a:noFill/>
        </p:spPr>
        <p:txBody>
          <a:bodyPr wrap="square" anchor="ctr" lIns="0" tIns="0" rIns="0" bIns="0">
            <a:noAutofit/>
          </a:bodyPr>
          <a:lstStyle/>
          <a:p>
            <a:pPr algn="r">
              <a:lnSpc>
                <a:spcPct val="115000"/>
              </a:lnSpc>
              <a:spcAft>
                <a:spcPts val="0"/>
              </a:spcAft>
            </a:pPr>
            <a:r>
              <a:rPr sz="1300" b="0" i="0" lang="ko-KR" altLang="en-US">
                <a:solidFill>
                  <a:srgbClr val="4A5A7A"/>
                </a:solidFill>
                <a:latin typeface="Arial"/>
                <a:ea typeface="맑은 고딕"/>
                <a:cs typeface="Arial"/>
              </a:rPr>
              <a:t>&lt; 21.67</a:t>
            </a:r>
          </a:p>
        </p:txBody>
      </p:sp>
      <p:sp>
        <p:nvSpPr>
          <p:cNvPr id="15" name="Rectangle 14"/>
          <p:cNvSpPr/>
          <p:nvPr/>
        </p:nvSpPr>
        <p:spPr>
          <a:xfrm>
            <a:off x="3154680" y="5029200"/>
            <a:ext cx="2331720"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9272" y="5065776"/>
            <a:ext cx="2002536" cy="310896"/>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방위각</a:t>
            </a:r>
            <a:r>
              <a:rPr sz="1100" b="0" i="0" lang="ko-KR" altLang="en-US">
                <a:solidFill>
                  <a:srgbClr val="4A5A7A"/>
                </a:solidFill>
                <a:latin typeface="맑은 고딕"/>
                <a:ea typeface="맑은 고딕"/>
                <a:cs typeface="맑은 고딕"/>
              </a:rPr>
              <a:t>  카이제곱</a:t>
            </a:r>
          </a:p>
        </p:txBody>
      </p:sp>
      <p:sp>
        <p:nvSpPr>
          <p:cNvPr id="17" name="TextBox 16"/>
          <p:cNvSpPr txBox="1"/>
          <p:nvPr/>
        </p:nvSpPr>
        <p:spPr>
          <a:xfrm>
            <a:off x="3319272" y="5394960"/>
            <a:ext cx="1143000" cy="420624"/>
          </a:xfrm>
          <a:prstGeom prst="rect">
            <a:avLst/>
          </a:prstGeom>
          <a:noFill/>
        </p:spPr>
        <p:txBody>
          <a:bodyPr wrap="square" anchor="ctr" lIns="0" tIns="0" rIns="0" bIns="0">
            <a:noAutofit/>
          </a:bodyPr>
          <a:lstStyle/>
          <a:p>
            <a:pPr algn="l">
              <a:lnSpc>
                <a:spcPct val="115000"/>
              </a:lnSpc>
              <a:spcAft>
                <a:spcPts val="0"/>
              </a:spcAft>
            </a:pPr>
            <a:r>
              <a:rPr sz="2100" b="1" i="0" lang="ko-KR" altLang="en-US">
                <a:solidFill>
                  <a:srgbClr val="1B2740"/>
                </a:solidFill>
                <a:latin typeface="Arial"/>
                <a:ea typeface="맑은 고딕"/>
                <a:cs typeface="Arial"/>
              </a:rPr>
              <a:t>5.09</a:t>
            </a:r>
          </a:p>
        </p:txBody>
      </p:sp>
      <p:sp>
        <p:nvSpPr>
          <p:cNvPr id="18" name="TextBox 17"/>
          <p:cNvSpPr txBox="1"/>
          <p:nvPr/>
        </p:nvSpPr>
        <p:spPr>
          <a:xfrm>
            <a:off x="4343400" y="5394960"/>
            <a:ext cx="978407" cy="420624"/>
          </a:xfrm>
          <a:prstGeom prst="rect">
            <a:avLst/>
          </a:prstGeom>
          <a:noFill/>
        </p:spPr>
        <p:txBody>
          <a:bodyPr wrap="square" anchor="ctr" lIns="0" tIns="0" rIns="0" bIns="0">
            <a:noAutofit/>
          </a:bodyPr>
          <a:lstStyle/>
          <a:p>
            <a:pPr algn="r">
              <a:lnSpc>
                <a:spcPct val="115000"/>
              </a:lnSpc>
              <a:spcAft>
                <a:spcPts val="0"/>
              </a:spcAft>
            </a:pPr>
            <a:r>
              <a:rPr sz="1300" b="0" i="0" lang="ko-KR" altLang="en-US">
                <a:solidFill>
                  <a:srgbClr val="4A5A7A"/>
                </a:solidFill>
                <a:latin typeface="Arial"/>
                <a:ea typeface="맑은 고딕"/>
                <a:cs typeface="Arial"/>
              </a:rPr>
              <a:t>&lt; 21.67</a:t>
            </a:r>
          </a:p>
        </p:txBody>
      </p:sp>
      <p:sp>
        <p:nvSpPr>
          <p:cNvPr id="19" name="Rectangle 18"/>
          <p:cNvSpPr/>
          <p:nvPr/>
        </p:nvSpPr>
        <p:spPr>
          <a:xfrm>
            <a:off x="5669280" y="5029200"/>
            <a:ext cx="2331720" cy="84124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33872" y="5065776"/>
            <a:ext cx="2002536" cy="310896"/>
          </a:xfrm>
          <a:prstGeom prst="rect">
            <a:avLst/>
          </a:prstGeom>
          <a:noFill/>
        </p:spPr>
        <p:txBody>
          <a:bodyPr wrap="square" anchor="ctr" lIns="0" tIns="0" rIns="0" bIns="0">
            <a:noAutofit/>
          </a:bodyPr>
          <a:lstStyle/>
          <a:p>
            <a:pPr algn="l">
              <a:lnSpc>
                <a:spcPct val="115000"/>
              </a:lnSpc>
              <a:spcAft>
                <a:spcPts val="0"/>
              </a:spcAft>
            </a:pPr>
            <a:r>
              <a:rPr sz="1250" b="1" i="0" lang="ko-KR" altLang="en-US">
                <a:solidFill>
                  <a:srgbClr val="1B2740"/>
                </a:solidFill>
                <a:latin typeface="맑은 고딕"/>
                <a:ea typeface="맑은 고딕"/>
                <a:cs typeface="맑은 고딕"/>
              </a:rPr>
              <a:t>고각</a:t>
            </a:r>
            <a:r>
              <a:rPr sz="1100" b="0" i="0" lang="ko-KR" altLang="en-US">
                <a:solidFill>
                  <a:srgbClr val="4A5A7A"/>
                </a:solidFill>
                <a:latin typeface="맑은 고딕"/>
                <a:ea typeface="맑은 고딕"/>
                <a:cs typeface="맑은 고딕"/>
              </a:rPr>
              <a:t>  카이제곱</a:t>
            </a:r>
          </a:p>
        </p:txBody>
      </p:sp>
      <p:sp>
        <p:nvSpPr>
          <p:cNvPr id="21" name="TextBox 20"/>
          <p:cNvSpPr txBox="1"/>
          <p:nvPr/>
        </p:nvSpPr>
        <p:spPr>
          <a:xfrm>
            <a:off x="5833872" y="5394960"/>
            <a:ext cx="1143000" cy="420624"/>
          </a:xfrm>
          <a:prstGeom prst="rect">
            <a:avLst/>
          </a:prstGeom>
          <a:noFill/>
        </p:spPr>
        <p:txBody>
          <a:bodyPr wrap="square" anchor="ctr" lIns="0" tIns="0" rIns="0" bIns="0">
            <a:noAutofit/>
          </a:bodyPr>
          <a:lstStyle/>
          <a:p>
            <a:pPr algn="l">
              <a:lnSpc>
                <a:spcPct val="115000"/>
              </a:lnSpc>
              <a:spcAft>
                <a:spcPts val="0"/>
              </a:spcAft>
            </a:pPr>
            <a:r>
              <a:rPr sz="2100" b="1" i="0" lang="ko-KR" altLang="en-US">
                <a:solidFill>
                  <a:srgbClr val="1B2740"/>
                </a:solidFill>
                <a:latin typeface="Arial"/>
                <a:ea typeface="맑은 고딕"/>
                <a:cs typeface="Arial"/>
              </a:rPr>
              <a:t>5.53</a:t>
            </a:r>
          </a:p>
        </p:txBody>
      </p:sp>
      <p:sp>
        <p:nvSpPr>
          <p:cNvPr id="22" name="TextBox 21"/>
          <p:cNvSpPr txBox="1"/>
          <p:nvPr/>
        </p:nvSpPr>
        <p:spPr>
          <a:xfrm>
            <a:off x="6858000" y="5394960"/>
            <a:ext cx="978407" cy="420624"/>
          </a:xfrm>
          <a:prstGeom prst="rect">
            <a:avLst/>
          </a:prstGeom>
          <a:noFill/>
        </p:spPr>
        <p:txBody>
          <a:bodyPr wrap="square" anchor="ctr" lIns="0" tIns="0" rIns="0" bIns="0">
            <a:noAutofit/>
          </a:bodyPr>
          <a:lstStyle/>
          <a:p>
            <a:pPr algn="r">
              <a:lnSpc>
                <a:spcPct val="115000"/>
              </a:lnSpc>
              <a:spcAft>
                <a:spcPts val="0"/>
              </a:spcAft>
            </a:pPr>
            <a:r>
              <a:rPr sz="1300" b="0" i="0" lang="ko-KR" altLang="en-US">
                <a:solidFill>
                  <a:srgbClr val="4A5A7A"/>
                </a:solidFill>
                <a:latin typeface="Arial"/>
                <a:ea typeface="맑은 고딕"/>
                <a:cs typeface="Arial"/>
              </a:rPr>
              <a:t>&lt; 21.67</a:t>
            </a:r>
          </a:p>
        </p:txBody>
      </p:sp>
      <p:sp>
        <p:nvSpPr>
          <p:cNvPr id="23" name="Rectangle 22"/>
          <p:cNvSpPr/>
          <p:nvPr/>
        </p:nvSpPr>
        <p:spPr>
          <a:xfrm>
            <a:off x="8183879" y="5029200"/>
            <a:ext cx="3364992" cy="841248"/>
          </a:xfrm>
          <a:prstGeom prst="rect">
            <a:avLst/>
          </a:prstGeom>
          <a:solidFill>
            <a:srgbClr val="EEF3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59" y="5029200"/>
            <a:ext cx="2999232" cy="841248"/>
          </a:xfrm>
          <a:prstGeom prst="rect">
            <a:avLst/>
          </a:prstGeom>
          <a:noFill/>
        </p:spPr>
        <p:txBody>
          <a:bodyPr wrap="square" anchor="ctr" lIns="0" tIns="0" rIns="0" bIns="0">
            <a:noAutofit/>
          </a:bodyPr>
          <a:lstStyle/>
          <a:p>
            <a:pPr algn="l">
              <a:lnSpc>
                <a:spcPct val="115000"/>
              </a:lnSpc>
              <a:spcAft>
                <a:spcPts val="300"/>
              </a:spcAft>
            </a:pPr>
            <a:r>
              <a:rPr sz="1400" b="1" i="0" lang="ko-KR" altLang="en-US">
                <a:solidFill>
                  <a:srgbClr val="2563EB"/>
                </a:solidFill>
                <a:latin typeface="맑은 고딕"/>
                <a:ea typeface="맑은 고딕"/>
                <a:cs typeface="맑은 고딕"/>
              </a:rPr>
              <a:t>FOV 밖 0개</a:t>
            </a:r>
          </a:p>
          <a:p>
            <a:pPr algn="l">
              <a:lnSpc>
                <a:spcPct val="115000"/>
              </a:lnSpc>
              <a:spcAft>
                <a:spcPts val="0"/>
              </a:spcAft>
            </a:pPr>
            <a:r>
              <a:rPr sz="1150" b="0" i="0" lang="ko-KR" altLang="en-US">
                <a:solidFill>
                  <a:srgbClr val="4A5A7A"/>
                </a:solidFill>
                <a:latin typeface="맑은 고딕"/>
                <a:ea typeface="맑은 고딕"/>
                <a:cs typeface="맑은 고딕"/>
              </a:rPr>
              <a:t>스캔마다 5개,  방위각 + 는 모두 서쪽</a:t>
            </a:r>
          </a:p>
        </p:txBody>
      </p:sp>
      <p:sp>
        <p:nvSpPr>
          <p:cNvPr id="25" name="TextBox 24"/>
          <p:cNvSpPr txBox="1"/>
          <p:nvPr/>
        </p:nvSpPr>
        <p:spPr>
          <a:xfrm>
            <a:off x="640080" y="5943600"/>
            <a:ext cx="10908792" cy="292608"/>
          </a:xfrm>
          <a:prstGeom prst="rect">
            <a:avLst/>
          </a:prstGeom>
          <a:noFill/>
        </p:spPr>
        <p:txBody>
          <a:bodyPr wrap="square" anchor="ctr" lIns="0" tIns="0" rIns="0" bIns="0">
            <a:noAutofit/>
          </a:bodyPr>
          <a:lstStyle/>
          <a:p>
            <a:pPr algn="l">
              <a:lnSpc>
                <a:spcPct val="115000"/>
              </a:lnSpc>
              <a:spcAft>
                <a:spcPts val="0"/>
              </a:spcAft>
            </a:pPr>
            <a:r>
              <a:rPr sz="1100" b="0" i="0" lang="ko-KR" altLang="en-US">
                <a:solidFill>
                  <a:srgbClr val="4A5A7A"/>
                </a:solidFill>
                <a:latin typeface="맑은 고딕"/>
                <a:ea typeface="맑은 고딕"/>
                <a:cs typeface="맑은 고딕"/>
              </a:rPr>
              <a:t>카이제곱 = Σ (개수 − 300)² ÷ 300.    21.67 = 막대 10개일 때 우연히 넘을 확률 1 % 인 값</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
          <p:cNvSpPr/>
          <p:nvPr/>
        </p:nvSpPr>
        <p:spPr>
          <a:xfrm>
            <a:off x="640080" y="566928"/>
            <a:ext cx="10908792" cy="566928"/>
          </a:xfrm>
          <a:prstGeom prst="rect">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Band Title"/>
          <p:cNvSpPr txBox="1"/>
          <p:nvPr/>
        </p:nvSpPr>
        <p:spPr>
          <a:xfrm>
            <a:off x="896112" y="566928"/>
            <a:ext cx="10396728" cy="566928"/>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FFFFFF"/>
                </a:solidFill>
                <a:latin typeface="맑은 고딕"/>
                <a:ea typeface="맑은 고딕"/>
                <a:cs typeface="맑은 고딕"/>
              </a:rPr>
              <a:t>05. 실습 결과</a:t>
            </a:r>
          </a:p>
        </p:txBody>
      </p:sp>
      <p:sp>
        <p:nvSpPr>
          <p:cNvPr id="4" name="Title"/>
          <p:cNvSpPr txBox="1"/>
          <p:nvPr/>
        </p:nvSpPr>
        <p:spPr>
          <a:xfrm>
            <a:off x="868680" y="1243584"/>
            <a:ext cx="10451592" cy="457200"/>
          </a:xfrm>
          <a:prstGeom prst="rect">
            <a:avLst/>
          </a:prstGeom>
          <a:noFill/>
        </p:spPr>
        <p:txBody>
          <a:bodyPr wrap="square" anchor="t" lIns="0" tIns="0" rIns="0" bIns="0">
            <a:noAutofit/>
          </a:bodyPr>
          <a:lstStyle/>
          <a:p>
            <a:pPr algn="l">
              <a:lnSpc>
                <a:spcPct val="115000"/>
              </a:lnSpc>
              <a:spcAft>
                <a:spcPts val="0"/>
              </a:spcAft>
            </a:pPr>
            <a:r>
              <a:rPr sz="2000" b="1" i="0" lang="ko-KR" altLang="en-US">
                <a:solidFill>
                  <a:srgbClr val="1B2740"/>
                </a:solidFill>
                <a:latin typeface="맑은 고딕"/>
                <a:ea typeface="맑은 고딕"/>
                <a:cs typeface="맑은 고딕"/>
              </a:rPr>
              <a:t>5.4 참값 · 플롯 · 클러터를 LLA 지도에 색으로 나눠 그렸습니다</a:t>
            </a:r>
          </a:p>
        </p:txBody>
      </p:sp>
      <p:cxnSp>
        <p:nvCxnSpPr>
          <p:cNvPr id="5" name="Connector 4"/>
          <p:cNvCxnSpPr/>
          <p:nvPr/>
        </p:nvCxnSpPr>
        <p:spPr>
          <a:xfrm>
            <a:off x="640080" y="6327648"/>
            <a:ext cx="10908792"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6" name="Page"/>
          <p:cNvSpPr txBox="1"/>
          <p:nvPr/>
        </p:nvSpPr>
        <p:spPr>
          <a:xfrm>
            <a:off x="5550408" y="6382512"/>
            <a:ext cx="1097280" cy="274320"/>
          </a:xfrm>
          <a:prstGeom prst="rect">
            <a:avLst/>
          </a:prstGeom>
          <a:noFill/>
        </p:spPr>
        <p:txBody>
          <a:bodyPr wrap="square" anchor="ctr" lIns="0" tIns="0" rIns="0" bIns="0">
            <a:noAutofit/>
          </a:bodyPr>
          <a:lstStyle/>
          <a:p>
            <a:pPr algn="ctr">
              <a:lnSpc>
                <a:spcPct val="115000"/>
              </a:lnSpc>
              <a:spcAft>
                <a:spcPts val="0"/>
              </a:spcAft>
            </a:pPr>
            <a:r>
              <a:rPr sz="900" b="0" i="0" lang="ko-KR" altLang="en-US">
                <a:solidFill>
                  <a:srgbClr val="8794AC"/>
                </a:solidFill>
                <a:latin typeface="Arial"/>
                <a:ea typeface="맑은 고딕"/>
                <a:cs typeface="Arial"/>
              </a:rPr>
              <a:t>19</a:t>
            </a:r>
          </a:p>
        </p:txBody>
      </p:sp>
      <p:pic>
        <p:nvPicPr>
          <p:cNvPr id="7" name="Picture 6" descr="ui_map_v6.png"/>
          <p:cNvPicPr>
            <a:picLocks noChangeAspect="1"/>
          </p:cNvPicPr>
          <p:nvPr/>
        </p:nvPicPr>
        <p:blipFill>
          <a:blip r:embed="rId2"/>
          <a:stretch>
            <a:fillRect/>
          </a:stretch>
        </p:blipFill>
        <p:spPr>
          <a:xfrm>
            <a:off x="640080" y="1965960"/>
            <a:ext cx="5452553" cy="4023360"/>
          </a:xfrm>
          <a:prstGeom prst="rect">
            <a:avLst/>
          </a:prstGeom>
        </p:spPr>
      </p:pic>
      <p:sp>
        <p:nvSpPr>
          <p:cNvPr id="8" name="Rectangle 7"/>
          <p:cNvSpPr/>
          <p:nvPr/>
        </p:nvSpPr>
        <p:spPr>
          <a:xfrm>
            <a:off x="640080" y="1965960"/>
            <a:ext cx="5452553" cy="4023360"/>
          </a:xfrm>
          <a:prstGeom prst="rect">
            <a:avLst/>
          </a:prstGeom>
          <a:no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025896"/>
            <a:ext cx="5452553" cy="237744"/>
          </a:xfrm>
          <a:prstGeom prst="rect">
            <a:avLst/>
          </a:prstGeom>
          <a:noFill/>
        </p:spPr>
        <p:txBody>
          <a:bodyPr wrap="square" anchor="ctr" lIns="0" tIns="0" rIns="0" bIns="0">
            <a:noAutofit/>
          </a:bodyPr>
          <a:lstStyle/>
          <a:p>
            <a:pPr algn="ctr">
              <a:lnSpc>
                <a:spcPct val="115000"/>
              </a:lnSpc>
              <a:spcAft>
                <a:spcPts val="0"/>
              </a:spcAft>
            </a:pPr>
            <a:r>
              <a:rPr sz="1000" b="0" i="0" lang="ko-KR" altLang="en-US">
                <a:solidFill>
                  <a:srgbClr val="4A5A7A"/>
                </a:solidFill>
                <a:latin typeface="맑은 고딕"/>
                <a:ea typeface="맑은 고딕"/>
                <a:cs typeface="맑은 고딕"/>
              </a:rPr>
              <a:t>TargetSimUI 지도 (seed 12345)</a:t>
            </a:r>
          </a:p>
        </p:txBody>
      </p:sp>
      <p:sp>
        <p:nvSpPr>
          <p:cNvPr id="10" name="Rectangle 9"/>
          <p:cNvSpPr/>
          <p:nvPr/>
        </p:nvSpPr>
        <p:spPr>
          <a:xfrm>
            <a:off x="6366953" y="1965960"/>
            <a:ext cx="5181919" cy="73152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522401" y="2203704"/>
            <a:ext cx="68580" cy="0"/>
          </a:xfrm>
          <a:prstGeom prst="line">
            <a:avLst/>
          </a:prstGeom>
          <a:ln w="444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90981" y="2203704"/>
            <a:ext cx="68580" cy="0"/>
          </a:xfrm>
          <a:prstGeom prst="line">
            <a:avLst/>
          </a:prstGeom>
          <a:ln w="444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659561" y="2203704"/>
            <a:ext cx="68580" cy="0"/>
          </a:xfrm>
          <a:prstGeom prst="line">
            <a:avLst/>
          </a:prstGeom>
          <a:ln w="44450">
            <a:solidFill>
              <a:srgbClr val="05966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28141" y="2203704"/>
            <a:ext cx="68580" cy="0"/>
          </a:xfrm>
          <a:prstGeom prst="line">
            <a:avLst/>
          </a:prstGeom>
          <a:ln w="44450">
            <a:solidFill>
              <a:srgbClr val="D9770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96721" y="2203704"/>
            <a:ext cx="68580" cy="0"/>
          </a:xfrm>
          <a:prstGeom prst="line">
            <a:avLst/>
          </a:prstGeom>
          <a:ln w="44450">
            <a:solidFill>
              <a:srgbClr val="7C3A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007033" y="2011679"/>
            <a:ext cx="4404679" cy="347472"/>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1B2740"/>
                </a:solidFill>
                <a:latin typeface="맑은 고딕"/>
                <a:ea typeface="맑은 고딕"/>
                <a:cs typeface="맑은 고딕"/>
              </a:rPr>
              <a:t>선 = 참값 (표적마다 색)</a:t>
            </a:r>
          </a:p>
        </p:txBody>
      </p:sp>
      <p:sp>
        <p:nvSpPr>
          <p:cNvPr id="17" name="TextBox 16"/>
          <p:cNvSpPr txBox="1"/>
          <p:nvPr/>
        </p:nvSpPr>
        <p:spPr>
          <a:xfrm>
            <a:off x="7007033" y="2350008"/>
            <a:ext cx="4404679" cy="31089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표적이 실제로 지나간 길. 이름표가 있는 곳이 시작점</a:t>
            </a:r>
          </a:p>
        </p:txBody>
      </p:sp>
      <p:sp>
        <p:nvSpPr>
          <p:cNvPr id="18" name="Rectangle 17"/>
          <p:cNvSpPr/>
          <p:nvPr/>
        </p:nvSpPr>
        <p:spPr>
          <a:xfrm>
            <a:off x="6366953" y="2788920"/>
            <a:ext cx="5181919" cy="73152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04697" y="2944368"/>
            <a:ext cx="164592" cy="164592"/>
          </a:xfrm>
          <a:prstGeom prst="ellipse">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7033" y="2834639"/>
            <a:ext cx="4404679" cy="347472"/>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1B2740"/>
                </a:solidFill>
                <a:latin typeface="맑은 고딕"/>
                <a:ea typeface="맑은 고딕"/>
                <a:cs typeface="맑은 고딕"/>
              </a:rPr>
              <a:t>검은 점 = 플롯 3,000개</a:t>
            </a:r>
          </a:p>
        </p:txBody>
      </p:sp>
      <p:sp>
        <p:nvSpPr>
          <p:cNvPr id="21" name="TextBox 20"/>
          <p:cNvSpPr txBox="1"/>
          <p:nvPr/>
        </p:nvSpPr>
        <p:spPr>
          <a:xfrm>
            <a:off x="7007033" y="3172968"/>
            <a:ext cx="4404679" cy="31089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선 바로 옆에 붙어 있으면 정상. 표적 3 의 선회도 보인다</a:t>
            </a:r>
          </a:p>
        </p:txBody>
      </p:sp>
      <p:sp>
        <p:nvSpPr>
          <p:cNvPr id="22" name="Rectangle 21"/>
          <p:cNvSpPr/>
          <p:nvPr/>
        </p:nvSpPr>
        <p:spPr>
          <a:xfrm>
            <a:off x="6366953" y="3611879"/>
            <a:ext cx="5181919" cy="731520"/>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04697" y="3767328"/>
            <a:ext cx="164592" cy="164592"/>
          </a:xfrm>
          <a:prstGeom prst="ellipse">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07033" y="3657599"/>
            <a:ext cx="4404679" cy="347472"/>
          </a:xfrm>
          <a:prstGeom prst="rect">
            <a:avLst/>
          </a:prstGeom>
          <a:noFill/>
        </p:spPr>
        <p:txBody>
          <a:bodyPr wrap="square" anchor="ctr" lIns="0" tIns="0" rIns="0" bIns="0">
            <a:noAutofit/>
          </a:bodyPr>
          <a:lstStyle/>
          <a:p>
            <a:pPr algn="l">
              <a:lnSpc>
                <a:spcPct val="115000"/>
              </a:lnSpc>
              <a:spcAft>
                <a:spcPts val="0"/>
              </a:spcAft>
            </a:pPr>
            <a:r>
              <a:rPr sz="1350" b="1" i="0" lang="ko-KR" altLang="en-US">
                <a:solidFill>
                  <a:srgbClr val="1B2740"/>
                </a:solidFill>
                <a:latin typeface="맑은 고딕"/>
                <a:ea typeface="맑은 고딕"/>
                <a:cs typeface="맑은 고딕"/>
              </a:rPr>
              <a:t>회색 점 = 클러터 3,000개</a:t>
            </a:r>
          </a:p>
        </p:txBody>
      </p:sp>
      <p:sp>
        <p:nvSpPr>
          <p:cNvPr id="25" name="TextBox 24"/>
          <p:cNvSpPr txBox="1"/>
          <p:nvPr/>
        </p:nvSpPr>
        <p:spPr>
          <a:xfrm>
            <a:off x="7007033" y="3995928"/>
            <a:ext cx="4404679" cy="310896"/>
          </a:xfrm>
          <a:prstGeom prst="rect">
            <a:avLst/>
          </a:prstGeom>
          <a:noFill/>
        </p:spPr>
        <p:txBody>
          <a:bodyPr wrap="square" anchor="ctr" lIns="0" tIns="0" rIns="0" bIns="0">
            <a:noAutofit/>
          </a:bodyPr>
          <a:lstStyle/>
          <a:p>
            <a:pPr algn="l">
              <a:lnSpc>
                <a:spcPct val="115000"/>
              </a:lnSpc>
              <a:spcAft>
                <a:spcPts val="0"/>
              </a:spcAft>
            </a:pPr>
            <a:r>
              <a:rPr sz="1150" b="0" i="0" lang="ko-KR" altLang="en-US">
                <a:solidFill>
                  <a:srgbClr val="4A5A7A"/>
                </a:solidFill>
                <a:latin typeface="맑은 고딕"/>
                <a:ea typeface="맑은 고딕"/>
                <a:cs typeface="맑은 고딕"/>
              </a:rPr>
              <a:t>부채꼴 범위 (FOV) 안에만 있으면 정상</a:t>
            </a:r>
          </a:p>
        </p:txBody>
      </p:sp>
      <p:sp>
        <p:nvSpPr>
          <p:cNvPr id="26" name="Rectangle 25"/>
          <p:cNvSpPr/>
          <p:nvPr/>
        </p:nvSpPr>
        <p:spPr>
          <a:xfrm>
            <a:off x="6366953" y="4480560"/>
            <a:ext cx="5181919" cy="658368"/>
          </a:xfrm>
          <a:prstGeom prst="rect">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49833" y="4480560"/>
            <a:ext cx="4816159" cy="658368"/>
          </a:xfrm>
          <a:prstGeom prst="rect">
            <a:avLst/>
          </a:prstGeom>
          <a:noFill/>
        </p:spPr>
        <p:txBody>
          <a:bodyPr wrap="square" anchor="ctr" lIns="0" tIns="0" rIns="0" bIns="0">
            <a:noAutofit/>
          </a:bodyPr>
          <a:lstStyle/>
          <a:p>
            <a:pPr algn="l">
              <a:lnSpc>
                <a:spcPct val="115000"/>
              </a:lnSpc>
              <a:spcAft>
                <a:spcPts val="300"/>
              </a:spcAft>
            </a:pPr>
            <a:r>
              <a:rPr sz="1250" b="1" i="0" lang="ko-KR" altLang="en-US">
                <a:solidFill>
                  <a:srgbClr val="1B2740"/>
                </a:solidFill>
                <a:latin typeface="맑은 고딕"/>
                <a:ea typeface="맑은 고딕"/>
                <a:cs typeface="맑은 고딕"/>
              </a:rPr>
              <a:t>지도용 LLA 변환</a:t>
            </a:r>
          </a:p>
          <a:p>
            <a:pPr algn="l">
              <a:lnSpc>
                <a:spcPct val="115000"/>
              </a:lnSpc>
              <a:spcAft>
                <a:spcPts val="0"/>
              </a:spcAft>
            </a:pPr>
            <a:r>
              <a:rPr sz="1150" b="0" i="0" lang="ko-KR" altLang="en-US">
                <a:solidFill>
                  <a:srgbClr val="4A5A7A"/>
                </a:solidFill>
                <a:latin typeface="맑은 고딕"/>
                <a:ea typeface="맑은 고딕"/>
                <a:cs typeface="맑은 고딕"/>
              </a:rPr>
              <a:t>구좌표 → 안테나 → 동체 → NED → ECEF → LLA  (4.5 의 f_Pcs_SphToLla)</a:t>
            </a:r>
          </a:p>
        </p:txBody>
      </p:sp>
      <p:sp>
        <p:nvSpPr>
          <p:cNvPr id="28" name="Rectangle 27"/>
          <p:cNvSpPr/>
          <p:nvPr/>
        </p:nvSpPr>
        <p:spPr>
          <a:xfrm>
            <a:off x="6366953" y="5285232"/>
            <a:ext cx="5181919" cy="841248"/>
          </a:xfrm>
          <a:prstGeom prst="rect">
            <a:avLst/>
          </a:prstGeom>
          <a:solidFill>
            <a:srgbClr val="EEF3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8121" y="5285232"/>
            <a:ext cx="4779583" cy="841248"/>
          </a:xfrm>
          <a:prstGeom prst="rect">
            <a:avLst/>
          </a:prstGeom>
          <a:noFill/>
        </p:spPr>
        <p:txBody>
          <a:bodyPr wrap="square" anchor="ctr" lIns="0" tIns="0" rIns="0" bIns="0">
            <a:noAutofit/>
          </a:bodyPr>
          <a:lstStyle/>
          <a:p>
            <a:pPr algn="l">
              <a:lnSpc>
                <a:spcPct val="115000"/>
              </a:lnSpc>
              <a:spcAft>
                <a:spcPts val="300"/>
              </a:spcAft>
            </a:pPr>
            <a:r>
              <a:rPr sz="1250" b="1" i="0" lang="ko-KR" altLang="en-US">
                <a:solidFill>
                  <a:srgbClr val="2563EB"/>
                </a:solidFill>
                <a:latin typeface="맑은 고딕"/>
                <a:ea typeface="맑은 고딕"/>
                <a:cs typeface="맑은 고딕"/>
              </a:rPr>
              <a:t>레이다 가까이 클러터가 촘촘한 이유</a:t>
            </a:r>
          </a:p>
          <a:p>
            <a:pPr algn="l">
              <a:lnSpc>
                <a:spcPct val="115000"/>
              </a:lnSpc>
              <a:spcAft>
                <a:spcPts val="0"/>
              </a:spcAft>
            </a:pPr>
            <a:r>
              <a:rPr sz="1150" b="0" i="0" lang="ko-KR" altLang="en-US">
                <a:solidFill>
                  <a:srgbClr val="1B2740"/>
                </a:solidFill>
                <a:latin typeface="맑은 고딕"/>
                <a:ea typeface="맑은 고딕"/>
                <a:cs typeface="맑은 고딕"/>
              </a:rPr>
              <a:t>거리를 고르게 뽑아서, 넓이가 작은 가까운 곳에 몰려 보인다 (정상)</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206240" y="2834640"/>
            <a:ext cx="6766560" cy="731520"/>
          </a:xfrm>
          <a:prstGeom prst="rect">
            <a:avLst/>
          </a:prstGeom>
          <a:noFill/>
        </p:spPr>
        <p:txBody>
          <a:bodyPr wrap="square" anchor="ctr" lIns="0" tIns="0" rIns="0" bIns="0">
            <a:noAutofit/>
          </a:bodyPr>
          <a:lstStyle/>
          <a:p>
            <a:pPr algn="r">
              <a:lnSpc>
                <a:spcPct val="115000"/>
              </a:lnSpc>
              <a:spcAft>
                <a:spcPts val="0"/>
              </a:spcAft>
            </a:pPr>
            <a:r>
              <a:rPr sz="3600" b="1" i="0" lang="ko-KR" altLang="en-US">
                <a:solidFill>
                  <a:srgbClr val="FFFFFF"/>
                </a:solidFill>
                <a:latin typeface="맑은 고딕"/>
                <a:ea typeface="맑은 고딕"/>
                <a:cs typeface="맑은 고딕"/>
              </a:rPr>
              <a:t>감사합니다</a:t>
            </a:r>
          </a:p>
        </p:txBody>
      </p:sp>
      <p:cxnSp>
        <p:nvCxnSpPr>
          <p:cNvPr id="4" name="Connector 3"/>
          <p:cNvCxnSpPr/>
          <p:nvPr/>
        </p:nvCxnSpPr>
        <p:spPr>
          <a:xfrm>
            <a:off x="7863840" y="3767328"/>
            <a:ext cx="3108960" cy="0"/>
          </a:xfrm>
          <a:prstGeom prst="line">
            <a:avLst/>
          </a:prstGeom>
          <a:ln w="9525">
            <a:solidFill>
              <a:srgbClr val="AEB9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0" y="3913632"/>
            <a:ext cx="6766560" cy="310896"/>
          </a:xfrm>
          <a:prstGeom prst="rect">
            <a:avLst/>
          </a:prstGeom>
          <a:noFill/>
        </p:spPr>
        <p:txBody>
          <a:bodyPr wrap="square" anchor="ctr" lIns="0" tIns="0" rIns="0" bIns="0">
            <a:noAutofit/>
          </a:bodyPr>
          <a:lstStyle/>
          <a:p>
            <a:pPr algn="r">
              <a:lnSpc>
                <a:spcPct val="115000"/>
              </a:lnSpc>
              <a:spcAft>
                <a:spcPts val="0"/>
              </a:spcAft>
            </a:pPr>
            <a:r>
              <a:rPr sz="1400" b="0" i="0" lang="ko-KR" altLang="en-US">
                <a:solidFill>
                  <a:srgbClr val="AEB9CC"/>
                </a:solidFill>
                <a:latin typeface="맑은 고딕"/>
                <a:ea typeface="맑은 고딕"/>
                <a:cs typeface="맑은 고딕"/>
              </a:rPr>
              <a:t>질의응답</a:t>
            </a:r>
          </a:p>
        </p:txBody>
      </p:sp>
      <p:sp>
        <p:nvSpPr>
          <p:cNvPr id="6" name="TextBox 5"/>
          <p:cNvSpPr txBox="1"/>
          <p:nvPr/>
        </p:nvSpPr>
        <p:spPr>
          <a:xfrm>
            <a:off x="4206240" y="5120640"/>
            <a:ext cx="6766560" cy="292608"/>
          </a:xfrm>
          <a:prstGeom prst="rect">
            <a:avLst/>
          </a:prstGeom>
          <a:noFill/>
        </p:spPr>
        <p:txBody>
          <a:bodyPr wrap="square" anchor="ctr" lIns="0" tIns="0" rIns="0" bIns="0">
            <a:noAutofit/>
          </a:bodyPr>
          <a:lstStyle/>
          <a:p>
            <a:pPr algn="r">
              <a:lnSpc>
                <a:spcPct val="115000"/>
              </a:lnSpc>
              <a:spcAft>
                <a:spcPts val="0"/>
              </a:spcAft>
            </a:pPr>
            <a:r>
              <a:rPr sz="1200" b="0" i="0" lang="ko-KR" altLang="en-US">
                <a:solidFill>
                  <a:srgbClr val="FFFFFF"/>
                </a:solidFill>
                <a:latin typeface="맑은 고딕"/>
                <a:ea typeface="맑은 고딕"/>
                <a:cs typeface="맑은 고딕"/>
              </a:rPr>
              <a:t>Janghwan Kim (Harley)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PptxGenJS</cp:lastModifiedBy>
  <cp:revision>1</cp:revision>
  <dcterms:created xsi:type="dcterms:W3CDTF">2026-09-21T04:55:30Z</dcterms:created>
  <dcterms:modified xsi:type="dcterms:W3CDTF">2026-09-21T04:55:30Z</dcterms:modified>
</cp:coreProperties>
</file>