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66" r:id="rId17"/>
    <p:sldId id="267" r:id="rId18"/>
    <p:sldId id="268" r:id="rId6"/>
    <p:sldId id="269" r:id="rId5"/>
    <p:sldId id="270" r:id="rId4"/>
    <p:sldId id="271" r:id="rId3"/>
    <p:sldId id="272" r:id="rId2"/>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2.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플롯과 클러터 모의를 발표하겠습니다. 레이다가 표적을 잰 것 같은 측정값을 컴퓨터로 만드는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일곱 부분입니다. 플롯과 그 모의 방법, 클러터와 그 모의 방법을 먼저 설명드립니다. 이어서 모의 결과와 C 코드 검증을 보여 드리고 정리하겠습니다.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본론에 앞서 전체를 한 장으로 보겠습니다. 위쪽 줄이 플롯입니다. 표적이 실제로 있는 위치, 즉 참값에 잡음을 더하면 플롯이 됩니다. 잡음의 크기 p 는 레이다 성능으로 정해집니다. 아래쪽 줄이 클러터입니다. 레이다가 보는 범위 안에서 아무 곳이나 같은 확률로 점을 찍습니다. 만든 결과는 지도에 그려 보고, 숫자로 이론과 맞는지 확인합니다. 이 과정을 0.1초마다, 60초 동안 600번 반복합니다. 상자 오른쪽 아래의 번호는 자세히 설명하는 장 번호입니다.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플롯입니다. 플롯은 레이다가 표적을 한 번 잰 결과입니다. 위 흐름을 보시면, 지난 과제 3에서는 표적의 실제 궤적을 만들었습니다. 이번 과제는 그 궤적을 레이다가 잰 것처럼 바꾸는 측정 모의이고, 여기서 만든 플롯을 다음 단계인 추적 필터가 받습니다. 아래 그림처럼 신호가 문턱을 넘은 칸을 히트라고 합니다. 붙어 있는 히트를 묶어 대표점 하나로 만든 것이 플롯이고, 플롯을 시간 순서로 이은 것이 트랙입니다. 빔이 한 방향에 머무는 시간을 드웰이라고 하는데, 드웰마다 이렇게 플롯이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레이다는 플롯을 이렇게 7단계로 만듭니다. 위에 나눈 대로 세 묶음으로 보시면 쉽습니다. 1번에서 3번은 신호를 다듬고 키우는 단계입니다. 4번과 5번은 잡음 수준을 보고 문턱을 정해서, 문턱을 넘은 칸을 고르는 단계입니다. 6번과 7번은 고른 칸을 묶고, 모노펄스로 각도를 정밀하게 재서 위치를 정하는 단계입니다. 이렇게 나온 결과가 한 드웰의 플롯입니다.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이번 과제는 이 7단계를 건너뜁니다. 위쪽이 실제 과정, 아래쪽이 모의 과정입니다. 모의에서는 참값에 잡음을 바로 더해 플롯을 만듭니다. 이렇게 해도 되는 이유는 두 가지입니다. 첫째, 추적 필터가 받는 것은 플롯뿐입니다. 둘째, 신호처리를 거친 플롯도 결국 참값에서 조금 벗어난 값입니다. 그래서 벗어나는 정도, 즉 표준편차 세 개만 맞추면 같은 모양의 입력을 만들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플롯 모의입니다. 위의 네 단계로 진행합니다. SNR 을 정하고, 표준편차를 계산하고, 잡음을 뽑아서, 참값에 더합니다. SNR 은 신호 세기를 잡음 세기로 나눈 값입니다. 실제로는 오른쪽 레이다 방정식으로 구하고 거리에 따라 바뀌지만, 이번 과제는 20 으로 고정합니다. 참값은 왼쪽 그림처럼 안테나에서 본 거리, 방위각, 고각입니다.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핵심인 표준편차입니다. 표준편차 p 는 측정값이 참값에서 보통 얼마나 벗어나는지를 나타냅니다. 식은 세 개지만 모양이 같습니다. 분해능을 루트 2 SNR 로 나눈 값이고, 각도는 모노펄스 상수로 한 번 더 나눕니다. 가운데 그림처럼 분해능은 두 표적을 따로 볼 수 있는 간격으로, 거리는 약 30 m 입니다. 측정값은 이보다 훨씬 좁게 흔들리는데, 그 폭이 p 입니다. 오른쪽에 숫자를 넣어 보겠습니다. 루트 40 은 6.32 입니다. 거리는 29.98 m 를 6.32 로 나눠 4.74 m 입니다. 방위각은 5.14도를 1.7 곱하기 6.32 로 나눠 0.478도, 고각은 같은 방법으로 0.494도입니다. 거리로 보면 분해능 30 m 의 6분의 1 정도만 흔들리는 셈입니다. 대역폭이 넓고, 빔이 좁고, SNR 이 클수록 p 가 작아집니다.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p 로 잡음을 뽑습니다. 거리, 방위각, 고각마다 평균 0, 표준편차 p 인 정규분포에서 하나씩 따로 뽑아 참값에 더합니다. 가운데 그림처럼 뽑은 값의 68 퍼센트는 플러스 마이너스 p 안에 들어옵니다. 오른쪽 그림이 중요합니다. 거리 방향으로는 4.7 m 정도만 흔들리는데, 옆 방향으로는 훨씬 넓게 퍼집니다. 각도 오차에 거리가 곱해지기 때문입니다. 0.478도는 0.00834 라디안이고, 여기에 10 km 를 곱하면 약 83 m 입니다. 그래서 플롯은 앞뒤보다 옆으로 긴 모양으로 흩어집니다.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잡음을 뽑는 GAUSS 함수를 보겠습니다. 0 과 1 사이 균등난수 UNIRAN 을 12번 더하고 6 을 뺍니다. 균등난수 하나는 평균 2분의 1, 분산 12분의 1 이라서, 12개를 더하면 평균 6, 분산 1 이 됩니다. 6 을 빼면 평균 0, 표준편차 1 인 정규난수가 됩니다. 오른쪽처럼 더하는 개수가 늘수록 종 모양에 가까워지는데, 이것이 중심극한정리입니다. 왼쪽 아래는 실제 값입니다. 첫 스캔 표적 1 의 거리 잡음은 마이너스 0.4462 에 4.74 m 를 곱한 마이너스 2.115 m 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잡음을 더하려면 참값을 레이다가 재는 값으로 바꿔야 합니다. 과제 3의 표적 위치는 지구 중심 기준 좌표입니다. 이것을 레이다 기준 북, 동, 아래 좌표로 바꾸고, 동체와 안테나 좌표를 거쳐 거리와 두 각도를 구합니다. 예를 들어 표적 1 은 처음에 거리 13,310 m, 고각 1.23도입니다. 방위각은 조준축에서 왼쪽이 플러스이고, 지금은 조준축이 북쪽이라 서쪽이 플러스입니다. 지도에 그릴 때는 같은 길을 거꾸로 가서 위도, 경도, 고도로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클러터입니다. 레이다 전파는 표적에서만 돌아오지 않습니다. 파도, 섬, 비구름, 새 떼에서도 돌아옵니다. 이렇게 표적이 아닌 것에서 생긴 탐지가 클러터입니다. 클러터도 거리, 방위각, 고각을 가진 플롯으로 들어오기 때문에, 오른쪽처럼 플롯만 봐서는 어느 것이 표적인지 알 수 없습니다. 실제 클러터를 정확히 만들기는 어려워서, 이번에는 범위 안에 무작위로 생기는 클러터로 단순하게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클러터 모의입니다. 개수는 스캔마다 5개이고, 범위는 거리 200 m 에서 15 km, 방위각 좌우 60도, 고각 0도에서 30도입니다. 이 범위 안에서 거리, 방위각, 고각을 균등난수로 하나씩 뽑습니다. 균등난수는 0 과 1 사이의 수가 같은 확률로 나오는 난수입니다. 예를 들어 0.37 이 나오면, 거리는 200 m 에 14,800 m 의 0.37 배를 더한 5,676 m 가 됩니다. 클러터는 스캔마다 새로 뽑고, 표적과는 상관이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모의 결과입니다. 0.1초마다 한 번씩, 60초 동안 600 스캔을 돌렸습니다. SNR 은 20, 클러터는 스캔마다 5개입니다. 난수 시작값을 고정해서 몇 번 돌려도 같은 결과가 나옵니다. 표적은 5개입니다. 1번 대공 표적과 2번 대함 표적은 과제 3 그대로이고, 3번부터 5번은 새로 넣었습니다. 1번은 실습 2.2 의 기준 표적입니다. 3번은 중간에 왼쪽으로 크게 돌고, 4번은 레이다 정면을 가로지르고, 5번은 천천히 움직입니다.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결과를 지도에 그렸습니다. 파란 선이 참값, 즉 표적 5개가 실제로 지나간 길이고, 숫자는 표적 번호입니다. 주황 점이 플롯입니다. 표적마다 스캔당 하나씩 모두 3,000개가 선 바로 옆에 붙어 있습니다. 3번 표적이 왼쪽으로 크게 도는 모습도 보입니다. 초록 점은 클러터 3,000개이고, 레이다 앞 부채꼴 범위 안에만 있습니다. 레이다 가까이에 클러터가 촘촘한 것은 오류가 아닙니다. 거리를 고르게 뽑았기 때문에, 넓이가 작은 가까운 곳에 점이 몰려 보이는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결과에서 눈에 띈 점입니다. 왼쪽 두 그림은 표적 1 의 오차를 멀 때와 가까울 때 비교한 것입니다. 같은 각도 오차인데, 12.7 km 에서는 옆으로 104 m, 1.9 km 에서는 16 m 퍼졌습니다. 식으로 계산한 106 m, 16 m 와 거의 같습니다. 오른쪽은 표적 5개 전체인데, 어느 표적이든 멀수록 넓게 퍼집니다. 다가올수록 좁아지는 깔때기 모양입니다. 반면 거리 방향 오차는 거리와 상관없이 4.7 m 정도입니다. 그래서 추적 필터는 거리에 따라 측정 오차를 다르게 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번째, C 코딩 실습입니다. 구현은 과제 3처럼 둘로 나눴습니다. 계산은 C 라이브러리인 PlotSimCore 가 하고, 화면은 MFC 로 만든 PlotSimUI 가 맡습니다. 화면이 부르는 함수는 세 개로, 난수 검증, 표준편차 계산, 600 스캔 모의입니다. 오른쪽이 핵심 코드입니다. 플롯은 참값에 GAUSS 잡음을 더하고, 클러터는 범위에 UNIRAN 을 곱해 만드는 것이 전부입니다.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2.1 난수 검증입니다. UNIRAN 과 GAUSS 를 각각 10,000개 뽑아 히스토그램을 그렸습니다. UNIRAN 은 막대 높이가 0.97 에서 1.05 사이로, 모두 1 근처에 고르게 나왔습니다. 10,000개를 막대 10개로 나누면 높이가 3 퍼센트쯤 흔들리는 것이 정상입니다. GAUSS 는 평균 0.004, 표준편차 0.998 로 주황색 이론 곡선과 잘 겹칩니다. 두 함수 모두 통과입니다.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2.2 플롯 검증입니다. 플롯에서 참값을 빼면 우리가 넣은 잡음이 나옵니다. 표적 5개의 잡음 3,000개로 표준편차를 계산해서, 식으로 구한 p 와 비교했습니다. 거리는 4.80 m 로 이론값 4.74 m 의 1.013배이고, 방위각은 0.996배, 고각은 0.998배입니다. 표본이 3,000개면 1.3 퍼센트 정도 흔들리는 것이 정상이라, 잘 맞는 결과입니다. 아래 히스토그램도 이론 곡선과 겹칩니다.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2.3 클러터 검증입니다. 3,000개가 모두 범위 안에 만들어졌습니다. 그래프는 성분마다 막대 10개로 나눈 개수입니다. 고르게 뽑혔다면 막대마다 300개쯤이어야 하고, 점선이 그 300 입니다. 얼마나 고른지는 카이제곱으로 봤습니다. 거리 5.91, 방위각 5.09, 고각 5.53 으로, 모두 기준 21.67 보다 작아서 고르다고 볼 수 있습니다. 방위각이 플러스인 클러터가 모두 서쪽에 찍혀서 부호도 맞았습니다.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화면입니다. 입력은 1번의 SNR 과 클러터 수 두 개입니다. 실행을 누르면 2번 요약 줄에 이론 표준편차와 실제 오차의 표준편차가 함께 나옵니다. 3번은 지도, 4번은 난수 히스토그램입니다. SNR 에 100 을 넣으면 거리 오차가 2.12 m 로 줄어드는 것도 바로 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정리에 앞서 이번 모의의 가정을 밝히겠습니다. 표적은 매 스캔 빠짐없이 탐지된다고 봤고, SNR 은 거리와 상관없이 고정했습니다. 잡음은 세 성분이 서로 독립인 가우시안이고, 클러터는 범위 안에 고르게 뿌렸습니다. 실제라면 다릅니다. 표적이 13.3 km 에서 1.4 km 로 다가오면 SNR 이 약 40 dB 커져서 오차가 줄어듭니다. 탐지를 놓치는 스캔도 있고, 낮은 고각에서는 바다 반사 때문에 오차가 커집니다. 여기서 정한 p 와 클러터 수는 다음 단계 추적 필터의 설정값으로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정리하겠습니다. 플롯은 참값에 측정 오차를 더한 것이고, 오차 크기만 맞추면 신호처리 없이도 추적 시험용 플롯을 만들 수 있습니다. 오차 크기는 분해능을 루트 2 SNR 로 나눈 값이고, 각도 오차는 거리가 멀수록 큰 위치 오차가 됩니다. 구현하면서 표적 5개, 선형 SNR 20, 스캔당 클러터 5개, 참고 소스의 방위각 부호로 정했고, 검증 항목은 모두 기준 안에 들어왔습니다. 다음에는 이 플롯으로 추적 필터를 시험해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들어주셔서 감사합니다. 질문 있으시면 말씀해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 1. SNR 20 은 선형값인가요, dB 인가요? 원문 식에 dB 를 선형으로 바꾸는 단계가 없고, 다른 값과 달리 단위도 없어서 선형 20 으로 봤습니다. 20 dB 라면 선형 100 이고, 표준편차가 루트 5 배, 약 2.2배 작아져 2.12 m, 0.214도, 0.221도가 됩니다. 질문 2. 잡음을 왜 가우시안으로 두나요? 수신기 열잡음의 I, Q 성분이 가우시안이고, SNR 이 높으면 거리와 각도 추정 오차가 그 잡음에 비례합니다. 거리, 방위 차 채널, 고각 차 채널의 잡음이 서로 독립이라 성분마다 따로 뽑습니다. 추적 필터도 측정이 참값에 가우시안 잡음을 더한 것이라고 가정합니다. 질문 3. 클러터가 레이다 근처에 몰려 보이는 이유는? 거리, 방위각, 고각을 고르게 뽑았기 때문입니다. 같은 거리 폭이라도 가까운 곳은 넓이가 작아서 점이 촘촘해집니다. 지도 위 밀도는 수평 거리에 반비례하고, 오류가 아닙니다. 질문 4. 고도가 음수인 플롯이 나오는 이유는? 대함 표적은 참 고각이 약 마이너스 0.06도입니다. 고각 오차가 0.49도라서 14 km 에서는 고도가 1σ 로 약 120 m 흔들립니다. 표적 2 의 플롯 고도는 마이너스 349 m 에서 플러스 389 m 사이였습니다. 잘라내면 분포가 바뀌기 때문에 그대로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 5. UNIRAN 12개 합 GAUSS 의 한계는? 평균 0, 분산 1 은 정확합니다. 다만 값이 플러스 마이너스 6 에서 잘리고, 3σ 밖으로 나갈 확률이 정규분포의 약 75 퍼센트로 꼬리가 얇습니다. 10,000개 검증으로는 차이가 드러나지 않습니다. 질문 6. UNIRAN 은 왜 0 과 1 을 내지 않나요? 다음 값을 16807 곱하기 이전 값, 2의 31승 빼기 1 로 나눈 나머지로 만듭니다. 상태가 1 부터 2의 31승 빼기 2 사이만 돌기 때문에 출력은 0 과 1 을 뺀 구간입니다. 실제 최솟값은 0.0000144, 최댓값은 0.99997 이었습니다. 질문 7. 방위각 부호가 사양서와 반대인 이유는? 참고 소스의 안테나 좌표계는 x 가 왼쪽, y 가 위, z 가 조준축이라 왼쪽이 플러스입니다. 사양서는 시계 방향을 플러스로 가정했지만, 이전 차수의 정의가 다르면 그쪽을 따르라고 했기 때문에 참고 소스를 따랐습니다. 자세가 0 이면 방위각 플러스는 서쪽입니다. 질문 8. 다음 단계 (추적) 와 어떻게 이어지나요? 표준편차 p 는 추적 필터의 측정 잡음 R 이 되고, 대각 성분이 p 의 제곱입니다. 스캔당 클러터 5개는 클러터 밀도 람다가 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ver_bg.png"/>
          <p:cNvPicPr>
            <a:picLocks noChangeAspect="1"/>
          </p:cNvPicPr>
          <p:nvPr/>
        </p:nvPicPr>
        <p:blipFill>
          <a:blip r:embed="rId2"/>
          <a:stretch>
            <a:fillRect/>
          </a:stretch>
        </p:blipFill>
        <p:spPr>
          <a:xfrm>
            <a:off x="0" y="0"/>
            <a:ext cx="12192000" cy="6858000"/>
          </a:xfrm>
          <a:prstGeom prst="rect">
            <a:avLst/>
          </a:prstGeom>
        </p:spPr>
      </p:pic>
      <p:sp>
        <p:nvSpPr>
          <p:cNvPr id="4" name="TextBox 3"/>
          <p:cNvSpPr txBox="1"/>
          <p:nvPr/>
        </p:nvSpPr>
        <p:spPr>
          <a:xfrm>
            <a:off x="4206240" y="2505456"/>
            <a:ext cx="6766560" cy="457200"/>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1400" b="0" i="0" dirty="0">
                <a:solidFill>
                  <a:srgbClr val="AEB9CC"/>
                </a:solidFill>
                <a:latin typeface="맑은 고딕"/>
                <a:ea typeface="맑은 고딕"/>
                <a:cs typeface="맑은 고딕"/>
              </a:rPr>
              <a:t>레이다 SW 학습 과제 4</a:t>
            </a:r>
          </a:p>
        </p:txBody>
      </p:sp>
      <p:sp>
        <p:nvSpPr>
          <p:cNvPr id="5" name="Cover Title"/>
          <p:cNvSpPr txBox="1"/>
          <p:nvPr/>
        </p:nvSpPr>
        <p:spPr>
          <a:xfrm>
            <a:off x="4206240" y="2944368"/>
            <a:ext cx="6766560" cy="685800"/>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3800" b="1" i="0" dirty="0">
                <a:solidFill>
                  <a:srgbClr val="FFFFFF"/>
                </a:solidFill>
                <a:latin typeface="맑은 고딕"/>
                <a:ea typeface="맑은 고딕"/>
                <a:cs typeface="맑은 고딕"/>
              </a:rPr>
              <a:t>플롯 · 클러터 모의</a:t>
            </a:r>
          </a:p>
        </p:txBody>
      </p:sp>
      <p:cxnSp>
        <p:nvCxnSpPr>
          <p:cNvPr id="6" name="Connector 5"/>
          <p:cNvCxnSpPr/>
          <p:nvPr/>
        </p:nvCxnSpPr>
        <p:spPr>
          <a:xfrm>
            <a:off x="7863840" y="3913632"/>
            <a:ext cx="3108960" cy="0"/>
          </a:xfrm>
          <a:prstGeom prst="line">
            <a:avLst/>
          </a:prstGeom>
          <a:ln w="9525">
            <a:solidFill>
              <a:srgbClr val="AEB9CC"/>
            </a:solidFill>
          </a:ln>
        </p:spPr>
      </p:cxnSp>
      <p:sp>
        <p:nvSpPr>
          <p:cNvPr id="7" name="TextBox 6"/>
          <p:cNvSpPr txBox="1"/>
          <p:nvPr/>
        </p:nvSpPr>
        <p:spPr>
          <a:xfrm>
            <a:off x="4206240" y="4059936"/>
            <a:ext cx="6766560" cy="292608"/>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1300" b="0" i="0" dirty="0">
                <a:solidFill>
                  <a:srgbClr val="AEB9CC"/>
                </a:solidFill>
                <a:latin typeface="Arial"/>
                <a:ea typeface="맑은 고딕"/>
                <a:cs typeface="맑은 고딕"/>
              </a:rPr>
              <a:t>Plot and Clutter Simulation</a:t>
            </a:r>
          </a:p>
        </p:txBody>
      </p:sp>
      <p:sp>
        <p:nvSpPr>
          <p:cNvPr id="8" name="TextBox 7"/>
          <p:cNvSpPr txBox="1"/>
          <p:nvPr/>
        </p:nvSpPr>
        <p:spPr>
          <a:xfrm>
            <a:off x="4206240" y="5120640"/>
            <a:ext cx="6766560" cy="292608"/>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1200" b="0" i="0" dirty="0">
                <a:solidFill>
                  <a:srgbClr val="FFFFFF"/>
                </a:solidFill>
                <a:latin typeface="맑은 고딕"/>
                <a:ea typeface="맑은 고딕"/>
                <a:cs typeface="맑은 고딕"/>
              </a:rPr>
              <a:t>Janghwan Kim (Harley)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206240" cy="6858000"/>
          </a:xfrm>
          <a:prstGeom prst="rect">
            <a:avLst/>
          </a:prstGeom>
          <a:solidFill>
            <a:srgbClr val="1B2740"/>
          </a:solidFill>
          <a:ln>
            <a:noFill/>
          </a:ln>
          <a:effectLst/>
        </p:spPr>
        <p:txBody>
          <a:bodyPr rtlCol="0" anchor="ctr"/>
          <a:lstStyle/>
          <a:p>
            <a:pPr algn="ctr"/>
          </a:p>
        </p:txBody>
      </p:sp>
      <p:sp>
        <p:nvSpPr>
          <p:cNvPr id="3" name="TextBox 2"/>
          <p:cNvSpPr txBox="1"/>
          <p:nvPr/>
        </p:nvSpPr>
        <p:spPr>
          <a:xfrm>
            <a:off x="777240" y="502920"/>
            <a:ext cx="1828800" cy="4114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2600" b="1" i="0" dirty="0">
                <a:solidFill>
                  <a:srgbClr val="FFFFFF"/>
                </a:solidFill>
                <a:latin typeface="Arial"/>
                <a:ea typeface="맑은 고딕"/>
                <a:cs typeface="맑은 고딕"/>
              </a:rPr>
              <a:t>INDEX</a:t>
            </a:r>
          </a:p>
        </p:txBody>
      </p:sp>
      <p:cxnSp>
        <p:nvCxnSpPr>
          <p:cNvPr id="4" name="Connector 3"/>
          <p:cNvCxnSpPr/>
          <p:nvPr/>
        </p:nvCxnSpPr>
        <p:spPr>
          <a:xfrm>
            <a:off x="2103120" y="722376"/>
            <a:ext cx="2103120" cy="0"/>
          </a:xfrm>
          <a:prstGeom prst="line">
            <a:avLst/>
          </a:prstGeom>
          <a:ln w="9525">
            <a:solidFill>
              <a:srgbClr val="4A5A7A"/>
            </a:solidFill>
          </a:ln>
        </p:spPr>
      </p:cxnSp>
      <p:cxnSp>
        <p:nvCxnSpPr>
          <p:cNvPr id="5" name="Connector 4"/>
          <p:cNvCxnSpPr/>
          <p:nvPr/>
        </p:nvCxnSpPr>
        <p:spPr>
          <a:xfrm>
            <a:off x="4206240" y="722376"/>
            <a:ext cx="7269480" cy="0"/>
          </a:xfrm>
          <a:prstGeom prst="line">
            <a:avLst/>
          </a:prstGeom>
          <a:ln w="9525">
            <a:solidFill>
              <a:srgbClr val="D2D9E5"/>
            </a:solidFill>
          </a:ln>
        </p:spPr>
      </p:cxnSp>
      <p:sp>
        <p:nvSpPr>
          <p:cNvPr id="6" name="TextBox 5"/>
          <p:cNvSpPr txBox="1"/>
          <p:nvPr/>
        </p:nvSpPr>
        <p:spPr>
          <a:xfrm>
            <a:off x="457200" y="2743200"/>
            <a:ext cx="3291840" cy="1188720"/>
          </a:xfrm>
          <a:prstGeom prst="rect">
            <a:avLst/>
          </a:prstGeom>
          <a:noFill/>
        </p:spPr>
        <p:txBody>
          <a:bodyPr wrap="none" lIns="0" tIns="0" rIns="0" bIns="0" anchor="t" rtlCol="0">
            <a:noAutofit/>
          </a:bodyPr>
          <a:lstStyle/>
          <a:p>
            <a:pPr algn="ctr">
              <a:lnSpc>
                <a:spcPct val="135000"/>
              </a:lnSpc>
              <a:spcBef>
                <a:spcPts val="0"/>
              </a:spcBef>
              <a:spcAft>
                <a:spcPts val="0"/>
              </a:spcAft>
              <a:buNone/>
            </a:pPr>
            <a:r>
              <a:rPr lang="ko-KR" altLang="en-US" sz="1800" b="1" i="0" dirty="0">
                <a:solidFill>
                  <a:srgbClr val="FFFFFF"/>
                </a:solidFill>
                <a:latin typeface="맑은 고딕"/>
                <a:ea typeface="맑은 고딕"/>
                <a:cs typeface="맑은 고딕"/>
              </a:rPr>
              <a:t>플롯 · 클러터 모의</a:t>
            </a:r>
          </a:p>
          <a:p>
            <a:pPr algn="ctr">
              <a:lnSpc>
                <a:spcPct val="135000"/>
              </a:lnSpc>
              <a:spcBef>
                <a:spcPts val="0"/>
              </a:spcBef>
              <a:spcAft>
                <a:spcPts val="0"/>
              </a:spcAft>
              <a:buNone/>
            </a:pPr>
            <a:r>
              <a:rPr lang="ko-KR" altLang="en-US" sz="1100" b="0" i="0" dirty="0">
                <a:solidFill>
                  <a:srgbClr val="AEB9CC"/>
                </a:solidFill>
                <a:latin typeface="Arial"/>
                <a:ea typeface="맑은 고딕"/>
                <a:cs typeface="맑은 고딕"/>
              </a:rPr>
              <a:t>Plot and Clutter Simulation</a:t>
            </a:r>
          </a:p>
        </p:txBody>
      </p:sp>
      <p:sp>
        <p:nvSpPr>
          <p:cNvPr id="7" name="TextBox 6"/>
          <p:cNvSpPr txBox="1"/>
          <p:nvPr/>
        </p:nvSpPr>
        <p:spPr>
          <a:xfrm>
            <a:off x="457200" y="6035040"/>
            <a:ext cx="3291840" cy="274320"/>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1000" b="0" i="0" dirty="0">
                <a:solidFill>
                  <a:srgbClr val="AEB9CC"/>
                </a:solidFill>
                <a:latin typeface="맑은 고딕"/>
                <a:ea typeface="맑은 고딕"/>
                <a:cs typeface="맑은 고딕"/>
              </a:rPr>
              <a:t>Janghwan Kim (Harley)</a:t>
            </a:r>
          </a:p>
        </p:txBody>
      </p:sp>
      <p:sp>
        <p:nvSpPr>
          <p:cNvPr id="8" name="Index Num 1"/>
          <p:cNvSpPr txBox="1"/>
          <p:nvPr/>
        </p:nvSpPr>
        <p:spPr>
          <a:xfrm>
            <a:off x="4800600" y="1243584"/>
            <a:ext cx="91440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3000" b="1" i="0" dirty="0">
                <a:solidFill>
                  <a:srgbClr val="1B2740"/>
                </a:solidFill>
                <a:latin typeface="Arial"/>
                <a:ea typeface="맑은 고딕"/>
                <a:cs typeface="맑은 고딕"/>
              </a:rPr>
              <a:t>01</a:t>
            </a:r>
          </a:p>
        </p:txBody>
      </p:sp>
      <p:sp>
        <p:nvSpPr>
          <p:cNvPr id="9" name="Index Title 1"/>
          <p:cNvSpPr txBox="1"/>
          <p:nvPr/>
        </p:nvSpPr>
        <p:spPr>
          <a:xfrm>
            <a:off x="5852160" y="1243584"/>
            <a:ext cx="38100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500" b="1" i="0" dirty="0">
                <a:solidFill>
                  <a:srgbClr val="1B2740"/>
                </a:solidFill>
                <a:latin typeface="맑은 고딕"/>
                <a:ea typeface="맑은 고딕"/>
                <a:cs typeface="맑은 고딕"/>
              </a:rPr>
              <a:t>플롯</a:t>
            </a:r>
          </a:p>
        </p:txBody>
      </p:sp>
      <p:cxnSp>
        <p:nvCxnSpPr>
          <p:cNvPr id="10" name="Index Leader 1"/>
          <p:cNvCxnSpPr/>
          <p:nvPr/>
        </p:nvCxnSpPr>
        <p:spPr>
          <a:xfrm>
            <a:off x="6388608" y="1545336"/>
            <a:ext cx="4501896" cy="0"/>
          </a:xfrm>
          <a:prstGeom prst="line">
            <a:avLst/>
          </a:prstGeom>
          <a:ln w="15875">
            <a:solidFill>
              <a:srgbClr val="AEB9CC"/>
            </a:solidFill>
            <a:prstDash val="sysDot"/>
          </a:ln>
        </p:spPr>
      </p:cxnSp>
      <p:sp>
        <p:nvSpPr>
          <p:cNvPr id="11" name="Index Page 1"/>
          <p:cNvSpPr txBox="1"/>
          <p:nvPr/>
        </p:nvSpPr>
        <p:spPr>
          <a:xfrm>
            <a:off x="11009376" y="1243584"/>
            <a:ext cx="512064" cy="50292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400" b="0" i="0" dirty="0">
                <a:solidFill>
                  <a:srgbClr val="1B2740"/>
                </a:solidFill>
                <a:latin typeface="Arial"/>
                <a:ea typeface="맑은 고딕"/>
                <a:cs typeface="맑은 고딕"/>
              </a:rPr>
              <a:t>4</a:t>
            </a:r>
          </a:p>
        </p:txBody>
      </p:sp>
      <p:cxnSp>
        <p:nvCxnSpPr>
          <p:cNvPr id="12" name="Index Rule 1"/>
          <p:cNvCxnSpPr/>
          <p:nvPr/>
        </p:nvCxnSpPr>
        <p:spPr>
          <a:xfrm>
            <a:off x="4800600" y="1810512"/>
            <a:ext cx="6720840" cy="0"/>
          </a:xfrm>
          <a:prstGeom prst="line">
            <a:avLst/>
          </a:prstGeom>
          <a:ln w="9525">
            <a:solidFill>
              <a:srgbClr val="D2D9E5"/>
            </a:solidFill>
          </a:ln>
        </p:spPr>
      </p:cxnSp>
      <p:sp>
        <p:nvSpPr>
          <p:cNvPr id="13" name="Index Num 2"/>
          <p:cNvSpPr txBox="1"/>
          <p:nvPr/>
        </p:nvSpPr>
        <p:spPr>
          <a:xfrm>
            <a:off x="4800600" y="1883664"/>
            <a:ext cx="91440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3000" b="1" i="0" dirty="0">
                <a:solidFill>
                  <a:srgbClr val="1B2740"/>
                </a:solidFill>
                <a:latin typeface="Arial"/>
                <a:ea typeface="맑은 고딕"/>
                <a:cs typeface="맑은 고딕"/>
              </a:rPr>
              <a:t>02</a:t>
            </a:r>
          </a:p>
        </p:txBody>
      </p:sp>
      <p:sp>
        <p:nvSpPr>
          <p:cNvPr id="14" name="Index Title 2"/>
          <p:cNvSpPr txBox="1"/>
          <p:nvPr/>
        </p:nvSpPr>
        <p:spPr>
          <a:xfrm>
            <a:off x="5852160" y="1883664"/>
            <a:ext cx="828675"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500" b="1" i="0" dirty="0">
                <a:solidFill>
                  <a:srgbClr val="1B2740"/>
                </a:solidFill>
                <a:latin typeface="맑은 고딕"/>
                <a:ea typeface="맑은 고딕"/>
                <a:cs typeface="맑은 고딕"/>
              </a:rPr>
              <a:t>플롯 모의</a:t>
            </a:r>
          </a:p>
        </p:txBody>
      </p:sp>
      <p:cxnSp>
        <p:nvCxnSpPr>
          <p:cNvPr id="15" name="Index Leader 2"/>
          <p:cNvCxnSpPr/>
          <p:nvPr/>
        </p:nvCxnSpPr>
        <p:spPr>
          <a:xfrm>
            <a:off x="6836283" y="2185416"/>
            <a:ext cx="4054221" cy="0"/>
          </a:xfrm>
          <a:prstGeom prst="line">
            <a:avLst/>
          </a:prstGeom>
          <a:ln w="15875">
            <a:solidFill>
              <a:srgbClr val="AEB9CC"/>
            </a:solidFill>
            <a:prstDash val="sysDot"/>
          </a:ln>
        </p:spPr>
      </p:cxnSp>
      <p:sp>
        <p:nvSpPr>
          <p:cNvPr id="16" name="Index Page 2"/>
          <p:cNvSpPr txBox="1"/>
          <p:nvPr/>
        </p:nvSpPr>
        <p:spPr>
          <a:xfrm>
            <a:off x="11009376" y="1883664"/>
            <a:ext cx="512064" cy="50292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400" b="0" i="0" dirty="0">
                <a:solidFill>
                  <a:srgbClr val="1B2740"/>
                </a:solidFill>
                <a:latin typeface="Arial"/>
                <a:ea typeface="맑은 고딕"/>
                <a:cs typeface="맑은 고딕"/>
              </a:rPr>
              <a:t>7</a:t>
            </a:r>
          </a:p>
        </p:txBody>
      </p:sp>
      <p:cxnSp>
        <p:nvCxnSpPr>
          <p:cNvPr id="17" name="Index Rule 2"/>
          <p:cNvCxnSpPr/>
          <p:nvPr/>
        </p:nvCxnSpPr>
        <p:spPr>
          <a:xfrm>
            <a:off x="4800600" y="2450592"/>
            <a:ext cx="6720840" cy="0"/>
          </a:xfrm>
          <a:prstGeom prst="line">
            <a:avLst/>
          </a:prstGeom>
          <a:ln w="9525">
            <a:solidFill>
              <a:srgbClr val="D2D9E5"/>
            </a:solidFill>
          </a:ln>
        </p:spPr>
      </p:cxnSp>
      <p:sp>
        <p:nvSpPr>
          <p:cNvPr id="18" name="Index Num 3"/>
          <p:cNvSpPr txBox="1"/>
          <p:nvPr/>
        </p:nvSpPr>
        <p:spPr>
          <a:xfrm>
            <a:off x="4800600" y="2523744"/>
            <a:ext cx="91440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3000" b="1" i="0" dirty="0">
                <a:solidFill>
                  <a:srgbClr val="1B2740"/>
                </a:solidFill>
                <a:latin typeface="Arial"/>
                <a:ea typeface="맑은 고딕"/>
                <a:cs typeface="맑은 고딕"/>
              </a:rPr>
              <a:t>03</a:t>
            </a:r>
          </a:p>
        </p:txBody>
      </p:sp>
      <p:sp>
        <p:nvSpPr>
          <p:cNvPr id="19" name="Index Title 3"/>
          <p:cNvSpPr txBox="1"/>
          <p:nvPr/>
        </p:nvSpPr>
        <p:spPr>
          <a:xfrm>
            <a:off x="5852160" y="2523744"/>
            <a:ext cx="57150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500" b="1" i="0" dirty="0">
                <a:solidFill>
                  <a:srgbClr val="1B2740"/>
                </a:solidFill>
                <a:latin typeface="맑은 고딕"/>
                <a:ea typeface="맑은 고딕"/>
                <a:cs typeface="맑은 고딕"/>
              </a:rPr>
              <a:t>클러터</a:t>
            </a:r>
          </a:p>
        </p:txBody>
      </p:sp>
      <p:cxnSp>
        <p:nvCxnSpPr>
          <p:cNvPr id="20" name="Index Leader 3"/>
          <p:cNvCxnSpPr/>
          <p:nvPr/>
        </p:nvCxnSpPr>
        <p:spPr>
          <a:xfrm>
            <a:off x="6579108" y="2825496"/>
            <a:ext cx="4311396" cy="0"/>
          </a:xfrm>
          <a:prstGeom prst="line">
            <a:avLst/>
          </a:prstGeom>
          <a:ln w="15875">
            <a:solidFill>
              <a:srgbClr val="AEB9CC"/>
            </a:solidFill>
            <a:prstDash val="sysDot"/>
          </a:ln>
        </p:spPr>
      </p:cxnSp>
      <p:sp>
        <p:nvSpPr>
          <p:cNvPr id="21" name="Index Page 3"/>
          <p:cNvSpPr txBox="1"/>
          <p:nvPr/>
        </p:nvSpPr>
        <p:spPr>
          <a:xfrm>
            <a:off x="11009376" y="2523744"/>
            <a:ext cx="512064" cy="50292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400" b="0" i="0" dirty="0">
                <a:solidFill>
                  <a:srgbClr val="1B2740"/>
                </a:solidFill>
                <a:latin typeface="Arial"/>
                <a:ea typeface="맑은 고딕"/>
                <a:cs typeface="맑은 고딕"/>
              </a:rPr>
              <a:t>12</a:t>
            </a:r>
          </a:p>
        </p:txBody>
      </p:sp>
      <p:cxnSp>
        <p:nvCxnSpPr>
          <p:cNvPr id="22" name="Index Rule 3"/>
          <p:cNvCxnSpPr/>
          <p:nvPr/>
        </p:nvCxnSpPr>
        <p:spPr>
          <a:xfrm>
            <a:off x="4800600" y="3090672"/>
            <a:ext cx="6720840" cy="0"/>
          </a:xfrm>
          <a:prstGeom prst="line">
            <a:avLst/>
          </a:prstGeom>
          <a:ln w="9525">
            <a:solidFill>
              <a:srgbClr val="D2D9E5"/>
            </a:solidFill>
          </a:ln>
        </p:spPr>
      </p:cxnSp>
      <p:sp>
        <p:nvSpPr>
          <p:cNvPr id="23" name="Index Num 4"/>
          <p:cNvSpPr txBox="1"/>
          <p:nvPr/>
        </p:nvSpPr>
        <p:spPr>
          <a:xfrm>
            <a:off x="4800600" y="3163824"/>
            <a:ext cx="91440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3000" b="1" i="0" dirty="0">
                <a:solidFill>
                  <a:srgbClr val="1B2740"/>
                </a:solidFill>
                <a:latin typeface="Arial"/>
                <a:ea typeface="맑은 고딕"/>
                <a:cs typeface="맑은 고딕"/>
              </a:rPr>
              <a:t>04</a:t>
            </a:r>
          </a:p>
        </p:txBody>
      </p:sp>
      <p:sp>
        <p:nvSpPr>
          <p:cNvPr id="24" name="Index Title 4"/>
          <p:cNvSpPr txBox="1"/>
          <p:nvPr/>
        </p:nvSpPr>
        <p:spPr>
          <a:xfrm>
            <a:off x="5852160" y="3163824"/>
            <a:ext cx="1019175"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500" b="1" i="0" dirty="0">
                <a:solidFill>
                  <a:srgbClr val="1B2740"/>
                </a:solidFill>
                <a:latin typeface="맑은 고딕"/>
                <a:ea typeface="맑은 고딕"/>
                <a:cs typeface="맑은 고딕"/>
              </a:rPr>
              <a:t>클러터 모의</a:t>
            </a:r>
          </a:p>
        </p:txBody>
      </p:sp>
      <p:cxnSp>
        <p:nvCxnSpPr>
          <p:cNvPr id="25" name="Index Leader 4"/>
          <p:cNvCxnSpPr/>
          <p:nvPr/>
        </p:nvCxnSpPr>
        <p:spPr>
          <a:xfrm>
            <a:off x="7026783" y="3465576"/>
            <a:ext cx="3863721" cy="0"/>
          </a:xfrm>
          <a:prstGeom prst="line">
            <a:avLst/>
          </a:prstGeom>
          <a:ln w="15875">
            <a:solidFill>
              <a:srgbClr val="AEB9CC"/>
            </a:solidFill>
            <a:prstDash val="sysDot"/>
          </a:ln>
        </p:spPr>
      </p:cxnSp>
      <p:sp>
        <p:nvSpPr>
          <p:cNvPr id="26" name="Index Page 4"/>
          <p:cNvSpPr txBox="1"/>
          <p:nvPr/>
        </p:nvSpPr>
        <p:spPr>
          <a:xfrm>
            <a:off x="11009376" y="3163824"/>
            <a:ext cx="512064" cy="50292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400" b="0" i="0" dirty="0">
                <a:solidFill>
                  <a:srgbClr val="1B2740"/>
                </a:solidFill>
                <a:latin typeface="Arial"/>
                <a:ea typeface="맑은 고딕"/>
                <a:cs typeface="맑은 고딕"/>
              </a:rPr>
              <a:t>13</a:t>
            </a:r>
          </a:p>
        </p:txBody>
      </p:sp>
      <p:cxnSp>
        <p:nvCxnSpPr>
          <p:cNvPr id="27" name="Index Rule 4"/>
          <p:cNvCxnSpPr/>
          <p:nvPr/>
        </p:nvCxnSpPr>
        <p:spPr>
          <a:xfrm>
            <a:off x="4800600" y="3730752"/>
            <a:ext cx="6720840" cy="0"/>
          </a:xfrm>
          <a:prstGeom prst="line">
            <a:avLst/>
          </a:prstGeom>
          <a:ln w="9525">
            <a:solidFill>
              <a:srgbClr val="D2D9E5"/>
            </a:solidFill>
          </a:ln>
        </p:spPr>
      </p:cxnSp>
      <p:sp>
        <p:nvSpPr>
          <p:cNvPr id="28" name="Index Num 5"/>
          <p:cNvSpPr txBox="1"/>
          <p:nvPr/>
        </p:nvSpPr>
        <p:spPr>
          <a:xfrm>
            <a:off x="4800600" y="3803904"/>
            <a:ext cx="91440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3000" b="1" i="0" dirty="0">
                <a:solidFill>
                  <a:srgbClr val="1B2740"/>
                </a:solidFill>
                <a:latin typeface="Arial"/>
                <a:ea typeface="맑은 고딕"/>
                <a:cs typeface="맑은 고딕"/>
              </a:rPr>
              <a:t>05</a:t>
            </a:r>
          </a:p>
        </p:txBody>
      </p:sp>
      <p:sp>
        <p:nvSpPr>
          <p:cNvPr id="29" name="Index Title 5"/>
          <p:cNvSpPr txBox="1"/>
          <p:nvPr/>
        </p:nvSpPr>
        <p:spPr>
          <a:xfrm>
            <a:off x="5852160" y="3803904"/>
            <a:ext cx="828675"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500" b="1" i="0" dirty="0">
                <a:solidFill>
                  <a:srgbClr val="1B2740"/>
                </a:solidFill>
                <a:latin typeface="맑은 고딕"/>
                <a:ea typeface="맑은 고딕"/>
                <a:cs typeface="맑은 고딕"/>
              </a:rPr>
              <a:t>모의 결과</a:t>
            </a:r>
          </a:p>
        </p:txBody>
      </p:sp>
      <p:cxnSp>
        <p:nvCxnSpPr>
          <p:cNvPr id="30" name="Index Rule 5"/>
          <p:cNvCxnSpPr/>
          <p:nvPr/>
        </p:nvCxnSpPr>
        <p:spPr>
          <a:xfrm>
            <a:off x="4800600" y="4370832"/>
            <a:ext cx="6720840" cy="0"/>
          </a:xfrm>
          <a:prstGeom prst="line">
            <a:avLst/>
          </a:prstGeom>
          <a:ln w="9525">
            <a:solidFill>
              <a:srgbClr val="D2D9E5"/>
            </a:solidFill>
          </a:ln>
        </p:spPr>
      </p:cxnSp>
      <p:sp>
        <p:nvSpPr>
          <p:cNvPr id="31" name="Index Num 6"/>
          <p:cNvSpPr txBox="1"/>
          <p:nvPr/>
        </p:nvSpPr>
        <p:spPr>
          <a:xfrm>
            <a:off x="4800600" y="4443984"/>
            <a:ext cx="91440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3000" b="1" i="0" dirty="0">
                <a:solidFill>
                  <a:srgbClr val="1B2740"/>
                </a:solidFill>
                <a:latin typeface="Arial"/>
                <a:ea typeface="맑은 고딕"/>
                <a:cs typeface="맑은 고딕"/>
              </a:rPr>
              <a:t>06</a:t>
            </a:r>
          </a:p>
        </p:txBody>
      </p:sp>
      <p:sp>
        <p:nvSpPr>
          <p:cNvPr id="32" name="Index Title 6"/>
          <p:cNvSpPr txBox="1"/>
          <p:nvPr/>
        </p:nvSpPr>
        <p:spPr>
          <a:xfrm>
            <a:off x="5852160" y="4443984"/>
            <a:ext cx="101727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500" b="1" i="0" dirty="0">
                <a:solidFill>
                  <a:srgbClr val="1B2740"/>
                </a:solidFill>
                <a:latin typeface="맑은 고딕"/>
                <a:ea typeface="맑은 고딕"/>
                <a:cs typeface="맑은 고딕"/>
              </a:rPr>
              <a:t>C 코딩 실습</a:t>
            </a:r>
          </a:p>
        </p:txBody>
      </p:sp>
      <p:sp>
        <p:nvSpPr>
          <p:cNvPr id="33" name="TextBox 32"/>
          <p:cNvSpPr txBox="1"/>
          <p:nvPr/>
        </p:nvSpPr>
        <p:spPr>
          <a:xfrm>
            <a:off x="7653528" y="6382512"/>
            <a:ext cx="1097280" cy="274320"/>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00" b="0" i="0" dirty="0">
                <a:solidFill>
                  <a:srgbClr val="8794AC"/>
                </a:solidFill>
                <a:latin typeface="Arial"/>
                <a:ea typeface="맑은 고딕"/>
                <a:cs typeface="맑은 고딕"/>
              </a:rPr>
              <a:t>2</a:t>
            </a:r>
          </a:p>
        </p:txBody>
      </p:sp>
      <p:cxnSp>
        <p:nvCxnSpPr>
          <p:cNvPr id="34" name="Index Leader 5"/>
          <p:cNvCxnSpPr/>
          <p:nvPr/>
        </p:nvCxnSpPr>
        <p:spPr>
          <a:xfrm>
            <a:off x="6836283" y="4105656"/>
            <a:ext cx="4054221" cy="0"/>
          </a:xfrm>
          <a:prstGeom prst="line">
            <a:avLst/>
          </a:prstGeom>
          <a:ln w="15875">
            <a:solidFill>
              <a:srgbClr val="AEB9CC"/>
            </a:solidFill>
            <a:prstDash val="sysDot"/>
          </a:ln>
        </p:spPr>
      </p:cxnSp>
      <p:sp>
        <p:nvSpPr>
          <p:cNvPr id="35" name="Index Page 5"/>
          <p:cNvSpPr txBox="1"/>
          <p:nvPr/>
        </p:nvSpPr>
        <p:spPr>
          <a:xfrm>
            <a:off x="11009376" y="3803904"/>
            <a:ext cx="512064" cy="50292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400" b="0" i="0" dirty="0">
                <a:solidFill>
                  <a:srgbClr val="1B2740"/>
                </a:solidFill>
                <a:latin typeface="Arial"/>
                <a:ea typeface="맑은 고딕"/>
                <a:cs typeface="맑은 고딕"/>
              </a:rPr>
              <a:t>14</a:t>
            </a:r>
          </a:p>
        </p:txBody>
      </p:sp>
      <p:cxnSp>
        <p:nvCxnSpPr>
          <p:cNvPr id="36" name="Index Leader 6"/>
          <p:cNvCxnSpPr/>
          <p:nvPr/>
        </p:nvCxnSpPr>
        <p:spPr>
          <a:xfrm>
            <a:off x="7026783" y="4745736"/>
            <a:ext cx="3863721" cy="0"/>
          </a:xfrm>
          <a:prstGeom prst="line">
            <a:avLst/>
          </a:prstGeom>
          <a:ln w="15875">
            <a:solidFill>
              <a:srgbClr val="AEB9CC"/>
            </a:solidFill>
            <a:prstDash val="sysDot"/>
          </a:ln>
        </p:spPr>
      </p:cxnSp>
      <p:sp>
        <p:nvSpPr>
          <p:cNvPr id="37" name="Index Page 6"/>
          <p:cNvSpPr txBox="1"/>
          <p:nvPr/>
        </p:nvSpPr>
        <p:spPr>
          <a:xfrm>
            <a:off x="11009376" y="4443984"/>
            <a:ext cx="512064" cy="50292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400" b="0" i="0" dirty="0">
                <a:solidFill>
                  <a:srgbClr val="1B2740"/>
                </a:solidFill>
                <a:latin typeface="Arial"/>
                <a:ea typeface="맑은 고딕"/>
                <a:cs typeface="맑은 고딕"/>
              </a:rPr>
              <a:t>17</a:t>
            </a:r>
          </a:p>
        </p:txBody>
      </p:sp>
      <p:cxnSp>
        <p:nvCxnSpPr>
          <p:cNvPr id="38" name="Index Rule 6"/>
          <p:cNvCxnSpPr/>
          <p:nvPr/>
        </p:nvCxnSpPr>
        <p:spPr>
          <a:xfrm>
            <a:off x="4800600" y="5010912"/>
            <a:ext cx="6720840" cy="0"/>
          </a:xfrm>
          <a:prstGeom prst="line">
            <a:avLst/>
          </a:prstGeom>
          <a:ln w="9525">
            <a:solidFill>
              <a:srgbClr val="D2D9E5"/>
            </a:solidFill>
          </a:ln>
        </p:spPr>
      </p:cxnSp>
      <p:sp>
        <p:nvSpPr>
          <p:cNvPr id="39" name="Index Num 7"/>
          <p:cNvSpPr txBox="1"/>
          <p:nvPr/>
        </p:nvSpPr>
        <p:spPr>
          <a:xfrm>
            <a:off x="4800600" y="5084064"/>
            <a:ext cx="91440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3000" b="1" i="0" dirty="0">
                <a:solidFill>
                  <a:srgbClr val="1B2740"/>
                </a:solidFill>
                <a:latin typeface="Arial"/>
                <a:ea typeface="맑은 고딕"/>
                <a:cs typeface="맑은 고딕"/>
              </a:rPr>
              <a:t>07</a:t>
            </a:r>
          </a:p>
        </p:txBody>
      </p:sp>
      <p:sp>
        <p:nvSpPr>
          <p:cNvPr id="40" name="Index Title 7"/>
          <p:cNvSpPr txBox="1"/>
          <p:nvPr/>
        </p:nvSpPr>
        <p:spPr>
          <a:xfrm>
            <a:off x="5852160" y="5084064"/>
            <a:ext cx="38100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500" b="1" i="0" dirty="0">
                <a:solidFill>
                  <a:srgbClr val="1B2740"/>
                </a:solidFill>
                <a:latin typeface="맑은 고딕"/>
                <a:ea typeface="맑은 고딕"/>
                <a:cs typeface="맑은 고딕"/>
              </a:rPr>
              <a:t>정리</a:t>
            </a:r>
          </a:p>
        </p:txBody>
      </p:sp>
      <p:cxnSp>
        <p:nvCxnSpPr>
          <p:cNvPr id="41" name="Index Leader 7"/>
          <p:cNvCxnSpPr/>
          <p:nvPr/>
        </p:nvCxnSpPr>
        <p:spPr>
          <a:xfrm>
            <a:off x="6388608" y="5385816"/>
            <a:ext cx="4501896" cy="0"/>
          </a:xfrm>
          <a:prstGeom prst="line">
            <a:avLst/>
          </a:prstGeom>
          <a:ln w="15875">
            <a:solidFill>
              <a:srgbClr val="AEB9CC"/>
            </a:solidFill>
            <a:prstDash val="sysDot"/>
          </a:ln>
        </p:spPr>
      </p:cxnSp>
      <p:sp>
        <p:nvSpPr>
          <p:cNvPr id="42" name="Index Page 7"/>
          <p:cNvSpPr txBox="1"/>
          <p:nvPr/>
        </p:nvSpPr>
        <p:spPr>
          <a:xfrm>
            <a:off x="11009376" y="5084064"/>
            <a:ext cx="512064" cy="50292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400" b="0" i="0" dirty="0">
                <a:solidFill>
                  <a:srgbClr val="1B2740"/>
                </a:solidFill>
                <a:latin typeface="Arial"/>
                <a:ea typeface="맑은 고딕"/>
                <a:cs typeface="맑은 고딕"/>
              </a:rPr>
              <a:t>22</a:t>
            </a:r>
          </a:p>
        </p:txBody>
      </p:sp>
      <p:sp>
        <p:nvSpPr>
          <p:cNvPr id="43" name="TextBox 42"/>
          <p:cNvSpPr txBox="1"/>
          <p:nvPr/>
        </p:nvSpPr>
        <p:spPr>
          <a:xfrm>
            <a:off x="5852160" y="5742431"/>
            <a:ext cx="4572000" cy="365760"/>
          </a:xfrm>
          <a:prstGeom prst="rect">
            <a:avLst/>
          </a:prstGeom>
          <a:noFill/>
        </p:spPr>
        <p:txBody>
          <a:bodyPr wrap="square" anchor="ctr" lIns="0" tIns="0" rIns="0" bIns="0">
            <a:noAutofit/>
          </a:bodyPr>
          <a:lstStyle/>
          <a:p>
            <a:pPr algn="l">
              <a:lnSpc>
                <a:spcPct val="115000"/>
              </a:lnSpc>
              <a:spcAft>
                <a:spcPts val="0"/>
              </a:spcAft>
            </a:pPr>
            <a:r>
              <a:rPr sz="1300" b="1" i="0" lang="ko-KR" altLang="en-US">
                <a:solidFill>
                  <a:srgbClr val="647089"/>
                </a:solidFill>
                <a:latin typeface="맑은 고딕"/>
                <a:ea typeface="맑은 고딕"/>
                <a:cs typeface="맑은 고딕"/>
              </a:rPr>
              <a:t>부록</a:t>
            </a:r>
            <a:r>
              <a:rPr sz="1300" b="0" i="0" lang="ko-KR" altLang="en-US">
                <a:solidFill>
                  <a:srgbClr val="647089"/>
                </a:solidFill>
                <a:latin typeface="맑은 고딕"/>
                <a:ea typeface="맑은 고딕"/>
                <a:cs typeface="맑은 고딕"/>
              </a:rPr>
              <a:t>    예상 질문과 답</a:t>
            </a:r>
          </a:p>
        </p:txBody>
      </p:sp>
      <p:sp>
        <p:nvSpPr>
          <p:cNvPr id="44" name="TextBox 43"/>
          <p:cNvSpPr txBox="1"/>
          <p:nvPr/>
        </p:nvSpPr>
        <p:spPr>
          <a:xfrm>
            <a:off x="10607040" y="5742431"/>
            <a:ext cx="914400" cy="365760"/>
          </a:xfrm>
          <a:prstGeom prst="rect">
            <a:avLst/>
          </a:prstGeom>
          <a:noFill/>
        </p:spPr>
        <p:txBody>
          <a:bodyPr wrap="square" anchor="ctr" lIns="0" tIns="0" rIns="0" bIns="0">
            <a:noAutofit/>
          </a:bodyPr>
          <a:lstStyle/>
          <a:p>
            <a:pPr algn="r">
              <a:lnSpc>
                <a:spcPct val="115000"/>
              </a:lnSpc>
              <a:spcAft>
                <a:spcPts val="0"/>
              </a:spcAft>
            </a:pPr>
            <a:r>
              <a:rPr sz="1300" b="0" i="0" lang="ko-KR" altLang="en-US">
                <a:solidFill>
                  <a:srgbClr val="647089"/>
                </a:solidFill>
                <a:latin typeface="Arial"/>
                <a:ea typeface="맑은 고딕"/>
                <a:cs typeface="Arial"/>
              </a:rPr>
              <a:t>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한눈에 보기</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플롯은 참값 + 잡음, 클러터는 범위 안의 무작위 점입니다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3</a:t>
            </a:r>
          </a:p>
        </p:txBody>
      </p:sp>
      <p:sp>
        <p:nvSpPr>
          <p:cNvPr id="7" name="Rectangle 6"/>
          <p:cNvSpPr/>
          <p:nvPr/>
        </p:nvSpPr>
        <p:spPr>
          <a:xfrm>
            <a:off x="640080" y="1965960"/>
            <a:ext cx="1188720" cy="141732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1" y="1965960"/>
            <a:ext cx="1042416" cy="1417320"/>
          </a:xfrm>
          <a:prstGeom prst="rect">
            <a:avLst/>
          </a:prstGeom>
          <a:noFill/>
        </p:spPr>
        <p:txBody>
          <a:bodyPr wrap="square" anchor="ctr" lIns="0" tIns="0" rIns="0" bIns="0">
            <a:noAutofit/>
          </a:bodyPr>
          <a:lstStyle/>
          <a:p>
            <a:pPr algn="ctr">
              <a:lnSpc>
                <a:spcPct val="115000"/>
              </a:lnSpc>
              <a:spcAft>
                <a:spcPts val="0"/>
              </a:spcAft>
            </a:pPr>
            <a:r>
              <a:rPr sz="1400" b="1" i="0" lang="ko-KR" altLang="en-US">
                <a:solidFill>
                  <a:srgbClr val="FFFFFF"/>
                </a:solidFill>
                <a:latin typeface="맑은 고딕"/>
                <a:ea typeface="맑은 고딕"/>
                <a:cs typeface="맑은 고딕"/>
              </a:rPr>
              <a:t>플롯</a:t>
            </a:r>
          </a:p>
          <a:p>
            <a:pPr algn="ctr">
              <a:lnSpc>
                <a:spcPct val="115000"/>
              </a:lnSpc>
              <a:spcAft>
                <a:spcPts val="0"/>
              </a:spcAft>
            </a:pPr>
            <a:r>
              <a:rPr sz="1400" b="1" i="0" lang="ko-KR" altLang="en-US">
                <a:solidFill>
                  <a:srgbClr val="FFFFFF"/>
                </a:solidFill>
                <a:latin typeface="맑은 고딕"/>
                <a:ea typeface="맑은 고딕"/>
                <a:cs typeface="맑은 고딕"/>
              </a:rPr>
              <a:t>만들기</a:t>
            </a:r>
          </a:p>
        </p:txBody>
      </p:sp>
      <p:sp>
        <p:nvSpPr>
          <p:cNvPr id="9" name="Rectangle 8"/>
          <p:cNvSpPr/>
          <p:nvPr/>
        </p:nvSpPr>
        <p:spPr>
          <a:xfrm>
            <a:off x="2057400" y="1965960"/>
            <a:ext cx="1981199" cy="1417320"/>
          </a:xfrm>
          <a:prstGeom prst="rect">
            <a:avLst/>
          </a:prstGeom>
          <a:solidFill>
            <a:srgbClr val="FFFFFF"/>
          </a:solidFill>
          <a:ln w="1587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03704" y="2075688"/>
            <a:ext cx="1688591" cy="384048"/>
          </a:xfrm>
          <a:prstGeom prst="rect">
            <a:avLst/>
          </a:prstGeom>
          <a:noFill/>
        </p:spPr>
        <p:txBody>
          <a:bodyPr wrap="square" anchor="ctr" lIns="0" tIns="0" rIns="0" bIns="0">
            <a:noAutofit/>
          </a:bodyPr>
          <a:lstStyle/>
          <a:p>
            <a:pPr algn="l">
              <a:lnSpc>
                <a:spcPct val="115000"/>
              </a:lnSpc>
              <a:spcAft>
                <a:spcPts val="0"/>
              </a:spcAft>
            </a:pPr>
            <a:r>
              <a:rPr sz="1500" b="1" i="0" lang="ko-KR" altLang="en-US">
                <a:solidFill>
                  <a:srgbClr val="1B2740"/>
                </a:solidFill>
                <a:latin typeface="맑은 고딕"/>
                <a:ea typeface="맑은 고딕"/>
                <a:cs typeface="맑은 고딕"/>
              </a:rPr>
              <a:t>참값 x</a:t>
            </a:r>
          </a:p>
        </p:txBody>
      </p:sp>
      <p:sp>
        <p:nvSpPr>
          <p:cNvPr id="11" name="TextBox 10"/>
          <p:cNvSpPr txBox="1"/>
          <p:nvPr/>
        </p:nvSpPr>
        <p:spPr>
          <a:xfrm>
            <a:off x="2203704" y="2496312"/>
            <a:ext cx="1688591" cy="548640"/>
          </a:xfrm>
          <a:prstGeom prst="rect">
            <a:avLst/>
          </a:prstGeom>
          <a:noFill/>
        </p:spPr>
        <p:txBody>
          <a:bodyPr wrap="square" anchor="t" lIns="0" tIns="0" rIns="0" bIns="0">
            <a:noAutofit/>
          </a:bodyPr>
          <a:lstStyle/>
          <a:p>
            <a:pPr algn="l">
              <a:lnSpc>
                <a:spcPct val="110000"/>
              </a:lnSpc>
              <a:spcAft>
                <a:spcPts val="0"/>
              </a:spcAft>
            </a:pPr>
            <a:r>
              <a:rPr sz="1200" b="0" i="0" lang="ko-KR" altLang="en-US">
                <a:solidFill>
                  <a:srgbClr val="4A5A7A"/>
                </a:solidFill>
                <a:latin typeface="맑은 고딕"/>
                <a:ea typeface="맑은 고딕"/>
                <a:cs typeface="맑은 고딕"/>
              </a:rPr>
              <a:t>표적 5개의</a:t>
            </a:r>
          </a:p>
          <a:p>
            <a:pPr algn="l">
              <a:lnSpc>
                <a:spcPct val="110000"/>
              </a:lnSpc>
              <a:spcAft>
                <a:spcPts val="0"/>
              </a:spcAft>
            </a:pPr>
            <a:r>
              <a:rPr sz="1200" b="0" i="0" lang="ko-KR" altLang="en-US">
                <a:solidFill>
                  <a:srgbClr val="4A5A7A"/>
                </a:solidFill>
                <a:latin typeface="맑은 고딕"/>
                <a:ea typeface="맑은 고딕"/>
                <a:cs typeface="맑은 고딕"/>
              </a:rPr>
              <a:t>실제 위치</a:t>
            </a:r>
          </a:p>
        </p:txBody>
      </p:sp>
      <p:sp>
        <p:nvSpPr>
          <p:cNvPr id="12" name="Rounded Rectangle 11"/>
          <p:cNvSpPr/>
          <p:nvPr/>
        </p:nvSpPr>
        <p:spPr>
          <a:xfrm>
            <a:off x="3550310" y="3081528"/>
            <a:ext cx="396849" cy="219456"/>
          </a:xfrm>
          <a:prstGeom prst="roundRect">
            <a:avLst>
              <a:gd name="adj" fmla="val 18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59454" y="3081528"/>
            <a:ext cx="378561" cy="219456"/>
          </a:xfrm>
          <a:prstGeom prst="rect">
            <a:avLst/>
          </a:prstGeom>
          <a:noFill/>
        </p:spPr>
        <p:txBody>
          <a:bodyPr wrap="square" anchor="ctr" lIns="0" tIns="0" rIns="0" bIns="0">
            <a:noAutofit/>
          </a:bodyPr>
          <a:lstStyle/>
          <a:p>
            <a:pPr algn="ctr">
              <a:lnSpc>
                <a:spcPct val="110000"/>
              </a:lnSpc>
              <a:spcAft>
                <a:spcPts val="0"/>
              </a:spcAft>
            </a:pPr>
            <a:r>
              <a:rPr sz="950" b="0" i="0" lang="ko-KR" altLang="en-US">
                <a:solidFill>
                  <a:srgbClr val="647089"/>
                </a:solidFill>
                <a:latin typeface="Arial"/>
                <a:ea typeface="맑은 고딕"/>
                <a:cs typeface="Arial"/>
              </a:rPr>
              <a:t>2.5</a:t>
            </a:r>
          </a:p>
        </p:txBody>
      </p:sp>
      <p:sp>
        <p:nvSpPr>
          <p:cNvPr id="14" name="TextBox 13"/>
          <p:cNvSpPr txBox="1"/>
          <p:nvPr/>
        </p:nvSpPr>
        <p:spPr>
          <a:xfrm>
            <a:off x="4038599" y="1965960"/>
            <a:ext cx="457200" cy="1417320"/>
          </a:xfrm>
          <a:prstGeom prst="rect">
            <a:avLst/>
          </a:prstGeom>
          <a:noFill/>
        </p:spPr>
        <p:txBody>
          <a:bodyPr wrap="square" anchor="ctr" lIns="0" tIns="0" rIns="0" bIns="0">
            <a:noAutofit/>
          </a:bodyPr>
          <a:lstStyle/>
          <a:p>
            <a:pPr algn="ctr">
              <a:lnSpc>
                <a:spcPct val="115000"/>
              </a:lnSpc>
              <a:spcAft>
                <a:spcPts val="0"/>
              </a:spcAft>
            </a:pPr>
            <a:r>
              <a:rPr sz="2400" b="1" i="0" lang="ko-KR" altLang="en-US">
                <a:solidFill>
                  <a:srgbClr val="4A5A7A"/>
                </a:solidFill>
                <a:latin typeface="맑은 고딕"/>
                <a:ea typeface="맑은 고딕"/>
                <a:cs typeface="맑은 고딕"/>
              </a:rPr>
              <a:t>+</a:t>
            </a:r>
          </a:p>
        </p:txBody>
      </p:sp>
      <p:sp>
        <p:nvSpPr>
          <p:cNvPr id="15" name="Rectangle 14"/>
          <p:cNvSpPr/>
          <p:nvPr/>
        </p:nvSpPr>
        <p:spPr>
          <a:xfrm>
            <a:off x="4495799" y="1965960"/>
            <a:ext cx="1981199" cy="1417320"/>
          </a:xfrm>
          <a:prstGeom prst="rect">
            <a:avLst/>
          </a:prstGeom>
          <a:solidFill>
            <a:srgbClr val="FFFFFF"/>
          </a:solidFill>
          <a:ln w="1587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2104" y="2075688"/>
            <a:ext cx="1688591" cy="384048"/>
          </a:xfrm>
          <a:prstGeom prst="rect">
            <a:avLst/>
          </a:prstGeom>
          <a:noFill/>
        </p:spPr>
        <p:txBody>
          <a:bodyPr wrap="square" anchor="ctr" lIns="0" tIns="0" rIns="0" bIns="0">
            <a:noAutofit/>
          </a:bodyPr>
          <a:lstStyle/>
          <a:p>
            <a:pPr algn="l">
              <a:lnSpc>
                <a:spcPct val="115000"/>
              </a:lnSpc>
              <a:spcAft>
                <a:spcPts val="0"/>
              </a:spcAft>
            </a:pPr>
            <a:r>
              <a:rPr sz="1500" b="1" i="0" lang="ko-KR" altLang="en-US">
                <a:solidFill>
                  <a:srgbClr val="1B2740"/>
                </a:solidFill>
                <a:latin typeface="맑은 고딕"/>
                <a:ea typeface="맑은 고딕"/>
                <a:cs typeface="맑은 고딕"/>
              </a:rPr>
              <a:t>잡음 v</a:t>
            </a:r>
          </a:p>
        </p:txBody>
      </p:sp>
      <p:sp>
        <p:nvSpPr>
          <p:cNvPr id="17" name="TextBox 16"/>
          <p:cNvSpPr txBox="1"/>
          <p:nvPr/>
        </p:nvSpPr>
        <p:spPr>
          <a:xfrm>
            <a:off x="4642104" y="2496312"/>
            <a:ext cx="1688591" cy="548640"/>
          </a:xfrm>
          <a:prstGeom prst="rect">
            <a:avLst/>
          </a:prstGeom>
          <a:noFill/>
        </p:spPr>
        <p:txBody>
          <a:bodyPr wrap="square" anchor="t" lIns="0" tIns="0" rIns="0" bIns="0">
            <a:noAutofit/>
          </a:bodyPr>
          <a:lstStyle/>
          <a:p>
            <a:pPr algn="l">
              <a:lnSpc>
                <a:spcPct val="110000"/>
              </a:lnSpc>
              <a:spcAft>
                <a:spcPts val="0"/>
              </a:spcAft>
            </a:pPr>
            <a:r>
              <a:rPr sz="1200" b="0" i="0" lang="ko-KR" altLang="en-US">
                <a:solidFill>
                  <a:srgbClr val="4A5A7A"/>
                </a:solidFill>
                <a:latin typeface="맑은 고딕"/>
                <a:ea typeface="맑은 고딕"/>
                <a:cs typeface="맑은 고딕"/>
              </a:rPr>
              <a:t>평균 0, 크기 p 인</a:t>
            </a:r>
          </a:p>
          <a:p>
            <a:pPr algn="l">
              <a:lnSpc>
                <a:spcPct val="110000"/>
              </a:lnSpc>
              <a:spcAft>
                <a:spcPts val="0"/>
              </a:spcAft>
            </a:pPr>
            <a:r>
              <a:rPr sz="1200" b="0" i="0" lang="ko-KR" altLang="en-US">
                <a:solidFill>
                  <a:srgbClr val="4A5A7A"/>
                </a:solidFill>
                <a:latin typeface="맑은 고딕"/>
                <a:ea typeface="맑은 고딕"/>
                <a:cs typeface="맑은 고딕"/>
              </a:rPr>
              <a:t>정규분포 난수</a:t>
            </a:r>
          </a:p>
        </p:txBody>
      </p:sp>
      <p:sp>
        <p:nvSpPr>
          <p:cNvPr id="18" name="Rounded Rectangle 17"/>
          <p:cNvSpPr/>
          <p:nvPr/>
        </p:nvSpPr>
        <p:spPr>
          <a:xfrm>
            <a:off x="5560771" y="3081528"/>
            <a:ext cx="824788" cy="219456"/>
          </a:xfrm>
          <a:prstGeom prst="roundRect">
            <a:avLst>
              <a:gd name="adj" fmla="val 18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69915" y="3081528"/>
            <a:ext cx="806500" cy="219456"/>
          </a:xfrm>
          <a:prstGeom prst="rect">
            <a:avLst/>
          </a:prstGeom>
          <a:noFill/>
        </p:spPr>
        <p:txBody>
          <a:bodyPr wrap="square" anchor="ctr" lIns="0" tIns="0" rIns="0" bIns="0">
            <a:noAutofit/>
          </a:bodyPr>
          <a:lstStyle/>
          <a:p>
            <a:pPr algn="ctr">
              <a:lnSpc>
                <a:spcPct val="110000"/>
              </a:lnSpc>
              <a:spcAft>
                <a:spcPts val="0"/>
              </a:spcAft>
            </a:pPr>
            <a:r>
              <a:rPr sz="950" b="0" i="0" lang="ko-KR" altLang="en-US">
                <a:solidFill>
                  <a:srgbClr val="647089"/>
                </a:solidFill>
                <a:latin typeface="Arial"/>
                <a:ea typeface="맑은 고딕"/>
                <a:cs typeface="Arial"/>
              </a:rPr>
              <a:t>2.2 ~ 2.4</a:t>
            </a:r>
          </a:p>
        </p:txBody>
      </p:sp>
      <p:sp>
        <p:nvSpPr>
          <p:cNvPr id="20" name="TextBox 19"/>
          <p:cNvSpPr txBox="1"/>
          <p:nvPr/>
        </p:nvSpPr>
        <p:spPr>
          <a:xfrm>
            <a:off x="6476999" y="1965960"/>
            <a:ext cx="457200" cy="1417320"/>
          </a:xfrm>
          <a:prstGeom prst="rect">
            <a:avLst/>
          </a:prstGeom>
          <a:noFill/>
        </p:spPr>
        <p:txBody>
          <a:bodyPr wrap="square" anchor="ctr" lIns="0" tIns="0" rIns="0" bIns="0">
            <a:noAutofit/>
          </a:bodyPr>
          <a:lstStyle/>
          <a:p>
            <a:pPr algn="ctr">
              <a:lnSpc>
                <a:spcPct val="115000"/>
              </a:lnSpc>
              <a:spcAft>
                <a:spcPts val="0"/>
              </a:spcAft>
            </a:pPr>
            <a:r>
              <a:rPr sz="2400" b="1" i="0" lang="ko-KR" altLang="en-US">
                <a:solidFill>
                  <a:srgbClr val="4A5A7A"/>
                </a:solidFill>
                <a:latin typeface="맑은 고딕"/>
                <a:ea typeface="맑은 고딕"/>
                <a:cs typeface="맑은 고딕"/>
              </a:rPr>
              <a:t>=</a:t>
            </a:r>
          </a:p>
        </p:txBody>
      </p:sp>
      <p:sp>
        <p:nvSpPr>
          <p:cNvPr id="21" name="Rectangle 20"/>
          <p:cNvSpPr/>
          <p:nvPr/>
        </p:nvSpPr>
        <p:spPr>
          <a:xfrm>
            <a:off x="6934200" y="1965960"/>
            <a:ext cx="1981199" cy="1417320"/>
          </a:xfrm>
          <a:prstGeom prst="rect">
            <a:avLst/>
          </a:prstGeom>
          <a:solidFill>
            <a:srgbClr val="FFFFFF"/>
          </a:solidFill>
          <a:ln w="1587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80504" y="2075688"/>
            <a:ext cx="1688591" cy="384048"/>
          </a:xfrm>
          <a:prstGeom prst="rect">
            <a:avLst/>
          </a:prstGeom>
          <a:noFill/>
        </p:spPr>
        <p:txBody>
          <a:bodyPr wrap="square" anchor="ctr" lIns="0" tIns="0" rIns="0" bIns="0">
            <a:noAutofit/>
          </a:bodyPr>
          <a:lstStyle/>
          <a:p>
            <a:pPr algn="l">
              <a:lnSpc>
                <a:spcPct val="115000"/>
              </a:lnSpc>
              <a:spcAft>
                <a:spcPts val="0"/>
              </a:spcAft>
            </a:pPr>
            <a:r>
              <a:rPr sz="1500" b="1" i="0" lang="ko-KR" altLang="en-US">
                <a:solidFill>
                  <a:srgbClr val="1B2740"/>
                </a:solidFill>
                <a:latin typeface="맑은 고딕"/>
                <a:ea typeface="맑은 고딕"/>
                <a:cs typeface="맑은 고딕"/>
              </a:rPr>
              <a:t>플롯 z</a:t>
            </a:r>
          </a:p>
        </p:txBody>
      </p:sp>
      <p:sp>
        <p:nvSpPr>
          <p:cNvPr id="23" name="TextBox 22"/>
          <p:cNvSpPr txBox="1"/>
          <p:nvPr/>
        </p:nvSpPr>
        <p:spPr>
          <a:xfrm>
            <a:off x="7080504" y="2496312"/>
            <a:ext cx="1688591" cy="548640"/>
          </a:xfrm>
          <a:prstGeom prst="rect">
            <a:avLst/>
          </a:prstGeom>
          <a:noFill/>
        </p:spPr>
        <p:txBody>
          <a:bodyPr wrap="square" anchor="t" lIns="0" tIns="0" rIns="0" bIns="0">
            <a:noAutofit/>
          </a:bodyPr>
          <a:lstStyle/>
          <a:p>
            <a:pPr algn="l">
              <a:lnSpc>
                <a:spcPct val="110000"/>
              </a:lnSpc>
              <a:spcAft>
                <a:spcPts val="0"/>
              </a:spcAft>
            </a:pPr>
            <a:r>
              <a:rPr sz="1200" b="0" i="0" lang="ko-KR" altLang="en-US">
                <a:solidFill>
                  <a:srgbClr val="4A5A7A"/>
                </a:solidFill>
                <a:latin typeface="맑은 고딕"/>
                <a:ea typeface="맑은 고딕"/>
                <a:cs typeface="맑은 고딕"/>
              </a:rPr>
              <a:t>레이다가 잰 위치</a:t>
            </a:r>
          </a:p>
          <a:p>
            <a:pPr algn="l">
              <a:lnSpc>
                <a:spcPct val="110000"/>
              </a:lnSpc>
              <a:spcAft>
                <a:spcPts val="0"/>
              </a:spcAft>
            </a:pPr>
            <a:r>
              <a:rPr sz="1200" b="0" i="0" lang="ko-KR" altLang="en-US">
                <a:solidFill>
                  <a:srgbClr val="4A5A7A"/>
                </a:solidFill>
                <a:latin typeface="맑은 고딕"/>
                <a:ea typeface="맑은 고딕"/>
                <a:cs typeface="맑은 고딕"/>
              </a:rPr>
              <a:t>스캔당 1개</a:t>
            </a:r>
          </a:p>
        </p:txBody>
      </p:sp>
      <p:sp>
        <p:nvSpPr>
          <p:cNvPr id="24" name="Rounded Rectangle 23"/>
          <p:cNvSpPr/>
          <p:nvPr/>
        </p:nvSpPr>
        <p:spPr>
          <a:xfrm>
            <a:off x="8427110" y="3081528"/>
            <a:ext cx="396849" cy="219456"/>
          </a:xfrm>
          <a:prstGeom prst="roundRect">
            <a:avLst>
              <a:gd name="adj" fmla="val 18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36254" y="3081528"/>
            <a:ext cx="378561" cy="219456"/>
          </a:xfrm>
          <a:prstGeom prst="rect">
            <a:avLst/>
          </a:prstGeom>
          <a:noFill/>
        </p:spPr>
        <p:txBody>
          <a:bodyPr wrap="square" anchor="ctr" lIns="0" tIns="0" rIns="0" bIns="0">
            <a:noAutofit/>
          </a:bodyPr>
          <a:lstStyle/>
          <a:p>
            <a:pPr algn="ctr">
              <a:lnSpc>
                <a:spcPct val="110000"/>
              </a:lnSpc>
              <a:spcAft>
                <a:spcPts val="0"/>
              </a:spcAft>
            </a:pPr>
            <a:r>
              <a:rPr sz="950" b="0" i="0" lang="ko-KR" altLang="en-US">
                <a:solidFill>
                  <a:srgbClr val="647089"/>
                </a:solidFill>
                <a:latin typeface="Arial"/>
                <a:ea typeface="맑은 고딕"/>
                <a:cs typeface="Arial"/>
              </a:rPr>
              <a:t>2.3</a:t>
            </a:r>
          </a:p>
        </p:txBody>
      </p:sp>
      <p:sp>
        <p:nvSpPr>
          <p:cNvPr id="26" name="Rectangle 25"/>
          <p:cNvSpPr/>
          <p:nvPr/>
        </p:nvSpPr>
        <p:spPr>
          <a:xfrm>
            <a:off x="640080" y="3611880"/>
            <a:ext cx="1188720" cy="14173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1" y="3611880"/>
            <a:ext cx="1042416" cy="1417320"/>
          </a:xfrm>
          <a:prstGeom prst="rect">
            <a:avLst/>
          </a:prstGeom>
          <a:noFill/>
        </p:spPr>
        <p:txBody>
          <a:bodyPr wrap="square" anchor="ctr" lIns="0" tIns="0" rIns="0" bIns="0">
            <a:noAutofit/>
          </a:bodyPr>
          <a:lstStyle/>
          <a:p>
            <a:pPr algn="ctr">
              <a:lnSpc>
                <a:spcPct val="115000"/>
              </a:lnSpc>
              <a:spcAft>
                <a:spcPts val="0"/>
              </a:spcAft>
            </a:pPr>
            <a:r>
              <a:rPr sz="1400" b="1" i="0" lang="ko-KR" altLang="en-US">
                <a:solidFill>
                  <a:srgbClr val="FFFFFF"/>
                </a:solidFill>
                <a:latin typeface="맑은 고딕"/>
                <a:ea typeface="맑은 고딕"/>
                <a:cs typeface="맑은 고딕"/>
              </a:rPr>
              <a:t>클러터</a:t>
            </a:r>
          </a:p>
          <a:p>
            <a:pPr algn="ctr">
              <a:lnSpc>
                <a:spcPct val="115000"/>
              </a:lnSpc>
              <a:spcAft>
                <a:spcPts val="0"/>
              </a:spcAft>
            </a:pPr>
            <a:r>
              <a:rPr sz="1400" b="1" i="0" lang="ko-KR" altLang="en-US">
                <a:solidFill>
                  <a:srgbClr val="FFFFFF"/>
                </a:solidFill>
                <a:latin typeface="맑은 고딕"/>
                <a:ea typeface="맑은 고딕"/>
                <a:cs typeface="맑은 고딕"/>
              </a:rPr>
              <a:t>만들기</a:t>
            </a:r>
          </a:p>
        </p:txBody>
      </p:sp>
      <p:sp>
        <p:nvSpPr>
          <p:cNvPr id="28" name="Rectangle 27"/>
          <p:cNvSpPr/>
          <p:nvPr/>
        </p:nvSpPr>
        <p:spPr>
          <a:xfrm>
            <a:off x="2057400" y="3611880"/>
            <a:ext cx="1981199" cy="1417320"/>
          </a:xfrm>
          <a:prstGeom prst="rect">
            <a:avLst/>
          </a:prstGeom>
          <a:solidFill>
            <a:srgbClr val="FFFFFF"/>
          </a:solidFill>
          <a:ln w="1587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03704" y="3721608"/>
            <a:ext cx="1688591" cy="384048"/>
          </a:xfrm>
          <a:prstGeom prst="rect">
            <a:avLst/>
          </a:prstGeom>
          <a:noFill/>
        </p:spPr>
        <p:txBody>
          <a:bodyPr wrap="square" anchor="ctr" lIns="0" tIns="0" rIns="0" bIns="0">
            <a:noAutofit/>
          </a:bodyPr>
          <a:lstStyle/>
          <a:p>
            <a:pPr algn="l">
              <a:lnSpc>
                <a:spcPct val="115000"/>
              </a:lnSpc>
              <a:spcAft>
                <a:spcPts val="0"/>
              </a:spcAft>
            </a:pPr>
            <a:r>
              <a:rPr sz="1500" b="1" i="0" lang="ko-KR" altLang="en-US">
                <a:solidFill>
                  <a:srgbClr val="1B2740"/>
                </a:solidFill>
                <a:latin typeface="맑은 고딕"/>
                <a:ea typeface="맑은 고딕"/>
                <a:cs typeface="맑은 고딕"/>
              </a:rPr>
              <a:t>FOV 범위</a:t>
            </a:r>
          </a:p>
        </p:txBody>
      </p:sp>
      <p:sp>
        <p:nvSpPr>
          <p:cNvPr id="30" name="TextBox 29"/>
          <p:cNvSpPr txBox="1"/>
          <p:nvPr/>
        </p:nvSpPr>
        <p:spPr>
          <a:xfrm>
            <a:off x="2203704" y="4142232"/>
            <a:ext cx="1688591" cy="548640"/>
          </a:xfrm>
          <a:prstGeom prst="rect">
            <a:avLst/>
          </a:prstGeom>
          <a:noFill/>
        </p:spPr>
        <p:txBody>
          <a:bodyPr wrap="square" anchor="t" lIns="0" tIns="0" rIns="0" bIns="0">
            <a:noAutofit/>
          </a:bodyPr>
          <a:lstStyle/>
          <a:p>
            <a:pPr algn="l">
              <a:lnSpc>
                <a:spcPct val="110000"/>
              </a:lnSpc>
              <a:spcAft>
                <a:spcPts val="0"/>
              </a:spcAft>
            </a:pPr>
            <a:r>
              <a:rPr sz="1200" b="0" i="0" lang="ko-KR" altLang="en-US">
                <a:solidFill>
                  <a:srgbClr val="4A5A7A"/>
                </a:solidFill>
                <a:latin typeface="맑은 고딕"/>
                <a:ea typeface="맑은 고딕"/>
                <a:cs typeface="맑은 고딕"/>
              </a:rPr>
              <a:t>200 m ~ 15 km</a:t>
            </a:r>
          </a:p>
          <a:p>
            <a:pPr algn="l">
              <a:lnSpc>
                <a:spcPct val="110000"/>
              </a:lnSpc>
              <a:spcAft>
                <a:spcPts val="0"/>
              </a:spcAft>
            </a:pPr>
            <a:r>
              <a:rPr sz="1200" b="0" i="0" lang="ko-KR" altLang="en-US">
                <a:solidFill>
                  <a:srgbClr val="4A5A7A"/>
                </a:solidFill>
                <a:latin typeface="맑은 고딕"/>
                <a:ea typeface="맑은 고딕"/>
                <a:cs typeface="맑은 고딕"/>
              </a:rPr>
              <a:t>±60°,  0 ~ 30°</a:t>
            </a:r>
          </a:p>
        </p:txBody>
      </p:sp>
      <p:sp>
        <p:nvSpPr>
          <p:cNvPr id="31" name="Rounded Rectangle 30"/>
          <p:cNvSpPr/>
          <p:nvPr/>
        </p:nvSpPr>
        <p:spPr>
          <a:xfrm>
            <a:off x="3550310" y="4727448"/>
            <a:ext cx="396849" cy="219456"/>
          </a:xfrm>
          <a:prstGeom prst="roundRect">
            <a:avLst>
              <a:gd name="adj" fmla="val 18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559454" y="4727448"/>
            <a:ext cx="378561" cy="219456"/>
          </a:xfrm>
          <a:prstGeom prst="rect">
            <a:avLst/>
          </a:prstGeom>
          <a:noFill/>
        </p:spPr>
        <p:txBody>
          <a:bodyPr wrap="square" anchor="ctr" lIns="0" tIns="0" rIns="0" bIns="0">
            <a:noAutofit/>
          </a:bodyPr>
          <a:lstStyle/>
          <a:p>
            <a:pPr algn="ctr">
              <a:lnSpc>
                <a:spcPct val="110000"/>
              </a:lnSpc>
              <a:spcAft>
                <a:spcPts val="0"/>
              </a:spcAft>
            </a:pPr>
            <a:r>
              <a:rPr sz="950" b="0" i="0" lang="ko-KR" altLang="en-US">
                <a:solidFill>
                  <a:srgbClr val="647089"/>
                </a:solidFill>
                <a:latin typeface="Arial"/>
                <a:ea typeface="맑은 고딕"/>
                <a:cs typeface="Arial"/>
              </a:rPr>
              <a:t>4.1</a:t>
            </a:r>
          </a:p>
        </p:txBody>
      </p:sp>
      <p:sp>
        <p:nvSpPr>
          <p:cNvPr id="33" name="TextBox 32"/>
          <p:cNvSpPr txBox="1"/>
          <p:nvPr/>
        </p:nvSpPr>
        <p:spPr>
          <a:xfrm>
            <a:off x="4038599" y="3611880"/>
            <a:ext cx="457200" cy="1417320"/>
          </a:xfrm>
          <a:prstGeom prst="rect">
            <a:avLst/>
          </a:prstGeom>
          <a:noFill/>
        </p:spPr>
        <p:txBody>
          <a:bodyPr wrap="square" anchor="ctr" lIns="0" tIns="0" rIns="0" bIns="0">
            <a:noAutofit/>
          </a:bodyPr>
          <a:lstStyle/>
          <a:p>
            <a:pPr algn="ctr">
              <a:lnSpc>
                <a:spcPct val="115000"/>
              </a:lnSpc>
              <a:spcAft>
                <a:spcPts val="0"/>
              </a:spcAft>
            </a:pPr>
            <a:r>
              <a:rPr sz="2400" b="1" i="0" lang="ko-KR" altLang="en-US">
                <a:solidFill>
                  <a:srgbClr val="4A5A7A"/>
                </a:solidFill>
                <a:latin typeface="맑은 고딕"/>
                <a:ea typeface="맑은 고딕"/>
                <a:cs typeface="맑은 고딕"/>
              </a:rPr>
              <a:t>→</a:t>
            </a:r>
          </a:p>
        </p:txBody>
      </p:sp>
      <p:sp>
        <p:nvSpPr>
          <p:cNvPr id="34" name="Rectangle 33"/>
          <p:cNvSpPr/>
          <p:nvPr/>
        </p:nvSpPr>
        <p:spPr>
          <a:xfrm>
            <a:off x="4495799" y="3611880"/>
            <a:ext cx="1981199" cy="1417320"/>
          </a:xfrm>
          <a:prstGeom prst="rect">
            <a:avLst/>
          </a:prstGeom>
          <a:solidFill>
            <a:srgbClr val="FFFFFF"/>
          </a:solidFill>
          <a:ln w="1587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2104" y="3721608"/>
            <a:ext cx="1688591" cy="384048"/>
          </a:xfrm>
          <a:prstGeom prst="rect">
            <a:avLst/>
          </a:prstGeom>
          <a:noFill/>
        </p:spPr>
        <p:txBody>
          <a:bodyPr wrap="square" anchor="ctr" lIns="0" tIns="0" rIns="0" bIns="0">
            <a:noAutofit/>
          </a:bodyPr>
          <a:lstStyle/>
          <a:p>
            <a:pPr algn="l">
              <a:lnSpc>
                <a:spcPct val="115000"/>
              </a:lnSpc>
              <a:spcAft>
                <a:spcPts val="0"/>
              </a:spcAft>
            </a:pPr>
            <a:r>
              <a:rPr sz="1500" b="1" i="0" lang="ko-KR" altLang="en-US">
                <a:solidFill>
                  <a:srgbClr val="1B2740"/>
                </a:solidFill>
                <a:latin typeface="맑은 고딕"/>
                <a:ea typeface="맑은 고딕"/>
                <a:cs typeface="맑은 고딕"/>
              </a:rPr>
              <a:t>균등난수 u</a:t>
            </a:r>
          </a:p>
        </p:txBody>
      </p:sp>
      <p:sp>
        <p:nvSpPr>
          <p:cNvPr id="36" name="TextBox 35"/>
          <p:cNvSpPr txBox="1"/>
          <p:nvPr/>
        </p:nvSpPr>
        <p:spPr>
          <a:xfrm>
            <a:off x="4642104" y="4142232"/>
            <a:ext cx="1688591" cy="548640"/>
          </a:xfrm>
          <a:prstGeom prst="rect">
            <a:avLst/>
          </a:prstGeom>
          <a:noFill/>
        </p:spPr>
        <p:txBody>
          <a:bodyPr wrap="square" anchor="t" lIns="0" tIns="0" rIns="0" bIns="0">
            <a:noAutofit/>
          </a:bodyPr>
          <a:lstStyle/>
          <a:p>
            <a:pPr algn="l">
              <a:lnSpc>
                <a:spcPct val="110000"/>
              </a:lnSpc>
              <a:spcAft>
                <a:spcPts val="0"/>
              </a:spcAft>
            </a:pPr>
            <a:r>
              <a:rPr sz="1200" b="0" i="0" lang="ko-KR" altLang="en-US">
                <a:solidFill>
                  <a:srgbClr val="4A5A7A"/>
                </a:solidFill>
                <a:latin typeface="맑은 고딕"/>
                <a:ea typeface="맑은 고딕"/>
                <a:cs typeface="맑은 고딕"/>
              </a:rPr>
              <a:t>0 ~ 1 사이</a:t>
            </a:r>
          </a:p>
          <a:p>
            <a:pPr algn="l">
              <a:lnSpc>
                <a:spcPct val="110000"/>
              </a:lnSpc>
              <a:spcAft>
                <a:spcPts val="0"/>
              </a:spcAft>
            </a:pPr>
            <a:r>
              <a:rPr sz="1200" b="0" i="0" lang="ko-KR" altLang="en-US">
                <a:solidFill>
                  <a:srgbClr val="4A5A7A"/>
                </a:solidFill>
                <a:latin typeface="맑은 고딕"/>
                <a:ea typeface="맑은 고딕"/>
                <a:cs typeface="맑은 고딕"/>
              </a:rPr>
              <a:t>모두 같은 확률</a:t>
            </a:r>
          </a:p>
        </p:txBody>
      </p:sp>
      <p:sp>
        <p:nvSpPr>
          <p:cNvPr id="37" name="Rounded Rectangle 36"/>
          <p:cNvSpPr/>
          <p:nvPr/>
        </p:nvSpPr>
        <p:spPr>
          <a:xfrm>
            <a:off x="5988710" y="4727448"/>
            <a:ext cx="396849" cy="219456"/>
          </a:xfrm>
          <a:prstGeom prst="roundRect">
            <a:avLst>
              <a:gd name="adj" fmla="val 18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97854" y="4727448"/>
            <a:ext cx="378561" cy="219456"/>
          </a:xfrm>
          <a:prstGeom prst="rect">
            <a:avLst/>
          </a:prstGeom>
          <a:noFill/>
        </p:spPr>
        <p:txBody>
          <a:bodyPr wrap="square" anchor="ctr" lIns="0" tIns="0" rIns="0" bIns="0">
            <a:noAutofit/>
          </a:bodyPr>
          <a:lstStyle/>
          <a:p>
            <a:pPr algn="ctr">
              <a:lnSpc>
                <a:spcPct val="110000"/>
              </a:lnSpc>
              <a:spcAft>
                <a:spcPts val="0"/>
              </a:spcAft>
            </a:pPr>
            <a:r>
              <a:rPr sz="950" b="0" i="0" lang="ko-KR" altLang="en-US">
                <a:solidFill>
                  <a:srgbClr val="647089"/>
                </a:solidFill>
                <a:latin typeface="Arial"/>
                <a:ea typeface="맑은 고딕"/>
                <a:cs typeface="Arial"/>
              </a:rPr>
              <a:t>4.1</a:t>
            </a:r>
          </a:p>
        </p:txBody>
      </p:sp>
      <p:sp>
        <p:nvSpPr>
          <p:cNvPr id="39" name="TextBox 38"/>
          <p:cNvSpPr txBox="1"/>
          <p:nvPr/>
        </p:nvSpPr>
        <p:spPr>
          <a:xfrm>
            <a:off x="6476999" y="3611880"/>
            <a:ext cx="457200" cy="1417320"/>
          </a:xfrm>
          <a:prstGeom prst="rect">
            <a:avLst/>
          </a:prstGeom>
          <a:noFill/>
        </p:spPr>
        <p:txBody>
          <a:bodyPr wrap="square" anchor="ctr" lIns="0" tIns="0" rIns="0" bIns="0">
            <a:noAutofit/>
          </a:bodyPr>
          <a:lstStyle/>
          <a:p>
            <a:pPr algn="ctr">
              <a:lnSpc>
                <a:spcPct val="115000"/>
              </a:lnSpc>
              <a:spcAft>
                <a:spcPts val="0"/>
              </a:spcAft>
            </a:pPr>
            <a:r>
              <a:rPr sz="2400" b="1" i="0" lang="ko-KR" altLang="en-US">
                <a:solidFill>
                  <a:srgbClr val="4A5A7A"/>
                </a:solidFill>
                <a:latin typeface="맑은 고딕"/>
                <a:ea typeface="맑은 고딕"/>
                <a:cs typeface="맑은 고딕"/>
              </a:rPr>
              <a:t>→</a:t>
            </a:r>
          </a:p>
        </p:txBody>
      </p:sp>
      <p:sp>
        <p:nvSpPr>
          <p:cNvPr id="40" name="Rectangle 39"/>
          <p:cNvSpPr/>
          <p:nvPr/>
        </p:nvSpPr>
        <p:spPr>
          <a:xfrm>
            <a:off x="6934200" y="3611880"/>
            <a:ext cx="1981199" cy="1417320"/>
          </a:xfrm>
          <a:prstGeom prst="rect">
            <a:avLst/>
          </a:prstGeom>
          <a:solidFill>
            <a:srgbClr val="FFFFFF"/>
          </a:solidFill>
          <a:ln w="1587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80504" y="3721608"/>
            <a:ext cx="1688591" cy="384048"/>
          </a:xfrm>
          <a:prstGeom prst="rect">
            <a:avLst/>
          </a:prstGeom>
          <a:noFill/>
        </p:spPr>
        <p:txBody>
          <a:bodyPr wrap="square" anchor="ctr" lIns="0" tIns="0" rIns="0" bIns="0">
            <a:noAutofit/>
          </a:bodyPr>
          <a:lstStyle/>
          <a:p>
            <a:pPr algn="l">
              <a:lnSpc>
                <a:spcPct val="115000"/>
              </a:lnSpc>
              <a:spcAft>
                <a:spcPts val="0"/>
              </a:spcAft>
            </a:pPr>
            <a:r>
              <a:rPr sz="1500" b="1" i="0" lang="ko-KR" altLang="en-US">
                <a:solidFill>
                  <a:srgbClr val="1B2740"/>
                </a:solidFill>
                <a:latin typeface="맑은 고딕"/>
                <a:ea typeface="맑은 고딕"/>
                <a:cs typeface="맑은 고딕"/>
              </a:rPr>
              <a:t>클러터 c</a:t>
            </a:r>
          </a:p>
        </p:txBody>
      </p:sp>
      <p:sp>
        <p:nvSpPr>
          <p:cNvPr id="42" name="TextBox 41"/>
          <p:cNvSpPr txBox="1"/>
          <p:nvPr/>
        </p:nvSpPr>
        <p:spPr>
          <a:xfrm>
            <a:off x="7080504" y="4142232"/>
            <a:ext cx="1688591" cy="548640"/>
          </a:xfrm>
          <a:prstGeom prst="rect">
            <a:avLst/>
          </a:prstGeom>
          <a:noFill/>
        </p:spPr>
        <p:txBody>
          <a:bodyPr wrap="square" anchor="t" lIns="0" tIns="0" rIns="0" bIns="0">
            <a:noAutofit/>
          </a:bodyPr>
          <a:lstStyle/>
          <a:p>
            <a:pPr algn="l">
              <a:lnSpc>
                <a:spcPct val="110000"/>
              </a:lnSpc>
              <a:spcAft>
                <a:spcPts val="0"/>
              </a:spcAft>
            </a:pPr>
            <a:r>
              <a:rPr sz="1200" b="0" i="0" lang="ko-KR" altLang="en-US">
                <a:solidFill>
                  <a:srgbClr val="4A5A7A"/>
                </a:solidFill>
                <a:latin typeface="맑은 고딕"/>
                <a:ea typeface="맑은 고딕"/>
                <a:cs typeface="맑은 고딕"/>
              </a:rPr>
              <a:t>범위 안 무작위 점</a:t>
            </a:r>
          </a:p>
          <a:p>
            <a:pPr algn="l">
              <a:lnSpc>
                <a:spcPct val="110000"/>
              </a:lnSpc>
              <a:spcAft>
                <a:spcPts val="0"/>
              </a:spcAft>
            </a:pPr>
            <a:r>
              <a:rPr sz="1200" b="0" i="0" lang="ko-KR" altLang="en-US">
                <a:solidFill>
                  <a:srgbClr val="4A5A7A"/>
                </a:solidFill>
                <a:latin typeface="맑은 고딕"/>
                <a:ea typeface="맑은 고딕"/>
                <a:cs typeface="맑은 고딕"/>
              </a:rPr>
              <a:t>스캔당 5개</a:t>
            </a:r>
          </a:p>
        </p:txBody>
      </p:sp>
      <p:sp>
        <p:nvSpPr>
          <p:cNvPr id="43" name="Rounded Rectangle 42"/>
          <p:cNvSpPr/>
          <p:nvPr/>
        </p:nvSpPr>
        <p:spPr>
          <a:xfrm>
            <a:off x="8427110" y="4727448"/>
            <a:ext cx="396849" cy="219456"/>
          </a:xfrm>
          <a:prstGeom prst="roundRect">
            <a:avLst>
              <a:gd name="adj" fmla="val 18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436254" y="4727448"/>
            <a:ext cx="378561" cy="219456"/>
          </a:xfrm>
          <a:prstGeom prst="rect">
            <a:avLst/>
          </a:prstGeom>
          <a:noFill/>
        </p:spPr>
        <p:txBody>
          <a:bodyPr wrap="square" anchor="ctr" lIns="0" tIns="0" rIns="0" bIns="0">
            <a:noAutofit/>
          </a:bodyPr>
          <a:lstStyle/>
          <a:p>
            <a:pPr algn="ctr">
              <a:lnSpc>
                <a:spcPct val="110000"/>
              </a:lnSpc>
              <a:spcAft>
                <a:spcPts val="0"/>
              </a:spcAft>
            </a:pPr>
            <a:r>
              <a:rPr sz="950" b="0" i="0" lang="ko-KR" altLang="en-US">
                <a:solidFill>
                  <a:srgbClr val="647089"/>
                </a:solidFill>
                <a:latin typeface="Arial"/>
                <a:ea typeface="맑은 고딕"/>
                <a:cs typeface="Arial"/>
              </a:rPr>
              <a:t>4.1</a:t>
            </a:r>
          </a:p>
        </p:txBody>
      </p:sp>
      <p:sp>
        <p:nvSpPr>
          <p:cNvPr id="45" name="Rectangle 44"/>
          <p:cNvSpPr/>
          <p:nvPr/>
        </p:nvSpPr>
        <p:spPr>
          <a:xfrm>
            <a:off x="9189720" y="1965960"/>
            <a:ext cx="2359152" cy="3063240"/>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390888" y="2093976"/>
            <a:ext cx="1956816" cy="365760"/>
          </a:xfrm>
          <a:prstGeom prst="rect">
            <a:avLst/>
          </a:prstGeom>
          <a:noFill/>
        </p:spPr>
        <p:txBody>
          <a:bodyPr wrap="square" anchor="ctr" lIns="0" tIns="0" rIns="0" bIns="0">
            <a:noAutofit/>
          </a:bodyPr>
          <a:lstStyle/>
          <a:p>
            <a:pPr algn="l">
              <a:lnSpc>
                <a:spcPct val="115000"/>
              </a:lnSpc>
              <a:spcAft>
                <a:spcPts val="0"/>
              </a:spcAft>
            </a:pPr>
            <a:r>
              <a:rPr sz="1400" b="1" i="0" lang="ko-KR" altLang="en-US">
                <a:solidFill>
                  <a:srgbClr val="FFFFFF"/>
                </a:solidFill>
                <a:latin typeface="맑은 고딕"/>
                <a:ea typeface="맑은 고딕"/>
                <a:cs typeface="맑은 고딕"/>
              </a:rPr>
              <a:t>결과 확인</a:t>
            </a:r>
          </a:p>
        </p:txBody>
      </p:sp>
      <p:sp>
        <p:nvSpPr>
          <p:cNvPr id="47" name="TextBox 46"/>
          <p:cNvSpPr txBox="1"/>
          <p:nvPr/>
        </p:nvSpPr>
        <p:spPr>
          <a:xfrm>
            <a:off x="9390888" y="2697480"/>
            <a:ext cx="1956816" cy="329184"/>
          </a:xfrm>
          <a:prstGeom prst="rect">
            <a:avLst/>
          </a:prstGeom>
          <a:noFill/>
        </p:spPr>
        <p:txBody>
          <a:bodyPr wrap="square" anchor="ctr" lIns="0" tIns="0" rIns="0" bIns="0">
            <a:noAutofit/>
          </a:bodyPr>
          <a:lstStyle/>
          <a:p>
            <a:pPr algn="l">
              <a:lnSpc>
                <a:spcPct val="115000"/>
              </a:lnSpc>
              <a:spcAft>
                <a:spcPts val="0"/>
              </a:spcAft>
            </a:pPr>
            <a:r>
              <a:rPr sz="1400" b="1" i="0" lang="ko-KR" altLang="en-US">
                <a:solidFill>
                  <a:srgbClr val="F3B08F"/>
                </a:solidFill>
                <a:latin typeface="맑은 고딕"/>
                <a:ea typeface="맑은 고딕"/>
                <a:cs typeface="맑은 고딕"/>
              </a:rPr>
              <a:t>지도</a:t>
            </a:r>
          </a:p>
        </p:txBody>
      </p:sp>
      <p:sp>
        <p:nvSpPr>
          <p:cNvPr id="48" name="TextBox 47"/>
          <p:cNvSpPr txBox="1"/>
          <p:nvPr/>
        </p:nvSpPr>
        <p:spPr>
          <a:xfrm>
            <a:off x="9390888" y="3044952"/>
            <a:ext cx="1956816" cy="310896"/>
          </a:xfrm>
          <a:prstGeom prst="rect">
            <a:avLst/>
          </a:prstGeom>
          <a:noFill/>
        </p:spPr>
        <p:txBody>
          <a:bodyPr wrap="square" anchor="ctr" lIns="0" tIns="0" rIns="0" bIns="0">
            <a:noAutofit/>
          </a:bodyPr>
          <a:lstStyle/>
          <a:p>
            <a:pPr algn="l">
              <a:lnSpc>
                <a:spcPct val="115000"/>
              </a:lnSpc>
              <a:spcAft>
                <a:spcPts val="0"/>
              </a:spcAft>
            </a:pPr>
            <a:r>
              <a:rPr sz="1200" b="0" i="0" lang="ko-KR" altLang="en-US">
                <a:solidFill>
                  <a:srgbClr val="FFFFFF"/>
                </a:solidFill>
                <a:latin typeface="맑은 고딕"/>
                <a:ea typeface="맑은 고딕"/>
                <a:cs typeface="맑은 고딕"/>
              </a:rPr>
              <a:t>위도 · 경도로 그려 본다</a:t>
            </a:r>
          </a:p>
        </p:txBody>
      </p:sp>
      <p:sp>
        <p:nvSpPr>
          <p:cNvPr id="49" name="TextBox 48"/>
          <p:cNvSpPr txBox="1"/>
          <p:nvPr/>
        </p:nvSpPr>
        <p:spPr>
          <a:xfrm>
            <a:off x="9390888" y="3374136"/>
            <a:ext cx="1956816" cy="237744"/>
          </a:xfrm>
          <a:prstGeom prst="rect">
            <a:avLst/>
          </a:prstGeom>
          <a:noFill/>
        </p:spPr>
        <p:txBody>
          <a:bodyPr wrap="square" anchor="ctr" lIns="0" tIns="0" rIns="0" bIns="0">
            <a:noAutofit/>
          </a:bodyPr>
          <a:lstStyle/>
          <a:p>
            <a:pPr algn="l">
              <a:lnSpc>
                <a:spcPct val="115000"/>
              </a:lnSpc>
              <a:spcAft>
                <a:spcPts val="0"/>
              </a:spcAft>
            </a:pPr>
            <a:r>
              <a:rPr sz="1000" b="0" i="0" lang="ko-KR" altLang="en-US">
                <a:solidFill>
                  <a:srgbClr val="C7D0E2"/>
                </a:solidFill>
                <a:latin typeface="Arial"/>
                <a:ea typeface="맑은 고딕"/>
                <a:cs typeface="Arial"/>
              </a:rPr>
              <a:t>5.2</a:t>
            </a:r>
          </a:p>
        </p:txBody>
      </p:sp>
      <p:sp>
        <p:nvSpPr>
          <p:cNvPr id="50" name="TextBox 49"/>
          <p:cNvSpPr txBox="1"/>
          <p:nvPr/>
        </p:nvSpPr>
        <p:spPr>
          <a:xfrm>
            <a:off x="9390888" y="3813048"/>
            <a:ext cx="1956816" cy="329184"/>
          </a:xfrm>
          <a:prstGeom prst="rect">
            <a:avLst/>
          </a:prstGeom>
          <a:noFill/>
        </p:spPr>
        <p:txBody>
          <a:bodyPr wrap="square" anchor="ctr" lIns="0" tIns="0" rIns="0" bIns="0">
            <a:noAutofit/>
          </a:bodyPr>
          <a:lstStyle/>
          <a:p>
            <a:pPr algn="l">
              <a:lnSpc>
                <a:spcPct val="115000"/>
              </a:lnSpc>
              <a:spcAft>
                <a:spcPts val="0"/>
              </a:spcAft>
            </a:pPr>
            <a:r>
              <a:rPr sz="1400" b="1" i="0" lang="ko-KR" altLang="en-US">
                <a:solidFill>
                  <a:srgbClr val="8FE0C0"/>
                </a:solidFill>
                <a:latin typeface="맑은 고딕"/>
                <a:ea typeface="맑은 고딕"/>
                <a:cs typeface="맑은 고딕"/>
              </a:rPr>
              <a:t>숫자</a:t>
            </a:r>
          </a:p>
        </p:txBody>
      </p:sp>
      <p:sp>
        <p:nvSpPr>
          <p:cNvPr id="51" name="TextBox 50"/>
          <p:cNvSpPr txBox="1"/>
          <p:nvPr/>
        </p:nvSpPr>
        <p:spPr>
          <a:xfrm>
            <a:off x="9390888" y="4160520"/>
            <a:ext cx="1956816" cy="310896"/>
          </a:xfrm>
          <a:prstGeom prst="rect">
            <a:avLst/>
          </a:prstGeom>
          <a:noFill/>
        </p:spPr>
        <p:txBody>
          <a:bodyPr wrap="square" anchor="ctr" lIns="0" tIns="0" rIns="0" bIns="0">
            <a:noAutofit/>
          </a:bodyPr>
          <a:lstStyle/>
          <a:p>
            <a:pPr algn="l">
              <a:lnSpc>
                <a:spcPct val="115000"/>
              </a:lnSpc>
              <a:spcAft>
                <a:spcPts val="0"/>
              </a:spcAft>
            </a:pPr>
            <a:r>
              <a:rPr sz="1200" b="0" i="0" lang="ko-KR" altLang="en-US">
                <a:solidFill>
                  <a:srgbClr val="FFFFFF"/>
                </a:solidFill>
                <a:latin typeface="맑은 고딕"/>
                <a:ea typeface="맑은 고딕"/>
                <a:cs typeface="맑은 고딕"/>
              </a:rPr>
              <a:t>이론값과 맞는지 본다</a:t>
            </a:r>
          </a:p>
        </p:txBody>
      </p:sp>
      <p:sp>
        <p:nvSpPr>
          <p:cNvPr id="52" name="TextBox 51"/>
          <p:cNvSpPr txBox="1"/>
          <p:nvPr/>
        </p:nvSpPr>
        <p:spPr>
          <a:xfrm>
            <a:off x="9390888" y="4489704"/>
            <a:ext cx="1956816" cy="237744"/>
          </a:xfrm>
          <a:prstGeom prst="rect">
            <a:avLst/>
          </a:prstGeom>
          <a:noFill/>
        </p:spPr>
        <p:txBody>
          <a:bodyPr wrap="square" anchor="ctr" lIns="0" tIns="0" rIns="0" bIns="0">
            <a:noAutofit/>
          </a:bodyPr>
          <a:lstStyle/>
          <a:p>
            <a:pPr algn="l">
              <a:lnSpc>
                <a:spcPct val="115000"/>
              </a:lnSpc>
              <a:spcAft>
                <a:spcPts val="0"/>
              </a:spcAft>
            </a:pPr>
            <a:r>
              <a:rPr sz="1000" b="0" i="0" lang="ko-KR" altLang="en-US">
                <a:solidFill>
                  <a:srgbClr val="C7D0E2"/>
                </a:solidFill>
                <a:latin typeface="Arial"/>
                <a:ea typeface="맑은 고딕"/>
                <a:cs typeface="Arial"/>
              </a:rPr>
              <a:t>6.2 ~ 6.4</a:t>
            </a:r>
          </a:p>
        </p:txBody>
      </p:sp>
      <p:sp>
        <p:nvSpPr>
          <p:cNvPr id="53" name="Rounded Rectangle 52"/>
          <p:cNvSpPr/>
          <p:nvPr/>
        </p:nvSpPr>
        <p:spPr>
          <a:xfrm>
            <a:off x="640080" y="5349240"/>
            <a:ext cx="10908792" cy="585216"/>
          </a:xfrm>
          <a:prstGeom prst="roundRect">
            <a:avLst>
              <a:gd name="adj" fmla="val 18000"/>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68680" y="5349240"/>
            <a:ext cx="10451592" cy="585216"/>
          </a:xfrm>
          <a:prstGeom prst="rect">
            <a:avLst/>
          </a:prstGeom>
          <a:noFill/>
        </p:spPr>
        <p:txBody>
          <a:bodyPr wrap="square" anchor="ctr" lIns="0" tIns="0" rIns="0" bIns="0">
            <a:noAutofit/>
          </a:bodyPr>
          <a:lstStyle/>
          <a:p>
            <a:pPr algn="l">
              <a:lnSpc>
                <a:spcPct val="115000"/>
              </a:lnSpc>
              <a:spcAft>
                <a:spcPts val="0"/>
              </a:spcAft>
            </a:pPr>
            <a:r>
              <a:rPr sz="1300" b="1" i="0" lang="ko-KR" altLang="en-US">
                <a:solidFill>
                  <a:srgbClr val="2563EB"/>
                </a:solidFill>
                <a:latin typeface="맑은 고딕"/>
                <a:ea typeface="맑은 고딕"/>
                <a:cs typeface="맑은 고딕"/>
              </a:rPr>
              <a:t>반복</a:t>
            </a:r>
            <a:r>
              <a:rPr sz="1300" b="0" i="0" lang="ko-KR" altLang="en-US">
                <a:solidFill>
                  <a:srgbClr val="1B2740"/>
                </a:solidFill>
                <a:latin typeface="맑은 고딕"/>
                <a:ea typeface="맑은 고딕"/>
                <a:cs typeface="맑은 고딕"/>
              </a:rPr>
              <a:t>    0.1초마다 한 번 (1 스캔),  60초 동안 600번.   표적 5개는 스캔마다 0.1초씩 움직인다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01. 플롯</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1.1 플롯은 레이다가 표적을 한 번 잰 결과입니다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4</a:t>
            </a:r>
          </a:p>
        </p:txBody>
      </p:sp>
      <p:sp>
        <p:nvSpPr>
          <p:cNvPr id="7" name="TextBox 6"/>
          <p:cNvSpPr txBox="1"/>
          <p:nvPr/>
        </p:nvSpPr>
        <p:spPr>
          <a:xfrm>
            <a:off x="640080" y="1965960"/>
            <a:ext cx="7315200"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레이다 처리 흐름에서의 위치</a:t>
            </a:r>
          </a:p>
        </p:txBody>
      </p:sp>
      <p:sp>
        <p:nvSpPr>
          <p:cNvPr id="8" name="Rectangle 7"/>
          <p:cNvSpPr/>
          <p:nvPr/>
        </p:nvSpPr>
        <p:spPr>
          <a:xfrm>
            <a:off x="640080" y="2304288"/>
            <a:ext cx="2452878" cy="749808"/>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19" y="2340864"/>
            <a:ext cx="2269998" cy="347472"/>
          </a:xfrm>
          <a:prstGeom prst="rect">
            <a:avLst/>
          </a:prstGeom>
          <a:noFill/>
        </p:spPr>
        <p:txBody>
          <a:bodyPr wrap="square" anchor="ctr" lIns="0" tIns="0" rIns="0" bIns="0">
            <a:noAutofit/>
          </a:bodyPr>
          <a:lstStyle/>
          <a:p>
            <a:pPr algn="ctr">
              <a:lnSpc>
                <a:spcPct val="115000"/>
              </a:lnSpc>
              <a:spcAft>
                <a:spcPts val="0"/>
              </a:spcAft>
            </a:pPr>
            <a:r>
              <a:rPr sz="1350" b="1" i="0" lang="ko-KR" altLang="en-US">
                <a:solidFill>
                  <a:srgbClr val="1B2740"/>
                </a:solidFill>
                <a:latin typeface="맑은 고딕"/>
                <a:ea typeface="맑은 고딕"/>
                <a:cs typeface="맑은 고딕"/>
              </a:rPr>
              <a:t>표적 궤적 모의</a:t>
            </a:r>
          </a:p>
        </p:txBody>
      </p:sp>
      <p:sp>
        <p:nvSpPr>
          <p:cNvPr id="10" name="TextBox 9"/>
          <p:cNvSpPr txBox="1"/>
          <p:nvPr/>
        </p:nvSpPr>
        <p:spPr>
          <a:xfrm>
            <a:off x="731519" y="2688336"/>
            <a:ext cx="2269998" cy="292608"/>
          </a:xfrm>
          <a:prstGeom prst="rect">
            <a:avLst/>
          </a:prstGeom>
          <a:noFill/>
        </p:spPr>
        <p:txBody>
          <a:bodyPr wrap="square" anchor="ctr" lIns="0" tIns="0" rIns="0" bIns="0">
            <a:noAutofit/>
          </a:bodyPr>
          <a:lstStyle/>
          <a:p>
            <a:pPr algn="ctr">
              <a:lnSpc>
                <a:spcPct val="115000"/>
              </a:lnSpc>
              <a:spcAft>
                <a:spcPts val="0"/>
              </a:spcAft>
            </a:pPr>
            <a:r>
              <a:rPr sz="1100" b="0" i="0" lang="ko-KR" altLang="en-US">
                <a:solidFill>
                  <a:srgbClr val="4A5A7A"/>
                </a:solidFill>
                <a:latin typeface="맑은 고딕"/>
                <a:ea typeface="맑은 고딕"/>
                <a:cs typeface="맑은 고딕"/>
              </a:rPr>
              <a:t>참값: 시각별 위치 (과제 3)</a:t>
            </a:r>
          </a:p>
        </p:txBody>
      </p:sp>
      <p:cxnSp>
        <p:nvCxnSpPr>
          <p:cNvPr id="11" name="Connector 10"/>
          <p:cNvCxnSpPr/>
          <p:nvPr/>
        </p:nvCxnSpPr>
        <p:spPr>
          <a:xfrm>
            <a:off x="3147822" y="2679192"/>
            <a:ext cx="256032"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458718" y="2304288"/>
            <a:ext cx="2452878" cy="749808"/>
          </a:xfrm>
          <a:prstGeom prst="rect">
            <a:avLst/>
          </a:prstGeom>
          <a:solidFill>
            <a:srgbClr val="EEF3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50158" y="2340864"/>
            <a:ext cx="2269998" cy="347472"/>
          </a:xfrm>
          <a:prstGeom prst="rect">
            <a:avLst/>
          </a:prstGeom>
          <a:noFill/>
        </p:spPr>
        <p:txBody>
          <a:bodyPr wrap="square" anchor="ctr" lIns="0" tIns="0" rIns="0" bIns="0">
            <a:noAutofit/>
          </a:bodyPr>
          <a:lstStyle/>
          <a:p>
            <a:pPr algn="ctr">
              <a:lnSpc>
                <a:spcPct val="115000"/>
              </a:lnSpc>
              <a:spcAft>
                <a:spcPts val="0"/>
              </a:spcAft>
            </a:pPr>
            <a:r>
              <a:rPr sz="1350" b="1" i="0" lang="ko-KR" altLang="en-US">
                <a:solidFill>
                  <a:srgbClr val="2563EB"/>
                </a:solidFill>
                <a:latin typeface="맑은 고딕"/>
                <a:ea typeface="맑은 고딕"/>
                <a:cs typeface="맑은 고딕"/>
              </a:rPr>
              <a:t>측정 모의  (이번 과제)</a:t>
            </a:r>
          </a:p>
        </p:txBody>
      </p:sp>
      <p:sp>
        <p:nvSpPr>
          <p:cNvPr id="14" name="TextBox 13"/>
          <p:cNvSpPr txBox="1"/>
          <p:nvPr/>
        </p:nvSpPr>
        <p:spPr>
          <a:xfrm>
            <a:off x="3550158" y="2688336"/>
            <a:ext cx="2269998" cy="292608"/>
          </a:xfrm>
          <a:prstGeom prst="rect">
            <a:avLst/>
          </a:prstGeom>
          <a:noFill/>
        </p:spPr>
        <p:txBody>
          <a:bodyPr wrap="square" anchor="ctr" lIns="0" tIns="0" rIns="0" bIns="0">
            <a:noAutofit/>
          </a:bodyPr>
          <a:lstStyle/>
          <a:p>
            <a:pPr algn="ctr">
              <a:lnSpc>
                <a:spcPct val="115000"/>
              </a:lnSpc>
              <a:spcAft>
                <a:spcPts val="0"/>
              </a:spcAft>
            </a:pPr>
            <a:r>
              <a:rPr sz="1100" b="0" i="0" lang="ko-KR" altLang="en-US">
                <a:solidFill>
                  <a:srgbClr val="4A5A7A"/>
                </a:solidFill>
                <a:latin typeface="맑은 고딕"/>
                <a:ea typeface="맑은 고딕"/>
                <a:cs typeface="맑은 고딕"/>
              </a:rPr>
              <a:t>플롯 · 클러터 만들기</a:t>
            </a:r>
          </a:p>
        </p:txBody>
      </p:sp>
      <p:cxnSp>
        <p:nvCxnSpPr>
          <p:cNvPr id="15" name="Connector 14"/>
          <p:cNvCxnSpPr/>
          <p:nvPr/>
        </p:nvCxnSpPr>
        <p:spPr>
          <a:xfrm>
            <a:off x="5966459" y="2679192"/>
            <a:ext cx="256033"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6277356" y="2304288"/>
            <a:ext cx="2452878" cy="749808"/>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8796" y="2340864"/>
            <a:ext cx="2269998" cy="347472"/>
          </a:xfrm>
          <a:prstGeom prst="rect">
            <a:avLst/>
          </a:prstGeom>
          <a:noFill/>
        </p:spPr>
        <p:txBody>
          <a:bodyPr wrap="square" anchor="ctr" lIns="0" tIns="0" rIns="0" bIns="0">
            <a:noAutofit/>
          </a:bodyPr>
          <a:lstStyle/>
          <a:p>
            <a:pPr algn="ctr">
              <a:lnSpc>
                <a:spcPct val="115000"/>
              </a:lnSpc>
              <a:spcAft>
                <a:spcPts val="0"/>
              </a:spcAft>
            </a:pPr>
            <a:r>
              <a:rPr sz="1350" b="1" i="0" lang="ko-KR" altLang="en-US">
                <a:solidFill>
                  <a:srgbClr val="1B2740"/>
                </a:solidFill>
                <a:latin typeface="맑은 고딕"/>
                <a:ea typeface="맑은 고딕"/>
                <a:cs typeface="맑은 고딕"/>
              </a:rPr>
              <a:t>추적 필터</a:t>
            </a:r>
          </a:p>
        </p:txBody>
      </p:sp>
      <p:sp>
        <p:nvSpPr>
          <p:cNvPr id="18" name="TextBox 17"/>
          <p:cNvSpPr txBox="1"/>
          <p:nvPr/>
        </p:nvSpPr>
        <p:spPr>
          <a:xfrm>
            <a:off x="6368796" y="2688336"/>
            <a:ext cx="2269998" cy="292608"/>
          </a:xfrm>
          <a:prstGeom prst="rect">
            <a:avLst/>
          </a:prstGeom>
          <a:noFill/>
        </p:spPr>
        <p:txBody>
          <a:bodyPr wrap="square" anchor="ctr" lIns="0" tIns="0" rIns="0" bIns="0">
            <a:noAutofit/>
          </a:bodyPr>
          <a:lstStyle/>
          <a:p>
            <a:pPr algn="ctr">
              <a:lnSpc>
                <a:spcPct val="115000"/>
              </a:lnSpc>
              <a:spcAft>
                <a:spcPts val="0"/>
              </a:spcAft>
            </a:pPr>
            <a:r>
              <a:rPr sz="1100" b="0" i="0" lang="ko-KR" altLang="en-US">
                <a:solidFill>
                  <a:srgbClr val="4A5A7A"/>
                </a:solidFill>
                <a:latin typeface="맑은 고딕"/>
                <a:ea typeface="맑은 고딕"/>
                <a:cs typeface="맑은 고딕"/>
              </a:rPr>
              <a:t>플롯으로 위치 · 속도 추정</a:t>
            </a:r>
          </a:p>
        </p:txBody>
      </p:sp>
      <p:cxnSp>
        <p:nvCxnSpPr>
          <p:cNvPr id="19" name="Connector 18"/>
          <p:cNvCxnSpPr/>
          <p:nvPr/>
        </p:nvCxnSpPr>
        <p:spPr>
          <a:xfrm>
            <a:off x="8785098" y="2679192"/>
            <a:ext cx="256032"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9095994" y="2304288"/>
            <a:ext cx="2452878" cy="749808"/>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7434" y="2340864"/>
            <a:ext cx="2269998" cy="347472"/>
          </a:xfrm>
          <a:prstGeom prst="rect">
            <a:avLst/>
          </a:prstGeom>
          <a:noFill/>
        </p:spPr>
        <p:txBody>
          <a:bodyPr wrap="square" anchor="ctr" lIns="0" tIns="0" rIns="0" bIns="0">
            <a:noAutofit/>
          </a:bodyPr>
          <a:lstStyle/>
          <a:p>
            <a:pPr algn="ctr">
              <a:lnSpc>
                <a:spcPct val="115000"/>
              </a:lnSpc>
              <a:spcAft>
                <a:spcPts val="0"/>
              </a:spcAft>
            </a:pPr>
            <a:r>
              <a:rPr sz="1350" b="1" i="0" lang="ko-KR" altLang="en-US">
                <a:solidFill>
                  <a:srgbClr val="1B2740"/>
                </a:solidFill>
                <a:latin typeface="맑은 고딕"/>
                <a:ea typeface="맑은 고딕"/>
                <a:cs typeface="맑은 고딕"/>
              </a:rPr>
              <a:t>전시 · 통제</a:t>
            </a:r>
          </a:p>
        </p:txBody>
      </p:sp>
      <p:sp>
        <p:nvSpPr>
          <p:cNvPr id="22" name="TextBox 21"/>
          <p:cNvSpPr txBox="1"/>
          <p:nvPr/>
        </p:nvSpPr>
        <p:spPr>
          <a:xfrm>
            <a:off x="9187434" y="2688336"/>
            <a:ext cx="2269998" cy="292608"/>
          </a:xfrm>
          <a:prstGeom prst="rect">
            <a:avLst/>
          </a:prstGeom>
          <a:noFill/>
        </p:spPr>
        <p:txBody>
          <a:bodyPr wrap="square" anchor="ctr" lIns="0" tIns="0" rIns="0" bIns="0">
            <a:noAutofit/>
          </a:bodyPr>
          <a:lstStyle/>
          <a:p>
            <a:pPr algn="ctr">
              <a:lnSpc>
                <a:spcPct val="115000"/>
              </a:lnSpc>
              <a:spcAft>
                <a:spcPts val="0"/>
              </a:spcAft>
            </a:pPr>
            <a:r>
              <a:rPr sz="1100" b="0" i="0" lang="ko-KR" altLang="en-US">
                <a:solidFill>
                  <a:srgbClr val="4A5A7A"/>
                </a:solidFill>
                <a:latin typeface="맑은 고딕"/>
                <a:ea typeface="맑은 고딕"/>
                <a:cs typeface="맑은 고딕"/>
              </a:rPr>
              <a:t>항적 표시</a:t>
            </a:r>
          </a:p>
        </p:txBody>
      </p:sp>
      <p:sp>
        <p:nvSpPr>
          <p:cNvPr id="23" name="TextBox 22"/>
          <p:cNvSpPr txBox="1"/>
          <p:nvPr/>
        </p:nvSpPr>
        <p:spPr>
          <a:xfrm>
            <a:off x="640080" y="3337560"/>
            <a:ext cx="6400800"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히트  →  플롯  →  트랙</a:t>
            </a:r>
          </a:p>
        </p:txBody>
      </p:sp>
      <p:pic>
        <p:nvPicPr>
          <p:cNvPr id="24" name="Picture 23" descr="image.png"/>
          <p:cNvPicPr>
            <a:picLocks noChangeAspect="1"/>
          </p:cNvPicPr>
          <p:nvPr/>
        </p:nvPicPr>
        <p:blipFill>
          <a:blip r:embed="rId2"/>
          <a:stretch>
            <a:fillRect/>
          </a:stretch>
        </p:blipFill>
        <p:spPr>
          <a:xfrm>
            <a:off x="640080" y="3703320"/>
            <a:ext cx="6400800" cy="1855304"/>
          </a:xfrm>
          <a:prstGeom prst="rect">
            <a:avLst/>
          </a:prstGeom>
        </p:spPr>
      </p:pic>
      <p:sp>
        <p:nvSpPr>
          <p:cNvPr id="25" name="TextBox 24"/>
          <p:cNvSpPr txBox="1"/>
          <p:nvPr/>
        </p:nvSpPr>
        <p:spPr>
          <a:xfrm>
            <a:off x="732434" y="5613488"/>
            <a:ext cx="1645920" cy="310896"/>
          </a:xfrm>
          <a:prstGeom prst="rect">
            <a:avLst/>
          </a:prstGeom>
          <a:noFill/>
        </p:spPr>
        <p:txBody>
          <a:bodyPr wrap="square" anchor="ctr" lIns="0" tIns="0" rIns="0" bIns="0">
            <a:noAutofit/>
          </a:bodyPr>
          <a:lstStyle/>
          <a:p>
            <a:pPr algn="ctr">
              <a:lnSpc>
                <a:spcPct val="115000"/>
              </a:lnSpc>
              <a:spcAft>
                <a:spcPts val="0"/>
              </a:spcAft>
            </a:pPr>
            <a:r>
              <a:rPr sz="1250" b="1" i="0" lang="ko-KR" altLang="en-US">
                <a:solidFill>
                  <a:srgbClr val="2563EB"/>
                </a:solidFill>
                <a:latin typeface="맑은 고딕"/>
                <a:ea typeface="맑은 고딕"/>
                <a:cs typeface="맑은 고딕"/>
              </a:rPr>
              <a:t>히트</a:t>
            </a:r>
          </a:p>
        </p:txBody>
      </p:sp>
      <p:sp>
        <p:nvSpPr>
          <p:cNvPr id="26" name="TextBox 25"/>
          <p:cNvSpPr txBox="1"/>
          <p:nvPr/>
        </p:nvSpPr>
        <p:spPr>
          <a:xfrm>
            <a:off x="3017520" y="5613488"/>
            <a:ext cx="1645920" cy="310896"/>
          </a:xfrm>
          <a:prstGeom prst="rect">
            <a:avLst/>
          </a:prstGeom>
          <a:noFill/>
        </p:spPr>
        <p:txBody>
          <a:bodyPr wrap="square" anchor="ctr" lIns="0" tIns="0" rIns="0" bIns="0">
            <a:noAutofit/>
          </a:bodyPr>
          <a:lstStyle/>
          <a:p>
            <a:pPr algn="ctr">
              <a:lnSpc>
                <a:spcPct val="115000"/>
              </a:lnSpc>
              <a:spcAft>
                <a:spcPts val="0"/>
              </a:spcAft>
            </a:pPr>
            <a:r>
              <a:rPr sz="1250" b="1" i="0" lang="ko-KR" altLang="en-US">
                <a:solidFill>
                  <a:srgbClr val="D97706"/>
                </a:solidFill>
                <a:latin typeface="맑은 고딕"/>
                <a:ea typeface="맑은 고딕"/>
                <a:cs typeface="맑은 고딕"/>
              </a:rPr>
              <a:t>플롯</a:t>
            </a:r>
          </a:p>
        </p:txBody>
      </p:sp>
      <p:sp>
        <p:nvSpPr>
          <p:cNvPr id="27" name="TextBox 26"/>
          <p:cNvSpPr txBox="1"/>
          <p:nvPr/>
        </p:nvSpPr>
        <p:spPr>
          <a:xfrm>
            <a:off x="5302605" y="5613488"/>
            <a:ext cx="1645920" cy="310896"/>
          </a:xfrm>
          <a:prstGeom prst="rect">
            <a:avLst/>
          </a:prstGeom>
          <a:noFill/>
        </p:spPr>
        <p:txBody>
          <a:bodyPr wrap="square" anchor="ctr" lIns="0" tIns="0" rIns="0" bIns="0">
            <a:noAutofit/>
          </a:bodyPr>
          <a:lstStyle/>
          <a:p>
            <a:pPr algn="ctr">
              <a:lnSpc>
                <a:spcPct val="115000"/>
              </a:lnSpc>
              <a:spcAft>
                <a:spcPts val="0"/>
              </a:spcAft>
            </a:pPr>
            <a:r>
              <a:rPr sz="1250" b="1" i="0" lang="ko-KR" altLang="en-US">
                <a:solidFill>
                  <a:srgbClr val="059669"/>
                </a:solidFill>
                <a:latin typeface="맑은 고딕"/>
                <a:ea typeface="맑은 고딕"/>
                <a:cs typeface="맑은 고딕"/>
              </a:rPr>
              <a:t>트랙</a:t>
            </a:r>
          </a:p>
        </p:txBody>
      </p:sp>
      <p:cxnSp>
        <p:nvCxnSpPr>
          <p:cNvPr id="28" name="Connector 27"/>
          <p:cNvCxnSpPr/>
          <p:nvPr/>
        </p:nvCxnSpPr>
        <p:spPr>
          <a:xfrm>
            <a:off x="7360920" y="3337560"/>
            <a:ext cx="418795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406640" y="3337560"/>
            <a:ext cx="731520" cy="694944"/>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2563EB"/>
                </a:solidFill>
                <a:latin typeface="맑은 고딕"/>
                <a:ea typeface="맑은 고딕"/>
                <a:cs typeface="맑은 고딕"/>
              </a:rPr>
              <a:t>히트</a:t>
            </a:r>
          </a:p>
        </p:txBody>
      </p:sp>
      <p:sp>
        <p:nvSpPr>
          <p:cNvPr id="30" name="TextBox 29"/>
          <p:cNvSpPr txBox="1"/>
          <p:nvPr/>
        </p:nvSpPr>
        <p:spPr>
          <a:xfrm>
            <a:off x="8183880" y="3337560"/>
            <a:ext cx="3319272" cy="694944"/>
          </a:xfrm>
          <a:prstGeom prst="rect">
            <a:avLst/>
          </a:prstGeom>
          <a:noFill/>
        </p:spPr>
        <p:txBody>
          <a:bodyPr wrap="square" anchor="ctr" lIns="0" tIns="0" rIns="0" bIns="0">
            <a:noAutofit/>
          </a:bodyPr>
          <a:lstStyle/>
          <a:p>
            <a:pPr algn="l">
              <a:lnSpc>
                <a:spcPct val="112000"/>
              </a:lnSpc>
              <a:spcAft>
                <a:spcPts val="0"/>
              </a:spcAft>
            </a:pPr>
            <a:r>
              <a:rPr sz="1150" b="0" i="0" lang="ko-KR" altLang="en-US">
                <a:solidFill>
                  <a:srgbClr val="1B2740"/>
                </a:solidFill>
                <a:latin typeface="맑은 고딕"/>
                <a:ea typeface="맑은 고딕"/>
                <a:cs typeface="맑은 고딕"/>
              </a:rPr>
              <a:t>문턱을 넘은 칸 하나. 표적 하나가 여러 히트를 낸다</a:t>
            </a:r>
          </a:p>
        </p:txBody>
      </p:sp>
      <p:cxnSp>
        <p:nvCxnSpPr>
          <p:cNvPr id="31" name="Connector 30"/>
          <p:cNvCxnSpPr/>
          <p:nvPr/>
        </p:nvCxnSpPr>
        <p:spPr>
          <a:xfrm>
            <a:off x="7360920" y="4032504"/>
            <a:ext cx="418795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406640" y="4032504"/>
            <a:ext cx="731520" cy="694944"/>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D97706"/>
                </a:solidFill>
                <a:latin typeface="맑은 고딕"/>
                <a:ea typeface="맑은 고딕"/>
                <a:cs typeface="맑은 고딕"/>
              </a:rPr>
              <a:t>플롯</a:t>
            </a:r>
          </a:p>
        </p:txBody>
      </p:sp>
      <p:sp>
        <p:nvSpPr>
          <p:cNvPr id="33" name="TextBox 32"/>
          <p:cNvSpPr txBox="1"/>
          <p:nvPr/>
        </p:nvSpPr>
        <p:spPr>
          <a:xfrm>
            <a:off x="8183880" y="4032504"/>
            <a:ext cx="3319272" cy="694944"/>
          </a:xfrm>
          <a:prstGeom prst="rect">
            <a:avLst/>
          </a:prstGeom>
          <a:noFill/>
        </p:spPr>
        <p:txBody>
          <a:bodyPr wrap="square" anchor="ctr" lIns="0" tIns="0" rIns="0" bIns="0">
            <a:noAutofit/>
          </a:bodyPr>
          <a:lstStyle/>
          <a:p>
            <a:pPr algn="l">
              <a:lnSpc>
                <a:spcPct val="112000"/>
              </a:lnSpc>
              <a:spcAft>
                <a:spcPts val="0"/>
              </a:spcAft>
            </a:pPr>
            <a:r>
              <a:rPr sz="1150" b="0" i="0" lang="ko-KR" altLang="en-US">
                <a:solidFill>
                  <a:srgbClr val="1B2740"/>
                </a:solidFill>
                <a:latin typeface="맑은 고딕"/>
                <a:ea typeface="맑은 고딕"/>
                <a:cs typeface="맑은 고딕"/>
              </a:rPr>
              <a:t>히트를 묶은 대표점. 거리 · 방위각 · 고각을 가진다</a:t>
            </a:r>
          </a:p>
        </p:txBody>
      </p:sp>
      <p:cxnSp>
        <p:nvCxnSpPr>
          <p:cNvPr id="34" name="Connector 33"/>
          <p:cNvCxnSpPr/>
          <p:nvPr/>
        </p:nvCxnSpPr>
        <p:spPr>
          <a:xfrm>
            <a:off x="7360920" y="4727448"/>
            <a:ext cx="418795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406640" y="4727448"/>
            <a:ext cx="731520" cy="694944"/>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059669"/>
                </a:solidFill>
                <a:latin typeface="맑은 고딕"/>
                <a:ea typeface="맑은 고딕"/>
                <a:cs typeface="맑은 고딕"/>
              </a:rPr>
              <a:t>트랙</a:t>
            </a:r>
          </a:p>
        </p:txBody>
      </p:sp>
      <p:sp>
        <p:nvSpPr>
          <p:cNvPr id="36" name="TextBox 35"/>
          <p:cNvSpPr txBox="1"/>
          <p:nvPr/>
        </p:nvSpPr>
        <p:spPr>
          <a:xfrm>
            <a:off x="8183880" y="4727448"/>
            <a:ext cx="3319272" cy="694944"/>
          </a:xfrm>
          <a:prstGeom prst="rect">
            <a:avLst/>
          </a:prstGeom>
          <a:noFill/>
        </p:spPr>
        <p:txBody>
          <a:bodyPr wrap="square" anchor="ctr" lIns="0" tIns="0" rIns="0" bIns="0">
            <a:noAutofit/>
          </a:bodyPr>
          <a:lstStyle/>
          <a:p>
            <a:pPr algn="l">
              <a:lnSpc>
                <a:spcPct val="112000"/>
              </a:lnSpc>
              <a:spcAft>
                <a:spcPts val="0"/>
              </a:spcAft>
            </a:pPr>
            <a:r>
              <a:rPr sz="1150" b="0" i="0" lang="ko-KR" altLang="en-US">
                <a:solidFill>
                  <a:srgbClr val="1B2740"/>
                </a:solidFill>
                <a:latin typeface="맑은 고딕"/>
                <a:ea typeface="맑은 고딕"/>
                <a:cs typeface="맑은 고딕"/>
              </a:rPr>
              <a:t>같은 표적의 플롯을 시간 순서로 이은 궤적</a:t>
            </a:r>
          </a:p>
        </p:txBody>
      </p:sp>
      <p:cxnSp>
        <p:nvCxnSpPr>
          <p:cNvPr id="37" name="Connector 36"/>
          <p:cNvCxnSpPr/>
          <p:nvPr/>
        </p:nvCxnSpPr>
        <p:spPr>
          <a:xfrm>
            <a:off x="7360920" y="5422392"/>
            <a:ext cx="418795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406640" y="5422392"/>
            <a:ext cx="731520" cy="694944"/>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1B2740"/>
                </a:solidFill>
                <a:latin typeface="맑은 고딕"/>
                <a:ea typeface="맑은 고딕"/>
                <a:cs typeface="맑은 고딕"/>
              </a:rPr>
              <a:t>드웰</a:t>
            </a:r>
          </a:p>
        </p:txBody>
      </p:sp>
      <p:sp>
        <p:nvSpPr>
          <p:cNvPr id="39" name="TextBox 38"/>
          <p:cNvSpPr txBox="1"/>
          <p:nvPr/>
        </p:nvSpPr>
        <p:spPr>
          <a:xfrm>
            <a:off x="8183880" y="5422392"/>
            <a:ext cx="3319272" cy="694944"/>
          </a:xfrm>
          <a:prstGeom prst="rect">
            <a:avLst/>
          </a:prstGeom>
          <a:noFill/>
        </p:spPr>
        <p:txBody>
          <a:bodyPr wrap="square" anchor="ctr" lIns="0" tIns="0" rIns="0" bIns="0">
            <a:noAutofit/>
          </a:bodyPr>
          <a:lstStyle/>
          <a:p>
            <a:pPr algn="l">
              <a:lnSpc>
                <a:spcPct val="112000"/>
              </a:lnSpc>
              <a:spcAft>
                <a:spcPts val="0"/>
              </a:spcAft>
            </a:pPr>
            <a:r>
              <a:rPr sz="1150" b="0" i="0" lang="ko-KR" altLang="en-US">
                <a:solidFill>
                  <a:srgbClr val="1B2740"/>
                </a:solidFill>
                <a:latin typeface="맑은 고딕"/>
                <a:ea typeface="맑은 고딕"/>
                <a:cs typeface="맑은 고딕"/>
              </a:rPr>
              <a:t>빔이 한 방향에 머물며 신호를 모으는 시간</a:t>
            </a:r>
          </a:p>
        </p:txBody>
      </p:sp>
      <p:cxnSp>
        <p:nvCxnSpPr>
          <p:cNvPr id="40" name="Connector 39"/>
          <p:cNvCxnSpPr/>
          <p:nvPr/>
        </p:nvCxnSpPr>
        <p:spPr>
          <a:xfrm>
            <a:off x="7360920" y="6117336"/>
            <a:ext cx="418795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01. 플롯</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1.2 실제 레이다는 신호처리 7단계를 거쳐 플롯을 만듭니다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5</a:t>
            </a:r>
          </a:p>
        </p:txBody>
      </p:sp>
      <p:sp>
        <p:nvSpPr>
          <p:cNvPr id="7" name="Rounded Rectangle 6"/>
          <p:cNvSpPr/>
          <p:nvPr/>
        </p:nvSpPr>
        <p:spPr>
          <a:xfrm>
            <a:off x="640080" y="1965960"/>
            <a:ext cx="4602044" cy="384048"/>
          </a:xfrm>
          <a:prstGeom prst="roundRect">
            <a:avLst>
              <a:gd name="adj" fmla="val 18000"/>
            </a:avLst>
          </a:prstGeom>
          <a:solidFill>
            <a:srgbClr val="EE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965960"/>
            <a:ext cx="4492316" cy="384048"/>
          </a:xfrm>
          <a:prstGeom prst="rect">
            <a:avLst/>
          </a:prstGeom>
          <a:noFill/>
        </p:spPr>
        <p:txBody>
          <a:bodyPr wrap="square" anchor="ctr" lIns="0" tIns="0" rIns="0" bIns="0">
            <a:noAutofit/>
          </a:bodyPr>
          <a:lstStyle/>
          <a:p>
            <a:pPr algn="ctr">
              <a:lnSpc>
                <a:spcPct val="110000"/>
              </a:lnSpc>
              <a:spcAft>
                <a:spcPts val="0"/>
              </a:spcAft>
            </a:pPr>
            <a:r>
              <a:rPr sz="1250" b="1" i="0" lang="ko-KR" altLang="en-US">
                <a:solidFill>
                  <a:srgbClr val="2563EB"/>
                </a:solidFill>
                <a:latin typeface="맑은 고딕"/>
                <a:ea typeface="맑은 고딕"/>
                <a:cs typeface="맑은 고딕"/>
              </a:rPr>
              <a:t>① 신호를 다듬고 키운다</a:t>
            </a:r>
          </a:p>
        </p:txBody>
      </p:sp>
      <p:sp>
        <p:nvSpPr>
          <p:cNvPr id="9" name="Rounded Rectangle 8"/>
          <p:cNvSpPr/>
          <p:nvPr/>
        </p:nvSpPr>
        <p:spPr>
          <a:xfrm>
            <a:off x="5370140" y="1965960"/>
            <a:ext cx="3025357" cy="384048"/>
          </a:xfrm>
          <a:prstGeom prst="roundRect">
            <a:avLst>
              <a:gd name="adj" fmla="val 18000"/>
            </a:avLst>
          </a:prstGeom>
          <a:solidFill>
            <a:srgbClr val="FDF1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25004" y="1965960"/>
            <a:ext cx="2915629" cy="384048"/>
          </a:xfrm>
          <a:prstGeom prst="rect">
            <a:avLst/>
          </a:prstGeom>
          <a:noFill/>
        </p:spPr>
        <p:txBody>
          <a:bodyPr wrap="square" anchor="ctr" lIns="0" tIns="0" rIns="0" bIns="0">
            <a:noAutofit/>
          </a:bodyPr>
          <a:lstStyle/>
          <a:p>
            <a:pPr algn="ctr">
              <a:lnSpc>
                <a:spcPct val="110000"/>
              </a:lnSpc>
              <a:spcAft>
                <a:spcPts val="0"/>
              </a:spcAft>
            </a:pPr>
            <a:r>
              <a:rPr sz="1250" b="1" i="0" lang="ko-KR" altLang="en-US">
                <a:solidFill>
                  <a:srgbClr val="D97706"/>
                </a:solidFill>
                <a:latin typeface="맑은 고딕"/>
                <a:ea typeface="맑은 고딕"/>
                <a:cs typeface="맑은 고딕"/>
              </a:rPr>
              <a:t>② 문턱을 넘은 칸을 고른다</a:t>
            </a:r>
          </a:p>
        </p:txBody>
      </p:sp>
      <p:sp>
        <p:nvSpPr>
          <p:cNvPr id="11" name="Rounded Rectangle 10"/>
          <p:cNvSpPr/>
          <p:nvPr/>
        </p:nvSpPr>
        <p:spPr>
          <a:xfrm>
            <a:off x="8523514" y="1965960"/>
            <a:ext cx="3025357" cy="384048"/>
          </a:xfrm>
          <a:prstGeom prst="roundRect">
            <a:avLst>
              <a:gd name="adj" fmla="val 18000"/>
            </a:avLst>
          </a:prstGeom>
          <a:solidFill>
            <a:srgbClr val="E7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78378" y="1965960"/>
            <a:ext cx="2915629" cy="384048"/>
          </a:xfrm>
          <a:prstGeom prst="rect">
            <a:avLst/>
          </a:prstGeom>
          <a:noFill/>
        </p:spPr>
        <p:txBody>
          <a:bodyPr wrap="square" anchor="ctr" lIns="0" tIns="0" rIns="0" bIns="0">
            <a:noAutofit/>
          </a:bodyPr>
          <a:lstStyle/>
          <a:p>
            <a:pPr algn="ctr">
              <a:lnSpc>
                <a:spcPct val="110000"/>
              </a:lnSpc>
              <a:spcAft>
                <a:spcPts val="0"/>
              </a:spcAft>
            </a:pPr>
            <a:r>
              <a:rPr sz="1250" b="1" i="0" lang="ko-KR" altLang="en-US">
                <a:solidFill>
                  <a:srgbClr val="059669"/>
                </a:solidFill>
                <a:latin typeface="맑은 고딕"/>
                <a:ea typeface="맑은 고딕"/>
                <a:cs typeface="맑은 고딕"/>
              </a:rPr>
              <a:t>③ 묶어서 위치를 정한다</a:t>
            </a:r>
          </a:p>
        </p:txBody>
      </p:sp>
      <p:sp>
        <p:nvSpPr>
          <p:cNvPr id="13" name="TextBox 12"/>
          <p:cNvSpPr txBox="1"/>
          <p:nvPr/>
        </p:nvSpPr>
        <p:spPr>
          <a:xfrm>
            <a:off x="640080" y="2450592"/>
            <a:ext cx="1448670" cy="457200"/>
          </a:xfrm>
          <a:prstGeom prst="rect">
            <a:avLst/>
          </a:prstGeom>
          <a:noFill/>
        </p:spPr>
        <p:txBody>
          <a:bodyPr wrap="square" anchor="ctr" lIns="0" tIns="0" rIns="0" bIns="0">
            <a:noAutofit/>
          </a:bodyPr>
          <a:lstStyle/>
          <a:p>
            <a:pPr algn="l">
              <a:lnSpc>
                <a:spcPct val="115000"/>
              </a:lnSpc>
              <a:spcAft>
                <a:spcPts val="0"/>
              </a:spcAft>
            </a:pPr>
            <a:r>
              <a:rPr sz="1200" b="1" i="0" lang="ko-KR" altLang="en-US">
                <a:solidFill>
                  <a:srgbClr val="2563EB"/>
                </a:solidFill>
                <a:latin typeface="Arial"/>
                <a:ea typeface="맑은 고딕"/>
                <a:cs typeface="Arial"/>
              </a:rPr>
              <a:t>1  </a:t>
            </a:r>
            <a:r>
              <a:rPr sz="1200" b="1" i="0" lang="ko-KR" altLang="en-US">
                <a:solidFill>
                  <a:srgbClr val="1B2740"/>
                </a:solidFill>
                <a:latin typeface="맑은 고딕"/>
                <a:ea typeface="맑은 고딕"/>
                <a:cs typeface="맑은 고딕"/>
              </a:rPr>
              <a:t>IQ 데이터</a:t>
            </a:r>
          </a:p>
        </p:txBody>
      </p:sp>
      <p:pic>
        <p:nvPicPr>
          <p:cNvPr id="14" name="Picture 13" descr="image.png"/>
          <p:cNvPicPr>
            <a:picLocks noChangeAspect="1"/>
          </p:cNvPicPr>
          <p:nvPr/>
        </p:nvPicPr>
        <p:blipFill>
          <a:blip r:embed="rId2"/>
          <a:stretch>
            <a:fillRect/>
          </a:stretch>
        </p:blipFill>
        <p:spPr>
          <a:xfrm>
            <a:off x="640080" y="2944368"/>
            <a:ext cx="1448670" cy="943002"/>
          </a:xfrm>
          <a:prstGeom prst="rect">
            <a:avLst/>
          </a:prstGeom>
        </p:spPr>
      </p:pic>
      <p:sp>
        <p:nvSpPr>
          <p:cNvPr id="15" name="TextBox 14"/>
          <p:cNvSpPr txBox="1"/>
          <p:nvPr/>
        </p:nvSpPr>
        <p:spPr>
          <a:xfrm>
            <a:off x="640080" y="3959352"/>
            <a:ext cx="1448670" cy="603504"/>
          </a:xfrm>
          <a:prstGeom prst="rect">
            <a:avLst/>
          </a:prstGeom>
          <a:noFill/>
        </p:spPr>
        <p:txBody>
          <a:bodyPr wrap="square" anchor="t" lIns="0" tIns="0" rIns="0" bIns="0">
            <a:noAutofit/>
          </a:bodyPr>
          <a:lstStyle/>
          <a:p>
            <a:pPr algn="l">
              <a:lnSpc>
                <a:spcPct val="110000"/>
              </a:lnSpc>
              <a:spcAft>
                <a:spcPts val="0"/>
              </a:spcAft>
            </a:pPr>
            <a:r>
              <a:rPr sz="1100" b="0" i="0" lang="ko-KR" altLang="en-US">
                <a:solidFill>
                  <a:srgbClr val="4A5A7A"/>
                </a:solidFill>
                <a:latin typeface="맑은 고딕"/>
                <a:ea typeface="맑은 고딕"/>
                <a:cs typeface="맑은 고딕"/>
              </a:rPr>
              <a:t>수신 신호를 복소수 숫자 (I, Q) 로</a:t>
            </a:r>
          </a:p>
        </p:txBody>
      </p:sp>
      <p:sp>
        <p:nvSpPr>
          <p:cNvPr id="16" name="TextBox 15"/>
          <p:cNvSpPr txBox="1"/>
          <p:nvPr/>
        </p:nvSpPr>
        <p:spPr>
          <a:xfrm>
            <a:off x="2216766" y="2450592"/>
            <a:ext cx="1448670" cy="457200"/>
          </a:xfrm>
          <a:prstGeom prst="rect">
            <a:avLst/>
          </a:prstGeom>
          <a:noFill/>
        </p:spPr>
        <p:txBody>
          <a:bodyPr wrap="square" anchor="ctr" lIns="0" tIns="0" rIns="0" bIns="0">
            <a:noAutofit/>
          </a:bodyPr>
          <a:lstStyle/>
          <a:p>
            <a:pPr algn="l">
              <a:lnSpc>
                <a:spcPct val="115000"/>
              </a:lnSpc>
              <a:spcAft>
                <a:spcPts val="0"/>
              </a:spcAft>
            </a:pPr>
            <a:r>
              <a:rPr sz="1200" b="1" i="0" lang="ko-KR" altLang="en-US">
                <a:solidFill>
                  <a:srgbClr val="2563EB"/>
                </a:solidFill>
                <a:latin typeface="Arial"/>
                <a:ea typeface="맑은 고딕"/>
                <a:cs typeface="Arial"/>
              </a:rPr>
              <a:t>2  </a:t>
            </a:r>
            <a:r>
              <a:rPr sz="1200" b="1" i="0" lang="ko-KR" altLang="en-US">
                <a:solidFill>
                  <a:srgbClr val="1B2740"/>
                </a:solidFill>
                <a:latin typeface="맑은 고딕"/>
                <a:ea typeface="맑은 고딕"/>
                <a:cs typeface="맑은 고딕"/>
              </a:rPr>
              <a:t>펄스압축</a:t>
            </a:r>
          </a:p>
        </p:txBody>
      </p:sp>
      <p:pic>
        <p:nvPicPr>
          <p:cNvPr id="17" name="Picture 16" descr="image.png"/>
          <p:cNvPicPr>
            <a:picLocks noChangeAspect="1"/>
          </p:cNvPicPr>
          <p:nvPr/>
        </p:nvPicPr>
        <p:blipFill>
          <a:blip r:embed="rId3"/>
          <a:stretch>
            <a:fillRect/>
          </a:stretch>
        </p:blipFill>
        <p:spPr>
          <a:xfrm>
            <a:off x="2216766" y="2944368"/>
            <a:ext cx="1448670" cy="943002"/>
          </a:xfrm>
          <a:prstGeom prst="rect">
            <a:avLst/>
          </a:prstGeom>
        </p:spPr>
      </p:pic>
      <p:sp>
        <p:nvSpPr>
          <p:cNvPr id="18" name="TextBox 17"/>
          <p:cNvSpPr txBox="1"/>
          <p:nvPr/>
        </p:nvSpPr>
        <p:spPr>
          <a:xfrm>
            <a:off x="2216766" y="3959352"/>
            <a:ext cx="1448670" cy="603504"/>
          </a:xfrm>
          <a:prstGeom prst="rect">
            <a:avLst/>
          </a:prstGeom>
          <a:noFill/>
        </p:spPr>
        <p:txBody>
          <a:bodyPr wrap="square" anchor="t" lIns="0" tIns="0" rIns="0" bIns="0">
            <a:noAutofit/>
          </a:bodyPr>
          <a:lstStyle/>
          <a:p>
            <a:pPr algn="l">
              <a:lnSpc>
                <a:spcPct val="110000"/>
              </a:lnSpc>
              <a:spcAft>
                <a:spcPts val="0"/>
              </a:spcAft>
            </a:pPr>
            <a:r>
              <a:rPr sz="1100" b="0" i="0" lang="ko-KR" altLang="en-US">
                <a:solidFill>
                  <a:srgbClr val="4A5A7A"/>
                </a:solidFill>
                <a:latin typeface="맑은 고딕"/>
                <a:ea typeface="맑은 고딕"/>
                <a:cs typeface="맑은 고딕"/>
              </a:rPr>
              <a:t>긴 펄스를 짧고 뾰족하게</a:t>
            </a:r>
          </a:p>
        </p:txBody>
      </p:sp>
      <p:sp>
        <p:nvSpPr>
          <p:cNvPr id="19" name="TextBox 18"/>
          <p:cNvSpPr txBox="1"/>
          <p:nvPr/>
        </p:nvSpPr>
        <p:spPr>
          <a:xfrm>
            <a:off x="3793453" y="2450592"/>
            <a:ext cx="1448670" cy="457200"/>
          </a:xfrm>
          <a:prstGeom prst="rect">
            <a:avLst/>
          </a:prstGeom>
          <a:noFill/>
        </p:spPr>
        <p:txBody>
          <a:bodyPr wrap="square" anchor="ctr" lIns="0" tIns="0" rIns="0" bIns="0">
            <a:noAutofit/>
          </a:bodyPr>
          <a:lstStyle/>
          <a:p>
            <a:pPr algn="l">
              <a:lnSpc>
                <a:spcPct val="115000"/>
              </a:lnSpc>
              <a:spcAft>
                <a:spcPts val="0"/>
              </a:spcAft>
            </a:pPr>
            <a:r>
              <a:rPr sz="1200" b="1" i="0" lang="ko-KR" altLang="en-US">
                <a:solidFill>
                  <a:srgbClr val="2563EB"/>
                </a:solidFill>
                <a:latin typeface="Arial"/>
                <a:ea typeface="맑은 고딕"/>
                <a:cs typeface="Arial"/>
              </a:rPr>
              <a:t>3  </a:t>
            </a:r>
            <a:r>
              <a:rPr sz="1200" b="1" i="0" lang="ko-KR" altLang="en-US">
                <a:solidFill>
                  <a:srgbClr val="1B2740"/>
                </a:solidFill>
                <a:latin typeface="맑은 고딕"/>
                <a:ea typeface="맑은 고딕"/>
                <a:cs typeface="맑은 고딕"/>
              </a:rPr>
              <a:t>도플러 처리</a:t>
            </a:r>
          </a:p>
        </p:txBody>
      </p:sp>
      <p:pic>
        <p:nvPicPr>
          <p:cNvPr id="20" name="Picture 19" descr="image.png"/>
          <p:cNvPicPr>
            <a:picLocks noChangeAspect="1"/>
          </p:cNvPicPr>
          <p:nvPr/>
        </p:nvPicPr>
        <p:blipFill>
          <a:blip r:embed="rId4"/>
          <a:stretch>
            <a:fillRect/>
          </a:stretch>
        </p:blipFill>
        <p:spPr>
          <a:xfrm>
            <a:off x="3793453" y="2944368"/>
            <a:ext cx="1448670" cy="943002"/>
          </a:xfrm>
          <a:prstGeom prst="rect">
            <a:avLst/>
          </a:prstGeom>
        </p:spPr>
      </p:pic>
      <p:sp>
        <p:nvSpPr>
          <p:cNvPr id="21" name="TextBox 20"/>
          <p:cNvSpPr txBox="1"/>
          <p:nvPr/>
        </p:nvSpPr>
        <p:spPr>
          <a:xfrm>
            <a:off x="3793453" y="3959352"/>
            <a:ext cx="1448670" cy="603504"/>
          </a:xfrm>
          <a:prstGeom prst="rect">
            <a:avLst/>
          </a:prstGeom>
          <a:noFill/>
        </p:spPr>
        <p:txBody>
          <a:bodyPr wrap="square" anchor="t" lIns="0" tIns="0" rIns="0" bIns="0">
            <a:noAutofit/>
          </a:bodyPr>
          <a:lstStyle/>
          <a:p>
            <a:pPr algn="l">
              <a:lnSpc>
                <a:spcPct val="110000"/>
              </a:lnSpc>
              <a:spcAft>
                <a:spcPts val="0"/>
              </a:spcAft>
            </a:pPr>
            <a:r>
              <a:rPr sz="1100" b="0" i="0" lang="ko-KR" altLang="en-US">
                <a:solidFill>
                  <a:srgbClr val="4A5A7A"/>
                </a:solidFill>
                <a:latin typeface="맑은 고딕"/>
                <a:ea typeface="맑은 고딕"/>
                <a:cs typeface="맑은 고딕"/>
              </a:rPr>
              <a:t>속도별로 나눠 멈춘 클러터를 거름</a:t>
            </a:r>
          </a:p>
        </p:txBody>
      </p:sp>
      <p:sp>
        <p:nvSpPr>
          <p:cNvPr id="22" name="TextBox 21"/>
          <p:cNvSpPr txBox="1"/>
          <p:nvPr/>
        </p:nvSpPr>
        <p:spPr>
          <a:xfrm>
            <a:off x="5370140" y="2450592"/>
            <a:ext cx="1448670" cy="457200"/>
          </a:xfrm>
          <a:prstGeom prst="rect">
            <a:avLst/>
          </a:prstGeom>
          <a:noFill/>
        </p:spPr>
        <p:txBody>
          <a:bodyPr wrap="square" anchor="ctr" lIns="0" tIns="0" rIns="0" bIns="0">
            <a:noAutofit/>
          </a:bodyPr>
          <a:lstStyle/>
          <a:p>
            <a:pPr algn="l">
              <a:lnSpc>
                <a:spcPct val="115000"/>
              </a:lnSpc>
              <a:spcAft>
                <a:spcPts val="0"/>
              </a:spcAft>
            </a:pPr>
            <a:r>
              <a:rPr sz="1200" b="1" i="0" lang="ko-KR" altLang="en-US">
                <a:solidFill>
                  <a:srgbClr val="D97706"/>
                </a:solidFill>
                <a:latin typeface="Arial"/>
                <a:ea typeface="맑은 고딕"/>
                <a:cs typeface="Arial"/>
              </a:rPr>
              <a:t>4  </a:t>
            </a:r>
            <a:r>
              <a:rPr sz="1200" b="1" i="0" lang="ko-KR" altLang="en-US">
                <a:solidFill>
                  <a:srgbClr val="1B2740"/>
                </a:solidFill>
                <a:latin typeface="맑은 고딕"/>
                <a:ea typeface="맑은 고딕"/>
                <a:cs typeface="맑은 고딕"/>
              </a:rPr>
              <a:t>CFAR</a:t>
            </a:r>
          </a:p>
        </p:txBody>
      </p:sp>
      <p:pic>
        <p:nvPicPr>
          <p:cNvPr id="23" name="Picture 22" descr="image.png"/>
          <p:cNvPicPr>
            <a:picLocks noChangeAspect="1"/>
          </p:cNvPicPr>
          <p:nvPr/>
        </p:nvPicPr>
        <p:blipFill>
          <a:blip r:embed="rId5"/>
          <a:stretch>
            <a:fillRect/>
          </a:stretch>
        </p:blipFill>
        <p:spPr>
          <a:xfrm>
            <a:off x="5370140" y="2944368"/>
            <a:ext cx="1448670" cy="943002"/>
          </a:xfrm>
          <a:prstGeom prst="rect">
            <a:avLst/>
          </a:prstGeom>
        </p:spPr>
      </p:pic>
      <p:sp>
        <p:nvSpPr>
          <p:cNvPr id="24" name="TextBox 23"/>
          <p:cNvSpPr txBox="1"/>
          <p:nvPr/>
        </p:nvSpPr>
        <p:spPr>
          <a:xfrm>
            <a:off x="5370140" y="3959352"/>
            <a:ext cx="1448670" cy="603504"/>
          </a:xfrm>
          <a:prstGeom prst="rect">
            <a:avLst/>
          </a:prstGeom>
          <a:noFill/>
        </p:spPr>
        <p:txBody>
          <a:bodyPr wrap="square" anchor="t" lIns="0" tIns="0" rIns="0" bIns="0">
            <a:noAutofit/>
          </a:bodyPr>
          <a:lstStyle/>
          <a:p>
            <a:pPr algn="l">
              <a:lnSpc>
                <a:spcPct val="110000"/>
              </a:lnSpc>
              <a:spcAft>
                <a:spcPts val="0"/>
              </a:spcAft>
            </a:pPr>
            <a:r>
              <a:rPr sz="1100" b="0" i="0" lang="ko-KR" altLang="en-US">
                <a:solidFill>
                  <a:srgbClr val="4A5A7A"/>
                </a:solidFill>
                <a:latin typeface="맑은 고딕"/>
                <a:ea typeface="맑은 고딕"/>
                <a:cs typeface="맑은 고딕"/>
              </a:rPr>
              <a:t>주변 잡음을 보고 문턱을 자동으로</a:t>
            </a:r>
          </a:p>
        </p:txBody>
      </p:sp>
      <p:sp>
        <p:nvSpPr>
          <p:cNvPr id="25" name="TextBox 24"/>
          <p:cNvSpPr txBox="1"/>
          <p:nvPr/>
        </p:nvSpPr>
        <p:spPr>
          <a:xfrm>
            <a:off x="6946827" y="2450592"/>
            <a:ext cx="1448670" cy="457200"/>
          </a:xfrm>
          <a:prstGeom prst="rect">
            <a:avLst/>
          </a:prstGeom>
          <a:noFill/>
        </p:spPr>
        <p:txBody>
          <a:bodyPr wrap="square" anchor="ctr" lIns="0" tIns="0" rIns="0" bIns="0">
            <a:noAutofit/>
          </a:bodyPr>
          <a:lstStyle/>
          <a:p>
            <a:pPr algn="l">
              <a:lnSpc>
                <a:spcPct val="115000"/>
              </a:lnSpc>
              <a:spcAft>
                <a:spcPts val="0"/>
              </a:spcAft>
            </a:pPr>
            <a:r>
              <a:rPr sz="1200" b="1" i="0" lang="ko-KR" altLang="en-US">
                <a:solidFill>
                  <a:srgbClr val="D97706"/>
                </a:solidFill>
                <a:latin typeface="Arial"/>
                <a:ea typeface="맑은 고딕"/>
                <a:cs typeface="Arial"/>
              </a:rPr>
              <a:t>5  </a:t>
            </a:r>
            <a:r>
              <a:rPr sz="1200" b="1" i="0" lang="ko-KR" altLang="en-US">
                <a:solidFill>
                  <a:srgbClr val="1B2740"/>
                </a:solidFill>
                <a:latin typeface="맑은 고딕"/>
                <a:ea typeface="맑은 고딕"/>
                <a:cs typeface="맑은 고딕"/>
              </a:rPr>
              <a:t>Hit 추출</a:t>
            </a:r>
          </a:p>
        </p:txBody>
      </p:sp>
      <p:pic>
        <p:nvPicPr>
          <p:cNvPr id="26" name="Picture 25" descr="image.png"/>
          <p:cNvPicPr>
            <a:picLocks noChangeAspect="1"/>
          </p:cNvPicPr>
          <p:nvPr/>
        </p:nvPicPr>
        <p:blipFill>
          <a:blip r:embed="rId6"/>
          <a:stretch>
            <a:fillRect/>
          </a:stretch>
        </p:blipFill>
        <p:spPr>
          <a:xfrm>
            <a:off x="6946827" y="2944368"/>
            <a:ext cx="1448670" cy="943002"/>
          </a:xfrm>
          <a:prstGeom prst="rect">
            <a:avLst/>
          </a:prstGeom>
        </p:spPr>
      </p:pic>
      <p:sp>
        <p:nvSpPr>
          <p:cNvPr id="27" name="TextBox 26"/>
          <p:cNvSpPr txBox="1"/>
          <p:nvPr/>
        </p:nvSpPr>
        <p:spPr>
          <a:xfrm>
            <a:off x="6946827" y="3959352"/>
            <a:ext cx="1448670" cy="603504"/>
          </a:xfrm>
          <a:prstGeom prst="rect">
            <a:avLst/>
          </a:prstGeom>
          <a:noFill/>
        </p:spPr>
        <p:txBody>
          <a:bodyPr wrap="square" anchor="t" lIns="0" tIns="0" rIns="0" bIns="0">
            <a:noAutofit/>
          </a:bodyPr>
          <a:lstStyle/>
          <a:p>
            <a:pPr algn="l">
              <a:lnSpc>
                <a:spcPct val="110000"/>
              </a:lnSpc>
              <a:spcAft>
                <a:spcPts val="0"/>
              </a:spcAft>
            </a:pPr>
            <a:r>
              <a:rPr sz="1100" b="0" i="0" lang="ko-KR" altLang="en-US">
                <a:solidFill>
                  <a:srgbClr val="4A5A7A"/>
                </a:solidFill>
                <a:latin typeface="맑은 고딕"/>
                <a:ea typeface="맑은 고딕"/>
                <a:cs typeface="맑은 고딕"/>
              </a:rPr>
              <a:t>문턱을 넘은 칸 (히트) 고르기</a:t>
            </a:r>
          </a:p>
        </p:txBody>
      </p:sp>
      <p:sp>
        <p:nvSpPr>
          <p:cNvPr id="28" name="TextBox 27"/>
          <p:cNvSpPr txBox="1"/>
          <p:nvPr/>
        </p:nvSpPr>
        <p:spPr>
          <a:xfrm>
            <a:off x="8523514" y="2450592"/>
            <a:ext cx="1448670" cy="457200"/>
          </a:xfrm>
          <a:prstGeom prst="rect">
            <a:avLst/>
          </a:prstGeom>
          <a:noFill/>
        </p:spPr>
        <p:txBody>
          <a:bodyPr wrap="square" anchor="ctr" lIns="0" tIns="0" rIns="0" bIns="0">
            <a:noAutofit/>
          </a:bodyPr>
          <a:lstStyle/>
          <a:p>
            <a:pPr algn="l">
              <a:lnSpc>
                <a:spcPct val="115000"/>
              </a:lnSpc>
              <a:spcAft>
                <a:spcPts val="0"/>
              </a:spcAft>
            </a:pPr>
            <a:r>
              <a:rPr sz="1200" b="1" i="0" lang="ko-KR" altLang="en-US">
                <a:solidFill>
                  <a:srgbClr val="059669"/>
                </a:solidFill>
                <a:latin typeface="Arial"/>
                <a:ea typeface="맑은 고딕"/>
                <a:cs typeface="Arial"/>
              </a:rPr>
              <a:t>6  </a:t>
            </a:r>
            <a:r>
              <a:rPr sz="1200" b="1" i="0" lang="ko-KR" altLang="en-US">
                <a:solidFill>
                  <a:srgbClr val="1B2740"/>
                </a:solidFill>
                <a:latin typeface="맑은 고딕"/>
                <a:ea typeface="맑은 고딕"/>
                <a:cs typeface="맑은 고딕"/>
              </a:rPr>
              <a:t>Hit 클러스터링</a:t>
            </a:r>
          </a:p>
        </p:txBody>
      </p:sp>
      <p:pic>
        <p:nvPicPr>
          <p:cNvPr id="29" name="Picture 28" descr="image.png"/>
          <p:cNvPicPr>
            <a:picLocks noChangeAspect="1"/>
          </p:cNvPicPr>
          <p:nvPr/>
        </p:nvPicPr>
        <p:blipFill>
          <a:blip r:embed="rId7"/>
          <a:stretch>
            <a:fillRect/>
          </a:stretch>
        </p:blipFill>
        <p:spPr>
          <a:xfrm>
            <a:off x="8523514" y="2944368"/>
            <a:ext cx="1448670" cy="943002"/>
          </a:xfrm>
          <a:prstGeom prst="rect">
            <a:avLst/>
          </a:prstGeom>
        </p:spPr>
      </p:pic>
      <p:sp>
        <p:nvSpPr>
          <p:cNvPr id="30" name="TextBox 29"/>
          <p:cNvSpPr txBox="1"/>
          <p:nvPr/>
        </p:nvSpPr>
        <p:spPr>
          <a:xfrm>
            <a:off x="8523514" y="3959352"/>
            <a:ext cx="1448670" cy="603504"/>
          </a:xfrm>
          <a:prstGeom prst="rect">
            <a:avLst/>
          </a:prstGeom>
          <a:noFill/>
        </p:spPr>
        <p:txBody>
          <a:bodyPr wrap="square" anchor="t" lIns="0" tIns="0" rIns="0" bIns="0">
            <a:noAutofit/>
          </a:bodyPr>
          <a:lstStyle/>
          <a:p>
            <a:pPr algn="l">
              <a:lnSpc>
                <a:spcPct val="110000"/>
              </a:lnSpc>
              <a:spcAft>
                <a:spcPts val="0"/>
              </a:spcAft>
            </a:pPr>
            <a:r>
              <a:rPr sz="1100" b="0" i="0" lang="ko-KR" altLang="en-US">
                <a:solidFill>
                  <a:srgbClr val="4A5A7A"/>
                </a:solidFill>
                <a:latin typeface="맑은 고딕"/>
                <a:ea typeface="맑은 고딕"/>
                <a:cs typeface="맑은 고딕"/>
              </a:rPr>
              <a:t>붙은 히트를 하나로 묶기</a:t>
            </a:r>
          </a:p>
        </p:txBody>
      </p:sp>
      <p:sp>
        <p:nvSpPr>
          <p:cNvPr id="31" name="TextBox 30"/>
          <p:cNvSpPr txBox="1"/>
          <p:nvPr/>
        </p:nvSpPr>
        <p:spPr>
          <a:xfrm>
            <a:off x="10100201" y="2450592"/>
            <a:ext cx="1448670" cy="457200"/>
          </a:xfrm>
          <a:prstGeom prst="rect">
            <a:avLst/>
          </a:prstGeom>
          <a:noFill/>
        </p:spPr>
        <p:txBody>
          <a:bodyPr wrap="square" anchor="ctr" lIns="0" tIns="0" rIns="0" bIns="0">
            <a:noAutofit/>
          </a:bodyPr>
          <a:lstStyle/>
          <a:p>
            <a:pPr algn="l">
              <a:lnSpc>
                <a:spcPct val="115000"/>
              </a:lnSpc>
              <a:spcAft>
                <a:spcPts val="0"/>
              </a:spcAft>
            </a:pPr>
            <a:r>
              <a:rPr sz="1200" b="1" i="0" lang="ko-KR" altLang="en-US">
                <a:solidFill>
                  <a:srgbClr val="059669"/>
                </a:solidFill>
                <a:latin typeface="Arial"/>
                <a:ea typeface="맑은 고딕"/>
                <a:cs typeface="Arial"/>
              </a:rPr>
              <a:t>7  </a:t>
            </a:r>
            <a:r>
              <a:rPr sz="1200" b="1" i="0" lang="ko-KR" altLang="en-US">
                <a:solidFill>
                  <a:srgbClr val="1B2740"/>
                </a:solidFill>
                <a:latin typeface="맑은 고딕"/>
                <a:ea typeface="맑은 고딕"/>
                <a:cs typeface="맑은 고딕"/>
              </a:rPr>
              <a:t>모노펄스</a:t>
            </a:r>
          </a:p>
        </p:txBody>
      </p:sp>
      <p:pic>
        <p:nvPicPr>
          <p:cNvPr id="32" name="Picture 31" descr="image.png"/>
          <p:cNvPicPr>
            <a:picLocks noChangeAspect="1"/>
          </p:cNvPicPr>
          <p:nvPr/>
        </p:nvPicPr>
        <p:blipFill>
          <a:blip r:embed="rId8"/>
          <a:stretch>
            <a:fillRect/>
          </a:stretch>
        </p:blipFill>
        <p:spPr>
          <a:xfrm>
            <a:off x="10100201" y="2944368"/>
            <a:ext cx="1448670" cy="943002"/>
          </a:xfrm>
          <a:prstGeom prst="rect">
            <a:avLst/>
          </a:prstGeom>
        </p:spPr>
      </p:pic>
      <p:sp>
        <p:nvSpPr>
          <p:cNvPr id="33" name="TextBox 32"/>
          <p:cNvSpPr txBox="1"/>
          <p:nvPr/>
        </p:nvSpPr>
        <p:spPr>
          <a:xfrm>
            <a:off x="10100201" y="3959352"/>
            <a:ext cx="1448670" cy="603504"/>
          </a:xfrm>
          <a:prstGeom prst="rect">
            <a:avLst/>
          </a:prstGeom>
          <a:noFill/>
        </p:spPr>
        <p:txBody>
          <a:bodyPr wrap="square" anchor="t" lIns="0" tIns="0" rIns="0" bIns="0">
            <a:noAutofit/>
          </a:bodyPr>
          <a:lstStyle/>
          <a:p>
            <a:pPr algn="l">
              <a:lnSpc>
                <a:spcPct val="110000"/>
              </a:lnSpc>
              <a:spcAft>
                <a:spcPts val="0"/>
              </a:spcAft>
            </a:pPr>
            <a:r>
              <a:rPr sz="1100" b="0" i="0" lang="ko-KR" altLang="en-US">
                <a:solidFill>
                  <a:srgbClr val="4A5A7A"/>
                </a:solidFill>
                <a:latin typeface="맑은 고딕"/>
                <a:ea typeface="맑은 고딕"/>
                <a:cs typeface="맑은 고딕"/>
              </a:rPr>
              <a:t>합 · 차 신호로 각도를 정밀하게</a:t>
            </a:r>
          </a:p>
        </p:txBody>
      </p:sp>
      <p:sp>
        <p:nvSpPr>
          <p:cNvPr id="34" name="Rectangle 33"/>
          <p:cNvSpPr/>
          <p:nvPr/>
        </p:nvSpPr>
        <p:spPr>
          <a:xfrm>
            <a:off x="640080" y="4800600"/>
            <a:ext cx="3017520" cy="777240"/>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1" y="4800600"/>
            <a:ext cx="2871215" cy="777240"/>
          </a:xfrm>
          <a:prstGeom prst="rect">
            <a:avLst/>
          </a:prstGeom>
          <a:noFill/>
        </p:spPr>
        <p:txBody>
          <a:bodyPr wrap="square" anchor="ctr" lIns="0" tIns="0" rIns="0" bIns="0">
            <a:noAutofit/>
          </a:bodyPr>
          <a:lstStyle/>
          <a:p>
            <a:pPr algn="ctr">
              <a:lnSpc>
                <a:spcPct val="115000"/>
              </a:lnSpc>
              <a:spcAft>
                <a:spcPts val="0"/>
              </a:spcAft>
            </a:pPr>
            <a:r>
              <a:rPr sz="1200" b="1" i="0" lang="ko-KR" altLang="en-US">
                <a:solidFill>
                  <a:srgbClr val="1B2740"/>
                </a:solidFill>
                <a:latin typeface="맑은 고딕"/>
                <a:ea typeface="맑은 고딕"/>
                <a:cs typeface="맑은 고딕"/>
              </a:rPr>
              <a:t>입력</a:t>
            </a:r>
          </a:p>
          <a:p>
            <a:pPr algn="ctr">
              <a:lnSpc>
                <a:spcPct val="115000"/>
              </a:lnSpc>
              <a:spcAft>
                <a:spcPts val="0"/>
              </a:spcAft>
            </a:pPr>
            <a:r>
              <a:rPr sz="1200" b="0" i="0" lang="ko-KR" altLang="en-US">
                <a:solidFill>
                  <a:srgbClr val="4A5A7A"/>
                </a:solidFill>
                <a:latin typeface="맑은 고딕"/>
                <a:ea typeface="맑은 고딕"/>
                <a:cs typeface="맑은 고딕"/>
              </a:rPr>
              <a:t>표적에서 돌아온 수신 신호</a:t>
            </a:r>
          </a:p>
        </p:txBody>
      </p:sp>
      <p:cxnSp>
        <p:nvCxnSpPr>
          <p:cNvPr id="36" name="Connector 35"/>
          <p:cNvCxnSpPr/>
          <p:nvPr/>
        </p:nvCxnSpPr>
        <p:spPr>
          <a:xfrm>
            <a:off x="3712463" y="5189220"/>
            <a:ext cx="365761"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4133087" y="4800600"/>
            <a:ext cx="3520440" cy="777240"/>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206240" y="4800600"/>
            <a:ext cx="3374136" cy="777240"/>
          </a:xfrm>
          <a:prstGeom prst="rect">
            <a:avLst/>
          </a:prstGeom>
          <a:noFill/>
        </p:spPr>
        <p:txBody>
          <a:bodyPr wrap="square" anchor="ctr" lIns="0" tIns="0" rIns="0" bIns="0">
            <a:noAutofit/>
          </a:bodyPr>
          <a:lstStyle/>
          <a:p>
            <a:pPr algn="ctr">
              <a:lnSpc>
                <a:spcPct val="110000"/>
              </a:lnSpc>
              <a:spcAft>
                <a:spcPts val="0"/>
              </a:spcAft>
            </a:pPr>
            <a:r>
              <a:rPr sz="1400" b="1" i="0" lang="ko-KR" altLang="en-US">
                <a:solidFill>
                  <a:srgbClr val="FFFFFF"/>
                </a:solidFill>
                <a:latin typeface="맑은 고딕"/>
                <a:ea typeface="맑은 고딕"/>
                <a:cs typeface="맑은 고딕"/>
              </a:rPr>
              <a:t>신호처리 7단계</a:t>
            </a:r>
          </a:p>
        </p:txBody>
      </p:sp>
      <p:cxnSp>
        <p:nvCxnSpPr>
          <p:cNvPr id="39" name="Connector 38"/>
          <p:cNvCxnSpPr/>
          <p:nvPr/>
        </p:nvCxnSpPr>
        <p:spPr>
          <a:xfrm>
            <a:off x="7708392" y="5189220"/>
            <a:ext cx="365760"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8129016" y="4800600"/>
            <a:ext cx="3419856" cy="777240"/>
          </a:xfrm>
          <a:prstGeom prst="rect">
            <a:avLst/>
          </a:prstGeom>
          <a:solidFill>
            <a:srgbClr val="EEF3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02168" y="4800600"/>
            <a:ext cx="3273552" cy="777240"/>
          </a:xfrm>
          <a:prstGeom prst="rect">
            <a:avLst/>
          </a:prstGeom>
          <a:noFill/>
        </p:spPr>
        <p:txBody>
          <a:bodyPr wrap="square" anchor="ctr" lIns="0" tIns="0" rIns="0" bIns="0">
            <a:noAutofit/>
          </a:bodyPr>
          <a:lstStyle/>
          <a:p>
            <a:pPr algn="ctr">
              <a:lnSpc>
                <a:spcPct val="115000"/>
              </a:lnSpc>
              <a:spcAft>
                <a:spcPts val="0"/>
              </a:spcAft>
            </a:pPr>
            <a:r>
              <a:rPr sz="1200" b="1" i="0" lang="ko-KR" altLang="en-US">
                <a:solidFill>
                  <a:srgbClr val="2563EB"/>
                </a:solidFill>
                <a:latin typeface="맑은 고딕"/>
                <a:ea typeface="맑은 고딕"/>
                <a:cs typeface="맑은 고딕"/>
              </a:rPr>
              <a:t>출력: 드웰 플롯</a:t>
            </a:r>
          </a:p>
          <a:p>
            <a:pPr algn="ctr">
              <a:lnSpc>
                <a:spcPct val="115000"/>
              </a:lnSpc>
              <a:spcAft>
                <a:spcPts val="0"/>
              </a:spcAft>
            </a:pPr>
            <a:r>
              <a:rPr sz="1200" b="0" i="0" lang="ko-KR" altLang="en-US">
                <a:solidFill>
                  <a:srgbClr val="4A5A7A"/>
                </a:solidFill>
                <a:latin typeface="맑은 고딕"/>
                <a:ea typeface="맑은 고딕"/>
                <a:cs typeface="맑은 고딕"/>
              </a:rPr>
              <a:t>거리 · 방위각 · 고각 측정값</a:t>
            </a:r>
          </a:p>
        </p:txBody>
      </p:sp>
      <p:sp>
        <p:nvSpPr>
          <p:cNvPr id="42" name="TextBox 41"/>
          <p:cNvSpPr txBox="1"/>
          <p:nvPr/>
        </p:nvSpPr>
        <p:spPr>
          <a:xfrm>
            <a:off x="640080" y="5760720"/>
            <a:ext cx="10908792" cy="329184"/>
          </a:xfrm>
          <a:prstGeom prst="rect">
            <a:avLst/>
          </a:prstGeom>
          <a:noFill/>
        </p:spPr>
        <p:txBody>
          <a:bodyPr wrap="square" anchor="ctr" lIns="0" tIns="0" rIns="0" bIns="0">
            <a:noAutofit/>
          </a:bodyPr>
          <a:lstStyle/>
          <a:p>
            <a:pPr algn="l">
              <a:lnSpc>
                <a:spcPct val="115000"/>
              </a:lnSpc>
              <a:spcAft>
                <a:spcPts val="0"/>
              </a:spcAft>
            </a:pPr>
            <a:r>
              <a:rPr sz="1200" b="0" i="0" lang="ko-KR" altLang="en-US">
                <a:solidFill>
                  <a:srgbClr val="4A5A7A"/>
                </a:solidFill>
                <a:latin typeface="맑은 고딕"/>
                <a:ea typeface="맑은 고딕"/>
                <a:cs typeface="맑은 고딕"/>
              </a:rPr>
              <a:t>그대로 모의하려면 파형, 안테나, 신호처리 전체가 필요하다  →  다음 장</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01. 플롯</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1.3 모의에서는 신호처리를 건너뛰고 참값에 잡음을 더합니다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6</a:t>
            </a:r>
          </a:p>
        </p:txBody>
      </p:sp>
      <p:sp>
        <p:nvSpPr>
          <p:cNvPr id="7" name="Rounded Rectangle 6"/>
          <p:cNvSpPr/>
          <p:nvPr/>
        </p:nvSpPr>
        <p:spPr>
          <a:xfrm>
            <a:off x="640080" y="2194560"/>
            <a:ext cx="1417320" cy="420624"/>
          </a:xfrm>
          <a:prstGeom prst="roundRect">
            <a:avLst>
              <a:gd name="adj" fmla="val 18000"/>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1" y="2194560"/>
            <a:ext cx="1271016" cy="420624"/>
          </a:xfrm>
          <a:prstGeom prst="rect">
            <a:avLst/>
          </a:prstGeom>
          <a:noFill/>
        </p:spPr>
        <p:txBody>
          <a:bodyPr wrap="square" anchor="ctr" lIns="0" tIns="0" rIns="0" bIns="0">
            <a:noAutofit/>
          </a:bodyPr>
          <a:lstStyle/>
          <a:p>
            <a:pPr algn="ctr">
              <a:lnSpc>
                <a:spcPct val="110000"/>
              </a:lnSpc>
              <a:spcAft>
                <a:spcPts val="0"/>
              </a:spcAft>
            </a:pPr>
            <a:r>
              <a:rPr sz="1250" b="1" i="0" lang="ko-KR" altLang="en-US">
                <a:solidFill>
                  <a:srgbClr val="FFFFFF"/>
                </a:solidFill>
                <a:latin typeface="맑은 고딕"/>
                <a:ea typeface="맑은 고딕"/>
                <a:cs typeface="맑은 고딕"/>
              </a:rPr>
              <a:t>실제 레이다</a:t>
            </a:r>
          </a:p>
        </p:txBody>
      </p:sp>
      <p:sp>
        <p:nvSpPr>
          <p:cNvPr id="9" name="Rounded Rectangle 8"/>
          <p:cNvSpPr/>
          <p:nvPr/>
        </p:nvSpPr>
        <p:spPr>
          <a:xfrm>
            <a:off x="640080" y="3291840"/>
            <a:ext cx="1417320" cy="420624"/>
          </a:xfrm>
          <a:prstGeom prst="roundRect">
            <a:avLst>
              <a:gd name="adj" fmla="val 1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1" y="3291840"/>
            <a:ext cx="1271016" cy="420624"/>
          </a:xfrm>
          <a:prstGeom prst="rect">
            <a:avLst/>
          </a:prstGeom>
          <a:noFill/>
        </p:spPr>
        <p:txBody>
          <a:bodyPr wrap="square" anchor="ctr" lIns="0" tIns="0" rIns="0" bIns="0">
            <a:noAutofit/>
          </a:bodyPr>
          <a:lstStyle/>
          <a:p>
            <a:pPr algn="ctr">
              <a:lnSpc>
                <a:spcPct val="110000"/>
              </a:lnSpc>
              <a:spcAft>
                <a:spcPts val="0"/>
              </a:spcAft>
            </a:pPr>
            <a:r>
              <a:rPr sz="1250" b="1" i="0" lang="ko-KR" altLang="en-US">
                <a:solidFill>
                  <a:srgbClr val="FFFFFF"/>
                </a:solidFill>
                <a:latin typeface="맑은 고딕"/>
                <a:ea typeface="맑은 고딕"/>
                <a:cs typeface="맑은 고딕"/>
              </a:rPr>
              <a:t>플롯 모의</a:t>
            </a:r>
          </a:p>
        </p:txBody>
      </p:sp>
      <p:sp>
        <p:nvSpPr>
          <p:cNvPr id="11" name="Rectangle 10"/>
          <p:cNvSpPr/>
          <p:nvPr/>
        </p:nvSpPr>
        <p:spPr>
          <a:xfrm>
            <a:off x="2240280" y="2011680"/>
            <a:ext cx="1554480" cy="786384"/>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13432" y="2011680"/>
            <a:ext cx="1408176" cy="786384"/>
          </a:xfrm>
          <a:prstGeom prst="rect">
            <a:avLst/>
          </a:prstGeom>
          <a:noFill/>
        </p:spPr>
        <p:txBody>
          <a:bodyPr wrap="square" anchor="ctr" lIns="0" tIns="0" rIns="0" bIns="0">
            <a:noAutofit/>
          </a:bodyPr>
          <a:lstStyle/>
          <a:p>
            <a:pPr algn="ctr">
              <a:lnSpc>
                <a:spcPct val="110000"/>
              </a:lnSpc>
              <a:spcAft>
                <a:spcPts val="0"/>
              </a:spcAft>
            </a:pPr>
            <a:r>
              <a:rPr sz="1300" b="1" i="0" lang="ko-KR" altLang="en-US">
                <a:solidFill>
                  <a:srgbClr val="1B2740"/>
                </a:solidFill>
                <a:latin typeface="맑은 고딕"/>
                <a:ea typeface="맑은 고딕"/>
                <a:cs typeface="맑은 고딕"/>
              </a:rPr>
              <a:t>표적 참값</a:t>
            </a:r>
          </a:p>
        </p:txBody>
      </p:sp>
      <p:sp>
        <p:nvSpPr>
          <p:cNvPr id="13" name="Rectangle 12"/>
          <p:cNvSpPr/>
          <p:nvPr/>
        </p:nvSpPr>
        <p:spPr>
          <a:xfrm>
            <a:off x="4160520" y="2011680"/>
            <a:ext cx="1783080" cy="786384"/>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33672" y="2011680"/>
            <a:ext cx="1636776" cy="786384"/>
          </a:xfrm>
          <a:prstGeom prst="rect">
            <a:avLst/>
          </a:prstGeom>
          <a:noFill/>
        </p:spPr>
        <p:txBody>
          <a:bodyPr wrap="square" anchor="ctr" lIns="0" tIns="0" rIns="0" bIns="0">
            <a:noAutofit/>
          </a:bodyPr>
          <a:lstStyle/>
          <a:p>
            <a:pPr algn="ctr">
              <a:lnSpc>
                <a:spcPct val="115000"/>
              </a:lnSpc>
              <a:spcAft>
                <a:spcPts val="0"/>
              </a:spcAft>
            </a:pPr>
            <a:r>
              <a:rPr sz="1200" b="1" i="0" lang="ko-KR" altLang="en-US">
                <a:solidFill>
                  <a:srgbClr val="1B2740"/>
                </a:solidFill>
                <a:latin typeface="맑은 고딕"/>
                <a:ea typeface="맑은 고딕"/>
                <a:cs typeface="맑은 고딕"/>
              </a:rPr>
              <a:t>신호 생성</a:t>
            </a:r>
          </a:p>
          <a:p>
            <a:pPr algn="ctr">
              <a:lnSpc>
                <a:spcPct val="115000"/>
              </a:lnSpc>
              <a:spcAft>
                <a:spcPts val="0"/>
              </a:spcAft>
            </a:pPr>
            <a:r>
              <a:rPr sz="1200" b="0" i="0" lang="ko-KR" altLang="en-US">
                <a:solidFill>
                  <a:srgbClr val="4A5A7A"/>
                </a:solidFill>
                <a:latin typeface="맑은 고딕"/>
                <a:ea typeface="맑은 고딕"/>
                <a:cs typeface="맑은 고딕"/>
              </a:rPr>
              <a:t>IQ 데이터</a:t>
            </a:r>
          </a:p>
        </p:txBody>
      </p:sp>
      <p:sp>
        <p:nvSpPr>
          <p:cNvPr id="15" name="Rectangle 14"/>
          <p:cNvSpPr/>
          <p:nvPr/>
        </p:nvSpPr>
        <p:spPr>
          <a:xfrm>
            <a:off x="6309360" y="2011680"/>
            <a:ext cx="1783080" cy="786384"/>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2011680"/>
            <a:ext cx="1636776" cy="786384"/>
          </a:xfrm>
          <a:prstGeom prst="rect">
            <a:avLst/>
          </a:prstGeom>
          <a:noFill/>
        </p:spPr>
        <p:txBody>
          <a:bodyPr wrap="square" anchor="ctr" lIns="0" tIns="0" rIns="0" bIns="0">
            <a:noAutofit/>
          </a:bodyPr>
          <a:lstStyle/>
          <a:p>
            <a:pPr algn="ctr">
              <a:lnSpc>
                <a:spcPct val="115000"/>
              </a:lnSpc>
              <a:spcAft>
                <a:spcPts val="0"/>
              </a:spcAft>
            </a:pPr>
            <a:r>
              <a:rPr sz="1200" b="1" i="0" lang="ko-KR" altLang="en-US">
                <a:solidFill>
                  <a:srgbClr val="1B2740"/>
                </a:solidFill>
                <a:latin typeface="맑은 고딕"/>
                <a:ea typeface="맑은 고딕"/>
                <a:cs typeface="맑은 고딕"/>
              </a:rPr>
              <a:t>신호처리</a:t>
            </a:r>
          </a:p>
          <a:p>
            <a:pPr algn="ctr">
              <a:lnSpc>
                <a:spcPct val="115000"/>
              </a:lnSpc>
              <a:spcAft>
                <a:spcPts val="0"/>
              </a:spcAft>
            </a:pPr>
            <a:r>
              <a:rPr sz="1200" b="0" i="0" lang="ko-KR" altLang="en-US">
                <a:solidFill>
                  <a:srgbClr val="4A5A7A"/>
                </a:solidFill>
                <a:latin typeface="맑은 고딕"/>
                <a:ea typeface="맑은 고딕"/>
                <a:cs typeface="맑은 고딕"/>
              </a:rPr>
              <a:t>7단계</a:t>
            </a:r>
          </a:p>
        </p:txBody>
      </p:sp>
      <p:sp>
        <p:nvSpPr>
          <p:cNvPr id="17" name="Rectangle 16"/>
          <p:cNvSpPr/>
          <p:nvPr/>
        </p:nvSpPr>
        <p:spPr>
          <a:xfrm>
            <a:off x="8458200" y="2011680"/>
            <a:ext cx="1417320" cy="786384"/>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31352" y="2011680"/>
            <a:ext cx="1271016" cy="786384"/>
          </a:xfrm>
          <a:prstGeom prst="rect">
            <a:avLst/>
          </a:prstGeom>
          <a:noFill/>
        </p:spPr>
        <p:txBody>
          <a:bodyPr wrap="square" anchor="ctr" lIns="0" tIns="0" rIns="0" bIns="0">
            <a:noAutofit/>
          </a:bodyPr>
          <a:lstStyle/>
          <a:p>
            <a:pPr algn="ctr">
              <a:lnSpc>
                <a:spcPct val="110000"/>
              </a:lnSpc>
              <a:spcAft>
                <a:spcPts val="0"/>
              </a:spcAft>
            </a:pPr>
            <a:r>
              <a:rPr sz="1300" b="1" i="0" lang="ko-KR" altLang="en-US">
                <a:solidFill>
                  <a:srgbClr val="1B2740"/>
                </a:solidFill>
                <a:latin typeface="맑은 고딕"/>
                <a:ea typeface="맑은 고딕"/>
                <a:cs typeface="맑은 고딕"/>
              </a:rPr>
              <a:t>플롯</a:t>
            </a:r>
          </a:p>
        </p:txBody>
      </p:sp>
      <p:cxnSp>
        <p:nvCxnSpPr>
          <p:cNvPr id="19" name="Connector 18"/>
          <p:cNvCxnSpPr/>
          <p:nvPr/>
        </p:nvCxnSpPr>
        <p:spPr>
          <a:xfrm>
            <a:off x="3840480" y="2404872"/>
            <a:ext cx="274320"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989320" y="2404872"/>
            <a:ext cx="274320"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138160" y="2404872"/>
            <a:ext cx="274320"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2240280" y="3108960"/>
            <a:ext cx="1554480" cy="786384"/>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313432" y="3108960"/>
            <a:ext cx="1408176" cy="786384"/>
          </a:xfrm>
          <a:prstGeom prst="rect">
            <a:avLst/>
          </a:prstGeom>
          <a:noFill/>
        </p:spPr>
        <p:txBody>
          <a:bodyPr wrap="square" anchor="ctr" lIns="0" tIns="0" rIns="0" bIns="0">
            <a:noAutofit/>
          </a:bodyPr>
          <a:lstStyle/>
          <a:p>
            <a:pPr algn="ctr">
              <a:lnSpc>
                <a:spcPct val="110000"/>
              </a:lnSpc>
              <a:spcAft>
                <a:spcPts val="0"/>
              </a:spcAft>
            </a:pPr>
            <a:r>
              <a:rPr sz="1300" b="1" i="0" lang="ko-KR" altLang="en-US">
                <a:solidFill>
                  <a:srgbClr val="1B2740"/>
                </a:solidFill>
                <a:latin typeface="맑은 고딕"/>
                <a:ea typeface="맑은 고딕"/>
                <a:cs typeface="맑은 고딕"/>
              </a:rPr>
              <a:t>표적 참값</a:t>
            </a:r>
          </a:p>
        </p:txBody>
      </p:sp>
      <p:sp>
        <p:nvSpPr>
          <p:cNvPr id="24" name="Rounded Rectangle 23"/>
          <p:cNvSpPr/>
          <p:nvPr/>
        </p:nvSpPr>
        <p:spPr>
          <a:xfrm>
            <a:off x="4160520" y="3255264"/>
            <a:ext cx="3931920" cy="493776"/>
          </a:xfrm>
          <a:prstGeom prst="roundRect">
            <a:avLst>
              <a:gd name="adj" fmla="val 18000"/>
            </a:avLst>
          </a:prstGeom>
          <a:solidFill>
            <a:srgbClr val="FFFFFF"/>
          </a:solidFill>
          <a:ln w="9525">
            <a:solidFill>
              <a:srgbClr val="2563E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60520" y="3255264"/>
            <a:ext cx="3931920" cy="493776"/>
          </a:xfrm>
          <a:prstGeom prst="rect">
            <a:avLst/>
          </a:prstGeom>
          <a:noFill/>
        </p:spPr>
        <p:txBody>
          <a:bodyPr wrap="square" anchor="ctr" lIns="0" tIns="0" rIns="0" bIns="0">
            <a:noAutofit/>
          </a:bodyPr>
          <a:lstStyle/>
          <a:p>
            <a:pPr algn="ctr">
              <a:lnSpc>
                <a:spcPct val="115000"/>
              </a:lnSpc>
              <a:spcAft>
                <a:spcPts val="0"/>
              </a:spcAft>
            </a:pPr>
            <a:r>
              <a:rPr sz="1250" b="1" i="0" lang="ko-KR" altLang="en-US">
                <a:solidFill>
                  <a:srgbClr val="2563EB"/>
                </a:solidFill>
                <a:latin typeface="맑은 고딕"/>
                <a:ea typeface="맑은 고딕"/>
                <a:cs typeface="맑은 고딕"/>
              </a:rPr>
              <a:t>신호 생성 · 신호처리 생략</a:t>
            </a:r>
          </a:p>
        </p:txBody>
      </p:sp>
      <p:sp>
        <p:nvSpPr>
          <p:cNvPr id="26" name="Rectangle 25"/>
          <p:cNvSpPr/>
          <p:nvPr/>
        </p:nvSpPr>
        <p:spPr>
          <a:xfrm>
            <a:off x="8458200" y="3108960"/>
            <a:ext cx="1417320" cy="786384"/>
          </a:xfrm>
          <a:prstGeom prst="rect">
            <a:avLst/>
          </a:prstGeom>
          <a:solidFill>
            <a:srgbClr val="EEF3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31352" y="3108960"/>
            <a:ext cx="1271016" cy="786384"/>
          </a:xfrm>
          <a:prstGeom prst="rect">
            <a:avLst/>
          </a:prstGeom>
          <a:noFill/>
        </p:spPr>
        <p:txBody>
          <a:bodyPr wrap="square" anchor="ctr" lIns="0" tIns="0" rIns="0" bIns="0">
            <a:noAutofit/>
          </a:bodyPr>
          <a:lstStyle/>
          <a:p>
            <a:pPr algn="ctr">
              <a:lnSpc>
                <a:spcPct val="115000"/>
              </a:lnSpc>
              <a:spcAft>
                <a:spcPts val="0"/>
              </a:spcAft>
            </a:pPr>
            <a:r>
              <a:rPr sz="1200" b="1" i="0" lang="ko-KR" altLang="en-US">
                <a:solidFill>
                  <a:srgbClr val="2563EB"/>
                </a:solidFill>
                <a:latin typeface="맑은 고딕"/>
                <a:ea typeface="맑은 고딕"/>
                <a:cs typeface="맑은 고딕"/>
              </a:rPr>
              <a:t>플롯</a:t>
            </a:r>
          </a:p>
          <a:p>
            <a:pPr algn="ctr">
              <a:lnSpc>
                <a:spcPct val="115000"/>
              </a:lnSpc>
              <a:spcAft>
                <a:spcPts val="0"/>
              </a:spcAft>
            </a:pPr>
            <a:r>
              <a:rPr sz="1200" b="0" i="0" lang="ko-KR" altLang="en-US">
                <a:solidFill>
                  <a:srgbClr val="1B2740"/>
                </a:solidFill>
                <a:latin typeface="맑은 고딕"/>
                <a:ea typeface="맑은 고딕"/>
                <a:cs typeface="맑은 고딕"/>
              </a:rPr>
              <a:t>= 참값 + 잡음</a:t>
            </a:r>
          </a:p>
        </p:txBody>
      </p:sp>
      <p:cxnSp>
        <p:nvCxnSpPr>
          <p:cNvPr id="28" name="Connector 27"/>
          <p:cNvCxnSpPr/>
          <p:nvPr/>
        </p:nvCxnSpPr>
        <p:spPr>
          <a:xfrm>
            <a:off x="3840480" y="3502152"/>
            <a:ext cx="274320"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138160" y="3502152"/>
            <a:ext cx="274320"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149840" y="2011680"/>
            <a:ext cx="1399032" cy="786384"/>
          </a:xfrm>
          <a:prstGeom prst="rect">
            <a:avLst/>
          </a:prstGeom>
          <a:noFill/>
        </p:spPr>
        <p:txBody>
          <a:bodyPr wrap="square" anchor="ctr" lIns="0" tIns="0" rIns="0" bIns="0">
            <a:noAutofit/>
          </a:bodyPr>
          <a:lstStyle/>
          <a:p>
            <a:pPr algn="l">
              <a:lnSpc>
                <a:spcPct val="110000"/>
              </a:lnSpc>
              <a:spcAft>
                <a:spcPts val="100"/>
              </a:spcAft>
            </a:pPr>
            <a:r>
              <a:rPr sz="1050" b="0" i="0" lang="ko-KR" altLang="en-US">
                <a:solidFill>
                  <a:srgbClr val="647089"/>
                </a:solidFill>
                <a:latin typeface="맑은 고딕"/>
                <a:ea typeface="맑은 고딕"/>
                <a:cs typeface="맑은 고딕"/>
              </a:rPr>
              <a:t>필요한 것</a:t>
            </a:r>
          </a:p>
          <a:p>
            <a:pPr algn="l">
              <a:lnSpc>
                <a:spcPct val="110000"/>
              </a:lnSpc>
              <a:spcAft>
                <a:spcPts val="0"/>
              </a:spcAft>
            </a:pPr>
            <a:r>
              <a:rPr sz="1200" b="1" i="0" lang="ko-KR" altLang="en-US">
                <a:solidFill>
                  <a:srgbClr val="1B2740"/>
                </a:solidFill>
                <a:latin typeface="맑은 고딕"/>
                <a:ea typeface="맑은 고딕"/>
                <a:cs typeface="맑은 고딕"/>
              </a:rPr>
              <a:t>파형, 안테나, 신호처리 전체</a:t>
            </a:r>
          </a:p>
        </p:txBody>
      </p:sp>
      <p:sp>
        <p:nvSpPr>
          <p:cNvPr id="31" name="TextBox 30"/>
          <p:cNvSpPr txBox="1"/>
          <p:nvPr/>
        </p:nvSpPr>
        <p:spPr>
          <a:xfrm>
            <a:off x="10149840" y="3108960"/>
            <a:ext cx="1399032" cy="786384"/>
          </a:xfrm>
          <a:prstGeom prst="rect">
            <a:avLst/>
          </a:prstGeom>
          <a:noFill/>
        </p:spPr>
        <p:txBody>
          <a:bodyPr wrap="square" anchor="ctr" lIns="0" tIns="0" rIns="0" bIns="0">
            <a:noAutofit/>
          </a:bodyPr>
          <a:lstStyle/>
          <a:p>
            <a:pPr algn="l">
              <a:lnSpc>
                <a:spcPct val="110000"/>
              </a:lnSpc>
              <a:spcAft>
                <a:spcPts val="100"/>
              </a:spcAft>
            </a:pPr>
            <a:r>
              <a:rPr sz="1050" b="0" i="0" lang="ko-KR" altLang="en-US">
                <a:solidFill>
                  <a:srgbClr val="647089"/>
                </a:solidFill>
                <a:latin typeface="맑은 고딕"/>
                <a:ea typeface="맑은 고딕"/>
                <a:cs typeface="맑은 고딕"/>
              </a:rPr>
              <a:t>필요한 것</a:t>
            </a:r>
          </a:p>
          <a:p>
            <a:pPr algn="l">
              <a:lnSpc>
                <a:spcPct val="110000"/>
              </a:lnSpc>
              <a:spcAft>
                <a:spcPts val="0"/>
              </a:spcAft>
            </a:pPr>
            <a:r>
              <a:rPr sz="1200" b="1" i="0" lang="ko-KR" altLang="en-US">
                <a:solidFill>
                  <a:srgbClr val="1B2740"/>
                </a:solidFill>
                <a:latin typeface="맑은 고딕"/>
                <a:ea typeface="맑은 고딕"/>
                <a:cs typeface="맑은 고딕"/>
              </a:rPr>
              <a:t>표준편차 3개</a:t>
            </a:r>
          </a:p>
        </p:txBody>
      </p:sp>
      <p:sp>
        <p:nvSpPr>
          <p:cNvPr id="32" name="TextBox 31"/>
          <p:cNvSpPr txBox="1"/>
          <p:nvPr/>
        </p:nvSpPr>
        <p:spPr>
          <a:xfrm>
            <a:off x="640080" y="4224528"/>
            <a:ext cx="6035040"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건너뛰어도 되는 이유</a:t>
            </a:r>
          </a:p>
        </p:txBody>
      </p:sp>
      <p:sp>
        <p:nvSpPr>
          <p:cNvPr id="33" name="Rectangle 32"/>
          <p:cNvSpPr/>
          <p:nvPr/>
        </p:nvSpPr>
        <p:spPr>
          <a:xfrm>
            <a:off x="640080" y="4572000"/>
            <a:ext cx="6172200" cy="713232"/>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04672" y="4791456"/>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4672" y="4791456"/>
            <a:ext cx="274320" cy="274320"/>
          </a:xfrm>
          <a:prstGeom prst="rect">
            <a:avLst/>
          </a:prstGeom>
          <a:noFill/>
        </p:spPr>
        <p:txBody>
          <a:bodyPr wrap="square" anchor="ctr" lIns="0" tIns="0" rIns="0" bIns="0">
            <a:noAutofit/>
          </a:bodyPr>
          <a:lstStyle/>
          <a:p>
            <a:pPr algn="ctr">
              <a:lnSpc>
                <a:spcPct val="110000"/>
              </a:lnSpc>
              <a:spcAft>
                <a:spcPts val="0"/>
              </a:spcAft>
            </a:pPr>
            <a:r>
              <a:rPr sz="1050" b="1" i="0" lang="ko-KR" altLang="en-US">
                <a:solidFill>
                  <a:srgbClr val="FFFFFF"/>
                </a:solidFill>
                <a:latin typeface="Arial"/>
                <a:ea typeface="맑은 고딕"/>
                <a:cs typeface="Arial"/>
              </a:rPr>
              <a:t>1</a:t>
            </a:r>
          </a:p>
        </p:txBody>
      </p:sp>
      <p:sp>
        <p:nvSpPr>
          <p:cNvPr id="36" name="TextBox 35"/>
          <p:cNvSpPr txBox="1"/>
          <p:nvPr/>
        </p:nvSpPr>
        <p:spPr>
          <a:xfrm>
            <a:off x="1243584" y="4608576"/>
            <a:ext cx="5440680" cy="347472"/>
          </a:xfrm>
          <a:prstGeom prst="rect">
            <a:avLst/>
          </a:prstGeom>
          <a:noFill/>
        </p:spPr>
        <p:txBody>
          <a:bodyPr wrap="square" anchor="ctr" lIns="0" tIns="0" rIns="0" bIns="0">
            <a:noAutofit/>
          </a:bodyPr>
          <a:lstStyle/>
          <a:p>
            <a:pPr algn="l">
              <a:lnSpc>
                <a:spcPct val="115000"/>
              </a:lnSpc>
              <a:spcAft>
                <a:spcPts val="0"/>
              </a:spcAft>
            </a:pPr>
            <a:r>
              <a:rPr sz="1300" b="1" i="0" lang="ko-KR" altLang="en-US">
                <a:solidFill>
                  <a:srgbClr val="1B2740"/>
                </a:solidFill>
                <a:latin typeface="맑은 고딕"/>
                <a:ea typeface="맑은 고딕"/>
                <a:cs typeface="맑은 고딕"/>
              </a:rPr>
              <a:t>추적 필터가 받는 것은 플롯뿐이다</a:t>
            </a:r>
          </a:p>
        </p:txBody>
      </p:sp>
      <p:sp>
        <p:nvSpPr>
          <p:cNvPr id="37" name="TextBox 36"/>
          <p:cNvSpPr txBox="1"/>
          <p:nvPr/>
        </p:nvSpPr>
        <p:spPr>
          <a:xfrm>
            <a:off x="1243584" y="4937760"/>
            <a:ext cx="5440680" cy="292608"/>
          </a:xfrm>
          <a:prstGeom prst="rect">
            <a:avLst/>
          </a:prstGeom>
          <a:noFill/>
        </p:spPr>
        <p:txBody>
          <a:bodyPr wrap="square" anchor="ctr" lIns="0" tIns="0" rIns="0" bIns="0">
            <a:noAutofit/>
          </a:bodyPr>
          <a:lstStyle/>
          <a:p>
            <a:pPr algn="l">
              <a:lnSpc>
                <a:spcPct val="115000"/>
              </a:lnSpc>
              <a:spcAft>
                <a:spcPts val="0"/>
              </a:spcAft>
            </a:pPr>
            <a:r>
              <a:rPr sz="1150" b="0" i="0" lang="ko-KR" altLang="en-US">
                <a:solidFill>
                  <a:srgbClr val="4A5A7A"/>
                </a:solidFill>
                <a:latin typeface="맑은 고딕"/>
                <a:ea typeface="맑은 고딕"/>
                <a:cs typeface="맑은 고딕"/>
              </a:rPr>
              <a:t>신호처리 중간 결과 (IQ 데이터 등) 는 보지 않는다</a:t>
            </a:r>
          </a:p>
        </p:txBody>
      </p:sp>
      <p:sp>
        <p:nvSpPr>
          <p:cNvPr id="38" name="Rectangle 37"/>
          <p:cNvSpPr/>
          <p:nvPr/>
        </p:nvSpPr>
        <p:spPr>
          <a:xfrm>
            <a:off x="640080" y="5376672"/>
            <a:ext cx="6172200" cy="713232"/>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804672" y="559612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4672" y="5596128"/>
            <a:ext cx="274320" cy="274320"/>
          </a:xfrm>
          <a:prstGeom prst="rect">
            <a:avLst/>
          </a:prstGeom>
          <a:noFill/>
        </p:spPr>
        <p:txBody>
          <a:bodyPr wrap="square" anchor="ctr" lIns="0" tIns="0" rIns="0" bIns="0">
            <a:noAutofit/>
          </a:bodyPr>
          <a:lstStyle/>
          <a:p>
            <a:pPr algn="ctr">
              <a:lnSpc>
                <a:spcPct val="110000"/>
              </a:lnSpc>
              <a:spcAft>
                <a:spcPts val="0"/>
              </a:spcAft>
            </a:pPr>
            <a:r>
              <a:rPr sz="1050" b="1" i="0" lang="ko-KR" altLang="en-US">
                <a:solidFill>
                  <a:srgbClr val="FFFFFF"/>
                </a:solidFill>
                <a:latin typeface="Arial"/>
                <a:ea typeface="맑은 고딕"/>
                <a:cs typeface="Arial"/>
              </a:rPr>
              <a:t>2</a:t>
            </a:r>
          </a:p>
        </p:txBody>
      </p:sp>
      <p:sp>
        <p:nvSpPr>
          <p:cNvPr id="41" name="TextBox 40"/>
          <p:cNvSpPr txBox="1"/>
          <p:nvPr/>
        </p:nvSpPr>
        <p:spPr>
          <a:xfrm>
            <a:off x="1243584" y="5413248"/>
            <a:ext cx="5440680" cy="347472"/>
          </a:xfrm>
          <a:prstGeom prst="rect">
            <a:avLst/>
          </a:prstGeom>
          <a:noFill/>
        </p:spPr>
        <p:txBody>
          <a:bodyPr wrap="square" anchor="ctr" lIns="0" tIns="0" rIns="0" bIns="0">
            <a:noAutofit/>
          </a:bodyPr>
          <a:lstStyle/>
          <a:p>
            <a:pPr algn="l">
              <a:lnSpc>
                <a:spcPct val="115000"/>
              </a:lnSpc>
              <a:spcAft>
                <a:spcPts val="0"/>
              </a:spcAft>
            </a:pPr>
            <a:r>
              <a:rPr sz="1300" b="1" i="0" lang="ko-KR" altLang="en-US">
                <a:solidFill>
                  <a:srgbClr val="1B2740"/>
                </a:solidFill>
                <a:latin typeface="맑은 고딕"/>
                <a:ea typeface="맑은 고딕"/>
                <a:cs typeface="맑은 고딕"/>
              </a:rPr>
              <a:t>신호처리를 거친 플롯도 결국 참값 + 작은 오차다</a:t>
            </a:r>
          </a:p>
        </p:txBody>
      </p:sp>
      <p:sp>
        <p:nvSpPr>
          <p:cNvPr id="42" name="TextBox 41"/>
          <p:cNvSpPr txBox="1"/>
          <p:nvPr/>
        </p:nvSpPr>
        <p:spPr>
          <a:xfrm>
            <a:off x="1243584" y="5742432"/>
            <a:ext cx="5440680" cy="292608"/>
          </a:xfrm>
          <a:prstGeom prst="rect">
            <a:avLst/>
          </a:prstGeom>
          <a:noFill/>
        </p:spPr>
        <p:txBody>
          <a:bodyPr wrap="square" anchor="ctr" lIns="0" tIns="0" rIns="0" bIns="0">
            <a:noAutofit/>
          </a:bodyPr>
          <a:lstStyle/>
          <a:p>
            <a:pPr algn="l">
              <a:lnSpc>
                <a:spcPct val="115000"/>
              </a:lnSpc>
              <a:spcAft>
                <a:spcPts val="0"/>
              </a:spcAft>
            </a:pPr>
            <a:r>
              <a:rPr sz="1150" b="0" i="0" lang="ko-KR" altLang="en-US">
                <a:solidFill>
                  <a:srgbClr val="4A5A7A"/>
                </a:solidFill>
                <a:latin typeface="맑은 고딕"/>
                <a:ea typeface="맑은 고딕"/>
                <a:cs typeface="맑은 고딕"/>
              </a:rPr>
              <a:t>오차 크기 (표준편차) 만 맞추면 같은 모양의 입력이 된다</a:t>
            </a:r>
          </a:p>
        </p:txBody>
      </p:sp>
      <p:pic>
        <p:nvPicPr>
          <p:cNvPr id="43" name="Picture 42" descr="image.png"/>
          <p:cNvPicPr>
            <a:picLocks noChangeAspect="1"/>
          </p:cNvPicPr>
          <p:nvPr/>
        </p:nvPicPr>
        <p:blipFill>
          <a:blip r:embed="rId2"/>
          <a:stretch>
            <a:fillRect/>
          </a:stretch>
        </p:blipFill>
        <p:spPr>
          <a:xfrm>
            <a:off x="7040880" y="4224528"/>
            <a:ext cx="4507992" cy="186759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02. 플롯 모의</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2.1 플롯 모의는 SNR → 표준편차 → 잡음 → 플롯 순서입니다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7</a:t>
            </a:r>
          </a:p>
        </p:txBody>
      </p:sp>
      <p:sp>
        <p:nvSpPr>
          <p:cNvPr id="7" name="Rectangle 6"/>
          <p:cNvSpPr/>
          <p:nvPr/>
        </p:nvSpPr>
        <p:spPr>
          <a:xfrm>
            <a:off x="640080" y="1965960"/>
            <a:ext cx="2507741" cy="1188720"/>
          </a:xfrm>
          <a:prstGeom prst="rect">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965960"/>
            <a:ext cx="2507741" cy="36576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965960"/>
            <a:ext cx="2251709" cy="365760"/>
          </a:xfrm>
          <a:prstGeom prst="rect">
            <a:avLst/>
          </a:prstGeom>
          <a:noFill/>
        </p:spPr>
        <p:txBody>
          <a:bodyPr wrap="square" anchor="ctr" lIns="0" tIns="0" rIns="0" bIns="0">
            <a:noAutofit/>
          </a:bodyPr>
          <a:lstStyle/>
          <a:p>
            <a:pPr algn="l">
              <a:lnSpc>
                <a:spcPct val="115000"/>
              </a:lnSpc>
              <a:spcAft>
                <a:spcPts val="0"/>
              </a:spcAft>
            </a:pPr>
            <a:r>
              <a:rPr sz="1200" b="1" i="0" lang="ko-KR" altLang="en-US">
                <a:solidFill>
                  <a:srgbClr val="FFFFFF"/>
                </a:solidFill>
                <a:latin typeface="맑은 고딕"/>
                <a:ea typeface="맑은 고딕"/>
                <a:cs typeface="맑은 고딕"/>
              </a:rPr>
              <a:t>단계 1   SNR 정하기</a:t>
            </a:r>
          </a:p>
        </p:txBody>
      </p:sp>
      <p:sp>
        <p:nvSpPr>
          <p:cNvPr id="10" name="TextBox 9"/>
          <p:cNvSpPr txBox="1"/>
          <p:nvPr/>
        </p:nvSpPr>
        <p:spPr>
          <a:xfrm>
            <a:off x="768096" y="2368296"/>
            <a:ext cx="2251709" cy="749808"/>
          </a:xfrm>
          <a:prstGeom prst="rect">
            <a:avLst/>
          </a:prstGeom>
          <a:noFill/>
        </p:spPr>
        <p:txBody>
          <a:bodyPr wrap="square" anchor="ctr" lIns="0" tIns="0" rIns="0" bIns="0">
            <a:noAutofit/>
          </a:bodyPr>
          <a:lstStyle/>
          <a:p>
            <a:pPr algn="l">
              <a:lnSpc>
                <a:spcPct val="110000"/>
              </a:lnSpc>
              <a:spcAft>
                <a:spcPts val="300"/>
              </a:spcAft>
            </a:pPr>
            <a:r>
              <a:rPr sz="1250" b="0" i="0" lang="ko-KR" altLang="en-US">
                <a:solidFill>
                  <a:srgbClr val="1B2740"/>
                </a:solidFill>
                <a:latin typeface="맑은 고딕"/>
                <a:ea typeface="맑은 고딕"/>
                <a:cs typeface="맑은 고딕"/>
              </a:rPr>
              <a:t>신호 세기 ÷ 잡음 세기</a:t>
            </a:r>
          </a:p>
          <a:p>
            <a:pPr algn="l">
              <a:lnSpc>
                <a:spcPct val="110000"/>
              </a:lnSpc>
              <a:spcAft>
                <a:spcPts val="0"/>
              </a:spcAft>
            </a:pPr>
            <a:r>
              <a:rPr sz="1100" b="0" i="0" lang="ko-KR" altLang="en-US">
                <a:solidFill>
                  <a:srgbClr val="4A5A7A"/>
                </a:solidFill>
                <a:latin typeface="맑은 고딕"/>
                <a:ea typeface="맑은 고딕"/>
                <a:cs typeface="맑은 고딕"/>
              </a:rPr>
              <a:t>과제 값 20 으로 고정</a:t>
            </a:r>
          </a:p>
        </p:txBody>
      </p:sp>
      <p:cxnSp>
        <p:nvCxnSpPr>
          <p:cNvPr id="11" name="Connector 10"/>
          <p:cNvCxnSpPr/>
          <p:nvPr/>
        </p:nvCxnSpPr>
        <p:spPr>
          <a:xfrm>
            <a:off x="3193541" y="2560320"/>
            <a:ext cx="201169"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440429" y="1965960"/>
            <a:ext cx="2507741" cy="1188720"/>
          </a:xfrm>
          <a:prstGeom prst="rect">
            <a:avLst/>
          </a:prstGeom>
          <a:solidFill>
            <a:srgbClr val="FFFFFF"/>
          </a:solidFill>
          <a:ln w="1587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40429" y="1965960"/>
            <a:ext cx="2507741" cy="36576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8445" y="1965960"/>
            <a:ext cx="2251709" cy="365760"/>
          </a:xfrm>
          <a:prstGeom prst="rect">
            <a:avLst/>
          </a:prstGeom>
          <a:noFill/>
        </p:spPr>
        <p:txBody>
          <a:bodyPr wrap="square" anchor="ctr" lIns="0" tIns="0" rIns="0" bIns="0">
            <a:noAutofit/>
          </a:bodyPr>
          <a:lstStyle/>
          <a:p>
            <a:pPr algn="l">
              <a:lnSpc>
                <a:spcPct val="115000"/>
              </a:lnSpc>
              <a:spcAft>
                <a:spcPts val="0"/>
              </a:spcAft>
            </a:pPr>
            <a:r>
              <a:rPr sz="1200" b="1" i="0" lang="ko-KR" altLang="en-US">
                <a:solidFill>
                  <a:srgbClr val="FFFFFF"/>
                </a:solidFill>
                <a:latin typeface="맑은 고딕"/>
                <a:ea typeface="맑은 고딕"/>
                <a:cs typeface="맑은 고딕"/>
              </a:rPr>
              <a:t>단계 2   표준편차 p</a:t>
            </a:r>
          </a:p>
        </p:txBody>
      </p:sp>
      <p:sp>
        <p:nvSpPr>
          <p:cNvPr id="15" name="TextBox 14"/>
          <p:cNvSpPr txBox="1"/>
          <p:nvPr/>
        </p:nvSpPr>
        <p:spPr>
          <a:xfrm>
            <a:off x="3568445" y="2368296"/>
            <a:ext cx="2251709" cy="749808"/>
          </a:xfrm>
          <a:prstGeom prst="rect">
            <a:avLst/>
          </a:prstGeom>
          <a:noFill/>
        </p:spPr>
        <p:txBody>
          <a:bodyPr wrap="square" anchor="ctr" lIns="0" tIns="0" rIns="0" bIns="0">
            <a:noAutofit/>
          </a:bodyPr>
          <a:lstStyle/>
          <a:p>
            <a:pPr algn="l">
              <a:lnSpc>
                <a:spcPct val="110000"/>
              </a:lnSpc>
              <a:spcAft>
                <a:spcPts val="300"/>
              </a:spcAft>
            </a:pPr>
            <a:r>
              <a:rPr sz="1250" b="0" i="0" lang="ko-KR" altLang="en-US">
                <a:solidFill>
                  <a:srgbClr val="1B2740"/>
                </a:solidFill>
                <a:latin typeface="맑은 고딕"/>
                <a:ea typeface="맑은 고딕"/>
                <a:cs typeface="맑은 고딕"/>
              </a:rPr>
              <a:t>측정 오차의 크기</a:t>
            </a:r>
          </a:p>
          <a:p>
            <a:pPr algn="l">
              <a:lnSpc>
                <a:spcPct val="110000"/>
              </a:lnSpc>
              <a:spcAft>
                <a:spcPts val="0"/>
              </a:spcAft>
            </a:pPr>
            <a:r>
              <a:rPr sz="1100" b="0" i="0" lang="ko-KR" altLang="en-US">
                <a:solidFill>
                  <a:srgbClr val="4A5A7A"/>
                </a:solidFill>
                <a:latin typeface="맑은 고딕"/>
                <a:ea typeface="맑은 고딕"/>
                <a:cs typeface="맑은 고딕"/>
              </a:rPr>
              <a:t>대역폭 · 빔폭 · SNR 로 계산</a:t>
            </a:r>
          </a:p>
        </p:txBody>
      </p:sp>
      <p:cxnSp>
        <p:nvCxnSpPr>
          <p:cNvPr id="16" name="Connector 15"/>
          <p:cNvCxnSpPr/>
          <p:nvPr/>
        </p:nvCxnSpPr>
        <p:spPr>
          <a:xfrm>
            <a:off x="5993891" y="2560320"/>
            <a:ext cx="201168"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6240779" y="1965960"/>
            <a:ext cx="2507741" cy="1188720"/>
          </a:xfrm>
          <a:prstGeom prst="rect">
            <a:avLst/>
          </a:prstGeom>
          <a:solidFill>
            <a:srgbClr val="FFFFFF"/>
          </a:solidFill>
          <a:ln w="1587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40779" y="1965960"/>
            <a:ext cx="2507741" cy="36576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8795" y="1965960"/>
            <a:ext cx="2251709" cy="365760"/>
          </a:xfrm>
          <a:prstGeom prst="rect">
            <a:avLst/>
          </a:prstGeom>
          <a:noFill/>
        </p:spPr>
        <p:txBody>
          <a:bodyPr wrap="square" anchor="ctr" lIns="0" tIns="0" rIns="0" bIns="0">
            <a:noAutofit/>
          </a:bodyPr>
          <a:lstStyle/>
          <a:p>
            <a:pPr algn="l">
              <a:lnSpc>
                <a:spcPct val="115000"/>
              </a:lnSpc>
              <a:spcAft>
                <a:spcPts val="0"/>
              </a:spcAft>
            </a:pPr>
            <a:r>
              <a:rPr sz="1200" b="1" i="0" lang="ko-KR" altLang="en-US">
                <a:solidFill>
                  <a:srgbClr val="FFFFFF"/>
                </a:solidFill>
                <a:latin typeface="맑은 고딕"/>
                <a:ea typeface="맑은 고딕"/>
                <a:cs typeface="맑은 고딕"/>
              </a:rPr>
              <a:t>단계 3   잡음 v 뽑기</a:t>
            </a:r>
          </a:p>
        </p:txBody>
      </p:sp>
      <p:sp>
        <p:nvSpPr>
          <p:cNvPr id="20" name="TextBox 19"/>
          <p:cNvSpPr txBox="1"/>
          <p:nvPr/>
        </p:nvSpPr>
        <p:spPr>
          <a:xfrm>
            <a:off x="6368795" y="2368296"/>
            <a:ext cx="2251709" cy="749808"/>
          </a:xfrm>
          <a:prstGeom prst="rect">
            <a:avLst/>
          </a:prstGeom>
          <a:noFill/>
        </p:spPr>
        <p:txBody>
          <a:bodyPr wrap="square" anchor="ctr" lIns="0" tIns="0" rIns="0" bIns="0">
            <a:noAutofit/>
          </a:bodyPr>
          <a:lstStyle/>
          <a:p>
            <a:pPr algn="l">
              <a:lnSpc>
                <a:spcPct val="110000"/>
              </a:lnSpc>
              <a:spcAft>
                <a:spcPts val="300"/>
              </a:spcAft>
            </a:pPr>
            <a:r>
              <a:rPr sz="1250" b="0" i="0" lang="ko-KR" altLang="en-US">
                <a:solidFill>
                  <a:srgbClr val="1B2740"/>
                </a:solidFill>
                <a:latin typeface="맑은 고딕"/>
                <a:ea typeface="맑은 고딕"/>
                <a:cs typeface="맑은 고딕"/>
              </a:rPr>
              <a:t>평균 0, 크기 p 인 난수</a:t>
            </a:r>
          </a:p>
          <a:p>
            <a:pPr algn="l">
              <a:lnSpc>
                <a:spcPct val="110000"/>
              </a:lnSpc>
              <a:spcAft>
                <a:spcPts val="0"/>
              </a:spcAft>
            </a:pPr>
            <a:r>
              <a:rPr sz="1100" b="0" i="0" lang="ko-KR" altLang="en-US">
                <a:solidFill>
                  <a:srgbClr val="4A5A7A"/>
                </a:solidFill>
                <a:latin typeface="맑은 고딕"/>
                <a:ea typeface="맑은 고딕"/>
                <a:cs typeface="맑은 고딕"/>
              </a:rPr>
              <a:t>GAUSS 함수로 뽑음</a:t>
            </a:r>
          </a:p>
        </p:txBody>
      </p:sp>
      <p:cxnSp>
        <p:nvCxnSpPr>
          <p:cNvPr id="21" name="Connector 20"/>
          <p:cNvCxnSpPr/>
          <p:nvPr/>
        </p:nvCxnSpPr>
        <p:spPr>
          <a:xfrm>
            <a:off x="8794242" y="2560320"/>
            <a:ext cx="201168"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9041129" y="1965960"/>
            <a:ext cx="2507741" cy="1188720"/>
          </a:xfrm>
          <a:prstGeom prst="rect">
            <a:avLst/>
          </a:prstGeom>
          <a:solidFill>
            <a:srgbClr val="FFFFFF"/>
          </a:solidFill>
          <a:ln w="1587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41129" y="1965960"/>
            <a:ext cx="2507741" cy="3657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69145" y="1965960"/>
            <a:ext cx="2251709" cy="365760"/>
          </a:xfrm>
          <a:prstGeom prst="rect">
            <a:avLst/>
          </a:prstGeom>
          <a:noFill/>
        </p:spPr>
        <p:txBody>
          <a:bodyPr wrap="square" anchor="ctr" lIns="0" tIns="0" rIns="0" bIns="0">
            <a:noAutofit/>
          </a:bodyPr>
          <a:lstStyle/>
          <a:p>
            <a:pPr algn="l">
              <a:lnSpc>
                <a:spcPct val="115000"/>
              </a:lnSpc>
              <a:spcAft>
                <a:spcPts val="0"/>
              </a:spcAft>
            </a:pPr>
            <a:r>
              <a:rPr sz="1200" b="1" i="0" lang="ko-KR" altLang="en-US">
                <a:solidFill>
                  <a:srgbClr val="FFFFFF"/>
                </a:solidFill>
                <a:latin typeface="맑은 고딕"/>
                <a:ea typeface="맑은 고딕"/>
                <a:cs typeface="맑은 고딕"/>
              </a:rPr>
              <a:t>단계 4   플롯 계산</a:t>
            </a:r>
          </a:p>
        </p:txBody>
      </p:sp>
      <p:sp>
        <p:nvSpPr>
          <p:cNvPr id="25" name="TextBox 24"/>
          <p:cNvSpPr txBox="1"/>
          <p:nvPr/>
        </p:nvSpPr>
        <p:spPr>
          <a:xfrm>
            <a:off x="9169145" y="2368296"/>
            <a:ext cx="2251709" cy="749808"/>
          </a:xfrm>
          <a:prstGeom prst="rect">
            <a:avLst/>
          </a:prstGeom>
          <a:noFill/>
        </p:spPr>
        <p:txBody>
          <a:bodyPr wrap="square" anchor="ctr" lIns="0" tIns="0" rIns="0" bIns="0">
            <a:noAutofit/>
          </a:bodyPr>
          <a:lstStyle/>
          <a:p>
            <a:pPr algn="l">
              <a:lnSpc>
                <a:spcPct val="110000"/>
              </a:lnSpc>
              <a:spcAft>
                <a:spcPts val="300"/>
              </a:spcAft>
            </a:pPr>
            <a:r>
              <a:rPr sz="1250" b="0" i="0" lang="ko-KR" altLang="en-US">
                <a:solidFill>
                  <a:srgbClr val="1B2740"/>
                </a:solidFill>
                <a:latin typeface="맑은 고딕"/>
                <a:ea typeface="맑은 고딕"/>
                <a:cs typeface="맑은 고딕"/>
              </a:rPr>
              <a:t>플롯 z = 참값 x + 잡음 v</a:t>
            </a:r>
          </a:p>
          <a:p>
            <a:pPr algn="l">
              <a:lnSpc>
                <a:spcPct val="110000"/>
              </a:lnSpc>
              <a:spcAft>
                <a:spcPts val="0"/>
              </a:spcAft>
            </a:pPr>
            <a:r>
              <a:rPr sz="1100" b="0" i="0" lang="ko-KR" altLang="en-US">
                <a:solidFill>
                  <a:srgbClr val="4A5A7A"/>
                </a:solidFill>
                <a:latin typeface="맑은 고딕"/>
                <a:ea typeface="맑은 고딕"/>
                <a:cs typeface="맑은 고딕"/>
              </a:rPr>
              <a:t>거리 · 방위각 · 고각 각각</a:t>
            </a:r>
          </a:p>
        </p:txBody>
      </p:sp>
      <p:sp>
        <p:nvSpPr>
          <p:cNvPr id="26" name="TextBox 25"/>
          <p:cNvSpPr txBox="1"/>
          <p:nvPr/>
        </p:nvSpPr>
        <p:spPr>
          <a:xfrm>
            <a:off x="640080" y="3401568"/>
            <a:ext cx="5303520"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참값 x: 안테나에서 본 거리 · 방위각 · 고각</a:t>
            </a:r>
          </a:p>
        </p:txBody>
      </p:sp>
      <p:pic>
        <p:nvPicPr>
          <p:cNvPr id="27" name="Picture 26" descr="image.png"/>
          <p:cNvPicPr>
            <a:picLocks noChangeAspect="1"/>
          </p:cNvPicPr>
          <p:nvPr/>
        </p:nvPicPr>
        <p:blipFill>
          <a:blip r:embed="rId2"/>
          <a:stretch>
            <a:fillRect/>
          </a:stretch>
        </p:blipFill>
        <p:spPr>
          <a:xfrm>
            <a:off x="640080" y="3749039"/>
            <a:ext cx="5120640" cy="2372979"/>
          </a:xfrm>
          <a:prstGeom prst="rect">
            <a:avLst/>
          </a:prstGeom>
        </p:spPr>
      </p:pic>
      <p:sp>
        <p:nvSpPr>
          <p:cNvPr id="28" name="TextBox 27"/>
          <p:cNvSpPr txBox="1"/>
          <p:nvPr/>
        </p:nvSpPr>
        <p:spPr>
          <a:xfrm>
            <a:off x="6172200" y="3401568"/>
            <a:ext cx="5376672"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단계 1   SNR (신호 대 잡음비)</a:t>
            </a:r>
          </a:p>
        </p:txBody>
      </p:sp>
      <p:pic>
        <p:nvPicPr>
          <p:cNvPr id="29" name="Picture 28" descr="image.png"/>
          <p:cNvPicPr>
            <a:picLocks noChangeAspect="1"/>
          </p:cNvPicPr>
          <p:nvPr/>
        </p:nvPicPr>
        <p:blipFill>
          <a:blip r:embed="rId3"/>
          <a:stretch>
            <a:fillRect/>
          </a:stretch>
        </p:blipFill>
        <p:spPr>
          <a:xfrm>
            <a:off x="6172200" y="3767328"/>
            <a:ext cx="2788920" cy="765585"/>
          </a:xfrm>
          <a:prstGeom prst="rect">
            <a:avLst/>
          </a:prstGeom>
        </p:spPr>
      </p:pic>
      <p:sp>
        <p:nvSpPr>
          <p:cNvPr id="30" name="TextBox 29"/>
          <p:cNvSpPr txBox="1"/>
          <p:nvPr/>
        </p:nvSpPr>
        <p:spPr>
          <a:xfrm>
            <a:off x="9144000" y="3749039"/>
            <a:ext cx="2404872" cy="786384"/>
          </a:xfrm>
          <a:prstGeom prst="rect">
            <a:avLst/>
          </a:prstGeom>
          <a:noFill/>
        </p:spPr>
        <p:txBody>
          <a:bodyPr wrap="square" anchor="ctr" lIns="0" tIns="0" rIns="0" bIns="0">
            <a:noAutofit/>
          </a:bodyPr>
          <a:lstStyle/>
          <a:p>
            <a:pPr algn="l">
              <a:lnSpc>
                <a:spcPct val="130000"/>
              </a:lnSpc>
              <a:spcAft>
                <a:spcPts val="0"/>
              </a:spcAft>
            </a:pPr>
            <a:r>
              <a:rPr sz="1150" b="1" i="0" lang="ko-KR" altLang="en-US">
                <a:solidFill>
                  <a:srgbClr val="1B2740"/>
                </a:solidFill>
                <a:latin typeface="맑은 고딕"/>
                <a:ea typeface="맑은 고딕"/>
                <a:cs typeface="맑은 고딕"/>
              </a:rPr>
              <a:t>빔폭</a:t>
            </a:r>
            <a:r>
              <a:rPr sz="1150" b="0" i="0" lang="ko-KR" altLang="en-US">
                <a:solidFill>
                  <a:srgbClr val="4A5A7A"/>
                </a:solidFill>
                <a:latin typeface="맑은 고딕"/>
                <a:ea typeface="맑은 고딕"/>
                <a:cs typeface="맑은 고딕"/>
              </a:rPr>
              <a:t> → 안테나 이득 G</a:t>
            </a:r>
          </a:p>
          <a:p>
            <a:pPr algn="l">
              <a:lnSpc>
                <a:spcPct val="130000"/>
              </a:lnSpc>
              <a:spcAft>
                <a:spcPts val="0"/>
              </a:spcAft>
            </a:pPr>
            <a:r>
              <a:rPr sz="1150" b="1" i="0" lang="ko-KR" altLang="en-US">
                <a:solidFill>
                  <a:srgbClr val="1B2740"/>
                </a:solidFill>
                <a:latin typeface="맑은 고딕"/>
                <a:ea typeface="맑은 고딕"/>
                <a:cs typeface="맑은 고딕"/>
              </a:rPr>
              <a:t>대역폭</a:t>
            </a:r>
            <a:r>
              <a:rPr sz="1150" b="0" i="0" lang="ko-KR" altLang="en-US">
                <a:solidFill>
                  <a:srgbClr val="4A5A7A"/>
                </a:solidFill>
                <a:latin typeface="맑은 고딕"/>
                <a:ea typeface="맑은 고딕"/>
                <a:cs typeface="맑은 고딕"/>
              </a:rPr>
              <a:t> → 잡음 전력</a:t>
            </a:r>
          </a:p>
        </p:txBody>
      </p:sp>
      <p:sp>
        <p:nvSpPr>
          <p:cNvPr id="31" name="Rectangle 30"/>
          <p:cNvSpPr/>
          <p:nvPr/>
        </p:nvSpPr>
        <p:spPr>
          <a:xfrm>
            <a:off x="6172200" y="4754880"/>
            <a:ext cx="5376672" cy="1371600"/>
          </a:xfrm>
          <a:prstGeom prst="rect">
            <a:avLst/>
          </a:prstGeom>
          <a:solidFill>
            <a:srgbClr val="EEF3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0" y="4754880"/>
            <a:ext cx="4919472" cy="1371600"/>
          </a:xfrm>
          <a:prstGeom prst="rect">
            <a:avLst/>
          </a:prstGeom>
          <a:noFill/>
        </p:spPr>
        <p:txBody>
          <a:bodyPr wrap="square" anchor="ctr" lIns="0" tIns="0" rIns="0" bIns="0">
            <a:noAutofit/>
          </a:bodyPr>
          <a:lstStyle/>
          <a:p>
            <a:pPr algn="l">
              <a:lnSpc>
                <a:spcPct val="120000"/>
              </a:lnSpc>
              <a:spcAft>
                <a:spcPts val="600"/>
              </a:spcAft>
            </a:pPr>
            <a:r>
              <a:rPr sz="1400" b="1" i="0" lang="ko-KR" altLang="en-US">
                <a:solidFill>
                  <a:srgbClr val="2563EB"/>
                </a:solidFill>
                <a:latin typeface="맑은 고딕"/>
                <a:ea typeface="맑은 고딕"/>
                <a:cs typeface="맑은 고딕"/>
              </a:rPr>
              <a:t>SNR 20</a:t>
            </a:r>
            <a:r>
              <a:rPr sz="1400" b="1" i="0" lang="ko-KR" altLang="en-US">
                <a:solidFill>
                  <a:srgbClr val="1B2740"/>
                </a:solidFill>
                <a:latin typeface="맑은 고딕"/>
                <a:ea typeface="맑은 고딕"/>
                <a:cs typeface="맑은 고딕"/>
              </a:rPr>
              <a:t> = 신호가 잡음의 20배  (약 13 dB)</a:t>
            </a:r>
          </a:p>
          <a:p>
            <a:pPr algn="l">
              <a:lnSpc>
                <a:spcPct val="120000"/>
              </a:lnSpc>
              <a:spcAft>
                <a:spcPts val="0"/>
              </a:spcAft>
            </a:pPr>
            <a:r>
              <a:rPr sz="1200" b="0" i="0" lang="ko-KR" altLang="en-US">
                <a:solidFill>
                  <a:srgbClr val="1B2740"/>
                </a:solidFill>
                <a:latin typeface="맑은 고딕"/>
                <a:ea typeface="맑은 고딕"/>
                <a:cs typeface="맑은 고딕"/>
              </a:rPr>
              <a:t>실제 SNR 은 거리의 네제곱에 반비례해서, 표적이 다가오면 커진다.</a:t>
            </a:r>
          </a:p>
          <a:p>
            <a:pPr algn="l">
              <a:lnSpc>
                <a:spcPct val="120000"/>
              </a:lnSpc>
              <a:spcAft>
                <a:spcPts val="0"/>
              </a:spcAft>
            </a:pPr>
            <a:r>
              <a:rPr sz="1200" b="0" i="0" lang="ko-KR" altLang="en-US">
                <a:solidFill>
                  <a:srgbClr val="1B2740"/>
                </a:solidFill>
                <a:latin typeface="맑은 고딕"/>
                <a:ea typeface="맑은 고딕"/>
                <a:cs typeface="맑은 고딕"/>
              </a:rPr>
              <a:t>이번 과제는 20 으로 고정한다.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02. 플롯 모의</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2.2 측정 오차 p 는 분해능을 √(2·SNR) 로 나눈 값입니다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8</a:t>
            </a:r>
          </a:p>
        </p:txBody>
      </p:sp>
      <p:sp>
        <p:nvSpPr>
          <p:cNvPr id="7" name="TextBox 6"/>
          <p:cNvSpPr txBox="1"/>
          <p:nvPr/>
        </p:nvSpPr>
        <p:spPr>
          <a:xfrm>
            <a:off x="640080" y="1965960"/>
            <a:ext cx="3931920"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식: 세 개 모두 같은 꼴</a:t>
            </a:r>
          </a:p>
        </p:txBody>
      </p:sp>
      <p:sp>
        <p:nvSpPr>
          <p:cNvPr id="8" name="Rectangle 7"/>
          <p:cNvSpPr/>
          <p:nvPr/>
        </p:nvSpPr>
        <p:spPr>
          <a:xfrm>
            <a:off x="640080" y="2304288"/>
            <a:ext cx="3931920" cy="731520"/>
          </a:xfrm>
          <a:prstGeom prst="rect">
            <a:avLst/>
          </a:prstGeom>
          <a:solidFill>
            <a:srgbClr val="EEF3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304288"/>
            <a:ext cx="3931920" cy="731520"/>
          </a:xfrm>
          <a:prstGeom prst="rect">
            <a:avLst/>
          </a:prstGeom>
          <a:noFill/>
        </p:spPr>
        <p:txBody>
          <a:bodyPr wrap="square" anchor="ctr" lIns="0" tIns="0" rIns="0" bIns="0">
            <a:noAutofit/>
          </a:bodyPr>
          <a:lstStyle/>
          <a:p>
            <a:pPr algn="ctr">
              <a:lnSpc>
                <a:spcPct val="115000"/>
              </a:lnSpc>
              <a:spcAft>
                <a:spcPts val="0"/>
              </a:spcAft>
            </a:pPr>
            <a:r>
              <a:rPr sz="1900" b="1" i="0" lang="ko-KR" altLang="en-US">
                <a:solidFill>
                  <a:srgbClr val="2563EB"/>
                </a:solidFill>
                <a:latin typeface="맑은 고딕"/>
                <a:ea typeface="맑은 고딕"/>
                <a:cs typeface="맑은 고딕"/>
              </a:rPr>
              <a:t>p = 분해능 ÷ √(2·SNR)</a:t>
            </a:r>
          </a:p>
        </p:txBody>
      </p:sp>
      <p:sp>
        <p:nvSpPr>
          <p:cNvPr id="10" name="TextBox 9"/>
          <p:cNvSpPr txBox="1"/>
          <p:nvPr/>
        </p:nvSpPr>
        <p:spPr>
          <a:xfrm>
            <a:off x="640080" y="3054096"/>
            <a:ext cx="3931920" cy="237744"/>
          </a:xfrm>
          <a:prstGeom prst="rect">
            <a:avLst/>
          </a:prstGeom>
          <a:noFill/>
        </p:spPr>
        <p:txBody>
          <a:bodyPr wrap="square" anchor="ctr" lIns="0" tIns="0" rIns="0" bIns="0">
            <a:noAutofit/>
          </a:bodyPr>
          <a:lstStyle/>
          <a:p>
            <a:pPr algn="ctr">
              <a:lnSpc>
                <a:spcPct val="115000"/>
              </a:lnSpc>
              <a:spcAft>
                <a:spcPts val="0"/>
              </a:spcAft>
            </a:pPr>
            <a:r>
              <a:rPr sz="1050" b="0" i="0" lang="ko-KR" altLang="en-US">
                <a:solidFill>
                  <a:srgbClr val="647089"/>
                </a:solidFill>
                <a:latin typeface="맑은 고딕"/>
                <a:ea typeface="맑은 고딕"/>
                <a:cs typeface="맑은 고딕"/>
              </a:rPr>
              <a:t>각도는 모노펄스 상수 KM 으로 한 번 더 나눈다</a:t>
            </a:r>
          </a:p>
        </p:txBody>
      </p:sp>
      <p:sp>
        <p:nvSpPr>
          <p:cNvPr id="11" name="Rounded Rectangle 10"/>
          <p:cNvSpPr/>
          <p:nvPr/>
        </p:nvSpPr>
        <p:spPr>
          <a:xfrm>
            <a:off x="640080" y="3502152"/>
            <a:ext cx="749808" cy="292608"/>
          </a:xfrm>
          <a:prstGeom prst="roundRect">
            <a:avLst>
              <a:gd name="adj" fmla="val 1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502152"/>
            <a:ext cx="713231" cy="292608"/>
          </a:xfrm>
          <a:prstGeom prst="rect">
            <a:avLst/>
          </a:prstGeom>
          <a:noFill/>
        </p:spPr>
        <p:txBody>
          <a:bodyPr wrap="square" anchor="ctr" lIns="0" tIns="0" rIns="0" bIns="0">
            <a:noAutofit/>
          </a:bodyPr>
          <a:lstStyle/>
          <a:p>
            <a:pPr algn="ctr">
              <a:lnSpc>
                <a:spcPct val="110000"/>
              </a:lnSpc>
              <a:spcAft>
                <a:spcPts val="0"/>
              </a:spcAft>
            </a:pPr>
            <a:r>
              <a:rPr sz="1100" b="1" i="0" lang="ko-KR" altLang="en-US">
                <a:solidFill>
                  <a:srgbClr val="FFFFFF"/>
                </a:solidFill>
                <a:latin typeface="맑은 고딕"/>
                <a:ea typeface="맑은 고딕"/>
                <a:cs typeface="맑은 고딕"/>
              </a:rPr>
              <a:t>거리</a:t>
            </a:r>
          </a:p>
        </p:txBody>
      </p:sp>
      <p:sp>
        <p:nvSpPr>
          <p:cNvPr id="13" name="TextBox 12"/>
          <p:cNvSpPr txBox="1"/>
          <p:nvPr/>
        </p:nvSpPr>
        <p:spPr>
          <a:xfrm>
            <a:off x="1508760" y="3383280"/>
            <a:ext cx="3063239" cy="347472"/>
          </a:xfrm>
          <a:prstGeom prst="rect">
            <a:avLst/>
          </a:prstGeom>
          <a:noFill/>
        </p:spPr>
        <p:txBody>
          <a:bodyPr wrap="square" anchor="ctr" lIns="0" tIns="0" rIns="0" bIns="0">
            <a:noAutofit/>
          </a:bodyPr>
          <a:lstStyle/>
          <a:p>
            <a:pPr algn="l">
              <a:lnSpc>
                <a:spcPct val="115000"/>
              </a:lnSpc>
              <a:spcAft>
                <a:spcPts val="0"/>
              </a:spcAft>
            </a:pPr>
            <a:r>
              <a:rPr sz="1150" b="0" i="0" lang="ko-KR" altLang="en-US">
                <a:solidFill>
                  <a:srgbClr val="1B2740"/>
                </a:solidFill>
                <a:latin typeface="맑은 고딕"/>
                <a:ea typeface="맑은 고딕"/>
                <a:cs typeface="맑은 고딕"/>
              </a:rPr>
              <a:t>p_rng = 29.98 m ÷ √(2·SNR)</a:t>
            </a:r>
          </a:p>
        </p:txBody>
      </p:sp>
      <p:sp>
        <p:nvSpPr>
          <p:cNvPr id="14" name="TextBox 13"/>
          <p:cNvSpPr txBox="1"/>
          <p:nvPr/>
        </p:nvSpPr>
        <p:spPr>
          <a:xfrm>
            <a:off x="1508760" y="3712464"/>
            <a:ext cx="3063239" cy="237744"/>
          </a:xfrm>
          <a:prstGeom prst="rect">
            <a:avLst/>
          </a:prstGeom>
          <a:noFill/>
        </p:spPr>
        <p:txBody>
          <a:bodyPr wrap="square" anchor="ctr" lIns="0" tIns="0" rIns="0" bIns="0">
            <a:noAutofit/>
          </a:bodyPr>
          <a:lstStyle/>
          <a:p>
            <a:pPr algn="l">
              <a:lnSpc>
                <a:spcPct val="115000"/>
              </a:lnSpc>
              <a:spcAft>
                <a:spcPts val="0"/>
              </a:spcAft>
            </a:pPr>
            <a:r>
              <a:rPr sz="1050" b="0" i="0" lang="ko-KR" altLang="en-US">
                <a:solidFill>
                  <a:srgbClr val="647089"/>
                </a:solidFill>
                <a:latin typeface="맑은 고딕"/>
                <a:ea typeface="맑은 고딕"/>
                <a:cs typeface="맑은 고딕"/>
              </a:rPr>
              <a:t>분해능 = c ÷ 2B</a:t>
            </a:r>
          </a:p>
        </p:txBody>
      </p:sp>
      <p:sp>
        <p:nvSpPr>
          <p:cNvPr id="15" name="Rounded Rectangle 14"/>
          <p:cNvSpPr/>
          <p:nvPr/>
        </p:nvSpPr>
        <p:spPr>
          <a:xfrm>
            <a:off x="640080" y="4160520"/>
            <a:ext cx="749808" cy="292608"/>
          </a:xfrm>
          <a:prstGeom prst="roundRect">
            <a:avLst>
              <a:gd name="adj" fmla="val 18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4160520"/>
            <a:ext cx="713231" cy="292608"/>
          </a:xfrm>
          <a:prstGeom prst="rect">
            <a:avLst/>
          </a:prstGeom>
          <a:noFill/>
        </p:spPr>
        <p:txBody>
          <a:bodyPr wrap="square" anchor="ctr" lIns="0" tIns="0" rIns="0" bIns="0">
            <a:noAutofit/>
          </a:bodyPr>
          <a:lstStyle/>
          <a:p>
            <a:pPr algn="ctr">
              <a:lnSpc>
                <a:spcPct val="110000"/>
              </a:lnSpc>
              <a:spcAft>
                <a:spcPts val="0"/>
              </a:spcAft>
            </a:pPr>
            <a:r>
              <a:rPr sz="1100" b="1" i="0" lang="ko-KR" altLang="en-US">
                <a:solidFill>
                  <a:srgbClr val="FFFFFF"/>
                </a:solidFill>
                <a:latin typeface="맑은 고딕"/>
                <a:ea typeface="맑은 고딕"/>
                <a:cs typeface="맑은 고딕"/>
              </a:rPr>
              <a:t>방위각</a:t>
            </a:r>
          </a:p>
        </p:txBody>
      </p:sp>
      <p:sp>
        <p:nvSpPr>
          <p:cNvPr id="17" name="TextBox 16"/>
          <p:cNvSpPr txBox="1"/>
          <p:nvPr/>
        </p:nvSpPr>
        <p:spPr>
          <a:xfrm>
            <a:off x="1508760" y="4041648"/>
            <a:ext cx="3063239" cy="347472"/>
          </a:xfrm>
          <a:prstGeom prst="rect">
            <a:avLst/>
          </a:prstGeom>
          <a:noFill/>
        </p:spPr>
        <p:txBody>
          <a:bodyPr wrap="square" anchor="ctr" lIns="0" tIns="0" rIns="0" bIns="0">
            <a:noAutofit/>
          </a:bodyPr>
          <a:lstStyle/>
          <a:p>
            <a:pPr algn="l">
              <a:lnSpc>
                <a:spcPct val="115000"/>
              </a:lnSpc>
              <a:spcAft>
                <a:spcPts val="0"/>
              </a:spcAft>
            </a:pPr>
            <a:r>
              <a:rPr sz="1150" b="0" i="0" lang="ko-KR" altLang="en-US">
                <a:solidFill>
                  <a:srgbClr val="1B2740"/>
                </a:solidFill>
                <a:latin typeface="맑은 고딕"/>
                <a:ea typeface="맑은 고딕"/>
                <a:cs typeface="맑은 고딕"/>
              </a:rPr>
              <a:t>p_azi = 5.14° ÷ (1.7 × √(2·SNR))</a:t>
            </a:r>
          </a:p>
        </p:txBody>
      </p:sp>
      <p:sp>
        <p:nvSpPr>
          <p:cNvPr id="18" name="TextBox 17"/>
          <p:cNvSpPr txBox="1"/>
          <p:nvPr/>
        </p:nvSpPr>
        <p:spPr>
          <a:xfrm>
            <a:off x="1508760" y="4370832"/>
            <a:ext cx="3063239" cy="237744"/>
          </a:xfrm>
          <a:prstGeom prst="rect">
            <a:avLst/>
          </a:prstGeom>
          <a:noFill/>
        </p:spPr>
        <p:txBody>
          <a:bodyPr wrap="square" anchor="ctr" lIns="0" tIns="0" rIns="0" bIns="0">
            <a:noAutofit/>
          </a:bodyPr>
          <a:lstStyle/>
          <a:p>
            <a:pPr algn="l">
              <a:lnSpc>
                <a:spcPct val="115000"/>
              </a:lnSpc>
              <a:spcAft>
                <a:spcPts val="0"/>
              </a:spcAft>
            </a:pPr>
            <a:r>
              <a:rPr sz="1050" b="0" i="0" lang="ko-KR" altLang="en-US">
                <a:solidFill>
                  <a:srgbClr val="647089"/>
                </a:solidFill>
                <a:latin typeface="맑은 고딕"/>
                <a:ea typeface="맑은 고딕"/>
                <a:cs typeface="맑은 고딕"/>
              </a:rPr>
              <a:t>분해능 = 빔폭,  1.7 = KM</a:t>
            </a:r>
          </a:p>
        </p:txBody>
      </p:sp>
      <p:sp>
        <p:nvSpPr>
          <p:cNvPr id="19" name="Rounded Rectangle 18"/>
          <p:cNvSpPr/>
          <p:nvPr/>
        </p:nvSpPr>
        <p:spPr>
          <a:xfrm>
            <a:off x="640080" y="4818888"/>
            <a:ext cx="749808" cy="292608"/>
          </a:xfrm>
          <a:prstGeom prst="roundRect">
            <a:avLst>
              <a:gd name="adj" fmla="val 1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818888"/>
            <a:ext cx="713231" cy="292608"/>
          </a:xfrm>
          <a:prstGeom prst="rect">
            <a:avLst/>
          </a:prstGeom>
          <a:noFill/>
        </p:spPr>
        <p:txBody>
          <a:bodyPr wrap="square" anchor="ctr" lIns="0" tIns="0" rIns="0" bIns="0">
            <a:noAutofit/>
          </a:bodyPr>
          <a:lstStyle/>
          <a:p>
            <a:pPr algn="ctr">
              <a:lnSpc>
                <a:spcPct val="110000"/>
              </a:lnSpc>
              <a:spcAft>
                <a:spcPts val="0"/>
              </a:spcAft>
            </a:pPr>
            <a:r>
              <a:rPr sz="1100" b="1" i="0" lang="ko-KR" altLang="en-US">
                <a:solidFill>
                  <a:srgbClr val="FFFFFF"/>
                </a:solidFill>
                <a:latin typeface="맑은 고딕"/>
                <a:ea typeface="맑은 고딕"/>
                <a:cs typeface="맑은 고딕"/>
              </a:rPr>
              <a:t>고각</a:t>
            </a:r>
          </a:p>
        </p:txBody>
      </p:sp>
      <p:sp>
        <p:nvSpPr>
          <p:cNvPr id="21" name="TextBox 20"/>
          <p:cNvSpPr txBox="1"/>
          <p:nvPr/>
        </p:nvSpPr>
        <p:spPr>
          <a:xfrm>
            <a:off x="1508760" y="4700016"/>
            <a:ext cx="3063239" cy="347472"/>
          </a:xfrm>
          <a:prstGeom prst="rect">
            <a:avLst/>
          </a:prstGeom>
          <a:noFill/>
        </p:spPr>
        <p:txBody>
          <a:bodyPr wrap="square" anchor="ctr" lIns="0" tIns="0" rIns="0" bIns="0">
            <a:noAutofit/>
          </a:bodyPr>
          <a:lstStyle/>
          <a:p>
            <a:pPr algn="l">
              <a:lnSpc>
                <a:spcPct val="115000"/>
              </a:lnSpc>
              <a:spcAft>
                <a:spcPts val="0"/>
              </a:spcAft>
            </a:pPr>
            <a:r>
              <a:rPr sz="1150" b="0" i="0" lang="ko-KR" altLang="en-US">
                <a:solidFill>
                  <a:srgbClr val="1B2740"/>
                </a:solidFill>
                <a:latin typeface="맑은 고딕"/>
                <a:ea typeface="맑은 고딕"/>
                <a:cs typeface="맑은 고딕"/>
              </a:rPr>
              <a:t>p_ele = 5.31° ÷ (1.7 × √(2·SNR))</a:t>
            </a:r>
          </a:p>
        </p:txBody>
      </p:sp>
      <p:sp>
        <p:nvSpPr>
          <p:cNvPr id="22" name="TextBox 21"/>
          <p:cNvSpPr txBox="1"/>
          <p:nvPr/>
        </p:nvSpPr>
        <p:spPr>
          <a:xfrm>
            <a:off x="1508760" y="5029200"/>
            <a:ext cx="3063239" cy="237744"/>
          </a:xfrm>
          <a:prstGeom prst="rect">
            <a:avLst/>
          </a:prstGeom>
          <a:noFill/>
        </p:spPr>
        <p:txBody>
          <a:bodyPr wrap="square" anchor="ctr" lIns="0" tIns="0" rIns="0" bIns="0">
            <a:noAutofit/>
          </a:bodyPr>
          <a:lstStyle/>
          <a:p>
            <a:pPr algn="l">
              <a:lnSpc>
                <a:spcPct val="115000"/>
              </a:lnSpc>
              <a:spcAft>
                <a:spcPts val="0"/>
              </a:spcAft>
            </a:pPr>
            <a:r>
              <a:rPr sz="1050" b="0" i="0" lang="ko-KR" altLang="en-US">
                <a:solidFill>
                  <a:srgbClr val="647089"/>
                </a:solidFill>
                <a:latin typeface="맑은 고딕"/>
                <a:ea typeface="맑은 고딕"/>
                <a:cs typeface="맑은 고딕"/>
              </a:rPr>
              <a:t>분해능 = 빔폭,  1.7 = KM</a:t>
            </a:r>
          </a:p>
        </p:txBody>
      </p:sp>
      <p:sp>
        <p:nvSpPr>
          <p:cNvPr id="23" name="TextBox 22"/>
          <p:cNvSpPr txBox="1"/>
          <p:nvPr/>
        </p:nvSpPr>
        <p:spPr>
          <a:xfrm>
            <a:off x="640080" y="5504688"/>
            <a:ext cx="3931920" cy="603504"/>
          </a:xfrm>
          <a:prstGeom prst="rect">
            <a:avLst/>
          </a:prstGeom>
          <a:noFill/>
        </p:spPr>
        <p:txBody>
          <a:bodyPr wrap="square" anchor="t" lIns="0" tIns="0" rIns="0" bIns="0">
            <a:noAutofit/>
          </a:bodyPr>
          <a:lstStyle/>
          <a:p>
            <a:pPr algn="l">
              <a:lnSpc>
                <a:spcPct val="120000"/>
              </a:lnSpc>
              <a:spcAft>
                <a:spcPts val="0"/>
              </a:spcAft>
            </a:pPr>
            <a:r>
              <a:rPr sz="1050" b="0" i="0" lang="ko-KR" altLang="en-US">
                <a:solidFill>
                  <a:srgbClr val="4A5A7A"/>
                </a:solidFill>
                <a:latin typeface="맑은 고딕"/>
                <a:ea typeface="맑은 고딕"/>
                <a:cs typeface="맑은 고딕"/>
              </a:rPr>
              <a:t>c 광속,  B 대역폭 5 MHz,  KM 모노펄스 기울기 상수</a:t>
            </a:r>
          </a:p>
          <a:p>
            <a:pPr algn="l">
              <a:lnSpc>
                <a:spcPct val="120000"/>
              </a:lnSpc>
              <a:spcAft>
                <a:spcPts val="0"/>
              </a:spcAft>
            </a:pPr>
            <a:r>
              <a:rPr sz="1050" b="0" i="0" lang="ko-KR" altLang="en-US">
                <a:solidFill>
                  <a:srgbClr val="4A5A7A"/>
                </a:solidFill>
                <a:latin typeface="맑은 고딕"/>
                <a:ea typeface="맑은 고딕"/>
                <a:cs typeface="맑은 고딕"/>
              </a:rPr>
              <a:t>SNR 은 선형값 (dB 아님)</a:t>
            </a:r>
          </a:p>
        </p:txBody>
      </p:sp>
      <p:sp>
        <p:nvSpPr>
          <p:cNvPr id="24" name="TextBox 23"/>
          <p:cNvSpPr txBox="1"/>
          <p:nvPr/>
        </p:nvSpPr>
        <p:spPr>
          <a:xfrm>
            <a:off x="4846320" y="1965960"/>
            <a:ext cx="3291840"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분해능과 정확도</a:t>
            </a:r>
          </a:p>
        </p:txBody>
      </p:sp>
      <p:pic>
        <p:nvPicPr>
          <p:cNvPr id="25" name="Picture 24" descr="image.png"/>
          <p:cNvPicPr>
            <a:picLocks noChangeAspect="1"/>
          </p:cNvPicPr>
          <p:nvPr/>
        </p:nvPicPr>
        <p:blipFill>
          <a:blip r:embed="rId2"/>
          <a:stretch>
            <a:fillRect/>
          </a:stretch>
        </p:blipFill>
        <p:spPr>
          <a:xfrm>
            <a:off x="4846320" y="2304288"/>
            <a:ext cx="3291840" cy="2236180"/>
          </a:xfrm>
          <a:prstGeom prst="rect">
            <a:avLst/>
          </a:prstGeom>
        </p:spPr>
      </p:pic>
      <p:sp>
        <p:nvSpPr>
          <p:cNvPr id="26" name="TextBox 25"/>
          <p:cNvSpPr txBox="1"/>
          <p:nvPr/>
        </p:nvSpPr>
        <p:spPr>
          <a:xfrm>
            <a:off x="4846320" y="4681728"/>
            <a:ext cx="3291840" cy="1463040"/>
          </a:xfrm>
          <a:prstGeom prst="rect">
            <a:avLst/>
          </a:prstGeom>
          <a:noFill/>
        </p:spPr>
        <p:txBody>
          <a:bodyPr wrap="square" anchor="t"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분해능</a:t>
            </a:r>
          </a:p>
          <a:p>
            <a:pPr algn="l">
              <a:lnSpc>
                <a:spcPct val="115000"/>
              </a:lnSpc>
              <a:spcAft>
                <a:spcPts val="800"/>
              </a:spcAft>
            </a:pPr>
            <a:r>
              <a:rPr sz="1150" b="0" i="0" lang="ko-KR" altLang="en-US">
                <a:solidFill>
                  <a:srgbClr val="4A5A7A"/>
                </a:solidFill>
                <a:latin typeface="맑은 고딕"/>
                <a:ea typeface="맑은 고딕"/>
                <a:cs typeface="맑은 고딕"/>
              </a:rPr>
              <a:t>두 표적을 따로 볼 수 있는 간격 (거리 약 30 m)</a:t>
            </a:r>
          </a:p>
          <a:p>
            <a:pPr algn="l">
              <a:lnSpc>
                <a:spcPct val="115000"/>
              </a:lnSpc>
              <a:spcAft>
                <a:spcPts val="0"/>
              </a:spcAft>
            </a:pPr>
            <a:r>
              <a:rPr sz="1250" b="1" i="0" lang="ko-KR" altLang="en-US">
                <a:solidFill>
                  <a:srgbClr val="D97706"/>
                </a:solidFill>
                <a:latin typeface="맑은 고딕"/>
                <a:ea typeface="맑은 고딕"/>
                <a:cs typeface="맑은 고딕"/>
              </a:rPr>
              <a:t>정확도 = p</a:t>
            </a:r>
          </a:p>
          <a:p>
            <a:pPr algn="l">
              <a:lnSpc>
                <a:spcPct val="115000"/>
              </a:lnSpc>
              <a:spcAft>
                <a:spcPts val="0"/>
              </a:spcAft>
            </a:pPr>
            <a:r>
              <a:rPr sz="1150" b="0" i="0" lang="ko-KR" altLang="en-US">
                <a:solidFill>
                  <a:srgbClr val="4A5A7A"/>
                </a:solidFill>
                <a:latin typeface="맑은 고딕"/>
                <a:ea typeface="맑은 고딕"/>
                <a:cs typeface="맑은 고딕"/>
              </a:rPr>
              <a:t>한 표적의 측정값이 흔들리는 폭 (약 4.7 m)</a:t>
            </a:r>
          </a:p>
        </p:txBody>
      </p:sp>
      <p:sp>
        <p:nvSpPr>
          <p:cNvPr id="27" name="TextBox 26"/>
          <p:cNvSpPr txBox="1"/>
          <p:nvPr/>
        </p:nvSpPr>
        <p:spPr>
          <a:xfrm>
            <a:off x="8412480" y="1965960"/>
            <a:ext cx="3136392"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과제 값 넣기</a:t>
            </a:r>
          </a:p>
        </p:txBody>
      </p:sp>
      <p:sp>
        <p:nvSpPr>
          <p:cNvPr id="28" name="Rectangle 27"/>
          <p:cNvSpPr/>
          <p:nvPr/>
        </p:nvSpPr>
        <p:spPr>
          <a:xfrm>
            <a:off x="8412480" y="2304288"/>
            <a:ext cx="3136392" cy="502920"/>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12480" y="2304288"/>
            <a:ext cx="3136392" cy="502920"/>
          </a:xfrm>
          <a:prstGeom prst="rect">
            <a:avLst/>
          </a:prstGeom>
          <a:noFill/>
        </p:spPr>
        <p:txBody>
          <a:bodyPr wrap="square" anchor="ctr" lIns="0" tIns="0" rIns="0" bIns="0">
            <a:noAutofit/>
          </a:bodyPr>
          <a:lstStyle/>
          <a:p>
            <a:pPr algn="ctr">
              <a:lnSpc>
                <a:spcPct val="115000"/>
              </a:lnSpc>
              <a:spcAft>
                <a:spcPts val="0"/>
              </a:spcAft>
            </a:pPr>
            <a:r>
              <a:rPr sz="1300" b="1" i="0" lang="ko-KR" altLang="en-US">
                <a:solidFill>
                  <a:srgbClr val="1B2740"/>
                </a:solidFill>
                <a:latin typeface="맑은 고딕"/>
                <a:ea typeface="맑은 고딕"/>
                <a:cs typeface="맑은 고딕"/>
              </a:rPr>
              <a:t>√(2 × 20) = √40 = 6.32</a:t>
            </a:r>
          </a:p>
        </p:txBody>
      </p:sp>
      <p:sp>
        <p:nvSpPr>
          <p:cNvPr id="30" name="TextBox 29"/>
          <p:cNvSpPr txBox="1"/>
          <p:nvPr/>
        </p:nvSpPr>
        <p:spPr>
          <a:xfrm>
            <a:off x="8458200" y="2944368"/>
            <a:ext cx="1645920" cy="36576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거리</a:t>
            </a:r>
          </a:p>
        </p:txBody>
      </p:sp>
      <p:sp>
        <p:nvSpPr>
          <p:cNvPr id="31" name="TextBox 30"/>
          <p:cNvSpPr txBox="1"/>
          <p:nvPr/>
        </p:nvSpPr>
        <p:spPr>
          <a:xfrm>
            <a:off x="8458200" y="3291840"/>
            <a:ext cx="1920240" cy="292608"/>
          </a:xfrm>
          <a:prstGeom prst="rect">
            <a:avLst/>
          </a:prstGeom>
          <a:noFill/>
        </p:spPr>
        <p:txBody>
          <a:bodyPr wrap="square" anchor="ctr" lIns="0" tIns="0" rIns="0" bIns="0">
            <a:noAutofit/>
          </a:bodyPr>
          <a:lstStyle/>
          <a:p>
            <a:pPr algn="l">
              <a:lnSpc>
                <a:spcPct val="115000"/>
              </a:lnSpc>
              <a:spcAft>
                <a:spcPts val="0"/>
              </a:spcAft>
            </a:pPr>
            <a:r>
              <a:rPr sz="1050" b="0" i="0" lang="ko-KR" altLang="en-US">
                <a:solidFill>
                  <a:srgbClr val="4A5A7A"/>
                </a:solidFill>
                <a:latin typeface="맑은 고딕"/>
                <a:ea typeface="맑은 고딕"/>
                <a:cs typeface="맑은 고딕"/>
              </a:rPr>
              <a:t>29.98 m ÷ 6.32</a:t>
            </a:r>
          </a:p>
        </p:txBody>
      </p:sp>
      <p:sp>
        <p:nvSpPr>
          <p:cNvPr id="32" name="TextBox 31"/>
          <p:cNvSpPr txBox="1"/>
          <p:nvPr/>
        </p:nvSpPr>
        <p:spPr>
          <a:xfrm>
            <a:off x="10058400" y="2944368"/>
            <a:ext cx="1444752" cy="676656"/>
          </a:xfrm>
          <a:prstGeom prst="rect">
            <a:avLst/>
          </a:prstGeom>
          <a:noFill/>
        </p:spPr>
        <p:txBody>
          <a:bodyPr wrap="square" anchor="ctr" lIns="0" tIns="0" rIns="0" bIns="0">
            <a:noAutofit/>
          </a:bodyPr>
          <a:lstStyle/>
          <a:p>
            <a:pPr algn="r">
              <a:lnSpc>
                <a:spcPct val="115000"/>
              </a:lnSpc>
              <a:spcAft>
                <a:spcPts val="0"/>
              </a:spcAft>
            </a:pPr>
            <a:r>
              <a:rPr sz="2300" b="1" i="0" lang="ko-KR" altLang="en-US">
                <a:solidFill>
                  <a:srgbClr val="2563EB"/>
                </a:solidFill>
                <a:latin typeface="Arial"/>
                <a:ea typeface="맑은 고딕"/>
                <a:cs typeface="Arial"/>
              </a:rPr>
              <a:t>4.74 m</a:t>
            </a:r>
          </a:p>
        </p:txBody>
      </p:sp>
      <p:cxnSp>
        <p:nvCxnSpPr>
          <p:cNvPr id="33" name="Connector 32"/>
          <p:cNvCxnSpPr/>
          <p:nvPr/>
        </p:nvCxnSpPr>
        <p:spPr>
          <a:xfrm>
            <a:off x="8412480" y="3675888"/>
            <a:ext cx="31363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458200" y="3730752"/>
            <a:ext cx="1645920" cy="36576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방위각</a:t>
            </a:r>
          </a:p>
        </p:txBody>
      </p:sp>
      <p:sp>
        <p:nvSpPr>
          <p:cNvPr id="35" name="TextBox 34"/>
          <p:cNvSpPr txBox="1"/>
          <p:nvPr/>
        </p:nvSpPr>
        <p:spPr>
          <a:xfrm>
            <a:off x="8458200" y="4078224"/>
            <a:ext cx="1920240" cy="292608"/>
          </a:xfrm>
          <a:prstGeom prst="rect">
            <a:avLst/>
          </a:prstGeom>
          <a:noFill/>
        </p:spPr>
        <p:txBody>
          <a:bodyPr wrap="square" anchor="ctr" lIns="0" tIns="0" rIns="0" bIns="0">
            <a:noAutofit/>
          </a:bodyPr>
          <a:lstStyle/>
          <a:p>
            <a:pPr algn="l">
              <a:lnSpc>
                <a:spcPct val="115000"/>
              </a:lnSpc>
              <a:spcAft>
                <a:spcPts val="0"/>
              </a:spcAft>
            </a:pPr>
            <a:r>
              <a:rPr sz="1050" b="0" i="0" lang="ko-KR" altLang="en-US">
                <a:solidFill>
                  <a:srgbClr val="4A5A7A"/>
                </a:solidFill>
                <a:latin typeface="맑은 고딕"/>
                <a:ea typeface="맑은 고딕"/>
                <a:cs typeface="맑은 고딕"/>
              </a:rPr>
              <a:t>5.14° ÷ (1.7 × 6.32)</a:t>
            </a:r>
          </a:p>
        </p:txBody>
      </p:sp>
      <p:sp>
        <p:nvSpPr>
          <p:cNvPr id="36" name="TextBox 35"/>
          <p:cNvSpPr txBox="1"/>
          <p:nvPr/>
        </p:nvSpPr>
        <p:spPr>
          <a:xfrm>
            <a:off x="10058400" y="3730752"/>
            <a:ext cx="1444752" cy="676656"/>
          </a:xfrm>
          <a:prstGeom prst="rect">
            <a:avLst/>
          </a:prstGeom>
          <a:noFill/>
        </p:spPr>
        <p:txBody>
          <a:bodyPr wrap="square" anchor="ctr" lIns="0" tIns="0" rIns="0" bIns="0">
            <a:noAutofit/>
          </a:bodyPr>
          <a:lstStyle/>
          <a:p>
            <a:pPr algn="r">
              <a:lnSpc>
                <a:spcPct val="115000"/>
              </a:lnSpc>
              <a:spcAft>
                <a:spcPts val="0"/>
              </a:spcAft>
            </a:pPr>
            <a:r>
              <a:rPr sz="2300" b="1" i="0" lang="ko-KR" altLang="en-US">
                <a:solidFill>
                  <a:srgbClr val="D97706"/>
                </a:solidFill>
                <a:latin typeface="Arial"/>
                <a:ea typeface="맑은 고딕"/>
                <a:cs typeface="Arial"/>
              </a:rPr>
              <a:t>0.478°</a:t>
            </a:r>
          </a:p>
        </p:txBody>
      </p:sp>
      <p:cxnSp>
        <p:nvCxnSpPr>
          <p:cNvPr id="37" name="Connector 36"/>
          <p:cNvCxnSpPr/>
          <p:nvPr/>
        </p:nvCxnSpPr>
        <p:spPr>
          <a:xfrm>
            <a:off x="8412480" y="4462272"/>
            <a:ext cx="31363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458200" y="4517136"/>
            <a:ext cx="1645920" cy="36576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고각</a:t>
            </a:r>
          </a:p>
        </p:txBody>
      </p:sp>
      <p:sp>
        <p:nvSpPr>
          <p:cNvPr id="39" name="TextBox 38"/>
          <p:cNvSpPr txBox="1"/>
          <p:nvPr/>
        </p:nvSpPr>
        <p:spPr>
          <a:xfrm>
            <a:off x="8458200" y="4864608"/>
            <a:ext cx="1920240" cy="292608"/>
          </a:xfrm>
          <a:prstGeom prst="rect">
            <a:avLst/>
          </a:prstGeom>
          <a:noFill/>
        </p:spPr>
        <p:txBody>
          <a:bodyPr wrap="square" anchor="ctr" lIns="0" tIns="0" rIns="0" bIns="0">
            <a:noAutofit/>
          </a:bodyPr>
          <a:lstStyle/>
          <a:p>
            <a:pPr algn="l">
              <a:lnSpc>
                <a:spcPct val="115000"/>
              </a:lnSpc>
              <a:spcAft>
                <a:spcPts val="0"/>
              </a:spcAft>
            </a:pPr>
            <a:r>
              <a:rPr sz="1050" b="0" i="0" lang="ko-KR" altLang="en-US">
                <a:solidFill>
                  <a:srgbClr val="4A5A7A"/>
                </a:solidFill>
                <a:latin typeface="맑은 고딕"/>
                <a:ea typeface="맑은 고딕"/>
                <a:cs typeface="맑은 고딕"/>
              </a:rPr>
              <a:t>5.31° ÷ (1.7 × 6.32)</a:t>
            </a:r>
          </a:p>
        </p:txBody>
      </p:sp>
      <p:sp>
        <p:nvSpPr>
          <p:cNvPr id="40" name="TextBox 39"/>
          <p:cNvSpPr txBox="1"/>
          <p:nvPr/>
        </p:nvSpPr>
        <p:spPr>
          <a:xfrm>
            <a:off x="10058400" y="4517136"/>
            <a:ext cx="1444752" cy="676656"/>
          </a:xfrm>
          <a:prstGeom prst="rect">
            <a:avLst/>
          </a:prstGeom>
          <a:noFill/>
        </p:spPr>
        <p:txBody>
          <a:bodyPr wrap="square" anchor="ctr" lIns="0" tIns="0" rIns="0" bIns="0">
            <a:noAutofit/>
          </a:bodyPr>
          <a:lstStyle/>
          <a:p>
            <a:pPr algn="r">
              <a:lnSpc>
                <a:spcPct val="115000"/>
              </a:lnSpc>
              <a:spcAft>
                <a:spcPts val="0"/>
              </a:spcAft>
            </a:pPr>
            <a:r>
              <a:rPr sz="2300" b="1" i="0" lang="ko-KR" altLang="en-US">
                <a:solidFill>
                  <a:srgbClr val="059669"/>
                </a:solidFill>
                <a:latin typeface="Arial"/>
                <a:ea typeface="맑은 고딕"/>
                <a:cs typeface="Arial"/>
              </a:rPr>
              <a:t>0.494°</a:t>
            </a:r>
          </a:p>
        </p:txBody>
      </p:sp>
      <p:cxnSp>
        <p:nvCxnSpPr>
          <p:cNvPr id="41" name="Connector 40"/>
          <p:cNvCxnSpPr/>
          <p:nvPr/>
        </p:nvCxnSpPr>
        <p:spPr>
          <a:xfrm>
            <a:off x="8412480" y="5248656"/>
            <a:ext cx="31363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8412480" y="5413248"/>
            <a:ext cx="3136392" cy="713232"/>
          </a:xfrm>
          <a:prstGeom prst="rect">
            <a:avLst/>
          </a:prstGeom>
          <a:noFill/>
        </p:spPr>
        <p:txBody>
          <a:bodyPr wrap="square" anchor="t" lIns="0" tIns="0" rIns="0" bIns="0">
            <a:noAutofit/>
          </a:bodyPr>
          <a:lstStyle/>
          <a:p>
            <a:pPr algn="l">
              <a:lnSpc>
                <a:spcPct val="120000"/>
              </a:lnSpc>
              <a:spcAft>
                <a:spcPts val="0"/>
              </a:spcAft>
            </a:pPr>
            <a:r>
              <a:rPr sz="1150" b="0" i="0" lang="ko-KR" altLang="en-US">
                <a:solidFill>
                  <a:srgbClr val="4A5A7A"/>
                </a:solidFill>
                <a:latin typeface="맑은 고딕"/>
                <a:ea typeface="맑은 고딕"/>
                <a:cs typeface="맑은 고딕"/>
              </a:rPr>
              <a:t>대역폭이 넓고, 빔이 좁고, SNR 이 클수록</a:t>
            </a:r>
          </a:p>
          <a:p>
            <a:pPr algn="l">
              <a:lnSpc>
                <a:spcPct val="120000"/>
              </a:lnSpc>
              <a:spcAft>
                <a:spcPts val="0"/>
              </a:spcAft>
            </a:pPr>
            <a:r>
              <a:rPr sz="1150" b="0" i="0" lang="ko-KR" altLang="en-US">
                <a:solidFill>
                  <a:srgbClr val="4A5A7A"/>
                </a:solidFill>
                <a:latin typeface="맑은 고딕"/>
                <a:ea typeface="맑은 고딕"/>
                <a:cs typeface="맑은 고딕"/>
              </a:rPr>
              <a:t>p 가 작다 = 더 정확하다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02. 플롯 모의</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2.3 거리 · 방위각 · 고각마다 잡음을 따로 뽑아 더합니다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9</a:t>
            </a:r>
          </a:p>
        </p:txBody>
      </p:sp>
      <p:sp>
        <p:nvSpPr>
          <p:cNvPr id="7" name="Rectangle 6"/>
          <p:cNvSpPr/>
          <p:nvPr/>
        </p:nvSpPr>
        <p:spPr>
          <a:xfrm>
            <a:off x="640080" y="1965960"/>
            <a:ext cx="3383280" cy="2971800"/>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57400"/>
            <a:ext cx="3383280" cy="548640"/>
          </a:xfrm>
          <a:prstGeom prst="rect">
            <a:avLst/>
          </a:prstGeom>
          <a:noFill/>
        </p:spPr>
        <p:txBody>
          <a:bodyPr wrap="square" anchor="ctr" lIns="0" tIns="0" rIns="0" bIns="0">
            <a:noAutofit/>
          </a:bodyPr>
          <a:lstStyle/>
          <a:p>
            <a:pPr algn="ctr">
              <a:lnSpc>
                <a:spcPct val="115000"/>
              </a:lnSpc>
              <a:spcAft>
                <a:spcPts val="0"/>
              </a:spcAft>
            </a:pPr>
            <a:r>
              <a:rPr sz="2600" b="1" i="0" lang="ko-KR" altLang="en-US">
                <a:solidFill>
                  <a:srgbClr val="1B2740"/>
                </a:solidFill>
                <a:latin typeface="Arial"/>
                <a:ea typeface="맑은 고딕"/>
                <a:cs typeface="Arial"/>
              </a:rPr>
              <a:t>z = x + v</a:t>
            </a:r>
          </a:p>
        </p:txBody>
      </p:sp>
      <p:sp>
        <p:nvSpPr>
          <p:cNvPr id="9" name="TextBox 8"/>
          <p:cNvSpPr txBox="1"/>
          <p:nvPr/>
        </p:nvSpPr>
        <p:spPr>
          <a:xfrm>
            <a:off x="640080" y="2606040"/>
            <a:ext cx="3383280" cy="384048"/>
          </a:xfrm>
          <a:prstGeom prst="rect">
            <a:avLst/>
          </a:prstGeom>
          <a:noFill/>
        </p:spPr>
        <p:txBody>
          <a:bodyPr wrap="square" anchor="ctr" lIns="0" tIns="0" rIns="0" bIns="0">
            <a:noAutofit/>
          </a:bodyPr>
          <a:lstStyle/>
          <a:p>
            <a:pPr algn="ctr">
              <a:lnSpc>
                <a:spcPct val="115000"/>
              </a:lnSpc>
              <a:spcAft>
                <a:spcPts val="0"/>
              </a:spcAft>
            </a:pPr>
            <a:r>
              <a:rPr sz="1700" b="0" i="0" lang="ko-KR" altLang="en-US">
                <a:solidFill>
                  <a:srgbClr val="1B2740"/>
                </a:solidFill>
                <a:latin typeface="Arial"/>
                <a:ea typeface="맑은 고딕"/>
                <a:cs typeface="Arial"/>
              </a:rPr>
              <a:t>v ~ N(0, p²)</a:t>
            </a:r>
          </a:p>
        </p:txBody>
      </p:sp>
      <p:sp>
        <p:nvSpPr>
          <p:cNvPr id="10" name="TextBox 9"/>
          <p:cNvSpPr txBox="1"/>
          <p:nvPr/>
        </p:nvSpPr>
        <p:spPr>
          <a:xfrm>
            <a:off x="640080" y="2990088"/>
            <a:ext cx="3383280" cy="292608"/>
          </a:xfrm>
          <a:prstGeom prst="rect">
            <a:avLst/>
          </a:prstGeom>
          <a:noFill/>
        </p:spPr>
        <p:txBody>
          <a:bodyPr wrap="square" anchor="ctr" lIns="0" tIns="0" rIns="0" bIns="0">
            <a:noAutofit/>
          </a:bodyPr>
          <a:lstStyle/>
          <a:p>
            <a:pPr algn="ctr">
              <a:lnSpc>
                <a:spcPct val="115000"/>
              </a:lnSpc>
              <a:spcAft>
                <a:spcPts val="0"/>
              </a:spcAft>
            </a:pPr>
            <a:r>
              <a:rPr sz="1150" b="0" i="0" lang="ko-KR" altLang="en-US">
                <a:solidFill>
                  <a:srgbClr val="4A5A7A"/>
                </a:solidFill>
                <a:latin typeface="맑은 고딕"/>
                <a:ea typeface="맑은 고딕"/>
                <a:cs typeface="맑은 고딕"/>
              </a:rPr>
              <a:t>평균 0, 표준편차 p 인 정규분포</a:t>
            </a:r>
          </a:p>
        </p:txBody>
      </p:sp>
      <p:sp>
        <p:nvSpPr>
          <p:cNvPr id="11" name="Rounded Rectangle 10"/>
          <p:cNvSpPr/>
          <p:nvPr/>
        </p:nvSpPr>
        <p:spPr>
          <a:xfrm>
            <a:off x="914400" y="3438144"/>
            <a:ext cx="777240" cy="274320"/>
          </a:xfrm>
          <a:prstGeom prst="roundRect">
            <a:avLst>
              <a:gd name="adj" fmla="val 1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3438144"/>
            <a:ext cx="740664" cy="274320"/>
          </a:xfrm>
          <a:prstGeom prst="rect">
            <a:avLst/>
          </a:prstGeom>
          <a:noFill/>
        </p:spPr>
        <p:txBody>
          <a:bodyPr wrap="square" anchor="ctr" lIns="0" tIns="0" rIns="0" bIns="0">
            <a:noAutofit/>
          </a:bodyPr>
          <a:lstStyle/>
          <a:p>
            <a:pPr algn="ctr">
              <a:lnSpc>
                <a:spcPct val="110000"/>
              </a:lnSpc>
              <a:spcAft>
                <a:spcPts val="0"/>
              </a:spcAft>
            </a:pPr>
            <a:r>
              <a:rPr sz="1100" b="1" i="0" lang="ko-KR" altLang="en-US">
                <a:solidFill>
                  <a:srgbClr val="FFFFFF"/>
                </a:solidFill>
                <a:latin typeface="맑은 고딕"/>
                <a:ea typeface="맑은 고딕"/>
                <a:cs typeface="맑은 고딕"/>
              </a:rPr>
              <a:t>거리</a:t>
            </a:r>
          </a:p>
        </p:txBody>
      </p:sp>
      <p:sp>
        <p:nvSpPr>
          <p:cNvPr id="13" name="TextBox 12"/>
          <p:cNvSpPr txBox="1"/>
          <p:nvPr/>
        </p:nvSpPr>
        <p:spPr>
          <a:xfrm>
            <a:off x="1828800" y="3401568"/>
            <a:ext cx="2103120" cy="347472"/>
          </a:xfrm>
          <a:prstGeom prst="rect">
            <a:avLst/>
          </a:prstGeom>
          <a:noFill/>
        </p:spPr>
        <p:txBody>
          <a:bodyPr wrap="square" anchor="ctr" lIns="0" tIns="0" rIns="0" bIns="0">
            <a:noAutofit/>
          </a:bodyPr>
          <a:lstStyle/>
          <a:p>
            <a:pPr algn="l">
              <a:lnSpc>
                <a:spcPct val="115000"/>
              </a:lnSpc>
              <a:spcAft>
                <a:spcPts val="0"/>
              </a:spcAft>
            </a:pPr>
            <a:r>
              <a:rPr sz="1250" b="0" i="0" lang="ko-KR" altLang="en-US">
                <a:solidFill>
                  <a:srgbClr val="1B2740"/>
                </a:solidFill>
                <a:latin typeface="Arial"/>
                <a:ea typeface="맑은 고딕"/>
                <a:cs typeface="Arial"/>
              </a:rPr>
              <a:t>GAUSS(0, 4.74 m)</a:t>
            </a:r>
          </a:p>
        </p:txBody>
      </p:sp>
      <p:sp>
        <p:nvSpPr>
          <p:cNvPr id="14" name="Rounded Rectangle 13"/>
          <p:cNvSpPr/>
          <p:nvPr/>
        </p:nvSpPr>
        <p:spPr>
          <a:xfrm>
            <a:off x="914400" y="3822192"/>
            <a:ext cx="777240" cy="274320"/>
          </a:xfrm>
          <a:prstGeom prst="roundRect">
            <a:avLst>
              <a:gd name="adj" fmla="val 18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3822192"/>
            <a:ext cx="740664" cy="274320"/>
          </a:xfrm>
          <a:prstGeom prst="rect">
            <a:avLst/>
          </a:prstGeom>
          <a:noFill/>
        </p:spPr>
        <p:txBody>
          <a:bodyPr wrap="square" anchor="ctr" lIns="0" tIns="0" rIns="0" bIns="0">
            <a:noAutofit/>
          </a:bodyPr>
          <a:lstStyle/>
          <a:p>
            <a:pPr algn="ctr">
              <a:lnSpc>
                <a:spcPct val="110000"/>
              </a:lnSpc>
              <a:spcAft>
                <a:spcPts val="0"/>
              </a:spcAft>
            </a:pPr>
            <a:r>
              <a:rPr sz="1100" b="1" i="0" lang="ko-KR" altLang="en-US">
                <a:solidFill>
                  <a:srgbClr val="FFFFFF"/>
                </a:solidFill>
                <a:latin typeface="맑은 고딕"/>
                <a:ea typeface="맑은 고딕"/>
                <a:cs typeface="맑은 고딕"/>
              </a:rPr>
              <a:t>방위각</a:t>
            </a:r>
          </a:p>
        </p:txBody>
      </p:sp>
      <p:sp>
        <p:nvSpPr>
          <p:cNvPr id="16" name="TextBox 15"/>
          <p:cNvSpPr txBox="1"/>
          <p:nvPr/>
        </p:nvSpPr>
        <p:spPr>
          <a:xfrm>
            <a:off x="1828800" y="3785616"/>
            <a:ext cx="2103120" cy="347472"/>
          </a:xfrm>
          <a:prstGeom prst="rect">
            <a:avLst/>
          </a:prstGeom>
          <a:noFill/>
        </p:spPr>
        <p:txBody>
          <a:bodyPr wrap="square" anchor="ctr" lIns="0" tIns="0" rIns="0" bIns="0">
            <a:noAutofit/>
          </a:bodyPr>
          <a:lstStyle/>
          <a:p>
            <a:pPr algn="l">
              <a:lnSpc>
                <a:spcPct val="115000"/>
              </a:lnSpc>
              <a:spcAft>
                <a:spcPts val="0"/>
              </a:spcAft>
            </a:pPr>
            <a:r>
              <a:rPr sz="1250" b="0" i="0" lang="ko-KR" altLang="en-US">
                <a:solidFill>
                  <a:srgbClr val="1B2740"/>
                </a:solidFill>
                <a:latin typeface="Arial"/>
                <a:ea typeface="맑은 고딕"/>
                <a:cs typeface="Arial"/>
              </a:rPr>
              <a:t>GAUSS(0, 0.478°)</a:t>
            </a:r>
          </a:p>
        </p:txBody>
      </p:sp>
      <p:sp>
        <p:nvSpPr>
          <p:cNvPr id="17" name="Rounded Rectangle 16"/>
          <p:cNvSpPr/>
          <p:nvPr/>
        </p:nvSpPr>
        <p:spPr>
          <a:xfrm>
            <a:off x="914400" y="4206240"/>
            <a:ext cx="777240" cy="274320"/>
          </a:xfrm>
          <a:prstGeom prst="roundRect">
            <a:avLst>
              <a:gd name="adj" fmla="val 1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06240"/>
            <a:ext cx="740664" cy="274320"/>
          </a:xfrm>
          <a:prstGeom prst="rect">
            <a:avLst/>
          </a:prstGeom>
          <a:noFill/>
        </p:spPr>
        <p:txBody>
          <a:bodyPr wrap="square" anchor="ctr" lIns="0" tIns="0" rIns="0" bIns="0">
            <a:noAutofit/>
          </a:bodyPr>
          <a:lstStyle/>
          <a:p>
            <a:pPr algn="ctr">
              <a:lnSpc>
                <a:spcPct val="110000"/>
              </a:lnSpc>
              <a:spcAft>
                <a:spcPts val="0"/>
              </a:spcAft>
            </a:pPr>
            <a:r>
              <a:rPr sz="1100" b="1" i="0" lang="ko-KR" altLang="en-US">
                <a:solidFill>
                  <a:srgbClr val="FFFFFF"/>
                </a:solidFill>
                <a:latin typeface="맑은 고딕"/>
                <a:ea typeface="맑은 고딕"/>
                <a:cs typeface="맑은 고딕"/>
              </a:rPr>
              <a:t>고각</a:t>
            </a:r>
          </a:p>
        </p:txBody>
      </p:sp>
      <p:sp>
        <p:nvSpPr>
          <p:cNvPr id="19" name="TextBox 18"/>
          <p:cNvSpPr txBox="1"/>
          <p:nvPr/>
        </p:nvSpPr>
        <p:spPr>
          <a:xfrm>
            <a:off x="1828800" y="4169664"/>
            <a:ext cx="2103120" cy="347472"/>
          </a:xfrm>
          <a:prstGeom prst="rect">
            <a:avLst/>
          </a:prstGeom>
          <a:noFill/>
        </p:spPr>
        <p:txBody>
          <a:bodyPr wrap="square" anchor="ctr" lIns="0" tIns="0" rIns="0" bIns="0">
            <a:noAutofit/>
          </a:bodyPr>
          <a:lstStyle/>
          <a:p>
            <a:pPr algn="l">
              <a:lnSpc>
                <a:spcPct val="115000"/>
              </a:lnSpc>
              <a:spcAft>
                <a:spcPts val="0"/>
              </a:spcAft>
            </a:pPr>
            <a:r>
              <a:rPr sz="1250" b="0" i="0" lang="ko-KR" altLang="en-US">
                <a:solidFill>
                  <a:srgbClr val="1B2740"/>
                </a:solidFill>
                <a:latin typeface="Arial"/>
                <a:ea typeface="맑은 고딕"/>
                <a:cs typeface="Arial"/>
              </a:rPr>
              <a:t>GAUSS(0, 0.494°)</a:t>
            </a:r>
          </a:p>
        </p:txBody>
      </p:sp>
      <p:sp>
        <p:nvSpPr>
          <p:cNvPr id="20" name="TextBox 19"/>
          <p:cNvSpPr txBox="1"/>
          <p:nvPr/>
        </p:nvSpPr>
        <p:spPr>
          <a:xfrm>
            <a:off x="640080" y="4553712"/>
            <a:ext cx="3383280" cy="292608"/>
          </a:xfrm>
          <a:prstGeom prst="rect">
            <a:avLst/>
          </a:prstGeom>
          <a:noFill/>
        </p:spPr>
        <p:txBody>
          <a:bodyPr wrap="square" anchor="ctr" lIns="0" tIns="0" rIns="0" bIns="0">
            <a:noAutofit/>
          </a:bodyPr>
          <a:lstStyle/>
          <a:p>
            <a:pPr algn="ctr">
              <a:lnSpc>
                <a:spcPct val="115000"/>
              </a:lnSpc>
              <a:spcAft>
                <a:spcPts val="0"/>
              </a:spcAft>
            </a:pPr>
            <a:r>
              <a:rPr sz="1150" b="0" i="0" lang="ko-KR" altLang="en-US">
                <a:solidFill>
                  <a:srgbClr val="4A5A7A"/>
                </a:solidFill>
                <a:latin typeface="맑은 고딕"/>
                <a:ea typeface="맑은 고딕"/>
                <a:cs typeface="맑은 고딕"/>
              </a:rPr>
              <a:t>성분마다 GAUSS 를 따로 부른다</a:t>
            </a:r>
          </a:p>
        </p:txBody>
      </p:sp>
      <p:pic>
        <p:nvPicPr>
          <p:cNvPr id="21" name="Picture 20" descr="image.png"/>
          <p:cNvPicPr>
            <a:picLocks noChangeAspect="1"/>
          </p:cNvPicPr>
          <p:nvPr/>
        </p:nvPicPr>
        <p:blipFill>
          <a:blip r:embed="rId2"/>
          <a:stretch>
            <a:fillRect/>
          </a:stretch>
        </p:blipFill>
        <p:spPr>
          <a:xfrm>
            <a:off x="4297680" y="1965960"/>
            <a:ext cx="3429000" cy="2302328"/>
          </a:xfrm>
          <a:prstGeom prst="rect">
            <a:avLst/>
          </a:prstGeom>
        </p:spPr>
      </p:pic>
      <p:sp>
        <p:nvSpPr>
          <p:cNvPr id="22" name="TextBox 21"/>
          <p:cNvSpPr txBox="1"/>
          <p:nvPr/>
        </p:nvSpPr>
        <p:spPr>
          <a:xfrm>
            <a:off x="4297680" y="4343400"/>
            <a:ext cx="3429000" cy="329184"/>
          </a:xfrm>
          <a:prstGeom prst="rect">
            <a:avLst/>
          </a:prstGeom>
          <a:noFill/>
        </p:spPr>
        <p:txBody>
          <a:bodyPr wrap="square" anchor="ctr" lIns="0" tIns="0" rIns="0" bIns="0">
            <a:noAutofit/>
          </a:bodyPr>
          <a:lstStyle/>
          <a:p>
            <a:pPr algn="ctr">
              <a:lnSpc>
                <a:spcPct val="115000"/>
              </a:lnSpc>
              <a:spcAft>
                <a:spcPts val="0"/>
              </a:spcAft>
            </a:pPr>
            <a:r>
              <a:rPr sz="1250" b="1" i="0" lang="ko-KR" altLang="en-US">
                <a:solidFill>
                  <a:srgbClr val="1B2740"/>
                </a:solidFill>
                <a:latin typeface="맑은 고딕"/>
                <a:ea typeface="맑은 고딕"/>
                <a:cs typeface="맑은 고딕"/>
              </a:rPr>
              <a:t>±p 안에 68 %,  ±3p 안에 99.7 %</a:t>
            </a:r>
          </a:p>
        </p:txBody>
      </p:sp>
      <p:pic>
        <p:nvPicPr>
          <p:cNvPr id="23" name="Picture 22" descr="image.png"/>
          <p:cNvPicPr>
            <a:picLocks noChangeAspect="1"/>
          </p:cNvPicPr>
          <p:nvPr/>
        </p:nvPicPr>
        <p:blipFill>
          <a:blip r:embed="rId3"/>
          <a:stretch>
            <a:fillRect/>
          </a:stretch>
        </p:blipFill>
        <p:spPr>
          <a:xfrm>
            <a:off x="8001000" y="1965960"/>
            <a:ext cx="3547872" cy="2266060"/>
          </a:xfrm>
          <a:prstGeom prst="rect">
            <a:avLst/>
          </a:prstGeom>
        </p:spPr>
      </p:pic>
      <p:sp>
        <p:nvSpPr>
          <p:cNvPr id="24" name="TextBox 23"/>
          <p:cNvSpPr txBox="1"/>
          <p:nvPr/>
        </p:nvSpPr>
        <p:spPr>
          <a:xfrm>
            <a:off x="8001000" y="4343400"/>
            <a:ext cx="3547872" cy="329184"/>
          </a:xfrm>
          <a:prstGeom prst="rect">
            <a:avLst/>
          </a:prstGeom>
          <a:noFill/>
        </p:spPr>
        <p:txBody>
          <a:bodyPr wrap="square" anchor="ctr" lIns="0" tIns="0" rIns="0" bIns="0">
            <a:noAutofit/>
          </a:bodyPr>
          <a:lstStyle/>
          <a:p>
            <a:pPr algn="ctr">
              <a:lnSpc>
                <a:spcPct val="115000"/>
              </a:lnSpc>
              <a:spcAft>
                <a:spcPts val="0"/>
              </a:spcAft>
            </a:pPr>
            <a:r>
              <a:rPr sz="1250" b="1" i="0" lang="ko-KR" altLang="en-US">
                <a:solidFill>
                  <a:srgbClr val="1B2740"/>
                </a:solidFill>
                <a:latin typeface="맑은 고딕"/>
                <a:ea typeface="맑은 고딕"/>
                <a:cs typeface="맑은 고딕"/>
              </a:rPr>
              <a:t>같은 잡음이라도 옆으로 더 넓게 퍼진다</a:t>
            </a:r>
          </a:p>
        </p:txBody>
      </p:sp>
      <p:sp>
        <p:nvSpPr>
          <p:cNvPr id="25" name="Rectangle 24"/>
          <p:cNvSpPr/>
          <p:nvPr/>
        </p:nvSpPr>
        <p:spPr>
          <a:xfrm>
            <a:off x="640080" y="5138928"/>
            <a:ext cx="10908792" cy="1024128"/>
          </a:xfrm>
          <a:prstGeom prst="rect">
            <a:avLst/>
          </a:prstGeom>
          <a:solidFill>
            <a:srgbClr val="EEF3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5138928"/>
            <a:ext cx="10451592" cy="1024128"/>
          </a:xfrm>
          <a:prstGeom prst="rect">
            <a:avLst/>
          </a:prstGeom>
          <a:noFill/>
        </p:spPr>
        <p:txBody>
          <a:bodyPr wrap="square" anchor="ctr" lIns="0" tIns="0" rIns="0" bIns="0">
            <a:noAutofit/>
          </a:bodyPr>
          <a:lstStyle/>
          <a:p>
            <a:pPr algn="l">
              <a:lnSpc>
                <a:spcPct val="115000"/>
              </a:lnSpc>
              <a:spcAft>
                <a:spcPts val="400"/>
              </a:spcAft>
            </a:pPr>
            <a:r>
              <a:rPr sz="1400" b="1" i="0" lang="ko-KR" altLang="en-US">
                <a:solidFill>
                  <a:srgbClr val="1B2740"/>
                </a:solidFill>
                <a:latin typeface="맑은 고딕"/>
                <a:ea typeface="맑은 고딕"/>
                <a:cs typeface="맑은 고딕"/>
              </a:rPr>
              <a:t>횡방향 (옆 방향) 오차 = 거리 × 각도 오차 [rad]</a:t>
            </a:r>
          </a:p>
          <a:p>
            <a:pPr algn="l">
              <a:lnSpc>
                <a:spcPct val="115000"/>
              </a:lnSpc>
              <a:spcAft>
                <a:spcPts val="0"/>
              </a:spcAft>
            </a:pPr>
            <a:r>
              <a:rPr sz="1250" b="1" i="0" lang="ko-KR" altLang="en-US">
                <a:solidFill>
                  <a:srgbClr val="D97706"/>
                </a:solidFill>
                <a:latin typeface="맑은 고딕"/>
                <a:ea typeface="맑은 고딕"/>
                <a:cs typeface="맑은 고딕"/>
              </a:rPr>
              <a:t>0.478° = 0.00834 rad    →    10 km × 0.00834 ≈ 83 m</a:t>
            </a:r>
            <a:r>
              <a:rPr sz="1250" b="0" i="0" lang="ko-KR" altLang="en-US">
                <a:solidFill>
                  <a:srgbClr val="1B2740"/>
                </a:solidFill>
                <a:latin typeface="맑은 고딕"/>
                <a:ea typeface="맑은 고딕"/>
                <a:cs typeface="맑은 고딕"/>
              </a:rPr>
              <a:t>      거리 오차 4.7 m 의 약 18배</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02. 플롯 모의</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2.4 GAUSS 는 균등난수 12개를 더해 정규난수를 만듭니다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10</a:t>
            </a:r>
          </a:p>
        </p:txBody>
      </p:sp>
      <p:sp>
        <p:nvSpPr>
          <p:cNvPr id="7" name="TextBox 6"/>
          <p:cNvSpPr txBox="1"/>
          <p:nvPr/>
        </p:nvSpPr>
        <p:spPr>
          <a:xfrm>
            <a:off x="640080" y="1965960"/>
            <a:ext cx="4343400"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참고 소스  GAUSS(m, dev)</a:t>
            </a:r>
          </a:p>
        </p:txBody>
      </p:sp>
      <p:sp>
        <p:nvSpPr>
          <p:cNvPr id="8" name="Rectangle 7"/>
          <p:cNvSpPr/>
          <p:nvPr/>
        </p:nvSpPr>
        <p:spPr>
          <a:xfrm>
            <a:off x="640080" y="2286000"/>
            <a:ext cx="4343400" cy="749808"/>
          </a:xfrm>
          <a:prstGeom prst="rect">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286000"/>
            <a:ext cx="4114800" cy="749808"/>
          </a:xfrm>
          <a:prstGeom prst="rect">
            <a:avLst/>
          </a:prstGeom>
          <a:noFill/>
        </p:spPr>
        <p:txBody>
          <a:bodyPr wrap="square" anchor="ctr" lIns="0" tIns="0" rIns="0" bIns="0">
            <a:noAutofit/>
          </a:bodyPr>
          <a:lstStyle/>
          <a:p>
            <a:pPr algn="l">
              <a:lnSpc>
                <a:spcPct val="125000"/>
              </a:lnSpc>
              <a:spcAft>
                <a:spcPts val="0"/>
              </a:spcAft>
            </a:pPr>
            <a:r>
              <a:rPr sz="1200" b="0" i="0" lang="ko-KR" altLang="en-US">
                <a:solidFill>
                  <a:srgbClr val="E3E8F2"/>
                </a:solidFill>
                <a:latin typeface="Consolas"/>
                <a:ea typeface="맑은 고딕"/>
                <a:cs typeface="Consolas"/>
              </a:rPr>
              <a:t>for (i = 0; i &lt; 12; i++) a += UNIRAN();</a:t>
            </a:r>
          </a:p>
          <a:p>
            <a:pPr algn="l">
              <a:lnSpc>
                <a:spcPct val="125000"/>
              </a:lnSpc>
              <a:spcAft>
                <a:spcPts val="0"/>
              </a:spcAft>
            </a:pPr>
            <a:r>
              <a:rPr sz="1200" b="0" i="0" lang="ko-KR" altLang="en-US">
                <a:solidFill>
                  <a:srgbClr val="E3E8F2"/>
                </a:solidFill>
                <a:latin typeface="Consolas"/>
                <a:ea typeface="맑은 고딕"/>
                <a:cs typeface="Consolas"/>
              </a:rPr>
              <a:t>return ((a - 6.0) * dev + m);</a:t>
            </a:r>
          </a:p>
        </p:txBody>
      </p:sp>
      <p:sp>
        <p:nvSpPr>
          <p:cNvPr id="10" name="TextBox 9"/>
          <p:cNvSpPr txBox="1"/>
          <p:nvPr/>
        </p:nvSpPr>
        <p:spPr>
          <a:xfrm>
            <a:off x="640080" y="3200400"/>
            <a:ext cx="4343400"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평균 0, 표준편차 1 이 되는 이유</a:t>
            </a:r>
          </a:p>
        </p:txBody>
      </p:sp>
      <p:sp>
        <p:nvSpPr>
          <p:cNvPr id="11" name="Rectangle 10"/>
          <p:cNvSpPr/>
          <p:nvPr/>
        </p:nvSpPr>
        <p:spPr>
          <a:xfrm>
            <a:off x="640080" y="3529584"/>
            <a:ext cx="4343400" cy="347472"/>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529584"/>
            <a:ext cx="1325880" cy="347472"/>
          </a:xfrm>
          <a:prstGeom prst="rect">
            <a:avLst/>
          </a:prstGeom>
          <a:noFill/>
        </p:spPr>
        <p:txBody>
          <a:bodyPr wrap="square" anchor="ctr" lIns="0" tIns="0" rIns="0" bIns="0">
            <a:noAutofit/>
          </a:bodyPr>
          <a:lstStyle/>
          <a:p>
            <a:pPr algn="l">
              <a:lnSpc>
                <a:spcPct val="115000"/>
              </a:lnSpc>
              <a:spcAft>
                <a:spcPts val="0"/>
              </a:spcAft>
            </a:pPr>
            <a:r>
              <a:rPr sz="1200" b="1" i="0" lang="ko-KR" altLang="en-US">
                <a:solidFill>
                  <a:srgbClr val="1B2740"/>
                </a:solidFill>
                <a:latin typeface="맑은 고딕"/>
                <a:ea typeface="맑은 고딕"/>
                <a:cs typeface="맑은 고딕"/>
              </a:rPr>
              <a:t>UNIRAN 1개</a:t>
            </a:r>
          </a:p>
        </p:txBody>
      </p:sp>
      <p:sp>
        <p:nvSpPr>
          <p:cNvPr id="13" name="TextBox 12"/>
          <p:cNvSpPr txBox="1"/>
          <p:nvPr/>
        </p:nvSpPr>
        <p:spPr>
          <a:xfrm>
            <a:off x="2148839" y="3529584"/>
            <a:ext cx="2743200" cy="347472"/>
          </a:xfrm>
          <a:prstGeom prst="rect">
            <a:avLst/>
          </a:prstGeom>
          <a:noFill/>
        </p:spPr>
        <p:txBody>
          <a:bodyPr wrap="square" anchor="ctr" lIns="0" tIns="0" rIns="0" bIns="0">
            <a:noAutofit/>
          </a:bodyPr>
          <a:lstStyle/>
          <a:p>
            <a:pPr algn="l">
              <a:lnSpc>
                <a:spcPct val="115000"/>
              </a:lnSpc>
              <a:spcAft>
                <a:spcPts val="0"/>
              </a:spcAft>
            </a:pPr>
            <a:r>
              <a:rPr sz="1200" b="0" i="0" lang="ko-KR" altLang="en-US">
                <a:solidFill>
                  <a:srgbClr val="4A5A7A"/>
                </a:solidFill>
                <a:latin typeface="맑은 고딕"/>
                <a:ea typeface="맑은 고딕"/>
                <a:cs typeface="맑은 고딕"/>
              </a:rPr>
              <a:t>평균 1/2,  분산 1/12</a:t>
            </a:r>
          </a:p>
        </p:txBody>
      </p:sp>
      <p:sp>
        <p:nvSpPr>
          <p:cNvPr id="14" name="Rectangle 13"/>
          <p:cNvSpPr/>
          <p:nvPr/>
        </p:nvSpPr>
        <p:spPr>
          <a:xfrm>
            <a:off x="640080" y="3931920"/>
            <a:ext cx="4343400" cy="347472"/>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931920"/>
            <a:ext cx="1325880" cy="347472"/>
          </a:xfrm>
          <a:prstGeom prst="rect">
            <a:avLst/>
          </a:prstGeom>
          <a:noFill/>
        </p:spPr>
        <p:txBody>
          <a:bodyPr wrap="square" anchor="ctr" lIns="0" tIns="0" rIns="0" bIns="0">
            <a:noAutofit/>
          </a:bodyPr>
          <a:lstStyle/>
          <a:p>
            <a:pPr algn="l">
              <a:lnSpc>
                <a:spcPct val="115000"/>
              </a:lnSpc>
              <a:spcAft>
                <a:spcPts val="0"/>
              </a:spcAft>
            </a:pPr>
            <a:r>
              <a:rPr sz="1200" b="1" i="0" lang="ko-KR" altLang="en-US">
                <a:solidFill>
                  <a:srgbClr val="1B2740"/>
                </a:solidFill>
                <a:latin typeface="맑은 고딕"/>
                <a:ea typeface="맑은 고딕"/>
                <a:cs typeface="맑은 고딕"/>
              </a:rPr>
              <a:t>12개 합</a:t>
            </a:r>
          </a:p>
        </p:txBody>
      </p:sp>
      <p:sp>
        <p:nvSpPr>
          <p:cNvPr id="16" name="TextBox 15"/>
          <p:cNvSpPr txBox="1"/>
          <p:nvPr/>
        </p:nvSpPr>
        <p:spPr>
          <a:xfrm>
            <a:off x="2148839" y="3931920"/>
            <a:ext cx="2743200" cy="347472"/>
          </a:xfrm>
          <a:prstGeom prst="rect">
            <a:avLst/>
          </a:prstGeom>
          <a:noFill/>
        </p:spPr>
        <p:txBody>
          <a:bodyPr wrap="square" anchor="ctr" lIns="0" tIns="0" rIns="0" bIns="0">
            <a:noAutofit/>
          </a:bodyPr>
          <a:lstStyle/>
          <a:p>
            <a:pPr algn="l">
              <a:lnSpc>
                <a:spcPct val="115000"/>
              </a:lnSpc>
              <a:spcAft>
                <a:spcPts val="0"/>
              </a:spcAft>
            </a:pPr>
            <a:r>
              <a:rPr sz="1200" b="0" i="0" lang="ko-KR" altLang="en-US">
                <a:solidFill>
                  <a:srgbClr val="4A5A7A"/>
                </a:solidFill>
                <a:latin typeface="맑은 고딕"/>
                <a:ea typeface="맑은 고딕"/>
                <a:cs typeface="맑은 고딕"/>
              </a:rPr>
              <a:t>평균 6,  분산 12 × 1/12 = 1</a:t>
            </a:r>
          </a:p>
        </p:txBody>
      </p:sp>
      <p:sp>
        <p:nvSpPr>
          <p:cNvPr id="17" name="Rectangle 16"/>
          <p:cNvSpPr/>
          <p:nvPr/>
        </p:nvSpPr>
        <p:spPr>
          <a:xfrm>
            <a:off x="640080" y="4334256"/>
            <a:ext cx="4343400" cy="347472"/>
          </a:xfrm>
          <a:prstGeom prst="rect">
            <a:avLst/>
          </a:prstGeom>
          <a:solidFill>
            <a:srgbClr val="EEF3FE"/>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4334256"/>
            <a:ext cx="1325880" cy="347472"/>
          </a:xfrm>
          <a:prstGeom prst="rect">
            <a:avLst/>
          </a:prstGeom>
          <a:noFill/>
        </p:spPr>
        <p:txBody>
          <a:bodyPr wrap="square" anchor="ctr" lIns="0" tIns="0" rIns="0" bIns="0">
            <a:noAutofit/>
          </a:bodyPr>
          <a:lstStyle/>
          <a:p>
            <a:pPr algn="l">
              <a:lnSpc>
                <a:spcPct val="115000"/>
              </a:lnSpc>
              <a:spcAft>
                <a:spcPts val="0"/>
              </a:spcAft>
            </a:pPr>
            <a:r>
              <a:rPr sz="1200" b="1" i="0" lang="ko-KR" altLang="en-US">
                <a:solidFill>
                  <a:srgbClr val="2563EB"/>
                </a:solidFill>
                <a:latin typeface="맑은 고딕"/>
                <a:ea typeface="맑은 고딕"/>
                <a:cs typeface="맑은 고딕"/>
              </a:rPr>
              <a:t>12개 합 − 6</a:t>
            </a:r>
          </a:p>
        </p:txBody>
      </p:sp>
      <p:sp>
        <p:nvSpPr>
          <p:cNvPr id="19" name="TextBox 18"/>
          <p:cNvSpPr txBox="1"/>
          <p:nvPr/>
        </p:nvSpPr>
        <p:spPr>
          <a:xfrm>
            <a:off x="2148839" y="4334256"/>
            <a:ext cx="2743200" cy="347472"/>
          </a:xfrm>
          <a:prstGeom prst="rect">
            <a:avLst/>
          </a:prstGeom>
          <a:noFill/>
        </p:spPr>
        <p:txBody>
          <a:bodyPr wrap="square" anchor="ctr" lIns="0" tIns="0" rIns="0" bIns="0">
            <a:noAutofit/>
          </a:bodyPr>
          <a:lstStyle/>
          <a:p>
            <a:pPr algn="l">
              <a:lnSpc>
                <a:spcPct val="115000"/>
              </a:lnSpc>
              <a:spcAft>
                <a:spcPts val="0"/>
              </a:spcAft>
            </a:pPr>
            <a:r>
              <a:rPr sz="1200" b="1" i="0" lang="ko-KR" altLang="en-US">
                <a:solidFill>
                  <a:srgbClr val="2563EB"/>
                </a:solidFill>
                <a:latin typeface="맑은 고딕"/>
                <a:ea typeface="맑은 고딕"/>
                <a:cs typeface="맑은 고딕"/>
              </a:rPr>
              <a:t>평균 0,  표준편차 1</a:t>
            </a:r>
          </a:p>
        </p:txBody>
      </p:sp>
      <p:sp>
        <p:nvSpPr>
          <p:cNvPr id="20" name="Rectangle 19"/>
          <p:cNvSpPr/>
          <p:nvPr/>
        </p:nvSpPr>
        <p:spPr>
          <a:xfrm>
            <a:off x="640080" y="4828032"/>
            <a:ext cx="4343400" cy="1316736"/>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86384" y="4928616"/>
            <a:ext cx="717804" cy="256032"/>
          </a:xfrm>
          <a:prstGeom prst="roundRect">
            <a:avLst>
              <a:gd name="adj" fmla="val 18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928616"/>
            <a:ext cx="681228" cy="256032"/>
          </a:xfrm>
          <a:prstGeom prst="rect">
            <a:avLst/>
          </a:prstGeom>
          <a:noFill/>
        </p:spPr>
        <p:txBody>
          <a:bodyPr wrap="square" anchor="ctr" lIns="0" tIns="0" rIns="0" bIns="0">
            <a:noAutofit/>
          </a:bodyPr>
          <a:lstStyle/>
          <a:p>
            <a:pPr algn="ctr">
              <a:lnSpc>
                <a:spcPct val="110000"/>
              </a:lnSpc>
              <a:spcAft>
                <a:spcPts val="0"/>
              </a:spcAft>
            </a:pPr>
            <a:r>
              <a:rPr sz="1000" b="1" i="0" lang="ko-KR" altLang="en-US">
                <a:solidFill>
                  <a:srgbClr val="FFFFFF"/>
                </a:solidFill>
                <a:latin typeface="맑은 고딕"/>
                <a:ea typeface="맑은 고딕"/>
                <a:cs typeface="맑은 고딕"/>
              </a:rPr>
              <a:t>숫자 대입</a:t>
            </a:r>
          </a:p>
        </p:txBody>
      </p:sp>
      <p:sp>
        <p:nvSpPr>
          <p:cNvPr id="23" name="TextBox 22"/>
          <p:cNvSpPr txBox="1"/>
          <p:nvPr/>
        </p:nvSpPr>
        <p:spPr>
          <a:xfrm>
            <a:off x="1613916" y="4901184"/>
            <a:ext cx="2926080" cy="310896"/>
          </a:xfrm>
          <a:prstGeom prst="rect">
            <a:avLst/>
          </a:prstGeom>
          <a:noFill/>
        </p:spPr>
        <p:txBody>
          <a:bodyPr wrap="square" anchor="ctr" lIns="0" tIns="0" rIns="0" bIns="0">
            <a:noAutofit/>
          </a:bodyPr>
          <a:lstStyle/>
          <a:p>
            <a:pPr algn="l">
              <a:lnSpc>
                <a:spcPct val="115000"/>
              </a:lnSpc>
              <a:spcAft>
                <a:spcPts val="0"/>
              </a:spcAft>
            </a:pPr>
            <a:r>
              <a:rPr sz="1200" b="1" i="0" lang="ko-KR" altLang="en-US">
                <a:solidFill>
                  <a:srgbClr val="1B2740"/>
                </a:solidFill>
                <a:latin typeface="맑은 고딕"/>
                <a:ea typeface="맑은 고딕"/>
                <a:cs typeface="맑은 고딕"/>
              </a:rPr>
              <a:t>표적 1, 첫 스캔의 거리 잡음</a:t>
            </a:r>
          </a:p>
        </p:txBody>
      </p:sp>
      <p:sp>
        <p:nvSpPr>
          <p:cNvPr id="24" name="TextBox 23"/>
          <p:cNvSpPr txBox="1"/>
          <p:nvPr/>
        </p:nvSpPr>
        <p:spPr>
          <a:xfrm>
            <a:off x="786384" y="5266944"/>
            <a:ext cx="1417320" cy="274320"/>
          </a:xfrm>
          <a:prstGeom prst="rect">
            <a:avLst/>
          </a:prstGeom>
          <a:noFill/>
        </p:spPr>
        <p:txBody>
          <a:bodyPr wrap="square" anchor="ctr" lIns="0" tIns="0" rIns="0" bIns="0">
            <a:noAutofit/>
          </a:bodyPr>
          <a:lstStyle/>
          <a:p>
            <a:pPr algn="l">
              <a:lnSpc>
                <a:spcPct val="115000"/>
              </a:lnSpc>
              <a:spcAft>
                <a:spcPts val="0"/>
              </a:spcAft>
            </a:pPr>
            <a:r>
              <a:rPr sz="1150" b="1" i="0" lang="ko-KR" altLang="en-US">
                <a:solidFill>
                  <a:srgbClr val="1B2740"/>
                </a:solidFill>
                <a:latin typeface="맑은 고딕"/>
                <a:ea typeface="맑은 고딕"/>
                <a:cs typeface="맑은 고딕"/>
              </a:rPr>
              <a:t>UNIRAN 12개 합</a:t>
            </a:r>
          </a:p>
        </p:txBody>
      </p:sp>
      <p:sp>
        <p:nvSpPr>
          <p:cNvPr id="25" name="TextBox 24"/>
          <p:cNvSpPr txBox="1"/>
          <p:nvPr/>
        </p:nvSpPr>
        <p:spPr>
          <a:xfrm>
            <a:off x="2240280" y="5266944"/>
            <a:ext cx="2651760" cy="274320"/>
          </a:xfrm>
          <a:prstGeom prst="rect">
            <a:avLst/>
          </a:prstGeom>
          <a:noFill/>
        </p:spPr>
        <p:txBody>
          <a:bodyPr wrap="square" anchor="ctr" lIns="0" tIns="0" rIns="0" bIns="0">
            <a:noAutofit/>
          </a:bodyPr>
          <a:lstStyle/>
          <a:p>
            <a:pPr algn="l">
              <a:lnSpc>
                <a:spcPct val="115000"/>
              </a:lnSpc>
              <a:spcAft>
                <a:spcPts val="0"/>
              </a:spcAft>
            </a:pPr>
            <a:r>
              <a:rPr sz="1150" b="0" i="0" lang="ko-KR" altLang="en-US">
                <a:solidFill>
                  <a:srgbClr val="4A5A7A"/>
                </a:solidFill>
                <a:latin typeface="맑은 고딕"/>
                <a:ea typeface="맑은 고딕"/>
                <a:cs typeface="맑은 고딕"/>
              </a:rPr>
              <a:t>= 5.5538</a:t>
            </a:r>
          </a:p>
        </p:txBody>
      </p:sp>
      <p:sp>
        <p:nvSpPr>
          <p:cNvPr id="26" name="TextBox 25"/>
          <p:cNvSpPr txBox="1"/>
          <p:nvPr/>
        </p:nvSpPr>
        <p:spPr>
          <a:xfrm>
            <a:off x="786384" y="5541264"/>
            <a:ext cx="1417320" cy="274320"/>
          </a:xfrm>
          <a:prstGeom prst="rect">
            <a:avLst/>
          </a:prstGeom>
          <a:noFill/>
        </p:spPr>
        <p:txBody>
          <a:bodyPr wrap="square" anchor="ctr" lIns="0" tIns="0" rIns="0" bIns="0">
            <a:noAutofit/>
          </a:bodyPr>
          <a:lstStyle/>
          <a:p>
            <a:pPr algn="l">
              <a:lnSpc>
                <a:spcPct val="115000"/>
              </a:lnSpc>
              <a:spcAft>
                <a:spcPts val="0"/>
              </a:spcAft>
            </a:pPr>
            <a:r>
              <a:rPr sz="1150" b="1" i="0" lang="ko-KR" altLang="en-US">
                <a:solidFill>
                  <a:srgbClr val="1B2740"/>
                </a:solidFill>
                <a:latin typeface="맑은 고딕"/>
                <a:ea typeface="맑은 고딕"/>
                <a:cs typeface="맑은 고딕"/>
              </a:rPr>
              <a:t>− 6</a:t>
            </a:r>
          </a:p>
        </p:txBody>
      </p:sp>
      <p:sp>
        <p:nvSpPr>
          <p:cNvPr id="27" name="TextBox 26"/>
          <p:cNvSpPr txBox="1"/>
          <p:nvPr/>
        </p:nvSpPr>
        <p:spPr>
          <a:xfrm>
            <a:off x="2240280" y="5541264"/>
            <a:ext cx="2651760" cy="274320"/>
          </a:xfrm>
          <a:prstGeom prst="rect">
            <a:avLst/>
          </a:prstGeom>
          <a:noFill/>
        </p:spPr>
        <p:txBody>
          <a:bodyPr wrap="square" anchor="ctr" lIns="0" tIns="0" rIns="0" bIns="0">
            <a:noAutofit/>
          </a:bodyPr>
          <a:lstStyle/>
          <a:p>
            <a:pPr algn="l">
              <a:lnSpc>
                <a:spcPct val="115000"/>
              </a:lnSpc>
              <a:spcAft>
                <a:spcPts val="0"/>
              </a:spcAft>
            </a:pPr>
            <a:r>
              <a:rPr sz="1150" b="0" i="0" lang="ko-KR" altLang="en-US">
                <a:solidFill>
                  <a:srgbClr val="4A5A7A"/>
                </a:solidFill>
                <a:latin typeface="맑은 고딕"/>
                <a:ea typeface="맑은 고딕"/>
                <a:cs typeface="맑은 고딕"/>
              </a:rPr>
              <a:t>5.5538 − 6 = −0.4462</a:t>
            </a:r>
          </a:p>
        </p:txBody>
      </p:sp>
      <p:sp>
        <p:nvSpPr>
          <p:cNvPr id="28" name="TextBox 27"/>
          <p:cNvSpPr txBox="1"/>
          <p:nvPr/>
        </p:nvSpPr>
        <p:spPr>
          <a:xfrm>
            <a:off x="786384" y="5815583"/>
            <a:ext cx="1417320" cy="274320"/>
          </a:xfrm>
          <a:prstGeom prst="rect">
            <a:avLst/>
          </a:prstGeom>
          <a:noFill/>
        </p:spPr>
        <p:txBody>
          <a:bodyPr wrap="square" anchor="ctr" lIns="0" tIns="0" rIns="0" bIns="0">
            <a:noAutofit/>
          </a:bodyPr>
          <a:lstStyle/>
          <a:p>
            <a:pPr algn="l">
              <a:lnSpc>
                <a:spcPct val="115000"/>
              </a:lnSpc>
              <a:spcAft>
                <a:spcPts val="0"/>
              </a:spcAft>
            </a:pPr>
            <a:r>
              <a:rPr sz="1150" b="1" i="0" lang="ko-KR" altLang="en-US">
                <a:solidFill>
                  <a:srgbClr val="1B2740"/>
                </a:solidFill>
                <a:latin typeface="맑은 고딕"/>
                <a:ea typeface="맑은 고딕"/>
                <a:cs typeface="맑은 고딕"/>
              </a:rPr>
              <a:t>× p</a:t>
            </a:r>
          </a:p>
        </p:txBody>
      </p:sp>
      <p:sp>
        <p:nvSpPr>
          <p:cNvPr id="29" name="TextBox 28"/>
          <p:cNvSpPr txBox="1"/>
          <p:nvPr/>
        </p:nvSpPr>
        <p:spPr>
          <a:xfrm>
            <a:off x="2240280" y="5815583"/>
            <a:ext cx="2651760" cy="274320"/>
          </a:xfrm>
          <a:prstGeom prst="rect">
            <a:avLst/>
          </a:prstGeom>
          <a:noFill/>
        </p:spPr>
        <p:txBody>
          <a:bodyPr wrap="square" anchor="ctr" lIns="0" tIns="0" rIns="0" bIns="0">
            <a:noAutofit/>
          </a:bodyPr>
          <a:lstStyle/>
          <a:p>
            <a:pPr algn="l">
              <a:lnSpc>
                <a:spcPct val="115000"/>
              </a:lnSpc>
              <a:spcAft>
                <a:spcPts val="0"/>
              </a:spcAft>
            </a:pPr>
            <a:r>
              <a:rPr sz="1150" b="1" i="0" lang="ko-KR" altLang="en-US">
                <a:solidFill>
                  <a:srgbClr val="D97706"/>
                </a:solidFill>
                <a:latin typeface="맑은 고딕"/>
                <a:ea typeface="맑은 고딕"/>
                <a:cs typeface="맑은 고딕"/>
              </a:rPr>
              <a:t>−0.4462 × 4.74 m = −2.115 m</a:t>
            </a:r>
          </a:p>
        </p:txBody>
      </p:sp>
      <p:sp>
        <p:nvSpPr>
          <p:cNvPr id="30" name="TextBox 29"/>
          <p:cNvSpPr txBox="1"/>
          <p:nvPr/>
        </p:nvSpPr>
        <p:spPr>
          <a:xfrm>
            <a:off x="5303520" y="1965960"/>
            <a:ext cx="6245352"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더하는 개수에 따른 분포 (20,000번씩 뽑음)</a:t>
            </a:r>
          </a:p>
        </p:txBody>
      </p:sp>
      <p:pic>
        <p:nvPicPr>
          <p:cNvPr id="31" name="Picture 30" descr="f4_clt.png"/>
          <p:cNvPicPr>
            <a:picLocks noChangeAspect="1"/>
          </p:cNvPicPr>
          <p:nvPr/>
        </p:nvPicPr>
        <p:blipFill>
          <a:blip r:embed="rId2"/>
          <a:stretch>
            <a:fillRect/>
          </a:stretch>
        </p:blipFill>
        <p:spPr>
          <a:xfrm>
            <a:off x="5303520" y="2286000"/>
            <a:ext cx="6245352" cy="3339528"/>
          </a:xfrm>
          <a:prstGeom prst="rect">
            <a:avLst/>
          </a:prstGeom>
        </p:spPr>
      </p:pic>
      <p:sp>
        <p:nvSpPr>
          <p:cNvPr id="32" name="TextBox 31"/>
          <p:cNvSpPr txBox="1"/>
          <p:nvPr/>
        </p:nvSpPr>
        <p:spPr>
          <a:xfrm>
            <a:off x="5303520" y="5742432"/>
            <a:ext cx="6245352" cy="365760"/>
          </a:xfrm>
          <a:prstGeom prst="rect">
            <a:avLst/>
          </a:prstGeom>
          <a:noFill/>
        </p:spPr>
        <p:txBody>
          <a:bodyPr wrap="square" anchor="ctr" lIns="0" tIns="0" rIns="0" bIns="0">
            <a:noAutofit/>
          </a:bodyPr>
          <a:lstStyle/>
          <a:p>
            <a:pPr algn="ctr">
              <a:lnSpc>
                <a:spcPct val="115000"/>
              </a:lnSpc>
              <a:spcAft>
                <a:spcPts val="0"/>
              </a:spcAft>
            </a:pPr>
            <a:r>
              <a:rPr sz="1250" b="1" i="0" lang="ko-KR" altLang="en-US">
                <a:solidFill>
                  <a:srgbClr val="1B2740"/>
                </a:solidFill>
                <a:latin typeface="맑은 고딕"/>
                <a:ea typeface="맑은 고딕"/>
                <a:cs typeface="맑은 고딕"/>
              </a:rPr>
              <a:t>더할수록 종 모양에 가까워진다</a:t>
            </a:r>
            <a:r>
              <a:rPr sz="1250" b="0" i="0" lang="ko-KR" altLang="en-US">
                <a:solidFill>
                  <a:srgbClr val="1B2740"/>
                </a:solidFill>
                <a:latin typeface="맑은 고딕"/>
                <a:ea typeface="맑은 고딕"/>
                <a:cs typeface="맑은 고딕"/>
              </a:rPr>
              <a:t>  =  중심극한정리</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02. 플롯 모의</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2.5 참값은 레이다 기준 거리 · 방위각 · 고각으로 바꿔 씁니다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11</a:t>
            </a:r>
          </a:p>
        </p:txBody>
      </p:sp>
      <p:pic>
        <p:nvPicPr>
          <p:cNvPr id="7" name="Picture 6" descr="f5_geometry.png"/>
          <p:cNvPicPr>
            <a:picLocks noChangeAspect="1"/>
          </p:cNvPicPr>
          <p:nvPr/>
        </p:nvPicPr>
        <p:blipFill>
          <a:blip r:embed="rId2"/>
          <a:stretch>
            <a:fillRect/>
          </a:stretch>
        </p:blipFill>
        <p:spPr>
          <a:xfrm>
            <a:off x="640080" y="1938528"/>
            <a:ext cx="3611880" cy="3611880"/>
          </a:xfrm>
          <a:prstGeom prst="rect">
            <a:avLst/>
          </a:prstGeom>
        </p:spPr>
      </p:pic>
      <p:sp>
        <p:nvSpPr>
          <p:cNvPr id="8" name="TextBox 7"/>
          <p:cNvSpPr txBox="1"/>
          <p:nvPr/>
        </p:nvSpPr>
        <p:spPr>
          <a:xfrm>
            <a:off x="640080" y="5577840"/>
            <a:ext cx="3611880" cy="566928"/>
          </a:xfrm>
          <a:prstGeom prst="rect">
            <a:avLst/>
          </a:prstGeom>
          <a:noFill/>
        </p:spPr>
        <p:txBody>
          <a:bodyPr wrap="square" anchor="t" lIns="0" tIns="0" rIns="0" bIns="0">
            <a:noAutofit/>
          </a:bodyPr>
          <a:lstStyle/>
          <a:p>
            <a:pPr algn="ctr">
              <a:lnSpc>
                <a:spcPct val="120000"/>
              </a:lnSpc>
              <a:spcAft>
                <a:spcPts val="0"/>
              </a:spcAft>
            </a:pPr>
            <a:r>
              <a:rPr sz="1200" b="1" i="0" lang="ko-KR" altLang="en-US">
                <a:solidFill>
                  <a:srgbClr val="1B2740"/>
                </a:solidFill>
                <a:latin typeface="맑은 고딕"/>
                <a:ea typeface="맑은 고딕"/>
                <a:cs typeface="맑은 고딕"/>
              </a:rPr>
              <a:t>방위각</a:t>
            </a:r>
            <a:r>
              <a:rPr sz="1200" b="0" i="0" lang="ko-KR" altLang="en-US">
                <a:solidFill>
                  <a:srgbClr val="1B2740"/>
                </a:solidFill>
                <a:latin typeface="맑은 고딕"/>
                <a:ea typeface="맑은 고딕"/>
                <a:cs typeface="맑은 고딕"/>
              </a:rPr>
              <a:t>: 조준축에서 왼쪽이 +</a:t>
            </a:r>
          </a:p>
          <a:p>
            <a:pPr algn="ctr">
              <a:lnSpc>
                <a:spcPct val="120000"/>
              </a:lnSpc>
              <a:spcAft>
                <a:spcPts val="0"/>
              </a:spcAft>
            </a:pPr>
            <a:r>
              <a:rPr sz="1200" b="0" i="0" lang="ko-KR" altLang="en-US">
                <a:solidFill>
                  <a:srgbClr val="1B2740"/>
                </a:solidFill>
                <a:latin typeface="맑은 고딕"/>
                <a:ea typeface="맑은 고딕"/>
                <a:cs typeface="맑은 고딕"/>
              </a:rPr>
              <a:t>지금은 조준축 = 북쪽  →  서쪽이 +</a:t>
            </a:r>
          </a:p>
        </p:txBody>
      </p:sp>
      <p:sp>
        <p:nvSpPr>
          <p:cNvPr id="9" name="TextBox 8"/>
          <p:cNvSpPr txBox="1"/>
          <p:nvPr/>
        </p:nvSpPr>
        <p:spPr>
          <a:xfrm>
            <a:off x="4617720" y="1965960"/>
            <a:ext cx="6931152"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참값 x 구하기   과제 3 표적 위치 → 레이다가 재는 값</a:t>
            </a:r>
          </a:p>
        </p:txBody>
      </p:sp>
      <p:sp>
        <p:nvSpPr>
          <p:cNvPr id="10" name="Rectangle 9"/>
          <p:cNvSpPr/>
          <p:nvPr/>
        </p:nvSpPr>
        <p:spPr>
          <a:xfrm>
            <a:off x="4617720" y="2304288"/>
            <a:ext cx="1196035" cy="896112"/>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63440" y="2304288"/>
            <a:ext cx="1104595" cy="896112"/>
          </a:xfrm>
          <a:prstGeom prst="rect">
            <a:avLst/>
          </a:prstGeom>
          <a:noFill/>
        </p:spPr>
        <p:txBody>
          <a:bodyPr wrap="square" anchor="ctr" lIns="0" tIns="0" rIns="0" bIns="0">
            <a:noAutofit/>
          </a:bodyPr>
          <a:lstStyle/>
          <a:p>
            <a:pPr algn="ctr">
              <a:lnSpc>
                <a:spcPct val="105000"/>
              </a:lnSpc>
              <a:spcAft>
                <a:spcPts val="200"/>
              </a:spcAft>
            </a:pPr>
            <a:r>
              <a:rPr sz="1250" b="1" i="0" lang="ko-KR" altLang="en-US">
                <a:solidFill>
                  <a:srgbClr val="1B2740"/>
                </a:solidFill>
                <a:latin typeface="맑은 고딕"/>
                <a:ea typeface="맑은 고딕"/>
                <a:cs typeface="맑은 고딕"/>
              </a:rPr>
              <a:t>ECEF</a:t>
            </a:r>
          </a:p>
          <a:p>
            <a:pPr algn="ctr">
              <a:lnSpc>
                <a:spcPct val="105000"/>
              </a:lnSpc>
              <a:spcAft>
                <a:spcPts val="0"/>
              </a:spcAft>
            </a:pPr>
            <a:r>
              <a:rPr sz="1000" b="0" i="0" lang="ko-KR" altLang="en-US">
                <a:solidFill>
                  <a:srgbClr val="4A5A7A"/>
                </a:solidFill>
                <a:latin typeface="맑은 고딕"/>
                <a:ea typeface="맑은 고딕"/>
                <a:cs typeface="맑은 고딕"/>
              </a:rPr>
              <a:t>지구 중심 기준</a:t>
            </a:r>
          </a:p>
        </p:txBody>
      </p:sp>
      <p:cxnSp>
        <p:nvCxnSpPr>
          <p:cNvPr id="12" name="Connector 11"/>
          <p:cNvCxnSpPr/>
          <p:nvPr/>
        </p:nvCxnSpPr>
        <p:spPr>
          <a:xfrm>
            <a:off x="5841187" y="2752344"/>
            <a:ext cx="182880"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51499" y="2304288"/>
            <a:ext cx="1196035" cy="896112"/>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97219" y="2304288"/>
            <a:ext cx="1104595" cy="896112"/>
          </a:xfrm>
          <a:prstGeom prst="rect">
            <a:avLst/>
          </a:prstGeom>
          <a:noFill/>
        </p:spPr>
        <p:txBody>
          <a:bodyPr wrap="square" anchor="ctr" lIns="0" tIns="0" rIns="0" bIns="0">
            <a:noAutofit/>
          </a:bodyPr>
          <a:lstStyle/>
          <a:p>
            <a:pPr algn="ctr">
              <a:lnSpc>
                <a:spcPct val="105000"/>
              </a:lnSpc>
              <a:spcAft>
                <a:spcPts val="200"/>
              </a:spcAft>
            </a:pPr>
            <a:r>
              <a:rPr sz="1250" b="1" i="0" lang="ko-KR" altLang="en-US">
                <a:solidFill>
                  <a:srgbClr val="1B2740"/>
                </a:solidFill>
                <a:latin typeface="맑은 고딕"/>
                <a:ea typeface="맑은 고딕"/>
                <a:cs typeface="맑은 고딕"/>
              </a:rPr>
              <a:t>NED</a:t>
            </a:r>
          </a:p>
          <a:p>
            <a:pPr algn="ctr">
              <a:lnSpc>
                <a:spcPct val="105000"/>
              </a:lnSpc>
              <a:spcAft>
                <a:spcPts val="0"/>
              </a:spcAft>
            </a:pPr>
            <a:r>
              <a:rPr sz="1000" b="0" i="0" lang="ko-KR" altLang="en-US">
                <a:solidFill>
                  <a:srgbClr val="4A5A7A"/>
                </a:solidFill>
                <a:latin typeface="맑은 고딕"/>
                <a:ea typeface="맑은 고딕"/>
                <a:cs typeface="맑은 고딕"/>
              </a:rPr>
              <a:t>북 · 동 · 아래</a:t>
            </a:r>
          </a:p>
        </p:txBody>
      </p:sp>
      <p:cxnSp>
        <p:nvCxnSpPr>
          <p:cNvPr id="15" name="Connector 14"/>
          <p:cNvCxnSpPr/>
          <p:nvPr/>
        </p:nvCxnSpPr>
        <p:spPr>
          <a:xfrm>
            <a:off x="7274966" y="2752344"/>
            <a:ext cx="182880"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7485278" y="2304288"/>
            <a:ext cx="1196035" cy="896112"/>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30998" y="2304288"/>
            <a:ext cx="1104595" cy="896112"/>
          </a:xfrm>
          <a:prstGeom prst="rect">
            <a:avLst/>
          </a:prstGeom>
          <a:noFill/>
        </p:spPr>
        <p:txBody>
          <a:bodyPr wrap="square" anchor="ctr" lIns="0" tIns="0" rIns="0" bIns="0">
            <a:noAutofit/>
          </a:bodyPr>
          <a:lstStyle/>
          <a:p>
            <a:pPr algn="ctr">
              <a:lnSpc>
                <a:spcPct val="105000"/>
              </a:lnSpc>
              <a:spcAft>
                <a:spcPts val="200"/>
              </a:spcAft>
            </a:pPr>
            <a:r>
              <a:rPr sz="1250" b="1" i="0" lang="ko-KR" altLang="en-US">
                <a:solidFill>
                  <a:srgbClr val="1B2740"/>
                </a:solidFill>
                <a:latin typeface="맑은 고딕"/>
                <a:ea typeface="맑은 고딕"/>
                <a:cs typeface="맑은 고딕"/>
              </a:rPr>
              <a:t>동체</a:t>
            </a:r>
          </a:p>
          <a:p>
            <a:pPr algn="ctr">
              <a:lnSpc>
                <a:spcPct val="105000"/>
              </a:lnSpc>
              <a:spcAft>
                <a:spcPts val="0"/>
              </a:spcAft>
            </a:pPr>
            <a:r>
              <a:rPr sz="1000" b="0" i="0" lang="ko-KR" altLang="en-US">
                <a:solidFill>
                  <a:srgbClr val="4A5A7A"/>
                </a:solidFill>
                <a:latin typeface="맑은 고딕"/>
                <a:ea typeface="맑은 고딕"/>
                <a:cs typeface="맑은 고딕"/>
              </a:rPr>
              <a:t>레이다 몸체 기준</a:t>
            </a:r>
          </a:p>
        </p:txBody>
      </p:sp>
      <p:cxnSp>
        <p:nvCxnSpPr>
          <p:cNvPr id="18" name="Connector 17"/>
          <p:cNvCxnSpPr/>
          <p:nvPr/>
        </p:nvCxnSpPr>
        <p:spPr>
          <a:xfrm>
            <a:off x="8708745" y="2752344"/>
            <a:ext cx="182880"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8919057" y="2304288"/>
            <a:ext cx="1196035" cy="896112"/>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4777" y="2304288"/>
            <a:ext cx="1104595" cy="896112"/>
          </a:xfrm>
          <a:prstGeom prst="rect">
            <a:avLst/>
          </a:prstGeom>
          <a:noFill/>
        </p:spPr>
        <p:txBody>
          <a:bodyPr wrap="square" anchor="ctr" lIns="0" tIns="0" rIns="0" bIns="0">
            <a:noAutofit/>
          </a:bodyPr>
          <a:lstStyle/>
          <a:p>
            <a:pPr algn="ctr">
              <a:lnSpc>
                <a:spcPct val="105000"/>
              </a:lnSpc>
              <a:spcAft>
                <a:spcPts val="200"/>
              </a:spcAft>
            </a:pPr>
            <a:r>
              <a:rPr sz="1250" b="1" i="0" lang="ko-KR" altLang="en-US">
                <a:solidFill>
                  <a:srgbClr val="1B2740"/>
                </a:solidFill>
                <a:latin typeface="맑은 고딕"/>
                <a:ea typeface="맑은 고딕"/>
                <a:cs typeface="맑은 고딕"/>
              </a:rPr>
              <a:t>안테나</a:t>
            </a:r>
          </a:p>
          <a:p>
            <a:pPr algn="ctr">
              <a:lnSpc>
                <a:spcPct val="105000"/>
              </a:lnSpc>
              <a:spcAft>
                <a:spcPts val="0"/>
              </a:spcAft>
            </a:pPr>
            <a:r>
              <a:rPr sz="1000" b="0" i="0" lang="ko-KR" altLang="en-US">
                <a:solidFill>
                  <a:srgbClr val="4A5A7A"/>
                </a:solidFill>
                <a:latin typeface="맑은 고딕"/>
                <a:ea typeface="맑은 고딕"/>
                <a:cs typeface="맑은 고딕"/>
              </a:rPr>
              <a:t>왼쪽 · 위 · 조준축</a:t>
            </a:r>
          </a:p>
        </p:txBody>
      </p:sp>
      <p:cxnSp>
        <p:nvCxnSpPr>
          <p:cNvPr id="21" name="Connector 20"/>
          <p:cNvCxnSpPr/>
          <p:nvPr/>
        </p:nvCxnSpPr>
        <p:spPr>
          <a:xfrm>
            <a:off x="10142524" y="2752344"/>
            <a:ext cx="182880"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10352836" y="2304288"/>
            <a:ext cx="1196035" cy="896112"/>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98556" y="2304288"/>
            <a:ext cx="1104595" cy="896112"/>
          </a:xfrm>
          <a:prstGeom prst="rect">
            <a:avLst/>
          </a:prstGeom>
          <a:noFill/>
        </p:spPr>
        <p:txBody>
          <a:bodyPr wrap="square" anchor="ctr" lIns="0" tIns="0" rIns="0" bIns="0">
            <a:noAutofit/>
          </a:bodyPr>
          <a:lstStyle/>
          <a:p>
            <a:pPr algn="ctr">
              <a:lnSpc>
                <a:spcPct val="105000"/>
              </a:lnSpc>
              <a:spcAft>
                <a:spcPts val="0"/>
              </a:spcAft>
            </a:pPr>
            <a:r>
              <a:rPr sz="1250" b="1" i="0" lang="ko-KR" altLang="en-US">
                <a:solidFill>
                  <a:srgbClr val="FFFFFF"/>
                </a:solidFill>
                <a:latin typeface="맑은 고딕"/>
                <a:ea typeface="맑은 고딕"/>
                <a:cs typeface="맑은 고딕"/>
              </a:rPr>
              <a:t>거리</a:t>
            </a:r>
          </a:p>
          <a:p>
            <a:pPr algn="ctr">
              <a:lnSpc>
                <a:spcPct val="105000"/>
              </a:lnSpc>
              <a:spcAft>
                <a:spcPts val="200"/>
              </a:spcAft>
            </a:pPr>
            <a:r>
              <a:rPr sz="1250" b="1" i="0" lang="ko-KR" altLang="en-US">
                <a:solidFill>
                  <a:srgbClr val="FFFFFF"/>
                </a:solidFill>
                <a:latin typeface="맑은 고딕"/>
                <a:ea typeface="맑은 고딕"/>
                <a:cs typeface="맑은 고딕"/>
              </a:rPr>
              <a:t>방위각 · 고각</a:t>
            </a:r>
          </a:p>
        </p:txBody>
      </p:sp>
      <p:sp>
        <p:nvSpPr>
          <p:cNvPr id="24" name="Rectangle 23"/>
          <p:cNvSpPr/>
          <p:nvPr/>
        </p:nvSpPr>
        <p:spPr>
          <a:xfrm>
            <a:off x="4617720" y="3383280"/>
            <a:ext cx="6931152" cy="566928"/>
          </a:xfrm>
          <a:prstGeom prst="rect">
            <a:avLst/>
          </a:prstGeom>
          <a:solidFill>
            <a:srgbClr val="EEF3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18888" y="3383280"/>
            <a:ext cx="6528816" cy="566928"/>
          </a:xfrm>
          <a:prstGeom prst="rect">
            <a:avLst/>
          </a:prstGeom>
          <a:noFill/>
        </p:spPr>
        <p:txBody>
          <a:bodyPr wrap="square" anchor="ctr" lIns="0" tIns="0" rIns="0" bIns="0">
            <a:noAutofit/>
          </a:bodyPr>
          <a:lstStyle/>
          <a:p>
            <a:pPr algn="l">
              <a:lnSpc>
                <a:spcPct val="115000"/>
              </a:lnSpc>
              <a:spcAft>
                <a:spcPts val="0"/>
              </a:spcAft>
            </a:pPr>
            <a:r>
              <a:rPr sz="1300" b="1" i="0" lang="ko-KR" altLang="en-US">
                <a:solidFill>
                  <a:srgbClr val="2563EB"/>
                </a:solidFill>
                <a:latin typeface="맑은 고딕"/>
                <a:ea typeface="맑은 고딕"/>
                <a:cs typeface="맑은 고딕"/>
              </a:rPr>
              <a:t>예</a:t>
            </a:r>
            <a:r>
              <a:rPr sz="1300" b="0" i="0" lang="ko-KR" altLang="en-US">
                <a:solidFill>
                  <a:srgbClr val="1B2740"/>
                </a:solidFill>
                <a:latin typeface="맑은 고딕"/>
                <a:ea typeface="맑은 고딕"/>
                <a:cs typeface="맑은 고딕"/>
              </a:rPr>
              <a:t>    표적 1, t = 0 s   →   거리 13,310 m  ·  방위각 0°  ·  고각 1.23°</a:t>
            </a:r>
          </a:p>
        </p:txBody>
      </p:sp>
      <p:sp>
        <p:nvSpPr>
          <p:cNvPr id="26" name="TextBox 25"/>
          <p:cNvSpPr txBox="1"/>
          <p:nvPr/>
        </p:nvSpPr>
        <p:spPr>
          <a:xfrm>
            <a:off x="4617720" y="4187952"/>
            <a:ext cx="6931152"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지도에 그릴 때   같은 길을 거꾸로</a:t>
            </a:r>
          </a:p>
        </p:txBody>
      </p:sp>
      <p:sp>
        <p:nvSpPr>
          <p:cNvPr id="27" name="Rectangle 26"/>
          <p:cNvSpPr/>
          <p:nvPr/>
        </p:nvSpPr>
        <p:spPr>
          <a:xfrm>
            <a:off x="4617720" y="4526280"/>
            <a:ext cx="1196035" cy="713232"/>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63440" y="4526280"/>
            <a:ext cx="1104595" cy="713232"/>
          </a:xfrm>
          <a:prstGeom prst="rect">
            <a:avLst/>
          </a:prstGeom>
          <a:noFill/>
        </p:spPr>
        <p:txBody>
          <a:bodyPr wrap="square" anchor="ctr" lIns="0" tIns="0" rIns="0" bIns="0">
            <a:noAutofit/>
          </a:bodyPr>
          <a:lstStyle/>
          <a:p>
            <a:pPr algn="ctr">
              <a:lnSpc>
                <a:spcPct val="105000"/>
              </a:lnSpc>
              <a:spcAft>
                <a:spcPts val="0"/>
              </a:spcAft>
            </a:pPr>
            <a:r>
              <a:rPr sz="1250" b="1" i="0" lang="ko-KR" altLang="en-US">
                <a:solidFill>
                  <a:srgbClr val="1B2740"/>
                </a:solidFill>
                <a:latin typeface="맑은 고딕"/>
                <a:ea typeface="맑은 고딕"/>
                <a:cs typeface="맑은 고딕"/>
              </a:rPr>
              <a:t>거리</a:t>
            </a:r>
          </a:p>
          <a:p>
            <a:pPr algn="ctr">
              <a:lnSpc>
                <a:spcPct val="105000"/>
              </a:lnSpc>
              <a:spcAft>
                <a:spcPts val="200"/>
              </a:spcAft>
            </a:pPr>
            <a:r>
              <a:rPr sz="1250" b="1" i="0" lang="ko-KR" altLang="en-US">
                <a:solidFill>
                  <a:srgbClr val="1B2740"/>
                </a:solidFill>
                <a:latin typeface="맑은 고딕"/>
                <a:ea typeface="맑은 고딕"/>
                <a:cs typeface="맑은 고딕"/>
              </a:rPr>
              <a:t>방위각 · 고각</a:t>
            </a:r>
          </a:p>
        </p:txBody>
      </p:sp>
      <p:cxnSp>
        <p:nvCxnSpPr>
          <p:cNvPr id="29" name="Connector 28"/>
          <p:cNvCxnSpPr/>
          <p:nvPr/>
        </p:nvCxnSpPr>
        <p:spPr>
          <a:xfrm>
            <a:off x="5841187" y="4882896"/>
            <a:ext cx="182880"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051499" y="4526280"/>
            <a:ext cx="1196035" cy="713232"/>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097219" y="4526280"/>
            <a:ext cx="1104595" cy="713232"/>
          </a:xfrm>
          <a:prstGeom prst="rect">
            <a:avLst/>
          </a:prstGeom>
          <a:noFill/>
        </p:spPr>
        <p:txBody>
          <a:bodyPr wrap="square" anchor="ctr" lIns="0" tIns="0" rIns="0" bIns="0">
            <a:noAutofit/>
          </a:bodyPr>
          <a:lstStyle/>
          <a:p>
            <a:pPr algn="ctr">
              <a:lnSpc>
                <a:spcPct val="105000"/>
              </a:lnSpc>
              <a:spcAft>
                <a:spcPts val="200"/>
              </a:spcAft>
            </a:pPr>
            <a:r>
              <a:rPr sz="1250" b="1" i="0" lang="ko-KR" altLang="en-US">
                <a:solidFill>
                  <a:srgbClr val="1B2740"/>
                </a:solidFill>
                <a:latin typeface="맑은 고딕"/>
                <a:ea typeface="맑은 고딕"/>
                <a:cs typeface="맑은 고딕"/>
              </a:rPr>
              <a:t>안테나</a:t>
            </a:r>
          </a:p>
        </p:txBody>
      </p:sp>
      <p:cxnSp>
        <p:nvCxnSpPr>
          <p:cNvPr id="32" name="Connector 31"/>
          <p:cNvCxnSpPr/>
          <p:nvPr/>
        </p:nvCxnSpPr>
        <p:spPr>
          <a:xfrm>
            <a:off x="7274966" y="4882896"/>
            <a:ext cx="182880"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7485278" y="4526280"/>
            <a:ext cx="1196035" cy="713232"/>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30998" y="4526280"/>
            <a:ext cx="1104595" cy="713232"/>
          </a:xfrm>
          <a:prstGeom prst="rect">
            <a:avLst/>
          </a:prstGeom>
          <a:noFill/>
        </p:spPr>
        <p:txBody>
          <a:bodyPr wrap="square" anchor="ctr" lIns="0" tIns="0" rIns="0" bIns="0">
            <a:noAutofit/>
          </a:bodyPr>
          <a:lstStyle/>
          <a:p>
            <a:pPr algn="ctr">
              <a:lnSpc>
                <a:spcPct val="105000"/>
              </a:lnSpc>
              <a:spcAft>
                <a:spcPts val="200"/>
              </a:spcAft>
            </a:pPr>
            <a:r>
              <a:rPr sz="1250" b="1" i="0" lang="ko-KR" altLang="en-US">
                <a:solidFill>
                  <a:srgbClr val="1B2740"/>
                </a:solidFill>
                <a:latin typeface="맑은 고딕"/>
                <a:ea typeface="맑은 고딕"/>
                <a:cs typeface="맑은 고딕"/>
              </a:rPr>
              <a:t>동체</a:t>
            </a:r>
          </a:p>
        </p:txBody>
      </p:sp>
      <p:cxnSp>
        <p:nvCxnSpPr>
          <p:cNvPr id="35" name="Connector 34"/>
          <p:cNvCxnSpPr/>
          <p:nvPr/>
        </p:nvCxnSpPr>
        <p:spPr>
          <a:xfrm>
            <a:off x="8708745" y="4882896"/>
            <a:ext cx="182880"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8919057" y="4526280"/>
            <a:ext cx="1196035" cy="713232"/>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64777" y="4526280"/>
            <a:ext cx="1104595" cy="713232"/>
          </a:xfrm>
          <a:prstGeom prst="rect">
            <a:avLst/>
          </a:prstGeom>
          <a:noFill/>
        </p:spPr>
        <p:txBody>
          <a:bodyPr wrap="square" anchor="ctr" lIns="0" tIns="0" rIns="0" bIns="0">
            <a:noAutofit/>
          </a:bodyPr>
          <a:lstStyle/>
          <a:p>
            <a:pPr algn="ctr">
              <a:lnSpc>
                <a:spcPct val="105000"/>
              </a:lnSpc>
              <a:spcAft>
                <a:spcPts val="200"/>
              </a:spcAft>
            </a:pPr>
            <a:r>
              <a:rPr sz="1250" b="1" i="0" lang="ko-KR" altLang="en-US">
                <a:solidFill>
                  <a:srgbClr val="1B2740"/>
                </a:solidFill>
                <a:latin typeface="맑은 고딕"/>
                <a:ea typeface="맑은 고딕"/>
                <a:cs typeface="맑은 고딕"/>
              </a:rPr>
              <a:t>NED</a:t>
            </a:r>
          </a:p>
        </p:txBody>
      </p:sp>
      <p:cxnSp>
        <p:nvCxnSpPr>
          <p:cNvPr id="38" name="Connector 37"/>
          <p:cNvCxnSpPr/>
          <p:nvPr/>
        </p:nvCxnSpPr>
        <p:spPr>
          <a:xfrm>
            <a:off x="10142524" y="4882896"/>
            <a:ext cx="182880"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10352836" y="4526280"/>
            <a:ext cx="1196035" cy="713232"/>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98556" y="4526280"/>
            <a:ext cx="1104595" cy="713232"/>
          </a:xfrm>
          <a:prstGeom prst="rect">
            <a:avLst/>
          </a:prstGeom>
          <a:noFill/>
        </p:spPr>
        <p:txBody>
          <a:bodyPr wrap="square" anchor="ctr" lIns="0" tIns="0" rIns="0" bIns="0">
            <a:noAutofit/>
          </a:bodyPr>
          <a:lstStyle/>
          <a:p>
            <a:pPr algn="ctr">
              <a:lnSpc>
                <a:spcPct val="105000"/>
              </a:lnSpc>
              <a:spcAft>
                <a:spcPts val="200"/>
              </a:spcAft>
            </a:pPr>
            <a:r>
              <a:rPr sz="1250" b="1" i="0" lang="ko-KR" altLang="en-US">
                <a:solidFill>
                  <a:srgbClr val="FFFFFF"/>
                </a:solidFill>
                <a:latin typeface="맑은 고딕"/>
                <a:ea typeface="맑은 고딕"/>
                <a:cs typeface="맑은 고딕"/>
              </a:rPr>
              <a:t>ECEF → LLA</a:t>
            </a:r>
          </a:p>
          <a:p>
            <a:pPr algn="ctr">
              <a:lnSpc>
                <a:spcPct val="105000"/>
              </a:lnSpc>
              <a:spcAft>
                <a:spcPts val="0"/>
              </a:spcAft>
            </a:pPr>
            <a:r>
              <a:rPr sz="1000" b="0" i="0" lang="ko-KR" altLang="en-US">
                <a:solidFill>
                  <a:srgbClr val="C7D0E2"/>
                </a:solidFill>
                <a:latin typeface="맑은 고딕"/>
                <a:ea typeface="맑은 고딕"/>
                <a:cs typeface="맑은 고딕"/>
              </a:rPr>
              <a:t>위도 · 경도 · 고도</a:t>
            </a:r>
          </a:p>
        </p:txBody>
      </p:sp>
      <p:sp>
        <p:nvSpPr>
          <p:cNvPr id="41" name="Rectangle 40"/>
          <p:cNvSpPr/>
          <p:nvPr/>
        </p:nvSpPr>
        <p:spPr>
          <a:xfrm>
            <a:off x="4617720" y="5504688"/>
            <a:ext cx="6931152" cy="566928"/>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18888" y="5504688"/>
            <a:ext cx="6528816" cy="566928"/>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059669"/>
                </a:solidFill>
                <a:latin typeface="맑은 고딕"/>
                <a:ea typeface="맑은 고딕"/>
                <a:cs typeface="맑은 고딕"/>
              </a:rPr>
              <a:t>확인</a:t>
            </a:r>
            <a:r>
              <a:rPr sz="1250" b="0" i="0" lang="ko-KR" altLang="en-US">
                <a:solidFill>
                  <a:srgbClr val="1B2740"/>
                </a:solidFill>
                <a:latin typeface="맑은 고딕"/>
                <a:ea typeface="맑은 고딕"/>
                <a:cs typeface="맑은 고딕"/>
              </a:rPr>
              <a:t>    참값을 보냈다가 되돌린 위치 차이: 최대 0.03 mm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03. 클러터</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3.1 클러터는 표적이 아닌 것에서 돌아온 탐지입니다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12</a:t>
            </a:r>
          </a:p>
        </p:txBody>
      </p:sp>
      <p:sp>
        <p:nvSpPr>
          <p:cNvPr id="7" name="TextBox 6"/>
          <p:cNvSpPr txBox="1"/>
          <p:nvPr/>
        </p:nvSpPr>
        <p:spPr>
          <a:xfrm>
            <a:off x="640080" y="1965960"/>
            <a:ext cx="6309360"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클러터가 생기는 곳</a:t>
            </a:r>
          </a:p>
        </p:txBody>
      </p:sp>
      <p:pic>
        <p:nvPicPr>
          <p:cNvPr id="8" name="Picture 7" descr="image.png"/>
          <p:cNvPicPr>
            <a:picLocks noChangeAspect="1"/>
          </p:cNvPicPr>
          <p:nvPr/>
        </p:nvPicPr>
        <p:blipFill>
          <a:blip r:embed="rId2"/>
          <a:stretch>
            <a:fillRect/>
          </a:stretch>
        </p:blipFill>
        <p:spPr>
          <a:xfrm>
            <a:off x="640080" y="2286000"/>
            <a:ext cx="6309360" cy="2822004"/>
          </a:xfrm>
          <a:prstGeom prst="rect">
            <a:avLst/>
          </a:prstGeom>
        </p:spPr>
      </p:pic>
      <p:sp>
        <p:nvSpPr>
          <p:cNvPr id="9" name="TextBox 8"/>
          <p:cNvSpPr txBox="1"/>
          <p:nvPr/>
        </p:nvSpPr>
        <p:spPr>
          <a:xfrm>
            <a:off x="7269480" y="1965960"/>
            <a:ext cx="4279392"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추적 필터가 받는 모습 (예시)</a:t>
            </a:r>
          </a:p>
        </p:txBody>
      </p:sp>
      <p:pic>
        <p:nvPicPr>
          <p:cNvPr id="10" name="Picture 9" descr="image.png"/>
          <p:cNvPicPr>
            <a:picLocks noChangeAspect="1"/>
          </p:cNvPicPr>
          <p:nvPr/>
        </p:nvPicPr>
        <p:blipFill>
          <a:blip r:embed="rId3"/>
          <a:stretch>
            <a:fillRect/>
          </a:stretch>
        </p:blipFill>
        <p:spPr>
          <a:xfrm>
            <a:off x="7269480" y="2286000"/>
            <a:ext cx="4279392" cy="1711756"/>
          </a:xfrm>
          <a:prstGeom prst="rect">
            <a:avLst/>
          </a:prstGeom>
        </p:spPr>
      </p:pic>
      <p:sp>
        <p:nvSpPr>
          <p:cNvPr id="11" name="TextBox 10"/>
          <p:cNvSpPr txBox="1"/>
          <p:nvPr/>
        </p:nvSpPr>
        <p:spPr>
          <a:xfrm>
            <a:off x="7269480" y="4133087"/>
            <a:ext cx="4279392" cy="932688"/>
          </a:xfrm>
          <a:prstGeom prst="rect">
            <a:avLst/>
          </a:prstGeom>
          <a:noFill/>
        </p:spPr>
        <p:txBody>
          <a:bodyPr wrap="square" anchor="t" lIns="0" tIns="0" rIns="0" bIns="0">
            <a:noAutofit/>
          </a:bodyPr>
          <a:lstStyle/>
          <a:p>
            <a:pPr algn="l">
              <a:lnSpc>
                <a:spcPct val="120000"/>
              </a:lnSpc>
              <a:spcAft>
                <a:spcPts val="0"/>
              </a:spcAft>
            </a:pPr>
            <a:r>
              <a:rPr sz="1200" b="0" i="0" lang="ko-KR" altLang="en-US">
                <a:solidFill>
                  <a:srgbClr val="1B2740"/>
                </a:solidFill>
                <a:latin typeface="맑은 고딕"/>
                <a:ea typeface="맑은 고딕"/>
                <a:cs typeface="맑은 고딕"/>
              </a:rPr>
              <a:t>클러터도 거리 · 방위각 · 고각을 가진</a:t>
            </a:r>
          </a:p>
          <a:p>
            <a:pPr algn="l">
              <a:lnSpc>
                <a:spcPct val="120000"/>
              </a:lnSpc>
              <a:spcAft>
                <a:spcPts val="0"/>
              </a:spcAft>
            </a:pPr>
            <a:r>
              <a:rPr sz="1200" b="0" i="0" lang="ko-KR" altLang="en-US">
                <a:solidFill>
                  <a:srgbClr val="1B2740"/>
                </a:solidFill>
                <a:latin typeface="맑은 고딕"/>
                <a:ea typeface="맑은 고딕"/>
                <a:cs typeface="맑은 고딕"/>
              </a:rPr>
              <a:t>플롯으로 들어온다.</a:t>
            </a:r>
          </a:p>
          <a:p>
            <a:pPr algn="l">
              <a:lnSpc>
                <a:spcPct val="120000"/>
              </a:lnSpc>
              <a:spcAft>
                <a:spcPts val="0"/>
              </a:spcAft>
            </a:pPr>
            <a:r>
              <a:rPr sz="1200" b="1" i="0" lang="ko-KR" altLang="en-US">
                <a:solidFill>
                  <a:srgbClr val="1B2740"/>
                </a:solidFill>
                <a:latin typeface="맑은 고딕"/>
                <a:ea typeface="맑은 고딕"/>
                <a:cs typeface="맑은 고딕"/>
              </a:rPr>
              <a:t>플롯만 봐서는 표적을 구분할 수 없다.</a:t>
            </a:r>
          </a:p>
        </p:txBody>
      </p:sp>
      <p:sp>
        <p:nvSpPr>
          <p:cNvPr id="12" name="Rectangle 11"/>
          <p:cNvSpPr/>
          <p:nvPr/>
        </p:nvSpPr>
        <p:spPr>
          <a:xfrm>
            <a:off x="640080" y="5303520"/>
            <a:ext cx="5349240" cy="841248"/>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 y="5303520"/>
            <a:ext cx="4983479" cy="841248"/>
          </a:xfrm>
          <a:prstGeom prst="rect">
            <a:avLst/>
          </a:prstGeom>
          <a:noFill/>
        </p:spPr>
        <p:txBody>
          <a:bodyPr wrap="square" anchor="ctr" lIns="0" tIns="0" rIns="0" bIns="0">
            <a:noAutofit/>
          </a:bodyPr>
          <a:lstStyle/>
          <a:p>
            <a:pPr algn="l">
              <a:lnSpc>
                <a:spcPct val="115000"/>
              </a:lnSpc>
              <a:spcAft>
                <a:spcPts val="300"/>
              </a:spcAft>
            </a:pPr>
            <a:r>
              <a:rPr sz="1300" b="1" i="0" lang="ko-KR" altLang="en-US">
                <a:solidFill>
                  <a:srgbClr val="1B2740"/>
                </a:solidFill>
                <a:latin typeface="맑은 고딕"/>
                <a:ea typeface="맑은 고딕"/>
                <a:cs typeface="맑은 고딕"/>
              </a:rPr>
              <a:t>실제 클러터를 그대로 만들기는 어렵다</a:t>
            </a:r>
          </a:p>
          <a:p>
            <a:pPr algn="l">
              <a:lnSpc>
                <a:spcPct val="115000"/>
              </a:lnSpc>
              <a:spcAft>
                <a:spcPts val="0"/>
              </a:spcAft>
            </a:pPr>
            <a:r>
              <a:rPr sz="1150" b="0" i="0" lang="ko-KR" altLang="en-US">
                <a:solidFill>
                  <a:srgbClr val="4A5A7A"/>
                </a:solidFill>
                <a:latin typeface="맑은 고딕"/>
                <a:ea typeface="맑은 고딕"/>
                <a:cs typeface="맑은 고딕"/>
              </a:rPr>
              <a:t>바다 상태 · 지형 · 날씨까지 넣어야 하는 별도 연구 분야</a:t>
            </a:r>
          </a:p>
        </p:txBody>
      </p:sp>
      <p:sp>
        <p:nvSpPr>
          <p:cNvPr id="14" name="Rectangle 13"/>
          <p:cNvSpPr/>
          <p:nvPr/>
        </p:nvSpPr>
        <p:spPr>
          <a:xfrm>
            <a:off x="6199632" y="5303520"/>
            <a:ext cx="5349240" cy="841248"/>
          </a:xfrm>
          <a:prstGeom prst="rect">
            <a:avLst/>
          </a:prstGeom>
          <a:solidFill>
            <a:srgbClr val="EEF3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5303520"/>
            <a:ext cx="4983479" cy="841248"/>
          </a:xfrm>
          <a:prstGeom prst="rect">
            <a:avLst/>
          </a:prstGeom>
          <a:noFill/>
        </p:spPr>
        <p:txBody>
          <a:bodyPr wrap="square" anchor="ctr" lIns="0" tIns="0" rIns="0" bIns="0">
            <a:noAutofit/>
          </a:bodyPr>
          <a:lstStyle/>
          <a:p>
            <a:pPr algn="l">
              <a:lnSpc>
                <a:spcPct val="115000"/>
              </a:lnSpc>
              <a:spcAft>
                <a:spcPts val="300"/>
              </a:spcAft>
            </a:pPr>
            <a:r>
              <a:rPr sz="1300" b="1" i="0" lang="ko-KR" altLang="en-US">
                <a:solidFill>
                  <a:srgbClr val="2563EB"/>
                </a:solidFill>
                <a:latin typeface="맑은 고딕"/>
                <a:ea typeface="맑은 고딕"/>
                <a:cs typeface="맑은 고딕"/>
              </a:rPr>
              <a:t>그래서 단순하게 만든다</a:t>
            </a:r>
          </a:p>
          <a:p>
            <a:pPr algn="l">
              <a:lnSpc>
                <a:spcPct val="115000"/>
              </a:lnSpc>
              <a:spcAft>
                <a:spcPts val="0"/>
              </a:spcAft>
            </a:pPr>
            <a:r>
              <a:rPr sz="1150" b="0" i="0" lang="ko-KR" altLang="en-US">
                <a:solidFill>
                  <a:srgbClr val="4A5A7A"/>
                </a:solidFill>
                <a:latin typeface="맑은 고딕"/>
                <a:ea typeface="맑은 고딕"/>
                <a:cs typeface="맑은 고딕"/>
              </a:rPr>
              <a:t>범위 안에 무작위로 생기는 클러터  →  클러터 속 추적 시험에 충분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04. 클러터 모의</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4.1 클러터는 FOV 안에서 균등난수로 뽑습니다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13</a:t>
            </a:r>
          </a:p>
        </p:txBody>
      </p:sp>
      <p:sp>
        <p:nvSpPr>
          <p:cNvPr id="7" name="Rectangle 6"/>
          <p:cNvSpPr/>
          <p:nvPr/>
        </p:nvSpPr>
        <p:spPr>
          <a:xfrm>
            <a:off x="640080" y="1965960"/>
            <a:ext cx="2331720" cy="786384"/>
          </a:xfrm>
          <a:prstGeom prst="rect">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1" y="1965960"/>
            <a:ext cx="2057400" cy="786384"/>
          </a:xfrm>
          <a:prstGeom prst="rect">
            <a:avLst/>
          </a:prstGeom>
          <a:noFill/>
        </p:spPr>
        <p:txBody>
          <a:bodyPr wrap="square" anchor="ctr" lIns="0" tIns="0" rIns="0" bIns="0">
            <a:noAutofit/>
          </a:bodyPr>
          <a:lstStyle/>
          <a:p>
            <a:pPr algn="l">
              <a:lnSpc>
                <a:spcPct val="110000"/>
              </a:lnSpc>
              <a:spcAft>
                <a:spcPts val="200"/>
              </a:spcAft>
            </a:pPr>
            <a:r>
              <a:rPr sz="1250" b="1" i="0" lang="ko-KR" altLang="en-US">
                <a:solidFill>
                  <a:srgbClr val="2563EB"/>
                </a:solidFill>
                <a:latin typeface="맑은 고딕"/>
                <a:ea typeface="맑은 고딕"/>
                <a:cs typeface="맑은 고딕"/>
              </a:rPr>
              <a:t>① 개수</a:t>
            </a:r>
          </a:p>
          <a:p>
            <a:pPr algn="l">
              <a:lnSpc>
                <a:spcPct val="110000"/>
              </a:lnSpc>
              <a:spcAft>
                <a:spcPts val="0"/>
              </a:spcAft>
            </a:pPr>
            <a:r>
              <a:rPr sz="1200" b="0" i="0" lang="ko-KR" altLang="en-US">
                <a:solidFill>
                  <a:srgbClr val="1B2740"/>
                </a:solidFill>
                <a:latin typeface="맑은 고딕"/>
                <a:ea typeface="맑은 고딕"/>
                <a:cs typeface="맑은 고딕"/>
              </a:rPr>
              <a:t>스캔마다 5개</a:t>
            </a:r>
          </a:p>
        </p:txBody>
      </p:sp>
      <p:cxnSp>
        <p:nvCxnSpPr>
          <p:cNvPr id="9" name="Connector 8"/>
          <p:cNvCxnSpPr/>
          <p:nvPr/>
        </p:nvCxnSpPr>
        <p:spPr>
          <a:xfrm>
            <a:off x="3008376" y="2359152"/>
            <a:ext cx="201168"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246120" y="1965960"/>
            <a:ext cx="4736592" cy="786384"/>
          </a:xfrm>
          <a:prstGeom prst="rect">
            <a:avLst/>
          </a:prstGeom>
          <a:solidFill>
            <a:srgbClr val="FFFFFF"/>
          </a:solidFill>
          <a:ln w="1587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10712" y="1965960"/>
            <a:ext cx="4462272" cy="786384"/>
          </a:xfrm>
          <a:prstGeom prst="rect">
            <a:avLst/>
          </a:prstGeom>
          <a:noFill/>
        </p:spPr>
        <p:txBody>
          <a:bodyPr wrap="square" anchor="ctr" lIns="0" tIns="0" rIns="0" bIns="0">
            <a:noAutofit/>
          </a:bodyPr>
          <a:lstStyle/>
          <a:p>
            <a:pPr algn="l">
              <a:lnSpc>
                <a:spcPct val="110000"/>
              </a:lnSpc>
              <a:spcAft>
                <a:spcPts val="200"/>
              </a:spcAft>
            </a:pPr>
            <a:r>
              <a:rPr sz="1250" b="1" i="0" lang="ko-KR" altLang="en-US">
                <a:solidFill>
                  <a:srgbClr val="D97706"/>
                </a:solidFill>
                <a:latin typeface="맑은 고딕"/>
                <a:ea typeface="맑은 고딕"/>
                <a:cs typeface="맑은 고딕"/>
              </a:rPr>
              <a:t>② FOV 범위</a:t>
            </a:r>
          </a:p>
          <a:p>
            <a:pPr algn="l">
              <a:lnSpc>
                <a:spcPct val="110000"/>
              </a:lnSpc>
              <a:spcAft>
                <a:spcPts val="0"/>
              </a:spcAft>
            </a:pPr>
            <a:r>
              <a:rPr sz="1200" b="0" i="0" lang="ko-KR" altLang="en-US">
                <a:solidFill>
                  <a:srgbClr val="1B2740"/>
                </a:solidFill>
                <a:latin typeface="맑은 고딕"/>
                <a:ea typeface="맑은 고딕"/>
                <a:cs typeface="맑은 고딕"/>
              </a:rPr>
              <a:t>거리 200 m ~ 15 km,  방위각 ±60°,  고각 0 ~ 30°</a:t>
            </a:r>
          </a:p>
        </p:txBody>
      </p:sp>
      <p:cxnSp>
        <p:nvCxnSpPr>
          <p:cNvPr id="12" name="Connector 11"/>
          <p:cNvCxnSpPr/>
          <p:nvPr/>
        </p:nvCxnSpPr>
        <p:spPr>
          <a:xfrm>
            <a:off x="8019288" y="2359152"/>
            <a:ext cx="201168"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8257031" y="1965960"/>
            <a:ext cx="3291840" cy="786384"/>
          </a:xfrm>
          <a:prstGeom prst="rect">
            <a:avLst/>
          </a:prstGeom>
          <a:solidFill>
            <a:srgbClr val="FFFFFF"/>
          </a:solidFill>
          <a:ln w="1587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21624" y="1965960"/>
            <a:ext cx="3017520" cy="786384"/>
          </a:xfrm>
          <a:prstGeom prst="rect">
            <a:avLst/>
          </a:prstGeom>
          <a:noFill/>
        </p:spPr>
        <p:txBody>
          <a:bodyPr wrap="square" anchor="ctr" lIns="0" tIns="0" rIns="0" bIns="0">
            <a:noAutofit/>
          </a:bodyPr>
          <a:lstStyle/>
          <a:p>
            <a:pPr algn="l">
              <a:lnSpc>
                <a:spcPct val="110000"/>
              </a:lnSpc>
              <a:spcAft>
                <a:spcPts val="200"/>
              </a:spcAft>
            </a:pPr>
            <a:r>
              <a:rPr sz="1250" b="1" i="0" lang="ko-KR" altLang="en-US">
                <a:solidFill>
                  <a:srgbClr val="059669"/>
                </a:solidFill>
                <a:latin typeface="맑은 고딕"/>
                <a:ea typeface="맑은 고딕"/>
                <a:cs typeface="맑은 고딕"/>
              </a:rPr>
              <a:t>③ 뽑기</a:t>
            </a:r>
          </a:p>
          <a:p>
            <a:pPr algn="l">
              <a:lnSpc>
                <a:spcPct val="110000"/>
              </a:lnSpc>
              <a:spcAft>
                <a:spcPts val="0"/>
              </a:spcAft>
            </a:pPr>
            <a:r>
              <a:rPr sz="1200" b="0" i="0" lang="ko-KR" altLang="en-US">
                <a:solidFill>
                  <a:srgbClr val="1B2740"/>
                </a:solidFill>
                <a:latin typeface="맑은 고딕"/>
                <a:ea typeface="맑은 고딕"/>
                <a:cs typeface="맑은 고딕"/>
              </a:rPr>
              <a:t>거리 · 방위각 · 고각을 균등난수로 따로</a:t>
            </a:r>
          </a:p>
        </p:txBody>
      </p:sp>
      <p:sp>
        <p:nvSpPr>
          <p:cNvPr id="15" name="TextBox 14"/>
          <p:cNvSpPr txBox="1"/>
          <p:nvPr/>
        </p:nvSpPr>
        <p:spPr>
          <a:xfrm>
            <a:off x="640080" y="3035808"/>
            <a:ext cx="5943600"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FOV: 레이다가 보는 범위 (과제 값)</a:t>
            </a:r>
          </a:p>
        </p:txBody>
      </p:sp>
      <p:pic>
        <p:nvPicPr>
          <p:cNvPr id="16" name="Picture 15" descr="image.png"/>
          <p:cNvPicPr>
            <a:picLocks noChangeAspect="1"/>
          </p:cNvPicPr>
          <p:nvPr/>
        </p:nvPicPr>
        <p:blipFill>
          <a:blip r:embed="rId2"/>
          <a:stretch>
            <a:fillRect/>
          </a:stretch>
        </p:blipFill>
        <p:spPr>
          <a:xfrm>
            <a:off x="640080" y="3383280"/>
            <a:ext cx="5989320" cy="2257512"/>
          </a:xfrm>
          <a:prstGeom prst="rect">
            <a:avLst/>
          </a:prstGeom>
        </p:spPr>
      </p:pic>
      <p:sp>
        <p:nvSpPr>
          <p:cNvPr id="17" name="TextBox 16"/>
          <p:cNvSpPr txBox="1"/>
          <p:nvPr/>
        </p:nvSpPr>
        <p:spPr>
          <a:xfrm>
            <a:off x="640080" y="5715000"/>
            <a:ext cx="5989320" cy="365760"/>
          </a:xfrm>
          <a:prstGeom prst="rect">
            <a:avLst/>
          </a:prstGeom>
          <a:noFill/>
        </p:spPr>
        <p:txBody>
          <a:bodyPr wrap="square" anchor="ctr" lIns="0" tIns="0" rIns="0" bIns="0">
            <a:noAutofit/>
          </a:bodyPr>
          <a:lstStyle/>
          <a:p>
            <a:pPr algn="l">
              <a:lnSpc>
                <a:spcPct val="115000"/>
              </a:lnSpc>
              <a:spcAft>
                <a:spcPts val="0"/>
              </a:spcAft>
            </a:pPr>
            <a:r>
              <a:rPr sz="1100" b="0" i="0" lang="ko-KR" altLang="en-US">
                <a:solidFill>
                  <a:srgbClr val="4A5A7A"/>
                </a:solidFill>
                <a:latin typeface="맑은 고딕"/>
                <a:ea typeface="맑은 고딕"/>
                <a:cs typeface="맑은 고딕"/>
              </a:rPr>
              <a:t>빨간 점 = 한 스캔의 클러터 5개.  위에서 본 범위 (왼쪽), 옆에서 본 범위 (오른쪽)</a:t>
            </a:r>
          </a:p>
        </p:txBody>
      </p:sp>
      <p:sp>
        <p:nvSpPr>
          <p:cNvPr id="18" name="TextBox 17"/>
          <p:cNvSpPr txBox="1"/>
          <p:nvPr/>
        </p:nvSpPr>
        <p:spPr>
          <a:xfrm>
            <a:off x="6949440" y="3035808"/>
            <a:ext cx="4599432"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균등난수로 뽑는 법</a:t>
            </a:r>
          </a:p>
        </p:txBody>
      </p:sp>
      <p:pic>
        <p:nvPicPr>
          <p:cNvPr id="19" name="Picture 18" descr="image.png"/>
          <p:cNvPicPr>
            <a:picLocks noChangeAspect="1"/>
          </p:cNvPicPr>
          <p:nvPr/>
        </p:nvPicPr>
        <p:blipFill>
          <a:blip r:embed="rId3"/>
          <a:stretch>
            <a:fillRect/>
          </a:stretch>
        </p:blipFill>
        <p:spPr>
          <a:xfrm>
            <a:off x="6949440" y="3456432"/>
            <a:ext cx="4160520" cy="288174"/>
          </a:xfrm>
          <a:prstGeom prst="rect">
            <a:avLst/>
          </a:prstGeom>
        </p:spPr>
      </p:pic>
      <p:pic>
        <p:nvPicPr>
          <p:cNvPr id="20" name="Picture 19" descr="image.png"/>
          <p:cNvPicPr>
            <a:picLocks noChangeAspect="1"/>
          </p:cNvPicPr>
          <p:nvPr/>
        </p:nvPicPr>
        <p:blipFill>
          <a:blip r:embed="rId4"/>
          <a:stretch>
            <a:fillRect/>
          </a:stretch>
        </p:blipFill>
        <p:spPr>
          <a:xfrm>
            <a:off x="6949440" y="3886200"/>
            <a:ext cx="4160520" cy="1554720"/>
          </a:xfrm>
          <a:prstGeom prst="rect">
            <a:avLst/>
          </a:prstGeom>
        </p:spPr>
      </p:pic>
      <p:sp>
        <p:nvSpPr>
          <p:cNvPr id="21" name="TextBox 20"/>
          <p:cNvSpPr txBox="1"/>
          <p:nvPr/>
        </p:nvSpPr>
        <p:spPr>
          <a:xfrm>
            <a:off x="6949440" y="5559552"/>
            <a:ext cx="4599432" cy="566928"/>
          </a:xfrm>
          <a:prstGeom prst="rect">
            <a:avLst/>
          </a:prstGeom>
          <a:noFill/>
        </p:spPr>
        <p:txBody>
          <a:bodyPr wrap="square" anchor="t" lIns="0" tIns="0" rIns="0" bIns="0">
            <a:noAutofit/>
          </a:bodyPr>
          <a:lstStyle/>
          <a:p>
            <a:pPr algn="l">
              <a:lnSpc>
                <a:spcPct val="120000"/>
              </a:lnSpc>
              <a:spcAft>
                <a:spcPts val="0"/>
              </a:spcAft>
            </a:pPr>
            <a:r>
              <a:rPr sz="1150" b="0" i="0" lang="ko-KR" altLang="en-US">
                <a:solidFill>
                  <a:srgbClr val="1B2740"/>
                </a:solidFill>
                <a:latin typeface="맑은 고딕"/>
                <a:ea typeface="맑은 고딕"/>
                <a:cs typeface="맑은 고딕"/>
              </a:rPr>
              <a:t>방위각 = −60° + 120° × u,    고각 = 30° × u</a:t>
            </a:r>
          </a:p>
          <a:p>
            <a:pPr algn="l">
              <a:lnSpc>
                <a:spcPct val="120000"/>
              </a:lnSpc>
              <a:spcAft>
                <a:spcPts val="0"/>
              </a:spcAft>
            </a:pPr>
            <a:r>
              <a:rPr sz="1150" b="0" i="0" lang="ko-KR" altLang="en-US">
                <a:solidFill>
                  <a:srgbClr val="1B2740"/>
                </a:solidFill>
                <a:latin typeface="맑은 고딕"/>
                <a:ea typeface="맑은 고딕"/>
                <a:cs typeface="맑은 고딕"/>
              </a:rPr>
              <a:t>스캔마다 새로 뽑고, 표적과는 상관없다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05. 모의 결과</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5.1 표적 5개를 60초 동안 600 스캔 모의했습니다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14</a:t>
            </a:r>
          </a:p>
        </p:txBody>
      </p:sp>
      <p:sp>
        <p:nvSpPr>
          <p:cNvPr id="7" name="Rectangle 6"/>
          <p:cNvSpPr/>
          <p:nvPr/>
        </p:nvSpPr>
        <p:spPr>
          <a:xfrm>
            <a:off x="640080" y="1965960"/>
            <a:ext cx="2555748" cy="914400"/>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80"/>
            <a:ext cx="2555748" cy="475488"/>
          </a:xfrm>
          <a:prstGeom prst="rect">
            <a:avLst/>
          </a:prstGeom>
          <a:noFill/>
        </p:spPr>
        <p:txBody>
          <a:bodyPr wrap="square" anchor="ctr" lIns="0" tIns="0" rIns="0" bIns="0">
            <a:noAutofit/>
          </a:bodyPr>
          <a:lstStyle/>
          <a:p>
            <a:pPr algn="ctr">
              <a:lnSpc>
                <a:spcPct val="115000"/>
              </a:lnSpc>
              <a:spcAft>
                <a:spcPts val="0"/>
              </a:spcAft>
            </a:pPr>
            <a:r>
              <a:rPr sz="2200" b="1" i="0" lang="ko-KR" altLang="en-US">
                <a:solidFill>
                  <a:srgbClr val="1B2740"/>
                </a:solidFill>
                <a:latin typeface="맑은 고딕"/>
                <a:ea typeface="맑은 고딕"/>
                <a:cs typeface="맑은 고딕"/>
              </a:rPr>
              <a:t>600 스캔</a:t>
            </a:r>
          </a:p>
        </p:txBody>
      </p:sp>
      <p:sp>
        <p:nvSpPr>
          <p:cNvPr id="9" name="TextBox 8"/>
          <p:cNvSpPr txBox="1"/>
          <p:nvPr/>
        </p:nvSpPr>
        <p:spPr>
          <a:xfrm>
            <a:off x="640080" y="2487168"/>
            <a:ext cx="2555748" cy="310896"/>
          </a:xfrm>
          <a:prstGeom prst="rect">
            <a:avLst/>
          </a:prstGeom>
          <a:noFill/>
        </p:spPr>
        <p:txBody>
          <a:bodyPr wrap="square" anchor="ctr" lIns="0" tIns="0" rIns="0" bIns="0">
            <a:noAutofit/>
          </a:bodyPr>
          <a:lstStyle/>
          <a:p>
            <a:pPr algn="ctr">
              <a:lnSpc>
                <a:spcPct val="115000"/>
              </a:lnSpc>
              <a:spcAft>
                <a:spcPts val="0"/>
              </a:spcAft>
            </a:pPr>
            <a:r>
              <a:rPr sz="1150" b="0" i="0" lang="ko-KR" altLang="en-US">
                <a:solidFill>
                  <a:srgbClr val="4A5A7A"/>
                </a:solidFill>
                <a:latin typeface="맑은 고딕"/>
                <a:ea typeface="맑은 고딕"/>
                <a:cs typeface="맑은 고딕"/>
              </a:rPr>
              <a:t>60 s ÷ 0.1 s</a:t>
            </a:r>
          </a:p>
        </p:txBody>
      </p:sp>
      <p:sp>
        <p:nvSpPr>
          <p:cNvPr id="10" name="Rectangle 9"/>
          <p:cNvSpPr/>
          <p:nvPr/>
        </p:nvSpPr>
        <p:spPr>
          <a:xfrm>
            <a:off x="3424428" y="1965960"/>
            <a:ext cx="2555748" cy="914400"/>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24428" y="2011680"/>
            <a:ext cx="2555748" cy="475488"/>
          </a:xfrm>
          <a:prstGeom prst="rect">
            <a:avLst/>
          </a:prstGeom>
          <a:noFill/>
        </p:spPr>
        <p:txBody>
          <a:bodyPr wrap="square" anchor="ctr" lIns="0" tIns="0" rIns="0" bIns="0">
            <a:noAutofit/>
          </a:bodyPr>
          <a:lstStyle/>
          <a:p>
            <a:pPr algn="ctr">
              <a:lnSpc>
                <a:spcPct val="115000"/>
              </a:lnSpc>
              <a:spcAft>
                <a:spcPts val="0"/>
              </a:spcAft>
            </a:pPr>
            <a:r>
              <a:rPr sz="2200" b="1" i="0" lang="ko-KR" altLang="en-US">
                <a:solidFill>
                  <a:srgbClr val="1B2740"/>
                </a:solidFill>
                <a:latin typeface="맑은 고딕"/>
                <a:ea typeface="맑은 고딕"/>
                <a:cs typeface="맑은 고딕"/>
              </a:rPr>
              <a:t>SNR 20</a:t>
            </a:r>
          </a:p>
        </p:txBody>
      </p:sp>
      <p:sp>
        <p:nvSpPr>
          <p:cNvPr id="12" name="TextBox 11"/>
          <p:cNvSpPr txBox="1"/>
          <p:nvPr/>
        </p:nvSpPr>
        <p:spPr>
          <a:xfrm>
            <a:off x="3424428" y="2487168"/>
            <a:ext cx="2555748" cy="310896"/>
          </a:xfrm>
          <a:prstGeom prst="rect">
            <a:avLst/>
          </a:prstGeom>
          <a:noFill/>
        </p:spPr>
        <p:txBody>
          <a:bodyPr wrap="square" anchor="ctr" lIns="0" tIns="0" rIns="0" bIns="0">
            <a:noAutofit/>
          </a:bodyPr>
          <a:lstStyle/>
          <a:p>
            <a:pPr algn="ctr">
              <a:lnSpc>
                <a:spcPct val="115000"/>
              </a:lnSpc>
              <a:spcAft>
                <a:spcPts val="0"/>
              </a:spcAft>
            </a:pPr>
            <a:r>
              <a:rPr sz="1150" b="0" i="0" lang="ko-KR" altLang="en-US">
                <a:solidFill>
                  <a:srgbClr val="4A5A7A"/>
                </a:solidFill>
                <a:latin typeface="맑은 고딕"/>
                <a:ea typeface="맑은 고딕"/>
                <a:cs typeface="맑은 고딕"/>
              </a:rPr>
              <a:t>선형, 신호가 잡음의 20배</a:t>
            </a:r>
          </a:p>
        </p:txBody>
      </p:sp>
      <p:sp>
        <p:nvSpPr>
          <p:cNvPr id="13" name="Rectangle 12"/>
          <p:cNvSpPr/>
          <p:nvPr/>
        </p:nvSpPr>
        <p:spPr>
          <a:xfrm>
            <a:off x="6208776" y="1965960"/>
            <a:ext cx="2555748" cy="914400"/>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08776" y="2011680"/>
            <a:ext cx="2555748" cy="475488"/>
          </a:xfrm>
          <a:prstGeom prst="rect">
            <a:avLst/>
          </a:prstGeom>
          <a:noFill/>
        </p:spPr>
        <p:txBody>
          <a:bodyPr wrap="square" anchor="ctr" lIns="0" tIns="0" rIns="0" bIns="0">
            <a:noAutofit/>
          </a:bodyPr>
          <a:lstStyle/>
          <a:p>
            <a:pPr algn="ctr">
              <a:lnSpc>
                <a:spcPct val="115000"/>
              </a:lnSpc>
              <a:spcAft>
                <a:spcPts val="0"/>
              </a:spcAft>
            </a:pPr>
            <a:r>
              <a:rPr sz="2200" b="1" i="0" lang="ko-KR" altLang="en-US">
                <a:solidFill>
                  <a:srgbClr val="1B2740"/>
                </a:solidFill>
                <a:latin typeface="맑은 고딕"/>
                <a:ea typeface="맑은 고딕"/>
                <a:cs typeface="맑은 고딕"/>
              </a:rPr>
              <a:t>클러터 5개</a:t>
            </a:r>
          </a:p>
        </p:txBody>
      </p:sp>
      <p:sp>
        <p:nvSpPr>
          <p:cNvPr id="15" name="TextBox 14"/>
          <p:cNvSpPr txBox="1"/>
          <p:nvPr/>
        </p:nvSpPr>
        <p:spPr>
          <a:xfrm>
            <a:off x="6208776" y="2487168"/>
            <a:ext cx="2555748" cy="310896"/>
          </a:xfrm>
          <a:prstGeom prst="rect">
            <a:avLst/>
          </a:prstGeom>
          <a:noFill/>
        </p:spPr>
        <p:txBody>
          <a:bodyPr wrap="square" anchor="ctr" lIns="0" tIns="0" rIns="0" bIns="0">
            <a:noAutofit/>
          </a:bodyPr>
          <a:lstStyle/>
          <a:p>
            <a:pPr algn="ctr">
              <a:lnSpc>
                <a:spcPct val="115000"/>
              </a:lnSpc>
              <a:spcAft>
                <a:spcPts val="0"/>
              </a:spcAft>
            </a:pPr>
            <a:r>
              <a:rPr sz="1150" b="0" i="0" lang="ko-KR" altLang="en-US">
                <a:solidFill>
                  <a:srgbClr val="4A5A7A"/>
                </a:solidFill>
                <a:latin typeface="맑은 고딕"/>
                <a:ea typeface="맑은 고딕"/>
                <a:cs typeface="맑은 고딕"/>
              </a:rPr>
              <a:t>스캔마다, FOV 안</a:t>
            </a:r>
          </a:p>
        </p:txBody>
      </p:sp>
      <p:sp>
        <p:nvSpPr>
          <p:cNvPr id="16" name="Rectangle 15"/>
          <p:cNvSpPr/>
          <p:nvPr/>
        </p:nvSpPr>
        <p:spPr>
          <a:xfrm>
            <a:off x="8993124" y="1965960"/>
            <a:ext cx="2555748" cy="914400"/>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93124" y="2011680"/>
            <a:ext cx="2555748" cy="475488"/>
          </a:xfrm>
          <a:prstGeom prst="rect">
            <a:avLst/>
          </a:prstGeom>
          <a:noFill/>
        </p:spPr>
        <p:txBody>
          <a:bodyPr wrap="square" anchor="ctr" lIns="0" tIns="0" rIns="0" bIns="0">
            <a:noAutofit/>
          </a:bodyPr>
          <a:lstStyle/>
          <a:p>
            <a:pPr algn="ctr">
              <a:lnSpc>
                <a:spcPct val="115000"/>
              </a:lnSpc>
              <a:spcAft>
                <a:spcPts val="0"/>
              </a:spcAft>
            </a:pPr>
            <a:r>
              <a:rPr sz="2200" b="1" i="0" lang="ko-KR" altLang="en-US">
                <a:solidFill>
                  <a:srgbClr val="1B2740"/>
                </a:solidFill>
                <a:latin typeface="맑은 고딕"/>
                <a:ea typeface="맑은 고딕"/>
                <a:cs typeface="맑은 고딕"/>
              </a:rPr>
              <a:t>seed 12345</a:t>
            </a:r>
          </a:p>
        </p:txBody>
      </p:sp>
      <p:sp>
        <p:nvSpPr>
          <p:cNvPr id="18" name="TextBox 17"/>
          <p:cNvSpPr txBox="1"/>
          <p:nvPr/>
        </p:nvSpPr>
        <p:spPr>
          <a:xfrm>
            <a:off x="8993124" y="2487168"/>
            <a:ext cx="2555748" cy="310896"/>
          </a:xfrm>
          <a:prstGeom prst="rect">
            <a:avLst/>
          </a:prstGeom>
          <a:noFill/>
        </p:spPr>
        <p:txBody>
          <a:bodyPr wrap="square" anchor="ctr" lIns="0" tIns="0" rIns="0" bIns="0">
            <a:noAutofit/>
          </a:bodyPr>
          <a:lstStyle/>
          <a:p>
            <a:pPr algn="ctr">
              <a:lnSpc>
                <a:spcPct val="115000"/>
              </a:lnSpc>
              <a:spcAft>
                <a:spcPts val="0"/>
              </a:spcAft>
            </a:pPr>
            <a:r>
              <a:rPr sz="1150" b="0" i="0" lang="ko-KR" altLang="en-US">
                <a:solidFill>
                  <a:srgbClr val="4A5A7A"/>
                </a:solidFill>
                <a:latin typeface="맑은 고딕"/>
                <a:ea typeface="맑은 고딕"/>
                <a:cs typeface="맑은 고딕"/>
              </a:rPr>
              <a:t>몇 번 돌려도 같은 결과</a:t>
            </a:r>
          </a:p>
        </p:txBody>
      </p:sp>
      <p:sp>
        <p:nvSpPr>
          <p:cNvPr id="19" name="TextBox 18"/>
          <p:cNvSpPr txBox="1"/>
          <p:nvPr/>
        </p:nvSpPr>
        <p:spPr>
          <a:xfrm>
            <a:off x="640080" y="3108960"/>
            <a:ext cx="10908792"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표적 5개   (1, 2 는 과제 3 기본 시나리오 그대로)</a:t>
            </a:r>
          </a:p>
        </p:txBody>
      </p:sp>
      <p:graphicFrame>
        <p:nvGraphicFramePr>
          <p:cNvPr id="20" name="Table 19"/>
          <p:cNvGraphicFramePr>
            <a:graphicFrameLocks noGrp="1"/>
          </p:cNvGraphicFramePr>
          <p:nvPr/>
        </p:nvGraphicFramePr>
        <p:xfrm>
          <a:off x="640080" y="3429000"/>
          <a:ext cx="10908792" cy="1975104"/>
        </p:xfrm>
        <a:graphic>
          <a:graphicData uri="http://schemas.openxmlformats.org/drawingml/2006/table">
            <a:tbl>
              <a:tblPr firstRow="0" bandRow="0">
                <a:tableStyleId>{5C22544A-7EE6-4342-B048-85BDC9FD1C3A}</a:tableStyleId>
              </a:tblPr>
              <a:tblGrid>
                <a:gridCol w="685800"/>
                <a:gridCol w="777240"/>
                <a:gridCol w="2240280"/>
                <a:gridCol w="1051560"/>
                <a:gridCol w="1143000"/>
                <a:gridCol w="5010912"/>
              </a:tblGrid>
              <a:tr h="329184">
                <a:tc>
                  <a:txBody>
                    <a:bodyPr/>
                    <a:lstStyle/>
                    <a:p>
                      <a:pPr algn="ctr"/>
                      <a:r>
                        <a:rPr sz="1200" b="1" i="0" lang="ko-KR" altLang="en-US">
                          <a:solidFill>
                            <a:srgbClr val="FFFFFF"/>
                          </a:solidFill>
                          <a:latin typeface="맑은 고딕"/>
                          <a:ea typeface="맑은 고딕"/>
                          <a:cs typeface="맑은 고딕"/>
                        </a:rPr>
                        <a:t>번호</a:t>
                      </a:r>
                    </a:p>
                  </a:txBody>
                  <a:tcPr marL="73152" marR="73152" marT="9144" marB="9144" anchor="ctr">
                    <a:lnL w="0">
                      <a:noFill/>
                    </a:lnL>
                    <a:lnR w="0">
                      <a:noFill/>
                    </a:lnR>
                    <a:lnT w="0">
                      <a:noFill/>
                    </a:lnT>
                    <a:lnB w="9525">
                      <a:solidFill>
                        <a:srgbClr val="D2D9E5"/>
                      </a:solidFill>
                    </a:lnB>
                    <a:solidFill>
                      <a:srgbClr val="1B2740"/>
                    </a:solidFill>
                  </a:tcPr>
                </a:tc>
                <a:tc>
                  <a:txBody>
                    <a:bodyPr/>
                    <a:lstStyle/>
                    <a:p>
                      <a:pPr algn="ctr"/>
                      <a:r>
                        <a:rPr sz="1200" b="1" i="0" lang="ko-KR" altLang="en-US">
                          <a:solidFill>
                            <a:srgbClr val="FFFFFF"/>
                          </a:solidFill>
                          <a:latin typeface="맑은 고딕"/>
                          <a:ea typeface="맑은 고딕"/>
                          <a:cs typeface="맑은 고딕"/>
                        </a:rPr>
                        <a:t>종류</a:t>
                      </a:r>
                    </a:p>
                  </a:txBody>
                  <a:tcPr marL="73152" marR="73152" marT="9144" marB="9144" anchor="ctr">
                    <a:lnL w="0">
                      <a:noFill/>
                    </a:lnL>
                    <a:lnR w="0">
                      <a:noFill/>
                    </a:lnR>
                    <a:lnT w="0">
                      <a:noFill/>
                    </a:lnT>
                    <a:lnB w="9525">
                      <a:solidFill>
                        <a:srgbClr val="D2D9E5"/>
                      </a:solidFill>
                    </a:lnB>
                    <a:solidFill>
                      <a:srgbClr val="1B2740"/>
                    </a:solidFill>
                  </a:tcPr>
                </a:tc>
                <a:tc>
                  <a:txBody>
                    <a:bodyPr/>
                    <a:lstStyle/>
                    <a:p>
                      <a:pPr algn="l"/>
                      <a:r>
                        <a:rPr sz="1200" b="1" i="0" lang="ko-KR" altLang="en-US">
                          <a:solidFill>
                            <a:srgbClr val="FFFFFF"/>
                          </a:solidFill>
                          <a:latin typeface="맑은 고딕"/>
                          <a:ea typeface="맑은 고딕"/>
                          <a:cs typeface="맑은 고딕"/>
                        </a:rPr>
                        <a:t>처음 위치 (레이다 기준)</a:t>
                      </a:r>
                    </a:p>
                  </a:txBody>
                  <a:tcPr marL="73152" marR="73152" marT="9144" marB="9144" anchor="ctr">
                    <a:lnL w="0">
                      <a:noFill/>
                    </a:lnL>
                    <a:lnR w="0">
                      <a:noFill/>
                    </a:lnR>
                    <a:lnT w="0">
                      <a:noFill/>
                    </a:lnT>
                    <a:lnB w="9525">
                      <a:solidFill>
                        <a:srgbClr val="D2D9E5"/>
                      </a:solidFill>
                    </a:lnB>
                    <a:solidFill>
                      <a:srgbClr val="1B2740"/>
                    </a:solidFill>
                  </a:tcPr>
                </a:tc>
                <a:tc>
                  <a:txBody>
                    <a:bodyPr/>
                    <a:lstStyle/>
                    <a:p>
                      <a:pPr algn="r"/>
                      <a:r>
                        <a:rPr sz="1200" b="1" i="0" lang="ko-KR" altLang="en-US">
                          <a:solidFill>
                            <a:srgbClr val="FFFFFF"/>
                          </a:solidFill>
                          <a:latin typeface="맑은 고딕"/>
                          <a:ea typeface="맑은 고딕"/>
                          <a:cs typeface="맑은 고딕"/>
                        </a:rPr>
                        <a:t>고도</a:t>
                      </a:r>
                    </a:p>
                  </a:txBody>
                  <a:tcPr marL="73152" marR="73152" marT="9144" marB="9144" anchor="ctr">
                    <a:lnL w="0">
                      <a:noFill/>
                    </a:lnL>
                    <a:lnR w="0">
                      <a:noFill/>
                    </a:lnR>
                    <a:lnT w="0">
                      <a:noFill/>
                    </a:lnT>
                    <a:lnB w="9525">
                      <a:solidFill>
                        <a:srgbClr val="D2D9E5"/>
                      </a:solidFill>
                    </a:lnB>
                    <a:solidFill>
                      <a:srgbClr val="1B2740"/>
                    </a:solidFill>
                  </a:tcPr>
                </a:tc>
                <a:tc>
                  <a:txBody>
                    <a:bodyPr/>
                    <a:lstStyle/>
                    <a:p>
                      <a:pPr algn="r"/>
                      <a:r>
                        <a:rPr sz="1200" b="1" i="0" lang="ko-KR" altLang="en-US">
                          <a:solidFill>
                            <a:srgbClr val="FFFFFF"/>
                          </a:solidFill>
                          <a:latin typeface="맑은 고딕"/>
                          <a:ea typeface="맑은 고딕"/>
                          <a:cs typeface="맑은 고딕"/>
                        </a:rPr>
                        <a:t>속도</a:t>
                      </a:r>
                    </a:p>
                  </a:txBody>
                  <a:tcPr marL="73152" marR="73152" marT="9144" marB="9144" anchor="ctr">
                    <a:lnL w="0">
                      <a:noFill/>
                    </a:lnL>
                    <a:lnR w="0">
                      <a:noFill/>
                    </a:lnR>
                    <a:lnT w="0">
                      <a:noFill/>
                    </a:lnT>
                    <a:lnB w="9525">
                      <a:solidFill>
                        <a:srgbClr val="D2D9E5"/>
                      </a:solidFill>
                    </a:lnB>
                    <a:solidFill>
                      <a:srgbClr val="1B2740"/>
                    </a:solidFill>
                  </a:tcPr>
                </a:tc>
                <a:tc>
                  <a:txBody>
                    <a:bodyPr/>
                    <a:lstStyle/>
                    <a:p>
                      <a:pPr algn="l"/>
                      <a:r>
                        <a:rPr sz="1200" b="1" i="0" lang="ko-KR" altLang="en-US">
                          <a:solidFill>
                            <a:srgbClr val="FFFFFF"/>
                          </a:solidFill>
                          <a:latin typeface="맑은 고딕"/>
                          <a:ea typeface="맑은 고딕"/>
                          <a:cs typeface="맑은 고딕"/>
                        </a:rPr>
                        <a:t>움직임</a:t>
                      </a:r>
                    </a:p>
                  </a:txBody>
                  <a:tcPr marL="73152" marR="73152" marT="9144" marB="9144" anchor="ctr">
                    <a:lnL w="0">
                      <a:noFill/>
                    </a:lnL>
                    <a:lnR w="0">
                      <a:noFill/>
                    </a:lnR>
                    <a:lnT w="0">
                      <a:noFill/>
                    </a:lnT>
                    <a:lnB w="9525">
                      <a:solidFill>
                        <a:srgbClr val="D2D9E5"/>
                      </a:solidFill>
                    </a:lnB>
                    <a:solidFill>
                      <a:srgbClr val="1B2740"/>
                    </a:solidFill>
                  </a:tcPr>
                </a:tc>
              </a:tr>
              <a:tr h="329184">
                <a:tc>
                  <a:txBody>
                    <a:bodyPr/>
                    <a:lstStyle/>
                    <a:p>
                      <a:pPr algn="ctr"/>
                      <a:r>
                        <a:rPr sz="1200" b="1" i="0" lang="ko-KR" altLang="en-US">
                          <a:solidFill>
                            <a:srgbClr val="2563EB"/>
                          </a:solidFill>
                          <a:latin typeface="맑은 고딕"/>
                          <a:ea typeface="맑은 고딕"/>
                          <a:cs typeface="맑은 고딕"/>
                        </a:rPr>
                        <a:t>1</a:t>
                      </a:r>
                    </a:p>
                  </a:txBody>
                  <a:tcPr marL="73152" marR="73152" marT="9144" marB="9144" anchor="ctr">
                    <a:lnL w="0">
                      <a:noFill/>
                    </a:lnL>
                    <a:lnR w="0">
                      <a:noFill/>
                    </a:lnR>
                    <a:lnT w="0">
                      <a:noFill/>
                    </a:lnT>
                    <a:lnB w="9525">
                      <a:solidFill>
                        <a:srgbClr val="D2D9E5"/>
                      </a:solidFill>
                    </a:lnB>
                    <a:solidFill>
                      <a:srgbClr val="F7F9FC"/>
                    </a:solidFill>
                  </a:tcPr>
                </a:tc>
                <a:tc>
                  <a:txBody>
                    <a:bodyPr/>
                    <a:lstStyle/>
                    <a:p>
                      <a:pPr algn="ctr"/>
                      <a:r>
                        <a:rPr sz="1200" b="0" i="0" lang="ko-KR" altLang="en-US">
                          <a:solidFill>
                            <a:srgbClr val="1B2740"/>
                          </a:solidFill>
                          <a:latin typeface="맑은 고딕"/>
                          <a:ea typeface="맑은 고딕"/>
                          <a:cs typeface="맑은 고딕"/>
                        </a:rPr>
                        <a:t>대공</a:t>
                      </a:r>
                    </a:p>
                  </a:txBody>
                  <a:tcPr marL="73152" marR="73152" marT="9144" marB="9144" anchor="ctr">
                    <a:lnL w="0">
                      <a:noFill/>
                    </a:lnL>
                    <a:lnR w="0">
                      <a:noFill/>
                    </a:lnR>
                    <a:lnT w="0">
                      <a:noFill/>
                    </a:lnT>
                    <a:lnB w="9525">
                      <a:solidFill>
                        <a:srgbClr val="D2D9E5"/>
                      </a:solidFill>
                    </a:lnB>
                    <a:solidFill>
                      <a:srgbClr val="F7F9FC"/>
                    </a:solidFill>
                  </a:tcPr>
                </a:tc>
                <a:tc>
                  <a:txBody>
                    <a:bodyPr/>
                    <a:lstStyle/>
                    <a:p>
                      <a:pPr algn="l"/>
                      <a:r>
                        <a:rPr sz="1200" b="0" i="0" lang="ko-KR" altLang="en-US">
                          <a:solidFill>
                            <a:srgbClr val="1B2740"/>
                          </a:solidFill>
                          <a:latin typeface="맑은 고딕"/>
                          <a:ea typeface="맑은 고딕"/>
                          <a:cs typeface="맑은 고딕"/>
                        </a:rPr>
                        <a:t>북쪽 13.3 km</a:t>
                      </a:r>
                    </a:p>
                  </a:txBody>
                  <a:tcPr marL="73152" marR="73152" marT="9144" marB="9144" anchor="ctr">
                    <a:lnL w="0">
                      <a:noFill/>
                    </a:lnL>
                    <a:lnR w="0">
                      <a:noFill/>
                    </a:lnR>
                    <a:lnT w="0">
                      <a:noFill/>
                    </a:lnT>
                    <a:lnB w="9525">
                      <a:solidFill>
                        <a:srgbClr val="D2D9E5"/>
                      </a:solidFill>
                    </a:lnB>
                    <a:solidFill>
                      <a:srgbClr val="F7F9FC"/>
                    </a:solidFill>
                  </a:tcPr>
                </a:tc>
                <a:tc>
                  <a:txBody>
                    <a:bodyPr/>
                    <a:lstStyle/>
                    <a:p>
                      <a:pPr algn="r"/>
                      <a:r>
                        <a:rPr sz="1200" b="0" i="0" lang="ko-KR" altLang="en-US">
                          <a:solidFill>
                            <a:srgbClr val="1B2740"/>
                          </a:solidFill>
                          <a:latin typeface="맑은 고딕"/>
                          <a:ea typeface="맑은 고딕"/>
                          <a:cs typeface="맑은 고딕"/>
                        </a:rPr>
                        <a:t>300 m</a:t>
                      </a:r>
                    </a:p>
                  </a:txBody>
                  <a:tcPr marL="73152" marR="73152" marT="9144" marB="9144" anchor="ctr">
                    <a:lnL w="0">
                      <a:noFill/>
                    </a:lnL>
                    <a:lnR w="0">
                      <a:noFill/>
                    </a:lnR>
                    <a:lnT w="0">
                      <a:noFill/>
                    </a:lnT>
                    <a:lnB w="9525">
                      <a:solidFill>
                        <a:srgbClr val="D2D9E5"/>
                      </a:solidFill>
                    </a:lnB>
                    <a:solidFill>
                      <a:srgbClr val="F7F9FC"/>
                    </a:solidFill>
                  </a:tcPr>
                </a:tc>
                <a:tc>
                  <a:txBody>
                    <a:bodyPr/>
                    <a:lstStyle/>
                    <a:p>
                      <a:pPr algn="r"/>
                      <a:r>
                        <a:rPr sz="1200" b="0" i="0" lang="ko-KR" altLang="en-US">
                          <a:solidFill>
                            <a:srgbClr val="1B2740"/>
                          </a:solidFill>
                          <a:latin typeface="맑은 고딕"/>
                          <a:ea typeface="맑은 고딕"/>
                          <a:cs typeface="맑은 고딕"/>
                        </a:rPr>
                        <a:t>200 m/s</a:t>
                      </a:r>
                    </a:p>
                  </a:txBody>
                  <a:tcPr marL="73152" marR="73152" marT="9144" marB="9144" anchor="ctr">
                    <a:lnL w="0">
                      <a:noFill/>
                    </a:lnL>
                    <a:lnR w="0">
                      <a:noFill/>
                    </a:lnR>
                    <a:lnT w="0">
                      <a:noFill/>
                    </a:lnT>
                    <a:lnB w="9525">
                      <a:solidFill>
                        <a:srgbClr val="D2D9E5"/>
                      </a:solidFill>
                    </a:lnB>
                    <a:solidFill>
                      <a:srgbClr val="F7F9FC"/>
                    </a:solidFill>
                  </a:tcPr>
                </a:tc>
                <a:tc>
                  <a:txBody>
                    <a:bodyPr/>
                    <a:lstStyle/>
                    <a:p>
                      <a:pPr algn="l"/>
                      <a:r>
                        <a:rPr sz="1200" b="0" i="0" lang="ko-KR" altLang="en-US">
                          <a:solidFill>
                            <a:srgbClr val="1B2740"/>
                          </a:solidFill>
                          <a:latin typeface="맑은 고딕"/>
                          <a:ea typeface="맑은 고딕"/>
                          <a:cs typeface="맑은 고딕"/>
                        </a:rPr>
                        <a:t>레이다 쪽으로 곧장 날아온다</a:t>
                      </a:r>
                    </a:p>
                  </a:txBody>
                  <a:tcPr marL="73152" marR="73152" marT="9144" marB="9144" anchor="ctr">
                    <a:lnL w="0">
                      <a:noFill/>
                    </a:lnL>
                    <a:lnR w="0">
                      <a:noFill/>
                    </a:lnR>
                    <a:lnT w="0">
                      <a:noFill/>
                    </a:lnT>
                    <a:lnB w="9525">
                      <a:solidFill>
                        <a:srgbClr val="D2D9E5"/>
                      </a:solidFill>
                    </a:lnB>
                    <a:solidFill>
                      <a:srgbClr val="F7F9FC"/>
                    </a:solidFill>
                  </a:tcPr>
                </a:tc>
              </a:tr>
              <a:tr h="329184">
                <a:tc>
                  <a:txBody>
                    <a:bodyPr/>
                    <a:lstStyle/>
                    <a:p>
                      <a:pPr algn="ctr"/>
                      <a:r>
                        <a:rPr sz="1200" b="1" i="0" lang="ko-KR" altLang="en-US">
                          <a:solidFill>
                            <a:srgbClr val="2563EB"/>
                          </a:solidFill>
                          <a:latin typeface="맑은 고딕"/>
                          <a:ea typeface="맑은 고딕"/>
                          <a:cs typeface="맑은 고딕"/>
                        </a:rPr>
                        <a:t>2</a:t>
                      </a:r>
                    </a:p>
                  </a:txBody>
                  <a:tcPr marL="73152" marR="73152" marT="9144" marB="9144" anchor="ctr">
                    <a:lnL w="0">
                      <a:noFill/>
                    </a:lnL>
                    <a:lnR w="0">
                      <a:noFill/>
                    </a:lnR>
                    <a:lnT w="0">
                      <a:noFill/>
                    </a:lnT>
                    <a:lnB w="9525">
                      <a:solidFill>
                        <a:srgbClr val="D2D9E5"/>
                      </a:solidFill>
                    </a:lnB>
                    <a:solidFill>
                      <a:srgbClr val="FFFFFF"/>
                    </a:solidFill>
                  </a:tcPr>
                </a:tc>
                <a:tc>
                  <a:txBody>
                    <a:bodyPr/>
                    <a:lstStyle/>
                    <a:p>
                      <a:pPr algn="ctr"/>
                      <a:r>
                        <a:rPr sz="1200" b="0" i="0" lang="ko-KR" altLang="en-US">
                          <a:solidFill>
                            <a:srgbClr val="1B2740"/>
                          </a:solidFill>
                          <a:latin typeface="맑은 고딕"/>
                          <a:ea typeface="맑은 고딕"/>
                          <a:cs typeface="맑은 고딕"/>
                        </a:rPr>
                        <a:t>대함</a:t>
                      </a:r>
                    </a:p>
                  </a:txBody>
                  <a:tcPr marL="73152" marR="73152" marT="9144" marB="9144" anchor="ctr">
                    <a:lnL w="0">
                      <a:noFill/>
                    </a:lnL>
                    <a:lnR w="0">
                      <a:noFill/>
                    </a:lnR>
                    <a:lnT w="0">
                      <a:noFill/>
                    </a:lnT>
                    <a:lnB w="9525">
                      <a:solidFill>
                        <a:srgbClr val="D2D9E5"/>
                      </a:solidFill>
                    </a:lnB>
                    <a:solidFill>
                      <a:srgbClr val="FFFFFF"/>
                    </a:solidFill>
                  </a:tcPr>
                </a:tc>
                <a:tc>
                  <a:txBody>
                    <a:bodyPr/>
                    <a:lstStyle/>
                    <a:p>
                      <a:pPr algn="l"/>
                      <a:r>
                        <a:rPr sz="1200" b="0" i="0" lang="ko-KR" altLang="en-US">
                          <a:solidFill>
                            <a:srgbClr val="1B2740"/>
                          </a:solidFill>
                          <a:latin typeface="맑은 고딕"/>
                          <a:ea typeface="맑은 고딕"/>
                          <a:cs typeface="맑은 고딕"/>
                        </a:rPr>
                        <a:t>북북동 14.1 km</a:t>
                      </a:r>
                    </a:p>
                  </a:txBody>
                  <a:tcPr marL="73152" marR="73152" marT="9144" marB="9144" anchor="ctr">
                    <a:lnL w="0">
                      <a:noFill/>
                    </a:lnL>
                    <a:lnR w="0">
                      <a:noFill/>
                    </a:lnR>
                    <a:lnT w="0">
                      <a:noFill/>
                    </a:lnT>
                    <a:lnB w="9525">
                      <a:solidFill>
                        <a:srgbClr val="D2D9E5"/>
                      </a:solidFill>
                    </a:lnB>
                    <a:solidFill>
                      <a:srgbClr val="FFFFFF"/>
                    </a:solidFill>
                  </a:tcPr>
                </a:tc>
                <a:tc>
                  <a:txBody>
                    <a:bodyPr/>
                    <a:lstStyle/>
                    <a:p>
                      <a:pPr algn="r"/>
                      <a:r>
                        <a:rPr sz="1200" b="0" i="0" lang="ko-KR" altLang="en-US">
                          <a:solidFill>
                            <a:srgbClr val="1B2740"/>
                          </a:solidFill>
                          <a:latin typeface="맑은 고딕"/>
                          <a:ea typeface="맑은 고딕"/>
                          <a:cs typeface="맑은 고딕"/>
                        </a:rPr>
                        <a:t>0 m</a:t>
                      </a:r>
                    </a:p>
                  </a:txBody>
                  <a:tcPr marL="73152" marR="73152" marT="9144" marB="9144" anchor="ctr">
                    <a:lnL w="0">
                      <a:noFill/>
                    </a:lnL>
                    <a:lnR w="0">
                      <a:noFill/>
                    </a:lnR>
                    <a:lnT w="0">
                      <a:noFill/>
                    </a:lnT>
                    <a:lnB w="9525">
                      <a:solidFill>
                        <a:srgbClr val="D2D9E5"/>
                      </a:solidFill>
                    </a:lnB>
                    <a:solidFill>
                      <a:srgbClr val="FFFFFF"/>
                    </a:solidFill>
                  </a:tcPr>
                </a:tc>
                <a:tc>
                  <a:txBody>
                    <a:bodyPr/>
                    <a:lstStyle/>
                    <a:p>
                      <a:pPr algn="r"/>
                      <a:r>
                        <a:rPr sz="1200" b="0" i="0" lang="ko-KR" altLang="en-US">
                          <a:solidFill>
                            <a:srgbClr val="1B2740"/>
                          </a:solidFill>
                          <a:latin typeface="맑은 고딕"/>
                          <a:ea typeface="맑은 고딕"/>
                          <a:cs typeface="맑은 고딕"/>
                        </a:rPr>
                        <a:t>30 m/s</a:t>
                      </a:r>
                    </a:p>
                  </a:txBody>
                  <a:tcPr marL="73152" marR="73152" marT="9144" marB="9144" anchor="ctr">
                    <a:lnL w="0">
                      <a:noFill/>
                    </a:lnL>
                    <a:lnR w="0">
                      <a:noFill/>
                    </a:lnR>
                    <a:lnT w="0">
                      <a:noFill/>
                    </a:lnT>
                    <a:lnB w="9525">
                      <a:solidFill>
                        <a:srgbClr val="D2D9E5"/>
                      </a:solidFill>
                    </a:lnB>
                    <a:solidFill>
                      <a:srgbClr val="FFFFFF"/>
                    </a:solidFill>
                  </a:tcPr>
                </a:tc>
                <a:tc>
                  <a:txBody>
                    <a:bodyPr/>
                    <a:lstStyle/>
                    <a:p>
                      <a:pPr algn="l"/>
                      <a:r>
                        <a:rPr sz="1200" b="0" i="0" lang="ko-KR" altLang="en-US">
                          <a:solidFill>
                            <a:srgbClr val="1B2740"/>
                          </a:solidFill>
                          <a:latin typeface="맑은 고딕"/>
                          <a:ea typeface="맑은 고딕"/>
                          <a:cs typeface="맑은 고딕"/>
                        </a:rPr>
                        <a:t>서쪽으로 곧장 간다</a:t>
                      </a:r>
                    </a:p>
                  </a:txBody>
                  <a:tcPr marL="73152" marR="73152" marT="9144" marB="9144" anchor="ctr">
                    <a:lnL w="0">
                      <a:noFill/>
                    </a:lnL>
                    <a:lnR w="0">
                      <a:noFill/>
                    </a:lnR>
                    <a:lnT w="0">
                      <a:noFill/>
                    </a:lnT>
                    <a:lnB w="9525">
                      <a:solidFill>
                        <a:srgbClr val="D2D9E5"/>
                      </a:solidFill>
                    </a:lnB>
                    <a:solidFill>
                      <a:srgbClr val="FFFFFF"/>
                    </a:solidFill>
                  </a:tcPr>
                </a:tc>
              </a:tr>
              <a:tr h="329184">
                <a:tc>
                  <a:txBody>
                    <a:bodyPr/>
                    <a:lstStyle/>
                    <a:p>
                      <a:pPr algn="ctr"/>
                      <a:r>
                        <a:rPr sz="1200" b="1" i="0" lang="ko-KR" altLang="en-US">
                          <a:solidFill>
                            <a:srgbClr val="1B2740"/>
                          </a:solidFill>
                          <a:latin typeface="맑은 고딕"/>
                          <a:ea typeface="맑은 고딕"/>
                          <a:cs typeface="맑은 고딕"/>
                        </a:rPr>
                        <a:t>3</a:t>
                      </a:r>
                    </a:p>
                  </a:txBody>
                  <a:tcPr marL="73152" marR="73152" marT="9144" marB="9144" anchor="ctr">
                    <a:lnL w="0">
                      <a:noFill/>
                    </a:lnL>
                    <a:lnR w="0">
                      <a:noFill/>
                    </a:lnR>
                    <a:lnT w="0">
                      <a:noFill/>
                    </a:lnT>
                    <a:lnB w="9525">
                      <a:solidFill>
                        <a:srgbClr val="D2D9E5"/>
                      </a:solidFill>
                    </a:lnB>
                    <a:solidFill>
                      <a:srgbClr val="F7F9FC"/>
                    </a:solidFill>
                  </a:tcPr>
                </a:tc>
                <a:tc>
                  <a:txBody>
                    <a:bodyPr/>
                    <a:lstStyle/>
                    <a:p>
                      <a:pPr algn="ctr"/>
                      <a:r>
                        <a:rPr sz="1200" b="0" i="0" lang="ko-KR" altLang="en-US">
                          <a:solidFill>
                            <a:srgbClr val="1B2740"/>
                          </a:solidFill>
                          <a:latin typeface="맑은 고딕"/>
                          <a:ea typeface="맑은 고딕"/>
                          <a:cs typeface="맑은 고딕"/>
                        </a:rPr>
                        <a:t>대공</a:t>
                      </a:r>
                    </a:p>
                  </a:txBody>
                  <a:tcPr marL="73152" marR="73152" marT="9144" marB="9144" anchor="ctr">
                    <a:lnL w="0">
                      <a:noFill/>
                    </a:lnL>
                    <a:lnR w="0">
                      <a:noFill/>
                    </a:lnR>
                    <a:lnT w="0">
                      <a:noFill/>
                    </a:lnT>
                    <a:lnB w="9525">
                      <a:solidFill>
                        <a:srgbClr val="D2D9E5"/>
                      </a:solidFill>
                    </a:lnB>
                    <a:solidFill>
                      <a:srgbClr val="F7F9FC"/>
                    </a:solidFill>
                  </a:tcPr>
                </a:tc>
                <a:tc>
                  <a:txBody>
                    <a:bodyPr/>
                    <a:lstStyle/>
                    <a:p>
                      <a:pPr algn="l"/>
                      <a:r>
                        <a:rPr sz="1200" b="0" i="0" lang="ko-KR" altLang="en-US">
                          <a:solidFill>
                            <a:srgbClr val="1B2740"/>
                          </a:solidFill>
                          <a:latin typeface="맑은 고딕"/>
                          <a:ea typeface="맑은 고딕"/>
                          <a:cs typeface="맑은 고딕"/>
                        </a:rPr>
                        <a:t>북동 9.5 km</a:t>
                      </a:r>
                    </a:p>
                  </a:txBody>
                  <a:tcPr marL="73152" marR="73152" marT="9144" marB="9144" anchor="ctr">
                    <a:lnL w="0">
                      <a:noFill/>
                    </a:lnL>
                    <a:lnR w="0">
                      <a:noFill/>
                    </a:lnR>
                    <a:lnT w="0">
                      <a:noFill/>
                    </a:lnT>
                    <a:lnB w="9525">
                      <a:solidFill>
                        <a:srgbClr val="D2D9E5"/>
                      </a:solidFill>
                    </a:lnB>
                    <a:solidFill>
                      <a:srgbClr val="F7F9FC"/>
                    </a:solidFill>
                  </a:tcPr>
                </a:tc>
                <a:tc>
                  <a:txBody>
                    <a:bodyPr/>
                    <a:lstStyle/>
                    <a:p>
                      <a:pPr algn="r"/>
                      <a:r>
                        <a:rPr sz="1200" b="0" i="0" lang="ko-KR" altLang="en-US">
                          <a:solidFill>
                            <a:srgbClr val="1B2740"/>
                          </a:solidFill>
                          <a:latin typeface="맑은 고딕"/>
                          <a:ea typeface="맑은 고딕"/>
                          <a:cs typeface="맑은 고딕"/>
                        </a:rPr>
                        <a:t>1,500 m</a:t>
                      </a:r>
                    </a:p>
                  </a:txBody>
                  <a:tcPr marL="73152" marR="73152" marT="9144" marB="9144" anchor="ctr">
                    <a:lnL w="0">
                      <a:noFill/>
                    </a:lnL>
                    <a:lnR w="0">
                      <a:noFill/>
                    </a:lnR>
                    <a:lnT w="0">
                      <a:noFill/>
                    </a:lnT>
                    <a:lnB w="9525">
                      <a:solidFill>
                        <a:srgbClr val="D2D9E5"/>
                      </a:solidFill>
                    </a:lnB>
                    <a:solidFill>
                      <a:srgbClr val="F7F9FC"/>
                    </a:solidFill>
                  </a:tcPr>
                </a:tc>
                <a:tc>
                  <a:txBody>
                    <a:bodyPr/>
                    <a:lstStyle/>
                    <a:p>
                      <a:pPr algn="r"/>
                      <a:r>
                        <a:rPr sz="1200" b="0" i="0" lang="ko-KR" altLang="en-US">
                          <a:solidFill>
                            <a:srgbClr val="1B2740"/>
                          </a:solidFill>
                          <a:latin typeface="맑은 고딕"/>
                          <a:ea typeface="맑은 고딕"/>
                          <a:cs typeface="맑은 고딕"/>
                        </a:rPr>
                        <a:t>150 m/s</a:t>
                      </a:r>
                    </a:p>
                  </a:txBody>
                  <a:tcPr marL="73152" marR="73152" marT="9144" marB="9144" anchor="ctr">
                    <a:lnL w="0">
                      <a:noFill/>
                    </a:lnL>
                    <a:lnR w="0">
                      <a:noFill/>
                    </a:lnR>
                    <a:lnT w="0">
                      <a:noFill/>
                    </a:lnT>
                    <a:lnB w="9525">
                      <a:solidFill>
                        <a:srgbClr val="D2D9E5"/>
                      </a:solidFill>
                    </a:lnB>
                    <a:solidFill>
                      <a:srgbClr val="F7F9FC"/>
                    </a:solidFill>
                  </a:tcPr>
                </a:tc>
                <a:tc>
                  <a:txBody>
                    <a:bodyPr/>
                    <a:lstStyle/>
                    <a:p>
                      <a:pPr algn="l"/>
                      <a:r>
                        <a:rPr sz="1200" b="0" i="0" lang="ko-KR" altLang="en-US">
                          <a:solidFill>
                            <a:srgbClr val="1B2740"/>
                          </a:solidFill>
                          <a:latin typeface="맑은 고딕"/>
                          <a:ea typeface="맑은 고딕"/>
                          <a:cs typeface="맑은 고딕"/>
                        </a:rPr>
                        <a:t>북쪽으로 가다가 10 ~ 40 s 에 왼쪽으로 크게 돈다</a:t>
                      </a:r>
                    </a:p>
                  </a:txBody>
                  <a:tcPr marL="73152" marR="73152" marT="9144" marB="9144" anchor="ctr">
                    <a:lnL w="0">
                      <a:noFill/>
                    </a:lnL>
                    <a:lnR w="0">
                      <a:noFill/>
                    </a:lnR>
                    <a:lnT w="0">
                      <a:noFill/>
                    </a:lnT>
                    <a:lnB w="9525">
                      <a:solidFill>
                        <a:srgbClr val="D2D9E5"/>
                      </a:solidFill>
                    </a:lnB>
                    <a:solidFill>
                      <a:srgbClr val="F7F9FC"/>
                    </a:solidFill>
                  </a:tcPr>
                </a:tc>
              </a:tr>
              <a:tr h="329184">
                <a:tc>
                  <a:txBody>
                    <a:bodyPr/>
                    <a:lstStyle/>
                    <a:p>
                      <a:pPr algn="ctr"/>
                      <a:r>
                        <a:rPr sz="1200" b="1" i="0" lang="ko-KR" altLang="en-US">
                          <a:solidFill>
                            <a:srgbClr val="1B2740"/>
                          </a:solidFill>
                          <a:latin typeface="맑은 고딕"/>
                          <a:ea typeface="맑은 고딕"/>
                          <a:cs typeface="맑은 고딕"/>
                        </a:rPr>
                        <a:t>4</a:t>
                      </a:r>
                    </a:p>
                  </a:txBody>
                  <a:tcPr marL="73152" marR="73152" marT="9144" marB="9144" anchor="ctr">
                    <a:lnL w="0">
                      <a:noFill/>
                    </a:lnL>
                    <a:lnR w="0">
                      <a:noFill/>
                    </a:lnR>
                    <a:lnT w="0">
                      <a:noFill/>
                    </a:lnT>
                    <a:lnB w="9525">
                      <a:solidFill>
                        <a:srgbClr val="D2D9E5"/>
                      </a:solidFill>
                    </a:lnB>
                    <a:solidFill>
                      <a:srgbClr val="FFFFFF"/>
                    </a:solidFill>
                  </a:tcPr>
                </a:tc>
                <a:tc>
                  <a:txBody>
                    <a:bodyPr/>
                    <a:lstStyle/>
                    <a:p>
                      <a:pPr algn="ctr"/>
                      <a:r>
                        <a:rPr sz="1200" b="0" i="0" lang="ko-KR" altLang="en-US">
                          <a:solidFill>
                            <a:srgbClr val="1B2740"/>
                          </a:solidFill>
                          <a:latin typeface="맑은 고딕"/>
                          <a:ea typeface="맑은 고딕"/>
                          <a:cs typeface="맑은 고딕"/>
                        </a:rPr>
                        <a:t>대공</a:t>
                      </a:r>
                    </a:p>
                  </a:txBody>
                  <a:tcPr marL="73152" marR="73152" marT="9144" marB="9144" anchor="ctr">
                    <a:lnL w="0">
                      <a:noFill/>
                    </a:lnL>
                    <a:lnR w="0">
                      <a:noFill/>
                    </a:lnR>
                    <a:lnT w="0">
                      <a:noFill/>
                    </a:lnT>
                    <a:lnB w="9525">
                      <a:solidFill>
                        <a:srgbClr val="D2D9E5"/>
                      </a:solidFill>
                    </a:lnB>
                    <a:solidFill>
                      <a:srgbClr val="FFFFFF"/>
                    </a:solidFill>
                  </a:tcPr>
                </a:tc>
                <a:tc>
                  <a:txBody>
                    <a:bodyPr/>
                    <a:lstStyle/>
                    <a:p>
                      <a:pPr algn="l"/>
                      <a:r>
                        <a:rPr sz="1200" b="0" i="0" lang="ko-KR" altLang="en-US">
                          <a:solidFill>
                            <a:srgbClr val="1B2740"/>
                          </a:solidFill>
                          <a:latin typeface="맑은 고딕"/>
                          <a:ea typeface="맑은 고딕"/>
                          <a:cs typeface="맑은 고딕"/>
                        </a:rPr>
                        <a:t>북북서 13.1 km</a:t>
                      </a:r>
                    </a:p>
                  </a:txBody>
                  <a:tcPr marL="73152" marR="73152" marT="9144" marB="9144" anchor="ctr">
                    <a:lnL w="0">
                      <a:noFill/>
                    </a:lnL>
                    <a:lnR w="0">
                      <a:noFill/>
                    </a:lnR>
                    <a:lnT w="0">
                      <a:noFill/>
                    </a:lnT>
                    <a:lnB w="9525">
                      <a:solidFill>
                        <a:srgbClr val="D2D9E5"/>
                      </a:solidFill>
                    </a:lnB>
                    <a:solidFill>
                      <a:srgbClr val="FFFFFF"/>
                    </a:solidFill>
                  </a:tcPr>
                </a:tc>
                <a:tc>
                  <a:txBody>
                    <a:bodyPr/>
                    <a:lstStyle/>
                    <a:p>
                      <a:pPr algn="r"/>
                      <a:r>
                        <a:rPr sz="1200" b="0" i="0" lang="ko-KR" altLang="en-US">
                          <a:solidFill>
                            <a:srgbClr val="1B2740"/>
                          </a:solidFill>
                          <a:latin typeface="맑은 고딕"/>
                          <a:ea typeface="맑은 고딕"/>
                          <a:cs typeface="맑은 고딕"/>
                        </a:rPr>
                        <a:t>2,000 m</a:t>
                      </a:r>
                    </a:p>
                  </a:txBody>
                  <a:tcPr marL="73152" marR="73152" marT="9144" marB="9144" anchor="ctr">
                    <a:lnL w="0">
                      <a:noFill/>
                    </a:lnL>
                    <a:lnR w="0">
                      <a:noFill/>
                    </a:lnR>
                    <a:lnT w="0">
                      <a:noFill/>
                    </a:lnT>
                    <a:lnB w="9525">
                      <a:solidFill>
                        <a:srgbClr val="D2D9E5"/>
                      </a:solidFill>
                    </a:lnB>
                    <a:solidFill>
                      <a:srgbClr val="FFFFFF"/>
                    </a:solidFill>
                  </a:tcPr>
                </a:tc>
                <a:tc>
                  <a:txBody>
                    <a:bodyPr/>
                    <a:lstStyle/>
                    <a:p>
                      <a:pPr algn="r"/>
                      <a:r>
                        <a:rPr sz="1200" b="0" i="0" lang="ko-KR" altLang="en-US">
                          <a:solidFill>
                            <a:srgbClr val="1B2740"/>
                          </a:solidFill>
                          <a:latin typeface="맑은 고딕"/>
                          <a:ea typeface="맑은 고딕"/>
                          <a:cs typeface="맑은 고딕"/>
                        </a:rPr>
                        <a:t>180 m/s</a:t>
                      </a:r>
                    </a:p>
                  </a:txBody>
                  <a:tcPr marL="73152" marR="73152" marT="9144" marB="9144" anchor="ctr">
                    <a:lnL w="0">
                      <a:noFill/>
                    </a:lnL>
                    <a:lnR w="0">
                      <a:noFill/>
                    </a:lnR>
                    <a:lnT w="0">
                      <a:noFill/>
                    </a:lnT>
                    <a:lnB w="9525">
                      <a:solidFill>
                        <a:srgbClr val="D2D9E5"/>
                      </a:solidFill>
                    </a:lnB>
                    <a:solidFill>
                      <a:srgbClr val="FFFFFF"/>
                    </a:solidFill>
                  </a:tcPr>
                </a:tc>
                <a:tc>
                  <a:txBody>
                    <a:bodyPr/>
                    <a:lstStyle/>
                    <a:p>
                      <a:pPr algn="l"/>
                      <a:r>
                        <a:rPr sz="1200" b="0" i="0" lang="ko-KR" altLang="en-US">
                          <a:solidFill>
                            <a:srgbClr val="1B2740"/>
                          </a:solidFill>
                          <a:latin typeface="맑은 고딕"/>
                          <a:ea typeface="맑은 고딕"/>
                          <a:cs typeface="맑은 고딕"/>
                        </a:rPr>
                        <a:t>동남동으로, 레이다 정면을 가로지른다</a:t>
                      </a:r>
                    </a:p>
                  </a:txBody>
                  <a:tcPr marL="73152" marR="73152" marT="9144" marB="9144" anchor="ctr">
                    <a:lnL w="0">
                      <a:noFill/>
                    </a:lnL>
                    <a:lnR w="0">
                      <a:noFill/>
                    </a:lnR>
                    <a:lnT w="0">
                      <a:noFill/>
                    </a:lnT>
                    <a:lnB w="9525">
                      <a:solidFill>
                        <a:srgbClr val="D2D9E5"/>
                      </a:solidFill>
                    </a:lnB>
                    <a:solidFill>
                      <a:srgbClr val="FFFFFF"/>
                    </a:solidFill>
                  </a:tcPr>
                </a:tc>
              </a:tr>
              <a:tr h="329184">
                <a:tc>
                  <a:txBody>
                    <a:bodyPr/>
                    <a:lstStyle/>
                    <a:p>
                      <a:pPr algn="ctr"/>
                      <a:r>
                        <a:rPr sz="1200" b="1" i="0" lang="ko-KR" altLang="en-US">
                          <a:solidFill>
                            <a:srgbClr val="1B2740"/>
                          </a:solidFill>
                          <a:latin typeface="맑은 고딕"/>
                          <a:ea typeface="맑은 고딕"/>
                          <a:cs typeface="맑은 고딕"/>
                        </a:rPr>
                        <a:t>5</a:t>
                      </a:r>
                    </a:p>
                  </a:txBody>
                  <a:tcPr marL="73152" marR="73152" marT="9144" marB="9144" anchor="ctr">
                    <a:lnL w="0">
                      <a:noFill/>
                    </a:lnL>
                    <a:lnR w="0">
                      <a:noFill/>
                    </a:lnR>
                    <a:lnT w="0">
                      <a:noFill/>
                    </a:lnT>
                    <a:lnB w="9525">
                      <a:solidFill>
                        <a:srgbClr val="D2D9E5"/>
                      </a:solidFill>
                    </a:lnB>
                    <a:solidFill>
                      <a:srgbClr val="F7F9FC"/>
                    </a:solidFill>
                  </a:tcPr>
                </a:tc>
                <a:tc>
                  <a:txBody>
                    <a:bodyPr/>
                    <a:lstStyle/>
                    <a:p>
                      <a:pPr algn="ctr"/>
                      <a:r>
                        <a:rPr sz="1200" b="0" i="0" lang="ko-KR" altLang="en-US">
                          <a:solidFill>
                            <a:srgbClr val="1B2740"/>
                          </a:solidFill>
                          <a:latin typeface="맑은 고딕"/>
                          <a:ea typeface="맑은 고딕"/>
                          <a:cs typeface="맑은 고딕"/>
                        </a:rPr>
                        <a:t>대함</a:t>
                      </a:r>
                    </a:p>
                  </a:txBody>
                  <a:tcPr marL="73152" marR="73152" marT="9144" marB="9144" anchor="ctr">
                    <a:lnL w="0">
                      <a:noFill/>
                    </a:lnL>
                    <a:lnR w="0">
                      <a:noFill/>
                    </a:lnR>
                    <a:lnT w="0">
                      <a:noFill/>
                    </a:lnT>
                    <a:lnB w="9525">
                      <a:solidFill>
                        <a:srgbClr val="D2D9E5"/>
                      </a:solidFill>
                    </a:lnB>
                    <a:solidFill>
                      <a:srgbClr val="F7F9FC"/>
                    </a:solidFill>
                  </a:tcPr>
                </a:tc>
                <a:tc>
                  <a:txBody>
                    <a:bodyPr/>
                    <a:lstStyle/>
                    <a:p>
                      <a:pPr algn="l"/>
                      <a:r>
                        <a:rPr sz="1200" b="0" i="0" lang="ko-KR" altLang="en-US">
                          <a:solidFill>
                            <a:srgbClr val="1B2740"/>
                          </a:solidFill>
                          <a:latin typeface="맑은 고딕"/>
                          <a:ea typeface="맑은 고딕"/>
                          <a:cs typeface="맑은 고딕"/>
                        </a:rPr>
                        <a:t>북서 5.8 km</a:t>
                      </a:r>
                    </a:p>
                  </a:txBody>
                  <a:tcPr marL="73152" marR="73152" marT="9144" marB="9144" anchor="ctr">
                    <a:lnL w="0">
                      <a:noFill/>
                    </a:lnL>
                    <a:lnR w="0">
                      <a:noFill/>
                    </a:lnR>
                    <a:lnT w="0">
                      <a:noFill/>
                    </a:lnT>
                    <a:lnB w="9525">
                      <a:solidFill>
                        <a:srgbClr val="D2D9E5"/>
                      </a:solidFill>
                    </a:lnB>
                    <a:solidFill>
                      <a:srgbClr val="F7F9FC"/>
                    </a:solidFill>
                  </a:tcPr>
                </a:tc>
                <a:tc>
                  <a:txBody>
                    <a:bodyPr/>
                    <a:lstStyle/>
                    <a:p>
                      <a:pPr algn="r"/>
                      <a:r>
                        <a:rPr sz="1200" b="0" i="0" lang="ko-KR" altLang="en-US">
                          <a:solidFill>
                            <a:srgbClr val="1B2740"/>
                          </a:solidFill>
                          <a:latin typeface="맑은 고딕"/>
                          <a:ea typeface="맑은 고딕"/>
                          <a:cs typeface="맑은 고딕"/>
                        </a:rPr>
                        <a:t>0 m</a:t>
                      </a:r>
                    </a:p>
                  </a:txBody>
                  <a:tcPr marL="73152" marR="73152" marT="9144" marB="9144" anchor="ctr">
                    <a:lnL w="0">
                      <a:noFill/>
                    </a:lnL>
                    <a:lnR w="0">
                      <a:noFill/>
                    </a:lnR>
                    <a:lnT w="0">
                      <a:noFill/>
                    </a:lnT>
                    <a:lnB w="9525">
                      <a:solidFill>
                        <a:srgbClr val="D2D9E5"/>
                      </a:solidFill>
                    </a:lnB>
                    <a:solidFill>
                      <a:srgbClr val="F7F9FC"/>
                    </a:solidFill>
                  </a:tcPr>
                </a:tc>
                <a:tc>
                  <a:txBody>
                    <a:bodyPr/>
                    <a:lstStyle/>
                    <a:p>
                      <a:pPr algn="r"/>
                      <a:r>
                        <a:rPr sz="1200" b="0" i="0" lang="ko-KR" altLang="en-US">
                          <a:solidFill>
                            <a:srgbClr val="1B2740"/>
                          </a:solidFill>
                          <a:latin typeface="맑은 고딕"/>
                          <a:ea typeface="맑은 고딕"/>
                          <a:cs typeface="맑은 고딕"/>
                        </a:rPr>
                        <a:t>20 m/s</a:t>
                      </a:r>
                    </a:p>
                  </a:txBody>
                  <a:tcPr marL="73152" marR="73152" marT="9144" marB="9144" anchor="ctr">
                    <a:lnL w="0">
                      <a:noFill/>
                    </a:lnL>
                    <a:lnR w="0">
                      <a:noFill/>
                    </a:lnR>
                    <a:lnT w="0">
                      <a:noFill/>
                    </a:lnT>
                    <a:lnB w="9525">
                      <a:solidFill>
                        <a:srgbClr val="D2D9E5"/>
                      </a:solidFill>
                    </a:lnB>
                    <a:solidFill>
                      <a:srgbClr val="F7F9FC"/>
                    </a:solidFill>
                  </a:tcPr>
                </a:tc>
                <a:tc>
                  <a:txBody>
                    <a:bodyPr/>
                    <a:lstStyle/>
                    <a:p>
                      <a:pPr algn="l"/>
                      <a:r>
                        <a:rPr sz="1200" b="0" i="0" lang="ko-KR" altLang="en-US">
                          <a:solidFill>
                            <a:srgbClr val="1B2740"/>
                          </a:solidFill>
                          <a:latin typeface="맑은 고딕"/>
                          <a:ea typeface="맑은 고딕"/>
                          <a:cs typeface="맑은 고딕"/>
                        </a:rPr>
                        <a:t>북동쪽으로 천천히 간다</a:t>
                      </a:r>
                    </a:p>
                  </a:txBody>
                  <a:tcPr marL="73152" marR="73152" marT="9144" marB="9144" anchor="ctr">
                    <a:lnL w="0">
                      <a:noFill/>
                    </a:lnL>
                    <a:lnR w="0">
                      <a:noFill/>
                    </a:lnR>
                    <a:lnT w="0">
                      <a:noFill/>
                    </a:lnT>
                    <a:lnB w="9525">
                      <a:solidFill>
                        <a:srgbClr val="D2D9E5"/>
                      </a:solidFill>
                    </a:lnB>
                    <a:solidFill>
                      <a:srgbClr val="F7F9FC"/>
                    </a:solidFill>
                  </a:tcPr>
                </a:tc>
              </a:tr>
            </a:tbl>
          </a:graphicData>
        </a:graphic>
      </p:graphicFrame>
      <p:sp>
        <p:nvSpPr>
          <p:cNvPr id="21" name="TextBox 20"/>
          <p:cNvSpPr txBox="1"/>
          <p:nvPr/>
        </p:nvSpPr>
        <p:spPr>
          <a:xfrm>
            <a:off x="640080" y="5596128"/>
            <a:ext cx="1645920" cy="45720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스캔 한 번에</a:t>
            </a:r>
          </a:p>
        </p:txBody>
      </p:sp>
      <p:sp>
        <p:nvSpPr>
          <p:cNvPr id="22" name="Rounded Rectangle 21"/>
          <p:cNvSpPr/>
          <p:nvPr/>
        </p:nvSpPr>
        <p:spPr>
          <a:xfrm>
            <a:off x="2240280" y="5596128"/>
            <a:ext cx="1325880" cy="457200"/>
          </a:xfrm>
          <a:prstGeom prst="roundRect">
            <a:avLst>
              <a:gd name="adj" fmla="val 1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313432" y="5596128"/>
            <a:ext cx="1179576" cy="457200"/>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FFFFFF"/>
                </a:solidFill>
                <a:latin typeface="맑은 고딕"/>
                <a:ea typeface="맑은 고딕"/>
                <a:cs typeface="맑은 고딕"/>
              </a:rPr>
              <a:t>참값 x</a:t>
            </a:r>
          </a:p>
        </p:txBody>
      </p:sp>
      <p:cxnSp>
        <p:nvCxnSpPr>
          <p:cNvPr id="24" name="Connector 23"/>
          <p:cNvCxnSpPr/>
          <p:nvPr/>
        </p:nvCxnSpPr>
        <p:spPr>
          <a:xfrm>
            <a:off x="3611880" y="5824728"/>
            <a:ext cx="274320"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3931920" y="5596128"/>
            <a:ext cx="1325880" cy="457200"/>
          </a:xfrm>
          <a:prstGeom prst="roundRect">
            <a:avLst>
              <a:gd name="adj" fmla="val 18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05072" y="5596128"/>
            <a:ext cx="1179576" cy="457200"/>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FFFFFF"/>
                </a:solidFill>
                <a:latin typeface="맑은 고딕"/>
                <a:ea typeface="맑은 고딕"/>
                <a:cs typeface="맑은 고딕"/>
              </a:rPr>
              <a:t>플롯 z</a:t>
            </a:r>
          </a:p>
        </p:txBody>
      </p:sp>
      <p:cxnSp>
        <p:nvCxnSpPr>
          <p:cNvPr id="27" name="Connector 26"/>
          <p:cNvCxnSpPr/>
          <p:nvPr/>
        </p:nvCxnSpPr>
        <p:spPr>
          <a:xfrm>
            <a:off x="5303520" y="5824728"/>
            <a:ext cx="274320"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5623560" y="5596128"/>
            <a:ext cx="1417320" cy="457200"/>
          </a:xfrm>
          <a:prstGeom prst="roundRect">
            <a:avLst>
              <a:gd name="adj" fmla="val 1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96712" y="5596128"/>
            <a:ext cx="1271016" cy="457200"/>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FFFFFF"/>
                </a:solidFill>
                <a:latin typeface="맑은 고딕"/>
                <a:ea typeface="맑은 고딕"/>
                <a:cs typeface="맑은 고딕"/>
              </a:rPr>
              <a:t>클러터 c</a:t>
            </a:r>
          </a:p>
        </p:txBody>
      </p:sp>
      <p:cxnSp>
        <p:nvCxnSpPr>
          <p:cNvPr id="30" name="Connector 29"/>
          <p:cNvCxnSpPr/>
          <p:nvPr/>
        </p:nvCxnSpPr>
        <p:spPr>
          <a:xfrm>
            <a:off x="7086600" y="5824728"/>
            <a:ext cx="274320"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406640" y="5596128"/>
            <a:ext cx="1463040" cy="457200"/>
          </a:xfrm>
          <a:prstGeom prst="roundRect">
            <a:avLst>
              <a:gd name="adj" fmla="val 1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79792" y="5596128"/>
            <a:ext cx="1316736" cy="457200"/>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FFFFFF"/>
                </a:solidFill>
                <a:latin typeface="맑은 고딕"/>
                <a:ea typeface="맑은 고딕"/>
                <a:cs typeface="맑은 고딕"/>
              </a:rPr>
              <a:t>LLA 변환</a:t>
            </a:r>
          </a:p>
        </p:txBody>
      </p:sp>
      <p:cxnSp>
        <p:nvCxnSpPr>
          <p:cNvPr id="33" name="Connector 32"/>
          <p:cNvCxnSpPr/>
          <p:nvPr/>
        </p:nvCxnSpPr>
        <p:spPr>
          <a:xfrm>
            <a:off x="8915400" y="5824728"/>
            <a:ext cx="274320"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235440" y="5596128"/>
            <a:ext cx="1874519" cy="457200"/>
          </a:xfrm>
          <a:prstGeom prst="roundRect">
            <a:avLst>
              <a:gd name="adj" fmla="val 18000"/>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08592" y="5596128"/>
            <a:ext cx="1728216" cy="457200"/>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FFFFFF"/>
                </a:solidFill>
                <a:latin typeface="맑은 고딕"/>
                <a:ea typeface="맑은 고딕"/>
                <a:cs typeface="맑은 고딕"/>
              </a:rPr>
              <a:t>표적 0.1 s 이동</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05. 모의 결과</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5.2 플롯은 참값 선을 따라가고, 클러터는 FOV 안에 흩어집니다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15</a:t>
            </a:r>
          </a:p>
        </p:txBody>
      </p:sp>
      <p:pic>
        <p:nvPicPr>
          <p:cNvPr id="7" name="Picture 6" descr="ui_map5_slide.png"/>
          <p:cNvPicPr>
            <a:picLocks noChangeAspect="1"/>
          </p:cNvPicPr>
          <p:nvPr/>
        </p:nvPicPr>
        <p:blipFill>
          <a:blip r:embed="rId2"/>
          <a:stretch>
            <a:fillRect/>
          </a:stretch>
        </p:blipFill>
        <p:spPr>
          <a:xfrm>
            <a:off x="640080" y="1920240"/>
            <a:ext cx="4493622" cy="3931920"/>
          </a:xfrm>
          <a:prstGeom prst="rect">
            <a:avLst/>
          </a:prstGeom>
        </p:spPr>
      </p:pic>
      <p:sp>
        <p:nvSpPr>
          <p:cNvPr id="8" name="TextBox 7"/>
          <p:cNvSpPr txBox="1"/>
          <p:nvPr/>
        </p:nvSpPr>
        <p:spPr>
          <a:xfrm>
            <a:off x="640080" y="5888736"/>
            <a:ext cx="4493622" cy="237744"/>
          </a:xfrm>
          <a:prstGeom prst="rect">
            <a:avLst/>
          </a:prstGeom>
          <a:noFill/>
        </p:spPr>
        <p:txBody>
          <a:bodyPr wrap="square" anchor="ctr" lIns="0" tIns="0" rIns="0" bIns="0">
            <a:noAutofit/>
          </a:bodyPr>
          <a:lstStyle/>
          <a:p>
            <a:pPr algn="ctr">
              <a:lnSpc>
                <a:spcPct val="115000"/>
              </a:lnSpc>
              <a:spcAft>
                <a:spcPts val="0"/>
              </a:spcAft>
            </a:pPr>
            <a:r>
              <a:rPr sz="1000" b="0" i="0" lang="ko-KR" altLang="en-US">
                <a:solidFill>
                  <a:srgbClr val="4A5A7A"/>
                </a:solidFill>
                <a:latin typeface="맑은 고딕"/>
                <a:ea typeface="맑은 고딕"/>
                <a:cs typeface="맑은 고딕"/>
              </a:rPr>
              <a:t>PlotSimUI LLA 전시 (seed 12345)</a:t>
            </a:r>
          </a:p>
        </p:txBody>
      </p:sp>
      <p:sp>
        <p:nvSpPr>
          <p:cNvPr id="9" name="Rectangle 8"/>
          <p:cNvSpPr/>
          <p:nvPr/>
        </p:nvSpPr>
        <p:spPr>
          <a:xfrm>
            <a:off x="5499462" y="1965960"/>
            <a:ext cx="6049410" cy="841248"/>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5664054" y="2240279"/>
            <a:ext cx="310896" cy="0"/>
          </a:xfrm>
          <a:prstGeom prst="line">
            <a:avLst/>
          </a:prstGeom>
          <a:ln w="44450">
            <a:solidFill>
              <a:srgbClr val="2A78D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139542" y="2039112"/>
            <a:ext cx="5272170" cy="365760"/>
          </a:xfrm>
          <a:prstGeom prst="rect">
            <a:avLst/>
          </a:prstGeom>
          <a:noFill/>
        </p:spPr>
        <p:txBody>
          <a:bodyPr wrap="square" anchor="ctr" lIns="0" tIns="0" rIns="0" bIns="0">
            <a:noAutofit/>
          </a:bodyPr>
          <a:lstStyle/>
          <a:p>
            <a:pPr algn="l">
              <a:lnSpc>
                <a:spcPct val="115000"/>
              </a:lnSpc>
              <a:spcAft>
                <a:spcPts val="0"/>
              </a:spcAft>
            </a:pPr>
            <a:r>
              <a:rPr sz="1400" b="1" i="0" lang="ko-KR" altLang="en-US">
                <a:solidFill>
                  <a:srgbClr val="1B2740"/>
                </a:solidFill>
                <a:latin typeface="맑은 고딕"/>
                <a:ea typeface="맑은 고딕"/>
                <a:cs typeface="맑은 고딕"/>
              </a:rPr>
              <a:t>파란 선 = 참값 (표적 5개)</a:t>
            </a:r>
          </a:p>
        </p:txBody>
      </p:sp>
      <p:sp>
        <p:nvSpPr>
          <p:cNvPr id="12" name="TextBox 11"/>
          <p:cNvSpPr txBox="1"/>
          <p:nvPr/>
        </p:nvSpPr>
        <p:spPr>
          <a:xfrm>
            <a:off x="6139542" y="2404872"/>
            <a:ext cx="5272170" cy="347472"/>
          </a:xfrm>
          <a:prstGeom prst="rect">
            <a:avLst/>
          </a:prstGeom>
          <a:noFill/>
        </p:spPr>
        <p:txBody>
          <a:bodyPr wrap="square" anchor="ctr" lIns="0" tIns="0" rIns="0" bIns="0">
            <a:noAutofit/>
          </a:bodyPr>
          <a:lstStyle/>
          <a:p>
            <a:pPr algn="l">
              <a:lnSpc>
                <a:spcPct val="115000"/>
              </a:lnSpc>
              <a:spcAft>
                <a:spcPts val="0"/>
              </a:spcAft>
            </a:pPr>
            <a:r>
              <a:rPr sz="1200" b="0" i="0" lang="ko-KR" altLang="en-US">
                <a:solidFill>
                  <a:srgbClr val="4A5A7A"/>
                </a:solidFill>
                <a:latin typeface="맑은 고딕"/>
                <a:ea typeface="맑은 고딕"/>
                <a:cs typeface="맑은 고딕"/>
              </a:rPr>
              <a:t>표적이 실제로 지나간 길. 숫자는 표적 번호</a:t>
            </a:r>
          </a:p>
        </p:txBody>
      </p:sp>
      <p:sp>
        <p:nvSpPr>
          <p:cNvPr id="13" name="Rectangle 12"/>
          <p:cNvSpPr/>
          <p:nvPr/>
        </p:nvSpPr>
        <p:spPr>
          <a:xfrm>
            <a:off x="5499462" y="2926080"/>
            <a:ext cx="6049410" cy="841248"/>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737206" y="3118104"/>
            <a:ext cx="164592" cy="164592"/>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39542" y="2999232"/>
            <a:ext cx="5272170" cy="365760"/>
          </a:xfrm>
          <a:prstGeom prst="rect">
            <a:avLst/>
          </a:prstGeom>
          <a:noFill/>
        </p:spPr>
        <p:txBody>
          <a:bodyPr wrap="square" anchor="ctr" lIns="0" tIns="0" rIns="0" bIns="0">
            <a:noAutofit/>
          </a:bodyPr>
          <a:lstStyle/>
          <a:p>
            <a:pPr algn="l">
              <a:lnSpc>
                <a:spcPct val="115000"/>
              </a:lnSpc>
              <a:spcAft>
                <a:spcPts val="0"/>
              </a:spcAft>
            </a:pPr>
            <a:r>
              <a:rPr sz="1400" b="1" i="0" lang="ko-KR" altLang="en-US">
                <a:solidFill>
                  <a:srgbClr val="1B2740"/>
                </a:solidFill>
                <a:latin typeface="맑은 고딕"/>
                <a:ea typeface="맑은 고딕"/>
                <a:cs typeface="맑은 고딕"/>
              </a:rPr>
              <a:t>주황 점 = 플롯 3,000개</a:t>
            </a:r>
          </a:p>
        </p:txBody>
      </p:sp>
      <p:sp>
        <p:nvSpPr>
          <p:cNvPr id="16" name="TextBox 15"/>
          <p:cNvSpPr txBox="1"/>
          <p:nvPr/>
        </p:nvSpPr>
        <p:spPr>
          <a:xfrm>
            <a:off x="6139542" y="3364992"/>
            <a:ext cx="5272170" cy="347472"/>
          </a:xfrm>
          <a:prstGeom prst="rect">
            <a:avLst/>
          </a:prstGeom>
          <a:noFill/>
        </p:spPr>
        <p:txBody>
          <a:bodyPr wrap="square" anchor="ctr" lIns="0" tIns="0" rIns="0" bIns="0">
            <a:noAutofit/>
          </a:bodyPr>
          <a:lstStyle/>
          <a:p>
            <a:pPr algn="l">
              <a:lnSpc>
                <a:spcPct val="115000"/>
              </a:lnSpc>
              <a:spcAft>
                <a:spcPts val="0"/>
              </a:spcAft>
            </a:pPr>
            <a:r>
              <a:rPr sz="1200" b="0" i="0" lang="ko-KR" altLang="en-US">
                <a:solidFill>
                  <a:srgbClr val="4A5A7A"/>
                </a:solidFill>
                <a:latin typeface="맑은 고딕"/>
                <a:ea typeface="맑은 고딕"/>
                <a:cs typeface="맑은 고딕"/>
              </a:rPr>
              <a:t>선 바로 옆에 붙어 있으면 정상. 표적 3 의 선회도 보인다</a:t>
            </a:r>
          </a:p>
        </p:txBody>
      </p:sp>
      <p:sp>
        <p:nvSpPr>
          <p:cNvPr id="17" name="Rectangle 16"/>
          <p:cNvSpPr/>
          <p:nvPr/>
        </p:nvSpPr>
        <p:spPr>
          <a:xfrm>
            <a:off x="5499462" y="3886200"/>
            <a:ext cx="6049410" cy="841248"/>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737206" y="4078224"/>
            <a:ext cx="164592" cy="164592"/>
          </a:xfrm>
          <a:prstGeom prst="ellipse">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39542" y="3959352"/>
            <a:ext cx="5272170" cy="365760"/>
          </a:xfrm>
          <a:prstGeom prst="rect">
            <a:avLst/>
          </a:prstGeom>
          <a:noFill/>
        </p:spPr>
        <p:txBody>
          <a:bodyPr wrap="square" anchor="ctr" lIns="0" tIns="0" rIns="0" bIns="0">
            <a:noAutofit/>
          </a:bodyPr>
          <a:lstStyle/>
          <a:p>
            <a:pPr algn="l">
              <a:lnSpc>
                <a:spcPct val="115000"/>
              </a:lnSpc>
              <a:spcAft>
                <a:spcPts val="0"/>
              </a:spcAft>
            </a:pPr>
            <a:r>
              <a:rPr sz="1400" b="1" i="0" lang="ko-KR" altLang="en-US">
                <a:solidFill>
                  <a:srgbClr val="1B2740"/>
                </a:solidFill>
                <a:latin typeface="맑은 고딕"/>
                <a:ea typeface="맑은 고딕"/>
                <a:cs typeface="맑은 고딕"/>
              </a:rPr>
              <a:t>초록 점 = 클러터 3,000개</a:t>
            </a:r>
          </a:p>
        </p:txBody>
      </p:sp>
      <p:sp>
        <p:nvSpPr>
          <p:cNvPr id="20" name="TextBox 19"/>
          <p:cNvSpPr txBox="1"/>
          <p:nvPr/>
        </p:nvSpPr>
        <p:spPr>
          <a:xfrm>
            <a:off x="6139542" y="4325112"/>
            <a:ext cx="5272170" cy="347472"/>
          </a:xfrm>
          <a:prstGeom prst="rect">
            <a:avLst/>
          </a:prstGeom>
          <a:noFill/>
        </p:spPr>
        <p:txBody>
          <a:bodyPr wrap="square" anchor="ctr" lIns="0" tIns="0" rIns="0" bIns="0">
            <a:noAutofit/>
          </a:bodyPr>
          <a:lstStyle/>
          <a:p>
            <a:pPr algn="l">
              <a:lnSpc>
                <a:spcPct val="115000"/>
              </a:lnSpc>
              <a:spcAft>
                <a:spcPts val="0"/>
              </a:spcAft>
            </a:pPr>
            <a:r>
              <a:rPr sz="1200" b="0" i="0" lang="ko-KR" altLang="en-US">
                <a:solidFill>
                  <a:srgbClr val="4A5A7A"/>
                </a:solidFill>
                <a:latin typeface="맑은 고딕"/>
                <a:ea typeface="맑은 고딕"/>
                <a:cs typeface="맑은 고딕"/>
              </a:rPr>
              <a:t>부채꼴 범위 (FOV) 안에만 있으면 정상</a:t>
            </a:r>
          </a:p>
        </p:txBody>
      </p:sp>
      <p:sp>
        <p:nvSpPr>
          <p:cNvPr id="21" name="Rectangle 20"/>
          <p:cNvSpPr/>
          <p:nvPr/>
        </p:nvSpPr>
        <p:spPr>
          <a:xfrm>
            <a:off x="5499462" y="4937760"/>
            <a:ext cx="6049410" cy="1170432"/>
          </a:xfrm>
          <a:prstGeom prst="rect">
            <a:avLst/>
          </a:prstGeom>
          <a:solidFill>
            <a:srgbClr val="EEF3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28062" y="4937760"/>
            <a:ext cx="5592210" cy="1170432"/>
          </a:xfrm>
          <a:prstGeom prst="rect">
            <a:avLst/>
          </a:prstGeom>
          <a:noFill/>
        </p:spPr>
        <p:txBody>
          <a:bodyPr wrap="square" anchor="ctr" lIns="0" tIns="0" rIns="0" bIns="0">
            <a:noAutofit/>
          </a:bodyPr>
          <a:lstStyle/>
          <a:p>
            <a:pPr algn="l">
              <a:lnSpc>
                <a:spcPct val="120000"/>
              </a:lnSpc>
              <a:spcAft>
                <a:spcPts val="400"/>
              </a:spcAft>
            </a:pPr>
            <a:r>
              <a:rPr sz="1350" b="1" i="0" lang="ko-KR" altLang="en-US">
                <a:solidFill>
                  <a:srgbClr val="2563EB"/>
                </a:solidFill>
                <a:latin typeface="맑은 고딕"/>
                <a:ea typeface="맑은 고딕"/>
                <a:cs typeface="맑은 고딕"/>
              </a:rPr>
              <a:t>레이다 가까이 클러터가 촘촘한 이유</a:t>
            </a:r>
          </a:p>
          <a:p>
            <a:pPr algn="l">
              <a:lnSpc>
                <a:spcPct val="120000"/>
              </a:lnSpc>
              <a:spcAft>
                <a:spcPts val="0"/>
              </a:spcAft>
            </a:pPr>
            <a:r>
              <a:rPr sz="1200" b="0" i="0" lang="ko-KR" altLang="en-US">
                <a:solidFill>
                  <a:srgbClr val="1B2740"/>
                </a:solidFill>
                <a:latin typeface="맑은 고딕"/>
                <a:ea typeface="맑은 고딕"/>
                <a:cs typeface="맑은 고딕"/>
              </a:rPr>
              <a:t>거리를 고르게 뽑으면, 넓이가 작은 가까운 곳에</a:t>
            </a:r>
          </a:p>
          <a:p>
            <a:pPr algn="l">
              <a:lnSpc>
                <a:spcPct val="120000"/>
              </a:lnSpc>
              <a:spcAft>
                <a:spcPts val="0"/>
              </a:spcAft>
            </a:pPr>
            <a:r>
              <a:rPr sz="1200" b="0" i="0" lang="ko-KR" altLang="en-US">
                <a:solidFill>
                  <a:srgbClr val="1B2740"/>
                </a:solidFill>
                <a:latin typeface="맑은 고딕"/>
                <a:ea typeface="맑은 고딕"/>
                <a:cs typeface="맑은 고딕"/>
              </a:rPr>
              <a:t>점이 몰려 보인다. 오류가 아니라 정상이다.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05. 모의 결과</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5.3 표적이 멀수록 플롯이 옆으로 넓게 퍼집니다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16</a:t>
            </a:r>
          </a:p>
        </p:txBody>
      </p:sp>
      <p:pic>
        <p:nvPicPr>
          <p:cNvPr id="7" name="Picture 6" descr="f10_v3.png"/>
          <p:cNvPicPr>
            <a:picLocks noChangeAspect="1"/>
          </p:cNvPicPr>
          <p:nvPr/>
        </p:nvPicPr>
        <p:blipFill>
          <a:blip r:embed="rId2"/>
          <a:stretch>
            <a:fillRect/>
          </a:stretch>
        </p:blipFill>
        <p:spPr>
          <a:xfrm>
            <a:off x="790956" y="1901952"/>
            <a:ext cx="10607040" cy="3154680"/>
          </a:xfrm>
          <a:prstGeom prst="rect">
            <a:avLst/>
          </a:prstGeom>
        </p:spPr>
      </p:pic>
      <p:sp>
        <p:nvSpPr>
          <p:cNvPr id="8" name="Rectangle 7"/>
          <p:cNvSpPr/>
          <p:nvPr/>
        </p:nvSpPr>
        <p:spPr>
          <a:xfrm>
            <a:off x="640080" y="5212080"/>
            <a:ext cx="4754880" cy="960120"/>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5340096"/>
            <a:ext cx="4389120" cy="832104"/>
          </a:xfrm>
          <a:prstGeom prst="rect">
            <a:avLst/>
          </a:prstGeom>
          <a:noFill/>
        </p:spPr>
        <p:txBody>
          <a:bodyPr wrap="square" anchor="t" lIns="0" tIns="0" rIns="0" bIns="0">
            <a:noAutofit/>
          </a:bodyPr>
          <a:lstStyle/>
          <a:p>
            <a:pPr algn="l">
              <a:lnSpc>
                <a:spcPct val="115000"/>
              </a:lnSpc>
              <a:spcAft>
                <a:spcPts val="300"/>
              </a:spcAft>
            </a:pPr>
            <a:r>
              <a:rPr sz="1250" b="1" i="0" lang="ko-KR" altLang="en-US">
                <a:solidFill>
                  <a:srgbClr val="1B2740"/>
                </a:solidFill>
                <a:latin typeface="맑은 고딕"/>
                <a:ea typeface="맑은 고딕"/>
                <a:cs typeface="맑은 고딕"/>
              </a:rPr>
              <a:t>횡방향 오차 = 거리 × 각도 오차 (0.00834 rad)</a:t>
            </a:r>
          </a:p>
          <a:p>
            <a:pPr algn="l">
              <a:lnSpc>
                <a:spcPct val="115000"/>
              </a:lnSpc>
              <a:spcAft>
                <a:spcPts val="0"/>
              </a:spcAft>
            </a:pPr>
            <a:r>
              <a:rPr sz="1200" b="0" i="0" lang="ko-KR" altLang="en-US">
                <a:solidFill>
                  <a:srgbClr val="1B2740"/>
                </a:solidFill>
                <a:latin typeface="맑은 고딕"/>
                <a:ea typeface="맑은 고딕"/>
                <a:cs typeface="맑은 고딕"/>
              </a:rPr>
              <a:t>12.7 km × 0.00834 = 106 m   (실제 104 m)</a:t>
            </a:r>
          </a:p>
          <a:p>
            <a:pPr algn="l">
              <a:lnSpc>
                <a:spcPct val="115000"/>
              </a:lnSpc>
              <a:spcAft>
                <a:spcPts val="0"/>
              </a:spcAft>
            </a:pPr>
            <a:r>
              <a:rPr sz="1200" b="0" i="0" lang="ko-KR" altLang="en-US">
                <a:solidFill>
                  <a:srgbClr val="1B2740"/>
                </a:solidFill>
                <a:latin typeface="맑은 고딕"/>
                <a:ea typeface="맑은 고딕"/>
                <a:cs typeface="맑은 고딕"/>
              </a:rPr>
              <a:t>1.9 km × 0.00834 = 16 m   (실제 16 m)</a:t>
            </a:r>
          </a:p>
        </p:txBody>
      </p:sp>
      <p:sp>
        <p:nvSpPr>
          <p:cNvPr id="10" name="Rectangle 9"/>
          <p:cNvSpPr/>
          <p:nvPr/>
        </p:nvSpPr>
        <p:spPr>
          <a:xfrm>
            <a:off x="5577840" y="5212080"/>
            <a:ext cx="2697480" cy="960120"/>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0" y="5340096"/>
            <a:ext cx="2331720" cy="832104"/>
          </a:xfrm>
          <a:prstGeom prst="rect">
            <a:avLst/>
          </a:prstGeom>
          <a:noFill/>
        </p:spPr>
        <p:txBody>
          <a:bodyPr wrap="square" anchor="t" lIns="0" tIns="0" rIns="0" bIns="0">
            <a:noAutofit/>
          </a:bodyPr>
          <a:lstStyle/>
          <a:p>
            <a:pPr algn="l">
              <a:lnSpc>
                <a:spcPct val="115000"/>
              </a:lnSpc>
              <a:spcAft>
                <a:spcPts val="300"/>
              </a:spcAft>
            </a:pPr>
            <a:r>
              <a:rPr sz="1250" b="1" i="0" lang="ko-KR" altLang="en-US">
                <a:solidFill>
                  <a:srgbClr val="1B2740"/>
                </a:solidFill>
                <a:latin typeface="맑은 고딕"/>
                <a:ea typeface="맑은 고딕"/>
                <a:cs typeface="맑은 고딕"/>
              </a:rPr>
              <a:t>거리 방향 오차</a:t>
            </a:r>
          </a:p>
          <a:p>
            <a:pPr algn="l">
              <a:lnSpc>
                <a:spcPct val="115000"/>
              </a:lnSpc>
              <a:spcAft>
                <a:spcPts val="0"/>
              </a:spcAft>
            </a:pPr>
            <a:r>
              <a:rPr sz="1200" b="0" i="0" lang="ko-KR" altLang="en-US">
                <a:solidFill>
                  <a:srgbClr val="1B2740"/>
                </a:solidFill>
                <a:latin typeface="맑은 고딕"/>
                <a:ea typeface="맑은 고딕"/>
                <a:cs typeface="맑은 고딕"/>
              </a:rPr>
              <a:t>거리와 상관없이 약 4.7 m</a:t>
            </a:r>
          </a:p>
        </p:txBody>
      </p:sp>
      <p:sp>
        <p:nvSpPr>
          <p:cNvPr id="12" name="Rectangle 11"/>
          <p:cNvSpPr/>
          <p:nvPr/>
        </p:nvSpPr>
        <p:spPr>
          <a:xfrm>
            <a:off x="8458200" y="5212080"/>
            <a:ext cx="3090672" cy="960120"/>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41080" y="5340096"/>
            <a:ext cx="2724912" cy="832104"/>
          </a:xfrm>
          <a:prstGeom prst="rect">
            <a:avLst/>
          </a:prstGeom>
          <a:noFill/>
        </p:spPr>
        <p:txBody>
          <a:bodyPr wrap="square" anchor="t" lIns="0" tIns="0" rIns="0" bIns="0">
            <a:noAutofit/>
          </a:bodyPr>
          <a:lstStyle/>
          <a:p>
            <a:pPr algn="l">
              <a:lnSpc>
                <a:spcPct val="115000"/>
              </a:lnSpc>
              <a:spcAft>
                <a:spcPts val="300"/>
              </a:spcAft>
            </a:pPr>
            <a:r>
              <a:rPr sz="1250" b="1" i="0" lang="ko-KR" altLang="en-US">
                <a:solidFill>
                  <a:srgbClr val="F3B08F"/>
                </a:solidFill>
                <a:latin typeface="맑은 고딕"/>
                <a:ea typeface="맑은 고딕"/>
                <a:cs typeface="맑은 고딕"/>
              </a:rPr>
              <a:t>그래서</a:t>
            </a:r>
          </a:p>
          <a:p>
            <a:pPr algn="l">
              <a:lnSpc>
                <a:spcPct val="115000"/>
              </a:lnSpc>
              <a:spcAft>
                <a:spcPts val="0"/>
              </a:spcAft>
            </a:pPr>
            <a:r>
              <a:rPr sz="1200" b="0" i="0" lang="ko-KR" altLang="en-US">
                <a:solidFill>
                  <a:srgbClr val="FFFFFF"/>
                </a:solidFill>
                <a:latin typeface="맑은 고딕"/>
                <a:ea typeface="맑은 고딕"/>
                <a:cs typeface="맑은 고딕"/>
              </a:rPr>
              <a:t>추적 필터는 거리마다</a:t>
            </a:r>
          </a:p>
          <a:p>
            <a:pPr algn="l">
              <a:lnSpc>
                <a:spcPct val="115000"/>
              </a:lnSpc>
              <a:spcAft>
                <a:spcPts val="0"/>
              </a:spcAft>
            </a:pPr>
            <a:r>
              <a:rPr sz="1200" b="0" i="0" lang="ko-KR" altLang="en-US">
                <a:solidFill>
                  <a:srgbClr val="FFFFFF"/>
                </a:solidFill>
                <a:latin typeface="맑은 고딕"/>
                <a:ea typeface="맑은 고딕"/>
                <a:cs typeface="맑은 고딕"/>
              </a:rPr>
              <a:t>측정 오차를 다르게 봐야 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06. C 코딩 실습</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6.1 계산은 C 라이브러리 (DLL), 화면은 MFC 로 나눴습니다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17</a:t>
            </a:r>
          </a:p>
        </p:txBody>
      </p:sp>
      <p:sp>
        <p:nvSpPr>
          <p:cNvPr id="7" name="Rectangle 6"/>
          <p:cNvSpPr/>
          <p:nvPr/>
        </p:nvSpPr>
        <p:spPr>
          <a:xfrm>
            <a:off x="640080" y="1965960"/>
            <a:ext cx="5349240" cy="2331720"/>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2029968"/>
            <a:ext cx="4946903" cy="384048"/>
          </a:xfrm>
          <a:prstGeom prst="rect">
            <a:avLst/>
          </a:prstGeom>
          <a:noFill/>
        </p:spPr>
        <p:txBody>
          <a:bodyPr wrap="square" anchor="ctr" lIns="0" tIns="0" rIns="0" bIns="0">
            <a:noAutofit/>
          </a:bodyPr>
          <a:lstStyle/>
          <a:p>
            <a:pPr algn="l">
              <a:lnSpc>
                <a:spcPct val="115000"/>
              </a:lnSpc>
              <a:spcAft>
                <a:spcPts val="0"/>
              </a:spcAft>
            </a:pPr>
            <a:r>
              <a:rPr sz="1500" b="1" i="0" lang="ko-KR" altLang="en-US">
                <a:solidFill>
                  <a:srgbClr val="1B2740"/>
                </a:solidFill>
                <a:latin typeface="맑은 고딕"/>
                <a:ea typeface="맑은 고딕"/>
                <a:cs typeface="맑은 고딕"/>
              </a:rPr>
              <a:t>PlotSimCore</a:t>
            </a:r>
            <a:r>
              <a:rPr sz="1200" b="0" i="0" lang="ko-KR" altLang="en-US">
                <a:solidFill>
                  <a:srgbClr val="4A5A7A"/>
                </a:solidFill>
                <a:latin typeface="맑은 고딕"/>
                <a:ea typeface="맑은 고딕"/>
                <a:cs typeface="맑은 고딕"/>
              </a:rPr>
              <a:t>   C 라이브러리 (DLL), 계산</a:t>
            </a:r>
          </a:p>
        </p:txBody>
      </p:sp>
      <p:sp>
        <p:nvSpPr>
          <p:cNvPr id="9" name="Rectangle 8"/>
          <p:cNvSpPr/>
          <p:nvPr/>
        </p:nvSpPr>
        <p:spPr>
          <a:xfrm>
            <a:off x="841247" y="2487168"/>
            <a:ext cx="4946903" cy="402336"/>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487168"/>
            <a:ext cx="1920240" cy="402336"/>
          </a:xfrm>
          <a:prstGeom prst="rect">
            <a:avLst/>
          </a:prstGeom>
          <a:noFill/>
        </p:spPr>
        <p:txBody>
          <a:bodyPr wrap="square" anchor="ctr" lIns="0" tIns="0" rIns="0" bIns="0">
            <a:noAutofit/>
          </a:bodyPr>
          <a:lstStyle/>
          <a:p>
            <a:pPr algn="l">
              <a:lnSpc>
                <a:spcPct val="115000"/>
              </a:lnSpc>
              <a:spcAft>
                <a:spcPts val="0"/>
              </a:spcAft>
            </a:pPr>
            <a:r>
              <a:rPr sz="1200" b="1" i="0" lang="ko-KR" altLang="en-US">
                <a:solidFill>
                  <a:srgbClr val="2563EB"/>
                </a:solidFill>
                <a:latin typeface="Arial"/>
                <a:ea typeface="맑은 고딕"/>
                <a:cs typeface="Arial"/>
              </a:rPr>
              <a:t>f_Pcs_TestRand</a:t>
            </a:r>
          </a:p>
        </p:txBody>
      </p:sp>
      <p:sp>
        <p:nvSpPr>
          <p:cNvPr id="11" name="TextBox 10"/>
          <p:cNvSpPr txBox="1"/>
          <p:nvPr/>
        </p:nvSpPr>
        <p:spPr>
          <a:xfrm>
            <a:off x="2926080" y="2487168"/>
            <a:ext cx="1737360" cy="402336"/>
          </a:xfrm>
          <a:prstGeom prst="rect">
            <a:avLst/>
          </a:prstGeom>
          <a:noFill/>
        </p:spPr>
        <p:txBody>
          <a:bodyPr wrap="square" anchor="ctr" lIns="0" tIns="0" rIns="0" bIns="0">
            <a:noAutofit/>
          </a:bodyPr>
          <a:lstStyle/>
          <a:p>
            <a:pPr algn="l">
              <a:lnSpc>
                <a:spcPct val="115000"/>
              </a:lnSpc>
              <a:spcAft>
                <a:spcPts val="0"/>
              </a:spcAft>
            </a:pPr>
            <a:r>
              <a:rPr sz="1200" b="0" i="0" lang="ko-KR" altLang="en-US">
                <a:solidFill>
                  <a:srgbClr val="1B2740"/>
                </a:solidFill>
                <a:latin typeface="맑은 고딕"/>
                <a:ea typeface="맑은 고딕"/>
                <a:cs typeface="맑은 고딕"/>
              </a:rPr>
              <a:t>난수 검증</a:t>
            </a:r>
          </a:p>
        </p:txBody>
      </p:sp>
      <p:sp>
        <p:nvSpPr>
          <p:cNvPr id="12" name="TextBox 11"/>
          <p:cNvSpPr txBox="1"/>
          <p:nvPr/>
        </p:nvSpPr>
        <p:spPr>
          <a:xfrm>
            <a:off x="4526279" y="2487168"/>
            <a:ext cx="1133856" cy="402336"/>
          </a:xfrm>
          <a:prstGeom prst="rect">
            <a:avLst/>
          </a:prstGeom>
          <a:noFill/>
        </p:spPr>
        <p:txBody>
          <a:bodyPr wrap="square" anchor="ctr" lIns="0" tIns="0" rIns="0" bIns="0">
            <a:noAutofit/>
          </a:bodyPr>
          <a:lstStyle/>
          <a:p>
            <a:pPr algn="r">
              <a:lnSpc>
                <a:spcPct val="115000"/>
              </a:lnSpc>
              <a:spcAft>
                <a:spcPts val="0"/>
              </a:spcAft>
            </a:pPr>
            <a:r>
              <a:rPr sz="1050" b="0" i="0" lang="ko-KR" altLang="en-US">
                <a:solidFill>
                  <a:srgbClr val="647089"/>
                </a:solidFill>
                <a:latin typeface="맑은 고딕"/>
                <a:ea typeface="맑은 고딕"/>
                <a:cs typeface="맑은 고딕"/>
              </a:rPr>
              <a:t>실습 2.1</a:t>
            </a:r>
          </a:p>
        </p:txBody>
      </p:sp>
      <p:sp>
        <p:nvSpPr>
          <p:cNvPr id="13" name="Rectangle 12"/>
          <p:cNvSpPr/>
          <p:nvPr/>
        </p:nvSpPr>
        <p:spPr>
          <a:xfrm>
            <a:off x="841247" y="2962656"/>
            <a:ext cx="4946903" cy="402336"/>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9264" y="2962656"/>
            <a:ext cx="1920240" cy="402336"/>
          </a:xfrm>
          <a:prstGeom prst="rect">
            <a:avLst/>
          </a:prstGeom>
          <a:noFill/>
        </p:spPr>
        <p:txBody>
          <a:bodyPr wrap="square" anchor="ctr" lIns="0" tIns="0" rIns="0" bIns="0">
            <a:noAutofit/>
          </a:bodyPr>
          <a:lstStyle/>
          <a:p>
            <a:pPr algn="l">
              <a:lnSpc>
                <a:spcPct val="115000"/>
              </a:lnSpc>
              <a:spcAft>
                <a:spcPts val="0"/>
              </a:spcAft>
            </a:pPr>
            <a:r>
              <a:rPr sz="1200" b="1" i="0" lang="ko-KR" altLang="en-US">
                <a:solidFill>
                  <a:srgbClr val="2563EB"/>
                </a:solidFill>
                <a:latin typeface="Arial"/>
                <a:ea typeface="맑은 고딕"/>
                <a:cs typeface="Arial"/>
              </a:rPr>
              <a:t>f_Pcs_CalcSigma</a:t>
            </a:r>
          </a:p>
        </p:txBody>
      </p:sp>
      <p:sp>
        <p:nvSpPr>
          <p:cNvPr id="15" name="TextBox 14"/>
          <p:cNvSpPr txBox="1"/>
          <p:nvPr/>
        </p:nvSpPr>
        <p:spPr>
          <a:xfrm>
            <a:off x="2926080" y="2962656"/>
            <a:ext cx="1737360" cy="402336"/>
          </a:xfrm>
          <a:prstGeom prst="rect">
            <a:avLst/>
          </a:prstGeom>
          <a:noFill/>
        </p:spPr>
        <p:txBody>
          <a:bodyPr wrap="square" anchor="ctr" lIns="0" tIns="0" rIns="0" bIns="0">
            <a:noAutofit/>
          </a:bodyPr>
          <a:lstStyle/>
          <a:p>
            <a:pPr algn="l">
              <a:lnSpc>
                <a:spcPct val="115000"/>
              </a:lnSpc>
              <a:spcAft>
                <a:spcPts val="0"/>
              </a:spcAft>
            </a:pPr>
            <a:r>
              <a:rPr sz="1200" b="0" i="0" lang="ko-KR" altLang="en-US">
                <a:solidFill>
                  <a:srgbClr val="1B2740"/>
                </a:solidFill>
                <a:latin typeface="맑은 고딕"/>
                <a:ea typeface="맑은 고딕"/>
                <a:cs typeface="맑은 고딕"/>
              </a:rPr>
              <a:t>표준편차 p 계산</a:t>
            </a:r>
          </a:p>
        </p:txBody>
      </p:sp>
      <p:sp>
        <p:nvSpPr>
          <p:cNvPr id="16" name="TextBox 15"/>
          <p:cNvSpPr txBox="1"/>
          <p:nvPr/>
        </p:nvSpPr>
        <p:spPr>
          <a:xfrm>
            <a:off x="4526279" y="2962656"/>
            <a:ext cx="1133856" cy="402336"/>
          </a:xfrm>
          <a:prstGeom prst="rect">
            <a:avLst/>
          </a:prstGeom>
          <a:noFill/>
        </p:spPr>
        <p:txBody>
          <a:bodyPr wrap="square" anchor="ctr" lIns="0" tIns="0" rIns="0" bIns="0">
            <a:noAutofit/>
          </a:bodyPr>
          <a:lstStyle/>
          <a:p>
            <a:pPr algn="r">
              <a:lnSpc>
                <a:spcPct val="115000"/>
              </a:lnSpc>
              <a:spcAft>
                <a:spcPts val="0"/>
              </a:spcAft>
            </a:pPr>
            <a:r>
              <a:rPr sz="1050" b="0" i="0" lang="ko-KR" altLang="en-US">
                <a:solidFill>
                  <a:srgbClr val="647089"/>
                </a:solidFill>
                <a:latin typeface="맑은 고딕"/>
                <a:ea typeface="맑은 고딕"/>
                <a:cs typeface="맑은 고딕"/>
              </a:rPr>
              <a:t>실습 2.2</a:t>
            </a:r>
          </a:p>
        </p:txBody>
      </p:sp>
      <p:sp>
        <p:nvSpPr>
          <p:cNvPr id="17" name="Rectangle 16"/>
          <p:cNvSpPr/>
          <p:nvPr/>
        </p:nvSpPr>
        <p:spPr>
          <a:xfrm>
            <a:off x="841247" y="3438144"/>
            <a:ext cx="4946903" cy="402336"/>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9264" y="3438144"/>
            <a:ext cx="1920240" cy="402336"/>
          </a:xfrm>
          <a:prstGeom prst="rect">
            <a:avLst/>
          </a:prstGeom>
          <a:noFill/>
        </p:spPr>
        <p:txBody>
          <a:bodyPr wrap="square" anchor="ctr" lIns="0" tIns="0" rIns="0" bIns="0">
            <a:noAutofit/>
          </a:bodyPr>
          <a:lstStyle/>
          <a:p>
            <a:pPr algn="l">
              <a:lnSpc>
                <a:spcPct val="115000"/>
              </a:lnSpc>
              <a:spcAft>
                <a:spcPts val="0"/>
              </a:spcAft>
            </a:pPr>
            <a:r>
              <a:rPr sz="1200" b="1" i="0" lang="ko-KR" altLang="en-US">
                <a:solidFill>
                  <a:srgbClr val="2563EB"/>
                </a:solidFill>
                <a:latin typeface="Arial"/>
                <a:ea typeface="맑은 고딕"/>
                <a:cs typeface="Arial"/>
              </a:rPr>
              <a:t>f_Pcs_Run</a:t>
            </a:r>
          </a:p>
        </p:txBody>
      </p:sp>
      <p:sp>
        <p:nvSpPr>
          <p:cNvPr id="19" name="TextBox 18"/>
          <p:cNvSpPr txBox="1"/>
          <p:nvPr/>
        </p:nvSpPr>
        <p:spPr>
          <a:xfrm>
            <a:off x="2926080" y="3438144"/>
            <a:ext cx="1737360" cy="402336"/>
          </a:xfrm>
          <a:prstGeom prst="rect">
            <a:avLst/>
          </a:prstGeom>
          <a:noFill/>
        </p:spPr>
        <p:txBody>
          <a:bodyPr wrap="square" anchor="ctr" lIns="0" tIns="0" rIns="0" bIns="0">
            <a:noAutofit/>
          </a:bodyPr>
          <a:lstStyle/>
          <a:p>
            <a:pPr algn="l">
              <a:lnSpc>
                <a:spcPct val="115000"/>
              </a:lnSpc>
              <a:spcAft>
                <a:spcPts val="0"/>
              </a:spcAft>
            </a:pPr>
            <a:r>
              <a:rPr sz="1200" b="0" i="0" lang="ko-KR" altLang="en-US">
                <a:solidFill>
                  <a:srgbClr val="1B2740"/>
                </a:solidFill>
                <a:latin typeface="맑은 고딕"/>
                <a:ea typeface="맑은 고딕"/>
                <a:cs typeface="맑은 고딕"/>
              </a:rPr>
              <a:t>600 스캔 모의</a:t>
            </a:r>
          </a:p>
        </p:txBody>
      </p:sp>
      <p:sp>
        <p:nvSpPr>
          <p:cNvPr id="20" name="TextBox 19"/>
          <p:cNvSpPr txBox="1"/>
          <p:nvPr/>
        </p:nvSpPr>
        <p:spPr>
          <a:xfrm>
            <a:off x="4526279" y="3438144"/>
            <a:ext cx="1133856" cy="402336"/>
          </a:xfrm>
          <a:prstGeom prst="rect">
            <a:avLst/>
          </a:prstGeom>
          <a:noFill/>
        </p:spPr>
        <p:txBody>
          <a:bodyPr wrap="square" anchor="ctr" lIns="0" tIns="0" rIns="0" bIns="0">
            <a:noAutofit/>
          </a:bodyPr>
          <a:lstStyle/>
          <a:p>
            <a:pPr algn="r">
              <a:lnSpc>
                <a:spcPct val="115000"/>
              </a:lnSpc>
              <a:spcAft>
                <a:spcPts val="0"/>
              </a:spcAft>
            </a:pPr>
            <a:r>
              <a:rPr sz="1050" b="0" i="0" lang="ko-KR" altLang="en-US">
                <a:solidFill>
                  <a:srgbClr val="647089"/>
                </a:solidFill>
                <a:latin typeface="맑은 고딕"/>
                <a:ea typeface="맑은 고딕"/>
                <a:cs typeface="맑은 고딕"/>
              </a:rPr>
              <a:t>실습 2.2, 2.3</a:t>
            </a:r>
          </a:p>
        </p:txBody>
      </p:sp>
      <p:sp>
        <p:nvSpPr>
          <p:cNvPr id="21" name="TextBox 20"/>
          <p:cNvSpPr txBox="1"/>
          <p:nvPr/>
        </p:nvSpPr>
        <p:spPr>
          <a:xfrm>
            <a:off x="841247" y="3913632"/>
            <a:ext cx="4946903" cy="329184"/>
          </a:xfrm>
          <a:prstGeom prst="rect">
            <a:avLst/>
          </a:prstGeom>
          <a:noFill/>
        </p:spPr>
        <p:txBody>
          <a:bodyPr wrap="square" anchor="ctr" lIns="0" tIns="0" rIns="0" bIns="0">
            <a:noAutofit/>
          </a:bodyPr>
          <a:lstStyle/>
          <a:p>
            <a:pPr algn="l">
              <a:lnSpc>
                <a:spcPct val="115000"/>
              </a:lnSpc>
              <a:spcAft>
                <a:spcPts val="0"/>
              </a:spcAft>
            </a:pPr>
            <a:r>
              <a:rPr sz="1050" b="0" i="0" lang="ko-KR" altLang="en-US">
                <a:solidFill>
                  <a:srgbClr val="4A5A7A"/>
                </a:solidFill>
                <a:latin typeface="맑은 고딕"/>
                <a:ea typeface="맑은 고딕"/>
                <a:cs typeface="맑은 고딕"/>
              </a:rPr>
              <a:t>참고 소스 (UNIRAN, GAUSS, 좌표 변환) 와 과제 3 표적 모의는 그대로 사용</a:t>
            </a:r>
          </a:p>
        </p:txBody>
      </p:sp>
      <p:cxnSp>
        <p:nvCxnSpPr>
          <p:cNvPr id="22" name="Connector 21"/>
          <p:cNvCxnSpPr/>
          <p:nvPr/>
        </p:nvCxnSpPr>
        <p:spPr>
          <a:xfrm>
            <a:off x="3314700" y="4334256"/>
            <a:ext cx="0" cy="27432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640080" y="4645152"/>
            <a:ext cx="5349240" cy="1499616"/>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4663440"/>
            <a:ext cx="4892040" cy="1463040"/>
          </a:xfrm>
          <a:prstGeom prst="rect">
            <a:avLst/>
          </a:prstGeom>
          <a:noFill/>
        </p:spPr>
        <p:txBody>
          <a:bodyPr wrap="square" anchor="ctr" lIns="0" tIns="0" rIns="0" bIns="0">
            <a:noAutofit/>
          </a:bodyPr>
          <a:lstStyle/>
          <a:p>
            <a:pPr algn="l">
              <a:lnSpc>
                <a:spcPct val="115000"/>
              </a:lnSpc>
              <a:spcAft>
                <a:spcPts val="600"/>
              </a:spcAft>
            </a:pPr>
            <a:r>
              <a:rPr sz="1500" b="1" i="0" lang="ko-KR" altLang="en-US">
                <a:solidFill>
                  <a:srgbClr val="FFFFFF"/>
                </a:solidFill>
                <a:latin typeface="맑은 고딕"/>
                <a:ea typeface="맑은 고딕"/>
                <a:cs typeface="맑은 고딕"/>
              </a:rPr>
              <a:t>PlotSimUI</a:t>
            </a:r>
            <a:r>
              <a:rPr sz="1200" b="0" i="0" lang="ko-KR" altLang="en-US">
                <a:solidFill>
                  <a:srgbClr val="C7D0E2"/>
                </a:solidFill>
                <a:latin typeface="맑은 고딕"/>
                <a:ea typeface="맑은 고딕"/>
                <a:cs typeface="맑은 고딕"/>
              </a:rPr>
              <a:t>   MFC (Windows 화면)</a:t>
            </a:r>
          </a:p>
          <a:p>
            <a:pPr algn="l" marL="164592" indent="-164592">
              <a:lnSpc>
                <a:spcPct val="115000"/>
              </a:lnSpc>
              <a:spcAft>
                <a:spcPts val="200"/>
              </a:spcAft>
              <a:buClr>
                <a:srgbClr val="C7D0E2"/>
              </a:buClr>
              <a:buFont typeface="Arial"/>
              <a:buChar char="▪"/>
            </a:pPr>
            <a:r>
              <a:rPr sz="1200" b="0" i="0" lang="ko-KR" altLang="en-US">
                <a:solidFill>
                  <a:srgbClr val="FFFFFF"/>
                </a:solidFill>
                <a:latin typeface="맑은 고딕"/>
                <a:ea typeface="맑은 고딕"/>
                <a:cs typeface="맑은 고딕"/>
              </a:rPr>
              <a:t>입력 2개: SNR, 스캔당 클러터 수</a:t>
            </a:r>
          </a:p>
          <a:p>
            <a:pPr algn="l" marL="164592" indent="-164592">
              <a:lnSpc>
                <a:spcPct val="115000"/>
              </a:lnSpc>
              <a:spcAft>
                <a:spcPts val="200"/>
              </a:spcAft>
              <a:buClr>
                <a:srgbClr val="C7D0E2"/>
              </a:buClr>
              <a:buFont typeface="Arial"/>
              <a:buChar char="▪"/>
            </a:pPr>
            <a:r>
              <a:rPr sz="1200" b="0" i="0" lang="ko-KR" altLang="en-US">
                <a:solidFill>
                  <a:srgbClr val="FFFFFF"/>
                </a:solidFill>
                <a:latin typeface="맑은 고딕"/>
                <a:ea typeface="맑은 고딕"/>
                <a:cs typeface="맑은 고딕"/>
              </a:rPr>
              <a:t>요약 줄: 이론 p 와 실제 오차 비교</a:t>
            </a:r>
          </a:p>
          <a:p>
            <a:pPr algn="l" marL="164592" indent="-164592">
              <a:lnSpc>
                <a:spcPct val="115000"/>
              </a:lnSpc>
              <a:spcAft>
                <a:spcPts val="0"/>
              </a:spcAft>
              <a:buClr>
                <a:srgbClr val="C7D0E2"/>
              </a:buClr>
              <a:buFont typeface="Arial"/>
              <a:buChar char="▪"/>
            </a:pPr>
            <a:r>
              <a:rPr sz="1200" b="0" i="0" lang="ko-KR" altLang="en-US">
                <a:solidFill>
                  <a:srgbClr val="FFFFFF"/>
                </a:solidFill>
                <a:latin typeface="맑은 고딕"/>
                <a:ea typeface="맑은 고딕"/>
                <a:cs typeface="맑은 고딕"/>
              </a:rPr>
              <a:t>LLA 지도, 난수 히스토그램</a:t>
            </a:r>
          </a:p>
        </p:txBody>
      </p:sp>
      <p:sp>
        <p:nvSpPr>
          <p:cNvPr id="25" name="TextBox 24"/>
          <p:cNvSpPr txBox="1"/>
          <p:nvPr/>
        </p:nvSpPr>
        <p:spPr>
          <a:xfrm>
            <a:off x="6309360" y="1965960"/>
            <a:ext cx="5239512"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핵심 코드 (f_Pcs_Run, 간추림)</a:t>
            </a:r>
          </a:p>
        </p:txBody>
      </p:sp>
      <p:sp>
        <p:nvSpPr>
          <p:cNvPr id="26" name="Rectangle 25"/>
          <p:cNvSpPr/>
          <p:nvPr/>
        </p:nvSpPr>
        <p:spPr>
          <a:xfrm>
            <a:off x="6309360" y="2304288"/>
            <a:ext cx="5239512" cy="2395728"/>
          </a:xfrm>
          <a:prstGeom prst="rect">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55664" y="2304288"/>
            <a:ext cx="5010912" cy="2395728"/>
          </a:xfrm>
          <a:prstGeom prst="rect">
            <a:avLst/>
          </a:prstGeom>
          <a:noFill/>
        </p:spPr>
        <p:txBody>
          <a:bodyPr wrap="square" anchor="ctr" lIns="0" tIns="0" rIns="0" bIns="0">
            <a:noAutofit/>
          </a:bodyPr>
          <a:lstStyle/>
          <a:p>
            <a:pPr algn="l">
              <a:lnSpc>
                <a:spcPct val="125000"/>
              </a:lnSpc>
              <a:spcAft>
                <a:spcPts val="0"/>
              </a:spcAft>
            </a:pPr>
            <a:r>
              <a:rPr sz="1250" b="0" i="0" lang="ko-KR" altLang="en-US">
                <a:solidFill>
                  <a:srgbClr val="7FB77E"/>
                </a:solidFill>
                <a:latin typeface="Consolas"/>
                <a:ea typeface="맑은 고딕"/>
                <a:cs typeface="Consolas"/>
              </a:rPr>
              <a:t>// 플롯 z = x + v, v ~ N(0, p^2)</a:t>
            </a:r>
          </a:p>
          <a:p>
            <a:pPr algn="l">
              <a:lnSpc>
                <a:spcPct val="125000"/>
              </a:lnSpc>
              <a:spcAft>
                <a:spcPts val="0"/>
              </a:spcAft>
            </a:pPr>
            <a:r>
              <a:rPr sz="1250" b="0" i="0" lang="ko-KR" altLang="en-US">
                <a:solidFill>
                  <a:srgbClr val="E3E8F2"/>
                </a:solidFill>
                <a:latin typeface="Consolas"/>
                <a:ea typeface="맑은 고딕"/>
                <a:cs typeface="Consolas"/>
              </a:rPr>
              <a:t>plot.r  = true.r  + GAUSS(0.0, p.r);</a:t>
            </a:r>
          </a:p>
          <a:p>
            <a:pPr algn="l">
              <a:lnSpc>
                <a:spcPct val="125000"/>
              </a:lnSpc>
              <a:spcAft>
                <a:spcPts val="0"/>
              </a:spcAft>
            </a:pPr>
            <a:r>
              <a:rPr sz="1250" b="0" i="0" lang="ko-KR" altLang="en-US">
                <a:solidFill>
                  <a:srgbClr val="E3E8F2"/>
                </a:solidFill>
                <a:latin typeface="Consolas"/>
                <a:ea typeface="맑은 고딕"/>
                <a:cs typeface="Consolas"/>
              </a:rPr>
              <a:t>plot.az = true.az + GAUSS(0.0, p.az);</a:t>
            </a:r>
          </a:p>
          <a:p>
            <a:pPr algn="l">
              <a:lnSpc>
                <a:spcPct val="125000"/>
              </a:lnSpc>
              <a:spcAft>
                <a:spcPts val="0"/>
              </a:spcAft>
            </a:pPr>
            <a:r>
              <a:rPr sz="1250" b="0" i="0" lang="ko-KR" altLang="en-US">
                <a:solidFill>
                  <a:srgbClr val="E3E8F2"/>
                </a:solidFill>
                <a:latin typeface="Consolas"/>
                <a:ea typeface="맑은 고딕"/>
                <a:cs typeface="Consolas"/>
              </a:rPr>
              <a:t>plot.el = true.el + GAUSS(0.0, p.el);</a:t>
            </a:r>
          </a:p>
          <a:p>
            <a:pPr algn="l">
              <a:lnSpc>
                <a:spcPct val="125000"/>
              </a:lnSpc>
              <a:spcAft>
                <a:spcPts val="0"/>
              </a:spcAft>
            </a:pPr>
            <a:r>
              <a:rPr sz="1250" b="0" i="0" lang="ko-KR" altLang="en-US">
                <a:solidFill>
                  <a:srgbClr val="E3E8F2"/>
                </a:solidFill>
                <a:latin typeface="Consolas"/>
                <a:ea typeface="맑은 고딕"/>
                <a:cs typeface="Consolas"/>
              </a:rPr>
              <a:t> </a:t>
            </a:r>
          </a:p>
          <a:p>
            <a:pPr algn="l">
              <a:lnSpc>
                <a:spcPct val="125000"/>
              </a:lnSpc>
              <a:spcAft>
                <a:spcPts val="0"/>
              </a:spcAft>
            </a:pPr>
            <a:r>
              <a:rPr sz="1250" b="0" i="0" lang="ko-KR" altLang="en-US">
                <a:solidFill>
                  <a:srgbClr val="7FB77E"/>
                </a:solidFill>
                <a:latin typeface="Consolas"/>
                <a:ea typeface="맑은 고딕"/>
                <a:cs typeface="Consolas"/>
              </a:rPr>
              <a:t>// 클러터: FOV 안 균등분포</a:t>
            </a:r>
          </a:p>
          <a:p>
            <a:pPr algn="l">
              <a:lnSpc>
                <a:spcPct val="125000"/>
              </a:lnSpc>
              <a:spcAft>
                <a:spcPts val="0"/>
              </a:spcAft>
            </a:pPr>
            <a:r>
              <a:rPr sz="1250" b="0" i="0" lang="ko-KR" altLang="en-US">
                <a:solidFill>
                  <a:srgbClr val="E3E8F2"/>
                </a:solidFill>
                <a:latin typeface="Consolas"/>
                <a:ea typeface="맑은 고딕"/>
                <a:cs typeface="Consolas"/>
              </a:rPr>
              <a:t>c.r = R_MIN + (R_MAX - R_MIN) * UNIRAN();</a:t>
            </a:r>
          </a:p>
        </p:txBody>
      </p:sp>
      <p:sp>
        <p:nvSpPr>
          <p:cNvPr id="28" name="TextBox 27"/>
          <p:cNvSpPr txBox="1"/>
          <p:nvPr/>
        </p:nvSpPr>
        <p:spPr>
          <a:xfrm>
            <a:off x="6309360" y="4937760"/>
            <a:ext cx="5239512" cy="1207008"/>
          </a:xfrm>
          <a:prstGeom prst="rect">
            <a:avLst/>
          </a:prstGeom>
          <a:noFill/>
        </p:spPr>
        <p:txBody>
          <a:bodyPr wrap="square" anchor="t" lIns="0" tIns="0" rIns="0" bIns="0">
            <a:noAutofit/>
          </a:bodyPr>
          <a:lstStyle/>
          <a:p>
            <a:pPr algn="l" marL="164592" indent="-164592">
              <a:lnSpc>
                <a:spcPct val="120000"/>
              </a:lnSpc>
              <a:spcAft>
                <a:spcPts val="600"/>
              </a:spcAft>
              <a:buClr>
                <a:srgbClr val="2563EB"/>
              </a:buClr>
              <a:buFont typeface="Arial"/>
              <a:buChar char="▪"/>
            </a:pPr>
            <a:r>
              <a:rPr sz="1200" b="0" i="0" lang="ko-KR" altLang="en-US">
                <a:solidFill>
                  <a:srgbClr val="1B2740"/>
                </a:solidFill>
                <a:latin typeface="맑은 고딕"/>
                <a:ea typeface="맑은 고딕"/>
                <a:cs typeface="맑은 고딕"/>
              </a:rPr>
              <a:t>표적 5개 초기값은 PlotSim.c 의 표 하나에 모았다</a:t>
            </a:r>
          </a:p>
          <a:p>
            <a:pPr algn="l" marL="164592" indent="-164592">
              <a:lnSpc>
                <a:spcPct val="120000"/>
              </a:lnSpc>
              <a:spcAft>
                <a:spcPts val="600"/>
              </a:spcAft>
              <a:buClr>
                <a:srgbClr val="2563EB"/>
              </a:buClr>
              <a:buFont typeface="Arial"/>
              <a:buChar char="▪"/>
            </a:pPr>
            <a:r>
              <a:rPr sz="1200" b="0" i="0" lang="ko-KR" altLang="en-US">
                <a:solidFill>
                  <a:srgbClr val="1B2740"/>
                </a:solidFill>
                <a:latin typeface="맑은 고딕"/>
                <a:ea typeface="맑은 고딕"/>
                <a:cs typeface="맑은 고딕"/>
              </a:rPr>
              <a:t>난수 순서 고정: 스캔마다 표적 1 ~ 5 의 플롯, 그다음 클러터</a:t>
            </a:r>
          </a:p>
          <a:p>
            <a:pPr algn="l" marL="164592" indent="-164592">
              <a:lnSpc>
                <a:spcPct val="120000"/>
              </a:lnSpc>
              <a:spcAft>
                <a:spcPts val="0"/>
              </a:spcAft>
              <a:buClr>
                <a:srgbClr val="2563EB"/>
              </a:buClr>
              <a:buFont typeface="Arial"/>
              <a:buChar char="▪"/>
            </a:pPr>
            <a:r>
              <a:rPr sz="1200" b="0" i="0" lang="ko-KR" altLang="en-US">
                <a:solidFill>
                  <a:srgbClr val="1B2740"/>
                </a:solidFill>
                <a:latin typeface="맑은 고딕"/>
                <a:ea typeface="맑은 고딕"/>
                <a:cs typeface="맑은 고딕"/>
              </a:rPr>
              <a:t>seed 12345 로 시작해서 몇 번 돌려도 같은 결과</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06. C 코딩 실습</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6.2 실습 2.1  UNIRAN 과 GAUSS 모두 이론 분포와 맞았습니다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18</a:t>
            </a:r>
          </a:p>
        </p:txBody>
      </p:sp>
      <p:pic>
        <p:nvPicPr>
          <p:cNvPr id="7" name="Picture 6" descr="ui_random5.png"/>
          <p:cNvPicPr>
            <a:picLocks noChangeAspect="1"/>
          </p:cNvPicPr>
          <p:nvPr/>
        </p:nvPicPr>
        <p:blipFill>
          <a:blip r:embed="rId2"/>
          <a:stretch>
            <a:fillRect/>
          </a:stretch>
        </p:blipFill>
        <p:spPr>
          <a:xfrm>
            <a:off x="640080" y="1965960"/>
            <a:ext cx="6812280" cy="2741784"/>
          </a:xfrm>
          <a:prstGeom prst="rect">
            <a:avLst/>
          </a:prstGeom>
        </p:spPr>
      </p:pic>
      <p:sp>
        <p:nvSpPr>
          <p:cNvPr id="8" name="TextBox 7"/>
          <p:cNvSpPr txBox="1"/>
          <p:nvPr/>
        </p:nvSpPr>
        <p:spPr>
          <a:xfrm>
            <a:off x="640080" y="4744320"/>
            <a:ext cx="6812280" cy="256032"/>
          </a:xfrm>
          <a:prstGeom prst="rect">
            <a:avLst/>
          </a:prstGeom>
          <a:noFill/>
        </p:spPr>
        <p:txBody>
          <a:bodyPr wrap="square" anchor="ctr" lIns="0" tIns="0" rIns="0" bIns="0">
            <a:noAutofit/>
          </a:bodyPr>
          <a:lstStyle/>
          <a:p>
            <a:pPr algn="ctr">
              <a:lnSpc>
                <a:spcPct val="115000"/>
              </a:lnSpc>
              <a:spcAft>
                <a:spcPts val="0"/>
              </a:spcAft>
            </a:pPr>
            <a:r>
              <a:rPr sz="1000" b="0" i="0" lang="ko-KR" altLang="en-US">
                <a:solidFill>
                  <a:srgbClr val="4A5A7A"/>
                </a:solidFill>
                <a:latin typeface="맑은 고딕"/>
                <a:ea typeface="맑은 고딕"/>
                <a:cs typeface="맑은 고딕"/>
              </a:rPr>
              <a:t>PlotSimUI 난수 히스토그램 (각 10,000개, seed 12345)</a:t>
            </a:r>
          </a:p>
        </p:txBody>
      </p:sp>
      <p:sp>
        <p:nvSpPr>
          <p:cNvPr id="9" name="Rectangle 8"/>
          <p:cNvSpPr/>
          <p:nvPr/>
        </p:nvSpPr>
        <p:spPr>
          <a:xfrm>
            <a:off x="640080" y="5138928"/>
            <a:ext cx="6812280" cy="1005840"/>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04672" y="5285232"/>
            <a:ext cx="603504" cy="237744"/>
          </a:xfrm>
          <a:prstGeom prst="roundRect">
            <a:avLst>
              <a:gd name="adj" fmla="val 1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5285232"/>
            <a:ext cx="566928" cy="237744"/>
          </a:xfrm>
          <a:prstGeom prst="rect">
            <a:avLst/>
          </a:prstGeom>
          <a:noFill/>
        </p:spPr>
        <p:txBody>
          <a:bodyPr wrap="square" anchor="ctr" lIns="0" tIns="0" rIns="0" bIns="0">
            <a:noAutofit/>
          </a:bodyPr>
          <a:lstStyle/>
          <a:p>
            <a:pPr algn="ctr">
              <a:lnSpc>
                <a:spcPct val="110000"/>
              </a:lnSpc>
              <a:spcAft>
                <a:spcPts val="0"/>
              </a:spcAft>
            </a:pPr>
            <a:r>
              <a:rPr sz="900" b="1" i="0" lang="ko-KR" altLang="en-US">
                <a:solidFill>
                  <a:srgbClr val="FFFFFF"/>
                </a:solidFill>
                <a:latin typeface="맑은 고딕"/>
                <a:ea typeface="맑은 고딕"/>
                <a:cs typeface="맑은 고딕"/>
              </a:rPr>
              <a:t>읽는 법</a:t>
            </a:r>
          </a:p>
        </p:txBody>
      </p:sp>
      <p:sp>
        <p:nvSpPr>
          <p:cNvPr id="12" name="TextBox 11"/>
          <p:cNvSpPr txBox="1"/>
          <p:nvPr/>
        </p:nvSpPr>
        <p:spPr>
          <a:xfrm>
            <a:off x="1517904" y="5212080"/>
            <a:ext cx="5779007" cy="384048"/>
          </a:xfrm>
          <a:prstGeom prst="rect">
            <a:avLst/>
          </a:prstGeom>
          <a:noFill/>
        </p:spPr>
        <p:txBody>
          <a:bodyPr wrap="square" anchor="ctr" lIns="0" tIns="0" rIns="0" bIns="0">
            <a:noAutofit/>
          </a:bodyPr>
          <a:lstStyle/>
          <a:p>
            <a:pPr algn="l">
              <a:lnSpc>
                <a:spcPct val="115000"/>
              </a:lnSpc>
              <a:spcAft>
                <a:spcPts val="0"/>
              </a:spcAft>
            </a:pPr>
            <a:r>
              <a:rPr sz="1250" b="0" i="0" lang="ko-KR" altLang="en-US">
                <a:solidFill>
                  <a:srgbClr val="1B2740"/>
                </a:solidFill>
                <a:latin typeface="맑은 고딕"/>
                <a:ea typeface="맑은 고딕"/>
                <a:cs typeface="맑은 고딕"/>
              </a:rPr>
              <a:t>막대 높이가 주황 선 (이론값) 과 비슷하면 OK</a:t>
            </a:r>
          </a:p>
        </p:txBody>
      </p:sp>
      <p:sp>
        <p:nvSpPr>
          <p:cNvPr id="13" name="Rounded Rectangle 12"/>
          <p:cNvSpPr/>
          <p:nvPr/>
        </p:nvSpPr>
        <p:spPr>
          <a:xfrm>
            <a:off x="804672" y="5724144"/>
            <a:ext cx="717804" cy="237744"/>
          </a:xfrm>
          <a:prstGeom prst="roundRect">
            <a:avLst>
              <a:gd name="adj" fmla="val 18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5724144"/>
            <a:ext cx="681228" cy="237744"/>
          </a:xfrm>
          <a:prstGeom prst="rect">
            <a:avLst/>
          </a:prstGeom>
          <a:noFill/>
        </p:spPr>
        <p:txBody>
          <a:bodyPr wrap="square" anchor="ctr" lIns="0" tIns="0" rIns="0" bIns="0">
            <a:noAutofit/>
          </a:bodyPr>
          <a:lstStyle/>
          <a:p>
            <a:pPr algn="ctr">
              <a:lnSpc>
                <a:spcPct val="110000"/>
              </a:lnSpc>
              <a:spcAft>
                <a:spcPts val="0"/>
              </a:spcAft>
            </a:pPr>
            <a:r>
              <a:rPr sz="900" b="1" i="0" lang="ko-KR" altLang="en-US">
                <a:solidFill>
                  <a:srgbClr val="FFFFFF"/>
                </a:solidFill>
                <a:latin typeface="맑은 고딕"/>
                <a:ea typeface="맑은 고딕"/>
                <a:cs typeface="맑은 고딕"/>
              </a:rPr>
              <a:t>숫자 대입</a:t>
            </a:r>
          </a:p>
        </p:txBody>
      </p:sp>
      <p:sp>
        <p:nvSpPr>
          <p:cNvPr id="15" name="TextBox 14"/>
          <p:cNvSpPr txBox="1"/>
          <p:nvPr/>
        </p:nvSpPr>
        <p:spPr>
          <a:xfrm>
            <a:off x="1632204" y="5650992"/>
            <a:ext cx="5664707" cy="384048"/>
          </a:xfrm>
          <a:prstGeom prst="rect">
            <a:avLst/>
          </a:prstGeom>
          <a:noFill/>
        </p:spPr>
        <p:txBody>
          <a:bodyPr wrap="square" anchor="ctr" lIns="0" tIns="0" rIns="0" bIns="0">
            <a:noAutofit/>
          </a:bodyPr>
          <a:lstStyle/>
          <a:p>
            <a:pPr algn="l">
              <a:lnSpc>
                <a:spcPct val="115000"/>
              </a:lnSpc>
              <a:spcAft>
                <a:spcPts val="0"/>
              </a:spcAft>
            </a:pPr>
            <a:r>
              <a:rPr sz="1200" b="0" i="0" lang="ko-KR" altLang="en-US">
                <a:solidFill>
                  <a:srgbClr val="1B2740"/>
                </a:solidFill>
                <a:latin typeface="맑은 고딕"/>
                <a:ea typeface="맑은 고딕"/>
                <a:cs typeface="맑은 고딕"/>
              </a:rPr>
              <a:t>PDF = 개수 ÷ (표본 수 × 막대 폭) = 999 ÷ 1,000 = 0.999</a:t>
            </a:r>
          </a:p>
        </p:txBody>
      </p:sp>
      <p:sp>
        <p:nvSpPr>
          <p:cNvPr id="16" name="Rectangle 15"/>
          <p:cNvSpPr/>
          <p:nvPr/>
        </p:nvSpPr>
        <p:spPr>
          <a:xfrm>
            <a:off x="7726679" y="1965960"/>
            <a:ext cx="3822192" cy="38404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72983" y="1965960"/>
            <a:ext cx="3529584" cy="384048"/>
          </a:xfrm>
          <a:prstGeom prst="rect">
            <a:avLst/>
          </a:prstGeom>
          <a:noFill/>
        </p:spPr>
        <p:txBody>
          <a:bodyPr wrap="square" anchor="ctr" lIns="0" tIns="0" rIns="0" bIns="0">
            <a:noAutofit/>
          </a:bodyPr>
          <a:lstStyle/>
          <a:p>
            <a:pPr algn="l">
              <a:lnSpc>
                <a:spcPct val="110000"/>
              </a:lnSpc>
              <a:spcAft>
                <a:spcPts val="0"/>
              </a:spcAft>
            </a:pPr>
            <a:r>
              <a:rPr sz="1300" b="1" i="0" lang="ko-KR" altLang="en-US">
                <a:solidFill>
                  <a:srgbClr val="FFFFFF"/>
                </a:solidFill>
                <a:latin typeface="맑은 고딕"/>
                <a:ea typeface="맑은 고딕"/>
                <a:cs typeface="맑은 고딕"/>
              </a:rPr>
              <a:t>UNIRAN 균등난수</a:t>
            </a:r>
          </a:p>
        </p:txBody>
      </p:sp>
      <p:sp>
        <p:nvSpPr>
          <p:cNvPr id="18" name="TextBox 17"/>
          <p:cNvSpPr txBox="1"/>
          <p:nvPr/>
        </p:nvSpPr>
        <p:spPr>
          <a:xfrm>
            <a:off x="7772400" y="2395728"/>
            <a:ext cx="1605320" cy="365760"/>
          </a:xfrm>
          <a:prstGeom prst="rect">
            <a:avLst/>
          </a:prstGeom>
          <a:noFill/>
        </p:spPr>
        <p:txBody>
          <a:bodyPr wrap="square" anchor="ctr" lIns="0" tIns="0" rIns="0" bIns="0">
            <a:noAutofit/>
          </a:bodyPr>
          <a:lstStyle/>
          <a:p>
            <a:pPr algn="l">
              <a:lnSpc>
                <a:spcPct val="115000"/>
              </a:lnSpc>
              <a:spcAft>
                <a:spcPts val="0"/>
              </a:spcAft>
            </a:pPr>
            <a:r>
              <a:rPr sz="1250" b="0" i="0" lang="ko-KR" altLang="en-US">
                <a:solidFill>
                  <a:srgbClr val="1B2740"/>
                </a:solidFill>
                <a:latin typeface="맑은 고딕"/>
                <a:ea typeface="맑은 고딕"/>
                <a:cs typeface="맑은 고딕"/>
              </a:rPr>
              <a:t>막대 높이</a:t>
            </a:r>
          </a:p>
        </p:txBody>
      </p:sp>
      <p:sp>
        <p:nvSpPr>
          <p:cNvPr id="19" name="TextBox 18"/>
          <p:cNvSpPr txBox="1"/>
          <p:nvPr/>
        </p:nvSpPr>
        <p:spPr>
          <a:xfrm>
            <a:off x="9255556" y="2395728"/>
            <a:ext cx="1146657" cy="365760"/>
          </a:xfrm>
          <a:prstGeom prst="rect">
            <a:avLst/>
          </a:prstGeom>
          <a:noFill/>
        </p:spPr>
        <p:txBody>
          <a:bodyPr wrap="square" anchor="ctr" lIns="0" tIns="0" rIns="0" bIns="0">
            <a:noAutofit/>
          </a:bodyPr>
          <a:lstStyle/>
          <a:p>
            <a:pPr algn="r">
              <a:lnSpc>
                <a:spcPct val="115000"/>
              </a:lnSpc>
              <a:spcAft>
                <a:spcPts val="0"/>
              </a:spcAft>
            </a:pPr>
            <a:r>
              <a:rPr sz="1250" b="1" i="0" lang="ko-KR" altLang="en-US">
                <a:solidFill>
                  <a:srgbClr val="1B2740"/>
                </a:solidFill>
                <a:latin typeface="Arial"/>
                <a:ea typeface="맑은 고딕"/>
                <a:cs typeface="Arial"/>
              </a:rPr>
              <a:t>0.97 ~ 1.05</a:t>
            </a:r>
          </a:p>
        </p:txBody>
      </p:sp>
      <p:sp>
        <p:nvSpPr>
          <p:cNvPr id="20" name="TextBox 19"/>
          <p:cNvSpPr txBox="1"/>
          <p:nvPr/>
        </p:nvSpPr>
        <p:spPr>
          <a:xfrm>
            <a:off x="10478658" y="2395728"/>
            <a:ext cx="1024493" cy="365760"/>
          </a:xfrm>
          <a:prstGeom prst="rect">
            <a:avLst/>
          </a:prstGeom>
          <a:noFill/>
        </p:spPr>
        <p:txBody>
          <a:bodyPr wrap="square" anchor="ctr" lIns="0" tIns="0" rIns="0" bIns="0">
            <a:noAutofit/>
          </a:bodyPr>
          <a:lstStyle/>
          <a:p>
            <a:pPr algn="r">
              <a:lnSpc>
                <a:spcPct val="115000"/>
              </a:lnSpc>
              <a:spcAft>
                <a:spcPts val="0"/>
              </a:spcAft>
            </a:pPr>
            <a:r>
              <a:rPr sz="1100" b="0" i="0" lang="ko-KR" altLang="en-US">
                <a:solidFill>
                  <a:srgbClr val="647089"/>
                </a:solidFill>
                <a:latin typeface="맑은 고딕"/>
                <a:ea typeface="맑은 고딕"/>
                <a:cs typeface="맑은 고딕"/>
              </a:rPr>
              <a:t>기준 1</a:t>
            </a:r>
          </a:p>
        </p:txBody>
      </p:sp>
      <p:cxnSp>
        <p:nvCxnSpPr>
          <p:cNvPr id="21" name="Connector 20"/>
          <p:cNvCxnSpPr/>
          <p:nvPr/>
        </p:nvCxnSpPr>
        <p:spPr>
          <a:xfrm>
            <a:off x="7726679" y="2761488"/>
            <a:ext cx="3822193"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772400" y="2761488"/>
            <a:ext cx="1605320" cy="365760"/>
          </a:xfrm>
          <a:prstGeom prst="rect">
            <a:avLst/>
          </a:prstGeom>
          <a:noFill/>
        </p:spPr>
        <p:txBody>
          <a:bodyPr wrap="square" anchor="ctr" lIns="0" tIns="0" rIns="0" bIns="0">
            <a:noAutofit/>
          </a:bodyPr>
          <a:lstStyle/>
          <a:p>
            <a:pPr algn="l">
              <a:lnSpc>
                <a:spcPct val="115000"/>
              </a:lnSpc>
              <a:spcAft>
                <a:spcPts val="0"/>
              </a:spcAft>
            </a:pPr>
            <a:r>
              <a:rPr sz="1250" b="0" i="0" lang="ko-KR" altLang="en-US">
                <a:solidFill>
                  <a:srgbClr val="1B2740"/>
                </a:solidFill>
                <a:latin typeface="맑은 고딕"/>
                <a:ea typeface="맑은 고딕"/>
                <a:cs typeface="맑은 고딕"/>
              </a:rPr>
              <a:t>평균</a:t>
            </a:r>
          </a:p>
        </p:txBody>
      </p:sp>
      <p:sp>
        <p:nvSpPr>
          <p:cNvPr id="23" name="TextBox 22"/>
          <p:cNvSpPr txBox="1"/>
          <p:nvPr/>
        </p:nvSpPr>
        <p:spPr>
          <a:xfrm>
            <a:off x="9255556" y="2761488"/>
            <a:ext cx="1146657" cy="365760"/>
          </a:xfrm>
          <a:prstGeom prst="rect">
            <a:avLst/>
          </a:prstGeom>
          <a:noFill/>
        </p:spPr>
        <p:txBody>
          <a:bodyPr wrap="square" anchor="ctr" lIns="0" tIns="0" rIns="0" bIns="0">
            <a:noAutofit/>
          </a:bodyPr>
          <a:lstStyle/>
          <a:p>
            <a:pPr algn="r">
              <a:lnSpc>
                <a:spcPct val="115000"/>
              </a:lnSpc>
              <a:spcAft>
                <a:spcPts val="0"/>
              </a:spcAft>
            </a:pPr>
            <a:r>
              <a:rPr sz="1250" b="1" i="0" lang="ko-KR" altLang="en-US">
                <a:solidFill>
                  <a:srgbClr val="1B2740"/>
                </a:solidFill>
                <a:latin typeface="Arial"/>
                <a:ea typeface="맑은 고딕"/>
                <a:cs typeface="Arial"/>
              </a:rPr>
              <a:t>0.503</a:t>
            </a:r>
          </a:p>
        </p:txBody>
      </p:sp>
      <p:sp>
        <p:nvSpPr>
          <p:cNvPr id="24" name="TextBox 23"/>
          <p:cNvSpPr txBox="1"/>
          <p:nvPr/>
        </p:nvSpPr>
        <p:spPr>
          <a:xfrm>
            <a:off x="10478658" y="2761488"/>
            <a:ext cx="1024493" cy="365760"/>
          </a:xfrm>
          <a:prstGeom prst="rect">
            <a:avLst/>
          </a:prstGeom>
          <a:noFill/>
        </p:spPr>
        <p:txBody>
          <a:bodyPr wrap="square" anchor="ctr" lIns="0" tIns="0" rIns="0" bIns="0">
            <a:noAutofit/>
          </a:bodyPr>
          <a:lstStyle/>
          <a:p>
            <a:pPr algn="r">
              <a:lnSpc>
                <a:spcPct val="115000"/>
              </a:lnSpc>
              <a:spcAft>
                <a:spcPts val="0"/>
              </a:spcAft>
            </a:pPr>
            <a:r>
              <a:rPr sz="1100" b="0" i="0" lang="ko-KR" altLang="en-US">
                <a:solidFill>
                  <a:srgbClr val="647089"/>
                </a:solidFill>
                <a:latin typeface="맑은 고딕"/>
                <a:ea typeface="맑은 고딕"/>
                <a:cs typeface="맑은 고딕"/>
              </a:rPr>
              <a:t>기준 0.5</a:t>
            </a:r>
          </a:p>
        </p:txBody>
      </p:sp>
      <p:cxnSp>
        <p:nvCxnSpPr>
          <p:cNvPr id="25" name="Connector 24"/>
          <p:cNvCxnSpPr/>
          <p:nvPr/>
        </p:nvCxnSpPr>
        <p:spPr>
          <a:xfrm>
            <a:off x="7726679" y="3127248"/>
            <a:ext cx="3822193"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772400" y="3127248"/>
            <a:ext cx="1605320" cy="365760"/>
          </a:xfrm>
          <a:prstGeom prst="rect">
            <a:avLst/>
          </a:prstGeom>
          <a:noFill/>
        </p:spPr>
        <p:txBody>
          <a:bodyPr wrap="square" anchor="ctr" lIns="0" tIns="0" rIns="0" bIns="0">
            <a:noAutofit/>
          </a:bodyPr>
          <a:lstStyle/>
          <a:p>
            <a:pPr algn="l">
              <a:lnSpc>
                <a:spcPct val="115000"/>
              </a:lnSpc>
              <a:spcAft>
                <a:spcPts val="0"/>
              </a:spcAft>
            </a:pPr>
            <a:r>
              <a:rPr sz="1250" b="0" i="0" lang="ko-KR" altLang="en-US">
                <a:solidFill>
                  <a:srgbClr val="1B2740"/>
                </a:solidFill>
                <a:latin typeface="맑은 고딕"/>
                <a:ea typeface="맑은 고딕"/>
                <a:cs typeface="맑은 고딕"/>
              </a:rPr>
              <a:t>0 과 1</a:t>
            </a:r>
          </a:p>
        </p:txBody>
      </p:sp>
      <p:sp>
        <p:nvSpPr>
          <p:cNvPr id="27" name="TextBox 26"/>
          <p:cNvSpPr txBox="1"/>
          <p:nvPr/>
        </p:nvSpPr>
        <p:spPr>
          <a:xfrm>
            <a:off x="9255556" y="3127248"/>
            <a:ext cx="1146657" cy="365760"/>
          </a:xfrm>
          <a:prstGeom prst="rect">
            <a:avLst/>
          </a:prstGeom>
          <a:noFill/>
        </p:spPr>
        <p:txBody>
          <a:bodyPr wrap="square" anchor="ctr" lIns="0" tIns="0" rIns="0" bIns="0">
            <a:noAutofit/>
          </a:bodyPr>
          <a:lstStyle/>
          <a:p>
            <a:pPr algn="r">
              <a:lnSpc>
                <a:spcPct val="115000"/>
              </a:lnSpc>
              <a:spcAft>
                <a:spcPts val="0"/>
              </a:spcAft>
            </a:pPr>
            <a:r>
              <a:rPr sz="1250" b="1" i="0" lang="ko-KR" altLang="en-US">
                <a:solidFill>
                  <a:srgbClr val="1B2740"/>
                </a:solidFill>
                <a:latin typeface="Arial"/>
                <a:ea typeface="맑은 고딕"/>
                <a:cs typeface="Arial"/>
              </a:rPr>
              <a:t>안 나옴</a:t>
            </a:r>
          </a:p>
        </p:txBody>
      </p:sp>
      <p:sp>
        <p:nvSpPr>
          <p:cNvPr id="28" name="TextBox 27"/>
          <p:cNvSpPr txBox="1"/>
          <p:nvPr/>
        </p:nvSpPr>
        <p:spPr>
          <a:xfrm>
            <a:off x="10478658" y="3127248"/>
            <a:ext cx="1024493" cy="365760"/>
          </a:xfrm>
          <a:prstGeom prst="rect">
            <a:avLst/>
          </a:prstGeom>
          <a:noFill/>
        </p:spPr>
        <p:txBody>
          <a:bodyPr wrap="square" anchor="ctr" lIns="0" tIns="0" rIns="0" bIns="0">
            <a:noAutofit/>
          </a:bodyPr>
          <a:lstStyle/>
          <a:p>
            <a:pPr algn="r">
              <a:lnSpc>
                <a:spcPct val="115000"/>
              </a:lnSpc>
              <a:spcAft>
                <a:spcPts val="0"/>
              </a:spcAft>
            </a:pPr>
            <a:r>
              <a:rPr sz="1100" b="0" i="0" lang="ko-KR" altLang="en-US">
                <a:solidFill>
                  <a:srgbClr val="647089"/>
                </a:solidFill>
                <a:latin typeface="맑은 고딕"/>
                <a:ea typeface="맑은 고딕"/>
                <a:cs typeface="맑은 고딕"/>
              </a:rPr>
              <a:t>(0, 1) 구간</a:t>
            </a:r>
          </a:p>
        </p:txBody>
      </p:sp>
      <p:cxnSp>
        <p:nvCxnSpPr>
          <p:cNvPr id="29" name="Connector 28"/>
          <p:cNvCxnSpPr/>
          <p:nvPr/>
        </p:nvCxnSpPr>
        <p:spPr>
          <a:xfrm>
            <a:off x="7726679" y="3493008"/>
            <a:ext cx="3822193"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7726679" y="3657600"/>
            <a:ext cx="3822192" cy="38404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872983" y="3657600"/>
            <a:ext cx="3529584" cy="384048"/>
          </a:xfrm>
          <a:prstGeom prst="rect">
            <a:avLst/>
          </a:prstGeom>
          <a:noFill/>
        </p:spPr>
        <p:txBody>
          <a:bodyPr wrap="square" anchor="ctr" lIns="0" tIns="0" rIns="0" bIns="0">
            <a:noAutofit/>
          </a:bodyPr>
          <a:lstStyle/>
          <a:p>
            <a:pPr algn="l">
              <a:lnSpc>
                <a:spcPct val="110000"/>
              </a:lnSpc>
              <a:spcAft>
                <a:spcPts val="0"/>
              </a:spcAft>
            </a:pPr>
            <a:r>
              <a:rPr sz="1300" b="1" i="0" lang="ko-KR" altLang="en-US">
                <a:solidFill>
                  <a:srgbClr val="FFFFFF"/>
                </a:solidFill>
                <a:latin typeface="맑은 고딕"/>
                <a:ea typeface="맑은 고딕"/>
                <a:cs typeface="맑은 고딕"/>
              </a:rPr>
              <a:t>GAUSS 정규난수</a:t>
            </a:r>
          </a:p>
        </p:txBody>
      </p:sp>
      <p:sp>
        <p:nvSpPr>
          <p:cNvPr id="32" name="TextBox 31"/>
          <p:cNvSpPr txBox="1"/>
          <p:nvPr/>
        </p:nvSpPr>
        <p:spPr>
          <a:xfrm>
            <a:off x="7772400" y="4087368"/>
            <a:ext cx="1605320" cy="365760"/>
          </a:xfrm>
          <a:prstGeom prst="rect">
            <a:avLst/>
          </a:prstGeom>
          <a:noFill/>
        </p:spPr>
        <p:txBody>
          <a:bodyPr wrap="square" anchor="ctr" lIns="0" tIns="0" rIns="0" bIns="0">
            <a:noAutofit/>
          </a:bodyPr>
          <a:lstStyle/>
          <a:p>
            <a:pPr algn="l">
              <a:lnSpc>
                <a:spcPct val="115000"/>
              </a:lnSpc>
              <a:spcAft>
                <a:spcPts val="0"/>
              </a:spcAft>
            </a:pPr>
            <a:r>
              <a:rPr sz="1250" b="0" i="0" lang="ko-KR" altLang="en-US">
                <a:solidFill>
                  <a:srgbClr val="1B2740"/>
                </a:solidFill>
                <a:latin typeface="맑은 고딕"/>
                <a:ea typeface="맑은 고딕"/>
                <a:cs typeface="맑은 고딕"/>
              </a:rPr>
              <a:t>평균</a:t>
            </a:r>
          </a:p>
        </p:txBody>
      </p:sp>
      <p:sp>
        <p:nvSpPr>
          <p:cNvPr id="33" name="TextBox 32"/>
          <p:cNvSpPr txBox="1"/>
          <p:nvPr/>
        </p:nvSpPr>
        <p:spPr>
          <a:xfrm>
            <a:off x="9255556" y="4087368"/>
            <a:ext cx="1146657" cy="365760"/>
          </a:xfrm>
          <a:prstGeom prst="rect">
            <a:avLst/>
          </a:prstGeom>
          <a:noFill/>
        </p:spPr>
        <p:txBody>
          <a:bodyPr wrap="square" anchor="ctr" lIns="0" tIns="0" rIns="0" bIns="0">
            <a:noAutofit/>
          </a:bodyPr>
          <a:lstStyle/>
          <a:p>
            <a:pPr algn="r">
              <a:lnSpc>
                <a:spcPct val="115000"/>
              </a:lnSpc>
              <a:spcAft>
                <a:spcPts val="0"/>
              </a:spcAft>
            </a:pPr>
            <a:r>
              <a:rPr sz="1250" b="1" i="0" lang="ko-KR" altLang="en-US">
                <a:solidFill>
                  <a:srgbClr val="1B2740"/>
                </a:solidFill>
                <a:latin typeface="Arial"/>
                <a:ea typeface="맑은 고딕"/>
                <a:cs typeface="Arial"/>
              </a:rPr>
              <a:t>+0.004</a:t>
            </a:r>
          </a:p>
        </p:txBody>
      </p:sp>
      <p:sp>
        <p:nvSpPr>
          <p:cNvPr id="34" name="TextBox 33"/>
          <p:cNvSpPr txBox="1"/>
          <p:nvPr/>
        </p:nvSpPr>
        <p:spPr>
          <a:xfrm>
            <a:off x="10478658" y="4087368"/>
            <a:ext cx="1024493" cy="365760"/>
          </a:xfrm>
          <a:prstGeom prst="rect">
            <a:avLst/>
          </a:prstGeom>
          <a:noFill/>
        </p:spPr>
        <p:txBody>
          <a:bodyPr wrap="square" anchor="ctr" lIns="0" tIns="0" rIns="0" bIns="0">
            <a:noAutofit/>
          </a:bodyPr>
          <a:lstStyle/>
          <a:p>
            <a:pPr algn="r">
              <a:lnSpc>
                <a:spcPct val="115000"/>
              </a:lnSpc>
              <a:spcAft>
                <a:spcPts val="0"/>
              </a:spcAft>
            </a:pPr>
            <a:r>
              <a:rPr sz="1100" b="0" i="0" lang="ko-KR" altLang="en-US">
                <a:solidFill>
                  <a:srgbClr val="647089"/>
                </a:solidFill>
                <a:latin typeface="맑은 고딕"/>
                <a:ea typeface="맑은 고딕"/>
                <a:cs typeface="맑은 고딕"/>
              </a:rPr>
              <a:t>기준 0</a:t>
            </a:r>
          </a:p>
        </p:txBody>
      </p:sp>
      <p:cxnSp>
        <p:nvCxnSpPr>
          <p:cNvPr id="35" name="Connector 34"/>
          <p:cNvCxnSpPr/>
          <p:nvPr/>
        </p:nvCxnSpPr>
        <p:spPr>
          <a:xfrm>
            <a:off x="7726679" y="4453128"/>
            <a:ext cx="3822193"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772400" y="4453128"/>
            <a:ext cx="1605320" cy="365760"/>
          </a:xfrm>
          <a:prstGeom prst="rect">
            <a:avLst/>
          </a:prstGeom>
          <a:noFill/>
        </p:spPr>
        <p:txBody>
          <a:bodyPr wrap="square" anchor="ctr" lIns="0" tIns="0" rIns="0" bIns="0">
            <a:noAutofit/>
          </a:bodyPr>
          <a:lstStyle/>
          <a:p>
            <a:pPr algn="l">
              <a:lnSpc>
                <a:spcPct val="115000"/>
              </a:lnSpc>
              <a:spcAft>
                <a:spcPts val="0"/>
              </a:spcAft>
            </a:pPr>
            <a:r>
              <a:rPr sz="1250" b="0" i="0" lang="ko-KR" altLang="en-US">
                <a:solidFill>
                  <a:srgbClr val="1B2740"/>
                </a:solidFill>
                <a:latin typeface="맑은 고딕"/>
                <a:ea typeface="맑은 고딕"/>
                <a:cs typeface="맑은 고딕"/>
              </a:rPr>
              <a:t>표준편차</a:t>
            </a:r>
          </a:p>
        </p:txBody>
      </p:sp>
      <p:sp>
        <p:nvSpPr>
          <p:cNvPr id="37" name="TextBox 36"/>
          <p:cNvSpPr txBox="1"/>
          <p:nvPr/>
        </p:nvSpPr>
        <p:spPr>
          <a:xfrm>
            <a:off x="9255556" y="4453128"/>
            <a:ext cx="1146657" cy="365760"/>
          </a:xfrm>
          <a:prstGeom prst="rect">
            <a:avLst/>
          </a:prstGeom>
          <a:noFill/>
        </p:spPr>
        <p:txBody>
          <a:bodyPr wrap="square" anchor="ctr" lIns="0" tIns="0" rIns="0" bIns="0">
            <a:noAutofit/>
          </a:bodyPr>
          <a:lstStyle/>
          <a:p>
            <a:pPr algn="r">
              <a:lnSpc>
                <a:spcPct val="115000"/>
              </a:lnSpc>
              <a:spcAft>
                <a:spcPts val="0"/>
              </a:spcAft>
            </a:pPr>
            <a:r>
              <a:rPr sz="1250" b="1" i="0" lang="ko-KR" altLang="en-US">
                <a:solidFill>
                  <a:srgbClr val="1B2740"/>
                </a:solidFill>
                <a:latin typeface="Arial"/>
                <a:ea typeface="맑은 고딕"/>
                <a:cs typeface="Arial"/>
              </a:rPr>
              <a:t>0.998</a:t>
            </a:r>
          </a:p>
        </p:txBody>
      </p:sp>
      <p:sp>
        <p:nvSpPr>
          <p:cNvPr id="38" name="TextBox 37"/>
          <p:cNvSpPr txBox="1"/>
          <p:nvPr/>
        </p:nvSpPr>
        <p:spPr>
          <a:xfrm>
            <a:off x="10478658" y="4453128"/>
            <a:ext cx="1024493" cy="365760"/>
          </a:xfrm>
          <a:prstGeom prst="rect">
            <a:avLst/>
          </a:prstGeom>
          <a:noFill/>
        </p:spPr>
        <p:txBody>
          <a:bodyPr wrap="square" anchor="ctr" lIns="0" tIns="0" rIns="0" bIns="0">
            <a:noAutofit/>
          </a:bodyPr>
          <a:lstStyle/>
          <a:p>
            <a:pPr algn="r">
              <a:lnSpc>
                <a:spcPct val="115000"/>
              </a:lnSpc>
              <a:spcAft>
                <a:spcPts val="0"/>
              </a:spcAft>
            </a:pPr>
            <a:r>
              <a:rPr sz="1100" b="0" i="0" lang="ko-KR" altLang="en-US">
                <a:solidFill>
                  <a:srgbClr val="647089"/>
                </a:solidFill>
                <a:latin typeface="맑은 고딕"/>
                <a:ea typeface="맑은 고딕"/>
                <a:cs typeface="맑은 고딕"/>
              </a:rPr>
              <a:t>기준 1</a:t>
            </a:r>
          </a:p>
        </p:txBody>
      </p:sp>
      <p:cxnSp>
        <p:nvCxnSpPr>
          <p:cNvPr id="39" name="Connector 38"/>
          <p:cNvCxnSpPr/>
          <p:nvPr/>
        </p:nvCxnSpPr>
        <p:spPr>
          <a:xfrm>
            <a:off x="7726679" y="4818888"/>
            <a:ext cx="3822193"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726679" y="5815584"/>
            <a:ext cx="1819656" cy="329184"/>
          </a:xfrm>
          <a:prstGeom prst="roundRect">
            <a:avLst>
              <a:gd name="adj" fmla="val 1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63255" y="5815584"/>
            <a:ext cx="1746504" cy="329184"/>
          </a:xfrm>
          <a:prstGeom prst="rect">
            <a:avLst/>
          </a:prstGeom>
          <a:noFill/>
        </p:spPr>
        <p:txBody>
          <a:bodyPr wrap="square" anchor="ctr" lIns="0" tIns="0" rIns="0" bIns="0">
            <a:noAutofit/>
          </a:bodyPr>
          <a:lstStyle/>
          <a:p>
            <a:pPr algn="ctr">
              <a:lnSpc>
                <a:spcPct val="110000"/>
              </a:lnSpc>
              <a:spcAft>
                <a:spcPts val="0"/>
              </a:spcAft>
            </a:pPr>
            <a:r>
              <a:rPr sz="1150" b="1" i="0" lang="ko-KR" altLang="en-US">
                <a:solidFill>
                  <a:srgbClr val="FFFFFF"/>
                </a:solidFill>
                <a:latin typeface="맑은 고딕"/>
                <a:ea typeface="맑은 고딕"/>
                <a:cs typeface="맑은 고딕"/>
              </a:rPr>
              <a:t>UNIRAN  PASS</a:t>
            </a:r>
          </a:p>
        </p:txBody>
      </p:sp>
      <p:sp>
        <p:nvSpPr>
          <p:cNvPr id="42" name="Rounded Rectangle 41"/>
          <p:cNvSpPr/>
          <p:nvPr/>
        </p:nvSpPr>
        <p:spPr>
          <a:xfrm>
            <a:off x="9729216" y="5815584"/>
            <a:ext cx="1819656" cy="329184"/>
          </a:xfrm>
          <a:prstGeom prst="roundRect">
            <a:avLst>
              <a:gd name="adj" fmla="val 1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65792" y="5815584"/>
            <a:ext cx="1746504" cy="329184"/>
          </a:xfrm>
          <a:prstGeom prst="rect">
            <a:avLst/>
          </a:prstGeom>
          <a:noFill/>
        </p:spPr>
        <p:txBody>
          <a:bodyPr wrap="square" anchor="ctr" lIns="0" tIns="0" rIns="0" bIns="0">
            <a:noAutofit/>
          </a:bodyPr>
          <a:lstStyle/>
          <a:p>
            <a:pPr algn="ctr">
              <a:lnSpc>
                <a:spcPct val="110000"/>
              </a:lnSpc>
              <a:spcAft>
                <a:spcPts val="0"/>
              </a:spcAft>
            </a:pPr>
            <a:r>
              <a:rPr sz="1150" b="1" i="0" lang="ko-KR" altLang="en-US">
                <a:solidFill>
                  <a:srgbClr val="FFFFFF"/>
                </a:solidFill>
                <a:latin typeface="맑은 고딕"/>
                <a:ea typeface="맑은 고딕"/>
                <a:cs typeface="맑은 고딕"/>
              </a:rPr>
              <a:t>GAUSS  PASS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06. C 코딩 실습</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6.3 실습 2.2  플롯 오차의 표준편차가 이론값 p 와 맞았습니다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19</a:t>
            </a:r>
          </a:p>
        </p:txBody>
      </p:sp>
      <p:sp>
        <p:nvSpPr>
          <p:cNvPr id="7" name="Rectangle 6"/>
          <p:cNvSpPr/>
          <p:nvPr/>
        </p:nvSpPr>
        <p:spPr>
          <a:xfrm>
            <a:off x="640080" y="1965960"/>
            <a:ext cx="3483864" cy="1005840"/>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1" y="2093976"/>
            <a:ext cx="777240" cy="292608"/>
          </a:xfrm>
          <a:prstGeom prst="roundRect">
            <a:avLst>
              <a:gd name="adj" fmla="val 1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093976"/>
            <a:ext cx="740664" cy="292608"/>
          </a:xfrm>
          <a:prstGeom prst="rect">
            <a:avLst/>
          </a:prstGeom>
          <a:noFill/>
        </p:spPr>
        <p:txBody>
          <a:bodyPr wrap="square" anchor="ctr" lIns="0" tIns="0" rIns="0" bIns="0">
            <a:noAutofit/>
          </a:bodyPr>
          <a:lstStyle/>
          <a:p>
            <a:pPr algn="ctr">
              <a:lnSpc>
                <a:spcPct val="110000"/>
              </a:lnSpc>
              <a:spcAft>
                <a:spcPts val="0"/>
              </a:spcAft>
            </a:pPr>
            <a:r>
              <a:rPr sz="1150" b="1" i="0" lang="ko-KR" altLang="en-US">
                <a:solidFill>
                  <a:srgbClr val="FFFFFF"/>
                </a:solidFill>
                <a:latin typeface="맑은 고딕"/>
                <a:ea typeface="맑은 고딕"/>
                <a:cs typeface="맑은 고딕"/>
              </a:rPr>
              <a:t>거리</a:t>
            </a:r>
          </a:p>
        </p:txBody>
      </p:sp>
      <p:sp>
        <p:nvSpPr>
          <p:cNvPr id="10" name="TextBox 9"/>
          <p:cNvSpPr txBox="1"/>
          <p:nvPr/>
        </p:nvSpPr>
        <p:spPr>
          <a:xfrm>
            <a:off x="804671" y="2432304"/>
            <a:ext cx="1783080" cy="475488"/>
          </a:xfrm>
          <a:prstGeom prst="rect">
            <a:avLst/>
          </a:prstGeom>
          <a:noFill/>
        </p:spPr>
        <p:txBody>
          <a:bodyPr wrap="square" anchor="ctr" lIns="0" tIns="0" rIns="0" bIns="0">
            <a:noAutofit/>
          </a:bodyPr>
          <a:lstStyle/>
          <a:p>
            <a:pPr algn="l">
              <a:lnSpc>
                <a:spcPct val="115000"/>
              </a:lnSpc>
              <a:spcAft>
                <a:spcPts val="0"/>
              </a:spcAft>
            </a:pPr>
            <a:r>
              <a:rPr sz="2400" b="1" i="0" lang="ko-KR" altLang="en-US">
                <a:solidFill>
                  <a:srgbClr val="1B2740"/>
                </a:solidFill>
                <a:latin typeface="Arial"/>
                <a:ea typeface="맑은 고딕"/>
                <a:cs typeface="Arial"/>
              </a:rPr>
              <a:t>4.80 m</a:t>
            </a:r>
          </a:p>
        </p:txBody>
      </p:sp>
      <p:sp>
        <p:nvSpPr>
          <p:cNvPr id="11" name="TextBox 10"/>
          <p:cNvSpPr txBox="1"/>
          <p:nvPr/>
        </p:nvSpPr>
        <p:spPr>
          <a:xfrm>
            <a:off x="2514600" y="2075688"/>
            <a:ext cx="1444752" cy="347472"/>
          </a:xfrm>
          <a:prstGeom prst="rect">
            <a:avLst/>
          </a:prstGeom>
          <a:noFill/>
        </p:spPr>
        <p:txBody>
          <a:bodyPr wrap="square" anchor="ctr" lIns="0" tIns="0" rIns="0" bIns="0">
            <a:noAutofit/>
          </a:bodyPr>
          <a:lstStyle/>
          <a:p>
            <a:pPr algn="r">
              <a:lnSpc>
                <a:spcPct val="115000"/>
              </a:lnSpc>
              <a:spcAft>
                <a:spcPts val="0"/>
              </a:spcAft>
            </a:pPr>
            <a:r>
              <a:rPr sz="1200" b="0" i="0" lang="ko-KR" altLang="en-US">
                <a:solidFill>
                  <a:srgbClr val="4A5A7A"/>
                </a:solidFill>
                <a:latin typeface="맑은 고딕"/>
                <a:ea typeface="맑은 고딕"/>
                <a:cs typeface="맑은 고딕"/>
              </a:rPr>
              <a:t>이론 4.74 m</a:t>
            </a:r>
          </a:p>
        </p:txBody>
      </p:sp>
      <p:sp>
        <p:nvSpPr>
          <p:cNvPr id="12" name="TextBox 11"/>
          <p:cNvSpPr txBox="1"/>
          <p:nvPr/>
        </p:nvSpPr>
        <p:spPr>
          <a:xfrm>
            <a:off x="2514600" y="2450592"/>
            <a:ext cx="1444752" cy="420624"/>
          </a:xfrm>
          <a:prstGeom prst="rect">
            <a:avLst/>
          </a:prstGeom>
          <a:noFill/>
        </p:spPr>
        <p:txBody>
          <a:bodyPr wrap="square" anchor="ctr" lIns="0" tIns="0" rIns="0" bIns="0">
            <a:noAutofit/>
          </a:bodyPr>
          <a:lstStyle/>
          <a:p>
            <a:pPr algn="r">
              <a:lnSpc>
                <a:spcPct val="115000"/>
              </a:lnSpc>
              <a:spcAft>
                <a:spcPts val="0"/>
              </a:spcAft>
            </a:pPr>
            <a:r>
              <a:rPr sz="1700" b="1" i="0" lang="ko-KR" altLang="en-US">
                <a:solidFill>
                  <a:srgbClr val="1B2740"/>
                </a:solidFill>
                <a:latin typeface="Arial"/>
                <a:ea typeface="맑은 고딕"/>
                <a:cs typeface="Arial"/>
              </a:rPr>
              <a:t>× 1.013</a:t>
            </a:r>
          </a:p>
        </p:txBody>
      </p:sp>
      <p:sp>
        <p:nvSpPr>
          <p:cNvPr id="13" name="Rectangle 12"/>
          <p:cNvSpPr/>
          <p:nvPr/>
        </p:nvSpPr>
        <p:spPr>
          <a:xfrm>
            <a:off x="4352544" y="1965960"/>
            <a:ext cx="3483864" cy="1005840"/>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17136" y="2093976"/>
            <a:ext cx="777240" cy="292608"/>
          </a:xfrm>
          <a:prstGeom prst="roundRect">
            <a:avLst>
              <a:gd name="adj" fmla="val 18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35424" y="2093976"/>
            <a:ext cx="740664" cy="292608"/>
          </a:xfrm>
          <a:prstGeom prst="rect">
            <a:avLst/>
          </a:prstGeom>
          <a:noFill/>
        </p:spPr>
        <p:txBody>
          <a:bodyPr wrap="square" anchor="ctr" lIns="0" tIns="0" rIns="0" bIns="0">
            <a:noAutofit/>
          </a:bodyPr>
          <a:lstStyle/>
          <a:p>
            <a:pPr algn="ctr">
              <a:lnSpc>
                <a:spcPct val="110000"/>
              </a:lnSpc>
              <a:spcAft>
                <a:spcPts val="0"/>
              </a:spcAft>
            </a:pPr>
            <a:r>
              <a:rPr sz="1150" b="1" i="0" lang="ko-KR" altLang="en-US">
                <a:solidFill>
                  <a:srgbClr val="FFFFFF"/>
                </a:solidFill>
                <a:latin typeface="맑은 고딕"/>
                <a:ea typeface="맑은 고딕"/>
                <a:cs typeface="맑은 고딕"/>
              </a:rPr>
              <a:t>방위각</a:t>
            </a:r>
          </a:p>
        </p:txBody>
      </p:sp>
      <p:sp>
        <p:nvSpPr>
          <p:cNvPr id="16" name="TextBox 15"/>
          <p:cNvSpPr txBox="1"/>
          <p:nvPr/>
        </p:nvSpPr>
        <p:spPr>
          <a:xfrm>
            <a:off x="4517136" y="2432304"/>
            <a:ext cx="1783080" cy="475488"/>
          </a:xfrm>
          <a:prstGeom prst="rect">
            <a:avLst/>
          </a:prstGeom>
          <a:noFill/>
        </p:spPr>
        <p:txBody>
          <a:bodyPr wrap="square" anchor="ctr" lIns="0" tIns="0" rIns="0" bIns="0">
            <a:noAutofit/>
          </a:bodyPr>
          <a:lstStyle/>
          <a:p>
            <a:pPr algn="l">
              <a:lnSpc>
                <a:spcPct val="115000"/>
              </a:lnSpc>
              <a:spcAft>
                <a:spcPts val="0"/>
              </a:spcAft>
            </a:pPr>
            <a:r>
              <a:rPr sz="2400" b="1" i="0" lang="ko-KR" altLang="en-US">
                <a:solidFill>
                  <a:srgbClr val="1B2740"/>
                </a:solidFill>
                <a:latin typeface="Arial"/>
                <a:ea typeface="맑은 고딕"/>
                <a:cs typeface="Arial"/>
              </a:rPr>
              <a:t>0.476°</a:t>
            </a:r>
          </a:p>
        </p:txBody>
      </p:sp>
      <p:sp>
        <p:nvSpPr>
          <p:cNvPr id="17" name="TextBox 16"/>
          <p:cNvSpPr txBox="1"/>
          <p:nvPr/>
        </p:nvSpPr>
        <p:spPr>
          <a:xfrm>
            <a:off x="6227064" y="2075688"/>
            <a:ext cx="1444752" cy="347472"/>
          </a:xfrm>
          <a:prstGeom prst="rect">
            <a:avLst/>
          </a:prstGeom>
          <a:noFill/>
        </p:spPr>
        <p:txBody>
          <a:bodyPr wrap="square" anchor="ctr" lIns="0" tIns="0" rIns="0" bIns="0">
            <a:noAutofit/>
          </a:bodyPr>
          <a:lstStyle/>
          <a:p>
            <a:pPr algn="r">
              <a:lnSpc>
                <a:spcPct val="115000"/>
              </a:lnSpc>
              <a:spcAft>
                <a:spcPts val="0"/>
              </a:spcAft>
            </a:pPr>
            <a:r>
              <a:rPr sz="1200" b="0" i="0" lang="ko-KR" altLang="en-US">
                <a:solidFill>
                  <a:srgbClr val="4A5A7A"/>
                </a:solidFill>
                <a:latin typeface="맑은 고딕"/>
                <a:ea typeface="맑은 고딕"/>
                <a:cs typeface="맑은 고딕"/>
              </a:rPr>
              <a:t>이론 0.478°</a:t>
            </a:r>
          </a:p>
        </p:txBody>
      </p:sp>
      <p:sp>
        <p:nvSpPr>
          <p:cNvPr id="18" name="TextBox 17"/>
          <p:cNvSpPr txBox="1"/>
          <p:nvPr/>
        </p:nvSpPr>
        <p:spPr>
          <a:xfrm>
            <a:off x="6227064" y="2450592"/>
            <a:ext cx="1444752" cy="420624"/>
          </a:xfrm>
          <a:prstGeom prst="rect">
            <a:avLst/>
          </a:prstGeom>
          <a:noFill/>
        </p:spPr>
        <p:txBody>
          <a:bodyPr wrap="square" anchor="ctr" lIns="0" tIns="0" rIns="0" bIns="0">
            <a:noAutofit/>
          </a:bodyPr>
          <a:lstStyle/>
          <a:p>
            <a:pPr algn="r">
              <a:lnSpc>
                <a:spcPct val="115000"/>
              </a:lnSpc>
              <a:spcAft>
                <a:spcPts val="0"/>
              </a:spcAft>
            </a:pPr>
            <a:r>
              <a:rPr sz="1700" b="1" i="0" lang="ko-KR" altLang="en-US">
                <a:solidFill>
                  <a:srgbClr val="1B2740"/>
                </a:solidFill>
                <a:latin typeface="Arial"/>
                <a:ea typeface="맑은 고딕"/>
                <a:cs typeface="Arial"/>
              </a:rPr>
              <a:t>× 0.996</a:t>
            </a:r>
          </a:p>
        </p:txBody>
      </p:sp>
      <p:sp>
        <p:nvSpPr>
          <p:cNvPr id="19" name="Rectangle 18"/>
          <p:cNvSpPr/>
          <p:nvPr/>
        </p:nvSpPr>
        <p:spPr>
          <a:xfrm>
            <a:off x="8065008" y="1965960"/>
            <a:ext cx="3483864" cy="1005840"/>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229600" y="2093976"/>
            <a:ext cx="777240" cy="292608"/>
          </a:xfrm>
          <a:prstGeom prst="roundRect">
            <a:avLst>
              <a:gd name="adj" fmla="val 1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47888" y="2093976"/>
            <a:ext cx="740664" cy="292608"/>
          </a:xfrm>
          <a:prstGeom prst="rect">
            <a:avLst/>
          </a:prstGeom>
          <a:noFill/>
        </p:spPr>
        <p:txBody>
          <a:bodyPr wrap="square" anchor="ctr" lIns="0" tIns="0" rIns="0" bIns="0">
            <a:noAutofit/>
          </a:bodyPr>
          <a:lstStyle/>
          <a:p>
            <a:pPr algn="ctr">
              <a:lnSpc>
                <a:spcPct val="110000"/>
              </a:lnSpc>
              <a:spcAft>
                <a:spcPts val="0"/>
              </a:spcAft>
            </a:pPr>
            <a:r>
              <a:rPr sz="1150" b="1" i="0" lang="ko-KR" altLang="en-US">
                <a:solidFill>
                  <a:srgbClr val="FFFFFF"/>
                </a:solidFill>
                <a:latin typeface="맑은 고딕"/>
                <a:ea typeface="맑은 고딕"/>
                <a:cs typeface="맑은 고딕"/>
              </a:rPr>
              <a:t>고각</a:t>
            </a:r>
          </a:p>
        </p:txBody>
      </p:sp>
      <p:sp>
        <p:nvSpPr>
          <p:cNvPr id="22" name="TextBox 21"/>
          <p:cNvSpPr txBox="1"/>
          <p:nvPr/>
        </p:nvSpPr>
        <p:spPr>
          <a:xfrm>
            <a:off x="8229600" y="2432304"/>
            <a:ext cx="1783080" cy="475488"/>
          </a:xfrm>
          <a:prstGeom prst="rect">
            <a:avLst/>
          </a:prstGeom>
          <a:noFill/>
        </p:spPr>
        <p:txBody>
          <a:bodyPr wrap="square" anchor="ctr" lIns="0" tIns="0" rIns="0" bIns="0">
            <a:noAutofit/>
          </a:bodyPr>
          <a:lstStyle/>
          <a:p>
            <a:pPr algn="l">
              <a:lnSpc>
                <a:spcPct val="115000"/>
              </a:lnSpc>
              <a:spcAft>
                <a:spcPts val="0"/>
              </a:spcAft>
            </a:pPr>
            <a:r>
              <a:rPr sz="2400" b="1" i="0" lang="ko-KR" altLang="en-US">
                <a:solidFill>
                  <a:srgbClr val="1B2740"/>
                </a:solidFill>
                <a:latin typeface="Arial"/>
                <a:ea typeface="맑은 고딕"/>
                <a:cs typeface="Arial"/>
              </a:rPr>
              <a:t>0.493°</a:t>
            </a:r>
          </a:p>
        </p:txBody>
      </p:sp>
      <p:sp>
        <p:nvSpPr>
          <p:cNvPr id="23" name="TextBox 22"/>
          <p:cNvSpPr txBox="1"/>
          <p:nvPr/>
        </p:nvSpPr>
        <p:spPr>
          <a:xfrm>
            <a:off x="9939528" y="2075688"/>
            <a:ext cx="1444752" cy="347472"/>
          </a:xfrm>
          <a:prstGeom prst="rect">
            <a:avLst/>
          </a:prstGeom>
          <a:noFill/>
        </p:spPr>
        <p:txBody>
          <a:bodyPr wrap="square" anchor="ctr" lIns="0" tIns="0" rIns="0" bIns="0">
            <a:noAutofit/>
          </a:bodyPr>
          <a:lstStyle/>
          <a:p>
            <a:pPr algn="r">
              <a:lnSpc>
                <a:spcPct val="115000"/>
              </a:lnSpc>
              <a:spcAft>
                <a:spcPts val="0"/>
              </a:spcAft>
            </a:pPr>
            <a:r>
              <a:rPr sz="1200" b="0" i="0" lang="ko-KR" altLang="en-US">
                <a:solidFill>
                  <a:srgbClr val="4A5A7A"/>
                </a:solidFill>
                <a:latin typeface="맑은 고딕"/>
                <a:ea typeface="맑은 고딕"/>
                <a:cs typeface="맑은 고딕"/>
              </a:rPr>
              <a:t>이론 0.494°</a:t>
            </a:r>
          </a:p>
        </p:txBody>
      </p:sp>
      <p:sp>
        <p:nvSpPr>
          <p:cNvPr id="24" name="TextBox 23"/>
          <p:cNvSpPr txBox="1"/>
          <p:nvPr/>
        </p:nvSpPr>
        <p:spPr>
          <a:xfrm>
            <a:off x="9939528" y="2450592"/>
            <a:ext cx="1444752" cy="420624"/>
          </a:xfrm>
          <a:prstGeom prst="rect">
            <a:avLst/>
          </a:prstGeom>
          <a:noFill/>
        </p:spPr>
        <p:txBody>
          <a:bodyPr wrap="square" anchor="ctr" lIns="0" tIns="0" rIns="0" bIns="0">
            <a:noAutofit/>
          </a:bodyPr>
          <a:lstStyle/>
          <a:p>
            <a:pPr algn="r">
              <a:lnSpc>
                <a:spcPct val="115000"/>
              </a:lnSpc>
              <a:spcAft>
                <a:spcPts val="0"/>
              </a:spcAft>
            </a:pPr>
            <a:r>
              <a:rPr sz="1700" b="1" i="0" lang="ko-KR" altLang="en-US">
                <a:solidFill>
                  <a:srgbClr val="1B2740"/>
                </a:solidFill>
                <a:latin typeface="Arial"/>
                <a:ea typeface="맑은 고딕"/>
                <a:cs typeface="Arial"/>
              </a:rPr>
              <a:t>× 0.998</a:t>
            </a:r>
          </a:p>
        </p:txBody>
      </p:sp>
      <p:sp>
        <p:nvSpPr>
          <p:cNvPr id="25" name="TextBox 24"/>
          <p:cNvSpPr txBox="1"/>
          <p:nvPr/>
        </p:nvSpPr>
        <p:spPr>
          <a:xfrm>
            <a:off x="640080" y="3044952"/>
            <a:ext cx="9692640" cy="310896"/>
          </a:xfrm>
          <a:prstGeom prst="rect">
            <a:avLst/>
          </a:prstGeom>
          <a:noFill/>
        </p:spPr>
        <p:txBody>
          <a:bodyPr wrap="square" anchor="ctr" lIns="0" tIns="0" rIns="0" bIns="0">
            <a:noAutofit/>
          </a:bodyPr>
          <a:lstStyle/>
          <a:p>
            <a:pPr algn="l">
              <a:lnSpc>
                <a:spcPct val="115000"/>
              </a:lnSpc>
              <a:spcAft>
                <a:spcPts val="0"/>
              </a:spcAft>
            </a:pPr>
            <a:r>
              <a:rPr sz="1200" b="1" i="0" lang="ko-KR" altLang="en-US">
                <a:solidFill>
                  <a:srgbClr val="1B2740"/>
                </a:solidFill>
                <a:latin typeface="맑은 고딕"/>
                <a:ea typeface="맑은 고딕"/>
                <a:cs typeface="맑은 고딕"/>
              </a:rPr>
              <a:t>실제 ÷ 이론</a:t>
            </a:r>
            <a:r>
              <a:rPr sz="1200" b="0" i="0" lang="ko-KR" altLang="en-US">
                <a:solidFill>
                  <a:srgbClr val="4A5A7A"/>
                </a:solidFill>
                <a:latin typeface="맑은 고딕"/>
                <a:ea typeface="맑은 고딕"/>
                <a:cs typeface="맑은 고딕"/>
              </a:rPr>
              <a:t>  이 모두 1 근처 (기준 0.9 ~ 1.1).   표본 3,000개면 ±1.3 % 흔들림은 정상</a:t>
            </a:r>
          </a:p>
        </p:txBody>
      </p:sp>
      <p:sp>
        <p:nvSpPr>
          <p:cNvPr id="26" name="Rounded Rectangle 25"/>
          <p:cNvSpPr/>
          <p:nvPr/>
        </p:nvSpPr>
        <p:spPr>
          <a:xfrm>
            <a:off x="10469880" y="3063240"/>
            <a:ext cx="1078992" cy="274320"/>
          </a:xfrm>
          <a:prstGeom prst="roundRect">
            <a:avLst>
              <a:gd name="adj" fmla="val 1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06455" y="3063240"/>
            <a:ext cx="1005839" cy="274320"/>
          </a:xfrm>
          <a:prstGeom prst="rect">
            <a:avLst/>
          </a:prstGeom>
          <a:noFill/>
        </p:spPr>
        <p:txBody>
          <a:bodyPr wrap="square" anchor="ctr" lIns="0" tIns="0" rIns="0" bIns="0">
            <a:noAutofit/>
          </a:bodyPr>
          <a:lstStyle/>
          <a:p>
            <a:pPr algn="ctr">
              <a:lnSpc>
                <a:spcPct val="110000"/>
              </a:lnSpc>
              <a:spcAft>
                <a:spcPts val="0"/>
              </a:spcAft>
            </a:pPr>
            <a:r>
              <a:rPr sz="1100" b="1" i="0" lang="ko-KR" altLang="en-US">
                <a:solidFill>
                  <a:srgbClr val="FFFFFF"/>
                </a:solidFill>
                <a:latin typeface="맑은 고딕"/>
                <a:ea typeface="맑은 고딕"/>
                <a:cs typeface="맑은 고딕"/>
              </a:rPr>
              <a:t>PASS</a:t>
            </a:r>
          </a:p>
        </p:txBody>
      </p:sp>
      <p:pic>
        <p:nvPicPr>
          <p:cNvPr id="28" name="Picture 27" descr="f13_v3.png"/>
          <p:cNvPicPr>
            <a:picLocks noChangeAspect="1"/>
          </p:cNvPicPr>
          <p:nvPr/>
        </p:nvPicPr>
        <p:blipFill>
          <a:blip r:embed="rId2"/>
          <a:stretch>
            <a:fillRect/>
          </a:stretch>
        </p:blipFill>
        <p:spPr>
          <a:xfrm>
            <a:off x="790956" y="3419856"/>
            <a:ext cx="10607040" cy="278892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06. C 코딩 실습</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6.4 실습 2.3  클러터 3,000개가 FOV 안에 고르게 퍼졌습니다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20</a:t>
            </a:r>
          </a:p>
        </p:txBody>
      </p:sp>
      <p:pic>
        <p:nvPicPr>
          <p:cNvPr id="7" name="Picture 6" descr="f14_v3.png"/>
          <p:cNvPicPr>
            <a:picLocks noChangeAspect="1"/>
          </p:cNvPicPr>
          <p:nvPr/>
        </p:nvPicPr>
        <p:blipFill>
          <a:blip r:embed="rId2"/>
          <a:stretch>
            <a:fillRect/>
          </a:stretch>
        </p:blipFill>
        <p:spPr>
          <a:xfrm>
            <a:off x="790956" y="1901952"/>
            <a:ext cx="10607040" cy="2880360"/>
          </a:xfrm>
          <a:prstGeom prst="rect">
            <a:avLst/>
          </a:prstGeom>
        </p:spPr>
      </p:pic>
      <p:sp>
        <p:nvSpPr>
          <p:cNvPr id="8" name="Rectangle 7"/>
          <p:cNvSpPr/>
          <p:nvPr/>
        </p:nvSpPr>
        <p:spPr>
          <a:xfrm>
            <a:off x="640080" y="4956048"/>
            <a:ext cx="2331720" cy="914400"/>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1" y="5010912"/>
            <a:ext cx="2002536" cy="310896"/>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거리</a:t>
            </a:r>
            <a:r>
              <a:rPr sz="1100" b="0" i="0" lang="ko-KR" altLang="en-US">
                <a:solidFill>
                  <a:srgbClr val="4A5A7A"/>
                </a:solidFill>
                <a:latin typeface="맑은 고딕"/>
                <a:ea typeface="맑은 고딕"/>
                <a:cs typeface="맑은 고딕"/>
              </a:rPr>
              <a:t>  카이제곱</a:t>
            </a:r>
          </a:p>
        </p:txBody>
      </p:sp>
      <p:sp>
        <p:nvSpPr>
          <p:cNvPr id="10" name="TextBox 9"/>
          <p:cNvSpPr txBox="1"/>
          <p:nvPr/>
        </p:nvSpPr>
        <p:spPr>
          <a:xfrm>
            <a:off x="804671" y="5340096"/>
            <a:ext cx="1143000" cy="457200"/>
          </a:xfrm>
          <a:prstGeom prst="rect">
            <a:avLst/>
          </a:prstGeom>
          <a:noFill/>
        </p:spPr>
        <p:txBody>
          <a:bodyPr wrap="square" anchor="ctr" lIns="0" tIns="0" rIns="0" bIns="0">
            <a:noAutofit/>
          </a:bodyPr>
          <a:lstStyle/>
          <a:p>
            <a:pPr algn="l">
              <a:lnSpc>
                <a:spcPct val="115000"/>
              </a:lnSpc>
              <a:spcAft>
                <a:spcPts val="0"/>
              </a:spcAft>
            </a:pPr>
            <a:r>
              <a:rPr sz="2200" b="1" i="0" lang="ko-KR" altLang="en-US">
                <a:solidFill>
                  <a:srgbClr val="1B2740"/>
                </a:solidFill>
                <a:latin typeface="Arial"/>
                <a:ea typeface="맑은 고딕"/>
                <a:cs typeface="Arial"/>
              </a:rPr>
              <a:t>5.91</a:t>
            </a:r>
          </a:p>
        </p:txBody>
      </p:sp>
      <p:sp>
        <p:nvSpPr>
          <p:cNvPr id="11" name="TextBox 10"/>
          <p:cNvSpPr txBox="1"/>
          <p:nvPr/>
        </p:nvSpPr>
        <p:spPr>
          <a:xfrm>
            <a:off x="1828800" y="5340096"/>
            <a:ext cx="978407" cy="457200"/>
          </a:xfrm>
          <a:prstGeom prst="rect">
            <a:avLst/>
          </a:prstGeom>
          <a:noFill/>
        </p:spPr>
        <p:txBody>
          <a:bodyPr wrap="square" anchor="ctr" lIns="0" tIns="0" rIns="0" bIns="0">
            <a:noAutofit/>
          </a:bodyPr>
          <a:lstStyle/>
          <a:p>
            <a:pPr algn="r">
              <a:lnSpc>
                <a:spcPct val="115000"/>
              </a:lnSpc>
              <a:spcAft>
                <a:spcPts val="0"/>
              </a:spcAft>
            </a:pPr>
            <a:r>
              <a:rPr sz="1300" b="0" i="0" lang="ko-KR" altLang="en-US">
                <a:solidFill>
                  <a:srgbClr val="4A5A7A"/>
                </a:solidFill>
                <a:latin typeface="Arial"/>
                <a:ea typeface="맑은 고딕"/>
                <a:cs typeface="Arial"/>
              </a:rPr>
              <a:t>&lt; 21.67</a:t>
            </a:r>
          </a:p>
        </p:txBody>
      </p:sp>
      <p:sp>
        <p:nvSpPr>
          <p:cNvPr id="12" name="Rectangle 11"/>
          <p:cNvSpPr/>
          <p:nvPr/>
        </p:nvSpPr>
        <p:spPr>
          <a:xfrm>
            <a:off x="3154680" y="4956048"/>
            <a:ext cx="2331720" cy="914400"/>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9272" y="5010912"/>
            <a:ext cx="2002536" cy="310896"/>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방위각</a:t>
            </a:r>
            <a:r>
              <a:rPr sz="1100" b="0" i="0" lang="ko-KR" altLang="en-US">
                <a:solidFill>
                  <a:srgbClr val="4A5A7A"/>
                </a:solidFill>
                <a:latin typeface="맑은 고딕"/>
                <a:ea typeface="맑은 고딕"/>
                <a:cs typeface="맑은 고딕"/>
              </a:rPr>
              <a:t>  카이제곱</a:t>
            </a:r>
          </a:p>
        </p:txBody>
      </p:sp>
      <p:sp>
        <p:nvSpPr>
          <p:cNvPr id="14" name="TextBox 13"/>
          <p:cNvSpPr txBox="1"/>
          <p:nvPr/>
        </p:nvSpPr>
        <p:spPr>
          <a:xfrm>
            <a:off x="3319272" y="5340096"/>
            <a:ext cx="1143000" cy="457200"/>
          </a:xfrm>
          <a:prstGeom prst="rect">
            <a:avLst/>
          </a:prstGeom>
          <a:noFill/>
        </p:spPr>
        <p:txBody>
          <a:bodyPr wrap="square" anchor="ctr" lIns="0" tIns="0" rIns="0" bIns="0">
            <a:noAutofit/>
          </a:bodyPr>
          <a:lstStyle/>
          <a:p>
            <a:pPr algn="l">
              <a:lnSpc>
                <a:spcPct val="115000"/>
              </a:lnSpc>
              <a:spcAft>
                <a:spcPts val="0"/>
              </a:spcAft>
            </a:pPr>
            <a:r>
              <a:rPr sz="2200" b="1" i="0" lang="ko-KR" altLang="en-US">
                <a:solidFill>
                  <a:srgbClr val="1B2740"/>
                </a:solidFill>
                <a:latin typeface="Arial"/>
                <a:ea typeface="맑은 고딕"/>
                <a:cs typeface="Arial"/>
              </a:rPr>
              <a:t>5.09</a:t>
            </a:r>
          </a:p>
        </p:txBody>
      </p:sp>
      <p:sp>
        <p:nvSpPr>
          <p:cNvPr id="15" name="TextBox 14"/>
          <p:cNvSpPr txBox="1"/>
          <p:nvPr/>
        </p:nvSpPr>
        <p:spPr>
          <a:xfrm>
            <a:off x="4343400" y="5340096"/>
            <a:ext cx="978407" cy="457200"/>
          </a:xfrm>
          <a:prstGeom prst="rect">
            <a:avLst/>
          </a:prstGeom>
          <a:noFill/>
        </p:spPr>
        <p:txBody>
          <a:bodyPr wrap="square" anchor="ctr" lIns="0" tIns="0" rIns="0" bIns="0">
            <a:noAutofit/>
          </a:bodyPr>
          <a:lstStyle/>
          <a:p>
            <a:pPr algn="r">
              <a:lnSpc>
                <a:spcPct val="115000"/>
              </a:lnSpc>
              <a:spcAft>
                <a:spcPts val="0"/>
              </a:spcAft>
            </a:pPr>
            <a:r>
              <a:rPr sz="1300" b="0" i="0" lang="ko-KR" altLang="en-US">
                <a:solidFill>
                  <a:srgbClr val="4A5A7A"/>
                </a:solidFill>
                <a:latin typeface="Arial"/>
                <a:ea typeface="맑은 고딕"/>
                <a:cs typeface="Arial"/>
              </a:rPr>
              <a:t>&lt; 21.67</a:t>
            </a:r>
          </a:p>
        </p:txBody>
      </p:sp>
      <p:sp>
        <p:nvSpPr>
          <p:cNvPr id="16" name="Rectangle 15"/>
          <p:cNvSpPr/>
          <p:nvPr/>
        </p:nvSpPr>
        <p:spPr>
          <a:xfrm>
            <a:off x="5669280" y="4956048"/>
            <a:ext cx="2331720" cy="914400"/>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33872" y="5010912"/>
            <a:ext cx="2002536" cy="310896"/>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고각</a:t>
            </a:r>
            <a:r>
              <a:rPr sz="1100" b="0" i="0" lang="ko-KR" altLang="en-US">
                <a:solidFill>
                  <a:srgbClr val="4A5A7A"/>
                </a:solidFill>
                <a:latin typeface="맑은 고딕"/>
                <a:ea typeface="맑은 고딕"/>
                <a:cs typeface="맑은 고딕"/>
              </a:rPr>
              <a:t>  카이제곱</a:t>
            </a:r>
          </a:p>
        </p:txBody>
      </p:sp>
      <p:sp>
        <p:nvSpPr>
          <p:cNvPr id="18" name="TextBox 17"/>
          <p:cNvSpPr txBox="1"/>
          <p:nvPr/>
        </p:nvSpPr>
        <p:spPr>
          <a:xfrm>
            <a:off x="5833872" y="5340096"/>
            <a:ext cx="1143000" cy="457200"/>
          </a:xfrm>
          <a:prstGeom prst="rect">
            <a:avLst/>
          </a:prstGeom>
          <a:noFill/>
        </p:spPr>
        <p:txBody>
          <a:bodyPr wrap="square" anchor="ctr" lIns="0" tIns="0" rIns="0" bIns="0">
            <a:noAutofit/>
          </a:bodyPr>
          <a:lstStyle/>
          <a:p>
            <a:pPr algn="l">
              <a:lnSpc>
                <a:spcPct val="115000"/>
              </a:lnSpc>
              <a:spcAft>
                <a:spcPts val="0"/>
              </a:spcAft>
            </a:pPr>
            <a:r>
              <a:rPr sz="2200" b="1" i="0" lang="ko-KR" altLang="en-US">
                <a:solidFill>
                  <a:srgbClr val="1B2740"/>
                </a:solidFill>
                <a:latin typeface="Arial"/>
                <a:ea typeface="맑은 고딕"/>
                <a:cs typeface="Arial"/>
              </a:rPr>
              <a:t>5.53</a:t>
            </a:r>
          </a:p>
        </p:txBody>
      </p:sp>
      <p:sp>
        <p:nvSpPr>
          <p:cNvPr id="19" name="TextBox 18"/>
          <p:cNvSpPr txBox="1"/>
          <p:nvPr/>
        </p:nvSpPr>
        <p:spPr>
          <a:xfrm>
            <a:off x="6858000" y="5340096"/>
            <a:ext cx="978407" cy="457200"/>
          </a:xfrm>
          <a:prstGeom prst="rect">
            <a:avLst/>
          </a:prstGeom>
          <a:noFill/>
        </p:spPr>
        <p:txBody>
          <a:bodyPr wrap="square" anchor="ctr" lIns="0" tIns="0" rIns="0" bIns="0">
            <a:noAutofit/>
          </a:bodyPr>
          <a:lstStyle/>
          <a:p>
            <a:pPr algn="r">
              <a:lnSpc>
                <a:spcPct val="115000"/>
              </a:lnSpc>
              <a:spcAft>
                <a:spcPts val="0"/>
              </a:spcAft>
            </a:pPr>
            <a:r>
              <a:rPr sz="1300" b="0" i="0" lang="ko-KR" altLang="en-US">
                <a:solidFill>
                  <a:srgbClr val="4A5A7A"/>
                </a:solidFill>
                <a:latin typeface="Arial"/>
                <a:ea typeface="맑은 고딕"/>
                <a:cs typeface="Arial"/>
              </a:rPr>
              <a:t>&lt; 21.67</a:t>
            </a:r>
          </a:p>
        </p:txBody>
      </p:sp>
      <p:sp>
        <p:nvSpPr>
          <p:cNvPr id="20" name="Rectangle 19"/>
          <p:cNvSpPr/>
          <p:nvPr/>
        </p:nvSpPr>
        <p:spPr>
          <a:xfrm>
            <a:off x="8183879" y="4956048"/>
            <a:ext cx="3364992" cy="914400"/>
          </a:xfrm>
          <a:prstGeom prst="rect">
            <a:avLst/>
          </a:prstGeom>
          <a:solidFill>
            <a:srgbClr val="EEF3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59" y="4956048"/>
            <a:ext cx="2999232" cy="914400"/>
          </a:xfrm>
          <a:prstGeom prst="rect">
            <a:avLst/>
          </a:prstGeom>
          <a:noFill/>
        </p:spPr>
        <p:txBody>
          <a:bodyPr wrap="square" anchor="ctr" lIns="0" tIns="0" rIns="0" bIns="0">
            <a:noAutofit/>
          </a:bodyPr>
          <a:lstStyle/>
          <a:p>
            <a:pPr algn="l">
              <a:lnSpc>
                <a:spcPct val="115000"/>
              </a:lnSpc>
              <a:spcAft>
                <a:spcPts val="300"/>
              </a:spcAft>
            </a:pPr>
            <a:r>
              <a:rPr sz="1400" b="1" i="0" lang="ko-KR" altLang="en-US">
                <a:solidFill>
                  <a:srgbClr val="2563EB"/>
                </a:solidFill>
                <a:latin typeface="맑은 고딕"/>
                <a:ea typeface="맑은 고딕"/>
                <a:cs typeface="맑은 고딕"/>
              </a:rPr>
              <a:t>FOV 밖 0개</a:t>
            </a:r>
          </a:p>
          <a:p>
            <a:pPr algn="l">
              <a:lnSpc>
                <a:spcPct val="115000"/>
              </a:lnSpc>
              <a:spcAft>
                <a:spcPts val="0"/>
              </a:spcAft>
            </a:pPr>
            <a:r>
              <a:rPr sz="1150" b="0" i="0" lang="ko-KR" altLang="en-US">
                <a:solidFill>
                  <a:srgbClr val="4A5A7A"/>
                </a:solidFill>
                <a:latin typeface="맑은 고딕"/>
                <a:ea typeface="맑은 고딕"/>
                <a:cs typeface="맑은 고딕"/>
              </a:rPr>
              <a:t>스캔마다 정확히 5개,  방위각 + 는 모두 서쪽</a:t>
            </a:r>
          </a:p>
        </p:txBody>
      </p:sp>
      <p:sp>
        <p:nvSpPr>
          <p:cNvPr id="22" name="TextBox 21"/>
          <p:cNvSpPr txBox="1"/>
          <p:nvPr/>
        </p:nvSpPr>
        <p:spPr>
          <a:xfrm>
            <a:off x="640080" y="5943600"/>
            <a:ext cx="10908792" cy="292608"/>
          </a:xfrm>
          <a:prstGeom prst="rect">
            <a:avLst/>
          </a:prstGeom>
          <a:noFill/>
        </p:spPr>
        <p:txBody>
          <a:bodyPr wrap="square" anchor="ctr" lIns="0" tIns="0" rIns="0" bIns="0">
            <a:noAutofit/>
          </a:bodyPr>
          <a:lstStyle/>
          <a:p>
            <a:pPr algn="l">
              <a:lnSpc>
                <a:spcPct val="115000"/>
              </a:lnSpc>
              <a:spcAft>
                <a:spcPts val="0"/>
              </a:spcAft>
            </a:pPr>
            <a:r>
              <a:rPr sz="1100" b="0" i="0" lang="ko-KR" altLang="en-US">
                <a:solidFill>
                  <a:srgbClr val="4A5A7A"/>
                </a:solidFill>
                <a:latin typeface="맑은 고딕"/>
                <a:ea typeface="맑은 고딕"/>
                <a:cs typeface="맑은 고딕"/>
              </a:rPr>
              <a:t>카이제곱 = Σ (개수 − 300)² ÷ 300.    21.67 = 막대 10개일 때 우연히 넘을 확률 1 % 인 값</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06. C 코딩 실습</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6.5 입력 두 개로 실행하고, 결과를 한 화면에서 확인합니다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21</a:t>
            </a:r>
          </a:p>
        </p:txBody>
      </p:sp>
      <p:pic>
        <p:nvPicPr>
          <p:cNvPr id="7" name="Picture 6" descr="ui_dialog5.png"/>
          <p:cNvPicPr>
            <a:picLocks noChangeAspect="1"/>
          </p:cNvPicPr>
          <p:nvPr/>
        </p:nvPicPr>
        <p:blipFill>
          <a:blip r:embed="rId2"/>
          <a:stretch>
            <a:fillRect/>
          </a:stretch>
        </p:blipFill>
        <p:spPr>
          <a:xfrm>
            <a:off x="640080" y="1965960"/>
            <a:ext cx="6317492" cy="4160520"/>
          </a:xfrm>
          <a:prstGeom prst="rect">
            <a:avLst/>
          </a:prstGeom>
        </p:spPr>
      </p:pic>
      <p:sp>
        <p:nvSpPr>
          <p:cNvPr id="8" name="Rectangle 7"/>
          <p:cNvSpPr/>
          <p:nvPr/>
        </p:nvSpPr>
        <p:spPr>
          <a:xfrm>
            <a:off x="640080" y="1965960"/>
            <a:ext cx="6317492" cy="416052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090083" y="2027349"/>
            <a:ext cx="274320" cy="27432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90083" y="2027349"/>
            <a:ext cx="274320" cy="274320"/>
          </a:xfrm>
          <a:prstGeom prst="rect">
            <a:avLst/>
          </a:prstGeom>
          <a:noFill/>
        </p:spPr>
        <p:txBody>
          <a:bodyPr wrap="square" anchor="ctr" lIns="0" tIns="0" rIns="0" bIns="0">
            <a:noAutofit/>
          </a:bodyPr>
          <a:lstStyle/>
          <a:p>
            <a:pPr algn="ctr">
              <a:lnSpc>
                <a:spcPct val="110000"/>
              </a:lnSpc>
              <a:spcAft>
                <a:spcPts val="0"/>
              </a:spcAft>
            </a:pPr>
            <a:r>
              <a:rPr sz="1050" b="1" i="0" lang="ko-KR" altLang="en-US">
                <a:solidFill>
                  <a:srgbClr val="FFFFFF"/>
                </a:solidFill>
                <a:latin typeface="Arial"/>
                <a:ea typeface="맑은 고딕"/>
                <a:cs typeface="Arial"/>
              </a:rPr>
              <a:t>1</a:t>
            </a:r>
          </a:p>
        </p:txBody>
      </p:sp>
      <p:sp>
        <p:nvSpPr>
          <p:cNvPr id="11" name="Oval 10"/>
          <p:cNvSpPr/>
          <p:nvPr/>
        </p:nvSpPr>
        <p:spPr>
          <a:xfrm>
            <a:off x="4293415" y="2249966"/>
            <a:ext cx="274320" cy="27432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93415" y="2249966"/>
            <a:ext cx="274320" cy="274320"/>
          </a:xfrm>
          <a:prstGeom prst="rect">
            <a:avLst/>
          </a:prstGeom>
          <a:noFill/>
        </p:spPr>
        <p:txBody>
          <a:bodyPr wrap="square" anchor="ctr" lIns="0" tIns="0" rIns="0" bIns="0">
            <a:noAutofit/>
          </a:bodyPr>
          <a:lstStyle/>
          <a:p>
            <a:pPr algn="ctr">
              <a:lnSpc>
                <a:spcPct val="110000"/>
              </a:lnSpc>
              <a:spcAft>
                <a:spcPts val="0"/>
              </a:spcAft>
            </a:pPr>
            <a:r>
              <a:rPr sz="1050" b="1" i="0" lang="ko-KR" altLang="en-US">
                <a:solidFill>
                  <a:srgbClr val="FFFFFF"/>
                </a:solidFill>
                <a:latin typeface="Arial"/>
                <a:ea typeface="맑은 고딕"/>
                <a:cs typeface="Arial"/>
              </a:rPr>
              <a:t>2</a:t>
            </a:r>
          </a:p>
        </p:txBody>
      </p:sp>
      <p:sp>
        <p:nvSpPr>
          <p:cNvPr id="13" name="Oval 12"/>
          <p:cNvSpPr/>
          <p:nvPr/>
        </p:nvSpPr>
        <p:spPr>
          <a:xfrm>
            <a:off x="954169" y="5318462"/>
            <a:ext cx="274320" cy="27432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4169" y="5318462"/>
            <a:ext cx="274320" cy="274320"/>
          </a:xfrm>
          <a:prstGeom prst="rect">
            <a:avLst/>
          </a:prstGeom>
          <a:noFill/>
        </p:spPr>
        <p:txBody>
          <a:bodyPr wrap="square" anchor="ctr" lIns="0" tIns="0" rIns="0" bIns="0">
            <a:noAutofit/>
          </a:bodyPr>
          <a:lstStyle/>
          <a:p>
            <a:pPr algn="ctr">
              <a:lnSpc>
                <a:spcPct val="110000"/>
              </a:lnSpc>
              <a:spcAft>
                <a:spcPts val="0"/>
              </a:spcAft>
            </a:pPr>
            <a:r>
              <a:rPr sz="1050" b="1" i="0" lang="ko-KR" altLang="en-US">
                <a:solidFill>
                  <a:srgbClr val="FFFFFF"/>
                </a:solidFill>
                <a:latin typeface="Arial"/>
                <a:ea typeface="맑은 고딕"/>
                <a:cs typeface="Arial"/>
              </a:rPr>
              <a:t>3</a:t>
            </a:r>
          </a:p>
        </p:txBody>
      </p:sp>
      <p:sp>
        <p:nvSpPr>
          <p:cNvPr id="15" name="Oval 14"/>
          <p:cNvSpPr/>
          <p:nvPr/>
        </p:nvSpPr>
        <p:spPr>
          <a:xfrm>
            <a:off x="6549662" y="2580882"/>
            <a:ext cx="274320" cy="27432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49662" y="2580882"/>
            <a:ext cx="274320" cy="274320"/>
          </a:xfrm>
          <a:prstGeom prst="rect">
            <a:avLst/>
          </a:prstGeom>
          <a:noFill/>
        </p:spPr>
        <p:txBody>
          <a:bodyPr wrap="square" anchor="ctr" lIns="0" tIns="0" rIns="0" bIns="0">
            <a:noAutofit/>
          </a:bodyPr>
          <a:lstStyle/>
          <a:p>
            <a:pPr algn="ctr">
              <a:lnSpc>
                <a:spcPct val="110000"/>
              </a:lnSpc>
              <a:spcAft>
                <a:spcPts val="0"/>
              </a:spcAft>
            </a:pPr>
            <a:r>
              <a:rPr sz="1050" b="1" i="0" lang="ko-KR" altLang="en-US">
                <a:solidFill>
                  <a:srgbClr val="FFFFFF"/>
                </a:solidFill>
                <a:latin typeface="Arial"/>
                <a:ea typeface="맑은 고딕"/>
                <a:cs typeface="Arial"/>
              </a:rPr>
              <a:t>4</a:t>
            </a:r>
          </a:p>
        </p:txBody>
      </p:sp>
      <p:sp>
        <p:nvSpPr>
          <p:cNvPr id="17" name="Rectangle 16"/>
          <p:cNvSpPr/>
          <p:nvPr/>
        </p:nvSpPr>
        <p:spPr>
          <a:xfrm>
            <a:off x="7231892" y="1965960"/>
            <a:ext cx="4316980" cy="749808"/>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69052" y="2066543"/>
            <a:ext cx="274320" cy="27432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69052" y="2066543"/>
            <a:ext cx="274320" cy="274320"/>
          </a:xfrm>
          <a:prstGeom prst="rect">
            <a:avLst/>
          </a:prstGeom>
          <a:noFill/>
        </p:spPr>
        <p:txBody>
          <a:bodyPr wrap="square" anchor="ctr" lIns="0" tIns="0" rIns="0" bIns="0">
            <a:noAutofit/>
          </a:bodyPr>
          <a:lstStyle/>
          <a:p>
            <a:pPr algn="ctr">
              <a:lnSpc>
                <a:spcPct val="110000"/>
              </a:lnSpc>
              <a:spcAft>
                <a:spcPts val="0"/>
              </a:spcAft>
            </a:pPr>
            <a:r>
              <a:rPr sz="1050" b="1" i="0" lang="ko-KR" altLang="en-US">
                <a:solidFill>
                  <a:srgbClr val="FFFFFF"/>
                </a:solidFill>
                <a:latin typeface="Arial"/>
                <a:ea typeface="맑은 고딕"/>
                <a:cs typeface="Arial"/>
              </a:rPr>
              <a:t>1</a:t>
            </a:r>
          </a:p>
        </p:txBody>
      </p:sp>
      <p:sp>
        <p:nvSpPr>
          <p:cNvPr id="20" name="TextBox 19"/>
          <p:cNvSpPr txBox="1"/>
          <p:nvPr/>
        </p:nvSpPr>
        <p:spPr>
          <a:xfrm>
            <a:off x="7762243" y="2020824"/>
            <a:ext cx="3676900" cy="365760"/>
          </a:xfrm>
          <a:prstGeom prst="rect">
            <a:avLst/>
          </a:prstGeom>
          <a:noFill/>
        </p:spPr>
        <p:txBody>
          <a:bodyPr wrap="square" anchor="ctr" lIns="0" tIns="0" rIns="0" bIns="0">
            <a:noAutofit/>
          </a:bodyPr>
          <a:lstStyle/>
          <a:p>
            <a:pPr algn="l">
              <a:lnSpc>
                <a:spcPct val="115000"/>
              </a:lnSpc>
              <a:spcAft>
                <a:spcPts val="0"/>
              </a:spcAft>
            </a:pPr>
            <a:r>
              <a:rPr sz="1300" b="1" i="0" lang="ko-KR" altLang="en-US">
                <a:solidFill>
                  <a:srgbClr val="1B2740"/>
                </a:solidFill>
                <a:latin typeface="맑은 고딕"/>
                <a:ea typeface="맑은 고딕"/>
                <a:cs typeface="맑은 고딕"/>
              </a:rPr>
              <a:t>입력, 실행</a:t>
            </a:r>
          </a:p>
        </p:txBody>
      </p:sp>
      <p:sp>
        <p:nvSpPr>
          <p:cNvPr id="21" name="TextBox 20"/>
          <p:cNvSpPr txBox="1"/>
          <p:nvPr/>
        </p:nvSpPr>
        <p:spPr>
          <a:xfrm>
            <a:off x="7762243" y="2386584"/>
            <a:ext cx="3695188" cy="292608"/>
          </a:xfrm>
          <a:prstGeom prst="rect">
            <a:avLst/>
          </a:prstGeom>
          <a:noFill/>
        </p:spPr>
        <p:txBody>
          <a:bodyPr wrap="square" anchor="t" lIns="0" tIns="0" rIns="0" bIns="0">
            <a:noAutofit/>
          </a:bodyPr>
          <a:lstStyle/>
          <a:p>
            <a:pPr algn="l">
              <a:lnSpc>
                <a:spcPct val="112000"/>
              </a:lnSpc>
              <a:spcAft>
                <a:spcPts val="0"/>
              </a:spcAft>
            </a:pPr>
            <a:r>
              <a:rPr sz="1150" b="0" i="0" lang="ko-KR" altLang="en-US">
                <a:solidFill>
                  <a:srgbClr val="4A5A7A"/>
                </a:solidFill>
                <a:latin typeface="맑은 고딕"/>
                <a:ea typeface="맑은 고딕"/>
                <a:cs typeface="맑은 고딕"/>
              </a:rPr>
              <a:t>SNR (선형) 과 스캔당 클러터 수</a:t>
            </a:r>
          </a:p>
        </p:txBody>
      </p:sp>
      <p:sp>
        <p:nvSpPr>
          <p:cNvPr id="22" name="Rectangle 21"/>
          <p:cNvSpPr/>
          <p:nvPr/>
        </p:nvSpPr>
        <p:spPr>
          <a:xfrm>
            <a:off x="7231892" y="3011423"/>
            <a:ext cx="4316980" cy="1024128"/>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69052" y="3112007"/>
            <a:ext cx="274320" cy="27432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69052" y="3112007"/>
            <a:ext cx="274320" cy="274320"/>
          </a:xfrm>
          <a:prstGeom prst="rect">
            <a:avLst/>
          </a:prstGeom>
          <a:noFill/>
        </p:spPr>
        <p:txBody>
          <a:bodyPr wrap="square" anchor="ctr" lIns="0" tIns="0" rIns="0" bIns="0">
            <a:noAutofit/>
          </a:bodyPr>
          <a:lstStyle/>
          <a:p>
            <a:pPr algn="ctr">
              <a:lnSpc>
                <a:spcPct val="110000"/>
              </a:lnSpc>
              <a:spcAft>
                <a:spcPts val="0"/>
              </a:spcAft>
            </a:pPr>
            <a:r>
              <a:rPr sz="1050" b="1" i="0" lang="ko-KR" altLang="en-US">
                <a:solidFill>
                  <a:srgbClr val="FFFFFF"/>
                </a:solidFill>
                <a:latin typeface="Arial"/>
                <a:ea typeface="맑은 고딕"/>
                <a:cs typeface="Arial"/>
              </a:rPr>
              <a:t>2</a:t>
            </a:r>
          </a:p>
        </p:txBody>
      </p:sp>
      <p:sp>
        <p:nvSpPr>
          <p:cNvPr id="25" name="TextBox 24"/>
          <p:cNvSpPr txBox="1"/>
          <p:nvPr/>
        </p:nvSpPr>
        <p:spPr>
          <a:xfrm>
            <a:off x="7762243" y="3066287"/>
            <a:ext cx="3676900" cy="365760"/>
          </a:xfrm>
          <a:prstGeom prst="rect">
            <a:avLst/>
          </a:prstGeom>
          <a:noFill/>
        </p:spPr>
        <p:txBody>
          <a:bodyPr wrap="square" anchor="ctr" lIns="0" tIns="0" rIns="0" bIns="0">
            <a:noAutofit/>
          </a:bodyPr>
          <a:lstStyle/>
          <a:p>
            <a:pPr algn="l">
              <a:lnSpc>
                <a:spcPct val="115000"/>
              </a:lnSpc>
              <a:spcAft>
                <a:spcPts val="0"/>
              </a:spcAft>
            </a:pPr>
            <a:r>
              <a:rPr sz="1300" b="1" i="0" lang="ko-KR" altLang="en-US">
                <a:solidFill>
                  <a:srgbClr val="1B2740"/>
                </a:solidFill>
                <a:latin typeface="맑은 고딕"/>
                <a:ea typeface="맑은 고딕"/>
                <a:cs typeface="맑은 고딕"/>
              </a:rPr>
              <a:t>결과 요약</a:t>
            </a:r>
          </a:p>
        </p:txBody>
      </p:sp>
      <p:sp>
        <p:nvSpPr>
          <p:cNvPr id="26" name="TextBox 25"/>
          <p:cNvSpPr txBox="1"/>
          <p:nvPr/>
        </p:nvSpPr>
        <p:spPr>
          <a:xfrm>
            <a:off x="7762243" y="3432047"/>
            <a:ext cx="3695188" cy="566928"/>
          </a:xfrm>
          <a:prstGeom prst="rect">
            <a:avLst/>
          </a:prstGeom>
          <a:noFill/>
        </p:spPr>
        <p:txBody>
          <a:bodyPr wrap="square" anchor="t" lIns="0" tIns="0" rIns="0" bIns="0">
            <a:noAutofit/>
          </a:bodyPr>
          <a:lstStyle/>
          <a:p>
            <a:pPr algn="l">
              <a:lnSpc>
                <a:spcPct val="112000"/>
              </a:lnSpc>
              <a:spcAft>
                <a:spcPts val="0"/>
              </a:spcAft>
            </a:pPr>
            <a:r>
              <a:rPr sz="1150" b="0" i="0" lang="ko-KR" altLang="en-US">
                <a:solidFill>
                  <a:srgbClr val="4A5A7A"/>
                </a:solidFill>
                <a:latin typeface="맑은 고딕"/>
                <a:ea typeface="맑은 고딕"/>
                <a:cs typeface="맑은 고딕"/>
              </a:rPr>
              <a:t>이론 p    4.740 m · 0.478° · 0.494°</a:t>
            </a:r>
          </a:p>
          <a:p>
            <a:pPr algn="l">
              <a:lnSpc>
                <a:spcPct val="112000"/>
              </a:lnSpc>
              <a:spcAft>
                <a:spcPts val="0"/>
              </a:spcAft>
            </a:pPr>
            <a:r>
              <a:rPr sz="1150" b="0" i="0" lang="ko-KR" altLang="en-US">
                <a:solidFill>
                  <a:srgbClr val="4A5A7A"/>
                </a:solidFill>
                <a:latin typeface="맑은 고딕"/>
                <a:ea typeface="맑은 고딕"/>
                <a:cs typeface="맑은 고딕"/>
              </a:rPr>
              <a:t>실제 오차  4.800 m · 0.476° · 0.493°</a:t>
            </a:r>
          </a:p>
        </p:txBody>
      </p:sp>
      <p:sp>
        <p:nvSpPr>
          <p:cNvPr id="27" name="Rectangle 26"/>
          <p:cNvSpPr/>
          <p:nvPr/>
        </p:nvSpPr>
        <p:spPr>
          <a:xfrm>
            <a:off x="7231892" y="4331208"/>
            <a:ext cx="4316980" cy="749808"/>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369052" y="4431792"/>
            <a:ext cx="274320" cy="27432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69052" y="4431792"/>
            <a:ext cx="274320" cy="274320"/>
          </a:xfrm>
          <a:prstGeom prst="rect">
            <a:avLst/>
          </a:prstGeom>
          <a:noFill/>
        </p:spPr>
        <p:txBody>
          <a:bodyPr wrap="square" anchor="ctr" lIns="0" tIns="0" rIns="0" bIns="0">
            <a:noAutofit/>
          </a:bodyPr>
          <a:lstStyle/>
          <a:p>
            <a:pPr algn="ctr">
              <a:lnSpc>
                <a:spcPct val="110000"/>
              </a:lnSpc>
              <a:spcAft>
                <a:spcPts val="0"/>
              </a:spcAft>
            </a:pPr>
            <a:r>
              <a:rPr sz="1050" b="1" i="0" lang="ko-KR" altLang="en-US">
                <a:solidFill>
                  <a:srgbClr val="FFFFFF"/>
                </a:solidFill>
                <a:latin typeface="Arial"/>
                <a:ea typeface="맑은 고딕"/>
                <a:cs typeface="Arial"/>
              </a:rPr>
              <a:t>3</a:t>
            </a:r>
          </a:p>
        </p:txBody>
      </p:sp>
      <p:sp>
        <p:nvSpPr>
          <p:cNvPr id="30" name="TextBox 29"/>
          <p:cNvSpPr txBox="1"/>
          <p:nvPr/>
        </p:nvSpPr>
        <p:spPr>
          <a:xfrm>
            <a:off x="7762243" y="4386071"/>
            <a:ext cx="3676900" cy="365760"/>
          </a:xfrm>
          <a:prstGeom prst="rect">
            <a:avLst/>
          </a:prstGeom>
          <a:noFill/>
        </p:spPr>
        <p:txBody>
          <a:bodyPr wrap="square" anchor="ctr" lIns="0" tIns="0" rIns="0" bIns="0">
            <a:noAutofit/>
          </a:bodyPr>
          <a:lstStyle/>
          <a:p>
            <a:pPr algn="l">
              <a:lnSpc>
                <a:spcPct val="115000"/>
              </a:lnSpc>
              <a:spcAft>
                <a:spcPts val="0"/>
              </a:spcAft>
            </a:pPr>
            <a:r>
              <a:rPr sz="1300" b="1" i="0" lang="ko-KR" altLang="en-US">
                <a:solidFill>
                  <a:srgbClr val="1B2740"/>
                </a:solidFill>
                <a:latin typeface="맑은 고딕"/>
                <a:ea typeface="맑은 고딕"/>
                <a:cs typeface="맑은 고딕"/>
              </a:rPr>
              <a:t>LLA 지도</a:t>
            </a:r>
          </a:p>
        </p:txBody>
      </p:sp>
      <p:sp>
        <p:nvSpPr>
          <p:cNvPr id="31" name="TextBox 30"/>
          <p:cNvSpPr txBox="1"/>
          <p:nvPr/>
        </p:nvSpPr>
        <p:spPr>
          <a:xfrm>
            <a:off x="7762243" y="4751832"/>
            <a:ext cx="3695188" cy="292608"/>
          </a:xfrm>
          <a:prstGeom prst="rect">
            <a:avLst/>
          </a:prstGeom>
          <a:noFill/>
        </p:spPr>
        <p:txBody>
          <a:bodyPr wrap="square" anchor="t" lIns="0" tIns="0" rIns="0" bIns="0">
            <a:noAutofit/>
          </a:bodyPr>
          <a:lstStyle/>
          <a:p>
            <a:pPr algn="l">
              <a:lnSpc>
                <a:spcPct val="112000"/>
              </a:lnSpc>
              <a:spcAft>
                <a:spcPts val="0"/>
              </a:spcAft>
            </a:pPr>
            <a:r>
              <a:rPr sz="1150" b="0" i="0" lang="ko-KR" altLang="en-US">
                <a:solidFill>
                  <a:srgbClr val="4A5A7A"/>
                </a:solidFill>
                <a:latin typeface="맑은 고딕"/>
                <a:ea typeface="맑은 고딕"/>
                <a:cs typeface="맑은 고딕"/>
              </a:rPr>
              <a:t>참값 · 플롯 · 클러터를 색으로 구분</a:t>
            </a:r>
          </a:p>
        </p:txBody>
      </p:sp>
      <p:sp>
        <p:nvSpPr>
          <p:cNvPr id="32" name="Rectangle 31"/>
          <p:cNvSpPr/>
          <p:nvPr/>
        </p:nvSpPr>
        <p:spPr>
          <a:xfrm>
            <a:off x="7231892" y="5376672"/>
            <a:ext cx="4316980" cy="749808"/>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369052" y="5477256"/>
            <a:ext cx="274320" cy="27432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69052" y="5477256"/>
            <a:ext cx="274320" cy="274320"/>
          </a:xfrm>
          <a:prstGeom prst="rect">
            <a:avLst/>
          </a:prstGeom>
          <a:noFill/>
        </p:spPr>
        <p:txBody>
          <a:bodyPr wrap="square" anchor="ctr" lIns="0" tIns="0" rIns="0" bIns="0">
            <a:noAutofit/>
          </a:bodyPr>
          <a:lstStyle/>
          <a:p>
            <a:pPr algn="ctr">
              <a:lnSpc>
                <a:spcPct val="110000"/>
              </a:lnSpc>
              <a:spcAft>
                <a:spcPts val="0"/>
              </a:spcAft>
            </a:pPr>
            <a:r>
              <a:rPr sz="1050" b="1" i="0" lang="ko-KR" altLang="en-US">
                <a:solidFill>
                  <a:srgbClr val="FFFFFF"/>
                </a:solidFill>
                <a:latin typeface="Arial"/>
                <a:ea typeface="맑은 고딕"/>
                <a:cs typeface="Arial"/>
              </a:rPr>
              <a:t>4</a:t>
            </a:r>
          </a:p>
        </p:txBody>
      </p:sp>
      <p:sp>
        <p:nvSpPr>
          <p:cNvPr id="35" name="TextBox 34"/>
          <p:cNvSpPr txBox="1"/>
          <p:nvPr/>
        </p:nvSpPr>
        <p:spPr>
          <a:xfrm>
            <a:off x="7762243" y="5431536"/>
            <a:ext cx="3676900" cy="365760"/>
          </a:xfrm>
          <a:prstGeom prst="rect">
            <a:avLst/>
          </a:prstGeom>
          <a:noFill/>
        </p:spPr>
        <p:txBody>
          <a:bodyPr wrap="square" anchor="ctr" lIns="0" tIns="0" rIns="0" bIns="0">
            <a:noAutofit/>
          </a:bodyPr>
          <a:lstStyle/>
          <a:p>
            <a:pPr algn="l">
              <a:lnSpc>
                <a:spcPct val="115000"/>
              </a:lnSpc>
              <a:spcAft>
                <a:spcPts val="0"/>
              </a:spcAft>
            </a:pPr>
            <a:r>
              <a:rPr sz="1300" b="1" i="0" lang="ko-KR" altLang="en-US">
                <a:solidFill>
                  <a:srgbClr val="1B2740"/>
                </a:solidFill>
                <a:latin typeface="맑은 고딕"/>
                <a:ea typeface="맑은 고딕"/>
                <a:cs typeface="맑은 고딕"/>
              </a:rPr>
              <a:t>난수 검증</a:t>
            </a:r>
          </a:p>
        </p:txBody>
      </p:sp>
      <p:sp>
        <p:nvSpPr>
          <p:cNvPr id="36" name="TextBox 35"/>
          <p:cNvSpPr txBox="1"/>
          <p:nvPr/>
        </p:nvSpPr>
        <p:spPr>
          <a:xfrm>
            <a:off x="7762243" y="5797296"/>
            <a:ext cx="3695188" cy="292608"/>
          </a:xfrm>
          <a:prstGeom prst="rect">
            <a:avLst/>
          </a:prstGeom>
          <a:noFill/>
        </p:spPr>
        <p:txBody>
          <a:bodyPr wrap="square" anchor="t" lIns="0" tIns="0" rIns="0" bIns="0">
            <a:noAutofit/>
          </a:bodyPr>
          <a:lstStyle/>
          <a:p>
            <a:pPr algn="l">
              <a:lnSpc>
                <a:spcPct val="112000"/>
              </a:lnSpc>
              <a:spcAft>
                <a:spcPts val="0"/>
              </a:spcAft>
            </a:pPr>
            <a:r>
              <a:rPr sz="1150" b="0" i="0" lang="ko-KR" altLang="en-US">
                <a:solidFill>
                  <a:srgbClr val="4A5A7A"/>
                </a:solidFill>
                <a:latin typeface="맑은 고딕"/>
                <a:ea typeface="맑은 고딕"/>
                <a:cs typeface="맑은 고딕"/>
              </a:rPr>
              <a:t>UNIRAN, GAUSS 히스토그램</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07. 정리</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7.1 단순하게 만든 가정과, 실제라면 달라지는 점</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22</a:t>
            </a:r>
          </a:p>
        </p:txBody>
      </p:sp>
      <p:sp>
        <p:nvSpPr>
          <p:cNvPr id="7" name="TextBox 6"/>
          <p:cNvSpPr txBox="1"/>
          <p:nvPr/>
        </p:nvSpPr>
        <p:spPr>
          <a:xfrm>
            <a:off x="640080" y="1965960"/>
            <a:ext cx="5806440" cy="274320"/>
          </a:xfrm>
          <a:prstGeom prst="rect">
            <a:avLst/>
          </a:prstGeom>
          <a:noFill/>
        </p:spPr>
        <p:txBody>
          <a:bodyPr wrap="square" anchor="ctr" lIns="0" tIns="0" rIns="0" bIns="0">
            <a:noAutofit/>
          </a:bodyPr>
          <a:lstStyle/>
          <a:p>
            <a:pPr algn="l">
              <a:lnSpc>
                <a:spcPct val="115000"/>
              </a:lnSpc>
              <a:spcAft>
                <a:spcPts val="0"/>
              </a:spcAft>
            </a:pPr>
            <a:r>
              <a:rPr sz="1300" b="1" i="0" lang="ko-KR" altLang="en-US">
                <a:solidFill>
                  <a:srgbClr val="1B2740"/>
                </a:solidFill>
                <a:latin typeface="맑은 고딕"/>
                <a:ea typeface="맑은 고딕"/>
                <a:cs typeface="맑은 고딕"/>
              </a:rPr>
              <a:t>이번 모의의 가정</a:t>
            </a:r>
          </a:p>
        </p:txBody>
      </p:sp>
      <p:cxnSp>
        <p:nvCxnSpPr>
          <p:cNvPr id="8" name="Connector 7"/>
          <p:cNvCxnSpPr/>
          <p:nvPr/>
        </p:nvCxnSpPr>
        <p:spPr>
          <a:xfrm>
            <a:off x="640080" y="2331720"/>
            <a:ext cx="58064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85800" y="2432303"/>
            <a:ext cx="868680" cy="310896"/>
          </a:xfrm>
          <a:prstGeom prst="roundRect">
            <a:avLst>
              <a:gd name="adj" fmla="val 18000"/>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432303"/>
            <a:ext cx="832103" cy="310896"/>
          </a:xfrm>
          <a:prstGeom prst="rect">
            <a:avLst/>
          </a:prstGeom>
          <a:noFill/>
        </p:spPr>
        <p:txBody>
          <a:bodyPr wrap="square" anchor="ctr" lIns="0" tIns="0" rIns="0" bIns="0">
            <a:noAutofit/>
          </a:bodyPr>
          <a:lstStyle/>
          <a:p>
            <a:pPr algn="ctr">
              <a:lnSpc>
                <a:spcPct val="110000"/>
              </a:lnSpc>
              <a:spcAft>
                <a:spcPts val="0"/>
              </a:spcAft>
            </a:pPr>
            <a:r>
              <a:rPr sz="1150" b="1" i="0" lang="ko-KR" altLang="en-US">
                <a:solidFill>
                  <a:srgbClr val="FFFFFF"/>
                </a:solidFill>
                <a:latin typeface="맑은 고딕"/>
                <a:ea typeface="맑은 고딕"/>
                <a:cs typeface="맑은 고딕"/>
              </a:rPr>
              <a:t>탐지</a:t>
            </a:r>
          </a:p>
        </p:txBody>
      </p:sp>
      <p:sp>
        <p:nvSpPr>
          <p:cNvPr id="11" name="TextBox 10"/>
          <p:cNvSpPr txBox="1"/>
          <p:nvPr/>
        </p:nvSpPr>
        <p:spPr>
          <a:xfrm>
            <a:off x="1719072" y="2331720"/>
            <a:ext cx="4709159" cy="512064"/>
          </a:xfrm>
          <a:prstGeom prst="rect">
            <a:avLst/>
          </a:prstGeom>
          <a:noFill/>
        </p:spPr>
        <p:txBody>
          <a:bodyPr wrap="square" anchor="ctr" lIns="0" tIns="0" rIns="0" bIns="0">
            <a:noAutofit/>
          </a:bodyPr>
          <a:lstStyle/>
          <a:p>
            <a:pPr algn="l">
              <a:lnSpc>
                <a:spcPct val="115000"/>
              </a:lnSpc>
              <a:spcAft>
                <a:spcPts val="0"/>
              </a:spcAft>
            </a:pPr>
            <a:r>
              <a:rPr sz="1250" b="0" i="0" lang="ko-KR" altLang="en-US">
                <a:solidFill>
                  <a:srgbClr val="1B2740"/>
                </a:solidFill>
                <a:latin typeface="맑은 고딕"/>
                <a:ea typeface="맑은 고딕"/>
                <a:cs typeface="맑은 고딕"/>
              </a:rPr>
              <a:t>매 스캔, 표적마다 플롯 1개 (놓치지 않음)</a:t>
            </a:r>
          </a:p>
        </p:txBody>
      </p:sp>
      <p:cxnSp>
        <p:nvCxnSpPr>
          <p:cNvPr id="12" name="Connector 11"/>
          <p:cNvCxnSpPr/>
          <p:nvPr/>
        </p:nvCxnSpPr>
        <p:spPr>
          <a:xfrm>
            <a:off x="640080" y="2843784"/>
            <a:ext cx="58064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85800" y="2944368"/>
            <a:ext cx="868680" cy="310896"/>
          </a:xfrm>
          <a:prstGeom prst="roundRect">
            <a:avLst>
              <a:gd name="adj" fmla="val 18000"/>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2944368"/>
            <a:ext cx="832103" cy="310896"/>
          </a:xfrm>
          <a:prstGeom prst="rect">
            <a:avLst/>
          </a:prstGeom>
          <a:noFill/>
        </p:spPr>
        <p:txBody>
          <a:bodyPr wrap="square" anchor="ctr" lIns="0" tIns="0" rIns="0" bIns="0">
            <a:noAutofit/>
          </a:bodyPr>
          <a:lstStyle/>
          <a:p>
            <a:pPr algn="ctr">
              <a:lnSpc>
                <a:spcPct val="110000"/>
              </a:lnSpc>
              <a:spcAft>
                <a:spcPts val="0"/>
              </a:spcAft>
            </a:pPr>
            <a:r>
              <a:rPr sz="1150" b="1" i="0" lang="ko-KR" altLang="en-US">
                <a:solidFill>
                  <a:srgbClr val="FFFFFF"/>
                </a:solidFill>
                <a:latin typeface="맑은 고딕"/>
                <a:ea typeface="맑은 고딕"/>
                <a:cs typeface="맑은 고딕"/>
              </a:rPr>
              <a:t>SNR</a:t>
            </a:r>
          </a:p>
        </p:txBody>
      </p:sp>
      <p:sp>
        <p:nvSpPr>
          <p:cNvPr id="15" name="TextBox 14"/>
          <p:cNvSpPr txBox="1"/>
          <p:nvPr/>
        </p:nvSpPr>
        <p:spPr>
          <a:xfrm>
            <a:off x="1719072" y="2843784"/>
            <a:ext cx="4709159" cy="512064"/>
          </a:xfrm>
          <a:prstGeom prst="rect">
            <a:avLst/>
          </a:prstGeom>
          <a:noFill/>
        </p:spPr>
        <p:txBody>
          <a:bodyPr wrap="square" anchor="ctr" lIns="0" tIns="0" rIns="0" bIns="0">
            <a:noAutofit/>
          </a:bodyPr>
          <a:lstStyle/>
          <a:p>
            <a:pPr algn="l">
              <a:lnSpc>
                <a:spcPct val="115000"/>
              </a:lnSpc>
              <a:spcAft>
                <a:spcPts val="0"/>
              </a:spcAft>
            </a:pPr>
            <a:r>
              <a:rPr sz="1250" b="0" i="0" lang="ko-KR" altLang="en-US">
                <a:solidFill>
                  <a:srgbClr val="1B2740"/>
                </a:solidFill>
                <a:latin typeface="맑은 고딕"/>
                <a:ea typeface="맑은 고딕"/>
                <a:cs typeface="맑은 고딕"/>
              </a:rPr>
              <a:t>거리와 상관없이 20 으로 고정</a:t>
            </a:r>
          </a:p>
        </p:txBody>
      </p:sp>
      <p:cxnSp>
        <p:nvCxnSpPr>
          <p:cNvPr id="16" name="Connector 15"/>
          <p:cNvCxnSpPr/>
          <p:nvPr/>
        </p:nvCxnSpPr>
        <p:spPr>
          <a:xfrm>
            <a:off x="640080" y="3355848"/>
            <a:ext cx="58064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85800" y="3456432"/>
            <a:ext cx="868680" cy="310896"/>
          </a:xfrm>
          <a:prstGeom prst="roundRect">
            <a:avLst>
              <a:gd name="adj" fmla="val 18000"/>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3456432"/>
            <a:ext cx="832103" cy="310896"/>
          </a:xfrm>
          <a:prstGeom prst="rect">
            <a:avLst/>
          </a:prstGeom>
          <a:noFill/>
        </p:spPr>
        <p:txBody>
          <a:bodyPr wrap="square" anchor="ctr" lIns="0" tIns="0" rIns="0" bIns="0">
            <a:noAutofit/>
          </a:bodyPr>
          <a:lstStyle/>
          <a:p>
            <a:pPr algn="ctr">
              <a:lnSpc>
                <a:spcPct val="110000"/>
              </a:lnSpc>
              <a:spcAft>
                <a:spcPts val="0"/>
              </a:spcAft>
            </a:pPr>
            <a:r>
              <a:rPr sz="1150" b="1" i="0" lang="ko-KR" altLang="en-US">
                <a:solidFill>
                  <a:srgbClr val="FFFFFF"/>
                </a:solidFill>
                <a:latin typeface="맑은 고딕"/>
                <a:ea typeface="맑은 고딕"/>
                <a:cs typeface="맑은 고딕"/>
              </a:rPr>
              <a:t>잡음</a:t>
            </a:r>
          </a:p>
        </p:txBody>
      </p:sp>
      <p:sp>
        <p:nvSpPr>
          <p:cNvPr id="19" name="TextBox 18"/>
          <p:cNvSpPr txBox="1"/>
          <p:nvPr/>
        </p:nvSpPr>
        <p:spPr>
          <a:xfrm>
            <a:off x="1719072" y="3355848"/>
            <a:ext cx="4709159" cy="512064"/>
          </a:xfrm>
          <a:prstGeom prst="rect">
            <a:avLst/>
          </a:prstGeom>
          <a:noFill/>
        </p:spPr>
        <p:txBody>
          <a:bodyPr wrap="square" anchor="ctr" lIns="0" tIns="0" rIns="0" bIns="0">
            <a:noAutofit/>
          </a:bodyPr>
          <a:lstStyle/>
          <a:p>
            <a:pPr algn="l">
              <a:lnSpc>
                <a:spcPct val="115000"/>
              </a:lnSpc>
              <a:spcAft>
                <a:spcPts val="0"/>
              </a:spcAft>
            </a:pPr>
            <a:r>
              <a:rPr sz="1250" b="0" i="0" lang="ko-KR" altLang="en-US">
                <a:solidFill>
                  <a:srgbClr val="1B2740"/>
                </a:solidFill>
                <a:latin typeface="맑은 고딕"/>
                <a:ea typeface="맑은 고딕"/>
                <a:cs typeface="맑은 고딕"/>
              </a:rPr>
              <a:t>세 성분이 서로 독립인 가우시안, 치우침 없음</a:t>
            </a:r>
          </a:p>
        </p:txBody>
      </p:sp>
      <p:cxnSp>
        <p:nvCxnSpPr>
          <p:cNvPr id="20" name="Connector 19"/>
          <p:cNvCxnSpPr/>
          <p:nvPr/>
        </p:nvCxnSpPr>
        <p:spPr>
          <a:xfrm>
            <a:off x="640080" y="3867912"/>
            <a:ext cx="58064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85800" y="3968496"/>
            <a:ext cx="868680" cy="310896"/>
          </a:xfrm>
          <a:prstGeom prst="roundRect">
            <a:avLst>
              <a:gd name="adj" fmla="val 18000"/>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 y="3968496"/>
            <a:ext cx="832103" cy="310896"/>
          </a:xfrm>
          <a:prstGeom prst="rect">
            <a:avLst/>
          </a:prstGeom>
          <a:noFill/>
        </p:spPr>
        <p:txBody>
          <a:bodyPr wrap="square" anchor="ctr" lIns="0" tIns="0" rIns="0" bIns="0">
            <a:noAutofit/>
          </a:bodyPr>
          <a:lstStyle/>
          <a:p>
            <a:pPr algn="ctr">
              <a:lnSpc>
                <a:spcPct val="110000"/>
              </a:lnSpc>
              <a:spcAft>
                <a:spcPts val="0"/>
              </a:spcAft>
            </a:pPr>
            <a:r>
              <a:rPr sz="1150" b="1" i="0" lang="ko-KR" altLang="en-US">
                <a:solidFill>
                  <a:srgbClr val="FFFFFF"/>
                </a:solidFill>
                <a:latin typeface="맑은 고딕"/>
                <a:ea typeface="맑은 고딕"/>
                <a:cs typeface="맑은 고딕"/>
              </a:rPr>
              <a:t>클러터</a:t>
            </a:r>
          </a:p>
        </p:txBody>
      </p:sp>
      <p:sp>
        <p:nvSpPr>
          <p:cNvPr id="23" name="TextBox 22"/>
          <p:cNvSpPr txBox="1"/>
          <p:nvPr/>
        </p:nvSpPr>
        <p:spPr>
          <a:xfrm>
            <a:off x="1719072" y="3867912"/>
            <a:ext cx="4709159" cy="512064"/>
          </a:xfrm>
          <a:prstGeom prst="rect">
            <a:avLst/>
          </a:prstGeom>
          <a:noFill/>
        </p:spPr>
        <p:txBody>
          <a:bodyPr wrap="square" anchor="ctr" lIns="0" tIns="0" rIns="0" bIns="0">
            <a:noAutofit/>
          </a:bodyPr>
          <a:lstStyle/>
          <a:p>
            <a:pPr algn="l">
              <a:lnSpc>
                <a:spcPct val="115000"/>
              </a:lnSpc>
              <a:spcAft>
                <a:spcPts val="0"/>
              </a:spcAft>
            </a:pPr>
            <a:r>
              <a:rPr sz="1250" b="0" i="0" lang="ko-KR" altLang="en-US">
                <a:solidFill>
                  <a:srgbClr val="1B2740"/>
                </a:solidFill>
                <a:latin typeface="맑은 고딕"/>
                <a:ea typeface="맑은 고딕"/>
                <a:cs typeface="맑은 고딕"/>
              </a:rPr>
              <a:t>스캔마다 새로 5개, 표적과 무관, FOV 안 균등</a:t>
            </a:r>
          </a:p>
        </p:txBody>
      </p:sp>
      <p:cxnSp>
        <p:nvCxnSpPr>
          <p:cNvPr id="24" name="Connector 23"/>
          <p:cNvCxnSpPr/>
          <p:nvPr/>
        </p:nvCxnSpPr>
        <p:spPr>
          <a:xfrm>
            <a:off x="640080" y="4379976"/>
            <a:ext cx="58064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85800" y="4480560"/>
            <a:ext cx="868680" cy="310896"/>
          </a:xfrm>
          <a:prstGeom prst="roundRect">
            <a:avLst>
              <a:gd name="adj" fmla="val 18000"/>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480560"/>
            <a:ext cx="832103" cy="310896"/>
          </a:xfrm>
          <a:prstGeom prst="rect">
            <a:avLst/>
          </a:prstGeom>
          <a:noFill/>
        </p:spPr>
        <p:txBody>
          <a:bodyPr wrap="square" anchor="ctr" lIns="0" tIns="0" rIns="0" bIns="0">
            <a:noAutofit/>
          </a:bodyPr>
          <a:lstStyle/>
          <a:p>
            <a:pPr algn="ctr">
              <a:lnSpc>
                <a:spcPct val="110000"/>
              </a:lnSpc>
              <a:spcAft>
                <a:spcPts val="0"/>
              </a:spcAft>
            </a:pPr>
            <a:r>
              <a:rPr sz="1150" b="1" i="0" lang="ko-KR" altLang="en-US">
                <a:solidFill>
                  <a:srgbClr val="FFFFFF"/>
                </a:solidFill>
                <a:latin typeface="맑은 고딕"/>
                <a:ea typeface="맑은 고딕"/>
                <a:cs typeface="맑은 고딕"/>
              </a:rPr>
              <a:t>레이다</a:t>
            </a:r>
          </a:p>
        </p:txBody>
      </p:sp>
      <p:sp>
        <p:nvSpPr>
          <p:cNvPr id="27" name="TextBox 26"/>
          <p:cNvSpPr txBox="1"/>
          <p:nvPr/>
        </p:nvSpPr>
        <p:spPr>
          <a:xfrm>
            <a:off x="1719072" y="4379976"/>
            <a:ext cx="4709159" cy="512064"/>
          </a:xfrm>
          <a:prstGeom prst="rect">
            <a:avLst/>
          </a:prstGeom>
          <a:noFill/>
        </p:spPr>
        <p:txBody>
          <a:bodyPr wrap="square" anchor="ctr" lIns="0" tIns="0" rIns="0" bIns="0">
            <a:noAutofit/>
          </a:bodyPr>
          <a:lstStyle/>
          <a:p>
            <a:pPr algn="l">
              <a:lnSpc>
                <a:spcPct val="115000"/>
              </a:lnSpc>
              <a:spcAft>
                <a:spcPts val="0"/>
              </a:spcAft>
            </a:pPr>
            <a:r>
              <a:rPr sz="1250" b="0" i="0" lang="ko-KR" altLang="en-US">
                <a:solidFill>
                  <a:srgbClr val="1B2740"/>
                </a:solidFill>
                <a:latin typeface="맑은 고딕"/>
                <a:ea typeface="맑은 고딕"/>
                <a:cs typeface="맑은 고딕"/>
              </a:rPr>
              <a:t>정지, 자세 0, 안테나 기울기 없음</a:t>
            </a:r>
          </a:p>
        </p:txBody>
      </p:sp>
      <p:cxnSp>
        <p:nvCxnSpPr>
          <p:cNvPr id="28" name="Connector 27"/>
          <p:cNvCxnSpPr/>
          <p:nvPr/>
        </p:nvCxnSpPr>
        <p:spPr>
          <a:xfrm>
            <a:off x="640080" y="4892040"/>
            <a:ext cx="58064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85800" y="4992624"/>
            <a:ext cx="868680" cy="310896"/>
          </a:xfrm>
          <a:prstGeom prst="roundRect">
            <a:avLst>
              <a:gd name="adj" fmla="val 18000"/>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4992624"/>
            <a:ext cx="832103" cy="310896"/>
          </a:xfrm>
          <a:prstGeom prst="rect">
            <a:avLst/>
          </a:prstGeom>
          <a:noFill/>
        </p:spPr>
        <p:txBody>
          <a:bodyPr wrap="square" anchor="ctr" lIns="0" tIns="0" rIns="0" bIns="0">
            <a:noAutofit/>
          </a:bodyPr>
          <a:lstStyle/>
          <a:p>
            <a:pPr algn="ctr">
              <a:lnSpc>
                <a:spcPct val="110000"/>
              </a:lnSpc>
              <a:spcAft>
                <a:spcPts val="0"/>
              </a:spcAft>
            </a:pPr>
            <a:r>
              <a:rPr sz="1150" b="1" i="0" lang="ko-KR" altLang="en-US">
                <a:solidFill>
                  <a:srgbClr val="FFFFFF"/>
                </a:solidFill>
                <a:latin typeface="맑은 고딕"/>
                <a:ea typeface="맑은 고딕"/>
                <a:cs typeface="맑은 고딕"/>
              </a:rPr>
              <a:t>시각</a:t>
            </a:r>
          </a:p>
        </p:txBody>
      </p:sp>
      <p:sp>
        <p:nvSpPr>
          <p:cNvPr id="31" name="TextBox 30"/>
          <p:cNvSpPr txBox="1"/>
          <p:nvPr/>
        </p:nvSpPr>
        <p:spPr>
          <a:xfrm>
            <a:off x="1719072" y="4892040"/>
            <a:ext cx="4709159" cy="512064"/>
          </a:xfrm>
          <a:prstGeom prst="rect">
            <a:avLst/>
          </a:prstGeom>
          <a:noFill/>
        </p:spPr>
        <p:txBody>
          <a:bodyPr wrap="square" anchor="ctr" lIns="0" tIns="0" rIns="0" bIns="0">
            <a:noAutofit/>
          </a:bodyPr>
          <a:lstStyle/>
          <a:p>
            <a:pPr algn="l">
              <a:lnSpc>
                <a:spcPct val="115000"/>
              </a:lnSpc>
              <a:spcAft>
                <a:spcPts val="0"/>
              </a:spcAft>
            </a:pPr>
            <a:r>
              <a:rPr sz="1250" b="0" i="0" lang="ko-KR" altLang="en-US">
                <a:solidFill>
                  <a:srgbClr val="1B2740"/>
                </a:solidFill>
                <a:latin typeface="맑은 고딕"/>
                <a:ea typeface="맑은 고딕"/>
                <a:cs typeface="맑은 고딕"/>
              </a:rPr>
              <a:t>한 스캔의 플롯은 모두 같은 시각</a:t>
            </a:r>
          </a:p>
        </p:txBody>
      </p:sp>
      <p:cxnSp>
        <p:nvCxnSpPr>
          <p:cNvPr id="32" name="Connector 31"/>
          <p:cNvCxnSpPr/>
          <p:nvPr/>
        </p:nvCxnSpPr>
        <p:spPr>
          <a:xfrm>
            <a:off x="640080" y="5404104"/>
            <a:ext cx="58064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766560" y="1965960"/>
            <a:ext cx="4782312" cy="274320"/>
          </a:xfrm>
          <a:prstGeom prst="rect">
            <a:avLst/>
          </a:prstGeom>
          <a:noFill/>
        </p:spPr>
        <p:txBody>
          <a:bodyPr wrap="square" anchor="ctr" lIns="0" tIns="0" rIns="0" bIns="0">
            <a:noAutofit/>
          </a:bodyPr>
          <a:lstStyle/>
          <a:p>
            <a:pPr algn="l">
              <a:lnSpc>
                <a:spcPct val="115000"/>
              </a:lnSpc>
              <a:spcAft>
                <a:spcPts val="0"/>
              </a:spcAft>
            </a:pPr>
            <a:r>
              <a:rPr sz="1300" b="1" i="0" lang="ko-KR" altLang="en-US">
                <a:solidFill>
                  <a:srgbClr val="1B2740"/>
                </a:solidFill>
                <a:latin typeface="맑은 고딕"/>
                <a:ea typeface="맑은 고딕"/>
                <a:cs typeface="맑은 고딕"/>
              </a:rPr>
              <a:t>실제라면 달라지는 점</a:t>
            </a:r>
          </a:p>
        </p:txBody>
      </p:sp>
      <p:sp>
        <p:nvSpPr>
          <p:cNvPr id="34" name="Rectangle 33"/>
          <p:cNvSpPr/>
          <p:nvPr/>
        </p:nvSpPr>
        <p:spPr>
          <a:xfrm>
            <a:off x="6766560" y="2331720"/>
            <a:ext cx="4782312" cy="3072384"/>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67728" y="2331720"/>
            <a:ext cx="4416552" cy="3072384"/>
          </a:xfrm>
          <a:prstGeom prst="rect">
            <a:avLst/>
          </a:prstGeom>
          <a:noFill/>
        </p:spPr>
        <p:txBody>
          <a:bodyPr wrap="square" anchor="ctr" lIns="0" tIns="0" rIns="0" bIns="0">
            <a:noAutofit/>
          </a:bodyPr>
          <a:lstStyle/>
          <a:p>
            <a:pPr algn="l" marL="164592" indent="-164592">
              <a:lnSpc>
                <a:spcPct val="112000"/>
              </a:lnSpc>
              <a:spcAft>
                <a:spcPts val="600"/>
              </a:spcAft>
              <a:buClr>
                <a:srgbClr val="D97706"/>
              </a:buClr>
              <a:buFont typeface="Arial"/>
              <a:buChar char="▪"/>
            </a:pPr>
            <a:r>
              <a:rPr sz="1250" b="1" i="0" lang="ko-KR" altLang="en-US">
                <a:solidFill>
                  <a:srgbClr val="1B2740"/>
                </a:solidFill>
                <a:latin typeface="맑은 고딕"/>
                <a:ea typeface="맑은 고딕"/>
                <a:cs typeface="맑은 고딕"/>
              </a:rPr>
              <a:t>SNR 이 거리에 따라 바뀐다</a:t>
            </a:r>
            <a:br>
              <a:rPr lang="ko-KR" sz="1250"/>
            </a:br>
            <a:r>
              <a:rPr sz="1150" b="0" i="0" lang="ko-KR" altLang="en-US">
                <a:solidFill>
                  <a:srgbClr val="4A5A7A"/>
                </a:solidFill>
                <a:latin typeface="맑은 고딕"/>
                <a:ea typeface="맑은 고딕"/>
                <a:cs typeface="맑은 고딕"/>
              </a:rPr>
              <a:t>13.3 km → 1.4 km 면 약 40 dB 커져 오차가 준다</a:t>
            </a:r>
          </a:p>
          <a:p>
            <a:pPr algn="l" marL="164592" indent="-164592">
              <a:lnSpc>
                <a:spcPct val="112000"/>
              </a:lnSpc>
              <a:spcAft>
                <a:spcPts val="600"/>
              </a:spcAft>
              <a:buClr>
                <a:srgbClr val="D97706"/>
              </a:buClr>
              <a:buFont typeface="Arial"/>
              <a:buChar char="▪"/>
            </a:pPr>
            <a:r>
              <a:rPr sz="1250" b="1" i="0" lang="ko-KR" altLang="en-US">
                <a:solidFill>
                  <a:srgbClr val="1B2740"/>
                </a:solidFill>
                <a:latin typeface="맑은 고딕"/>
                <a:ea typeface="맑은 고딕"/>
                <a:cs typeface="맑은 고딕"/>
              </a:rPr>
              <a:t>놓치는 스캔이 있다</a:t>
            </a:r>
            <a:br>
              <a:rPr lang="ko-KR" sz="1250"/>
            </a:br>
            <a:r>
              <a:rPr sz="1150" b="0" i="0" lang="ko-KR" altLang="en-US">
                <a:solidFill>
                  <a:srgbClr val="4A5A7A"/>
                </a:solidFill>
                <a:latin typeface="맑은 고딕"/>
                <a:ea typeface="맑은 고딕"/>
                <a:cs typeface="맑은 고딕"/>
              </a:rPr>
              <a:t>탐지 확률은 1 보다 작다</a:t>
            </a:r>
          </a:p>
          <a:p>
            <a:pPr algn="l" marL="164592" indent="-164592">
              <a:lnSpc>
                <a:spcPct val="112000"/>
              </a:lnSpc>
              <a:spcAft>
                <a:spcPts val="600"/>
              </a:spcAft>
              <a:buClr>
                <a:srgbClr val="D97706"/>
              </a:buClr>
              <a:buFont typeface="Arial"/>
              <a:buChar char="▪"/>
            </a:pPr>
            <a:r>
              <a:rPr sz="1250" b="1" i="0" lang="ko-KR" altLang="en-US">
                <a:solidFill>
                  <a:srgbClr val="1B2740"/>
                </a:solidFill>
                <a:latin typeface="맑은 고딕"/>
                <a:ea typeface="맑은 고딕"/>
                <a:cs typeface="맑은 고딕"/>
              </a:rPr>
              <a:t>오차에 바닥이 있다</a:t>
            </a:r>
            <a:br>
              <a:rPr lang="ko-KR" sz="1250"/>
            </a:br>
            <a:r>
              <a:rPr sz="1150" b="0" i="0" lang="ko-KR" altLang="en-US">
                <a:solidFill>
                  <a:srgbClr val="4A5A7A"/>
                </a:solidFill>
                <a:latin typeface="맑은 고딕"/>
                <a:ea typeface="맑은 고딕"/>
                <a:cs typeface="맑은 고딕"/>
              </a:rPr>
              <a:t>치우침 (바이어스) 과 고정 오차가 남는다</a:t>
            </a:r>
          </a:p>
          <a:p>
            <a:pPr algn="l" marL="164592" indent="-164592">
              <a:lnSpc>
                <a:spcPct val="112000"/>
              </a:lnSpc>
              <a:spcAft>
                <a:spcPts val="600"/>
              </a:spcAft>
              <a:buClr>
                <a:srgbClr val="D97706"/>
              </a:buClr>
              <a:buFont typeface="Arial"/>
              <a:buChar char="▪"/>
            </a:pPr>
            <a:r>
              <a:rPr sz="1250" b="1" i="0" lang="ko-KR" altLang="en-US">
                <a:solidFill>
                  <a:srgbClr val="1B2740"/>
                </a:solidFill>
                <a:latin typeface="맑은 고딕"/>
                <a:ea typeface="맑은 고딕"/>
                <a:cs typeface="맑은 고딕"/>
              </a:rPr>
              <a:t>낮은 고각은 오차가 크다</a:t>
            </a:r>
            <a:br>
              <a:rPr lang="ko-KR" sz="1250"/>
            </a:br>
            <a:r>
              <a:rPr sz="1150" b="0" i="0" lang="ko-KR" altLang="en-US">
                <a:solidFill>
                  <a:srgbClr val="4A5A7A"/>
                </a:solidFill>
                <a:latin typeface="맑은 고딕"/>
                <a:ea typeface="맑은 고딕"/>
                <a:cs typeface="맑은 고딕"/>
              </a:rPr>
              <a:t>대함 표적은 바다 반사 (다중경로) 영향</a:t>
            </a:r>
          </a:p>
          <a:p>
            <a:pPr algn="l" marL="164592" indent="-164592">
              <a:lnSpc>
                <a:spcPct val="112000"/>
              </a:lnSpc>
              <a:spcAft>
                <a:spcPts val="600"/>
              </a:spcAft>
              <a:buClr>
                <a:srgbClr val="D97706"/>
              </a:buClr>
              <a:buFont typeface="Arial"/>
              <a:buChar char="▪"/>
            </a:pPr>
            <a:r>
              <a:rPr sz="1250" b="1" i="0" lang="ko-KR" altLang="en-US">
                <a:solidFill>
                  <a:srgbClr val="1B2740"/>
                </a:solidFill>
                <a:latin typeface="맑은 고딕"/>
                <a:ea typeface="맑은 고딕"/>
                <a:cs typeface="맑은 고딕"/>
              </a:rPr>
              <a:t>해면 클러터는 해면 근처에 몰린다</a:t>
            </a:r>
            <a:br>
              <a:rPr lang="ko-KR" sz="1250"/>
            </a:br>
            <a:r>
              <a:rPr sz="1150" b="0" i="0" lang="ko-KR" altLang="en-US">
                <a:solidFill>
                  <a:srgbClr val="4A5A7A"/>
                </a:solidFill>
                <a:latin typeface="맑은 고딕"/>
                <a:ea typeface="맑은 고딕"/>
                <a:cs typeface="맑은 고딕"/>
              </a:rPr>
              <a:t>고각 0 ~ 30° 균등은 시험용 단순화</a:t>
            </a:r>
          </a:p>
        </p:txBody>
      </p:sp>
      <p:sp>
        <p:nvSpPr>
          <p:cNvPr id="36" name="Rectangle 35"/>
          <p:cNvSpPr/>
          <p:nvPr/>
        </p:nvSpPr>
        <p:spPr>
          <a:xfrm>
            <a:off x="640080" y="5650992"/>
            <a:ext cx="10908792" cy="530352"/>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5650992"/>
            <a:ext cx="10451592" cy="530352"/>
          </a:xfrm>
          <a:prstGeom prst="rect">
            <a:avLst/>
          </a:prstGeom>
          <a:noFill/>
        </p:spPr>
        <p:txBody>
          <a:bodyPr wrap="square" anchor="ctr" lIns="0" tIns="0" rIns="0" bIns="0">
            <a:noAutofit/>
          </a:bodyPr>
          <a:lstStyle/>
          <a:p>
            <a:pPr algn="ctr">
              <a:lnSpc>
                <a:spcPct val="115000"/>
              </a:lnSpc>
              <a:spcAft>
                <a:spcPts val="0"/>
              </a:spcAft>
            </a:pPr>
            <a:r>
              <a:rPr sz="1250" b="1" i="0" lang="ko-KR" altLang="en-US">
                <a:solidFill>
                  <a:srgbClr val="F3B08F"/>
                </a:solidFill>
                <a:latin typeface="맑은 고딕"/>
                <a:ea typeface="맑은 고딕"/>
                <a:cs typeface="맑은 고딕"/>
              </a:rPr>
              <a:t>다음 단계와 연결</a:t>
            </a:r>
            <a:r>
              <a:rPr sz="1250" b="0" i="0" lang="ko-KR" altLang="en-US">
                <a:solidFill>
                  <a:srgbClr val="FFFFFF"/>
                </a:solidFill>
                <a:latin typeface="맑은 고딕"/>
                <a:ea typeface="맑은 고딕"/>
                <a:cs typeface="맑은 고딕"/>
              </a:rPr>
              <a:t>     p  →  추적 필터의 측정 잡음 R,       스캔당 클러터 5개  →  클러터 밀도 λ</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07. 정리</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7.2 오차 크기만 맞추면 추적 시험용 플롯을 만들 수 있습니다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23</a:t>
            </a:r>
          </a:p>
        </p:txBody>
      </p:sp>
      <p:sp>
        <p:nvSpPr>
          <p:cNvPr id="7" name="Rectangle 6"/>
          <p:cNvSpPr/>
          <p:nvPr/>
        </p:nvSpPr>
        <p:spPr>
          <a:xfrm>
            <a:off x="640080" y="1965960"/>
            <a:ext cx="3483864" cy="42062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965960"/>
            <a:ext cx="3118104" cy="420624"/>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배운 점</a:t>
            </a:r>
          </a:p>
        </p:txBody>
      </p:sp>
      <p:sp>
        <p:nvSpPr>
          <p:cNvPr id="9" name="Rectangle 8"/>
          <p:cNvSpPr/>
          <p:nvPr/>
        </p:nvSpPr>
        <p:spPr>
          <a:xfrm>
            <a:off x="640080" y="2386584"/>
            <a:ext cx="3483864" cy="2798064"/>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587752"/>
            <a:ext cx="3136392" cy="2560320"/>
          </a:xfrm>
          <a:prstGeom prst="rect">
            <a:avLst/>
          </a:prstGeom>
          <a:noFill/>
        </p:spPr>
        <p:txBody>
          <a:bodyPr wrap="square" anchor="t" lIns="0" tIns="0" rIns="0" bIns="0">
            <a:noAutofit/>
          </a:bodyPr>
          <a:lstStyle/>
          <a:p>
            <a:pPr algn="l" marL="164592" indent="-164592">
              <a:lnSpc>
                <a:spcPct val="115000"/>
              </a:lnSpc>
              <a:spcAft>
                <a:spcPts val="1200"/>
              </a:spcAft>
              <a:buClr>
                <a:srgbClr val="2563EB"/>
              </a:buClr>
              <a:buFont typeface="Arial"/>
              <a:buChar char="▪"/>
            </a:pPr>
            <a:r>
              <a:rPr sz="1300" b="1" i="0" lang="ko-KR" altLang="en-US">
                <a:solidFill>
                  <a:srgbClr val="1B2740"/>
                </a:solidFill>
                <a:latin typeface="맑은 고딕"/>
                <a:ea typeface="맑은 고딕"/>
                <a:cs typeface="맑은 고딕"/>
              </a:rPr>
              <a:t>플롯 = 참값 + 측정 오차</a:t>
            </a:r>
            <a:br>
              <a:rPr lang="ko-KR" sz="1300"/>
            </a:br>
            <a:r>
              <a:rPr sz="1200" b="0" i="0" lang="ko-KR" altLang="en-US">
                <a:solidFill>
                  <a:srgbClr val="4A5A7A"/>
                </a:solidFill>
                <a:latin typeface="맑은 고딕"/>
                <a:ea typeface="맑은 고딕"/>
                <a:cs typeface="맑은 고딕"/>
              </a:rPr>
              <a:t>신호처리 없이 오차 크기만 맞춘다</a:t>
            </a:r>
          </a:p>
          <a:p>
            <a:pPr algn="l" marL="164592" indent="-164592">
              <a:lnSpc>
                <a:spcPct val="115000"/>
              </a:lnSpc>
              <a:spcAft>
                <a:spcPts val="1200"/>
              </a:spcAft>
              <a:buClr>
                <a:srgbClr val="2563EB"/>
              </a:buClr>
              <a:buFont typeface="Arial"/>
              <a:buChar char="▪"/>
            </a:pPr>
            <a:r>
              <a:rPr sz="1300" b="1" i="0" lang="ko-KR" altLang="en-US">
                <a:solidFill>
                  <a:srgbClr val="1B2740"/>
                </a:solidFill>
                <a:latin typeface="맑은 고딕"/>
                <a:ea typeface="맑은 고딕"/>
                <a:cs typeface="맑은 고딕"/>
              </a:rPr>
              <a:t>p = 분해능 ÷ √(2·SNR)</a:t>
            </a:r>
            <a:br>
              <a:rPr lang="ko-KR" sz="1300"/>
            </a:br>
            <a:r>
              <a:rPr sz="1200" b="0" i="0" lang="ko-KR" altLang="en-US">
                <a:solidFill>
                  <a:srgbClr val="4A5A7A"/>
                </a:solidFill>
                <a:latin typeface="맑은 고딕"/>
                <a:ea typeface="맑은 고딕"/>
                <a:cs typeface="맑은 고딕"/>
              </a:rPr>
              <a:t>4.74 m · 0.478° · 0.494°</a:t>
            </a:r>
          </a:p>
          <a:p>
            <a:pPr algn="l" marL="164592" indent="-164592">
              <a:lnSpc>
                <a:spcPct val="115000"/>
              </a:lnSpc>
              <a:spcAft>
                <a:spcPts val="1200"/>
              </a:spcAft>
              <a:buClr>
                <a:srgbClr val="2563EB"/>
              </a:buClr>
              <a:buFont typeface="Arial"/>
              <a:buChar char="▪"/>
            </a:pPr>
            <a:r>
              <a:rPr sz="1300" b="1" i="0" lang="ko-KR" altLang="en-US">
                <a:solidFill>
                  <a:srgbClr val="1B2740"/>
                </a:solidFill>
                <a:latin typeface="맑은 고딕"/>
                <a:ea typeface="맑은 고딕"/>
                <a:cs typeface="맑은 고딕"/>
              </a:rPr>
              <a:t>각도 오차 × 거리 = 옆 방향 오차</a:t>
            </a:r>
            <a:br>
              <a:rPr lang="ko-KR" sz="1300"/>
            </a:br>
            <a:r>
              <a:rPr sz="1200" b="0" i="0" lang="ko-KR" altLang="en-US">
                <a:solidFill>
                  <a:srgbClr val="4A5A7A"/>
                </a:solidFill>
                <a:latin typeface="맑은 고딕"/>
                <a:ea typeface="맑은 고딕"/>
                <a:cs typeface="맑은 고딕"/>
              </a:rPr>
              <a:t>12.7 km 에서 약 106 m</a:t>
            </a:r>
          </a:p>
        </p:txBody>
      </p:sp>
      <p:sp>
        <p:nvSpPr>
          <p:cNvPr id="11" name="Rectangle 10"/>
          <p:cNvSpPr/>
          <p:nvPr/>
        </p:nvSpPr>
        <p:spPr>
          <a:xfrm>
            <a:off x="4352544" y="1965960"/>
            <a:ext cx="3483864" cy="420624"/>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35424" y="1965960"/>
            <a:ext cx="3118104" cy="420624"/>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구현하며 정한 점</a:t>
            </a:r>
          </a:p>
        </p:txBody>
      </p:sp>
      <p:sp>
        <p:nvSpPr>
          <p:cNvPr id="13" name="Rectangle 12"/>
          <p:cNvSpPr/>
          <p:nvPr/>
        </p:nvSpPr>
        <p:spPr>
          <a:xfrm>
            <a:off x="4352544" y="2386584"/>
            <a:ext cx="3483864" cy="2798064"/>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2587752"/>
            <a:ext cx="3136392" cy="2560320"/>
          </a:xfrm>
          <a:prstGeom prst="rect">
            <a:avLst/>
          </a:prstGeom>
          <a:noFill/>
        </p:spPr>
        <p:txBody>
          <a:bodyPr wrap="square" anchor="t" lIns="0" tIns="0" rIns="0" bIns="0">
            <a:noAutofit/>
          </a:bodyPr>
          <a:lstStyle/>
          <a:p>
            <a:pPr algn="l" marL="164592" indent="-164592">
              <a:lnSpc>
                <a:spcPct val="115000"/>
              </a:lnSpc>
              <a:spcAft>
                <a:spcPts val="1200"/>
              </a:spcAft>
              <a:buClr>
                <a:srgbClr val="D97706"/>
              </a:buClr>
              <a:buFont typeface="Arial"/>
              <a:buChar char="▪"/>
            </a:pPr>
            <a:r>
              <a:rPr sz="1300" b="1" i="0" lang="ko-KR" altLang="en-US">
                <a:solidFill>
                  <a:srgbClr val="1B2740"/>
                </a:solidFill>
                <a:latin typeface="맑은 고딕"/>
                <a:ea typeface="맑은 고딕"/>
                <a:cs typeface="맑은 고딕"/>
              </a:rPr>
              <a:t>표적 5개</a:t>
            </a:r>
            <a:br>
              <a:rPr lang="ko-KR" sz="1300"/>
            </a:br>
            <a:r>
              <a:rPr sz="1200" b="0" i="0" lang="ko-KR" altLang="en-US">
                <a:solidFill>
                  <a:srgbClr val="4A5A7A"/>
                </a:solidFill>
                <a:latin typeface="맑은 고딕"/>
                <a:ea typeface="맑은 고딕"/>
                <a:cs typeface="맑은 고딕"/>
              </a:rPr>
              <a:t>과제 3 대공 · 대함 + 3개 추가</a:t>
            </a:r>
          </a:p>
          <a:p>
            <a:pPr algn="l" marL="164592" indent="-164592">
              <a:lnSpc>
                <a:spcPct val="115000"/>
              </a:lnSpc>
              <a:spcAft>
                <a:spcPts val="1200"/>
              </a:spcAft>
              <a:buClr>
                <a:srgbClr val="D97706"/>
              </a:buClr>
              <a:buFont typeface="Arial"/>
              <a:buChar char="▪"/>
            </a:pPr>
            <a:r>
              <a:rPr sz="1300" b="1" i="0" lang="ko-KR" altLang="en-US">
                <a:solidFill>
                  <a:srgbClr val="1B2740"/>
                </a:solidFill>
                <a:latin typeface="맑은 고딕"/>
                <a:ea typeface="맑은 고딕"/>
                <a:cs typeface="맑은 고딕"/>
              </a:rPr>
              <a:t>SNR 20 은 선형값</a:t>
            </a:r>
            <a:br>
              <a:rPr lang="ko-KR" sz="1300"/>
            </a:br>
            <a:r>
              <a:rPr sz="1200" b="0" i="0" lang="ko-KR" altLang="en-US">
                <a:solidFill>
                  <a:srgbClr val="4A5A7A"/>
                </a:solidFill>
                <a:latin typeface="맑은 고딕"/>
                <a:ea typeface="맑은 고딕"/>
                <a:cs typeface="맑은 고딕"/>
              </a:rPr>
              <a:t>20 dB 라면 오차가 √5 배 작아진다</a:t>
            </a:r>
          </a:p>
          <a:p>
            <a:pPr algn="l" marL="164592" indent="-164592">
              <a:lnSpc>
                <a:spcPct val="115000"/>
              </a:lnSpc>
              <a:spcAft>
                <a:spcPts val="1200"/>
              </a:spcAft>
              <a:buClr>
                <a:srgbClr val="D97706"/>
              </a:buClr>
              <a:buFont typeface="Arial"/>
              <a:buChar char="▪"/>
            </a:pPr>
            <a:r>
              <a:rPr sz="1300" b="1" i="0" lang="ko-KR" altLang="en-US">
                <a:solidFill>
                  <a:srgbClr val="1B2740"/>
                </a:solidFill>
                <a:latin typeface="맑은 고딕"/>
                <a:ea typeface="맑은 고딕"/>
                <a:cs typeface="맑은 고딕"/>
              </a:rPr>
              <a:t>클러터는 스캔마다 정확히 5개</a:t>
            </a:r>
            <a:br>
              <a:rPr lang="ko-KR" sz="1300"/>
            </a:br>
            <a:r>
              <a:rPr sz="1200" b="0" i="0" lang="ko-KR" altLang="en-US">
                <a:solidFill>
                  <a:srgbClr val="4A5A7A"/>
                </a:solidFill>
                <a:latin typeface="맑은 고딕"/>
                <a:ea typeface="맑은 고딕"/>
                <a:cs typeface="맑은 고딕"/>
              </a:rPr>
              <a:t>FOV 안 균등난수</a:t>
            </a:r>
          </a:p>
          <a:p>
            <a:pPr algn="l" marL="164592" indent="-164592">
              <a:lnSpc>
                <a:spcPct val="115000"/>
              </a:lnSpc>
              <a:spcAft>
                <a:spcPts val="1200"/>
              </a:spcAft>
              <a:buClr>
                <a:srgbClr val="D97706"/>
              </a:buClr>
              <a:buFont typeface="Arial"/>
              <a:buChar char="▪"/>
            </a:pPr>
            <a:r>
              <a:rPr sz="1300" b="1" i="0" lang="ko-KR" altLang="en-US">
                <a:solidFill>
                  <a:srgbClr val="1B2740"/>
                </a:solidFill>
                <a:latin typeface="맑은 고딕"/>
                <a:ea typeface="맑은 고딕"/>
                <a:cs typeface="맑은 고딕"/>
              </a:rPr>
              <a:t>방위각은 조준축 왼쪽이 +</a:t>
            </a:r>
            <a:br>
              <a:rPr lang="ko-KR" sz="1300"/>
            </a:br>
            <a:r>
              <a:rPr sz="1200" b="0" i="0" lang="ko-KR" altLang="en-US">
                <a:solidFill>
                  <a:srgbClr val="4A5A7A"/>
                </a:solidFill>
                <a:latin typeface="맑은 고딕"/>
                <a:ea typeface="맑은 고딕"/>
                <a:cs typeface="맑은 고딕"/>
              </a:rPr>
              <a:t>참고 소스 기준.  seed 12345 고정</a:t>
            </a:r>
          </a:p>
        </p:txBody>
      </p:sp>
      <p:sp>
        <p:nvSpPr>
          <p:cNvPr id="15" name="Rectangle 14"/>
          <p:cNvSpPr/>
          <p:nvPr/>
        </p:nvSpPr>
        <p:spPr>
          <a:xfrm>
            <a:off x="8065008" y="1965960"/>
            <a:ext cx="3483864" cy="420624"/>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47888" y="1965960"/>
            <a:ext cx="3118104" cy="420624"/>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다음에 할 것</a:t>
            </a:r>
          </a:p>
        </p:txBody>
      </p:sp>
      <p:sp>
        <p:nvSpPr>
          <p:cNvPr id="17" name="Rectangle 16"/>
          <p:cNvSpPr/>
          <p:nvPr/>
        </p:nvSpPr>
        <p:spPr>
          <a:xfrm>
            <a:off x="8065008" y="2386584"/>
            <a:ext cx="3483864" cy="2798064"/>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2587752"/>
            <a:ext cx="3136392" cy="2560320"/>
          </a:xfrm>
          <a:prstGeom prst="rect">
            <a:avLst/>
          </a:prstGeom>
          <a:noFill/>
        </p:spPr>
        <p:txBody>
          <a:bodyPr wrap="square" anchor="t" lIns="0" tIns="0" rIns="0" bIns="0">
            <a:noAutofit/>
          </a:bodyPr>
          <a:lstStyle/>
          <a:p>
            <a:pPr algn="l" marL="164592" indent="-164592">
              <a:lnSpc>
                <a:spcPct val="115000"/>
              </a:lnSpc>
              <a:spcAft>
                <a:spcPts val="1200"/>
              </a:spcAft>
              <a:buClr>
                <a:srgbClr val="059669"/>
              </a:buClr>
              <a:buFont typeface="Arial"/>
              <a:buChar char="▪"/>
            </a:pPr>
            <a:r>
              <a:rPr sz="1300" b="1" i="0" lang="ko-KR" altLang="en-US">
                <a:solidFill>
                  <a:srgbClr val="1B2740"/>
                </a:solidFill>
                <a:latin typeface="맑은 고딕"/>
                <a:ea typeface="맑은 고딕"/>
                <a:cs typeface="맑은 고딕"/>
              </a:rPr>
              <a:t>추적 필터 붙이기</a:t>
            </a:r>
            <a:br>
              <a:rPr lang="ko-KR" sz="1300"/>
            </a:br>
            <a:r>
              <a:rPr sz="1200" b="0" i="0" lang="ko-KR" altLang="en-US">
                <a:solidFill>
                  <a:srgbClr val="4A5A7A"/>
                </a:solidFill>
                <a:latin typeface="맑은 고딕"/>
                <a:ea typeface="맑은 고딕"/>
                <a:cs typeface="맑은 고딕"/>
              </a:rPr>
              <a:t>알파-베타, 칼만 필터로 이 플롯을 추적</a:t>
            </a:r>
          </a:p>
          <a:p>
            <a:pPr algn="l" marL="164592" indent="-164592">
              <a:lnSpc>
                <a:spcPct val="115000"/>
              </a:lnSpc>
              <a:spcAft>
                <a:spcPts val="1200"/>
              </a:spcAft>
              <a:buClr>
                <a:srgbClr val="059669"/>
              </a:buClr>
              <a:buFont typeface="Arial"/>
              <a:buChar char="▪"/>
            </a:pPr>
            <a:r>
              <a:rPr sz="1300" b="1" i="0" lang="ko-KR" altLang="en-US">
                <a:solidFill>
                  <a:srgbClr val="1B2740"/>
                </a:solidFill>
                <a:latin typeface="맑은 고딕"/>
                <a:ea typeface="맑은 고딕"/>
                <a:cs typeface="맑은 고딕"/>
              </a:rPr>
              <a:t>선회 표적 추적</a:t>
            </a:r>
            <a:br>
              <a:rPr lang="ko-KR" sz="1300"/>
            </a:br>
            <a:r>
              <a:rPr sz="1200" b="0" i="0" lang="ko-KR" altLang="en-US">
                <a:solidFill>
                  <a:srgbClr val="4A5A7A"/>
                </a:solidFill>
                <a:latin typeface="맑은 고딕"/>
                <a:ea typeface="맑은 고딕"/>
                <a:cs typeface="맑은 고딕"/>
              </a:rPr>
              <a:t>표적 3 처럼 도는 표적을 놓치지 않는지</a:t>
            </a:r>
          </a:p>
          <a:p>
            <a:pPr algn="l" marL="164592" indent="-164592">
              <a:lnSpc>
                <a:spcPct val="115000"/>
              </a:lnSpc>
              <a:spcAft>
                <a:spcPts val="1200"/>
              </a:spcAft>
              <a:buClr>
                <a:srgbClr val="059669"/>
              </a:buClr>
              <a:buFont typeface="Arial"/>
              <a:buChar char="▪"/>
            </a:pPr>
            <a:r>
              <a:rPr sz="1300" b="1" i="0" lang="ko-KR" altLang="en-US">
                <a:solidFill>
                  <a:srgbClr val="1B2740"/>
                </a:solidFill>
                <a:latin typeface="맑은 고딕"/>
                <a:ea typeface="맑은 고딕"/>
                <a:cs typeface="맑은 고딕"/>
              </a:rPr>
              <a:t>조건 바꿔 보기</a:t>
            </a:r>
            <a:br>
              <a:rPr lang="ko-KR" sz="1300"/>
            </a:br>
            <a:r>
              <a:rPr sz="1200" b="0" i="0" lang="ko-KR" altLang="en-US">
                <a:solidFill>
                  <a:srgbClr val="4A5A7A"/>
                </a:solidFill>
                <a:latin typeface="맑은 고딕"/>
                <a:ea typeface="맑은 고딕"/>
                <a:cs typeface="맑은 고딕"/>
              </a:rPr>
              <a:t>SNR, 클러터 수를 바꿔 추적 성능 비교</a:t>
            </a:r>
          </a:p>
        </p:txBody>
      </p:sp>
      <p:sp>
        <p:nvSpPr>
          <p:cNvPr id="19" name="Rectangle 18"/>
          <p:cNvSpPr/>
          <p:nvPr/>
        </p:nvSpPr>
        <p:spPr>
          <a:xfrm>
            <a:off x="640080" y="5413248"/>
            <a:ext cx="10908792" cy="603504"/>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5413248"/>
            <a:ext cx="10451592" cy="603504"/>
          </a:xfrm>
          <a:prstGeom prst="rect">
            <a:avLst/>
          </a:prstGeom>
          <a:noFill/>
        </p:spPr>
        <p:txBody>
          <a:bodyPr wrap="square" anchor="ctr" lIns="0" tIns="0" rIns="0" bIns="0">
            <a:noAutofit/>
          </a:bodyPr>
          <a:lstStyle/>
          <a:p>
            <a:pPr algn="ctr">
              <a:lnSpc>
                <a:spcPct val="115000"/>
              </a:lnSpc>
              <a:spcAft>
                <a:spcPts val="0"/>
              </a:spcAft>
            </a:pPr>
            <a:r>
              <a:rPr sz="1350" b="1" i="0" lang="ko-KR" altLang="en-US">
                <a:solidFill>
                  <a:srgbClr val="C7D0E2"/>
                </a:solidFill>
                <a:latin typeface="맑은 고딕"/>
                <a:ea typeface="맑은 고딕"/>
                <a:cs typeface="맑은 고딕"/>
              </a:rPr>
              <a:t>검증</a:t>
            </a:r>
            <a:r>
              <a:rPr sz="1350" b="0" i="0" lang="ko-KR" altLang="en-US">
                <a:solidFill>
                  <a:srgbClr val="FFFFFF"/>
                </a:solidFill>
                <a:latin typeface="맑은 고딕"/>
                <a:ea typeface="맑은 고딕"/>
                <a:cs typeface="맑은 고딕"/>
              </a:rPr>
              <a:t>     난수 · 표준편차 · 플롯 · 클러터 모두 기준 안</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4206240" y="2834640"/>
            <a:ext cx="6766560" cy="731520"/>
          </a:xfrm>
          <a:prstGeom prst="rect">
            <a:avLst/>
          </a:prstGeom>
          <a:noFill/>
        </p:spPr>
        <p:txBody>
          <a:bodyPr wrap="square" anchor="ctr" lIns="0" tIns="0" rIns="0" bIns="0">
            <a:noAutofit/>
          </a:bodyPr>
          <a:lstStyle/>
          <a:p>
            <a:pPr algn="r">
              <a:lnSpc>
                <a:spcPct val="115000"/>
              </a:lnSpc>
              <a:spcAft>
                <a:spcPts val="0"/>
              </a:spcAft>
            </a:pPr>
            <a:r>
              <a:rPr sz="3600" b="1" i="0" lang="ko-KR" altLang="en-US">
                <a:solidFill>
                  <a:srgbClr val="FFFFFF"/>
                </a:solidFill>
                <a:latin typeface="맑은 고딕"/>
                <a:ea typeface="맑은 고딕"/>
                <a:cs typeface="맑은 고딕"/>
              </a:rPr>
              <a:t>감사합니다</a:t>
            </a:r>
          </a:p>
        </p:txBody>
      </p:sp>
      <p:cxnSp>
        <p:nvCxnSpPr>
          <p:cNvPr id="4" name="Connector 3"/>
          <p:cNvCxnSpPr/>
          <p:nvPr/>
        </p:nvCxnSpPr>
        <p:spPr>
          <a:xfrm>
            <a:off x="7863840" y="3767328"/>
            <a:ext cx="3108960" cy="0"/>
          </a:xfrm>
          <a:prstGeom prst="line">
            <a:avLst/>
          </a:prstGeom>
          <a:ln w="9525">
            <a:solidFill>
              <a:srgbClr val="AEB9C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206240" y="3913632"/>
            <a:ext cx="6766560" cy="310896"/>
          </a:xfrm>
          <a:prstGeom prst="rect">
            <a:avLst/>
          </a:prstGeom>
          <a:noFill/>
        </p:spPr>
        <p:txBody>
          <a:bodyPr wrap="square" anchor="ctr" lIns="0" tIns="0" rIns="0" bIns="0">
            <a:noAutofit/>
          </a:bodyPr>
          <a:lstStyle/>
          <a:p>
            <a:pPr algn="r">
              <a:lnSpc>
                <a:spcPct val="115000"/>
              </a:lnSpc>
              <a:spcAft>
                <a:spcPts val="0"/>
              </a:spcAft>
            </a:pPr>
            <a:r>
              <a:rPr sz="1400" b="0" i="0" lang="ko-KR" altLang="en-US">
                <a:solidFill>
                  <a:srgbClr val="AEB9CC"/>
                </a:solidFill>
                <a:latin typeface="맑은 고딕"/>
                <a:ea typeface="맑은 고딕"/>
                <a:cs typeface="맑은 고딕"/>
              </a:rPr>
              <a:t>질의응답</a:t>
            </a:r>
          </a:p>
        </p:txBody>
      </p:sp>
      <p:sp>
        <p:nvSpPr>
          <p:cNvPr id="6" name="TextBox 5"/>
          <p:cNvSpPr txBox="1"/>
          <p:nvPr/>
        </p:nvSpPr>
        <p:spPr>
          <a:xfrm>
            <a:off x="4206240" y="5120640"/>
            <a:ext cx="6766560" cy="292608"/>
          </a:xfrm>
          <a:prstGeom prst="rect">
            <a:avLst/>
          </a:prstGeom>
          <a:noFill/>
        </p:spPr>
        <p:txBody>
          <a:bodyPr wrap="square" anchor="ctr" lIns="0" tIns="0" rIns="0" bIns="0">
            <a:noAutofit/>
          </a:bodyPr>
          <a:lstStyle/>
          <a:p>
            <a:pPr algn="r">
              <a:lnSpc>
                <a:spcPct val="115000"/>
              </a:lnSpc>
              <a:spcAft>
                <a:spcPts val="0"/>
              </a:spcAft>
            </a:pPr>
            <a:r>
              <a:rPr sz="1200" b="0" i="0" lang="ko-KR" altLang="en-US">
                <a:solidFill>
                  <a:srgbClr val="FFFFFF"/>
                </a:solidFill>
                <a:latin typeface="맑은 고딕"/>
                <a:ea typeface="맑은 고딕"/>
                <a:cs typeface="맑은 고딕"/>
              </a:rPr>
              <a:t>Janghwan Kim (Harley)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부록</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A.1 예상 질문과 답 (1 / 2)</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25</a:t>
            </a:r>
          </a:p>
        </p:txBody>
      </p:sp>
      <p:sp>
        <p:nvSpPr>
          <p:cNvPr id="7" name="Rectangle 6"/>
          <p:cNvSpPr/>
          <p:nvPr/>
        </p:nvSpPr>
        <p:spPr>
          <a:xfrm>
            <a:off x="640080" y="1965960"/>
            <a:ext cx="5317236" cy="1993391"/>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4671" y="2121408"/>
            <a:ext cx="329184" cy="329184"/>
          </a:xfrm>
          <a:prstGeom prst="ellipse">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1" y="2121408"/>
            <a:ext cx="329184" cy="329184"/>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FFFFFF"/>
                </a:solidFill>
                <a:latin typeface="Arial"/>
                <a:ea typeface="맑은 고딕"/>
                <a:cs typeface="Arial"/>
              </a:rPr>
              <a:t>Q</a:t>
            </a:r>
          </a:p>
        </p:txBody>
      </p:sp>
      <p:sp>
        <p:nvSpPr>
          <p:cNvPr id="10" name="TextBox 9"/>
          <p:cNvSpPr txBox="1"/>
          <p:nvPr/>
        </p:nvSpPr>
        <p:spPr>
          <a:xfrm>
            <a:off x="1243584" y="2075688"/>
            <a:ext cx="4539996" cy="420624"/>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1B2740"/>
                </a:solidFill>
                <a:latin typeface="맑은 고딕"/>
                <a:ea typeface="맑은 고딕"/>
                <a:cs typeface="맑은 고딕"/>
              </a:rPr>
              <a:t>SNR 20 은 선형값인가요, dB 인가요?</a:t>
            </a:r>
          </a:p>
        </p:txBody>
      </p:sp>
      <p:sp>
        <p:nvSpPr>
          <p:cNvPr id="11" name="TextBox 10"/>
          <p:cNvSpPr txBox="1"/>
          <p:nvPr/>
        </p:nvSpPr>
        <p:spPr>
          <a:xfrm>
            <a:off x="841247" y="2587752"/>
            <a:ext cx="4914899" cy="969263"/>
          </a:xfrm>
          <a:prstGeom prst="rect">
            <a:avLst/>
          </a:prstGeom>
          <a:noFill/>
        </p:spPr>
        <p:txBody>
          <a:bodyPr wrap="square" anchor="t" lIns="0" tIns="0" rIns="0" bIns="0">
            <a:noAutofit/>
          </a:bodyPr>
          <a:lstStyle/>
          <a:p>
            <a:pPr algn="l">
              <a:lnSpc>
                <a:spcPct val="120000"/>
              </a:lnSpc>
              <a:spcAft>
                <a:spcPts val="0"/>
              </a:spcAft>
            </a:pPr>
            <a:r>
              <a:rPr sz="1200" b="0" i="0" lang="ko-KR" altLang="en-US">
                <a:solidFill>
                  <a:srgbClr val="1B2740"/>
                </a:solidFill>
                <a:latin typeface="맑은 고딕"/>
                <a:ea typeface="맑은 고딕"/>
                <a:cs typeface="맑은 고딕"/>
              </a:rPr>
              <a:t>원문 식에 dB 를 바꾸는 단계가 없어 선형 20 (약 13 dB) 으로 했습니다. 20 dB, 즉 선형 100 이면 오차가 √5 배 (약 2.2배) 작아집니다.</a:t>
            </a:r>
          </a:p>
        </p:txBody>
      </p:sp>
      <p:sp>
        <p:nvSpPr>
          <p:cNvPr id="12" name="TextBox 11"/>
          <p:cNvSpPr txBox="1"/>
          <p:nvPr/>
        </p:nvSpPr>
        <p:spPr>
          <a:xfrm>
            <a:off x="841247" y="3538728"/>
            <a:ext cx="4914899" cy="329184"/>
          </a:xfrm>
          <a:prstGeom prst="rect">
            <a:avLst/>
          </a:prstGeom>
          <a:noFill/>
        </p:spPr>
        <p:txBody>
          <a:bodyPr wrap="square" anchor="ctr" lIns="0" tIns="0" rIns="0" bIns="0">
            <a:noAutofit/>
          </a:bodyPr>
          <a:lstStyle/>
          <a:p>
            <a:pPr algn="l">
              <a:lnSpc>
                <a:spcPct val="115000"/>
              </a:lnSpc>
              <a:spcAft>
                <a:spcPts val="0"/>
              </a:spcAft>
            </a:pPr>
            <a:r>
              <a:rPr sz="1150" b="1" i="0" lang="ko-KR" altLang="en-US">
                <a:solidFill>
                  <a:srgbClr val="2563EB"/>
                </a:solidFill>
                <a:latin typeface="맑은 고딕"/>
                <a:ea typeface="맑은 고딕"/>
                <a:cs typeface="맑은 고딕"/>
              </a:rPr>
              <a:t>20 dB 일 때   2.12 m · 0.214° · 0.221°</a:t>
            </a:r>
          </a:p>
        </p:txBody>
      </p:sp>
      <p:sp>
        <p:nvSpPr>
          <p:cNvPr id="13" name="Rectangle 12"/>
          <p:cNvSpPr/>
          <p:nvPr/>
        </p:nvSpPr>
        <p:spPr>
          <a:xfrm>
            <a:off x="6231636" y="1965960"/>
            <a:ext cx="5317236" cy="1993391"/>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96227" y="2121408"/>
            <a:ext cx="329184" cy="329184"/>
          </a:xfrm>
          <a:prstGeom prst="ellipse">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96227" y="2121408"/>
            <a:ext cx="329184" cy="329184"/>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FFFFFF"/>
                </a:solidFill>
                <a:latin typeface="Arial"/>
                <a:ea typeface="맑은 고딕"/>
                <a:cs typeface="Arial"/>
              </a:rPr>
              <a:t>Q</a:t>
            </a:r>
          </a:p>
        </p:txBody>
      </p:sp>
      <p:sp>
        <p:nvSpPr>
          <p:cNvPr id="16" name="TextBox 15"/>
          <p:cNvSpPr txBox="1"/>
          <p:nvPr/>
        </p:nvSpPr>
        <p:spPr>
          <a:xfrm>
            <a:off x="6835140" y="2075688"/>
            <a:ext cx="4539996" cy="420624"/>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1B2740"/>
                </a:solidFill>
                <a:latin typeface="맑은 고딕"/>
                <a:ea typeface="맑은 고딕"/>
                <a:cs typeface="맑은 고딕"/>
              </a:rPr>
              <a:t>잡음을 왜 가우시안으로 두나요?</a:t>
            </a:r>
          </a:p>
        </p:txBody>
      </p:sp>
      <p:sp>
        <p:nvSpPr>
          <p:cNvPr id="17" name="TextBox 16"/>
          <p:cNvSpPr txBox="1"/>
          <p:nvPr/>
        </p:nvSpPr>
        <p:spPr>
          <a:xfrm>
            <a:off x="6432803" y="2587752"/>
            <a:ext cx="4914899" cy="969263"/>
          </a:xfrm>
          <a:prstGeom prst="rect">
            <a:avLst/>
          </a:prstGeom>
          <a:noFill/>
        </p:spPr>
        <p:txBody>
          <a:bodyPr wrap="square" anchor="t" lIns="0" tIns="0" rIns="0" bIns="0">
            <a:noAutofit/>
          </a:bodyPr>
          <a:lstStyle/>
          <a:p>
            <a:pPr algn="l">
              <a:lnSpc>
                <a:spcPct val="120000"/>
              </a:lnSpc>
              <a:spcAft>
                <a:spcPts val="0"/>
              </a:spcAft>
            </a:pPr>
            <a:r>
              <a:rPr sz="1200" b="0" i="0" lang="ko-KR" altLang="en-US">
                <a:solidFill>
                  <a:srgbClr val="1B2740"/>
                </a:solidFill>
                <a:latin typeface="맑은 고딕"/>
                <a:ea typeface="맑은 고딕"/>
                <a:cs typeface="맑은 고딕"/>
              </a:rPr>
              <a:t>수신기 열잡음이 가우시안이고, SNR 이 높으면 거리 · 각도 추정 오차가 그 잡음에 비례하기 때문입니다. 세 성분의 잡음은 서로 독립이라 따로 뽑습니다.</a:t>
            </a:r>
          </a:p>
        </p:txBody>
      </p:sp>
      <p:sp>
        <p:nvSpPr>
          <p:cNvPr id="18" name="TextBox 17"/>
          <p:cNvSpPr txBox="1"/>
          <p:nvPr/>
        </p:nvSpPr>
        <p:spPr>
          <a:xfrm>
            <a:off x="6432803" y="3538728"/>
            <a:ext cx="4914899" cy="329184"/>
          </a:xfrm>
          <a:prstGeom prst="rect">
            <a:avLst/>
          </a:prstGeom>
          <a:noFill/>
        </p:spPr>
        <p:txBody>
          <a:bodyPr wrap="square" anchor="ctr" lIns="0" tIns="0" rIns="0" bIns="0">
            <a:noAutofit/>
          </a:bodyPr>
          <a:lstStyle/>
          <a:p>
            <a:pPr algn="l">
              <a:lnSpc>
                <a:spcPct val="115000"/>
              </a:lnSpc>
              <a:spcAft>
                <a:spcPts val="0"/>
              </a:spcAft>
            </a:pPr>
            <a:r>
              <a:rPr sz="1150" b="1" i="0" lang="ko-KR" altLang="en-US">
                <a:solidFill>
                  <a:srgbClr val="2563EB"/>
                </a:solidFill>
                <a:latin typeface="맑은 고딕"/>
                <a:ea typeface="맑은 고딕"/>
                <a:cs typeface="맑은 고딕"/>
              </a:rPr>
              <a:t>추적 필터도 "측정 = 참값 + 가우시안 잡음" 을 가정</a:t>
            </a:r>
          </a:p>
        </p:txBody>
      </p:sp>
      <p:sp>
        <p:nvSpPr>
          <p:cNvPr id="19" name="Rectangle 18"/>
          <p:cNvSpPr/>
          <p:nvPr/>
        </p:nvSpPr>
        <p:spPr>
          <a:xfrm>
            <a:off x="640080" y="4187952"/>
            <a:ext cx="5317236" cy="1993391"/>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4671" y="4343400"/>
            <a:ext cx="329184" cy="329184"/>
          </a:xfrm>
          <a:prstGeom prst="ellipse">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1" y="4343400"/>
            <a:ext cx="329184" cy="329184"/>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FFFFFF"/>
                </a:solidFill>
                <a:latin typeface="Arial"/>
                <a:ea typeface="맑은 고딕"/>
                <a:cs typeface="Arial"/>
              </a:rPr>
              <a:t>Q</a:t>
            </a:r>
          </a:p>
        </p:txBody>
      </p:sp>
      <p:sp>
        <p:nvSpPr>
          <p:cNvPr id="22" name="TextBox 21"/>
          <p:cNvSpPr txBox="1"/>
          <p:nvPr/>
        </p:nvSpPr>
        <p:spPr>
          <a:xfrm>
            <a:off x="1243584" y="4297680"/>
            <a:ext cx="4539996" cy="420624"/>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1B2740"/>
                </a:solidFill>
                <a:latin typeface="맑은 고딕"/>
                <a:ea typeface="맑은 고딕"/>
                <a:cs typeface="맑은 고딕"/>
              </a:rPr>
              <a:t>클러터가 레이다 근처에 몰려 보이는 이유는?</a:t>
            </a:r>
          </a:p>
        </p:txBody>
      </p:sp>
      <p:sp>
        <p:nvSpPr>
          <p:cNvPr id="23" name="TextBox 22"/>
          <p:cNvSpPr txBox="1"/>
          <p:nvPr/>
        </p:nvSpPr>
        <p:spPr>
          <a:xfrm>
            <a:off x="841247" y="4809744"/>
            <a:ext cx="4914899" cy="969263"/>
          </a:xfrm>
          <a:prstGeom prst="rect">
            <a:avLst/>
          </a:prstGeom>
          <a:noFill/>
        </p:spPr>
        <p:txBody>
          <a:bodyPr wrap="square" anchor="t" lIns="0" tIns="0" rIns="0" bIns="0">
            <a:noAutofit/>
          </a:bodyPr>
          <a:lstStyle/>
          <a:p>
            <a:pPr algn="l">
              <a:lnSpc>
                <a:spcPct val="120000"/>
              </a:lnSpc>
              <a:spcAft>
                <a:spcPts val="0"/>
              </a:spcAft>
            </a:pPr>
            <a:r>
              <a:rPr sz="1200" b="0" i="0" lang="ko-KR" altLang="en-US">
                <a:solidFill>
                  <a:srgbClr val="1B2740"/>
                </a:solidFill>
                <a:latin typeface="맑은 고딕"/>
                <a:ea typeface="맑은 고딕"/>
                <a:cs typeface="맑은 고딕"/>
              </a:rPr>
              <a:t>거리 · 방위각 · 고각을 고르게 뽑았기 때문입니다. 같은 거리 폭이라도 가까운 곳은 넓이가 작아 점이 촘촘해집니다. 오류가 아닙니다.</a:t>
            </a:r>
          </a:p>
        </p:txBody>
      </p:sp>
      <p:sp>
        <p:nvSpPr>
          <p:cNvPr id="24" name="TextBox 23"/>
          <p:cNvSpPr txBox="1"/>
          <p:nvPr/>
        </p:nvSpPr>
        <p:spPr>
          <a:xfrm>
            <a:off x="841247" y="5760720"/>
            <a:ext cx="4914899" cy="329184"/>
          </a:xfrm>
          <a:prstGeom prst="rect">
            <a:avLst/>
          </a:prstGeom>
          <a:noFill/>
        </p:spPr>
        <p:txBody>
          <a:bodyPr wrap="square" anchor="ctr" lIns="0" tIns="0" rIns="0" bIns="0">
            <a:noAutofit/>
          </a:bodyPr>
          <a:lstStyle/>
          <a:p>
            <a:pPr algn="l">
              <a:lnSpc>
                <a:spcPct val="115000"/>
              </a:lnSpc>
              <a:spcAft>
                <a:spcPts val="0"/>
              </a:spcAft>
            </a:pPr>
            <a:r>
              <a:rPr sz="1150" b="1" i="0" lang="ko-KR" altLang="en-US">
                <a:solidFill>
                  <a:srgbClr val="2563EB"/>
                </a:solidFill>
                <a:latin typeface="맑은 고딕"/>
                <a:ea typeface="맑은 고딕"/>
                <a:cs typeface="맑은 고딕"/>
              </a:rPr>
              <a:t>지도 위 밀도는 수평 거리에 반비례</a:t>
            </a:r>
          </a:p>
        </p:txBody>
      </p:sp>
      <p:sp>
        <p:nvSpPr>
          <p:cNvPr id="25" name="Rectangle 24"/>
          <p:cNvSpPr/>
          <p:nvPr/>
        </p:nvSpPr>
        <p:spPr>
          <a:xfrm>
            <a:off x="6231636" y="4187952"/>
            <a:ext cx="5317236" cy="1993391"/>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96227" y="4343400"/>
            <a:ext cx="329184" cy="329184"/>
          </a:xfrm>
          <a:prstGeom prst="ellipse">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96227" y="4343400"/>
            <a:ext cx="329184" cy="329184"/>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FFFFFF"/>
                </a:solidFill>
                <a:latin typeface="Arial"/>
                <a:ea typeface="맑은 고딕"/>
                <a:cs typeface="Arial"/>
              </a:rPr>
              <a:t>Q</a:t>
            </a:r>
          </a:p>
        </p:txBody>
      </p:sp>
      <p:sp>
        <p:nvSpPr>
          <p:cNvPr id="28" name="TextBox 27"/>
          <p:cNvSpPr txBox="1"/>
          <p:nvPr/>
        </p:nvSpPr>
        <p:spPr>
          <a:xfrm>
            <a:off x="6835140" y="4297680"/>
            <a:ext cx="4539996" cy="420624"/>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1B2740"/>
                </a:solidFill>
                <a:latin typeface="맑은 고딕"/>
                <a:ea typeface="맑은 고딕"/>
                <a:cs typeface="맑은 고딕"/>
              </a:rPr>
              <a:t>고도가 음수인 플롯이 나오는 이유는?</a:t>
            </a:r>
          </a:p>
        </p:txBody>
      </p:sp>
      <p:sp>
        <p:nvSpPr>
          <p:cNvPr id="29" name="TextBox 28"/>
          <p:cNvSpPr txBox="1"/>
          <p:nvPr/>
        </p:nvSpPr>
        <p:spPr>
          <a:xfrm>
            <a:off x="6432803" y="4809744"/>
            <a:ext cx="4914899" cy="969263"/>
          </a:xfrm>
          <a:prstGeom prst="rect">
            <a:avLst/>
          </a:prstGeom>
          <a:noFill/>
        </p:spPr>
        <p:txBody>
          <a:bodyPr wrap="square" anchor="t" lIns="0" tIns="0" rIns="0" bIns="0">
            <a:noAutofit/>
          </a:bodyPr>
          <a:lstStyle/>
          <a:p>
            <a:pPr algn="l">
              <a:lnSpc>
                <a:spcPct val="120000"/>
              </a:lnSpc>
              <a:spcAft>
                <a:spcPts val="0"/>
              </a:spcAft>
            </a:pPr>
            <a:r>
              <a:rPr sz="1200" b="0" i="0" lang="ko-KR" altLang="en-US">
                <a:solidFill>
                  <a:srgbClr val="1B2740"/>
                </a:solidFill>
                <a:latin typeface="맑은 고딕"/>
                <a:ea typeface="맑은 고딕"/>
                <a:cs typeface="맑은 고딕"/>
              </a:rPr>
              <a:t>대함 표적은 참 고각이 약 −0.06° 이고 고각 오차가 0.49° 라서, 14 km 에서 고도가 약 ±120 m (1σ) 흔들립니다. 분포가 바뀌지 않게 자르지 않았습니다.</a:t>
            </a:r>
          </a:p>
        </p:txBody>
      </p:sp>
      <p:sp>
        <p:nvSpPr>
          <p:cNvPr id="30" name="TextBox 29"/>
          <p:cNvSpPr txBox="1"/>
          <p:nvPr/>
        </p:nvSpPr>
        <p:spPr>
          <a:xfrm>
            <a:off x="6432803" y="5760720"/>
            <a:ext cx="4914899" cy="329184"/>
          </a:xfrm>
          <a:prstGeom prst="rect">
            <a:avLst/>
          </a:prstGeom>
          <a:noFill/>
        </p:spPr>
        <p:txBody>
          <a:bodyPr wrap="square" anchor="ctr" lIns="0" tIns="0" rIns="0" bIns="0">
            <a:noAutofit/>
          </a:bodyPr>
          <a:lstStyle/>
          <a:p>
            <a:pPr algn="l">
              <a:lnSpc>
                <a:spcPct val="115000"/>
              </a:lnSpc>
              <a:spcAft>
                <a:spcPts val="0"/>
              </a:spcAft>
            </a:pPr>
            <a:r>
              <a:rPr sz="1150" b="1" i="0" lang="ko-KR" altLang="en-US">
                <a:solidFill>
                  <a:srgbClr val="2563EB"/>
                </a:solidFill>
                <a:latin typeface="맑은 고딕"/>
                <a:ea typeface="맑은 고딕"/>
                <a:cs typeface="맑은 고딕"/>
              </a:rPr>
              <a:t>표적 2 플롯 고도   −349 ~ +389 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부록</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A.2 예상 질문과 답 (2 / 2)</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26</a:t>
            </a:r>
          </a:p>
        </p:txBody>
      </p:sp>
      <p:sp>
        <p:nvSpPr>
          <p:cNvPr id="7" name="Rectangle 6"/>
          <p:cNvSpPr/>
          <p:nvPr/>
        </p:nvSpPr>
        <p:spPr>
          <a:xfrm>
            <a:off x="640080" y="1965960"/>
            <a:ext cx="5317236" cy="1993391"/>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4671" y="2121408"/>
            <a:ext cx="329184" cy="329184"/>
          </a:xfrm>
          <a:prstGeom prst="ellipse">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1" y="2121408"/>
            <a:ext cx="329184" cy="329184"/>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FFFFFF"/>
                </a:solidFill>
                <a:latin typeface="Arial"/>
                <a:ea typeface="맑은 고딕"/>
                <a:cs typeface="Arial"/>
              </a:rPr>
              <a:t>Q</a:t>
            </a:r>
          </a:p>
        </p:txBody>
      </p:sp>
      <p:sp>
        <p:nvSpPr>
          <p:cNvPr id="10" name="TextBox 9"/>
          <p:cNvSpPr txBox="1"/>
          <p:nvPr/>
        </p:nvSpPr>
        <p:spPr>
          <a:xfrm>
            <a:off x="1243584" y="2075688"/>
            <a:ext cx="4539996" cy="420624"/>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1B2740"/>
                </a:solidFill>
                <a:latin typeface="맑은 고딕"/>
                <a:ea typeface="맑은 고딕"/>
                <a:cs typeface="맑은 고딕"/>
              </a:rPr>
              <a:t>UNIRAN 12개 합 GAUSS 의 한계는?</a:t>
            </a:r>
          </a:p>
        </p:txBody>
      </p:sp>
      <p:sp>
        <p:nvSpPr>
          <p:cNvPr id="11" name="TextBox 10"/>
          <p:cNvSpPr txBox="1"/>
          <p:nvPr/>
        </p:nvSpPr>
        <p:spPr>
          <a:xfrm>
            <a:off x="841247" y="2587752"/>
            <a:ext cx="4914899" cy="969263"/>
          </a:xfrm>
          <a:prstGeom prst="rect">
            <a:avLst/>
          </a:prstGeom>
          <a:noFill/>
        </p:spPr>
        <p:txBody>
          <a:bodyPr wrap="square" anchor="t" lIns="0" tIns="0" rIns="0" bIns="0">
            <a:noAutofit/>
          </a:bodyPr>
          <a:lstStyle/>
          <a:p>
            <a:pPr algn="l">
              <a:lnSpc>
                <a:spcPct val="120000"/>
              </a:lnSpc>
              <a:spcAft>
                <a:spcPts val="0"/>
              </a:spcAft>
            </a:pPr>
            <a:r>
              <a:rPr sz="1200" b="0" i="0" lang="ko-KR" altLang="en-US">
                <a:solidFill>
                  <a:srgbClr val="1B2740"/>
                </a:solidFill>
                <a:latin typeface="맑은 고딕"/>
                <a:ea typeface="맑은 고딕"/>
                <a:cs typeface="맑은 고딕"/>
              </a:rPr>
              <a:t>평균 0, 분산 1 은 정확하지만 값이 ±6 에서 잘리고, 3σ 밖으로 나갈 확률이 정규분포의 약 75 % 입니다. 10,000개로는 차이가 보이지 않습니다.</a:t>
            </a:r>
          </a:p>
        </p:txBody>
      </p:sp>
      <p:sp>
        <p:nvSpPr>
          <p:cNvPr id="12" name="TextBox 11"/>
          <p:cNvSpPr txBox="1"/>
          <p:nvPr/>
        </p:nvSpPr>
        <p:spPr>
          <a:xfrm>
            <a:off x="841247" y="3538728"/>
            <a:ext cx="4914899" cy="329184"/>
          </a:xfrm>
          <a:prstGeom prst="rect">
            <a:avLst/>
          </a:prstGeom>
          <a:noFill/>
        </p:spPr>
        <p:txBody>
          <a:bodyPr wrap="square" anchor="ctr" lIns="0" tIns="0" rIns="0" bIns="0">
            <a:noAutofit/>
          </a:bodyPr>
          <a:lstStyle/>
          <a:p>
            <a:pPr algn="l">
              <a:lnSpc>
                <a:spcPct val="115000"/>
              </a:lnSpc>
              <a:spcAft>
                <a:spcPts val="0"/>
              </a:spcAft>
            </a:pPr>
            <a:r>
              <a:rPr sz="1150" b="1" i="0" lang="ko-KR" altLang="en-US">
                <a:solidFill>
                  <a:srgbClr val="2563EB"/>
                </a:solidFill>
                <a:latin typeface="맑은 고딕"/>
                <a:ea typeface="맑은 고딕"/>
                <a:cs typeface="맑은 고딕"/>
              </a:rPr>
              <a:t>3σ 밖 확률: 정규분포의 0.75배</a:t>
            </a:r>
          </a:p>
        </p:txBody>
      </p:sp>
      <p:sp>
        <p:nvSpPr>
          <p:cNvPr id="13" name="Rectangle 12"/>
          <p:cNvSpPr/>
          <p:nvPr/>
        </p:nvSpPr>
        <p:spPr>
          <a:xfrm>
            <a:off x="6231636" y="1965960"/>
            <a:ext cx="5317236" cy="1993391"/>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96227" y="2121408"/>
            <a:ext cx="329184" cy="329184"/>
          </a:xfrm>
          <a:prstGeom prst="ellipse">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96227" y="2121408"/>
            <a:ext cx="329184" cy="329184"/>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FFFFFF"/>
                </a:solidFill>
                <a:latin typeface="Arial"/>
                <a:ea typeface="맑은 고딕"/>
                <a:cs typeface="Arial"/>
              </a:rPr>
              <a:t>Q</a:t>
            </a:r>
          </a:p>
        </p:txBody>
      </p:sp>
      <p:sp>
        <p:nvSpPr>
          <p:cNvPr id="16" name="TextBox 15"/>
          <p:cNvSpPr txBox="1"/>
          <p:nvPr/>
        </p:nvSpPr>
        <p:spPr>
          <a:xfrm>
            <a:off x="6835140" y="2075688"/>
            <a:ext cx="4539996" cy="420624"/>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1B2740"/>
                </a:solidFill>
                <a:latin typeface="맑은 고딕"/>
                <a:ea typeface="맑은 고딕"/>
                <a:cs typeface="맑은 고딕"/>
              </a:rPr>
              <a:t>UNIRAN 은 왜 0 과 1 을 내지 않나요?</a:t>
            </a:r>
          </a:p>
        </p:txBody>
      </p:sp>
      <p:sp>
        <p:nvSpPr>
          <p:cNvPr id="17" name="TextBox 16"/>
          <p:cNvSpPr txBox="1"/>
          <p:nvPr/>
        </p:nvSpPr>
        <p:spPr>
          <a:xfrm>
            <a:off x="6432803" y="2587752"/>
            <a:ext cx="4914899" cy="969263"/>
          </a:xfrm>
          <a:prstGeom prst="rect">
            <a:avLst/>
          </a:prstGeom>
          <a:noFill/>
        </p:spPr>
        <p:txBody>
          <a:bodyPr wrap="square" anchor="t" lIns="0" tIns="0" rIns="0" bIns="0">
            <a:noAutofit/>
          </a:bodyPr>
          <a:lstStyle/>
          <a:p>
            <a:pPr algn="l">
              <a:lnSpc>
                <a:spcPct val="120000"/>
              </a:lnSpc>
              <a:spcAft>
                <a:spcPts val="0"/>
              </a:spcAft>
            </a:pPr>
            <a:r>
              <a:rPr sz="1200" b="0" i="0" lang="ko-KR" altLang="en-US">
                <a:solidFill>
                  <a:srgbClr val="1B2740"/>
                </a:solidFill>
                <a:latin typeface="맑은 고딕"/>
                <a:ea typeface="맑은 고딕"/>
                <a:cs typeface="맑은 고딕"/>
              </a:rPr>
              <a:t>x ← 16807 · x mod (2³¹ − 1) 로, 상태가 1 부터 2³¹ − 2 사이만 돕니다. 그래서 출력은 0 과 1 을 뺀 (0, 1) 구간입니다.</a:t>
            </a:r>
          </a:p>
        </p:txBody>
      </p:sp>
      <p:sp>
        <p:nvSpPr>
          <p:cNvPr id="18" name="TextBox 17"/>
          <p:cNvSpPr txBox="1"/>
          <p:nvPr/>
        </p:nvSpPr>
        <p:spPr>
          <a:xfrm>
            <a:off x="6432803" y="3538728"/>
            <a:ext cx="4914899" cy="329184"/>
          </a:xfrm>
          <a:prstGeom prst="rect">
            <a:avLst/>
          </a:prstGeom>
          <a:noFill/>
        </p:spPr>
        <p:txBody>
          <a:bodyPr wrap="square" anchor="ctr" lIns="0" tIns="0" rIns="0" bIns="0">
            <a:noAutofit/>
          </a:bodyPr>
          <a:lstStyle/>
          <a:p>
            <a:pPr algn="l">
              <a:lnSpc>
                <a:spcPct val="115000"/>
              </a:lnSpc>
              <a:spcAft>
                <a:spcPts val="0"/>
              </a:spcAft>
            </a:pPr>
            <a:r>
              <a:rPr sz="1150" b="1" i="0" lang="ko-KR" altLang="en-US">
                <a:solidFill>
                  <a:srgbClr val="2563EB"/>
                </a:solidFill>
                <a:latin typeface="맑은 고딕"/>
                <a:ea typeface="맑은 고딕"/>
                <a:cs typeface="맑은 고딕"/>
              </a:rPr>
              <a:t>실제 최소 0.0000144,  최대 0.99997</a:t>
            </a:r>
          </a:p>
        </p:txBody>
      </p:sp>
      <p:sp>
        <p:nvSpPr>
          <p:cNvPr id="19" name="Rectangle 18"/>
          <p:cNvSpPr/>
          <p:nvPr/>
        </p:nvSpPr>
        <p:spPr>
          <a:xfrm>
            <a:off x="640080" y="4187952"/>
            <a:ext cx="5317236" cy="1993391"/>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4671" y="4343400"/>
            <a:ext cx="329184" cy="329184"/>
          </a:xfrm>
          <a:prstGeom prst="ellipse">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1" y="4343400"/>
            <a:ext cx="329184" cy="329184"/>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FFFFFF"/>
                </a:solidFill>
                <a:latin typeface="Arial"/>
                <a:ea typeface="맑은 고딕"/>
                <a:cs typeface="Arial"/>
              </a:rPr>
              <a:t>Q</a:t>
            </a:r>
          </a:p>
        </p:txBody>
      </p:sp>
      <p:sp>
        <p:nvSpPr>
          <p:cNvPr id="22" name="TextBox 21"/>
          <p:cNvSpPr txBox="1"/>
          <p:nvPr/>
        </p:nvSpPr>
        <p:spPr>
          <a:xfrm>
            <a:off x="1243584" y="4297680"/>
            <a:ext cx="4539996" cy="420624"/>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1B2740"/>
                </a:solidFill>
                <a:latin typeface="맑은 고딕"/>
                <a:ea typeface="맑은 고딕"/>
                <a:cs typeface="맑은 고딕"/>
              </a:rPr>
              <a:t>방위각 부호가 사양서와 반대인 이유는?</a:t>
            </a:r>
          </a:p>
        </p:txBody>
      </p:sp>
      <p:sp>
        <p:nvSpPr>
          <p:cNvPr id="23" name="TextBox 22"/>
          <p:cNvSpPr txBox="1"/>
          <p:nvPr/>
        </p:nvSpPr>
        <p:spPr>
          <a:xfrm>
            <a:off x="841247" y="4809744"/>
            <a:ext cx="4914899" cy="969263"/>
          </a:xfrm>
          <a:prstGeom prst="rect">
            <a:avLst/>
          </a:prstGeom>
          <a:noFill/>
        </p:spPr>
        <p:txBody>
          <a:bodyPr wrap="square" anchor="t" lIns="0" tIns="0" rIns="0" bIns="0">
            <a:noAutofit/>
          </a:bodyPr>
          <a:lstStyle/>
          <a:p>
            <a:pPr algn="l">
              <a:lnSpc>
                <a:spcPct val="120000"/>
              </a:lnSpc>
              <a:spcAft>
                <a:spcPts val="0"/>
              </a:spcAft>
            </a:pPr>
            <a:r>
              <a:rPr sz="1200" b="0" i="0" lang="ko-KR" altLang="en-US">
                <a:solidFill>
                  <a:srgbClr val="1B2740"/>
                </a:solidFill>
                <a:latin typeface="맑은 고딕"/>
                <a:ea typeface="맑은 고딕"/>
                <a:cs typeface="맑은 고딕"/>
              </a:rPr>
              <a:t>참고 소스의 안테나 좌표계 (x 왼쪽, y 위, z 조준축) 를 그대로 따랐습니다. 사양서도 이전 차수의 정의가 다르면 그쪽을 따르라고 했습니다.</a:t>
            </a:r>
          </a:p>
        </p:txBody>
      </p:sp>
      <p:sp>
        <p:nvSpPr>
          <p:cNvPr id="24" name="TextBox 23"/>
          <p:cNvSpPr txBox="1"/>
          <p:nvPr/>
        </p:nvSpPr>
        <p:spPr>
          <a:xfrm>
            <a:off x="841247" y="5760720"/>
            <a:ext cx="4914899" cy="329184"/>
          </a:xfrm>
          <a:prstGeom prst="rect">
            <a:avLst/>
          </a:prstGeom>
          <a:noFill/>
        </p:spPr>
        <p:txBody>
          <a:bodyPr wrap="square" anchor="ctr" lIns="0" tIns="0" rIns="0" bIns="0">
            <a:noAutofit/>
          </a:bodyPr>
          <a:lstStyle/>
          <a:p>
            <a:pPr algn="l">
              <a:lnSpc>
                <a:spcPct val="115000"/>
              </a:lnSpc>
              <a:spcAft>
                <a:spcPts val="0"/>
              </a:spcAft>
            </a:pPr>
            <a:r>
              <a:rPr sz="1150" b="1" i="0" lang="ko-KR" altLang="en-US">
                <a:solidFill>
                  <a:srgbClr val="2563EB"/>
                </a:solidFill>
                <a:latin typeface="맑은 고딕"/>
                <a:ea typeface="맑은 고딕"/>
                <a:cs typeface="맑은 고딕"/>
              </a:rPr>
              <a:t>자세 0 이면 방위각 + 는 서쪽</a:t>
            </a:r>
          </a:p>
        </p:txBody>
      </p:sp>
      <p:sp>
        <p:nvSpPr>
          <p:cNvPr id="25" name="Rectangle 24"/>
          <p:cNvSpPr/>
          <p:nvPr/>
        </p:nvSpPr>
        <p:spPr>
          <a:xfrm>
            <a:off x="6231636" y="4187952"/>
            <a:ext cx="5317236" cy="1993391"/>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96227" y="4343400"/>
            <a:ext cx="329184" cy="329184"/>
          </a:xfrm>
          <a:prstGeom prst="ellipse">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96227" y="4343400"/>
            <a:ext cx="329184" cy="329184"/>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FFFFFF"/>
                </a:solidFill>
                <a:latin typeface="Arial"/>
                <a:ea typeface="맑은 고딕"/>
                <a:cs typeface="Arial"/>
              </a:rPr>
              <a:t>Q</a:t>
            </a:r>
          </a:p>
        </p:txBody>
      </p:sp>
      <p:sp>
        <p:nvSpPr>
          <p:cNvPr id="28" name="TextBox 27"/>
          <p:cNvSpPr txBox="1"/>
          <p:nvPr/>
        </p:nvSpPr>
        <p:spPr>
          <a:xfrm>
            <a:off x="6835140" y="4297680"/>
            <a:ext cx="4539996" cy="420624"/>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1B2740"/>
                </a:solidFill>
                <a:latin typeface="맑은 고딕"/>
                <a:ea typeface="맑은 고딕"/>
                <a:cs typeface="맑은 고딕"/>
              </a:rPr>
              <a:t>다음 단계 (추적) 와 어떻게 이어지나요?</a:t>
            </a:r>
          </a:p>
        </p:txBody>
      </p:sp>
      <p:sp>
        <p:nvSpPr>
          <p:cNvPr id="29" name="TextBox 28"/>
          <p:cNvSpPr txBox="1"/>
          <p:nvPr/>
        </p:nvSpPr>
        <p:spPr>
          <a:xfrm>
            <a:off x="6432803" y="4809744"/>
            <a:ext cx="4914899" cy="969263"/>
          </a:xfrm>
          <a:prstGeom prst="rect">
            <a:avLst/>
          </a:prstGeom>
          <a:noFill/>
        </p:spPr>
        <p:txBody>
          <a:bodyPr wrap="square" anchor="t" lIns="0" tIns="0" rIns="0" bIns="0">
            <a:noAutofit/>
          </a:bodyPr>
          <a:lstStyle/>
          <a:p>
            <a:pPr algn="l">
              <a:lnSpc>
                <a:spcPct val="120000"/>
              </a:lnSpc>
              <a:spcAft>
                <a:spcPts val="0"/>
              </a:spcAft>
            </a:pPr>
            <a:r>
              <a:rPr sz="1200" b="0" i="0" lang="ko-KR" altLang="en-US">
                <a:solidFill>
                  <a:srgbClr val="1B2740"/>
                </a:solidFill>
                <a:latin typeface="맑은 고딕"/>
                <a:ea typeface="맑은 고딕"/>
                <a:cs typeface="맑은 고딕"/>
              </a:rPr>
              <a:t>표준편차 p 는 추적 필터의 측정 잡음 R 이 되고, 스캔당 클러터 5개는 클러터 밀도 λ 가 됩니다. 이 플롯을 그대로 추적 필터의 입력으로 씁니다.</a:t>
            </a:r>
          </a:p>
        </p:txBody>
      </p:sp>
      <p:sp>
        <p:nvSpPr>
          <p:cNvPr id="30" name="TextBox 29"/>
          <p:cNvSpPr txBox="1"/>
          <p:nvPr/>
        </p:nvSpPr>
        <p:spPr>
          <a:xfrm>
            <a:off x="6432803" y="5760720"/>
            <a:ext cx="4914899" cy="329184"/>
          </a:xfrm>
          <a:prstGeom prst="rect">
            <a:avLst/>
          </a:prstGeom>
          <a:noFill/>
        </p:spPr>
        <p:txBody>
          <a:bodyPr wrap="square" anchor="ctr" lIns="0" tIns="0" rIns="0" bIns="0">
            <a:noAutofit/>
          </a:bodyPr>
          <a:lstStyle/>
          <a:p>
            <a:pPr algn="l">
              <a:lnSpc>
                <a:spcPct val="115000"/>
              </a:lnSpc>
              <a:spcAft>
                <a:spcPts val="0"/>
              </a:spcAft>
            </a:pPr>
            <a:r>
              <a:rPr sz="1150" b="1" i="0" lang="ko-KR" altLang="en-US">
                <a:solidFill>
                  <a:srgbClr val="2563EB"/>
                </a:solidFill>
                <a:latin typeface="맑은 고딕"/>
                <a:ea typeface="맑은 고딕"/>
                <a:cs typeface="맑은 고딕"/>
              </a:rPr>
              <a:t>R = diag(p_rng², p_azi², p_ele²)</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플롯 · 클러터 모의</dc:title>
  <dc:subject>레이다 SW 학습 과제 4</dc:subject>
  <dc:creator>Janghwan Kim (Harley)</dc:creator>
  <cp:lastModifiedBy>PptxGenJS</cp:lastModifiedBy>
  <cp:revision>1</cp:revision>
  <dcterms:created xsi:type="dcterms:W3CDTF">2026-09-21T04:55:30Z</dcterms:created>
  <dcterms:modified xsi:type="dcterms:W3CDTF">2026-09-21T04:55:30Z</dcterms:modified>
</cp:coreProperties>
</file>