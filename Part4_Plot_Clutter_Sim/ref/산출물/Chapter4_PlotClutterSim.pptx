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a6da093e-9221-6b99-6ce5-c88480f0b25d}">
          <p14:sldIdLst>
            <p14:sldId id="256"/>
            <p14:sldId id="257"/>
          </p14:sldIdLst>
        </p14:section>
        <p14:section name="01 플롯" id="{e57f2a3a-6fc5-7cfe-73de-ef6f46f1622f}">
          <p14:sldIdLst>
            <p14:sldId id="258"/>
            <p14:sldId id="259"/>
            <p14:sldId id="260"/>
            <p14:sldId id="261"/>
            <p14:sldId id="262"/>
            <p14:sldId id="263"/>
            <p14:sldId id="264"/>
            <p14:sldId id="265"/>
          </p14:sldIdLst>
        </p14:section>
        <p14:section name="02 클러터" id="{440e4330-e439-2f43-eaa7-e0498866b97c}">
          <p14:sldIdLst>
            <p14:sldId id="266"/>
            <p14:sldId id="267"/>
            <p14:sldId id="268"/>
          </p14:sldIdLst>
        </p14:section>
        <p14:section name="03 구현" id="{1b5f3ab9-4dc0-f7aa-5a82-504f31d29a03}">
          <p14:sldIdLst>
            <p14:sldId id="269"/>
            <p14:sldId id="270"/>
            <p14:sldId id="271"/>
            <p14:sldId id="272"/>
            <p14:sldId id="273"/>
          </p14:sldIdLst>
        </p14:section>
        <p14:section name="04 결과" id="{9bf693e3-a37c-aada-5879-e11f1d2fec03}">
          <p14:sldIdLst>
            <p14:sldId id="274"/>
            <p14:sldId id="275"/>
            <p14:sldId id="276"/>
            <p14:sldId id="277"/>
            <p14:sldId id="278"/>
          </p14:sldIdLst>
        </p14:section>
        <p14:section name="마무리" id="{9ce63cb7-168f-264c-54ed-a541629b0c8d}">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이번 과제의 주제는 플롯과 클러터 모의입니다.
지난 과제에서 만든 표적 궤적은 표적이 실제로 있던 자리, 즉 참값이었습니다. 이번에는 그 참값을 레이다가 잰 것 같은 측정값으로 바꾸고, 표적이 아닌 곳에서 생기는 가짜 탐지인 클러터도 함께 만들었습니다.
뒤에 나오는 결과 숫자와 그래프는 제가 만든 프로그램의 Core 를 그대로 돌려서 얻은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순서는 네 부분입니다.
먼저 플롯이 무엇이고 어떻게 모의하는지, 이어서 클러터가 무엇이고 어떻게 모의하는지 개념을 설명드리겠습니다.
그다음 이 내용을 C 코드로 어떻게 구현했는지 보고, 마지막으로 난수 확인 결과와 표적 다섯 개의 모의 결과 화면을 보겠습니다.
각 부분을 시작할 때 그 부분에서 다룰 내용을 먼저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플롯입니다. 이번 과제가 레이다 처리 흐름에서 어디에 있는지와 플롯이 무엇인지 보고, 참값에 잡음을 더해 플롯을 만드는 방법을 표준편차, 잡음, 참값 순서로 설명드리겠습니다. 끝으로 각도 오차가 거리에 따라 어떻게 커지는지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플롯은 레이다가 표적을 한 번 잰 결과입니다. 먼저 위쪽 흐름에서 이번 과제의 위치를 보겠습니다. 과제 3 에서는 맨 앞의 표적 궤적 모의로 표적이 실제로 있던 자리, 즉 참값을 만들었습니다. 이번 과제는 그다음 칸인 측정 모의이고, 여기서 만든 플롯과 클러터를 다음 과제의 추적 필터가 입력으로 받습니다.
아래 그림은 플롯이 만들어지는 과정입니다. 빔이 한 방향에 머무는 구간을 드웰이라고 합니다. 드웰 동안 받은 신호를 처리하면 거리와 각도로 나눈 칸마다 신호 세기가 나오고, 문턱을 넘은 칸을 히트라고 합니다. 첫 번째 그림처럼 표적 하나가 히트 여러 개를 내고, 왼쪽 위의 칸처럼 잡음이 문턱을 넘는 경우도 있습니다.
두 번째 그림처럼 붙어 있는 히트를 묶어 대표점 하나로 만든 것이 플롯입니다. 거리, 방위각, 고각과 잰 시각을 가집니다. 파란 원이 실제 표적 자리인데 플롯과 정확히 겹치지 않습니다. 측정에는 늘 오차가 있기 때문입니다.
세 번째 그림처럼 스캔마다 나온 플롯을 시간 순서로 이어 표적의 움직임을 추정한 것이 트랙이고, 트랙은 다음 과제에서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플롯을 만드는 과정은 두 가지입니다.
위쪽이 실제 레이다입니다. 표적에서 돌아온 신호와 수신기 잡음이 같이 들어오고, 이것을 IQ 데이터로 받습니다. 펄스압축으로 긴 펄스를 좁게 모아 거리를 구분하고, 도플러 처리로 속도별로 나눠 움직이지 않는 클러터를 걸러 냅니다. CFAR 로 주변 잡음 크기에 맞춘 문턱을 정하고, 문턱을 넘은 칸을 히트로 뽑습니다. 한 표적에서 나온 히트를 하나로 묶고, 모노펄스 처리로 각도를 정밀하게 구하면 드웰 플롯이 나옵니다.
아래쪽이 이번 과제에서 하는 모의입니다. 표적 정보에 잡음을 더해 바로 드웰 플롯을 만들고, 가운데 단계는 모두 생략합니다.
생략해도 되는 이유는 추적기가 받는 것이 결국 플롯뿐이기 때문입니다. 신호처리가 플롯에 남기는 효과를 거리, 방위각, 고각 오차의 크기로 요약해서 넣으면 추적기 입장에서는 같은 성질의 입력이 됩니다. 그 오차의 크기를 어떻게 정하는지 이어서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플롯을 모의하는 방법은 네 단계입니다.
첫째, SNR 을 정합니다. 원래는 빔폭, 대역폭, 송신 전력 같은 레이다 파라미터와 표적 거리로 SNR 을 계산하지만, 실습은 20 으로 고정했습니다.
둘째, SNR 과 레이다 파라미터로 거리, 방위각, 고각 오차의 표준편차 p 를 구합니다. SNR 20 이면 4.74 m, 0.478 도, 0.494 도입니다.
셋째, 평균이 0 이고 표준편차가 p 인 가우시안 분포에서 잡음 v 를 성분마다 따로 뽑습니다. 넷째, 참값 x 에 잡음 v 를 더한 것이 플롯 z 입니다.
아래 표가 실제 첫 스캔의 대공 표적입니다. 참값 거리에 2.4 m 정도를 더하고, 방위각과 고각에도 각각 잡음을 더했습니다. 이 플롯은 고각이 0.84 도 작게 나와서, 위도 · 경도 · 고도로 바꾸면 고도가 300 m 가 아니라 105 m 로 찍힙니다. 이런 오차가 스캔마다 새로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표준편차 p 를 구하는 식을 자세히 보겠습니다. 세 식은 모두 분해능을 루트 2 SNR 로 나눈 꼴입니다. 분해능은 레이다가 두 표적을 따로 구분할 수 있는 최소 간격입니다.
거리 분해능은 광속 c 를 대역폭 B 의 두 배로 나눈 값입니다. 대역폭은 송신 신호가 차지하는 주파수 폭인데, 넓을수록 펄스를 좁게 모을 수 있어서 거리를 잘게 나눌 수 있습니다. 2 로 나누는 것은 전파가 표적까지 갔다가 돌아오기 때문입니다. 대역폭 5 MHz 를 넣으면 29.98 m 입니다.
각도 분해능은 빔폭을 모노펄스 기울기 상수 K_M 으로 나눈 값입니다. 빔폭은 안테나 빔이 퍼지는 각도로, 방위각은 좌우 폭 5.14 도, 고각은 위아래 폭 5.31 도입니다. 모노펄스 레이다는 합 신호와 차 신호의 비로 빔 안에서 표적 각도를 다시 재는데, 그 비가 각도에 따라 변하는 기울기가 K_M 이고 1.7 을 씁니다. 그래서 각도 분해능은 3.024 도와 3.124 도가 됩니다.
SNR 은 표적 신호가 잡음보다 몇 배 센지를 나타내고, 실습에서는 20 입니다. 신호가 셀수록 잡음에 덜 흔들리기 때문에 분해능보다 훨씬 작은 오차로 잴 수 있습니다. 루트 2 SNR 은 루트 40, 즉 6.325 이고, 세 분해능을 모두 이 값으로 나누면 거리 4.740 m, 방위각 0.4781 도, 고각 0.4939 도가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잡음은 참고 소스의 GAUSS 함수로 뽑습니다. GAUSS 는 0 과 1 사이의 균등난수 UNIRAN 을 12 개 더해서 정규분포를 만듭니다.
위 코드가 참고 소스의 GAUSS 입니다. UNIRAN 을 12 번 더한 값 a 에서 6 을 빼고, dev 를 곱한 뒤 m 을 더해 돌려줍니다.
평균 0, 표준편차 1 이 되는 이유는 아래 세 칸과 같습니다. UNIRAN 하나는 평균이 2 분의 1, 분산이 12 분의 1 입니다. 12 개를 더하면 평균은 6, 분산은 12 곱하기 12 분의 1 로 정확히 1 이 됩니다. 여기서 6 을 빼면 평균 0, 표준편차 1 인 표준정규분포 N(0, 1) 이 됩니다. 그래서 dev 를 곱하면 표준편차가 dev 가 되고, m 을 더하면 평균이 m 이 됩니다.
오른쪽 그림은 참고 소스의 UNIRAN 으로 실제로 뽑아 본 결과입니다. UNIRAN 하나는 평평하고, 두 개를 더하면 삼각형이 되고, 12 개를 더하고 6 을 빼면 주황색 표준정규분포 곡선과 거의 겹칩니다. 많이 더할수록 정규분포에 가까워진다는 중심극한정리입니다.
플롯을 계산할 때는 맨 아래 코드처럼 거리, 방위각, 고각마다 GAUSS 를 따로 부릅니다. 평균 자리에는 0, 표준편차 자리에는 앞에서 구한 성분별 p 를 넣고, 이렇게 뽑은 잡음을 참값에 더하면 플롯이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잡음을 더하려면 먼저 참값을 레이다가 재는 형태로 바꿔야 합니다. 과제 3 의 결과는 지구 중심 기준의 ECEF 위치라서, 레이다 안테나 기준의 거리, 방위각, 고각으로 바꿉니다.
왼쪽 순서대로 플랫폼 위치를 기준으로 북 · 동 · 아래 좌표인 NED 로 바꾸고, 플랫폼 자세로 돌려 동체 좌표로, 축을 바꿔 안테나 좌표로 옮긴 다음 거리와 두 각도로 바꿉니다. 함수는 모두 제공된 좌표변환 코드를 그대로 썼습니다.
오른쪽 그림은 이렇게 구한 세 값이 무엇인지 보여 줍니다. 거리 r 은 안테나에서 표적까지의 직선거리입니다. 방위각 az 는 수평면에서 조준축으로부터 표적 쪽으로 돌아간 각도이고, 고각 el 은 수평면에서 표적을 올려다본 각도입니다. 방위각은 조준축 왼쪽이 플러스인데, 제공된 좌표변환 코드의 규약을 그대로 따른 것입니다. 플랫폼 자세가 0 이면 조준축이 북쪽이라 왼쪽은 서쪽입니다.
아래 상자는 대공 표적의 첫 위치입니다. 정북 13.3 km, 고도 300 m 이고, 바꾸면 거리 13,310.2 m, 방위각 0 도, 고각 1.23 도입니다. 300 을 13,310 으로 나누면 1.29 도인데 그보다 작게 나왔습니다. 상자 안 그림처럼 지구가 둥글어서, 13.3 km 앞의 지면은 레이다의 수평면보다 13.9 m 아래로 휘어 있습니다. 그래서 레이다가 보기에 표적은 수평면 위 286 m 에 있고, 286 을 13,310 으로 나누면 1.23 도가 됩니다. ECEF 에서 계산하니 이 효과가 자동으로 들어갔습니다.
전시할 때는 잡음을 더한 구좌표를 같은 길로 거꾸로 돌려 위도, 경도, 고도로 바꿉니다.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플롯이 화면에서 어떻게 보일지 미리 알려면 한 가지를 더 봐야 합니다. 방위각과 고각 오차는 각도라서, 같은 각도라도 레이다에서 멀수록 더 큰 위치 오차가 됩니다.
그림처럼 같은 ±p 라도 13.3 km 에서는 호의 길이가 ±111 m 이고, 1.4 km 에서는 ±11 m 입니다. 각도를 라디안으로 바꿔 거리를 곱하면 됩니다. 0.478 도는 0.00834 라디안이고, 여기에 13,310 m 를 곱하면 111 m 입니다.
반면 거리 방향 오차는 어디서나 ±4.74 m 로 같습니다. 그래서 먼 곳의 플롯은 거리 방향으로는 거의 흔들리지 않고 옆으로 길게 퍼집니다.
대공 표적은 13.3 km 에서 출발해 1.4 km 까지 다가오므로, 플롯이 처음에는 넓게 퍼졌다가 점점 좁아질 것이라고 예상할 수 있습니다. 실제로 그런지는 뒤에서 결과로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클러터입니다. 클러터가 무엇인지 보고, 이번 과제에서 클러터를 어떻게 뽑는지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레이다 전파는 표적에서만 돌아오지 않습니다. 왼쪽 그림처럼 파도, 섬, 비구름, 새 떼에서도 돌아옵니다. 이렇게 표적이 아닌 것에서 생긴 탐지가 클러터입니다.
클러터도 거리, 방위각, 고각을 가진 플롯으로 들어옵니다. 오른쪽은 추적 필터가 받는 모습의 예입니다. 왼쪽처럼 받은 플롯만 보면 모두 같은 점이라 어느 것이 표적인지 알 수 없고, 정체를 알고 나서야 오른쪽처럼 표적이 지나간 줄이 보입니다.
실제 클러터를 그대로 만드는 것은 바다 상태, 지형, 날씨까지 넣어야 하는 별도 연구 분야라서, 이번에는 범위 안에 무작위로 생기는 클러터로 단순하게 만듭니다. 클러터 속에서 표적을 잘 쫓는지 시험하기에는 이것으로 충분합니다.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클러터를 만드는 방법은 세 단계입니다. 먼저 한 스캔에 클러터를 최대 몇 개까지 만들지 정합니다. 과제에서는 스캔당 다섯 개입니다. 그다음 클러터가 생길 수 있는 범위를 거리, 방위각, 고각별로 정합니다. 이 범위를 FOV 라고 하고, 값은 앞에서 본 안테나 좌표계 기준입니다.
아래 왼쪽 그림이 그 범위입니다. 거리는 200 m 에서 15 km 까지이고, 위에서 보면 조준축 좌우로 60 도씩 펼쳐진 부채꼴, 옆에서 보면 고각 0 도에서 30 도까지입니다.
마지막으로 이 범위 안에서 균등 난수로 값을 뽑습니다. 오른쪽 그림처럼 0 과 1 사이의 균등 난수를 뽑아서 범위에 맞게 늘려 주면 됩니다. 예를 들어 0.37 이 나왔다면 거리는 200 에 14,800 곱하기 0.37 을 더한 5,676 m 가 됩니다. 방위각과 고각도 같은 방법으로 따로 뽑고, 스캔이 바뀔 때마다 새로 뽑습니다.
거리와 각도 값을 고르게 뽑는 것이라서, 지도에 찍으면 레이다에 가까운 쪽이 더 촘촘하게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구현입니다. 과제에서 요구한 순서대로 표준편차를 구하는 코드, 플롯을 만드는 코드, 클러터를 만드는 코드를 보고, 마지막으로 지도에 찍기 위해 위도, 경도, 고도로 바꾸는 코드를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표준편차를 계산하는 부분입니다. 위쪽은 과제에서 준 대역폭, 빔폭, 모노펄스 상수를 상수로 둔 것이고, 아래쪽이 그 값으로 표준편차를 구하는 함수입니다. 앞에서 본 세 식을 그대로 옮겼습니다.
먼저 세 식에 같이 들어가는 루트 2 SNR 을 한 번 구해 둡니다. 거리는 광속을 대역폭의 두 배와 이 값으로 나누고, 방위각과 고각은 빔폭을 K_M 과 이 값으로 나눕니다. 두 각도 식은 빔폭만 다르고, 빔폭을 라디안으로 바꿔 계산하는 이유는 코드 주석에 적어 두었습니다.
SNR 이 20 으로 고정이라 이 함수는 측정을 시작할 때 한 번만 부릅니다. 실제로 나온 값은 뒤의 결과 화면에서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플롯을 만드는 f_Pcs_Measure 함수의 앞부분입니다.
이 함수는 과제 3 에서 만든 시각별 표본과 스캔 수, SNR, 스캔당 클러터 수를 받습니다. 시작할 때 앞의 함수로 표준편차를 한 번 구해 둡니다.
스캔 루프는 0.1 초 간격의 표본을 하나씩 받아 600 번 돕니다. k 번째 스캔은 과제 3 의 k 번째 표본이고, 레이다 위치와 자세는 그 시각의 플랫폼 값을 씁니다.
표적마다 먼저 참값을 구합니다. 표적의 ECEF 위치를 앞에서 본 순서대로 안테나 기준의 거리, 방위각, 고각으로 바꾼 값입니다. 그다음 세 성분에 GAUSS 로 뽑은 잡음을 한 줄에 하나씩 더하면 플롯이 됩니다. 평균은 0 이고 표준편차는 성분별 p 입니다.
마지막 줄은 이 플롯을 지도에 찍을 위도, 경도, 고도로 바꿔 저장하는 부분이고, 뒤에서 따로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함수의 뒷부분, 클러터를 만드는 코드입니다. 위쪽은 과제에서 정한 클러터 범위를 상수로 둔 것입니다. 거리 200 m 에서 15 km, 방위각 −60 도에서 +60 도, 고각 0 도에서 30 도입니다.
스캔마다 표적 플롯을 다 만든 다음, 화면에서 넣은 개수만큼 클러터를 만듭니다. 과제대로 5 개를 넣었습니다.
클러터 하나마다 거리, 방위각, 고각을 UNIRAN 으로 따로 하나씩 뽑습니다. 식은 앞에서 본 최솟값 더하기 범위 폭 곱하기 균등 난수 그대로이고, 각도는 도 단위로 뽑은 다음 라디안으로 바꿉니다. 마지막 줄에서는 플롯과 같은 함수로 위도, 경도, 고도도 구해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플롯과 클러터는 레이다 기준의 거리와 각도라서 그대로는 지도에 찍을 수 없습니다. 과제에서 위도, 경도 위에 전시하라고 했으므로 f_Pcs_SphToLla 로 바꿉니다.
순서는 참값을 구할 때의 반대입니다. 구좌표를 안테나 직교좌표로 바꾸고, 축을 바꿔 동체 좌표로, 플랫폼 자세로 NED 로, 플랫폼 위치로 ECEF 로 옮긴 다음 마지막에 위도, 경도, 고도를 얻습니다. 코드의 번호와 오른쪽 그림의 번호가 같은 단계입니다.
왼쪽 아래에 적은 것처럼 자세와 위치는 그 스캔 시각의 플랫폼 값을 쓰고, 변환 함수 다섯 개는 모두 제공된 좌표변환 코드를 그대로 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결과입니다. 실습 2.1 의 난수 확인은 확률밀도를 구하는 코드와 그것을 그리는 코드를 먼저 보고, 프로그램 화면에서 확인하겠습니다. 마지막으로 표적 다섯 개의 모의 결과 화면을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실습 2.1 의 난수 확인입니다. 난수를 세어서 확률밀도를 구하는 코드부터 보겠습니다.
메인 화면에서 난수 확인 단추를 누르면 Core 의 f_Pcs_TestRand 가 불립니다. 오른쪽 위 코드처럼 changeSEED 로 SEED 를 12345 로 되돌린 다음 f_Pcs_FillHist 를 부릅니다. UNIRAN 은 0 에서 1 까지를 10 칸으로, GAUSS 는 −4 에서 4 까지를 32 칸으로 나눕니다.
SEED 라는 이름 때문에 고정된 값처럼 보이지만, 제공된 난수 코드에서 SEED 는 UNIRAN 을 부를 때마다 바뀝니다. 12345 에서 시작해 한 번 부르면 207,482,415 가 되고, 다음 난수는 이 값에서 만듭니다. 만 번을 뽑고 나면 SEED 는 전혀 다른 값이 되어 있습니다. changeSEED 는 제공된 코드에 있는 함수로 이 값을 바꿔 주는데, 여기서는 처음 값으로 되돌리는 데 썼습니다. 그래서 창을 몇 번 열어도 같은 결과가 나오고, GAUSS 도 앞에서 UNIRAN 을 뽑은 것과 상관없이 같은 값에서 시작합니다.
왼쪽이 f_Pcs_FillHist 입니다. 난수를 10,000 개 뽑으면서 합과 제곱합을 더해 둡니다. 뽑은 값에서 최솟값을 빼고 칸 폭으로 나눠 칸 번호를 구하고, 그 칸의 개수를 하나 올립니다. GAUSS 는 ±4 를 넘는 값이 아주 드물게 나올 수 있어서 범위 안일 때만 셉니다.
다 세고 나면 개수를 10,000 곱하기 칸 폭으로 나눠 확률밀도로 바꿉니다. 이렇게 하면 막대 넓이를 모두 더한 값이 1 이 되어 이론 확률밀도와 바로 비교할 수 있습니다. 마지막으로 합과 제곱합으로 평균과 표준편차를 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확률밀도를 난수 확인 창이 어떻게 그리는지 간단히 보겠습니다.
오른쪽 위 코드처럼 창이 열리면 OnInitDialog 에서 f_Pcs_TestRand 로 히스토그램 두 개를 받아 UNIRAN 과 GAUSS 그림 컨트롤에 하나씩 넘기고, 그림 아래 글 상자에는 계산 과정을 적습니다.
그림 컨트롤은 히스토그램 칸마다 막대를 하나씩 칠합니다. 칸의 왼쪽과 오른쪽 경계는 f_ToX 로 화면 x 좌표로, 그 칸의 확률밀도는 f_ToY 로 화면 y 좌표로 바꾼 다음 그 사이를 채웁니다. f_ToX 와 f_ToY 는 값의 범위를 그림 영역의 픽셀 범위에 비례해서 옮기는 함수입니다.
이론 곡선은 막대 위에 선으로 긋습니다. GAUSS 는 −4 에서 4 까지를 160 등분해서 표준정규분포 식의 값을 차례로 잇고, UNIRAN 은 높이 1 인 직선 하나를 긋습니다. 막대와 선이 같은 좌표 변환을 쓰기 때문에 둘을 같은 축에서 바로 비교할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화면이 난수 확인 창입니다. 왼쪽이 UNIRAN, 오른쪽이 GAUSS 이고, 막대가 앞의 코드로 구한 확률밀도, 주황 선이 이론 확률밀도입니다. 그림 아래 글은 같은 계산을 실제 값으로 적은 것입니다.
UNIRAN 은 첫 칸에 999 개가 들어가 999 를 1,000 으로 나눈 0.999 이고, 열 칸이 모두 0.970 에서 1.049 사이라 이론값 1 에 모여 있습니다. 같은 시드로 표본 수만 늘려 세어 보면 10 만 개에서 0.994 에서 1.008 까지 좁아져서, 표본이 많을수록 1 로 수렴하는 것도 확인했습니다.
GAUSS 는 막대가 표준정규 곡선과 겹칩니다. 0 에서 0.25 사이 칸은 973 개라 0.389 이고, 표준정규분포 식에 칸 가운데 0.125 를 넣은 0.396 과 거의 같습니다. 위 줄의 평균 0.0036, 표준편차 0.9984 도 평균 0, 표준편차 1 에 가깝습니다.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과제에서 요구한 결과 화면입니다. 표적 다섯 개를 60 초 동안 0.1 초마다 잰 600 스캔을 위도와 경도 위에 모두 겹쳤습니다.
선은 과제 3 의 참값 궤적이고, 검은 점은 플롯, 회색 점은 클러터입니다. 플롯과 클러터는 레이다 기준의 거리, 방위각, 고각이라, 앞에서 본 변환 함수로 위도와 경도로 바꿔서 찍었습니다.
오른쪽 그림은 대공 표적인 표적 2 를 가로로 늘려 따로 그린 것입니다. 위쪽 출발 지점에서는 플롯이 옆으로 넓게 퍼지고 아래로 갈수록 선에 붙습니다. 옆으로 벗어나는 크기는 거리에 방위각 표준편차를 라디안으로 곱한 값입니다. 0.4781 도는 0.00834 라디안이라, 13,310 m 에서는 ±111 m, 1,360 m 까지 다가오면 ±11 m 가 됩니다.
회색 클러터는 방위각 ±60 도, 거리 15 km 의 부채꼴 안에만 찍혔습니다. 레이다 가까이 더 촘촘한 것은 거리를 고르게 뽑았기 때문입니다. 1 km 마다 같은 개수가 들어가는데, 가까운 곳일수록 그 1 km 띠의 넓이가 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이상으로 발표를 마치겠습니다. 감사합니다. 질문 주시면 답변드리겠습니다.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END-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DEX">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2740"/>
          </a:solidFill>
          <a:ln/>
        </p:spPr>
      </p:sp>
      <p:sp>
        <p:nvSpPr>
          <p:cNvPr id="3" name="Text 1"/>
          <p:cNvSpPr/>
          <p:nvPr/>
        </p:nvSpPr>
        <p:spPr>
          <a:xfrm>
            <a:off x="777240" y="502920"/>
            <a:ext cx="1828800" cy="41148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INDEX</a:t>
            </a:r>
            <a:endParaRPr lang="en-US" sz="2600" dirty="0"/>
          </a:p>
        </p:txBody>
      </p:sp>
      <p:sp>
        <p:nvSpPr>
          <p:cNvPr id="4" name="Shape 2"/>
          <p:cNvSpPr/>
          <p:nvPr/>
        </p:nvSpPr>
        <p:spPr>
          <a:xfrm>
            <a:off x="2103120" y="722376"/>
            <a:ext cx="2103120" cy="0"/>
          </a:xfrm>
          <a:prstGeom prst="line">
            <a:avLst/>
          </a:prstGeom>
          <a:noFill/>
          <a:ln w="9525">
            <a:solidFill>
              <a:srgbClr val="3A4C78"/>
            </a:solidFill>
            <a:prstDash val="solid"/>
          </a:ln>
        </p:spPr>
      </p:sp>
      <p:sp>
        <p:nvSpPr>
          <p:cNvPr id="5" name="Shape 3"/>
          <p:cNvSpPr/>
          <p:nvPr/>
        </p:nvSpPr>
        <p:spPr>
          <a:xfrm>
            <a:off x="4206240" y="722376"/>
            <a:ext cx="7269480" cy="0"/>
          </a:xfrm>
          <a:prstGeom prst="line">
            <a:avLst/>
          </a:prstGeom>
          <a:noFill/>
          <a:ln w="9525">
            <a:solidFill>
              <a:srgbClr val="D2D9E5"/>
            </a:solidFill>
            <a:prstDash val="solid"/>
          </a:ln>
        </p:spPr>
      </p:sp>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0908792" cy="566928"/>
          </a:xfrm>
          <a:prstGeom prst="rect">
            <a:avLst/>
          </a:prstGeom>
          <a:solidFill>
            <a:srgbClr val="1B2740"/>
          </a:solidFill>
          <a:ln/>
        </p:spPr>
      </p:sp>
      <p:sp>
        <p:nvSpPr>
          <p:cNvPr id="3" name="Shape 1"/>
          <p:cNvSpPr/>
          <p:nvPr/>
        </p:nvSpPr>
        <p:spPr>
          <a:xfrm>
            <a:off x="640080" y="6327648"/>
            <a:ext cx="10908792" cy="0"/>
          </a:xfrm>
          <a:prstGeom prst="line">
            <a:avLst/>
          </a:prstGeom>
          <a:noFill/>
          <a:ln w="9525">
            <a:solidFill>
              <a:srgbClr val="D2D9E5"/>
            </a:solidFill>
            <a:prstDash val="solid"/>
          </a:ln>
        </p:spPr>
      </p:sp>
      <p:sp>
        <p:nvSpPr>
          <p:cNvPr id="4" name="Text 2"/>
          <p:cNvSpPr/>
          <p:nvPr>
            <p:ph idx="102" type="body" hasCustomPrompt="1"/>
          </p:nvPr>
        </p:nvSpPr>
        <p:spPr>
          <a:xfrm>
            <a:off x="896112" y="566928"/>
            <a:ext cx="8229600" cy="566928"/>
          </a:xfrm>
          <a:prstGeom prst="rect">
            <a:avLst/>
          </a:prstGeom>
          <a:noFill/>
          <a:ln/>
        </p:spPr>
        <p:txBody>
          <a:bodyPr wrap="square" rtlCol="0"/>
          <a:lstStyle>
            <a:lvl1pPr algn="l" indent="0" marL="0">
              <a:buNone/>
              <a:defRPr lang="en-US" sz="135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1350" dirty="0"/>
          </a:p>
        </p:txBody>
      </p:sp>
      <p:sp>
        <p:nvSpPr>
          <p:cNvPr id="5" name="Text 2"/>
          <p:cNvSpPr/>
          <p:nvPr>
            <p:ph idx="103" type="title" hasCustomPrompt="1"/>
          </p:nvPr>
        </p:nvSpPr>
        <p:spPr>
          <a:xfrm>
            <a:off x="868680" y="1216152"/>
            <a:ext cx="10451592" cy="438912"/>
          </a:xfrm>
          <a:prstGeom prst="rect">
            <a:avLst/>
          </a:prstGeom>
          <a:noFill/>
          <a:ln/>
        </p:spPr>
        <p:txBody>
          <a:bodyPr wrap="square" rtlCol="0"/>
          <a:lstStyle>
            <a:lvl1pPr algn="l" indent="0" marL="0">
              <a:buNone/>
              <a:defRPr lang="en-US" sz="2100" b="1" dirty="0">
                <a:solidFill>
                  <a:srgbClr val="1B2740"/>
                </a:solidFill>
                <a:latin typeface="맑은 고딕" pitchFamily="34" charset="0"/>
                <a:ea typeface="맑은 고딕" pitchFamily="34" charset="-122"/>
                <a:cs typeface="맑은 고딕" pitchFamily="34" charset="-120"/>
              </a:defRPr>
            </a:lvl1pPr>
          </a:lstStyle>
          <a:p>
            <a:pPr algn="l" indent="0" marL="0">
              <a:buNone/>
            </a:pPr>
            <a:endParaRPr lang="en-US" sz="2100" dirty="0"/>
          </a:p>
        </p:txBody>
      </p:sp>
      <p:sp>
        <p:nvSpPr>
          <p:cNvPr id="6" name="Text 2"/>
          <p:cNvSpPr/>
          <p:nvPr>
            <p:ph idx="104" type="body" hasCustomPrompt="1"/>
          </p:nvPr>
        </p:nvSpPr>
        <p:spPr>
          <a:xfrm>
            <a:off x="868680" y="1700784"/>
            <a:ext cx="10451592" cy="512064"/>
          </a:xfrm>
          <a:prstGeom prst="rect">
            <a:avLst/>
          </a:prstGeom>
          <a:noFill/>
          <a:ln/>
        </p:spPr>
        <p:txBody>
          <a:bodyPr wrap="square" rtlCol="0"/>
          <a:lstStyle>
            <a:lvl1pPr algn="l" indent="0" marL="0">
              <a:lnSpc>
                <a:spcPct val="105000"/>
              </a:lnSpc>
              <a:buNone/>
              <a:defRPr lang="en-US" sz="1250" dirty="0">
                <a:solidFill>
                  <a:srgbClr val="4A5A7A"/>
                </a:solidFill>
                <a:latin typeface="맑은 고딕" pitchFamily="34" charset="0"/>
                <a:ea typeface="맑은 고딕" pitchFamily="34" charset="-122"/>
                <a:cs typeface="맑은 고딕" pitchFamily="34" charset="-120"/>
              </a:defRPr>
            </a:lvl1pPr>
          </a:lstStyle>
          <a:p>
            <a:pPr algn="l" indent="0" marL="0">
              <a:lnSpc>
                <a:spcPct val="105000"/>
              </a:lnSpc>
              <a:buNone/>
            </a:pPr>
            <a:endParaRPr lang="en-US" sz="12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 y="713232"/>
            <a:ext cx="10698480" cy="0"/>
          </a:xfrm>
          <a:prstGeom prst="line">
            <a:avLst/>
          </a:prstGeom>
          <a:noFill/>
          <a:ln w="9525">
            <a:solidFill>
              <a:srgbClr val="AEB9CC"/>
            </a:solidFill>
            <a:prstDash val="solid"/>
          </a:ln>
        </p:spPr>
      </p:sp>
      <p:sp>
        <p:nvSpPr>
          <p:cNvPr id="3" name="Shape 1"/>
          <p:cNvSpPr/>
          <p:nvPr/>
        </p:nvSpPr>
        <p:spPr>
          <a:xfrm>
            <a:off x="749808" y="6336792"/>
            <a:ext cx="10698480" cy="0"/>
          </a:xfrm>
          <a:prstGeom prst="line">
            <a:avLst/>
          </a:prstGeom>
          <a:noFill/>
          <a:ln w="9525">
            <a:solidFill>
              <a:srgbClr val="AEB9CC"/>
            </a:solidFill>
            <a:prstDash val="solid"/>
          </a:ln>
        </p:spPr>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EN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4.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0" y="658368"/>
            <a:ext cx="3017520" cy="274320"/>
          </a:xfrm>
          <a:prstGeom prst="rect">
            <a:avLst/>
          </a:prstGeom>
          <a:noFill/>
          <a:ln/>
        </p:spPr>
        <p:txBody>
          <a:bodyPr wrap="square" lIns="0" tIns="0" rIns="0" bIns="0" rtlCol="0" anchor="t"/>
          <a:lstStyle/>
          <a:p>
            <a:pPr algn="r" indent="0" marL="0">
              <a:buNone/>
            </a:pPr>
            <a:r>
              <a:rPr lang="en-US" sz="1000" b="1" dirty="0">
                <a:solidFill>
                  <a:srgbClr val="FFFFFF"/>
                </a:solidFill>
                <a:latin typeface="Arial" pitchFamily="34" charset="0"/>
                <a:ea typeface="Arial" pitchFamily="34" charset="-122"/>
                <a:cs typeface="Arial" pitchFamily="34" charset="-120"/>
              </a:rPr>
              <a:t>Confidential</a:t>
            </a:r>
            <a:endParaRPr lang="en-US" sz="1000" dirty="0"/>
          </a:p>
        </p:txBody>
      </p:sp>
      <p:sp>
        <p:nvSpPr>
          <p:cNvPr id="3" name="Text 1"/>
          <p:cNvSpPr txBox="1"/>
          <p:nvPr/>
        </p:nvSpPr>
        <p:spPr>
          <a:xfrm>
            <a:off x="4206240" y="2505456"/>
            <a:ext cx="6766560" cy="457200"/>
          </a:xfrm>
          <a:prstGeom prst="rect">
            <a:avLst/>
          </a:prstGeom>
          <a:noFill/>
          <a:ln/>
        </p:spPr>
        <p:txBody>
          <a:bodyPr wrap="square" lIns="0" tIns="0" rIns="0" bIns="0" rtlCol="0" anchor="ctr"/>
          <a:lstStyle/>
          <a:p>
            <a:pPr algn="r" indent="0" marL="0">
              <a:buNone/>
            </a:pPr>
            <a:r>
              <a:rPr lang="en-US" sz="1400" dirty="0">
                <a:solidFill>
                  <a:srgbClr val="AEB9CC"/>
                </a:solidFill>
                <a:latin typeface="맑은 고딕" pitchFamily="34" charset="0"/>
                <a:ea typeface="맑은 고딕" pitchFamily="34" charset="-122"/>
                <a:cs typeface="맑은 고딕" pitchFamily="34" charset="-120"/>
              </a:rPr>
              <a:t>레이다 SW 학습 과제 4</a:t>
            </a:r>
            <a:endParaRPr lang="en-US" sz="1400" dirty="0"/>
          </a:p>
        </p:txBody>
      </p:sp>
      <p:sp>
        <p:nvSpPr>
          <p:cNvPr id="4" name="Text 2"/>
          <p:cNvSpPr txBox="1"/>
          <p:nvPr/>
        </p:nvSpPr>
        <p:spPr>
          <a:xfrm>
            <a:off x="4206240" y="2944368"/>
            <a:ext cx="6766560" cy="685800"/>
          </a:xfrm>
          <a:prstGeom prst="rect">
            <a:avLst/>
          </a:prstGeom>
          <a:noFill/>
          <a:ln/>
        </p:spPr>
        <p:txBody>
          <a:bodyPr wrap="square" lIns="0" tIns="0" rIns="0" bIns="0" rtlCol="0" anchor="ctr"/>
          <a:lstStyle/>
          <a:p>
            <a:pPr algn="r" indent="0" marL="0">
              <a:buNone/>
            </a:pPr>
            <a:r>
              <a:rPr lang="en-US" sz="3800" b="1" dirty="0">
                <a:solidFill>
                  <a:srgbClr val="FFFFFF"/>
                </a:solidFill>
                <a:latin typeface="맑은 고딕" pitchFamily="34" charset="0"/>
                <a:ea typeface="맑은 고딕" pitchFamily="34" charset="-122"/>
                <a:cs typeface="맑은 고딕" pitchFamily="34" charset="-120"/>
              </a:rPr>
              <a:t>플롯 · 클러터 모의</a:t>
            </a:r>
            <a:endParaRPr lang="en-US" sz="3800" dirty="0"/>
          </a:p>
        </p:txBody>
      </p:sp>
      <p:sp>
        <p:nvSpPr>
          <p:cNvPr id="5" name="Shape 3"/>
          <p:cNvSpPr/>
          <p:nvPr/>
        </p:nvSpPr>
        <p:spPr>
          <a:xfrm>
            <a:off x="7863840" y="3913632"/>
            <a:ext cx="3108960" cy="0"/>
          </a:xfrm>
          <a:prstGeom prst="line">
            <a:avLst/>
          </a:prstGeom>
          <a:noFill/>
          <a:ln w="9525">
            <a:solidFill>
              <a:srgbClr val="AEB9CC"/>
            </a:solidFill>
            <a:prstDash val="solid"/>
          </a:ln>
        </p:spPr>
      </p:sp>
      <p:sp>
        <p:nvSpPr>
          <p:cNvPr id="6" name="Text 4"/>
          <p:cNvSpPr txBox="1"/>
          <p:nvPr/>
        </p:nvSpPr>
        <p:spPr>
          <a:xfrm>
            <a:off x="4206240" y="4059936"/>
            <a:ext cx="6766560" cy="292608"/>
          </a:xfrm>
          <a:prstGeom prst="rect">
            <a:avLst/>
          </a:prstGeom>
          <a:noFill/>
          <a:ln/>
        </p:spPr>
        <p:txBody>
          <a:bodyPr wrap="square" lIns="0" tIns="0" rIns="0" bIns="0" rtlCol="0" anchor="ctr"/>
          <a:lstStyle/>
          <a:p>
            <a:pPr algn="r" indent="0" marL="0">
              <a:buNone/>
            </a:pPr>
            <a:r>
              <a:rPr lang="en-US" sz="1300" dirty="0">
                <a:solidFill>
                  <a:srgbClr val="AEB9CC"/>
                </a:solidFill>
                <a:latin typeface="Arial" pitchFamily="34" charset="0"/>
                <a:ea typeface="Arial" pitchFamily="34" charset="-122"/>
                <a:cs typeface="Arial" pitchFamily="34" charset="-120"/>
              </a:rPr>
              <a:t>Plot and Clutter Simulation</a:t>
            </a:r>
            <a:endParaRPr lang="en-US" sz="1300" dirty="0"/>
          </a:p>
        </p:txBody>
      </p:sp>
      <p:sp>
        <p:nvSpPr>
          <p:cNvPr id="7" name="Text 5"/>
          <p:cNvSpPr txBox="1"/>
          <p:nvPr/>
        </p:nvSpPr>
        <p:spPr>
          <a:xfrm>
            <a:off x="4206240" y="5120640"/>
            <a:ext cx="6766560" cy="292608"/>
          </a:xfrm>
          <a:prstGeom prst="rect">
            <a:avLst/>
          </a:prstGeom>
          <a:noFill/>
          <a:ln/>
        </p:spPr>
        <p:txBody>
          <a:bodyPr wrap="square" lIns="0" tIns="0" rIns="0" bIns="0" rtlCol="0" anchor="ctr"/>
          <a:lstStyle/>
          <a:p>
            <a:pPr algn="r" indent="0" marL="0">
              <a:buNone/>
            </a:pPr>
            <a:r>
              <a:rPr lang="en-US" sz="1200" dirty="0">
                <a:solidFill>
                  <a:srgbClr val="FFFFFF"/>
                </a:solidFill>
                <a:latin typeface="Arial" pitchFamily="34" charset="0"/>
                <a:ea typeface="Arial" pitchFamily="34" charset="-122"/>
                <a:cs typeface="Arial" pitchFamily="34" charset="-120"/>
              </a:rPr>
              <a:t>Janghwan Kim (Harley)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0"/>
            <a:ext cx="3291840" cy="1188720"/>
          </a:xfrm>
          <a:prstGeom prst="rect">
            <a:avLst/>
          </a:prstGeom>
          <a:noFill/>
          <a:ln/>
        </p:spPr>
        <p:txBody>
          <a:bodyPr wrap="square" lIns="0" tIns="0" rIns="0" bIns="0" rtlCol="0" anchor="ctr"/>
          <a:lstStyle/>
          <a:p>
            <a:pPr algn="ctr" indent="0" marL="0">
              <a:lnSpc>
                <a:spcPct val="125000"/>
              </a:lnSpc>
              <a:buNone/>
            </a:pPr>
            <a:r>
              <a:rPr lang="en-US" sz="1800" b="1" dirty="0">
                <a:solidFill>
                  <a:srgbClr val="FFFFFF"/>
                </a:solidFill>
                <a:latin typeface="맑은 고딕" pitchFamily="34" charset="0"/>
                <a:ea typeface="맑은 고딕" pitchFamily="34" charset="-122"/>
                <a:cs typeface="맑은 고딕" pitchFamily="34" charset="-120"/>
              </a:rPr>
              <a:t>플롯 · 클러터 모의</a:t>
            </a:r>
            <a:endParaRPr lang="en-US" sz="1800" dirty="0"/>
          </a:p>
          <a:p>
            <a:pPr algn="ctr" indent="0" marL="0">
              <a:lnSpc>
                <a:spcPct val="125000"/>
              </a:lnSpc>
              <a:buNone/>
            </a:pPr>
            <a:r>
              <a:rPr lang="en-US" sz="1800" b="1" dirty="0">
                <a:solidFill>
                  <a:srgbClr val="FFFFFF"/>
                </a:solidFill>
                <a:latin typeface="Arial" pitchFamily="34" charset="0"/>
                <a:ea typeface="Arial" pitchFamily="34" charset="-122"/>
                <a:cs typeface="Arial" pitchFamily="34" charset="-120"/>
              </a:rPr>
              <a:t>PlotSim</a:t>
            </a:r>
            <a:endParaRPr lang="en-US" sz="1800" dirty="0"/>
          </a:p>
        </p:txBody>
      </p:sp>
      <p:sp>
        <p:nvSpPr>
          <p:cNvPr id="3" name="Text 1"/>
          <p:cNvSpPr txBox="1"/>
          <p:nvPr/>
        </p:nvSpPr>
        <p:spPr>
          <a:xfrm>
            <a:off x="457200" y="6035040"/>
            <a:ext cx="3291840" cy="274320"/>
          </a:xfrm>
          <a:prstGeom prst="rect">
            <a:avLst/>
          </a:prstGeom>
          <a:noFill/>
          <a:ln/>
        </p:spPr>
        <p:txBody>
          <a:bodyPr wrap="square" lIns="0" tIns="0" rIns="0" bIns="0" rtlCol="0" anchor="t"/>
          <a:lstStyle/>
          <a:p>
            <a:pPr algn="ctr" indent="0" marL="0">
              <a:buNone/>
            </a:pPr>
            <a:r>
              <a:rPr lang="en-US" sz="1000" dirty="0">
                <a:solidFill>
                  <a:srgbClr val="AEB9CC"/>
                </a:solidFill>
                <a:latin typeface="Arial" pitchFamily="34" charset="0"/>
                <a:ea typeface="Arial" pitchFamily="34" charset="-122"/>
                <a:cs typeface="Arial" pitchFamily="34" charset="-120"/>
              </a:rPr>
              <a:t>Janghwan Kim (Harley)</a:t>
            </a:r>
            <a:endParaRPr lang="en-US" sz="1000" dirty="0"/>
          </a:p>
        </p:txBody>
      </p:sp>
      <p:sp>
        <p:nvSpPr>
          <p:cNvPr id="4" name="Text 2"/>
          <p:cNvSpPr txBox="1"/>
          <p:nvPr/>
        </p:nvSpPr>
        <p:spPr>
          <a:xfrm>
            <a:off x="4800600" y="1801368"/>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01</a:t>
            </a:r>
            <a:endParaRPr lang="en-US" sz="3000" dirty="0"/>
          </a:p>
        </p:txBody>
      </p:sp>
      <p:sp>
        <p:nvSpPr>
          <p:cNvPr id="5" name="Text 3"/>
          <p:cNvSpPr txBox="1"/>
          <p:nvPr/>
        </p:nvSpPr>
        <p:spPr>
          <a:xfrm>
            <a:off x="5852160" y="1801368"/>
            <a:ext cx="1280160"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플롯</a:t>
            </a:r>
            <a:endParaRPr lang="en-US" sz="1500" dirty="0"/>
          </a:p>
        </p:txBody>
      </p:sp>
      <p:sp>
        <p:nvSpPr>
          <p:cNvPr id="6" name="Shape 4"/>
          <p:cNvSpPr/>
          <p:nvPr/>
        </p:nvSpPr>
        <p:spPr>
          <a:xfrm>
            <a:off x="6434328" y="2103120"/>
            <a:ext cx="4492752" cy="0"/>
          </a:xfrm>
          <a:prstGeom prst="line">
            <a:avLst/>
          </a:prstGeom>
          <a:noFill/>
          <a:ln w="9525">
            <a:solidFill>
              <a:srgbClr val="C9D1DD"/>
            </a:solidFill>
            <a:prstDash val="sysDot"/>
          </a:ln>
        </p:spPr>
      </p:sp>
      <p:sp>
        <p:nvSpPr>
          <p:cNvPr id="7" name="Text 5"/>
          <p:cNvSpPr txBox="1"/>
          <p:nvPr/>
        </p:nvSpPr>
        <p:spPr>
          <a:xfrm>
            <a:off x="11009376" y="1801368"/>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3</a:t>
            </a:r>
            <a:endParaRPr lang="en-US" sz="1400" dirty="0"/>
          </a:p>
        </p:txBody>
      </p:sp>
      <p:sp>
        <p:nvSpPr>
          <p:cNvPr id="8" name="Shape 6"/>
          <p:cNvSpPr/>
          <p:nvPr/>
        </p:nvSpPr>
        <p:spPr>
          <a:xfrm>
            <a:off x="4800600" y="2459736"/>
            <a:ext cx="6720840" cy="0"/>
          </a:xfrm>
          <a:prstGeom prst="line">
            <a:avLst/>
          </a:prstGeom>
          <a:noFill/>
          <a:ln w="9525">
            <a:solidFill>
              <a:srgbClr val="D2D9E5"/>
            </a:solidFill>
            <a:prstDash val="solid"/>
          </a:ln>
        </p:spPr>
      </p:sp>
      <p:sp>
        <p:nvSpPr>
          <p:cNvPr id="9" name="Text 7"/>
          <p:cNvSpPr txBox="1"/>
          <p:nvPr/>
        </p:nvSpPr>
        <p:spPr>
          <a:xfrm>
            <a:off x="4800600" y="2569464"/>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02</a:t>
            </a:r>
            <a:endParaRPr lang="en-US" sz="3000" dirty="0"/>
          </a:p>
        </p:txBody>
      </p:sp>
      <p:sp>
        <p:nvSpPr>
          <p:cNvPr id="10" name="Text 8"/>
          <p:cNvSpPr txBox="1"/>
          <p:nvPr/>
        </p:nvSpPr>
        <p:spPr>
          <a:xfrm>
            <a:off x="5852160" y="2569464"/>
            <a:ext cx="1280160"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클러터</a:t>
            </a:r>
            <a:endParaRPr lang="en-US" sz="1500" dirty="0"/>
          </a:p>
        </p:txBody>
      </p:sp>
      <p:sp>
        <p:nvSpPr>
          <p:cNvPr id="11" name="Shape 9"/>
          <p:cNvSpPr/>
          <p:nvPr/>
        </p:nvSpPr>
        <p:spPr>
          <a:xfrm>
            <a:off x="6624828" y="2871216"/>
            <a:ext cx="4302252" cy="0"/>
          </a:xfrm>
          <a:prstGeom prst="line">
            <a:avLst/>
          </a:prstGeom>
          <a:noFill/>
          <a:ln w="9525">
            <a:solidFill>
              <a:srgbClr val="C9D1DD"/>
            </a:solidFill>
            <a:prstDash val="sysDot"/>
          </a:ln>
        </p:spPr>
      </p:sp>
      <p:sp>
        <p:nvSpPr>
          <p:cNvPr id="12" name="Text 10"/>
          <p:cNvSpPr txBox="1"/>
          <p:nvPr/>
        </p:nvSpPr>
        <p:spPr>
          <a:xfrm>
            <a:off x="11009376" y="2569464"/>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11</a:t>
            </a:r>
            <a:endParaRPr lang="en-US" sz="1400" dirty="0"/>
          </a:p>
        </p:txBody>
      </p:sp>
      <p:sp>
        <p:nvSpPr>
          <p:cNvPr id="13" name="Shape 11"/>
          <p:cNvSpPr/>
          <p:nvPr/>
        </p:nvSpPr>
        <p:spPr>
          <a:xfrm>
            <a:off x="4800600" y="3227832"/>
            <a:ext cx="6720840" cy="0"/>
          </a:xfrm>
          <a:prstGeom prst="line">
            <a:avLst/>
          </a:prstGeom>
          <a:noFill/>
          <a:ln w="9525">
            <a:solidFill>
              <a:srgbClr val="D2D9E5"/>
            </a:solidFill>
            <a:prstDash val="solid"/>
          </a:ln>
        </p:spPr>
      </p:sp>
      <p:sp>
        <p:nvSpPr>
          <p:cNvPr id="14" name="Text 12"/>
          <p:cNvSpPr txBox="1"/>
          <p:nvPr/>
        </p:nvSpPr>
        <p:spPr>
          <a:xfrm>
            <a:off x="4800600" y="3337560"/>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03</a:t>
            </a:r>
            <a:endParaRPr lang="en-US" sz="3000" dirty="0"/>
          </a:p>
        </p:txBody>
      </p:sp>
      <p:sp>
        <p:nvSpPr>
          <p:cNvPr id="15" name="Text 13"/>
          <p:cNvSpPr txBox="1"/>
          <p:nvPr/>
        </p:nvSpPr>
        <p:spPr>
          <a:xfrm>
            <a:off x="5852160" y="3337560"/>
            <a:ext cx="1280160"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구현</a:t>
            </a:r>
            <a:endParaRPr lang="en-US" sz="1500" dirty="0"/>
          </a:p>
        </p:txBody>
      </p:sp>
      <p:sp>
        <p:nvSpPr>
          <p:cNvPr id="16" name="Shape 14"/>
          <p:cNvSpPr/>
          <p:nvPr/>
        </p:nvSpPr>
        <p:spPr>
          <a:xfrm>
            <a:off x="6434328" y="3639312"/>
            <a:ext cx="4492752" cy="0"/>
          </a:xfrm>
          <a:prstGeom prst="line">
            <a:avLst/>
          </a:prstGeom>
          <a:noFill/>
          <a:ln w="9525">
            <a:solidFill>
              <a:srgbClr val="C9D1DD"/>
            </a:solidFill>
            <a:prstDash val="sysDot"/>
          </a:ln>
        </p:spPr>
      </p:sp>
      <p:sp>
        <p:nvSpPr>
          <p:cNvPr id="17" name="Text 15"/>
          <p:cNvSpPr txBox="1"/>
          <p:nvPr/>
        </p:nvSpPr>
        <p:spPr>
          <a:xfrm>
            <a:off x="11009376" y="3337560"/>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14</a:t>
            </a:r>
            <a:endParaRPr lang="en-US" sz="1400" dirty="0"/>
          </a:p>
        </p:txBody>
      </p:sp>
      <p:sp>
        <p:nvSpPr>
          <p:cNvPr id="18" name="Shape 16"/>
          <p:cNvSpPr/>
          <p:nvPr/>
        </p:nvSpPr>
        <p:spPr>
          <a:xfrm>
            <a:off x="4800600" y="3995928"/>
            <a:ext cx="6720840" cy="0"/>
          </a:xfrm>
          <a:prstGeom prst="line">
            <a:avLst/>
          </a:prstGeom>
          <a:noFill/>
          <a:ln w="9525">
            <a:solidFill>
              <a:srgbClr val="D2D9E5"/>
            </a:solidFill>
            <a:prstDash val="solid"/>
          </a:ln>
        </p:spPr>
      </p:sp>
      <p:sp>
        <p:nvSpPr>
          <p:cNvPr id="19" name="Text 17"/>
          <p:cNvSpPr txBox="1"/>
          <p:nvPr/>
        </p:nvSpPr>
        <p:spPr>
          <a:xfrm>
            <a:off x="4800600" y="4105656"/>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04</a:t>
            </a:r>
            <a:endParaRPr lang="en-US" sz="3000" dirty="0"/>
          </a:p>
        </p:txBody>
      </p:sp>
      <p:sp>
        <p:nvSpPr>
          <p:cNvPr id="20" name="Text 18"/>
          <p:cNvSpPr txBox="1"/>
          <p:nvPr/>
        </p:nvSpPr>
        <p:spPr>
          <a:xfrm>
            <a:off x="5852160" y="4105656"/>
            <a:ext cx="1280160"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결과</a:t>
            </a:r>
            <a:endParaRPr lang="en-US" sz="1500" dirty="0"/>
          </a:p>
        </p:txBody>
      </p:sp>
      <p:sp>
        <p:nvSpPr>
          <p:cNvPr id="21" name="Shape 19"/>
          <p:cNvSpPr/>
          <p:nvPr/>
        </p:nvSpPr>
        <p:spPr>
          <a:xfrm>
            <a:off x="6434328" y="4407408"/>
            <a:ext cx="4492752" cy="0"/>
          </a:xfrm>
          <a:prstGeom prst="line">
            <a:avLst/>
          </a:prstGeom>
          <a:noFill/>
          <a:ln w="9525">
            <a:solidFill>
              <a:srgbClr val="C9D1DD"/>
            </a:solidFill>
            <a:prstDash val="sysDot"/>
          </a:ln>
        </p:spPr>
      </p:sp>
      <p:sp>
        <p:nvSpPr>
          <p:cNvPr id="22" name="Text 20"/>
          <p:cNvSpPr txBox="1"/>
          <p:nvPr/>
        </p:nvSpPr>
        <p:spPr>
          <a:xfrm>
            <a:off x="11009376" y="4105656"/>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19</a:t>
            </a:r>
            <a:endParaRPr lang="en-US" sz="1400" dirty="0"/>
          </a:p>
        </p:txBody>
      </p:sp>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59536" y="914400"/>
            <a:ext cx="9144000" cy="475488"/>
          </a:xfrm>
          <a:prstGeom prst="rect">
            <a:avLst/>
          </a:prstGeom>
          <a:noFill/>
          <a:ln/>
        </p:spPr>
        <p:txBody>
          <a:bodyPr wrap="square" lIns="0" tIns="0" rIns="0" bIns="0" rtlCol="0" anchor="ctr"/>
          <a:lstStyle/>
          <a:p>
            <a:pPr indent="0" marL="0">
              <a:buNone/>
            </a:pPr>
            <a:r>
              <a:rPr lang="en-US" sz="2400" b="1" dirty="0">
                <a:solidFill>
                  <a:srgbClr val="1B2740"/>
                </a:solidFill>
                <a:latin typeface="맑은 고딕" pitchFamily="34" charset="0"/>
                <a:ea typeface="맑은 고딕" pitchFamily="34" charset="-122"/>
                <a:cs typeface="맑은 고딕" pitchFamily="34" charset="-120"/>
              </a:rPr>
              <a:t>01. 플롯</a:t>
            </a:r>
            <a:endParaRPr lang="en-US" sz="2400" dirty="0"/>
          </a:p>
        </p:txBody>
      </p:sp>
      <p:sp>
        <p:nvSpPr>
          <p:cNvPr id="3" name="Text 1"/>
          <p:cNvSpPr txBox="1"/>
          <p:nvPr/>
        </p:nvSpPr>
        <p:spPr>
          <a:xfrm>
            <a:off x="859536" y="1444752"/>
            <a:ext cx="10588752" cy="304495"/>
          </a:xfrm>
          <a:prstGeom prst="rect">
            <a:avLst/>
          </a:prstGeom>
          <a:noFill/>
          <a:ln/>
        </p:spPr>
        <p:txBody>
          <a:bodyPr wrap="square" lIns="0" tIns="0" rIns="0" bIns="0" rtlCol="0" anchor="ctr"/>
          <a:lstStyle/>
          <a:p>
            <a:pPr indent="0" marL="0">
              <a:buNone/>
            </a:pPr>
            <a:r>
              <a:rPr lang="en-US" sz="1300" dirty="0">
                <a:solidFill>
                  <a:srgbClr val="1B2740"/>
                </a:solidFill>
                <a:latin typeface="맑은 고딕" pitchFamily="34" charset="0"/>
                <a:ea typeface="맑은 고딕" pitchFamily="34" charset="-122"/>
                <a:cs typeface="맑은 고딕" pitchFamily="34" charset="-120"/>
              </a:rPr>
              <a:t>플롯이 무엇인지 보고, 참값에 잡음을 더해 플롯을 모의하는 방법을 설명합니다.</a:t>
            </a:r>
            <a:endParaRPr lang="en-US" sz="1300" dirty="0"/>
          </a:p>
        </p:txBody>
      </p:sp>
      <p:sp>
        <p:nvSpPr>
          <p:cNvPr id="4" name="Text 2"/>
          <p:cNvSpPr txBox="1"/>
          <p:nvPr/>
        </p:nvSpPr>
        <p:spPr>
          <a:xfrm>
            <a:off x="859536" y="2057400"/>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1.1</a:t>
            </a:r>
            <a:endParaRPr lang="en-US" sz="1400" dirty="0"/>
          </a:p>
        </p:txBody>
      </p:sp>
      <p:sp>
        <p:nvSpPr>
          <p:cNvPr id="5" name="Text 3"/>
          <p:cNvSpPr txBox="1"/>
          <p:nvPr/>
        </p:nvSpPr>
        <p:spPr>
          <a:xfrm>
            <a:off x="1418234" y="2057400"/>
            <a:ext cx="80264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플롯이란</a:t>
            </a:r>
            <a:endParaRPr lang="en-US" sz="1400" dirty="0"/>
          </a:p>
        </p:txBody>
      </p:sp>
      <p:sp>
        <p:nvSpPr>
          <p:cNvPr id="6" name="Shape 4"/>
          <p:cNvSpPr/>
          <p:nvPr/>
        </p:nvSpPr>
        <p:spPr>
          <a:xfrm>
            <a:off x="2284882" y="2311603"/>
            <a:ext cx="8324901" cy="0"/>
          </a:xfrm>
          <a:prstGeom prst="line">
            <a:avLst/>
          </a:prstGeom>
          <a:noFill/>
          <a:ln w="15875">
            <a:solidFill>
              <a:srgbClr val="AEB9CC"/>
            </a:solidFill>
            <a:prstDash val="sysDot"/>
          </a:ln>
        </p:spPr>
      </p:sp>
      <p:sp>
        <p:nvSpPr>
          <p:cNvPr id="7" name="Text 5"/>
          <p:cNvSpPr txBox="1"/>
          <p:nvPr/>
        </p:nvSpPr>
        <p:spPr>
          <a:xfrm>
            <a:off x="10736885" y="2057400"/>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4</a:t>
            </a:r>
            <a:endParaRPr lang="en-US" sz="1300" dirty="0"/>
          </a:p>
        </p:txBody>
      </p:sp>
      <p:sp>
        <p:nvSpPr>
          <p:cNvPr id="8" name="Text 6"/>
          <p:cNvSpPr txBox="1"/>
          <p:nvPr/>
        </p:nvSpPr>
        <p:spPr>
          <a:xfrm>
            <a:off x="859536" y="2463851"/>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1.2</a:t>
            </a:r>
            <a:endParaRPr lang="en-US" sz="1400" dirty="0"/>
          </a:p>
        </p:txBody>
      </p:sp>
      <p:sp>
        <p:nvSpPr>
          <p:cNvPr id="9" name="Text 7"/>
          <p:cNvSpPr txBox="1"/>
          <p:nvPr/>
        </p:nvSpPr>
        <p:spPr>
          <a:xfrm>
            <a:off x="1418234" y="2463851"/>
            <a:ext cx="126492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플롯 생성 과정</a:t>
            </a:r>
            <a:endParaRPr lang="en-US" sz="1400" dirty="0"/>
          </a:p>
        </p:txBody>
      </p:sp>
      <p:sp>
        <p:nvSpPr>
          <p:cNvPr id="10" name="Shape 8"/>
          <p:cNvSpPr/>
          <p:nvPr/>
        </p:nvSpPr>
        <p:spPr>
          <a:xfrm>
            <a:off x="2747162" y="2718054"/>
            <a:ext cx="7862621" cy="0"/>
          </a:xfrm>
          <a:prstGeom prst="line">
            <a:avLst/>
          </a:prstGeom>
          <a:noFill/>
          <a:ln w="15875">
            <a:solidFill>
              <a:srgbClr val="AEB9CC"/>
            </a:solidFill>
            <a:prstDash val="sysDot"/>
          </a:ln>
        </p:spPr>
      </p:sp>
      <p:sp>
        <p:nvSpPr>
          <p:cNvPr id="11" name="Text 9"/>
          <p:cNvSpPr txBox="1"/>
          <p:nvPr/>
        </p:nvSpPr>
        <p:spPr>
          <a:xfrm>
            <a:off x="10736885" y="2463851"/>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5</a:t>
            </a:r>
            <a:endParaRPr lang="en-US" sz="1300" dirty="0"/>
          </a:p>
        </p:txBody>
      </p:sp>
      <p:sp>
        <p:nvSpPr>
          <p:cNvPr id="12" name="Text 10"/>
          <p:cNvSpPr txBox="1"/>
          <p:nvPr/>
        </p:nvSpPr>
        <p:spPr>
          <a:xfrm>
            <a:off x="859536" y="2870302"/>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1.3</a:t>
            </a:r>
            <a:endParaRPr lang="en-US" sz="1400" dirty="0"/>
          </a:p>
        </p:txBody>
      </p:sp>
      <p:sp>
        <p:nvSpPr>
          <p:cNvPr id="13" name="Text 11"/>
          <p:cNvSpPr txBox="1"/>
          <p:nvPr/>
        </p:nvSpPr>
        <p:spPr>
          <a:xfrm>
            <a:off x="1418234" y="2870302"/>
            <a:ext cx="126492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플롯 모의 방법</a:t>
            </a:r>
            <a:endParaRPr lang="en-US" sz="1400" dirty="0"/>
          </a:p>
        </p:txBody>
      </p:sp>
      <p:sp>
        <p:nvSpPr>
          <p:cNvPr id="14" name="Shape 12"/>
          <p:cNvSpPr/>
          <p:nvPr/>
        </p:nvSpPr>
        <p:spPr>
          <a:xfrm>
            <a:off x="2747162" y="3124505"/>
            <a:ext cx="7862621" cy="0"/>
          </a:xfrm>
          <a:prstGeom prst="line">
            <a:avLst/>
          </a:prstGeom>
          <a:noFill/>
          <a:ln w="15875">
            <a:solidFill>
              <a:srgbClr val="AEB9CC"/>
            </a:solidFill>
            <a:prstDash val="sysDot"/>
          </a:ln>
        </p:spPr>
      </p:sp>
      <p:sp>
        <p:nvSpPr>
          <p:cNvPr id="15" name="Text 13"/>
          <p:cNvSpPr txBox="1"/>
          <p:nvPr/>
        </p:nvSpPr>
        <p:spPr>
          <a:xfrm>
            <a:off x="10736885" y="2870302"/>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6</a:t>
            </a:r>
            <a:endParaRPr lang="en-US" sz="1300" dirty="0"/>
          </a:p>
        </p:txBody>
      </p:sp>
      <p:sp>
        <p:nvSpPr>
          <p:cNvPr id="16" name="Text 14"/>
          <p:cNvSpPr txBox="1"/>
          <p:nvPr/>
        </p:nvSpPr>
        <p:spPr>
          <a:xfrm>
            <a:off x="859536" y="3276752"/>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1.4</a:t>
            </a:r>
            <a:endParaRPr lang="en-US" sz="1400" dirty="0"/>
          </a:p>
        </p:txBody>
      </p:sp>
      <p:sp>
        <p:nvSpPr>
          <p:cNvPr id="17" name="Text 15"/>
          <p:cNvSpPr txBox="1"/>
          <p:nvPr/>
        </p:nvSpPr>
        <p:spPr>
          <a:xfrm>
            <a:off x="1418234" y="3276752"/>
            <a:ext cx="1364488"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측정 표준편차 p</a:t>
            </a:r>
            <a:endParaRPr lang="en-US" sz="1400" dirty="0"/>
          </a:p>
        </p:txBody>
      </p:sp>
      <p:sp>
        <p:nvSpPr>
          <p:cNvPr id="18" name="Shape 16"/>
          <p:cNvSpPr/>
          <p:nvPr/>
        </p:nvSpPr>
        <p:spPr>
          <a:xfrm>
            <a:off x="2846730" y="3530956"/>
            <a:ext cx="7763053" cy="0"/>
          </a:xfrm>
          <a:prstGeom prst="line">
            <a:avLst/>
          </a:prstGeom>
          <a:noFill/>
          <a:ln w="15875">
            <a:solidFill>
              <a:srgbClr val="AEB9CC"/>
            </a:solidFill>
            <a:prstDash val="sysDot"/>
          </a:ln>
        </p:spPr>
      </p:sp>
      <p:sp>
        <p:nvSpPr>
          <p:cNvPr id="19" name="Text 17"/>
          <p:cNvSpPr txBox="1"/>
          <p:nvPr/>
        </p:nvSpPr>
        <p:spPr>
          <a:xfrm>
            <a:off x="10736885" y="3276752"/>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7</a:t>
            </a:r>
            <a:endParaRPr lang="en-US" sz="1300" dirty="0"/>
          </a:p>
        </p:txBody>
      </p:sp>
      <p:sp>
        <p:nvSpPr>
          <p:cNvPr id="20" name="Text 18"/>
          <p:cNvSpPr txBox="1"/>
          <p:nvPr/>
        </p:nvSpPr>
        <p:spPr>
          <a:xfrm>
            <a:off x="859536" y="3683203"/>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1.5</a:t>
            </a:r>
            <a:endParaRPr lang="en-US" sz="1400" dirty="0"/>
          </a:p>
        </p:txBody>
      </p:sp>
      <p:sp>
        <p:nvSpPr>
          <p:cNvPr id="21" name="Text 19"/>
          <p:cNvSpPr txBox="1"/>
          <p:nvPr/>
        </p:nvSpPr>
        <p:spPr>
          <a:xfrm>
            <a:off x="1418234" y="3683203"/>
            <a:ext cx="135382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GAUSS 정규난수</a:t>
            </a:r>
            <a:endParaRPr lang="en-US" sz="1400" dirty="0"/>
          </a:p>
        </p:txBody>
      </p:sp>
      <p:sp>
        <p:nvSpPr>
          <p:cNvPr id="22" name="Shape 20"/>
          <p:cNvSpPr/>
          <p:nvPr/>
        </p:nvSpPr>
        <p:spPr>
          <a:xfrm>
            <a:off x="2836062" y="3937406"/>
            <a:ext cx="7773721" cy="0"/>
          </a:xfrm>
          <a:prstGeom prst="line">
            <a:avLst/>
          </a:prstGeom>
          <a:noFill/>
          <a:ln w="15875">
            <a:solidFill>
              <a:srgbClr val="AEB9CC"/>
            </a:solidFill>
            <a:prstDash val="sysDot"/>
          </a:ln>
        </p:spPr>
      </p:sp>
      <p:sp>
        <p:nvSpPr>
          <p:cNvPr id="23" name="Text 21"/>
          <p:cNvSpPr txBox="1"/>
          <p:nvPr/>
        </p:nvSpPr>
        <p:spPr>
          <a:xfrm>
            <a:off x="10736885" y="3683203"/>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8</a:t>
            </a:r>
            <a:endParaRPr lang="en-US" sz="1300" dirty="0"/>
          </a:p>
        </p:txBody>
      </p:sp>
      <p:sp>
        <p:nvSpPr>
          <p:cNvPr id="24" name="Text 22"/>
          <p:cNvSpPr txBox="1"/>
          <p:nvPr/>
        </p:nvSpPr>
        <p:spPr>
          <a:xfrm>
            <a:off x="859536" y="4089654"/>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1.6</a:t>
            </a:r>
            <a:endParaRPr lang="en-US" sz="1400" dirty="0"/>
          </a:p>
        </p:txBody>
      </p:sp>
      <p:sp>
        <p:nvSpPr>
          <p:cNvPr id="25" name="Text 23"/>
          <p:cNvSpPr txBox="1"/>
          <p:nvPr/>
        </p:nvSpPr>
        <p:spPr>
          <a:xfrm>
            <a:off x="1418234" y="4089654"/>
            <a:ext cx="3412744"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참값 x : 안테나 기준 거리 · 방위각 · 고각</a:t>
            </a:r>
            <a:endParaRPr lang="en-US" sz="1400" dirty="0"/>
          </a:p>
        </p:txBody>
      </p:sp>
      <p:sp>
        <p:nvSpPr>
          <p:cNvPr id="26" name="Shape 24"/>
          <p:cNvSpPr/>
          <p:nvPr/>
        </p:nvSpPr>
        <p:spPr>
          <a:xfrm>
            <a:off x="4894986" y="4343857"/>
            <a:ext cx="5714797" cy="0"/>
          </a:xfrm>
          <a:prstGeom prst="line">
            <a:avLst/>
          </a:prstGeom>
          <a:noFill/>
          <a:ln w="15875">
            <a:solidFill>
              <a:srgbClr val="AEB9CC"/>
            </a:solidFill>
            <a:prstDash val="sysDot"/>
          </a:ln>
        </p:spPr>
      </p:sp>
      <p:sp>
        <p:nvSpPr>
          <p:cNvPr id="27" name="Text 25"/>
          <p:cNvSpPr txBox="1"/>
          <p:nvPr/>
        </p:nvSpPr>
        <p:spPr>
          <a:xfrm>
            <a:off x="10736885" y="4089654"/>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9</a:t>
            </a:r>
            <a:endParaRPr lang="en-US" sz="1300" dirty="0"/>
          </a:p>
        </p:txBody>
      </p:sp>
      <p:sp>
        <p:nvSpPr>
          <p:cNvPr id="28" name="Text 26"/>
          <p:cNvSpPr txBox="1"/>
          <p:nvPr/>
        </p:nvSpPr>
        <p:spPr>
          <a:xfrm>
            <a:off x="859536" y="4496105"/>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1.7</a:t>
            </a:r>
            <a:endParaRPr lang="en-US" sz="1400" dirty="0"/>
          </a:p>
        </p:txBody>
      </p:sp>
      <p:sp>
        <p:nvSpPr>
          <p:cNvPr id="29" name="Text 27"/>
          <p:cNvSpPr txBox="1"/>
          <p:nvPr/>
        </p:nvSpPr>
        <p:spPr>
          <a:xfrm>
            <a:off x="1418234" y="4496105"/>
            <a:ext cx="238506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각도 오차는 멀수록 커집니다</a:t>
            </a:r>
            <a:endParaRPr lang="en-US" sz="1400" dirty="0"/>
          </a:p>
        </p:txBody>
      </p:sp>
      <p:sp>
        <p:nvSpPr>
          <p:cNvPr id="30" name="Shape 28"/>
          <p:cNvSpPr/>
          <p:nvPr/>
        </p:nvSpPr>
        <p:spPr>
          <a:xfrm>
            <a:off x="3867302" y="4750308"/>
            <a:ext cx="6742481" cy="0"/>
          </a:xfrm>
          <a:prstGeom prst="line">
            <a:avLst/>
          </a:prstGeom>
          <a:noFill/>
          <a:ln w="15875">
            <a:solidFill>
              <a:srgbClr val="AEB9CC"/>
            </a:solidFill>
            <a:prstDash val="sysDot"/>
          </a:ln>
        </p:spPr>
      </p:sp>
      <p:sp>
        <p:nvSpPr>
          <p:cNvPr id="31" name="Text 29"/>
          <p:cNvSpPr txBox="1"/>
          <p:nvPr/>
        </p:nvSpPr>
        <p:spPr>
          <a:xfrm>
            <a:off x="10736885" y="4496105"/>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10</a:t>
            </a:r>
            <a:endParaRPr lang="en-US" sz="130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플롯</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1.1 플롯이란</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레이다가 표적을 한 번 잰 결과입니다. 빔이 한 방향에 머무는 동안(드웰) 받은 신호를 처리해 거리 · 방위각 · 고각을 얻습니다.</a:t>
            </a:r>
            <a:endParaRPr lang="en-US" sz="1250" dirty="0"/>
          </a:p>
        </p:txBody>
      </p:sp>
      <p:sp>
        <p:nvSpPr>
          <p:cNvPr id="5" name="Text 3"/>
          <p:cNvSpPr txBox="1"/>
          <p:nvPr/>
        </p:nvSpPr>
        <p:spPr>
          <a:xfrm>
            <a:off x="640080" y="2249424"/>
            <a:ext cx="4572000" cy="274320"/>
          </a:xfrm>
          <a:prstGeom prst="rect">
            <a:avLst/>
          </a:prstGeom>
          <a:noFill/>
          <a:ln/>
        </p:spPr>
        <p:txBody>
          <a:bodyPr wrap="square" lIns="0" tIns="0" rIns="0" bIns="0" rtlCol="0" anchor="t"/>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레이다 처리 흐름에서의 위치</a:t>
            </a:r>
            <a:endParaRPr lang="en-US" sz="1200" dirty="0"/>
          </a:p>
        </p:txBody>
      </p:sp>
      <p:sp>
        <p:nvSpPr>
          <p:cNvPr id="6" name="Shape 4"/>
          <p:cNvSpPr/>
          <p:nvPr/>
        </p:nvSpPr>
        <p:spPr>
          <a:xfrm>
            <a:off x="640080" y="2578608"/>
            <a:ext cx="2459736" cy="603504"/>
          </a:xfrm>
          <a:prstGeom prst="rect">
            <a:avLst/>
          </a:prstGeom>
          <a:solidFill>
            <a:srgbClr val="F7F9FC"/>
          </a:solidFill>
          <a:ln w="9525">
            <a:solidFill>
              <a:srgbClr val="D2D9E5"/>
            </a:solidFill>
            <a:prstDash val="solid"/>
          </a:ln>
        </p:spPr>
      </p:sp>
      <p:sp>
        <p:nvSpPr>
          <p:cNvPr id="7" name="Text 5"/>
          <p:cNvSpPr txBox="1"/>
          <p:nvPr/>
        </p:nvSpPr>
        <p:spPr>
          <a:xfrm>
            <a:off x="640080" y="2642616"/>
            <a:ext cx="2459736" cy="274320"/>
          </a:xfrm>
          <a:prstGeom prst="rect">
            <a:avLst/>
          </a:prstGeom>
          <a:noFill/>
          <a:ln/>
        </p:spPr>
        <p:txBody>
          <a:bodyPr wrap="square" lIns="0" tIns="0" rIns="0" bIns="0" rtlCol="0" anchor="ctr"/>
          <a:lstStyle/>
          <a:p>
            <a:pPr algn="ctr" indent="0" marL="0">
              <a:buNone/>
            </a:pPr>
            <a:r>
              <a:rPr lang="en-US" sz="1250" b="1" dirty="0">
                <a:solidFill>
                  <a:srgbClr val="1B2740"/>
                </a:solidFill>
                <a:latin typeface="맑은 고딕" pitchFamily="34" charset="0"/>
                <a:ea typeface="맑은 고딕" pitchFamily="34" charset="-122"/>
                <a:cs typeface="맑은 고딕" pitchFamily="34" charset="-120"/>
              </a:rPr>
              <a:t>표적 궤적 모의</a:t>
            </a:r>
            <a:endParaRPr lang="en-US" sz="1250" dirty="0"/>
          </a:p>
        </p:txBody>
      </p:sp>
      <p:sp>
        <p:nvSpPr>
          <p:cNvPr id="8" name="Text 6"/>
          <p:cNvSpPr txBox="1"/>
          <p:nvPr/>
        </p:nvSpPr>
        <p:spPr>
          <a:xfrm>
            <a:off x="640080" y="2907792"/>
            <a:ext cx="2459736" cy="219456"/>
          </a:xfrm>
          <a:prstGeom prst="rect">
            <a:avLst/>
          </a:prstGeom>
          <a:noFill/>
          <a:ln/>
        </p:spPr>
        <p:txBody>
          <a:bodyPr wrap="square" lIns="0" tIns="0" rIns="0" bIns="0" rtlCol="0" anchor="ctr"/>
          <a:lstStyle/>
          <a:p>
            <a:pPr algn="ctr" indent="0" marL="0">
              <a:buNone/>
            </a:pPr>
            <a:r>
              <a:rPr lang="en-US" sz="1050" dirty="0">
                <a:solidFill>
                  <a:srgbClr val="8794AC"/>
                </a:solidFill>
                <a:latin typeface="맑은 고딕" pitchFamily="34" charset="0"/>
                <a:ea typeface="맑은 고딕" pitchFamily="34" charset="-122"/>
                <a:cs typeface="맑은 고딕" pitchFamily="34" charset="-120"/>
              </a:rPr>
              <a:t>과제 3 · 시각별 참값 위치</a:t>
            </a:r>
            <a:endParaRPr lang="en-US" sz="1050" dirty="0"/>
          </a:p>
        </p:txBody>
      </p:sp>
      <p:sp>
        <p:nvSpPr>
          <p:cNvPr id="9" name="Shape 7"/>
          <p:cNvSpPr/>
          <p:nvPr/>
        </p:nvSpPr>
        <p:spPr>
          <a:xfrm>
            <a:off x="3154680" y="2880360"/>
            <a:ext cx="246888" cy="0"/>
          </a:xfrm>
          <a:prstGeom prst="line">
            <a:avLst/>
          </a:prstGeom>
          <a:noFill/>
          <a:ln w="15875">
            <a:solidFill>
              <a:srgbClr val="8794AC"/>
            </a:solidFill>
            <a:prstDash val="solid"/>
            <a:tailEnd type="triangle"/>
          </a:ln>
        </p:spPr>
      </p:sp>
      <p:sp>
        <p:nvSpPr>
          <p:cNvPr id="10" name="Shape 8"/>
          <p:cNvSpPr/>
          <p:nvPr/>
        </p:nvSpPr>
        <p:spPr>
          <a:xfrm>
            <a:off x="3456432" y="2578608"/>
            <a:ext cx="2459736" cy="603504"/>
          </a:xfrm>
          <a:prstGeom prst="rect">
            <a:avLst/>
          </a:prstGeom>
          <a:solidFill>
            <a:srgbClr val="EBF2FE"/>
          </a:solidFill>
          <a:ln w="19050">
            <a:solidFill>
              <a:srgbClr val="2563EB"/>
            </a:solidFill>
            <a:prstDash val="solid"/>
          </a:ln>
        </p:spPr>
      </p:sp>
      <p:sp>
        <p:nvSpPr>
          <p:cNvPr id="11" name="Text 9"/>
          <p:cNvSpPr txBox="1"/>
          <p:nvPr/>
        </p:nvSpPr>
        <p:spPr>
          <a:xfrm>
            <a:off x="3456432" y="2642616"/>
            <a:ext cx="2459736" cy="274320"/>
          </a:xfrm>
          <a:prstGeom prst="rect">
            <a:avLst/>
          </a:prstGeom>
          <a:noFill/>
          <a:ln/>
        </p:spPr>
        <p:txBody>
          <a:bodyPr wrap="square" lIns="0" tIns="0" rIns="0" bIns="0" rtlCol="0" anchor="ctr"/>
          <a:lstStyle/>
          <a:p>
            <a:pPr algn="ctr" indent="0" marL="0">
              <a:buNone/>
            </a:pPr>
            <a:r>
              <a:rPr lang="en-US" sz="1250" b="1" dirty="0">
                <a:solidFill>
                  <a:srgbClr val="1B2740"/>
                </a:solidFill>
                <a:latin typeface="맑은 고딕" pitchFamily="34" charset="0"/>
                <a:ea typeface="맑은 고딕" pitchFamily="34" charset="-122"/>
                <a:cs typeface="맑은 고딕" pitchFamily="34" charset="-120"/>
              </a:rPr>
              <a:t>측정 모의</a:t>
            </a:r>
            <a:endParaRPr lang="en-US" sz="1250" dirty="0"/>
          </a:p>
        </p:txBody>
      </p:sp>
      <p:sp>
        <p:nvSpPr>
          <p:cNvPr id="12" name="Text 10"/>
          <p:cNvSpPr txBox="1"/>
          <p:nvPr/>
        </p:nvSpPr>
        <p:spPr>
          <a:xfrm>
            <a:off x="3456432" y="2907792"/>
            <a:ext cx="2459736" cy="219456"/>
          </a:xfrm>
          <a:prstGeom prst="rect">
            <a:avLst/>
          </a:prstGeom>
          <a:noFill/>
          <a:ln/>
        </p:spPr>
        <p:txBody>
          <a:bodyPr wrap="square" lIns="0" tIns="0" rIns="0" bIns="0" rtlCol="0" anchor="ctr"/>
          <a:lstStyle/>
          <a:p>
            <a:pPr algn="ctr" indent="0" marL="0">
              <a:buNone/>
            </a:pPr>
            <a:r>
              <a:rPr lang="en-US" sz="1050" dirty="0">
                <a:solidFill>
                  <a:srgbClr val="4A5A7A"/>
                </a:solidFill>
                <a:latin typeface="맑은 고딕" pitchFamily="34" charset="0"/>
                <a:ea typeface="맑은 고딕" pitchFamily="34" charset="-122"/>
                <a:cs typeface="맑은 고딕" pitchFamily="34" charset="-120"/>
              </a:rPr>
              <a:t>과제 4 · 플롯 · 클러터 생성</a:t>
            </a:r>
            <a:endParaRPr lang="en-US" sz="1050" dirty="0"/>
          </a:p>
        </p:txBody>
      </p:sp>
      <p:sp>
        <p:nvSpPr>
          <p:cNvPr id="13" name="Shape 11"/>
          <p:cNvSpPr/>
          <p:nvPr/>
        </p:nvSpPr>
        <p:spPr>
          <a:xfrm>
            <a:off x="5971032" y="2880360"/>
            <a:ext cx="246888" cy="0"/>
          </a:xfrm>
          <a:prstGeom prst="line">
            <a:avLst/>
          </a:prstGeom>
          <a:noFill/>
          <a:ln w="15875">
            <a:solidFill>
              <a:srgbClr val="8794AC"/>
            </a:solidFill>
            <a:prstDash val="solid"/>
            <a:tailEnd type="triangle"/>
          </a:ln>
        </p:spPr>
      </p:sp>
      <p:sp>
        <p:nvSpPr>
          <p:cNvPr id="14" name="Shape 12"/>
          <p:cNvSpPr/>
          <p:nvPr/>
        </p:nvSpPr>
        <p:spPr>
          <a:xfrm>
            <a:off x="6272784" y="2578608"/>
            <a:ext cx="2459736" cy="603504"/>
          </a:xfrm>
          <a:prstGeom prst="rect">
            <a:avLst/>
          </a:prstGeom>
          <a:solidFill>
            <a:srgbClr val="F7F9FC"/>
          </a:solidFill>
          <a:ln w="9525">
            <a:solidFill>
              <a:srgbClr val="D2D9E5"/>
            </a:solidFill>
            <a:prstDash val="solid"/>
          </a:ln>
        </p:spPr>
      </p:sp>
      <p:sp>
        <p:nvSpPr>
          <p:cNvPr id="15" name="Text 13"/>
          <p:cNvSpPr txBox="1"/>
          <p:nvPr/>
        </p:nvSpPr>
        <p:spPr>
          <a:xfrm>
            <a:off x="6272784" y="2642616"/>
            <a:ext cx="2459736" cy="274320"/>
          </a:xfrm>
          <a:prstGeom prst="rect">
            <a:avLst/>
          </a:prstGeom>
          <a:noFill/>
          <a:ln/>
        </p:spPr>
        <p:txBody>
          <a:bodyPr wrap="square" lIns="0" tIns="0" rIns="0" bIns="0" rtlCol="0" anchor="ctr"/>
          <a:lstStyle/>
          <a:p>
            <a:pPr algn="ctr" indent="0" marL="0">
              <a:buNone/>
            </a:pPr>
            <a:r>
              <a:rPr lang="en-US" sz="1250" b="1" dirty="0">
                <a:solidFill>
                  <a:srgbClr val="7A879F"/>
                </a:solidFill>
                <a:latin typeface="맑은 고딕" pitchFamily="34" charset="0"/>
                <a:ea typeface="맑은 고딕" pitchFamily="34" charset="-122"/>
                <a:cs typeface="맑은 고딕" pitchFamily="34" charset="-120"/>
              </a:rPr>
              <a:t>추적 필터</a:t>
            </a:r>
            <a:endParaRPr lang="en-US" sz="1250" dirty="0"/>
          </a:p>
        </p:txBody>
      </p:sp>
      <p:sp>
        <p:nvSpPr>
          <p:cNvPr id="16" name="Text 14"/>
          <p:cNvSpPr txBox="1"/>
          <p:nvPr/>
        </p:nvSpPr>
        <p:spPr>
          <a:xfrm>
            <a:off x="6272784" y="2907792"/>
            <a:ext cx="2459736" cy="219456"/>
          </a:xfrm>
          <a:prstGeom prst="rect">
            <a:avLst/>
          </a:prstGeom>
          <a:noFill/>
          <a:ln/>
        </p:spPr>
        <p:txBody>
          <a:bodyPr wrap="square" lIns="0" tIns="0" rIns="0" bIns="0" rtlCol="0" anchor="ctr"/>
          <a:lstStyle/>
          <a:p>
            <a:pPr algn="ctr" indent="0" marL="0">
              <a:buNone/>
            </a:pPr>
            <a:r>
              <a:rPr lang="en-US" sz="1050" dirty="0">
                <a:solidFill>
                  <a:srgbClr val="8794AC"/>
                </a:solidFill>
                <a:latin typeface="맑은 고딕" pitchFamily="34" charset="0"/>
                <a:ea typeface="맑은 고딕" pitchFamily="34" charset="-122"/>
                <a:cs typeface="맑은 고딕" pitchFamily="34" charset="-120"/>
              </a:rPr>
              <a:t>다음 과제 · 플롯으로 표적 추정</a:t>
            </a:r>
            <a:endParaRPr lang="en-US" sz="1050" dirty="0"/>
          </a:p>
        </p:txBody>
      </p:sp>
      <p:sp>
        <p:nvSpPr>
          <p:cNvPr id="17" name="Shape 15"/>
          <p:cNvSpPr/>
          <p:nvPr/>
        </p:nvSpPr>
        <p:spPr>
          <a:xfrm>
            <a:off x="8787384" y="2880360"/>
            <a:ext cx="246888" cy="0"/>
          </a:xfrm>
          <a:prstGeom prst="line">
            <a:avLst/>
          </a:prstGeom>
          <a:noFill/>
          <a:ln w="15875">
            <a:solidFill>
              <a:srgbClr val="8794AC"/>
            </a:solidFill>
            <a:prstDash val="solid"/>
            <a:tailEnd type="triangle"/>
          </a:ln>
        </p:spPr>
      </p:sp>
      <p:sp>
        <p:nvSpPr>
          <p:cNvPr id="18" name="Shape 16"/>
          <p:cNvSpPr/>
          <p:nvPr/>
        </p:nvSpPr>
        <p:spPr>
          <a:xfrm>
            <a:off x="9089136" y="2578608"/>
            <a:ext cx="2459736" cy="603504"/>
          </a:xfrm>
          <a:prstGeom prst="rect">
            <a:avLst/>
          </a:prstGeom>
          <a:solidFill>
            <a:srgbClr val="F7F9FC"/>
          </a:solidFill>
          <a:ln w="9525">
            <a:solidFill>
              <a:srgbClr val="D2D9E5"/>
            </a:solidFill>
            <a:prstDash val="solid"/>
          </a:ln>
        </p:spPr>
      </p:sp>
      <p:sp>
        <p:nvSpPr>
          <p:cNvPr id="19" name="Text 17"/>
          <p:cNvSpPr txBox="1"/>
          <p:nvPr/>
        </p:nvSpPr>
        <p:spPr>
          <a:xfrm>
            <a:off x="9089136" y="2642616"/>
            <a:ext cx="2459736" cy="274320"/>
          </a:xfrm>
          <a:prstGeom prst="rect">
            <a:avLst/>
          </a:prstGeom>
          <a:noFill/>
          <a:ln/>
        </p:spPr>
        <p:txBody>
          <a:bodyPr wrap="square" lIns="0" tIns="0" rIns="0" bIns="0" rtlCol="0" anchor="ctr"/>
          <a:lstStyle/>
          <a:p>
            <a:pPr algn="ctr" indent="0" marL="0">
              <a:buNone/>
            </a:pPr>
            <a:r>
              <a:rPr lang="en-US" sz="1250" b="1" dirty="0">
                <a:solidFill>
                  <a:srgbClr val="7A879F"/>
                </a:solidFill>
                <a:latin typeface="맑은 고딕" pitchFamily="34" charset="0"/>
                <a:ea typeface="맑은 고딕" pitchFamily="34" charset="-122"/>
                <a:cs typeface="맑은 고딕" pitchFamily="34" charset="-120"/>
              </a:rPr>
              <a:t>전시 · 통제</a:t>
            </a:r>
            <a:endParaRPr lang="en-US" sz="1250" dirty="0"/>
          </a:p>
        </p:txBody>
      </p:sp>
      <p:sp>
        <p:nvSpPr>
          <p:cNvPr id="20" name="Text 18"/>
          <p:cNvSpPr txBox="1"/>
          <p:nvPr/>
        </p:nvSpPr>
        <p:spPr>
          <a:xfrm>
            <a:off x="9089136" y="2907792"/>
            <a:ext cx="2459736" cy="219456"/>
          </a:xfrm>
          <a:prstGeom prst="rect">
            <a:avLst/>
          </a:prstGeom>
          <a:noFill/>
          <a:ln/>
        </p:spPr>
        <p:txBody>
          <a:bodyPr wrap="square" lIns="0" tIns="0" rIns="0" bIns="0" rtlCol="0" anchor="ctr"/>
          <a:lstStyle/>
          <a:p>
            <a:pPr algn="ctr" indent="0" marL="0">
              <a:buNone/>
            </a:pPr>
            <a:r>
              <a:rPr lang="en-US" sz="1050" dirty="0">
                <a:solidFill>
                  <a:srgbClr val="8794AC"/>
                </a:solidFill>
                <a:latin typeface="맑은 고딕" pitchFamily="34" charset="0"/>
                <a:ea typeface="맑은 고딕" pitchFamily="34" charset="-122"/>
                <a:cs typeface="맑은 고딕" pitchFamily="34" charset="-120"/>
              </a:rPr>
              <a:t>항적 표시</a:t>
            </a:r>
            <a:endParaRPr lang="en-US" sz="1050" dirty="0"/>
          </a:p>
        </p:txBody>
      </p:sp>
      <p:sp>
        <p:nvSpPr>
          <p:cNvPr id="21" name="Text 19"/>
          <p:cNvSpPr/>
          <p:nvPr/>
        </p:nvSpPr>
        <p:spPr>
          <a:xfrm>
            <a:off x="4256532" y="3255264"/>
            <a:ext cx="859536" cy="237744"/>
          </a:xfrm>
          <a:prstGeom prst="roundRect">
            <a:avLst>
              <a:gd name="adj" fmla="val 192308"/>
            </a:avLst>
          </a:prstGeom>
          <a:solidFill>
            <a:srgbClr val="FFFFFF"/>
          </a:solidFill>
          <a:ln w="12700">
            <a:solidFill>
              <a:srgbClr val="2563EB"/>
            </a:solidFill>
          </a:ln>
        </p:spPr>
        <p:txBody>
          <a:bodyPr wrap="square" lIns="0" tIns="0" rIns="0" bIns="0" rtlCol="0" anchor="ctr"/>
          <a:lstStyle/>
          <a:p>
            <a:pPr algn="ctr" indent="0" marL="0">
              <a:buNone/>
            </a:pPr>
            <a:r>
              <a:rPr lang="en-US" sz="1000" b="1" dirty="0">
                <a:solidFill>
                  <a:srgbClr val="2563EB"/>
                </a:solidFill>
                <a:latin typeface="맑은 고딕" pitchFamily="34" charset="0"/>
                <a:ea typeface="맑은 고딕" pitchFamily="34" charset="-122"/>
                <a:cs typeface="맑은 고딕" pitchFamily="34" charset="-120"/>
              </a:rPr>
              <a:t>이번 과제</a:t>
            </a:r>
            <a:endParaRPr lang="en-US" sz="1000" dirty="0"/>
          </a:p>
        </p:txBody>
      </p:sp>
      <p:sp>
        <p:nvSpPr>
          <p:cNvPr id="22" name="Text 20"/>
          <p:cNvSpPr txBox="1"/>
          <p:nvPr/>
        </p:nvSpPr>
        <p:spPr>
          <a:xfrm>
            <a:off x="6272784" y="3255264"/>
            <a:ext cx="4937760" cy="23774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추적 필터는 이번 과제가 만든 플롯 · 클러터를 입력으로 받는다.</a:t>
            </a:r>
            <a:endParaRPr lang="en-US" sz="1050" dirty="0"/>
          </a:p>
        </p:txBody>
      </p:sp>
      <p:sp>
        <p:nvSpPr>
          <p:cNvPr id="23" name="Shape 21"/>
          <p:cNvSpPr/>
          <p:nvPr/>
        </p:nvSpPr>
        <p:spPr>
          <a:xfrm>
            <a:off x="640080" y="3602736"/>
            <a:ext cx="10908792" cy="0"/>
          </a:xfrm>
          <a:prstGeom prst="line">
            <a:avLst/>
          </a:prstGeom>
          <a:noFill/>
          <a:ln w="9525">
            <a:solidFill>
              <a:srgbClr val="E3E8EF"/>
            </a:solidFill>
            <a:prstDash val="solid"/>
          </a:ln>
        </p:spPr>
      </p:sp>
      <p:pic>
        <p:nvPicPr>
          <p:cNvPr id="24" name="Image 0" descr="hit_plot_track">    </p:cNvPr>
          <p:cNvPicPr>
            <a:picLocks noChangeAspect="1"/>
          </p:cNvPicPr>
          <p:nvPr/>
        </p:nvPicPr>
        <p:blipFill>
          <a:blip r:embed="rId1"/>
          <a:stretch>
            <a:fillRect/>
          </a:stretch>
        </p:blipFill>
        <p:spPr>
          <a:xfrm>
            <a:off x="640080" y="3712464"/>
            <a:ext cx="6263640" cy="2186580"/>
          </a:xfrm>
          <a:prstGeom prst="rect">
            <a:avLst/>
          </a:prstGeom>
        </p:spPr>
      </p:pic>
      <p:sp>
        <p:nvSpPr>
          <p:cNvPr id="25" name="Text 22"/>
          <p:cNvSpPr/>
          <p:nvPr/>
        </p:nvSpPr>
        <p:spPr>
          <a:xfrm>
            <a:off x="7223760" y="3749040"/>
            <a:ext cx="566928" cy="256032"/>
          </a:xfrm>
          <a:prstGeom prst="roundRect">
            <a:avLst>
              <a:gd name="adj" fmla="val 178571"/>
            </a:avLst>
          </a:prstGeom>
          <a:solidFill>
            <a:srgbClr val="FFFFFF"/>
          </a:solidFill>
          <a:ln w="12700">
            <a:solidFill>
              <a:srgbClr val="4A5A7A"/>
            </a:solidFill>
          </a:ln>
        </p:spPr>
        <p:txBody>
          <a:bodyPr wrap="square" lIns="0" tIns="0" rIns="0" bIns="0" rtlCol="0" anchor="ctr"/>
          <a:lstStyle/>
          <a:p>
            <a:pPr algn="ctr" indent="0" marL="0">
              <a:buNone/>
            </a:pPr>
            <a:r>
              <a:rPr lang="en-US" sz="1050" b="1" dirty="0">
                <a:solidFill>
                  <a:srgbClr val="4A5A7A"/>
                </a:solidFill>
                <a:latin typeface="맑은 고딕" pitchFamily="34" charset="0"/>
                <a:ea typeface="맑은 고딕" pitchFamily="34" charset="-122"/>
                <a:cs typeface="맑은 고딕" pitchFamily="34" charset="-120"/>
              </a:rPr>
              <a:t>드웰</a:t>
            </a:r>
            <a:endParaRPr lang="en-US" sz="1050" dirty="0"/>
          </a:p>
        </p:txBody>
      </p:sp>
      <p:sp>
        <p:nvSpPr>
          <p:cNvPr id="26" name="Text 23"/>
          <p:cNvSpPr txBox="1"/>
          <p:nvPr/>
        </p:nvSpPr>
        <p:spPr>
          <a:xfrm>
            <a:off x="7936992" y="3730752"/>
            <a:ext cx="3611880" cy="420624"/>
          </a:xfrm>
          <a:prstGeom prst="rect">
            <a:avLst/>
          </a:prstGeom>
          <a:noFill/>
          <a:ln/>
        </p:spPr>
        <p:txBody>
          <a:bodyPr wrap="square" lIns="0" tIns="0" rIns="0" bIns="0" rtlCol="0" anchor="t"/>
          <a:lstStyle/>
          <a:p>
            <a:pPr indent="0" marL="0">
              <a:lnSpc>
                <a:spcPct val="105000"/>
              </a:lnSpc>
              <a:buNone/>
            </a:pPr>
            <a:r>
              <a:rPr lang="en-US" sz="1100" dirty="0">
                <a:solidFill>
                  <a:srgbClr val="1B2740"/>
                </a:solidFill>
                <a:latin typeface="맑은 고딕" pitchFamily="34" charset="0"/>
                <a:ea typeface="맑은 고딕" pitchFamily="34" charset="-122"/>
                <a:cs typeface="맑은 고딕" pitchFamily="34" charset="-120"/>
              </a:rPr>
              <a:t>빔이 한 방향에 머물며 신호를 모으는 구간.</a:t>
            </a:r>
            <a:endParaRPr lang="en-US" sz="1100" dirty="0"/>
          </a:p>
          <a:p>
            <a:pPr indent="0" marL="0">
              <a:lnSpc>
                <a:spcPct val="105000"/>
              </a:lnSpc>
              <a:buNone/>
            </a:pPr>
            <a:r>
              <a:rPr lang="en-US" sz="1100" dirty="0">
                <a:solidFill>
                  <a:srgbClr val="1B2740"/>
                </a:solidFill>
                <a:latin typeface="맑은 고딕" pitchFamily="34" charset="0"/>
                <a:ea typeface="맑은 고딕" pitchFamily="34" charset="-122"/>
                <a:cs typeface="맑은 고딕" pitchFamily="34" charset="-120"/>
              </a:rPr>
              <a:t>드웰마다 플롯이 나온다</a:t>
            </a:r>
            <a:endParaRPr lang="en-US" sz="1100" dirty="0"/>
          </a:p>
        </p:txBody>
      </p:sp>
      <p:sp>
        <p:nvSpPr>
          <p:cNvPr id="27" name="Text 24"/>
          <p:cNvSpPr/>
          <p:nvPr/>
        </p:nvSpPr>
        <p:spPr>
          <a:xfrm>
            <a:off x="7223760" y="4279392"/>
            <a:ext cx="566928" cy="256032"/>
          </a:xfrm>
          <a:prstGeom prst="roundRect">
            <a:avLst>
              <a:gd name="adj" fmla="val 178571"/>
            </a:avLst>
          </a:prstGeom>
          <a:solidFill>
            <a:srgbClr val="FFFFFF"/>
          </a:solidFill>
          <a:ln w="12700">
            <a:solidFill>
              <a:srgbClr val="1B2740"/>
            </a:solid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히트</a:t>
            </a:r>
            <a:endParaRPr lang="en-US" sz="1050" dirty="0"/>
          </a:p>
        </p:txBody>
      </p:sp>
      <p:sp>
        <p:nvSpPr>
          <p:cNvPr id="28" name="Text 25"/>
          <p:cNvSpPr txBox="1"/>
          <p:nvPr/>
        </p:nvSpPr>
        <p:spPr>
          <a:xfrm>
            <a:off x="7936992" y="4261104"/>
            <a:ext cx="3611880" cy="420624"/>
          </a:xfrm>
          <a:prstGeom prst="rect">
            <a:avLst/>
          </a:prstGeom>
          <a:noFill/>
          <a:ln/>
        </p:spPr>
        <p:txBody>
          <a:bodyPr wrap="square" lIns="0" tIns="0" rIns="0" bIns="0" rtlCol="0" anchor="t"/>
          <a:lstStyle/>
          <a:p>
            <a:pPr indent="0" marL="0">
              <a:lnSpc>
                <a:spcPct val="105000"/>
              </a:lnSpc>
              <a:buNone/>
            </a:pPr>
            <a:r>
              <a:rPr lang="en-US" sz="1100" dirty="0">
                <a:solidFill>
                  <a:srgbClr val="1B2740"/>
                </a:solidFill>
                <a:latin typeface="맑은 고딕" pitchFamily="34" charset="0"/>
                <a:ea typeface="맑은 고딕" pitchFamily="34" charset="-122"/>
                <a:cs typeface="맑은 고딕" pitchFamily="34" charset="-120"/>
              </a:rPr>
              <a:t>신호처리 결과에서 문턱을 넘은 칸 하나.</a:t>
            </a:r>
            <a:endParaRPr lang="en-US" sz="1100" dirty="0"/>
          </a:p>
          <a:p>
            <a:pPr indent="0" marL="0">
              <a:lnSpc>
                <a:spcPct val="105000"/>
              </a:lnSpc>
              <a:buNone/>
            </a:pPr>
            <a:r>
              <a:rPr lang="en-US" sz="1100" dirty="0">
                <a:solidFill>
                  <a:srgbClr val="1B2740"/>
                </a:solidFill>
                <a:latin typeface="맑은 고딕" pitchFamily="34" charset="0"/>
                <a:ea typeface="맑은 고딕" pitchFamily="34" charset="-122"/>
                <a:cs typeface="맑은 고딕" pitchFamily="34" charset="-120"/>
              </a:rPr>
              <a:t>표적 하나가 히트 여러 개를 낸다</a:t>
            </a:r>
            <a:endParaRPr lang="en-US" sz="1100" dirty="0"/>
          </a:p>
        </p:txBody>
      </p:sp>
      <p:sp>
        <p:nvSpPr>
          <p:cNvPr id="29" name="Text 26"/>
          <p:cNvSpPr/>
          <p:nvPr/>
        </p:nvSpPr>
        <p:spPr>
          <a:xfrm>
            <a:off x="7223760" y="4809744"/>
            <a:ext cx="566928" cy="256032"/>
          </a:xfrm>
          <a:prstGeom prst="roundRect">
            <a:avLst>
              <a:gd name="adj" fmla="val 178571"/>
            </a:avLst>
          </a:prstGeom>
          <a:solidFill>
            <a:srgbClr val="FFFFFF"/>
          </a:solidFill>
          <a:ln w="12700">
            <a:solidFill>
              <a:srgbClr val="1F2937"/>
            </a:solidFill>
          </a:ln>
        </p:spPr>
        <p:txBody>
          <a:bodyPr wrap="square" lIns="0" tIns="0" rIns="0" bIns="0" rtlCol="0" anchor="ctr"/>
          <a:lstStyle/>
          <a:p>
            <a:pPr algn="ctr" indent="0" marL="0">
              <a:buNone/>
            </a:pPr>
            <a:r>
              <a:rPr lang="en-US" sz="1050" b="1" dirty="0">
                <a:solidFill>
                  <a:srgbClr val="1F2937"/>
                </a:solidFill>
                <a:latin typeface="맑은 고딕" pitchFamily="34" charset="0"/>
                <a:ea typeface="맑은 고딕" pitchFamily="34" charset="-122"/>
                <a:cs typeface="맑은 고딕" pitchFamily="34" charset="-120"/>
              </a:rPr>
              <a:t>플롯</a:t>
            </a:r>
            <a:endParaRPr lang="en-US" sz="1050" dirty="0"/>
          </a:p>
        </p:txBody>
      </p:sp>
      <p:sp>
        <p:nvSpPr>
          <p:cNvPr id="30" name="Text 27"/>
          <p:cNvSpPr txBox="1"/>
          <p:nvPr/>
        </p:nvSpPr>
        <p:spPr>
          <a:xfrm>
            <a:off x="7936992" y="4791456"/>
            <a:ext cx="3611880" cy="420624"/>
          </a:xfrm>
          <a:prstGeom prst="rect">
            <a:avLst/>
          </a:prstGeom>
          <a:noFill/>
          <a:ln/>
        </p:spPr>
        <p:txBody>
          <a:bodyPr wrap="square" lIns="0" tIns="0" rIns="0" bIns="0" rtlCol="0" anchor="t"/>
          <a:lstStyle/>
          <a:p>
            <a:pPr indent="0" marL="0">
              <a:lnSpc>
                <a:spcPct val="105000"/>
              </a:lnSpc>
              <a:buNone/>
            </a:pPr>
            <a:r>
              <a:rPr lang="en-US" sz="1100" dirty="0">
                <a:solidFill>
                  <a:srgbClr val="1B2740"/>
                </a:solidFill>
                <a:latin typeface="맑은 고딕" pitchFamily="34" charset="0"/>
                <a:ea typeface="맑은 고딕" pitchFamily="34" charset="-122"/>
                <a:cs typeface="맑은 고딕" pitchFamily="34" charset="-120"/>
              </a:rPr>
              <a:t>붙어 있는 히트를 묶은 대표점.</a:t>
            </a:r>
            <a:endParaRPr lang="en-US" sz="1100" dirty="0"/>
          </a:p>
          <a:p>
            <a:pPr indent="0" marL="0">
              <a:lnSpc>
                <a:spcPct val="105000"/>
              </a:lnSpc>
              <a:buNone/>
            </a:pPr>
            <a:r>
              <a:rPr lang="en-US" sz="1100" dirty="0">
                <a:solidFill>
                  <a:srgbClr val="1B2740"/>
                </a:solidFill>
                <a:latin typeface="맑은 고딕" pitchFamily="34" charset="0"/>
                <a:ea typeface="맑은 고딕" pitchFamily="34" charset="-122"/>
                <a:cs typeface="맑은 고딕" pitchFamily="34" charset="-120"/>
              </a:rPr>
              <a:t>거리 · 방위각 · 고각과 잰 시각을 가진다</a:t>
            </a:r>
            <a:endParaRPr lang="en-US" sz="1100" dirty="0"/>
          </a:p>
        </p:txBody>
      </p:sp>
      <p:sp>
        <p:nvSpPr>
          <p:cNvPr id="31" name="Text 28"/>
          <p:cNvSpPr/>
          <p:nvPr/>
        </p:nvSpPr>
        <p:spPr>
          <a:xfrm>
            <a:off x="7223760" y="5340096"/>
            <a:ext cx="566928" cy="256032"/>
          </a:xfrm>
          <a:prstGeom prst="roundRect">
            <a:avLst>
              <a:gd name="adj" fmla="val 178571"/>
            </a:avLst>
          </a:prstGeom>
          <a:solidFill>
            <a:srgbClr val="FFFFFF"/>
          </a:solidFill>
          <a:ln w="12700">
            <a:solidFill>
              <a:srgbClr val="D97706"/>
            </a:solidFill>
          </a:ln>
        </p:spPr>
        <p:txBody>
          <a:bodyPr wrap="square" lIns="0" tIns="0" rIns="0" bIns="0" rtlCol="0" anchor="ctr"/>
          <a:lstStyle/>
          <a:p>
            <a:pPr algn="ctr" indent="0" marL="0">
              <a:buNone/>
            </a:pPr>
            <a:r>
              <a:rPr lang="en-US" sz="1050" b="1" dirty="0">
                <a:solidFill>
                  <a:srgbClr val="D97706"/>
                </a:solidFill>
                <a:latin typeface="맑은 고딕" pitchFamily="34" charset="0"/>
                <a:ea typeface="맑은 고딕" pitchFamily="34" charset="-122"/>
                <a:cs typeface="맑은 고딕" pitchFamily="34" charset="-120"/>
              </a:rPr>
              <a:t>트랙</a:t>
            </a:r>
            <a:endParaRPr lang="en-US" sz="1050" dirty="0"/>
          </a:p>
        </p:txBody>
      </p:sp>
      <p:sp>
        <p:nvSpPr>
          <p:cNvPr id="32" name="Text 29"/>
          <p:cNvSpPr txBox="1"/>
          <p:nvPr/>
        </p:nvSpPr>
        <p:spPr>
          <a:xfrm>
            <a:off x="7936992" y="5321808"/>
            <a:ext cx="3611880" cy="420624"/>
          </a:xfrm>
          <a:prstGeom prst="rect">
            <a:avLst/>
          </a:prstGeom>
          <a:noFill/>
          <a:ln/>
        </p:spPr>
        <p:txBody>
          <a:bodyPr wrap="square" lIns="0" tIns="0" rIns="0" bIns="0" rtlCol="0" anchor="t"/>
          <a:lstStyle/>
          <a:p>
            <a:pPr indent="0" marL="0">
              <a:lnSpc>
                <a:spcPct val="105000"/>
              </a:lnSpc>
              <a:buNone/>
            </a:pPr>
            <a:r>
              <a:rPr lang="en-US" sz="1100" dirty="0">
                <a:solidFill>
                  <a:srgbClr val="1B2740"/>
                </a:solidFill>
                <a:latin typeface="맑은 고딕" pitchFamily="34" charset="0"/>
                <a:ea typeface="맑은 고딕" pitchFamily="34" charset="-122"/>
                <a:cs typeface="맑은 고딕" pitchFamily="34" charset="-120"/>
              </a:rPr>
              <a:t>같은 표적의 플롯을 시간 순서로 이어</a:t>
            </a:r>
            <a:endParaRPr lang="en-US" sz="1100" dirty="0"/>
          </a:p>
          <a:p>
            <a:pPr indent="0" marL="0">
              <a:lnSpc>
                <a:spcPct val="105000"/>
              </a:lnSpc>
              <a:buNone/>
            </a:pPr>
            <a:r>
              <a:rPr lang="en-US" sz="1100" dirty="0">
                <a:solidFill>
                  <a:srgbClr val="1B2740"/>
                </a:solidFill>
                <a:latin typeface="맑은 고딕" pitchFamily="34" charset="0"/>
                <a:ea typeface="맑은 고딕" pitchFamily="34" charset="-122"/>
                <a:cs typeface="맑은 고딕" pitchFamily="34" charset="-120"/>
              </a:rPr>
              <a:t>추정한 궤적 (다음 과제)</a:t>
            </a:r>
            <a:endParaRPr lang="en-US" sz="110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플롯</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1.2 플롯 생성 과정</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실제 레이다는 수신 신호를 여러 단계로 처리해 플롯을 뽑고, 모의는 그 과정을 건너뛰고 참값에 잡음을 더해 바로 플롯을 만듭니다.</a:t>
            </a:r>
            <a:endParaRPr lang="en-US" sz="1250" dirty="0"/>
          </a:p>
        </p:txBody>
      </p:sp>
      <p:sp>
        <p:nvSpPr>
          <p:cNvPr id="5" name="Text 3"/>
          <p:cNvSpPr txBox="1"/>
          <p:nvPr/>
        </p:nvSpPr>
        <p:spPr>
          <a:xfrm>
            <a:off x="640080" y="2267712"/>
            <a:ext cx="4572000" cy="274320"/>
          </a:xfrm>
          <a:prstGeom prst="rect">
            <a:avLst/>
          </a:prstGeom>
          <a:noFill/>
          <a:ln/>
        </p:spPr>
        <p:txBody>
          <a:bodyPr wrap="square" lIns="0" tIns="0" rIns="0" bIns="0" rtlCol="0" anchor="t"/>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(1) 실제 레이다 시스템</a:t>
            </a:r>
            <a:endParaRPr lang="en-US" sz="1200" dirty="0"/>
          </a:p>
        </p:txBody>
      </p:sp>
      <p:sp>
        <p:nvSpPr>
          <p:cNvPr id="6" name="Shape 4"/>
          <p:cNvSpPr/>
          <p:nvPr/>
        </p:nvSpPr>
        <p:spPr>
          <a:xfrm>
            <a:off x="640080" y="2615184"/>
            <a:ext cx="1069848" cy="1517904"/>
          </a:xfrm>
          <a:prstGeom prst="roundRect">
            <a:avLst>
              <a:gd name="adj" fmla="val 5128"/>
            </a:avLst>
          </a:prstGeom>
          <a:solidFill>
            <a:srgbClr val="EBF2FE"/>
          </a:solidFill>
          <a:ln w="9525">
            <a:solidFill>
              <a:srgbClr val="2563EB"/>
            </a:solidFill>
            <a:prstDash val="solid"/>
          </a:ln>
        </p:spPr>
      </p:sp>
      <p:pic>
        <p:nvPicPr>
          <p:cNvPr id="7" name="Image 0" descr="glyph_target">    </p:cNvPr>
          <p:cNvPicPr>
            <a:picLocks noChangeAspect="1"/>
          </p:cNvPicPr>
          <p:nvPr/>
        </p:nvPicPr>
        <p:blipFill>
          <a:blip r:embed="rId1"/>
          <a:stretch>
            <a:fillRect/>
          </a:stretch>
        </p:blipFill>
        <p:spPr>
          <a:xfrm>
            <a:off x="694944" y="2688336"/>
            <a:ext cx="960120" cy="539572"/>
          </a:xfrm>
          <a:prstGeom prst="rect">
            <a:avLst/>
          </a:prstGeom>
        </p:spPr>
      </p:pic>
      <p:sp>
        <p:nvSpPr>
          <p:cNvPr id="8" name="Text 5"/>
          <p:cNvSpPr txBox="1"/>
          <p:nvPr/>
        </p:nvSpPr>
        <p:spPr>
          <a:xfrm>
            <a:off x="667512"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표적 + 잡음</a:t>
            </a:r>
            <a:endParaRPr lang="en-US" sz="1050" dirty="0"/>
          </a:p>
        </p:txBody>
      </p:sp>
      <p:sp>
        <p:nvSpPr>
          <p:cNvPr id="9" name="Text 6"/>
          <p:cNvSpPr txBox="1"/>
          <p:nvPr/>
        </p:nvSpPr>
        <p:spPr>
          <a:xfrm>
            <a:off x="704088"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참값 + 수신기 잡음</a:t>
            </a:r>
            <a:endParaRPr lang="en-US" sz="1000" dirty="0"/>
          </a:p>
        </p:txBody>
      </p:sp>
      <p:sp>
        <p:nvSpPr>
          <p:cNvPr id="10" name="Shape 7"/>
          <p:cNvSpPr/>
          <p:nvPr/>
        </p:nvSpPr>
        <p:spPr>
          <a:xfrm>
            <a:off x="1723644" y="3374136"/>
            <a:ext cx="132588" cy="0"/>
          </a:xfrm>
          <a:prstGeom prst="line">
            <a:avLst/>
          </a:prstGeom>
          <a:noFill/>
          <a:ln w="12700">
            <a:solidFill>
              <a:srgbClr val="8794AC"/>
            </a:solidFill>
            <a:prstDash val="solid"/>
            <a:tailEnd type="triangle"/>
          </a:ln>
        </p:spPr>
      </p:sp>
      <p:sp>
        <p:nvSpPr>
          <p:cNvPr id="11" name="Shape 8"/>
          <p:cNvSpPr/>
          <p:nvPr/>
        </p:nvSpPr>
        <p:spPr>
          <a:xfrm>
            <a:off x="1869948" y="2615184"/>
            <a:ext cx="1069848" cy="1517904"/>
          </a:xfrm>
          <a:prstGeom prst="roundRect">
            <a:avLst>
              <a:gd name="adj" fmla="val 5128"/>
            </a:avLst>
          </a:prstGeom>
          <a:solidFill>
            <a:srgbClr val="F7F9FC"/>
          </a:solidFill>
          <a:ln w="9525">
            <a:solidFill>
              <a:srgbClr val="D2D9E5"/>
            </a:solidFill>
            <a:prstDash val="solid"/>
          </a:ln>
        </p:spPr>
      </p:sp>
      <p:pic>
        <p:nvPicPr>
          <p:cNvPr id="12" name="Image 1" descr="glyph_iq">    </p:cNvPr>
          <p:cNvPicPr>
            <a:picLocks noChangeAspect="1"/>
          </p:cNvPicPr>
          <p:nvPr/>
        </p:nvPicPr>
        <p:blipFill>
          <a:blip r:embed="rId2"/>
          <a:stretch>
            <a:fillRect/>
          </a:stretch>
        </p:blipFill>
        <p:spPr>
          <a:xfrm>
            <a:off x="1924812" y="2688336"/>
            <a:ext cx="960120" cy="539572"/>
          </a:xfrm>
          <a:prstGeom prst="rect">
            <a:avLst/>
          </a:prstGeom>
        </p:spPr>
      </p:pic>
      <p:sp>
        <p:nvSpPr>
          <p:cNvPr id="13" name="Text 9"/>
          <p:cNvSpPr txBox="1"/>
          <p:nvPr/>
        </p:nvSpPr>
        <p:spPr>
          <a:xfrm>
            <a:off x="1897380"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IQ 데이터</a:t>
            </a:r>
            <a:endParaRPr lang="en-US" sz="1050" dirty="0"/>
          </a:p>
        </p:txBody>
      </p:sp>
      <p:sp>
        <p:nvSpPr>
          <p:cNvPr id="14" name="Text 10"/>
          <p:cNvSpPr txBox="1"/>
          <p:nvPr/>
        </p:nvSpPr>
        <p:spPr>
          <a:xfrm>
            <a:off x="1933956"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수신 신호를 복소 표본으로</a:t>
            </a:r>
            <a:endParaRPr lang="en-US" sz="1000" dirty="0"/>
          </a:p>
        </p:txBody>
      </p:sp>
      <p:sp>
        <p:nvSpPr>
          <p:cNvPr id="15" name="Shape 11"/>
          <p:cNvSpPr/>
          <p:nvPr/>
        </p:nvSpPr>
        <p:spPr>
          <a:xfrm>
            <a:off x="2953512" y="3374136"/>
            <a:ext cx="132588" cy="0"/>
          </a:xfrm>
          <a:prstGeom prst="line">
            <a:avLst/>
          </a:prstGeom>
          <a:noFill/>
          <a:ln w="12700">
            <a:solidFill>
              <a:srgbClr val="8794AC"/>
            </a:solidFill>
            <a:prstDash val="solid"/>
            <a:tailEnd type="triangle"/>
          </a:ln>
        </p:spPr>
      </p:sp>
      <p:sp>
        <p:nvSpPr>
          <p:cNvPr id="16" name="Shape 12"/>
          <p:cNvSpPr/>
          <p:nvPr/>
        </p:nvSpPr>
        <p:spPr>
          <a:xfrm>
            <a:off x="3099816" y="2615184"/>
            <a:ext cx="1069848" cy="1517904"/>
          </a:xfrm>
          <a:prstGeom prst="roundRect">
            <a:avLst>
              <a:gd name="adj" fmla="val 5128"/>
            </a:avLst>
          </a:prstGeom>
          <a:solidFill>
            <a:srgbClr val="F7F9FC"/>
          </a:solidFill>
          <a:ln w="9525">
            <a:solidFill>
              <a:srgbClr val="D2D9E5"/>
            </a:solidFill>
            <a:prstDash val="solid"/>
          </a:ln>
        </p:spPr>
      </p:sp>
      <p:pic>
        <p:nvPicPr>
          <p:cNvPr id="17" name="Image 2" descr="glyph_pc">    </p:cNvPr>
          <p:cNvPicPr>
            <a:picLocks noChangeAspect="1"/>
          </p:cNvPicPr>
          <p:nvPr/>
        </p:nvPicPr>
        <p:blipFill>
          <a:blip r:embed="rId3"/>
          <a:stretch>
            <a:fillRect/>
          </a:stretch>
        </p:blipFill>
        <p:spPr>
          <a:xfrm>
            <a:off x="3154680" y="2688336"/>
            <a:ext cx="960120" cy="539572"/>
          </a:xfrm>
          <a:prstGeom prst="rect">
            <a:avLst/>
          </a:prstGeom>
        </p:spPr>
      </p:pic>
      <p:sp>
        <p:nvSpPr>
          <p:cNvPr id="18" name="Text 13"/>
          <p:cNvSpPr txBox="1"/>
          <p:nvPr/>
        </p:nvSpPr>
        <p:spPr>
          <a:xfrm>
            <a:off x="3127248"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펄스압축</a:t>
            </a:r>
            <a:endParaRPr lang="en-US" sz="1050" dirty="0"/>
          </a:p>
        </p:txBody>
      </p:sp>
      <p:sp>
        <p:nvSpPr>
          <p:cNvPr id="19" name="Text 14"/>
          <p:cNvSpPr txBox="1"/>
          <p:nvPr/>
        </p:nvSpPr>
        <p:spPr>
          <a:xfrm>
            <a:off x="3163824"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긴 펄스를 좁게 모아 거리 분해능</a:t>
            </a:r>
            <a:endParaRPr lang="en-US" sz="1000" dirty="0"/>
          </a:p>
        </p:txBody>
      </p:sp>
      <p:sp>
        <p:nvSpPr>
          <p:cNvPr id="20" name="Shape 15"/>
          <p:cNvSpPr/>
          <p:nvPr/>
        </p:nvSpPr>
        <p:spPr>
          <a:xfrm>
            <a:off x="4183380" y="3374136"/>
            <a:ext cx="132588" cy="0"/>
          </a:xfrm>
          <a:prstGeom prst="line">
            <a:avLst/>
          </a:prstGeom>
          <a:noFill/>
          <a:ln w="12700">
            <a:solidFill>
              <a:srgbClr val="8794AC"/>
            </a:solidFill>
            <a:prstDash val="solid"/>
            <a:tailEnd type="triangle"/>
          </a:ln>
        </p:spPr>
      </p:sp>
      <p:sp>
        <p:nvSpPr>
          <p:cNvPr id="21" name="Shape 16"/>
          <p:cNvSpPr/>
          <p:nvPr/>
        </p:nvSpPr>
        <p:spPr>
          <a:xfrm>
            <a:off x="4329684" y="2615184"/>
            <a:ext cx="1069848" cy="1517904"/>
          </a:xfrm>
          <a:prstGeom prst="roundRect">
            <a:avLst>
              <a:gd name="adj" fmla="val 5128"/>
            </a:avLst>
          </a:prstGeom>
          <a:solidFill>
            <a:srgbClr val="F7F9FC"/>
          </a:solidFill>
          <a:ln w="9525">
            <a:solidFill>
              <a:srgbClr val="D2D9E5"/>
            </a:solidFill>
            <a:prstDash val="solid"/>
          </a:ln>
        </p:spPr>
      </p:sp>
      <p:pic>
        <p:nvPicPr>
          <p:cNvPr id="22" name="Image 3" descr="glyph_doppler">    </p:cNvPr>
          <p:cNvPicPr>
            <a:picLocks noChangeAspect="1"/>
          </p:cNvPicPr>
          <p:nvPr/>
        </p:nvPicPr>
        <p:blipFill>
          <a:blip r:embed="rId4"/>
          <a:stretch>
            <a:fillRect/>
          </a:stretch>
        </p:blipFill>
        <p:spPr>
          <a:xfrm>
            <a:off x="4384548" y="2688336"/>
            <a:ext cx="960120" cy="539572"/>
          </a:xfrm>
          <a:prstGeom prst="rect">
            <a:avLst/>
          </a:prstGeom>
        </p:spPr>
      </p:pic>
      <p:sp>
        <p:nvSpPr>
          <p:cNvPr id="23" name="Text 17"/>
          <p:cNvSpPr txBox="1"/>
          <p:nvPr/>
        </p:nvSpPr>
        <p:spPr>
          <a:xfrm>
            <a:off x="4357116"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도플러 처리</a:t>
            </a:r>
            <a:endParaRPr lang="en-US" sz="1050" dirty="0"/>
          </a:p>
        </p:txBody>
      </p:sp>
      <p:sp>
        <p:nvSpPr>
          <p:cNvPr id="24" name="Text 18"/>
          <p:cNvSpPr txBox="1"/>
          <p:nvPr/>
        </p:nvSpPr>
        <p:spPr>
          <a:xfrm>
            <a:off x="4393692"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속도별로 나눠 정지 클러터 분리</a:t>
            </a:r>
            <a:endParaRPr lang="en-US" sz="1000" dirty="0"/>
          </a:p>
        </p:txBody>
      </p:sp>
      <p:sp>
        <p:nvSpPr>
          <p:cNvPr id="25" name="Shape 19"/>
          <p:cNvSpPr/>
          <p:nvPr/>
        </p:nvSpPr>
        <p:spPr>
          <a:xfrm>
            <a:off x="5413248" y="3374136"/>
            <a:ext cx="132588" cy="0"/>
          </a:xfrm>
          <a:prstGeom prst="line">
            <a:avLst/>
          </a:prstGeom>
          <a:noFill/>
          <a:ln w="12700">
            <a:solidFill>
              <a:srgbClr val="8794AC"/>
            </a:solidFill>
            <a:prstDash val="solid"/>
            <a:tailEnd type="triangle"/>
          </a:ln>
        </p:spPr>
      </p:sp>
      <p:sp>
        <p:nvSpPr>
          <p:cNvPr id="26" name="Shape 20"/>
          <p:cNvSpPr/>
          <p:nvPr/>
        </p:nvSpPr>
        <p:spPr>
          <a:xfrm>
            <a:off x="5559552" y="2615184"/>
            <a:ext cx="1069848" cy="1517904"/>
          </a:xfrm>
          <a:prstGeom prst="roundRect">
            <a:avLst>
              <a:gd name="adj" fmla="val 5128"/>
            </a:avLst>
          </a:prstGeom>
          <a:solidFill>
            <a:srgbClr val="F7F9FC"/>
          </a:solidFill>
          <a:ln w="9525">
            <a:solidFill>
              <a:srgbClr val="D2D9E5"/>
            </a:solidFill>
            <a:prstDash val="solid"/>
          </a:ln>
        </p:spPr>
      </p:sp>
      <p:pic>
        <p:nvPicPr>
          <p:cNvPr id="27" name="Image 4" descr="glyph_cfar">    </p:cNvPr>
          <p:cNvPicPr>
            <a:picLocks noChangeAspect="1"/>
          </p:cNvPicPr>
          <p:nvPr/>
        </p:nvPicPr>
        <p:blipFill>
          <a:blip r:embed="rId5"/>
          <a:stretch>
            <a:fillRect/>
          </a:stretch>
        </p:blipFill>
        <p:spPr>
          <a:xfrm>
            <a:off x="5614416" y="2688336"/>
            <a:ext cx="960120" cy="539572"/>
          </a:xfrm>
          <a:prstGeom prst="rect">
            <a:avLst/>
          </a:prstGeom>
        </p:spPr>
      </p:pic>
      <p:sp>
        <p:nvSpPr>
          <p:cNvPr id="28" name="Text 21"/>
          <p:cNvSpPr txBox="1"/>
          <p:nvPr/>
        </p:nvSpPr>
        <p:spPr>
          <a:xfrm>
            <a:off x="5586984"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CFAR</a:t>
            </a:r>
            <a:endParaRPr lang="en-US" sz="1050" dirty="0"/>
          </a:p>
        </p:txBody>
      </p:sp>
      <p:sp>
        <p:nvSpPr>
          <p:cNvPr id="29" name="Text 22"/>
          <p:cNvSpPr txBox="1"/>
          <p:nvPr/>
        </p:nvSpPr>
        <p:spPr>
          <a:xfrm>
            <a:off x="5623560"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주변 잡음에 맞춘 문턱</a:t>
            </a:r>
            <a:endParaRPr lang="en-US" sz="1000" dirty="0"/>
          </a:p>
        </p:txBody>
      </p:sp>
      <p:sp>
        <p:nvSpPr>
          <p:cNvPr id="30" name="Shape 23"/>
          <p:cNvSpPr/>
          <p:nvPr/>
        </p:nvSpPr>
        <p:spPr>
          <a:xfrm>
            <a:off x="6643116" y="3374136"/>
            <a:ext cx="132588" cy="0"/>
          </a:xfrm>
          <a:prstGeom prst="line">
            <a:avLst/>
          </a:prstGeom>
          <a:noFill/>
          <a:ln w="12700">
            <a:solidFill>
              <a:srgbClr val="8794AC"/>
            </a:solidFill>
            <a:prstDash val="solid"/>
            <a:tailEnd type="triangle"/>
          </a:ln>
        </p:spPr>
      </p:sp>
      <p:sp>
        <p:nvSpPr>
          <p:cNvPr id="31" name="Shape 24"/>
          <p:cNvSpPr/>
          <p:nvPr/>
        </p:nvSpPr>
        <p:spPr>
          <a:xfrm>
            <a:off x="6789420" y="2615184"/>
            <a:ext cx="1069848" cy="1517904"/>
          </a:xfrm>
          <a:prstGeom prst="roundRect">
            <a:avLst>
              <a:gd name="adj" fmla="val 5128"/>
            </a:avLst>
          </a:prstGeom>
          <a:solidFill>
            <a:srgbClr val="F7F9FC"/>
          </a:solidFill>
          <a:ln w="9525">
            <a:solidFill>
              <a:srgbClr val="D2D9E5"/>
            </a:solidFill>
            <a:prstDash val="solid"/>
          </a:ln>
        </p:spPr>
      </p:sp>
      <p:pic>
        <p:nvPicPr>
          <p:cNvPr id="32" name="Image 5" descr="glyph_hit">    </p:cNvPr>
          <p:cNvPicPr>
            <a:picLocks noChangeAspect="1"/>
          </p:cNvPicPr>
          <p:nvPr/>
        </p:nvPicPr>
        <p:blipFill>
          <a:blip r:embed="rId6"/>
          <a:stretch>
            <a:fillRect/>
          </a:stretch>
        </p:blipFill>
        <p:spPr>
          <a:xfrm>
            <a:off x="6844284" y="2688336"/>
            <a:ext cx="960120" cy="539572"/>
          </a:xfrm>
          <a:prstGeom prst="rect">
            <a:avLst/>
          </a:prstGeom>
        </p:spPr>
      </p:pic>
      <p:sp>
        <p:nvSpPr>
          <p:cNvPr id="33" name="Text 25"/>
          <p:cNvSpPr txBox="1"/>
          <p:nvPr/>
        </p:nvSpPr>
        <p:spPr>
          <a:xfrm>
            <a:off x="6816852"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Hit 추출</a:t>
            </a:r>
            <a:endParaRPr lang="en-US" sz="1050" dirty="0"/>
          </a:p>
        </p:txBody>
      </p:sp>
      <p:sp>
        <p:nvSpPr>
          <p:cNvPr id="34" name="Text 26"/>
          <p:cNvSpPr txBox="1"/>
          <p:nvPr/>
        </p:nvSpPr>
        <p:spPr>
          <a:xfrm>
            <a:off x="6853428"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문턱 넘은 칸 고르기</a:t>
            </a:r>
            <a:endParaRPr lang="en-US" sz="1000" dirty="0"/>
          </a:p>
        </p:txBody>
      </p:sp>
      <p:sp>
        <p:nvSpPr>
          <p:cNvPr id="35" name="Shape 27"/>
          <p:cNvSpPr/>
          <p:nvPr/>
        </p:nvSpPr>
        <p:spPr>
          <a:xfrm>
            <a:off x="7872984" y="3374136"/>
            <a:ext cx="132588" cy="0"/>
          </a:xfrm>
          <a:prstGeom prst="line">
            <a:avLst/>
          </a:prstGeom>
          <a:noFill/>
          <a:ln w="12700">
            <a:solidFill>
              <a:srgbClr val="8794AC"/>
            </a:solidFill>
            <a:prstDash val="solid"/>
            <a:tailEnd type="triangle"/>
          </a:ln>
        </p:spPr>
      </p:sp>
      <p:sp>
        <p:nvSpPr>
          <p:cNvPr id="36" name="Shape 28"/>
          <p:cNvSpPr/>
          <p:nvPr/>
        </p:nvSpPr>
        <p:spPr>
          <a:xfrm>
            <a:off x="8019288" y="2615184"/>
            <a:ext cx="1069848" cy="1517904"/>
          </a:xfrm>
          <a:prstGeom prst="roundRect">
            <a:avLst>
              <a:gd name="adj" fmla="val 5128"/>
            </a:avLst>
          </a:prstGeom>
          <a:solidFill>
            <a:srgbClr val="F7F9FC"/>
          </a:solidFill>
          <a:ln w="9525">
            <a:solidFill>
              <a:srgbClr val="D2D9E5"/>
            </a:solidFill>
            <a:prstDash val="solid"/>
          </a:ln>
        </p:spPr>
      </p:sp>
      <p:pic>
        <p:nvPicPr>
          <p:cNvPr id="37" name="Image 6" descr="glyph_cluster">    </p:cNvPr>
          <p:cNvPicPr>
            <a:picLocks noChangeAspect="1"/>
          </p:cNvPicPr>
          <p:nvPr/>
        </p:nvPicPr>
        <p:blipFill>
          <a:blip r:embed="rId7"/>
          <a:stretch>
            <a:fillRect/>
          </a:stretch>
        </p:blipFill>
        <p:spPr>
          <a:xfrm>
            <a:off x="8074152" y="2688336"/>
            <a:ext cx="960120" cy="539572"/>
          </a:xfrm>
          <a:prstGeom prst="rect">
            <a:avLst/>
          </a:prstGeom>
        </p:spPr>
      </p:pic>
      <p:sp>
        <p:nvSpPr>
          <p:cNvPr id="38" name="Text 29"/>
          <p:cNvSpPr txBox="1"/>
          <p:nvPr/>
        </p:nvSpPr>
        <p:spPr>
          <a:xfrm>
            <a:off x="8046720"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Hit 클러스터링</a:t>
            </a:r>
            <a:endParaRPr lang="en-US" sz="1050" dirty="0"/>
          </a:p>
        </p:txBody>
      </p:sp>
      <p:sp>
        <p:nvSpPr>
          <p:cNvPr id="39" name="Text 30"/>
          <p:cNvSpPr txBox="1"/>
          <p:nvPr/>
        </p:nvSpPr>
        <p:spPr>
          <a:xfrm>
            <a:off x="8083296"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한 표적의 히트를 하나로</a:t>
            </a:r>
            <a:endParaRPr lang="en-US" sz="1000" dirty="0"/>
          </a:p>
        </p:txBody>
      </p:sp>
      <p:sp>
        <p:nvSpPr>
          <p:cNvPr id="40" name="Shape 31"/>
          <p:cNvSpPr/>
          <p:nvPr/>
        </p:nvSpPr>
        <p:spPr>
          <a:xfrm>
            <a:off x="9102852" y="3374136"/>
            <a:ext cx="132588" cy="0"/>
          </a:xfrm>
          <a:prstGeom prst="line">
            <a:avLst/>
          </a:prstGeom>
          <a:noFill/>
          <a:ln w="12700">
            <a:solidFill>
              <a:srgbClr val="8794AC"/>
            </a:solidFill>
            <a:prstDash val="solid"/>
            <a:tailEnd type="triangle"/>
          </a:ln>
        </p:spPr>
      </p:sp>
      <p:sp>
        <p:nvSpPr>
          <p:cNvPr id="41" name="Shape 32"/>
          <p:cNvSpPr/>
          <p:nvPr/>
        </p:nvSpPr>
        <p:spPr>
          <a:xfrm>
            <a:off x="9249156" y="2615184"/>
            <a:ext cx="1069848" cy="1517904"/>
          </a:xfrm>
          <a:prstGeom prst="roundRect">
            <a:avLst>
              <a:gd name="adj" fmla="val 5128"/>
            </a:avLst>
          </a:prstGeom>
          <a:solidFill>
            <a:srgbClr val="F7F9FC"/>
          </a:solidFill>
          <a:ln w="9525">
            <a:solidFill>
              <a:srgbClr val="D2D9E5"/>
            </a:solidFill>
            <a:prstDash val="solid"/>
          </a:ln>
        </p:spPr>
      </p:sp>
      <p:pic>
        <p:nvPicPr>
          <p:cNvPr id="42" name="Image 7" descr="glyph_mono">    </p:cNvPr>
          <p:cNvPicPr>
            <a:picLocks noChangeAspect="1"/>
          </p:cNvPicPr>
          <p:nvPr/>
        </p:nvPicPr>
        <p:blipFill>
          <a:blip r:embed="rId8"/>
          <a:stretch>
            <a:fillRect/>
          </a:stretch>
        </p:blipFill>
        <p:spPr>
          <a:xfrm>
            <a:off x="9304020" y="2688336"/>
            <a:ext cx="960120" cy="539572"/>
          </a:xfrm>
          <a:prstGeom prst="rect">
            <a:avLst/>
          </a:prstGeom>
        </p:spPr>
      </p:pic>
      <p:sp>
        <p:nvSpPr>
          <p:cNvPr id="43" name="Text 33"/>
          <p:cNvSpPr txBox="1"/>
          <p:nvPr/>
        </p:nvSpPr>
        <p:spPr>
          <a:xfrm>
            <a:off x="9276588"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모노펄스 처리</a:t>
            </a:r>
            <a:endParaRPr lang="en-US" sz="1050" dirty="0"/>
          </a:p>
        </p:txBody>
      </p:sp>
      <p:sp>
        <p:nvSpPr>
          <p:cNvPr id="44" name="Text 34"/>
          <p:cNvSpPr txBox="1"/>
          <p:nvPr/>
        </p:nvSpPr>
        <p:spPr>
          <a:xfrm>
            <a:off x="9313164"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합 · 차 신호로 정밀 각도</a:t>
            </a:r>
            <a:endParaRPr lang="en-US" sz="1000" dirty="0"/>
          </a:p>
        </p:txBody>
      </p:sp>
      <p:sp>
        <p:nvSpPr>
          <p:cNvPr id="45" name="Shape 35"/>
          <p:cNvSpPr/>
          <p:nvPr/>
        </p:nvSpPr>
        <p:spPr>
          <a:xfrm>
            <a:off x="10332720" y="3374136"/>
            <a:ext cx="132588" cy="0"/>
          </a:xfrm>
          <a:prstGeom prst="line">
            <a:avLst/>
          </a:prstGeom>
          <a:noFill/>
          <a:ln w="12700">
            <a:solidFill>
              <a:srgbClr val="8794AC"/>
            </a:solidFill>
            <a:prstDash val="solid"/>
            <a:tailEnd type="triangle"/>
          </a:ln>
        </p:spPr>
      </p:sp>
      <p:sp>
        <p:nvSpPr>
          <p:cNvPr id="46" name="Shape 36"/>
          <p:cNvSpPr/>
          <p:nvPr/>
        </p:nvSpPr>
        <p:spPr>
          <a:xfrm>
            <a:off x="10479024" y="2615184"/>
            <a:ext cx="1069848" cy="1517904"/>
          </a:xfrm>
          <a:prstGeom prst="roundRect">
            <a:avLst>
              <a:gd name="adj" fmla="val 5128"/>
            </a:avLst>
          </a:prstGeom>
          <a:solidFill>
            <a:srgbClr val="EBF2FE"/>
          </a:solidFill>
          <a:ln w="9525">
            <a:solidFill>
              <a:srgbClr val="2563EB"/>
            </a:solidFill>
            <a:prstDash val="solid"/>
          </a:ln>
        </p:spPr>
      </p:sp>
      <p:pic>
        <p:nvPicPr>
          <p:cNvPr id="47" name="Image 8" descr="glyph_plot">    </p:cNvPr>
          <p:cNvPicPr>
            <a:picLocks noChangeAspect="1"/>
          </p:cNvPicPr>
          <p:nvPr/>
        </p:nvPicPr>
        <p:blipFill>
          <a:blip r:embed="rId9"/>
          <a:stretch>
            <a:fillRect/>
          </a:stretch>
        </p:blipFill>
        <p:spPr>
          <a:xfrm>
            <a:off x="10533888" y="2688336"/>
            <a:ext cx="960120" cy="539572"/>
          </a:xfrm>
          <a:prstGeom prst="rect">
            <a:avLst/>
          </a:prstGeom>
        </p:spPr>
      </p:pic>
      <p:sp>
        <p:nvSpPr>
          <p:cNvPr id="48" name="Text 37"/>
          <p:cNvSpPr txBox="1"/>
          <p:nvPr/>
        </p:nvSpPr>
        <p:spPr>
          <a:xfrm>
            <a:off x="10506456" y="3291840"/>
            <a:ext cx="1014984" cy="256032"/>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드웰 플롯</a:t>
            </a:r>
            <a:endParaRPr lang="en-US" sz="1050" dirty="0"/>
          </a:p>
        </p:txBody>
      </p:sp>
      <p:sp>
        <p:nvSpPr>
          <p:cNvPr id="49" name="Text 38"/>
          <p:cNvSpPr txBox="1"/>
          <p:nvPr/>
        </p:nvSpPr>
        <p:spPr>
          <a:xfrm>
            <a:off x="10543032" y="3557016"/>
            <a:ext cx="941832" cy="530352"/>
          </a:xfrm>
          <a:prstGeom prst="rect">
            <a:avLst/>
          </a:prstGeom>
          <a:noFill/>
          <a:ln/>
        </p:spPr>
        <p:txBody>
          <a:bodyPr wrap="square" lIns="0" tIns="0" rIns="0" bIns="0" rtlCol="0" anchor="t"/>
          <a:lstStyle/>
          <a:p>
            <a:pPr algn="ctr" indent="0" marL="0">
              <a:lnSpc>
                <a:spcPct val="100000"/>
              </a:lnSpc>
              <a:buNone/>
            </a:pPr>
            <a:r>
              <a:rPr lang="en-US" sz="1000" dirty="0">
                <a:solidFill>
                  <a:srgbClr val="4A5A7A"/>
                </a:solidFill>
                <a:latin typeface="맑은 고딕" pitchFamily="34" charset="0"/>
                <a:ea typeface="맑은 고딕" pitchFamily="34" charset="-122"/>
                <a:cs typeface="맑은 고딕" pitchFamily="34" charset="-120"/>
              </a:rPr>
              <a:t>거리 · 방위각 · 고각</a:t>
            </a:r>
            <a:endParaRPr lang="en-US" sz="1000" dirty="0"/>
          </a:p>
        </p:txBody>
      </p:sp>
      <p:sp>
        <p:nvSpPr>
          <p:cNvPr id="50" name="Shape 39"/>
          <p:cNvSpPr/>
          <p:nvPr/>
        </p:nvSpPr>
        <p:spPr>
          <a:xfrm>
            <a:off x="1869948" y="2523744"/>
            <a:ext cx="8449056" cy="0"/>
          </a:xfrm>
          <a:prstGeom prst="line">
            <a:avLst/>
          </a:prstGeom>
          <a:noFill/>
          <a:ln w="9525">
            <a:solidFill>
              <a:srgbClr val="8794AC"/>
            </a:solidFill>
            <a:prstDash val="solid"/>
          </a:ln>
        </p:spPr>
      </p:sp>
      <p:sp>
        <p:nvSpPr>
          <p:cNvPr id="51" name="Text 40"/>
          <p:cNvSpPr txBox="1"/>
          <p:nvPr/>
        </p:nvSpPr>
        <p:spPr>
          <a:xfrm>
            <a:off x="4905756" y="2377440"/>
            <a:ext cx="2377440" cy="201168"/>
          </a:xfrm>
          <a:prstGeom prst="rect">
            <a:avLst/>
          </a:prstGeom>
          <a:solidFill>
            <a:srgbClr val="FFFFFF"/>
          </a:solidFill>
          <a:ln/>
        </p:spPr>
        <p:txBody>
          <a:bodyPr wrap="square" lIns="0" tIns="0" rIns="0" bIns="0" rtlCol="0" anchor="ctr"/>
          <a:lstStyle/>
          <a:p>
            <a:pPr algn="ctr" indent="0" marL="0">
              <a:buNone/>
            </a:pPr>
            <a:r>
              <a:rPr lang="en-US" sz="950" dirty="0">
                <a:solidFill>
                  <a:srgbClr val="6B7890"/>
                </a:solidFill>
                <a:latin typeface="맑은 고딕" pitchFamily="34" charset="0"/>
                <a:ea typeface="맑은 고딕" pitchFamily="34" charset="-122"/>
                <a:cs typeface="맑은 고딕" pitchFamily="34" charset="-120"/>
              </a:rPr>
              <a:t>표적신호 생성 · 신호처리</a:t>
            </a:r>
            <a:endParaRPr lang="en-US" sz="950" dirty="0"/>
          </a:p>
        </p:txBody>
      </p:sp>
      <p:sp>
        <p:nvSpPr>
          <p:cNvPr id="52" name="Text 41"/>
          <p:cNvSpPr txBox="1"/>
          <p:nvPr/>
        </p:nvSpPr>
        <p:spPr>
          <a:xfrm>
            <a:off x="640080" y="4334256"/>
            <a:ext cx="5486400" cy="274320"/>
          </a:xfrm>
          <a:prstGeom prst="rect">
            <a:avLst/>
          </a:prstGeom>
          <a:noFill/>
          <a:ln/>
        </p:spPr>
        <p:txBody>
          <a:bodyPr wrap="square" lIns="0" tIns="0" rIns="0" bIns="0" rtlCol="0" anchor="t"/>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(2) 추적 · 성능 검증용 플롯 모의</a:t>
            </a:r>
            <a:endParaRPr lang="en-US" sz="1200" dirty="0"/>
          </a:p>
        </p:txBody>
      </p:sp>
      <p:sp>
        <p:nvSpPr>
          <p:cNvPr id="53" name="Shape 42"/>
          <p:cNvSpPr/>
          <p:nvPr/>
        </p:nvSpPr>
        <p:spPr>
          <a:xfrm>
            <a:off x="640080" y="4645152"/>
            <a:ext cx="1069848" cy="566928"/>
          </a:xfrm>
          <a:prstGeom prst="roundRect">
            <a:avLst>
              <a:gd name="adj" fmla="val 9677"/>
            </a:avLst>
          </a:prstGeom>
          <a:solidFill>
            <a:srgbClr val="EBF2FE"/>
          </a:solidFill>
          <a:ln w="9525">
            <a:solidFill>
              <a:srgbClr val="2563EB"/>
            </a:solidFill>
            <a:prstDash val="solid"/>
          </a:ln>
        </p:spPr>
      </p:sp>
      <p:sp>
        <p:nvSpPr>
          <p:cNvPr id="54" name="Text 43"/>
          <p:cNvSpPr txBox="1"/>
          <p:nvPr/>
        </p:nvSpPr>
        <p:spPr>
          <a:xfrm>
            <a:off x="640080" y="4645152"/>
            <a:ext cx="1069848" cy="566928"/>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표적 + 잡음</a:t>
            </a:r>
            <a:endParaRPr lang="en-US" sz="1050" dirty="0"/>
          </a:p>
        </p:txBody>
      </p:sp>
      <p:sp>
        <p:nvSpPr>
          <p:cNvPr id="55" name="Shape 44"/>
          <p:cNvSpPr/>
          <p:nvPr/>
        </p:nvSpPr>
        <p:spPr>
          <a:xfrm>
            <a:off x="10479024" y="4645152"/>
            <a:ext cx="1069848" cy="566928"/>
          </a:xfrm>
          <a:prstGeom prst="roundRect">
            <a:avLst>
              <a:gd name="adj" fmla="val 9677"/>
            </a:avLst>
          </a:prstGeom>
          <a:solidFill>
            <a:srgbClr val="EBF2FE"/>
          </a:solidFill>
          <a:ln w="9525">
            <a:solidFill>
              <a:srgbClr val="2563EB"/>
            </a:solidFill>
            <a:prstDash val="solid"/>
          </a:ln>
        </p:spPr>
      </p:sp>
      <p:sp>
        <p:nvSpPr>
          <p:cNvPr id="56" name="Text 45"/>
          <p:cNvSpPr txBox="1"/>
          <p:nvPr/>
        </p:nvSpPr>
        <p:spPr>
          <a:xfrm>
            <a:off x="10479024" y="4645152"/>
            <a:ext cx="1069848" cy="566928"/>
          </a:xfrm>
          <a:prstGeom prst="rect">
            <a:avLst/>
          </a:prstGeom>
          <a:noFill/>
          <a:ln/>
        </p:spPr>
        <p:txBody>
          <a:bodyPr wrap="square" lIns="0" tIns="0" rIns="0" bIns="0" rtlCol="0" anchor="ctr"/>
          <a:lstStyle/>
          <a:p>
            <a:pPr algn="ctr" indent="0" marL="0">
              <a:buNone/>
            </a:pPr>
            <a:r>
              <a:rPr lang="en-US" sz="1050" b="1" dirty="0">
                <a:solidFill>
                  <a:srgbClr val="1B2740"/>
                </a:solidFill>
                <a:latin typeface="맑은 고딕" pitchFamily="34" charset="0"/>
                <a:ea typeface="맑은 고딕" pitchFamily="34" charset="-122"/>
                <a:cs typeface="맑은 고딕" pitchFamily="34" charset="-120"/>
              </a:rPr>
              <a:t>드웰 플롯</a:t>
            </a:r>
            <a:endParaRPr lang="en-US" sz="1050" dirty="0"/>
          </a:p>
        </p:txBody>
      </p:sp>
      <p:sp>
        <p:nvSpPr>
          <p:cNvPr id="57" name="Shape 46"/>
          <p:cNvSpPr/>
          <p:nvPr/>
        </p:nvSpPr>
        <p:spPr>
          <a:xfrm>
            <a:off x="1755648" y="4928616"/>
            <a:ext cx="8677656" cy="0"/>
          </a:xfrm>
          <a:prstGeom prst="line">
            <a:avLst/>
          </a:prstGeom>
          <a:noFill/>
          <a:ln w="22225">
            <a:solidFill>
              <a:srgbClr val="2563EB"/>
            </a:solidFill>
            <a:prstDash val="solid"/>
            <a:tailEnd type="triangle"/>
          </a:ln>
        </p:spPr>
      </p:sp>
      <p:sp>
        <p:nvSpPr>
          <p:cNvPr id="58" name="Text 47"/>
          <p:cNvSpPr/>
          <p:nvPr/>
        </p:nvSpPr>
        <p:spPr>
          <a:xfrm>
            <a:off x="4677156" y="4791456"/>
            <a:ext cx="2834640" cy="274320"/>
          </a:xfrm>
          <a:prstGeom prst="roundRect">
            <a:avLst>
              <a:gd name="adj" fmla="val 166667"/>
            </a:avLst>
          </a:prstGeom>
          <a:solidFill>
            <a:srgbClr val="FFFFFF"/>
          </a:solidFill>
          <a:ln w="12700">
            <a:solidFill>
              <a:srgbClr val="D97706"/>
            </a:solidFill>
          </a:ln>
        </p:spPr>
        <p:txBody>
          <a:bodyPr wrap="square" lIns="0" tIns="0" rIns="0" bIns="0" rtlCol="0" anchor="ctr"/>
          <a:lstStyle/>
          <a:p>
            <a:pPr algn="ctr" indent="0" marL="0">
              <a:buNone/>
            </a:pPr>
            <a:r>
              <a:rPr lang="en-US" sz="1050" b="1" dirty="0">
                <a:solidFill>
                  <a:srgbClr val="D97706"/>
                </a:solidFill>
                <a:latin typeface="맑은 고딕" pitchFamily="34" charset="0"/>
                <a:ea typeface="맑은 고딕" pitchFamily="34" charset="-122"/>
                <a:cs typeface="맑은 고딕" pitchFamily="34" charset="-120"/>
              </a:rPr>
              <a:t>표적신호 생성 · 신호처리 생략</a:t>
            </a:r>
            <a:endParaRPr lang="en-US" sz="1050" dirty="0"/>
          </a:p>
        </p:txBody>
      </p:sp>
      <p:sp>
        <p:nvSpPr>
          <p:cNvPr id="59" name="Shape 48"/>
          <p:cNvSpPr/>
          <p:nvPr/>
        </p:nvSpPr>
        <p:spPr>
          <a:xfrm>
            <a:off x="640080" y="5468112"/>
            <a:ext cx="10908792" cy="685800"/>
          </a:xfrm>
          <a:prstGeom prst="roundRect">
            <a:avLst>
              <a:gd name="adj" fmla="val 8000"/>
            </a:avLst>
          </a:prstGeom>
          <a:solidFill>
            <a:srgbClr val="FEF5E7"/>
          </a:solidFill>
          <a:ln/>
        </p:spPr>
      </p:sp>
      <p:sp>
        <p:nvSpPr>
          <p:cNvPr id="60" name="Text 49"/>
          <p:cNvSpPr txBox="1"/>
          <p:nvPr/>
        </p:nvSpPr>
        <p:spPr>
          <a:xfrm>
            <a:off x="841248" y="5468112"/>
            <a:ext cx="10506456" cy="685800"/>
          </a:xfrm>
          <a:prstGeom prst="rect">
            <a:avLst/>
          </a:prstGeom>
          <a:noFill/>
          <a:ln/>
        </p:spPr>
        <p:txBody>
          <a:bodyPr wrap="square" lIns="0" tIns="0" rIns="0" bIns="0" rtlCol="0" anchor="ctr"/>
          <a:lstStyle/>
          <a:p>
            <a:pPr indent="0" marL="0">
              <a:lnSpc>
                <a:spcPct val="108000"/>
              </a:lnSpc>
              <a:buNone/>
            </a:pPr>
            <a:r>
              <a:rPr lang="en-US" sz="1150" b="1" dirty="0">
                <a:solidFill>
                  <a:srgbClr val="D97706"/>
                </a:solidFill>
                <a:latin typeface="맑은 고딕" pitchFamily="34" charset="0"/>
                <a:ea typeface="맑은 고딕" pitchFamily="34" charset="-122"/>
                <a:cs typeface="맑은 고딕" pitchFamily="34" charset="-120"/>
              </a:rPr>
              <a:t>생략해도 되는 이유  </a:t>
            </a:r>
            <a:pPr indent="0" marL="0">
              <a:lnSpc>
                <a:spcPct val="108000"/>
              </a:lnSpc>
              <a:buNone/>
            </a:pPr>
            <a:r>
              <a:rPr lang="en-US" sz="1150" dirty="0">
                <a:solidFill>
                  <a:srgbClr val="1B2740"/>
                </a:solidFill>
                <a:latin typeface="맑은 고딕" pitchFamily="34" charset="0"/>
                <a:ea typeface="맑은 고딕" pitchFamily="34" charset="-122"/>
                <a:cs typeface="맑은 고딕" pitchFamily="34" charset="-120"/>
              </a:rPr>
              <a:t>추적기가 받는 입력은 플롯뿐이다. 신호처리가 플롯에 남기는 효과를 '성분별 오차의 크기(표준편차)'로 요약해 넣으면 추적기 입장에서는 같은 성질의 입력이 된다.</a:t>
            </a:r>
            <a:endParaRPr lang="en-US" sz="11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플롯</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1.3 플롯 모의 방법</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표적 · SNR · 레이다 파라미터로 거리 · 방위각 · 고각의 표준편차를 구하고, 그 크기의 가우시안 잡음을 성분마다 더합니다.</a:t>
            </a:r>
            <a:endParaRPr lang="en-US" sz="1250" dirty="0"/>
          </a:p>
        </p:txBody>
      </p:sp>
      <p:sp>
        <p:nvSpPr>
          <p:cNvPr id="5" name="Shape 3"/>
          <p:cNvSpPr/>
          <p:nvPr/>
        </p:nvSpPr>
        <p:spPr>
          <a:xfrm>
            <a:off x="640080" y="2304288"/>
            <a:ext cx="2496312" cy="2084832"/>
          </a:xfrm>
          <a:prstGeom prst="roundRect">
            <a:avLst>
              <a:gd name="adj" fmla="val 2632"/>
            </a:avLst>
          </a:prstGeom>
          <a:solidFill>
            <a:srgbClr val="FFFFFF"/>
          </a:solidFill>
          <a:ln w="9525">
            <a:solidFill>
              <a:srgbClr val="D2D9E5"/>
            </a:solidFill>
            <a:prstDash val="solid"/>
          </a:ln>
        </p:spPr>
      </p:sp>
      <p:sp>
        <p:nvSpPr>
          <p:cNvPr id="6" name="Text 4"/>
          <p:cNvSpPr/>
          <p:nvPr/>
        </p:nvSpPr>
        <p:spPr>
          <a:xfrm>
            <a:off x="804672" y="2459736"/>
            <a:ext cx="274320" cy="274320"/>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7" name="Text 5"/>
          <p:cNvSpPr txBox="1"/>
          <p:nvPr/>
        </p:nvSpPr>
        <p:spPr>
          <a:xfrm>
            <a:off x="1170432" y="2441448"/>
            <a:ext cx="1856232" cy="310896"/>
          </a:xfrm>
          <a:prstGeom prst="rect">
            <a:avLst/>
          </a:prstGeom>
          <a:noFill/>
          <a:ln/>
        </p:spPr>
        <p:txBody>
          <a:bodyPr wrap="square" lIns="0" tIns="0" rIns="0" bIns="0" rtlCol="0" anchor="ctr"/>
          <a:lstStyle/>
          <a:p>
            <a:pPr indent="0" marL="0">
              <a:buNone/>
            </a:pPr>
            <a:r>
              <a:rPr lang="en-US" sz="1300" b="1" dirty="0">
                <a:solidFill>
                  <a:srgbClr val="1B2740"/>
                </a:solidFill>
                <a:latin typeface="맑은 고딕" pitchFamily="34" charset="0"/>
                <a:ea typeface="맑은 고딕" pitchFamily="34" charset="-122"/>
                <a:cs typeface="맑은 고딕" pitchFamily="34" charset="-120"/>
              </a:rPr>
              <a:t>SNR 정하기</a:t>
            </a:r>
            <a:endParaRPr lang="en-US" sz="1300" dirty="0"/>
          </a:p>
        </p:txBody>
      </p:sp>
      <p:sp>
        <p:nvSpPr>
          <p:cNvPr id="8" name="Text 6"/>
          <p:cNvSpPr txBox="1"/>
          <p:nvPr/>
        </p:nvSpPr>
        <p:spPr>
          <a:xfrm>
            <a:off x="822960" y="2907792"/>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레이다 파라미터 (빔폭, 대역폭,</a:t>
            </a:r>
            <a:endParaRPr lang="en-US" sz="1100" dirty="0"/>
          </a:p>
        </p:txBody>
      </p:sp>
      <p:sp>
        <p:nvSpPr>
          <p:cNvPr id="9" name="Text 7"/>
          <p:cNvSpPr txBox="1"/>
          <p:nvPr/>
        </p:nvSpPr>
        <p:spPr>
          <a:xfrm>
            <a:off x="822960" y="3209544"/>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송신 전력 …) 로 표적 SNR 계산</a:t>
            </a:r>
            <a:endParaRPr lang="en-US" sz="1100" dirty="0"/>
          </a:p>
        </p:txBody>
      </p:sp>
      <p:sp>
        <p:nvSpPr>
          <p:cNvPr id="10" name="Shape 8"/>
          <p:cNvSpPr/>
          <p:nvPr/>
        </p:nvSpPr>
        <p:spPr>
          <a:xfrm>
            <a:off x="804672" y="3931920"/>
            <a:ext cx="2167128" cy="0"/>
          </a:xfrm>
          <a:prstGeom prst="line">
            <a:avLst/>
          </a:prstGeom>
          <a:noFill/>
          <a:ln w="9525">
            <a:solidFill>
              <a:srgbClr val="E3E8EF"/>
            </a:solidFill>
            <a:prstDash val="solid"/>
          </a:ln>
        </p:spPr>
      </p:sp>
      <p:sp>
        <p:nvSpPr>
          <p:cNvPr id="11" name="Text 9"/>
          <p:cNvSpPr txBox="1"/>
          <p:nvPr/>
        </p:nvSpPr>
        <p:spPr>
          <a:xfrm>
            <a:off x="804672" y="3986784"/>
            <a:ext cx="2167128" cy="310896"/>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실습: SNR = 20 고정</a:t>
            </a:r>
            <a:endParaRPr lang="en-US" sz="1100" dirty="0"/>
          </a:p>
        </p:txBody>
      </p:sp>
      <p:sp>
        <p:nvSpPr>
          <p:cNvPr id="12" name="Shape 10"/>
          <p:cNvSpPr/>
          <p:nvPr/>
        </p:nvSpPr>
        <p:spPr>
          <a:xfrm>
            <a:off x="3172968" y="3346704"/>
            <a:ext cx="234696" cy="0"/>
          </a:xfrm>
          <a:prstGeom prst="line">
            <a:avLst/>
          </a:prstGeom>
          <a:noFill/>
          <a:ln w="15875">
            <a:solidFill>
              <a:srgbClr val="8794AC"/>
            </a:solidFill>
            <a:prstDash val="solid"/>
            <a:tailEnd type="triangle"/>
          </a:ln>
        </p:spPr>
      </p:sp>
      <p:sp>
        <p:nvSpPr>
          <p:cNvPr id="13" name="Shape 11"/>
          <p:cNvSpPr/>
          <p:nvPr/>
        </p:nvSpPr>
        <p:spPr>
          <a:xfrm>
            <a:off x="3444240" y="2304288"/>
            <a:ext cx="2496312" cy="2084832"/>
          </a:xfrm>
          <a:prstGeom prst="roundRect">
            <a:avLst>
              <a:gd name="adj" fmla="val 2632"/>
            </a:avLst>
          </a:prstGeom>
          <a:solidFill>
            <a:srgbClr val="FFFFFF"/>
          </a:solidFill>
          <a:ln w="9525">
            <a:solidFill>
              <a:srgbClr val="D2D9E5"/>
            </a:solidFill>
            <a:prstDash val="solid"/>
          </a:ln>
        </p:spPr>
      </p:sp>
      <p:sp>
        <p:nvSpPr>
          <p:cNvPr id="14" name="Text 12"/>
          <p:cNvSpPr/>
          <p:nvPr/>
        </p:nvSpPr>
        <p:spPr>
          <a:xfrm>
            <a:off x="3608832" y="2459736"/>
            <a:ext cx="274320" cy="274320"/>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15" name="Text 13"/>
          <p:cNvSpPr txBox="1"/>
          <p:nvPr/>
        </p:nvSpPr>
        <p:spPr>
          <a:xfrm>
            <a:off x="3974592" y="2441448"/>
            <a:ext cx="1856232" cy="310896"/>
          </a:xfrm>
          <a:prstGeom prst="rect">
            <a:avLst/>
          </a:prstGeom>
          <a:noFill/>
          <a:ln/>
        </p:spPr>
        <p:txBody>
          <a:bodyPr wrap="square" lIns="0" tIns="0" rIns="0" bIns="0" rtlCol="0" anchor="ctr"/>
          <a:lstStyle/>
          <a:p>
            <a:pPr indent="0" marL="0">
              <a:buNone/>
            </a:pPr>
            <a:r>
              <a:rPr lang="en-US" sz="1300" b="1" dirty="0">
                <a:solidFill>
                  <a:srgbClr val="1B2740"/>
                </a:solidFill>
                <a:latin typeface="맑은 고딕" pitchFamily="34" charset="0"/>
                <a:ea typeface="맑은 고딕" pitchFamily="34" charset="-122"/>
                <a:cs typeface="맑은 고딕" pitchFamily="34" charset="-120"/>
              </a:rPr>
              <a:t>표준편차 p</a:t>
            </a:r>
            <a:endParaRPr lang="en-US" sz="1300" dirty="0"/>
          </a:p>
        </p:txBody>
      </p:sp>
      <p:sp>
        <p:nvSpPr>
          <p:cNvPr id="16" name="Text 14"/>
          <p:cNvSpPr txBox="1"/>
          <p:nvPr/>
        </p:nvSpPr>
        <p:spPr>
          <a:xfrm>
            <a:off x="3627120" y="2907792"/>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p</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rng</a:t>
            </a:r>
            <a:pPr indent="0" marL="0">
              <a:buNone/>
            </a:pPr>
            <a:r>
              <a:rPr lang="en-US" sz="1100" dirty="0">
                <a:solidFill>
                  <a:srgbClr val="1B2740"/>
                </a:solidFill>
                <a:latin typeface="맑은 고딕" pitchFamily="34" charset="0"/>
                <a:ea typeface="맑은 고딕" pitchFamily="34" charset="-122"/>
                <a:cs typeface="맑은 고딕" pitchFamily="34" charset="-120"/>
              </a:rPr>
              <a:t> = c / (2B √(2·SNR))</a:t>
            </a:r>
            <a:endParaRPr lang="en-US" sz="1100" dirty="0"/>
          </a:p>
        </p:txBody>
      </p:sp>
      <p:sp>
        <p:nvSpPr>
          <p:cNvPr id="17" name="Text 15"/>
          <p:cNvSpPr txBox="1"/>
          <p:nvPr/>
        </p:nvSpPr>
        <p:spPr>
          <a:xfrm>
            <a:off x="3627120" y="3209544"/>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p</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azi</a:t>
            </a:r>
            <a:pPr indent="0" marL="0">
              <a:buNone/>
            </a:pPr>
            <a:r>
              <a:rPr lang="en-US" sz="1100" dirty="0">
                <a:solidFill>
                  <a:srgbClr val="1B2740"/>
                </a:solidFill>
                <a:latin typeface="맑은 고딕" pitchFamily="34" charset="0"/>
                <a:ea typeface="맑은 고딕" pitchFamily="34" charset="-122"/>
                <a:cs typeface="맑은 고딕" pitchFamily="34" charset="-120"/>
              </a:rPr>
              <a:t> = θ</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az</a:t>
            </a:r>
            <a:pPr indent="0" marL="0">
              <a:buNone/>
            </a:pPr>
            <a:r>
              <a:rPr lang="en-US" sz="1100" dirty="0">
                <a:solidFill>
                  <a:srgbClr val="1B2740"/>
                </a:solidFill>
                <a:latin typeface="맑은 고딕" pitchFamily="34" charset="0"/>
                <a:ea typeface="맑은 고딕" pitchFamily="34" charset="-122"/>
                <a:cs typeface="맑은 고딕" pitchFamily="34" charset="-120"/>
              </a:rPr>
              <a:t> / (K</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M</a:t>
            </a:r>
            <a:pPr indent="0" marL="0">
              <a:buNone/>
            </a:pPr>
            <a:r>
              <a:rPr lang="en-US" sz="1100" dirty="0">
                <a:solidFill>
                  <a:srgbClr val="1B2740"/>
                </a:solidFill>
                <a:latin typeface="맑은 고딕" pitchFamily="34" charset="0"/>
                <a:ea typeface="맑은 고딕" pitchFamily="34" charset="-122"/>
                <a:cs typeface="맑은 고딕" pitchFamily="34" charset="-120"/>
              </a:rPr>
              <a:t> √(2·SNR))</a:t>
            </a:r>
            <a:endParaRPr lang="en-US" sz="1100" dirty="0"/>
          </a:p>
        </p:txBody>
      </p:sp>
      <p:sp>
        <p:nvSpPr>
          <p:cNvPr id="18" name="Text 16"/>
          <p:cNvSpPr txBox="1"/>
          <p:nvPr/>
        </p:nvSpPr>
        <p:spPr>
          <a:xfrm>
            <a:off x="3627120" y="3511296"/>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p</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ele</a:t>
            </a:r>
            <a:pPr indent="0" marL="0">
              <a:buNone/>
            </a:pPr>
            <a:r>
              <a:rPr lang="en-US" sz="1100" dirty="0">
                <a:solidFill>
                  <a:srgbClr val="1B2740"/>
                </a:solidFill>
                <a:latin typeface="맑은 고딕" pitchFamily="34" charset="0"/>
                <a:ea typeface="맑은 고딕" pitchFamily="34" charset="-122"/>
                <a:cs typeface="맑은 고딕" pitchFamily="34" charset="-120"/>
              </a:rPr>
              <a:t> = θ</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el</a:t>
            </a:r>
            <a:pPr indent="0" marL="0">
              <a:buNone/>
            </a:pPr>
            <a:r>
              <a:rPr lang="en-US" sz="1100" dirty="0">
                <a:solidFill>
                  <a:srgbClr val="1B2740"/>
                </a:solidFill>
                <a:latin typeface="맑은 고딕" pitchFamily="34" charset="0"/>
                <a:ea typeface="맑은 고딕" pitchFamily="34" charset="-122"/>
                <a:cs typeface="맑은 고딕" pitchFamily="34" charset="-120"/>
              </a:rPr>
              <a:t> / (K</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M</a:t>
            </a:r>
            <a:pPr indent="0" marL="0">
              <a:buNone/>
            </a:pPr>
            <a:r>
              <a:rPr lang="en-US" sz="1100" dirty="0">
                <a:solidFill>
                  <a:srgbClr val="1B2740"/>
                </a:solidFill>
                <a:latin typeface="맑은 고딕" pitchFamily="34" charset="0"/>
                <a:ea typeface="맑은 고딕" pitchFamily="34" charset="-122"/>
                <a:cs typeface="맑은 고딕" pitchFamily="34" charset="-120"/>
              </a:rPr>
              <a:t> √(2·SNR))</a:t>
            </a:r>
            <a:endParaRPr lang="en-US" sz="1100" dirty="0"/>
          </a:p>
        </p:txBody>
      </p:sp>
      <p:sp>
        <p:nvSpPr>
          <p:cNvPr id="19" name="Shape 17"/>
          <p:cNvSpPr/>
          <p:nvPr/>
        </p:nvSpPr>
        <p:spPr>
          <a:xfrm>
            <a:off x="3608832" y="3931920"/>
            <a:ext cx="2167128" cy="0"/>
          </a:xfrm>
          <a:prstGeom prst="line">
            <a:avLst/>
          </a:prstGeom>
          <a:noFill/>
          <a:ln w="9525">
            <a:solidFill>
              <a:srgbClr val="E3E8EF"/>
            </a:solidFill>
            <a:prstDash val="solid"/>
          </a:ln>
        </p:spPr>
      </p:sp>
      <p:sp>
        <p:nvSpPr>
          <p:cNvPr id="20" name="Text 18"/>
          <p:cNvSpPr txBox="1"/>
          <p:nvPr/>
        </p:nvSpPr>
        <p:spPr>
          <a:xfrm>
            <a:off x="3608832" y="3986784"/>
            <a:ext cx="2167128" cy="310896"/>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4.740 m · 0.4781° · 0.4939°</a:t>
            </a:r>
            <a:endParaRPr lang="en-US" sz="1100" dirty="0"/>
          </a:p>
        </p:txBody>
      </p:sp>
      <p:sp>
        <p:nvSpPr>
          <p:cNvPr id="21" name="Shape 19"/>
          <p:cNvSpPr/>
          <p:nvPr/>
        </p:nvSpPr>
        <p:spPr>
          <a:xfrm>
            <a:off x="5977128" y="3346704"/>
            <a:ext cx="234696" cy="0"/>
          </a:xfrm>
          <a:prstGeom prst="line">
            <a:avLst/>
          </a:prstGeom>
          <a:noFill/>
          <a:ln w="15875">
            <a:solidFill>
              <a:srgbClr val="8794AC"/>
            </a:solidFill>
            <a:prstDash val="solid"/>
            <a:tailEnd type="triangle"/>
          </a:ln>
        </p:spPr>
      </p:sp>
      <p:sp>
        <p:nvSpPr>
          <p:cNvPr id="22" name="Shape 20"/>
          <p:cNvSpPr/>
          <p:nvPr/>
        </p:nvSpPr>
        <p:spPr>
          <a:xfrm>
            <a:off x="6248400" y="2304288"/>
            <a:ext cx="2496312" cy="2084832"/>
          </a:xfrm>
          <a:prstGeom prst="roundRect">
            <a:avLst>
              <a:gd name="adj" fmla="val 2632"/>
            </a:avLst>
          </a:prstGeom>
          <a:solidFill>
            <a:srgbClr val="FFFFFF"/>
          </a:solidFill>
          <a:ln w="9525">
            <a:solidFill>
              <a:srgbClr val="D2D9E5"/>
            </a:solidFill>
            <a:prstDash val="solid"/>
          </a:ln>
        </p:spPr>
      </p:sp>
      <p:sp>
        <p:nvSpPr>
          <p:cNvPr id="23" name="Text 21"/>
          <p:cNvSpPr/>
          <p:nvPr/>
        </p:nvSpPr>
        <p:spPr>
          <a:xfrm>
            <a:off x="6412992" y="2459736"/>
            <a:ext cx="274320" cy="274320"/>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24" name="Text 22"/>
          <p:cNvSpPr txBox="1"/>
          <p:nvPr/>
        </p:nvSpPr>
        <p:spPr>
          <a:xfrm>
            <a:off x="6778752" y="2441448"/>
            <a:ext cx="1856232" cy="310896"/>
          </a:xfrm>
          <a:prstGeom prst="rect">
            <a:avLst/>
          </a:prstGeom>
          <a:noFill/>
          <a:ln/>
        </p:spPr>
        <p:txBody>
          <a:bodyPr wrap="square" lIns="0" tIns="0" rIns="0" bIns="0" rtlCol="0" anchor="ctr"/>
          <a:lstStyle/>
          <a:p>
            <a:pPr indent="0" marL="0">
              <a:buNone/>
            </a:pPr>
            <a:r>
              <a:rPr lang="en-US" sz="1300" b="1" dirty="0">
                <a:solidFill>
                  <a:srgbClr val="1B2740"/>
                </a:solidFill>
                <a:latin typeface="맑은 고딕" pitchFamily="34" charset="0"/>
                <a:ea typeface="맑은 고딕" pitchFamily="34" charset="-122"/>
                <a:cs typeface="맑은 고딕" pitchFamily="34" charset="-120"/>
              </a:rPr>
              <a:t>잡음 v</a:t>
            </a:r>
            <a:endParaRPr lang="en-US" sz="1300" dirty="0"/>
          </a:p>
        </p:txBody>
      </p:sp>
      <p:sp>
        <p:nvSpPr>
          <p:cNvPr id="25" name="Text 23"/>
          <p:cNvSpPr txBox="1"/>
          <p:nvPr/>
        </p:nvSpPr>
        <p:spPr>
          <a:xfrm>
            <a:off x="6431280" y="2907792"/>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v</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rng</a:t>
            </a:r>
            <a:pPr indent="0" marL="0">
              <a:buNone/>
            </a:pPr>
            <a:r>
              <a:rPr lang="en-US" sz="1100" dirty="0">
                <a:solidFill>
                  <a:srgbClr val="1B2740"/>
                </a:solidFill>
                <a:latin typeface="맑은 고딕" pitchFamily="34" charset="0"/>
                <a:ea typeface="맑은 고딕" pitchFamily="34" charset="-122"/>
                <a:cs typeface="맑은 고딕" pitchFamily="34" charset="-120"/>
              </a:rPr>
              <a:t> ~ N(0, p</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rng</a:t>
            </a:r>
            <a:pPr indent="0" marL="0">
              <a:buNone/>
            </a:pPr>
            <a:r>
              <a:rPr lang="en-US" sz="1100" dirty="0">
                <a:solidFill>
                  <a:srgbClr val="1B2740"/>
                </a:solidFill>
                <a:latin typeface="맑은 고딕" pitchFamily="34" charset="0"/>
                <a:ea typeface="맑은 고딕" pitchFamily="34" charset="-122"/>
                <a:cs typeface="맑은 고딕" pitchFamily="34" charset="-120"/>
              </a:rPr>
              <a:t>²)</a:t>
            </a:r>
            <a:endParaRPr lang="en-US" sz="1100" dirty="0"/>
          </a:p>
        </p:txBody>
      </p:sp>
      <p:sp>
        <p:nvSpPr>
          <p:cNvPr id="26" name="Text 24"/>
          <p:cNvSpPr txBox="1"/>
          <p:nvPr/>
        </p:nvSpPr>
        <p:spPr>
          <a:xfrm>
            <a:off x="6431280" y="3209544"/>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v</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azi</a:t>
            </a:r>
            <a:pPr indent="0" marL="0">
              <a:buNone/>
            </a:pPr>
            <a:r>
              <a:rPr lang="en-US" sz="1100" dirty="0">
                <a:solidFill>
                  <a:srgbClr val="1B2740"/>
                </a:solidFill>
                <a:latin typeface="맑은 고딕" pitchFamily="34" charset="0"/>
                <a:ea typeface="맑은 고딕" pitchFamily="34" charset="-122"/>
                <a:cs typeface="맑은 고딕" pitchFamily="34" charset="-120"/>
              </a:rPr>
              <a:t> ~ N(0, p</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azi</a:t>
            </a:r>
            <a:pPr indent="0" marL="0">
              <a:buNone/>
            </a:pPr>
            <a:r>
              <a:rPr lang="en-US" sz="1100" dirty="0">
                <a:solidFill>
                  <a:srgbClr val="1B2740"/>
                </a:solidFill>
                <a:latin typeface="맑은 고딕" pitchFamily="34" charset="0"/>
                <a:ea typeface="맑은 고딕" pitchFamily="34" charset="-122"/>
                <a:cs typeface="맑은 고딕" pitchFamily="34" charset="-120"/>
              </a:rPr>
              <a:t>²)</a:t>
            </a:r>
            <a:endParaRPr lang="en-US" sz="1100" dirty="0"/>
          </a:p>
        </p:txBody>
      </p:sp>
      <p:sp>
        <p:nvSpPr>
          <p:cNvPr id="27" name="Text 25"/>
          <p:cNvSpPr txBox="1"/>
          <p:nvPr/>
        </p:nvSpPr>
        <p:spPr>
          <a:xfrm>
            <a:off x="6431280" y="3511296"/>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v</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ele</a:t>
            </a:r>
            <a:pPr indent="0" marL="0">
              <a:buNone/>
            </a:pPr>
            <a:r>
              <a:rPr lang="en-US" sz="1100" dirty="0">
                <a:solidFill>
                  <a:srgbClr val="1B2740"/>
                </a:solidFill>
                <a:latin typeface="맑은 고딕" pitchFamily="34" charset="0"/>
                <a:ea typeface="맑은 고딕" pitchFamily="34" charset="-122"/>
                <a:cs typeface="맑은 고딕" pitchFamily="34" charset="-120"/>
              </a:rPr>
              <a:t> ~ N(0, p</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ele</a:t>
            </a:r>
            <a:pPr indent="0" marL="0">
              <a:buNone/>
            </a:pPr>
            <a:r>
              <a:rPr lang="en-US" sz="1100" dirty="0">
                <a:solidFill>
                  <a:srgbClr val="1B2740"/>
                </a:solidFill>
                <a:latin typeface="맑은 고딕" pitchFamily="34" charset="0"/>
                <a:ea typeface="맑은 고딕" pitchFamily="34" charset="-122"/>
                <a:cs typeface="맑은 고딕" pitchFamily="34" charset="-120"/>
              </a:rPr>
              <a:t>²)</a:t>
            </a:r>
            <a:endParaRPr lang="en-US" sz="1100" dirty="0"/>
          </a:p>
        </p:txBody>
      </p:sp>
      <p:sp>
        <p:nvSpPr>
          <p:cNvPr id="28" name="Shape 26"/>
          <p:cNvSpPr/>
          <p:nvPr/>
        </p:nvSpPr>
        <p:spPr>
          <a:xfrm>
            <a:off x="6412992" y="3931920"/>
            <a:ext cx="2167128" cy="0"/>
          </a:xfrm>
          <a:prstGeom prst="line">
            <a:avLst/>
          </a:prstGeom>
          <a:noFill/>
          <a:ln w="9525">
            <a:solidFill>
              <a:srgbClr val="E3E8EF"/>
            </a:solidFill>
            <a:prstDash val="solid"/>
          </a:ln>
        </p:spPr>
      </p:sp>
      <p:sp>
        <p:nvSpPr>
          <p:cNvPr id="29" name="Text 27"/>
          <p:cNvSpPr txBox="1"/>
          <p:nvPr/>
        </p:nvSpPr>
        <p:spPr>
          <a:xfrm>
            <a:off x="6412992" y="3986784"/>
            <a:ext cx="2167128" cy="310896"/>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성분마다 따로 뽑음</a:t>
            </a:r>
            <a:endParaRPr lang="en-US" sz="1100" dirty="0"/>
          </a:p>
        </p:txBody>
      </p:sp>
      <p:sp>
        <p:nvSpPr>
          <p:cNvPr id="30" name="Shape 28"/>
          <p:cNvSpPr/>
          <p:nvPr/>
        </p:nvSpPr>
        <p:spPr>
          <a:xfrm>
            <a:off x="8781288" y="3346704"/>
            <a:ext cx="234696" cy="0"/>
          </a:xfrm>
          <a:prstGeom prst="line">
            <a:avLst/>
          </a:prstGeom>
          <a:noFill/>
          <a:ln w="15875">
            <a:solidFill>
              <a:srgbClr val="8794AC"/>
            </a:solidFill>
            <a:prstDash val="solid"/>
            <a:tailEnd type="triangle"/>
          </a:ln>
        </p:spPr>
      </p:sp>
      <p:sp>
        <p:nvSpPr>
          <p:cNvPr id="31" name="Shape 29"/>
          <p:cNvSpPr/>
          <p:nvPr/>
        </p:nvSpPr>
        <p:spPr>
          <a:xfrm>
            <a:off x="9052560" y="2304288"/>
            <a:ext cx="2496312" cy="2084832"/>
          </a:xfrm>
          <a:prstGeom prst="roundRect">
            <a:avLst>
              <a:gd name="adj" fmla="val 2632"/>
            </a:avLst>
          </a:prstGeom>
          <a:solidFill>
            <a:srgbClr val="FFFFFF"/>
          </a:solidFill>
          <a:ln w="9525">
            <a:solidFill>
              <a:srgbClr val="D2D9E5"/>
            </a:solidFill>
            <a:prstDash val="solid"/>
          </a:ln>
        </p:spPr>
      </p:sp>
      <p:sp>
        <p:nvSpPr>
          <p:cNvPr id="32" name="Text 30"/>
          <p:cNvSpPr/>
          <p:nvPr/>
        </p:nvSpPr>
        <p:spPr>
          <a:xfrm>
            <a:off x="9217152" y="2459736"/>
            <a:ext cx="274320" cy="274320"/>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33" name="Text 31"/>
          <p:cNvSpPr txBox="1"/>
          <p:nvPr/>
        </p:nvSpPr>
        <p:spPr>
          <a:xfrm>
            <a:off x="9582912" y="2441448"/>
            <a:ext cx="1856232" cy="310896"/>
          </a:xfrm>
          <a:prstGeom prst="rect">
            <a:avLst/>
          </a:prstGeom>
          <a:noFill/>
          <a:ln/>
        </p:spPr>
        <p:txBody>
          <a:bodyPr wrap="square" lIns="0" tIns="0" rIns="0" bIns="0" rtlCol="0" anchor="ctr"/>
          <a:lstStyle/>
          <a:p>
            <a:pPr indent="0" marL="0">
              <a:buNone/>
            </a:pPr>
            <a:r>
              <a:rPr lang="en-US" sz="1300" b="1" dirty="0">
                <a:solidFill>
                  <a:srgbClr val="1B2740"/>
                </a:solidFill>
                <a:latin typeface="맑은 고딕" pitchFamily="34" charset="0"/>
                <a:ea typeface="맑은 고딕" pitchFamily="34" charset="-122"/>
                <a:cs typeface="맑은 고딕" pitchFamily="34" charset="-120"/>
              </a:rPr>
              <a:t>플롯 z</a:t>
            </a:r>
            <a:endParaRPr lang="en-US" sz="1300" dirty="0"/>
          </a:p>
        </p:txBody>
      </p:sp>
      <p:sp>
        <p:nvSpPr>
          <p:cNvPr id="34" name="Text 32"/>
          <p:cNvSpPr txBox="1"/>
          <p:nvPr/>
        </p:nvSpPr>
        <p:spPr>
          <a:xfrm>
            <a:off x="9235440" y="2907792"/>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z</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rng</a:t>
            </a:r>
            <a:pPr indent="0" marL="0">
              <a:buNone/>
            </a:pPr>
            <a:r>
              <a:rPr lang="en-US" sz="1100" dirty="0">
                <a:solidFill>
                  <a:srgbClr val="1B2740"/>
                </a:solidFill>
                <a:latin typeface="맑은 고딕" pitchFamily="34" charset="0"/>
                <a:ea typeface="맑은 고딕" pitchFamily="34" charset="-122"/>
                <a:cs typeface="맑은 고딕" pitchFamily="34" charset="-120"/>
              </a:rPr>
              <a:t> = x</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rng</a:t>
            </a:r>
            <a:pPr indent="0" marL="0">
              <a:buNone/>
            </a:pPr>
            <a:r>
              <a:rPr lang="en-US" sz="1100" dirty="0">
                <a:solidFill>
                  <a:srgbClr val="1B2740"/>
                </a:solidFill>
                <a:latin typeface="맑은 고딕" pitchFamily="34" charset="0"/>
                <a:ea typeface="맑은 고딕" pitchFamily="34" charset="-122"/>
                <a:cs typeface="맑은 고딕" pitchFamily="34" charset="-120"/>
              </a:rPr>
              <a:t> + v</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rng</a:t>
            </a:r>
            <a:endParaRPr lang="en-US" sz="1100" dirty="0"/>
          </a:p>
        </p:txBody>
      </p:sp>
      <p:sp>
        <p:nvSpPr>
          <p:cNvPr id="35" name="Text 33"/>
          <p:cNvSpPr txBox="1"/>
          <p:nvPr/>
        </p:nvSpPr>
        <p:spPr>
          <a:xfrm>
            <a:off x="9235440" y="3209544"/>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z</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azi</a:t>
            </a:r>
            <a:pPr indent="0" marL="0">
              <a:buNone/>
            </a:pPr>
            <a:r>
              <a:rPr lang="en-US" sz="1100" dirty="0">
                <a:solidFill>
                  <a:srgbClr val="1B2740"/>
                </a:solidFill>
                <a:latin typeface="맑은 고딕" pitchFamily="34" charset="0"/>
                <a:ea typeface="맑은 고딕" pitchFamily="34" charset="-122"/>
                <a:cs typeface="맑은 고딕" pitchFamily="34" charset="-120"/>
              </a:rPr>
              <a:t> = x</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azi</a:t>
            </a:r>
            <a:pPr indent="0" marL="0">
              <a:buNone/>
            </a:pPr>
            <a:r>
              <a:rPr lang="en-US" sz="1100" dirty="0">
                <a:solidFill>
                  <a:srgbClr val="1B2740"/>
                </a:solidFill>
                <a:latin typeface="맑은 고딕" pitchFamily="34" charset="0"/>
                <a:ea typeface="맑은 고딕" pitchFamily="34" charset="-122"/>
                <a:cs typeface="맑은 고딕" pitchFamily="34" charset="-120"/>
              </a:rPr>
              <a:t> + v</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azi</a:t>
            </a:r>
            <a:endParaRPr lang="en-US" sz="1100" dirty="0"/>
          </a:p>
        </p:txBody>
      </p:sp>
      <p:sp>
        <p:nvSpPr>
          <p:cNvPr id="36" name="Text 34"/>
          <p:cNvSpPr txBox="1"/>
          <p:nvPr/>
        </p:nvSpPr>
        <p:spPr>
          <a:xfrm>
            <a:off x="9235440" y="3511296"/>
            <a:ext cx="2221992" cy="274320"/>
          </a:xfrm>
          <a:prstGeom prst="rect">
            <a:avLst/>
          </a:prstGeom>
          <a:noFill/>
          <a:ln/>
        </p:spPr>
        <p:txBody>
          <a:bodyPr wrap="square" lIns="0" tIns="0" rIns="0" bIns="0" rtlCol="0" anchor="ctr"/>
          <a:lstStyle/>
          <a:p>
            <a:pPr indent="0" marL="0">
              <a:buNone/>
            </a:pPr>
            <a:r>
              <a:rPr lang="en-US" sz="1100" dirty="0">
                <a:solidFill>
                  <a:srgbClr val="1B2740"/>
                </a:solidFill>
                <a:latin typeface="맑은 고딕" pitchFamily="34" charset="0"/>
                <a:ea typeface="맑은 고딕" pitchFamily="34" charset="-122"/>
                <a:cs typeface="맑은 고딕" pitchFamily="34" charset="-120"/>
              </a:rPr>
              <a:t>z</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ele</a:t>
            </a:r>
            <a:pPr indent="0" marL="0">
              <a:buNone/>
            </a:pPr>
            <a:r>
              <a:rPr lang="en-US" sz="1100" dirty="0">
                <a:solidFill>
                  <a:srgbClr val="1B2740"/>
                </a:solidFill>
                <a:latin typeface="맑은 고딕" pitchFamily="34" charset="0"/>
                <a:ea typeface="맑은 고딕" pitchFamily="34" charset="-122"/>
                <a:cs typeface="맑은 고딕" pitchFamily="34" charset="-120"/>
              </a:rPr>
              <a:t> = x</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ele</a:t>
            </a:r>
            <a:pPr indent="0" marL="0">
              <a:buNone/>
            </a:pPr>
            <a:r>
              <a:rPr lang="en-US" sz="1100" dirty="0">
                <a:solidFill>
                  <a:srgbClr val="1B2740"/>
                </a:solidFill>
                <a:latin typeface="맑은 고딕" pitchFamily="34" charset="0"/>
                <a:ea typeface="맑은 고딕" pitchFamily="34" charset="-122"/>
                <a:cs typeface="맑은 고딕" pitchFamily="34" charset="-120"/>
              </a:rPr>
              <a:t> + v</a:t>
            </a:r>
            <a:pPr indent="0" marL="0">
              <a:buNone/>
            </a:pPr>
            <a:r>
              <a:rPr lang="en-US" sz="1100" baseline="-40000" dirty="0">
                <a:solidFill>
                  <a:srgbClr val="1B2740"/>
                </a:solidFill>
                <a:latin typeface="맑은 고딕" pitchFamily="34" charset="0"/>
                <a:ea typeface="맑은 고딕" pitchFamily="34" charset="-122"/>
                <a:cs typeface="맑은 고딕" pitchFamily="34" charset="-120"/>
              </a:rPr>
              <a:t>ele</a:t>
            </a:r>
            <a:endParaRPr lang="en-US" sz="1100" dirty="0"/>
          </a:p>
        </p:txBody>
      </p:sp>
      <p:sp>
        <p:nvSpPr>
          <p:cNvPr id="37" name="Shape 35"/>
          <p:cNvSpPr/>
          <p:nvPr/>
        </p:nvSpPr>
        <p:spPr>
          <a:xfrm>
            <a:off x="9217152" y="3931920"/>
            <a:ext cx="2167128" cy="0"/>
          </a:xfrm>
          <a:prstGeom prst="line">
            <a:avLst/>
          </a:prstGeom>
          <a:noFill/>
          <a:ln w="9525">
            <a:solidFill>
              <a:srgbClr val="E3E8EF"/>
            </a:solidFill>
            <a:prstDash val="solid"/>
          </a:ln>
        </p:spPr>
      </p:sp>
      <p:sp>
        <p:nvSpPr>
          <p:cNvPr id="38" name="Text 36"/>
          <p:cNvSpPr txBox="1"/>
          <p:nvPr/>
        </p:nvSpPr>
        <p:spPr>
          <a:xfrm>
            <a:off x="9217152" y="3986784"/>
            <a:ext cx="2167128" cy="310896"/>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참값에 잡음을 더함</a:t>
            </a:r>
            <a:endParaRPr lang="en-US" sz="1100" dirty="0"/>
          </a:p>
        </p:txBody>
      </p:sp>
      <p:sp>
        <p:nvSpPr>
          <p:cNvPr id="39" name="Text 37"/>
          <p:cNvSpPr txBox="1"/>
          <p:nvPr/>
        </p:nvSpPr>
        <p:spPr>
          <a:xfrm>
            <a:off x="640080" y="4572000"/>
            <a:ext cx="6400800" cy="274320"/>
          </a:xfrm>
          <a:prstGeom prst="rect">
            <a:avLst/>
          </a:prstGeom>
          <a:noFill/>
          <a:ln/>
        </p:spPr>
        <p:txBody>
          <a:bodyPr wrap="square" lIns="0" tIns="0" rIns="0" bIns="0" rtlCol="0" anchor="t"/>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예: 대공 표적 첫 스캔 (t = 0 s) 의 실제 값</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4882896"/>
          <a:ext cx="6949440" cy="914400"/>
        </p:xfrm>
        <a:graphic>
          <a:graphicData uri="http://schemas.openxmlformats.org/drawingml/2006/table">
            <a:tbl>
              <a:tblPr/>
              <a:tblGrid>
                <a:gridCol w="1097280"/>
                <a:gridCol w="2011680"/>
                <a:gridCol w="1737360"/>
                <a:gridCol w="2103120"/>
              </a:tblGrid>
              <a:tr h="310896">
                <a:tc>
                  <a:txBody>
                    <a:bodyPr/>
                    <a:lstStyle/>
                    <a:p>
                      <a:pPr algn="l" indent="0" marL="0">
                        <a:buNone/>
                      </a:pPr>
                      <a:r>
                        <a:rPr lang="en-US" sz="1150" b="1" dirty="0">
                          <a:solidFill>
                            <a:srgbClr val="FFFFFF"/>
                          </a:solidFill>
                          <a:latin typeface="맑은 고딕" pitchFamily="34" charset="0"/>
                          <a:ea typeface="맑은 고딕" pitchFamily="34" charset="-122"/>
                          <a:cs typeface="맑은 고딕" pitchFamily="34" charset="-120"/>
                        </a:rPr>
                        <a:t>성분</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r" indent="0" marL="0">
                        <a:buNone/>
                      </a:pPr>
                      <a:r>
                        <a:rPr lang="en-US" sz="1150" b="1" dirty="0">
                          <a:solidFill>
                            <a:srgbClr val="FFFFFF"/>
                          </a:solidFill>
                          <a:latin typeface="맑은 고딕" pitchFamily="34" charset="0"/>
                          <a:ea typeface="맑은 고딕" pitchFamily="34" charset="-122"/>
                          <a:cs typeface="맑은 고딕" pitchFamily="34" charset="-120"/>
                        </a:rPr>
                        <a:t>참값 x</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r" indent="0" marL="0">
                        <a:buNone/>
                      </a:pPr>
                      <a:r>
                        <a:rPr lang="en-US" sz="1150" b="1" dirty="0">
                          <a:solidFill>
                            <a:srgbClr val="FFFFFF"/>
                          </a:solidFill>
                          <a:latin typeface="맑은 고딕" pitchFamily="34" charset="0"/>
                          <a:ea typeface="맑은 고딕" pitchFamily="34" charset="-122"/>
                          <a:cs typeface="맑은 고딕" pitchFamily="34" charset="-120"/>
                        </a:rPr>
                        <a:t>잡음 v</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r" indent="0" marL="0">
                        <a:buNone/>
                      </a:pPr>
                      <a:r>
                        <a:rPr lang="en-US" sz="1150" b="1" dirty="0">
                          <a:solidFill>
                            <a:srgbClr val="FFFFFF"/>
                          </a:solidFill>
                          <a:latin typeface="맑은 고딕" pitchFamily="34" charset="0"/>
                          <a:ea typeface="맑은 고딕" pitchFamily="34" charset="-122"/>
                          <a:cs typeface="맑은 고딕" pitchFamily="34" charset="-120"/>
                        </a:rPr>
                        <a:t>플롯 z = x + v</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r>
              <a:tr h="310896">
                <a:tc>
                  <a:txBody>
                    <a:bodyPr/>
                    <a:lstStyle/>
                    <a:p>
                      <a:pPr algn="l" indent="0" marL="0">
                        <a:buNone/>
                      </a:pPr>
                      <a:r>
                        <a:rPr lang="en-US" sz="1150" dirty="0">
                          <a:solidFill>
                            <a:srgbClr val="1B2740"/>
                          </a:solidFill>
                          <a:latin typeface="맑은 고딕" pitchFamily="34" charset="0"/>
                          <a:ea typeface="맑은 고딕" pitchFamily="34" charset="-122"/>
                          <a:cs typeface="맑은 고딕" pitchFamily="34" charset="-120"/>
                        </a:rPr>
                        <a:t>거리</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B2740"/>
                          </a:solidFill>
                          <a:latin typeface="맑은 고딕" pitchFamily="34" charset="0"/>
                          <a:ea typeface="맑은 고딕" pitchFamily="34" charset="-122"/>
                          <a:cs typeface="맑은 고딕" pitchFamily="34" charset="-120"/>
                        </a:rPr>
                        <a:t>13,310.2362 m</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B2740"/>
                          </a:solidFill>
                          <a:latin typeface="맑은 고딕" pitchFamily="34" charset="0"/>
                          <a:ea typeface="맑은 고딕" pitchFamily="34" charset="-122"/>
                          <a:cs typeface="맑은 고딕" pitchFamily="34" charset="-120"/>
                        </a:rPr>
                        <a:t>+2.4453 m</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B2740"/>
                          </a:solidFill>
                          <a:latin typeface="맑은 고딕" pitchFamily="34" charset="0"/>
                          <a:ea typeface="맑은 고딕" pitchFamily="34" charset="-122"/>
                          <a:cs typeface="맑은 고딕" pitchFamily="34" charset="-120"/>
                        </a:rPr>
                        <a:t>13,312.6815 m</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r h="310896">
                <a:tc>
                  <a:txBody>
                    <a:bodyPr/>
                    <a:lstStyle/>
                    <a:p>
                      <a:pPr algn="l" indent="0" marL="0">
                        <a:buNone/>
                      </a:pPr>
                      <a:r>
                        <a:rPr lang="en-US" sz="1150" dirty="0">
                          <a:solidFill>
                            <a:srgbClr val="1B2740"/>
                          </a:solidFill>
                          <a:latin typeface="맑은 고딕" pitchFamily="34" charset="0"/>
                          <a:ea typeface="맑은 고딕" pitchFamily="34" charset="-122"/>
                          <a:cs typeface="맑은 고딕" pitchFamily="34" charset="-120"/>
                        </a:rPr>
                        <a:t>방위각</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r" indent="0" marL="0">
                        <a:buNone/>
                      </a:pPr>
                      <a:r>
                        <a:rPr lang="en-US" sz="1150" dirty="0">
                          <a:solidFill>
                            <a:srgbClr val="1B2740"/>
                          </a:solidFill>
                          <a:latin typeface="맑은 고딕" pitchFamily="34" charset="0"/>
                          <a:ea typeface="맑은 고딕" pitchFamily="34" charset="-122"/>
                          <a:cs typeface="맑은 고딕" pitchFamily="34" charset="-120"/>
                        </a:rPr>
                        <a:t>0.0000°</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r" indent="0" marL="0">
                        <a:buNone/>
                      </a:pPr>
                      <a:r>
                        <a:rPr lang="en-US" sz="1150" dirty="0">
                          <a:solidFill>
                            <a:srgbClr val="1B2740"/>
                          </a:solidFill>
                          <a:latin typeface="맑은 고딕" pitchFamily="34" charset="0"/>
                          <a:ea typeface="맑은 고딕" pitchFamily="34" charset="-122"/>
                          <a:cs typeface="맑은 고딕" pitchFamily="34" charset="-120"/>
                        </a:rPr>
                        <a:t>−0.3574°</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r" indent="0" marL="0">
                        <a:buNone/>
                      </a:pPr>
                      <a:r>
                        <a:rPr lang="en-US" sz="1150" b="1" dirty="0">
                          <a:solidFill>
                            <a:srgbClr val="1B2740"/>
                          </a:solidFill>
                          <a:latin typeface="맑은 고딕" pitchFamily="34" charset="0"/>
                          <a:ea typeface="맑은 고딕" pitchFamily="34" charset="-122"/>
                          <a:cs typeface="맑은 고딕" pitchFamily="34" charset="-120"/>
                        </a:rPr>
                        <a:t>−0.3574°</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r>
              <a:tr h="310896">
                <a:tc>
                  <a:txBody>
                    <a:bodyPr/>
                    <a:lstStyle/>
                    <a:p>
                      <a:pPr algn="l" indent="0" marL="0">
                        <a:buNone/>
                      </a:pPr>
                      <a:r>
                        <a:rPr lang="en-US" sz="1150" dirty="0">
                          <a:solidFill>
                            <a:srgbClr val="1B2740"/>
                          </a:solidFill>
                          <a:latin typeface="맑은 고딕" pitchFamily="34" charset="0"/>
                          <a:ea typeface="맑은 고딕" pitchFamily="34" charset="-122"/>
                          <a:cs typeface="맑은 고딕" pitchFamily="34" charset="-120"/>
                        </a:rPr>
                        <a:t>고각</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B2740"/>
                          </a:solidFill>
                          <a:latin typeface="맑은 고딕" pitchFamily="34" charset="0"/>
                          <a:ea typeface="맑은 고딕" pitchFamily="34" charset="-122"/>
                          <a:cs typeface="맑은 고딕" pitchFamily="34" charset="-120"/>
                        </a:rPr>
                        <a:t>1.2315°</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B2740"/>
                          </a:solidFill>
                          <a:latin typeface="맑은 고딕" pitchFamily="34" charset="0"/>
                          <a:ea typeface="맑은 고딕" pitchFamily="34" charset="-122"/>
                          <a:cs typeface="맑은 고딕" pitchFamily="34" charset="-120"/>
                        </a:rPr>
                        <a:t>−0.8396°</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B2740"/>
                          </a:solidFill>
                          <a:latin typeface="맑은 고딕" pitchFamily="34" charset="0"/>
                          <a:ea typeface="맑은 고딕" pitchFamily="34" charset="-122"/>
                          <a:cs typeface="맑은 고딕" pitchFamily="34" charset="-120"/>
                        </a:rPr>
                        <a:t>0.3919°</a:t>
                      </a:r>
                      <a:endParaRPr lang="en-US" sz="115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bl>
          </a:graphicData>
        </a:graphic>
      </p:graphicFrame>
      <p:sp>
        <p:nvSpPr>
          <p:cNvPr id="41" name="Shape 38"/>
          <p:cNvSpPr/>
          <p:nvPr/>
        </p:nvSpPr>
        <p:spPr>
          <a:xfrm>
            <a:off x="7818120" y="4882896"/>
            <a:ext cx="3730752" cy="1243584"/>
          </a:xfrm>
          <a:prstGeom prst="roundRect">
            <a:avLst>
              <a:gd name="adj" fmla="val 4412"/>
            </a:avLst>
          </a:prstGeom>
          <a:solidFill>
            <a:srgbClr val="EBF2FE"/>
          </a:solidFill>
          <a:ln/>
        </p:spPr>
      </p:sp>
      <p:sp>
        <p:nvSpPr>
          <p:cNvPr id="42" name="Text 39"/>
          <p:cNvSpPr txBox="1"/>
          <p:nvPr/>
        </p:nvSpPr>
        <p:spPr>
          <a:xfrm>
            <a:off x="8019288" y="4882896"/>
            <a:ext cx="3328416" cy="1243584"/>
          </a:xfrm>
          <a:prstGeom prst="rect">
            <a:avLst/>
          </a:prstGeom>
          <a:noFill/>
          <a:ln/>
        </p:spPr>
        <p:txBody>
          <a:bodyPr wrap="square" lIns="0" tIns="0" rIns="0" bIns="0" rtlCol="0" anchor="ctr"/>
          <a:lstStyle/>
          <a:p>
            <a:pPr indent="0" marL="0">
              <a:lnSpc>
                <a:spcPct val="108000"/>
              </a:lnSpc>
              <a:buNone/>
            </a:pPr>
            <a:r>
              <a:rPr lang="en-US" sz="1150" b="1" dirty="0">
                <a:solidFill>
                  <a:srgbClr val="2563EB"/>
                </a:solidFill>
                <a:latin typeface="맑은 고딕" pitchFamily="34" charset="0"/>
                <a:ea typeface="맑은 고딕" pitchFamily="34" charset="-122"/>
                <a:cs typeface="맑은 고딕" pitchFamily="34" charset="-120"/>
              </a:rPr>
              <a:t>고각 −0.84°  </a:t>
            </a:r>
            <a:pPr indent="0" marL="0">
              <a:lnSpc>
                <a:spcPct val="108000"/>
              </a:lnSpc>
              <a:buNone/>
            </a:pPr>
            <a:r>
              <a:rPr lang="en-US" sz="1150" dirty="0">
                <a:solidFill>
                  <a:srgbClr val="1B2740"/>
                </a:solidFill>
                <a:latin typeface="맑은 고딕" pitchFamily="34" charset="0"/>
                <a:ea typeface="맑은 고딕" pitchFamily="34" charset="-122"/>
                <a:cs typeface="맑은 고딕" pitchFamily="34" charset="-120"/>
              </a:rPr>
              <a:t>이 플롯은 고각이 작게 나와 위도 · 경도 · 고도로 바꾸면 고도 300 m 가 아니라 105 m 에 찍힌다. 이런 오차가 스캔마다 새로 생긴다.</a:t>
            </a:r>
            <a:endParaRPr lang="en-US" sz="11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플롯</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1.4 측정 표준편차 p</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세 식은 모두 '분해능 ÷ √(2·SNR)' 꼴입니다. 분해능은 두 표적을 따로 구분할 수 있는 최소 간격이고, 신호가 잡음보다 셀수록(SNR) 그보다 훨씬 작은 오차로 잽니다.</a:t>
            </a:r>
            <a:endParaRPr lang="en-US" sz="1250" dirty="0"/>
          </a:p>
        </p:txBody>
      </p:sp>
      <p:sp>
        <p:nvSpPr>
          <p:cNvPr id="5" name="Text 3"/>
          <p:cNvSpPr txBox="1"/>
          <p:nvPr/>
        </p:nvSpPr>
        <p:spPr>
          <a:xfrm>
            <a:off x="548640" y="2286000"/>
            <a:ext cx="2286000" cy="237744"/>
          </a:xfrm>
          <a:prstGeom prst="rect">
            <a:avLst/>
          </a:prstGeom>
          <a:noFill/>
          <a:ln/>
        </p:spPr>
        <p:txBody>
          <a:bodyPr wrap="square" lIns="0" tIns="0" rIns="0" bIns="0" rtlCol="0" anchor="ctr"/>
          <a:lstStyle/>
          <a:p>
            <a:pPr algn="ctr" indent="0" marL="0">
              <a:buNone/>
            </a:pPr>
            <a:r>
              <a:rPr lang="en-US" sz="1050" b="1" dirty="0">
                <a:solidFill>
                  <a:srgbClr val="6B7890"/>
                </a:solidFill>
                <a:latin typeface="맑은 고딕" pitchFamily="34" charset="0"/>
                <a:ea typeface="맑은 고딕" pitchFamily="34" charset="-122"/>
                <a:cs typeface="맑은 고딕" pitchFamily="34" charset="-120"/>
              </a:rPr>
              <a:t>입력 값</a:t>
            </a:r>
            <a:endParaRPr lang="en-US" sz="1050" dirty="0"/>
          </a:p>
        </p:txBody>
      </p:sp>
      <p:sp>
        <p:nvSpPr>
          <p:cNvPr id="6" name="Text 4"/>
          <p:cNvSpPr txBox="1"/>
          <p:nvPr/>
        </p:nvSpPr>
        <p:spPr>
          <a:xfrm>
            <a:off x="2907792" y="2286000"/>
            <a:ext cx="2029968" cy="237744"/>
          </a:xfrm>
          <a:prstGeom prst="rect">
            <a:avLst/>
          </a:prstGeom>
          <a:noFill/>
          <a:ln/>
        </p:spPr>
        <p:txBody>
          <a:bodyPr wrap="square" lIns="0" tIns="0" rIns="0" bIns="0" rtlCol="0" anchor="ctr"/>
          <a:lstStyle/>
          <a:p>
            <a:pPr algn="ctr" indent="0" marL="0">
              <a:buNone/>
            </a:pPr>
            <a:r>
              <a:rPr lang="en-US" sz="1050" b="1" dirty="0">
                <a:solidFill>
                  <a:srgbClr val="6B7890"/>
                </a:solidFill>
                <a:latin typeface="맑은 고딕" pitchFamily="34" charset="0"/>
                <a:ea typeface="맑은 고딕" pitchFamily="34" charset="-122"/>
                <a:cs typeface="맑은 고딕" pitchFamily="34" charset="-120"/>
              </a:rPr>
              <a:t>분해능</a:t>
            </a:r>
            <a:endParaRPr lang="en-US" sz="1050" dirty="0"/>
          </a:p>
        </p:txBody>
      </p:sp>
      <p:sp>
        <p:nvSpPr>
          <p:cNvPr id="7" name="Text 5"/>
          <p:cNvSpPr txBox="1"/>
          <p:nvPr/>
        </p:nvSpPr>
        <p:spPr>
          <a:xfrm>
            <a:off x="4956048" y="2286000"/>
            <a:ext cx="1115568" cy="237744"/>
          </a:xfrm>
          <a:prstGeom prst="rect">
            <a:avLst/>
          </a:prstGeom>
          <a:noFill/>
          <a:ln/>
        </p:spPr>
        <p:txBody>
          <a:bodyPr wrap="square" lIns="0" tIns="0" rIns="0" bIns="0" rtlCol="0" anchor="ctr"/>
          <a:lstStyle/>
          <a:p>
            <a:pPr algn="ctr" indent="0" marL="0">
              <a:buNone/>
            </a:pPr>
            <a:r>
              <a:rPr lang="en-US" sz="1050" b="1" dirty="0">
                <a:solidFill>
                  <a:srgbClr val="6B7890"/>
                </a:solidFill>
                <a:latin typeface="맑은 고딕" pitchFamily="34" charset="0"/>
                <a:ea typeface="맑은 고딕" pitchFamily="34" charset="-122"/>
                <a:cs typeface="맑은 고딕" pitchFamily="34" charset="-120"/>
              </a:rPr>
              <a:t>÷ √(2·SNR)</a:t>
            </a:r>
            <a:endParaRPr lang="en-US" sz="1050" dirty="0"/>
          </a:p>
        </p:txBody>
      </p:sp>
      <p:sp>
        <p:nvSpPr>
          <p:cNvPr id="8" name="Text 6"/>
          <p:cNvSpPr txBox="1"/>
          <p:nvPr/>
        </p:nvSpPr>
        <p:spPr>
          <a:xfrm>
            <a:off x="6126480" y="2286000"/>
            <a:ext cx="1371600" cy="237744"/>
          </a:xfrm>
          <a:prstGeom prst="rect">
            <a:avLst/>
          </a:prstGeom>
          <a:noFill/>
          <a:ln/>
        </p:spPr>
        <p:txBody>
          <a:bodyPr wrap="square" lIns="0" tIns="0" rIns="0" bIns="0" rtlCol="0" anchor="ctr"/>
          <a:lstStyle/>
          <a:p>
            <a:pPr algn="ctr" indent="0" marL="0">
              <a:buNone/>
            </a:pPr>
            <a:r>
              <a:rPr lang="en-US" sz="1050" b="1" dirty="0">
                <a:solidFill>
                  <a:srgbClr val="6B7890"/>
                </a:solidFill>
                <a:latin typeface="맑은 고딕" pitchFamily="34" charset="0"/>
                <a:ea typeface="맑은 고딕" pitchFamily="34" charset="-122"/>
                <a:cs typeface="맑은 고딕" pitchFamily="34" charset="-120"/>
              </a:rPr>
              <a:t>표준편차 p</a:t>
            </a:r>
            <a:endParaRPr lang="en-US" sz="1050" dirty="0"/>
          </a:p>
        </p:txBody>
      </p:sp>
      <p:sp>
        <p:nvSpPr>
          <p:cNvPr id="9" name="Shape 7"/>
          <p:cNvSpPr/>
          <p:nvPr/>
        </p:nvSpPr>
        <p:spPr>
          <a:xfrm>
            <a:off x="5513832" y="3374136"/>
            <a:ext cx="0" cy="2194560"/>
          </a:xfrm>
          <a:prstGeom prst="line">
            <a:avLst/>
          </a:prstGeom>
          <a:noFill/>
          <a:ln w="15875">
            <a:solidFill>
              <a:srgbClr val="D97706"/>
            </a:solidFill>
            <a:prstDash val="dash"/>
          </a:ln>
        </p:spPr>
      </p:sp>
      <p:sp>
        <p:nvSpPr>
          <p:cNvPr id="10" name="Text 8"/>
          <p:cNvSpPr txBox="1"/>
          <p:nvPr/>
        </p:nvSpPr>
        <p:spPr>
          <a:xfrm>
            <a:off x="640080" y="2615184"/>
            <a:ext cx="6766560" cy="256032"/>
          </a:xfrm>
          <a:prstGeom prst="rect">
            <a:avLst/>
          </a:prstGeom>
          <a:noFill/>
          <a:ln/>
        </p:spPr>
        <p:txBody>
          <a:bodyPr wrap="square" lIns="0" tIns="0" rIns="0" bIns="0" rtlCol="0" anchor="ctr"/>
          <a:lstStyle/>
          <a:p>
            <a:pPr indent="0" marL="0">
              <a:buNone/>
            </a:pPr>
            <a:r>
              <a:rPr lang="en-US" sz="1250" b="1" dirty="0">
                <a:solidFill>
                  <a:srgbClr val="1B2740"/>
                </a:solidFill>
                <a:latin typeface="맑은 고딕" pitchFamily="34" charset="0"/>
                <a:ea typeface="맑은 고딕" pitchFamily="34" charset="-122"/>
                <a:cs typeface="맑은 고딕" pitchFamily="34" charset="-120"/>
              </a:rPr>
              <a:t>거리    </a:t>
            </a:r>
            <a:pPr indent="0" marL="0">
              <a:buNone/>
            </a:pPr>
            <a:r>
              <a:rPr lang="en-US" sz="1150" dirty="0">
                <a:solidFill>
                  <a:srgbClr val="4A5A7A"/>
                </a:solidFill>
                <a:latin typeface="맑은 고딕" pitchFamily="34" charset="0"/>
                <a:ea typeface="맑은 고딕" pitchFamily="34" charset="-122"/>
                <a:cs typeface="맑은 고딕" pitchFamily="34" charset="-120"/>
              </a:rPr>
              <a:t>p</a:t>
            </a:r>
            <a:pPr indent="0" marL="0">
              <a:buNone/>
            </a:pPr>
            <a:r>
              <a:rPr lang="en-US" sz="1150" baseline="-40000" dirty="0">
                <a:solidFill>
                  <a:srgbClr val="4A5A7A"/>
                </a:solidFill>
                <a:latin typeface="맑은 고딕" pitchFamily="34" charset="0"/>
                <a:ea typeface="맑은 고딕" pitchFamily="34" charset="-122"/>
                <a:cs typeface="맑은 고딕" pitchFamily="34" charset="-120"/>
              </a:rPr>
              <a:t>rng</a:t>
            </a:r>
            <a:pPr indent="0" marL="0">
              <a:buNone/>
            </a:pPr>
            <a:r>
              <a:rPr lang="en-US" sz="1150" dirty="0">
                <a:solidFill>
                  <a:srgbClr val="4A5A7A"/>
                </a:solidFill>
                <a:latin typeface="맑은 고딕" pitchFamily="34" charset="0"/>
                <a:ea typeface="맑은 고딕" pitchFamily="34" charset="-122"/>
                <a:cs typeface="맑은 고딕" pitchFamily="34" charset="-120"/>
              </a:rPr>
              <a:t> = c / (2B · √(2·SNR))</a:t>
            </a:r>
            <a:endParaRPr lang="en-US" sz="1200" dirty="0"/>
          </a:p>
        </p:txBody>
      </p:sp>
      <p:sp>
        <p:nvSpPr>
          <p:cNvPr id="11" name="Shape 9"/>
          <p:cNvSpPr/>
          <p:nvPr/>
        </p:nvSpPr>
        <p:spPr>
          <a:xfrm>
            <a:off x="640080" y="2898648"/>
            <a:ext cx="2103120" cy="475488"/>
          </a:xfrm>
          <a:prstGeom prst="rect">
            <a:avLst/>
          </a:prstGeom>
          <a:solidFill>
            <a:srgbClr val="F7F9FC"/>
          </a:solidFill>
          <a:ln w="9525">
            <a:solidFill>
              <a:srgbClr val="D2D9E5"/>
            </a:solidFill>
            <a:prstDash val="solid"/>
          </a:ln>
        </p:spPr>
      </p:sp>
      <p:sp>
        <p:nvSpPr>
          <p:cNvPr id="12" name="Text 10"/>
          <p:cNvSpPr txBox="1"/>
          <p:nvPr/>
        </p:nvSpPr>
        <p:spPr>
          <a:xfrm>
            <a:off x="786384" y="2898648"/>
            <a:ext cx="1883664" cy="475488"/>
          </a:xfrm>
          <a:prstGeom prst="rect">
            <a:avLst/>
          </a:prstGeom>
          <a:noFill/>
          <a:ln/>
        </p:spPr>
        <p:txBody>
          <a:bodyPr wrap="square" lIns="0" tIns="0" rIns="0" bIns="0" rtlCol="0" anchor="ctr"/>
          <a:lstStyle/>
          <a:p>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c = 2.998 × 10</a:t>
            </a:r>
            <a:pPr indent="0" marL="0">
              <a:lnSpc>
                <a:spcPct val="105000"/>
              </a:lnSpc>
              <a:buNone/>
            </a:pPr>
            <a:r>
              <a:rPr lang="en-US" sz="1050" baseline="30000" dirty="0">
                <a:solidFill>
                  <a:srgbClr val="1B2740"/>
                </a:solidFill>
                <a:latin typeface="맑은 고딕" pitchFamily="34" charset="0"/>
                <a:ea typeface="맑은 고딕" pitchFamily="34" charset="-122"/>
                <a:cs typeface="맑은 고딕" pitchFamily="34" charset="-120"/>
              </a:rPr>
              <a:t>8</a:t>
            </a:r>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 m/s</a:t>
            </a:r>
            <a:endParaRPr lang="en-US" sz="1050" dirty="0"/>
          </a:p>
          <a:p>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B = 5 MHz</a:t>
            </a:r>
            <a:endParaRPr lang="en-US" sz="1050" dirty="0"/>
          </a:p>
        </p:txBody>
      </p:sp>
      <p:sp>
        <p:nvSpPr>
          <p:cNvPr id="13" name="Shape 11"/>
          <p:cNvSpPr/>
          <p:nvPr/>
        </p:nvSpPr>
        <p:spPr>
          <a:xfrm>
            <a:off x="2770632" y="3136392"/>
            <a:ext cx="201168" cy="0"/>
          </a:xfrm>
          <a:prstGeom prst="line">
            <a:avLst/>
          </a:prstGeom>
          <a:noFill/>
          <a:ln w="15875">
            <a:solidFill>
              <a:srgbClr val="8794AC"/>
            </a:solidFill>
            <a:prstDash val="solid"/>
            <a:tailEnd type="triangle"/>
          </a:ln>
        </p:spPr>
      </p:sp>
      <p:sp>
        <p:nvSpPr>
          <p:cNvPr id="14" name="Shape 12"/>
          <p:cNvSpPr/>
          <p:nvPr/>
        </p:nvSpPr>
        <p:spPr>
          <a:xfrm>
            <a:off x="2999232" y="2898648"/>
            <a:ext cx="1847088" cy="475488"/>
          </a:xfrm>
          <a:prstGeom prst="rect">
            <a:avLst/>
          </a:prstGeom>
          <a:solidFill>
            <a:srgbClr val="FFFFFF"/>
          </a:solidFill>
          <a:ln w="9525">
            <a:solidFill>
              <a:srgbClr val="D2D9E5"/>
            </a:solidFill>
            <a:prstDash val="solid"/>
          </a:ln>
        </p:spPr>
      </p:sp>
      <p:sp>
        <p:nvSpPr>
          <p:cNvPr id="15" name="Text 13"/>
          <p:cNvSpPr txBox="1"/>
          <p:nvPr/>
        </p:nvSpPr>
        <p:spPr>
          <a:xfrm>
            <a:off x="2999232" y="2898648"/>
            <a:ext cx="1847088" cy="475488"/>
          </a:xfrm>
          <a:prstGeom prst="rect">
            <a:avLst/>
          </a:prstGeom>
          <a:noFill/>
          <a:ln/>
        </p:spPr>
        <p:txBody>
          <a:bodyPr wrap="square" lIns="0" tIns="0" rIns="0" bIns="0" rtlCol="0" anchor="ctr"/>
          <a:lstStyle/>
          <a:p>
            <a:pPr algn="ctr" indent="0" marL="0">
              <a:buNone/>
            </a:pPr>
            <a:r>
              <a:rPr lang="en-US" sz="1200" b="1" dirty="0">
                <a:solidFill>
                  <a:srgbClr val="1B2740"/>
                </a:solidFill>
                <a:latin typeface="맑은 고딕" pitchFamily="34" charset="0"/>
                <a:ea typeface="맑은 고딕" pitchFamily="34" charset="-122"/>
                <a:cs typeface="맑은 고딕" pitchFamily="34" charset="-120"/>
              </a:rPr>
              <a:t>c / 2B = 29.98 m</a:t>
            </a:r>
            <a:endParaRPr lang="en-US" sz="1200" dirty="0"/>
          </a:p>
        </p:txBody>
      </p:sp>
      <p:sp>
        <p:nvSpPr>
          <p:cNvPr id="16" name="Shape 14"/>
          <p:cNvSpPr/>
          <p:nvPr/>
        </p:nvSpPr>
        <p:spPr>
          <a:xfrm>
            <a:off x="4873752" y="3136392"/>
            <a:ext cx="146304" cy="0"/>
          </a:xfrm>
          <a:prstGeom prst="line">
            <a:avLst/>
          </a:prstGeom>
          <a:noFill/>
          <a:ln w="15875">
            <a:solidFill>
              <a:srgbClr val="8794AC"/>
            </a:solidFill>
            <a:prstDash val="solid"/>
            <a:tailEnd type="triangle"/>
          </a:ln>
        </p:spPr>
      </p:sp>
      <p:sp>
        <p:nvSpPr>
          <p:cNvPr id="17" name="Shape 15"/>
          <p:cNvSpPr/>
          <p:nvPr/>
        </p:nvSpPr>
        <p:spPr>
          <a:xfrm>
            <a:off x="5047488" y="2962656"/>
            <a:ext cx="932688" cy="347472"/>
          </a:xfrm>
          <a:prstGeom prst="rect">
            <a:avLst/>
          </a:prstGeom>
          <a:solidFill>
            <a:srgbClr val="FFFFFF"/>
          </a:solidFill>
          <a:ln w="15875">
            <a:solidFill>
              <a:srgbClr val="D97706"/>
            </a:solidFill>
            <a:prstDash val="solid"/>
          </a:ln>
        </p:spPr>
      </p:sp>
      <p:sp>
        <p:nvSpPr>
          <p:cNvPr id="18" name="Text 16"/>
          <p:cNvSpPr txBox="1"/>
          <p:nvPr/>
        </p:nvSpPr>
        <p:spPr>
          <a:xfrm>
            <a:off x="5047488" y="2962656"/>
            <a:ext cx="932688" cy="347472"/>
          </a:xfrm>
          <a:prstGeom prst="rect">
            <a:avLst/>
          </a:prstGeom>
          <a:noFill/>
          <a:ln/>
        </p:spPr>
        <p:txBody>
          <a:bodyPr wrap="square" lIns="0" tIns="0" rIns="0" bIns="0" rtlCol="0" anchor="ctr"/>
          <a:lstStyle/>
          <a:p>
            <a:pPr algn="ctr" indent="0" marL="0">
              <a:buNone/>
            </a:pPr>
            <a:r>
              <a:rPr lang="en-US" sz="1150" b="1" dirty="0">
                <a:solidFill>
                  <a:srgbClr val="D97706"/>
                </a:solidFill>
                <a:latin typeface="맑은 고딕" pitchFamily="34" charset="0"/>
                <a:ea typeface="맑은 고딕" pitchFamily="34" charset="-122"/>
                <a:cs typeface="맑은 고딕" pitchFamily="34" charset="-120"/>
              </a:rPr>
              <a:t>÷ 6.325</a:t>
            </a:r>
            <a:endParaRPr lang="en-US" sz="1150" dirty="0"/>
          </a:p>
        </p:txBody>
      </p:sp>
      <p:sp>
        <p:nvSpPr>
          <p:cNvPr id="19" name="Shape 17"/>
          <p:cNvSpPr/>
          <p:nvPr/>
        </p:nvSpPr>
        <p:spPr>
          <a:xfrm>
            <a:off x="6007608" y="3136392"/>
            <a:ext cx="182880" cy="0"/>
          </a:xfrm>
          <a:prstGeom prst="line">
            <a:avLst/>
          </a:prstGeom>
          <a:noFill/>
          <a:ln w="15875">
            <a:solidFill>
              <a:srgbClr val="8794AC"/>
            </a:solidFill>
            <a:prstDash val="solid"/>
            <a:tailEnd type="triangle"/>
          </a:ln>
        </p:spPr>
      </p:sp>
      <p:sp>
        <p:nvSpPr>
          <p:cNvPr id="20" name="Shape 18"/>
          <p:cNvSpPr/>
          <p:nvPr/>
        </p:nvSpPr>
        <p:spPr>
          <a:xfrm>
            <a:off x="6217920" y="2898648"/>
            <a:ext cx="1188720" cy="475488"/>
          </a:xfrm>
          <a:prstGeom prst="rect">
            <a:avLst/>
          </a:prstGeom>
          <a:solidFill>
            <a:srgbClr val="EBF2FE"/>
          </a:solidFill>
          <a:ln w="15875">
            <a:solidFill>
              <a:srgbClr val="2563EB"/>
            </a:solidFill>
            <a:prstDash val="solid"/>
          </a:ln>
        </p:spPr>
      </p:sp>
      <p:sp>
        <p:nvSpPr>
          <p:cNvPr id="21" name="Text 19"/>
          <p:cNvSpPr txBox="1"/>
          <p:nvPr/>
        </p:nvSpPr>
        <p:spPr>
          <a:xfrm>
            <a:off x="6217920" y="2898648"/>
            <a:ext cx="1188720" cy="475488"/>
          </a:xfrm>
          <a:prstGeom prst="rect">
            <a:avLst/>
          </a:prstGeom>
          <a:noFill/>
          <a:ln/>
        </p:spPr>
        <p:txBody>
          <a:bodyPr wrap="square" lIns="0" tIns="0" rIns="0" bIns="0" rtlCol="0" anchor="ctr"/>
          <a:lstStyle/>
          <a:p>
            <a:pPr algn="ctr" indent="0" marL="0">
              <a:buNone/>
            </a:pPr>
            <a:r>
              <a:rPr lang="en-US" sz="1350" b="1" dirty="0">
                <a:solidFill>
                  <a:srgbClr val="2563EB"/>
                </a:solidFill>
                <a:latin typeface="맑은 고딕" pitchFamily="34" charset="0"/>
                <a:ea typeface="맑은 고딕" pitchFamily="34" charset="-122"/>
                <a:cs typeface="맑은 고딕" pitchFamily="34" charset="-120"/>
              </a:rPr>
              <a:t>4.740 m</a:t>
            </a:r>
            <a:endParaRPr lang="en-US" sz="1350" dirty="0"/>
          </a:p>
        </p:txBody>
      </p:sp>
      <p:sp>
        <p:nvSpPr>
          <p:cNvPr id="22" name="Text 20"/>
          <p:cNvSpPr txBox="1"/>
          <p:nvPr/>
        </p:nvSpPr>
        <p:spPr>
          <a:xfrm>
            <a:off x="640080" y="3584448"/>
            <a:ext cx="6766560" cy="256032"/>
          </a:xfrm>
          <a:prstGeom prst="rect">
            <a:avLst/>
          </a:prstGeom>
          <a:noFill/>
          <a:ln/>
        </p:spPr>
        <p:txBody>
          <a:bodyPr wrap="square" lIns="0" tIns="0" rIns="0" bIns="0" rtlCol="0" anchor="ctr"/>
          <a:lstStyle/>
          <a:p>
            <a:pPr indent="0" marL="0">
              <a:buNone/>
            </a:pPr>
            <a:r>
              <a:rPr lang="en-US" sz="1250" b="1" dirty="0">
                <a:solidFill>
                  <a:srgbClr val="1B2740"/>
                </a:solidFill>
                <a:latin typeface="맑은 고딕" pitchFamily="34" charset="0"/>
                <a:ea typeface="맑은 고딕" pitchFamily="34" charset="-122"/>
                <a:cs typeface="맑은 고딕" pitchFamily="34" charset="-120"/>
              </a:rPr>
              <a:t>방위각    </a:t>
            </a:r>
            <a:pPr indent="0" marL="0">
              <a:buNone/>
            </a:pPr>
            <a:r>
              <a:rPr lang="en-US" sz="1150" dirty="0">
                <a:solidFill>
                  <a:srgbClr val="4A5A7A"/>
                </a:solidFill>
                <a:latin typeface="맑은 고딕" pitchFamily="34" charset="0"/>
                <a:ea typeface="맑은 고딕" pitchFamily="34" charset="-122"/>
                <a:cs typeface="맑은 고딕" pitchFamily="34" charset="-120"/>
              </a:rPr>
              <a:t>p</a:t>
            </a:r>
            <a:pPr indent="0" marL="0">
              <a:buNone/>
            </a:pPr>
            <a:r>
              <a:rPr lang="en-US" sz="1150" baseline="-40000" dirty="0">
                <a:solidFill>
                  <a:srgbClr val="4A5A7A"/>
                </a:solidFill>
                <a:latin typeface="맑은 고딕" pitchFamily="34" charset="0"/>
                <a:ea typeface="맑은 고딕" pitchFamily="34" charset="-122"/>
                <a:cs typeface="맑은 고딕" pitchFamily="34" charset="-120"/>
              </a:rPr>
              <a:t>azi</a:t>
            </a:r>
            <a:pPr indent="0" marL="0">
              <a:buNone/>
            </a:pPr>
            <a:r>
              <a:rPr lang="en-US" sz="1150" dirty="0">
                <a:solidFill>
                  <a:srgbClr val="4A5A7A"/>
                </a:solidFill>
                <a:latin typeface="맑은 고딕" pitchFamily="34" charset="0"/>
                <a:ea typeface="맑은 고딕" pitchFamily="34" charset="-122"/>
                <a:cs typeface="맑은 고딕" pitchFamily="34" charset="-120"/>
              </a:rPr>
              <a:t> = θ</a:t>
            </a:r>
            <a:pPr indent="0" marL="0">
              <a:buNone/>
            </a:pPr>
            <a:r>
              <a:rPr lang="en-US" sz="1150" baseline="-40000" dirty="0">
                <a:solidFill>
                  <a:srgbClr val="4A5A7A"/>
                </a:solidFill>
                <a:latin typeface="맑은 고딕" pitchFamily="34" charset="0"/>
                <a:ea typeface="맑은 고딕" pitchFamily="34" charset="-122"/>
                <a:cs typeface="맑은 고딕" pitchFamily="34" charset="-120"/>
              </a:rPr>
              <a:t>az</a:t>
            </a:r>
            <a:pPr indent="0" marL="0">
              <a:buNone/>
            </a:pPr>
            <a:r>
              <a:rPr lang="en-US" sz="1150" dirty="0">
                <a:solidFill>
                  <a:srgbClr val="4A5A7A"/>
                </a:solidFill>
                <a:latin typeface="맑은 고딕" pitchFamily="34" charset="0"/>
                <a:ea typeface="맑은 고딕" pitchFamily="34" charset="-122"/>
                <a:cs typeface="맑은 고딕" pitchFamily="34" charset="-120"/>
              </a:rPr>
              <a:t> / (K</a:t>
            </a:r>
            <a:pPr indent="0" marL="0">
              <a:buNone/>
            </a:pPr>
            <a:r>
              <a:rPr lang="en-US" sz="1150" baseline="-40000" dirty="0">
                <a:solidFill>
                  <a:srgbClr val="4A5A7A"/>
                </a:solidFill>
                <a:latin typeface="맑은 고딕" pitchFamily="34" charset="0"/>
                <a:ea typeface="맑은 고딕" pitchFamily="34" charset="-122"/>
                <a:cs typeface="맑은 고딕" pitchFamily="34" charset="-120"/>
              </a:rPr>
              <a:t>M</a:t>
            </a:r>
            <a:pPr indent="0" marL="0">
              <a:buNone/>
            </a:pPr>
            <a:r>
              <a:rPr lang="en-US" sz="1150" dirty="0">
                <a:solidFill>
                  <a:srgbClr val="4A5A7A"/>
                </a:solidFill>
                <a:latin typeface="맑은 고딕" pitchFamily="34" charset="0"/>
                <a:ea typeface="맑은 고딕" pitchFamily="34" charset="-122"/>
                <a:cs typeface="맑은 고딕" pitchFamily="34" charset="-120"/>
              </a:rPr>
              <a:t> · √(2·SNR))</a:t>
            </a:r>
            <a:endParaRPr lang="en-US" sz="1200" dirty="0"/>
          </a:p>
        </p:txBody>
      </p:sp>
      <p:sp>
        <p:nvSpPr>
          <p:cNvPr id="23" name="Shape 21"/>
          <p:cNvSpPr/>
          <p:nvPr/>
        </p:nvSpPr>
        <p:spPr>
          <a:xfrm>
            <a:off x="640080" y="3867912"/>
            <a:ext cx="2103120" cy="475488"/>
          </a:xfrm>
          <a:prstGeom prst="rect">
            <a:avLst/>
          </a:prstGeom>
          <a:solidFill>
            <a:srgbClr val="F7F9FC"/>
          </a:solidFill>
          <a:ln w="9525">
            <a:solidFill>
              <a:srgbClr val="D2D9E5"/>
            </a:solidFill>
            <a:prstDash val="solid"/>
          </a:ln>
        </p:spPr>
      </p:sp>
      <p:sp>
        <p:nvSpPr>
          <p:cNvPr id="24" name="Text 22"/>
          <p:cNvSpPr txBox="1"/>
          <p:nvPr/>
        </p:nvSpPr>
        <p:spPr>
          <a:xfrm>
            <a:off x="786384" y="3867912"/>
            <a:ext cx="1883664" cy="475488"/>
          </a:xfrm>
          <a:prstGeom prst="rect">
            <a:avLst/>
          </a:prstGeom>
          <a:noFill/>
          <a:ln/>
        </p:spPr>
        <p:txBody>
          <a:bodyPr wrap="square" lIns="0" tIns="0" rIns="0" bIns="0" rtlCol="0" anchor="ctr"/>
          <a:lstStyle/>
          <a:p>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θ</a:t>
            </a:r>
            <a:pPr indent="0" marL="0">
              <a:lnSpc>
                <a:spcPct val="105000"/>
              </a:lnSpc>
              <a:buNone/>
            </a:pPr>
            <a:r>
              <a:rPr lang="en-US" sz="1050" baseline="-40000" dirty="0">
                <a:solidFill>
                  <a:srgbClr val="1B2740"/>
                </a:solidFill>
                <a:latin typeface="맑은 고딕" pitchFamily="34" charset="0"/>
                <a:ea typeface="맑은 고딕" pitchFamily="34" charset="-122"/>
                <a:cs typeface="맑은 고딕" pitchFamily="34" charset="-120"/>
              </a:rPr>
              <a:t>az</a:t>
            </a:r>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 = 5.14°</a:t>
            </a:r>
            <a:endParaRPr lang="en-US" sz="1050" dirty="0"/>
          </a:p>
          <a:p>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K</a:t>
            </a:r>
            <a:pPr indent="0" marL="0">
              <a:lnSpc>
                <a:spcPct val="105000"/>
              </a:lnSpc>
              <a:buNone/>
            </a:pPr>
            <a:r>
              <a:rPr lang="en-US" sz="1050" baseline="-40000" dirty="0">
                <a:solidFill>
                  <a:srgbClr val="1B2740"/>
                </a:solidFill>
                <a:latin typeface="맑은 고딕" pitchFamily="34" charset="0"/>
                <a:ea typeface="맑은 고딕" pitchFamily="34" charset="-122"/>
                <a:cs typeface="맑은 고딕" pitchFamily="34" charset="-120"/>
              </a:rPr>
              <a:t>M</a:t>
            </a:r>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 = 1.7</a:t>
            </a:r>
            <a:endParaRPr lang="en-US" sz="1050" dirty="0"/>
          </a:p>
        </p:txBody>
      </p:sp>
      <p:sp>
        <p:nvSpPr>
          <p:cNvPr id="25" name="Shape 23"/>
          <p:cNvSpPr/>
          <p:nvPr/>
        </p:nvSpPr>
        <p:spPr>
          <a:xfrm>
            <a:off x="2770632" y="4105656"/>
            <a:ext cx="201168" cy="0"/>
          </a:xfrm>
          <a:prstGeom prst="line">
            <a:avLst/>
          </a:prstGeom>
          <a:noFill/>
          <a:ln w="15875">
            <a:solidFill>
              <a:srgbClr val="8794AC"/>
            </a:solidFill>
            <a:prstDash val="solid"/>
            <a:tailEnd type="triangle"/>
          </a:ln>
        </p:spPr>
      </p:sp>
      <p:sp>
        <p:nvSpPr>
          <p:cNvPr id="26" name="Shape 24"/>
          <p:cNvSpPr/>
          <p:nvPr/>
        </p:nvSpPr>
        <p:spPr>
          <a:xfrm>
            <a:off x="2999232" y="3867912"/>
            <a:ext cx="1847088" cy="475488"/>
          </a:xfrm>
          <a:prstGeom prst="rect">
            <a:avLst/>
          </a:prstGeom>
          <a:solidFill>
            <a:srgbClr val="FFFFFF"/>
          </a:solidFill>
          <a:ln w="9525">
            <a:solidFill>
              <a:srgbClr val="D2D9E5"/>
            </a:solidFill>
            <a:prstDash val="solid"/>
          </a:ln>
        </p:spPr>
      </p:sp>
      <p:sp>
        <p:nvSpPr>
          <p:cNvPr id="27" name="Text 25"/>
          <p:cNvSpPr txBox="1"/>
          <p:nvPr/>
        </p:nvSpPr>
        <p:spPr>
          <a:xfrm>
            <a:off x="2999232" y="3867912"/>
            <a:ext cx="1847088" cy="475488"/>
          </a:xfrm>
          <a:prstGeom prst="rect">
            <a:avLst/>
          </a:prstGeom>
          <a:noFill/>
          <a:ln/>
        </p:spPr>
        <p:txBody>
          <a:bodyPr wrap="square" lIns="0" tIns="0" rIns="0" bIns="0" rtlCol="0" anchor="ctr"/>
          <a:lstStyle/>
          <a:p>
            <a:pPr algn="ctr" indent="0" marL="0">
              <a:buNone/>
            </a:pPr>
            <a:r>
              <a:rPr lang="en-US" sz="1200" b="1" dirty="0">
                <a:solidFill>
                  <a:srgbClr val="1B2740"/>
                </a:solidFill>
                <a:latin typeface="맑은 고딕" pitchFamily="34" charset="0"/>
                <a:ea typeface="맑은 고딕" pitchFamily="34" charset="-122"/>
                <a:cs typeface="맑은 고딕" pitchFamily="34" charset="-120"/>
              </a:rPr>
              <a:t>θ</a:t>
            </a:r>
            <a:pPr algn="ctr" indent="0" marL="0">
              <a:buNone/>
            </a:pPr>
            <a:r>
              <a:rPr lang="en-US" sz="1200" b="1" baseline="-40000" dirty="0">
                <a:solidFill>
                  <a:srgbClr val="1B2740"/>
                </a:solidFill>
                <a:latin typeface="맑은 고딕" pitchFamily="34" charset="0"/>
                <a:ea typeface="맑은 고딕" pitchFamily="34" charset="-122"/>
                <a:cs typeface="맑은 고딕" pitchFamily="34" charset="-120"/>
              </a:rPr>
              <a:t>az</a:t>
            </a:r>
            <a:pPr algn="ctr" indent="0" marL="0">
              <a:buNone/>
            </a:pPr>
            <a:r>
              <a:rPr lang="en-US" sz="1200" b="1" dirty="0">
                <a:solidFill>
                  <a:srgbClr val="1B2740"/>
                </a:solidFill>
                <a:latin typeface="맑은 고딕" pitchFamily="34" charset="0"/>
                <a:ea typeface="맑은 고딕" pitchFamily="34" charset="-122"/>
                <a:cs typeface="맑은 고딕" pitchFamily="34" charset="-120"/>
              </a:rPr>
              <a:t> / K</a:t>
            </a:r>
            <a:pPr algn="ctr" indent="0" marL="0">
              <a:buNone/>
            </a:pPr>
            <a:r>
              <a:rPr lang="en-US" sz="1200" b="1" baseline="-40000" dirty="0">
                <a:solidFill>
                  <a:srgbClr val="1B2740"/>
                </a:solidFill>
                <a:latin typeface="맑은 고딕" pitchFamily="34" charset="0"/>
                <a:ea typeface="맑은 고딕" pitchFamily="34" charset="-122"/>
                <a:cs typeface="맑은 고딕" pitchFamily="34" charset="-120"/>
              </a:rPr>
              <a:t>M</a:t>
            </a:r>
            <a:pPr algn="ctr" indent="0" marL="0">
              <a:buNone/>
            </a:pPr>
            <a:r>
              <a:rPr lang="en-US" sz="1200" b="1" dirty="0">
                <a:solidFill>
                  <a:srgbClr val="1B2740"/>
                </a:solidFill>
                <a:latin typeface="맑은 고딕" pitchFamily="34" charset="0"/>
                <a:ea typeface="맑은 고딕" pitchFamily="34" charset="-122"/>
                <a:cs typeface="맑은 고딕" pitchFamily="34" charset="-120"/>
              </a:rPr>
              <a:t> = 3.024°</a:t>
            </a:r>
            <a:endParaRPr lang="en-US" sz="1200" dirty="0"/>
          </a:p>
        </p:txBody>
      </p:sp>
      <p:sp>
        <p:nvSpPr>
          <p:cNvPr id="28" name="Shape 26"/>
          <p:cNvSpPr/>
          <p:nvPr/>
        </p:nvSpPr>
        <p:spPr>
          <a:xfrm>
            <a:off x="4873752" y="4105656"/>
            <a:ext cx="146304" cy="0"/>
          </a:xfrm>
          <a:prstGeom prst="line">
            <a:avLst/>
          </a:prstGeom>
          <a:noFill/>
          <a:ln w="15875">
            <a:solidFill>
              <a:srgbClr val="8794AC"/>
            </a:solidFill>
            <a:prstDash val="solid"/>
            <a:tailEnd type="triangle"/>
          </a:ln>
        </p:spPr>
      </p:sp>
      <p:sp>
        <p:nvSpPr>
          <p:cNvPr id="29" name="Shape 27"/>
          <p:cNvSpPr/>
          <p:nvPr/>
        </p:nvSpPr>
        <p:spPr>
          <a:xfrm>
            <a:off x="5047488" y="3931920"/>
            <a:ext cx="932688" cy="347472"/>
          </a:xfrm>
          <a:prstGeom prst="rect">
            <a:avLst/>
          </a:prstGeom>
          <a:solidFill>
            <a:srgbClr val="FFFFFF"/>
          </a:solidFill>
          <a:ln w="15875">
            <a:solidFill>
              <a:srgbClr val="D97706"/>
            </a:solidFill>
            <a:prstDash val="solid"/>
          </a:ln>
        </p:spPr>
      </p:sp>
      <p:sp>
        <p:nvSpPr>
          <p:cNvPr id="30" name="Text 28"/>
          <p:cNvSpPr txBox="1"/>
          <p:nvPr/>
        </p:nvSpPr>
        <p:spPr>
          <a:xfrm>
            <a:off x="5047488" y="3931920"/>
            <a:ext cx="932688" cy="347472"/>
          </a:xfrm>
          <a:prstGeom prst="rect">
            <a:avLst/>
          </a:prstGeom>
          <a:noFill/>
          <a:ln/>
        </p:spPr>
        <p:txBody>
          <a:bodyPr wrap="square" lIns="0" tIns="0" rIns="0" bIns="0" rtlCol="0" anchor="ctr"/>
          <a:lstStyle/>
          <a:p>
            <a:pPr algn="ctr" indent="0" marL="0">
              <a:buNone/>
            </a:pPr>
            <a:r>
              <a:rPr lang="en-US" sz="1150" b="1" dirty="0">
                <a:solidFill>
                  <a:srgbClr val="D97706"/>
                </a:solidFill>
                <a:latin typeface="맑은 고딕" pitchFamily="34" charset="0"/>
                <a:ea typeface="맑은 고딕" pitchFamily="34" charset="-122"/>
                <a:cs typeface="맑은 고딕" pitchFamily="34" charset="-120"/>
              </a:rPr>
              <a:t>÷ 6.325</a:t>
            </a:r>
            <a:endParaRPr lang="en-US" sz="1150" dirty="0"/>
          </a:p>
        </p:txBody>
      </p:sp>
      <p:sp>
        <p:nvSpPr>
          <p:cNvPr id="31" name="Shape 29"/>
          <p:cNvSpPr/>
          <p:nvPr/>
        </p:nvSpPr>
        <p:spPr>
          <a:xfrm>
            <a:off x="6007608" y="4105656"/>
            <a:ext cx="182880" cy="0"/>
          </a:xfrm>
          <a:prstGeom prst="line">
            <a:avLst/>
          </a:prstGeom>
          <a:noFill/>
          <a:ln w="15875">
            <a:solidFill>
              <a:srgbClr val="8794AC"/>
            </a:solidFill>
            <a:prstDash val="solid"/>
            <a:tailEnd type="triangle"/>
          </a:ln>
        </p:spPr>
      </p:sp>
      <p:sp>
        <p:nvSpPr>
          <p:cNvPr id="32" name="Shape 30"/>
          <p:cNvSpPr/>
          <p:nvPr/>
        </p:nvSpPr>
        <p:spPr>
          <a:xfrm>
            <a:off x="6217920" y="3867912"/>
            <a:ext cx="1188720" cy="475488"/>
          </a:xfrm>
          <a:prstGeom prst="rect">
            <a:avLst/>
          </a:prstGeom>
          <a:solidFill>
            <a:srgbClr val="EBF2FE"/>
          </a:solidFill>
          <a:ln w="15875">
            <a:solidFill>
              <a:srgbClr val="2563EB"/>
            </a:solidFill>
            <a:prstDash val="solid"/>
          </a:ln>
        </p:spPr>
      </p:sp>
      <p:sp>
        <p:nvSpPr>
          <p:cNvPr id="33" name="Text 31"/>
          <p:cNvSpPr txBox="1"/>
          <p:nvPr/>
        </p:nvSpPr>
        <p:spPr>
          <a:xfrm>
            <a:off x="6217920" y="3867912"/>
            <a:ext cx="1188720" cy="475488"/>
          </a:xfrm>
          <a:prstGeom prst="rect">
            <a:avLst/>
          </a:prstGeom>
          <a:noFill/>
          <a:ln/>
        </p:spPr>
        <p:txBody>
          <a:bodyPr wrap="square" lIns="0" tIns="0" rIns="0" bIns="0" rtlCol="0" anchor="ctr"/>
          <a:lstStyle/>
          <a:p>
            <a:pPr algn="ctr" indent="0" marL="0">
              <a:buNone/>
            </a:pPr>
            <a:r>
              <a:rPr lang="en-US" sz="1350" b="1" dirty="0">
                <a:solidFill>
                  <a:srgbClr val="2563EB"/>
                </a:solidFill>
                <a:latin typeface="맑은 고딕" pitchFamily="34" charset="0"/>
                <a:ea typeface="맑은 고딕" pitchFamily="34" charset="-122"/>
                <a:cs typeface="맑은 고딕" pitchFamily="34" charset="-120"/>
              </a:rPr>
              <a:t>0.4781°</a:t>
            </a:r>
            <a:endParaRPr lang="en-US" sz="1350" dirty="0"/>
          </a:p>
        </p:txBody>
      </p:sp>
      <p:sp>
        <p:nvSpPr>
          <p:cNvPr id="34" name="Text 32"/>
          <p:cNvSpPr txBox="1"/>
          <p:nvPr/>
        </p:nvSpPr>
        <p:spPr>
          <a:xfrm>
            <a:off x="640080" y="4553712"/>
            <a:ext cx="6766560" cy="256032"/>
          </a:xfrm>
          <a:prstGeom prst="rect">
            <a:avLst/>
          </a:prstGeom>
          <a:noFill/>
          <a:ln/>
        </p:spPr>
        <p:txBody>
          <a:bodyPr wrap="square" lIns="0" tIns="0" rIns="0" bIns="0" rtlCol="0" anchor="ctr"/>
          <a:lstStyle/>
          <a:p>
            <a:pPr indent="0" marL="0">
              <a:buNone/>
            </a:pPr>
            <a:r>
              <a:rPr lang="en-US" sz="1250" b="1" dirty="0">
                <a:solidFill>
                  <a:srgbClr val="1B2740"/>
                </a:solidFill>
                <a:latin typeface="맑은 고딕" pitchFamily="34" charset="0"/>
                <a:ea typeface="맑은 고딕" pitchFamily="34" charset="-122"/>
                <a:cs typeface="맑은 고딕" pitchFamily="34" charset="-120"/>
              </a:rPr>
              <a:t>고각    </a:t>
            </a:r>
            <a:pPr indent="0" marL="0">
              <a:buNone/>
            </a:pPr>
            <a:r>
              <a:rPr lang="en-US" sz="1150" dirty="0">
                <a:solidFill>
                  <a:srgbClr val="4A5A7A"/>
                </a:solidFill>
                <a:latin typeface="맑은 고딕" pitchFamily="34" charset="0"/>
                <a:ea typeface="맑은 고딕" pitchFamily="34" charset="-122"/>
                <a:cs typeface="맑은 고딕" pitchFamily="34" charset="-120"/>
              </a:rPr>
              <a:t>p</a:t>
            </a:r>
            <a:pPr indent="0" marL="0">
              <a:buNone/>
            </a:pPr>
            <a:r>
              <a:rPr lang="en-US" sz="1150" baseline="-40000" dirty="0">
                <a:solidFill>
                  <a:srgbClr val="4A5A7A"/>
                </a:solidFill>
                <a:latin typeface="맑은 고딕" pitchFamily="34" charset="0"/>
                <a:ea typeface="맑은 고딕" pitchFamily="34" charset="-122"/>
                <a:cs typeface="맑은 고딕" pitchFamily="34" charset="-120"/>
              </a:rPr>
              <a:t>ele</a:t>
            </a:r>
            <a:pPr indent="0" marL="0">
              <a:buNone/>
            </a:pPr>
            <a:r>
              <a:rPr lang="en-US" sz="1150" dirty="0">
                <a:solidFill>
                  <a:srgbClr val="4A5A7A"/>
                </a:solidFill>
                <a:latin typeface="맑은 고딕" pitchFamily="34" charset="0"/>
                <a:ea typeface="맑은 고딕" pitchFamily="34" charset="-122"/>
                <a:cs typeface="맑은 고딕" pitchFamily="34" charset="-120"/>
              </a:rPr>
              <a:t> = θ</a:t>
            </a:r>
            <a:pPr indent="0" marL="0">
              <a:buNone/>
            </a:pPr>
            <a:r>
              <a:rPr lang="en-US" sz="1150" baseline="-40000" dirty="0">
                <a:solidFill>
                  <a:srgbClr val="4A5A7A"/>
                </a:solidFill>
                <a:latin typeface="맑은 고딕" pitchFamily="34" charset="0"/>
                <a:ea typeface="맑은 고딕" pitchFamily="34" charset="-122"/>
                <a:cs typeface="맑은 고딕" pitchFamily="34" charset="-120"/>
              </a:rPr>
              <a:t>el</a:t>
            </a:r>
            <a:pPr indent="0" marL="0">
              <a:buNone/>
            </a:pPr>
            <a:r>
              <a:rPr lang="en-US" sz="1150" dirty="0">
                <a:solidFill>
                  <a:srgbClr val="4A5A7A"/>
                </a:solidFill>
                <a:latin typeface="맑은 고딕" pitchFamily="34" charset="0"/>
                <a:ea typeface="맑은 고딕" pitchFamily="34" charset="-122"/>
                <a:cs typeface="맑은 고딕" pitchFamily="34" charset="-120"/>
              </a:rPr>
              <a:t> / (K</a:t>
            </a:r>
            <a:pPr indent="0" marL="0">
              <a:buNone/>
            </a:pPr>
            <a:r>
              <a:rPr lang="en-US" sz="1150" baseline="-40000" dirty="0">
                <a:solidFill>
                  <a:srgbClr val="4A5A7A"/>
                </a:solidFill>
                <a:latin typeface="맑은 고딕" pitchFamily="34" charset="0"/>
                <a:ea typeface="맑은 고딕" pitchFamily="34" charset="-122"/>
                <a:cs typeface="맑은 고딕" pitchFamily="34" charset="-120"/>
              </a:rPr>
              <a:t>M</a:t>
            </a:r>
            <a:pPr indent="0" marL="0">
              <a:buNone/>
            </a:pPr>
            <a:r>
              <a:rPr lang="en-US" sz="1150" dirty="0">
                <a:solidFill>
                  <a:srgbClr val="4A5A7A"/>
                </a:solidFill>
                <a:latin typeface="맑은 고딕" pitchFamily="34" charset="0"/>
                <a:ea typeface="맑은 고딕" pitchFamily="34" charset="-122"/>
                <a:cs typeface="맑은 고딕" pitchFamily="34" charset="-120"/>
              </a:rPr>
              <a:t> · √(2·SNR))</a:t>
            </a:r>
            <a:endParaRPr lang="en-US" sz="1200" dirty="0"/>
          </a:p>
        </p:txBody>
      </p:sp>
      <p:sp>
        <p:nvSpPr>
          <p:cNvPr id="35" name="Shape 33"/>
          <p:cNvSpPr/>
          <p:nvPr/>
        </p:nvSpPr>
        <p:spPr>
          <a:xfrm>
            <a:off x="640080" y="4837176"/>
            <a:ext cx="2103120" cy="475488"/>
          </a:xfrm>
          <a:prstGeom prst="rect">
            <a:avLst/>
          </a:prstGeom>
          <a:solidFill>
            <a:srgbClr val="F7F9FC"/>
          </a:solidFill>
          <a:ln w="9525">
            <a:solidFill>
              <a:srgbClr val="D2D9E5"/>
            </a:solidFill>
            <a:prstDash val="solid"/>
          </a:ln>
        </p:spPr>
      </p:sp>
      <p:sp>
        <p:nvSpPr>
          <p:cNvPr id="36" name="Text 34"/>
          <p:cNvSpPr txBox="1"/>
          <p:nvPr/>
        </p:nvSpPr>
        <p:spPr>
          <a:xfrm>
            <a:off x="786384" y="4837176"/>
            <a:ext cx="1883664" cy="475488"/>
          </a:xfrm>
          <a:prstGeom prst="rect">
            <a:avLst/>
          </a:prstGeom>
          <a:noFill/>
          <a:ln/>
        </p:spPr>
        <p:txBody>
          <a:bodyPr wrap="square" lIns="0" tIns="0" rIns="0" bIns="0" rtlCol="0" anchor="ctr"/>
          <a:lstStyle/>
          <a:p>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θ</a:t>
            </a:r>
            <a:pPr indent="0" marL="0">
              <a:lnSpc>
                <a:spcPct val="105000"/>
              </a:lnSpc>
              <a:buNone/>
            </a:pPr>
            <a:r>
              <a:rPr lang="en-US" sz="1050" baseline="-40000" dirty="0">
                <a:solidFill>
                  <a:srgbClr val="1B2740"/>
                </a:solidFill>
                <a:latin typeface="맑은 고딕" pitchFamily="34" charset="0"/>
                <a:ea typeface="맑은 고딕" pitchFamily="34" charset="-122"/>
                <a:cs typeface="맑은 고딕" pitchFamily="34" charset="-120"/>
              </a:rPr>
              <a:t>el</a:t>
            </a:r>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 = 5.31°</a:t>
            </a:r>
            <a:endParaRPr lang="en-US" sz="1050" dirty="0"/>
          </a:p>
          <a:p>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K</a:t>
            </a:r>
            <a:pPr indent="0" marL="0">
              <a:lnSpc>
                <a:spcPct val="105000"/>
              </a:lnSpc>
              <a:buNone/>
            </a:pPr>
            <a:r>
              <a:rPr lang="en-US" sz="1050" baseline="-40000" dirty="0">
                <a:solidFill>
                  <a:srgbClr val="1B2740"/>
                </a:solidFill>
                <a:latin typeface="맑은 고딕" pitchFamily="34" charset="0"/>
                <a:ea typeface="맑은 고딕" pitchFamily="34" charset="-122"/>
                <a:cs typeface="맑은 고딕" pitchFamily="34" charset="-120"/>
              </a:rPr>
              <a:t>M</a:t>
            </a:r>
            <a:pPr indent="0" marL="0">
              <a:lnSpc>
                <a:spcPct val="105000"/>
              </a:lnSpc>
              <a:buNone/>
            </a:pPr>
            <a:r>
              <a:rPr lang="en-US" sz="1050" dirty="0">
                <a:solidFill>
                  <a:srgbClr val="1B2740"/>
                </a:solidFill>
                <a:latin typeface="맑은 고딕" pitchFamily="34" charset="0"/>
                <a:ea typeface="맑은 고딕" pitchFamily="34" charset="-122"/>
                <a:cs typeface="맑은 고딕" pitchFamily="34" charset="-120"/>
              </a:rPr>
              <a:t> = 1.7</a:t>
            </a:r>
            <a:endParaRPr lang="en-US" sz="1050" dirty="0"/>
          </a:p>
        </p:txBody>
      </p:sp>
      <p:sp>
        <p:nvSpPr>
          <p:cNvPr id="37" name="Shape 35"/>
          <p:cNvSpPr/>
          <p:nvPr/>
        </p:nvSpPr>
        <p:spPr>
          <a:xfrm>
            <a:off x="2770632" y="5074920"/>
            <a:ext cx="201168" cy="0"/>
          </a:xfrm>
          <a:prstGeom prst="line">
            <a:avLst/>
          </a:prstGeom>
          <a:noFill/>
          <a:ln w="15875">
            <a:solidFill>
              <a:srgbClr val="8794AC"/>
            </a:solidFill>
            <a:prstDash val="solid"/>
            <a:tailEnd type="triangle"/>
          </a:ln>
        </p:spPr>
      </p:sp>
      <p:sp>
        <p:nvSpPr>
          <p:cNvPr id="38" name="Shape 36"/>
          <p:cNvSpPr/>
          <p:nvPr/>
        </p:nvSpPr>
        <p:spPr>
          <a:xfrm>
            <a:off x="2999232" y="4837176"/>
            <a:ext cx="1847088" cy="475488"/>
          </a:xfrm>
          <a:prstGeom prst="rect">
            <a:avLst/>
          </a:prstGeom>
          <a:solidFill>
            <a:srgbClr val="FFFFFF"/>
          </a:solidFill>
          <a:ln w="9525">
            <a:solidFill>
              <a:srgbClr val="D2D9E5"/>
            </a:solidFill>
            <a:prstDash val="solid"/>
          </a:ln>
        </p:spPr>
      </p:sp>
      <p:sp>
        <p:nvSpPr>
          <p:cNvPr id="39" name="Text 37"/>
          <p:cNvSpPr txBox="1"/>
          <p:nvPr/>
        </p:nvSpPr>
        <p:spPr>
          <a:xfrm>
            <a:off x="2999232" y="4837176"/>
            <a:ext cx="1847088" cy="475488"/>
          </a:xfrm>
          <a:prstGeom prst="rect">
            <a:avLst/>
          </a:prstGeom>
          <a:noFill/>
          <a:ln/>
        </p:spPr>
        <p:txBody>
          <a:bodyPr wrap="square" lIns="0" tIns="0" rIns="0" bIns="0" rtlCol="0" anchor="ctr"/>
          <a:lstStyle/>
          <a:p>
            <a:pPr algn="ctr" indent="0" marL="0">
              <a:buNone/>
            </a:pPr>
            <a:r>
              <a:rPr lang="en-US" sz="1200" b="1" dirty="0">
                <a:solidFill>
                  <a:srgbClr val="1B2740"/>
                </a:solidFill>
                <a:latin typeface="맑은 고딕" pitchFamily="34" charset="0"/>
                <a:ea typeface="맑은 고딕" pitchFamily="34" charset="-122"/>
                <a:cs typeface="맑은 고딕" pitchFamily="34" charset="-120"/>
              </a:rPr>
              <a:t>θ</a:t>
            </a:r>
            <a:pPr algn="ctr" indent="0" marL="0">
              <a:buNone/>
            </a:pPr>
            <a:r>
              <a:rPr lang="en-US" sz="1200" b="1" baseline="-40000" dirty="0">
                <a:solidFill>
                  <a:srgbClr val="1B2740"/>
                </a:solidFill>
                <a:latin typeface="맑은 고딕" pitchFamily="34" charset="0"/>
                <a:ea typeface="맑은 고딕" pitchFamily="34" charset="-122"/>
                <a:cs typeface="맑은 고딕" pitchFamily="34" charset="-120"/>
              </a:rPr>
              <a:t>el</a:t>
            </a:r>
            <a:pPr algn="ctr" indent="0" marL="0">
              <a:buNone/>
            </a:pPr>
            <a:r>
              <a:rPr lang="en-US" sz="1200" b="1" dirty="0">
                <a:solidFill>
                  <a:srgbClr val="1B2740"/>
                </a:solidFill>
                <a:latin typeface="맑은 고딕" pitchFamily="34" charset="0"/>
                <a:ea typeface="맑은 고딕" pitchFamily="34" charset="-122"/>
                <a:cs typeface="맑은 고딕" pitchFamily="34" charset="-120"/>
              </a:rPr>
              <a:t> / K</a:t>
            </a:r>
            <a:pPr algn="ctr" indent="0" marL="0">
              <a:buNone/>
            </a:pPr>
            <a:r>
              <a:rPr lang="en-US" sz="1200" b="1" baseline="-40000" dirty="0">
                <a:solidFill>
                  <a:srgbClr val="1B2740"/>
                </a:solidFill>
                <a:latin typeface="맑은 고딕" pitchFamily="34" charset="0"/>
                <a:ea typeface="맑은 고딕" pitchFamily="34" charset="-122"/>
                <a:cs typeface="맑은 고딕" pitchFamily="34" charset="-120"/>
              </a:rPr>
              <a:t>M</a:t>
            </a:r>
            <a:pPr algn="ctr" indent="0" marL="0">
              <a:buNone/>
            </a:pPr>
            <a:r>
              <a:rPr lang="en-US" sz="1200" b="1" dirty="0">
                <a:solidFill>
                  <a:srgbClr val="1B2740"/>
                </a:solidFill>
                <a:latin typeface="맑은 고딕" pitchFamily="34" charset="0"/>
                <a:ea typeface="맑은 고딕" pitchFamily="34" charset="-122"/>
                <a:cs typeface="맑은 고딕" pitchFamily="34" charset="-120"/>
              </a:rPr>
              <a:t> = 3.124°</a:t>
            </a:r>
            <a:endParaRPr lang="en-US" sz="1200" dirty="0"/>
          </a:p>
        </p:txBody>
      </p:sp>
      <p:sp>
        <p:nvSpPr>
          <p:cNvPr id="40" name="Shape 38"/>
          <p:cNvSpPr/>
          <p:nvPr/>
        </p:nvSpPr>
        <p:spPr>
          <a:xfrm>
            <a:off x="4873752" y="5074920"/>
            <a:ext cx="146304" cy="0"/>
          </a:xfrm>
          <a:prstGeom prst="line">
            <a:avLst/>
          </a:prstGeom>
          <a:noFill/>
          <a:ln w="15875">
            <a:solidFill>
              <a:srgbClr val="8794AC"/>
            </a:solidFill>
            <a:prstDash val="solid"/>
            <a:tailEnd type="triangle"/>
          </a:ln>
        </p:spPr>
      </p:sp>
      <p:sp>
        <p:nvSpPr>
          <p:cNvPr id="41" name="Shape 39"/>
          <p:cNvSpPr/>
          <p:nvPr/>
        </p:nvSpPr>
        <p:spPr>
          <a:xfrm>
            <a:off x="5047488" y="4901184"/>
            <a:ext cx="932688" cy="347472"/>
          </a:xfrm>
          <a:prstGeom prst="rect">
            <a:avLst/>
          </a:prstGeom>
          <a:solidFill>
            <a:srgbClr val="FFFFFF"/>
          </a:solidFill>
          <a:ln w="15875">
            <a:solidFill>
              <a:srgbClr val="D97706"/>
            </a:solidFill>
            <a:prstDash val="solid"/>
          </a:ln>
        </p:spPr>
      </p:sp>
      <p:sp>
        <p:nvSpPr>
          <p:cNvPr id="42" name="Text 40"/>
          <p:cNvSpPr txBox="1"/>
          <p:nvPr/>
        </p:nvSpPr>
        <p:spPr>
          <a:xfrm>
            <a:off x="5047488" y="4901184"/>
            <a:ext cx="932688" cy="347472"/>
          </a:xfrm>
          <a:prstGeom prst="rect">
            <a:avLst/>
          </a:prstGeom>
          <a:noFill/>
          <a:ln/>
        </p:spPr>
        <p:txBody>
          <a:bodyPr wrap="square" lIns="0" tIns="0" rIns="0" bIns="0" rtlCol="0" anchor="ctr"/>
          <a:lstStyle/>
          <a:p>
            <a:pPr algn="ctr" indent="0" marL="0">
              <a:buNone/>
            </a:pPr>
            <a:r>
              <a:rPr lang="en-US" sz="1150" b="1" dirty="0">
                <a:solidFill>
                  <a:srgbClr val="D97706"/>
                </a:solidFill>
                <a:latin typeface="맑은 고딕" pitchFamily="34" charset="0"/>
                <a:ea typeface="맑은 고딕" pitchFamily="34" charset="-122"/>
                <a:cs typeface="맑은 고딕" pitchFamily="34" charset="-120"/>
              </a:rPr>
              <a:t>÷ 6.325</a:t>
            </a:r>
            <a:endParaRPr lang="en-US" sz="1150" dirty="0"/>
          </a:p>
        </p:txBody>
      </p:sp>
      <p:sp>
        <p:nvSpPr>
          <p:cNvPr id="43" name="Shape 41"/>
          <p:cNvSpPr/>
          <p:nvPr/>
        </p:nvSpPr>
        <p:spPr>
          <a:xfrm>
            <a:off x="6007608" y="5074920"/>
            <a:ext cx="182880" cy="0"/>
          </a:xfrm>
          <a:prstGeom prst="line">
            <a:avLst/>
          </a:prstGeom>
          <a:noFill/>
          <a:ln w="15875">
            <a:solidFill>
              <a:srgbClr val="8794AC"/>
            </a:solidFill>
            <a:prstDash val="solid"/>
            <a:tailEnd type="triangle"/>
          </a:ln>
        </p:spPr>
      </p:sp>
      <p:sp>
        <p:nvSpPr>
          <p:cNvPr id="44" name="Shape 42"/>
          <p:cNvSpPr/>
          <p:nvPr/>
        </p:nvSpPr>
        <p:spPr>
          <a:xfrm>
            <a:off x="6217920" y="4837176"/>
            <a:ext cx="1188720" cy="475488"/>
          </a:xfrm>
          <a:prstGeom prst="rect">
            <a:avLst/>
          </a:prstGeom>
          <a:solidFill>
            <a:srgbClr val="EBF2FE"/>
          </a:solidFill>
          <a:ln w="15875">
            <a:solidFill>
              <a:srgbClr val="2563EB"/>
            </a:solidFill>
            <a:prstDash val="solid"/>
          </a:ln>
        </p:spPr>
      </p:sp>
      <p:sp>
        <p:nvSpPr>
          <p:cNvPr id="45" name="Text 43"/>
          <p:cNvSpPr txBox="1"/>
          <p:nvPr/>
        </p:nvSpPr>
        <p:spPr>
          <a:xfrm>
            <a:off x="6217920" y="4837176"/>
            <a:ext cx="1188720" cy="475488"/>
          </a:xfrm>
          <a:prstGeom prst="rect">
            <a:avLst/>
          </a:prstGeom>
          <a:noFill/>
          <a:ln/>
        </p:spPr>
        <p:txBody>
          <a:bodyPr wrap="square" lIns="0" tIns="0" rIns="0" bIns="0" rtlCol="0" anchor="ctr"/>
          <a:lstStyle/>
          <a:p>
            <a:pPr algn="ctr" indent="0" marL="0">
              <a:buNone/>
            </a:pPr>
            <a:r>
              <a:rPr lang="en-US" sz="1350" b="1" dirty="0">
                <a:solidFill>
                  <a:srgbClr val="2563EB"/>
                </a:solidFill>
                <a:latin typeface="맑은 고딕" pitchFamily="34" charset="0"/>
                <a:ea typeface="맑은 고딕" pitchFamily="34" charset="-122"/>
                <a:cs typeface="맑은 고딕" pitchFamily="34" charset="-120"/>
              </a:rPr>
              <a:t>0.4939°</a:t>
            </a:r>
            <a:endParaRPr lang="en-US" sz="1350" dirty="0"/>
          </a:p>
        </p:txBody>
      </p:sp>
      <p:sp>
        <p:nvSpPr>
          <p:cNvPr id="46" name="Shape 44"/>
          <p:cNvSpPr/>
          <p:nvPr/>
        </p:nvSpPr>
        <p:spPr>
          <a:xfrm>
            <a:off x="3730752" y="5568696"/>
            <a:ext cx="3566160" cy="475488"/>
          </a:xfrm>
          <a:prstGeom prst="roundRect">
            <a:avLst>
              <a:gd name="adj" fmla="val 11538"/>
            </a:avLst>
          </a:prstGeom>
          <a:solidFill>
            <a:srgbClr val="FEF5E7"/>
          </a:solidFill>
          <a:ln w="15875">
            <a:solidFill>
              <a:srgbClr val="D97706"/>
            </a:solidFill>
            <a:prstDash val="solid"/>
          </a:ln>
        </p:spPr>
      </p:sp>
      <p:sp>
        <p:nvSpPr>
          <p:cNvPr id="47" name="Text 45"/>
          <p:cNvSpPr txBox="1"/>
          <p:nvPr/>
        </p:nvSpPr>
        <p:spPr>
          <a:xfrm>
            <a:off x="3730752" y="5568696"/>
            <a:ext cx="3566160" cy="475488"/>
          </a:xfrm>
          <a:prstGeom prst="rect">
            <a:avLst/>
          </a:prstGeom>
          <a:noFill/>
          <a:ln/>
        </p:spPr>
        <p:txBody>
          <a:bodyPr wrap="square" lIns="0" tIns="0" rIns="0" bIns="0" rtlCol="0" anchor="ctr"/>
          <a:lstStyle/>
          <a:p>
            <a:pPr algn="ctr" indent="0" marL="0">
              <a:buNone/>
            </a:pPr>
            <a:r>
              <a:rPr lang="en-US" sz="1200" b="1" dirty="0">
                <a:solidFill>
                  <a:srgbClr val="1B2740"/>
                </a:solidFill>
                <a:latin typeface="맑은 고딕" pitchFamily="34" charset="0"/>
                <a:ea typeface="맑은 고딕" pitchFamily="34" charset="-122"/>
                <a:cs typeface="맑은 고딕" pitchFamily="34" charset="-120"/>
              </a:rPr>
              <a:t>SNR = 20</a:t>
            </a:r>
            <a:pPr algn="ctr" indent="0" marL="0">
              <a:buNone/>
            </a:pPr>
            <a:r>
              <a:rPr lang="en-US" sz="1200" dirty="0">
                <a:solidFill>
                  <a:srgbClr val="1B2740"/>
                </a:solidFill>
                <a:latin typeface="맑은 고딕" pitchFamily="34" charset="0"/>
                <a:ea typeface="맑은 고딕" pitchFamily="34" charset="-122"/>
                <a:cs typeface="맑은 고딕" pitchFamily="34" charset="-120"/>
              </a:rPr>
              <a:t>   →   √(2·SNR) = √40 = </a:t>
            </a:r>
            <a:pPr algn="ctr" indent="0" marL="0">
              <a:buNone/>
            </a:pPr>
            <a:r>
              <a:rPr lang="en-US" sz="1200" b="1" dirty="0">
                <a:solidFill>
                  <a:srgbClr val="D97706"/>
                </a:solidFill>
                <a:latin typeface="맑은 고딕" pitchFamily="34" charset="0"/>
                <a:ea typeface="맑은 고딕" pitchFamily="34" charset="-122"/>
                <a:cs typeface="맑은 고딕" pitchFamily="34" charset="-120"/>
              </a:rPr>
              <a:t>6.325</a:t>
            </a:r>
            <a:endParaRPr lang="en-US" sz="1200" dirty="0"/>
          </a:p>
        </p:txBody>
      </p:sp>
      <p:sp>
        <p:nvSpPr>
          <p:cNvPr id="48" name="Shape 46"/>
          <p:cNvSpPr/>
          <p:nvPr/>
        </p:nvSpPr>
        <p:spPr>
          <a:xfrm>
            <a:off x="7726680" y="2286000"/>
            <a:ext cx="3822192" cy="3886200"/>
          </a:xfrm>
          <a:prstGeom prst="roundRect">
            <a:avLst>
              <a:gd name="adj" fmla="val 1435"/>
            </a:avLst>
          </a:prstGeom>
          <a:solidFill>
            <a:srgbClr val="F7F9FC"/>
          </a:solidFill>
          <a:ln w="9525">
            <a:solidFill>
              <a:srgbClr val="D2D9E5"/>
            </a:solidFill>
            <a:prstDash val="solid"/>
          </a:ln>
        </p:spPr>
      </p:sp>
      <p:sp>
        <p:nvSpPr>
          <p:cNvPr id="49" name="Text 47"/>
          <p:cNvSpPr txBox="1"/>
          <p:nvPr/>
        </p:nvSpPr>
        <p:spPr>
          <a:xfrm>
            <a:off x="7927848" y="2395728"/>
            <a:ext cx="3419856" cy="274320"/>
          </a:xfrm>
          <a:prstGeom prst="rect">
            <a:avLst/>
          </a:prstGeom>
          <a:noFill/>
          <a:ln/>
        </p:spPr>
        <p:txBody>
          <a:bodyPr wrap="square" lIns="0" tIns="0" rIns="0" bIns="0" rtlCol="0" anchor="ctr"/>
          <a:lstStyle/>
          <a:p>
            <a:pPr indent="0" marL="0">
              <a:buNone/>
            </a:pPr>
            <a:r>
              <a:rPr lang="en-US" sz="1250" b="1" dirty="0">
                <a:solidFill>
                  <a:srgbClr val="1B2740"/>
                </a:solidFill>
                <a:latin typeface="맑은 고딕" pitchFamily="34" charset="0"/>
                <a:ea typeface="맑은 고딕" pitchFamily="34" charset="-122"/>
                <a:cs typeface="맑은 고딕" pitchFamily="34" charset="-120"/>
              </a:rPr>
              <a:t>식에 나오는 값 (과제 조건)</a:t>
            </a:r>
            <a:endParaRPr lang="en-US" sz="1250" dirty="0"/>
          </a:p>
        </p:txBody>
      </p:sp>
      <p:sp>
        <p:nvSpPr>
          <p:cNvPr id="50" name="Text 48"/>
          <p:cNvSpPr txBox="1"/>
          <p:nvPr/>
        </p:nvSpPr>
        <p:spPr>
          <a:xfrm>
            <a:off x="7927848" y="2779776"/>
            <a:ext cx="777240" cy="228600"/>
          </a:xfrm>
          <a:prstGeom prst="rect">
            <a:avLst/>
          </a:prstGeom>
          <a:noFill/>
          <a:ln/>
        </p:spPr>
        <p:txBody>
          <a:bodyPr wrap="square" lIns="0" tIns="0" rIns="0" bIns="0" rtlCol="0" anchor="ctr"/>
          <a:lstStyle/>
          <a:p>
            <a:pPr indent="0" marL="0">
              <a:buNone/>
            </a:pPr>
            <a:r>
              <a:rPr lang="en-US" sz="1200" b="1" dirty="0">
                <a:solidFill>
                  <a:srgbClr val="2563EB"/>
                </a:solidFill>
                <a:latin typeface="맑은 고딕" pitchFamily="34" charset="0"/>
                <a:ea typeface="맑은 고딕" pitchFamily="34" charset="-122"/>
                <a:cs typeface="맑은 고딕" pitchFamily="34" charset="-120"/>
              </a:rPr>
              <a:t>c</a:t>
            </a:r>
            <a:endParaRPr lang="en-US" sz="1200" dirty="0"/>
          </a:p>
        </p:txBody>
      </p:sp>
      <p:sp>
        <p:nvSpPr>
          <p:cNvPr id="51" name="Text 49"/>
          <p:cNvSpPr txBox="1"/>
          <p:nvPr/>
        </p:nvSpPr>
        <p:spPr>
          <a:xfrm>
            <a:off x="8750808" y="2779776"/>
            <a:ext cx="2615184" cy="228600"/>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광속  </a:t>
            </a:r>
            <a:pPr indent="0" marL="0">
              <a:buNone/>
            </a:pPr>
            <a:r>
              <a:rPr lang="en-US" sz="1100" dirty="0">
                <a:solidFill>
                  <a:srgbClr val="1B2740"/>
                </a:solidFill>
                <a:latin typeface="맑은 고딕" pitchFamily="34" charset="0"/>
                <a:ea typeface="맑은 고딕" pitchFamily="34" charset="-122"/>
                <a:cs typeface="맑은 고딕" pitchFamily="34" charset="-120"/>
              </a:rPr>
              <a:t>2.998 × 10</a:t>
            </a:r>
            <a:pPr indent="0" marL="0">
              <a:buNone/>
            </a:pPr>
            <a:r>
              <a:rPr lang="en-US" sz="1100" baseline="30000" dirty="0">
                <a:solidFill>
                  <a:srgbClr val="1B2740"/>
                </a:solidFill>
                <a:latin typeface="맑은 고딕" pitchFamily="34" charset="0"/>
                <a:ea typeface="맑은 고딕" pitchFamily="34" charset="-122"/>
                <a:cs typeface="맑은 고딕" pitchFamily="34" charset="-120"/>
              </a:rPr>
              <a:t>8</a:t>
            </a:r>
            <a:pPr indent="0" marL="0">
              <a:buNone/>
            </a:pPr>
            <a:r>
              <a:rPr lang="en-US" sz="1100" dirty="0">
                <a:solidFill>
                  <a:srgbClr val="1B2740"/>
                </a:solidFill>
                <a:latin typeface="맑은 고딕" pitchFamily="34" charset="0"/>
                <a:ea typeface="맑은 고딕" pitchFamily="34" charset="-122"/>
                <a:cs typeface="맑은 고딕" pitchFamily="34" charset="-120"/>
              </a:rPr>
              <a:t> m/s</a:t>
            </a:r>
            <a:endParaRPr lang="en-US" sz="1100" dirty="0"/>
          </a:p>
        </p:txBody>
      </p:sp>
      <p:sp>
        <p:nvSpPr>
          <p:cNvPr id="52" name="Text 50"/>
          <p:cNvSpPr txBox="1"/>
          <p:nvPr/>
        </p:nvSpPr>
        <p:spPr>
          <a:xfrm>
            <a:off x="8750808" y="3017520"/>
            <a:ext cx="2615184" cy="162687"/>
          </a:xfrm>
          <a:prstGeom prst="rect">
            <a:avLst/>
          </a:prstGeom>
          <a:noFill/>
          <a:ln/>
        </p:spPr>
        <p:txBody>
          <a:bodyPr wrap="square" lIns="0" tIns="0" rIns="0" bIns="0" rtlCol="0" anchor="t"/>
          <a:lstStyle/>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전파 속도. 전파가 왕복하므로 2B 로 나눈다</a:t>
            </a:r>
            <a:endParaRPr lang="en-US" sz="1050" dirty="0"/>
          </a:p>
        </p:txBody>
      </p:sp>
      <p:sp>
        <p:nvSpPr>
          <p:cNvPr id="53" name="Shape 51"/>
          <p:cNvSpPr/>
          <p:nvPr/>
        </p:nvSpPr>
        <p:spPr>
          <a:xfrm>
            <a:off x="7927848" y="3248787"/>
            <a:ext cx="3419856" cy="0"/>
          </a:xfrm>
          <a:prstGeom prst="line">
            <a:avLst/>
          </a:prstGeom>
          <a:noFill/>
          <a:ln w="9525">
            <a:solidFill>
              <a:srgbClr val="D2D9E5"/>
            </a:solidFill>
            <a:prstDash val="solid"/>
          </a:ln>
        </p:spPr>
      </p:sp>
      <p:sp>
        <p:nvSpPr>
          <p:cNvPr id="54" name="Text 52"/>
          <p:cNvSpPr txBox="1"/>
          <p:nvPr/>
        </p:nvSpPr>
        <p:spPr>
          <a:xfrm>
            <a:off x="7927848" y="3317367"/>
            <a:ext cx="777240" cy="228600"/>
          </a:xfrm>
          <a:prstGeom prst="rect">
            <a:avLst/>
          </a:prstGeom>
          <a:noFill/>
          <a:ln/>
        </p:spPr>
        <p:txBody>
          <a:bodyPr wrap="square" lIns="0" tIns="0" rIns="0" bIns="0" rtlCol="0" anchor="ctr"/>
          <a:lstStyle/>
          <a:p>
            <a:pPr indent="0" marL="0">
              <a:buNone/>
            </a:pPr>
            <a:r>
              <a:rPr lang="en-US" sz="1200" b="1" dirty="0">
                <a:solidFill>
                  <a:srgbClr val="2563EB"/>
                </a:solidFill>
                <a:latin typeface="맑은 고딕" pitchFamily="34" charset="0"/>
                <a:ea typeface="맑은 고딕" pitchFamily="34" charset="-122"/>
                <a:cs typeface="맑은 고딕" pitchFamily="34" charset="-120"/>
              </a:rPr>
              <a:t>B</a:t>
            </a:r>
            <a:endParaRPr lang="en-US" sz="1200" dirty="0"/>
          </a:p>
        </p:txBody>
      </p:sp>
      <p:sp>
        <p:nvSpPr>
          <p:cNvPr id="55" name="Text 53"/>
          <p:cNvSpPr txBox="1"/>
          <p:nvPr/>
        </p:nvSpPr>
        <p:spPr>
          <a:xfrm>
            <a:off x="8750808" y="3317367"/>
            <a:ext cx="2615184" cy="228600"/>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대역폭  </a:t>
            </a:r>
            <a:pPr indent="0" marL="0">
              <a:buNone/>
            </a:pPr>
            <a:r>
              <a:rPr lang="en-US" sz="1100" dirty="0">
                <a:solidFill>
                  <a:srgbClr val="1B2740"/>
                </a:solidFill>
                <a:latin typeface="맑은 고딕" pitchFamily="34" charset="0"/>
                <a:ea typeface="맑은 고딕" pitchFamily="34" charset="-122"/>
                <a:cs typeface="맑은 고딕" pitchFamily="34" charset="-120"/>
              </a:rPr>
              <a:t>5 MHz</a:t>
            </a:r>
            <a:endParaRPr lang="en-US" sz="1100" dirty="0"/>
          </a:p>
        </p:txBody>
      </p:sp>
      <p:sp>
        <p:nvSpPr>
          <p:cNvPr id="56" name="Text 54"/>
          <p:cNvSpPr txBox="1"/>
          <p:nvPr/>
        </p:nvSpPr>
        <p:spPr>
          <a:xfrm>
            <a:off x="8750808" y="3555111"/>
            <a:ext cx="2615184" cy="325374"/>
          </a:xfrm>
          <a:prstGeom prst="rect">
            <a:avLst/>
          </a:prstGeom>
          <a:noFill/>
          <a:ln/>
        </p:spPr>
        <p:txBody>
          <a:bodyPr wrap="square" lIns="0" tIns="0" rIns="0" bIns="0" rtlCol="0" anchor="t"/>
          <a:lstStyle/>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송신 신호가 차지하는 주파수 폭.</a:t>
            </a:r>
            <a:endParaRPr lang="en-US" sz="1050" dirty="0"/>
          </a:p>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넓을수록 거리를 잘게 나눈다</a:t>
            </a:r>
            <a:endParaRPr lang="en-US" sz="1050" dirty="0"/>
          </a:p>
        </p:txBody>
      </p:sp>
      <p:sp>
        <p:nvSpPr>
          <p:cNvPr id="57" name="Shape 55"/>
          <p:cNvSpPr/>
          <p:nvPr/>
        </p:nvSpPr>
        <p:spPr>
          <a:xfrm>
            <a:off x="7927848" y="3949065"/>
            <a:ext cx="3419856" cy="0"/>
          </a:xfrm>
          <a:prstGeom prst="line">
            <a:avLst/>
          </a:prstGeom>
          <a:noFill/>
          <a:ln w="9525">
            <a:solidFill>
              <a:srgbClr val="D2D9E5"/>
            </a:solidFill>
            <a:prstDash val="solid"/>
          </a:ln>
        </p:spPr>
      </p:sp>
      <p:sp>
        <p:nvSpPr>
          <p:cNvPr id="58" name="Text 56"/>
          <p:cNvSpPr txBox="1"/>
          <p:nvPr/>
        </p:nvSpPr>
        <p:spPr>
          <a:xfrm>
            <a:off x="7927848" y="4017645"/>
            <a:ext cx="777240" cy="228600"/>
          </a:xfrm>
          <a:prstGeom prst="rect">
            <a:avLst/>
          </a:prstGeom>
          <a:noFill/>
          <a:ln/>
        </p:spPr>
        <p:txBody>
          <a:bodyPr wrap="square" lIns="0" tIns="0" rIns="0" bIns="0" rtlCol="0" anchor="ctr"/>
          <a:lstStyle/>
          <a:p>
            <a:pPr indent="0" marL="0">
              <a:buNone/>
            </a:pPr>
            <a:r>
              <a:rPr lang="en-US" sz="1200" b="1" dirty="0">
                <a:solidFill>
                  <a:srgbClr val="2563EB"/>
                </a:solidFill>
                <a:latin typeface="맑은 고딕" pitchFamily="34" charset="0"/>
                <a:ea typeface="맑은 고딕" pitchFamily="34" charset="-122"/>
                <a:cs typeface="맑은 고딕" pitchFamily="34" charset="-120"/>
              </a:rPr>
              <a:t>θ</a:t>
            </a:r>
            <a:pPr indent="0" marL="0">
              <a:buNone/>
            </a:pPr>
            <a:r>
              <a:rPr lang="en-US" sz="1200" b="1" baseline="-40000" dirty="0">
                <a:solidFill>
                  <a:srgbClr val="2563EB"/>
                </a:solidFill>
                <a:latin typeface="맑은 고딕" pitchFamily="34" charset="0"/>
                <a:ea typeface="맑은 고딕" pitchFamily="34" charset="-122"/>
                <a:cs typeface="맑은 고딕" pitchFamily="34" charset="-120"/>
              </a:rPr>
              <a:t>az</a:t>
            </a:r>
            <a:pPr indent="0" marL="0">
              <a:buNone/>
            </a:pPr>
            <a:r>
              <a:rPr lang="en-US" sz="1200" b="1" dirty="0">
                <a:solidFill>
                  <a:srgbClr val="2563EB"/>
                </a:solidFill>
                <a:latin typeface="맑은 고딕" pitchFamily="34" charset="0"/>
                <a:ea typeface="맑은 고딕" pitchFamily="34" charset="-122"/>
                <a:cs typeface="맑은 고딕" pitchFamily="34" charset="-120"/>
              </a:rPr>
              <a:t>, θ</a:t>
            </a:r>
            <a:pPr indent="0" marL="0">
              <a:buNone/>
            </a:pPr>
            <a:r>
              <a:rPr lang="en-US" sz="1200" b="1" baseline="-40000" dirty="0">
                <a:solidFill>
                  <a:srgbClr val="2563EB"/>
                </a:solidFill>
                <a:latin typeface="맑은 고딕" pitchFamily="34" charset="0"/>
                <a:ea typeface="맑은 고딕" pitchFamily="34" charset="-122"/>
                <a:cs typeface="맑은 고딕" pitchFamily="34" charset="-120"/>
              </a:rPr>
              <a:t>el</a:t>
            </a:r>
            <a:endParaRPr lang="en-US" sz="1200" dirty="0"/>
          </a:p>
        </p:txBody>
      </p:sp>
      <p:sp>
        <p:nvSpPr>
          <p:cNvPr id="59" name="Text 57"/>
          <p:cNvSpPr txBox="1"/>
          <p:nvPr/>
        </p:nvSpPr>
        <p:spPr>
          <a:xfrm>
            <a:off x="8750808" y="4017645"/>
            <a:ext cx="2615184" cy="228600"/>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빔폭  </a:t>
            </a:r>
            <a:pPr indent="0" marL="0">
              <a:buNone/>
            </a:pPr>
            <a:r>
              <a:rPr lang="en-US" sz="1100" dirty="0">
                <a:solidFill>
                  <a:srgbClr val="1B2740"/>
                </a:solidFill>
                <a:latin typeface="맑은 고딕" pitchFamily="34" charset="0"/>
                <a:ea typeface="맑은 고딕" pitchFamily="34" charset="-122"/>
                <a:cs typeface="맑은 고딕" pitchFamily="34" charset="-120"/>
              </a:rPr>
              <a:t>5.14°, 5.31°</a:t>
            </a:r>
            <a:endParaRPr lang="en-US" sz="1100" dirty="0"/>
          </a:p>
        </p:txBody>
      </p:sp>
      <p:sp>
        <p:nvSpPr>
          <p:cNvPr id="60" name="Text 58"/>
          <p:cNvSpPr txBox="1"/>
          <p:nvPr/>
        </p:nvSpPr>
        <p:spPr>
          <a:xfrm>
            <a:off x="8750808" y="4255389"/>
            <a:ext cx="2615184" cy="325374"/>
          </a:xfrm>
          <a:prstGeom prst="rect">
            <a:avLst/>
          </a:prstGeom>
          <a:noFill/>
          <a:ln/>
        </p:spPr>
        <p:txBody>
          <a:bodyPr wrap="square" lIns="0" tIns="0" rIns="0" bIns="0" rtlCol="0" anchor="t"/>
          <a:lstStyle/>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안테나 빔이 퍼지는 각도.</a:t>
            </a:r>
            <a:endParaRPr lang="en-US" sz="1050" dirty="0"/>
          </a:p>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방위각은 좌우, 고각은 위아래 폭</a:t>
            </a:r>
            <a:endParaRPr lang="en-US" sz="1050" dirty="0"/>
          </a:p>
        </p:txBody>
      </p:sp>
      <p:sp>
        <p:nvSpPr>
          <p:cNvPr id="61" name="Shape 59"/>
          <p:cNvSpPr/>
          <p:nvPr/>
        </p:nvSpPr>
        <p:spPr>
          <a:xfrm>
            <a:off x="7927848" y="4649343"/>
            <a:ext cx="3419856" cy="0"/>
          </a:xfrm>
          <a:prstGeom prst="line">
            <a:avLst/>
          </a:prstGeom>
          <a:noFill/>
          <a:ln w="9525">
            <a:solidFill>
              <a:srgbClr val="D2D9E5"/>
            </a:solidFill>
            <a:prstDash val="solid"/>
          </a:ln>
        </p:spPr>
      </p:sp>
      <p:sp>
        <p:nvSpPr>
          <p:cNvPr id="62" name="Text 60"/>
          <p:cNvSpPr txBox="1"/>
          <p:nvPr/>
        </p:nvSpPr>
        <p:spPr>
          <a:xfrm>
            <a:off x="7927848" y="4717923"/>
            <a:ext cx="777240" cy="228600"/>
          </a:xfrm>
          <a:prstGeom prst="rect">
            <a:avLst/>
          </a:prstGeom>
          <a:noFill/>
          <a:ln/>
        </p:spPr>
        <p:txBody>
          <a:bodyPr wrap="square" lIns="0" tIns="0" rIns="0" bIns="0" rtlCol="0" anchor="ctr"/>
          <a:lstStyle/>
          <a:p>
            <a:pPr indent="0" marL="0">
              <a:buNone/>
            </a:pPr>
            <a:r>
              <a:rPr lang="en-US" sz="1200" b="1" dirty="0">
                <a:solidFill>
                  <a:srgbClr val="2563EB"/>
                </a:solidFill>
                <a:latin typeface="맑은 고딕" pitchFamily="34" charset="0"/>
                <a:ea typeface="맑은 고딕" pitchFamily="34" charset="-122"/>
                <a:cs typeface="맑은 고딕" pitchFamily="34" charset="-120"/>
              </a:rPr>
              <a:t>K</a:t>
            </a:r>
            <a:pPr indent="0" marL="0">
              <a:buNone/>
            </a:pPr>
            <a:r>
              <a:rPr lang="en-US" sz="1200" b="1" baseline="-40000" dirty="0">
                <a:solidFill>
                  <a:srgbClr val="2563EB"/>
                </a:solidFill>
                <a:latin typeface="맑은 고딕" pitchFamily="34" charset="0"/>
                <a:ea typeface="맑은 고딕" pitchFamily="34" charset="-122"/>
                <a:cs typeface="맑은 고딕" pitchFamily="34" charset="-120"/>
              </a:rPr>
              <a:t>M</a:t>
            </a:r>
            <a:endParaRPr lang="en-US" sz="1200" dirty="0"/>
          </a:p>
        </p:txBody>
      </p:sp>
      <p:sp>
        <p:nvSpPr>
          <p:cNvPr id="63" name="Text 61"/>
          <p:cNvSpPr txBox="1"/>
          <p:nvPr/>
        </p:nvSpPr>
        <p:spPr>
          <a:xfrm>
            <a:off x="8750808" y="4717923"/>
            <a:ext cx="2615184" cy="228600"/>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모노펄스 기울기 상수  </a:t>
            </a:r>
            <a:pPr indent="0" marL="0">
              <a:buNone/>
            </a:pPr>
            <a:r>
              <a:rPr lang="en-US" sz="1100" dirty="0">
                <a:solidFill>
                  <a:srgbClr val="1B2740"/>
                </a:solidFill>
                <a:latin typeface="맑은 고딕" pitchFamily="34" charset="0"/>
                <a:ea typeface="맑은 고딕" pitchFamily="34" charset="-122"/>
                <a:cs typeface="맑은 고딕" pitchFamily="34" charset="-120"/>
              </a:rPr>
              <a:t>1.7</a:t>
            </a:r>
            <a:endParaRPr lang="en-US" sz="1100" dirty="0"/>
          </a:p>
        </p:txBody>
      </p:sp>
      <p:sp>
        <p:nvSpPr>
          <p:cNvPr id="64" name="Text 62"/>
          <p:cNvSpPr txBox="1"/>
          <p:nvPr/>
        </p:nvSpPr>
        <p:spPr>
          <a:xfrm>
            <a:off x="8750808" y="4955667"/>
            <a:ext cx="2615184" cy="325374"/>
          </a:xfrm>
          <a:prstGeom prst="rect">
            <a:avLst/>
          </a:prstGeom>
          <a:noFill/>
          <a:ln/>
        </p:spPr>
        <p:txBody>
          <a:bodyPr wrap="square" lIns="0" tIns="0" rIns="0" bIns="0" rtlCol="0" anchor="t"/>
          <a:lstStyle/>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합 · 차 신호의 비가 각도에 따라</a:t>
            </a:r>
            <a:endParaRPr lang="en-US" sz="1050" dirty="0"/>
          </a:p>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변하는 기울기. 클수록 각도 오차가 작다</a:t>
            </a:r>
            <a:endParaRPr lang="en-US" sz="1050" dirty="0"/>
          </a:p>
        </p:txBody>
      </p:sp>
      <p:sp>
        <p:nvSpPr>
          <p:cNvPr id="65" name="Shape 63"/>
          <p:cNvSpPr/>
          <p:nvPr/>
        </p:nvSpPr>
        <p:spPr>
          <a:xfrm>
            <a:off x="7927848" y="5349621"/>
            <a:ext cx="3419856" cy="0"/>
          </a:xfrm>
          <a:prstGeom prst="line">
            <a:avLst/>
          </a:prstGeom>
          <a:noFill/>
          <a:ln w="9525">
            <a:solidFill>
              <a:srgbClr val="D2D9E5"/>
            </a:solidFill>
            <a:prstDash val="solid"/>
          </a:ln>
        </p:spPr>
      </p:sp>
      <p:sp>
        <p:nvSpPr>
          <p:cNvPr id="66" name="Text 64"/>
          <p:cNvSpPr txBox="1"/>
          <p:nvPr/>
        </p:nvSpPr>
        <p:spPr>
          <a:xfrm>
            <a:off x="7927848" y="5418201"/>
            <a:ext cx="777240" cy="228600"/>
          </a:xfrm>
          <a:prstGeom prst="rect">
            <a:avLst/>
          </a:prstGeom>
          <a:noFill/>
          <a:ln/>
        </p:spPr>
        <p:txBody>
          <a:bodyPr wrap="square" lIns="0" tIns="0" rIns="0" bIns="0" rtlCol="0" anchor="ctr"/>
          <a:lstStyle/>
          <a:p>
            <a:pPr indent="0" marL="0">
              <a:buNone/>
            </a:pPr>
            <a:r>
              <a:rPr lang="en-US" sz="1200" b="1" dirty="0">
                <a:solidFill>
                  <a:srgbClr val="2563EB"/>
                </a:solidFill>
                <a:latin typeface="맑은 고딕" pitchFamily="34" charset="0"/>
                <a:ea typeface="맑은 고딕" pitchFamily="34" charset="-122"/>
                <a:cs typeface="맑은 고딕" pitchFamily="34" charset="-120"/>
              </a:rPr>
              <a:t>SNR</a:t>
            </a:r>
            <a:endParaRPr lang="en-US" sz="1200" dirty="0"/>
          </a:p>
        </p:txBody>
      </p:sp>
      <p:sp>
        <p:nvSpPr>
          <p:cNvPr id="67" name="Text 65"/>
          <p:cNvSpPr txBox="1"/>
          <p:nvPr/>
        </p:nvSpPr>
        <p:spPr>
          <a:xfrm>
            <a:off x="8750808" y="5418201"/>
            <a:ext cx="2615184" cy="228600"/>
          </a:xfrm>
          <a:prstGeom prst="rect">
            <a:avLst/>
          </a:prstGeom>
          <a:noFill/>
          <a:ln/>
        </p:spPr>
        <p:txBody>
          <a:bodyPr wrap="square" lIns="0" tIns="0" rIns="0" bIns="0" rtlCol="0" anchor="ctr"/>
          <a:lstStyle/>
          <a:p>
            <a:pPr indent="0" marL="0">
              <a:buNone/>
            </a:pPr>
            <a:r>
              <a:rPr lang="en-US" sz="1100" b="1" dirty="0">
                <a:solidFill>
                  <a:srgbClr val="1B2740"/>
                </a:solidFill>
                <a:latin typeface="맑은 고딕" pitchFamily="34" charset="0"/>
                <a:ea typeface="맑은 고딕" pitchFamily="34" charset="-122"/>
                <a:cs typeface="맑은 고딕" pitchFamily="34" charset="-120"/>
              </a:rPr>
              <a:t>신호 대 잡음비  </a:t>
            </a:r>
            <a:pPr indent="0" marL="0">
              <a:buNone/>
            </a:pPr>
            <a:r>
              <a:rPr lang="en-US" sz="1100" dirty="0">
                <a:solidFill>
                  <a:srgbClr val="1B2740"/>
                </a:solidFill>
                <a:latin typeface="맑은 고딕" pitchFamily="34" charset="0"/>
                <a:ea typeface="맑은 고딕" pitchFamily="34" charset="-122"/>
                <a:cs typeface="맑은 고딕" pitchFamily="34" charset="-120"/>
              </a:rPr>
              <a:t>20</a:t>
            </a:r>
            <a:endParaRPr lang="en-US" sz="1100" dirty="0"/>
          </a:p>
        </p:txBody>
      </p:sp>
      <p:sp>
        <p:nvSpPr>
          <p:cNvPr id="68" name="Text 66"/>
          <p:cNvSpPr txBox="1"/>
          <p:nvPr/>
        </p:nvSpPr>
        <p:spPr>
          <a:xfrm>
            <a:off x="8750808" y="5655945"/>
            <a:ext cx="2615184" cy="325374"/>
          </a:xfrm>
          <a:prstGeom prst="rect">
            <a:avLst/>
          </a:prstGeom>
          <a:noFill/>
          <a:ln/>
        </p:spPr>
        <p:txBody>
          <a:bodyPr wrap="square" lIns="0" tIns="0" rIns="0" bIns="0" rtlCol="0" anchor="t"/>
          <a:lstStyle/>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표적 신호 세기 ÷ 잡음 세기.</a:t>
            </a:r>
            <a:endParaRPr lang="en-US" sz="1050" dirty="0"/>
          </a:p>
          <a:p>
            <a:pPr indent="0" marL="0">
              <a:lnSpc>
                <a:spcPct val="100000"/>
              </a:lnSpc>
              <a:buNone/>
            </a:pPr>
            <a:r>
              <a:rPr lang="en-US" sz="1050" dirty="0">
                <a:solidFill>
                  <a:srgbClr val="4A5A7A"/>
                </a:solidFill>
                <a:latin typeface="맑은 고딕" pitchFamily="34" charset="0"/>
                <a:ea typeface="맑은 고딕" pitchFamily="34" charset="-122"/>
                <a:cs typeface="맑은 고딕" pitchFamily="34" charset="-120"/>
              </a:rPr>
              <a:t>클수록 잡음에 덜 흔들린다</a:t>
            </a:r>
            <a:endParaRPr lang="en-US" sz="10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플롯</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1.5 GAUSS 정규난수</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잡음은 참고 소스의 GAUSS 로 뽑습니다. GAUSS 는 균등난수 UNIRAN 12 개를 더해 정규분포를 만듭니다.</a:t>
            </a:r>
            <a:endParaRPr lang="en-US" sz="1250" dirty="0"/>
          </a:p>
        </p:txBody>
      </p:sp>
      <p:sp>
        <p:nvSpPr>
          <p:cNvPr id="5" name="Text 3"/>
          <p:cNvSpPr txBox="1"/>
          <p:nvPr/>
        </p:nvSpPr>
        <p:spPr>
          <a:xfrm>
            <a:off x="640080" y="2103120"/>
            <a:ext cx="6766560" cy="219456"/>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참고 소스  GAUSS(m, dev)</a:t>
            </a:r>
            <a:pPr indent="0" marL="0">
              <a:buNone/>
            </a:pPr>
            <a:r>
              <a:rPr lang="en-US" sz="950" dirty="0">
                <a:solidFill>
                  <a:srgbClr val="8794AC"/>
                </a:solidFill>
                <a:latin typeface="Consolas" pitchFamily="34" charset="0"/>
                <a:ea typeface="Consolas" pitchFamily="34" charset="-122"/>
                <a:cs typeface="Consolas" pitchFamily="34" charset="-120"/>
              </a:rPr>
              <a:t>    NoiseGeneration.c</a:t>
            </a:r>
            <a:endParaRPr lang="en-US" sz="1150" dirty="0"/>
          </a:p>
        </p:txBody>
      </p:sp>
      <p:sp>
        <p:nvSpPr>
          <p:cNvPr id="6" name="Shape 4"/>
          <p:cNvSpPr/>
          <p:nvPr/>
        </p:nvSpPr>
        <p:spPr>
          <a:xfrm>
            <a:off x="640080" y="2350008"/>
            <a:ext cx="6766560" cy="1733804"/>
          </a:xfrm>
          <a:prstGeom prst="rect">
            <a:avLst/>
          </a:prstGeom>
          <a:solidFill>
            <a:srgbClr val="FFFFFF"/>
          </a:solidFill>
          <a:ln w="9525">
            <a:solidFill>
              <a:srgbClr val="D2D9E5"/>
            </a:solidFill>
            <a:prstDash val="solid"/>
          </a:ln>
        </p:spPr>
      </p:sp>
      <p:sp>
        <p:nvSpPr>
          <p:cNvPr id="7" name="Text 5"/>
          <p:cNvSpPr txBox="1"/>
          <p:nvPr/>
        </p:nvSpPr>
        <p:spPr>
          <a:xfrm>
            <a:off x="749808" y="2423160"/>
            <a:ext cx="6547104" cy="158750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38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double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GAUSS(</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double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m,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double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dev)</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39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int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i;</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41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double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for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(i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i &lt;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12</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i++)</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45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 += UNIRAN();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46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return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6.0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 dev + 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p:txBody>
      </p:sp>
      <p:sp>
        <p:nvSpPr>
          <p:cNvPr id="8" name="Text 6"/>
          <p:cNvSpPr txBox="1"/>
          <p:nvPr/>
        </p:nvSpPr>
        <p:spPr>
          <a:xfrm>
            <a:off x="640080" y="4147820"/>
            <a:ext cx="6766560" cy="219456"/>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평균 0, 표준편차 1 이 되는 이유</a:t>
            </a:r>
            <a:pPr indent="0" marL="0">
              <a:buNone/>
            </a:pPr>
            <a:endParaRPr lang="en-US" sz="1150" dirty="0"/>
          </a:p>
        </p:txBody>
      </p:sp>
      <p:sp>
        <p:nvSpPr>
          <p:cNvPr id="9" name="Shape 7"/>
          <p:cNvSpPr/>
          <p:nvPr/>
        </p:nvSpPr>
        <p:spPr>
          <a:xfrm>
            <a:off x="640080" y="4403852"/>
            <a:ext cx="2072640" cy="512064"/>
          </a:xfrm>
          <a:prstGeom prst="rect">
            <a:avLst/>
          </a:prstGeom>
          <a:solidFill>
            <a:srgbClr val="FFFFFF"/>
          </a:solidFill>
          <a:ln w="9525">
            <a:solidFill>
              <a:srgbClr val="D2D9E5"/>
            </a:solidFill>
            <a:prstDash val="solid"/>
          </a:ln>
        </p:spPr>
      </p:sp>
      <p:sp>
        <p:nvSpPr>
          <p:cNvPr id="10" name="Text 8"/>
          <p:cNvSpPr txBox="1"/>
          <p:nvPr/>
        </p:nvSpPr>
        <p:spPr>
          <a:xfrm>
            <a:off x="758952" y="4403852"/>
            <a:ext cx="1834896" cy="512064"/>
          </a:xfrm>
          <a:prstGeom prst="rect">
            <a:avLst/>
          </a:prstGeom>
          <a:noFill/>
          <a:ln/>
        </p:spPr>
        <p:txBody>
          <a:bodyPr wrap="square" lIns="0" tIns="0" rIns="0" bIns="0" rtlCol="0" anchor="ctr"/>
          <a:lstStyle/>
          <a:p>
            <a:pPr indent="0" marL="0">
              <a:lnSpc>
                <a:spcPct val="110000"/>
              </a:lnSpc>
              <a:buNone/>
            </a:pPr>
            <a:r>
              <a:rPr lang="en-US" sz="1050" b="1" dirty="0">
                <a:solidFill>
                  <a:srgbClr val="1B2740"/>
                </a:solidFill>
                <a:latin typeface="맑은 고딕" pitchFamily="34" charset="0"/>
                <a:ea typeface="맑은 고딕" pitchFamily="34" charset="-122"/>
                <a:cs typeface="맑은 고딕" pitchFamily="34" charset="-120"/>
              </a:rPr>
              <a:t>UNIRAN 1 개</a:t>
            </a:r>
            <a:endParaRPr lang="en-US" sz="1050" dirty="0"/>
          </a:p>
          <a:p>
            <a:pPr indent="0" marL="0">
              <a:lnSpc>
                <a:spcPct val="110000"/>
              </a:lnSpc>
              <a:buNone/>
            </a:pPr>
            <a:r>
              <a:rPr lang="en-US" sz="1050" dirty="0">
                <a:solidFill>
                  <a:srgbClr val="1B2740"/>
                </a:solidFill>
                <a:latin typeface="맑은 고딕" pitchFamily="34" charset="0"/>
                <a:ea typeface="맑은 고딕" pitchFamily="34" charset="-122"/>
                <a:cs typeface="맑은 고딕" pitchFamily="34" charset="-120"/>
              </a:rPr>
              <a:t>평균 1/2, 분산 1/12</a:t>
            </a:r>
            <a:endParaRPr lang="en-US" sz="1050" dirty="0"/>
          </a:p>
        </p:txBody>
      </p:sp>
      <p:sp>
        <p:nvSpPr>
          <p:cNvPr id="11" name="Shape 9"/>
          <p:cNvSpPr/>
          <p:nvPr/>
        </p:nvSpPr>
        <p:spPr>
          <a:xfrm>
            <a:off x="2749296" y="4659884"/>
            <a:ext cx="201168" cy="0"/>
          </a:xfrm>
          <a:prstGeom prst="line">
            <a:avLst/>
          </a:prstGeom>
          <a:noFill/>
          <a:ln w="15875">
            <a:solidFill>
              <a:srgbClr val="8794AC"/>
            </a:solidFill>
            <a:prstDash val="solid"/>
            <a:tailEnd type="triangle"/>
          </a:ln>
        </p:spPr>
      </p:sp>
      <p:sp>
        <p:nvSpPr>
          <p:cNvPr id="12" name="Shape 10"/>
          <p:cNvSpPr/>
          <p:nvPr/>
        </p:nvSpPr>
        <p:spPr>
          <a:xfrm>
            <a:off x="2987040" y="4403852"/>
            <a:ext cx="2072640" cy="512064"/>
          </a:xfrm>
          <a:prstGeom prst="rect">
            <a:avLst/>
          </a:prstGeom>
          <a:solidFill>
            <a:srgbClr val="FFFFFF"/>
          </a:solidFill>
          <a:ln w="9525">
            <a:solidFill>
              <a:srgbClr val="D2D9E5"/>
            </a:solidFill>
            <a:prstDash val="solid"/>
          </a:ln>
        </p:spPr>
      </p:sp>
      <p:sp>
        <p:nvSpPr>
          <p:cNvPr id="13" name="Text 11"/>
          <p:cNvSpPr txBox="1"/>
          <p:nvPr/>
        </p:nvSpPr>
        <p:spPr>
          <a:xfrm>
            <a:off x="3105912" y="4403852"/>
            <a:ext cx="1834896" cy="512064"/>
          </a:xfrm>
          <a:prstGeom prst="rect">
            <a:avLst/>
          </a:prstGeom>
          <a:noFill/>
          <a:ln/>
        </p:spPr>
        <p:txBody>
          <a:bodyPr wrap="square" lIns="0" tIns="0" rIns="0" bIns="0" rtlCol="0" anchor="ctr"/>
          <a:lstStyle/>
          <a:p>
            <a:pPr indent="0" marL="0">
              <a:lnSpc>
                <a:spcPct val="110000"/>
              </a:lnSpc>
              <a:buNone/>
            </a:pPr>
            <a:r>
              <a:rPr lang="en-US" sz="1050" b="1" dirty="0">
                <a:solidFill>
                  <a:srgbClr val="1B2740"/>
                </a:solidFill>
                <a:latin typeface="맑은 고딕" pitchFamily="34" charset="0"/>
                <a:ea typeface="맑은 고딕" pitchFamily="34" charset="-122"/>
                <a:cs typeface="맑은 고딕" pitchFamily="34" charset="-120"/>
              </a:rPr>
              <a:t>12 개 합</a:t>
            </a:r>
            <a:endParaRPr lang="en-US" sz="1050" dirty="0"/>
          </a:p>
          <a:p>
            <a:pPr indent="0" marL="0">
              <a:lnSpc>
                <a:spcPct val="110000"/>
              </a:lnSpc>
              <a:buNone/>
            </a:pPr>
            <a:r>
              <a:rPr lang="en-US" sz="1050" dirty="0">
                <a:solidFill>
                  <a:srgbClr val="1B2740"/>
                </a:solidFill>
                <a:latin typeface="맑은 고딕" pitchFamily="34" charset="0"/>
                <a:ea typeface="맑은 고딕" pitchFamily="34" charset="-122"/>
                <a:cs typeface="맑은 고딕" pitchFamily="34" charset="-120"/>
              </a:rPr>
              <a:t>평균 6, 분산 12 × 1/12 = 1</a:t>
            </a:r>
            <a:endParaRPr lang="en-US" sz="1050" dirty="0"/>
          </a:p>
        </p:txBody>
      </p:sp>
      <p:sp>
        <p:nvSpPr>
          <p:cNvPr id="14" name="Shape 12"/>
          <p:cNvSpPr/>
          <p:nvPr/>
        </p:nvSpPr>
        <p:spPr>
          <a:xfrm>
            <a:off x="5096256" y="4659884"/>
            <a:ext cx="201168" cy="0"/>
          </a:xfrm>
          <a:prstGeom prst="line">
            <a:avLst/>
          </a:prstGeom>
          <a:noFill/>
          <a:ln w="15875">
            <a:solidFill>
              <a:srgbClr val="8794AC"/>
            </a:solidFill>
            <a:prstDash val="solid"/>
            <a:tailEnd type="triangle"/>
          </a:ln>
        </p:spPr>
      </p:sp>
      <p:sp>
        <p:nvSpPr>
          <p:cNvPr id="15" name="Shape 13"/>
          <p:cNvSpPr/>
          <p:nvPr/>
        </p:nvSpPr>
        <p:spPr>
          <a:xfrm>
            <a:off x="5334000" y="4403852"/>
            <a:ext cx="2072640" cy="512064"/>
          </a:xfrm>
          <a:prstGeom prst="rect">
            <a:avLst/>
          </a:prstGeom>
          <a:solidFill>
            <a:srgbClr val="EBF2FE"/>
          </a:solidFill>
          <a:ln w="15875">
            <a:solidFill>
              <a:srgbClr val="2563EB"/>
            </a:solidFill>
            <a:prstDash val="solid"/>
          </a:ln>
        </p:spPr>
      </p:sp>
      <p:sp>
        <p:nvSpPr>
          <p:cNvPr id="16" name="Text 14"/>
          <p:cNvSpPr txBox="1"/>
          <p:nvPr/>
        </p:nvSpPr>
        <p:spPr>
          <a:xfrm>
            <a:off x="5452872" y="4403852"/>
            <a:ext cx="1834896" cy="512064"/>
          </a:xfrm>
          <a:prstGeom prst="rect">
            <a:avLst/>
          </a:prstGeom>
          <a:noFill/>
          <a:ln/>
        </p:spPr>
        <p:txBody>
          <a:bodyPr wrap="square" lIns="0" tIns="0" rIns="0" bIns="0" rtlCol="0" anchor="ctr"/>
          <a:lstStyle/>
          <a:p>
            <a:pPr indent="0" marL="0">
              <a:lnSpc>
                <a:spcPct val="110000"/>
              </a:lnSpc>
              <a:buNone/>
            </a:pPr>
            <a:r>
              <a:rPr lang="en-US" sz="1050" b="1" dirty="0">
                <a:solidFill>
                  <a:srgbClr val="2563EB"/>
                </a:solidFill>
                <a:latin typeface="맑은 고딕" pitchFamily="34" charset="0"/>
                <a:ea typeface="맑은 고딕" pitchFamily="34" charset="-122"/>
                <a:cs typeface="맑은 고딕" pitchFamily="34" charset="-120"/>
              </a:rPr>
              <a:t>12 개 합 − 6</a:t>
            </a:r>
            <a:endParaRPr lang="en-US" sz="1050" dirty="0"/>
          </a:p>
          <a:p>
            <a:pPr indent="0" marL="0">
              <a:lnSpc>
                <a:spcPct val="110000"/>
              </a:lnSpc>
              <a:buNone/>
            </a:pPr>
            <a:r>
              <a:rPr lang="en-US" sz="1050" dirty="0">
                <a:solidFill>
                  <a:srgbClr val="1B2740"/>
                </a:solidFill>
                <a:latin typeface="맑은 고딕" pitchFamily="34" charset="0"/>
                <a:ea typeface="맑은 고딕" pitchFamily="34" charset="-122"/>
                <a:cs typeface="맑은 고딕" pitchFamily="34" charset="-120"/>
              </a:rPr>
              <a:t>평균 0, 표준편차 1 → N(0, 1)</a:t>
            </a:r>
            <a:endParaRPr lang="en-US" sz="1050" dirty="0"/>
          </a:p>
        </p:txBody>
      </p:sp>
      <p:sp>
        <p:nvSpPr>
          <p:cNvPr id="17" name="Text 15"/>
          <p:cNvSpPr txBox="1"/>
          <p:nvPr/>
        </p:nvSpPr>
        <p:spPr>
          <a:xfrm>
            <a:off x="640080" y="4970780"/>
            <a:ext cx="6766560" cy="237744"/>
          </a:xfrm>
          <a:prstGeom prst="rect">
            <a:avLst/>
          </a:prstGeom>
          <a:noFill/>
          <a:ln/>
        </p:spPr>
        <p:txBody>
          <a:bodyPr wrap="square" lIns="0" tIns="0" rIns="0" bIns="0" rtlCol="0" anchor="ctr"/>
          <a:lstStyle/>
          <a:p>
            <a:pPr indent="0" marL="0">
              <a:buNone/>
            </a:pPr>
            <a:r>
              <a:rPr lang="en-US" sz="1100" b="1" dirty="0">
                <a:solidFill>
                  <a:srgbClr val="4A5A7A"/>
                </a:solidFill>
                <a:latin typeface="맑은 고딕" pitchFamily="34" charset="0"/>
                <a:ea typeface="맑은 고딕" pitchFamily="34" charset="-122"/>
                <a:cs typeface="맑은 고딕" pitchFamily="34" charset="-120"/>
              </a:rPr>
              <a:t>많이 더할수록 정규분포에 가까워진다 (중심극한정리)</a:t>
            </a:r>
            <a:endParaRPr lang="en-US" sz="1100" dirty="0"/>
          </a:p>
        </p:txBody>
      </p:sp>
      <p:sp>
        <p:nvSpPr>
          <p:cNvPr id="18" name="Text 16"/>
          <p:cNvSpPr txBox="1"/>
          <p:nvPr/>
        </p:nvSpPr>
        <p:spPr>
          <a:xfrm>
            <a:off x="640080" y="5272532"/>
            <a:ext cx="6766560" cy="219456"/>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플롯 계산: 성분마다 따로 호출</a:t>
            </a:r>
            <a:pPr indent="0" marL="0">
              <a:buNone/>
            </a:pPr>
            <a:r>
              <a:rPr lang="en-US" sz="950" dirty="0">
                <a:solidFill>
                  <a:srgbClr val="8794AC"/>
                </a:solidFill>
                <a:latin typeface="Consolas" pitchFamily="34" charset="0"/>
                <a:ea typeface="Consolas" pitchFamily="34" charset="-122"/>
                <a:cs typeface="Consolas" pitchFamily="34" charset="-120"/>
              </a:rPr>
              <a:t>    PlotSim.c</a:t>
            </a:r>
            <a:endParaRPr lang="en-US" sz="1150" dirty="0"/>
          </a:p>
        </p:txBody>
      </p:sp>
      <p:sp>
        <p:nvSpPr>
          <p:cNvPr id="19" name="Shape 17"/>
          <p:cNvSpPr/>
          <p:nvPr/>
        </p:nvSpPr>
        <p:spPr>
          <a:xfrm>
            <a:off x="640080" y="5519420"/>
            <a:ext cx="6766560" cy="622554"/>
          </a:xfrm>
          <a:prstGeom prst="rect">
            <a:avLst/>
          </a:prstGeom>
          <a:solidFill>
            <a:srgbClr val="FFFFFF"/>
          </a:solidFill>
          <a:ln w="9525">
            <a:solidFill>
              <a:srgbClr val="D2D9E5"/>
            </a:solidFill>
            <a:prstDash val="solid"/>
          </a:ln>
        </p:spPr>
      </p:sp>
      <p:sp>
        <p:nvSpPr>
          <p:cNvPr id="20" name="Text 18"/>
          <p:cNvSpPr txBox="1"/>
          <p:nvPr/>
        </p:nvSpPr>
        <p:spPr>
          <a:xfrm>
            <a:off x="749808" y="5592572"/>
            <a:ext cx="6547104" cy="47625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136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st_Out-&gt;st_Plot[nTarget].r   = st_Out-&gt;st_True[nTarget].r + GAUSS(</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st_Sigma.r);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137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st_Out-&gt;st_Plot[nTarget].az  = st_Out-&gt;st_True[nTarget].az + GAUSS(</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st_Sigma.az);</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st_Out-&gt;st_Plot[nTarget].el  = st_Out-&gt;st_True[nTarget].el + GAUSS(</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st_Sigma.el);</a:t>
            </a:r>
            <a:endParaRPr lang="en-US" sz="950" dirty="0"/>
          </a:p>
        </p:txBody>
      </p:sp>
      <p:pic>
        <p:nvPicPr>
          <p:cNvPr id="21" name="Image 0" descr="gauss_clt">    </p:cNvPr>
          <p:cNvPicPr>
            <a:picLocks noChangeAspect="1"/>
          </p:cNvPicPr>
          <p:nvPr/>
        </p:nvPicPr>
        <p:blipFill>
          <a:blip r:embed="rId1"/>
          <a:stretch>
            <a:fillRect/>
          </a:stretch>
        </p:blipFill>
        <p:spPr>
          <a:xfrm>
            <a:off x="7680960" y="2103120"/>
            <a:ext cx="3867912" cy="3238252"/>
          </a:xfrm>
          <a:prstGeom prst="rect">
            <a:avLst/>
          </a:prstGeom>
        </p:spPr>
      </p:pic>
      <p:sp>
        <p:nvSpPr>
          <p:cNvPr id="22" name="Text 19"/>
          <p:cNvSpPr txBox="1"/>
          <p:nvPr/>
        </p:nvSpPr>
        <p:spPr>
          <a:xfrm>
            <a:off x="7726680" y="5414524"/>
            <a:ext cx="3822192" cy="457200"/>
          </a:xfrm>
          <a:prstGeom prst="rect">
            <a:avLst/>
          </a:prstGeom>
          <a:noFill/>
          <a:ln/>
        </p:spPr>
        <p:txBody>
          <a:bodyPr wrap="square" lIns="0" tIns="0" rIns="0" bIns="0" rtlCol="0" anchor="t"/>
          <a:lstStyle/>
          <a:p>
            <a:pPr indent="0" marL="0">
              <a:lnSpc>
                <a:spcPct val="110000"/>
              </a:lnSpc>
              <a:buNone/>
            </a:pPr>
            <a:r>
              <a:rPr lang="en-US" sz="1050" b="1" dirty="0">
                <a:solidFill>
                  <a:srgbClr val="EB6834"/>
                </a:solidFill>
                <a:latin typeface="맑은 고딕" pitchFamily="34" charset="0"/>
                <a:ea typeface="맑은 고딕" pitchFamily="34" charset="-122"/>
                <a:cs typeface="맑은 고딕" pitchFamily="34" charset="-120"/>
              </a:rPr>
              <a:t>주황 곡선: 표준정규분포 N(0, 1)</a:t>
            </a:r>
            <a:endParaRPr lang="en-US" sz="1050" dirty="0"/>
          </a:p>
          <a:p>
            <a:pPr indent="0" marL="0">
              <a:lnSpc>
                <a:spcPct val="110000"/>
              </a:lnSpc>
              <a:buNone/>
            </a:pPr>
            <a:r>
              <a:rPr lang="en-US" sz="1050" dirty="0">
                <a:solidFill>
                  <a:srgbClr val="4A5A7A"/>
                </a:solidFill>
                <a:latin typeface="맑은 고딕" pitchFamily="34" charset="0"/>
                <a:ea typeface="맑은 고딕" pitchFamily="34" charset="-122"/>
                <a:cs typeface="맑은 고딕" pitchFamily="34" charset="-120"/>
              </a:rPr>
              <a:t>더하는 개수가 많아질수록 정규분포와 비슷해진다.</a:t>
            </a:r>
            <a:endParaRPr lang="en-US" sz="10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플롯</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1.6 참값 x : 안테나 기준 거리 · 방위각 · 고각</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과제 3 결과는 ECEF 위치이므로, 레이다(플랫폼) 안테나 기준의 구좌표로 바꾼 뒤 잡음을 더합니다.</a:t>
            </a:r>
            <a:endParaRPr lang="en-US" sz="1250" dirty="0"/>
          </a:p>
        </p:txBody>
      </p:sp>
      <p:sp>
        <p:nvSpPr>
          <p:cNvPr id="5" name="Shape 3"/>
          <p:cNvSpPr/>
          <p:nvPr/>
        </p:nvSpPr>
        <p:spPr>
          <a:xfrm>
            <a:off x="640080" y="2304288"/>
            <a:ext cx="5440680" cy="420624"/>
          </a:xfrm>
          <a:prstGeom prst="roundRect">
            <a:avLst>
              <a:gd name="adj" fmla="val 13043"/>
            </a:avLst>
          </a:prstGeom>
          <a:solidFill>
            <a:srgbClr val="F7F9FC"/>
          </a:solidFill>
          <a:ln w="9525">
            <a:solidFill>
              <a:srgbClr val="D2D9E5"/>
            </a:solidFill>
            <a:prstDash val="solid"/>
          </a:ln>
        </p:spPr>
      </p:sp>
      <p:sp>
        <p:nvSpPr>
          <p:cNvPr id="6" name="Text 4"/>
          <p:cNvSpPr txBox="1"/>
          <p:nvPr/>
        </p:nvSpPr>
        <p:spPr>
          <a:xfrm>
            <a:off x="804672" y="2304288"/>
            <a:ext cx="2377440" cy="420624"/>
          </a:xfrm>
          <a:prstGeom prst="rect">
            <a:avLst/>
          </a:prstGeom>
          <a:noFill/>
          <a:ln/>
        </p:spPr>
        <p:txBody>
          <a:bodyPr wrap="square" lIns="0" tIns="0" rIns="0" bIns="0" rtlCol="0" anchor="ctr"/>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표적 ECEF</a:t>
            </a:r>
            <a:endParaRPr lang="en-US" sz="1200" dirty="0"/>
          </a:p>
        </p:txBody>
      </p:sp>
      <p:sp>
        <p:nvSpPr>
          <p:cNvPr id="7" name="Text 5"/>
          <p:cNvSpPr txBox="1"/>
          <p:nvPr/>
        </p:nvSpPr>
        <p:spPr>
          <a:xfrm>
            <a:off x="3154680" y="2304288"/>
            <a:ext cx="2788920" cy="420624"/>
          </a:xfrm>
          <a:prstGeom prst="rect">
            <a:avLst/>
          </a:prstGeom>
          <a:noFill/>
          <a:ln/>
        </p:spPr>
        <p:txBody>
          <a:bodyPr wrap="square" lIns="0" tIns="0" rIns="0" bIns="0" rtlCol="0" anchor="ctr"/>
          <a:lstStyle/>
          <a:p>
            <a:pPr indent="0" marL="0">
              <a:buNone/>
            </a:pPr>
            <a:r>
              <a:rPr lang="en-US" sz="1100" dirty="0">
                <a:solidFill>
                  <a:srgbClr val="4A5A7A"/>
                </a:solidFill>
                <a:latin typeface="맑은 고딕" pitchFamily="34" charset="0"/>
                <a:ea typeface="맑은 고딕" pitchFamily="34" charset="-122"/>
                <a:cs typeface="맑은 고딕" pitchFamily="34" charset="-120"/>
              </a:rPr>
              <a:t>과제 3 결과 (지구 중심 기준)</a:t>
            </a:r>
            <a:endParaRPr lang="en-US" sz="1100" dirty="0"/>
          </a:p>
        </p:txBody>
      </p:sp>
      <p:sp>
        <p:nvSpPr>
          <p:cNvPr id="8" name="Shape 6"/>
          <p:cNvSpPr/>
          <p:nvPr/>
        </p:nvSpPr>
        <p:spPr>
          <a:xfrm>
            <a:off x="1051560" y="2752344"/>
            <a:ext cx="0" cy="246888"/>
          </a:xfrm>
          <a:prstGeom prst="line">
            <a:avLst/>
          </a:prstGeom>
          <a:noFill/>
          <a:ln w="15875">
            <a:solidFill>
              <a:srgbClr val="8794AC"/>
            </a:solidFill>
            <a:prstDash val="solid"/>
            <a:tailEnd type="triangle"/>
          </a:ln>
        </p:spPr>
      </p:sp>
      <p:sp>
        <p:nvSpPr>
          <p:cNvPr id="9" name="Text 7"/>
          <p:cNvSpPr txBox="1"/>
          <p:nvPr/>
        </p:nvSpPr>
        <p:spPr>
          <a:xfrm>
            <a:off x="1234440" y="2743200"/>
            <a:ext cx="4800600" cy="265176"/>
          </a:xfrm>
          <a:prstGeom prst="rect">
            <a:avLst/>
          </a:prstGeom>
          <a:noFill/>
          <a:ln/>
        </p:spPr>
        <p:txBody>
          <a:bodyPr wrap="square" lIns="0" tIns="0" rIns="0" bIns="0" rtlCol="0" anchor="ctr"/>
          <a:lstStyle/>
          <a:p>
            <a:pPr indent="0" marL="0">
              <a:buNone/>
            </a:pPr>
            <a:r>
              <a:rPr lang="en-US" sz="1000" dirty="0">
                <a:solidFill>
                  <a:srgbClr val="6B7890"/>
                </a:solidFill>
                <a:latin typeface="Consolas" pitchFamily="34" charset="0"/>
                <a:ea typeface="Consolas" pitchFamily="34" charset="-122"/>
                <a:cs typeface="Consolas" pitchFamily="34" charset="-120"/>
              </a:rPr>
              <a:t>f_Trans_Ecef_To_Ned</a:t>
            </a:r>
            <a:pPr indent="0" marL="0">
              <a:buNone/>
            </a:pPr>
            <a:r>
              <a:rPr lang="en-US" sz="1000" dirty="0">
                <a:solidFill>
                  <a:srgbClr val="6B7890"/>
                </a:solidFill>
                <a:latin typeface="맑은 고딕" pitchFamily="34" charset="0"/>
                <a:ea typeface="맑은 고딕" pitchFamily="34" charset="-122"/>
                <a:cs typeface="맑은 고딕" pitchFamily="34" charset="-120"/>
              </a:rPr>
              <a:t>  (플랫폼 위치 · 위경도)</a:t>
            </a:r>
            <a:endParaRPr lang="en-US" sz="1000" dirty="0"/>
          </a:p>
        </p:txBody>
      </p:sp>
      <p:sp>
        <p:nvSpPr>
          <p:cNvPr id="10" name="Shape 8"/>
          <p:cNvSpPr/>
          <p:nvPr/>
        </p:nvSpPr>
        <p:spPr>
          <a:xfrm>
            <a:off x="640080" y="3026664"/>
            <a:ext cx="5440680" cy="420624"/>
          </a:xfrm>
          <a:prstGeom prst="roundRect">
            <a:avLst>
              <a:gd name="adj" fmla="val 13043"/>
            </a:avLst>
          </a:prstGeom>
          <a:solidFill>
            <a:srgbClr val="F7F9FC"/>
          </a:solidFill>
          <a:ln w="9525">
            <a:solidFill>
              <a:srgbClr val="D2D9E5"/>
            </a:solidFill>
            <a:prstDash val="solid"/>
          </a:ln>
        </p:spPr>
      </p:sp>
      <p:sp>
        <p:nvSpPr>
          <p:cNvPr id="11" name="Text 9"/>
          <p:cNvSpPr txBox="1"/>
          <p:nvPr/>
        </p:nvSpPr>
        <p:spPr>
          <a:xfrm>
            <a:off x="804672" y="3026664"/>
            <a:ext cx="2377440" cy="420624"/>
          </a:xfrm>
          <a:prstGeom prst="rect">
            <a:avLst/>
          </a:prstGeom>
          <a:noFill/>
          <a:ln/>
        </p:spPr>
        <p:txBody>
          <a:bodyPr wrap="square" lIns="0" tIns="0" rIns="0" bIns="0" rtlCol="0" anchor="ctr"/>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NED</a:t>
            </a:r>
            <a:endParaRPr lang="en-US" sz="1200" dirty="0"/>
          </a:p>
        </p:txBody>
      </p:sp>
      <p:sp>
        <p:nvSpPr>
          <p:cNvPr id="12" name="Text 10"/>
          <p:cNvSpPr txBox="1"/>
          <p:nvPr/>
        </p:nvSpPr>
        <p:spPr>
          <a:xfrm>
            <a:off x="3154680" y="3026664"/>
            <a:ext cx="2788920" cy="420624"/>
          </a:xfrm>
          <a:prstGeom prst="rect">
            <a:avLst/>
          </a:prstGeom>
          <a:noFill/>
          <a:ln/>
        </p:spPr>
        <p:txBody>
          <a:bodyPr wrap="square" lIns="0" tIns="0" rIns="0" bIns="0" rtlCol="0" anchor="ctr"/>
          <a:lstStyle/>
          <a:p>
            <a:pPr indent="0" marL="0">
              <a:buNone/>
            </a:pPr>
            <a:r>
              <a:rPr lang="en-US" sz="1100" dirty="0">
                <a:solidFill>
                  <a:srgbClr val="4A5A7A"/>
                </a:solidFill>
                <a:latin typeface="맑은 고딕" pitchFamily="34" charset="0"/>
                <a:ea typeface="맑은 고딕" pitchFamily="34" charset="-122"/>
                <a:cs typeface="맑은 고딕" pitchFamily="34" charset="-120"/>
              </a:rPr>
              <a:t>플랫폼 기준 북 · 동 · 아래</a:t>
            </a:r>
            <a:endParaRPr lang="en-US" sz="1100" dirty="0"/>
          </a:p>
        </p:txBody>
      </p:sp>
      <p:sp>
        <p:nvSpPr>
          <p:cNvPr id="13" name="Shape 11"/>
          <p:cNvSpPr/>
          <p:nvPr/>
        </p:nvSpPr>
        <p:spPr>
          <a:xfrm>
            <a:off x="1051560" y="3474720"/>
            <a:ext cx="0" cy="246888"/>
          </a:xfrm>
          <a:prstGeom prst="line">
            <a:avLst/>
          </a:prstGeom>
          <a:noFill/>
          <a:ln w="15875">
            <a:solidFill>
              <a:srgbClr val="8794AC"/>
            </a:solidFill>
            <a:prstDash val="solid"/>
            <a:tailEnd type="triangle"/>
          </a:ln>
        </p:spPr>
      </p:sp>
      <p:sp>
        <p:nvSpPr>
          <p:cNvPr id="14" name="Text 12"/>
          <p:cNvSpPr txBox="1"/>
          <p:nvPr/>
        </p:nvSpPr>
        <p:spPr>
          <a:xfrm>
            <a:off x="1234440" y="3465576"/>
            <a:ext cx="4800600" cy="265176"/>
          </a:xfrm>
          <a:prstGeom prst="rect">
            <a:avLst/>
          </a:prstGeom>
          <a:noFill/>
          <a:ln/>
        </p:spPr>
        <p:txBody>
          <a:bodyPr wrap="square" lIns="0" tIns="0" rIns="0" bIns="0" rtlCol="0" anchor="ctr"/>
          <a:lstStyle/>
          <a:p>
            <a:pPr indent="0" marL="0">
              <a:buNone/>
            </a:pPr>
            <a:r>
              <a:rPr lang="en-US" sz="1000" dirty="0">
                <a:solidFill>
                  <a:srgbClr val="6B7890"/>
                </a:solidFill>
                <a:latin typeface="Consolas" pitchFamily="34" charset="0"/>
                <a:ea typeface="Consolas" pitchFamily="34" charset="-122"/>
                <a:cs typeface="Consolas" pitchFamily="34" charset="-120"/>
              </a:rPr>
              <a:t>f_Trans_Ned_To_Body</a:t>
            </a:r>
            <a:pPr indent="0" marL="0">
              <a:buNone/>
            </a:pPr>
            <a:r>
              <a:rPr lang="en-US" sz="1000" dirty="0">
                <a:solidFill>
                  <a:srgbClr val="6B7890"/>
                </a:solidFill>
                <a:latin typeface="맑은 고딕" pitchFamily="34" charset="0"/>
                <a:ea typeface="맑은 고딕" pitchFamily="34" charset="-122"/>
                <a:cs typeface="맑은 고딕" pitchFamily="34" charset="-120"/>
              </a:rPr>
              <a:t>  (플랫폼 자세)</a:t>
            </a:r>
            <a:endParaRPr lang="en-US" sz="1000" dirty="0"/>
          </a:p>
        </p:txBody>
      </p:sp>
      <p:sp>
        <p:nvSpPr>
          <p:cNvPr id="15" name="Shape 13"/>
          <p:cNvSpPr/>
          <p:nvPr/>
        </p:nvSpPr>
        <p:spPr>
          <a:xfrm>
            <a:off x="640080" y="3749040"/>
            <a:ext cx="5440680" cy="420624"/>
          </a:xfrm>
          <a:prstGeom prst="roundRect">
            <a:avLst>
              <a:gd name="adj" fmla="val 13043"/>
            </a:avLst>
          </a:prstGeom>
          <a:solidFill>
            <a:srgbClr val="F7F9FC"/>
          </a:solidFill>
          <a:ln w="9525">
            <a:solidFill>
              <a:srgbClr val="D2D9E5"/>
            </a:solidFill>
            <a:prstDash val="solid"/>
          </a:ln>
        </p:spPr>
      </p:sp>
      <p:sp>
        <p:nvSpPr>
          <p:cNvPr id="16" name="Text 14"/>
          <p:cNvSpPr txBox="1"/>
          <p:nvPr/>
        </p:nvSpPr>
        <p:spPr>
          <a:xfrm>
            <a:off x="804672" y="3749040"/>
            <a:ext cx="2377440" cy="420624"/>
          </a:xfrm>
          <a:prstGeom prst="rect">
            <a:avLst/>
          </a:prstGeom>
          <a:noFill/>
          <a:ln/>
        </p:spPr>
        <p:txBody>
          <a:bodyPr wrap="square" lIns="0" tIns="0" rIns="0" bIns="0" rtlCol="0" anchor="ctr"/>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동체</a:t>
            </a:r>
            <a:endParaRPr lang="en-US" sz="1200" dirty="0"/>
          </a:p>
        </p:txBody>
      </p:sp>
      <p:sp>
        <p:nvSpPr>
          <p:cNvPr id="17" name="Text 15"/>
          <p:cNvSpPr txBox="1"/>
          <p:nvPr/>
        </p:nvSpPr>
        <p:spPr>
          <a:xfrm>
            <a:off x="3154680" y="3749040"/>
            <a:ext cx="2788920" cy="420624"/>
          </a:xfrm>
          <a:prstGeom prst="rect">
            <a:avLst/>
          </a:prstGeom>
          <a:noFill/>
          <a:ln/>
        </p:spPr>
        <p:txBody>
          <a:bodyPr wrap="square" lIns="0" tIns="0" rIns="0" bIns="0" rtlCol="0" anchor="ctr"/>
          <a:lstStyle/>
          <a:p>
            <a:pPr indent="0" marL="0">
              <a:buNone/>
            </a:pPr>
            <a:r>
              <a:rPr lang="en-US" sz="1100" dirty="0">
                <a:solidFill>
                  <a:srgbClr val="4A5A7A"/>
                </a:solidFill>
                <a:latin typeface="맑은 고딕" pitchFamily="34" charset="0"/>
                <a:ea typeface="맑은 고딕" pitchFamily="34" charset="-122"/>
                <a:cs typeface="맑은 고딕" pitchFamily="34" charset="-120"/>
              </a:rPr>
              <a:t>플랫폼 선수 · 우현 · 아래</a:t>
            </a:r>
            <a:endParaRPr lang="en-US" sz="1100" dirty="0"/>
          </a:p>
        </p:txBody>
      </p:sp>
      <p:sp>
        <p:nvSpPr>
          <p:cNvPr id="18" name="Shape 16"/>
          <p:cNvSpPr/>
          <p:nvPr/>
        </p:nvSpPr>
        <p:spPr>
          <a:xfrm>
            <a:off x="1051560" y="4197096"/>
            <a:ext cx="0" cy="246888"/>
          </a:xfrm>
          <a:prstGeom prst="line">
            <a:avLst/>
          </a:prstGeom>
          <a:noFill/>
          <a:ln w="15875">
            <a:solidFill>
              <a:srgbClr val="8794AC"/>
            </a:solidFill>
            <a:prstDash val="solid"/>
            <a:tailEnd type="triangle"/>
          </a:ln>
        </p:spPr>
      </p:sp>
      <p:sp>
        <p:nvSpPr>
          <p:cNvPr id="19" name="Text 17"/>
          <p:cNvSpPr txBox="1"/>
          <p:nvPr/>
        </p:nvSpPr>
        <p:spPr>
          <a:xfrm>
            <a:off x="1234440" y="4187952"/>
            <a:ext cx="4800600" cy="265176"/>
          </a:xfrm>
          <a:prstGeom prst="rect">
            <a:avLst/>
          </a:prstGeom>
          <a:noFill/>
          <a:ln/>
        </p:spPr>
        <p:txBody>
          <a:bodyPr wrap="square" lIns="0" tIns="0" rIns="0" bIns="0" rtlCol="0" anchor="ctr"/>
          <a:lstStyle/>
          <a:p>
            <a:pPr indent="0" marL="0">
              <a:buNone/>
            </a:pPr>
            <a:r>
              <a:rPr lang="en-US" sz="1000" dirty="0">
                <a:solidFill>
                  <a:srgbClr val="6B7890"/>
                </a:solidFill>
                <a:latin typeface="Consolas" pitchFamily="34" charset="0"/>
                <a:ea typeface="Consolas" pitchFamily="34" charset="-122"/>
                <a:cs typeface="Consolas" pitchFamily="34" charset="-120"/>
              </a:rPr>
              <a:t>f_Trans_Body_To_Ant</a:t>
            </a:r>
            <a:pPr indent="0" marL="0">
              <a:buNone/>
            </a:pPr>
            <a:r>
              <a:rPr lang="en-US" sz="1000" dirty="0">
                <a:solidFill>
                  <a:srgbClr val="6B7890"/>
                </a:solidFill>
                <a:latin typeface="맑은 고딕" pitchFamily="34" charset="0"/>
                <a:ea typeface="맑은 고딕" pitchFamily="34" charset="-122"/>
                <a:cs typeface="맑은 고딕" pitchFamily="34" charset="-120"/>
              </a:rPr>
              <a:t>  (축 바꾸기)</a:t>
            </a:r>
            <a:endParaRPr lang="en-US" sz="1000" dirty="0"/>
          </a:p>
        </p:txBody>
      </p:sp>
      <p:sp>
        <p:nvSpPr>
          <p:cNvPr id="20" name="Shape 18"/>
          <p:cNvSpPr/>
          <p:nvPr/>
        </p:nvSpPr>
        <p:spPr>
          <a:xfrm>
            <a:off x="640080" y="4471416"/>
            <a:ext cx="5440680" cy="420624"/>
          </a:xfrm>
          <a:prstGeom prst="roundRect">
            <a:avLst>
              <a:gd name="adj" fmla="val 13043"/>
            </a:avLst>
          </a:prstGeom>
          <a:solidFill>
            <a:srgbClr val="F7F9FC"/>
          </a:solidFill>
          <a:ln w="9525">
            <a:solidFill>
              <a:srgbClr val="D2D9E5"/>
            </a:solidFill>
            <a:prstDash val="solid"/>
          </a:ln>
        </p:spPr>
      </p:sp>
      <p:sp>
        <p:nvSpPr>
          <p:cNvPr id="21" name="Text 19"/>
          <p:cNvSpPr txBox="1"/>
          <p:nvPr/>
        </p:nvSpPr>
        <p:spPr>
          <a:xfrm>
            <a:off x="804672" y="4471416"/>
            <a:ext cx="2377440" cy="420624"/>
          </a:xfrm>
          <a:prstGeom prst="rect">
            <a:avLst/>
          </a:prstGeom>
          <a:noFill/>
          <a:ln/>
        </p:spPr>
        <p:txBody>
          <a:bodyPr wrap="square" lIns="0" tIns="0" rIns="0" bIns="0" rtlCol="0" anchor="ctr"/>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안테나</a:t>
            </a:r>
            <a:endParaRPr lang="en-US" sz="1200" dirty="0"/>
          </a:p>
        </p:txBody>
      </p:sp>
      <p:sp>
        <p:nvSpPr>
          <p:cNvPr id="22" name="Text 20"/>
          <p:cNvSpPr txBox="1"/>
          <p:nvPr/>
        </p:nvSpPr>
        <p:spPr>
          <a:xfrm>
            <a:off x="3154680" y="4471416"/>
            <a:ext cx="2788920" cy="420624"/>
          </a:xfrm>
          <a:prstGeom prst="rect">
            <a:avLst/>
          </a:prstGeom>
          <a:noFill/>
          <a:ln/>
        </p:spPr>
        <p:txBody>
          <a:bodyPr wrap="square" lIns="0" tIns="0" rIns="0" bIns="0" rtlCol="0" anchor="ctr"/>
          <a:lstStyle/>
          <a:p>
            <a:pPr indent="0" marL="0">
              <a:buNone/>
            </a:pPr>
            <a:r>
              <a:rPr lang="en-US" sz="1100" dirty="0">
                <a:solidFill>
                  <a:srgbClr val="4A5A7A"/>
                </a:solidFill>
                <a:latin typeface="맑은 고딕" pitchFamily="34" charset="0"/>
                <a:ea typeface="맑은 고딕" pitchFamily="34" charset="-122"/>
                <a:cs typeface="맑은 고딕" pitchFamily="34" charset="-120"/>
              </a:rPr>
              <a:t>왼쪽 · 위 · 조준축 방향 직교좌표</a:t>
            </a:r>
            <a:endParaRPr lang="en-US" sz="1100" dirty="0"/>
          </a:p>
        </p:txBody>
      </p:sp>
      <p:sp>
        <p:nvSpPr>
          <p:cNvPr id="23" name="Shape 21"/>
          <p:cNvSpPr/>
          <p:nvPr/>
        </p:nvSpPr>
        <p:spPr>
          <a:xfrm>
            <a:off x="1051560" y="4919472"/>
            <a:ext cx="0" cy="246888"/>
          </a:xfrm>
          <a:prstGeom prst="line">
            <a:avLst/>
          </a:prstGeom>
          <a:noFill/>
          <a:ln w="15875">
            <a:solidFill>
              <a:srgbClr val="8794AC"/>
            </a:solidFill>
            <a:prstDash val="solid"/>
            <a:tailEnd type="triangle"/>
          </a:ln>
        </p:spPr>
      </p:sp>
      <p:sp>
        <p:nvSpPr>
          <p:cNvPr id="24" name="Text 22"/>
          <p:cNvSpPr txBox="1"/>
          <p:nvPr/>
        </p:nvSpPr>
        <p:spPr>
          <a:xfrm>
            <a:off x="1234440" y="4910328"/>
            <a:ext cx="4800600" cy="265176"/>
          </a:xfrm>
          <a:prstGeom prst="rect">
            <a:avLst/>
          </a:prstGeom>
          <a:noFill/>
          <a:ln/>
        </p:spPr>
        <p:txBody>
          <a:bodyPr wrap="square" lIns="0" tIns="0" rIns="0" bIns="0" rtlCol="0" anchor="ctr"/>
          <a:lstStyle/>
          <a:p>
            <a:pPr indent="0" marL="0">
              <a:buNone/>
            </a:pPr>
            <a:r>
              <a:rPr lang="en-US" sz="1000" dirty="0">
                <a:solidFill>
                  <a:srgbClr val="6B7890"/>
                </a:solidFill>
                <a:latin typeface="Consolas" pitchFamily="34" charset="0"/>
                <a:ea typeface="Consolas" pitchFamily="34" charset="-122"/>
                <a:cs typeface="Consolas" pitchFamily="34" charset="-120"/>
              </a:rPr>
              <a:t>f_Trans_Ant_XYZ_To_Sph</a:t>
            </a:r>
            <a:pPr indent="0" marL="0">
              <a:buNone/>
            </a:pPr>
            <a:endParaRPr lang="en-US" sz="1000" dirty="0"/>
          </a:p>
        </p:txBody>
      </p:sp>
      <p:sp>
        <p:nvSpPr>
          <p:cNvPr id="25" name="Shape 23"/>
          <p:cNvSpPr/>
          <p:nvPr/>
        </p:nvSpPr>
        <p:spPr>
          <a:xfrm>
            <a:off x="640080" y="5193792"/>
            <a:ext cx="5440680" cy="420624"/>
          </a:xfrm>
          <a:prstGeom prst="roundRect">
            <a:avLst>
              <a:gd name="adj" fmla="val 13043"/>
            </a:avLst>
          </a:prstGeom>
          <a:solidFill>
            <a:srgbClr val="EBF2FE"/>
          </a:solidFill>
          <a:ln w="9525">
            <a:solidFill>
              <a:srgbClr val="2563EB"/>
            </a:solidFill>
            <a:prstDash val="solid"/>
          </a:ln>
        </p:spPr>
      </p:sp>
      <p:sp>
        <p:nvSpPr>
          <p:cNvPr id="26" name="Text 24"/>
          <p:cNvSpPr txBox="1"/>
          <p:nvPr/>
        </p:nvSpPr>
        <p:spPr>
          <a:xfrm>
            <a:off x="804672" y="5193792"/>
            <a:ext cx="2377440" cy="420624"/>
          </a:xfrm>
          <a:prstGeom prst="rect">
            <a:avLst/>
          </a:prstGeom>
          <a:noFill/>
          <a:ln/>
        </p:spPr>
        <p:txBody>
          <a:bodyPr wrap="square" lIns="0" tIns="0" rIns="0" bIns="0" rtlCol="0" anchor="ctr"/>
          <a:lstStyle/>
          <a:p>
            <a:pPr indent="0" marL="0">
              <a:buNone/>
            </a:pPr>
            <a:r>
              <a:rPr lang="en-US" sz="1200" b="1" dirty="0">
                <a:solidFill>
                  <a:srgbClr val="2563EB"/>
                </a:solidFill>
                <a:latin typeface="맑은 고딕" pitchFamily="34" charset="0"/>
                <a:ea typeface="맑은 고딕" pitchFamily="34" charset="-122"/>
                <a:cs typeface="맑은 고딕" pitchFamily="34" charset="-120"/>
              </a:rPr>
              <a:t>구좌표  x = (r, az, el)</a:t>
            </a:r>
            <a:endParaRPr lang="en-US" sz="1200" dirty="0"/>
          </a:p>
        </p:txBody>
      </p:sp>
      <p:sp>
        <p:nvSpPr>
          <p:cNvPr id="27" name="Text 25"/>
          <p:cNvSpPr txBox="1"/>
          <p:nvPr/>
        </p:nvSpPr>
        <p:spPr>
          <a:xfrm>
            <a:off x="3154680" y="5193792"/>
            <a:ext cx="2788920" cy="420624"/>
          </a:xfrm>
          <a:prstGeom prst="rect">
            <a:avLst/>
          </a:prstGeom>
          <a:noFill/>
          <a:ln/>
        </p:spPr>
        <p:txBody>
          <a:bodyPr wrap="square" lIns="0" tIns="0" rIns="0" bIns="0" rtlCol="0" anchor="ctr"/>
          <a:lstStyle/>
          <a:p>
            <a:pPr indent="0" marL="0">
              <a:buNone/>
            </a:pPr>
            <a:r>
              <a:rPr lang="en-US" sz="1100" dirty="0">
                <a:solidFill>
                  <a:srgbClr val="4A5A7A"/>
                </a:solidFill>
                <a:latin typeface="맑은 고딕" pitchFamily="34" charset="0"/>
                <a:ea typeface="맑은 고딕" pitchFamily="34" charset="-122"/>
                <a:cs typeface="맑은 고딕" pitchFamily="34" charset="-120"/>
              </a:rPr>
              <a:t>거리 · 방위각 · 고각</a:t>
            </a:r>
            <a:endParaRPr lang="en-US" sz="1100" dirty="0"/>
          </a:p>
        </p:txBody>
      </p:sp>
      <p:sp>
        <p:nvSpPr>
          <p:cNvPr id="28" name="Shape 26"/>
          <p:cNvSpPr/>
          <p:nvPr/>
        </p:nvSpPr>
        <p:spPr>
          <a:xfrm>
            <a:off x="640080" y="5724144"/>
            <a:ext cx="5440680" cy="457200"/>
          </a:xfrm>
          <a:prstGeom prst="roundRect">
            <a:avLst>
              <a:gd name="adj" fmla="val 12000"/>
            </a:avLst>
          </a:prstGeom>
          <a:solidFill>
            <a:srgbClr val="F7F9FC"/>
          </a:solidFill>
          <a:ln/>
        </p:spPr>
      </p:sp>
      <p:sp>
        <p:nvSpPr>
          <p:cNvPr id="29" name="Text 27"/>
          <p:cNvSpPr txBox="1"/>
          <p:nvPr/>
        </p:nvSpPr>
        <p:spPr>
          <a:xfrm>
            <a:off x="841248" y="5724144"/>
            <a:ext cx="5038344" cy="457200"/>
          </a:xfrm>
          <a:prstGeom prst="rect">
            <a:avLst/>
          </a:prstGeom>
          <a:noFill/>
          <a:ln/>
        </p:spPr>
        <p:txBody>
          <a:bodyPr wrap="square" lIns="0" tIns="0" rIns="0" bIns="0" rtlCol="0" anchor="ctr"/>
          <a:lstStyle/>
          <a:p>
            <a:pPr indent="0" marL="0">
              <a:lnSpc>
                <a:spcPct val="108000"/>
              </a:lnSpc>
              <a:buNone/>
            </a:pPr>
            <a:r>
              <a:rPr lang="en-US" sz="1100" b="1" dirty="0">
                <a:solidFill>
                  <a:srgbClr val="1B2740"/>
                </a:solidFill>
                <a:latin typeface="맑은 고딕" pitchFamily="34" charset="0"/>
                <a:ea typeface="맑은 고딕" pitchFamily="34" charset="-122"/>
                <a:cs typeface="맑은 고딕" pitchFamily="34" charset="-120"/>
              </a:rPr>
              <a:t>전시할 때는 거꾸로  </a:t>
            </a:r>
            <a:pPr indent="0" marL="0">
              <a:lnSpc>
                <a:spcPct val="108000"/>
              </a:lnSpc>
              <a:buNone/>
            </a:pPr>
            <a:r>
              <a:rPr lang="en-US" sz="1100" dirty="0">
                <a:solidFill>
                  <a:srgbClr val="1B2740"/>
                </a:solidFill>
                <a:latin typeface="맑은 고딕" pitchFamily="34" charset="0"/>
                <a:ea typeface="맑은 고딕" pitchFamily="34" charset="-122"/>
                <a:cs typeface="맑은 고딕" pitchFamily="34" charset="-120"/>
              </a:rPr>
              <a:t>구좌표 → 안테나 → 동체 → NED → ECEF → LLA (3.4)</a:t>
            </a:r>
            <a:endParaRPr lang="en-US" sz="1100" dirty="0"/>
          </a:p>
        </p:txBody>
      </p:sp>
      <p:sp>
        <p:nvSpPr>
          <p:cNvPr id="30" name="Text 28"/>
          <p:cNvSpPr txBox="1"/>
          <p:nvPr/>
        </p:nvSpPr>
        <p:spPr>
          <a:xfrm>
            <a:off x="6355080" y="2267712"/>
            <a:ext cx="5193792" cy="256032"/>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참값 x = (r, az, el) 이 뜻하는 것</a:t>
            </a:r>
            <a:endParaRPr lang="en-US" sz="1150" dirty="0"/>
          </a:p>
        </p:txBody>
      </p:sp>
      <p:pic>
        <p:nvPicPr>
          <p:cNvPr id="31" name="Image 0" descr="sph_def">    </p:cNvPr>
          <p:cNvPicPr>
            <a:picLocks noChangeAspect="1"/>
          </p:cNvPicPr>
          <p:nvPr/>
        </p:nvPicPr>
        <p:blipFill>
          <a:blip r:embed="rId1"/>
          <a:stretch>
            <a:fillRect/>
          </a:stretch>
        </p:blipFill>
        <p:spPr>
          <a:xfrm>
            <a:off x="6391656" y="2560320"/>
            <a:ext cx="5120640" cy="2147892"/>
          </a:xfrm>
          <a:prstGeom prst="rect">
            <a:avLst/>
          </a:prstGeom>
        </p:spPr>
      </p:pic>
      <p:sp>
        <p:nvSpPr>
          <p:cNvPr id="32" name="Shape 29"/>
          <p:cNvSpPr/>
          <p:nvPr/>
        </p:nvSpPr>
        <p:spPr>
          <a:xfrm>
            <a:off x="6355080" y="4781364"/>
            <a:ext cx="5193792" cy="1390836"/>
          </a:xfrm>
          <a:prstGeom prst="roundRect">
            <a:avLst>
              <a:gd name="adj" fmla="val 3945"/>
            </a:avLst>
          </a:prstGeom>
          <a:solidFill>
            <a:srgbClr val="F7F9FC"/>
          </a:solidFill>
          <a:ln w="9525">
            <a:solidFill>
              <a:srgbClr val="D2D9E5"/>
            </a:solidFill>
            <a:prstDash val="solid"/>
          </a:ln>
        </p:spPr>
      </p:sp>
      <p:pic>
        <p:nvPicPr>
          <p:cNvPr id="33" name="Image 1" descr="earth_curve">    </p:cNvPr>
          <p:cNvPicPr>
            <a:picLocks noChangeAspect="1"/>
          </p:cNvPicPr>
          <p:nvPr/>
        </p:nvPicPr>
        <p:blipFill>
          <a:blip r:embed="rId2"/>
          <a:stretch>
            <a:fillRect/>
          </a:stretch>
        </p:blipFill>
        <p:spPr>
          <a:xfrm>
            <a:off x="6464808" y="4806776"/>
            <a:ext cx="2377440" cy="1340012"/>
          </a:xfrm>
          <a:prstGeom prst="rect">
            <a:avLst/>
          </a:prstGeom>
        </p:spPr>
      </p:pic>
      <p:sp>
        <p:nvSpPr>
          <p:cNvPr id="34" name="Text 30"/>
          <p:cNvSpPr txBox="1"/>
          <p:nvPr/>
        </p:nvSpPr>
        <p:spPr>
          <a:xfrm>
            <a:off x="9006840" y="4781364"/>
            <a:ext cx="2432304" cy="1390836"/>
          </a:xfrm>
          <a:prstGeom prst="rect">
            <a:avLst/>
          </a:prstGeom>
          <a:noFill/>
          <a:ln/>
        </p:spPr>
        <p:txBody>
          <a:bodyPr wrap="square" lIns="0" tIns="0" rIns="0" bIns="0" rtlCol="0" anchor="ctr"/>
          <a:lstStyle/>
          <a:p>
            <a:pPr indent="0" marL="0">
              <a:lnSpc>
                <a:spcPct val="108000"/>
              </a:lnSpc>
              <a:buNone/>
            </a:pPr>
            <a:r>
              <a:rPr lang="en-US" sz="1050" b="1" dirty="0">
                <a:solidFill>
                  <a:srgbClr val="1B2740"/>
                </a:solidFill>
                <a:latin typeface="맑은 고딕" pitchFamily="34" charset="0"/>
                <a:ea typeface="맑은 고딕" pitchFamily="34" charset="-122"/>
                <a:cs typeface="맑은 고딕" pitchFamily="34" charset="-120"/>
              </a:rPr>
              <a:t>대공 표적, t = 0 s</a:t>
            </a:r>
            <a:endParaRPr lang="en-US" sz="1050" dirty="0"/>
          </a:p>
          <a:p>
            <a:pPr indent="0" marL="0">
              <a:lnSpc>
                <a:spcPct val="108000"/>
              </a:lnSpc>
              <a:buNone/>
            </a:pPr>
            <a:r>
              <a:rPr lang="en-US" sz="1050" dirty="0">
                <a:solidFill>
                  <a:srgbClr val="1B2740"/>
                </a:solidFill>
                <a:latin typeface="맑은 고딕" pitchFamily="34" charset="0"/>
                <a:ea typeface="맑은 고딕" pitchFamily="34" charset="-122"/>
                <a:cs typeface="맑은 고딕" pitchFamily="34" charset="-120"/>
              </a:rPr>
              <a:t>정북 13.3 km, 고도 300 m</a:t>
            </a:r>
            <a:endParaRPr lang="en-US" sz="1050" dirty="0"/>
          </a:p>
          <a:p>
            <a:pPr indent="0" marL="0">
              <a:lnSpc>
                <a:spcPct val="108000"/>
              </a:lnSpc>
              <a:buNone/>
            </a:pPr>
            <a:r>
              <a:rPr lang="en-US" sz="1050" b="1" dirty="0">
                <a:solidFill>
                  <a:srgbClr val="2563EB"/>
                </a:solidFill>
                <a:latin typeface="맑은 고딕" pitchFamily="34" charset="0"/>
                <a:ea typeface="맑은 고딕" pitchFamily="34" charset="-122"/>
                <a:cs typeface="맑은 고딕" pitchFamily="34" charset="-120"/>
              </a:rPr>
              <a:t>→ x = (13,310.2 m, 0°, 1.23°)</a:t>
            </a:r>
            <a:endParaRPr lang="en-US" sz="1050" dirty="0"/>
          </a:p>
          <a:p>
            <a:pPr indent="0" marL="0">
              <a:lnSpc>
                <a:spcPct val="108000"/>
              </a:lnSpc>
              <a:buNone/>
            </a:pPr>
            <a:r>
              <a:rPr lang="en-US" sz="1050" dirty="0">
                <a:solidFill>
                  <a:srgbClr val="4A5A7A"/>
                </a:solidFill>
                <a:latin typeface="맑은 고딕" pitchFamily="34" charset="0"/>
                <a:ea typeface="맑은 고딕" pitchFamily="34" charset="-122"/>
                <a:cs typeface="맑은 고딕" pitchFamily="34" charset="-120"/>
              </a:rPr>
              <a:t>지면이 13.9 m 휘어 내려가</a:t>
            </a:r>
            <a:endParaRPr lang="en-US" sz="1050" dirty="0"/>
          </a:p>
          <a:p>
            <a:pPr indent="0" marL="0">
              <a:lnSpc>
                <a:spcPct val="108000"/>
              </a:lnSpc>
              <a:buNone/>
            </a:pPr>
            <a:r>
              <a:rPr lang="en-US" sz="1050" dirty="0">
                <a:solidFill>
                  <a:srgbClr val="4A5A7A"/>
                </a:solidFill>
                <a:latin typeface="맑은 고딕" pitchFamily="34" charset="0"/>
                <a:ea typeface="맑은 고딕" pitchFamily="34" charset="-122"/>
                <a:cs typeface="맑은 고딕" pitchFamily="34" charset="-120"/>
              </a:rPr>
              <a:t>표적은 수평면 위 286 m</a:t>
            </a:r>
            <a:endParaRPr lang="en-US" sz="1050" dirty="0"/>
          </a:p>
          <a:p>
            <a:pPr indent="0" marL="0">
              <a:lnSpc>
                <a:spcPct val="108000"/>
              </a:lnSpc>
              <a:buNone/>
            </a:pPr>
            <a:r>
              <a:rPr lang="en-US" sz="1050" dirty="0">
                <a:solidFill>
                  <a:srgbClr val="4A5A7A"/>
                </a:solidFill>
                <a:latin typeface="맑은 고딕" pitchFamily="34" charset="0"/>
                <a:ea typeface="맑은 고딕" pitchFamily="34" charset="-122"/>
                <a:cs typeface="맑은 고딕" pitchFamily="34" charset="-120"/>
              </a:rPr>
              <a:t>286 ÷ 13,310 → 1.23° (평면이면 1.29°)</a:t>
            </a:r>
            <a:endParaRPr lang="en-US" sz="10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플롯</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1.7 각도 오차는 멀수록 커집니다</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방위각 · 고각 오차는 각도라서, 같은 0.478° 라도 레이다에서 멀수록 더 큰 위치 오차가 됩니다.</a:t>
            </a:r>
            <a:endParaRPr lang="en-US" sz="1250" dirty="0"/>
          </a:p>
        </p:txBody>
      </p:sp>
      <p:pic>
        <p:nvPicPr>
          <p:cNvPr id="5" name="Image 0" descr="angle_geom">    </p:cNvPr>
          <p:cNvPicPr>
            <a:picLocks noChangeAspect="1"/>
          </p:cNvPicPr>
          <p:nvPr/>
        </p:nvPicPr>
        <p:blipFill>
          <a:blip r:embed="rId1"/>
          <a:stretch>
            <a:fillRect/>
          </a:stretch>
        </p:blipFill>
        <p:spPr>
          <a:xfrm>
            <a:off x="640080" y="2249424"/>
            <a:ext cx="4709160" cy="3803552"/>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715000" y="2331720"/>
          <a:ext cx="5833872" cy="914400"/>
        </p:xfrm>
        <a:graphic>
          <a:graphicData uri="http://schemas.openxmlformats.org/drawingml/2006/table">
            <a:tbl>
              <a:tblPr/>
              <a:tblGrid>
                <a:gridCol w="1417320"/>
                <a:gridCol w="2057400"/>
                <a:gridCol w="1097280"/>
                <a:gridCol w="1261872"/>
              </a:tblGrid>
              <a:tr h="402336">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방향</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위치 오차</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r" indent="0" marL="0">
                        <a:buNone/>
                      </a:pPr>
                      <a:r>
                        <a:rPr lang="en-US" sz="1200" b="1" dirty="0">
                          <a:solidFill>
                            <a:srgbClr val="FFFFFF"/>
                          </a:solidFill>
                          <a:latin typeface="맑은 고딕" pitchFamily="34" charset="0"/>
                          <a:ea typeface="맑은 고딕" pitchFamily="34" charset="-122"/>
                          <a:cs typeface="맑은 고딕" pitchFamily="34" charset="-120"/>
                        </a:rPr>
                        <a:t>13.3 km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c>
                  <a:txBody>
                    <a:bodyPr/>
                    <a:lstStyle/>
                    <a:p>
                      <a:pPr algn="r" indent="0" marL="0">
                        <a:buNone/>
                      </a:pPr>
                      <a:r>
                        <a:rPr lang="en-US" sz="1200" b="1" dirty="0">
                          <a:solidFill>
                            <a:srgbClr val="FFFFFF"/>
                          </a:solidFill>
                          <a:latin typeface="맑은 고딕" pitchFamily="34" charset="0"/>
                          <a:ea typeface="맑은 고딕" pitchFamily="34" charset="-122"/>
                          <a:cs typeface="맑은 고딕" pitchFamily="34" charset="-120"/>
                        </a:rPr>
                        <a:t>1.4 km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1B2740"/>
                    </a:solidFill>
                  </a:tcPr>
                </a:tc>
              </a:tr>
              <a:tr h="402336">
                <a:tc>
                  <a:txBody>
                    <a:bodyPr/>
                    <a:lstStyle/>
                    <a:p>
                      <a:pPr algn="l" indent="0" marL="0">
                        <a:buNone/>
                      </a:pPr>
                      <a:r>
                        <a:rPr lang="en-US" sz="1200" dirty="0">
                          <a:solidFill>
                            <a:srgbClr val="1B2740"/>
                          </a:solidFill>
                          <a:latin typeface="맑은 고딕" pitchFamily="34" charset="0"/>
                          <a:ea typeface="맑은 고딕" pitchFamily="34" charset="-122"/>
                          <a:cs typeface="맑은 고딕" pitchFamily="34" charset="-120"/>
                        </a:rPr>
                        <a:t>거리 방향</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40"/>
                          </a:solidFill>
                          <a:latin typeface="맑은 고딕" pitchFamily="34" charset="0"/>
                          <a:ea typeface="맑은 고딕" pitchFamily="34" charset="-122"/>
                          <a:cs typeface="맑은 고딕" pitchFamily="34" charset="-120"/>
                        </a:rPr>
                        <a:t>p</a:t>
                      </a:r>
                      <a:pPr algn="l" indent="0" marL="0">
                        <a:buNone/>
                      </a:pPr>
                      <a:r>
                        <a:rPr lang="en-US" sz="1200" baseline="-40000" dirty="0">
                          <a:solidFill>
                            <a:srgbClr val="1B2740"/>
                          </a:solidFill>
                          <a:latin typeface="맑은 고딕" pitchFamily="34" charset="0"/>
                          <a:ea typeface="맑은 고딕" pitchFamily="34" charset="-122"/>
                          <a:cs typeface="맑은 고딕" pitchFamily="34" charset="-120"/>
                        </a:rPr>
                        <a:t>rng</a:t>
                      </a:r>
                      <a:pPr algn="l" indent="0" marL="0">
                        <a:buNone/>
                      </a:pPr>
                      <a:r>
                        <a:rPr lang="en-US" sz="1200" dirty="0">
                          <a:solidFill>
                            <a:srgbClr val="1B2740"/>
                          </a:solidFill>
                          <a:latin typeface="맑은 고딕" pitchFamily="34" charset="0"/>
                          <a:ea typeface="맑은 고딕" pitchFamily="34" charset="-122"/>
                          <a:cs typeface="맑은 고딕" pitchFamily="34" charset="-120"/>
                        </a:rPr>
                        <a:t> 그대로</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40"/>
                          </a:solidFill>
                          <a:latin typeface="맑은 고딕" pitchFamily="34" charset="0"/>
                          <a:ea typeface="맑은 고딕" pitchFamily="34" charset="-122"/>
                          <a:cs typeface="맑은 고딕" pitchFamily="34" charset="-120"/>
                        </a:rPr>
                        <a:t>±4.74 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740"/>
                          </a:solidFill>
                          <a:latin typeface="맑은 고딕" pitchFamily="34" charset="0"/>
                          <a:ea typeface="맑은 고딕" pitchFamily="34" charset="-122"/>
                          <a:cs typeface="맑은 고딕" pitchFamily="34" charset="-120"/>
                        </a:rPr>
                        <a:t>±4.74 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1B2740"/>
                          </a:solidFill>
                          <a:latin typeface="맑은 고딕" pitchFamily="34" charset="0"/>
                          <a:ea typeface="맑은 고딕" pitchFamily="34" charset="-122"/>
                          <a:cs typeface="맑은 고딕" pitchFamily="34" charset="-120"/>
                        </a:rPr>
                        <a:t>옆 (방위각)</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l" indent="0" marL="0">
                        <a:buNone/>
                      </a:pPr>
                      <a:r>
                        <a:rPr lang="en-US" sz="1200" dirty="0">
                          <a:solidFill>
                            <a:srgbClr val="1B2740"/>
                          </a:solidFill>
                          <a:latin typeface="맑은 고딕" pitchFamily="34" charset="0"/>
                          <a:ea typeface="맑은 고딕" pitchFamily="34" charset="-122"/>
                          <a:cs typeface="맑은 고딕" pitchFamily="34" charset="-120"/>
                        </a:rPr>
                        <a:t>거리 × p</a:t>
                      </a:r>
                      <a:pPr algn="l" indent="0" marL="0">
                        <a:buNone/>
                      </a:pPr>
                      <a:r>
                        <a:rPr lang="en-US" sz="1200" baseline="-40000" dirty="0">
                          <a:solidFill>
                            <a:srgbClr val="1B2740"/>
                          </a:solidFill>
                          <a:latin typeface="맑은 고딕" pitchFamily="34" charset="0"/>
                          <a:ea typeface="맑은 고딕" pitchFamily="34" charset="-122"/>
                          <a:cs typeface="맑은 고딕" pitchFamily="34" charset="-120"/>
                        </a:rPr>
                        <a:t>azi</a:t>
                      </a:r>
                      <a:pPr algn="l" indent="0" marL="0">
                        <a:buNone/>
                      </a:pPr>
                      <a:r>
                        <a:rPr lang="en-US" sz="1200" dirty="0">
                          <a:solidFill>
                            <a:srgbClr val="1B2740"/>
                          </a:solidFill>
                          <a:latin typeface="맑은 고딕" pitchFamily="34" charset="0"/>
                          <a:ea typeface="맑은 고딕" pitchFamily="34" charset="-122"/>
                          <a:cs typeface="맑은 고딕" pitchFamily="34" charset="-120"/>
                        </a:rPr>
                        <a:t> [rad]</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r" indent="0" marL="0">
                        <a:buNone/>
                      </a:pPr>
                      <a:r>
                        <a:rPr lang="en-US" sz="1200" b="1" dirty="0">
                          <a:solidFill>
                            <a:srgbClr val="DC2626"/>
                          </a:solidFill>
                          <a:latin typeface="맑은 고딕" pitchFamily="34" charset="0"/>
                          <a:ea typeface="맑은 고딕" pitchFamily="34" charset="-122"/>
                          <a:cs typeface="맑은 고딕" pitchFamily="34" charset="-120"/>
                        </a:rPr>
                        <a:t>±111 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c>
                  <a:txBody>
                    <a:bodyPr/>
                    <a:lstStyle/>
                    <a:p>
                      <a:pPr algn="r" indent="0" marL="0">
                        <a:buNone/>
                      </a:pPr>
                      <a:r>
                        <a:rPr lang="en-US" sz="1200" b="1" dirty="0">
                          <a:solidFill>
                            <a:srgbClr val="DC2626"/>
                          </a:solidFill>
                          <a:latin typeface="맑은 고딕" pitchFamily="34" charset="0"/>
                          <a:ea typeface="맑은 고딕" pitchFamily="34" charset="-122"/>
                          <a:cs typeface="맑은 고딕" pitchFamily="34" charset="-120"/>
                        </a:rPr>
                        <a:t>±11 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7F9FC"/>
                    </a:solidFill>
                  </a:tcPr>
                </a:tc>
              </a:tr>
              <a:tr h="402336">
                <a:tc>
                  <a:txBody>
                    <a:bodyPr/>
                    <a:lstStyle/>
                    <a:p>
                      <a:pPr algn="l" indent="0" marL="0">
                        <a:buNone/>
                      </a:pPr>
                      <a:r>
                        <a:rPr lang="en-US" sz="1200" dirty="0">
                          <a:solidFill>
                            <a:srgbClr val="1B2740"/>
                          </a:solidFill>
                          <a:latin typeface="맑은 고딕" pitchFamily="34" charset="0"/>
                          <a:ea typeface="맑은 고딕" pitchFamily="34" charset="-122"/>
                          <a:cs typeface="맑은 고딕" pitchFamily="34" charset="-120"/>
                        </a:rPr>
                        <a:t>위아래 (고각)</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740"/>
                          </a:solidFill>
                          <a:latin typeface="맑은 고딕" pitchFamily="34" charset="0"/>
                          <a:ea typeface="맑은 고딕" pitchFamily="34" charset="-122"/>
                          <a:cs typeface="맑은 고딕" pitchFamily="34" charset="-120"/>
                        </a:rPr>
                        <a:t>거리 × p</a:t>
                      </a:r>
                      <a:pPr algn="l" indent="0" marL="0">
                        <a:buNone/>
                      </a:pPr>
                      <a:r>
                        <a:rPr lang="en-US" sz="1200" baseline="-40000" dirty="0">
                          <a:solidFill>
                            <a:srgbClr val="1B2740"/>
                          </a:solidFill>
                          <a:latin typeface="맑은 고딕" pitchFamily="34" charset="0"/>
                          <a:ea typeface="맑은 고딕" pitchFamily="34" charset="-122"/>
                          <a:cs typeface="맑은 고딕" pitchFamily="34" charset="-120"/>
                        </a:rPr>
                        <a:t>ele</a:t>
                      </a:r>
                      <a:pPr algn="l" indent="0" marL="0">
                        <a:buNone/>
                      </a:pPr>
                      <a:r>
                        <a:rPr lang="en-US" sz="1200" dirty="0">
                          <a:solidFill>
                            <a:srgbClr val="1B2740"/>
                          </a:solidFill>
                          <a:latin typeface="맑은 고딕" pitchFamily="34" charset="0"/>
                          <a:ea typeface="맑은 고딕" pitchFamily="34" charset="-122"/>
                          <a:cs typeface="맑은 고딕" pitchFamily="34" charset="-120"/>
                        </a:rPr>
                        <a:t> [rad]</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C2626"/>
                          </a:solidFill>
                          <a:latin typeface="맑은 고딕" pitchFamily="34" charset="0"/>
                          <a:ea typeface="맑은 고딕" pitchFamily="34" charset="-122"/>
                          <a:cs typeface="맑은 고딕" pitchFamily="34" charset="-120"/>
                        </a:rPr>
                        <a:t>±115 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C2626"/>
                          </a:solidFill>
                          <a:latin typeface="맑은 고딕" pitchFamily="34" charset="0"/>
                          <a:ea typeface="맑은 고딕" pitchFamily="34" charset="-122"/>
                          <a:cs typeface="맑은 고딕" pitchFamily="34" charset="-120"/>
                        </a:rPr>
                        <a:t>±12 m</a:t>
                      </a:r>
                      <a:endParaRPr lang="en-US" sz="1200" dirty="0">
                        <a:latin typeface="맑은 고딕" charset="0"/>
                        <a:ea typeface="맑은 고딕" charset="0"/>
                        <a:cs typeface="맑은 고딕" charset="0"/>
                      </a:endParaRPr>
                    </a:p>
                  </a:txBody>
                  <a:tcPr marL="82296" marR="82296" marT="27432" marB="27432" anchor="ctr">
                    <a:lnL w="9525" cap="flat" cmpd="sng" algn="ctr">
                      <a:solidFill>
                        <a:srgbClr val="D2D9E5"/>
                      </a:solidFill>
                      <a:prstDash val="solid"/>
                      <a:round/>
                      <a:headEnd type="none" w="med" len="med"/>
                      <a:tailEnd type="none" w="med" len="med"/>
                    </a:lnL>
                    <a:lnR w="9525" cap="flat" cmpd="sng" algn="ctr">
                      <a:solidFill>
                        <a:srgbClr val="D2D9E5"/>
                      </a:solidFill>
                      <a:prstDash val="solid"/>
                      <a:round/>
                      <a:headEnd type="none" w="med" len="med"/>
                      <a:tailEnd type="none" w="med" len="med"/>
                    </a:lnR>
                    <a:lnT w="9525" cap="flat" cmpd="sng" algn="ctr">
                      <a:solidFill>
                        <a:srgbClr val="D2D9E5"/>
                      </a:solidFill>
                      <a:prstDash val="solid"/>
                      <a:round/>
                      <a:headEnd type="none" w="med" len="med"/>
                      <a:tailEnd type="none" w="med" len="med"/>
                    </a:lnT>
                    <a:lnB w="9525" cap="flat" cmpd="sng" algn="ctr">
                      <a:solidFill>
                        <a:srgbClr val="D2D9E5"/>
                      </a:solidFill>
                      <a:prstDash val="solid"/>
                      <a:round/>
                      <a:headEnd type="none" w="med" len="med"/>
                      <a:tailEnd type="none" w="med" len="med"/>
                    </a:lnB>
                    <a:solidFill>
                      <a:srgbClr val="FFFFFF"/>
                    </a:solidFill>
                  </a:tcPr>
                </a:tc>
              </a:tr>
            </a:tbl>
          </a:graphicData>
        </a:graphic>
      </p:graphicFrame>
      <p:sp>
        <p:nvSpPr>
          <p:cNvPr id="7" name="Shape 3"/>
          <p:cNvSpPr/>
          <p:nvPr/>
        </p:nvSpPr>
        <p:spPr>
          <a:xfrm>
            <a:off x="5715000" y="4069080"/>
            <a:ext cx="5833872" cy="749808"/>
          </a:xfrm>
          <a:prstGeom prst="roundRect">
            <a:avLst>
              <a:gd name="adj" fmla="val 7317"/>
            </a:avLst>
          </a:prstGeom>
          <a:solidFill>
            <a:srgbClr val="F7F9FC"/>
          </a:solidFill>
          <a:ln w="9525">
            <a:solidFill>
              <a:srgbClr val="D2D9E5"/>
            </a:solidFill>
            <a:prstDash val="solid"/>
          </a:ln>
        </p:spPr>
      </p:sp>
      <p:sp>
        <p:nvSpPr>
          <p:cNvPr id="8" name="Text 4"/>
          <p:cNvSpPr txBox="1"/>
          <p:nvPr/>
        </p:nvSpPr>
        <p:spPr>
          <a:xfrm>
            <a:off x="5916168" y="4069080"/>
            <a:ext cx="5431536" cy="749808"/>
          </a:xfrm>
          <a:prstGeom prst="rect">
            <a:avLst/>
          </a:prstGeom>
          <a:noFill/>
          <a:ln/>
        </p:spPr>
        <p:txBody>
          <a:bodyPr wrap="square" lIns="0" tIns="0" rIns="0" bIns="0" rtlCol="0" anchor="ctr"/>
          <a:lstStyle/>
          <a:p>
            <a:pPr indent="0" marL="0">
              <a:buNone/>
            </a:pPr>
            <a:r>
              <a:rPr lang="en-US" sz="1200" b="1" dirty="0">
                <a:solidFill>
                  <a:srgbClr val="1B2740"/>
                </a:solidFill>
                <a:latin typeface="맑은 고딕" pitchFamily="34" charset="0"/>
                <a:ea typeface="맑은 고딕" pitchFamily="34" charset="-122"/>
                <a:cs typeface="맑은 고딕" pitchFamily="34" charset="-120"/>
              </a:rPr>
              <a:t>계산 예  </a:t>
            </a:r>
            <a:pPr indent="0" marL="0">
              <a:buNone/>
            </a:pPr>
            <a:r>
              <a:rPr lang="en-US" sz="1200" dirty="0">
                <a:solidFill>
                  <a:srgbClr val="1B2740"/>
                </a:solidFill>
                <a:latin typeface="맑은 고딕" pitchFamily="34" charset="0"/>
                <a:ea typeface="맑은 고딕" pitchFamily="34" charset="-122"/>
                <a:cs typeface="맑은 고딕" pitchFamily="34" charset="-120"/>
              </a:rPr>
              <a:t>0.478° = 0.00834 rad  →  13,310 m × 0.00834 = 111 m</a:t>
            </a:r>
            <a:endParaRPr lang="en-US" sz="1200" dirty="0"/>
          </a:p>
        </p:txBody>
      </p:sp>
      <p:sp>
        <p:nvSpPr>
          <p:cNvPr id="9" name="Shape 5"/>
          <p:cNvSpPr/>
          <p:nvPr/>
        </p:nvSpPr>
        <p:spPr>
          <a:xfrm>
            <a:off x="5715000" y="5074920"/>
            <a:ext cx="5833872" cy="1033272"/>
          </a:xfrm>
          <a:prstGeom prst="roundRect">
            <a:avLst>
              <a:gd name="adj" fmla="val 5310"/>
            </a:avLst>
          </a:prstGeom>
          <a:solidFill>
            <a:srgbClr val="FDEEEE"/>
          </a:solidFill>
          <a:ln/>
        </p:spPr>
      </p:sp>
      <p:sp>
        <p:nvSpPr>
          <p:cNvPr id="10" name="Text 6"/>
          <p:cNvSpPr txBox="1"/>
          <p:nvPr/>
        </p:nvSpPr>
        <p:spPr>
          <a:xfrm>
            <a:off x="5916168" y="5074920"/>
            <a:ext cx="5431536" cy="1033272"/>
          </a:xfrm>
          <a:prstGeom prst="rect">
            <a:avLst/>
          </a:prstGeom>
          <a:noFill/>
          <a:ln/>
        </p:spPr>
        <p:txBody>
          <a:bodyPr wrap="square" lIns="0" tIns="0" rIns="0" bIns="0" rtlCol="0" anchor="ctr"/>
          <a:lstStyle/>
          <a:p>
            <a:pPr indent="0" marL="0">
              <a:lnSpc>
                <a:spcPct val="108000"/>
              </a:lnSpc>
              <a:buNone/>
            </a:pPr>
            <a:r>
              <a:rPr lang="en-US" sz="1200" b="1" dirty="0">
                <a:solidFill>
                  <a:srgbClr val="DC2626"/>
                </a:solidFill>
                <a:latin typeface="맑은 고딕" pitchFamily="34" charset="0"/>
                <a:ea typeface="맑은 고딕" pitchFamily="34" charset="-122"/>
                <a:cs typeface="맑은 고딕" pitchFamily="34" charset="-120"/>
              </a:rPr>
              <a:t>그래서  </a:t>
            </a:r>
            <a:pPr indent="0" marL="0">
              <a:lnSpc>
                <a:spcPct val="108000"/>
              </a:lnSpc>
              <a:buNone/>
            </a:pPr>
            <a:r>
              <a:rPr lang="en-US" sz="1200" dirty="0">
                <a:solidFill>
                  <a:srgbClr val="1B2740"/>
                </a:solidFill>
                <a:latin typeface="맑은 고딕" pitchFamily="34" charset="0"/>
                <a:ea typeface="맑은 고딕" pitchFamily="34" charset="-122"/>
                <a:cs typeface="맑은 고딕" pitchFamily="34" charset="-120"/>
              </a:rPr>
              <a:t>플롯은 표적이 멀 때 옆으로 넓게 퍼지고, 다가올수록 좁아진다. 대공 표적은 13.3 km 에서 1.4 km 까지 다가오므로 이 변화가 결과 화면에 그대로 보인다 (4.4).</a:t>
            </a:r>
            <a:endParaRPr lang="en-US" sz="120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859536" y="914400"/>
            <a:ext cx="9144000" cy="475488"/>
          </a:xfrm>
          <a:prstGeom prst="rect">
            <a:avLst/>
          </a:prstGeom>
          <a:noFill/>
          <a:ln/>
        </p:spPr>
        <p:txBody>
          <a:bodyPr wrap="square" lIns="0" tIns="0" rIns="0" bIns="0" rtlCol="0" anchor="ctr"/>
          <a:lstStyle/>
          <a:p>
            <a:pPr indent="0" marL="0">
              <a:buNone/>
            </a:pPr>
            <a:r>
              <a:rPr lang="en-US" sz="2400" b="1" dirty="0">
                <a:solidFill>
                  <a:srgbClr val="1B2740"/>
                </a:solidFill>
                <a:latin typeface="맑은 고딕" pitchFamily="34" charset="0"/>
                <a:ea typeface="맑은 고딕" pitchFamily="34" charset="-122"/>
                <a:cs typeface="맑은 고딕" pitchFamily="34" charset="-120"/>
              </a:rPr>
              <a:t>02. 클러터</a:t>
            </a:r>
            <a:endParaRPr lang="en-US" sz="2400" dirty="0"/>
          </a:p>
        </p:txBody>
      </p:sp>
      <p:sp>
        <p:nvSpPr>
          <p:cNvPr id="3" name="Text 1"/>
          <p:cNvSpPr txBox="1"/>
          <p:nvPr/>
        </p:nvSpPr>
        <p:spPr>
          <a:xfrm>
            <a:off x="859536" y="1444752"/>
            <a:ext cx="10588752" cy="304495"/>
          </a:xfrm>
          <a:prstGeom prst="rect">
            <a:avLst/>
          </a:prstGeom>
          <a:noFill/>
          <a:ln/>
        </p:spPr>
        <p:txBody>
          <a:bodyPr wrap="square" lIns="0" tIns="0" rIns="0" bIns="0" rtlCol="0" anchor="ctr"/>
          <a:lstStyle/>
          <a:p>
            <a:pPr indent="0" marL="0">
              <a:buNone/>
            </a:pPr>
            <a:r>
              <a:rPr lang="en-US" sz="1300" dirty="0">
                <a:solidFill>
                  <a:srgbClr val="1B2740"/>
                </a:solidFill>
                <a:latin typeface="맑은 고딕" pitchFamily="34" charset="0"/>
                <a:ea typeface="맑은 고딕" pitchFamily="34" charset="-122"/>
                <a:cs typeface="맑은 고딕" pitchFamily="34" charset="-120"/>
              </a:rPr>
              <a:t>클러터가 무엇인지 보고, 이번 과제에서 클러터를 어떻게 뽑는지 설명합니다.</a:t>
            </a:r>
            <a:endParaRPr lang="en-US" sz="1300" dirty="0"/>
          </a:p>
        </p:txBody>
      </p:sp>
      <p:sp>
        <p:nvSpPr>
          <p:cNvPr id="4" name="Text 2"/>
          <p:cNvSpPr txBox="1"/>
          <p:nvPr/>
        </p:nvSpPr>
        <p:spPr>
          <a:xfrm>
            <a:off x="859536" y="2057400"/>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2.1</a:t>
            </a:r>
            <a:endParaRPr lang="en-US" sz="1400" dirty="0"/>
          </a:p>
        </p:txBody>
      </p:sp>
      <p:sp>
        <p:nvSpPr>
          <p:cNvPr id="5" name="Text 3"/>
          <p:cNvSpPr txBox="1"/>
          <p:nvPr/>
        </p:nvSpPr>
        <p:spPr>
          <a:xfrm>
            <a:off x="1418234" y="2057400"/>
            <a:ext cx="391414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클러터는 표적이 아닌 것에서 돌아온 탐지입니다</a:t>
            </a:r>
            <a:endParaRPr lang="en-US" sz="1400" dirty="0"/>
          </a:p>
        </p:txBody>
      </p:sp>
      <p:sp>
        <p:nvSpPr>
          <p:cNvPr id="6" name="Shape 4"/>
          <p:cNvSpPr/>
          <p:nvPr/>
        </p:nvSpPr>
        <p:spPr>
          <a:xfrm>
            <a:off x="5396382" y="2311603"/>
            <a:ext cx="5213401" cy="0"/>
          </a:xfrm>
          <a:prstGeom prst="line">
            <a:avLst/>
          </a:prstGeom>
          <a:noFill/>
          <a:ln w="15875">
            <a:solidFill>
              <a:srgbClr val="AEB9CC"/>
            </a:solidFill>
            <a:prstDash val="sysDot"/>
          </a:ln>
        </p:spPr>
      </p:sp>
      <p:sp>
        <p:nvSpPr>
          <p:cNvPr id="7" name="Text 5"/>
          <p:cNvSpPr txBox="1"/>
          <p:nvPr/>
        </p:nvSpPr>
        <p:spPr>
          <a:xfrm>
            <a:off x="10736885" y="2057400"/>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12</a:t>
            </a:r>
            <a:endParaRPr lang="en-US" sz="1300" dirty="0"/>
          </a:p>
        </p:txBody>
      </p:sp>
      <p:sp>
        <p:nvSpPr>
          <p:cNvPr id="8" name="Text 6"/>
          <p:cNvSpPr txBox="1"/>
          <p:nvPr/>
        </p:nvSpPr>
        <p:spPr>
          <a:xfrm>
            <a:off x="859536" y="2463851"/>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2.2</a:t>
            </a:r>
            <a:endParaRPr lang="en-US" sz="1400" dirty="0"/>
          </a:p>
        </p:txBody>
      </p:sp>
      <p:sp>
        <p:nvSpPr>
          <p:cNvPr id="9" name="Text 7"/>
          <p:cNvSpPr txBox="1"/>
          <p:nvPr/>
        </p:nvSpPr>
        <p:spPr>
          <a:xfrm>
            <a:off x="1418234" y="2463851"/>
            <a:ext cx="144272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클러터 모의 방법</a:t>
            </a:r>
            <a:endParaRPr lang="en-US" sz="1400" dirty="0"/>
          </a:p>
        </p:txBody>
      </p:sp>
      <p:sp>
        <p:nvSpPr>
          <p:cNvPr id="10" name="Shape 8"/>
          <p:cNvSpPr/>
          <p:nvPr/>
        </p:nvSpPr>
        <p:spPr>
          <a:xfrm>
            <a:off x="2924962" y="2718054"/>
            <a:ext cx="7684821" cy="0"/>
          </a:xfrm>
          <a:prstGeom prst="line">
            <a:avLst/>
          </a:prstGeom>
          <a:noFill/>
          <a:ln w="15875">
            <a:solidFill>
              <a:srgbClr val="AEB9CC"/>
            </a:solidFill>
            <a:prstDash val="sysDot"/>
          </a:ln>
        </p:spPr>
      </p:sp>
      <p:sp>
        <p:nvSpPr>
          <p:cNvPr id="11" name="Text 9"/>
          <p:cNvSpPr txBox="1"/>
          <p:nvPr/>
        </p:nvSpPr>
        <p:spPr>
          <a:xfrm>
            <a:off x="10736885" y="2463851"/>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13</a:t>
            </a:r>
            <a:endParaRPr lang="en-US" sz="130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클러터</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2.1 클러터는 표적이 아닌 것에서 돌아온 탐지입니다</a:t>
            </a:r>
            <a:endParaRPr lang="en-US" sz="2100" dirty="0"/>
          </a:p>
        </p:txBody>
      </p:sp>
      <p:sp>
        <p:nvSpPr>
          <p:cNvPr id="4" name="Text 2"/>
          <p:cNvSpPr txBox="1"/>
          <p:nvPr/>
        </p:nvSpPr>
        <p:spPr>
          <a:xfrm>
            <a:off x="640080" y="1965960"/>
            <a:ext cx="6309360" cy="274320"/>
          </a:xfrm>
          <a:prstGeom prst="rect">
            <a:avLst/>
          </a:prstGeom>
          <a:noFill/>
          <a:ln/>
        </p:spPr>
        <p:txBody>
          <a:bodyPr wrap="square" lIns="0" tIns="0" rIns="0" bIns="0" rtlCol="0" anchor="ctr"/>
          <a:lstStyle/>
          <a:p>
            <a:pPr indent="0" marL="0">
              <a:buNone/>
            </a:pPr>
            <a:r>
              <a:rPr lang="en-US" sz="1250" b="1" dirty="0">
                <a:solidFill>
                  <a:srgbClr val="1B2740"/>
                </a:solidFill>
                <a:latin typeface="맑은 고딕" pitchFamily="34" charset="0"/>
                <a:ea typeface="맑은 고딕" pitchFamily="34" charset="-122"/>
                <a:cs typeface="맑은 고딕" pitchFamily="34" charset="-120"/>
              </a:rPr>
              <a:t>클러터가 생기는 곳</a:t>
            </a:r>
            <a:endParaRPr lang="en-US" sz="1250" dirty="0"/>
          </a:p>
        </p:txBody>
      </p:sp>
      <p:pic>
        <p:nvPicPr>
          <p:cNvPr id="5" name="Image 0" descr="clutter_sources">    </p:cNvPr>
          <p:cNvPicPr>
            <a:picLocks noChangeAspect="1"/>
          </p:cNvPicPr>
          <p:nvPr/>
        </p:nvPicPr>
        <p:blipFill>
          <a:blip r:embed="rId1"/>
          <a:stretch>
            <a:fillRect/>
          </a:stretch>
        </p:blipFill>
        <p:spPr>
          <a:xfrm>
            <a:off x="640080" y="2286000"/>
            <a:ext cx="6309360" cy="2822005"/>
          </a:xfrm>
          <a:prstGeom prst="rect">
            <a:avLst/>
          </a:prstGeom>
        </p:spPr>
      </p:pic>
      <p:sp>
        <p:nvSpPr>
          <p:cNvPr id="6" name="Text 3"/>
          <p:cNvSpPr txBox="1"/>
          <p:nvPr/>
        </p:nvSpPr>
        <p:spPr>
          <a:xfrm>
            <a:off x="7269480" y="1965960"/>
            <a:ext cx="4279392" cy="274320"/>
          </a:xfrm>
          <a:prstGeom prst="rect">
            <a:avLst/>
          </a:prstGeom>
          <a:noFill/>
          <a:ln/>
        </p:spPr>
        <p:txBody>
          <a:bodyPr wrap="square" lIns="0" tIns="0" rIns="0" bIns="0" rtlCol="0" anchor="ctr"/>
          <a:lstStyle/>
          <a:p>
            <a:pPr indent="0" marL="0">
              <a:buNone/>
            </a:pPr>
            <a:r>
              <a:rPr lang="en-US" sz="1250" b="1" dirty="0">
                <a:solidFill>
                  <a:srgbClr val="1B2740"/>
                </a:solidFill>
                <a:latin typeface="맑은 고딕" pitchFamily="34" charset="0"/>
                <a:ea typeface="맑은 고딕" pitchFamily="34" charset="-122"/>
                <a:cs typeface="맑은 고딕" pitchFamily="34" charset="-120"/>
              </a:rPr>
              <a:t>추적 필터가 받는 모습 (예시)</a:t>
            </a:r>
            <a:endParaRPr lang="en-US" sz="1250" dirty="0"/>
          </a:p>
        </p:txBody>
      </p:sp>
      <p:pic>
        <p:nvPicPr>
          <p:cNvPr id="7" name="Image 1" descr="clutter_tracker_view">    </p:cNvPr>
          <p:cNvPicPr>
            <a:picLocks noChangeAspect="1"/>
          </p:cNvPicPr>
          <p:nvPr/>
        </p:nvPicPr>
        <p:blipFill>
          <a:blip r:embed="rId2"/>
          <a:stretch>
            <a:fillRect/>
          </a:stretch>
        </p:blipFill>
        <p:spPr>
          <a:xfrm>
            <a:off x="7269480" y="2286000"/>
            <a:ext cx="4279392" cy="1711757"/>
          </a:xfrm>
          <a:prstGeom prst="rect">
            <a:avLst/>
          </a:prstGeom>
        </p:spPr>
      </p:pic>
      <p:sp>
        <p:nvSpPr>
          <p:cNvPr id="8" name="Text 4"/>
          <p:cNvSpPr txBox="1"/>
          <p:nvPr/>
        </p:nvSpPr>
        <p:spPr>
          <a:xfrm>
            <a:off x="7269480" y="4134917"/>
            <a:ext cx="4279392" cy="932688"/>
          </a:xfrm>
          <a:prstGeom prst="rect">
            <a:avLst/>
          </a:prstGeom>
          <a:noFill/>
          <a:ln/>
        </p:spPr>
        <p:txBody>
          <a:bodyPr wrap="square" lIns="0" tIns="0" rIns="0" bIns="0" rtlCol="0" anchor="t"/>
          <a:lstStyle/>
          <a:p>
            <a:pPr indent="0" marL="0">
              <a:lnSpc>
                <a:spcPct val="120000"/>
              </a:lnSpc>
              <a:buNone/>
            </a:pPr>
            <a:r>
              <a:rPr lang="en-US" sz="1200" dirty="0">
                <a:solidFill>
                  <a:srgbClr val="1B2740"/>
                </a:solidFill>
                <a:latin typeface="맑은 고딕" pitchFamily="34" charset="0"/>
                <a:ea typeface="맑은 고딕" pitchFamily="34" charset="-122"/>
                <a:cs typeface="맑은 고딕" pitchFamily="34" charset="-120"/>
              </a:rPr>
              <a:t>클러터도 거리 · 방위각 · 고각을 가진</a:t>
            </a:r>
            <a:endParaRPr lang="en-US" sz="1200" dirty="0"/>
          </a:p>
          <a:p>
            <a:pPr indent="0" marL="0">
              <a:lnSpc>
                <a:spcPct val="120000"/>
              </a:lnSpc>
              <a:buNone/>
            </a:pPr>
            <a:r>
              <a:rPr lang="en-US" sz="1200" dirty="0">
                <a:solidFill>
                  <a:srgbClr val="1B2740"/>
                </a:solidFill>
                <a:latin typeface="맑은 고딕" pitchFamily="34" charset="0"/>
                <a:ea typeface="맑은 고딕" pitchFamily="34" charset="-122"/>
                <a:cs typeface="맑은 고딕" pitchFamily="34" charset="-120"/>
              </a:rPr>
              <a:t>플롯으로 들어온다.</a:t>
            </a:r>
            <a:endParaRPr lang="en-US" sz="1200" dirty="0"/>
          </a:p>
          <a:p>
            <a:pPr indent="0" marL="0">
              <a:lnSpc>
                <a:spcPct val="120000"/>
              </a:lnSpc>
              <a:buNone/>
            </a:pPr>
            <a:r>
              <a:rPr lang="en-US" sz="1200" b="1" dirty="0">
                <a:solidFill>
                  <a:srgbClr val="1B2740"/>
                </a:solidFill>
                <a:latin typeface="맑은 고딕" pitchFamily="34" charset="0"/>
                <a:ea typeface="맑은 고딕" pitchFamily="34" charset="-122"/>
                <a:cs typeface="맑은 고딕" pitchFamily="34" charset="-120"/>
              </a:rPr>
              <a:t>플롯만 봐서는 표적을 구분할 수 없다.</a:t>
            </a:r>
            <a:endParaRPr lang="en-US" sz="1200" dirty="0"/>
          </a:p>
        </p:txBody>
      </p:sp>
      <p:sp>
        <p:nvSpPr>
          <p:cNvPr id="9" name="Shape 5"/>
          <p:cNvSpPr/>
          <p:nvPr/>
        </p:nvSpPr>
        <p:spPr>
          <a:xfrm>
            <a:off x="640080" y="5303520"/>
            <a:ext cx="5349240" cy="841248"/>
          </a:xfrm>
          <a:prstGeom prst="rect">
            <a:avLst/>
          </a:prstGeom>
          <a:solidFill>
            <a:srgbClr val="F7F9FC"/>
          </a:solidFill>
          <a:ln w="9525">
            <a:solidFill>
              <a:srgbClr val="D2D9E5"/>
            </a:solidFill>
            <a:prstDash val="solid"/>
          </a:ln>
        </p:spPr>
      </p:sp>
      <p:sp>
        <p:nvSpPr>
          <p:cNvPr id="10" name="Text 6"/>
          <p:cNvSpPr txBox="1"/>
          <p:nvPr/>
        </p:nvSpPr>
        <p:spPr>
          <a:xfrm>
            <a:off x="822960" y="5303520"/>
            <a:ext cx="4983480" cy="841248"/>
          </a:xfrm>
          <a:prstGeom prst="rect">
            <a:avLst/>
          </a:prstGeom>
          <a:noFill/>
          <a:ln/>
        </p:spPr>
        <p:txBody>
          <a:bodyPr wrap="square" lIns="0" tIns="0" rIns="0" bIns="0" rtlCol="0" anchor="ctr"/>
          <a:lstStyle/>
          <a:p>
            <a:pPr indent="0" marL="0">
              <a:spcAft>
                <a:spcPts val="300"/>
              </a:spcAft>
              <a:buNone/>
            </a:pPr>
            <a:r>
              <a:rPr lang="en-US" sz="1300" b="1" dirty="0">
                <a:solidFill>
                  <a:srgbClr val="1B2740"/>
                </a:solidFill>
                <a:latin typeface="맑은 고딕" pitchFamily="34" charset="0"/>
                <a:ea typeface="맑은 고딕" pitchFamily="34" charset="-122"/>
                <a:cs typeface="맑은 고딕" pitchFamily="34" charset="-120"/>
              </a:rPr>
              <a:t>실제 클러터를 그대로 만들기는 어렵다</a:t>
            </a:r>
            <a:endParaRPr lang="en-US" sz="1200" dirty="0"/>
          </a:p>
          <a:p>
            <a:pPr indent="0" marL="0">
              <a:buNone/>
            </a:pPr>
            <a:r>
              <a:rPr lang="en-US" sz="1150" dirty="0">
                <a:solidFill>
                  <a:srgbClr val="4A5A7A"/>
                </a:solidFill>
                <a:latin typeface="맑은 고딕" pitchFamily="34" charset="0"/>
                <a:ea typeface="맑은 고딕" pitchFamily="34" charset="-122"/>
                <a:cs typeface="맑은 고딕" pitchFamily="34" charset="-120"/>
              </a:rPr>
              <a:t>바다 상태 · 지형 · 날씨까지 넣어야 하는 별도 연구 분야</a:t>
            </a:r>
            <a:endParaRPr lang="en-US" sz="1200" dirty="0"/>
          </a:p>
        </p:txBody>
      </p:sp>
      <p:sp>
        <p:nvSpPr>
          <p:cNvPr id="11" name="Shape 7"/>
          <p:cNvSpPr/>
          <p:nvPr/>
        </p:nvSpPr>
        <p:spPr>
          <a:xfrm>
            <a:off x="6199632" y="5303520"/>
            <a:ext cx="5349240" cy="841248"/>
          </a:xfrm>
          <a:prstGeom prst="rect">
            <a:avLst/>
          </a:prstGeom>
          <a:solidFill>
            <a:srgbClr val="EBF2FE"/>
          </a:solidFill>
          <a:ln w="12700">
            <a:solidFill>
              <a:srgbClr val="2563EB"/>
            </a:solidFill>
            <a:prstDash val="solid"/>
          </a:ln>
        </p:spPr>
      </p:sp>
      <p:sp>
        <p:nvSpPr>
          <p:cNvPr id="12" name="Text 8"/>
          <p:cNvSpPr txBox="1"/>
          <p:nvPr/>
        </p:nvSpPr>
        <p:spPr>
          <a:xfrm>
            <a:off x="6382512" y="5303520"/>
            <a:ext cx="4983480" cy="841248"/>
          </a:xfrm>
          <a:prstGeom prst="rect">
            <a:avLst/>
          </a:prstGeom>
          <a:noFill/>
          <a:ln/>
        </p:spPr>
        <p:txBody>
          <a:bodyPr wrap="square" lIns="0" tIns="0" rIns="0" bIns="0" rtlCol="0" anchor="ctr"/>
          <a:lstStyle/>
          <a:p>
            <a:pPr indent="0" marL="0">
              <a:spcAft>
                <a:spcPts val="300"/>
              </a:spcAft>
              <a:buNone/>
            </a:pPr>
            <a:r>
              <a:rPr lang="en-US" sz="1300" b="1" dirty="0">
                <a:solidFill>
                  <a:srgbClr val="2563EB"/>
                </a:solidFill>
                <a:latin typeface="맑은 고딕" pitchFamily="34" charset="0"/>
                <a:ea typeface="맑은 고딕" pitchFamily="34" charset="-122"/>
                <a:cs typeface="맑은 고딕" pitchFamily="34" charset="-120"/>
              </a:rPr>
              <a:t>그래서 단순하게 만든다</a:t>
            </a:r>
            <a:endParaRPr lang="en-US" sz="1200" dirty="0"/>
          </a:p>
          <a:p>
            <a:pPr indent="0" marL="0">
              <a:buNone/>
            </a:pPr>
            <a:r>
              <a:rPr lang="en-US" sz="1150" dirty="0">
                <a:solidFill>
                  <a:srgbClr val="4A5A7A"/>
                </a:solidFill>
                <a:latin typeface="맑은 고딕" pitchFamily="34" charset="0"/>
                <a:ea typeface="맑은 고딕" pitchFamily="34" charset="-122"/>
                <a:cs typeface="맑은 고딕" pitchFamily="34" charset="-120"/>
              </a:rPr>
              <a:t>범위 안에 무작위로 생기는 클러터  →  클러터 속 추적 시험에 충분</a:t>
            </a:r>
            <a:endParaRPr lang="en-US" sz="1200" dirty="0"/>
          </a:p>
        </p:txBody>
      </p:sp>
      <p:sp>
        <p:nvSpPr>
          <p:cNvPr id="1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endParaRPr lang="en-US" sz="12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클러터</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2.2 클러터 모의 방법</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스캔마다 정해 둔 개수만큼, 안테나 좌표계의 FOV 안에서 거리, 방위각, 고각을 균등 난수로 뽑습니다.</a:t>
            </a:r>
            <a:endParaRPr lang="en-US" sz="1250" dirty="0"/>
          </a:p>
        </p:txBody>
      </p:sp>
      <p:sp>
        <p:nvSpPr>
          <p:cNvPr id="5" name="Text 3"/>
          <p:cNvSpPr txBox="1"/>
          <p:nvPr/>
        </p:nvSpPr>
        <p:spPr>
          <a:xfrm>
            <a:off x="640080" y="2157984"/>
            <a:ext cx="5486400" cy="274320"/>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모의 절차 세 단계</a:t>
            </a:r>
            <a:endParaRPr lang="en-US" sz="1150" dirty="0"/>
          </a:p>
        </p:txBody>
      </p:sp>
      <p:sp>
        <p:nvSpPr>
          <p:cNvPr id="6" name="Shape 4"/>
          <p:cNvSpPr/>
          <p:nvPr/>
        </p:nvSpPr>
        <p:spPr>
          <a:xfrm>
            <a:off x="640080" y="2487168"/>
            <a:ext cx="3474720" cy="960120"/>
          </a:xfrm>
          <a:prstGeom prst="rect">
            <a:avLst/>
          </a:prstGeom>
          <a:solidFill>
            <a:srgbClr val="FFFFFF"/>
          </a:solidFill>
          <a:ln w="19050">
            <a:solidFill>
              <a:srgbClr val="2563EB"/>
            </a:solidFill>
            <a:prstDash val="solid"/>
          </a:ln>
        </p:spPr>
      </p:sp>
      <p:sp>
        <p:nvSpPr>
          <p:cNvPr id="7" name="Shape 5"/>
          <p:cNvSpPr/>
          <p:nvPr/>
        </p:nvSpPr>
        <p:spPr>
          <a:xfrm>
            <a:off x="640080" y="2487168"/>
            <a:ext cx="3474720" cy="329184"/>
          </a:xfrm>
          <a:prstGeom prst="rect">
            <a:avLst/>
          </a:prstGeom>
          <a:solidFill>
            <a:srgbClr val="2563EB"/>
          </a:solidFill>
          <a:ln/>
        </p:spPr>
      </p:sp>
      <p:sp>
        <p:nvSpPr>
          <p:cNvPr id="8" name="Text 6"/>
          <p:cNvSpPr txBox="1"/>
          <p:nvPr/>
        </p:nvSpPr>
        <p:spPr>
          <a:xfrm>
            <a:off x="804672" y="2487168"/>
            <a:ext cx="3200400" cy="329184"/>
          </a:xfrm>
          <a:prstGeom prst="rect">
            <a:avLst/>
          </a:prstGeom>
          <a:noFill/>
          <a:ln/>
        </p:spPr>
        <p:txBody>
          <a:bodyPr wrap="square" lIns="0" tIns="0" rIns="0" bIns="0" rtlCol="0" anchor="ctr"/>
          <a:lstStyle/>
          <a:p>
            <a:pPr indent="0" marL="0">
              <a:buNone/>
            </a:pPr>
            <a:r>
              <a:rPr lang="en-US" sz="1000" b="1" dirty="0">
                <a:solidFill>
                  <a:srgbClr val="FFFFFF"/>
                </a:solidFill>
                <a:latin typeface="맑은 고딕" pitchFamily="34" charset="0"/>
                <a:ea typeface="맑은 고딕" pitchFamily="34" charset="-122"/>
                <a:cs typeface="맑은 고딕" pitchFamily="34" charset="-120"/>
              </a:rPr>
              <a:t>단계 1    개수 입력</a:t>
            </a:r>
            <a:endParaRPr lang="en-US" sz="1000" dirty="0"/>
          </a:p>
        </p:txBody>
      </p:sp>
      <p:sp>
        <p:nvSpPr>
          <p:cNvPr id="9" name="Text 7"/>
          <p:cNvSpPr txBox="1"/>
          <p:nvPr/>
        </p:nvSpPr>
        <p:spPr>
          <a:xfrm>
            <a:off x="804672" y="2916936"/>
            <a:ext cx="3145536" cy="219456"/>
          </a:xfrm>
          <a:prstGeom prst="rect">
            <a:avLst/>
          </a:prstGeom>
          <a:noFill/>
          <a:ln/>
        </p:spPr>
        <p:txBody>
          <a:bodyPr wrap="square" lIns="0" tIns="0" rIns="0" bIns="0" rtlCol="0" anchor="ctr"/>
          <a:lstStyle/>
          <a:p>
            <a:pPr indent="0" marL="0">
              <a:buNone/>
            </a:pPr>
            <a:r>
              <a:rPr lang="en-US" sz="1050" dirty="0">
                <a:solidFill>
                  <a:srgbClr val="1B2740"/>
                </a:solidFill>
                <a:latin typeface="맑은 고딕" pitchFamily="34" charset="0"/>
                <a:ea typeface="맑은 고딕" pitchFamily="34" charset="-122"/>
                <a:cs typeface="맑은 고딕" pitchFamily="34" charset="-120"/>
              </a:rPr>
              <a:t>한 스캔에 만들 클러터의 최대 개수를 정한다</a:t>
            </a:r>
            <a:endParaRPr lang="en-US" sz="1050" dirty="0"/>
          </a:p>
        </p:txBody>
      </p:sp>
      <p:sp>
        <p:nvSpPr>
          <p:cNvPr id="10" name="Text 8"/>
          <p:cNvSpPr txBox="1"/>
          <p:nvPr/>
        </p:nvSpPr>
        <p:spPr>
          <a:xfrm>
            <a:off x="804672" y="3159252"/>
            <a:ext cx="3145536" cy="201168"/>
          </a:xfrm>
          <a:prstGeom prst="rect">
            <a:avLst/>
          </a:prstGeom>
          <a:noFill/>
          <a:ln/>
        </p:spPr>
        <p:txBody>
          <a:bodyPr wrap="square" lIns="0" tIns="0" rIns="0" bIns="0" rtlCol="0" anchor="ctr"/>
          <a:lstStyle/>
          <a:p>
            <a:pPr indent="0" marL="0">
              <a:buNone/>
            </a:pPr>
            <a:r>
              <a:rPr lang="en-US" sz="950" dirty="0">
                <a:solidFill>
                  <a:srgbClr val="4A5A7A"/>
                </a:solidFill>
                <a:latin typeface="맑은 고딕" pitchFamily="34" charset="0"/>
                <a:ea typeface="맑은 고딕" pitchFamily="34" charset="-122"/>
                <a:cs typeface="맑은 고딕" pitchFamily="34" charset="-120"/>
              </a:rPr>
              <a:t>과제 값: 스캔당 5개</a:t>
            </a:r>
            <a:endParaRPr lang="en-US" sz="950" dirty="0"/>
          </a:p>
        </p:txBody>
      </p:sp>
      <p:sp>
        <p:nvSpPr>
          <p:cNvPr id="11" name="Shape 9"/>
          <p:cNvSpPr/>
          <p:nvPr/>
        </p:nvSpPr>
        <p:spPr>
          <a:xfrm>
            <a:off x="4142232" y="2967228"/>
            <a:ext cx="187452" cy="0"/>
          </a:xfrm>
          <a:prstGeom prst="line">
            <a:avLst/>
          </a:prstGeom>
          <a:noFill/>
          <a:ln w="15875">
            <a:solidFill>
              <a:srgbClr val="8794AC"/>
            </a:solidFill>
            <a:prstDash val="solid"/>
            <a:tailEnd type="triangle"/>
          </a:ln>
        </p:spPr>
      </p:sp>
      <p:sp>
        <p:nvSpPr>
          <p:cNvPr id="12" name="Shape 10"/>
          <p:cNvSpPr/>
          <p:nvPr/>
        </p:nvSpPr>
        <p:spPr>
          <a:xfrm>
            <a:off x="4357116" y="2487168"/>
            <a:ext cx="3474720" cy="960120"/>
          </a:xfrm>
          <a:prstGeom prst="rect">
            <a:avLst/>
          </a:prstGeom>
          <a:solidFill>
            <a:srgbClr val="FFFFFF"/>
          </a:solidFill>
          <a:ln w="19050">
            <a:solidFill>
              <a:srgbClr val="D97706"/>
            </a:solidFill>
            <a:prstDash val="solid"/>
          </a:ln>
        </p:spPr>
      </p:sp>
      <p:sp>
        <p:nvSpPr>
          <p:cNvPr id="13" name="Shape 11"/>
          <p:cNvSpPr/>
          <p:nvPr/>
        </p:nvSpPr>
        <p:spPr>
          <a:xfrm>
            <a:off x="4357116" y="2487168"/>
            <a:ext cx="3474720" cy="329184"/>
          </a:xfrm>
          <a:prstGeom prst="rect">
            <a:avLst/>
          </a:prstGeom>
          <a:solidFill>
            <a:srgbClr val="D97706"/>
          </a:solidFill>
          <a:ln/>
        </p:spPr>
      </p:sp>
      <p:sp>
        <p:nvSpPr>
          <p:cNvPr id="14" name="Text 12"/>
          <p:cNvSpPr txBox="1"/>
          <p:nvPr/>
        </p:nvSpPr>
        <p:spPr>
          <a:xfrm>
            <a:off x="4521708" y="2487168"/>
            <a:ext cx="3200400" cy="329184"/>
          </a:xfrm>
          <a:prstGeom prst="rect">
            <a:avLst/>
          </a:prstGeom>
          <a:noFill/>
          <a:ln/>
        </p:spPr>
        <p:txBody>
          <a:bodyPr wrap="square" lIns="0" tIns="0" rIns="0" bIns="0" rtlCol="0" anchor="ctr"/>
          <a:lstStyle/>
          <a:p>
            <a:pPr indent="0" marL="0">
              <a:buNone/>
            </a:pPr>
            <a:r>
              <a:rPr lang="en-US" sz="1000" b="1" dirty="0">
                <a:solidFill>
                  <a:srgbClr val="FFFFFF"/>
                </a:solidFill>
                <a:latin typeface="맑은 고딕" pitchFamily="34" charset="0"/>
                <a:ea typeface="맑은 고딕" pitchFamily="34" charset="-122"/>
                <a:cs typeface="맑은 고딕" pitchFamily="34" charset="-120"/>
              </a:rPr>
              <a:t>단계 2    FOV 범위 설정</a:t>
            </a:r>
            <a:endParaRPr lang="en-US" sz="1000" dirty="0"/>
          </a:p>
        </p:txBody>
      </p:sp>
      <p:sp>
        <p:nvSpPr>
          <p:cNvPr id="15" name="Text 13"/>
          <p:cNvSpPr txBox="1"/>
          <p:nvPr/>
        </p:nvSpPr>
        <p:spPr>
          <a:xfrm>
            <a:off x="4521708" y="2916936"/>
            <a:ext cx="3145536" cy="219456"/>
          </a:xfrm>
          <a:prstGeom prst="rect">
            <a:avLst/>
          </a:prstGeom>
          <a:noFill/>
          <a:ln/>
        </p:spPr>
        <p:txBody>
          <a:bodyPr wrap="square" lIns="0" tIns="0" rIns="0" bIns="0" rtlCol="0" anchor="ctr"/>
          <a:lstStyle/>
          <a:p>
            <a:pPr indent="0" marL="0">
              <a:buNone/>
            </a:pPr>
            <a:r>
              <a:rPr lang="en-US" sz="1050" dirty="0">
                <a:solidFill>
                  <a:srgbClr val="1B2740"/>
                </a:solidFill>
                <a:latin typeface="맑은 고딕" pitchFamily="34" charset="0"/>
                <a:ea typeface="맑은 고딕" pitchFamily="34" charset="-122"/>
                <a:cs typeface="맑은 고딕" pitchFamily="34" charset="-120"/>
              </a:rPr>
              <a:t>거리, 방위각, 고각의 최소 · 최대를 정한다</a:t>
            </a:r>
            <a:endParaRPr lang="en-US" sz="1050" dirty="0"/>
          </a:p>
        </p:txBody>
      </p:sp>
      <p:sp>
        <p:nvSpPr>
          <p:cNvPr id="16" name="Text 14"/>
          <p:cNvSpPr txBox="1"/>
          <p:nvPr/>
        </p:nvSpPr>
        <p:spPr>
          <a:xfrm>
            <a:off x="4521708" y="3159252"/>
            <a:ext cx="3145536" cy="201168"/>
          </a:xfrm>
          <a:prstGeom prst="rect">
            <a:avLst/>
          </a:prstGeom>
          <a:noFill/>
          <a:ln/>
        </p:spPr>
        <p:txBody>
          <a:bodyPr wrap="square" lIns="0" tIns="0" rIns="0" bIns="0" rtlCol="0" anchor="ctr"/>
          <a:lstStyle/>
          <a:p>
            <a:pPr indent="0" marL="0">
              <a:buNone/>
            </a:pPr>
            <a:r>
              <a:rPr lang="en-US" sz="950" dirty="0">
                <a:solidFill>
                  <a:srgbClr val="4A5A7A"/>
                </a:solidFill>
                <a:latin typeface="맑은 고딕" pitchFamily="34" charset="0"/>
                <a:ea typeface="맑은 고딕" pitchFamily="34" charset="-122"/>
                <a:cs typeface="맑은 고딕" pitchFamily="34" charset="-120"/>
              </a:rPr>
              <a:t>200 ~ 15,000 m,   -60 ~ +60°,   0 ~ +30°</a:t>
            </a:r>
            <a:endParaRPr lang="en-US" sz="950" dirty="0"/>
          </a:p>
        </p:txBody>
      </p:sp>
      <p:sp>
        <p:nvSpPr>
          <p:cNvPr id="17" name="Shape 15"/>
          <p:cNvSpPr/>
          <p:nvPr/>
        </p:nvSpPr>
        <p:spPr>
          <a:xfrm>
            <a:off x="7859268" y="2967228"/>
            <a:ext cx="187452" cy="0"/>
          </a:xfrm>
          <a:prstGeom prst="line">
            <a:avLst/>
          </a:prstGeom>
          <a:noFill/>
          <a:ln w="15875">
            <a:solidFill>
              <a:srgbClr val="8794AC"/>
            </a:solidFill>
            <a:prstDash val="solid"/>
            <a:tailEnd type="triangle"/>
          </a:ln>
        </p:spPr>
      </p:sp>
      <p:sp>
        <p:nvSpPr>
          <p:cNvPr id="18" name="Shape 16"/>
          <p:cNvSpPr/>
          <p:nvPr/>
        </p:nvSpPr>
        <p:spPr>
          <a:xfrm>
            <a:off x="8074152" y="2487168"/>
            <a:ext cx="3474720" cy="960120"/>
          </a:xfrm>
          <a:prstGeom prst="rect">
            <a:avLst/>
          </a:prstGeom>
          <a:solidFill>
            <a:srgbClr val="FFFFFF"/>
          </a:solidFill>
          <a:ln w="19050">
            <a:solidFill>
              <a:srgbClr val="059669"/>
            </a:solidFill>
            <a:prstDash val="solid"/>
          </a:ln>
        </p:spPr>
      </p:sp>
      <p:sp>
        <p:nvSpPr>
          <p:cNvPr id="19" name="Shape 17"/>
          <p:cNvSpPr/>
          <p:nvPr/>
        </p:nvSpPr>
        <p:spPr>
          <a:xfrm>
            <a:off x="8074152" y="2487168"/>
            <a:ext cx="3474720" cy="329184"/>
          </a:xfrm>
          <a:prstGeom prst="rect">
            <a:avLst/>
          </a:prstGeom>
          <a:solidFill>
            <a:srgbClr val="059669"/>
          </a:solidFill>
          <a:ln/>
        </p:spPr>
      </p:sp>
      <p:sp>
        <p:nvSpPr>
          <p:cNvPr id="20" name="Text 18"/>
          <p:cNvSpPr txBox="1"/>
          <p:nvPr/>
        </p:nvSpPr>
        <p:spPr>
          <a:xfrm>
            <a:off x="8238744" y="2487168"/>
            <a:ext cx="3200400" cy="329184"/>
          </a:xfrm>
          <a:prstGeom prst="rect">
            <a:avLst/>
          </a:prstGeom>
          <a:noFill/>
          <a:ln/>
        </p:spPr>
        <p:txBody>
          <a:bodyPr wrap="square" lIns="0" tIns="0" rIns="0" bIns="0" rtlCol="0" anchor="ctr"/>
          <a:lstStyle/>
          <a:p>
            <a:pPr indent="0" marL="0">
              <a:buNone/>
            </a:pPr>
            <a:r>
              <a:rPr lang="en-US" sz="1000" b="1" dirty="0">
                <a:solidFill>
                  <a:srgbClr val="FFFFFF"/>
                </a:solidFill>
                <a:latin typeface="맑은 고딕" pitchFamily="34" charset="0"/>
                <a:ea typeface="맑은 고딕" pitchFamily="34" charset="-122"/>
                <a:cs typeface="맑은 고딕" pitchFamily="34" charset="-120"/>
              </a:rPr>
              <a:t>단계 3    균등 난수로 추출</a:t>
            </a:r>
            <a:endParaRPr lang="en-US" sz="1000" dirty="0"/>
          </a:p>
        </p:txBody>
      </p:sp>
      <p:sp>
        <p:nvSpPr>
          <p:cNvPr id="21" name="Text 19"/>
          <p:cNvSpPr txBox="1"/>
          <p:nvPr/>
        </p:nvSpPr>
        <p:spPr>
          <a:xfrm>
            <a:off x="8238744" y="2916936"/>
            <a:ext cx="3145536" cy="219456"/>
          </a:xfrm>
          <a:prstGeom prst="rect">
            <a:avLst/>
          </a:prstGeom>
          <a:noFill/>
          <a:ln/>
        </p:spPr>
        <p:txBody>
          <a:bodyPr wrap="square" lIns="0" tIns="0" rIns="0" bIns="0" rtlCol="0" anchor="ctr"/>
          <a:lstStyle/>
          <a:p>
            <a:pPr indent="0" marL="0">
              <a:buNone/>
            </a:pPr>
            <a:r>
              <a:rPr lang="en-US" sz="1050" dirty="0">
                <a:solidFill>
                  <a:srgbClr val="1B2740"/>
                </a:solidFill>
                <a:latin typeface="맑은 고딕" pitchFamily="34" charset="0"/>
                <a:ea typeface="맑은 고딕" pitchFamily="34" charset="-122"/>
                <a:cs typeface="맑은 고딕" pitchFamily="34" charset="-120"/>
              </a:rPr>
              <a:t>범위 안에서 성분마다 따로 뽑는다</a:t>
            </a:r>
            <a:endParaRPr lang="en-US" sz="1050" dirty="0"/>
          </a:p>
        </p:txBody>
      </p:sp>
      <p:sp>
        <p:nvSpPr>
          <p:cNvPr id="22" name="Text 20"/>
          <p:cNvSpPr txBox="1"/>
          <p:nvPr/>
        </p:nvSpPr>
        <p:spPr>
          <a:xfrm>
            <a:off x="8238744" y="3159252"/>
            <a:ext cx="3145536" cy="201168"/>
          </a:xfrm>
          <a:prstGeom prst="rect">
            <a:avLst/>
          </a:prstGeom>
          <a:noFill/>
          <a:ln/>
        </p:spPr>
        <p:txBody>
          <a:bodyPr wrap="square" lIns="0" tIns="0" rIns="0" bIns="0" rtlCol="0" anchor="ctr"/>
          <a:lstStyle/>
          <a:p>
            <a:pPr indent="0" marL="0">
              <a:buNone/>
            </a:pPr>
            <a:r>
              <a:rPr lang="en-US" sz="950" dirty="0">
                <a:solidFill>
                  <a:srgbClr val="4A5A7A"/>
                </a:solidFill>
                <a:latin typeface="맑은 고딕" pitchFamily="34" charset="0"/>
                <a:ea typeface="맑은 고딕" pitchFamily="34" charset="-122"/>
                <a:cs typeface="맑은 고딕" pitchFamily="34" charset="-120"/>
              </a:rPr>
              <a:t>최소 + (최대 - 최소) × 균등 난수</a:t>
            </a:r>
            <a:endParaRPr lang="en-US" sz="950" dirty="0"/>
          </a:p>
        </p:txBody>
      </p:sp>
      <p:sp>
        <p:nvSpPr>
          <p:cNvPr id="23" name="Shape 21"/>
          <p:cNvSpPr/>
          <p:nvPr/>
        </p:nvSpPr>
        <p:spPr>
          <a:xfrm>
            <a:off x="640080" y="3630168"/>
            <a:ext cx="10908792" cy="0"/>
          </a:xfrm>
          <a:prstGeom prst="line">
            <a:avLst/>
          </a:prstGeom>
          <a:noFill/>
          <a:ln w="9525">
            <a:solidFill>
              <a:srgbClr val="D2D9E5"/>
            </a:solidFill>
            <a:prstDash val="solid"/>
          </a:ln>
        </p:spPr>
      </p:sp>
      <p:sp>
        <p:nvSpPr>
          <p:cNvPr id="24" name="Text 22"/>
          <p:cNvSpPr txBox="1"/>
          <p:nvPr/>
        </p:nvSpPr>
        <p:spPr>
          <a:xfrm>
            <a:off x="640080" y="3721608"/>
            <a:ext cx="6309360" cy="274320"/>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클러터가 생기는 FOV: 안테나 좌표계(구좌표계) 기준 (과제 값)</a:t>
            </a:r>
            <a:endParaRPr lang="en-US" sz="1150" dirty="0"/>
          </a:p>
        </p:txBody>
      </p:sp>
      <p:pic>
        <p:nvPicPr>
          <p:cNvPr id="25" name="Image 0" descr="clutter_fov_views">    </p:cNvPr>
          <p:cNvPicPr>
            <a:picLocks noChangeAspect="1"/>
          </p:cNvPicPr>
          <p:nvPr/>
        </p:nvPicPr>
        <p:blipFill>
          <a:blip r:embed="rId1"/>
          <a:stretch>
            <a:fillRect/>
          </a:stretch>
        </p:blipFill>
        <p:spPr>
          <a:xfrm>
            <a:off x="640080" y="3986784"/>
            <a:ext cx="5760720" cy="2171348"/>
          </a:xfrm>
          <a:prstGeom prst="rect">
            <a:avLst/>
          </a:prstGeom>
        </p:spPr>
      </p:pic>
      <p:sp>
        <p:nvSpPr>
          <p:cNvPr id="26" name="Text 23"/>
          <p:cNvSpPr txBox="1"/>
          <p:nvPr/>
        </p:nvSpPr>
        <p:spPr>
          <a:xfrm>
            <a:off x="7086600" y="3721608"/>
            <a:ext cx="4462272" cy="274320"/>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균등 난수로 뽑는 법</a:t>
            </a:r>
            <a:endParaRPr lang="en-US" sz="1150" dirty="0"/>
          </a:p>
        </p:txBody>
      </p:sp>
      <p:pic>
        <p:nvPicPr>
          <p:cNvPr id="27" name="Image 1" descr="uniform_formula">    </p:cNvPr>
          <p:cNvPicPr>
            <a:picLocks noChangeAspect="1"/>
          </p:cNvPicPr>
          <p:nvPr/>
        </p:nvPicPr>
        <p:blipFill>
          <a:blip r:embed="rId2"/>
          <a:stretch>
            <a:fillRect/>
          </a:stretch>
        </p:blipFill>
        <p:spPr>
          <a:xfrm>
            <a:off x="7086600" y="4059936"/>
            <a:ext cx="3300070" cy="228576"/>
          </a:xfrm>
          <a:prstGeom prst="rect">
            <a:avLst/>
          </a:prstGeom>
        </p:spPr>
      </p:pic>
      <p:pic>
        <p:nvPicPr>
          <p:cNvPr id="28" name="Image 2" descr="uniform_to_range">    </p:cNvPr>
          <p:cNvPicPr>
            <a:picLocks noChangeAspect="1"/>
          </p:cNvPicPr>
          <p:nvPr/>
        </p:nvPicPr>
        <p:blipFill>
          <a:blip r:embed="rId3"/>
          <a:stretch>
            <a:fillRect/>
          </a:stretch>
        </p:blipFill>
        <p:spPr>
          <a:xfrm>
            <a:off x="7086600" y="4389120"/>
            <a:ext cx="4023360" cy="1503466"/>
          </a:xfrm>
          <a:prstGeom prst="rect">
            <a:avLst/>
          </a:prstGeom>
        </p:spPr>
      </p:pic>
      <p:sp>
        <p:nvSpPr>
          <p:cNvPr id="29" name="Text 24"/>
          <p:cNvSpPr txBox="1"/>
          <p:nvPr/>
        </p:nvSpPr>
        <p:spPr>
          <a:xfrm>
            <a:off x="7104888" y="5961888"/>
            <a:ext cx="4389120" cy="219456"/>
          </a:xfrm>
          <a:prstGeom prst="rect">
            <a:avLst/>
          </a:prstGeom>
          <a:noFill/>
          <a:ln/>
        </p:spPr>
        <p:txBody>
          <a:bodyPr wrap="square" lIns="0" tIns="0" rIns="0" bIns="0" rtlCol="0" anchor="ctr"/>
          <a:lstStyle/>
          <a:p>
            <a:pPr indent="0" marL="0">
              <a:buNone/>
            </a:pPr>
            <a:r>
              <a:rPr lang="en-US" sz="950" dirty="0">
                <a:solidFill>
                  <a:srgbClr val="4A5A7A"/>
                </a:solidFill>
                <a:latin typeface="맑은 고딕" pitchFamily="34" charset="0"/>
                <a:ea typeface="맑은 고딕" pitchFamily="34" charset="-122"/>
                <a:cs typeface="맑은 고딕" pitchFamily="34" charset="-120"/>
              </a:rPr>
              <a:t>방위각과 고각도 같은 방법으로 따로 뽑는다. 스캔마다 새로 뽑는다.</a:t>
            </a:r>
            <a:endParaRPr lang="en-US" sz="9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859536" y="914400"/>
            <a:ext cx="9144000" cy="475488"/>
          </a:xfrm>
          <a:prstGeom prst="rect">
            <a:avLst/>
          </a:prstGeom>
          <a:noFill/>
          <a:ln/>
        </p:spPr>
        <p:txBody>
          <a:bodyPr wrap="square" lIns="0" tIns="0" rIns="0" bIns="0" rtlCol="0" anchor="ctr"/>
          <a:lstStyle/>
          <a:p>
            <a:pPr indent="0" marL="0">
              <a:buNone/>
            </a:pPr>
            <a:r>
              <a:rPr lang="en-US" sz="2400" b="1" dirty="0">
                <a:solidFill>
                  <a:srgbClr val="1B2740"/>
                </a:solidFill>
                <a:latin typeface="맑은 고딕" pitchFamily="34" charset="0"/>
                <a:ea typeface="맑은 고딕" pitchFamily="34" charset="-122"/>
                <a:cs typeface="맑은 고딕" pitchFamily="34" charset="-120"/>
              </a:rPr>
              <a:t>03. 구현</a:t>
            </a:r>
            <a:endParaRPr lang="en-US" sz="2400" dirty="0"/>
          </a:p>
        </p:txBody>
      </p:sp>
      <p:sp>
        <p:nvSpPr>
          <p:cNvPr id="3" name="Text 1"/>
          <p:cNvSpPr txBox="1"/>
          <p:nvPr/>
        </p:nvSpPr>
        <p:spPr>
          <a:xfrm>
            <a:off x="859536" y="1444752"/>
            <a:ext cx="10588752" cy="304495"/>
          </a:xfrm>
          <a:prstGeom prst="rect">
            <a:avLst/>
          </a:prstGeom>
          <a:noFill/>
          <a:ln/>
        </p:spPr>
        <p:txBody>
          <a:bodyPr wrap="square" lIns="0" tIns="0" rIns="0" bIns="0" rtlCol="0" anchor="ctr"/>
          <a:lstStyle/>
          <a:p>
            <a:pPr indent="0" marL="0">
              <a:buNone/>
            </a:pPr>
            <a:r>
              <a:rPr lang="en-US" sz="1300" dirty="0">
                <a:solidFill>
                  <a:srgbClr val="1B2740"/>
                </a:solidFill>
                <a:latin typeface="맑은 고딕" pitchFamily="34" charset="0"/>
                <a:ea typeface="맑은 고딕" pitchFamily="34" charset="-122"/>
                <a:cs typeface="맑은 고딕" pitchFamily="34" charset="-120"/>
              </a:rPr>
              <a:t>과제에서 요구한 순서대로 표준편차, 플롯, 클러터, 위도 · 경도 변환 코드를 봅니다.</a:t>
            </a:r>
            <a:endParaRPr lang="en-US" sz="1300" dirty="0"/>
          </a:p>
        </p:txBody>
      </p:sp>
      <p:sp>
        <p:nvSpPr>
          <p:cNvPr id="4" name="Text 2"/>
          <p:cNvSpPr txBox="1"/>
          <p:nvPr/>
        </p:nvSpPr>
        <p:spPr>
          <a:xfrm>
            <a:off x="859536" y="2057400"/>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3.1</a:t>
            </a:r>
            <a:endParaRPr lang="en-US" sz="1400" dirty="0"/>
          </a:p>
        </p:txBody>
      </p:sp>
      <p:sp>
        <p:nvSpPr>
          <p:cNvPr id="5" name="Text 3"/>
          <p:cNvSpPr txBox="1"/>
          <p:nvPr/>
        </p:nvSpPr>
        <p:spPr>
          <a:xfrm>
            <a:off x="1418234" y="2057400"/>
            <a:ext cx="2916682"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표준편차 계산 (f_Pcs_CalcSigma)</a:t>
            </a:r>
            <a:endParaRPr lang="en-US" sz="1400" dirty="0"/>
          </a:p>
        </p:txBody>
      </p:sp>
      <p:sp>
        <p:nvSpPr>
          <p:cNvPr id="6" name="Shape 4"/>
          <p:cNvSpPr/>
          <p:nvPr/>
        </p:nvSpPr>
        <p:spPr>
          <a:xfrm>
            <a:off x="4398924" y="2311603"/>
            <a:ext cx="6210859" cy="0"/>
          </a:xfrm>
          <a:prstGeom prst="line">
            <a:avLst/>
          </a:prstGeom>
          <a:noFill/>
          <a:ln w="15875">
            <a:solidFill>
              <a:srgbClr val="AEB9CC"/>
            </a:solidFill>
            <a:prstDash val="sysDot"/>
          </a:ln>
        </p:spPr>
      </p:sp>
      <p:sp>
        <p:nvSpPr>
          <p:cNvPr id="7" name="Text 5"/>
          <p:cNvSpPr txBox="1"/>
          <p:nvPr/>
        </p:nvSpPr>
        <p:spPr>
          <a:xfrm>
            <a:off x="10736885" y="2057400"/>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15</a:t>
            </a:r>
            <a:endParaRPr lang="en-US" sz="1300" dirty="0"/>
          </a:p>
        </p:txBody>
      </p:sp>
      <p:sp>
        <p:nvSpPr>
          <p:cNvPr id="8" name="Text 6"/>
          <p:cNvSpPr txBox="1"/>
          <p:nvPr/>
        </p:nvSpPr>
        <p:spPr>
          <a:xfrm>
            <a:off x="859536" y="2463851"/>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3.2</a:t>
            </a:r>
            <a:endParaRPr lang="en-US" sz="1400" dirty="0"/>
          </a:p>
        </p:txBody>
      </p:sp>
      <p:sp>
        <p:nvSpPr>
          <p:cNvPr id="9" name="Text 7"/>
          <p:cNvSpPr txBox="1"/>
          <p:nvPr/>
        </p:nvSpPr>
        <p:spPr>
          <a:xfrm>
            <a:off x="1418234" y="2463851"/>
            <a:ext cx="3041142"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플롯 생성 (f_Pcs_Measure 앞부분)</a:t>
            </a:r>
            <a:endParaRPr lang="en-US" sz="1400" dirty="0"/>
          </a:p>
        </p:txBody>
      </p:sp>
      <p:sp>
        <p:nvSpPr>
          <p:cNvPr id="10" name="Shape 8"/>
          <p:cNvSpPr/>
          <p:nvPr/>
        </p:nvSpPr>
        <p:spPr>
          <a:xfrm>
            <a:off x="4523384" y="2718054"/>
            <a:ext cx="6086399" cy="0"/>
          </a:xfrm>
          <a:prstGeom prst="line">
            <a:avLst/>
          </a:prstGeom>
          <a:noFill/>
          <a:ln w="15875">
            <a:solidFill>
              <a:srgbClr val="AEB9CC"/>
            </a:solidFill>
            <a:prstDash val="sysDot"/>
          </a:ln>
        </p:spPr>
      </p:sp>
      <p:sp>
        <p:nvSpPr>
          <p:cNvPr id="11" name="Text 9"/>
          <p:cNvSpPr txBox="1"/>
          <p:nvPr/>
        </p:nvSpPr>
        <p:spPr>
          <a:xfrm>
            <a:off x="10736885" y="2463851"/>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16</a:t>
            </a:r>
            <a:endParaRPr lang="en-US" sz="1300" dirty="0"/>
          </a:p>
        </p:txBody>
      </p:sp>
      <p:sp>
        <p:nvSpPr>
          <p:cNvPr id="12" name="Text 10"/>
          <p:cNvSpPr txBox="1"/>
          <p:nvPr/>
        </p:nvSpPr>
        <p:spPr>
          <a:xfrm>
            <a:off x="859536" y="2870302"/>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3.3</a:t>
            </a:r>
            <a:endParaRPr lang="en-US" sz="1400" dirty="0"/>
          </a:p>
        </p:txBody>
      </p:sp>
      <p:sp>
        <p:nvSpPr>
          <p:cNvPr id="13" name="Text 11"/>
          <p:cNvSpPr txBox="1"/>
          <p:nvPr/>
        </p:nvSpPr>
        <p:spPr>
          <a:xfrm>
            <a:off x="1418234" y="2870302"/>
            <a:ext cx="3218942"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클러터 생성 (f_Pcs_Measure 뒷부분)</a:t>
            </a:r>
            <a:endParaRPr lang="en-US" sz="1400" dirty="0"/>
          </a:p>
        </p:txBody>
      </p:sp>
      <p:sp>
        <p:nvSpPr>
          <p:cNvPr id="14" name="Shape 12"/>
          <p:cNvSpPr/>
          <p:nvPr/>
        </p:nvSpPr>
        <p:spPr>
          <a:xfrm>
            <a:off x="4701184" y="3124505"/>
            <a:ext cx="5908599" cy="0"/>
          </a:xfrm>
          <a:prstGeom prst="line">
            <a:avLst/>
          </a:prstGeom>
          <a:noFill/>
          <a:ln w="15875">
            <a:solidFill>
              <a:srgbClr val="AEB9CC"/>
            </a:solidFill>
            <a:prstDash val="sysDot"/>
          </a:ln>
        </p:spPr>
      </p:sp>
      <p:sp>
        <p:nvSpPr>
          <p:cNvPr id="15" name="Text 13"/>
          <p:cNvSpPr txBox="1"/>
          <p:nvPr/>
        </p:nvSpPr>
        <p:spPr>
          <a:xfrm>
            <a:off x="10736885" y="2870302"/>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17</a:t>
            </a:r>
            <a:endParaRPr lang="en-US" sz="1300" dirty="0"/>
          </a:p>
        </p:txBody>
      </p:sp>
      <p:sp>
        <p:nvSpPr>
          <p:cNvPr id="16" name="Text 14"/>
          <p:cNvSpPr txBox="1"/>
          <p:nvPr/>
        </p:nvSpPr>
        <p:spPr>
          <a:xfrm>
            <a:off x="859536" y="3276752"/>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3.4</a:t>
            </a:r>
            <a:endParaRPr lang="en-US" sz="1400" dirty="0"/>
          </a:p>
        </p:txBody>
      </p:sp>
      <p:sp>
        <p:nvSpPr>
          <p:cNvPr id="17" name="Text 15"/>
          <p:cNvSpPr txBox="1"/>
          <p:nvPr/>
        </p:nvSpPr>
        <p:spPr>
          <a:xfrm>
            <a:off x="1418234" y="3276752"/>
            <a:ext cx="3579876"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위도 · 경도 · 고도 변환 (f_Pcs_SphToLla)</a:t>
            </a:r>
            <a:endParaRPr lang="en-US" sz="1400" dirty="0"/>
          </a:p>
        </p:txBody>
      </p:sp>
      <p:sp>
        <p:nvSpPr>
          <p:cNvPr id="18" name="Shape 16"/>
          <p:cNvSpPr/>
          <p:nvPr/>
        </p:nvSpPr>
        <p:spPr>
          <a:xfrm>
            <a:off x="5062118" y="3530956"/>
            <a:ext cx="5547665" cy="0"/>
          </a:xfrm>
          <a:prstGeom prst="line">
            <a:avLst/>
          </a:prstGeom>
          <a:noFill/>
          <a:ln w="15875">
            <a:solidFill>
              <a:srgbClr val="AEB9CC"/>
            </a:solidFill>
            <a:prstDash val="sysDot"/>
          </a:ln>
        </p:spPr>
      </p:sp>
      <p:sp>
        <p:nvSpPr>
          <p:cNvPr id="19" name="Text 17"/>
          <p:cNvSpPr txBox="1"/>
          <p:nvPr/>
        </p:nvSpPr>
        <p:spPr>
          <a:xfrm>
            <a:off x="10736885" y="3276752"/>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18</a:t>
            </a:r>
            <a:endParaRPr lang="en-US" sz="130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3.1 표준편차 계산 (f_Pcs_CalcSigma)</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앞에서 본 세 식을 그대로 옮겼습니다. 과제 조건 값은 상수로 두었고, SNR 이 20 으로 고정이라 측정을 시작할 때 한 번만 계산합니다.</a:t>
            </a:r>
            <a:endParaRPr lang="en-US" sz="1250" dirty="0"/>
          </a:p>
        </p:txBody>
      </p:sp>
      <p:sp>
        <p:nvSpPr>
          <p:cNvPr id="5" name="Text 3"/>
          <p:cNvSpPr txBox="1"/>
          <p:nvPr/>
        </p:nvSpPr>
        <p:spPr>
          <a:xfrm>
            <a:off x="640080" y="2231136"/>
            <a:ext cx="6217920" cy="219456"/>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과제 조건 값</a:t>
            </a:r>
            <a:pPr indent="0" marL="0">
              <a:buNone/>
            </a:pPr>
            <a:r>
              <a:rPr lang="en-US" sz="950" dirty="0">
                <a:solidFill>
                  <a:srgbClr val="8794AC"/>
                </a:solidFill>
                <a:latin typeface="Consolas" pitchFamily="34" charset="0"/>
                <a:ea typeface="Consolas" pitchFamily="34" charset="-122"/>
                <a:cs typeface="Consolas" pitchFamily="34" charset="-120"/>
              </a:rPr>
              <a:t>    PlotSim.h</a:t>
            </a:r>
            <a:endParaRPr lang="en-US" sz="1150" dirty="0"/>
          </a:p>
        </p:txBody>
      </p:sp>
      <p:sp>
        <p:nvSpPr>
          <p:cNvPr id="6" name="Shape 4"/>
          <p:cNvSpPr/>
          <p:nvPr/>
        </p:nvSpPr>
        <p:spPr>
          <a:xfrm>
            <a:off x="640080" y="2478024"/>
            <a:ext cx="6217920" cy="781304"/>
          </a:xfrm>
          <a:prstGeom prst="rect">
            <a:avLst/>
          </a:prstGeom>
          <a:solidFill>
            <a:srgbClr val="FFFFFF"/>
          </a:solidFill>
          <a:ln w="9525">
            <a:solidFill>
              <a:srgbClr val="D2D9E5"/>
            </a:solidFill>
            <a:prstDash val="solid"/>
          </a:ln>
        </p:spPr>
      </p:sp>
      <p:sp>
        <p:nvSpPr>
          <p:cNvPr id="7" name="Text 5"/>
          <p:cNvSpPr txBox="1"/>
          <p:nvPr/>
        </p:nvSpPr>
        <p:spPr>
          <a:xfrm>
            <a:off x="749808" y="2551176"/>
            <a:ext cx="5998464" cy="63500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11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PCS_BANDWIDTH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5.0e6  </a:t>
            </a:r>
            <a:pPr indent="0" marL="0">
              <a:lnSpc>
                <a:spcPts val="1250"/>
              </a:lnSpc>
              <a:buNone/>
            </a:pPr>
            <a:r>
              <a:rPr lang="en-US" sz="950" dirty="0">
                <a:solidFill>
                  <a:srgbClr val="059669"/>
                </a:solidFill>
                <a:latin typeface="Consolas" pitchFamily="34" charset="0"/>
                <a:ea typeface="Consolas" pitchFamily="34" charset="-122"/>
                <a:cs typeface="Consolas" pitchFamily="34" charset="-120"/>
              </a:rPr>
              <a:t>// [Hz]</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12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PCS_BEAM_AZI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5.14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[deg] 방위각 빔폭</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13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PCS_BEAM_ELE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5.31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[deg] 고각 빔폭</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14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PCS_KM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1.7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모노펄스 기울기 상수 (방위각, 고각 같음)</a:t>
            </a:r>
            <a:endParaRPr lang="en-US" sz="950" dirty="0"/>
          </a:p>
        </p:txBody>
      </p:sp>
      <p:sp>
        <p:nvSpPr>
          <p:cNvPr id="8" name="Text 6"/>
          <p:cNvSpPr txBox="1"/>
          <p:nvPr/>
        </p:nvSpPr>
        <p:spPr>
          <a:xfrm>
            <a:off x="640080" y="3387344"/>
            <a:ext cx="6217920" cy="219456"/>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표준편차 계산</a:t>
            </a:r>
            <a:pPr indent="0" marL="0">
              <a:buNone/>
            </a:pPr>
            <a:r>
              <a:rPr lang="en-US" sz="950" dirty="0">
                <a:solidFill>
                  <a:srgbClr val="8794AC"/>
                </a:solidFill>
                <a:latin typeface="Consolas" pitchFamily="34" charset="0"/>
                <a:ea typeface="Consolas" pitchFamily="34" charset="-122"/>
                <a:cs typeface="Consolas" pitchFamily="34" charset="-120"/>
              </a:rPr>
              <a:t>    PlotSim.c</a:t>
            </a:r>
            <a:endParaRPr lang="en-US" sz="1150" dirty="0"/>
          </a:p>
        </p:txBody>
      </p:sp>
      <p:sp>
        <p:nvSpPr>
          <p:cNvPr id="9" name="Shape 7"/>
          <p:cNvSpPr/>
          <p:nvPr/>
        </p:nvSpPr>
        <p:spPr>
          <a:xfrm>
            <a:off x="640080" y="3634232"/>
            <a:ext cx="6217920" cy="2368804"/>
          </a:xfrm>
          <a:prstGeom prst="rect">
            <a:avLst/>
          </a:prstGeom>
          <a:solidFill>
            <a:srgbClr val="FFFFFF"/>
          </a:solidFill>
          <a:ln w="9525">
            <a:solidFill>
              <a:srgbClr val="D2D9E5"/>
            </a:solidFill>
            <a:prstDash val="solid"/>
          </a:ln>
        </p:spPr>
      </p:sp>
      <p:sp>
        <p:nvSpPr>
          <p:cNvPr id="10" name="Shape 8"/>
          <p:cNvSpPr/>
          <p:nvPr/>
        </p:nvSpPr>
        <p:spPr>
          <a:xfrm>
            <a:off x="672084" y="4347870"/>
            <a:ext cx="6153912" cy="147777"/>
          </a:xfrm>
          <a:prstGeom prst="rect">
            <a:avLst/>
          </a:prstGeom>
          <a:solidFill>
            <a:srgbClr val="FDEEEE"/>
          </a:solidFill>
          <a:ln/>
        </p:spPr>
      </p:sp>
      <p:sp>
        <p:nvSpPr>
          <p:cNvPr id="11" name="Shape 9"/>
          <p:cNvSpPr/>
          <p:nvPr/>
        </p:nvSpPr>
        <p:spPr>
          <a:xfrm>
            <a:off x="672084" y="4347870"/>
            <a:ext cx="41148" cy="147777"/>
          </a:xfrm>
          <a:prstGeom prst="rect">
            <a:avLst/>
          </a:prstGeom>
          <a:solidFill>
            <a:srgbClr val="DC2626"/>
          </a:solidFill>
          <a:ln/>
        </p:spPr>
      </p:sp>
      <p:sp>
        <p:nvSpPr>
          <p:cNvPr id="12" name="Shape 10"/>
          <p:cNvSpPr/>
          <p:nvPr/>
        </p:nvSpPr>
        <p:spPr>
          <a:xfrm>
            <a:off x="672084" y="4824120"/>
            <a:ext cx="6153912" cy="147777"/>
          </a:xfrm>
          <a:prstGeom prst="rect">
            <a:avLst/>
          </a:prstGeom>
          <a:solidFill>
            <a:srgbClr val="FEF5E7"/>
          </a:solidFill>
          <a:ln/>
        </p:spPr>
      </p:sp>
      <p:sp>
        <p:nvSpPr>
          <p:cNvPr id="13" name="Shape 11"/>
          <p:cNvSpPr/>
          <p:nvPr/>
        </p:nvSpPr>
        <p:spPr>
          <a:xfrm>
            <a:off x="672084" y="4824120"/>
            <a:ext cx="41148" cy="147777"/>
          </a:xfrm>
          <a:prstGeom prst="rect">
            <a:avLst/>
          </a:prstGeom>
          <a:solidFill>
            <a:srgbClr val="D97706"/>
          </a:solidFill>
          <a:ln/>
        </p:spPr>
      </p:sp>
      <p:sp>
        <p:nvSpPr>
          <p:cNvPr id="14" name="Shape 12"/>
          <p:cNvSpPr/>
          <p:nvPr/>
        </p:nvSpPr>
        <p:spPr>
          <a:xfrm>
            <a:off x="672084" y="4982870"/>
            <a:ext cx="6153912" cy="465277"/>
          </a:xfrm>
          <a:prstGeom prst="rect">
            <a:avLst/>
          </a:prstGeom>
          <a:solidFill>
            <a:srgbClr val="E8F6F0"/>
          </a:solidFill>
          <a:ln/>
        </p:spPr>
      </p:sp>
      <p:sp>
        <p:nvSpPr>
          <p:cNvPr id="15" name="Shape 13"/>
          <p:cNvSpPr/>
          <p:nvPr/>
        </p:nvSpPr>
        <p:spPr>
          <a:xfrm>
            <a:off x="672084" y="4982870"/>
            <a:ext cx="41148" cy="465277"/>
          </a:xfrm>
          <a:prstGeom prst="rect">
            <a:avLst/>
          </a:prstGeom>
          <a:solidFill>
            <a:srgbClr val="059669"/>
          </a:solidFill>
          <a:ln/>
        </p:spPr>
      </p:sp>
      <p:sp>
        <p:nvSpPr>
          <p:cNvPr id="16" name="Text 14"/>
          <p:cNvSpPr txBox="1"/>
          <p:nvPr/>
        </p:nvSpPr>
        <p:spPr>
          <a:xfrm>
            <a:off x="749808" y="3707384"/>
            <a:ext cx="5998464" cy="222250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90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측정 표준편차 p. snr 은 선형값.</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91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p_rng = c / (2 * B * sqrt(2 * SNR)), p_azi = 빔폭 / (K_M * sqrt(2 * SNR)), p_ele 도 같은 식.</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92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STRUCT_Coord_Sph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f_Pcs_CalcSigma(</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FLOAT64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snr)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const FLOAT64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root = sqrt(</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2.0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snr);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95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STRUCT_Coord_Sph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st_Sigma;</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96  </a:t>
            </a:r>
            <a:pPr indent="0" marL="0">
              <a:lnSpc>
                <a:spcPts val="1250"/>
              </a:lnSpc>
              <a:buNone/>
            </a:pPr>
            <a:r>
              <a:rPr lang="en-US" sz="950" dirty="0">
                <a:solidFill>
                  <a:srgbClr val="000000"/>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97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st_Sigma.r  =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LIGHT_SPEED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2.0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PCS_BANDWIDTH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root);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빔폭은 도 단위라 라디안으로 바꿔 계산 (참값 각도가 라디안).</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st_Sigma.az  = f_Deg_To_Rad(</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PCS_BEAM_AZI</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PCS_KM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root);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100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st_Sigma.el  = f_Deg_To_Rad(</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PCS_BEAM_ELE</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PCS_KM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root);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101  </a:t>
            </a:r>
            <a:pPr indent="0" marL="0">
              <a:lnSpc>
                <a:spcPts val="1250"/>
              </a:lnSpc>
              <a:buNone/>
            </a:pPr>
            <a:r>
              <a:rPr lang="en-US" sz="950" dirty="0">
                <a:solidFill>
                  <a:srgbClr val="000000"/>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102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return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st_Sigma;</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103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p:txBody>
      </p:sp>
      <p:sp>
        <p:nvSpPr>
          <p:cNvPr id="17" name="Text 15"/>
          <p:cNvSpPr/>
          <p:nvPr/>
        </p:nvSpPr>
        <p:spPr>
          <a:xfrm>
            <a:off x="6757416" y="4321175"/>
            <a:ext cx="201168" cy="201168"/>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18" name="Text 16"/>
          <p:cNvSpPr/>
          <p:nvPr/>
        </p:nvSpPr>
        <p:spPr>
          <a:xfrm>
            <a:off x="6757416" y="4797425"/>
            <a:ext cx="201168" cy="201168"/>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19" name="Text 17"/>
          <p:cNvSpPr/>
          <p:nvPr/>
        </p:nvSpPr>
        <p:spPr>
          <a:xfrm>
            <a:off x="6757416" y="5016881"/>
            <a:ext cx="201168" cy="201168"/>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20" name="Text 18"/>
          <p:cNvSpPr/>
          <p:nvPr/>
        </p:nvSpPr>
        <p:spPr>
          <a:xfrm>
            <a:off x="7168896" y="2286000"/>
            <a:ext cx="256032" cy="256032"/>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21" name="Text 19"/>
          <p:cNvSpPr txBox="1"/>
          <p:nvPr/>
        </p:nvSpPr>
        <p:spPr>
          <a:xfrm>
            <a:off x="7552944" y="2267712"/>
            <a:ext cx="3995928" cy="614934"/>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√(2·SNR) 를 먼저 구함</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SNR 은 화면에서 넣는 값 (실습 20)</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세 식에 같이 쓴다</a:t>
            </a:r>
            <a:endParaRPr lang="en-US" sz="1150" dirty="0"/>
          </a:p>
        </p:txBody>
      </p:sp>
      <p:sp>
        <p:nvSpPr>
          <p:cNvPr id="22" name="Text 20"/>
          <p:cNvSpPr/>
          <p:nvPr/>
        </p:nvSpPr>
        <p:spPr>
          <a:xfrm>
            <a:off x="7168896" y="3083814"/>
            <a:ext cx="256032" cy="256032"/>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23" name="Text 21"/>
          <p:cNvSpPr txBox="1"/>
          <p:nvPr/>
        </p:nvSpPr>
        <p:spPr>
          <a:xfrm>
            <a:off x="7552944" y="3065526"/>
            <a:ext cx="3995928"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거리 p = c / (2B · √(2·SNR))</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c: LIGHT_SPEED,  B: PCS_BANDWIDTH</a:t>
            </a:r>
            <a:endParaRPr lang="en-US" sz="1150" dirty="0"/>
          </a:p>
        </p:txBody>
      </p:sp>
      <p:sp>
        <p:nvSpPr>
          <p:cNvPr id="24" name="Text 22"/>
          <p:cNvSpPr/>
          <p:nvPr/>
        </p:nvSpPr>
        <p:spPr>
          <a:xfrm>
            <a:off x="7168896" y="3688842"/>
            <a:ext cx="256032" cy="256032"/>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25" name="Text 23"/>
          <p:cNvSpPr txBox="1"/>
          <p:nvPr/>
        </p:nvSpPr>
        <p:spPr>
          <a:xfrm>
            <a:off x="7552944" y="3670554"/>
            <a:ext cx="3995928" cy="614934"/>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각도 p = θ / (K</a:t>
            </a:r>
            <a:pPr indent="0" marL="0">
              <a:lnSpc>
                <a:spcPct val="105000"/>
              </a:lnSpc>
              <a:buNone/>
            </a:pPr>
            <a:r>
              <a:rPr lang="en-US" sz="1150" b="1" baseline="-40000" dirty="0">
                <a:solidFill>
                  <a:srgbClr val="1B2740"/>
                </a:solidFill>
                <a:latin typeface="맑은 고딕" pitchFamily="34" charset="0"/>
                <a:ea typeface="맑은 고딕" pitchFamily="34" charset="-122"/>
                <a:cs typeface="맑은 고딕" pitchFamily="34" charset="-120"/>
              </a:rPr>
              <a:t>M</a:t>
            </a:r>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 · √(2·SNR))</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θ: PCS_BEAM_AZI, PCS_BEAM_ELE</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K</a:t>
            </a:r>
            <a:pPr indent="0" marL="0">
              <a:lnSpc>
                <a:spcPct val="105000"/>
              </a:lnSpc>
              <a:buNone/>
            </a:pPr>
            <a:r>
              <a:rPr lang="en-US" sz="1150" baseline="-40000" dirty="0">
                <a:solidFill>
                  <a:srgbClr val="4A5A7A"/>
                </a:solidFill>
                <a:latin typeface="맑은 고딕" pitchFamily="34" charset="0"/>
                <a:ea typeface="맑은 고딕" pitchFamily="34" charset="-122"/>
                <a:cs typeface="맑은 고딕" pitchFamily="34" charset="-120"/>
              </a:rPr>
              <a:t>M</a:t>
            </a:r>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 PCS_KM</a:t>
            </a:r>
            <a:endParaRPr lang="en-US" sz="11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3.2 플롯 생성 (f_Pcs_Measure 앞부분)</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스캔마다, 표적마다 참값 x 를 구하고 거리 · 방위각 · 고각에 GAUSS 잡음을 하나씩 더해 플롯 z 를 만듭니다.</a:t>
            </a:r>
            <a:endParaRPr lang="en-US" sz="1250" dirty="0"/>
          </a:p>
        </p:txBody>
      </p:sp>
      <p:sp>
        <p:nvSpPr>
          <p:cNvPr id="5" name="Text 3"/>
          <p:cNvSpPr txBox="1"/>
          <p:nvPr/>
        </p:nvSpPr>
        <p:spPr>
          <a:xfrm>
            <a:off x="6675120" y="1216152"/>
            <a:ext cx="4873752" cy="438912"/>
          </a:xfrm>
          <a:prstGeom prst="rect">
            <a:avLst/>
          </a:prstGeom>
          <a:noFill/>
          <a:ln/>
        </p:spPr>
        <p:txBody>
          <a:bodyPr wrap="square" lIns="0" tIns="0" rIns="0" bIns="0" rtlCol="0" anchor="ctr"/>
          <a:lstStyle/>
          <a:p>
            <a:pPr algn="r" indent="0" marL="0">
              <a:buNone/>
            </a:pPr>
            <a:r>
              <a:rPr lang="en-US" sz="1000" dirty="0">
                <a:solidFill>
                  <a:srgbClr val="8794AC"/>
                </a:solidFill>
                <a:latin typeface="Consolas" pitchFamily="34" charset="0"/>
                <a:ea typeface="Consolas" pitchFamily="34" charset="-122"/>
                <a:cs typeface="Consolas" pitchFamily="34" charset="-120"/>
              </a:rPr>
              <a:t>TargetSimCore/src/PlotSim.c</a:t>
            </a:r>
            <a:endParaRPr lang="en-US" sz="1000" dirty="0"/>
          </a:p>
        </p:txBody>
      </p:sp>
      <p:sp>
        <p:nvSpPr>
          <p:cNvPr id="6" name="Shape 4"/>
          <p:cNvSpPr/>
          <p:nvPr/>
        </p:nvSpPr>
        <p:spPr>
          <a:xfrm>
            <a:off x="640080" y="2231136"/>
            <a:ext cx="7223760" cy="3797554"/>
          </a:xfrm>
          <a:prstGeom prst="rect">
            <a:avLst/>
          </a:prstGeom>
          <a:solidFill>
            <a:srgbClr val="FFFFFF"/>
          </a:solidFill>
          <a:ln w="9525">
            <a:solidFill>
              <a:srgbClr val="D2D9E5"/>
            </a:solidFill>
            <a:prstDash val="solid"/>
          </a:ln>
        </p:spPr>
      </p:sp>
      <p:sp>
        <p:nvSpPr>
          <p:cNvPr id="7" name="Shape 5"/>
          <p:cNvSpPr/>
          <p:nvPr/>
        </p:nvSpPr>
        <p:spPr>
          <a:xfrm>
            <a:off x="672084" y="2309774"/>
            <a:ext cx="7159752" cy="624027"/>
          </a:xfrm>
          <a:prstGeom prst="rect">
            <a:avLst/>
          </a:prstGeom>
          <a:solidFill>
            <a:srgbClr val="FDEEEE"/>
          </a:solidFill>
          <a:ln/>
        </p:spPr>
      </p:sp>
      <p:sp>
        <p:nvSpPr>
          <p:cNvPr id="8" name="Shape 6"/>
          <p:cNvSpPr/>
          <p:nvPr/>
        </p:nvSpPr>
        <p:spPr>
          <a:xfrm>
            <a:off x="672084" y="2309774"/>
            <a:ext cx="41148" cy="624027"/>
          </a:xfrm>
          <a:prstGeom prst="rect">
            <a:avLst/>
          </a:prstGeom>
          <a:solidFill>
            <a:srgbClr val="DC2626"/>
          </a:solidFill>
          <a:ln/>
        </p:spPr>
      </p:sp>
      <p:sp>
        <p:nvSpPr>
          <p:cNvPr id="9" name="Shape 7"/>
          <p:cNvSpPr/>
          <p:nvPr/>
        </p:nvSpPr>
        <p:spPr>
          <a:xfrm>
            <a:off x="672084" y="3103524"/>
            <a:ext cx="7159752" cy="782777"/>
          </a:xfrm>
          <a:prstGeom prst="rect">
            <a:avLst/>
          </a:prstGeom>
          <a:solidFill>
            <a:srgbClr val="FEF5E7"/>
          </a:solidFill>
          <a:ln/>
        </p:spPr>
      </p:sp>
      <p:sp>
        <p:nvSpPr>
          <p:cNvPr id="10" name="Shape 8"/>
          <p:cNvSpPr/>
          <p:nvPr/>
        </p:nvSpPr>
        <p:spPr>
          <a:xfrm>
            <a:off x="672084" y="3103524"/>
            <a:ext cx="41148" cy="782777"/>
          </a:xfrm>
          <a:prstGeom prst="rect">
            <a:avLst/>
          </a:prstGeom>
          <a:solidFill>
            <a:srgbClr val="D97706"/>
          </a:solidFill>
          <a:ln/>
        </p:spPr>
      </p:sp>
      <p:sp>
        <p:nvSpPr>
          <p:cNvPr id="11" name="Shape 9"/>
          <p:cNvSpPr/>
          <p:nvPr/>
        </p:nvSpPr>
        <p:spPr>
          <a:xfrm>
            <a:off x="672084" y="4532274"/>
            <a:ext cx="7159752" cy="465277"/>
          </a:xfrm>
          <a:prstGeom prst="rect">
            <a:avLst/>
          </a:prstGeom>
          <a:solidFill>
            <a:srgbClr val="E8F6F0"/>
          </a:solidFill>
          <a:ln/>
        </p:spPr>
      </p:sp>
      <p:sp>
        <p:nvSpPr>
          <p:cNvPr id="12" name="Shape 10"/>
          <p:cNvSpPr/>
          <p:nvPr/>
        </p:nvSpPr>
        <p:spPr>
          <a:xfrm>
            <a:off x="672084" y="4532274"/>
            <a:ext cx="41148" cy="465277"/>
          </a:xfrm>
          <a:prstGeom prst="rect">
            <a:avLst/>
          </a:prstGeom>
          <a:solidFill>
            <a:srgbClr val="059669"/>
          </a:solidFill>
          <a:ln/>
        </p:spPr>
      </p:sp>
      <p:sp>
        <p:nvSpPr>
          <p:cNvPr id="13" name="Shape 11"/>
          <p:cNvSpPr/>
          <p:nvPr/>
        </p:nvSpPr>
        <p:spPr>
          <a:xfrm>
            <a:off x="672084" y="5008524"/>
            <a:ext cx="7159752" cy="624027"/>
          </a:xfrm>
          <a:prstGeom prst="rect">
            <a:avLst/>
          </a:prstGeom>
          <a:solidFill>
            <a:srgbClr val="EBF2FE"/>
          </a:solidFill>
          <a:ln/>
        </p:spPr>
      </p:sp>
      <p:sp>
        <p:nvSpPr>
          <p:cNvPr id="14" name="Shape 12"/>
          <p:cNvSpPr/>
          <p:nvPr/>
        </p:nvSpPr>
        <p:spPr>
          <a:xfrm>
            <a:off x="672084" y="5008524"/>
            <a:ext cx="41148" cy="624027"/>
          </a:xfrm>
          <a:prstGeom prst="rect">
            <a:avLst/>
          </a:prstGeom>
          <a:solidFill>
            <a:srgbClr val="2563EB"/>
          </a:solidFill>
          <a:ln/>
        </p:spPr>
      </p:sp>
      <p:sp>
        <p:nvSpPr>
          <p:cNvPr id="15" name="Shape 13"/>
          <p:cNvSpPr/>
          <p:nvPr/>
        </p:nvSpPr>
        <p:spPr>
          <a:xfrm>
            <a:off x="672084" y="5643524"/>
            <a:ext cx="7159752" cy="147777"/>
          </a:xfrm>
          <a:prstGeom prst="rect">
            <a:avLst/>
          </a:prstGeom>
          <a:solidFill>
            <a:srgbClr val="F3EEFE"/>
          </a:solidFill>
          <a:ln/>
        </p:spPr>
      </p:sp>
      <p:sp>
        <p:nvSpPr>
          <p:cNvPr id="16" name="Shape 14"/>
          <p:cNvSpPr/>
          <p:nvPr/>
        </p:nvSpPr>
        <p:spPr>
          <a:xfrm>
            <a:off x="672084" y="5643524"/>
            <a:ext cx="41148" cy="147777"/>
          </a:xfrm>
          <a:prstGeom prst="rect">
            <a:avLst/>
          </a:prstGeom>
          <a:solidFill>
            <a:srgbClr val="7C3AED"/>
          </a:solidFill>
          <a:ln/>
        </p:spPr>
      </p:sp>
      <p:sp>
        <p:nvSpPr>
          <p:cNvPr id="17" name="Text 15"/>
          <p:cNvSpPr txBox="1"/>
          <p:nvPr/>
        </p:nvSpPr>
        <p:spPr>
          <a:xfrm>
            <a:off x="749808" y="2304288"/>
            <a:ext cx="7004304" cy="365125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107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VOID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f_Pcs_Measure(</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ST_PcsScan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*st_Scan,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const ST_SimSample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*st_Sample,</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INT32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nScanNum,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FLOAT64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snr,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INT32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nClutterNum)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108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109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const STRUCT_Coord_Sph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st_Sigma = f_Pcs_CalcSigma(snr);</a:t>
            </a:r>
            <a:endParaRPr lang="en-US" sz="950" dirty="0"/>
          </a:p>
          <a:p>
            <a:pPr indent="0" marL="0">
              <a:lnSpc>
                <a:spcPts val="1250"/>
              </a:lnSpc>
              <a:buNone/>
            </a:pPr>
            <a:r>
              <a:rPr lang="en-US" sz="950" dirty="0">
                <a:solidFill>
                  <a:srgbClr val="8794AC"/>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121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for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(nScan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nScan &lt; nScanNum; nScan++)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122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123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st_In               = &amp;st_Sample[nScan];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124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st_Radar            = &amp;st_In-&gt;st_Platform;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125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              = &amp;st_Scan[nScan];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127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st_Out-&gt;time        = st_In-&gt;simTime;</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128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st_Out-&gt;nTargetNum  = st_In-&gt;nTargetNum;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for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(nTarget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nTarget &lt; st_In-&gt;nTargetNum; nTarget++)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131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참값 x</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st_Out-&gt;st_True[nTarget]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f_Pcs_EcefToSph(&amp;st_In-&gt;st_Target[nTarget].st_PosEcef, st_Radar);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135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플롯 z = x + v, v ~ N(0, p^2)</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136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st_Out-&gt;st_Plot[nTarget].r   = st_Out-&gt;st_True[nTarget].r + GAUSS(</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st_Sigma.r);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137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st_Out-&gt;st_Plot[nTarget].az  = st_Out-&gt;st_True[nTarget].az + GAUSS(</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st_Sigma.az);</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st_Out-&gt;st_Plot[nTarget].el  = st_Out-&gt;st_True[nTarget].el + GAUSS(</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st_Sigma.el);</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139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st_Out-&gt;st_PlotLla[nTarget]  = f_Pcs_SphToLla(&amp;st_Out-&gt;st_Plot[nTarget], st_Radar);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140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endParaRPr lang="en-US" sz="950" dirty="0"/>
          </a:p>
        </p:txBody>
      </p:sp>
      <p:sp>
        <p:nvSpPr>
          <p:cNvPr id="18" name="Text 16"/>
          <p:cNvSpPr/>
          <p:nvPr/>
        </p:nvSpPr>
        <p:spPr>
          <a:xfrm>
            <a:off x="7763256" y="2283079"/>
            <a:ext cx="201168" cy="201168"/>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19" name="Text 17"/>
          <p:cNvSpPr/>
          <p:nvPr/>
        </p:nvSpPr>
        <p:spPr>
          <a:xfrm>
            <a:off x="7763256" y="3076829"/>
            <a:ext cx="201168" cy="201168"/>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20" name="Text 18"/>
          <p:cNvSpPr/>
          <p:nvPr/>
        </p:nvSpPr>
        <p:spPr>
          <a:xfrm>
            <a:off x="7763256" y="4505579"/>
            <a:ext cx="201168" cy="201168"/>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21" name="Text 19"/>
          <p:cNvSpPr/>
          <p:nvPr/>
        </p:nvSpPr>
        <p:spPr>
          <a:xfrm>
            <a:off x="7763256" y="4981829"/>
            <a:ext cx="201168" cy="201168"/>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22" name="Text 20"/>
          <p:cNvSpPr/>
          <p:nvPr/>
        </p:nvSpPr>
        <p:spPr>
          <a:xfrm>
            <a:off x="7763256" y="5616829"/>
            <a:ext cx="201168" cy="201168"/>
          </a:xfrm>
          <a:prstGeom prst="ellipse">
            <a:avLst/>
          </a:prstGeom>
          <a:solidFill>
            <a:srgbClr val="7C3AED"/>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5</a:t>
            </a:r>
            <a:endParaRPr lang="en-US" sz="950" dirty="0"/>
          </a:p>
        </p:txBody>
      </p:sp>
      <p:sp>
        <p:nvSpPr>
          <p:cNvPr id="23" name="Text 21"/>
          <p:cNvSpPr/>
          <p:nvPr/>
        </p:nvSpPr>
        <p:spPr>
          <a:xfrm>
            <a:off x="8174736" y="2286000"/>
            <a:ext cx="256032" cy="256032"/>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24" name="Text 22"/>
          <p:cNvSpPr txBox="1"/>
          <p:nvPr/>
        </p:nvSpPr>
        <p:spPr>
          <a:xfrm>
            <a:off x="8558784" y="2267712"/>
            <a:ext cx="2990088" cy="589788"/>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입력과 표준편차</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과제 3 표본 · SNR 20 · 클러터 5 개</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p 는 처음에 한 번 구한다 (3.1)</a:t>
            </a:r>
            <a:endParaRPr lang="en-US" sz="1100" dirty="0"/>
          </a:p>
        </p:txBody>
      </p:sp>
      <p:sp>
        <p:nvSpPr>
          <p:cNvPr id="25" name="Text 23"/>
          <p:cNvSpPr/>
          <p:nvPr/>
        </p:nvSpPr>
        <p:spPr>
          <a:xfrm>
            <a:off x="8174736" y="3022092"/>
            <a:ext cx="256032" cy="256032"/>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26" name="Text 24"/>
          <p:cNvSpPr txBox="1"/>
          <p:nvPr/>
        </p:nvSpPr>
        <p:spPr>
          <a:xfrm>
            <a:off x="8558784" y="3003804"/>
            <a:ext cx="2990088" cy="589788"/>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스캔 600 번, 0.1 s 간격</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k 번째 스캔 = 과제 3 의 k 번째 표본</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레이다는 그 시각의 플랫폼</a:t>
            </a:r>
            <a:endParaRPr lang="en-US" sz="1100" dirty="0"/>
          </a:p>
        </p:txBody>
      </p:sp>
      <p:sp>
        <p:nvSpPr>
          <p:cNvPr id="27" name="Text 25"/>
          <p:cNvSpPr/>
          <p:nvPr/>
        </p:nvSpPr>
        <p:spPr>
          <a:xfrm>
            <a:off x="8174736" y="3758184"/>
            <a:ext cx="256032" cy="256032"/>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28" name="Text 26"/>
          <p:cNvSpPr txBox="1"/>
          <p:nvPr/>
        </p:nvSpPr>
        <p:spPr>
          <a:xfrm>
            <a:off x="8558784" y="3739896"/>
            <a:ext cx="2990088" cy="589788"/>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참값 x</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표적 ECEF 위치 → 안테나 기준</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거리 · 방위각 · 고각</a:t>
            </a:r>
            <a:endParaRPr lang="en-US" sz="1100" dirty="0"/>
          </a:p>
        </p:txBody>
      </p:sp>
      <p:sp>
        <p:nvSpPr>
          <p:cNvPr id="29" name="Text 27"/>
          <p:cNvSpPr/>
          <p:nvPr/>
        </p:nvSpPr>
        <p:spPr>
          <a:xfrm>
            <a:off x="8174736" y="4494276"/>
            <a:ext cx="256032" cy="256032"/>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30" name="Text 28"/>
          <p:cNvSpPr txBox="1"/>
          <p:nvPr/>
        </p:nvSpPr>
        <p:spPr>
          <a:xfrm>
            <a:off x="8558784" y="4475988"/>
            <a:ext cx="2990088" cy="405384"/>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플롯 z = x + GAUSS(0, p)</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성분마다 잡음을 따로 하나씩</a:t>
            </a:r>
            <a:endParaRPr lang="en-US" sz="1100" dirty="0"/>
          </a:p>
        </p:txBody>
      </p:sp>
      <p:sp>
        <p:nvSpPr>
          <p:cNvPr id="31" name="Text 29"/>
          <p:cNvSpPr/>
          <p:nvPr/>
        </p:nvSpPr>
        <p:spPr>
          <a:xfrm>
            <a:off x="8174736" y="5045964"/>
            <a:ext cx="256032" cy="256032"/>
          </a:xfrm>
          <a:prstGeom prst="ellipse">
            <a:avLst/>
          </a:prstGeom>
          <a:solidFill>
            <a:srgbClr val="7C3AED"/>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5</a:t>
            </a:r>
            <a:endParaRPr lang="en-US" sz="950" dirty="0"/>
          </a:p>
        </p:txBody>
      </p:sp>
      <p:sp>
        <p:nvSpPr>
          <p:cNvPr id="32" name="Text 30"/>
          <p:cNvSpPr txBox="1"/>
          <p:nvPr/>
        </p:nvSpPr>
        <p:spPr>
          <a:xfrm>
            <a:off x="8558784" y="5027676"/>
            <a:ext cx="2990088" cy="405384"/>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지도용 위도 · 경도 · 고도</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바꿔서 저장 (3.4)</a:t>
            </a:r>
            <a:endParaRPr lang="en-US" sz="110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3.3 클러터 생성 (f_Pcs_Measure 뒷부분)</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같은 스캔에서 플롯을 만든 뒤, 정해 둔 범위 안에서 거리 · 방위각 · 고각을 균등 난수로 하나씩 뽑아 클러터를 만듭니다.</a:t>
            </a:r>
            <a:endParaRPr lang="en-US" sz="1250" dirty="0"/>
          </a:p>
        </p:txBody>
      </p:sp>
      <p:sp>
        <p:nvSpPr>
          <p:cNvPr id="5" name="Text 3"/>
          <p:cNvSpPr txBox="1"/>
          <p:nvPr/>
        </p:nvSpPr>
        <p:spPr>
          <a:xfrm>
            <a:off x="640080" y="2231136"/>
            <a:ext cx="6583680" cy="219456"/>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클러터 범위 (과제 조건)</a:t>
            </a:r>
            <a:pPr indent="0" marL="0">
              <a:buNone/>
            </a:pPr>
            <a:r>
              <a:rPr lang="en-US" sz="950" dirty="0">
                <a:solidFill>
                  <a:srgbClr val="8794AC"/>
                </a:solidFill>
                <a:latin typeface="Consolas" pitchFamily="34" charset="0"/>
                <a:ea typeface="Consolas" pitchFamily="34" charset="-122"/>
                <a:cs typeface="Consolas" pitchFamily="34" charset="-120"/>
              </a:rPr>
              <a:t>    PlotSim.h</a:t>
            </a:r>
            <a:endParaRPr lang="en-US" sz="1150" dirty="0"/>
          </a:p>
        </p:txBody>
      </p:sp>
      <p:sp>
        <p:nvSpPr>
          <p:cNvPr id="6" name="Shape 4"/>
          <p:cNvSpPr/>
          <p:nvPr/>
        </p:nvSpPr>
        <p:spPr>
          <a:xfrm>
            <a:off x="640080" y="2478024"/>
            <a:ext cx="6583680" cy="1098804"/>
          </a:xfrm>
          <a:prstGeom prst="rect">
            <a:avLst/>
          </a:prstGeom>
          <a:solidFill>
            <a:srgbClr val="FFFFFF"/>
          </a:solidFill>
          <a:ln w="9525">
            <a:solidFill>
              <a:srgbClr val="D2D9E5"/>
            </a:solidFill>
            <a:prstDash val="solid"/>
          </a:ln>
        </p:spPr>
      </p:sp>
      <p:sp>
        <p:nvSpPr>
          <p:cNvPr id="7" name="Text 5"/>
          <p:cNvSpPr txBox="1"/>
          <p:nvPr/>
        </p:nvSpPr>
        <p:spPr>
          <a:xfrm>
            <a:off x="749808" y="2551176"/>
            <a:ext cx="6364224" cy="95250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17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PCS_CLT_RNG_MIN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200.0    </a:t>
            </a:r>
            <a:pPr indent="0" marL="0">
              <a:lnSpc>
                <a:spcPts val="1250"/>
              </a:lnSpc>
              <a:buNone/>
            </a:pPr>
            <a:r>
              <a:rPr lang="en-US" sz="950" dirty="0">
                <a:solidFill>
                  <a:srgbClr val="059669"/>
                </a:solidFill>
                <a:latin typeface="Consolas" pitchFamily="34" charset="0"/>
                <a:ea typeface="Consolas" pitchFamily="34" charset="-122"/>
                <a:cs typeface="Consolas" pitchFamily="34" charset="-120"/>
              </a:rPr>
              <a:t>// [m]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18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PCS_CLT_RNG_MAX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15000.0</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19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PCS_CLT_AZI_MIN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60.0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059669"/>
                </a:solidFill>
                <a:latin typeface="Consolas" pitchFamily="34" charset="0"/>
                <a:ea typeface="Consolas" pitchFamily="34" charset="-122"/>
                <a:cs typeface="Consolas" pitchFamily="34" charset="-120"/>
              </a:rPr>
              <a:t>// [deg]</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20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PCS_CLT_AZI_MAX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60.0</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21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PCS_CLT_ELE_MIN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0.0      </a:t>
            </a:r>
            <a:pPr indent="0" marL="0">
              <a:lnSpc>
                <a:spcPts val="1250"/>
              </a:lnSpc>
              <a:buNone/>
            </a:pPr>
            <a:r>
              <a:rPr lang="en-US" sz="950" dirty="0">
                <a:solidFill>
                  <a:srgbClr val="059669"/>
                </a:solidFill>
                <a:latin typeface="Consolas" pitchFamily="34" charset="0"/>
                <a:ea typeface="Consolas" pitchFamily="34" charset="-122"/>
                <a:cs typeface="Consolas" pitchFamily="34" charset="-120"/>
              </a:rPr>
              <a:t>// [deg]</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22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#define PCS_CLT_ELE_MAX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30.0</a:t>
            </a:r>
            <a:endParaRPr lang="en-US" sz="950" dirty="0"/>
          </a:p>
        </p:txBody>
      </p:sp>
      <p:sp>
        <p:nvSpPr>
          <p:cNvPr id="8" name="Text 6"/>
          <p:cNvSpPr txBox="1"/>
          <p:nvPr/>
        </p:nvSpPr>
        <p:spPr>
          <a:xfrm>
            <a:off x="640080" y="3704844"/>
            <a:ext cx="6583680" cy="219456"/>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클러터 생성</a:t>
            </a:r>
            <a:pPr indent="0" marL="0">
              <a:buNone/>
            </a:pPr>
            <a:r>
              <a:rPr lang="en-US" sz="950" dirty="0">
                <a:solidFill>
                  <a:srgbClr val="8794AC"/>
                </a:solidFill>
                <a:latin typeface="Consolas" pitchFamily="34" charset="0"/>
                <a:ea typeface="Consolas" pitchFamily="34" charset="-122"/>
                <a:cs typeface="Consolas" pitchFamily="34" charset="-120"/>
              </a:rPr>
              <a:t>    PlotSim.c</a:t>
            </a:r>
            <a:endParaRPr lang="en-US" sz="1150" dirty="0"/>
          </a:p>
        </p:txBody>
      </p:sp>
      <p:sp>
        <p:nvSpPr>
          <p:cNvPr id="9" name="Shape 7"/>
          <p:cNvSpPr/>
          <p:nvPr/>
        </p:nvSpPr>
        <p:spPr>
          <a:xfrm>
            <a:off x="640080" y="3951732"/>
            <a:ext cx="6583680" cy="2210054"/>
          </a:xfrm>
          <a:prstGeom prst="rect">
            <a:avLst/>
          </a:prstGeom>
          <a:solidFill>
            <a:srgbClr val="FFFFFF"/>
          </a:solidFill>
          <a:ln w="9525">
            <a:solidFill>
              <a:srgbClr val="D2D9E5"/>
            </a:solidFill>
            <a:prstDash val="solid"/>
          </a:ln>
        </p:spPr>
      </p:sp>
      <p:sp>
        <p:nvSpPr>
          <p:cNvPr id="10" name="Shape 8"/>
          <p:cNvSpPr/>
          <p:nvPr/>
        </p:nvSpPr>
        <p:spPr>
          <a:xfrm>
            <a:off x="672084" y="4189120"/>
            <a:ext cx="6519672" cy="306527"/>
          </a:xfrm>
          <a:prstGeom prst="rect">
            <a:avLst/>
          </a:prstGeom>
          <a:solidFill>
            <a:srgbClr val="FDEEEE"/>
          </a:solidFill>
          <a:ln/>
        </p:spPr>
      </p:sp>
      <p:sp>
        <p:nvSpPr>
          <p:cNvPr id="11" name="Shape 9"/>
          <p:cNvSpPr/>
          <p:nvPr/>
        </p:nvSpPr>
        <p:spPr>
          <a:xfrm>
            <a:off x="672084" y="4189120"/>
            <a:ext cx="41148" cy="306527"/>
          </a:xfrm>
          <a:prstGeom prst="rect">
            <a:avLst/>
          </a:prstGeom>
          <a:solidFill>
            <a:srgbClr val="DC2626"/>
          </a:solidFill>
          <a:ln/>
        </p:spPr>
      </p:sp>
      <p:sp>
        <p:nvSpPr>
          <p:cNvPr id="12" name="Shape 10"/>
          <p:cNvSpPr/>
          <p:nvPr/>
        </p:nvSpPr>
        <p:spPr>
          <a:xfrm>
            <a:off x="672084" y="4824120"/>
            <a:ext cx="6519672" cy="941527"/>
          </a:xfrm>
          <a:prstGeom prst="rect">
            <a:avLst/>
          </a:prstGeom>
          <a:solidFill>
            <a:srgbClr val="FEF5E7"/>
          </a:solidFill>
          <a:ln/>
        </p:spPr>
      </p:sp>
      <p:sp>
        <p:nvSpPr>
          <p:cNvPr id="13" name="Shape 11"/>
          <p:cNvSpPr/>
          <p:nvPr/>
        </p:nvSpPr>
        <p:spPr>
          <a:xfrm>
            <a:off x="672084" y="4824120"/>
            <a:ext cx="41148" cy="941527"/>
          </a:xfrm>
          <a:prstGeom prst="rect">
            <a:avLst/>
          </a:prstGeom>
          <a:solidFill>
            <a:srgbClr val="D97706"/>
          </a:solidFill>
          <a:ln/>
        </p:spPr>
      </p:sp>
      <p:sp>
        <p:nvSpPr>
          <p:cNvPr id="14" name="Shape 12"/>
          <p:cNvSpPr/>
          <p:nvPr/>
        </p:nvSpPr>
        <p:spPr>
          <a:xfrm>
            <a:off x="672084" y="5776620"/>
            <a:ext cx="6519672" cy="147777"/>
          </a:xfrm>
          <a:prstGeom prst="rect">
            <a:avLst/>
          </a:prstGeom>
          <a:solidFill>
            <a:srgbClr val="E8F6F0"/>
          </a:solidFill>
          <a:ln/>
        </p:spPr>
      </p:sp>
      <p:sp>
        <p:nvSpPr>
          <p:cNvPr id="15" name="Shape 13"/>
          <p:cNvSpPr/>
          <p:nvPr/>
        </p:nvSpPr>
        <p:spPr>
          <a:xfrm>
            <a:off x="672084" y="5776620"/>
            <a:ext cx="41148" cy="147777"/>
          </a:xfrm>
          <a:prstGeom prst="rect">
            <a:avLst/>
          </a:prstGeom>
          <a:solidFill>
            <a:srgbClr val="059669"/>
          </a:solidFill>
          <a:ln/>
        </p:spPr>
      </p:sp>
      <p:sp>
        <p:nvSpPr>
          <p:cNvPr id="16" name="Text 14"/>
          <p:cNvSpPr txBox="1"/>
          <p:nvPr/>
        </p:nvSpPr>
        <p:spPr>
          <a:xfrm>
            <a:off x="749808" y="4024884"/>
            <a:ext cx="6364224" cy="206375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142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클러터: FOV 안 균등분포, 매 스캔 새로 뽑음</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143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st_Out-&gt;nClutterNum = nClutterNum;</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145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for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(nClutter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nClutter &lt; nClutterNum; nClutter++)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146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147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st_Clutter      = &amp;st_Out-&gt;st_Clutter[nClutter];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148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st_Clutter-&gt;r   =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PCS_CLT_RNG_MIN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PCS_CLT_RNG_MAX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PCS_CLT_RNG_MIN</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 UNIRAN());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149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st_Clutter-&gt;az  = f_Deg_To_Rad(</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PCS_CLT_AZI_MIN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PCS_CLT_AZI_MAX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PCS_CLT_AZI_MIN</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 UNIRAN()));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150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st_Clutter-&gt;el  = f_Deg_To_Rad(</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PCS_CLT_ELE_MIN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PCS_CLT_ELE_MAX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PCS_CLT_ELE_MIN</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 UNIRAN()));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151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st_Out-&gt;st_ClutterLla[nClutter] = f_Pcs_SphToLla(st_Clutter, st_Radar);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152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p:txBody>
      </p:sp>
      <p:sp>
        <p:nvSpPr>
          <p:cNvPr id="17" name="Text 15"/>
          <p:cNvSpPr/>
          <p:nvPr/>
        </p:nvSpPr>
        <p:spPr>
          <a:xfrm>
            <a:off x="7123176" y="4162425"/>
            <a:ext cx="201168" cy="201168"/>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18" name="Text 16"/>
          <p:cNvSpPr/>
          <p:nvPr/>
        </p:nvSpPr>
        <p:spPr>
          <a:xfrm>
            <a:off x="7123176" y="4797425"/>
            <a:ext cx="201168" cy="201168"/>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19" name="Text 17"/>
          <p:cNvSpPr/>
          <p:nvPr/>
        </p:nvSpPr>
        <p:spPr>
          <a:xfrm>
            <a:off x="7123176" y="5749925"/>
            <a:ext cx="201168" cy="201168"/>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20" name="Text 18"/>
          <p:cNvSpPr/>
          <p:nvPr/>
        </p:nvSpPr>
        <p:spPr>
          <a:xfrm>
            <a:off x="7534656" y="2286000"/>
            <a:ext cx="256032" cy="256032"/>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21" name="Text 19"/>
          <p:cNvSpPr txBox="1"/>
          <p:nvPr/>
        </p:nvSpPr>
        <p:spPr>
          <a:xfrm>
            <a:off x="7918704" y="2267712"/>
            <a:ext cx="3630168"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스캔마다 5 개</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화면에서 넣은 스캔당 클러터 수</a:t>
            </a:r>
            <a:endParaRPr lang="en-US" sz="1150" dirty="0"/>
          </a:p>
        </p:txBody>
      </p:sp>
      <p:sp>
        <p:nvSpPr>
          <p:cNvPr id="22" name="Text 20"/>
          <p:cNvSpPr/>
          <p:nvPr/>
        </p:nvSpPr>
        <p:spPr>
          <a:xfrm>
            <a:off x="7534656" y="2891028"/>
            <a:ext cx="256032" cy="256032"/>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23" name="Text 21"/>
          <p:cNvSpPr txBox="1"/>
          <p:nvPr/>
        </p:nvSpPr>
        <p:spPr>
          <a:xfrm>
            <a:off x="7918704" y="2872740"/>
            <a:ext cx="3630168" cy="614934"/>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성분마다 UNIRAN() 하나</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최소 + (최대 − 최소) × u</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각도는 도로 뽑아 라디안으로 바꾼다</a:t>
            </a:r>
            <a:endParaRPr lang="en-US" sz="1150" dirty="0"/>
          </a:p>
        </p:txBody>
      </p:sp>
      <p:sp>
        <p:nvSpPr>
          <p:cNvPr id="24" name="Text 22"/>
          <p:cNvSpPr/>
          <p:nvPr/>
        </p:nvSpPr>
        <p:spPr>
          <a:xfrm>
            <a:off x="7534656" y="3688842"/>
            <a:ext cx="256032" cy="256032"/>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25" name="Text 23"/>
          <p:cNvSpPr txBox="1"/>
          <p:nvPr/>
        </p:nvSpPr>
        <p:spPr>
          <a:xfrm>
            <a:off x="7918704" y="3670554"/>
            <a:ext cx="3630168" cy="422148"/>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위도 · 경도 · 고도로 바꿔 저장</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플롯과 같은 함수 (3.4)</a:t>
            </a:r>
            <a:endParaRPr lang="en-US" sz="11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3.4 위도 · 경도 · 고도 변환 (f_Pcs_SphToLla)</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플롯 · 클러터는 레이다 기준 거리 · 방위각 · 고각이라 지도에 바로 찍을 수 없습니다. 앞에서 본 변환을 거꾸로 밟아 위도 · 경도 · 고도로 바꿉니다.</a:t>
            </a:r>
            <a:endParaRPr lang="en-US" sz="1250" dirty="0"/>
          </a:p>
        </p:txBody>
      </p:sp>
      <p:sp>
        <p:nvSpPr>
          <p:cNvPr id="5" name="Text 3"/>
          <p:cNvSpPr txBox="1"/>
          <p:nvPr/>
        </p:nvSpPr>
        <p:spPr>
          <a:xfrm>
            <a:off x="6675120" y="1216152"/>
            <a:ext cx="4873752" cy="438912"/>
          </a:xfrm>
          <a:prstGeom prst="rect">
            <a:avLst/>
          </a:prstGeom>
          <a:noFill/>
          <a:ln/>
        </p:spPr>
        <p:txBody>
          <a:bodyPr wrap="square" lIns="0" tIns="0" rIns="0" bIns="0" rtlCol="0" anchor="ctr"/>
          <a:lstStyle/>
          <a:p>
            <a:pPr algn="r" indent="0" marL="0">
              <a:buNone/>
            </a:pPr>
            <a:r>
              <a:rPr lang="en-US" sz="1000" dirty="0">
                <a:solidFill>
                  <a:srgbClr val="8794AC"/>
                </a:solidFill>
                <a:latin typeface="Consolas" pitchFamily="34" charset="0"/>
                <a:ea typeface="Consolas" pitchFamily="34" charset="-122"/>
                <a:cs typeface="Consolas" pitchFamily="34" charset="-120"/>
              </a:rPr>
              <a:t>TargetSimCore/src/PlotSim.c</a:t>
            </a:r>
            <a:endParaRPr lang="en-US" sz="1000" dirty="0"/>
          </a:p>
        </p:txBody>
      </p:sp>
      <p:sp>
        <p:nvSpPr>
          <p:cNvPr id="6" name="Shape 4"/>
          <p:cNvSpPr/>
          <p:nvPr/>
        </p:nvSpPr>
        <p:spPr>
          <a:xfrm>
            <a:off x="640080" y="2231136"/>
            <a:ext cx="6080760" cy="2368804"/>
          </a:xfrm>
          <a:prstGeom prst="rect">
            <a:avLst/>
          </a:prstGeom>
          <a:solidFill>
            <a:srgbClr val="FFFFFF"/>
          </a:solidFill>
          <a:ln w="9525">
            <a:solidFill>
              <a:srgbClr val="D2D9E5"/>
            </a:solidFill>
            <a:prstDash val="solid"/>
          </a:ln>
        </p:spPr>
      </p:sp>
      <p:sp>
        <p:nvSpPr>
          <p:cNvPr id="7" name="Shape 5"/>
          <p:cNvSpPr/>
          <p:nvPr/>
        </p:nvSpPr>
        <p:spPr>
          <a:xfrm>
            <a:off x="672084" y="3103524"/>
            <a:ext cx="6016752" cy="147777"/>
          </a:xfrm>
          <a:prstGeom prst="rect">
            <a:avLst/>
          </a:prstGeom>
          <a:solidFill>
            <a:srgbClr val="FDEEEE"/>
          </a:solidFill>
          <a:ln/>
        </p:spPr>
      </p:sp>
      <p:sp>
        <p:nvSpPr>
          <p:cNvPr id="8" name="Shape 6"/>
          <p:cNvSpPr/>
          <p:nvPr/>
        </p:nvSpPr>
        <p:spPr>
          <a:xfrm>
            <a:off x="672084" y="3103524"/>
            <a:ext cx="41148" cy="147777"/>
          </a:xfrm>
          <a:prstGeom prst="rect">
            <a:avLst/>
          </a:prstGeom>
          <a:solidFill>
            <a:srgbClr val="DC2626"/>
          </a:solidFill>
          <a:ln/>
        </p:spPr>
      </p:sp>
      <p:sp>
        <p:nvSpPr>
          <p:cNvPr id="9" name="Shape 7"/>
          <p:cNvSpPr/>
          <p:nvPr/>
        </p:nvSpPr>
        <p:spPr>
          <a:xfrm>
            <a:off x="672084" y="3262274"/>
            <a:ext cx="6016752" cy="147777"/>
          </a:xfrm>
          <a:prstGeom prst="rect">
            <a:avLst/>
          </a:prstGeom>
          <a:solidFill>
            <a:srgbClr val="FEF5E7"/>
          </a:solidFill>
          <a:ln/>
        </p:spPr>
      </p:sp>
      <p:sp>
        <p:nvSpPr>
          <p:cNvPr id="10" name="Shape 8"/>
          <p:cNvSpPr/>
          <p:nvPr/>
        </p:nvSpPr>
        <p:spPr>
          <a:xfrm>
            <a:off x="672084" y="3262274"/>
            <a:ext cx="41148" cy="147777"/>
          </a:xfrm>
          <a:prstGeom prst="rect">
            <a:avLst/>
          </a:prstGeom>
          <a:solidFill>
            <a:srgbClr val="D97706"/>
          </a:solidFill>
          <a:ln/>
        </p:spPr>
      </p:sp>
      <p:sp>
        <p:nvSpPr>
          <p:cNvPr id="11" name="Shape 9"/>
          <p:cNvSpPr/>
          <p:nvPr/>
        </p:nvSpPr>
        <p:spPr>
          <a:xfrm>
            <a:off x="672084" y="3421024"/>
            <a:ext cx="6016752" cy="306527"/>
          </a:xfrm>
          <a:prstGeom prst="rect">
            <a:avLst/>
          </a:prstGeom>
          <a:solidFill>
            <a:srgbClr val="E8F6F0"/>
          </a:solidFill>
          <a:ln/>
        </p:spPr>
      </p:sp>
      <p:sp>
        <p:nvSpPr>
          <p:cNvPr id="12" name="Shape 10"/>
          <p:cNvSpPr/>
          <p:nvPr/>
        </p:nvSpPr>
        <p:spPr>
          <a:xfrm>
            <a:off x="672084" y="3421024"/>
            <a:ext cx="41148" cy="306527"/>
          </a:xfrm>
          <a:prstGeom prst="rect">
            <a:avLst/>
          </a:prstGeom>
          <a:solidFill>
            <a:srgbClr val="059669"/>
          </a:solidFill>
          <a:ln/>
        </p:spPr>
      </p:sp>
      <p:sp>
        <p:nvSpPr>
          <p:cNvPr id="13" name="Shape 11"/>
          <p:cNvSpPr/>
          <p:nvPr/>
        </p:nvSpPr>
        <p:spPr>
          <a:xfrm>
            <a:off x="672084" y="3738524"/>
            <a:ext cx="6016752" cy="465277"/>
          </a:xfrm>
          <a:prstGeom prst="rect">
            <a:avLst/>
          </a:prstGeom>
          <a:solidFill>
            <a:srgbClr val="EBF2FE"/>
          </a:solidFill>
          <a:ln/>
        </p:spPr>
      </p:sp>
      <p:sp>
        <p:nvSpPr>
          <p:cNvPr id="14" name="Shape 12"/>
          <p:cNvSpPr/>
          <p:nvPr/>
        </p:nvSpPr>
        <p:spPr>
          <a:xfrm>
            <a:off x="672084" y="3738524"/>
            <a:ext cx="41148" cy="465277"/>
          </a:xfrm>
          <a:prstGeom prst="rect">
            <a:avLst/>
          </a:prstGeom>
          <a:solidFill>
            <a:srgbClr val="2563EB"/>
          </a:solidFill>
          <a:ln/>
        </p:spPr>
      </p:sp>
      <p:sp>
        <p:nvSpPr>
          <p:cNvPr id="15" name="Shape 13"/>
          <p:cNvSpPr/>
          <p:nvPr/>
        </p:nvSpPr>
        <p:spPr>
          <a:xfrm>
            <a:off x="672084" y="4214774"/>
            <a:ext cx="6016752" cy="147777"/>
          </a:xfrm>
          <a:prstGeom prst="rect">
            <a:avLst/>
          </a:prstGeom>
          <a:solidFill>
            <a:srgbClr val="F3EEFE"/>
          </a:solidFill>
          <a:ln/>
        </p:spPr>
      </p:sp>
      <p:sp>
        <p:nvSpPr>
          <p:cNvPr id="16" name="Shape 14"/>
          <p:cNvSpPr/>
          <p:nvPr/>
        </p:nvSpPr>
        <p:spPr>
          <a:xfrm>
            <a:off x="672084" y="4214774"/>
            <a:ext cx="41148" cy="147777"/>
          </a:xfrm>
          <a:prstGeom prst="rect">
            <a:avLst/>
          </a:prstGeom>
          <a:solidFill>
            <a:srgbClr val="7C3AED"/>
          </a:solidFill>
          <a:ln/>
        </p:spPr>
      </p:sp>
      <p:sp>
        <p:nvSpPr>
          <p:cNvPr id="17" name="Text 15"/>
          <p:cNvSpPr txBox="1"/>
          <p:nvPr/>
        </p:nvSpPr>
        <p:spPr>
          <a:xfrm>
            <a:off x="749808" y="2304288"/>
            <a:ext cx="5861304" cy="222250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62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구좌표 -&gt; 안테나 -&gt; 동체 -&gt; NED -&gt; ECEF -&gt; LLA.</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63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static STRUCT_Coord_Lla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f_Pcs_SphToLla(</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const STRUCT_Coord_Sph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*st_Sph,</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const ST_TargetState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*st_Radar)</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64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8794AC"/>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71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st_Ant   = f_Trans_Ant_Sph_To_XYZ(st_Sph-&gt;r, st_Sph-&gt;az, st_Sph-&gt;el);</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72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st_Body  = f_Trans_Ant_To_Body(st_Ant.x, st_Ant.y, st_Ant.z);</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73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st_Ned   = f_Trans_Body_To_Ned(st_Body.x, st_Body.y, st_Body.z,</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st_Att-&gt;Roll, st_Att-&gt;Yaw, st_Att-&gt;Pitch);</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74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st_Ecef  = f_Trans_Ned_To_Ecef(st_Ned.x, st_Ned.y, st_Ned.z,</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st_Radar-&gt;st_PosEcef.x, st_Radar-&gt;st_PosEcef.y, st_Radar-&gt;st_PosEcef.z,</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75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st_Radar-&gt;st_Lla.Lat, st_Radar-&gt;st_Lla.Lon);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77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return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f_Trans_Ecef_To_Lla(st_Ecef.x, st_Ecef.y, st_Ecef.z);</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78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p:txBody>
      </p:sp>
      <p:sp>
        <p:nvSpPr>
          <p:cNvPr id="18" name="Text 16"/>
          <p:cNvSpPr/>
          <p:nvPr/>
        </p:nvSpPr>
        <p:spPr>
          <a:xfrm>
            <a:off x="6620256" y="3076829"/>
            <a:ext cx="201168" cy="201168"/>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19" name="Text 17"/>
          <p:cNvSpPr/>
          <p:nvPr/>
        </p:nvSpPr>
        <p:spPr>
          <a:xfrm>
            <a:off x="6848856" y="3235579"/>
            <a:ext cx="201168" cy="201168"/>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20" name="Text 18"/>
          <p:cNvSpPr/>
          <p:nvPr/>
        </p:nvSpPr>
        <p:spPr>
          <a:xfrm>
            <a:off x="6620256" y="3394329"/>
            <a:ext cx="201168" cy="201168"/>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21" name="Text 19"/>
          <p:cNvSpPr/>
          <p:nvPr/>
        </p:nvSpPr>
        <p:spPr>
          <a:xfrm>
            <a:off x="6620256" y="3711829"/>
            <a:ext cx="201168" cy="201168"/>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22" name="Text 20"/>
          <p:cNvSpPr/>
          <p:nvPr/>
        </p:nvSpPr>
        <p:spPr>
          <a:xfrm>
            <a:off x="6620256" y="4188079"/>
            <a:ext cx="201168" cy="201168"/>
          </a:xfrm>
          <a:prstGeom prst="ellipse">
            <a:avLst/>
          </a:prstGeom>
          <a:solidFill>
            <a:srgbClr val="7C3AED"/>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5</a:t>
            </a:r>
            <a:endParaRPr lang="en-US" sz="950" dirty="0"/>
          </a:p>
        </p:txBody>
      </p:sp>
      <p:sp>
        <p:nvSpPr>
          <p:cNvPr id="23" name="Shape 21"/>
          <p:cNvSpPr/>
          <p:nvPr/>
        </p:nvSpPr>
        <p:spPr>
          <a:xfrm>
            <a:off x="640080" y="4801108"/>
            <a:ext cx="6080760" cy="786384"/>
          </a:xfrm>
          <a:prstGeom prst="roundRect">
            <a:avLst>
              <a:gd name="adj" fmla="val 6977"/>
            </a:avLst>
          </a:prstGeom>
          <a:solidFill>
            <a:srgbClr val="F7F9FC"/>
          </a:solidFill>
          <a:ln w="9525">
            <a:solidFill>
              <a:srgbClr val="D2D9E5"/>
            </a:solidFill>
            <a:prstDash val="solid"/>
          </a:ln>
        </p:spPr>
      </p:sp>
      <p:sp>
        <p:nvSpPr>
          <p:cNvPr id="24" name="Shape 22"/>
          <p:cNvSpPr/>
          <p:nvPr/>
        </p:nvSpPr>
        <p:spPr>
          <a:xfrm>
            <a:off x="859536" y="5016754"/>
            <a:ext cx="64008" cy="64008"/>
          </a:xfrm>
          <a:prstGeom prst="rect">
            <a:avLst/>
          </a:prstGeom>
          <a:solidFill>
            <a:srgbClr val="8794AC"/>
          </a:solidFill>
          <a:ln/>
        </p:spPr>
      </p:sp>
      <p:sp>
        <p:nvSpPr>
          <p:cNvPr id="25" name="Text 23"/>
          <p:cNvSpPr txBox="1"/>
          <p:nvPr/>
        </p:nvSpPr>
        <p:spPr>
          <a:xfrm>
            <a:off x="1024128" y="4956556"/>
            <a:ext cx="5495544" cy="202692"/>
          </a:xfrm>
          <a:prstGeom prst="rect">
            <a:avLst/>
          </a:prstGeom>
          <a:noFill/>
          <a:ln/>
        </p:spPr>
        <p:txBody>
          <a:bodyPr wrap="square" lIns="0" tIns="0" rIns="0" bIns="0" rtlCol="0" anchor="t"/>
          <a:lstStyle/>
          <a:p>
            <a:pPr indent="0" marL="0">
              <a:lnSpc>
                <a:spcPct val="105000"/>
              </a:lnSpc>
              <a:buNone/>
            </a:pPr>
            <a:r>
              <a:rPr lang="en-US" sz="1100" dirty="0">
                <a:solidFill>
                  <a:srgbClr val="1B2740"/>
                </a:solidFill>
                <a:latin typeface="맑은 고딕" pitchFamily="34" charset="0"/>
                <a:ea typeface="맑은 고딕" pitchFamily="34" charset="-122"/>
                <a:cs typeface="맑은 고딕" pitchFamily="34" charset="-120"/>
              </a:rPr>
              <a:t>자세 · 위치는 그 스캔 시각의 플랫폼 값 (st_Radar)</a:t>
            </a:r>
            <a:endParaRPr lang="en-US" sz="1100" dirty="0"/>
          </a:p>
        </p:txBody>
      </p:sp>
      <p:sp>
        <p:nvSpPr>
          <p:cNvPr id="26" name="Shape 24"/>
          <p:cNvSpPr/>
          <p:nvPr/>
        </p:nvSpPr>
        <p:spPr>
          <a:xfrm>
            <a:off x="859536" y="5310886"/>
            <a:ext cx="64008" cy="64008"/>
          </a:xfrm>
          <a:prstGeom prst="rect">
            <a:avLst/>
          </a:prstGeom>
          <a:solidFill>
            <a:srgbClr val="8794AC"/>
          </a:solidFill>
          <a:ln/>
        </p:spPr>
      </p:sp>
      <p:sp>
        <p:nvSpPr>
          <p:cNvPr id="27" name="Text 25"/>
          <p:cNvSpPr txBox="1"/>
          <p:nvPr/>
        </p:nvSpPr>
        <p:spPr>
          <a:xfrm>
            <a:off x="1024128" y="5250688"/>
            <a:ext cx="5495544" cy="202692"/>
          </a:xfrm>
          <a:prstGeom prst="rect">
            <a:avLst/>
          </a:prstGeom>
          <a:noFill/>
          <a:ln/>
        </p:spPr>
        <p:txBody>
          <a:bodyPr wrap="square" lIns="0" tIns="0" rIns="0" bIns="0" rtlCol="0" anchor="t"/>
          <a:lstStyle/>
          <a:p>
            <a:pPr indent="0" marL="0">
              <a:lnSpc>
                <a:spcPct val="105000"/>
              </a:lnSpc>
              <a:buNone/>
            </a:pPr>
            <a:r>
              <a:rPr lang="en-US" sz="1100" dirty="0">
                <a:solidFill>
                  <a:srgbClr val="1B2740"/>
                </a:solidFill>
                <a:latin typeface="맑은 고딕" pitchFamily="34" charset="0"/>
                <a:ea typeface="맑은 고딕" pitchFamily="34" charset="-122"/>
                <a:cs typeface="맑은 고딕" pitchFamily="34" charset="-120"/>
              </a:rPr>
              <a:t>변환 함수 다섯 개는 모두 제공된 좌표변환 코드</a:t>
            </a:r>
            <a:endParaRPr lang="en-US" sz="1100" dirty="0"/>
          </a:p>
        </p:txBody>
      </p:sp>
      <p:sp>
        <p:nvSpPr>
          <p:cNvPr id="28" name="Shape 26"/>
          <p:cNvSpPr/>
          <p:nvPr/>
        </p:nvSpPr>
        <p:spPr>
          <a:xfrm>
            <a:off x="7086600" y="2267712"/>
            <a:ext cx="4462272" cy="329184"/>
          </a:xfrm>
          <a:prstGeom prst="roundRect">
            <a:avLst>
              <a:gd name="adj" fmla="val 16667"/>
            </a:avLst>
          </a:prstGeom>
          <a:solidFill>
            <a:srgbClr val="EBF2FE"/>
          </a:solidFill>
          <a:ln w="9525">
            <a:solidFill>
              <a:srgbClr val="2563EB"/>
            </a:solidFill>
            <a:prstDash val="solid"/>
          </a:ln>
        </p:spPr>
      </p:sp>
      <p:sp>
        <p:nvSpPr>
          <p:cNvPr id="29" name="Text 27"/>
          <p:cNvSpPr txBox="1"/>
          <p:nvPr/>
        </p:nvSpPr>
        <p:spPr>
          <a:xfrm>
            <a:off x="7232904" y="2267712"/>
            <a:ext cx="1737360" cy="329184"/>
          </a:xfrm>
          <a:prstGeom prst="rect">
            <a:avLst/>
          </a:prstGeom>
          <a:noFill/>
          <a:ln/>
        </p:spPr>
        <p:txBody>
          <a:bodyPr wrap="square" lIns="0" tIns="0" rIns="0" bIns="0" rtlCol="0" anchor="ctr"/>
          <a:lstStyle/>
          <a:p>
            <a:pPr indent="0" marL="0">
              <a:buNone/>
            </a:pPr>
            <a:r>
              <a:rPr lang="en-US" sz="1150" b="1" dirty="0">
                <a:solidFill>
                  <a:srgbClr val="2563EB"/>
                </a:solidFill>
                <a:latin typeface="맑은 고딕" pitchFamily="34" charset="0"/>
                <a:ea typeface="맑은 고딕" pitchFamily="34" charset="-122"/>
                <a:cs typeface="맑은 고딕" pitchFamily="34" charset="-120"/>
              </a:rPr>
              <a:t>구좌표</a:t>
            </a:r>
            <a:endParaRPr lang="en-US" sz="1150" dirty="0"/>
          </a:p>
        </p:txBody>
      </p:sp>
      <p:sp>
        <p:nvSpPr>
          <p:cNvPr id="30" name="Text 28"/>
          <p:cNvSpPr txBox="1"/>
          <p:nvPr/>
        </p:nvSpPr>
        <p:spPr>
          <a:xfrm>
            <a:off x="8915400" y="2267712"/>
            <a:ext cx="2542032" cy="32918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거리 · 방위각 · 고각</a:t>
            </a:r>
            <a:endParaRPr lang="en-US" sz="1050" dirty="0"/>
          </a:p>
        </p:txBody>
      </p:sp>
      <p:sp>
        <p:nvSpPr>
          <p:cNvPr id="31" name="Shape 29"/>
          <p:cNvSpPr/>
          <p:nvPr/>
        </p:nvSpPr>
        <p:spPr>
          <a:xfrm>
            <a:off x="7452360" y="2624328"/>
            <a:ext cx="0" cy="246888"/>
          </a:xfrm>
          <a:prstGeom prst="line">
            <a:avLst/>
          </a:prstGeom>
          <a:noFill/>
          <a:ln w="15875">
            <a:solidFill>
              <a:srgbClr val="8794AC"/>
            </a:solidFill>
            <a:prstDash val="solid"/>
            <a:tailEnd type="triangle"/>
          </a:ln>
        </p:spPr>
      </p:sp>
      <p:sp>
        <p:nvSpPr>
          <p:cNvPr id="32" name="Text 30"/>
          <p:cNvSpPr/>
          <p:nvPr/>
        </p:nvSpPr>
        <p:spPr>
          <a:xfrm>
            <a:off x="7598664" y="2647188"/>
            <a:ext cx="201168" cy="201168"/>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33" name="Text 31"/>
          <p:cNvSpPr txBox="1"/>
          <p:nvPr/>
        </p:nvSpPr>
        <p:spPr>
          <a:xfrm>
            <a:off x="7891272" y="2596896"/>
            <a:ext cx="3639312" cy="301752"/>
          </a:xfrm>
          <a:prstGeom prst="rect">
            <a:avLst/>
          </a:prstGeom>
          <a:noFill/>
          <a:ln/>
        </p:spPr>
        <p:txBody>
          <a:bodyPr wrap="square" lIns="0" tIns="0" rIns="0" bIns="0" rtlCol="0" anchor="ctr"/>
          <a:lstStyle/>
          <a:p>
            <a:pPr indent="0" marL="0">
              <a:buNone/>
            </a:pPr>
            <a:r>
              <a:rPr lang="en-US" sz="1050" dirty="0">
                <a:solidFill>
                  <a:srgbClr val="6B7890"/>
                </a:solidFill>
                <a:latin typeface="맑은 고딕" pitchFamily="34" charset="0"/>
                <a:ea typeface="맑은 고딕" pitchFamily="34" charset="-122"/>
                <a:cs typeface="맑은 고딕" pitchFamily="34" charset="-120"/>
              </a:rPr>
              <a:t>직교좌표로</a:t>
            </a:r>
            <a:endParaRPr lang="en-US" sz="1050" dirty="0"/>
          </a:p>
        </p:txBody>
      </p:sp>
      <p:sp>
        <p:nvSpPr>
          <p:cNvPr id="34" name="Shape 32"/>
          <p:cNvSpPr/>
          <p:nvPr/>
        </p:nvSpPr>
        <p:spPr>
          <a:xfrm>
            <a:off x="7086600" y="2898648"/>
            <a:ext cx="4462272" cy="329184"/>
          </a:xfrm>
          <a:prstGeom prst="roundRect">
            <a:avLst>
              <a:gd name="adj" fmla="val 16667"/>
            </a:avLst>
          </a:prstGeom>
          <a:solidFill>
            <a:srgbClr val="F7F9FC"/>
          </a:solidFill>
          <a:ln w="9525">
            <a:solidFill>
              <a:srgbClr val="D2D9E5"/>
            </a:solidFill>
            <a:prstDash val="solid"/>
          </a:ln>
        </p:spPr>
      </p:sp>
      <p:sp>
        <p:nvSpPr>
          <p:cNvPr id="35" name="Text 33"/>
          <p:cNvSpPr txBox="1"/>
          <p:nvPr/>
        </p:nvSpPr>
        <p:spPr>
          <a:xfrm>
            <a:off x="7232904" y="2898648"/>
            <a:ext cx="1737360" cy="329184"/>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안테나</a:t>
            </a:r>
            <a:endParaRPr lang="en-US" sz="1150" dirty="0"/>
          </a:p>
        </p:txBody>
      </p:sp>
      <p:sp>
        <p:nvSpPr>
          <p:cNvPr id="36" name="Text 34"/>
          <p:cNvSpPr txBox="1"/>
          <p:nvPr/>
        </p:nvSpPr>
        <p:spPr>
          <a:xfrm>
            <a:off x="8915400" y="2898648"/>
            <a:ext cx="2542032" cy="32918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왼쪽 · 위 · 조준축 방향 직교좌표</a:t>
            </a:r>
            <a:endParaRPr lang="en-US" sz="1050" dirty="0"/>
          </a:p>
        </p:txBody>
      </p:sp>
      <p:sp>
        <p:nvSpPr>
          <p:cNvPr id="37" name="Shape 35"/>
          <p:cNvSpPr/>
          <p:nvPr/>
        </p:nvSpPr>
        <p:spPr>
          <a:xfrm>
            <a:off x="7452360" y="3255264"/>
            <a:ext cx="0" cy="246888"/>
          </a:xfrm>
          <a:prstGeom prst="line">
            <a:avLst/>
          </a:prstGeom>
          <a:noFill/>
          <a:ln w="15875">
            <a:solidFill>
              <a:srgbClr val="8794AC"/>
            </a:solidFill>
            <a:prstDash val="solid"/>
            <a:tailEnd type="triangle"/>
          </a:ln>
        </p:spPr>
      </p:sp>
      <p:sp>
        <p:nvSpPr>
          <p:cNvPr id="38" name="Text 36"/>
          <p:cNvSpPr/>
          <p:nvPr/>
        </p:nvSpPr>
        <p:spPr>
          <a:xfrm>
            <a:off x="7598664" y="3278124"/>
            <a:ext cx="201168" cy="201168"/>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39" name="Text 37"/>
          <p:cNvSpPr txBox="1"/>
          <p:nvPr/>
        </p:nvSpPr>
        <p:spPr>
          <a:xfrm>
            <a:off x="7891272" y="3227832"/>
            <a:ext cx="3639312" cy="301752"/>
          </a:xfrm>
          <a:prstGeom prst="rect">
            <a:avLst/>
          </a:prstGeom>
          <a:noFill/>
          <a:ln/>
        </p:spPr>
        <p:txBody>
          <a:bodyPr wrap="square" lIns="0" tIns="0" rIns="0" bIns="0" rtlCol="0" anchor="ctr"/>
          <a:lstStyle/>
          <a:p>
            <a:pPr indent="0" marL="0">
              <a:buNone/>
            </a:pPr>
            <a:r>
              <a:rPr lang="en-US" sz="1050" dirty="0">
                <a:solidFill>
                  <a:srgbClr val="6B7890"/>
                </a:solidFill>
                <a:latin typeface="맑은 고딕" pitchFamily="34" charset="0"/>
                <a:ea typeface="맑은 고딕" pitchFamily="34" charset="-122"/>
                <a:cs typeface="맑은 고딕" pitchFamily="34" charset="-120"/>
              </a:rPr>
              <a:t>축 바꾸기</a:t>
            </a:r>
            <a:endParaRPr lang="en-US" sz="1050" dirty="0"/>
          </a:p>
        </p:txBody>
      </p:sp>
      <p:sp>
        <p:nvSpPr>
          <p:cNvPr id="40" name="Shape 38"/>
          <p:cNvSpPr/>
          <p:nvPr/>
        </p:nvSpPr>
        <p:spPr>
          <a:xfrm>
            <a:off x="7086600" y="3529584"/>
            <a:ext cx="4462272" cy="329184"/>
          </a:xfrm>
          <a:prstGeom prst="roundRect">
            <a:avLst>
              <a:gd name="adj" fmla="val 16667"/>
            </a:avLst>
          </a:prstGeom>
          <a:solidFill>
            <a:srgbClr val="F7F9FC"/>
          </a:solidFill>
          <a:ln w="9525">
            <a:solidFill>
              <a:srgbClr val="D2D9E5"/>
            </a:solidFill>
            <a:prstDash val="solid"/>
          </a:ln>
        </p:spPr>
      </p:sp>
      <p:sp>
        <p:nvSpPr>
          <p:cNvPr id="41" name="Text 39"/>
          <p:cNvSpPr txBox="1"/>
          <p:nvPr/>
        </p:nvSpPr>
        <p:spPr>
          <a:xfrm>
            <a:off x="7232904" y="3529584"/>
            <a:ext cx="1737360" cy="329184"/>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동체</a:t>
            </a:r>
            <a:endParaRPr lang="en-US" sz="1150" dirty="0"/>
          </a:p>
        </p:txBody>
      </p:sp>
      <p:sp>
        <p:nvSpPr>
          <p:cNvPr id="42" name="Text 40"/>
          <p:cNvSpPr txBox="1"/>
          <p:nvPr/>
        </p:nvSpPr>
        <p:spPr>
          <a:xfrm>
            <a:off x="8915400" y="3529584"/>
            <a:ext cx="2542032" cy="32918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플랫폼 선수 · 우현 · 아래</a:t>
            </a:r>
            <a:endParaRPr lang="en-US" sz="1050" dirty="0"/>
          </a:p>
        </p:txBody>
      </p:sp>
      <p:sp>
        <p:nvSpPr>
          <p:cNvPr id="43" name="Shape 41"/>
          <p:cNvSpPr/>
          <p:nvPr/>
        </p:nvSpPr>
        <p:spPr>
          <a:xfrm>
            <a:off x="7452360" y="3886200"/>
            <a:ext cx="0" cy="246888"/>
          </a:xfrm>
          <a:prstGeom prst="line">
            <a:avLst/>
          </a:prstGeom>
          <a:noFill/>
          <a:ln w="15875">
            <a:solidFill>
              <a:srgbClr val="8794AC"/>
            </a:solidFill>
            <a:prstDash val="solid"/>
            <a:tailEnd type="triangle"/>
          </a:ln>
        </p:spPr>
      </p:sp>
      <p:sp>
        <p:nvSpPr>
          <p:cNvPr id="44" name="Text 42"/>
          <p:cNvSpPr/>
          <p:nvPr/>
        </p:nvSpPr>
        <p:spPr>
          <a:xfrm>
            <a:off x="7598664" y="3909060"/>
            <a:ext cx="201168" cy="201168"/>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45" name="Text 43"/>
          <p:cNvSpPr txBox="1"/>
          <p:nvPr/>
        </p:nvSpPr>
        <p:spPr>
          <a:xfrm>
            <a:off x="7891272" y="3858768"/>
            <a:ext cx="3639312" cy="301752"/>
          </a:xfrm>
          <a:prstGeom prst="rect">
            <a:avLst/>
          </a:prstGeom>
          <a:noFill/>
          <a:ln/>
        </p:spPr>
        <p:txBody>
          <a:bodyPr wrap="square" lIns="0" tIns="0" rIns="0" bIns="0" rtlCol="0" anchor="ctr"/>
          <a:lstStyle/>
          <a:p>
            <a:pPr indent="0" marL="0">
              <a:buNone/>
            </a:pPr>
            <a:r>
              <a:rPr lang="en-US" sz="1050" dirty="0">
                <a:solidFill>
                  <a:srgbClr val="6B7890"/>
                </a:solidFill>
                <a:latin typeface="맑은 고딕" pitchFamily="34" charset="0"/>
                <a:ea typeface="맑은 고딕" pitchFamily="34" charset="-122"/>
                <a:cs typeface="맑은 고딕" pitchFamily="34" charset="-120"/>
              </a:rPr>
              <a:t>플랫폼 자세 (Roll · Pitch · Yaw)</a:t>
            </a:r>
            <a:endParaRPr lang="en-US" sz="1050" dirty="0"/>
          </a:p>
        </p:txBody>
      </p:sp>
      <p:sp>
        <p:nvSpPr>
          <p:cNvPr id="46" name="Shape 44"/>
          <p:cNvSpPr/>
          <p:nvPr/>
        </p:nvSpPr>
        <p:spPr>
          <a:xfrm>
            <a:off x="7086600" y="4160520"/>
            <a:ext cx="4462272" cy="329184"/>
          </a:xfrm>
          <a:prstGeom prst="roundRect">
            <a:avLst>
              <a:gd name="adj" fmla="val 16667"/>
            </a:avLst>
          </a:prstGeom>
          <a:solidFill>
            <a:srgbClr val="F7F9FC"/>
          </a:solidFill>
          <a:ln w="9525">
            <a:solidFill>
              <a:srgbClr val="D2D9E5"/>
            </a:solidFill>
            <a:prstDash val="solid"/>
          </a:ln>
        </p:spPr>
      </p:sp>
      <p:sp>
        <p:nvSpPr>
          <p:cNvPr id="47" name="Text 45"/>
          <p:cNvSpPr txBox="1"/>
          <p:nvPr/>
        </p:nvSpPr>
        <p:spPr>
          <a:xfrm>
            <a:off x="7232904" y="4160520"/>
            <a:ext cx="1737360" cy="329184"/>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NED</a:t>
            </a:r>
            <a:endParaRPr lang="en-US" sz="1150" dirty="0"/>
          </a:p>
        </p:txBody>
      </p:sp>
      <p:sp>
        <p:nvSpPr>
          <p:cNvPr id="48" name="Text 46"/>
          <p:cNvSpPr txBox="1"/>
          <p:nvPr/>
        </p:nvSpPr>
        <p:spPr>
          <a:xfrm>
            <a:off x="8915400" y="4160520"/>
            <a:ext cx="2542032" cy="32918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플랫폼 기준 북 · 동 · 아래</a:t>
            </a:r>
            <a:endParaRPr lang="en-US" sz="1050" dirty="0"/>
          </a:p>
        </p:txBody>
      </p:sp>
      <p:sp>
        <p:nvSpPr>
          <p:cNvPr id="49" name="Shape 47"/>
          <p:cNvSpPr/>
          <p:nvPr/>
        </p:nvSpPr>
        <p:spPr>
          <a:xfrm>
            <a:off x="7452360" y="4517136"/>
            <a:ext cx="0" cy="246888"/>
          </a:xfrm>
          <a:prstGeom prst="line">
            <a:avLst/>
          </a:prstGeom>
          <a:noFill/>
          <a:ln w="15875">
            <a:solidFill>
              <a:srgbClr val="8794AC"/>
            </a:solidFill>
            <a:prstDash val="solid"/>
            <a:tailEnd type="triangle"/>
          </a:ln>
        </p:spPr>
      </p:sp>
      <p:sp>
        <p:nvSpPr>
          <p:cNvPr id="50" name="Text 48"/>
          <p:cNvSpPr/>
          <p:nvPr/>
        </p:nvSpPr>
        <p:spPr>
          <a:xfrm>
            <a:off x="7598664" y="4539996"/>
            <a:ext cx="201168" cy="201168"/>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51" name="Text 49"/>
          <p:cNvSpPr txBox="1"/>
          <p:nvPr/>
        </p:nvSpPr>
        <p:spPr>
          <a:xfrm>
            <a:off x="7891272" y="4489704"/>
            <a:ext cx="3639312" cy="301752"/>
          </a:xfrm>
          <a:prstGeom prst="rect">
            <a:avLst/>
          </a:prstGeom>
          <a:noFill/>
          <a:ln/>
        </p:spPr>
        <p:txBody>
          <a:bodyPr wrap="square" lIns="0" tIns="0" rIns="0" bIns="0" rtlCol="0" anchor="ctr"/>
          <a:lstStyle/>
          <a:p>
            <a:pPr indent="0" marL="0">
              <a:buNone/>
            </a:pPr>
            <a:r>
              <a:rPr lang="en-US" sz="1050" dirty="0">
                <a:solidFill>
                  <a:srgbClr val="6B7890"/>
                </a:solidFill>
                <a:latin typeface="맑은 고딕" pitchFamily="34" charset="0"/>
                <a:ea typeface="맑은 고딕" pitchFamily="34" charset="-122"/>
                <a:cs typeface="맑은 고딕" pitchFamily="34" charset="-120"/>
              </a:rPr>
              <a:t>플랫폼 위치</a:t>
            </a:r>
            <a:endParaRPr lang="en-US" sz="1050" dirty="0"/>
          </a:p>
        </p:txBody>
      </p:sp>
      <p:sp>
        <p:nvSpPr>
          <p:cNvPr id="52" name="Shape 50"/>
          <p:cNvSpPr/>
          <p:nvPr/>
        </p:nvSpPr>
        <p:spPr>
          <a:xfrm>
            <a:off x="7086600" y="4791456"/>
            <a:ext cx="4462272" cy="329184"/>
          </a:xfrm>
          <a:prstGeom prst="roundRect">
            <a:avLst>
              <a:gd name="adj" fmla="val 16667"/>
            </a:avLst>
          </a:prstGeom>
          <a:solidFill>
            <a:srgbClr val="F7F9FC"/>
          </a:solidFill>
          <a:ln w="9525">
            <a:solidFill>
              <a:srgbClr val="D2D9E5"/>
            </a:solidFill>
            <a:prstDash val="solid"/>
          </a:ln>
        </p:spPr>
      </p:sp>
      <p:sp>
        <p:nvSpPr>
          <p:cNvPr id="53" name="Text 51"/>
          <p:cNvSpPr txBox="1"/>
          <p:nvPr/>
        </p:nvSpPr>
        <p:spPr>
          <a:xfrm>
            <a:off x="7232904" y="4791456"/>
            <a:ext cx="1737360" cy="329184"/>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ECEF</a:t>
            </a:r>
            <a:endParaRPr lang="en-US" sz="1150" dirty="0"/>
          </a:p>
        </p:txBody>
      </p:sp>
      <p:sp>
        <p:nvSpPr>
          <p:cNvPr id="54" name="Text 52"/>
          <p:cNvSpPr txBox="1"/>
          <p:nvPr/>
        </p:nvSpPr>
        <p:spPr>
          <a:xfrm>
            <a:off x="8915400" y="4791456"/>
            <a:ext cx="2542032" cy="32918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지구 중심 기준</a:t>
            </a:r>
            <a:endParaRPr lang="en-US" sz="1050" dirty="0"/>
          </a:p>
        </p:txBody>
      </p:sp>
      <p:sp>
        <p:nvSpPr>
          <p:cNvPr id="55" name="Shape 53"/>
          <p:cNvSpPr/>
          <p:nvPr/>
        </p:nvSpPr>
        <p:spPr>
          <a:xfrm>
            <a:off x="7452360" y="5148072"/>
            <a:ext cx="0" cy="246888"/>
          </a:xfrm>
          <a:prstGeom prst="line">
            <a:avLst/>
          </a:prstGeom>
          <a:noFill/>
          <a:ln w="15875">
            <a:solidFill>
              <a:srgbClr val="8794AC"/>
            </a:solidFill>
            <a:prstDash val="solid"/>
            <a:tailEnd type="triangle"/>
          </a:ln>
        </p:spPr>
      </p:sp>
      <p:sp>
        <p:nvSpPr>
          <p:cNvPr id="56" name="Text 54"/>
          <p:cNvSpPr/>
          <p:nvPr/>
        </p:nvSpPr>
        <p:spPr>
          <a:xfrm>
            <a:off x="7598664" y="5170932"/>
            <a:ext cx="201168" cy="201168"/>
          </a:xfrm>
          <a:prstGeom prst="ellipse">
            <a:avLst/>
          </a:prstGeom>
          <a:solidFill>
            <a:srgbClr val="7C3AED"/>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5</a:t>
            </a:r>
            <a:endParaRPr lang="en-US" sz="950" dirty="0"/>
          </a:p>
        </p:txBody>
      </p:sp>
      <p:sp>
        <p:nvSpPr>
          <p:cNvPr id="57" name="Text 55"/>
          <p:cNvSpPr txBox="1"/>
          <p:nvPr/>
        </p:nvSpPr>
        <p:spPr>
          <a:xfrm>
            <a:off x="7891272" y="5120640"/>
            <a:ext cx="3639312" cy="301752"/>
          </a:xfrm>
          <a:prstGeom prst="rect">
            <a:avLst/>
          </a:prstGeom>
          <a:noFill/>
          <a:ln/>
        </p:spPr>
        <p:txBody>
          <a:bodyPr wrap="square" lIns="0" tIns="0" rIns="0" bIns="0" rtlCol="0" anchor="ctr"/>
          <a:lstStyle/>
          <a:p>
            <a:pPr indent="0" marL="0">
              <a:buNone/>
            </a:pPr>
            <a:r>
              <a:rPr lang="en-US" sz="1050" dirty="0">
                <a:solidFill>
                  <a:srgbClr val="6B7890"/>
                </a:solidFill>
                <a:latin typeface="맑은 고딕" pitchFamily="34" charset="0"/>
                <a:ea typeface="맑은 고딕" pitchFamily="34" charset="-122"/>
                <a:cs typeface="맑은 고딕" pitchFamily="34" charset="-120"/>
              </a:rPr>
              <a:t>지구 타원체 (WGS-84)</a:t>
            </a:r>
            <a:endParaRPr lang="en-US" sz="1050" dirty="0"/>
          </a:p>
        </p:txBody>
      </p:sp>
      <p:sp>
        <p:nvSpPr>
          <p:cNvPr id="58" name="Shape 56"/>
          <p:cNvSpPr/>
          <p:nvPr/>
        </p:nvSpPr>
        <p:spPr>
          <a:xfrm>
            <a:off x="7086600" y="5422392"/>
            <a:ext cx="4462272" cy="329184"/>
          </a:xfrm>
          <a:prstGeom prst="roundRect">
            <a:avLst>
              <a:gd name="adj" fmla="val 16667"/>
            </a:avLst>
          </a:prstGeom>
          <a:solidFill>
            <a:srgbClr val="EBF2FE"/>
          </a:solidFill>
          <a:ln w="9525">
            <a:solidFill>
              <a:srgbClr val="2563EB"/>
            </a:solidFill>
            <a:prstDash val="solid"/>
          </a:ln>
        </p:spPr>
      </p:sp>
      <p:sp>
        <p:nvSpPr>
          <p:cNvPr id="59" name="Text 57"/>
          <p:cNvSpPr txBox="1"/>
          <p:nvPr/>
        </p:nvSpPr>
        <p:spPr>
          <a:xfrm>
            <a:off x="7232904" y="5422392"/>
            <a:ext cx="1737360" cy="329184"/>
          </a:xfrm>
          <a:prstGeom prst="rect">
            <a:avLst/>
          </a:prstGeom>
          <a:noFill/>
          <a:ln/>
        </p:spPr>
        <p:txBody>
          <a:bodyPr wrap="square" lIns="0" tIns="0" rIns="0" bIns="0" rtlCol="0" anchor="ctr"/>
          <a:lstStyle/>
          <a:p>
            <a:pPr indent="0" marL="0">
              <a:buNone/>
            </a:pPr>
            <a:r>
              <a:rPr lang="en-US" sz="1150" b="1" dirty="0">
                <a:solidFill>
                  <a:srgbClr val="2563EB"/>
                </a:solidFill>
                <a:latin typeface="맑은 고딕" pitchFamily="34" charset="0"/>
                <a:ea typeface="맑은 고딕" pitchFamily="34" charset="-122"/>
                <a:cs typeface="맑은 고딕" pitchFamily="34" charset="-120"/>
              </a:rPr>
              <a:t>위도 · 경도 · 고도</a:t>
            </a:r>
            <a:endParaRPr lang="en-US" sz="1150" dirty="0"/>
          </a:p>
        </p:txBody>
      </p:sp>
      <p:sp>
        <p:nvSpPr>
          <p:cNvPr id="60" name="Text 58"/>
          <p:cNvSpPr txBox="1"/>
          <p:nvPr/>
        </p:nvSpPr>
        <p:spPr>
          <a:xfrm>
            <a:off x="8915400" y="5422392"/>
            <a:ext cx="2542032" cy="329184"/>
          </a:xfrm>
          <a:prstGeom prst="rect">
            <a:avLst/>
          </a:prstGeom>
          <a:noFill/>
          <a:ln/>
        </p:spPr>
        <p:txBody>
          <a:bodyPr wrap="square" lIns="0" tIns="0" rIns="0" bIns="0" rtlCol="0" anchor="ctr"/>
          <a:lstStyle/>
          <a:p>
            <a:pPr indent="0" marL="0">
              <a:buNone/>
            </a:pPr>
            <a:r>
              <a:rPr lang="en-US" sz="1050" dirty="0">
                <a:solidFill>
                  <a:srgbClr val="4A5A7A"/>
                </a:solidFill>
                <a:latin typeface="맑은 고딕" pitchFamily="34" charset="0"/>
                <a:ea typeface="맑은 고딕" pitchFamily="34" charset="-122"/>
                <a:cs typeface="맑은 고딕" pitchFamily="34" charset="-120"/>
              </a:rPr>
              <a:t>지도에 찍는 값</a:t>
            </a:r>
            <a:endParaRPr lang="en-US" sz="10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859536" y="914400"/>
            <a:ext cx="9144000" cy="475488"/>
          </a:xfrm>
          <a:prstGeom prst="rect">
            <a:avLst/>
          </a:prstGeom>
          <a:noFill/>
          <a:ln/>
        </p:spPr>
        <p:txBody>
          <a:bodyPr wrap="square" lIns="0" tIns="0" rIns="0" bIns="0" rtlCol="0" anchor="ctr"/>
          <a:lstStyle/>
          <a:p>
            <a:pPr indent="0" marL="0">
              <a:buNone/>
            </a:pPr>
            <a:r>
              <a:rPr lang="en-US" sz="2400" b="1" dirty="0">
                <a:solidFill>
                  <a:srgbClr val="1B2740"/>
                </a:solidFill>
                <a:latin typeface="맑은 고딕" pitchFamily="34" charset="0"/>
                <a:ea typeface="맑은 고딕" pitchFamily="34" charset="-122"/>
                <a:cs typeface="맑은 고딕" pitchFamily="34" charset="-120"/>
              </a:rPr>
              <a:t>04. 결과</a:t>
            </a:r>
            <a:endParaRPr lang="en-US" sz="2400" dirty="0"/>
          </a:p>
        </p:txBody>
      </p:sp>
      <p:sp>
        <p:nvSpPr>
          <p:cNvPr id="3" name="Text 1"/>
          <p:cNvSpPr txBox="1"/>
          <p:nvPr/>
        </p:nvSpPr>
        <p:spPr>
          <a:xfrm>
            <a:off x="859536" y="1444752"/>
            <a:ext cx="10588752" cy="304495"/>
          </a:xfrm>
          <a:prstGeom prst="rect">
            <a:avLst/>
          </a:prstGeom>
          <a:noFill/>
          <a:ln/>
        </p:spPr>
        <p:txBody>
          <a:bodyPr wrap="square" lIns="0" tIns="0" rIns="0" bIns="0" rtlCol="0" anchor="ctr"/>
          <a:lstStyle/>
          <a:p>
            <a:pPr indent="0" marL="0">
              <a:buNone/>
            </a:pPr>
            <a:r>
              <a:rPr lang="en-US" sz="1300" dirty="0">
                <a:solidFill>
                  <a:srgbClr val="1B2740"/>
                </a:solidFill>
                <a:latin typeface="맑은 고딕" pitchFamily="34" charset="0"/>
                <a:ea typeface="맑은 고딕" pitchFamily="34" charset="-122"/>
                <a:cs typeface="맑은 고딕" pitchFamily="34" charset="-120"/>
              </a:rPr>
              <a:t>난수 확인은 확률밀도를 구하는 코드와 그리는 코드를 본 뒤 프로그램 화면으로 확인하고, 표적 5 개의 모의 결과 화면을 봅니다.</a:t>
            </a:r>
            <a:endParaRPr lang="en-US" sz="1300" dirty="0"/>
          </a:p>
        </p:txBody>
      </p:sp>
      <p:sp>
        <p:nvSpPr>
          <p:cNvPr id="4" name="Text 2"/>
          <p:cNvSpPr txBox="1"/>
          <p:nvPr/>
        </p:nvSpPr>
        <p:spPr>
          <a:xfrm>
            <a:off x="859536" y="2057400"/>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4.1</a:t>
            </a:r>
            <a:endParaRPr lang="en-US" sz="1400" dirty="0"/>
          </a:p>
        </p:txBody>
      </p:sp>
      <p:sp>
        <p:nvSpPr>
          <p:cNvPr id="5" name="Text 3"/>
          <p:cNvSpPr txBox="1"/>
          <p:nvPr/>
        </p:nvSpPr>
        <p:spPr>
          <a:xfrm>
            <a:off x="1418234" y="2057400"/>
            <a:ext cx="2178812"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난수 확인 코드 (실습 2.1)</a:t>
            </a:r>
            <a:endParaRPr lang="en-US" sz="1400" dirty="0"/>
          </a:p>
        </p:txBody>
      </p:sp>
      <p:sp>
        <p:nvSpPr>
          <p:cNvPr id="6" name="Shape 4"/>
          <p:cNvSpPr/>
          <p:nvPr/>
        </p:nvSpPr>
        <p:spPr>
          <a:xfrm>
            <a:off x="3661054" y="2311603"/>
            <a:ext cx="6948729" cy="0"/>
          </a:xfrm>
          <a:prstGeom prst="line">
            <a:avLst/>
          </a:prstGeom>
          <a:noFill/>
          <a:ln w="15875">
            <a:solidFill>
              <a:srgbClr val="AEB9CC"/>
            </a:solidFill>
            <a:prstDash val="sysDot"/>
          </a:ln>
        </p:spPr>
      </p:sp>
      <p:sp>
        <p:nvSpPr>
          <p:cNvPr id="7" name="Text 5"/>
          <p:cNvSpPr txBox="1"/>
          <p:nvPr/>
        </p:nvSpPr>
        <p:spPr>
          <a:xfrm>
            <a:off x="10736885" y="2057400"/>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20</a:t>
            </a:r>
            <a:endParaRPr lang="en-US" sz="1300" dirty="0"/>
          </a:p>
        </p:txBody>
      </p:sp>
      <p:sp>
        <p:nvSpPr>
          <p:cNvPr id="8" name="Text 6"/>
          <p:cNvSpPr txBox="1"/>
          <p:nvPr/>
        </p:nvSpPr>
        <p:spPr>
          <a:xfrm>
            <a:off x="859536" y="2463851"/>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4.2</a:t>
            </a:r>
            <a:endParaRPr lang="en-US" sz="1400" dirty="0"/>
          </a:p>
        </p:txBody>
      </p:sp>
      <p:sp>
        <p:nvSpPr>
          <p:cNvPr id="9" name="Text 7"/>
          <p:cNvSpPr txBox="1"/>
          <p:nvPr/>
        </p:nvSpPr>
        <p:spPr>
          <a:xfrm>
            <a:off x="1418234" y="2463851"/>
            <a:ext cx="2815336"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히스토그램 그리기 (난수 확인 창)</a:t>
            </a:r>
            <a:endParaRPr lang="en-US" sz="1400" dirty="0"/>
          </a:p>
        </p:txBody>
      </p:sp>
      <p:sp>
        <p:nvSpPr>
          <p:cNvPr id="10" name="Shape 8"/>
          <p:cNvSpPr/>
          <p:nvPr/>
        </p:nvSpPr>
        <p:spPr>
          <a:xfrm>
            <a:off x="4297578" y="2718054"/>
            <a:ext cx="6312205" cy="0"/>
          </a:xfrm>
          <a:prstGeom prst="line">
            <a:avLst/>
          </a:prstGeom>
          <a:noFill/>
          <a:ln w="15875">
            <a:solidFill>
              <a:srgbClr val="AEB9CC"/>
            </a:solidFill>
            <a:prstDash val="sysDot"/>
          </a:ln>
        </p:spPr>
      </p:sp>
      <p:sp>
        <p:nvSpPr>
          <p:cNvPr id="11" name="Text 9"/>
          <p:cNvSpPr txBox="1"/>
          <p:nvPr/>
        </p:nvSpPr>
        <p:spPr>
          <a:xfrm>
            <a:off x="10736885" y="2463851"/>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21</a:t>
            </a:r>
            <a:endParaRPr lang="en-US" sz="1300" dirty="0"/>
          </a:p>
        </p:txBody>
      </p:sp>
      <p:sp>
        <p:nvSpPr>
          <p:cNvPr id="12" name="Text 10"/>
          <p:cNvSpPr txBox="1"/>
          <p:nvPr/>
        </p:nvSpPr>
        <p:spPr>
          <a:xfrm>
            <a:off x="859536" y="2870302"/>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4.3</a:t>
            </a:r>
            <a:endParaRPr lang="en-US" sz="1400" dirty="0"/>
          </a:p>
        </p:txBody>
      </p:sp>
      <p:sp>
        <p:nvSpPr>
          <p:cNvPr id="13" name="Text 11"/>
          <p:cNvSpPr txBox="1"/>
          <p:nvPr/>
        </p:nvSpPr>
        <p:spPr>
          <a:xfrm>
            <a:off x="1418234" y="2870302"/>
            <a:ext cx="2178812"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난수 확인 결과 (실습 2.1)</a:t>
            </a:r>
            <a:endParaRPr lang="en-US" sz="1400" dirty="0"/>
          </a:p>
        </p:txBody>
      </p:sp>
      <p:sp>
        <p:nvSpPr>
          <p:cNvPr id="14" name="Shape 12"/>
          <p:cNvSpPr/>
          <p:nvPr/>
        </p:nvSpPr>
        <p:spPr>
          <a:xfrm>
            <a:off x="3661054" y="3124505"/>
            <a:ext cx="6948729" cy="0"/>
          </a:xfrm>
          <a:prstGeom prst="line">
            <a:avLst/>
          </a:prstGeom>
          <a:noFill/>
          <a:ln w="15875">
            <a:solidFill>
              <a:srgbClr val="AEB9CC"/>
            </a:solidFill>
            <a:prstDash val="sysDot"/>
          </a:ln>
        </p:spPr>
      </p:sp>
      <p:sp>
        <p:nvSpPr>
          <p:cNvPr id="15" name="Text 13"/>
          <p:cNvSpPr txBox="1"/>
          <p:nvPr/>
        </p:nvSpPr>
        <p:spPr>
          <a:xfrm>
            <a:off x="10736885" y="2870302"/>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22</a:t>
            </a:r>
            <a:endParaRPr lang="en-US" sz="1300" dirty="0"/>
          </a:p>
        </p:txBody>
      </p:sp>
      <p:sp>
        <p:nvSpPr>
          <p:cNvPr id="16" name="Text 14"/>
          <p:cNvSpPr txBox="1"/>
          <p:nvPr/>
        </p:nvSpPr>
        <p:spPr>
          <a:xfrm>
            <a:off x="859536" y="3276752"/>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4.4</a:t>
            </a:r>
            <a:endParaRPr lang="en-US" sz="1400" dirty="0"/>
          </a:p>
        </p:txBody>
      </p:sp>
      <p:sp>
        <p:nvSpPr>
          <p:cNvPr id="17" name="Text 15"/>
          <p:cNvSpPr txBox="1"/>
          <p:nvPr/>
        </p:nvSpPr>
        <p:spPr>
          <a:xfrm>
            <a:off x="1418234" y="3276752"/>
            <a:ext cx="3227832"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표적 5 개 모의 결과 (위도 · 경도 전시)</a:t>
            </a:r>
            <a:endParaRPr lang="en-US" sz="1400" dirty="0"/>
          </a:p>
        </p:txBody>
      </p:sp>
      <p:sp>
        <p:nvSpPr>
          <p:cNvPr id="18" name="Shape 16"/>
          <p:cNvSpPr/>
          <p:nvPr/>
        </p:nvSpPr>
        <p:spPr>
          <a:xfrm>
            <a:off x="4710074" y="3530956"/>
            <a:ext cx="5899709" cy="0"/>
          </a:xfrm>
          <a:prstGeom prst="line">
            <a:avLst/>
          </a:prstGeom>
          <a:noFill/>
          <a:ln w="15875">
            <a:solidFill>
              <a:srgbClr val="AEB9CC"/>
            </a:solidFill>
            <a:prstDash val="sysDot"/>
          </a:ln>
        </p:spPr>
      </p:sp>
      <p:sp>
        <p:nvSpPr>
          <p:cNvPr id="19" name="Text 17"/>
          <p:cNvSpPr txBox="1"/>
          <p:nvPr/>
        </p:nvSpPr>
        <p:spPr>
          <a:xfrm>
            <a:off x="10736885" y="3276752"/>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23</a:t>
            </a:r>
            <a:endParaRPr lang="en-US" sz="130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4.1 난수 확인 코드 (실습 2.1)</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[난수 확인...] 단추를 누르면 f_Pcs_TestRand 가 불리고, f_Pcs_FillHist 가 난수 10,000 개를 칸마다 세어 확률밀도로 바꿉니다.</a:t>
            </a:r>
            <a:endParaRPr lang="en-US" sz="1250" dirty="0"/>
          </a:p>
        </p:txBody>
      </p:sp>
      <p:sp>
        <p:nvSpPr>
          <p:cNvPr id="5" name="Text 3"/>
          <p:cNvSpPr txBox="1"/>
          <p:nvPr/>
        </p:nvSpPr>
        <p:spPr>
          <a:xfrm>
            <a:off x="640080" y="2231136"/>
            <a:ext cx="5760720" cy="219456"/>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칸마다 세어 확률밀도로  f_Pcs_FillHist</a:t>
            </a:r>
            <a:pPr indent="0" marL="0">
              <a:buNone/>
            </a:pPr>
            <a:r>
              <a:rPr lang="en-US" sz="950" dirty="0">
                <a:solidFill>
                  <a:srgbClr val="8794AC"/>
                </a:solidFill>
                <a:latin typeface="Consolas" pitchFamily="34" charset="0"/>
                <a:ea typeface="Consolas" pitchFamily="34" charset="-122"/>
                <a:cs typeface="Consolas" pitchFamily="34" charset="-120"/>
              </a:rPr>
              <a:t>    PlotSim.c</a:t>
            </a:r>
            <a:endParaRPr lang="en-US" sz="1150" dirty="0"/>
          </a:p>
        </p:txBody>
      </p:sp>
      <p:sp>
        <p:nvSpPr>
          <p:cNvPr id="6" name="Shape 4"/>
          <p:cNvSpPr/>
          <p:nvPr/>
        </p:nvSpPr>
        <p:spPr>
          <a:xfrm>
            <a:off x="640080" y="2478024"/>
            <a:ext cx="5760720" cy="3321304"/>
          </a:xfrm>
          <a:prstGeom prst="rect">
            <a:avLst/>
          </a:prstGeom>
          <a:solidFill>
            <a:srgbClr val="FFFFFF"/>
          </a:solidFill>
          <a:ln w="9525">
            <a:solidFill>
              <a:srgbClr val="D2D9E5"/>
            </a:solidFill>
            <a:prstDash val="solid"/>
          </a:ln>
        </p:spPr>
      </p:sp>
      <p:sp>
        <p:nvSpPr>
          <p:cNvPr id="7" name="Shape 5"/>
          <p:cNvSpPr/>
          <p:nvPr/>
        </p:nvSpPr>
        <p:spPr>
          <a:xfrm>
            <a:off x="672084" y="2556662"/>
            <a:ext cx="5696712" cy="782777"/>
          </a:xfrm>
          <a:prstGeom prst="rect">
            <a:avLst/>
          </a:prstGeom>
          <a:solidFill>
            <a:srgbClr val="FEF5E7"/>
          </a:solidFill>
          <a:ln/>
        </p:spPr>
      </p:sp>
      <p:sp>
        <p:nvSpPr>
          <p:cNvPr id="8" name="Shape 6"/>
          <p:cNvSpPr/>
          <p:nvPr/>
        </p:nvSpPr>
        <p:spPr>
          <a:xfrm>
            <a:off x="672084" y="2556662"/>
            <a:ext cx="41148" cy="782777"/>
          </a:xfrm>
          <a:prstGeom prst="rect">
            <a:avLst/>
          </a:prstGeom>
          <a:solidFill>
            <a:srgbClr val="D97706"/>
          </a:solidFill>
          <a:ln/>
        </p:spPr>
      </p:sp>
      <p:sp>
        <p:nvSpPr>
          <p:cNvPr id="9" name="Shape 7"/>
          <p:cNvSpPr/>
          <p:nvPr/>
        </p:nvSpPr>
        <p:spPr>
          <a:xfrm>
            <a:off x="672084" y="3350412"/>
            <a:ext cx="5696712" cy="1100277"/>
          </a:xfrm>
          <a:prstGeom prst="rect">
            <a:avLst/>
          </a:prstGeom>
          <a:solidFill>
            <a:srgbClr val="E8F6F0"/>
          </a:solidFill>
          <a:ln/>
        </p:spPr>
      </p:sp>
      <p:sp>
        <p:nvSpPr>
          <p:cNvPr id="10" name="Shape 8"/>
          <p:cNvSpPr/>
          <p:nvPr/>
        </p:nvSpPr>
        <p:spPr>
          <a:xfrm>
            <a:off x="672084" y="3350412"/>
            <a:ext cx="41148" cy="1100277"/>
          </a:xfrm>
          <a:prstGeom prst="rect">
            <a:avLst/>
          </a:prstGeom>
          <a:solidFill>
            <a:srgbClr val="059669"/>
          </a:solidFill>
          <a:ln/>
        </p:spPr>
      </p:sp>
      <p:sp>
        <p:nvSpPr>
          <p:cNvPr id="11" name="Shape 9"/>
          <p:cNvSpPr/>
          <p:nvPr/>
        </p:nvSpPr>
        <p:spPr>
          <a:xfrm>
            <a:off x="672084" y="4461662"/>
            <a:ext cx="5696712" cy="782777"/>
          </a:xfrm>
          <a:prstGeom prst="rect">
            <a:avLst/>
          </a:prstGeom>
          <a:solidFill>
            <a:srgbClr val="EBF2FE"/>
          </a:solidFill>
          <a:ln/>
        </p:spPr>
      </p:sp>
      <p:sp>
        <p:nvSpPr>
          <p:cNvPr id="12" name="Shape 10"/>
          <p:cNvSpPr/>
          <p:nvPr/>
        </p:nvSpPr>
        <p:spPr>
          <a:xfrm>
            <a:off x="672084" y="4461662"/>
            <a:ext cx="41148" cy="782777"/>
          </a:xfrm>
          <a:prstGeom prst="rect">
            <a:avLst/>
          </a:prstGeom>
          <a:solidFill>
            <a:srgbClr val="2563EB"/>
          </a:solidFill>
          <a:ln/>
        </p:spPr>
      </p:sp>
      <p:sp>
        <p:nvSpPr>
          <p:cNvPr id="13" name="Shape 11"/>
          <p:cNvSpPr/>
          <p:nvPr/>
        </p:nvSpPr>
        <p:spPr>
          <a:xfrm>
            <a:off x="672084" y="5255412"/>
            <a:ext cx="5696712" cy="465277"/>
          </a:xfrm>
          <a:prstGeom prst="rect">
            <a:avLst/>
          </a:prstGeom>
          <a:solidFill>
            <a:srgbClr val="F3EEFE"/>
          </a:solidFill>
          <a:ln/>
        </p:spPr>
      </p:sp>
      <p:sp>
        <p:nvSpPr>
          <p:cNvPr id="14" name="Shape 12"/>
          <p:cNvSpPr/>
          <p:nvPr/>
        </p:nvSpPr>
        <p:spPr>
          <a:xfrm>
            <a:off x="672084" y="5255412"/>
            <a:ext cx="41148" cy="465277"/>
          </a:xfrm>
          <a:prstGeom prst="rect">
            <a:avLst/>
          </a:prstGeom>
          <a:solidFill>
            <a:srgbClr val="7C3AED"/>
          </a:solidFill>
          <a:ln/>
        </p:spPr>
      </p:sp>
      <p:sp>
        <p:nvSpPr>
          <p:cNvPr id="15" name="Text 13"/>
          <p:cNvSpPr txBox="1"/>
          <p:nvPr/>
        </p:nvSpPr>
        <p:spPr>
          <a:xfrm>
            <a:off x="749808" y="2551176"/>
            <a:ext cx="5541264" cy="317500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22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for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(nIndex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nIndex &lt;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PCS_RAND_NUM</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nIndex++)</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value  = (isGauss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 GAUSS(</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 UNIRAN();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25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sum    = sum + value;</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26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sumSq  = sumSq + (value * value);</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059669"/>
                </a:solidFill>
                <a:latin typeface="맑은 고딕" pitchFamily="34" charset="0"/>
                <a:ea typeface="맑은 고딕" pitchFamily="34" charset="-122"/>
                <a:cs typeface="맑은 고딕" pitchFamily="34" charset="-120"/>
              </a:rPr>
              <a:t>// 구간 밖 값은 세지 않음 (GAUSS 의 |x| &gt; 4)</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29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nBinIndex =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INT32</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)floor((value - binMin) / st_Hist-&gt;binWidth);</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31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if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((nBinIndex &gt;=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&amp;&amp; (nBinIndex &lt; nBin))</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32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33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nCount[nBinIndex]++;</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34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35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37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for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(nIndex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nIndex &lt; nBin; nIndex++)</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38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39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st_Hist-&gt;pdf[nIndex] =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FLOAT64</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)nCount[nIndex]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FLOAT64</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PCS_RAND_NUM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st_Hist-&gt;binWidth);</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st_Hist-&gt;mean  = sum /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FLOAT64</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PCS_RAND_NUM</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43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st_Hist-&gt;std   = sqrt((sumSq /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FLOAT64</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PCS_RAND_NUM</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(st_Hist-&gt;mean * st_Hist-&gt;mean));</a:t>
            </a:r>
            <a:endParaRPr lang="en-US" sz="950" dirty="0"/>
          </a:p>
        </p:txBody>
      </p:sp>
      <p:sp>
        <p:nvSpPr>
          <p:cNvPr id="16" name="Text 14"/>
          <p:cNvSpPr/>
          <p:nvPr/>
        </p:nvSpPr>
        <p:spPr>
          <a:xfrm>
            <a:off x="6300216" y="2529967"/>
            <a:ext cx="201168" cy="201168"/>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17" name="Text 15"/>
          <p:cNvSpPr/>
          <p:nvPr/>
        </p:nvSpPr>
        <p:spPr>
          <a:xfrm>
            <a:off x="6300216" y="3323717"/>
            <a:ext cx="201168" cy="201168"/>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18" name="Text 16"/>
          <p:cNvSpPr/>
          <p:nvPr/>
        </p:nvSpPr>
        <p:spPr>
          <a:xfrm>
            <a:off x="6300216" y="4434967"/>
            <a:ext cx="201168" cy="201168"/>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19" name="Text 17"/>
          <p:cNvSpPr/>
          <p:nvPr/>
        </p:nvSpPr>
        <p:spPr>
          <a:xfrm>
            <a:off x="6300216" y="5228717"/>
            <a:ext cx="201168" cy="201168"/>
          </a:xfrm>
          <a:prstGeom prst="ellipse">
            <a:avLst/>
          </a:prstGeom>
          <a:solidFill>
            <a:srgbClr val="7C3AED"/>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5</a:t>
            </a:r>
            <a:endParaRPr lang="en-US" sz="950" dirty="0"/>
          </a:p>
        </p:txBody>
      </p:sp>
      <p:sp>
        <p:nvSpPr>
          <p:cNvPr id="20" name="Text 18"/>
          <p:cNvSpPr txBox="1"/>
          <p:nvPr/>
        </p:nvSpPr>
        <p:spPr>
          <a:xfrm>
            <a:off x="6720840" y="2231136"/>
            <a:ext cx="4828032" cy="219456"/>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검증 함수  f_Pcs_TestRand</a:t>
            </a:r>
            <a:pPr indent="0" marL="0">
              <a:buNone/>
            </a:pPr>
            <a:r>
              <a:rPr lang="en-US" sz="950" dirty="0">
                <a:solidFill>
                  <a:srgbClr val="8794AC"/>
                </a:solidFill>
                <a:latin typeface="Consolas" pitchFamily="34" charset="0"/>
                <a:ea typeface="Consolas" pitchFamily="34" charset="-122"/>
                <a:cs typeface="Consolas" pitchFamily="34" charset="-120"/>
              </a:rPr>
              <a:t>    PlotSim.c</a:t>
            </a:r>
            <a:endParaRPr lang="en-US" sz="1150" dirty="0"/>
          </a:p>
        </p:txBody>
      </p:sp>
      <p:sp>
        <p:nvSpPr>
          <p:cNvPr id="21" name="Shape 19"/>
          <p:cNvSpPr/>
          <p:nvPr/>
        </p:nvSpPr>
        <p:spPr>
          <a:xfrm>
            <a:off x="6720840" y="2478024"/>
            <a:ext cx="3840480" cy="1098804"/>
          </a:xfrm>
          <a:prstGeom prst="rect">
            <a:avLst/>
          </a:prstGeom>
          <a:solidFill>
            <a:srgbClr val="FFFFFF"/>
          </a:solidFill>
          <a:ln w="9525">
            <a:solidFill>
              <a:srgbClr val="D2D9E5"/>
            </a:solidFill>
            <a:prstDash val="solid"/>
          </a:ln>
        </p:spPr>
      </p:sp>
      <p:sp>
        <p:nvSpPr>
          <p:cNvPr id="22" name="Shape 20"/>
          <p:cNvSpPr/>
          <p:nvPr/>
        </p:nvSpPr>
        <p:spPr>
          <a:xfrm>
            <a:off x="6752844" y="2556662"/>
            <a:ext cx="3776472" cy="941527"/>
          </a:xfrm>
          <a:prstGeom prst="rect">
            <a:avLst/>
          </a:prstGeom>
          <a:solidFill>
            <a:srgbClr val="FDEEEE"/>
          </a:solidFill>
          <a:ln/>
        </p:spPr>
      </p:sp>
      <p:sp>
        <p:nvSpPr>
          <p:cNvPr id="23" name="Shape 21"/>
          <p:cNvSpPr/>
          <p:nvPr/>
        </p:nvSpPr>
        <p:spPr>
          <a:xfrm>
            <a:off x="6752844" y="2556662"/>
            <a:ext cx="41148" cy="941527"/>
          </a:xfrm>
          <a:prstGeom prst="rect">
            <a:avLst/>
          </a:prstGeom>
          <a:solidFill>
            <a:srgbClr val="DC2626"/>
          </a:solidFill>
          <a:ln/>
        </p:spPr>
      </p:sp>
      <p:sp>
        <p:nvSpPr>
          <p:cNvPr id="24" name="Text 22"/>
          <p:cNvSpPr txBox="1"/>
          <p:nvPr/>
        </p:nvSpPr>
        <p:spPr>
          <a:xfrm>
            <a:off x="6830568" y="2551176"/>
            <a:ext cx="3621024" cy="95250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83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changeSEED(</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PCS_SEED</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84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f_Pcs_FillHist(st_Uniform,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PCS_UNIFORM_BIN</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86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changeSEED(</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PCS_SEED</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87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f_Pcs_FillHist(st_Gauss,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PCS_GAUSS_BIN</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PCS_GAUSS_MIN</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PCS_GAUSS_MAX</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p:txBody>
      </p:sp>
      <p:sp>
        <p:nvSpPr>
          <p:cNvPr id="25" name="Text 23"/>
          <p:cNvSpPr/>
          <p:nvPr/>
        </p:nvSpPr>
        <p:spPr>
          <a:xfrm>
            <a:off x="10460736" y="2529967"/>
            <a:ext cx="201168" cy="201168"/>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26" name="Text 24"/>
          <p:cNvSpPr/>
          <p:nvPr/>
        </p:nvSpPr>
        <p:spPr>
          <a:xfrm>
            <a:off x="6720840" y="3713988"/>
            <a:ext cx="256032" cy="256032"/>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27" name="Text 25"/>
          <p:cNvSpPr txBox="1"/>
          <p:nvPr/>
        </p:nvSpPr>
        <p:spPr>
          <a:xfrm>
            <a:off x="7104888" y="3695700"/>
            <a:ext cx="4443984" cy="740664"/>
          </a:xfrm>
          <a:prstGeom prst="rect">
            <a:avLst/>
          </a:prstGeom>
          <a:noFill/>
          <a:ln/>
        </p:spPr>
        <p:txBody>
          <a:bodyPr wrap="square" lIns="0" tIns="0" rIns="0" bIns="0" rtlCol="0" anchor="t"/>
          <a:lstStyle/>
          <a:p>
            <a:pPr indent="0" marL="0">
              <a:lnSpc>
                <a:spcPct val="105000"/>
              </a:lnSpc>
              <a:buNone/>
            </a:pPr>
            <a:r>
              <a:rPr lang="en-US" sz="1050" b="1" dirty="0">
                <a:solidFill>
                  <a:srgbClr val="1B2740"/>
                </a:solidFill>
                <a:latin typeface="맑은 고딕" pitchFamily="34" charset="0"/>
                <a:ea typeface="맑은 고딕" pitchFamily="34" charset="-122"/>
                <a:cs typeface="맑은 고딕" pitchFamily="34" charset="-120"/>
              </a:rPr>
              <a:t>SEED 되돌리기 · 칸 설정</a:t>
            </a:r>
            <a:endParaRPr lang="en-US" sz="1050" dirty="0"/>
          </a:p>
          <a:p>
            <a:pPr indent="0" marL="0">
              <a:lnSpc>
                <a:spcPct val="105000"/>
              </a:lnSpc>
              <a:buNone/>
            </a:pPr>
            <a:r>
              <a:rPr lang="en-US" sz="1050" dirty="0">
                <a:solidFill>
                  <a:srgbClr val="4A5A7A"/>
                </a:solidFill>
                <a:latin typeface="맑은 고딕" pitchFamily="34" charset="0"/>
                <a:ea typeface="맑은 고딕" pitchFamily="34" charset="-122"/>
                <a:cs typeface="맑은 고딕" pitchFamily="34" charset="-120"/>
              </a:rPr>
              <a:t>SEED 는 UNIRAN 을 부를 때마다 바뀜 (12345 → 207,482,415 → …)</a:t>
            </a:r>
            <a:endParaRPr lang="en-US" sz="1050" dirty="0"/>
          </a:p>
          <a:p>
            <a:pPr indent="0" marL="0">
              <a:lnSpc>
                <a:spcPct val="105000"/>
              </a:lnSpc>
              <a:buNone/>
            </a:pPr>
            <a:r>
              <a:rPr lang="en-US" sz="1050" dirty="0">
                <a:solidFill>
                  <a:srgbClr val="4A5A7A"/>
                </a:solidFill>
                <a:latin typeface="맑은 고딕" pitchFamily="34" charset="0"/>
                <a:ea typeface="맑은 고딕" pitchFamily="34" charset="-122"/>
                <a:cs typeface="맑은 고딕" pitchFamily="34" charset="-120"/>
              </a:rPr>
              <a:t>changeSEED 로 처음 값 12345 로 되돌림</a:t>
            </a:r>
            <a:endParaRPr lang="en-US" sz="1050" dirty="0"/>
          </a:p>
          <a:p>
            <a:pPr indent="0" marL="0">
              <a:lnSpc>
                <a:spcPct val="105000"/>
              </a:lnSpc>
              <a:buNone/>
            </a:pPr>
            <a:r>
              <a:rPr lang="en-US" sz="1050" dirty="0">
                <a:solidFill>
                  <a:srgbClr val="4A5A7A"/>
                </a:solidFill>
                <a:latin typeface="맑은 고딕" pitchFamily="34" charset="0"/>
                <a:ea typeface="맑은 고딕" pitchFamily="34" charset="-122"/>
                <a:cs typeface="맑은 고딕" pitchFamily="34" charset="-120"/>
              </a:rPr>
              <a:t>UNIRAN 0 ~ 1 은 10 칸, GAUSS −4 ~ 4 는 32 칸</a:t>
            </a:r>
            <a:endParaRPr lang="en-US" sz="1050" dirty="0"/>
          </a:p>
        </p:txBody>
      </p:sp>
      <p:sp>
        <p:nvSpPr>
          <p:cNvPr id="28" name="Text 26"/>
          <p:cNvSpPr/>
          <p:nvPr/>
        </p:nvSpPr>
        <p:spPr>
          <a:xfrm>
            <a:off x="6720840" y="4509516"/>
            <a:ext cx="256032" cy="256032"/>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29" name="Text 27"/>
          <p:cNvSpPr txBox="1"/>
          <p:nvPr/>
        </p:nvSpPr>
        <p:spPr>
          <a:xfrm>
            <a:off x="7104888" y="4491228"/>
            <a:ext cx="4443984" cy="388620"/>
          </a:xfrm>
          <a:prstGeom prst="rect">
            <a:avLst/>
          </a:prstGeom>
          <a:noFill/>
          <a:ln/>
        </p:spPr>
        <p:txBody>
          <a:bodyPr wrap="square" lIns="0" tIns="0" rIns="0" bIns="0" rtlCol="0" anchor="t"/>
          <a:lstStyle/>
          <a:p>
            <a:pPr indent="0" marL="0">
              <a:lnSpc>
                <a:spcPct val="105000"/>
              </a:lnSpc>
              <a:buNone/>
            </a:pPr>
            <a:r>
              <a:rPr lang="en-US" sz="1050" b="1" dirty="0">
                <a:solidFill>
                  <a:srgbClr val="1B2740"/>
                </a:solidFill>
                <a:latin typeface="맑은 고딕" pitchFamily="34" charset="0"/>
                <a:ea typeface="맑은 고딕" pitchFamily="34" charset="-122"/>
                <a:cs typeface="맑은 고딕" pitchFamily="34" charset="-120"/>
              </a:rPr>
              <a:t>10,000 개 뽑기</a:t>
            </a:r>
            <a:endParaRPr lang="en-US" sz="1050" dirty="0"/>
          </a:p>
          <a:p>
            <a:pPr indent="0" marL="0">
              <a:lnSpc>
                <a:spcPct val="105000"/>
              </a:lnSpc>
              <a:buNone/>
            </a:pPr>
            <a:r>
              <a:rPr lang="en-US" sz="1050" dirty="0">
                <a:solidFill>
                  <a:srgbClr val="4A5A7A"/>
                </a:solidFill>
                <a:latin typeface="맑은 고딕" pitchFamily="34" charset="0"/>
                <a:ea typeface="맑은 고딕" pitchFamily="34" charset="-122"/>
                <a:cs typeface="맑은 고딕" pitchFamily="34" charset="-120"/>
              </a:rPr>
              <a:t>UNIRAN() 또는 GAUSS(0, 1), 합과 제곱합을 더한다</a:t>
            </a:r>
            <a:endParaRPr lang="en-US" sz="1050" dirty="0"/>
          </a:p>
        </p:txBody>
      </p:sp>
      <p:sp>
        <p:nvSpPr>
          <p:cNvPr id="30" name="Text 28"/>
          <p:cNvSpPr/>
          <p:nvPr/>
        </p:nvSpPr>
        <p:spPr>
          <a:xfrm>
            <a:off x="6720840" y="4953000"/>
            <a:ext cx="256032" cy="256032"/>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31" name="Text 29"/>
          <p:cNvSpPr txBox="1"/>
          <p:nvPr/>
        </p:nvSpPr>
        <p:spPr>
          <a:xfrm>
            <a:off x="7104888" y="4934712"/>
            <a:ext cx="4443984" cy="388620"/>
          </a:xfrm>
          <a:prstGeom prst="rect">
            <a:avLst/>
          </a:prstGeom>
          <a:noFill/>
          <a:ln/>
        </p:spPr>
        <p:txBody>
          <a:bodyPr wrap="square" lIns="0" tIns="0" rIns="0" bIns="0" rtlCol="0" anchor="t"/>
          <a:lstStyle/>
          <a:p>
            <a:pPr indent="0" marL="0">
              <a:lnSpc>
                <a:spcPct val="105000"/>
              </a:lnSpc>
              <a:buNone/>
            </a:pPr>
            <a:r>
              <a:rPr lang="en-US" sz="1050" b="1" dirty="0">
                <a:solidFill>
                  <a:srgbClr val="1B2740"/>
                </a:solidFill>
                <a:latin typeface="맑은 고딕" pitchFamily="34" charset="0"/>
                <a:ea typeface="맑은 고딕" pitchFamily="34" charset="-122"/>
                <a:cs typeface="맑은 고딕" pitchFamily="34" charset="-120"/>
              </a:rPr>
              <a:t>칸 번호를 구해 개수 +1</a:t>
            </a:r>
            <a:endParaRPr lang="en-US" sz="1050" dirty="0"/>
          </a:p>
          <a:p>
            <a:pPr indent="0" marL="0">
              <a:lnSpc>
                <a:spcPct val="105000"/>
              </a:lnSpc>
              <a:buNone/>
            </a:pPr>
            <a:r>
              <a:rPr lang="en-US" sz="1050" dirty="0">
                <a:solidFill>
                  <a:srgbClr val="4A5A7A"/>
                </a:solidFill>
                <a:latin typeface="맑은 고딕" pitchFamily="34" charset="0"/>
                <a:ea typeface="맑은 고딕" pitchFamily="34" charset="-122"/>
                <a:cs typeface="맑은 고딕" pitchFamily="34" charset="-120"/>
              </a:rPr>
              <a:t>칸 번호 = (값 − 최소) ÷ 칸 폭 의 정수 부분</a:t>
            </a:r>
            <a:endParaRPr lang="en-US" sz="1050" dirty="0"/>
          </a:p>
        </p:txBody>
      </p:sp>
      <p:sp>
        <p:nvSpPr>
          <p:cNvPr id="32" name="Text 30"/>
          <p:cNvSpPr/>
          <p:nvPr/>
        </p:nvSpPr>
        <p:spPr>
          <a:xfrm>
            <a:off x="6720840" y="5396484"/>
            <a:ext cx="256032" cy="256032"/>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33" name="Text 31"/>
          <p:cNvSpPr txBox="1"/>
          <p:nvPr/>
        </p:nvSpPr>
        <p:spPr>
          <a:xfrm>
            <a:off x="7104888" y="5378196"/>
            <a:ext cx="4443984" cy="388620"/>
          </a:xfrm>
          <a:prstGeom prst="rect">
            <a:avLst/>
          </a:prstGeom>
          <a:noFill/>
          <a:ln/>
        </p:spPr>
        <p:txBody>
          <a:bodyPr wrap="square" lIns="0" tIns="0" rIns="0" bIns="0" rtlCol="0" anchor="t"/>
          <a:lstStyle/>
          <a:p>
            <a:pPr indent="0" marL="0">
              <a:lnSpc>
                <a:spcPct val="105000"/>
              </a:lnSpc>
              <a:buNone/>
            </a:pPr>
            <a:r>
              <a:rPr lang="en-US" sz="1050" b="1" dirty="0">
                <a:solidFill>
                  <a:srgbClr val="1B2740"/>
                </a:solidFill>
                <a:latin typeface="맑은 고딕" pitchFamily="34" charset="0"/>
                <a:ea typeface="맑은 고딕" pitchFamily="34" charset="-122"/>
                <a:cs typeface="맑은 고딕" pitchFamily="34" charset="-120"/>
              </a:rPr>
              <a:t>확률밀도 = 개수 ÷ (N × 칸 폭)</a:t>
            </a:r>
            <a:endParaRPr lang="en-US" sz="1050" dirty="0"/>
          </a:p>
          <a:p>
            <a:pPr indent="0" marL="0">
              <a:lnSpc>
                <a:spcPct val="105000"/>
              </a:lnSpc>
              <a:buNone/>
            </a:pPr>
            <a:r>
              <a:rPr lang="en-US" sz="1050" dirty="0">
                <a:solidFill>
                  <a:srgbClr val="4A5A7A"/>
                </a:solidFill>
                <a:latin typeface="맑은 고딕" pitchFamily="34" charset="0"/>
                <a:ea typeface="맑은 고딕" pitchFamily="34" charset="-122"/>
                <a:cs typeface="맑은 고딕" pitchFamily="34" charset="-120"/>
              </a:rPr>
              <a:t>막대 넓이를 모두 더하면 1</a:t>
            </a:r>
            <a:endParaRPr lang="en-US" sz="1050" dirty="0"/>
          </a:p>
        </p:txBody>
      </p:sp>
      <p:sp>
        <p:nvSpPr>
          <p:cNvPr id="34" name="Text 32"/>
          <p:cNvSpPr/>
          <p:nvPr/>
        </p:nvSpPr>
        <p:spPr>
          <a:xfrm>
            <a:off x="6720840" y="5839968"/>
            <a:ext cx="256032" cy="256032"/>
          </a:xfrm>
          <a:prstGeom prst="ellipse">
            <a:avLst/>
          </a:prstGeom>
          <a:solidFill>
            <a:srgbClr val="7C3AED"/>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5</a:t>
            </a:r>
            <a:endParaRPr lang="en-US" sz="950" dirty="0"/>
          </a:p>
        </p:txBody>
      </p:sp>
      <p:sp>
        <p:nvSpPr>
          <p:cNvPr id="35" name="Text 33"/>
          <p:cNvSpPr txBox="1"/>
          <p:nvPr/>
        </p:nvSpPr>
        <p:spPr>
          <a:xfrm>
            <a:off x="7104888" y="5821680"/>
            <a:ext cx="4443984" cy="388620"/>
          </a:xfrm>
          <a:prstGeom prst="rect">
            <a:avLst/>
          </a:prstGeom>
          <a:noFill/>
          <a:ln/>
        </p:spPr>
        <p:txBody>
          <a:bodyPr wrap="square" lIns="0" tIns="0" rIns="0" bIns="0" rtlCol="0" anchor="t"/>
          <a:lstStyle/>
          <a:p>
            <a:pPr indent="0" marL="0">
              <a:lnSpc>
                <a:spcPct val="105000"/>
              </a:lnSpc>
              <a:buNone/>
            </a:pPr>
            <a:r>
              <a:rPr lang="en-US" sz="1050" b="1" dirty="0">
                <a:solidFill>
                  <a:srgbClr val="1B2740"/>
                </a:solidFill>
                <a:latin typeface="맑은 고딕" pitchFamily="34" charset="0"/>
                <a:ea typeface="맑은 고딕" pitchFamily="34" charset="-122"/>
                <a:cs typeface="맑은 고딕" pitchFamily="34" charset="-120"/>
              </a:rPr>
              <a:t>평균 · 표준편차</a:t>
            </a:r>
            <a:endParaRPr lang="en-US" sz="1050" dirty="0"/>
          </a:p>
          <a:p>
            <a:pPr indent="0" marL="0">
              <a:lnSpc>
                <a:spcPct val="105000"/>
              </a:lnSpc>
              <a:buNone/>
            </a:pPr>
            <a:r>
              <a:rPr lang="en-US" sz="1050" dirty="0">
                <a:solidFill>
                  <a:srgbClr val="4A5A7A"/>
                </a:solidFill>
                <a:latin typeface="맑은 고딕" pitchFamily="34" charset="0"/>
                <a:ea typeface="맑은 고딕" pitchFamily="34" charset="-122"/>
                <a:cs typeface="맑은 고딕" pitchFamily="34" charset="-120"/>
              </a:rPr>
              <a:t>합 ÷ N,  √(제곱합 ÷ N − 평균²)</a:t>
            </a:r>
            <a:endParaRPr lang="en-US" sz="10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4.2 히스토그램 그리기 (난수 확인 창)</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창이 열리면 Core 에서 받은 히스토그램을 그림 컨트롤 두 개에 넘깁니다. 그림 컨트롤은 칸마다 막대를 칠하고, 그 위에 이론 확률밀도를 선으로 긋습니다.</a:t>
            </a:r>
            <a:endParaRPr lang="en-US" sz="1250" dirty="0"/>
          </a:p>
        </p:txBody>
      </p:sp>
      <p:sp>
        <p:nvSpPr>
          <p:cNvPr id="5" name="Text 3"/>
          <p:cNvSpPr txBox="1"/>
          <p:nvPr/>
        </p:nvSpPr>
        <p:spPr>
          <a:xfrm>
            <a:off x="640080" y="2231136"/>
            <a:ext cx="6583680" cy="219456"/>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막대  CHistView::f_Draw</a:t>
            </a:r>
            <a:pPr indent="0" marL="0">
              <a:buNone/>
            </a:pPr>
            <a:r>
              <a:rPr lang="en-US" sz="950" dirty="0">
                <a:solidFill>
                  <a:srgbClr val="8794AC"/>
                </a:solidFill>
                <a:latin typeface="Consolas" pitchFamily="34" charset="0"/>
                <a:ea typeface="Consolas" pitchFamily="34" charset="-122"/>
                <a:cs typeface="Consolas" pitchFamily="34" charset="-120"/>
              </a:rPr>
              <a:t>    HistView.cpp</a:t>
            </a:r>
            <a:endParaRPr lang="en-US" sz="1150" dirty="0"/>
          </a:p>
        </p:txBody>
      </p:sp>
      <p:sp>
        <p:nvSpPr>
          <p:cNvPr id="6" name="Shape 4"/>
          <p:cNvSpPr/>
          <p:nvPr/>
        </p:nvSpPr>
        <p:spPr>
          <a:xfrm>
            <a:off x="640080" y="2478024"/>
            <a:ext cx="6583680" cy="1733804"/>
          </a:xfrm>
          <a:prstGeom prst="rect">
            <a:avLst/>
          </a:prstGeom>
          <a:solidFill>
            <a:srgbClr val="FFFFFF"/>
          </a:solidFill>
          <a:ln w="9525">
            <a:solidFill>
              <a:srgbClr val="D2D9E5"/>
            </a:solidFill>
            <a:prstDash val="solid"/>
          </a:ln>
        </p:spPr>
      </p:sp>
      <p:sp>
        <p:nvSpPr>
          <p:cNvPr id="7" name="Shape 5"/>
          <p:cNvSpPr/>
          <p:nvPr/>
        </p:nvSpPr>
        <p:spPr>
          <a:xfrm>
            <a:off x="672084" y="2556662"/>
            <a:ext cx="6519672" cy="1576527"/>
          </a:xfrm>
          <a:prstGeom prst="rect">
            <a:avLst/>
          </a:prstGeom>
          <a:solidFill>
            <a:srgbClr val="FEF5E7"/>
          </a:solidFill>
          <a:ln/>
        </p:spPr>
      </p:sp>
      <p:sp>
        <p:nvSpPr>
          <p:cNvPr id="8" name="Shape 6"/>
          <p:cNvSpPr/>
          <p:nvPr/>
        </p:nvSpPr>
        <p:spPr>
          <a:xfrm>
            <a:off x="672084" y="2556662"/>
            <a:ext cx="41148" cy="1576527"/>
          </a:xfrm>
          <a:prstGeom prst="rect">
            <a:avLst/>
          </a:prstGeom>
          <a:solidFill>
            <a:srgbClr val="D97706"/>
          </a:solidFill>
          <a:ln/>
        </p:spPr>
      </p:sp>
      <p:sp>
        <p:nvSpPr>
          <p:cNvPr id="9" name="Text 7"/>
          <p:cNvSpPr txBox="1"/>
          <p:nvPr/>
        </p:nvSpPr>
        <p:spPr>
          <a:xfrm>
            <a:off x="749808" y="2551176"/>
            <a:ext cx="6364224" cy="158750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176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for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(nIndex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nIndex &lt; st_Hist-&gt;nBin; nIndex++)</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177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178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const INT32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left = f_ToX(xMin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(static_cast&lt;</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FLOAT64</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&gt;(nIndex) * st_Hist-&gt;binWidth));</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179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const INT32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right = f_ToX(xMin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(static_cast&lt;</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FLOAT64</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&gt;(nIndex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 st_Hist-&gt;binWidth));</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180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const INT32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top = f_ToY(st_Hist-&gt;pdf[nIndex]);</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182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st_Dc-&gt;FillSolidRect(left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top, right - left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st_Plot.bottom - top,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HIST_COLOR_BAR</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183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p:txBody>
      </p:sp>
      <p:sp>
        <p:nvSpPr>
          <p:cNvPr id="10" name="Text 8"/>
          <p:cNvSpPr/>
          <p:nvPr/>
        </p:nvSpPr>
        <p:spPr>
          <a:xfrm>
            <a:off x="7123176" y="2529967"/>
            <a:ext cx="201168" cy="201168"/>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11" name="Text 9"/>
          <p:cNvSpPr txBox="1"/>
          <p:nvPr/>
        </p:nvSpPr>
        <p:spPr>
          <a:xfrm>
            <a:off x="640080" y="4321556"/>
            <a:ext cx="6583680" cy="219456"/>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이론 곡선  CHistView::f_Draw</a:t>
            </a:r>
            <a:pPr indent="0" marL="0">
              <a:buNone/>
            </a:pPr>
            <a:r>
              <a:rPr lang="en-US" sz="950" dirty="0">
                <a:solidFill>
                  <a:srgbClr val="8794AC"/>
                </a:solidFill>
                <a:latin typeface="Consolas" pitchFamily="34" charset="0"/>
                <a:ea typeface="Consolas" pitchFamily="34" charset="-122"/>
                <a:cs typeface="Consolas" pitchFamily="34" charset="-120"/>
              </a:rPr>
              <a:t>    HistView.cpp</a:t>
            </a:r>
            <a:endParaRPr lang="en-US" sz="1150" dirty="0"/>
          </a:p>
        </p:txBody>
      </p:sp>
      <p:sp>
        <p:nvSpPr>
          <p:cNvPr id="12" name="Shape 10"/>
          <p:cNvSpPr/>
          <p:nvPr/>
        </p:nvSpPr>
        <p:spPr>
          <a:xfrm>
            <a:off x="640080" y="4568444"/>
            <a:ext cx="6583680" cy="1416304"/>
          </a:xfrm>
          <a:prstGeom prst="rect">
            <a:avLst/>
          </a:prstGeom>
          <a:solidFill>
            <a:srgbClr val="FFFFFF"/>
          </a:solidFill>
          <a:ln w="9525">
            <a:solidFill>
              <a:srgbClr val="D2D9E5"/>
            </a:solidFill>
            <a:prstDash val="solid"/>
          </a:ln>
        </p:spPr>
      </p:sp>
      <p:sp>
        <p:nvSpPr>
          <p:cNvPr id="13" name="Shape 11"/>
          <p:cNvSpPr/>
          <p:nvPr/>
        </p:nvSpPr>
        <p:spPr>
          <a:xfrm>
            <a:off x="672084" y="4647082"/>
            <a:ext cx="6519672" cy="782777"/>
          </a:xfrm>
          <a:prstGeom prst="rect">
            <a:avLst/>
          </a:prstGeom>
          <a:solidFill>
            <a:srgbClr val="E8F6F0"/>
          </a:solidFill>
          <a:ln/>
        </p:spPr>
      </p:sp>
      <p:sp>
        <p:nvSpPr>
          <p:cNvPr id="14" name="Shape 12"/>
          <p:cNvSpPr/>
          <p:nvPr/>
        </p:nvSpPr>
        <p:spPr>
          <a:xfrm>
            <a:off x="672084" y="4647082"/>
            <a:ext cx="41148" cy="782777"/>
          </a:xfrm>
          <a:prstGeom prst="rect">
            <a:avLst/>
          </a:prstGeom>
          <a:solidFill>
            <a:srgbClr val="059669"/>
          </a:solidFill>
          <a:ln/>
        </p:spPr>
      </p:sp>
      <p:sp>
        <p:nvSpPr>
          <p:cNvPr id="15" name="Shape 13"/>
          <p:cNvSpPr/>
          <p:nvPr/>
        </p:nvSpPr>
        <p:spPr>
          <a:xfrm>
            <a:off x="672084" y="5599582"/>
            <a:ext cx="6519672" cy="306527"/>
          </a:xfrm>
          <a:prstGeom prst="rect">
            <a:avLst/>
          </a:prstGeom>
          <a:solidFill>
            <a:srgbClr val="EBF2FE"/>
          </a:solidFill>
          <a:ln/>
        </p:spPr>
      </p:sp>
      <p:sp>
        <p:nvSpPr>
          <p:cNvPr id="16" name="Shape 14"/>
          <p:cNvSpPr/>
          <p:nvPr/>
        </p:nvSpPr>
        <p:spPr>
          <a:xfrm>
            <a:off x="672084" y="5599582"/>
            <a:ext cx="41148" cy="306527"/>
          </a:xfrm>
          <a:prstGeom prst="rect">
            <a:avLst/>
          </a:prstGeom>
          <a:solidFill>
            <a:srgbClr val="2563EB"/>
          </a:solidFill>
          <a:ln/>
        </p:spPr>
      </p:sp>
      <p:sp>
        <p:nvSpPr>
          <p:cNvPr id="17" name="Text 15"/>
          <p:cNvSpPr txBox="1"/>
          <p:nvPr/>
        </p:nvSpPr>
        <p:spPr>
          <a:xfrm>
            <a:off x="749808" y="4641596"/>
            <a:ext cx="6364224" cy="127000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192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for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(nIndex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nIndex &lt;=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160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nIndex++)</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193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194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const FLOAT64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x = xMin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(((xMax - xMin) * static_cast&lt;</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FLOAT64</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&gt;(nIndex)) /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160.0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195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const CPoint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st_Point(f_ToX(x), f_ToY(exp(-</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0.5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x * x) / sqrt(</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2.0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PI</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8794AC"/>
                </a:solidFill>
                <a:latin typeface="Consolas" pitchFamily="34" charset="0"/>
                <a:ea typeface="Consolas" pitchFamily="34" charset="-122"/>
                <a:cs typeface="Consolas" pitchFamily="34" charset="-120"/>
              </a:rPr>
              <a:t>     ...</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209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VOID</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)st_Dc-&gt;MoveTo(f_ToX(xMin), f_ToY(</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210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pPr indent="0" marL="0">
              <a:lnSpc>
                <a:spcPts val="1250"/>
              </a:lnSpc>
              <a:buNone/>
            </a:pPr>
            <a:r>
              <a:rPr lang="en-US" sz="950" dirty="0">
                <a:solidFill>
                  <a:srgbClr val="2563EB"/>
                </a:solidFill>
                <a:latin typeface="Consolas" pitchFamily="34" charset="0"/>
                <a:ea typeface="Consolas" pitchFamily="34" charset="-122"/>
                <a:cs typeface="Consolas" pitchFamily="34" charset="-120"/>
              </a:rPr>
              <a:t>VOID</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)st_Dc-&gt;LineTo(f_ToX(xMax), f_ToY(</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p:txBody>
      </p:sp>
      <p:sp>
        <p:nvSpPr>
          <p:cNvPr id="18" name="Text 16"/>
          <p:cNvSpPr/>
          <p:nvPr/>
        </p:nvSpPr>
        <p:spPr>
          <a:xfrm>
            <a:off x="7123176" y="4620387"/>
            <a:ext cx="201168" cy="201168"/>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19" name="Text 17"/>
          <p:cNvSpPr/>
          <p:nvPr/>
        </p:nvSpPr>
        <p:spPr>
          <a:xfrm>
            <a:off x="7123176" y="5572887"/>
            <a:ext cx="201168" cy="201168"/>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20" name="Text 18"/>
          <p:cNvSpPr txBox="1"/>
          <p:nvPr/>
        </p:nvSpPr>
        <p:spPr>
          <a:xfrm>
            <a:off x="7543800" y="2231136"/>
            <a:ext cx="4005072" cy="219456"/>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창을 열 때  OnInitDialog</a:t>
            </a:r>
            <a:pPr indent="0" marL="0">
              <a:buNone/>
            </a:pPr>
            <a:r>
              <a:rPr lang="en-US" sz="950" dirty="0">
                <a:solidFill>
                  <a:srgbClr val="8794AC"/>
                </a:solidFill>
                <a:latin typeface="Consolas" pitchFamily="34" charset="0"/>
                <a:ea typeface="Consolas" pitchFamily="34" charset="-122"/>
                <a:cs typeface="Consolas" pitchFamily="34" charset="-120"/>
              </a:rPr>
              <a:t>    RandDlg.cpp</a:t>
            </a:r>
            <a:endParaRPr lang="en-US" sz="1150" dirty="0"/>
          </a:p>
        </p:txBody>
      </p:sp>
      <p:sp>
        <p:nvSpPr>
          <p:cNvPr id="21" name="Shape 19"/>
          <p:cNvSpPr/>
          <p:nvPr/>
        </p:nvSpPr>
        <p:spPr>
          <a:xfrm>
            <a:off x="7543800" y="2478024"/>
            <a:ext cx="4023360" cy="1257554"/>
          </a:xfrm>
          <a:prstGeom prst="rect">
            <a:avLst/>
          </a:prstGeom>
          <a:solidFill>
            <a:srgbClr val="FFFFFF"/>
          </a:solidFill>
          <a:ln w="9525">
            <a:solidFill>
              <a:srgbClr val="D2D9E5"/>
            </a:solidFill>
            <a:prstDash val="solid"/>
          </a:ln>
        </p:spPr>
      </p:sp>
      <p:sp>
        <p:nvSpPr>
          <p:cNvPr id="22" name="Shape 20"/>
          <p:cNvSpPr/>
          <p:nvPr/>
        </p:nvSpPr>
        <p:spPr>
          <a:xfrm>
            <a:off x="7575804" y="2556662"/>
            <a:ext cx="3959352" cy="1100277"/>
          </a:xfrm>
          <a:prstGeom prst="rect">
            <a:avLst/>
          </a:prstGeom>
          <a:solidFill>
            <a:srgbClr val="FDEEEE"/>
          </a:solidFill>
          <a:ln/>
        </p:spPr>
      </p:sp>
      <p:sp>
        <p:nvSpPr>
          <p:cNvPr id="23" name="Shape 21"/>
          <p:cNvSpPr/>
          <p:nvPr/>
        </p:nvSpPr>
        <p:spPr>
          <a:xfrm>
            <a:off x="7575804" y="2556662"/>
            <a:ext cx="41148" cy="1100277"/>
          </a:xfrm>
          <a:prstGeom prst="rect">
            <a:avLst/>
          </a:prstGeom>
          <a:solidFill>
            <a:srgbClr val="DC2626"/>
          </a:solidFill>
          <a:ln/>
        </p:spPr>
      </p:sp>
      <p:sp>
        <p:nvSpPr>
          <p:cNvPr id="24" name="Text 22"/>
          <p:cNvSpPr txBox="1"/>
          <p:nvPr/>
        </p:nvSpPr>
        <p:spPr>
          <a:xfrm>
            <a:off x="7653528" y="2551176"/>
            <a:ext cx="3803904" cy="1111250"/>
          </a:xfrm>
          <a:prstGeom prst="rect">
            <a:avLst/>
          </a:prstGeom>
          <a:noFill/>
          <a:ln/>
        </p:spPr>
        <p:txBody>
          <a:bodyPr wrap="none" lIns="0" tIns="0" rIns="0" bIns="0" rtlCol="0" anchor="t"/>
          <a:lstStyle/>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91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f_Pcs_TestRand(&amp;st_Uniform, &amp;st_Gauss);</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92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st_UniformView.f_SetHist(&amp;st_Uniform,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93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st_GaussView.f_SetHist(&amp;st_Gauss,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95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f_Rand_CalcText(&amp;st_Text, &amp;st_Uniform,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0</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96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SetDlgItemText(</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IDC_RAND_UNIFORM_CALC</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st_Text);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97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f_Rand_CalcText(&amp;st_Text, &amp;st_Gauss, </a:t>
            </a:r>
            <a:pPr indent="0" marL="0">
              <a:lnSpc>
                <a:spcPts val="1250"/>
              </a:lnSpc>
              <a:buNone/>
            </a:pPr>
            <a:r>
              <a:rPr lang="en-US" sz="950" dirty="0">
                <a:solidFill>
                  <a:srgbClr val="B45309"/>
                </a:solidFill>
                <a:latin typeface="Consolas" pitchFamily="34" charset="0"/>
                <a:ea typeface="Consolas" pitchFamily="34" charset="-122"/>
                <a:cs typeface="Consolas" pitchFamily="34" charset="-120"/>
              </a:rPr>
              <a:t>1</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a:t>
            </a:r>
            <a:endParaRPr lang="en-US" sz="950" dirty="0"/>
          </a:p>
          <a:p>
            <a:pPr indent="0" marL="0">
              <a:lnSpc>
                <a:spcPts val="1250"/>
              </a:lnSpc>
              <a:buNone/>
            </a:pPr>
            <a:r>
              <a:rPr lang="en-US" sz="950" dirty="0">
                <a:solidFill>
                  <a:srgbClr val="AEB9CC"/>
                </a:solidFill>
                <a:latin typeface="Consolas" pitchFamily="34" charset="0"/>
                <a:ea typeface="Consolas" pitchFamily="34" charset="-122"/>
                <a:cs typeface="Consolas" pitchFamily="34" charset="-120"/>
              </a:rPr>
              <a:t> 98  </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SetDlgItemText(</a:t>
            </a:r>
            <a:pPr indent="0" marL="0">
              <a:lnSpc>
                <a:spcPts val="1250"/>
              </a:lnSpc>
              <a:buNone/>
            </a:pPr>
            <a:r>
              <a:rPr lang="en-US" sz="950" dirty="0">
                <a:solidFill>
                  <a:srgbClr val="7C3AED"/>
                </a:solidFill>
                <a:latin typeface="Consolas" pitchFamily="34" charset="0"/>
                <a:ea typeface="Consolas" pitchFamily="34" charset="-122"/>
                <a:cs typeface="Consolas" pitchFamily="34" charset="-120"/>
              </a:rPr>
              <a:t>IDC_RAND_GAUSS_CALC</a:t>
            </a:r>
            <a:pPr indent="0" marL="0">
              <a:lnSpc>
                <a:spcPts val="1250"/>
              </a:lnSpc>
              <a:buNone/>
            </a:pPr>
            <a:r>
              <a:rPr lang="en-US" sz="950" dirty="0">
                <a:solidFill>
                  <a:srgbClr val="1B2740"/>
                </a:solidFill>
                <a:latin typeface="Consolas" pitchFamily="34" charset="0"/>
                <a:ea typeface="Consolas" pitchFamily="34" charset="-122"/>
                <a:cs typeface="Consolas" pitchFamily="34" charset="-120"/>
              </a:rPr>
              <a:t>, st_Text);</a:t>
            </a:r>
            <a:endParaRPr lang="en-US" sz="950" dirty="0"/>
          </a:p>
        </p:txBody>
      </p:sp>
      <p:sp>
        <p:nvSpPr>
          <p:cNvPr id="25" name="Text 23"/>
          <p:cNvSpPr/>
          <p:nvPr/>
        </p:nvSpPr>
        <p:spPr>
          <a:xfrm>
            <a:off x="11466576" y="2529967"/>
            <a:ext cx="201168" cy="201168"/>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26" name="Text 24"/>
          <p:cNvSpPr/>
          <p:nvPr/>
        </p:nvSpPr>
        <p:spPr>
          <a:xfrm>
            <a:off x="7543800" y="3955034"/>
            <a:ext cx="256032" cy="256032"/>
          </a:xfrm>
          <a:prstGeom prst="ellipse">
            <a:avLst/>
          </a:prstGeom>
          <a:solidFill>
            <a:srgbClr val="DC262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27" name="Text 25"/>
          <p:cNvSpPr txBox="1"/>
          <p:nvPr/>
        </p:nvSpPr>
        <p:spPr>
          <a:xfrm>
            <a:off x="7927848" y="3936746"/>
            <a:ext cx="3621024" cy="564642"/>
          </a:xfrm>
          <a:prstGeom prst="rect">
            <a:avLst/>
          </a:prstGeom>
          <a:noFill/>
          <a:ln/>
        </p:spPr>
        <p:txBody>
          <a:bodyPr wrap="square" lIns="0" tIns="0" rIns="0" bIns="0" rtlCol="0" anchor="t"/>
          <a:lstStyle/>
          <a:p>
            <a:pPr indent="0" marL="0">
              <a:lnSpc>
                <a:spcPct val="105000"/>
              </a:lnSpc>
              <a:buNone/>
            </a:pPr>
            <a:r>
              <a:rPr lang="en-US" sz="1050" b="1" dirty="0">
                <a:solidFill>
                  <a:srgbClr val="1B2740"/>
                </a:solidFill>
                <a:latin typeface="맑은 고딕" pitchFamily="34" charset="0"/>
                <a:ea typeface="맑은 고딕" pitchFamily="34" charset="-122"/>
                <a:cs typeface="맑은 고딕" pitchFamily="34" charset="-120"/>
              </a:rPr>
              <a:t>히스토그램을 받아 넘김</a:t>
            </a:r>
            <a:endParaRPr lang="en-US" sz="1050" dirty="0"/>
          </a:p>
          <a:p>
            <a:pPr indent="0" marL="0">
              <a:lnSpc>
                <a:spcPct val="105000"/>
              </a:lnSpc>
              <a:buNone/>
            </a:pPr>
            <a:r>
              <a:rPr lang="en-US" sz="1050" dirty="0">
                <a:solidFill>
                  <a:srgbClr val="4A5A7A"/>
                </a:solidFill>
                <a:latin typeface="맑은 고딕" pitchFamily="34" charset="0"/>
                <a:ea typeface="맑은 고딕" pitchFamily="34" charset="-122"/>
                <a:cs typeface="맑은 고딕" pitchFamily="34" charset="-120"/>
              </a:rPr>
              <a:t>f_Pcs_TestRand 결과를 그림 컨트롤 두 개에 넘기고</a:t>
            </a:r>
            <a:endParaRPr lang="en-US" sz="1050" dirty="0"/>
          </a:p>
          <a:p>
            <a:pPr indent="0" marL="0">
              <a:lnSpc>
                <a:spcPct val="105000"/>
              </a:lnSpc>
              <a:buNone/>
            </a:pPr>
            <a:r>
              <a:rPr lang="en-US" sz="1050" dirty="0">
                <a:solidFill>
                  <a:srgbClr val="4A5A7A"/>
                </a:solidFill>
                <a:latin typeface="맑은 고딕" pitchFamily="34" charset="0"/>
                <a:ea typeface="맑은 고딕" pitchFamily="34" charset="-122"/>
                <a:cs typeface="맑은 고딕" pitchFamily="34" charset="-120"/>
              </a:rPr>
              <a:t>아래 글 상자에 계산 과정을 적는다</a:t>
            </a:r>
            <a:endParaRPr lang="en-US" sz="1050" dirty="0"/>
          </a:p>
        </p:txBody>
      </p:sp>
      <p:sp>
        <p:nvSpPr>
          <p:cNvPr id="28" name="Text 26"/>
          <p:cNvSpPr/>
          <p:nvPr/>
        </p:nvSpPr>
        <p:spPr>
          <a:xfrm>
            <a:off x="7543800" y="4629404"/>
            <a:ext cx="256032" cy="256032"/>
          </a:xfrm>
          <a:prstGeom prst="ellipse">
            <a:avLst/>
          </a:prstGeom>
          <a:solidFill>
            <a:srgbClr val="D97706"/>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29" name="Text 27"/>
          <p:cNvSpPr txBox="1"/>
          <p:nvPr/>
        </p:nvSpPr>
        <p:spPr>
          <a:xfrm>
            <a:off x="7927848" y="4611116"/>
            <a:ext cx="3621024" cy="564642"/>
          </a:xfrm>
          <a:prstGeom prst="rect">
            <a:avLst/>
          </a:prstGeom>
          <a:noFill/>
          <a:ln/>
        </p:spPr>
        <p:txBody>
          <a:bodyPr wrap="square" lIns="0" tIns="0" rIns="0" bIns="0" rtlCol="0" anchor="t"/>
          <a:lstStyle/>
          <a:p>
            <a:pPr indent="0" marL="0">
              <a:lnSpc>
                <a:spcPct val="105000"/>
              </a:lnSpc>
              <a:buNone/>
            </a:pPr>
            <a:r>
              <a:rPr lang="en-US" sz="1050" b="1" dirty="0">
                <a:solidFill>
                  <a:srgbClr val="1B2740"/>
                </a:solidFill>
                <a:latin typeface="맑은 고딕" pitchFamily="34" charset="0"/>
                <a:ea typeface="맑은 고딕" pitchFamily="34" charset="-122"/>
                <a:cs typeface="맑은 고딕" pitchFamily="34" charset="-120"/>
              </a:rPr>
              <a:t>막대</a:t>
            </a:r>
            <a:endParaRPr lang="en-US" sz="1050" dirty="0"/>
          </a:p>
          <a:p>
            <a:pPr indent="0" marL="0">
              <a:lnSpc>
                <a:spcPct val="105000"/>
              </a:lnSpc>
              <a:buNone/>
            </a:pPr>
            <a:r>
              <a:rPr lang="en-US" sz="1050" dirty="0">
                <a:solidFill>
                  <a:srgbClr val="4A5A7A"/>
                </a:solidFill>
                <a:latin typeface="맑은 고딕" pitchFamily="34" charset="0"/>
                <a:ea typeface="맑은 고딕" pitchFamily="34" charset="-122"/>
                <a:cs typeface="맑은 고딕" pitchFamily="34" charset="-120"/>
              </a:rPr>
              <a:t>칸 경계는 화면 x, 확률밀도는 화면 y 로 바꿔</a:t>
            </a:r>
            <a:endParaRPr lang="en-US" sz="1050" dirty="0"/>
          </a:p>
          <a:p>
            <a:pPr indent="0" marL="0">
              <a:lnSpc>
                <a:spcPct val="105000"/>
              </a:lnSpc>
              <a:buNone/>
            </a:pPr>
            <a:r>
              <a:rPr lang="en-US" sz="1050" dirty="0">
                <a:solidFill>
                  <a:srgbClr val="4A5A7A"/>
                </a:solidFill>
                <a:latin typeface="맑은 고딕" pitchFamily="34" charset="0"/>
                <a:ea typeface="맑은 고딕" pitchFamily="34" charset="-122"/>
                <a:cs typeface="맑은 고딕" pitchFamily="34" charset="-120"/>
              </a:rPr>
              <a:t>그 사이를 칠한다 (f_ToX, f_ToY: 비례로 옮김)</a:t>
            </a:r>
            <a:endParaRPr lang="en-US" sz="1050" dirty="0"/>
          </a:p>
        </p:txBody>
      </p:sp>
      <p:sp>
        <p:nvSpPr>
          <p:cNvPr id="30" name="Text 28"/>
          <p:cNvSpPr/>
          <p:nvPr/>
        </p:nvSpPr>
        <p:spPr>
          <a:xfrm>
            <a:off x="7543800" y="5303774"/>
            <a:ext cx="256032" cy="256032"/>
          </a:xfrm>
          <a:prstGeom prst="ellipse">
            <a:avLst/>
          </a:prstGeom>
          <a:solidFill>
            <a:srgbClr val="059669"/>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31" name="Text 29"/>
          <p:cNvSpPr txBox="1"/>
          <p:nvPr/>
        </p:nvSpPr>
        <p:spPr>
          <a:xfrm>
            <a:off x="7927848" y="5285486"/>
            <a:ext cx="3621024" cy="388620"/>
          </a:xfrm>
          <a:prstGeom prst="rect">
            <a:avLst/>
          </a:prstGeom>
          <a:noFill/>
          <a:ln/>
        </p:spPr>
        <p:txBody>
          <a:bodyPr wrap="square" lIns="0" tIns="0" rIns="0" bIns="0" rtlCol="0" anchor="t"/>
          <a:lstStyle/>
          <a:p>
            <a:pPr indent="0" marL="0">
              <a:lnSpc>
                <a:spcPct val="105000"/>
              </a:lnSpc>
              <a:buNone/>
            </a:pPr>
            <a:r>
              <a:rPr lang="en-US" sz="1050" b="1" dirty="0">
                <a:solidFill>
                  <a:srgbClr val="1B2740"/>
                </a:solidFill>
                <a:latin typeface="맑은 고딕" pitchFamily="34" charset="0"/>
                <a:ea typeface="맑은 고딕" pitchFamily="34" charset="-122"/>
                <a:cs typeface="맑은 고딕" pitchFamily="34" charset="-120"/>
              </a:rPr>
              <a:t>GAUSS 이론 곡선</a:t>
            </a:r>
            <a:endParaRPr lang="en-US" sz="1050" dirty="0"/>
          </a:p>
          <a:p>
            <a:pPr indent="0" marL="0">
              <a:lnSpc>
                <a:spcPct val="105000"/>
              </a:lnSpc>
              <a:buNone/>
            </a:pPr>
            <a:r>
              <a:rPr lang="en-US" sz="1050" dirty="0">
                <a:solidFill>
                  <a:srgbClr val="4A5A7A"/>
                </a:solidFill>
                <a:latin typeface="맑은 고딕" pitchFamily="34" charset="0"/>
                <a:ea typeface="맑은 고딕" pitchFamily="34" charset="-122"/>
                <a:cs typeface="맑은 고딕" pitchFamily="34" charset="-120"/>
              </a:rPr>
              <a:t>−4 ~ 4 를 160 등분해 exp(−x²/2) ÷ √(2π) 를 잇는다</a:t>
            </a:r>
            <a:endParaRPr lang="en-US" sz="1050" dirty="0"/>
          </a:p>
        </p:txBody>
      </p:sp>
      <p:sp>
        <p:nvSpPr>
          <p:cNvPr id="32" name="Text 30"/>
          <p:cNvSpPr/>
          <p:nvPr/>
        </p:nvSpPr>
        <p:spPr>
          <a:xfrm>
            <a:off x="7543800" y="5802122"/>
            <a:ext cx="256032" cy="256032"/>
          </a:xfrm>
          <a:prstGeom prst="ellipse">
            <a:avLst/>
          </a:prstGeom>
          <a:solidFill>
            <a:srgbClr val="2563EB"/>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4</a:t>
            </a:r>
            <a:endParaRPr lang="en-US" sz="950" dirty="0"/>
          </a:p>
        </p:txBody>
      </p:sp>
      <p:sp>
        <p:nvSpPr>
          <p:cNvPr id="33" name="Text 31"/>
          <p:cNvSpPr txBox="1"/>
          <p:nvPr/>
        </p:nvSpPr>
        <p:spPr>
          <a:xfrm>
            <a:off x="7927848" y="5783834"/>
            <a:ext cx="3621024" cy="388620"/>
          </a:xfrm>
          <a:prstGeom prst="rect">
            <a:avLst/>
          </a:prstGeom>
          <a:noFill/>
          <a:ln/>
        </p:spPr>
        <p:txBody>
          <a:bodyPr wrap="square" lIns="0" tIns="0" rIns="0" bIns="0" rtlCol="0" anchor="t"/>
          <a:lstStyle/>
          <a:p>
            <a:pPr indent="0" marL="0">
              <a:lnSpc>
                <a:spcPct val="105000"/>
              </a:lnSpc>
              <a:buNone/>
            </a:pPr>
            <a:r>
              <a:rPr lang="en-US" sz="1050" b="1" dirty="0">
                <a:solidFill>
                  <a:srgbClr val="1B2740"/>
                </a:solidFill>
                <a:latin typeface="맑은 고딕" pitchFamily="34" charset="0"/>
                <a:ea typeface="맑은 고딕" pitchFamily="34" charset="-122"/>
                <a:cs typeface="맑은 고딕" pitchFamily="34" charset="-120"/>
              </a:rPr>
              <a:t>UNIRAN 이론 곡선</a:t>
            </a:r>
            <a:endParaRPr lang="en-US" sz="1050" dirty="0"/>
          </a:p>
          <a:p>
            <a:pPr indent="0" marL="0">
              <a:lnSpc>
                <a:spcPct val="105000"/>
              </a:lnSpc>
              <a:buNone/>
            </a:pPr>
            <a:r>
              <a:rPr lang="en-US" sz="1050" dirty="0">
                <a:solidFill>
                  <a:srgbClr val="4A5A7A"/>
                </a:solidFill>
                <a:latin typeface="맑은 고딕" pitchFamily="34" charset="0"/>
                <a:ea typeface="맑은 고딕" pitchFamily="34" charset="-122"/>
                <a:cs typeface="맑은 고딕" pitchFamily="34" charset="-120"/>
              </a:rPr>
              <a:t>높이 1 인 직선 하나</a:t>
            </a:r>
            <a:endParaRPr lang="en-US" sz="10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4.3 난수 확인 결과 (실습 2.1)</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메인 화면의 [난수 확인...] 으로 연 창입니다. 막대는 표본 확률밀도, 주황 선은 이론 확률밀도이고, 아래 글은 앞의 계산을 실제 값으로 적은 것입니다.</a:t>
            </a:r>
            <a:endParaRPr lang="en-US" sz="1250" dirty="0"/>
          </a:p>
        </p:txBody>
      </p:sp>
      <p:sp>
        <p:nvSpPr>
          <p:cNvPr id="5" name="Shape 3"/>
          <p:cNvSpPr/>
          <p:nvPr/>
        </p:nvSpPr>
        <p:spPr>
          <a:xfrm>
            <a:off x="640080" y="2231136"/>
            <a:ext cx="6766560" cy="3986784"/>
          </a:xfrm>
          <a:prstGeom prst="rect">
            <a:avLst/>
          </a:prstGeom>
          <a:solidFill>
            <a:srgbClr val="F7F9FC"/>
          </a:solidFill>
          <a:ln w="12700">
            <a:solidFill>
              <a:srgbClr val="8794AC"/>
            </a:solidFill>
            <a:prstDash val="dash"/>
          </a:ln>
        </p:spPr>
      </p:sp>
      <p:sp>
        <p:nvSpPr>
          <p:cNvPr id="6" name="Text 4"/>
          <p:cNvSpPr txBox="1"/>
          <p:nvPr/>
        </p:nvSpPr>
        <p:spPr>
          <a:xfrm>
            <a:off x="640080" y="2231136"/>
            <a:ext cx="6766560" cy="3986784"/>
          </a:xfrm>
          <a:prstGeom prst="rect">
            <a:avLst/>
          </a:prstGeom>
          <a:noFill/>
          <a:ln/>
        </p:spPr>
        <p:txBody>
          <a:bodyPr wrap="square" lIns="0" tIns="0" rIns="0" bIns="0" rtlCol="0" anchor="ctr"/>
          <a:lstStyle/>
          <a:p>
            <a:pPr algn="ctr" indent="0" marL="0">
              <a:buNone/>
            </a:pPr>
            <a:r>
              <a:rPr lang="en-US" sz="1200" dirty="0">
                <a:solidFill>
                  <a:srgbClr val="6B7890"/>
                </a:solidFill>
                <a:latin typeface="맑은 고딕" pitchFamily="34" charset="0"/>
                <a:ea typeface="맑은 고딕" pitchFamily="34" charset="-122"/>
                <a:cs typeface="맑은 고딕" pitchFamily="34" charset="-120"/>
              </a:rPr>
              <a:t>난수 확인 창 캡처를 넣을 자리 (tools/figures/ui_rand.png)</a:t>
            </a:r>
            <a:endParaRPr lang="en-US" sz="1200" dirty="0"/>
          </a:p>
        </p:txBody>
      </p:sp>
      <p:sp>
        <p:nvSpPr>
          <p:cNvPr id="7" name="Text 5"/>
          <p:cNvSpPr/>
          <p:nvPr/>
        </p:nvSpPr>
        <p:spPr>
          <a:xfrm>
            <a:off x="7726680" y="2322576"/>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8" name="Text 6"/>
          <p:cNvSpPr txBox="1"/>
          <p:nvPr/>
        </p:nvSpPr>
        <p:spPr>
          <a:xfrm>
            <a:off x="8110728" y="2304288"/>
            <a:ext cx="3438144" cy="614934"/>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UNIRAN: 확률밀도가 1 로 수렴</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10 칸 모두 0.970 ~ 1.049</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첫 칸 999 개 → 999 ÷ 1000 = 0.999</a:t>
            </a:r>
            <a:endParaRPr lang="en-US" sz="1150" dirty="0"/>
          </a:p>
        </p:txBody>
      </p:sp>
      <p:sp>
        <p:nvSpPr>
          <p:cNvPr id="9" name="Text 7"/>
          <p:cNvSpPr/>
          <p:nvPr/>
        </p:nvSpPr>
        <p:spPr>
          <a:xfrm>
            <a:off x="7726680" y="3211830"/>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10" name="Text 8"/>
          <p:cNvSpPr txBox="1"/>
          <p:nvPr/>
        </p:nvSpPr>
        <p:spPr>
          <a:xfrm>
            <a:off x="8110728" y="3193542"/>
            <a:ext cx="3438144" cy="807720"/>
          </a:xfrm>
          <a:prstGeom prst="rect">
            <a:avLst/>
          </a:prstGeom>
          <a:noFill/>
          <a:ln/>
        </p:spPr>
        <p:txBody>
          <a:bodyPr wrap="square" lIns="0" tIns="0" rIns="0" bIns="0" rtlCol="0" anchor="t"/>
          <a:lstStyle/>
          <a:p>
            <a:pPr indent="0" marL="0">
              <a:lnSpc>
                <a:spcPct val="105000"/>
              </a:lnSpc>
              <a:buNone/>
            </a:pPr>
            <a:r>
              <a:rPr lang="en-US" sz="1150" b="1" dirty="0">
                <a:solidFill>
                  <a:srgbClr val="1B2740"/>
                </a:solidFill>
                <a:latin typeface="맑은 고딕" pitchFamily="34" charset="0"/>
                <a:ea typeface="맑은 고딕" pitchFamily="34" charset="-122"/>
                <a:cs typeface="맑은 고딕" pitchFamily="34" charset="-120"/>
              </a:rPr>
              <a:t>GAUSS: 표준정규분포를 따름</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막대가 이론 곡선과 겹친다</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0 ~ 0.25 칸 0.389, 이론 0.396</a:t>
            </a:r>
            <a:endParaRPr lang="en-US" sz="1150" dirty="0"/>
          </a:p>
          <a:p>
            <a:pPr indent="0" marL="0">
              <a:lnSpc>
                <a:spcPct val="105000"/>
              </a:lnSpc>
              <a:buNone/>
            </a:pPr>
            <a:r>
              <a:rPr lang="en-US" sz="1150" dirty="0">
                <a:solidFill>
                  <a:srgbClr val="4A5A7A"/>
                </a:solidFill>
                <a:latin typeface="맑은 고딕" pitchFamily="34" charset="0"/>
                <a:ea typeface="맑은 고딕" pitchFamily="34" charset="-122"/>
                <a:cs typeface="맑은 고딕" pitchFamily="34" charset="-120"/>
              </a:rPr>
              <a:t>평균 +0.0036, 표준편차 0.9984</a:t>
            </a:r>
            <a:endParaRPr lang="en-US" sz="11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4.4 표적 5 개 모의 결과 (위도 · 경도 전시)</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60 s 동안 0.1 s 마다 만든 600 스캔을 위도 · 경도 위에 모두 겹쳤습니다. 선은 참값, 검은 점은 플롯, 회색 점은 클러터입니다.</a:t>
            </a:r>
            <a:endParaRPr lang="en-US" sz="1250" dirty="0"/>
          </a:p>
        </p:txBody>
      </p:sp>
      <p:pic>
        <p:nvPicPr>
          <p:cNvPr id="5" name="Image 0" descr="result_map">    </p:cNvPr>
          <p:cNvPicPr>
            <a:picLocks noChangeAspect="1"/>
          </p:cNvPicPr>
          <p:nvPr/>
        </p:nvPicPr>
        <p:blipFill>
          <a:blip r:embed="rId1"/>
          <a:stretch>
            <a:fillRect/>
          </a:stretch>
        </p:blipFill>
        <p:spPr>
          <a:xfrm>
            <a:off x="640080" y="2231136"/>
            <a:ext cx="5349240" cy="3491345"/>
          </a:xfrm>
          <a:prstGeom prst="rect">
            <a:avLst/>
          </a:prstGeom>
        </p:spPr>
      </p:pic>
      <p:pic>
        <p:nvPicPr>
          <p:cNvPr id="6" name="Image 1" descr="result_zoom">    </p:cNvPr>
          <p:cNvPicPr>
            <a:picLocks noChangeAspect="1"/>
          </p:cNvPicPr>
          <p:nvPr/>
        </p:nvPicPr>
        <p:blipFill>
          <a:blip r:embed="rId2"/>
          <a:stretch>
            <a:fillRect/>
          </a:stretch>
        </p:blipFill>
        <p:spPr>
          <a:xfrm>
            <a:off x="6080760" y="2231136"/>
            <a:ext cx="1965960" cy="3491345"/>
          </a:xfrm>
          <a:prstGeom prst="rect">
            <a:avLst/>
          </a:prstGeom>
        </p:spPr>
      </p:pic>
      <p:sp>
        <p:nvSpPr>
          <p:cNvPr id="7" name="Shape 3"/>
          <p:cNvSpPr/>
          <p:nvPr/>
        </p:nvSpPr>
        <p:spPr>
          <a:xfrm>
            <a:off x="8293608" y="2368296"/>
            <a:ext cx="329184" cy="0"/>
          </a:xfrm>
          <a:prstGeom prst="line">
            <a:avLst/>
          </a:prstGeom>
          <a:noFill/>
          <a:ln w="22225">
            <a:solidFill>
              <a:srgbClr val="2563EB"/>
            </a:solidFill>
            <a:prstDash val="solid"/>
          </a:ln>
        </p:spPr>
      </p:sp>
      <p:sp>
        <p:nvSpPr>
          <p:cNvPr id="8" name="Shape 4"/>
          <p:cNvSpPr/>
          <p:nvPr/>
        </p:nvSpPr>
        <p:spPr>
          <a:xfrm>
            <a:off x="8293608" y="2409444"/>
            <a:ext cx="329184" cy="0"/>
          </a:xfrm>
          <a:prstGeom prst="line">
            <a:avLst/>
          </a:prstGeom>
          <a:noFill/>
          <a:ln w="22225">
            <a:solidFill>
              <a:srgbClr val="DC2626"/>
            </a:solidFill>
            <a:prstDash val="solid"/>
          </a:ln>
        </p:spPr>
      </p:sp>
      <p:sp>
        <p:nvSpPr>
          <p:cNvPr id="9" name="Shape 5"/>
          <p:cNvSpPr/>
          <p:nvPr/>
        </p:nvSpPr>
        <p:spPr>
          <a:xfrm>
            <a:off x="8293608" y="2450592"/>
            <a:ext cx="329184" cy="0"/>
          </a:xfrm>
          <a:prstGeom prst="line">
            <a:avLst/>
          </a:prstGeom>
          <a:noFill/>
          <a:ln w="22225">
            <a:solidFill>
              <a:srgbClr val="059669"/>
            </a:solidFill>
            <a:prstDash val="solid"/>
          </a:ln>
        </p:spPr>
      </p:sp>
      <p:sp>
        <p:nvSpPr>
          <p:cNvPr id="10" name="Shape 6"/>
          <p:cNvSpPr/>
          <p:nvPr/>
        </p:nvSpPr>
        <p:spPr>
          <a:xfrm>
            <a:off x="8293608" y="2491740"/>
            <a:ext cx="329184" cy="0"/>
          </a:xfrm>
          <a:prstGeom prst="line">
            <a:avLst/>
          </a:prstGeom>
          <a:noFill/>
          <a:ln w="22225">
            <a:solidFill>
              <a:srgbClr val="D97706"/>
            </a:solidFill>
            <a:prstDash val="solid"/>
          </a:ln>
        </p:spPr>
      </p:sp>
      <p:sp>
        <p:nvSpPr>
          <p:cNvPr id="11" name="Shape 7"/>
          <p:cNvSpPr/>
          <p:nvPr/>
        </p:nvSpPr>
        <p:spPr>
          <a:xfrm>
            <a:off x="8293608" y="2532888"/>
            <a:ext cx="329184" cy="0"/>
          </a:xfrm>
          <a:prstGeom prst="line">
            <a:avLst/>
          </a:prstGeom>
          <a:noFill/>
          <a:ln w="22225">
            <a:solidFill>
              <a:srgbClr val="7C3AED"/>
            </a:solidFill>
            <a:prstDash val="solid"/>
          </a:ln>
        </p:spPr>
      </p:sp>
      <p:sp>
        <p:nvSpPr>
          <p:cNvPr id="12" name="Text 8"/>
          <p:cNvSpPr txBox="1"/>
          <p:nvPr/>
        </p:nvSpPr>
        <p:spPr>
          <a:xfrm>
            <a:off x="8778240" y="2304288"/>
            <a:ext cx="2770632" cy="292608"/>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참값  </a:t>
            </a:r>
            <a:pPr indent="0" marL="0">
              <a:buNone/>
            </a:pPr>
            <a:r>
              <a:rPr lang="en-US" sz="1150" dirty="0">
                <a:solidFill>
                  <a:srgbClr val="4A5A7A"/>
                </a:solidFill>
                <a:latin typeface="맑은 고딕" pitchFamily="34" charset="0"/>
                <a:ea typeface="맑은 고딕" pitchFamily="34" charset="-122"/>
                <a:cs typeface="맑은 고딕" pitchFamily="34" charset="-120"/>
              </a:rPr>
              <a:t>표적마다 다른 색 선</a:t>
            </a:r>
            <a:endParaRPr lang="en-US" sz="1150" dirty="0"/>
          </a:p>
        </p:txBody>
      </p:sp>
      <p:sp>
        <p:nvSpPr>
          <p:cNvPr id="13" name="Shape 9"/>
          <p:cNvSpPr/>
          <p:nvPr/>
        </p:nvSpPr>
        <p:spPr>
          <a:xfrm>
            <a:off x="8394192" y="2770632"/>
            <a:ext cx="118872" cy="118872"/>
          </a:xfrm>
          <a:prstGeom prst="ellipse">
            <a:avLst/>
          </a:prstGeom>
          <a:solidFill>
            <a:srgbClr val="1F2937"/>
          </a:solidFill>
          <a:ln/>
        </p:spPr>
      </p:sp>
      <p:sp>
        <p:nvSpPr>
          <p:cNvPr id="14" name="Text 10"/>
          <p:cNvSpPr txBox="1"/>
          <p:nvPr/>
        </p:nvSpPr>
        <p:spPr>
          <a:xfrm>
            <a:off x="8778240" y="2688336"/>
            <a:ext cx="2770632" cy="292608"/>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플롯  </a:t>
            </a:r>
            <a:pPr indent="0" marL="0">
              <a:buNone/>
            </a:pPr>
            <a:r>
              <a:rPr lang="en-US" sz="1150" dirty="0">
                <a:solidFill>
                  <a:srgbClr val="4A5A7A"/>
                </a:solidFill>
                <a:latin typeface="맑은 고딕" pitchFamily="34" charset="0"/>
                <a:ea typeface="맑은 고딕" pitchFamily="34" charset="-122"/>
                <a:cs typeface="맑은 고딕" pitchFamily="34" charset="-120"/>
              </a:rPr>
              <a:t>검은 점 (스캔마다 표적당 1 개)</a:t>
            </a:r>
            <a:endParaRPr lang="en-US" sz="1150" dirty="0"/>
          </a:p>
        </p:txBody>
      </p:sp>
      <p:sp>
        <p:nvSpPr>
          <p:cNvPr id="15" name="Shape 11"/>
          <p:cNvSpPr/>
          <p:nvPr/>
        </p:nvSpPr>
        <p:spPr>
          <a:xfrm>
            <a:off x="8394192" y="3154680"/>
            <a:ext cx="118872" cy="118872"/>
          </a:xfrm>
          <a:prstGeom prst="ellipse">
            <a:avLst/>
          </a:prstGeom>
          <a:solidFill>
            <a:srgbClr val="9CA3AF"/>
          </a:solidFill>
          <a:ln/>
        </p:spPr>
      </p:sp>
      <p:sp>
        <p:nvSpPr>
          <p:cNvPr id="16" name="Text 12"/>
          <p:cNvSpPr txBox="1"/>
          <p:nvPr/>
        </p:nvSpPr>
        <p:spPr>
          <a:xfrm>
            <a:off x="8778240" y="3072384"/>
            <a:ext cx="2770632" cy="292608"/>
          </a:xfrm>
          <a:prstGeom prst="rect">
            <a:avLst/>
          </a:prstGeom>
          <a:noFill/>
          <a:ln/>
        </p:spPr>
        <p:txBody>
          <a:bodyPr wrap="square" lIns="0" tIns="0" rIns="0" bIns="0" rtlCol="0" anchor="ctr"/>
          <a:lstStyle/>
          <a:p>
            <a:pPr indent="0" marL="0">
              <a:buNone/>
            </a:pPr>
            <a:r>
              <a:rPr lang="en-US" sz="1150" b="1" dirty="0">
                <a:solidFill>
                  <a:srgbClr val="1B2740"/>
                </a:solidFill>
                <a:latin typeface="맑은 고딕" pitchFamily="34" charset="0"/>
                <a:ea typeface="맑은 고딕" pitchFamily="34" charset="-122"/>
                <a:cs typeface="맑은 고딕" pitchFamily="34" charset="-120"/>
              </a:rPr>
              <a:t>클러터  </a:t>
            </a:r>
            <a:pPr indent="0" marL="0">
              <a:buNone/>
            </a:pPr>
            <a:r>
              <a:rPr lang="en-US" sz="1150" dirty="0">
                <a:solidFill>
                  <a:srgbClr val="4A5A7A"/>
                </a:solidFill>
                <a:latin typeface="맑은 고딕" pitchFamily="34" charset="0"/>
                <a:ea typeface="맑은 고딕" pitchFamily="34" charset="-122"/>
                <a:cs typeface="맑은 고딕" pitchFamily="34" charset="-120"/>
              </a:rPr>
              <a:t>회색 점 (스캔마다 5 개)</a:t>
            </a:r>
            <a:endParaRPr lang="en-US" sz="1150" dirty="0"/>
          </a:p>
        </p:txBody>
      </p:sp>
      <p:sp>
        <p:nvSpPr>
          <p:cNvPr id="17" name="Text 13"/>
          <p:cNvSpPr/>
          <p:nvPr/>
        </p:nvSpPr>
        <p:spPr>
          <a:xfrm>
            <a:off x="8275320" y="3602736"/>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1</a:t>
            </a:r>
            <a:endParaRPr lang="en-US" sz="950" dirty="0"/>
          </a:p>
        </p:txBody>
      </p:sp>
      <p:sp>
        <p:nvSpPr>
          <p:cNvPr id="18" name="Text 14"/>
          <p:cNvSpPr txBox="1"/>
          <p:nvPr/>
        </p:nvSpPr>
        <p:spPr>
          <a:xfrm>
            <a:off x="8659368" y="3584448"/>
            <a:ext cx="2889504" cy="589788"/>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점이 찍히는 과정</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플롯 · 클러터의 (r, az, el) 을</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위도 · 경도로 바꿔 찍는다</a:t>
            </a:r>
            <a:endParaRPr lang="en-US" sz="1100" dirty="0"/>
          </a:p>
        </p:txBody>
      </p:sp>
      <p:sp>
        <p:nvSpPr>
          <p:cNvPr id="19" name="Text 15"/>
          <p:cNvSpPr/>
          <p:nvPr/>
        </p:nvSpPr>
        <p:spPr>
          <a:xfrm>
            <a:off x="8275320" y="4320540"/>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2</a:t>
            </a:r>
            <a:endParaRPr lang="en-US" sz="950" dirty="0"/>
          </a:p>
        </p:txBody>
      </p:sp>
      <p:sp>
        <p:nvSpPr>
          <p:cNvPr id="20" name="Text 16"/>
          <p:cNvSpPr txBox="1"/>
          <p:nvPr/>
        </p:nvSpPr>
        <p:spPr>
          <a:xfrm>
            <a:off x="8659368" y="4302252"/>
            <a:ext cx="2889504" cy="774192"/>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대공 표적: 멀수록 넓게</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옆 오차 = 거리 × p</a:t>
            </a:r>
            <a:pPr indent="0" marL="0">
              <a:lnSpc>
                <a:spcPct val="105000"/>
              </a:lnSpc>
              <a:buNone/>
            </a:pPr>
            <a:r>
              <a:rPr lang="en-US" sz="1100" baseline="-40000" dirty="0">
                <a:solidFill>
                  <a:srgbClr val="4A5A7A"/>
                </a:solidFill>
                <a:latin typeface="맑은 고딕" pitchFamily="34" charset="0"/>
                <a:ea typeface="맑은 고딕" pitchFamily="34" charset="-122"/>
                <a:cs typeface="맑은 고딕" pitchFamily="34" charset="-120"/>
              </a:rPr>
              <a:t>azi</a:t>
            </a:r>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 [rad]</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13,310 m × 0.00834 = ±111 m (위)</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1,360 m × 0.00834 = ±11 m (아래)</a:t>
            </a:r>
            <a:endParaRPr lang="en-US" sz="1100" dirty="0"/>
          </a:p>
        </p:txBody>
      </p:sp>
      <p:sp>
        <p:nvSpPr>
          <p:cNvPr id="21" name="Text 17"/>
          <p:cNvSpPr/>
          <p:nvPr/>
        </p:nvSpPr>
        <p:spPr>
          <a:xfrm>
            <a:off x="8275320" y="5222748"/>
            <a:ext cx="256032" cy="256032"/>
          </a:xfrm>
          <a:prstGeom prst="ellipse">
            <a:avLst/>
          </a:prstGeom>
          <a:solidFill>
            <a:srgbClr val="4A5A7A"/>
          </a:solid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3</a:t>
            </a:r>
            <a:endParaRPr lang="en-US" sz="950" dirty="0"/>
          </a:p>
        </p:txBody>
      </p:sp>
      <p:sp>
        <p:nvSpPr>
          <p:cNvPr id="22" name="Text 18"/>
          <p:cNvSpPr txBox="1"/>
          <p:nvPr/>
        </p:nvSpPr>
        <p:spPr>
          <a:xfrm>
            <a:off x="8659368" y="5204460"/>
            <a:ext cx="2889504" cy="405384"/>
          </a:xfrm>
          <a:prstGeom prst="rect">
            <a:avLst/>
          </a:prstGeom>
          <a:noFill/>
          <a:ln/>
        </p:spPr>
        <p:txBody>
          <a:bodyPr wrap="square" lIns="0" tIns="0" rIns="0" bIns="0" rtlCol="0" anchor="t"/>
          <a:lstStyle/>
          <a:p>
            <a:pPr indent="0" marL="0">
              <a:lnSpc>
                <a:spcPct val="105000"/>
              </a:lnSpc>
              <a:buNone/>
            </a:pPr>
            <a:r>
              <a:rPr lang="en-US" sz="1100" b="1" dirty="0">
                <a:solidFill>
                  <a:srgbClr val="1B2740"/>
                </a:solidFill>
                <a:latin typeface="맑은 고딕" pitchFamily="34" charset="0"/>
                <a:ea typeface="맑은 고딕" pitchFamily="34" charset="-122"/>
                <a:cs typeface="맑은 고딕" pitchFamily="34" charset="-120"/>
              </a:rPr>
              <a:t>클러터는 FOV 부채꼴 안에만</a:t>
            </a:r>
            <a:endParaRPr lang="en-US" sz="1100" dirty="0"/>
          </a:p>
          <a:p>
            <a:pPr indent="0" marL="0">
              <a:lnSpc>
                <a:spcPct val="105000"/>
              </a:lnSpc>
              <a:buNone/>
            </a:pPr>
            <a:r>
              <a:rPr lang="en-US" sz="1100" dirty="0">
                <a:solidFill>
                  <a:srgbClr val="4A5A7A"/>
                </a:solidFill>
                <a:latin typeface="맑은 고딕" pitchFamily="34" charset="0"/>
                <a:ea typeface="맑은 고딕" pitchFamily="34" charset="-122"/>
                <a:cs typeface="맑은 고딕" pitchFamily="34" charset="-120"/>
              </a:rPr>
              <a:t>거리를 고르게 뽑아 레이다 가까이 촘촘</a:t>
            </a:r>
            <a:endParaRPr lang="en-US" sz="1100" dirty="0"/>
          </a:p>
        </p:txBody>
      </p:sp>
      <p:sp>
        <p:nvSpPr>
          <p:cNvPr id="23" name="Text 19"/>
          <p:cNvSpPr txBox="1"/>
          <p:nvPr/>
        </p:nvSpPr>
        <p:spPr>
          <a:xfrm>
            <a:off x="640080" y="5759057"/>
            <a:ext cx="7406640" cy="237744"/>
          </a:xfrm>
          <a:prstGeom prst="rect">
            <a:avLst/>
          </a:prstGeom>
          <a:noFill/>
          <a:ln/>
        </p:spPr>
        <p:txBody>
          <a:bodyPr wrap="square" lIns="0" tIns="0" rIns="0" bIns="0" rtlCol="0" anchor="t"/>
          <a:lstStyle/>
          <a:p>
            <a:pPr indent="0" marL="0">
              <a:buNone/>
            </a:pPr>
            <a:r>
              <a:rPr lang="en-US" sz="950" dirty="0">
                <a:solidFill>
                  <a:srgbClr val="8794AC"/>
                </a:solidFill>
                <a:latin typeface="맑은 고딕" pitchFamily="34" charset="0"/>
                <a:ea typeface="맑은 고딕" pitchFamily="34" charset="-122"/>
                <a:cs typeface="맑은 고딕" pitchFamily="34" charset="-120"/>
              </a:rPr>
              <a:t>그림은 프로그램과 같은 Core 출력 (시드 12345, 600 스캔) 을 위도 · 경도 축에 그린 것</a:t>
            </a:r>
            <a:endParaRPr lang="en-US" sz="9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206240" y="2788920"/>
            <a:ext cx="6766560" cy="731520"/>
          </a:xfrm>
          <a:prstGeom prst="rect">
            <a:avLst/>
          </a:prstGeom>
          <a:noFill/>
          <a:ln/>
        </p:spPr>
        <p:txBody>
          <a:bodyPr wrap="square" lIns="0" tIns="0" rIns="0" bIns="0" rtlCol="0" anchor="ctr"/>
          <a:lstStyle/>
          <a:p>
            <a:pPr algn="r" indent="0" marL="0">
              <a:buNone/>
            </a:pPr>
            <a:r>
              <a:rPr lang="en-US" sz="3600" b="1" dirty="0">
                <a:solidFill>
                  <a:srgbClr val="FFFFFF"/>
                </a:solidFill>
                <a:latin typeface="맑은 고딕" pitchFamily="34" charset="0"/>
                <a:ea typeface="맑은 고딕" pitchFamily="34" charset="-122"/>
                <a:cs typeface="맑은 고딕" pitchFamily="34" charset="-120"/>
              </a:rPr>
              <a:t>감사합니다</a:t>
            </a:r>
            <a:endParaRPr lang="en-US" sz="3600" dirty="0"/>
          </a:p>
        </p:txBody>
      </p:sp>
      <p:sp>
        <p:nvSpPr>
          <p:cNvPr id="3" name="Shape 1"/>
          <p:cNvSpPr/>
          <p:nvPr/>
        </p:nvSpPr>
        <p:spPr>
          <a:xfrm>
            <a:off x="7863840" y="3675888"/>
            <a:ext cx="3108960" cy="0"/>
          </a:xfrm>
          <a:prstGeom prst="line">
            <a:avLst/>
          </a:prstGeom>
          <a:noFill/>
          <a:ln w="9525">
            <a:solidFill>
              <a:srgbClr val="AEB9CC"/>
            </a:solidFill>
            <a:prstDash val="solid"/>
          </a:ln>
        </p:spPr>
      </p:sp>
      <p:sp>
        <p:nvSpPr>
          <p:cNvPr id="4" name="Text 2"/>
          <p:cNvSpPr txBox="1"/>
          <p:nvPr/>
        </p:nvSpPr>
        <p:spPr>
          <a:xfrm>
            <a:off x="4206240" y="3803904"/>
            <a:ext cx="6766560" cy="310896"/>
          </a:xfrm>
          <a:prstGeom prst="rect">
            <a:avLst/>
          </a:prstGeom>
          <a:noFill/>
          <a:ln/>
        </p:spPr>
        <p:txBody>
          <a:bodyPr wrap="square" lIns="0" tIns="0" rIns="0" bIns="0" rtlCol="0" anchor="ctr"/>
          <a:lstStyle/>
          <a:p>
            <a:pPr algn="r" indent="0" marL="0">
              <a:buNone/>
            </a:pPr>
            <a:r>
              <a:rPr lang="en-US" sz="1300" dirty="0">
                <a:solidFill>
                  <a:srgbClr val="AEB9CC"/>
                </a:solidFill>
                <a:latin typeface="맑은 고딕" pitchFamily="34" charset="0"/>
                <a:ea typeface="맑은 고딕" pitchFamily="34" charset="-122"/>
                <a:cs typeface="맑은 고딕" pitchFamily="34" charset="-120"/>
              </a:rPr>
              <a:t>질문 주시면 답변드리겠습니다</a:t>
            </a:r>
            <a:endParaRPr lang="en-US" sz="1300" dirty="0"/>
          </a:p>
        </p:txBody>
      </p:sp>
    </p:spTree>
  </p:cSld>
  <p:clrMapOvr>
    <a:masterClrMapping/>
  </p:clrMapOvr>
</p:sld>
</file>

<file path=ppt/theme/theme1.xml><?xml version="1.0" encoding="utf-8"?>
<a:theme xmlns:a="http://schemas.openxmlformats.org/drawingml/2006/main" name="Radar SW Study">
  <a:themeElements>
    <a:clrScheme name="Radar SW Study">
      <a:dk1>
        <a:srgbClr val="1B2740"/>
      </a:dk1>
      <a:lt1>
        <a:srgbClr val="FFFFFF"/>
      </a:lt1>
      <a:dk2>
        <a:srgbClr val="4A5A7A"/>
      </a:dk2>
      <a:lt2>
        <a:srgbClr val="F7F9FC"/>
      </a:lt2>
      <a:accent1>
        <a:srgbClr val="2563EB"/>
      </a:accent1>
      <a:accent2>
        <a:srgbClr val="D97706"/>
      </a:accent2>
      <a:accent3>
        <a:srgbClr val="059669"/>
      </a:accent3>
      <a:accent4>
        <a:srgbClr val="DC2626"/>
      </a:accent4>
      <a:accent5>
        <a:srgbClr val="7C3AED"/>
      </a:accent5>
      <a:accent6>
        <a:srgbClr val="8794AC"/>
      </a:accent6>
      <a:hlink>
        <a:srgbClr val="2563EB"/>
      </a:hlink>
      <a:folHlink>
        <a:srgbClr val="7C3AED"/>
      </a:folHlink>
    </a:clrScheme>
    <a:fontScheme name="Radar SW Study">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radar-sw-study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플롯 · 클러터 모의</dc:title>
  <dc:subject>레이다 SW 학습 과제 4</dc:subject>
  <dc:creator>Janghwan Kim (Harley)</dc:creator>
  <cp:lastModifiedBy>Janghwan Kim (Harley)</cp:lastModifiedBy>
  <cp:revision>1</cp:revision>
  <dcterms:created xsi:type="dcterms:W3CDTF">2026-10-12T10:12:52Z</dcterms:created>
  <dcterms:modified xsi:type="dcterms:W3CDTF">2026-10-12T10:12:52Z</dcterms:modified>
</cp:coreProperties>
</file>