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 id="281" r:id="rId32"/>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오늘은 트랙 개시와 트랙 관리에 대해 이야기해 보겠습니다.</a:t>
            </a:r>
          </a:p>
          <a:p>
            <a:r>
              <a:t>지난 과제에서는 표적 참값에 잡음을 더해 플롯을 만들고 클러터도 같이 만들어 봤는데요. 이번에는 그 플롯을 데이터 처리 쪽으로 보내서, 같은 표적에서 나온 것 같은 플롯 두 개를 이어 트랙을 시작하고, 그렇게 만든 트랙을 점수로 관리하는 부분까지 만들어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네 부분으로 나눠서 진행하겠습니다.</a:t>
            </a:r>
          </a:p>
          <a:p>
            <a:r>
              <a:t>먼저 트랙 개시에서는 플롯 한 개로 시작하는 방법과 두 개로 시작하는 방법을 비교하고, 이번에 쓴 2-Point 개시의 식과 속도 게이트를 보겠습니다. 이어서 트랙 관리에서는 트랙이 어떤 상태를 거치는지 보고, M/N 방식과 트랙 스코어 방식을 비교해 보겠습니다.</a:t>
            </a:r>
          </a:p>
          <a:p>
            <a:r>
              <a:t>그다음 이 내용을 코드로 어떻게 구현했는지 보고, 마지막으로 실제 프로그램을 돌린 결과를 같이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번째로 트랙 개시입니다. 트랙이 무엇인지부터 짚고, 1-Point 와 2-Point 개시, 2-Point 의 상태변수와 오차 공분산, 속도 게이트, 그리고 측정 공분산 순서로 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과제가 전체 흐름에서 어디쯤인지부터 보겠습니다. 위쪽을 보면, 과제 3 에서 표적이 실제로 움직인 궤적을 만들었고, 과제 4 에서 그 궤적을 레이다가 잰 것처럼 플롯과 클러터로 바꿨습니다. 이번 과제 5 는 그 플롯을 받아서 트랙을 시작하고 관리하는 부분이고, 트랙에 다음 플롯을 이어 붙이는 연관과 추적 필터는 다음 과제에서 다룹니다.</a:t>
            </a:r>
          </a:p>
          <a:p>
            <a:r>
              <a:t>아래 그림을 보시면 스캔마다 플롯이 여러 개 들어오는데, 이 중에는 진짜 표적 플롯도 있고 클러터도 섞여 있습니다. 여기서 같은 표적에서 나온 플롯을 시간 순서대로 이어서 표적의 위치와 속도를 추정한 것을 트랙이라고 합니다. 트랙을 처음 만드는 것을 트랙 개시, 만든 트랙이 진짜 표적인지 판단해서 확정하거나 지우는 것을 트랙 관리라고 부릅니다.</a:t>
            </a:r>
          </a:p>
          <a:p>
            <a:r>
              <a:t>오른쪽에는 오늘 계속 나올 용어 다섯 개를 정리해 두었으니 참고해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트랙을 시작하는 방법은 크게 두 가지가 있습니다.</a:t>
            </a:r>
          </a:p>
          <a:p>
            <a:r>
              <a:t>왼쪽의 1-Point 개시는 플롯 하나만 가지고 바로 트랙을 만드는 방법이에요. 위치는 플롯 위치를 그대로 쓰면 되는데 문제는 속도입니다. 점 하나만 봐서는 표적이 어느 쪽으로 가는지 알 수가 없거든요. 그래서 속도는 0 으로 두고 오차를 크게 잡습니다. 빨리 시작할 수 있는 대신 초기 속도 오차가 크다는 게 단점입니다.</a:t>
            </a:r>
          </a:p>
          <a:p>
            <a:r>
              <a:t>오른쪽의 2-Point 개시는 연속된 두 스캔, 또는 두 드웰에서 받은 플롯을 씁니다. 두 플롯 사이의 위치 변화를 시간으로 나누면 속도가 나오니까 속도 오차를 줄일 수 있습니다. 대신 플롯이 두 번 들어올 때까지 기다려야 해서 개시가 한 스캔 늦어집니다. 그리고 두 플롯이 정말 같은 표적인지는 점선 원으로 그린 속도 게이트로 먼저 걸러 냅니다.</a:t>
            </a:r>
          </a:p>
          <a:p>
            <a:r>
              <a:t>이번 과제는 이 2-Point 개시를 적용했습니다.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로 만든 트랙이 어떤 값을 갖는지 숫자로 따라가 보겠습니다.</a:t>
            </a:r>
          </a:p>
          <a:p>
            <a:r>
              <a:t>1 번 상태변수부터 보면, x 축에서 앞 스캔 플롯이 5,000 m, 이번 스캔 플롯이 5,030 m 이고 스캔 간격이 0.1 초라고 해 볼게요. 위치는 이번 플롯 그대로 5,030 m, 속도는 30 m 를 0.1 초로 나눈 300 m/s, 가속도는 과제 조건대로 0 입니다. y, z 축도 같은 식이라 모두 9 개 값이 나옵니다.</a:t>
            </a:r>
          </a:p>
          <a:p>
            <a:r>
              <a:t>2 번 오차 공분산 P 는 이 값들이 얼마나 틀릴 수 있는지를 적은 표인데요, 플롯 오차가 ±10 m 라고 해 보겠습니다. 위치는 이번 플롯 오차가 그대로 들어가니까 분산이 10 의 제곱인 100 입니다. 속도는 두 플롯 차를 0.1 초로 나눈 값이라 두 오차가 더해져서 200 이 되고, 0.1 의 제곱으로 나누면 20,000, 표준편차로는 ±141 m/s 입니다. 위치와 속도에는 둘 다 이번 플롯 오차가 들어 있어서 같이 움직이고, 그 값이 1,000 입니다.</a:t>
            </a:r>
          </a:p>
          <a:p>
            <a:r>
              <a:t>3 번 9 x 9 전체는 이 3 x 3 블록이 축마다 대각선에 하나씩 놓인 모양입니다. 위치 오차 10 m 가 속도에서는 141 m/s 로 커진다는 점은 결과에서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속도 게이트입니다. 앞 스캔 플롯과 이번 스캔 플롯이 같은 표적에서 나왔는지 어떻게 알 수 있을까요? 생각보다 간단한데요, 표적이 아무리 빨라도 한 스캔 동안 갈 수 있는 거리는 정해져 있습니다. 그래서 두 플롯 사이 거리를 스캔 간격으로 나눈 속력이 최대 속력 V_max 보다 작으면 같은 표적일 수 있다고 봅니다. 과제 값이 800 m/s 이고 스캔 간격이 0.1 초니까, 앞 플롯에서 반경 80 m 안에 들어와야 통과입니다.</a:t>
            </a:r>
          </a:p>
          <a:p>
            <a:r>
              <a:t>왼쪽 그림을 보면 A 와 1 은 600 m/s 라서 통과, A 와 2 는 1,346 m/s 라서 탈락입니다. 한 플롯이 여러 쌍에 걸릴 수도 있어서, 통과한 쌍 중에 속력이 가장 작은 쌍부터 하나씩 고르고 한 번 쓴 플롯은 다시 쓰지 않습니다.</a:t>
            </a:r>
          </a:p>
          <a:p>
            <a:r>
              <a:t>오른쪽은 거리별로 같은 표적의 두 플롯 차이를 파란 타원으로, 게이트를 빨간 원으로 겹쳐 그린 그림입니다. 각도 오차에 거리를 곱한 만큼이 가로 방향 위치 오차가 되니까, 1 km 에서는 타원이 게이트 안에 충분히 들어가지만 14 km 에서는 게이트보다 훨씬 길어집니다. 그래서 멀리 있는 표적은 진짜 표적 쌍인데도 열 번에 한 번 정도만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R 이라고 부른 측정 공분산을 어떻게 구하는지 보겠습니다. 플롯은 안테나 기준 거리, 방위각, 고각으로 들어오는데 트랙은 VC-NED 좌표계에서 만들기 때문에, 오차도 VC-NED 로 옮겨 줘야 합니다.</a:t>
            </a:r>
          </a:p>
          <a:p>
            <a:r>
              <a:t>VC-NED 는 플랫폼 무게중심이 원점이고 축이 북, 동, 아래로 고정된 좌표계입니다. 플랫폼 자세가 바뀌어도 축이 같이 돌지 않아서 트랙을 만들기에 편합니다.</a:t>
            </a:r>
          </a:p>
          <a:p>
            <a:r>
              <a:t>순서는 이렇습니다. 먼저 거리, 방위각, 고각의 표준편차를 야코비안 J 로 안테나 직교좌표의 공분산으로 바꾸고, 그다음 안테나에서 동체, 동체에서 VC-NED 로 가는 회전 M 을 앞뒤로 곱합니다.</a:t>
            </a:r>
          </a:p>
          <a:p>
            <a:r>
              <a:t>오른쪽 그림이 표적 5 플롯의 실제 예입니다. 왼쪽 칸처럼 빔 기준으로 보면 거리 방향 오차는 4.7 m 로 얇고 옆으로는 49 m 로 넓어서, 기울지 않은 납작한 타원이고 R 도 대각선에만 값이 있습니다. 그런데 이 표적은 북서쪽에 있어서, 같은 타원을 북 · 동 축으로 보면 오른쪽 칸처럼 비스듬해집니다. 그러면 북쪽으로 틀릴 때 동쪽으로도 같이 틀리게 되어서, R 의 대각선 밖 칸에도 큰 값이 생깁니다. 이 R 이 1.3 의 오차 공분산에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번째로 트랙 관리입니다. 트랙이 어떤 상태를 거치는지와 연관이 무엇인지 먼저 보고, M/N 방식과 이번에 쓴 트랙 스코어 방식, 그리고 점수가 실제로 어떻게 바뀌는지까지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 방법을 보기 전에 용어 두 가지를 먼저 정리하고 가겠습니다.</a:t>
            </a:r>
          </a:p>
          <a:p>
            <a:r>
              <a:t>왼쪽은 연관입니다. 새 스캔이 들어오면 트랙이 있을 법한 자리 근처에 플롯이 들어왔는지 보는데요, 들어와서 그 플롯을 트랙에 이어 붙이면 연관 성공, 아무것도 들어오지 않으면 연관 실패입니다. 이 결과를 트랙마다, 스캔마다 1 과 0 으로 남긴 것이 Assigned_Flag 입니다. 연관 자체는 다음 과제 내용이라 이번에는 과제 조건대로 늘 0 으로 둡니다.</a:t>
            </a:r>
          </a:p>
          <a:p>
            <a:r>
              <a:t>오른쪽은 트랙 상태 네 가지입니다. 막 만든 트랙은 임시 트랙이에요. 클러터 두 개가 우연히 이어진 것일 수도 있으니까 아직 확인하는 중인 상태입니다. 연관이 계속 이어지면 진짜 표적으로 보고 확정 트랙이 됩니다. 확정 트랙이 플롯을 한두 번 놓쳤다고 바로 지우면 아까우니까, 메모리 트랙으로 두고 다시 잡히기를 기다립니다. 그래도 안 잡히거나 임시 트랙이 계속 실패하면 삭제 트랙이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방법은 M/N 방식입니다. 최근 N 번 중에 연관에 몇 번 성공했는지를 세는 방법이에요.</a:t>
            </a:r>
          </a:p>
          <a:p>
            <a:r>
              <a:t>위쪽 임시 트랙 예시는 M 이 3, N 이 5 입니다. 다섯 번 안에 세 번 성공하면 확정인데, 여기서는 네 번째 스캔에서 세 번째 성공이 나와서 그 자리에서 확정됩니다. 반대로 M 번 연속으로 실패하면 지웁니다.</a:t>
            </a:r>
          </a:p>
          <a:p>
            <a:r>
              <a:t>아래 확정 트랙은 연관에 실패하는 순간 메모리 트랙으로 바뀌고, 메모리 상태가 정해 둔 시간보다 길어지면 표적을 놓친 것으로 보고 지웁니다.</a:t>
            </a:r>
          </a:p>
          <a:p>
            <a:r>
              <a:t>횟수만 세면 되니까 단순하다는 게 장점인데, 최근 N 번의 성공, 실패 기록을 계속 들고 있어야 합니다. 이번 과제에서는 다음 장의 트랙 스코어 방식을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과제에서 쓴 트랙 스코어 방식입니다. 트랙마다 TrackScore 와 MemoryScore 두 점수를 들고 다니면서, 점수가 문턱을 넘으면 상태를 바꿉니다. 상태 번호는 과제에서 정한 대로 1 임시, 2 확정, 3 메모리, 4 삭제입니다.</a:t>
            </a:r>
          </a:p>
          <a:p>
            <a:r>
              <a:t>그림 왼쪽부터 보면, 임시 트랙은 연관에 성공하면 TrackScore 를 1 올리고 실패하면 1 내립니다. 그래서 5 이상이 되면 확정, 0 이하가 되면 삭제입니다.</a:t>
            </a:r>
          </a:p>
          <a:p>
            <a:r>
              <a:t>확정 트랙이 연관에 실패하면 메모리 트랙으로 바꾸고 MemoryScore 를 1 올립니다. 메모리 트랙이 다시 연관되면 바로 확정으로 돌아가면서 MemoryScore 를 0 으로 되돌리고, 계속 실패해서 MemoryScore 가 5 가 되면 삭제합니다.</a:t>
            </a:r>
          </a:p>
          <a:p>
            <a:r>
              <a:t>문턱 값 5, 0, 5 는 과제에서 준 값이고, 과제에 없는 값 두 개는 제가 정했습니다. 두 플롯으로 만든 트랙이라 개시 직후 TrackScore 는 2 로 두었고, 한 번에 올리고 내리는 양은 1 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점수가 실제로 어떻게 움직이는지 두 가지 경우로 보겠습니다. 맨 위 숫자가 스캔마다 넣은 Assigned_Flag 이고, 맨 아래 계산 줄에 그 스캔에서 점수가 어떻게 바뀌었는지 적어 두었습니다.</a:t>
            </a:r>
          </a:p>
          <a:p>
            <a:r>
              <a:t>왼쪽은 연관 결과를 직접 넣어 본 예입니다. 2 에서 시작한 TrackScore 가 성공할 때마다 1 씩 올라서 5 가 되는 3 번 스캔에 확정됩니다. 4 번 스캔에서 실패하면 메모리로 바뀌면서 MemoryScore 가 1 이 되고, 한 번 더 실패하면 2 가 됩니다. 6 번 스캔에서 다시 성공하면 바로 확정으로 돌아오고 MemoryScore 는 0 이 됩니다. 마지막에 다섯 번 연속으로 실패하면 MemoryScore 가 5 가 되는 12 번 스캔에서 삭제됩니다.</a:t>
            </a:r>
          </a:p>
          <a:p>
            <a:r>
              <a:t>오른쪽이 이번 과제 조건입니다. 매 스캔 0 이 들어가니까 TrackScore 가 2 에서 1, 0 으로 내려가서 세 번째 스캔에 삭제됩니다. 그래서 확정이나 메모리 상태는 시뮬레이션에서 나오지 않고, 이건 4.2 에서 따로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번째로 구현입니다. 쓰레드와 UDP 구조, 플롯 메시지를 먼저 보고, 송신, 수신, 트랙 개시, 스코어 로직 코드를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구조부터 보겠습니다. 과제 4 의 측정 모의 결과를 레이다 신호처리가 내보낸 플롯이라고 보고, 데이터 처리 쪽이 그것을 받아서 처리하는 모양으로 만들었습니다.</a:t>
            </a:r>
          </a:p>
          <a:p>
            <a:r>
              <a:t>송신 쓰레드가 신호처리 역할입니다. 스캔마다 표적 플롯과 클러터를 섞어서 메시지 하나를 만들고 UDP 로 보냅니다. 수신 쓰레드는 데이터 처리 역할인데요, 메시지를 받으면 플롯 좌표를 VC-NED 로 바꾸고 트랙 관리와 2-Point 개시를 돌린 다음 결과를 스캔 단위로 쌓아 둡니다. UI 는 그 결과를 가져다 그림과 표로 보여 줍니다.</a:t>
            </a:r>
          </a:p>
          <a:p>
            <a:r>
              <a:t>아래 표는 TCP 가 아니라 UDP 를 고른 이유입니다. UDP 는 보낸 메시지 하나가 그대로 하나로 도착해서 스캔 하나를 한 번에 받을 수 있고, 연결이나 재전송 없이 바로 전달됩니다. TCP 는 바이트가 이어서 오기 때문에 메시지를 직접 잘라야 하고, 하나가 늦으면 뒤 스캔도 같이 기다리게 됩니다. UDP 의 약점은 손실인데, 스캔 번호로 빠진 게 없는지 확인했고 시험에서 600 스캔을 모두 받았습니다.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실제로 주고받는 플롯 메시지입니다. 참고 소스 코드의 Idd.h 가 STRUCT_PlotInfo 의 Y_Body 에서 끊겨 있어서, 그 뒤를 이어서 완성했습니다.</a:t>
            </a:r>
          </a:p>
          <a:p>
            <a:r>
              <a:t>왼쪽에서 Y_Body 까지는 원래 코드 그대로이고, 아래 주황색 네 줄이 이어 쓴 부분입니다. 구좌표가 안테나와 VC-NED 두 벌 있으니까, 직교좌표도 안테나, 동체, VC-NED 세 벌이 되도록 Z_Body 와 VC-NED 직교 성분을 붙였습니다.</a:t>
            </a:r>
          </a:p>
          <a:p>
            <a:r>
              <a:t>오른쪽 STRUCT_PlotMsg 는 머리 정보 뒤에 플롯 배열이 붙는 구조입니다. 머리에는 메시지 종류와 크기, 스캔 번호와 시각, 플롯 수가 들어가고, 측정 표준편차와 플랫폼 위치, 자세도 같이 보냅니다. 받는 쪽에서 오차 공분산을 계산하고 좌표를 바꿀 때 필요하기 때문입니다.</a:t>
            </a:r>
          </a:p>
          <a:p>
            <a:r>
              <a:t>송신 쪽은 과제 조건대로 빨간색으로 표시한 안테나 구좌표 세 칸만 채우고, 나머지 좌표 칸은 받는 쪽이 계산해서 채웁니다. 보낼 때는 플롯 수만큼만 잘라서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송신 쪽에서 메시지를 만드는 f_Lnk_BuildMsg 입니다. 코드 오른쪽 주석과 번호를 같이 보시면 됩니다.</a:t>
            </a:r>
          </a:p>
          <a:p>
            <a:r>
              <a:t>먼저 그 스캔의 표적 플롯을 배열에 담고, 이어서 클러터를 같은 배열에 붙입니다. 이때 각 플롯이 어느 표적에서 나왔는지는 송신 쪽 기록에만 따로 적어 둡니다. 그다음 방위각 순서로 정렬하는데, 빔이 지나가는 순서대로 플롯이 나오는 것처럼 보이게 하려는 것이고, 동시에 배열 위치만 보고는 표적과 클러터를 구분할 수 없게 하려는 것입니다.</a:t>
            </a:r>
          </a:p>
          <a:p>
            <a:r>
              <a:t>다음으로 메시지 머리에 스캔 번호, 시각, 플롯 수를 채우고, 플롯마다 ID 를 붙이면서 안테나 기준 거리, 방위각, 고각을 넣습니다. ID 는 과제 조건대로 10000 부터 하나씩 올리고, 1000000 다음에는 다시 10000 으로 돌아갑니다.</a:t>
            </a:r>
          </a:p>
          <a:p>
            <a:r>
              <a:t>이렇게 만든 메시지를 송신 쓰레드가 과제 1 의 UDP 송신 함수로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받는 쪽입니다. 데이터 처리의 중심인 f_Lnk_ProcessMsg 를 보겠습니다.</a:t>
            </a:r>
          </a:p>
          <a:p>
            <a:r>
              <a:t>먼저 메시지 머리에서 시각, 측정 표준편차, 플랫폼 자세를 꺼냅니다.</a:t>
            </a:r>
          </a:p>
          <a:p>
            <a:r>
              <a:t>그다음 플롯마다 f_Lnk_FillPlotCoord 를 불러 좌표를 바꿉니다. 아래 세 줄처럼 안테나 구좌표를 안테나 직교좌표로, 다시 동체로, 플랫폼 자세를 써서 VC-NED 로 옮기는데, 변환 함수는 지난 과제들에서 쓰던 좌표변환 코드 그대로입니다. 그렇게 나온 VC-NED 위치와, 1.5 에서 본 식으로 계산한 측정 공분산을 묶어서 트랙 개시용 플롯을 만듭니다.</a:t>
            </a:r>
          </a:p>
          <a:p>
            <a:r>
              <a:t>여기서 하나 짚고 가면, VC-NED 는 원점이 플랫폼을 따라 움직입니다. 그래서 플랫폼이 움직이면 앞 스캔과 이번 스캔의 원점이 달라지는데, f_Trk_MoveOrigin 으로 앞 스캔 값을 이번 원점 기준으로 옮겨 두면 두 플롯의 차가 상대 속도가 아니라 표적 속도가 됩니다. 이번 시나리오는 플랫폼이 서 있어서 옮기는 양은 0 입니다.</a:t>
            </a:r>
          </a:p>
          <a:p>
            <a:r>
              <a:t>마지막으로 f_Trk_ProcessScan 을 불러 트랙 관리와 개시를 한 번에 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하나를 처리하는 f_Trk_ProcessScan 입니다. 코드는 크게 두 부분으로 나뉘는데, 첫 번째가 트랙 관리입니다. 연관 기능이 아직 없으니까 모든 트랙의 Assigned_Flag 를 0 으로 두고 스코어 로직을 돌립니다.</a:t>
            </a:r>
          </a:p>
          <a:p>
            <a:r>
              <a:t>두 번째가 2-Point 개시입니다. 앞 스캔에서 아직 안 쓴 플롯과 이번 스캔 플롯을 모두 짝지어 속력을 구하고, 그중 가장 느린 쌍을 찾습니다. 여기서 눈여겨보실 부분은 bestSpeed 를 V_max 로 시작한다는 점인데요, 이렇게 하면 800 m/s 이상인 쌍은 처음부터 후보가 될 수 없어서 이 한 줄이 속도 게이트 역할을 합니다.</a:t>
            </a:r>
          </a:p>
          <a:p>
            <a:r>
              <a:t>쌍을 고르면 두 플롯 모두 썼다고 표시해서 다른 쌍에 다시 쓰이지 않게 하고, 새 ID 를 받아 트랙을 만듭니다. 상태는 임시, TrackScore 는 2 로 시작하고, 개시에 쓴 두 플롯의 ID 도 남겨 둡니다. 이 과정을 고를 쌍이 없을 때까지 반복합니다. 트랙 ID 는 100 부터 차례로 주고, 10000 다음에는 다시 100 으로 돌아가면서 쓰고 있는 번호는 건너뜁니다.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트랙의 초기 상태변수와 오차 공분산을 만드는 f_Trk_TwoPointInit 입니다.</a:t>
            </a:r>
          </a:p>
          <a:p>
            <a:r>
              <a:t>먼저 참고 소스 코드의 행렬 함수로 9 x 1 상태변수와 9 x 9 오차 공분산을 만들면서 전부 0 으로 채웁니다. 그래서 가속도 칸은 따로 건드리지 않아도 0 으로 남습니다.</a:t>
            </a:r>
          </a:p>
          <a:p>
            <a:r>
              <a:t>바깥 반복문은 축마다 돌면서 위치에는 이번 플롯 위치를, 속도에는 두 플롯 위치 차를 시간 차로 나눈 값을 넣습니다.</a:t>
            </a:r>
          </a:p>
          <a:p>
            <a:r>
              <a:t>안쪽 반복문이 오차 공분산을 채우는 부분입니다. 축 a 와 축 b 의 3 x 3 칸마다 위치는 R_k, 위치와 속도 사이는 R_k 나누기 T, 속도는 R_k 더하기 R_k-1 을 T 제곱으로 나눈 값을 넣습니다. 1.3 에서 본 3 x 3 표 그대로입니다. 코드의 3 곱하기 nAxis 는 축 a 의 위치 칸, 거기에 1 을 더하면 속도 칸이라는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로직인 f_Trk_UpdateState 입니다. 지금 상태에 따라 switch 의 case 가 하나씩 있어서, 2.3 에서 본 상태 그림을 그대로 코드로 옮겼다고 보시면 됩니다.</a:t>
            </a:r>
          </a:p>
          <a:p>
            <a:r>
              <a:t>왼쪽의 임시 트랙은 Assigned_Flag 가 1 이면 TrackScore 를 1 올리고 0 이면 1 내린 다음, 5 이상이면 확정, 0 이하면 삭제로 바꿉니다.</a:t>
            </a:r>
          </a:p>
          <a:p>
            <a:r>
              <a:t>오른쪽 위의 확정 트랙은 연관에 실패하면 메모리로 바꾸면서 MemoryScore 를 1 올립니다.</a:t>
            </a:r>
          </a:p>
          <a:p>
            <a:r>
              <a:t>메모리 트랙은 연관에 성공하면 바로 확정으로 돌리고 MemoryScore 를 0 으로 되돌립니다. 실패하면 MemoryScore 를 1 올리고, 5 이상이 되면 삭제로 바꿉니다.</a:t>
            </a:r>
          </a:p>
          <a:p>
            <a:r>
              <a:t>삭제 상태가 된 트랙은 다음 스캔을 시작할 때 트랙 표에서 빠집니다. 트랙 ID 는 차례로 주기 때문에, 지운 번호는 번호가 한 바퀴 돈 다음에야 다시 쓰이게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결과입니다. 2D 와 3D 전시, 트랙 수명과 스코어 확인을 보고, 거리에 따라 개시 결과가 어떻게 달라지는지까지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결과 숫자부터 말씀드리면, 600 스캔을 UDP 로 모두 받아서 트랙 611 개를 개시했고, 개시에 쓴 두 플롯은 전부 같은 표적에서 나온 것이었습니다. 클러터는 넓은 범위에 흩어져 있어서 80 m 안에 두 번 연달아 들어오기 어렵기 때문에, 클러터로 만든 트랙은 하나도 없었습니다.</a:t>
            </a:r>
          </a:p>
          <a:p>
            <a:r>
              <a:t>아래는 과제에서 요구한 True, Plot, Track 심볼을 함께 그린 300 번 스캔 화면입니다. 왼쪽이 2D, 오른쪽이 3D 입니다. 선은 참값 궤적이고 마름모가 지금 참값 위치, 흰 테를 두른 큰 점이 지금 스캔에 받은 플롯입니다. 빈 주황 사각형이 임시 트랙, 회색 X 사각형이 삭제 상태가 된 트랙이고 옆 숫자가 트랙 ID 입니다.</a:t>
            </a:r>
          </a:p>
          <a:p>
            <a:r>
              <a:t>사각형에서 뻗은 선은 트랙 속도로 1 초 동안 가는 거리인데, 참값 궤적과 꽤 어긋나 있습니다. 1.3 에서 본 것처럼 위치 오차를 0.1 초로 나눠 속도를 구하다 보니 처음 속도는 오차가 크기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300 번 스캔의 트랙 표입니다. 한 스캔에 나이가 다른 트랙 세 개가 보이는데요, 350 번은 이번 스캔에 만들어져서 TrackScore 가 2, 349 번은 한 스캔 전에 만들어져서 1, 348 번은 두 스캔 전에 만들어져서 0 이 되면서 삭제 상태가 됐습니다. 과제 조건에서는 모든 트랙이 이렇게 세 스캔 동안만 보이고 사라집니다.</a:t>
            </a:r>
          </a:p>
          <a:p>
            <a:r>
              <a:t>그러다 보니 확정이나 메모리 상태는 시뮬레이션에서는 볼 수가 없어서, 오른쪽의 스코어 확인 창을 따로 만들었습니다. 연관 결과를 직접 입력하면 같은 스코어 함수를 그대로 불러서 스캔마다 점수와 상태를 보여 줍니다. 1 1 1 0 0 1 1 을 넣으면 세 번째 스캔에 확정되고, 두 번 실패해서 메모리로 갔다가, 다시 성공하면서 MemoryScore 가 0 으로 돌아가고 확정되는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거리에 따라 트랙이 얼마나 만들어졌는지 보겠습니다.</a:t>
            </a:r>
          </a:p>
          <a:p>
            <a:r>
              <a:t>왼쪽 그래프는 같은 표적의 플롯 쌍이 속도 게이트를 통과한 비율을 거리별로 그린 것입니다. 1 km 안쪽은 거의 다 통과하는데, 5 km 에서 절반, 14 km 에서는 열 번에 한 번 정도로 떨어집니다. 1.4 에서 본 것처럼 멀수록 플롯이 크게 흔들려서 80 m 게이트를 넘기 쉽기 때문입니다.</a:t>
            </a:r>
          </a:p>
          <a:p>
            <a:r>
              <a:t>오른쪽 표는 표적을 가까운 순서로 놓은 것인데, 6 km 근처의 표적 5 는 182 번, 14 km 의 표적 1 은 58 번 개시돼서 멀수록 트랙이 덜 만들어지는 걸 확인할 수 있습니다. 표적 2 는 14 km 에서 1 km 까지 다가오는 표적이라 중간 정도 값이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들어 주셔서 감사합니다. 궁금한 점 있으시면 편하게 질문 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229600" y="658368"/>
            <a:ext cx="3017520" cy="274320"/>
          </a:xfrm>
          <a:prstGeom prst="rect">
            <a:avLst/>
          </a:prstGeom>
          <a:noFill/>
          <a:ln/>
        </p:spPr>
        <p:txBody>
          <a:bodyPr wrap="square" lIns="0" tIns="0" rIns="0" bIns="0" rtlCol="0" anchor="t"/>
          <a:lstStyle/>
          <a:p>
            <a:pPr algn="r" indent="0" marL="0">
              <a:buNone/>
            </a:pPr>
            <a:r>
              <a:rPr lang="en-US" sz="1000" b="1" dirty="0">
                <a:solidFill>
                  <a:srgbClr val="FFFFFF"/>
                </a:solidFill>
                <a:latin typeface="Arial" pitchFamily="34" charset="0"/>
                <a:ea typeface="Arial" pitchFamily="34" charset="-122"/>
                <a:cs typeface="Arial" pitchFamily="34" charset="-120"/>
              </a:rPr>
              <a:t>Confidential</a:t>
            </a:r>
            <a:endParaRPr lang="en-US" sz="1000" dirty="0"/>
          </a:p>
        </p:txBody>
      </p:sp>
      <p:sp>
        <p:nvSpPr>
          <p:cNvPr id="3" name="Text 1"/>
          <p:cNvSpPr txBox="1"/>
          <p:nvPr/>
        </p:nvSpPr>
        <p:spPr>
          <a:xfrm>
            <a:off x="4206240" y="2505456"/>
            <a:ext cx="6766560" cy="457200"/>
          </a:xfrm>
          <a:prstGeom prst="rect">
            <a:avLst/>
          </a:prstGeom>
          <a:noFill/>
          <a:ln/>
        </p:spPr>
        <p:txBody>
          <a:bodyPr wrap="square" lIns="0" tIns="0" rIns="0" bIns="0" rtlCol="0" anchor="ctr"/>
          <a:lstStyle/>
          <a:p>
            <a:pPr algn="r" indent="0" marL="0">
              <a:buNone/>
            </a:pPr>
            <a:r>
              <a:rPr lang="en-US" sz="1400" dirty="0">
                <a:solidFill>
                  <a:srgbClr val="AEB9CC"/>
                </a:solidFill>
                <a:latin typeface="맑은 고딕" pitchFamily="34" charset="0"/>
                <a:ea typeface="맑은 고딕" pitchFamily="34" charset="-122"/>
                <a:cs typeface="맑은 고딕" pitchFamily="34" charset="-120"/>
              </a:rPr>
              <a:t>레이다 SW 학습 과제 5</a:t>
            </a:r>
            <a:endParaRPr lang="en-US" sz="1400" dirty="0"/>
          </a:p>
        </p:txBody>
      </p:sp>
      <p:sp>
        <p:nvSpPr>
          <p:cNvPr id="4" name="Text 2"/>
          <p:cNvSpPr txBox="1"/>
          <p:nvPr/>
        </p:nvSpPr>
        <p:spPr>
          <a:xfrm>
            <a:off x="4206240" y="2944368"/>
            <a:ext cx="676656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맑은 고딕" pitchFamily="34" charset="0"/>
                <a:ea typeface="맑은 고딕" pitchFamily="34" charset="-122"/>
                <a:cs typeface="맑은 고딕" pitchFamily="34" charset="-120"/>
              </a:rPr>
              <a:t>트랙 개시 · 관리</a:t>
            </a:r>
            <a:endParaRPr lang="en-US" sz="3800" dirty="0"/>
          </a:p>
        </p:txBody>
      </p:sp>
      <p:sp>
        <p:nvSpPr>
          <p:cNvPr id="5" name="Shape 3"/>
          <p:cNvSpPr/>
          <p:nvPr/>
        </p:nvSpPr>
        <p:spPr>
          <a:xfrm>
            <a:off x="7863840" y="3913632"/>
            <a:ext cx="3108960" cy="0"/>
          </a:xfrm>
          <a:prstGeom prst="line">
            <a:avLst/>
          </a:prstGeom>
          <a:noFill/>
          <a:ln w="9525">
            <a:solidFill>
              <a:srgbClr val="AEB9CC"/>
            </a:solidFill>
            <a:prstDash val="solid"/>
          </a:ln>
        </p:spPr>
      </p:sp>
      <p:sp>
        <p:nvSpPr>
          <p:cNvPr id="6" name="Text 4"/>
          <p:cNvSpPr txBox="1"/>
          <p:nvPr/>
        </p:nvSpPr>
        <p:spPr>
          <a:xfrm>
            <a:off x="4206240" y="4059936"/>
            <a:ext cx="6766560" cy="292608"/>
          </a:xfrm>
          <a:prstGeom prst="rect">
            <a:avLst/>
          </a:prstGeom>
          <a:noFill/>
          <a:ln/>
        </p:spPr>
        <p:txBody>
          <a:bodyPr wrap="square" lIns="0" tIns="0" rIns="0" bIns="0" rtlCol="0" anchor="ctr"/>
          <a:lstStyle/>
          <a:p>
            <a:pPr algn="r" indent="0" marL="0">
              <a:buNone/>
            </a:pPr>
            <a:r>
              <a:rPr lang="en-US" sz="1300" dirty="0">
                <a:solidFill>
                  <a:srgbClr val="AEB9CC"/>
                </a:solidFill>
                <a:latin typeface="Arial" pitchFamily="34" charset="0"/>
                <a:ea typeface="Arial" pitchFamily="34" charset="-122"/>
                <a:cs typeface="Arial" pitchFamily="34" charset="-120"/>
              </a:rPr>
              <a:t>Track Initiation and Management</a:t>
            </a:r>
            <a:endParaRPr lang="en-US" sz="1300" dirty="0"/>
          </a:p>
        </p:txBody>
      </p:sp>
      <p:sp>
        <p:nvSpPr>
          <p:cNvPr id="7" name="Text 5"/>
          <p:cNvSpPr txBox="1"/>
          <p:nvPr/>
        </p:nvSpPr>
        <p:spPr>
          <a:xfrm>
            <a:off x="4206240" y="5120640"/>
            <a:ext cx="6766560" cy="292608"/>
          </a:xfrm>
          <a:prstGeom prst="rect">
            <a:avLst/>
          </a:prstGeom>
          <a:noFill/>
          <a:ln/>
        </p:spPr>
        <p:txBody>
          <a:bodyPr wrap="square" lIns="0" tIns="0" rIns="0" bIns="0" rtlCol="0" anchor="ctr"/>
          <a:lstStyle/>
          <a:p>
            <a:pPr algn="r" indent="0" marL="0">
              <a:buNone/>
            </a:pPr>
            <a:r>
              <a:rPr lang="en-US" sz="1200" dirty="0">
                <a:solidFill>
                  <a:srgbClr val="FFFFFF"/>
                </a:solidFill>
                <a:latin typeface="Arial" pitchFamily="34" charset="0"/>
                <a:ea typeface="Arial" pitchFamily="34" charset="-122"/>
                <a:cs typeface="Arial" pitchFamily="34" charset="-120"/>
              </a:rPr>
              <a:t>Janghwan Kim (Harley)</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7200" y="2743200"/>
            <a:ext cx="3291840" cy="1188720"/>
          </a:xfrm>
          <a:prstGeom prst="rect">
            <a:avLst/>
          </a:prstGeom>
          <a:noFill/>
          <a:ln/>
        </p:spPr>
        <p:txBody>
          <a:bodyPr wrap="square" lIns="0" tIns="0" rIns="0" bIns="0" rtlCol="0" anchor="ctr"/>
          <a:lstStyle/>
          <a:p>
            <a:pPr algn="ctr" indent="0" marL="0">
              <a:lnSpc>
                <a:spcPct val="125000"/>
              </a:lnSpc>
              <a:buNone/>
            </a:pPr>
            <a:r>
              <a:rPr lang="en-US" sz="1800" b="1" dirty="0">
                <a:solidFill>
                  <a:srgbClr val="FFFFFF"/>
                </a:solidFill>
                <a:latin typeface="맑은 고딕" pitchFamily="34" charset="0"/>
                <a:ea typeface="맑은 고딕" pitchFamily="34" charset="-122"/>
                <a:cs typeface="맑은 고딕" pitchFamily="34" charset="-120"/>
              </a:rPr>
              <a:t>트랙 개시 · 관리</a:t>
            </a:r>
            <a:endParaRPr lang="en-US" sz="1800" dirty="0"/>
          </a:p>
          <a:p>
            <a:pPr algn="ctr" indent="0" marL="0">
              <a:lnSpc>
                <a:spcPct val="125000"/>
              </a:lnSpc>
              <a:buNone/>
            </a:pPr>
            <a:r>
              <a:rPr lang="en-US" sz="1800" b="1" dirty="0">
                <a:solidFill>
                  <a:srgbClr val="FFFFFF"/>
                </a:solidFill>
                <a:latin typeface="맑은 고딕" pitchFamily="34" charset="0"/>
                <a:ea typeface="맑은 고딕" pitchFamily="34" charset="-122"/>
                <a:cs typeface="맑은 고딕" pitchFamily="34" charset="-120"/>
              </a:rPr>
              <a:t>TrackMgr</a:t>
            </a:r>
            <a:endParaRPr lang="en-US" sz="1800" dirty="0"/>
          </a:p>
        </p:txBody>
      </p:sp>
      <p:sp>
        <p:nvSpPr>
          <p:cNvPr id="3" name="Text 1"/>
          <p:cNvSpPr txBox="1"/>
          <p:nvPr/>
        </p:nvSpPr>
        <p:spPr>
          <a:xfrm>
            <a:off x="457200" y="6035040"/>
            <a:ext cx="3291840" cy="274320"/>
          </a:xfrm>
          <a:prstGeom prst="rect">
            <a:avLst/>
          </a:prstGeom>
          <a:noFill/>
          <a:ln/>
        </p:spPr>
        <p:txBody>
          <a:bodyPr wrap="square" lIns="0" tIns="0" rIns="0" bIns="0" rtlCol="0" anchor="t"/>
          <a:lstStyle/>
          <a:p>
            <a:pPr algn="ctr" indent="0" marL="0">
              <a:buNone/>
            </a:pPr>
            <a:r>
              <a:rPr lang="en-US" sz="1000" dirty="0">
                <a:solidFill>
                  <a:srgbClr val="AEB9CC"/>
                </a:solidFill>
                <a:latin typeface="Arial" pitchFamily="34" charset="0"/>
                <a:ea typeface="Arial" pitchFamily="34" charset="-122"/>
                <a:cs typeface="Arial" pitchFamily="34" charset="-120"/>
              </a:rPr>
              <a:t>Janghwan Kim (Harley)</a:t>
            </a:r>
            <a:endParaRPr lang="en-US" sz="1000" dirty="0"/>
          </a:p>
        </p:txBody>
      </p:sp>
      <p:sp>
        <p:nvSpPr>
          <p:cNvPr id="4" name="Text 2"/>
          <p:cNvSpPr txBox="1"/>
          <p:nvPr/>
        </p:nvSpPr>
        <p:spPr>
          <a:xfrm>
            <a:off x="4800600" y="1801368"/>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5852160" y="1801368"/>
            <a:ext cx="920115"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트랙 개시</a:t>
            </a:r>
            <a:endParaRPr lang="en-US" sz="1500" dirty="0"/>
          </a:p>
        </p:txBody>
      </p:sp>
      <p:sp>
        <p:nvSpPr>
          <p:cNvPr id="6" name="Shape 4"/>
          <p:cNvSpPr/>
          <p:nvPr/>
        </p:nvSpPr>
        <p:spPr>
          <a:xfrm>
            <a:off x="6882003" y="2103120"/>
            <a:ext cx="4045077" cy="0"/>
          </a:xfrm>
          <a:prstGeom prst="line">
            <a:avLst/>
          </a:prstGeom>
          <a:noFill/>
          <a:ln w="9525">
            <a:solidFill>
              <a:srgbClr val="C9D1DD"/>
            </a:solidFill>
            <a:prstDash val="sysDot"/>
          </a:ln>
        </p:spPr>
      </p:sp>
      <p:sp>
        <p:nvSpPr>
          <p:cNvPr id="7" name="Text 5"/>
          <p:cNvSpPr txBox="1"/>
          <p:nvPr/>
        </p:nvSpPr>
        <p:spPr>
          <a:xfrm>
            <a:off x="11009376" y="1801368"/>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3</a:t>
            </a:r>
            <a:endParaRPr lang="en-US" sz="1400" dirty="0"/>
          </a:p>
        </p:txBody>
      </p:sp>
      <p:sp>
        <p:nvSpPr>
          <p:cNvPr id="8" name="Shape 6"/>
          <p:cNvSpPr/>
          <p:nvPr/>
        </p:nvSpPr>
        <p:spPr>
          <a:xfrm>
            <a:off x="4800600" y="2459736"/>
            <a:ext cx="6720840" cy="0"/>
          </a:xfrm>
          <a:prstGeom prst="line">
            <a:avLst/>
          </a:prstGeom>
          <a:noFill/>
          <a:ln w="9525">
            <a:solidFill>
              <a:srgbClr val="D2D9E5"/>
            </a:solidFill>
            <a:prstDash val="solid"/>
          </a:ln>
        </p:spPr>
      </p:sp>
      <p:sp>
        <p:nvSpPr>
          <p:cNvPr id="9" name="Text 2"/>
          <p:cNvSpPr txBox="1"/>
          <p:nvPr/>
        </p:nvSpPr>
        <p:spPr>
          <a:xfrm>
            <a:off x="4800600" y="2569464"/>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02</a:t>
            </a:r>
            <a:endParaRPr lang="en-US" sz="3000" dirty="0"/>
          </a:p>
        </p:txBody>
      </p:sp>
      <p:sp>
        <p:nvSpPr>
          <p:cNvPr id="10" name="Text 3"/>
          <p:cNvSpPr txBox="1"/>
          <p:nvPr/>
        </p:nvSpPr>
        <p:spPr>
          <a:xfrm>
            <a:off x="5852160" y="2569464"/>
            <a:ext cx="920115"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트랙 관리</a:t>
            </a:r>
            <a:endParaRPr lang="en-US" sz="1500" dirty="0"/>
          </a:p>
        </p:txBody>
      </p:sp>
      <p:sp>
        <p:nvSpPr>
          <p:cNvPr id="11" name="Shape 4"/>
          <p:cNvSpPr/>
          <p:nvPr/>
        </p:nvSpPr>
        <p:spPr>
          <a:xfrm>
            <a:off x="6882003" y="2871216"/>
            <a:ext cx="4045077" cy="0"/>
          </a:xfrm>
          <a:prstGeom prst="line">
            <a:avLst/>
          </a:prstGeom>
          <a:noFill/>
          <a:ln w="9525">
            <a:solidFill>
              <a:srgbClr val="C9D1DD"/>
            </a:solidFill>
            <a:prstDash val="sysDot"/>
          </a:ln>
        </p:spPr>
      </p:sp>
      <p:sp>
        <p:nvSpPr>
          <p:cNvPr id="12" name="Text 5"/>
          <p:cNvSpPr txBox="1"/>
          <p:nvPr/>
        </p:nvSpPr>
        <p:spPr>
          <a:xfrm>
            <a:off x="11009376" y="2569464"/>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9</a:t>
            </a:r>
            <a:endParaRPr lang="en-US" sz="1400" dirty="0"/>
          </a:p>
        </p:txBody>
      </p:sp>
      <p:sp>
        <p:nvSpPr>
          <p:cNvPr id="13" name="Shape 6"/>
          <p:cNvSpPr/>
          <p:nvPr/>
        </p:nvSpPr>
        <p:spPr>
          <a:xfrm>
            <a:off x="4800600" y="3227832"/>
            <a:ext cx="6720840" cy="0"/>
          </a:xfrm>
          <a:prstGeom prst="line">
            <a:avLst/>
          </a:prstGeom>
          <a:noFill/>
          <a:ln w="9525">
            <a:solidFill>
              <a:srgbClr val="D2D9E5"/>
            </a:solidFill>
            <a:prstDash val="solid"/>
          </a:ln>
        </p:spPr>
      </p:sp>
      <p:sp>
        <p:nvSpPr>
          <p:cNvPr id="14" name="Text 2"/>
          <p:cNvSpPr txBox="1"/>
          <p:nvPr/>
        </p:nvSpPr>
        <p:spPr>
          <a:xfrm>
            <a:off x="4800600" y="3337560"/>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03</a:t>
            </a:r>
            <a:endParaRPr lang="en-US" sz="3000" dirty="0"/>
          </a:p>
        </p:txBody>
      </p:sp>
      <p:sp>
        <p:nvSpPr>
          <p:cNvPr id="15" name="Text 3"/>
          <p:cNvSpPr txBox="1"/>
          <p:nvPr/>
        </p:nvSpPr>
        <p:spPr>
          <a:xfrm>
            <a:off x="5852160" y="3337560"/>
            <a:ext cx="47244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구현</a:t>
            </a:r>
            <a:endParaRPr lang="en-US" sz="1500" dirty="0"/>
          </a:p>
        </p:txBody>
      </p:sp>
      <p:sp>
        <p:nvSpPr>
          <p:cNvPr id="16" name="Shape 4"/>
          <p:cNvSpPr/>
          <p:nvPr/>
        </p:nvSpPr>
        <p:spPr>
          <a:xfrm>
            <a:off x="6434328" y="3639312"/>
            <a:ext cx="4492752" cy="0"/>
          </a:xfrm>
          <a:prstGeom prst="line">
            <a:avLst/>
          </a:prstGeom>
          <a:noFill/>
          <a:ln w="9525">
            <a:solidFill>
              <a:srgbClr val="C9D1DD"/>
            </a:solidFill>
            <a:prstDash val="sysDot"/>
          </a:ln>
        </p:spPr>
      </p:sp>
      <p:sp>
        <p:nvSpPr>
          <p:cNvPr id="17" name="Text 5"/>
          <p:cNvSpPr txBox="1"/>
          <p:nvPr/>
        </p:nvSpPr>
        <p:spPr>
          <a:xfrm>
            <a:off x="11009376" y="3337560"/>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14</a:t>
            </a:r>
            <a:endParaRPr lang="en-US" sz="1400" dirty="0"/>
          </a:p>
        </p:txBody>
      </p:sp>
      <p:sp>
        <p:nvSpPr>
          <p:cNvPr id="18" name="Shape 6"/>
          <p:cNvSpPr/>
          <p:nvPr/>
        </p:nvSpPr>
        <p:spPr>
          <a:xfrm>
            <a:off x="4800600" y="3995928"/>
            <a:ext cx="6720840" cy="0"/>
          </a:xfrm>
          <a:prstGeom prst="line">
            <a:avLst/>
          </a:prstGeom>
          <a:noFill/>
          <a:ln w="9525">
            <a:solidFill>
              <a:srgbClr val="D2D9E5"/>
            </a:solidFill>
            <a:prstDash val="solid"/>
          </a:ln>
        </p:spPr>
      </p:sp>
      <p:sp>
        <p:nvSpPr>
          <p:cNvPr id="19" name="Text 2"/>
          <p:cNvSpPr txBox="1"/>
          <p:nvPr/>
        </p:nvSpPr>
        <p:spPr>
          <a:xfrm>
            <a:off x="4800600" y="4105656"/>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04</a:t>
            </a:r>
            <a:endParaRPr lang="en-US" sz="3000" dirty="0"/>
          </a:p>
        </p:txBody>
      </p:sp>
      <p:sp>
        <p:nvSpPr>
          <p:cNvPr id="20" name="Text 3"/>
          <p:cNvSpPr txBox="1"/>
          <p:nvPr/>
        </p:nvSpPr>
        <p:spPr>
          <a:xfrm>
            <a:off x="5852160" y="4105656"/>
            <a:ext cx="47244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결과</a:t>
            </a:r>
            <a:endParaRPr lang="en-US" sz="1500" dirty="0"/>
          </a:p>
        </p:txBody>
      </p:sp>
      <p:sp>
        <p:nvSpPr>
          <p:cNvPr id="21" name="Shape 4"/>
          <p:cNvSpPr/>
          <p:nvPr/>
        </p:nvSpPr>
        <p:spPr>
          <a:xfrm>
            <a:off x="6434328" y="4407408"/>
            <a:ext cx="4492752" cy="0"/>
          </a:xfrm>
          <a:prstGeom prst="line">
            <a:avLst/>
          </a:prstGeom>
          <a:noFill/>
          <a:ln w="9525">
            <a:solidFill>
              <a:srgbClr val="C9D1DD"/>
            </a:solidFill>
            <a:prstDash val="sysDot"/>
          </a:ln>
        </p:spPr>
      </p:sp>
      <p:sp>
        <p:nvSpPr>
          <p:cNvPr id="22" name="Text 5"/>
          <p:cNvSpPr txBox="1"/>
          <p:nvPr/>
        </p:nvSpPr>
        <p:spPr>
          <a:xfrm>
            <a:off x="11009376" y="4105656"/>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22</a:t>
            </a:r>
            <a:endParaRPr lang="en-US" sz="1400" dirty="0"/>
          </a:p>
        </p:txBody>
      </p:sp>
      <p:sp>
        <p:nvSpPr>
          <p:cNvPr id="23"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01. 트랙 개시</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트랙이 무엇인지 보고, 플롯 두 개로 트랙을 시작하는 2 Point 개시와 속도 게이트를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1.1</a:t>
            </a:r>
            <a:endParaRPr lang="en-US" sz="1400" dirty="0"/>
          </a:p>
        </p:txBody>
      </p:sp>
      <p:sp>
        <p:nvSpPr>
          <p:cNvPr id="5" name="Text 3"/>
          <p:cNvSpPr txBox="1"/>
          <p:nvPr/>
        </p:nvSpPr>
        <p:spPr>
          <a:xfrm>
            <a:off x="1418234" y="2057400"/>
            <a:ext cx="14422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트랙과 트랙 개시</a:t>
            </a:r>
            <a:endParaRPr lang="en-US" sz="1400" dirty="0"/>
          </a:p>
        </p:txBody>
      </p:sp>
      <p:sp>
        <p:nvSpPr>
          <p:cNvPr id="6" name="Shape 4"/>
          <p:cNvSpPr/>
          <p:nvPr/>
        </p:nvSpPr>
        <p:spPr>
          <a:xfrm>
            <a:off x="2969260" y="2313432"/>
            <a:ext cx="7637780"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4</a:t>
            </a:r>
            <a:endParaRPr lang="en-US" sz="1300" dirty="0"/>
          </a:p>
        </p:txBody>
      </p:sp>
      <p:sp>
        <p:nvSpPr>
          <p:cNvPr id="8" name="Text 2"/>
          <p:cNvSpPr txBox="1"/>
          <p:nvPr/>
        </p:nvSpPr>
        <p:spPr>
          <a:xfrm>
            <a:off x="859536" y="2464308"/>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1.2</a:t>
            </a:r>
            <a:endParaRPr lang="en-US" sz="1400" dirty="0"/>
          </a:p>
        </p:txBody>
      </p:sp>
      <p:sp>
        <p:nvSpPr>
          <p:cNvPr id="9" name="Text 3"/>
          <p:cNvSpPr txBox="1"/>
          <p:nvPr/>
        </p:nvSpPr>
        <p:spPr>
          <a:xfrm>
            <a:off x="1418234" y="2464308"/>
            <a:ext cx="1966499"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1-Point 와 2-Point 개시</a:t>
            </a:r>
            <a:endParaRPr lang="en-US" sz="1400" dirty="0"/>
          </a:p>
        </p:txBody>
      </p:sp>
      <p:sp>
        <p:nvSpPr>
          <p:cNvPr id="10" name="Shape 4"/>
          <p:cNvSpPr/>
          <p:nvPr/>
        </p:nvSpPr>
        <p:spPr>
          <a:xfrm>
            <a:off x="3493547" y="2720339"/>
            <a:ext cx="7113492" cy="0"/>
          </a:xfrm>
          <a:prstGeom prst="line">
            <a:avLst/>
          </a:prstGeom>
          <a:noFill/>
          <a:ln w="15875">
            <a:solidFill>
              <a:srgbClr val="AEB9CC"/>
            </a:solidFill>
            <a:prstDash val="sysDot"/>
          </a:ln>
        </p:spPr>
      </p:sp>
      <p:sp>
        <p:nvSpPr>
          <p:cNvPr id="11" name="Text 5"/>
          <p:cNvSpPr txBox="1"/>
          <p:nvPr/>
        </p:nvSpPr>
        <p:spPr>
          <a:xfrm>
            <a:off x="10736885" y="2464308"/>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5</a:t>
            </a:r>
            <a:endParaRPr lang="en-US" sz="1300" dirty="0"/>
          </a:p>
        </p:txBody>
      </p:sp>
      <p:sp>
        <p:nvSpPr>
          <p:cNvPr id="12" name="Text 2"/>
          <p:cNvSpPr txBox="1"/>
          <p:nvPr/>
        </p:nvSpPr>
        <p:spPr>
          <a:xfrm>
            <a:off x="859536" y="2871216"/>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1.3</a:t>
            </a:r>
            <a:endParaRPr lang="en-US" sz="1400" dirty="0"/>
          </a:p>
        </p:txBody>
      </p:sp>
      <p:sp>
        <p:nvSpPr>
          <p:cNvPr id="13" name="Text 3"/>
          <p:cNvSpPr txBox="1"/>
          <p:nvPr/>
        </p:nvSpPr>
        <p:spPr>
          <a:xfrm>
            <a:off x="1418234" y="2871216"/>
            <a:ext cx="304230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2-Point 초기 상태변수와 오차 공분산</a:t>
            </a:r>
            <a:endParaRPr lang="en-US" sz="1400" dirty="0"/>
          </a:p>
        </p:txBody>
      </p:sp>
      <p:sp>
        <p:nvSpPr>
          <p:cNvPr id="14" name="Shape 4"/>
          <p:cNvSpPr/>
          <p:nvPr/>
        </p:nvSpPr>
        <p:spPr>
          <a:xfrm>
            <a:off x="4569348" y="3127248"/>
            <a:ext cx="6037691" cy="0"/>
          </a:xfrm>
          <a:prstGeom prst="line">
            <a:avLst/>
          </a:prstGeom>
          <a:noFill/>
          <a:ln w="15875">
            <a:solidFill>
              <a:srgbClr val="AEB9CC"/>
            </a:solidFill>
            <a:prstDash val="sysDot"/>
          </a:ln>
        </p:spPr>
      </p:sp>
      <p:sp>
        <p:nvSpPr>
          <p:cNvPr id="15" name="Text 5"/>
          <p:cNvSpPr txBox="1"/>
          <p:nvPr/>
        </p:nvSpPr>
        <p:spPr>
          <a:xfrm>
            <a:off x="10736885" y="2871216"/>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6</a:t>
            </a:r>
            <a:endParaRPr lang="en-US" sz="1300" dirty="0"/>
          </a:p>
        </p:txBody>
      </p:sp>
      <p:sp>
        <p:nvSpPr>
          <p:cNvPr id="16" name="Text 2"/>
          <p:cNvSpPr txBox="1"/>
          <p:nvPr/>
        </p:nvSpPr>
        <p:spPr>
          <a:xfrm>
            <a:off x="859536" y="327812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1.4</a:t>
            </a:r>
            <a:endParaRPr lang="en-US" sz="1400" dirty="0"/>
          </a:p>
        </p:txBody>
      </p:sp>
      <p:sp>
        <p:nvSpPr>
          <p:cNvPr id="17" name="Text 3"/>
          <p:cNvSpPr txBox="1"/>
          <p:nvPr/>
        </p:nvSpPr>
        <p:spPr>
          <a:xfrm>
            <a:off x="1418234" y="3278124"/>
            <a:ext cx="1024381"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속도 게이팅</a:t>
            </a:r>
            <a:endParaRPr lang="en-US" sz="1400" dirty="0"/>
          </a:p>
        </p:txBody>
      </p:sp>
      <p:sp>
        <p:nvSpPr>
          <p:cNvPr id="18" name="Shape 4"/>
          <p:cNvSpPr/>
          <p:nvPr/>
        </p:nvSpPr>
        <p:spPr>
          <a:xfrm>
            <a:off x="2551430" y="3534156"/>
            <a:ext cx="8055610" cy="0"/>
          </a:xfrm>
          <a:prstGeom prst="line">
            <a:avLst/>
          </a:prstGeom>
          <a:noFill/>
          <a:ln w="15875">
            <a:solidFill>
              <a:srgbClr val="AEB9CC"/>
            </a:solidFill>
            <a:prstDash val="sysDot"/>
          </a:ln>
        </p:spPr>
      </p:sp>
      <p:sp>
        <p:nvSpPr>
          <p:cNvPr id="19" name="Text 5"/>
          <p:cNvSpPr txBox="1"/>
          <p:nvPr/>
        </p:nvSpPr>
        <p:spPr>
          <a:xfrm>
            <a:off x="10736885" y="327812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7</a:t>
            </a:r>
            <a:endParaRPr lang="en-US" sz="1300" dirty="0"/>
          </a:p>
        </p:txBody>
      </p:sp>
      <p:sp>
        <p:nvSpPr>
          <p:cNvPr id="20" name="Text 2"/>
          <p:cNvSpPr txBox="1"/>
          <p:nvPr/>
        </p:nvSpPr>
        <p:spPr>
          <a:xfrm>
            <a:off x="859536" y="368503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1.5</a:t>
            </a:r>
            <a:endParaRPr lang="en-US" sz="1400" dirty="0"/>
          </a:p>
        </p:txBody>
      </p:sp>
      <p:sp>
        <p:nvSpPr>
          <p:cNvPr id="21" name="Text 3"/>
          <p:cNvSpPr txBox="1"/>
          <p:nvPr/>
        </p:nvSpPr>
        <p:spPr>
          <a:xfrm>
            <a:off x="1418234" y="3685032"/>
            <a:ext cx="27543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측정 공분산을 VC-NED 로 옮기기</a:t>
            </a:r>
            <a:endParaRPr lang="en-US" sz="1400" dirty="0"/>
          </a:p>
        </p:txBody>
      </p:sp>
      <p:sp>
        <p:nvSpPr>
          <p:cNvPr id="22" name="Shape 4"/>
          <p:cNvSpPr/>
          <p:nvPr/>
        </p:nvSpPr>
        <p:spPr>
          <a:xfrm>
            <a:off x="4281368" y="3941064"/>
            <a:ext cx="6325671" cy="0"/>
          </a:xfrm>
          <a:prstGeom prst="line">
            <a:avLst/>
          </a:prstGeom>
          <a:noFill/>
          <a:ln w="15875">
            <a:solidFill>
              <a:srgbClr val="AEB9CC"/>
            </a:solidFill>
            <a:prstDash val="sysDot"/>
          </a:ln>
        </p:spPr>
      </p:sp>
      <p:sp>
        <p:nvSpPr>
          <p:cNvPr id="23" name="Text 5"/>
          <p:cNvSpPr txBox="1"/>
          <p:nvPr/>
        </p:nvSpPr>
        <p:spPr>
          <a:xfrm>
            <a:off x="10736885" y="368503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8</a:t>
            </a:r>
            <a:endParaRPr lang="en-US" sz="1300" dirty="0"/>
          </a:p>
        </p:txBody>
      </p:sp>
      <p:sp>
        <p:nvSpPr>
          <p:cNvPr id="24"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트랙 개시</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1.1 트랙과 트랙 개시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트랙은 같은 표적의 플롯을 시간 순서로 이어 위치와 속도를 추정한 것입니다. 이번 과제는 트랙의 개시와 관리입니다.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1 · 2 · 3 개요</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TextBox 6"/>
          <p:cNvSpPr txBox="1"/>
          <p:nvPr/>
        </p:nvSpPr>
        <p:spPr>
          <a:xfrm>
            <a:off x="640080" y="2249424"/>
            <a:ext cx="4572000" cy="274320"/>
          </a:xfrm>
          <a:prstGeom prst="rect">
            <a:avLst/>
          </a:prstGeom>
          <a:noFill/>
        </p:spPr>
        <p:txBody>
          <a:bodyPr wrap="square" lIns="0" tIns="0" rIns="0" bIns="0" anchor="ctr">
            <a:spAutoFit/>
          </a:bodyPr>
          <a:lstStyle/>
          <a:p>
            <a:pPr algn="l"/>
            <a:r>
              <a:rPr sz="1200" b="1">
                <a:solidFill>
                  <a:srgbClr val="1B2740"/>
                </a:solidFill>
                <a:latin typeface="맑은 고딕"/>
                <a:ea typeface="맑은 고딕"/>
                <a:cs typeface="맑은 고딕"/>
              </a:rPr>
              <a:t>레이다 처리 흐름에서의 위치</a:t>
            </a:r>
          </a:p>
        </p:txBody>
      </p:sp>
      <p:sp>
        <p:nvSpPr>
          <p:cNvPr id="8" name="Rectangle 7"/>
          <p:cNvSpPr/>
          <p:nvPr/>
        </p:nvSpPr>
        <p:spPr>
          <a:xfrm>
            <a:off x="640080" y="2578608"/>
            <a:ext cx="2459736" cy="603504"/>
          </a:xfrm>
          <a:prstGeom prst="rect">
            <a:avLst/>
          </a:prstGeom>
          <a:solidFill>
            <a:srgbClr val="F7F9FC"/>
          </a:solidFill>
          <a:ln w="9525">
            <a:solidFill>
              <a:srgbClr val="D2D9E5"/>
            </a:solidFill>
          </a:ln>
        </p:spPr>
        <p:txBody>
          <a:bodyPr rtlCol="0" anchor="ctr"/>
          <a:lstStyle/>
          <a:p>
            <a:pPr algn="ctr"/>
          </a:p>
        </p:txBody>
      </p:sp>
      <p:sp>
        <p:nvSpPr>
          <p:cNvPr id="9" name="TextBox 8"/>
          <p:cNvSpPr txBox="1"/>
          <p:nvPr/>
        </p:nvSpPr>
        <p:spPr>
          <a:xfrm>
            <a:off x="640080" y="2642616"/>
            <a:ext cx="2459736" cy="274320"/>
          </a:xfrm>
          <a:prstGeom prst="rect">
            <a:avLst/>
          </a:prstGeom>
          <a:noFill/>
        </p:spPr>
        <p:txBody>
          <a:bodyPr wrap="square" lIns="0" tIns="0" rIns="0" bIns="0" anchor="ctr">
            <a:spAutoFit/>
          </a:bodyPr>
          <a:lstStyle/>
          <a:p>
            <a:pPr algn="ctr"/>
            <a:r>
              <a:rPr sz="1250" b="1">
                <a:solidFill>
                  <a:srgbClr val="1B2740"/>
                </a:solidFill>
                <a:latin typeface="맑은 고딕"/>
                <a:ea typeface="맑은 고딕"/>
                <a:cs typeface="맑은 고딕"/>
              </a:rPr>
              <a:t>표적 궤적 모의</a:t>
            </a:r>
          </a:p>
        </p:txBody>
      </p:sp>
      <p:sp>
        <p:nvSpPr>
          <p:cNvPr id="10" name="TextBox 9"/>
          <p:cNvSpPr txBox="1"/>
          <p:nvPr/>
        </p:nvSpPr>
        <p:spPr>
          <a:xfrm>
            <a:off x="640080" y="2907792"/>
            <a:ext cx="2459736" cy="219456"/>
          </a:xfrm>
          <a:prstGeom prst="rect">
            <a:avLst/>
          </a:prstGeom>
          <a:noFill/>
        </p:spPr>
        <p:txBody>
          <a:bodyPr wrap="square" lIns="0" tIns="0" rIns="0" bIns="0" anchor="ctr">
            <a:spAutoFit/>
          </a:bodyPr>
          <a:lstStyle/>
          <a:p>
            <a:pPr algn="ctr"/>
            <a:r>
              <a:rPr sz="1050" b="0">
                <a:solidFill>
                  <a:srgbClr val="8794AC"/>
                </a:solidFill>
                <a:latin typeface="맑은 고딕"/>
                <a:ea typeface="맑은 고딕"/>
                <a:cs typeface="맑은 고딕"/>
              </a:rPr>
              <a:t>과제 3 · 시각별 참값 위치</a:t>
            </a:r>
          </a:p>
        </p:txBody>
      </p:sp>
      <p:cxnSp>
        <p:nvCxnSpPr>
          <p:cNvPr id="11" name="Connector 10"/>
          <p:cNvCxnSpPr/>
          <p:nvPr/>
        </p:nvCxnSpPr>
        <p:spPr>
          <a:xfrm>
            <a:off x="3127248" y="2880360"/>
            <a:ext cx="301752" cy="0"/>
          </a:xfrm>
          <a:prstGeom prst="line">
            <a:avLst/>
          </a:prstGeom>
          <a:ln w="12700">
            <a:solidFill>
              <a:srgbClr val="8794AC"/>
            </a:solidFill>
            <a:tailEnd type="triangle" w="med" len="med"/>
          </a:ln>
        </p:spPr>
      </p:cxnSp>
      <p:sp>
        <p:nvSpPr>
          <p:cNvPr id="12" name="Rectangle 11"/>
          <p:cNvSpPr/>
          <p:nvPr/>
        </p:nvSpPr>
        <p:spPr>
          <a:xfrm>
            <a:off x="3456432" y="2578608"/>
            <a:ext cx="2459736" cy="603504"/>
          </a:xfrm>
          <a:prstGeom prst="rect">
            <a:avLst/>
          </a:prstGeom>
          <a:solidFill>
            <a:srgbClr val="F7F9FC"/>
          </a:solidFill>
          <a:ln w="9525">
            <a:solidFill>
              <a:srgbClr val="D2D9E5"/>
            </a:solidFill>
          </a:ln>
        </p:spPr>
        <p:txBody>
          <a:bodyPr rtlCol="0" anchor="ctr"/>
          <a:lstStyle/>
          <a:p>
            <a:pPr algn="ctr"/>
          </a:p>
        </p:txBody>
      </p:sp>
      <p:sp>
        <p:nvSpPr>
          <p:cNvPr id="13" name="TextBox 12"/>
          <p:cNvSpPr txBox="1"/>
          <p:nvPr/>
        </p:nvSpPr>
        <p:spPr>
          <a:xfrm>
            <a:off x="3456432" y="2642616"/>
            <a:ext cx="2459736" cy="274320"/>
          </a:xfrm>
          <a:prstGeom prst="rect">
            <a:avLst/>
          </a:prstGeom>
          <a:noFill/>
        </p:spPr>
        <p:txBody>
          <a:bodyPr wrap="square" lIns="0" tIns="0" rIns="0" bIns="0" anchor="ctr">
            <a:spAutoFit/>
          </a:bodyPr>
          <a:lstStyle/>
          <a:p>
            <a:pPr algn="ctr"/>
            <a:r>
              <a:rPr sz="1250" b="1">
                <a:solidFill>
                  <a:srgbClr val="1B2740"/>
                </a:solidFill>
                <a:latin typeface="맑은 고딕"/>
                <a:ea typeface="맑은 고딕"/>
                <a:cs typeface="맑은 고딕"/>
              </a:rPr>
              <a:t>측정 모의</a:t>
            </a:r>
          </a:p>
        </p:txBody>
      </p:sp>
      <p:sp>
        <p:nvSpPr>
          <p:cNvPr id="14" name="TextBox 13"/>
          <p:cNvSpPr txBox="1"/>
          <p:nvPr/>
        </p:nvSpPr>
        <p:spPr>
          <a:xfrm>
            <a:off x="3456432" y="2907792"/>
            <a:ext cx="2459736" cy="219456"/>
          </a:xfrm>
          <a:prstGeom prst="rect">
            <a:avLst/>
          </a:prstGeom>
          <a:noFill/>
        </p:spPr>
        <p:txBody>
          <a:bodyPr wrap="square" lIns="0" tIns="0" rIns="0" bIns="0" anchor="ctr">
            <a:spAutoFit/>
          </a:bodyPr>
          <a:lstStyle/>
          <a:p>
            <a:pPr algn="ctr"/>
            <a:r>
              <a:rPr sz="1050" b="0">
                <a:solidFill>
                  <a:srgbClr val="8794AC"/>
                </a:solidFill>
                <a:latin typeface="맑은 고딕"/>
                <a:ea typeface="맑은 고딕"/>
                <a:cs typeface="맑은 고딕"/>
              </a:rPr>
              <a:t>과제 4 · 플롯 · 클러터 생성</a:t>
            </a:r>
          </a:p>
        </p:txBody>
      </p:sp>
      <p:cxnSp>
        <p:nvCxnSpPr>
          <p:cNvPr id="15" name="Connector 14"/>
          <p:cNvCxnSpPr/>
          <p:nvPr/>
        </p:nvCxnSpPr>
        <p:spPr>
          <a:xfrm>
            <a:off x="5943600" y="2880360"/>
            <a:ext cx="301752" cy="0"/>
          </a:xfrm>
          <a:prstGeom prst="line">
            <a:avLst/>
          </a:prstGeom>
          <a:ln w="12700">
            <a:solidFill>
              <a:srgbClr val="8794AC"/>
            </a:solidFill>
            <a:tailEnd type="triangle" w="med" len="med"/>
          </a:ln>
        </p:spPr>
      </p:cxnSp>
      <p:sp>
        <p:nvSpPr>
          <p:cNvPr id="16" name="Rectangle 15"/>
          <p:cNvSpPr/>
          <p:nvPr/>
        </p:nvSpPr>
        <p:spPr>
          <a:xfrm>
            <a:off x="6272784" y="2578608"/>
            <a:ext cx="2459736" cy="603504"/>
          </a:xfrm>
          <a:prstGeom prst="rect">
            <a:avLst/>
          </a:prstGeom>
          <a:solidFill>
            <a:srgbClr val="EEF4FF"/>
          </a:solidFill>
          <a:ln w="15875">
            <a:solidFill>
              <a:srgbClr val="2563EB"/>
            </a:solidFill>
          </a:ln>
        </p:spPr>
        <p:txBody>
          <a:bodyPr rtlCol="0" anchor="ctr"/>
          <a:lstStyle/>
          <a:p>
            <a:pPr algn="ctr"/>
          </a:p>
        </p:txBody>
      </p:sp>
      <p:sp>
        <p:nvSpPr>
          <p:cNvPr id="17" name="TextBox 16"/>
          <p:cNvSpPr txBox="1"/>
          <p:nvPr/>
        </p:nvSpPr>
        <p:spPr>
          <a:xfrm>
            <a:off x="6272784" y="2642616"/>
            <a:ext cx="2459736" cy="274320"/>
          </a:xfrm>
          <a:prstGeom prst="rect">
            <a:avLst/>
          </a:prstGeom>
          <a:noFill/>
        </p:spPr>
        <p:txBody>
          <a:bodyPr wrap="square" lIns="0" tIns="0" rIns="0" bIns="0" anchor="ctr">
            <a:spAutoFit/>
          </a:bodyPr>
          <a:lstStyle/>
          <a:p>
            <a:pPr algn="ctr"/>
            <a:r>
              <a:rPr sz="1250" b="1">
                <a:solidFill>
                  <a:srgbClr val="1B2740"/>
                </a:solidFill>
                <a:latin typeface="맑은 고딕"/>
                <a:ea typeface="맑은 고딕"/>
                <a:cs typeface="맑은 고딕"/>
              </a:rPr>
              <a:t>트랙 개시 · 관리</a:t>
            </a:r>
          </a:p>
        </p:txBody>
      </p:sp>
      <p:sp>
        <p:nvSpPr>
          <p:cNvPr id="18" name="TextBox 17"/>
          <p:cNvSpPr txBox="1"/>
          <p:nvPr/>
        </p:nvSpPr>
        <p:spPr>
          <a:xfrm>
            <a:off x="6272784" y="2907792"/>
            <a:ext cx="2459736" cy="219456"/>
          </a:xfrm>
          <a:prstGeom prst="rect">
            <a:avLst/>
          </a:prstGeom>
          <a:noFill/>
        </p:spPr>
        <p:txBody>
          <a:bodyPr wrap="square" lIns="0" tIns="0" rIns="0" bIns="0" anchor="ctr">
            <a:spAutoFit/>
          </a:bodyPr>
          <a:lstStyle/>
          <a:p>
            <a:pPr algn="ctr"/>
            <a:r>
              <a:rPr sz="1050" b="0">
                <a:solidFill>
                  <a:srgbClr val="4A5A7A"/>
                </a:solidFill>
                <a:latin typeface="맑은 고딕"/>
                <a:ea typeface="맑은 고딕"/>
                <a:cs typeface="맑은 고딕"/>
              </a:rPr>
              <a:t>과제 5 · 이번 과제</a:t>
            </a:r>
          </a:p>
        </p:txBody>
      </p:sp>
      <p:cxnSp>
        <p:nvCxnSpPr>
          <p:cNvPr id="19" name="Connector 18"/>
          <p:cNvCxnSpPr/>
          <p:nvPr/>
        </p:nvCxnSpPr>
        <p:spPr>
          <a:xfrm>
            <a:off x="8759952" y="2880360"/>
            <a:ext cx="301752" cy="0"/>
          </a:xfrm>
          <a:prstGeom prst="line">
            <a:avLst/>
          </a:prstGeom>
          <a:ln w="12700">
            <a:solidFill>
              <a:srgbClr val="8794AC"/>
            </a:solidFill>
            <a:tailEnd type="triangle" w="med" len="med"/>
          </a:ln>
        </p:spPr>
      </p:cxnSp>
      <p:sp>
        <p:nvSpPr>
          <p:cNvPr id="20" name="Rectangle 19"/>
          <p:cNvSpPr/>
          <p:nvPr/>
        </p:nvSpPr>
        <p:spPr>
          <a:xfrm>
            <a:off x="9089136" y="2578608"/>
            <a:ext cx="2459736" cy="603504"/>
          </a:xfrm>
          <a:prstGeom prst="rect">
            <a:avLst/>
          </a:prstGeom>
          <a:solidFill>
            <a:srgbClr val="F7F9FC"/>
          </a:solidFill>
          <a:ln w="9525">
            <a:solidFill>
              <a:srgbClr val="D2D9E5"/>
            </a:solidFill>
          </a:ln>
        </p:spPr>
        <p:txBody>
          <a:bodyPr rtlCol="0" anchor="ctr"/>
          <a:lstStyle/>
          <a:p>
            <a:pPr algn="ctr"/>
          </a:p>
        </p:txBody>
      </p:sp>
      <p:sp>
        <p:nvSpPr>
          <p:cNvPr id="21" name="TextBox 20"/>
          <p:cNvSpPr txBox="1"/>
          <p:nvPr/>
        </p:nvSpPr>
        <p:spPr>
          <a:xfrm>
            <a:off x="9089136" y="2642616"/>
            <a:ext cx="2459736" cy="274320"/>
          </a:xfrm>
          <a:prstGeom prst="rect">
            <a:avLst/>
          </a:prstGeom>
          <a:noFill/>
        </p:spPr>
        <p:txBody>
          <a:bodyPr wrap="square" lIns="0" tIns="0" rIns="0" bIns="0" anchor="ctr">
            <a:spAutoFit/>
          </a:bodyPr>
          <a:lstStyle/>
          <a:p>
            <a:pPr algn="ctr"/>
            <a:r>
              <a:rPr sz="1250" b="1">
                <a:solidFill>
                  <a:srgbClr val="7A879F"/>
                </a:solidFill>
                <a:latin typeface="맑은 고딕"/>
                <a:ea typeface="맑은 고딕"/>
                <a:cs typeface="맑은 고딕"/>
              </a:rPr>
              <a:t>연관 · 추적 필터</a:t>
            </a:r>
          </a:p>
        </p:txBody>
      </p:sp>
      <p:sp>
        <p:nvSpPr>
          <p:cNvPr id="22" name="TextBox 21"/>
          <p:cNvSpPr txBox="1"/>
          <p:nvPr/>
        </p:nvSpPr>
        <p:spPr>
          <a:xfrm>
            <a:off x="9089136" y="2907792"/>
            <a:ext cx="2459736" cy="219456"/>
          </a:xfrm>
          <a:prstGeom prst="rect">
            <a:avLst/>
          </a:prstGeom>
          <a:noFill/>
        </p:spPr>
        <p:txBody>
          <a:bodyPr wrap="square" lIns="0" tIns="0" rIns="0" bIns="0" anchor="ctr">
            <a:spAutoFit/>
          </a:bodyPr>
          <a:lstStyle/>
          <a:p>
            <a:pPr algn="ctr"/>
            <a:r>
              <a:rPr sz="1050" b="0">
                <a:solidFill>
                  <a:srgbClr val="8794AC"/>
                </a:solidFill>
                <a:latin typeface="맑은 고딕"/>
                <a:ea typeface="맑은 고딕"/>
                <a:cs typeface="맑은 고딕"/>
              </a:rPr>
              <a:t>다음 과제 · 플롯을 트랙에 붙여 추정</a:t>
            </a:r>
          </a:p>
        </p:txBody>
      </p:sp>
      <p:cxnSp>
        <p:nvCxnSpPr>
          <p:cNvPr id="23" name="Connector 22"/>
          <p:cNvCxnSpPr/>
          <p:nvPr/>
        </p:nvCxnSpPr>
        <p:spPr>
          <a:xfrm>
            <a:off x="640080" y="3383280"/>
            <a:ext cx="10908792" cy="0"/>
          </a:xfrm>
          <a:prstGeom prst="line">
            <a:avLst/>
          </a:prstGeom>
          <a:ln w="9525">
            <a:solidFill>
              <a:srgbClr val="D2D9E5"/>
            </a:solidFill>
          </a:ln>
        </p:spPr>
      </p:cxnSp>
      <p:sp>
        <p:nvSpPr>
          <p:cNvPr id="24" name="TextBox 23"/>
          <p:cNvSpPr txBox="1"/>
          <p:nvPr/>
        </p:nvSpPr>
        <p:spPr>
          <a:xfrm>
            <a:off x="640080" y="3474720"/>
            <a:ext cx="6309360" cy="256032"/>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스캔마다 들어오는 플롯과 트랙</a:t>
            </a:r>
          </a:p>
        </p:txBody>
      </p:sp>
      <p:pic>
        <p:nvPicPr>
          <p:cNvPr id="25" name="Picture 24" descr="fig_track_concept.png"/>
          <p:cNvPicPr>
            <a:picLocks noChangeAspect="1"/>
          </p:cNvPicPr>
          <p:nvPr/>
        </p:nvPicPr>
        <p:blipFill>
          <a:blip r:embed="rId3"/>
          <a:stretch>
            <a:fillRect/>
          </a:stretch>
        </p:blipFill>
        <p:spPr>
          <a:xfrm>
            <a:off x="640080" y="3767328"/>
            <a:ext cx="6309360" cy="2331720"/>
          </a:xfrm>
          <a:prstGeom prst="rect">
            <a:avLst/>
          </a:prstGeom>
        </p:spPr>
      </p:pic>
      <p:sp>
        <p:nvSpPr>
          <p:cNvPr id="26" name="Rounded Rectangle 25"/>
          <p:cNvSpPr/>
          <p:nvPr/>
        </p:nvSpPr>
        <p:spPr>
          <a:xfrm>
            <a:off x="7269480" y="3767328"/>
            <a:ext cx="841248" cy="274320"/>
          </a:xfrm>
          <a:prstGeom prst="roundRect">
            <a:avLst>
              <a:gd name="adj" fmla="val 26666"/>
            </a:avLst>
          </a:prstGeom>
          <a:solidFill>
            <a:srgbClr val="FFFFFF"/>
          </a:solidFill>
          <a:ln w="12700">
            <a:solidFill>
              <a:srgbClr val="1F2937"/>
            </a:solidFill>
          </a:ln>
        </p:spPr>
        <p:txBody>
          <a:bodyPr rtlCol="0" anchor="ctr" lIns="0" tIns="0" rIns="0" bIns="0" wrap="square"/>
          <a:lstStyle/>
          <a:p>
            <a:pPr algn="ctr"/>
            <a:r>
              <a:rPr sz="1050" b="1">
                <a:solidFill>
                  <a:srgbClr val="1F2937"/>
                </a:solidFill>
                <a:latin typeface="맑은 고딕"/>
                <a:ea typeface="맑은 고딕"/>
                <a:cs typeface="맑은 고딕"/>
              </a:rPr>
              <a:t>플롯</a:t>
            </a:r>
          </a:p>
        </p:txBody>
      </p:sp>
      <p:sp>
        <p:nvSpPr>
          <p:cNvPr id="27" name="TextBox 26"/>
          <p:cNvSpPr txBox="1"/>
          <p:nvPr/>
        </p:nvSpPr>
        <p:spPr>
          <a:xfrm>
            <a:off x="8247888" y="3803904"/>
            <a:ext cx="3291840" cy="274320"/>
          </a:xfrm>
          <a:prstGeom prst="rect">
            <a:avLst/>
          </a:prstGeom>
          <a:noFill/>
        </p:spPr>
        <p:txBody>
          <a:bodyPr wrap="square" lIns="0" tIns="0" rIns="0" bIns="0" anchor="t">
            <a:spAutoFit/>
          </a:bodyPr>
          <a:lstStyle/>
          <a:p>
            <a:pPr algn="l"/>
            <a:r>
              <a:rPr sz="1100" b="0">
                <a:solidFill>
                  <a:srgbClr val="1B2740"/>
                </a:solidFill>
                <a:latin typeface="맑은 고딕"/>
                <a:ea typeface="맑은 고딕"/>
                <a:cs typeface="맑은 고딕"/>
              </a:rPr>
              <a:t>레이다가 표적을 한 번 잰 결과. 거리 · 방위각 · 고각</a:t>
            </a:r>
          </a:p>
        </p:txBody>
      </p:sp>
      <p:sp>
        <p:nvSpPr>
          <p:cNvPr id="28" name="Rounded Rectangle 27"/>
          <p:cNvSpPr/>
          <p:nvPr/>
        </p:nvSpPr>
        <p:spPr>
          <a:xfrm>
            <a:off x="7269480" y="4242816"/>
            <a:ext cx="841248" cy="274320"/>
          </a:xfrm>
          <a:prstGeom prst="roundRect">
            <a:avLst>
              <a:gd name="adj" fmla="val 26666"/>
            </a:avLst>
          </a:prstGeom>
          <a:solidFill>
            <a:srgbClr val="FFFFFF"/>
          </a:solidFill>
          <a:ln w="12700">
            <a:solidFill>
              <a:srgbClr val="6B7280"/>
            </a:solidFill>
          </a:ln>
        </p:spPr>
        <p:txBody>
          <a:bodyPr rtlCol="0" anchor="ctr" lIns="0" tIns="0" rIns="0" bIns="0" wrap="square"/>
          <a:lstStyle/>
          <a:p>
            <a:pPr algn="ctr"/>
            <a:r>
              <a:rPr sz="1050" b="1">
                <a:solidFill>
                  <a:srgbClr val="6B7280"/>
                </a:solidFill>
                <a:latin typeface="맑은 고딕"/>
                <a:ea typeface="맑은 고딕"/>
                <a:cs typeface="맑은 고딕"/>
              </a:rPr>
              <a:t>클러터</a:t>
            </a:r>
          </a:p>
        </p:txBody>
      </p:sp>
      <p:sp>
        <p:nvSpPr>
          <p:cNvPr id="29" name="TextBox 28"/>
          <p:cNvSpPr txBox="1"/>
          <p:nvPr/>
        </p:nvSpPr>
        <p:spPr>
          <a:xfrm>
            <a:off x="8247888" y="4279392"/>
            <a:ext cx="3291840" cy="274320"/>
          </a:xfrm>
          <a:prstGeom prst="rect">
            <a:avLst/>
          </a:prstGeom>
          <a:noFill/>
        </p:spPr>
        <p:txBody>
          <a:bodyPr wrap="square" lIns="0" tIns="0" rIns="0" bIns="0" anchor="t">
            <a:spAutoFit/>
          </a:bodyPr>
          <a:lstStyle/>
          <a:p>
            <a:pPr algn="l"/>
            <a:r>
              <a:rPr sz="1100" b="0">
                <a:solidFill>
                  <a:srgbClr val="1B2740"/>
                </a:solidFill>
                <a:latin typeface="맑은 고딕"/>
                <a:ea typeface="맑은 고딕"/>
                <a:cs typeface="맑은 고딕"/>
              </a:rPr>
              <a:t>표적이 아닌 것에서 나온 플롯. 같이 섞여 들어온다</a:t>
            </a:r>
          </a:p>
        </p:txBody>
      </p:sp>
      <p:sp>
        <p:nvSpPr>
          <p:cNvPr id="30" name="Rounded Rectangle 29"/>
          <p:cNvSpPr/>
          <p:nvPr/>
        </p:nvSpPr>
        <p:spPr>
          <a:xfrm>
            <a:off x="7269480" y="4718304"/>
            <a:ext cx="841248" cy="274320"/>
          </a:xfrm>
          <a:prstGeom prst="roundRect">
            <a:avLst>
              <a:gd name="adj" fmla="val 26666"/>
            </a:avLst>
          </a:prstGeom>
          <a:solidFill>
            <a:srgbClr val="FFFFFF"/>
          </a:solidFill>
          <a:ln w="12700">
            <a:solidFill>
              <a:srgbClr val="2563EB"/>
            </a:solidFill>
          </a:ln>
        </p:spPr>
        <p:txBody>
          <a:bodyPr rtlCol="0" anchor="ctr" lIns="0" tIns="0" rIns="0" bIns="0" wrap="square"/>
          <a:lstStyle/>
          <a:p>
            <a:pPr algn="ctr"/>
            <a:r>
              <a:rPr sz="1050" b="1">
                <a:solidFill>
                  <a:srgbClr val="2563EB"/>
                </a:solidFill>
                <a:latin typeface="맑은 고딕"/>
                <a:ea typeface="맑은 고딕"/>
                <a:cs typeface="맑은 고딕"/>
              </a:rPr>
              <a:t>트랙 개시</a:t>
            </a:r>
          </a:p>
        </p:txBody>
      </p:sp>
      <p:sp>
        <p:nvSpPr>
          <p:cNvPr id="31" name="TextBox 30"/>
          <p:cNvSpPr txBox="1"/>
          <p:nvPr/>
        </p:nvSpPr>
        <p:spPr>
          <a:xfrm>
            <a:off x="8247888" y="4754880"/>
            <a:ext cx="3291840" cy="274320"/>
          </a:xfrm>
          <a:prstGeom prst="rect">
            <a:avLst/>
          </a:prstGeom>
          <a:noFill/>
        </p:spPr>
        <p:txBody>
          <a:bodyPr wrap="square" lIns="0" tIns="0" rIns="0" bIns="0" anchor="t">
            <a:spAutoFit/>
          </a:bodyPr>
          <a:lstStyle/>
          <a:p>
            <a:pPr algn="l"/>
            <a:r>
              <a:rPr sz="1100" b="0">
                <a:solidFill>
                  <a:srgbClr val="1B2740"/>
                </a:solidFill>
                <a:latin typeface="맑은 고딕"/>
                <a:ea typeface="맑은 고딕"/>
                <a:cs typeface="맑은 고딕"/>
              </a:rPr>
              <a:t>같은 표적으로 보이는 플롯으로 트랙을 처음 만듦</a:t>
            </a:r>
          </a:p>
        </p:txBody>
      </p:sp>
      <p:sp>
        <p:nvSpPr>
          <p:cNvPr id="32" name="Rounded Rectangle 31"/>
          <p:cNvSpPr/>
          <p:nvPr/>
        </p:nvSpPr>
        <p:spPr>
          <a:xfrm>
            <a:off x="7269480" y="5193792"/>
            <a:ext cx="841248" cy="274320"/>
          </a:xfrm>
          <a:prstGeom prst="roundRect">
            <a:avLst>
              <a:gd name="adj" fmla="val 26666"/>
            </a:avLst>
          </a:prstGeom>
          <a:solidFill>
            <a:srgbClr val="FFFFFF"/>
          </a:solidFill>
          <a:ln w="12700">
            <a:solidFill>
              <a:srgbClr val="7C3AED"/>
            </a:solidFill>
          </a:ln>
        </p:spPr>
        <p:txBody>
          <a:bodyPr rtlCol="0" anchor="ctr" lIns="0" tIns="0" rIns="0" bIns="0" wrap="square"/>
          <a:lstStyle/>
          <a:p>
            <a:pPr algn="ctr"/>
            <a:r>
              <a:rPr sz="1050" b="1">
                <a:solidFill>
                  <a:srgbClr val="7C3AED"/>
                </a:solidFill>
                <a:latin typeface="맑은 고딕"/>
                <a:ea typeface="맑은 고딕"/>
                <a:cs typeface="맑은 고딕"/>
              </a:rPr>
              <a:t>연관</a:t>
            </a:r>
          </a:p>
        </p:txBody>
      </p:sp>
      <p:sp>
        <p:nvSpPr>
          <p:cNvPr id="33" name="TextBox 32"/>
          <p:cNvSpPr txBox="1"/>
          <p:nvPr/>
        </p:nvSpPr>
        <p:spPr>
          <a:xfrm>
            <a:off x="8247888" y="5230368"/>
            <a:ext cx="3291840" cy="274320"/>
          </a:xfrm>
          <a:prstGeom prst="rect">
            <a:avLst/>
          </a:prstGeom>
          <a:noFill/>
        </p:spPr>
        <p:txBody>
          <a:bodyPr wrap="square" lIns="0" tIns="0" rIns="0" bIns="0" anchor="t">
            <a:spAutoFit/>
          </a:bodyPr>
          <a:lstStyle/>
          <a:p>
            <a:pPr algn="l"/>
            <a:r>
              <a:rPr sz="1100" b="0">
                <a:solidFill>
                  <a:srgbClr val="1B2740"/>
                </a:solidFill>
                <a:latin typeface="맑은 고딕"/>
                <a:ea typeface="맑은 고딕"/>
                <a:cs typeface="맑은 고딕"/>
              </a:rPr>
              <a:t>이번 스캔 플롯을 기존 트랙에 이어 붙이는 것 (2.1)</a:t>
            </a:r>
          </a:p>
        </p:txBody>
      </p:sp>
      <p:sp>
        <p:nvSpPr>
          <p:cNvPr id="34" name="Rounded Rectangle 33"/>
          <p:cNvSpPr/>
          <p:nvPr/>
        </p:nvSpPr>
        <p:spPr>
          <a:xfrm>
            <a:off x="7269480" y="5669280"/>
            <a:ext cx="841248" cy="274320"/>
          </a:xfrm>
          <a:prstGeom prst="roundRect">
            <a:avLst>
              <a:gd name="adj" fmla="val 26666"/>
            </a:avLst>
          </a:prstGeom>
          <a:solidFill>
            <a:srgbClr val="FFFFFF"/>
          </a:solidFill>
          <a:ln w="12700">
            <a:solidFill>
              <a:srgbClr val="16A34A"/>
            </a:solidFill>
          </a:ln>
        </p:spPr>
        <p:txBody>
          <a:bodyPr rtlCol="0" anchor="ctr" lIns="0" tIns="0" rIns="0" bIns="0" wrap="square"/>
          <a:lstStyle/>
          <a:p>
            <a:pPr algn="ctr"/>
            <a:r>
              <a:rPr sz="1050" b="1">
                <a:solidFill>
                  <a:srgbClr val="16A34A"/>
                </a:solidFill>
                <a:latin typeface="맑은 고딕"/>
                <a:ea typeface="맑은 고딕"/>
                <a:cs typeface="맑은 고딕"/>
              </a:rPr>
              <a:t>트랙 관리</a:t>
            </a:r>
          </a:p>
        </p:txBody>
      </p:sp>
      <p:sp>
        <p:nvSpPr>
          <p:cNvPr id="35" name="TextBox 34"/>
          <p:cNvSpPr txBox="1"/>
          <p:nvPr/>
        </p:nvSpPr>
        <p:spPr>
          <a:xfrm>
            <a:off x="8247888" y="5705856"/>
            <a:ext cx="3291840" cy="274320"/>
          </a:xfrm>
          <a:prstGeom prst="rect">
            <a:avLst/>
          </a:prstGeom>
          <a:noFill/>
        </p:spPr>
        <p:txBody>
          <a:bodyPr wrap="square" lIns="0" tIns="0" rIns="0" bIns="0" anchor="t">
            <a:spAutoFit/>
          </a:bodyPr>
          <a:lstStyle/>
          <a:p>
            <a:pPr algn="l"/>
            <a:r>
              <a:rPr sz="1100" b="0">
                <a:solidFill>
                  <a:srgbClr val="1B2740"/>
                </a:solidFill>
                <a:latin typeface="맑은 고딕"/>
                <a:ea typeface="맑은 고딕"/>
                <a:cs typeface="맑은 고딕"/>
              </a:rPr>
              <a:t>연관 결과로 확정 · 메모리 · 삭제를 정함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트랙 개시</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1.2 1-Point 와 2-Point 개시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플롯 하나로 바로 시작하면 속도를 모르고, 연속 두 스캔 (또는 드웰) 의 플롯으로 시작하면 위치 변화로 속도를 구할 수 있습니다.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1.1 · 1.2 · 3-1</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1p2p.png"/>
          <p:cNvPicPr>
            <a:picLocks noChangeAspect="1"/>
          </p:cNvPicPr>
          <p:nvPr/>
        </p:nvPicPr>
        <p:blipFill>
          <a:blip r:embed="rId3"/>
          <a:stretch>
            <a:fillRect/>
          </a:stretch>
        </p:blipFill>
        <p:spPr>
          <a:xfrm>
            <a:off x="640080" y="2331720"/>
            <a:ext cx="6675120" cy="2514600"/>
          </a:xfrm>
          <a:prstGeom prst="rect">
            <a:avLst/>
          </a:prstGeom>
        </p:spPr>
      </p:pic>
      <p:sp>
        <p:nvSpPr>
          <p:cNvPr id="8" name="Oval 7"/>
          <p:cNvSpPr/>
          <p:nvPr/>
        </p:nvSpPr>
        <p:spPr>
          <a:xfrm>
            <a:off x="7589520" y="237744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9" name="TextBox 8"/>
          <p:cNvSpPr txBox="1"/>
          <p:nvPr/>
        </p:nvSpPr>
        <p:spPr>
          <a:xfrm>
            <a:off x="7973568" y="2359152"/>
            <a:ext cx="357530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1-Point 개시</a:t>
            </a:r>
          </a:p>
          <a:p>
            <a:pPr algn="l">
              <a:lnSpc>
                <a:spcPct val="105000"/>
              </a:lnSpc>
            </a:pPr>
            <a:r>
              <a:rPr sz="1100" b="0">
                <a:solidFill>
                  <a:srgbClr val="4A5A7A"/>
                </a:solidFill>
                <a:latin typeface="맑은 고딕"/>
                <a:ea typeface="맑은 고딕"/>
                <a:cs typeface="맑은 고딕"/>
              </a:rPr>
              <a:t>장점: 플롯 하나로 바로 개시 (빠름)</a:t>
            </a:r>
          </a:p>
          <a:p>
            <a:pPr algn="l">
              <a:lnSpc>
                <a:spcPct val="105000"/>
              </a:lnSpc>
            </a:pPr>
            <a:r>
              <a:rPr sz="1100" b="0">
                <a:solidFill>
                  <a:srgbClr val="4A5A7A"/>
                </a:solidFill>
                <a:latin typeface="맑은 고딕"/>
                <a:ea typeface="맑은 고딕"/>
                <a:cs typeface="맑은 고딕"/>
              </a:rPr>
              <a:t>단점: 속도를 몰라 초기 속도 오차가 크다</a:t>
            </a:r>
          </a:p>
        </p:txBody>
      </p:sp>
      <p:sp>
        <p:nvSpPr>
          <p:cNvPr id="10" name="Oval 9"/>
          <p:cNvSpPr/>
          <p:nvPr/>
        </p:nvSpPr>
        <p:spPr>
          <a:xfrm>
            <a:off x="7589520" y="338328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1" name="TextBox 10"/>
          <p:cNvSpPr txBox="1"/>
          <p:nvPr/>
        </p:nvSpPr>
        <p:spPr>
          <a:xfrm>
            <a:off x="7973568" y="3364992"/>
            <a:ext cx="3575304" cy="877824"/>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2-Point 개시  (이번 과제)</a:t>
            </a:r>
          </a:p>
          <a:p>
            <a:pPr algn="l">
              <a:lnSpc>
                <a:spcPct val="105000"/>
              </a:lnSpc>
            </a:pPr>
            <a:r>
              <a:rPr sz="1100" b="0">
                <a:solidFill>
                  <a:srgbClr val="4A5A7A"/>
                </a:solidFill>
                <a:latin typeface="맑은 고딕"/>
                <a:ea typeface="맑은 고딕"/>
                <a:cs typeface="맑은 고딕"/>
              </a:rPr>
              <a:t>장점: 두 플롯의 위치 변화로 속도를 구해</a:t>
            </a:r>
          </a:p>
          <a:p>
            <a:pPr algn="l">
              <a:lnSpc>
                <a:spcPct val="105000"/>
              </a:lnSpc>
            </a:pPr>
            <a:r>
              <a:rPr sz="1100" b="0">
                <a:solidFill>
                  <a:srgbClr val="4A5A7A"/>
                </a:solidFill>
                <a:latin typeface="맑은 고딕"/>
                <a:ea typeface="맑은 고딕"/>
                <a:cs typeface="맑은 고딕"/>
              </a:rPr>
              <a:t>1-Point 보다 속도 오차가 작다</a:t>
            </a:r>
          </a:p>
          <a:p>
            <a:pPr algn="l">
              <a:lnSpc>
                <a:spcPct val="105000"/>
              </a:lnSpc>
            </a:pPr>
            <a:r>
              <a:rPr sz="1100" b="0">
                <a:solidFill>
                  <a:srgbClr val="4A5A7A"/>
                </a:solidFill>
                <a:latin typeface="맑은 고딕"/>
                <a:ea typeface="맑은 고딕"/>
                <a:cs typeface="맑은 고딕"/>
              </a:rPr>
              <a:t>단점: 연속 두 스캔 (또는 드웰) 이 필요해 늦다</a:t>
            </a:r>
          </a:p>
        </p:txBody>
      </p:sp>
      <p:sp>
        <p:nvSpPr>
          <p:cNvPr id="12" name="Oval 11"/>
          <p:cNvSpPr/>
          <p:nvPr/>
        </p:nvSpPr>
        <p:spPr>
          <a:xfrm>
            <a:off x="7589520" y="461772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3" name="TextBox 12"/>
          <p:cNvSpPr txBox="1"/>
          <p:nvPr/>
        </p:nvSpPr>
        <p:spPr>
          <a:xfrm>
            <a:off x="7973568" y="4599432"/>
            <a:ext cx="3575304" cy="438912"/>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속도 게이트</a:t>
            </a:r>
          </a:p>
          <a:p>
            <a:pPr algn="l">
              <a:lnSpc>
                <a:spcPct val="105000"/>
              </a:lnSpc>
            </a:pPr>
            <a:r>
              <a:rPr sz="1100" b="0">
                <a:solidFill>
                  <a:srgbClr val="4A5A7A"/>
                </a:solidFill>
                <a:latin typeface="맑은 고딕"/>
                <a:ea typeface="맑은 고딕"/>
                <a:cs typeface="맑은 고딕"/>
              </a:rPr>
              <a:t>두 플롯이 같은 표적인지 먼저 거른다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트랙 개시</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1.3 2-Point 초기 상태변수와 오차 공분산</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상태변수는 두 플롯으로 바로 계산하고, 오차 공분산 P 에는 그 값이 얼마나 틀릴 수 있는지를 적습니다.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1.2 · 3-1</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Oval 6"/>
          <p:cNvSpPr/>
          <p:nvPr/>
        </p:nvSpPr>
        <p:spPr>
          <a:xfrm>
            <a:off x="640080" y="2258568"/>
            <a:ext cx="237744" cy="237744"/>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8" name="TextBox 7"/>
          <p:cNvSpPr txBox="1"/>
          <p:nvPr/>
        </p:nvSpPr>
        <p:spPr>
          <a:xfrm>
            <a:off x="950976" y="2231136"/>
            <a:ext cx="5303520" cy="292608"/>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상태변수 X</a:t>
            </a:r>
            <a:r>
              <a:rPr sz="950" b="0">
                <a:solidFill>
                  <a:srgbClr val="4A5A7A"/>
                </a:solidFill>
                <a:latin typeface="맑은 고딕"/>
                <a:ea typeface="맑은 고딕"/>
                <a:cs typeface="맑은 고딕"/>
              </a:rPr>
              <a:t>   두 플롯으로 바로 계산 (세 축 x 위치 · 속도 · 가속도 = 9 개)</a:t>
            </a:r>
          </a:p>
        </p:txBody>
      </p:sp>
      <p:sp>
        <p:nvSpPr>
          <p:cNvPr id="9" name="TextBox 8"/>
          <p:cNvSpPr txBox="1"/>
          <p:nvPr/>
        </p:nvSpPr>
        <p:spPr>
          <a:xfrm>
            <a:off x="640080" y="2560320"/>
            <a:ext cx="5623560" cy="219456"/>
          </a:xfrm>
          <a:prstGeom prst="rect">
            <a:avLst/>
          </a:prstGeom>
          <a:noFill/>
        </p:spPr>
        <p:txBody>
          <a:bodyPr wrap="square" lIns="0" tIns="0" rIns="0" bIns="0" anchor="ctr">
            <a:spAutoFit/>
          </a:bodyPr>
          <a:lstStyle/>
          <a:p>
            <a:pPr algn="l"/>
            <a:r>
              <a:rPr sz="950" b="0">
                <a:solidFill>
                  <a:srgbClr val="4A5A7A"/>
                </a:solidFill>
                <a:latin typeface="맑은 고딕"/>
                <a:ea typeface="맑은 고딕"/>
                <a:cs typeface="맑은 고딕"/>
              </a:rPr>
              <a:t>예 (x 축)   앞 스캔 플롯 5,000 m,  이번 스캔 플롯 5,030 m,  스캔 간격 T = 0.1 s</a:t>
            </a:r>
          </a:p>
        </p:txBody>
      </p:sp>
      <p:graphicFrame>
        <p:nvGraphicFramePr>
          <p:cNvPr id="10" name="Table 9"/>
          <p:cNvGraphicFramePr>
            <a:graphicFrameLocks noGrp="1"/>
          </p:cNvGraphicFramePr>
          <p:nvPr/>
        </p:nvGraphicFramePr>
        <p:xfrm>
          <a:off x="640080" y="2816352"/>
          <a:ext cx="5623559" cy="1060704"/>
        </p:xfrm>
        <a:graphic>
          <a:graphicData uri="http://schemas.openxmlformats.org/drawingml/2006/table">
            <a:tbl>
              <a:tblPr firstRow="1" bandRow="1">
                <a:tableStyleId>{5C22544A-7EE6-4342-B048-85BDC9FD1C3A}</a:tableStyleId>
              </a:tblPr>
              <a:tblGrid>
                <a:gridCol w="1143000"/>
                <a:gridCol w="1874519"/>
                <a:gridCol w="2606040"/>
              </a:tblGrid>
              <a:tr h="265176">
                <a:tc>
                  <a:txBody>
                    <a:bodyPr/>
                    <a:lstStyle/>
                    <a:p>
                      <a:pPr algn="l"/>
                      <a:r>
                        <a:rPr sz="950" b="1">
                          <a:solidFill>
                            <a:srgbClr val="FFFFFF"/>
                          </a:solidFill>
                          <a:latin typeface="맑은 고딕"/>
                          <a:ea typeface="맑은 고딕"/>
                          <a:cs typeface="맑은 고딕"/>
                        </a:rPr>
                        <a:t>성분</a:t>
                      </a:r>
                    </a:p>
                  </a:txBody>
                  <a:tcPr marL="54864" marR="54864" marT="18288" marB="18288" anchor="ctr">
                    <a:solidFill>
                      <a:srgbClr val="1B2740"/>
                    </a:solidFill>
                  </a:tcPr>
                </a:tc>
                <a:tc>
                  <a:txBody>
                    <a:bodyPr/>
                    <a:lstStyle/>
                    <a:p>
                      <a:pPr algn="l"/>
                      <a:r>
                        <a:rPr sz="950" b="1">
                          <a:solidFill>
                            <a:srgbClr val="FFFFFF"/>
                          </a:solidFill>
                          <a:latin typeface="맑은 고딕"/>
                          <a:ea typeface="맑은 고딕"/>
                          <a:cs typeface="맑은 고딕"/>
                        </a:rPr>
                        <a:t>식</a:t>
                      </a:r>
                    </a:p>
                  </a:txBody>
                  <a:tcPr marL="54864" marR="54864" marT="18288" marB="18288" anchor="ctr">
                    <a:solidFill>
                      <a:srgbClr val="1B2740"/>
                    </a:solidFill>
                  </a:tcPr>
                </a:tc>
                <a:tc>
                  <a:txBody>
                    <a:bodyPr/>
                    <a:lstStyle/>
                    <a:p>
                      <a:pPr algn="l"/>
                      <a:r>
                        <a:rPr sz="950" b="1">
                          <a:solidFill>
                            <a:srgbClr val="FFFFFF"/>
                          </a:solidFill>
                          <a:latin typeface="맑은 고딕"/>
                          <a:ea typeface="맑은 고딕"/>
                          <a:cs typeface="맑은 고딕"/>
                        </a:rPr>
                        <a:t>예 (x 축)</a:t>
                      </a:r>
                    </a:p>
                  </a:txBody>
                  <a:tcPr marL="54864" marR="54864" marT="18288" marB="18288" anchor="ctr">
                    <a:solidFill>
                      <a:srgbClr val="1B2740"/>
                    </a:solidFill>
                  </a:tcPr>
                </a:tc>
              </a:tr>
              <a:tr h="265176">
                <a:tc>
                  <a:txBody>
                    <a:bodyPr/>
                    <a:lstStyle/>
                    <a:p>
                      <a:pPr algn="l"/>
                      <a:r>
                        <a:rPr sz="1000" b="0">
                          <a:solidFill>
                            <a:srgbClr val="1B2740"/>
                          </a:solidFill>
                          <a:latin typeface="맑은 고딕"/>
                          <a:ea typeface="맑은 고딕"/>
                          <a:cs typeface="맑은 고딕"/>
                        </a:rPr>
                        <a:t>위치  x</a:t>
                      </a:r>
                    </a:p>
                  </a:txBody>
                  <a:tcPr marL="54864" marR="54864" marT="18288" marB="18288" anchor="ctr">
                    <a:solidFill>
                      <a:srgbClr val="FFFFFF"/>
                    </a:solidFill>
                  </a:tcPr>
                </a:tc>
                <a:tc>
                  <a:txBody>
                    <a:bodyPr/>
                    <a:lstStyle/>
                    <a:p>
                      <a:pPr algn="l"/>
                      <a:r>
                        <a:rPr sz="1000" b="0">
                          <a:solidFill>
                            <a:srgbClr val="1B2740"/>
                          </a:solidFill>
                          <a:latin typeface="Arial"/>
                          <a:ea typeface="Arial"/>
                          <a:cs typeface="Arial"/>
                        </a:rPr>
                        <a:t>z_k</a:t>
                      </a:r>
                    </a:p>
                  </a:txBody>
                  <a:tcPr marL="54864" marR="54864" marT="18288" marB="18288" anchor="ctr">
                    <a:solidFill>
                      <a:srgbClr val="FFFFFF"/>
                    </a:solidFill>
                  </a:tcPr>
                </a:tc>
                <a:tc>
                  <a:txBody>
                    <a:bodyPr/>
                    <a:lstStyle/>
                    <a:p>
                      <a:pPr algn="l"/>
                      <a:r>
                        <a:rPr sz="1000" b="0">
                          <a:solidFill>
                            <a:srgbClr val="1B2740"/>
                          </a:solidFill>
                          <a:latin typeface="Arial"/>
                          <a:ea typeface="Arial"/>
                          <a:cs typeface="Arial"/>
                        </a:rPr>
                        <a:t>5,030 m</a:t>
                      </a:r>
                    </a:p>
                  </a:txBody>
                  <a:tcPr marL="54864" marR="54864" marT="18288" marB="18288" anchor="ctr">
                    <a:solidFill>
                      <a:srgbClr val="FFFFFF"/>
                    </a:solidFill>
                  </a:tcPr>
                </a:tc>
              </a:tr>
              <a:tr h="265176">
                <a:tc>
                  <a:txBody>
                    <a:bodyPr/>
                    <a:lstStyle/>
                    <a:p>
                      <a:pPr algn="l"/>
                      <a:r>
                        <a:rPr sz="1000" b="0">
                          <a:solidFill>
                            <a:srgbClr val="1B2740"/>
                          </a:solidFill>
                          <a:latin typeface="맑은 고딕"/>
                          <a:ea typeface="맑은 고딕"/>
                          <a:cs typeface="맑은 고딕"/>
                        </a:rPr>
                        <a:t>속도  x'</a:t>
                      </a:r>
                    </a:p>
                  </a:txBody>
                  <a:tcPr marL="54864" marR="54864" marT="18288" marB="18288" anchor="ctr">
                    <a:solidFill>
                      <a:srgbClr val="F7F9FC"/>
                    </a:solidFill>
                  </a:tcPr>
                </a:tc>
                <a:tc>
                  <a:txBody>
                    <a:bodyPr/>
                    <a:lstStyle/>
                    <a:p>
                      <a:pPr algn="l"/>
                      <a:r>
                        <a:rPr sz="1000" b="0">
                          <a:solidFill>
                            <a:srgbClr val="1B2740"/>
                          </a:solidFill>
                          <a:latin typeface="Arial"/>
                          <a:ea typeface="Arial"/>
                          <a:cs typeface="Arial"/>
                        </a:rPr>
                        <a:t>( z_k − z_k-1 ) / T</a:t>
                      </a:r>
                    </a:p>
                  </a:txBody>
                  <a:tcPr marL="54864" marR="54864" marT="18288" marB="18288" anchor="ctr">
                    <a:solidFill>
                      <a:srgbClr val="F7F9FC"/>
                    </a:solidFill>
                  </a:tcPr>
                </a:tc>
                <a:tc>
                  <a:txBody>
                    <a:bodyPr/>
                    <a:lstStyle/>
                    <a:p>
                      <a:pPr algn="l"/>
                      <a:r>
                        <a:rPr sz="1000" b="0">
                          <a:solidFill>
                            <a:srgbClr val="1B2740"/>
                          </a:solidFill>
                          <a:latin typeface="Arial"/>
                          <a:ea typeface="Arial"/>
                          <a:cs typeface="Arial"/>
                        </a:rPr>
                        <a:t>( 5,030 − 5,000 ) / 0.1 = 300 m/s</a:t>
                      </a:r>
                    </a:p>
                  </a:txBody>
                  <a:tcPr marL="54864" marR="54864" marT="18288" marB="18288" anchor="ctr">
                    <a:solidFill>
                      <a:srgbClr val="F7F9FC"/>
                    </a:solidFill>
                  </a:tcPr>
                </a:tc>
              </a:tr>
              <a:tr h="265176">
                <a:tc>
                  <a:txBody>
                    <a:bodyPr/>
                    <a:lstStyle/>
                    <a:p>
                      <a:pPr algn="l"/>
                      <a:r>
                        <a:rPr sz="1000" b="0">
                          <a:solidFill>
                            <a:srgbClr val="1B2740"/>
                          </a:solidFill>
                          <a:latin typeface="맑은 고딕"/>
                          <a:ea typeface="맑은 고딕"/>
                          <a:cs typeface="맑은 고딕"/>
                        </a:rPr>
                        <a:t>가속도  x''</a:t>
                      </a:r>
                    </a:p>
                  </a:txBody>
                  <a:tcPr marL="54864" marR="54864" marT="18288" marB="18288" anchor="ctr">
                    <a:solidFill>
                      <a:srgbClr val="FFFFFF"/>
                    </a:solidFill>
                  </a:tcPr>
                </a:tc>
                <a:tc>
                  <a:txBody>
                    <a:bodyPr/>
                    <a:lstStyle/>
                    <a:p>
                      <a:pPr algn="l"/>
                      <a:r>
                        <a:rPr sz="1000" b="0">
                          <a:solidFill>
                            <a:srgbClr val="1B2740"/>
                          </a:solidFill>
                          <a:latin typeface="맑은 고딕"/>
                          <a:ea typeface="맑은 고딕"/>
                          <a:cs typeface="맑은 고딕"/>
                        </a:rPr>
                        <a:t>0  (과제 조건)</a:t>
                      </a:r>
                    </a:p>
                  </a:txBody>
                  <a:tcPr marL="54864" marR="54864" marT="18288" marB="18288" anchor="ctr">
                    <a:solidFill>
                      <a:srgbClr val="FFFFFF"/>
                    </a:solidFill>
                  </a:tcPr>
                </a:tc>
                <a:tc>
                  <a:txBody>
                    <a:bodyPr/>
                    <a:lstStyle/>
                    <a:p>
                      <a:pPr algn="l"/>
                      <a:r>
                        <a:rPr sz="1000" b="0">
                          <a:solidFill>
                            <a:srgbClr val="1B2740"/>
                          </a:solidFill>
                          <a:latin typeface="Arial"/>
                          <a:ea typeface="Arial"/>
                          <a:cs typeface="Arial"/>
                        </a:rPr>
                        <a:t>0</a:t>
                      </a:r>
                    </a:p>
                  </a:txBody>
                  <a:tcPr marL="54864" marR="54864" marT="18288" marB="18288" anchor="ctr">
                    <a:solidFill>
                      <a:srgbClr val="FFFFFF"/>
                    </a:solidFill>
                  </a:tcPr>
                </a:tc>
              </a:tr>
            </a:tbl>
          </a:graphicData>
        </a:graphic>
      </p:graphicFrame>
      <p:sp>
        <p:nvSpPr>
          <p:cNvPr id="11" name="Oval 10"/>
          <p:cNvSpPr/>
          <p:nvPr/>
        </p:nvSpPr>
        <p:spPr>
          <a:xfrm>
            <a:off x="640080" y="4087368"/>
            <a:ext cx="237744" cy="237744"/>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2" name="TextBox 11"/>
          <p:cNvSpPr txBox="1"/>
          <p:nvPr/>
        </p:nvSpPr>
        <p:spPr>
          <a:xfrm>
            <a:off x="950976" y="4059936"/>
            <a:ext cx="5303520" cy="292608"/>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오차 공분산 P</a:t>
            </a:r>
            <a:r>
              <a:rPr sz="950" b="0">
                <a:solidFill>
                  <a:srgbClr val="4A5A7A"/>
                </a:solidFill>
                <a:latin typeface="맑은 고딕"/>
                <a:ea typeface="맑은 고딕"/>
                <a:cs typeface="맑은 고딕"/>
              </a:rPr>
              <a:t>   한 축의 3 x 3  (예: 플롯 오차 ±10 m, T = 0.1 s)</a:t>
            </a:r>
          </a:p>
        </p:txBody>
      </p:sp>
      <p:graphicFrame>
        <p:nvGraphicFramePr>
          <p:cNvPr id="13" name="Table 12"/>
          <p:cNvGraphicFramePr>
            <a:graphicFrameLocks noGrp="1"/>
          </p:cNvGraphicFramePr>
          <p:nvPr/>
        </p:nvGraphicFramePr>
        <p:xfrm>
          <a:off x="640080" y="4407408"/>
          <a:ext cx="5623560" cy="1673352"/>
        </p:xfrm>
        <a:graphic>
          <a:graphicData uri="http://schemas.openxmlformats.org/drawingml/2006/table">
            <a:tbl>
              <a:tblPr>
                <a:tableStyleId>{5C22544A-7EE6-4342-B048-85BDC9FD1C3A}</a:tableStyleId>
              </a:tblPr>
              <a:tblGrid>
                <a:gridCol w="1280160"/>
                <a:gridCol w="1325880"/>
                <a:gridCol w="2011680"/>
                <a:gridCol w="1005840"/>
              </a:tblGrid>
              <a:tr h="246888">
                <a:tc>
                  <a:txBody>
                    <a:bodyPr/>
                    <a:lstStyle/>
                    <a:p>
                      <a:pPr algn="ctr"/>
                      <a:r>
                        <a:rPr sz="950" b="1">
                          <a:solidFill>
                            <a:srgbClr val="FFFFFF"/>
                          </a:solidFill>
                          <a:latin typeface="맑은 고딕"/>
                          <a:ea typeface="맑은 고딕"/>
                          <a:cs typeface="맑은 고딕"/>
                        </a:rPr>
                        <a:t/>
                      </a:r>
                    </a:p>
                  </a:txBody>
                  <a:tcPr marL="45720" marR="45720" marT="18288" marB="18288" anchor="ctr">
                    <a:solidFill>
                      <a:srgbClr val="2B3A55"/>
                    </a:solidFill>
                  </a:tcPr>
                </a:tc>
                <a:tc>
                  <a:txBody>
                    <a:bodyPr/>
                    <a:lstStyle/>
                    <a:p>
                      <a:pPr algn="ctr"/>
                      <a:r>
                        <a:rPr sz="950" b="1">
                          <a:solidFill>
                            <a:srgbClr val="FFFFFF"/>
                          </a:solidFill>
                          <a:latin typeface="맑은 고딕"/>
                          <a:ea typeface="맑은 고딕"/>
                          <a:cs typeface="맑은 고딕"/>
                        </a:rPr>
                        <a:t>위치</a:t>
                      </a:r>
                    </a:p>
                  </a:txBody>
                  <a:tcPr marL="45720" marR="45720" marT="18288" marB="18288" anchor="ctr">
                    <a:solidFill>
                      <a:srgbClr val="2B3A55"/>
                    </a:solidFill>
                  </a:tcPr>
                </a:tc>
                <a:tc>
                  <a:txBody>
                    <a:bodyPr/>
                    <a:lstStyle/>
                    <a:p>
                      <a:pPr algn="ctr"/>
                      <a:r>
                        <a:rPr sz="950" b="1">
                          <a:solidFill>
                            <a:srgbClr val="FFFFFF"/>
                          </a:solidFill>
                          <a:latin typeface="맑은 고딕"/>
                          <a:ea typeface="맑은 고딕"/>
                          <a:cs typeface="맑은 고딕"/>
                        </a:rPr>
                        <a:t>속도</a:t>
                      </a:r>
                    </a:p>
                  </a:txBody>
                  <a:tcPr marL="45720" marR="45720" marT="18288" marB="18288" anchor="ctr">
                    <a:solidFill>
                      <a:srgbClr val="2B3A55"/>
                    </a:solidFill>
                  </a:tcPr>
                </a:tc>
                <a:tc>
                  <a:txBody>
                    <a:bodyPr/>
                    <a:lstStyle/>
                    <a:p>
                      <a:pPr algn="ctr"/>
                      <a:r>
                        <a:rPr sz="950" b="1">
                          <a:solidFill>
                            <a:srgbClr val="FFFFFF"/>
                          </a:solidFill>
                          <a:latin typeface="맑은 고딕"/>
                          <a:ea typeface="맑은 고딕"/>
                          <a:cs typeface="맑은 고딕"/>
                        </a:rPr>
                        <a:t>가속도</a:t>
                      </a:r>
                    </a:p>
                  </a:txBody>
                  <a:tcPr marL="45720" marR="45720" marT="18288" marB="18288" anchor="ctr">
                    <a:solidFill>
                      <a:srgbClr val="2B3A55"/>
                    </a:solidFill>
                  </a:tcPr>
                </a:tc>
              </a:tr>
              <a:tr h="512064">
                <a:tc>
                  <a:txBody>
                    <a:bodyPr/>
                    <a:lstStyle/>
                    <a:p>
                      <a:pPr algn="ctr"/>
                      <a:r>
                        <a:rPr sz="1000" b="1">
                          <a:solidFill>
                            <a:srgbClr val="FFFFFF"/>
                          </a:solidFill>
                          <a:latin typeface="맑은 고딕"/>
                          <a:ea typeface="맑은 고딕"/>
                          <a:cs typeface="맑은 고딕"/>
                        </a:rPr>
                        <a:t>위치</a:t>
                      </a:r>
                    </a:p>
                    <a:p>
                      <a:pPr algn="ctr"/>
                      <a:r>
                        <a:rPr sz="850" b="0">
                          <a:solidFill>
                            <a:srgbClr val="C9D3E6"/>
                          </a:solidFill>
                          <a:latin typeface="맑은 고딕"/>
                          <a:ea typeface="맑은 고딕"/>
                          <a:cs typeface="맑은 고딕"/>
                        </a:rPr>
                        <a:t>= 이번 플롯</a:t>
                      </a:r>
                    </a:p>
                  </a:txBody>
                  <a:tcPr marL="45720" marR="45720" marT="18288" marB="18288" anchor="ctr">
                    <a:solidFill>
                      <a:srgbClr val="2B3A55"/>
                    </a:solidFill>
                  </a:tcPr>
                </a:tc>
                <a:tc>
                  <a:txBody>
                    <a:bodyPr/>
                    <a:lstStyle/>
                    <a:p>
                      <a:pPr algn="ctr"/>
                      <a:r>
                        <a:rPr sz="1050" b="1">
                          <a:solidFill>
                            <a:srgbClr val="1B2740"/>
                          </a:solidFill>
                          <a:latin typeface="Arial"/>
                          <a:ea typeface="Arial"/>
                          <a:cs typeface="Arial"/>
                        </a:rPr>
                        <a:t>R_k</a:t>
                      </a:r>
                    </a:p>
                    <a:p>
                      <a:pPr algn="ctr"/>
                      <a:r>
                        <a:rPr sz="950" b="0">
                          <a:solidFill>
                            <a:srgbClr val="4A5A7A"/>
                          </a:solidFill>
                          <a:latin typeface="Arial"/>
                          <a:ea typeface="Arial"/>
                          <a:cs typeface="Arial"/>
                        </a:rPr>
                        <a:t>100  (±10 m)</a:t>
                      </a:r>
                    </a:p>
                  </a:txBody>
                  <a:tcPr marL="45720" marR="45720" marT="18288" marB="18288" anchor="ctr">
                    <a:solidFill>
                      <a:srgbClr val="DCE7FD"/>
                    </a:solidFill>
                  </a:tcPr>
                </a:tc>
                <a:tc>
                  <a:txBody>
                    <a:bodyPr/>
                    <a:lstStyle/>
                    <a:p>
                      <a:pPr algn="ctr"/>
                      <a:r>
                        <a:rPr sz="1050" b="1">
                          <a:solidFill>
                            <a:srgbClr val="1B2740"/>
                          </a:solidFill>
                          <a:latin typeface="Arial"/>
                          <a:ea typeface="Arial"/>
                          <a:cs typeface="Arial"/>
                        </a:rPr>
                        <a:t>R_k / T</a:t>
                      </a:r>
                    </a:p>
                    <a:p>
                      <a:pPr algn="ctr"/>
                      <a:r>
                        <a:rPr sz="950" b="0">
                          <a:solidFill>
                            <a:srgbClr val="4A5A7A"/>
                          </a:solidFill>
                          <a:latin typeface="Arial"/>
                          <a:ea typeface="Arial"/>
                          <a:cs typeface="Arial"/>
                        </a:rPr>
                        <a:t>1,000</a:t>
                      </a:r>
                    </a:p>
                  </a:txBody>
                  <a:tcPr marL="45720" marR="45720" marT="18288" marB="18288" anchor="ctr">
                    <a:solidFill>
                      <a:srgbClr val="DDF3EA"/>
                    </a:solidFill>
                  </a:tcPr>
                </a:tc>
                <a:tc>
                  <a:txBody>
                    <a:bodyPr/>
                    <a:lstStyle/>
                    <a:p>
                      <a:pPr algn="ctr"/>
                      <a:r>
                        <a:rPr sz="1000" b="0">
                          <a:solidFill>
                            <a:srgbClr val="8794AC"/>
                          </a:solidFill>
                          <a:latin typeface="Arial"/>
                          <a:ea typeface="Arial"/>
                          <a:cs typeface="Arial"/>
                        </a:rPr>
                        <a:t>0</a:t>
                      </a:r>
                    </a:p>
                  </a:txBody>
                  <a:tcPr marL="45720" marR="45720" marT="18288" marB="18288" anchor="ctr">
                    <a:solidFill>
                      <a:srgbClr val="F3F4F7"/>
                    </a:solidFill>
                  </a:tcPr>
                </a:tc>
              </a:tr>
              <a:tr h="512064">
                <a:tc>
                  <a:txBody>
                    <a:bodyPr/>
                    <a:lstStyle/>
                    <a:p>
                      <a:pPr algn="ctr"/>
                      <a:r>
                        <a:rPr sz="1000" b="1">
                          <a:solidFill>
                            <a:srgbClr val="FFFFFF"/>
                          </a:solidFill>
                          <a:latin typeface="맑은 고딕"/>
                          <a:ea typeface="맑은 고딕"/>
                          <a:cs typeface="맑은 고딕"/>
                        </a:rPr>
                        <a:t>속도</a:t>
                      </a:r>
                    </a:p>
                    <a:p>
                      <a:pPr algn="ctr"/>
                      <a:r>
                        <a:rPr sz="850" b="0">
                          <a:solidFill>
                            <a:srgbClr val="C9D3E6"/>
                          </a:solidFill>
                          <a:latin typeface="맑은 고딕"/>
                          <a:ea typeface="맑은 고딕"/>
                          <a:cs typeface="맑은 고딕"/>
                        </a:rPr>
                        <a:t>= 두 플롯 차 / T</a:t>
                      </a:r>
                    </a:p>
                  </a:txBody>
                  <a:tcPr marL="45720" marR="45720" marT="18288" marB="18288" anchor="ctr">
                    <a:solidFill>
                      <a:srgbClr val="2B3A55"/>
                    </a:solidFill>
                  </a:tcPr>
                </a:tc>
                <a:tc>
                  <a:txBody>
                    <a:bodyPr/>
                    <a:lstStyle/>
                    <a:p>
                      <a:pPr algn="ctr"/>
                      <a:r>
                        <a:rPr sz="1050" b="1">
                          <a:solidFill>
                            <a:srgbClr val="1B2740"/>
                          </a:solidFill>
                          <a:latin typeface="Arial"/>
                          <a:ea typeface="Arial"/>
                          <a:cs typeface="Arial"/>
                        </a:rPr>
                        <a:t>R_k / T</a:t>
                      </a:r>
                    </a:p>
                    <a:p>
                      <a:pPr algn="ctr"/>
                      <a:r>
                        <a:rPr sz="950" b="0">
                          <a:solidFill>
                            <a:srgbClr val="4A5A7A"/>
                          </a:solidFill>
                          <a:latin typeface="Arial"/>
                          <a:ea typeface="Arial"/>
                          <a:cs typeface="Arial"/>
                        </a:rPr>
                        <a:t>1,000</a:t>
                      </a:r>
                    </a:p>
                  </a:txBody>
                  <a:tcPr marL="45720" marR="45720" marT="18288" marB="18288" anchor="ctr">
                    <a:solidFill>
                      <a:srgbClr val="DDF3EA"/>
                    </a:solidFill>
                  </a:tcPr>
                </a:tc>
                <a:tc>
                  <a:txBody>
                    <a:bodyPr/>
                    <a:lstStyle/>
                    <a:p>
                      <a:pPr algn="ctr"/>
                      <a:r>
                        <a:rPr sz="1050" b="1">
                          <a:solidFill>
                            <a:srgbClr val="1B2740"/>
                          </a:solidFill>
                          <a:latin typeface="Arial"/>
                          <a:ea typeface="Arial"/>
                          <a:cs typeface="Arial"/>
                        </a:rPr>
                        <a:t>( R_k + R_k-1 ) / T²</a:t>
                      </a:r>
                    </a:p>
                    <a:p>
                      <a:pPr algn="ctr"/>
                      <a:r>
                        <a:rPr sz="950" b="0">
                          <a:solidFill>
                            <a:srgbClr val="4A5A7A"/>
                          </a:solidFill>
                          <a:latin typeface="Arial"/>
                          <a:ea typeface="Arial"/>
                          <a:cs typeface="Arial"/>
                        </a:rPr>
                        <a:t>20,000  (±141 m/s)</a:t>
                      </a:r>
                    </a:p>
                  </a:txBody>
                  <a:tcPr marL="45720" marR="45720" marT="18288" marB="18288" anchor="ctr">
                    <a:solidFill>
                      <a:srgbClr val="FDECD7"/>
                    </a:solidFill>
                  </a:tcPr>
                </a:tc>
                <a:tc>
                  <a:txBody>
                    <a:bodyPr/>
                    <a:lstStyle/>
                    <a:p>
                      <a:pPr algn="ctr"/>
                      <a:r>
                        <a:rPr sz="1000" b="0">
                          <a:solidFill>
                            <a:srgbClr val="8794AC"/>
                          </a:solidFill>
                          <a:latin typeface="Arial"/>
                          <a:ea typeface="Arial"/>
                          <a:cs typeface="Arial"/>
                        </a:rPr>
                        <a:t>0</a:t>
                      </a:r>
                    </a:p>
                  </a:txBody>
                  <a:tcPr marL="45720" marR="45720" marT="18288" marB="18288" anchor="ctr">
                    <a:solidFill>
                      <a:srgbClr val="F3F4F7"/>
                    </a:solidFill>
                  </a:tcPr>
                </a:tc>
              </a:tr>
              <a:tr h="402336">
                <a:tc>
                  <a:txBody>
                    <a:bodyPr/>
                    <a:lstStyle/>
                    <a:p>
                      <a:pPr algn="ctr"/>
                      <a:r>
                        <a:rPr sz="1000" b="1">
                          <a:solidFill>
                            <a:srgbClr val="FFFFFF"/>
                          </a:solidFill>
                          <a:latin typeface="맑은 고딕"/>
                          <a:ea typeface="맑은 고딕"/>
                          <a:cs typeface="맑은 고딕"/>
                        </a:rPr>
                        <a:t>가속도</a:t>
                      </a:r>
                    </a:p>
                    <a:p>
                      <a:pPr algn="ctr"/>
                      <a:r>
                        <a:rPr sz="850" b="0">
                          <a:solidFill>
                            <a:srgbClr val="C9D3E6"/>
                          </a:solidFill>
                          <a:latin typeface="맑은 고딕"/>
                          <a:ea typeface="맑은 고딕"/>
                          <a:cs typeface="맑은 고딕"/>
                        </a:rPr>
                        <a:t>= 0</a:t>
                      </a:r>
                    </a:p>
                  </a:txBody>
                  <a:tcPr marL="45720" marR="45720" marT="18288" marB="18288" anchor="ctr">
                    <a:solidFill>
                      <a:srgbClr val="2B3A55"/>
                    </a:solidFill>
                  </a:tcPr>
                </a:tc>
                <a:tc>
                  <a:txBody>
                    <a:bodyPr/>
                    <a:lstStyle/>
                    <a:p>
                      <a:pPr algn="ctr"/>
                      <a:r>
                        <a:rPr sz="1000" b="0">
                          <a:solidFill>
                            <a:srgbClr val="8794AC"/>
                          </a:solidFill>
                          <a:latin typeface="Arial"/>
                          <a:ea typeface="Arial"/>
                          <a:cs typeface="Arial"/>
                        </a:rPr>
                        <a:t>0</a:t>
                      </a:r>
                    </a:p>
                  </a:txBody>
                  <a:tcPr marL="45720" marR="45720" marT="18288" marB="18288" anchor="ctr">
                    <a:solidFill>
                      <a:srgbClr val="F3F4F7"/>
                    </a:solidFill>
                  </a:tcPr>
                </a:tc>
                <a:tc>
                  <a:txBody>
                    <a:bodyPr/>
                    <a:lstStyle/>
                    <a:p>
                      <a:pPr algn="ctr"/>
                      <a:r>
                        <a:rPr sz="1000" b="0">
                          <a:solidFill>
                            <a:srgbClr val="8794AC"/>
                          </a:solidFill>
                          <a:latin typeface="Arial"/>
                          <a:ea typeface="Arial"/>
                          <a:cs typeface="Arial"/>
                        </a:rPr>
                        <a:t>0</a:t>
                      </a:r>
                    </a:p>
                  </a:txBody>
                  <a:tcPr marL="45720" marR="45720" marT="18288" marB="18288" anchor="ctr">
                    <a:solidFill>
                      <a:srgbClr val="F3F4F7"/>
                    </a:solidFill>
                  </a:tcPr>
                </a:tc>
                <a:tc>
                  <a:txBody>
                    <a:bodyPr/>
                    <a:lstStyle/>
                    <a:p>
                      <a:pPr algn="ctr"/>
                      <a:r>
                        <a:rPr sz="1000" b="0">
                          <a:solidFill>
                            <a:srgbClr val="8794AC"/>
                          </a:solidFill>
                          <a:latin typeface="Arial"/>
                          <a:ea typeface="Arial"/>
                          <a:cs typeface="Arial"/>
                        </a:rPr>
                        <a:t>0</a:t>
                      </a:r>
                    </a:p>
                  </a:txBody>
                  <a:tcPr marL="45720" marR="45720" marT="18288" marB="18288" anchor="ctr">
                    <a:solidFill>
                      <a:srgbClr val="F3F4F7"/>
                    </a:solidFill>
                  </a:tcPr>
                </a:tc>
              </a:tr>
            </a:tbl>
          </a:graphicData>
        </a:graphic>
      </p:graphicFrame>
      <p:sp>
        <p:nvSpPr>
          <p:cNvPr id="14" name="Oval 13"/>
          <p:cNvSpPr/>
          <p:nvPr/>
        </p:nvSpPr>
        <p:spPr>
          <a:xfrm>
            <a:off x="6537960" y="2258568"/>
            <a:ext cx="237744" cy="237744"/>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5" name="TextBox 14"/>
          <p:cNvSpPr txBox="1"/>
          <p:nvPr/>
        </p:nvSpPr>
        <p:spPr>
          <a:xfrm>
            <a:off x="6848856" y="2231136"/>
            <a:ext cx="4663440" cy="292608"/>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9 x 9 전체 P</a:t>
            </a:r>
            <a:r>
              <a:rPr sz="950" b="0">
                <a:solidFill>
                  <a:srgbClr val="4A5A7A"/>
                </a:solidFill>
                <a:latin typeface="맑은 고딕"/>
                <a:ea typeface="맑은 고딕"/>
                <a:cs typeface="맑은 고딕"/>
              </a:rPr>
              <a:t>   ② 의 블록이 축마다 대각선에 하나씩</a:t>
            </a:r>
          </a:p>
        </p:txBody>
      </p:sp>
      <p:pic>
        <p:nvPicPr>
          <p:cNvPr id="16" name="Picture 15" descr="fig_pmatrix.png"/>
          <p:cNvPicPr>
            <a:picLocks noChangeAspect="1"/>
          </p:cNvPicPr>
          <p:nvPr/>
        </p:nvPicPr>
        <p:blipFill>
          <a:blip r:embed="rId3"/>
          <a:stretch>
            <a:fillRect/>
          </a:stretch>
        </p:blipFill>
        <p:spPr>
          <a:xfrm>
            <a:off x="6537960" y="2560320"/>
            <a:ext cx="4983480" cy="3611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트랙 개시</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1.4 속도 게이팅</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두 플롯이 같은 표적이면 한 스캔 동안 움직인 거리가 V_max · T 보다 작아야 합니다. 이 조건을 만족하는 (게이트를 통과한) 쌍으로만 개시합니다.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속도 게이팅 · 3-1</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Rectangle 6"/>
          <p:cNvSpPr/>
          <p:nvPr/>
        </p:nvSpPr>
        <p:spPr>
          <a:xfrm>
            <a:off x="640080" y="2240280"/>
            <a:ext cx="10908792" cy="566928"/>
          </a:xfrm>
          <a:prstGeom prst="rect">
            <a:avLst/>
          </a:prstGeom>
          <a:solidFill>
            <a:srgbClr val="F7F9FC"/>
          </a:solidFill>
          <a:ln w="9525">
            <a:solidFill>
              <a:srgbClr val="D2D9E5"/>
            </a:solidFill>
          </a:ln>
        </p:spPr>
        <p:txBody>
          <a:bodyPr rtlCol="0" anchor="ctr"/>
          <a:lstStyle/>
          <a:p>
            <a:pPr algn="ctr"/>
          </a:p>
        </p:txBody>
      </p:sp>
      <p:sp>
        <p:nvSpPr>
          <p:cNvPr id="8" name="TextBox 7"/>
          <p:cNvSpPr txBox="1"/>
          <p:nvPr/>
        </p:nvSpPr>
        <p:spPr>
          <a:xfrm>
            <a:off x="868680" y="2240280"/>
            <a:ext cx="5120640" cy="566928"/>
          </a:xfrm>
          <a:prstGeom prst="rect">
            <a:avLst/>
          </a:prstGeom>
          <a:noFill/>
        </p:spPr>
        <p:txBody>
          <a:bodyPr wrap="square" lIns="0" tIns="0" rIns="0" bIns="0" anchor="ctr">
            <a:spAutoFit/>
          </a:bodyPr>
          <a:lstStyle/>
          <a:p>
            <a:pPr algn="l"/>
            <a:r>
              <a:rPr sz="1500" b="1">
                <a:solidFill>
                  <a:srgbClr val="1B2740"/>
                </a:solidFill>
                <a:latin typeface="Arial"/>
                <a:ea typeface="Arial"/>
                <a:cs typeface="Arial"/>
              </a:rPr>
              <a:t>| z_(k,i)  −  z_(k-1,j) |  /  ΔT   &lt;   V_max</a:t>
            </a:r>
          </a:p>
        </p:txBody>
      </p:sp>
      <p:sp>
        <p:nvSpPr>
          <p:cNvPr id="9" name="TextBox 8"/>
          <p:cNvSpPr txBox="1"/>
          <p:nvPr/>
        </p:nvSpPr>
        <p:spPr>
          <a:xfrm>
            <a:off x="5852160" y="2240280"/>
            <a:ext cx="5577840" cy="566928"/>
          </a:xfrm>
          <a:prstGeom prst="rect">
            <a:avLst/>
          </a:prstGeom>
          <a:noFill/>
        </p:spPr>
        <p:txBody>
          <a:bodyPr wrap="square" lIns="0" tIns="0" rIns="0" bIns="0" anchor="ctr">
            <a:spAutoFit/>
          </a:bodyPr>
          <a:lstStyle/>
          <a:p>
            <a:pPr algn="l"/>
            <a:r>
              <a:rPr sz="1150" b="1">
                <a:solidFill>
                  <a:srgbClr val="2563EB"/>
                </a:solidFill>
                <a:latin typeface="맑은 고딕"/>
                <a:ea typeface="맑은 고딕"/>
                <a:cs typeface="맑은 고딕"/>
              </a:rPr>
              <a:t>V_max = 800 m/s,  ΔT = 0.1 s  -&gt;  앞 플롯에서 반경 80 m 안</a:t>
            </a:r>
          </a:p>
          <a:p>
            <a:pPr algn="l"/>
            <a:r>
              <a:rPr sz="1000" b="0">
                <a:solidFill>
                  <a:srgbClr val="4A5A7A"/>
                </a:solidFill>
                <a:latin typeface="맑은 고딕"/>
                <a:ea typeface="맑은 고딕"/>
                <a:cs typeface="맑은 고딕"/>
              </a:rPr>
              <a:t>i: 이번 스캔 플롯,  j: 앞 스캔 플롯.  거리는 VC-NED 직교좌표로 잰다</a:t>
            </a:r>
          </a:p>
        </p:txBody>
      </p:sp>
      <p:pic>
        <p:nvPicPr>
          <p:cNvPr id="10" name="Picture 9" descr="fig_gate.png"/>
          <p:cNvPicPr>
            <a:picLocks noChangeAspect="1"/>
          </p:cNvPicPr>
          <p:nvPr/>
        </p:nvPicPr>
        <p:blipFill>
          <a:blip r:embed="rId3"/>
          <a:stretch>
            <a:fillRect/>
          </a:stretch>
        </p:blipFill>
        <p:spPr>
          <a:xfrm>
            <a:off x="640080" y="2971800"/>
            <a:ext cx="10908792" cy="302512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트랙 개시</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1.5 측정 공분산을 VC-NED 로 옮기기</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트랙은 VC-NED (플랫폼 중심, 북 · 동 · 아래로 고정된 축) 에서 만듭니다. 거리 · 방위각 · 고각의 오차를 VC-NED 위치 오차 R 로 바꿉니다.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1.2 · 3-1</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Oval 6"/>
          <p:cNvSpPr/>
          <p:nvPr/>
        </p:nvSpPr>
        <p:spPr>
          <a:xfrm>
            <a:off x="676656" y="233172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8" name="TextBox 7"/>
          <p:cNvSpPr txBox="1"/>
          <p:nvPr/>
        </p:nvSpPr>
        <p:spPr>
          <a:xfrm>
            <a:off x="1060704" y="2286000"/>
            <a:ext cx="5669280" cy="274320"/>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측정 표준편차 (과제 4, SNR 20)</a:t>
            </a:r>
          </a:p>
        </p:txBody>
      </p:sp>
      <p:sp>
        <p:nvSpPr>
          <p:cNvPr id="9" name="Rectangle 8"/>
          <p:cNvSpPr/>
          <p:nvPr/>
        </p:nvSpPr>
        <p:spPr>
          <a:xfrm>
            <a:off x="1060704" y="2587752"/>
            <a:ext cx="5669280" cy="402336"/>
          </a:xfrm>
          <a:prstGeom prst="rect">
            <a:avLst/>
          </a:prstGeom>
          <a:solidFill>
            <a:srgbClr val="F7F9FC"/>
          </a:solidFill>
          <a:ln w="9525">
            <a:solidFill>
              <a:srgbClr val="D2D9E5"/>
            </a:solidFill>
          </a:ln>
        </p:spPr>
        <p:txBody>
          <a:bodyPr rtlCol="0" anchor="ctr"/>
          <a:lstStyle/>
          <a:p>
            <a:pPr algn="ctr"/>
          </a:p>
        </p:txBody>
      </p:sp>
      <p:sp>
        <p:nvSpPr>
          <p:cNvPr id="10" name="TextBox 9"/>
          <p:cNvSpPr txBox="1"/>
          <p:nvPr/>
        </p:nvSpPr>
        <p:spPr>
          <a:xfrm>
            <a:off x="1188720" y="2587752"/>
            <a:ext cx="5486400" cy="402336"/>
          </a:xfrm>
          <a:prstGeom prst="rect">
            <a:avLst/>
          </a:prstGeom>
          <a:noFill/>
        </p:spPr>
        <p:txBody>
          <a:bodyPr wrap="square" lIns="0" tIns="0" rIns="0" bIns="0" anchor="ctr">
            <a:spAutoFit/>
          </a:bodyPr>
          <a:lstStyle/>
          <a:p>
            <a:pPr algn="l"/>
            <a:r>
              <a:rPr sz="1250" b="0">
                <a:solidFill>
                  <a:srgbClr val="1B2740"/>
                </a:solidFill>
                <a:latin typeface="Arial"/>
                <a:ea typeface="Arial"/>
                <a:cs typeface="Arial"/>
              </a:rPr>
              <a:t>σ_r = 4.74 m,   σ_az = 0.478°,   σ_el = 0.494°</a:t>
            </a:r>
          </a:p>
        </p:txBody>
      </p:sp>
      <p:sp>
        <p:nvSpPr>
          <p:cNvPr id="11" name="Oval 10"/>
          <p:cNvSpPr/>
          <p:nvPr/>
        </p:nvSpPr>
        <p:spPr>
          <a:xfrm>
            <a:off x="676656" y="320040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2" name="TextBox 11"/>
          <p:cNvSpPr txBox="1"/>
          <p:nvPr/>
        </p:nvSpPr>
        <p:spPr>
          <a:xfrm>
            <a:off x="1060704" y="3154680"/>
            <a:ext cx="5669280" cy="274320"/>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안테나 직교좌표로</a:t>
            </a:r>
          </a:p>
        </p:txBody>
      </p:sp>
      <p:sp>
        <p:nvSpPr>
          <p:cNvPr id="13" name="Rectangle 12"/>
          <p:cNvSpPr/>
          <p:nvPr/>
        </p:nvSpPr>
        <p:spPr>
          <a:xfrm>
            <a:off x="1060704" y="3456432"/>
            <a:ext cx="5669280" cy="402336"/>
          </a:xfrm>
          <a:prstGeom prst="rect">
            <a:avLst/>
          </a:prstGeom>
          <a:solidFill>
            <a:srgbClr val="F7F9FC"/>
          </a:solidFill>
          <a:ln w="9525">
            <a:solidFill>
              <a:srgbClr val="D2D9E5"/>
            </a:solidFill>
          </a:ln>
        </p:spPr>
        <p:txBody>
          <a:bodyPr rtlCol="0" anchor="ctr"/>
          <a:lstStyle/>
          <a:p>
            <a:pPr algn="ctr"/>
          </a:p>
        </p:txBody>
      </p:sp>
      <p:sp>
        <p:nvSpPr>
          <p:cNvPr id="14" name="TextBox 13"/>
          <p:cNvSpPr txBox="1"/>
          <p:nvPr/>
        </p:nvSpPr>
        <p:spPr>
          <a:xfrm>
            <a:off x="1188720" y="3456432"/>
            <a:ext cx="5486400" cy="402336"/>
          </a:xfrm>
          <a:prstGeom prst="rect">
            <a:avLst/>
          </a:prstGeom>
          <a:noFill/>
        </p:spPr>
        <p:txBody>
          <a:bodyPr wrap="square" lIns="0" tIns="0" rIns="0" bIns="0" anchor="ctr">
            <a:spAutoFit/>
          </a:bodyPr>
          <a:lstStyle/>
          <a:p>
            <a:pPr algn="l"/>
            <a:r>
              <a:rPr sz="1250" b="0">
                <a:solidFill>
                  <a:srgbClr val="1B2740"/>
                </a:solidFill>
                <a:latin typeface="Arial"/>
                <a:ea typeface="Arial"/>
                <a:cs typeface="Arial"/>
              </a:rPr>
              <a:t>R_ant = J · diag( σ_r², σ_az², σ_el² ) · Jᵀ</a:t>
            </a:r>
          </a:p>
        </p:txBody>
      </p:sp>
      <p:sp>
        <p:nvSpPr>
          <p:cNvPr id="15" name="Oval 14"/>
          <p:cNvSpPr/>
          <p:nvPr/>
        </p:nvSpPr>
        <p:spPr>
          <a:xfrm>
            <a:off x="676656" y="406908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6" name="TextBox 15"/>
          <p:cNvSpPr txBox="1"/>
          <p:nvPr/>
        </p:nvSpPr>
        <p:spPr>
          <a:xfrm>
            <a:off x="1060704" y="4023360"/>
            <a:ext cx="5669280" cy="274320"/>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VC-NED 로</a:t>
            </a:r>
          </a:p>
        </p:txBody>
      </p:sp>
      <p:sp>
        <p:nvSpPr>
          <p:cNvPr id="17" name="Rectangle 16"/>
          <p:cNvSpPr/>
          <p:nvPr/>
        </p:nvSpPr>
        <p:spPr>
          <a:xfrm>
            <a:off x="1060704" y="4325112"/>
            <a:ext cx="5669280" cy="402336"/>
          </a:xfrm>
          <a:prstGeom prst="rect">
            <a:avLst/>
          </a:prstGeom>
          <a:solidFill>
            <a:srgbClr val="F7F9FC"/>
          </a:solidFill>
          <a:ln w="9525">
            <a:solidFill>
              <a:srgbClr val="D2D9E5"/>
            </a:solidFill>
          </a:ln>
        </p:spPr>
        <p:txBody>
          <a:bodyPr rtlCol="0" anchor="ctr"/>
          <a:lstStyle/>
          <a:p>
            <a:pPr algn="ctr"/>
          </a:p>
        </p:txBody>
      </p:sp>
      <p:sp>
        <p:nvSpPr>
          <p:cNvPr id="18" name="TextBox 17"/>
          <p:cNvSpPr txBox="1"/>
          <p:nvPr/>
        </p:nvSpPr>
        <p:spPr>
          <a:xfrm>
            <a:off x="1188720" y="4325112"/>
            <a:ext cx="5486400" cy="402336"/>
          </a:xfrm>
          <a:prstGeom prst="rect">
            <a:avLst/>
          </a:prstGeom>
          <a:noFill/>
        </p:spPr>
        <p:txBody>
          <a:bodyPr wrap="square" lIns="0" tIns="0" rIns="0" bIns="0" anchor="ctr">
            <a:spAutoFit/>
          </a:bodyPr>
          <a:lstStyle/>
          <a:p>
            <a:pPr algn="l"/>
            <a:r>
              <a:rPr sz="1250" b="0">
                <a:solidFill>
                  <a:srgbClr val="1B2740"/>
                </a:solidFill>
                <a:latin typeface="Arial"/>
                <a:ea typeface="Arial"/>
                <a:cs typeface="Arial"/>
              </a:rPr>
              <a:t>R = M · R_ant · Mᵀ</a:t>
            </a:r>
          </a:p>
        </p:txBody>
      </p:sp>
      <p:sp>
        <p:nvSpPr>
          <p:cNvPr id="19" name="TextBox 18"/>
          <p:cNvSpPr txBox="1"/>
          <p:nvPr/>
        </p:nvSpPr>
        <p:spPr>
          <a:xfrm>
            <a:off x="1060704" y="4892040"/>
            <a:ext cx="5669280" cy="685800"/>
          </a:xfrm>
          <a:prstGeom prst="rect">
            <a:avLst/>
          </a:prstGeom>
          <a:noFill/>
        </p:spPr>
        <p:txBody>
          <a:bodyPr wrap="square" lIns="0" tIns="0" rIns="0" bIns="0" anchor="t">
            <a:spAutoFit/>
          </a:bodyPr>
          <a:lstStyle/>
          <a:p>
            <a:pPr algn="l">
              <a:lnSpc>
                <a:spcPct val="115000"/>
              </a:lnSpc>
            </a:pPr>
            <a:r>
              <a:rPr sz="1050" b="1">
                <a:solidFill>
                  <a:srgbClr val="1B2740"/>
                </a:solidFill>
                <a:latin typeface="맑은 고딕"/>
                <a:ea typeface="맑은 고딕"/>
                <a:cs typeface="맑은 고딕"/>
              </a:rPr>
              <a:t>J</a:t>
            </a:r>
            <a:r>
              <a:rPr sz="1050" b="0">
                <a:solidFill>
                  <a:srgbClr val="4A5A7A"/>
                </a:solidFill>
                <a:latin typeface="맑은 고딕"/>
                <a:ea typeface="맑은 고딕"/>
                <a:cs typeface="맑은 고딕"/>
              </a:rPr>
              <a:t>: 구좌표 (r, az, el) -&gt; 안테나 직교 (x, y, z) 변환의 미분</a:t>
            </a:r>
          </a:p>
          <a:p>
            <a:pPr algn="l">
              <a:lnSpc>
                <a:spcPct val="115000"/>
              </a:lnSpc>
            </a:pPr>
            <a:r>
              <a:rPr sz="1050" b="1">
                <a:solidFill>
                  <a:srgbClr val="1B2740"/>
                </a:solidFill>
                <a:latin typeface="맑은 고딕"/>
                <a:ea typeface="맑은 고딕"/>
                <a:cs typeface="맑은 고딕"/>
              </a:rPr>
              <a:t>M</a:t>
            </a:r>
            <a:r>
              <a:rPr sz="1050" b="0">
                <a:solidFill>
                  <a:srgbClr val="4A5A7A"/>
                </a:solidFill>
                <a:latin typeface="맑은 고딕"/>
                <a:ea typeface="맑은 고딕"/>
                <a:cs typeface="맑은 고딕"/>
              </a:rPr>
              <a:t>: 안테나 -&gt; 동체 -&gt; VC-NED 회전 (플랫폼 Roll · Pitch · Yaw)</a:t>
            </a:r>
          </a:p>
        </p:txBody>
      </p:sp>
      <p:pic>
        <p:nvPicPr>
          <p:cNvPr id="20" name="Picture 19" descr="fig_rcov.png"/>
          <p:cNvPicPr>
            <a:picLocks noChangeAspect="1"/>
          </p:cNvPicPr>
          <p:nvPr/>
        </p:nvPicPr>
        <p:blipFill>
          <a:blip r:embed="rId3"/>
          <a:stretch>
            <a:fillRect/>
          </a:stretch>
        </p:blipFill>
        <p:spPr>
          <a:xfrm>
            <a:off x="6903720" y="2212848"/>
            <a:ext cx="4645152" cy="355217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02. 트랙 관리</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트랙의 상태와 연관을 보고, 만든 트랙을 확정할지 지울지 정하는 M/N 방식과 트랙 스코어 방식을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2.1</a:t>
            </a:r>
            <a:endParaRPr lang="en-US" sz="1400" dirty="0"/>
          </a:p>
        </p:txBody>
      </p:sp>
      <p:sp>
        <p:nvSpPr>
          <p:cNvPr id="5" name="Text 3"/>
          <p:cNvSpPr txBox="1"/>
          <p:nvPr/>
        </p:nvSpPr>
        <p:spPr>
          <a:xfrm>
            <a:off x="1418234" y="2057400"/>
            <a:ext cx="14422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트랙 상태와 연관</a:t>
            </a:r>
            <a:endParaRPr lang="en-US" sz="1400" dirty="0"/>
          </a:p>
        </p:txBody>
      </p:sp>
      <p:sp>
        <p:nvSpPr>
          <p:cNvPr id="6" name="Shape 4"/>
          <p:cNvSpPr/>
          <p:nvPr/>
        </p:nvSpPr>
        <p:spPr>
          <a:xfrm>
            <a:off x="2969260" y="2313432"/>
            <a:ext cx="7637780"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10</a:t>
            </a:r>
            <a:endParaRPr lang="en-US" sz="1300" dirty="0"/>
          </a:p>
        </p:txBody>
      </p:sp>
      <p:sp>
        <p:nvSpPr>
          <p:cNvPr id="8" name="Text 2"/>
          <p:cNvSpPr txBox="1"/>
          <p:nvPr/>
        </p:nvSpPr>
        <p:spPr>
          <a:xfrm>
            <a:off x="859536" y="2464308"/>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2.2</a:t>
            </a:r>
            <a:endParaRPr lang="en-US" sz="1400" dirty="0"/>
          </a:p>
        </p:txBody>
      </p:sp>
      <p:sp>
        <p:nvSpPr>
          <p:cNvPr id="9" name="Text 3"/>
          <p:cNvSpPr txBox="1"/>
          <p:nvPr/>
        </p:nvSpPr>
        <p:spPr>
          <a:xfrm>
            <a:off x="1418234" y="2464308"/>
            <a:ext cx="86258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M/N 방식</a:t>
            </a:r>
            <a:endParaRPr lang="en-US" sz="1400" dirty="0"/>
          </a:p>
        </p:txBody>
      </p:sp>
      <p:sp>
        <p:nvSpPr>
          <p:cNvPr id="10" name="Shape 4"/>
          <p:cNvSpPr/>
          <p:nvPr/>
        </p:nvSpPr>
        <p:spPr>
          <a:xfrm>
            <a:off x="2389632" y="2720339"/>
            <a:ext cx="8217408" cy="0"/>
          </a:xfrm>
          <a:prstGeom prst="line">
            <a:avLst/>
          </a:prstGeom>
          <a:noFill/>
          <a:ln w="15875">
            <a:solidFill>
              <a:srgbClr val="AEB9CC"/>
            </a:solidFill>
            <a:prstDash val="sysDot"/>
          </a:ln>
        </p:spPr>
      </p:sp>
      <p:sp>
        <p:nvSpPr>
          <p:cNvPr id="11" name="Text 5"/>
          <p:cNvSpPr txBox="1"/>
          <p:nvPr/>
        </p:nvSpPr>
        <p:spPr>
          <a:xfrm>
            <a:off x="10736885" y="2464308"/>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11</a:t>
            </a:r>
            <a:endParaRPr lang="en-US" sz="1300" dirty="0"/>
          </a:p>
        </p:txBody>
      </p:sp>
      <p:sp>
        <p:nvSpPr>
          <p:cNvPr id="12" name="Text 2"/>
          <p:cNvSpPr txBox="1"/>
          <p:nvPr/>
        </p:nvSpPr>
        <p:spPr>
          <a:xfrm>
            <a:off x="859536" y="2871216"/>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2.3</a:t>
            </a:r>
            <a:endParaRPr lang="en-US" sz="1400" dirty="0"/>
          </a:p>
        </p:txBody>
      </p:sp>
      <p:sp>
        <p:nvSpPr>
          <p:cNvPr id="13" name="Text 3"/>
          <p:cNvSpPr txBox="1"/>
          <p:nvPr/>
        </p:nvSpPr>
        <p:spPr>
          <a:xfrm>
            <a:off x="1418234" y="2871216"/>
            <a:ext cx="14422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트랙 스코어 방식</a:t>
            </a:r>
            <a:endParaRPr lang="en-US" sz="1400" dirty="0"/>
          </a:p>
        </p:txBody>
      </p:sp>
      <p:sp>
        <p:nvSpPr>
          <p:cNvPr id="14" name="Shape 4"/>
          <p:cNvSpPr/>
          <p:nvPr/>
        </p:nvSpPr>
        <p:spPr>
          <a:xfrm>
            <a:off x="2969260" y="3127248"/>
            <a:ext cx="7637780" cy="0"/>
          </a:xfrm>
          <a:prstGeom prst="line">
            <a:avLst/>
          </a:prstGeom>
          <a:noFill/>
          <a:ln w="15875">
            <a:solidFill>
              <a:srgbClr val="AEB9CC"/>
            </a:solidFill>
            <a:prstDash val="sysDot"/>
          </a:ln>
        </p:spPr>
      </p:sp>
      <p:sp>
        <p:nvSpPr>
          <p:cNvPr id="15" name="Text 5"/>
          <p:cNvSpPr txBox="1"/>
          <p:nvPr/>
        </p:nvSpPr>
        <p:spPr>
          <a:xfrm>
            <a:off x="10736885" y="2871216"/>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12</a:t>
            </a:r>
            <a:endParaRPr lang="en-US" sz="1300" dirty="0"/>
          </a:p>
        </p:txBody>
      </p:sp>
      <p:sp>
        <p:nvSpPr>
          <p:cNvPr id="16" name="Text 2"/>
          <p:cNvSpPr txBox="1"/>
          <p:nvPr/>
        </p:nvSpPr>
        <p:spPr>
          <a:xfrm>
            <a:off x="859536" y="327812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2.4</a:t>
            </a:r>
            <a:endParaRPr lang="en-US" sz="1400" dirty="0"/>
          </a:p>
        </p:txBody>
      </p:sp>
      <p:sp>
        <p:nvSpPr>
          <p:cNvPr id="17" name="Text 3"/>
          <p:cNvSpPr txBox="1"/>
          <p:nvPr/>
        </p:nvSpPr>
        <p:spPr>
          <a:xfrm>
            <a:off x="1418234" y="3278124"/>
            <a:ext cx="288061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Assigned_Flag 에 따른 스코어 변화</a:t>
            </a:r>
            <a:endParaRPr lang="en-US" sz="1400" dirty="0"/>
          </a:p>
        </p:txBody>
      </p:sp>
      <p:sp>
        <p:nvSpPr>
          <p:cNvPr id="18" name="Shape 4"/>
          <p:cNvSpPr/>
          <p:nvPr/>
        </p:nvSpPr>
        <p:spPr>
          <a:xfrm>
            <a:off x="4407662" y="3534156"/>
            <a:ext cx="6199377" cy="0"/>
          </a:xfrm>
          <a:prstGeom prst="line">
            <a:avLst/>
          </a:prstGeom>
          <a:noFill/>
          <a:ln w="15875">
            <a:solidFill>
              <a:srgbClr val="AEB9CC"/>
            </a:solidFill>
            <a:prstDash val="sysDot"/>
          </a:ln>
        </p:spPr>
      </p:sp>
      <p:sp>
        <p:nvSpPr>
          <p:cNvPr id="19" name="Text 5"/>
          <p:cNvSpPr txBox="1"/>
          <p:nvPr/>
        </p:nvSpPr>
        <p:spPr>
          <a:xfrm>
            <a:off x="10736885" y="327812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13</a:t>
            </a:r>
            <a:endParaRPr lang="en-US" sz="1300" dirty="0"/>
          </a:p>
        </p:txBody>
      </p:sp>
      <p:sp>
        <p:nvSpPr>
          <p:cNvPr id="20"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트랙 관리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2.1 트랙 상태와 연관</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트랙은 임시로 시작해 확정, 메모리, 삭제 상태를 오갑니다. 상태를 바꾸는 근거는 스캔마다의 연관 결과 (Assigned_Flag) 입니다.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2 · 3-2 · 3-3</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TextBox 6"/>
          <p:cNvSpPr txBox="1"/>
          <p:nvPr/>
        </p:nvSpPr>
        <p:spPr>
          <a:xfrm>
            <a:off x="640080" y="2231136"/>
            <a:ext cx="566928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연관이란</a:t>
            </a:r>
          </a:p>
        </p:txBody>
      </p:sp>
      <p:pic>
        <p:nvPicPr>
          <p:cNvPr id="8" name="Picture 7" descr="fig_assoc.png"/>
          <p:cNvPicPr>
            <a:picLocks noChangeAspect="1"/>
          </p:cNvPicPr>
          <p:nvPr/>
        </p:nvPicPr>
        <p:blipFill>
          <a:blip r:embed="rId3"/>
          <a:stretch>
            <a:fillRect/>
          </a:stretch>
        </p:blipFill>
        <p:spPr>
          <a:xfrm>
            <a:off x="640080" y="2505456"/>
            <a:ext cx="5669280" cy="2331720"/>
          </a:xfrm>
          <a:prstGeom prst="rect">
            <a:avLst/>
          </a:prstGeom>
        </p:spPr>
      </p:pic>
      <p:sp>
        <p:nvSpPr>
          <p:cNvPr id="9" name="Rectangle 8"/>
          <p:cNvSpPr/>
          <p:nvPr/>
        </p:nvSpPr>
        <p:spPr>
          <a:xfrm>
            <a:off x="640080" y="4983480"/>
            <a:ext cx="5669280" cy="987552"/>
          </a:xfrm>
          <a:prstGeom prst="rect">
            <a:avLst/>
          </a:prstGeom>
          <a:solidFill>
            <a:srgbClr val="F7F9FC"/>
          </a:solidFill>
          <a:ln w="9525">
            <a:solidFill>
              <a:srgbClr val="D2D9E5"/>
            </a:solidFill>
          </a:ln>
        </p:spPr>
        <p:txBody>
          <a:bodyPr rtlCol="0" anchor="ctr"/>
          <a:lstStyle/>
          <a:p>
            <a:pPr algn="ctr"/>
          </a:p>
        </p:txBody>
      </p:sp>
      <p:sp>
        <p:nvSpPr>
          <p:cNvPr id="10" name="TextBox 9"/>
          <p:cNvSpPr txBox="1"/>
          <p:nvPr/>
        </p:nvSpPr>
        <p:spPr>
          <a:xfrm>
            <a:off x="804672" y="4983480"/>
            <a:ext cx="5394960" cy="987552"/>
          </a:xfrm>
          <a:prstGeom prst="rect">
            <a:avLst/>
          </a:prstGeom>
          <a:noFill/>
        </p:spPr>
        <p:txBody>
          <a:bodyPr wrap="square" lIns="0" tIns="0" rIns="0" bIns="0" anchor="ctr">
            <a:spAutoFit/>
          </a:bodyPr>
          <a:lstStyle/>
          <a:p>
            <a:pPr algn="l">
              <a:lnSpc>
                <a:spcPct val="135000"/>
              </a:lnSpc>
            </a:pPr>
            <a:r>
              <a:rPr sz="1050" b="1">
                <a:solidFill>
                  <a:srgbClr val="1B2740"/>
                </a:solidFill>
                <a:latin typeface="맑은 고딕"/>
                <a:ea typeface="맑은 고딕"/>
                <a:cs typeface="맑은 고딕"/>
              </a:rPr>
              <a:t>연관  </a:t>
            </a:r>
            <a:r>
              <a:rPr sz="1050" b="0">
                <a:solidFill>
                  <a:srgbClr val="1B2740"/>
                </a:solidFill>
                <a:latin typeface="맑은 고딕"/>
                <a:ea typeface="맑은 고딕"/>
                <a:cs typeface="맑은 고딕"/>
              </a:rPr>
              <a:t>이번 스캔 플롯 가운데 하나를 기존 트랙에 이어 붙이는 것</a:t>
            </a:r>
          </a:p>
          <a:p>
            <a:pPr algn="l">
              <a:lnSpc>
                <a:spcPct val="135000"/>
              </a:lnSpc>
            </a:pPr>
            <a:r>
              <a:rPr sz="1050" b="1">
                <a:solidFill>
                  <a:srgbClr val="1B2740"/>
                </a:solidFill>
                <a:latin typeface="맑은 고딕"/>
                <a:ea typeface="맑은 고딕"/>
                <a:cs typeface="맑은 고딕"/>
              </a:rPr>
              <a:t>Assigned_Flag  </a:t>
            </a:r>
            <a:r>
              <a:rPr sz="1050" b="0">
                <a:solidFill>
                  <a:srgbClr val="1B2740"/>
                </a:solidFill>
                <a:latin typeface="맑은 고딕"/>
                <a:ea typeface="맑은 고딕"/>
                <a:cs typeface="맑은 고딕"/>
              </a:rPr>
              <a:t>트랙마다 스캔마다 남기는 연관 결과. 1 성공, 0 실패</a:t>
            </a:r>
          </a:p>
          <a:p>
            <a:pPr algn="l">
              <a:lnSpc>
                <a:spcPct val="135000"/>
              </a:lnSpc>
            </a:pPr>
            <a:r>
              <a:rPr sz="1050" b="1">
                <a:solidFill>
                  <a:srgbClr val="2563EB"/>
                </a:solidFill>
                <a:latin typeface="맑은 고딕"/>
                <a:ea typeface="맑은 고딕"/>
                <a:cs typeface="맑은 고딕"/>
              </a:rPr>
              <a:t>이번 과제  </a:t>
            </a:r>
            <a:r>
              <a:rPr sz="1050" b="0">
                <a:solidFill>
                  <a:srgbClr val="1B2740"/>
                </a:solidFill>
                <a:latin typeface="맑은 고딕"/>
                <a:ea typeface="맑은 고딕"/>
                <a:cs typeface="맑은 고딕"/>
              </a:rPr>
              <a:t>연관은 다음 과제라 매 스캔 0 으로 둔다 (과제 조건)</a:t>
            </a:r>
          </a:p>
        </p:txBody>
      </p:sp>
      <p:sp>
        <p:nvSpPr>
          <p:cNvPr id="11" name="TextBox 10"/>
          <p:cNvSpPr txBox="1"/>
          <p:nvPr/>
        </p:nvSpPr>
        <p:spPr>
          <a:xfrm>
            <a:off x="6629400" y="2231136"/>
            <a:ext cx="4919472"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트랙 상태 네 가지</a:t>
            </a:r>
            <a:r>
              <a:rPr sz="950" b="0">
                <a:solidFill>
                  <a:srgbClr val="8794AC"/>
                </a:solidFill>
                <a:latin typeface="Consolas"/>
                <a:ea typeface="Consolas"/>
                <a:cs typeface="Consolas"/>
              </a:rPr>
              <a:t>    TrackState</a:t>
            </a:r>
          </a:p>
        </p:txBody>
      </p:sp>
      <p:sp>
        <p:nvSpPr>
          <p:cNvPr id="12" name="Rounded Rectangle 11"/>
          <p:cNvSpPr/>
          <p:nvPr/>
        </p:nvSpPr>
        <p:spPr>
          <a:xfrm>
            <a:off x="6629400" y="2542032"/>
            <a:ext cx="4919472" cy="786384"/>
          </a:xfrm>
          <a:prstGeom prst="roundRect">
            <a:avLst>
              <a:gd name="adj" fmla="val 9302"/>
            </a:avLst>
          </a:prstGeom>
          <a:solidFill>
            <a:srgbClr val="FFF1E6"/>
          </a:solidFill>
          <a:ln w="12700">
            <a:solidFill>
              <a:srgbClr val="EA580C"/>
            </a:solidFill>
          </a:ln>
        </p:spPr>
        <p:txBody>
          <a:bodyPr rtlCol="0" anchor="ctr"/>
          <a:lstStyle/>
          <a:p>
            <a:pPr algn="ctr"/>
          </a:p>
        </p:txBody>
      </p:sp>
      <p:sp>
        <p:nvSpPr>
          <p:cNvPr id="13" name="TextBox 12"/>
          <p:cNvSpPr txBox="1"/>
          <p:nvPr/>
        </p:nvSpPr>
        <p:spPr>
          <a:xfrm>
            <a:off x="6784848" y="2542032"/>
            <a:ext cx="1051560" cy="786384"/>
          </a:xfrm>
          <a:prstGeom prst="rect">
            <a:avLst/>
          </a:prstGeom>
          <a:noFill/>
        </p:spPr>
        <p:txBody>
          <a:bodyPr wrap="square" lIns="0" tIns="0" rIns="0" bIns="0" anchor="ctr">
            <a:spAutoFit/>
          </a:bodyPr>
          <a:lstStyle/>
          <a:p>
            <a:pPr algn="l"/>
            <a:r>
              <a:rPr sz="1200" b="1">
                <a:solidFill>
                  <a:srgbClr val="EA580C"/>
                </a:solidFill>
                <a:latin typeface="맑은 고딕"/>
                <a:ea typeface="맑은 고딕"/>
                <a:cs typeface="맑은 고딕"/>
              </a:rPr>
              <a:t>1  임시</a:t>
            </a:r>
          </a:p>
        </p:txBody>
      </p:sp>
      <p:sp>
        <p:nvSpPr>
          <p:cNvPr id="14" name="TextBox 13"/>
          <p:cNvSpPr txBox="1"/>
          <p:nvPr/>
        </p:nvSpPr>
        <p:spPr>
          <a:xfrm>
            <a:off x="7818120" y="2542032"/>
            <a:ext cx="3657600" cy="786384"/>
          </a:xfrm>
          <a:prstGeom prst="rect">
            <a:avLst/>
          </a:prstGeom>
          <a:noFill/>
        </p:spPr>
        <p:txBody>
          <a:bodyPr wrap="square" lIns="0" tIns="0" rIns="0" bIns="0" anchor="ctr">
            <a:spAutoFit/>
          </a:bodyPr>
          <a:lstStyle/>
          <a:p>
            <a:pPr algn="l">
              <a:lnSpc>
                <a:spcPct val="115000"/>
              </a:lnSpc>
            </a:pPr>
            <a:r>
              <a:rPr sz="1050" b="1">
                <a:solidFill>
                  <a:srgbClr val="1B2740"/>
                </a:solidFill>
                <a:latin typeface="맑은 고딕"/>
                <a:ea typeface="맑은 고딕"/>
                <a:cs typeface="맑은 고딕"/>
              </a:rPr>
              <a:t>막 만든 트랙. 표적인지 아직 확인하는 중</a:t>
            </a:r>
          </a:p>
          <a:p>
            <a:pPr algn="l">
              <a:lnSpc>
                <a:spcPct val="115000"/>
              </a:lnSpc>
            </a:pPr>
            <a:r>
              <a:rPr sz="1000" b="0">
                <a:solidFill>
                  <a:srgbClr val="4A5A7A"/>
                </a:solidFill>
                <a:latin typeface="맑은 고딕"/>
                <a:ea typeface="맑은 고딕"/>
                <a:cs typeface="맑은 고딕"/>
              </a:rPr>
              <a:t>클러터 두 개가 우연히 이어진 트랙일 수도 있다</a:t>
            </a:r>
          </a:p>
        </p:txBody>
      </p:sp>
      <p:sp>
        <p:nvSpPr>
          <p:cNvPr id="15" name="Rounded Rectangle 14"/>
          <p:cNvSpPr/>
          <p:nvPr/>
        </p:nvSpPr>
        <p:spPr>
          <a:xfrm>
            <a:off x="6629400" y="3456432"/>
            <a:ext cx="4919472" cy="786384"/>
          </a:xfrm>
          <a:prstGeom prst="roundRect">
            <a:avLst>
              <a:gd name="adj" fmla="val 9302"/>
            </a:avLst>
          </a:prstGeom>
          <a:solidFill>
            <a:srgbClr val="E8F7EE"/>
          </a:solidFill>
          <a:ln w="12700">
            <a:solidFill>
              <a:srgbClr val="16A34A"/>
            </a:solidFill>
          </a:ln>
        </p:spPr>
        <p:txBody>
          <a:bodyPr rtlCol="0" anchor="ctr"/>
          <a:lstStyle/>
          <a:p>
            <a:pPr algn="ctr"/>
          </a:p>
        </p:txBody>
      </p:sp>
      <p:sp>
        <p:nvSpPr>
          <p:cNvPr id="16" name="TextBox 15"/>
          <p:cNvSpPr txBox="1"/>
          <p:nvPr/>
        </p:nvSpPr>
        <p:spPr>
          <a:xfrm>
            <a:off x="6784848" y="3456432"/>
            <a:ext cx="1051560" cy="786384"/>
          </a:xfrm>
          <a:prstGeom prst="rect">
            <a:avLst/>
          </a:prstGeom>
          <a:noFill/>
        </p:spPr>
        <p:txBody>
          <a:bodyPr wrap="square" lIns="0" tIns="0" rIns="0" bIns="0" anchor="ctr">
            <a:spAutoFit/>
          </a:bodyPr>
          <a:lstStyle/>
          <a:p>
            <a:pPr algn="l"/>
            <a:r>
              <a:rPr sz="1200" b="1">
                <a:solidFill>
                  <a:srgbClr val="16A34A"/>
                </a:solidFill>
                <a:latin typeface="맑은 고딕"/>
                <a:ea typeface="맑은 고딕"/>
                <a:cs typeface="맑은 고딕"/>
              </a:rPr>
              <a:t>2  확정</a:t>
            </a:r>
          </a:p>
        </p:txBody>
      </p:sp>
      <p:sp>
        <p:nvSpPr>
          <p:cNvPr id="17" name="TextBox 16"/>
          <p:cNvSpPr txBox="1"/>
          <p:nvPr/>
        </p:nvSpPr>
        <p:spPr>
          <a:xfrm>
            <a:off x="7818120" y="3456432"/>
            <a:ext cx="3657600" cy="786384"/>
          </a:xfrm>
          <a:prstGeom prst="rect">
            <a:avLst/>
          </a:prstGeom>
          <a:noFill/>
        </p:spPr>
        <p:txBody>
          <a:bodyPr wrap="square" lIns="0" tIns="0" rIns="0" bIns="0" anchor="ctr">
            <a:spAutoFit/>
          </a:bodyPr>
          <a:lstStyle/>
          <a:p>
            <a:pPr algn="l">
              <a:lnSpc>
                <a:spcPct val="115000"/>
              </a:lnSpc>
            </a:pPr>
            <a:r>
              <a:rPr sz="1050" b="1">
                <a:solidFill>
                  <a:srgbClr val="1B2740"/>
                </a:solidFill>
                <a:latin typeface="맑은 고딕"/>
                <a:ea typeface="맑은 고딕"/>
                <a:cs typeface="맑은 고딕"/>
              </a:rPr>
              <a:t>연관이 이어져 표적으로 인정한 트랙</a:t>
            </a:r>
          </a:p>
          <a:p>
            <a:pPr algn="l">
              <a:lnSpc>
                <a:spcPct val="115000"/>
              </a:lnSpc>
            </a:pPr>
            <a:r>
              <a:rPr sz="1000" b="0">
                <a:solidFill>
                  <a:srgbClr val="4A5A7A"/>
                </a:solidFill>
                <a:latin typeface="맑은 고딕"/>
                <a:ea typeface="맑은 고딕"/>
                <a:cs typeface="맑은 고딕"/>
              </a:rPr>
              <a:t>보통 운용자에게 알리는 것은 확정 트랙</a:t>
            </a:r>
          </a:p>
        </p:txBody>
      </p:sp>
      <p:sp>
        <p:nvSpPr>
          <p:cNvPr id="18" name="Rounded Rectangle 17"/>
          <p:cNvSpPr/>
          <p:nvPr/>
        </p:nvSpPr>
        <p:spPr>
          <a:xfrm>
            <a:off x="6629400" y="4370831"/>
            <a:ext cx="4919472" cy="786384"/>
          </a:xfrm>
          <a:prstGeom prst="roundRect">
            <a:avLst>
              <a:gd name="adj" fmla="val 9302"/>
            </a:avLst>
          </a:prstGeom>
          <a:solidFill>
            <a:srgbClr val="F5EBFF"/>
          </a:solidFill>
          <a:ln w="12700">
            <a:solidFill>
              <a:srgbClr val="9333EA"/>
            </a:solidFill>
          </a:ln>
        </p:spPr>
        <p:txBody>
          <a:bodyPr rtlCol="0" anchor="ctr"/>
          <a:lstStyle/>
          <a:p>
            <a:pPr algn="ctr"/>
          </a:p>
        </p:txBody>
      </p:sp>
      <p:sp>
        <p:nvSpPr>
          <p:cNvPr id="19" name="TextBox 18"/>
          <p:cNvSpPr txBox="1"/>
          <p:nvPr/>
        </p:nvSpPr>
        <p:spPr>
          <a:xfrm>
            <a:off x="6784848" y="4370831"/>
            <a:ext cx="1051560" cy="786384"/>
          </a:xfrm>
          <a:prstGeom prst="rect">
            <a:avLst/>
          </a:prstGeom>
          <a:noFill/>
        </p:spPr>
        <p:txBody>
          <a:bodyPr wrap="square" lIns="0" tIns="0" rIns="0" bIns="0" anchor="ctr">
            <a:spAutoFit/>
          </a:bodyPr>
          <a:lstStyle/>
          <a:p>
            <a:pPr algn="l"/>
            <a:r>
              <a:rPr sz="1200" b="1">
                <a:solidFill>
                  <a:srgbClr val="9333EA"/>
                </a:solidFill>
                <a:latin typeface="맑은 고딕"/>
                <a:ea typeface="맑은 고딕"/>
                <a:cs typeface="맑은 고딕"/>
              </a:rPr>
              <a:t>3  메모리</a:t>
            </a:r>
          </a:p>
        </p:txBody>
      </p:sp>
      <p:sp>
        <p:nvSpPr>
          <p:cNvPr id="20" name="TextBox 19"/>
          <p:cNvSpPr txBox="1"/>
          <p:nvPr/>
        </p:nvSpPr>
        <p:spPr>
          <a:xfrm>
            <a:off x="7818120" y="4370831"/>
            <a:ext cx="3657600" cy="786384"/>
          </a:xfrm>
          <a:prstGeom prst="rect">
            <a:avLst/>
          </a:prstGeom>
          <a:noFill/>
        </p:spPr>
        <p:txBody>
          <a:bodyPr wrap="square" lIns="0" tIns="0" rIns="0" bIns="0" anchor="ctr">
            <a:spAutoFit/>
          </a:bodyPr>
          <a:lstStyle/>
          <a:p>
            <a:pPr algn="l">
              <a:lnSpc>
                <a:spcPct val="115000"/>
              </a:lnSpc>
            </a:pPr>
            <a:r>
              <a:rPr sz="1050" b="1">
                <a:solidFill>
                  <a:srgbClr val="1B2740"/>
                </a:solidFill>
                <a:latin typeface="맑은 고딕"/>
                <a:ea typeface="맑은 고딕"/>
                <a:cs typeface="맑은 고딕"/>
              </a:rPr>
              <a:t>확정 트랙이 이번 스캔에 플롯을 놓친 상태</a:t>
            </a:r>
          </a:p>
          <a:p>
            <a:pPr algn="l">
              <a:lnSpc>
                <a:spcPct val="115000"/>
              </a:lnSpc>
            </a:pPr>
            <a:r>
              <a:rPr sz="1000" b="0">
                <a:solidFill>
                  <a:srgbClr val="4A5A7A"/>
                </a:solidFill>
                <a:latin typeface="맑은 고딕"/>
                <a:ea typeface="맑은 고딕"/>
                <a:cs typeface="맑은 고딕"/>
              </a:rPr>
              <a:t>바로 지우지 않고 다시 잡히기를 기다린다</a:t>
            </a:r>
          </a:p>
        </p:txBody>
      </p:sp>
      <p:sp>
        <p:nvSpPr>
          <p:cNvPr id="21" name="Rounded Rectangle 20"/>
          <p:cNvSpPr/>
          <p:nvPr/>
        </p:nvSpPr>
        <p:spPr>
          <a:xfrm>
            <a:off x="6629400" y="5285231"/>
            <a:ext cx="4919472" cy="786384"/>
          </a:xfrm>
          <a:prstGeom prst="roundRect">
            <a:avLst>
              <a:gd name="adj" fmla="val 9302"/>
            </a:avLst>
          </a:prstGeom>
          <a:solidFill>
            <a:srgbClr val="F1F2F4"/>
          </a:solidFill>
          <a:ln w="12700">
            <a:solidFill>
              <a:srgbClr val="6B7280"/>
            </a:solidFill>
          </a:ln>
        </p:spPr>
        <p:txBody>
          <a:bodyPr rtlCol="0" anchor="ctr"/>
          <a:lstStyle/>
          <a:p>
            <a:pPr algn="ctr"/>
          </a:p>
        </p:txBody>
      </p:sp>
      <p:sp>
        <p:nvSpPr>
          <p:cNvPr id="22" name="TextBox 21"/>
          <p:cNvSpPr txBox="1"/>
          <p:nvPr/>
        </p:nvSpPr>
        <p:spPr>
          <a:xfrm>
            <a:off x="6784848" y="5285231"/>
            <a:ext cx="1051560" cy="786384"/>
          </a:xfrm>
          <a:prstGeom prst="rect">
            <a:avLst/>
          </a:prstGeom>
          <a:noFill/>
        </p:spPr>
        <p:txBody>
          <a:bodyPr wrap="square" lIns="0" tIns="0" rIns="0" bIns="0" anchor="ctr">
            <a:spAutoFit/>
          </a:bodyPr>
          <a:lstStyle/>
          <a:p>
            <a:pPr algn="l"/>
            <a:r>
              <a:rPr sz="1200" b="1">
                <a:solidFill>
                  <a:srgbClr val="6B7280"/>
                </a:solidFill>
                <a:latin typeface="맑은 고딕"/>
                <a:ea typeface="맑은 고딕"/>
                <a:cs typeface="맑은 고딕"/>
              </a:rPr>
              <a:t>4  삭제</a:t>
            </a:r>
          </a:p>
        </p:txBody>
      </p:sp>
      <p:sp>
        <p:nvSpPr>
          <p:cNvPr id="23" name="TextBox 22"/>
          <p:cNvSpPr txBox="1"/>
          <p:nvPr/>
        </p:nvSpPr>
        <p:spPr>
          <a:xfrm>
            <a:off x="7818120" y="5285231"/>
            <a:ext cx="3657600" cy="786384"/>
          </a:xfrm>
          <a:prstGeom prst="rect">
            <a:avLst/>
          </a:prstGeom>
          <a:noFill/>
        </p:spPr>
        <p:txBody>
          <a:bodyPr wrap="square" lIns="0" tIns="0" rIns="0" bIns="0" anchor="ctr">
            <a:spAutoFit/>
          </a:bodyPr>
          <a:lstStyle/>
          <a:p>
            <a:pPr algn="l">
              <a:lnSpc>
                <a:spcPct val="115000"/>
              </a:lnSpc>
            </a:pPr>
            <a:r>
              <a:rPr sz="1050" b="1">
                <a:solidFill>
                  <a:srgbClr val="1B2740"/>
                </a:solidFill>
                <a:latin typeface="맑은 고딕"/>
                <a:ea typeface="맑은 고딕"/>
                <a:cs typeface="맑은 고딕"/>
              </a:rPr>
              <a:t>더 쫓지 않기로 한 트랙</a:t>
            </a:r>
          </a:p>
          <a:p>
            <a:pPr algn="l">
              <a:lnSpc>
                <a:spcPct val="115000"/>
              </a:lnSpc>
            </a:pPr>
            <a:r>
              <a:rPr sz="1000" b="0">
                <a:solidFill>
                  <a:srgbClr val="4A5A7A"/>
                </a:solidFill>
                <a:latin typeface="맑은 고딕"/>
                <a:ea typeface="맑은 고딕"/>
                <a:cs typeface="맑은 고딕"/>
              </a:rPr>
              <a:t>다음 스캔을 시작할 때 트랙 표에서 지운다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트랙 관리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2.2 M/N 방식</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최근 N 번의 연관 결과 가운데 성공 횟수 M 으로 확정을, 연속 실패 횟수로 삭제를 정합니다.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2.1</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mn.png"/>
          <p:cNvPicPr>
            <a:picLocks noChangeAspect="1"/>
          </p:cNvPicPr>
          <p:nvPr/>
        </p:nvPicPr>
        <p:blipFill>
          <a:blip r:embed="rId3"/>
          <a:stretch>
            <a:fillRect/>
          </a:stretch>
        </p:blipFill>
        <p:spPr>
          <a:xfrm>
            <a:off x="640080" y="2240280"/>
            <a:ext cx="6263640" cy="2626688"/>
          </a:xfrm>
          <a:prstGeom prst="rect">
            <a:avLst/>
          </a:prstGeom>
        </p:spPr>
      </p:pic>
      <p:sp>
        <p:nvSpPr>
          <p:cNvPr id="8" name="Oval 7"/>
          <p:cNvSpPr/>
          <p:nvPr/>
        </p:nvSpPr>
        <p:spPr>
          <a:xfrm>
            <a:off x="7086600" y="237744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9" name="TextBox 8"/>
          <p:cNvSpPr txBox="1"/>
          <p:nvPr/>
        </p:nvSpPr>
        <p:spPr>
          <a:xfrm>
            <a:off x="7470648" y="2359152"/>
            <a:ext cx="407822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임시 트랙</a:t>
            </a:r>
          </a:p>
          <a:p>
            <a:pPr algn="l">
              <a:lnSpc>
                <a:spcPct val="105000"/>
              </a:lnSpc>
            </a:pPr>
            <a:r>
              <a:rPr sz="1100" b="0">
                <a:solidFill>
                  <a:srgbClr val="4A5A7A"/>
                </a:solidFill>
                <a:latin typeface="맑은 고딕"/>
                <a:ea typeface="맑은 고딕"/>
                <a:cs typeface="맑은 고딕"/>
              </a:rPr>
              <a:t>N 번 중 M 번 트랙 연관에 성공하면 확정</a:t>
            </a:r>
          </a:p>
          <a:p>
            <a:pPr algn="l">
              <a:lnSpc>
                <a:spcPct val="105000"/>
              </a:lnSpc>
            </a:pPr>
            <a:r>
              <a:rPr sz="1100" b="0">
                <a:solidFill>
                  <a:srgbClr val="4A5A7A"/>
                </a:solidFill>
                <a:latin typeface="맑은 고딕"/>
                <a:ea typeface="맑은 고딕"/>
                <a:cs typeface="맑은 고딕"/>
              </a:rPr>
              <a:t>M 번 연속 결합에 실패하면 삭제</a:t>
            </a:r>
          </a:p>
        </p:txBody>
      </p:sp>
      <p:sp>
        <p:nvSpPr>
          <p:cNvPr id="10" name="Oval 9"/>
          <p:cNvSpPr/>
          <p:nvPr/>
        </p:nvSpPr>
        <p:spPr>
          <a:xfrm>
            <a:off x="7086600" y="333756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1" name="TextBox 10"/>
          <p:cNvSpPr txBox="1"/>
          <p:nvPr/>
        </p:nvSpPr>
        <p:spPr>
          <a:xfrm>
            <a:off x="7470648" y="3319272"/>
            <a:ext cx="407822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확정 트랙</a:t>
            </a:r>
          </a:p>
          <a:p>
            <a:pPr algn="l">
              <a:lnSpc>
                <a:spcPct val="105000"/>
              </a:lnSpc>
            </a:pPr>
            <a:r>
              <a:rPr sz="1100" b="0">
                <a:solidFill>
                  <a:srgbClr val="4A5A7A"/>
                </a:solidFill>
                <a:latin typeface="맑은 고딕"/>
                <a:ea typeface="맑은 고딕"/>
                <a:cs typeface="맑은 고딕"/>
              </a:rPr>
              <a:t>트랙 연관에 실패하면 메모리 트랙으로 바꿈</a:t>
            </a:r>
          </a:p>
          <a:p>
            <a:pPr algn="l">
              <a:lnSpc>
                <a:spcPct val="105000"/>
              </a:lnSpc>
            </a:pPr>
            <a:r>
              <a:rPr sz="1100" b="0">
                <a:solidFill>
                  <a:srgbClr val="4A5A7A"/>
                </a:solidFill>
                <a:latin typeface="맑은 고딕"/>
                <a:ea typeface="맑은 고딕"/>
                <a:cs typeface="맑은 고딕"/>
              </a:rPr>
              <a:t>정한 시간 이상 메모리 상태면 삭제</a:t>
            </a:r>
          </a:p>
        </p:txBody>
      </p:sp>
      <p:sp>
        <p:nvSpPr>
          <p:cNvPr id="12" name="Oval 11"/>
          <p:cNvSpPr/>
          <p:nvPr/>
        </p:nvSpPr>
        <p:spPr>
          <a:xfrm>
            <a:off x="7086600" y="429768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3" name="TextBox 12"/>
          <p:cNvSpPr txBox="1"/>
          <p:nvPr/>
        </p:nvSpPr>
        <p:spPr>
          <a:xfrm>
            <a:off x="7470648" y="4279392"/>
            <a:ext cx="407822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특징</a:t>
            </a:r>
          </a:p>
          <a:p>
            <a:pPr algn="l">
              <a:lnSpc>
                <a:spcPct val="105000"/>
              </a:lnSpc>
            </a:pPr>
            <a:r>
              <a:rPr sz="1100" b="0">
                <a:solidFill>
                  <a:srgbClr val="4A5A7A"/>
                </a:solidFill>
                <a:latin typeface="맑은 고딕"/>
                <a:ea typeface="맑은 고딕"/>
                <a:cs typeface="맑은 고딕"/>
              </a:rPr>
              <a:t>성공 · 실패 횟수만 세면 되어 단순하다</a:t>
            </a:r>
          </a:p>
          <a:p>
            <a:pPr algn="l">
              <a:lnSpc>
                <a:spcPct val="105000"/>
              </a:lnSpc>
            </a:pPr>
            <a:r>
              <a:rPr sz="1100" b="0">
                <a:solidFill>
                  <a:srgbClr val="4A5A7A"/>
                </a:solidFill>
                <a:latin typeface="맑은 고딕"/>
                <a:ea typeface="맑은 고딕"/>
                <a:cs typeface="맑은 고딕"/>
              </a:rPr>
              <a:t>최근 N 번의 성공 · 실패 기록을 들고 있어야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트랙 관리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2.3 트랙 스코어 방식</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트랙마다 TrackScore 와 MemoryScore 를 두고, 점수가 문턱을 넘으면 상태 (TrackState) 를 바꿉니다.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2.2 · 3-2</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state.png"/>
          <p:cNvPicPr>
            <a:picLocks noChangeAspect="1"/>
          </p:cNvPicPr>
          <p:nvPr/>
        </p:nvPicPr>
        <p:blipFill>
          <a:blip r:embed="rId3"/>
          <a:stretch>
            <a:fillRect/>
          </a:stretch>
        </p:blipFill>
        <p:spPr>
          <a:xfrm>
            <a:off x="640080" y="2240280"/>
            <a:ext cx="6400800" cy="3063240"/>
          </a:xfrm>
          <a:prstGeom prst="rect">
            <a:avLst/>
          </a:prstGeom>
        </p:spPr>
      </p:pic>
      <p:sp>
        <p:nvSpPr>
          <p:cNvPr id="8" name="Oval 7"/>
          <p:cNvSpPr/>
          <p:nvPr/>
        </p:nvSpPr>
        <p:spPr>
          <a:xfrm>
            <a:off x="7269480" y="233172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9" name="TextBox 8"/>
          <p:cNvSpPr txBox="1"/>
          <p:nvPr/>
        </p:nvSpPr>
        <p:spPr>
          <a:xfrm>
            <a:off x="7653528" y="2313432"/>
            <a:ext cx="3895344" cy="438912"/>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TrackState (과제 값)</a:t>
            </a:r>
          </a:p>
          <a:p>
            <a:pPr algn="l">
              <a:lnSpc>
                <a:spcPct val="105000"/>
              </a:lnSpc>
            </a:pPr>
            <a:r>
              <a:rPr sz="1100" b="0">
                <a:solidFill>
                  <a:srgbClr val="4A5A7A"/>
                </a:solidFill>
                <a:latin typeface="맑은 고딕"/>
                <a:ea typeface="맑은 고딕"/>
                <a:cs typeface="맑은 고딕"/>
              </a:rPr>
              <a:t>1 임시,  2 확정,  3 메모리,  4 삭제</a:t>
            </a:r>
          </a:p>
        </p:txBody>
      </p:sp>
      <p:sp>
        <p:nvSpPr>
          <p:cNvPr id="10" name="Oval 9"/>
          <p:cNvSpPr/>
          <p:nvPr/>
        </p:nvSpPr>
        <p:spPr>
          <a:xfrm>
            <a:off x="7269480" y="301752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1" name="TextBox 10"/>
          <p:cNvSpPr txBox="1"/>
          <p:nvPr/>
        </p:nvSpPr>
        <p:spPr>
          <a:xfrm>
            <a:off x="7653528" y="2999232"/>
            <a:ext cx="389534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문턱 (과제 값)</a:t>
            </a:r>
          </a:p>
          <a:p>
            <a:pPr algn="l">
              <a:lnSpc>
                <a:spcPct val="105000"/>
              </a:lnSpc>
            </a:pPr>
            <a:r>
              <a:rPr sz="1100" b="0">
                <a:solidFill>
                  <a:srgbClr val="4A5A7A"/>
                </a:solidFill>
                <a:latin typeface="맑은 고딕"/>
                <a:ea typeface="맑은 고딕"/>
                <a:cs typeface="맑은 고딕"/>
              </a:rPr>
              <a:t>임시 트랙 확정 5,  임시 트랙 삭제 0</a:t>
            </a:r>
          </a:p>
          <a:p>
            <a:pPr algn="l">
              <a:lnSpc>
                <a:spcPct val="105000"/>
              </a:lnSpc>
            </a:pPr>
            <a:r>
              <a:rPr sz="1100" b="0">
                <a:solidFill>
                  <a:srgbClr val="4A5A7A"/>
                </a:solidFill>
                <a:latin typeface="맑은 고딕"/>
                <a:ea typeface="맑은 고딕"/>
                <a:cs typeface="맑은 고딕"/>
              </a:rPr>
              <a:t>메모리 트랙 삭제 5</a:t>
            </a:r>
          </a:p>
        </p:txBody>
      </p:sp>
      <p:sp>
        <p:nvSpPr>
          <p:cNvPr id="12" name="Oval 11"/>
          <p:cNvSpPr/>
          <p:nvPr/>
        </p:nvSpPr>
        <p:spPr>
          <a:xfrm>
            <a:off x="7269480" y="393192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3" name="TextBox 12"/>
          <p:cNvSpPr txBox="1"/>
          <p:nvPr/>
        </p:nvSpPr>
        <p:spPr>
          <a:xfrm>
            <a:off x="7653528" y="3913632"/>
            <a:ext cx="3895344" cy="438912"/>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메모리 트랙이 다시 연관되면</a:t>
            </a:r>
          </a:p>
          <a:p>
            <a:pPr algn="l">
              <a:lnSpc>
                <a:spcPct val="105000"/>
              </a:lnSpc>
            </a:pPr>
            <a:r>
              <a:rPr sz="1100" b="0">
                <a:solidFill>
                  <a:srgbClr val="4A5A7A"/>
                </a:solidFill>
                <a:latin typeface="맑은 고딕"/>
                <a:ea typeface="맑은 고딕"/>
                <a:cs typeface="맑은 고딕"/>
              </a:rPr>
              <a:t>바로 확정 트랙으로, MemoryScore = 0</a:t>
            </a:r>
          </a:p>
        </p:txBody>
      </p:sp>
      <p:sp>
        <p:nvSpPr>
          <p:cNvPr id="14" name="Oval 13"/>
          <p:cNvSpPr/>
          <p:nvPr/>
        </p:nvSpPr>
        <p:spPr>
          <a:xfrm>
            <a:off x="7269480" y="4617720"/>
            <a:ext cx="256032" cy="256032"/>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15" name="TextBox 14"/>
          <p:cNvSpPr txBox="1"/>
          <p:nvPr/>
        </p:nvSpPr>
        <p:spPr>
          <a:xfrm>
            <a:off x="7653528" y="4599432"/>
            <a:ext cx="3895344" cy="658368"/>
          </a:xfrm>
          <a:prstGeom prst="rect">
            <a:avLst/>
          </a:prstGeom>
          <a:noFill/>
        </p:spPr>
        <p:txBody>
          <a:bodyPr wrap="square" lIns="0" tIns="0" rIns="0" bIns="0" anchor="t">
            <a:spAutoFit/>
          </a:bodyPr>
          <a:lstStyle/>
          <a:p>
            <a:pPr algn="l">
              <a:lnSpc>
                <a:spcPct val="105000"/>
              </a:lnSpc>
            </a:pPr>
            <a:r>
              <a:rPr sz="1100" b="1">
                <a:solidFill>
                  <a:srgbClr val="1B2740"/>
                </a:solidFill>
                <a:latin typeface="맑은 고딕"/>
                <a:ea typeface="맑은 고딕"/>
                <a:cs typeface="맑은 고딕"/>
              </a:rPr>
              <a:t>과제에 없어 정한 값</a:t>
            </a:r>
          </a:p>
          <a:p>
            <a:pPr algn="l">
              <a:lnSpc>
                <a:spcPct val="105000"/>
              </a:lnSpc>
            </a:pPr>
            <a:r>
              <a:rPr sz="1100" b="0">
                <a:solidFill>
                  <a:srgbClr val="4A5A7A"/>
                </a:solidFill>
                <a:latin typeface="맑은 고딕"/>
                <a:ea typeface="맑은 고딕"/>
                <a:cs typeface="맑은 고딕"/>
              </a:rPr>
              <a:t>개시 직후 TrackScore 2 (두 플롯으로 만든 트랙)</a:t>
            </a:r>
          </a:p>
          <a:p>
            <a:pPr algn="l">
              <a:lnSpc>
                <a:spcPct val="105000"/>
              </a:lnSpc>
            </a:pPr>
            <a:r>
              <a:rPr sz="1100" b="0">
                <a:solidFill>
                  <a:srgbClr val="4A5A7A"/>
                </a:solidFill>
                <a:latin typeface="맑은 고딕"/>
                <a:ea typeface="맑은 고딕"/>
                <a:cs typeface="맑은 고딕"/>
              </a:rPr>
              <a:t>한 번에 올리고 내리는 양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트랙 관리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2.4 Assigned_Flag 에 따른 스코어 변화</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왼쪽은 연관 결과를 넣은 예, 오른쪽은 과제 조건 (매 스캔 0) 입니다. 맨 아래 계산 줄이 스캔마다 점수가 바뀐 과정입니다.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3-2 · 3-3</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score.png"/>
          <p:cNvPicPr>
            <a:picLocks noChangeAspect="1"/>
          </p:cNvPicPr>
          <p:nvPr/>
        </p:nvPicPr>
        <p:blipFill>
          <a:blip r:embed="rId3"/>
          <a:stretch>
            <a:fillRect/>
          </a:stretch>
        </p:blipFill>
        <p:spPr>
          <a:xfrm>
            <a:off x="640080" y="2212848"/>
            <a:ext cx="10908792" cy="380432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03. 구현</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쓰레드 · UDP 구조와 플롯 메시지를 보고, 송신 · 수신과 트랙 개시 · 관리 코드를 차례로 봅니다.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3.1</a:t>
            </a:r>
            <a:endParaRPr lang="en-US" sz="1400" dirty="0"/>
          </a:p>
        </p:txBody>
      </p:sp>
      <p:sp>
        <p:nvSpPr>
          <p:cNvPr id="5" name="Text 3"/>
          <p:cNvSpPr txBox="1"/>
          <p:nvPr/>
        </p:nvSpPr>
        <p:spPr>
          <a:xfrm>
            <a:off x="1418234" y="2057400"/>
            <a:ext cx="161823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쓰레드와 UDP 구조</a:t>
            </a:r>
            <a:endParaRPr lang="en-US" sz="1400" dirty="0"/>
          </a:p>
        </p:txBody>
      </p:sp>
      <p:sp>
        <p:nvSpPr>
          <p:cNvPr id="6" name="Shape 4"/>
          <p:cNvSpPr/>
          <p:nvPr/>
        </p:nvSpPr>
        <p:spPr>
          <a:xfrm>
            <a:off x="3145282" y="2313432"/>
            <a:ext cx="7461757"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15</a:t>
            </a:r>
            <a:endParaRPr lang="en-US" sz="1300" dirty="0"/>
          </a:p>
        </p:txBody>
      </p:sp>
      <p:sp>
        <p:nvSpPr>
          <p:cNvPr id="8" name="Text 2"/>
          <p:cNvSpPr txBox="1"/>
          <p:nvPr/>
        </p:nvSpPr>
        <p:spPr>
          <a:xfrm>
            <a:off x="859536" y="2464308"/>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3.2</a:t>
            </a:r>
            <a:endParaRPr lang="en-US" sz="1400" dirty="0"/>
          </a:p>
        </p:txBody>
      </p:sp>
      <p:sp>
        <p:nvSpPr>
          <p:cNvPr id="9" name="Text 3"/>
          <p:cNvSpPr txBox="1"/>
          <p:nvPr/>
        </p:nvSpPr>
        <p:spPr>
          <a:xfrm>
            <a:off x="1418234" y="2464308"/>
            <a:ext cx="2452116"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메시지 STRUCT_PlotMsg</a:t>
            </a:r>
            <a:endParaRPr lang="en-US" sz="1400" dirty="0"/>
          </a:p>
        </p:txBody>
      </p:sp>
      <p:sp>
        <p:nvSpPr>
          <p:cNvPr id="10" name="Shape 4"/>
          <p:cNvSpPr/>
          <p:nvPr/>
        </p:nvSpPr>
        <p:spPr>
          <a:xfrm>
            <a:off x="3979164" y="2720339"/>
            <a:ext cx="6627875" cy="0"/>
          </a:xfrm>
          <a:prstGeom prst="line">
            <a:avLst/>
          </a:prstGeom>
          <a:noFill/>
          <a:ln w="15875">
            <a:solidFill>
              <a:srgbClr val="AEB9CC"/>
            </a:solidFill>
            <a:prstDash val="sysDot"/>
          </a:ln>
        </p:spPr>
      </p:sp>
      <p:sp>
        <p:nvSpPr>
          <p:cNvPr id="11" name="Text 5"/>
          <p:cNvSpPr txBox="1"/>
          <p:nvPr/>
        </p:nvSpPr>
        <p:spPr>
          <a:xfrm>
            <a:off x="10736885" y="2464308"/>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16</a:t>
            </a:r>
            <a:endParaRPr lang="en-US" sz="1300" dirty="0"/>
          </a:p>
        </p:txBody>
      </p:sp>
      <p:sp>
        <p:nvSpPr>
          <p:cNvPr id="12" name="Text 2"/>
          <p:cNvSpPr txBox="1"/>
          <p:nvPr/>
        </p:nvSpPr>
        <p:spPr>
          <a:xfrm>
            <a:off x="859536" y="2871216"/>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3.3</a:t>
            </a:r>
            <a:endParaRPr lang="en-US" sz="1400" dirty="0"/>
          </a:p>
        </p:txBody>
      </p:sp>
      <p:sp>
        <p:nvSpPr>
          <p:cNvPr id="13" name="Text 3"/>
          <p:cNvSpPr txBox="1"/>
          <p:nvPr/>
        </p:nvSpPr>
        <p:spPr>
          <a:xfrm>
            <a:off x="1418234" y="2871216"/>
            <a:ext cx="3483356"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송신: 플롯 메시지 만들기 (f_Lnk_BuildMsg)</a:t>
            </a:r>
            <a:endParaRPr lang="en-US" sz="1400" dirty="0"/>
          </a:p>
        </p:txBody>
      </p:sp>
      <p:sp>
        <p:nvSpPr>
          <p:cNvPr id="14" name="Shape 4"/>
          <p:cNvSpPr/>
          <p:nvPr/>
        </p:nvSpPr>
        <p:spPr>
          <a:xfrm>
            <a:off x="5010404" y="3127248"/>
            <a:ext cx="5596635" cy="0"/>
          </a:xfrm>
          <a:prstGeom prst="line">
            <a:avLst/>
          </a:prstGeom>
          <a:noFill/>
          <a:ln w="15875">
            <a:solidFill>
              <a:srgbClr val="AEB9CC"/>
            </a:solidFill>
            <a:prstDash val="sysDot"/>
          </a:ln>
        </p:spPr>
      </p:sp>
      <p:sp>
        <p:nvSpPr>
          <p:cNvPr id="15" name="Text 5"/>
          <p:cNvSpPr txBox="1"/>
          <p:nvPr/>
        </p:nvSpPr>
        <p:spPr>
          <a:xfrm>
            <a:off x="10736885" y="2871216"/>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17</a:t>
            </a:r>
            <a:endParaRPr lang="en-US" sz="1300" dirty="0"/>
          </a:p>
        </p:txBody>
      </p:sp>
      <p:sp>
        <p:nvSpPr>
          <p:cNvPr id="16" name="Text 2"/>
          <p:cNvSpPr txBox="1"/>
          <p:nvPr/>
        </p:nvSpPr>
        <p:spPr>
          <a:xfrm>
            <a:off x="859536" y="327812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3.4</a:t>
            </a:r>
            <a:endParaRPr lang="en-US" sz="1400" dirty="0"/>
          </a:p>
        </p:txBody>
      </p:sp>
      <p:sp>
        <p:nvSpPr>
          <p:cNvPr id="17" name="Text 3"/>
          <p:cNvSpPr txBox="1"/>
          <p:nvPr/>
        </p:nvSpPr>
        <p:spPr>
          <a:xfrm>
            <a:off x="1418234" y="3278124"/>
            <a:ext cx="410207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수신: 좌표 변환과 측정 공분산 (f_Lnk_ProcessMsg)</a:t>
            </a:r>
            <a:endParaRPr lang="en-US" sz="1400" dirty="0"/>
          </a:p>
        </p:txBody>
      </p:sp>
      <p:sp>
        <p:nvSpPr>
          <p:cNvPr id="18" name="Shape 4"/>
          <p:cNvSpPr/>
          <p:nvPr/>
        </p:nvSpPr>
        <p:spPr>
          <a:xfrm>
            <a:off x="5629120" y="3534156"/>
            <a:ext cx="4977919" cy="0"/>
          </a:xfrm>
          <a:prstGeom prst="line">
            <a:avLst/>
          </a:prstGeom>
          <a:noFill/>
          <a:ln w="15875">
            <a:solidFill>
              <a:srgbClr val="AEB9CC"/>
            </a:solidFill>
            <a:prstDash val="sysDot"/>
          </a:ln>
        </p:spPr>
      </p:sp>
      <p:sp>
        <p:nvSpPr>
          <p:cNvPr id="19" name="Text 5"/>
          <p:cNvSpPr txBox="1"/>
          <p:nvPr/>
        </p:nvSpPr>
        <p:spPr>
          <a:xfrm>
            <a:off x="10736885" y="327812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18</a:t>
            </a:r>
            <a:endParaRPr lang="en-US" sz="1300" dirty="0"/>
          </a:p>
        </p:txBody>
      </p:sp>
      <p:sp>
        <p:nvSpPr>
          <p:cNvPr id="20" name="Text 2"/>
          <p:cNvSpPr txBox="1"/>
          <p:nvPr/>
        </p:nvSpPr>
        <p:spPr>
          <a:xfrm>
            <a:off x="859536" y="368503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3.5</a:t>
            </a:r>
            <a:endParaRPr lang="en-US" sz="1400" dirty="0"/>
          </a:p>
        </p:txBody>
      </p:sp>
      <p:sp>
        <p:nvSpPr>
          <p:cNvPr id="21" name="Text 3"/>
          <p:cNvSpPr txBox="1"/>
          <p:nvPr/>
        </p:nvSpPr>
        <p:spPr>
          <a:xfrm>
            <a:off x="1418234" y="3685032"/>
            <a:ext cx="3545197"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2 Point 개시: 쌍 고르기 (f_Trk_ProcessScan)</a:t>
            </a:r>
            <a:endParaRPr lang="en-US" sz="1400" dirty="0"/>
          </a:p>
        </p:txBody>
      </p:sp>
      <p:sp>
        <p:nvSpPr>
          <p:cNvPr id="22" name="Shape 4"/>
          <p:cNvSpPr/>
          <p:nvPr/>
        </p:nvSpPr>
        <p:spPr>
          <a:xfrm>
            <a:off x="5072245" y="3941064"/>
            <a:ext cx="5534794" cy="0"/>
          </a:xfrm>
          <a:prstGeom prst="line">
            <a:avLst/>
          </a:prstGeom>
          <a:noFill/>
          <a:ln w="15875">
            <a:solidFill>
              <a:srgbClr val="AEB9CC"/>
            </a:solidFill>
            <a:prstDash val="sysDot"/>
          </a:ln>
        </p:spPr>
      </p:sp>
      <p:sp>
        <p:nvSpPr>
          <p:cNvPr id="23" name="Text 5"/>
          <p:cNvSpPr txBox="1"/>
          <p:nvPr/>
        </p:nvSpPr>
        <p:spPr>
          <a:xfrm>
            <a:off x="10736885" y="368503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19</a:t>
            </a:r>
            <a:endParaRPr lang="en-US" sz="1300" dirty="0"/>
          </a:p>
        </p:txBody>
      </p:sp>
      <p:sp>
        <p:nvSpPr>
          <p:cNvPr id="24" name="Text 2"/>
          <p:cNvSpPr txBox="1"/>
          <p:nvPr/>
        </p:nvSpPr>
        <p:spPr>
          <a:xfrm>
            <a:off x="859536" y="4091939"/>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3.6</a:t>
            </a:r>
            <a:endParaRPr lang="en-US" sz="1400" dirty="0"/>
          </a:p>
        </p:txBody>
      </p:sp>
      <p:sp>
        <p:nvSpPr>
          <p:cNvPr id="25" name="Text 3"/>
          <p:cNvSpPr txBox="1"/>
          <p:nvPr/>
        </p:nvSpPr>
        <p:spPr>
          <a:xfrm>
            <a:off x="1418234" y="4091939"/>
            <a:ext cx="2874641"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2 Point 초기화 (f_Trk_TwoPointInit)</a:t>
            </a:r>
            <a:endParaRPr lang="en-US" sz="1400" dirty="0"/>
          </a:p>
        </p:txBody>
      </p:sp>
      <p:sp>
        <p:nvSpPr>
          <p:cNvPr id="26" name="Shape 4"/>
          <p:cNvSpPr/>
          <p:nvPr/>
        </p:nvSpPr>
        <p:spPr>
          <a:xfrm>
            <a:off x="4401689" y="4347972"/>
            <a:ext cx="6205350" cy="0"/>
          </a:xfrm>
          <a:prstGeom prst="line">
            <a:avLst/>
          </a:prstGeom>
          <a:noFill/>
          <a:ln w="15875">
            <a:solidFill>
              <a:srgbClr val="AEB9CC"/>
            </a:solidFill>
            <a:prstDash val="sysDot"/>
          </a:ln>
        </p:spPr>
      </p:sp>
      <p:sp>
        <p:nvSpPr>
          <p:cNvPr id="27" name="Text 5"/>
          <p:cNvSpPr txBox="1"/>
          <p:nvPr/>
        </p:nvSpPr>
        <p:spPr>
          <a:xfrm>
            <a:off x="10736885" y="4091939"/>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20</a:t>
            </a:r>
            <a:endParaRPr lang="en-US" sz="1300" dirty="0"/>
          </a:p>
        </p:txBody>
      </p:sp>
      <p:sp>
        <p:nvSpPr>
          <p:cNvPr id="28" name="Text 2"/>
          <p:cNvSpPr txBox="1"/>
          <p:nvPr/>
        </p:nvSpPr>
        <p:spPr>
          <a:xfrm>
            <a:off x="859536" y="4498848"/>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3.7</a:t>
            </a:r>
            <a:endParaRPr lang="en-US" sz="1400" dirty="0"/>
          </a:p>
        </p:txBody>
      </p:sp>
      <p:sp>
        <p:nvSpPr>
          <p:cNvPr id="29" name="Text 3"/>
          <p:cNvSpPr txBox="1"/>
          <p:nvPr/>
        </p:nvSpPr>
        <p:spPr>
          <a:xfrm>
            <a:off x="1418234" y="4498848"/>
            <a:ext cx="3059803"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트랙 스코어 로직 (f_Trk_UpdateState)</a:t>
            </a:r>
            <a:endParaRPr lang="en-US" sz="1400" dirty="0"/>
          </a:p>
        </p:txBody>
      </p:sp>
      <p:sp>
        <p:nvSpPr>
          <p:cNvPr id="30" name="Shape 4"/>
          <p:cNvSpPr/>
          <p:nvPr/>
        </p:nvSpPr>
        <p:spPr>
          <a:xfrm>
            <a:off x="4586851" y="4754880"/>
            <a:ext cx="6020188" cy="0"/>
          </a:xfrm>
          <a:prstGeom prst="line">
            <a:avLst/>
          </a:prstGeom>
          <a:noFill/>
          <a:ln w="15875">
            <a:solidFill>
              <a:srgbClr val="AEB9CC"/>
            </a:solidFill>
            <a:prstDash val="sysDot"/>
          </a:ln>
        </p:spPr>
      </p:sp>
      <p:sp>
        <p:nvSpPr>
          <p:cNvPr id="31" name="Text 5"/>
          <p:cNvSpPr txBox="1"/>
          <p:nvPr/>
        </p:nvSpPr>
        <p:spPr>
          <a:xfrm>
            <a:off x="10736885" y="4498848"/>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21</a:t>
            </a:r>
            <a:endParaRPr lang="en-US" sz="1300" dirty="0"/>
          </a:p>
        </p:txBody>
      </p:sp>
      <p:sp>
        <p:nvSpPr>
          <p:cNvPr id="32"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3.1 쓰레드와 UDP 구조</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4 의 측정 모의 결과를 신호처리가 보낸 플롯으로 보고, 송신 쓰레드가 스캔마다 UDP 로 보내면 수신 쓰레드가 받아 처리합니다.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3-3</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arch.png"/>
          <p:cNvPicPr>
            <a:picLocks noChangeAspect="1"/>
          </p:cNvPicPr>
          <p:nvPr/>
        </p:nvPicPr>
        <p:blipFill>
          <a:blip r:embed="rId3"/>
          <a:stretch>
            <a:fillRect/>
          </a:stretch>
        </p:blipFill>
        <p:spPr>
          <a:xfrm>
            <a:off x="640080" y="2212848"/>
            <a:ext cx="10908792" cy="2520939"/>
          </a:xfrm>
          <a:prstGeom prst="rect">
            <a:avLst/>
          </a:prstGeom>
        </p:spPr>
      </p:pic>
      <p:sp>
        <p:nvSpPr>
          <p:cNvPr id="8" name="TextBox 7"/>
          <p:cNvSpPr txBox="1"/>
          <p:nvPr/>
        </p:nvSpPr>
        <p:spPr>
          <a:xfrm>
            <a:off x="640080" y="4818888"/>
            <a:ext cx="10908792" cy="274320"/>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왜 TCP 가 아니라 UDP 인가</a:t>
            </a:r>
            <a:r>
              <a:rPr sz="950" b="0">
                <a:solidFill>
                  <a:srgbClr val="4A5A7A"/>
                </a:solidFill>
                <a:latin typeface="맑은 고딕"/>
                <a:ea typeface="맑은 고딕"/>
                <a:cs typeface="맑은 고딕"/>
              </a:rPr>
              <a:t>   과제는 UDP 또는 TCP/IP 중 하나를 고르게 함</a:t>
            </a:r>
          </a:p>
        </p:txBody>
      </p:sp>
      <p:graphicFrame>
        <p:nvGraphicFramePr>
          <p:cNvPr id="9" name="Table 8"/>
          <p:cNvGraphicFramePr>
            <a:graphicFrameLocks noGrp="1"/>
          </p:cNvGraphicFramePr>
          <p:nvPr/>
        </p:nvGraphicFramePr>
        <p:xfrm>
          <a:off x="640080" y="5120640"/>
          <a:ext cx="10908792" cy="1060704"/>
        </p:xfrm>
        <a:graphic>
          <a:graphicData uri="http://schemas.openxmlformats.org/drawingml/2006/table">
            <a:tbl>
              <a:tblPr firstRow="1" bandRow="1">
                <a:tableStyleId>{5C22544A-7EE6-4342-B048-85BDC9FD1C3A}</a:tableStyleId>
              </a:tblPr>
              <a:tblGrid>
                <a:gridCol w="1417320"/>
                <a:gridCol w="4937760"/>
                <a:gridCol w="4553712"/>
              </a:tblGrid>
              <a:tr h="265176">
                <a:tc>
                  <a:txBody>
                    <a:bodyPr/>
                    <a:lstStyle/>
                    <a:p>
                      <a:pPr algn="l"/>
                      <a:r>
                        <a:rPr sz="1000" b="1">
                          <a:solidFill>
                            <a:srgbClr val="FFFFFF"/>
                          </a:solidFill>
                          <a:latin typeface="맑은 고딕"/>
                          <a:ea typeface="맑은 고딕"/>
                          <a:cs typeface="맑은 고딕"/>
                        </a:rPr>
                        <a:t/>
                      </a:r>
                    </a:p>
                  </a:txBody>
                  <a:tcPr marL="54864" marR="54864" marT="18288" marB="18288" anchor="ctr">
                    <a:solidFill>
                      <a:srgbClr val="1B2740"/>
                    </a:solidFill>
                  </a:tcPr>
                </a:tc>
                <a:tc>
                  <a:txBody>
                    <a:bodyPr/>
                    <a:lstStyle/>
                    <a:p>
                      <a:pPr algn="l"/>
                      <a:r>
                        <a:rPr sz="1000" b="1">
                          <a:solidFill>
                            <a:srgbClr val="FFFFFF"/>
                          </a:solidFill>
                          <a:latin typeface="맑은 고딕"/>
                          <a:ea typeface="맑은 고딕"/>
                          <a:cs typeface="맑은 고딕"/>
                        </a:rPr>
                        <a:t>UDP  (이번 과제)</a:t>
                      </a:r>
                    </a:p>
                  </a:txBody>
                  <a:tcPr marL="54864" marR="54864" marT="18288" marB="18288" anchor="ctr">
                    <a:solidFill>
                      <a:srgbClr val="1B2740"/>
                    </a:solidFill>
                  </a:tcPr>
                </a:tc>
                <a:tc>
                  <a:txBody>
                    <a:bodyPr/>
                    <a:lstStyle/>
                    <a:p>
                      <a:pPr algn="l"/>
                      <a:r>
                        <a:rPr sz="1000" b="1">
                          <a:solidFill>
                            <a:srgbClr val="FFFFFF"/>
                          </a:solidFill>
                          <a:latin typeface="맑은 고딕"/>
                          <a:ea typeface="맑은 고딕"/>
                          <a:cs typeface="맑은 고딕"/>
                        </a:rPr>
                        <a:t>TCP</a:t>
                      </a:r>
                    </a:p>
                  </a:txBody>
                  <a:tcPr marL="54864" marR="54864" marT="18288" marB="18288" anchor="ctr">
                    <a:solidFill>
                      <a:srgbClr val="1B2740"/>
                    </a:solidFill>
                  </a:tcPr>
                </a:tc>
              </a:tr>
              <a:tr h="265176">
                <a:tc>
                  <a:txBody>
                    <a:bodyPr/>
                    <a:lstStyle/>
                    <a:p>
                      <a:pPr algn="l"/>
                      <a:r>
                        <a:rPr sz="1050" b="0">
                          <a:solidFill>
                            <a:srgbClr val="1B2740"/>
                          </a:solidFill>
                          <a:latin typeface="맑은 고딕"/>
                          <a:ea typeface="맑은 고딕"/>
                          <a:cs typeface="맑은 고딕"/>
                        </a:rPr>
                        <a:t>메시지 단위</a:t>
                      </a:r>
                    </a:p>
                  </a:txBody>
                  <a:tcPr marL="54864" marR="54864" marT="18288" marB="18288" anchor="ctr">
                    <a:solidFill>
                      <a:srgbClr val="FFFFFF"/>
                    </a:solidFill>
                  </a:tcPr>
                </a:tc>
                <a:tc>
                  <a:txBody>
                    <a:bodyPr/>
                    <a:lstStyle/>
                    <a:p>
                      <a:pPr algn="l"/>
                      <a:r>
                        <a:rPr sz="1050" b="0">
                          <a:solidFill>
                            <a:srgbClr val="1D4ED8"/>
                          </a:solidFill>
                          <a:latin typeface="맑은 고딕"/>
                          <a:ea typeface="맑은 고딕"/>
                          <a:cs typeface="맑은 고딕"/>
                        </a:rPr>
                        <a:t>보낸 메시지 1 개 = 받는 메시지 1 개 (스캔 1 개)</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바이트가 이어서 와서, 메시지를 직접 잘라야 함</a:t>
                      </a:r>
                    </a:p>
                  </a:txBody>
                  <a:tcPr marL="54864" marR="54864" marT="18288" marB="18288" anchor="ctr">
                    <a:solidFill>
                      <a:srgbClr val="FFFFFF"/>
                    </a:solidFill>
                  </a:tcPr>
                </a:tc>
              </a:tr>
              <a:tr h="265176">
                <a:tc>
                  <a:txBody>
                    <a:bodyPr/>
                    <a:lstStyle/>
                    <a:p>
                      <a:pPr algn="l"/>
                      <a:r>
                        <a:rPr sz="1050" b="0">
                          <a:solidFill>
                            <a:srgbClr val="1B2740"/>
                          </a:solidFill>
                          <a:latin typeface="맑은 고딕"/>
                          <a:ea typeface="맑은 고딕"/>
                          <a:cs typeface="맑은 고딕"/>
                        </a:rPr>
                        <a:t>지연</a:t>
                      </a:r>
                    </a:p>
                  </a:txBody>
                  <a:tcPr marL="54864" marR="54864" marT="18288" marB="18288" anchor="ctr">
                    <a:solidFill>
                      <a:srgbClr val="F7F9FC"/>
                    </a:solidFill>
                  </a:tcPr>
                </a:tc>
                <a:tc>
                  <a:txBody>
                    <a:bodyPr/>
                    <a:lstStyle/>
                    <a:p>
                      <a:pPr algn="l"/>
                      <a:r>
                        <a:rPr sz="1050" b="0">
                          <a:solidFill>
                            <a:srgbClr val="1D4ED8"/>
                          </a:solidFill>
                          <a:latin typeface="맑은 고딕"/>
                          <a:ea typeface="맑은 고딕"/>
                          <a:cs typeface="맑은 고딕"/>
                        </a:rPr>
                        <a:t>연결 · 재전송 없이 바로 전달</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하나가 늦으면 뒤 스캔도 함께 기다림</a:t>
                      </a:r>
                    </a:p>
                  </a:txBody>
                  <a:tcPr marL="54864" marR="54864" marT="18288" marB="18288" anchor="ctr">
                    <a:solidFill>
                      <a:srgbClr val="F7F9FC"/>
                    </a:solidFill>
                  </a:tcPr>
                </a:tc>
              </a:tr>
              <a:tr h="265176">
                <a:tc>
                  <a:txBody>
                    <a:bodyPr/>
                    <a:lstStyle/>
                    <a:p>
                      <a:pPr algn="l"/>
                      <a:r>
                        <a:rPr sz="1050" b="0">
                          <a:solidFill>
                            <a:srgbClr val="1B2740"/>
                          </a:solidFill>
                          <a:latin typeface="맑은 고딕"/>
                          <a:ea typeface="맑은 고딕"/>
                          <a:cs typeface="맑은 고딕"/>
                        </a:rPr>
                        <a:t>손실</a:t>
                      </a:r>
                    </a:p>
                  </a:txBody>
                  <a:tcPr marL="54864" marR="54864" marT="18288" marB="18288" anchor="ctr">
                    <a:solidFill>
                      <a:srgbClr val="FFFFFF"/>
                    </a:solidFill>
                  </a:tcPr>
                </a:tc>
                <a:tc>
                  <a:txBody>
                    <a:bodyPr/>
                    <a:lstStyle/>
                    <a:p>
                      <a:pPr algn="l"/>
                      <a:r>
                        <a:rPr sz="1050" b="0">
                          <a:solidFill>
                            <a:srgbClr val="1D4ED8"/>
                          </a:solidFill>
                          <a:latin typeface="맑은 고딕"/>
                          <a:ea typeface="맑은 고딕"/>
                          <a:cs typeface="맑은 고딕"/>
                        </a:rPr>
                        <a:t>생길 수 있음 -&gt; 스캔 번호로 확인 (600 / 600, 빠짐 0)</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없음 (잃으면 다시 보냄)</a:t>
                      </a:r>
                    </a:p>
                  </a:txBody>
                  <a:tcPr marL="54864" marR="54864"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3.2 플롯 메시지 STRUCT_PlotMsg</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참고 소스 코드의 Idd.h 는 STRUCT_PlotInfo 의 Y_Body 에서 끊겨 있어 나머지와 메시지 구조체를 이어 썼습니다.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3-3</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TargetSimCore/include/Idd.h</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TextBox 7"/>
          <p:cNvSpPr txBox="1"/>
          <p:nvPr/>
        </p:nvSpPr>
        <p:spPr>
          <a:xfrm>
            <a:off x="640080" y="2231136"/>
            <a:ext cx="521208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플롯 하나</a:t>
            </a:r>
            <a:r>
              <a:rPr sz="950" b="0">
                <a:solidFill>
                  <a:srgbClr val="8794AC"/>
                </a:solidFill>
                <a:latin typeface="Consolas"/>
                <a:ea typeface="Consolas"/>
                <a:cs typeface="Consolas"/>
              </a:rPr>
              <a:t>    STRUCT_PlotInfo</a:t>
            </a:r>
          </a:p>
        </p:txBody>
      </p:sp>
      <p:sp>
        <p:nvSpPr>
          <p:cNvPr id="9" name="Rectangle 8"/>
          <p:cNvSpPr/>
          <p:nvPr/>
        </p:nvSpPr>
        <p:spPr>
          <a:xfrm>
            <a:off x="640080" y="2487168"/>
            <a:ext cx="5257800" cy="3657092"/>
          </a:xfrm>
          <a:prstGeom prst="rect">
            <a:avLst/>
          </a:prstGeom>
          <a:solidFill>
            <a:srgbClr val="FFFFFF"/>
          </a:solidFill>
          <a:ln w="9525">
            <a:solidFill>
              <a:srgbClr val="D2D9E5"/>
            </a:solidFill>
          </a:ln>
        </p:spPr>
        <p:txBody>
          <a:bodyPr rtlCol="0" anchor="ctr"/>
          <a:lstStyle/>
          <a:p>
            <a:pPr algn="ctr"/>
          </a:p>
        </p:txBody>
      </p:sp>
      <p:sp>
        <p:nvSpPr>
          <p:cNvPr id="10" name="Rectangle 9"/>
          <p:cNvSpPr/>
          <p:nvPr/>
        </p:nvSpPr>
        <p:spPr>
          <a:xfrm>
            <a:off x="667512" y="3815791"/>
            <a:ext cx="5202936" cy="419100"/>
          </a:xfrm>
          <a:prstGeom prst="rect">
            <a:avLst/>
          </a:prstGeom>
          <a:solidFill>
            <a:srgbClr val="FDEEEE"/>
          </a:solidFill>
          <a:ln>
            <a:noFill/>
          </a:ln>
        </p:spPr>
        <p:txBody>
          <a:bodyPr rtlCol="0" anchor="ctr"/>
          <a:lstStyle/>
          <a:p>
            <a:pPr algn="ctr"/>
          </a:p>
        </p:txBody>
      </p:sp>
      <p:sp>
        <p:nvSpPr>
          <p:cNvPr id="11" name="Rectangle 10"/>
          <p:cNvSpPr/>
          <p:nvPr/>
        </p:nvSpPr>
        <p:spPr>
          <a:xfrm>
            <a:off x="667512" y="3815791"/>
            <a:ext cx="36576" cy="419100"/>
          </a:xfrm>
          <a:prstGeom prst="rect">
            <a:avLst/>
          </a:prstGeom>
          <a:solidFill>
            <a:srgbClr val="DC2626"/>
          </a:solidFill>
          <a:ln>
            <a:noFill/>
          </a:ln>
        </p:spPr>
        <p:txBody>
          <a:bodyPr rtlCol="0" anchor="ctr"/>
          <a:lstStyle/>
          <a:p>
            <a:pPr algn="ctr"/>
          </a:p>
        </p:txBody>
      </p:sp>
      <p:sp>
        <p:nvSpPr>
          <p:cNvPr id="12" name="Oval 11"/>
          <p:cNvSpPr/>
          <p:nvPr/>
        </p:nvSpPr>
        <p:spPr>
          <a:xfrm>
            <a:off x="5797296" y="3785057"/>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3" name="Rectangle 12"/>
          <p:cNvSpPr/>
          <p:nvPr/>
        </p:nvSpPr>
        <p:spPr>
          <a:xfrm>
            <a:off x="667512" y="5352491"/>
            <a:ext cx="5202936" cy="558800"/>
          </a:xfrm>
          <a:prstGeom prst="rect">
            <a:avLst/>
          </a:prstGeom>
          <a:solidFill>
            <a:srgbClr val="FEF3E2"/>
          </a:solidFill>
          <a:ln>
            <a:noFill/>
          </a:ln>
        </p:spPr>
        <p:txBody>
          <a:bodyPr rtlCol="0" anchor="ctr"/>
          <a:lstStyle/>
          <a:p>
            <a:pPr algn="ctr"/>
          </a:p>
        </p:txBody>
      </p:sp>
      <p:sp>
        <p:nvSpPr>
          <p:cNvPr id="14" name="Rectangle 13"/>
          <p:cNvSpPr/>
          <p:nvPr/>
        </p:nvSpPr>
        <p:spPr>
          <a:xfrm>
            <a:off x="667512" y="5352491"/>
            <a:ext cx="36576" cy="558800"/>
          </a:xfrm>
          <a:prstGeom prst="rect">
            <a:avLst/>
          </a:prstGeom>
          <a:solidFill>
            <a:srgbClr val="D97706"/>
          </a:solidFill>
          <a:ln>
            <a:noFill/>
          </a:ln>
        </p:spPr>
        <p:txBody>
          <a:bodyPr rtlCol="0" anchor="ctr"/>
          <a:lstStyle/>
          <a:p>
            <a:pPr algn="ctr"/>
          </a:p>
        </p:txBody>
      </p:sp>
      <p:sp>
        <p:nvSpPr>
          <p:cNvPr id="15" name="Oval 14"/>
          <p:cNvSpPr/>
          <p:nvPr/>
        </p:nvSpPr>
        <p:spPr>
          <a:xfrm>
            <a:off x="5797296" y="5321757"/>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6" name="TextBox 15"/>
          <p:cNvSpPr txBox="1"/>
          <p:nvPr/>
        </p:nvSpPr>
        <p:spPr>
          <a:xfrm>
            <a:off x="731519" y="2569464"/>
            <a:ext cx="5029200" cy="3492500"/>
          </a:xfrm>
          <a:prstGeom prst="rect">
            <a:avLst/>
          </a:prstGeom>
          <a:noFill/>
        </p:spPr>
        <p:txBody>
          <a:bodyPr wrap="none" lIns="0" tIns="0" rIns="0" bIns="0" anchor="t">
            <a:spAutoFit/>
          </a:bodyPr>
          <a:lstStyle/>
          <a:p>
            <a:pPr>
              <a:lnSpc>
                <a:spcPts val="1100"/>
              </a:lnSpc>
            </a:pPr>
            <a:r>
              <a:rPr sz="830" b="0">
                <a:solidFill>
                  <a:srgbClr val="AEB9CC"/>
                </a:solidFill>
                <a:latin typeface="Consolas"/>
                <a:ea typeface="Consolas"/>
                <a:cs typeface="Consolas"/>
              </a:rPr>
              <a:t>27  </a:t>
            </a:r>
            <a:r>
              <a:rPr sz="830" b="0">
                <a:solidFill>
                  <a:srgbClr val="2563EB"/>
                </a:solidFill>
                <a:latin typeface="Consolas"/>
                <a:ea typeface="Consolas"/>
                <a:cs typeface="Consolas"/>
              </a:rPr>
              <a:t>typedef</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STRUCT_PlotInfo</a:t>
            </a:r>
          </a:p>
          <a:p>
            <a:pPr>
              <a:lnSpc>
                <a:spcPts val="1100"/>
              </a:lnSpc>
            </a:pPr>
            <a:r>
              <a:rPr sz="830" b="0">
                <a:solidFill>
                  <a:srgbClr val="AEB9CC"/>
                </a:solidFill>
                <a:latin typeface="Consolas"/>
                <a:ea typeface="Consolas"/>
                <a:cs typeface="Consolas"/>
              </a:rPr>
              <a:t>28  </a:t>
            </a:r>
            <a:r>
              <a:rPr sz="830" b="0">
                <a:solidFill>
                  <a:srgbClr val="1B2740"/>
                </a:solidFill>
                <a:latin typeface="Consolas"/>
                <a:ea typeface="Consolas"/>
                <a:cs typeface="Consolas"/>
              </a:rPr>
              <a:t>{</a:t>
            </a:r>
          </a:p>
          <a:p>
            <a:pPr>
              <a:lnSpc>
                <a:spcPts val="1100"/>
              </a:lnSpc>
            </a:pPr>
            <a:r>
              <a:rPr sz="830" b="0">
                <a:solidFill>
                  <a:srgbClr val="AEB9CC"/>
                </a:solidFill>
                <a:latin typeface="Consolas"/>
                <a:ea typeface="Consolas"/>
                <a:cs typeface="Consolas"/>
              </a:rPr>
              <a:t>29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Id;  </a:t>
            </a:r>
            <a:r>
              <a:rPr sz="830" b="0">
                <a:solidFill>
                  <a:srgbClr val="059669"/>
                </a:solidFill>
                <a:latin typeface="맑은 고딕"/>
                <a:ea typeface="맑은 고딕"/>
                <a:cs typeface="맑은 고딕"/>
              </a:rPr>
              <a:t>// 플롯 ID</a:t>
            </a:r>
          </a:p>
          <a:p>
            <a:pPr>
              <a:lnSpc>
                <a:spcPts val="1100"/>
              </a:lnSpc>
            </a:pPr>
            <a:r>
              <a:rPr sz="830" b="0">
                <a:solidFill>
                  <a:srgbClr val="AEB9CC"/>
                </a:solidFill>
                <a:latin typeface="Consolas"/>
                <a:ea typeface="Consolas"/>
                <a:cs typeface="Consolas"/>
              </a:rPr>
              <a:t>30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EmittedDwellNum;  </a:t>
            </a:r>
            <a:r>
              <a:rPr sz="830" b="0">
                <a:solidFill>
                  <a:srgbClr val="059669"/>
                </a:solidFill>
                <a:latin typeface="맑은 고딕"/>
                <a:ea typeface="맑은 고딕"/>
                <a:cs typeface="맑은 고딕"/>
              </a:rPr>
              <a:t>// 드웰 번호</a:t>
            </a:r>
          </a:p>
          <a:p>
            <a:pPr>
              <a:lnSpc>
                <a:spcPts val="1100"/>
              </a:lnSpc>
            </a:pPr>
            <a:r>
              <a:rPr sz="830" b="0">
                <a:solidFill>
                  <a:srgbClr val="AEB9CC"/>
                </a:solidFill>
                <a:latin typeface="Consolas"/>
                <a:ea typeface="Consolas"/>
                <a:cs typeface="Consolas"/>
              </a:rPr>
              <a:t>31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EmittedScanNum;  </a:t>
            </a:r>
            <a:r>
              <a:rPr sz="830" b="0">
                <a:solidFill>
                  <a:srgbClr val="059669"/>
                </a:solidFill>
                <a:latin typeface="맑은 고딕"/>
                <a:ea typeface="맑은 고딕"/>
                <a:cs typeface="맑은 고딕"/>
              </a:rPr>
              <a:t>// 스캔 번호</a:t>
            </a:r>
          </a:p>
          <a:p>
            <a:pPr>
              <a:lnSpc>
                <a:spcPts val="1100"/>
              </a:lnSpc>
            </a:pPr>
            <a:r>
              <a:rPr sz="830" b="0">
                <a:solidFill>
                  <a:srgbClr val="AEB9CC"/>
                </a:solidFill>
                <a:latin typeface="Consolas"/>
                <a:ea typeface="Consolas"/>
                <a:cs typeface="Consolas"/>
              </a:rPr>
              <a:t>32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EmittedBeamNum;  </a:t>
            </a:r>
            <a:r>
              <a:rPr sz="830" b="0">
                <a:solidFill>
                  <a:srgbClr val="059669"/>
                </a:solidFill>
                <a:latin typeface="맑은 고딕"/>
                <a:ea typeface="맑은 고딕"/>
                <a:cs typeface="맑은 고딕"/>
              </a:rPr>
              <a:t>// 빔 번호</a:t>
            </a:r>
          </a:p>
          <a:p>
            <a:pPr>
              <a:lnSpc>
                <a:spcPts val="1100"/>
              </a:lnSpc>
            </a:pPr>
            <a:r>
              <a:rPr sz="830" b="0">
                <a:solidFill>
                  <a:srgbClr val="AEB9CC"/>
                </a:solidFill>
                <a:latin typeface="Consolas"/>
                <a:ea typeface="Consolas"/>
                <a:cs typeface="Consolas"/>
              </a:rPr>
              <a:t>33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EmittedTimeStamp_s;  </a:t>
            </a:r>
            <a:r>
              <a:rPr sz="830" b="0">
                <a:solidFill>
                  <a:srgbClr val="059669"/>
                </a:solidFill>
                <a:latin typeface="맑은 고딕"/>
                <a:ea typeface="맑은 고딕"/>
                <a:cs typeface="맑은 고딕"/>
              </a:rPr>
              <a:t>// 탐지 시각 (초)</a:t>
            </a:r>
          </a:p>
          <a:p>
            <a:pPr>
              <a:lnSpc>
                <a:spcPts val="1100"/>
              </a:lnSpc>
            </a:pPr>
            <a:r>
              <a:rPr sz="830" b="0">
                <a:solidFill>
                  <a:srgbClr val="AEB9CC"/>
                </a:solidFill>
                <a:latin typeface="Consolas"/>
                <a:ea typeface="Consolas"/>
                <a:cs typeface="Consolas"/>
              </a:rPr>
              <a:t>34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EmittedTimeStamp_ns;  </a:t>
            </a:r>
            <a:r>
              <a:rPr sz="830" b="0">
                <a:solidFill>
                  <a:srgbClr val="059669"/>
                </a:solidFill>
                <a:latin typeface="맑은 고딕"/>
                <a:ea typeface="맑은 고딕"/>
                <a:cs typeface="맑은 고딕"/>
              </a:rPr>
              <a:t>// 탐지 시각 (나노초)</a:t>
            </a:r>
          </a:p>
          <a:p>
            <a:pPr>
              <a:lnSpc>
                <a:spcPts val="1100"/>
              </a:lnSpc>
            </a:pPr>
            <a:r>
              <a:rPr sz="830" b="0">
                <a:solidFill>
                  <a:srgbClr val="AEB9CC"/>
                </a:solidFill>
                <a:latin typeface="Consolas"/>
                <a:ea typeface="Consolas"/>
                <a:cs typeface="Consolas"/>
              </a:rPr>
              <a:t>35  </a:t>
            </a:r>
            <a:r>
              <a:rPr sz="830" b="0">
                <a:solidFill>
                  <a:srgbClr val="1B2740"/>
                </a:solidFill>
                <a:latin typeface="Consolas"/>
                <a:ea typeface="Consolas"/>
                <a:cs typeface="Consolas"/>
              </a:rPr>
              <a:t>  </a:t>
            </a:r>
            <a:r>
              <a:rPr sz="830" b="0">
                <a:solidFill>
                  <a:srgbClr val="2563EB"/>
                </a:solidFill>
                <a:latin typeface="Consolas"/>
                <a:ea typeface="Consolas"/>
                <a:cs typeface="Consolas"/>
              </a:rPr>
              <a:t>UCHAR8</a:t>
            </a:r>
            <a:r>
              <a:rPr sz="830" b="0">
                <a:solidFill>
                  <a:srgbClr val="1B2740"/>
                </a:solidFill>
                <a:latin typeface="Consolas"/>
                <a:ea typeface="Consolas"/>
                <a:cs typeface="Consolas"/>
              </a:rPr>
              <a:t>  BeamType;  </a:t>
            </a:r>
            <a:r>
              <a:rPr sz="830" b="0">
                <a:solidFill>
                  <a:srgbClr val="059669"/>
                </a:solidFill>
                <a:latin typeface="맑은 고딕"/>
                <a:ea typeface="맑은 고딕"/>
                <a:cs typeface="맑은 고딕"/>
              </a:rPr>
              <a:t>// 빔 종류</a:t>
            </a:r>
          </a:p>
          <a:p>
            <a:pPr>
              <a:lnSpc>
                <a:spcPts val="1100"/>
              </a:lnSpc>
            </a:pPr>
            <a:r>
              <a:rPr sz="830" b="0">
                <a:solidFill>
                  <a:srgbClr val="AEB9CC"/>
                </a:solidFill>
                <a:latin typeface="Consolas"/>
                <a:ea typeface="Consolas"/>
                <a:cs typeface="Consolas"/>
              </a:rPr>
              <a:t>36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Range_Ant;  </a:t>
            </a:r>
            <a:r>
              <a:rPr sz="830" b="0">
                <a:solidFill>
                  <a:srgbClr val="059669"/>
                </a:solidFill>
                <a:latin typeface="맑은 고딕"/>
                <a:ea typeface="맑은 고딕"/>
                <a:cs typeface="맑은 고딕"/>
              </a:rPr>
              <a:t>// 안테나 기준 거리 [m]</a:t>
            </a:r>
          </a:p>
          <a:p>
            <a:pPr>
              <a:lnSpc>
                <a:spcPts val="1100"/>
              </a:lnSpc>
            </a:pPr>
            <a:r>
              <a:rPr sz="830" b="0">
                <a:solidFill>
                  <a:srgbClr val="AEB9CC"/>
                </a:solidFill>
                <a:latin typeface="Consolas"/>
                <a:ea typeface="Consolas"/>
                <a:cs typeface="Consolas"/>
              </a:rPr>
              <a:t>37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Azimuth_Ant;  </a:t>
            </a:r>
            <a:r>
              <a:rPr sz="830" b="0">
                <a:solidFill>
                  <a:srgbClr val="059669"/>
                </a:solidFill>
                <a:latin typeface="맑은 고딕"/>
                <a:ea typeface="맑은 고딕"/>
                <a:cs typeface="맑은 고딕"/>
              </a:rPr>
              <a:t>// 안테나 기준 방위각 [rad]</a:t>
            </a:r>
          </a:p>
          <a:p>
            <a:pPr>
              <a:lnSpc>
                <a:spcPts val="1100"/>
              </a:lnSpc>
            </a:pPr>
            <a:r>
              <a:rPr sz="830" b="0">
                <a:solidFill>
                  <a:srgbClr val="AEB9CC"/>
                </a:solidFill>
                <a:latin typeface="Consolas"/>
                <a:ea typeface="Consolas"/>
                <a:cs typeface="Consolas"/>
              </a:rPr>
              <a:t>38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Elevation_Ant;  </a:t>
            </a:r>
            <a:r>
              <a:rPr sz="830" b="0">
                <a:solidFill>
                  <a:srgbClr val="059669"/>
                </a:solidFill>
                <a:latin typeface="맑은 고딕"/>
                <a:ea typeface="맑은 고딕"/>
                <a:cs typeface="맑은 고딕"/>
              </a:rPr>
              <a:t>// 안테나 기준 고각 [rad]</a:t>
            </a:r>
          </a:p>
          <a:p>
            <a:pPr>
              <a:lnSpc>
                <a:spcPts val="1100"/>
              </a:lnSpc>
            </a:pPr>
            <a:r>
              <a:rPr sz="830" b="0">
                <a:solidFill>
                  <a:srgbClr val="AEB9CC"/>
                </a:solidFill>
                <a:latin typeface="Consolas"/>
                <a:ea typeface="Consolas"/>
                <a:cs typeface="Consolas"/>
              </a:rPr>
              <a:t>39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Range_VcNed;  </a:t>
            </a:r>
            <a:r>
              <a:rPr sz="830" b="0">
                <a:solidFill>
                  <a:srgbClr val="059669"/>
                </a:solidFill>
                <a:latin typeface="맑은 고딕"/>
                <a:ea typeface="맑은 고딕"/>
                <a:cs typeface="맑은 고딕"/>
              </a:rPr>
              <a:t>// VC-NED 기준 거리</a:t>
            </a:r>
          </a:p>
          <a:p>
            <a:pPr>
              <a:lnSpc>
                <a:spcPts val="1100"/>
              </a:lnSpc>
            </a:pPr>
            <a:r>
              <a:rPr sz="830" b="0">
                <a:solidFill>
                  <a:srgbClr val="AEB9CC"/>
                </a:solidFill>
                <a:latin typeface="Consolas"/>
                <a:ea typeface="Consolas"/>
                <a:cs typeface="Consolas"/>
              </a:rPr>
              <a:t>40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Azimuth_VcNed;  </a:t>
            </a:r>
            <a:r>
              <a:rPr sz="830" b="0">
                <a:solidFill>
                  <a:srgbClr val="059669"/>
                </a:solidFill>
                <a:latin typeface="맑은 고딕"/>
                <a:ea typeface="맑은 고딕"/>
                <a:cs typeface="맑은 고딕"/>
              </a:rPr>
              <a:t>// VC-NED 기준 방위각</a:t>
            </a:r>
          </a:p>
          <a:p>
            <a:pPr>
              <a:lnSpc>
                <a:spcPts val="1100"/>
              </a:lnSpc>
            </a:pPr>
            <a:r>
              <a:rPr sz="830" b="0">
                <a:solidFill>
                  <a:srgbClr val="AEB9CC"/>
                </a:solidFill>
                <a:latin typeface="Consolas"/>
                <a:ea typeface="Consolas"/>
                <a:cs typeface="Consolas"/>
              </a:rPr>
              <a:t>41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Elevation_VcNed;  </a:t>
            </a:r>
            <a:r>
              <a:rPr sz="830" b="0">
                <a:solidFill>
                  <a:srgbClr val="059669"/>
                </a:solidFill>
                <a:latin typeface="맑은 고딕"/>
                <a:ea typeface="맑은 고딕"/>
                <a:cs typeface="맑은 고딕"/>
              </a:rPr>
              <a:t>// VC-NED 기준 고각</a:t>
            </a:r>
          </a:p>
          <a:p>
            <a:pPr>
              <a:lnSpc>
                <a:spcPts val="1100"/>
              </a:lnSpc>
            </a:pPr>
            <a:r>
              <a:rPr sz="830" b="0">
                <a:solidFill>
                  <a:srgbClr val="AEB9CC"/>
                </a:solidFill>
                <a:latin typeface="Consolas"/>
                <a:ea typeface="Consolas"/>
                <a:cs typeface="Consolas"/>
              </a:rPr>
              <a:t>42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X_Ant;  </a:t>
            </a:r>
            <a:r>
              <a:rPr sz="830" b="0">
                <a:solidFill>
                  <a:srgbClr val="059669"/>
                </a:solidFill>
                <a:latin typeface="맑은 고딕"/>
                <a:ea typeface="맑은 고딕"/>
                <a:cs typeface="맑은 고딕"/>
              </a:rPr>
              <a:t>// 안테나 직교 x [m]</a:t>
            </a:r>
          </a:p>
          <a:p>
            <a:pPr>
              <a:lnSpc>
                <a:spcPts val="1100"/>
              </a:lnSpc>
            </a:pPr>
            <a:r>
              <a:rPr sz="830" b="0">
                <a:solidFill>
                  <a:srgbClr val="AEB9CC"/>
                </a:solidFill>
                <a:latin typeface="Consolas"/>
                <a:ea typeface="Consolas"/>
                <a:cs typeface="Consolas"/>
              </a:rPr>
              <a:t>43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Y_Ant;  </a:t>
            </a:r>
            <a:r>
              <a:rPr sz="830" b="0">
                <a:solidFill>
                  <a:srgbClr val="059669"/>
                </a:solidFill>
                <a:latin typeface="맑은 고딕"/>
                <a:ea typeface="맑은 고딕"/>
                <a:cs typeface="맑은 고딕"/>
              </a:rPr>
              <a:t>// 안테나 직교 y</a:t>
            </a:r>
          </a:p>
          <a:p>
            <a:pPr>
              <a:lnSpc>
                <a:spcPts val="1100"/>
              </a:lnSpc>
            </a:pPr>
            <a:r>
              <a:rPr sz="830" b="0">
                <a:solidFill>
                  <a:srgbClr val="AEB9CC"/>
                </a:solidFill>
                <a:latin typeface="Consolas"/>
                <a:ea typeface="Consolas"/>
                <a:cs typeface="Consolas"/>
              </a:rPr>
              <a:t>44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Z_Ant;  </a:t>
            </a:r>
            <a:r>
              <a:rPr sz="830" b="0">
                <a:solidFill>
                  <a:srgbClr val="059669"/>
                </a:solidFill>
                <a:latin typeface="맑은 고딕"/>
                <a:ea typeface="맑은 고딕"/>
                <a:cs typeface="맑은 고딕"/>
              </a:rPr>
              <a:t>// 안테나 직교 z</a:t>
            </a:r>
          </a:p>
          <a:p>
            <a:pPr>
              <a:lnSpc>
                <a:spcPts val="1100"/>
              </a:lnSpc>
            </a:pPr>
            <a:r>
              <a:rPr sz="830" b="0">
                <a:solidFill>
                  <a:srgbClr val="AEB9CC"/>
                </a:solidFill>
                <a:latin typeface="Consolas"/>
                <a:ea typeface="Consolas"/>
                <a:cs typeface="Consolas"/>
              </a:rPr>
              <a:t>45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X_Body;  </a:t>
            </a:r>
            <a:r>
              <a:rPr sz="830" b="0">
                <a:solidFill>
                  <a:srgbClr val="059669"/>
                </a:solidFill>
                <a:latin typeface="맑은 고딕"/>
                <a:ea typeface="맑은 고딕"/>
                <a:cs typeface="맑은 고딕"/>
              </a:rPr>
              <a:t>// 동체 직교 x [m]</a:t>
            </a:r>
          </a:p>
          <a:p>
            <a:pPr>
              <a:lnSpc>
                <a:spcPts val="1100"/>
              </a:lnSpc>
            </a:pPr>
            <a:r>
              <a:rPr sz="830" b="0">
                <a:solidFill>
                  <a:srgbClr val="AEB9CC"/>
                </a:solidFill>
                <a:latin typeface="Consolas"/>
                <a:ea typeface="Consolas"/>
                <a:cs typeface="Consolas"/>
              </a:rPr>
              <a:t>46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Y_Body;  </a:t>
            </a:r>
            <a:r>
              <a:rPr sz="830" b="0">
                <a:solidFill>
                  <a:srgbClr val="059669"/>
                </a:solidFill>
                <a:latin typeface="맑은 고딕"/>
                <a:ea typeface="맑은 고딕"/>
                <a:cs typeface="맑은 고딕"/>
              </a:rPr>
              <a:t>// 동체 직교 y</a:t>
            </a:r>
          </a:p>
          <a:p>
            <a:pPr>
              <a:lnSpc>
                <a:spcPts val="1100"/>
              </a:lnSpc>
            </a:pPr>
            <a:r>
              <a:rPr sz="830" b="0">
                <a:solidFill>
                  <a:srgbClr val="AEB9CC"/>
                </a:solidFill>
                <a:latin typeface="Consolas"/>
                <a:ea typeface="Consolas"/>
                <a:cs typeface="Consolas"/>
              </a:rPr>
              <a:t>47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Z_Body;  </a:t>
            </a:r>
            <a:r>
              <a:rPr sz="830" b="0">
                <a:solidFill>
                  <a:srgbClr val="059669"/>
                </a:solidFill>
                <a:latin typeface="맑은 고딕"/>
                <a:ea typeface="맑은 고딕"/>
                <a:cs typeface="맑은 고딕"/>
              </a:rPr>
              <a:t>// 동체 직교 z</a:t>
            </a:r>
          </a:p>
          <a:p>
            <a:pPr>
              <a:lnSpc>
                <a:spcPts val="1100"/>
              </a:lnSpc>
            </a:pPr>
            <a:r>
              <a:rPr sz="830" b="0">
                <a:solidFill>
                  <a:srgbClr val="AEB9CC"/>
                </a:solidFill>
                <a:latin typeface="Consolas"/>
                <a:ea typeface="Consolas"/>
                <a:cs typeface="Consolas"/>
              </a:rPr>
              <a:t>48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X_VcNed;  </a:t>
            </a:r>
            <a:r>
              <a:rPr sz="830" b="0">
                <a:solidFill>
                  <a:srgbClr val="059669"/>
                </a:solidFill>
                <a:latin typeface="맑은 고딕"/>
                <a:ea typeface="맑은 고딕"/>
                <a:cs typeface="맑은 고딕"/>
              </a:rPr>
              <a:t>// VC-NED 북 [m]</a:t>
            </a:r>
          </a:p>
          <a:p>
            <a:pPr>
              <a:lnSpc>
                <a:spcPts val="1100"/>
              </a:lnSpc>
            </a:pPr>
            <a:r>
              <a:rPr sz="830" b="0">
                <a:solidFill>
                  <a:srgbClr val="AEB9CC"/>
                </a:solidFill>
                <a:latin typeface="Consolas"/>
                <a:ea typeface="Consolas"/>
                <a:cs typeface="Consolas"/>
              </a:rPr>
              <a:t>49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Y_VcNed;  </a:t>
            </a:r>
            <a:r>
              <a:rPr sz="830" b="0">
                <a:solidFill>
                  <a:srgbClr val="059669"/>
                </a:solidFill>
                <a:latin typeface="맑은 고딕"/>
                <a:ea typeface="맑은 고딕"/>
                <a:cs typeface="맑은 고딕"/>
              </a:rPr>
              <a:t>// VC-NED 동</a:t>
            </a:r>
          </a:p>
          <a:p>
            <a:pPr>
              <a:lnSpc>
                <a:spcPts val="1100"/>
              </a:lnSpc>
            </a:pPr>
            <a:r>
              <a:rPr sz="830" b="0">
                <a:solidFill>
                  <a:srgbClr val="AEB9CC"/>
                </a:solidFill>
                <a:latin typeface="Consolas"/>
                <a:ea typeface="Consolas"/>
                <a:cs typeface="Consolas"/>
              </a:rPr>
              <a:t>50  </a:t>
            </a:r>
            <a:r>
              <a:rPr sz="830" b="0">
                <a:solidFill>
                  <a:srgbClr val="1B2740"/>
                </a:solidFill>
                <a:latin typeface="Consolas"/>
                <a:ea typeface="Consolas"/>
                <a:cs typeface="Consolas"/>
              </a:rPr>
              <a:t>  </a:t>
            </a:r>
            <a:r>
              <a:rPr sz="830" b="0">
                <a:solidFill>
                  <a:srgbClr val="2563EB"/>
                </a:solidFill>
                <a:latin typeface="Consolas"/>
                <a:ea typeface="Consolas"/>
                <a:cs typeface="Consolas"/>
              </a:rPr>
              <a:t>DOUBLE64</a:t>
            </a:r>
            <a:r>
              <a:rPr sz="830" b="0">
                <a:solidFill>
                  <a:srgbClr val="1B2740"/>
                </a:solidFill>
                <a:latin typeface="Consolas"/>
                <a:ea typeface="Consolas"/>
                <a:cs typeface="Consolas"/>
              </a:rPr>
              <a:t>  Z_VcNed;  </a:t>
            </a:r>
            <a:r>
              <a:rPr sz="830" b="0">
                <a:solidFill>
                  <a:srgbClr val="059669"/>
                </a:solidFill>
                <a:latin typeface="맑은 고딕"/>
                <a:ea typeface="맑은 고딕"/>
                <a:cs typeface="맑은 고딕"/>
              </a:rPr>
              <a:t>// VC-NED 아래</a:t>
            </a:r>
          </a:p>
          <a:p>
            <a:pPr>
              <a:lnSpc>
                <a:spcPts val="1100"/>
              </a:lnSpc>
            </a:pPr>
            <a:r>
              <a:rPr sz="830" b="0">
                <a:solidFill>
                  <a:srgbClr val="AEB9CC"/>
                </a:solidFill>
                <a:latin typeface="Consolas"/>
                <a:ea typeface="Consolas"/>
                <a:cs typeface="Consolas"/>
              </a:rPr>
              <a:t>51  </a:t>
            </a:r>
            <a:r>
              <a:rPr sz="830" b="0">
                <a:solidFill>
                  <a:srgbClr val="1B2740"/>
                </a:solidFill>
                <a:latin typeface="Consolas"/>
                <a:ea typeface="Consolas"/>
                <a:cs typeface="Consolas"/>
              </a:rPr>
              <a:t>}</a:t>
            </a:r>
            <a:r>
              <a:rPr sz="830" b="0">
                <a:solidFill>
                  <a:srgbClr val="2563EB"/>
                </a:solidFill>
                <a:latin typeface="Consolas"/>
                <a:ea typeface="Consolas"/>
                <a:cs typeface="Consolas"/>
              </a:rPr>
              <a:t>STRUCT_PlotInfo</a:t>
            </a:r>
            <a:r>
              <a:rPr sz="830" b="0">
                <a:solidFill>
                  <a:srgbClr val="1B2740"/>
                </a:solidFill>
                <a:latin typeface="Consolas"/>
                <a:ea typeface="Consolas"/>
                <a:cs typeface="Consolas"/>
              </a:rPr>
              <a:t>;</a:t>
            </a:r>
          </a:p>
        </p:txBody>
      </p:sp>
      <p:sp>
        <p:nvSpPr>
          <p:cNvPr id="17" name="TextBox 16"/>
          <p:cNvSpPr txBox="1"/>
          <p:nvPr/>
        </p:nvSpPr>
        <p:spPr>
          <a:xfrm>
            <a:off x="6172200" y="2231136"/>
            <a:ext cx="539496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스캔 하나의 메시지</a:t>
            </a:r>
            <a:r>
              <a:rPr sz="950" b="0">
                <a:solidFill>
                  <a:srgbClr val="8794AC"/>
                </a:solidFill>
                <a:latin typeface="Consolas"/>
                <a:ea typeface="Consolas"/>
                <a:cs typeface="Consolas"/>
              </a:rPr>
              <a:t>    STRUCT_PlotMsg</a:t>
            </a:r>
          </a:p>
        </p:txBody>
      </p:sp>
      <p:sp>
        <p:nvSpPr>
          <p:cNvPr id="18" name="Rectangle 17"/>
          <p:cNvSpPr/>
          <p:nvPr/>
        </p:nvSpPr>
        <p:spPr>
          <a:xfrm>
            <a:off x="6172200" y="2487168"/>
            <a:ext cx="5376672" cy="2120392"/>
          </a:xfrm>
          <a:prstGeom prst="rect">
            <a:avLst/>
          </a:prstGeom>
          <a:solidFill>
            <a:srgbClr val="FFFFFF"/>
          </a:solidFill>
          <a:ln w="9525">
            <a:solidFill>
              <a:srgbClr val="D2D9E5"/>
            </a:solidFill>
          </a:ln>
        </p:spPr>
        <p:txBody>
          <a:bodyPr rtlCol="0" anchor="ctr"/>
          <a:lstStyle/>
          <a:p>
            <a:pPr algn="ctr"/>
          </a:p>
        </p:txBody>
      </p:sp>
      <p:sp>
        <p:nvSpPr>
          <p:cNvPr id="19" name="Rectangle 18"/>
          <p:cNvSpPr/>
          <p:nvPr/>
        </p:nvSpPr>
        <p:spPr>
          <a:xfrm>
            <a:off x="6199632" y="2837891"/>
            <a:ext cx="5321808" cy="838200"/>
          </a:xfrm>
          <a:prstGeom prst="rect">
            <a:avLst/>
          </a:prstGeom>
          <a:solidFill>
            <a:srgbClr val="EAF1FD"/>
          </a:solidFill>
          <a:ln>
            <a:noFill/>
          </a:ln>
        </p:spPr>
        <p:txBody>
          <a:bodyPr rtlCol="0" anchor="ctr"/>
          <a:lstStyle/>
          <a:p>
            <a:pPr algn="ctr"/>
          </a:p>
        </p:txBody>
      </p:sp>
      <p:sp>
        <p:nvSpPr>
          <p:cNvPr id="20" name="Rectangle 19"/>
          <p:cNvSpPr/>
          <p:nvPr/>
        </p:nvSpPr>
        <p:spPr>
          <a:xfrm>
            <a:off x="6199632" y="2837891"/>
            <a:ext cx="36576" cy="838200"/>
          </a:xfrm>
          <a:prstGeom prst="rect">
            <a:avLst/>
          </a:prstGeom>
          <a:solidFill>
            <a:srgbClr val="2563EB"/>
          </a:solidFill>
          <a:ln>
            <a:noFill/>
          </a:ln>
        </p:spPr>
        <p:txBody>
          <a:bodyPr rtlCol="0" anchor="ctr"/>
          <a:lstStyle/>
          <a:p>
            <a:pPr algn="ctr"/>
          </a:p>
        </p:txBody>
      </p:sp>
      <p:sp>
        <p:nvSpPr>
          <p:cNvPr id="21" name="Oval 20"/>
          <p:cNvSpPr/>
          <p:nvPr/>
        </p:nvSpPr>
        <p:spPr>
          <a:xfrm>
            <a:off x="11448288" y="2807157"/>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22" name="Rectangle 21"/>
          <p:cNvSpPr/>
          <p:nvPr/>
        </p:nvSpPr>
        <p:spPr>
          <a:xfrm>
            <a:off x="6199632" y="3676091"/>
            <a:ext cx="5321808" cy="419100"/>
          </a:xfrm>
          <a:prstGeom prst="rect">
            <a:avLst/>
          </a:prstGeom>
          <a:solidFill>
            <a:srgbClr val="E6F5EE"/>
          </a:solidFill>
          <a:ln>
            <a:noFill/>
          </a:ln>
        </p:spPr>
        <p:txBody>
          <a:bodyPr rtlCol="0" anchor="ctr"/>
          <a:lstStyle/>
          <a:p>
            <a:pPr algn="ctr"/>
          </a:p>
        </p:txBody>
      </p:sp>
      <p:sp>
        <p:nvSpPr>
          <p:cNvPr id="23" name="Rectangle 22"/>
          <p:cNvSpPr/>
          <p:nvPr/>
        </p:nvSpPr>
        <p:spPr>
          <a:xfrm>
            <a:off x="6199632" y="3676091"/>
            <a:ext cx="36576" cy="419100"/>
          </a:xfrm>
          <a:prstGeom prst="rect">
            <a:avLst/>
          </a:prstGeom>
          <a:solidFill>
            <a:srgbClr val="059669"/>
          </a:solidFill>
          <a:ln>
            <a:noFill/>
          </a:ln>
        </p:spPr>
        <p:txBody>
          <a:bodyPr rtlCol="0" anchor="ctr"/>
          <a:lstStyle/>
          <a:p>
            <a:pPr algn="ctr"/>
          </a:p>
        </p:txBody>
      </p:sp>
      <p:sp>
        <p:nvSpPr>
          <p:cNvPr id="24" name="Oval 23"/>
          <p:cNvSpPr/>
          <p:nvPr/>
        </p:nvSpPr>
        <p:spPr>
          <a:xfrm>
            <a:off x="11448288" y="3645357"/>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25" name="Rectangle 24"/>
          <p:cNvSpPr/>
          <p:nvPr/>
        </p:nvSpPr>
        <p:spPr>
          <a:xfrm>
            <a:off x="6199632" y="4095191"/>
            <a:ext cx="5321808" cy="279400"/>
          </a:xfrm>
          <a:prstGeom prst="rect">
            <a:avLst/>
          </a:prstGeom>
          <a:solidFill>
            <a:srgbClr val="F2ECFD"/>
          </a:solidFill>
          <a:ln>
            <a:noFill/>
          </a:ln>
        </p:spPr>
        <p:txBody>
          <a:bodyPr rtlCol="0" anchor="ctr"/>
          <a:lstStyle/>
          <a:p>
            <a:pPr algn="ctr"/>
          </a:p>
        </p:txBody>
      </p:sp>
      <p:sp>
        <p:nvSpPr>
          <p:cNvPr id="26" name="Rectangle 25"/>
          <p:cNvSpPr/>
          <p:nvPr/>
        </p:nvSpPr>
        <p:spPr>
          <a:xfrm>
            <a:off x="6199632" y="4095191"/>
            <a:ext cx="36576" cy="279400"/>
          </a:xfrm>
          <a:prstGeom prst="rect">
            <a:avLst/>
          </a:prstGeom>
          <a:solidFill>
            <a:srgbClr val="7C3AED"/>
          </a:solidFill>
          <a:ln>
            <a:noFill/>
          </a:ln>
        </p:spPr>
        <p:txBody>
          <a:bodyPr rtlCol="0" anchor="ctr"/>
          <a:lstStyle/>
          <a:p>
            <a:pPr algn="ctr"/>
          </a:p>
        </p:txBody>
      </p:sp>
      <p:sp>
        <p:nvSpPr>
          <p:cNvPr id="27" name="Oval 26"/>
          <p:cNvSpPr/>
          <p:nvPr/>
        </p:nvSpPr>
        <p:spPr>
          <a:xfrm>
            <a:off x="11448288" y="4064457"/>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28" name="TextBox 27"/>
          <p:cNvSpPr txBox="1"/>
          <p:nvPr/>
        </p:nvSpPr>
        <p:spPr>
          <a:xfrm>
            <a:off x="6263640" y="2569464"/>
            <a:ext cx="5148072" cy="1955800"/>
          </a:xfrm>
          <a:prstGeom prst="rect">
            <a:avLst/>
          </a:prstGeom>
          <a:noFill/>
        </p:spPr>
        <p:txBody>
          <a:bodyPr wrap="none" lIns="0" tIns="0" rIns="0" bIns="0" anchor="t">
            <a:spAutoFit/>
          </a:bodyPr>
          <a:lstStyle/>
          <a:p>
            <a:pPr>
              <a:lnSpc>
                <a:spcPts val="1100"/>
              </a:lnSpc>
            </a:pPr>
            <a:r>
              <a:rPr sz="830" b="0">
                <a:solidFill>
                  <a:srgbClr val="AEB9CC"/>
                </a:solidFill>
                <a:latin typeface="Consolas"/>
                <a:ea typeface="Consolas"/>
                <a:cs typeface="Consolas"/>
              </a:rPr>
              <a:t>62  </a:t>
            </a:r>
            <a:r>
              <a:rPr sz="830" b="0">
                <a:solidFill>
                  <a:srgbClr val="2563EB"/>
                </a:solidFill>
                <a:latin typeface="Consolas"/>
                <a:ea typeface="Consolas"/>
                <a:cs typeface="Consolas"/>
              </a:rPr>
              <a:t>typedef</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STRUCT_PlotMsg</a:t>
            </a:r>
          </a:p>
          <a:p>
            <a:pPr>
              <a:lnSpc>
                <a:spcPts val="1100"/>
              </a:lnSpc>
            </a:pPr>
            <a:r>
              <a:rPr sz="830" b="0">
                <a:solidFill>
                  <a:srgbClr val="AEB9CC"/>
                </a:solidFill>
                <a:latin typeface="Consolas"/>
                <a:ea typeface="Consolas"/>
                <a:cs typeface="Consolas"/>
              </a:rPr>
              <a:t>63  </a:t>
            </a:r>
            <a:r>
              <a:rPr sz="830" b="0">
                <a:solidFill>
                  <a:srgbClr val="1B2740"/>
                </a:solidFill>
                <a:latin typeface="Consolas"/>
                <a:ea typeface="Consolas"/>
                <a:cs typeface="Consolas"/>
              </a:rPr>
              <a:t>{</a:t>
            </a:r>
          </a:p>
          <a:p>
            <a:pPr>
              <a:lnSpc>
                <a:spcPts val="1100"/>
              </a:lnSpc>
            </a:pPr>
            <a:r>
              <a:rPr sz="830" b="0">
                <a:solidFill>
                  <a:srgbClr val="AEB9CC"/>
                </a:solidFill>
                <a:latin typeface="Consolas"/>
                <a:ea typeface="Consolas"/>
                <a:cs typeface="Consolas"/>
              </a:rPr>
              <a:t>64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MsgId;  </a:t>
            </a:r>
            <a:r>
              <a:rPr sz="830" b="0">
                <a:solidFill>
                  <a:srgbClr val="059669"/>
                </a:solidFill>
                <a:latin typeface="맑은 고딕"/>
                <a:ea typeface="맑은 고딕"/>
                <a:cs typeface="맑은 고딕"/>
              </a:rPr>
              <a:t>// 메시지 종류 (플롯 / 끝)</a:t>
            </a:r>
          </a:p>
          <a:p>
            <a:pPr>
              <a:lnSpc>
                <a:spcPts val="1100"/>
              </a:lnSpc>
            </a:pPr>
            <a:r>
              <a:rPr sz="830" b="0">
                <a:solidFill>
                  <a:srgbClr val="AEB9CC"/>
                </a:solidFill>
                <a:latin typeface="Consolas"/>
                <a:ea typeface="Consolas"/>
                <a:cs typeface="Consolas"/>
              </a:rPr>
              <a:t>65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MsgSize;  </a:t>
            </a:r>
            <a:r>
              <a:rPr sz="830" b="0">
                <a:solidFill>
                  <a:srgbClr val="059669"/>
                </a:solidFill>
                <a:latin typeface="맑은 고딕"/>
                <a:ea typeface="맑은 고딕"/>
                <a:cs typeface="맑은 고딕"/>
              </a:rPr>
              <a:t>// 보내는 바이트 수</a:t>
            </a:r>
          </a:p>
          <a:p>
            <a:pPr>
              <a:lnSpc>
                <a:spcPts val="1100"/>
              </a:lnSpc>
            </a:pPr>
            <a:r>
              <a:rPr sz="830" b="0">
                <a:solidFill>
                  <a:srgbClr val="AEB9CC"/>
                </a:solidFill>
                <a:latin typeface="Consolas"/>
                <a:ea typeface="Consolas"/>
                <a:cs typeface="Consolas"/>
              </a:rPr>
              <a:t>66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ScanNum;  </a:t>
            </a:r>
            <a:r>
              <a:rPr sz="830" b="0">
                <a:solidFill>
                  <a:srgbClr val="059669"/>
                </a:solidFill>
                <a:latin typeface="맑은 고딕"/>
                <a:ea typeface="맑은 고딕"/>
                <a:cs typeface="맑은 고딕"/>
              </a:rPr>
              <a:t>// 스캔 번호</a:t>
            </a:r>
          </a:p>
          <a:p>
            <a:pPr>
              <a:lnSpc>
                <a:spcPts val="1100"/>
              </a:lnSpc>
            </a:pPr>
            <a:r>
              <a:rPr sz="830" b="0">
                <a:solidFill>
                  <a:srgbClr val="AEB9CC"/>
                </a:solidFill>
                <a:latin typeface="Consolas"/>
                <a:ea typeface="Consolas"/>
                <a:cs typeface="Consolas"/>
              </a:rPr>
              <a:t>67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TimeStamp_s;  </a:t>
            </a:r>
            <a:r>
              <a:rPr sz="830" b="0">
                <a:solidFill>
                  <a:srgbClr val="059669"/>
                </a:solidFill>
                <a:latin typeface="맑은 고딕"/>
                <a:ea typeface="맑은 고딕"/>
                <a:cs typeface="맑은 고딕"/>
              </a:rPr>
              <a:t>// 스캔 시각</a:t>
            </a:r>
          </a:p>
          <a:p>
            <a:pPr>
              <a:lnSpc>
                <a:spcPts val="1100"/>
              </a:lnSpc>
            </a:pPr>
            <a:r>
              <a:rPr sz="830" b="0">
                <a:solidFill>
                  <a:srgbClr val="AEB9CC"/>
                </a:solidFill>
                <a:latin typeface="Consolas"/>
                <a:ea typeface="Consolas"/>
                <a:cs typeface="Consolas"/>
              </a:rPr>
              <a:t>68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TimeStamp_ns;  </a:t>
            </a:r>
            <a:r>
              <a:rPr sz="830" b="0">
                <a:solidFill>
                  <a:srgbClr val="059669"/>
                </a:solidFill>
                <a:latin typeface="맑은 고딕"/>
                <a:ea typeface="맑은 고딕"/>
                <a:cs typeface="맑은 고딕"/>
              </a:rPr>
              <a:t>// 스캔 시각 (나노초)</a:t>
            </a:r>
          </a:p>
          <a:p>
            <a:pPr>
              <a:lnSpc>
                <a:spcPts val="1100"/>
              </a:lnSpc>
            </a:pPr>
            <a:r>
              <a:rPr sz="830" b="0">
                <a:solidFill>
                  <a:srgbClr val="AEB9CC"/>
                </a:solidFill>
                <a:latin typeface="Consolas"/>
                <a:ea typeface="Consolas"/>
                <a:cs typeface="Consolas"/>
              </a:rPr>
              <a:t>69  </a:t>
            </a:r>
            <a:r>
              <a:rPr sz="830" b="0">
                <a:solidFill>
                  <a:srgbClr val="1B2740"/>
                </a:solidFill>
                <a:latin typeface="Consolas"/>
                <a:ea typeface="Consolas"/>
                <a:cs typeface="Consolas"/>
              </a:rPr>
              <a:t>  </a:t>
            </a:r>
            <a:r>
              <a:rPr sz="830" b="0">
                <a:solidFill>
                  <a:srgbClr val="2563EB"/>
                </a:solidFill>
                <a:latin typeface="Consolas"/>
                <a:ea typeface="Consolas"/>
                <a:cs typeface="Consolas"/>
              </a:rPr>
              <a:t>UINT32</a:t>
            </a:r>
            <a:r>
              <a:rPr sz="830" b="0">
                <a:solidFill>
                  <a:srgbClr val="1B2740"/>
                </a:solidFill>
                <a:latin typeface="Consolas"/>
                <a:ea typeface="Consolas"/>
                <a:cs typeface="Consolas"/>
              </a:rPr>
              <a:t>  PlotNum;  </a:t>
            </a:r>
            <a:r>
              <a:rPr sz="830" b="0">
                <a:solidFill>
                  <a:srgbClr val="059669"/>
                </a:solidFill>
                <a:latin typeface="맑은 고딕"/>
                <a:ea typeface="맑은 고딕"/>
                <a:cs typeface="맑은 고딕"/>
              </a:rPr>
              <a:t>// 표적 플롯 + 클러터</a:t>
            </a:r>
          </a:p>
          <a:p>
            <a:pPr>
              <a:lnSpc>
                <a:spcPts val="1100"/>
              </a:lnSpc>
            </a:pPr>
            <a:r>
              <a:rPr sz="830" b="0">
                <a:solidFill>
                  <a:srgbClr val="AEB9CC"/>
                </a:solidFill>
                <a:latin typeface="Consolas"/>
                <a:ea typeface="Consolas"/>
                <a:cs typeface="Consolas"/>
              </a:rPr>
              <a:t>70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Sigma_Range;  </a:t>
            </a:r>
            <a:r>
              <a:rPr sz="830" b="0">
                <a:solidFill>
                  <a:srgbClr val="059669"/>
                </a:solidFill>
                <a:latin typeface="맑은 고딕"/>
                <a:ea typeface="맑은 고딕"/>
                <a:cs typeface="맑은 고딕"/>
              </a:rPr>
              <a:t>// 측정 표준편차 [m]</a:t>
            </a:r>
          </a:p>
          <a:p>
            <a:pPr>
              <a:lnSpc>
                <a:spcPts val="1100"/>
              </a:lnSpc>
            </a:pPr>
            <a:r>
              <a:rPr sz="830" b="0">
                <a:solidFill>
                  <a:srgbClr val="AEB9CC"/>
                </a:solidFill>
                <a:latin typeface="Consolas"/>
                <a:ea typeface="Consolas"/>
                <a:cs typeface="Consolas"/>
              </a:rPr>
              <a:t>71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Sigma_Azimuth;  </a:t>
            </a:r>
            <a:r>
              <a:rPr sz="830" b="0">
                <a:solidFill>
                  <a:srgbClr val="059669"/>
                </a:solidFill>
                <a:latin typeface="맑은 고딕"/>
                <a:ea typeface="맑은 고딕"/>
                <a:cs typeface="맑은 고딕"/>
              </a:rPr>
              <a:t>// [rad]</a:t>
            </a:r>
          </a:p>
          <a:p>
            <a:pPr>
              <a:lnSpc>
                <a:spcPts val="1100"/>
              </a:lnSpc>
            </a:pPr>
            <a:r>
              <a:rPr sz="830" b="0">
                <a:solidFill>
                  <a:srgbClr val="AEB9CC"/>
                </a:solidFill>
                <a:latin typeface="Consolas"/>
                <a:ea typeface="Consolas"/>
                <a:cs typeface="Consolas"/>
              </a:rPr>
              <a:t>72  </a:t>
            </a:r>
            <a:r>
              <a:rPr sz="830" b="0">
                <a:solidFill>
                  <a:srgbClr val="1B2740"/>
                </a:solidFill>
                <a:latin typeface="Consolas"/>
                <a:ea typeface="Consolas"/>
                <a:cs typeface="Consolas"/>
              </a:rPr>
              <a:t>  </a:t>
            </a:r>
            <a:r>
              <a:rPr sz="830" b="0">
                <a:solidFill>
                  <a:srgbClr val="2563EB"/>
                </a:solidFill>
                <a:latin typeface="Consolas"/>
                <a:ea typeface="Consolas"/>
                <a:cs typeface="Consolas"/>
              </a:rPr>
              <a:t>FLOAT32</a:t>
            </a:r>
            <a:r>
              <a:rPr sz="830" b="0">
                <a:solidFill>
                  <a:srgbClr val="1B2740"/>
                </a:solidFill>
                <a:latin typeface="Consolas"/>
                <a:ea typeface="Consolas"/>
                <a:cs typeface="Consolas"/>
              </a:rPr>
              <a:t>  Sigma_Elevation;  </a:t>
            </a:r>
            <a:r>
              <a:rPr sz="830" b="0">
                <a:solidFill>
                  <a:srgbClr val="059669"/>
                </a:solidFill>
                <a:latin typeface="맑은 고딕"/>
                <a:ea typeface="맑은 고딕"/>
                <a:cs typeface="맑은 고딕"/>
              </a:rPr>
              <a:t>// [rad]</a:t>
            </a:r>
          </a:p>
          <a:p>
            <a:pPr>
              <a:lnSpc>
                <a:spcPts val="1100"/>
              </a:lnSpc>
            </a:pPr>
            <a:r>
              <a:rPr sz="830" b="0">
                <a:solidFill>
                  <a:srgbClr val="AEB9CC"/>
                </a:solidFill>
                <a:latin typeface="Consolas"/>
                <a:ea typeface="Consolas"/>
                <a:cs typeface="Consolas"/>
              </a:rPr>
              <a:t>73  </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STRUCT_PlatformInfo</a:t>
            </a:r>
            <a:r>
              <a:rPr sz="830" b="0">
                <a:solidFill>
                  <a:srgbClr val="1B2740"/>
                </a:solidFill>
                <a:latin typeface="Consolas"/>
                <a:ea typeface="Consolas"/>
                <a:cs typeface="Consolas"/>
              </a:rPr>
              <a:t>  st_Platform;  </a:t>
            </a:r>
            <a:r>
              <a:rPr sz="830" b="0">
                <a:solidFill>
                  <a:srgbClr val="059669"/>
                </a:solidFill>
                <a:latin typeface="맑은 고딕"/>
                <a:ea typeface="맑은 고딕"/>
                <a:cs typeface="맑은 고딕"/>
              </a:rPr>
              <a:t>// 플랫폼 위치 · 자세</a:t>
            </a:r>
          </a:p>
          <a:p>
            <a:pPr>
              <a:lnSpc>
                <a:spcPts val="1100"/>
              </a:lnSpc>
            </a:pPr>
            <a:r>
              <a:rPr sz="830" b="0">
                <a:solidFill>
                  <a:srgbClr val="AEB9CC"/>
                </a:solidFill>
                <a:latin typeface="Consolas"/>
                <a:ea typeface="Consolas"/>
                <a:cs typeface="Consolas"/>
              </a:rPr>
              <a:t>74  </a:t>
            </a:r>
            <a:r>
              <a:rPr sz="830" b="0">
                <a:solidFill>
                  <a:srgbClr val="1B2740"/>
                </a:solidFill>
                <a:latin typeface="Consolas"/>
                <a:ea typeface="Consolas"/>
                <a:cs typeface="Consolas"/>
              </a:rPr>
              <a:t>  </a:t>
            </a:r>
            <a:r>
              <a:rPr sz="830" b="0">
                <a:solidFill>
                  <a:srgbClr val="2563EB"/>
                </a:solidFill>
                <a:latin typeface="Consolas"/>
                <a:ea typeface="Consolas"/>
                <a:cs typeface="Consolas"/>
              </a:rPr>
              <a:t>STRUCT_PlotInfo</a:t>
            </a:r>
            <a:r>
              <a:rPr sz="830" b="0">
                <a:solidFill>
                  <a:srgbClr val="1B2740"/>
                </a:solidFill>
                <a:latin typeface="Consolas"/>
                <a:ea typeface="Consolas"/>
                <a:cs typeface="Consolas"/>
              </a:rPr>
              <a:t>  st_Plot[</a:t>
            </a:r>
            <a:r>
              <a:rPr sz="830" b="0">
                <a:solidFill>
                  <a:srgbClr val="7C3AED"/>
                </a:solidFill>
                <a:latin typeface="Consolas"/>
                <a:ea typeface="Consolas"/>
                <a:cs typeface="Consolas"/>
              </a:rPr>
              <a:t>IDD_MAX_PLOT</a:t>
            </a:r>
            <a:r>
              <a:rPr sz="830" b="0">
                <a:solidFill>
                  <a:srgbClr val="1B2740"/>
                </a:solidFill>
                <a:latin typeface="Consolas"/>
                <a:ea typeface="Consolas"/>
                <a:cs typeface="Consolas"/>
              </a:rPr>
              <a:t>];  </a:t>
            </a:r>
            <a:r>
              <a:rPr sz="830" b="0">
                <a:solidFill>
                  <a:srgbClr val="059669"/>
                </a:solidFill>
                <a:latin typeface="맑은 고딕"/>
                <a:ea typeface="맑은 고딕"/>
                <a:cs typeface="맑은 고딕"/>
              </a:rPr>
              <a:t>// 플롯 배열 (최대 64 개)</a:t>
            </a:r>
          </a:p>
          <a:p>
            <a:pPr>
              <a:lnSpc>
                <a:spcPts val="1100"/>
              </a:lnSpc>
            </a:pPr>
            <a:r>
              <a:rPr sz="830" b="0">
                <a:solidFill>
                  <a:srgbClr val="AEB9CC"/>
                </a:solidFill>
                <a:latin typeface="Consolas"/>
                <a:ea typeface="Consolas"/>
                <a:cs typeface="Consolas"/>
              </a:rPr>
              <a:t>75  </a:t>
            </a:r>
            <a:r>
              <a:rPr sz="830" b="0">
                <a:solidFill>
                  <a:srgbClr val="1B2740"/>
                </a:solidFill>
                <a:latin typeface="Consolas"/>
                <a:ea typeface="Consolas"/>
                <a:cs typeface="Consolas"/>
              </a:rPr>
              <a:t>}</a:t>
            </a:r>
            <a:r>
              <a:rPr sz="830" b="0">
                <a:solidFill>
                  <a:srgbClr val="2563EB"/>
                </a:solidFill>
                <a:latin typeface="Consolas"/>
                <a:ea typeface="Consolas"/>
                <a:cs typeface="Consolas"/>
              </a:rPr>
              <a:t>STRUCT_PlotMsg</a:t>
            </a:r>
            <a:r>
              <a:rPr sz="830" b="0">
                <a:solidFill>
                  <a:srgbClr val="1B2740"/>
                </a:solidFill>
                <a:latin typeface="Consolas"/>
                <a:ea typeface="Consolas"/>
                <a:cs typeface="Consolas"/>
              </a:rPr>
              <a:t>;</a:t>
            </a:r>
          </a:p>
        </p:txBody>
      </p:sp>
      <p:sp>
        <p:nvSpPr>
          <p:cNvPr id="29" name="Oval 28"/>
          <p:cNvSpPr/>
          <p:nvPr/>
        </p:nvSpPr>
        <p:spPr>
          <a:xfrm>
            <a:off x="6217920" y="4735576"/>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30" name="TextBox 29"/>
          <p:cNvSpPr txBox="1"/>
          <p:nvPr/>
        </p:nvSpPr>
        <p:spPr>
          <a:xfrm>
            <a:off x="6510528" y="4726432"/>
            <a:ext cx="5029200" cy="228600"/>
          </a:xfrm>
          <a:prstGeom prst="rect">
            <a:avLst/>
          </a:prstGeom>
          <a:noFill/>
        </p:spPr>
        <p:txBody>
          <a:bodyPr wrap="square" lIns="0" tIns="0" rIns="0" bIns="0" anchor="ctr">
            <a:spAutoFit/>
          </a:bodyPr>
          <a:lstStyle/>
          <a:p>
            <a:pPr algn="l"/>
            <a:r>
              <a:rPr sz="1000" b="0">
                <a:solidFill>
                  <a:srgbClr val="1B2740"/>
                </a:solidFill>
                <a:latin typeface="맑은 고딕"/>
                <a:ea typeface="맑은 고딕"/>
                <a:cs typeface="맑은 고딕"/>
              </a:rPr>
              <a:t>송신은 안테나 구좌표 세 칸만 채운다</a:t>
            </a:r>
          </a:p>
        </p:txBody>
      </p:sp>
      <p:sp>
        <p:nvSpPr>
          <p:cNvPr id="31" name="Oval 30"/>
          <p:cNvSpPr/>
          <p:nvPr/>
        </p:nvSpPr>
        <p:spPr>
          <a:xfrm>
            <a:off x="6217920" y="5000752"/>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32" name="TextBox 31"/>
          <p:cNvSpPr txBox="1"/>
          <p:nvPr/>
        </p:nvSpPr>
        <p:spPr>
          <a:xfrm>
            <a:off x="6510528" y="4991608"/>
            <a:ext cx="5029200" cy="228600"/>
          </a:xfrm>
          <a:prstGeom prst="rect">
            <a:avLst/>
          </a:prstGeom>
          <a:noFill/>
        </p:spPr>
        <p:txBody>
          <a:bodyPr wrap="square" lIns="0" tIns="0" rIns="0" bIns="0" anchor="ctr">
            <a:spAutoFit/>
          </a:bodyPr>
          <a:lstStyle/>
          <a:p>
            <a:pPr algn="l"/>
            <a:r>
              <a:rPr sz="1000" b="0">
                <a:solidFill>
                  <a:srgbClr val="1B2740"/>
                </a:solidFill>
                <a:latin typeface="맑은 고딕"/>
                <a:ea typeface="맑은 고딕"/>
                <a:cs typeface="맑은 고딕"/>
              </a:rPr>
              <a:t>Y_Body 다음부터 이어 쓴 칸 (받는 쪽이 계산해 채움)</a:t>
            </a:r>
          </a:p>
        </p:txBody>
      </p:sp>
      <p:sp>
        <p:nvSpPr>
          <p:cNvPr id="33" name="Oval 32"/>
          <p:cNvSpPr/>
          <p:nvPr/>
        </p:nvSpPr>
        <p:spPr>
          <a:xfrm>
            <a:off x="6217920" y="5265928"/>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34" name="TextBox 33"/>
          <p:cNvSpPr txBox="1"/>
          <p:nvPr/>
        </p:nvSpPr>
        <p:spPr>
          <a:xfrm>
            <a:off x="6510528" y="5256784"/>
            <a:ext cx="5029200" cy="228600"/>
          </a:xfrm>
          <a:prstGeom prst="rect">
            <a:avLst/>
          </a:prstGeom>
          <a:noFill/>
        </p:spPr>
        <p:txBody>
          <a:bodyPr wrap="square" lIns="0" tIns="0" rIns="0" bIns="0" anchor="ctr">
            <a:spAutoFit/>
          </a:bodyPr>
          <a:lstStyle/>
          <a:p>
            <a:pPr algn="l"/>
            <a:r>
              <a:rPr sz="1000" b="0">
                <a:solidFill>
                  <a:srgbClr val="1B2740"/>
                </a:solidFill>
                <a:latin typeface="맑은 고딕"/>
                <a:ea typeface="맑은 고딕"/>
                <a:cs typeface="맑은 고딕"/>
              </a:rPr>
              <a:t>머리: 종류 · 크기 · 스캔 번호 · 시각 · 플롯 수</a:t>
            </a:r>
          </a:p>
        </p:txBody>
      </p:sp>
      <p:sp>
        <p:nvSpPr>
          <p:cNvPr id="35" name="Oval 34"/>
          <p:cNvSpPr/>
          <p:nvPr/>
        </p:nvSpPr>
        <p:spPr>
          <a:xfrm>
            <a:off x="6217920" y="5531104"/>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36" name="TextBox 35"/>
          <p:cNvSpPr txBox="1"/>
          <p:nvPr/>
        </p:nvSpPr>
        <p:spPr>
          <a:xfrm>
            <a:off x="6510528" y="5521960"/>
            <a:ext cx="5029200" cy="228600"/>
          </a:xfrm>
          <a:prstGeom prst="rect">
            <a:avLst/>
          </a:prstGeom>
          <a:noFill/>
        </p:spPr>
        <p:txBody>
          <a:bodyPr wrap="square" lIns="0" tIns="0" rIns="0" bIns="0" anchor="ctr">
            <a:spAutoFit/>
          </a:bodyPr>
          <a:lstStyle/>
          <a:p>
            <a:pPr algn="l"/>
            <a:r>
              <a:rPr sz="1000" b="0">
                <a:solidFill>
                  <a:srgbClr val="1B2740"/>
                </a:solidFill>
                <a:latin typeface="맑은 고딕"/>
                <a:ea typeface="맑은 고딕"/>
                <a:cs typeface="맑은 고딕"/>
              </a:rPr>
              <a:t>측정 표준편차: 받는 쪽 오차 공분산 계산에 씀</a:t>
            </a:r>
          </a:p>
        </p:txBody>
      </p:sp>
      <p:sp>
        <p:nvSpPr>
          <p:cNvPr id="37" name="Oval 36"/>
          <p:cNvSpPr/>
          <p:nvPr/>
        </p:nvSpPr>
        <p:spPr>
          <a:xfrm>
            <a:off x="6217920" y="5796280"/>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38" name="TextBox 37"/>
          <p:cNvSpPr txBox="1"/>
          <p:nvPr/>
        </p:nvSpPr>
        <p:spPr>
          <a:xfrm>
            <a:off x="6510528" y="5787136"/>
            <a:ext cx="5029200" cy="228600"/>
          </a:xfrm>
          <a:prstGeom prst="rect">
            <a:avLst/>
          </a:prstGeom>
          <a:noFill/>
        </p:spPr>
        <p:txBody>
          <a:bodyPr wrap="square" lIns="0" tIns="0" rIns="0" bIns="0" anchor="ctr">
            <a:spAutoFit/>
          </a:bodyPr>
          <a:lstStyle/>
          <a:p>
            <a:pPr algn="l"/>
            <a:r>
              <a:rPr sz="1000" b="0">
                <a:solidFill>
                  <a:srgbClr val="1B2740"/>
                </a:solidFill>
                <a:latin typeface="맑은 고딕"/>
                <a:ea typeface="맑은 고딕"/>
                <a:cs typeface="맑은 고딕"/>
              </a:rPr>
              <a:t>플랫폼 위치 · 자세, 플롯 배열 (최대 64 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3.3 송신: 플롯 메시지 만들기 (f_Lnk_BuildMsg)</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표적 플롯과 클러터를 섞어 방위각 순서로 담고, 플롯마다 ID 를 매겨 안테나 구좌표만 채웁니다.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3-3</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TargetSimCore/src/PlotLink.c</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Rectangle 7"/>
          <p:cNvSpPr/>
          <p:nvPr/>
        </p:nvSpPr>
        <p:spPr>
          <a:xfrm>
            <a:off x="640080" y="2240280"/>
            <a:ext cx="7178040" cy="3822191"/>
          </a:xfrm>
          <a:prstGeom prst="rect">
            <a:avLst/>
          </a:prstGeom>
          <a:solidFill>
            <a:srgbClr val="FFFFFF"/>
          </a:solidFill>
          <a:ln w="9525">
            <a:solidFill>
              <a:srgbClr val="D2D9E5"/>
            </a:solidFill>
          </a:ln>
        </p:spPr>
        <p:txBody>
          <a:bodyPr rtlCol="0" anchor="ctr"/>
          <a:lstStyle/>
          <a:p>
            <a:pPr algn="ctr"/>
          </a:p>
        </p:txBody>
      </p:sp>
      <p:sp>
        <p:nvSpPr>
          <p:cNvPr id="9" name="Rectangle 8"/>
          <p:cNvSpPr/>
          <p:nvPr/>
        </p:nvSpPr>
        <p:spPr>
          <a:xfrm>
            <a:off x="667512" y="2540203"/>
            <a:ext cx="7123176" cy="457200"/>
          </a:xfrm>
          <a:prstGeom prst="rect">
            <a:avLst/>
          </a:prstGeom>
          <a:solidFill>
            <a:srgbClr val="FDEEEE"/>
          </a:solidFill>
          <a:ln>
            <a:noFill/>
          </a:ln>
        </p:spPr>
        <p:txBody>
          <a:bodyPr rtlCol="0" anchor="ctr"/>
          <a:lstStyle/>
          <a:p>
            <a:pPr algn="ctr"/>
          </a:p>
        </p:txBody>
      </p:sp>
      <p:sp>
        <p:nvSpPr>
          <p:cNvPr id="10" name="Rectangle 9"/>
          <p:cNvSpPr/>
          <p:nvPr/>
        </p:nvSpPr>
        <p:spPr>
          <a:xfrm>
            <a:off x="667512" y="2540203"/>
            <a:ext cx="36576" cy="457200"/>
          </a:xfrm>
          <a:prstGeom prst="rect">
            <a:avLst/>
          </a:prstGeom>
          <a:solidFill>
            <a:srgbClr val="DC2626"/>
          </a:solidFill>
          <a:ln>
            <a:noFill/>
          </a:ln>
        </p:spPr>
        <p:txBody>
          <a:bodyPr rtlCol="0" anchor="ctr"/>
          <a:lstStyle/>
          <a:p>
            <a:pPr algn="ctr"/>
          </a:p>
        </p:txBody>
      </p:sp>
      <p:sp>
        <p:nvSpPr>
          <p:cNvPr id="11" name="Oval 10"/>
          <p:cNvSpPr/>
          <p:nvPr/>
        </p:nvSpPr>
        <p:spPr>
          <a:xfrm>
            <a:off x="7717536" y="2496769"/>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2" name="Rectangle 11"/>
          <p:cNvSpPr/>
          <p:nvPr/>
        </p:nvSpPr>
        <p:spPr>
          <a:xfrm>
            <a:off x="667512" y="3111703"/>
            <a:ext cx="7123176" cy="457200"/>
          </a:xfrm>
          <a:prstGeom prst="rect">
            <a:avLst/>
          </a:prstGeom>
          <a:solidFill>
            <a:srgbClr val="FDEEEE"/>
          </a:solidFill>
          <a:ln>
            <a:noFill/>
          </a:ln>
        </p:spPr>
        <p:txBody>
          <a:bodyPr rtlCol="0" anchor="ctr"/>
          <a:lstStyle/>
          <a:p>
            <a:pPr algn="ctr"/>
          </a:p>
        </p:txBody>
      </p:sp>
      <p:sp>
        <p:nvSpPr>
          <p:cNvPr id="13" name="Rectangle 12"/>
          <p:cNvSpPr/>
          <p:nvPr/>
        </p:nvSpPr>
        <p:spPr>
          <a:xfrm>
            <a:off x="667512" y="3111703"/>
            <a:ext cx="36576" cy="457200"/>
          </a:xfrm>
          <a:prstGeom prst="rect">
            <a:avLst/>
          </a:prstGeom>
          <a:solidFill>
            <a:srgbClr val="DC2626"/>
          </a:solidFill>
          <a:ln>
            <a:noFill/>
          </a:ln>
        </p:spPr>
        <p:txBody>
          <a:bodyPr rtlCol="0" anchor="ctr"/>
          <a:lstStyle/>
          <a:p>
            <a:pPr algn="ctr"/>
          </a:p>
        </p:txBody>
      </p:sp>
      <p:sp>
        <p:nvSpPr>
          <p:cNvPr id="14" name="Rectangle 13"/>
          <p:cNvSpPr/>
          <p:nvPr/>
        </p:nvSpPr>
        <p:spPr>
          <a:xfrm>
            <a:off x="667512" y="3683203"/>
            <a:ext cx="7123176" cy="114300"/>
          </a:xfrm>
          <a:prstGeom prst="rect">
            <a:avLst/>
          </a:prstGeom>
          <a:solidFill>
            <a:srgbClr val="FEF3E2"/>
          </a:solidFill>
          <a:ln>
            <a:noFill/>
          </a:ln>
        </p:spPr>
        <p:txBody>
          <a:bodyPr rtlCol="0" anchor="ctr"/>
          <a:lstStyle/>
          <a:p>
            <a:pPr algn="ctr"/>
          </a:p>
        </p:txBody>
      </p:sp>
      <p:sp>
        <p:nvSpPr>
          <p:cNvPr id="15" name="Rectangle 14"/>
          <p:cNvSpPr/>
          <p:nvPr/>
        </p:nvSpPr>
        <p:spPr>
          <a:xfrm>
            <a:off x="667512" y="3683203"/>
            <a:ext cx="36576" cy="114300"/>
          </a:xfrm>
          <a:prstGeom prst="rect">
            <a:avLst/>
          </a:prstGeom>
          <a:solidFill>
            <a:srgbClr val="D97706"/>
          </a:solidFill>
          <a:ln>
            <a:noFill/>
          </a:ln>
        </p:spPr>
        <p:txBody>
          <a:bodyPr rtlCol="0" anchor="ctr"/>
          <a:lstStyle/>
          <a:p>
            <a:pPr algn="ctr"/>
          </a:p>
        </p:txBody>
      </p:sp>
      <p:sp>
        <p:nvSpPr>
          <p:cNvPr id="16" name="Oval 15"/>
          <p:cNvSpPr/>
          <p:nvPr/>
        </p:nvSpPr>
        <p:spPr>
          <a:xfrm>
            <a:off x="7717536" y="3639769"/>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7" name="Rectangle 16"/>
          <p:cNvSpPr/>
          <p:nvPr/>
        </p:nvSpPr>
        <p:spPr>
          <a:xfrm>
            <a:off x="667512" y="3911803"/>
            <a:ext cx="7123176" cy="685800"/>
          </a:xfrm>
          <a:prstGeom prst="rect">
            <a:avLst/>
          </a:prstGeom>
          <a:solidFill>
            <a:srgbClr val="E6F5EE"/>
          </a:solidFill>
          <a:ln>
            <a:noFill/>
          </a:ln>
        </p:spPr>
        <p:txBody>
          <a:bodyPr rtlCol="0" anchor="ctr"/>
          <a:lstStyle/>
          <a:p>
            <a:pPr algn="ctr"/>
          </a:p>
        </p:txBody>
      </p:sp>
      <p:sp>
        <p:nvSpPr>
          <p:cNvPr id="18" name="Rectangle 17"/>
          <p:cNvSpPr/>
          <p:nvPr/>
        </p:nvSpPr>
        <p:spPr>
          <a:xfrm>
            <a:off x="667512" y="3911803"/>
            <a:ext cx="36576" cy="685800"/>
          </a:xfrm>
          <a:prstGeom prst="rect">
            <a:avLst/>
          </a:prstGeom>
          <a:solidFill>
            <a:srgbClr val="059669"/>
          </a:solidFill>
          <a:ln>
            <a:noFill/>
          </a:ln>
        </p:spPr>
        <p:txBody>
          <a:bodyPr rtlCol="0" anchor="ctr"/>
          <a:lstStyle/>
          <a:p>
            <a:pPr algn="ctr"/>
          </a:p>
        </p:txBody>
      </p:sp>
      <p:sp>
        <p:nvSpPr>
          <p:cNvPr id="19" name="Oval 18"/>
          <p:cNvSpPr/>
          <p:nvPr/>
        </p:nvSpPr>
        <p:spPr>
          <a:xfrm>
            <a:off x="7717536" y="3868369"/>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20" name="Rectangle 19"/>
          <p:cNvSpPr/>
          <p:nvPr/>
        </p:nvSpPr>
        <p:spPr>
          <a:xfrm>
            <a:off x="667512" y="5054803"/>
            <a:ext cx="7123176" cy="114300"/>
          </a:xfrm>
          <a:prstGeom prst="rect">
            <a:avLst/>
          </a:prstGeom>
          <a:solidFill>
            <a:srgbClr val="EAF1FD"/>
          </a:solidFill>
          <a:ln>
            <a:noFill/>
          </a:ln>
        </p:spPr>
        <p:txBody>
          <a:bodyPr rtlCol="0" anchor="ctr"/>
          <a:lstStyle/>
          <a:p>
            <a:pPr algn="ctr"/>
          </a:p>
        </p:txBody>
      </p:sp>
      <p:sp>
        <p:nvSpPr>
          <p:cNvPr id="21" name="Rectangle 20"/>
          <p:cNvSpPr/>
          <p:nvPr/>
        </p:nvSpPr>
        <p:spPr>
          <a:xfrm>
            <a:off x="667512" y="5054803"/>
            <a:ext cx="36576" cy="114300"/>
          </a:xfrm>
          <a:prstGeom prst="rect">
            <a:avLst/>
          </a:prstGeom>
          <a:solidFill>
            <a:srgbClr val="2563EB"/>
          </a:solidFill>
          <a:ln>
            <a:noFill/>
          </a:ln>
        </p:spPr>
        <p:txBody>
          <a:bodyPr rtlCol="0" anchor="ctr"/>
          <a:lstStyle/>
          <a:p>
            <a:pPr algn="ctr"/>
          </a:p>
        </p:txBody>
      </p:sp>
      <p:sp>
        <p:nvSpPr>
          <p:cNvPr id="22" name="Oval 21"/>
          <p:cNvSpPr/>
          <p:nvPr/>
        </p:nvSpPr>
        <p:spPr>
          <a:xfrm>
            <a:off x="7717536" y="5011369"/>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23" name="Rectangle 22"/>
          <p:cNvSpPr/>
          <p:nvPr/>
        </p:nvSpPr>
        <p:spPr>
          <a:xfrm>
            <a:off x="667512" y="5283403"/>
            <a:ext cx="7123176" cy="342900"/>
          </a:xfrm>
          <a:prstGeom prst="rect">
            <a:avLst/>
          </a:prstGeom>
          <a:solidFill>
            <a:srgbClr val="EAF1FD"/>
          </a:solidFill>
          <a:ln>
            <a:noFill/>
          </a:ln>
        </p:spPr>
        <p:txBody>
          <a:bodyPr rtlCol="0" anchor="ctr"/>
          <a:lstStyle/>
          <a:p>
            <a:pPr algn="ctr"/>
          </a:p>
        </p:txBody>
      </p:sp>
      <p:sp>
        <p:nvSpPr>
          <p:cNvPr id="24" name="Rectangle 23"/>
          <p:cNvSpPr/>
          <p:nvPr/>
        </p:nvSpPr>
        <p:spPr>
          <a:xfrm>
            <a:off x="667512" y="5283403"/>
            <a:ext cx="36576" cy="342900"/>
          </a:xfrm>
          <a:prstGeom prst="rect">
            <a:avLst/>
          </a:prstGeom>
          <a:solidFill>
            <a:srgbClr val="2563EB"/>
          </a:solidFill>
          <a:ln>
            <a:noFill/>
          </a:ln>
        </p:spPr>
        <p:txBody>
          <a:bodyPr rtlCol="0" anchor="ctr"/>
          <a:lstStyle/>
          <a:p>
            <a:pPr algn="ctr"/>
          </a:p>
        </p:txBody>
      </p:sp>
      <p:sp>
        <p:nvSpPr>
          <p:cNvPr id="25" name="Rectangle 24"/>
          <p:cNvSpPr/>
          <p:nvPr/>
        </p:nvSpPr>
        <p:spPr>
          <a:xfrm>
            <a:off x="667512" y="5740603"/>
            <a:ext cx="7123176" cy="228600"/>
          </a:xfrm>
          <a:prstGeom prst="rect">
            <a:avLst/>
          </a:prstGeom>
          <a:solidFill>
            <a:srgbClr val="F2ECFD"/>
          </a:solidFill>
          <a:ln>
            <a:noFill/>
          </a:ln>
        </p:spPr>
        <p:txBody>
          <a:bodyPr rtlCol="0" anchor="ctr"/>
          <a:lstStyle/>
          <a:p>
            <a:pPr algn="ctr"/>
          </a:p>
        </p:txBody>
      </p:sp>
      <p:sp>
        <p:nvSpPr>
          <p:cNvPr id="26" name="Rectangle 25"/>
          <p:cNvSpPr/>
          <p:nvPr/>
        </p:nvSpPr>
        <p:spPr>
          <a:xfrm>
            <a:off x="667512" y="5740603"/>
            <a:ext cx="36576" cy="228600"/>
          </a:xfrm>
          <a:prstGeom prst="rect">
            <a:avLst/>
          </a:prstGeom>
          <a:solidFill>
            <a:srgbClr val="7C3AED"/>
          </a:solidFill>
          <a:ln>
            <a:noFill/>
          </a:ln>
        </p:spPr>
        <p:txBody>
          <a:bodyPr rtlCol="0" anchor="ctr"/>
          <a:lstStyle/>
          <a:p>
            <a:pPr algn="ctr"/>
          </a:p>
        </p:txBody>
      </p:sp>
      <p:sp>
        <p:nvSpPr>
          <p:cNvPr id="27" name="Oval 26"/>
          <p:cNvSpPr/>
          <p:nvPr/>
        </p:nvSpPr>
        <p:spPr>
          <a:xfrm>
            <a:off x="7717536" y="5697169"/>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28" name="TextBox 27"/>
          <p:cNvSpPr txBox="1"/>
          <p:nvPr/>
        </p:nvSpPr>
        <p:spPr>
          <a:xfrm>
            <a:off x="731519" y="2322576"/>
            <a:ext cx="6949440" cy="3657599"/>
          </a:xfrm>
          <a:prstGeom prst="rect">
            <a:avLst/>
          </a:prstGeom>
          <a:noFill/>
        </p:spPr>
        <p:txBody>
          <a:bodyPr wrap="none" lIns="0" tIns="0" rIns="0" bIns="0" anchor="t">
            <a:spAutoFit/>
          </a:bodyPr>
          <a:lstStyle/>
          <a:p>
            <a:pPr>
              <a:lnSpc>
                <a:spcPts val="900"/>
              </a:lnSpc>
            </a:pPr>
            <a:r>
              <a:rPr sz="760" b="0">
                <a:solidFill>
                  <a:srgbClr val="AEB9CC"/>
                </a:solidFill>
                <a:latin typeface="Consolas"/>
                <a:ea typeface="Consolas"/>
                <a:cs typeface="Consolas"/>
              </a:rPr>
              <a:t>299  </a:t>
            </a:r>
            <a:r>
              <a:rPr sz="760" b="0">
                <a:solidFill>
                  <a:srgbClr val="2563EB"/>
                </a:solidFill>
                <a:latin typeface="Consolas"/>
                <a:ea typeface="Consolas"/>
                <a:cs typeface="Consolas"/>
              </a:rPr>
              <a:t>static</a:t>
            </a:r>
            <a:r>
              <a:rPr sz="760" b="0">
                <a:solidFill>
                  <a:srgbClr val="1B2740"/>
                </a:solidFill>
                <a:latin typeface="Consolas"/>
                <a:ea typeface="Consolas"/>
                <a:cs typeface="Consolas"/>
              </a:rPr>
              <a:t>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 f_Lnk_BuildMsg(</a:t>
            </a:r>
            <a:r>
              <a:rPr sz="760" b="0">
                <a:solidFill>
                  <a:srgbClr val="2563EB"/>
                </a:solidFill>
                <a:latin typeface="Consolas"/>
                <a:ea typeface="Consolas"/>
                <a:cs typeface="Consolas"/>
              </a:rPr>
              <a:t>STRUCT_PlotMsg</a:t>
            </a:r>
            <a:r>
              <a:rPr sz="760" b="0">
                <a:solidFill>
                  <a:srgbClr val="1B2740"/>
                </a:solidFill>
                <a:latin typeface="Consolas"/>
                <a:ea typeface="Consolas"/>
                <a:cs typeface="Consolas"/>
              </a:rPr>
              <a:t> *st_Msg, </a:t>
            </a:r>
            <a:r>
              <a:rPr sz="760" b="0">
                <a:solidFill>
                  <a:srgbClr val="2563EB"/>
                </a:solidFill>
                <a:latin typeface="Consolas"/>
                <a:ea typeface="Consolas"/>
                <a:cs typeface="Consolas"/>
              </a:rPr>
              <a:t>INT32</a:t>
            </a:r>
            <a:r>
              <a:rPr sz="760" b="0">
                <a:solidFill>
                  <a:srgbClr val="1B2740"/>
                </a:solidFill>
                <a:latin typeface="Consolas"/>
                <a:ea typeface="Consolas"/>
                <a:cs typeface="Consolas"/>
              </a:rPr>
              <a:t> nScan,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 *pt_PlotId)  </a:t>
            </a:r>
            <a:r>
              <a:rPr sz="760" b="0">
                <a:solidFill>
                  <a:srgbClr val="059669"/>
                </a:solidFill>
                <a:latin typeface="맑은 고딕"/>
                <a:ea typeface="맑은 고딕"/>
                <a:cs typeface="맑은 고딕"/>
              </a:rPr>
              <a:t>// 스캔 하나의 메시지 만들기</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314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(nIndex = </a:t>
            </a:r>
            <a:r>
              <a:rPr sz="760" b="0">
                <a:solidFill>
                  <a:srgbClr val="B45309"/>
                </a:solidFill>
                <a:latin typeface="Consolas"/>
                <a:ea typeface="Consolas"/>
                <a:cs typeface="Consolas"/>
              </a:rPr>
              <a:t>0</a:t>
            </a:r>
            <a:r>
              <a:rPr sz="760" b="0">
                <a:solidFill>
                  <a:srgbClr val="1B2740"/>
                </a:solidFill>
                <a:latin typeface="Consolas"/>
                <a:ea typeface="Consolas"/>
                <a:cs typeface="Consolas"/>
              </a:rPr>
              <a:t>; (nIndex &lt; st_Scan-&gt;nTargetNum) &amp;&amp; (nPlotNum &lt; </a:t>
            </a:r>
            <a:r>
              <a:rPr sz="760" b="0">
                <a:solidFill>
                  <a:srgbClr val="7C3AED"/>
                </a:solidFill>
                <a:latin typeface="Consolas"/>
                <a:ea typeface="Consolas"/>
                <a:cs typeface="Consolas"/>
              </a:rPr>
              <a:t>IDD_MAX_PLOT</a:t>
            </a:r>
            <a:r>
              <a:rPr sz="760" b="0">
                <a:solidFill>
                  <a:srgbClr val="1B2740"/>
                </a:solidFill>
                <a:latin typeface="Consolas"/>
                <a:ea typeface="Consolas"/>
                <a:cs typeface="Consolas"/>
              </a:rPr>
              <a:t>); nIndex++)  </a:t>
            </a:r>
            <a:r>
              <a:rPr sz="760" b="0">
                <a:solidFill>
                  <a:srgbClr val="059669"/>
                </a:solidFill>
                <a:latin typeface="맑은 고딕"/>
                <a:ea typeface="맑은 고딕"/>
                <a:cs typeface="맑은 고딕"/>
              </a:rPr>
              <a:t>// 표적 플롯부터</a:t>
            </a:r>
          </a:p>
          <a:p>
            <a:pPr>
              <a:lnSpc>
                <a:spcPts val="900"/>
              </a:lnSpc>
            </a:pPr>
            <a:r>
              <a:rPr sz="760" b="0">
                <a:solidFill>
                  <a:srgbClr val="AEB9CC"/>
                </a:solidFill>
                <a:latin typeface="Consolas"/>
                <a:ea typeface="Consolas"/>
                <a:cs typeface="Consolas"/>
              </a:rPr>
              <a:t>315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316  </a:t>
            </a:r>
            <a:r>
              <a:rPr sz="760" b="0">
                <a:solidFill>
                  <a:srgbClr val="1B2740"/>
                </a:solidFill>
                <a:latin typeface="Consolas"/>
                <a:ea typeface="Consolas"/>
                <a:cs typeface="Consolas"/>
              </a:rPr>
              <a:t>    st_Sph[nPlotNum]  = st_Scan-&gt;st_Plot[nIndex];  </a:t>
            </a:r>
            <a:r>
              <a:rPr sz="760" b="0">
                <a:solidFill>
                  <a:srgbClr val="059669"/>
                </a:solidFill>
                <a:latin typeface="맑은 고딕"/>
                <a:ea typeface="맑은 고딕"/>
                <a:cs typeface="맑은 고딕"/>
              </a:rPr>
              <a:t>// 거리 · 방위각 · 고각</a:t>
            </a:r>
          </a:p>
          <a:p>
            <a:pPr>
              <a:lnSpc>
                <a:spcPts val="900"/>
              </a:lnSpc>
            </a:pPr>
            <a:r>
              <a:rPr sz="760" b="0">
                <a:solidFill>
                  <a:srgbClr val="AEB9CC"/>
                </a:solidFill>
                <a:latin typeface="Consolas"/>
                <a:ea typeface="Consolas"/>
                <a:cs typeface="Consolas"/>
              </a:rPr>
              <a:t>317  </a:t>
            </a:r>
            <a:r>
              <a:rPr sz="760" b="0">
                <a:solidFill>
                  <a:srgbClr val="1B2740"/>
                </a:solidFill>
                <a:latin typeface="Consolas"/>
                <a:ea typeface="Consolas"/>
                <a:cs typeface="Consolas"/>
              </a:rPr>
              <a:t>    nSource[nPlotNum]  = nIndex + </a:t>
            </a:r>
            <a:r>
              <a:rPr sz="760" b="0">
                <a:solidFill>
                  <a:srgbClr val="B45309"/>
                </a:solidFill>
                <a:latin typeface="Consolas"/>
                <a:ea typeface="Consolas"/>
                <a:cs typeface="Consolas"/>
              </a:rPr>
              <a:t>1</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출처: 표적 번호 (송신 쪽 기록용)</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321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(nIndex = </a:t>
            </a:r>
            <a:r>
              <a:rPr sz="760" b="0">
                <a:solidFill>
                  <a:srgbClr val="B45309"/>
                </a:solidFill>
                <a:latin typeface="Consolas"/>
                <a:ea typeface="Consolas"/>
                <a:cs typeface="Consolas"/>
              </a:rPr>
              <a:t>0</a:t>
            </a:r>
            <a:r>
              <a:rPr sz="760" b="0">
                <a:solidFill>
                  <a:srgbClr val="1B2740"/>
                </a:solidFill>
                <a:latin typeface="Consolas"/>
                <a:ea typeface="Consolas"/>
                <a:cs typeface="Consolas"/>
              </a:rPr>
              <a:t>; (nIndex &lt; st_Scan-&gt;nClutterNum) &amp;&amp; (nPlotNum &lt; </a:t>
            </a:r>
            <a:r>
              <a:rPr sz="760" b="0">
                <a:solidFill>
                  <a:srgbClr val="7C3AED"/>
                </a:solidFill>
                <a:latin typeface="Consolas"/>
                <a:ea typeface="Consolas"/>
                <a:cs typeface="Consolas"/>
              </a:rPr>
              <a:t>IDD_MAX_PLOT</a:t>
            </a:r>
            <a:r>
              <a:rPr sz="760" b="0">
                <a:solidFill>
                  <a:srgbClr val="1B2740"/>
                </a:solidFill>
                <a:latin typeface="Consolas"/>
                <a:ea typeface="Consolas"/>
                <a:cs typeface="Consolas"/>
              </a:rPr>
              <a:t>); nIndex++)  </a:t>
            </a:r>
            <a:r>
              <a:rPr sz="760" b="0">
                <a:solidFill>
                  <a:srgbClr val="059669"/>
                </a:solidFill>
                <a:latin typeface="맑은 고딕"/>
                <a:ea typeface="맑은 고딕"/>
                <a:cs typeface="맑은 고딕"/>
              </a:rPr>
              <a:t>// 이어서 클러터를 같은 배열에</a:t>
            </a:r>
          </a:p>
          <a:p>
            <a:pPr>
              <a:lnSpc>
                <a:spcPts val="900"/>
              </a:lnSpc>
            </a:pPr>
            <a:r>
              <a:rPr sz="760" b="0">
                <a:solidFill>
                  <a:srgbClr val="AEB9CC"/>
                </a:solidFill>
                <a:latin typeface="Consolas"/>
                <a:ea typeface="Consolas"/>
                <a:cs typeface="Consolas"/>
              </a:rPr>
              <a:t>322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323  </a:t>
            </a:r>
            <a:r>
              <a:rPr sz="760" b="0">
                <a:solidFill>
                  <a:srgbClr val="1B2740"/>
                </a:solidFill>
                <a:latin typeface="Consolas"/>
                <a:ea typeface="Consolas"/>
                <a:cs typeface="Consolas"/>
              </a:rPr>
              <a:t>    st_Sph[nPlotNum]  = st_Scan-&gt;st_Clutter[nIndex];  </a:t>
            </a:r>
            <a:r>
              <a:rPr sz="760" b="0">
                <a:solidFill>
                  <a:srgbClr val="059669"/>
                </a:solidFill>
                <a:latin typeface="맑은 고딕"/>
                <a:ea typeface="맑은 고딕"/>
                <a:cs typeface="맑은 고딕"/>
              </a:rPr>
              <a:t>// 클러터 플롯</a:t>
            </a:r>
          </a:p>
          <a:p>
            <a:pPr>
              <a:lnSpc>
                <a:spcPts val="900"/>
              </a:lnSpc>
            </a:pPr>
            <a:r>
              <a:rPr sz="760" b="0">
                <a:solidFill>
                  <a:srgbClr val="AEB9CC"/>
                </a:solidFill>
                <a:latin typeface="Consolas"/>
                <a:ea typeface="Consolas"/>
                <a:cs typeface="Consolas"/>
              </a:rPr>
              <a:t>324  </a:t>
            </a:r>
            <a:r>
              <a:rPr sz="760" b="0">
                <a:solidFill>
                  <a:srgbClr val="1B2740"/>
                </a:solidFill>
                <a:latin typeface="Consolas"/>
                <a:ea typeface="Consolas"/>
                <a:cs typeface="Consolas"/>
              </a:rPr>
              <a:t>    nSource[nPlotNum]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출처: 0 은 클러터</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328  </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방위각 오름차순 (삽입 정렬)</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346  </a:t>
            </a:r>
            <a:r>
              <a:rPr sz="760" b="0">
                <a:solidFill>
                  <a:srgbClr val="1B2740"/>
                </a:solidFill>
                <a:latin typeface="Consolas"/>
                <a:ea typeface="Consolas"/>
                <a:cs typeface="Consolas"/>
              </a:rPr>
              <a:t>  st_Msg-&gt;MsgId  = </a:t>
            </a:r>
            <a:r>
              <a:rPr sz="760" b="0">
                <a:solidFill>
                  <a:srgbClr val="7C3AED"/>
                </a:solidFill>
                <a:latin typeface="Consolas"/>
                <a:ea typeface="Consolas"/>
                <a:cs typeface="Consolas"/>
              </a:rPr>
              <a:t>IDD_MSG_ID_PLOT</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메시지 종류: 플롯</a:t>
            </a:r>
          </a:p>
          <a:p>
            <a:pPr>
              <a:lnSpc>
                <a:spcPts val="900"/>
              </a:lnSpc>
            </a:pPr>
            <a:r>
              <a:rPr sz="760" b="0">
                <a:solidFill>
                  <a:srgbClr val="AEB9CC"/>
                </a:solidFill>
                <a:latin typeface="Consolas"/>
                <a:ea typeface="Consolas"/>
                <a:cs typeface="Consolas"/>
              </a:rPr>
              <a:t>347  </a:t>
            </a:r>
            <a:r>
              <a:rPr sz="760" b="0">
                <a:solidFill>
                  <a:srgbClr val="1B2740"/>
                </a:solidFill>
                <a:latin typeface="Consolas"/>
                <a:ea typeface="Consolas"/>
                <a:cs typeface="Consolas"/>
              </a:rPr>
              <a:t>  st_Msg-&gt;MsgSize  = msgSize;  </a:t>
            </a:r>
            <a:r>
              <a:rPr sz="760" b="0">
                <a:solidFill>
                  <a:srgbClr val="059669"/>
                </a:solidFill>
                <a:latin typeface="맑은 고딕"/>
                <a:ea typeface="맑은 고딕"/>
                <a:cs typeface="맑은 고딕"/>
              </a:rPr>
              <a:t>// 보낼 바이트 수</a:t>
            </a:r>
          </a:p>
          <a:p>
            <a:pPr>
              <a:lnSpc>
                <a:spcPts val="900"/>
              </a:lnSpc>
            </a:pPr>
            <a:r>
              <a:rPr sz="760" b="0">
                <a:solidFill>
                  <a:srgbClr val="AEB9CC"/>
                </a:solidFill>
                <a:latin typeface="Consolas"/>
                <a:ea typeface="Consolas"/>
                <a:cs typeface="Consolas"/>
              </a:rPr>
              <a:t>348  </a:t>
            </a:r>
            <a:r>
              <a:rPr sz="760" b="0">
                <a:solidFill>
                  <a:srgbClr val="1B2740"/>
                </a:solidFill>
                <a:latin typeface="Consolas"/>
                <a:ea typeface="Consolas"/>
                <a:cs typeface="Consolas"/>
              </a:rPr>
              <a:t>  st_Msg-&gt;ScanNum  =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)nScan;  </a:t>
            </a:r>
            <a:r>
              <a:rPr sz="760" b="0">
                <a:solidFill>
                  <a:srgbClr val="059669"/>
                </a:solidFill>
                <a:latin typeface="맑은 고딕"/>
                <a:ea typeface="맑은 고딕"/>
                <a:cs typeface="맑은 고딕"/>
              </a:rPr>
              <a:t>// 스캔 번호</a:t>
            </a:r>
          </a:p>
          <a:p>
            <a:pPr>
              <a:lnSpc>
                <a:spcPts val="900"/>
              </a:lnSpc>
            </a:pPr>
            <a:r>
              <a:rPr sz="760" b="0">
                <a:solidFill>
                  <a:srgbClr val="AEB9CC"/>
                </a:solidFill>
                <a:latin typeface="Consolas"/>
                <a:ea typeface="Consolas"/>
                <a:cs typeface="Consolas"/>
              </a:rPr>
              <a:t>349  </a:t>
            </a:r>
            <a:r>
              <a:rPr sz="760" b="0">
                <a:solidFill>
                  <a:srgbClr val="1B2740"/>
                </a:solidFill>
                <a:latin typeface="Consolas"/>
                <a:ea typeface="Consolas"/>
                <a:cs typeface="Consolas"/>
              </a:rPr>
              <a:t>  st_Msg-&gt;TimeStamp_s  =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)(timeNs / </a:t>
            </a:r>
            <a:r>
              <a:rPr sz="760" b="0">
                <a:solidFill>
                  <a:srgbClr val="B45309"/>
                </a:solidFill>
                <a:latin typeface="Consolas"/>
                <a:ea typeface="Consolas"/>
                <a:cs typeface="Consolas"/>
              </a:rPr>
              <a:t>1000000000LL</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스캔 시각 (초)</a:t>
            </a:r>
          </a:p>
          <a:p>
            <a:pPr>
              <a:lnSpc>
                <a:spcPts val="900"/>
              </a:lnSpc>
            </a:pPr>
            <a:r>
              <a:rPr sz="760" b="0">
                <a:solidFill>
                  <a:srgbClr val="AEB9CC"/>
                </a:solidFill>
                <a:latin typeface="Consolas"/>
                <a:ea typeface="Consolas"/>
                <a:cs typeface="Consolas"/>
              </a:rPr>
              <a:t>350  </a:t>
            </a:r>
            <a:r>
              <a:rPr sz="760" b="0">
                <a:solidFill>
                  <a:srgbClr val="1B2740"/>
                </a:solidFill>
                <a:latin typeface="Consolas"/>
                <a:ea typeface="Consolas"/>
                <a:cs typeface="Consolas"/>
              </a:rPr>
              <a:t>  st_Msg-&gt;TimeStamp_ns  =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)(timeNs % </a:t>
            </a:r>
            <a:r>
              <a:rPr sz="760" b="0">
                <a:solidFill>
                  <a:srgbClr val="B45309"/>
                </a:solidFill>
                <a:latin typeface="Consolas"/>
                <a:ea typeface="Consolas"/>
                <a:cs typeface="Consolas"/>
              </a:rPr>
              <a:t>1000000000LL</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스캔 시각 (나노초)</a:t>
            </a:r>
          </a:p>
          <a:p>
            <a:pPr>
              <a:lnSpc>
                <a:spcPts val="900"/>
              </a:lnSpc>
            </a:pPr>
            <a:r>
              <a:rPr sz="760" b="0">
                <a:solidFill>
                  <a:srgbClr val="AEB9CC"/>
                </a:solidFill>
                <a:latin typeface="Consolas"/>
                <a:ea typeface="Consolas"/>
                <a:cs typeface="Consolas"/>
              </a:rPr>
              <a:t>351  </a:t>
            </a:r>
            <a:r>
              <a:rPr sz="760" b="0">
                <a:solidFill>
                  <a:srgbClr val="1B2740"/>
                </a:solidFill>
                <a:latin typeface="Consolas"/>
                <a:ea typeface="Consolas"/>
                <a:cs typeface="Consolas"/>
              </a:rPr>
              <a:t>  st_Msg-&gt;PlotNum  = (</a:t>
            </a:r>
            <a:r>
              <a:rPr sz="760" b="0">
                <a:solidFill>
                  <a:srgbClr val="2563EB"/>
                </a:solidFill>
                <a:latin typeface="Consolas"/>
                <a:ea typeface="Consolas"/>
                <a:cs typeface="Consolas"/>
              </a:rPr>
              <a:t>UINT32</a:t>
            </a:r>
            <a:r>
              <a:rPr sz="760" b="0">
                <a:solidFill>
                  <a:srgbClr val="1B2740"/>
                </a:solidFill>
                <a:latin typeface="Consolas"/>
                <a:ea typeface="Consolas"/>
                <a:cs typeface="Consolas"/>
              </a:rPr>
              <a:t>)nPlotNum;  </a:t>
            </a:r>
            <a:r>
              <a:rPr sz="760" b="0">
                <a:solidFill>
                  <a:srgbClr val="059669"/>
                </a:solidFill>
                <a:latin typeface="맑은 고딕"/>
                <a:ea typeface="맑은 고딕"/>
                <a:cs typeface="맑은 고딕"/>
              </a:rPr>
              <a:t>// 표적 + 클러터 수</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365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(nIndex = </a:t>
            </a:r>
            <a:r>
              <a:rPr sz="760" b="0">
                <a:solidFill>
                  <a:srgbClr val="B45309"/>
                </a:solidFill>
                <a:latin typeface="Consolas"/>
                <a:ea typeface="Consolas"/>
                <a:cs typeface="Consolas"/>
              </a:rPr>
              <a:t>0</a:t>
            </a:r>
            <a:r>
              <a:rPr sz="760" b="0">
                <a:solidFill>
                  <a:srgbClr val="1B2740"/>
                </a:solidFill>
                <a:latin typeface="Consolas"/>
                <a:ea typeface="Consolas"/>
                <a:cs typeface="Consolas"/>
              </a:rPr>
              <a:t>; nIndex &lt; nPlotNum; nIndex++)  </a:t>
            </a:r>
            <a:r>
              <a:rPr sz="760" b="0">
                <a:solidFill>
                  <a:srgbClr val="059669"/>
                </a:solidFill>
                <a:latin typeface="맑은 고딕"/>
                <a:ea typeface="맑은 고딕"/>
                <a:cs typeface="맑은 고딕"/>
              </a:rPr>
              <a:t>// 정렬된 순서대로 플롯마다</a:t>
            </a:r>
          </a:p>
          <a:p>
            <a:pPr>
              <a:lnSpc>
                <a:spcPts val="900"/>
              </a:lnSpc>
            </a:pPr>
            <a:r>
              <a:rPr sz="760" b="0">
                <a:solidFill>
                  <a:srgbClr val="AEB9CC"/>
                </a:solidFill>
                <a:latin typeface="Consolas"/>
                <a:ea typeface="Consolas"/>
                <a:cs typeface="Consolas"/>
              </a:rPr>
              <a:t>366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367  </a:t>
            </a:r>
            <a:r>
              <a:rPr sz="760" b="0">
                <a:solidFill>
                  <a:srgbClr val="1B2740"/>
                </a:solidFill>
                <a:latin typeface="Consolas"/>
                <a:ea typeface="Consolas"/>
                <a:cs typeface="Consolas"/>
              </a:rPr>
              <a:t>    st_Info  = &amp;st_Msg-&gt;st_Plot[nIndex];  </a:t>
            </a:r>
            <a:r>
              <a:rPr sz="760" b="0">
                <a:solidFill>
                  <a:srgbClr val="059669"/>
                </a:solidFill>
                <a:latin typeface="맑은 고딕"/>
                <a:ea typeface="맑은 고딕"/>
                <a:cs typeface="맑은 고딕"/>
              </a:rPr>
              <a:t>// 메시지의 플롯 칸</a:t>
            </a:r>
          </a:p>
          <a:p>
            <a:pPr>
              <a:lnSpc>
                <a:spcPts val="900"/>
              </a:lnSpc>
            </a:pPr>
            <a:r>
              <a:rPr sz="760" b="0">
                <a:solidFill>
                  <a:srgbClr val="AEB9CC"/>
                </a:solidFill>
                <a:latin typeface="Consolas"/>
                <a:ea typeface="Consolas"/>
                <a:cs typeface="Consolas"/>
              </a:rPr>
              <a:t>368  </a:t>
            </a:r>
            <a:r>
              <a:rPr sz="760" b="0">
                <a:solidFill>
                  <a:srgbClr val="1B2740"/>
                </a:solidFill>
                <a:latin typeface="Consolas"/>
                <a:ea typeface="Consolas"/>
                <a:cs typeface="Consolas"/>
              </a:rPr>
              <a:t>    st_Info-&gt;Id  = *pt_PlotId;  </a:t>
            </a:r>
            <a:r>
              <a:rPr sz="760" b="0">
                <a:solidFill>
                  <a:srgbClr val="059669"/>
                </a:solidFill>
                <a:latin typeface="맑은 고딕"/>
                <a:ea typeface="맑은 고딕"/>
                <a:cs typeface="맑은 고딕"/>
              </a:rPr>
              <a:t>// 플롯 ID</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375  </a:t>
            </a:r>
            <a:r>
              <a:rPr sz="760" b="0">
                <a:solidFill>
                  <a:srgbClr val="1B2740"/>
                </a:solidFill>
                <a:latin typeface="Consolas"/>
                <a:ea typeface="Consolas"/>
                <a:cs typeface="Consolas"/>
              </a:rPr>
              <a:t>    st_Info-&gt;Range_Ant  = (</a:t>
            </a:r>
            <a:r>
              <a:rPr sz="760" b="0">
                <a:solidFill>
                  <a:srgbClr val="2563EB"/>
                </a:solidFill>
                <a:latin typeface="Consolas"/>
                <a:ea typeface="Consolas"/>
                <a:cs typeface="Consolas"/>
              </a:rPr>
              <a:t>FLOAT32</a:t>
            </a:r>
            <a:r>
              <a:rPr sz="760" b="0">
                <a:solidFill>
                  <a:srgbClr val="1B2740"/>
                </a:solidFill>
                <a:latin typeface="Consolas"/>
                <a:ea typeface="Consolas"/>
                <a:cs typeface="Consolas"/>
              </a:rPr>
              <a:t>)st_Sph[nOrder[nIndex]].r;  </a:t>
            </a:r>
            <a:r>
              <a:rPr sz="760" b="0">
                <a:solidFill>
                  <a:srgbClr val="059669"/>
                </a:solidFill>
                <a:latin typeface="맑은 고딕"/>
                <a:ea typeface="맑은 고딕"/>
                <a:cs typeface="맑은 고딕"/>
              </a:rPr>
              <a:t>// 안테나 기준 거리</a:t>
            </a:r>
          </a:p>
          <a:p>
            <a:pPr>
              <a:lnSpc>
                <a:spcPts val="900"/>
              </a:lnSpc>
            </a:pPr>
            <a:r>
              <a:rPr sz="760" b="0">
                <a:solidFill>
                  <a:srgbClr val="AEB9CC"/>
                </a:solidFill>
                <a:latin typeface="Consolas"/>
                <a:ea typeface="Consolas"/>
                <a:cs typeface="Consolas"/>
              </a:rPr>
              <a:t>376  </a:t>
            </a:r>
            <a:r>
              <a:rPr sz="760" b="0">
                <a:solidFill>
                  <a:srgbClr val="1B2740"/>
                </a:solidFill>
                <a:latin typeface="Consolas"/>
                <a:ea typeface="Consolas"/>
                <a:cs typeface="Consolas"/>
              </a:rPr>
              <a:t>    st_Info-&gt;Azimuth_Ant  = (</a:t>
            </a:r>
            <a:r>
              <a:rPr sz="760" b="0">
                <a:solidFill>
                  <a:srgbClr val="2563EB"/>
                </a:solidFill>
                <a:latin typeface="Consolas"/>
                <a:ea typeface="Consolas"/>
                <a:cs typeface="Consolas"/>
              </a:rPr>
              <a:t>FLOAT32</a:t>
            </a:r>
            <a:r>
              <a:rPr sz="760" b="0">
                <a:solidFill>
                  <a:srgbClr val="1B2740"/>
                </a:solidFill>
                <a:latin typeface="Consolas"/>
                <a:ea typeface="Consolas"/>
                <a:cs typeface="Consolas"/>
              </a:rPr>
              <a:t>)st_Sph[nOrder[nIndex]].az;  </a:t>
            </a:r>
            <a:r>
              <a:rPr sz="760" b="0">
                <a:solidFill>
                  <a:srgbClr val="059669"/>
                </a:solidFill>
                <a:latin typeface="맑은 고딕"/>
                <a:ea typeface="맑은 고딕"/>
                <a:cs typeface="맑은 고딕"/>
              </a:rPr>
              <a:t>// 방위각</a:t>
            </a:r>
          </a:p>
          <a:p>
            <a:pPr>
              <a:lnSpc>
                <a:spcPts val="900"/>
              </a:lnSpc>
            </a:pPr>
            <a:r>
              <a:rPr sz="760" b="0">
                <a:solidFill>
                  <a:srgbClr val="AEB9CC"/>
                </a:solidFill>
                <a:latin typeface="Consolas"/>
                <a:ea typeface="Consolas"/>
                <a:cs typeface="Consolas"/>
              </a:rPr>
              <a:t>377  </a:t>
            </a:r>
            <a:r>
              <a:rPr sz="760" b="0">
                <a:solidFill>
                  <a:srgbClr val="1B2740"/>
                </a:solidFill>
                <a:latin typeface="Consolas"/>
                <a:ea typeface="Consolas"/>
                <a:cs typeface="Consolas"/>
              </a:rPr>
              <a:t>    st_Info-&gt;Elevation_Ant  = (</a:t>
            </a:r>
            <a:r>
              <a:rPr sz="760" b="0">
                <a:solidFill>
                  <a:srgbClr val="2563EB"/>
                </a:solidFill>
                <a:latin typeface="Consolas"/>
                <a:ea typeface="Consolas"/>
                <a:cs typeface="Consolas"/>
              </a:rPr>
              <a:t>FLOAT32</a:t>
            </a:r>
            <a:r>
              <a:rPr sz="760" b="0">
                <a:solidFill>
                  <a:srgbClr val="1B2740"/>
                </a:solidFill>
                <a:latin typeface="Consolas"/>
                <a:ea typeface="Consolas"/>
                <a:cs typeface="Consolas"/>
              </a:rPr>
              <a:t>)st_Sph[nOrder[nIndex]].el;  </a:t>
            </a:r>
            <a:r>
              <a:rPr sz="760" b="0">
                <a:solidFill>
                  <a:srgbClr val="059669"/>
                </a:solidFill>
                <a:latin typeface="맑은 고딕"/>
                <a:ea typeface="맑은 고딕"/>
                <a:cs typeface="맑은 고딕"/>
              </a:rPr>
              <a:t>// 고각</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389  </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플롯 ID 는 10000 ~ 1000000 을 돌아가며 씀</a:t>
            </a:r>
          </a:p>
          <a:p>
            <a:pPr>
              <a:lnSpc>
                <a:spcPts val="900"/>
              </a:lnSpc>
            </a:pPr>
            <a:r>
              <a:rPr sz="760" b="0">
                <a:solidFill>
                  <a:srgbClr val="AEB9CC"/>
                </a:solidFill>
                <a:latin typeface="Consolas"/>
                <a:ea typeface="Consolas"/>
                <a:cs typeface="Consolas"/>
              </a:rPr>
              <a:t>390  </a:t>
            </a:r>
            <a:r>
              <a:rPr sz="760" b="0">
                <a:solidFill>
                  <a:srgbClr val="1B2740"/>
                </a:solidFill>
                <a:latin typeface="Consolas"/>
                <a:ea typeface="Consolas"/>
                <a:cs typeface="Consolas"/>
              </a:rPr>
              <a:t>    *pt_PlotId = (*pt_PlotId &gt;= </a:t>
            </a:r>
            <a:r>
              <a:rPr sz="760" b="0">
                <a:solidFill>
                  <a:srgbClr val="7C3AED"/>
                </a:solidFill>
                <a:latin typeface="Consolas"/>
                <a:ea typeface="Consolas"/>
                <a:cs typeface="Consolas"/>
              </a:rPr>
              <a:t>IDD_PLOT_ID_MAX</a:t>
            </a:r>
            <a:r>
              <a:rPr sz="760" b="0">
                <a:solidFill>
                  <a:srgbClr val="1B2740"/>
                </a:solidFill>
                <a:latin typeface="Consolas"/>
                <a:ea typeface="Consolas"/>
                <a:cs typeface="Consolas"/>
              </a:rPr>
              <a:t>) ? </a:t>
            </a:r>
            <a:r>
              <a:rPr sz="760" b="0">
                <a:solidFill>
                  <a:srgbClr val="7C3AED"/>
                </a:solidFill>
                <a:latin typeface="Consolas"/>
                <a:ea typeface="Consolas"/>
                <a:cs typeface="Consolas"/>
              </a:rPr>
              <a:t>IDD_PLOT_ID_MIN</a:t>
            </a:r>
            <a:r>
              <a:rPr sz="760" b="0">
                <a:solidFill>
                  <a:srgbClr val="1B2740"/>
                </a:solidFill>
                <a:latin typeface="Consolas"/>
                <a:ea typeface="Consolas"/>
                <a:cs typeface="Consolas"/>
              </a:rPr>
              <a:t> : (*pt_PlotId + </a:t>
            </a:r>
            <a:r>
              <a:rPr sz="760" b="0">
                <a:solidFill>
                  <a:srgbClr val="B45309"/>
                </a:solidFill>
                <a:latin typeface="Consolas"/>
                <a:ea typeface="Consolas"/>
                <a:cs typeface="Consolas"/>
              </a:rPr>
              <a:t>1U</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다음 플롯 ID</a:t>
            </a:r>
          </a:p>
        </p:txBody>
      </p:sp>
      <p:sp>
        <p:nvSpPr>
          <p:cNvPr id="29" name="Oval 28"/>
          <p:cNvSpPr/>
          <p:nvPr/>
        </p:nvSpPr>
        <p:spPr>
          <a:xfrm>
            <a:off x="8092440" y="228600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30" name="TextBox 29"/>
          <p:cNvSpPr txBox="1"/>
          <p:nvPr/>
        </p:nvSpPr>
        <p:spPr>
          <a:xfrm>
            <a:off x="8476488" y="226771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표적 플롯 + 클러터를 한 배열에</a:t>
            </a:r>
          </a:p>
          <a:p>
            <a:pPr algn="l">
              <a:lnSpc>
                <a:spcPct val="105000"/>
              </a:lnSpc>
            </a:pPr>
            <a:r>
              <a:rPr sz="1050" b="0">
                <a:solidFill>
                  <a:srgbClr val="4A5A7A"/>
                </a:solidFill>
                <a:latin typeface="맑은 고딕"/>
                <a:ea typeface="맑은 고딕"/>
                <a:cs typeface="맑은 고딕"/>
              </a:rPr>
              <a:t>표적 플롯 뒤에 클러터를 이어 붙임</a:t>
            </a:r>
          </a:p>
          <a:p>
            <a:pPr algn="l">
              <a:lnSpc>
                <a:spcPct val="105000"/>
              </a:lnSpc>
            </a:pPr>
            <a:r>
              <a:rPr sz="1050" b="0">
                <a:solidFill>
                  <a:srgbClr val="4A5A7A"/>
                </a:solidFill>
                <a:latin typeface="맑은 고딕"/>
                <a:ea typeface="맑은 고딕"/>
                <a:cs typeface="맑은 고딕"/>
              </a:rPr>
              <a:t>출처 (표적 k / 클러터) 는 송신 쪽에만 기록</a:t>
            </a:r>
          </a:p>
        </p:txBody>
      </p:sp>
      <p:sp>
        <p:nvSpPr>
          <p:cNvPr id="31" name="Oval 30"/>
          <p:cNvSpPr/>
          <p:nvPr/>
        </p:nvSpPr>
        <p:spPr>
          <a:xfrm>
            <a:off x="8092440" y="315468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32" name="TextBox 31"/>
          <p:cNvSpPr txBox="1"/>
          <p:nvPr/>
        </p:nvSpPr>
        <p:spPr>
          <a:xfrm>
            <a:off x="8476488" y="313639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방위각 순서로 정렬</a:t>
            </a:r>
          </a:p>
          <a:p>
            <a:pPr algn="l">
              <a:lnSpc>
                <a:spcPct val="105000"/>
              </a:lnSpc>
            </a:pPr>
            <a:r>
              <a:rPr sz="1050" b="0">
                <a:solidFill>
                  <a:srgbClr val="4A5A7A"/>
                </a:solidFill>
                <a:latin typeface="맑은 고딕"/>
                <a:ea typeface="맑은 고딕"/>
                <a:cs typeface="맑은 고딕"/>
              </a:rPr>
              <a:t>빔이 지나가는 순서처럼</a:t>
            </a:r>
          </a:p>
          <a:p>
            <a:pPr algn="l">
              <a:lnSpc>
                <a:spcPct val="105000"/>
              </a:lnSpc>
            </a:pPr>
            <a:r>
              <a:rPr sz="1050" b="0">
                <a:solidFill>
                  <a:srgbClr val="4A5A7A"/>
                </a:solidFill>
                <a:latin typeface="맑은 고딕"/>
                <a:ea typeface="맑은 고딕"/>
                <a:cs typeface="맑은 고딕"/>
              </a:rPr>
              <a:t>배열 위치로 표적을 알 수 없게</a:t>
            </a:r>
          </a:p>
        </p:txBody>
      </p:sp>
      <p:sp>
        <p:nvSpPr>
          <p:cNvPr id="33" name="Oval 32"/>
          <p:cNvSpPr/>
          <p:nvPr/>
        </p:nvSpPr>
        <p:spPr>
          <a:xfrm>
            <a:off x="8092440" y="402336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34" name="TextBox 33"/>
          <p:cNvSpPr txBox="1"/>
          <p:nvPr/>
        </p:nvSpPr>
        <p:spPr>
          <a:xfrm>
            <a:off x="8476488" y="400507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메시지 머리</a:t>
            </a:r>
          </a:p>
          <a:p>
            <a:pPr algn="l">
              <a:lnSpc>
                <a:spcPct val="105000"/>
              </a:lnSpc>
            </a:pPr>
            <a:r>
              <a:rPr sz="1050" b="0">
                <a:solidFill>
                  <a:srgbClr val="4A5A7A"/>
                </a:solidFill>
                <a:latin typeface="맑은 고딕"/>
                <a:ea typeface="맑은 고딕"/>
                <a:cs typeface="맑은 고딕"/>
              </a:rPr>
              <a:t>스캔 번호, 시각, 플롯 수</a:t>
            </a:r>
          </a:p>
        </p:txBody>
      </p:sp>
      <p:sp>
        <p:nvSpPr>
          <p:cNvPr id="35" name="Oval 34"/>
          <p:cNvSpPr/>
          <p:nvPr/>
        </p:nvSpPr>
        <p:spPr>
          <a:xfrm>
            <a:off x="8092440" y="4617720"/>
            <a:ext cx="256032" cy="256032"/>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36" name="TextBox 35"/>
          <p:cNvSpPr txBox="1"/>
          <p:nvPr/>
        </p:nvSpPr>
        <p:spPr>
          <a:xfrm>
            <a:off x="8476488" y="459943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플롯 ID 와 안테나 구좌표</a:t>
            </a:r>
          </a:p>
          <a:p>
            <a:pPr algn="l">
              <a:lnSpc>
                <a:spcPct val="105000"/>
              </a:lnSpc>
            </a:pPr>
            <a:r>
              <a:rPr sz="1050" b="0">
                <a:solidFill>
                  <a:srgbClr val="4A5A7A"/>
                </a:solidFill>
                <a:latin typeface="맑은 고딕"/>
                <a:ea typeface="맑은 고딕"/>
                <a:cs typeface="맑은 고딕"/>
              </a:rPr>
              <a:t>거리 · 방위각 · 고각만 채움</a:t>
            </a:r>
          </a:p>
        </p:txBody>
      </p:sp>
      <p:sp>
        <p:nvSpPr>
          <p:cNvPr id="37" name="Oval 36"/>
          <p:cNvSpPr/>
          <p:nvPr/>
        </p:nvSpPr>
        <p:spPr>
          <a:xfrm>
            <a:off x="8092440" y="5212080"/>
            <a:ext cx="256032" cy="256032"/>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38" name="TextBox 37"/>
          <p:cNvSpPr txBox="1"/>
          <p:nvPr/>
        </p:nvSpPr>
        <p:spPr>
          <a:xfrm>
            <a:off x="8476488" y="519379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플롯 ID 10000 ~ 1000000</a:t>
            </a:r>
          </a:p>
          <a:p>
            <a:pPr algn="l">
              <a:lnSpc>
                <a:spcPct val="105000"/>
              </a:lnSpc>
            </a:pPr>
            <a:r>
              <a:rPr sz="1050" b="0">
                <a:solidFill>
                  <a:srgbClr val="4A5A7A"/>
                </a:solidFill>
                <a:latin typeface="맑은 고딕"/>
                <a:ea typeface="맑은 고딕"/>
                <a:cs typeface="맑은 고딕"/>
              </a:rPr>
              <a:t>1000000 다음은 10000 으로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3.4 수신: 좌표 변환과 측정 공분산 (f_Lnk_ProcessMsg)</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받은 플롯을 VC-NED 로 바꾸고 측정 공분산을 구한 뒤, 트랙 관리와 개시를 한 번에 돌립니다.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3-3</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TargetSimCore/src/PlotLink.c</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Rectangle 7"/>
          <p:cNvSpPr/>
          <p:nvPr/>
        </p:nvSpPr>
        <p:spPr>
          <a:xfrm>
            <a:off x="640080" y="2240280"/>
            <a:ext cx="7178040" cy="3022092"/>
          </a:xfrm>
          <a:prstGeom prst="rect">
            <a:avLst/>
          </a:prstGeom>
          <a:solidFill>
            <a:srgbClr val="FFFFFF"/>
          </a:solidFill>
          <a:ln w="9525">
            <a:solidFill>
              <a:srgbClr val="D2D9E5"/>
            </a:solidFill>
          </a:ln>
        </p:spPr>
        <p:txBody>
          <a:bodyPr rtlCol="0" anchor="ctr"/>
          <a:lstStyle/>
          <a:p>
            <a:pPr algn="ctr"/>
          </a:p>
        </p:txBody>
      </p:sp>
      <p:sp>
        <p:nvSpPr>
          <p:cNvPr id="9" name="Rectangle 8"/>
          <p:cNvSpPr/>
          <p:nvPr/>
        </p:nvSpPr>
        <p:spPr>
          <a:xfrm>
            <a:off x="667512" y="2768803"/>
            <a:ext cx="7123176" cy="685800"/>
          </a:xfrm>
          <a:prstGeom prst="rect">
            <a:avLst/>
          </a:prstGeom>
          <a:solidFill>
            <a:srgbClr val="FDEEEE"/>
          </a:solidFill>
          <a:ln>
            <a:noFill/>
          </a:ln>
        </p:spPr>
        <p:txBody>
          <a:bodyPr rtlCol="0" anchor="ctr"/>
          <a:lstStyle/>
          <a:p>
            <a:pPr algn="ctr"/>
          </a:p>
        </p:txBody>
      </p:sp>
      <p:sp>
        <p:nvSpPr>
          <p:cNvPr id="10" name="Rectangle 9"/>
          <p:cNvSpPr/>
          <p:nvPr/>
        </p:nvSpPr>
        <p:spPr>
          <a:xfrm>
            <a:off x="667512" y="2768803"/>
            <a:ext cx="36576" cy="685800"/>
          </a:xfrm>
          <a:prstGeom prst="rect">
            <a:avLst/>
          </a:prstGeom>
          <a:solidFill>
            <a:srgbClr val="DC2626"/>
          </a:solidFill>
          <a:ln>
            <a:noFill/>
          </a:ln>
        </p:spPr>
        <p:txBody>
          <a:bodyPr rtlCol="0" anchor="ctr"/>
          <a:lstStyle/>
          <a:p>
            <a:pPr algn="ctr"/>
          </a:p>
        </p:txBody>
      </p:sp>
      <p:sp>
        <p:nvSpPr>
          <p:cNvPr id="11" name="Oval 10"/>
          <p:cNvSpPr/>
          <p:nvPr/>
        </p:nvSpPr>
        <p:spPr>
          <a:xfrm>
            <a:off x="7717536" y="2725369"/>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2" name="Rectangle 11"/>
          <p:cNvSpPr/>
          <p:nvPr/>
        </p:nvSpPr>
        <p:spPr>
          <a:xfrm>
            <a:off x="667512" y="3911803"/>
            <a:ext cx="7123176" cy="114300"/>
          </a:xfrm>
          <a:prstGeom prst="rect">
            <a:avLst/>
          </a:prstGeom>
          <a:solidFill>
            <a:srgbClr val="FEF3E2"/>
          </a:solidFill>
          <a:ln>
            <a:noFill/>
          </a:ln>
        </p:spPr>
        <p:txBody>
          <a:bodyPr rtlCol="0" anchor="ctr"/>
          <a:lstStyle/>
          <a:p>
            <a:pPr algn="ctr"/>
          </a:p>
        </p:txBody>
      </p:sp>
      <p:sp>
        <p:nvSpPr>
          <p:cNvPr id="13" name="Rectangle 12"/>
          <p:cNvSpPr/>
          <p:nvPr/>
        </p:nvSpPr>
        <p:spPr>
          <a:xfrm>
            <a:off x="667512" y="3911803"/>
            <a:ext cx="36576" cy="114300"/>
          </a:xfrm>
          <a:prstGeom prst="rect">
            <a:avLst/>
          </a:prstGeom>
          <a:solidFill>
            <a:srgbClr val="D97706"/>
          </a:solidFill>
          <a:ln>
            <a:noFill/>
          </a:ln>
        </p:spPr>
        <p:txBody>
          <a:bodyPr rtlCol="0" anchor="ctr"/>
          <a:lstStyle/>
          <a:p>
            <a:pPr algn="ctr"/>
          </a:p>
        </p:txBody>
      </p:sp>
      <p:sp>
        <p:nvSpPr>
          <p:cNvPr id="14" name="Oval 13"/>
          <p:cNvSpPr/>
          <p:nvPr/>
        </p:nvSpPr>
        <p:spPr>
          <a:xfrm>
            <a:off x="7717536" y="3868369"/>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5" name="Rectangle 14"/>
          <p:cNvSpPr/>
          <p:nvPr/>
        </p:nvSpPr>
        <p:spPr>
          <a:xfrm>
            <a:off x="667512" y="4140403"/>
            <a:ext cx="7123176" cy="342900"/>
          </a:xfrm>
          <a:prstGeom prst="rect">
            <a:avLst/>
          </a:prstGeom>
          <a:solidFill>
            <a:srgbClr val="E6F5EE"/>
          </a:solidFill>
          <a:ln>
            <a:noFill/>
          </a:ln>
        </p:spPr>
        <p:txBody>
          <a:bodyPr rtlCol="0" anchor="ctr"/>
          <a:lstStyle/>
          <a:p>
            <a:pPr algn="ctr"/>
          </a:p>
        </p:txBody>
      </p:sp>
      <p:sp>
        <p:nvSpPr>
          <p:cNvPr id="16" name="Rectangle 15"/>
          <p:cNvSpPr/>
          <p:nvPr/>
        </p:nvSpPr>
        <p:spPr>
          <a:xfrm>
            <a:off x="667512" y="4140403"/>
            <a:ext cx="36576" cy="342900"/>
          </a:xfrm>
          <a:prstGeom prst="rect">
            <a:avLst/>
          </a:prstGeom>
          <a:solidFill>
            <a:srgbClr val="059669"/>
          </a:solidFill>
          <a:ln>
            <a:noFill/>
          </a:ln>
        </p:spPr>
        <p:txBody>
          <a:bodyPr rtlCol="0" anchor="ctr"/>
          <a:lstStyle/>
          <a:p>
            <a:pPr algn="ctr"/>
          </a:p>
        </p:txBody>
      </p:sp>
      <p:sp>
        <p:nvSpPr>
          <p:cNvPr id="17" name="Oval 16"/>
          <p:cNvSpPr/>
          <p:nvPr/>
        </p:nvSpPr>
        <p:spPr>
          <a:xfrm>
            <a:off x="7717536" y="4096969"/>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8" name="Rectangle 17"/>
          <p:cNvSpPr/>
          <p:nvPr/>
        </p:nvSpPr>
        <p:spPr>
          <a:xfrm>
            <a:off x="667512" y="4597603"/>
            <a:ext cx="7123176" cy="114300"/>
          </a:xfrm>
          <a:prstGeom prst="rect">
            <a:avLst/>
          </a:prstGeom>
          <a:solidFill>
            <a:srgbClr val="E6F5EE"/>
          </a:solidFill>
          <a:ln>
            <a:noFill/>
          </a:ln>
        </p:spPr>
        <p:txBody>
          <a:bodyPr rtlCol="0" anchor="ctr"/>
          <a:lstStyle/>
          <a:p>
            <a:pPr algn="ctr"/>
          </a:p>
        </p:txBody>
      </p:sp>
      <p:sp>
        <p:nvSpPr>
          <p:cNvPr id="19" name="Rectangle 18"/>
          <p:cNvSpPr/>
          <p:nvPr/>
        </p:nvSpPr>
        <p:spPr>
          <a:xfrm>
            <a:off x="667512" y="4597603"/>
            <a:ext cx="36576" cy="114300"/>
          </a:xfrm>
          <a:prstGeom prst="rect">
            <a:avLst/>
          </a:prstGeom>
          <a:solidFill>
            <a:srgbClr val="059669"/>
          </a:solidFill>
          <a:ln>
            <a:noFill/>
          </a:ln>
        </p:spPr>
        <p:txBody>
          <a:bodyPr rtlCol="0" anchor="ctr"/>
          <a:lstStyle/>
          <a:p>
            <a:pPr algn="ctr"/>
          </a:p>
        </p:txBody>
      </p:sp>
      <p:sp>
        <p:nvSpPr>
          <p:cNvPr id="20" name="Rectangle 19"/>
          <p:cNvSpPr/>
          <p:nvPr/>
        </p:nvSpPr>
        <p:spPr>
          <a:xfrm>
            <a:off x="667512" y="4826203"/>
            <a:ext cx="7123176" cy="114300"/>
          </a:xfrm>
          <a:prstGeom prst="rect">
            <a:avLst/>
          </a:prstGeom>
          <a:solidFill>
            <a:srgbClr val="F2ECFD"/>
          </a:solidFill>
          <a:ln>
            <a:noFill/>
          </a:ln>
        </p:spPr>
        <p:txBody>
          <a:bodyPr rtlCol="0" anchor="ctr"/>
          <a:lstStyle/>
          <a:p>
            <a:pPr algn="ctr"/>
          </a:p>
        </p:txBody>
      </p:sp>
      <p:sp>
        <p:nvSpPr>
          <p:cNvPr id="21" name="Rectangle 20"/>
          <p:cNvSpPr/>
          <p:nvPr/>
        </p:nvSpPr>
        <p:spPr>
          <a:xfrm>
            <a:off x="667512" y="4826203"/>
            <a:ext cx="36576" cy="114300"/>
          </a:xfrm>
          <a:prstGeom prst="rect">
            <a:avLst/>
          </a:prstGeom>
          <a:solidFill>
            <a:srgbClr val="7C3AED"/>
          </a:solidFill>
          <a:ln>
            <a:noFill/>
          </a:ln>
        </p:spPr>
        <p:txBody>
          <a:bodyPr rtlCol="0" anchor="ctr"/>
          <a:lstStyle/>
          <a:p>
            <a:pPr algn="ctr"/>
          </a:p>
        </p:txBody>
      </p:sp>
      <p:sp>
        <p:nvSpPr>
          <p:cNvPr id="22" name="Oval 21"/>
          <p:cNvSpPr/>
          <p:nvPr/>
        </p:nvSpPr>
        <p:spPr>
          <a:xfrm>
            <a:off x="7717536" y="4782769"/>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23" name="Rectangle 22"/>
          <p:cNvSpPr/>
          <p:nvPr/>
        </p:nvSpPr>
        <p:spPr>
          <a:xfrm>
            <a:off x="667512" y="5054803"/>
            <a:ext cx="7123176" cy="114300"/>
          </a:xfrm>
          <a:prstGeom prst="rect">
            <a:avLst/>
          </a:prstGeom>
          <a:solidFill>
            <a:srgbClr val="EAF1FD"/>
          </a:solidFill>
          <a:ln>
            <a:noFill/>
          </a:ln>
        </p:spPr>
        <p:txBody>
          <a:bodyPr rtlCol="0" anchor="ctr"/>
          <a:lstStyle/>
          <a:p>
            <a:pPr algn="ctr"/>
          </a:p>
        </p:txBody>
      </p:sp>
      <p:sp>
        <p:nvSpPr>
          <p:cNvPr id="24" name="Rectangle 23"/>
          <p:cNvSpPr/>
          <p:nvPr/>
        </p:nvSpPr>
        <p:spPr>
          <a:xfrm>
            <a:off x="667512" y="5054803"/>
            <a:ext cx="36576" cy="114300"/>
          </a:xfrm>
          <a:prstGeom prst="rect">
            <a:avLst/>
          </a:prstGeom>
          <a:solidFill>
            <a:srgbClr val="2563EB"/>
          </a:solidFill>
          <a:ln>
            <a:noFill/>
          </a:ln>
        </p:spPr>
        <p:txBody>
          <a:bodyPr rtlCol="0" anchor="ctr"/>
          <a:lstStyle/>
          <a:p>
            <a:pPr algn="ctr"/>
          </a:p>
        </p:txBody>
      </p:sp>
      <p:sp>
        <p:nvSpPr>
          <p:cNvPr id="25" name="Oval 24"/>
          <p:cNvSpPr/>
          <p:nvPr/>
        </p:nvSpPr>
        <p:spPr>
          <a:xfrm>
            <a:off x="7717536" y="5011369"/>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26" name="TextBox 25"/>
          <p:cNvSpPr txBox="1"/>
          <p:nvPr/>
        </p:nvSpPr>
        <p:spPr>
          <a:xfrm>
            <a:off x="731519" y="2322576"/>
            <a:ext cx="6949440" cy="2857500"/>
          </a:xfrm>
          <a:prstGeom prst="rect">
            <a:avLst/>
          </a:prstGeom>
          <a:noFill/>
        </p:spPr>
        <p:txBody>
          <a:bodyPr wrap="none" lIns="0" tIns="0" rIns="0" bIns="0" anchor="t">
            <a:spAutoFit/>
          </a:bodyPr>
          <a:lstStyle/>
          <a:p>
            <a:pPr>
              <a:lnSpc>
                <a:spcPts val="900"/>
              </a:lnSpc>
            </a:pPr>
            <a:r>
              <a:rPr sz="790" b="0">
                <a:solidFill>
                  <a:srgbClr val="AEB9CC"/>
                </a:solidFill>
                <a:latin typeface="Consolas"/>
                <a:ea typeface="Consolas"/>
                <a:cs typeface="Consolas"/>
              </a:rPr>
              <a:t>593  </a:t>
            </a:r>
            <a:r>
              <a:rPr sz="790" b="0">
                <a:solidFill>
                  <a:srgbClr val="2563EB"/>
                </a:solidFill>
                <a:latin typeface="Consolas"/>
                <a:ea typeface="Consolas"/>
                <a:cs typeface="Consolas"/>
              </a:rPr>
              <a:t>static</a:t>
            </a:r>
            <a:r>
              <a:rPr sz="790" b="0">
                <a:solidFill>
                  <a:srgbClr val="1B2740"/>
                </a:solidFill>
                <a:latin typeface="Consolas"/>
                <a:ea typeface="Consolas"/>
                <a:cs typeface="Consolas"/>
              </a:rPr>
              <a:t> </a:t>
            </a:r>
            <a:r>
              <a:rPr sz="790" b="0">
                <a:solidFill>
                  <a:srgbClr val="2563EB"/>
                </a:solidFill>
                <a:latin typeface="Consolas"/>
                <a:ea typeface="Consolas"/>
                <a:cs typeface="Consolas"/>
              </a:rPr>
              <a:t>VOID</a:t>
            </a:r>
            <a:r>
              <a:rPr sz="790" b="0">
                <a:solidFill>
                  <a:srgbClr val="1B2740"/>
                </a:solidFill>
                <a:latin typeface="Consolas"/>
                <a:ea typeface="Consolas"/>
                <a:cs typeface="Consolas"/>
              </a:rPr>
              <a:t> f_Lnk_ProcessMsg(</a:t>
            </a:r>
            <a:r>
              <a:rPr sz="790" b="0">
                <a:solidFill>
                  <a:srgbClr val="2563EB"/>
                </a:solidFill>
                <a:latin typeface="Consolas"/>
                <a:ea typeface="Consolas"/>
                <a:cs typeface="Consolas"/>
              </a:rPr>
              <a:t>STRUCT_PlotMsg</a:t>
            </a:r>
            <a:r>
              <a:rPr sz="790" b="0">
                <a:solidFill>
                  <a:srgbClr val="1B2740"/>
                </a:solidFill>
                <a:latin typeface="Consolas"/>
                <a:ea typeface="Consolas"/>
                <a:cs typeface="Consolas"/>
              </a:rPr>
              <a:t> *st_Msg)  </a:t>
            </a:r>
            <a:r>
              <a:rPr sz="790" b="0">
                <a:solidFill>
                  <a:srgbClr val="059669"/>
                </a:solidFill>
                <a:latin typeface="맑은 고딕"/>
                <a:ea typeface="맑은 고딕"/>
                <a:cs typeface="맑은 고딕"/>
              </a:rPr>
              <a:t>// 받은 메시지 하나 처리</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595  </a:t>
            </a:r>
            <a:r>
              <a:rPr sz="790" b="0">
                <a:solidFill>
                  <a:srgbClr val="1B2740"/>
                </a:solidFill>
                <a:latin typeface="Consolas"/>
                <a:ea typeface="Consolas"/>
                <a:cs typeface="Consolas"/>
              </a:rPr>
              <a:t>  </a:t>
            </a:r>
            <a:r>
              <a:rPr sz="790" b="0">
                <a:solidFill>
                  <a:srgbClr val="2563EB"/>
                </a:solidFill>
                <a:latin typeface="Consolas"/>
                <a:ea typeface="Consolas"/>
                <a:cs typeface="Consolas"/>
              </a:rPr>
              <a:t>const</a:t>
            </a:r>
            <a:r>
              <a:rPr sz="790" b="0">
                <a:solidFill>
                  <a:srgbClr val="1B2740"/>
                </a:solidFill>
                <a:latin typeface="Consolas"/>
                <a:ea typeface="Consolas"/>
                <a:cs typeface="Consolas"/>
              </a:rPr>
              <a:t> </a:t>
            </a:r>
            <a:r>
              <a:rPr sz="790" b="0">
                <a:solidFill>
                  <a:srgbClr val="2563EB"/>
                </a:solidFill>
                <a:latin typeface="Consolas"/>
                <a:ea typeface="Consolas"/>
                <a:cs typeface="Consolas"/>
              </a:rPr>
              <a:t>FLOAT64</a:t>
            </a:r>
            <a:r>
              <a:rPr sz="790" b="0">
                <a:solidFill>
                  <a:srgbClr val="1B2740"/>
                </a:solidFill>
                <a:latin typeface="Consolas"/>
                <a:ea typeface="Consolas"/>
                <a:cs typeface="Consolas"/>
              </a:rPr>
              <a:t>  time = (</a:t>
            </a:r>
            <a:r>
              <a:rPr sz="790" b="0">
                <a:solidFill>
                  <a:srgbClr val="2563EB"/>
                </a:solidFill>
                <a:latin typeface="Consolas"/>
                <a:ea typeface="Consolas"/>
                <a:cs typeface="Consolas"/>
              </a:rPr>
              <a:t>FLOAT64</a:t>
            </a:r>
            <a:r>
              <a:rPr sz="790" b="0">
                <a:solidFill>
                  <a:srgbClr val="1B2740"/>
                </a:solidFill>
                <a:latin typeface="Consolas"/>
                <a:ea typeface="Consolas"/>
                <a:cs typeface="Consolas"/>
              </a:rPr>
              <a:t>)st_Msg-&gt;TimeStamp_s + ((</a:t>
            </a:r>
            <a:r>
              <a:rPr sz="790" b="0">
                <a:solidFill>
                  <a:srgbClr val="2563EB"/>
                </a:solidFill>
                <a:latin typeface="Consolas"/>
                <a:ea typeface="Consolas"/>
                <a:cs typeface="Consolas"/>
              </a:rPr>
              <a:t>FLOAT64</a:t>
            </a:r>
            <a:r>
              <a:rPr sz="790" b="0">
                <a:solidFill>
                  <a:srgbClr val="1B2740"/>
                </a:solidFill>
                <a:latin typeface="Consolas"/>
                <a:ea typeface="Consolas"/>
                <a:cs typeface="Consolas"/>
              </a:rPr>
              <a:t>)st_Msg-&gt;TimeStamp_ns * </a:t>
            </a:r>
            <a:r>
              <a:rPr sz="790" b="0">
                <a:solidFill>
                  <a:srgbClr val="B45309"/>
                </a:solidFill>
                <a:latin typeface="Consolas"/>
                <a:ea typeface="Consolas"/>
                <a:cs typeface="Consolas"/>
              </a:rPr>
              <a:t>1.0e-9</a:t>
            </a:r>
            <a:r>
              <a:rPr sz="790" b="0">
                <a:solidFill>
                  <a:srgbClr val="1B2740"/>
                </a:solidFill>
                <a:latin typeface="Consolas"/>
                <a:ea typeface="Consolas"/>
                <a:cs typeface="Consolas"/>
              </a:rPr>
              <a:t>);  </a:t>
            </a:r>
            <a:r>
              <a:rPr sz="790" b="0">
                <a:solidFill>
                  <a:srgbClr val="059669"/>
                </a:solidFill>
                <a:latin typeface="맑은 고딕"/>
                <a:ea typeface="맑은 고딕"/>
                <a:cs typeface="맑은 고딕"/>
              </a:rPr>
              <a:t>// 스캔 시각 [s]</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610  </a:t>
            </a:r>
            <a:r>
              <a:rPr sz="790" b="0">
                <a:solidFill>
                  <a:srgbClr val="1B2740"/>
                </a:solidFill>
                <a:latin typeface="Consolas"/>
                <a:ea typeface="Consolas"/>
                <a:cs typeface="Consolas"/>
              </a:rPr>
              <a:t>  st_Sigma.r  = st_Msg-&gt;Sigma_Range;  </a:t>
            </a:r>
            <a:r>
              <a:rPr sz="790" b="0">
                <a:solidFill>
                  <a:srgbClr val="059669"/>
                </a:solidFill>
                <a:latin typeface="맑은 고딕"/>
                <a:ea typeface="맑은 고딕"/>
                <a:cs typeface="맑은 고딕"/>
              </a:rPr>
              <a:t>// 측정 표준편차: 거리</a:t>
            </a:r>
          </a:p>
          <a:p>
            <a:pPr>
              <a:lnSpc>
                <a:spcPts val="900"/>
              </a:lnSpc>
            </a:pPr>
            <a:r>
              <a:rPr sz="790" b="0">
                <a:solidFill>
                  <a:srgbClr val="AEB9CC"/>
                </a:solidFill>
                <a:latin typeface="Consolas"/>
                <a:ea typeface="Consolas"/>
                <a:cs typeface="Consolas"/>
              </a:rPr>
              <a:t>611  </a:t>
            </a:r>
            <a:r>
              <a:rPr sz="790" b="0">
                <a:solidFill>
                  <a:srgbClr val="1B2740"/>
                </a:solidFill>
                <a:latin typeface="Consolas"/>
                <a:ea typeface="Consolas"/>
                <a:cs typeface="Consolas"/>
              </a:rPr>
              <a:t>  st_Sigma.az  = st_Msg-&gt;Sigma_Azimuth;  </a:t>
            </a:r>
            <a:r>
              <a:rPr sz="790" b="0">
                <a:solidFill>
                  <a:srgbClr val="059669"/>
                </a:solidFill>
                <a:latin typeface="맑은 고딕"/>
                <a:ea typeface="맑은 고딕"/>
                <a:cs typeface="맑은 고딕"/>
              </a:rPr>
              <a:t>// 방위각</a:t>
            </a:r>
          </a:p>
          <a:p>
            <a:pPr>
              <a:lnSpc>
                <a:spcPts val="900"/>
              </a:lnSpc>
            </a:pPr>
            <a:r>
              <a:rPr sz="790" b="0">
                <a:solidFill>
                  <a:srgbClr val="AEB9CC"/>
                </a:solidFill>
                <a:latin typeface="Consolas"/>
                <a:ea typeface="Consolas"/>
                <a:cs typeface="Consolas"/>
              </a:rPr>
              <a:t>612  </a:t>
            </a:r>
            <a:r>
              <a:rPr sz="790" b="0">
                <a:solidFill>
                  <a:srgbClr val="1B2740"/>
                </a:solidFill>
                <a:latin typeface="Consolas"/>
                <a:ea typeface="Consolas"/>
                <a:cs typeface="Consolas"/>
              </a:rPr>
              <a:t>  st_Sigma.el  = st_Msg-&gt;Sigma_Elevation;  </a:t>
            </a:r>
            <a:r>
              <a:rPr sz="790" b="0">
                <a:solidFill>
                  <a:srgbClr val="059669"/>
                </a:solidFill>
                <a:latin typeface="맑은 고딕"/>
                <a:ea typeface="맑은 고딕"/>
                <a:cs typeface="맑은 고딕"/>
              </a:rPr>
              <a:t>// 고각</a:t>
            </a:r>
          </a:p>
          <a:p>
            <a:pPr>
              <a:lnSpc>
                <a:spcPts val="900"/>
              </a:lnSpc>
            </a:pPr>
            <a:r>
              <a:rPr sz="790" b="0">
                <a:solidFill>
                  <a:srgbClr val="AEB9CC"/>
                </a:solidFill>
                <a:latin typeface="Consolas"/>
                <a:ea typeface="Consolas"/>
                <a:cs typeface="Consolas"/>
              </a:rPr>
              <a:t>613  </a:t>
            </a:r>
            <a:r>
              <a:rPr sz="790" b="0">
                <a:solidFill>
                  <a:srgbClr val="1B2740"/>
                </a:solidFill>
                <a:latin typeface="Consolas"/>
                <a:ea typeface="Consolas"/>
                <a:cs typeface="Consolas"/>
              </a:rPr>
              <a:t>  st_Att.Roll  = st_Msg-&gt;st_Platform.Pf_Roll;  </a:t>
            </a:r>
            <a:r>
              <a:rPr sz="790" b="0">
                <a:solidFill>
                  <a:srgbClr val="059669"/>
                </a:solidFill>
                <a:latin typeface="맑은 고딕"/>
                <a:ea typeface="맑은 고딕"/>
                <a:cs typeface="맑은 고딕"/>
              </a:rPr>
              <a:t>// 플랫폼 자세</a:t>
            </a:r>
          </a:p>
          <a:p>
            <a:pPr>
              <a:lnSpc>
                <a:spcPts val="900"/>
              </a:lnSpc>
            </a:pPr>
            <a:r>
              <a:rPr sz="790" b="0">
                <a:solidFill>
                  <a:srgbClr val="AEB9CC"/>
                </a:solidFill>
                <a:latin typeface="Consolas"/>
                <a:ea typeface="Consolas"/>
                <a:cs typeface="Consolas"/>
              </a:rPr>
              <a:t>614  </a:t>
            </a:r>
            <a:r>
              <a:rPr sz="790" b="0">
                <a:solidFill>
                  <a:srgbClr val="1B2740"/>
                </a:solidFill>
                <a:latin typeface="Consolas"/>
                <a:ea typeface="Consolas"/>
                <a:cs typeface="Consolas"/>
              </a:rPr>
              <a:t>  st_Att.Pitch  = st_Msg-&gt;st_Platform.Pf_Pitch;</a:t>
            </a:r>
          </a:p>
          <a:p>
            <a:pPr>
              <a:lnSpc>
                <a:spcPts val="900"/>
              </a:lnSpc>
            </a:pPr>
            <a:r>
              <a:rPr sz="790" b="0">
                <a:solidFill>
                  <a:srgbClr val="AEB9CC"/>
                </a:solidFill>
                <a:latin typeface="Consolas"/>
                <a:ea typeface="Consolas"/>
                <a:cs typeface="Consolas"/>
              </a:rPr>
              <a:t>615  </a:t>
            </a:r>
            <a:r>
              <a:rPr sz="790" b="0">
                <a:solidFill>
                  <a:srgbClr val="1B2740"/>
                </a:solidFill>
                <a:latin typeface="Consolas"/>
                <a:ea typeface="Consolas"/>
                <a:cs typeface="Consolas"/>
              </a:rPr>
              <a:t>  st_Att.Yaw  = st_Msg-&gt;st_Platform.Pf_Yaw;</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617  </a:t>
            </a:r>
            <a:r>
              <a:rPr sz="790" b="0">
                <a:solidFill>
                  <a:srgbClr val="1B2740"/>
                </a:solidFill>
                <a:latin typeface="Consolas"/>
                <a:ea typeface="Consolas"/>
                <a:cs typeface="Consolas"/>
              </a:rPr>
              <a:t>  </a:t>
            </a:r>
            <a:r>
              <a:rPr sz="790" b="0">
                <a:solidFill>
                  <a:srgbClr val="2563EB"/>
                </a:solidFill>
                <a:latin typeface="Consolas"/>
                <a:ea typeface="Consolas"/>
                <a:cs typeface="Consolas"/>
              </a:rPr>
              <a:t>for</a:t>
            </a:r>
            <a:r>
              <a:rPr sz="790" b="0">
                <a:solidFill>
                  <a:srgbClr val="1B2740"/>
                </a:solidFill>
                <a:latin typeface="Consolas"/>
                <a:ea typeface="Consolas"/>
                <a:cs typeface="Consolas"/>
              </a:rPr>
              <a:t> (nPlot = </a:t>
            </a:r>
            <a:r>
              <a:rPr sz="790" b="0">
                <a:solidFill>
                  <a:srgbClr val="B45309"/>
                </a:solidFill>
                <a:latin typeface="Consolas"/>
                <a:ea typeface="Consolas"/>
                <a:cs typeface="Consolas"/>
              </a:rPr>
              <a:t>0</a:t>
            </a:r>
            <a:r>
              <a:rPr sz="790" b="0">
                <a:solidFill>
                  <a:srgbClr val="1B2740"/>
                </a:solidFill>
                <a:latin typeface="Consolas"/>
                <a:ea typeface="Consolas"/>
                <a:cs typeface="Consolas"/>
              </a:rPr>
              <a:t>; nPlot &lt; nPlotNum; nPlot++)  </a:t>
            </a:r>
            <a:r>
              <a:rPr sz="790" b="0">
                <a:solidFill>
                  <a:srgbClr val="059669"/>
                </a:solidFill>
                <a:latin typeface="맑은 고딕"/>
                <a:ea typeface="맑은 고딕"/>
                <a:cs typeface="맑은 고딕"/>
              </a:rPr>
              <a:t>// 플롯마다</a:t>
            </a:r>
          </a:p>
          <a:p>
            <a:pPr>
              <a:lnSpc>
                <a:spcPts val="900"/>
              </a:lnSpc>
            </a:pPr>
            <a:r>
              <a:rPr sz="790" b="0">
                <a:solidFill>
                  <a:srgbClr val="AEB9CC"/>
                </a:solidFill>
                <a:latin typeface="Consolas"/>
                <a:ea typeface="Consolas"/>
                <a:cs typeface="Consolas"/>
              </a:rPr>
              <a:t>618  </a:t>
            </a:r>
            <a:r>
              <a:rPr sz="790" b="0">
                <a:solidFill>
                  <a:srgbClr val="1B2740"/>
                </a:solidFill>
                <a:latin typeface="Consolas"/>
                <a:ea typeface="Consolas"/>
                <a:cs typeface="Consolas"/>
              </a:rPr>
              <a:t>  {</a:t>
            </a:r>
          </a:p>
          <a:p>
            <a:pPr>
              <a:lnSpc>
                <a:spcPts val="900"/>
              </a:lnSpc>
            </a:pPr>
            <a:r>
              <a:rPr sz="790" b="0">
                <a:solidFill>
                  <a:srgbClr val="AEB9CC"/>
                </a:solidFill>
                <a:latin typeface="Consolas"/>
                <a:ea typeface="Consolas"/>
                <a:cs typeface="Consolas"/>
              </a:rPr>
              <a:t>619  </a:t>
            </a:r>
            <a:r>
              <a:rPr sz="790" b="0">
                <a:solidFill>
                  <a:srgbClr val="1B2740"/>
                </a:solidFill>
                <a:latin typeface="Consolas"/>
                <a:ea typeface="Consolas"/>
                <a:cs typeface="Consolas"/>
              </a:rPr>
              <a:t>    st_Info = &amp;st_Msg-&gt;st_Plot[nPlot];  </a:t>
            </a:r>
            <a:r>
              <a:rPr sz="790" b="0">
                <a:solidFill>
                  <a:srgbClr val="059669"/>
                </a:solidFill>
                <a:latin typeface="맑은 고딕"/>
                <a:ea typeface="맑은 고딕"/>
                <a:cs typeface="맑은 고딕"/>
              </a:rPr>
              <a:t>// 받은 플롯</a:t>
            </a:r>
          </a:p>
          <a:p>
            <a:pPr>
              <a:lnSpc>
                <a:spcPts val="900"/>
              </a:lnSpc>
            </a:pPr>
            <a:r>
              <a:rPr sz="790" b="0">
                <a:solidFill>
                  <a:srgbClr val="AEB9CC"/>
                </a:solidFill>
                <a:latin typeface="Consolas"/>
                <a:ea typeface="Consolas"/>
                <a:cs typeface="Consolas"/>
              </a:rPr>
              <a:t>620  </a:t>
            </a:r>
            <a:r>
              <a:rPr sz="790" b="0">
                <a:solidFill>
                  <a:srgbClr val="1B2740"/>
                </a:solidFill>
                <a:latin typeface="Consolas"/>
                <a:ea typeface="Consolas"/>
                <a:cs typeface="Consolas"/>
              </a:rPr>
              <a:t>    f_Lnk_FillPlotCoord(st_Info, &amp;st_Msg-&gt;st_Platform);  </a:t>
            </a:r>
            <a:r>
              <a:rPr sz="790" b="0">
                <a:solidFill>
                  <a:srgbClr val="059669"/>
                </a:solidFill>
                <a:latin typeface="맑은 고딕"/>
                <a:ea typeface="맑은 고딕"/>
                <a:cs typeface="맑은 고딕"/>
              </a:rPr>
              <a:t>// 좌표 변환 (아래 세 줄)</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628  </a:t>
            </a:r>
            <a:r>
              <a:rPr sz="790" b="0">
                <a:solidFill>
                  <a:srgbClr val="1B2740"/>
                </a:solidFill>
                <a:latin typeface="Consolas"/>
                <a:ea typeface="Consolas"/>
                <a:cs typeface="Consolas"/>
              </a:rPr>
              <a:t>    st_Plot[nPlot].pos[</a:t>
            </a:r>
            <a:r>
              <a:rPr sz="790" b="0">
                <a:solidFill>
                  <a:srgbClr val="B45309"/>
                </a:solidFill>
                <a:latin typeface="Consolas"/>
                <a:ea typeface="Consolas"/>
                <a:cs typeface="Consolas"/>
              </a:rPr>
              <a:t>0</a:t>
            </a:r>
            <a:r>
              <a:rPr sz="790" b="0">
                <a:solidFill>
                  <a:srgbClr val="1B2740"/>
                </a:solidFill>
                <a:latin typeface="Consolas"/>
                <a:ea typeface="Consolas"/>
                <a:cs typeface="Consolas"/>
              </a:rPr>
              <a:t>]  = st_Info-&gt;X_VcNed;  </a:t>
            </a:r>
            <a:r>
              <a:rPr sz="790" b="0">
                <a:solidFill>
                  <a:srgbClr val="059669"/>
                </a:solidFill>
                <a:latin typeface="맑은 고딕"/>
                <a:ea typeface="맑은 고딕"/>
                <a:cs typeface="맑은 고딕"/>
              </a:rPr>
              <a:t>// 북</a:t>
            </a:r>
          </a:p>
          <a:p>
            <a:pPr>
              <a:lnSpc>
                <a:spcPts val="900"/>
              </a:lnSpc>
            </a:pPr>
            <a:r>
              <a:rPr sz="790" b="0">
                <a:solidFill>
                  <a:srgbClr val="AEB9CC"/>
                </a:solidFill>
                <a:latin typeface="Consolas"/>
                <a:ea typeface="Consolas"/>
                <a:cs typeface="Consolas"/>
              </a:rPr>
              <a:t>629  </a:t>
            </a:r>
            <a:r>
              <a:rPr sz="790" b="0">
                <a:solidFill>
                  <a:srgbClr val="1B2740"/>
                </a:solidFill>
                <a:latin typeface="Consolas"/>
                <a:ea typeface="Consolas"/>
                <a:cs typeface="Consolas"/>
              </a:rPr>
              <a:t>    st_Plot[nPlot].pos[</a:t>
            </a:r>
            <a:r>
              <a:rPr sz="790" b="0">
                <a:solidFill>
                  <a:srgbClr val="B45309"/>
                </a:solidFill>
                <a:latin typeface="Consolas"/>
                <a:ea typeface="Consolas"/>
                <a:cs typeface="Consolas"/>
              </a:rPr>
              <a:t>1</a:t>
            </a:r>
            <a:r>
              <a:rPr sz="790" b="0">
                <a:solidFill>
                  <a:srgbClr val="1B2740"/>
                </a:solidFill>
                <a:latin typeface="Consolas"/>
                <a:ea typeface="Consolas"/>
                <a:cs typeface="Consolas"/>
              </a:rPr>
              <a:t>]  = st_Info-&gt;Y_VcNed;  </a:t>
            </a:r>
            <a:r>
              <a:rPr sz="790" b="0">
                <a:solidFill>
                  <a:srgbClr val="059669"/>
                </a:solidFill>
                <a:latin typeface="맑은 고딕"/>
                <a:ea typeface="맑은 고딕"/>
                <a:cs typeface="맑은 고딕"/>
              </a:rPr>
              <a:t>// 동</a:t>
            </a:r>
          </a:p>
          <a:p>
            <a:pPr>
              <a:lnSpc>
                <a:spcPts val="900"/>
              </a:lnSpc>
            </a:pPr>
            <a:r>
              <a:rPr sz="790" b="0">
                <a:solidFill>
                  <a:srgbClr val="AEB9CC"/>
                </a:solidFill>
                <a:latin typeface="Consolas"/>
                <a:ea typeface="Consolas"/>
                <a:cs typeface="Consolas"/>
              </a:rPr>
              <a:t>630  </a:t>
            </a:r>
            <a:r>
              <a:rPr sz="790" b="0">
                <a:solidFill>
                  <a:srgbClr val="1B2740"/>
                </a:solidFill>
                <a:latin typeface="Consolas"/>
                <a:ea typeface="Consolas"/>
                <a:cs typeface="Consolas"/>
              </a:rPr>
              <a:t>    st_Plot[nPlot].pos[</a:t>
            </a:r>
            <a:r>
              <a:rPr sz="790" b="0">
                <a:solidFill>
                  <a:srgbClr val="B45309"/>
                </a:solidFill>
                <a:latin typeface="Consolas"/>
                <a:ea typeface="Consolas"/>
                <a:cs typeface="Consolas"/>
              </a:rPr>
              <a:t>2</a:t>
            </a:r>
            <a:r>
              <a:rPr sz="790" b="0">
                <a:solidFill>
                  <a:srgbClr val="1B2740"/>
                </a:solidFill>
                <a:latin typeface="Consolas"/>
                <a:ea typeface="Consolas"/>
                <a:cs typeface="Consolas"/>
              </a:rPr>
              <a:t>]  = st_Info-&gt;Z_VcNed;  </a:t>
            </a:r>
            <a:r>
              <a:rPr sz="790" b="0">
                <a:solidFill>
                  <a:srgbClr val="059669"/>
                </a:solidFill>
                <a:latin typeface="맑은 고딕"/>
                <a:ea typeface="맑은 고딕"/>
                <a:cs typeface="맑은 고딕"/>
              </a:rPr>
              <a:t>// 아래</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632  </a:t>
            </a:r>
            <a:r>
              <a:rPr sz="790" b="0">
                <a:solidFill>
                  <a:srgbClr val="1B2740"/>
                </a:solidFill>
                <a:latin typeface="Consolas"/>
                <a:ea typeface="Consolas"/>
                <a:cs typeface="Consolas"/>
              </a:rPr>
              <a:t>    f_Trk_MeasCov(st_Plot[nPlot].cov, &amp;st_Meas, &amp;st_Sigma, &amp;st_Att);  </a:t>
            </a:r>
            <a:r>
              <a:rPr sz="790" b="0">
                <a:solidFill>
                  <a:srgbClr val="059669"/>
                </a:solidFill>
                <a:latin typeface="맑은 고딕"/>
                <a:ea typeface="맑은 고딕"/>
                <a:cs typeface="맑은 고딕"/>
              </a:rPr>
              <a:t>// 측정 공분산 R (1.5)</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643  </a:t>
            </a:r>
            <a:r>
              <a:rPr sz="790" b="0">
                <a:solidFill>
                  <a:srgbClr val="1B2740"/>
                </a:solidFill>
                <a:latin typeface="Consolas"/>
                <a:ea typeface="Consolas"/>
                <a:cs typeface="Consolas"/>
              </a:rPr>
              <a:t>    f_Trk_MoveOrigin(&amp;s_Link.st_Table, shift);  </a:t>
            </a:r>
            <a:r>
              <a:rPr sz="790" b="0">
                <a:solidFill>
                  <a:srgbClr val="059669"/>
                </a:solidFill>
                <a:latin typeface="맑은 고딕"/>
                <a:ea typeface="맑은 고딕"/>
                <a:cs typeface="맑은 고딕"/>
              </a:rPr>
              <a:t>// 앞 스캔 값을 이번 원점 기준으로</a:t>
            </a:r>
          </a:p>
          <a:p>
            <a:pPr>
              <a:lnSpc>
                <a:spcPts val="900"/>
              </a:lnSpc>
            </a:pPr>
            <a:r>
              <a:rPr sz="790" b="0">
                <a:solidFill>
                  <a:srgbClr val="AEB9CC"/>
                </a:solidFill>
                <a:latin typeface="Consolas"/>
                <a:ea typeface="Consolas"/>
                <a:cs typeface="Consolas"/>
              </a:rPr>
              <a:t>     </a:t>
            </a:r>
            <a:r>
              <a:rPr sz="790" b="0">
                <a:solidFill>
                  <a:srgbClr val="8794AC"/>
                </a:solidFill>
                <a:latin typeface="Consolas"/>
                <a:ea typeface="Consolas"/>
                <a:cs typeface="Consolas"/>
              </a:rPr>
              <a:t>...</a:t>
            </a:r>
          </a:p>
          <a:p>
            <a:pPr>
              <a:lnSpc>
                <a:spcPts val="900"/>
              </a:lnSpc>
            </a:pPr>
            <a:r>
              <a:rPr sz="790" b="0">
                <a:solidFill>
                  <a:srgbClr val="AEB9CC"/>
                </a:solidFill>
                <a:latin typeface="Consolas"/>
                <a:ea typeface="Consolas"/>
                <a:cs typeface="Consolas"/>
              </a:rPr>
              <a:t>649  </a:t>
            </a:r>
            <a:r>
              <a:rPr sz="790" b="0">
                <a:solidFill>
                  <a:srgbClr val="1B2740"/>
                </a:solidFill>
                <a:latin typeface="Consolas"/>
                <a:ea typeface="Consolas"/>
                <a:cs typeface="Consolas"/>
              </a:rPr>
              <a:t>  f_Trk_ProcessScan(&amp;s_Link.st_Table, st_Plot, nPlotNum, time, (</a:t>
            </a:r>
            <a:r>
              <a:rPr sz="790" b="0">
                <a:solidFill>
                  <a:srgbClr val="2563EB"/>
                </a:solidFill>
                <a:latin typeface="Consolas"/>
                <a:ea typeface="Consolas"/>
                <a:cs typeface="Consolas"/>
              </a:rPr>
              <a:t>INT32</a:t>
            </a:r>
            <a:r>
              <a:rPr sz="790" b="0">
                <a:solidFill>
                  <a:srgbClr val="1B2740"/>
                </a:solidFill>
                <a:latin typeface="Consolas"/>
                <a:ea typeface="Consolas"/>
                <a:cs typeface="Consolas"/>
              </a:rPr>
              <a:t>)st_Msg-&gt;ScanNum, &amp;st_Log);  </a:t>
            </a:r>
            <a:r>
              <a:rPr sz="790" b="0">
                <a:solidFill>
                  <a:srgbClr val="059669"/>
                </a:solidFill>
                <a:latin typeface="맑은 고딕"/>
                <a:ea typeface="맑은 고딕"/>
                <a:cs typeface="맑은 고딕"/>
              </a:rPr>
              <a:t>// 트랙 관리 + 개시</a:t>
            </a:r>
          </a:p>
        </p:txBody>
      </p:sp>
      <p:sp>
        <p:nvSpPr>
          <p:cNvPr id="27" name="TextBox 26"/>
          <p:cNvSpPr txBox="1"/>
          <p:nvPr/>
        </p:nvSpPr>
        <p:spPr>
          <a:xfrm>
            <a:off x="640080" y="5335524"/>
            <a:ext cx="717804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2  f_Lnk_FillPlotCoord 의 변환 세 줄</a:t>
            </a:r>
            <a:r>
              <a:rPr sz="950" b="0">
                <a:solidFill>
                  <a:srgbClr val="8794AC"/>
                </a:solidFill>
                <a:latin typeface="Consolas"/>
                <a:ea typeface="Consolas"/>
                <a:cs typeface="Consolas"/>
              </a:rPr>
              <a:t>    PlotLink.c</a:t>
            </a:r>
          </a:p>
        </p:txBody>
      </p:sp>
      <p:sp>
        <p:nvSpPr>
          <p:cNvPr id="28" name="Rectangle 27"/>
          <p:cNvSpPr/>
          <p:nvPr/>
        </p:nvSpPr>
        <p:spPr>
          <a:xfrm>
            <a:off x="640080" y="5591556"/>
            <a:ext cx="10908792" cy="507491"/>
          </a:xfrm>
          <a:prstGeom prst="rect">
            <a:avLst/>
          </a:prstGeom>
          <a:solidFill>
            <a:srgbClr val="FFFFFF"/>
          </a:solidFill>
          <a:ln w="9525">
            <a:solidFill>
              <a:srgbClr val="D2D9E5"/>
            </a:solidFill>
          </a:ln>
        </p:spPr>
        <p:txBody>
          <a:bodyPr rtlCol="0" anchor="ctr"/>
          <a:lstStyle/>
          <a:p>
            <a:pPr algn="ctr"/>
          </a:p>
        </p:txBody>
      </p:sp>
      <p:sp>
        <p:nvSpPr>
          <p:cNvPr id="29" name="TextBox 28"/>
          <p:cNvSpPr txBox="1"/>
          <p:nvPr/>
        </p:nvSpPr>
        <p:spPr>
          <a:xfrm>
            <a:off x="731519" y="5673852"/>
            <a:ext cx="10680192" cy="342899"/>
          </a:xfrm>
          <a:prstGeom prst="rect">
            <a:avLst/>
          </a:prstGeom>
          <a:noFill/>
        </p:spPr>
        <p:txBody>
          <a:bodyPr wrap="none" lIns="0" tIns="0" rIns="0" bIns="0" anchor="t">
            <a:spAutoFit/>
          </a:bodyPr>
          <a:lstStyle/>
          <a:p>
            <a:pPr>
              <a:lnSpc>
                <a:spcPts val="900"/>
              </a:lnSpc>
            </a:pPr>
            <a:r>
              <a:rPr sz="740" b="0">
                <a:solidFill>
                  <a:srgbClr val="AEB9CC"/>
                </a:solidFill>
                <a:latin typeface="Consolas"/>
                <a:ea typeface="Consolas"/>
                <a:cs typeface="Consolas"/>
              </a:rPr>
              <a:t>541  </a:t>
            </a:r>
            <a:r>
              <a:rPr sz="740" b="0">
                <a:solidFill>
                  <a:srgbClr val="1B2740"/>
                </a:solidFill>
                <a:latin typeface="Consolas"/>
                <a:ea typeface="Consolas"/>
                <a:cs typeface="Consolas"/>
              </a:rPr>
              <a:t>st_Ant  = f_Trans_Ant_Sph_To_XYZ(st_Info-&gt;Range_Ant, st_Info-&gt;Azimuth_Ant, st_Info-&gt;Elevation_Ant);  </a:t>
            </a:r>
            <a:r>
              <a:rPr sz="740" b="0">
                <a:solidFill>
                  <a:srgbClr val="059669"/>
                </a:solidFill>
                <a:latin typeface="맑은 고딕"/>
                <a:ea typeface="맑은 고딕"/>
                <a:cs typeface="맑은 고딕"/>
              </a:rPr>
              <a:t>// 구좌표 -&gt; 안테나 직교</a:t>
            </a:r>
          </a:p>
          <a:p>
            <a:pPr>
              <a:lnSpc>
                <a:spcPts val="900"/>
              </a:lnSpc>
            </a:pPr>
            <a:r>
              <a:rPr sz="740" b="0">
                <a:solidFill>
                  <a:srgbClr val="AEB9CC"/>
                </a:solidFill>
                <a:latin typeface="Consolas"/>
                <a:ea typeface="Consolas"/>
                <a:cs typeface="Consolas"/>
              </a:rPr>
              <a:t>542  </a:t>
            </a:r>
            <a:r>
              <a:rPr sz="740" b="0">
                <a:solidFill>
                  <a:srgbClr val="1B2740"/>
                </a:solidFill>
                <a:latin typeface="Consolas"/>
                <a:ea typeface="Consolas"/>
                <a:cs typeface="Consolas"/>
              </a:rPr>
              <a:t>st_Body  = f_Trans_Ant_To_Body(st_Ant.x, st_Ant.y, st_Ant.z);  </a:t>
            </a:r>
            <a:r>
              <a:rPr sz="740" b="0">
                <a:solidFill>
                  <a:srgbClr val="059669"/>
                </a:solidFill>
                <a:latin typeface="맑은 고딕"/>
                <a:ea typeface="맑은 고딕"/>
                <a:cs typeface="맑은 고딕"/>
              </a:rPr>
              <a:t>// 안테나 -&gt; 동체</a:t>
            </a:r>
          </a:p>
          <a:p>
            <a:pPr>
              <a:lnSpc>
                <a:spcPts val="900"/>
              </a:lnSpc>
            </a:pPr>
            <a:r>
              <a:rPr sz="740" b="0">
                <a:solidFill>
                  <a:srgbClr val="AEB9CC"/>
                </a:solidFill>
                <a:latin typeface="Consolas"/>
                <a:ea typeface="Consolas"/>
                <a:cs typeface="Consolas"/>
              </a:rPr>
              <a:t>543  </a:t>
            </a:r>
            <a:r>
              <a:rPr sz="740" b="0">
                <a:solidFill>
                  <a:srgbClr val="1B2740"/>
                </a:solidFill>
                <a:latin typeface="Consolas"/>
                <a:ea typeface="Consolas"/>
                <a:cs typeface="Consolas"/>
              </a:rPr>
              <a:t>st_Ned  = f_Trans_Body_To_Ned(st_Body.x, st_Body.y, st_Body.z, st_Platform-&gt;Pf_Roll, st_Platform-&gt;Pf_Yaw, st_Platform-&gt;Pf_Pitch);  </a:t>
            </a:r>
            <a:r>
              <a:rPr sz="740" b="0">
                <a:solidFill>
                  <a:srgbClr val="059669"/>
                </a:solidFill>
                <a:latin typeface="맑은 고딕"/>
                <a:ea typeface="맑은 고딕"/>
                <a:cs typeface="맑은 고딕"/>
              </a:rPr>
              <a:t>// 동체 -&gt; VC-NED (플랫폼 자세)</a:t>
            </a:r>
          </a:p>
        </p:txBody>
      </p:sp>
      <p:sp>
        <p:nvSpPr>
          <p:cNvPr id="30" name="Oval 29"/>
          <p:cNvSpPr/>
          <p:nvPr/>
        </p:nvSpPr>
        <p:spPr>
          <a:xfrm>
            <a:off x="8092440" y="228600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31" name="TextBox 30"/>
          <p:cNvSpPr txBox="1"/>
          <p:nvPr/>
        </p:nvSpPr>
        <p:spPr>
          <a:xfrm>
            <a:off x="8476488" y="226771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머리에서 꺼냄</a:t>
            </a:r>
          </a:p>
          <a:p>
            <a:pPr algn="l">
              <a:lnSpc>
                <a:spcPct val="105000"/>
              </a:lnSpc>
            </a:pPr>
            <a:r>
              <a:rPr sz="1050" b="0">
                <a:solidFill>
                  <a:srgbClr val="4A5A7A"/>
                </a:solidFill>
                <a:latin typeface="맑은 고딕"/>
                <a:ea typeface="맑은 고딕"/>
                <a:cs typeface="맑은 고딕"/>
              </a:rPr>
              <a:t>시각, 측정 표준편차, 플랫폼 자세</a:t>
            </a:r>
          </a:p>
        </p:txBody>
      </p:sp>
      <p:sp>
        <p:nvSpPr>
          <p:cNvPr id="32" name="Oval 31"/>
          <p:cNvSpPr/>
          <p:nvPr/>
        </p:nvSpPr>
        <p:spPr>
          <a:xfrm>
            <a:off x="8092440" y="288036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33" name="TextBox 32"/>
          <p:cNvSpPr txBox="1"/>
          <p:nvPr/>
        </p:nvSpPr>
        <p:spPr>
          <a:xfrm>
            <a:off x="8476488" y="286207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안테나 -&gt; 동체 -&gt; VC-NED</a:t>
            </a:r>
          </a:p>
          <a:p>
            <a:pPr algn="l">
              <a:lnSpc>
                <a:spcPct val="105000"/>
              </a:lnSpc>
            </a:pPr>
            <a:r>
              <a:rPr sz="1050" b="0">
                <a:solidFill>
                  <a:srgbClr val="4A5A7A"/>
                </a:solidFill>
                <a:latin typeface="맑은 고딕"/>
                <a:ea typeface="맑은 고딕"/>
                <a:cs typeface="맑은 고딕"/>
              </a:rPr>
              <a:t>아래 세 줄. 비어 있던 좌표 칸도 채움</a:t>
            </a:r>
          </a:p>
        </p:txBody>
      </p:sp>
      <p:sp>
        <p:nvSpPr>
          <p:cNvPr id="34" name="Oval 33"/>
          <p:cNvSpPr/>
          <p:nvPr/>
        </p:nvSpPr>
        <p:spPr>
          <a:xfrm>
            <a:off x="8092440" y="347472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35" name="TextBox 34"/>
          <p:cNvSpPr txBox="1"/>
          <p:nvPr/>
        </p:nvSpPr>
        <p:spPr>
          <a:xfrm>
            <a:off x="8476488" y="345643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트랙 개시용 플롯</a:t>
            </a:r>
          </a:p>
          <a:p>
            <a:pPr algn="l">
              <a:lnSpc>
                <a:spcPct val="105000"/>
              </a:lnSpc>
            </a:pPr>
            <a:r>
              <a:rPr sz="1050" b="0">
                <a:solidFill>
                  <a:srgbClr val="4A5A7A"/>
                </a:solidFill>
                <a:latin typeface="맑은 고딕"/>
                <a:ea typeface="맑은 고딕"/>
                <a:cs typeface="맑은 고딕"/>
              </a:rPr>
              <a:t>위치 VC-NED, 공분산 f_Trk_MeasCov (1.5)</a:t>
            </a:r>
          </a:p>
        </p:txBody>
      </p:sp>
      <p:sp>
        <p:nvSpPr>
          <p:cNvPr id="36" name="Oval 35"/>
          <p:cNvSpPr/>
          <p:nvPr/>
        </p:nvSpPr>
        <p:spPr>
          <a:xfrm>
            <a:off x="8092440" y="4069080"/>
            <a:ext cx="256032" cy="256032"/>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37" name="TextBox 36"/>
          <p:cNvSpPr txBox="1"/>
          <p:nvPr/>
        </p:nvSpPr>
        <p:spPr>
          <a:xfrm>
            <a:off x="8476488" y="405079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원점 옮기기</a:t>
            </a:r>
          </a:p>
          <a:p>
            <a:pPr algn="l">
              <a:lnSpc>
                <a:spcPct val="105000"/>
              </a:lnSpc>
            </a:pPr>
            <a:r>
              <a:rPr sz="1050" b="0">
                <a:solidFill>
                  <a:srgbClr val="4A5A7A"/>
                </a:solidFill>
                <a:latin typeface="맑은 고딕"/>
                <a:ea typeface="맑은 고딕"/>
                <a:cs typeface="맑은 고딕"/>
              </a:rPr>
              <a:t>플랫폼이 움직이면 앞 스캔 플롯 · 트랙을</a:t>
            </a:r>
          </a:p>
          <a:p>
            <a:pPr algn="l">
              <a:lnSpc>
                <a:spcPct val="105000"/>
              </a:lnSpc>
            </a:pPr>
            <a:r>
              <a:rPr sz="1050" b="0">
                <a:solidFill>
                  <a:srgbClr val="4A5A7A"/>
                </a:solidFill>
                <a:latin typeface="맑은 고딕"/>
                <a:ea typeface="맑은 고딕"/>
                <a:cs typeface="맑은 고딕"/>
              </a:rPr>
              <a:t>이번 스캔 VC-NED 로 (이번 시나리오는 0)</a:t>
            </a:r>
          </a:p>
        </p:txBody>
      </p:sp>
      <p:sp>
        <p:nvSpPr>
          <p:cNvPr id="38" name="Oval 37"/>
          <p:cNvSpPr/>
          <p:nvPr/>
        </p:nvSpPr>
        <p:spPr>
          <a:xfrm>
            <a:off x="8092440" y="4892040"/>
            <a:ext cx="256032" cy="256032"/>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39" name="TextBox 38"/>
          <p:cNvSpPr txBox="1"/>
          <p:nvPr/>
        </p:nvSpPr>
        <p:spPr>
          <a:xfrm>
            <a:off x="8476488" y="487375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트랙 관리 + 2 Point 개시</a:t>
            </a:r>
          </a:p>
          <a:p>
            <a:pPr algn="l">
              <a:lnSpc>
                <a:spcPct val="105000"/>
              </a:lnSpc>
            </a:pPr>
            <a:r>
              <a:rPr sz="1050" b="0">
                <a:solidFill>
                  <a:srgbClr val="4A5A7A"/>
                </a:solidFill>
                <a:latin typeface="맑은 고딕"/>
                <a:ea typeface="맑은 고딕"/>
                <a:cs typeface="맑은 고딕"/>
              </a:rPr>
              <a:t>결과는 스캔 단위로 쌓아 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3.5 2 Point 개시: 쌍 고르기 (f_Trk_ProcessScan)</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모든 트랙을 Assigned_Flag 0 으로 판정한 뒤, 게이트를 통과한 쌍 가운데 가장 느린 쌍부터 하나씩 골라 트랙을 만듭니다.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3-1 · 3-3</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TargetSimCore/src/TrackMgr.c</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Rectangle 7"/>
          <p:cNvSpPr/>
          <p:nvPr/>
        </p:nvSpPr>
        <p:spPr>
          <a:xfrm>
            <a:off x="640080" y="2240280"/>
            <a:ext cx="7178040" cy="3936491"/>
          </a:xfrm>
          <a:prstGeom prst="rect">
            <a:avLst/>
          </a:prstGeom>
          <a:solidFill>
            <a:srgbClr val="FFFFFF"/>
          </a:solidFill>
          <a:ln w="9525">
            <a:solidFill>
              <a:srgbClr val="D2D9E5"/>
            </a:solidFill>
          </a:ln>
        </p:spPr>
        <p:txBody>
          <a:bodyPr rtlCol="0" anchor="ctr"/>
          <a:lstStyle/>
          <a:p>
            <a:pPr algn="ctr"/>
          </a:p>
        </p:txBody>
      </p:sp>
      <p:sp>
        <p:nvSpPr>
          <p:cNvPr id="9" name="Rectangle 8"/>
          <p:cNvSpPr/>
          <p:nvPr/>
        </p:nvSpPr>
        <p:spPr>
          <a:xfrm>
            <a:off x="667512" y="2311603"/>
            <a:ext cx="7123176" cy="228600"/>
          </a:xfrm>
          <a:prstGeom prst="rect">
            <a:avLst/>
          </a:prstGeom>
          <a:solidFill>
            <a:srgbClr val="FDEEEE"/>
          </a:solidFill>
          <a:ln>
            <a:noFill/>
          </a:ln>
        </p:spPr>
        <p:txBody>
          <a:bodyPr rtlCol="0" anchor="ctr"/>
          <a:lstStyle/>
          <a:p>
            <a:pPr algn="ctr"/>
          </a:p>
        </p:txBody>
      </p:sp>
      <p:sp>
        <p:nvSpPr>
          <p:cNvPr id="10" name="Rectangle 9"/>
          <p:cNvSpPr/>
          <p:nvPr/>
        </p:nvSpPr>
        <p:spPr>
          <a:xfrm>
            <a:off x="667512" y="2311603"/>
            <a:ext cx="36576" cy="228600"/>
          </a:xfrm>
          <a:prstGeom prst="rect">
            <a:avLst/>
          </a:prstGeom>
          <a:solidFill>
            <a:srgbClr val="DC2626"/>
          </a:solidFill>
          <a:ln>
            <a:noFill/>
          </a:ln>
        </p:spPr>
        <p:txBody>
          <a:bodyPr rtlCol="0" anchor="ctr"/>
          <a:lstStyle/>
          <a:p>
            <a:pPr algn="ctr"/>
          </a:p>
        </p:txBody>
      </p:sp>
      <p:sp>
        <p:nvSpPr>
          <p:cNvPr id="11" name="Oval 10"/>
          <p:cNvSpPr/>
          <p:nvPr/>
        </p:nvSpPr>
        <p:spPr>
          <a:xfrm>
            <a:off x="7717536" y="2268169"/>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2" name="Rectangle 11"/>
          <p:cNvSpPr/>
          <p:nvPr/>
        </p:nvSpPr>
        <p:spPr>
          <a:xfrm>
            <a:off x="667512" y="2883103"/>
            <a:ext cx="7123176" cy="114300"/>
          </a:xfrm>
          <a:prstGeom prst="rect">
            <a:avLst/>
          </a:prstGeom>
          <a:solidFill>
            <a:srgbClr val="FEF3E2"/>
          </a:solidFill>
          <a:ln>
            <a:noFill/>
          </a:ln>
        </p:spPr>
        <p:txBody>
          <a:bodyPr rtlCol="0" anchor="ctr"/>
          <a:lstStyle/>
          <a:p>
            <a:pPr algn="ctr"/>
          </a:p>
        </p:txBody>
      </p:sp>
      <p:sp>
        <p:nvSpPr>
          <p:cNvPr id="13" name="Rectangle 12"/>
          <p:cNvSpPr/>
          <p:nvPr/>
        </p:nvSpPr>
        <p:spPr>
          <a:xfrm>
            <a:off x="667512" y="2883103"/>
            <a:ext cx="36576" cy="114300"/>
          </a:xfrm>
          <a:prstGeom prst="rect">
            <a:avLst/>
          </a:prstGeom>
          <a:solidFill>
            <a:srgbClr val="D97706"/>
          </a:solidFill>
          <a:ln>
            <a:noFill/>
          </a:ln>
        </p:spPr>
        <p:txBody>
          <a:bodyPr rtlCol="0" anchor="ctr"/>
          <a:lstStyle/>
          <a:p>
            <a:pPr algn="ctr"/>
          </a:p>
        </p:txBody>
      </p:sp>
      <p:sp>
        <p:nvSpPr>
          <p:cNvPr id="14" name="Oval 13"/>
          <p:cNvSpPr/>
          <p:nvPr/>
        </p:nvSpPr>
        <p:spPr>
          <a:xfrm>
            <a:off x="7717536" y="2839669"/>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5" name="Rectangle 14"/>
          <p:cNvSpPr/>
          <p:nvPr/>
        </p:nvSpPr>
        <p:spPr>
          <a:xfrm>
            <a:off x="667512" y="3111703"/>
            <a:ext cx="7123176" cy="1485900"/>
          </a:xfrm>
          <a:prstGeom prst="rect">
            <a:avLst/>
          </a:prstGeom>
          <a:solidFill>
            <a:srgbClr val="FEF3E2"/>
          </a:solidFill>
          <a:ln>
            <a:noFill/>
          </a:ln>
        </p:spPr>
        <p:txBody>
          <a:bodyPr rtlCol="0" anchor="ctr"/>
          <a:lstStyle/>
          <a:p>
            <a:pPr algn="ctr"/>
          </a:p>
        </p:txBody>
      </p:sp>
      <p:sp>
        <p:nvSpPr>
          <p:cNvPr id="16" name="Rectangle 15"/>
          <p:cNvSpPr/>
          <p:nvPr/>
        </p:nvSpPr>
        <p:spPr>
          <a:xfrm>
            <a:off x="667512" y="3111703"/>
            <a:ext cx="36576" cy="1485900"/>
          </a:xfrm>
          <a:prstGeom prst="rect">
            <a:avLst/>
          </a:prstGeom>
          <a:solidFill>
            <a:srgbClr val="D97706"/>
          </a:solidFill>
          <a:ln>
            <a:noFill/>
          </a:ln>
        </p:spPr>
        <p:txBody>
          <a:bodyPr rtlCol="0" anchor="ctr"/>
          <a:lstStyle/>
          <a:p>
            <a:pPr algn="ctr"/>
          </a:p>
        </p:txBody>
      </p:sp>
      <p:sp>
        <p:nvSpPr>
          <p:cNvPr id="17" name="Rectangle 16"/>
          <p:cNvSpPr/>
          <p:nvPr/>
        </p:nvSpPr>
        <p:spPr>
          <a:xfrm>
            <a:off x="667512" y="4711903"/>
            <a:ext cx="7123176" cy="228600"/>
          </a:xfrm>
          <a:prstGeom prst="rect">
            <a:avLst/>
          </a:prstGeom>
          <a:solidFill>
            <a:srgbClr val="E6F5EE"/>
          </a:solidFill>
          <a:ln>
            <a:noFill/>
          </a:ln>
        </p:spPr>
        <p:txBody>
          <a:bodyPr rtlCol="0" anchor="ctr"/>
          <a:lstStyle/>
          <a:p>
            <a:pPr algn="ctr"/>
          </a:p>
        </p:txBody>
      </p:sp>
      <p:sp>
        <p:nvSpPr>
          <p:cNvPr id="18" name="Rectangle 17"/>
          <p:cNvSpPr/>
          <p:nvPr/>
        </p:nvSpPr>
        <p:spPr>
          <a:xfrm>
            <a:off x="667512" y="4711903"/>
            <a:ext cx="36576" cy="228600"/>
          </a:xfrm>
          <a:prstGeom prst="rect">
            <a:avLst/>
          </a:prstGeom>
          <a:solidFill>
            <a:srgbClr val="059669"/>
          </a:solidFill>
          <a:ln>
            <a:noFill/>
          </a:ln>
        </p:spPr>
        <p:txBody>
          <a:bodyPr rtlCol="0" anchor="ctr"/>
          <a:lstStyle/>
          <a:p>
            <a:pPr algn="ctr"/>
          </a:p>
        </p:txBody>
      </p:sp>
      <p:sp>
        <p:nvSpPr>
          <p:cNvPr id="19" name="Oval 18"/>
          <p:cNvSpPr/>
          <p:nvPr/>
        </p:nvSpPr>
        <p:spPr>
          <a:xfrm>
            <a:off x="7717536" y="4668469"/>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20" name="Rectangle 19"/>
          <p:cNvSpPr/>
          <p:nvPr/>
        </p:nvSpPr>
        <p:spPr>
          <a:xfrm>
            <a:off x="667512" y="5054803"/>
            <a:ext cx="7123176" cy="114300"/>
          </a:xfrm>
          <a:prstGeom prst="rect">
            <a:avLst/>
          </a:prstGeom>
          <a:solidFill>
            <a:srgbClr val="EAF1FD"/>
          </a:solidFill>
          <a:ln>
            <a:noFill/>
          </a:ln>
        </p:spPr>
        <p:txBody>
          <a:bodyPr rtlCol="0" anchor="ctr"/>
          <a:lstStyle/>
          <a:p>
            <a:pPr algn="ctr"/>
          </a:p>
        </p:txBody>
      </p:sp>
      <p:sp>
        <p:nvSpPr>
          <p:cNvPr id="21" name="Rectangle 20"/>
          <p:cNvSpPr/>
          <p:nvPr/>
        </p:nvSpPr>
        <p:spPr>
          <a:xfrm>
            <a:off x="667512" y="5054803"/>
            <a:ext cx="36576" cy="114300"/>
          </a:xfrm>
          <a:prstGeom prst="rect">
            <a:avLst/>
          </a:prstGeom>
          <a:solidFill>
            <a:srgbClr val="2563EB"/>
          </a:solidFill>
          <a:ln>
            <a:noFill/>
          </a:ln>
        </p:spPr>
        <p:txBody>
          <a:bodyPr rtlCol="0" anchor="ctr"/>
          <a:lstStyle/>
          <a:p>
            <a:pPr algn="ctr"/>
          </a:p>
        </p:txBody>
      </p:sp>
      <p:sp>
        <p:nvSpPr>
          <p:cNvPr id="22" name="Oval 21"/>
          <p:cNvSpPr/>
          <p:nvPr/>
        </p:nvSpPr>
        <p:spPr>
          <a:xfrm>
            <a:off x="7717536" y="5011369"/>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23" name="Rectangle 22"/>
          <p:cNvSpPr/>
          <p:nvPr/>
        </p:nvSpPr>
        <p:spPr>
          <a:xfrm>
            <a:off x="667512" y="5283403"/>
            <a:ext cx="7123176" cy="114300"/>
          </a:xfrm>
          <a:prstGeom prst="rect">
            <a:avLst/>
          </a:prstGeom>
          <a:solidFill>
            <a:srgbClr val="F2ECFD"/>
          </a:solidFill>
          <a:ln>
            <a:noFill/>
          </a:ln>
        </p:spPr>
        <p:txBody>
          <a:bodyPr rtlCol="0" anchor="ctr"/>
          <a:lstStyle/>
          <a:p>
            <a:pPr algn="ctr"/>
          </a:p>
        </p:txBody>
      </p:sp>
      <p:sp>
        <p:nvSpPr>
          <p:cNvPr id="24" name="Rectangle 23"/>
          <p:cNvSpPr/>
          <p:nvPr/>
        </p:nvSpPr>
        <p:spPr>
          <a:xfrm>
            <a:off x="667512" y="5283403"/>
            <a:ext cx="36576" cy="114300"/>
          </a:xfrm>
          <a:prstGeom prst="rect">
            <a:avLst/>
          </a:prstGeom>
          <a:solidFill>
            <a:srgbClr val="7C3AED"/>
          </a:solidFill>
          <a:ln>
            <a:noFill/>
          </a:ln>
        </p:spPr>
        <p:txBody>
          <a:bodyPr rtlCol="0" anchor="ctr"/>
          <a:lstStyle/>
          <a:p>
            <a:pPr algn="ctr"/>
          </a:p>
        </p:txBody>
      </p:sp>
      <p:sp>
        <p:nvSpPr>
          <p:cNvPr id="25" name="Oval 24"/>
          <p:cNvSpPr/>
          <p:nvPr/>
        </p:nvSpPr>
        <p:spPr>
          <a:xfrm>
            <a:off x="7717536" y="5239969"/>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26" name="Rectangle 25"/>
          <p:cNvSpPr/>
          <p:nvPr/>
        </p:nvSpPr>
        <p:spPr>
          <a:xfrm>
            <a:off x="667512" y="5397703"/>
            <a:ext cx="7123176" cy="342900"/>
          </a:xfrm>
          <a:prstGeom prst="rect">
            <a:avLst/>
          </a:prstGeom>
          <a:solidFill>
            <a:srgbClr val="F2ECFD"/>
          </a:solidFill>
          <a:ln>
            <a:noFill/>
          </a:ln>
        </p:spPr>
        <p:txBody>
          <a:bodyPr rtlCol="0" anchor="ctr"/>
          <a:lstStyle/>
          <a:p>
            <a:pPr algn="ctr"/>
          </a:p>
        </p:txBody>
      </p:sp>
      <p:sp>
        <p:nvSpPr>
          <p:cNvPr id="27" name="Rectangle 26"/>
          <p:cNvSpPr/>
          <p:nvPr/>
        </p:nvSpPr>
        <p:spPr>
          <a:xfrm>
            <a:off x="667512" y="5397703"/>
            <a:ext cx="36576" cy="342900"/>
          </a:xfrm>
          <a:prstGeom prst="rect">
            <a:avLst/>
          </a:prstGeom>
          <a:solidFill>
            <a:srgbClr val="7C3AED"/>
          </a:solidFill>
          <a:ln>
            <a:noFill/>
          </a:ln>
        </p:spPr>
        <p:txBody>
          <a:bodyPr rtlCol="0" anchor="ctr"/>
          <a:lstStyle/>
          <a:p>
            <a:pPr algn="ctr"/>
          </a:p>
        </p:txBody>
      </p:sp>
      <p:sp>
        <p:nvSpPr>
          <p:cNvPr id="28" name="TextBox 27"/>
          <p:cNvSpPr txBox="1"/>
          <p:nvPr/>
        </p:nvSpPr>
        <p:spPr>
          <a:xfrm>
            <a:off x="731519" y="2322576"/>
            <a:ext cx="6949440" cy="3771900"/>
          </a:xfrm>
          <a:prstGeom prst="rect">
            <a:avLst/>
          </a:prstGeom>
          <a:noFill/>
        </p:spPr>
        <p:txBody>
          <a:bodyPr wrap="none" lIns="0" tIns="0" rIns="0" bIns="0" anchor="t">
            <a:spAutoFit/>
          </a:bodyPr>
          <a:lstStyle/>
          <a:p>
            <a:pPr>
              <a:lnSpc>
                <a:spcPts val="900"/>
              </a:lnSpc>
            </a:pPr>
            <a:r>
              <a:rPr sz="760" b="0">
                <a:solidFill>
                  <a:srgbClr val="AEB9CC"/>
                </a:solidFill>
                <a:latin typeface="Consolas"/>
                <a:ea typeface="Consolas"/>
                <a:cs typeface="Consolas"/>
              </a:rPr>
              <a:t>313  </a:t>
            </a:r>
            <a:r>
              <a:rPr sz="760" b="0">
                <a:solidFill>
                  <a:srgbClr val="1B2740"/>
                </a:solidFill>
                <a:latin typeface="Consolas"/>
                <a:ea typeface="Consolas"/>
                <a:cs typeface="Consolas"/>
              </a:rPr>
              <a:t>  st_Track-&gt;Assigned_Flag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연관 기능이 없어 늘 실패 (과제 조건)</a:t>
            </a:r>
          </a:p>
          <a:p>
            <a:pPr>
              <a:lnSpc>
                <a:spcPts val="900"/>
              </a:lnSpc>
            </a:pPr>
            <a:r>
              <a:rPr sz="760" b="0">
                <a:solidFill>
                  <a:srgbClr val="AEB9CC"/>
                </a:solidFill>
                <a:latin typeface="Consolas"/>
                <a:ea typeface="Consolas"/>
                <a:cs typeface="Consolas"/>
              </a:rPr>
              <a:t>314  </a:t>
            </a:r>
            <a:r>
              <a:rPr sz="760" b="0">
                <a:solidFill>
                  <a:srgbClr val="1B2740"/>
                </a:solidFill>
                <a:latin typeface="Consolas"/>
                <a:ea typeface="Consolas"/>
                <a:cs typeface="Consolas"/>
              </a:rPr>
              <a:t>  f_Trk_UpdateState(st_Track);  </a:t>
            </a:r>
            <a:r>
              <a:rPr sz="760" b="0">
                <a:solidFill>
                  <a:srgbClr val="059669"/>
                </a:solidFill>
                <a:latin typeface="맑은 고딕"/>
                <a:ea typeface="맑은 고딕"/>
                <a:cs typeface="맑은 고딕"/>
              </a:rPr>
              <a:t>// 스코어로 상태 판정 (3.7)</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369  </a:t>
            </a:r>
            <a:r>
              <a:rPr sz="760" b="0">
                <a:solidFill>
                  <a:srgbClr val="1B2740"/>
                </a:solidFill>
                <a:latin typeface="Consolas"/>
                <a:ea typeface="Consolas"/>
                <a:cs typeface="Consolas"/>
              </a:rPr>
              <a:t>  </a:t>
            </a:r>
            <a:r>
              <a:rPr sz="760" b="0">
                <a:solidFill>
                  <a:srgbClr val="2563EB"/>
                </a:solidFill>
                <a:latin typeface="Consolas"/>
                <a:ea typeface="Consolas"/>
                <a:cs typeface="Consolas"/>
              </a:rPr>
              <a:t>while</a:t>
            </a:r>
            <a:r>
              <a:rPr sz="760" b="0">
                <a:solidFill>
                  <a:srgbClr val="1B2740"/>
                </a:solidFill>
                <a:latin typeface="Consolas"/>
                <a:ea typeface="Consolas"/>
                <a:cs typeface="Consolas"/>
              </a:rPr>
              <a:t> (isSearching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고를 쌍이 없을 때까지 반복</a:t>
            </a:r>
          </a:p>
          <a:p>
            <a:pPr>
              <a:lnSpc>
                <a:spcPts val="900"/>
              </a:lnSpc>
            </a:pPr>
            <a:r>
              <a:rPr sz="760" b="0">
                <a:solidFill>
                  <a:srgbClr val="AEB9CC"/>
                </a:solidFill>
                <a:latin typeface="Consolas"/>
                <a:ea typeface="Consolas"/>
                <a:cs typeface="Consolas"/>
              </a:rPr>
              <a:t>370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371  </a:t>
            </a:r>
            <a:r>
              <a:rPr sz="760" b="0">
                <a:solidFill>
                  <a:srgbClr val="1B2740"/>
                </a:solidFill>
                <a:latin typeface="Consolas"/>
                <a:ea typeface="Consolas"/>
                <a:cs typeface="Consolas"/>
              </a:rPr>
              <a:t>    bestSpeed  = </a:t>
            </a:r>
            <a:r>
              <a:rPr sz="760" b="0">
                <a:solidFill>
                  <a:srgbClr val="7C3AED"/>
                </a:solidFill>
                <a:latin typeface="Consolas"/>
                <a:ea typeface="Consolas"/>
                <a:cs typeface="Consolas"/>
              </a:rPr>
              <a:t>TRK_VMAX</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V_max 에서 시작 = 속도 게이트</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375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(nPrev = </a:t>
            </a:r>
            <a:r>
              <a:rPr sz="760" b="0">
                <a:solidFill>
                  <a:srgbClr val="B45309"/>
                </a:solidFill>
                <a:latin typeface="Consolas"/>
                <a:ea typeface="Consolas"/>
                <a:cs typeface="Consolas"/>
              </a:rPr>
              <a:t>0</a:t>
            </a:r>
            <a:r>
              <a:rPr sz="760" b="0">
                <a:solidFill>
                  <a:srgbClr val="1B2740"/>
                </a:solidFill>
                <a:latin typeface="Consolas"/>
                <a:ea typeface="Consolas"/>
                <a:cs typeface="Consolas"/>
              </a:rPr>
              <a:t>; nPrev &lt; st_Table-&gt;nPrevPlotNum; nPrev++)  </a:t>
            </a:r>
            <a:r>
              <a:rPr sz="760" b="0">
                <a:solidFill>
                  <a:srgbClr val="059669"/>
                </a:solidFill>
                <a:latin typeface="맑은 고딕"/>
                <a:ea typeface="맑은 고딕"/>
                <a:cs typeface="맑은 고딕"/>
              </a:rPr>
              <a:t>// 앞 스캔 플롯</a:t>
            </a:r>
          </a:p>
          <a:p>
            <a:pPr>
              <a:lnSpc>
                <a:spcPts val="900"/>
              </a:lnSpc>
            </a:pPr>
            <a:r>
              <a:rPr sz="760" b="0">
                <a:solidFill>
                  <a:srgbClr val="AEB9CC"/>
                </a:solidFill>
                <a:latin typeface="Consolas"/>
                <a:ea typeface="Consolas"/>
                <a:cs typeface="Consolas"/>
              </a:rPr>
              <a:t>376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377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(nCur = </a:t>
            </a:r>
            <a:r>
              <a:rPr sz="760" b="0">
                <a:solidFill>
                  <a:srgbClr val="B45309"/>
                </a:solidFill>
                <a:latin typeface="Consolas"/>
                <a:ea typeface="Consolas"/>
                <a:cs typeface="Consolas"/>
              </a:rPr>
              <a:t>0</a:t>
            </a:r>
            <a:r>
              <a:rPr sz="760" b="0">
                <a:solidFill>
                  <a:srgbClr val="1B2740"/>
                </a:solidFill>
                <a:latin typeface="Consolas"/>
                <a:ea typeface="Consolas"/>
                <a:cs typeface="Consolas"/>
              </a:rPr>
              <a:t>; nCur &lt; nCurNum; nCur++)  </a:t>
            </a:r>
            <a:r>
              <a:rPr sz="760" b="0">
                <a:solidFill>
                  <a:srgbClr val="059669"/>
                </a:solidFill>
                <a:latin typeface="맑은 고딕"/>
                <a:ea typeface="맑은 고딕"/>
                <a:cs typeface="맑은 고딕"/>
              </a:rPr>
              <a:t>// 이번 스캔 플롯 (모든 쌍)</a:t>
            </a:r>
          </a:p>
          <a:p>
            <a:pPr>
              <a:lnSpc>
                <a:spcPts val="900"/>
              </a:lnSpc>
            </a:pPr>
            <a:r>
              <a:rPr sz="760" b="0">
                <a:solidFill>
                  <a:srgbClr val="AEB9CC"/>
                </a:solidFill>
                <a:latin typeface="Consolas"/>
                <a:ea typeface="Consolas"/>
                <a:cs typeface="Consolas"/>
              </a:rPr>
              <a:t>378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379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((st_Table-&gt;st_PrevPlot[nPrev].isUsed == </a:t>
            </a:r>
            <a:r>
              <a:rPr sz="760" b="0">
                <a:solidFill>
                  <a:srgbClr val="B45309"/>
                </a:solidFill>
                <a:latin typeface="Consolas"/>
                <a:ea typeface="Consolas"/>
                <a:cs typeface="Consolas"/>
              </a:rPr>
              <a:t>0</a:t>
            </a:r>
            <a:r>
              <a:rPr sz="760" b="0">
                <a:solidFill>
                  <a:srgbClr val="1B2740"/>
                </a:solidFill>
                <a:latin typeface="Consolas"/>
                <a:ea typeface="Consolas"/>
                <a:cs typeface="Consolas"/>
              </a:rPr>
              <a:t>) &amp;&amp; (st_Cur[nCur].isUsed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아직 안 쓴 플롯끼리만</a:t>
            </a:r>
          </a:p>
          <a:p>
            <a:pPr>
              <a:lnSpc>
                <a:spcPts val="900"/>
              </a:lnSpc>
            </a:pPr>
            <a:r>
              <a:rPr sz="760" b="0">
                <a:solidFill>
                  <a:srgbClr val="AEB9CC"/>
                </a:solidFill>
                <a:latin typeface="Consolas"/>
                <a:ea typeface="Consolas"/>
                <a:cs typeface="Consolas"/>
              </a:rPr>
              <a:t>380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381  </a:t>
            </a:r>
            <a:r>
              <a:rPr sz="760" b="0">
                <a:solidFill>
                  <a:srgbClr val="1B2740"/>
                </a:solidFill>
                <a:latin typeface="Consolas"/>
                <a:ea typeface="Consolas"/>
                <a:cs typeface="Consolas"/>
              </a:rPr>
              <a:t>          speed = f_Trk_PairSpeed(&amp;st_Table-&gt;st_PrevPlot[nPrev], &amp;st_Cur[nCur], dt);  </a:t>
            </a:r>
            <a:r>
              <a:rPr sz="760" b="0">
                <a:solidFill>
                  <a:srgbClr val="059669"/>
                </a:solidFill>
                <a:latin typeface="맑은 고딕"/>
                <a:ea typeface="맑은 고딕"/>
                <a:cs typeface="맑은 고딕"/>
              </a:rPr>
              <a:t>// |z_k - z_k-1| / T</a:t>
            </a:r>
          </a:p>
          <a:p>
            <a:pPr>
              <a:lnSpc>
                <a:spcPts val="900"/>
              </a:lnSpc>
            </a:pPr>
            <a:r>
              <a:rPr sz="760" b="0">
                <a:solidFill>
                  <a:srgbClr val="AEB9CC"/>
                </a:solidFill>
                <a:latin typeface="Consolas"/>
                <a:ea typeface="Consolas"/>
                <a:cs typeface="Consolas"/>
              </a:rPr>
              <a:t>382  </a:t>
            </a:r>
          </a:p>
          <a:p>
            <a:pPr>
              <a:lnSpc>
                <a:spcPts val="900"/>
              </a:lnSpc>
            </a:pPr>
            <a:r>
              <a:rPr sz="760" b="0">
                <a:solidFill>
                  <a:srgbClr val="AEB9CC"/>
                </a:solidFill>
                <a:latin typeface="Consolas"/>
                <a:ea typeface="Consolas"/>
                <a:cs typeface="Consolas"/>
              </a:rPr>
              <a:t>383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(speed &lt; bestSpeed)  </a:t>
            </a:r>
            <a:r>
              <a:rPr sz="760" b="0">
                <a:solidFill>
                  <a:srgbClr val="059669"/>
                </a:solidFill>
                <a:latin typeface="맑은 고딕"/>
                <a:ea typeface="맑은 고딕"/>
                <a:cs typeface="맑은 고딕"/>
              </a:rPr>
              <a:t>// 지금까지 가장 느린 쌍이면</a:t>
            </a:r>
          </a:p>
          <a:p>
            <a:pPr>
              <a:lnSpc>
                <a:spcPts val="900"/>
              </a:lnSpc>
            </a:pPr>
            <a:r>
              <a:rPr sz="760" b="0">
                <a:solidFill>
                  <a:srgbClr val="AEB9CC"/>
                </a:solidFill>
                <a:latin typeface="Consolas"/>
                <a:ea typeface="Consolas"/>
                <a:cs typeface="Consolas"/>
              </a:rPr>
              <a:t>384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385  </a:t>
            </a:r>
            <a:r>
              <a:rPr sz="760" b="0">
                <a:solidFill>
                  <a:srgbClr val="1B2740"/>
                </a:solidFill>
                <a:latin typeface="Consolas"/>
                <a:ea typeface="Consolas"/>
                <a:cs typeface="Consolas"/>
              </a:rPr>
              <a:t>            bestSpeed  = speed;  </a:t>
            </a:r>
            <a:r>
              <a:rPr sz="760" b="0">
                <a:solidFill>
                  <a:srgbClr val="059669"/>
                </a:solidFill>
                <a:latin typeface="맑은 고딕"/>
                <a:ea typeface="맑은 고딕"/>
                <a:cs typeface="맑은 고딕"/>
              </a:rPr>
              <a:t>// 그 쌍을 기억</a:t>
            </a:r>
          </a:p>
          <a:p>
            <a:pPr>
              <a:lnSpc>
                <a:spcPts val="900"/>
              </a:lnSpc>
            </a:pPr>
            <a:r>
              <a:rPr sz="760" b="0">
                <a:solidFill>
                  <a:srgbClr val="AEB9CC"/>
                </a:solidFill>
                <a:latin typeface="Consolas"/>
                <a:ea typeface="Consolas"/>
                <a:cs typeface="Consolas"/>
              </a:rPr>
              <a:t>386  </a:t>
            </a:r>
            <a:r>
              <a:rPr sz="760" b="0">
                <a:solidFill>
                  <a:srgbClr val="1B2740"/>
                </a:solidFill>
                <a:latin typeface="Consolas"/>
                <a:ea typeface="Consolas"/>
                <a:cs typeface="Consolas"/>
              </a:rPr>
              <a:t>            bestPrev  = nPrev;</a:t>
            </a:r>
          </a:p>
          <a:p>
            <a:pPr>
              <a:lnSpc>
                <a:spcPts val="900"/>
              </a:lnSpc>
            </a:pPr>
            <a:r>
              <a:rPr sz="760" b="0">
                <a:solidFill>
                  <a:srgbClr val="AEB9CC"/>
                </a:solidFill>
                <a:latin typeface="Consolas"/>
                <a:ea typeface="Consolas"/>
                <a:cs typeface="Consolas"/>
              </a:rPr>
              <a:t>387  </a:t>
            </a:r>
            <a:r>
              <a:rPr sz="760" b="0">
                <a:solidFill>
                  <a:srgbClr val="1B2740"/>
                </a:solidFill>
                <a:latin typeface="Consolas"/>
                <a:ea typeface="Consolas"/>
                <a:cs typeface="Consolas"/>
              </a:rPr>
              <a:t>            bestCur  = nCur;</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399  </a:t>
            </a:r>
            <a:r>
              <a:rPr sz="760" b="0">
                <a:solidFill>
                  <a:srgbClr val="1B2740"/>
                </a:solidFill>
                <a:latin typeface="Consolas"/>
                <a:ea typeface="Consolas"/>
                <a:cs typeface="Consolas"/>
              </a:rPr>
              <a:t>      st_Table-&gt;st_PrevPlot[bestPrev].isUsed  = </a:t>
            </a:r>
            <a:r>
              <a:rPr sz="760" b="0">
                <a:solidFill>
                  <a:srgbClr val="B45309"/>
                </a:solidFill>
                <a:latin typeface="Consolas"/>
                <a:ea typeface="Consolas"/>
                <a:cs typeface="Consolas"/>
              </a:rPr>
              <a:t>1</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고른 두 플롯은 다시 쓰지 않음</a:t>
            </a:r>
          </a:p>
          <a:p>
            <a:pPr>
              <a:lnSpc>
                <a:spcPts val="900"/>
              </a:lnSpc>
            </a:pPr>
            <a:r>
              <a:rPr sz="760" b="0">
                <a:solidFill>
                  <a:srgbClr val="AEB9CC"/>
                </a:solidFill>
                <a:latin typeface="Consolas"/>
                <a:ea typeface="Consolas"/>
                <a:cs typeface="Consolas"/>
              </a:rPr>
              <a:t>400  </a:t>
            </a:r>
            <a:r>
              <a:rPr sz="760" b="0">
                <a:solidFill>
                  <a:srgbClr val="1B2740"/>
                </a:solidFill>
                <a:latin typeface="Consolas"/>
                <a:ea typeface="Consolas"/>
                <a:cs typeface="Consolas"/>
              </a:rPr>
              <a:t>      st_Cur[bestCur].isUsed  = </a:t>
            </a:r>
            <a:r>
              <a:rPr sz="760" b="0">
                <a:solidFill>
                  <a:srgbClr val="B45309"/>
                </a:solidFill>
                <a:latin typeface="Consolas"/>
                <a:ea typeface="Consolas"/>
                <a:cs typeface="Consolas"/>
              </a:rPr>
              <a:t>1</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402  </a:t>
            </a:r>
            <a:r>
              <a:rPr sz="760" b="0">
                <a:solidFill>
                  <a:srgbClr val="1B2740"/>
                </a:solidFill>
                <a:latin typeface="Consolas"/>
                <a:ea typeface="Consolas"/>
                <a:cs typeface="Consolas"/>
              </a:rPr>
              <a:t>      newId = (st_Table-&gt;nTrackNum &lt; </a:t>
            </a:r>
            <a:r>
              <a:rPr sz="760" b="0">
                <a:solidFill>
                  <a:srgbClr val="7C3AED"/>
                </a:solidFill>
                <a:latin typeface="Consolas"/>
                <a:ea typeface="Consolas"/>
                <a:cs typeface="Consolas"/>
              </a:rPr>
              <a:t>TRK_MAX_TRACK</a:t>
            </a:r>
            <a:r>
              <a:rPr sz="760" b="0">
                <a:solidFill>
                  <a:srgbClr val="1B2740"/>
                </a:solidFill>
                <a:latin typeface="Consolas"/>
                <a:ea typeface="Consolas"/>
                <a:cs typeface="Consolas"/>
              </a:rPr>
              <a:t>) ? f_Trk_NewId(st_Table)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트랙 ID (100 ~ 10000)</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412  </a:t>
            </a:r>
            <a:r>
              <a:rPr sz="760" b="0">
                <a:solidFill>
                  <a:srgbClr val="1B2740"/>
                </a:solidFill>
                <a:latin typeface="Consolas"/>
                <a:ea typeface="Consolas"/>
                <a:cs typeface="Consolas"/>
              </a:rPr>
              <a:t>        f_Trk_TwoPointInit(st_Track, &amp;st_Table-&gt;st_PrevPlot[bestPrev], &amp;st_Cur[bestCur]);  </a:t>
            </a:r>
            <a:r>
              <a:rPr sz="760" b="0">
                <a:solidFill>
                  <a:srgbClr val="059669"/>
                </a:solidFill>
                <a:latin typeface="맑은 고딕"/>
                <a:ea typeface="맑은 고딕"/>
                <a:cs typeface="맑은 고딕"/>
              </a:rPr>
              <a:t>// 초기 상태변수 · 공분산 (3.6)</a:t>
            </a:r>
          </a:p>
          <a:p>
            <a:pPr>
              <a:lnSpc>
                <a:spcPts val="900"/>
              </a:lnSpc>
            </a:pPr>
            <a:r>
              <a:rPr sz="760" b="0">
                <a:solidFill>
                  <a:srgbClr val="AEB9CC"/>
                </a:solidFill>
                <a:latin typeface="Consolas"/>
                <a:ea typeface="Consolas"/>
                <a:cs typeface="Consolas"/>
              </a:rPr>
              <a:t>413  </a:t>
            </a:r>
            <a:r>
              <a:rPr sz="760" b="0">
                <a:solidFill>
                  <a:srgbClr val="1B2740"/>
                </a:solidFill>
                <a:latin typeface="Consolas"/>
                <a:ea typeface="Consolas"/>
                <a:cs typeface="Consolas"/>
              </a:rPr>
              <a:t>        st_Track-&gt;TrackId  = newId;</a:t>
            </a:r>
          </a:p>
          <a:p>
            <a:pPr>
              <a:lnSpc>
                <a:spcPts val="900"/>
              </a:lnSpc>
            </a:pPr>
            <a:r>
              <a:rPr sz="760" b="0">
                <a:solidFill>
                  <a:srgbClr val="AEB9CC"/>
                </a:solidFill>
                <a:latin typeface="Consolas"/>
                <a:ea typeface="Consolas"/>
                <a:cs typeface="Consolas"/>
              </a:rPr>
              <a:t>414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TRK_STATE_TENTATIVE</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임시 트랙 (1)</a:t>
            </a:r>
          </a:p>
          <a:p>
            <a:pPr>
              <a:lnSpc>
                <a:spcPts val="900"/>
              </a:lnSpc>
            </a:pPr>
            <a:r>
              <a:rPr sz="760" b="0">
                <a:solidFill>
                  <a:srgbClr val="AEB9CC"/>
                </a:solidFill>
                <a:latin typeface="Consolas"/>
                <a:ea typeface="Consolas"/>
                <a:cs typeface="Consolas"/>
              </a:rPr>
              <a:t>415  </a:t>
            </a:r>
            <a:r>
              <a:rPr sz="760" b="0">
                <a:solidFill>
                  <a:srgbClr val="1B2740"/>
                </a:solidFill>
                <a:latin typeface="Consolas"/>
                <a:ea typeface="Consolas"/>
                <a:cs typeface="Consolas"/>
              </a:rPr>
              <a:t>        st_Track-&gt;TrackScore  = </a:t>
            </a:r>
            <a:r>
              <a:rPr sz="760" b="0">
                <a:solidFill>
                  <a:srgbClr val="7C3AED"/>
                </a:solidFill>
                <a:latin typeface="Consolas"/>
                <a:ea typeface="Consolas"/>
                <a:cs typeface="Consolas"/>
              </a:rPr>
              <a:t>TRK_SCORE_INIT</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개시 스코어 2</a:t>
            </a:r>
          </a:p>
          <a:p>
            <a:pPr>
              <a:lnSpc>
                <a:spcPts val="900"/>
              </a:lnSpc>
            </a:pPr>
            <a:r>
              <a:rPr sz="760" b="0">
                <a:solidFill>
                  <a:srgbClr val="AEB9CC"/>
                </a:solidFill>
                <a:latin typeface="Consolas"/>
                <a:ea typeface="Consolas"/>
                <a:cs typeface="Consolas"/>
              </a:rPr>
              <a:t>     </a:t>
            </a:r>
            <a:r>
              <a:rPr sz="760" b="0">
                <a:solidFill>
                  <a:srgbClr val="8794AC"/>
                </a:solidFill>
                <a:latin typeface="Consolas"/>
                <a:ea typeface="Consolas"/>
                <a:cs typeface="Consolas"/>
              </a:rPr>
              <a:t>...</a:t>
            </a:r>
          </a:p>
          <a:p>
            <a:pPr>
              <a:lnSpc>
                <a:spcPts val="900"/>
              </a:lnSpc>
            </a:pPr>
            <a:r>
              <a:rPr sz="760" b="0">
                <a:solidFill>
                  <a:srgbClr val="AEB9CC"/>
                </a:solidFill>
                <a:latin typeface="Consolas"/>
                <a:ea typeface="Consolas"/>
                <a:cs typeface="Consolas"/>
              </a:rPr>
              <a:t>420  </a:t>
            </a:r>
            <a:r>
              <a:rPr sz="760" b="0">
                <a:solidFill>
                  <a:srgbClr val="1B2740"/>
                </a:solidFill>
                <a:latin typeface="Consolas"/>
                <a:ea typeface="Consolas"/>
                <a:cs typeface="Consolas"/>
              </a:rPr>
              <a:t>        st_Track-&gt;PlotId[</a:t>
            </a:r>
            <a:r>
              <a:rPr sz="760" b="0">
                <a:solidFill>
                  <a:srgbClr val="B45309"/>
                </a:solidFill>
                <a:latin typeface="Consolas"/>
                <a:ea typeface="Consolas"/>
                <a:cs typeface="Consolas"/>
              </a:rPr>
              <a:t>0</a:t>
            </a:r>
            <a:r>
              <a:rPr sz="760" b="0">
                <a:solidFill>
                  <a:srgbClr val="1B2740"/>
                </a:solidFill>
                <a:latin typeface="Consolas"/>
                <a:ea typeface="Consolas"/>
                <a:cs typeface="Consolas"/>
              </a:rPr>
              <a:t>]  = st_Table-&gt;st_PrevPlot[bestPrev].PlotId;  </a:t>
            </a:r>
            <a:r>
              <a:rPr sz="760" b="0">
                <a:solidFill>
                  <a:srgbClr val="059669"/>
                </a:solidFill>
                <a:latin typeface="맑은 고딕"/>
                <a:ea typeface="맑은 고딕"/>
                <a:cs typeface="맑은 고딕"/>
              </a:rPr>
              <a:t>// 개시에 쓴 플롯 ID</a:t>
            </a:r>
          </a:p>
          <a:p>
            <a:pPr>
              <a:lnSpc>
                <a:spcPts val="900"/>
              </a:lnSpc>
            </a:pPr>
            <a:r>
              <a:rPr sz="760" b="0">
                <a:solidFill>
                  <a:srgbClr val="AEB9CC"/>
                </a:solidFill>
                <a:latin typeface="Consolas"/>
                <a:ea typeface="Consolas"/>
                <a:cs typeface="Consolas"/>
              </a:rPr>
              <a:t>421  </a:t>
            </a:r>
            <a:r>
              <a:rPr sz="760" b="0">
                <a:solidFill>
                  <a:srgbClr val="1B2740"/>
                </a:solidFill>
                <a:latin typeface="Consolas"/>
                <a:ea typeface="Consolas"/>
                <a:cs typeface="Consolas"/>
              </a:rPr>
              <a:t>        st_Track-&gt;PlotId[</a:t>
            </a:r>
            <a:r>
              <a:rPr sz="760" b="0">
                <a:solidFill>
                  <a:srgbClr val="B45309"/>
                </a:solidFill>
                <a:latin typeface="Consolas"/>
                <a:ea typeface="Consolas"/>
                <a:cs typeface="Consolas"/>
              </a:rPr>
              <a:t>1</a:t>
            </a:r>
            <a:r>
              <a:rPr sz="760" b="0">
                <a:solidFill>
                  <a:srgbClr val="1B2740"/>
                </a:solidFill>
                <a:latin typeface="Consolas"/>
                <a:ea typeface="Consolas"/>
                <a:cs typeface="Consolas"/>
              </a:rPr>
              <a:t>]  = st_Cur[bestCur].PlotId;</a:t>
            </a:r>
          </a:p>
        </p:txBody>
      </p:sp>
      <p:sp>
        <p:nvSpPr>
          <p:cNvPr id="29" name="Oval 28"/>
          <p:cNvSpPr/>
          <p:nvPr/>
        </p:nvSpPr>
        <p:spPr>
          <a:xfrm>
            <a:off x="8092440" y="228600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30" name="TextBox 29"/>
          <p:cNvSpPr txBox="1"/>
          <p:nvPr/>
        </p:nvSpPr>
        <p:spPr>
          <a:xfrm>
            <a:off x="8476488" y="226771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트랙 관리 먼저</a:t>
            </a:r>
          </a:p>
          <a:p>
            <a:pPr algn="l">
              <a:lnSpc>
                <a:spcPct val="105000"/>
              </a:lnSpc>
            </a:pPr>
            <a:r>
              <a:rPr sz="1050" b="0">
                <a:solidFill>
                  <a:srgbClr val="4A5A7A"/>
                </a:solidFill>
                <a:latin typeface="맑은 고딕"/>
                <a:ea typeface="맑은 고딕"/>
                <a:cs typeface="맑은 고딕"/>
              </a:rPr>
              <a:t>연관이 없어 모든 트랙 Assigned_Flag = 0</a:t>
            </a:r>
          </a:p>
          <a:p>
            <a:pPr algn="l">
              <a:lnSpc>
                <a:spcPct val="105000"/>
              </a:lnSpc>
            </a:pPr>
            <a:r>
              <a:rPr sz="1050" b="0">
                <a:solidFill>
                  <a:srgbClr val="4A5A7A"/>
                </a:solidFill>
                <a:latin typeface="맑은 고딕"/>
                <a:ea typeface="맑은 고딕"/>
                <a:cs typeface="맑은 고딕"/>
              </a:rPr>
              <a:t>f_Trk_UpdateState 로 판정 (3.7)</a:t>
            </a:r>
          </a:p>
        </p:txBody>
      </p:sp>
      <p:sp>
        <p:nvSpPr>
          <p:cNvPr id="31" name="Oval 30"/>
          <p:cNvSpPr/>
          <p:nvPr/>
        </p:nvSpPr>
        <p:spPr>
          <a:xfrm>
            <a:off x="8092440" y="315468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32" name="TextBox 31"/>
          <p:cNvSpPr txBox="1"/>
          <p:nvPr/>
        </p:nvSpPr>
        <p:spPr>
          <a:xfrm>
            <a:off x="8476488" y="313639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속도 게이트</a:t>
            </a:r>
          </a:p>
          <a:p>
            <a:pPr algn="l">
              <a:lnSpc>
                <a:spcPct val="105000"/>
              </a:lnSpc>
            </a:pPr>
            <a:r>
              <a:rPr sz="1050" b="0">
                <a:solidFill>
                  <a:srgbClr val="4A5A7A"/>
                </a:solidFill>
                <a:latin typeface="맑은 고딕"/>
                <a:ea typeface="맑은 고딕"/>
                <a:cs typeface="맑은 고딕"/>
              </a:rPr>
              <a:t>bestSpeed 를 V_max 로 시작</a:t>
            </a:r>
          </a:p>
          <a:p>
            <a:pPr algn="l">
              <a:lnSpc>
                <a:spcPct val="105000"/>
              </a:lnSpc>
            </a:pPr>
            <a:r>
              <a:rPr sz="1050" b="0">
                <a:solidFill>
                  <a:srgbClr val="4A5A7A"/>
                </a:solidFill>
                <a:latin typeface="맑은 고딕"/>
                <a:ea typeface="맑은 고딕"/>
                <a:cs typeface="맑은 고딕"/>
              </a:rPr>
              <a:t>-&gt; 800 m/s 이상인 쌍은 고르지 않음</a:t>
            </a:r>
          </a:p>
        </p:txBody>
      </p:sp>
      <p:sp>
        <p:nvSpPr>
          <p:cNvPr id="33" name="Oval 32"/>
          <p:cNvSpPr/>
          <p:nvPr/>
        </p:nvSpPr>
        <p:spPr>
          <a:xfrm>
            <a:off x="8092440" y="402336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34" name="TextBox 33"/>
          <p:cNvSpPr txBox="1"/>
          <p:nvPr/>
        </p:nvSpPr>
        <p:spPr>
          <a:xfrm>
            <a:off x="8476488" y="400507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쓴 플롯 표시</a:t>
            </a:r>
          </a:p>
          <a:p>
            <a:pPr algn="l">
              <a:lnSpc>
                <a:spcPct val="105000"/>
              </a:lnSpc>
            </a:pPr>
            <a:r>
              <a:rPr sz="1050" b="0">
                <a:solidFill>
                  <a:srgbClr val="4A5A7A"/>
                </a:solidFill>
                <a:latin typeface="맑은 고딕"/>
                <a:ea typeface="맑은 고딕"/>
                <a:cs typeface="맑은 고딕"/>
              </a:rPr>
              <a:t>한 플롯은 한 쌍에만</a:t>
            </a:r>
          </a:p>
        </p:txBody>
      </p:sp>
      <p:sp>
        <p:nvSpPr>
          <p:cNvPr id="35" name="Oval 34"/>
          <p:cNvSpPr/>
          <p:nvPr/>
        </p:nvSpPr>
        <p:spPr>
          <a:xfrm>
            <a:off x="8092440" y="4617720"/>
            <a:ext cx="256032" cy="256032"/>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36" name="TextBox 35"/>
          <p:cNvSpPr txBox="1"/>
          <p:nvPr/>
        </p:nvSpPr>
        <p:spPr>
          <a:xfrm>
            <a:off x="8476488" y="459943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트랙 ID</a:t>
            </a:r>
          </a:p>
          <a:p>
            <a:pPr algn="l">
              <a:lnSpc>
                <a:spcPct val="105000"/>
              </a:lnSpc>
            </a:pPr>
            <a:r>
              <a:rPr sz="1050" b="0">
                <a:solidFill>
                  <a:srgbClr val="4A5A7A"/>
                </a:solidFill>
                <a:latin typeface="맑은 고딕"/>
                <a:ea typeface="맑은 고딕"/>
                <a:cs typeface="맑은 고딕"/>
              </a:rPr>
              <a:t>100 부터 차례로, 10000 다음은 100</a:t>
            </a:r>
          </a:p>
          <a:p>
            <a:pPr algn="l">
              <a:lnSpc>
                <a:spcPct val="105000"/>
              </a:lnSpc>
            </a:pPr>
            <a:r>
              <a:rPr sz="1050" b="0">
                <a:solidFill>
                  <a:srgbClr val="4A5A7A"/>
                </a:solidFill>
                <a:latin typeface="맑은 고딕"/>
                <a:ea typeface="맑은 고딕"/>
                <a:cs typeface="맑은 고딕"/>
              </a:rPr>
              <a:t>쓰는 중인 ID 는 건너뜀</a:t>
            </a:r>
          </a:p>
        </p:txBody>
      </p:sp>
      <p:sp>
        <p:nvSpPr>
          <p:cNvPr id="37" name="Oval 36"/>
          <p:cNvSpPr/>
          <p:nvPr/>
        </p:nvSpPr>
        <p:spPr>
          <a:xfrm>
            <a:off x="8092440" y="5440680"/>
            <a:ext cx="256032" cy="256032"/>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38" name="TextBox 37"/>
          <p:cNvSpPr txBox="1"/>
          <p:nvPr/>
        </p:nvSpPr>
        <p:spPr>
          <a:xfrm>
            <a:off x="8476488" y="5422392"/>
            <a:ext cx="3072384" cy="438912"/>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초기화 (3.6)</a:t>
            </a:r>
          </a:p>
          <a:p>
            <a:pPr algn="l">
              <a:lnSpc>
                <a:spcPct val="105000"/>
              </a:lnSpc>
            </a:pPr>
            <a:r>
              <a:rPr sz="1050" b="0">
                <a:solidFill>
                  <a:srgbClr val="4A5A7A"/>
                </a:solidFill>
                <a:latin typeface="맑은 고딕"/>
                <a:ea typeface="맑은 고딕"/>
                <a:cs typeface="맑은 고딕"/>
              </a:rPr>
              <a:t>임시 (1), TrackScore 2, 개시 플롯 ID 2 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3.6 2 Point 초기화 (f_Trk_TwoPointInit)</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9 x 1 상태변수와 9 x 9 오차 공분산을 0 으로 만든 뒤, 축마다 위치 · 속도 칸만 채웁니다. 가속도 칸은 0 으로 남습니다.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3-1</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TargetSimCore/src/TrackMgr.c</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Rectangle 7"/>
          <p:cNvSpPr/>
          <p:nvPr/>
        </p:nvSpPr>
        <p:spPr>
          <a:xfrm>
            <a:off x="640080" y="2240280"/>
            <a:ext cx="7178040" cy="3593592"/>
          </a:xfrm>
          <a:prstGeom prst="rect">
            <a:avLst/>
          </a:prstGeom>
          <a:solidFill>
            <a:srgbClr val="FFFFFF"/>
          </a:solidFill>
          <a:ln w="9525">
            <a:solidFill>
              <a:srgbClr val="D2D9E5"/>
            </a:solidFill>
          </a:ln>
        </p:spPr>
        <p:txBody>
          <a:bodyPr rtlCol="0" anchor="ctr"/>
          <a:lstStyle/>
          <a:p>
            <a:pPr algn="ctr"/>
          </a:p>
        </p:txBody>
      </p:sp>
      <p:sp>
        <p:nvSpPr>
          <p:cNvPr id="9" name="Rectangle 8"/>
          <p:cNvSpPr/>
          <p:nvPr/>
        </p:nvSpPr>
        <p:spPr>
          <a:xfrm>
            <a:off x="667512" y="3327603"/>
            <a:ext cx="7123176" cy="254000"/>
          </a:xfrm>
          <a:prstGeom prst="rect">
            <a:avLst/>
          </a:prstGeom>
          <a:solidFill>
            <a:srgbClr val="FDEEEE"/>
          </a:solidFill>
          <a:ln>
            <a:noFill/>
          </a:ln>
        </p:spPr>
        <p:txBody>
          <a:bodyPr rtlCol="0" anchor="ctr"/>
          <a:lstStyle/>
          <a:p>
            <a:pPr algn="ctr"/>
          </a:p>
        </p:txBody>
      </p:sp>
      <p:sp>
        <p:nvSpPr>
          <p:cNvPr id="10" name="Rectangle 9"/>
          <p:cNvSpPr/>
          <p:nvPr/>
        </p:nvSpPr>
        <p:spPr>
          <a:xfrm>
            <a:off x="667512" y="3327603"/>
            <a:ext cx="36576" cy="254000"/>
          </a:xfrm>
          <a:prstGeom prst="rect">
            <a:avLst/>
          </a:prstGeom>
          <a:solidFill>
            <a:srgbClr val="DC2626"/>
          </a:solidFill>
          <a:ln>
            <a:noFill/>
          </a:ln>
        </p:spPr>
        <p:txBody>
          <a:bodyPr rtlCol="0" anchor="ctr"/>
          <a:lstStyle/>
          <a:p>
            <a:pPr algn="ctr"/>
          </a:p>
        </p:txBody>
      </p:sp>
      <p:sp>
        <p:nvSpPr>
          <p:cNvPr id="11" name="Oval 10"/>
          <p:cNvSpPr/>
          <p:nvPr/>
        </p:nvSpPr>
        <p:spPr>
          <a:xfrm>
            <a:off x="7717536" y="3290519"/>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2" name="Rectangle 11"/>
          <p:cNvSpPr/>
          <p:nvPr/>
        </p:nvSpPr>
        <p:spPr>
          <a:xfrm>
            <a:off x="667512" y="3962603"/>
            <a:ext cx="7123176" cy="381000"/>
          </a:xfrm>
          <a:prstGeom prst="rect">
            <a:avLst/>
          </a:prstGeom>
          <a:solidFill>
            <a:srgbClr val="FEF3E2"/>
          </a:solidFill>
          <a:ln>
            <a:noFill/>
          </a:ln>
        </p:spPr>
        <p:txBody>
          <a:bodyPr rtlCol="0" anchor="ctr"/>
          <a:lstStyle/>
          <a:p>
            <a:pPr algn="ctr"/>
          </a:p>
        </p:txBody>
      </p:sp>
      <p:sp>
        <p:nvSpPr>
          <p:cNvPr id="13" name="Rectangle 12"/>
          <p:cNvSpPr/>
          <p:nvPr/>
        </p:nvSpPr>
        <p:spPr>
          <a:xfrm>
            <a:off x="667512" y="3962603"/>
            <a:ext cx="36576" cy="381000"/>
          </a:xfrm>
          <a:prstGeom prst="rect">
            <a:avLst/>
          </a:prstGeom>
          <a:solidFill>
            <a:srgbClr val="D97706"/>
          </a:solidFill>
          <a:ln>
            <a:noFill/>
          </a:ln>
        </p:spPr>
        <p:txBody>
          <a:bodyPr rtlCol="0" anchor="ctr"/>
          <a:lstStyle/>
          <a:p>
            <a:pPr algn="ctr"/>
          </a:p>
        </p:txBody>
      </p:sp>
      <p:sp>
        <p:nvSpPr>
          <p:cNvPr id="14" name="Oval 13"/>
          <p:cNvSpPr/>
          <p:nvPr/>
        </p:nvSpPr>
        <p:spPr>
          <a:xfrm>
            <a:off x="7717536" y="3925519"/>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5" name="Rectangle 14"/>
          <p:cNvSpPr/>
          <p:nvPr/>
        </p:nvSpPr>
        <p:spPr>
          <a:xfrm>
            <a:off x="667512" y="4724603"/>
            <a:ext cx="7123176" cy="635000"/>
          </a:xfrm>
          <a:prstGeom prst="rect">
            <a:avLst/>
          </a:prstGeom>
          <a:solidFill>
            <a:srgbClr val="E6F5EE"/>
          </a:solidFill>
          <a:ln>
            <a:noFill/>
          </a:ln>
        </p:spPr>
        <p:txBody>
          <a:bodyPr rtlCol="0" anchor="ctr"/>
          <a:lstStyle/>
          <a:p>
            <a:pPr algn="ctr"/>
          </a:p>
        </p:txBody>
      </p:sp>
      <p:sp>
        <p:nvSpPr>
          <p:cNvPr id="16" name="Rectangle 15"/>
          <p:cNvSpPr/>
          <p:nvPr/>
        </p:nvSpPr>
        <p:spPr>
          <a:xfrm>
            <a:off x="667512" y="4724603"/>
            <a:ext cx="36576" cy="635000"/>
          </a:xfrm>
          <a:prstGeom prst="rect">
            <a:avLst/>
          </a:prstGeom>
          <a:solidFill>
            <a:srgbClr val="059669"/>
          </a:solidFill>
          <a:ln>
            <a:noFill/>
          </a:ln>
        </p:spPr>
        <p:txBody>
          <a:bodyPr rtlCol="0" anchor="ctr"/>
          <a:lstStyle/>
          <a:p>
            <a:pPr algn="ctr"/>
          </a:p>
        </p:txBody>
      </p:sp>
      <p:sp>
        <p:nvSpPr>
          <p:cNvPr id="17" name="Oval 16"/>
          <p:cNvSpPr/>
          <p:nvPr/>
        </p:nvSpPr>
        <p:spPr>
          <a:xfrm>
            <a:off x="7717536" y="4687519"/>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18" name="TextBox 17"/>
          <p:cNvSpPr txBox="1"/>
          <p:nvPr/>
        </p:nvSpPr>
        <p:spPr>
          <a:xfrm>
            <a:off x="731519" y="2322576"/>
            <a:ext cx="6949440" cy="3429000"/>
          </a:xfrm>
          <a:prstGeom prst="rect">
            <a:avLst/>
          </a:prstGeom>
          <a:noFill/>
        </p:spPr>
        <p:txBody>
          <a:bodyPr wrap="none" lIns="0" tIns="0" rIns="0" bIns="0" anchor="t">
            <a:spAutoFit/>
          </a:bodyPr>
          <a:lstStyle/>
          <a:p>
            <a:pPr>
              <a:lnSpc>
                <a:spcPts val="1000"/>
              </a:lnSpc>
            </a:pPr>
            <a:r>
              <a:rPr sz="760" b="0">
                <a:solidFill>
                  <a:srgbClr val="AEB9CC"/>
                </a:solidFill>
                <a:latin typeface="Consolas"/>
                <a:ea typeface="Consolas"/>
                <a:cs typeface="Consolas"/>
              </a:rPr>
              <a:t>164  </a:t>
            </a:r>
            <a:r>
              <a:rPr sz="760" b="0">
                <a:solidFill>
                  <a:srgbClr val="2563EB"/>
                </a:solidFill>
                <a:latin typeface="Consolas"/>
                <a:ea typeface="Consolas"/>
                <a:cs typeface="Consolas"/>
              </a:rPr>
              <a:t>VOID</a:t>
            </a:r>
            <a:r>
              <a:rPr sz="760" b="0">
                <a:solidFill>
                  <a:srgbClr val="1B2740"/>
                </a:solidFill>
                <a:latin typeface="Consolas"/>
                <a:ea typeface="Consolas"/>
                <a:cs typeface="Consolas"/>
              </a:rPr>
              <a:t> f_Trk_TwoPointInit(</a:t>
            </a:r>
            <a:r>
              <a:rPr sz="760" b="0">
                <a:solidFill>
                  <a:srgbClr val="2563EB"/>
                </a:solidFill>
                <a:latin typeface="Consolas"/>
                <a:ea typeface="Consolas"/>
                <a:cs typeface="Consolas"/>
              </a:rPr>
              <a:t>ST_Track</a:t>
            </a:r>
            <a:r>
              <a:rPr sz="760" b="0">
                <a:solidFill>
                  <a:srgbClr val="1B2740"/>
                </a:solidFill>
                <a:latin typeface="Consolas"/>
                <a:ea typeface="Consolas"/>
                <a:cs typeface="Consolas"/>
              </a:rPr>
              <a:t> *st_Track, </a:t>
            </a:r>
            <a:r>
              <a:rPr sz="760" b="0">
                <a:solidFill>
                  <a:srgbClr val="2563EB"/>
                </a:solidFill>
                <a:latin typeface="Consolas"/>
                <a:ea typeface="Consolas"/>
                <a:cs typeface="Consolas"/>
              </a:rPr>
              <a:t>const</a:t>
            </a:r>
            <a:r>
              <a:rPr sz="760" b="0">
                <a:solidFill>
                  <a:srgbClr val="1B2740"/>
                </a:solidFill>
                <a:latin typeface="Consolas"/>
                <a:ea typeface="Consolas"/>
                <a:cs typeface="Consolas"/>
              </a:rPr>
              <a:t> </a:t>
            </a:r>
            <a:r>
              <a:rPr sz="760" b="0">
                <a:solidFill>
                  <a:srgbClr val="2563EB"/>
                </a:solidFill>
                <a:latin typeface="Consolas"/>
                <a:ea typeface="Consolas"/>
                <a:cs typeface="Consolas"/>
              </a:rPr>
              <a:t>ST_TrkPlot</a:t>
            </a:r>
            <a:r>
              <a:rPr sz="760" b="0">
                <a:solidFill>
                  <a:srgbClr val="1B2740"/>
                </a:solidFill>
                <a:latin typeface="Consolas"/>
                <a:ea typeface="Consolas"/>
                <a:cs typeface="Consolas"/>
              </a:rPr>
              <a:t> *st_Prev, </a:t>
            </a:r>
            <a:r>
              <a:rPr sz="760" b="0">
                <a:solidFill>
                  <a:srgbClr val="2563EB"/>
                </a:solidFill>
                <a:latin typeface="Consolas"/>
                <a:ea typeface="Consolas"/>
                <a:cs typeface="Consolas"/>
              </a:rPr>
              <a:t>const</a:t>
            </a:r>
            <a:r>
              <a:rPr sz="760" b="0">
                <a:solidFill>
                  <a:srgbClr val="1B2740"/>
                </a:solidFill>
                <a:latin typeface="Consolas"/>
                <a:ea typeface="Consolas"/>
                <a:cs typeface="Consolas"/>
              </a:rPr>
              <a:t> </a:t>
            </a:r>
            <a:r>
              <a:rPr sz="760" b="0">
                <a:solidFill>
                  <a:srgbClr val="2563EB"/>
                </a:solidFill>
                <a:latin typeface="Consolas"/>
                <a:ea typeface="Consolas"/>
                <a:cs typeface="Consolas"/>
              </a:rPr>
              <a:t>ST_TrkPlot</a:t>
            </a:r>
            <a:r>
              <a:rPr sz="760" b="0">
                <a:solidFill>
                  <a:srgbClr val="1B2740"/>
                </a:solidFill>
                <a:latin typeface="Consolas"/>
                <a:ea typeface="Consolas"/>
                <a:cs typeface="Consolas"/>
              </a:rPr>
              <a:t> *st_Cur)  </a:t>
            </a:r>
            <a:r>
              <a:rPr sz="760" b="0">
                <a:solidFill>
                  <a:srgbClr val="059669"/>
                </a:solidFill>
                <a:latin typeface="맑은 고딕"/>
                <a:ea typeface="맑은 고딕"/>
                <a:cs typeface="맑은 고딕"/>
              </a:rPr>
              <a:t>// 앞 플롯, 이번 플롯</a:t>
            </a:r>
          </a:p>
          <a:p>
            <a:pPr>
              <a:lnSpc>
                <a:spcPts val="1000"/>
              </a:lnSpc>
            </a:pPr>
            <a:r>
              <a:rPr sz="760" b="0">
                <a:solidFill>
                  <a:srgbClr val="AEB9CC"/>
                </a:solidFill>
                <a:latin typeface="Consolas"/>
                <a:ea typeface="Consolas"/>
                <a:cs typeface="Consolas"/>
              </a:rPr>
              <a:t>165  </a:t>
            </a:r>
            <a:r>
              <a:rPr sz="760" b="0">
                <a:solidFill>
                  <a:srgbClr val="1B2740"/>
                </a:solidFill>
                <a:latin typeface="Consolas"/>
                <a:ea typeface="Consolas"/>
                <a:cs typeface="Consolas"/>
              </a:rPr>
              <a:t>{</a:t>
            </a:r>
          </a:p>
          <a:p>
            <a:pPr>
              <a:lnSpc>
                <a:spcPts val="1000"/>
              </a:lnSpc>
            </a:pPr>
            <a:r>
              <a:rPr sz="760" b="0">
                <a:solidFill>
                  <a:srgbClr val="AEB9CC"/>
                </a:solidFill>
                <a:latin typeface="Consolas"/>
                <a:ea typeface="Consolas"/>
                <a:cs typeface="Consolas"/>
              </a:rPr>
              <a:t>166  </a:t>
            </a:r>
            <a:r>
              <a:rPr sz="760" b="0">
                <a:solidFill>
                  <a:srgbClr val="1B2740"/>
                </a:solidFill>
                <a:latin typeface="Consolas"/>
                <a:ea typeface="Consolas"/>
                <a:cs typeface="Consolas"/>
              </a:rPr>
              <a:t>  </a:t>
            </a:r>
            <a:r>
              <a:rPr sz="760" b="0">
                <a:solidFill>
                  <a:srgbClr val="2563EB"/>
                </a:solidFill>
                <a:latin typeface="Consolas"/>
                <a:ea typeface="Consolas"/>
                <a:cs typeface="Consolas"/>
              </a:rPr>
              <a:t>const</a:t>
            </a:r>
            <a:r>
              <a:rPr sz="760" b="0">
                <a:solidFill>
                  <a:srgbClr val="1B2740"/>
                </a:solidFill>
                <a:latin typeface="Consolas"/>
                <a:ea typeface="Consolas"/>
                <a:cs typeface="Consolas"/>
              </a:rPr>
              <a:t> </a:t>
            </a:r>
            <a:r>
              <a:rPr sz="760" b="0">
                <a:solidFill>
                  <a:srgbClr val="2563EB"/>
                </a:solidFill>
                <a:latin typeface="Consolas"/>
                <a:ea typeface="Consolas"/>
                <a:cs typeface="Consolas"/>
              </a:rPr>
              <a:t>FLOAT64</a:t>
            </a:r>
            <a:r>
              <a:rPr sz="760" b="0">
                <a:solidFill>
                  <a:srgbClr val="1B2740"/>
                </a:solidFill>
                <a:latin typeface="Consolas"/>
                <a:ea typeface="Consolas"/>
                <a:cs typeface="Consolas"/>
              </a:rPr>
              <a:t>  dt = st_Cur-&gt;time - st_Prev-&gt;time;  </a:t>
            </a:r>
            <a:r>
              <a:rPr sz="760" b="0">
                <a:solidFill>
                  <a:srgbClr val="059669"/>
                </a:solidFill>
                <a:latin typeface="맑은 고딕"/>
                <a:ea typeface="맑은 고딕"/>
                <a:cs typeface="맑은 고딕"/>
              </a:rPr>
              <a:t>// 스캔 간격 T [s]</a:t>
            </a:r>
          </a:p>
          <a:p>
            <a:pPr>
              <a:lnSpc>
                <a:spcPts val="1000"/>
              </a:lnSpc>
            </a:pPr>
            <a:r>
              <a:rPr sz="760" b="0">
                <a:solidFill>
                  <a:srgbClr val="AEB9CC"/>
                </a:solidFill>
                <a:latin typeface="Consolas"/>
                <a:ea typeface="Consolas"/>
                <a:cs typeface="Consolas"/>
              </a:rPr>
              <a:t>167  </a:t>
            </a:r>
            <a:r>
              <a:rPr sz="760" b="0">
                <a:solidFill>
                  <a:srgbClr val="1B2740"/>
                </a:solidFill>
                <a:latin typeface="Consolas"/>
                <a:ea typeface="Consolas"/>
                <a:cs typeface="Consolas"/>
              </a:rPr>
              <a:t>  </a:t>
            </a:r>
            <a:r>
              <a:rPr sz="760" b="0">
                <a:solidFill>
                  <a:srgbClr val="2563EB"/>
                </a:solidFill>
                <a:latin typeface="Consolas"/>
                <a:ea typeface="Consolas"/>
                <a:cs typeface="Consolas"/>
              </a:rPr>
              <a:t>matrix</a:t>
            </a:r>
            <a:r>
              <a:rPr sz="760" b="0">
                <a:solidFill>
                  <a:srgbClr val="1B2740"/>
                </a:solidFill>
                <a:latin typeface="Consolas"/>
                <a:ea typeface="Consolas"/>
                <a:cs typeface="Consolas"/>
              </a:rPr>
              <a:t>  *st_X = &amp;st_Track-&gt;mat_EstX;  </a:t>
            </a:r>
            <a:r>
              <a:rPr sz="760" b="0">
                <a:solidFill>
                  <a:srgbClr val="059669"/>
                </a:solidFill>
                <a:latin typeface="맑은 고딕"/>
                <a:ea typeface="맑은 고딕"/>
                <a:cs typeface="맑은 고딕"/>
              </a:rPr>
              <a:t>// 상태변수 X (9 x 1)</a:t>
            </a:r>
          </a:p>
          <a:p>
            <a:pPr>
              <a:lnSpc>
                <a:spcPts val="1000"/>
              </a:lnSpc>
            </a:pPr>
            <a:r>
              <a:rPr sz="760" b="0">
                <a:solidFill>
                  <a:srgbClr val="AEB9CC"/>
                </a:solidFill>
                <a:latin typeface="Consolas"/>
                <a:ea typeface="Consolas"/>
                <a:cs typeface="Consolas"/>
              </a:rPr>
              <a:t>168  </a:t>
            </a:r>
            <a:r>
              <a:rPr sz="760" b="0">
                <a:solidFill>
                  <a:srgbClr val="1B2740"/>
                </a:solidFill>
                <a:latin typeface="Consolas"/>
                <a:ea typeface="Consolas"/>
                <a:cs typeface="Consolas"/>
              </a:rPr>
              <a:t>  </a:t>
            </a:r>
            <a:r>
              <a:rPr sz="760" b="0">
                <a:solidFill>
                  <a:srgbClr val="2563EB"/>
                </a:solidFill>
                <a:latin typeface="Consolas"/>
                <a:ea typeface="Consolas"/>
                <a:cs typeface="Consolas"/>
              </a:rPr>
              <a:t>matrix</a:t>
            </a:r>
            <a:r>
              <a:rPr sz="760" b="0">
                <a:solidFill>
                  <a:srgbClr val="1B2740"/>
                </a:solidFill>
                <a:latin typeface="Consolas"/>
                <a:ea typeface="Consolas"/>
                <a:cs typeface="Consolas"/>
              </a:rPr>
              <a:t>  *st_P = &amp;st_Track-&gt;mat_EstP;  </a:t>
            </a:r>
            <a:r>
              <a:rPr sz="760" b="0">
                <a:solidFill>
                  <a:srgbClr val="059669"/>
                </a:solidFill>
                <a:latin typeface="맑은 고딕"/>
                <a:ea typeface="맑은 고딕"/>
                <a:cs typeface="맑은 고딕"/>
              </a:rPr>
              <a:t>// 오차 공분산 P (9 x 9)</a:t>
            </a:r>
          </a:p>
          <a:p>
            <a:pPr>
              <a:lnSpc>
                <a:spcPts val="1000"/>
              </a:lnSpc>
            </a:pPr>
            <a:r>
              <a:rPr sz="760" b="0">
                <a:solidFill>
                  <a:srgbClr val="AEB9CC"/>
                </a:solidFill>
                <a:latin typeface="Consolas"/>
                <a:ea typeface="Consolas"/>
                <a:cs typeface="Consolas"/>
              </a:rPr>
              <a:t>169  </a:t>
            </a:r>
            <a:r>
              <a:rPr sz="760" b="0">
                <a:solidFill>
                  <a:srgbClr val="1B2740"/>
                </a:solidFill>
                <a:latin typeface="Consolas"/>
                <a:ea typeface="Consolas"/>
                <a:cs typeface="Consolas"/>
              </a:rPr>
              <a:t>  </a:t>
            </a:r>
            <a:r>
              <a:rPr sz="760" b="0">
                <a:solidFill>
                  <a:srgbClr val="2563EB"/>
                </a:solidFill>
                <a:latin typeface="Consolas"/>
                <a:ea typeface="Consolas"/>
                <a:cs typeface="Consolas"/>
              </a:rPr>
              <a:t>INT32</a:t>
            </a:r>
            <a:r>
              <a:rPr sz="760" b="0">
                <a:solidFill>
                  <a:srgbClr val="1B2740"/>
                </a:solidFill>
                <a:latin typeface="Consolas"/>
                <a:ea typeface="Consolas"/>
                <a:cs typeface="Consolas"/>
              </a:rPr>
              <a:t>  nAxis;  </a:t>
            </a:r>
            <a:r>
              <a:rPr sz="760" b="0">
                <a:solidFill>
                  <a:srgbClr val="059669"/>
                </a:solidFill>
                <a:latin typeface="맑은 고딕"/>
                <a:ea typeface="맑은 고딕"/>
                <a:cs typeface="맑은 고딕"/>
              </a:rPr>
              <a:t>// 축 a</a:t>
            </a:r>
          </a:p>
          <a:p>
            <a:pPr>
              <a:lnSpc>
                <a:spcPts val="1000"/>
              </a:lnSpc>
            </a:pPr>
            <a:r>
              <a:rPr sz="760" b="0">
                <a:solidFill>
                  <a:srgbClr val="AEB9CC"/>
                </a:solidFill>
                <a:latin typeface="Consolas"/>
                <a:ea typeface="Consolas"/>
                <a:cs typeface="Consolas"/>
              </a:rPr>
              <a:t>170  </a:t>
            </a:r>
            <a:r>
              <a:rPr sz="760" b="0">
                <a:solidFill>
                  <a:srgbClr val="1B2740"/>
                </a:solidFill>
                <a:latin typeface="Consolas"/>
                <a:ea typeface="Consolas"/>
                <a:cs typeface="Consolas"/>
              </a:rPr>
              <a:t>  </a:t>
            </a:r>
            <a:r>
              <a:rPr sz="760" b="0">
                <a:solidFill>
                  <a:srgbClr val="2563EB"/>
                </a:solidFill>
                <a:latin typeface="Consolas"/>
                <a:ea typeface="Consolas"/>
                <a:cs typeface="Consolas"/>
              </a:rPr>
              <a:t>INT32</a:t>
            </a:r>
            <a:r>
              <a:rPr sz="760" b="0">
                <a:solidFill>
                  <a:srgbClr val="1B2740"/>
                </a:solidFill>
                <a:latin typeface="Consolas"/>
                <a:ea typeface="Consolas"/>
                <a:cs typeface="Consolas"/>
              </a:rPr>
              <a:t>  nAxisB;  </a:t>
            </a:r>
            <a:r>
              <a:rPr sz="760" b="0">
                <a:solidFill>
                  <a:srgbClr val="059669"/>
                </a:solidFill>
                <a:latin typeface="맑은 고딕"/>
                <a:ea typeface="맑은 고딕"/>
                <a:cs typeface="맑은 고딕"/>
              </a:rPr>
              <a:t>// 축 b</a:t>
            </a:r>
          </a:p>
          <a:p>
            <a:pPr>
              <a:lnSpc>
                <a:spcPts val="1000"/>
              </a:lnSpc>
            </a:pPr>
            <a:r>
              <a:rPr sz="760" b="0">
                <a:solidFill>
                  <a:srgbClr val="AEB9CC"/>
                </a:solidFill>
                <a:latin typeface="Consolas"/>
                <a:ea typeface="Consolas"/>
                <a:cs typeface="Consolas"/>
              </a:rPr>
              <a:t>171  </a:t>
            </a:r>
          </a:p>
          <a:p>
            <a:pPr>
              <a:lnSpc>
                <a:spcPts val="1000"/>
              </a:lnSpc>
            </a:pPr>
            <a:r>
              <a:rPr sz="760" b="0">
                <a:solidFill>
                  <a:srgbClr val="AEB9CC"/>
                </a:solidFill>
                <a:latin typeface="Consolas"/>
                <a:ea typeface="Consolas"/>
                <a:cs typeface="Consolas"/>
              </a:rPr>
              <a:t>172  </a:t>
            </a:r>
            <a:r>
              <a:rPr sz="760" b="0">
                <a:solidFill>
                  <a:srgbClr val="1B2740"/>
                </a:solidFill>
                <a:latin typeface="Consolas"/>
                <a:ea typeface="Consolas"/>
                <a:cs typeface="Consolas"/>
              </a:rPr>
              <a:t>  Matrix_initialize(st_X, </a:t>
            </a:r>
            <a:r>
              <a:rPr sz="760" b="0">
                <a:solidFill>
                  <a:srgbClr val="7C3AED"/>
                </a:solidFill>
                <a:latin typeface="Consolas"/>
                <a:ea typeface="Consolas"/>
                <a:cs typeface="Consolas"/>
              </a:rPr>
              <a:t>TRK_STATE_DIM</a:t>
            </a:r>
            <a:r>
              <a:rPr sz="760" b="0">
                <a:solidFill>
                  <a:srgbClr val="1B2740"/>
                </a:solidFill>
                <a:latin typeface="Consolas"/>
                <a:ea typeface="Consolas"/>
                <a:cs typeface="Consolas"/>
              </a:rPr>
              <a:t>, </a:t>
            </a:r>
            <a:r>
              <a:rPr sz="760" b="0">
                <a:solidFill>
                  <a:srgbClr val="B45309"/>
                </a:solidFill>
                <a:latin typeface="Consolas"/>
                <a:ea typeface="Consolas"/>
                <a:cs typeface="Consolas"/>
              </a:rPr>
              <a:t>1</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9 x 1, 모두 0</a:t>
            </a:r>
          </a:p>
          <a:p>
            <a:pPr>
              <a:lnSpc>
                <a:spcPts val="1000"/>
              </a:lnSpc>
            </a:pPr>
            <a:r>
              <a:rPr sz="760" b="0">
                <a:solidFill>
                  <a:srgbClr val="AEB9CC"/>
                </a:solidFill>
                <a:latin typeface="Consolas"/>
                <a:ea typeface="Consolas"/>
                <a:cs typeface="Consolas"/>
              </a:rPr>
              <a:t>173  </a:t>
            </a:r>
            <a:r>
              <a:rPr sz="760" b="0">
                <a:solidFill>
                  <a:srgbClr val="1B2740"/>
                </a:solidFill>
                <a:latin typeface="Consolas"/>
                <a:ea typeface="Consolas"/>
                <a:cs typeface="Consolas"/>
              </a:rPr>
              <a:t>  Matrix_initialize(st_P, </a:t>
            </a:r>
            <a:r>
              <a:rPr sz="760" b="0">
                <a:solidFill>
                  <a:srgbClr val="7C3AED"/>
                </a:solidFill>
                <a:latin typeface="Consolas"/>
                <a:ea typeface="Consolas"/>
                <a:cs typeface="Consolas"/>
              </a:rPr>
              <a:t>TRK_STATE_DIM</a:t>
            </a:r>
            <a:r>
              <a:rPr sz="760" b="0">
                <a:solidFill>
                  <a:srgbClr val="1B2740"/>
                </a:solidFill>
                <a:latin typeface="Consolas"/>
                <a:ea typeface="Consolas"/>
                <a:cs typeface="Consolas"/>
              </a:rPr>
              <a:t>, </a:t>
            </a:r>
            <a:r>
              <a:rPr sz="760" b="0">
                <a:solidFill>
                  <a:srgbClr val="7C3AED"/>
                </a:solidFill>
                <a:latin typeface="Consolas"/>
                <a:ea typeface="Consolas"/>
                <a:cs typeface="Consolas"/>
              </a:rPr>
              <a:t>TRK_STATE_DIM</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9 x 9, 모두 0</a:t>
            </a:r>
          </a:p>
          <a:p>
            <a:pPr>
              <a:lnSpc>
                <a:spcPts val="1000"/>
              </a:lnSpc>
            </a:pPr>
            <a:r>
              <a:rPr sz="760" b="0">
                <a:solidFill>
                  <a:srgbClr val="AEB9CC"/>
                </a:solidFill>
                <a:latin typeface="Consolas"/>
                <a:ea typeface="Consolas"/>
                <a:cs typeface="Consolas"/>
              </a:rPr>
              <a:t>174  </a:t>
            </a:r>
          </a:p>
          <a:p>
            <a:pPr>
              <a:lnSpc>
                <a:spcPts val="1000"/>
              </a:lnSpc>
            </a:pPr>
            <a:r>
              <a:rPr sz="760" b="0">
                <a:solidFill>
                  <a:srgbClr val="AEB9CC"/>
                </a:solidFill>
                <a:latin typeface="Consolas"/>
                <a:ea typeface="Consolas"/>
                <a:cs typeface="Consolas"/>
              </a:rPr>
              <a:t>175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(nAxis = </a:t>
            </a:r>
            <a:r>
              <a:rPr sz="760" b="0">
                <a:solidFill>
                  <a:srgbClr val="B45309"/>
                </a:solidFill>
                <a:latin typeface="Consolas"/>
                <a:ea typeface="Consolas"/>
                <a:cs typeface="Consolas"/>
              </a:rPr>
              <a:t>0</a:t>
            </a:r>
            <a:r>
              <a:rPr sz="760" b="0">
                <a:solidFill>
                  <a:srgbClr val="1B2740"/>
                </a:solidFill>
                <a:latin typeface="Consolas"/>
                <a:ea typeface="Consolas"/>
                <a:cs typeface="Consolas"/>
              </a:rPr>
              <a:t>; nAxis &lt; </a:t>
            </a:r>
            <a:r>
              <a:rPr sz="760" b="0">
                <a:solidFill>
                  <a:srgbClr val="B45309"/>
                </a:solidFill>
                <a:latin typeface="Consolas"/>
                <a:ea typeface="Consolas"/>
                <a:cs typeface="Consolas"/>
              </a:rPr>
              <a:t>3</a:t>
            </a:r>
            <a:r>
              <a:rPr sz="760" b="0">
                <a:solidFill>
                  <a:srgbClr val="1B2740"/>
                </a:solidFill>
                <a:latin typeface="Consolas"/>
                <a:ea typeface="Consolas"/>
                <a:cs typeface="Consolas"/>
              </a:rPr>
              <a:t>; nAxis++)  </a:t>
            </a:r>
            <a:r>
              <a:rPr sz="760" b="0">
                <a:solidFill>
                  <a:srgbClr val="059669"/>
                </a:solidFill>
                <a:latin typeface="맑은 고딕"/>
                <a:ea typeface="맑은 고딕"/>
                <a:cs typeface="맑은 고딕"/>
              </a:rPr>
              <a:t>// 축 a: 0 북, 1 동, 2 아래</a:t>
            </a:r>
          </a:p>
          <a:p>
            <a:pPr>
              <a:lnSpc>
                <a:spcPts val="1000"/>
              </a:lnSpc>
            </a:pPr>
            <a:r>
              <a:rPr sz="760" b="0">
                <a:solidFill>
                  <a:srgbClr val="AEB9CC"/>
                </a:solidFill>
                <a:latin typeface="Consolas"/>
                <a:ea typeface="Consolas"/>
                <a:cs typeface="Consolas"/>
              </a:rPr>
              <a:t>176  </a:t>
            </a:r>
            <a:r>
              <a:rPr sz="760" b="0">
                <a:solidFill>
                  <a:srgbClr val="1B2740"/>
                </a:solidFill>
                <a:latin typeface="Consolas"/>
                <a:ea typeface="Consolas"/>
                <a:cs typeface="Consolas"/>
              </a:rPr>
              <a:t>  {</a:t>
            </a:r>
          </a:p>
          <a:p>
            <a:pPr>
              <a:lnSpc>
                <a:spcPts val="1000"/>
              </a:lnSpc>
            </a:pPr>
            <a:r>
              <a:rPr sz="760" b="0">
                <a:solidFill>
                  <a:srgbClr val="AEB9CC"/>
                </a:solidFill>
                <a:latin typeface="Consolas"/>
                <a:ea typeface="Consolas"/>
                <a:cs typeface="Consolas"/>
              </a:rPr>
              <a:t>177  </a:t>
            </a:r>
            <a:r>
              <a:rPr sz="760" b="0">
                <a:solidFill>
                  <a:srgbClr val="1B2740"/>
                </a:solidFill>
                <a:latin typeface="Consolas"/>
                <a:ea typeface="Consolas"/>
                <a:cs typeface="Consolas"/>
              </a:rPr>
              <a:t>    st_X-&gt;e[(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a:t>
            </a:r>
            <a:r>
              <a:rPr sz="760" b="0">
                <a:solidFill>
                  <a:srgbClr val="B45309"/>
                </a:solidFill>
                <a:latin typeface="Consolas"/>
                <a:ea typeface="Consolas"/>
                <a:cs typeface="Consolas"/>
              </a:rPr>
              <a:t>0</a:t>
            </a:r>
            <a:r>
              <a:rPr sz="760" b="0">
                <a:solidFill>
                  <a:srgbClr val="1B2740"/>
                </a:solidFill>
                <a:latin typeface="Consolas"/>
                <a:ea typeface="Consolas"/>
                <a:cs typeface="Consolas"/>
              </a:rPr>
              <a:t>]  = st_Cur-&gt;pos[nAxis];  </a:t>
            </a:r>
            <a:r>
              <a:rPr sz="760" b="0">
                <a:solidFill>
                  <a:srgbClr val="059669"/>
                </a:solidFill>
                <a:latin typeface="맑은 고딕"/>
                <a:ea typeface="맑은 고딕"/>
                <a:cs typeface="맑은 고딕"/>
              </a:rPr>
              <a:t>// 위치 = 이번 플롯</a:t>
            </a:r>
          </a:p>
          <a:p>
            <a:pPr>
              <a:lnSpc>
                <a:spcPts val="1000"/>
              </a:lnSpc>
            </a:pPr>
            <a:r>
              <a:rPr sz="760" b="0">
                <a:solidFill>
                  <a:srgbClr val="AEB9CC"/>
                </a:solidFill>
                <a:latin typeface="Consolas"/>
                <a:ea typeface="Consolas"/>
                <a:cs typeface="Consolas"/>
              </a:rPr>
              <a:t>178  </a:t>
            </a:r>
            <a:r>
              <a:rPr sz="760" b="0">
                <a:solidFill>
                  <a:srgbClr val="1B2740"/>
                </a:solidFill>
                <a:latin typeface="Consolas"/>
                <a:ea typeface="Consolas"/>
                <a:cs typeface="Consolas"/>
              </a:rPr>
              <a:t>    st_X-&gt;e[(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 + </a:t>
            </a:r>
            <a:r>
              <a:rPr sz="760" b="0">
                <a:solidFill>
                  <a:srgbClr val="B45309"/>
                </a:solidFill>
                <a:latin typeface="Consolas"/>
                <a:ea typeface="Consolas"/>
                <a:cs typeface="Consolas"/>
              </a:rPr>
              <a:t>1</a:t>
            </a:r>
            <a:r>
              <a:rPr sz="760" b="0">
                <a:solidFill>
                  <a:srgbClr val="1B2740"/>
                </a:solidFill>
                <a:latin typeface="Consolas"/>
                <a:ea typeface="Consolas"/>
                <a:cs typeface="Consolas"/>
              </a:rPr>
              <a:t>][</a:t>
            </a:r>
            <a:r>
              <a:rPr sz="760" b="0">
                <a:solidFill>
                  <a:srgbClr val="B45309"/>
                </a:solidFill>
                <a:latin typeface="Consolas"/>
                <a:ea typeface="Consolas"/>
                <a:cs typeface="Consolas"/>
              </a:rPr>
              <a:t>0</a:t>
            </a:r>
            <a:r>
              <a:rPr sz="760" b="0">
                <a:solidFill>
                  <a:srgbClr val="1B2740"/>
                </a:solidFill>
                <a:latin typeface="Consolas"/>
                <a:ea typeface="Consolas"/>
                <a:cs typeface="Consolas"/>
              </a:rPr>
              <a:t>]  = (st_Cur-&gt;pos[nAxis] - st_Prev-&gt;pos[nAxis]) / dt;  </a:t>
            </a:r>
            <a:r>
              <a:rPr sz="760" b="0">
                <a:solidFill>
                  <a:srgbClr val="059669"/>
                </a:solidFill>
                <a:latin typeface="맑은 고딕"/>
                <a:ea typeface="맑은 고딕"/>
                <a:cs typeface="맑은 고딕"/>
              </a:rPr>
              <a:t>// 속도 = 위치 차 / T</a:t>
            </a:r>
          </a:p>
          <a:p>
            <a:pPr>
              <a:lnSpc>
                <a:spcPts val="1000"/>
              </a:lnSpc>
            </a:pPr>
            <a:r>
              <a:rPr sz="760" b="0">
                <a:solidFill>
                  <a:srgbClr val="AEB9CC"/>
                </a:solidFill>
                <a:latin typeface="Consolas"/>
                <a:ea typeface="Consolas"/>
                <a:cs typeface="Consolas"/>
              </a:rPr>
              <a:t>179  </a:t>
            </a:r>
            <a:r>
              <a:rPr sz="760" b="0">
                <a:solidFill>
                  <a:srgbClr val="1B2740"/>
                </a:solidFill>
                <a:latin typeface="Consolas"/>
                <a:ea typeface="Consolas"/>
                <a:cs typeface="Consolas"/>
              </a:rPr>
              <a:t>    st_X-&gt;e[(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 + </a:t>
            </a:r>
            <a:r>
              <a:rPr sz="760" b="0">
                <a:solidFill>
                  <a:srgbClr val="B45309"/>
                </a:solidFill>
                <a:latin typeface="Consolas"/>
                <a:ea typeface="Consolas"/>
                <a:cs typeface="Consolas"/>
              </a:rPr>
              <a:t>2</a:t>
            </a:r>
            <a:r>
              <a:rPr sz="760" b="0">
                <a:solidFill>
                  <a:srgbClr val="1B2740"/>
                </a:solidFill>
                <a:latin typeface="Consolas"/>
                <a:ea typeface="Consolas"/>
                <a:cs typeface="Consolas"/>
              </a:rPr>
              <a:t>][</a:t>
            </a:r>
            <a:r>
              <a:rPr sz="760" b="0">
                <a:solidFill>
                  <a:srgbClr val="B45309"/>
                </a:solidFill>
                <a:latin typeface="Consolas"/>
                <a:ea typeface="Consolas"/>
                <a:cs typeface="Consolas"/>
              </a:rPr>
              <a:t>0</a:t>
            </a:r>
            <a:r>
              <a:rPr sz="760" b="0">
                <a:solidFill>
                  <a:srgbClr val="1B2740"/>
                </a:solidFill>
                <a:latin typeface="Consolas"/>
                <a:ea typeface="Consolas"/>
                <a:cs typeface="Consolas"/>
              </a:rPr>
              <a:t>]  = </a:t>
            </a:r>
            <a:r>
              <a:rPr sz="760" b="0">
                <a:solidFill>
                  <a:srgbClr val="B45309"/>
                </a:solidFill>
                <a:latin typeface="Consolas"/>
                <a:ea typeface="Consolas"/>
                <a:cs typeface="Consolas"/>
              </a:rPr>
              <a:t>0.0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가속도 = 0</a:t>
            </a:r>
          </a:p>
          <a:p>
            <a:pPr>
              <a:lnSpc>
                <a:spcPts val="1000"/>
              </a:lnSpc>
            </a:pPr>
            <a:r>
              <a:rPr sz="760" b="0">
                <a:solidFill>
                  <a:srgbClr val="AEB9CC"/>
                </a:solidFill>
                <a:latin typeface="Consolas"/>
                <a:ea typeface="Consolas"/>
                <a:cs typeface="Consolas"/>
              </a:rPr>
              <a:t>180  </a:t>
            </a:r>
          </a:p>
          <a:p>
            <a:pPr>
              <a:lnSpc>
                <a:spcPts val="1000"/>
              </a:lnSpc>
            </a:pPr>
            <a:r>
              <a:rPr sz="760" b="0">
                <a:solidFill>
                  <a:srgbClr val="AEB9CC"/>
                </a:solidFill>
                <a:latin typeface="Consolas"/>
                <a:ea typeface="Consolas"/>
                <a:cs typeface="Consolas"/>
              </a:rPr>
              <a:t>181  </a:t>
            </a:r>
            <a:r>
              <a:rPr sz="760" b="0">
                <a:solidFill>
                  <a:srgbClr val="1B2740"/>
                </a:solidFill>
                <a:latin typeface="Consolas"/>
                <a:ea typeface="Consolas"/>
                <a:cs typeface="Consolas"/>
              </a:rPr>
              <a:t>    </a:t>
            </a:r>
            <a:r>
              <a:rPr sz="760" b="0">
                <a:solidFill>
                  <a:srgbClr val="2563EB"/>
                </a:solidFill>
                <a:latin typeface="Consolas"/>
                <a:ea typeface="Consolas"/>
                <a:cs typeface="Consolas"/>
              </a:rPr>
              <a:t>for</a:t>
            </a:r>
            <a:r>
              <a:rPr sz="760" b="0">
                <a:solidFill>
                  <a:srgbClr val="1B2740"/>
                </a:solidFill>
                <a:latin typeface="Consolas"/>
                <a:ea typeface="Consolas"/>
                <a:cs typeface="Consolas"/>
              </a:rPr>
              <a:t> (nAxisB = </a:t>
            </a:r>
            <a:r>
              <a:rPr sz="760" b="0">
                <a:solidFill>
                  <a:srgbClr val="B45309"/>
                </a:solidFill>
                <a:latin typeface="Consolas"/>
                <a:ea typeface="Consolas"/>
                <a:cs typeface="Consolas"/>
              </a:rPr>
              <a:t>0</a:t>
            </a:r>
            <a:r>
              <a:rPr sz="760" b="0">
                <a:solidFill>
                  <a:srgbClr val="1B2740"/>
                </a:solidFill>
                <a:latin typeface="Consolas"/>
                <a:ea typeface="Consolas"/>
                <a:cs typeface="Consolas"/>
              </a:rPr>
              <a:t>; nAxisB &lt; </a:t>
            </a:r>
            <a:r>
              <a:rPr sz="760" b="0">
                <a:solidFill>
                  <a:srgbClr val="B45309"/>
                </a:solidFill>
                <a:latin typeface="Consolas"/>
                <a:ea typeface="Consolas"/>
                <a:cs typeface="Consolas"/>
              </a:rPr>
              <a:t>3</a:t>
            </a:r>
            <a:r>
              <a:rPr sz="760" b="0">
                <a:solidFill>
                  <a:srgbClr val="1B2740"/>
                </a:solidFill>
                <a:latin typeface="Consolas"/>
                <a:ea typeface="Consolas"/>
                <a:cs typeface="Consolas"/>
              </a:rPr>
              <a:t>; nAxisB++)  </a:t>
            </a:r>
            <a:r>
              <a:rPr sz="760" b="0">
                <a:solidFill>
                  <a:srgbClr val="059669"/>
                </a:solidFill>
                <a:latin typeface="맑은 고딕"/>
                <a:ea typeface="맑은 고딕"/>
                <a:cs typeface="맑은 고딕"/>
              </a:rPr>
              <a:t>// 축 b</a:t>
            </a:r>
          </a:p>
          <a:p>
            <a:pPr>
              <a:lnSpc>
                <a:spcPts val="1000"/>
              </a:lnSpc>
            </a:pPr>
            <a:r>
              <a:rPr sz="760" b="0">
                <a:solidFill>
                  <a:srgbClr val="AEB9CC"/>
                </a:solidFill>
                <a:latin typeface="Consolas"/>
                <a:ea typeface="Consolas"/>
                <a:cs typeface="Consolas"/>
              </a:rPr>
              <a:t>182  </a:t>
            </a:r>
            <a:r>
              <a:rPr sz="760" b="0">
                <a:solidFill>
                  <a:srgbClr val="1B2740"/>
                </a:solidFill>
                <a:latin typeface="Consolas"/>
                <a:ea typeface="Consolas"/>
                <a:cs typeface="Consolas"/>
              </a:rPr>
              <a:t>    {</a:t>
            </a:r>
          </a:p>
          <a:p>
            <a:pPr>
              <a:lnSpc>
                <a:spcPts val="1000"/>
              </a:lnSpc>
            </a:pPr>
            <a:r>
              <a:rPr sz="760" b="0">
                <a:solidFill>
                  <a:srgbClr val="AEB9CC"/>
                </a:solidFill>
                <a:latin typeface="Consolas"/>
                <a:ea typeface="Consolas"/>
                <a:cs typeface="Consolas"/>
              </a:rPr>
              <a:t>183  </a:t>
            </a:r>
            <a:r>
              <a:rPr sz="760" b="0">
                <a:solidFill>
                  <a:srgbClr val="1B2740"/>
                </a:solidFill>
                <a:latin typeface="Consolas"/>
                <a:ea typeface="Consolas"/>
                <a:cs typeface="Consolas"/>
              </a:rPr>
              <a:t>      st_P-&gt;e[(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nAxisB)]  = st_Cur-&gt;cov[nAxis][nAxisB];  </a:t>
            </a:r>
            <a:r>
              <a:rPr sz="760" b="0">
                <a:solidFill>
                  <a:srgbClr val="059669"/>
                </a:solidFill>
                <a:latin typeface="맑은 고딕"/>
                <a:ea typeface="맑은 고딕"/>
                <a:cs typeface="맑은 고딕"/>
              </a:rPr>
              <a:t>// 위치 · 위치 = R_k</a:t>
            </a:r>
          </a:p>
          <a:p>
            <a:pPr>
              <a:lnSpc>
                <a:spcPts val="1000"/>
              </a:lnSpc>
            </a:pPr>
            <a:r>
              <a:rPr sz="760" b="0">
                <a:solidFill>
                  <a:srgbClr val="AEB9CC"/>
                </a:solidFill>
                <a:latin typeface="Consolas"/>
                <a:ea typeface="Consolas"/>
                <a:cs typeface="Consolas"/>
              </a:rPr>
              <a:t>184  </a:t>
            </a:r>
            <a:r>
              <a:rPr sz="760" b="0">
                <a:solidFill>
                  <a:srgbClr val="1B2740"/>
                </a:solidFill>
                <a:latin typeface="Consolas"/>
                <a:ea typeface="Consolas"/>
                <a:cs typeface="Consolas"/>
              </a:rPr>
              <a:t>      st_P-&gt;e[(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nAxisB) + </a:t>
            </a:r>
            <a:r>
              <a:rPr sz="760" b="0">
                <a:solidFill>
                  <a:srgbClr val="B45309"/>
                </a:solidFill>
                <a:latin typeface="Consolas"/>
                <a:ea typeface="Consolas"/>
                <a:cs typeface="Consolas"/>
              </a:rPr>
              <a:t>1</a:t>
            </a:r>
            <a:r>
              <a:rPr sz="760" b="0">
                <a:solidFill>
                  <a:srgbClr val="1B2740"/>
                </a:solidFill>
                <a:latin typeface="Consolas"/>
                <a:ea typeface="Consolas"/>
                <a:cs typeface="Consolas"/>
              </a:rPr>
              <a:t>]  = st_Cur-&gt;cov[nAxis][nAxisB] / dt;  </a:t>
            </a:r>
            <a:r>
              <a:rPr sz="760" b="0">
                <a:solidFill>
                  <a:srgbClr val="059669"/>
                </a:solidFill>
                <a:latin typeface="맑은 고딕"/>
                <a:ea typeface="맑은 고딕"/>
                <a:cs typeface="맑은 고딕"/>
              </a:rPr>
              <a:t>// 위치 · 속도 = R_k / T</a:t>
            </a:r>
          </a:p>
          <a:p>
            <a:pPr>
              <a:lnSpc>
                <a:spcPts val="1000"/>
              </a:lnSpc>
            </a:pPr>
            <a:r>
              <a:rPr sz="760" b="0">
                <a:solidFill>
                  <a:srgbClr val="AEB9CC"/>
                </a:solidFill>
                <a:latin typeface="Consolas"/>
                <a:ea typeface="Consolas"/>
                <a:cs typeface="Consolas"/>
              </a:rPr>
              <a:t>185  </a:t>
            </a:r>
            <a:r>
              <a:rPr sz="760" b="0">
                <a:solidFill>
                  <a:srgbClr val="1B2740"/>
                </a:solidFill>
                <a:latin typeface="Consolas"/>
                <a:ea typeface="Consolas"/>
                <a:cs typeface="Consolas"/>
              </a:rPr>
              <a:t>      st_P-&gt;e[(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 + </a:t>
            </a:r>
            <a:r>
              <a:rPr sz="760" b="0">
                <a:solidFill>
                  <a:srgbClr val="B45309"/>
                </a:solidFill>
                <a:latin typeface="Consolas"/>
                <a:ea typeface="Consolas"/>
                <a:cs typeface="Consolas"/>
              </a:rPr>
              <a:t>1</a:t>
            </a:r>
            <a:r>
              <a:rPr sz="760" b="0">
                <a:solidFill>
                  <a:srgbClr val="1B2740"/>
                </a:solidFill>
                <a:latin typeface="Consolas"/>
                <a:ea typeface="Consolas"/>
                <a:cs typeface="Consolas"/>
              </a:rPr>
              <a:t>][(</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nAxisB)]  = st_Cur-&gt;cov[nAxis][nAxisB] / dt;  </a:t>
            </a:r>
            <a:r>
              <a:rPr sz="760" b="0">
                <a:solidFill>
                  <a:srgbClr val="059669"/>
                </a:solidFill>
                <a:latin typeface="맑은 고딕"/>
                <a:ea typeface="맑은 고딕"/>
                <a:cs typeface="맑은 고딕"/>
              </a:rPr>
              <a:t>// 속도 · 위치 = R_k / T</a:t>
            </a:r>
          </a:p>
          <a:p>
            <a:pPr>
              <a:lnSpc>
                <a:spcPts val="1000"/>
              </a:lnSpc>
            </a:pPr>
            <a:r>
              <a:rPr sz="760" b="0">
                <a:solidFill>
                  <a:srgbClr val="AEB9CC"/>
                </a:solidFill>
                <a:latin typeface="Consolas"/>
                <a:ea typeface="Consolas"/>
                <a:cs typeface="Consolas"/>
              </a:rPr>
              <a:t>     </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속도 · 속도 = (R_k + R_k-1) / T²</a:t>
            </a:r>
          </a:p>
          <a:p>
            <a:pPr>
              <a:lnSpc>
                <a:spcPts val="1000"/>
              </a:lnSpc>
            </a:pPr>
            <a:r>
              <a:rPr sz="760" b="0">
                <a:solidFill>
                  <a:srgbClr val="AEB9CC"/>
                </a:solidFill>
                <a:latin typeface="Consolas"/>
                <a:ea typeface="Consolas"/>
                <a:cs typeface="Consolas"/>
              </a:rPr>
              <a:t>186  </a:t>
            </a:r>
            <a:r>
              <a:rPr sz="760" b="0">
                <a:solidFill>
                  <a:srgbClr val="1B2740"/>
                </a:solidFill>
                <a:latin typeface="Consolas"/>
                <a:ea typeface="Consolas"/>
                <a:cs typeface="Consolas"/>
              </a:rPr>
              <a:t>      st_P-&gt;e[(</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 + </a:t>
            </a:r>
            <a:r>
              <a:rPr sz="760" b="0">
                <a:solidFill>
                  <a:srgbClr val="B45309"/>
                </a:solidFill>
                <a:latin typeface="Consolas"/>
                <a:ea typeface="Consolas"/>
                <a:cs typeface="Consolas"/>
              </a:rPr>
              <a:t>1</a:t>
            </a:r>
            <a:r>
              <a:rPr sz="760" b="0">
                <a:solidFill>
                  <a:srgbClr val="1B2740"/>
                </a:solidFill>
                <a:latin typeface="Consolas"/>
                <a:ea typeface="Consolas"/>
                <a:cs typeface="Consolas"/>
              </a:rPr>
              <a:t>][(</a:t>
            </a:r>
            <a:r>
              <a:rPr sz="760" b="0">
                <a:solidFill>
                  <a:srgbClr val="B45309"/>
                </a:solidFill>
                <a:latin typeface="Consolas"/>
                <a:ea typeface="Consolas"/>
                <a:cs typeface="Consolas"/>
              </a:rPr>
              <a:t>3</a:t>
            </a:r>
            <a:r>
              <a:rPr sz="760" b="0">
                <a:solidFill>
                  <a:srgbClr val="1B2740"/>
                </a:solidFill>
                <a:latin typeface="Consolas"/>
                <a:ea typeface="Consolas"/>
                <a:cs typeface="Consolas"/>
              </a:rPr>
              <a:t> * nAxisB) + </a:t>
            </a:r>
            <a:r>
              <a:rPr sz="760" b="0">
                <a:solidFill>
                  <a:srgbClr val="B45309"/>
                </a:solidFill>
                <a:latin typeface="Consolas"/>
                <a:ea typeface="Consolas"/>
                <a:cs typeface="Consolas"/>
              </a:rPr>
              <a:t>1</a:t>
            </a:r>
            <a:r>
              <a:rPr sz="760" b="0">
                <a:solidFill>
                  <a:srgbClr val="1B2740"/>
                </a:solidFill>
                <a:latin typeface="Consolas"/>
                <a:ea typeface="Consolas"/>
                <a:cs typeface="Consolas"/>
              </a:rPr>
              <a:t>]  = (st_Cur-&gt;cov[nAxis][nAxisB] + st_Prev-&gt;cov[nAxis][nAxisB]) / (dt * dt);</a:t>
            </a:r>
          </a:p>
          <a:p>
            <a:pPr>
              <a:lnSpc>
                <a:spcPts val="1000"/>
              </a:lnSpc>
            </a:pPr>
            <a:r>
              <a:rPr sz="760" b="0">
                <a:solidFill>
                  <a:srgbClr val="AEB9CC"/>
                </a:solidFill>
                <a:latin typeface="Consolas"/>
                <a:ea typeface="Consolas"/>
                <a:cs typeface="Consolas"/>
              </a:rPr>
              <a:t>187  </a:t>
            </a:r>
            <a:r>
              <a:rPr sz="760" b="0">
                <a:solidFill>
                  <a:srgbClr val="1B2740"/>
                </a:solidFill>
                <a:latin typeface="Consolas"/>
                <a:ea typeface="Consolas"/>
                <a:cs typeface="Consolas"/>
              </a:rPr>
              <a:t>    }</a:t>
            </a:r>
          </a:p>
          <a:p>
            <a:pPr>
              <a:lnSpc>
                <a:spcPts val="1000"/>
              </a:lnSpc>
            </a:pPr>
            <a:r>
              <a:rPr sz="760" b="0">
                <a:solidFill>
                  <a:srgbClr val="AEB9CC"/>
                </a:solidFill>
                <a:latin typeface="Consolas"/>
                <a:ea typeface="Consolas"/>
                <a:cs typeface="Consolas"/>
              </a:rPr>
              <a:t>188  </a:t>
            </a:r>
            <a:r>
              <a:rPr sz="760" b="0">
                <a:solidFill>
                  <a:srgbClr val="1B2740"/>
                </a:solidFill>
                <a:latin typeface="Consolas"/>
                <a:ea typeface="Consolas"/>
                <a:cs typeface="Consolas"/>
              </a:rPr>
              <a:t>  }</a:t>
            </a:r>
          </a:p>
          <a:p>
            <a:pPr>
              <a:lnSpc>
                <a:spcPts val="1000"/>
              </a:lnSpc>
            </a:pPr>
            <a:r>
              <a:rPr sz="760" b="0">
                <a:solidFill>
                  <a:srgbClr val="AEB9CC"/>
                </a:solidFill>
                <a:latin typeface="Consolas"/>
                <a:ea typeface="Consolas"/>
                <a:cs typeface="Consolas"/>
              </a:rPr>
              <a:t>189  </a:t>
            </a:r>
            <a:r>
              <a:rPr sz="760" b="0">
                <a:solidFill>
                  <a:srgbClr val="1B2740"/>
                </a:solidFill>
                <a:latin typeface="Consolas"/>
                <a:ea typeface="Consolas"/>
                <a:cs typeface="Consolas"/>
              </a:rPr>
              <a:t>}</a:t>
            </a:r>
          </a:p>
        </p:txBody>
      </p:sp>
      <p:sp>
        <p:nvSpPr>
          <p:cNvPr id="19" name="Oval 18"/>
          <p:cNvSpPr/>
          <p:nvPr/>
        </p:nvSpPr>
        <p:spPr>
          <a:xfrm>
            <a:off x="8092440" y="228600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20" name="TextBox 19"/>
          <p:cNvSpPr txBox="1"/>
          <p:nvPr/>
        </p:nvSpPr>
        <p:spPr>
          <a:xfrm>
            <a:off x="8476488" y="2267712"/>
            <a:ext cx="3072384"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0 으로 채운 행렬</a:t>
            </a:r>
          </a:p>
          <a:p>
            <a:pPr algn="l">
              <a:lnSpc>
                <a:spcPct val="105000"/>
              </a:lnSpc>
            </a:pPr>
            <a:r>
              <a:rPr sz="1050" b="0">
                <a:solidFill>
                  <a:srgbClr val="4A5A7A"/>
                </a:solidFill>
                <a:latin typeface="맑은 고딕"/>
                <a:ea typeface="맑은 고딕"/>
                <a:cs typeface="맑은 고딕"/>
              </a:rPr>
              <a:t>참고 소스 코드의 Matrix_initialize</a:t>
            </a:r>
          </a:p>
          <a:p>
            <a:pPr algn="l">
              <a:lnSpc>
                <a:spcPct val="105000"/>
              </a:lnSpc>
            </a:pPr>
            <a:r>
              <a:rPr sz="1050" b="0">
                <a:solidFill>
                  <a:srgbClr val="4A5A7A"/>
                </a:solidFill>
                <a:latin typeface="맑은 고딕"/>
                <a:ea typeface="맑은 고딕"/>
                <a:cs typeface="맑은 고딕"/>
              </a:rPr>
              <a:t>가속도 칸은 손대지 않아 0</a:t>
            </a:r>
          </a:p>
        </p:txBody>
      </p:sp>
      <p:sp>
        <p:nvSpPr>
          <p:cNvPr id="21" name="Oval 20"/>
          <p:cNvSpPr/>
          <p:nvPr/>
        </p:nvSpPr>
        <p:spPr>
          <a:xfrm>
            <a:off x="8092440" y="315468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22" name="TextBox 21"/>
          <p:cNvSpPr txBox="1"/>
          <p:nvPr/>
        </p:nvSpPr>
        <p:spPr>
          <a:xfrm>
            <a:off x="8476488" y="3136392"/>
            <a:ext cx="3072384" cy="877824"/>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상태변수 (축 a 마다)</a:t>
            </a:r>
          </a:p>
          <a:p>
            <a:pPr algn="l">
              <a:lnSpc>
                <a:spcPct val="105000"/>
              </a:lnSpc>
            </a:pPr>
            <a:r>
              <a:rPr sz="1050" b="0">
                <a:solidFill>
                  <a:srgbClr val="4A5A7A"/>
                </a:solidFill>
                <a:latin typeface="맑은 고딕"/>
                <a:ea typeface="맑은 고딕"/>
                <a:cs typeface="맑은 고딕"/>
              </a:rPr>
              <a:t>위치 = 이번 플롯  (3a 번째 칸)</a:t>
            </a:r>
          </a:p>
          <a:p>
            <a:pPr algn="l">
              <a:lnSpc>
                <a:spcPct val="105000"/>
              </a:lnSpc>
            </a:pPr>
            <a:r>
              <a:rPr sz="1050" b="0">
                <a:solidFill>
                  <a:srgbClr val="4A5A7A"/>
                </a:solidFill>
                <a:latin typeface="맑은 고딕"/>
                <a:ea typeface="맑은 고딕"/>
                <a:cs typeface="맑은 고딕"/>
              </a:rPr>
              <a:t>속도 = 위치 차 / 시간 차  (3a+1)</a:t>
            </a:r>
          </a:p>
          <a:p>
            <a:pPr algn="l">
              <a:lnSpc>
                <a:spcPct val="105000"/>
              </a:lnSpc>
            </a:pPr>
            <a:r>
              <a:rPr sz="1050" b="0">
                <a:solidFill>
                  <a:srgbClr val="4A5A7A"/>
                </a:solidFill>
                <a:latin typeface="맑은 고딕"/>
                <a:ea typeface="맑은 고딕"/>
                <a:cs typeface="맑은 고딕"/>
              </a:rPr>
              <a:t>가속도 = 0  (3a+2)</a:t>
            </a:r>
          </a:p>
        </p:txBody>
      </p:sp>
      <p:sp>
        <p:nvSpPr>
          <p:cNvPr id="23" name="Oval 22"/>
          <p:cNvSpPr/>
          <p:nvPr/>
        </p:nvSpPr>
        <p:spPr>
          <a:xfrm>
            <a:off x="8092440" y="4206240"/>
            <a:ext cx="256032" cy="256032"/>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24" name="TextBox 23"/>
          <p:cNvSpPr txBox="1"/>
          <p:nvPr/>
        </p:nvSpPr>
        <p:spPr>
          <a:xfrm>
            <a:off x="8476488" y="4187952"/>
            <a:ext cx="3072384" cy="877824"/>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오차 공분산 (1.3 의 3 x 3 표)</a:t>
            </a:r>
          </a:p>
          <a:p>
            <a:pPr algn="l">
              <a:lnSpc>
                <a:spcPct val="105000"/>
              </a:lnSpc>
            </a:pPr>
            <a:r>
              <a:rPr sz="1050" b="0">
                <a:solidFill>
                  <a:srgbClr val="4A5A7A"/>
                </a:solidFill>
                <a:latin typeface="맑은 고딕"/>
                <a:ea typeface="맑은 고딕"/>
                <a:cs typeface="맑은 고딕"/>
              </a:rPr>
              <a:t>위치 · 위치 = R_k</a:t>
            </a:r>
          </a:p>
          <a:p>
            <a:pPr algn="l">
              <a:lnSpc>
                <a:spcPct val="105000"/>
              </a:lnSpc>
            </a:pPr>
            <a:r>
              <a:rPr sz="1050" b="0">
                <a:solidFill>
                  <a:srgbClr val="4A5A7A"/>
                </a:solidFill>
                <a:latin typeface="맑은 고딕"/>
                <a:ea typeface="맑은 고딕"/>
                <a:cs typeface="맑은 고딕"/>
              </a:rPr>
              <a:t>위치 · 속도 = R_k / T</a:t>
            </a:r>
          </a:p>
          <a:p>
            <a:pPr algn="l">
              <a:lnSpc>
                <a:spcPct val="105000"/>
              </a:lnSpc>
            </a:pPr>
            <a:r>
              <a:rPr sz="1050" b="0">
                <a:solidFill>
                  <a:srgbClr val="4A5A7A"/>
                </a:solidFill>
                <a:latin typeface="맑은 고딕"/>
                <a:ea typeface="맑은 고딕"/>
                <a:cs typeface="맑은 고딕"/>
              </a:rPr>
              <a:t>속도 · 속도 = ( R_k + R_k-1 ) / T²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3.7 트랙 스코어 로직 (f_Trk_UpdateState)</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상태마다 case 하나씩입니다. 임시는 TrackScore 로, 확정 · 메모리는 MemoryScore 로 다음 상태를 정합니다.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3-2</a:t>
            </a:r>
          </a:p>
        </p:txBody>
      </p:sp>
      <p:sp>
        <p:nvSpPr>
          <p:cNvPr id="6" name="TextBox 5"/>
          <p:cNvSpPr txBox="1"/>
          <p:nvPr/>
        </p:nvSpPr>
        <p:spPr>
          <a:xfrm>
            <a:off x="6675120" y="1216152"/>
            <a:ext cx="4873752" cy="438912"/>
          </a:xfrm>
          <a:prstGeom prst="rect">
            <a:avLst/>
          </a:prstGeom>
          <a:noFill/>
        </p:spPr>
        <p:txBody>
          <a:bodyPr wrap="square" lIns="0" tIns="0" rIns="0" bIns="0" anchor="ctr">
            <a:spAutoFit/>
          </a:bodyPr>
          <a:lstStyle/>
          <a:p>
            <a:pPr algn="r"/>
            <a:r>
              <a:rPr sz="1000" b="0">
                <a:solidFill>
                  <a:srgbClr val="8794AC"/>
                </a:solidFill>
                <a:latin typeface="Consolas"/>
                <a:ea typeface="Consolas"/>
                <a:cs typeface="Consolas"/>
              </a:rPr>
              <a:t>TargetSimCore/src/TrackMgr.c</a:t>
            </a:r>
          </a:p>
        </p:txBody>
      </p:sp>
      <p:sp>
        <p:nvSpPr>
          <p:cNvPr id="7"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8" name="TextBox 7"/>
          <p:cNvSpPr txBox="1"/>
          <p:nvPr/>
        </p:nvSpPr>
        <p:spPr>
          <a:xfrm>
            <a:off x="640080" y="2231136"/>
            <a:ext cx="548640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임시 트랙</a:t>
            </a:r>
          </a:p>
        </p:txBody>
      </p:sp>
      <p:sp>
        <p:nvSpPr>
          <p:cNvPr id="9" name="Rectangle 8"/>
          <p:cNvSpPr/>
          <p:nvPr/>
        </p:nvSpPr>
        <p:spPr>
          <a:xfrm>
            <a:off x="640080" y="2487168"/>
            <a:ext cx="5532120" cy="2907792"/>
          </a:xfrm>
          <a:prstGeom prst="rect">
            <a:avLst/>
          </a:prstGeom>
          <a:solidFill>
            <a:srgbClr val="FFFFFF"/>
          </a:solidFill>
          <a:ln w="9525">
            <a:solidFill>
              <a:srgbClr val="D2D9E5"/>
            </a:solidFill>
          </a:ln>
        </p:spPr>
        <p:txBody>
          <a:bodyPr rtlCol="0" anchor="ctr"/>
          <a:lstStyle/>
          <a:p>
            <a:pPr algn="ctr"/>
          </a:p>
        </p:txBody>
      </p:sp>
      <p:sp>
        <p:nvSpPr>
          <p:cNvPr id="10" name="Rectangle 9"/>
          <p:cNvSpPr/>
          <p:nvPr/>
        </p:nvSpPr>
        <p:spPr>
          <a:xfrm>
            <a:off x="667512" y="3358591"/>
            <a:ext cx="5477256" cy="228600"/>
          </a:xfrm>
          <a:prstGeom prst="rect">
            <a:avLst/>
          </a:prstGeom>
          <a:solidFill>
            <a:srgbClr val="FDEEEE"/>
          </a:solidFill>
          <a:ln>
            <a:noFill/>
          </a:ln>
        </p:spPr>
        <p:txBody>
          <a:bodyPr rtlCol="0" anchor="ctr"/>
          <a:lstStyle/>
          <a:p>
            <a:pPr algn="ctr"/>
          </a:p>
        </p:txBody>
      </p:sp>
      <p:sp>
        <p:nvSpPr>
          <p:cNvPr id="11" name="Rectangle 10"/>
          <p:cNvSpPr/>
          <p:nvPr/>
        </p:nvSpPr>
        <p:spPr>
          <a:xfrm>
            <a:off x="667512" y="3358591"/>
            <a:ext cx="36576" cy="228600"/>
          </a:xfrm>
          <a:prstGeom prst="rect">
            <a:avLst/>
          </a:prstGeom>
          <a:solidFill>
            <a:srgbClr val="DC2626"/>
          </a:solidFill>
          <a:ln>
            <a:noFill/>
          </a:ln>
        </p:spPr>
        <p:txBody>
          <a:bodyPr rtlCol="0" anchor="ctr"/>
          <a:lstStyle/>
          <a:p>
            <a:pPr algn="ctr"/>
          </a:p>
        </p:txBody>
      </p:sp>
      <p:sp>
        <p:nvSpPr>
          <p:cNvPr id="12" name="Oval 11"/>
          <p:cNvSpPr/>
          <p:nvPr/>
        </p:nvSpPr>
        <p:spPr>
          <a:xfrm>
            <a:off x="6071616" y="3315157"/>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3" name="Rectangle 12"/>
          <p:cNvSpPr/>
          <p:nvPr/>
        </p:nvSpPr>
        <p:spPr>
          <a:xfrm>
            <a:off x="667512" y="3701491"/>
            <a:ext cx="5477256" cy="457200"/>
          </a:xfrm>
          <a:prstGeom prst="rect">
            <a:avLst/>
          </a:prstGeom>
          <a:solidFill>
            <a:srgbClr val="E6F5EE"/>
          </a:solidFill>
          <a:ln>
            <a:noFill/>
          </a:ln>
        </p:spPr>
        <p:txBody>
          <a:bodyPr rtlCol="0" anchor="ctr"/>
          <a:lstStyle/>
          <a:p>
            <a:pPr algn="ctr"/>
          </a:p>
        </p:txBody>
      </p:sp>
      <p:sp>
        <p:nvSpPr>
          <p:cNvPr id="14" name="Rectangle 13"/>
          <p:cNvSpPr/>
          <p:nvPr/>
        </p:nvSpPr>
        <p:spPr>
          <a:xfrm>
            <a:off x="667512" y="3701491"/>
            <a:ext cx="36576" cy="457200"/>
          </a:xfrm>
          <a:prstGeom prst="rect">
            <a:avLst/>
          </a:prstGeom>
          <a:solidFill>
            <a:srgbClr val="059669"/>
          </a:solidFill>
          <a:ln>
            <a:noFill/>
          </a:ln>
        </p:spPr>
        <p:txBody>
          <a:bodyPr rtlCol="0" anchor="ctr"/>
          <a:lstStyle/>
          <a:p>
            <a:pPr algn="ctr"/>
          </a:p>
        </p:txBody>
      </p:sp>
      <p:sp>
        <p:nvSpPr>
          <p:cNvPr id="15" name="Oval 14"/>
          <p:cNvSpPr/>
          <p:nvPr/>
        </p:nvSpPr>
        <p:spPr>
          <a:xfrm>
            <a:off x="6071616" y="3658057"/>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6" name="Rectangle 15"/>
          <p:cNvSpPr/>
          <p:nvPr/>
        </p:nvSpPr>
        <p:spPr>
          <a:xfrm>
            <a:off x="667512" y="4158691"/>
            <a:ext cx="5477256" cy="457200"/>
          </a:xfrm>
          <a:prstGeom prst="rect">
            <a:avLst/>
          </a:prstGeom>
          <a:solidFill>
            <a:srgbClr val="F2ECFD"/>
          </a:solidFill>
          <a:ln>
            <a:noFill/>
          </a:ln>
        </p:spPr>
        <p:txBody>
          <a:bodyPr rtlCol="0" anchor="ctr"/>
          <a:lstStyle/>
          <a:p>
            <a:pPr algn="ctr"/>
          </a:p>
        </p:txBody>
      </p:sp>
      <p:sp>
        <p:nvSpPr>
          <p:cNvPr id="17" name="Rectangle 16"/>
          <p:cNvSpPr/>
          <p:nvPr/>
        </p:nvSpPr>
        <p:spPr>
          <a:xfrm>
            <a:off x="667512" y="4158691"/>
            <a:ext cx="36576" cy="457200"/>
          </a:xfrm>
          <a:prstGeom prst="rect">
            <a:avLst/>
          </a:prstGeom>
          <a:solidFill>
            <a:srgbClr val="7C3AED"/>
          </a:solidFill>
          <a:ln>
            <a:noFill/>
          </a:ln>
        </p:spPr>
        <p:txBody>
          <a:bodyPr rtlCol="0" anchor="ctr"/>
          <a:lstStyle/>
          <a:p>
            <a:pPr algn="ctr"/>
          </a:p>
        </p:txBody>
      </p:sp>
      <p:sp>
        <p:nvSpPr>
          <p:cNvPr id="18" name="TextBox 17"/>
          <p:cNvSpPr txBox="1"/>
          <p:nvPr/>
        </p:nvSpPr>
        <p:spPr>
          <a:xfrm>
            <a:off x="731519" y="2569464"/>
            <a:ext cx="5303520" cy="2743200"/>
          </a:xfrm>
          <a:prstGeom prst="rect">
            <a:avLst/>
          </a:prstGeom>
          <a:noFill/>
        </p:spPr>
        <p:txBody>
          <a:bodyPr wrap="none" lIns="0" tIns="0" rIns="0" bIns="0" anchor="t">
            <a:spAutoFit/>
          </a:bodyPr>
          <a:lstStyle/>
          <a:p>
            <a:pPr>
              <a:lnSpc>
                <a:spcPts val="900"/>
              </a:lnSpc>
            </a:pPr>
            <a:r>
              <a:rPr sz="760" b="0">
                <a:solidFill>
                  <a:srgbClr val="AEB9CC"/>
                </a:solidFill>
                <a:latin typeface="Consolas"/>
                <a:ea typeface="Consolas"/>
                <a:cs typeface="Consolas"/>
              </a:rPr>
              <a:t>108  </a:t>
            </a:r>
            <a:r>
              <a:rPr sz="760" b="0">
                <a:solidFill>
                  <a:srgbClr val="2563EB"/>
                </a:solidFill>
                <a:latin typeface="Consolas"/>
                <a:ea typeface="Consolas"/>
                <a:cs typeface="Consolas"/>
              </a:rPr>
              <a:t>VOID</a:t>
            </a:r>
            <a:r>
              <a:rPr sz="760" b="0">
                <a:solidFill>
                  <a:srgbClr val="1B2740"/>
                </a:solidFill>
                <a:latin typeface="Consolas"/>
                <a:ea typeface="Consolas"/>
                <a:cs typeface="Consolas"/>
              </a:rPr>
              <a:t> f_Trk_UpdateState(</a:t>
            </a:r>
            <a:r>
              <a:rPr sz="760" b="0">
                <a:solidFill>
                  <a:srgbClr val="2563EB"/>
                </a:solidFill>
                <a:latin typeface="Consolas"/>
                <a:ea typeface="Consolas"/>
                <a:cs typeface="Consolas"/>
              </a:rPr>
              <a:t>ST_Track</a:t>
            </a:r>
            <a:r>
              <a:rPr sz="760" b="0">
                <a:solidFill>
                  <a:srgbClr val="1B2740"/>
                </a:solidFill>
                <a:latin typeface="Consolas"/>
                <a:ea typeface="Consolas"/>
                <a:cs typeface="Consolas"/>
              </a:rPr>
              <a:t> *st_Track)  </a:t>
            </a:r>
            <a:r>
              <a:rPr sz="760" b="0">
                <a:solidFill>
                  <a:srgbClr val="059669"/>
                </a:solidFill>
                <a:latin typeface="맑은 고딕"/>
                <a:ea typeface="맑은 고딕"/>
                <a:cs typeface="맑은 고딕"/>
              </a:rPr>
              <a:t>// 스캔마다 트랙 하나씩</a:t>
            </a:r>
          </a:p>
          <a:p>
            <a:pPr>
              <a:lnSpc>
                <a:spcPts val="900"/>
              </a:lnSpc>
            </a:pPr>
            <a:r>
              <a:rPr sz="760" b="0">
                <a:solidFill>
                  <a:srgbClr val="AEB9CC"/>
                </a:solidFill>
                <a:latin typeface="Consolas"/>
                <a:ea typeface="Consolas"/>
                <a:cs typeface="Consolas"/>
              </a:rPr>
              <a:t>109  </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110  </a:t>
            </a:r>
            <a:r>
              <a:rPr sz="760" b="0">
                <a:solidFill>
                  <a:srgbClr val="1B2740"/>
                </a:solidFill>
                <a:latin typeface="Consolas"/>
                <a:ea typeface="Consolas"/>
                <a:cs typeface="Consolas"/>
              </a:rPr>
              <a:t>  </a:t>
            </a:r>
            <a:r>
              <a:rPr sz="760" b="0">
                <a:solidFill>
                  <a:srgbClr val="2563EB"/>
                </a:solidFill>
                <a:latin typeface="Consolas"/>
                <a:ea typeface="Consolas"/>
                <a:cs typeface="Consolas"/>
              </a:rPr>
              <a:t>const</a:t>
            </a:r>
            <a:r>
              <a:rPr sz="760" b="0">
                <a:solidFill>
                  <a:srgbClr val="1B2740"/>
                </a:solidFill>
                <a:latin typeface="Consolas"/>
                <a:ea typeface="Consolas"/>
                <a:cs typeface="Consolas"/>
              </a:rPr>
              <a:t> </a:t>
            </a:r>
            <a:r>
              <a:rPr sz="760" b="0">
                <a:solidFill>
                  <a:srgbClr val="2563EB"/>
                </a:solidFill>
                <a:latin typeface="Consolas"/>
                <a:ea typeface="Consolas"/>
                <a:cs typeface="Consolas"/>
              </a:rPr>
              <a:t>INT32</a:t>
            </a:r>
            <a:r>
              <a:rPr sz="760" b="0">
                <a:solidFill>
                  <a:srgbClr val="1B2740"/>
                </a:solidFill>
                <a:latin typeface="Consolas"/>
                <a:ea typeface="Consolas"/>
                <a:cs typeface="Consolas"/>
              </a:rPr>
              <a:t> isAssigned = (st_Track-&gt;Assigned_Flag != </a:t>
            </a:r>
            <a:r>
              <a:rPr sz="760" b="0">
                <a:solidFill>
                  <a:srgbClr val="B45309"/>
                </a:solidFill>
                <a:latin typeface="Consolas"/>
                <a:ea typeface="Consolas"/>
                <a:cs typeface="Consolas"/>
              </a:rPr>
              <a:t>0</a:t>
            </a:r>
            <a:r>
              <a:rPr sz="760" b="0">
                <a:solidFill>
                  <a:srgbClr val="1B2740"/>
                </a:solidFill>
                <a:latin typeface="Consolas"/>
                <a:ea typeface="Consolas"/>
                <a:cs typeface="Consolas"/>
              </a:rPr>
              <a:t>) ? </a:t>
            </a:r>
            <a:r>
              <a:rPr sz="760" b="0">
                <a:solidFill>
                  <a:srgbClr val="B45309"/>
                </a:solidFill>
                <a:latin typeface="Consolas"/>
                <a:ea typeface="Consolas"/>
                <a:cs typeface="Consolas"/>
              </a:rPr>
              <a:t>1</a:t>
            </a:r>
            <a:r>
              <a:rPr sz="760" b="0">
                <a:solidFill>
                  <a:srgbClr val="1B2740"/>
                </a:solidFill>
                <a:latin typeface="Consolas"/>
                <a:ea typeface="Consolas"/>
                <a:cs typeface="Consolas"/>
              </a:rPr>
              <a:t>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연관 결과 1 / 0</a:t>
            </a:r>
          </a:p>
          <a:p>
            <a:pPr>
              <a:lnSpc>
                <a:spcPts val="900"/>
              </a:lnSpc>
            </a:pPr>
            <a:r>
              <a:rPr sz="760" b="0">
                <a:solidFill>
                  <a:srgbClr val="AEB9CC"/>
                </a:solidFill>
                <a:latin typeface="Consolas"/>
                <a:ea typeface="Consolas"/>
                <a:cs typeface="Consolas"/>
              </a:rPr>
              <a:t>111  </a:t>
            </a:r>
          </a:p>
          <a:p>
            <a:pPr>
              <a:lnSpc>
                <a:spcPts val="900"/>
              </a:lnSpc>
            </a:pPr>
            <a:r>
              <a:rPr sz="760" b="0">
                <a:solidFill>
                  <a:srgbClr val="AEB9CC"/>
                </a:solidFill>
                <a:latin typeface="Consolas"/>
                <a:ea typeface="Consolas"/>
                <a:cs typeface="Consolas"/>
              </a:rPr>
              <a:t>112  </a:t>
            </a:r>
            <a:r>
              <a:rPr sz="760" b="0">
                <a:solidFill>
                  <a:srgbClr val="1B2740"/>
                </a:solidFill>
                <a:latin typeface="Consolas"/>
                <a:ea typeface="Consolas"/>
                <a:cs typeface="Consolas"/>
              </a:rPr>
              <a:t>  </a:t>
            </a:r>
            <a:r>
              <a:rPr sz="760" b="0">
                <a:solidFill>
                  <a:srgbClr val="2563EB"/>
                </a:solidFill>
                <a:latin typeface="Consolas"/>
                <a:ea typeface="Consolas"/>
                <a:cs typeface="Consolas"/>
              </a:rPr>
              <a:t>switch</a:t>
            </a:r>
            <a:r>
              <a:rPr sz="760" b="0">
                <a:solidFill>
                  <a:srgbClr val="1B2740"/>
                </a:solidFill>
                <a:latin typeface="Consolas"/>
                <a:ea typeface="Consolas"/>
                <a:cs typeface="Consolas"/>
              </a:rPr>
              <a:t> (st_Track-&gt;TrackState)  </a:t>
            </a:r>
            <a:r>
              <a:rPr sz="760" b="0">
                <a:solidFill>
                  <a:srgbClr val="059669"/>
                </a:solidFill>
                <a:latin typeface="맑은 고딕"/>
                <a:ea typeface="맑은 고딕"/>
                <a:cs typeface="맑은 고딕"/>
              </a:rPr>
              <a:t>// 지금 상태에 따라</a:t>
            </a:r>
          </a:p>
          <a:p>
            <a:pPr>
              <a:lnSpc>
                <a:spcPts val="900"/>
              </a:lnSpc>
            </a:pPr>
            <a:r>
              <a:rPr sz="760" b="0">
                <a:solidFill>
                  <a:srgbClr val="AEB9CC"/>
                </a:solidFill>
                <a:latin typeface="Consolas"/>
                <a:ea typeface="Consolas"/>
                <a:cs typeface="Consolas"/>
              </a:rPr>
              <a:t>113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114  </a:t>
            </a:r>
            <a:r>
              <a:rPr sz="760" b="0">
                <a:solidFill>
                  <a:srgbClr val="1B2740"/>
                </a:solidFill>
                <a:latin typeface="Consolas"/>
                <a:ea typeface="Consolas"/>
                <a:cs typeface="Consolas"/>
              </a:rPr>
              <a:t>  </a:t>
            </a:r>
            <a:r>
              <a:rPr sz="760" b="0">
                <a:solidFill>
                  <a:srgbClr val="2563EB"/>
                </a:solidFill>
                <a:latin typeface="Consolas"/>
                <a:ea typeface="Consolas"/>
                <a:cs typeface="Consolas"/>
              </a:rPr>
              <a:t>case</a:t>
            </a:r>
            <a:r>
              <a:rPr sz="760" b="0">
                <a:solidFill>
                  <a:srgbClr val="1B2740"/>
                </a:solidFill>
                <a:latin typeface="Consolas"/>
                <a:ea typeface="Consolas"/>
                <a:cs typeface="Consolas"/>
              </a:rPr>
              <a:t> </a:t>
            </a:r>
            <a:r>
              <a:rPr sz="760" b="0">
                <a:solidFill>
                  <a:srgbClr val="7C3AED"/>
                </a:solidFill>
                <a:latin typeface="Consolas"/>
                <a:ea typeface="Consolas"/>
                <a:cs typeface="Consolas"/>
              </a:rPr>
              <a:t>TRK_STATE_TENTATIVE</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임시 트랙</a:t>
            </a:r>
          </a:p>
          <a:p>
            <a:pPr>
              <a:lnSpc>
                <a:spcPts val="900"/>
              </a:lnSpc>
            </a:pPr>
            <a:r>
              <a:rPr sz="760" b="0">
                <a:solidFill>
                  <a:srgbClr val="AEB9CC"/>
                </a:solidFill>
                <a:latin typeface="Consolas"/>
                <a:ea typeface="Consolas"/>
                <a:cs typeface="Consolas"/>
              </a:rPr>
              <a:t>     </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성공 +1, 실패 -1</a:t>
            </a:r>
          </a:p>
          <a:p>
            <a:pPr>
              <a:lnSpc>
                <a:spcPts val="900"/>
              </a:lnSpc>
            </a:pPr>
            <a:r>
              <a:rPr sz="760" b="0">
                <a:solidFill>
                  <a:srgbClr val="AEB9CC"/>
                </a:solidFill>
                <a:latin typeface="Consolas"/>
                <a:ea typeface="Consolas"/>
                <a:cs typeface="Consolas"/>
              </a:rPr>
              <a:t>115  </a:t>
            </a:r>
            <a:r>
              <a:rPr sz="760" b="0">
                <a:solidFill>
                  <a:srgbClr val="1B2740"/>
                </a:solidFill>
                <a:latin typeface="Consolas"/>
                <a:ea typeface="Consolas"/>
                <a:cs typeface="Consolas"/>
              </a:rPr>
              <a:t>    st_Track-&gt;TrackScore = st_Track-&gt;TrackScore + ((isAssigned != </a:t>
            </a:r>
            <a:r>
              <a:rPr sz="760" b="0">
                <a:solidFill>
                  <a:srgbClr val="B45309"/>
                </a:solidFill>
                <a:latin typeface="Consolas"/>
                <a:ea typeface="Consolas"/>
                <a:cs typeface="Consolas"/>
              </a:rPr>
              <a:t>0</a:t>
            </a:r>
            <a:r>
              <a:rPr sz="760" b="0">
                <a:solidFill>
                  <a:srgbClr val="1B2740"/>
                </a:solidFill>
                <a:latin typeface="Consolas"/>
                <a:ea typeface="Consolas"/>
                <a:cs typeface="Consolas"/>
              </a:rPr>
              <a:t>) ? </a:t>
            </a:r>
            <a:r>
              <a:rPr sz="760" b="0">
                <a:solidFill>
                  <a:srgbClr val="B45309"/>
                </a:solidFill>
                <a:latin typeface="Consolas"/>
                <a:ea typeface="Consolas"/>
                <a:cs typeface="Consolas"/>
              </a:rPr>
              <a:t>1</a:t>
            </a:r>
            <a:r>
              <a:rPr sz="760" b="0">
                <a:solidFill>
                  <a:srgbClr val="1B2740"/>
                </a:solidFill>
                <a:latin typeface="Consolas"/>
                <a:ea typeface="Consolas"/>
                <a:cs typeface="Consolas"/>
              </a:rPr>
              <a:t> : -</a:t>
            </a:r>
            <a:r>
              <a:rPr sz="760" b="0">
                <a:solidFill>
                  <a:srgbClr val="B45309"/>
                </a:solidFill>
                <a:latin typeface="Consolas"/>
                <a:ea typeface="Consolas"/>
                <a:cs typeface="Consolas"/>
              </a:rPr>
              <a:t>1</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116  </a:t>
            </a:r>
          </a:p>
          <a:p>
            <a:pPr>
              <a:lnSpc>
                <a:spcPts val="900"/>
              </a:lnSpc>
            </a:pPr>
            <a:r>
              <a:rPr sz="760" b="0">
                <a:solidFill>
                  <a:srgbClr val="AEB9CC"/>
                </a:solidFill>
                <a:latin typeface="Consolas"/>
                <a:ea typeface="Consolas"/>
                <a:cs typeface="Consolas"/>
              </a:rPr>
              <a:t>117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(st_Track-&gt;TrackScore &gt;= </a:t>
            </a:r>
            <a:r>
              <a:rPr sz="760" b="0">
                <a:solidFill>
                  <a:srgbClr val="7C3AED"/>
                </a:solidFill>
                <a:latin typeface="Consolas"/>
                <a:ea typeface="Consolas"/>
                <a:cs typeface="Consolas"/>
              </a:rPr>
              <a:t>TRK_SCORE_CONFIRM</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5 이상이면</a:t>
            </a:r>
          </a:p>
          <a:p>
            <a:pPr>
              <a:lnSpc>
                <a:spcPts val="900"/>
              </a:lnSpc>
            </a:pPr>
            <a:r>
              <a:rPr sz="760" b="0">
                <a:solidFill>
                  <a:srgbClr val="AEB9CC"/>
                </a:solidFill>
                <a:latin typeface="Consolas"/>
                <a:ea typeface="Consolas"/>
                <a:cs typeface="Consolas"/>
              </a:rPr>
              <a:t>118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119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TRK_STATE_CONFIRMED</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확정</a:t>
            </a:r>
          </a:p>
          <a:p>
            <a:pPr>
              <a:lnSpc>
                <a:spcPts val="900"/>
              </a:lnSpc>
            </a:pPr>
            <a:r>
              <a:rPr sz="760" b="0">
                <a:solidFill>
                  <a:srgbClr val="AEB9CC"/>
                </a:solidFill>
                <a:latin typeface="Consolas"/>
                <a:ea typeface="Consolas"/>
                <a:cs typeface="Consolas"/>
              </a:rPr>
              <a:t>120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121  </a:t>
            </a:r>
            <a:r>
              <a:rPr sz="760" b="0">
                <a:solidFill>
                  <a:srgbClr val="1B2740"/>
                </a:solidFill>
                <a:latin typeface="Consolas"/>
                <a:ea typeface="Consolas"/>
                <a:cs typeface="Consolas"/>
              </a:rPr>
              <a:t>    </a:t>
            </a:r>
            <a:r>
              <a:rPr sz="760" b="0">
                <a:solidFill>
                  <a:srgbClr val="2563EB"/>
                </a:solidFill>
                <a:latin typeface="Consolas"/>
                <a:ea typeface="Consolas"/>
                <a:cs typeface="Consolas"/>
              </a:rPr>
              <a:t>else</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(st_Track-&gt;TrackScore &lt;= </a:t>
            </a:r>
            <a:r>
              <a:rPr sz="760" b="0">
                <a:solidFill>
                  <a:srgbClr val="7C3AED"/>
                </a:solidFill>
                <a:latin typeface="Consolas"/>
                <a:ea typeface="Consolas"/>
                <a:cs typeface="Consolas"/>
              </a:rPr>
              <a:t>TRK_SCORE_DELETE</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0 이하면</a:t>
            </a:r>
          </a:p>
          <a:p>
            <a:pPr>
              <a:lnSpc>
                <a:spcPts val="900"/>
              </a:lnSpc>
            </a:pPr>
            <a:r>
              <a:rPr sz="760" b="0">
                <a:solidFill>
                  <a:srgbClr val="AEB9CC"/>
                </a:solidFill>
                <a:latin typeface="Consolas"/>
                <a:ea typeface="Consolas"/>
                <a:cs typeface="Consolas"/>
              </a:rPr>
              <a:t>122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123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TRK_STATE_DELETED</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삭제</a:t>
            </a:r>
          </a:p>
          <a:p>
            <a:pPr>
              <a:lnSpc>
                <a:spcPts val="900"/>
              </a:lnSpc>
            </a:pPr>
            <a:r>
              <a:rPr sz="760" b="0">
                <a:solidFill>
                  <a:srgbClr val="AEB9CC"/>
                </a:solidFill>
                <a:latin typeface="Consolas"/>
                <a:ea typeface="Consolas"/>
                <a:cs typeface="Consolas"/>
              </a:rPr>
              <a:t>124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125  </a:t>
            </a:r>
            <a:r>
              <a:rPr sz="760" b="0">
                <a:solidFill>
                  <a:srgbClr val="1B2740"/>
                </a:solidFill>
                <a:latin typeface="Consolas"/>
                <a:ea typeface="Consolas"/>
                <a:cs typeface="Consolas"/>
              </a:rPr>
              <a:t>    </a:t>
            </a:r>
            <a:r>
              <a:rPr sz="760" b="0">
                <a:solidFill>
                  <a:srgbClr val="2563EB"/>
                </a:solidFill>
                <a:latin typeface="Consolas"/>
                <a:ea typeface="Consolas"/>
                <a:cs typeface="Consolas"/>
              </a:rPr>
              <a:t>else</a:t>
            </a:r>
          </a:p>
          <a:p>
            <a:pPr>
              <a:lnSpc>
                <a:spcPts val="900"/>
              </a:lnSpc>
            </a:pPr>
            <a:r>
              <a:rPr sz="760" b="0">
                <a:solidFill>
                  <a:srgbClr val="AEB9CC"/>
                </a:solidFill>
                <a:latin typeface="Consolas"/>
                <a:ea typeface="Consolas"/>
                <a:cs typeface="Consolas"/>
              </a:rPr>
              <a:t>126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127  </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임시 트랙 유지</a:t>
            </a:r>
          </a:p>
          <a:p>
            <a:pPr>
              <a:lnSpc>
                <a:spcPts val="900"/>
              </a:lnSpc>
            </a:pPr>
            <a:r>
              <a:rPr sz="760" b="0">
                <a:solidFill>
                  <a:srgbClr val="AEB9CC"/>
                </a:solidFill>
                <a:latin typeface="Consolas"/>
                <a:ea typeface="Consolas"/>
                <a:cs typeface="Consolas"/>
              </a:rPr>
              <a:t>128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129  </a:t>
            </a:r>
            <a:r>
              <a:rPr sz="760" b="0">
                <a:solidFill>
                  <a:srgbClr val="1B2740"/>
                </a:solidFill>
                <a:latin typeface="Consolas"/>
                <a:ea typeface="Consolas"/>
                <a:cs typeface="Consolas"/>
              </a:rPr>
              <a:t>    </a:t>
            </a:r>
            <a:r>
              <a:rPr sz="760" b="0">
                <a:solidFill>
                  <a:srgbClr val="2563EB"/>
                </a:solidFill>
                <a:latin typeface="Consolas"/>
                <a:ea typeface="Consolas"/>
                <a:cs typeface="Consolas"/>
              </a:rPr>
              <a:t>break</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130  </a:t>
            </a:r>
          </a:p>
        </p:txBody>
      </p:sp>
      <p:sp>
        <p:nvSpPr>
          <p:cNvPr id="19" name="TextBox 18"/>
          <p:cNvSpPr txBox="1"/>
          <p:nvPr/>
        </p:nvSpPr>
        <p:spPr>
          <a:xfrm>
            <a:off x="6355080" y="2231136"/>
            <a:ext cx="521208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확정 트랙, 메모리 트랙</a:t>
            </a:r>
          </a:p>
        </p:txBody>
      </p:sp>
      <p:sp>
        <p:nvSpPr>
          <p:cNvPr id="20" name="Rectangle 19"/>
          <p:cNvSpPr/>
          <p:nvPr/>
        </p:nvSpPr>
        <p:spPr>
          <a:xfrm>
            <a:off x="6355080" y="2487168"/>
            <a:ext cx="5193792" cy="3022092"/>
          </a:xfrm>
          <a:prstGeom prst="rect">
            <a:avLst/>
          </a:prstGeom>
          <a:solidFill>
            <a:srgbClr val="FFFFFF"/>
          </a:solidFill>
          <a:ln w="9525">
            <a:solidFill>
              <a:srgbClr val="D2D9E5"/>
            </a:solidFill>
          </a:ln>
        </p:spPr>
        <p:txBody>
          <a:bodyPr rtlCol="0" anchor="ctr"/>
          <a:lstStyle/>
          <a:p>
            <a:pPr algn="ctr"/>
          </a:p>
        </p:txBody>
      </p:sp>
      <p:sp>
        <p:nvSpPr>
          <p:cNvPr id="21" name="Rectangle 20"/>
          <p:cNvSpPr/>
          <p:nvPr/>
        </p:nvSpPr>
        <p:spPr>
          <a:xfrm>
            <a:off x="6382512" y="2901391"/>
            <a:ext cx="5138928" cy="228600"/>
          </a:xfrm>
          <a:prstGeom prst="rect">
            <a:avLst/>
          </a:prstGeom>
          <a:solidFill>
            <a:srgbClr val="F2ECFD"/>
          </a:solidFill>
          <a:ln>
            <a:noFill/>
          </a:ln>
        </p:spPr>
        <p:txBody>
          <a:bodyPr rtlCol="0" anchor="ctr"/>
          <a:lstStyle/>
          <a:p>
            <a:pPr algn="ctr"/>
          </a:p>
        </p:txBody>
      </p:sp>
      <p:sp>
        <p:nvSpPr>
          <p:cNvPr id="22" name="Rectangle 21"/>
          <p:cNvSpPr/>
          <p:nvPr/>
        </p:nvSpPr>
        <p:spPr>
          <a:xfrm>
            <a:off x="6382512" y="2901391"/>
            <a:ext cx="36576" cy="228600"/>
          </a:xfrm>
          <a:prstGeom prst="rect">
            <a:avLst/>
          </a:prstGeom>
          <a:solidFill>
            <a:srgbClr val="7C3AED"/>
          </a:solidFill>
          <a:ln>
            <a:noFill/>
          </a:ln>
        </p:spPr>
        <p:txBody>
          <a:bodyPr rtlCol="0" anchor="ctr"/>
          <a:lstStyle/>
          <a:p>
            <a:pPr algn="ctr"/>
          </a:p>
        </p:txBody>
      </p:sp>
      <p:sp>
        <p:nvSpPr>
          <p:cNvPr id="23" name="Oval 22"/>
          <p:cNvSpPr/>
          <p:nvPr/>
        </p:nvSpPr>
        <p:spPr>
          <a:xfrm>
            <a:off x="11448288" y="2857957"/>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24" name="Rectangle 23"/>
          <p:cNvSpPr/>
          <p:nvPr/>
        </p:nvSpPr>
        <p:spPr>
          <a:xfrm>
            <a:off x="6382512" y="3815791"/>
            <a:ext cx="5138928" cy="228600"/>
          </a:xfrm>
          <a:prstGeom prst="rect">
            <a:avLst/>
          </a:prstGeom>
          <a:solidFill>
            <a:srgbClr val="E6F5EE"/>
          </a:solidFill>
          <a:ln>
            <a:noFill/>
          </a:ln>
        </p:spPr>
        <p:txBody>
          <a:bodyPr rtlCol="0" anchor="ctr"/>
          <a:lstStyle/>
          <a:p>
            <a:pPr algn="ctr"/>
          </a:p>
        </p:txBody>
      </p:sp>
      <p:sp>
        <p:nvSpPr>
          <p:cNvPr id="25" name="Rectangle 24"/>
          <p:cNvSpPr/>
          <p:nvPr/>
        </p:nvSpPr>
        <p:spPr>
          <a:xfrm>
            <a:off x="6382512" y="3815791"/>
            <a:ext cx="36576" cy="228600"/>
          </a:xfrm>
          <a:prstGeom prst="rect">
            <a:avLst/>
          </a:prstGeom>
          <a:solidFill>
            <a:srgbClr val="059669"/>
          </a:solidFill>
          <a:ln>
            <a:noFill/>
          </a:ln>
        </p:spPr>
        <p:txBody>
          <a:bodyPr rtlCol="0" anchor="ctr"/>
          <a:lstStyle/>
          <a:p>
            <a:pPr algn="ctr"/>
          </a:p>
        </p:txBody>
      </p:sp>
      <p:sp>
        <p:nvSpPr>
          <p:cNvPr id="26" name="Oval 25"/>
          <p:cNvSpPr/>
          <p:nvPr/>
        </p:nvSpPr>
        <p:spPr>
          <a:xfrm>
            <a:off x="11448288" y="3772357"/>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27" name="Rectangle 26"/>
          <p:cNvSpPr/>
          <p:nvPr/>
        </p:nvSpPr>
        <p:spPr>
          <a:xfrm>
            <a:off x="6382512" y="4615891"/>
            <a:ext cx="5138928" cy="457200"/>
          </a:xfrm>
          <a:prstGeom prst="rect">
            <a:avLst/>
          </a:prstGeom>
          <a:solidFill>
            <a:srgbClr val="EAF1FD"/>
          </a:solidFill>
          <a:ln>
            <a:noFill/>
          </a:ln>
        </p:spPr>
        <p:txBody>
          <a:bodyPr rtlCol="0" anchor="ctr"/>
          <a:lstStyle/>
          <a:p>
            <a:pPr algn="ctr"/>
          </a:p>
        </p:txBody>
      </p:sp>
      <p:sp>
        <p:nvSpPr>
          <p:cNvPr id="28" name="Rectangle 27"/>
          <p:cNvSpPr/>
          <p:nvPr/>
        </p:nvSpPr>
        <p:spPr>
          <a:xfrm>
            <a:off x="6382512" y="4615891"/>
            <a:ext cx="36576" cy="457200"/>
          </a:xfrm>
          <a:prstGeom prst="rect">
            <a:avLst/>
          </a:prstGeom>
          <a:solidFill>
            <a:srgbClr val="2563EB"/>
          </a:solidFill>
          <a:ln>
            <a:noFill/>
          </a:ln>
        </p:spPr>
        <p:txBody>
          <a:bodyPr rtlCol="0" anchor="ctr"/>
          <a:lstStyle/>
          <a:p>
            <a:pPr algn="ctr"/>
          </a:p>
        </p:txBody>
      </p:sp>
      <p:sp>
        <p:nvSpPr>
          <p:cNvPr id="29" name="Oval 28"/>
          <p:cNvSpPr/>
          <p:nvPr/>
        </p:nvSpPr>
        <p:spPr>
          <a:xfrm>
            <a:off x="11448288" y="4572457"/>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30" name="TextBox 29"/>
          <p:cNvSpPr txBox="1"/>
          <p:nvPr/>
        </p:nvSpPr>
        <p:spPr>
          <a:xfrm>
            <a:off x="6446520" y="2569464"/>
            <a:ext cx="4965192" cy="2857500"/>
          </a:xfrm>
          <a:prstGeom prst="rect">
            <a:avLst/>
          </a:prstGeom>
          <a:noFill/>
        </p:spPr>
        <p:txBody>
          <a:bodyPr wrap="none" lIns="0" tIns="0" rIns="0" bIns="0" anchor="t">
            <a:spAutoFit/>
          </a:bodyPr>
          <a:lstStyle/>
          <a:p>
            <a:pPr>
              <a:lnSpc>
                <a:spcPts val="900"/>
              </a:lnSpc>
            </a:pPr>
            <a:r>
              <a:rPr sz="760" b="0">
                <a:solidFill>
                  <a:srgbClr val="AEB9CC"/>
                </a:solidFill>
                <a:latin typeface="Consolas"/>
                <a:ea typeface="Consolas"/>
                <a:cs typeface="Consolas"/>
              </a:rPr>
              <a:t>131  </a:t>
            </a:r>
            <a:r>
              <a:rPr sz="760" b="0">
                <a:solidFill>
                  <a:srgbClr val="1B2740"/>
                </a:solidFill>
                <a:latin typeface="Consolas"/>
                <a:ea typeface="Consolas"/>
                <a:cs typeface="Consolas"/>
              </a:rPr>
              <a:t>  </a:t>
            </a:r>
            <a:r>
              <a:rPr sz="760" b="0">
                <a:solidFill>
                  <a:srgbClr val="2563EB"/>
                </a:solidFill>
                <a:latin typeface="Consolas"/>
                <a:ea typeface="Consolas"/>
                <a:cs typeface="Consolas"/>
              </a:rPr>
              <a:t>case</a:t>
            </a:r>
            <a:r>
              <a:rPr sz="760" b="0">
                <a:solidFill>
                  <a:srgbClr val="1B2740"/>
                </a:solidFill>
                <a:latin typeface="Consolas"/>
                <a:ea typeface="Consolas"/>
                <a:cs typeface="Consolas"/>
              </a:rPr>
              <a:t> </a:t>
            </a:r>
            <a:r>
              <a:rPr sz="760" b="0">
                <a:solidFill>
                  <a:srgbClr val="7C3AED"/>
                </a:solidFill>
                <a:latin typeface="Consolas"/>
                <a:ea typeface="Consolas"/>
                <a:cs typeface="Consolas"/>
              </a:rPr>
              <a:t>TRK_STATE_CONFIRMED</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확정 트랙</a:t>
            </a:r>
          </a:p>
          <a:p>
            <a:pPr>
              <a:lnSpc>
                <a:spcPts val="900"/>
              </a:lnSpc>
            </a:pPr>
            <a:r>
              <a:rPr sz="760" b="0">
                <a:solidFill>
                  <a:srgbClr val="AEB9CC"/>
                </a:solidFill>
                <a:latin typeface="Consolas"/>
                <a:ea typeface="Consolas"/>
                <a:cs typeface="Consolas"/>
              </a:rPr>
              <a:t>132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(isAssigned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연관 실패면</a:t>
            </a:r>
          </a:p>
          <a:p>
            <a:pPr>
              <a:lnSpc>
                <a:spcPts val="900"/>
              </a:lnSpc>
            </a:pPr>
            <a:r>
              <a:rPr sz="760" b="0">
                <a:solidFill>
                  <a:srgbClr val="AEB9CC"/>
                </a:solidFill>
                <a:latin typeface="Consolas"/>
                <a:ea typeface="Consolas"/>
                <a:cs typeface="Consolas"/>
              </a:rPr>
              <a:t>133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134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TRK_STATE_MEMORY</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메모리로</a:t>
            </a:r>
          </a:p>
          <a:p>
            <a:pPr>
              <a:lnSpc>
                <a:spcPts val="900"/>
              </a:lnSpc>
            </a:pPr>
            <a:r>
              <a:rPr sz="760" b="0">
                <a:solidFill>
                  <a:srgbClr val="AEB9CC"/>
                </a:solidFill>
                <a:latin typeface="Consolas"/>
                <a:ea typeface="Consolas"/>
                <a:cs typeface="Consolas"/>
              </a:rPr>
              <a:t>135  </a:t>
            </a:r>
            <a:r>
              <a:rPr sz="760" b="0">
                <a:solidFill>
                  <a:srgbClr val="1B2740"/>
                </a:solidFill>
                <a:latin typeface="Consolas"/>
                <a:ea typeface="Consolas"/>
                <a:cs typeface="Consolas"/>
              </a:rPr>
              <a:t>      st_Track-&gt;MemoryScore  = st_Track-&gt;MemoryScore + </a:t>
            </a:r>
            <a:r>
              <a:rPr sz="760" b="0">
                <a:solidFill>
                  <a:srgbClr val="B45309"/>
                </a:solidFill>
                <a:latin typeface="Consolas"/>
                <a:ea typeface="Consolas"/>
                <a:cs typeface="Consolas"/>
              </a:rPr>
              <a:t>1</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MemoryScore +1</a:t>
            </a:r>
          </a:p>
          <a:p>
            <a:pPr>
              <a:lnSpc>
                <a:spcPts val="900"/>
              </a:lnSpc>
            </a:pPr>
            <a:r>
              <a:rPr sz="760" b="0">
                <a:solidFill>
                  <a:srgbClr val="AEB9CC"/>
                </a:solidFill>
                <a:latin typeface="Consolas"/>
                <a:ea typeface="Consolas"/>
                <a:cs typeface="Consolas"/>
              </a:rPr>
              <a:t>136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137  </a:t>
            </a:r>
            <a:r>
              <a:rPr sz="760" b="0">
                <a:solidFill>
                  <a:srgbClr val="1B2740"/>
                </a:solidFill>
                <a:latin typeface="Consolas"/>
                <a:ea typeface="Consolas"/>
                <a:cs typeface="Consolas"/>
              </a:rPr>
              <a:t>    </a:t>
            </a:r>
            <a:r>
              <a:rPr sz="760" b="0">
                <a:solidFill>
                  <a:srgbClr val="2563EB"/>
                </a:solidFill>
                <a:latin typeface="Consolas"/>
                <a:ea typeface="Consolas"/>
                <a:cs typeface="Consolas"/>
              </a:rPr>
              <a:t>break</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138  </a:t>
            </a:r>
          </a:p>
          <a:p>
            <a:pPr>
              <a:lnSpc>
                <a:spcPts val="900"/>
              </a:lnSpc>
            </a:pPr>
            <a:r>
              <a:rPr sz="760" b="0">
                <a:solidFill>
                  <a:srgbClr val="AEB9CC"/>
                </a:solidFill>
                <a:latin typeface="Consolas"/>
                <a:ea typeface="Consolas"/>
                <a:cs typeface="Consolas"/>
              </a:rPr>
              <a:t>139  </a:t>
            </a:r>
            <a:r>
              <a:rPr sz="760" b="0">
                <a:solidFill>
                  <a:srgbClr val="1B2740"/>
                </a:solidFill>
                <a:latin typeface="Consolas"/>
                <a:ea typeface="Consolas"/>
                <a:cs typeface="Consolas"/>
              </a:rPr>
              <a:t>  </a:t>
            </a:r>
            <a:r>
              <a:rPr sz="760" b="0">
                <a:solidFill>
                  <a:srgbClr val="2563EB"/>
                </a:solidFill>
                <a:latin typeface="Consolas"/>
                <a:ea typeface="Consolas"/>
                <a:cs typeface="Consolas"/>
              </a:rPr>
              <a:t>case</a:t>
            </a:r>
            <a:r>
              <a:rPr sz="760" b="0">
                <a:solidFill>
                  <a:srgbClr val="1B2740"/>
                </a:solidFill>
                <a:latin typeface="Consolas"/>
                <a:ea typeface="Consolas"/>
                <a:cs typeface="Consolas"/>
              </a:rPr>
              <a:t> </a:t>
            </a:r>
            <a:r>
              <a:rPr sz="760" b="0">
                <a:solidFill>
                  <a:srgbClr val="7C3AED"/>
                </a:solidFill>
                <a:latin typeface="Consolas"/>
                <a:ea typeface="Consolas"/>
                <a:cs typeface="Consolas"/>
              </a:rPr>
              <a:t>TRK_STATE_MEMORY</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메모리 트랙</a:t>
            </a:r>
          </a:p>
          <a:p>
            <a:pPr>
              <a:lnSpc>
                <a:spcPts val="900"/>
              </a:lnSpc>
            </a:pPr>
            <a:r>
              <a:rPr sz="760" b="0">
                <a:solidFill>
                  <a:srgbClr val="AEB9CC"/>
                </a:solidFill>
                <a:latin typeface="Consolas"/>
                <a:ea typeface="Consolas"/>
                <a:cs typeface="Consolas"/>
              </a:rPr>
              <a:t>140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(isAssigned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연관 성공이면</a:t>
            </a:r>
          </a:p>
          <a:p>
            <a:pPr>
              <a:lnSpc>
                <a:spcPts val="900"/>
              </a:lnSpc>
            </a:pPr>
            <a:r>
              <a:rPr sz="760" b="0">
                <a:solidFill>
                  <a:srgbClr val="AEB9CC"/>
                </a:solidFill>
                <a:latin typeface="Consolas"/>
                <a:ea typeface="Consolas"/>
                <a:cs typeface="Consolas"/>
              </a:rPr>
              <a:t>141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142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TRK_STATE_CONFIRMED</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바로 확정</a:t>
            </a:r>
          </a:p>
          <a:p>
            <a:pPr>
              <a:lnSpc>
                <a:spcPts val="900"/>
              </a:lnSpc>
            </a:pPr>
            <a:r>
              <a:rPr sz="760" b="0">
                <a:solidFill>
                  <a:srgbClr val="AEB9CC"/>
                </a:solidFill>
                <a:latin typeface="Consolas"/>
                <a:ea typeface="Consolas"/>
                <a:cs typeface="Consolas"/>
              </a:rPr>
              <a:t>143  </a:t>
            </a:r>
            <a:r>
              <a:rPr sz="760" b="0">
                <a:solidFill>
                  <a:srgbClr val="1B2740"/>
                </a:solidFill>
                <a:latin typeface="Consolas"/>
                <a:ea typeface="Consolas"/>
                <a:cs typeface="Consolas"/>
              </a:rPr>
              <a:t>      st_Track-&gt;MemoryScore  = </a:t>
            </a:r>
            <a:r>
              <a:rPr sz="760" b="0">
                <a:solidFill>
                  <a:srgbClr val="B45309"/>
                </a:solidFill>
                <a:latin typeface="Consolas"/>
                <a:ea typeface="Consolas"/>
                <a:cs typeface="Consolas"/>
              </a:rPr>
              <a:t>0</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MemoryScore 0 으로</a:t>
            </a:r>
          </a:p>
          <a:p>
            <a:pPr>
              <a:lnSpc>
                <a:spcPts val="900"/>
              </a:lnSpc>
            </a:pPr>
            <a:r>
              <a:rPr sz="760" b="0">
                <a:solidFill>
                  <a:srgbClr val="AEB9CC"/>
                </a:solidFill>
                <a:latin typeface="Consolas"/>
                <a:ea typeface="Consolas"/>
                <a:cs typeface="Consolas"/>
              </a:rPr>
              <a:t>144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145  </a:t>
            </a:r>
            <a:r>
              <a:rPr sz="760" b="0">
                <a:solidFill>
                  <a:srgbClr val="1B2740"/>
                </a:solidFill>
                <a:latin typeface="Consolas"/>
                <a:ea typeface="Consolas"/>
                <a:cs typeface="Consolas"/>
              </a:rPr>
              <a:t>    </a:t>
            </a:r>
            <a:r>
              <a:rPr sz="760" b="0">
                <a:solidFill>
                  <a:srgbClr val="2563EB"/>
                </a:solidFill>
                <a:latin typeface="Consolas"/>
                <a:ea typeface="Consolas"/>
                <a:cs typeface="Consolas"/>
              </a:rPr>
              <a:t>else</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연관 실패면</a:t>
            </a:r>
          </a:p>
          <a:p>
            <a:pPr>
              <a:lnSpc>
                <a:spcPts val="900"/>
              </a:lnSpc>
            </a:pPr>
            <a:r>
              <a:rPr sz="760" b="0">
                <a:solidFill>
                  <a:srgbClr val="AEB9CC"/>
                </a:solidFill>
                <a:latin typeface="Consolas"/>
                <a:ea typeface="Consolas"/>
                <a:cs typeface="Consolas"/>
              </a:rPr>
              <a:t>146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147  </a:t>
            </a:r>
            <a:r>
              <a:rPr sz="760" b="0">
                <a:solidFill>
                  <a:srgbClr val="1B2740"/>
                </a:solidFill>
                <a:latin typeface="Consolas"/>
                <a:ea typeface="Consolas"/>
                <a:cs typeface="Consolas"/>
              </a:rPr>
              <a:t>      st_Track-&gt;MemoryScore  = st_Track-&gt;MemoryScore + </a:t>
            </a:r>
            <a:r>
              <a:rPr sz="760" b="0">
                <a:solidFill>
                  <a:srgbClr val="B45309"/>
                </a:solidFill>
                <a:latin typeface="Consolas"/>
                <a:ea typeface="Consolas"/>
                <a:cs typeface="Consolas"/>
              </a:rPr>
              <a:t>1</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MemoryScore +1</a:t>
            </a:r>
          </a:p>
          <a:p>
            <a:pPr>
              <a:lnSpc>
                <a:spcPts val="900"/>
              </a:lnSpc>
            </a:pPr>
            <a:r>
              <a:rPr sz="760" b="0">
                <a:solidFill>
                  <a:srgbClr val="AEB9CC"/>
                </a:solidFill>
                <a:latin typeface="Consolas"/>
                <a:ea typeface="Consolas"/>
                <a:cs typeface="Consolas"/>
              </a:rPr>
              <a:t>148  </a:t>
            </a:r>
          </a:p>
          <a:p>
            <a:pPr>
              <a:lnSpc>
                <a:spcPts val="900"/>
              </a:lnSpc>
            </a:pPr>
            <a:r>
              <a:rPr sz="760" b="0">
                <a:solidFill>
                  <a:srgbClr val="AEB9CC"/>
                </a:solidFill>
                <a:latin typeface="Consolas"/>
                <a:ea typeface="Consolas"/>
                <a:cs typeface="Consolas"/>
              </a:rPr>
              <a:t>149  </a:t>
            </a:r>
            <a:r>
              <a:rPr sz="760" b="0">
                <a:solidFill>
                  <a:srgbClr val="1B2740"/>
                </a:solidFill>
                <a:latin typeface="Consolas"/>
                <a:ea typeface="Consolas"/>
                <a:cs typeface="Consolas"/>
              </a:rPr>
              <a:t>      </a:t>
            </a:r>
            <a:r>
              <a:rPr sz="760" b="0">
                <a:solidFill>
                  <a:srgbClr val="2563EB"/>
                </a:solidFill>
                <a:latin typeface="Consolas"/>
                <a:ea typeface="Consolas"/>
                <a:cs typeface="Consolas"/>
              </a:rPr>
              <a:t>if</a:t>
            </a:r>
            <a:r>
              <a:rPr sz="760" b="0">
                <a:solidFill>
                  <a:srgbClr val="1B2740"/>
                </a:solidFill>
                <a:latin typeface="Consolas"/>
                <a:ea typeface="Consolas"/>
                <a:cs typeface="Consolas"/>
              </a:rPr>
              <a:t> (st_Track-&gt;MemoryScore &gt;= </a:t>
            </a:r>
            <a:r>
              <a:rPr sz="760" b="0">
                <a:solidFill>
                  <a:srgbClr val="7C3AED"/>
                </a:solidFill>
                <a:latin typeface="Consolas"/>
                <a:ea typeface="Consolas"/>
                <a:cs typeface="Consolas"/>
              </a:rPr>
              <a:t>TRK_MEMORY_DELETE</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5 이상이면</a:t>
            </a:r>
          </a:p>
          <a:p>
            <a:pPr>
              <a:lnSpc>
                <a:spcPts val="900"/>
              </a:lnSpc>
            </a:pPr>
            <a:r>
              <a:rPr sz="760" b="0">
                <a:solidFill>
                  <a:srgbClr val="AEB9CC"/>
                </a:solidFill>
                <a:latin typeface="Consolas"/>
                <a:ea typeface="Consolas"/>
                <a:cs typeface="Consolas"/>
              </a:rPr>
              <a:t>150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151  </a:t>
            </a:r>
            <a:r>
              <a:rPr sz="760" b="0">
                <a:solidFill>
                  <a:srgbClr val="1B2740"/>
                </a:solidFill>
                <a:latin typeface="Consolas"/>
                <a:ea typeface="Consolas"/>
                <a:cs typeface="Consolas"/>
              </a:rPr>
              <a:t>        st_Track-&gt;TrackState = </a:t>
            </a:r>
            <a:r>
              <a:rPr sz="760" b="0">
                <a:solidFill>
                  <a:srgbClr val="7C3AED"/>
                </a:solidFill>
                <a:latin typeface="Consolas"/>
                <a:ea typeface="Consolas"/>
                <a:cs typeface="Consolas"/>
              </a:rPr>
              <a:t>TRK_STATE_DELETED</a:t>
            </a:r>
            <a:r>
              <a:rPr sz="760" b="0">
                <a:solidFill>
                  <a:srgbClr val="1B2740"/>
                </a:solidFill>
                <a:latin typeface="Consolas"/>
                <a:ea typeface="Consolas"/>
                <a:cs typeface="Consolas"/>
              </a:rPr>
              <a:t>;  </a:t>
            </a:r>
            <a:r>
              <a:rPr sz="760" b="0">
                <a:solidFill>
                  <a:srgbClr val="059669"/>
                </a:solidFill>
                <a:latin typeface="맑은 고딕"/>
                <a:ea typeface="맑은 고딕"/>
                <a:cs typeface="맑은 고딕"/>
              </a:rPr>
              <a:t>// 삭제</a:t>
            </a:r>
          </a:p>
          <a:p>
            <a:pPr>
              <a:lnSpc>
                <a:spcPts val="900"/>
              </a:lnSpc>
            </a:pPr>
            <a:r>
              <a:rPr sz="760" b="0">
                <a:solidFill>
                  <a:srgbClr val="AEB9CC"/>
                </a:solidFill>
                <a:latin typeface="Consolas"/>
                <a:ea typeface="Consolas"/>
                <a:cs typeface="Consolas"/>
              </a:rPr>
              <a:t>152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153  </a:t>
            </a:r>
            <a:r>
              <a:rPr sz="760" b="0">
                <a:solidFill>
                  <a:srgbClr val="1B2740"/>
                </a:solidFill>
                <a:latin typeface="Consolas"/>
                <a:ea typeface="Consolas"/>
                <a:cs typeface="Consolas"/>
              </a:rPr>
              <a:t>    }</a:t>
            </a:r>
          </a:p>
          <a:p>
            <a:pPr>
              <a:lnSpc>
                <a:spcPts val="900"/>
              </a:lnSpc>
            </a:pPr>
            <a:r>
              <a:rPr sz="760" b="0">
                <a:solidFill>
                  <a:srgbClr val="AEB9CC"/>
                </a:solidFill>
                <a:latin typeface="Consolas"/>
                <a:ea typeface="Consolas"/>
                <a:cs typeface="Consolas"/>
              </a:rPr>
              <a:t>154  </a:t>
            </a:r>
            <a:r>
              <a:rPr sz="760" b="0">
                <a:solidFill>
                  <a:srgbClr val="1B2740"/>
                </a:solidFill>
                <a:latin typeface="Consolas"/>
                <a:ea typeface="Consolas"/>
                <a:cs typeface="Consolas"/>
              </a:rPr>
              <a:t>    </a:t>
            </a:r>
            <a:r>
              <a:rPr sz="760" b="0">
                <a:solidFill>
                  <a:srgbClr val="2563EB"/>
                </a:solidFill>
                <a:latin typeface="Consolas"/>
                <a:ea typeface="Consolas"/>
                <a:cs typeface="Consolas"/>
              </a:rPr>
              <a:t>break</a:t>
            </a:r>
            <a:r>
              <a:rPr sz="760" b="0">
                <a:solidFill>
                  <a:srgbClr val="1B2740"/>
                </a:solidFill>
                <a:latin typeface="Consolas"/>
                <a:ea typeface="Consolas"/>
                <a:cs typeface="Consolas"/>
              </a:rPr>
              <a:t>;</a:t>
            </a:r>
          </a:p>
          <a:p>
            <a:pPr>
              <a:lnSpc>
                <a:spcPts val="900"/>
              </a:lnSpc>
            </a:pPr>
            <a:r>
              <a:rPr sz="760" b="0">
                <a:solidFill>
                  <a:srgbClr val="AEB9CC"/>
                </a:solidFill>
                <a:latin typeface="Consolas"/>
                <a:ea typeface="Consolas"/>
                <a:cs typeface="Consolas"/>
              </a:rPr>
              <a:t>155  </a:t>
            </a:r>
          </a:p>
        </p:txBody>
      </p:sp>
      <p:sp>
        <p:nvSpPr>
          <p:cNvPr id="31" name="Oval 30"/>
          <p:cNvSpPr/>
          <p:nvPr/>
        </p:nvSpPr>
        <p:spPr>
          <a:xfrm>
            <a:off x="640080" y="5870448"/>
            <a:ext cx="201168" cy="201168"/>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32" name="TextBox 31"/>
          <p:cNvSpPr txBox="1"/>
          <p:nvPr/>
        </p:nvSpPr>
        <p:spPr>
          <a:xfrm>
            <a:off x="896112" y="5843016"/>
            <a:ext cx="1920240" cy="457200"/>
          </a:xfrm>
          <a:prstGeom prst="rect">
            <a:avLst/>
          </a:prstGeom>
          <a:noFill/>
        </p:spPr>
        <p:txBody>
          <a:bodyPr wrap="square" lIns="0" tIns="0" rIns="0" bIns="0" anchor="t">
            <a:spAutoFit/>
          </a:bodyPr>
          <a:lstStyle/>
          <a:p>
            <a:pPr algn="l"/>
            <a:r>
              <a:rPr sz="950" b="0">
                <a:solidFill>
                  <a:srgbClr val="1B2740"/>
                </a:solidFill>
                <a:latin typeface="맑은 고딕"/>
                <a:ea typeface="맑은 고딕"/>
                <a:cs typeface="맑은 고딕"/>
              </a:rPr>
              <a:t>성공 +1, 실패 -1</a:t>
            </a:r>
          </a:p>
        </p:txBody>
      </p:sp>
      <p:sp>
        <p:nvSpPr>
          <p:cNvPr id="33" name="Oval 32"/>
          <p:cNvSpPr/>
          <p:nvPr/>
        </p:nvSpPr>
        <p:spPr>
          <a:xfrm>
            <a:off x="2834639" y="5870448"/>
            <a:ext cx="201168" cy="201168"/>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34" name="TextBox 33"/>
          <p:cNvSpPr txBox="1"/>
          <p:nvPr/>
        </p:nvSpPr>
        <p:spPr>
          <a:xfrm>
            <a:off x="3090672" y="5843016"/>
            <a:ext cx="1920240" cy="457200"/>
          </a:xfrm>
          <a:prstGeom prst="rect">
            <a:avLst/>
          </a:prstGeom>
          <a:noFill/>
        </p:spPr>
        <p:txBody>
          <a:bodyPr wrap="square" lIns="0" tIns="0" rIns="0" bIns="0" anchor="t">
            <a:spAutoFit/>
          </a:bodyPr>
          <a:lstStyle/>
          <a:p>
            <a:pPr algn="l"/>
            <a:r>
              <a:rPr sz="950" b="0">
                <a:solidFill>
                  <a:srgbClr val="1B2740"/>
                </a:solidFill>
                <a:latin typeface="맑은 고딕"/>
                <a:ea typeface="맑은 고딕"/>
                <a:cs typeface="맑은 고딕"/>
              </a:rPr>
              <a:t>5 이상 확정, 0 이하 삭제</a:t>
            </a:r>
          </a:p>
        </p:txBody>
      </p:sp>
      <p:sp>
        <p:nvSpPr>
          <p:cNvPr id="35" name="Oval 34"/>
          <p:cNvSpPr/>
          <p:nvPr/>
        </p:nvSpPr>
        <p:spPr>
          <a:xfrm>
            <a:off x="5029200" y="5870448"/>
            <a:ext cx="201168" cy="201168"/>
          </a:xfrm>
          <a:prstGeom prst="ellipse">
            <a:avLst/>
          </a:prstGeom>
          <a:solidFill>
            <a:srgbClr val="059669"/>
          </a:solidFill>
          <a:ln>
            <a:noFill/>
          </a:ln>
        </p:spPr>
        <p:txBody>
          <a:bodyPr rtlCol="0" anchor="ctr" lIns="0" tIns="0" rIns="0" bIns="0" wrap="square"/>
          <a:lstStyle/>
          <a:p>
            <a:pPr algn="ctr"/>
            <a:r>
              <a:rPr sz="950" b="1">
                <a:solidFill>
                  <a:srgbClr val="FFFFFF"/>
                </a:solidFill>
                <a:latin typeface="맑은 고딕"/>
                <a:ea typeface="맑은 고딕"/>
                <a:cs typeface="맑은 고딕"/>
              </a:rPr>
              <a:t>3</a:t>
            </a:r>
          </a:p>
        </p:txBody>
      </p:sp>
      <p:sp>
        <p:nvSpPr>
          <p:cNvPr id="36" name="TextBox 35"/>
          <p:cNvSpPr txBox="1"/>
          <p:nvPr/>
        </p:nvSpPr>
        <p:spPr>
          <a:xfrm>
            <a:off x="5285232" y="5843016"/>
            <a:ext cx="1920240" cy="457200"/>
          </a:xfrm>
          <a:prstGeom prst="rect">
            <a:avLst/>
          </a:prstGeom>
          <a:noFill/>
        </p:spPr>
        <p:txBody>
          <a:bodyPr wrap="square" lIns="0" tIns="0" rIns="0" bIns="0" anchor="t">
            <a:spAutoFit/>
          </a:bodyPr>
          <a:lstStyle/>
          <a:p>
            <a:pPr algn="l"/>
            <a:r>
              <a:rPr sz="950" b="0">
                <a:solidFill>
                  <a:srgbClr val="1B2740"/>
                </a:solidFill>
                <a:latin typeface="맑은 고딕"/>
                <a:ea typeface="맑은 고딕"/>
                <a:cs typeface="맑은 고딕"/>
              </a:rPr>
              <a:t>확정 -&gt; 메모리, MemoryScore +1</a:t>
            </a:r>
          </a:p>
        </p:txBody>
      </p:sp>
      <p:sp>
        <p:nvSpPr>
          <p:cNvPr id="37" name="Oval 36"/>
          <p:cNvSpPr/>
          <p:nvPr/>
        </p:nvSpPr>
        <p:spPr>
          <a:xfrm>
            <a:off x="7223759" y="5870448"/>
            <a:ext cx="201168" cy="201168"/>
          </a:xfrm>
          <a:prstGeom prst="ellipse">
            <a:avLst/>
          </a:prstGeom>
          <a:solidFill>
            <a:srgbClr val="2563EB"/>
          </a:solidFill>
          <a:ln>
            <a:noFill/>
          </a:ln>
        </p:spPr>
        <p:txBody>
          <a:bodyPr rtlCol="0" anchor="ctr" lIns="0" tIns="0" rIns="0" bIns="0" wrap="square"/>
          <a:lstStyle/>
          <a:p>
            <a:pPr algn="ctr"/>
            <a:r>
              <a:rPr sz="950" b="1">
                <a:solidFill>
                  <a:srgbClr val="FFFFFF"/>
                </a:solidFill>
                <a:latin typeface="맑은 고딕"/>
                <a:ea typeface="맑은 고딕"/>
                <a:cs typeface="맑은 고딕"/>
              </a:rPr>
              <a:t>4</a:t>
            </a:r>
          </a:p>
        </p:txBody>
      </p:sp>
      <p:sp>
        <p:nvSpPr>
          <p:cNvPr id="38" name="TextBox 37"/>
          <p:cNvSpPr txBox="1"/>
          <p:nvPr/>
        </p:nvSpPr>
        <p:spPr>
          <a:xfrm>
            <a:off x="7479792" y="5843016"/>
            <a:ext cx="1920240" cy="457200"/>
          </a:xfrm>
          <a:prstGeom prst="rect">
            <a:avLst/>
          </a:prstGeom>
          <a:noFill/>
        </p:spPr>
        <p:txBody>
          <a:bodyPr wrap="square" lIns="0" tIns="0" rIns="0" bIns="0" anchor="t">
            <a:spAutoFit/>
          </a:bodyPr>
          <a:lstStyle/>
          <a:p>
            <a:pPr algn="l"/>
            <a:r>
              <a:rPr sz="950" b="0">
                <a:solidFill>
                  <a:srgbClr val="1B2740"/>
                </a:solidFill>
                <a:latin typeface="맑은 고딕"/>
                <a:ea typeface="맑은 고딕"/>
                <a:cs typeface="맑은 고딕"/>
              </a:rPr>
              <a:t>메모리 -&gt; 바로 확정, MemoryScore 0</a:t>
            </a:r>
          </a:p>
        </p:txBody>
      </p:sp>
      <p:sp>
        <p:nvSpPr>
          <p:cNvPr id="39" name="Oval 38"/>
          <p:cNvSpPr/>
          <p:nvPr/>
        </p:nvSpPr>
        <p:spPr>
          <a:xfrm>
            <a:off x="9418319" y="5870448"/>
            <a:ext cx="201168" cy="201168"/>
          </a:xfrm>
          <a:prstGeom prst="ellipse">
            <a:avLst/>
          </a:prstGeom>
          <a:solidFill>
            <a:srgbClr val="7C3AED"/>
          </a:solidFill>
          <a:ln>
            <a:noFill/>
          </a:ln>
        </p:spPr>
        <p:txBody>
          <a:bodyPr rtlCol="0" anchor="ctr" lIns="0" tIns="0" rIns="0" bIns="0" wrap="square"/>
          <a:lstStyle/>
          <a:p>
            <a:pPr algn="ctr"/>
            <a:r>
              <a:rPr sz="950" b="1">
                <a:solidFill>
                  <a:srgbClr val="FFFFFF"/>
                </a:solidFill>
                <a:latin typeface="맑은 고딕"/>
                <a:ea typeface="맑은 고딕"/>
                <a:cs typeface="맑은 고딕"/>
              </a:rPr>
              <a:t>5</a:t>
            </a:r>
          </a:p>
        </p:txBody>
      </p:sp>
      <p:sp>
        <p:nvSpPr>
          <p:cNvPr id="40" name="TextBox 39"/>
          <p:cNvSpPr txBox="1"/>
          <p:nvPr/>
        </p:nvSpPr>
        <p:spPr>
          <a:xfrm>
            <a:off x="9674351" y="5843016"/>
            <a:ext cx="1920240" cy="457200"/>
          </a:xfrm>
          <a:prstGeom prst="rect">
            <a:avLst/>
          </a:prstGeom>
          <a:noFill/>
        </p:spPr>
        <p:txBody>
          <a:bodyPr wrap="square" lIns="0" tIns="0" rIns="0" bIns="0" anchor="t">
            <a:spAutoFit/>
          </a:bodyPr>
          <a:lstStyle/>
          <a:p>
            <a:pPr algn="l"/>
            <a:r>
              <a:rPr sz="950" b="0">
                <a:solidFill>
                  <a:srgbClr val="1B2740"/>
                </a:solidFill>
                <a:latin typeface="맑은 고딕"/>
                <a:ea typeface="맑은 고딕"/>
                <a:cs typeface="맑은 고딕"/>
              </a:rPr>
              <a:t>MemoryScore 5 이상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04. 결과</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2D · 3D 전시, 트랙 수명과 스코어 확인, 거리에 따른 개시 결과를 봅니다.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4.1</a:t>
            </a:r>
            <a:endParaRPr lang="en-US" sz="1400" dirty="0"/>
          </a:p>
        </p:txBody>
      </p:sp>
      <p:sp>
        <p:nvSpPr>
          <p:cNvPr id="5" name="Text 3"/>
          <p:cNvSpPr txBox="1"/>
          <p:nvPr/>
        </p:nvSpPr>
        <p:spPr>
          <a:xfrm>
            <a:off x="1418234" y="2057400"/>
            <a:ext cx="2586743"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True · Plot · Track 2D · 3D 전시</a:t>
            </a:r>
            <a:endParaRPr lang="en-US" sz="1400" dirty="0"/>
          </a:p>
        </p:txBody>
      </p:sp>
      <p:sp>
        <p:nvSpPr>
          <p:cNvPr id="6" name="Shape 4"/>
          <p:cNvSpPr/>
          <p:nvPr/>
        </p:nvSpPr>
        <p:spPr>
          <a:xfrm>
            <a:off x="4113791" y="2313432"/>
            <a:ext cx="6493248"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23</a:t>
            </a:r>
            <a:endParaRPr lang="en-US" sz="1300" dirty="0"/>
          </a:p>
        </p:txBody>
      </p:sp>
      <p:sp>
        <p:nvSpPr>
          <p:cNvPr id="8" name="Text 2"/>
          <p:cNvSpPr txBox="1"/>
          <p:nvPr/>
        </p:nvSpPr>
        <p:spPr>
          <a:xfrm>
            <a:off x="859536" y="2464308"/>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4.2</a:t>
            </a:r>
            <a:endParaRPr lang="en-US" sz="1400" dirty="0"/>
          </a:p>
        </p:txBody>
      </p:sp>
      <p:sp>
        <p:nvSpPr>
          <p:cNvPr id="9" name="Text 3"/>
          <p:cNvSpPr txBox="1"/>
          <p:nvPr/>
        </p:nvSpPr>
        <p:spPr>
          <a:xfrm>
            <a:off x="1418234" y="2464308"/>
            <a:ext cx="20378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트랙 수명과 스코어 확인</a:t>
            </a:r>
            <a:endParaRPr lang="en-US" sz="1400" dirty="0"/>
          </a:p>
        </p:txBody>
      </p:sp>
      <p:sp>
        <p:nvSpPr>
          <p:cNvPr id="10" name="Shape 4"/>
          <p:cNvSpPr/>
          <p:nvPr/>
        </p:nvSpPr>
        <p:spPr>
          <a:xfrm>
            <a:off x="3564890" y="2720339"/>
            <a:ext cx="7042150" cy="0"/>
          </a:xfrm>
          <a:prstGeom prst="line">
            <a:avLst/>
          </a:prstGeom>
          <a:noFill/>
          <a:ln w="15875">
            <a:solidFill>
              <a:srgbClr val="AEB9CC"/>
            </a:solidFill>
            <a:prstDash val="sysDot"/>
          </a:ln>
        </p:spPr>
      </p:sp>
      <p:sp>
        <p:nvSpPr>
          <p:cNvPr id="11" name="Text 5"/>
          <p:cNvSpPr txBox="1"/>
          <p:nvPr/>
        </p:nvSpPr>
        <p:spPr>
          <a:xfrm>
            <a:off x="10736885" y="2464308"/>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24</a:t>
            </a:r>
            <a:endParaRPr lang="en-US" sz="1300" dirty="0"/>
          </a:p>
        </p:txBody>
      </p:sp>
      <p:sp>
        <p:nvSpPr>
          <p:cNvPr id="12" name="Text 2"/>
          <p:cNvSpPr txBox="1"/>
          <p:nvPr/>
        </p:nvSpPr>
        <p:spPr>
          <a:xfrm>
            <a:off x="859536" y="2871216"/>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4.3</a:t>
            </a:r>
            <a:endParaRPr lang="en-US" sz="1400" dirty="0"/>
          </a:p>
        </p:txBody>
      </p:sp>
      <p:sp>
        <p:nvSpPr>
          <p:cNvPr id="13" name="Text 3"/>
          <p:cNvSpPr txBox="1"/>
          <p:nvPr/>
        </p:nvSpPr>
        <p:spPr>
          <a:xfrm>
            <a:off x="1418234" y="2871216"/>
            <a:ext cx="18600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거리에 따른 개시 결과</a:t>
            </a:r>
            <a:endParaRPr lang="en-US" sz="1400" dirty="0"/>
          </a:p>
        </p:txBody>
      </p:sp>
      <p:sp>
        <p:nvSpPr>
          <p:cNvPr id="14" name="Shape 4"/>
          <p:cNvSpPr/>
          <p:nvPr/>
        </p:nvSpPr>
        <p:spPr>
          <a:xfrm>
            <a:off x="3387090" y="3127248"/>
            <a:ext cx="7219950" cy="0"/>
          </a:xfrm>
          <a:prstGeom prst="line">
            <a:avLst/>
          </a:prstGeom>
          <a:noFill/>
          <a:ln w="15875">
            <a:solidFill>
              <a:srgbClr val="AEB9CC"/>
            </a:solidFill>
            <a:prstDash val="sysDot"/>
          </a:ln>
        </p:spPr>
      </p:sp>
      <p:sp>
        <p:nvSpPr>
          <p:cNvPr id="15" name="Text 5"/>
          <p:cNvSpPr txBox="1"/>
          <p:nvPr/>
        </p:nvSpPr>
        <p:spPr>
          <a:xfrm>
            <a:off x="10736885" y="2871216"/>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25</a:t>
            </a:r>
            <a:endParaRPr lang="en-US" sz="1300" dirty="0"/>
          </a:p>
        </p:txBody>
      </p:sp>
      <p:sp>
        <p:nvSpPr>
          <p:cNvPr id="1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4.1 True · Plot · Track 2D · 3D 전시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600 스캔에서 트랙 611 개를 개시했고 (클러터로 만든 트랙 0), 아래는 스캔 300 (30 s) 의 2D · 3D 화면입니다.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3-3</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ui_2d.png"/>
          <p:cNvPicPr>
            <a:picLocks noChangeAspect="1"/>
          </p:cNvPicPr>
          <p:nvPr/>
        </p:nvPicPr>
        <p:blipFill>
          <a:blip r:embed="rId3"/>
          <a:stretch>
            <a:fillRect/>
          </a:stretch>
        </p:blipFill>
        <p:spPr>
          <a:xfrm>
            <a:off x="749808" y="2212848"/>
            <a:ext cx="5074920" cy="3076920"/>
          </a:xfrm>
          <a:prstGeom prst="rect">
            <a:avLst/>
          </a:prstGeom>
          <a:ln w="9525">
            <a:solidFill>
              <a:srgbClr val="D2D9E5"/>
            </a:solidFill>
          </a:ln>
        </p:spPr>
      </p:pic>
      <p:pic>
        <p:nvPicPr>
          <p:cNvPr id="8" name="Picture 7" descr="ui_3d.png"/>
          <p:cNvPicPr>
            <a:picLocks noChangeAspect="1"/>
          </p:cNvPicPr>
          <p:nvPr/>
        </p:nvPicPr>
        <p:blipFill>
          <a:blip r:embed="rId4"/>
          <a:stretch>
            <a:fillRect/>
          </a:stretch>
        </p:blipFill>
        <p:spPr>
          <a:xfrm>
            <a:off x="6355080" y="2212848"/>
            <a:ext cx="5074920" cy="3076920"/>
          </a:xfrm>
          <a:prstGeom prst="rect">
            <a:avLst/>
          </a:prstGeom>
          <a:ln w="9525">
            <a:solidFill>
              <a:srgbClr val="D2D9E5"/>
            </a:solidFill>
          </a:ln>
        </p:spPr>
      </p:pic>
      <p:sp>
        <p:nvSpPr>
          <p:cNvPr id="9" name="TextBox 8"/>
          <p:cNvSpPr txBox="1"/>
          <p:nvPr/>
        </p:nvSpPr>
        <p:spPr>
          <a:xfrm>
            <a:off x="749808" y="5321808"/>
            <a:ext cx="5074920" cy="237744"/>
          </a:xfrm>
          <a:prstGeom prst="rect">
            <a:avLst/>
          </a:prstGeom>
          <a:noFill/>
        </p:spPr>
        <p:txBody>
          <a:bodyPr wrap="square" lIns="0" tIns="0" rIns="0" bIns="0" anchor="t">
            <a:spAutoFit/>
          </a:bodyPr>
          <a:lstStyle/>
          <a:p>
            <a:pPr algn="ctr"/>
            <a:r>
              <a:rPr sz="1000" b="0">
                <a:solidFill>
                  <a:srgbClr val="4A5A7A"/>
                </a:solidFill>
                <a:latin typeface="맑은 고딕"/>
                <a:ea typeface="맑은 고딕"/>
                <a:cs typeface="맑은 고딕"/>
              </a:rPr>
              <a:t>2D (위도 · 경도), 휠로 2.4 배 확대</a:t>
            </a:r>
          </a:p>
        </p:txBody>
      </p:sp>
      <p:sp>
        <p:nvSpPr>
          <p:cNvPr id="10" name="TextBox 9"/>
          <p:cNvSpPr txBox="1"/>
          <p:nvPr/>
        </p:nvSpPr>
        <p:spPr>
          <a:xfrm>
            <a:off x="6355080" y="5321808"/>
            <a:ext cx="5074920" cy="237744"/>
          </a:xfrm>
          <a:prstGeom prst="rect">
            <a:avLst/>
          </a:prstGeom>
          <a:noFill/>
        </p:spPr>
        <p:txBody>
          <a:bodyPr wrap="square" lIns="0" tIns="0" rIns="0" bIns="0" anchor="t">
            <a:spAutoFit/>
          </a:bodyPr>
          <a:lstStyle/>
          <a:p>
            <a:pPr algn="ctr"/>
            <a:r>
              <a:rPr sz="1000" b="0">
                <a:solidFill>
                  <a:srgbClr val="4A5A7A"/>
                </a:solidFill>
                <a:latin typeface="맑은 고딕"/>
                <a:ea typeface="맑은 고딕"/>
                <a:cs typeface="맑은 고딕"/>
              </a:rPr>
              <a:t>3D, 클러터를 끄고 고도 3 배</a:t>
            </a:r>
          </a:p>
        </p:txBody>
      </p:sp>
      <p:sp>
        <p:nvSpPr>
          <p:cNvPr id="11" name="TextBox 10"/>
          <p:cNvSpPr txBox="1"/>
          <p:nvPr/>
        </p:nvSpPr>
        <p:spPr>
          <a:xfrm>
            <a:off x="640080" y="5632704"/>
            <a:ext cx="914400" cy="228600"/>
          </a:xfrm>
          <a:prstGeom prst="rect">
            <a:avLst/>
          </a:prstGeom>
          <a:noFill/>
        </p:spPr>
        <p:txBody>
          <a:bodyPr wrap="square" lIns="0" tIns="0" rIns="0" bIns="0" anchor="ctr">
            <a:spAutoFit/>
          </a:bodyPr>
          <a:lstStyle/>
          <a:p>
            <a:pPr algn="l"/>
            <a:r>
              <a:rPr sz="1050" b="1">
                <a:solidFill>
                  <a:srgbClr val="1B2740"/>
                </a:solidFill>
                <a:latin typeface="맑은 고딕"/>
                <a:ea typeface="맑은 고딕"/>
                <a:cs typeface="맑은 고딕"/>
              </a:rPr>
              <a:t>참값</a:t>
            </a:r>
          </a:p>
        </p:txBody>
      </p:sp>
      <p:sp>
        <p:nvSpPr>
          <p:cNvPr id="12" name="TextBox 11"/>
          <p:cNvSpPr txBox="1"/>
          <p:nvPr/>
        </p:nvSpPr>
        <p:spPr>
          <a:xfrm>
            <a:off x="1417319" y="5632704"/>
            <a:ext cx="4663440" cy="228600"/>
          </a:xfrm>
          <a:prstGeom prst="rect">
            <a:avLst/>
          </a:prstGeom>
          <a:noFill/>
        </p:spPr>
        <p:txBody>
          <a:bodyPr wrap="square" lIns="0" tIns="0" rIns="0" bIns="0" anchor="ctr">
            <a:spAutoFit/>
          </a:bodyPr>
          <a:lstStyle/>
          <a:p>
            <a:pPr algn="l"/>
            <a:r>
              <a:rPr sz="1050" b="0">
                <a:solidFill>
                  <a:srgbClr val="1B2740"/>
                </a:solidFill>
                <a:latin typeface="맑은 고딕"/>
                <a:ea typeface="맑은 고딕"/>
                <a:cs typeface="맑은 고딕"/>
              </a:rPr>
              <a:t>선: 궤적,  마름모: 지금 위치 (표적 색)</a:t>
            </a:r>
          </a:p>
        </p:txBody>
      </p:sp>
      <p:sp>
        <p:nvSpPr>
          <p:cNvPr id="13" name="TextBox 12"/>
          <p:cNvSpPr txBox="1"/>
          <p:nvPr/>
        </p:nvSpPr>
        <p:spPr>
          <a:xfrm>
            <a:off x="6172200" y="5632704"/>
            <a:ext cx="914400" cy="228600"/>
          </a:xfrm>
          <a:prstGeom prst="rect">
            <a:avLst/>
          </a:prstGeom>
          <a:noFill/>
        </p:spPr>
        <p:txBody>
          <a:bodyPr wrap="square" lIns="0" tIns="0" rIns="0" bIns="0" anchor="ctr">
            <a:spAutoFit/>
          </a:bodyPr>
          <a:lstStyle/>
          <a:p>
            <a:pPr algn="l"/>
            <a:r>
              <a:rPr sz="1050" b="1">
                <a:solidFill>
                  <a:srgbClr val="1B2740"/>
                </a:solidFill>
                <a:latin typeface="맑은 고딕"/>
                <a:ea typeface="맑은 고딕"/>
                <a:cs typeface="맑은 고딕"/>
              </a:rPr>
              <a:t>플롯</a:t>
            </a:r>
          </a:p>
        </p:txBody>
      </p:sp>
      <p:sp>
        <p:nvSpPr>
          <p:cNvPr id="14" name="TextBox 13"/>
          <p:cNvSpPr txBox="1"/>
          <p:nvPr/>
        </p:nvSpPr>
        <p:spPr>
          <a:xfrm>
            <a:off x="6949440" y="5632704"/>
            <a:ext cx="4663440" cy="228600"/>
          </a:xfrm>
          <a:prstGeom prst="rect">
            <a:avLst/>
          </a:prstGeom>
          <a:noFill/>
        </p:spPr>
        <p:txBody>
          <a:bodyPr wrap="square" lIns="0" tIns="0" rIns="0" bIns="0" anchor="ctr">
            <a:spAutoFit/>
          </a:bodyPr>
          <a:lstStyle/>
          <a:p>
            <a:pPr algn="l"/>
            <a:r>
              <a:rPr sz="1050" b="0">
                <a:solidFill>
                  <a:srgbClr val="1B2740"/>
                </a:solidFill>
                <a:latin typeface="맑은 고딕"/>
                <a:ea typeface="맑은 고딕"/>
                <a:cs typeface="맑은 고딕"/>
              </a:rPr>
              <a:t>옅은 점: 지난 스캔,  흰 테 큰 점: 지금 스캔</a:t>
            </a:r>
          </a:p>
        </p:txBody>
      </p:sp>
      <p:sp>
        <p:nvSpPr>
          <p:cNvPr id="15" name="TextBox 14"/>
          <p:cNvSpPr txBox="1"/>
          <p:nvPr/>
        </p:nvSpPr>
        <p:spPr>
          <a:xfrm>
            <a:off x="640080" y="5907024"/>
            <a:ext cx="914400" cy="228600"/>
          </a:xfrm>
          <a:prstGeom prst="rect">
            <a:avLst/>
          </a:prstGeom>
          <a:noFill/>
        </p:spPr>
        <p:txBody>
          <a:bodyPr wrap="square" lIns="0" tIns="0" rIns="0" bIns="0" anchor="ctr">
            <a:spAutoFit/>
          </a:bodyPr>
          <a:lstStyle/>
          <a:p>
            <a:pPr algn="l"/>
            <a:r>
              <a:rPr sz="1050" b="1">
                <a:solidFill>
                  <a:srgbClr val="1B2740"/>
                </a:solidFill>
                <a:latin typeface="맑은 고딕"/>
                <a:ea typeface="맑은 고딕"/>
                <a:cs typeface="맑은 고딕"/>
              </a:rPr>
              <a:t>트랙</a:t>
            </a:r>
          </a:p>
        </p:txBody>
      </p:sp>
      <p:sp>
        <p:nvSpPr>
          <p:cNvPr id="16" name="TextBox 15"/>
          <p:cNvSpPr txBox="1"/>
          <p:nvPr/>
        </p:nvSpPr>
        <p:spPr>
          <a:xfrm>
            <a:off x="1417319" y="5907024"/>
            <a:ext cx="4663440" cy="228600"/>
          </a:xfrm>
          <a:prstGeom prst="rect">
            <a:avLst/>
          </a:prstGeom>
          <a:noFill/>
        </p:spPr>
        <p:txBody>
          <a:bodyPr wrap="square" lIns="0" tIns="0" rIns="0" bIns="0" anchor="ctr">
            <a:spAutoFit/>
          </a:bodyPr>
          <a:lstStyle/>
          <a:p>
            <a:pPr algn="l"/>
            <a:r>
              <a:rPr sz="1050" b="0">
                <a:solidFill>
                  <a:srgbClr val="1B2740"/>
                </a:solidFill>
                <a:latin typeface="맑은 고딕"/>
                <a:ea typeface="맑은 고딕"/>
                <a:cs typeface="맑은 고딕"/>
              </a:rPr>
              <a:t>빈 주황 사각형: 임시,  회색 X: 삭제,  숫자: ID</a:t>
            </a:r>
          </a:p>
        </p:txBody>
      </p:sp>
      <p:sp>
        <p:nvSpPr>
          <p:cNvPr id="17" name="TextBox 16"/>
          <p:cNvSpPr txBox="1"/>
          <p:nvPr/>
        </p:nvSpPr>
        <p:spPr>
          <a:xfrm>
            <a:off x="6172200" y="5907024"/>
            <a:ext cx="914400" cy="228600"/>
          </a:xfrm>
          <a:prstGeom prst="rect">
            <a:avLst/>
          </a:prstGeom>
          <a:noFill/>
        </p:spPr>
        <p:txBody>
          <a:bodyPr wrap="square" lIns="0" tIns="0" rIns="0" bIns="0" anchor="ctr">
            <a:spAutoFit/>
          </a:bodyPr>
          <a:lstStyle/>
          <a:p>
            <a:pPr algn="l"/>
            <a:r>
              <a:rPr sz="1050" b="1">
                <a:solidFill>
                  <a:srgbClr val="1B2740"/>
                </a:solidFill>
                <a:latin typeface="맑은 고딕"/>
                <a:ea typeface="맑은 고딕"/>
                <a:cs typeface="맑은 고딕"/>
              </a:rPr>
              <a:t>속도 선</a:t>
            </a:r>
          </a:p>
        </p:txBody>
      </p:sp>
      <p:sp>
        <p:nvSpPr>
          <p:cNvPr id="18" name="TextBox 17"/>
          <p:cNvSpPr txBox="1"/>
          <p:nvPr/>
        </p:nvSpPr>
        <p:spPr>
          <a:xfrm>
            <a:off x="6949440" y="5907024"/>
            <a:ext cx="4663440" cy="228600"/>
          </a:xfrm>
          <a:prstGeom prst="rect">
            <a:avLst/>
          </a:prstGeom>
          <a:noFill/>
        </p:spPr>
        <p:txBody>
          <a:bodyPr wrap="square" lIns="0" tIns="0" rIns="0" bIns="0" anchor="ctr">
            <a:spAutoFit/>
          </a:bodyPr>
          <a:lstStyle/>
          <a:p>
            <a:pPr algn="l"/>
            <a:r>
              <a:rPr sz="1050" b="0">
                <a:solidFill>
                  <a:srgbClr val="1B2740"/>
                </a:solidFill>
                <a:latin typeface="맑은 고딕"/>
                <a:ea typeface="맑은 고딕"/>
                <a:cs typeface="맑은 고딕"/>
              </a:rPr>
              <a:t>트랙 속도로 1 초 동안 가는 거리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4.2 트랙 수명과 스코어 확인</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조건 (Assigned_Flag 늘 0) 에서 트랙은 세 스캔 동안만 보입니다. 확정 · 메모리 상태는 스코어 확인 창으로 확인했습니다.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3-2 · 3-3</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
        <p:nvSpPr>
          <p:cNvPr id="7" name="TextBox 6"/>
          <p:cNvSpPr txBox="1"/>
          <p:nvPr/>
        </p:nvSpPr>
        <p:spPr>
          <a:xfrm>
            <a:off x="640080" y="2231136"/>
            <a:ext cx="6309360" cy="219456"/>
          </a:xfrm>
          <a:prstGeom prst="rect">
            <a:avLst/>
          </a:prstGeom>
          <a:noFill/>
        </p:spPr>
        <p:txBody>
          <a:bodyPr wrap="square" lIns="0" tIns="0" rIns="0" bIns="0" anchor="ctr">
            <a:spAutoFit/>
          </a:bodyPr>
          <a:lstStyle/>
          <a:p>
            <a:pPr algn="l"/>
            <a:r>
              <a:rPr sz="1150" b="1">
                <a:solidFill>
                  <a:srgbClr val="1B2740"/>
                </a:solidFill>
                <a:latin typeface="맑은 고딕"/>
                <a:ea typeface="맑은 고딕"/>
                <a:cs typeface="맑은 고딕"/>
              </a:rPr>
              <a:t>스캔 300 의 트랙 표</a:t>
            </a:r>
          </a:p>
        </p:txBody>
      </p:sp>
      <p:pic>
        <p:nvPicPr>
          <p:cNvPr id="8" name="Picture 7" descr="table_s300.png"/>
          <p:cNvPicPr>
            <a:picLocks noChangeAspect="1"/>
          </p:cNvPicPr>
          <p:nvPr/>
        </p:nvPicPr>
        <p:blipFill>
          <a:blip r:embed="rId3"/>
          <a:stretch>
            <a:fillRect/>
          </a:stretch>
        </p:blipFill>
        <p:spPr>
          <a:xfrm>
            <a:off x="640080" y="2505456"/>
            <a:ext cx="6309360" cy="851657"/>
          </a:xfrm>
          <a:prstGeom prst="rect">
            <a:avLst/>
          </a:prstGeom>
          <a:ln w="9525">
            <a:solidFill>
              <a:srgbClr val="D2D9E5"/>
            </a:solidFill>
          </a:ln>
        </p:spPr>
      </p:pic>
      <p:sp>
        <p:nvSpPr>
          <p:cNvPr id="9" name="Oval 8"/>
          <p:cNvSpPr/>
          <p:nvPr/>
        </p:nvSpPr>
        <p:spPr>
          <a:xfrm>
            <a:off x="685800" y="3931920"/>
            <a:ext cx="256032" cy="256032"/>
          </a:xfrm>
          <a:prstGeom prst="ellipse">
            <a:avLst/>
          </a:prstGeom>
          <a:solidFill>
            <a:srgbClr val="DC2626"/>
          </a:solidFill>
          <a:ln>
            <a:noFill/>
          </a:ln>
        </p:spPr>
        <p:txBody>
          <a:bodyPr rtlCol="0" anchor="ctr" lIns="0" tIns="0" rIns="0" bIns="0" wrap="square"/>
          <a:lstStyle/>
          <a:p>
            <a:pPr algn="ctr"/>
            <a:r>
              <a:rPr sz="950" b="1">
                <a:solidFill>
                  <a:srgbClr val="FFFFFF"/>
                </a:solidFill>
                <a:latin typeface="맑은 고딕"/>
                <a:ea typeface="맑은 고딕"/>
                <a:cs typeface="맑은 고딕"/>
              </a:rPr>
              <a:t>1</a:t>
            </a:r>
          </a:p>
        </p:txBody>
      </p:sp>
      <p:sp>
        <p:nvSpPr>
          <p:cNvPr id="10" name="TextBox 9"/>
          <p:cNvSpPr txBox="1"/>
          <p:nvPr/>
        </p:nvSpPr>
        <p:spPr>
          <a:xfrm>
            <a:off x="1069848" y="3913632"/>
            <a:ext cx="5879592"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나이가 다른 트랙 세 개</a:t>
            </a:r>
          </a:p>
          <a:p>
            <a:pPr algn="l">
              <a:lnSpc>
                <a:spcPct val="105000"/>
              </a:lnSpc>
            </a:pPr>
            <a:r>
              <a:rPr sz="1050" b="0">
                <a:solidFill>
                  <a:srgbClr val="4A5A7A"/>
                </a:solidFill>
                <a:latin typeface="맑은 고딕"/>
                <a:ea typeface="맑은 고딕"/>
                <a:cs typeface="맑은 고딕"/>
              </a:rPr>
              <a:t>350: 이번 스캔에 개시, TrackScore 2</a:t>
            </a:r>
          </a:p>
          <a:p>
            <a:pPr algn="l">
              <a:lnSpc>
                <a:spcPct val="105000"/>
              </a:lnSpc>
            </a:pPr>
            <a:r>
              <a:rPr sz="1050" b="0">
                <a:solidFill>
                  <a:srgbClr val="4A5A7A"/>
                </a:solidFill>
                <a:latin typeface="맑은 고딕"/>
                <a:ea typeface="맑은 고딕"/>
                <a:cs typeface="맑은 고딕"/>
              </a:rPr>
              <a:t>349: 한 스캔 전 개시, 1  /  348: 두 스캔 전 개시, 0 -&gt; 삭제 (4)</a:t>
            </a:r>
          </a:p>
        </p:txBody>
      </p:sp>
      <p:sp>
        <p:nvSpPr>
          <p:cNvPr id="11" name="TextBox 10"/>
          <p:cNvSpPr txBox="1"/>
          <p:nvPr/>
        </p:nvSpPr>
        <p:spPr>
          <a:xfrm>
            <a:off x="7269480" y="5760720"/>
            <a:ext cx="4279392" cy="274320"/>
          </a:xfrm>
          <a:prstGeom prst="rect">
            <a:avLst/>
          </a:prstGeom>
          <a:noFill/>
        </p:spPr>
        <p:txBody>
          <a:bodyPr wrap="square" lIns="0" tIns="0" rIns="0" bIns="0" anchor="t">
            <a:spAutoFit/>
          </a:bodyPr>
          <a:lstStyle/>
          <a:p>
            <a:pPr algn="ctr"/>
            <a:r>
              <a:rPr sz="1000" b="0">
                <a:solidFill>
                  <a:srgbClr val="4A5A7A"/>
                </a:solidFill>
                <a:latin typeface="맑은 고딕"/>
                <a:ea typeface="맑은 고딕"/>
                <a:cs typeface="맑은 고딕"/>
              </a:rPr>
              <a:t>스코어 확인 창: 1 1 1 0 0 1 1 을 넣은 결과</a:t>
            </a:r>
          </a:p>
        </p:txBody>
      </p:sp>
      <p:sp>
        <p:nvSpPr>
          <p:cNvPr id="12" name="Oval 11"/>
          <p:cNvSpPr/>
          <p:nvPr/>
        </p:nvSpPr>
        <p:spPr>
          <a:xfrm>
            <a:off x="685800" y="4800600"/>
            <a:ext cx="256032" cy="256032"/>
          </a:xfrm>
          <a:prstGeom prst="ellipse">
            <a:avLst/>
          </a:prstGeom>
          <a:solidFill>
            <a:srgbClr val="D97706"/>
          </a:solidFill>
          <a:ln>
            <a:noFill/>
          </a:ln>
        </p:spPr>
        <p:txBody>
          <a:bodyPr rtlCol="0" anchor="ctr" lIns="0" tIns="0" rIns="0" bIns="0" wrap="square"/>
          <a:lstStyle/>
          <a:p>
            <a:pPr algn="ctr"/>
            <a:r>
              <a:rPr sz="950" b="1">
                <a:solidFill>
                  <a:srgbClr val="FFFFFF"/>
                </a:solidFill>
                <a:latin typeface="맑은 고딕"/>
                <a:ea typeface="맑은 고딕"/>
                <a:cs typeface="맑은 고딕"/>
              </a:rPr>
              <a:t>2</a:t>
            </a:r>
          </a:p>
        </p:txBody>
      </p:sp>
      <p:sp>
        <p:nvSpPr>
          <p:cNvPr id="13" name="TextBox 12"/>
          <p:cNvSpPr txBox="1"/>
          <p:nvPr/>
        </p:nvSpPr>
        <p:spPr>
          <a:xfrm>
            <a:off x="1069848" y="4782312"/>
            <a:ext cx="5879592" cy="658368"/>
          </a:xfrm>
          <a:prstGeom prst="rect">
            <a:avLst/>
          </a:prstGeom>
          <a:noFill/>
        </p:spPr>
        <p:txBody>
          <a:bodyPr wrap="square" lIns="0" tIns="0" rIns="0" bIns="0" anchor="t">
            <a:spAutoFit/>
          </a:bodyPr>
          <a:lstStyle/>
          <a:p>
            <a:pPr algn="l">
              <a:lnSpc>
                <a:spcPct val="105000"/>
              </a:lnSpc>
            </a:pPr>
            <a:r>
              <a:rPr sz="1050" b="1">
                <a:solidFill>
                  <a:srgbClr val="1B2740"/>
                </a:solidFill>
                <a:latin typeface="맑은 고딕"/>
                <a:ea typeface="맑은 고딕"/>
                <a:cs typeface="맑은 고딕"/>
              </a:rPr>
              <a:t>모든 트랙이 같은 수명</a:t>
            </a:r>
          </a:p>
          <a:p>
            <a:pPr algn="l">
              <a:lnSpc>
                <a:spcPct val="105000"/>
              </a:lnSpc>
            </a:pPr>
            <a:r>
              <a:rPr sz="1050" b="0">
                <a:solidFill>
                  <a:srgbClr val="4A5A7A"/>
                </a:solidFill>
                <a:latin typeface="맑은 고딕"/>
                <a:ea typeface="맑은 고딕"/>
                <a:cs typeface="맑은 고딕"/>
              </a:rPr>
              <a:t>TrackScore 2 -&gt; 1 -&gt; 0 (삭제), 다음 스캔에 표에서 빠짐</a:t>
            </a:r>
          </a:p>
          <a:p>
            <a:pPr algn="l">
              <a:lnSpc>
                <a:spcPct val="105000"/>
              </a:lnSpc>
            </a:pPr>
            <a:r>
              <a:rPr sz="1050" b="0">
                <a:solidFill>
                  <a:srgbClr val="4A5A7A"/>
                </a:solidFill>
                <a:latin typeface="맑은 고딕"/>
                <a:ea typeface="맑은 고딕"/>
                <a:cs typeface="맑은 고딕"/>
              </a:rPr>
              <a:t>611 개 모두 같은 순서</a:t>
            </a:r>
          </a:p>
        </p:txBody>
      </p:sp>
      <p:pic>
        <p:nvPicPr>
          <p:cNvPr id="14" name="Picture 13" descr="score.png"/>
          <p:cNvPicPr>
            <a:picLocks noChangeAspect="1"/>
          </p:cNvPicPr>
          <p:nvPr/>
        </p:nvPicPr>
        <p:blipFill>
          <a:blip r:embed="rId4"/>
          <a:stretch>
            <a:fillRect/>
          </a:stretch>
        </p:blipFill>
        <p:spPr>
          <a:xfrm>
            <a:off x="7269480" y="2286000"/>
            <a:ext cx="4277706" cy="3429000"/>
          </a:xfrm>
          <a:prstGeom prst="rect">
            <a:avLst/>
          </a:prstGeom>
          <a:ln w="9525">
            <a:solidFill>
              <a:srgbClr val="D2D9E5"/>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4.3 거리에 따른 개시 결과</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멀리 있는 표적일수록 같은 표적 쌍도 속도 게이트를 통과하기 어려워, 트랙이 덜 만들어집니다.</a:t>
            </a:r>
            <a:endParaRPr lang="en-US" sz="1250" dirty="0"/>
          </a:p>
        </p:txBody>
      </p:sp>
      <p:sp>
        <p:nvSpPr>
          <p:cNvPr id="5" name="TextBox 4"/>
          <p:cNvSpPr txBox="1"/>
          <p:nvPr/>
        </p:nvSpPr>
        <p:spPr>
          <a:xfrm>
            <a:off x="7726679" y="566928"/>
            <a:ext cx="3657600" cy="566928"/>
          </a:xfrm>
          <a:prstGeom prst="rect">
            <a:avLst/>
          </a:prstGeom>
          <a:noFill/>
        </p:spPr>
        <p:txBody>
          <a:bodyPr wrap="square" lIns="0" tIns="0" rIns="0" bIns="0" anchor="ctr">
            <a:spAutoFit/>
          </a:bodyPr>
          <a:lstStyle/>
          <a:p>
            <a:pPr algn="r"/>
            <a:r>
              <a:rPr sz="1000" b="0">
                <a:solidFill>
                  <a:srgbClr val="8FA3C4"/>
                </a:solidFill>
                <a:latin typeface="맑은 고딕"/>
                <a:ea typeface="맑은 고딕"/>
                <a:cs typeface="맑은 고딕"/>
              </a:rPr>
              <a:t>과제  </a:t>
            </a:r>
            <a:r>
              <a:rPr sz="1050" b="1">
                <a:solidFill>
                  <a:srgbClr val="D5DEEC"/>
                </a:solidFill>
                <a:latin typeface="맑은 고딕"/>
                <a:ea typeface="맑은 고딕"/>
                <a:cs typeface="맑은 고딕"/>
              </a:rPr>
              <a:t>1.2 · 속도 게이팅</a:t>
            </a:r>
          </a:p>
        </p:txBody>
      </p:sp>
      <p:sp>
        <p:nvSpPr>
          <p:cNvPr id="6"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pic>
        <p:nvPicPr>
          <p:cNvPr id="7" name="Picture 6" descr="fig_rate.png"/>
          <p:cNvPicPr>
            <a:picLocks noChangeAspect="1"/>
          </p:cNvPicPr>
          <p:nvPr/>
        </p:nvPicPr>
        <p:blipFill>
          <a:blip r:embed="rId3"/>
          <a:stretch>
            <a:fillRect/>
          </a:stretch>
        </p:blipFill>
        <p:spPr>
          <a:xfrm>
            <a:off x="640080" y="2286000"/>
            <a:ext cx="6309360" cy="3102964"/>
          </a:xfrm>
          <a:prstGeom prst="rect">
            <a:avLst/>
          </a:prstGeom>
        </p:spPr>
      </p:pic>
      <p:graphicFrame>
        <p:nvGraphicFramePr>
          <p:cNvPr id="8" name="Table 7"/>
          <p:cNvGraphicFramePr>
            <a:graphicFrameLocks noGrp="1"/>
          </p:cNvGraphicFramePr>
          <p:nvPr/>
        </p:nvGraphicFramePr>
        <p:xfrm>
          <a:off x="7269480" y="2788920"/>
          <a:ext cx="4279392" cy="1975104"/>
        </p:xfrm>
        <a:graphic>
          <a:graphicData uri="http://schemas.openxmlformats.org/drawingml/2006/table">
            <a:tbl>
              <a:tblPr firstRow="1" bandRow="1">
                <a:tableStyleId>{5C22544A-7EE6-4342-B048-85BDC9FD1C3A}</a:tableStyleId>
              </a:tblPr>
              <a:tblGrid>
                <a:gridCol w="1280160"/>
                <a:gridCol w="1097280"/>
                <a:gridCol w="1005840"/>
                <a:gridCol w="896112"/>
              </a:tblGrid>
              <a:tr h="329184">
                <a:tc>
                  <a:txBody>
                    <a:bodyPr/>
                    <a:lstStyle/>
                    <a:p>
                      <a:pPr algn="l"/>
                      <a:r>
                        <a:rPr sz="1000" b="1">
                          <a:solidFill>
                            <a:srgbClr val="FFFFFF"/>
                          </a:solidFill>
                          <a:latin typeface="맑은 고딕"/>
                          <a:ea typeface="맑은 고딕"/>
                          <a:cs typeface="맑은 고딕"/>
                        </a:rPr>
                        <a:t>표적 (가까운 순)</a:t>
                      </a:r>
                    </a:p>
                  </a:txBody>
                  <a:tcPr marL="54864" marR="54864" marT="18288" marB="18288" anchor="ctr">
                    <a:solidFill>
                      <a:srgbClr val="1B2740"/>
                    </a:solidFill>
                  </a:tcPr>
                </a:tc>
                <a:tc>
                  <a:txBody>
                    <a:bodyPr/>
                    <a:lstStyle/>
                    <a:p>
                      <a:pPr algn="l"/>
                      <a:r>
                        <a:rPr sz="1000" b="1">
                          <a:solidFill>
                            <a:srgbClr val="FFFFFF"/>
                          </a:solidFill>
                          <a:latin typeface="맑은 고딕"/>
                          <a:ea typeface="맑은 고딕"/>
                          <a:cs typeface="맑은 고딕"/>
                        </a:rPr>
                        <a:t>거리 [km]</a:t>
                      </a:r>
                    </a:p>
                  </a:txBody>
                  <a:tcPr marL="54864" marR="54864" marT="18288" marB="18288" anchor="ctr">
                    <a:solidFill>
                      <a:srgbClr val="1B2740"/>
                    </a:solidFill>
                  </a:tcPr>
                </a:tc>
                <a:tc>
                  <a:txBody>
                    <a:bodyPr/>
                    <a:lstStyle/>
                    <a:p>
                      <a:pPr algn="l"/>
                      <a:r>
                        <a:rPr sz="1000" b="1">
                          <a:solidFill>
                            <a:srgbClr val="FFFFFF"/>
                          </a:solidFill>
                          <a:latin typeface="맑은 고딕"/>
                          <a:ea typeface="맑은 고딕"/>
                          <a:cs typeface="맑은 고딕"/>
                        </a:rPr>
                        <a:t>게이트 통과</a:t>
                      </a:r>
                    </a:p>
                  </a:txBody>
                  <a:tcPr marL="54864" marR="54864" marT="18288" marB="18288" anchor="ctr">
                    <a:solidFill>
                      <a:srgbClr val="1B2740"/>
                    </a:solidFill>
                  </a:tcPr>
                </a:tc>
                <a:tc>
                  <a:txBody>
                    <a:bodyPr/>
                    <a:lstStyle/>
                    <a:p>
                      <a:pPr algn="l"/>
                      <a:r>
                        <a:rPr sz="1000" b="1">
                          <a:solidFill>
                            <a:srgbClr val="FFFFFF"/>
                          </a:solidFill>
                          <a:latin typeface="맑은 고딕"/>
                          <a:ea typeface="맑은 고딕"/>
                          <a:cs typeface="맑은 고딕"/>
                        </a:rPr>
                        <a:t>개시 트랙</a:t>
                      </a:r>
                    </a:p>
                  </a:txBody>
                  <a:tcPr marL="54864" marR="54864" marT="18288" marB="18288" anchor="ctr">
                    <a:solidFill>
                      <a:srgbClr val="1B2740"/>
                    </a:solidFill>
                  </a:tcPr>
                </a:tc>
              </a:tr>
              <a:tr h="329184">
                <a:tc>
                  <a:txBody>
                    <a:bodyPr/>
                    <a:lstStyle/>
                    <a:p>
                      <a:pPr algn="l"/>
                      <a:r>
                        <a:rPr sz="1050" b="0">
                          <a:solidFill>
                            <a:srgbClr val="1B2740"/>
                          </a:solidFill>
                          <a:latin typeface="맑은 고딕"/>
                          <a:ea typeface="맑은 고딕"/>
                          <a:cs typeface="맑은 고딕"/>
                        </a:rPr>
                        <a:t>5</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5.8 ~ 6.0</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45 %</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182</a:t>
                      </a:r>
                    </a:p>
                  </a:txBody>
                  <a:tcPr marL="54864" marR="54864" marT="18288" marB="18288" anchor="ctr">
                    <a:solidFill>
                      <a:srgbClr val="FFFFFF"/>
                    </a:solidFill>
                  </a:tcPr>
                </a:tc>
              </a:tr>
              <a:tr h="329184">
                <a:tc>
                  <a:txBody>
                    <a:bodyPr/>
                    <a:lstStyle/>
                    <a:p>
                      <a:pPr algn="l"/>
                      <a:r>
                        <a:rPr sz="1050" b="0">
                          <a:solidFill>
                            <a:srgbClr val="1B2740"/>
                          </a:solidFill>
                          <a:latin typeface="맑은 고딕"/>
                          <a:ea typeface="맑은 고딕"/>
                          <a:cs typeface="맑은 고딕"/>
                        </a:rPr>
                        <a:t>3</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6.1 ~ 10.9</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25 %</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115</a:t>
                      </a:r>
                    </a:p>
                  </a:txBody>
                  <a:tcPr marL="54864" marR="54864" marT="18288" marB="18288" anchor="ctr">
                    <a:solidFill>
                      <a:srgbClr val="F7F9FC"/>
                    </a:solidFill>
                  </a:tcPr>
                </a:tc>
              </a:tr>
              <a:tr h="329184">
                <a:tc>
                  <a:txBody>
                    <a:bodyPr/>
                    <a:lstStyle/>
                    <a:p>
                      <a:pPr algn="l"/>
                      <a:r>
                        <a:rPr sz="1050" b="0">
                          <a:solidFill>
                            <a:srgbClr val="1B2740"/>
                          </a:solidFill>
                          <a:latin typeface="맑은 고딕"/>
                          <a:ea typeface="맑은 고딕"/>
                          <a:cs typeface="맑은 고딕"/>
                        </a:rPr>
                        <a:t>4</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8.4 ~ 13.1</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20 %</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98</a:t>
                      </a:r>
                    </a:p>
                  </a:txBody>
                  <a:tcPr marL="54864" marR="54864" marT="18288" marB="18288" anchor="ctr">
                    <a:solidFill>
                      <a:srgbClr val="FFFFFF"/>
                    </a:solidFill>
                  </a:tcPr>
                </a:tc>
              </a:tr>
              <a:tr h="329184">
                <a:tc>
                  <a:txBody>
                    <a:bodyPr/>
                    <a:lstStyle/>
                    <a:p>
                      <a:pPr algn="l"/>
                      <a:r>
                        <a:rPr sz="1050" b="0">
                          <a:solidFill>
                            <a:srgbClr val="1B2740"/>
                          </a:solidFill>
                          <a:latin typeface="맑은 고딕"/>
                          <a:ea typeface="맑은 고딕"/>
                          <a:cs typeface="맑은 고딕"/>
                        </a:rPr>
                        <a:t>1</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13.9 ~ 14.1</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11 %</a:t>
                      </a:r>
                    </a:p>
                  </a:txBody>
                  <a:tcPr marL="54864" marR="54864" marT="18288" marB="18288" anchor="ctr">
                    <a:solidFill>
                      <a:srgbClr val="F7F9FC"/>
                    </a:solidFill>
                  </a:tcPr>
                </a:tc>
                <a:tc>
                  <a:txBody>
                    <a:bodyPr/>
                    <a:lstStyle/>
                    <a:p>
                      <a:pPr algn="l"/>
                      <a:r>
                        <a:rPr sz="1050" b="0">
                          <a:solidFill>
                            <a:srgbClr val="1B2740"/>
                          </a:solidFill>
                          <a:latin typeface="맑은 고딕"/>
                          <a:ea typeface="맑은 고딕"/>
                          <a:cs typeface="맑은 고딕"/>
                        </a:rPr>
                        <a:t>58</a:t>
                      </a:r>
                    </a:p>
                  </a:txBody>
                  <a:tcPr marL="54864" marR="54864" marT="18288" marB="18288" anchor="ctr">
                    <a:solidFill>
                      <a:srgbClr val="F7F9FC"/>
                    </a:solidFill>
                  </a:tcPr>
                </a:tc>
              </a:tr>
              <a:tr h="329184">
                <a:tc>
                  <a:txBody>
                    <a:bodyPr/>
                    <a:lstStyle/>
                    <a:p>
                      <a:pPr algn="l"/>
                      <a:r>
                        <a:rPr sz="1050" b="0">
                          <a:solidFill>
                            <a:srgbClr val="1B2740"/>
                          </a:solidFill>
                          <a:latin typeface="맑은 고딕"/>
                          <a:ea typeface="맑은 고딕"/>
                          <a:cs typeface="맑은 고딕"/>
                        </a:rPr>
                        <a:t>2  (다가옴)</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13.3 -&gt; 1.4</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43 %</a:t>
                      </a:r>
                    </a:p>
                  </a:txBody>
                  <a:tcPr marL="54864" marR="54864" marT="18288" marB="18288" anchor="ctr">
                    <a:solidFill>
                      <a:srgbClr val="FFFFFF"/>
                    </a:solidFill>
                  </a:tcPr>
                </a:tc>
                <a:tc>
                  <a:txBody>
                    <a:bodyPr/>
                    <a:lstStyle/>
                    <a:p>
                      <a:pPr algn="l"/>
                      <a:r>
                        <a:rPr sz="1050" b="0">
                          <a:solidFill>
                            <a:srgbClr val="1B2740"/>
                          </a:solidFill>
                          <a:latin typeface="맑은 고딕"/>
                          <a:ea typeface="맑은 고딕"/>
                          <a:cs typeface="맑은 고딕"/>
                        </a:rPr>
                        <a:t>158</a:t>
                      </a:r>
                    </a:p>
                  </a:txBody>
                  <a:tcPr marL="54864" marR="54864" marT="18288" marB="18288"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206240" y="2788920"/>
            <a:ext cx="6766560" cy="731520"/>
          </a:xfrm>
          <a:prstGeom prst="rect">
            <a:avLst/>
          </a:prstGeom>
          <a:noFill/>
          <a:ln/>
        </p:spPr>
        <p:txBody>
          <a:bodyPr wrap="square" lIns="0" tIns="0" rIns="0" bIns="0" rtlCol="0" anchor="ctr"/>
          <a:lstStyle/>
          <a:p>
            <a:pPr algn="r" indent="0" marL="0">
              <a:buNone/>
            </a:pPr>
            <a:r>
              <a:rPr lang="en-US" sz="3600" b="1" dirty="0">
                <a:solidFill>
                  <a:srgbClr val="FFFFFF"/>
                </a:solidFill>
                <a:latin typeface="맑은 고딕" pitchFamily="34" charset="0"/>
                <a:ea typeface="맑은 고딕" pitchFamily="34" charset="-122"/>
                <a:cs typeface="맑은 고딕" pitchFamily="34" charset="-120"/>
              </a:rPr>
              <a:t>감사합니다</a:t>
            </a:r>
            <a:endParaRPr lang="en-US" sz="3600" dirty="0"/>
          </a:p>
        </p:txBody>
      </p:sp>
      <p:sp>
        <p:nvSpPr>
          <p:cNvPr id="3" name="Shape 1"/>
          <p:cNvSpPr/>
          <p:nvPr/>
        </p:nvSpPr>
        <p:spPr>
          <a:xfrm>
            <a:off x="7863840" y="3675888"/>
            <a:ext cx="3108960" cy="0"/>
          </a:xfrm>
          <a:prstGeom prst="line">
            <a:avLst/>
          </a:prstGeom>
          <a:noFill/>
          <a:ln w="9525">
            <a:solidFill>
              <a:srgbClr val="AEB9CC"/>
            </a:solidFill>
            <a:prstDash val="solid"/>
          </a:ln>
        </p:spPr>
      </p:sp>
      <p:sp>
        <p:nvSpPr>
          <p:cNvPr id="4" name="Text 2"/>
          <p:cNvSpPr txBox="1"/>
          <p:nvPr/>
        </p:nvSpPr>
        <p:spPr>
          <a:xfrm>
            <a:off x="4206240" y="3803904"/>
            <a:ext cx="6766560" cy="310896"/>
          </a:xfrm>
          <a:prstGeom prst="rect">
            <a:avLst/>
          </a:prstGeom>
          <a:noFill/>
          <a:ln/>
        </p:spPr>
        <p:txBody>
          <a:bodyPr wrap="square" lIns="0" tIns="0" rIns="0" bIns="0" rtlCol="0" anchor="ctr"/>
          <a:lstStyle/>
          <a:p>
            <a:pPr algn="r" indent="0" marL="0">
              <a:buNone/>
            </a:pPr>
            <a:r>
              <a:rPr lang="en-US" sz="1300" dirty="0">
                <a:solidFill>
                  <a:srgbClr val="AEB9CC"/>
                </a:solidFill>
                <a:latin typeface="맑은 고딕" pitchFamily="34" charset="0"/>
                <a:ea typeface="맑은 고딕" pitchFamily="34" charset="-122"/>
                <a:cs typeface="맑은 고딕" pitchFamily="34" charset="-120"/>
              </a:rPr>
              <a:t>질문 주시면 답변드리겠습니다</a:t>
            </a:r>
            <a:endParaRPr lang="en-US" sz="1300" dirty="0"/>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