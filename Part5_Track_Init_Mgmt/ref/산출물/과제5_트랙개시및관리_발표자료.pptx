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75415b37-a506-95cc-8a01-f73e243b2520}">
          <p14:sldIdLst>
            <p14:sldId id="257"/>
          </p14:sldIdLst>
        </p14:section>
        <p14:section name="1 배경" id="{12ddad5c-2a3f-1325-f376-ca293c844c81}">
          <p14:sldIdLst>
            <p14:sldId id="258"/>
            <p14:sldId id="259"/>
          </p14:sldIdLst>
        </p14:section>
        <p14:section name="2 이론" id="{ffed22d2-efe5-d000-ca4c-9174ebe5333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3 구현" id="{e2960400-676b-bd4a-4b61-799b4058ac3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4 시뮬레이션" id="{3ff0753a-c5db-47f7-6720-4cf49405495a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정리" id="{473d2562-0b7b-21b1-c312-80573f7724e9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생성된 트랙 355개 — 개시 플롯 두 개의 참값별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생성 트랙 수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표적 2 플롯 쌍</c:v>
                  </c:pt>
                  <c:pt idx="1">
                    <c:v>표적 1 플롯 쌍</c:v>
                  </c:pt>
                  <c:pt idx="2">
                    <c:v>클러터끼리 (우연히 80 m 안)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235</c:v>
                </c:pt>
                <c:pt idx="1">
                  <c:v>117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5 발표. 이론(개시 방법, 속도 게이팅, 트랙 관리 방식) → 구현(TargetSim 구조, 2-Point 개시, 스코어 로직, 플롯 메시지) → 시뮬레이션 결과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402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9CA3AF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rgbClr val="EA580C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4213D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과제 5  ·  트랙 개시 및 관리 기능 구현 (TargetSim Part 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402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트랙 개시 및 관리 기능 구현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2-Point Track Initiation  ·  Track Score 기반 트랙 관리  ·  플롯 메시지 UDP 송수신 시뮬레이션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레이다 S/W 스터디  ·  과제 5  ·  TargetSim (TargetSimCore + TargetSimUI)  ·  2026. 10.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발표 순서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과제 5  ·  트랙 개시 및 관리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배경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플롯과 트랙의 차이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트랙 개시·관리가 하는 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이론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089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1-Point / 2-Point 개시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속도 게이팅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M/N 방식과 트랙 스코어 방식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구현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1089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TargetSim 구조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2-Point 개시 (V_max 800, 9개 상태 변수)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스코어 로직 (5 / 0 / 5)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플롯 메시지와 UDP 쓰레드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시뮬레이션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1089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시나리오와 화면 구성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2D · 3D 결과, 트랙 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트랙 통계와 해석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55955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읽는 순서 안내:  과제 5 내용.txt 의 1.1 → 1.2 → 속도 게이팅 → 2.1 → 2.2 → 3 (구현 · 시뮬레이션) 순서를 그대로 따라갑니다. 이 분야를 처음 보는 분을 기준으로, 용어는 처음 나올 때마다 풀어 씁니다.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A580C"/>
                </a:solidFill>
              </a:rPr>
              <a:t>1</a:t>
            </a:r>
            <a:endParaRPr lang="en-US" sz="6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배경 — 플롯에서 트랙으로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레이다가 매 스캔 내놓는 "플롯"은 표적과 클러터가 섞인 점들일 뿐입니다.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이 점들을 시간 축으로 묶어 "트랙"을 만들고, 믿을 만한 트랙만 남기는 것이 트랙 개시와 관리입니다.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플롯(Plot)과 트랙(Track), 그리고 개시·관리가 하는 일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 배경</a:t>
            </a:r>
            <a:endParaRPr lang="en-US" sz="1100" dirty="0"/>
          </a:p>
        </p:txBody>
      </p:sp>
      <p:pic>
        <p:nvPicPr>
          <p:cNvPr id="4" name="Image 0" descr="/home/claude/work/sim/figs/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280160"/>
            <a:ext cx="640080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플롯 (Plot) = 한 스캔에서 탐지된 측정치 하나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accent4"/>
                </a:solidFill>
              </a:rPr>
              <a:t>거리 · 방위각 · 고각 (안테나 구좌표). 표적인지 클러터(허위 탐지)인지 꼬리표가 없음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트랙 (Track) = 여러 스캔의 플롯을 "같은 물체"로 묶어 만든 추정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accent4"/>
                </a:solidFill>
              </a:rPr>
              <a:t>ID, 위치·속도(상태 변수), 그 오차(공분산), 얼마나 믿을 수 있는지(상태)를 가짐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트랙 개시 (Initiation) = 어떤 플롯(들)로 새 트랙을 만들 것인가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트랙 관리 (Management) = 만든 트랙을 언제 "확정"하고, 언제 "삭제"할 것인가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727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이번 과제의 범위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749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개시: 연속 두 스캔의 플롯 쌍으로 트랙을 만드는 2-Point Track Initiation + 속도 게이팅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관리: 트랙 스코어(TrackScore / MemoryScore)로 임시 → 확정 → 메모리 → 삭제 상태를 바꾸는 로직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플롯 메시지를 UDP 로 보내고 받는 쓰레드 구조 안에서 위 두 기능을 돌리고, 결과를 2D · 3D 로 확인. 트랙 연관과 추적 필터는 다음 단계 (아직 없음)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A580C"/>
                </a:solidFill>
              </a:rPr>
              <a:t>2</a:t>
            </a:r>
            <a:endParaRPr lang="en-US" sz="6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이론 — 트랙 개시 방법과 트랙 관리 방식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1.1  1-Point Track Initiation      1.2  2-Point Track Initiation      *  속도 게이팅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2.1  M/N 방식      2.2  트랙 스코어 방식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1-Point 와 2-Point 트랙 개시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1.1 / 1.2</a:t>
            </a:r>
            <a:endParaRPr lang="en-US" sz="1100" dirty="0"/>
          </a:p>
        </p:txBody>
      </p:sp>
      <p:pic>
        <p:nvPicPr>
          <p:cNvPr id="4" name="Image 0" descr="/home/claude/work/sim/figs/fig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262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63600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1.1  1-Point Track Initiation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001768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측정치(플롯) 한 개만으로 트랙을 생성하는 방법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장점: 플롯을 받자마자 트랙을 만들 수 있어 개시가 가장 빠름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단점: 속도를 알 길이 없어 초기 트랙의 속도 오차가 큼 → 다음 스캔에서 아주 넓은 범위를 뒤져야 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33008" y="45262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61608" y="463600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1.2  2-Point Track Initiation  (이번 과제에서 구현)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61608" y="5001768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연속된 두 스캔(드웰)의 플롯을 이용해 초기 상태 변수와 오차 공분산을 계산하는 방법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장점: 두 플롯의 시간에 따른 위치 변화량으로 속도를 구할 수 있어 1-Point 보다 속도 오차가 작음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단점: 두 시점의 측정치가 모두 필요하므로 개시가 한 스캔 늦고, 어떤 두 플롯을 짝지을지 정해야 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2-Point 개시의 계산식과 속도 오차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초기 상태 (축마다 같은 식, T = 두 플롯의 시간 차)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위치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x̂ = z</a:t>
            </a:r>
            <a:pPr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        (이번 스캔 플롯을 그대로)</a:t>
            </a:r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속도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v̂ = ( z</a:t>
            </a:r>
            <a:pPr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− z</a:t>
            </a:r>
            <a:pPr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k−1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) / 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   (위치 변화량 ÷ 시간)</a:t>
            </a:r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가속도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â = 0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        (두 점으로는 구할 수 없어 0)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초기 오차 공분산 (R = 플롯의 위치 측정 공분산)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pp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= R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     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pv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= 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vp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= R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/ 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     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vv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= ( R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+ R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k−1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) / T²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속도 = (z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− z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</a:rPr>
              <a:t>k−1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)/T 라서, 두 측정 오차가 T 로 나뉘어 그대로 속도 오차가 됨. 가속도 행·열은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33695" cy="2697480"/>
          </a:xfrm>
          <a:prstGeom prst="roundRect">
            <a:avLst>
              <a:gd name="adj" fmla="val 271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389888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속도 오차는 생각보다 크다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737360"/>
            <a:ext cx="48764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위치 측정 오차가 σ 이면, 두 플롯의 차에는 오차가 두 번 들어가므로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     σ</a:t>
            </a:r>
            <a:pPr indent="0" marL="0">
              <a:spcAft>
                <a:spcPts val="400"/>
              </a:spcAft>
              <a:buNone/>
            </a:pPr>
            <a:r>
              <a:rPr lang="en-US" sz="1600" b="1" baseline="-40000" dirty="0">
                <a:solidFill>
                  <a:srgbClr val="000000"/>
                </a:solidFill>
              </a:rPr>
              <a:t>v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  ≈  √2 · σ / 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이번 과제 조건으로 넣어 보면:  σ ≈ 118 m (표적 1, 14 km, SNR 20),  T = 0.1 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     →  σ</a:t>
            </a:r>
            <a:pPr indent="0" marL="0">
              <a:spcAft>
                <a:spcPts val="4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</a:rPr>
              <a:t>v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 ≈ 1,670 m/s.  표적 1 의 실제 속력은 30 m/s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</a:rPr>
              <a:t>즉 스캔 간격이 짧고 측정 오차가 크면 2-Point 속도는 아주 거칠다. 그래서 (1) 물리적으로 말이 안 되는 쌍을 걸러 내는 속도 게이팅이 필요하고, (2) 이후 추적 필터가 여러 스캔을 모아 다듬어야 한다.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93615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측정치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플롯 1개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연속 두 스캔(드웰)의 플롯 2개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개시 지연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받은 스캔에 바로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스캔 — 두 번째 플롯이 와야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모름 (0 으로 두고 오차를 크게 잡음)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플롯 위치 차 ÷ 시간 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속도 오차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큼 (표적 최대 속도 수준)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√2·σ / T 수준 — 1-Point 보다 작음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클러터에 의한 가짜 트랙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플롯마다 트랙이 생겨 많음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플롯이 게이트 안에서 짝이 맞아야 하므로 적음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속도 게이팅 (Velocity Gating) — 어떤 두 플롯을 짝지을 것인가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속도 게이팅</a:t>
            </a:r>
            <a:endParaRPr lang="en-US" sz="1100" dirty="0"/>
          </a:p>
        </p:txBody>
      </p:sp>
      <p:pic>
        <p:nvPicPr>
          <p:cNvPr id="4" name="Image 0" descr="/home/claude/work/sim/figs/fig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80160"/>
            <a:ext cx="658368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343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앞 스캔 플롯과 이번 스캔 플롯을 아무렇게나 다 짝지으면 클러터끼리도 트랙이 됨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그래서 "표적이 낼 수 있는 최대 속도 V_max" 를 게이팅 최대값으로 둠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연속 스캔(드웰)에서 탐지된 두 플롯의 위치 변화량을 시간으로 나눈 값이 V_max 보다 작은 쌍만 트랙 개시를 수행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거리로 바꾸면: 앞 플롯을 중심으로 반경 V_max × ΔT 인 원(구) 안에 이번 플롯이 있어야 함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이번 과제: V_max = 800 m/s, 스캔 간격 ΔT = 0.1 s → 반경 80 m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구현에서는 게이트를 넘은 쌍 가운데 속력이 작은 쌍부터 하나씩 고르고, 한 번 쓴 플롯은 다른 쌍에 다시 쓰지 않음 (18쪽)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5778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주의할 점:  게이트 반경 80 m 는 "표적이 0.1 s 에 움직일 수 있는 거리" 이지, 측정 오차를 고려한 값이 아니다. 측정 오차가 80 m 보다 크면 진짜 표적 플롯 쌍도 자주 탈락한다 → 시뮬레이션 결과 해석(33쪽)에서 실제로 확인된다.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트랙 관리 — 네 가지 트랙 상태와 두 가지 관리 방식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2. 트랙 관리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27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161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임시 트랙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01952"/>
            <a:ext cx="161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Tentative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3172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막 개시된 트랙. 아직 진짜 표적인지 모름.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연관이 계속 성공하면 확정, 실패하면 삭제.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2536" y="1371600"/>
            <a:ext cx="26227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3704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241216" y="1572768"/>
            <a:ext cx="161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확정 트랙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41216" y="1901952"/>
            <a:ext cx="161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Confirmed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73704" y="233172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여러 번 연관에 성공해 믿을 수 있다고 판단한 트랙.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화면에 "표적" 으로 보여 주는 대상.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6432" y="1371600"/>
            <a:ext cx="26227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7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9333EA"/>
                </a:solidFill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065112" y="1572768"/>
            <a:ext cx="161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</a:rPr>
              <a:t>메모리 트랙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65112" y="1901952"/>
            <a:ext cx="161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Memory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97600" y="233172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확정 트랙이 연관에 실패했을 때 바로 지우지 않고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잠시 기억해 두는 상태. 다시 연관되면 확정으로 복귀.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0327" y="1371600"/>
            <a:ext cx="26227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1495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B7280"/>
                </a:solidFill>
              </a:rPr>
              <a:t>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889007" y="1572768"/>
            <a:ext cx="161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삭제 트랙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889007" y="1901952"/>
            <a:ext cx="161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Deleted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21495" y="233172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임시 단계에서 탈락했거나 메모리 상태가 너무 오래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이어진 트랙. 다음 스캔에 트랙 표에서 빠짐.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트랙 관리란: 매 스캔 "트랙 연관 결과(Assigned_Flag: 성공 1 / 실패 0)" 를 보고 위 네 상태 사이를 옮기는 규칙</a:t>
            </a:r>
            <a:endParaRPr lang="en-US" sz="13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accent4"/>
                </a:solidFill>
              </a:rPr>
              <a:t>임시 트랙을 너무 쉽게 확정하면 클러터가 표적으로 뜨고, 너무 어렵게 하면 진짜 표적이 늦게 뜬다. 삭제도 마찬가지 — 이 균형을 정하는 것이 문턱치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대표적인 두 방식:  2.1 M/N 방식 (횟수 세기)   /   2.2 트랙 스코어 방식 (점수 누적)  — 이번 과제는 트랙 스코어 방식을 구현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상태 번호 1 ~ 4 는 과제 명세의 TrackState 값 그대로이며, 화면의 트랙 기호 색도 이 네 색을 그대로 씁니다.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2.1  M/N 방식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2.1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1  임시 트랙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최근 N 번의 연관 성공·실패 이력을 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2064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2  확정 트랙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연관 성공이면 그대로 유지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933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33EA"/>
                </a:solidFill>
              </a:rPr>
              <a:t>3  메모리 트랙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메모리로 머문 시간을 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4  삭제 트랙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다음 스캔에 표에서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88820" y="1508760"/>
            <a:ext cx="914" cy="667512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트랙 개시 (임시 트랙으로 출발)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81528" y="2720340"/>
            <a:ext cx="2020824" cy="91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154680" y="22631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N 번 중 M 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트랙 연관 성공 → 확정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88820" y="3264408"/>
            <a:ext cx="914" cy="142646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" y="37490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 번 연속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결합 실패 → 삭제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1851" y="3264408"/>
            <a:ext cx="914" cy="1426464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673291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트랙 연관 실패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→ 메모리 트랙 전환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V="1">
            <a:off x="5808269" y="3264408"/>
            <a:ext cx="914" cy="142646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613709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연관 성공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→ 확정으로 복귀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H="1">
            <a:off x="3081528" y="5234940"/>
            <a:ext cx="2020824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154680" y="52806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특정 시간 이상 메모리 상태 유지 → 삭제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1280160"/>
            <a:ext cx="3413455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58200" y="1389888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과제 명세 요약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1737360"/>
            <a:ext cx="29562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(1) 임시 트랙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M 번 연속 결합 실패 → 트랙 삭제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N 번 중 M 번 트랙 연관 성공 → 트랙 확정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(2) 확정 트랙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트랙 연관 실패 → 메모리 트랙 전환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특정 시간 이상 메모리 상태 유지 → 트랙 삭제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4206240"/>
            <a:ext cx="3413455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4315968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쉽게 말하면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663440"/>
            <a:ext cx="29562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"다섯 번 기회 중 세 번은 맞아야 진짜로 인정" 하는 식의 횟수 규칙. 예를 들어 M = 3, N = 5 이면 최근 5 스캔 가운데 3 스캔에서 연관이 성공해야 확정된다. 규칙이 직관적이고 설명하기 쉽지만, 최근 N 번의 성공·실패 이력을 트랙마다 들고 있어야 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2.2  트랙 스코어 방식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2.2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1  임시 트랙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연관 성공 → 스코어 +, 실패 → 스코어 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2064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2  확정 트랙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연관 성공이면 그대로 유지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933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33EA"/>
                </a:solidFill>
              </a:rPr>
              <a:t>3  메모리 트랙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연관 실패마다 메모리 스코어 +1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4  삭제 트랙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다음 스캔에 표에서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88820" y="1508760"/>
            <a:ext cx="914" cy="667512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트랙 개시 (임시, 초기 스코어)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81528" y="2720340"/>
            <a:ext cx="2020824" cy="91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154680" y="22631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트랙 스코어 ≥ 트랙 확정 스코어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→ 확정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88820" y="3264408"/>
            <a:ext cx="914" cy="142646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" y="37490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트랙 스코어 ≤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임시 트랙 삭제 스코어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→ 삭제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1851" y="3264408"/>
            <a:ext cx="914" cy="1426464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673291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트랙 연관 실패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→ 메모리 전환,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메모리 스코어 = +1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V="1">
            <a:off x="5808269" y="3264408"/>
            <a:ext cx="914" cy="142646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613709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트랙 연관 성공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→ 확정 전환,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메모리 스코어 = 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H="1">
            <a:off x="3081528" y="5234940"/>
            <a:ext cx="2020824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154680" y="52806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메모리 스코어 ≥ 메모리 트랙 삭제 스코어 → 삭제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1280160"/>
            <a:ext cx="3413455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58200" y="1389888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과제 명세 요약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1737360"/>
            <a:ext cx="29562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(1) 임시 트랙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트랙 스코어 ≤ 임시 트랙 삭제 스코어 → 트랙 삭제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트랙 스코어 ≥ 트랙 확정 스코어 → 트랙 확정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(2) 확정 트랙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트랙 연관 실패 → 메모리 트랙 전환, 메모리 스코어 = +1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(3) 메모리 트랙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트랙 연관 성공 → 확정 트랙 전환, 메모리 스코어 = 0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메모리 스코어 ≥ 메모리 트랙 삭제 스코어 → 트랙 삭제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4526280"/>
            <a:ext cx="3413455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4636008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쉽게 말하면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983480"/>
            <a:ext cx="2956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트랙마다 "신뢰 점수" 를 두고, 연관이 성공하면 올리고 실패하면 내린다. 점수가 확정선을 넘으면 확정, 바닥선 아래로 떨어지면 삭제. 확정된 뒤 놓치면 별도의 메모리 점수로 "몇 번 놓쳤는지" 를 센다. 이력 버퍼 없이 정수 두 개로 관리된다.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M/N 방식과 트랙 스코어 방식 비교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 이론  ·  2.1 / 2.2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10735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M/N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스코어 방식  (이번 과제 구현)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판단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N 번 가운데 M 번 연관 성공 (횟수)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트랙 스코어가 확정 문턱치 이상 (점수)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삭제 판단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번 연속 결합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스코어가 삭제 문턱치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트랙이 연관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트랙으로 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트랙으로 전환 + 메모리 스코어 +1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삭제 판단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시간 이상 메모리 상태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스코어가 메모리 삭제 문턱치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→ 확정 복귀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 성공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 성공 시 바로 확정, 메모리 스코어 0 으로 초기화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트랙마다 들고 있어야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N 번의 성공 · 실패 이력 (버퍼)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정수 두 개 (TrackScore, MemoryScore)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직관적, 설명과 튜닝의 의미가 분명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구현이 단순, 성공·실패의 가중치를 다르게 줄 수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 관리가 번거롭고 창(N) 밖의 과거는 잊힘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문턱치(확정 · 삭제 · 메모리 삭제)를 잘 골라야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5778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이번 과제 조건:  임시 트랙 확정 문턱치 5,  임시 트랙 삭제 문턱치 0,  메모리 트랙 삭제 문턱치 5.  확정 → 메모리 전환 뒤 연관이 되면 바로 확정으로 복귀하며 메모리 스코어는 0 으로 초기화. (구현은 20쪽)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A580C"/>
                </a:solidFill>
              </a:rPr>
              <a:t>3</a:t>
            </a:r>
            <a:endParaRPr lang="en-US" sz="6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구현 — TargetSim 에 트랙 개시 · 관리 넣기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TargetSimCore (C, DLL): TrackMgr.c 의 2-Point 개시 · 스코어 로직,  PlotLink.c 의 UDP 송수신 쓰레드,  Idd.h 의 플롯 메시지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TargetSimUI (MFC): 2D · 3D 그림, 트랙 표, 스코어 확인 창, CSV 저장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TargetSim 전체 구조 — 데이터가 흐르는 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구조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TargetSimCore.dll  (C)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2880360"/>
          </a:xfrm>
          <a:prstGeom prst="roundRect">
            <a:avLst>
              <a:gd name="adj" fmla="val 31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Part 3  궤적 계산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13432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TargetSim.c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f_Tgt_InitSim / StepSim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플랫폼 · 표적의 ECEF 위치, 자세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(0.1 s 마다, 1161 표본)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52928" y="2583180"/>
            <a:ext cx="509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2194" y="178308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1922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Part 4  측정 모의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31922" y="2313432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PlotSim.c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f_Pcs_Measure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참값 x → 플롯 z = x + v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+ 클러터 (스캔당 5개)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97882" y="2583180"/>
            <a:ext cx="509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7148" y="178308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76876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송신 쓰레드  (신호처리 역할)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76876" y="2313432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PlotLink.c  f_Lnk_TxThread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스캔마다 STRUCT_PlotMsg 1개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안테나 구좌표만 채움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플롯 ID 10000 ~ 1000000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42836" y="2583180"/>
            <a:ext cx="509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12101" y="178308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21829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수신 쓰레드  (데이터 처리 역할)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21829" y="2313432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PlotLink.c  f_Lnk_RxThread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좌표 변환 → 측정 공분산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→ f_Trk_ProcessScan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(스코어 로직 + 2-Point 개시)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87789" y="2583180"/>
            <a:ext cx="509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57055" y="178308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66783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결과 보관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466783" y="2313432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PlotLink.c  (결과 배열)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스캔마다 트랙 요약 ST_TrkView,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받은 플롯, 처리 기록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f_Lnk_CopyScan 으로 꺼냄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7168325" y="2656332"/>
            <a:ext cx="914" cy="1046988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876485" y="3730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UDP 127.0.0.1:50505 — 같은 PC 안 루프백. 메모리 복사가 아니라 실제 소켓(sendto / recvfrom)으로 보냄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TargetSimUI.exe  (MFC)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919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Scenario.cpp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고정 시나리오 (표적 2, 116 s, 0.1 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→ Core 에 궤적 계산 요청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922194" y="4919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PlotResult.cpp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922194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측정 모의 실행, 송수신 시작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50 ms 타이머로 처리된 스캔 가져오기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067148" y="4919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TrajectoryPlot.cpp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67148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2D 평면 · 3D 공간 그림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True · Plot · Clutter · Track 심볼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212101" y="4919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TargetSimUIDlg.cpp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212101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스캔 슬라이더, 트랙 표, 요약 카드,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송신 간격 선택, CSV 저장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357055" y="4919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ScoreDlg.cpp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357055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스코어 확인 창: Assigned_Flag 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직접 넣어 상태 변화를 표로 확인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385755" y="3401568"/>
            <a:ext cx="914" cy="1380744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위 세 단계(궤적 → 측정 → 송수신)는 과제 3, 4 에서 만든 Core 를 그대로 쓰고, 이번 과제에서 추가된 것은 TrackMgr.c, PlotLink.c, Idd.h 의 STRUCT_PlotMsg 와 UI 의 트랙 화면입니다.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트랙 자료구조와 과제 조건 값 (TrackMgr.h)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자료구조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897880" cy="4846320"/>
          </a:xfrm>
          <a:prstGeom prst="roundRect">
            <a:avLst>
              <a:gd name="adj" fmla="val 113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389888"/>
            <a:ext cx="5623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트랙 하나. 이름은 과제 명세 그대로.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   TrackId;        // 100 ~ 10000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TrackState;     // 1 임시, 2 확정, 3 메모리, 4 삭제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TrackScore;     // 트랙 점수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MemoryScore;    // 메모리 점수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Assigned_Flag;  // 트랙 연관 결과. 1 성공, 0 실패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   mat_EstX;       // 9 x 1 상태변수 (VC-NED)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   mat_EstP;       // 9 x 9 오차 공분산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FLOAT64  initTime;       // 개시 시각 [s]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nInitScan;      // 개시 스캔 번호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   PlotId[2];      // 개시에 쓴 플롯 (앞 스캔, 이번 스캔)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ST_Track;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트랙 표. 스캔마다 f_Trk_ProcessScan 으로 갱신.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 nTrackNum;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ST_Track  st_Track[TRK_MAX_TRACK];     // 256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    nextTrackId;                 // 다음에 줄 ID 후보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ST_TrkPlot st_PrevPlot[TRK_MAX_PLOT];  // 앞 스캔 플롯 (개시 후보)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FLOAT64   prevTime;  INT32 isPrevValid;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INT32     nCreatedSum, nDeletedSum, nTableFullSum;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ST_TrkTable;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280160"/>
          <a:ext cx="4922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222473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상수 (TrackMgr.h)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TRK_VMAX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 m/s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2-Point 개시 속도 게이트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TRK_SCORE_CONFIRM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트랙 확정 문턱치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TRK_SCORE_DELETE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트랙 삭제 문턱치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TRK_MEMORY_DELETE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트랙 삭제 문턱치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TRK_SCORE_INIT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개시 직후 TrackScore (정한 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TRK_ID_MIN / MAX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/ 10000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ID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TRK_STATE_DIM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[x x' x'' y y' y'' z z' z'']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TRK_MAX_TRACK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표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TRK_MAX_PLOT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스캔당 플롯 최대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20840" y="45262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값 뒤에 (과제) 표시가 없는 것 가운데 TRK_SCORE_INIT 만 과제에 없어 정한 값이고, 나머지는 구현상 크기 제한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20840" y="4846320"/>
            <a:ext cx="4922215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493776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개시 직후 스코어를 2 로 둔 이유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5212080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과제는 삭제 문턱치 0 만 주고 시작값은 주지 않았다. 두 플롯이 이미 게이트를 통과해 만든 트랙이므로 "성공 두 번" 으로 보고 2 에서 시작. 이렇게 하면 연관이 없는 지금 조건에서 2 → 1 → 0 으로 세 스캔 뒤 삭제되고, 연관이 붙으면 세 번 더 성공할 때 확정(5)된다.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상태 변수 9개와 초기 오차 공분산 (f_Trk_TwoPointInit)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2-Point 개시</a:t>
            </a:r>
            <a:endParaRPr lang="en-US" sz="1100" dirty="0"/>
          </a:p>
        </p:txBody>
      </p:sp>
      <p:pic>
        <p:nvPicPr>
          <p:cNvPr id="4" name="Image 0" descr="/home/claude/work/sim/figs/fig_state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1088136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7881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과제 조건 반영:  상태 변수 X = [x x' x'' y y' y'' z z' z'']ᵀ (북 · 동 · 아래, VC-NED).  2-Point 초기화 시 mat_EstX 와 mat_EstP 의 가속도 항은 모두 0 으로 설정.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측정 공분산 R — 구좌표 오차를 VC-NED 위치 오차로 (f_Trk_MeasCov)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2-Point 개시</a:t>
            </a:r>
            <a:endParaRPr lang="en-US" sz="1100" dirty="0"/>
          </a:p>
        </p:txBody>
      </p:sp>
      <p:pic>
        <p:nvPicPr>
          <p:cNvPr id="4" name="Image 0" descr="/home/claude/work/sim/figs/fig_meas_e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280160"/>
            <a:ext cx="4846320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플롯 메시지에는 측정 표준편차가 함께 실려 옴 (SNR 20 기준)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σ_r = c / (2B√(2·SNR)) = 4.74 m,   σ_az = 빔폭 / (K_M√(2·SNR)) = 0.48°,   σ_el = 0.49°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1단계 — 구좌표 (r, az, el) → 안테나 직교 좌표의 오차로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x = r cos(el) sin(az), y = r sin(el), z = r cos(el) cos(az) 를 미분한 야코비안 J 로   R_ant = J · diag(σ_r², σ_az², σ_el²) · Jᵀ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2단계 — 안테나 → 동체 → NED 회전 M 을 적용   R_ned = M · R_ant · Mᵀ</a:t>
            </a:r>
            <a:endParaRPr lang="en-US" sz="12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accent4"/>
                </a:solidFill>
              </a:rPr>
              <a:t>회전 M 의 열 = 안테나 축 단위 벡터를 f_Trans_Ant_To_Body, f_Trans_Body_To_Ned 로 옮긴 것. 곱셈 반올림으로 생긴 비대칭은 (R + Rᵀ)/2 로 정리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이 R 이 2-Point 초기 공분산 P 의 재료 (R_k, R_{k−1})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핵심은 "각도 오차 × 거리 = 위치 오차" 라는 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거리 오차는 4.7 m 로 작지만, 0.48° 의 각도 오차는 14 km 에서 약 118 m 의 횡거리 오차가 된다. 그래서 먼 표적의 플롯은 레이다 시선에 직각인 방향으로 길쭉하게 흔들리고(동쪽 오차 113 m vs 북쪽 9 m, 스캔 701 의 표적 1 플롯), 이것이 2-Point 속도 추정을 거칠게 만드는 직접 원인이다.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스캔 하나를 처리하는 순서 (f_Trk_ProcessScan)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처리 순서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</a:rPr>
              <a:t>①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삭제 트랙 정리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앞 스캔에 삭제 상태(4)가 된 트랙을 트랙 표에서 뺀다 (순서 유지).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→ 삭제 트랙은 "한 스캔 동안" 표에 남아 화면과 CSV 에 보인 뒤 사라진다.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2743200"/>
            <a:ext cx="125882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62858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5738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333EA"/>
                </a:solidFill>
              </a:rPr>
              <a:t>②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094378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</a:rPr>
              <a:t>트랙 관리 (스코어 로직)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45738" y="214884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표의 모든 트랙에 대해 Assigned_Flag 를 채우고 f_Trk_UpdateState 호출.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연관 기능이 아직 없으므로 과제 조건대로 모든 트랙 Assigned_Flag = 0 (실패).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2906" y="2743200"/>
            <a:ext cx="125882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7077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9957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</a:rPr>
              <a:t>③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908597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2-Point 트랙 개시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9957" y="214884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앞 스캔에서 남은 플롯(후보) × 이번 스캔 플롯의 모든 쌍에 속도 게이트 적용.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통과한 쌍 가운데 속력이 작은 쌍부터 하나씩 골라 트랙 생성, 한 플롯은 한 쌍에만.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47125" y="2743200"/>
            <a:ext cx="125882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91295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4175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④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722815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다음 스캔 준비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14884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이번 스캔 플롯을 다음 스캔의 개시 후보로 보관. 개시에 쓴 플롯은 isUsed 표시를 남겨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다음 스캔에서 다시 짝이 되지 않게 한다. prevTime, isPrevValid 갱신.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4415" cy="1874520"/>
          </a:xfrm>
          <a:prstGeom prst="roundRect">
            <a:avLst>
              <a:gd name="adj" fmla="val 29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453128"/>
            <a:ext cx="108200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Point 개시 (③) 의 핵심 루프 — 속력이 가장 작은 쌍부터 하나씩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(isSearching)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bestSpeed = TRK_VMAX;  bestPrev = bestCur = -1;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(nPrev ...) for (nCur ...)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(!prev[nPrev].isUsed &amp;&amp; !cur[nCur].isUsed)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speed = |cur.pos - prev.pos| / dt;              // 속도 게이트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(speed &lt; bestSpeed) { bestSpeed = speed; bestPrev = nPrev; bestCur = nCur;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(bestPrev &lt; 0) isSearching = 0;                      // 게이트를 넘는 쌍이 더 없음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{ prev[bestPrev].isUsed = cur[bestCur].isUsed = 1;  newId = f_Trk_NewId(&amp;table);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f_Trk_TwoPointInit(&amp;track, &amp;prev[bestPrev], &amp;cur[bestCur]);  TrackState = 1; TrackScore = 2; ...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2-Point 개시 세부 — 쌍 고르기와 ID 부여 규칙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2-Point 개시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778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왜 "속력이 작은 쌍부터" 인가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게이트를 넘는 쌍이 여럿일 때(한 플롯이 두 플롯과 모두 80 m 안) 어느 쌍을 쓸지 정해야 함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위치 변화가 가장 작은 쌍이 "같은 물체일 가능성" 이 가장 높다고 보고 먼저 고름 (가장 가까운 이웃)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고른 쌍의 두 플롯은 isUsed 표시 → 남은 플롯끼리 다시 최소 쌍을 찾는 식으로 반복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한 스캔에서 만들 수 있는 트랙 수 = min(앞 스캔 후보 수, 이번 플롯 수). 이번 시뮬레이션에서는 최대 2개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242255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389888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 부여 규칙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737360"/>
            <a:ext cx="478505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트랙 ID: 100 부터 차례로, 10000 다음은 100 으로 돌아감 (과제: 100 ~ 10000)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accent4"/>
                </a:solidFill>
              </a:rPr>
              <a:t>표에 아직 있는 ID 는 건너뜀 → 화면에 같은 번호가 두 개 보이지 않음. 줄 ID 가 없으면 0 → 생성 포기 (nTableFullSum)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플롯 ID: 송신 쪽이 10000 부터 차례로, 1000000 다음은 10000 으로 (과제: 10000 ~ 1000000)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accent4"/>
                </a:solidFill>
              </a:rPr>
              <a:t>매 스캔 생성된 표적 플롯 + 클러터 모두에 부여. 1160 스캔 × 7개 = 8120 → 10000 ~ 18119 사용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트랙은 개시에 쓴 두 플롯 ID(PlotId[0], [1]) 를 기억 → 화면에서 "참값(표적 1 / 2 / 클러터)" 을 역추적하는 근거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94415" cy="2011680"/>
          </a:xfrm>
          <a:prstGeom prst="roundRect">
            <a:avLst>
              <a:gd name="adj" fmla="val 27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315968"/>
            <a:ext cx="10820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새 트랙 ID. 100 부터 차례로 주고 10000 다음은 100 으로. 표에 있는 ID 는 건너뜀. 줄 ID 가 없으면 0.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UINT32 f_Trk_NewId(ST_TrkTable *st_Table)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 newId = 0, candidate;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(nTry = 0; (nTry &lt;= (TRK_ID_MAX - TRK_ID_MIN)) &amp;&amp; (newId == 0); nTry++)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candidate             = st_Table-&gt;nextTrackId;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st_Table-&gt;nextTrackId = (candidate &gt;= TRK_ID_MAX) ? TRK_ID_MIN : (candidate + 1);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(f_Trk_IsIdUsed(st_Table, candidate) == 0) newId = candidate;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newId;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트랙 스코어 로직 구현 (f_Trk_UpdateState)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트랙 관리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1  임시 트랙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Flag 1 이면 +1,  Flag 0 이면 −1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21945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2  확정 트랙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Flag 1 이면 그대로 유지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933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33EA"/>
                </a:solidFill>
              </a:rPr>
              <a:t>3  메모리 트랙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Flag 0 마다 MemoryScore + 1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82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4  삭제 트랙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66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다음 스캔 처리 시작 때 표에서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97380" y="1508760"/>
            <a:ext cx="914" cy="667512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-9144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2-Point 개시  →  TrackState 1, TrackScore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90088" y="2720340"/>
            <a:ext cx="2020824" cy="91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063240" y="22631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TrackScore ≥ 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→ 확정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97380" y="3264408"/>
            <a:ext cx="914" cy="142646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20040" y="37490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TrackScore ≤ 0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→ 삭제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0411" y="3264408"/>
            <a:ext cx="914" cy="1426464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581851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Flag 0 (실패)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→ 메모리 전환,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333EA"/>
                </a:solidFill>
              </a:rPr>
              <a:t>MemoryScore + 1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V="1">
            <a:off x="5716829" y="3264408"/>
            <a:ext cx="914" cy="1426464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522269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Flag 1 (성공)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→ 바로 확정,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MemoryScore = 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H="1">
            <a:off x="2990088" y="5234940"/>
            <a:ext cx="2020824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063240" y="52806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MemoryScore ≥ 5 → 삭제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1280160"/>
            <a:ext cx="3322015" cy="4937760"/>
          </a:xfrm>
          <a:prstGeom prst="roundRect">
            <a:avLst>
              <a:gd name="adj" fmla="val 165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85632" y="1389888"/>
            <a:ext cx="30476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f_Trk_UpdateState(ST_Track *t)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INT32 ok = (t-&gt;Assigned_Flag != 0);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(t-&gt;TrackState)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  // 임시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t-&gt;TrackScore += ok ? 1 : -1;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(t-&gt;TrackScore &gt;= 5)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t-&gt;TrackState = 2;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(t-&gt;TrackScore &lt;= 0)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t-&gt;TrackState = 4;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  // 확정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(!ok)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t-&gt;TrackState = 3;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t-&gt;MemoryScore++;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   // 메모리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(ok)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t-&gt;TrackState = 2;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t-&gt;MemoryScore = 0;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t-&gt;MemoryScore++;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(t-&gt;MemoryScore &gt;= 5)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t-&gt;TrackState = 4;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6263640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실제 코드는 상수 이름(TRK_STATE_*, TRK_SCORE_*)을 쓰며, 여기서는 값으로 줄여 적음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760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과제 변수 이름 그대로: TrackScore(트랙 점수), MemoryScore(메모리 점수), TrackState(1 임시, 2 확정, 3 메모리, 4 삭제).  확정 트랙이 메모리로 갔다가 연관되면 "바로" 확정으로 복귀하고 메모리 점수는 0 으로 초기화.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스코어 변화 예시 — UI 의 "스코어 확인" 창으로 검증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트랙 관리</a:t>
            </a:r>
            <a:endParaRPr lang="en-US" sz="1100" dirty="0"/>
          </a:p>
        </p:txBody>
      </p:sp>
      <p:pic>
        <p:nvPicPr>
          <p:cNvPr id="4" name="Image 0" descr="/home/claude/work/sim/figs/fig_score_pre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188720"/>
            <a:ext cx="5059375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29844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왜 따로 확인 창을 두었나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645920"/>
            <a:ext cx="46936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시뮬레이션에서는 Assigned_Flag 가 늘 0 이라 확정 · 메모리 상태가 한 번도 나오지 않음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그래서 UI 에 Assigned_Flag 순서(0/1)를 직접 넣으면 Core 의 f_Trk_UpdateState 를 그대로 불러 스캔마다 TrackScore · MemoryScore · TrackState 를 표로 보여 주는 창을 둠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예시 4가지: 과제 조건(0 0 0), 임시 → 확정, 확정 → 메모리 → 다시 확정, 메모리 → 삭제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왼쪽 그래프는 그 창의 결과를 그린 것. 배경색 = 그 스캔의 TrackState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188720"/>
                <a:gridCol w="1280160"/>
                <a:gridCol w="1280160"/>
                <a:gridCol w="6065215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Flag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TrackState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바뀐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임시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Point 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임시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임시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확정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TrackScore 5 이상, 확정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메모리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 실패, 메모리로 (MemoryScore +1)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메모리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유지 (MemoryScore +1)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확정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 성공, 바로 확정 (MemoryScore 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확정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"확정 → 메모리 → 다시 확정" 예시를 스코어 확인 창이 보여 주는 표 (ScoreDlg). 줄 배경색은 트랙 상태 색을 옅게 한 것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플롯 메시지 STRUCT_PlotMsg (Idd.h) — 송신 쓰레드가 보내는 것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플롯 메시지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MsgId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0x5001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777240" cy="822960"/>
          </a:xfrm>
          <a:prstGeom prst="rect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417320"/>
            <a:ext cx="777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MsgSize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417320"/>
            <a:ext cx="822960" cy="822960"/>
          </a:xfrm>
          <a:prstGeom prst="rect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ScanNum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914400" cy="822960"/>
          </a:xfrm>
          <a:prstGeom prst="rect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TimeStamp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 / 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777240" cy="822960"/>
          </a:xfrm>
          <a:prstGeom prst="rect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1417320"/>
            <a:ext cx="777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PlotNum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960120" cy="822960"/>
          </a:xfrm>
          <a:prstGeom prst="rect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/ Az / 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417320"/>
            <a:ext cx="1783080" cy="822960"/>
          </a:xfrm>
          <a:prstGeom prst="rect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417320"/>
            <a:ext cx="1783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st_Platform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(36 B) 위경도·ECEF·자세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417320"/>
            <a:ext cx="914400" cy="82296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st_Plot[0]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121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21040" y="1417320"/>
            <a:ext cx="777240" cy="82296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417320"/>
            <a:ext cx="777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st_Plot[1]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98280" y="1417320"/>
            <a:ext cx="457200" cy="82296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98280" y="1417320"/>
            <a:ext cx="457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…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55480" y="1417320"/>
            <a:ext cx="1005840" cy="82296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55480" y="1417320"/>
            <a:ext cx="1005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st_Plot[N−1]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350008"/>
            <a:ext cx="6858000" cy="914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headEnd type="oval"/>
            <a:tailEnd type="oval"/>
          </a:ln>
        </p:spPr>
      </p:sp>
      <p:sp>
        <p:nvSpPr>
          <p:cNvPr id="27" name="Text 25"/>
          <p:cNvSpPr txBox="1"/>
          <p:nvPr/>
        </p:nvSpPr>
        <p:spPr>
          <a:xfrm>
            <a:off x="54864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머리 72 B  (IDD_MSG_HEAD_SIZE)  — 매 메시지 고정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2350008"/>
            <a:ext cx="3154680" cy="91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oval"/>
            <a:tailEnd type="oval"/>
          </a:ln>
        </p:spPr>
      </p:sp>
      <p:sp>
        <p:nvSpPr>
          <p:cNvPr id="29" name="Text 27"/>
          <p:cNvSpPr txBox="1"/>
          <p:nvPr/>
        </p:nvSpPr>
        <p:spPr>
          <a:xfrm>
            <a:off x="7406640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플롯 PlotNum 개 × 121 B  — 있는 만큼만 보냄 (MsgSize)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743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#pragma pack(1) — 패딩 없이 바이트 그대로.  이번 시뮬레이션은 스캔마다 표적 2 + 클러터 5 = 7 플롯 → 72 + 7 × 121 = 919 B.  최대 64 플롯(IDD_MAX_PLOT)이면 7,816 B.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017520"/>
                <a:gridCol w="3200400"/>
                <a:gridCol w="204185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STRUCT_PlotInfo 필드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송신 (신호처리)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 (데이터 처리)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10000 ~ 1000000 순환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사용 (트랙의 PlotId 에 보관)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과제: 매 스캔 생성 플롯에 ID 부여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EmittedScanNum / DwellNum / BeamNum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스캔 번호, 드웰 = 스캔, 빔 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스캔당 드웰 하나로 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EmittedTimeStamp_s / _ns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스캔 시각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플롯 시각 → 두 플롯의 시간 차 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Range_Ant / Azimuth_Ant / Elevation_Ant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측정 모의 결과 (안테나 구좌표)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 변환의 입력, 측정 공분산의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과제: 안테나 구좌표계 성분으로 전송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X/Y/Z_Ant, X/Y/Z_Body, X/Y/Z_VcNed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으로 보냄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구좌표 → 직교 → 동체 → VC-NED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개시는 VC-NED 위치를 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Range/Azimuth/Elevation_VcNed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으로 보냄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VC-NED 구좌표 (북 기준 방위, 위쪽 + 고각)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(머리) Sigma_Range/Azimuth/Elevation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f_Pcs_CalcSigma(SNR)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공분산 R 계산에 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(머리) st_Platform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채움 — 그 스캔의 레이다 위치 · 자세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동체 → NED 회전, 플랫폼 이동 보정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끝 메시지: 보낼 스캔이 끝나면 MsgId 0x50FF, 플롯 없이 머리만 보내 수신 쪽이 종료를 알게 함.  어느 플롯이 표적인지는 메시지에 넣지 않고 송신 쪽 기록(pt_PlotSource)에만 남겨 화면 확인용으로만 씀 — 받는 쪽은 과제 조건대로 "모르는 상태" 로 처리.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UDP 송수신 쓰레드 (PlotLink.c) — 신호처리와 데이터 처리의 분리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송수신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99856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송신 쓰레드  f_Lnk_TxThread  (신호처리 역할)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47088"/>
            <a:ext cx="45413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수신 소켓이 bind 를 마쳤다는 신호(hReady)를 기다린 뒤 시작 — 먼저 보내면 버려지므로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스캔마다 f_Lnk_BuildMsg 로 메시지 하나: 표적 플롯 + 클러터를 섞어 방위각 순서(빔이 지나가는 순서)로 담고 ID 부여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sendto 로 127.0.0.1:포트 에 전송. 송신 간격 0 ms(바로) / 10 ms / 100 ms(= 스캔 간격, 실시간) 선택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처리가 밀리면 기다림: 처리 안 된 메시지가 200개(LNK_MAX_AHEAD) 이상이면 최대 1 s 대기 — UDP 는 받는 쪽 버퍼가 차면 소리 없이 버리기 때문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마지막에 끝 메시지(0x50FF) 전송 후 소켓 닫음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44488" y="1280160"/>
            <a:ext cx="499856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73088" y="1389888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수신 쓰레드  f_Lnk_RxThread  (데이터 처리 역할)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73088" y="1847088"/>
            <a:ext cx="45413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UDP 소켓 bind (포트가 사용 중이면 빈 포트), 수신 버퍼 8 MB, 수신 대기 100 ms 제한으로 멈춤 신호를 놓치지 않음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받은 데이터그램마다 머리 검사(f_Lnk_CheckMsg): 크기 일치, MsgId, 스캔 번호 범위, PlotNum ≤ 64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스캔 번호가 건너뛰면 그만큼 손실(nLostNum)로 셈 — 끝 메시지를 잃어도 송신 종료 후 1 s 동안 아무것도 안 오면 종료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f_Lnk_ProcessMsg: 좌표 변환 → 측정 공분산 → 플랫폼 이동 보정 → f_Trk_ProcessScan → 결과(트랙 요약 · 플롯 · 처리 기록) 쌓기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UI 는 50 ms 타이머로 f_Lnk_GetStatus / f_Lnk_CopyScan 을 불러 새 스캔을 가져가 그림 · 표를 갱신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38648" y="2560320"/>
            <a:ext cx="914400" cy="914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547208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플롯 메시지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(스캔마다 1개)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5638648" y="3931920"/>
            <a:ext cx="9144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547208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처리 수 확인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(흐름 제어)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949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  <a:gridCol w="2956255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ST_LnkStatus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실행 (1160 스캔)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nSentNum / nRecvNum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보낸 메시지 수 / 받은 플롯 메시지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1160 / 1160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nLostNum / nBadNum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번호가 건너뛴 수 (UDP 손실) / 머리 검사에 걸린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nProcNum, sentBytes, recvBytes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처리를 마친 스캔 수, 송수신 바이트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1160, 1,066,040 B (≈ 1.0 MB)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수신 쪽 처리 — 좌표 변환 · 공분산 · 플랫폼 이동 보정 (f_Lnk_ProcessMsg)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구현  ·  송수신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안테나 구좌표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1837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Range_Ant, Azimuth_Ant,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Elevation_Ant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(메시지에 실려 온 값)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263140"/>
            <a:ext cx="1652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7894" y="13716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7622" y="14630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안테나 직교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17622" y="1874520"/>
            <a:ext cx="1837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f_Trans_Ant_Sph_To_XYZ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x = r cos(el) sin(az)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y = r sin(el)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z = r cos(el) cos(az)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83582" y="2263140"/>
            <a:ext cx="1652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67148" y="13716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6876" y="14630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동체 좌표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76876" y="1874520"/>
            <a:ext cx="1837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f_Trans_Ant_To_Body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안테나 기울기 22°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(AntTiltAngle) 회전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42836" y="2263140"/>
            <a:ext cx="1652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26401" y="13716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6129" y="14630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VC-NED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36129" y="1874520"/>
            <a:ext cx="1837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f_Trans_Body_To_Ned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플랫폼 Roll · Yaw · Pitch 로 회전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북 · 동 · 아래 [m]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02089" y="2263140"/>
            <a:ext cx="165278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85655" y="13716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5383" y="14630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트랙 개시 입력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95383" y="1874520"/>
            <a:ext cx="1837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ST_TrkPlot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PlotId, time, pos[3],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cov[3][3] (f_Trk_MeasCov)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91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측정 공분산 R 도 같은 경로를 따라감:  R_ant = J · diag(σ²) · Jᵀ   →   R_ned = M · R_ant · Mᵀ  (M = 안테나 → 동체 → NED 회전)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41004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044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VC-NED 가 무엇인가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224528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그 스캔 시각의 레이다(플랫폼) 위치를 원점으로 하는 북 · 동 · 아래 직교 좌표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트랙의 상태 변수 mat_EstX 는 이 좌표계로 표현. 거리는 m, 북이 x, 동이 y, 아래가 z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화면에 그릴 때는 "플랫폼 시작 위치 기준 동 · 북 · 위" 로 한 번 더 바꿈 (f_ToPoint)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3008" y="379476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61608" y="39044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플랫폼 이동 보정 (f_Trk_MoveOrigin)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61608" y="4224528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VC-NED 원점은 플랫폼을 따라 움직이므로, 플랫폼이 움직이면 앞 스캔의 플롯 · 트랙 위치를 이번 스캔 원점 기준으로 옮겨야 두 플롯의 차가 "표적 속도" 가 됨 (상대 속도가 아니라)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shift = 앞 스캔 플랫폼 ECEF 위치를 이번 스캔 VC-NED 로 변환한 값. 이번 시나리오는 플랫폼이 정지라 shift = 0 이지만, 움직이는 플랫폼에도 그대로 쓸 수 있게 넣어 둠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두 원점 사이 축 방향 차이(수십 m 이동이면 1e-5 rad 이하)는 무시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A580C"/>
                </a:solidFill>
              </a:rPr>
              <a:t>4</a:t>
            </a:r>
            <a:endParaRPr lang="en-US" sz="6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시뮬레이션 방법 및 결과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시나리오 · 화면 구성 · 2D / 3D 결과 · 트랙 표 · 트랙 통계와 해석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결과 수치와 그림은 TargetSimCore 의 트랙 처리 코드를 1160 스캔 전체에 대해 그대로 실행해 얻은 값을 UI 와 같은 기호로 그린 것입니다.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시뮬레이션 시나리오 — 고정 조건 (Scenario.cpp)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조건</a:t>
            </a:r>
            <a:endParaRPr lang="en-US" sz="1100" dirty="0"/>
          </a:p>
        </p:txBody>
      </p:sp>
      <p:pic>
        <p:nvPicPr>
          <p:cNvPr id="4" name="Image 0" descr="/home/claude/work/sim/figs/fig_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384048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1280160"/>
          <a:ext cx="318485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8757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(레이다)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32°N 126°E, 고도 0, 정지. 안테나 정면 북쪽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1 (대함)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32.125°N 126.03°E, 30 m/s, 서쪽으로 출발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Yaw 1 G 선회 45° × 4회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2 (대공)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32.12°N 126.0°E, 고도 2,000 m, 200 m/s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남쪽으로 출발, Yaw 4 G 선회 90° × 6회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/ 간격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 s / 0.1 s  →  1160 스캔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20 (선형), 대역폭 5 MHz, 빔폭 5.14° / 5.31°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σ_r 4.7 m, σ_az 0.48°, σ_el 0.49°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스캔당 5개, 거리 0.2 ~ 15 km, 방위 ±60°, 고각 0 ~ 30° 균등분포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 12345 (같은 조건이면 같은 결과)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035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376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왜 이 시나리오인가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65099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Part 3 의 "지그재그 기동" 시나리오를 그대로 가져오고 대공 표적 고도만 300 m → 2,000 m 로 올려 3D 에서 두 표적의 고도가 갈려 보이게 했다. 느린 원거리 표적(14 km, 30 m/s)과 빠른 기동 표적(4 ~ 13 km, 200 m/s)이 함께 있어, 같은 게이트(800 m/s)가 거리에 따라 어떻게 다르게 작동하는지 비교할 수 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결과 화면 구성과 심볼 — True · Plot · Track 을 한 화면에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76072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760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</a:rPr>
              <a:t>응용 시나리오 (원본 크기, 대공 표적 고도 2,000 m) · 시간 116 s, 간격 0.1 s · SNR 20, 스캔당 클러터 5 · 조건 고정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5541264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3080"/>
            <a:ext cx="5358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chemeClr val="tx1"/>
                </a:solidFill>
              </a:rPr>
              <a:t>스캔 701 (0 ~ 1159)  70.1 s   ━━━━━●━━━━   ☑참값 ☑플롯 ☑클러터 ☑트랙   [2D + 3D ▾]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2057400"/>
            <a:ext cx="2633472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57400"/>
            <a:ext cx="2633472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603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2D 평면 (위경도 격자)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휠 확대 · 끌어서 이동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3D 공간 (동 · 북 · 위)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끌어서 회전, 고도 1 ~ 5배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58184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chemeClr val="tx1"/>
                </a:solidFill>
              </a:rPr>
              <a:t>트랙 카드   [스코어 확인]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chemeClr val="tx1"/>
                </a:solidFill>
              </a:rPr>
              <a:t>송신 간격 [0 ms ▾] [다시 보내기]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chemeClr val="tx1"/>
                </a:solidFill>
              </a:rPr>
              <a:t>송수신 · 누적 트랙 · 지금 스캔 · 조건 요약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52928" y="3703320"/>
            <a:ext cx="3346704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375818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chemeClr val="tx1"/>
                </a:solidFill>
              </a:rPr>
              <a:t>트랙 표 · 스캔 701, 4개 (임시 2, 확정 0, 메모리 0, 삭제 2)     [CSV 저장]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chemeClr val="tx1"/>
                </a:solidFill>
              </a:rPr>
              <a:t>트랙 ID | TrackState | TrackScore | MemoryScore | Assigned_Flag | 개시 스캔 | 개시 플롯 | 참값 | 북 동 아래 | 속도 | σ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주 화면 배치 (TargetSimUIDlg)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280160"/>
            <a:ext cx="5059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위: 그림 카드 — 2D 평면과 3D 공간을 나란히(또는 하나만). 스캔 슬라이더로 어느 스캔이든 되돌려 볼 수 있고, 참값 · 플롯 · 클러터 · 트랙 표시를 각각 켜고 끔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왼쪽 아래: 트랙 카드 — UDP 송수신 상태(보냄 · 받음 · 손실), 누적 생성 · 삭제, 지금 스캔의 처리 기록(후보 · 쌍 · 게이트 통과 · 생성), 과제 조건 값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오른쪽 아래: 트랙 표 — 지금 스캔의 트랙 전부. 과제 변수 이름(TrackState, TrackScore, MemoryScore, Assigned_Flag) 그대로. 전체 스캔을 CSV 로 저장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송신 간격 100 ms 를 고르면 스캔 간격과 같은 실시간으로 트랙이 생기고 지워지는 모습을 따라 볼 수 있음</a:t>
            </a:r>
            <a:endParaRPr lang="en-US" sz="1150" dirty="0"/>
          </a:p>
        </p:txBody>
      </p:sp>
      <p:pic>
        <p:nvPicPr>
          <p:cNvPr id="19" name="Image 0" descr="/home/claude/work/sim/figs/fig_symb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57800"/>
            <a:ext cx="11094415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결과 ①  2D 평면 — 스캔 701 (70.1 s) 의 True · Plot · Track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결과 화면</a:t>
            </a:r>
            <a:endParaRPr lang="en-US" sz="1100" dirty="0"/>
          </a:p>
        </p:txBody>
      </p:sp>
      <p:pic>
        <p:nvPicPr>
          <p:cNvPr id="4" name="Image 0" descr="/home/claude/work/sim/figs/fig_result_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1672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705856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왼쪽: 플랫폼(▲) 기준 전체 평면. 옅은 점은 지금까지의 플롯 · 클러터, 큰 점은 지금 스캔. 표적 1 (파란 궤적, 14 km) 과 표적 2 (빨간 궤적) 각각에 임시 트랙 284 · 285 가 막 생겼고, 두 스캔 전에 생긴 282 · 283 은 삭제 상태.   오른쪽: 표적 2 주변 2.4 km 확대 — 트랙 사각형(상태 색), 1 s 속도선, ID, 위치 오차 1σ 타원.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결과 ②  3D 공간 — 같은 스캔 701, 고도까지 함께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결과 화면</a:t>
            </a:r>
            <a:endParaRPr lang="en-US" sz="1100" dirty="0"/>
          </a:p>
        </p:txBody>
      </p:sp>
      <p:pic>
        <p:nvPicPr>
          <p:cNvPr id="4" name="Image 0" descr="/home/claude/work/sim/figs/fig_result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3870655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37160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지금 스캔 (701) 의 처리 기록 — 트랙 카드 "지금 스캔"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737360"/>
          <a:ext cx="35048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188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플롯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 (표적 2, 클러터 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개시 후보 (앞 스캔에서 안 쓴 플롯)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검사한 쌍 / 게이트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 /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생성 / 확정 / 메모리 / 삭제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0 / 0 /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뒤 트랙 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(임시 2, 삭제 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772400" y="3794760"/>
            <a:ext cx="3870655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55280" y="388620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3D 에서 보이는 것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4206240"/>
            <a:ext cx="35048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표적 2 (빨강) 는 고도 2 km 를 유지하며 지그재그, 표적 1 (파랑) 은 해수면. 바닥의 옅은 선은 궤적 그림자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클러터는 고각 0 ~ 30° 로 뽑히므로 공간에 흩어진 회색 점으로 나타남 — 2D 에서는 모두 바닥에 겹쳐 보이던 것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트랙 285 의 속도선이 참 궤적과 다른 방향을 가리킴 — 2-Point 속도 오차가 크다는 것을 그림으로도 알 수 있음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UI 에서는 끌어서 회전, 휠로 확대, 두 번 클릭으로 처음 보기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943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고도 축은 바닥 폭에 맞춰 늘려 그렸다 (UI 의 3D 그림과 같은 방식). 2D · 3D 모두 같은 기호와 색을 쓴다.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결과 ③  트랙 표 — 스캔 701 의 네 트랙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결과 화면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868680"/>
                <a:gridCol w="914400"/>
                <a:gridCol w="1005840"/>
                <a:gridCol w="1051560"/>
                <a:gridCol w="685800"/>
                <a:gridCol w="1188720"/>
                <a:gridCol w="594360"/>
                <a:gridCol w="713232"/>
                <a:gridCol w="713232"/>
                <a:gridCol w="713232"/>
                <a:gridCol w="777240"/>
                <a:gridCol w="640080"/>
                <a:gridCol w="63093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TrackState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Assigned_Flag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개시 스캔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개시 플롯 (앞 / 이번)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[m]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[m]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[m]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속력 [m/s]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σ위치 [m]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σ속도 [m/s]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삭제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14887 / 14896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13582.7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855.4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297.6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163.3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2309.8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삭제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14888 / 14898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8310.7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−2281.2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−1997.7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745.3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104.9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1483.1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임시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14901 / 14908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13572.8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−15.2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573.2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163.3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2308.7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임시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14904 / 14913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8296.7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−2252.7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−2039.5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724.1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104.7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1482.1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351525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3721608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읽는 법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4069080"/>
            <a:ext cx="311292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한 줄 = 트랙 하나. 위치 · 속도는 그 스캔 레이다 기준 VC-NED 의 mat_EstX, σ 는 mat_EstP 대각의 제곱근을 세 축으로 묶은 값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"참값" 열은 개시에 쓴 두 플롯이 어느 표적(또는 클러터)이었는지를 송신 쪽 기록으로 거슬러 간 것 — 데이터 처리에는 쓰지 않는 확인용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개시 스캔 701 인 284 · 285 는 TrackScore 2 로 막 시작, 699 에 생긴 282 · 283 은 2 → 1 → 0 으로 내려와 삭제 상태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38218" y="3611880"/>
            <a:ext cx="351525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39386" y="3721608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</a:rPr>
              <a:t>눈에 띄는 숫자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39386" y="4069080"/>
            <a:ext cx="311292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σ속도가 1,480 ~ 2,310 m/s — 2-Point 속도의 이론 오차 √2·σ/T 와 같은 수준. 추정 속력 573 · 724 m/s 도 실제(30, 200 m/s)와 크게 다름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σ위치는 표적 1 이 163 m, 표적 2 가 105 m — 거리가 먼 표적 1 의 각도 오차가 더 큰 위치 오차로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Assigned_Flag 는 과제 조건대로 모두 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27797" y="3611880"/>
            <a:ext cx="351525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8965" y="3721608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CSV 저장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328965" y="4069080"/>
            <a:ext cx="311292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"CSV 저장" 은 받은 전체 스캔의 트랙을 한 줄 = 스캔 하나의 트랙 하나로 내보냄 (scan, time_s, track_id, track_state, …, pos_std_m, vel_std_mps)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상태 · 참값은 숫자로 (1 ~ 4, 표적 k / 0 클러터 / −1 섞임) 써서 다른 도구에서 바로 집계할 수 있게 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트랙의 일생 — 연관이 없으면 세 스캔 만에 사라진다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트랙 관리 동작</a:t>
            </a:r>
            <a:endParaRPr lang="en-US" sz="1100" dirty="0"/>
          </a:p>
        </p:txBody>
      </p:sp>
      <p:pic>
        <p:nvPicPr>
          <p:cNvPr id="4" name="Image 0" descr="/home/claude/work/sim/figs/fig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943600" cy="2487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188720"/>
            <a:ext cx="4876495" cy="2395728"/>
          </a:xfrm>
          <a:prstGeom prst="roundRect">
            <a:avLst>
              <a:gd name="adj" fmla="val 305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28016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과제 조건이 만든 결과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600200"/>
            <a:ext cx="45107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추적 필터 · 트랙 연관이 아직 없으므로 "생성된 트랙은 매 스캔 트랙 연관 상태(Assigned_Flag)를 실패(0)로 부여" — 과제 명세 그대로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그래서 어떤 트랙도 확정에 이르지 못하고 개시 2 → 1 → 0 → 삭제. 표에는 세 스캔(0.3 s) 머묾</a:t>
            </a:r>
            <a:endParaRPr lang="en-US" sz="10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트랙 표에 동시에 있는 트랙은 최대 4개 (임시 2 + 삭제 2). 트랙 ID 는 100 부터 354 까지 355개가 차례로 쓰였고 되돌아가지 않음</a:t>
            </a:r>
            <a:endParaRPr lang="en-US" sz="1050" dirty="0"/>
          </a:p>
        </p:txBody>
      </p:sp>
      <p:pic>
        <p:nvPicPr>
          <p:cNvPr id="8" name="Image 1" descr="/home/claude/work/sim/figs/fig_track_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8778240" cy="2587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09760" y="3840480"/>
            <a:ext cx="2133295" cy="2331720"/>
          </a:xfrm>
          <a:prstGeom prst="roundRect">
            <a:avLst>
              <a:gd name="adj" fmla="val 342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926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그래프 읽기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692640" y="4251960"/>
            <a:ext cx="176753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왼쪽: 처음 16 s. 막대 하나 = 스캔 하나(0.1 s). 주황 2칸 + 회색 1칸이 트랙 하나의 일생</a:t>
            </a:r>
            <a:endParaRPr lang="en-US" sz="10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오른쪽: 생성 · 삭제 누적이 거의 겹쳐 올라감 = 생기는 족족 세 스캔 뒤 지워짐</a:t>
            </a:r>
            <a:endParaRPr lang="en-US" sz="10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트랙이 생기는 간격이 고르지 않은 이유는 다음 두 쪽에서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전체 통계 — 1160 스캔을 다 돌린 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통계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7257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1,160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스캔 (116 s)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메시지 1,160개 보냄 · 받음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손실 0, 잘못된 메시지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4099" y="1280160"/>
            <a:ext cx="207257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6979" y="1389888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8,120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86979" y="2057400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플롯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86979" y="237744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표적 2,320 + 클러터 5,800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스캔당 7개, 919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9558" y="1280160"/>
            <a:ext cx="207257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2438" y="1389888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54,306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242438" y="2057400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검사한 플롯 쌍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42438" y="237744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스캔당 평균 47쌍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(앞 스캔 후보 × 이번 플롯)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017" y="1280160"/>
            <a:ext cx="207257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7897" y="1389888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355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97897" y="2057400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게이트 통과 = 트랙 생성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7897" y="237744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전체 쌍의 0.65 %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트랙이 생긴 스캔 325개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0476" y="1280160"/>
            <a:ext cx="207257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53356" y="1389888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353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753356" y="2057400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삭제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53356" y="237744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모두 2 → 1 → 0 경로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마지막 2개는 임시 상태로 종료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3337560"/>
          <a:ext cx="58521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720840" y="3337560"/>
            <a:ext cx="4922215" cy="2880360"/>
          </a:xfrm>
          <a:prstGeom prst="roundRect">
            <a:avLst>
              <a:gd name="adj" fmla="val 254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22008" y="3447288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숫자가 말해 주는 것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922008" y="3794760"/>
            <a:ext cx="45198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표적 2 (가깝고 빠름) 가 표적 1 (멀고 느림) 보다 두 배 자주 트랙이 됨 — 속도가 아니라 "거리 = 측정 오차" 가 가른 차이 (다음 쪽)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클러터끼리 트랙이 된 경우는 3건뿐 — 80 m 게이트가 허위 트랙을 효과적으로 걸러 냄. 클러터 5개가 15 km 부채꼴에 흩어지므로 우연히 80 m 안에 들 확률이 매우 낮음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표적 플롯과 클러터가 섞인 쌍("섞임")은 0건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트랙 표 256칸이 찬 적 없음 (nTableFullSum 0), ID 중복 없음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해석 — 왜 진짜 표적인데도 트랙이 드문드문 생기나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 시뮬레이션  ·  해석</a:t>
            </a:r>
            <a:endParaRPr lang="en-US" sz="1100" dirty="0"/>
          </a:p>
        </p:txBody>
      </p:sp>
      <p:pic>
        <p:nvPicPr>
          <p:cNvPr id="4" name="Image 0" descr="/home/claude/work/sim/figs/fig_pair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1672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10048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513832"/>
            <a:ext cx="500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원인:  각도 오차 0.48° × 거리 14 km ≈ 118 m 의 위치 오차  →  두 플롯의 차를 0.1 s 로 나누면 √2 × 118 / 0.1 ≈ 1,670 m/s 의 속도 오차. 실제 속력 30 m/s 는 이 잡음에 묻혀 대부분의 쌍이 V_max 800 m/s 를 넘는다 (표적 1 통과 12 %, 표적 2 는 더 가까워 27 %).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33008" y="5440680"/>
            <a:ext cx="5410048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4176" y="5513832"/>
            <a:ext cx="500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시사점:  2-Point 개시의 속도는 "스캔 간격이 짧고 거리가 멀수록" 거칠다. 속도 게이트에 측정 오차를 반영하거나(예: V_max·ΔT + k·σ), 몇 스캔 떨어진 플롯과 짝짓거나, 개시 후 추적 필터로 다듬는 보완이 다음 단계에서 필요하다. 이번 과제의 800 m/s 조건은 그대로 두고 그 동작을 확인한 것.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정리 — 과제 요구사항과 구현 대응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정리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68777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요구사항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위치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방법 / 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상태 변수 X = [x x' x'' y y' y'' z z' z'']ᵀ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TrackMgr.h  TRK_STATE_DIM 9, mat_EstX 9×1, mat_EstP 9×9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표 · CSV 의 위치 · 속도 · σ 열이 상태 변수에서 나옴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Point 트랙 초기화, 속도 게이팅 V_max = 800 m/s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TrackMgr.c  f_Trk_ProcessScan ③, f_Trk_PairSpeed, TRK_VMAX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54,306쌍 중 355쌍 통과, 통과한 쌍만 트랙 생성 (지금 스캔 기록으로 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상태변수 · 오차 공분산의 가속도 항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TrackMgr.c  f_Trk_TwoPointInit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mat_EstX 의 x'', y'', z'' 와 mat_EstP 의 해당 행 · 열 0 (16쪽 구조)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생성 후 트랙 ID 부여 (100 ~ 10000)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TrackMgr.c  f_Trk_NewId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~ 354 사용, 표에 있는 ID 는 건너뜀, 중복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관리: 확정 5, 임시 삭제 0, 메모리 삭제 5, 메모리 → 연관 시 바로 확정 (메모리 스코어 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TrackMgr.c  f_Trk_UpdateState, TRK_SCORE_*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스코어 확인 창(ScoreDlg)으로 네 가지 Flag 순서 검증, 시뮬레이션에서는 2 → 1 → 0 삭제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TrackScore · MemoryScore · TrackState(1 ~ 4) 변수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ST_Track, ST_TrkView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트랙 표 열 이름 그대로, CSV 숫자로 저장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플롯 수신 쓰레드에 안테나 구좌표 플롯 메시지(STRUCT_PlotMsg) 전송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Idd.h  STRUCT_PlotMsg,  PlotLink.c  f_Lnk_BuildMsg / f_Lnk_TxThread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Range/Azimuth/Elevation_Ant 만 채워 919 B 메시지 1160개 전송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플롯 + 클러터 포함, 매 스캔 플롯 ID 부여 (10000 ~ 1000000)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PlotLink.c  f_Lnk_BuildMsg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스캔당 7개, ID 10000 ~ 18119, 송신 쪽 기록으로 참값 역추적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UDP 또는 TCP/IP 방식 전송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PlotLink.c  Winsock2 UDP, 127.0.0.1:50505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보냄 1160 · 받음 1160 · 손실 0, 흐름 제어 · 손실 감지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 · 필터가 없으므로 Assigned_Flag 를 매 스캔 실패(0)로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TrackMgr.c  f_Trk_ProcessScan 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트랙 Flag 0 → 확정 · 메모리 상태는 스코어 확인 창으로만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화면에 True, Plot, Track 심볼 동시 표현 (3D, 2D)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TrajectoryPlot.cpp  CTrajectoryPlot, CTrackView3D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2D 평면 + 3D 공간, 상태 색 사각형 + 속도선 + ID, 표시 켜고 끄기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다음 단계 — 이 위에 무엇이 올라가나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정리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트랙 연관 (Association)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트랙의 예측 위치 주변 게이트 안에 들어온 플롯을 트랙에 할당. 여러 트랙 · 여러 플롯이 겹칠 때 누구에게 줄지 정하는 할당 문제.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→ Assigned_Flag 가 실제로 1 이 되기 시작하고, 확정 · 메모리 상태가 시뮬레이션에서 나타남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37160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추적 필터 (Kalman Filter)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1031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9개 상태 변수(위치 · 속도 · 가속도)를 매 스캔 예측하고 플롯으로 갱신. 2-Point 로 거칠게 잡은 속도가 스캔을 거듭하며 다듬어짐.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6576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→ mat_EstX, mat_EstP 가 이미 9×1, 9×9 로 준비되어 있어 그대로 이어 쓸 수 있음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37160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6397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게이트 · 문턱치 조정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21031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측정 오차를 반영한 속도 게이트, 거리에 따라 다른 V_max, 확정 · 삭제 문턱치 튜닝. 이번 결과(통과 12 % / 27 %)가 그 출발점.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36576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→ 스코어 확인 창과 CSV 로 조건을 바꿔 가며 비교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한 줄 정리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연속 두 스캔의 플롯 쌍을 속도 게이트(800 m/s)로 걸러 9개 상태 변수의 트랙을 만들고, 트랙 스코어(확정 5 · 삭제 0 · 메모리 삭제 5)로 상태를 관리하는 기능을 TargetSimCore 에 넣었다. 플롯은 UDP 메시지로 신호처리 → 데이터 처리 쓰레드로 흐르고, 결과는 2D · 3D 화면과 트랙 표 · CSV 로 확인했다. 연관이 없는 지금은 모든 트랙이 세 스캔 뒤 삭제되며, 2-Point 속도 오차가 큰 원인(거리 × 각도 오차)도 수치로 확인했다.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rgetSim Part5">
  <a:themeElements>
    <a:clrScheme name="TargetSim Part5">
      <a:dk1>
        <a:srgbClr val="1F2937"/>
      </a:dk1>
      <a:lt1>
        <a:srgbClr val="FFFFFF"/>
      </a:lt1>
      <a:dk2>
        <a:srgbClr val="14213D"/>
      </a:dk2>
      <a:lt2>
        <a:srgbClr val="F3F4F6"/>
      </a:lt2>
      <a:accent1>
        <a:srgbClr val="EA580C"/>
      </a:accent1>
      <a:accent2>
        <a:srgbClr val="16A34A"/>
      </a:accent2>
      <a:accent3>
        <a:srgbClr val="9333EA"/>
      </a:accent3>
      <a:accent4>
        <a:srgbClr val="6B7280"/>
      </a:accent4>
      <a:accent5>
        <a:srgbClr val="2563EB"/>
      </a:accent5>
      <a:accent6>
        <a:srgbClr val="DC2626"/>
      </a:accent6>
      <a:hlink>
        <a:srgbClr val="2563EB"/>
      </a:hlink>
      <a:folHlink>
        <a:srgbClr val="9333EA"/>
      </a:folHlink>
    </a:clrScheme>
    <a:fontScheme name="TargetSim Part5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트랙 개시 및 관리 기능 구현</dc:title>
  <dc:subject>PptxGenJS Presentation</dc:subject>
  <dc:creator>TargetSim Part 5</dc:creator>
  <cp:lastModifiedBy>TargetSim Part 5</cp:lastModifiedBy>
  <cp:revision>1</cp:revision>
  <dcterms:created xsi:type="dcterms:W3CDTF">2026-10-20T18:13:24Z</dcterms:created>
  <dcterms:modified xsi:type="dcterms:W3CDTF">2026-10-20T18:13:24Z</dcterms:modified>
</cp:coreProperties>
</file>