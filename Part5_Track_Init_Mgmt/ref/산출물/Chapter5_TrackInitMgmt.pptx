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 · 약 25초]</a:t>
            </a:r>
          </a:p>
          <a:p>
            <a:r>
              <a:t>안녕하세요. 오늘은 트랙 개시와 트랙 관리에 대해 이야기해 보겠습니다.</a:t>
            </a:r>
          </a:p>
          <a:p/>
          <a:p>
            <a:r>
              <a:t>지난 과제에서는 표적 참값에 잡음을 더해 플롯을 만들고 클러터도 같이 만들어 봤는데요. 이번에는 그 플롯을 데이터 처리 쪽으로 보내서, 같은 표적에서 나온 것 같은 플롯 두 개를 이어 트랙을 시작하고, 그렇게 만든 트랙을 점수로 관리하는 부분까지 만들어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 · 약 30초]</a:t>
            </a:r>
          </a:p>
          <a:p>
            <a:r>
              <a:t>먼저 이번 과제가 무엇을 요구하는지 한 장으로 정리하고 시작하겠습니다.</a:t>
            </a:r>
          </a:p>
          <a:p/>
          <a:p>
            <a:r>
              <a:t>그다음 트랙 개시에서는 플롯 한 개로 시작하는 방법과 두 개로 시작하는 방법을 비교하고, 이번에 쓴 2-Point 개시의 계산과 속도 게이트를 보겠습니다. 이어서 트랙 관리에서는 트랙이 어떤 상태를 거치는지 보고, M/N 방식과 트랙 스코어 방식을 비교해 보겠습니다.</a:t>
            </a:r>
          </a:p>
          <a:p/>
          <a:p>
            <a:r>
              <a:t>그 뒤에 이 내용을 코드로 어떻게 구현했는지 보고, 마지막으로 실제 프로그램을 돌린 결과를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개요 · 약 60초]</a:t>
            </a:r>
          </a:p>
          <a:p>
            <a:r>
              <a:t>이번 과제는 크게 세 가지입니다. 왼쪽을 보시면, 첫째는 트랙 개시입니다. 연속된 두 스캔에서 들어온 플롯 두 개를 이어서 트랙을 처음 만드는 건데, 두 플롯이 같은 표적인지 거르기 위해 속도 게이트 800 m/s 를 씁니다. 둘째는 트랙 관리입니다. 만든 트랙마다 점수를 매겨서 확정할지, 잠시 기다릴지, 지울지를 정합니다. 셋째는 시뮬레이션입니다. 플롯을 메시지로 만들어 UDP 로 보내고 받는 구조를 만들고, 결과를 2D 와 3D 화면에 참값, 플롯, 트랙을 함께 그렸습니다.</a:t>
            </a:r>
          </a:p>
          <a:p/>
          <a:p>
            <a:r>
              <a:t>오른쪽 표는 과제 문서의 요구사항을 하나씩 적고, 그걸 어느 함수에서 구현했는지, 이 자료의 어느 장에서 설명하는지 적어 둔 것입니다. 발표 중에 "이건 과제의 어느 조건이지?" 싶으시면 이 표를 참고해 주시면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15초]</a:t>
            </a:r>
          </a:p>
          <a:p>
            <a:r>
              <a:t>첫 번째로 트랙 개시입니다. 트랙이 무엇인지부터 짚고, 1-Point 와 2-Point 개시, 2-Point 의 계산, 속도 게이트, 그리고 측정 오차를 트랙 좌표계로 옮기는 부분 순서로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60초]</a:t>
            </a:r>
          </a:p>
          <a:p>
            <a:r>
              <a:t>먼저 이번 과제가 전체 흐름에서 어디쯤인지부터 보겠습니다. 위쪽을 보면, 과제 3 에서 표적이 실제로 움직인 궤적을 만들었고, 과제 4 에서 그 궤적을 레이다가 잰 것처럼 플롯과 클러터로 바꿨습니다. 이번 과제 5 는 그 플롯을 받아서 트랙을 시작하고 관리하는 부분이고, 트랙에 다음 플롯을 이어 붙이는 연관과 추적 필터는 다음 과제에서 다룹니다.</a:t>
            </a:r>
          </a:p>
          <a:p/>
          <a:p>
            <a:r>
              <a:t>아래 그림을 보시면 레이다는 0.1 초마다 한 번씩 전체를 훑는데, 이걸 스캔이라고 부릅니다. 스캔마다 플롯이 여러 개 들어오는데, 이 중에는 진짜 표적 플롯도 있고 클러터도 섞여 있습니다. 레이다 입장에서는 둘 다 그냥 점입니다. 여기서 같은 표적에서 나온 점을 시간 순서대로 이어서 표적의 위치와 속도를 추정한 것을 트랙이라고 합니다. 트랙을 처음 만드는 것을 트랙 개시, 만든 트랙이 진짜 표적인지 판단해서 확정하거나 지우는 것을 트랙 관리라고 부릅니다.</a:t>
            </a:r>
          </a:p>
          <a:p/>
          <a:p>
            <a:r>
              <a:t>오른쪽에는 오늘 계속 나올 용어 다섯 개를 정리해 두었으니 참고해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60초]</a:t>
            </a:r>
          </a:p>
          <a:p>
            <a:r>
              <a:t>트랙을 시작하는 방법은 크게 두 가지가 있습니다.</a:t>
            </a:r>
          </a:p>
          <a:p/>
          <a:p>
            <a:r>
              <a:t>왼쪽의 1-Point 개시는 플롯 하나만 가지고 바로 트랙을 만드는 방법이에요. 위치는 플롯 위치를 그대로 쓰면 되는데 문제는 속도입니다. 점 하나만 봐서는 표적이 어느 쪽으로 가는지 알 수가 없거든요. 그래서 속도는 0 으로 두고 오차를 크게 잡습니다. 빨리 시작할 수 있는 대신 초기 속도 오차가 크다는 게 단점입니다.</a:t>
            </a:r>
          </a:p>
          <a:p/>
          <a:p>
            <a:r>
              <a:t>오른쪽의 2-Point 개시는 연속된 두 스캔, 또는 두 드웰에서 받은 플롯을 씁니다. 두 플롯 사이의 위치 변화를 시간으로 나누면 속도가 나오니까 속도 오차를 줄일 수 있습니다. 대신 플롯이 두 번 들어올 때까지 기다려야 해서 개시가 한 스캔 늦어집니다. 오른쪽 표에 두 방식의 차이를 정리해 두었습니다.</a:t>
            </a:r>
          </a:p>
          <a:p/>
          <a:p>
            <a:r>
              <a:t>이번 과제는 과제 조건대로 2-Point 개시를 적용했고, 두 플롯이 정말 같은 표적인지는 점선 원으로 그린 속도 게이트로 먼저 걸러 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75초]</a:t>
            </a:r>
          </a:p>
          <a:p>
            <a:r>
              <a:t>2-Point 로 만든 트랙이 어떤 값을 갖는지 숫자로 따라가 보겠습니다.</a:t>
            </a:r>
          </a:p>
          <a:p/>
          <a:p>
            <a:r>
              <a:t>1 번 상태변수부터 보면, x 축에서 앞 스캔 플롯이 5,000 m, 이번 스캔 플롯이 5,030 m 이고 스캔 간격이 0.1 초라고 해 볼게요. 위치는 이번 플롯 그대로 5,030 m, 속도는 30 m 를 0.1 초로 나눈 300 m/s, 가속도는 과제 조건대로 0 입니다. y, z 축도 같은 식이라 모두 9 개 값이 나옵니다.</a:t>
            </a:r>
          </a:p>
          <a:p/>
          <a:p>
            <a:r>
              <a:t>2 번 오차 공분산 P 는 이 값들이 얼마나 틀릴 수 있는지를 적은 표인데요, 플롯 오차가 ±10 m 라고 해 보겠습니다. 위치는 이번 플롯 오차가 그대로 들어가니까 분산이 10 의 제곱인 100 입니다. 속도는 두 플롯 차를 0.1 초로 나눈 값이라 두 오차가 더해져서 200 이 되고, 0.1 의 제곱으로 나누면 20,000, 표준편차로는 ±141 m/s 입니다. 위치와 속도에는 둘 다 이번 플롯 오차가 들어 있어서 같이 움직이고, 그 값이 1,000 입니다.</a:t>
            </a:r>
          </a:p>
          <a:p/>
          <a:p>
            <a:r>
              <a:t>3 번 9 x 9 전체는 이 3 x 3 블록이 축마다 대각선에 하나씩 놓인 모양입니다. 위치 오차 10 m 가 속도에서는 141 m/s 로 커진다는 점은 결과에서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75초]</a:t>
            </a:r>
          </a:p>
          <a:p>
            <a:r>
              <a:t>이제 속도 게이트입니다. 앞 스캔 플롯과 이번 스캔 플롯이 같은 표적에서 나왔는지 어떻게 알 수 있을까요? 생각보다 간단한데요, 표적이 아무리 빨라도 한 스캔 동안 갈 수 있는 거리는 정해져 있습니다. 그래서 두 플롯 사이 거리를 스캔 간격으로 나눈 속력이 최대 속력 V_max 보다 작으면 같은 표적일 수 있다고 봅니다. 과제 값이 800 m/s 이고 스캔 간격이 0.1 초니까, 앞 플롯에서 반경 80 m 안에 들어와야 통과입니다.</a:t>
            </a:r>
          </a:p>
          <a:p/>
          <a:p>
            <a:r>
              <a:t>왼쪽 그림을 보면 A 와 1 은 600 m/s 라서 통과, A 와 2 는 1,346 m/s 라서 탈락입니다. 한 플롯이 여러 쌍에 걸릴 수도 있어서, 통과한 쌍 중에 속력이 가장 작은 쌍부터 하나씩 고르고 한 번 쓴 플롯은 다시 쓰지 않습니다.</a:t>
            </a:r>
          </a:p>
          <a:p/>
          <a:p>
            <a:r>
              <a:t>오른쪽은 거리별로 같은 표적의 두 플롯 차이를 파란 타원으로, 게이트를 빨간 원으로 겹쳐 그린 그림입니다. 각도 오차에 거리를 곱한 만큼이 가로 방향 위치 오차가 되니까, 멀수록 타원이 옆으로 길어집니다. 5 km 에서는 타원이 게이트를 조금 넘는 정도라 열 번에 여섯 번쯤 통과하지만, 14 km 에서는 게이트보다 훨씬 길어서 진짜 표적 쌍인데도 열 번에 한 번 정도만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 약 70초]</a:t>
            </a:r>
          </a:p>
          <a:p>
            <a:r>
              <a:t>앞에서 R 이라고 부른 측정 오차를 어떻게 구하는지 보겠습니다. 플롯은 안테나 기준 거리, 방위각, 고각으로 들어오는데 트랙은 VC-NED 좌표계에서 만들기 때문에, 오차도 VC-NED 로 옮겨 줘야 합니다.</a:t>
            </a:r>
          </a:p>
          <a:p/>
          <a:p>
            <a:r>
              <a:t>VC-NED 는 플랫폼 무게중심이 원점이고 축이 북, 동, 아래로 고정된 좌표계입니다. 플랫폼 자세가 바뀌어도 축이 같이 돌지 않아서 트랙을 만들기에 편합니다.</a:t>
            </a:r>
          </a:p>
          <a:p/>
          <a:p>
            <a:r>
              <a:t>순서는 이렇습니다. 먼저 거리, 방위각, 고각의 표준편차를 야코비안 J 로 안테나 직교좌표의 오차로 바꾸고, 그다음 안테나에서 동체, 동체에서 VC-NED 로 가는 회전 M 을 앞뒤로 곱합니다.</a:t>
            </a:r>
          </a:p>
          <a:p/>
          <a:p>
            <a:r>
              <a:t>오른쪽 그림이 대함 표적인 표적 1 플롯의 실제 예입니다. 왼쪽 칸처럼 빔 기준으로 보면 거리 방향 오차는 4.7 m 로 얇고 옆으로는 118 m 로 넓어서, 기울지 않은 납작한 타원이고 R 도 대각선에만 값이 있습니다. 그런데 이 표적은 정북에서 동쪽으로 조금 벗어난 곳에 있어서, 같은 타원을 북 · 동 축으로 보면 오른쪽 칸처럼 비스듬해집니다. 그러면 두 축의 오차가 함께 움직여서 R 의 대각선 밖 칸에도 큰 값이 생깁니다. 이 R 이 1.3 의 오차 공분산에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15초]</a:t>
            </a:r>
          </a:p>
          <a:p>
            <a:r>
              <a:t>두 번째로 트랙 관리입니다. 트랙이 어떤 상태를 거치는지와 연관이 무엇인지 먼저 보고, M/N 방식과 이번에 쓴 트랙 스코어 방식, 그리고 점수가 실제로 어떻게 바뀌는지까지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55초]</a:t>
            </a:r>
          </a:p>
          <a:p>
            <a:r>
              <a:t>관리 방법을 보기 전에 용어 두 가지를 먼저 정리하고 가겠습니다.</a:t>
            </a:r>
          </a:p>
          <a:p/>
          <a:p>
            <a:r>
              <a:t>왼쪽은 연관입니다. 새 스캔이 들어오면 트랙이 있을 법한 자리 근처에 플롯이 들어왔는지 보는데요, 들어와서 그 플롯을 트랙에 이어 붙이면 연관 성공, 아무것도 들어오지 않으면 연관 실패입니다. 이 결과를 트랙마다, 스캔마다 1 과 0 으로 남긴 것이 Assigned_Flag 입니다. 연관 자체는 다음 과제 내용이라 이번에는 과제 조건대로 늘 0 으로 둡니다.</a:t>
            </a:r>
          </a:p>
          <a:p/>
          <a:p>
            <a:r>
              <a:t>오른쪽은 트랙 상태 네 가지입니다. 막 만든 트랙은 임시 트랙이에요. 클러터 두 개가 우연히 이어진 것일 수도 있으니까 아직 확인하는 중인 상태입니다. 연관이 계속 이어지면 진짜 표적으로 보고 확정 트랙이 됩니다. 확정 트랙이 플롯을 한두 번 놓쳤다고 바로 지우면 아까우니까, 메모리 트랙으로 두고 다시 잡히기를 기다립니다. 그래도 안 잡히거나 임시 트랙이 계속 실패하면 삭제 트랙이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45초]</a:t>
            </a:r>
          </a:p>
          <a:p>
            <a:r>
              <a:t>첫 번째 관리 방법은 M/N 방식입니다. 최근 N 번 중에 연관에 몇 번 성공했는지를 세는 방법이에요.</a:t>
            </a:r>
          </a:p>
          <a:p/>
          <a:p>
            <a:r>
              <a:t>위쪽 임시 트랙 예시는 M 이 3, N 이 5 입니다. 다섯 번 안에 세 번 성공하면 확정인데, 여기서는 네 번째 스캔에서 세 번째 성공이 나와서 그 자리에서 확정됩니다. 반대로 M 번 연속으로 실패하면 지웁니다.</a:t>
            </a:r>
          </a:p>
          <a:p/>
          <a:p>
            <a:r>
              <a:t>아래 확정 트랙은 연관에 실패하는 순간 메모리 트랙으로 바뀌고, 메모리 상태가 정해 둔 시간보다 길어지면 표적을 놓친 것으로 보고 지웁니다.</a:t>
            </a:r>
          </a:p>
          <a:p/>
          <a:p>
            <a:r>
              <a:t>횟수만 세면 되니까 단순하다는 게 장점인데, 최근 N 번의 성공, 실패 기록을 계속 들고 있어야 합니다. 이번 과제에서는 과제 조건대로 다음 장의 트랙 스코어 방식을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60초]</a:t>
            </a:r>
          </a:p>
          <a:p>
            <a:r>
              <a:t>이번 과제에서 쓴 트랙 스코어 방식입니다. 트랙마다 TrackScore 와 MemoryScore 두 점수를 들고 다니면서, 점수가 문턱을 넘으면 상태를 바꿉니다. 상태 번호는 과제에서 정한 대로 1 임시, 2 확정, 3 메모리, 4 삭제입니다.</a:t>
            </a:r>
          </a:p>
          <a:p/>
          <a:p>
            <a:r>
              <a:t>그림 왼쪽부터 보면, 임시 트랙은 연관에 성공하면 TrackScore 를 1 올리고 실패하면 1 내립니다. 그래서 5 이상이 되면 확정, 0 이하가 되면 삭제입니다.</a:t>
            </a:r>
          </a:p>
          <a:p/>
          <a:p>
            <a:r>
              <a:t>확정 트랙이 연관에 실패하면 메모리 트랙으로 바꾸고 MemoryScore 를 1 올립니다. 메모리 트랙이 다시 연관되면 바로 확정으로 돌아가면서 MemoryScore 를 0 으로 되돌리고, 계속 실패해서 MemoryScore 가 5 가 되면 삭제합니다.</a:t>
            </a:r>
          </a:p>
          <a:p/>
          <a:p>
            <a:r>
              <a:t>문턱 값 5, 0, 5 는 과제에서 준 값이고, 과제에 없는 값 두 개는 제가 정했습니다. 두 플롯으로 만든 트랙이라 개시 직후 TrackScore 는 2 로 두었고, 한 번에 올리고 내리는 양은 1 로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관리 · 약 65초]</a:t>
            </a:r>
          </a:p>
          <a:p>
            <a:r>
              <a:t>점수가 실제로 어떻게 움직이는지 두 가지 경우로 보겠습니다. 맨 위 숫자가 스캔마다 넣은 Assigned_Flag 이고, 맨 아래 계산 줄에 그 스캔에서 점수가 어떻게 바뀌었는지 적어 두었습니다.</a:t>
            </a:r>
          </a:p>
          <a:p/>
          <a:p>
            <a:r>
              <a:t>왼쪽은 연관 결과를 직접 넣어 본 예입니다. 2 에서 시작한 TrackScore 가 성공할 때마다 1 씩 올라서 5 가 되는 3 번 스캔에 확정됩니다. 4 번 스캔에서 실패하면 메모리로 바뀌면서 MemoryScore 가 1 이 되고, 한 번 더 실패하면 2 가 됩니다. 6 번 스캔에서 다시 성공하면 바로 확정으로 돌아오고 MemoryScore 는 0 이 됩니다. 마지막에 다섯 번 연속으로 실패하면 MemoryScore 가 5 가 되는 12 번 스캔에서 삭제됩니다.</a:t>
            </a:r>
          </a:p>
          <a:p/>
          <a:p>
            <a:r>
              <a:t>오른쪽이 이번 과제 조건입니다. 매 스캔 0 이 들어가니까 TrackScore 가 2 에서 1, 0 으로 내려가서 세 번째 스캔에 삭제됩니다. 그래서 확정이나 메모리 상태는 시뮬레이션에서 나오지 않고, 이건 4.2 에서 따로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10초]</a:t>
            </a:r>
          </a:p>
          <a:p>
            <a:r>
              <a:t>세 번째로 구현입니다. 쓰레드와 UDP 구조, 플롯 메시지를 먼저 보고, 송신, 수신, 트랙 개시, 스코어 로직 코드를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65초]</a:t>
            </a:r>
          </a:p>
          <a:p>
            <a:r>
              <a:t>전체 구조부터 보겠습니다. 과제 4 의 측정 모의 결과를 레이다 신호처리가 내보낸 플롯이라고 보고, 데이터 처리 쪽이 그것을 받아서 처리하는 모양으로 만들었습니다.</a:t>
            </a:r>
          </a:p>
          <a:p/>
          <a:p>
            <a:r>
              <a:t>송신 쓰레드가 신호처리 역할입니다. 스캔마다 표적 플롯과 클러터를 섞어서 메시지 하나를 만들고 UDP 로 보냅니다. 수신 쓰레드는 데이터 처리 역할인데요, 메시지를 받으면 플롯 좌표를 VC-NED 로 바꾸고 트랙 관리와 2-Point 개시를 돌린 다음 결과를 스캔 단위로 쌓아 둡니다. UI 는 그 결과를 가져다 그림과 표로 보여 줍니다.</a:t>
            </a:r>
          </a:p>
          <a:p/>
          <a:p>
            <a:r>
              <a:t>아래 표는 TCP 가 아니라 UDP 를 고른 이유입니다. UDP 는 보낸 메시지 하나가 그대로 하나로 도착해서 스캔 하나를 한 번에 받을 수 있고, 연결이나 재전송 없이 바로 전달됩니다. TCP 는 바이트가 이어서 오기 때문에 메시지를 직접 잘라야 하고, 하나가 늦으면 뒤 스캔도 같이 기다리게 됩니다. UDP 의 약점은 손실인데, 스캔 번호로 빠진 게 없는지 확인했고 시험에서 1,160 스캔을 모두 받았습니다.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60초]</a:t>
            </a:r>
          </a:p>
          <a:p>
            <a:r>
              <a:t>다음은 실제로 주고받는 플롯 메시지입니다. 구조체를 코드로 보면 눈에 잘 안 들어와서 그림으로 그렸습니다.</a:t>
            </a:r>
          </a:p>
          <a:p/>
          <a:p>
            <a:r>
              <a:t>왼쪽 파란 상자가 메시지 머리입니다. 메시지 종류와 크기, 스캔 번호와 시각, 플롯 수가 들어가고, 측정 표준편차와 플랫폼 위치, 자세도 같이 보냅니다. 받는 쪽에서 오차 공분산을 계산하고 좌표를 바꿀 때 필요하기 때문입니다.</a:t>
            </a:r>
          </a:p>
          <a:p/>
          <a:p>
            <a:r>
              <a:t>가운데 주황 상자가 플롯 배열입니다. 플롯 하나마다 칸이 이렇게 나뉘는데, 빨간 칸은 보내는 쪽이 채우는 것이고 파란 칸은 받는 쪽이 계산해서 채우는 것입니다. 과제 조건대로 보내는 쪽은 안테나 기준 거리, 방위각, 고각 세 칸과 ID 같은 탐지 정보만 채웁니다. 표적 플롯과 클러터가 섞여 있고 어느 게 표적인지 표시는 없습니다.</a:t>
            </a:r>
          </a:p>
          <a:p/>
          <a:p>
            <a:r>
              <a:t>보낼 때는 플롯 수만큼만 잘라서 보내고, 참고 소스 코드의 Idd.h 가 STRUCT_PlotInfo 의 Y_Body 에서 끊겨 있어서 그 뒤를 이어 완성했습니다.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55초]</a:t>
            </a:r>
          </a:p>
          <a:p>
            <a:r>
              <a:t>송신 쪽에서 메시지를 만드는 f_Lnk_BuildMsg 입니다. 코드 오른쪽 주석과 번호를 같이 보시면 됩니다.</a:t>
            </a:r>
          </a:p>
          <a:p/>
          <a:p>
            <a:r>
              <a:t>먼저 그 스캔의 표적 플롯을 배열에 담고, 이어서 클러터를 같은 배열에 붙입니다. 이때 각 플롯이 어느 표적에서 나왔는지는 송신 쪽 기록에만 따로 적어 둡니다. 그다음 방위각 순서로 정렬하는데, 빔이 지나가는 순서대로 플롯이 나오는 것처럼 보이게 하려는 것이고, 동시에 배열 위치만 보고는 표적과 클러터를 구분할 수 없게 하려는 것입니다.</a:t>
            </a:r>
          </a:p>
          <a:p/>
          <a:p>
            <a:r>
              <a:t>다음으로 메시지 머리에 스캔 번호, 시각, 플롯 수를 채우고, 플롯마다 ID 를 붙이면서 안테나 기준 거리, 방위각, 고각을 넣습니다. ID 는 과제 조건대로 10000 부터 하나씩 올리고, 1000000 다음에는 다시 10000 으로 돌아갑니다.</a:t>
            </a:r>
          </a:p>
          <a:p/>
          <a:p>
            <a:r>
              <a:t>이렇게 만든 메시지를 송신 쓰레드가 과제 1 의 UDP 송신 함수로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65초]</a:t>
            </a:r>
          </a:p>
          <a:p>
            <a:r>
              <a:t>이번에는 받는 쪽입니다. 데이터 처리의 중심인 f_Lnk_ProcessMsg 를 보겠습니다.</a:t>
            </a:r>
          </a:p>
          <a:p/>
          <a:p>
            <a:r>
              <a:t>먼저 메시지 머리에서 시각, 측정 표준편차, 플랫폼 자세를 꺼냅니다.</a:t>
            </a:r>
          </a:p>
          <a:p/>
          <a:p>
            <a:r>
              <a:t>그다음 플롯마다 f_Lnk_FillPlotCoord 를 불러 좌표를 바꿉니다. 아래 세 줄처럼 안테나 구좌표를 안테나 직교좌표로, 다시 동체로, 플랫폼 자세를 써서 VC-NED 로 옮기는데, 변환 함수는 지난 과제들에서 쓰던 좌표변환 코드 그대로입니다. 그렇게 나온 VC-NED 위치와, 1.5 에서 본 식으로 계산한 측정 공분산을 묶어서 트랙 개시용 플롯을 만듭니다.</a:t>
            </a:r>
          </a:p>
          <a:p/>
          <a:p>
            <a:r>
              <a:t>여기서 하나 짚고 가면, VC-NED 는 원점이 플랫폼을 따라 움직입니다. 그래서 플랫폼이 움직이면 앞 스캔과 이번 스캔의 원점이 달라지는데, f_Trk_MoveOrigin 으로 앞 스캔 값을 이번 원점 기준으로 옮겨 두면 두 플롯의 차가 상대 속도가 아니라 표적 속도가 됩니다. 이번 시나리오는 플랫폼이 서 있어서 옮기는 양은 0 입니다.</a:t>
            </a:r>
          </a:p>
          <a:p/>
          <a:p>
            <a:r>
              <a:t>마지막으로 f_Trk_ProcessScan 을 불러 트랙 관리와 개시를 한 번에 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65초]</a:t>
            </a:r>
          </a:p>
          <a:p>
            <a:r>
              <a:t>스캔 하나를 처리하는 f_Trk_ProcessScan 입니다. 코드는 크게 두 부분으로 나뉘는데, 첫 번째가 트랙 관리입니다. 연관 기능이 아직 없으니까 모든 트랙의 Assigned_Flag 를 0 으로 두고 스코어 로직을 돌립니다.</a:t>
            </a:r>
          </a:p>
          <a:p/>
          <a:p>
            <a:r>
              <a:t>두 번째가 2-Point 개시입니다. 앞 스캔에서 아직 안 쓴 플롯과 이번 스캔 플롯을 모두 짝지어 속력을 구하고, 그중 가장 느린 쌍을 찾습니다. 여기서 눈여겨보실 부분은 bestSpeed 를 V_max 로 시작한다는 점인데요, 이렇게 하면 800 m/s 이상인 쌍은 처음부터 후보가 될 수 없어서 이 한 줄이 속도 게이트 역할을 합니다.</a:t>
            </a:r>
          </a:p>
          <a:p/>
          <a:p>
            <a:r>
              <a:t>쌍을 고르면 두 플롯 모두 썼다고 표시해서 다른 쌍에 다시 쓰이지 않게 하고, 새 ID 를 받아 트랙을 만듭니다. 상태는 임시, TrackScore 는 2 로 시작하고, 개시에 쓴 두 플롯의 ID 도 남겨 둡니다. 이 과정을 고를 쌍이 없을 때까지 반복합니다. 트랙 ID 는 100 부터 차례로 주고, 10000 다음에는 다시 100 으로 돌아가면서 쓰고 있는 번호는 건너뜁니다.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50초]</a:t>
            </a:r>
          </a:p>
          <a:p>
            <a:r>
              <a:t>트랙의 초기 상태변수와 오차 공분산을 만드는 f_Trk_TwoPointInit 입니다.</a:t>
            </a:r>
          </a:p>
          <a:p/>
          <a:p>
            <a:r>
              <a:t>먼저 참고 소스 코드의 행렬 함수로 9 x 1 상태변수와 9 x 9 오차 공분산을 만들면서 전부 0 으로 채웁니다. 그래서 가속도 칸은 따로 건드리지 않아도 0 으로 남습니다.</a:t>
            </a:r>
          </a:p>
          <a:p/>
          <a:p>
            <a:r>
              <a:t>바깥 반복문은 축마다 돌면서 위치에는 이번 플롯 위치를, 속도에는 두 플롯 위치 차를 시간 차로 나눈 값을 넣습니다.</a:t>
            </a:r>
          </a:p>
          <a:p/>
          <a:p>
            <a:r>
              <a:t>안쪽 반복문이 오차 공분산을 채우는 부분입니다. 축 a 와 축 b 의 3 x 3 칸마다 위치는 R_k, 위치와 속도 사이는 R_k 나누기 T, 속도는 R_k 더하기 R_k-1 을 T 제곱으로 나눈 값을 넣습니다. 1.3 에서 본 3 x 3 표 그대로입니다. 코드의 3 곱하기 nAxis 는 축 a 의 위치 칸, 거기에 1 을 더하면 속도 칸이라는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 · 약 55초]</a:t>
            </a:r>
          </a:p>
          <a:p>
            <a:r>
              <a:t>트랙 스코어 로직인 f_Trk_UpdateState 입니다. 지금 상태에 따라 switch 의 case 가 하나씩 있어서, 2.3 에서 본 상태 그림을 그대로 코드로 옮겼다고 보시면 됩니다.</a:t>
            </a:r>
          </a:p>
          <a:p/>
          <a:p>
            <a:r>
              <a:t>왼쪽의 임시 트랙은 Assigned_Flag 가 1 이면 TrackScore 를 1 올리고 0 이면 1 내린 다음, 5 이상이면 확정, 0 이하면 삭제로 바꿉니다.</a:t>
            </a:r>
          </a:p>
          <a:p/>
          <a:p>
            <a:r>
              <a:t>오른쪽 위의 확정 트랙은 연관에 실패하면 메모리로 바꾸면서 MemoryScore 를 1 올립니다.</a:t>
            </a:r>
          </a:p>
          <a:p/>
          <a:p>
            <a:r>
              <a:t>메모리 트랙은 연관에 성공하면 바로 확정으로 돌리고 MemoryScore 를 0 으로 되돌립니다. 실패하면 MemoryScore 를 1 올리고, 5 이상이 되면 삭제로 바꿉니다.</a:t>
            </a:r>
          </a:p>
          <a:p/>
          <a:p>
            <a:r>
              <a:t>삭제 상태가 된 트랙은 다음 스캔을 시작할 때 트랙 표에서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10초]</a:t>
            </a:r>
          </a:p>
          <a:p>
            <a:r>
              <a:t>마지막으로 결과입니다. 시뮬레이션 조건과 2D, 3D 화면, 트랙이 생기고 사라지는 과정과 스코어 확인, 거리에 따라 개시 결과가 어떻게 달라지는지까지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80초]</a:t>
            </a:r>
          </a:p>
          <a:p>
            <a:r>
              <a:t>먼저 조건부터 말씀드리면, 위쪽 상자 세 개가 시나리오, 측정, 송수신 조건입니다. 플랫폼은 정지해 있고, 표적 1 은 약 14 km 에서 서쪽으로 천천히 가는 대함 표적, 표적 2 는 고도 2,000 m 에서 13.4 km 부터 4.8 km 까지 지그재그로 다가오는 대공 표적입니다. 116 초를 0.1 초 간격으로 재서 1,160 스캔이고, 스캔마다 표적 플롯 2 개에 클러터 5 개를 섞어 플롯 7 개짜리 메시지를 보냈습니다. UDP 로 1,160 개를 손실 없이 받아서 트랙 355 개를 개시했습니다. 352 개는 두 플롯이 같은 표적에서 나왔고, 클러터끼리 짝지어진 3 개는 모두 클러터가 몰려 있는 레이다 350 m 안쪽이었습니다.</a:t>
            </a:r>
          </a:p>
          <a:p/>
          <a:p>
            <a:r>
              <a:t>아래는 과제에서 요구한 참값, 플롯, 트랙 심볼을 함께 그린 546 번 스캔 화면입니다. 왼쪽 2D 에서 파란 선이 표적 1, 빨간 선이 표적 2 의 참값 궤적이고, 큰 점이 지금 스캔에 받은 플롯, 옅은 점이 지난 30 스캔의 플롯입니다. 빈 주황 사각형이 임시 트랙, 회색 X 가 삭제 상태가 된 트랙입니다. 가운데는 표적 2 주변을 확대한 것인데, 사각형에서 뻗은 선은 트랙 속도로 1 초 동안 가는 거리입니다. 위치 오차를 0.1 초로 나눠 구한 속도라 궤적 방향과 꽤 어긋나는 것이 보입니다.</a:t>
            </a:r>
          </a:p>
          <a:p/>
          <a:p>
            <a:r>
              <a:t>오른쪽 3D 는 고도를 3 배로 그렸고, 옅은 선이 바닥 그림자라 선과 그림자 사이가 고도입니다. 표적 2 는 같은 고도로 떠서 날고, 표적 1 은 바닥에 붙어 있어서 두 표적이 높이로도 갈려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60초]</a:t>
            </a:r>
          </a:p>
          <a:p>
            <a:r>
              <a:t>왼쪽 위는 545 번 스캔의 트랙 표입니다. 한 스캔에 나이가 다른 트랙 세 개가 보이는데요, 242 번은 이번 스캔에 만들어져서 TrackScore 가 2, 241 번은 한 스캔 전에 만들어져서 1, 240 번은 두 스캔 전에 만들어져서 0 이 되면서 삭제 상태가 됐습니다. 아래 띠 그림은 538 번부터 552 번 스캔까지 트랙마다 점수가 어떻게 내려가는지 그린 것인데, 모든 트랙이 2, 1, 0 세 칸을 거치고 사라지는 걸 볼 수 있습니다. 과제 조건에서는 연관이 늘 실패니까 당연한 결과입니다.</a:t>
            </a:r>
          </a:p>
          <a:p/>
          <a:p>
            <a:r>
              <a:t>그러다 보니 확정이나 메모리 상태는 시뮬레이션에서는 볼 수가 없어서, 오른쪽의 스코어 확인 창을 따로 만들었습니다. 연관 결과를 직접 입력하면 같은 스코어 함수를 그대로 불러서 스캔마다 점수와 상태를 보여 줍니다. 1 1 1 0 0 1 1 을 넣으면 세 번째 스캔에 확정되고, 두 번 실패해서 메모리로 갔다가, 다시 성공하면서 MemoryScore 가 0 으로 돌아가고 확정되는 것을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 약 60초]</a:t>
            </a:r>
          </a:p>
          <a:p>
            <a:r>
              <a:t>마지막으로 거리에 따라 트랙이 얼마나 만들어졌는지 보겠습니다.</a:t>
            </a:r>
          </a:p>
          <a:p/>
          <a:p>
            <a:r>
              <a:t>왼쪽 그래프는 같은 표적의 플롯 쌍이 속도 게이트를 통과한 비율을 거리별로 그린 것입니다. 파란 선이 측정 잡음으로 계산한 이론값, 주황 점이 시뮬레이션인데 둘이 잘 맞습니다. 2 km 안쪽은 거의 다 통과하는데, 5 km 에서 절반 남짓, 14 km 에서는 열 번에 한 번 정도로 떨어집니다. 1.4 에서 본 것처럼 멀수록 플롯이 크게 흔들려서 80 m 게이트를 넘기 쉽기 때문입니다.</a:t>
            </a:r>
          </a:p>
          <a:p/>
          <a:p>
            <a:r>
              <a:t>오른쪽 표는 가까운 순서로 놓은 것입니다. 표적 2 는 13.4 km 에서 4.8 km 까지 다가오는 표적이라 거리 구간으로 나눴고, 구간마다 머문 스캔 쌍 수가 달라서 맨 오른쪽에 개시 비율을 함께 적었습니다. 가장 가까운 구간은 세 번에 한 번꼴로 트랙이 만들어졌고, 14 km 의 표적 1 은 열 번에 한 번꼴이라 멀수록 트랙이 덜 만들어지는 걸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 · 약 40초]</a:t>
            </a:r>
          </a:p>
          <a:p>
            <a:r>
              <a:t>정리하겠습니다. 트랙 개시는 연속 두 스캔의 플롯 쌍 가운데 속도 게이트를 통과한 쌍으로 2-Point 개시를 했고, 상태변수 9 개와 9 x 9 오차 공분산, 트랙 ID 100 부터 10000 까지 과제 조건을 그대로 따랐습니다. 트랙 관리는 TrackScore 와 MemoryScore 두 점수와 문턱 5, 0, 5 로 네 가지 상태를 오가게 했습니다. 시뮬레이션은 플롯 메시지를 UDP 로 스캔마다 주고받아 1,160 스캔을 손실 없이 처리했고, 2D 와 3D 에 참값, 플롯, 트랙을 함께 그렸습니다.</a:t>
            </a:r>
          </a:p>
          <a:p/>
          <a:p>
            <a:r>
              <a:t>연관이 늘 실패인 조건이라 트랙이 세 스캔 뒤 지워지는 건 확인했고, 확정과 메모리 로직은 스코어 확인 창으로 따로 검증했습니다. 다음 과제에서 트랙 연관과 추적 필터가 붙으면 이번에 만든 확정, 메모리 로직이 실제 시뮬레이션 안에서 동작하게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 약 10초]</a:t>
            </a:r>
          </a:p>
          <a:p>
            <a:r>
              <a:t>이상으로 발표를 마치겠습니다. 들어 주셔서 감사합니다. 궁금한 점 있으시면 편하게 질문 주세요.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2.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229600" y="658368"/>
            <a:ext cx="3017520" cy="274320"/>
          </a:xfrm>
          <a:prstGeom prst="rect">
            <a:avLst/>
          </a:prstGeom>
          <a:noFill/>
          <a:ln/>
        </p:spPr>
        <p:txBody>
          <a:bodyPr wrap="square" lIns="0" tIns="0" rIns="0" bIns="0" rtlCol="0" anchor="t"/>
          <a:lstStyle/>
          <a:p>
            <a:pPr algn="r" indent="0" marL="0">
              <a:buNone/>
            </a:pPr>
            <a:r>
              <a:rPr lang="en-US" sz="1000" b="1" dirty="0">
                <a:solidFill>
                  <a:srgbClr val="FFFFFF"/>
                </a:solidFill>
                <a:latin typeface="Arial" pitchFamily="34" charset="0"/>
                <a:ea typeface="Arial" pitchFamily="34" charset="-122"/>
                <a:cs typeface="Arial" pitchFamily="34" charset="-120"/>
              </a:rPr>
              <a:t>Confidential</a:t>
            </a:r>
            <a:endParaRPr lang="en-US" sz="1000" dirty="0"/>
          </a:p>
        </p:txBody>
      </p:sp>
      <p:sp>
        <p:nvSpPr>
          <p:cNvPr id="3" name="Text 1"/>
          <p:cNvSpPr txBox="1"/>
          <p:nvPr/>
        </p:nvSpPr>
        <p:spPr>
          <a:xfrm>
            <a:off x="4206240" y="2505456"/>
            <a:ext cx="6766560" cy="457200"/>
          </a:xfrm>
          <a:prstGeom prst="rect">
            <a:avLst/>
          </a:prstGeom>
          <a:noFill/>
          <a:ln/>
        </p:spPr>
        <p:txBody>
          <a:bodyPr wrap="square" lIns="0" tIns="0" rIns="0" bIns="0" rtlCol="0" anchor="ctr"/>
          <a:lstStyle/>
          <a:p>
            <a:pPr algn="r" indent="0" marL="0">
              <a:buNone/>
            </a:pPr>
            <a:r>
              <a:rPr lang="en-US" sz="1400" dirty="0">
                <a:solidFill>
                  <a:srgbClr val="AEB9CC"/>
                </a:solidFill>
                <a:latin typeface="맑은 고딕" pitchFamily="34" charset="0"/>
                <a:ea typeface="맑은 고딕" pitchFamily="34" charset="-122"/>
                <a:cs typeface="맑은 고딕" pitchFamily="34" charset="-120"/>
              </a:rPr>
              <a:t>레이다 SW 학습 과제 5</a:t>
            </a:r>
            <a:endParaRPr lang="en-US" sz="1400" dirty="0"/>
          </a:p>
        </p:txBody>
      </p:sp>
      <p:sp>
        <p:nvSpPr>
          <p:cNvPr id="4" name="Text 2"/>
          <p:cNvSpPr txBox="1"/>
          <p:nvPr/>
        </p:nvSpPr>
        <p:spPr>
          <a:xfrm>
            <a:off x="4206240" y="2944368"/>
            <a:ext cx="6766560" cy="685800"/>
          </a:xfrm>
          <a:prstGeom prst="rect">
            <a:avLst/>
          </a:prstGeom>
          <a:noFill/>
          <a:ln/>
        </p:spPr>
        <p:txBody>
          <a:bodyPr wrap="square" lIns="0" tIns="0" rIns="0" bIns="0" rtlCol="0" anchor="ctr"/>
          <a:lstStyle/>
          <a:p>
            <a:pPr algn="r" indent="0" marL="0">
              <a:buNone/>
            </a:pPr>
            <a:r>
              <a:rPr lang="en-US" sz="3800" b="1" dirty="0">
                <a:solidFill>
                  <a:srgbClr val="FFFFFF"/>
                </a:solidFill>
                <a:latin typeface="맑은 고딕" pitchFamily="34" charset="0"/>
                <a:ea typeface="맑은 고딕" pitchFamily="34" charset="-122"/>
                <a:cs typeface="맑은 고딕" pitchFamily="34" charset="-120"/>
              </a:rPr>
              <a:t>트랙 개시 · 관리</a:t>
            </a:r>
            <a:endParaRPr lang="en-US" sz="3800" dirty="0"/>
          </a:p>
        </p:txBody>
      </p:sp>
      <p:sp>
        <p:nvSpPr>
          <p:cNvPr id="5" name="Shape 3"/>
          <p:cNvSpPr/>
          <p:nvPr/>
        </p:nvSpPr>
        <p:spPr>
          <a:xfrm>
            <a:off x="7863840" y="3913632"/>
            <a:ext cx="3108960" cy="0"/>
          </a:xfrm>
          <a:prstGeom prst="line">
            <a:avLst/>
          </a:prstGeom>
          <a:noFill/>
          <a:ln w="9525">
            <a:solidFill>
              <a:srgbClr val="AEB9CC"/>
            </a:solidFill>
            <a:prstDash val="solid"/>
          </a:ln>
        </p:spPr>
      </p:sp>
      <p:sp>
        <p:nvSpPr>
          <p:cNvPr id="6" name="Text 4"/>
          <p:cNvSpPr txBox="1"/>
          <p:nvPr/>
        </p:nvSpPr>
        <p:spPr>
          <a:xfrm>
            <a:off x="4206240" y="4059936"/>
            <a:ext cx="6766560" cy="292608"/>
          </a:xfrm>
          <a:prstGeom prst="rect">
            <a:avLst/>
          </a:prstGeom>
          <a:noFill/>
          <a:ln/>
        </p:spPr>
        <p:txBody>
          <a:bodyPr wrap="square" lIns="0" tIns="0" rIns="0" bIns="0" rtlCol="0" anchor="ctr"/>
          <a:lstStyle/>
          <a:p>
            <a:pPr algn="r" indent="0" marL="0">
              <a:buNone/>
            </a:pPr>
            <a:r>
              <a:rPr lang="en-US" sz="1300" dirty="0">
                <a:solidFill>
                  <a:srgbClr val="AEB9CC"/>
                </a:solidFill>
                <a:latin typeface="Arial" pitchFamily="34" charset="0"/>
                <a:ea typeface="Arial" pitchFamily="34" charset="-122"/>
                <a:cs typeface="Arial" pitchFamily="34" charset="-120"/>
              </a:rPr>
              <a:t>Track Initiation and Management</a:t>
            </a:r>
            <a:endParaRPr lang="en-US" sz="1300" dirty="0"/>
          </a:p>
        </p:txBody>
      </p:sp>
      <p:sp>
        <p:nvSpPr>
          <p:cNvPr id="7" name="Text 5"/>
          <p:cNvSpPr txBox="1"/>
          <p:nvPr/>
        </p:nvSpPr>
        <p:spPr>
          <a:xfrm>
            <a:off x="4206240" y="5120640"/>
            <a:ext cx="6766560" cy="292608"/>
          </a:xfrm>
          <a:prstGeom prst="rect">
            <a:avLst/>
          </a:prstGeom>
          <a:noFill/>
          <a:ln/>
        </p:spPr>
        <p:txBody>
          <a:bodyPr wrap="square" lIns="0" tIns="0" rIns="0" bIns="0" rtlCol="0" anchor="ctr"/>
          <a:lstStyle/>
          <a:p>
            <a:pPr algn="r" indent="0" marL="0">
              <a:buNone/>
            </a:pPr>
            <a:r>
              <a:rPr lang="en-US" sz="1200" dirty="0">
                <a:solidFill>
                  <a:srgbClr val="FFFFFF"/>
                </a:solidFill>
                <a:latin typeface="Arial" pitchFamily="34" charset="0"/>
                <a:ea typeface="Arial" pitchFamily="34" charset="-122"/>
                <a:cs typeface="Arial" pitchFamily="34" charset="-120"/>
              </a:rPr>
              <a:t>Janghwan Kim (Harley)</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7200" y="2743200"/>
            <a:ext cx="3291840" cy="1188720"/>
          </a:xfrm>
          <a:prstGeom prst="rect">
            <a:avLst/>
          </a:prstGeom>
          <a:noFill/>
          <a:ln/>
        </p:spPr>
        <p:txBody>
          <a:bodyPr wrap="square" lIns="0" tIns="0" rIns="0" bIns="0" rtlCol="0" anchor="ctr"/>
          <a:lstStyle/>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트랙 개시 · 관리</a:t>
            </a:r>
            <a:endParaRPr lang="en-US" sz="1800" dirty="0"/>
          </a:p>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TrackMgr</a:t>
            </a:r>
            <a:endParaRPr lang="en-US" sz="1800" dirty="0"/>
          </a:p>
        </p:txBody>
      </p:sp>
      <p:sp>
        <p:nvSpPr>
          <p:cNvPr id="3" name="Text 1"/>
          <p:cNvSpPr txBox="1"/>
          <p:nvPr/>
        </p:nvSpPr>
        <p:spPr>
          <a:xfrm>
            <a:off x="457200" y="6035040"/>
            <a:ext cx="3291840" cy="274320"/>
          </a:xfrm>
          <a:prstGeom prst="rect">
            <a:avLst/>
          </a:prstGeom>
          <a:noFill/>
          <a:ln/>
        </p:spPr>
        <p:txBody>
          <a:bodyPr wrap="square" lIns="0" tIns="0" rIns="0" bIns="0" rtlCol="0" anchor="t"/>
          <a:lstStyle/>
          <a:p>
            <a:pPr algn="ctr" indent="0" marL="0">
              <a:buNone/>
            </a:pPr>
            <a:r>
              <a:rPr lang="en-US" sz="1000" dirty="0">
                <a:solidFill>
                  <a:srgbClr val="AEB9CC"/>
                </a:solidFill>
                <a:latin typeface="Arial" pitchFamily="34" charset="0"/>
                <a:ea typeface="Arial" pitchFamily="34" charset="-122"/>
                <a:cs typeface="Arial" pitchFamily="34" charset="-120"/>
              </a:rPr>
              <a:t>Janghwan Kim (Harley)</a:t>
            </a:r>
            <a:endParaRPr lang="en-US" sz="1000" dirty="0"/>
          </a:p>
        </p:txBody>
      </p:sp>
      <p:sp>
        <p:nvSpPr>
          <p:cNvPr id="4" name="Text 2"/>
          <p:cNvSpPr txBox="1"/>
          <p:nvPr/>
        </p:nvSpPr>
        <p:spPr>
          <a:xfrm>
            <a:off x="4800600" y="1801368"/>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00</a:t>
            </a:r>
            <a:endParaRPr lang="en-US" sz="3000" dirty="0"/>
          </a:p>
        </p:txBody>
      </p:sp>
      <p:sp>
        <p:nvSpPr>
          <p:cNvPr id="5" name="Text 3"/>
          <p:cNvSpPr txBox="1"/>
          <p:nvPr/>
        </p:nvSpPr>
        <p:spPr>
          <a:xfrm>
            <a:off x="5852160" y="1801368"/>
            <a:ext cx="1155769"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과제 개요</a:t>
            </a:r>
            <a:endParaRPr lang="en-US" sz="1500" dirty="0"/>
          </a:p>
        </p:txBody>
      </p:sp>
      <p:sp>
        <p:nvSpPr>
          <p:cNvPr id="6" name="Shape 4"/>
          <p:cNvSpPr/>
          <p:nvPr/>
        </p:nvSpPr>
        <p:spPr>
          <a:xfrm>
            <a:off x="7117657" y="2103120"/>
            <a:ext cx="3809422" cy="0"/>
          </a:xfrm>
          <a:prstGeom prst="line">
            <a:avLst/>
          </a:prstGeom>
          <a:noFill/>
          <a:ln w="9525">
            <a:solidFill>
              <a:srgbClr val="C9D1DD"/>
            </a:solidFill>
            <a:prstDash val="sysDot"/>
          </a:ln>
        </p:spPr>
      </p:sp>
      <p:sp>
        <p:nvSpPr>
          <p:cNvPr id="7" name="Text 5"/>
          <p:cNvSpPr txBox="1"/>
          <p:nvPr/>
        </p:nvSpPr>
        <p:spPr>
          <a:xfrm>
            <a:off x="11009376" y="1801368"/>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3</a:t>
            </a:r>
            <a:endParaRPr lang="en-US" sz="1400" dirty="0"/>
          </a:p>
        </p:txBody>
      </p:sp>
      <p:sp>
        <p:nvSpPr>
          <p:cNvPr id="8" name="Shape 6"/>
          <p:cNvSpPr/>
          <p:nvPr/>
        </p:nvSpPr>
        <p:spPr>
          <a:xfrm>
            <a:off x="4800600" y="2459736"/>
            <a:ext cx="6720840" cy="0"/>
          </a:xfrm>
          <a:prstGeom prst="line">
            <a:avLst/>
          </a:prstGeom>
          <a:noFill/>
          <a:ln w="9525">
            <a:solidFill>
              <a:srgbClr val="D2D9E5"/>
            </a:solidFill>
            <a:prstDash val="solid"/>
          </a:ln>
        </p:spPr>
      </p:sp>
      <p:sp>
        <p:nvSpPr>
          <p:cNvPr id="9" name="Text 2"/>
          <p:cNvSpPr txBox="1"/>
          <p:nvPr/>
        </p:nvSpPr>
        <p:spPr>
          <a:xfrm>
            <a:off x="4800600" y="2569464"/>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01</a:t>
            </a:r>
            <a:endParaRPr lang="en-US" sz="3000" dirty="0"/>
          </a:p>
        </p:txBody>
      </p:sp>
      <p:sp>
        <p:nvSpPr>
          <p:cNvPr id="10" name="Text 3"/>
          <p:cNvSpPr txBox="1"/>
          <p:nvPr/>
        </p:nvSpPr>
        <p:spPr>
          <a:xfrm>
            <a:off x="5852160" y="2569464"/>
            <a:ext cx="1155769"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트랙 개시</a:t>
            </a:r>
            <a:endParaRPr lang="en-US" sz="1500" dirty="0"/>
          </a:p>
        </p:txBody>
      </p:sp>
      <p:sp>
        <p:nvSpPr>
          <p:cNvPr id="11" name="Shape 4"/>
          <p:cNvSpPr/>
          <p:nvPr/>
        </p:nvSpPr>
        <p:spPr>
          <a:xfrm>
            <a:off x="7117657" y="2871216"/>
            <a:ext cx="3809422" cy="0"/>
          </a:xfrm>
          <a:prstGeom prst="line">
            <a:avLst/>
          </a:prstGeom>
          <a:noFill/>
          <a:ln w="9525">
            <a:solidFill>
              <a:srgbClr val="C9D1DD"/>
            </a:solidFill>
            <a:prstDash val="sysDot"/>
          </a:ln>
        </p:spPr>
      </p:sp>
      <p:sp>
        <p:nvSpPr>
          <p:cNvPr id="12" name="Text 5"/>
          <p:cNvSpPr txBox="1"/>
          <p:nvPr/>
        </p:nvSpPr>
        <p:spPr>
          <a:xfrm>
            <a:off x="11009376" y="2569464"/>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4</a:t>
            </a:r>
            <a:endParaRPr lang="en-US" sz="1400" dirty="0"/>
          </a:p>
        </p:txBody>
      </p:sp>
      <p:sp>
        <p:nvSpPr>
          <p:cNvPr id="13" name="Shape 6"/>
          <p:cNvSpPr/>
          <p:nvPr/>
        </p:nvSpPr>
        <p:spPr>
          <a:xfrm>
            <a:off x="4800600" y="3227832"/>
            <a:ext cx="6720840" cy="0"/>
          </a:xfrm>
          <a:prstGeom prst="line">
            <a:avLst/>
          </a:prstGeom>
          <a:noFill/>
          <a:ln w="9525">
            <a:solidFill>
              <a:srgbClr val="D2D9E5"/>
            </a:solidFill>
            <a:prstDash val="solid"/>
          </a:ln>
        </p:spPr>
      </p:sp>
      <p:sp>
        <p:nvSpPr>
          <p:cNvPr id="14" name="Text 2"/>
          <p:cNvSpPr txBox="1"/>
          <p:nvPr/>
        </p:nvSpPr>
        <p:spPr>
          <a:xfrm>
            <a:off x="4800600" y="3337560"/>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02</a:t>
            </a:r>
            <a:endParaRPr lang="en-US" sz="3000" dirty="0"/>
          </a:p>
        </p:txBody>
      </p:sp>
      <p:sp>
        <p:nvSpPr>
          <p:cNvPr id="15" name="Text 3"/>
          <p:cNvSpPr txBox="1"/>
          <p:nvPr/>
        </p:nvSpPr>
        <p:spPr>
          <a:xfrm>
            <a:off x="5852160" y="3337560"/>
            <a:ext cx="1155769"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트랙 관리</a:t>
            </a:r>
            <a:endParaRPr lang="en-US" sz="1500" dirty="0"/>
          </a:p>
        </p:txBody>
      </p:sp>
      <p:sp>
        <p:nvSpPr>
          <p:cNvPr id="16" name="Shape 4"/>
          <p:cNvSpPr/>
          <p:nvPr/>
        </p:nvSpPr>
        <p:spPr>
          <a:xfrm>
            <a:off x="7117657" y="3639312"/>
            <a:ext cx="3809422" cy="0"/>
          </a:xfrm>
          <a:prstGeom prst="line">
            <a:avLst/>
          </a:prstGeom>
          <a:noFill/>
          <a:ln w="9525">
            <a:solidFill>
              <a:srgbClr val="C9D1DD"/>
            </a:solidFill>
            <a:prstDash val="sysDot"/>
          </a:ln>
        </p:spPr>
      </p:sp>
      <p:sp>
        <p:nvSpPr>
          <p:cNvPr id="17" name="Text 5"/>
          <p:cNvSpPr txBox="1"/>
          <p:nvPr/>
        </p:nvSpPr>
        <p:spPr>
          <a:xfrm>
            <a:off x="11009376" y="3337560"/>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10</a:t>
            </a:r>
            <a:endParaRPr lang="en-US" sz="1400" dirty="0"/>
          </a:p>
        </p:txBody>
      </p:sp>
      <p:sp>
        <p:nvSpPr>
          <p:cNvPr id="18" name="Shape 6"/>
          <p:cNvSpPr/>
          <p:nvPr/>
        </p:nvSpPr>
        <p:spPr>
          <a:xfrm>
            <a:off x="4800600" y="3995928"/>
            <a:ext cx="6720840" cy="0"/>
          </a:xfrm>
          <a:prstGeom prst="line">
            <a:avLst/>
          </a:prstGeom>
          <a:noFill/>
          <a:ln w="9525">
            <a:solidFill>
              <a:srgbClr val="D2D9E5"/>
            </a:solidFill>
            <a:prstDash val="solid"/>
          </a:ln>
        </p:spPr>
      </p:sp>
      <p:sp>
        <p:nvSpPr>
          <p:cNvPr id="19" name="Text 2"/>
          <p:cNvSpPr txBox="1"/>
          <p:nvPr/>
        </p:nvSpPr>
        <p:spPr>
          <a:xfrm>
            <a:off x="4800600" y="4105656"/>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03</a:t>
            </a:r>
            <a:endParaRPr lang="en-US" sz="3000" dirty="0"/>
          </a:p>
        </p:txBody>
      </p:sp>
      <p:sp>
        <p:nvSpPr>
          <p:cNvPr id="20" name="Text 3"/>
          <p:cNvSpPr txBox="1"/>
          <p:nvPr/>
        </p:nvSpPr>
        <p:spPr>
          <a:xfrm>
            <a:off x="5852160" y="4105656"/>
            <a:ext cx="76200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구현</a:t>
            </a:r>
            <a:endParaRPr lang="en-US" sz="1500" dirty="0"/>
          </a:p>
        </p:txBody>
      </p:sp>
      <p:sp>
        <p:nvSpPr>
          <p:cNvPr id="21" name="Shape 4"/>
          <p:cNvSpPr/>
          <p:nvPr/>
        </p:nvSpPr>
        <p:spPr>
          <a:xfrm>
            <a:off x="6723888" y="4407408"/>
            <a:ext cx="4203192" cy="0"/>
          </a:xfrm>
          <a:prstGeom prst="line">
            <a:avLst/>
          </a:prstGeom>
          <a:noFill/>
          <a:ln w="9525">
            <a:solidFill>
              <a:srgbClr val="C9D1DD"/>
            </a:solidFill>
            <a:prstDash val="sysDot"/>
          </a:ln>
        </p:spPr>
      </p:sp>
      <p:sp>
        <p:nvSpPr>
          <p:cNvPr id="22" name="Text 5"/>
          <p:cNvSpPr txBox="1"/>
          <p:nvPr/>
        </p:nvSpPr>
        <p:spPr>
          <a:xfrm>
            <a:off x="11009376" y="4105656"/>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15</a:t>
            </a:r>
            <a:endParaRPr lang="en-US" sz="1400" dirty="0"/>
          </a:p>
        </p:txBody>
      </p:sp>
      <p:sp>
        <p:nvSpPr>
          <p:cNvPr id="23" name="Shape 6"/>
          <p:cNvSpPr/>
          <p:nvPr/>
        </p:nvSpPr>
        <p:spPr>
          <a:xfrm>
            <a:off x="4800600" y="4764024"/>
            <a:ext cx="6720840" cy="0"/>
          </a:xfrm>
          <a:prstGeom prst="line">
            <a:avLst/>
          </a:prstGeom>
          <a:noFill/>
          <a:ln w="9525">
            <a:solidFill>
              <a:srgbClr val="D2D9E5"/>
            </a:solidFill>
            <a:prstDash val="solid"/>
          </a:ln>
        </p:spPr>
      </p:sp>
      <p:sp>
        <p:nvSpPr>
          <p:cNvPr id="24" name="Text 2"/>
          <p:cNvSpPr txBox="1"/>
          <p:nvPr/>
        </p:nvSpPr>
        <p:spPr>
          <a:xfrm>
            <a:off x="4800600" y="4873752"/>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04</a:t>
            </a:r>
            <a:endParaRPr lang="en-US" sz="3000" dirty="0"/>
          </a:p>
        </p:txBody>
      </p:sp>
      <p:sp>
        <p:nvSpPr>
          <p:cNvPr id="25" name="Text 3"/>
          <p:cNvSpPr txBox="1"/>
          <p:nvPr/>
        </p:nvSpPr>
        <p:spPr>
          <a:xfrm>
            <a:off x="5852160" y="4873752"/>
            <a:ext cx="76200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결과</a:t>
            </a:r>
            <a:endParaRPr lang="en-US" sz="1500" dirty="0"/>
          </a:p>
        </p:txBody>
      </p:sp>
      <p:sp>
        <p:nvSpPr>
          <p:cNvPr id="26" name="Shape 4"/>
          <p:cNvSpPr/>
          <p:nvPr/>
        </p:nvSpPr>
        <p:spPr>
          <a:xfrm>
            <a:off x="6723888" y="5175504"/>
            <a:ext cx="4203192" cy="0"/>
          </a:xfrm>
          <a:prstGeom prst="line">
            <a:avLst/>
          </a:prstGeom>
          <a:noFill/>
          <a:ln w="9525">
            <a:solidFill>
              <a:srgbClr val="C9D1DD"/>
            </a:solidFill>
            <a:prstDash val="sysDot"/>
          </a:ln>
        </p:spPr>
      </p:sp>
      <p:sp>
        <p:nvSpPr>
          <p:cNvPr id="27" name="Text 5"/>
          <p:cNvSpPr txBox="1"/>
          <p:nvPr/>
        </p:nvSpPr>
        <p:spPr>
          <a:xfrm>
            <a:off x="11009376" y="4873752"/>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23</a:t>
            </a:r>
            <a:endParaRPr lang="en-US" sz="1400" dirty="0"/>
          </a:p>
        </p:txBody>
      </p:sp>
      <p:sp>
        <p:nvSpPr>
          <p:cNvPr id="28"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00. 과제 개요</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이번 과제 한눈에 보기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레이다가 잰 점 (플롯) 을 이어 표적의 움직임 (트랙) 을 처음 만들고, 그 트랙을 점수로 관리하는 기능을 구현했습니다.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 · 2 · 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12848"/>
            <a:ext cx="4023360" cy="256032"/>
          </a:xfrm>
          <a:prstGeom prst="rect">
            <a:avLst/>
          </a:prstGeom>
          <a:noFill/>
        </p:spPr>
        <p:txBody>
          <a:bodyPr wrap="square" lIns="0" tIns="0" rIns="0" bIns="0" anchor="ctr">
            <a:spAutoFit/>
          </a:bodyPr>
          <a:lstStyle/>
          <a:p>
            <a:pPr algn="l"/>
            <a:r>
              <a:rPr sz="1200" b="1">
                <a:solidFill>
                  <a:srgbClr val="1B2740"/>
                </a:solidFill>
                <a:latin typeface="맑은 고딕"/>
                <a:ea typeface="맑은 고딕"/>
                <a:cs typeface="맑은 고딕"/>
              </a:rPr>
              <a:t>이번 과제에서 하는 일 세 가지</a:t>
            </a:r>
          </a:p>
        </p:txBody>
      </p:sp>
      <p:sp>
        <p:nvSpPr>
          <p:cNvPr id="8" name="Rounded Rectangle 7"/>
          <p:cNvSpPr/>
          <p:nvPr/>
        </p:nvSpPr>
        <p:spPr>
          <a:xfrm>
            <a:off x="640080" y="2542032"/>
            <a:ext cx="4023360" cy="987552"/>
          </a:xfrm>
          <a:prstGeom prst="roundRect">
            <a:avLst>
              <a:gd name="adj" fmla="val 7407"/>
            </a:avLst>
          </a:prstGeom>
          <a:solidFill>
            <a:srgbClr val="EAF1FD"/>
          </a:solidFill>
          <a:ln w="12700">
            <a:solidFill>
              <a:srgbClr val="2563EB"/>
            </a:solidFill>
          </a:ln>
        </p:spPr>
        <p:txBody>
          <a:bodyPr rtlCol="0" anchor="ctr"/>
          <a:lstStyle/>
          <a:p>
            <a:pPr algn="ctr"/>
          </a:p>
        </p:txBody>
      </p:sp>
      <p:sp>
        <p:nvSpPr>
          <p:cNvPr id="9" name="TextBox 8"/>
          <p:cNvSpPr txBox="1"/>
          <p:nvPr/>
        </p:nvSpPr>
        <p:spPr>
          <a:xfrm>
            <a:off x="786384" y="2615184"/>
            <a:ext cx="3730752" cy="841248"/>
          </a:xfrm>
          <a:prstGeom prst="rect">
            <a:avLst/>
          </a:prstGeom>
          <a:noFill/>
        </p:spPr>
        <p:txBody>
          <a:bodyPr wrap="square" lIns="0" tIns="0" rIns="0" bIns="0" anchor="ctr">
            <a:spAutoFit/>
          </a:bodyPr>
          <a:lstStyle/>
          <a:p>
            <a:pPr algn="l">
              <a:lnSpc>
                <a:spcPct val="112000"/>
              </a:lnSpc>
            </a:pPr>
            <a:r>
              <a:rPr sz="1250" b="1">
                <a:solidFill>
                  <a:srgbClr val="2563EB"/>
                </a:solidFill>
                <a:latin typeface="맑은 고딕"/>
                <a:ea typeface="맑은 고딕"/>
                <a:cs typeface="맑은 고딕"/>
              </a:rPr>
              <a:t>① 트랙 개시</a:t>
            </a:r>
          </a:p>
          <a:p>
            <a:pPr algn="l">
              <a:lnSpc>
                <a:spcPct val="112000"/>
              </a:lnSpc>
            </a:pPr>
            <a:r>
              <a:rPr sz="1050" b="0">
                <a:solidFill>
                  <a:srgbClr val="1B2740"/>
                </a:solidFill>
                <a:latin typeface="맑은 고딕"/>
                <a:ea typeface="맑은 고딕"/>
                <a:cs typeface="맑은 고딕"/>
              </a:rPr>
              <a:t>연속 두 스캔의 플롯 두 개로 트랙을 만든다</a:t>
            </a:r>
          </a:p>
          <a:p>
            <a:pPr algn="l">
              <a:lnSpc>
                <a:spcPct val="112000"/>
              </a:lnSpc>
            </a:pPr>
            <a:r>
              <a:rPr sz="1050" b="0">
                <a:solidFill>
                  <a:srgbClr val="1B2740"/>
                </a:solidFill>
                <a:latin typeface="맑은 고딕"/>
                <a:ea typeface="맑은 고딕"/>
                <a:cs typeface="맑은 고딕"/>
              </a:rPr>
              <a:t>2-Point Track Initiation, 속도 게이트 800 m/s</a:t>
            </a:r>
          </a:p>
        </p:txBody>
      </p:sp>
      <p:sp>
        <p:nvSpPr>
          <p:cNvPr id="10" name="Rounded Rectangle 9"/>
          <p:cNvSpPr/>
          <p:nvPr/>
        </p:nvSpPr>
        <p:spPr>
          <a:xfrm>
            <a:off x="640080" y="3657600"/>
            <a:ext cx="4023360" cy="987552"/>
          </a:xfrm>
          <a:prstGeom prst="roundRect">
            <a:avLst>
              <a:gd name="adj" fmla="val 7407"/>
            </a:avLst>
          </a:prstGeom>
          <a:solidFill>
            <a:srgbClr val="E6F5EE"/>
          </a:solidFill>
          <a:ln w="12700">
            <a:solidFill>
              <a:srgbClr val="059669"/>
            </a:solidFill>
          </a:ln>
        </p:spPr>
        <p:txBody>
          <a:bodyPr rtlCol="0" anchor="ctr"/>
          <a:lstStyle/>
          <a:p>
            <a:pPr algn="ctr"/>
          </a:p>
        </p:txBody>
      </p:sp>
      <p:sp>
        <p:nvSpPr>
          <p:cNvPr id="11" name="TextBox 10"/>
          <p:cNvSpPr txBox="1"/>
          <p:nvPr/>
        </p:nvSpPr>
        <p:spPr>
          <a:xfrm>
            <a:off x="786384" y="3730752"/>
            <a:ext cx="3730752" cy="841248"/>
          </a:xfrm>
          <a:prstGeom prst="rect">
            <a:avLst/>
          </a:prstGeom>
          <a:noFill/>
        </p:spPr>
        <p:txBody>
          <a:bodyPr wrap="square" lIns="0" tIns="0" rIns="0" bIns="0" anchor="ctr">
            <a:spAutoFit/>
          </a:bodyPr>
          <a:lstStyle/>
          <a:p>
            <a:pPr algn="l">
              <a:lnSpc>
                <a:spcPct val="112000"/>
              </a:lnSpc>
            </a:pPr>
            <a:r>
              <a:rPr sz="1250" b="1">
                <a:solidFill>
                  <a:srgbClr val="059669"/>
                </a:solidFill>
                <a:latin typeface="맑은 고딕"/>
                <a:ea typeface="맑은 고딕"/>
                <a:cs typeface="맑은 고딕"/>
              </a:rPr>
              <a:t>② 트랙 관리</a:t>
            </a:r>
          </a:p>
          <a:p>
            <a:pPr algn="l">
              <a:lnSpc>
                <a:spcPct val="112000"/>
              </a:lnSpc>
            </a:pPr>
            <a:r>
              <a:rPr sz="1050" b="0">
                <a:solidFill>
                  <a:srgbClr val="1B2740"/>
                </a:solidFill>
                <a:latin typeface="맑은 고딕"/>
                <a:ea typeface="맑은 고딕"/>
                <a:cs typeface="맑은 고딕"/>
              </a:rPr>
              <a:t>트랙마다 점수를 매겨 확정 · 메모리 · 삭제를 정한다</a:t>
            </a:r>
          </a:p>
          <a:p>
            <a:pPr algn="l">
              <a:lnSpc>
                <a:spcPct val="112000"/>
              </a:lnSpc>
            </a:pPr>
            <a:r>
              <a:rPr sz="1050" b="0">
                <a:solidFill>
                  <a:srgbClr val="1B2740"/>
                </a:solidFill>
                <a:latin typeface="맑은 고딕"/>
                <a:ea typeface="맑은 고딕"/>
                <a:cs typeface="맑은 고딕"/>
              </a:rPr>
              <a:t>트랙 스코어 방식, 문턱 5 / 0 / 5</a:t>
            </a:r>
          </a:p>
        </p:txBody>
      </p:sp>
      <p:sp>
        <p:nvSpPr>
          <p:cNvPr id="12" name="Rounded Rectangle 11"/>
          <p:cNvSpPr/>
          <p:nvPr/>
        </p:nvSpPr>
        <p:spPr>
          <a:xfrm>
            <a:off x="640080" y="4773168"/>
            <a:ext cx="4023360" cy="987552"/>
          </a:xfrm>
          <a:prstGeom prst="roundRect">
            <a:avLst>
              <a:gd name="adj" fmla="val 7407"/>
            </a:avLst>
          </a:prstGeom>
          <a:solidFill>
            <a:srgbClr val="FEF3E2"/>
          </a:solidFill>
          <a:ln w="12700">
            <a:solidFill>
              <a:srgbClr val="D97706"/>
            </a:solidFill>
          </a:ln>
        </p:spPr>
        <p:txBody>
          <a:bodyPr rtlCol="0" anchor="ctr"/>
          <a:lstStyle/>
          <a:p>
            <a:pPr algn="ctr"/>
          </a:p>
        </p:txBody>
      </p:sp>
      <p:sp>
        <p:nvSpPr>
          <p:cNvPr id="13" name="TextBox 12"/>
          <p:cNvSpPr txBox="1"/>
          <p:nvPr/>
        </p:nvSpPr>
        <p:spPr>
          <a:xfrm>
            <a:off x="786384" y="4846320"/>
            <a:ext cx="3730752" cy="841248"/>
          </a:xfrm>
          <a:prstGeom prst="rect">
            <a:avLst/>
          </a:prstGeom>
          <a:noFill/>
        </p:spPr>
        <p:txBody>
          <a:bodyPr wrap="square" lIns="0" tIns="0" rIns="0" bIns="0" anchor="ctr">
            <a:spAutoFit/>
          </a:bodyPr>
          <a:lstStyle/>
          <a:p>
            <a:pPr algn="l">
              <a:lnSpc>
                <a:spcPct val="112000"/>
              </a:lnSpc>
            </a:pPr>
            <a:r>
              <a:rPr sz="1250" b="1">
                <a:solidFill>
                  <a:srgbClr val="D97706"/>
                </a:solidFill>
                <a:latin typeface="맑은 고딕"/>
                <a:ea typeface="맑은 고딕"/>
                <a:cs typeface="맑은 고딕"/>
              </a:rPr>
              <a:t>③ 시뮬레이션</a:t>
            </a:r>
          </a:p>
          <a:p>
            <a:pPr algn="l">
              <a:lnSpc>
                <a:spcPct val="112000"/>
              </a:lnSpc>
            </a:pPr>
            <a:r>
              <a:rPr sz="1050" b="0">
                <a:solidFill>
                  <a:srgbClr val="1B2740"/>
                </a:solidFill>
                <a:latin typeface="맑은 고딕"/>
                <a:ea typeface="맑은 고딕"/>
                <a:cs typeface="맑은 고딕"/>
              </a:rPr>
              <a:t>플롯 메시지를 UDP 로 보내고 받아 처리한다</a:t>
            </a:r>
          </a:p>
          <a:p>
            <a:pPr algn="l">
              <a:lnSpc>
                <a:spcPct val="112000"/>
              </a:lnSpc>
            </a:pPr>
            <a:r>
              <a:rPr sz="1050" b="0">
                <a:solidFill>
                  <a:srgbClr val="1B2740"/>
                </a:solidFill>
                <a:latin typeface="맑은 고딕"/>
                <a:ea typeface="맑은 고딕"/>
                <a:cs typeface="맑은 고딕"/>
              </a:rPr>
              <a:t>2D · 3D 화면에 참값 · 플롯 · 트랙을 함께 표시</a:t>
            </a:r>
          </a:p>
        </p:txBody>
      </p:sp>
      <p:sp>
        <p:nvSpPr>
          <p:cNvPr id="14" name="TextBox 13"/>
          <p:cNvSpPr txBox="1"/>
          <p:nvPr/>
        </p:nvSpPr>
        <p:spPr>
          <a:xfrm>
            <a:off x="4937760" y="2212848"/>
            <a:ext cx="6583680" cy="256032"/>
          </a:xfrm>
          <a:prstGeom prst="rect">
            <a:avLst/>
          </a:prstGeom>
          <a:noFill/>
        </p:spPr>
        <p:txBody>
          <a:bodyPr wrap="square" lIns="0" tIns="0" rIns="0" bIns="0" anchor="ctr">
            <a:spAutoFit/>
          </a:bodyPr>
          <a:lstStyle/>
          <a:p>
            <a:pPr algn="l"/>
            <a:r>
              <a:rPr sz="1200" b="1">
                <a:solidFill>
                  <a:srgbClr val="1B2740"/>
                </a:solidFill>
                <a:latin typeface="맑은 고딕"/>
                <a:ea typeface="맑은 고딕"/>
                <a:cs typeface="맑은 고딕"/>
              </a:rPr>
              <a:t>과제 요구사항과 구현한 곳</a:t>
            </a:r>
            <a:r>
              <a:rPr sz="950" b="0">
                <a:solidFill>
                  <a:srgbClr val="4A5A7A"/>
                </a:solidFill>
                <a:latin typeface="맑은 고딕"/>
                <a:ea typeface="맑은 고딕"/>
                <a:cs typeface="맑은 고딕"/>
              </a:rPr>
              <a:t>   (오른쪽 끝은 이 자료의 장)</a:t>
            </a:r>
          </a:p>
        </p:txBody>
      </p:sp>
      <p:graphicFrame>
        <p:nvGraphicFramePr>
          <p:cNvPr id="15" name="Table 14"/>
          <p:cNvGraphicFramePr>
            <a:graphicFrameLocks noGrp="1"/>
          </p:cNvGraphicFramePr>
          <p:nvPr/>
        </p:nvGraphicFramePr>
        <p:xfrm>
          <a:off x="4937760" y="2542032"/>
          <a:ext cx="6611112" cy="3154680"/>
        </p:xfrm>
        <a:graphic>
          <a:graphicData uri="http://schemas.openxmlformats.org/drawingml/2006/table">
            <a:tbl>
              <a:tblPr firstRow="1" bandRow="1">
                <a:tableStyleId>{5C22544A-7EE6-4342-B048-85BDC9FD1C3A}</a:tableStyleId>
              </a:tblPr>
              <a:tblGrid>
                <a:gridCol w="1234440"/>
                <a:gridCol w="2514600"/>
                <a:gridCol w="1947672"/>
                <a:gridCol w="914400"/>
              </a:tblGrid>
              <a:tr h="315468">
                <a:tc>
                  <a:txBody>
                    <a:bodyPr/>
                    <a:lstStyle/>
                    <a:p>
                      <a:pPr algn="l"/>
                      <a:r>
                        <a:rPr sz="950" b="1">
                          <a:solidFill>
                            <a:srgbClr val="FFFFFF"/>
                          </a:solidFill>
                          <a:latin typeface="맑은 고딕"/>
                          <a:ea typeface="맑은 고딕"/>
                          <a:cs typeface="맑은 고딕"/>
                        </a:rPr>
                        <a:t>과제 항목</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요구 사항</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구현 (소스)</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장</a:t>
                      </a:r>
                    </a:p>
                  </a:txBody>
                  <a:tcPr marL="54864" marR="54864" marT="18288" marB="18288" anchor="ctr">
                    <a:solidFill>
                      <a:srgbClr val="1B2740"/>
                    </a:solidFill>
                  </a:tcPr>
                </a:tc>
              </a:tr>
              <a:tr h="315468">
                <a:tc>
                  <a:txBody>
                    <a:bodyPr/>
                    <a:lstStyle/>
                    <a:p>
                      <a:pPr algn="l"/>
                      <a:r>
                        <a:rPr sz="950" b="0">
                          <a:solidFill>
                            <a:srgbClr val="1B2740"/>
                          </a:solidFill>
                          <a:latin typeface="맑은 고딕"/>
                          <a:ea typeface="맑은 고딕"/>
                          <a:cs typeface="맑은 고딕"/>
                        </a:rPr>
                        <a:t>트랙 개시 방식</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 Point Track Init.</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f_Trk_TwoPointInit (TrackMgr.c)</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1.2 ~ 1.3, 3.6</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상태변수</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[x x' x'' y y' y'' z z' z'']  9 개, 가속도 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mat_EstX 9 x 1,  mat_EstP 9 x 9</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1.3, 3.6</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속도 게이팅</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V_max = 800 m/s</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f_Trk_ProcessScan</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1.4, 3.5</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트랙 ID</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100 ~ 10000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f_Trk_NewId</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3.5</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트랙 관리</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트랙 스코어 방식, 문턱 5 / 0 / 5</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f_Trk_UpdateState</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2.3, 3.7</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플롯 메시지</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STRUCT_PlotMsg, 안테나 구좌표</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Idd.h, 송신 · 수신 쓰레드 (UDP)</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3.1 ~ 3.4</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플롯 ID</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10000 ~ 1000000, 표적 + 클러터</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f_Lnk_BuildMsg (PlotLink.c)</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3.3</a:t>
                      </a:r>
                    </a:p>
                  </a:txBody>
                  <a:tcPr marL="54864" marR="54864" marT="18288" marB="18288" anchor="ctr">
                    <a:solidFill>
                      <a:srgbClr val="FFFFFF"/>
                    </a:solidFill>
                  </a:tcPr>
                </a:tc>
              </a:tr>
              <a:tr h="315468">
                <a:tc>
                  <a:txBody>
                    <a:bodyPr/>
                    <a:lstStyle/>
                    <a:p>
                      <a:pPr algn="l"/>
                      <a:r>
                        <a:rPr sz="950" b="0">
                          <a:solidFill>
                            <a:srgbClr val="1B2740"/>
                          </a:solidFill>
                          <a:latin typeface="맑은 고딕"/>
                          <a:ea typeface="맑은 고딕"/>
                          <a:cs typeface="맑은 고딕"/>
                        </a:rPr>
                        <a:t>트랙 연관</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Assigned_Flag 매 스캔 0 (실패)</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f_Trk_ProcessScan</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2.1, 3.5</a:t>
                      </a:r>
                    </a:p>
                  </a:txBody>
                  <a:tcPr marL="54864" marR="54864" marT="18288" marB="18288" anchor="ctr">
                    <a:solidFill>
                      <a:srgbClr val="F7F9FC"/>
                    </a:solidFill>
                  </a:tcPr>
                </a:tc>
              </a:tr>
              <a:tr h="315468">
                <a:tc>
                  <a:txBody>
                    <a:bodyPr/>
                    <a:lstStyle/>
                    <a:p>
                      <a:pPr algn="l"/>
                      <a:r>
                        <a:rPr sz="950" b="0">
                          <a:solidFill>
                            <a:srgbClr val="1B2740"/>
                          </a:solidFill>
                          <a:latin typeface="맑은 고딕"/>
                          <a:ea typeface="맑은 고딕"/>
                          <a:cs typeface="맑은 고딕"/>
                        </a:rPr>
                        <a:t>결과 화면</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True · Plot · Track 심볼 2D · 3D</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TargetSimUI (MFC)</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4.1 ~ 4.3</a:t>
                      </a:r>
                    </a:p>
                  </a:txBody>
                  <a:tcPr marL="54864" marR="54864" marT="18288" marB="18288"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01. 트랙 개시</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트랙이 무엇인지부터 보고, 플롯 두 개로 트랙을 시작하는 2-Point 개시와 속도 게이트를 설명합니다.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1.1</a:t>
            </a:r>
            <a:endParaRPr lang="en-US" sz="1400" dirty="0"/>
          </a:p>
        </p:txBody>
      </p:sp>
      <p:sp>
        <p:nvSpPr>
          <p:cNvPr id="5" name="Text 3"/>
          <p:cNvSpPr txBox="1"/>
          <p:nvPr/>
        </p:nvSpPr>
        <p:spPr>
          <a:xfrm>
            <a:off x="1418234" y="2057400"/>
            <a:ext cx="106578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트랙이란</a:t>
            </a:r>
            <a:endParaRPr lang="en-US" sz="1400" dirty="0"/>
          </a:p>
        </p:txBody>
      </p:sp>
      <p:sp>
        <p:nvSpPr>
          <p:cNvPr id="6" name="Shape 4"/>
          <p:cNvSpPr/>
          <p:nvPr/>
        </p:nvSpPr>
        <p:spPr>
          <a:xfrm>
            <a:off x="2592832" y="2313432"/>
            <a:ext cx="8014207"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5</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1.2</a:t>
            </a:r>
            <a:endParaRPr lang="en-US" sz="1400" dirty="0"/>
          </a:p>
        </p:txBody>
      </p:sp>
      <p:sp>
        <p:nvSpPr>
          <p:cNvPr id="9" name="Text 3"/>
          <p:cNvSpPr txBox="1"/>
          <p:nvPr/>
        </p:nvSpPr>
        <p:spPr>
          <a:xfrm>
            <a:off x="1418234" y="2464308"/>
            <a:ext cx="222220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1-Point 와 2-Point 개시</a:t>
            </a:r>
            <a:endParaRPr lang="en-US" sz="1400" dirty="0"/>
          </a:p>
        </p:txBody>
      </p:sp>
      <p:sp>
        <p:nvSpPr>
          <p:cNvPr id="10" name="Shape 4"/>
          <p:cNvSpPr/>
          <p:nvPr/>
        </p:nvSpPr>
        <p:spPr>
          <a:xfrm>
            <a:off x="3749254" y="2720339"/>
            <a:ext cx="6857785"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6</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1.3</a:t>
            </a:r>
            <a:endParaRPr lang="en-US" sz="1400" dirty="0"/>
          </a:p>
        </p:txBody>
      </p:sp>
      <p:sp>
        <p:nvSpPr>
          <p:cNvPr id="13" name="Text 3"/>
          <p:cNvSpPr txBox="1"/>
          <p:nvPr/>
        </p:nvSpPr>
        <p:spPr>
          <a:xfrm>
            <a:off x="1418234" y="2871216"/>
            <a:ext cx="190927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2-Point 개시의 계산</a:t>
            </a:r>
            <a:endParaRPr lang="en-US" sz="1400" dirty="0"/>
          </a:p>
        </p:txBody>
      </p:sp>
      <p:sp>
        <p:nvSpPr>
          <p:cNvPr id="14" name="Shape 4"/>
          <p:cNvSpPr/>
          <p:nvPr/>
        </p:nvSpPr>
        <p:spPr>
          <a:xfrm>
            <a:off x="3436326" y="3127248"/>
            <a:ext cx="7170713"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7</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1.4</a:t>
            </a:r>
            <a:endParaRPr lang="en-US" sz="1400" dirty="0"/>
          </a:p>
        </p:txBody>
      </p:sp>
      <p:sp>
        <p:nvSpPr>
          <p:cNvPr id="17" name="Text 3"/>
          <p:cNvSpPr txBox="1"/>
          <p:nvPr/>
        </p:nvSpPr>
        <p:spPr>
          <a:xfrm>
            <a:off x="1418234" y="3278124"/>
            <a:ext cx="126919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속도 게이팅</a:t>
            </a:r>
            <a:endParaRPr lang="en-US" sz="1400" dirty="0"/>
          </a:p>
        </p:txBody>
      </p:sp>
      <p:sp>
        <p:nvSpPr>
          <p:cNvPr id="18" name="Shape 4"/>
          <p:cNvSpPr/>
          <p:nvPr/>
        </p:nvSpPr>
        <p:spPr>
          <a:xfrm>
            <a:off x="2796246" y="3534156"/>
            <a:ext cx="7810793"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8</a:t>
            </a:r>
            <a:endParaRPr lang="en-US" sz="1300" dirty="0"/>
          </a:p>
        </p:txBody>
      </p:sp>
      <p:sp>
        <p:nvSpPr>
          <p:cNvPr id="20" name="Text 2"/>
          <p:cNvSpPr txBox="1"/>
          <p:nvPr/>
        </p:nvSpPr>
        <p:spPr>
          <a:xfrm>
            <a:off x="859536" y="368503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1.5</a:t>
            </a:r>
            <a:endParaRPr lang="en-US" sz="1400" dirty="0"/>
          </a:p>
        </p:txBody>
      </p:sp>
      <p:sp>
        <p:nvSpPr>
          <p:cNvPr id="21" name="Text 3"/>
          <p:cNvSpPr txBox="1"/>
          <p:nvPr/>
        </p:nvSpPr>
        <p:spPr>
          <a:xfrm>
            <a:off x="1418234" y="3685032"/>
            <a:ext cx="2668873"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측정 오차를 VC-NED 로 옮기기</a:t>
            </a:r>
            <a:endParaRPr lang="en-US" sz="1400" dirty="0"/>
          </a:p>
        </p:txBody>
      </p:sp>
      <p:sp>
        <p:nvSpPr>
          <p:cNvPr id="22" name="Shape 4"/>
          <p:cNvSpPr/>
          <p:nvPr/>
        </p:nvSpPr>
        <p:spPr>
          <a:xfrm>
            <a:off x="4195921" y="3941064"/>
            <a:ext cx="6411118" cy="0"/>
          </a:xfrm>
          <a:prstGeom prst="line">
            <a:avLst/>
          </a:prstGeom>
          <a:noFill/>
          <a:ln w="15875">
            <a:solidFill>
              <a:srgbClr val="AEB9CC"/>
            </a:solidFill>
            <a:prstDash val="sysDot"/>
          </a:ln>
        </p:spPr>
      </p:sp>
      <p:sp>
        <p:nvSpPr>
          <p:cNvPr id="23" name="Text 5"/>
          <p:cNvSpPr txBox="1"/>
          <p:nvPr/>
        </p:nvSpPr>
        <p:spPr>
          <a:xfrm>
            <a:off x="10736885" y="368503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9</a:t>
            </a:r>
            <a:endParaRPr lang="en-US" sz="1300" dirty="0"/>
          </a:p>
        </p:txBody>
      </p:sp>
      <p:sp>
        <p:nvSpPr>
          <p:cNvPr id="24"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1.1 트랙이란</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레이다는 스캔마다 점 (플롯) 을 찍어 줄 뿐입니다. 같은 표적에서 나온 점을 시간 순서로 이어 위치와 속도를 붙인 것이 트랙입니다.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 · 2 개요</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12848"/>
            <a:ext cx="4572000" cy="256032"/>
          </a:xfrm>
          <a:prstGeom prst="rect">
            <a:avLst/>
          </a:prstGeom>
          <a:noFill/>
        </p:spPr>
        <p:txBody>
          <a:bodyPr wrap="square" lIns="0" tIns="0" rIns="0" bIns="0" anchor="ctr">
            <a:spAutoFit/>
          </a:bodyPr>
          <a:lstStyle/>
          <a:p>
            <a:pPr algn="l"/>
            <a:r>
              <a:rPr sz="1200" b="1">
                <a:solidFill>
                  <a:srgbClr val="1B2740"/>
                </a:solidFill>
                <a:latin typeface="맑은 고딕"/>
                <a:ea typeface="맑은 고딕"/>
                <a:cs typeface="맑은 고딕"/>
              </a:rPr>
              <a:t>레이다 데이터 처리 흐름에서 이번 과제의 자리</a:t>
            </a:r>
          </a:p>
        </p:txBody>
      </p:sp>
      <p:sp>
        <p:nvSpPr>
          <p:cNvPr id="8" name="Rectangle 7"/>
          <p:cNvSpPr/>
          <p:nvPr/>
        </p:nvSpPr>
        <p:spPr>
          <a:xfrm>
            <a:off x="640080" y="2542032"/>
            <a:ext cx="2459736" cy="603504"/>
          </a:xfrm>
          <a:prstGeom prst="rect">
            <a:avLst/>
          </a:prstGeom>
          <a:solidFill>
            <a:srgbClr val="F7F9FC"/>
          </a:solidFill>
          <a:ln w="9525">
            <a:solidFill>
              <a:srgbClr val="D2D9E5"/>
            </a:solidFill>
          </a:ln>
        </p:spPr>
        <p:txBody>
          <a:bodyPr rtlCol="0" anchor="ctr"/>
          <a:lstStyle/>
          <a:p>
            <a:pPr algn="ctr"/>
          </a:p>
        </p:txBody>
      </p:sp>
      <p:sp>
        <p:nvSpPr>
          <p:cNvPr id="9" name="TextBox 8"/>
          <p:cNvSpPr txBox="1"/>
          <p:nvPr/>
        </p:nvSpPr>
        <p:spPr>
          <a:xfrm>
            <a:off x="640080" y="2606040"/>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표적 궤적 모의</a:t>
            </a:r>
          </a:p>
        </p:txBody>
      </p:sp>
      <p:sp>
        <p:nvSpPr>
          <p:cNvPr id="10" name="TextBox 9"/>
          <p:cNvSpPr txBox="1"/>
          <p:nvPr/>
        </p:nvSpPr>
        <p:spPr>
          <a:xfrm>
            <a:off x="640080" y="2871216"/>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과제 3 · 시각별 참값 위치</a:t>
            </a:r>
          </a:p>
        </p:txBody>
      </p:sp>
      <p:cxnSp>
        <p:nvCxnSpPr>
          <p:cNvPr id="11" name="Connector 10"/>
          <p:cNvCxnSpPr/>
          <p:nvPr/>
        </p:nvCxnSpPr>
        <p:spPr>
          <a:xfrm>
            <a:off x="3127248" y="2843784"/>
            <a:ext cx="301752" cy="0"/>
          </a:xfrm>
          <a:prstGeom prst="line">
            <a:avLst/>
          </a:prstGeom>
          <a:ln w="12700">
            <a:solidFill>
              <a:srgbClr val="8794AC"/>
            </a:solidFill>
            <a:tailEnd type="triangle" w="med" len="med"/>
          </a:ln>
        </p:spPr>
      </p:cxnSp>
      <p:sp>
        <p:nvSpPr>
          <p:cNvPr id="12" name="Rectangle 11"/>
          <p:cNvSpPr/>
          <p:nvPr/>
        </p:nvSpPr>
        <p:spPr>
          <a:xfrm>
            <a:off x="3456432" y="2542032"/>
            <a:ext cx="2459736" cy="603504"/>
          </a:xfrm>
          <a:prstGeom prst="rect">
            <a:avLst/>
          </a:prstGeom>
          <a:solidFill>
            <a:srgbClr val="F7F9FC"/>
          </a:solidFill>
          <a:ln w="9525">
            <a:solidFill>
              <a:srgbClr val="D2D9E5"/>
            </a:solidFill>
          </a:ln>
        </p:spPr>
        <p:txBody>
          <a:bodyPr rtlCol="0" anchor="ctr"/>
          <a:lstStyle/>
          <a:p>
            <a:pPr algn="ctr"/>
          </a:p>
        </p:txBody>
      </p:sp>
      <p:sp>
        <p:nvSpPr>
          <p:cNvPr id="13" name="TextBox 12"/>
          <p:cNvSpPr txBox="1"/>
          <p:nvPr/>
        </p:nvSpPr>
        <p:spPr>
          <a:xfrm>
            <a:off x="3456432" y="2606040"/>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측정 모의</a:t>
            </a:r>
          </a:p>
        </p:txBody>
      </p:sp>
      <p:sp>
        <p:nvSpPr>
          <p:cNvPr id="14" name="TextBox 13"/>
          <p:cNvSpPr txBox="1"/>
          <p:nvPr/>
        </p:nvSpPr>
        <p:spPr>
          <a:xfrm>
            <a:off x="3456432" y="2871216"/>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과제 4 · 플롯 · 클러터 생성</a:t>
            </a:r>
          </a:p>
        </p:txBody>
      </p:sp>
      <p:cxnSp>
        <p:nvCxnSpPr>
          <p:cNvPr id="15" name="Connector 14"/>
          <p:cNvCxnSpPr/>
          <p:nvPr/>
        </p:nvCxnSpPr>
        <p:spPr>
          <a:xfrm>
            <a:off x="5943600" y="2843784"/>
            <a:ext cx="301752" cy="0"/>
          </a:xfrm>
          <a:prstGeom prst="line">
            <a:avLst/>
          </a:prstGeom>
          <a:ln w="12700">
            <a:solidFill>
              <a:srgbClr val="8794AC"/>
            </a:solidFill>
            <a:tailEnd type="triangle" w="med" len="med"/>
          </a:ln>
        </p:spPr>
      </p:cxnSp>
      <p:sp>
        <p:nvSpPr>
          <p:cNvPr id="16" name="Rectangle 15"/>
          <p:cNvSpPr/>
          <p:nvPr/>
        </p:nvSpPr>
        <p:spPr>
          <a:xfrm>
            <a:off x="6272784" y="2542032"/>
            <a:ext cx="2459736" cy="603504"/>
          </a:xfrm>
          <a:prstGeom prst="rect">
            <a:avLst/>
          </a:prstGeom>
          <a:solidFill>
            <a:srgbClr val="EEF4FF"/>
          </a:solidFill>
          <a:ln w="15875">
            <a:solidFill>
              <a:srgbClr val="2563EB"/>
            </a:solidFill>
          </a:ln>
        </p:spPr>
        <p:txBody>
          <a:bodyPr rtlCol="0" anchor="ctr"/>
          <a:lstStyle/>
          <a:p>
            <a:pPr algn="ctr"/>
          </a:p>
        </p:txBody>
      </p:sp>
      <p:sp>
        <p:nvSpPr>
          <p:cNvPr id="17" name="TextBox 16"/>
          <p:cNvSpPr txBox="1"/>
          <p:nvPr/>
        </p:nvSpPr>
        <p:spPr>
          <a:xfrm>
            <a:off x="6272784" y="2606040"/>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트랙 개시 · 관리</a:t>
            </a:r>
          </a:p>
        </p:txBody>
      </p:sp>
      <p:sp>
        <p:nvSpPr>
          <p:cNvPr id="18" name="TextBox 17"/>
          <p:cNvSpPr txBox="1"/>
          <p:nvPr/>
        </p:nvSpPr>
        <p:spPr>
          <a:xfrm>
            <a:off x="6272784" y="2871216"/>
            <a:ext cx="2459736" cy="219456"/>
          </a:xfrm>
          <a:prstGeom prst="rect">
            <a:avLst/>
          </a:prstGeom>
          <a:noFill/>
        </p:spPr>
        <p:txBody>
          <a:bodyPr wrap="square" lIns="0" tIns="0" rIns="0" bIns="0" anchor="ctr">
            <a:spAutoFit/>
          </a:bodyPr>
          <a:lstStyle/>
          <a:p>
            <a:pPr algn="ctr"/>
            <a:r>
              <a:rPr sz="1050" b="0">
                <a:solidFill>
                  <a:srgbClr val="4A5A7A"/>
                </a:solidFill>
                <a:latin typeface="맑은 고딕"/>
                <a:ea typeface="맑은 고딕"/>
                <a:cs typeface="맑은 고딕"/>
              </a:rPr>
              <a:t>과제 5 · 이번 과제</a:t>
            </a:r>
          </a:p>
        </p:txBody>
      </p:sp>
      <p:cxnSp>
        <p:nvCxnSpPr>
          <p:cNvPr id="19" name="Connector 18"/>
          <p:cNvCxnSpPr/>
          <p:nvPr/>
        </p:nvCxnSpPr>
        <p:spPr>
          <a:xfrm>
            <a:off x="8759952" y="2843784"/>
            <a:ext cx="301752" cy="0"/>
          </a:xfrm>
          <a:prstGeom prst="line">
            <a:avLst/>
          </a:prstGeom>
          <a:ln w="12700">
            <a:solidFill>
              <a:srgbClr val="8794AC"/>
            </a:solidFill>
            <a:tailEnd type="triangle" w="med" len="med"/>
          </a:ln>
        </p:spPr>
      </p:cxnSp>
      <p:sp>
        <p:nvSpPr>
          <p:cNvPr id="20" name="Rectangle 19"/>
          <p:cNvSpPr/>
          <p:nvPr/>
        </p:nvSpPr>
        <p:spPr>
          <a:xfrm>
            <a:off x="9089136" y="2542032"/>
            <a:ext cx="2459736" cy="603504"/>
          </a:xfrm>
          <a:prstGeom prst="rect">
            <a:avLst/>
          </a:prstGeom>
          <a:solidFill>
            <a:srgbClr val="F7F9FC"/>
          </a:solidFill>
          <a:ln w="9525">
            <a:solidFill>
              <a:srgbClr val="D2D9E5"/>
            </a:solidFill>
          </a:ln>
        </p:spPr>
        <p:txBody>
          <a:bodyPr rtlCol="0" anchor="ctr"/>
          <a:lstStyle/>
          <a:p>
            <a:pPr algn="ctr"/>
          </a:p>
        </p:txBody>
      </p:sp>
      <p:sp>
        <p:nvSpPr>
          <p:cNvPr id="21" name="TextBox 20"/>
          <p:cNvSpPr txBox="1"/>
          <p:nvPr/>
        </p:nvSpPr>
        <p:spPr>
          <a:xfrm>
            <a:off x="9089136" y="2606040"/>
            <a:ext cx="2459736" cy="274320"/>
          </a:xfrm>
          <a:prstGeom prst="rect">
            <a:avLst/>
          </a:prstGeom>
          <a:noFill/>
        </p:spPr>
        <p:txBody>
          <a:bodyPr wrap="square" lIns="0" tIns="0" rIns="0" bIns="0" anchor="ctr">
            <a:spAutoFit/>
          </a:bodyPr>
          <a:lstStyle/>
          <a:p>
            <a:pPr algn="ctr"/>
            <a:r>
              <a:rPr sz="1250" b="1">
                <a:solidFill>
                  <a:srgbClr val="7A879F"/>
                </a:solidFill>
                <a:latin typeface="맑은 고딕"/>
                <a:ea typeface="맑은 고딕"/>
                <a:cs typeface="맑은 고딕"/>
              </a:rPr>
              <a:t>연관 · 추적 필터</a:t>
            </a:r>
          </a:p>
        </p:txBody>
      </p:sp>
      <p:sp>
        <p:nvSpPr>
          <p:cNvPr id="22" name="TextBox 21"/>
          <p:cNvSpPr txBox="1"/>
          <p:nvPr/>
        </p:nvSpPr>
        <p:spPr>
          <a:xfrm>
            <a:off x="9089136" y="2871216"/>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다음 과제 · 플롯을 트랙에 붙여 추정</a:t>
            </a:r>
          </a:p>
        </p:txBody>
      </p:sp>
      <p:cxnSp>
        <p:nvCxnSpPr>
          <p:cNvPr id="23" name="Connector 22"/>
          <p:cNvCxnSpPr/>
          <p:nvPr/>
        </p:nvCxnSpPr>
        <p:spPr>
          <a:xfrm>
            <a:off x="640080" y="3346704"/>
            <a:ext cx="10908792" cy="0"/>
          </a:xfrm>
          <a:prstGeom prst="line">
            <a:avLst/>
          </a:prstGeom>
          <a:ln w="9525">
            <a:solidFill>
              <a:srgbClr val="D2D9E5"/>
            </a:solidFill>
          </a:ln>
        </p:spPr>
      </p:cxnSp>
      <p:sp>
        <p:nvSpPr>
          <p:cNvPr id="24" name="TextBox 23"/>
          <p:cNvSpPr txBox="1"/>
          <p:nvPr/>
        </p:nvSpPr>
        <p:spPr>
          <a:xfrm>
            <a:off x="640080" y="3438144"/>
            <a:ext cx="6309360" cy="256032"/>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스캔마다 들어오는 플롯이 트랙이 되기까지</a:t>
            </a:r>
          </a:p>
        </p:txBody>
      </p:sp>
      <p:pic>
        <p:nvPicPr>
          <p:cNvPr id="25" name="Picture 24" descr="fig_track_concept.png"/>
          <p:cNvPicPr>
            <a:picLocks noChangeAspect="1"/>
          </p:cNvPicPr>
          <p:nvPr/>
        </p:nvPicPr>
        <p:blipFill>
          <a:blip r:embed="rId3"/>
          <a:stretch>
            <a:fillRect/>
          </a:stretch>
        </p:blipFill>
        <p:spPr>
          <a:xfrm>
            <a:off x="640080" y="3730752"/>
            <a:ext cx="6309360" cy="2331720"/>
          </a:xfrm>
          <a:prstGeom prst="rect">
            <a:avLst/>
          </a:prstGeom>
        </p:spPr>
      </p:pic>
      <p:sp>
        <p:nvSpPr>
          <p:cNvPr id="26" name="Rounded Rectangle 25"/>
          <p:cNvSpPr/>
          <p:nvPr/>
        </p:nvSpPr>
        <p:spPr>
          <a:xfrm>
            <a:off x="7269480" y="3730752"/>
            <a:ext cx="841248" cy="274320"/>
          </a:xfrm>
          <a:prstGeom prst="roundRect">
            <a:avLst>
              <a:gd name="adj" fmla="val 26666"/>
            </a:avLst>
          </a:prstGeom>
          <a:solidFill>
            <a:srgbClr val="FFFFFF"/>
          </a:solidFill>
          <a:ln w="12700">
            <a:solidFill>
              <a:srgbClr val="374151"/>
            </a:solidFill>
          </a:ln>
        </p:spPr>
        <p:txBody>
          <a:bodyPr rtlCol="0" anchor="ctr" lIns="0" tIns="0" rIns="0" bIns="0" wrap="square"/>
          <a:lstStyle/>
          <a:p>
            <a:pPr algn="ctr"/>
            <a:r>
              <a:rPr sz="1050" b="1">
                <a:solidFill>
                  <a:srgbClr val="374151"/>
                </a:solidFill>
                <a:latin typeface="맑은 고딕"/>
                <a:ea typeface="맑은 고딕"/>
                <a:cs typeface="맑은 고딕"/>
              </a:rPr>
              <a:t>스캔</a:t>
            </a:r>
          </a:p>
        </p:txBody>
      </p:sp>
      <p:sp>
        <p:nvSpPr>
          <p:cNvPr id="27" name="TextBox 26"/>
          <p:cNvSpPr txBox="1"/>
          <p:nvPr/>
        </p:nvSpPr>
        <p:spPr>
          <a:xfrm>
            <a:off x="8247888" y="3767328"/>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레이다가 전체 영역을 한 번 훑는 것. 이번 과제는 0.1 초마다 한 번</a:t>
            </a:r>
          </a:p>
        </p:txBody>
      </p:sp>
      <p:sp>
        <p:nvSpPr>
          <p:cNvPr id="28" name="Rounded Rectangle 27"/>
          <p:cNvSpPr/>
          <p:nvPr/>
        </p:nvSpPr>
        <p:spPr>
          <a:xfrm>
            <a:off x="7269480" y="4206240"/>
            <a:ext cx="841248" cy="274320"/>
          </a:xfrm>
          <a:prstGeom prst="roundRect">
            <a:avLst>
              <a:gd name="adj" fmla="val 26666"/>
            </a:avLst>
          </a:prstGeom>
          <a:solidFill>
            <a:srgbClr val="FFFFFF"/>
          </a:solidFill>
          <a:ln w="12700">
            <a:solidFill>
              <a:srgbClr val="1F2937"/>
            </a:solidFill>
          </a:ln>
        </p:spPr>
        <p:txBody>
          <a:bodyPr rtlCol="0" anchor="ctr" lIns="0" tIns="0" rIns="0" bIns="0" wrap="square"/>
          <a:lstStyle/>
          <a:p>
            <a:pPr algn="ctr"/>
            <a:r>
              <a:rPr sz="1050" b="1">
                <a:solidFill>
                  <a:srgbClr val="1F2937"/>
                </a:solidFill>
                <a:latin typeface="맑은 고딕"/>
                <a:ea typeface="맑은 고딕"/>
                <a:cs typeface="맑은 고딕"/>
              </a:rPr>
              <a:t>플롯</a:t>
            </a:r>
          </a:p>
        </p:txBody>
      </p:sp>
      <p:sp>
        <p:nvSpPr>
          <p:cNvPr id="29" name="TextBox 28"/>
          <p:cNvSpPr txBox="1"/>
          <p:nvPr/>
        </p:nvSpPr>
        <p:spPr>
          <a:xfrm>
            <a:off x="8247888" y="4242816"/>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레이다가 표적을 한 번 잰 결과. 거리 · 방위각 · 고각</a:t>
            </a:r>
          </a:p>
        </p:txBody>
      </p:sp>
      <p:sp>
        <p:nvSpPr>
          <p:cNvPr id="30" name="Rounded Rectangle 29"/>
          <p:cNvSpPr/>
          <p:nvPr/>
        </p:nvSpPr>
        <p:spPr>
          <a:xfrm>
            <a:off x="7269480" y="4681728"/>
            <a:ext cx="841248" cy="274320"/>
          </a:xfrm>
          <a:prstGeom prst="roundRect">
            <a:avLst>
              <a:gd name="adj" fmla="val 26666"/>
            </a:avLst>
          </a:prstGeom>
          <a:solidFill>
            <a:srgbClr val="FFFFFF"/>
          </a:solidFill>
          <a:ln w="12700">
            <a:solidFill>
              <a:srgbClr val="6B7280"/>
            </a:solidFill>
          </a:ln>
        </p:spPr>
        <p:txBody>
          <a:bodyPr rtlCol="0" anchor="ctr" lIns="0" tIns="0" rIns="0" bIns="0" wrap="square"/>
          <a:lstStyle/>
          <a:p>
            <a:pPr algn="ctr"/>
            <a:r>
              <a:rPr sz="1050" b="1">
                <a:solidFill>
                  <a:srgbClr val="6B7280"/>
                </a:solidFill>
                <a:latin typeface="맑은 고딕"/>
                <a:ea typeface="맑은 고딕"/>
                <a:cs typeface="맑은 고딕"/>
              </a:rPr>
              <a:t>클러터</a:t>
            </a:r>
          </a:p>
        </p:txBody>
      </p:sp>
      <p:sp>
        <p:nvSpPr>
          <p:cNvPr id="31" name="TextBox 30"/>
          <p:cNvSpPr txBox="1"/>
          <p:nvPr/>
        </p:nvSpPr>
        <p:spPr>
          <a:xfrm>
            <a:off x="8247888" y="4718304"/>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표적이 아닌 것에서 나온 플롯. 표적 플롯과 섞여 들어온다</a:t>
            </a:r>
          </a:p>
        </p:txBody>
      </p:sp>
      <p:sp>
        <p:nvSpPr>
          <p:cNvPr id="32" name="Rounded Rectangle 31"/>
          <p:cNvSpPr/>
          <p:nvPr/>
        </p:nvSpPr>
        <p:spPr>
          <a:xfrm>
            <a:off x="7269480" y="5157216"/>
            <a:ext cx="841248" cy="274320"/>
          </a:xfrm>
          <a:prstGeom prst="roundRect">
            <a:avLst>
              <a:gd name="adj" fmla="val 26666"/>
            </a:avLst>
          </a:prstGeom>
          <a:solidFill>
            <a:srgbClr val="FFFFFF"/>
          </a:solidFill>
          <a:ln w="12700">
            <a:solidFill>
              <a:srgbClr val="2563EB"/>
            </a:solidFill>
          </a:ln>
        </p:spPr>
        <p:txBody>
          <a:bodyPr rtlCol="0" anchor="ctr" lIns="0" tIns="0" rIns="0" bIns="0" wrap="square"/>
          <a:lstStyle/>
          <a:p>
            <a:pPr algn="ctr"/>
            <a:r>
              <a:rPr sz="1050" b="1">
                <a:solidFill>
                  <a:srgbClr val="2563EB"/>
                </a:solidFill>
                <a:latin typeface="맑은 고딕"/>
                <a:ea typeface="맑은 고딕"/>
                <a:cs typeface="맑은 고딕"/>
              </a:rPr>
              <a:t>트랙 개시</a:t>
            </a:r>
          </a:p>
        </p:txBody>
      </p:sp>
      <p:sp>
        <p:nvSpPr>
          <p:cNvPr id="33" name="TextBox 32"/>
          <p:cNvSpPr txBox="1"/>
          <p:nvPr/>
        </p:nvSpPr>
        <p:spPr>
          <a:xfrm>
            <a:off x="8247888" y="5193792"/>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같은 표적으로 보이는 플롯으로 트랙을 처음 만드는 것</a:t>
            </a:r>
          </a:p>
        </p:txBody>
      </p:sp>
      <p:sp>
        <p:nvSpPr>
          <p:cNvPr id="34" name="Rounded Rectangle 33"/>
          <p:cNvSpPr/>
          <p:nvPr/>
        </p:nvSpPr>
        <p:spPr>
          <a:xfrm>
            <a:off x="7269480" y="5632704"/>
            <a:ext cx="841248" cy="274320"/>
          </a:xfrm>
          <a:prstGeom prst="roundRect">
            <a:avLst>
              <a:gd name="adj" fmla="val 26666"/>
            </a:avLst>
          </a:prstGeom>
          <a:solidFill>
            <a:srgbClr val="FFFFFF"/>
          </a:solidFill>
          <a:ln w="12700">
            <a:solidFill>
              <a:srgbClr val="16A34A"/>
            </a:solidFill>
          </a:ln>
        </p:spPr>
        <p:txBody>
          <a:bodyPr rtlCol="0" anchor="ctr" lIns="0" tIns="0" rIns="0" bIns="0" wrap="square"/>
          <a:lstStyle/>
          <a:p>
            <a:pPr algn="ctr"/>
            <a:r>
              <a:rPr sz="1050" b="1">
                <a:solidFill>
                  <a:srgbClr val="16A34A"/>
                </a:solidFill>
                <a:latin typeface="맑은 고딕"/>
                <a:ea typeface="맑은 고딕"/>
                <a:cs typeface="맑은 고딕"/>
              </a:rPr>
              <a:t>트랙 관리</a:t>
            </a:r>
          </a:p>
        </p:txBody>
      </p:sp>
      <p:sp>
        <p:nvSpPr>
          <p:cNvPr id="35" name="TextBox 34"/>
          <p:cNvSpPr txBox="1"/>
          <p:nvPr/>
        </p:nvSpPr>
        <p:spPr>
          <a:xfrm>
            <a:off x="8247888" y="5669280"/>
            <a:ext cx="3291840" cy="274320"/>
          </a:xfrm>
          <a:prstGeom prst="rect">
            <a:avLst/>
          </a:prstGeom>
          <a:noFill/>
        </p:spPr>
        <p:txBody>
          <a:bodyPr wrap="square" lIns="0" tIns="0" rIns="0" bIns="0" anchor="t">
            <a:spAutoFit/>
          </a:bodyPr>
          <a:lstStyle/>
          <a:p>
            <a:pPr algn="l"/>
            <a:r>
              <a:rPr sz="1050" b="0">
                <a:solidFill>
                  <a:srgbClr val="1B2740"/>
                </a:solidFill>
                <a:latin typeface="맑은 고딕"/>
                <a:ea typeface="맑은 고딕"/>
                <a:cs typeface="맑은 고딕"/>
              </a:rPr>
              <a:t>트랙이 진짜 표적인지 판단해 확정하거나 지우는 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1.2 1-Point 와 2-Point 개시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 하나로 바로 시작할 수도 있고, 연속 두 스캔 (또는 드웰) 의 플롯 두 개를 기다려 시작할 수도 있습니다. 차이는 속도를 아느냐입니다.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1.1 · 1.2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1p2p.png"/>
          <p:cNvPicPr>
            <a:picLocks noChangeAspect="1"/>
          </p:cNvPicPr>
          <p:nvPr/>
        </p:nvPicPr>
        <p:blipFill>
          <a:blip r:embed="rId3"/>
          <a:stretch>
            <a:fillRect/>
          </a:stretch>
        </p:blipFill>
        <p:spPr>
          <a:xfrm>
            <a:off x="640080" y="2212848"/>
            <a:ext cx="6583680" cy="2480153"/>
          </a:xfrm>
          <a:prstGeom prst="rect">
            <a:avLst/>
          </a:prstGeom>
        </p:spPr>
      </p:pic>
      <p:graphicFrame>
        <p:nvGraphicFramePr>
          <p:cNvPr id="8" name="Table 7"/>
          <p:cNvGraphicFramePr>
            <a:graphicFrameLocks noGrp="1"/>
          </p:cNvGraphicFramePr>
          <p:nvPr/>
        </p:nvGraphicFramePr>
        <p:xfrm>
          <a:off x="7452360" y="2286000"/>
          <a:ext cx="4096512" cy="2103120"/>
        </p:xfrm>
        <a:graphic>
          <a:graphicData uri="http://schemas.openxmlformats.org/drawingml/2006/table">
            <a:tbl>
              <a:tblPr firstRow="1" bandRow="1">
                <a:tableStyleId>{5C22544A-7EE6-4342-B048-85BDC9FD1C3A}</a:tableStyleId>
              </a:tblPr>
              <a:tblGrid>
                <a:gridCol w="777240"/>
                <a:gridCol w="1572768"/>
                <a:gridCol w="1746504"/>
              </a:tblGrid>
              <a:tr h="420624">
                <a:tc>
                  <a:txBody>
                    <a:bodyPr/>
                    <a:lstStyle/>
                    <a:p>
                      <a:pPr algn="l"/>
                      <a:r>
                        <a:rPr sz="950" b="1">
                          <a:solidFill>
                            <a:srgbClr val="FFFFFF"/>
                          </a:solidFill>
                          <a:latin typeface="맑은 고딕"/>
                          <a:ea typeface="맑은 고딕"/>
                          <a:cs typeface="맑은 고딕"/>
                        </a:rPr>
                        <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1-Point 개시</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2-Point 개시  (이번 과제)</a:t>
                      </a:r>
                    </a:p>
                  </a:txBody>
                  <a:tcPr marL="54864" marR="54864" marT="18288" marB="18288" anchor="ctr">
                    <a:solidFill>
                      <a:srgbClr val="1B2740"/>
                    </a:solidFill>
                  </a:tcPr>
                </a:tc>
              </a:tr>
              <a:tr h="420624">
                <a:tc>
                  <a:txBody>
                    <a:bodyPr/>
                    <a:lstStyle/>
                    <a:p>
                      <a:pPr algn="l"/>
                      <a:r>
                        <a:rPr sz="950" b="0">
                          <a:solidFill>
                            <a:srgbClr val="1B2740"/>
                          </a:solidFill>
                          <a:latin typeface="맑은 고딕"/>
                          <a:ea typeface="맑은 고딕"/>
                          <a:cs typeface="맑은 고딕"/>
                        </a:rPr>
                        <a:t>쓰는 플롯</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 개 (이번 스캔)</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 개 (앞 스캔 + 이번 스캔)</a:t>
                      </a:r>
                    </a:p>
                  </a:txBody>
                  <a:tcPr marL="54864" marR="54864" marT="18288" marB="18288" anchor="ctr">
                    <a:solidFill>
                      <a:srgbClr val="FFFFFF"/>
                    </a:solidFill>
                  </a:tcPr>
                </a:tc>
              </a:tr>
              <a:tr h="420624">
                <a:tc>
                  <a:txBody>
                    <a:bodyPr/>
                    <a:lstStyle/>
                    <a:p>
                      <a:pPr algn="l"/>
                      <a:r>
                        <a:rPr sz="950" b="0">
                          <a:solidFill>
                            <a:srgbClr val="1B2740"/>
                          </a:solidFill>
                          <a:latin typeface="맑은 고딕"/>
                          <a:ea typeface="맑은 고딕"/>
                          <a:cs typeface="맑은 고딕"/>
                        </a:rPr>
                        <a:t>초기 속도</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모름 -&gt; 0 으로 두고 오차를 크게</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두 위치의 차 / 스캔 간격</a:t>
                      </a:r>
                    </a:p>
                  </a:txBody>
                  <a:tcPr marL="54864" marR="54864" marT="18288" marB="18288" anchor="ctr">
                    <a:solidFill>
                      <a:srgbClr val="F7F9FC"/>
                    </a:solidFill>
                  </a:tcPr>
                </a:tc>
              </a:tr>
              <a:tr h="420624">
                <a:tc>
                  <a:txBody>
                    <a:bodyPr/>
                    <a:lstStyle/>
                    <a:p>
                      <a:pPr algn="l"/>
                      <a:r>
                        <a:rPr sz="950" b="0">
                          <a:solidFill>
                            <a:srgbClr val="1B2740"/>
                          </a:solidFill>
                          <a:latin typeface="맑은 고딕"/>
                          <a:ea typeface="맑은 고딕"/>
                          <a:cs typeface="맑은 고딕"/>
                        </a:rPr>
                        <a:t>장점</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플롯이 오자마자 바로 개시 (빠름)</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속도를 알아 초기 속도 오차가 작음</a:t>
                      </a:r>
                    </a:p>
                  </a:txBody>
                  <a:tcPr marL="54864" marR="54864" marT="18288" marB="18288" anchor="ctr">
                    <a:solidFill>
                      <a:srgbClr val="FFFFFF"/>
                    </a:solidFill>
                  </a:tcPr>
                </a:tc>
              </a:tr>
              <a:tr h="420624">
                <a:tc>
                  <a:txBody>
                    <a:bodyPr/>
                    <a:lstStyle/>
                    <a:p>
                      <a:pPr algn="l"/>
                      <a:r>
                        <a:rPr sz="950" b="0">
                          <a:solidFill>
                            <a:srgbClr val="1B2740"/>
                          </a:solidFill>
                          <a:latin typeface="맑은 고딕"/>
                          <a:ea typeface="맑은 고딕"/>
                          <a:cs typeface="맑은 고딕"/>
                        </a:rPr>
                        <a:t>단점</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초기 속도 오차가 큼</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두 스캔을 기다려야 해 개시가 한 스캔 늦음</a:t>
                      </a:r>
                    </a:p>
                  </a:txBody>
                  <a:tcPr marL="54864" marR="54864" marT="18288" marB="18288" anchor="ctr">
                    <a:solidFill>
                      <a:srgbClr val="F7F9FC"/>
                    </a:solidFill>
                  </a:tcPr>
                </a:tc>
              </a:tr>
            </a:tbl>
          </a:graphicData>
        </a:graphic>
      </p:graphicFrame>
      <p:sp>
        <p:nvSpPr>
          <p:cNvPr id="9" name="Rounded Rectangle 8"/>
          <p:cNvSpPr/>
          <p:nvPr/>
        </p:nvSpPr>
        <p:spPr>
          <a:xfrm>
            <a:off x="7452360" y="4617720"/>
            <a:ext cx="4096512" cy="1234440"/>
          </a:xfrm>
          <a:prstGeom prst="roundRect">
            <a:avLst>
              <a:gd name="adj" fmla="val 5925"/>
            </a:avLst>
          </a:prstGeom>
          <a:solidFill>
            <a:srgbClr val="EEF4FF"/>
          </a:solidFill>
          <a:ln w="12700">
            <a:solidFill>
              <a:srgbClr val="2563EB"/>
            </a:solidFill>
          </a:ln>
        </p:spPr>
        <p:txBody>
          <a:bodyPr rtlCol="0" anchor="ctr"/>
          <a:lstStyle/>
          <a:p>
            <a:pPr algn="ctr"/>
          </a:p>
        </p:txBody>
      </p:sp>
      <p:sp>
        <p:nvSpPr>
          <p:cNvPr id="10" name="TextBox 9"/>
          <p:cNvSpPr txBox="1"/>
          <p:nvPr/>
        </p:nvSpPr>
        <p:spPr>
          <a:xfrm>
            <a:off x="7607808" y="4681728"/>
            <a:ext cx="3794760" cy="1115568"/>
          </a:xfrm>
          <a:prstGeom prst="rect">
            <a:avLst/>
          </a:prstGeom>
          <a:noFill/>
        </p:spPr>
        <p:txBody>
          <a:bodyPr wrap="square" lIns="0" tIns="0" rIns="0" bIns="0" anchor="ctr">
            <a:spAutoFit/>
          </a:bodyPr>
          <a:lstStyle/>
          <a:p>
            <a:pPr algn="l">
              <a:lnSpc>
                <a:spcPct val="112000"/>
              </a:lnSpc>
            </a:pPr>
            <a:r>
              <a:rPr sz="1150" b="1">
                <a:solidFill>
                  <a:srgbClr val="2563EB"/>
                </a:solidFill>
                <a:latin typeface="맑은 고딕"/>
                <a:ea typeface="맑은 고딕"/>
                <a:cs typeface="맑은 고딕"/>
              </a:rPr>
              <a:t>이번 과제: 2-Point 개시</a:t>
            </a:r>
          </a:p>
          <a:p>
            <a:pPr algn="l">
              <a:lnSpc>
                <a:spcPct val="112000"/>
              </a:lnSpc>
            </a:pPr>
            <a:r>
              <a:rPr sz="1000" b="0">
                <a:solidFill>
                  <a:srgbClr val="1B2740"/>
                </a:solidFill>
                <a:latin typeface="맑은 고딕"/>
                <a:ea typeface="맑은 고딕"/>
                <a:cs typeface="맑은 고딕"/>
              </a:rPr>
              <a:t>두 플롯이 정말 같은 표적인지는 속도 게이트 (1.4) 로 먼저 거르고,</a:t>
            </a:r>
          </a:p>
          <a:p>
            <a:pPr algn="l">
              <a:lnSpc>
                <a:spcPct val="112000"/>
              </a:lnSpc>
            </a:pPr>
            <a:r>
              <a:rPr sz="1000" b="0">
                <a:solidFill>
                  <a:srgbClr val="1B2740"/>
                </a:solidFill>
                <a:latin typeface="맑은 고딕"/>
                <a:ea typeface="맑은 고딕"/>
                <a:cs typeface="맑은 고딕"/>
              </a:rPr>
              <a:t>통과한 쌍으로만 트랙을 만듭니다.</a:t>
            </a:r>
          </a:p>
          <a:p>
            <a:pPr algn="l">
              <a:lnSpc>
                <a:spcPct val="112000"/>
              </a:lnSpc>
            </a:pPr>
            <a:r>
              <a:rPr sz="900" b="0">
                <a:solidFill>
                  <a:srgbClr val="4A5A7A"/>
                </a:solidFill>
                <a:latin typeface="맑은 고딕"/>
                <a:ea typeface="맑은 고딕"/>
                <a:cs typeface="맑은 고딕"/>
              </a:rPr>
              <a:t>드웰 = 빔 하나로 한 방향을 잠깐 비추는 단위. 여기서는 스캔 = 드웰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1.3 2-Point 개시의 계산: 초기 상태변수와 오차 공분산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트랙은 상태변수 X (위치 · 속도 · 가속도) 와 그 값이 얼마나 틀릴 수 있는지 적은 오차 공분산 P 를 갖습니다. 둘 다 플롯 두 개로 계산합니다.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1.2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Oval 6"/>
          <p:cNvSpPr/>
          <p:nvPr/>
        </p:nvSpPr>
        <p:spPr>
          <a:xfrm>
            <a:off x="640080" y="2258568"/>
            <a:ext cx="237744" cy="237744"/>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950976" y="2231136"/>
            <a:ext cx="5303520" cy="292608"/>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상태변수 X</a:t>
            </a:r>
            <a:r>
              <a:rPr sz="950" b="0">
                <a:solidFill>
                  <a:srgbClr val="4A5A7A"/>
                </a:solidFill>
                <a:latin typeface="맑은 고딕"/>
                <a:ea typeface="맑은 고딕"/>
                <a:cs typeface="맑은 고딕"/>
              </a:rPr>
              <a:t>   세 축 (x, y, z) 마다 위치 · 속도 · 가속도 = 9 개</a:t>
            </a:r>
          </a:p>
        </p:txBody>
      </p:sp>
      <p:sp>
        <p:nvSpPr>
          <p:cNvPr id="9" name="TextBox 8"/>
          <p:cNvSpPr txBox="1"/>
          <p:nvPr/>
        </p:nvSpPr>
        <p:spPr>
          <a:xfrm>
            <a:off x="640080" y="2560320"/>
            <a:ext cx="5623560" cy="219456"/>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예 (x 축)   앞 스캔 플롯 5,000 m,  이번 스캔 플롯 5,030 m,  스캔 간격 T = 0.1 s</a:t>
            </a:r>
          </a:p>
        </p:txBody>
      </p:sp>
      <p:graphicFrame>
        <p:nvGraphicFramePr>
          <p:cNvPr id="10" name="Table 9"/>
          <p:cNvGraphicFramePr>
            <a:graphicFrameLocks noGrp="1"/>
          </p:cNvGraphicFramePr>
          <p:nvPr/>
        </p:nvGraphicFramePr>
        <p:xfrm>
          <a:off x="640080" y="2816352"/>
          <a:ext cx="5623560" cy="1060704"/>
        </p:xfrm>
        <a:graphic>
          <a:graphicData uri="http://schemas.openxmlformats.org/drawingml/2006/table">
            <a:tbl>
              <a:tblPr firstRow="1" bandRow="1">
                <a:tableStyleId>{5C22544A-7EE6-4342-B048-85BDC9FD1C3A}</a:tableStyleId>
              </a:tblPr>
              <a:tblGrid>
                <a:gridCol w="1143000"/>
                <a:gridCol w="2057400"/>
                <a:gridCol w="2423160"/>
              </a:tblGrid>
              <a:tr h="265176">
                <a:tc>
                  <a:txBody>
                    <a:bodyPr/>
                    <a:lstStyle/>
                    <a:p>
                      <a:pPr algn="l"/>
                      <a:r>
                        <a:rPr sz="950" b="1">
                          <a:solidFill>
                            <a:srgbClr val="FFFFFF"/>
                          </a:solidFill>
                          <a:latin typeface="맑은 고딕"/>
                          <a:ea typeface="맑은 고딕"/>
                          <a:cs typeface="맑은 고딕"/>
                        </a:rPr>
                        <a:t>성분</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식</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예 (x 축)</a:t>
                      </a:r>
                    </a:p>
                  </a:txBody>
                  <a:tcPr marL="54864" marR="54864" marT="18288" marB="18288" anchor="ctr">
                    <a:solidFill>
                      <a:srgbClr val="1B2740"/>
                    </a:solidFill>
                  </a:tcPr>
                </a:tc>
              </a:tr>
              <a:tr h="265176">
                <a:tc>
                  <a:txBody>
                    <a:bodyPr/>
                    <a:lstStyle/>
                    <a:p>
                      <a:pPr algn="l"/>
                      <a:r>
                        <a:rPr sz="1000" b="0">
                          <a:solidFill>
                            <a:srgbClr val="1B2740"/>
                          </a:solidFill>
                          <a:latin typeface="맑은 고딕"/>
                          <a:ea typeface="맑은 고딕"/>
                          <a:cs typeface="맑은 고딕"/>
                        </a:rPr>
                        <a:t>위치  x</a:t>
                      </a:r>
                    </a:p>
                  </a:txBody>
                  <a:tcPr marL="54864" marR="54864" marT="18288" marB="18288" anchor="ctr">
                    <a:solidFill>
                      <a:srgbClr val="FFFFFF"/>
                    </a:solidFill>
                  </a:tcPr>
                </a:tc>
                <a:tc>
                  <a:txBody>
                    <a:bodyPr/>
                    <a:lstStyle/>
                    <a:p>
                      <a:pPr algn="l"/>
                      <a:r>
                        <a:rPr sz="1000" b="0">
                          <a:solidFill>
                            <a:srgbClr val="1B2740"/>
                          </a:solidFill>
                          <a:latin typeface="Arial"/>
                          <a:ea typeface="Arial"/>
                          <a:cs typeface="Arial"/>
                        </a:rPr>
                        <a:t>z_k  (이번 플롯 그대로)</a:t>
                      </a:r>
                    </a:p>
                  </a:txBody>
                  <a:tcPr marL="54864" marR="54864" marT="18288" marB="18288" anchor="ctr">
                    <a:solidFill>
                      <a:srgbClr val="FFFFFF"/>
                    </a:solidFill>
                  </a:tcPr>
                </a:tc>
                <a:tc>
                  <a:txBody>
                    <a:bodyPr/>
                    <a:lstStyle/>
                    <a:p>
                      <a:pPr algn="l"/>
                      <a:r>
                        <a:rPr sz="1000" b="0">
                          <a:solidFill>
                            <a:srgbClr val="1B2740"/>
                          </a:solidFill>
                          <a:latin typeface="Arial"/>
                          <a:ea typeface="Arial"/>
                          <a:cs typeface="Arial"/>
                        </a:rPr>
                        <a:t>5,030 m</a:t>
                      </a:r>
                    </a:p>
                  </a:txBody>
                  <a:tcPr marL="54864" marR="54864" marT="18288" marB="18288" anchor="ctr">
                    <a:solidFill>
                      <a:srgbClr val="FFFFFF"/>
                    </a:solidFill>
                  </a:tcPr>
                </a:tc>
              </a:tr>
              <a:tr h="265176">
                <a:tc>
                  <a:txBody>
                    <a:bodyPr/>
                    <a:lstStyle/>
                    <a:p>
                      <a:pPr algn="l"/>
                      <a:r>
                        <a:rPr sz="1000" b="0">
                          <a:solidFill>
                            <a:srgbClr val="1B2740"/>
                          </a:solidFill>
                          <a:latin typeface="맑은 고딕"/>
                          <a:ea typeface="맑은 고딕"/>
                          <a:cs typeface="맑은 고딕"/>
                        </a:rPr>
                        <a:t>속도  x'</a:t>
                      </a:r>
                    </a:p>
                  </a:txBody>
                  <a:tcPr marL="54864" marR="54864" marT="18288" marB="18288" anchor="ctr">
                    <a:solidFill>
                      <a:srgbClr val="F7F9FC"/>
                    </a:solidFill>
                  </a:tcPr>
                </a:tc>
                <a:tc>
                  <a:txBody>
                    <a:bodyPr/>
                    <a:lstStyle/>
                    <a:p>
                      <a:pPr algn="l"/>
                      <a:r>
                        <a:rPr sz="1000" b="0">
                          <a:solidFill>
                            <a:srgbClr val="1B2740"/>
                          </a:solidFill>
                          <a:latin typeface="Arial"/>
                          <a:ea typeface="Arial"/>
                          <a:cs typeface="Arial"/>
                        </a:rPr>
                        <a:t>( z_k − z_k-1 ) / T</a:t>
                      </a:r>
                    </a:p>
                  </a:txBody>
                  <a:tcPr marL="54864" marR="54864" marT="18288" marB="18288" anchor="ctr">
                    <a:solidFill>
                      <a:srgbClr val="F7F9FC"/>
                    </a:solidFill>
                  </a:tcPr>
                </a:tc>
                <a:tc>
                  <a:txBody>
                    <a:bodyPr/>
                    <a:lstStyle/>
                    <a:p>
                      <a:pPr algn="l"/>
                      <a:r>
                        <a:rPr sz="1000" b="0">
                          <a:solidFill>
                            <a:srgbClr val="1B2740"/>
                          </a:solidFill>
                          <a:latin typeface="Arial"/>
                          <a:ea typeface="Arial"/>
                          <a:cs typeface="Arial"/>
                        </a:rPr>
                        <a:t>( 5,030 − 5,000 ) / 0.1 = 300 m/s</a:t>
                      </a:r>
                    </a:p>
                  </a:txBody>
                  <a:tcPr marL="54864" marR="54864" marT="18288" marB="18288" anchor="ctr">
                    <a:solidFill>
                      <a:srgbClr val="F7F9FC"/>
                    </a:solidFill>
                  </a:tcPr>
                </a:tc>
              </a:tr>
              <a:tr h="265176">
                <a:tc>
                  <a:txBody>
                    <a:bodyPr/>
                    <a:lstStyle/>
                    <a:p>
                      <a:pPr algn="l"/>
                      <a:r>
                        <a:rPr sz="1000" b="0">
                          <a:solidFill>
                            <a:srgbClr val="1B2740"/>
                          </a:solidFill>
                          <a:latin typeface="맑은 고딕"/>
                          <a:ea typeface="맑은 고딕"/>
                          <a:cs typeface="맑은 고딕"/>
                        </a:rPr>
                        <a:t>가속도  x''</a:t>
                      </a:r>
                    </a:p>
                  </a:txBody>
                  <a:tcPr marL="54864" marR="54864" marT="18288" marB="18288" anchor="ctr">
                    <a:solidFill>
                      <a:srgbClr val="FFFFFF"/>
                    </a:solidFill>
                  </a:tcPr>
                </a:tc>
                <a:tc>
                  <a:txBody>
                    <a:bodyPr/>
                    <a:lstStyle/>
                    <a:p>
                      <a:pPr algn="l"/>
                      <a:r>
                        <a:rPr sz="1000" b="0">
                          <a:solidFill>
                            <a:srgbClr val="1B2740"/>
                          </a:solidFill>
                          <a:latin typeface="맑은 고딕"/>
                          <a:ea typeface="맑은 고딕"/>
                          <a:cs typeface="맑은 고딕"/>
                        </a:rPr>
                        <a:t>0  (과제 조건)</a:t>
                      </a:r>
                    </a:p>
                  </a:txBody>
                  <a:tcPr marL="54864" marR="54864" marT="18288" marB="18288" anchor="ctr">
                    <a:solidFill>
                      <a:srgbClr val="FFFFFF"/>
                    </a:solidFill>
                  </a:tcPr>
                </a:tc>
                <a:tc>
                  <a:txBody>
                    <a:bodyPr/>
                    <a:lstStyle/>
                    <a:p>
                      <a:pPr algn="l"/>
                      <a:r>
                        <a:rPr sz="1000" b="0">
                          <a:solidFill>
                            <a:srgbClr val="1B2740"/>
                          </a:solidFill>
                          <a:latin typeface="Arial"/>
                          <a:ea typeface="Arial"/>
                          <a:cs typeface="Arial"/>
                        </a:rPr>
                        <a:t>0</a:t>
                      </a:r>
                    </a:p>
                  </a:txBody>
                  <a:tcPr marL="54864" marR="54864" marT="18288" marB="18288" anchor="ctr">
                    <a:solidFill>
                      <a:srgbClr val="FFFFFF"/>
                    </a:solidFill>
                  </a:tcPr>
                </a:tc>
              </a:tr>
            </a:tbl>
          </a:graphicData>
        </a:graphic>
      </p:graphicFrame>
      <p:sp>
        <p:nvSpPr>
          <p:cNvPr id="11" name="Oval 10"/>
          <p:cNvSpPr/>
          <p:nvPr/>
        </p:nvSpPr>
        <p:spPr>
          <a:xfrm>
            <a:off x="640080" y="4087368"/>
            <a:ext cx="237744" cy="237744"/>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2" name="TextBox 11"/>
          <p:cNvSpPr txBox="1"/>
          <p:nvPr/>
        </p:nvSpPr>
        <p:spPr>
          <a:xfrm>
            <a:off x="950976" y="4059936"/>
            <a:ext cx="5303520" cy="292608"/>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오차 공분산 P</a:t>
            </a:r>
            <a:r>
              <a:rPr sz="950" b="0">
                <a:solidFill>
                  <a:srgbClr val="4A5A7A"/>
                </a:solidFill>
                <a:latin typeface="맑은 고딕"/>
                <a:ea typeface="맑은 고딕"/>
                <a:cs typeface="맑은 고딕"/>
              </a:rPr>
              <a:t>   한 축의 3 x 3  (예: 플롯 오차 ±10 m, T = 0.1 s)</a:t>
            </a:r>
          </a:p>
        </p:txBody>
      </p:sp>
      <p:graphicFrame>
        <p:nvGraphicFramePr>
          <p:cNvPr id="13" name="Table 12"/>
          <p:cNvGraphicFramePr>
            <a:graphicFrameLocks noGrp="1"/>
          </p:cNvGraphicFramePr>
          <p:nvPr/>
        </p:nvGraphicFramePr>
        <p:xfrm>
          <a:off x="640080" y="4407408"/>
          <a:ext cx="5623560" cy="1673352"/>
        </p:xfrm>
        <a:graphic>
          <a:graphicData uri="http://schemas.openxmlformats.org/drawingml/2006/table">
            <a:tbl>
              <a:tblPr>
                <a:tableStyleId>{5C22544A-7EE6-4342-B048-85BDC9FD1C3A}</a:tableStyleId>
              </a:tblPr>
              <a:tblGrid>
                <a:gridCol w="1280160"/>
                <a:gridCol w="1325880"/>
                <a:gridCol w="2011680"/>
                <a:gridCol w="1005840"/>
              </a:tblGrid>
              <a:tr h="246888">
                <a:tc>
                  <a:txBody>
                    <a:bodyPr/>
                    <a:lstStyle/>
                    <a:p>
                      <a:pPr algn="ctr"/>
                      <a:r>
                        <a:rPr sz="950" b="1">
                          <a:solidFill>
                            <a:srgbClr val="FFFFFF"/>
                          </a:solidFill>
                          <a:latin typeface="맑은 고딕"/>
                          <a:ea typeface="맑은 고딕"/>
                          <a:cs typeface="맑은 고딕"/>
                        </a:rPr>
                        <a:t/>
                      </a:r>
                    </a:p>
                  </a:txBody>
                  <a:tcPr marL="45720" marR="45720" marT="18288" marB="18288" anchor="ctr">
                    <a:solidFill>
                      <a:srgbClr val="2B3A55"/>
                    </a:solidFill>
                  </a:tcPr>
                </a:tc>
                <a:tc>
                  <a:txBody>
                    <a:bodyPr/>
                    <a:lstStyle/>
                    <a:p>
                      <a:pPr algn="ctr"/>
                      <a:r>
                        <a:rPr sz="950" b="1">
                          <a:solidFill>
                            <a:srgbClr val="FFFFFF"/>
                          </a:solidFill>
                          <a:latin typeface="맑은 고딕"/>
                          <a:ea typeface="맑은 고딕"/>
                          <a:cs typeface="맑은 고딕"/>
                        </a:rPr>
                        <a:t>위치</a:t>
                      </a:r>
                    </a:p>
                  </a:txBody>
                  <a:tcPr marL="45720" marR="45720" marT="18288" marB="18288" anchor="ctr">
                    <a:solidFill>
                      <a:srgbClr val="2B3A55"/>
                    </a:solidFill>
                  </a:tcPr>
                </a:tc>
                <a:tc>
                  <a:txBody>
                    <a:bodyPr/>
                    <a:lstStyle/>
                    <a:p>
                      <a:pPr algn="ctr"/>
                      <a:r>
                        <a:rPr sz="950" b="1">
                          <a:solidFill>
                            <a:srgbClr val="FFFFFF"/>
                          </a:solidFill>
                          <a:latin typeface="맑은 고딕"/>
                          <a:ea typeface="맑은 고딕"/>
                          <a:cs typeface="맑은 고딕"/>
                        </a:rPr>
                        <a:t>속도</a:t>
                      </a:r>
                    </a:p>
                  </a:txBody>
                  <a:tcPr marL="45720" marR="45720" marT="18288" marB="18288" anchor="ctr">
                    <a:solidFill>
                      <a:srgbClr val="2B3A55"/>
                    </a:solidFill>
                  </a:tcPr>
                </a:tc>
                <a:tc>
                  <a:txBody>
                    <a:bodyPr/>
                    <a:lstStyle/>
                    <a:p>
                      <a:pPr algn="ctr"/>
                      <a:r>
                        <a:rPr sz="950" b="1">
                          <a:solidFill>
                            <a:srgbClr val="FFFFFF"/>
                          </a:solidFill>
                          <a:latin typeface="맑은 고딕"/>
                          <a:ea typeface="맑은 고딕"/>
                          <a:cs typeface="맑은 고딕"/>
                        </a:rPr>
                        <a:t>가속도</a:t>
                      </a:r>
                    </a:p>
                  </a:txBody>
                  <a:tcPr marL="45720" marR="45720" marT="18288" marB="18288" anchor="ctr">
                    <a:solidFill>
                      <a:srgbClr val="2B3A55"/>
                    </a:solidFill>
                  </a:tcPr>
                </a:tc>
              </a:tr>
              <a:tr h="512064">
                <a:tc>
                  <a:txBody>
                    <a:bodyPr/>
                    <a:lstStyle/>
                    <a:p>
                      <a:pPr algn="ctr"/>
                      <a:r>
                        <a:rPr sz="1000" b="1">
                          <a:solidFill>
                            <a:srgbClr val="FFFFFF"/>
                          </a:solidFill>
                          <a:latin typeface="맑은 고딕"/>
                          <a:ea typeface="맑은 고딕"/>
                          <a:cs typeface="맑은 고딕"/>
                        </a:rPr>
                        <a:t>위치</a:t>
                      </a:r>
                    </a:p>
                    <a:p>
                      <a:pPr algn="ctr"/>
                      <a:r>
                        <a:rPr sz="850" b="0">
                          <a:solidFill>
                            <a:srgbClr val="C9D3E6"/>
                          </a:solidFill>
                          <a:latin typeface="맑은 고딕"/>
                          <a:ea typeface="맑은 고딕"/>
                          <a:cs typeface="맑은 고딕"/>
                        </a:rPr>
                        <a:t>= 이번 플롯</a:t>
                      </a:r>
                    </a:p>
                  </a:txBody>
                  <a:tcPr marL="45720" marR="45720" marT="18288" marB="18288" anchor="ctr">
                    <a:solidFill>
                      <a:srgbClr val="2B3A55"/>
                    </a:solidFill>
                  </a:tcPr>
                </a:tc>
                <a:tc>
                  <a:txBody>
                    <a:bodyPr/>
                    <a:lstStyle/>
                    <a:p>
                      <a:pPr algn="ctr"/>
                      <a:r>
                        <a:rPr sz="1050" b="1">
                          <a:solidFill>
                            <a:srgbClr val="1B2740"/>
                          </a:solidFill>
                          <a:latin typeface="Arial"/>
                          <a:ea typeface="Arial"/>
                          <a:cs typeface="Arial"/>
                        </a:rPr>
                        <a:t>R_k</a:t>
                      </a:r>
                    </a:p>
                    <a:p>
                      <a:pPr algn="ctr"/>
                      <a:r>
                        <a:rPr sz="950" b="0">
                          <a:solidFill>
                            <a:srgbClr val="4A5A7A"/>
                          </a:solidFill>
                          <a:latin typeface="Arial"/>
                          <a:ea typeface="Arial"/>
                          <a:cs typeface="Arial"/>
                        </a:rPr>
                        <a:t>100  (±10 m)</a:t>
                      </a:r>
                    </a:p>
                  </a:txBody>
                  <a:tcPr marL="45720" marR="45720" marT="18288" marB="18288" anchor="ctr">
                    <a:solidFill>
                      <a:srgbClr val="DCE7FD"/>
                    </a:solidFill>
                  </a:tcPr>
                </a:tc>
                <a:tc>
                  <a:txBody>
                    <a:bodyPr/>
                    <a:lstStyle/>
                    <a:p>
                      <a:pPr algn="ctr"/>
                      <a:r>
                        <a:rPr sz="1050" b="1">
                          <a:solidFill>
                            <a:srgbClr val="1B2740"/>
                          </a:solidFill>
                          <a:latin typeface="Arial"/>
                          <a:ea typeface="Arial"/>
                          <a:cs typeface="Arial"/>
                        </a:rPr>
                        <a:t>R_k / T</a:t>
                      </a:r>
                    </a:p>
                    <a:p>
                      <a:pPr algn="ctr"/>
                      <a:r>
                        <a:rPr sz="950" b="0">
                          <a:solidFill>
                            <a:srgbClr val="4A5A7A"/>
                          </a:solidFill>
                          <a:latin typeface="Arial"/>
                          <a:ea typeface="Arial"/>
                          <a:cs typeface="Arial"/>
                        </a:rPr>
                        <a:t>1,000</a:t>
                      </a:r>
                    </a:p>
                  </a:txBody>
                  <a:tcPr marL="45720" marR="45720" marT="18288" marB="18288" anchor="ctr">
                    <a:solidFill>
                      <a:srgbClr val="DDF3EA"/>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r>
              <a:tr h="512064">
                <a:tc>
                  <a:txBody>
                    <a:bodyPr/>
                    <a:lstStyle/>
                    <a:p>
                      <a:pPr algn="ctr"/>
                      <a:r>
                        <a:rPr sz="1000" b="1">
                          <a:solidFill>
                            <a:srgbClr val="FFFFFF"/>
                          </a:solidFill>
                          <a:latin typeface="맑은 고딕"/>
                          <a:ea typeface="맑은 고딕"/>
                          <a:cs typeface="맑은 고딕"/>
                        </a:rPr>
                        <a:t>속도</a:t>
                      </a:r>
                    </a:p>
                    <a:p>
                      <a:pPr algn="ctr"/>
                      <a:r>
                        <a:rPr sz="850" b="0">
                          <a:solidFill>
                            <a:srgbClr val="C9D3E6"/>
                          </a:solidFill>
                          <a:latin typeface="맑은 고딕"/>
                          <a:ea typeface="맑은 고딕"/>
                          <a:cs typeface="맑은 고딕"/>
                        </a:rPr>
                        <a:t>= 두 플롯 차 / T</a:t>
                      </a:r>
                    </a:p>
                  </a:txBody>
                  <a:tcPr marL="45720" marR="45720" marT="18288" marB="18288" anchor="ctr">
                    <a:solidFill>
                      <a:srgbClr val="2B3A55"/>
                    </a:solidFill>
                  </a:tcPr>
                </a:tc>
                <a:tc>
                  <a:txBody>
                    <a:bodyPr/>
                    <a:lstStyle/>
                    <a:p>
                      <a:pPr algn="ctr"/>
                      <a:r>
                        <a:rPr sz="1050" b="1">
                          <a:solidFill>
                            <a:srgbClr val="1B2740"/>
                          </a:solidFill>
                          <a:latin typeface="Arial"/>
                          <a:ea typeface="Arial"/>
                          <a:cs typeface="Arial"/>
                        </a:rPr>
                        <a:t>R_k / T</a:t>
                      </a:r>
                    </a:p>
                    <a:p>
                      <a:pPr algn="ctr"/>
                      <a:r>
                        <a:rPr sz="950" b="0">
                          <a:solidFill>
                            <a:srgbClr val="4A5A7A"/>
                          </a:solidFill>
                          <a:latin typeface="Arial"/>
                          <a:ea typeface="Arial"/>
                          <a:cs typeface="Arial"/>
                        </a:rPr>
                        <a:t>1,000</a:t>
                      </a:r>
                    </a:p>
                  </a:txBody>
                  <a:tcPr marL="45720" marR="45720" marT="18288" marB="18288" anchor="ctr">
                    <a:solidFill>
                      <a:srgbClr val="DDF3EA"/>
                    </a:solidFill>
                  </a:tcPr>
                </a:tc>
                <a:tc>
                  <a:txBody>
                    <a:bodyPr/>
                    <a:lstStyle/>
                    <a:p>
                      <a:pPr algn="ctr"/>
                      <a:r>
                        <a:rPr sz="1050" b="1">
                          <a:solidFill>
                            <a:srgbClr val="1B2740"/>
                          </a:solidFill>
                          <a:latin typeface="Arial"/>
                          <a:ea typeface="Arial"/>
                          <a:cs typeface="Arial"/>
                        </a:rPr>
                        <a:t>( R_k + R_k-1 ) / T²</a:t>
                      </a:r>
                    </a:p>
                    <a:p>
                      <a:pPr algn="ctr"/>
                      <a:r>
                        <a:rPr sz="950" b="0">
                          <a:solidFill>
                            <a:srgbClr val="4A5A7A"/>
                          </a:solidFill>
                          <a:latin typeface="Arial"/>
                          <a:ea typeface="Arial"/>
                          <a:cs typeface="Arial"/>
                        </a:rPr>
                        <a:t>20,000  (±141 m/s)</a:t>
                      </a:r>
                    </a:p>
                  </a:txBody>
                  <a:tcPr marL="45720" marR="45720" marT="18288" marB="18288" anchor="ctr">
                    <a:solidFill>
                      <a:srgbClr val="FDECD7"/>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r>
              <a:tr h="402336">
                <a:tc>
                  <a:txBody>
                    <a:bodyPr/>
                    <a:lstStyle/>
                    <a:p>
                      <a:pPr algn="ctr"/>
                      <a:r>
                        <a:rPr sz="1000" b="1">
                          <a:solidFill>
                            <a:srgbClr val="FFFFFF"/>
                          </a:solidFill>
                          <a:latin typeface="맑은 고딕"/>
                          <a:ea typeface="맑은 고딕"/>
                          <a:cs typeface="맑은 고딕"/>
                        </a:rPr>
                        <a:t>가속도</a:t>
                      </a:r>
                    </a:p>
                    <a:p>
                      <a:pPr algn="ctr"/>
                      <a:r>
                        <a:rPr sz="850" b="0">
                          <a:solidFill>
                            <a:srgbClr val="C9D3E6"/>
                          </a:solidFill>
                          <a:latin typeface="맑은 고딕"/>
                          <a:ea typeface="맑은 고딕"/>
                          <a:cs typeface="맑은 고딕"/>
                        </a:rPr>
                        <a:t>= 0</a:t>
                      </a:r>
                    </a:p>
                  </a:txBody>
                  <a:tcPr marL="45720" marR="45720" marT="18288" marB="18288" anchor="ctr">
                    <a:solidFill>
                      <a:srgbClr val="2B3A55"/>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c>
                  <a:txBody>
                    <a:bodyPr/>
                    <a:lstStyle/>
                    <a:p>
                      <a:pPr algn="ctr"/>
                      <a:r>
                        <a:rPr sz="1000" b="0">
                          <a:solidFill>
                            <a:srgbClr val="8794AC"/>
                          </a:solidFill>
                          <a:latin typeface="Arial"/>
                          <a:ea typeface="Arial"/>
                          <a:cs typeface="Arial"/>
                        </a:rPr>
                        <a:t>0</a:t>
                      </a:r>
                    </a:p>
                  </a:txBody>
                  <a:tcPr marL="45720" marR="45720" marT="18288" marB="18288" anchor="ctr">
                    <a:solidFill>
                      <a:srgbClr val="F3F4F7"/>
                    </a:solidFill>
                  </a:tcPr>
                </a:tc>
              </a:tr>
            </a:tbl>
          </a:graphicData>
        </a:graphic>
      </p:graphicFrame>
      <p:sp>
        <p:nvSpPr>
          <p:cNvPr id="14" name="Oval 13"/>
          <p:cNvSpPr/>
          <p:nvPr/>
        </p:nvSpPr>
        <p:spPr>
          <a:xfrm>
            <a:off x="6537960" y="2258568"/>
            <a:ext cx="237744" cy="237744"/>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5" name="TextBox 14"/>
          <p:cNvSpPr txBox="1"/>
          <p:nvPr/>
        </p:nvSpPr>
        <p:spPr>
          <a:xfrm>
            <a:off x="6848856" y="2231136"/>
            <a:ext cx="4663440" cy="292608"/>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9 x 9 전체 P</a:t>
            </a:r>
            <a:r>
              <a:rPr sz="950" b="0">
                <a:solidFill>
                  <a:srgbClr val="4A5A7A"/>
                </a:solidFill>
                <a:latin typeface="맑은 고딕"/>
                <a:ea typeface="맑은 고딕"/>
                <a:cs typeface="맑은 고딕"/>
              </a:rPr>
              <a:t>   ② 의 3 x 3 블록이 축마다 대각선에 하나씩</a:t>
            </a:r>
          </a:p>
        </p:txBody>
      </p:sp>
      <p:pic>
        <p:nvPicPr>
          <p:cNvPr id="16" name="Picture 15" descr="fig_pmatrix.png"/>
          <p:cNvPicPr>
            <a:picLocks noChangeAspect="1"/>
          </p:cNvPicPr>
          <p:nvPr/>
        </p:nvPicPr>
        <p:blipFill>
          <a:blip r:embed="rId3"/>
          <a:stretch>
            <a:fillRect/>
          </a:stretch>
        </p:blipFill>
        <p:spPr>
          <a:xfrm>
            <a:off x="6537960" y="2560320"/>
            <a:ext cx="4206240" cy="3048559"/>
          </a:xfrm>
          <a:prstGeom prst="rect">
            <a:avLst/>
          </a:prstGeom>
        </p:spPr>
      </p:pic>
      <p:sp>
        <p:nvSpPr>
          <p:cNvPr id="17" name="Rounded Rectangle 16"/>
          <p:cNvSpPr/>
          <p:nvPr/>
        </p:nvSpPr>
        <p:spPr>
          <a:xfrm>
            <a:off x="6537960" y="5650992"/>
            <a:ext cx="5010912" cy="475488"/>
          </a:xfrm>
          <a:prstGeom prst="roundRect">
            <a:avLst>
              <a:gd name="adj" fmla="val 15384"/>
            </a:avLst>
          </a:prstGeom>
          <a:solidFill>
            <a:srgbClr val="FEF3E2"/>
          </a:solidFill>
          <a:ln w="12700">
            <a:solidFill>
              <a:srgbClr val="D97706"/>
            </a:solidFill>
          </a:ln>
        </p:spPr>
        <p:txBody>
          <a:bodyPr rtlCol="0" anchor="ctr"/>
          <a:lstStyle/>
          <a:p>
            <a:pPr algn="ctr"/>
          </a:p>
        </p:txBody>
      </p:sp>
      <p:sp>
        <p:nvSpPr>
          <p:cNvPr id="18" name="TextBox 17"/>
          <p:cNvSpPr txBox="1"/>
          <p:nvPr/>
        </p:nvSpPr>
        <p:spPr>
          <a:xfrm>
            <a:off x="6675120" y="5650992"/>
            <a:ext cx="4754880" cy="475488"/>
          </a:xfrm>
          <a:prstGeom prst="rect">
            <a:avLst/>
          </a:prstGeom>
          <a:noFill/>
        </p:spPr>
        <p:txBody>
          <a:bodyPr wrap="square" lIns="0" tIns="0" rIns="0" bIns="0" anchor="ctr">
            <a:spAutoFit/>
          </a:bodyPr>
          <a:lstStyle/>
          <a:p>
            <a:pPr algn="l">
              <a:lnSpc>
                <a:spcPct val="110000"/>
              </a:lnSpc>
            </a:pPr>
            <a:r>
              <a:rPr sz="1000" b="1">
                <a:solidFill>
                  <a:srgbClr val="D97706"/>
                </a:solidFill>
                <a:latin typeface="맑은 고딕"/>
                <a:ea typeface="맑은 고딕"/>
                <a:cs typeface="맑은 고딕"/>
              </a:rPr>
              <a:t>눈여겨볼 점  </a:t>
            </a:r>
            <a:r>
              <a:rPr sz="1000" b="0">
                <a:solidFill>
                  <a:srgbClr val="1B2740"/>
                </a:solidFill>
                <a:latin typeface="맑은 고딕"/>
                <a:ea typeface="맑은 고딕"/>
                <a:cs typeface="맑은 고딕"/>
              </a:rPr>
              <a:t>위치 오차 ±10 m 가 0.1 초로 나뉘면서 속도 오차 ±141 m/s 가 됩니다.</a:t>
            </a:r>
          </a:p>
          <a:p>
            <a:pPr algn="l">
              <a:lnSpc>
                <a:spcPct val="110000"/>
              </a:lnSpc>
            </a:pPr>
            <a:r>
              <a:rPr sz="900" b="0">
                <a:solidFill>
                  <a:srgbClr val="4A5A7A"/>
                </a:solidFill>
                <a:latin typeface="맑은 고딕"/>
                <a:ea typeface="맑은 고딕"/>
                <a:cs typeface="맑은 고딕"/>
              </a:rPr>
              <a:t>R: 플롯 위치의 측정 오차 (분산). 구하는 법은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1.4 속도 게이팅</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표적이 아무리 빨라도 한 스캔 동안 갈 수 있는 거리는 정해져 있습니다. 두 플롯 사이 거리를 시간으로 나눈 속력이 V_max 보다 작을 때만 같은 표적으로 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속도 게이팅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40280"/>
            <a:ext cx="10908792" cy="566928"/>
          </a:xfrm>
          <a:prstGeom prst="rect">
            <a:avLst/>
          </a:prstGeom>
          <a:solidFill>
            <a:srgbClr val="F7F9FC"/>
          </a:solidFill>
          <a:ln w="9525">
            <a:solidFill>
              <a:srgbClr val="D2D9E5"/>
            </a:solidFill>
          </a:ln>
        </p:spPr>
        <p:txBody>
          <a:bodyPr rtlCol="0" anchor="ctr"/>
          <a:lstStyle/>
          <a:p>
            <a:pPr algn="ctr"/>
          </a:p>
        </p:txBody>
      </p:sp>
      <p:sp>
        <p:nvSpPr>
          <p:cNvPr id="8" name="TextBox 7"/>
          <p:cNvSpPr txBox="1"/>
          <p:nvPr/>
        </p:nvSpPr>
        <p:spPr>
          <a:xfrm>
            <a:off x="868680" y="2240280"/>
            <a:ext cx="5120640" cy="566928"/>
          </a:xfrm>
          <a:prstGeom prst="rect">
            <a:avLst/>
          </a:prstGeom>
          <a:noFill/>
        </p:spPr>
        <p:txBody>
          <a:bodyPr wrap="square" lIns="0" tIns="0" rIns="0" bIns="0" anchor="ctr">
            <a:spAutoFit/>
          </a:bodyPr>
          <a:lstStyle/>
          <a:p>
            <a:pPr algn="l"/>
            <a:r>
              <a:rPr sz="1500" b="1">
                <a:solidFill>
                  <a:srgbClr val="1B2740"/>
                </a:solidFill>
                <a:latin typeface="Arial"/>
                <a:ea typeface="Arial"/>
                <a:cs typeface="Arial"/>
              </a:rPr>
              <a:t>| z_(k,i)  −  z_(k-1,j) |  /  ΔT   &lt;   V_max</a:t>
            </a:r>
          </a:p>
        </p:txBody>
      </p:sp>
      <p:sp>
        <p:nvSpPr>
          <p:cNvPr id="9" name="TextBox 8"/>
          <p:cNvSpPr txBox="1"/>
          <p:nvPr/>
        </p:nvSpPr>
        <p:spPr>
          <a:xfrm>
            <a:off x="5852160" y="2240280"/>
            <a:ext cx="5577840" cy="566928"/>
          </a:xfrm>
          <a:prstGeom prst="rect">
            <a:avLst/>
          </a:prstGeom>
          <a:noFill/>
        </p:spPr>
        <p:txBody>
          <a:bodyPr wrap="square" lIns="0" tIns="0" rIns="0" bIns="0" anchor="ctr">
            <a:spAutoFit/>
          </a:bodyPr>
          <a:lstStyle/>
          <a:p>
            <a:pPr algn="l"/>
            <a:r>
              <a:rPr sz="1150" b="1">
                <a:solidFill>
                  <a:srgbClr val="2563EB"/>
                </a:solidFill>
                <a:latin typeface="맑은 고딕"/>
                <a:ea typeface="맑은 고딕"/>
                <a:cs typeface="맑은 고딕"/>
              </a:rPr>
              <a:t>V_max = 800 m/s,  ΔT = 0.1 s  -&gt;  앞 플롯에서 반경 80 m 안이면 통과</a:t>
            </a:r>
          </a:p>
          <a:p>
            <a:pPr algn="l"/>
            <a:r>
              <a:rPr sz="1000" b="0">
                <a:solidFill>
                  <a:srgbClr val="4A5A7A"/>
                </a:solidFill>
                <a:latin typeface="맑은 고딕"/>
                <a:ea typeface="맑은 고딕"/>
                <a:cs typeface="맑은 고딕"/>
              </a:rPr>
              <a:t>i: 이번 스캔 플롯,  j: 앞 스캔 플롯.  거리는 VC-NED 직교좌표 (북 · 동 · 아래) 로 잰다</a:t>
            </a:r>
          </a:p>
        </p:txBody>
      </p:sp>
      <p:pic>
        <p:nvPicPr>
          <p:cNvPr id="10" name="Picture 9" descr="fig_gate.png"/>
          <p:cNvPicPr>
            <a:picLocks noChangeAspect="1"/>
          </p:cNvPicPr>
          <p:nvPr/>
        </p:nvPicPr>
        <p:blipFill>
          <a:blip r:embed="rId3"/>
          <a:stretch>
            <a:fillRect/>
          </a:stretch>
        </p:blipFill>
        <p:spPr>
          <a:xfrm>
            <a:off x="640080" y="2971800"/>
            <a:ext cx="10908792" cy="302512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1.5 측정 오차를 VC-NED 로 옮기기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플롯은 거리 · 방위각 · 고각으로 들어오지만 트랙은 북 · 동 · 아래 (VC-NED) 좌표로 만듭니다. 그래서 측정 오차도 같은 좌표로 바꿔야 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1.2 · 3-1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Oval 6"/>
          <p:cNvSpPr/>
          <p:nvPr/>
        </p:nvSpPr>
        <p:spPr>
          <a:xfrm>
            <a:off x="676656"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1060704" y="228600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측정 표준편차 (과제 4, SNR 20)</a:t>
            </a:r>
          </a:p>
        </p:txBody>
      </p:sp>
      <p:sp>
        <p:nvSpPr>
          <p:cNvPr id="9" name="Rectangle 8"/>
          <p:cNvSpPr/>
          <p:nvPr/>
        </p:nvSpPr>
        <p:spPr>
          <a:xfrm>
            <a:off x="1060704" y="2587752"/>
            <a:ext cx="5669280" cy="402336"/>
          </a:xfrm>
          <a:prstGeom prst="rect">
            <a:avLst/>
          </a:prstGeom>
          <a:solidFill>
            <a:srgbClr val="F7F9FC"/>
          </a:solidFill>
          <a:ln w="9525">
            <a:solidFill>
              <a:srgbClr val="D2D9E5"/>
            </a:solidFill>
          </a:ln>
        </p:spPr>
        <p:txBody>
          <a:bodyPr rtlCol="0" anchor="ctr"/>
          <a:lstStyle/>
          <a:p>
            <a:pPr algn="ctr"/>
          </a:p>
        </p:txBody>
      </p:sp>
      <p:sp>
        <p:nvSpPr>
          <p:cNvPr id="10" name="TextBox 9"/>
          <p:cNvSpPr txBox="1"/>
          <p:nvPr/>
        </p:nvSpPr>
        <p:spPr>
          <a:xfrm>
            <a:off x="1188720" y="258775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σ_r = 4.74 m,   σ_az = 0.478°,   σ_el = 0.494°</a:t>
            </a:r>
          </a:p>
        </p:txBody>
      </p:sp>
      <p:sp>
        <p:nvSpPr>
          <p:cNvPr id="11" name="Oval 10"/>
          <p:cNvSpPr/>
          <p:nvPr/>
        </p:nvSpPr>
        <p:spPr>
          <a:xfrm>
            <a:off x="676656" y="320040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2" name="TextBox 11"/>
          <p:cNvSpPr txBox="1"/>
          <p:nvPr/>
        </p:nvSpPr>
        <p:spPr>
          <a:xfrm>
            <a:off x="1060704" y="315468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안테나 직교좌표의 오차로</a:t>
            </a:r>
          </a:p>
        </p:txBody>
      </p:sp>
      <p:sp>
        <p:nvSpPr>
          <p:cNvPr id="13" name="Rectangle 12"/>
          <p:cNvSpPr/>
          <p:nvPr/>
        </p:nvSpPr>
        <p:spPr>
          <a:xfrm>
            <a:off x="1060704" y="3456432"/>
            <a:ext cx="5669280" cy="402336"/>
          </a:xfrm>
          <a:prstGeom prst="rect">
            <a:avLst/>
          </a:prstGeom>
          <a:solidFill>
            <a:srgbClr val="F7F9FC"/>
          </a:solidFill>
          <a:ln w="9525">
            <a:solidFill>
              <a:srgbClr val="D2D9E5"/>
            </a:solidFill>
          </a:ln>
        </p:spPr>
        <p:txBody>
          <a:bodyPr rtlCol="0" anchor="ctr"/>
          <a:lstStyle/>
          <a:p>
            <a:pPr algn="ctr"/>
          </a:p>
        </p:txBody>
      </p:sp>
      <p:sp>
        <p:nvSpPr>
          <p:cNvPr id="14" name="TextBox 13"/>
          <p:cNvSpPr txBox="1"/>
          <p:nvPr/>
        </p:nvSpPr>
        <p:spPr>
          <a:xfrm>
            <a:off x="1188720" y="345643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R_ant = J · diag( σ_r², σ_az², σ_el² ) · Jᵀ</a:t>
            </a:r>
          </a:p>
        </p:txBody>
      </p:sp>
      <p:sp>
        <p:nvSpPr>
          <p:cNvPr id="15" name="Oval 14"/>
          <p:cNvSpPr/>
          <p:nvPr/>
        </p:nvSpPr>
        <p:spPr>
          <a:xfrm>
            <a:off x="676656" y="40690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6" name="TextBox 15"/>
          <p:cNvSpPr txBox="1"/>
          <p:nvPr/>
        </p:nvSpPr>
        <p:spPr>
          <a:xfrm>
            <a:off x="1060704" y="402336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VC-NED 의 오차로</a:t>
            </a:r>
          </a:p>
        </p:txBody>
      </p:sp>
      <p:sp>
        <p:nvSpPr>
          <p:cNvPr id="17" name="Rectangle 16"/>
          <p:cNvSpPr/>
          <p:nvPr/>
        </p:nvSpPr>
        <p:spPr>
          <a:xfrm>
            <a:off x="1060704" y="4325112"/>
            <a:ext cx="5669280" cy="402336"/>
          </a:xfrm>
          <a:prstGeom prst="rect">
            <a:avLst/>
          </a:prstGeom>
          <a:solidFill>
            <a:srgbClr val="F7F9FC"/>
          </a:solidFill>
          <a:ln w="9525">
            <a:solidFill>
              <a:srgbClr val="D2D9E5"/>
            </a:solidFill>
          </a:ln>
        </p:spPr>
        <p:txBody>
          <a:bodyPr rtlCol="0" anchor="ctr"/>
          <a:lstStyle/>
          <a:p>
            <a:pPr algn="ctr"/>
          </a:p>
        </p:txBody>
      </p:sp>
      <p:sp>
        <p:nvSpPr>
          <p:cNvPr id="18" name="TextBox 17"/>
          <p:cNvSpPr txBox="1"/>
          <p:nvPr/>
        </p:nvSpPr>
        <p:spPr>
          <a:xfrm>
            <a:off x="1188720" y="432511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R = M · R_ant · Mᵀ</a:t>
            </a:r>
          </a:p>
        </p:txBody>
      </p:sp>
      <p:sp>
        <p:nvSpPr>
          <p:cNvPr id="19" name="TextBox 18"/>
          <p:cNvSpPr txBox="1"/>
          <p:nvPr/>
        </p:nvSpPr>
        <p:spPr>
          <a:xfrm>
            <a:off x="1060704" y="4892040"/>
            <a:ext cx="5669280" cy="1005840"/>
          </a:xfrm>
          <a:prstGeom prst="rect">
            <a:avLst/>
          </a:prstGeom>
          <a:noFill/>
        </p:spPr>
        <p:txBody>
          <a:bodyPr wrap="square" lIns="0" tIns="0" rIns="0" bIns="0" anchor="t">
            <a:spAutoFit/>
          </a:bodyPr>
          <a:lstStyle/>
          <a:p>
            <a:pPr algn="l">
              <a:lnSpc>
                <a:spcPct val="115000"/>
              </a:lnSpc>
            </a:pPr>
            <a:r>
              <a:rPr sz="1050" b="1">
                <a:solidFill>
                  <a:srgbClr val="1B2740"/>
                </a:solidFill>
                <a:latin typeface="맑은 고딕"/>
                <a:ea typeface="맑은 고딕"/>
                <a:cs typeface="맑은 고딕"/>
              </a:rPr>
              <a:t>J</a:t>
            </a:r>
            <a:r>
              <a:rPr sz="1050" b="0">
                <a:solidFill>
                  <a:srgbClr val="4A5A7A"/>
                </a:solidFill>
                <a:latin typeface="맑은 고딕"/>
                <a:ea typeface="맑은 고딕"/>
                <a:cs typeface="맑은 고딕"/>
              </a:rPr>
              <a:t>: 구좌표 (r, az, el) -&gt; 안테나 직교 (x, y, z) 변환의 미분 (야코비안)</a:t>
            </a:r>
          </a:p>
          <a:p>
            <a:pPr algn="l">
              <a:lnSpc>
                <a:spcPct val="115000"/>
              </a:lnSpc>
            </a:pPr>
            <a:r>
              <a:rPr sz="1050" b="1">
                <a:solidFill>
                  <a:srgbClr val="1B2740"/>
                </a:solidFill>
                <a:latin typeface="맑은 고딕"/>
                <a:ea typeface="맑은 고딕"/>
                <a:cs typeface="맑은 고딕"/>
              </a:rPr>
              <a:t>M</a:t>
            </a:r>
            <a:r>
              <a:rPr sz="1050" b="0">
                <a:solidFill>
                  <a:srgbClr val="4A5A7A"/>
                </a:solidFill>
                <a:latin typeface="맑은 고딕"/>
                <a:ea typeface="맑은 고딕"/>
                <a:cs typeface="맑은 고딕"/>
              </a:rPr>
              <a:t>: 안테나 -&gt; 동체 -&gt; VC-NED 회전 (플랫폼 Roll · Pitch · Yaw)</a:t>
            </a:r>
          </a:p>
          <a:p>
            <a:pPr algn="l">
              <a:lnSpc>
                <a:spcPct val="115000"/>
              </a:lnSpc>
            </a:pPr>
            <a:r>
              <a:rPr sz="1050" b="1">
                <a:solidFill>
                  <a:srgbClr val="1B2740"/>
                </a:solidFill>
                <a:latin typeface="맑은 고딕"/>
                <a:ea typeface="맑은 고딕"/>
                <a:cs typeface="맑은 고딕"/>
              </a:rPr>
              <a:t>VC-NED</a:t>
            </a:r>
            <a:r>
              <a:rPr sz="1050" b="0">
                <a:solidFill>
                  <a:srgbClr val="4A5A7A"/>
                </a:solidFill>
                <a:latin typeface="맑은 고딕"/>
                <a:ea typeface="맑은 고딕"/>
                <a:cs typeface="맑은 고딕"/>
              </a:rPr>
              <a:t>: 플랫폼 무게중심이 원점, 축은 북 · 동 · 아래로 고정. 플랫폼이 기울어도 축이 같이 돌지 않는다</a:t>
            </a:r>
          </a:p>
        </p:txBody>
      </p:sp>
      <p:pic>
        <p:nvPicPr>
          <p:cNvPr id="20" name="Picture 19" descr="fig_rcov.png"/>
          <p:cNvPicPr>
            <a:picLocks noChangeAspect="1"/>
          </p:cNvPicPr>
          <p:nvPr/>
        </p:nvPicPr>
        <p:blipFill>
          <a:blip r:embed="rId3"/>
          <a:stretch>
            <a:fillRect/>
          </a:stretch>
        </p:blipFill>
        <p:spPr>
          <a:xfrm>
            <a:off x="6903720" y="2212848"/>
            <a:ext cx="4645152" cy="355217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02. 트랙 관리</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만든 트랙이 진짜 표적인지 가려 확정하거나 지우는 방법입니다. 트랙의 네 가지 상태와 연관을 보고, M/N 방식과 이번에 쓴 트랙 스코어 방식을 비교합니다.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2.1</a:t>
            </a:r>
            <a:endParaRPr lang="en-US" sz="1400" dirty="0"/>
          </a:p>
        </p:txBody>
      </p:sp>
      <p:sp>
        <p:nvSpPr>
          <p:cNvPr id="5" name="Text 3"/>
          <p:cNvSpPr txBox="1"/>
          <p:nvPr/>
        </p:nvSpPr>
        <p:spPr>
          <a:xfrm>
            <a:off x="1418234" y="2057400"/>
            <a:ext cx="163618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상태와 연관</a:t>
            </a:r>
            <a:endParaRPr lang="en-US" sz="1400" dirty="0"/>
          </a:p>
        </p:txBody>
      </p:sp>
      <p:sp>
        <p:nvSpPr>
          <p:cNvPr id="6" name="Shape 4"/>
          <p:cNvSpPr/>
          <p:nvPr/>
        </p:nvSpPr>
        <p:spPr>
          <a:xfrm>
            <a:off x="3163236" y="2313432"/>
            <a:ext cx="7443803"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11</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2.2</a:t>
            </a:r>
            <a:endParaRPr lang="en-US" sz="1400" dirty="0"/>
          </a:p>
        </p:txBody>
      </p:sp>
      <p:sp>
        <p:nvSpPr>
          <p:cNvPr id="9" name="Text 3"/>
          <p:cNvSpPr txBox="1"/>
          <p:nvPr/>
        </p:nvSpPr>
        <p:spPr>
          <a:xfrm>
            <a:off x="1418234" y="2464308"/>
            <a:ext cx="112109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M/N 방식</a:t>
            </a:r>
            <a:endParaRPr lang="en-US" sz="1400" dirty="0"/>
          </a:p>
        </p:txBody>
      </p:sp>
      <p:sp>
        <p:nvSpPr>
          <p:cNvPr id="10" name="Shape 4"/>
          <p:cNvSpPr/>
          <p:nvPr/>
        </p:nvSpPr>
        <p:spPr>
          <a:xfrm>
            <a:off x="2648144" y="2720339"/>
            <a:ext cx="7958895"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12</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2.3</a:t>
            </a:r>
            <a:endParaRPr lang="en-US" sz="1400" dirty="0"/>
          </a:p>
        </p:txBody>
      </p:sp>
      <p:sp>
        <p:nvSpPr>
          <p:cNvPr id="13" name="Text 3"/>
          <p:cNvSpPr txBox="1"/>
          <p:nvPr/>
        </p:nvSpPr>
        <p:spPr>
          <a:xfrm>
            <a:off x="1418234" y="2871216"/>
            <a:ext cx="163618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스코어 방식</a:t>
            </a:r>
            <a:endParaRPr lang="en-US" sz="1400" dirty="0"/>
          </a:p>
        </p:txBody>
      </p:sp>
      <p:sp>
        <p:nvSpPr>
          <p:cNvPr id="14" name="Shape 4"/>
          <p:cNvSpPr/>
          <p:nvPr/>
        </p:nvSpPr>
        <p:spPr>
          <a:xfrm>
            <a:off x="3163236" y="3127248"/>
            <a:ext cx="7443803"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13</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2.4</a:t>
            </a:r>
            <a:endParaRPr lang="en-US" sz="1400" dirty="0"/>
          </a:p>
        </p:txBody>
      </p:sp>
      <p:sp>
        <p:nvSpPr>
          <p:cNvPr id="17" name="Text 3"/>
          <p:cNvSpPr txBox="1"/>
          <p:nvPr/>
        </p:nvSpPr>
        <p:spPr>
          <a:xfrm>
            <a:off x="1418234" y="3278124"/>
            <a:ext cx="212336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점수가 바뀌는 과정 (예)</a:t>
            </a:r>
            <a:endParaRPr lang="en-US" sz="1400" dirty="0"/>
          </a:p>
        </p:txBody>
      </p:sp>
      <p:sp>
        <p:nvSpPr>
          <p:cNvPr id="18" name="Shape 4"/>
          <p:cNvSpPr/>
          <p:nvPr/>
        </p:nvSpPr>
        <p:spPr>
          <a:xfrm>
            <a:off x="3650408" y="3534156"/>
            <a:ext cx="6956631"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14</a:t>
            </a:r>
            <a:endParaRPr lang="en-US" sz="1300" dirty="0"/>
          </a:p>
        </p:txBody>
      </p:sp>
      <p:sp>
        <p:nvSpPr>
          <p:cNvPr id="20"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2.1 트랙 상태와 연관</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트랙은 임시로 시작해 확정, 메모리, 삭제 상태를 오갑니다. 상태를 바꾸는 근거는 스캔마다 플롯이 트랙에 붙었는지 (연관 결과, Assigned_Flag) 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2 · 3-2 · 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31136"/>
            <a:ext cx="566928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연관이란</a:t>
            </a:r>
          </a:p>
        </p:txBody>
      </p:sp>
      <p:pic>
        <p:nvPicPr>
          <p:cNvPr id="8" name="Picture 7" descr="fig_assoc.png"/>
          <p:cNvPicPr>
            <a:picLocks noChangeAspect="1"/>
          </p:cNvPicPr>
          <p:nvPr/>
        </p:nvPicPr>
        <p:blipFill>
          <a:blip r:embed="rId3"/>
          <a:stretch>
            <a:fillRect/>
          </a:stretch>
        </p:blipFill>
        <p:spPr>
          <a:xfrm>
            <a:off x="640080" y="2505456"/>
            <a:ext cx="5669280" cy="2331720"/>
          </a:xfrm>
          <a:prstGeom prst="rect">
            <a:avLst/>
          </a:prstGeom>
        </p:spPr>
      </p:pic>
      <p:sp>
        <p:nvSpPr>
          <p:cNvPr id="9" name="Rectangle 8"/>
          <p:cNvSpPr/>
          <p:nvPr/>
        </p:nvSpPr>
        <p:spPr>
          <a:xfrm>
            <a:off x="640080" y="4983480"/>
            <a:ext cx="5669280" cy="987552"/>
          </a:xfrm>
          <a:prstGeom prst="rect">
            <a:avLst/>
          </a:prstGeom>
          <a:solidFill>
            <a:srgbClr val="F7F9FC"/>
          </a:solidFill>
          <a:ln w="9525">
            <a:solidFill>
              <a:srgbClr val="D2D9E5"/>
            </a:solidFill>
          </a:ln>
        </p:spPr>
        <p:txBody>
          <a:bodyPr rtlCol="0" anchor="ctr"/>
          <a:lstStyle/>
          <a:p>
            <a:pPr algn="ctr"/>
          </a:p>
        </p:txBody>
      </p:sp>
      <p:sp>
        <p:nvSpPr>
          <p:cNvPr id="10" name="TextBox 9"/>
          <p:cNvSpPr txBox="1"/>
          <p:nvPr/>
        </p:nvSpPr>
        <p:spPr>
          <a:xfrm>
            <a:off x="804672" y="4983480"/>
            <a:ext cx="5394960" cy="987552"/>
          </a:xfrm>
          <a:prstGeom prst="rect">
            <a:avLst/>
          </a:prstGeom>
          <a:noFill/>
        </p:spPr>
        <p:txBody>
          <a:bodyPr wrap="square" lIns="0" tIns="0" rIns="0" bIns="0" anchor="ctr">
            <a:spAutoFit/>
          </a:bodyPr>
          <a:lstStyle/>
          <a:p>
            <a:pPr algn="l">
              <a:lnSpc>
                <a:spcPct val="135000"/>
              </a:lnSpc>
            </a:pPr>
            <a:r>
              <a:rPr sz="1050" b="1">
                <a:solidFill>
                  <a:srgbClr val="1B2740"/>
                </a:solidFill>
                <a:latin typeface="맑은 고딕"/>
                <a:ea typeface="맑은 고딕"/>
                <a:cs typeface="맑은 고딕"/>
              </a:rPr>
              <a:t>연관  </a:t>
            </a:r>
            <a:r>
              <a:rPr sz="1050" b="0">
                <a:solidFill>
                  <a:srgbClr val="1B2740"/>
                </a:solidFill>
                <a:latin typeface="맑은 고딕"/>
                <a:ea typeface="맑은 고딕"/>
                <a:cs typeface="맑은 고딕"/>
              </a:rPr>
              <a:t>이번 스캔 플롯 가운데 하나를 기존 트랙에 이어 붙이는 것</a:t>
            </a:r>
          </a:p>
          <a:p>
            <a:pPr algn="l">
              <a:lnSpc>
                <a:spcPct val="135000"/>
              </a:lnSpc>
            </a:pPr>
            <a:r>
              <a:rPr sz="1050" b="1">
                <a:solidFill>
                  <a:srgbClr val="1B2740"/>
                </a:solidFill>
                <a:latin typeface="맑은 고딕"/>
                <a:ea typeface="맑은 고딕"/>
                <a:cs typeface="맑은 고딕"/>
              </a:rPr>
              <a:t>Assigned_Flag  </a:t>
            </a:r>
            <a:r>
              <a:rPr sz="1050" b="0">
                <a:solidFill>
                  <a:srgbClr val="1B2740"/>
                </a:solidFill>
                <a:latin typeface="맑은 고딕"/>
                <a:ea typeface="맑은 고딕"/>
                <a:cs typeface="맑은 고딕"/>
              </a:rPr>
              <a:t>트랙마다 스캔마다 남기는 연관 결과. 1 성공, 0 실패</a:t>
            </a:r>
          </a:p>
          <a:p>
            <a:pPr algn="l">
              <a:lnSpc>
                <a:spcPct val="135000"/>
              </a:lnSpc>
            </a:pPr>
            <a:r>
              <a:rPr sz="1050" b="1">
                <a:solidFill>
                  <a:srgbClr val="2563EB"/>
                </a:solidFill>
                <a:latin typeface="맑은 고딕"/>
                <a:ea typeface="맑은 고딕"/>
                <a:cs typeface="맑은 고딕"/>
              </a:rPr>
              <a:t>이번 과제  </a:t>
            </a:r>
            <a:r>
              <a:rPr sz="1050" b="0">
                <a:solidFill>
                  <a:srgbClr val="1B2740"/>
                </a:solidFill>
                <a:latin typeface="맑은 고딕"/>
                <a:ea typeface="맑은 고딕"/>
                <a:cs typeface="맑은 고딕"/>
              </a:rPr>
              <a:t>연관 기능은 다음 과제라 매 스캔 0 으로 둔다 (과제 조건)</a:t>
            </a:r>
          </a:p>
        </p:txBody>
      </p:sp>
      <p:sp>
        <p:nvSpPr>
          <p:cNvPr id="11" name="TextBox 10"/>
          <p:cNvSpPr txBox="1"/>
          <p:nvPr/>
        </p:nvSpPr>
        <p:spPr>
          <a:xfrm>
            <a:off x="6629400" y="2231136"/>
            <a:ext cx="4919472"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트랙 상태 네 가지</a:t>
            </a:r>
            <a:r>
              <a:rPr sz="950" b="0">
                <a:solidFill>
                  <a:srgbClr val="8794AC"/>
                </a:solidFill>
                <a:latin typeface="Consolas"/>
                <a:ea typeface="Consolas"/>
                <a:cs typeface="Consolas"/>
              </a:rPr>
              <a:t>    TrackState</a:t>
            </a:r>
          </a:p>
        </p:txBody>
      </p:sp>
      <p:sp>
        <p:nvSpPr>
          <p:cNvPr id="12" name="Rounded Rectangle 11"/>
          <p:cNvSpPr/>
          <p:nvPr/>
        </p:nvSpPr>
        <p:spPr>
          <a:xfrm>
            <a:off x="6629400" y="2542032"/>
            <a:ext cx="4919472" cy="786384"/>
          </a:xfrm>
          <a:prstGeom prst="roundRect">
            <a:avLst>
              <a:gd name="adj" fmla="val 9302"/>
            </a:avLst>
          </a:prstGeom>
          <a:solidFill>
            <a:srgbClr val="FFF1E6"/>
          </a:solidFill>
          <a:ln w="12700">
            <a:solidFill>
              <a:srgbClr val="EA580C"/>
            </a:solidFill>
          </a:ln>
        </p:spPr>
        <p:txBody>
          <a:bodyPr rtlCol="0" anchor="ctr"/>
          <a:lstStyle/>
          <a:p>
            <a:pPr algn="ctr"/>
          </a:p>
        </p:txBody>
      </p:sp>
      <p:sp>
        <p:nvSpPr>
          <p:cNvPr id="13" name="TextBox 12"/>
          <p:cNvSpPr txBox="1"/>
          <p:nvPr/>
        </p:nvSpPr>
        <p:spPr>
          <a:xfrm>
            <a:off x="6784848" y="2542032"/>
            <a:ext cx="1051560" cy="786384"/>
          </a:xfrm>
          <a:prstGeom prst="rect">
            <a:avLst/>
          </a:prstGeom>
          <a:noFill/>
        </p:spPr>
        <p:txBody>
          <a:bodyPr wrap="square" lIns="0" tIns="0" rIns="0" bIns="0" anchor="ctr">
            <a:spAutoFit/>
          </a:bodyPr>
          <a:lstStyle/>
          <a:p>
            <a:pPr algn="l"/>
            <a:r>
              <a:rPr sz="1200" b="1">
                <a:solidFill>
                  <a:srgbClr val="EA580C"/>
                </a:solidFill>
                <a:latin typeface="맑은 고딕"/>
                <a:ea typeface="맑은 고딕"/>
                <a:cs typeface="맑은 고딕"/>
              </a:rPr>
              <a:t>1  임시</a:t>
            </a:r>
          </a:p>
        </p:txBody>
      </p:sp>
      <p:sp>
        <p:nvSpPr>
          <p:cNvPr id="14" name="TextBox 13"/>
          <p:cNvSpPr txBox="1"/>
          <p:nvPr/>
        </p:nvSpPr>
        <p:spPr>
          <a:xfrm>
            <a:off x="7818120" y="2542032"/>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막 만든 트랙. 표적인지 아직 확인하는 중</a:t>
            </a:r>
          </a:p>
          <a:p>
            <a:pPr algn="l">
              <a:lnSpc>
                <a:spcPct val="115000"/>
              </a:lnSpc>
            </a:pPr>
            <a:r>
              <a:rPr sz="1000" b="0">
                <a:solidFill>
                  <a:srgbClr val="4A5A7A"/>
                </a:solidFill>
                <a:latin typeface="맑은 고딕"/>
                <a:ea typeface="맑은 고딕"/>
                <a:cs typeface="맑은 고딕"/>
              </a:rPr>
              <a:t>클러터 두 개가 우연히 이어진 트랙일 수도 있다</a:t>
            </a:r>
          </a:p>
        </p:txBody>
      </p:sp>
      <p:sp>
        <p:nvSpPr>
          <p:cNvPr id="15" name="Rounded Rectangle 14"/>
          <p:cNvSpPr/>
          <p:nvPr/>
        </p:nvSpPr>
        <p:spPr>
          <a:xfrm>
            <a:off x="6629400" y="3456432"/>
            <a:ext cx="4919472" cy="786384"/>
          </a:xfrm>
          <a:prstGeom prst="roundRect">
            <a:avLst>
              <a:gd name="adj" fmla="val 9302"/>
            </a:avLst>
          </a:prstGeom>
          <a:solidFill>
            <a:srgbClr val="E8F7EE"/>
          </a:solidFill>
          <a:ln w="12700">
            <a:solidFill>
              <a:srgbClr val="16A34A"/>
            </a:solidFill>
          </a:ln>
        </p:spPr>
        <p:txBody>
          <a:bodyPr rtlCol="0" anchor="ctr"/>
          <a:lstStyle/>
          <a:p>
            <a:pPr algn="ctr"/>
          </a:p>
        </p:txBody>
      </p:sp>
      <p:sp>
        <p:nvSpPr>
          <p:cNvPr id="16" name="TextBox 15"/>
          <p:cNvSpPr txBox="1"/>
          <p:nvPr/>
        </p:nvSpPr>
        <p:spPr>
          <a:xfrm>
            <a:off x="6784848" y="3456432"/>
            <a:ext cx="1051560" cy="786384"/>
          </a:xfrm>
          <a:prstGeom prst="rect">
            <a:avLst/>
          </a:prstGeom>
          <a:noFill/>
        </p:spPr>
        <p:txBody>
          <a:bodyPr wrap="square" lIns="0" tIns="0" rIns="0" bIns="0" anchor="ctr">
            <a:spAutoFit/>
          </a:bodyPr>
          <a:lstStyle/>
          <a:p>
            <a:pPr algn="l"/>
            <a:r>
              <a:rPr sz="1200" b="1">
                <a:solidFill>
                  <a:srgbClr val="16A34A"/>
                </a:solidFill>
                <a:latin typeface="맑은 고딕"/>
                <a:ea typeface="맑은 고딕"/>
                <a:cs typeface="맑은 고딕"/>
              </a:rPr>
              <a:t>2  확정</a:t>
            </a:r>
          </a:p>
        </p:txBody>
      </p:sp>
      <p:sp>
        <p:nvSpPr>
          <p:cNvPr id="17" name="TextBox 16"/>
          <p:cNvSpPr txBox="1"/>
          <p:nvPr/>
        </p:nvSpPr>
        <p:spPr>
          <a:xfrm>
            <a:off x="7818120" y="3456432"/>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연관이 이어져 표적으로 인정한 트랙</a:t>
            </a:r>
          </a:p>
          <a:p>
            <a:pPr algn="l">
              <a:lnSpc>
                <a:spcPct val="115000"/>
              </a:lnSpc>
            </a:pPr>
            <a:r>
              <a:rPr sz="1000" b="0">
                <a:solidFill>
                  <a:srgbClr val="4A5A7A"/>
                </a:solidFill>
                <a:latin typeface="맑은 고딕"/>
                <a:ea typeface="맑은 고딕"/>
                <a:cs typeface="맑은 고딕"/>
              </a:rPr>
              <a:t>보통 운용자 화면에 보이는 것은 확정 트랙</a:t>
            </a:r>
          </a:p>
        </p:txBody>
      </p:sp>
      <p:sp>
        <p:nvSpPr>
          <p:cNvPr id="18" name="Rounded Rectangle 17"/>
          <p:cNvSpPr/>
          <p:nvPr/>
        </p:nvSpPr>
        <p:spPr>
          <a:xfrm>
            <a:off x="6629400" y="4370831"/>
            <a:ext cx="4919472" cy="786384"/>
          </a:xfrm>
          <a:prstGeom prst="roundRect">
            <a:avLst>
              <a:gd name="adj" fmla="val 9302"/>
            </a:avLst>
          </a:prstGeom>
          <a:solidFill>
            <a:srgbClr val="F5EBFF"/>
          </a:solidFill>
          <a:ln w="12700">
            <a:solidFill>
              <a:srgbClr val="9333EA"/>
            </a:solidFill>
          </a:ln>
        </p:spPr>
        <p:txBody>
          <a:bodyPr rtlCol="0" anchor="ctr"/>
          <a:lstStyle/>
          <a:p>
            <a:pPr algn="ctr"/>
          </a:p>
        </p:txBody>
      </p:sp>
      <p:sp>
        <p:nvSpPr>
          <p:cNvPr id="19" name="TextBox 18"/>
          <p:cNvSpPr txBox="1"/>
          <p:nvPr/>
        </p:nvSpPr>
        <p:spPr>
          <a:xfrm>
            <a:off x="6784848" y="4370831"/>
            <a:ext cx="1051560" cy="786384"/>
          </a:xfrm>
          <a:prstGeom prst="rect">
            <a:avLst/>
          </a:prstGeom>
          <a:noFill/>
        </p:spPr>
        <p:txBody>
          <a:bodyPr wrap="square" lIns="0" tIns="0" rIns="0" bIns="0" anchor="ctr">
            <a:spAutoFit/>
          </a:bodyPr>
          <a:lstStyle/>
          <a:p>
            <a:pPr algn="l"/>
            <a:r>
              <a:rPr sz="1200" b="1">
                <a:solidFill>
                  <a:srgbClr val="9333EA"/>
                </a:solidFill>
                <a:latin typeface="맑은 고딕"/>
                <a:ea typeface="맑은 고딕"/>
                <a:cs typeface="맑은 고딕"/>
              </a:rPr>
              <a:t>3  메모리</a:t>
            </a:r>
          </a:p>
        </p:txBody>
      </p:sp>
      <p:sp>
        <p:nvSpPr>
          <p:cNvPr id="20" name="TextBox 19"/>
          <p:cNvSpPr txBox="1"/>
          <p:nvPr/>
        </p:nvSpPr>
        <p:spPr>
          <a:xfrm>
            <a:off x="7818120" y="4370831"/>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확정 트랙이 이번 스캔에 플롯을 놓친 상태</a:t>
            </a:r>
          </a:p>
          <a:p>
            <a:pPr algn="l">
              <a:lnSpc>
                <a:spcPct val="115000"/>
              </a:lnSpc>
            </a:pPr>
            <a:r>
              <a:rPr sz="1000" b="0">
                <a:solidFill>
                  <a:srgbClr val="4A5A7A"/>
                </a:solidFill>
                <a:latin typeface="맑은 고딕"/>
                <a:ea typeface="맑은 고딕"/>
                <a:cs typeface="맑은 고딕"/>
              </a:rPr>
              <a:t>바로 지우지 않고 다시 잡히기를 기다린다</a:t>
            </a:r>
          </a:p>
        </p:txBody>
      </p:sp>
      <p:sp>
        <p:nvSpPr>
          <p:cNvPr id="21" name="Rounded Rectangle 20"/>
          <p:cNvSpPr/>
          <p:nvPr/>
        </p:nvSpPr>
        <p:spPr>
          <a:xfrm>
            <a:off x="6629400" y="5285231"/>
            <a:ext cx="4919472" cy="786384"/>
          </a:xfrm>
          <a:prstGeom prst="roundRect">
            <a:avLst>
              <a:gd name="adj" fmla="val 9302"/>
            </a:avLst>
          </a:prstGeom>
          <a:solidFill>
            <a:srgbClr val="F1F2F4"/>
          </a:solidFill>
          <a:ln w="12700">
            <a:solidFill>
              <a:srgbClr val="6B7280"/>
            </a:solidFill>
          </a:ln>
        </p:spPr>
        <p:txBody>
          <a:bodyPr rtlCol="0" anchor="ctr"/>
          <a:lstStyle/>
          <a:p>
            <a:pPr algn="ctr"/>
          </a:p>
        </p:txBody>
      </p:sp>
      <p:sp>
        <p:nvSpPr>
          <p:cNvPr id="22" name="TextBox 21"/>
          <p:cNvSpPr txBox="1"/>
          <p:nvPr/>
        </p:nvSpPr>
        <p:spPr>
          <a:xfrm>
            <a:off x="6784848" y="5285231"/>
            <a:ext cx="1051560" cy="786384"/>
          </a:xfrm>
          <a:prstGeom prst="rect">
            <a:avLst/>
          </a:prstGeom>
          <a:noFill/>
        </p:spPr>
        <p:txBody>
          <a:bodyPr wrap="square" lIns="0" tIns="0" rIns="0" bIns="0" anchor="ctr">
            <a:spAutoFit/>
          </a:bodyPr>
          <a:lstStyle/>
          <a:p>
            <a:pPr algn="l"/>
            <a:r>
              <a:rPr sz="1200" b="1">
                <a:solidFill>
                  <a:srgbClr val="6B7280"/>
                </a:solidFill>
                <a:latin typeface="맑은 고딕"/>
                <a:ea typeface="맑은 고딕"/>
                <a:cs typeface="맑은 고딕"/>
              </a:rPr>
              <a:t>4  삭제</a:t>
            </a:r>
          </a:p>
        </p:txBody>
      </p:sp>
      <p:sp>
        <p:nvSpPr>
          <p:cNvPr id="23" name="TextBox 22"/>
          <p:cNvSpPr txBox="1"/>
          <p:nvPr/>
        </p:nvSpPr>
        <p:spPr>
          <a:xfrm>
            <a:off x="7818120" y="5285231"/>
            <a:ext cx="3657600" cy="786384"/>
          </a:xfrm>
          <a:prstGeom prst="rect">
            <a:avLst/>
          </a:prstGeom>
          <a:noFill/>
        </p:spPr>
        <p:txBody>
          <a:bodyPr wrap="square" lIns="0" tIns="0" rIns="0" bIns="0" anchor="ctr">
            <a:spAutoFit/>
          </a:bodyPr>
          <a:lstStyle/>
          <a:p>
            <a:pPr algn="l">
              <a:lnSpc>
                <a:spcPct val="115000"/>
              </a:lnSpc>
            </a:pPr>
            <a:r>
              <a:rPr sz="1050" b="1">
                <a:solidFill>
                  <a:srgbClr val="1B2740"/>
                </a:solidFill>
                <a:latin typeface="맑은 고딕"/>
                <a:ea typeface="맑은 고딕"/>
                <a:cs typeface="맑은 고딕"/>
              </a:rPr>
              <a:t>더 쫓지 않기로 한 트랙</a:t>
            </a:r>
          </a:p>
          <a:p>
            <a:pPr algn="l">
              <a:lnSpc>
                <a:spcPct val="115000"/>
              </a:lnSpc>
            </a:pPr>
            <a:r>
              <a:rPr sz="1000" b="0">
                <a:solidFill>
                  <a:srgbClr val="4A5A7A"/>
                </a:solidFill>
                <a:latin typeface="맑은 고딕"/>
                <a:ea typeface="맑은 고딕"/>
                <a:cs typeface="맑은 고딕"/>
              </a:rPr>
              <a:t>다음 스캔을 시작할 때 트랙 표에서 지운다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2.2 M/N 방식</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최근 N 번 가운데 연관에 M 번 성공하면 확정하고, M 번 연속 실패하면 지우는 방식입니다. 횟수만 세면 되어 단순합니다.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2.1</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mn.png"/>
          <p:cNvPicPr>
            <a:picLocks noChangeAspect="1"/>
          </p:cNvPicPr>
          <p:nvPr/>
        </p:nvPicPr>
        <p:blipFill>
          <a:blip r:embed="rId3"/>
          <a:stretch>
            <a:fillRect/>
          </a:stretch>
        </p:blipFill>
        <p:spPr>
          <a:xfrm>
            <a:off x="640080" y="2240280"/>
            <a:ext cx="6263640" cy="2626688"/>
          </a:xfrm>
          <a:prstGeom prst="rect">
            <a:avLst/>
          </a:prstGeom>
        </p:spPr>
      </p:pic>
      <p:sp>
        <p:nvSpPr>
          <p:cNvPr id="8" name="Oval 7"/>
          <p:cNvSpPr/>
          <p:nvPr/>
        </p:nvSpPr>
        <p:spPr>
          <a:xfrm>
            <a:off x="7086600" y="237744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9" name="TextBox 8"/>
          <p:cNvSpPr txBox="1"/>
          <p:nvPr/>
        </p:nvSpPr>
        <p:spPr>
          <a:xfrm>
            <a:off x="7470648" y="2359152"/>
            <a:ext cx="407822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임시 트랙</a:t>
            </a:r>
          </a:p>
          <a:p>
            <a:pPr algn="l">
              <a:lnSpc>
                <a:spcPct val="108000"/>
              </a:lnSpc>
            </a:pPr>
            <a:r>
              <a:rPr sz="1050" b="0">
                <a:solidFill>
                  <a:srgbClr val="4A5A7A"/>
                </a:solidFill>
                <a:latin typeface="맑은 고딕"/>
                <a:ea typeface="맑은 고딕"/>
                <a:cs typeface="맑은 고딕"/>
              </a:rPr>
              <a:t>N 번 중 M 번 트랙 연관에 성공 -&gt; 확정</a:t>
            </a:r>
          </a:p>
          <a:p>
            <a:pPr algn="l">
              <a:lnSpc>
                <a:spcPct val="108000"/>
              </a:lnSpc>
            </a:pPr>
            <a:r>
              <a:rPr sz="1050" b="0">
                <a:solidFill>
                  <a:srgbClr val="4A5A7A"/>
                </a:solidFill>
                <a:latin typeface="맑은 고딕"/>
                <a:ea typeface="맑은 고딕"/>
                <a:cs typeface="맑은 고딕"/>
              </a:rPr>
              <a:t>M 번 연속 결합 실패 -&gt; 삭제</a:t>
            </a:r>
          </a:p>
        </p:txBody>
      </p:sp>
      <p:sp>
        <p:nvSpPr>
          <p:cNvPr id="10" name="Oval 9"/>
          <p:cNvSpPr/>
          <p:nvPr/>
        </p:nvSpPr>
        <p:spPr>
          <a:xfrm>
            <a:off x="7086600" y="333756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1" name="TextBox 10"/>
          <p:cNvSpPr txBox="1"/>
          <p:nvPr/>
        </p:nvSpPr>
        <p:spPr>
          <a:xfrm>
            <a:off x="7470648" y="3319272"/>
            <a:ext cx="407822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확정 트랙</a:t>
            </a:r>
          </a:p>
          <a:p>
            <a:pPr algn="l">
              <a:lnSpc>
                <a:spcPct val="108000"/>
              </a:lnSpc>
            </a:pPr>
            <a:r>
              <a:rPr sz="1050" b="0">
                <a:solidFill>
                  <a:srgbClr val="4A5A7A"/>
                </a:solidFill>
                <a:latin typeface="맑은 고딕"/>
                <a:ea typeface="맑은 고딕"/>
                <a:cs typeface="맑은 고딕"/>
              </a:rPr>
              <a:t>트랙 연관 실패 -&gt; 메모리 트랙으로</a:t>
            </a:r>
          </a:p>
          <a:p>
            <a:pPr algn="l">
              <a:lnSpc>
                <a:spcPct val="108000"/>
              </a:lnSpc>
            </a:pPr>
            <a:r>
              <a:rPr sz="1050" b="0">
                <a:solidFill>
                  <a:srgbClr val="4A5A7A"/>
                </a:solidFill>
                <a:latin typeface="맑은 고딕"/>
                <a:ea typeface="맑은 고딕"/>
                <a:cs typeface="맑은 고딕"/>
              </a:rPr>
              <a:t>정한 시간 이상 메모리 상태 -&gt; 삭제</a:t>
            </a:r>
          </a:p>
        </p:txBody>
      </p:sp>
      <p:sp>
        <p:nvSpPr>
          <p:cNvPr id="12" name="Oval 11"/>
          <p:cNvSpPr/>
          <p:nvPr/>
        </p:nvSpPr>
        <p:spPr>
          <a:xfrm>
            <a:off x="7086600" y="42976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3" name="TextBox 12"/>
          <p:cNvSpPr txBox="1"/>
          <p:nvPr/>
        </p:nvSpPr>
        <p:spPr>
          <a:xfrm>
            <a:off x="7470648" y="4279392"/>
            <a:ext cx="407822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특징</a:t>
            </a:r>
          </a:p>
          <a:p>
            <a:pPr algn="l">
              <a:lnSpc>
                <a:spcPct val="108000"/>
              </a:lnSpc>
            </a:pPr>
            <a:r>
              <a:rPr sz="1050" b="0">
                <a:solidFill>
                  <a:srgbClr val="4A5A7A"/>
                </a:solidFill>
                <a:latin typeface="맑은 고딕"/>
                <a:ea typeface="맑은 고딕"/>
                <a:cs typeface="맑은 고딕"/>
              </a:rPr>
              <a:t>성공 · 실패 횟수만 세면 되어 단순하다</a:t>
            </a:r>
          </a:p>
          <a:p>
            <a:pPr algn="l">
              <a:lnSpc>
                <a:spcPct val="108000"/>
              </a:lnSpc>
            </a:pPr>
            <a:r>
              <a:rPr sz="1050" b="0">
                <a:solidFill>
                  <a:srgbClr val="4A5A7A"/>
                </a:solidFill>
                <a:latin typeface="맑은 고딕"/>
                <a:ea typeface="맑은 고딕"/>
                <a:cs typeface="맑은 고딕"/>
              </a:rPr>
              <a:t>대신 최근 N 번의 성공 · 실패 기록을 트랙마다 들고 있어야 한다</a:t>
            </a:r>
          </a:p>
        </p:txBody>
      </p:sp>
      <p:sp>
        <p:nvSpPr>
          <p:cNvPr id="14" name="Rounded Rectangle 13"/>
          <p:cNvSpPr/>
          <p:nvPr/>
        </p:nvSpPr>
        <p:spPr>
          <a:xfrm>
            <a:off x="7086600" y="5257800"/>
            <a:ext cx="4462272" cy="566928"/>
          </a:xfrm>
          <a:prstGeom prst="roundRect">
            <a:avLst>
              <a:gd name="adj" fmla="val 12903"/>
            </a:avLst>
          </a:prstGeom>
          <a:solidFill>
            <a:srgbClr val="F7F9FC"/>
          </a:solidFill>
          <a:ln w="9525">
            <a:solidFill>
              <a:srgbClr val="D2D9E5"/>
            </a:solidFill>
          </a:ln>
        </p:spPr>
        <p:txBody>
          <a:bodyPr rtlCol="0" anchor="ctr"/>
          <a:lstStyle/>
          <a:p>
            <a:pPr algn="ctr"/>
          </a:p>
        </p:txBody>
      </p:sp>
      <p:sp>
        <p:nvSpPr>
          <p:cNvPr id="15" name="TextBox 14"/>
          <p:cNvSpPr txBox="1"/>
          <p:nvPr/>
        </p:nvSpPr>
        <p:spPr>
          <a:xfrm>
            <a:off x="7223760" y="5257800"/>
            <a:ext cx="4206240" cy="566928"/>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이번 과제는 과제 조건대로 다음 장의 트랙 스코어 방식을 썼습니다.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2.3 트랙 스코어 방식  (이번 과제)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트랙마다 점수 두 개 (TrackScore, MemoryScore) 를 두고, 연관 성공 · 실패에 따라 점수를 올리고 내리다가 문턱을 넘으면 상태를 바꿉니다.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2.2 · 3-2</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state.png"/>
          <p:cNvPicPr>
            <a:picLocks noChangeAspect="1"/>
          </p:cNvPicPr>
          <p:nvPr/>
        </p:nvPicPr>
        <p:blipFill>
          <a:blip r:embed="rId3"/>
          <a:stretch>
            <a:fillRect/>
          </a:stretch>
        </p:blipFill>
        <p:spPr>
          <a:xfrm>
            <a:off x="640080" y="2240280"/>
            <a:ext cx="6400800" cy="3063240"/>
          </a:xfrm>
          <a:prstGeom prst="rect">
            <a:avLst/>
          </a:prstGeom>
        </p:spPr>
      </p:pic>
      <p:sp>
        <p:nvSpPr>
          <p:cNvPr id="8" name="Oval 7"/>
          <p:cNvSpPr/>
          <p:nvPr/>
        </p:nvSpPr>
        <p:spPr>
          <a:xfrm>
            <a:off x="7269480"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9" name="TextBox 8"/>
          <p:cNvSpPr txBox="1"/>
          <p:nvPr/>
        </p:nvSpPr>
        <p:spPr>
          <a:xfrm>
            <a:off x="7653528" y="2313432"/>
            <a:ext cx="389534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TrackState (과제 값)</a:t>
            </a:r>
          </a:p>
          <a:p>
            <a:pPr algn="l">
              <a:lnSpc>
                <a:spcPct val="108000"/>
              </a:lnSpc>
            </a:pPr>
            <a:r>
              <a:rPr sz="1050" b="0">
                <a:solidFill>
                  <a:srgbClr val="4A5A7A"/>
                </a:solidFill>
                <a:latin typeface="맑은 고딕"/>
                <a:ea typeface="맑은 고딕"/>
                <a:cs typeface="맑은 고딕"/>
              </a:rPr>
              <a:t>1 임시,  2 확정,  3 메모리,  4 삭제</a:t>
            </a:r>
          </a:p>
        </p:txBody>
      </p:sp>
      <p:sp>
        <p:nvSpPr>
          <p:cNvPr id="10" name="Oval 9"/>
          <p:cNvSpPr/>
          <p:nvPr/>
        </p:nvSpPr>
        <p:spPr>
          <a:xfrm>
            <a:off x="7269480" y="297180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1" name="TextBox 10"/>
          <p:cNvSpPr txBox="1"/>
          <p:nvPr/>
        </p:nvSpPr>
        <p:spPr>
          <a:xfrm>
            <a:off x="7653528" y="2953512"/>
            <a:ext cx="389534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문턱 (과제 값)</a:t>
            </a:r>
          </a:p>
          <a:p>
            <a:pPr algn="l">
              <a:lnSpc>
                <a:spcPct val="108000"/>
              </a:lnSpc>
            </a:pPr>
            <a:r>
              <a:rPr sz="1050" b="0">
                <a:solidFill>
                  <a:srgbClr val="4A5A7A"/>
                </a:solidFill>
                <a:latin typeface="맑은 고딕"/>
                <a:ea typeface="맑은 고딕"/>
                <a:cs typeface="맑은 고딕"/>
              </a:rPr>
              <a:t>임시 트랙 확정 5,  임시 트랙 삭제 0</a:t>
            </a:r>
          </a:p>
          <a:p>
            <a:pPr algn="l">
              <a:lnSpc>
                <a:spcPct val="108000"/>
              </a:lnSpc>
            </a:pPr>
            <a:r>
              <a:rPr sz="1050" b="0">
                <a:solidFill>
                  <a:srgbClr val="4A5A7A"/>
                </a:solidFill>
                <a:latin typeface="맑은 고딕"/>
                <a:ea typeface="맑은 고딕"/>
                <a:cs typeface="맑은 고딕"/>
              </a:rPr>
              <a:t>메모리 트랙 삭제 5</a:t>
            </a:r>
          </a:p>
        </p:txBody>
      </p:sp>
      <p:sp>
        <p:nvSpPr>
          <p:cNvPr id="12" name="Oval 11"/>
          <p:cNvSpPr/>
          <p:nvPr/>
        </p:nvSpPr>
        <p:spPr>
          <a:xfrm>
            <a:off x="7269480" y="38404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3" name="TextBox 12"/>
          <p:cNvSpPr txBox="1"/>
          <p:nvPr/>
        </p:nvSpPr>
        <p:spPr>
          <a:xfrm>
            <a:off x="7653528" y="3822192"/>
            <a:ext cx="389534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메모리 트랙이 다시 연관되면</a:t>
            </a:r>
          </a:p>
          <a:p>
            <a:pPr algn="l">
              <a:lnSpc>
                <a:spcPct val="108000"/>
              </a:lnSpc>
            </a:pPr>
            <a:r>
              <a:rPr sz="1050" b="0">
                <a:solidFill>
                  <a:srgbClr val="4A5A7A"/>
                </a:solidFill>
                <a:latin typeface="맑은 고딕"/>
                <a:ea typeface="맑은 고딕"/>
                <a:cs typeface="맑은 고딕"/>
              </a:rPr>
              <a:t>바로 확정 트랙으로 되돌리고 MemoryScore = 0</a:t>
            </a:r>
          </a:p>
        </p:txBody>
      </p:sp>
      <p:sp>
        <p:nvSpPr>
          <p:cNvPr id="14" name="Oval 13"/>
          <p:cNvSpPr/>
          <p:nvPr/>
        </p:nvSpPr>
        <p:spPr>
          <a:xfrm>
            <a:off x="7269480" y="448056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15" name="TextBox 14"/>
          <p:cNvSpPr txBox="1"/>
          <p:nvPr/>
        </p:nvSpPr>
        <p:spPr>
          <a:xfrm>
            <a:off x="7653528" y="4462272"/>
            <a:ext cx="389534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과제에 없어 정한 값</a:t>
            </a:r>
          </a:p>
          <a:p>
            <a:pPr algn="l">
              <a:lnSpc>
                <a:spcPct val="108000"/>
              </a:lnSpc>
            </a:pPr>
            <a:r>
              <a:rPr sz="1050" b="0">
                <a:solidFill>
                  <a:srgbClr val="4A5A7A"/>
                </a:solidFill>
                <a:latin typeface="맑은 고딕"/>
                <a:ea typeface="맑은 고딕"/>
                <a:cs typeface="맑은 고딕"/>
              </a:rPr>
              <a:t>개시 직후 TrackScore = 2 (플롯 두 개가 이미 이어졌으므로)</a:t>
            </a:r>
          </a:p>
          <a:p>
            <a:pPr algn="l">
              <a:lnSpc>
                <a:spcPct val="108000"/>
              </a:lnSpc>
            </a:pPr>
            <a:r>
              <a:rPr sz="1050" b="0">
                <a:solidFill>
                  <a:srgbClr val="4A5A7A"/>
                </a:solidFill>
                <a:latin typeface="맑은 고딕"/>
                <a:ea typeface="맑은 고딕"/>
                <a:cs typeface="맑은 고딕"/>
              </a:rPr>
              <a:t>한 번에 올리고 내리는 양 = 1</a:t>
            </a:r>
          </a:p>
        </p:txBody>
      </p:sp>
      <p:sp>
        <p:nvSpPr>
          <p:cNvPr id="16" name="Rounded Rectangle 15"/>
          <p:cNvSpPr/>
          <p:nvPr/>
        </p:nvSpPr>
        <p:spPr>
          <a:xfrm>
            <a:off x="7269480" y="5349240"/>
            <a:ext cx="4279392" cy="530352"/>
          </a:xfrm>
          <a:prstGeom prst="roundRect">
            <a:avLst>
              <a:gd name="adj" fmla="val 13793"/>
            </a:avLst>
          </a:prstGeom>
          <a:solidFill>
            <a:srgbClr val="F7F9FC"/>
          </a:solidFill>
          <a:ln w="9525">
            <a:solidFill>
              <a:srgbClr val="D2D9E5"/>
            </a:solidFill>
          </a:ln>
        </p:spPr>
        <p:txBody>
          <a:bodyPr rtlCol="0" anchor="ctr"/>
          <a:lstStyle/>
          <a:p>
            <a:pPr algn="ctr"/>
          </a:p>
        </p:txBody>
      </p:sp>
      <p:sp>
        <p:nvSpPr>
          <p:cNvPr id="17" name="TextBox 16"/>
          <p:cNvSpPr txBox="1"/>
          <p:nvPr/>
        </p:nvSpPr>
        <p:spPr>
          <a:xfrm>
            <a:off x="7406640" y="5349240"/>
            <a:ext cx="4023360" cy="530352"/>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M/N 과 달리 정수 두 개만 있으면 같은 판단을 할 수 있습니다.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2.4 점수가 바뀌는 과정 (예)</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왼쪽은 연관 결과를 직접 넣어 본 예, 오른쪽은 이번 과제 조건 (매 스캔 실패) 입니다. 맨 위가 스캔마다의 Assigned_Flag, 맨 아래가 그때 점수가 바뀐 계산입니다.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3-2 · 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score.png"/>
          <p:cNvPicPr>
            <a:picLocks noChangeAspect="1"/>
          </p:cNvPicPr>
          <p:nvPr/>
        </p:nvPicPr>
        <p:blipFill>
          <a:blip r:embed="rId3"/>
          <a:stretch>
            <a:fillRect/>
          </a:stretch>
        </p:blipFill>
        <p:spPr>
          <a:xfrm>
            <a:off x="640080" y="2212848"/>
            <a:ext cx="10908792" cy="380432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03. 구현</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쓰레드 · UDP 구조와 플롯 메시지를 보고, 송신 · 수신 코드와 트랙 개시 · 관리 코드를 차례로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3.1</a:t>
            </a:r>
            <a:endParaRPr lang="en-US" sz="1400" dirty="0"/>
          </a:p>
        </p:txBody>
      </p:sp>
      <p:sp>
        <p:nvSpPr>
          <p:cNvPr id="5" name="Text 3"/>
          <p:cNvSpPr txBox="1"/>
          <p:nvPr/>
        </p:nvSpPr>
        <p:spPr>
          <a:xfrm>
            <a:off x="1418234" y="2057400"/>
            <a:ext cx="2252071"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전체 구조: 쓰레드와 UDP</a:t>
            </a:r>
            <a:endParaRPr lang="en-US" sz="1400" dirty="0"/>
          </a:p>
        </p:txBody>
      </p:sp>
      <p:sp>
        <p:nvSpPr>
          <p:cNvPr id="6" name="Shape 4"/>
          <p:cNvSpPr/>
          <p:nvPr/>
        </p:nvSpPr>
        <p:spPr>
          <a:xfrm>
            <a:off x="3779119" y="2313432"/>
            <a:ext cx="6827920"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16</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3.2</a:t>
            </a:r>
            <a:endParaRPr lang="en-US" sz="1400" dirty="0"/>
          </a:p>
        </p:txBody>
      </p:sp>
      <p:sp>
        <p:nvSpPr>
          <p:cNvPr id="9" name="Text 3"/>
          <p:cNvSpPr txBox="1"/>
          <p:nvPr/>
        </p:nvSpPr>
        <p:spPr>
          <a:xfrm>
            <a:off x="1418234" y="2464308"/>
            <a:ext cx="273677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플롯 메시지 STRUCT_PlotMsg</a:t>
            </a:r>
            <a:endParaRPr lang="en-US" sz="1400" dirty="0"/>
          </a:p>
        </p:txBody>
      </p:sp>
      <p:sp>
        <p:nvSpPr>
          <p:cNvPr id="10" name="Shape 4"/>
          <p:cNvSpPr/>
          <p:nvPr/>
        </p:nvSpPr>
        <p:spPr>
          <a:xfrm>
            <a:off x="4263818" y="2720339"/>
            <a:ext cx="6343221"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17</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3.3</a:t>
            </a:r>
            <a:endParaRPr lang="en-US" sz="1400" dirty="0"/>
          </a:p>
        </p:txBody>
      </p:sp>
      <p:sp>
        <p:nvSpPr>
          <p:cNvPr id="13" name="Text 3"/>
          <p:cNvSpPr txBox="1"/>
          <p:nvPr/>
        </p:nvSpPr>
        <p:spPr>
          <a:xfrm>
            <a:off x="1418234" y="2871216"/>
            <a:ext cx="2216177"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송신: 플롯 메시지 만들기</a:t>
            </a:r>
            <a:endParaRPr lang="en-US" sz="1400" dirty="0"/>
          </a:p>
        </p:txBody>
      </p:sp>
      <p:sp>
        <p:nvSpPr>
          <p:cNvPr id="14" name="Shape 4"/>
          <p:cNvSpPr/>
          <p:nvPr/>
        </p:nvSpPr>
        <p:spPr>
          <a:xfrm>
            <a:off x="3743225" y="3127248"/>
            <a:ext cx="6863814"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18</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3.4</a:t>
            </a:r>
            <a:endParaRPr lang="en-US" sz="1400" dirty="0"/>
          </a:p>
        </p:txBody>
      </p:sp>
      <p:sp>
        <p:nvSpPr>
          <p:cNvPr id="17" name="Text 3"/>
          <p:cNvSpPr txBox="1"/>
          <p:nvPr/>
        </p:nvSpPr>
        <p:spPr>
          <a:xfrm>
            <a:off x="1418234" y="3278124"/>
            <a:ext cx="241959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수신: 좌표 변환과 트랙 처리</a:t>
            </a:r>
            <a:endParaRPr lang="en-US" sz="1400" dirty="0"/>
          </a:p>
        </p:txBody>
      </p:sp>
      <p:sp>
        <p:nvSpPr>
          <p:cNvPr id="18" name="Shape 4"/>
          <p:cNvSpPr/>
          <p:nvPr/>
        </p:nvSpPr>
        <p:spPr>
          <a:xfrm>
            <a:off x="3946640" y="3534156"/>
            <a:ext cx="6660399"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19</a:t>
            </a:r>
            <a:endParaRPr lang="en-US" sz="1300" dirty="0"/>
          </a:p>
        </p:txBody>
      </p:sp>
      <p:sp>
        <p:nvSpPr>
          <p:cNvPr id="20" name="Text 2"/>
          <p:cNvSpPr txBox="1"/>
          <p:nvPr/>
        </p:nvSpPr>
        <p:spPr>
          <a:xfrm>
            <a:off x="859536" y="368503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3.5</a:t>
            </a:r>
            <a:endParaRPr lang="en-US" sz="1400" dirty="0"/>
          </a:p>
        </p:txBody>
      </p:sp>
      <p:sp>
        <p:nvSpPr>
          <p:cNvPr id="21" name="Text 3"/>
          <p:cNvSpPr txBox="1"/>
          <p:nvPr/>
        </p:nvSpPr>
        <p:spPr>
          <a:xfrm>
            <a:off x="1418234" y="3685032"/>
            <a:ext cx="2162115"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2-Point 개시: 쌍 고르기</a:t>
            </a:r>
            <a:endParaRPr lang="en-US" sz="1400" dirty="0"/>
          </a:p>
        </p:txBody>
      </p:sp>
      <p:sp>
        <p:nvSpPr>
          <p:cNvPr id="22" name="Shape 4"/>
          <p:cNvSpPr/>
          <p:nvPr/>
        </p:nvSpPr>
        <p:spPr>
          <a:xfrm>
            <a:off x="3689163" y="3941064"/>
            <a:ext cx="6917876" cy="0"/>
          </a:xfrm>
          <a:prstGeom prst="line">
            <a:avLst/>
          </a:prstGeom>
          <a:noFill/>
          <a:ln w="15875">
            <a:solidFill>
              <a:srgbClr val="AEB9CC"/>
            </a:solidFill>
            <a:prstDash val="sysDot"/>
          </a:ln>
        </p:spPr>
      </p:sp>
      <p:sp>
        <p:nvSpPr>
          <p:cNvPr id="23" name="Text 5"/>
          <p:cNvSpPr txBox="1"/>
          <p:nvPr/>
        </p:nvSpPr>
        <p:spPr>
          <a:xfrm>
            <a:off x="10736885" y="368503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20</a:t>
            </a:r>
            <a:endParaRPr lang="en-US" sz="1300" dirty="0"/>
          </a:p>
        </p:txBody>
      </p:sp>
      <p:sp>
        <p:nvSpPr>
          <p:cNvPr id="24" name="Text 2"/>
          <p:cNvSpPr txBox="1"/>
          <p:nvPr/>
        </p:nvSpPr>
        <p:spPr>
          <a:xfrm>
            <a:off x="859536" y="4091939"/>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3.6</a:t>
            </a:r>
            <a:endParaRPr lang="en-US" sz="1400" dirty="0"/>
          </a:p>
        </p:txBody>
      </p:sp>
      <p:sp>
        <p:nvSpPr>
          <p:cNvPr id="25" name="Text 3"/>
          <p:cNvSpPr txBox="1"/>
          <p:nvPr/>
        </p:nvSpPr>
        <p:spPr>
          <a:xfrm>
            <a:off x="1418234" y="4091939"/>
            <a:ext cx="154228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2-Point 초기화</a:t>
            </a:r>
            <a:endParaRPr lang="en-US" sz="1400" dirty="0"/>
          </a:p>
        </p:txBody>
      </p:sp>
      <p:sp>
        <p:nvSpPr>
          <p:cNvPr id="26" name="Shape 4"/>
          <p:cNvSpPr/>
          <p:nvPr/>
        </p:nvSpPr>
        <p:spPr>
          <a:xfrm>
            <a:off x="3069336" y="4347972"/>
            <a:ext cx="7537703" cy="0"/>
          </a:xfrm>
          <a:prstGeom prst="line">
            <a:avLst/>
          </a:prstGeom>
          <a:noFill/>
          <a:ln w="15875">
            <a:solidFill>
              <a:srgbClr val="AEB9CC"/>
            </a:solidFill>
            <a:prstDash val="sysDot"/>
          </a:ln>
        </p:spPr>
      </p:sp>
      <p:sp>
        <p:nvSpPr>
          <p:cNvPr id="27" name="Text 5"/>
          <p:cNvSpPr txBox="1"/>
          <p:nvPr/>
        </p:nvSpPr>
        <p:spPr>
          <a:xfrm>
            <a:off x="10736885" y="4091939"/>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21</a:t>
            </a:r>
            <a:endParaRPr lang="en-US" sz="1300" dirty="0"/>
          </a:p>
        </p:txBody>
      </p:sp>
      <p:sp>
        <p:nvSpPr>
          <p:cNvPr id="28" name="Text 2"/>
          <p:cNvSpPr txBox="1"/>
          <p:nvPr/>
        </p:nvSpPr>
        <p:spPr>
          <a:xfrm>
            <a:off x="859536" y="449884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3.7</a:t>
            </a:r>
            <a:endParaRPr lang="en-US" sz="1400" dirty="0"/>
          </a:p>
        </p:txBody>
      </p:sp>
      <p:sp>
        <p:nvSpPr>
          <p:cNvPr id="29" name="Text 3"/>
          <p:cNvSpPr txBox="1"/>
          <p:nvPr/>
        </p:nvSpPr>
        <p:spPr>
          <a:xfrm>
            <a:off x="1418234" y="4498848"/>
            <a:ext cx="163618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스코어 로직</a:t>
            </a:r>
            <a:endParaRPr lang="en-US" sz="1400" dirty="0"/>
          </a:p>
        </p:txBody>
      </p:sp>
      <p:sp>
        <p:nvSpPr>
          <p:cNvPr id="30" name="Shape 4"/>
          <p:cNvSpPr/>
          <p:nvPr/>
        </p:nvSpPr>
        <p:spPr>
          <a:xfrm>
            <a:off x="3163236" y="4754880"/>
            <a:ext cx="7443803" cy="0"/>
          </a:xfrm>
          <a:prstGeom prst="line">
            <a:avLst/>
          </a:prstGeom>
          <a:noFill/>
          <a:ln w="15875">
            <a:solidFill>
              <a:srgbClr val="AEB9CC"/>
            </a:solidFill>
            <a:prstDash val="sysDot"/>
          </a:ln>
        </p:spPr>
      </p:sp>
      <p:sp>
        <p:nvSpPr>
          <p:cNvPr id="31" name="Text 5"/>
          <p:cNvSpPr txBox="1"/>
          <p:nvPr/>
        </p:nvSpPr>
        <p:spPr>
          <a:xfrm>
            <a:off x="10736885" y="449884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22</a:t>
            </a:r>
            <a:endParaRPr lang="en-US" sz="1300" dirty="0"/>
          </a:p>
        </p:txBody>
      </p:sp>
      <p:sp>
        <p:nvSpPr>
          <p:cNvPr id="32"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3.1 전체 구조: 쓰레드와 UDP</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4 의 측정 결과를 신호처리가 보낸 플롯이라고 보고, 송신 쓰레드가 스캔마다 UDP 로 보내면 수신 쓰레드가 받아 트랙을 처리합니다.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arch.png"/>
          <p:cNvPicPr>
            <a:picLocks noChangeAspect="1"/>
          </p:cNvPicPr>
          <p:nvPr/>
        </p:nvPicPr>
        <p:blipFill>
          <a:blip r:embed="rId3"/>
          <a:stretch>
            <a:fillRect/>
          </a:stretch>
        </p:blipFill>
        <p:spPr>
          <a:xfrm>
            <a:off x="640080" y="2212848"/>
            <a:ext cx="10908792" cy="2520939"/>
          </a:xfrm>
          <a:prstGeom prst="rect">
            <a:avLst/>
          </a:prstGeom>
        </p:spPr>
      </p:pic>
      <p:sp>
        <p:nvSpPr>
          <p:cNvPr id="8" name="TextBox 7"/>
          <p:cNvSpPr txBox="1"/>
          <p:nvPr/>
        </p:nvSpPr>
        <p:spPr>
          <a:xfrm>
            <a:off x="640080" y="4818888"/>
            <a:ext cx="10908792"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왜 TCP 가 아니라 UDP 인가</a:t>
            </a:r>
            <a:r>
              <a:rPr sz="950" b="0">
                <a:solidFill>
                  <a:srgbClr val="4A5A7A"/>
                </a:solidFill>
                <a:latin typeface="맑은 고딕"/>
                <a:ea typeface="맑은 고딕"/>
                <a:cs typeface="맑은 고딕"/>
              </a:rPr>
              <a:t>   과제는 UDP 또는 TCP/IP 중 하나를 고르게 함</a:t>
            </a:r>
          </a:p>
        </p:txBody>
      </p:sp>
      <p:graphicFrame>
        <p:nvGraphicFramePr>
          <p:cNvPr id="9" name="Table 8"/>
          <p:cNvGraphicFramePr>
            <a:graphicFrameLocks noGrp="1"/>
          </p:cNvGraphicFramePr>
          <p:nvPr/>
        </p:nvGraphicFramePr>
        <p:xfrm>
          <a:off x="640080" y="5120640"/>
          <a:ext cx="10908792" cy="1060704"/>
        </p:xfrm>
        <a:graphic>
          <a:graphicData uri="http://schemas.openxmlformats.org/drawingml/2006/table">
            <a:tbl>
              <a:tblPr firstRow="1" bandRow="1">
                <a:tableStyleId>{5C22544A-7EE6-4342-B048-85BDC9FD1C3A}</a:tableStyleId>
              </a:tblPr>
              <a:tblGrid>
                <a:gridCol w="1417320"/>
                <a:gridCol w="4937760"/>
                <a:gridCol w="4553712"/>
              </a:tblGrid>
              <a:tr h="265176">
                <a:tc>
                  <a:txBody>
                    <a:bodyPr/>
                    <a:lstStyle/>
                    <a:p>
                      <a:pPr algn="l"/>
                      <a:r>
                        <a:rPr sz="1000" b="1">
                          <a:solidFill>
                            <a:srgbClr val="FFFFFF"/>
                          </a:solidFill>
                          <a:latin typeface="맑은 고딕"/>
                          <a:ea typeface="맑은 고딕"/>
                          <a:cs typeface="맑은 고딕"/>
                        </a:rPr>
                        <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UDP  (이번 과제)</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TCP</a:t>
                      </a:r>
                    </a:p>
                  </a:txBody>
                  <a:tcPr marL="54864" marR="54864" marT="18288" marB="18288" anchor="ctr">
                    <a:solidFill>
                      <a:srgbClr val="1B2740"/>
                    </a:solidFill>
                  </a:tcPr>
                </a:tc>
              </a:tr>
              <a:tr h="265176">
                <a:tc>
                  <a:txBody>
                    <a:bodyPr/>
                    <a:lstStyle/>
                    <a:p>
                      <a:pPr algn="l"/>
                      <a:r>
                        <a:rPr sz="1050" b="0">
                          <a:solidFill>
                            <a:srgbClr val="1B2740"/>
                          </a:solidFill>
                          <a:latin typeface="맑은 고딕"/>
                          <a:ea typeface="맑은 고딕"/>
                          <a:cs typeface="맑은 고딕"/>
                        </a:rPr>
                        <a:t>메시지 단위</a:t>
                      </a:r>
                    </a:p>
                  </a:txBody>
                  <a:tcPr marL="54864" marR="54864" marT="18288" marB="18288" anchor="ctr">
                    <a:solidFill>
                      <a:srgbClr val="FFFFFF"/>
                    </a:solidFill>
                  </a:tcPr>
                </a:tc>
                <a:tc>
                  <a:txBody>
                    <a:bodyPr/>
                    <a:lstStyle/>
                    <a:p>
                      <a:pPr algn="l"/>
                      <a:r>
                        <a:rPr sz="1050" b="0">
                          <a:solidFill>
                            <a:srgbClr val="1D4ED8"/>
                          </a:solidFill>
                          <a:latin typeface="맑은 고딕"/>
                          <a:ea typeface="맑은 고딕"/>
                          <a:cs typeface="맑은 고딕"/>
                        </a:rPr>
                        <a:t>보낸 메시지 1 개 = 받는 메시지 1 개 (스캔 1 개)</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바이트가 이어서 와서, 메시지를 직접 잘라야 함</a:t>
                      </a:r>
                    </a:p>
                  </a:txBody>
                  <a:tcPr marL="54864" marR="54864" marT="18288" marB="18288" anchor="ctr">
                    <a:solidFill>
                      <a:srgbClr val="FFFFFF"/>
                    </a:solidFill>
                  </a:tcPr>
                </a:tc>
              </a:tr>
              <a:tr h="265176">
                <a:tc>
                  <a:txBody>
                    <a:bodyPr/>
                    <a:lstStyle/>
                    <a:p>
                      <a:pPr algn="l"/>
                      <a:r>
                        <a:rPr sz="1050" b="0">
                          <a:solidFill>
                            <a:srgbClr val="1B2740"/>
                          </a:solidFill>
                          <a:latin typeface="맑은 고딕"/>
                          <a:ea typeface="맑은 고딕"/>
                          <a:cs typeface="맑은 고딕"/>
                        </a:rPr>
                        <a:t>지연</a:t>
                      </a:r>
                    </a:p>
                  </a:txBody>
                  <a:tcPr marL="54864" marR="54864" marT="18288" marB="18288" anchor="ctr">
                    <a:solidFill>
                      <a:srgbClr val="F7F9FC"/>
                    </a:solidFill>
                  </a:tcPr>
                </a:tc>
                <a:tc>
                  <a:txBody>
                    <a:bodyPr/>
                    <a:lstStyle/>
                    <a:p>
                      <a:pPr algn="l"/>
                      <a:r>
                        <a:rPr sz="1050" b="0">
                          <a:solidFill>
                            <a:srgbClr val="1D4ED8"/>
                          </a:solidFill>
                          <a:latin typeface="맑은 고딕"/>
                          <a:ea typeface="맑은 고딕"/>
                          <a:cs typeface="맑은 고딕"/>
                        </a:rPr>
                        <a:t>연결 · 재전송 없이 바로 전달</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하나가 늦으면 뒤 스캔도 함께 기다림</a:t>
                      </a:r>
                    </a:p>
                  </a:txBody>
                  <a:tcPr marL="54864" marR="54864" marT="18288" marB="18288" anchor="ctr">
                    <a:solidFill>
                      <a:srgbClr val="F7F9FC"/>
                    </a:solidFill>
                  </a:tcPr>
                </a:tc>
              </a:tr>
              <a:tr h="265176">
                <a:tc>
                  <a:txBody>
                    <a:bodyPr/>
                    <a:lstStyle/>
                    <a:p>
                      <a:pPr algn="l"/>
                      <a:r>
                        <a:rPr sz="1050" b="0">
                          <a:solidFill>
                            <a:srgbClr val="1B2740"/>
                          </a:solidFill>
                          <a:latin typeface="맑은 고딕"/>
                          <a:ea typeface="맑은 고딕"/>
                          <a:cs typeface="맑은 고딕"/>
                        </a:rPr>
                        <a:t>손실</a:t>
                      </a:r>
                    </a:p>
                  </a:txBody>
                  <a:tcPr marL="54864" marR="54864" marT="18288" marB="18288" anchor="ctr">
                    <a:solidFill>
                      <a:srgbClr val="FFFFFF"/>
                    </a:solidFill>
                  </a:tcPr>
                </a:tc>
                <a:tc>
                  <a:txBody>
                    <a:bodyPr/>
                    <a:lstStyle/>
                    <a:p>
                      <a:pPr algn="l"/>
                      <a:r>
                        <a:rPr sz="1050" b="0">
                          <a:solidFill>
                            <a:srgbClr val="1D4ED8"/>
                          </a:solidFill>
                          <a:latin typeface="맑은 고딕"/>
                          <a:ea typeface="맑은 고딕"/>
                          <a:cs typeface="맑은 고딕"/>
                        </a:rPr>
                        <a:t>생길 수 있음 -&gt; 스캔 번호로 확인 (1,160 / 1,160, 빠짐 0)</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없음 (잃으면 다시 보냄)</a:t>
                      </a:r>
                    </a:p>
                  </a:txBody>
                  <a:tcPr marL="54864" marR="54864" marT="18288" marB="18288"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3.2 플롯 메시지 STRUCT_PlotMsg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스캔 하나의 플롯을 메시지 하나에 담습니다. 보내는 쪽은 머리와 안테나 구좌표만 채우고, 나머지 좌표 칸은 받는 쪽이 계산해 채웁니다.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TargetSimCore/include/Idd.h</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86000"/>
            <a:ext cx="3246120" cy="3621024"/>
          </a:xfrm>
          <a:prstGeom prst="rect">
            <a:avLst/>
          </a:prstGeom>
          <a:solidFill>
            <a:srgbClr val="FFFFFF"/>
          </a:solidFill>
          <a:ln w="15875">
            <a:solidFill>
              <a:srgbClr val="2563EB"/>
            </a:solidFill>
          </a:ln>
        </p:spPr>
        <p:txBody>
          <a:bodyPr rtlCol="0" anchor="ctr"/>
          <a:lstStyle/>
          <a:p>
            <a:pPr algn="ctr"/>
          </a:p>
        </p:txBody>
      </p:sp>
      <p:sp>
        <p:nvSpPr>
          <p:cNvPr id="9" name="Rectangle 8"/>
          <p:cNvSpPr/>
          <p:nvPr/>
        </p:nvSpPr>
        <p:spPr>
          <a:xfrm>
            <a:off x="640080" y="2286000"/>
            <a:ext cx="3246120" cy="329184"/>
          </a:xfrm>
          <a:prstGeom prst="rect">
            <a:avLst/>
          </a:prstGeom>
          <a:solidFill>
            <a:srgbClr val="2563EB"/>
          </a:solidFill>
          <a:ln>
            <a:noFill/>
          </a:ln>
        </p:spPr>
        <p:txBody>
          <a:bodyPr rtlCol="0" anchor="ctr"/>
          <a:lstStyle/>
          <a:p>
            <a:pPr algn="ctr"/>
          </a:p>
        </p:txBody>
      </p:sp>
      <p:sp>
        <p:nvSpPr>
          <p:cNvPr id="10" name="TextBox 9"/>
          <p:cNvSpPr txBox="1"/>
          <p:nvPr/>
        </p:nvSpPr>
        <p:spPr>
          <a:xfrm>
            <a:off x="640080" y="2286000"/>
            <a:ext cx="3246120" cy="329184"/>
          </a:xfrm>
          <a:prstGeom prst="rect">
            <a:avLst/>
          </a:prstGeom>
          <a:noFill/>
        </p:spPr>
        <p:txBody>
          <a:bodyPr wrap="square" lIns="0" tIns="0" rIns="0" bIns="0" anchor="ctr">
            <a:spAutoFit/>
          </a:bodyPr>
          <a:lstStyle/>
          <a:p>
            <a:pPr algn="ctr"/>
            <a:r>
              <a:rPr sz="1100" b="1">
                <a:solidFill>
                  <a:srgbClr val="FFFFFF"/>
                </a:solidFill>
                <a:latin typeface="맑은 고딕"/>
                <a:ea typeface="맑은 고딕"/>
                <a:cs typeface="맑은 고딕"/>
              </a:rPr>
              <a:t>메시지 머리  (스캔마다 1 개)</a:t>
            </a:r>
          </a:p>
        </p:txBody>
      </p:sp>
      <p:sp>
        <p:nvSpPr>
          <p:cNvPr id="11" name="TextBox 10"/>
          <p:cNvSpPr txBox="1"/>
          <p:nvPr/>
        </p:nvSpPr>
        <p:spPr>
          <a:xfrm>
            <a:off x="777240" y="2706624"/>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MsgId / MsgSize</a:t>
            </a:r>
          </a:p>
        </p:txBody>
      </p:sp>
      <p:sp>
        <p:nvSpPr>
          <p:cNvPr id="12" name="TextBox 11"/>
          <p:cNvSpPr txBox="1"/>
          <p:nvPr/>
        </p:nvSpPr>
        <p:spPr>
          <a:xfrm>
            <a:off x="777240" y="2935224"/>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메시지 종류 · 보낼 바이트 수</a:t>
            </a:r>
          </a:p>
        </p:txBody>
      </p:sp>
      <p:cxnSp>
        <p:nvCxnSpPr>
          <p:cNvPr id="13" name="Connector 12"/>
          <p:cNvCxnSpPr/>
          <p:nvPr/>
        </p:nvCxnSpPr>
        <p:spPr>
          <a:xfrm>
            <a:off x="749808" y="3200400"/>
            <a:ext cx="3026664" cy="0"/>
          </a:xfrm>
          <a:prstGeom prst="line">
            <a:avLst/>
          </a:prstGeom>
          <a:ln w="9525">
            <a:solidFill>
              <a:srgbClr val="D2D9E5"/>
            </a:solidFill>
          </a:ln>
        </p:spPr>
      </p:cxnSp>
      <p:sp>
        <p:nvSpPr>
          <p:cNvPr id="14" name="TextBox 13"/>
          <p:cNvSpPr txBox="1"/>
          <p:nvPr/>
        </p:nvSpPr>
        <p:spPr>
          <a:xfrm>
            <a:off x="777240" y="3227832"/>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ScanNum</a:t>
            </a:r>
          </a:p>
        </p:txBody>
      </p:sp>
      <p:sp>
        <p:nvSpPr>
          <p:cNvPr id="15" name="TextBox 14"/>
          <p:cNvSpPr txBox="1"/>
          <p:nvPr/>
        </p:nvSpPr>
        <p:spPr>
          <a:xfrm>
            <a:off x="777240" y="3456432"/>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스캔 번호</a:t>
            </a:r>
          </a:p>
        </p:txBody>
      </p:sp>
      <p:cxnSp>
        <p:nvCxnSpPr>
          <p:cNvPr id="16" name="Connector 15"/>
          <p:cNvCxnSpPr/>
          <p:nvPr/>
        </p:nvCxnSpPr>
        <p:spPr>
          <a:xfrm>
            <a:off x="749808" y="3721608"/>
            <a:ext cx="3026664" cy="0"/>
          </a:xfrm>
          <a:prstGeom prst="line">
            <a:avLst/>
          </a:prstGeom>
          <a:ln w="9525">
            <a:solidFill>
              <a:srgbClr val="D2D9E5"/>
            </a:solidFill>
          </a:ln>
        </p:spPr>
      </p:cxnSp>
      <p:sp>
        <p:nvSpPr>
          <p:cNvPr id="17" name="TextBox 16"/>
          <p:cNvSpPr txBox="1"/>
          <p:nvPr/>
        </p:nvSpPr>
        <p:spPr>
          <a:xfrm>
            <a:off x="777240" y="3749039"/>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TimeStamp_s / _ns</a:t>
            </a:r>
          </a:p>
        </p:txBody>
      </p:sp>
      <p:sp>
        <p:nvSpPr>
          <p:cNvPr id="18" name="TextBox 17"/>
          <p:cNvSpPr txBox="1"/>
          <p:nvPr/>
        </p:nvSpPr>
        <p:spPr>
          <a:xfrm>
            <a:off x="777240" y="3977639"/>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스캔 시각</a:t>
            </a:r>
          </a:p>
        </p:txBody>
      </p:sp>
      <p:cxnSp>
        <p:nvCxnSpPr>
          <p:cNvPr id="19" name="Connector 18"/>
          <p:cNvCxnSpPr/>
          <p:nvPr/>
        </p:nvCxnSpPr>
        <p:spPr>
          <a:xfrm>
            <a:off x="749808" y="4242816"/>
            <a:ext cx="3026664" cy="0"/>
          </a:xfrm>
          <a:prstGeom prst="line">
            <a:avLst/>
          </a:prstGeom>
          <a:ln w="9525">
            <a:solidFill>
              <a:srgbClr val="D2D9E5"/>
            </a:solidFill>
          </a:ln>
        </p:spPr>
      </p:cxnSp>
      <p:sp>
        <p:nvSpPr>
          <p:cNvPr id="20" name="TextBox 19"/>
          <p:cNvSpPr txBox="1"/>
          <p:nvPr/>
        </p:nvSpPr>
        <p:spPr>
          <a:xfrm>
            <a:off x="777240" y="4270248"/>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PlotNum</a:t>
            </a:r>
          </a:p>
        </p:txBody>
      </p:sp>
      <p:sp>
        <p:nvSpPr>
          <p:cNvPr id="21" name="TextBox 20"/>
          <p:cNvSpPr txBox="1"/>
          <p:nvPr/>
        </p:nvSpPr>
        <p:spPr>
          <a:xfrm>
            <a:off x="777240" y="4498848"/>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플롯 수 (표적 + 클러터)</a:t>
            </a:r>
          </a:p>
        </p:txBody>
      </p:sp>
      <p:cxnSp>
        <p:nvCxnSpPr>
          <p:cNvPr id="22" name="Connector 21"/>
          <p:cNvCxnSpPr/>
          <p:nvPr/>
        </p:nvCxnSpPr>
        <p:spPr>
          <a:xfrm>
            <a:off x="749808" y="4764024"/>
            <a:ext cx="3026664" cy="0"/>
          </a:xfrm>
          <a:prstGeom prst="line">
            <a:avLst/>
          </a:prstGeom>
          <a:ln w="9525">
            <a:solidFill>
              <a:srgbClr val="D2D9E5"/>
            </a:solidFill>
          </a:ln>
        </p:spPr>
      </p:cxnSp>
      <p:sp>
        <p:nvSpPr>
          <p:cNvPr id="23" name="TextBox 22"/>
          <p:cNvSpPr txBox="1"/>
          <p:nvPr/>
        </p:nvSpPr>
        <p:spPr>
          <a:xfrm>
            <a:off x="777240" y="4791456"/>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Sigma_Range / Azimuth / Elevation</a:t>
            </a:r>
          </a:p>
        </p:txBody>
      </p:sp>
      <p:sp>
        <p:nvSpPr>
          <p:cNvPr id="24" name="TextBox 23"/>
          <p:cNvSpPr txBox="1"/>
          <p:nvPr/>
        </p:nvSpPr>
        <p:spPr>
          <a:xfrm>
            <a:off x="777240" y="5020056"/>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측정 표준편차 -&gt; 받는 쪽 R 계산</a:t>
            </a:r>
          </a:p>
        </p:txBody>
      </p:sp>
      <p:cxnSp>
        <p:nvCxnSpPr>
          <p:cNvPr id="25" name="Connector 24"/>
          <p:cNvCxnSpPr/>
          <p:nvPr/>
        </p:nvCxnSpPr>
        <p:spPr>
          <a:xfrm>
            <a:off x="749808" y="5285232"/>
            <a:ext cx="3026664" cy="0"/>
          </a:xfrm>
          <a:prstGeom prst="line">
            <a:avLst/>
          </a:prstGeom>
          <a:ln w="9525">
            <a:solidFill>
              <a:srgbClr val="D2D9E5"/>
            </a:solidFill>
          </a:ln>
        </p:spPr>
      </p:cxnSp>
      <p:sp>
        <p:nvSpPr>
          <p:cNvPr id="26" name="TextBox 25"/>
          <p:cNvSpPr txBox="1"/>
          <p:nvPr/>
        </p:nvSpPr>
        <p:spPr>
          <a:xfrm>
            <a:off x="777240" y="5312664"/>
            <a:ext cx="2971800" cy="237744"/>
          </a:xfrm>
          <a:prstGeom prst="rect">
            <a:avLst/>
          </a:prstGeom>
          <a:noFill/>
        </p:spPr>
        <p:txBody>
          <a:bodyPr wrap="square" lIns="0" tIns="0" rIns="0" bIns="0" anchor="ctr">
            <a:spAutoFit/>
          </a:bodyPr>
          <a:lstStyle/>
          <a:p>
            <a:pPr algn="l"/>
            <a:r>
              <a:rPr sz="1000" b="1">
                <a:solidFill>
                  <a:srgbClr val="1B2740"/>
                </a:solidFill>
                <a:latin typeface="Consolas"/>
                <a:ea typeface="Consolas"/>
                <a:cs typeface="Consolas"/>
              </a:rPr>
              <a:t>st_Platform</a:t>
            </a:r>
          </a:p>
        </p:txBody>
      </p:sp>
      <p:sp>
        <p:nvSpPr>
          <p:cNvPr id="27" name="TextBox 26"/>
          <p:cNvSpPr txBox="1"/>
          <p:nvPr/>
        </p:nvSpPr>
        <p:spPr>
          <a:xfrm>
            <a:off x="777240" y="5541264"/>
            <a:ext cx="2971800" cy="237744"/>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플랫폼 위치 (LLA, ECEF) 와 자세 -&gt; 좌표 변환</a:t>
            </a:r>
          </a:p>
        </p:txBody>
      </p:sp>
      <p:sp>
        <p:nvSpPr>
          <p:cNvPr id="28" name="Rectangle 27"/>
          <p:cNvSpPr/>
          <p:nvPr/>
        </p:nvSpPr>
        <p:spPr>
          <a:xfrm>
            <a:off x="4114800" y="2286000"/>
            <a:ext cx="3611880" cy="3621024"/>
          </a:xfrm>
          <a:prstGeom prst="rect">
            <a:avLst/>
          </a:prstGeom>
          <a:solidFill>
            <a:srgbClr val="FFFFFF"/>
          </a:solidFill>
          <a:ln w="15875">
            <a:solidFill>
              <a:srgbClr val="D97706"/>
            </a:solidFill>
          </a:ln>
        </p:spPr>
        <p:txBody>
          <a:bodyPr rtlCol="0" anchor="ctr"/>
          <a:lstStyle/>
          <a:p>
            <a:pPr algn="ctr"/>
          </a:p>
        </p:txBody>
      </p:sp>
      <p:sp>
        <p:nvSpPr>
          <p:cNvPr id="29" name="Rectangle 28"/>
          <p:cNvSpPr/>
          <p:nvPr/>
        </p:nvSpPr>
        <p:spPr>
          <a:xfrm>
            <a:off x="4114800" y="2286000"/>
            <a:ext cx="3611880" cy="329184"/>
          </a:xfrm>
          <a:prstGeom prst="rect">
            <a:avLst/>
          </a:prstGeom>
          <a:solidFill>
            <a:srgbClr val="D97706"/>
          </a:solidFill>
          <a:ln>
            <a:noFill/>
          </a:ln>
        </p:spPr>
        <p:txBody>
          <a:bodyPr rtlCol="0" anchor="ctr"/>
          <a:lstStyle/>
          <a:p>
            <a:pPr algn="ctr"/>
          </a:p>
        </p:txBody>
      </p:sp>
      <p:sp>
        <p:nvSpPr>
          <p:cNvPr id="30" name="TextBox 29"/>
          <p:cNvSpPr txBox="1"/>
          <p:nvPr/>
        </p:nvSpPr>
        <p:spPr>
          <a:xfrm>
            <a:off x="4114800" y="2286000"/>
            <a:ext cx="3611880" cy="329184"/>
          </a:xfrm>
          <a:prstGeom prst="rect">
            <a:avLst/>
          </a:prstGeom>
          <a:noFill/>
        </p:spPr>
        <p:txBody>
          <a:bodyPr wrap="square" lIns="0" tIns="0" rIns="0" bIns="0" anchor="ctr">
            <a:spAutoFit/>
          </a:bodyPr>
          <a:lstStyle/>
          <a:p>
            <a:pPr algn="ctr"/>
            <a:r>
              <a:rPr sz="1100" b="1">
                <a:solidFill>
                  <a:srgbClr val="FFFFFF"/>
                </a:solidFill>
                <a:latin typeface="맑은 고딕"/>
                <a:ea typeface="맑은 고딕"/>
                <a:cs typeface="맑은 고딕"/>
              </a:rPr>
              <a:t>플롯 st_Plot[ ]  (PlotNum 개, 최대 64)</a:t>
            </a:r>
          </a:p>
        </p:txBody>
      </p:sp>
      <p:sp>
        <p:nvSpPr>
          <p:cNvPr id="31" name="Rectangle 30"/>
          <p:cNvSpPr/>
          <p:nvPr/>
        </p:nvSpPr>
        <p:spPr>
          <a:xfrm>
            <a:off x="4224528" y="2724912"/>
            <a:ext cx="3392424" cy="548640"/>
          </a:xfrm>
          <a:prstGeom prst="rect">
            <a:avLst/>
          </a:prstGeom>
          <a:solidFill>
            <a:srgbClr val="FDEEEE"/>
          </a:solidFill>
          <a:ln w="9525">
            <a:solidFill>
              <a:srgbClr val="DC2626"/>
            </a:solidFill>
          </a:ln>
        </p:spPr>
        <p:txBody>
          <a:bodyPr rtlCol="0" anchor="ctr"/>
          <a:lstStyle/>
          <a:p>
            <a:pPr algn="ctr"/>
          </a:p>
        </p:txBody>
      </p:sp>
      <p:sp>
        <p:nvSpPr>
          <p:cNvPr id="32" name="TextBox 31"/>
          <p:cNvSpPr txBox="1"/>
          <p:nvPr/>
        </p:nvSpPr>
        <p:spPr>
          <a:xfrm>
            <a:off x="4315968" y="2752344"/>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Id, ScanNum, TimeStamp, BeamType</a:t>
            </a:r>
          </a:p>
        </p:txBody>
      </p:sp>
      <p:sp>
        <p:nvSpPr>
          <p:cNvPr id="33" name="TextBox 32"/>
          <p:cNvSpPr txBox="1"/>
          <p:nvPr/>
        </p:nvSpPr>
        <p:spPr>
          <a:xfrm>
            <a:off x="4315968" y="2999232"/>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플롯 ID, 스캔 번호, 탐지 시각, 빔 종류</a:t>
            </a:r>
          </a:p>
        </p:txBody>
      </p:sp>
      <p:sp>
        <p:nvSpPr>
          <p:cNvPr id="34" name="TextBox 33"/>
          <p:cNvSpPr txBox="1"/>
          <p:nvPr/>
        </p:nvSpPr>
        <p:spPr>
          <a:xfrm>
            <a:off x="6766559" y="2724912"/>
            <a:ext cx="777240" cy="548640"/>
          </a:xfrm>
          <a:prstGeom prst="rect">
            <a:avLst/>
          </a:prstGeom>
          <a:noFill/>
        </p:spPr>
        <p:txBody>
          <a:bodyPr wrap="square" lIns="0" tIns="0" rIns="0" bIns="0" anchor="ctr">
            <a:spAutoFit/>
          </a:bodyPr>
          <a:lstStyle/>
          <a:p>
            <a:pPr algn="r"/>
            <a:r>
              <a:rPr sz="900" b="1">
                <a:solidFill>
                  <a:srgbClr val="DC2626"/>
                </a:solidFill>
                <a:latin typeface="맑은 고딕"/>
                <a:ea typeface="맑은 고딕"/>
                <a:cs typeface="맑은 고딕"/>
              </a:rPr>
              <a:t>송신이 채움</a:t>
            </a:r>
          </a:p>
        </p:txBody>
      </p:sp>
      <p:sp>
        <p:nvSpPr>
          <p:cNvPr id="35" name="Rectangle 34"/>
          <p:cNvSpPr/>
          <p:nvPr/>
        </p:nvSpPr>
        <p:spPr>
          <a:xfrm>
            <a:off x="4224528" y="3346704"/>
            <a:ext cx="3392424" cy="548640"/>
          </a:xfrm>
          <a:prstGeom prst="rect">
            <a:avLst/>
          </a:prstGeom>
          <a:solidFill>
            <a:srgbClr val="FDEEEE"/>
          </a:solidFill>
          <a:ln w="9525">
            <a:solidFill>
              <a:srgbClr val="DC2626"/>
            </a:solidFill>
          </a:ln>
        </p:spPr>
        <p:txBody>
          <a:bodyPr rtlCol="0" anchor="ctr"/>
          <a:lstStyle/>
          <a:p>
            <a:pPr algn="ctr"/>
          </a:p>
        </p:txBody>
      </p:sp>
      <p:sp>
        <p:nvSpPr>
          <p:cNvPr id="36" name="TextBox 35"/>
          <p:cNvSpPr txBox="1"/>
          <p:nvPr/>
        </p:nvSpPr>
        <p:spPr>
          <a:xfrm>
            <a:off x="4315968" y="3374136"/>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Range / Azimuth / Elevation_Ant</a:t>
            </a:r>
          </a:p>
        </p:txBody>
      </p:sp>
      <p:sp>
        <p:nvSpPr>
          <p:cNvPr id="37" name="TextBox 36"/>
          <p:cNvSpPr txBox="1"/>
          <p:nvPr/>
        </p:nvSpPr>
        <p:spPr>
          <a:xfrm>
            <a:off x="4315968" y="3621024"/>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안테나 기준 구좌표 (과제 조건)</a:t>
            </a:r>
          </a:p>
        </p:txBody>
      </p:sp>
      <p:sp>
        <p:nvSpPr>
          <p:cNvPr id="38" name="TextBox 37"/>
          <p:cNvSpPr txBox="1"/>
          <p:nvPr/>
        </p:nvSpPr>
        <p:spPr>
          <a:xfrm>
            <a:off x="6766559" y="3346704"/>
            <a:ext cx="777240" cy="548640"/>
          </a:xfrm>
          <a:prstGeom prst="rect">
            <a:avLst/>
          </a:prstGeom>
          <a:noFill/>
        </p:spPr>
        <p:txBody>
          <a:bodyPr wrap="square" lIns="0" tIns="0" rIns="0" bIns="0" anchor="ctr">
            <a:spAutoFit/>
          </a:bodyPr>
          <a:lstStyle/>
          <a:p>
            <a:pPr algn="r"/>
            <a:r>
              <a:rPr sz="900" b="1">
                <a:solidFill>
                  <a:srgbClr val="DC2626"/>
                </a:solidFill>
                <a:latin typeface="맑은 고딕"/>
                <a:ea typeface="맑은 고딕"/>
                <a:cs typeface="맑은 고딕"/>
              </a:rPr>
              <a:t>송신이 채움</a:t>
            </a:r>
          </a:p>
        </p:txBody>
      </p:sp>
      <p:sp>
        <p:nvSpPr>
          <p:cNvPr id="39" name="Rectangle 38"/>
          <p:cNvSpPr/>
          <p:nvPr/>
        </p:nvSpPr>
        <p:spPr>
          <a:xfrm>
            <a:off x="4224528" y="3968496"/>
            <a:ext cx="3392424" cy="548640"/>
          </a:xfrm>
          <a:prstGeom prst="rect">
            <a:avLst/>
          </a:prstGeom>
          <a:solidFill>
            <a:srgbClr val="EAF1FD"/>
          </a:solidFill>
          <a:ln w="9525">
            <a:solidFill>
              <a:srgbClr val="2563EB"/>
            </a:solidFill>
          </a:ln>
        </p:spPr>
        <p:txBody>
          <a:bodyPr rtlCol="0" anchor="ctr"/>
          <a:lstStyle/>
          <a:p>
            <a:pPr algn="ctr"/>
          </a:p>
        </p:txBody>
      </p:sp>
      <p:sp>
        <p:nvSpPr>
          <p:cNvPr id="40" name="TextBox 39"/>
          <p:cNvSpPr txBox="1"/>
          <p:nvPr/>
        </p:nvSpPr>
        <p:spPr>
          <a:xfrm>
            <a:off x="4315968" y="3995928"/>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Range / Azimuth / Elevation_VcNed</a:t>
            </a:r>
          </a:p>
        </p:txBody>
      </p:sp>
      <p:sp>
        <p:nvSpPr>
          <p:cNvPr id="41" name="TextBox 40"/>
          <p:cNvSpPr txBox="1"/>
          <p:nvPr/>
        </p:nvSpPr>
        <p:spPr>
          <a:xfrm>
            <a:off x="4315968" y="4242816"/>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VC-NED 기준 구좌표</a:t>
            </a:r>
          </a:p>
        </p:txBody>
      </p:sp>
      <p:sp>
        <p:nvSpPr>
          <p:cNvPr id="42" name="TextBox 41"/>
          <p:cNvSpPr txBox="1"/>
          <p:nvPr/>
        </p:nvSpPr>
        <p:spPr>
          <a:xfrm>
            <a:off x="6766559" y="3968496"/>
            <a:ext cx="777240" cy="548640"/>
          </a:xfrm>
          <a:prstGeom prst="rect">
            <a:avLst/>
          </a:prstGeom>
          <a:noFill/>
        </p:spPr>
        <p:txBody>
          <a:bodyPr wrap="square" lIns="0" tIns="0" rIns="0" bIns="0" anchor="ctr">
            <a:spAutoFit/>
          </a:bodyPr>
          <a:lstStyle/>
          <a:p>
            <a:pPr algn="r"/>
            <a:r>
              <a:rPr sz="900" b="1">
                <a:solidFill>
                  <a:srgbClr val="2563EB"/>
                </a:solidFill>
                <a:latin typeface="맑은 고딕"/>
                <a:ea typeface="맑은 고딕"/>
                <a:cs typeface="맑은 고딕"/>
              </a:rPr>
              <a:t>수신이 계산</a:t>
            </a:r>
          </a:p>
        </p:txBody>
      </p:sp>
      <p:sp>
        <p:nvSpPr>
          <p:cNvPr id="43" name="Rectangle 42"/>
          <p:cNvSpPr/>
          <p:nvPr/>
        </p:nvSpPr>
        <p:spPr>
          <a:xfrm>
            <a:off x="4224528" y="4590288"/>
            <a:ext cx="3392424" cy="548640"/>
          </a:xfrm>
          <a:prstGeom prst="rect">
            <a:avLst/>
          </a:prstGeom>
          <a:solidFill>
            <a:srgbClr val="EAF1FD"/>
          </a:solidFill>
          <a:ln w="9525">
            <a:solidFill>
              <a:srgbClr val="2563EB"/>
            </a:solidFill>
          </a:ln>
        </p:spPr>
        <p:txBody>
          <a:bodyPr rtlCol="0" anchor="ctr"/>
          <a:lstStyle/>
          <a:p>
            <a:pPr algn="ctr"/>
          </a:p>
        </p:txBody>
      </p:sp>
      <p:sp>
        <p:nvSpPr>
          <p:cNvPr id="44" name="TextBox 43"/>
          <p:cNvSpPr txBox="1"/>
          <p:nvPr/>
        </p:nvSpPr>
        <p:spPr>
          <a:xfrm>
            <a:off x="4315968" y="4617720"/>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X / Y / Z_Ant,  X / Y / Z_Body</a:t>
            </a:r>
          </a:p>
        </p:txBody>
      </p:sp>
      <p:sp>
        <p:nvSpPr>
          <p:cNvPr id="45" name="TextBox 44"/>
          <p:cNvSpPr txBox="1"/>
          <p:nvPr/>
        </p:nvSpPr>
        <p:spPr>
          <a:xfrm>
            <a:off x="4315968" y="4864607"/>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안테나 · 동체 직교좌표</a:t>
            </a:r>
          </a:p>
        </p:txBody>
      </p:sp>
      <p:sp>
        <p:nvSpPr>
          <p:cNvPr id="46" name="TextBox 45"/>
          <p:cNvSpPr txBox="1"/>
          <p:nvPr/>
        </p:nvSpPr>
        <p:spPr>
          <a:xfrm>
            <a:off x="6766559" y="4590288"/>
            <a:ext cx="777240" cy="548640"/>
          </a:xfrm>
          <a:prstGeom prst="rect">
            <a:avLst/>
          </a:prstGeom>
          <a:noFill/>
        </p:spPr>
        <p:txBody>
          <a:bodyPr wrap="square" lIns="0" tIns="0" rIns="0" bIns="0" anchor="ctr">
            <a:spAutoFit/>
          </a:bodyPr>
          <a:lstStyle/>
          <a:p>
            <a:pPr algn="r"/>
            <a:r>
              <a:rPr sz="900" b="1">
                <a:solidFill>
                  <a:srgbClr val="2563EB"/>
                </a:solidFill>
                <a:latin typeface="맑은 고딕"/>
                <a:ea typeface="맑은 고딕"/>
                <a:cs typeface="맑은 고딕"/>
              </a:rPr>
              <a:t>수신이 계산</a:t>
            </a:r>
          </a:p>
        </p:txBody>
      </p:sp>
      <p:sp>
        <p:nvSpPr>
          <p:cNvPr id="47" name="Rectangle 46"/>
          <p:cNvSpPr/>
          <p:nvPr/>
        </p:nvSpPr>
        <p:spPr>
          <a:xfrm>
            <a:off x="4224528" y="5212080"/>
            <a:ext cx="3392424" cy="548640"/>
          </a:xfrm>
          <a:prstGeom prst="rect">
            <a:avLst/>
          </a:prstGeom>
          <a:solidFill>
            <a:srgbClr val="EAF1FD"/>
          </a:solidFill>
          <a:ln w="9525">
            <a:solidFill>
              <a:srgbClr val="2563EB"/>
            </a:solidFill>
          </a:ln>
        </p:spPr>
        <p:txBody>
          <a:bodyPr rtlCol="0" anchor="ctr"/>
          <a:lstStyle/>
          <a:p>
            <a:pPr algn="ctr"/>
          </a:p>
        </p:txBody>
      </p:sp>
      <p:sp>
        <p:nvSpPr>
          <p:cNvPr id="48" name="TextBox 47"/>
          <p:cNvSpPr txBox="1"/>
          <p:nvPr/>
        </p:nvSpPr>
        <p:spPr>
          <a:xfrm>
            <a:off x="4315968" y="5239512"/>
            <a:ext cx="2514600" cy="256032"/>
          </a:xfrm>
          <a:prstGeom prst="rect">
            <a:avLst/>
          </a:prstGeom>
          <a:noFill/>
        </p:spPr>
        <p:txBody>
          <a:bodyPr wrap="square" lIns="0" tIns="0" rIns="0" bIns="0" anchor="ctr">
            <a:spAutoFit/>
          </a:bodyPr>
          <a:lstStyle/>
          <a:p>
            <a:pPr algn="l"/>
            <a:r>
              <a:rPr sz="880" b="1">
                <a:solidFill>
                  <a:srgbClr val="1B2740"/>
                </a:solidFill>
                <a:latin typeface="Consolas"/>
                <a:ea typeface="Consolas"/>
                <a:cs typeface="Consolas"/>
              </a:rPr>
              <a:t>X / Y / Z_VcNed</a:t>
            </a:r>
          </a:p>
        </p:txBody>
      </p:sp>
      <p:sp>
        <p:nvSpPr>
          <p:cNvPr id="49" name="TextBox 48"/>
          <p:cNvSpPr txBox="1"/>
          <p:nvPr/>
        </p:nvSpPr>
        <p:spPr>
          <a:xfrm>
            <a:off x="4315968" y="5486400"/>
            <a:ext cx="2514600" cy="256032"/>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VC-NED 직교좌표 (북 · 동 · 아래) -&gt; 트랙 개시에 씀</a:t>
            </a:r>
          </a:p>
        </p:txBody>
      </p:sp>
      <p:sp>
        <p:nvSpPr>
          <p:cNvPr id="50" name="TextBox 49"/>
          <p:cNvSpPr txBox="1"/>
          <p:nvPr/>
        </p:nvSpPr>
        <p:spPr>
          <a:xfrm>
            <a:off x="6766559" y="5212080"/>
            <a:ext cx="777240" cy="548640"/>
          </a:xfrm>
          <a:prstGeom prst="rect">
            <a:avLst/>
          </a:prstGeom>
          <a:noFill/>
        </p:spPr>
        <p:txBody>
          <a:bodyPr wrap="square" lIns="0" tIns="0" rIns="0" bIns="0" anchor="ctr">
            <a:spAutoFit/>
          </a:bodyPr>
          <a:lstStyle/>
          <a:p>
            <a:pPr algn="r"/>
            <a:r>
              <a:rPr sz="900" b="1">
                <a:solidFill>
                  <a:srgbClr val="2563EB"/>
                </a:solidFill>
                <a:latin typeface="맑은 고딕"/>
                <a:ea typeface="맑은 고딕"/>
                <a:cs typeface="맑은 고딕"/>
              </a:rPr>
              <a:t>수신이 계산</a:t>
            </a:r>
          </a:p>
        </p:txBody>
      </p:sp>
      <p:sp>
        <p:nvSpPr>
          <p:cNvPr id="51" name="Oval 50"/>
          <p:cNvSpPr/>
          <p:nvPr/>
        </p:nvSpPr>
        <p:spPr>
          <a:xfrm>
            <a:off x="8046720"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52" name="TextBox 51"/>
          <p:cNvSpPr txBox="1"/>
          <p:nvPr/>
        </p:nvSpPr>
        <p:spPr>
          <a:xfrm>
            <a:off x="8430768" y="231343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보낼 때는 필요한 만큼만</a:t>
            </a:r>
          </a:p>
          <a:p>
            <a:pPr algn="l">
              <a:lnSpc>
                <a:spcPct val="108000"/>
              </a:lnSpc>
            </a:pPr>
            <a:r>
              <a:rPr sz="1000" b="0">
                <a:solidFill>
                  <a:srgbClr val="4A5A7A"/>
                </a:solidFill>
                <a:latin typeface="맑은 고딕"/>
                <a:ea typeface="맑은 고딕"/>
                <a:cs typeface="맑은 고딕"/>
              </a:rPr>
              <a:t>머리 + 플롯 PlotNum 개 = MsgSize 바이트</a:t>
            </a:r>
          </a:p>
          <a:p>
            <a:pPr algn="l">
              <a:lnSpc>
                <a:spcPct val="108000"/>
              </a:lnSpc>
            </a:pPr>
            <a:r>
              <a:rPr sz="1000" b="0">
                <a:solidFill>
                  <a:srgbClr val="4A5A7A"/>
                </a:solidFill>
                <a:latin typeface="맑은 고딕"/>
                <a:ea typeface="맑은 고딕"/>
                <a:cs typeface="맑은 고딕"/>
              </a:rPr>
              <a:t>7 개 플롯이면 919 B (최대 64 개)</a:t>
            </a:r>
          </a:p>
        </p:txBody>
      </p:sp>
      <p:sp>
        <p:nvSpPr>
          <p:cNvPr id="53" name="Oval 52"/>
          <p:cNvSpPr/>
          <p:nvPr/>
        </p:nvSpPr>
        <p:spPr>
          <a:xfrm>
            <a:off x="804672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54" name="TextBox 53"/>
          <p:cNvSpPr txBox="1"/>
          <p:nvPr/>
        </p:nvSpPr>
        <p:spPr>
          <a:xfrm>
            <a:off x="8430768" y="313639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송신은 빨간 칸만 채움</a:t>
            </a:r>
          </a:p>
          <a:p>
            <a:pPr algn="l">
              <a:lnSpc>
                <a:spcPct val="108000"/>
              </a:lnSpc>
            </a:pPr>
            <a:r>
              <a:rPr sz="1000" b="0">
                <a:solidFill>
                  <a:srgbClr val="4A5A7A"/>
                </a:solidFill>
                <a:latin typeface="맑은 고딕"/>
                <a:ea typeface="맑은 고딕"/>
                <a:cs typeface="맑은 고딕"/>
              </a:rPr>
              <a:t>과제 조건: 안테나 구좌표 성분으로 구성</a:t>
            </a:r>
          </a:p>
          <a:p>
            <a:pPr algn="l">
              <a:lnSpc>
                <a:spcPct val="108000"/>
              </a:lnSpc>
            </a:pPr>
            <a:r>
              <a:rPr sz="1000" b="0">
                <a:solidFill>
                  <a:srgbClr val="4A5A7A"/>
                </a:solidFill>
                <a:latin typeface="맑은 고딕"/>
                <a:ea typeface="맑은 고딕"/>
                <a:cs typeface="맑은 고딕"/>
              </a:rPr>
              <a:t>표적 플롯과 클러터가 섞여 있고 구분 표시 없음</a:t>
            </a:r>
          </a:p>
        </p:txBody>
      </p:sp>
      <p:sp>
        <p:nvSpPr>
          <p:cNvPr id="55" name="Oval 54"/>
          <p:cNvSpPr/>
          <p:nvPr/>
        </p:nvSpPr>
        <p:spPr>
          <a:xfrm>
            <a:off x="8046720" y="3977639"/>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56" name="TextBox 55"/>
          <p:cNvSpPr txBox="1"/>
          <p:nvPr/>
        </p:nvSpPr>
        <p:spPr>
          <a:xfrm>
            <a:off x="8430768" y="395935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수신이 파란 칸을 채움</a:t>
            </a:r>
          </a:p>
          <a:p>
            <a:pPr algn="l">
              <a:lnSpc>
                <a:spcPct val="108000"/>
              </a:lnSpc>
            </a:pPr>
            <a:r>
              <a:rPr sz="1000" b="0">
                <a:solidFill>
                  <a:srgbClr val="4A5A7A"/>
                </a:solidFill>
                <a:latin typeface="맑은 고딕"/>
                <a:ea typeface="맑은 고딕"/>
                <a:cs typeface="맑은 고딕"/>
              </a:rPr>
              <a:t>플랫폼 자세로 안테나 -&gt; 동체 -&gt; VC-NED</a:t>
            </a:r>
          </a:p>
          <a:p>
            <a:pPr algn="l">
              <a:lnSpc>
                <a:spcPct val="108000"/>
              </a:lnSpc>
            </a:pPr>
            <a:r>
              <a:rPr sz="1000" b="0">
                <a:solidFill>
                  <a:srgbClr val="4A5A7A"/>
                </a:solidFill>
                <a:latin typeface="맑은 고딕"/>
                <a:ea typeface="맑은 고딕"/>
                <a:cs typeface="맑은 고딕"/>
              </a:rPr>
              <a:t>측정 표준편차로 오차 공분산 R 계산 (1.5)</a:t>
            </a:r>
          </a:p>
        </p:txBody>
      </p:sp>
      <p:sp>
        <p:nvSpPr>
          <p:cNvPr id="57" name="Oval 56"/>
          <p:cNvSpPr/>
          <p:nvPr/>
        </p:nvSpPr>
        <p:spPr>
          <a:xfrm>
            <a:off x="8046720" y="480060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58" name="TextBox 57"/>
          <p:cNvSpPr txBox="1"/>
          <p:nvPr/>
        </p:nvSpPr>
        <p:spPr>
          <a:xfrm>
            <a:off x="8430768" y="4782312"/>
            <a:ext cx="311810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참고 소스의 Idd.h 를 이어 씀</a:t>
            </a:r>
          </a:p>
          <a:p>
            <a:pPr algn="l">
              <a:lnSpc>
                <a:spcPct val="108000"/>
              </a:lnSpc>
            </a:pPr>
            <a:r>
              <a:rPr sz="1000" b="0">
                <a:solidFill>
                  <a:srgbClr val="4A5A7A"/>
                </a:solidFill>
                <a:latin typeface="맑은 고딕"/>
                <a:ea typeface="맑은 고딕"/>
                <a:cs typeface="맑은 고딕"/>
              </a:rPr>
              <a:t>Y_Body 에서 끊겨 있던 STRUCT_PlotInfo 를</a:t>
            </a:r>
          </a:p>
          <a:p>
            <a:pPr algn="l">
              <a:lnSpc>
                <a:spcPct val="108000"/>
              </a:lnSpc>
            </a:pPr>
            <a:r>
              <a:rPr sz="1000" b="0">
                <a:solidFill>
                  <a:srgbClr val="4A5A7A"/>
                </a:solidFill>
                <a:latin typeface="맑은 고딕"/>
                <a:ea typeface="맑은 고딕"/>
                <a:cs typeface="맑은 고딕"/>
              </a:rPr>
              <a:t>Z_Body, VC-NED 직교까지 채우고 STRUCT_PlotMsg 추가</a:t>
            </a:r>
          </a:p>
        </p:txBody>
      </p:sp>
      <p:sp>
        <p:nvSpPr>
          <p:cNvPr id="59" name="TextBox 58"/>
          <p:cNvSpPr txBox="1"/>
          <p:nvPr/>
        </p:nvSpPr>
        <p:spPr>
          <a:xfrm>
            <a:off x="8046720" y="5623560"/>
            <a:ext cx="3502152" cy="274320"/>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#pragma pack(1): 칸 사이 빈 공간 없이 붙여서 보냄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3.3 송신: 플롯 메시지 만들기 (f_Lnk_BuildMsg)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 플롯과 클러터를 한 배열에 섞어 방위각 순서로 담고, 플롯마다 ID 를 매겨 안테나 구좌표만 채웁니다.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TargetSimCore/src/PlotLink.c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822191"/>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2540203"/>
            <a:ext cx="7123176" cy="457200"/>
          </a:xfrm>
          <a:prstGeom prst="rect">
            <a:avLst/>
          </a:prstGeom>
          <a:solidFill>
            <a:srgbClr val="FDEEEE"/>
          </a:solidFill>
          <a:ln>
            <a:noFill/>
          </a:ln>
        </p:spPr>
        <p:txBody>
          <a:bodyPr rtlCol="0" anchor="ctr"/>
          <a:lstStyle/>
          <a:p>
            <a:pPr algn="ctr"/>
          </a:p>
        </p:txBody>
      </p:sp>
      <p:sp>
        <p:nvSpPr>
          <p:cNvPr id="10" name="Rectangle 9"/>
          <p:cNvSpPr/>
          <p:nvPr/>
        </p:nvSpPr>
        <p:spPr>
          <a:xfrm>
            <a:off x="667512" y="2540203"/>
            <a:ext cx="36576" cy="457200"/>
          </a:xfrm>
          <a:prstGeom prst="rect">
            <a:avLst/>
          </a:prstGeom>
          <a:solidFill>
            <a:srgbClr val="DC2626"/>
          </a:solidFill>
          <a:ln>
            <a:noFill/>
          </a:ln>
        </p:spPr>
        <p:txBody>
          <a:bodyPr rtlCol="0" anchor="ctr"/>
          <a:lstStyle/>
          <a:p>
            <a:pPr algn="ctr"/>
          </a:p>
        </p:txBody>
      </p:sp>
      <p:sp>
        <p:nvSpPr>
          <p:cNvPr id="11" name="Oval 10"/>
          <p:cNvSpPr/>
          <p:nvPr/>
        </p:nvSpPr>
        <p:spPr>
          <a:xfrm>
            <a:off x="7717536" y="249676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3111703"/>
            <a:ext cx="7123176" cy="457200"/>
          </a:xfrm>
          <a:prstGeom prst="rect">
            <a:avLst/>
          </a:prstGeom>
          <a:solidFill>
            <a:srgbClr val="FDEEEE"/>
          </a:solidFill>
          <a:ln>
            <a:noFill/>
          </a:ln>
        </p:spPr>
        <p:txBody>
          <a:bodyPr rtlCol="0" anchor="ctr"/>
          <a:lstStyle/>
          <a:p>
            <a:pPr algn="ctr"/>
          </a:p>
        </p:txBody>
      </p:sp>
      <p:sp>
        <p:nvSpPr>
          <p:cNvPr id="13" name="Rectangle 12"/>
          <p:cNvSpPr/>
          <p:nvPr/>
        </p:nvSpPr>
        <p:spPr>
          <a:xfrm>
            <a:off x="667512" y="3111703"/>
            <a:ext cx="36576" cy="457200"/>
          </a:xfrm>
          <a:prstGeom prst="rect">
            <a:avLst/>
          </a:prstGeom>
          <a:solidFill>
            <a:srgbClr val="DC2626"/>
          </a:solidFill>
          <a:ln>
            <a:noFill/>
          </a:ln>
        </p:spPr>
        <p:txBody>
          <a:bodyPr rtlCol="0" anchor="ctr"/>
          <a:lstStyle/>
          <a:p>
            <a:pPr algn="ctr"/>
          </a:p>
        </p:txBody>
      </p:sp>
      <p:sp>
        <p:nvSpPr>
          <p:cNvPr id="14" name="Rectangle 13"/>
          <p:cNvSpPr/>
          <p:nvPr/>
        </p:nvSpPr>
        <p:spPr>
          <a:xfrm>
            <a:off x="667512" y="3683203"/>
            <a:ext cx="7123176" cy="114300"/>
          </a:xfrm>
          <a:prstGeom prst="rect">
            <a:avLst/>
          </a:prstGeom>
          <a:solidFill>
            <a:srgbClr val="FEF3E2"/>
          </a:solidFill>
          <a:ln>
            <a:noFill/>
          </a:ln>
        </p:spPr>
        <p:txBody>
          <a:bodyPr rtlCol="0" anchor="ctr"/>
          <a:lstStyle/>
          <a:p>
            <a:pPr algn="ctr"/>
          </a:p>
        </p:txBody>
      </p:sp>
      <p:sp>
        <p:nvSpPr>
          <p:cNvPr id="15" name="Rectangle 14"/>
          <p:cNvSpPr/>
          <p:nvPr/>
        </p:nvSpPr>
        <p:spPr>
          <a:xfrm>
            <a:off x="667512" y="3683203"/>
            <a:ext cx="36576" cy="114300"/>
          </a:xfrm>
          <a:prstGeom prst="rect">
            <a:avLst/>
          </a:prstGeom>
          <a:solidFill>
            <a:srgbClr val="D97706"/>
          </a:solidFill>
          <a:ln>
            <a:noFill/>
          </a:ln>
        </p:spPr>
        <p:txBody>
          <a:bodyPr rtlCol="0" anchor="ctr"/>
          <a:lstStyle/>
          <a:p>
            <a:pPr algn="ctr"/>
          </a:p>
        </p:txBody>
      </p:sp>
      <p:sp>
        <p:nvSpPr>
          <p:cNvPr id="16" name="Oval 15"/>
          <p:cNvSpPr/>
          <p:nvPr/>
        </p:nvSpPr>
        <p:spPr>
          <a:xfrm>
            <a:off x="7717536" y="363976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7" name="Rectangle 16"/>
          <p:cNvSpPr/>
          <p:nvPr/>
        </p:nvSpPr>
        <p:spPr>
          <a:xfrm>
            <a:off x="667512" y="3911803"/>
            <a:ext cx="7123176" cy="685800"/>
          </a:xfrm>
          <a:prstGeom prst="rect">
            <a:avLst/>
          </a:prstGeom>
          <a:solidFill>
            <a:srgbClr val="E6F5EE"/>
          </a:solidFill>
          <a:ln>
            <a:noFill/>
          </a:ln>
        </p:spPr>
        <p:txBody>
          <a:bodyPr rtlCol="0" anchor="ctr"/>
          <a:lstStyle/>
          <a:p>
            <a:pPr algn="ctr"/>
          </a:p>
        </p:txBody>
      </p:sp>
      <p:sp>
        <p:nvSpPr>
          <p:cNvPr id="18" name="Rectangle 17"/>
          <p:cNvSpPr/>
          <p:nvPr/>
        </p:nvSpPr>
        <p:spPr>
          <a:xfrm>
            <a:off x="667512" y="3911803"/>
            <a:ext cx="36576" cy="685800"/>
          </a:xfrm>
          <a:prstGeom prst="rect">
            <a:avLst/>
          </a:prstGeom>
          <a:solidFill>
            <a:srgbClr val="059669"/>
          </a:solidFill>
          <a:ln>
            <a:noFill/>
          </a:ln>
        </p:spPr>
        <p:txBody>
          <a:bodyPr rtlCol="0" anchor="ctr"/>
          <a:lstStyle/>
          <a:p>
            <a:pPr algn="ctr"/>
          </a:p>
        </p:txBody>
      </p:sp>
      <p:sp>
        <p:nvSpPr>
          <p:cNvPr id="19" name="Oval 18"/>
          <p:cNvSpPr/>
          <p:nvPr/>
        </p:nvSpPr>
        <p:spPr>
          <a:xfrm>
            <a:off x="7717536" y="386836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0" name="Rectangle 19"/>
          <p:cNvSpPr/>
          <p:nvPr/>
        </p:nvSpPr>
        <p:spPr>
          <a:xfrm>
            <a:off x="667512" y="5054803"/>
            <a:ext cx="7123176" cy="114300"/>
          </a:xfrm>
          <a:prstGeom prst="rect">
            <a:avLst/>
          </a:prstGeom>
          <a:solidFill>
            <a:srgbClr val="EAF1FD"/>
          </a:solidFill>
          <a:ln>
            <a:noFill/>
          </a:ln>
        </p:spPr>
        <p:txBody>
          <a:bodyPr rtlCol="0" anchor="ctr"/>
          <a:lstStyle/>
          <a:p>
            <a:pPr algn="ctr"/>
          </a:p>
        </p:txBody>
      </p:sp>
      <p:sp>
        <p:nvSpPr>
          <p:cNvPr id="21" name="Rectangle 20"/>
          <p:cNvSpPr/>
          <p:nvPr/>
        </p:nvSpPr>
        <p:spPr>
          <a:xfrm>
            <a:off x="667512" y="5054803"/>
            <a:ext cx="36576" cy="114300"/>
          </a:xfrm>
          <a:prstGeom prst="rect">
            <a:avLst/>
          </a:prstGeom>
          <a:solidFill>
            <a:srgbClr val="2563EB"/>
          </a:solidFill>
          <a:ln>
            <a:noFill/>
          </a:ln>
        </p:spPr>
        <p:txBody>
          <a:bodyPr rtlCol="0" anchor="ctr"/>
          <a:lstStyle/>
          <a:p>
            <a:pPr algn="ctr"/>
          </a:p>
        </p:txBody>
      </p:sp>
      <p:sp>
        <p:nvSpPr>
          <p:cNvPr id="22" name="Oval 21"/>
          <p:cNvSpPr/>
          <p:nvPr/>
        </p:nvSpPr>
        <p:spPr>
          <a:xfrm>
            <a:off x="7717536" y="501136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3" name="Rectangle 22"/>
          <p:cNvSpPr/>
          <p:nvPr/>
        </p:nvSpPr>
        <p:spPr>
          <a:xfrm>
            <a:off x="667512" y="5283403"/>
            <a:ext cx="7123176" cy="342900"/>
          </a:xfrm>
          <a:prstGeom prst="rect">
            <a:avLst/>
          </a:prstGeom>
          <a:solidFill>
            <a:srgbClr val="EAF1FD"/>
          </a:solidFill>
          <a:ln>
            <a:noFill/>
          </a:ln>
        </p:spPr>
        <p:txBody>
          <a:bodyPr rtlCol="0" anchor="ctr"/>
          <a:lstStyle/>
          <a:p>
            <a:pPr algn="ctr"/>
          </a:p>
        </p:txBody>
      </p:sp>
      <p:sp>
        <p:nvSpPr>
          <p:cNvPr id="24" name="Rectangle 23"/>
          <p:cNvSpPr/>
          <p:nvPr/>
        </p:nvSpPr>
        <p:spPr>
          <a:xfrm>
            <a:off x="667512" y="5283403"/>
            <a:ext cx="36576" cy="342900"/>
          </a:xfrm>
          <a:prstGeom prst="rect">
            <a:avLst/>
          </a:prstGeom>
          <a:solidFill>
            <a:srgbClr val="2563EB"/>
          </a:solidFill>
          <a:ln>
            <a:noFill/>
          </a:ln>
        </p:spPr>
        <p:txBody>
          <a:bodyPr rtlCol="0" anchor="ctr"/>
          <a:lstStyle/>
          <a:p>
            <a:pPr algn="ctr"/>
          </a:p>
        </p:txBody>
      </p:sp>
      <p:sp>
        <p:nvSpPr>
          <p:cNvPr id="25" name="Rectangle 24"/>
          <p:cNvSpPr/>
          <p:nvPr/>
        </p:nvSpPr>
        <p:spPr>
          <a:xfrm>
            <a:off x="667512" y="5740603"/>
            <a:ext cx="7123176" cy="228600"/>
          </a:xfrm>
          <a:prstGeom prst="rect">
            <a:avLst/>
          </a:prstGeom>
          <a:solidFill>
            <a:srgbClr val="F2ECFD"/>
          </a:solidFill>
          <a:ln>
            <a:noFill/>
          </a:ln>
        </p:spPr>
        <p:txBody>
          <a:bodyPr rtlCol="0" anchor="ctr"/>
          <a:lstStyle/>
          <a:p>
            <a:pPr algn="ctr"/>
          </a:p>
        </p:txBody>
      </p:sp>
      <p:sp>
        <p:nvSpPr>
          <p:cNvPr id="26" name="Rectangle 25"/>
          <p:cNvSpPr/>
          <p:nvPr/>
        </p:nvSpPr>
        <p:spPr>
          <a:xfrm>
            <a:off x="667512" y="5740603"/>
            <a:ext cx="36576" cy="228600"/>
          </a:xfrm>
          <a:prstGeom prst="rect">
            <a:avLst/>
          </a:prstGeom>
          <a:solidFill>
            <a:srgbClr val="7C3AED"/>
          </a:solidFill>
          <a:ln>
            <a:noFill/>
          </a:ln>
        </p:spPr>
        <p:txBody>
          <a:bodyPr rtlCol="0" anchor="ctr"/>
          <a:lstStyle/>
          <a:p>
            <a:pPr algn="ctr"/>
          </a:p>
        </p:txBody>
      </p:sp>
      <p:sp>
        <p:nvSpPr>
          <p:cNvPr id="27" name="Oval 26"/>
          <p:cNvSpPr/>
          <p:nvPr/>
        </p:nvSpPr>
        <p:spPr>
          <a:xfrm>
            <a:off x="7717536" y="569716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8" name="TextBox 27"/>
          <p:cNvSpPr txBox="1"/>
          <p:nvPr/>
        </p:nvSpPr>
        <p:spPr>
          <a:xfrm>
            <a:off x="731519" y="2322576"/>
            <a:ext cx="6949440" cy="3657599"/>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299  </a:t>
            </a:r>
            <a:r>
              <a:rPr sz="760" b="0">
                <a:solidFill>
                  <a:srgbClr val="2563EB"/>
                </a:solidFill>
                <a:latin typeface="Consolas"/>
                <a:ea typeface="Consolas"/>
                <a:cs typeface="Consolas"/>
              </a:rPr>
              <a:t>static</a:t>
            </a:r>
            <a:r>
              <a:rPr sz="760" b="0">
                <a:solidFill>
                  <a:srgbClr val="1B2740"/>
                </a:solidFill>
                <a:latin typeface="Consolas"/>
                <a:ea typeface="Consolas"/>
                <a:cs typeface="Consolas"/>
              </a:rPr>
              <a:t>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 f_Lnk_BuildMsg(</a:t>
            </a:r>
            <a:r>
              <a:rPr sz="760" b="0">
                <a:solidFill>
                  <a:srgbClr val="2563EB"/>
                </a:solidFill>
                <a:latin typeface="Consolas"/>
                <a:ea typeface="Consolas"/>
                <a:cs typeface="Consolas"/>
              </a:rPr>
              <a:t>STRUCT_PlotMsg</a:t>
            </a:r>
            <a:r>
              <a:rPr sz="760" b="0">
                <a:solidFill>
                  <a:srgbClr val="1B2740"/>
                </a:solidFill>
                <a:latin typeface="Consolas"/>
                <a:ea typeface="Consolas"/>
                <a:cs typeface="Consolas"/>
              </a:rPr>
              <a:t> *st_Msg,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nScan,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 *pt_PlotId)  </a:t>
            </a:r>
            <a:r>
              <a:rPr sz="760" b="0">
                <a:solidFill>
                  <a:srgbClr val="059669"/>
                </a:solidFill>
                <a:latin typeface="맑은 고딕"/>
                <a:ea typeface="맑은 고딕"/>
                <a:cs typeface="맑은 고딕"/>
              </a:rPr>
              <a:t>// 스캔 하나의 메시지 만들기</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314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(nIndex = </a:t>
            </a:r>
            <a:r>
              <a:rPr sz="760" b="0">
                <a:solidFill>
                  <a:srgbClr val="B45309"/>
                </a:solidFill>
                <a:latin typeface="Consolas"/>
                <a:ea typeface="Consolas"/>
                <a:cs typeface="Consolas"/>
              </a:rPr>
              <a:t>0</a:t>
            </a:r>
            <a:r>
              <a:rPr sz="760" b="0">
                <a:solidFill>
                  <a:srgbClr val="1B2740"/>
                </a:solidFill>
                <a:latin typeface="Consolas"/>
                <a:ea typeface="Consolas"/>
                <a:cs typeface="Consolas"/>
              </a:rPr>
              <a:t>; (nIndex &lt; st_Scan-&gt;nTargetNum) &amp;&amp; (nPlotNum &lt; </a:t>
            </a:r>
            <a:r>
              <a:rPr sz="760" b="0">
                <a:solidFill>
                  <a:srgbClr val="7C3AED"/>
                </a:solidFill>
                <a:latin typeface="Consolas"/>
                <a:ea typeface="Consolas"/>
                <a:cs typeface="Consolas"/>
              </a:rPr>
              <a:t>IDD_MAX_PLOT</a:t>
            </a:r>
            <a:r>
              <a:rPr sz="760" b="0">
                <a:solidFill>
                  <a:srgbClr val="1B2740"/>
                </a:solidFill>
                <a:latin typeface="Consolas"/>
                <a:ea typeface="Consolas"/>
                <a:cs typeface="Consolas"/>
              </a:rPr>
              <a:t>); nIndex++)  </a:t>
            </a:r>
            <a:r>
              <a:rPr sz="760" b="0">
                <a:solidFill>
                  <a:srgbClr val="059669"/>
                </a:solidFill>
                <a:latin typeface="맑은 고딕"/>
                <a:ea typeface="맑은 고딕"/>
                <a:cs typeface="맑은 고딕"/>
              </a:rPr>
              <a:t>// 표적 플롯부터</a:t>
            </a:r>
          </a:p>
          <a:p>
            <a:pPr>
              <a:lnSpc>
                <a:spcPts val="900"/>
              </a:lnSpc>
            </a:pPr>
            <a:r>
              <a:rPr sz="760" b="0">
                <a:solidFill>
                  <a:srgbClr val="AEB9CC"/>
                </a:solidFill>
                <a:latin typeface="Consolas"/>
                <a:ea typeface="Consolas"/>
                <a:cs typeface="Consolas"/>
              </a:rPr>
              <a:t>315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316  </a:t>
            </a:r>
            <a:r>
              <a:rPr sz="760" b="0">
                <a:solidFill>
                  <a:srgbClr val="1B2740"/>
                </a:solidFill>
                <a:latin typeface="Consolas"/>
                <a:ea typeface="Consolas"/>
                <a:cs typeface="Consolas"/>
              </a:rPr>
              <a:t>    st_Sph[nPlotNum]  = st_Scan-&gt;st_Plot[nIndex];  </a:t>
            </a:r>
            <a:r>
              <a:rPr sz="760" b="0">
                <a:solidFill>
                  <a:srgbClr val="059669"/>
                </a:solidFill>
                <a:latin typeface="맑은 고딕"/>
                <a:ea typeface="맑은 고딕"/>
                <a:cs typeface="맑은 고딕"/>
              </a:rPr>
              <a:t>// 거리 · 방위각 · 고각</a:t>
            </a:r>
          </a:p>
          <a:p>
            <a:pPr>
              <a:lnSpc>
                <a:spcPts val="900"/>
              </a:lnSpc>
            </a:pPr>
            <a:r>
              <a:rPr sz="760" b="0">
                <a:solidFill>
                  <a:srgbClr val="AEB9CC"/>
                </a:solidFill>
                <a:latin typeface="Consolas"/>
                <a:ea typeface="Consolas"/>
                <a:cs typeface="Consolas"/>
              </a:rPr>
              <a:t>317  </a:t>
            </a:r>
            <a:r>
              <a:rPr sz="760" b="0">
                <a:solidFill>
                  <a:srgbClr val="1B2740"/>
                </a:solidFill>
                <a:latin typeface="Consolas"/>
                <a:ea typeface="Consolas"/>
                <a:cs typeface="Consolas"/>
              </a:rPr>
              <a:t>    nSource[nPlotNum]  = nIndex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출처: 표적 번호 (송신 쪽 기록용)</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321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(nIndex = </a:t>
            </a:r>
            <a:r>
              <a:rPr sz="760" b="0">
                <a:solidFill>
                  <a:srgbClr val="B45309"/>
                </a:solidFill>
                <a:latin typeface="Consolas"/>
                <a:ea typeface="Consolas"/>
                <a:cs typeface="Consolas"/>
              </a:rPr>
              <a:t>0</a:t>
            </a:r>
            <a:r>
              <a:rPr sz="760" b="0">
                <a:solidFill>
                  <a:srgbClr val="1B2740"/>
                </a:solidFill>
                <a:latin typeface="Consolas"/>
                <a:ea typeface="Consolas"/>
                <a:cs typeface="Consolas"/>
              </a:rPr>
              <a:t>; (nIndex &lt; st_Scan-&gt;nClutterNum) &amp;&amp; (nPlotNum &lt; </a:t>
            </a:r>
            <a:r>
              <a:rPr sz="760" b="0">
                <a:solidFill>
                  <a:srgbClr val="7C3AED"/>
                </a:solidFill>
                <a:latin typeface="Consolas"/>
                <a:ea typeface="Consolas"/>
                <a:cs typeface="Consolas"/>
              </a:rPr>
              <a:t>IDD_MAX_PLOT</a:t>
            </a:r>
            <a:r>
              <a:rPr sz="760" b="0">
                <a:solidFill>
                  <a:srgbClr val="1B2740"/>
                </a:solidFill>
                <a:latin typeface="Consolas"/>
                <a:ea typeface="Consolas"/>
                <a:cs typeface="Consolas"/>
              </a:rPr>
              <a:t>); nIndex++)  </a:t>
            </a:r>
            <a:r>
              <a:rPr sz="760" b="0">
                <a:solidFill>
                  <a:srgbClr val="059669"/>
                </a:solidFill>
                <a:latin typeface="맑은 고딕"/>
                <a:ea typeface="맑은 고딕"/>
                <a:cs typeface="맑은 고딕"/>
              </a:rPr>
              <a:t>// 이어서 클러터를 같은 배열에</a:t>
            </a:r>
          </a:p>
          <a:p>
            <a:pPr>
              <a:lnSpc>
                <a:spcPts val="900"/>
              </a:lnSpc>
            </a:pPr>
            <a:r>
              <a:rPr sz="760" b="0">
                <a:solidFill>
                  <a:srgbClr val="AEB9CC"/>
                </a:solidFill>
                <a:latin typeface="Consolas"/>
                <a:ea typeface="Consolas"/>
                <a:cs typeface="Consolas"/>
              </a:rPr>
              <a:t>322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323  </a:t>
            </a:r>
            <a:r>
              <a:rPr sz="760" b="0">
                <a:solidFill>
                  <a:srgbClr val="1B2740"/>
                </a:solidFill>
                <a:latin typeface="Consolas"/>
                <a:ea typeface="Consolas"/>
                <a:cs typeface="Consolas"/>
              </a:rPr>
              <a:t>    st_Sph[nPlotNum]  = st_Scan-&gt;st_Clutter[nIndex];  </a:t>
            </a:r>
            <a:r>
              <a:rPr sz="760" b="0">
                <a:solidFill>
                  <a:srgbClr val="059669"/>
                </a:solidFill>
                <a:latin typeface="맑은 고딕"/>
                <a:ea typeface="맑은 고딕"/>
                <a:cs typeface="맑은 고딕"/>
              </a:rPr>
              <a:t>// 클러터 플롯</a:t>
            </a:r>
          </a:p>
          <a:p>
            <a:pPr>
              <a:lnSpc>
                <a:spcPts val="900"/>
              </a:lnSpc>
            </a:pPr>
            <a:r>
              <a:rPr sz="760" b="0">
                <a:solidFill>
                  <a:srgbClr val="AEB9CC"/>
                </a:solidFill>
                <a:latin typeface="Consolas"/>
                <a:ea typeface="Consolas"/>
                <a:cs typeface="Consolas"/>
              </a:rPr>
              <a:t>324  </a:t>
            </a:r>
            <a:r>
              <a:rPr sz="760" b="0">
                <a:solidFill>
                  <a:srgbClr val="1B2740"/>
                </a:solidFill>
                <a:latin typeface="Consolas"/>
                <a:ea typeface="Consolas"/>
                <a:cs typeface="Consolas"/>
              </a:rPr>
              <a:t>    nSource[nPlotNum]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출처: 0 은 클러터</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328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방위각 오름차순 (삽입 정렬)</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346  </a:t>
            </a:r>
            <a:r>
              <a:rPr sz="760" b="0">
                <a:solidFill>
                  <a:srgbClr val="1B2740"/>
                </a:solidFill>
                <a:latin typeface="Consolas"/>
                <a:ea typeface="Consolas"/>
                <a:cs typeface="Consolas"/>
              </a:rPr>
              <a:t>  st_Msg-&gt;MsgId  = </a:t>
            </a:r>
            <a:r>
              <a:rPr sz="760" b="0">
                <a:solidFill>
                  <a:srgbClr val="7C3AED"/>
                </a:solidFill>
                <a:latin typeface="Consolas"/>
                <a:ea typeface="Consolas"/>
                <a:cs typeface="Consolas"/>
              </a:rPr>
              <a:t>IDD_MSG_ID_PLOT</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메시지 종류: 플롯</a:t>
            </a:r>
          </a:p>
          <a:p>
            <a:pPr>
              <a:lnSpc>
                <a:spcPts val="900"/>
              </a:lnSpc>
            </a:pPr>
            <a:r>
              <a:rPr sz="760" b="0">
                <a:solidFill>
                  <a:srgbClr val="AEB9CC"/>
                </a:solidFill>
                <a:latin typeface="Consolas"/>
                <a:ea typeface="Consolas"/>
                <a:cs typeface="Consolas"/>
              </a:rPr>
              <a:t>347  </a:t>
            </a:r>
            <a:r>
              <a:rPr sz="760" b="0">
                <a:solidFill>
                  <a:srgbClr val="1B2740"/>
                </a:solidFill>
                <a:latin typeface="Consolas"/>
                <a:ea typeface="Consolas"/>
                <a:cs typeface="Consolas"/>
              </a:rPr>
              <a:t>  st_Msg-&gt;MsgSize  = msgSize;  </a:t>
            </a:r>
            <a:r>
              <a:rPr sz="760" b="0">
                <a:solidFill>
                  <a:srgbClr val="059669"/>
                </a:solidFill>
                <a:latin typeface="맑은 고딕"/>
                <a:ea typeface="맑은 고딕"/>
                <a:cs typeface="맑은 고딕"/>
              </a:rPr>
              <a:t>// 보낼 바이트 수</a:t>
            </a:r>
          </a:p>
          <a:p>
            <a:pPr>
              <a:lnSpc>
                <a:spcPts val="900"/>
              </a:lnSpc>
            </a:pPr>
            <a:r>
              <a:rPr sz="760" b="0">
                <a:solidFill>
                  <a:srgbClr val="AEB9CC"/>
                </a:solidFill>
                <a:latin typeface="Consolas"/>
                <a:ea typeface="Consolas"/>
                <a:cs typeface="Consolas"/>
              </a:rPr>
              <a:t>348  </a:t>
            </a:r>
            <a:r>
              <a:rPr sz="760" b="0">
                <a:solidFill>
                  <a:srgbClr val="1B2740"/>
                </a:solidFill>
                <a:latin typeface="Consolas"/>
                <a:ea typeface="Consolas"/>
                <a:cs typeface="Consolas"/>
              </a:rPr>
              <a:t>  st_Msg-&gt;ScanNum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)nScan;  </a:t>
            </a:r>
            <a:r>
              <a:rPr sz="760" b="0">
                <a:solidFill>
                  <a:srgbClr val="059669"/>
                </a:solidFill>
                <a:latin typeface="맑은 고딕"/>
                <a:ea typeface="맑은 고딕"/>
                <a:cs typeface="맑은 고딕"/>
              </a:rPr>
              <a:t>// 스캔 번호</a:t>
            </a:r>
          </a:p>
          <a:p>
            <a:pPr>
              <a:lnSpc>
                <a:spcPts val="900"/>
              </a:lnSpc>
            </a:pPr>
            <a:r>
              <a:rPr sz="760" b="0">
                <a:solidFill>
                  <a:srgbClr val="AEB9CC"/>
                </a:solidFill>
                <a:latin typeface="Consolas"/>
                <a:ea typeface="Consolas"/>
                <a:cs typeface="Consolas"/>
              </a:rPr>
              <a:t>349  </a:t>
            </a:r>
            <a:r>
              <a:rPr sz="760" b="0">
                <a:solidFill>
                  <a:srgbClr val="1B2740"/>
                </a:solidFill>
                <a:latin typeface="Consolas"/>
                <a:ea typeface="Consolas"/>
                <a:cs typeface="Consolas"/>
              </a:rPr>
              <a:t>  st_Msg-&gt;TimeStamp_s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)(timeNs / </a:t>
            </a:r>
            <a:r>
              <a:rPr sz="760" b="0">
                <a:solidFill>
                  <a:srgbClr val="B45309"/>
                </a:solidFill>
                <a:latin typeface="Consolas"/>
                <a:ea typeface="Consolas"/>
                <a:cs typeface="Consolas"/>
              </a:rPr>
              <a:t>1000000000LL</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스캔 시각 (초)</a:t>
            </a:r>
          </a:p>
          <a:p>
            <a:pPr>
              <a:lnSpc>
                <a:spcPts val="900"/>
              </a:lnSpc>
            </a:pPr>
            <a:r>
              <a:rPr sz="760" b="0">
                <a:solidFill>
                  <a:srgbClr val="AEB9CC"/>
                </a:solidFill>
                <a:latin typeface="Consolas"/>
                <a:ea typeface="Consolas"/>
                <a:cs typeface="Consolas"/>
              </a:rPr>
              <a:t>350  </a:t>
            </a:r>
            <a:r>
              <a:rPr sz="760" b="0">
                <a:solidFill>
                  <a:srgbClr val="1B2740"/>
                </a:solidFill>
                <a:latin typeface="Consolas"/>
                <a:ea typeface="Consolas"/>
                <a:cs typeface="Consolas"/>
              </a:rPr>
              <a:t>  st_Msg-&gt;TimeStamp_ns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)(timeNs % </a:t>
            </a:r>
            <a:r>
              <a:rPr sz="760" b="0">
                <a:solidFill>
                  <a:srgbClr val="B45309"/>
                </a:solidFill>
                <a:latin typeface="Consolas"/>
                <a:ea typeface="Consolas"/>
                <a:cs typeface="Consolas"/>
              </a:rPr>
              <a:t>1000000000LL</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스캔 시각 (나노초)</a:t>
            </a:r>
          </a:p>
          <a:p>
            <a:pPr>
              <a:lnSpc>
                <a:spcPts val="900"/>
              </a:lnSpc>
            </a:pPr>
            <a:r>
              <a:rPr sz="760" b="0">
                <a:solidFill>
                  <a:srgbClr val="AEB9CC"/>
                </a:solidFill>
                <a:latin typeface="Consolas"/>
                <a:ea typeface="Consolas"/>
                <a:cs typeface="Consolas"/>
              </a:rPr>
              <a:t>351  </a:t>
            </a:r>
            <a:r>
              <a:rPr sz="760" b="0">
                <a:solidFill>
                  <a:srgbClr val="1B2740"/>
                </a:solidFill>
                <a:latin typeface="Consolas"/>
                <a:ea typeface="Consolas"/>
                <a:cs typeface="Consolas"/>
              </a:rPr>
              <a:t>  st_Msg-&gt;PlotNum  = (</a:t>
            </a:r>
            <a:r>
              <a:rPr sz="760" b="0">
                <a:solidFill>
                  <a:srgbClr val="2563EB"/>
                </a:solidFill>
                <a:latin typeface="Consolas"/>
                <a:ea typeface="Consolas"/>
                <a:cs typeface="Consolas"/>
              </a:rPr>
              <a:t>UINT32</a:t>
            </a:r>
            <a:r>
              <a:rPr sz="760" b="0">
                <a:solidFill>
                  <a:srgbClr val="1B2740"/>
                </a:solidFill>
                <a:latin typeface="Consolas"/>
                <a:ea typeface="Consolas"/>
                <a:cs typeface="Consolas"/>
              </a:rPr>
              <a:t>)nPlotNum;  </a:t>
            </a:r>
            <a:r>
              <a:rPr sz="760" b="0">
                <a:solidFill>
                  <a:srgbClr val="059669"/>
                </a:solidFill>
                <a:latin typeface="맑은 고딕"/>
                <a:ea typeface="맑은 고딕"/>
                <a:cs typeface="맑은 고딕"/>
              </a:rPr>
              <a:t>// 표적 + 클러터 수</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365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(nIndex = </a:t>
            </a:r>
            <a:r>
              <a:rPr sz="760" b="0">
                <a:solidFill>
                  <a:srgbClr val="B45309"/>
                </a:solidFill>
                <a:latin typeface="Consolas"/>
                <a:ea typeface="Consolas"/>
                <a:cs typeface="Consolas"/>
              </a:rPr>
              <a:t>0</a:t>
            </a:r>
            <a:r>
              <a:rPr sz="760" b="0">
                <a:solidFill>
                  <a:srgbClr val="1B2740"/>
                </a:solidFill>
                <a:latin typeface="Consolas"/>
                <a:ea typeface="Consolas"/>
                <a:cs typeface="Consolas"/>
              </a:rPr>
              <a:t>; nIndex &lt; nPlotNum; nIndex++)  </a:t>
            </a:r>
            <a:r>
              <a:rPr sz="760" b="0">
                <a:solidFill>
                  <a:srgbClr val="059669"/>
                </a:solidFill>
                <a:latin typeface="맑은 고딕"/>
                <a:ea typeface="맑은 고딕"/>
                <a:cs typeface="맑은 고딕"/>
              </a:rPr>
              <a:t>// 정렬된 순서대로 플롯마다</a:t>
            </a:r>
          </a:p>
          <a:p>
            <a:pPr>
              <a:lnSpc>
                <a:spcPts val="900"/>
              </a:lnSpc>
            </a:pPr>
            <a:r>
              <a:rPr sz="760" b="0">
                <a:solidFill>
                  <a:srgbClr val="AEB9CC"/>
                </a:solidFill>
                <a:latin typeface="Consolas"/>
                <a:ea typeface="Consolas"/>
                <a:cs typeface="Consolas"/>
              </a:rPr>
              <a:t>366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367  </a:t>
            </a:r>
            <a:r>
              <a:rPr sz="760" b="0">
                <a:solidFill>
                  <a:srgbClr val="1B2740"/>
                </a:solidFill>
                <a:latin typeface="Consolas"/>
                <a:ea typeface="Consolas"/>
                <a:cs typeface="Consolas"/>
              </a:rPr>
              <a:t>    st_Info  = &amp;st_Msg-&gt;st_Plot[nIndex];  </a:t>
            </a:r>
            <a:r>
              <a:rPr sz="760" b="0">
                <a:solidFill>
                  <a:srgbClr val="059669"/>
                </a:solidFill>
                <a:latin typeface="맑은 고딕"/>
                <a:ea typeface="맑은 고딕"/>
                <a:cs typeface="맑은 고딕"/>
              </a:rPr>
              <a:t>// 메시지의 플롯 칸</a:t>
            </a:r>
          </a:p>
          <a:p>
            <a:pPr>
              <a:lnSpc>
                <a:spcPts val="900"/>
              </a:lnSpc>
            </a:pPr>
            <a:r>
              <a:rPr sz="760" b="0">
                <a:solidFill>
                  <a:srgbClr val="AEB9CC"/>
                </a:solidFill>
                <a:latin typeface="Consolas"/>
                <a:ea typeface="Consolas"/>
                <a:cs typeface="Consolas"/>
              </a:rPr>
              <a:t>368  </a:t>
            </a:r>
            <a:r>
              <a:rPr sz="760" b="0">
                <a:solidFill>
                  <a:srgbClr val="1B2740"/>
                </a:solidFill>
                <a:latin typeface="Consolas"/>
                <a:ea typeface="Consolas"/>
                <a:cs typeface="Consolas"/>
              </a:rPr>
              <a:t>    st_Info-&gt;Id  = *pt_PlotId;  </a:t>
            </a:r>
            <a:r>
              <a:rPr sz="760" b="0">
                <a:solidFill>
                  <a:srgbClr val="059669"/>
                </a:solidFill>
                <a:latin typeface="맑은 고딕"/>
                <a:ea typeface="맑은 고딕"/>
                <a:cs typeface="맑은 고딕"/>
              </a:rPr>
              <a:t>// 플롯 ID</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375  </a:t>
            </a:r>
            <a:r>
              <a:rPr sz="760" b="0">
                <a:solidFill>
                  <a:srgbClr val="1B2740"/>
                </a:solidFill>
                <a:latin typeface="Consolas"/>
                <a:ea typeface="Consolas"/>
                <a:cs typeface="Consolas"/>
              </a:rPr>
              <a:t>    st_Info-&gt;Range_Ant  = (</a:t>
            </a:r>
            <a:r>
              <a:rPr sz="760" b="0">
                <a:solidFill>
                  <a:srgbClr val="2563EB"/>
                </a:solidFill>
                <a:latin typeface="Consolas"/>
                <a:ea typeface="Consolas"/>
                <a:cs typeface="Consolas"/>
              </a:rPr>
              <a:t>FLOAT32</a:t>
            </a:r>
            <a:r>
              <a:rPr sz="760" b="0">
                <a:solidFill>
                  <a:srgbClr val="1B2740"/>
                </a:solidFill>
                <a:latin typeface="Consolas"/>
                <a:ea typeface="Consolas"/>
                <a:cs typeface="Consolas"/>
              </a:rPr>
              <a:t>)st_Sph[nOrder[nIndex]].r;  </a:t>
            </a:r>
            <a:r>
              <a:rPr sz="760" b="0">
                <a:solidFill>
                  <a:srgbClr val="059669"/>
                </a:solidFill>
                <a:latin typeface="맑은 고딕"/>
                <a:ea typeface="맑은 고딕"/>
                <a:cs typeface="맑은 고딕"/>
              </a:rPr>
              <a:t>// 안테나 기준 거리</a:t>
            </a:r>
          </a:p>
          <a:p>
            <a:pPr>
              <a:lnSpc>
                <a:spcPts val="900"/>
              </a:lnSpc>
            </a:pPr>
            <a:r>
              <a:rPr sz="760" b="0">
                <a:solidFill>
                  <a:srgbClr val="AEB9CC"/>
                </a:solidFill>
                <a:latin typeface="Consolas"/>
                <a:ea typeface="Consolas"/>
                <a:cs typeface="Consolas"/>
              </a:rPr>
              <a:t>376  </a:t>
            </a:r>
            <a:r>
              <a:rPr sz="760" b="0">
                <a:solidFill>
                  <a:srgbClr val="1B2740"/>
                </a:solidFill>
                <a:latin typeface="Consolas"/>
                <a:ea typeface="Consolas"/>
                <a:cs typeface="Consolas"/>
              </a:rPr>
              <a:t>    st_Info-&gt;Azimuth_Ant  = (</a:t>
            </a:r>
            <a:r>
              <a:rPr sz="760" b="0">
                <a:solidFill>
                  <a:srgbClr val="2563EB"/>
                </a:solidFill>
                <a:latin typeface="Consolas"/>
                <a:ea typeface="Consolas"/>
                <a:cs typeface="Consolas"/>
              </a:rPr>
              <a:t>FLOAT32</a:t>
            </a:r>
            <a:r>
              <a:rPr sz="760" b="0">
                <a:solidFill>
                  <a:srgbClr val="1B2740"/>
                </a:solidFill>
                <a:latin typeface="Consolas"/>
                <a:ea typeface="Consolas"/>
                <a:cs typeface="Consolas"/>
              </a:rPr>
              <a:t>)st_Sph[nOrder[nIndex]].az;  </a:t>
            </a:r>
            <a:r>
              <a:rPr sz="760" b="0">
                <a:solidFill>
                  <a:srgbClr val="059669"/>
                </a:solidFill>
                <a:latin typeface="맑은 고딕"/>
                <a:ea typeface="맑은 고딕"/>
                <a:cs typeface="맑은 고딕"/>
              </a:rPr>
              <a:t>// 방위각</a:t>
            </a:r>
          </a:p>
          <a:p>
            <a:pPr>
              <a:lnSpc>
                <a:spcPts val="900"/>
              </a:lnSpc>
            </a:pPr>
            <a:r>
              <a:rPr sz="760" b="0">
                <a:solidFill>
                  <a:srgbClr val="AEB9CC"/>
                </a:solidFill>
                <a:latin typeface="Consolas"/>
                <a:ea typeface="Consolas"/>
                <a:cs typeface="Consolas"/>
              </a:rPr>
              <a:t>377  </a:t>
            </a:r>
            <a:r>
              <a:rPr sz="760" b="0">
                <a:solidFill>
                  <a:srgbClr val="1B2740"/>
                </a:solidFill>
                <a:latin typeface="Consolas"/>
                <a:ea typeface="Consolas"/>
                <a:cs typeface="Consolas"/>
              </a:rPr>
              <a:t>    st_Info-&gt;Elevation_Ant  = (</a:t>
            </a:r>
            <a:r>
              <a:rPr sz="760" b="0">
                <a:solidFill>
                  <a:srgbClr val="2563EB"/>
                </a:solidFill>
                <a:latin typeface="Consolas"/>
                <a:ea typeface="Consolas"/>
                <a:cs typeface="Consolas"/>
              </a:rPr>
              <a:t>FLOAT32</a:t>
            </a:r>
            <a:r>
              <a:rPr sz="760" b="0">
                <a:solidFill>
                  <a:srgbClr val="1B2740"/>
                </a:solidFill>
                <a:latin typeface="Consolas"/>
                <a:ea typeface="Consolas"/>
                <a:cs typeface="Consolas"/>
              </a:rPr>
              <a:t>)st_Sph[nOrder[nIndex]].el;  </a:t>
            </a:r>
            <a:r>
              <a:rPr sz="760" b="0">
                <a:solidFill>
                  <a:srgbClr val="059669"/>
                </a:solidFill>
                <a:latin typeface="맑은 고딕"/>
                <a:ea typeface="맑은 고딕"/>
                <a:cs typeface="맑은 고딕"/>
              </a:rPr>
              <a:t>// 고각</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389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플롯 ID 는 10000 ~ 1000000 을 돌아가며 씀</a:t>
            </a:r>
          </a:p>
          <a:p>
            <a:pPr>
              <a:lnSpc>
                <a:spcPts val="900"/>
              </a:lnSpc>
            </a:pPr>
            <a:r>
              <a:rPr sz="760" b="0">
                <a:solidFill>
                  <a:srgbClr val="AEB9CC"/>
                </a:solidFill>
                <a:latin typeface="Consolas"/>
                <a:ea typeface="Consolas"/>
                <a:cs typeface="Consolas"/>
              </a:rPr>
              <a:t>390  </a:t>
            </a:r>
            <a:r>
              <a:rPr sz="760" b="0">
                <a:solidFill>
                  <a:srgbClr val="1B2740"/>
                </a:solidFill>
                <a:latin typeface="Consolas"/>
                <a:ea typeface="Consolas"/>
                <a:cs typeface="Consolas"/>
              </a:rPr>
              <a:t>    *pt_PlotId = (*pt_PlotId &gt;= </a:t>
            </a:r>
            <a:r>
              <a:rPr sz="760" b="0">
                <a:solidFill>
                  <a:srgbClr val="7C3AED"/>
                </a:solidFill>
                <a:latin typeface="Consolas"/>
                <a:ea typeface="Consolas"/>
                <a:cs typeface="Consolas"/>
              </a:rPr>
              <a:t>IDD_PLOT_ID_MAX</a:t>
            </a:r>
            <a:r>
              <a:rPr sz="760" b="0">
                <a:solidFill>
                  <a:srgbClr val="1B2740"/>
                </a:solidFill>
                <a:latin typeface="Consolas"/>
                <a:ea typeface="Consolas"/>
                <a:cs typeface="Consolas"/>
              </a:rPr>
              <a:t>) ? </a:t>
            </a:r>
            <a:r>
              <a:rPr sz="760" b="0">
                <a:solidFill>
                  <a:srgbClr val="7C3AED"/>
                </a:solidFill>
                <a:latin typeface="Consolas"/>
                <a:ea typeface="Consolas"/>
                <a:cs typeface="Consolas"/>
              </a:rPr>
              <a:t>IDD_PLOT_ID_MIN</a:t>
            </a:r>
            <a:r>
              <a:rPr sz="760" b="0">
                <a:solidFill>
                  <a:srgbClr val="1B2740"/>
                </a:solidFill>
                <a:latin typeface="Consolas"/>
                <a:ea typeface="Consolas"/>
                <a:cs typeface="Consolas"/>
              </a:rPr>
              <a:t> : (*pt_PlotId + </a:t>
            </a:r>
            <a:r>
              <a:rPr sz="760" b="0">
                <a:solidFill>
                  <a:srgbClr val="B45309"/>
                </a:solidFill>
                <a:latin typeface="Consolas"/>
                <a:ea typeface="Consolas"/>
                <a:cs typeface="Consolas"/>
              </a:rPr>
              <a:t>1U</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다음 플롯 ID</a:t>
            </a:r>
          </a:p>
        </p:txBody>
      </p:sp>
      <p:sp>
        <p:nvSpPr>
          <p:cNvPr id="29" name="Oval 28"/>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0" name="TextBox 29"/>
          <p:cNvSpPr txBox="1"/>
          <p:nvPr/>
        </p:nvSpPr>
        <p:spPr>
          <a:xfrm>
            <a:off x="8476488" y="226771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표적 플롯 + 클러터를 한 배열에</a:t>
            </a:r>
          </a:p>
          <a:p>
            <a:pPr algn="l">
              <a:lnSpc>
                <a:spcPct val="108000"/>
              </a:lnSpc>
            </a:pPr>
            <a:r>
              <a:rPr sz="1000" b="0">
                <a:solidFill>
                  <a:srgbClr val="4A5A7A"/>
                </a:solidFill>
                <a:latin typeface="맑은 고딕"/>
                <a:ea typeface="맑은 고딕"/>
                <a:cs typeface="맑은 고딕"/>
              </a:rPr>
              <a:t>표적 플롯 뒤에 클러터를 이어 붙임</a:t>
            </a:r>
          </a:p>
          <a:p>
            <a:pPr algn="l">
              <a:lnSpc>
                <a:spcPct val="108000"/>
              </a:lnSpc>
            </a:pPr>
            <a:r>
              <a:rPr sz="1000" b="0">
                <a:solidFill>
                  <a:srgbClr val="4A5A7A"/>
                </a:solidFill>
                <a:latin typeface="맑은 고딕"/>
                <a:ea typeface="맑은 고딕"/>
                <a:cs typeface="맑은 고딕"/>
              </a:rPr>
              <a:t>출처 (표적 k / 클러터) 는 송신 쪽에만 기록</a:t>
            </a:r>
          </a:p>
        </p:txBody>
      </p:sp>
      <p:sp>
        <p:nvSpPr>
          <p:cNvPr id="31" name="Oval 30"/>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2" name="TextBox 31"/>
          <p:cNvSpPr txBox="1"/>
          <p:nvPr/>
        </p:nvSpPr>
        <p:spPr>
          <a:xfrm>
            <a:off x="8476488" y="313639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방위각 순서로 정렬</a:t>
            </a:r>
          </a:p>
          <a:p>
            <a:pPr algn="l">
              <a:lnSpc>
                <a:spcPct val="108000"/>
              </a:lnSpc>
            </a:pPr>
            <a:r>
              <a:rPr sz="1000" b="0">
                <a:solidFill>
                  <a:srgbClr val="4A5A7A"/>
                </a:solidFill>
                <a:latin typeface="맑은 고딕"/>
                <a:ea typeface="맑은 고딕"/>
                <a:cs typeface="맑은 고딕"/>
              </a:rPr>
              <a:t>빔이 지나가는 순서처럼 보이게</a:t>
            </a:r>
          </a:p>
          <a:p>
            <a:pPr algn="l">
              <a:lnSpc>
                <a:spcPct val="108000"/>
              </a:lnSpc>
            </a:pPr>
            <a:r>
              <a:rPr sz="1000" b="0">
                <a:solidFill>
                  <a:srgbClr val="4A5A7A"/>
                </a:solidFill>
                <a:latin typeface="맑은 고딕"/>
                <a:ea typeface="맑은 고딕"/>
                <a:cs typeface="맑은 고딕"/>
              </a:rPr>
              <a:t>배열 위치만으로는 표적을 알 수 없게</a:t>
            </a:r>
          </a:p>
        </p:txBody>
      </p:sp>
      <p:sp>
        <p:nvSpPr>
          <p:cNvPr id="33" name="Oval 32"/>
          <p:cNvSpPr/>
          <p:nvPr/>
        </p:nvSpPr>
        <p:spPr>
          <a:xfrm>
            <a:off x="80924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4" name="TextBox 33"/>
          <p:cNvSpPr txBox="1"/>
          <p:nvPr/>
        </p:nvSpPr>
        <p:spPr>
          <a:xfrm>
            <a:off x="8476488" y="400507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메시지 머리</a:t>
            </a:r>
          </a:p>
          <a:p>
            <a:pPr algn="l">
              <a:lnSpc>
                <a:spcPct val="108000"/>
              </a:lnSpc>
            </a:pPr>
            <a:r>
              <a:rPr sz="1000" b="0">
                <a:solidFill>
                  <a:srgbClr val="4A5A7A"/>
                </a:solidFill>
                <a:latin typeface="맑은 고딕"/>
                <a:ea typeface="맑은 고딕"/>
                <a:cs typeface="맑은 고딕"/>
              </a:rPr>
              <a:t>스캔 번호, 시각, 플롯 수</a:t>
            </a:r>
          </a:p>
        </p:txBody>
      </p:sp>
      <p:sp>
        <p:nvSpPr>
          <p:cNvPr id="35" name="Oval 34"/>
          <p:cNvSpPr/>
          <p:nvPr/>
        </p:nvSpPr>
        <p:spPr>
          <a:xfrm>
            <a:off x="8092440" y="461772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6" name="TextBox 35"/>
          <p:cNvSpPr txBox="1"/>
          <p:nvPr/>
        </p:nvSpPr>
        <p:spPr>
          <a:xfrm>
            <a:off x="8476488" y="459943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플롯 ID 와 안테나 구좌표</a:t>
            </a:r>
          </a:p>
          <a:p>
            <a:pPr algn="l">
              <a:lnSpc>
                <a:spcPct val="108000"/>
              </a:lnSpc>
            </a:pPr>
            <a:r>
              <a:rPr sz="1000" b="0">
                <a:solidFill>
                  <a:srgbClr val="4A5A7A"/>
                </a:solidFill>
                <a:latin typeface="맑은 고딕"/>
                <a:ea typeface="맑은 고딕"/>
                <a:cs typeface="맑은 고딕"/>
              </a:rPr>
              <a:t>거리 · 방위각 · 고각만 채움 (과제 조건)</a:t>
            </a:r>
          </a:p>
        </p:txBody>
      </p:sp>
      <p:sp>
        <p:nvSpPr>
          <p:cNvPr id="37" name="Oval 36"/>
          <p:cNvSpPr/>
          <p:nvPr/>
        </p:nvSpPr>
        <p:spPr>
          <a:xfrm>
            <a:off x="8092440" y="521208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8" name="TextBox 37"/>
          <p:cNvSpPr txBox="1"/>
          <p:nvPr/>
        </p:nvSpPr>
        <p:spPr>
          <a:xfrm>
            <a:off x="8476488" y="519379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플롯 ID 10000 ~ 1000000</a:t>
            </a:r>
          </a:p>
          <a:p>
            <a:pPr algn="l">
              <a:lnSpc>
                <a:spcPct val="108000"/>
              </a:lnSpc>
            </a:pPr>
            <a:r>
              <a:rPr sz="1000" b="0">
                <a:solidFill>
                  <a:srgbClr val="4A5A7A"/>
                </a:solidFill>
                <a:latin typeface="맑은 고딕"/>
                <a:ea typeface="맑은 고딕"/>
                <a:cs typeface="맑은 고딕"/>
              </a:rPr>
              <a:t>하나씩 올리고, 1000000 다음은 10000 으로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3.4 수신: 좌표 변환과 트랙 처리 (f_Lnk_ProcessMsg)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받은 플롯을 VC-NED 로 바꾸고 측정 공분산 R 을 구한 뒤, 트랙 관리와 2-Point 개시를 한 번에 돌립니다.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TargetSimCore/src/PlotLink.c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022092"/>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2768803"/>
            <a:ext cx="7123176" cy="685800"/>
          </a:xfrm>
          <a:prstGeom prst="rect">
            <a:avLst/>
          </a:prstGeom>
          <a:solidFill>
            <a:srgbClr val="FDEEEE"/>
          </a:solidFill>
          <a:ln>
            <a:noFill/>
          </a:ln>
        </p:spPr>
        <p:txBody>
          <a:bodyPr rtlCol="0" anchor="ctr"/>
          <a:lstStyle/>
          <a:p>
            <a:pPr algn="ctr"/>
          </a:p>
        </p:txBody>
      </p:sp>
      <p:sp>
        <p:nvSpPr>
          <p:cNvPr id="10" name="Rectangle 9"/>
          <p:cNvSpPr/>
          <p:nvPr/>
        </p:nvSpPr>
        <p:spPr>
          <a:xfrm>
            <a:off x="667512" y="2768803"/>
            <a:ext cx="36576" cy="685800"/>
          </a:xfrm>
          <a:prstGeom prst="rect">
            <a:avLst/>
          </a:prstGeom>
          <a:solidFill>
            <a:srgbClr val="DC2626"/>
          </a:solidFill>
          <a:ln>
            <a:noFill/>
          </a:ln>
        </p:spPr>
        <p:txBody>
          <a:bodyPr rtlCol="0" anchor="ctr"/>
          <a:lstStyle/>
          <a:p>
            <a:pPr algn="ctr"/>
          </a:p>
        </p:txBody>
      </p:sp>
      <p:sp>
        <p:nvSpPr>
          <p:cNvPr id="11" name="Oval 10"/>
          <p:cNvSpPr/>
          <p:nvPr/>
        </p:nvSpPr>
        <p:spPr>
          <a:xfrm>
            <a:off x="7717536" y="272536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3911803"/>
            <a:ext cx="7123176" cy="114300"/>
          </a:xfrm>
          <a:prstGeom prst="rect">
            <a:avLst/>
          </a:prstGeom>
          <a:solidFill>
            <a:srgbClr val="FEF3E2"/>
          </a:solidFill>
          <a:ln>
            <a:noFill/>
          </a:ln>
        </p:spPr>
        <p:txBody>
          <a:bodyPr rtlCol="0" anchor="ctr"/>
          <a:lstStyle/>
          <a:p>
            <a:pPr algn="ctr"/>
          </a:p>
        </p:txBody>
      </p:sp>
      <p:sp>
        <p:nvSpPr>
          <p:cNvPr id="13" name="Rectangle 12"/>
          <p:cNvSpPr/>
          <p:nvPr/>
        </p:nvSpPr>
        <p:spPr>
          <a:xfrm>
            <a:off x="667512" y="3911803"/>
            <a:ext cx="36576" cy="114300"/>
          </a:xfrm>
          <a:prstGeom prst="rect">
            <a:avLst/>
          </a:prstGeom>
          <a:solidFill>
            <a:srgbClr val="D97706"/>
          </a:solidFill>
          <a:ln>
            <a:noFill/>
          </a:ln>
        </p:spPr>
        <p:txBody>
          <a:bodyPr rtlCol="0" anchor="ctr"/>
          <a:lstStyle/>
          <a:p>
            <a:pPr algn="ctr"/>
          </a:p>
        </p:txBody>
      </p:sp>
      <p:sp>
        <p:nvSpPr>
          <p:cNvPr id="14" name="Oval 13"/>
          <p:cNvSpPr/>
          <p:nvPr/>
        </p:nvSpPr>
        <p:spPr>
          <a:xfrm>
            <a:off x="7717536" y="386836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Rectangle 14"/>
          <p:cNvSpPr/>
          <p:nvPr/>
        </p:nvSpPr>
        <p:spPr>
          <a:xfrm>
            <a:off x="667512" y="4140403"/>
            <a:ext cx="7123176" cy="342900"/>
          </a:xfrm>
          <a:prstGeom prst="rect">
            <a:avLst/>
          </a:prstGeom>
          <a:solidFill>
            <a:srgbClr val="E6F5EE"/>
          </a:solidFill>
          <a:ln>
            <a:noFill/>
          </a:ln>
        </p:spPr>
        <p:txBody>
          <a:bodyPr rtlCol="0" anchor="ctr"/>
          <a:lstStyle/>
          <a:p>
            <a:pPr algn="ctr"/>
          </a:p>
        </p:txBody>
      </p:sp>
      <p:sp>
        <p:nvSpPr>
          <p:cNvPr id="16" name="Rectangle 15"/>
          <p:cNvSpPr/>
          <p:nvPr/>
        </p:nvSpPr>
        <p:spPr>
          <a:xfrm>
            <a:off x="667512" y="4140403"/>
            <a:ext cx="36576" cy="342900"/>
          </a:xfrm>
          <a:prstGeom prst="rect">
            <a:avLst/>
          </a:prstGeom>
          <a:solidFill>
            <a:srgbClr val="059669"/>
          </a:solidFill>
          <a:ln>
            <a:noFill/>
          </a:ln>
        </p:spPr>
        <p:txBody>
          <a:bodyPr rtlCol="0" anchor="ctr"/>
          <a:lstStyle/>
          <a:p>
            <a:pPr algn="ctr"/>
          </a:p>
        </p:txBody>
      </p:sp>
      <p:sp>
        <p:nvSpPr>
          <p:cNvPr id="17" name="Oval 16"/>
          <p:cNvSpPr/>
          <p:nvPr/>
        </p:nvSpPr>
        <p:spPr>
          <a:xfrm>
            <a:off x="7717536" y="409696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8" name="Rectangle 17"/>
          <p:cNvSpPr/>
          <p:nvPr/>
        </p:nvSpPr>
        <p:spPr>
          <a:xfrm>
            <a:off x="667512" y="4597603"/>
            <a:ext cx="7123176" cy="114300"/>
          </a:xfrm>
          <a:prstGeom prst="rect">
            <a:avLst/>
          </a:prstGeom>
          <a:solidFill>
            <a:srgbClr val="E6F5EE"/>
          </a:solidFill>
          <a:ln>
            <a:noFill/>
          </a:ln>
        </p:spPr>
        <p:txBody>
          <a:bodyPr rtlCol="0" anchor="ctr"/>
          <a:lstStyle/>
          <a:p>
            <a:pPr algn="ctr"/>
          </a:p>
        </p:txBody>
      </p:sp>
      <p:sp>
        <p:nvSpPr>
          <p:cNvPr id="19" name="Rectangle 18"/>
          <p:cNvSpPr/>
          <p:nvPr/>
        </p:nvSpPr>
        <p:spPr>
          <a:xfrm>
            <a:off x="667512" y="4597603"/>
            <a:ext cx="36576" cy="114300"/>
          </a:xfrm>
          <a:prstGeom prst="rect">
            <a:avLst/>
          </a:prstGeom>
          <a:solidFill>
            <a:srgbClr val="059669"/>
          </a:solidFill>
          <a:ln>
            <a:noFill/>
          </a:ln>
        </p:spPr>
        <p:txBody>
          <a:bodyPr rtlCol="0" anchor="ctr"/>
          <a:lstStyle/>
          <a:p>
            <a:pPr algn="ctr"/>
          </a:p>
        </p:txBody>
      </p:sp>
      <p:sp>
        <p:nvSpPr>
          <p:cNvPr id="20" name="Rectangle 19"/>
          <p:cNvSpPr/>
          <p:nvPr/>
        </p:nvSpPr>
        <p:spPr>
          <a:xfrm>
            <a:off x="667512" y="4826203"/>
            <a:ext cx="7123176" cy="114300"/>
          </a:xfrm>
          <a:prstGeom prst="rect">
            <a:avLst/>
          </a:prstGeom>
          <a:solidFill>
            <a:srgbClr val="F2ECFD"/>
          </a:solidFill>
          <a:ln>
            <a:noFill/>
          </a:ln>
        </p:spPr>
        <p:txBody>
          <a:bodyPr rtlCol="0" anchor="ctr"/>
          <a:lstStyle/>
          <a:p>
            <a:pPr algn="ctr"/>
          </a:p>
        </p:txBody>
      </p:sp>
      <p:sp>
        <p:nvSpPr>
          <p:cNvPr id="21" name="Rectangle 20"/>
          <p:cNvSpPr/>
          <p:nvPr/>
        </p:nvSpPr>
        <p:spPr>
          <a:xfrm>
            <a:off x="667512" y="4826203"/>
            <a:ext cx="36576" cy="114300"/>
          </a:xfrm>
          <a:prstGeom prst="rect">
            <a:avLst/>
          </a:prstGeom>
          <a:solidFill>
            <a:srgbClr val="7C3AED"/>
          </a:solidFill>
          <a:ln>
            <a:noFill/>
          </a:ln>
        </p:spPr>
        <p:txBody>
          <a:bodyPr rtlCol="0" anchor="ctr"/>
          <a:lstStyle/>
          <a:p>
            <a:pPr algn="ctr"/>
          </a:p>
        </p:txBody>
      </p:sp>
      <p:sp>
        <p:nvSpPr>
          <p:cNvPr id="22" name="Oval 21"/>
          <p:cNvSpPr/>
          <p:nvPr/>
        </p:nvSpPr>
        <p:spPr>
          <a:xfrm>
            <a:off x="7717536" y="478276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3" name="Rectangle 22"/>
          <p:cNvSpPr/>
          <p:nvPr/>
        </p:nvSpPr>
        <p:spPr>
          <a:xfrm>
            <a:off x="667512" y="5054803"/>
            <a:ext cx="7123176" cy="114300"/>
          </a:xfrm>
          <a:prstGeom prst="rect">
            <a:avLst/>
          </a:prstGeom>
          <a:solidFill>
            <a:srgbClr val="EAF1FD"/>
          </a:solidFill>
          <a:ln>
            <a:noFill/>
          </a:ln>
        </p:spPr>
        <p:txBody>
          <a:bodyPr rtlCol="0" anchor="ctr"/>
          <a:lstStyle/>
          <a:p>
            <a:pPr algn="ctr"/>
          </a:p>
        </p:txBody>
      </p:sp>
      <p:sp>
        <p:nvSpPr>
          <p:cNvPr id="24" name="Rectangle 23"/>
          <p:cNvSpPr/>
          <p:nvPr/>
        </p:nvSpPr>
        <p:spPr>
          <a:xfrm>
            <a:off x="667512" y="5054803"/>
            <a:ext cx="36576" cy="114300"/>
          </a:xfrm>
          <a:prstGeom prst="rect">
            <a:avLst/>
          </a:prstGeom>
          <a:solidFill>
            <a:srgbClr val="2563EB"/>
          </a:solidFill>
          <a:ln>
            <a:noFill/>
          </a:ln>
        </p:spPr>
        <p:txBody>
          <a:bodyPr rtlCol="0" anchor="ctr"/>
          <a:lstStyle/>
          <a:p>
            <a:pPr algn="ctr"/>
          </a:p>
        </p:txBody>
      </p:sp>
      <p:sp>
        <p:nvSpPr>
          <p:cNvPr id="25" name="Oval 24"/>
          <p:cNvSpPr/>
          <p:nvPr/>
        </p:nvSpPr>
        <p:spPr>
          <a:xfrm>
            <a:off x="7717536" y="501136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6" name="TextBox 25"/>
          <p:cNvSpPr txBox="1"/>
          <p:nvPr/>
        </p:nvSpPr>
        <p:spPr>
          <a:xfrm>
            <a:off x="731519" y="2322576"/>
            <a:ext cx="6949440" cy="2857500"/>
          </a:xfrm>
          <a:prstGeom prst="rect">
            <a:avLst/>
          </a:prstGeom>
          <a:noFill/>
        </p:spPr>
        <p:txBody>
          <a:bodyPr wrap="none" lIns="0" tIns="0" rIns="0" bIns="0" anchor="t">
            <a:spAutoFit/>
          </a:bodyPr>
          <a:lstStyle/>
          <a:p>
            <a:pPr>
              <a:lnSpc>
                <a:spcPts val="900"/>
              </a:lnSpc>
            </a:pPr>
            <a:r>
              <a:rPr sz="790" b="0">
                <a:solidFill>
                  <a:srgbClr val="AEB9CC"/>
                </a:solidFill>
                <a:latin typeface="Consolas"/>
                <a:ea typeface="Consolas"/>
                <a:cs typeface="Consolas"/>
              </a:rPr>
              <a:t>593  </a:t>
            </a:r>
            <a:r>
              <a:rPr sz="790" b="0">
                <a:solidFill>
                  <a:srgbClr val="2563EB"/>
                </a:solidFill>
                <a:latin typeface="Consolas"/>
                <a:ea typeface="Consolas"/>
                <a:cs typeface="Consolas"/>
              </a:rPr>
              <a:t>static</a:t>
            </a:r>
            <a:r>
              <a:rPr sz="790" b="0">
                <a:solidFill>
                  <a:srgbClr val="1B2740"/>
                </a:solidFill>
                <a:latin typeface="Consolas"/>
                <a:ea typeface="Consolas"/>
                <a:cs typeface="Consolas"/>
              </a:rPr>
              <a:t> </a:t>
            </a:r>
            <a:r>
              <a:rPr sz="790" b="0">
                <a:solidFill>
                  <a:srgbClr val="2563EB"/>
                </a:solidFill>
                <a:latin typeface="Consolas"/>
                <a:ea typeface="Consolas"/>
                <a:cs typeface="Consolas"/>
              </a:rPr>
              <a:t>VOID</a:t>
            </a:r>
            <a:r>
              <a:rPr sz="790" b="0">
                <a:solidFill>
                  <a:srgbClr val="1B2740"/>
                </a:solidFill>
                <a:latin typeface="Consolas"/>
                <a:ea typeface="Consolas"/>
                <a:cs typeface="Consolas"/>
              </a:rPr>
              <a:t> f_Lnk_ProcessMsg(</a:t>
            </a:r>
            <a:r>
              <a:rPr sz="790" b="0">
                <a:solidFill>
                  <a:srgbClr val="2563EB"/>
                </a:solidFill>
                <a:latin typeface="Consolas"/>
                <a:ea typeface="Consolas"/>
                <a:cs typeface="Consolas"/>
              </a:rPr>
              <a:t>STRUCT_PlotMsg</a:t>
            </a:r>
            <a:r>
              <a:rPr sz="790" b="0">
                <a:solidFill>
                  <a:srgbClr val="1B2740"/>
                </a:solidFill>
                <a:latin typeface="Consolas"/>
                <a:ea typeface="Consolas"/>
                <a:cs typeface="Consolas"/>
              </a:rPr>
              <a:t> *st_Msg)  </a:t>
            </a:r>
            <a:r>
              <a:rPr sz="790" b="0">
                <a:solidFill>
                  <a:srgbClr val="059669"/>
                </a:solidFill>
                <a:latin typeface="맑은 고딕"/>
                <a:ea typeface="맑은 고딕"/>
                <a:cs typeface="맑은 고딕"/>
              </a:rPr>
              <a:t>// 받은 메시지 하나 처리</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595  </a:t>
            </a:r>
            <a:r>
              <a:rPr sz="790" b="0">
                <a:solidFill>
                  <a:srgbClr val="1B2740"/>
                </a:solidFill>
                <a:latin typeface="Consolas"/>
                <a:ea typeface="Consolas"/>
                <a:cs typeface="Consolas"/>
              </a:rPr>
              <a:t>  </a:t>
            </a:r>
            <a:r>
              <a:rPr sz="790" b="0">
                <a:solidFill>
                  <a:srgbClr val="2563EB"/>
                </a:solidFill>
                <a:latin typeface="Consolas"/>
                <a:ea typeface="Consolas"/>
                <a:cs typeface="Consolas"/>
              </a:rPr>
              <a:t>const</a:t>
            </a:r>
            <a:r>
              <a:rPr sz="790" b="0">
                <a:solidFill>
                  <a:srgbClr val="1B2740"/>
                </a:solidFill>
                <a:latin typeface="Consolas"/>
                <a:ea typeface="Consolas"/>
                <a:cs typeface="Consolas"/>
              </a:rPr>
              <a:t>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  time =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)st_Msg-&gt;TimeStamp_s +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)st_Msg-&gt;TimeStamp_ns * </a:t>
            </a:r>
            <a:r>
              <a:rPr sz="790" b="0">
                <a:solidFill>
                  <a:srgbClr val="B45309"/>
                </a:solidFill>
                <a:latin typeface="Consolas"/>
                <a:ea typeface="Consolas"/>
                <a:cs typeface="Consolas"/>
              </a:rPr>
              <a:t>1.0e-9</a:t>
            </a:r>
            <a:r>
              <a:rPr sz="790" b="0">
                <a:solidFill>
                  <a:srgbClr val="1B2740"/>
                </a:solidFill>
                <a:latin typeface="Consolas"/>
                <a:ea typeface="Consolas"/>
                <a:cs typeface="Consolas"/>
              </a:rPr>
              <a:t>);  </a:t>
            </a:r>
            <a:r>
              <a:rPr sz="790" b="0">
                <a:solidFill>
                  <a:srgbClr val="059669"/>
                </a:solidFill>
                <a:latin typeface="맑은 고딕"/>
                <a:ea typeface="맑은 고딕"/>
                <a:cs typeface="맑은 고딕"/>
              </a:rPr>
              <a:t>// 스캔 시각 [s]</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610  </a:t>
            </a:r>
            <a:r>
              <a:rPr sz="790" b="0">
                <a:solidFill>
                  <a:srgbClr val="1B2740"/>
                </a:solidFill>
                <a:latin typeface="Consolas"/>
                <a:ea typeface="Consolas"/>
                <a:cs typeface="Consolas"/>
              </a:rPr>
              <a:t>  st_Sigma.r  = st_Msg-&gt;Sigma_Range;  </a:t>
            </a:r>
            <a:r>
              <a:rPr sz="790" b="0">
                <a:solidFill>
                  <a:srgbClr val="059669"/>
                </a:solidFill>
                <a:latin typeface="맑은 고딕"/>
                <a:ea typeface="맑은 고딕"/>
                <a:cs typeface="맑은 고딕"/>
              </a:rPr>
              <a:t>// 측정 표준편차: 거리</a:t>
            </a:r>
          </a:p>
          <a:p>
            <a:pPr>
              <a:lnSpc>
                <a:spcPts val="900"/>
              </a:lnSpc>
            </a:pPr>
            <a:r>
              <a:rPr sz="790" b="0">
                <a:solidFill>
                  <a:srgbClr val="AEB9CC"/>
                </a:solidFill>
                <a:latin typeface="Consolas"/>
                <a:ea typeface="Consolas"/>
                <a:cs typeface="Consolas"/>
              </a:rPr>
              <a:t>611  </a:t>
            </a:r>
            <a:r>
              <a:rPr sz="790" b="0">
                <a:solidFill>
                  <a:srgbClr val="1B2740"/>
                </a:solidFill>
                <a:latin typeface="Consolas"/>
                <a:ea typeface="Consolas"/>
                <a:cs typeface="Consolas"/>
              </a:rPr>
              <a:t>  st_Sigma.az  = st_Msg-&gt;Sigma_Azimuth;  </a:t>
            </a:r>
            <a:r>
              <a:rPr sz="790" b="0">
                <a:solidFill>
                  <a:srgbClr val="059669"/>
                </a:solidFill>
                <a:latin typeface="맑은 고딕"/>
                <a:ea typeface="맑은 고딕"/>
                <a:cs typeface="맑은 고딕"/>
              </a:rPr>
              <a:t>// 방위각</a:t>
            </a:r>
          </a:p>
          <a:p>
            <a:pPr>
              <a:lnSpc>
                <a:spcPts val="900"/>
              </a:lnSpc>
            </a:pPr>
            <a:r>
              <a:rPr sz="790" b="0">
                <a:solidFill>
                  <a:srgbClr val="AEB9CC"/>
                </a:solidFill>
                <a:latin typeface="Consolas"/>
                <a:ea typeface="Consolas"/>
                <a:cs typeface="Consolas"/>
              </a:rPr>
              <a:t>612  </a:t>
            </a:r>
            <a:r>
              <a:rPr sz="790" b="0">
                <a:solidFill>
                  <a:srgbClr val="1B2740"/>
                </a:solidFill>
                <a:latin typeface="Consolas"/>
                <a:ea typeface="Consolas"/>
                <a:cs typeface="Consolas"/>
              </a:rPr>
              <a:t>  st_Sigma.el  = st_Msg-&gt;Sigma_Elevation;  </a:t>
            </a:r>
            <a:r>
              <a:rPr sz="790" b="0">
                <a:solidFill>
                  <a:srgbClr val="059669"/>
                </a:solidFill>
                <a:latin typeface="맑은 고딕"/>
                <a:ea typeface="맑은 고딕"/>
                <a:cs typeface="맑은 고딕"/>
              </a:rPr>
              <a:t>// 고각</a:t>
            </a:r>
          </a:p>
          <a:p>
            <a:pPr>
              <a:lnSpc>
                <a:spcPts val="900"/>
              </a:lnSpc>
            </a:pPr>
            <a:r>
              <a:rPr sz="790" b="0">
                <a:solidFill>
                  <a:srgbClr val="AEB9CC"/>
                </a:solidFill>
                <a:latin typeface="Consolas"/>
                <a:ea typeface="Consolas"/>
                <a:cs typeface="Consolas"/>
              </a:rPr>
              <a:t>613  </a:t>
            </a:r>
            <a:r>
              <a:rPr sz="790" b="0">
                <a:solidFill>
                  <a:srgbClr val="1B2740"/>
                </a:solidFill>
                <a:latin typeface="Consolas"/>
                <a:ea typeface="Consolas"/>
                <a:cs typeface="Consolas"/>
              </a:rPr>
              <a:t>  st_Att.Roll  = st_Msg-&gt;st_Platform.Pf_Roll;  </a:t>
            </a:r>
            <a:r>
              <a:rPr sz="790" b="0">
                <a:solidFill>
                  <a:srgbClr val="059669"/>
                </a:solidFill>
                <a:latin typeface="맑은 고딕"/>
                <a:ea typeface="맑은 고딕"/>
                <a:cs typeface="맑은 고딕"/>
              </a:rPr>
              <a:t>// 플랫폼 자세</a:t>
            </a:r>
          </a:p>
          <a:p>
            <a:pPr>
              <a:lnSpc>
                <a:spcPts val="900"/>
              </a:lnSpc>
            </a:pPr>
            <a:r>
              <a:rPr sz="790" b="0">
                <a:solidFill>
                  <a:srgbClr val="AEB9CC"/>
                </a:solidFill>
                <a:latin typeface="Consolas"/>
                <a:ea typeface="Consolas"/>
                <a:cs typeface="Consolas"/>
              </a:rPr>
              <a:t>614  </a:t>
            </a:r>
            <a:r>
              <a:rPr sz="790" b="0">
                <a:solidFill>
                  <a:srgbClr val="1B2740"/>
                </a:solidFill>
                <a:latin typeface="Consolas"/>
                <a:ea typeface="Consolas"/>
                <a:cs typeface="Consolas"/>
              </a:rPr>
              <a:t>  st_Att.Pitch  = st_Msg-&gt;st_Platform.Pf_Pitch;</a:t>
            </a:r>
          </a:p>
          <a:p>
            <a:pPr>
              <a:lnSpc>
                <a:spcPts val="900"/>
              </a:lnSpc>
            </a:pPr>
            <a:r>
              <a:rPr sz="790" b="0">
                <a:solidFill>
                  <a:srgbClr val="AEB9CC"/>
                </a:solidFill>
                <a:latin typeface="Consolas"/>
                <a:ea typeface="Consolas"/>
                <a:cs typeface="Consolas"/>
              </a:rPr>
              <a:t>615  </a:t>
            </a:r>
            <a:r>
              <a:rPr sz="790" b="0">
                <a:solidFill>
                  <a:srgbClr val="1B2740"/>
                </a:solidFill>
                <a:latin typeface="Consolas"/>
                <a:ea typeface="Consolas"/>
                <a:cs typeface="Consolas"/>
              </a:rPr>
              <a:t>  st_Att.Yaw  = st_Msg-&gt;st_Platform.Pf_Yaw;</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617  </a:t>
            </a:r>
            <a:r>
              <a:rPr sz="790" b="0">
                <a:solidFill>
                  <a:srgbClr val="1B2740"/>
                </a:solidFill>
                <a:latin typeface="Consolas"/>
                <a:ea typeface="Consolas"/>
                <a:cs typeface="Consolas"/>
              </a:rPr>
              <a:t>  </a:t>
            </a:r>
            <a:r>
              <a:rPr sz="790" b="0">
                <a:solidFill>
                  <a:srgbClr val="2563EB"/>
                </a:solidFill>
                <a:latin typeface="Consolas"/>
                <a:ea typeface="Consolas"/>
                <a:cs typeface="Consolas"/>
              </a:rPr>
              <a:t>for</a:t>
            </a:r>
            <a:r>
              <a:rPr sz="790" b="0">
                <a:solidFill>
                  <a:srgbClr val="1B2740"/>
                </a:solidFill>
                <a:latin typeface="Consolas"/>
                <a:ea typeface="Consolas"/>
                <a:cs typeface="Consolas"/>
              </a:rPr>
              <a:t> (nPlot = </a:t>
            </a:r>
            <a:r>
              <a:rPr sz="790" b="0">
                <a:solidFill>
                  <a:srgbClr val="B45309"/>
                </a:solidFill>
                <a:latin typeface="Consolas"/>
                <a:ea typeface="Consolas"/>
                <a:cs typeface="Consolas"/>
              </a:rPr>
              <a:t>0</a:t>
            </a:r>
            <a:r>
              <a:rPr sz="790" b="0">
                <a:solidFill>
                  <a:srgbClr val="1B2740"/>
                </a:solidFill>
                <a:latin typeface="Consolas"/>
                <a:ea typeface="Consolas"/>
                <a:cs typeface="Consolas"/>
              </a:rPr>
              <a:t>; nPlot &lt; nPlotNum; nPlot++)  </a:t>
            </a:r>
            <a:r>
              <a:rPr sz="790" b="0">
                <a:solidFill>
                  <a:srgbClr val="059669"/>
                </a:solidFill>
                <a:latin typeface="맑은 고딕"/>
                <a:ea typeface="맑은 고딕"/>
                <a:cs typeface="맑은 고딕"/>
              </a:rPr>
              <a:t>// 플롯마다</a:t>
            </a:r>
          </a:p>
          <a:p>
            <a:pPr>
              <a:lnSpc>
                <a:spcPts val="900"/>
              </a:lnSpc>
            </a:pPr>
            <a:r>
              <a:rPr sz="790" b="0">
                <a:solidFill>
                  <a:srgbClr val="AEB9CC"/>
                </a:solidFill>
                <a:latin typeface="Consolas"/>
                <a:ea typeface="Consolas"/>
                <a:cs typeface="Consolas"/>
              </a:rPr>
              <a:t>618  </a:t>
            </a:r>
            <a:r>
              <a:rPr sz="790" b="0">
                <a:solidFill>
                  <a:srgbClr val="1B2740"/>
                </a:solidFill>
                <a:latin typeface="Consolas"/>
                <a:ea typeface="Consolas"/>
                <a:cs typeface="Consolas"/>
              </a:rPr>
              <a:t>  {</a:t>
            </a:r>
          </a:p>
          <a:p>
            <a:pPr>
              <a:lnSpc>
                <a:spcPts val="900"/>
              </a:lnSpc>
            </a:pPr>
            <a:r>
              <a:rPr sz="790" b="0">
                <a:solidFill>
                  <a:srgbClr val="AEB9CC"/>
                </a:solidFill>
                <a:latin typeface="Consolas"/>
                <a:ea typeface="Consolas"/>
                <a:cs typeface="Consolas"/>
              </a:rPr>
              <a:t>619  </a:t>
            </a:r>
            <a:r>
              <a:rPr sz="790" b="0">
                <a:solidFill>
                  <a:srgbClr val="1B2740"/>
                </a:solidFill>
                <a:latin typeface="Consolas"/>
                <a:ea typeface="Consolas"/>
                <a:cs typeface="Consolas"/>
              </a:rPr>
              <a:t>    st_Info = &amp;st_Msg-&gt;st_Plot[nPlot];  </a:t>
            </a:r>
            <a:r>
              <a:rPr sz="790" b="0">
                <a:solidFill>
                  <a:srgbClr val="059669"/>
                </a:solidFill>
                <a:latin typeface="맑은 고딕"/>
                <a:ea typeface="맑은 고딕"/>
                <a:cs typeface="맑은 고딕"/>
              </a:rPr>
              <a:t>// 받은 플롯</a:t>
            </a:r>
          </a:p>
          <a:p>
            <a:pPr>
              <a:lnSpc>
                <a:spcPts val="900"/>
              </a:lnSpc>
            </a:pPr>
            <a:r>
              <a:rPr sz="790" b="0">
                <a:solidFill>
                  <a:srgbClr val="AEB9CC"/>
                </a:solidFill>
                <a:latin typeface="Consolas"/>
                <a:ea typeface="Consolas"/>
                <a:cs typeface="Consolas"/>
              </a:rPr>
              <a:t>620  </a:t>
            </a:r>
            <a:r>
              <a:rPr sz="790" b="0">
                <a:solidFill>
                  <a:srgbClr val="1B2740"/>
                </a:solidFill>
                <a:latin typeface="Consolas"/>
                <a:ea typeface="Consolas"/>
                <a:cs typeface="Consolas"/>
              </a:rPr>
              <a:t>    f_Lnk_FillPlotCoord(st_Info, &amp;st_Msg-&gt;st_Platform);  </a:t>
            </a:r>
            <a:r>
              <a:rPr sz="790" b="0">
                <a:solidFill>
                  <a:srgbClr val="059669"/>
                </a:solidFill>
                <a:latin typeface="맑은 고딕"/>
                <a:ea typeface="맑은 고딕"/>
                <a:cs typeface="맑은 고딕"/>
              </a:rPr>
              <a:t>// 좌표 변환 (아래 세 줄)</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628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0</a:t>
            </a:r>
            <a:r>
              <a:rPr sz="790" b="0">
                <a:solidFill>
                  <a:srgbClr val="1B2740"/>
                </a:solidFill>
                <a:latin typeface="Consolas"/>
                <a:ea typeface="Consolas"/>
                <a:cs typeface="Consolas"/>
              </a:rPr>
              <a:t>]  = st_Info-&gt;X_VcNed;  </a:t>
            </a:r>
            <a:r>
              <a:rPr sz="790" b="0">
                <a:solidFill>
                  <a:srgbClr val="059669"/>
                </a:solidFill>
                <a:latin typeface="맑은 고딕"/>
                <a:ea typeface="맑은 고딕"/>
                <a:cs typeface="맑은 고딕"/>
              </a:rPr>
              <a:t>// 북</a:t>
            </a:r>
          </a:p>
          <a:p>
            <a:pPr>
              <a:lnSpc>
                <a:spcPts val="900"/>
              </a:lnSpc>
            </a:pPr>
            <a:r>
              <a:rPr sz="790" b="0">
                <a:solidFill>
                  <a:srgbClr val="AEB9CC"/>
                </a:solidFill>
                <a:latin typeface="Consolas"/>
                <a:ea typeface="Consolas"/>
                <a:cs typeface="Consolas"/>
              </a:rPr>
              <a:t>629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1</a:t>
            </a:r>
            <a:r>
              <a:rPr sz="790" b="0">
                <a:solidFill>
                  <a:srgbClr val="1B2740"/>
                </a:solidFill>
                <a:latin typeface="Consolas"/>
                <a:ea typeface="Consolas"/>
                <a:cs typeface="Consolas"/>
              </a:rPr>
              <a:t>]  = st_Info-&gt;Y_VcNed;  </a:t>
            </a:r>
            <a:r>
              <a:rPr sz="790" b="0">
                <a:solidFill>
                  <a:srgbClr val="059669"/>
                </a:solidFill>
                <a:latin typeface="맑은 고딕"/>
                <a:ea typeface="맑은 고딕"/>
                <a:cs typeface="맑은 고딕"/>
              </a:rPr>
              <a:t>// 동</a:t>
            </a:r>
          </a:p>
          <a:p>
            <a:pPr>
              <a:lnSpc>
                <a:spcPts val="900"/>
              </a:lnSpc>
            </a:pPr>
            <a:r>
              <a:rPr sz="790" b="0">
                <a:solidFill>
                  <a:srgbClr val="AEB9CC"/>
                </a:solidFill>
                <a:latin typeface="Consolas"/>
                <a:ea typeface="Consolas"/>
                <a:cs typeface="Consolas"/>
              </a:rPr>
              <a:t>630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2</a:t>
            </a:r>
            <a:r>
              <a:rPr sz="790" b="0">
                <a:solidFill>
                  <a:srgbClr val="1B2740"/>
                </a:solidFill>
                <a:latin typeface="Consolas"/>
                <a:ea typeface="Consolas"/>
                <a:cs typeface="Consolas"/>
              </a:rPr>
              <a:t>]  = st_Info-&gt;Z_VcNed;  </a:t>
            </a:r>
            <a:r>
              <a:rPr sz="790" b="0">
                <a:solidFill>
                  <a:srgbClr val="059669"/>
                </a:solidFill>
                <a:latin typeface="맑은 고딕"/>
                <a:ea typeface="맑은 고딕"/>
                <a:cs typeface="맑은 고딕"/>
              </a:rPr>
              <a:t>// 아래</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632  </a:t>
            </a:r>
            <a:r>
              <a:rPr sz="790" b="0">
                <a:solidFill>
                  <a:srgbClr val="1B2740"/>
                </a:solidFill>
                <a:latin typeface="Consolas"/>
                <a:ea typeface="Consolas"/>
                <a:cs typeface="Consolas"/>
              </a:rPr>
              <a:t>    f_Trk_MeasCov(st_Plot[nPlot].cov, &amp;st_Meas, &amp;st_Sigma, &amp;st_Att);  </a:t>
            </a:r>
            <a:r>
              <a:rPr sz="790" b="0">
                <a:solidFill>
                  <a:srgbClr val="059669"/>
                </a:solidFill>
                <a:latin typeface="맑은 고딕"/>
                <a:ea typeface="맑은 고딕"/>
                <a:cs typeface="맑은 고딕"/>
              </a:rPr>
              <a:t>// 측정 공분산 R (1.5)</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643  </a:t>
            </a:r>
            <a:r>
              <a:rPr sz="790" b="0">
                <a:solidFill>
                  <a:srgbClr val="1B2740"/>
                </a:solidFill>
                <a:latin typeface="Consolas"/>
                <a:ea typeface="Consolas"/>
                <a:cs typeface="Consolas"/>
              </a:rPr>
              <a:t>    f_Trk_MoveOrigin(&amp;s_Link.st_Table, shift);  </a:t>
            </a:r>
            <a:r>
              <a:rPr sz="790" b="0">
                <a:solidFill>
                  <a:srgbClr val="059669"/>
                </a:solidFill>
                <a:latin typeface="맑은 고딕"/>
                <a:ea typeface="맑은 고딕"/>
                <a:cs typeface="맑은 고딕"/>
              </a:rPr>
              <a:t>// 앞 스캔 값을 이번 원점 기준으로</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649  </a:t>
            </a:r>
            <a:r>
              <a:rPr sz="790" b="0">
                <a:solidFill>
                  <a:srgbClr val="1B2740"/>
                </a:solidFill>
                <a:latin typeface="Consolas"/>
                <a:ea typeface="Consolas"/>
                <a:cs typeface="Consolas"/>
              </a:rPr>
              <a:t>  f_Trk_ProcessScan(&amp;s_Link.st_Table, st_Plot, nPlotNum, time, (</a:t>
            </a:r>
            <a:r>
              <a:rPr sz="790" b="0">
                <a:solidFill>
                  <a:srgbClr val="2563EB"/>
                </a:solidFill>
                <a:latin typeface="Consolas"/>
                <a:ea typeface="Consolas"/>
                <a:cs typeface="Consolas"/>
              </a:rPr>
              <a:t>INT32</a:t>
            </a:r>
            <a:r>
              <a:rPr sz="790" b="0">
                <a:solidFill>
                  <a:srgbClr val="1B2740"/>
                </a:solidFill>
                <a:latin typeface="Consolas"/>
                <a:ea typeface="Consolas"/>
                <a:cs typeface="Consolas"/>
              </a:rPr>
              <a:t>)st_Msg-&gt;ScanNum, &amp;st_Log);  </a:t>
            </a:r>
            <a:r>
              <a:rPr sz="790" b="0">
                <a:solidFill>
                  <a:srgbClr val="059669"/>
                </a:solidFill>
                <a:latin typeface="맑은 고딕"/>
                <a:ea typeface="맑은 고딕"/>
                <a:cs typeface="맑은 고딕"/>
              </a:rPr>
              <a:t>// 트랙 관리 + 개시</a:t>
            </a:r>
          </a:p>
        </p:txBody>
      </p:sp>
      <p:sp>
        <p:nvSpPr>
          <p:cNvPr id="27" name="TextBox 26"/>
          <p:cNvSpPr txBox="1"/>
          <p:nvPr/>
        </p:nvSpPr>
        <p:spPr>
          <a:xfrm>
            <a:off x="640080" y="5335524"/>
            <a:ext cx="717804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2  f_Lnk_FillPlotCoord 의 변환 세 줄</a:t>
            </a:r>
            <a:r>
              <a:rPr sz="950" b="0">
                <a:solidFill>
                  <a:srgbClr val="8794AC"/>
                </a:solidFill>
                <a:latin typeface="Consolas"/>
                <a:ea typeface="Consolas"/>
                <a:cs typeface="Consolas"/>
              </a:rPr>
              <a:t>    PlotLink.c</a:t>
            </a:r>
          </a:p>
        </p:txBody>
      </p:sp>
      <p:sp>
        <p:nvSpPr>
          <p:cNvPr id="28" name="Rectangle 27"/>
          <p:cNvSpPr/>
          <p:nvPr/>
        </p:nvSpPr>
        <p:spPr>
          <a:xfrm>
            <a:off x="640080" y="5591556"/>
            <a:ext cx="10908792" cy="507491"/>
          </a:xfrm>
          <a:prstGeom prst="rect">
            <a:avLst/>
          </a:prstGeom>
          <a:solidFill>
            <a:srgbClr val="FFFFFF"/>
          </a:solidFill>
          <a:ln w="9525">
            <a:solidFill>
              <a:srgbClr val="D2D9E5"/>
            </a:solidFill>
          </a:ln>
        </p:spPr>
        <p:txBody>
          <a:bodyPr rtlCol="0" anchor="ctr"/>
          <a:lstStyle/>
          <a:p>
            <a:pPr algn="ctr"/>
          </a:p>
        </p:txBody>
      </p:sp>
      <p:sp>
        <p:nvSpPr>
          <p:cNvPr id="29" name="TextBox 28"/>
          <p:cNvSpPr txBox="1"/>
          <p:nvPr/>
        </p:nvSpPr>
        <p:spPr>
          <a:xfrm>
            <a:off x="731519" y="5673852"/>
            <a:ext cx="10680192" cy="342899"/>
          </a:xfrm>
          <a:prstGeom prst="rect">
            <a:avLst/>
          </a:prstGeom>
          <a:noFill/>
        </p:spPr>
        <p:txBody>
          <a:bodyPr wrap="none" lIns="0" tIns="0" rIns="0" bIns="0" anchor="t">
            <a:spAutoFit/>
          </a:bodyPr>
          <a:lstStyle/>
          <a:p>
            <a:pPr>
              <a:lnSpc>
                <a:spcPts val="900"/>
              </a:lnSpc>
            </a:pPr>
            <a:r>
              <a:rPr sz="740" b="0">
                <a:solidFill>
                  <a:srgbClr val="AEB9CC"/>
                </a:solidFill>
                <a:latin typeface="Consolas"/>
                <a:ea typeface="Consolas"/>
                <a:cs typeface="Consolas"/>
              </a:rPr>
              <a:t>541  </a:t>
            </a:r>
            <a:r>
              <a:rPr sz="740" b="0">
                <a:solidFill>
                  <a:srgbClr val="1B2740"/>
                </a:solidFill>
                <a:latin typeface="Consolas"/>
                <a:ea typeface="Consolas"/>
                <a:cs typeface="Consolas"/>
              </a:rPr>
              <a:t>st_Ant  = f_Trans_Ant_Sph_To_XYZ(st_Info-&gt;Range_Ant, st_Info-&gt;Azimuth_Ant, st_Info-&gt;Elevation_Ant);  </a:t>
            </a:r>
            <a:r>
              <a:rPr sz="740" b="0">
                <a:solidFill>
                  <a:srgbClr val="059669"/>
                </a:solidFill>
                <a:latin typeface="맑은 고딕"/>
                <a:ea typeface="맑은 고딕"/>
                <a:cs typeface="맑은 고딕"/>
              </a:rPr>
              <a:t>// 구좌표 -&gt; 안테나 직교</a:t>
            </a:r>
          </a:p>
          <a:p>
            <a:pPr>
              <a:lnSpc>
                <a:spcPts val="900"/>
              </a:lnSpc>
            </a:pPr>
            <a:r>
              <a:rPr sz="740" b="0">
                <a:solidFill>
                  <a:srgbClr val="AEB9CC"/>
                </a:solidFill>
                <a:latin typeface="Consolas"/>
                <a:ea typeface="Consolas"/>
                <a:cs typeface="Consolas"/>
              </a:rPr>
              <a:t>542  </a:t>
            </a:r>
            <a:r>
              <a:rPr sz="740" b="0">
                <a:solidFill>
                  <a:srgbClr val="1B2740"/>
                </a:solidFill>
                <a:latin typeface="Consolas"/>
                <a:ea typeface="Consolas"/>
                <a:cs typeface="Consolas"/>
              </a:rPr>
              <a:t>st_Body  = f_Trans_Ant_To_Body(st_Ant.x, st_Ant.y, st_Ant.z);  </a:t>
            </a:r>
            <a:r>
              <a:rPr sz="740" b="0">
                <a:solidFill>
                  <a:srgbClr val="059669"/>
                </a:solidFill>
                <a:latin typeface="맑은 고딕"/>
                <a:ea typeface="맑은 고딕"/>
                <a:cs typeface="맑은 고딕"/>
              </a:rPr>
              <a:t>// 안테나 -&gt; 동체</a:t>
            </a:r>
          </a:p>
          <a:p>
            <a:pPr>
              <a:lnSpc>
                <a:spcPts val="900"/>
              </a:lnSpc>
            </a:pPr>
            <a:r>
              <a:rPr sz="740" b="0">
                <a:solidFill>
                  <a:srgbClr val="AEB9CC"/>
                </a:solidFill>
                <a:latin typeface="Consolas"/>
                <a:ea typeface="Consolas"/>
                <a:cs typeface="Consolas"/>
              </a:rPr>
              <a:t>543  </a:t>
            </a:r>
            <a:r>
              <a:rPr sz="740" b="0">
                <a:solidFill>
                  <a:srgbClr val="1B2740"/>
                </a:solidFill>
                <a:latin typeface="Consolas"/>
                <a:ea typeface="Consolas"/>
                <a:cs typeface="Consolas"/>
              </a:rPr>
              <a:t>st_Ned  = f_Trans_Body_To_Ned(st_Body.x, st_Body.y, st_Body.z, st_Platform-&gt;Pf_Roll, st_Platform-&gt;Pf_Yaw, st_Platform-&gt;Pf_Pitch);  </a:t>
            </a:r>
            <a:r>
              <a:rPr sz="740" b="0">
                <a:solidFill>
                  <a:srgbClr val="059669"/>
                </a:solidFill>
                <a:latin typeface="맑은 고딕"/>
                <a:ea typeface="맑은 고딕"/>
                <a:cs typeface="맑은 고딕"/>
              </a:rPr>
              <a:t>// 동체 -&gt; VC-NED (플랫폼 자세)</a:t>
            </a:r>
          </a:p>
        </p:txBody>
      </p:sp>
      <p:sp>
        <p:nvSpPr>
          <p:cNvPr id="30" name="Oval 29"/>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1" name="TextBox 30"/>
          <p:cNvSpPr txBox="1"/>
          <p:nvPr/>
        </p:nvSpPr>
        <p:spPr>
          <a:xfrm>
            <a:off x="8476488" y="226771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머리에서 꺼냄</a:t>
            </a:r>
          </a:p>
          <a:p>
            <a:pPr algn="l">
              <a:lnSpc>
                <a:spcPct val="108000"/>
              </a:lnSpc>
            </a:pPr>
            <a:r>
              <a:rPr sz="1000" b="0">
                <a:solidFill>
                  <a:srgbClr val="4A5A7A"/>
                </a:solidFill>
                <a:latin typeface="맑은 고딕"/>
                <a:ea typeface="맑은 고딕"/>
                <a:cs typeface="맑은 고딕"/>
              </a:rPr>
              <a:t>시각, 측정 표준편차, 플랫폼 자세</a:t>
            </a:r>
          </a:p>
        </p:txBody>
      </p:sp>
      <p:sp>
        <p:nvSpPr>
          <p:cNvPr id="32" name="Oval 31"/>
          <p:cNvSpPr/>
          <p:nvPr/>
        </p:nvSpPr>
        <p:spPr>
          <a:xfrm>
            <a:off x="8092440" y="288036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3" name="TextBox 32"/>
          <p:cNvSpPr txBox="1"/>
          <p:nvPr/>
        </p:nvSpPr>
        <p:spPr>
          <a:xfrm>
            <a:off x="8476488" y="286207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안테나 -&gt; 동체 -&gt; VC-NED</a:t>
            </a:r>
          </a:p>
          <a:p>
            <a:pPr algn="l">
              <a:lnSpc>
                <a:spcPct val="108000"/>
              </a:lnSpc>
            </a:pPr>
            <a:r>
              <a:rPr sz="1000" b="0">
                <a:solidFill>
                  <a:srgbClr val="4A5A7A"/>
                </a:solidFill>
                <a:latin typeface="맑은 고딕"/>
                <a:ea typeface="맑은 고딕"/>
                <a:cs typeface="맑은 고딕"/>
              </a:rPr>
              <a:t>아래 세 줄. 지난 과제의 좌표변환 함수 그대로</a:t>
            </a:r>
          </a:p>
        </p:txBody>
      </p:sp>
      <p:sp>
        <p:nvSpPr>
          <p:cNvPr id="34" name="Oval 33"/>
          <p:cNvSpPr/>
          <p:nvPr/>
        </p:nvSpPr>
        <p:spPr>
          <a:xfrm>
            <a:off x="8092440" y="347472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5" name="TextBox 34"/>
          <p:cNvSpPr txBox="1"/>
          <p:nvPr/>
        </p:nvSpPr>
        <p:spPr>
          <a:xfrm>
            <a:off x="8476488" y="345643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개시용 플롯</a:t>
            </a:r>
          </a:p>
          <a:p>
            <a:pPr algn="l">
              <a:lnSpc>
                <a:spcPct val="108000"/>
              </a:lnSpc>
            </a:pPr>
            <a:r>
              <a:rPr sz="1000" b="0">
                <a:solidFill>
                  <a:srgbClr val="4A5A7A"/>
                </a:solidFill>
                <a:latin typeface="맑은 고딕"/>
                <a:ea typeface="맑은 고딕"/>
                <a:cs typeface="맑은 고딕"/>
              </a:rPr>
              <a:t>위치는 VC-NED, 공분산은 f_Trk_MeasCov (1.5)</a:t>
            </a:r>
          </a:p>
        </p:txBody>
      </p:sp>
      <p:sp>
        <p:nvSpPr>
          <p:cNvPr id="36" name="Oval 35"/>
          <p:cNvSpPr/>
          <p:nvPr/>
        </p:nvSpPr>
        <p:spPr>
          <a:xfrm>
            <a:off x="8092440" y="406908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7" name="TextBox 36"/>
          <p:cNvSpPr txBox="1"/>
          <p:nvPr/>
        </p:nvSpPr>
        <p:spPr>
          <a:xfrm>
            <a:off x="8476488" y="405079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원점 옮기기</a:t>
            </a:r>
          </a:p>
          <a:p>
            <a:pPr algn="l">
              <a:lnSpc>
                <a:spcPct val="108000"/>
              </a:lnSpc>
            </a:pPr>
            <a:r>
              <a:rPr sz="1000" b="0">
                <a:solidFill>
                  <a:srgbClr val="4A5A7A"/>
                </a:solidFill>
                <a:latin typeface="맑은 고딕"/>
                <a:ea typeface="맑은 고딕"/>
                <a:cs typeface="맑은 고딕"/>
              </a:rPr>
              <a:t>플랫폼이 움직이면 앞 스캔 플롯 · 트랙을</a:t>
            </a:r>
          </a:p>
          <a:p>
            <a:pPr algn="l">
              <a:lnSpc>
                <a:spcPct val="108000"/>
              </a:lnSpc>
            </a:pPr>
            <a:r>
              <a:rPr sz="1000" b="0">
                <a:solidFill>
                  <a:srgbClr val="4A5A7A"/>
                </a:solidFill>
                <a:latin typeface="맑은 고딕"/>
                <a:ea typeface="맑은 고딕"/>
                <a:cs typeface="맑은 고딕"/>
              </a:rPr>
              <a:t>이번 스캔 VC-NED 로 (이번 시나리오는 정지, 0)</a:t>
            </a:r>
          </a:p>
        </p:txBody>
      </p:sp>
      <p:sp>
        <p:nvSpPr>
          <p:cNvPr id="38" name="Oval 37"/>
          <p:cNvSpPr/>
          <p:nvPr/>
        </p:nvSpPr>
        <p:spPr>
          <a:xfrm>
            <a:off x="8092440" y="489204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9" name="TextBox 38"/>
          <p:cNvSpPr txBox="1"/>
          <p:nvPr/>
        </p:nvSpPr>
        <p:spPr>
          <a:xfrm>
            <a:off x="8476488" y="487375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관리 + 2-Point 개시</a:t>
            </a:r>
          </a:p>
          <a:p>
            <a:pPr algn="l">
              <a:lnSpc>
                <a:spcPct val="108000"/>
              </a:lnSpc>
            </a:pPr>
            <a:r>
              <a:rPr sz="1000" b="0">
                <a:solidFill>
                  <a:srgbClr val="4A5A7A"/>
                </a:solidFill>
                <a:latin typeface="맑은 고딕"/>
                <a:ea typeface="맑은 고딕"/>
                <a:cs typeface="맑은 고딕"/>
              </a:rPr>
              <a:t>결과는 스캔 단위로 쌓아 두고 UI 가 가져감</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3.5 2-Point 개시: 쌍 고르기 (f_Trk_ProcessScan)</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먼저 있던 트랙을 Assigned_Flag 0 으로 판정하고, 앞 스캔 플롯과 이번 스캔 플롯의 모든 쌍 가운데 게이트를 통과한 가장 느린 쌍부터 트랙으로 만듭니다.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3-1 · 3-3</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936491"/>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2311603"/>
            <a:ext cx="7123176" cy="228600"/>
          </a:xfrm>
          <a:prstGeom prst="rect">
            <a:avLst/>
          </a:prstGeom>
          <a:solidFill>
            <a:srgbClr val="FDEEEE"/>
          </a:solidFill>
          <a:ln>
            <a:noFill/>
          </a:ln>
        </p:spPr>
        <p:txBody>
          <a:bodyPr rtlCol="0" anchor="ctr"/>
          <a:lstStyle/>
          <a:p>
            <a:pPr algn="ctr"/>
          </a:p>
        </p:txBody>
      </p:sp>
      <p:sp>
        <p:nvSpPr>
          <p:cNvPr id="10" name="Rectangle 9"/>
          <p:cNvSpPr/>
          <p:nvPr/>
        </p:nvSpPr>
        <p:spPr>
          <a:xfrm>
            <a:off x="667512" y="2311603"/>
            <a:ext cx="36576" cy="228600"/>
          </a:xfrm>
          <a:prstGeom prst="rect">
            <a:avLst/>
          </a:prstGeom>
          <a:solidFill>
            <a:srgbClr val="DC2626"/>
          </a:solidFill>
          <a:ln>
            <a:noFill/>
          </a:ln>
        </p:spPr>
        <p:txBody>
          <a:bodyPr rtlCol="0" anchor="ctr"/>
          <a:lstStyle/>
          <a:p>
            <a:pPr algn="ctr"/>
          </a:p>
        </p:txBody>
      </p:sp>
      <p:sp>
        <p:nvSpPr>
          <p:cNvPr id="11" name="Oval 10"/>
          <p:cNvSpPr/>
          <p:nvPr/>
        </p:nvSpPr>
        <p:spPr>
          <a:xfrm>
            <a:off x="7717536" y="226816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2883103"/>
            <a:ext cx="7123176" cy="114300"/>
          </a:xfrm>
          <a:prstGeom prst="rect">
            <a:avLst/>
          </a:prstGeom>
          <a:solidFill>
            <a:srgbClr val="FEF3E2"/>
          </a:solidFill>
          <a:ln>
            <a:noFill/>
          </a:ln>
        </p:spPr>
        <p:txBody>
          <a:bodyPr rtlCol="0" anchor="ctr"/>
          <a:lstStyle/>
          <a:p>
            <a:pPr algn="ctr"/>
          </a:p>
        </p:txBody>
      </p:sp>
      <p:sp>
        <p:nvSpPr>
          <p:cNvPr id="13" name="Rectangle 12"/>
          <p:cNvSpPr/>
          <p:nvPr/>
        </p:nvSpPr>
        <p:spPr>
          <a:xfrm>
            <a:off x="667512" y="2883103"/>
            <a:ext cx="36576" cy="114300"/>
          </a:xfrm>
          <a:prstGeom prst="rect">
            <a:avLst/>
          </a:prstGeom>
          <a:solidFill>
            <a:srgbClr val="D97706"/>
          </a:solidFill>
          <a:ln>
            <a:noFill/>
          </a:ln>
        </p:spPr>
        <p:txBody>
          <a:bodyPr rtlCol="0" anchor="ctr"/>
          <a:lstStyle/>
          <a:p>
            <a:pPr algn="ctr"/>
          </a:p>
        </p:txBody>
      </p:sp>
      <p:sp>
        <p:nvSpPr>
          <p:cNvPr id="14" name="Oval 13"/>
          <p:cNvSpPr/>
          <p:nvPr/>
        </p:nvSpPr>
        <p:spPr>
          <a:xfrm>
            <a:off x="7717536" y="283966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Rectangle 14"/>
          <p:cNvSpPr/>
          <p:nvPr/>
        </p:nvSpPr>
        <p:spPr>
          <a:xfrm>
            <a:off x="667512" y="3111703"/>
            <a:ext cx="7123176" cy="1485900"/>
          </a:xfrm>
          <a:prstGeom prst="rect">
            <a:avLst/>
          </a:prstGeom>
          <a:solidFill>
            <a:srgbClr val="FEF3E2"/>
          </a:solidFill>
          <a:ln>
            <a:noFill/>
          </a:ln>
        </p:spPr>
        <p:txBody>
          <a:bodyPr rtlCol="0" anchor="ctr"/>
          <a:lstStyle/>
          <a:p>
            <a:pPr algn="ctr"/>
          </a:p>
        </p:txBody>
      </p:sp>
      <p:sp>
        <p:nvSpPr>
          <p:cNvPr id="16" name="Rectangle 15"/>
          <p:cNvSpPr/>
          <p:nvPr/>
        </p:nvSpPr>
        <p:spPr>
          <a:xfrm>
            <a:off x="667512" y="3111703"/>
            <a:ext cx="36576" cy="1485900"/>
          </a:xfrm>
          <a:prstGeom prst="rect">
            <a:avLst/>
          </a:prstGeom>
          <a:solidFill>
            <a:srgbClr val="D97706"/>
          </a:solidFill>
          <a:ln>
            <a:noFill/>
          </a:ln>
        </p:spPr>
        <p:txBody>
          <a:bodyPr rtlCol="0" anchor="ctr"/>
          <a:lstStyle/>
          <a:p>
            <a:pPr algn="ctr"/>
          </a:p>
        </p:txBody>
      </p:sp>
      <p:sp>
        <p:nvSpPr>
          <p:cNvPr id="17" name="Rectangle 16"/>
          <p:cNvSpPr/>
          <p:nvPr/>
        </p:nvSpPr>
        <p:spPr>
          <a:xfrm>
            <a:off x="667512" y="4711903"/>
            <a:ext cx="7123176" cy="228600"/>
          </a:xfrm>
          <a:prstGeom prst="rect">
            <a:avLst/>
          </a:prstGeom>
          <a:solidFill>
            <a:srgbClr val="E6F5EE"/>
          </a:solidFill>
          <a:ln>
            <a:noFill/>
          </a:ln>
        </p:spPr>
        <p:txBody>
          <a:bodyPr rtlCol="0" anchor="ctr"/>
          <a:lstStyle/>
          <a:p>
            <a:pPr algn="ctr"/>
          </a:p>
        </p:txBody>
      </p:sp>
      <p:sp>
        <p:nvSpPr>
          <p:cNvPr id="18" name="Rectangle 17"/>
          <p:cNvSpPr/>
          <p:nvPr/>
        </p:nvSpPr>
        <p:spPr>
          <a:xfrm>
            <a:off x="667512" y="4711903"/>
            <a:ext cx="36576" cy="228600"/>
          </a:xfrm>
          <a:prstGeom prst="rect">
            <a:avLst/>
          </a:prstGeom>
          <a:solidFill>
            <a:srgbClr val="059669"/>
          </a:solidFill>
          <a:ln>
            <a:noFill/>
          </a:ln>
        </p:spPr>
        <p:txBody>
          <a:bodyPr rtlCol="0" anchor="ctr"/>
          <a:lstStyle/>
          <a:p>
            <a:pPr algn="ctr"/>
          </a:p>
        </p:txBody>
      </p:sp>
      <p:sp>
        <p:nvSpPr>
          <p:cNvPr id="19" name="Oval 18"/>
          <p:cNvSpPr/>
          <p:nvPr/>
        </p:nvSpPr>
        <p:spPr>
          <a:xfrm>
            <a:off x="7717536" y="466846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0" name="Rectangle 19"/>
          <p:cNvSpPr/>
          <p:nvPr/>
        </p:nvSpPr>
        <p:spPr>
          <a:xfrm>
            <a:off x="667512" y="5054803"/>
            <a:ext cx="7123176" cy="114300"/>
          </a:xfrm>
          <a:prstGeom prst="rect">
            <a:avLst/>
          </a:prstGeom>
          <a:solidFill>
            <a:srgbClr val="EAF1FD"/>
          </a:solidFill>
          <a:ln>
            <a:noFill/>
          </a:ln>
        </p:spPr>
        <p:txBody>
          <a:bodyPr rtlCol="0" anchor="ctr"/>
          <a:lstStyle/>
          <a:p>
            <a:pPr algn="ctr"/>
          </a:p>
        </p:txBody>
      </p:sp>
      <p:sp>
        <p:nvSpPr>
          <p:cNvPr id="21" name="Rectangle 20"/>
          <p:cNvSpPr/>
          <p:nvPr/>
        </p:nvSpPr>
        <p:spPr>
          <a:xfrm>
            <a:off x="667512" y="5054803"/>
            <a:ext cx="36576" cy="114300"/>
          </a:xfrm>
          <a:prstGeom prst="rect">
            <a:avLst/>
          </a:prstGeom>
          <a:solidFill>
            <a:srgbClr val="2563EB"/>
          </a:solidFill>
          <a:ln>
            <a:noFill/>
          </a:ln>
        </p:spPr>
        <p:txBody>
          <a:bodyPr rtlCol="0" anchor="ctr"/>
          <a:lstStyle/>
          <a:p>
            <a:pPr algn="ctr"/>
          </a:p>
        </p:txBody>
      </p:sp>
      <p:sp>
        <p:nvSpPr>
          <p:cNvPr id="22" name="Oval 21"/>
          <p:cNvSpPr/>
          <p:nvPr/>
        </p:nvSpPr>
        <p:spPr>
          <a:xfrm>
            <a:off x="7717536" y="501136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3" name="Rectangle 22"/>
          <p:cNvSpPr/>
          <p:nvPr/>
        </p:nvSpPr>
        <p:spPr>
          <a:xfrm>
            <a:off x="667512" y="5283403"/>
            <a:ext cx="7123176" cy="114300"/>
          </a:xfrm>
          <a:prstGeom prst="rect">
            <a:avLst/>
          </a:prstGeom>
          <a:solidFill>
            <a:srgbClr val="F2ECFD"/>
          </a:solidFill>
          <a:ln>
            <a:noFill/>
          </a:ln>
        </p:spPr>
        <p:txBody>
          <a:bodyPr rtlCol="0" anchor="ctr"/>
          <a:lstStyle/>
          <a:p>
            <a:pPr algn="ctr"/>
          </a:p>
        </p:txBody>
      </p:sp>
      <p:sp>
        <p:nvSpPr>
          <p:cNvPr id="24" name="Rectangle 23"/>
          <p:cNvSpPr/>
          <p:nvPr/>
        </p:nvSpPr>
        <p:spPr>
          <a:xfrm>
            <a:off x="667512" y="5283403"/>
            <a:ext cx="36576" cy="114300"/>
          </a:xfrm>
          <a:prstGeom prst="rect">
            <a:avLst/>
          </a:prstGeom>
          <a:solidFill>
            <a:srgbClr val="7C3AED"/>
          </a:solidFill>
          <a:ln>
            <a:noFill/>
          </a:ln>
        </p:spPr>
        <p:txBody>
          <a:bodyPr rtlCol="0" anchor="ctr"/>
          <a:lstStyle/>
          <a:p>
            <a:pPr algn="ctr"/>
          </a:p>
        </p:txBody>
      </p:sp>
      <p:sp>
        <p:nvSpPr>
          <p:cNvPr id="25" name="Oval 24"/>
          <p:cNvSpPr/>
          <p:nvPr/>
        </p:nvSpPr>
        <p:spPr>
          <a:xfrm>
            <a:off x="7717536" y="523996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6" name="Rectangle 25"/>
          <p:cNvSpPr/>
          <p:nvPr/>
        </p:nvSpPr>
        <p:spPr>
          <a:xfrm>
            <a:off x="667512" y="5397703"/>
            <a:ext cx="7123176" cy="342900"/>
          </a:xfrm>
          <a:prstGeom prst="rect">
            <a:avLst/>
          </a:prstGeom>
          <a:solidFill>
            <a:srgbClr val="F2ECFD"/>
          </a:solidFill>
          <a:ln>
            <a:noFill/>
          </a:ln>
        </p:spPr>
        <p:txBody>
          <a:bodyPr rtlCol="0" anchor="ctr"/>
          <a:lstStyle/>
          <a:p>
            <a:pPr algn="ctr"/>
          </a:p>
        </p:txBody>
      </p:sp>
      <p:sp>
        <p:nvSpPr>
          <p:cNvPr id="27" name="Rectangle 26"/>
          <p:cNvSpPr/>
          <p:nvPr/>
        </p:nvSpPr>
        <p:spPr>
          <a:xfrm>
            <a:off x="667512" y="5397703"/>
            <a:ext cx="36576" cy="342900"/>
          </a:xfrm>
          <a:prstGeom prst="rect">
            <a:avLst/>
          </a:prstGeom>
          <a:solidFill>
            <a:srgbClr val="7C3AED"/>
          </a:solidFill>
          <a:ln>
            <a:noFill/>
          </a:ln>
        </p:spPr>
        <p:txBody>
          <a:bodyPr rtlCol="0" anchor="ctr"/>
          <a:lstStyle/>
          <a:p>
            <a:pPr algn="ctr"/>
          </a:p>
        </p:txBody>
      </p:sp>
      <p:sp>
        <p:nvSpPr>
          <p:cNvPr id="28" name="TextBox 27"/>
          <p:cNvSpPr txBox="1"/>
          <p:nvPr/>
        </p:nvSpPr>
        <p:spPr>
          <a:xfrm>
            <a:off x="731519" y="2322576"/>
            <a:ext cx="6949440" cy="37719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313  </a:t>
            </a:r>
            <a:r>
              <a:rPr sz="760" b="0">
                <a:solidFill>
                  <a:srgbClr val="1B2740"/>
                </a:solidFill>
                <a:latin typeface="Consolas"/>
                <a:ea typeface="Consolas"/>
                <a:cs typeface="Consolas"/>
              </a:rPr>
              <a:t>  st_Track-&gt;Assigned_Flag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기능이 없어 늘 실패 (과제 조건)</a:t>
            </a:r>
          </a:p>
          <a:p>
            <a:pPr>
              <a:lnSpc>
                <a:spcPts val="900"/>
              </a:lnSpc>
            </a:pPr>
            <a:r>
              <a:rPr sz="760" b="0">
                <a:solidFill>
                  <a:srgbClr val="AEB9CC"/>
                </a:solidFill>
                <a:latin typeface="Consolas"/>
                <a:ea typeface="Consolas"/>
                <a:cs typeface="Consolas"/>
              </a:rPr>
              <a:t>314  </a:t>
            </a:r>
            <a:r>
              <a:rPr sz="760" b="0">
                <a:solidFill>
                  <a:srgbClr val="1B2740"/>
                </a:solidFill>
                <a:latin typeface="Consolas"/>
                <a:ea typeface="Consolas"/>
                <a:cs typeface="Consolas"/>
              </a:rPr>
              <a:t>  f_Trk_UpdateState(st_Track);  </a:t>
            </a:r>
            <a:r>
              <a:rPr sz="760" b="0">
                <a:solidFill>
                  <a:srgbClr val="059669"/>
                </a:solidFill>
                <a:latin typeface="맑은 고딕"/>
                <a:ea typeface="맑은 고딕"/>
                <a:cs typeface="맑은 고딕"/>
              </a:rPr>
              <a:t>// 스코어로 상태 판정 (3.7)</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369  </a:t>
            </a:r>
            <a:r>
              <a:rPr sz="760" b="0">
                <a:solidFill>
                  <a:srgbClr val="1B2740"/>
                </a:solidFill>
                <a:latin typeface="Consolas"/>
                <a:ea typeface="Consolas"/>
                <a:cs typeface="Consolas"/>
              </a:rPr>
              <a:t>  </a:t>
            </a:r>
            <a:r>
              <a:rPr sz="760" b="0">
                <a:solidFill>
                  <a:srgbClr val="2563EB"/>
                </a:solidFill>
                <a:latin typeface="Consolas"/>
                <a:ea typeface="Consolas"/>
                <a:cs typeface="Consolas"/>
              </a:rPr>
              <a:t>while</a:t>
            </a:r>
            <a:r>
              <a:rPr sz="760" b="0">
                <a:solidFill>
                  <a:srgbClr val="1B2740"/>
                </a:solidFill>
                <a:latin typeface="Consolas"/>
                <a:ea typeface="Consolas"/>
                <a:cs typeface="Consolas"/>
              </a:rPr>
              <a:t> (isSearching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고를 쌍이 없을 때까지 반복</a:t>
            </a:r>
          </a:p>
          <a:p>
            <a:pPr>
              <a:lnSpc>
                <a:spcPts val="900"/>
              </a:lnSpc>
            </a:pPr>
            <a:r>
              <a:rPr sz="760" b="0">
                <a:solidFill>
                  <a:srgbClr val="AEB9CC"/>
                </a:solidFill>
                <a:latin typeface="Consolas"/>
                <a:ea typeface="Consolas"/>
                <a:cs typeface="Consolas"/>
              </a:rPr>
              <a:t>370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371  </a:t>
            </a:r>
            <a:r>
              <a:rPr sz="760" b="0">
                <a:solidFill>
                  <a:srgbClr val="1B2740"/>
                </a:solidFill>
                <a:latin typeface="Consolas"/>
                <a:ea typeface="Consolas"/>
                <a:cs typeface="Consolas"/>
              </a:rPr>
              <a:t>    bestSpeed  = </a:t>
            </a:r>
            <a:r>
              <a:rPr sz="760" b="0">
                <a:solidFill>
                  <a:srgbClr val="7C3AED"/>
                </a:solidFill>
                <a:latin typeface="Consolas"/>
                <a:ea typeface="Consolas"/>
                <a:cs typeface="Consolas"/>
              </a:rPr>
              <a:t>TRK_VMAX</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V_max 에서 시작 = 속도 게이트</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375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(nPrev = </a:t>
            </a:r>
            <a:r>
              <a:rPr sz="760" b="0">
                <a:solidFill>
                  <a:srgbClr val="B45309"/>
                </a:solidFill>
                <a:latin typeface="Consolas"/>
                <a:ea typeface="Consolas"/>
                <a:cs typeface="Consolas"/>
              </a:rPr>
              <a:t>0</a:t>
            </a:r>
            <a:r>
              <a:rPr sz="760" b="0">
                <a:solidFill>
                  <a:srgbClr val="1B2740"/>
                </a:solidFill>
                <a:latin typeface="Consolas"/>
                <a:ea typeface="Consolas"/>
                <a:cs typeface="Consolas"/>
              </a:rPr>
              <a:t>; nPrev &lt; st_Table-&gt;nPrevPlotNum; nPrev++)  </a:t>
            </a:r>
            <a:r>
              <a:rPr sz="760" b="0">
                <a:solidFill>
                  <a:srgbClr val="059669"/>
                </a:solidFill>
                <a:latin typeface="맑은 고딕"/>
                <a:ea typeface="맑은 고딕"/>
                <a:cs typeface="맑은 고딕"/>
              </a:rPr>
              <a:t>// 앞 스캔 플롯</a:t>
            </a:r>
          </a:p>
          <a:p>
            <a:pPr>
              <a:lnSpc>
                <a:spcPts val="900"/>
              </a:lnSpc>
            </a:pPr>
            <a:r>
              <a:rPr sz="760" b="0">
                <a:solidFill>
                  <a:srgbClr val="AEB9CC"/>
                </a:solidFill>
                <a:latin typeface="Consolas"/>
                <a:ea typeface="Consolas"/>
                <a:cs typeface="Consolas"/>
              </a:rPr>
              <a:t>376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377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(nCur = </a:t>
            </a:r>
            <a:r>
              <a:rPr sz="760" b="0">
                <a:solidFill>
                  <a:srgbClr val="B45309"/>
                </a:solidFill>
                <a:latin typeface="Consolas"/>
                <a:ea typeface="Consolas"/>
                <a:cs typeface="Consolas"/>
              </a:rPr>
              <a:t>0</a:t>
            </a:r>
            <a:r>
              <a:rPr sz="760" b="0">
                <a:solidFill>
                  <a:srgbClr val="1B2740"/>
                </a:solidFill>
                <a:latin typeface="Consolas"/>
                <a:ea typeface="Consolas"/>
                <a:cs typeface="Consolas"/>
              </a:rPr>
              <a:t>; nCur &lt; nCurNum; nCur++)  </a:t>
            </a:r>
            <a:r>
              <a:rPr sz="760" b="0">
                <a:solidFill>
                  <a:srgbClr val="059669"/>
                </a:solidFill>
                <a:latin typeface="맑은 고딕"/>
                <a:ea typeface="맑은 고딕"/>
                <a:cs typeface="맑은 고딕"/>
              </a:rPr>
              <a:t>// 이번 스캔 플롯 (모든 쌍)</a:t>
            </a:r>
          </a:p>
          <a:p>
            <a:pPr>
              <a:lnSpc>
                <a:spcPts val="900"/>
              </a:lnSpc>
            </a:pPr>
            <a:r>
              <a:rPr sz="760" b="0">
                <a:solidFill>
                  <a:srgbClr val="AEB9CC"/>
                </a:solidFill>
                <a:latin typeface="Consolas"/>
                <a:ea typeface="Consolas"/>
                <a:cs typeface="Consolas"/>
              </a:rPr>
              <a:t>378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379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((st_Table-&gt;st_PrevPlot[nPrev].isUsed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&amp;&amp; (st_Cur[nCur].isUsed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아직 안 쓴 플롯끼리만</a:t>
            </a:r>
          </a:p>
          <a:p>
            <a:pPr>
              <a:lnSpc>
                <a:spcPts val="900"/>
              </a:lnSpc>
            </a:pPr>
            <a:r>
              <a:rPr sz="760" b="0">
                <a:solidFill>
                  <a:srgbClr val="AEB9CC"/>
                </a:solidFill>
                <a:latin typeface="Consolas"/>
                <a:ea typeface="Consolas"/>
                <a:cs typeface="Consolas"/>
              </a:rPr>
              <a:t>380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381  </a:t>
            </a:r>
            <a:r>
              <a:rPr sz="760" b="0">
                <a:solidFill>
                  <a:srgbClr val="1B2740"/>
                </a:solidFill>
                <a:latin typeface="Consolas"/>
                <a:ea typeface="Consolas"/>
                <a:cs typeface="Consolas"/>
              </a:rPr>
              <a:t>          speed = f_Trk_PairSpeed(&amp;st_Table-&gt;st_PrevPlot[nPrev], &amp;st_Cur[nCur], dt);  </a:t>
            </a:r>
            <a:r>
              <a:rPr sz="760" b="0">
                <a:solidFill>
                  <a:srgbClr val="059669"/>
                </a:solidFill>
                <a:latin typeface="맑은 고딕"/>
                <a:ea typeface="맑은 고딕"/>
                <a:cs typeface="맑은 고딕"/>
              </a:rPr>
              <a:t>// |z_k - z_k-1| / T</a:t>
            </a:r>
          </a:p>
          <a:p>
            <a:pPr>
              <a:lnSpc>
                <a:spcPts val="900"/>
              </a:lnSpc>
            </a:pPr>
            <a:r>
              <a:rPr sz="760" b="0">
                <a:solidFill>
                  <a:srgbClr val="AEB9CC"/>
                </a:solidFill>
                <a:latin typeface="Consolas"/>
                <a:ea typeface="Consolas"/>
                <a:cs typeface="Consolas"/>
              </a:rPr>
              <a:t>382  </a:t>
            </a:r>
          </a:p>
          <a:p>
            <a:pPr>
              <a:lnSpc>
                <a:spcPts val="900"/>
              </a:lnSpc>
            </a:pPr>
            <a:r>
              <a:rPr sz="760" b="0">
                <a:solidFill>
                  <a:srgbClr val="AEB9CC"/>
                </a:solidFill>
                <a:latin typeface="Consolas"/>
                <a:ea typeface="Consolas"/>
                <a:cs typeface="Consolas"/>
              </a:rPr>
              <a:t>383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(speed &lt; bestSpeed)  </a:t>
            </a:r>
            <a:r>
              <a:rPr sz="760" b="0">
                <a:solidFill>
                  <a:srgbClr val="059669"/>
                </a:solidFill>
                <a:latin typeface="맑은 고딕"/>
                <a:ea typeface="맑은 고딕"/>
                <a:cs typeface="맑은 고딕"/>
              </a:rPr>
              <a:t>// 지금까지 가장 느린 쌍이면</a:t>
            </a:r>
          </a:p>
          <a:p>
            <a:pPr>
              <a:lnSpc>
                <a:spcPts val="900"/>
              </a:lnSpc>
            </a:pPr>
            <a:r>
              <a:rPr sz="760" b="0">
                <a:solidFill>
                  <a:srgbClr val="AEB9CC"/>
                </a:solidFill>
                <a:latin typeface="Consolas"/>
                <a:ea typeface="Consolas"/>
                <a:cs typeface="Consolas"/>
              </a:rPr>
              <a:t>384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385  </a:t>
            </a:r>
            <a:r>
              <a:rPr sz="760" b="0">
                <a:solidFill>
                  <a:srgbClr val="1B2740"/>
                </a:solidFill>
                <a:latin typeface="Consolas"/>
                <a:ea typeface="Consolas"/>
                <a:cs typeface="Consolas"/>
              </a:rPr>
              <a:t>            bestSpeed  = speed;  </a:t>
            </a:r>
            <a:r>
              <a:rPr sz="760" b="0">
                <a:solidFill>
                  <a:srgbClr val="059669"/>
                </a:solidFill>
                <a:latin typeface="맑은 고딕"/>
                <a:ea typeface="맑은 고딕"/>
                <a:cs typeface="맑은 고딕"/>
              </a:rPr>
              <a:t>// 그 쌍을 기억</a:t>
            </a:r>
          </a:p>
          <a:p>
            <a:pPr>
              <a:lnSpc>
                <a:spcPts val="900"/>
              </a:lnSpc>
            </a:pPr>
            <a:r>
              <a:rPr sz="760" b="0">
                <a:solidFill>
                  <a:srgbClr val="AEB9CC"/>
                </a:solidFill>
                <a:latin typeface="Consolas"/>
                <a:ea typeface="Consolas"/>
                <a:cs typeface="Consolas"/>
              </a:rPr>
              <a:t>386  </a:t>
            </a:r>
            <a:r>
              <a:rPr sz="760" b="0">
                <a:solidFill>
                  <a:srgbClr val="1B2740"/>
                </a:solidFill>
                <a:latin typeface="Consolas"/>
                <a:ea typeface="Consolas"/>
                <a:cs typeface="Consolas"/>
              </a:rPr>
              <a:t>            bestPrev  = nPrev;</a:t>
            </a:r>
          </a:p>
          <a:p>
            <a:pPr>
              <a:lnSpc>
                <a:spcPts val="900"/>
              </a:lnSpc>
            </a:pPr>
            <a:r>
              <a:rPr sz="760" b="0">
                <a:solidFill>
                  <a:srgbClr val="AEB9CC"/>
                </a:solidFill>
                <a:latin typeface="Consolas"/>
                <a:ea typeface="Consolas"/>
                <a:cs typeface="Consolas"/>
              </a:rPr>
              <a:t>387  </a:t>
            </a:r>
            <a:r>
              <a:rPr sz="760" b="0">
                <a:solidFill>
                  <a:srgbClr val="1B2740"/>
                </a:solidFill>
                <a:latin typeface="Consolas"/>
                <a:ea typeface="Consolas"/>
                <a:cs typeface="Consolas"/>
              </a:rPr>
              <a:t>            bestCur  = nCur;</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399  </a:t>
            </a:r>
            <a:r>
              <a:rPr sz="760" b="0">
                <a:solidFill>
                  <a:srgbClr val="1B2740"/>
                </a:solidFill>
                <a:latin typeface="Consolas"/>
                <a:ea typeface="Consolas"/>
                <a:cs typeface="Consolas"/>
              </a:rPr>
              <a:t>      st_Table-&gt;st_PrevPlot[bestPrev].isUsed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고른 두 플롯은 다시 쓰지 않음</a:t>
            </a:r>
          </a:p>
          <a:p>
            <a:pPr>
              <a:lnSpc>
                <a:spcPts val="900"/>
              </a:lnSpc>
            </a:pPr>
            <a:r>
              <a:rPr sz="760" b="0">
                <a:solidFill>
                  <a:srgbClr val="AEB9CC"/>
                </a:solidFill>
                <a:latin typeface="Consolas"/>
                <a:ea typeface="Consolas"/>
                <a:cs typeface="Consolas"/>
              </a:rPr>
              <a:t>400  </a:t>
            </a:r>
            <a:r>
              <a:rPr sz="760" b="0">
                <a:solidFill>
                  <a:srgbClr val="1B2740"/>
                </a:solidFill>
                <a:latin typeface="Consolas"/>
                <a:ea typeface="Consolas"/>
                <a:cs typeface="Consolas"/>
              </a:rPr>
              <a:t>      st_Cur[bestCur].isUsed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402  </a:t>
            </a:r>
            <a:r>
              <a:rPr sz="760" b="0">
                <a:solidFill>
                  <a:srgbClr val="1B2740"/>
                </a:solidFill>
                <a:latin typeface="Consolas"/>
                <a:ea typeface="Consolas"/>
                <a:cs typeface="Consolas"/>
              </a:rPr>
              <a:t>      newId = (st_Table-&gt;nTrackNum &lt; </a:t>
            </a:r>
            <a:r>
              <a:rPr sz="760" b="0">
                <a:solidFill>
                  <a:srgbClr val="7C3AED"/>
                </a:solidFill>
                <a:latin typeface="Consolas"/>
                <a:ea typeface="Consolas"/>
                <a:cs typeface="Consolas"/>
              </a:rPr>
              <a:t>TRK_MAX_TRACK</a:t>
            </a:r>
            <a:r>
              <a:rPr sz="760" b="0">
                <a:solidFill>
                  <a:srgbClr val="1B2740"/>
                </a:solidFill>
                <a:latin typeface="Consolas"/>
                <a:ea typeface="Consolas"/>
                <a:cs typeface="Consolas"/>
              </a:rPr>
              <a:t>) ? f_Trk_NewId(st_Table)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트랙 ID (100 ~ 10000)</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412  </a:t>
            </a:r>
            <a:r>
              <a:rPr sz="760" b="0">
                <a:solidFill>
                  <a:srgbClr val="1B2740"/>
                </a:solidFill>
                <a:latin typeface="Consolas"/>
                <a:ea typeface="Consolas"/>
                <a:cs typeface="Consolas"/>
              </a:rPr>
              <a:t>        f_Trk_TwoPointInit(st_Track, &amp;st_Table-&gt;st_PrevPlot[bestPrev], &amp;st_Cur[bestCur]);  </a:t>
            </a:r>
            <a:r>
              <a:rPr sz="760" b="0">
                <a:solidFill>
                  <a:srgbClr val="059669"/>
                </a:solidFill>
                <a:latin typeface="맑은 고딕"/>
                <a:ea typeface="맑은 고딕"/>
                <a:cs typeface="맑은 고딕"/>
              </a:rPr>
              <a:t>// 초기 상태변수 · 공분산 (3.6)</a:t>
            </a:r>
          </a:p>
          <a:p>
            <a:pPr>
              <a:lnSpc>
                <a:spcPts val="900"/>
              </a:lnSpc>
            </a:pPr>
            <a:r>
              <a:rPr sz="760" b="0">
                <a:solidFill>
                  <a:srgbClr val="AEB9CC"/>
                </a:solidFill>
                <a:latin typeface="Consolas"/>
                <a:ea typeface="Consolas"/>
                <a:cs typeface="Consolas"/>
              </a:rPr>
              <a:t>413  </a:t>
            </a:r>
            <a:r>
              <a:rPr sz="760" b="0">
                <a:solidFill>
                  <a:srgbClr val="1B2740"/>
                </a:solidFill>
                <a:latin typeface="Consolas"/>
                <a:ea typeface="Consolas"/>
                <a:cs typeface="Consolas"/>
              </a:rPr>
              <a:t>        st_Track-&gt;TrackId  = newId;</a:t>
            </a:r>
          </a:p>
          <a:p>
            <a:pPr>
              <a:lnSpc>
                <a:spcPts val="900"/>
              </a:lnSpc>
            </a:pPr>
            <a:r>
              <a:rPr sz="760" b="0">
                <a:solidFill>
                  <a:srgbClr val="AEB9CC"/>
                </a:solidFill>
                <a:latin typeface="Consolas"/>
                <a:ea typeface="Consolas"/>
                <a:cs typeface="Consolas"/>
              </a:rPr>
              <a:t>414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TRK_STATE_TENTATIVE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임시 트랙 (1)</a:t>
            </a:r>
          </a:p>
          <a:p>
            <a:pPr>
              <a:lnSpc>
                <a:spcPts val="900"/>
              </a:lnSpc>
            </a:pPr>
            <a:r>
              <a:rPr sz="760" b="0">
                <a:solidFill>
                  <a:srgbClr val="AEB9CC"/>
                </a:solidFill>
                <a:latin typeface="Consolas"/>
                <a:ea typeface="Consolas"/>
                <a:cs typeface="Consolas"/>
              </a:rPr>
              <a:t>415  </a:t>
            </a:r>
            <a:r>
              <a:rPr sz="760" b="0">
                <a:solidFill>
                  <a:srgbClr val="1B2740"/>
                </a:solidFill>
                <a:latin typeface="Consolas"/>
                <a:ea typeface="Consolas"/>
                <a:cs typeface="Consolas"/>
              </a:rPr>
              <a:t>        st_Track-&gt;TrackScore  = </a:t>
            </a:r>
            <a:r>
              <a:rPr sz="760" b="0">
                <a:solidFill>
                  <a:srgbClr val="7C3AED"/>
                </a:solidFill>
                <a:latin typeface="Consolas"/>
                <a:ea typeface="Consolas"/>
                <a:cs typeface="Consolas"/>
              </a:rPr>
              <a:t>TRK_SCORE_INIT</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개시 스코어 2</a:t>
            </a:r>
          </a:p>
          <a:p>
            <a:pPr>
              <a:lnSpc>
                <a:spcPts val="900"/>
              </a:lnSpc>
            </a:pPr>
            <a:r>
              <a:rPr sz="760" b="0">
                <a:solidFill>
                  <a:srgbClr val="AEB9CC"/>
                </a:solidFill>
                <a:latin typeface="Consolas"/>
                <a:ea typeface="Consolas"/>
                <a:cs typeface="Consolas"/>
              </a:rPr>
              <a:t>     </a:t>
            </a:r>
            <a:r>
              <a:rPr sz="760" b="0">
                <a:solidFill>
                  <a:srgbClr val="8794AC"/>
                </a:solidFill>
                <a:latin typeface="Consolas"/>
                <a:ea typeface="Consolas"/>
                <a:cs typeface="Consolas"/>
              </a:rPr>
              <a:t>...</a:t>
            </a:r>
          </a:p>
          <a:p>
            <a:pPr>
              <a:lnSpc>
                <a:spcPts val="900"/>
              </a:lnSpc>
            </a:pPr>
            <a:r>
              <a:rPr sz="760" b="0">
                <a:solidFill>
                  <a:srgbClr val="AEB9CC"/>
                </a:solidFill>
                <a:latin typeface="Consolas"/>
                <a:ea typeface="Consolas"/>
                <a:cs typeface="Consolas"/>
              </a:rPr>
              <a:t>420  </a:t>
            </a:r>
            <a:r>
              <a:rPr sz="760" b="0">
                <a:solidFill>
                  <a:srgbClr val="1B2740"/>
                </a:solidFill>
                <a:latin typeface="Consolas"/>
                <a:ea typeface="Consolas"/>
                <a:cs typeface="Consolas"/>
              </a:rPr>
              <a:t>        st_Track-&gt;PlotId[</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st_Table-&gt;st_PrevPlot[bestPrev].PlotId;  </a:t>
            </a:r>
            <a:r>
              <a:rPr sz="760" b="0">
                <a:solidFill>
                  <a:srgbClr val="059669"/>
                </a:solidFill>
                <a:latin typeface="맑은 고딕"/>
                <a:ea typeface="맑은 고딕"/>
                <a:cs typeface="맑은 고딕"/>
              </a:rPr>
              <a:t>// 개시에 쓴 플롯 ID</a:t>
            </a:r>
          </a:p>
          <a:p>
            <a:pPr>
              <a:lnSpc>
                <a:spcPts val="900"/>
              </a:lnSpc>
            </a:pPr>
            <a:r>
              <a:rPr sz="760" b="0">
                <a:solidFill>
                  <a:srgbClr val="AEB9CC"/>
                </a:solidFill>
                <a:latin typeface="Consolas"/>
                <a:ea typeface="Consolas"/>
                <a:cs typeface="Consolas"/>
              </a:rPr>
              <a:t>421  </a:t>
            </a:r>
            <a:r>
              <a:rPr sz="760" b="0">
                <a:solidFill>
                  <a:srgbClr val="1B2740"/>
                </a:solidFill>
                <a:latin typeface="Consolas"/>
                <a:ea typeface="Consolas"/>
                <a:cs typeface="Consolas"/>
              </a:rPr>
              <a:t>        st_Track-&gt;PlotId[</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st_Cur[bestCur].PlotId;</a:t>
            </a:r>
          </a:p>
        </p:txBody>
      </p:sp>
      <p:sp>
        <p:nvSpPr>
          <p:cNvPr id="29" name="Oval 28"/>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0" name="TextBox 29"/>
          <p:cNvSpPr txBox="1"/>
          <p:nvPr/>
        </p:nvSpPr>
        <p:spPr>
          <a:xfrm>
            <a:off x="8476488" y="226771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관리 먼저</a:t>
            </a:r>
          </a:p>
          <a:p>
            <a:pPr algn="l">
              <a:lnSpc>
                <a:spcPct val="108000"/>
              </a:lnSpc>
            </a:pPr>
            <a:r>
              <a:rPr sz="1000" b="0">
                <a:solidFill>
                  <a:srgbClr val="4A5A7A"/>
                </a:solidFill>
                <a:latin typeface="맑은 고딕"/>
                <a:ea typeface="맑은 고딕"/>
                <a:cs typeface="맑은 고딕"/>
              </a:rPr>
              <a:t>연관이 없어 모든 트랙 Assigned_Flag = 0</a:t>
            </a:r>
          </a:p>
          <a:p>
            <a:pPr algn="l">
              <a:lnSpc>
                <a:spcPct val="108000"/>
              </a:lnSpc>
            </a:pPr>
            <a:r>
              <a:rPr sz="1000" b="0">
                <a:solidFill>
                  <a:srgbClr val="4A5A7A"/>
                </a:solidFill>
                <a:latin typeface="맑은 고딕"/>
                <a:ea typeface="맑은 고딕"/>
                <a:cs typeface="맑은 고딕"/>
              </a:rPr>
              <a:t>f_Trk_UpdateState 로 판정 (3.7)</a:t>
            </a:r>
          </a:p>
        </p:txBody>
      </p:sp>
      <p:sp>
        <p:nvSpPr>
          <p:cNvPr id="31" name="Oval 30"/>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2" name="TextBox 31"/>
          <p:cNvSpPr txBox="1"/>
          <p:nvPr/>
        </p:nvSpPr>
        <p:spPr>
          <a:xfrm>
            <a:off x="8476488" y="313639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속도 게이트</a:t>
            </a:r>
          </a:p>
          <a:p>
            <a:pPr algn="l">
              <a:lnSpc>
                <a:spcPct val="108000"/>
              </a:lnSpc>
            </a:pPr>
            <a:r>
              <a:rPr sz="1000" b="0">
                <a:solidFill>
                  <a:srgbClr val="4A5A7A"/>
                </a:solidFill>
                <a:latin typeface="맑은 고딕"/>
                <a:ea typeface="맑은 고딕"/>
                <a:cs typeface="맑은 고딕"/>
              </a:rPr>
              <a:t>bestSpeed 를 V_max 로 시작하면</a:t>
            </a:r>
          </a:p>
          <a:p>
            <a:pPr algn="l">
              <a:lnSpc>
                <a:spcPct val="108000"/>
              </a:lnSpc>
            </a:pPr>
            <a:r>
              <a:rPr sz="1000" b="0">
                <a:solidFill>
                  <a:srgbClr val="4A5A7A"/>
                </a:solidFill>
                <a:latin typeface="맑은 고딕"/>
                <a:ea typeface="맑은 고딕"/>
                <a:cs typeface="맑은 고딕"/>
              </a:rPr>
              <a:t>800 m/s 이상인 쌍은 처음부터 후보가 안 됨</a:t>
            </a:r>
          </a:p>
        </p:txBody>
      </p:sp>
      <p:sp>
        <p:nvSpPr>
          <p:cNvPr id="33" name="Oval 32"/>
          <p:cNvSpPr/>
          <p:nvPr/>
        </p:nvSpPr>
        <p:spPr>
          <a:xfrm>
            <a:off x="80924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4" name="TextBox 33"/>
          <p:cNvSpPr txBox="1"/>
          <p:nvPr/>
        </p:nvSpPr>
        <p:spPr>
          <a:xfrm>
            <a:off x="8476488" y="400507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쓴 플롯 표시</a:t>
            </a:r>
          </a:p>
          <a:p>
            <a:pPr algn="l">
              <a:lnSpc>
                <a:spcPct val="108000"/>
              </a:lnSpc>
            </a:pPr>
            <a:r>
              <a:rPr sz="1000" b="0">
                <a:solidFill>
                  <a:srgbClr val="4A5A7A"/>
                </a:solidFill>
                <a:latin typeface="맑은 고딕"/>
                <a:ea typeface="맑은 고딕"/>
                <a:cs typeface="맑은 고딕"/>
              </a:rPr>
              <a:t>한 플롯은 한 쌍에만. 가장 느린 쌍부터 차례로</a:t>
            </a:r>
          </a:p>
        </p:txBody>
      </p:sp>
      <p:sp>
        <p:nvSpPr>
          <p:cNvPr id="35" name="Oval 34"/>
          <p:cNvSpPr/>
          <p:nvPr/>
        </p:nvSpPr>
        <p:spPr>
          <a:xfrm>
            <a:off x="8092440" y="461772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6" name="TextBox 35"/>
          <p:cNvSpPr txBox="1"/>
          <p:nvPr/>
        </p:nvSpPr>
        <p:spPr>
          <a:xfrm>
            <a:off x="8476488" y="459943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트랙 ID</a:t>
            </a:r>
          </a:p>
          <a:p>
            <a:pPr algn="l">
              <a:lnSpc>
                <a:spcPct val="108000"/>
              </a:lnSpc>
            </a:pPr>
            <a:r>
              <a:rPr sz="1000" b="0">
                <a:solidFill>
                  <a:srgbClr val="4A5A7A"/>
                </a:solidFill>
                <a:latin typeface="맑은 고딕"/>
                <a:ea typeface="맑은 고딕"/>
                <a:cs typeface="맑은 고딕"/>
              </a:rPr>
              <a:t>100 부터 차례로, 10000 다음은 100</a:t>
            </a:r>
          </a:p>
          <a:p>
            <a:pPr algn="l">
              <a:lnSpc>
                <a:spcPct val="108000"/>
              </a:lnSpc>
            </a:pPr>
            <a:r>
              <a:rPr sz="1000" b="0">
                <a:solidFill>
                  <a:srgbClr val="4A5A7A"/>
                </a:solidFill>
                <a:latin typeface="맑은 고딕"/>
                <a:ea typeface="맑은 고딕"/>
                <a:cs typeface="맑은 고딕"/>
              </a:rPr>
              <a:t>쓰는 중인 ID 는 건너뜀</a:t>
            </a:r>
          </a:p>
        </p:txBody>
      </p:sp>
      <p:sp>
        <p:nvSpPr>
          <p:cNvPr id="37" name="Oval 36"/>
          <p:cNvSpPr/>
          <p:nvPr/>
        </p:nvSpPr>
        <p:spPr>
          <a:xfrm>
            <a:off x="8092440" y="544068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8" name="TextBox 37"/>
          <p:cNvSpPr txBox="1"/>
          <p:nvPr/>
        </p:nvSpPr>
        <p:spPr>
          <a:xfrm>
            <a:off x="8476488" y="5422392"/>
            <a:ext cx="3072384" cy="475488"/>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초기화 (3.6)</a:t>
            </a:r>
          </a:p>
          <a:p>
            <a:pPr algn="l">
              <a:lnSpc>
                <a:spcPct val="108000"/>
              </a:lnSpc>
            </a:pPr>
            <a:r>
              <a:rPr sz="1000" b="0">
                <a:solidFill>
                  <a:srgbClr val="4A5A7A"/>
                </a:solidFill>
                <a:latin typeface="맑은 고딕"/>
                <a:ea typeface="맑은 고딕"/>
                <a:cs typeface="맑은 고딕"/>
              </a:rPr>
              <a:t>임시 (1), TrackScore 2, 개시 플롯 ID 2 개 기록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3.6 2-Point 초기화 (f_Trk_TwoPointInit)</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9 x 1 상태변수와 9 x 9 오차 공분산을 0 으로 만든 뒤, 축마다 위치 · 속도 칸만 채웁니다. 가속도 칸은 손대지 않아 0 으로 남습니다 (과제 조건).</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3-1</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Rectangle 7"/>
          <p:cNvSpPr/>
          <p:nvPr/>
        </p:nvSpPr>
        <p:spPr>
          <a:xfrm>
            <a:off x="640080" y="2240280"/>
            <a:ext cx="7178040" cy="3593592"/>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3327603"/>
            <a:ext cx="7123176" cy="254000"/>
          </a:xfrm>
          <a:prstGeom prst="rect">
            <a:avLst/>
          </a:prstGeom>
          <a:solidFill>
            <a:srgbClr val="FDEEEE"/>
          </a:solidFill>
          <a:ln>
            <a:noFill/>
          </a:ln>
        </p:spPr>
        <p:txBody>
          <a:bodyPr rtlCol="0" anchor="ctr"/>
          <a:lstStyle/>
          <a:p>
            <a:pPr algn="ctr"/>
          </a:p>
        </p:txBody>
      </p:sp>
      <p:sp>
        <p:nvSpPr>
          <p:cNvPr id="10" name="Rectangle 9"/>
          <p:cNvSpPr/>
          <p:nvPr/>
        </p:nvSpPr>
        <p:spPr>
          <a:xfrm>
            <a:off x="667512" y="3327603"/>
            <a:ext cx="36576" cy="254000"/>
          </a:xfrm>
          <a:prstGeom prst="rect">
            <a:avLst/>
          </a:prstGeom>
          <a:solidFill>
            <a:srgbClr val="DC2626"/>
          </a:solidFill>
          <a:ln>
            <a:noFill/>
          </a:ln>
        </p:spPr>
        <p:txBody>
          <a:bodyPr rtlCol="0" anchor="ctr"/>
          <a:lstStyle/>
          <a:p>
            <a:pPr algn="ctr"/>
          </a:p>
        </p:txBody>
      </p:sp>
      <p:sp>
        <p:nvSpPr>
          <p:cNvPr id="11" name="Oval 10"/>
          <p:cNvSpPr/>
          <p:nvPr/>
        </p:nvSpPr>
        <p:spPr>
          <a:xfrm>
            <a:off x="7717536" y="329051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3962603"/>
            <a:ext cx="7123176" cy="381000"/>
          </a:xfrm>
          <a:prstGeom prst="rect">
            <a:avLst/>
          </a:prstGeom>
          <a:solidFill>
            <a:srgbClr val="FEF3E2"/>
          </a:solidFill>
          <a:ln>
            <a:noFill/>
          </a:ln>
        </p:spPr>
        <p:txBody>
          <a:bodyPr rtlCol="0" anchor="ctr"/>
          <a:lstStyle/>
          <a:p>
            <a:pPr algn="ctr"/>
          </a:p>
        </p:txBody>
      </p:sp>
      <p:sp>
        <p:nvSpPr>
          <p:cNvPr id="13" name="Rectangle 12"/>
          <p:cNvSpPr/>
          <p:nvPr/>
        </p:nvSpPr>
        <p:spPr>
          <a:xfrm>
            <a:off x="667512" y="3962603"/>
            <a:ext cx="36576" cy="381000"/>
          </a:xfrm>
          <a:prstGeom prst="rect">
            <a:avLst/>
          </a:prstGeom>
          <a:solidFill>
            <a:srgbClr val="D97706"/>
          </a:solidFill>
          <a:ln>
            <a:noFill/>
          </a:ln>
        </p:spPr>
        <p:txBody>
          <a:bodyPr rtlCol="0" anchor="ctr"/>
          <a:lstStyle/>
          <a:p>
            <a:pPr algn="ctr"/>
          </a:p>
        </p:txBody>
      </p:sp>
      <p:sp>
        <p:nvSpPr>
          <p:cNvPr id="14" name="Oval 13"/>
          <p:cNvSpPr/>
          <p:nvPr/>
        </p:nvSpPr>
        <p:spPr>
          <a:xfrm>
            <a:off x="7717536" y="392551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Rectangle 14"/>
          <p:cNvSpPr/>
          <p:nvPr/>
        </p:nvSpPr>
        <p:spPr>
          <a:xfrm>
            <a:off x="667512" y="4724603"/>
            <a:ext cx="7123176" cy="635000"/>
          </a:xfrm>
          <a:prstGeom prst="rect">
            <a:avLst/>
          </a:prstGeom>
          <a:solidFill>
            <a:srgbClr val="E6F5EE"/>
          </a:solidFill>
          <a:ln>
            <a:noFill/>
          </a:ln>
        </p:spPr>
        <p:txBody>
          <a:bodyPr rtlCol="0" anchor="ctr"/>
          <a:lstStyle/>
          <a:p>
            <a:pPr algn="ctr"/>
          </a:p>
        </p:txBody>
      </p:sp>
      <p:sp>
        <p:nvSpPr>
          <p:cNvPr id="16" name="Rectangle 15"/>
          <p:cNvSpPr/>
          <p:nvPr/>
        </p:nvSpPr>
        <p:spPr>
          <a:xfrm>
            <a:off x="667512" y="4724603"/>
            <a:ext cx="36576" cy="635000"/>
          </a:xfrm>
          <a:prstGeom prst="rect">
            <a:avLst/>
          </a:prstGeom>
          <a:solidFill>
            <a:srgbClr val="059669"/>
          </a:solidFill>
          <a:ln>
            <a:noFill/>
          </a:ln>
        </p:spPr>
        <p:txBody>
          <a:bodyPr rtlCol="0" anchor="ctr"/>
          <a:lstStyle/>
          <a:p>
            <a:pPr algn="ctr"/>
          </a:p>
        </p:txBody>
      </p:sp>
      <p:sp>
        <p:nvSpPr>
          <p:cNvPr id="17" name="Oval 16"/>
          <p:cNvSpPr/>
          <p:nvPr/>
        </p:nvSpPr>
        <p:spPr>
          <a:xfrm>
            <a:off x="7717536" y="468751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8" name="TextBox 17"/>
          <p:cNvSpPr txBox="1"/>
          <p:nvPr/>
        </p:nvSpPr>
        <p:spPr>
          <a:xfrm>
            <a:off x="731519" y="2322576"/>
            <a:ext cx="6949440" cy="3429000"/>
          </a:xfrm>
          <a:prstGeom prst="rect">
            <a:avLst/>
          </a:prstGeom>
          <a:noFill/>
        </p:spPr>
        <p:txBody>
          <a:bodyPr wrap="none" lIns="0" tIns="0" rIns="0" bIns="0" anchor="t">
            <a:spAutoFit/>
          </a:bodyPr>
          <a:lstStyle/>
          <a:p>
            <a:pPr>
              <a:lnSpc>
                <a:spcPts val="1000"/>
              </a:lnSpc>
            </a:pPr>
            <a:r>
              <a:rPr sz="760" b="0">
                <a:solidFill>
                  <a:srgbClr val="AEB9CC"/>
                </a:solidFill>
                <a:latin typeface="Consolas"/>
                <a:ea typeface="Consolas"/>
                <a:cs typeface="Consolas"/>
              </a:rPr>
              <a:t>164  </a:t>
            </a:r>
            <a:r>
              <a:rPr sz="760" b="0">
                <a:solidFill>
                  <a:srgbClr val="2563EB"/>
                </a:solidFill>
                <a:latin typeface="Consolas"/>
                <a:ea typeface="Consolas"/>
                <a:cs typeface="Consolas"/>
              </a:rPr>
              <a:t>VOID</a:t>
            </a:r>
            <a:r>
              <a:rPr sz="760" b="0">
                <a:solidFill>
                  <a:srgbClr val="1B2740"/>
                </a:solidFill>
                <a:latin typeface="Consolas"/>
                <a:ea typeface="Consolas"/>
                <a:cs typeface="Consolas"/>
              </a:rPr>
              <a:t> f_Trk_TwoPointInit(</a:t>
            </a:r>
            <a:r>
              <a:rPr sz="760" b="0">
                <a:solidFill>
                  <a:srgbClr val="2563EB"/>
                </a:solidFill>
                <a:latin typeface="Consolas"/>
                <a:ea typeface="Consolas"/>
                <a:cs typeface="Consolas"/>
              </a:rPr>
              <a:t>ST_Track</a:t>
            </a:r>
            <a:r>
              <a:rPr sz="760" b="0">
                <a:solidFill>
                  <a:srgbClr val="1B2740"/>
                </a:solidFill>
                <a:latin typeface="Consolas"/>
                <a:ea typeface="Consolas"/>
                <a:cs typeface="Consolas"/>
              </a:rPr>
              <a:t> *st_Track,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ST_TrkPlot</a:t>
            </a:r>
            <a:r>
              <a:rPr sz="760" b="0">
                <a:solidFill>
                  <a:srgbClr val="1B2740"/>
                </a:solidFill>
                <a:latin typeface="Consolas"/>
                <a:ea typeface="Consolas"/>
                <a:cs typeface="Consolas"/>
              </a:rPr>
              <a:t> *st_Prev,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ST_TrkPlot</a:t>
            </a:r>
            <a:r>
              <a:rPr sz="760" b="0">
                <a:solidFill>
                  <a:srgbClr val="1B2740"/>
                </a:solidFill>
                <a:latin typeface="Consolas"/>
                <a:ea typeface="Consolas"/>
                <a:cs typeface="Consolas"/>
              </a:rPr>
              <a:t> *st_Cur)  </a:t>
            </a:r>
            <a:r>
              <a:rPr sz="760" b="0">
                <a:solidFill>
                  <a:srgbClr val="059669"/>
                </a:solidFill>
                <a:latin typeface="맑은 고딕"/>
                <a:ea typeface="맑은 고딕"/>
                <a:cs typeface="맑은 고딕"/>
              </a:rPr>
              <a:t>// 앞 플롯, 이번 플롯</a:t>
            </a:r>
          </a:p>
          <a:p>
            <a:pPr>
              <a:lnSpc>
                <a:spcPts val="1000"/>
              </a:lnSpc>
            </a:pPr>
            <a:r>
              <a:rPr sz="760" b="0">
                <a:solidFill>
                  <a:srgbClr val="AEB9CC"/>
                </a:solidFill>
                <a:latin typeface="Consolas"/>
                <a:ea typeface="Consolas"/>
                <a:cs typeface="Consolas"/>
              </a:rPr>
              <a:t>165  </a:t>
            </a:r>
            <a:r>
              <a:rPr sz="760" b="0">
                <a:solidFill>
                  <a:srgbClr val="1B2740"/>
                </a:solidFill>
                <a:latin typeface="Consolas"/>
                <a:ea typeface="Consolas"/>
                <a:cs typeface="Consolas"/>
              </a:rPr>
              <a:t>{</a:t>
            </a:r>
          </a:p>
          <a:p>
            <a:pPr>
              <a:lnSpc>
                <a:spcPts val="1000"/>
              </a:lnSpc>
            </a:pPr>
            <a:r>
              <a:rPr sz="760" b="0">
                <a:solidFill>
                  <a:srgbClr val="AEB9CC"/>
                </a:solidFill>
                <a:latin typeface="Consolas"/>
                <a:ea typeface="Consolas"/>
                <a:cs typeface="Consolas"/>
              </a:rPr>
              <a:t>166  </a:t>
            </a:r>
            <a:r>
              <a:rPr sz="760" b="0">
                <a:solidFill>
                  <a:srgbClr val="1B2740"/>
                </a:solidFill>
                <a:latin typeface="Consolas"/>
                <a:ea typeface="Consolas"/>
                <a:cs typeface="Consolas"/>
              </a:rPr>
              <a:t>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FLOAT64</a:t>
            </a:r>
            <a:r>
              <a:rPr sz="760" b="0">
                <a:solidFill>
                  <a:srgbClr val="1B2740"/>
                </a:solidFill>
                <a:latin typeface="Consolas"/>
                <a:ea typeface="Consolas"/>
                <a:cs typeface="Consolas"/>
              </a:rPr>
              <a:t>  dt = st_Cur-&gt;time - st_Prev-&gt;time;  </a:t>
            </a:r>
            <a:r>
              <a:rPr sz="760" b="0">
                <a:solidFill>
                  <a:srgbClr val="059669"/>
                </a:solidFill>
                <a:latin typeface="맑은 고딕"/>
                <a:ea typeface="맑은 고딕"/>
                <a:cs typeface="맑은 고딕"/>
              </a:rPr>
              <a:t>// 스캔 간격 T [s]</a:t>
            </a:r>
          </a:p>
          <a:p>
            <a:pPr>
              <a:lnSpc>
                <a:spcPts val="1000"/>
              </a:lnSpc>
            </a:pPr>
            <a:r>
              <a:rPr sz="760" b="0">
                <a:solidFill>
                  <a:srgbClr val="AEB9CC"/>
                </a:solidFill>
                <a:latin typeface="Consolas"/>
                <a:ea typeface="Consolas"/>
                <a:cs typeface="Consolas"/>
              </a:rPr>
              <a:t>167  </a:t>
            </a:r>
            <a:r>
              <a:rPr sz="760" b="0">
                <a:solidFill>
                  <a:srgbClr val="1B2740"/>
                </a:solidFill>
                <a:latin typeface="Consolas"/>
                <a:ea typeface="Consolas"/>
                <a:cs typeface="Consolas"/>
              </a:rPr>
              <a:t>  </a:t>
            </a:r>
            <a:r>
              <a:rPr sz="760" b="0">
                <a:solidFill>
                  <a:srgbClr val="2563EB"/>
                </a:solidFill>
                <a:latin typeface="Consolas"/>
                <a:ea typeface="Consolas"/>
                <a:cs typeface="Consolas"/>
              </a:rPr>
              <a:t>matrix</a:t>
            </a:r>
            <a:r>
              <a:rPr sz="760" b="0">
                <a:solidFill>
                  <a:srgbClr val="1B2740"/>
                </a:solidFill>
                <a:latin typeface="Consolas"/>
                <a:ea typeface="Consolas"/>
                <a:cs typeface="Consolas"/>
              </a:rPr>
              <a:t>  *st_X = &amp;st_Track-&gt;mat_EstX;  </a:t>
            </a:r>
            <a:r>
              <a:rPr sz="760" b="0">
                <a:solidFill>
                  <a:srgbClr val="059669"/>
                </a:solidFill>
                <a:latin typeface="맑은 고딕"/>
                <a:ea typeface="맑은 고딕"/>
                <a:cs typeface="맑은 고딕"/>
              </a:rPr>
              <a:t>// 상태변수 X (9 x 1)</a:t>
            </a:r>
          </a:p>
          <a:p>
            <a:pPr>
              <a:lnSpc>
                <a:spcPts val="1000"/>
              </a:lnSpc>
            </a:pPr>
            <a:r>
              <a:rPr sz="760" b="0">
                <a:solidFill>
                  <a:srgbClr val="AEB9CC"/>
                </a:solidFill>
                <a:latin typeface="Consolas"/>
                <a:ea typeface="Consolas"/>
                <a:cs typeface="Consolas"/>
              </a:rPr>
              <a:t>168  </a:t>
            </a:r>
            <a:r>
              <a:rPr sz="760" b="0">
                <a:solidFill>
                  <a:srgbClr val="1B2740"/>
                </a:solidFill>
                <a:latin typeface="Consolas"/>
                <a:ea typeface="Consolas"/>
                <a:cs typeface="Consolas"/>
              </a:rPr>
              <a:t>  </a:t>
            </a:r>
            <a:r>
              <a:rPr sz="760" b="0">
                <a:solidFill>
                  <a:srgbClr val="2563EB"/>
                </a:solidFill>
                <a:latin typeface="Consolas"/>
                <a:ea typeface="Consolas"/>
                <a:cs typeface="Consolas"/>
              </a:rPr>
              <a:t>matrix</a:t>
            </a:r>
            <a:r>
              <a:rPr sz="760" b="0">
                <a:solidFill>
                  <a:srgbClr val="1B2740"/>
                </a:solidFill>
                <a:latin typeface="Consolas"/>
                <a:ea typeface="Consolas"/>
                <a:cs typeface="Consolas"/>
              </a:rPr>
              <a:t>  *st_P = &amp;st_Track-&gt;mat_EstP;  </a:t>
            </a:r>
            <a:r>
              <a:rPr sz="760" b="0">
                <a:solidFill>
                  <a:srgbClr val="059669"/>
                </a:solidFill>
                <a:latin typeface="맑은 고딕"/>
                <a:ea typeface="맑은 고딕"/>
                <a:cs typeface="맑은 고딕"/>
              </a:rPr>
              <a:t>// 오차 공분산 P (9 x 9)</a:t>
            </a:r>
          </a:p>
          <a:p>
            <a:pPr>
              <a:lnSpc>
                <a:spcPts val="1000"/>
              </a:lnSpc>
            </a:pPr>
            <a:r>
              <a:rPr sz="760" b="0">
                <a:solidFill>
                  <a:srgbClr val="AEB9CC"/>
                </a:solidFill>
                <a:latin typeface="Consolas"/>
                <a:ea typeface="Consolas"/>
                <a:cs typeface="Consolas"/>
              </a:rPr>
              <a:t>169  </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nAxis;  </a:t>
            </a:r>
            <a:r>
              <a:rPr sz="760" b="0">
                <a:solidFill>
                  <a:srgbClr val="059669"/>
                </a:solidFill>
                <a:latin typeface="맑은 고딕"/>
                <a:ea typeface="맑은 고딕"/>
                <a:cs typeface="맑은 고딕"/>
              </a:rPr>
              <a:t>// 축 a</a:t>
            </a:r>
          </a:p>
          <a:p>
            <a:pPr>
              <a:lnSpc>
                <a:spcPts val="1000"/>
              </a:lnSpc>
            </a:pPr>
            <a:r>
              <a:rPr sz="760" b="0">
                <a:solidFill>
                  <a:srgbClr val="AEB9CC"/>
                </a:solidFill>
                <a:latin typeface="Consolas"/>
                <a:ea typeface="Consolas"/>
                <a:cs typeface="Consolas"/>
              </a:rPr>
              <a:t>170  </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nAxisB;  </a:t>
            </a:r>
            <a:r>
              <a:rPr sz="760" b="0">
                <a:solidFill>
                  <a:srgbClr val="059669"/>
                </a:solidFill>
                <a:latin typeface="맑은 고딕"/>
                <a:ea typeface="맑은 고딕"/>
                <a:cs typeface="맑은 고딕"/>
              </a:rPr>
              <a:t>// 축 b</a:t>
            </a:r>
          </a:p>
          <a:p>
            <a:pPr>
              <a:lnSpc>
                <a:spcPts val="1000"/>
              </a:lnSpc>
            </a:pPr>
            <a:r>
              <a:rPr sz="760" b="0">
                <a:solidFill>
                  <a:srgbClr val="AEB9CC"/>
                </a:solidFill>
                <a:latin typeface="Consolas"/>
                <a:ea typeface="Consolas"/>
                <a:cs typeface="Consolas"/>
              </a:rPr>
              <a:t>171  </a:t>
            </a:r>
          </a:p>
          <a:p>
            <a:pPr>
              <a:lnSpc>
                <a:spcPts val="1000"/>
              </a:lnSpc>
            </a:pPr>
            <a:r>
              <a:rPr sz="760" b="0">
                <a:solidFill>
                  <a:srgbClr val="AEB9CC"/>
                </a:solidFill>
                <a:latin typeface="Consolas"/>
                <a:ea typeface="Consolas"/>
                <a:cs typeface="Consolas"/>
              </a:rPr>
              <a:t>172  </a:t>
            </a:r>
            <a:r>
              <a:rPr sz="760" b="0">
                <a:solidFill>
                  <a:srgbClr val="1B2740"/>
                </a:solidFill>
                <a:latin typeface="Consolas"/>
                <a:ea typeface="Consolas"/>
                <a:cs typeface="Consolas"/>
              </a:rPr>
              <a:t>  Matrix_initialize(st_X,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9 x 1, 모두 0</a:t>
            </a:r>
          </a:p>
          <a:p>
            <a:pPr>
              <a:lnSpc>
                <a:spcPts val="1000"/>
              </a:lnSpc>
            </a:pPr>
            <a:r>
              <a:rPr sz="760" b="0">
                <a:solidFill>
                  <a:srgbClr val="AEB9CC"/>
                </a:solidFill>
                <a:latin typeface="Consolas"/>
                <a:ea typeface="Consolas"/>
                <a:cs typeface="Consolas"/>
              </a:rPr>
              <a:t>173  </a:t>
            </a:r>
            <a:r>
              <a:rPr sz="760" b="0">
                <a:solidFill>
                  <a:srgbClr val="1B2740"/>
                </a:solidFill>
                <a:latin typeface="Consolas"/>
                <a:ea typeface="Consolas"/>
                <a:cs typeface="Consolas"/>
              </a:rPr>
              <a:t>  Matrix_initialize(st_P,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9 x 9, 모두 0</a:t>
            </a:r>
          </a:p>
          <a:p>
            <a:pPr>
              <a:lnSpc>
                <a:spcPts val="1000"/>
              </a:lnSpc>
            </a:pPr>
            <a:r>
              <a:rPr sz="760" b="0">
                <a:solidFill>
                  <a:srgbClr val="AEB9CC"/>
                </a:solidFill>
                <a:latin typeface="Consolas"/>
                <a:ea typeface="Consolas"/>
                <a:cs typeface="Consolas"/>
              </a:rPr>
              <a:t>174  </a:t>
            </a:r>
          </a:p>
          <a:p>
            <a:pPr>
              <a:lnSpc>
                <a:spcPts val="1000"/>
              </a:lnSpc>
            </a:pPr>
            <a:r>
              <a:rPr sz="760" b="0">
                <a:solidFill>
                  <a:srgbClr val="AEB9CC"/>
                </a:solidFill>
                <a:latin typeface="Consolas"/>
                <a:ea typeface="Consolas"/>
                <a:cs typeface="Consolas"/>
              </a:rPr>
              <a:t>175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(nAxis = </a:t>
            </a:r>
            <a:r>
              <a:rPr sz="760" b="0">
                <a:solidFill>
                  <a:srgbClr val="B45309"/>
                </a:solidFill>
                <a:latin typeface="Consolas"/>
                <a:ea typeface="Consolas"/>
                <a:cs typeface="Consolas"/>
              </a:rPr>
              <a:t>0</a:t>
            </a:r>
            <a:r>
              <a:rPr sz="760" b="0">
                <a:solidFill>
                  <a:srgbClr val="1B2740"/>
                </a:solidFill>
                <a:latin typeface="Consolas"/>
                <a:ea typeface="Consolas"/>
                <a:cs typeface="Consolas"/>
              </a:rPr>
              <a:t>; nAxis &lt; </a:t>
            </a:r>
            <a:r>
              <a:rPr sz="760" b="0">
                <a:solidFill>
                  <a:srgbClr val="B45309"/>
                </a:solidFill>
                <a:latin typeface="Consolas"/>
                <a:ea typeface="Consolas"/>
                <a:cs typeface="Consolas"/>
              </a:rPr>
              <a:t>3</a:t>
            </a:r>
            <a:r>
              <a:rPr sz="760" b="0">
                <a:solidFill>
                  <a:srgbClr val="1B2740"/>
                </a:solidFill>
                <a:latin typeface="Consolas"/>
                <a:ea typeface="Consolas"/>
                <a:cs typeface="Consolas"/>
              </a:rPr>
              <a:t>; nAxis++)  </a:t>
            </a:r>
            <a:r>
              <a:rPr sz="760" b="0">
                <a:solidFill>
                  <a:srgbClr val="059669"/>
                </a:solidFill>
                <a:latin typeface="맑은 고딕"/>
                <a:ea typeface="맑은 고딕"/>
                <a:cs typeface="맑은 고딕"/>
              </a:rPr>
              <a:t>// 축 a: 0 북, 1 동, 2 아래</a:t>
            </a:r>
          </a:p>
          <a:p>
            <a:pPr>
              <a:lnSpc>
                <a:spcPts val="1000"/>
              </a:lnSpc>
            </a:pPr>
            <a:r>
              <a:rPr sz="760" b="0">
                <a:solidFill>
                  <a:srgbClr val="AEB9CC"/>
                </a:solidFill>
                <a:latin typeface="Consolas"/>
                <a:ea typeface="Consolas"/>
                <a:cs typeface="Consolas"/>
              </a:rPr>
              <a:t>176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177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st_Cur-&gt;pos[nAxis];  </a:t>
            </a:r>
            <a:r>
              <a:rPr sz="760" b="0">
                <a:solidFill>
                  <a:srgbClr val="059669"/>
                </a:solidFill>
                <a:latin typeface="맑은 고딕"/>
                <a:ea typeface="맑은 고딕"/>
                <a:cs typeface="맑은 고딕"/>
              </a:rPr>
              <a:t>// 위치 = 이번 플롯</a:t>
            </a:r>
          </a:p>
          <a:p>
            <a:pPr>
              <a:lnSpc>
                <a:spcPts val="1000"/>
              </a:lnSpc>
            </a:pPr>
            <a:r>
              <a:rPr sz="760" b="0">
                <a:solidFill>
                  <a:srgbClr val="AEB9CC"/>
                </a:solidFill>
                <a:latin typeface="Consolas"/>
                <a:ea typeface="Consolas"/>
                <a:cs typeface="Consolas"/>
              </a:rPr>
              <a:t>178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(st_Cur-&gt;pos[nAxis] - st_Prev-&gt;pos[nAxis]) / dt;  </a:t>
            </a:r>
            <a:r>
              <a:rPr sz="760" b="0">
                <a:solidFill>
                  <a:srgbClr val="059669"/>
                </a:solidFill>
                <a:latin typeface="맑은 고딕"/>
                <a:ea typeface="맑은 고딕"/>
                <a:cs typeface="맑은 고딕"/>
              </a:rPr>
              <a:t>// 속도 = 위치 차 / T</a:t>
            </a:r>
          </a:p>
          <a:p>
            <a:pPr>
              <a:lnSpc>
                <a:spcPts val="1000"/>
              </a:lnSpc>
            </a:pPr>
            <a:r>
              <a:rPr sz="760" b="0">
                <a:solidFill>
                  <a:srgbClr val="AEB9CC"/>
                </a:solidFill>
                <a:latin typeface="Consolas"/>
                <a:ea typeface="Consolas"/>
                <a:cs typeface="Consolas"/>
              </a:rPr>
              <a:t>179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2</a:t>
            </a:r>
            <a:r>
              <a:rPr sz="760" b="0">
                <a:solidFill>
                  <a:srgbClr val="1B2740"/>
                </a:solidFill>
                <a:latin typeface="Consolas"/>
                <a:ea typeface="Consolas"/>
                <a:cs typeface="Consolas"/>
              </a:rPr>
              <a:t>][</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0.0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가속도 = 0</a:t>
            </a:r>
          </a:p>
          <a:p>
            <a:pPr>
              <a:lnSpc>
                <a:spcPts val="1000"/>
              </a:lnSpc>
            </a:pPr>
            <a:r>
              <a:rPr sz="760" b="0">
                <a:solidFill>
                  <a:srgbClr val="AEB9CC"/>
                </a:solidFill>
                <a:latin typeface="Consolas"/>
                <a:ea typeface="Consolas"/>
                <a:cs typeface="Consolas"/>
              </a:rPr>
              <a:t>180  </a:t>
            </a:r>
          </a:p>
          <a:p>
            <a:pPr>
              <a:lnSpc>
                <a:spcPts val="1000"/>
              </a:lnSpc>
            </a:pPr>
            <a:r>
              <a:rPr sz="760" b="0">
                <a:solidFill>
                  <a:srgbClr val="AEB9CC"/>
                </a:solidFill>
                <a:latin typeface="Consolas"/>
                <a:ea typeface="Consolas"/>
                <a:cs typeface="Consolas"/>
              </a:rPr>
              <a:t>181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(nAxisB = </a:t>
            </a:r>
            <a:r>
              <a:rPr sz="760" b="0">
                <a:solidFill>
                  <a:srgbClr val="B45309"/>
                </a:solidFill>
                <a:latin typeface="Consolas"/>
                <a:ea typeface="Consolas"/>
                <a:cs typeface="Consolas"/>
              </a:rPr>
              <a:t>0</a:t>
            </a:r>
            <a:r>
              <a:rPr sz="760" b="0">
                <a:solidFill>
                  <a:srgbClr val="1B2740"/>
                </a:solidFill>
                <a:latin typeface="Consolas"/>
                <a:ea typeface="Consolas"/>
                <a:cs typeface="Consolas"/>
              </a:rPr>
              <a:t>; nAxisB &lt; </a:t>
            </a:r>
            <a:r>
              <a:rPr sz="760" b="0">
                <a:solidFill>
                  <a:srgbClr val="B45309"/>
                </a:solidFill>
                <a:latin typeface="Consolas"/>
                <a:ea typeface="Consolas"/>
                <a:cs typeface="Consolas"/>
              </a:rPr>
              <a:t>3</a:t>
            </a:r>
            <a:r>
              <a:rPr sz="760" b="0">
                <a:solidFill>
                  <a:srgbClr val="1B2740"/>
                </a:solidFill>
                <a:latin typeface="Consolas"/>
                <a:ea typeface="Consolas"/>
                <a:cs typeface="Consolas"/>
              </a:rPr>
              <a:t>; nAxisB++)  </a:t>
            </a:r>
            <a:r>
              <a:rPr sz="760" b="0">
                <a:solidFill>
                  <a:srgbClr val="059669"/>
                </a:solidFill>
                <a:latin typeface="맑은 고딕"/>
                <a:ea typeface="맑은 고딕"/>
                <a:cs typeface="맑은 고딕"/>
              </a:rPr>
              <a:t>// 축 b</a:t>
            </a:r>
          </a:p>
          <a:p>
            <a:pPr>
              <a:lnSpc>
                <a:spcPts val="1000"/>
              </a:lnSpc>
            </a:pPr>
            <a:r>
              <a:rPr sz="760" b="0">
                <a:solidFill>
                  <a:srgbClr val="AEB9CC"/>
                </a:solidFill>
                <a:latin typeface="Consolas"/>
                <a:ea typeface="Consolas"/>
                <a:cs typeface="Consolas"/>
              </a:rPr>
              <a:t>182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183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st_Cur-&gt;cov[nAxis][nAxisB];  </a:t>
            </a:r>
            <a:r>
              <a:rPr sz="760" b="0">
                <a:solidFill>
                  <a:srgbClr val="059669"/>
                </a:solidFill>
                <a:latin typeface="맑은 고딕"/>
                <a:ea typeface="맑은 고딕"/>
                <a:cs typeface="맑은 고딕"/>
              </a:rPr>
              <a:t>// 위치 · 위치 = R_k</a:t>
            </a:r>
          </a:p>
          <a:p>
            <a:pPr>
              <a:lnSpc>
                <a:spcPts val="1000"/>
              </a:lnSpc>
            </a:pPr>
            <a:r>
              <a:rPr sz="760" b="0">
                <a:solidFill>
                  <a:srgbClr val="AEB9CC"/>
                </a:solidFill>
                <a:latin typeface="Consolas"/>
                <a:ea typeface="Consolas"/>
                <a:cs typeface="Consolas"/>
              </a:rPr>
              <a:t>184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st_Cur-&gt;cov[nAxis][nAxisB] / dt;  </a:t>
            </a:r>
            <a:r>
              <a:rPr sz="760" b="0">
                <a:solidFill>
                  <a:srgbClr val="059669"/>
                </a:solidFill>
                <a:latin typeface="맑은 고딕"/>
                <a:ea typeface="맑은 고딕"/>
                <a:cs typeface="맑은 고딕"/>
              </a:rPr>
              <a:t>// 위치 · 속도 = R_k / T</a:t>
            </a:r>
          </a:p>
          <a:p>
            <a:pPr>
              <a:lnSpc>
                <a:spcPts val="1000"/>
              </a:lnSpc>
            </a:pPr>
            <a:r>
              <a:rPr sz="760" b="0">
                <a:solidFill>
                  <a:srgbClr val="AEB9CC"/>
                </a:solidFill>
                <a:latin typeface="Consolas"/>
                <a:ea typeface="Consolas"/>
                <a:cs typeface="Consolas"/>
              </a:rPr>
              <a:t>185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st_Cur-&gt;cov[nAxis][nAxisB] / dt;  </a:t>
            </a:r>
            <a:r>
              <a:rPr sz="760" b="0">
                <a:solidFill>
                  <a:srgbClr val="059669"/>
                </a:solidFill>
                <a:latin typeface="맑은 고딕"/>
                <a:ea typeface="맑은 고딕"/>
                <a:cs typeface="맑은 고딕"/>
              </a:rPr>
              <a:t>// 속도 · 위치 = R_k / T</a:t>
            </a:r>
          </a:p>
          <a:p>
            <a:pPr>
              <a:lnSpc>
                <a:spcPts val="1000"/>
              </a:lnSpc>
            </a:pPr>
            <a:r>
              <a:rPr sz="760" b="0">
                <a:solidFill>
                  <a:srgbClr val="AEB9CC"/>
                </a:solidFill>
                <a:latin typeface="Consolas"/>
                <a:ea typeface="Consolas"/>
                <a:cs typeface="Consolas"/>
              </a:rPr>
              <a:t>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속도 · 속도 = (R_k + R_k-1) / T²</a:t>
            </a:r>
          </a:p>
          <a:p>
            <a:pPr>
              <a:lnSpc>
                <a:spcPts val="1000"/>
              </a:lnSpc>
            </a:pPr>
            <a:r>
              <a:rPr sz="760" b="0">
                <a:solidFill>
                  <a:srgbClr val="AEB9CC"/>
                </a:solidFill>
                <a:latin typeface="Consolas"/>
                <a:ea typeface="Consolas"/>
                <a:cs typeface="Consolas"/>
              </a:rPr>
              <a:t>186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(st_Cur-&gt;cov[nAxis][nAxisB] + st_Prev-&gt;cov[nAxis][nAxisB]) / (dt * dt);</a:t>
            </a:r>
          </a:p>
          <a:p>
            <a:pPr>
              <a:lnSpc>
                <a:spcPts val="1000"/>
              </a:lnSpc>
            </a:pPr>
            <a:r>
              <a:rPr sz="760" b="0">
                <a:solidFill>
                  <a:srgbClr val="AEB9CC"/>
                </a:solidFill>
                <a:latin typeface="Consolas"/>
                <a:ea typeface="Consolas"/>
                <a:cs typeface="Consolas"/>
              </a:rPr>
              <a:t>187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188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189  </a:t>
            </a:r>
            <a:r>
              <a:rPr sz="760" b="0">
                <a:solidFill>
                  <a:srgbClr val="1B2740"/>
                </a:solidFill>
                <a:latin typeface="Consolas"/>
                <a:ea typeface="Consolas"/>
                <a:cs typeface="Consolas"/>
              </a:rPr>
              <a:t>}</a:t>
            </a:r>
          </a:p>
        </p:txBody>
      </p:sp>
      <p:sp>
        <p:nvSpPr>
          <p:cNvPr id="19" name="Oval 18"/>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20" name="TextBox 19"/>
          <p:cNvSpPr txBox="1"/>
          <p:nvPr/>
        </p:nvSpPr>
        <p:spPr>
          <a:xfrm>
            <a:off x="8476488" y="2267712"/>
            <a:ext cx="3072384"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0 으로 채운 행렬</a:t>
            </a:r>
          </a:p>
          <a:p>
            <a:pPr algn="l">
              <a:lnSpc>
                <a:spcPct val="108000"/>
              </a:lnSpc>
            </a:pPr>
            <a:r>
              <a:rPr sz="1000" b="0">
                <a:solidFill>
                  <a:srgbClr val="4A5A7A"/>
                </a:solidFill>
                <a:latin typeface="맑은 고딕"/>
                <a:ea typeface="맑은 고딕"/>
                <a:cs typeface="맑은 고딕"/>
              </a:rPr>
              <a:t>참고 소스 코드의 Matrix_initialize</a:t>
            </a:r>
          </a:p>
          <a:p>
            <a:pPr algn="l">
              <a:lnSpc>
                <a:spcPct val="108000"/>
              </a:lnSpc>
            </a:pPr>
            <a:r>
              <a:rPr sz="1000" b="0">
                <a:solidFill>
                  <a:srgbClr val="4A5A7A"/>
                </a:solidFill>
                <a:latin typeface="맑은 고딕"/>
                <a:ea typeface="맑은 고딕"/>
                <a:cs typeface="맑은 고딕"/>
              </a:rPr>
              <a:t>가속도 칸은 손대지 않아 0</a:t>
            </a:r>
          </a:p>
        </p:txBody>
      </p:sp>
      <p:sp>
        <p:nvSpPr>
          <p:cNvPr id="21" name="Oval 20"/>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22" name="TextBox 21"/>
          <p:cNvSpPr txBox="1"/>
          <p:nvPr/>
        </p:nvSpPr>
        <p:spPr>
          <a:xfrm>
            <a:off x="8476488" y="3136392"/>
            <a:ext cx="3072384" cy="950976"/>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상태변수 (축 a 마다)</a:t>
            </a:r>
          </a:p>
          <a:p>
            <a:pPr algn="l">
              <a:lnSpc>
                <a:spcPct val="108000"/>
              </a:lnSpc>
            </a:pPr>
            <a:r>
              <a:rPr sz="1000" b="0">
                <a:solidFill>
                  <a:srgbClr val="4A5A7A"/>
                </a:solidFill>
                <a:latin typeface="맑은 고딕"/>
                <a:ea typeface="맑은 고딕"/>
                <a:cs typeface="맑은 고딕"/>
              </a:rPr>
              <a:t>위치 = 이번 플롯  (3a 번째 칸)</a:t>
            </a:r>
          </a:p>
          <a:p>
            <a:pPr algn="l">
              <a:lnSpc>
                <a:spcPct val="108000"/>
              </a:lnSpc>
            </a:pPr>
            <a:r>
              <a:rPr sz="1000" b="0">
                <a:solidFill>
                  <a:srgbClr val="4A5A7A"/>
                </a:solidFill>
                <a:latin typeface="맑은 고딕"/>
                <a:ea typeface="맑은 고딕"/>
                <a:cs typeface="맑은 고딕"/>
              </a:rPr>
              <a:t>속도 = 위치 차 / 시간 차  (3a+1)</a:t>
            </a:r>
          </a:p>
          <a:p>
            <a:pPr algn="l">
              <a:lnSpc>
                <a:spcPct val="108000"/>
              </a:lnSpc>
            </a:pPr>
            <a:r>
              <a:rPr sz="1000" b="0">
                <a:solidFill>
                  <a:srgbClr val="4A5A7A"/>
                </a:solidFill>
                <a:latin typeface="맑은 고딕"/>
                <a:ea typeface="맑은 고딕"/>
                <a:cs typeface="맑은 고딕"/>
              </a:rPr>
              <a:t>가속도 = 0  (3a+2)</a:t>
            </a:r>
          </a:p>
        </p:txBody>
      </p:sp>
      <p:sp>
        <p:nvSpPr>
          <p:cNvPr id="23" name="Oval 22"/>
          <p:cNvSpPr/>
          <p:nvPr/>
        </p:nvSpPr>
        <p:spPr>
          <a:xfrm>
            <a:off x="8092440" y="420624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4" name="TextBox 23"/>
          <p:cNvSpPr txBox="1"/>
          <p:nvPr/>
        </p:nvSpPr>
        <p:spPr>
          <a:xfrm>
            <a:off x="8476488" y="4187952"/>
            <a:ext cx="3072384" cy="950976"/>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오차 공분산 (1.3 의 3 x 3 표 그대로)</a:t>
            </a:r>
          </a:p>
          <a:p>
            <a:pPr algn="l">
              <a:lnSpc>
                <a:spcPct val="108000"/>
              </a:lnSpc>
            </a:pPr>
            <a:r>
              <a:rPr sz="1000" b="0">
                <a:solidFill>
                  <a:srgbClr val="4A5A7A"/>
                </a:solidFill>
                <a:latin typeface="맑은 고딕"/>
                <a:ea typeface="맑은 고딕"/>
                <a:cs typeface="맑은 고딕"/>
              </a:rPr>
              <a:t>위치 · 위치 = R_k</a:t>
            </a:r>
          </a:p>
          <a:p>
            <a:pPr algn="l">
              <a:lnSpc>
                <a:spcPct val="108000"/>
              </a:lnSpc>
            </a:pPr>
            <a:r>
              <a:rPr sz="1000" b="0">
                <a:solidFill>
                  <a:srgbClr val="4A5A7A"/>
                </a:solidFill>
                <a:latin typeface="맑은 고딕"/>
                <a:ea typeface="맑은 고딕"/>
                <a:cs typeface="맑은 고딕"/>
              </a:rPr>
              <a:t>위치 · 속도 = R_k / T</a:t>
            </a:r>
          </a:p>
          <a:p>
            <a:pPr algn="l">
              <a:lnSpc>
                <a:spcPct val="108000"/>
              </a:lnSpc>
            </a:pPr>
            <a:r>
              <a:rPr sz="1000" b="0">
                <a:solidFill>
                  <a:srgbClr val="4A5A7A"/>
                </a:solidFill>
                <a:latin typeface="맑은 고딕"/>
                <a:ea typeface="맑은 고딕"/>
                <a:cs typeface="맑은 고딕"/>
              </a:rPr>
              <a:t>속도 · 속도 = ( R_k + R_k-1 ) / T²</a:t>
            </a:r>
          </a:p>
        </p:txBody>
      </p:sp>
      <p:sp>
        <p:nvSpPr>
          <p:cNvPr id="25" name="TextBox 24"/>
          <p:cNvSpPr txBox="1"/>
          <p:nvPr/>
        </p:nvSpPr>
        <p:spPr>
          <a:xfrm>
            <a:off x="8092440" y="5257800"/>
            <a:ext cx="3456432" cy="548640"/>
          </a:xfrm>
          <a:prstGeom prst="rect">
            <a:avLst/>
          </a:prstGeom>
          <a:noFill/>
        </p:spPr>
        <p:txBody>
          <a:bodyPr wrap="square" lIns="0" tIns="0" rIns="0" bIns="0" anchor="t">
            <a:spAutoFit/>
          </a:bodyPr>
          <a:lstStyle/>
          <a:p>
            <a:pPr algn="l">
              <a:lnSpc>
                <a:spcPct val="110000"/>
              </a:lnSpc>
            </a:pPr>
            <a:r>
              <a:rPr sz="950" b="0">
                <a:solidFill>
                  <a:srgbClr val="4A5A7A"/>
                </a:solidFill>
                <a:latin typeface="맑은 고딕"/>
                <a:ea typeface="맑은 고딕"/>
                <a:cs typeface="맑은 고딕"/>
              </a:rPr>
              <a:t>코드의 3 * nAxis 는 축 a 의 위치 칸, + 1 은 속도 칸, + 2 는 가속도 칸입니다.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3.7 트랙 스코어 로직 (f_Trk_UpdateState)</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2.3 의 상태 그림을 그대로 코드로 옮긴 것입니다. 상태마다 case 하나씩이고, 임시는 TrackScore 로, 확정 · 메모리는 MemoryScore 로 다음 상태를 정합니다.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3-2</a:t>
            </a:r>
          </a:p>
        </p:txBody>
      </p:sp>
      <p:sp>
        <p:nvSpPr>
          <p:cNvPr id="6" name="TextBox 5"/>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7"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8" name="TextBox 7"/>
          <p:cNvSpPr txBox="1"/>
          <p:nvPr/>
        </p:nvSpPr>
        <p:spPr>
          <a:xfrm>
            <a:off x="640080" y="2231136"/>
            <a:ext cx="548640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임시 트랙</a:t>
            </a:r>
          </a:p>
        </p:txBody>
      </p:sp>
      <p:sp>
        <p:nvSpPr>
          <p:cNvPr id="9" name="Rectangle 8"/>
          <p:cNvSpPr/>
          <p:nvPr/>
        </p:nvSpPr>
        <p:spPr>
          <a:xfrm>
            <a:off x="640080" y="2487168"/>
            <a:ext cx="5532120" cy="2907792"/>
          </a:xfrm>
          <a:prstGeom prst="rect">
            <a:avLst/>
          </a:prstGeom>
          <a:solidFill>
            <a:srgbClr val="FFFFFF"/>
          </a:solidFill>
          <a:ln w="9525">
            <a:solidFill>
              <a:srgbClr val="D2D9E5"/>
            </a:solidFill>
          </a:ln>
        </p:spPr>
        <p:txBody>
          <a:bodyPr rtlCol="0" anchor="ctr"/>
          <a:lstStyle/>
          <a:p>
            <a:pPr algn="ctr"/>
          </a:p>
        </p:txBody>
      </p:sp>
      <p:sp>
        <p:nvSpPr>
          <p:cNvPr id="10" name="Rectangle 9"/>
          <p:cNvSpPr/>
          <p:nvPr/>
        </p:nvSpPr>
        <p:spPr>
          <a:xfrm>
            <a:off x="667512" y="3358591"/>
            <a:ext cx="5477256" cy="228600"/>
          </a:xfrm>
          <a:prstGeom prst="rect">
            <a:avLst/>
          </a:prstGeom>
          <a:solidFill>
            <a:srgbClr val="FDEEEE"/>
          </a:solidFill>
          <a:ln>
            <a:noFill/>
          </a:ln>
        </p:spPr>
        <p:txBody>
          <a:bodyPr rtlCol="0" anchor="ctr"/>
          <a:lstStyle/>
          <a:p>
            <a:pPr algn="ctr"/>
          </a:p>
        </p:txBody>
      </p:sp>
      <p:sp>
        <p:nvSpPr>
          <p:cNvPr id="11" name="Rectangle 10"/>
          <p:cNvSpPr/>
          <p:nvPr/>
        </p:nvSpPr>
        <p:spPr>
          <a:xfrm>
            <a:off x="667512" y="3358591"/>
            <a:ext cx="36576" cy="228600"/>
          </a:xfrm>
          <a:prstGeom prst="rect">
            <a:avLst/>
          </a:prstGeom>
          <a:solidFill>
            <a:srgbClr val="DC2626"/>
          </a:solidFill>
          <a:ln>
            <a:noFill/>
          </a:ln>
        </p:spPr>
        <p:txBody>
          <a:bodyPr rtlCol="0" anchor="ctr"/>
          <a:lstStyle/>
          <a:p>
            <a:pPr algn="ctr"/>
          </a:p>
        </p:txBody>
      </p:sp>
      <p:sp>
        <p:nvSpPr>
          <p:cNvPr id="12" name="Oval 11"/>
          <p:cNvSpPr/>
          <p:nvPr/>
        </p:nvSpPr>
        <p:spPr>
          <a:xfrm>
            <a:off x="6071616" y="3315157"/>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3" name="Rectangle 12"/>
          <p:cNvSpPr/>
          <p:nvPr/>
        </p:nvSpPr>
        <p:spPr>
          <a:xfrm>
            <a:off x="667512" y="3701491"/>
            <a:ext cx="5477256" cy="457200"/>
          </a:xfrm>
          <a:prstGeom prst="rect">
            <a:avLst/>
          </a:prstGeom>
          <a:solidFill>
            <a:srgbClr val="E6F5EE"/>
          </a:solidFill>
          <a:ln>
            <a:noFill/>
          </a:ln>
        </p:spPr>
        <p:txBody>
          <a:bodyPr rtlCol="0" anchor="ctr"/>
          <a:lstStyle/>
          <a:p>
            <a:pPr algn="ctr"/>
          </a:p>
        </p:txBody>
      </p:sp>
      <p:sp>
        <p:nvSpPr>
          <p:cNvPr id="14" name="Rectangle 13"/>
          <p:cNvSpPr/>
          <p:nvPr/>
        </p:nvSpPr>
        <p:spPr>
          <a:xfrm>
            <a:off x="667512" y="3701491"/>
            <a:ext cx="36576" cy="457200"/>
          </a:xfrm>
          <a:prstGeom prst="rect">
            <a:avLst/>
          </a:prstGeom>
          <a:solidFill>
            <a:srgbClr val="059669"/>
          </a:solidFill>
          <a:ln>
            <a:noFill/>
          </a:ln>
        </p:spPr>
        <p:txBody>
          <a:bodyPr rtlCol="0" anchor="ctr"/>
          <a:lstStyle/>
          <a:p>
            <a:pPr algn="ctr"/>
          </a:p>
        </p:txBody>
      </p:sp>
      <p:sp>
        <p:nvSpPr>
          <p:cNvPr id="15" name="Oval 14"/>
          <p:cNvSpPr/>
          <p:nvPr/>
        </p:nvSpPr>
        <p:spPr>
          <a:xfrm>
            <a:off x="6071616" y="3658057"/>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6" name="Rectangle 15"/>
          <p:cNvSpPr/>
          <p:nvPr/>
        </p:nvSpPr>
        <p:spPr>
          <a:xfrm>
            <a:off x="667512" y="4158691"/>
            <a:ext cx="5477256" cy="457200"/>
          </a:xfrm>
          <a:prstGeom prst="rect">
            <a:avLst/>
          </a:prstGeom>
          <a:solidFill>
            <a:srgbClr val="F2ECFD"/>
          </a:solidFill>
          <a:ln>
            <a:noFill/>
          </a:ln>
        </p:spPr>
        <p:txBody>
          <a:bodyPr rtlCol="0" anchor="ctr"/>
          <a:lstStyle/>
          <a:p>
            <a:pPr algn="ctr"/>
          </a:p>
        </p:txBody>
      </p:sp>
      <p:sp>
        <p:nvSpPr>
          <p:cNvPr id="17" name="Rectangle 16"/>
          <p:cNvSpPr/>
          <p:nvPr/>
        </p:nvSpPr>
        <p:spPr>
          <a:xfrm>
            <a:off x="667512" y="4158691"/>
            <a:ext cx="36576" cy="457200"/>
          </a:xfrm>
          <a:prstGeom prst="rect">
            <a:avLst/>
          </a:prstGeom>
          <a:solidFill>
            <a:srgbClr val="7C3AED"/>
          </a:solidFill>
          <a:ln>
            <a:noFill/>
          </a:ln>
        </p:spPr>
        <p:txBody>
          <a:bodyPr rtlCol="0" anchor="ctr"/>
          <a:lstStyle/>
          <a:p>
            <a:pPr algn="ctr"/>
          </a:p>
        </p:txBody>
      </p:sp>
      <p:sp>
        <p:nvSpPr>
          <p:cNvPr id="18" name="TextBox 17"/>
          <p:cNvSpPr txBox="1"/>
          <p:nvPr/>
        </p:nvSpPr>
        <p:spPr>
          <a:xfrm>
            <a:off x="731519" y="2569464"/>
            <a:ext cx="5303520" cy="27432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108  </a:t>
            </a:r>
            <a:r>
              <a:rPr sz="760" b="0">
                <a:solidFill>
                  <a:srgbClr val="2563EB"/>
                </a:solidFill>
                <a:latin typeface="Consolas"/>
                <a:ea typeface="Consolas"/>
                <a:cs typeface="Consolas"/>
              </a:rPr>
              <a:t>VOID</a:t>
            </a:r>
            <a:r>
              <a:rPr sz="760" b="0">
                <a:solidFill>
                  <a:srgbClr val="1B2740"/>
                </a:solidFill>
                <a:latin typeface="Consolas"/>
                <a:ea typeface="Consolas"/>
                <a:cs typeface="Consolas"/>
              </a:rPr>
              <a:t> f_Trk_UpdateState(</a:t>
            </a:r>
            <a:r>
              <a:rPr sz="760" b="0">
                <a:solidFill>
                  <a:srgbClr val="2563EB"/>
                </a:solidFill>
                <a:latin typeface="Consolas"/>
                <a:ea typeface="Consolas"/>
                <a:cs typeface="Consolas"/>
              </a:rPr>
              <a:t>ST_Track</a:t>
            </a:r>
            <a:r>
              <a:rPr sz="760" b="0">
                <a:solidFill>
                  <a:srgbClr val="1B2740"/>
                </a:solidFill>
                <a:latin typeface="Consolas"/>
                <a:ea typeface="Consolas"/>
                <a:cs typeface="Consolas"/>
              </a:rPr>
              <a:t> *st_Track)  </a:t>
            </a:r>
            <a:r>
              <a:rPr sz="760" b="0">
                <a:solidFill>
                  <a:srgbClr val="059669"/>
                </a:solidFill>
                <a:latin typeface="맑은 고딕"/>
                <a:ea typeface="맑은 고딕"/>
                <a:cs typeface="맑은 고딕"/>
              </a:rPr>
              <a:t>// 스캔마다 트랙 하나씩</a:t>
            </a:r>
          </a:p>
          <a:p>
            <a:pPr>
              <a:lnSpc>
                <a:spcPts val="900"/>
              </a:lnSpc>
            </a:pPr>
            <a:r>
              <a:rPr sz="760" b="0">
                <a:solidFill>
                  <a:srgbClr val="AEB9CC"/>
                </a:solidFill>
                <a:latin typeface="Consolas"/>
                <a:ea typeface="Consolas"/>
                <a:cs typeface="Consolas"/>
              </a:rPr>
              <a:t>109  </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110  </a:t>
            </a:r>
            <a:r>
              <a:rPr sz="760" b="0">
                <a:solidFill>
                  <a:srgbClr val="1B2740"/>
                </a:solidFill>
                <a:latin typeface="Consolas"/>
                <a:ea typeface="Consolas"/>
                <a:cs typeface="Consolas"/>
              </a:rPr>
              <a:t>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isAssigned = (st_Track-&gt;Assigned_Flag != </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결과 1 / 0</a:t>
            </a:r>
          </a:p>
          <a:p>
            <a:pPr>
              <a:lnSpc>
                <a:spcPts val="900"/>
              </a:lnSpc>
            </a:pPr>
            <a:r>
              <a:rPr sz="760" b="0">
                <a:solidFill>
                  <a:srgbClr val="AEB9CC"/>
                </a:solidFill>
                <a:latin typeface="Consolas"/>
                <a:ea typeface="Consolas"/>
                <a:cs typeface="Consolas"/>
              </a:rPr>
              <a:t>111  </a:t>
            </a:r>
          </a:p>
          <a:p>
            <a:pPr>
              <a:lnSpc>
                <a:spcPts val="900"/>
              </a:lnSpc>
            </a:pPr>
            <a:r>
              <a:rPr sz="760" b="0">
                <a:solidFill>
                  <a:srgbClr val="AEB9CC"/>
                </a:solidFill>
                <a:latin typeface="Consolas"/>
                <a:ea typeface="Consolas"/>
                <a:cs typeface="Consolas"/>
              </a:rPr>
              <a:t>112  </a:t>
            </a:r>
            <a:r>
              <a:rPr sz="760" b="0">
                <a:solidFill>
                  <a:srgbClr val="1B2740"/>
                </a:solidFill>
                <a:latin typeface="Consolas"/>
                <a:ea typeface="Consolas"/>
                <a:cs typeface="Consolas"/>
              </a:rPr>
              <a:t>  </a:t>
            </a:r>
            <a:r>
              <a:rPr sz="760" b="0">
                <a:solidFill>
                  <a:srgbClr val="2563EB"/>
                </a:solidFill>
                <a:latin typeface="Consolas"/>
                <a:ea typeface="Consolas"/>
                <a:cs typeface="Consolas"/>
              </a:rPr>
              <a:t>switch</a:t>
            </a:r>
            <a:r>
              <a:rPr sz="760" b="0">
                <a:solidFill>
                  <a:srgbClr val="1B2740"/>
                </a:solidFill>
                <a:latin typeface="Consolas"/>
                <a:ea typeface="Consolas"/>
                <a:cs typeface="Consolas"/>
              </a:rPr>
              <a:t> (st_Track-&gt;TrackState)  </a:t>
            </a:r>
            <a:r>
              <a:rPr sz="760" b="0">
                <a:solidFill>
                  <a:srgbClr val="059669"/>
                </a:solidFill>
                <a:latin typeface="맑은 고딕"/>
                <a:ea typeface="맑은 고딕"/>
                <a:cs typeface="맑은 고딕"/>
              </a:rPr>
              <a:t>// 지금 상태에 따라</a:t>
            </a:r>
          </a:p>
          <a:p>
            <a:pPr>
              <a:lnSpc>
                <a:spcPts val="900"/>
              </a:lnSpc>
            </a:pPr>
            <a:r>
              <a:rPr sz="760" b="0">
                <a:solidFill>
                  <a:srgbClr val="AEB9CC"/>
                </a:solidFill>
                <a:latin typeface="Consolas"/>
                <a:ea typeface="Consolas"/>
                <a:cs typeface="Consolas"/>
              </a:rPr>
              <a:t>113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114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TRK_STATE_TENTATIVE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임시 트랙</a:t>
            </a:r>
          </a:p>
          <a:p>
            <a:pPr>
              <a:lnSpc>
                <a:spcPts val="900"/>
              </a:lnSpc>
            </a:pPr>
            <a:r>
              <a:rPr sz="760" b="0">
                <a:solidFill>
                  <a:srgbClr val="AEB9CC"/>
                </a:solidFill>
                <a:latin typeface="Consolas"/>
                <a:ea typeface="Consolas"/>
                <a:cs typeface="Consolas"/>
              </a:rPr>
              <a:t>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성공 +1, 실패 -1</a:t>
            </a:r>
          </a:p>
          <a:p>
            <a:pPr>
              <a:lnSpc>
                <a:spcPts val="900"/>
              </a:lnSpc>
            </a:pPr>
            <a:r>
              <a:rPr sz="760" b="0">
                <a:solidFill>
                  <a:srgbClr val="AEB9CC"/>
                </a:solidFill>
                <a:latin typeface="Consolas"/>
                <a:ea typeface="Consolas"/>
                <a:cs typeface="Consolas"/>
              </a:rPr>
              <a:t>115  </a:t>
            </a:r>
            <a:r>
              <a:rPr sz="760" b="0">
                <a:solidFill>
                  <a:srgbClr val="1B2740"/>
                </a:solidFill>
                <a:latin typeface="Consolas"/>
                <a:ea typeface="Consolas"/>
                <a:cs typeface="Consolas"/>
              </a:rPr>
              <a:t>    st_Track-&gt;TrackScore = st_Track-&gt;TrackScore +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116  </a:t>
            </a:r>
          </a:p>
          <a:p>
            <a:pPr>
              <a:lnSpc>
                <a:spcPts val="900"/>
              </a:lnSpc>
            </a:pPr>
            <a:r>
              <a:rPr sz="760" b="0">
                <a:solidFill>
                  <a:srgbClr val="AEB9CC"/>
                </a:solidFill>
                <a:latin typeface="Consolas"/>
                <a:ea typeface="Consolas"/>
                <a:cs typeface="Consolas"/>
              </a:rPr>
              <a:t>117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(st_Track-&gt;TrackScore &gt;= </a:t>
            </a:r>
            <a:r>
              <a:rPr sz="760" b="0">
                <a:solidFill>
                  <a:srgbClr val="7C3AED"/>
                </a:solidFill>
                <a:latin typeface="Consolas"/>
                <a:ea typeface="Consolas"/>
                <a:cs typeface="Consolas"/>
              </a:rPr>
              <a:t>TRK_SCORE_CONFIRM</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5 이상이면</a:t>
            </a:r>
          </a:p>
          <a:p>
            <a:pPr>
              <a:lnSpc>
                <a:spcPts val="900"/>
              </a:lnSpc>
            </a:pPr>
            <a:r>
              <a:rPr sz="760" b="0">
                <a:solidFill>
                  <a:srgbClr val="AEB9CC"/>
                </a:solidFill>
                <a:latin typeface="Consolas"/>
                <a:ea typeface="Consolas"/>
                <a:cs typeface="Consolas"/>
              </a:rPr>
              <a:t>118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119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확정</a:t>
            </a:r>
          </a:p>
          <a:p>
            <a:pPr>
              <a:lnSpc>
                <a:spcPts val="900"/>
              </a:lnSpc>
            </a:pPr>
            <a:r>
              <a:rPr sz="760" b="0">
                <a:solidFill>
                  <a:srgbClr val="AEB9CC"/>
                </a:solidFill>
                <a:latin typeface="Consolas"/>
                <a:ea typeface="Consolas"/>
                <a:cs typeface="Consolas"/>
              </a:rPr>
              <a:t>120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121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(st_Track-&gt;TrackScore &lt;= </a:t>
            </a:r>
            <a:r>
              <a:rPr sz="760" b="0">
                <a:solidFill>
                  <a:srgbClr val="7C3AED"/>
                </a:solidFill>
                <a:latin typeface="Consolas"/>
                <a:ea typeface="Consolas"/>
                <a:cs typeface="Consolas"/>
              </a:rPr>
              <a:t>TRK_SCORE_DELETE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0 이하면</a:t>
            </a:r>
          </a:p>
          <a:p>
            <a:pPr>
              <a:lnSpc>
                <a:spcPts val="900"/>
              </a:lnSpc>
            </a:pPr>
            <a:r>
              <a:rPr sz="760" b="0">
                <a:solidFill>
                  <a:srgbClr val="AEB9CC"/>
                </a:solidFill>
                <a:latin typeface="Consolas"/>
                <a:ea typeface="Consolas"/>
                <a:cs typeface="Consolas"/>
              </a:rPr>
              <a:t>122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123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TRK_STATE_DELETED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삭제</a:t>
            </a:r>
          </a:p>
          <a:p>
            <a:pPr>
              <a:lnSpc>
                <a:spcPts val="900"/>
              </a:lnSpc>
            </a:pPr>
            <a:r>
              <a:rPr sz="760" b="0">
                <a:solidFill>
                  <a:srgbClr val="AEB9CC"/>
                </a:solidFill>
                <a:latin typeface="Consolas"/>
                <a:ea typeface="Consolas"/>
                <a:cs typeface="Consolas"/>
              </a:rPr>
              <a:t>124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125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p>
          <a:p>
            <a:pPr>
              <a:lnSpc>
                <a:spcPts val="900"/>
              </a:lnSpc>
            </a:pPr>
            <a:r>
              <a:rPr sz="760" b="0">
                <a:solidFill>
                  <a:srgbClr val="AEB9CC"/>
                </a:solidFill>
                <a:latin typeface="Consolas"/>
                <a:ea typeface="Consolas"/>
                <a:cs typeface="Consolas"/>
              </a:rPr>
              <a:t>126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127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임시 트랙 유지</a:t>
            </a:r>
          </a:p>
          <a:p>
            <a:pPr>
              <a:lnSpc>
                <a:spcPts val="900"/>
              </a:lnSpc>
            </a:pPr>
            <a:r>
              <a:rPr sz="760" b="0">
                <a:solidFill>
                  <a:srgbClr val="AEB9CC"/>
                </a:solidFill>
                <a:latin typeface="Consolas"/>
                <a:ea typeface="Consolas"/>
                <a:cs typeface="Consolas"/>
              </a:rPr>
              <a:t>128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129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130  </a:t>
            </a:r>
          </a:p>
        </p:txBody>
      </p:sp>
      <p:sp>
        <p:nvSpPr>
          <p:cNvPr id="19" name="TextBox 18"/>
          <p:cNvSpPr txBox="1"/>
          <p:nvPr/>
        </p:nvSpPr>
        <p:spPr>
          <a:xfrm>
            <a:off x="6355080" y="2231136"/>
            <a:ext cx="521208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확정 트랙, 메모리 트랙</a:t>
            </a:r>
          </a:p>
        </p:txBody>
      </p:sp>
      <p:sp>
        <p:nvSpPr>
          <p:cNvPr id="20" name="Rectangle 19"/>
          <p:cNvSpPr/>
          <p:nvPr/>
        </p:nvSpPr>
        <p:spPr>
          <a:xfrm>
            <a:off x="6355080" y="2487168"/>
            <a:ext cx="5193792" cy="3022092"/>
          </a:xfrm>
          <a:prstGeom prst="rect">
            <a:avLst/>
          </a:prstGeom>
          <a:solidFill>
            <a:srgbClr val="FFFFFF"/>
          </a:solidFill>
          <a:ln w="9525">
            <a:solidFill>
              <a:srgbClr val="D2D9E5"/>
            </a:solidFill>
          </a:ln>
        </p:spPr>
        <p:txBody>
          <a:bodyPr rtlCol="0" anchor="ctr"/>
          <a:lstStyle/>
          <a:p>
            <a:pPr algn="ctr"/>
          </a:p>
        </p:txBody>
      </p:sp>
      <p:sp>
        <p:nvSpPr>
          <p:cNvPr id="21" name="Rectangle 20"/>
          <p:cNvSpPr/>
          <p:nvPr/>
        </p:nvSpPr>
        <p:spPr>
          <a:xfrm>
            <a:off x="6382512" y="2901391"/>
            <a:ext cx="5138928" cy="228600"/>
          </a:xfrm>
          <a:prstGeom prst="rect">
            <a:avLst/>
          </a:prstGeom>
          <a:solidFill>
            <a:srgbClr val="F2ECFD"/>
          </a:solidFill>
          <a:ln>
            <a:noFill/>
          </a:ln>
        </p:spPr>
        <p:txBody>
          <a:bodyPr rtlCol="0" anchor="ctr"/>
          <a:lstStyle/>
          <a:p>
            <a:pPr algn="ctr"/>
          </a:p>
        </p:txBody>
      </p:sp>
      <p:sp>
        <p:nvSpPr>
          <p:cNvPr id="22" name="Rectangle 21"/>
          <p:cNvSpPr/>
          <p:nvPr/>
        </p:nvSpPr>
        <p:spPr>
          <a:xfrm>
            <a:off x="6382512" y="2901391"/>
            <a:ext cx="36576" cy="228600"/>
          </a:xfrm>
          <a:prstGeom prst="rect">
            <a:avLst/>
          </a:prstGeom>
          <a:solidFill>
            <a:srgbClr val="7C3AED"/>
          </a:solidFill>
          <a:ln>
            <a:noFill/>
          </a:ln>
        </p:spPr>
        <p:txBody>
          <a:bodyPr rtlCol="0" anchor="ctr"/>
          <a:lstStyle/>
          <a:p>
            <a:pPr algn="ctr"/>
          </a:p>
        </p:txBody>
      </p:sp>
      <p:sp>
        <p:nvSpPr>
          <p:cNvPr id="23" name="Oval 22"/>
          <p:cNvSpPr/>
          <p:nvPr/>
        </p:nvSpPr>
        <p:spPr>
          <a:xfrm>
            <a:off x="11448288" y="2857957"/>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4" name="Rectangle 23"/>
          <p:cNvSpPr/>
          <p:nvPr/>
        </p:nvSpPr>
        <p:spPr>
          <a:xfrm>
            <a:off x="6382512" y="3815791"/>
            <a:ext cx="5138928" cy="228600"/>
          </a:xfrm>
          <a:prstGeom prst="rect">
            <a:avLst/>
          </a:prstGeom>
          <a:solidFill>
            <a:srgbClr val="E6F5EE"/>
          </a:solidFill>
          <a:ln>
            <a:noFill/>
          </a:ln>
        </p:spPr>
        <p:txBody>
          <a:bodyPr rtlCol="0" anchor="ctr"/>
          <a:lstStyle/>
          <a:p>
            <a:pPr algn="ctr"/>
          </a:p>
        </p:txBody>
      </p:sp>
      <p:sp>
        <p:nvSpPr>
          <p:cNvPr id="25" name="Rectangle 24"/>
          <p:cNvSpPr/>
          <p:nvPr/>
        </p:nvSpPr>
        <p:spPr>
          <a:xfrm>
            <a:off x="6382512" y="3815791"/>
            <a:ext cx="36576" cy="228600"/>
          </a:xfrm>
          <a:prstGeom prst="rect">
            <a:avLst/>
          </a:prstGeom>
          <a:solidFill>
            <a:srgbClr val="059669"/>
          </a:solidFill>
          <a:ln>
            <a:noFill/>
          </a:ln>
        </p:spPr>
        <p:txBody>
          <a:bodyPr rtlCol="0" anchor="ctr"/>
          <a:lstStyle/>
          <a:p>
            <a:pPr algn="ctr"/>
          </a:p>
        </p:txBody>
      </p:sp>
      <p:sp>
        <p:nvSpPr>
          <p:cNvPr id="26" name="Oval 25"/>
          <p:cNvSpPr/>
          <p:nvPr/>
        </p:nvSpPr>
        <p:spPr>
          <a:xfrm>
            <a:off x="11448288" y="3772357"/>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7" name="Rectangle 26"/>
          <p:cNvSpPr/>
          <p:nvPr/>
        </p:nvSpPr>
        <p:spPr>
          <a:xfrm>
            <a:off x="6382512" y="4615891"/>
            <a:ext cx="5138928" cy="457200"/>
          </a:xfrm>
          <a:prstGeom prst="rect">
            <a:avLst/>
          </a:prstGeom>
          <a:solidFill>
            <a:srgbClr val="EAF1FD"/>
          </a:solidFill>
          <a:ln>
            <a:noFill/>
          </a:ln>
        </p:spPr>
        <p:txBody>
          <a:bodyPr rtlCol="0" anchor="ctr"/>
          <a:lstStyle/>
          <a:p>
            <a:pPr algn="ctr"/>
          </a:p>
        </p:txBody>
      </p:sp>
      <p:sp>
        <p:nvSpPr>
          <p:cNvPr id="28" name="Rectangle 27"/>
          <p:cNvSpPr/>
          <p:nvPr/>
        </p:nvSpPr>
        <p:spPr>
          <a:xfrm>
            <a:off x="6382512" y="4615891"/>
            <a:ext cx="36576" cy="457200"/>
          </a:xfrm>
          <a:prstGeom prst="rect">
            <a:avLst/>
          </a:prstGeom>
          <a:solidFill>
            <a:srgbClr val="2563EB"/>
          </a:solidFill>
          <a:ln>
            <a:noFill/>
          </a:ln>
        </p:spPr>
        <p:txBody>
          <a:bodyPr rtlCol="0" anchor="ctr"/>
          <a:lstStyle/>
          <a:p>
            <a:pPr algn="ctr"/>
          </a:p>
        </p:txBody>
      </p:sp>
      <p:sp>
        <p:nvSpPr>
          <p:cNvPr id="29" name="Oval 28"/>
          <p:cNvSpPr/>
          <p:nvPr/>
        </p:nvSpPr>
        <p:spPr>
          <a:xfrm>
            <a:off x="11448288" y="4572457"/>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0" name="TextBox 29"/>
          <p:cNvSpPr txBox="1"/>
          <p:nvPr/>
        </p:nvSpPr>
        <p:spPr>
          <a:xfrm>
            <a:off x="6446520" y="2569464"/>
            <a:ext cx="4965192" cy="28575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131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확정 트랙</a:t>
            </a:r>
          </a:p>
          <a:p>
            <a:pPr>
              <a:lnSpc>
                <a:spcPts val="900"/>
              </a:lnSpc>
            </a:pPr>
            <a:r>
              <a:rPr sz="760" b="0">
                <a:solidFill>
                  <a:srgbClr val="AEB9CC"/>
                </a:solidFill>
                <a:latin typeface="Consolas"/>
                <a:ea typeface="Consolas"/>
                <a:cs typeface="Consolas"/>
              </a:rPr>
              <a:t>132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실패면</a:t>
            </a:r>
          </a:p>
          <a:p>
            <a:pPr>
              <a:lnSpc>
                <a:spcPts val="900"/>
              </a:lnSpc>
            </a:pPr>
            <a:r>
              <a:rPr sz="760" b="0">
                <a:solidFill>
                  <a:srgbClr val="AEB9CC"/>
                </a:solidFill>
                <a:latin typeface="Consolas"/>
                <a:ea typeface="Consolas"/>
                <a:cs typeface="Consolas"/>
              </a:rPr>
              <a:t>133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134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TRK_STATE_MEMORY</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메모리로</a:t>
            </a:r>
          </a:p>
          <a:p>
            <a:pPr>
              <a:lnSpc>
                <a:spcPts val="900"/>
              </a:lnSpc>
            </a:pPr>
            <a:r>
              <a:rPr sz="760" b="0">
                <a:solidFill>
                  <a:srgbClr val="AEB9CC"/>
                </a:solidFill>
                <a:latin typeface="Consolas"/>
                <a:ea typeface="Consolas"/>
                <a:cs typeface="Consolas"/>
              </a:rPr>
              <a:t>135  </a:t>
            </a:r>
            <a:r>
              <a:rPr sz="760" b="0">
                <a:solidFill>
                  <a:srgbClr val="1B2740"/>
                </a:solidFill>
                <a:latin typeface="Consolas"/>
                <a:ea typeface="Consolas"/>
                <a:cs typeface="Consolas"/>
              </a:rPr>
              <a:t>      st_Track-&gt;MemoryScore  = st_Track-&gt;MemoryScore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MemoryScore +1</a:t>
            </a:r>
          </a:p>
          <a:p>
            <a:pPr>
              <a:lnSpc>
                <a:spcPts val="900"/>
              </a:lnSpc>
            </a:pPr>
            <a:r>
              <a:rPr sz="760" b="0">
                <a:solidFill>
                  <a:srgbClr val="AEB9CC"/>
                </a:solidFill>
                <a:latin typeface="Consolas"/>
                <a:ea typeface="Consolas"/>
                <a:cs typeface="Consolas"/>
              </a:rPr>
              <a:t>136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137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138  </a:t>
            </a:r>
          </a:p>
          <a:p>
            <a:pPr>
              <a:lnSpc>
                <a:spcPts val="900"/>
              </a:lnSpc>
            </a:pPr>
            <a:r>
              <a:rPr sz="760" b="0">
                <a:solidFill>
                  <a:srgbClr val="AEB9CC"/>
                </a:solidFill>
                <a:latin typeface="Consolas"/>
                <a:ea typeface="Consolas"/>
                <a:cs typeface="Consolas"/>
              </a:rPr>
              <a:t>139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TRK_STATE_MEMORY</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메모리 트랙</a:t>
            </a:r>
          </a:p>
          <a:p>
            <a:pPr>
              <a:lnSpc>
                <a:spcPts val="900"/>
              </a:lnSpc>
            </a:pPr>
            <a:r>
              <a:rPr sz="760" b="0">
                <a:solidFill>
                  <a:srgbClr val="AEB9CC"/>
                </a:solidFill>
                <a:latin typeface="Consolas"/>
                <a:ea typeface="Consolas"/>
                <a:cs typeface="Consolas"/>
              </a:rPr>
              <a:t>140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성공이면</a:t>
            </a:r>
          </a:p>
          <a:p>
            <a:pPr>
              <a:lnSpc>
                <a:spcPts val="900"/>
              </a:lnSpc>
            </a:pPr>
            <a:r>
              <a:rPr sz="760" b="0">
                <a:solidFill>
                  <a:srgbClr val="AEB9CC"/>
                </a:solidFill>
                <a:latin typeface="Consolas"/>
                <a:ea typeface="Consolas"/>
                <a:cs typeface="Consolas"/>
              </a:rPr>
              <a:t>141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142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바로 확정</a:t>
            </a:r>
          </a:p>
          <a:p>
            <a:pPr>
              <a:lnSpc>
                <a:spcPts val="900"/>
              </a:lnSpc>
            </a:pPr>
            <a:r>
              <a:rPr sz="760" b="0">
                <a:solidFill>
                  <a:srgbClr val="AEB9CC"/>
                </a:solidFill>
                <a:latin typeface="Consolas"/>
                <a:ea typeface="Consolas"/>
                <a:cs typeface="Consolas"/>
              </a:rPr>
              <a:t>143  </a:t>
            </a:r>
            <a:r>
              <a:rPr sz="760" b="0">
                <a:solidFill>
                  <a:srgbClr val="1B2740"/>
                </a:solidFill>
                <a:latin typeface="Consolas"/>
                <a:ea typeface="Consolas"/>
                <a:cs typeface="Consolas"/>
              </a:rPr>
              <a:t>      st_Track-&gt;MemoryScore  = </a:t>
            </a:r>
            <a:r>
              <a:rPr sz="760" b="0">
                <a:solidFill>
                  <a:srgbClr val="B45309"/>
                </a:solidFill>
                <a:latin typeface="Consolas"/>
                <a:ea typeface="Consolas"/>
                <a:cs typeface="Consolas"/>
              </a:rPr>
              <a:t>0</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MemoryScore 0 으로</a:t>
            </a:r>
          </a:p>
          <a:p>
            <a:pPr>
              <a:lnSpc>
                <a:spcPts val="900"/>
              </a:lnSpc>
            </a:pPr>
            <a:r>
              <a:rPr sz="760" b="0">
                <a:solidFill>
                  <a:srgbClr val="AEB9CC"/>
                </a:solidFill>
                <a:latin typeface="Consolas"/>
                <a:ea typeface="Consolas"/>
                <a:cs typeface="Consolas"/>
              </a:rPr>
              <a:t>144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145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연관 실패면</a:t>
            </a:r>
          </a:p>
          <a:p>
            <a:pPr>
              <a:lnSpc>
                <a:spcPts val="900"/>
              </a:lnSpc>
            </a:pPr>
            <a:r>
              <a:rPr sz="760" b="0">
                <a:solidFill>
                  <a:srgbClr val="AEB9CC"/>
                </a:solidFill>
                <a:latin typeface="Consolas"/>
                <a:ea typeface="Consolas"/>
                <a:cs typeface="Consolas"/>
              </a:rPr>
              <a:t>146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147  </a:t>
            </a:r>
            <a:r>
              <a:rPr sz="760" b="0">
                <a:solidFill>
                  <a:srgbClr val="1B2740"/>
                </a:solidFill>
                <a:latin typeface="Consolas"/>
                <a:ea typeface="Consolas"/>
                <a:cs typeface="Consolas"/>
              </a:rPr>
              <a:t>      st_Track-&gt;MemoryScore  = st_Track-&gt;MemoryScore + </a:t>
            </a:r>
            <a:r>
              <a:rPr sz="760" b="0">
                <a:solidFill>
                  <a:srgbClr val="B45309"/>
                </a:solidFill>
                <a:latin typeface="Consolas"/>
                <a:ea typeface="Consolas"/>
                <a:cs typeface="Consolas"/>
              </a:rPr>
              <a:t>1</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MemoryScore +1</a:t>
            </a:r>
          </a:p>
          <a:p>
            <a:pPr>
              <a:lnSpc>
                <a:spcPts val="900"/>
              </a:lnSpc>
            </a:pPr>
            <a:r>
              <a:rPr sz="760" b="0">
                <a:solidFill>
                  <a:srgbClr val="AEB9CC"/>
                </a:solidFill>
                <a:latin typeface="Consolas"/>
                <a:ea typeface="Consolas"/>
                <a:cs typeface="Consolas"/>
              </a:rPr>
              <a:t>148  </a:t>
            </a:r>
          </a:p>
          <a:p>
            <a:pPr>
              <a:lnSpc>
                <a:spcPts val="900"/>
              </a:lnSpc>
            </a:pPr>
            <a:r>
              <a:rPr sz="760" b="0">
                <a:solidFill>
                  <a:srgbClr val="AEB9CC"/>
                </a:solidFill>
                <a:latin typeface="Consolas"/>
                <a:ea typeface="Consolas"/>
                <a:cs typeface="Consolas"/>
              </a:rPr>
              <a:t>149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(st_Track-&gt;MemoryScore &gt;= </a:t>
            </a:r>
            <a:r>
              <a:rPr sz="760" b="0">
                <a:solidFill>
                  <a:srgbClr val="7C3AED"/>
                </a:solidFill>
                <a:latin typeface="Consolas"/>
                <a:ea typeface="Consolas"/>
                <a:cs typeface="Consolas"/>
              </a:rPr>
              <a:t>TRK_MEMORY_DELETE</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5 이상이면</a:t>
            </a:r>
          </a:p>
          <a:p>
            <a:pPr>
              <a:lnSpc>
                <a:spcPts val="900"/>
              </a:lnSpc>
            </a:pPr>
            <a:r>
              <a:rPr sz="760" b="0">
                <a:solidFill>
                  <a:srgbClr val="AEB9CC"/>
                </a:solidFill>
                <a:latin typeface="Consolas"/>
                <a:ea typeface="Consolas"/>
                <a:cs typeface="Consolas"/>
              </a:rPr>
              <a:t>150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151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TRK_STATE_DELETED</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삭제</a:t>
            </a:r>
          </a:p>
          <a:p>
            <a:pPr>
              <a:lnSpc>
                <a:spcPts val="900"/>
              </a:lnSpc>
            </a:pPr>
            <a:r>
              <a:rPr sz="760" b="0">
                <a:solidFill>
                  <a:srgbClr val="AEB9CC"/>
                </a:solidFill>
                <a:latin typeface="Consolas"/>
                <a:ea typeface="Consolas"/>
                <a:cs typeface="Consolas"/>
              </a:rPr>
              <a:t>152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154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155  </a:t>
            </a:r>
          </a:p>
        </p:txBody>
      </p:sp>
      <p:sp>
        <p:nvSpPr>
          <p:cNvPr id="31" name="Oval 30"/>
          <p:cNvSpPr/>
          <p:nvPr/>
        </p:nvSpPr>
        <p:spPr>
          <a:xfrm>
            <a:off x="640080" y="5870448"/>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2" name="TextBox 31"/>
          <p:cNvSpPr txBox="1"/>
          <p:nvPr/>
        </p:nvSpPr>
        <p:spPr>
          <a:xfrm>
            <a:off x="89611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성공 +1, 실패 -1</a:t>
            </a:r>
          </a:p>
        </p:txBody>
      </p:sp>
      <p:sp>
        <p:nvSpPr>
          <p:cNvPr id="33" name="Oval 32"/>
          <p:cNvSpPr/>
          <p:nvPr/>
        </p:nvSpPr>
        <p:spPr>
          <a:xfrm>
            <a:off x="2834639" y="5870448"/>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4" name="TextBox 33"/>
          <p:cNvSpPr txBox="1"/>
          <p:nvPr/>
        </p:nvSpPr>
        <p:spPr>
          <a:xfrm>
            <a:off x="309067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5 이상 확정, 0 이하 삭제</a:t>
            </a:r>
          </a:p>
        </p:txBody>
      </p:sp>
      <p:sp>
        <p:nvSpPr>
          <p:cNvPr id="35" name="Oval 34"/>
          <p:cNvSpPr/>
          <p:nvPr/>
        </p:nvSpPr>
        <p:spPr>
          <a:xfrm>
            <a:off x="5029200" y="5870448"/>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6" name="TextBox 35"/>
          <p:cNvSpPr txBox="1"/>
          <p:nvPr/>
        </p:nvSpPr>
        <p:spPr>
          <a:xfrm>
            <a:off x="528523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확정 -&gt; 메모리, MemoryScore +1</a:t>
            </a:r>
          </a:p>
        </p:txBody>
      </p:sp>
      <p:sp>
        <p:nvSpPr>
          <p:cNvPr id="37" name="Oval 36"/>
          <p:cNvSpPr/>
          <p:nvPr/>
        </p:nvSpPr>
        <p:spPr>
          <a:xfrm>
            <a:off x="7223759" y="5870448"/>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8" name="TextBox 37"/>
          <p:cNvSpPr txBox="1"/>
          <p:nvPr/>
        </p:nvSpPr>
        <p:spPr>
          <a:xfrm>
            <a:off x="747979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메모리 -&gt; 바로 확정, MemoryScore 0</a:t>
            </a:r>
          </a:p>
        </p:txBody>
      </p:sp>
      <p:sp>
        <p:nvSpPr>
          <p:cNvPr id="39" name="Oval 38"/>
          <p:cNvSpPr/>
          <p:nvPr/>
        </p:nvSpPr>
        <p:spPr>
          <a:xfrm>
            <a:off x="9418319" y="5870448"/>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40" name="TextBox 39"/>
          <p:cNvSpPr txBox="1"/>
          <p:nvPr/>
        </p:nvSpPr>
        <p:spPr>
          <a:xfrm>
            <a:off x="9674351"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MemoryScore 5 이상 삭제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04. 결과</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시뮬레이션 조건과 2D · 3D 결과 화면, 트랙이 생기고 사라지는 과정, 거리에 따라 개시 결과가 어떻게 달라지는지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4.1</a:t>
            </a:r>
            <a:endParaRPr lang="en-US" sz="1400" dirty="0"/>
          </a:p>
        </p:txBody>
      </p:sp>
      <p:sp>
        <p:nvSpPr>
          <p:cNvPr id="5" name="Text 3"/>
          <p:cNvSpPr txBox="1"/>
          <p:nvPr/>
        </p:nvSpPr>
        <p:spPr>
          <a:xfrm>
            <a:off x="1418234" y="2057400"/>
            <a:ext cx="4170227"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시뮬레이션 조건과 결과 화면 (True · Plot · Track)</a:t>
            </a:r>
            <a:endParaRPr lang="en-US" sz="1400" dirty="0"/>
          </a:p>
        </p:txBody>
      </p:sp>
      <p:sp>
        <p:nvSpPr>
          <p:cNvPr id="6" name="Shape 4"/>
          <p:cNvSpPr/>
          <p:nvPr/>
        </p:nvSpPr>
        <p:spPr>
          <a:xfrm>
            <a:off x="5697275" y="2313432"/>
            <a:ext cx="4909764"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24</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4.2</a:t>
            </a:r>
            <a:endParaRPr lang="en-US" sz="1400" dirty="0"/>
          </a:p>
        </p:txBody>
      </p:sp>
      <p:sp>
        <p:nvSpPr>
          <p:cNvPr id="9" name="Text 3"/>
          <p:cNvSpPr txBox="1"/>
          <p:nvPr/>
        </p:nvSpPr>
        <p:spPr>
          <a:xfrm>
            <a:off x="1418234" y="2464308"/>
            <a:ext cx="216675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수명과 스코어 확인</a:t>
            </a:r>
            <a:endParaRPr lang="en-US" sz="1400" dirty="0"/>
          </a:p>
        </p:txBody>
      </p:sp>
      <p:sp>
        <p:nvSpPr>
          <p:cNvPr id="10" name="Shape 4"/>
          <p:cNvSpPr/>
          <p:nvPr/>
        </p:nvSpPr>
        <p:spPr>
          <a:xfrm>
            <a:off x="3693802" y="2720339"/>
            <a:ext cx="6913237"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25</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4.3</a:t>
            </a:r>
            <a:endParaRPr lang="en-US" sz="1400" dirty="0"/>
          </a:p>
        </p:txBody>
      </p:sp>
      <p:sp>
        <p:nvSpPr>
          <p:cNvPr id="13" name="Text 3"/>
          <p:cNvSpPr txBox="1"/>
          <p:nvPr/>
        </p:nvSpPr>
        <p:spPr>
          <a:xfrm>
            <a:off x="1418234" y="2871216"/>
            <a:ext cx="200317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거리에 따른 개시 결과</a:t>
            </a:r>
            <a:endParaRPr lang="en-US" sz="1400" dirty="0"/>
          </a:p>
        </p:txBody>
      </p:sp>
      <p:sp>
        <p:nvSpPr>
          <p:cNvPr id="14" name="Shape 4"/>
          <p:cNvSpPr/>
          <p:nvPr/>
        </p:nvSpPr>
        <p:spPr>
          <a:xfrm>
            <a:off x="3530226" y="3127248"/>
            <a:ext cx="7076813"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26</a:t>
            </a:r>
            <a:endParaRPr lang="en-US" sz="1300" dirty="0"/>
          </a:p>
        </p:txBody>
      </p:sp>
      <p:sp>
        <p:nvSpPr>
          <p:cNvPr id="1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4.1 시뮬레이션 조건과 결과 화면</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1,160 스캔을 UDP 로 모두 받아 트랙 355 개를 개시했습니다 (같은 표적 플롯 352, 클러터끼리 3). 아래는 스캔 546 의 참값 · 플롯 · 트랙 화면입니다.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12848"/>
            <a:ext cx="3547872" cy="768096"/>
          </a:xfrm>
          <a:prstGeom prst="rect">
            <a:avLst/>
          </a:prstGeom>
          <a:solidFill>
            <a:srgbClr val="F7F9FC"/>
          </a:solidFill>
          <a:ln w="9525">
            <a:solidFill>
              <a:srgbClr val="D2D9E5"/>
            </a:solidFill>
          </a:ln>
        </p:spPr>
        <p:txBody>
          <a:bodyPr rtlCol="0" anchor="ctr"/>
          <a:lstStyle/>
          <a:p>
            <a:pPr algn="ctr"/>
          </a:p>
        </p:txBody>
      </p:sp>
      <p:sp>
        <p:nvSpPr>
          <p:cNvPr id="8" name="TextBox 7"/>
          <p:cNvSpPr txBox="1"/>
          <p:nvPr/>
        </p:nvSpPr>
        <p:spPr>
          <a:xfrm>
            <a:off x="749808" y="2212848"/>
            <a:ext cx="914400" cy="768096"/>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시나리오</a:t>
            </a:r>
          </a:p>
        </p:txBody>
      </p:sp>
      <p:sp>
        <p:nvSpPr>
          <p:cNvPr id="9" name="TextBox 8"/>
          <p:cNvSpPr txBox="1"/>
          <p:nvPr/>
        </p:nvSpPr>
        <p:spPr>
          <a:xfrm>
            <a:off x="1664208" y="2212848"/>
            <a:ext cx="2468880" cy="768096"/>
          </a:xfrm>
          <a:prstGeom prst="rect">
            <a:avLst/>
          </a:prstGeom>
          <a:noFill/>
        </p:spPr>
        <p:txBody>
          <a:bodyPr wrap="square" lIns="0" tIns="0" rIns="0" bIns="0" anchor="ctr">
            <a:spAutoFit/>
          </a:bodyPr>
          <a:lstStyle/>
          <a:p>
            <a:pPr algn="l">
              <a:lnSpc>
                <a:spcPct val="108000"/>
              </a:lnSpc>
            </a:pPr>
            <a:r>
              <a:rPr sz="900" b="0">
                <a:solidFill>
                  <a:srgbClr val="1B2740"/>
                </a:solidFill>
                <a:latin typeface="맑은 고딕"/>
                <a:ea typeface="맑은 고딕"/>
                <a:cs typeface="맑은 고딕"/>
              </a:rPr>
              <a:t>플랫폼 정지 (32°N, 126°E)</a:t>
            </a:r>
          </a:p>
          <a:p>
            <a:pPr algn="l">
              <a:lnSpc>
                <a:spcPct val="108000"/>
              </a:lnSpc>
            </a:pPr>
            <a:r>
              <a:rPr sz="900" b="0">
                <a:solidFill>
                  <a:srgbClr val="1B2740"/>
                </a:solidFill>
                <a:latin typeface="맑은 고딕"/>
                <a:ea typeface="맑은 고딕"/>
                <a:cs typeface="맑은 고딕"/>
              </a:rPr>
              <a:t>표적 1 대함: 30 m/s, 약 14 km, 서쪽으로</a:t>
            </a:r>
          </a:p>
          <a:p>
            <a:pPr algn="l">
              <a:lnSpc>
                <a:spcPct val="108000"/>
              </a:lnSpc>
            </a:pPr>
            <a:r>
              <a:rPr sz="900" b="0">
                <a:solidFill>
                  <a:srgbClr val="1B2740"/>
                </a:solidFill>
                <a:latin typeface="맑은 고딕"/>
                <a:ea typeface="맑은 고딕"/>
                <a:cs typeface="맑은 고딕"/>
              </a:rPr>
              <a:t>표적 2 대공: 200 m/s, 고도 2,000 m, 13.4 -&gt; 4.8 km 로 접근</a:t>
            </a:r>
          </a:p>
        </p:txBody>
      </p:sp>
      <p:sp>
        <p:nvSpPr>
          <p:cNvPr id="10" name="Rectangle 9"/>
          <p:cNvSpPr/>
          <p:nvPr/>
        </p:nvSpPr>
        <p:spPr>
          <a:xfrm>
            <a:off x="4315968" y="2212848"/>
            <a:ext cx="3547872" cy="768096"/>
          </a:xfrm>
          <a:prstGeom prst="rect">
            <a:avLst/>
          </a:prstGeom>
          <a:solidFill>
            <a:srgbClr val="F7F9FC"/>
          </a:solidFill>
          <a:ln w="9525">
            <a:solidFill>
              <a:srgbClr val="D2D9E5"/>
            </a:solidFill>
          </a:ln>
        </p:spPr>
        <p:txBody>
          <a:bodyPr rtlCol="0" anchor="ctr"/>
          <a:lstStyle/>
          <a:p>
            <a:pPr algn="ctr"/>
          </a:p>
        </p:txBody>
      </p:sp>
      <p:sp>
        <p:nvSpPr>
          <p:cNvPr id="11" name="TextBox 10"/>
          <p:cNvSpPr txBox="1"/>
          <p:nvPr/>
        </p:nvSpPr>
        <p:spPr>
          <a:xfrm>
            <a:off x="4425696" y="2212848"/>
            <a:ext cx="914400" cy="768096"/>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측정 (과제 4)</a:t>
            </a:r>
          </a:p>
        </p:txBody>
      </p:sp>
      <p:sp>
        <p:nvSpPr>
          <p:cNvPr id="12" name="TextBox 11"/>
          <p:cNvSpPr txBox="1"/>
          <p:nvPr/>
        </p:nvSpPr>
        <p:spPr>
          <a:xfrm>
            <a:off x="5340096" y="2212848"/>
            <a:ext cx="2468880" cy="768096"/>
          </a:xfrm>
          <a:prstGeom prst="rect">
            <a:avLst/>
          </a:prstGeom>
          <a:noFill/>
        </p:spPr>
        <p:txBody>
          <a:bodyPr wrap="square" lIns="0" tIns="0" rIns="0" bIns="0" anchor="ctr">
            <a:spAutoFit/>
          </a:bodyPr>
          <a:lstStyle/>
          <a:p>
            <a:pPr algn="l">
              <a:lnSpc>
                <a:spcPct val="108000"/>
              </a:lnSpc>
            </a:pPr>
            <a:r>
              <a:rPr sz="900" b="0">
                <a:solidFill>
                  <a:srgbClr val="1B2740"/>
                </a:solidFill>
                <a:latin typeface="맑은 고딕"/>
                <a:ea typeface="맑은 고딕"/>
                <a:cs typeface="맑은 고딕"/>
              </a:rPr>
              <a:t>116 s, 스캔 간격 0.1 s = 1,160 스캔</a:t>
            </a:r>
          </a:p>
          <a:p>
            <a:pPr algn="l">
              <a:lnSpc>
                <a:spcPct val="108000"/>
              </a:lnSpc>
            </a:pPr>
            <a:r>
              <a:rPr sz="900" b="0">
                <a:solidFill>
                  <a:srgbClr val="1B2740"/>
                </a:solidFill>
                <a:latin typeface="맑은 고딕"/>
                <a:ea typeface="맑은 고딕"/>
                <a:cs typeface="맑은 고딕"/>
              </a:rPr>
              <a:t>SNR 20, 스캔당 클러터 5 개</a:t>
            </a:r>
          </a:p>
          <a:p>
            <a:pPr algn="l">
              <a:lnSpc>
                <a:spcPct val="108000"/>
              </a:lnSpc>
            </a:pPr>
            <a:r>
              <a:rPr sz="900" b="0">
                <a:solidFill>
                  <a:srgbClr val="1B2740"/>
                </a:solidFill>
                <a:latin typeface="맑은 고딕"/>
                <a:ea typeface="맑은 고딕"/>
                <a:cs typeface="맑은 고딕"/>
              </a:rPr>
              <a:t>플롯 7 개 / 스캔, 메시지 919 B</a:t>
            </a:r>
          </a:p>
        </p:txBody>
      </p:sp>
      <p:sp>
        <p:nvSpPr>
          <p:cNvPr id="13" name="Rectangle 12"/>
          <p:cNvSpPr/>
          <p:nvPr/>
        </p:nvSpPr>
        <p:spPr>
          <a:xfrm>
            <a:off x="7991855" y="2212848"/>
            <a:ext cx="3547872" cy="768096"/>
          </a:xfrm>
          <a:prstGeom prst="rect">
            <a:avLst/>
          </a:prstGeom>
          <a:solidFill>
            <a:srgbClr val="F7F9FC"/>
          </a:solidFill>
          <a:ln w="9525">
            <a:solidFill>
              <a:srgbClr val="D2D9E5"/>
            </a:solidFill>
          </a:ln>
        </p:spPr>
        <p:txBody>
          <a:bodyPr rtlCol="0" anchor="ctr"/>
          <a:lstStyle/>
          <a:p>
            <a:pPr algn="ctr"/>
          </a:p>
        </p:txBody>
      </p:sp>
      <p:sp>
        <p:nvSpPr>
          <p:cNvPr id="14" name="TextBox 13"/>
          <p:cNvSpPr txBox="1"/>
          <p:nvPr/>
        </p:nvSpPr>
        <p:spPr>
          <a:xfrm>
            <a:off x="8101583" y="2212848"/>
            <a:ext cx="914400" cy="768096"/>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UDP 송수신</a:t>
            </a:r>
          </a:p>
        </p:txBody>
      </p:sp>
      <p:sp>
        <p:nvSpPr>
          <p:cNvPr id="15" name="TextBox 14"/>
          <p:cNvSpPr txBox="1"/>
          <p:nvPr/>
        </p:nvSpPr>
        <p:spPr>
          <a:xfrm>
            <a:off x="9015984" y="2212848"/>
            <a:ext cx="2468880" cy="768096"/>
          </a:xfrm>
          <a:prstGeom prst="rect">
            <a:avLst/>
          </a:prstGeom>
          <a:noFill/>
        </p:spPr>
        <p:txBody>
          <a:bodyPr wrap="square" lIns="0" tIns="0" rIns="0" bIns="0" anchor="ctr">
            <a:spAutoFit/>
          </a:bodyPr>
          <a:lstStyle/>
          <a:p>
            <a:pPr algn="l">
              <a:lnSpc>
                <a:spcPct val="108000"/>
              </a:lnSpc>
            </a:pPr>
            <a:r>
              <a:rPr sz="900" b="0">
                <a:solidFill>
                  <a:srgbClr val="1B2740"/>
                </a:solidFill>
                <a:latin typeface="맑은 고딕"/>
                <a:ea typeface="맑은 고딕"/>
                <a:cs typeface="맑은 고딕"/>
              </a:rPr>
              <a:t>보냄 1,160 / 받음 1,160 / 손실 0</a:t>
            </a:r>
          </a:p>
          <a:p>
            <a:pPr algn="l">
              <a:lnSpc>
                <a:spcPct val="108000"/>
              </a:lnSpc>
            </a:pPr>
            <a:r>
              <a:rPr sz="900" b="0">
                <a:solidFill>
                  <a:srgbClr val="1B2740"/>
                </a:solidFill>
                <a:latin typeface="맑은 고딕"/>
                <a:ea typeface="맑은 고딕"/>
                <a:cs typeface="맑은 고딕"/>
              </a:rPr>
              <a:t>트랙 개시 355, 삭제 상태 353 (끝에 2 개 남음)</a:t>
            </a:r>
          </a:p>
          <a:p>
            <a:pPr algn="l">
              <a:lnSpc>
                <a:spcPct val="108000"/>
              </a:lnSpc>
            </a:pPr>
            <a:r>
              <a:rPr sz="900" b="0">
                <a:solidFill>
                  <a:srgbClr val="1B2740"/>
                </a:solidFill>
                <a:latin typeface="맑은 고딕"/>
                <a:ea typeface="맑은 고딕"/>
                <a:cs typeface="맑은 고딕"/>
              </a:rPr>
              <a:t>클러터끼리 만든 트랙 3 개는 모두 레이다 350 m 안쪽</a:t>
            </a:r>
          </a:p>
        </p:txBody>
      </p:sp>
      <p:pic>
        <p:nvPicPr>
          <p:cNvPr id="16" name="Picture 15" descr="res_view.png"/>
          <p:cNvPicPr>
            <a:picLocks noChangeAspect="1"/>
          </p:cNvPicPr>
          <p:nvPr/>
        </p:nvPicPr>
        <p:blipFill>
          <a:blip r:embed="rId3"/>
          <a:stretch>
            <a:fillRect/>
          </a:stretch>
        </p:blipFill>
        <p:spPr>
          <a:xfrm>
            <a:off x="640080" y="3090672"/>
            <a:ext cx="10908792" cy="2841786"/>
          </a:xfrm>
          <a:prstGeom prst="rect">
            <a:avLst/>
          </a:prstGeom>
          <a:ln w="9525">
            <a:solidFill>
              <a:srgbClr val="D2D9E5"/>
            </a:solidFill>
          </a:ln>
        </p:spPr>
      </p:pic>
      <p:sp>
        <p:nvSpPr>
          <p:cNvPr id="17" name="TextBox 16"/>
          <p:cNvSpPr txBox="1"/>
          <p:nvPr/>
        </p:nvSpPr>
        <p:spPr>
          <a:xfrm>
            <a:off x="640080" y="5961888"/>
            <a:ext cx="10908792" cy="274320"/>
          </a:xfrm>
          <a:prstGeom prst="rect">
            <a:avLst/>
          </a:prstGeom>
          <a:noFill/>
        </p:spPr>
        <p:txBody>
          <a:bodyPr wrap="square" lIns="0" tIns="0" rIns="0" bIns="0" anchor="ctr">
            <a:spAutoFit/>
          </a:bodyPr>
          <a:lstStyle/>
          <a:p>
            <a:pPr algn="l"/>
            <a:r>
              <a:rPr sz="900" b="0">
                <a:solidFill>
                  <a:srgbClr val="4A5A7A"/>
                </a:solidFill>
                <a:latin typeface="맑은 고딕"/>
                <a:ea typeface="맑은 고딕"/>
                <a:cs typeface="맑은 고딕"/>
              </a:rPr>
              <a:t>표시 규칙은 프로그램 화면과 같습니다.  선: 참값 궤적,  마름모: 지금 위치,  점: 플롯 (회색은 클러터),  빈 주황 사각형: 임시 트랙,  회색 X: 삭제 트랙,  사각형에서 뻗은 선: 트랙 속도로 1 초 동안 가는 거리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4.2 트랙 수명과 스코어 확인</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연관이 늘 실패인 과제 조건에서는 모든 트랙이 TrackScore 2 -&gt; 1 -&gt; 0 으로 내려가 세 스캔 만에 삭제됩니다. 확정 · 메모리는 스코어 확인 창으로 검증했습니다.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3-2 · 3-3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31136"/>
            <a:ext cx="630936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스캔 545 의 트랙 표</a:t>
            </a:r>
            <a:r>
              <a:rPr sz="950" b="0">
                <a:solidFill>
                  <a:srgbClr val="8794AC"/>
                </a:solidFill>
                <a:latin typeface="Consolas"/>
                <a:ea typeface="Consolas"/>
                <a:cs typeface="Consolas"/>
              </a:rPr>
              <a:t>    프로그램 결과 표의 값</a:t>
            </a:r>
          </a:p>
        </p:txBody>
      </p:sp>
      <p:graphicFrame>
        <p:nvGraphicFramePr>
          <p:cNvPr id="8" name="Table 7"/>
          <p:cNvGraphicFramePr>
            <a:graphicFrameLocks noGrp="1"/>
          </p:cNvGraphicFramePr>
          <p:nvPr/>
        </p:nvGraphicFramePr>
        <p:xfrm>
          <a:off x="640080" y="2505456"/>
          <a:ext cx="6309360" cy="1097280"/>
        </p:xfrm>
        <a:graphic>
          <a:graphicData uri="http://schemas.openxmlformats.org/drawingml/2006/table">
            <a:tbl>
              <a:tblPr firstRow="1" bandRow="1">
                <a:tableStyleId>{5C22544A-7EE6-4342-B048-85BDC9FD1C3A}</a:tableStyleId>
              </a:tblPr>
              <a:tblGrid>
                <a:gridCol w="594360"/>
                <a:gridCol w="777240"/>
                <a:gridCol w="777240"/>
                <a:gridCol w="868680"/>
                <a:gridCol w="914400"/>
                <a:gridCol w="685800"/>
                <a:gridCol w="1143000"/>
                <a:gridCol w="548640"/>
              </a:tblGrid>
              <a:tr h="274320">
                <a:tc>
                  <a:txBody>
                    <a:bodyPr/>
                    <a:lstStyle/>
                    <a:p>
                      <a:pPr algn="l"/>
                      <a:r>
                        <a:rPr sz="850" b="1">
                          <a:solidFill>
                            <a:srgbClr val="FFFFFF"/>
                          </a:solidFill>
                          <a:latin typeface="맑은 고딕"/>
                          <a:ea typeface="맑은 고딕"/>
                          <a:cs typeface="맑은 고딕"/>
                        </a:rPr>
                        <a:t>트랙 ID</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TrackState</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TrackScore</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MemoryScore</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Assigned_Flag</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개시 스캔</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개시 플롯 (앞, 이번)</a:t>
                      </a:r>
                    </a:p>
                  </a:txBody>
                  <a:tcPr marL="54864" marR="54864" marT="18288" marB="18288" anchor="ctr">
                    <a:solidFill>
                      <a:srgbClr val="1B2740"/>
                    </a:solidFill>
                  </a:tcPr>
                </a:tc>
                <a:tc>
                  <a:txBody>
                    <a:bodyPr/>
                    <a:lstStyle/>
                    <a:p>
                      <a:pPr algn="l"/>
                      <a:r>
                        <a:rPr sz="850" b="1">
                          <a:solidFill>
                            <a:srgbClr val="FFFFFF"/>
                          </a:solidFill>
                          <a:latin typeface="맑은 고딕"/>
                          <a:ea typeface="맑은 고딕"/>
                          <a:cs typeface="맑은 고딕"/>
                        </a:rPr>
                        <a:t>참값</a:t>
                      </a:r>
                    </a:p>
                  </a:txBody>
                  <a:tcPr marL="54864" marR="54864" marT="18288" marB="18288" anchor="ctr">
                    <a:solidFill>
                      <a:srgbClr val="1B2740"/>
                    </a:solidFill>
                  </a:tcPr>
                </a:tc>
              </a:tr>
              <a:tr h="274320">
                <a:tc>
                  <a:txBody>
                    <a:bodyPr/>
                    <a:lstStyle/>
                    <a:p>
                      <a:pPr algn="l"/>
                      <a:r>
                        <a:rPr sz="950" b="0">
                          <a:solidFill>
                            <a:srgbClr val="1B2740"/>
                          </a:solidFill>
                          <a:latin typeface="맑은 고딕"/>
                          <a:ea typeface="맑은 고딕"/>
                          <a:cs typeface="맑은 고딕"/>
                        </a:rPr>
                        <a:t>240</a:t>
                      </a:r>
                    </a:p>
                  </a:txBody>
                  <a:tcPr marL="54864" marR="54864" marT="18288" marB="18288" anchor="ctr">
                    <a:solidFill>
                      <a:srgbClr val="FFFFFF"/>
                    </a:solidFill>
                  </a:tcPr>
                </a:tc>
                <a:tc>
                  <a:txBody>
                    <a:bodyPr/>
                    <a:lstStyle/>
                    <a:p>
                      <a:pPr algn="l"/>
                      <a:r>
                        <a:rPr sz="950" b="1">
                          <a:solidFill>
                            <a:srgbClr val="6B7280"/>
                          </a:solidFill>
                          <a:latin typeface="맑은 고딕"/>
                          <a:ea typeface="맑은 고딕"/>
                          <a:cs typeface="맑은 고딕"/>
                        </a:rPr>
                        <a:t>4 삭제</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543</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13796, 13804</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표적 2</a:t>
                      </a:r>
                    </a:p>
                  </a:txBody>
                  <a:tcPr marL="54864" marR="54864" marT="18288" marB="18288" anchor="ctr">
                    <a:solidFill>
                      <a:srgbClr val="FFFFFF"/>
                    </a:solidFill>
                  </a:tcPr>
                </a:tc>
              </a:tr>
              <a:tr h="274320">
                <a:tc>
                  <a:txBody>
                    <a:bodyPr/>
                    <a:lstStyle/>
                    <a:p>
                      <a:pPr algn="l"/>
                      <a:r>
                        <a:rPr sz="950" b="0">
                          <a:solidFill>
                            <a:srgbClr val="1B2740"/>
                          </a:solidFill>
                          <a:latin typeface="맑은 고딕"/>
                          <a:ea typeface="맑은 고딕"/>
                          <a:cs typeface="맑은 고딕"/>
                        </a:rPr>
                        <a:t>241</a:t>
                      </a:r>
                    </a:p>
                  </a:txBody>
                  <a:tcPr marL="54864" marR="54864" marT="18288" marB="18288" anchor="ctr">
                    <a:solidFill>
                      <a:srgbClr val="F7F9FC"/>
                    </a:solidFill>
                  </a:tcPr>
                </a:tc>
                <a:tc>
                  <a:txBody>
                    <a:bodyPr/>
                    <a:lstStyle/>
                    <a:p>
                      <a:pPr algn="l"/>
                      <a:r>
                        <a:rPr sz="950" b="1">
                          <a:solidFill>
                            <a:srgbClr val="EA580C"/>
                          </a:solidFill>
                          <a:latin typeface="맑은 고딕"/>
                          <a:ea typeface="맑은 고딕"/>
                          <a:cs typeface="맑은 고딕"/>
                        </a:rPr>
                        <a:t>1 임시</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544</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13805, 13814</a:t>
                      </a:r>
                    </a:p>
                  </a:txBody>
                  <a:tcPr marL="54864" marR="54864" marT="18288" marB="18288" anchor="ctr">
                    <a:solidFill>
                      <a:srgbClr val="F7F9FC"/>
                    </a:solidFill>
                  </a:tcPr>
                </a:tc>
                <a:tc>
                  <a:txBody>
                    <a:bodyPr/>
                    <a:lstStyle/>
                    <a:p>
                      <a:pPr algn="l"/>
                      <a:r>
                        <a:rPr sz="950" b="0">
                          <a:solidFill>
                            <a:srgbClr val="1B2740"/>
                          </a:solidFill>
                          <a:latin typeface="맑은 고딕"/>
                          <a:ea typeface="맑은 고딕"/>
                          <a:cs typeface="맑은 고딕"/>
                        </a:rPr>
                        <a:t>표적 1</a:t>
                      </a:r>
                    </a:p>
                  </a:txBody>
                  <a:tcPr marL="54864" marR="54864" marT="18288" marB="18288" anchor="ctr">
                    <a:solidFill>
                      <a:srgbClr val="F7F9FC"/>
                    </a:solidFill>
                  </a:tcPr>
                </a:tc>
              </a:tr>
              <a:tr h="274320">
                <a:tc>
                  <a:txBody>
                    <a:bodyPr/>
                    <a:lstStyle/>
                    <a:p>
                      <a:pPr algn="l"/>
                      <a:r>
                        <a:rPr sz="950" b="0">
                          <a:solidFill>
                            <a:srgbClr val="1B2740"/>
                          </a:solidFill>
                          <a:latin typeface="맑은 고딕"/>
                          <a:ea typeface="맑은 고딕"/>
                          <a:cs typeface="맑은 고딕"/>
                        </a:rPr>
                        <a:t>242</a:t>
                      </a:r>
                    </a:p>
                  </a:txBody>
                  <a:tcPr marL="54864" marR="54864" marT="18288" marB="18288" anchor="ctr">
                    <a:solidFill>
                      <a:srgbClr val="FFFFFF"/>
                    </a:solidFill>
                  </a:tcPr>
                </a:tc>
                <a:tc>
                  <a:txBody>
                    <a:bodyPr/>
                    <a:lstStyle/>
                    <a:p>
                      <a:pPr algn="l"/>
                      <a:r>
                        <a:rPr sz="950" b="1">
                          <a:solidFill>
                            <a:srgbClr val="EA580C"/>
                          </a:solidFill>
                          <a:latin typeface="맑은 고딕"/>
                          <a:ea typeface="맑은 고딕"/>
                          <a:cs typeface="맑은 고딕"/>
                        </a:rPr>
                        <a:t>1 임시</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2</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0</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545</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13813, 13819</a:t>
                      </a:r>
                    </a:p>
                  </a:txBody>
                  <a:tcPr marL="54864" marR="54864" marT="18288" marB="18288" anchor="ctr">
                    <a:solidFill>
                      <a:srgbClr val="FFFFFF"/>
                    </a:solidFill>
                  </a:tcPr>
                </a:tc>
                <a:tc>
                  <a:txBody>
                    <a:bodyPr/>
                    <a:lstStyle/>
                    <a:p>
                      <a:pPr algn="l"/>
                      <a:r>
                        <a:rPr sz="950" b="0">
                          <a:solidFill>
                            <a:srgbClr val="1B2740"/>
                          </a:solidFill>
                          <a:latin typeface="맑은 고딕"/>
                          <a:ea typeface="맑은 고딕"/>
                          <a:cs typeface="맑은 고딕"/>
                        </a:rPr>
                        <a:t>표적 2</a:t>
                      </a:r>
                    </a:p>
                  </a:txBody>
                  <a:tcPr marL="54864" marR="54864" marT="18288" marB="18288" anchor="ctr">
                    <a:solidFill>
                      <a:srgbClr val="FFFFFF"/>
                    </a:solidFill>
                  </a:tcPr>
                </a:tc>
              </a:tr>
            </a:tbl>
          </a:graphicData>
        </a:graphic>
      </p:graphicFrame>
      <p:sp>
        <p:nvSpPr>
          <p:cNvPr id="9" name="Oval 8"/>
          <p:cNvSpPr/>
          <p:nvPr/>
        </p:nvSpPr>
        <p:spPr>
          <a:xfrm>
            <a:off x="685800" y="37033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0" name="TextBox 9"/>
          <p:cNvSpPr txBox="1"/>
          <p:nvPr/>
        </p:nvSpPr>
        <p:spPr>
          <a:xfrm>
            <a:off x="1069848" y="3685032"/>
            <a:ext cx="5879592"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한 스캔에 나이가 다른 트랙 세 개</a:t>
            </a:r>
          </a:p>
          <a:p>
            <a:pPr algn="l">
              <a:lnSpc>
                <a:spcPct val="108000"/>
              </a:lnSpc>
            </a:pPr>
            <a:r>
              <a:rPr sz="1000" b="0">
                <a:solidFill>
                  <a:srgbClr val="4A5A7A"/>
                </a:solidFill>
                <a:latin typeface="맑은 고딕"/>
                <a:ea typeface="맑은 고딕"/>
                <a:cs typeface="맑은 고딕"/>
              </a:rPr>
              <a:t>242: 이번 스캔에 개시, TrackScore 2  /  241: 한 스캔 전 개시, 1</a:t>
            </a:r>
          </a:p>
          <a:p>
            <a:pPr algn="l">
              <a:lnSpc>
                <a:spcPct val="108000"/>
              </a:lnSpc>
            </a:pPr>
            <a:r>
              <a:rPr sz="1000" b="0">
                <a:solidFill>
                  <a:srgbClr val="4A5A7A"/>
                </a:solidFill>
                <a:latin typeface="맑은 고딕"/>
                <a:ea typeface="맑은 고딕"/>
                <a:cs typeface="맑은 고딕"/>
              </a:rPr>
              <a:t>240: 두 스캔 전 개시, 0 -&gt; 삭제 (4). 다음 스캔에 표에서 빠짐</a:t>
            </a:r>
          </a:p>
        </p:txBody>
      </p:sp>
      <p:pic>
        <p:nvPicPr>
          <p:cNvPr id="11" name="Picture 10" descr="res_life.png"/>
          <p:cNvPicPr>
            <a:picLocks noChangeAspect="1"/>
          </p:cNvPicPr>
          <p:nvPr/>
        </p:nvPicPr>
        <p:blipFill>
          <a:blip r:embed="rId3"/>
          <a:stretch>
            <a:fillRect/>
          </a:stretch>
        </p:blipFill>
        <p:spPr>
          <a:xfrm>
            <a:off x="640080" y="4526280"/>
            <a:ext cx="6309360" cy="2284423"/>
          </a:xfrm>
          <a:prstGeom prst="rect">
            <a:avLst/>
          </a:prstGeom>
        </p:spPr>
      </p:pic>
      <p:sp>
        <p:nvSpPr>
          <p:cNvPr id="12" name="TextBox 11"/>
          <p:cNvSpPr txBox="1"/>
          <p:nvPr/>
        </p:nvSpPr>
        <p:spPr>
          <a:xfrm>
            <a:off x="7269480" y="2231136"/>
            <a:ext cx="4279392"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스코어 확인 창</a:t>
            </a:r>
            <a:r>
              <a:rPr sz="950" b="0">
                <a:solidFill>
                  <a:srgbClr val="8794AC"/>
                </a:solidFill>
                <a:latin typeface="Consolas"/>
                <a:ea typeface="Consolas"/>
                <a:cs typeface="Consolas"/>
              </a:rPr>
              <a:t>    연관 결과를 직접 넣어 봄</a:t>
            </a:r>
          </a:p>
        </p:txBody>
      </p:sp>
      <p:pic>
        <p:nvPicPr>
          <p:cNvPr id="13" name="Picture 12" descr="score.png"/>
          <p:cNvPicPr>
            <a:picLocks noChangeAspect="1"/>
          </p:cNvPicPr>
          <p:nvPr/>
        </p:nvPicPr>
        <p:blipFill>
          <a:blip r:embed="rId4"/>
          <a:stretch>
            <a:fillRect/>
          </a:stretch>
        </p:blipFill>
        <p:spPr>
          <a:xfrm>
            <a:off x="7269480" y="2505456"/>
            <a:ext cx="3479201" cy="2788920"/>
          </a:xfrm>
          <a:prstGeom prst="rect">
            <a:avLst/>
          </a:prstGeom>
          <a:ln w="9525">
            <a:solidFill>
              <a:srgbClr val="D2D9E5"/>
            </a:solidFill>
          </a:ln>
        </p:spPr>
      </p:pic>
      <p:sp>
        <p:nvSpPr>
          <p:cNvPr id="14" name="Oval 13"/>
          <p:cNvSpPr/>
          <p:nvPr/>
        </p:nvSpPr>
        <p:spPr>
          <a:xfrm>
            <a:off x="7315200" y="5440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TextBox 14"/>
          <p:cNvSpPr txBox="1"/>
          <p:nvPr/>
        </p:nvSpPr>
        <p:spPr>
          <a:xfrm>
            <a:off x="7699248" y="5422392"/>
            <a:ext cx="3822191" cy="713232"/>
          </a:xfrm>
          <a:prstGeom prst="rect">
            <a:avLst/>
          </a:prstGeom>
          <a:noFill/>
        </p:spPr>
        <p:txBody>
          <a:bodyPr wrap="square" lIns="0" tIns="0" rIns="0" bIns="0" anchor="t">
            <a:spAutoFit/>
          </a:bodyPr>
          <a:lstStyle/>
          <a:p>
            <a:pPr algn="l">
              <a:lnSpc>
                <a:spcPct val="108000"/>
              </a:lnSpc>
            </a:pPr>
            <a:r>
              <a:rPr sz="1150" b="1">
                <a:solidFill>
                  <a:srgbClr val="1B2740"/>
                </a:solidFill>
                <a:latin typeface="맑은 고딕"/>
                <a:ea typeface="맑은 고딕"/>
                <a:cs typeface="맑은 고딕"/>
              </a:rPr>
              <a:t>1 1 1 0 0 1 1 을 넣으면</a:t>
            </a:r>
          </a:p>
          <a:p>
            <a:pPr algn="l">
              <a:lnSpc>
                <a:spcPct val="108000"/>
              </a:lnSpc>
            </a:pPr>
            <a:r>
              <a:rPr sz="1000" b="0">
                <a:solidFill>
                  <a:srgbClr val="4A5A7A"/>
                </a:solidFill>
                <a:latin typeface="맑은 고딕"/>
                <a:ea typeface="맑은 고딕"/>
                <a:cs typeface="맑은 고딕"/>
              </a:rPr>
              <a:t>3 번째 스캔에 확정, 두 번 실패해 메모리, 다시 성공하면</a:t>
            </a:r>
          </a:p>
          <a:p>
            <a:pPr algn="l">
              <a:lnSpc>
                <a:spcPct val="108000"/>
              </a:lnSpc>
            </a:pPr>
            <a:r>
              <a:rPr sz="1000" b="0">
                <a:solidFill>
                  <a:srgbClr val="4A5A7A"/>
                </a:solidFill>
                <a:latin typeface="맑은 고딕"/>
                <a:ea typeface="맑은 고딕"/>
                <a:cs typeface="맑은 고딕"/>
              </a:rPr>
              <a:t>바로 확정 (MemoryScore 0). 같은 f_Trk_UpdateState 를 부름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4.3 거리에 따른 개시 결과</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멀리 있는 표적일수록 플롯이 크게 흔들려 같은 표적의 두 플롯도 80 m 게이트를 넘기 쉽습니다. 그래서 먼 표적은 트랙이 덜 만들어집니다.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1.2 · 속도 게이팅</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7" name="Picture 6" descr="fig_rate.png"/>
          <p:cNvPicPr>
            <a:picLocks noChangeAspect="1"/>
          </p:cNvPicPr>
          <p:nvPr/>
        </p:nvPicPr>
        <p:blipFill>
          <a:blip r:embed="rId3"/>
          <a:stretch>
            <a:fillRect/>
          </a:stretch>
        </p:blipFill>
        <p:spPr>
          <a:xfrm>
            <a:off x="640080" y="2286000"/>
            <a:ext cx="6309360" cy="3102964"/>
          </a:xfrm>
          <a:prstGeom prst="rect">
            <a:avLst/>
          </a:prstGeom>
        </p:spPr>
      </p:pic>
      <p:graphicFrame>
        <p:nvGraphicFramePr>
          <p:cNvPr id="8" name="Table 7"/>
          <p:cNvGraphicFramePr>
            <a:graphicFrameLocks noGrp="1"/>
          </p:cNvGraphicFramePr>
          <p:nvPr/>
        </p:nvGraphicFramePr>
        <p:xfrm>
          <a:off x="7132320" y="2377440"/>
          <a:ext cx="4416552" cy="1975104"/>
        </p:xfrm>
        <a:graphic>
          <a:graphicData uri="http://schemas.openxmlformats.org/drawingml/2006/table">
            <a:tbl>
              <a:tblPr firstRow="1" bandRow="1">
                <a:tableStyleId>{5C22544A-7EE6-4342-B048-85BDC9FD1C3A}</a:tableStyleId>
              </a:tblPr>
              <a:tblGrid>
                <a:gridCol w="457200"/>
                <a:gridCol w="914400"/>
                <a:gridCol w="640080"/>
                <a:gridCol w="822960"/>
                <a:gridCol w="758952"/>
                <a:gridCol w="822960"/>
              </a:tblGrid>
              <a:tr h="329184">
                <a:tc>
                  <a:txBody>
                    <a:bodyPr/>
                    <a:lstStyle/>
                    <a:p>
                      <a:pPr algn="l"/>
                      <a:r>
                        <a:rPr sz="1000" b="1">
                          <a:solidFill>
                            <a:srgbClr val="FFFFFF"/>
                          </a:solidFill>
                          <a:latin typeface="맑은 고딕"/>
                          <a:ea typeface="맑은 고딕"/>
                          <a:cs typeface="맑은 고딕"/>
                        </a:rPr>
                        <a:t>표적</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거리 [km]</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스캔 쌍</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게이트 통과</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개시 트랙</a:t>
                      </a:r>
                    </a:p>
                  </a:txBody>
                  <a:tcPr marL="54864" marR="54864" marT="18288" marB="18288" anchor="ctr">
                    <a:solidFill>
                      <a:srgbClr val="1B2740"/>
                    </a:solidFill>
                  </a:tcPr>
                </a:tc>
                <a:tc>
                  <a:txBody>
                    <a:bodyPr/>
                    <a:lstStyle/>
                    <a:p>
                      <a:pPr algn="l"/>
                      <a:r>
                        <a:rPr sz="1000" b="1">
                          <a:solidFill>
                            <a:srgbClr val="FFFFFF"/>
                          </a:solidFill>
                          <a:latin typeface="맑은 고딕"/>
                          <a:ea typeface="맑은 고딕"/>
                          <a:cs typeface="맑은 고딕"/>
                        </a:rPr>
                        <a:t>개시 비율</a:t>
                      </a:r>
                    </a:p>
                  </a:txBody>
                  <a:tcPr marL="54864" marR="54864" marT="18288" marB="18288" anchor="ctr">
                    <a:solidFill>
                      <a:srgbClr val="1B2740"/>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4.8 ~ 6.5</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305</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45 %</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96</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31 %</a:t>
                      </a:r>
                    </a:p>
                  </a:txBody>
                  <a:tcPr marL="54864" marR="54864" marT="18288" marB="18288" anchor="ctr">
                    <a:solidFill>
                      <a:srgbClr val="FFFFFF"/>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6.5 ~ 8.0</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87</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32 %</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21</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24 %</a:t>
                      </a:r>
                    </a:p>
                  </a:txBody>
                  <a:tcPr marL="54864" marR="54864" marT="18288" marB="18288" anchor="ctr">
                    <a:solidFill>
                      <a:srgbClr val="F7F9FC"/>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8.0 ~ 10.5</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414</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23 %</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71</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17 %</a:t>
                      </a:r>
                    </a:p>
                  </a:txBody>
                  <a:tcPr marL="54864" marR="54864" marT="18288" marB="18288" anchor="ctr">
                    <a:solidFill>
                      <a:srgbClr val="FFFFFF"/>
                    </a:solidFill>
                  </a:tcPr>
                </a:tc>
              </a:tr>
              <a:tr h="329184">
                <a:tc>
                  <a:txBody>
                    <a:bodyPr/>
                    <a:lstStyle/>
                    <a:p>
                      <a:pPr algn="l"/>
                      <a:r>
                        <a:rPr sz="1050" b="0">
                          <a:solidFill>
                            <a:srgbClr val="1B2740"/>
                          </a:solidFill>
                          <a:latin typeface="맑은 고딕"/>
                          <a:ea typeface="맑은 고딕"/>
                          <a:cs typeface="맑은 고딕"/>
                        </a:rPr>
                        <a:t>2</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10.5 ~ 13.4</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348</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15 %</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46</a:t>
                      </a:r>
                    </a:p>
                  </a:txBody>
                  <a:tcPr marL="54864" marR="54864" marT="18288" marB="18288" anchor="ctr">
                    <a:solidFill>
                      <a:srgbClr val="F7F9FC"/>
                    </a:solidFill>
                  </a:tcPr>
                </a:tc>
                <a:tc>
                  <a:txBody>
                    <a:bodyPr/>
                    <a:lstStyle/>
                    <a:p>
                      <a:pPr algn="l"/>
                      <a:r>
                        <a:rPr sz="1050" b="0">
                          <a:solidFill>
                            <a:srgbClr val="1B2740"/>
                          </a:solidFill>
                          <a:latin typeface="맑은 고딕"/>
                          <a:ea typeface="맑은 고딕"/>
                          <a:cs typeface="맑은 고딕"/>
                        </a:rPr>
                        <a:t>13 %</a:t>
                      </a:r>
                    </a:p>
                  </a:txBody>
                  <a:tcPr marL="54864" marR="54864" marT="18288" marB="18288" anchor="ctr">
                    <a:solidFill>
                      <a:srgbClr val="F7F9FC"/>
                    </a:solidFill>
                  </a:tcPr>
                </a:tc>
              </a:tr>
              <a:tr h="329184">
                <a:tc>
                  <a:txBody>
                    <a:bodyPr/>
                    <a:lstStyle/>
                    <a:p>
                      <a:pPr algn="l"/>
                      <a:r>
                        <a:rPr sz="1050" b="0">
                          <a:solidFill>
                            <a:srgbClr val="1B2740"/>
                          </a:solidFill>
                          <a:latin typeface="맑은 고딕"/>
                          <a:ea typeface="맑은 고딕"/>
                          <a:cs typeface="맑은 고딕"/>
                        </a:rPr>
                        <a:t>1</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13.6 ~ 14.2</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1,159</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12 %</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117</a:t>
                      </a:r>
                    </a:p>
                  </a:txBody>
                  <a:tcPr marL="54864" marR="54864" marT="18288" marB="18288" anchor="ctr">
                    <a:solidFill>
                      <a:srgbClr val="FFFFFF"/>
                    </a:solidFill>
                  </a:tcPr>
                </a:tc>
                <a:tc>
                  <a:txBody>
                    <a:bodyPr/>
                    <a:lstStyle/>
                    <a:p>
                      <a:pPr algn="l"/>
                      <a:r>
                        <a:rPr sz="1050" b="0">
                          <a:solidFill>
                            <a:srgbClr val="1B2740"/>
                          </a:solidFill>
                          <a:latin typeface="맑은 고딕"/>
                          <a:ea typeface="맑은 고딕"/>
                          <a:cs typeface="맑은 고딕"/>
                        </a:rPr>
                        <a:t>10 %</a:t>
                      </a:r>
                    </a:p>
                  </a:txBody>
                  <a:tcPr marL="54864" marR="54864" marT="18288" marB="18288" anchor="ctr">
                    <a:solidFill>
                      <a:srgbClr val="FFFFFF"/>
                    </a:solidFill>
                  </a:tcPr>
                </a:tc>
              </a:tr>
            </a:tbl>
          </a:graphicData>
        </a:graphic>
      </p:graphicFrame>
      <p:sp>
        <p:nvSpPr>
          <p:cNvPr id="9" name="TextBox 8"/>
          <p:cNvSpPr txBox="1"/>
          <p:nvPr/>
        </p:nvSpPr>
        <p:spPr>
          <a:xfrm>
            <a:off x="7132320" y="4434840"/>
            <a:ext cx="4416552" cy="1371600"/>
          </a:xfrm>
          <a:prstGeom prst="rect">
            <a:avLst/>
          </a:prstGeom>
          <a:noFill/>
        </p:spPr>
        <p:txBody>
          <a:bodyPr wrap="square" lIns="0" tIns="0" rIns="0" bIns="0" anchor="t">
            <a:spAutoFit/>
          </a:bodyPr>
          <a:lstStyle/>
          <a:p>
            <a:pPr algn="l">
              <a:lnSpc>
                <a:spcPct val="112000"/>
              </a:lnSpc>
            </a:pPr>
            <a:r>
              <a:rPr sz="1050" b="1">
                <a:solidFill>
                  <a:srgbClr val="1B2740"/>
                </a:solidFill>
                <a:latin typeface="맑은 고딕"/>
                <a:ea typeface="맑은 고딕"/>
                <a:cs typeface="맑은 고딕"/>
              </a:rPr>
              <a:t>읽는 법</a:t>
            </a:r>
          </a:p>
          <a:p>
            <a:pPr algn="l">
              <a:lnSpc>
                <a:spcPct val="112000"/>
              </a:lnSpc>
            </a:pPr>
            <a:r>
              <a:rPr sz="1000" b="0">
                <a:solidFill>
                  <a:srgbClr val="4A5A7A"/>
                </a:solidFill>
                <a:latin typeface="맑은 고딕"/>
                <a:ea typeface="맑은 고딕"/>
                <a:cs typeface="맑은 고딕"/>
              </a:rPr>
              <a:t>왼쪽 파란 선은 측정 잡음만으로 계산한 이론 통과율, 주황 점은 시뮬레이션입니다.</a:t>
            </a:r>
          </a:p>
          <a:p>
            <a:pPr algn="l">
              <a:lnSpc>
                <a:spcPct val="112000"/>
              </a:lnSpc>
            </a:pPr>
            <a:r>
              <a:rPr sz="1000" b="0">
                <a:solidFill>
                  <a:srgbClr val="4A5A7A"/>
                </a:solidFill>
                <a:latin typeface="맑은 고딕"/>
                <a:ea typeface="맑은 고딕"/>
                <a:cs typeface="맑은 고딕"/>
              </a:rPr>
              <a:t>표는 가까운 순서입니다. 표적 2 는 다가오는 표적이라 거리 구간으로 나눴고, 개시 비율 = 개시 트랙 / 스캔 쌍 입니다.</a:t>
            </a:r>
          </a:p>
          <a:p>
            <a:pPr algn="l">
              <a:lnSpc>
                <a:spcPct val="112000"/>
              </a:lnSpc>
            </a:pPr>
            <a:r>
              <a:rPr sz="1000" b="0">
                <a:solidFill>
                  <a:srgbClr val="4A5A7A"/>
                </a:solidFill>
                <a:latin typeface="맑은 고딕"/>
                <a:ea typeface="맑은 고딕"/>
                <a:cs typeface="맑은 고딕"/>
              </a:rPr>
              <a:t>각도 오차 0.48° 가 거리를 곱한 만큼 옆 방향 위치 오차가 됩니다. 5 km 면 ±42 m, 14 km 면 ±117 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05. 정리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정리</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이번 과제에서 만든 것과 확인한 것, 그리고 다음 과제로 이어지는 부분입니다.</a:t>
            </a:r>
            <a:endParaRPr lang="en-US" sz="1250" dirty="0"/>
          </a:p>
        </p:txBody>
      </p:sp>
      <p:sp>
        <p:nvSpPr>
          <p:cNvPr id="5" name="TextBox 4"/>
          <p:cNvSpPr txBox="1"/>
          <p:nvPr/>
        </p:nvSpPr>
        <p:spPr>
          <a:xfrm>
            <a:off x="7726679" y="566928"/>
            <a:ext cx="3657600" cy="566928"/>
          </a:xfrm>
          <a:prstGeom prst="rect">
            <a:avLst/>
          </a:prstGeom>
          <a:noFill/>
        </p:spPr>
        <p:txBody>
          <a:bodyPr wrap="square" lIns="0" tIns="0" rIns="0" bIns="0" anchor="ctr">
            <a:spAutoFit/>
          </a:bodyPr>
          <a:lstStyle/>
          <a:p>
            <a:pPr algn="r"/>
            <a:r>
              <a:rPr sz="1000" b="0">
                <a:solidFill>
                  <a:srgbClr val="8FA3C4"/>
                </a:solidFill>
                <a:latin typeface="맑은 고딕"/>
                <a:ea typeface="맑은 고딕"/>
                <a:cs typeface="맑은 고딕"/>
              </a:rPr>
              <a:t>과제  </a:t>
            </a:r>
            <a:r>
              <a:rPr sz="1050" b="1">
                <a:solidFill>
                  <a:srgbClr val="D5DEEC"/>
                </a:solidFill>
                <a:latin typeface="맑은 고딕"/>
                <a:ea typeface="맑은 고딕"/>
                <a:cs typeface="맑은 고딕"/>
              </a:rPr>
              <a:t>1 · 2 · 3</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ounded Rectangle 6"/>
          <p:cNvSpPr/>
          <p:nvPr/>
        </p:nvSpPr>
        <p:spPr>
          <a:xfrm>
            <a:off x="640080" y="2240280"/>
            <a:ext cx="7315200" cy="749808"/>
          </a:xfrm>
          <a:prstGeom prst="roundRect">
            <a:avLst>
              <a:gd name="adj" fmla="val 9756"/>
            </a:avLst>
          </a:prstGeom>
          <a:solidFill>
            <a:srgbClr val="EAF1FD"/>
          </a:solidFill>
          <a:ln w="12700">
            <a:solidFill>
              <a:srgbClr val="2563EB"/>
            </a:solidFill>
          </a:ln>
        </p:spPr>
        <p:txBody>
          <a:bodyPr rtlCol="0" anchor="ctr"/>
          <a:lstStyle/>
          <a:p>
            <a:pPr algn="ctr"/>
          </a:p>
        </p:txBody>
      </p:sp>
      <p:sp>
        <p:nvSpPr>
          <p:cNvPr id="8" name="TextBox 7"/>
          <p:cNvSpPr txBox="1"/>
          <p:nvPr/>
        </p:nvSpPr>
        <p:spPr>
          <a:xfrm>
            <a:off x="786384" y="2313432"/>
            <a:ext cx="7022592" cy="603503"/>
          </a:xfrm>
          <a:prstGeom prst="rect">
            <a:avLst/>
          </a:prstGeom>
          <a:noFill/>
        </p:spPr>
        <p:txBody>
          <a:bodyPr wrap="square" lIns="0" tIns="0" rIns="0" bIns="0" anchor="ctr">
            <a:spAutoFit/>
          </a:bodyPr>
          <a:lstStyle/>
          <a:p>
            <a:pPr algn="l">
              <a:lnSpc>
                <a:spcPct val="112000"/>
              </a:lnSpc>
            </a:pPr>
            <a:r>
              <a:rPr sz="1150" b="1">
                <a:solidFill>
                  <a:srgbClr val="2563EB"/>
                </a:solidFill>
                <a:latin typeface="맑은 고딕"/>
                <a:ea typeface="맑은 고딕"/>
                <a:cs typeface="맑은 고딕"/>
              </a:rPr>
              <a:t>트랙 개시</a:t>
            </a:r>
          </a:p>
          <a:p>
            <a:pPr algn="l">
              <a:lnSpc>
                <a:spcPct val="112000"/>
              </a:lnSpc>
            </a:pPr>
            <a:r>
              <a:rPr sz="1000" b="0">
                <a:solidFill>
                  <a:srgbClr val="1B2740"/>
                </a:solidFill>
                <a:latin typeface="맑은 고딕"/>
                <a:ea typeface="맑은 고딕"/>
                <a:cs typeface="맑은 고딕"/>
              </a:rPr>
              <a:t>연속 두 스캔의 플롯 쌍 가운데 속도 게이트 (800 m/s) 를 통과한 쌍으로 2-Point 개시</a:t>
            </a:r>
          </a:p>
          <a:p>
            <a:pPr algn="l">
              <a:lnSpc>
                <a:spcPct val="112000"/>
              </a:lnSpc>
            </a:pPr>
            <a:r>
              <a:rPr sz="1000" b="0">
                <a:solidFill>
                  <a:srgbClr val="1B2740"/>
                </a:solidFill>
                <a:latin typeface="맑은 고딕"/>
                <a:ea typeface="맑은 고딕"/>
                <a:cs typeface="맑은 고딕"/>
              </a:rPr>
              <a:t>상태변수 9 개 (가속도 0), 오차 공분산 9 x 9, 트랙 ID 100 ~ 10000</a:t>
            </a:r>
          </a:p>
        </p:txBody>
      </p:sp>
      <p:sp>
        <p:nvSpPr>
          <p:cNvPr id="9" name="Rounded Rectangle 8"/>
          <p:cNvSpPr/>
          <p:nvPr/>
        </p:nvSpPr>
        <p:spPr>
          <a:xfrm>
            <a:off x="640080" y="3090672"/>
            <a:ext cx="7315200" cy="749808"/>
          </a:xfrm>
          <a:prstGeom prst="roundRect">
            <a:avLst>
              <a:gd name="adj" fmla="val 9756"/>
            </a:avLst>
          </a:prstGeom>
          <a:solidFill>
            <a:srgbClr val="E6F5EE"/>
          </a:solidFill>
          <a:ln w="12700">
            <a:solidFill>
              <a:srgbClr val="059669"/>
            </a:solidFill>
          </a:ln>
        </p:spPr>
        <p:txBody>
          <a:bodyPr rtlCol="0" anchor="ctr"/>
          <a:lstStyle/>
          <a:p>
            <a:pPr algn="ctr"/>
          </a:p>
        </p:txBody>
      </p:sp>
      <p:sp>
        <p:nvSpPr>
          <p:cNvPr id="10" name="TextBox 9"/>
          <p:cNvSpPr txBox="1"/>
          <p:nvPr/>
        </p:nvSpPr>
        <p:spPr>
          <a:xfrm>
            <a:off x="786384" y="3163824"/>
            <a:ext cx="7022592" cy="603503"/>
          </a:xfrm>
          <a:prstGeom prst="rect">
            <a:avLst/>
          </a:prstGeom>
          <a:noFill/>
        </p:spPr>
        <p:txBody>
          <a:bodyPr wrap="square" lIns="0" tIns="0" rIns="0" bIns="0" anchor="ctr">
            <a:spAutoFit/>
          </a:bodyPr>
          <a:lstStyle/>
          <a:p>
            <a:pPr algn="l">
              <a:lnSpc>
                <a:spcPct val="112000"/>
              </a:lnSpc>
            </a:pPr>
            <a:r>
              <a:rPr sz="1150" b="1">
                <a:solidFill>
                  <a:srgbClr val="059669"/>
                </a:solidFill>
                <a:latin typeface="맑은 고딕"/>
                <a:ea typeface="맑은 고딕"/>
                <a:cs typeface="맑은 고딕"/>
              </a:rPr>
              <a:t>트랙 관리</a:t>
            </a:r>
          </a:p>
          <a:p>
            <a:pPr algn="l">
              <a:lnSpc>
                <a:spcPct val="112000"/>
              </a:lnSpc>
            </a:pPr>
            <a:r>
              <a:rPr sz="1000" b="0">
                <a:solidFill>
                  <a:srgbClr val="1B2740"/>
                </a:solidFill>
                <a:latin typeface="맑은 고딕"/>
                <a:ea typeface="맑은 고딕"/>
                <a:cs typeface="맑은 고딕"/>
              </a:rPr>
              <a:t>TrackScore · MemoryScore 와 문턱 5 / 0 / 5 로 임시 -&gt; 확정 -&gt; 메모리 -&gt; 삭제</a:t>
            </a:r>
          </a:p>
          <a:p>
            <a:pPr algn="l">
              <a:lnSpc>
                <a:spcPct val="112000"/>
              </a:lnSpc>
            </a:pPr>
            <a:r>
              <a:rPr sz="1000" b="0">
                <a:solidFill>
                  <a:srgbClr val="1B2740"/>
                </a:solidFill>
                <a:latin typeface="맑은 고딕"/>
                <a:ea typeface="맑은 고딕"/>
                <a:cs typeface="맑은 고딕"/>
              </a:rPr>
              <a:t>메모리 트랙이 다시 연관되면 바로 확정 (MemoryScore 0)</a:t>
            </a:r>
          </a:p>
        </p:txBody>
      </p:sp>
      <p:sp>
        <p:nvSpPr>
          <p:cNvPr id="11" name="Rounded Rectangle 10"/>
          <p:cNvSpPr/>
          <p:nvPr/>
        </p:nvSpPr>
        <p:spPr>
          <a:xfrm>
            <a:off x="640080" y="3941064"/>
            <a:ext cx="7315200" cy="749808"/>
          </a:xfrm>
          <a:prstGeom prst="roundRect">
            <a:avLst>
              <a:gd name="adj" fmla="val 9756"/>
            </a:avLst>
          </a:prstGeom>
          <a:solidFill>
            <a:srgbClr val="FEF3E2"/>
          </a:solidFill>
          <a:ln w="12700">
            <a:solidFill>
              <a:srgbClr val="D97706"/>
            </a:solidFill>
          </a:ln>
        </p:spPr>
        <p:txBody>
          <a:bodyPr rtlCol="0" anchor="ctr"/>
          <a:lstStyle/>
          <a:p>
            <a:pPr algn="ctr"/>
          </a:p>
        </p:txBody>
      </p:sp>
      <p:sp>
        <p:nvSpPr>
          <p:cNvPr id="12" name="TextBox 11"/>
          <p:cNvSpPr txBox="1"/>
          <p:nvPr/>
        </p:nvSpPr>
        <p:spPr>
          <a:xfrm>
            <a:off x="786384" y="4014216"/>
            <a:ext cx="7022592" cy="603503"/>
          </a:xfrm>
          <a:prstGeom prst="rect">
            <a:avLst/>
          </a:prstGeom>
          <a:noFill/>
        </p:spPr>
        <p:txBody>
          <a:bodyPr wrap="square" lIns="0" tIns="0" rIns="0" bIns="0" anchor="ctr">
            <a:spAutoFit/>
          </a:bodyPr>
          <a:lstStyle/>
          <a:p>
            <a:pPr algn="l">
              <a:lnSpc>
                <a:spcPct val="112000"/>
              </a:lnSpc>
            </a:pPr>
            <a:r>
              <a:rPr sz="1150" b="1">
                <a:solidFill>
                  <a:srgbClr val="D97706"/>
                </a:solidFill>
                <a:latin typeface="맑은 고딕"/>
                <a:ea typeface="맑은 고딕"/>
                <a:cs typeface="맑은 고딕"/>
              </a:rPr>
              <a:t>시뮬레이션</a:t>
            </a:r>
          </a:p>
          <a:p>
            <a:pPr algn="l">
              <a:lnSpc>
                <a:spcPct val="112000"/>
              </a:lnSpc>
            </a:pPr>
            <a:r>
              <a:rPr sz="1000" b="0">
                <a:solidFill>
                  <a:srgbClr val="1B2740"/>
                </a:solidFill>
                <a:latin typeface="맑은 고딕"/>
                <a:ea typeface="맑은 고딕"/>
                <a:cs typeface="맑은 고딕"/>
              </a:rPr>
              <a:t>STRUCT_PlotMsg 를 UDP 로 스캔마다 송수신, 플롯 ID 10000 ~ 1000000</a:t>
            </a:r>
          </a:p>
          <a:p>
            <a:pPr algn="l">
              <a:lnSpc>
                <a:spcPct val="112000"/>
              </a:lnSpc>
            </a:pPr>
            <a:r>
              <a:rPr sz="1000" b="0">
                <a:solidFill>
                  <a:srgbClr val="1B2740"/>
                </a:solidFill>
                <a:latin typeface="맑은 고딕"/>
                <a:ea typeface="맑은 고딕"/>
                <a:cs typeface="맑은 고딕"/>
              </a:rPr>
              <a:t>1,160 스캔 손실 없이 처리, 트랙 355 개 개시, 2D · 3D 에 참값 · 플롯 · 트랙 표시</a:t>
            </a:r>
          </a:p>
        </p:txBody>
      </p:sp>
      <p:sp>
        <p:nvSpPr>
          <p:cNvPr id="13" name="Rounded Rectangle 12"/>
          <p:cNvSpPr/>
          <p:nvPr/>
        </p:nvSpPr>
        <p:spPr>
          <a:xfrm>
            <a:off x="640080" y="4791456"/>
            <a:ext cx="7315200" cy="749808"/>
          </a:xfrm>
          <a:prstGeom prst="roundRect">
            <a:avLst>
              <a:gd name="adj" fmla="val 9756"/>
            </a:avLst>
          </a:prstGeom>
          <a:solidFill>
            <a:srgbClr val="F2ECFD"/>
          </a:solidFill>
          <a:ln w="12700">
            <a:solidFill>
              <a:srgbClr val="7C3AED"/>
            </a:solidFill>
          </a:ln>
        </p:spPr>
        <p:txBody>
          <a:bodyPr rtlCol="0" anchor="ctr"/>
          <a:lstStyle/>
          <a:p>
            <a:pPr algn="ctr"/>
          </a:p>
        </p:txBody>
      </p:sp>
      <p:sp>
        <p:nvSpPr>
          <p:cNvPr id="14" name="TextBox 13"/>
          <p:cNvSpPr txBox="1"/>
          <p:nvPr/>
        </p:nvSpPr>
        <p:spPr>
          <a:xfrm>
            <a:off x="786384" y="4864608"/>
            <a:ext cx="7022592" cy="603503"/>
          </a:xfrm>
          <a:prstGeom prst="rect">
            <a:avLst/>
          </a:prstGeom>
          <a:noFill/>
        </p:spPr>
        <p:txBody>
          <a:bodyPr wrap="square" lIns="0" tIns="0" rIns="0" bIns="0" anchor="ctr">
            <a:spAutoFit/>
          </a:bodyPr>
          <a:lstStyle/>
          <a:p>
            <a:pPr algn="l">
              <a:lnSpc>
                <a:spcPct val="112000"/>
              </a:lnSpc>
            </a:pPr>
            <a:r>
              <a:rPr sz="1150" b="1">
                <a:solidFill>
                  <a:srgbClr val="7C3AED"/>
                </a:solidFill>
                <a:latin typeface="맑은 고딕"/>
                <a:ea typeface="맑은 고딕"/>
                <a:cs typeface="맑은 고딕"/>
              </a:rPr>
              <a:t>확인한 것</a:t>
            </a:r>
          </a:p>
          <a:p>
            <a:pPr algn="l">
              <a:lnSpc>
                <a:spcPct val="112000"/>
              </a:lnSpc>
            </a:pPr>
            <a:r>
              <a:rPr sz="1000" b="0">
                <a:solidFill>
                  <a:srgbClr val="1B2740"/>
                </a:solidFill>
                <a:latin typeface="맑은 고딕"/>
                <a:ea typeface="맑은 고딕"/>
                <a:cs typeface="맑은 고딕"/>
              </a:rPr>
              <a:t>Assigned_Flag 가 늘 0 이라 트랙은 세 스캔 뒤 삭제. 확정 · 메모리는 스코어 확인 창으로 검증</a:t>
            </a:r>
          </a:p>
          <a:p>
            <a:pPr algn="l">
              <a:lnSpc>
                <a:spcPct val="112000"/>
              </a:lnSpc>
            </a:pPr>
            <a:r>
              <a:rPr sz="1000" b="0">
                <a:solidFill>
                  <a:srgbClr val="1B2740"/>
                </a:solidFill>
                <a:latin typeface="맑은 고딕"/>
                <a:ea typeface="맑은 고딕"/>
                <a:cs typeface="맑은 고딕"/>
              </a:rPr>
              <a:t>먼 표적일수록 게이트 통과율이 낮아 트랙이 덜 생김 (14 km 에서 약 10 %)</a:t>
            </a:r>
          </a:p>
        </p:txBody>
      </p:sp>
      <p:sp>
        <p:nvSpPr>
          <p:cNvPr id="15" name="Rounded Rectangle 14"/>
          <p:cNvSpPr/>
          <p:nvPr/>
        </p:nvSpPr>
        <p:spPr>
          <a:xfrm>
            <a:off x="8229600" y="2240280"/>
            <a:ext cx="3319272" cy="3236976"/>
          </a:xfrm>
          <a:prstGeom prst="roundRect">
            <a:avLst>
              <a:gd name="adj" fmla="val 2259"/>
            </a:avLst>
          </a:prstGeom>
          <a:solidFill>
            <a:srgbClr val="F7F9FC"/>
          </a:solidFill>
          <a:ln w="9525">
            <a:solidFill>
              <a:srgbClr val="D2D9E5"/>
            </a:solidFill>
          </a:ln>
        </p:spPr>
        <p:txBody>
          <a:bodyPr rtlCol="0" anchor="ctr"/>
          <a:lstStyle/>
          <a:p>
            <a:pPr algn="ctr"/>
          </a:p>
        </p:txBody>
      </p:sp>
      <p:sp>
        <p:nvSpPr>
          <p:cNvPr id="16" name="TextBox 15"/>
          <p:cNvSpPr txBox="1"/>
          <p:nvPr/>
        </p:nvSpPr>
        <p:spPr>
          <a:xfrm>
            <a:off x="8394192" y="2331720"/>
            <a:ext cx="3017520" cy="3017520"/>
          </a:xfrm>
          <a:prstGeom prst="rect">
            <a:avLst/>
          </a:prstGeom>
          <a:noFill/>
        </p:spPr>
        <p:txBody>
          <a:bodyPr wrap="square" lIns="0" tIns="0" rIns="0" bIns="0" anchor="t">
            <a:spAutoFit/>
          </a:bodyPr>
          <a:lstStyle/>
          <a:p>
            <a:pPr algn="l">
              <a:lnSpc>
                <a:spcPct val="112000"/>
              </a:lnSpc>
            </a:pPr>
            <a:r>
              <a:rPr sz="1150" b="1">
                <a:solidFill>
                  <a:srgbClr val="1B2740"/>
                </a:solidFill>
                <a:latin typeface="맑은 고딕"/>
                <a:ea typeface="맑은 고딕"/>
                <a:cs typeface="맑은 고딕"/>
              </a:rPr>
              <a:t>다음 과제로 이어지는 것</a:t>
            </a:r>
          </a:p>
          <a:p>
            <a:pPr algn="l">
              <a:lnSpc>
                <a:spcPct val="112000"/>
              </a:lnSpc>
            </a:pPr>
            <a:r>
              <a:rPr sz="600" b="0">
                <a:solidFill>
                  <a:srgbClr val="1B2740"/>
                </a:solidFill>
                <a:latin typeface="맑은 고딕"/>
                <a:ea typeface="맑은 고딕"/>
                <a:cs typeface="맑은 고딕"/>
              </a:rPr>
              <a:t/>
            </a:r>
          </a:p>
          <a:p>
            <a:pPr algn="l">
              <a:lnSpc>
                <a:spcPct val="112000"/>
              </a:lnSpc>
            </a:pPr>
            <a:r>
              <a:rPr sz="1050" b="1">
                <a:solidFill>
                  <a:srgbClr val="1B2740"/>
                </a:solidFill>
                <a:latin typeface="맑은 고딕"/>
                <a:ea typeface="맑은 고딕"/>
                <a:cs typeface="맑은 고딕"/>
              </a:rPr>
              <a:t>트랙 연관</a:t>
            </a:r>
          </a:p>
          <a:p>
            <a:pPr algn="l">
              <a:lnSpc>
                <a:spcPct val="112000"/>
              </a:lnSpc>
            </a:pPr>
            <a:r>
              <a:rPr sz="1000" b="0">
                <a:solidFill>
                  <a:srgbClr val="4A5A7A"/>
                </a:solidFill>
                <a:latin typeface="맑은 고딕"/>
                <a:ea typeface="맑은 고딕"/>
                <a:cs typeface="맑은 고딕"/>
              </a:rPr>
              <a:t>이번 스캔 플롯을 기존 트랙에 붙여 Assigned_Flag 를 실제 값으로</a:t>
            </a:r>
          </a:p>
          <a:p>
            <a:pPr algn="l">
              <a:lnSpc>
                <a:spcPct val="112000"/>
              </a:lnSpc>
            </a:pPr>
            <a:r>
              <a:rPr sz="600" b="0">
                <a:solidFill>
                  <a:srgbClr val="1B2740"/>
                </a:solidFill>
                <a:latin typeface="맑은 고딕"/>
                <a:ea typeface="맑은 고딕"/>
                <a:cs typeface="맑은 고딕"/>
              </a:rPr>
              <a:t/>
            </a:r>
          </a:p>
          <a:p>
            <a:pPr algn="l">
              <a:lnSpc>
                <a:spcPct val="112000"/>
              </a:lnSpc>
            </a:pPr>
            <a:r>
              <a:rPr sz="1050" b="1">
                <a:solidFill>
                  <a:srgbClr val="1B2740"/>
                </a:solidFill>
                <a:latin typeface="맑은 고딕"/>
                <a:ea typeface="맑은 고딕"/>
                <a:cs typeface="맑은 고딕"/>
              </a:rPr>
              <a:t>추적 필터</a:t>
            </a:r>
          </a:p>
          <a:p>
            <a:pPr algn="l">
              <a:lnSpc>
                <a:spcPct val="112000"/>
              </a:lnSpc>
            </a:pPr>
            <a:r>
              <a:rPr sz="1000" b="0">
                <a:solidFill>
                  <a:srgbClr val="4A5A7A"/>
                </a:solidFill>
                <a:latin typeface="맑은 고딕"/>
                <a:ea typeface="맑은 고딕"/>
                <a:cs typeface="맑은 고딕"/>
              </a:rPr>
              <a:t>붙인 플롯으로 상태변수와 오차 공분산을 갱신</a:t>
            </a:r>
          </a:p>
          <a:p>
            <a:pPr algn="l">
              <a:lnSpc>
                <a:spcPct val="112000"/>
              </a:lnSpc>
            </a:pPr>
            <a:r>
              <a:rPr sz="600" b="0">
                <a:solidFill>
                  <a:srgbClr val="1B2740"/>
                </a:solidFill>
                <a:latin typeface="맑은 고딕"/>
                <a:ea typeface="맑은 고딕"/>
                <a:cs typeface="맑은 고딕"/>
              </a:rPr>
              <a:t/>
            </a:r>
          </a:p>
          <a:p>
            <a:pPr algn="l">
              <a:lnSpc>
                <a:spcPct val="112000"/>
              </a:lnSpc>
            </a:pPr>
            <a:r>
              <a:rPr sz="1000" b="0">
                <a:solidFill>
                  <a:srgbClr val="4A5A7A"/>
                </a:solidFill>
                <a:latin typeface="맑은 고딕"/>
                <a:ea typeface="맑은 고딕"/>
                <a:cs typeface="맑은 고딕"/>
              </a:rPr>
              <a:t>그러면 이번에 만든 확정 · 메모리 로직이 실제 시뮬레이션에서 동작합니다.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206240" y="2788920"/>
            <a:ext cx="6766560" cy="731520"/>
          </a:xfrm>
          <a:prstGeom prst="rect">
            <a:avLst/>
          </a:prstGeom>
          <a:noFill/>
          <a:ln/>
        </p:spPr>
        <p:txBody>
          <a:bodyPr wrap="square" lIns="0" tIns="0" rIns="0" bIns="0" rtlCol="0" anchor="ctr"/>
          <a:lstStyle/>
          <a:p>
            <a:pPr algn="r" indent="0" marL="0">
              <a:buNone/>
            </a:pPr>
            <a:r>
              <a:rPr lang="en-US" sz="3600" b="1" dirty="0">
                <a:solidFill>
                  <a:srgbClr val="FFFFFF"/>
                </a:solidFill>
                <a:latin typeface="맑은 고딕" pitchFamily="34" charset="0"/>
                <a:ea typeface="맑은 고딕" pitchFamily="34" charset="-122"/>
                <a:cs typeface="맑은 고딕" pitchFamily="34" charset="-120"/>
              </a:rPr>
              <a:t>감사합니다</a:t>
            </a:r>
            <a:endParaRPr lang="en-US" sz="3600" dirty="0"/>
          </a:p>
        </p:txBody>
      </p:sp>
      <p:sp>
        <p:nvSpPr>
          <p:cNvPr id="3" name="Shape 1"/>
          <p:cNvSpPr/>
          <p:nvPr/>
        </p:nvSpPr>
        <p:spPr>
          <a:xfrm>
            <a:off x="7863840" y="3675888"/>
            <a:ext cx="3108960" cy="0"/>
          </a:xfrm>
          <a:prstGeom prst="line">
            <a:avLst/>
          </a:prstGeom>
          <a:noFill/>
          <a:ln w="9525">
            <a:solidFill>
              <a:srgbClr val="AEB9CC"/>
            </a:solidFill>
            <a:prstDash val="solid"/>
          </a:ln>
        </p:spPr>
      </p:sp>
      <p:sp>
        <p:nvSpPr>
          <p:cNvPr id="4" name="Text 2"/>
          <p:cNvSpPr txBox="1"/>
          <p:nvPr/>
        </p:nvSpPr>
        <p:spPr>
          <a:xfrm>
            <a:off x="4206240" y="3803904"/>
            <a:ext cx="6766560" cy="310896"/>
          </a:xfrm>
          <a:prstGeom prst="rect">
            <a:avLst/>
          </a:prstGeom>
          <a:noFill/>
          <a:ln/>
        </p:spPr>
        <p:txBody>
          <a:bodyPr wrap="square" lIns="0" tIns="0" rIns="0" bIns="0" rtlCol="0" anchor="ctr"/>
          <a:lstStyle/>
          <a:p>
            <a:pPr algn="r" indent="0" marL="0">
              <a:buNone/>
            </a:pPr>
            <a:r>
              <a:rPr lang="en-US" sz="1300" dirty="0">
                <a:solidFill>
                  <a:srgbClr val="AEB9CC"/>
                </a:solidFill>
                <a:latin typeface="맑은 고딕" pitchFamily="34" charset="0"/>
                <a:ea typeface="맑은 고딕" pitchFamily="34" charset="-122"/>
                <a:cs typeface="맑은 고딕" pitchFamily="34" charset="-120"/>
              </a:rPr>
              <a:t>질문 주시면 답변드리겠습니다</a:t>
            </a:r>
            <a:endParaRPr lang="en-US" sz="1300" dirty="0"/>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