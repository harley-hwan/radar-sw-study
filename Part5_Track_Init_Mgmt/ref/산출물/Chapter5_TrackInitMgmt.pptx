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3b5945cf-05e3-b14d-c6ff-aef2bff3cb02}">
          <p14:sldIdLst>
            <p14:sldId id="256"/>
            <p14:sldId id="257"/>
          </p14:sldIdLst>
        </p14:section>
        <p14:section name="01 플롯" id="{0f5810f4-50ba-7392-e208-ecc21c93235a}">
          <p14:sldIdLst>
            <p14:sldId id="258"/>
            <p14:sldId id="259"/>
            <p14:sldId id="260"/>
            <p14:sldId id="261"/>
            <p14:sldId id="262"/>
            <p14:sldId id="263"/>
            <p14:sldId id="264"/>
            <p14:sldId id="265"/>
          </p14:sldIdLst>
        </p14:section>
        <p14:section name="02 클러터" id="{50886d5c-d02a-e7aa-da24-16c77f7475c7}">
          <p14:sldIdLst>
            <p14:sldId id="266"/>
            <p14:sldId id="267"/>
            <p14:sldId id="268"/>
          </p14:sldIdLst>
        </p14:section>
        <p14:section name="03 구현" id="{fadd100c-6470-8d1f-9d3a-2049fb54abdf}">
          <p14:sldIdLst>
            <p14:sldId id="269"/>
            <p14:sldId id="270"/>
            <p14:sldId id="271"/>
            <p14:sldId id="272"/>
            <p14:sldId id="273"/>
            <p14:sldId id="274"/>
          </p14:sldIdLst>
        </p14:section>
        <p14:section name="04 결과" id="{e36c4d74-5342-a93f-b28d-bc920de806eb}">
          <p14:sldIdLst>
            <p14:sldId id="275"/>
            <p14:sldId id="276"/>
            <p14:sldId id="277"/>
            <p14:sldId id="278"/>
          </p14:sldIdLst>
        </p14:section>
        <p14:section name="마무리" id="{9395e1f0-5a4b-3464-c223-c7d7ed14ad98}">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이번 과제의 주제는 트랙 개시와 트랙 관리입니다.</a:t>
            </a:r>
          </a:p>
          <a:p>
            <a:r>
              <a:t>지난 과제에서는 표적의 참값에 잡음을 더해 플롯을 만들고 클러터도 함께 만들었습니다. 이번에는 그 플롯을 데이터 처리 쪽으로 보내고, 받은 플롯 가운데 같은 표적에서 나온 것으로 보이는 두 개를 이어 트랙을 시작한 다음, 트랙 스코어로 트랙의 상태를 관리했습니다.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네 부분입니다.</a:t>
            </a:r>
          </a:p>
          <a:p>
            <a:r>
              <a:t>먼저 트랙 개시에서 플롯 한 개로 시작하는 방법과 두 개로 시작하는 방법을 비교하고, 이번에 쓴 2 Point 개시의 식과 속도 게이트를 설명드리겠습니다. 이어서 트랙 관리에서 M/N 방식과 트랙 스코어 방식을 보겠습니다.</a:t>
            </a:r>
          </a:p>
          <a:p>
            <a:r>
              <a:t>그다음 이 내용을 어떻게 구현했는지 코드로 보고, 마지막으로 프로그램 결과 화면과 개시 결과를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트랙 개시입니다. 트랙이 무엇이고 레이다 처리 흐름에서 어디에 있는지 본 다음, 1-Point 와 2-Point 개시를 비교하고, 2-Point 개시의 상태변수와 오차 공분산, 속도 게이트, 측정 공분산 순서로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흐름에서 이번 과제의 위치를 먼저 보겠습니다. 과제 3 에서 표적 궤적을 만들었고, 과제 4 에서 그 궤적을 재서 플롯과 클러터를 만들었습니다. 이번 과제는 그 플롯을 받아 트랙을 시작하고 관리하는 부분이고, 트랙에 다음 플롯을 붙이는 연관과 추적 필터는 다음 과제에서 다룹니다.</a:t>
            </a:r>
          </a:p>
          <a:p>
            <a:r>
              <a:t>아래 그림처럼 스캔마다 플롯이 들어오는데, 그중에는 표적 플롯도 있고 클러터도 섞여 있습니다. 트랙은 같은 표적에서 나온 플롯을 시간 순서로 이어서 표적의 위치와 속도를 추정한 것입니다. 트랙을 처음 만드는 것을 트랙 개시라고 하고, 만든 트랙이 진짜 표적인지 판단해서 확정하거나 지우는 것을 트랙 관리라고 합니다.</a:t>
            </a:r>
          </a:p>
          <a:p>
            <a:r>
              <a:t>이번 과제는 앞 스캔과 이번 스캔의 플롯 두 개로 트랙을 개시하고, 트랙 스코어로 상태를 관리합니다.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트랙을 시작하는 방법은 두 가지입니다.</a:t>
            </a:r>
          </a:p>
          <a:p>
            <a:r>
              <a:t>왼쪽의 1-Point 개시는 플롯 하나만으로 트랙을 만듭니다. 위치는 플롯 위치를 그대로 쓰는데, 플롯 하나로는 표적이 어느 쪽으로 가는지 알 수 없어서 속도를 0 으로 두고 속도 오차를 크게 잡습니다. 플롯이 들어오자마자 트랙을 만들 수 있다는 것이 장점이고, 초기 속도 오차가 크다는 것이 단점입니다.</a:t>
            </a:r>
          </a:p>
          <a:p>
            <a:r>
              <a:t>오른쪽의 2-Point 개시는 연속된 두 스캔의 플롯을 씁니다. 위치는 이번 스캔 플롯이고, 속도는 두 플롯 위치의 차이를 스캔 간격으로 나눠 구합니다. 그래서 속도 오차를 줄일 수 있지만, 두 스캔을 기다려야 해서 개시가 한 스캔 늦습니다. 두 플롯이 같은 표적에서 나왔는지는 점선 원으로 그린 속도 게이트로 걸러 냅니다.</a:t>
            </a:r>
          </a:p>
          <a:p>
            <a:r>
              <a:t>이번 과제는 2-Point 개시를 적용했습니다.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2-Point 개시로 만드는 트랙의 상태변수는 북, 동, 아래 세 축마다 위치, 속도, 가속도를 둔 9 개 값입니다.</a:t>
            </a:r>
          </a:p>
          <a:p>
            <a:r>
              <a:t>축마다 보면 위치는 이번 플롯, 속도는 두 플롯의 차를 스캔 간격 T 로 나눈 값이고, 가속도는 두 점으로는 구할 수 없어서 과제 조건대로 0 으로 둡니다.</a:t>
            </a:r>
          </a:p>
          <a:p>
            <a:r>
              <a:t>오차 공분산은 플롯의 측정 오차에서 바로 나옵니다. 위치 오차는 이번 플롯의 오차 그대로라서 분산이 R_k 입니다. 속도 오차는 두 플롯 오차의 차를 T 로 나눈 것이라서 분산이 R_k 더하기 R_k-1 을 T 제곱으로 나눈 값이 되고, 위치와 속도 사이 공분산은 R_k 나누기 T 입니다.</a:t>
            </a:r>
          </a:p>
          <a:p>
            <a:r>
              <a:t>오른쪽 그림은 표적 5 를 5.8 km 에서 개시했을 때 실제로 계산된 9 x 9 행렬입니다. 파란 칸이 위치, 주황 칸이 속도, 초록 칸이 위치와 속도 사이 값이고, 가속도 행과 열은 모두 0 입니다. 측정 오차가 축끼리 상관이 있어서 축 사이 칸도 채워집니다. 속도 분산이 19 만 정도라 속도 표준편차가 400 m/s 를 넘는데, 이 점은 결과에서 다시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플롯이 같은 표적에서 나왔는지는 속도 게이트로 판단합니다. 두 플롯의 거리 차를 스캔 간격으로 나눈 속력이 표적이 낼 수 있는 최대 속력 V_max 보다 작아야 한다는 조건입니다. 과제 값은 800 m/s 이고, 스캔 간격이 0.1 초라서 앞 플롯 주변 반경 80 m 안에 이번 플롯이 있어야 합니다.</a:t>
            </a:r>
          </a:p>
          <a:p>
            <a:r>
              <a:t>왼쪽 그림에서 A 와 1 은 600 m/s 라서 통과하고, A 와 2 는 1,346 m/s 라서 탈락합니다. 한 플롯이 여러 쌍에 걸릴 수 있어서, 통과한 쌍 가운데 속력이 가장 작은 쌍부터 하나씩 고르고, 이미 쓴 플롯은 다시 쓰지 않습니다.</a:t>
            </a:r>
          </a:p>
          <a:p>
            <a:r>
              <a:t>오른쪽은 거리별로 두 플롯 차이의 잡음 크기를 게이트와 비교한 것입니다. 각도 오차는 거리를 곱해 가로 방향 위치 오차가 되기 때문에, 1 km 에서는 잡음이 게이트 안에 들어가지만 14 km 에서는 게이트보다 훨씬 커집니다. 그래서 참 표적 쌍도 14 km 에서는 열 번 중 한 번 정도만 통과합니다.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R 은 위치 측정 오차의 공분산인데, 플롯은 안테나 기준 거리, 방위각, 고각으로 들어오기 때문에 이것을 트랙 좌표계로 옮겨야 합니다.</a:t>
            </a:r>
          </a:p>
          <a:p>
            <a:r>
              <a:t>트랙은 VC-NED 에서 만듭니다. VC-NED 는 플랫폼 무게중심이 원점이고 축은 북, 동, 아래로 고정된 좌표계라서, 플랫폼 자세가 바뀌어도 축이 돌지 않습니다.</a:t>
            </a:r>
          </a:p>
          <a:p>
            <a:r>
              <a:t>먼저 거리, 방위각, 고각의 표준편차를 야코비안 J 로 안테나 직교좌표의 공분산으로 바꾸고, 안테나에서 동체, 동체에서 VC-NED 로 가는 회전 M 을 앞뒤로 곱합니다.</a:t>
            </a:r>
          </a:p>
          <a:p>
            <a:r>
              <a:t>오른쪽 그림은 표적 5 의 플롯에서 계산한 공분산을 20 배로 키워 그린 것입니다. 거리 방향 오차는 4.7 m 인데, 가로 방향은 거리 5.8 km 에 방위각 오차를 곱해 약 49 m 가 되어서, 레이다를 바라보는 선에 수직으로 길쭉한 타원이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트랙 관리입니다. 만든 트랙을 확정할지 지울지 판단하는 두 가지 방법, M/N 방식과 트랙 스코어 방식을 보고, 이번 과제에서 쓴 트랙 스코어가 연관 결과에 따라 어떻게 바뀌는지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M/N 방식은 최근 N 번 가운데 몇 번 연관에 성공했는지를 셉니다.</a:t>
            </a:r>
          </a:p>
          <a:p>
            <a:r>
              <a:t>임시 트랙은 위 그림처럼 N 번 중 M 번 연관에 성공하면 확정하고, M 번 연속으로 실패하면 지웁니다. 예에서는 다섯 번 중 네 번 성공했기 때문에 확정입니다.</a:t>
            </a:r>
          </a:p>
          <a:p>
            <a:r>
              <a:t>확정 트랙은 연관에 실패하면 메모리 트랙으로 바꾸고, 다음 플롯이 붙지 않는 동안 예측 위치로 이어 갑니다. 메모리 상태가 정해 둔 시간보다 길게 이어지면 표적을 놓친 것으로 보고 지웁니다.</a:t>
            </a:r>
          </a:p>
          <a:p>
            <a:r>
              <a:t>세기가 단순하다는 것이 장점이지만, 성공과 실패를 몇 번 했는지만 보기 때문에 트랙 상태를 값 하나로 나타내기는 어렵습니다.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과제에서 쓴 트랙 스코어 방식입니다. 트랙마다 TrackScore 와 MemoryScore 두 점수를 두고, 상태는 1 임시, 2 확정, 3 메모리, 4 삭제의 네 가지입니다.</a:t>
            </a:r>
          </a:p>
          <a:p>
            <a:r>
              <a:t>임시 트랙은 연관에 성공하면 TrackScore 를 1 올리고 실패하면 1 내립니다. 5 이상이 되면 확정하고 0 이하가 되면 삭제합니다.</a:t>
            </a:r>
          </a:p>
          <a:p>
            <a:r>
              <a:t>확정 트랙이 연관에 실패하면 메모리 트랙으로 바꾸고 MemoryScore 를 1 올립니다. 메모리 트랙은 연관에 성공하면 바로 확정으로 돌아가면서 MemoryScore 를 0 으로 되돌리고, 계속 실패해서 MemoryScore 가 5 이상이 되면 삭제합니다.</a:t>
            </a:r>
          </a:p>
          <a:p>
            <a:r>
              <a:t>세 문턱 값 5, 0, 5 는 과제 값입니다. 과제에 정해져 있지 않은 두 가지는 제가 정했습니다. 개시 직후 TrackScore 는 두 플롯으로 만든 트랙이라 2 로 두었고, 한 번에 올리고 내리는 양은 1 로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점수가 실제로 어떻게 바뀌는지 두 경우로 보겠습니다. 위쪽 숫자가 스캔마다 넣은 Assigned_Flag 이고, 1 이 연관 성공, 0 이 실패입니다.</a:t>
            </a:r>
          </a:p>
          <a:p>
            <a:r>
              <a:t>왼쪽은 연관 결과를 직접 넣어 본 예입니다. 2 에서 시작한 TrackScore 가 세 번 성공해 5 가 되면서 확정되고, 두 번 실패하면 메모리로 바뀌며 MemoryScore 가 1, 2 로 오릅니다. 다시 성공하면 바로 확정으로 돌아가고 MemoryScore 는 0 이 됩니다. 마지막에는 다섯 번 연속 실패해서 MemoryScore 가 5 가 되는 스캔에 삭제됩니다.</a:t>
            </a:r>
          </a:p>
          <a:p>
            <a:r>
              <a:t>오른쪽이 이번 과제 조건입니다. 아직 연관 기능이 없어서 매 스캔 Assigned_Flag 를 0 으로 두기 때문에, 트랙은 개시한 스캔에 2, 다음 스캔에 1, 그다음 스캔에 0 이 되어 삭제됩니다. 기존 트랙을 먼저 판정하고 새 트랙은 그 뒤에 만들기 때문에, 새 트랙은 만든 스캔에서는 점수가 깎이지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구현입니다. 과제 요구사항이 어느 코드에 있는지 먼저 정리하고, 쓰레드와 UDP 구조, 플롯 메시지, 송신과 수신, 그리고 트랙 개시와 스코어 로직 코드를 순서대로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 요구사항과 구현을 한 표로 정리했습니다.</a:t>
            </a:r>
          </a:p>
          <a:p>
            <a:r>
              <a:t>트랙 개시는 TrackMgr.c 에 있습니다. 2 Point 개시와 상태변수, 가속도 항 0 은 f_Trk_TwoPointInit, 속도 게이트와 트랙 ID 는 f_Trk_ProcessScan 과 f_Trk_NewId 에서 처리합니다. 트랙 관리의 세 문턱과 메모리 트랙 처리는 f_Trk_UpdateState 에 있습니다.</a:t>
            </a:r>
          </a:p>
          <a:p>
            <a:r>
              <a:t>시뮬레이션 쪽은 PlotLink.c 에 있습니다. 송신 쓰레드가 안테나 구좌표 플롯 메시지를 만들어 UDP 로 보내고, 수신 쓰레드가 받아서 트랙 개시와 관리를 돌립니다. 결과 화면의 2D 와 3D 전시는 UI 의 두 그림 클래스가 맡습니다. 오른쪽 끝 숫자가 그 내용을 설명하는 쪽입니다.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구조입니다. 과제 4 의 측정 모의 결과를 레이다 신호처리가 내보내는 플롯으로 보고, 데이터 처리가 그것을 받는 형태로 만들었습니다.</a:t>
            </a:r>
          </a:p>
          <a:p>
            <a:r>
              <a:t>송신 쓰레드는 스캔마다 표적 플롯과 클러터를 섞어 플롯 메시지 하나를 만들고 UDP 데이터그램 하나로 보냅니다. 소켓 함수는 과제 1 에서 Winsock2 로 옮겨 둔 UDP 함수를 그대로 가져왔습니다. UDP 는 보낸 크기 그대로 도착해서 메시지 하나를 한 번에 받을 수 있습니다.</a:t>
            </a:r>
          </a:p>
          <a:p>
            <a:r>
              <a:t>수신 쓰레드가 데이터 처리 역할입니다. 메시지를 받아 플롯 좌표를 VC-NED 로 바꾸고, 트랙 관리와 2 Point 개시를 돌린 뒤 스캔마다 결과를 쌓아 둡니다. UDP 는 받는 쪽이 밀리면 소리 없이 버리기 때문에, 처리가 밀리면 송신이 기다리게 했고 메시지의 스캔 번호로 빠진 스캔을 셉니다.</a:t>
            </a:r>
          </a:p>
          <a:p>
            <a:r>
              <a:t>UI 는 50 ms 마다 처리된 스캔을 가져와 그림과 표를 그립니다.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플롯 메시지입니다. 참고 소스 코드의 Idd.h 는 STRUCT_PlotInfo 의 Y_Body 까지만 있어서 나머지를 이어서 완성했습니다.</a:t>
            </a:r>
          </a:p>
          <a:p>
            <a:r>
              <a:t>왼쪽에서 Y_Body 까지는 원래 그대로이고, 아래 네 줄이 이어 쓴 부분입니다. 구좌표가 안테나와 VC-NED 두 벌이라서 직교좌표도 안테나, 동체, VC-NED 세 벌이 되도록 Z_Body 와 VC-NED 직교 성분을 붙였습니다.</a:t>
            </a:r>
          </a:p>
          <a:p>
            <a:r>
              <a:t>오른쪽 STRUCT_PlotMsg 는 머리 정보와 플롯 배열입니다. 머리에는 메시지 종류와 크기, 스캔 번호와 시각, 플롯 수, 측정 표준편차, 플랫폼 정보가 들어갑니다. 측정 표준편차는 받는 쪽이 오차 공분산을 계산하는 데 쓰고, 플랫폼 자세는 좌표 변환에 씁니다.</a:t>
            </a:r>
          </a:p>
          <a:p>
            <a:r>
              <a:t>송신 쪽은 과제 조건대로 안테나 구좌표 성분만 채우고, 나머지 좌표 칸은 받는 쪽이 계산해서 채웁니다. 보낼 때는 플롯 수만큼만 보내서, 표적 5 개와 클러터 5 개면 메시지 하나가 1,282 바이트입니다.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송신 쪽에서 메시지를 만드는 f_Lnk_BuildMsg 입니다.</a:t>
            </a:r>
          </a:p>
          <a:p>
            <a:r>
              <a:t>먼저 그 스캔의 표적 플롯과 클러터를 한 배열에 모으고, 방위각 순서로 정렬합니다. 빔이 지나가는 순서대로 플롯이 나오는 것처럼 보이게 하려는 것이고, 이렇게 하면 배열 위치만 보고 표적과 클러터를 구분할 수 없습니다.</a:t>
            </a:r>
          </a:p>
          <a:p>
            <a:r>
              <a:t>다음으로 메시지 머리에 스캔 번호와 시각, 플롯 수, 측정 표준편차와 플랫폼 정보를 채웁니다.</a:t>
            </a:r>
          </a:p>
          <a:p>
            <a:r>
              <a:t>플롯마다 ID 를 매기고 안테나 기준 거리, 방위각, 고각을 넣습니다. ID 는 과제 조건대로 10000 부터 하나씩 올리고 1000000 다음에는 10000 으로 돌아갑니다. 어느 ID 가 표적이었는지는 메시지에 넣지 않고 송신 쪽에만 따로 적어 두었다가, 결과 화면에서 확인할 때만 씁니다.</a:t>
            </a:r>
          </a:p>
          <a:p>
            <a:r>
              <a:t>마지막으로 송신 쓰레드가 과제 1 의 UDP 송신 함수로 메시지를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받는 쪽, 데이터 처리의 중심인 f_Lnk_ProcessMsg 입니다.</a:t>
            </a:r>
          </a:p>
          <a:p>
            <a:r>
              <a:t>먼저 메시지 머리에서 시각, 측정 표준편차, 플랫폼 자세를 꺼냅니다.</a:t>
            </a:r>
          </a:p>
          <a:p>
            <a:r>
              <a:t>플롯마다 f_Lnk_FillPlotCoord 로 좌표를 바꿉니다. 아래 세 줄처럼 안테나 구좌표를 안테나 직교좌표로, 동체로, 플랫폼 자세를 써서 VC-NED 로 옮기고, 비어 있던 메시지 칸을 채웁니다. 변환 함수는 지난 과제들과 같은 좌표변환 코드입니다.</a:t>
            </a:r>
          </a:p>
          <a:p>
            <a:r>
              <a:t>그다음 트랙 개시에 넣을 플롯을 만듭니다. 위치는 VC-NED 이고, 측정 공분산은 앞에서 본 식대로 f_Trk_MeasCov 로 계산합니다.</a:t>
            </a:r>
          </a:p>
          <a:p>
            <a:r>
              <a:t>VC-NED 는 원점이 플랫폼을 따라 움직이기 때문에, 플랫폼이 움직이면 앞 스캔 플롯과 이번 스캔 플롯의 원점이 서로 다릅니다. 그래서 처리하기 전에 f_Trk_MoveOrigin 으로 앞 스캔 플롯과 트랙 위치를 이번 스캔 기준으로 옮겨 둡니다. 이렇게 해야 두 플롯의 차가 플랫폼에 대한 상대 속도가 아니라 표적 속도가 됩니다. 이번 시나리오는 플랫폼이 서 있어서 옮기는 양은 0 입니다.</a:t>
            </a:r>
          </a:p>
          <a:p>
            <a:r>
              <a:t>마지막으로 f_Trk_ProcessScan 을 불러 트랙 관리와 개시를 한 번에 돌리고, 그 결과를 스캔 단위로 결과 버퍼에 복사해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스캔 하나를 처리하는 f_Trk_ProcessScan 입니다.</a:t>
            </a:r>
          </a:p>
          <a:p>
            <a:r>
              <a:t>첫 번째 부분이 트랙 관리입니다. 아직 연관 기능이 없어서 모든 트랙의 Assigned_Flag 를 0 으로 두고 스코어 로직을 돌립니다.</a:t>
            </a:r>
          </a:p>
          <a:p>
            <a:r>
              <a:t>두 번째 부분이 2 Point 개시입니다. 앞 스캔에서 아직 쓰지 않은 플롯과 이번 스캔 플롯의 모든 쌍에 대해 속력을 구하고, 그중 가장 작은 쌍을 찾습니다. bestSpeed 를 V_max 로 시작하기 때문에 속도 게이트를 넘지 못한 쌍은 처음부터 고르지 않습니다.</a:t>
            </a:r>
          </a:p>
          <a:p>
            <a:r>
              <a:t>고른 쌍은 두 플롯 모두 사용 표시를 해서 다른 쌍에 다시 쓰이지 않게 하고, 새 ID 를 받아 트랙을 만듭니다. 상태는 임시, TrackScore 는 2 이고, 개시에 쓴 두 플롯의 ID 도 남깁니다. 이 과정을 고를 쌍이 없을 때까지 반복합니다.</a:t>
            </a:r>
          </a:p>
          <a:p>
            <a:r>
              <a:t>트랙 ID 는 f_Trk_NewId 가 100 부터 차례로 주고, 10000 다음에는 100 으로 돌아가며 쓰는 중인 ID 는 건너뜁니다.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트랙의 초기 상태변수와 오차 공분산을 만드는 f_Trk_TwoPointInit 입니다.</a:t>
            </a:r>
          </a:p>
          <a:p>
            <a:r>
              <a:t>먼저 참고 소스 코드의 행렬 함수로 9 x 1 상태변수와 9 x 9 오차 공분산을 만들고 모두 0 으로 채웁니다. 그래서 가속도 칸은 따로 손대지 않아도 0 으로 남습니다.</a:t>
            </a:r>
          </a:p>
          <a:p>
            <a:r>
              <a:t>축마다 위치에는 이번 플롯 위치를, 속도에는 두 플롯 위치 차를 시간 차로 나눈 값을 넣습니다.</a:t>
            </a:r>
          </a:p>
          <a:p>
            <a:r>
              <a:t>안쪽 반복문은 오차 공분산을 채웁니다. 축 a 와 축 b 의 3 x 3 칸마다 위치는 R_k, 위치와 속도 사이는 R_k 나누기 T, 속도는 R_k 더하기 R_k-1 을 T 제곱으로 나눈 값을 넣습니다. 1.3 에서 본 식과 같고, 축 사이 칸까지 같은 식으로 채웁니다.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스코어 로직 f_Trk_UpdateState 입니다. 상태마다 switch 의 case 가 하나씩 있습니다.</a:t>
            </a:r>
          </a:p>
          <a:p>
            <a:r>
              <a:t>임시 트랙은 Assigned_Flag 가 1 이면 TrackScore 를 1 올리고 0 이면 1 내린 다음, 5 이상이면 확정, 0 이하면 삭제로 바꿉니다.</a:t>
            </a:r>
          </a:p>
          <a:p>
            <a:r>
              <a:t>확정 트랙은 연관에 실패하면 메모리로 바꾸고 MemoryScore 를 1 올립니다.</a:t>
            </a:r>
          </a:p>
          <a:p>
            <a:r>
              <a:t>메모리 트랙은 연관에 성공하면 바로 확정으로 돌리면서 MemoryScore 를 0 으로 되돌리고, 실패하면 MemoryScore 를 1 올린 뒤 5 이상이면 삭제로 바꿉니다.</a:t>
            </a:r>
          </a:p>
          <a:p>
            <a:r>
              <a:t>삭제 상태가 된 트랙은 다음 스캔을 시작할 때 트랙 표에서 빠지고, 그 ID 는 다시 쓸 수 있게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결과입니다. 프로그램 화면과 송수신 결과, 2D 와 3D 전시, 트랙의 수명과 스코어 확인을 보고, 마지막으로 거리에 따라 개시 결과가 어떻게 달라지는지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프로그램을 실행하면 바로 나오는 화면입니다. 과제 4 와 같이 기본 시나리오에 표적 세 개를 더한 표적 다섯 개, 60 초, 스캔당 클러터 다섯 개 조건입니다.</a:t>
            </a:r>
          </a:p>
          <a:p>
            <a:r>
              <a:t>왼쪽 아래 트랙 개시 · 관리 칸을 보시면, UDP 로 600 스캔을 보내 600 스캔을 받았고 빠진 스캔은 없습니다. 트랙은 611 개가 만들어졌는데, 개시에 쓴 두 플롯이 모두 같은 표적에서 나온 것이었고, 클러터끼리나 표적과 클러터가 섞인 쌍은 없었습니다. 클러터는 넓은 범위에 흩어져 있어서 80 m 안에 두 개가 연달아 들어올 일이 드물기 때문입니다.</a:t>
            </a:r>
          </a:p>
          <a:p>
            <a:r>
              <a:t>위쪽 슬라이더로 스캔을 고르면 2D, 3D 그림과 아래 트랙 표가 그 스캔으로 바뀝니다. 송신 간격을 100 ms 로 두면 실제 스캔 간격과 같은 속도로 보내서, 트랙이 생기고 지워지는 모습을 따라 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과제에서 요구한 True, Plot, Track 심볼을 함께 그린 화면입니다. 왼쪽이 2D, 오른쪽이 3D 입니다.</a:t>
            </a:r>
          </a:p>
          <a:p>
            <a:r>
              <a:t>선은 참값 궤적이고, 마름모는 지금 스캔의 참값 위치입니다. 옅은 점은 지난 스캔의 플롯과 클러터이고, 흰 테를 두른 큰 점이 지금 스캔에 받은 플롯입니다. 사각형이 트랙인데, 빈 주황 사각형이 임시 트랙, 회색 X 사각형이 삭제 상태가 된 트랙이고, 옆 숫자가 트랙 ID 입니다. 사각형에서 뻗은 선은 트랙 속도로 1 초 동안 가는 거리입니다.</a:t>
            </a:r>
          </a:p>
          <a:p>
            <a:r>
              <a:t>2D 는 휠로 확대해서 표적 주변을 볼 수 있고, 3D 는 끌어서 돌려 볼 수 있습니다. 3D 에서는 고도를 읽을 수 있도록 참값 위치에서 바닥까지 점선을 내렸습니다.</a:t>
            </a:r>
          </a:p>
          <a:p>
            <a:r>
              <a:t>속도 선의 방향이 참값 궤적과 많이 어긋나는 것이 보이는데, 그 이유는 4.4 에서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300 번 스캔의 트랙 표입니다. 같은 스캔에 나이가 다른 트랙 세 개가 보입니다. 350 번은 이번 스캔에 만들어져 TrackScore 가 2 이고, 349 번은 한 스캔 전에 만들어져 1, 348 번은 두 스캔 전에 만들어져 0 이 되면서 삭제 상태가 되었습니다. Assigned_Flag 는 모두 0 입니다. 과제 조건에서는 모든 트랙이 이렇게 세 스캔 동안만 보이고 사라집니다.</a:t>
            </a:r>
          </a:p>
          <a:p>
            <a:r>
              <a:t>그래서 확정과 메모리 상태는 시뮬레이션에서 나오지 않고, 오른쪽의 스코어 확인 창에서 확인했습니다. 연관 결과를 직접 넣으면 같은 스코어 함수를 그대로 불러서 스캔마다 점수와 상태를 보여 줍니다. 1 1 1 0 0 1 1 을 넣으면 세 번째 스캔에 확정되고, 두 번 실패하면 메모리, 다시 성공하면 MemoryScore 가 0 으로 돌아가며 확정되는 것을 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표적마다 트랙이 얼마나 개시됐는지 보겠습니다.</a:t>
            </a:r>
          </a:p>
          <a:p>
            <a:r>
              <a:t>왼쪽 그래프는 참 표적 쌍이 속도 게이트를 통과한 비율을 거리별로 그린 것입니다. 1 km 안쪽은 거의 다 통과하지만 5 km 에서 절반, 14 km 에서는 열 번 중 한 번 정도로 떨어집니다. 파란 선이 잡음만으로 계산한 이론 값이고, 주황 점이 시뮬레이션 결과로 거의 같습니다. 각도 오차가 거리에 비례해 위치 오차가 되는데, 스캔 간격이 0.1 초라 게이트 반경이 80 m 로 작기 때문입니다.</a:t>
            </a:r>
          </a:p>
          <a:p>
            <a:r>
              <a:t>오른쪽 표처럼 14 km 에 있는 표적 1 은 트랙이 58 번, 6 km 근처의 표적 5 는 182 번 개시됐습니다. 개시된 트랙의 속도 오차도 500 m/s 안팎으로 큽니다. 위치 오차를 0.1 초로 나누기 때문이고, 스캔 간격이 수 초인 탐색 레이다라면 같은 위치 오차에서도 속도 오차가 수십 분의 일로 줄어듭니다.</a:t>
            </a:r>
          </a:p>
          <a:p>
            <a:r>
              <a:t>SNR 을 1000 으로 올리면 모든 표적이 두 스캔마다 개시되고, 속도 오차를 오차 공분산으로 나눠 제곱한 값의 평균이 이론값 3 에 가까운 2.8 정도가 나옵니다. 그래서 계산한 오차 공분산이 실제 오차 크기와 맞는다는 것도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마치겠습니다. 감사합니다. 질문 주시면 답변드리겠습니다.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END-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DEX">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2740"/>
          </a:solidFill>
          <a:ln/>
        </p:spPr>
      </p:sp>
      <p:sp>
        <p:nvSpPr>
          <p:cNvPr id="3" name="Text 1"/>
          <p:cNvSpPr/>
          <p:nvPr/>
        </p:nvSpPr>
        <p:spPr>
          <a:xfrm>
            <a:off x="777240" y="502920"/>
            <a:ext cx="1828800" cy="41148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INDEX</a:t>
            </a:r>
            <a:endParaRPr lang="en-US" sz="2600" dirty="0"/>
          </a:p>
        </p:txBody>
      </p:sp>
      <p:sp>
        <p:nvSpPr>
          <p:cNvPr id="4" name="Shape 2"/>
          <p:cNvSpPr/>
          <p:nvPr/>
        </p:nvSpPr>
        <p:spPr>
          <a:xfrm>
            <a:off x="2103120" y="722376"/>
            <a:ext cx="2103120" cy="0"/>
          </a:xfrm>
          <a:prstGeom prst="line">
            <a:avLst/>
          </a:prstGeom>
          <a:noFill/>
          <a:ln w="9525">
            <a:solidFill>
              <a:srgbClr val="3A4C78"/>
            </a:solidFill>
            <a:prstDash val="solid"/>
          </a:ln>
        </p:spPr>
      </p:sp>
      <p:sp>
        <p:nvSpPr>
          <p:cNvPr id="5" name="Shape 3"/>
          <p:cNvSpPr/>
          <p:nvPr/>
        </p:nvSpPr>
        <p:spPr>
          <a:xfrm>
            <a:off x="4206240" y="722376"/>
            <a:ext cx="7269480" cy="0"/>
          </a:xfrm>
          <a:prstGeom prst="line">
            <a:avLst/>
          </a:prstGeom>
          <a:noFill/>
          <a:ln w="9525">
            <a:solidFill>
              <a:srgbClr val="D2D9E5"/>
            </a:solidFill>
            <a:prstDash val="solid"/>
          </a:ln>
        </p:spPr>
      </p:sp>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0908792" cy="566928"/>
          </a:xfrm>
          <a:prstGeom prst="rect">
            <a:avLst/>
          </a:prstGeom>
          <a:solidFill>
            <a:srgbClr val="1B2740"/>
          </a:solidFill>
          <a:ln/>
        </p:spPr>
      </p:sp>
      <p:sp>
        <p:nvSpPr>
          <p:cNvPr id="3" name="Shape 1"/>
          <p:cNvSpPr/>
          <p:nvPr/>
        </p:nvSpPr>
        <p:spPr>
          <a:xfrm>
            <a:off x="640080" y="6327648"/>
            <a:ext cx="10908792" cy="0"/>
          </a:xfrm>
          <a:prstGeom prst="line">
            <a:avLst/>
          </a:prstGeom>
          <a:noFill/>
          <a:ln w="9525">
            <a:solidFill>
              <a:srgbClr val="D2D9E5"/>
            </a:solidFill>
            <a:prstDash val="solid"/>
          </a:ln>
        </p:spPr>
      </p:sp>
      <p:sp>
        <p:nvSpPr>
          <p:cNvPr id="4" name="Text 2"/>
          <p:cNvSpPr/>
          <p:nvPr>
            <p:ph idx="102" type="body" hasCustomPrompt="1"/>
          </p:nvPr>
        </p:nvSpPr>
        <p:spPr>
          <a:xfrm>
            <a:off x="896112" y="566928"/>
            <a:ext cx="8229600" cy="566928"/>
          </a:xfrm>
          <a:prstGeom prst="rect">
            <a:avLst/>
          </a:prstGeom>
          <a:noFill/>
          <a:ln/>
        </p:spPr>
        <p:txBody>
          <a:bodyPr wrap="square" rtlCol="0"/>
          <a:lstStyle>
            <a:lvl1pPr algn="l" indent="0" marL="0">
              <a:buNone/>
              <a:defRPr lang="en-US" sz="135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1350" dirty="0"/>
          </a:p>
        </p:txBody>
      </p:sp>
      <p:sp>
        <p:nvSpPr>
          <p:cNvPr id="5" name="Text 2"/>
          <p:cNvSpPr/>
          <p:nvPr>
            <p:ph idx="103" type="title" hasCustomPrompt="1"/>
          </p:nvPr>
        </p:nvSpPr>
        <p:spPr>
          <a:xfrm>
            <a:off x="868680" y="1216152"/>
            <a:ext cx="10451592" cy="438912"/>
          </a:xfrm>
          <a:prstGeom prst="rect">
            <a:avLst/>
          </a:prstGeom>
          <a:noFill/>
          <a:ln/>
        </p:spPr>
        <p:txBody>
          <a:bodyPr wrap="square" rtlCol="0"/>
          <a:lstStyle>
            <a:lvl1pPr algn="l" indent="0" marL="0">
              <a:buNone/>
              <a:defRPr lang="en-US" sz="2100" b="1" dirty="0">
                <a:solidFill>
                  <a:srgbClr val="1B2740"/>
                </a:solidFill>
                <a:latin typeface="맑은 고딕" pitchFamily="34" charset="0"/>
                <a:ea typeface="맑은 고딕" pitchFamily="34" charset="-122"/>
                <a:cs typeface="맑은 고딕" pitchFamily="34" charset="-120"/>
              </a:defRPr>
            </a:lvl1pPr>
          </a:lstStyle>
          <a:p>
            <a:pPr algn="l" indent="0" marL="0">
              <a:buNone/>
            </a:pPr>
            <a:endParaRPr lang="en-US" sz="2100" dirty="0"/>
          </a:p>
        </p:txBody>
      </p:sp>
      <p:sp>
        <p:nvSpPr>
          <p:cNvPr id="6" name="Text 2"/>
          <p:cNvSpPr/>
          <p:nvPr>
            <p:ph idx="104" type="body" hasCustomPrompt="1"/>
          </p:nvPr>
        </p:nvSpPr>
        <p:spPr>
          <a:xfrm>
            <a:off x="868680" y="1700784"/>
            <a:ext cx="10451592" cy="512064"/>
          </a:xfrm>
          <a:prstGeom prst="rect">
            <a:avLst/>
          </a:prstGeom>
          <a:noFill/>
          <a:ln/>
        </p:spPr>
        <p:txBody>
          <a:bodyPr wrap="square" rtlCol="0"/>
          <a:lstStyle>
            <a:lvl1pPr algn="l" indent="0" marL="0">
              <a:lnSpc>
                <a:spcPct val="105000"/>
              </a:lnSpc>
              <a:buNone/>
              <a:defRPr lang="en-US" sz="1250" dirty="0">
                <a:solidFill>
                  <a:srgbClr val="4A5A7A"/>
                </a:solidFill>
                <a:latin typeface="맑은 고딕" pitchFamily="34" charset="0"/>
                <a:ea typeface="맑은 고딕" pitchFamily="34" charset="-122"/>
                <a:cs typeface="맑은 고딕" pitchFamily="34" charset="-120"/>
              </a:defRPr>
            </a:lvl1pPr>
          </a:lstStyle>
          <a:p>
            <a:pPr algn="l" indent="0" marL="0">
              <a:lnSpc>
                <a:spcPct val="105000"/>
              </a:lnSpc>
              <a:buNone/>
            </a:pPr>
            <a:endParaRPr lang="en-US" sz="12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IVID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 y="713232"/>
            <a:ext cx="10698480" cy="0"/>
          </a:xfrm>
          <a:prstGeom prst="line">
            <a:avLst/>
          </a:prstGeom>
          <a:noFill/>
          <a:ln w="9525">
            <a:solidFill>
              <a:srgbClr val="AEB9CC"/>
            </a:solidFill>
            <a:prstDash val="solid"/>
          </a:ln>
        </p:spPr>
      </p:sp>
      <p:sp>
        <p:nvSpPr>
          <p:cNvPr id="3" name="Shape 1"/>
          <p:cNvSpPr/>
          <p:nvPr/>
        </p:nvSpPr>
        <p:spPr>
          <a:xfrm>
            <a:off x="749808" y="6336792"/>
            <a:ext cx="10698480" cy="0"/>
          </a:xfrm>
          <a:prstGeom prst="line">
            <a:avLst/>
          </a:prstGeom>
          <a:noFill/>
          <a:ln w="9525">
            <a:solidFill>
              <a:srgbClr val="AEB9CC"/>
            </a:solidFill>
            <a:prstDash val="solid"/>
          </a:ln>
        </p:spPr>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EN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 Id="rId3" Type="http://schemas.openxmlformats.org/officeDocument/2006/relationships/image" Target="../media/image11.png"/><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 Id="rId3" Type="http://schemas.openxmlformats.org/officeDocument/2006/relationships/image" Target="../media/image13.png"/><Relationship Id="rId4" Type="http://schemas.openxmlformats.org/officeDocument/2006/relationships/image" Target="../media/image1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8229600" y="658368"/>
            <a:ext cx="3017520" cy="274320"/>
          </a:xfrm>
          <a:prstGeom prst="rect">
            <a:avLst/>
          </a:prstGeom>
          <a:noFill/>
          <a:ln/>
        </p:spPr>
        <p:txBody>
          <a:bodyPr wrap="square" lIns="0" tIns="0" rIns="0" bIns="0" rtlCol="0" anchor="t"/>
          <a:lstStyle/>
          <a:p>
            <a:pPr algn="r" indent="0" marL="0">
              <a:buNone/>
            </a:pPr>
            <a:r>
              <a:rPr lang="en-US" sz="1000" b="1" dirty="0">
                <a:solidFill>
                  <a:srgbClr val="FFFFFF"/>
                </a:solidFill>
                <a:latin typeface="Arial" pitchFamily="34" charset="0"/>
                <a:ea typeface="Arial" pitchFamily="34" charset="-122"/>
                <a:cs typeface="Arial" pitchFamily="34" charset="-120"/>
              </a:rPr>
              <a:t>Confidential</a:t>
            </a:r>
            <a:endParaRPr lang="en-US" sz="1000" dirty="0"/>
          </a:p>
        </p:txBody>
      </p:sp>
      <p:sp>
        <p:nvSpPr>
          <p:cNvPr id="3" name="Text 1"/>
          <p:cNvSpPr txBox="1"/>
          <p:nvPr/>
        </p:nvSpPr>
        <p:spPr>
          <a:xfrm>
            <a:off x="4206240" y="2505456"/>
            <a:ext cx="6766560" cy="457200"/>
          </a:xfrm>
          <a:prstGeom prst="rect">
            <a:avLst/>
          </a:prstGeom>
          <a:noFill/>
          <a:ln/>
        </p:spPr>
        <p:txBody>
          <a:bodyPr wrap="square" lIns="0" tIns="0" rIns="0" bIns="0" rtlCol="0" anchor="ctr"/>
          <a:lstStyle/>
          <a:p>
            <a:pPr algn="r" indent="0" marL="0">
              <a:buNone/>
            </a:pPr>
            <a:r>
              <a:rPr lang="en-US" sz="1400" dirty="0">
                <a:solidFill>
                  <a:srgbClr val="AEB9CC"/>
                </a:solidFill>
                <a:latin typeface="맑은 고딕" pitchFamily="34" charset="0"/>
                <a:ea typeface="맑은 고딕" pitchFamily="34" charset="-122"/>
                <a:cs typeface="맑은 고딕" pitchFamily="34" charset="-120"/>
              </a:rPr>
              <a:t>레이다 SW 학습 과제 5</a:t>
            </a:r>
            <a:endParaRPr lang="en-US" sz="1400" dirty="0"/>
          </a:p>
        </p:txBody>
      </p:sp>
      <p:sp>
        <p:nvSpPr>
          <p:cNvPr id="4" name="Text 2"/>
          <p:cNvSpPr txBox="1"/>
          <p:nvPr/>
        </p:nvSpPr>
        <p:spPr>
          <a:xfrm>
            <a:off x="4206240" y="2944368"/>
            <a:ext cx="6766560" cy="685800"/>
          </a:xfrm>
          <a:prstGeom prst="rect">
            <a:avLst/>
          </a:prstGeom>
          <a:noFill/>
          <a:ln/>
        </p:spPr>
        <p:txBody>
          <a:bodyPr wrap="square" lIns="0" tIns="0" rIns="0" bIns="0" rtlCol="0" anchor="ctr"/>
          <a:lstStyle/>
          <a:p>
            <a:pPr algn="r" indent="0" marL="0">
              <a:buNone/>
            </a:pPr>
            <a:r>
              <a:rPr lang="en-US" sz="3800" b="1" dirty="0">
                <a:solidFill>
                  <a:srgbClr val="FFFFFF"/>
                </a:solidFill>
                <a:latin typeface="맑은 고딕" pitchFamily="34" charset="0"/>
                <a:ea typeface="맑은 고딕" pitchFamily="34" charset="-122"/>
                <a:cs typeface="맑은 고딕" pitchFamily="34" charset="-120"/>
              </a:rPr>
              <a:t>트랙 개시 · 관리</a:t>
            </a:r>
            <a:endParaRPr lang="en-US" sz="3800" dirty="0"/>
          </a:p>
        </p:txBody>
      </p:sp>
      <p:sp>
        <p:nvSpPr>
          <p:cNvPr id="5" name="Shape 3"/>
          <p:cNvSpPr/>
          <p:nvPr/>
        </p:nvSpPr>
        <p:spPr>
          <a:xfrm>
            <a:off x="7863840" y="3913632"/>
            <a:ext cx="3108960" cy="0"/>
          </a:xfrm>
          <a:prstGeom prst="line">
            <a:avLst/>
          </a:prstGeom>
          <a:noFill/>
          <a:ln w="9525">
            <a:solidFill>
              <a:srgbClr val="AEB9CC"/>
            </a:solidFill>
            <a:prstDash val="solid"/>
          </a:ln>
        </p:spPr>
      </p:sp>
      <p:sp>
        <p:nvSpPr>
          <p:cNvPr id="6" name="Text 4"/>
          <p:cNvSpPr txBox="1"/>
          <p:nvPr/>
        </p:nvSpPr>
        <p:spPr>
          <a:xfrm>
            <a:off x="4206240" y="4059936"/>
            <a:ext cx="6766560" cy="292608"/>
          </a:xfrm>
          <a:prstGeom prst="rect">
            <a:avLst/>
          </a:prstGeom>
          <a:noFill/>
          <a:ln/>
        </p:spPr>
        <p:txBody>
          <a:bodyPr wrap="square" lIns="0" tIns="0" rIns="0" bIns="0" rtlCol="0" anchor="ctr"/>
          <a:lstStyle/>
          <a:p>
            <a:pPr algn="r" indent="0" marL="0">
              <a:buNone/>
            </a:pPr>
            <a:r>
              <a:rPr lang="en-US" sz="1300" dirty="0">
                <a:solidFill>
                  <a:srgbClr val="AEB9CC"/>
                </a:solidFill>
                <a:latin typeface="Arial" pitchFamily="34" charset="0"/>
                <a:ea typeface="Arial" pitchFamily="34" charset="-122"/>
                <a:cs typeface="Arial" pitchFamily="34" charset="-120"/>
              </a:rPr>
              <a:t>Track Initiation and Management</a:t>
            </a:r>
            <a:endParaRPr lang="en-US" sz="1300" dirty="0"/>
          </a:p>
        </p:txBody>
      </p:sp>
      <p:sp>
        <p:nvSpPr>
          <p:cNvPr id="7" name="Text 5"/>
          <p:cNvSpPr txBox="1"/>
          <p:nvPr/>
        </p:nvSpPr>
        <p:spPr>
          <a:xfrm>
            <a:off x="4206240" y="5120640"/>
            <a:ext cx="6766560" cy="292608"/>
          </a:xfrm>
          <a:prstGeom prst="rect">
            <a:avLst/>
          </a:prstGeom>
          <a:noFill/>
          <a:ln/>
        </p:spPr>
        <p:txBody>
          <a:bodyPr wrap="square" lIns="0" tIns="0" rIns="0" bIns="0" rtlCol="0" anchor="ctr"/>
          <a:lstStyle/>
          <a:p>
            <a:pPr algn="r" indent="0" marL="0">
              <a:buNone/>
            </a:pPr>
            <a:r>
              <a:rPr lang="en-US" sz="1200" dirty="0">
                <a:solidFill>
                  <a:srgbClr val="FFFFFF"/>
                </a:solidFill>
                <a:latin typeface="Arial" pitchFamily="34" charset="0"/>
                <a:ea typeface="Arial" pitchFamily="34" charset="-122"/>
                <a:cs typeface="Arial" pitchFamily="34" charset="-120"/>
              </a:rPr>
              <a:t>Janghwan Kim (Harley)</a:t>
            </a:r>
            <a:endParaRPr lang="en-US" sz="1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7200" y="2743200"/>
            <a:ext cx="3291840" cy="1188720"/>
          </a:xfrm>
          <a:prstGeom prst="rect">
            <a:avLst/>
          </a:prstGeom>
          <a:noFill/>
          <a:ln/>
        </p:spPr>
        <p:txBody>
          <a:bodyPr wrap="square" lIns="0" tIns="0" rIns="0" bIns="0" rtlCol="0" anchor="ctr"/>
          <a:lstStyle/>
          <a:p>
            <a:pPr algn="ctr" indent="0" marL="0">
              <a:lnSpc>
                <a:spcPct val="125000"/>
              </a:lnSpc>
              <a:buNone/>
            </a:pPr>
            <a:r>
              <a:rPr lang="en-US" sz="1800" b="1" dirty="0">
                <a:solidFill>
                  <a:srgbClr val="FFFFFF"/>
                </a:solidFill>
                <a:latin typeface="맑은 고딕" pitchFamily="34" charset="0"/>
                <a:ea typeface="맑은 고딕" pitchFamily="34" charset="-122"/>
                <a:cs typeface="맑은 고딕" pitchFamily="34" charset="-120"/>
              </a:rPr>
              <a:t>트랙 개시 · 관리</a:t>
            </a:r>
            <a:endParaRPr lang="en-US" sz="1800" dirty="0"/>
          </a:p>
          <a:p>
            <a:pPr algn="ctr" indent="0" marL="0">
              <a:lnSpc>
                <a:spcPct val="125000"/>
              </a:lnSpc>
              <a:buNone/>
            </a:pPr>
            <a:r>
              <a:rPr lang="en-US" sz="1800" b="1" dirty="0">
                <a:solidFill>
                  <a:srgbClr val="FFFFFF"/>
                </a:solidFill>
                <a:latin typeface="맑은 고딕" pitchFamily="34" charset="0"/>
                <a:ea typeface="맑은 고딕" pitchFamily="34" charset="-122"/>
                <a:cs typeface="맑은 고딕" pitchFamily="34" charset="-120"/>
              </a:rPr>
              <a:t>TrackMgr</a:t>
            </a:r>
            <a:endParaRPr lang="en-US" sz="1800" dirty="0"/>
          </a:p>
        </p:txBody>
      </p:sp>
      <p:sp>
        <p:nvSpPr>
          <p:cNvPr id="3" name="Text 1"/>
          <p:cNvSpPr txBox="1"/>
          <p:nvPr/>
        </p:nvSpPr>
        <p:spPr>
          <a:xfrm>
            <a:off x="457200" y="6035040"/>
            <a:ext cx="3291840" cy="274320"/>
          </a:xfrm>
          <a:prstGeom prst="rect">
            <a:avLst/>
          </a:prstGeom>
          <a:noFill/>
          <a:ln/>
        </p:spPr>
        <p:txBody>
          <a:bodyPr wrap="square" lIns="0" tIns="0" rIns="0" bIns="0" rtlCol="0" anchor="t"/>
          <a:lstStyle/>
          <a:p>
            <a:pPr algn="ctr" indent="0" marL="0">
              <a:buNone/>
            </a:pPr>
            <a:r>
              <a:rPr lang="en-US" sz="1000" dirty="0">
                <a:solidFill>
                  <a:srgbClr val="AEB9CC"/>
                </a:solidFill>
                <a:latin typeface="Arial" pitchFamily="34" charset="0"/>
                <a:ea typeface="Arial" pitchFamily="34" charset="-122"/>
                <a:cs typeface="Arial" pitchFamily="34" charset="-120"/>
              </a:rPr>
              <a:t>Janghwan Kim (Harley)</a:t>
            </a:r>
            <a:endParaRPr lang="en-US" sz="1000" dirty="0"/>
          </a:p>
        </p:txBody>
      </p:sp>
      <p:sp>
        <p:nvSpPr>
          <p:cNvPr id="4" name="Text 2"/>
          <p:cNvSpPr txBox="1"/>
          <p:nvPr/>
        </p:nvSpPr>
        <p:spPr>
          <a:xfrm>
            <a:off x="4800600" y="1801368"/>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01</a:t>
            </a:r>
            <a:endParaRPr lang="en-US" sz="3000" dirty="0"/>
          </a:p>
        </p:txBody>
      </p:sp>
      <p:sp>
        <p:nvSpPr>
          <p:cNvPr id="5" name="Text 3"/>
          <p:cNvSpPr txBox="1"/>
          <p:nvPr/>
        </p:nvSpPr>
        <p:spPr>
          <a:xfrm>
            <a:off x="5852160" y="1801368"/>
            <a:ext cx="920115"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트랙 개시</a:t>
            </a:r>
            <a:endParaRPr lang="en-US" sz="1500" dirty="0"/>
          </a:p>
        </p:txBody>
      </p:sp>
      <p:sp>
        <p:nvSpPr>
          <p:cNvPr id="6" name="Shape 4"/>
          <p:cNvSpPr/>
          <p:nvPr/>
        </p:nvSpPr>
        <p:spPr>
          <a:xfrm>
            <a:off x="6882003" y="2103120"/>
            <a:ext cx="4045077" cy="0"/>
          </a:xfrm>
          <a:prstGeom prst="line">
            <a:avLst/>
          </a:prstGeom>
          <a:noFill/>
          <a:ln w="9525">
            <a:solidFill>
              <a:srgbClr val="C9D1DD"/>
            </a:solidFill>
            <a:prstDash val="sysDot"/>
          </a:ln>
        </p:spPr>
      </p:sp>
      <p:sp>
        <p:nvSpPr>
          <p:cNvPr id="7" name="Text 5"/>
          <p:cNvSpPr txBox="1"/>
          <p:nvPr/>
        </p:nvSpPr>
        <p:spPr>
          <a:xfrm>
            <a:off x="11009376" y="1801368"/>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3</a:t>
            </a:r>
            <a:endParaRPr lang="en-US" sz="1400" dirty="0"/>
          </a:p>
        </p:txBody>
      </p:sp>
      <p:sp>
        <p:nvSpPr>
          <p:cNvPr id="8" name="Shape 6"/>
          <p:cNvSpPr/>
          <p:nvPr/>
        </p:nvSpPr>
        <p:spPr>
          <a:xfrm>
            <a:off x="4800600" y="2459736"/>
            <a:ext cx="6720840" cy="0"/>
          </a:xfrm>
          <a:prstGeom prst="line">
            <a:avLst/>
          </a:prstGeom>
          <a:noFill/>
          <a:ln w="9525">
            <a:solidFill>
              <a:srgbClr val="D2D9E5"/>
            </a:solidFill>
            <a:prstDash val="solid"/>
          </a:ln>
        </p:spPr>
      </p:sp>
      <p:sp>
        <p:nvSpPr>
          <p:cNvPr id="9" name="Text 2"/>
          <p:cNvSpPr txBox="1"/>
          <p:nvPr/>
        </p:nvSpPr>
        <p:spPr>
          <a:xfrm>
            <a:off x="4800600" y="2569464"/>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02</a:t>
            </a:r>
            <a:endParaRPr lang="en-US" sz="3000" dirty="0"/>
          </a:p>
        </p:txBody>
      </p:sp>
      <p:sp>
        <p:nvSpPr>
          <p:cNvPr id="10" name="Text 3"/>
          <p:cNvSpPr txBox="1"/>
          <p:nvPr/>
        </p:nvSpPr>
        <p:spPr>
          <a:xfrm>
            <a:off x="5852160" y="2569464"/>
            <a:ext cx="920115"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트랙 관리</a:t>
            </a:r>
            <a:endParaRPr lang="en-US" sz="1500" dirty="0"/>
          </a:p>
        </p:txBody>
      </p:sp>
      <p:sp>
        <p:nvSpPr>
          <p:cNvPr id="11" name="Shape 4"/>
          <p:cNvSpPr/>
          <p:nvPr/>
        </p:nvSpPr>
        <p:spPr>
          <a:xfrm>
            <a:off x="6882003" y="2871216"/>
            <a:ext cx="4045077" cy="0"/>
          </a:xfrm>
          <a:prstGeom prst="line">
            <a:avLst/>
          </a:prstGeom>
          <a:noFill/>
          <a:ln w="9525">
            <a:solidFill>
              <a:srgbClr val="C9D1DD"/>
            </a:solidFill>
            <a:prstDash val="sysDot"/>
          </a:ln>
        </p:spPr>
      </p:sp>
      <p:sp>
        <p:nvSpPr>
          <p:cNvPr id="12" name="Text 5"/>
          <p:cNvSpPr txBox="1"/>
          <p:nvPr/>
        </p:nvSpPr>
        <p:spPr>
          <a:xfrm>
            <a:off x="11009376" y="2569464"/>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9</a:t>
            </a:r>
            <a:endParaRPr lang="en-US" sz="1400" dirty="0"/>
          </a:p>
        </p:txBody>
      </p:sp>
      <p:sp>
        <p:nvSpPr>
          <p:cNvPr id="13" name="Shape 6"/>
          <p:cNvSpPr/>
          <p:nvPr/>
        </p:nvSpPr>
        <p:spPr>
          <a:xfrm>
            <a:off x="4800600" y="3227832"/>
            <a:ext cx="6720840" cy="0"/>
          </a:xfrm>
          <a:prstGeom prst="line">
            <a:avLst/>
          </a:prstGeom>
          <a:noFill/>
          <a:ln w="9525">
            <a:solidFill>
              <a:srgbClr val="D2D9E5"/>
            </a:solidFill>
            <a:prstDash val="solid"/>
          </a:ln>
        </p:spPr>
      </p:sp>
      <p:sp>
        <p:nvSpPr>
          <p:cNvPr id="14" name="Text 2"/>
          <p:cNvSpPr txBox="1"/>
          <p:nvPr/>
        </p:nvSpPr>
        <p:spPr>
          <a:xfrm>
            <a:off x="4800600" y="3337560"/>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03</a:t>
            </a:r>
            <a:endParaRPr lang="en-US" sz="3000" dirty="0"/>
          </a:p>
        </p:txBody>
      </p:sp>
      <p:sp>
        <p:nvSpPr>
          <p:cNvPr id="15" name="Text 3"/>
          <p:cNvSpPr txBox="1"/>
          <p:nvPr/>
        </p:nvSpPr>
        <p:spPr>
          <a:xfrm>
            <a:off x="5852160" y="3337560"/>
            <a:ext cx="472440"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구현</a:t>
            </a:r>
            <a:endParaRPr lang="en-US" sz="1500" dirty="0"/>
          </a:p>
        </p:txBody>
      </p:sp>
      <p:sp>
        <p:nvSpPr>
          <p:cNvPr id="16" name="Shape 4"/>
          <p:cNvSpPr/>
          <p:nvPr/>
        </p:nvSpPr>
        <p:spPr>
          <a:xfrm>
            <a:off x="6434328" y="3639312"/>
            <a:ext cx="4492752" cy="0"/>
          </a:xfrm>
          <a:prstGeom prst="line">
            <a:avLst/>
          </a:prstGeom>
          <a:noFill/>
          <a:ln w="9525">
            <a:solidFill>
              <a:srgbClr val="C9D1DD"/>
            </a:solidFill>
            <a:prstDash val="sysDot"/>
          </a:ln>
        </p:spPr>
      </p:sp>
      <p:sp>
        <p:nvSpPr>
          <p:cNvPr id="17" name="Text 5"/>
          <p:cNvSpPr txBox="1"/>
          <p:nvPr/>
        </p:nvSpPr>
        <p:spPr>
          <a:xfrm>
            <a:off x="11009376" y="3337560"/>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13</a:t>
            </a:r>
            <a:endParaRPr lang="en-US" sz="1400" dirty="0"/>
          </a:p>
        </p:txBody>
      </p:sp>
      <p:sp>
        <p:nvSpPr>
          <p:cNvPr id="18" name="Shape 6"/>
          <p:cNvSpPr/>
          <p:nvPr/>
        </p:nvSpPr>
        <p:spPr>
          <a:xfrm>
            <a:off x="4800600" y="3995928"/>
            <a:ext cx="6720840" cy="0"/>
          </a:xfrm>
          <a:prstGeom prst="line">
            <a:avLst/>
          </a:prstGeom>
          <a:noFill/>
          <a:ln w="9525">
            <a:solidFill>
              <a:srgbClr val="D2D9E5"/>
            </a:solidFill>
            <a:prstDash val="solid"/>
          </a:ln>
        </p:spPr>
      </p:sp>
      <p:sp>
        <p:nvSpPr>
          <p:cNvPr id="19" name="Text 2"/>
          <p:cNvSpPr txBox="1"/>
          <p:nvPr/>
        </p:nvSpPr>
        <p:spPr>
          <a:xfrm>
            <a:off x="4800600" y="4105656"/>
            <a:ext cx="914400" cy="502920"/>
          </a:xfrm>
          <a:prstGeom prst="rect">
            <a:avLst/>
          </a:prstGeom>
          <a:noFill/>
          <a:ln/>
        </p:spPr>
        <p:txBody>
          <a:bodyPr wrap="square" lIns="0" tIns="0" rIns="0" bIns="0" rtlCol="0" anchor="ctr"/>
          <a:lstStyle/>
          <a:p>
            <a:pPr indent="0" marL="0">
              <a:buNone/>
            </a:pPr>
            <a:r>
              <a:rPr lang="en-US" sz="3000" b="1" dirty="0">
                <a:solidFill>
                  <a:srgbClr val="1B2740"/>
                </a:solidFill>
                <a:latin typeface="Arial" pitchFamily="34" charset="0"/>
                <a:ea typeface="Arial" pitchFamily="34" charset="-122"/>
                <a:cs typeface="Arial" pitchFamily="34" charset="-120"/>
              </a:rPr>
              <a:t>04</a:t>
            </a:r>
            <a:endParaRPr lang="en-US" sz="3000" dirty="0"/>
          </a:p>
        </p:txBody>
      </p:sp>
      <p:sp>
        <p:nvSpPr>
          <p:cNvPr id="20" name="Text 3"/>
          <p:cNvSpPr txBox="1"/>
          <p:nvPr/>
        </p:nvSpPr>
        <p:spPr>
          <a:xfrm>
            <a:off x="5852160" y="4105656"/>
            <a:ext cx="472440" cy="502920"/>
          </a:xfrm>
          <a:prstGeom prst="rect">
            <a:avLst/>
          </a:prstGeom>
          <a:noFill/>
          <a:ln/>
        </p:spPr>
        <p:txBody>
          <a:bodyPr wrap="square" lIns="0" tIns="0" rIns="0" bIns="0" rtlCol="0" anchor="ctr"/>
          <a:lstStyle/>
          <a:p>
            <a:pPr indent="0" marL="0">
              <a:buNone/>
            </a:pPr>
            <a:r>
              <a:rPr lang="en-US" sz="1500" b="1" dirty="0">
                <a:solidFill>
                  <a:srgbClr val="1B2740"/>
                </a:solidFill>
                <a:latin typeface="맑은 고딕" pitchFamily="34" charset="0"/>
                <a:ea typeface="맑은 고딕" pitchFamily="34" charset="-122"/>
                <a:cs typeface="맑은 고딕" pitchFamily="34" charset="-120"/>
              </a:rPr>
              <a:t>결과</a:t>
            </a:r>
            <a:endParaRPr lang="en-US" sz="1500" dirty="0"/>
          </a:p>
        </p:txBody>
      </p:sp>
      <p:sp>
        <p:nvSpPr>
          <p:cNvPr id="21" name="Shape 4"/>
          <p:cNvSpPr/>
          <p:nvPr/>
        </p:nvSpPr>
        <p:spPr>
          <a:xfrm>
            <a:off x="6434328" y="4407408"/>
            <a:ext cx="4492752" cy="0"/>
          </a:xfrm>
          <a:prstGeom prst="line">
            <a:avLst/>
          </a:prstGeom>
          <a:noFill/>
          <a:ln w="9525">
            <a:solidFill>
              <a:srgbClr val="C9D1DD"/>
            </a:solidFill>
            <a:prstDash val="sysDot"/>
          </a:ln>
        </p:spPr>
      </p:sp>
      <p:sp>
        <p:nvSpPr>
          <p:cNvPr id="22" name="Text 5"/>
          <p:cNvSpPr txBox="1"/>
          <p:nvPr/>
        </p:nvSpPr>
        <p:spPr>
          <a:xfrm>
            <a:off x="11009376" y="4105656"/>
            <a:ext cx="512064" cy="502920"/>
          </a:xfrm>
          <a:prstGeom prst="rect">
            <a:avLst/>
          </a:prstGeom>
          <a:noFill/>
          <a:ln/>
        </p:spPr>
        <p:txBody>
          <a:bodyPr wrap="square" lIns="0" tIns="0" rIns="0" bIns="0" rtlCol="0" anchor="ctr"/>
          <a:lstStyle/>
          <a:p>
            <a:pPr algn="r" indent="0" marL="0">
              <a:buNone/>
            </a:pPr>
            <a:r>
              <a:rPr lang="en-US" sz="1400" dirty="0">
                <a:solidFill>
                  <a:srgbClr val="1B2740"/>
                </a:solidFill>
                <a:latin typeface="Arial" pitchFamily="34" charset="0"/>
                <a:ea typeface="Arial" pitchFamily="34" charset="-122"/>
                <a:cs typeface="Arial" pitchFamily="34" charset="-120"/>
              </a:rPr>
              <a:t>22</a:t>
            </a:r>
            <a:endParaRPr lang="en-US" sz="1400" dirty="0"/>
          </a:p>
        </p:txBody>
      </p:sp>
      <p:sp>
        <p:nvSpPr>
          <p:cNvPr id="23"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859536" y="914400"/>
            <a:ext cx="9144000" cy="475488"/>
          </a:xfrm>
          <a:prstGeom prst="rect">
            <a:avLst/>
          </a:prstGeom>
          <a:noFill/>
          <a:ln/>
        </p:spPr>
        <p:txBody>
          <a:bodyPr wrap="square" lIns="0" tIns="0" rIns="0" bIns="0" rtlCol="0" anchor="ctr"/>
          <a:lstStyle/>
          <a:p>
            <a:pPr indent="0" marL="0">
              <a:buNone/>
            </a:pPr>
            <a:r>
              <a:rPr lang="en-US" sz="2400" b="1" dirty="0">
                <a:solidFill>
                  <a:srgbClr val="1B2740"/>
                </a:solidFill>
                <a:latin typeface="맑은 고딕" pitchFamily="34" charset="0"/>
                <a:ea typeface="맑은 고딕" pitchFamily="34" charset="-122"/>
                <a:cs typeface="맑은 고딕" pitchFamily="34" charset="-120"/>
              </a:rPr>
              <a:t>01. 트랙 개시</a:t>
            </a:r>
            <a:endParaRPr lang="en-US" sz="2400" dirty="0"/>
          </a:p>
        </p:txBody>
      </p:sp>
      <p:sp>
        <p:nvSpPr>
          <p:cNvPr id="3" name="Text 1"/>
          <p:cNvSpPr txBox="1"/>
          <p:nvPr/>
        </p:nvSpPr>
        <p:spPr>
          <a:xfrm>
            <a:off x="859536" y="1444752"/>
            <a:ext cx="10588752" cy="304495"/>
          </a:xfrm>
          <a:prstGeom prst="rect">
            <a:avLst/>
          </a:prstGeom>
          <a:noFill/>
          <a:ln/>
        </p:spPr>
        <p:txBody>
          <a:bodyPr wrap="square" lIns="0" tIns="0" rIns="0" bIns="0" rtlCol="0" anchor="ctr"/>
          <a:lstStyle/>
          <a:p>
            <a:pPr indent="0" marL="0">
              <a:buNone/>
            </a:pPr>
            <a:r>
              <a:rPr lang="en-US" sz="1300" dirty="0">
                <a:solidFill>
                  <a:srgbClr val="1B2740"/>
                </a:solidFill>
                <a:latin typeface="맑은 고딕" pitchFamily="34" charset="0"/>
                <a:ea typeface="맑은 고딕" pitchFamily="34" charset="-122"/>
                <a:cs typeface="맑은 고딕" pitchFamily="34" charset="-120"/>
              </a:rPr>
              <a:t>트랙이 무엇인지 보고, 플롯 두 개로 트랙을 시작하는 2 Point 개시와 속도 게이트를 설명합니다.</a:t>
            </a:r>
            <a:endParaRPr lang="en-US" sz="1300" dirty="0"/>
          </a:p>
        </p:txBody>
      </p:sp>
      <p:sp>
        <p:nvSpPr>
          <p:cNvPr id="4" name="Text 2"/>
          <p:cNvSpPr txBox="1"/>
          <p:nvPr/>
        </p:nvSpPr>
        <p:spPr>
          <a:xfrm>
            <a:off x="859536" y="2057400"/>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1.1</a:t>
            </a:r>
            <a:endParaRPr lang="en-US" sz="1400" dirty="0"/>
          </a:p>
        </p:txBody>
      </p:sp>
      <p:sp>
        <p:nvSpPr>
          <p:cNvPr id="5" name="Text 3"/>
          <p:cNvSpPr txBox="1"/>
          <p:nvPr/>
        </p:nvSpPr>
        <p:spPr>
          <a:xfrm>
            <a:off x="1418234" y="2057400"/>
            <a:ext cx="1442212"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트랙과 트랙 개시</a:t>
            </a:r>
            <a:endParaRPr lang="en-US" sz="1400" dirty="0"/>
          </a:p>
        </p:txBody>
      </p:sp>
      <p:sp>
        <p:nvSpPr>
          <p:cNvPr id="6" name="Shape 4"/>
          <p:cNvSpPr/>
          <p:nvPr/>
        </p:nvSpPr>
        <p:spPr>
          <a:xfrm>
            <a:off x="2969260" y="2313432"/>
            <a:ext cx="7637780" cy="0"/>
          </a:xfrm>
          <a:prstGeom prst="line">
            <a:avLst/>
          </a:prstGeom>
          <a:noFill/>
          <a:ln w="15875">
            <a:solidFill>
              <a:srgbClr val="AEB9CC"/>
            </a:solidFill>
            <a:prstDash val="sysDot"/>
          </a:ln>
        </p:spPr>
      </p:sp>
      <p:sp>
        <p:nvSpPr>
          <p:cNvPr id="7" name="Text 5"/>
          <p:cNvSpPr txBox="1"/>
          <p:nvPr/>
        </p:nvSpPr>
        <p:spPr>
          <a:xfrm>
            <a:off x="10736885" y="2057400"/>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4</a:t>
            </a:r>
            <a:endParaRPr lang="en-US" sz="1300" dirty="0"/>
          </a:p>
        </p:txBody>
      </p:sp>
      <p:sp>
        <p:nvSpPr>
          <p:cNvPr id="8" name="Text 2"/>
          <p:cNvSpPr txBox="1"/>
          <p:nvPr/>
        </p:nvSpPr>
        <p:spPr>
          <a:xfrm>
            <a:off x="859536" y="2464308"/>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1.2</a:t>
            </a:r>
            <a:endParaRPr lang="en-US" sz="1400" dirty="0"/>
          </a:p>
        </p:txBody>
      </p:sp>
      <p:sp>
        <p:nvSpPr>
          <p:cNvPr id="9" name="Text 3"/>
          <p:cNvSpPr txBox="1"/>
          <p:nvPr/>
        </p:nvSpPr>
        <p:spPr>
          <a:xfrm>
            <a:off x="1418234" y="2464308"/>
            <a:ext cx="1966499"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1-Point 와 2-Point 개시</a:t>
            </a:r>
            <a:endParaRPr lang="en-US" sz="1400" dirty="0"/>
          </a:p>
        </p:txBody>
      </p:sp>
      <p:sp>
        <p:nvSpPr>
          <p:cNvPr id="10" name="Shape 4"/>
          <p:cNvSpPr/>
          <p:nvPr/>
        </p:nvSpPr>
        <p:spPr>
          <a:xfrm>
            <a:off x="3493547" y="2720339"/>
            <a:ext cx="7113492" cy="0"/>
          </a:xfrm>
          <a:prstGeom prst="line">
            <a:avLst/>
          </a:prstGeom>
          <a:noFill/>
          <a:ln w="15875">
            <a:solidFill>
              <a:srgbClr val="AEB9CC"/>
            </a:solidFill>
            <a:prstDash val="sysDot"/>
          </a:ln>
        </p:spPr>
      </p:sp>
      <p:sp>
        <p:nvSpPr>
          <p:cNvPr id="11" name="Text 5"/>
          <p:cNvSpPr txBox="1"/>
          <p:nvPr/>
        </p:nvSpPr>
        <p:spPr>
          <a:xfrm>
            <a:off x="10736885" y="2464308"/>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5</a:t>
            </a:r>
            <a:endParaRPr lang="en-US" sz="1300" dirty="0"/>
          </a:p>
        </p:txBody>
      </p:sp>
      <p:sp>
        <p:nvSpPr>
          <p:cNvPr id="12" name="Text 2"/>
          <p:cNvSpPr txBox="1"/>
          <p:nvPr/>
        </p:nvSpPr>
        <p:spPr>
          <a:xfrm>
            <a:off x="859536" y="2871216"/>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1.3</a:t>
            </a:r>
            <a:endParaRPr lang="en-US" sz="1400" dirty="0"/>
          </a:p>
        </p:txBody>
      </p:sp>
      <p:sp>
        <p:nvSpPr>
          <p:cNvPr id="13" name="Text 3"/>
          <p:cNvSpPr txBox="1"/>
          <p:nvPr/>
        </p:nvSpPr>
        <p:spPr>
          <a:xfrm>
            <a:off x="1418234" y="2871216"/>
            <a:ext cx="3042300"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2-Point 초기 상태변수와 오차 공분산</a:t>
            </a:r>
            <a:endParaRPr lang="en-US" sz="1400" dirty="0"/>
          </a:p>
        </p:txBody>
      </p:sp>
      <p:sp>
        <p:nvSpPr>
          <p:cNvPr id="14" name="Shape 4"/>
          <p:cNvSpPr/>
          <p:nvPr/>
        </p:nvSpPr>
        <p:spPr>
          <a:xfrm>
            <a:off x="4569348" y="3127248"/>
            <a:ext cx="6037691" cy="0"/>
          </a:xfrm>
          <a:prstGeom prst="line">
            <a:avLst/>
          </a:prstGeom>
          <a:noFill/>
          <a:ln w="15875">
            <a:solidFill>
              <a:srgbClr val="AEB9CC"/>
            </a:solidFill>
            <a:prstDash val="sysDot"/>
          </a:ln>
        </p:spPr>
      </p:sp>
      <p:sp>
        <p:nvSpPr>
          <p:cNvPr id="15" name="Text 5"/>
          <p:cNvSpPr txBox="1"/>
          <p:nvPr/>
        </p:nvSpPr>
        <p:spPr>
          <a:xfrm>
            <a:off x="10736885" y="2871216"/>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6</a:t>
            </a:r>
            <a:endParaRPr lang="en-US" sz="1300" dirty="0"/>
          </a:p>
        </p:txBody>
      </p:sp>
      <p:sp>
        <p:nvSpPr>
          <p:cNvPr id="16" name="Text 2"/>
          <p:cNvSpPr txBox="1"/>
          <p:nvPr/>
        </p:nvSpPr>
        <p:spPr>
          <a:xfrm>
            <a:off x="859536" y="3278124"/>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1.4</a:t>
            </a:r>
            <a:endParaRPr lang="en-US" sz="1400" dirty="0"/>
          </a:p>
        </p:txBody>
      </p:sp>
      <p:sp>
        <p:nvSpPr>
          <p:cNvPr id="17" name="Text 3"/>
          <p:cNvSpPr txBox="1"/>
          <p:nvPr/>
        </p:nvSpPr>
        <p:spPr>
          <a:xfrm>
            <a:off x="1418234" y="3278124"/>
            <a:ext cx="1024381"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속도 게이팅</a:t>
            </a:r>
            <a:endParaRPr lang="en-US" sz="1400" dirty="0"/>
          </a:p>
        </p:txBody>
      </p:sp>
      <p:sp>
        <p:nvSpPr>
          <p:cNvPr id="18" name="Shape 4"/>
          <p:cNvSpPr/>
          <p:nvPr/>
        </p:nvSpPr>
        <p:spPr>
          <a:xfrm>
            <a:off x="2551430" y="3534156"/>
            <a:ext cx="8055610" cy="0"/>
          </a:xfrm>
          <a:prstGeom prst="line">
            <a:avLst/>
          </a:prstGeom>
          <a:noFill/>
          <a:ln w="15875">
            <a:solidFill>
              <a:srgbClr val="AEB9CC"/>
            </a:solidFill>
            <a:prstDash val="sysDot"/>
          </a:ln>
        </p:spPr>
      </p:sp>
      <p:sp>
        <p:nvSpPr>
          <p:cNvPr id="19" name="Text 5"/>
          <p:cNvSpPr txBox="1"/>
          <p:nvPr/>
        </p:nvSpPr>
        <p:spPr>
          <a:xfrm>
            <a:off x="10736885" y="3278124"/>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7</a:t>
            </a:r>
            <a:endParaRPr lang="en-US" sz="1300" dirty="0"/>
          </a:p>
        </p:txBody>
      </p:sp>
      <p:sp>
        <p:nvSpPr>
          <p:cNvPr id="20" name="Text 2"/>
          <p:cNvSpPr txBox="1"/>
          <p:nvPr/>
        </p:nvSpPr>
        <p:spPr>
          <a:xfrm>
            <a:off x="859536" y="3685032"/>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1.5</a:t>
            </a:r>
            <a:endParaRPr lang="en-US" sz="1400" dirty="0"/>
          </a:p>
        </p:txBody>
      </p:sp>
      <p:sp>
        <p:nvSpPr>
          <p:cNvPr id="21" name="Text 3"/>
          <p:cNvSpPr txBox="1"/>
          <p:nvPr/>
        </p:nvSpPr>
        <p:spPr>
          <a:xfrm>
            <a:off x="1418234" y="3685032"/>
            <a:ext cx="2754320"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측정 공분산을 VC-NED 로 옮기기</a:t>
            </a:r>
            <a:endParaRPr lang="en-US" sz="1400" dirty="0"/>
          </a:p>
        </p:txBody>
      </p:sp>
      <p:sp>
        <p:nvSpPr>
          <p:cNvPr id="22" name="Shape 4"/>
          <p:cNvSpPr/>
          <p:nvPr/>
        </p:nvSpPr>
        <p:spPr>
          <a:xfrm>
            <a:off x="4281368" y="3941064"/>
            <a:ext cx="6325671" cy="0"/>
          </a:xfrm>
          <a:prstGeom prst="line">
            <a:avLst/>
          </a:prstGeom>
          <a:noFill/>
          <a:ln w="15875">
            <a:solidFill>
              <a:srgbClr val="AEB9CC"/>
            </a:solidFill>
            <a:prstDash val="sysDot"/>
          </a:ln>
        </p:spPr>
      </p:sp>
      <p:sp>
        <p:nvSpPr>
          <p:cNvPr id="23" name="Text 5"/>
          <p:cNvSpPr txBox="1"/>
          <p:nvPr/>
        </p:nvSpPr>
        <p:spPr>
          <a:xfrm>
            <a:off x="10736885" y="3685032"/>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8</a:t>
            </a:r>
            <a:endParaRPr lang="en-US" sz="1300" dirty="0"/>
          </a:p>
        </p:txBody>
      </p:sp>
      <p:sp>
        <p:nvSpPr>
          <p:cNvPr id="24"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트랙 개시</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1.1 트랙과 트랙 개시</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트랙은 같은 표적의 플롯을 시간 순서로 이어 위치와 속도를 추정한 것입니다. 이번 과제는 트랙의 개시와 관리입니다.</a:t>
            </a:r>
            <a:endParaRPr lang="en-US" sz="1250" dirty="0"/>
          </a:p>
        </p:txBody>
      </p:sp>
      <p:sp>
        <p:nvSpPr>
          <p:cNvPr id="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6" name="TextBox 5"/>
          <p:cNvSpPr txBox="1"/>
          <p:nvPr/>
        </p:nvSpPr>
        <p:spPr>
          <a:xfrm>
            <a:off x="640080" y="2249424"/>
            <a:ext cx="4572000" cy="274320"/>
          </a:xfrm>
          <a:prstGeom prst="rect">
            <a:avLst/>
          </a:prstGeom>
          <a:noFill/>
        </p:spPr>
        <p:txBody>
          <a:bodyPr wrap="square" lIns="0" tIns="0" rIns="0" bIns="0" anchor="ctr">
            <a:spAutoFit/>
          </a:bodyPr>
          <a:lstStyle/>
          <a:p>
            <a:pPr algn="l"/>
            <a:r>
              <a:rPr sz="1200" b="1">
                <a:solidFill>
                  <a:srgbClr val="1B2740"/>
                </a:solidFill>
                <a:latin typeface="맑은 고딕"/>
                <a:ea typeface="맑은 고딕"/>
                <a:cs typeface="맑은 고딕"/>
              </a:rPr>
              <a:t>레이다 처리 흐름에서의 위치</a:t>
            </a:r>
          </a:p>
        </p:txBody>
      </p:sp>
      <p:sp>
        <p:nvSpPr>
          <p:cNvPr id="7" name="Rectangle 6"/>
          <p:cNvSpPr/>
          <p:nvPr/>
        </p:nvSpPr>
        <p:spPr>
          <a:xfrm>
            <a:off x="640080" y="2578608"/>
            <a:ext cx="2459736" cy="603504"/>
          </a:xfrm>
          <a:prstGeom prst="rect">
            <a:avLst/>
          </a:prstGeom>
          <a:solidFill>
            <a:srgbClr val="F7F9FC"/>
          </a:solidFill>
          <a:ln w="9525">
            <a:solidFill>
              <a:srgbClr val="D2D9E5"/>
            </a:solidFill>
          </a:ln>
        </p:spPr>
        <p:txBody>
          <a:bodyPr rtlCol="0" anchor="ctr"/>
          <a:lstStyle/>
          <a:p>
            <a:pPr algn="ctr"/>
          </a:p>
        </p:txBody>
      </p:sp>
      <p:sp>
        <p:nvSpPr>
          <p:cNvPr id="8" name="TextBox 7"/>
          <p:cNvSpPr txBox="1"/>
          <p:nvPr/>
        </p:nvSpPr>
        <p:spPr>
          <a:xfrm>
            <a:off x="640080" y="2642616"/>
            <a:ext cx="2459736" cy="274320"/>
          </a:xfrm>
          <a:prstGeom prst="rect">
            <a:avLst/>
          </a:prstGeom>
          <a:noFill/>
        </p:spPr>
        <p:txBody>
          <a:bodyPr wrap="square" lIns="0" tIns="0" rIns="0" bIns="0" anchor="ctr">
            <a:spAutoFit/>
          </a:bodyPr>
          <a:lstStyle/>
          <a:p>
            <a:pPr algn="ctr"/>
            <a:r>
              <a:rPr sz="1250" b="1">
                <a:solidFill>
                  <a:srgbClr val="1B2740"/>
                </a:solidFill>
                <a:latin typeface="맑은 고딕"/>
                <a:ea typeface="맑은 고딕"/>
                <a:cs typeface="맑은 고딕"/>
              </a:rPr>
              <a:t>표적 궤적 모의</a:t>
            </a:r>
          </a:p>
        </p:txBody>
      </p:sp>
      <p:sp>
        <p:nvSpPr>
          <p:cNvPr id="9" name="TextBox 8"/>
          <p:cNvSpPr txBox="1"/>
          <p:nvPr/>
        </p:nvSpPr>
        <p:spPr>
          <a:xfrm>
            <a:off x="640080" y="2907792"/>
            <a:ext cx="2459736" cy="219456"/>
          </a:xfrm>
          <a:prstGeom prst="rect">
            <a:avLst/>
          </a:prstGeom>
          <a:noFill/>
        </p:spPr>
        <p:txBody>
          <a:bodyPr wrap="square" lIns="0" tIns="0" rIns="0" bIns="0" anchor="ctr">
            <a:spAutoFit/>
          </a:bodyPr>
          <a:lstStyle/>
          <a:p>
            <a:pPr algn="ctr"/>
            <a:r>
              <a:rPr sz="1050" b="0">
                <a:solidFill>
                  <a:srgbClr val="8794AC"/>
                </a:solidFill>
                <a:latin typeface="맑은 고딕"/>
                <a:ea typeface="맑은 고딕"/>
                <a:cs typeface="맑은 고딕"/>
              </a:rPr>
              <a:t>과제 3 · 시각별 참값 위치</a:t>
            </a:r>
          </a:p>
        </p:txBody>
      </p:sp>
      <p:cxnSp>
        <p:nvCxnSpPr>
          <p:cNvPr id="10" name="Connector 9"/>
          <p:cNvCxnSpPr/>
          <p:nvPr/>
        </p:nvCxnSpPr>
        <p:spPr>
          <a:xfrm>
            <a:off x="3127248" y="2880360"/>
            <a:ext cx="301752" cy="0"/>
          </a:xfrm>
          <a:prstGeom prst="line">
            <a:avLst/>
          </a:prstGeom>
          <a:ln w="12700">
            <a:solidFill>
              <a:srgbClr val="8794AC"/>
            </a:solidFill>
            <a:tailEnd type="triangle" w="med" len="med"/>
          </a:ln>
        </p:spPr>
      </p:cxnSp>
      <p:sp>
        <p:nvSpPr>
          <p:cNvPr id="11" name="Rectangle 10"/>
          <p:cNvSpPr/>
          <p:nvPr/>
        </p:nvSpPr>
        <p:spPr>
          <a:xfrm>
            <a:off x="3456432" y="2578608"/>
            <a:ext cx="2459736" cy="603504"/>
          </a:xfrm>
          <a:prstGeom prst="rect">
            <a:avLst/>
          </a:prstGeom>
          <a:solidFill>
            <a:srgbClr val="F7F9FC"/>
          </a:solidFill>
          <a:ln w="9525">
            <a:solidFill>
              <a:srgbClr val="D2D9E5"/>
            </a:solidFill>
          </a:ln>
        </p:spPr>
        <p:txBody>
          <a:bodyPr rtlCol="0" anchor="ctr"/>
          <a:lstStyle/>
          <a:p>
            <a:pPr algn="ctr"/>
          </a:p>
        </p:txBody>
      </p:sp>
      <p:sp>
        <p:nvSpPr>
          <p:cNvPr id="12" name="TextBox 11"/>
          <p:cNvSpPr txBox="1"/>
          <p:nvPr/>
        </p:nvSpPr>
        <p:spPr>
          <a:xfrm>
            <a:off x="3456432" y="2642616"/>
            <a:ext cx="2459736" cy="274320"/>
          </a:xfrm>
          <a:prstGeom prst="rect">
            <a:avLst/>
          </a:prstGeom>
          <a:noFill/>
        </p:spPr>
        <p:txBody>
          <a:bodyPr wrap="square" lIns="0" tIns="0" rIns="0" bIns="0" anchor="ctr">
            <a:spAutoFit/>
          </a:bodyPr>
          <a:lstStyle/>
          <a:p>
            <a:pPr algn="ctr"/>
            <a:r>
              <a:rPr sz="1250" b="1">
                <a:solidFill>
                  <a:srgbClr val="1B2740"/>
                </a:solidFill>
                <a:latin typeface="맑은 고딕"/>
                <a:ea typeface="맑은 고딕"/>
                <a:cs typeface="맑은 고딕"/>
              </a:rPr>
              <a:t>측정 모의</a:t>
            </a:r>
          </a:p>
        </p:txBody>
      </p:sp>
      <p:sp>
        <p:nvSpPr>
          <p:cNvPr id="13" name="TextBox 12"/>
          <p:cNvSpPr txBox="1"/>
          <p:nvPr/>
        </p:nvSpPr>
        <p:spPr>
          <a:xfrm>
            <a:off x="3456432" y="2907792"/>
            <a:ext cx="2459736" cy="219456"/>
          </a:xfrm>
          <a:prstGeom prst="rect">
            <a:avLst/>
          </a:prstGeom>
          <a:noFill/>
        </p:spPr>
        <p:txBody>
          <a:bodyPr wrap="square" lIns="0" tIns="0" rIns="0" bIns="0" anchor="ctr">
            <a:spAutoFit/>
          </a:bodyPr>
          <a:lstStyle/>
          <a:p>
            <a:pPr algn="ctr"/>
            <a:r>
              <a:rPr sz="1050" b="0">
                <a:solidFill>
                  <a:srgbClr val="8794AC"/>
                </a:solidFill>
                <a:latin typeface="맑은 고딕"/>
                <a:ea typeface="맑은 고딕"/>
                <a:cs typeface="맑은 고딕"/>
              </a:rPr>
              <a:t>과제 4 · 플롯 · 클러터 생성</a:t>
            </a:r>
          </a:p>
        </p:txBody>
      </p:sp>
      <p:cxnSp>
        <p:nvCxnSpPr>
          <p:cNvPr id="14" name="Connector 13"/>
          <p:cNvCxnSpPr/>
          <p:nvPr/>
        </p:nvCxnSpPr>
        <p:spPr>
          <a:xfrm>
            <a:off x="5943600" y="2880360"/>
            <a:ext cx="301752" cy="0"/>
          </a:xfrm>
          <a:prstGeom prst="line">
            <a:avLst/>
          </a:prstGeom>
          <a:ln w="12700">
            <a:solidFill>
              <a:srgbClr val="8794AC"/>
            </a:solidFill>
            <a:tailEnd type="triangle" w="med" len="med"/>
          </a:ln>
        </p:spPr>
      </p:cxnSp>
      <p:sp>
        <p:nvSpPr>
          <p:cNvPr id="15" name="Rectangle 14"/>
          <p:cNvSpPr/>
          <p:nvPr/>
        </p:nvSpPr>
        <p:spPr>
          <a:xfrm>
            <a:off x="6272784" y="2578608"/>
            <a:ext cx="2459736" cy="603504"/>
          </a:xfrm>
          <a:prstGeom prst="rect">
            <a:avLst/>
          </a:prstGeom>
          <a:solidFill>
            <a:srgbClr val="EEF4FF"/>
          </a:solidFill>
          <a:ln w="15875">
            <a:solidFill>
              <a:srgbClr val="2563EB"/>
            </a:solidFill>
          </a:ln>
        </p:spPr>
        <p:txBody>
          <a:bodyPr rtlCol="0" anchor="ctr"/>
          <a:lstStyle/>
          <a:p>
            <a:pPr algn="ctr"/>
          </a:p>
        </p:txBody>
      </p:sp>
      <p:sp>
        <p:nvSpPr>
          <p:cNvPr id="16" name="TextBox 15"/>
          <p:cNvSpPr txBox="1"/>
          <p:nvPr/>
        </p:nvSpPr>
        <p:spPr>
          <a:xfrm>
            <a:off x="6272784" y="2642616"/>
            <a:ext cx="2459736" cy="274320"/>
          </a:xfrm>
          <a:prstGeom prst="rect">
            <a:avLst/>
          </a:prstGeom>
          <a:noFill/>
        </p:spPr>
        <p:txBody>
          <a:bodyPr wrap="square" lIns="0" tIns="0" rIns="0" bIns="0" anchor="ctr">
            <a:spAutoFit/>
          </a:bodyPr>
          <a:lstStyle/>
          <a:p>
            <a:pPr algn="ctr"/>
            <a:r>
              <a:rPr sz="1250" b="1">
                <a:solidFill>
                  <a:srgbClr val="1B2740"/>
                </a:solidFill>
                <a:latin typeface="맑은 고딕"/>
                <a:ea typeface="맑은 고딕"/>
                <a:cs typeface="맑은 고딕"/>
              </a:rPr>
              <a:t>트랙 개시 · 관리</a:t>
            </a:r>
          </a:p>
        </p:txBody>
      </p:sp>
      <p:sp>
        <p:nvSpPr>
          <p:cNvPr id="17" name="TextBox 16"/>
          <p:cNvSpPr txBox="1"/>
          <p:nvPr/>
        </p:nvSpPr>
        <p:spPr>
          <a:xfrm>
            <a:off x="6272784" y="2907792"/>
            <a:ext cx="2459736" cy="219456"/>
          </a:xfrm>
          <a:prstGeom prst="rect">
            <a:avLst/>
          </a:prstGeom>
          <a:noFill/>
        </p:spPr>
        <p:txBody>
          <a:bodyPr wrap="square" lIns="0" tIns="0" rIns="0" bIns="0" anchor="ctr">
            <a:spAutoFit/>
          </a:bodyPr>
          <a:lstStyle/>
          <a:p>
            <a:pPr algn="ctr"/>
            <a:r>
              <a:rPr sz="1050" b="0">
                <a:solidFill>
                  <a:srgbClr val="4A5A7A"/>
                </a:solidFill>
                <a:latin typeface="맑은 고딕"/>
                <a:ea typeface="맑은 고딕"/>
                <a:cs typeface="맑은 고딕"/>
              </a:rPr>
              <a:t>과제 5 · 이번 과제</a:t>
            </a:r>
          </a:p>
        </p:txBody>
      </p:sp>
      <p:cxnSp>
        <p:nvCxnSpPr>
          <p:cNvPr id="18" name="Connector 17"/>
          <p:cNvCxnSpPr/>
          <p:nvPr/>
        </p:nvCxnSpPr>
        <p:spPr>
          <a:xfrm>
            <a:off x="8759952" y="2880360"/>
            <a:ext cx="301752" cy="0"/>
          </a:xfrm>
          <a:prstGeom prst="line">
            <a:avLst/>
          </a:prstGeom>
          <a:ln w="12700">
            <a:solidFill>
              <a:srgbClr val="8794AC"/>
            </a:solidFill>
            <a:tailEnd type="triangle" w="med" len="med"/>
          </a:ln>
        </p:spPr>
      </p:cxnSp>
      <p:sp>
        <p:nvSpPr>
          <p:cNvPr id="19" name="Rectangle 18"/>
          <p:cNvSpPr/>
          <p:nvPr/>
        </p:nvSpPr>
        <p:spPr>
          <a:xfrm>
            <a:off x="9089136" y="2578608"/>
            <a:ext cx="2459736" cy="603504"/>
          </a:xfrm>
          <a:prstGeom prst="rect">
            <a:avLst/>
          </a:prstGeom>
          <a:solidFill>
            <a:srgbClr val="F7F9FC"/>
          </a:solidFill>
          <a:ln w="9525">
            <a:solidFill>
              <a:srgbClr val="D2D9E5"/>
            </a:solidFill>
          </a:ln>
        </p:spPr>
        <p:txBody>
          <a:bodyPr rtlCol="0" anchor="ctr"/>
          <a:lstStyle/>
          <a:p>
            <a:pPr algn="ctr"/>
          </a:p>
        </p:txBody>
      </p:sp>
      <p:sp>
        <p:nvSpPr>
          <p:cNvPr id="20" name="TextBox 19"/>
          <p:cNvSpPr txBox="1"/>
          <p:nvPr/>
        </p:nvSpPr>
        <p:spPr>
          <a:xfrm>
            <a:off x="9089136" y="2642616"/>
            <a:ext cx="2459736" cy="274320"/>
          </a:xfrm>
          <a:prstGeom prst="rect">
            <a:avLst/>
          </a:prstGeom>
          <a:noFill/>
        </p:spPr>
        <p:txBody>
          <a:bodyPr wrap="square" lIns="0" tIns="0" rIns="0" bIns="0" anchor="ctr">
            <a:spAutoFit/>
          </a:bodyPr>
          <a:lstStyle/>
          <a:p>
            <a:pPr algn="ctr"/>
            <a:r>
              <a:rPr sz="1250" b="1">
                <a:solidFill>
                  <a:srgbClr val="7A879F"/>
                </a:solidFill>
                <a:latin typeface="맑은 고딕"/>
                <a:ea typeface="맑은 고딕"/>
                <a:cs typeface="맑은 고딕"/>
              </a:rPr>
              <a:t>연관 · 추적 필터</a:t>
            </a:r>
          </a:p>
        </p:txBody>
      </p:sp>
      <p:sp>
        <p:nvSpPr>
          <p:cNvPr id="21" name="TextBox 20"/>
          <p:cNvSpPr txBox="1"/>
          <p:nvPr/>
        </p:nvSpPr>
        <p:spPr>
          <a:xfrm>
            <a:off x="9089136" y="2907792"/>
            <a:ext cx="2459736" cy="219456"/>
          </a:xfrm>
          <a:prstGeom prst="rect">
            <a:avLst/>
          </a:prstGeom>
          <a:noFill/>
        </p:spPr>
        <p:txBody>
          <a:bodyPr wrap="square" lIns="0" tIns="0" rIns="0" bIns="0" anchor="ctr">
            <a:spAutoFit/>
          </a:bodyPr>
          <a:lstStyle/>
          <a:p>
            <a:pPr algn="ctr"/>
            <a:r>
              <a:rPr sz="1050" b="0">
                <a:solidFill>
                  <a:srgbClr val="8794AC"/>
                </a:solidFill>
                <a:latin typeface="맑은 고딕"/>
                <a:ea typeface="맑은 고딕"/>
                <a:cs typeface="맑은 고딕"/>
              </a:rPr>
              <a:t>다음 과제 · 플롯을 트랙에 붙여 추정</a:t>
            </a:r>
          </a:p>
        </p:txBody>
      </p:sp>
      <p:cxnSp>
        <p:nvCxnSpPr>
          <p:cNvPr id="22" name="Connector 21"/>
          <p:cNvCxnSpPr/>
          <p:nvPr/>
        </p:nvCxnSpPr>
        <p:spPr>
          <a:xfrm>
            <a:off x="640080" y="3383280"/>
            <a:ext cx="10908792" cy="0"/>
          </a:xfrm>
          <a:prstGeom prst="line">
            <a:avLst/>
          </a:prstGeom>
          <a:ln w="9525">
            <a:solidFill>
              <a:srgbClr val="D2D9E5"/>
            </a:solidFill>
          </a:ln>
        </p:spPr>
      </p:cxnSp>
      <p:sp>
        <p:nvSpPr>
          <p:cNvPr id="23" name="TextBox 22"/>
          <p:cNvSpPr txBox="1"/>
          <p:nvPr/>
        </p:nvSpPr>
        <p:spPr>
          <a:xfrm>
            <a:off x="640080" y="3474720"/>
            <a:ext cx="6309360" cy="256032"/>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스캔마다 들어오는 플롯과 트랙</a:t>
            </a:r>
          </a:p>
        </p:txBody>
      </p:sp>
      <p:pic>
        <p:nvPicPr>
          <p:cNvPr id="24" name="Picture 23" descr="fig_track_concept.png"/>
          <p:cNvPicPr>
            <a:picLocks noChangeAspect="1"/>
          </p:cNvPicPr>
          <p:nvPr/>
        </p:nvPicPr>
        <p:blipFill>
          <a:blip r:embed="rId3"/>
          <a:stretch>
            <a:fillRect/>
          </a:stretch>
        </p:blipFill>
        <p:spPr>
          <a:xfrm>
            <a:off x="640080" y="3767328"/>
            <a:ext cx="6309360" cy="2331720"/>
          </a:xfrm>
          <a:prstGeom prst="rect">
            <a:avLst/>
          </a:prstGeom>
        </p:spPr>
      </p:pic>
      <p:sp>
        <p:nvSpPr>
          <p:cNvPr id="25" name="Rounded Rectangle 24"/>
          <p:cNvSpPr/>
          <p:nvPr/>
        </p:nvSpPr>
        <p:spPr>
          <a:xfrm>
            <a:off x="7269480" y="3767328"/>
            <a:ext cx="841248" cy="274320"/>
          </a:xfrm>
          <a:prstGeom prst="roundRect">
            <a:avLst>
              <a:gd name="adj" fmla="val 26666"/>
            </a:avLst>
          </a:prstGeom>
          <a:solidFill>
            <a:srgbClr val="FFFFFF"/>
          </a:solidFill>
          <a:ln w="12700">
            <a:solidFill>
              <a:srgbClr val="1F2937"/>
            </a:solidFill>
          </a:ln>
        </p:spPr>
        <p:txBody>
          <a:bodyPr rtlCol="0" anchor="ctr" lIns="0" tIns="0" rIns="0" bIns="0" wrap="square"/>
          <a:lstStyle/>
          <a:p>
            <a:pPr algn="ctr"/>
            <a:r>
              <a:rPr sz="1050" b="1">
                <a:solidFill>
                  <a:srgbClr val="1F2937"/>
                </a:solidFill>
                <a:latin typeface="맑은 고딕"/>
                <a:ea typeface="맑은 고딕"/>
                <a:cs typeface="맑은 고딕"/>
              </a:rPr>
              <a:t>플롯</a:t>
            </a:r>
          </a:p>
        </p:txBody>
      </p:sp>
      <p:sp>
        <p:nvSpPr>
          <p:cNvPr id="26" name="TextBox 25"/>
          <p:cNvSpPr txBox="1"/>
          <p:nvPr/>
        </p:nvSpPr>
        <p:spPr>
          <a:xfrm>
            <a:off x="8247888" y="3803904"/>
            <a:ext cx="3291840" cy="274320"/>
          </a:xfrm>
          <a:prstGeom prst="rect">
            <a:avLst/>
          </a:prstGeom>
          <a:noFill/>
        </p:spPr>
        <p:txBody>
          <a:bodyPr wrap="square" lIns="0" tIns="0" rIns="0" bIns="0" anchor="t">
            <a:spAutoFit/>
          </a:bodyPr>
          <a:lstStyle/>
          <a:p>
            <a:pPr algn="l"/>
            <a:r>
              <a:rPr sz="1100" b="0">
                <a:solidFill>
                  <a:srgbClr val="1B2740"/>
                </a:solidFill>
                <a:latin typeface="맑은 고딕"/>
                <a:ea typeface="맑은 고딕"/>
                <a:cs typeface="맑은 고딕"/>
              </a:rPr>
              <a:t>레이다가 표적을 한 번 잰 결과. 거리 · 방위각 · 고각</a:t>
            </a:r>
          </a:p>
        </p:txBody>
      </p:sp>
      <p:sp>
        <p:nvSpPr>
          <p:cNvPr id="27" name="Rounded Rectangle 26"/>
          <p:cNvSpPr/>
          <p:nvPr/>
        </p:nvSpPr>
        <p:spPr>
          <a:xfrm>
            <a:off x="7269480" y="4334256"/>
            <a:ext cx="841248" cy="274320"/>
          </a:xfrm>
          <a:prstGeom prst="roundRect">
            <a:avLst>
              <a:gd name="adj" fmla="val 26666"/>
            </a:avLst>
          </a:prstGeom>
          <a:solidFill>
            <a:srgbClr val="FFFFFF"/>
          </a:solidFill>
          <a:ln w="12700">
            <a:solidFill>
              <a:srgbClr val="6B7280"/>
            </a:solidFill>
          </a:ln>
        </p:spPr>
        <p:txBody>
          <a:bodyPr rtlCol="0" anchor="ctr" lIns="0" tIns="0" rIns="0" bIns="0" wrap="square"/>
          <a:lstStyle/>
          <a:p>
            <a:pPr algn="ctr"/>
            <a:r>
              <a:rPr sz="1050" b="1">
                <a:solidFill>
                  <a:srgbClr val="6B7280"/>
                </a:solidFill>
                <a:latin typeface="맑은 고딕"/>
                <a:ea typeface="맑은 고딕"/>
                <a:cs typeface="맑은 고딕"/>
              </a:rPr>
              <a:t>클러터</a:t>
            </a:r>
          </a:p>
        </p:txBody>
      </p:sp>
      <p:sp>
        <p:nvSpPr>
          <p:cNvPr id="28" name="TextBox 27"/>
          <p:cNvSpPr txBox="1"/>
          <p:nvPr/>
        </p:nvSpPr>
        <p:spPr>
          <a:xfrm>
            <a:off x="8247888" y="4370832"/>
            <a:ext cx="3291840" cy="274320"/>
          </a:xfrm>
          <a:prstGeom prst="rect">
            <a:avLst/>
          </a:prstGeom>
          <a:noFill/>
        </p:spPr>
        <p:txBody>
          <a:bodyPr wrap="square" lIns="0" tIns="0" rIns="0" bIns="0" anchor="t">
            <a:spAutoFit/>
          </a:bodyPr>
          <a:lstStyle/>
          <a:p>
            <a:pPr algn="l"/>
            <a:r>
              <a:rPr sz="1100" b="0">
                <a:solidFill>
                  <a:srgbClr val="1B2740"/>
                </a:solidFill>
                <a:latin typeface="맑은 고딕"/>
                <a:ea typeface="맑은 고딕"/>
                <a:cs typeface="맑은 고딕"/>
              </a:rPr>
              <a:t>표적이 아닌 것에서 나온 플롯. 같이 섞여 들어온다</a:t>
            </a:r>
          </a:p>
        </p:txBody>
      </p:sp>
      <p:sp>
        <p:nvSpPr>
          <p:cNvPr id="29" name="Rounded Rectangle 28"/>
          <p:cNvSpPr/>
          <p:nvPr/>
        </p:nvSpPr>
        <p:spPr>
          <a:xfrm>
            <a:off x="7269480" y="4901184"/>
            <a:ext cx="841248" cy="274320"/>
          </a:xfrm>
          <a:prstGeom prst="roundRect">
            <a:avLst>
              <a:gd name="adj" fmla="val 26666"/>
            </a:avLst>
          </a:prstGeom>
          <a:solidFill>
            <a:srgbClr val="FFFFFF"/>
          </a:solidFill>
          <a:ln w="12700">
            <a:solidFill>
              <a:srgbClr val="2563EB"/>
            </a:solidFill>
          </a:ln>
        </p:spPr>
        <p:txBody>
          <a:bodyPr rtlCol="0" anchor="ctr" lIns="0" tIns="0" rIns="0" bIns="0" wrap="square"/>
          <a:lstStyle/>
          <a:p>
            <a:pPr algn="ctr"/>
            <a:r>
              <a:rPr sz="1050" b="1">
                <a:solidFill>
                  <a:srgbClr val="2563EB"/>
                </a:solidFill>
                <a:latin typeface="맑은 고딕"/>
                <a:ea typeface="맑은 고딕"/>
                <a:cs typeface="맑은 고딕"/>
              </a:rPr>
              <a:t>트랙 개시</a:t>
            </a:r>
          </a:p>
        </p:txBody>
      </p:sp>
      <p:sp>
        <p:nvSpPr>
          <p:cNvPr id="30" name="TextBox 29"/>
          <p:cNvSpPr txBox="1"/>
          <p:nvPr/>
        </p:nvSpPr>
        <p:spPr>
          <a:xfrm>
            <a:off x="8247888" y="4937760"/>
            <a:ext cx="3291840" cy="274320"/>
          </a:xfrm>
          <a:prstGeom prst="rect">
            <a:avLst/>
          </a:prstGeom>
          <a:noFill/>
        </p:spPr>
        <p:txBody>
          <a:bodyPr wrap="square" lIns="0" tIns="0" rIns="0" bIns="0" anchor="t">
            <a:spAutoFit/>
          </a:bodyPr>
          <a:lstStyle/>
          <a:p>
            <a:pPr algn="l"/>
            <a:r>
              <a:rPr sz="1100" b="0">
                <a:solidFill>
                  <a:srgbClr val="1B2740"/>
                </a:solidFill>
                <a:latin typeface="맑은 고딕"/>
                <a:ea typeface="맑은 고딕"/>
                <a:cs typeface="맑은 고딕"/>
              </a:rPr>
              <a:t>같은 표적으로 보이는 플롯으로 트랙을 처음 만듦</a:t>
            </a:r>
          </a:p>
        </p:txBody>
      </p:sp>
      <p:sp>
        <p:nvSpPr>
          <p:cNvPr id="31" name="Rounded Rectangle 30"/>
          <p:cNvSpPr/>
          <p:nvPr/>
        </p:nvSpPr>
        <p:spPr>
          <a:xfrm>
            <a:off x="7269480" y="5468112"/>
            <a:ext cx="841248" cy="274320"/>
          </a:xfrm>
          <a:prstGeom prst="roundRect">
            <a:avLst>
              <a:gd name="adj" fmla="val 26666"/>
            </a:avLst>
          </a:prstGeom>
          <a:solidFill>
            <a:srgbClr val="FFFFFF"/>
          </a:solidFill>
          <a:ln w="12700">
            <a:solidFill>
              <a:srgbClr val="16A34A"/>
            </a:solidFill>
          </a:ln>
        </p:spPr>
        <p:txBody>
          <a:bodyPr rtlCol="0" anchor="ctr" lIns="0" tIns="0" rIns="0" bIns="0" wrap="square"/>
          <a:lstStyle/>
          <a:p>
            <a:pPr algn="ctr"/>
            <a:r>
              <a:rPr sz="1050" b="1">
                <a:solidFill>
                  <a:srgbClr val="16A34A"/>
                </a:solidFill>
                <a:latin typeface="맑은 고딕"/>
                <a:ea typeface="맑은 고딕"/>
                <a:cs typeface="맑은 고딕"/>
              </a:rPr>
              <a:t>트랙 관리</a:t>
            </a:r>
          </a:p>
        </p:txBody>
      </p:sp>
      <p:sp>
        <p:nvSpPr>
          <p:cNvPr id="32" name="TextBox 31"/>
          <p:cNvSpPr txBox="1"/>
          <p:nvPr/>
        </p:nvSpPr>
        <p:spPr>
          <a:xfrm>
            <a:off x="8247888" y="5504688"/>
            <a:ext cx="3291840" cy="274320"/>
          </a:xfrm>
          <a:prstGeom prst="rect">
            <a:avLst/>
          </a:prstGeom>
          <a:noFill/>
        </p:spPr>
        <p:txBody>
          <a:bodyPr wrap="square" lIns="0" tIns="0" rIns="0" bIns="0" anchor="t">
            <a:spAutoFit/>
          </a:bodyPr>
          <a:lstStyle/>
          <a:p>
            <a:pPr algn="l"/>
            <a:r>
              <a:rPr sz="1100" b="0">
                <a:solidFill>
                  <a:srgbClr val="1B2740"/>
                </a:solidFill>
                <a:latin typeface="맑은 고딕"/>
                <a:ea typeface="맑은 고딕"/>
                <a:cs typeface="맑은 고딕"/>
              </a:rPr>
              <a:t>연관 결과로 확정 · 메모리 · 삭제를 정함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트랙 개시</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1.2 1-Point 와 2-Point 개시</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플롯 하나로 바로 시작하면 속도를 모르고, 연속 두 스캔의 플롯으로 시작하면 위치 변화로 속도를 구할 수 있습니다.</a:t>
            </a:r>
            <a:endParaRPr lang="en-US" sz="1250" dirty="0"/>
          </a:p>
        </p:txBody>
      </p:sp>
      <p:sp>
        <p:nvSpPr>
          <p:cNvPr id="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pic>
        <p:nvPicPr>
          <p:cNvPr id="6" name="Picture 5" descr="fig_1p2p.png"/>
          <p:cNvPicPr>
            <a:picLocks noChangeAspect="1"/>
          </p:cNvPicPr>
          <p:nvPr/>
        </p:nvPicPr>
        <p:blipFill>
          <a:blip r:embed="rId3"/>
          <a:stretch>
            <a:fillRect/>
          </a:stretch>
        </p:blipFill>
        <p:spPr>
          <a:xfrm>
            <a:off x="640080" y="2331720"/>
            <a:ext cx="6675120" cy="2514600"/>
          </a:xfrm>
          <a:prstGeom prst="rect">
            <a:avLst/>
          </a:prstGeom>
        </p:spPr>
      </p:pic>
      <p:sp>
        <p:nvSpPr>
          <p:cNvPr id="7" name="Oval 6"/>
          <p:cNvSpPr/>
          <p:nvPr/>
        </p:nvSpPr>
        <p:spPr>
          <a:xfrm>
            <a:off x="7589520" y="237744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8" name="TextBox 7"/>
          <p:cNvSpPr txBox="1"/>
          <p:nvPr/>
        </p:nvSpPr>
        <p:spPr>
          <a:xfrm>
            <a:off x="7973568" y="2359152"/>
            <a:ext cx="3575304" cy="658368"/>
          </a:xfrm>
          <a:prstGeom prst="rect">
            <a:avLst/>
          </a:prstGeom>
          <a:noFill/>
        </p:spPr>
        <p:txBody>
          <a:bodyPr wrap="square" lIns="0" tIns="0" rIns="0" bIns="0" anchor="t">
            <a:spAutoFit/>
          </a:bodyPr>
          <a:lstStyle/>
          <a:p>
            <a:pPr algn="l">
              <a:lnSpc>
                <a:spcPct val="105000"/>
              </a:lnSpc>
            </a:pPr>
            <a:r>
              <a:rPr sz="1100" b="1">
                <a:solidFill>
                  <a:srgbClr val="1B2740"/>
                </a:solidFill>
                <a:latin typeface="맑은 고딕"/>
                <a:ea typeface="맑은 고딕"/>
                <a:cs typeface="맑은 고딕"/>
              </a:rPr>
              <a:t>1-Point 개시</a:t>
            </a:r>
          </a:p>
          <a:p>
            <a:pPr algn="l">
              <a:lnSpc>
                <a:spcPct val="105000"/>
              </a:lnSpc>
            </a:pPr>
            <a:r>
              <a:rPr sz="1100" b="0">
                <a:solidFill>
                  <a:srgbClr val="4A5A7A"/>
                </a:solidFill>
                <a:latin typeface="맑은 고딕"/>
                <a:ea typeface="맑은 고딕"/>
                <a:cs typeface="맑은 고딕"/>
              </a:rPr>
              <a:t>장점: 플롯 하나로 바로 개시 (빠름)</a:t>
            </a:r>
          </a:p>
          <a:p>
            <a:pPr algn="l">
              <a:lnSpc>
                <a:spcPct val="105000"/>
              </a:lnSpc>
            </a:pPr>
            <a:r>
              <a:rPr sz="1100" b="0">
                <a:solidFill>
                  <a:srgbClr val="4A5A7A"/>
                </a:solidFill>
                <a:latin typeface="맑은 고딕"/>
                <a:ea typeface="맑은 고딕"/>
                <a:cs typeface="맑은 고딕"/>
              </a:rPr>
              <a:t>단점: 속도를 몰라 초기 속도 오차가 크다</a:t>
            </a:r>
          </a:p>
        </p:txBody>
      </p:sp>
      <p:sp>
        <p:nvSpPr>
          <p:cNvPr id="9" name="Oval 8"/>
          <p:cNvSpPr/>
          <p:nvPr/>
        </p:nvSpPr>
        <p:spPr>
          <a:xfrm>
            <a:off x="7589520" y="338328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0" name="TextBox 9"/>
          <p:cNvSpPr txBox="1"/>
          <p:nvPr/>
        </p:nvSpPr>
        <p:spPr>
          <a:xfrm>
            <a:off x="7973568" y="3364992"/>
            <a:ext cx="3575304" cy="877824"/>
          </a:xfrm>
          <a:prstGeom prst="rect">
            <a:avLst/>
          </a:prstGeom>
          <a:noFill/>
        </p:spPr>
        <p:txBody>
          <a:bodyPr wrap="square" lIns="0" tIns="0" rIns="0" bIns="0" anchor="t">
            <a:spAutoFit/>
          </a:bodyPr>
          <a:lstStyle/>
          <a:p>
            <a:pPr algn="l">
              <a:lnSpc>
                <a:spcPct val="105000"/>
              </a:lnSpc>
            </a:pPr>
            <a:r>
              <a:rPr sz="1100" b="1">
                <a:solidFill>
                  <a:srgbClr val="1B2740"/>
                </a:solidFill>
                <a:latin typeface="맑은 고딕"/>
                <a:ea typeface="맑은 고딕"/>
                <a:cs typeface="맑은 고딕"/>
              </a:rPr>
              <a:t>2-Point 개시</a:t>
            </a:r>
          </a:p>
          <a:p>
            <a:pPr algn="l">
              <a:lnSpc>
                <a:spcPct val="105000"/>
              </a:lnSpc>
            </a:pPr>
            <a:r>
              <a:rPr sz="1100" b="0">
                <a:solidFill>
                  <a:srgbClr val="4A5A7A"/>
                </a:solidFill>
                <a:latin typeface="맑은 고딕"/>
                <a:ea typeface="맑은 고딕"/>
                <a:cs typeface="맑은 고딕"/>
              </a:rPr>
              <a:t>장점: 두 플롯의 위치 변화로 속도를 구해</a:t>
            </a:r>
          </a:p>
          <a:p>
            <a:pPr algn="l">
              <a:lnSpc>
                <a:spcPct val="105000"/>
              </a:lnSpc>
            </a:pPr>
            <a:r>
              <a:rPr sz="1100" b="0">
                <a:solidFill>
                  <a:srgbClr val="4A5A7A"/>
                </a:solidFill>
                <a:latin typeface="맑은 고딕"/>
                <a:ea typeface="맑은 고딕"/>
                <a:cs typeface="맑은 고딕"/>
              </a:rPr>
              <a:t>1-Point 보다 속도 오차가 작다</a:t>
            </a:r>
          </a:p>
          <a:p>
            <a:pPr algn="l">
              <a:lnSpc>
                <a:spcPct val="105000"/>
              </a:lnSpc>
            </a:pPr>
            <a:r>
              <a:rPr sz="1100" b="0">
                <a:solidFill>
                  <a:srgbClr val="4A5A7A"/>
                </a:solidFill>
                <a:latin typeface="맑은 고딕"/>
                <a:ea typeface="맑은 고딕"/>
                <a:cs typeface="맑은 고딕"/>
              </a:rPr>
              <a:t>단점: 연속 두 스캔이 필요해 개시가 늦다</a:t>
            </a:r>
          </a:p>
        </p:txBody>
      </p:sp>
      <p:sp>
        <p:nvSpPr>
          <p:cNvPr id="11" name="Oval 10"/>
          <p:cNvSpPr/>
          <p:nvPr/>
        </p:nvSpPr>
        <p:spPr>
          <a:xfrm>
            <a:off x="7589520" y="461772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2" name="TextBox 11"/>
          <p:cNvSpPr txBox="1"/>
          <p:nvPr/>
        </p:nvSpPr>
        <p:spPr>
          <a:xfrm>
            <a:off x="7973568" y="4599432"/>
            <a:ext cx="3575304" cy="438912"/>
          </a:xfrm>
          <a:prstGeom prst="rect">
            <a:avLst/>
          </a:prstGeom>
          <a:noFill/>
        </p:spPr>
        <p:txBody>
          <a:bodyPr wrap="square" lIns="0" tIns="0" rIns="0" bIns="0" anchor="t">
            <a:spAutoFit/>
          </a:bodyPr>
          <a:lstStyle/>
          <a:p>
            <a:pPr algn="l">
              <a:lnSpc>
                <a:spcPct val="105000"/>
              </a:lnSpc>
            </a:pPr>
            <a:r>
              <a:rPr sz="1100" b="1">
                <a:solidFill>
                  <a:srgbClr val="1B2740"/>
                </a:solidFill>
                <a:latin typeface="맑은 고딕"/>
                <a:ea typeface="맑은 고딕"/>
                <a:cs typeface="맑은 고딕"/>
              </a:rPr>
              <a:t>속도 게이트</a:t>
            </a:r>
          </a:p>
          <a:p>
            <a:pPr algn="l">
              <a:lnSpc>
                <a:spcPct val="105000"/>
              </a:lnSpc>
            </a:pPr>
            <a:r>
              <a:rPr sz="1100" b="0">
                <a:solidFill>
                  <a:srgbClr val="4A5A7A"/>
                </a:solidFill>
                <a:latin typeface="맑은 고딕"/>
                <a:ea typeface="맑은 고딕"/>
                <a:cs typeface="맑은 고딕"/>
              </a:rPr>
              <a:t>두 플롯이 같은 표적인지 먼저 거른다 (1.4)</a:t>
            </a:r>
          </a:p>
        </p:txBody>
      </p:sp>
      <p:sp>
        <p:nvSpPr>
          <p:cNvPr id="13" name="Rectangle 12"/>
          <p:cNvSpPr/>
          <p:nvPr/>
        </p:nvSpPr>
        <p:spPr>
          <a:xfrm>
            <a:off x="640080" y="5440680"/>
            <a:ext cx="10908792" cy="566928"/>
          </a:xfrm>
          <a:prstGeom prst="rect">
            <a:avLst/>
          </a:prstGeom>
          <a:solidFill>
            <a:srgbClr val="F7F9FC"/>
          </a:solidFill>
          <a:ln w="9525">
            <a:solidFill>
              <a:srgbClr val="D2D9E5"/>
            </a:solidFill>
          </a:ln>
        </p:spPr>
        <p:txBody>
          <a:bodyPr rtlCol="0" anchor="ctr"/>
          <a:lstStyle/>
          <a:p>
            <a:pPr algn="ctr"/>
          </a:p>
        </p:txBody>
      </p:sp>
      <p:sp>
        <p:nvSpPr>
          <p:cNvPr id="14" name="TextBox 13"/>
          <p:cNvSpPr txBox="1"/>
          <p:nvPr/>
        </p:nvSpPr>
        <p:spPr>
          <a:xfrm>
            <a:off x="822960" y="5440680"/>
            <a:ext cx="10607040" cy="566928"/>
          </a:xfrm>
          <a:prstGeom prst="rect">
            <a:avLst/>
          </a:prstGeom>
          <a:noFill/>
        </p:spPr>
        <p:txBody>
          <a:bodyPr wrap="square" lIns="0" tIns="0" rIns="0" bIns="0" anchor="ctr">
            <a:spAutoFit/>
          </a:bodyPr>
          <a:lstStyle/>
          <a:p>
            <a:pPr algn="l"/>
            <a:r>
              <a:rPr sz="1150" b="1">
                <a:solidFill>
                  <a:srgbClr val="2563EB"/>
                </a:solidFill>
                <a:latin typeface="맑은 고딕"/>
                <a:ea typeface="맑은 고딕"/>
                <a:cs typeface="맑은 고딕"/>
              </a:rPr>
              <a:t>이번 과제  </a:t>
            </a:r>
            <a:r>
              <a:rPr sz="1150" b="0">
                <a:solidFill>
                  <a:srgbClr val="1B2740"/>
                </a:solidFill>
                <a:latin typeface="맑은 고딕"/>
                <a:ea typeface="맑은 고딕"/>
                <a:cs typeface="맑은 고딕"/>
              </a:rPr>
              <a:t>2 Point 트랙 개시,  속도 게이트 V_max = 800 m/s,  트랙 ID 100 ~ 10000,  초기 상태변수 · 오차 공분산의 가속도 항은 0  (과제 값)</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트랙 개시</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1.3 2-Point 초기 상태변수와 오차 공분산</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위치는 이번 플롯, 속도는 두 플롯의 차 / T, 가속도는 0 입니다. 오차 공분산은 두 플롯의 측정 공분산 R 에서 바로 나옵니다.</a:t>
            </a:r>
            <a:endParaRPr lang="en-US" sz="1250" dirty="0"/>
          </a:p>
        </p:txBody>
      </p:sp>
      <p:sp>
        <p:nvSpPr>
          <p:cNvPr id="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6" name="TextBox 5"/>
          <p:cNvSpPr txBox="1"/>
          <p:nvPr/>
        </p:nvSpPr>
        <p:spPr>
          <a:xfrm>
            <a:off x="640080" y="2231136"/>
            <a:ext cx="6217920"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상태변수 9 개  (VC-NED: x 북, y 동, z 아래)</a:t>
            </a:r>
          </a:p>
        </p:txBody>
      </p:sp>
      <p:sp>
        <p:nvSpPr>
          <p:cNvPr id="7" name="Rectangle 6"/>
          <p:cNvSpPr/>
          <p:nvPr/>
        </p:nvSpPr>
        <p:spPr>
          <a:xfrm>
            <a:off x="640080" y="2505456"/>
            <a:ext cx="6217920" cy="457200"/>
          </a:xfrm>
          <a:prstGeom prst="rect">
            <a:avLst/>
          </a:prstGeom>
          <a:solidFill>
            <a:srgbClr val="F7F9FC"/>
          </a:solidFill>
          <a:ln w="9525">
            <a:solidFill>
              <a:srgbClr val="D2D9E5"/>
            </a:solidFill>
          </a:ln>
        </p:spPr>
        <p:txBody>
          <a:bodyPr rtlCol="0" anchor="ctr"/>
          <a:lstStyle/>
          <a:p>
            <a:pPr algn="ctr"/>
          </a:p>
        </p:txBody>
      </p:sp>
      <p:sp>
        <p:nvSpPr>
          <p:cNvPr id="8" name="TextBox 7"/>
          <p:cNvSpPr txBox="1"/>
          <p:nvPr/>
        </p:nvSpPr>
        <p:spPr>
          <a:xfrm>
            <a:off x="777240" y="2505456"/>
            <a:ext cx="6035040" cy="457200"/>
          </a:xfrm>
          <a:prstGeom prst="rect">
            <a:avLst/>
          </a:prstGeom>
          <a:noFill/>
        </p:spPr>
        <p:txBody>
          <a:bodyPr wrap="square" lIns="0" tIns="0" rIns="0" bIns="0" anchor="ctr">
            <a:spAutoFit/>
          </a:bodyPr>
          <a:lstStyle/>
          <a:p>
            <a:pPr algn="l"/>
            <a:r>
              <a:rPr sz="1400" b="1">
                <a:solidFill>
                  <a:srgbClr val="1B2740"/>
                </a:solidFill>
                <a:latin typeface="Arial"/>
                <a:ea typeface="Arial"/>
                <a:cs typeface="Arial"/>
              </a:rPr>
              <a:t>X_k = [ x  x'  x''   y  y'  y''   z  z'  z'' ]ᵀ</a:t>
            </a:r>
          </a:p>
        </p:txBody>
      </p:sp>
      <p:sp>
        <p:nvSpPr>
          <p:cNvPr id="9" name="TextBox 8"/>
          <p:cNvSpPr txBox="1"/>
          <p:nvPr/>
        </p:nvSpPr>
        <p:spPr>
          <a:xfrm>
            <a:off x="640080" y="3108960"/>
            <a:ext cx="6217920"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축마다 초기값</a:t>
            </a:r>
          </a:p>
        </p:txBody>
      </p:sp>
      <p:sp>
        <p:nvSpPr>
          <p:cNvPr id="10" name="Oval 9"/>
          <p:cNvSpPr/>
          <p:nvPr/>
        </p:nvSpPr>
        <p:spPr>
          <a:xfrm>
            <a:off x="676656" y="3401568"/>
            <a:ext cx="219456" cy="219456"/>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11" name="TextBox 10"/>
          <p:cNvSpPr txBox="1"/>
          <p:nvPr/>
        </p:nvSpPr>
        <p:spPr>
          <a:xfrm>
            <a:off x="987552" y="3383280"/>
            <a:ext cx="822960" cy="256032"/>
          </a:xfrm>
          <a:prstGeom prst="rect">
            <a:avLst/>
          </a:prstGeom>
          <a:noFill/>
        </p:spPr>
        <p:txBody>
          <a:bodyPr wrap="square" lIns="0" tIns="0" rIns="0" bIns="0" anchor="ctr">
            <a:spAutoFit/>
          </a:bodyPr>
          <a:lstStyle/>
          <a:p>
            <a:pPr algn="l"/>
            <a:r>
              <a:rPr sz="1100" b="1">
                <a:solidFill>
                  <a:srgbClr val="1B2740"/>
                </a:solidFill>
                <a:latin typeface="맑은 고딕"/>
                <a:ea typeface="맑은 고딕"/>
                <a:cs typeface="맑은 고딕"/>
              </a:rPr>
              <a:t>위치</a:t>
            </a:r>
          </a:p>
        </p:txBody>
      </p:sp>
      <p:sp>
        <p:nvSpPr>
          <p:cNvPr id="12" name="TextBox 11"/>
          <p:cNvSpPr txBox="1"/>
          <p:nvPr/>
        </p:nvSpPr>
        <p:spPr>
          <a:xfrm>
            <a:off x="1783080" y="3383280"/>
            <a:ext cx="2194560" cy="256032"/>
          </a:xfrm>
          <a:prstGeom prst="rect">
            <a:avLst/>
          </a:prstGeom>
          <a:noFill/>
        </p:spPr>
        <p:txBody>
          <a:bodyPr wrap="square" lIns="0" tIns="0" rIns="0" bIns="0" anchor="ctr">
            <a:spAutoFit/>
          </a:bodyPr>
          <a:lstStyle/>
          <a:p>
            <a:pPr algn="l"/>
            <a:r>
              <a:rPr sz="1150" b="0">
                <a:solidFill>
                  <a:srgbClr val="1B2740"/>
                </a:solidFill>
                <a:latin typeface="Arial"/>
                <a:ea typeface="Arial"/>
                <a:cs typeface="Arial"/>
              </a:rPr>
              <a:t>z_k</a:t>
            </a:r>
          </a:p>
        </p:txBody>
      </p:sp>
      <p:sp>
        <p:nvSpPr>
          <p:cNvPr id="13" name="TextBox 12"/>
          <p:cNvSpPr txBox="1"/>
          <p:nvPr/>
        </p:nvSpPr>
        <p:spPr>
          <a:xfrm>
            <a:off x="3977639" y="3383280"/>
            <a:ext cx="2926080" cy="256032"/>
          </a:xfrm>
          <a:prstGeom prst="rect">
            <a:avLst/>
          </a:prstGeom>
          <a:noFill/>
        </p:spPr>
        <p:txBody>
          <a:bodyPr wrap="square" lIns="0" tIns="0" rIns="0" bIns="0" anchor="ctr">
            <a:spAutoFit/>
          </a:bodyPr>
          <a:lstStyle/>
          <a:p>
            <a:pPr algn="l"/>
            <a:r>
              <a:rPr sz="1050" b="0">
                <a:solidFill>
                  <a:srgbClr val="4A5A7A"/>
                </a:solidFill>
                <a:latin typeface="맑은 고딕"/>
                <a:ea typeface="맑은 고딕"/>
                <a:cs typeface="맑은 고딕"/>
              </a:rPr>
              <a:t>이번 스캔 플롯</a:t>
            </a:r>
          </a:p>
        </p:txBody>
      </p:sp>
      <p:sp>
        <p:nvSpPr>
          <p:cNvPr id="14" name="Oval 13"/>
          <p:cNvSpPr/>
          <p:nvPr/>
        </p:nvSpPr>
        <p:spPr>
          <a:xfrm>
            <a:off x="676656" y="3694176"/>
            <a:ext cx="219456" cy="219456"/>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5" name="TextBox 14"/>
          <p:cNvSpPr txBox="1"/>
          <p:nvPr/>
        </p:nvSpPr>
        <p:spPr>
          <a:xfrm>
            <a:off x="987552" y="3675888"/>
            <a:ext cx="822960" cy="256032"/>
          </a:xfrm>
          <a:prstGeom prst="rect">
            <a:avLst/>
          </a:prstGeom>
          <a:noFill/>
        </p:spPr>
        <p:txBody>
          <a:bodyPr wrap="square" lIns="0" tIns="0" rIns="0" bIns="0" anchor="ctr">
            <a:spAutoFit/>
          </a:bodyPr>
          <a:lstStyle/>
          <a:p>
            <a:pPr algn="l"/>
            <a:r>
              <a:rPr sz="1100" b="1">
                <a:solidFill>
                  <a:srgbClr val="1B2740"/>
                </a:solidFill>
                <a:latin typeface="맑은 고딕"/>
                <a:ea typeface="맑은 고딕"/>
                <a:cs typeface="맑은 고딕"/>
              </a:rPr>
              <a:t>속도</a:t>
            </a:r>
          </a:p>
        </p:txBody>
      </p:sp>
      <p:sp>
        <p:nvSpPr>
          <p:cNvPr id="16" name="TextBox 15"/>
          <p:cNvSpPr txBox="1"/>
          <p:nvPr/>
        </p:nvSpPr>
        <p:spPr>
          <a:xfrm>
            <a:off x="1783080" y="3675888"/>
            <a:ext cx="2194560" cy="256032"/>
          </a:xfrm>
          <a:prstGeom prst="rect">
            <a:avLst/>
          </a:prstGeom>
          <a:noFill/>
        </p:spPr>
        <p:txBody>
          <a:bodyPr wrap="square" lIns="0" tIns="0" rIns="0" bIns="0" anchor="ctr">
            <a:spAutoFit/>
          </a:bodyPr>
          <a:lstStyle/>
          <a:p>
            <a:pPr algn="l"/>
            <a:r>
              <a:rPr sz="1150" b="0">
                <a:solidFill>
                  <a:srgbClr val="1B2740"/>
                </a:solidFill>
                <a:latin typeface="Arial"/>
                <a:ea typeface="Arial"/>
                <a:cs typeface="Arial"/>
              </a:rPr>
              <a:t>( z_k − z_k-1 ) / T</a:t>
            </a:r>
          </a:p>
        </p:txBody>
      </p:sp>
      <p:sp>
        <p:nvSpPr>
          <p:cNvPr id="17" name="TextBox 16"/>
          <p:cNvSpPr txBox="1"/>
          <p:nvPr/>
        </p:nvSpPr>
        <p:spPr>
          <a:xfrm>
            <a:off x="3977639" y="3675888"/>
            <a:ext cx="2926080" cy="256032"/>
          </a:xfrm>
          <a:prstGeom prst="rect">
            <a:avLst/>
          </a:prstGeom>
          <a:noFill/>
        </p:spPr>
        <p:txBody>
          <a:bodyPr wrap="square" lIns="0" tIns="0" rIns="0" bIns="0" anchor="ctr">
            <a:spAutoFit/>
          </a:bodyPr>
          <a:lstStyle/>
          <a:p>
            <a:pPr algn="l"/>
            <a:r>
              <a:rPr sz="1050" b="0">
                <a:solidFill>
                  <a:srgbClr val="4A5A7A"/>
                </a:solidFill>
                <a:latin typeface="맑은 고딕"/>
                <a:ea typeface="맑은 고딕"/>
                <a:cs typeface="맑은 고딕"/>
              </a:rPr>
              <a:t>두 플롯의 차 / 스캔 간격</a:t>
            </a:r>
          </a:p>
        </p:txBody>
      </p:sp>
      <p:sp>
        <p:nvSpPr>
          <p:cNvPr id="18" name="Oval 17"/>
          <p:cNvSpPr/>
          <p:nvPr/>
        </p:nvSpPr>
        <p:spPr>
          <a:xfrm>
            <a:off x="676656" y="3986784"/>
            <a:ext cx="219456" cy="219456"/>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9" name="TextBox 18"/>
          <p:cNvSpPr txBox="1"/>
          <p:nvPr/>
        </p:nvSpPr>
        <p:spPr>
          <a:xfrm>
            <a:off x="987552" y="3968496"/>
            <a:ext cx="822960" cy="256032"/>
          </a:xfrm>
          <a:prstGeom prst="rect">
            <a:avLst/>
          </a:prstGeom>
          <a:noFill/>
        </p:spPr>
        <p:txBody>
          <a:bodyPr wrap="square" lIns="0" tIns="0" rIns="0" bIns="0" anchor="ctr">
            <a:spAutoFit/>
          </a:bodyPr>
          <a:lstStyle/>
          <a:p>
            <a:pPr algn="l"/>
            <a:r>
              <a:rPr sz="1100" b="1">
                <a:solidFill>
                  <a:srgbClr val="1B2740"/>
                </a:solidFill>
                <a:latin typeface="맑은 고딕"/>
                <a:ea typeface="맑은 고딕"/>
                <a:cs typeface="맑은 고딕"/>
              </a:rPr>
              <a:t>가속도</a:t>
            </a:r>
          </a:p>
        </p:txBody>
      </p:sp>
      <p:sp>
        <p:nvSpPr>
          <p:cNvPr id="20" name="TextBox 19"/>
          <p:cNvSpPr txBox="1"/>
          <p:nvPr/>
        </p:nvSpPr>
        <p:spPr>
          <a:xfrm>
            <a:off x="1783080" y="3968496"/>
            <a:ext cx="2194560" cy="256032"/>
          </a:xfrm>
          <a:prstGeom prst="rect">
            <a:avLst/>
          </a:prstGeom>
          <a:noFill/>
        </p:spPr>
        <p:txBody>
          <a:bodyPr wrap="square" lIns="0" tIns="0" rIns="0" bIns="0" anchor="ctr">
            <a:spAutoFit/>
          </a:bodyPr>
          <a:lstStyle/>
          <a:p>
            <a:pPr algn="l"/>
            <a:r>
              <a:rPr sz="1150" b="0">
                <a:solidFill>
                  <a:srgbClr val="1B2740"/>
                </a:solidFill>
                <a:latin typeface="Arial"/>
                <a:ea typeface="Arial"/>
                <a:cs typeface="Arial"/>
              </a:rPr>
              <a:t>0</a:t>
            </a:r>
          </a:p>
        </p:txBody>
      </p:sp>
      <p:sp>
        <p:nvSpPr>
          <p:cNvPr id="21" name="TextBox 20"/>
          <p:cNvSpPr txBox="1"/>
          <p:nvPr/>
        </p:nvSpPr>
        <p:spPr>
          <a:xfrm>
            <a:off x="3977639" y="3968496"/>
            <a:ext cx="2926080" cy="256032"/>
          </a:xfrm>
          <a:prstGeom prst="rect">
            <a:avLst/>
          </a:prstGeom>
          <a:noFill/>
        </p:spPr>
        <p:txBody>
          <a:bodyPr wrap="square" lIns="0" tIns="0" rIns="0" bIns="0" anchor="ctr">
            <a:spAutoFit/>
          </a:bodyPr>
          <a:lstStyle/>
          <a:p>
            <a:pPr algn="l"/>
            <a:r>
              <a:rPr sz="1050" b="0">
                <a:solidFill>
                  <a:srgbClr val="4A5A7A"/>
                </a:solidFill>
                <a:latin typeface="맑은 고딕"/>
                <a:ea typeface="맑은 고딕"/>
                <a:cs typeface="맑은 고딕"/>
              </a:rPr>
              <a:t>두 점으로는 알 수 없다 (과제 조건)</a:t>
            </a:r>
          </a:p>
        </p:txBody>
      </p:sp>
      <p:sp>
        <p:nvSpPr>
          <p:cNvPr id="22" name="TextBox 21"/>
          <p:cNvSpPr txBox="1"/>
          <p:nvPr/>
        </p:nvSpPr>
        <p:spPr>
          <a:xfrm>
            <a:off x="640080" y="4370832"/>
            <a:ext cx="6217920"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오차 공분산 (축 a, b 의 3 x 3 칸마다)</a:t>
            </a:r>
          </a:p>
        </p:txBody>
      </p:sp>
      <p:sp>
        <p:nvSpPr>
          <p:cNvPr id="23" name="Rectangle 22"/>
          <p:cNvSpPr/>
          <p:nvPr/>
        </p:nvSpPr>
        <p:spPr>
          <a:xfrm>
            <a:off x="640080" y="4645152"/>
            <a:ext cx="6217920" cy="1005840"/>
          </a:xfrm>
          <a:prstGeom prst="rect">
            <a:avLst/>
          </a:prstGeom>
          <a:solidFill>
            <a:srgbClr val="F7F9FC"/>
          </a:solidFill>
          <a:ln w="9525">
            <a:solidFill>
              <a:srgbClr val="D2D9E5"/>
            </a:solidFill>
          </a:ln>
        </p:spPr>
        <p:txBody>
          <a:bodyPr rtlCol="0" anchor="ctr"/>
          <a:lstStyle/>
          <a:p>
            <a:pPr algn="ctr"/>
          </a:p>
        </p:txBody>
      </p:sp>
      <p:sp>
        <p:nvSpPr>
          <p:cNvPr id="24" name="TextBox 23"/>
          <p:cNvSpPr txBox="1"/>
          <p:nvPr/>
        </p:nvSpPr>
        <p:spPr>
          <a:xfrm>
            <a:off x="804672" y="4700016"/>
            <a:ext cx="3017520" cy="914400"/>
          </a:xfrm>
          <a:prstGeom prst="rect">
            <a:avLst/>
          </a:prstGeom>
          <a:noFill/>
        </p:spPr>
        <p:txBody>
          <a:bodyPr wrap="square" lIns="0" tIns="0" rIns="0" bIns="0" anchor="t">
            <a:spAutoFit/>
          </a:bodyPr>
          <a:lstStyle/>
          <a:p>
            <a:pPr algn="l">
              <a:lnSpc>
                <a:spcPct val="115000"/>
              </a:lnSpc>
            </a:pPr>
            <a:r>
              <a:rPr sz="1150" b="1">
                <a:solidFill>
                  <a:srgbClr val="2563EB"/>
                </a:solidFill>
                <a:latin typeface="Arial"/>
                <a:ea typeface="Arial"/>
                <a:cs typeface="Arial"/>
              </a:rPr>
              <a:t>P_pp = R_k</a:t>
            </a:r>
          </a:p>
          <a:p>
            <a:pPr algn="l">
              <a:lnSpc>
                <a:spcPct val="115000"/>
              </a:lnSpc>
            </a:pPr>
            <a:r>
              <a:rPr sz="1150" b="1">
                <a:solidFill>
                  <a:srgbClr val="059669"/>
                </a:solidFill>
                <a:latin typeface="Arial"/>
                <a:ea typeface="Arial"/>
                <a:cs typeface="Arial"/>
              </a:rPr>
              <a:t>P_pv = P_vp = R_k / T</a:t>
            </a:r>
          </a:p>
          <a:p>
            <a:pPr algn="l">
              <a:lnSpc>
                <a:spcPct val="115000"/>
              </a:lnSpc>
            </a:pPr>
            <a:r>
              <a:rPr sz="1150" b="1">
                <a:solidFill>
                  <a:srgbClr val="D97706"/>
                </a:solidFill>
                <a:latin typeface="Arial"/>
                <a:ea typeface="Arial"/>
                <a:cs typeface="Arial"/>
              </a:rPr>
              <a:t>P_vv = ( R_k + R_k-1 ) / T²</a:t>
            </a:r>
          </a:p>
        </p:txBody>
      </p:sp>
      <p:sp>
        <p:nvSpPr>
          <p:cNvPr id="25" name="TextBox 24"/>
          <p:cNvSpPr txBox="1"/>
          <p:nvPr/>
        </p:nvSpPr>
        <p:spPr>
          <a:xfrm>
            <a:off x="3840480" y="4700016"/>
            <a:ext cx="2971800" cy="914400"/>
          </a:xfrm>
          <a:prstGeom prst="rect">
            <a:avLst/>
          </a:prstGeom>
          <a:noFill/>
        </p:spPr>
        <p:txBody>
          <a:bodyPr wrap="square" lIns="0" tIns="0" rIns="0" bIns="0" anchor="t">
            <a:spAutoFit/>
          </a:bodyPr>
          <a:lstStyle/>
          <a:p>
            <a:pPr algn="l">
              <a:lnSpc>
                <a:spcPct val="118000"/>
              </a:lnSpc>
            </a:pPr>
            <a:r>
              <a:rPr sz="1050" b="0">
                <a:solidFill>
                  <a:srgbClr val="4A5A7A"/>
                </a:solidFill>
                <a:latin typeface="맑은 고딕"/>
                <a:ea typeface="맑은 고딕"/>
                <a:cs typeface="맑은 고딕"/>
              </a:rPr>
              <a:t>위치 오차 = w_k</a:t>
            </a:r>
          </a:p>
          <a:p>
            <a:pPr algn="l">
              <a:lnSpc>
                <a:spcPct val="118000"/>
              </a:lnSpc>
            </a:pPr>
            <a:r>
              <a:rPr sz="1050" b="0">
                <a:solidFill>
                  <a:srgbClr val="4A5A7A"/>
                </a:solidFill>
                <a:latin typeface="맑은 고딕"/>
                <a:ea typeface="맑은 고딕"/>
                <a:cs typeface="맑은 고딕"/>
              </a:rPr>
              <a:t>속도 오차 = ( w_k − w_k-1 ) / T</a:t>
            </a:r>
          </a:p>
          <a:p>
            <a:pPr algn="l">
              <a:lnSpc>
                <a:spcPct val="118000"/>
              </a:lnSpc>
            </a:pPr>
            <a:r>
              <a:rPr sz="1050" b="0">
                <a:solidFill>
                  <a:srgbClr val="4A5A7A"/>
                </a:solidFill>
                <a:latin typeface="맑은 고딕"/>
                <a:ea typeface="맑은 고딕"/>
                <a:cs typeface="맑은 고딕"/>
              </a:rPr>
              <a:t>가속도 행 · 열 = 0</a:t>
            </a:r>
          </a:p>
        </p:txBody>
      </p:sp>
      <p:sp>
        <p:nvSpPr>
          <p:cNvPr id="26" name="TextBox 25"/>
          <p:cNvSpPr txBox="1"/>
          <p:nvPr/>
        </p:nvSpPr>
        <p:spPr>
          <a:xfrm>
            <a:off x="640080" y="5760720"/>
            <a:ext cx="6217920" cy="384048"/>
          </a:xfrm>
          <a:prstGeom prst="rect">
            <a:avLst/>
          </a:prstGeom>
          <a:noFill/>
        </p:spPr>
        <p:txBody>
          <a:bodyPr wrap="square" lIns="0" tIns="0" rIns="0" bIns="0" anchor="t">
            <a:spAutoFit/>
          </a:bodyPr>
          <a:lstStyle/>
          <a:p>
            <a:pPr algn="l"/>
            <a:r>
              <a:rPr sz="1000" b="0">
                <a:solidFill>
                  <a:srgbClr val="4A5A7A"/>
                </a:solidFill>
                <a:latin typeface="맑은 고딕"/>
                <a:ea typeface="맑은 고딕"/>
                <a:cs typeface="맑은 고딕"/>
              </a:rPr>
              <a:t>w 는 측정 오차, R = 그 공분산 (1.5).  두 오차를 빼서 T 로 나누기 때문에 속도 분산은 두 R 의 합 / T² 이 된다.</a:t>
            </a:r>
          </a:p>
        </p:txBody>
      </p:sp>
      <p:pic>
        <p:nvPicPr>
          <p:cNvPr id="27" name="Picture 26" descr="fig_pmatrix.png"/>
          <p:cNvPicPr>
            <a:picLocks noChangeAspect="1"/>
          </p:cNvPicPr>
          <p:nvPr/>
        </p:nvPicPr>
        <p:blipFill>
          <a:blip r:embed="rId3"/>
          <a:stretch>
            <a:fillRect/>
          </a:stretch>
        </p:blipFill>
        <p:spPr>
          <a:xfrm>
            <a:off x="7178040" y="2194560"/>
            <a:ext cx="4206240" cy="3744016"/>
          </a:xfrm>
          <a:prstGeom prst="rect">
            <a:avLst/>
          </a:prstGeom>
        </p:spPr>
      </p:pic>
      <p:sp>
        <p:nvSpPr>
          <p:cNvPr id="28" name="TextBox 27"/>
          <p:cNvSpPr txBox="1"/>
          <p:nvPr/>
        </p:nvSpPr>
        <p:spPr>
          <a:xfrm>
            <a:off x="7178040" y="5961888"/>
            <a:ext cx="4370832" cy="237744"/>
          </a:xfrm>
          <a:prstGeom prst="rect">
            <a:avLst/>
          </a:prstGeom>
          <a:noFill/>
        </p:spPr>
        <p:txBody>
          <a:bodyPr wrap="square" lIns="0" tIns="0" rIns="0" bIns="0" anchor="t">
            <a:spAutoFit/>
          </a:bodyPr>
          <a:lstStyle/>
          <a:p>
            <a:pPr algn="ctr"/>
            <a:r>
              <a:rPr sz="950" b="0">
                <a:solidFill>
                  <a:srgbClr val="8794AC"/>
                </a:solidFill>
                <a:latin typeface="맑은 고딕"/>
                <a:ea typeface="맑은 고딕"/>
                <a:cs typeface="맑은 고딕"/>
              </a:rPr>
              <a:t>표적 5 예 (5.8 km, T = 0.1 s).  단위 m², m²/s, m²/s²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트랙 개시</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1.4 속도 게이팅</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두 플롯이 같은 표적이면 한 스캔 동안 움직인 거리가 V_max · T 를 넘을 수 없습니다. 이 조건을 넘는 쌍으로만 트랙을 개시합니다.</a:t>
            </a:r>
            <a:endParaRPr lang="en-US" sz="1250" dirty="0"/>
          </a:p>
        </p:txBody>
      </p:sp>
      <p:sp>
        <p:nvSpPr>
          <p:cNvPr id="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6" name="Rectangle 5"/>
          <p:cNvSpPr/>
          <p:nvPr/>
        </p:nvSpPr>
        <p:spPr>
          <a:xfrm>
            <a:off x="640080" y="2240280"/>
            <a:ext cx="10908792" cy="566928"/>
          </a:xfrm>
          <a:prstGeom prst="rect">
            <a:avLst/>
          </a:prstGeom>
          <a:solidFill>
            <a:srgbClr val="F7F9FC"/>
          </a:solidFill>
          <a:ln w="9525">
            <a:solidFill>
              <a:srgbClr val="D2D9E5"/>
            </a:solidFill>
          </a:ln>
        </p:spPr>
        <p:txBody>
          <a:bodyPr rtlCol="0" anchor="ctr"/>
          <a:lstStyle/>
          <a:p>
            <a:pPr algn="ctr"/>
          </a:p>
        </p:txBody>
      </p:sp>
      <p:sp>
        <p:nvSpPr>
          <p:cNvPr id="7" name="TextBox 6"/>
          <p:cNvSpPr txBox="1"/>
          <p:nvPr/>
        </p:nvSpPr>
        <p:spPr>
          <a:xfrm>
            <a:off x="868680" y="2240280"/>
            <a:ext cx="5120640" cy="566928"/>
          </a:xfrm>
          <a:prstGeom prst="rect">
            <a:avLst/>
          </a:prstGeom>
          <a:noFill/>
        </p:spPr>
        <p:txBody>
          <a:bodyPr wrap="square" lIns="0" tIns="0" rIns="0" bIns="0" anchor="ctr">
            <a:spAutoFit/>
          </a:bodyPr>
          <a:lstStyle/>
          <a:p>
            <a:pPr algn="l"/>
            <a:r>
              <a:rPr sz="1500" b="1">
                <a:solidFill>
                  <a:srgbClr val="1B2740"/>
                </a:solidFill>
                <a:latin typeface="Arial"/>
                <a:ea typeface="Arial"/>
                <a:cs typeface="Arial"/>
              </a:rPr>
              <a:t>| z_(k,i)  −  z_(k-1,j) |  /  ΔT   &lt;   V_max</a:t>
            </a:r>
          </a:p>
        </p:txBody>
      </p:sp>
      <p:sp>
        <p:nvSpPr>
          <p:cNvPr id="8" name="TextBox 7"/>
          <p:cNvSpPr txBox="1"/>
          <p:nvPr/>
        </p:nvSpPr>
        <p:spPr>
          <a:xfrm>
            <a:off x="5852160" y="2240280"/>
            <a:ext cx="5577840" cy="566928"/>
          </a:xfrm>
          <a:prstGeom prst="rect">
            <a:avLst/>
          </a:prstGeom>
          <a:noFill/>
        </p:spPr>
        <p:txBody>
          <a:bodyPr wrap="square" lIns="0" tIns="0" rIns="0" bIns="0" anchor="ctr">
            <a:spAutoFit/>
          </a:bodyPr>
          <a:lstStyle/>
          <a:p>
            <a:pPr algn="l"/>
            <a:r>
              <a:rPr sz="1150" b="1">
                <a:solidFill>
                  <a:srgbClr val="2563EB"/>
                </a:solidFill>
                <a:latin typeface="맑은 고딕"/>
                <a:ea typeface="맑은 고딕"/>
                <a:cs typeface="맑은 고딕"/>
              </a:rPr>
              <a:t>V_max = 800 m/s,  ΔT = 0.1 s  -&gt;  앞 플롯에서 반경 80 m 안</a:t>
            </a:r>
          </a:p>
          <a:p>
            <a:pPr algn="l"/>
            <a:r>
              <a:rPr sz="1000" b="0">
                <a:solidFill>
                  <a:srgbClr val="4A5A7A"/>
                </a:solidFill>
                <a:latin typeface="맑은 고딕"/>
                <a:ea typeface="맑은 고딕"/>
                <a:cs typeface="맑은 고딕"/>
              </a:rPr>
              <a:t>i: 이번 스캔 플롯,  j: 앞 스캔 플롯.  거리는 VC-NED 직교좌표로 잰다</a:t>
            </a:r>
          </a:p>
        </p:txBody>
      </p:sp>
      <p:pic>
        <p:nvPicPr>
          <p:cNvPr id="9" name="Picture 8" descr="fig_gate.png"/>
          <p:cNvPicPr>
            <a:picLocks noChangeAspect="1"/>
          </p:cNvPicPr>
          <p:nvPr/>
        </p:nvPicPr>
        <p:blipFill>
          <a:blip r:embed="rId3"/>
          <a:stretch>
            <a:fillRect/>
          </a:stretch>
        </p:blipFill>
        <p:spPr>
          <a:xfrm>
            <a:off x="640080" y="2926080"/>
            <a:ext cx="10908792" cy="2704280"/>
          </a:xfrm>
          <a:prstGeom prst="rect">
            <a:avLst/>
          </a:prstGeom>
        </p:spPr>
      </p:pic>
      <p:sp>
        <p:nvSpPr>
          <p:cNvPr id="10" name="Rectangle 9"/>
          <p:cNvSpPr/>
          <p:nvPr/>
        </p:nvSpPr>
        <p:spPr>
          <a:xfrm>
            <a:off x="640080" y="5715000"/>
            <a:ext cx="10908792" cy="457200"/>
          </a:xfrm>
          <a:prstGeom prst="rect">
            <a:avLst/>
          </a:prstGeom>
          <a:solidFill>
            <a:srgbClr val="FEF3E2"/>
          </a:solidFill>
          <a:ln w="9525">
            <a:solidFill>
              <a:srgbClr val="D97706"/>
            </a:solidFill>
          </a:ln>
        </p:spPr>
        <p:txBody>
          <a:bodyPr rtlCol="0" anchor="ctr"/>
          <a:lstStyle/>
          <a:p>
            <a:pPr algn="ctr"/>
          </a:p>
        </p:txBody>
      </p:sp>
      <p:sp>
        <p:nvSpPr>
          <p:cNvPr id="11" name="TextBox 10"/>
          <p:cNvSpPr txBox="1"/>
          <p:nvPr/>
        </p:nvSpPr>
        <p:spPr>
          <a:xfrm>
            <a:off x="822960" y="5715000"/>
            <a:ext cx="10607040" cy="457200"/>
          </a:xfrm>
          <a:prstGeom prst="rect">
            <a:avLst/>
          </a:prstGeom>
          <a:noFill/>
        </p:spPr>
        <p:txBody>
          <a:bodyPr wrap="square" lIns="0" tIns="0" rIns="0" bIns="0" anchor="ctr">
            <a:spAutoFit/>
          </a:bodyPr>
          <a:lstStyle/>
          <a:p>
            <a:pPr algn="l"/>
            <a:r>
              <a:rPr sz="1100" b="1">
                <a:solidFill>
                  <a:srgbClr val="B45309"/>
                </a:solidFill>
                <a:latin typeface="맑은 고딕"/>
                <a:ea typeface="맑은 고딕"/>
                <a:cs typeface="맑은 고딕"/>
              </a:rPr>
              <a:t>스캔 간격이 짧아 게이트가 작습니다.  </a:t>
            </a:r>
            <a:r>
              <a:rPr sz="1100" b="0">
                <a:solidFill>
                  <a:srgbClr val="1B2740"/>
                </a:solidFill>
                <a:latin typeface="맑은 고딕"/>
                <a:ea typeface="맑은 고딕"/>
                <a:cs typeface="맑은 고딕"/>
              </a:rPr>
              <a:t>가로 방향 잡음은 거리에 비례해서, 멀리 있는 표적은 참 표적 쌍도 자주 게이트를 넘지 못합니다 (4.4).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01. 트랙 개시</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1.5 측정 공분산을 VC-NED 로 옮기기</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플롯의 오차는 거리 · 방위각 · 고각에 있어서, 트랙 좌표계 (VC-NED) 의 위치 공분산 R 로 바꿔야 오차 공분산을 채울 수 있습니다.</a:t>
            </a:r>
            <a:endParaRPr lang="en-US" sz="1250" dirty="0"/>
          </a:p>
        </p:txBody>
      </p:sp>
      <p:sp>
        <p:nvSpPr>
          <p:cNvPr id="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6" name="Oval 5"/>
          <p:cNvSpPr/>
          <p:nvPr/>
        </p:nvSpPr>
        <p:spPr>
          <a:xfrm>
            <a:off x="676656" y="233172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7" name="TextBox 6"/>
          <p:cNvSpPr txBox="1"/>
          <p:nvPr/>
        </p:nvSpPr>
        <p:spPr>
          <a:xfrm>
            <a:off x="1060704" y="2286000"/>
            <a:ext cx="5669280" cy="274320"/>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측정 표준편차 (과제 4, SNR 20)</a:t>
            </a:r>
          </a:p>
        </p:txBody>
      </p:sp>
      <p:sp>
        <p:nvSpPr>
          <p:cNvPr id="8" name="Rectangle 7"/>
          <p:cNvSpPr/>
          <p:nvPr/>
        </p:nvSpPr>
        <p:spPr>
          <a:xfrm>
            <a:off x="1060704" y="2587752"/>
            <a:ext cx="5669280" cy="402336"/>
          </a:xfrm>
          <a:prstGeom prst="rect">
            <a:avLst/>
          </a:prstGeom>
          <a:solidFill>
            <a:srgbClr val="F7F9FC"/>
          </a:solidFill>
          <a:ln w="9525">
            <a:solidFill>
              <a:srgbClr val="D2D9E5"/>
            </a:solidFill>
          </a:ln>
        </p:spPr>
        <p:txBody>
          <a:bodyPr rtlCol="0" anchor="ctr"/>
          <a:lstStyle/>
          <a:p>
            <a:pPr algn="ctr"/>
          </a:p>
        </p:txBody>
      </p:sp>
      <p:sp>
        <p:nvSpPr>
          <p:cNvPr id="9" name="TextBox 8"/>
          <p:cNvSpPr txBox="1"/>
          <p:nvPr/>
        </p:nvSpPr>
        <p:spPr>
          <a:xfrm>
            <a:off x="1188720" y="2587752"/>
            <a:ext cx="5486400" cy="402336"/>
          </a:xfrm>
          <a:prstGeom prst="rect">
            <a:avLst/>
          </a:prstGeom>
          <a:noFill/>
        </p:spPr>
        <p:txBody>
          <a:bodyPr wrap="square" lIns="0" tIns="0" rIns="0" bIns="0" anchor="ctr">
            <a:spAutoFit/>
          </a:bodyPr>
          <a:lstStyle/>
          <a:p>
            <a:pPr algn="l"/>
            <a:r>
              <a:rPr sz="1250" b="0">
                <a:solidFill>
                  <a:srgbClr val="1B2740"/>
                </a:solidFill>
                <a:latin typeface="Arial"/>
                <a:ea typeface="Arial"/>
                <a:cs typeface="Arial"/>
              </a:rPr>
              <a:t>σ_r = 4.74 m,   σ_az = 0.478°,   σ_el = 0.494°</a:t>
            </a:r>
          </a:p>
        </p:txBody>
      </p:sp>
      <p:sp>
        <p:nvSpPr>
          <p:cNvPr id="10" name="Oval 9"/>
          <p:cNvSpPr/>
          <p:nvPr/>
        </p:nvSpPr>
        <p:spPr>
          <a:xfrm>
            <a:off x="676656" y="320040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1" name="TextBox 10"/>
          <p:cNvSpPr txBox="1"/>
          <p:nvPr/>
        </p:nvSpPr>
        <p:spPr>
          <a:xfrm>
            <a:off x="1060704" y="3154680"/>
            <a:ext cx="5669280" cy="274320"/>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안테나 직교좌표로</a:t>
            </a:r>
          </a:p>
        </p:txBody>
      </p:sp>
      <p:sp>
        <p:nvSpPr>
          <p:cNvPr id="12" name="Rectangle 11"/>
          <p:cNvSpPr/>
          <p:nvPr/>
        </p:nvSpPr>
        <p:spPr>
          <a:xfrm>
            <a:off x="1060704" y="3456432"/>
            <a:ext cx="5669280" cy="402336"/>
          </a:xfrm>
          <a:prstGeom prst="rect">
            <a:avLst/>
          </a:prstGeom>
          <a:solidFill>
            <a:srgbClr val="F7F9FC"/>
          </a:solidFill>
          <a:ln w="9525">
            <a:solidFill>
              <a:srgbClr val="D2D9E5"/>
            </a:solidFill>
          </a:ln>
        </p:spPr>
        <p:txBody>
          <a:bodyPr rtlCol="0" anchor="ctr"/>
          <a:lstStyle/>
          <a:p>
            <a:pPr algn="ctr"/>
          </a:p>
        </p:txBody>
      </p:sp>
      <p:sp>
        <p:nvSpPr>
          <p:cNvPr id="13" name="TextBox 12"/>
          <p:cNvSpPr txBox="1"/>
          <p:nvPr/>
        </p:nvSpPr>
        <p:spPr>
          <a:xfrm>
            <a:off x="1188720" y="3456432"/>
            <a:ext cx="5486400" cy="402336"/>
          </a:xfrm>
          <a:prstGeom prst="rect">
            <a:avLst/>
          </a:prstGeom>
          <a:noFill/>
        </p:spPr>
        <p:txBody>
          <a:bodyPr wrap="square" lIns="0" tIns="0" rIns="0" bIns="0" anchor="ctr">
            <a:spAutoFit/>
          </a:bodyPr>
          <a:lstStyle/>
          <a:p>
            <a:pPr algn="l"/>
            <a:r>
              <a:rPr sz="1250" b="0">
                <a:solidFill>
                  <a:srgbClr val="1B2740"/>
                </a:solidFill>
                <a:latin typeface="Arial"/>
                <a:ea typeface="Arial"/>
                <a:cs typeface="Arial"/>
              </a:rPr>
              <a:t>R_ant = J · diag( σ_r², σ_az², σ_el² ) · Jᵀ</a:t>
            </a:r>
          </a:p>
        </p:txBody>
      </p:sp>
      <p:sp>
        <p:nvSpPr>
          <p:cNvPr id="14" name="Oval 13"/>
          <p:cNvSpPr/>
          <p:nvPr/>
        </p:nvSpPr>
        <p:spPr>
          <a:xfrm>
            <a:off x="676656" y="406908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5" name="TextBox 14"/>
          <p:cNvSpPr txBox="1"/>
          <p:nvPr/>
        </p:nvSpPr>
        <p:spPr>
          <a:xfrm>
            <a:off x="1060704" y="4023360"/>
            <a:ext cx="5669280" cy="274320"/>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VC-NED 로</a:t>
            </a:r>
          </a:p>
        </p:txBody>
      </p:sp>
      <p:sp>
        <p:nvSpPr>
          <p:cNvPr id="16" name="Rectangle 15"/>
          <p:cNvSpPr/>
          <p:nvPr/>
        </p:nvSpPr>
        <p:spPr>
          <a:xfrm>
            <a:off x="1060704" y="4325112"/>
            <a:ext cx="5669280" cy="402336"/>
          </a:xfrm>
          <a:prstGeom prst="rect">
            <a:avLst/>
          </a:prstGeom>
          <a:solidFill>
            <a:srgbClr val="F7F9FC"/>
          </a:solidFill>
          <a:ln w="9525">
            <a:solidFill>
              <a:srgbClr val="D2D9E5"/>
            </a:solidFill>
          </a:ln>
        </p:spPr>
        <p:txBody>
          <a:bodyPr rtlCol="0" anchor="ctr"/>
          <a:lstStyle/>
          <a:p>
            <a:pPr algn="ctr"/>
          </a:p>
        </p:txBody>
      </p:sp>
      <p:sp>
        <p:nvSpPr>
          <p:cNvPr id="17" name="TextBox 16"/>
          <p:cNvSpPr txBox="1"/>
          <p:nvPr/>
        </p:nvSpPr>
        <p:spPr>
          <a:xfrm>
            <a:off x="1188720" y="4325112"/>
            <a:ext cx="5486400" cy="402336"/>
          </a:xfrm>
          <a:prstGeom prst="rect">
            <a:avLst/>
          </a:prstGeom>
          <a:noFill/>
        </p:spPr>
        <p:txBody>
          <a:bodyPr wrap="square" lIns="0" tIns="0" rIns="0" bIns="0" anchor="ctr">
            <a:spAutoFit/>
          </a:bodyPr>
          <a:lstStyle/>
          <a:p>
            <a:pPr algn="l"/>
            <a:r>
              <a:rPr sz="1250" b="0">
                <a:solidFill>
                  <a:srgbClr val="1B2740"/>
                </a:solidFill>
                <a:latin typeface="Arial"/>
                <a:ea typeface="Arial"/>
                <a:cs typeface="Arial"/>
              </a:rPr>
              <a:t>R = M · R_ant · Mᵀ</a:t>
            </a:r>
          </a:p>
        </p:txBody>
      </p:sp>
      <p:sp>
        <p:nvSpPr>
          <p:cNvPr id="18" name="TextBox 17"/>
          <p:cNvSpPr txBox="1"/>
          <p:nvPr/>
        </p:nvSpPr>
        <p:spPr>
          <a:xfrm>
            <a:off x="1060704" y="4892040"/>
            <a:ext cx="5669280" cy="685800"/>
          </a:xfrm>
          <a:prstGeom prst="rect">
            <a:avLst/>
          </a:prstGeom>
          <a:noFill/>
        </p:spPr>
        <p:txBody>
          <a:bodyPr wrap="square" lIns="0" tIns="0" rIns="0" bIns="0" anchor="t">
            <a:spAutoFit/>
          </a:bodyPr>
          <a:lstStyle/>
          <a:p>
            <a:pPr algn="l">
              <a:lnSpc>
                <a:spcPct val="115000"/>
              </a:lnSpc>
            </a:pPr>
            <a:r>
              <a:rPr sz="1050" b="1">
                <a:solidFill>
                  <a:srgbClr val="1B2740"/>
                </a:solidFill>
                <a:latin typeface="맑은 고딕"/>
                <a:ea typeface="맑은 고딕"/>
                <a:cs typeface="맑은 고딕"/>
              </a:rPr>
              <a:t>J</a:t>
            </a:r>
            <a:r>
              <a:rPr sz="1050" b="0">
                <a:solidFill>
                  <a:srgbClr val="4A5A7A"/>
                </a:solidFill>
                <a:latin typeface="맑은 고딕"/>
                <a:ea typeface="맑은 고딕"/>
                <a:cs typeface="맑은 고딕"/>
              </a:rPr>
              <a:t>: 구좌표 (r, az, el) -&gt; 안테나 직교 (x, y, z) 변환의 미분</a:t>
            </a:r>
          </a:p>
          <a:p>
            <a:pPr algn="l">
              <a:lnSpc>
                <a:spcPct val="115000"/>
              </a:lnSpc>
            </a:pPr>
            <a:r>
              <a:rPr sz="1050" b="1">
                <a:solidFill>
                  <a:srgbClr val="1B2740"/>
                </a:solidFill>
                <a:latin typeface="맑은 고딕"/>
                <a:ea typeface="맑은 고딕"/>
                <a:cs typeface="맑은 고딕"/>
              </a:rPr>
              <a:t>M</a:t>
            </a:r>
            <a:r>
              <a:rPr sz="1050" b="0">
                <a:solidFill>
                  <a:srgbClr val="4A5A7A"/>
                </a:solidFill>
                <a:latin typeface="맑은 고딕"/>
                <a:ea typeface="맑은 고딕"/>
                <a:cs typeface="맑은 고딕"/>
              </a:rPr>
              <a:t>: 안테나 -&gt; 동체 -&gt; VC-NED 회전 (플랫폼 Roll · Pitch · Yaw)</a:t>
            </a:r>
          </a:p>
          <a:p>
            <a:pPr algn="l">
              <a:lnSpc>
                <a:spcPct val="115000"/>
              </a:lnSpc>
            </a:pPr>
            <a:r>
              <a:rPr sz="1050" b="0">
                <a:solidFill>
                  <a:srgbClr val="4A5A7A"/>
                </a:solidFill>
                <a:latin typeface="맑은 고딕"/>
                <a:ea typeface="맑은 고딕"/>
                <a:cs typeface="맑은 고딕"/>
              </a:rPr>
              <a:t>회전만 들어가서 오차 타원의 크기는 그대로, 방향만 바뀐다</a:t>
            </a:r>
          </a:p>
        </p:txBody>
      </p:sp>
      <p:sp>
        <p:nvSpPr>
          <p:cNvPr id="19" name="Rectangle 18"/>
          <p:cNvSpPr/>
          <p:nvPr/>
        </p:nvSpPr>
        <p:spPr>
          <a:xfrm>
            <a:off x="640080" y="5650992"/>
            <a:ext cx="6126480" cy="512064"/>
          </a:xfrm>
          <a:prstGeom prst="rect">
            <a:avLst/>
          </a:prstGeom>
          <a:solidFill>
            <a:srgbClr val="EEF4FF"/>
          </a:solidFill>
          <a:ln w="9525">
            <a:solidFill>
              <a:srgbClr val="2563EB"/>
            </a:solidFill>
          </a:ln>
        </p:spPr>
        <p:txBody>
          <a:bodyPr rtlCol="0" anchor="ctr"/>
          <a:lstStyle/>
          <a:p>
            <a:pPr algn="ctr"/>
          </a:p>
        </p:txBody>
      </p:sp>
      <p:sp>
        <p:nvSpPr>
          <p:cNvPr id="20" name="TextBox 19"/>
          <p:cNvSpPr txBox="1"/>
          <p:nvPr/>
        </p:nvSpPr>
        <p:spPr>
          <a:xfrm>
            <a:off x="804672" y="5650992"/>
            <a:ext cx="5897880" cy="512064"/>
          </a:xfrm>
          <a:prstGeom prst="rect">
            <a:avLst/>
          </a:prstGeom>
          <a:noFill/>
        </p:spPr>
        <p:txBody>
          <a:bodyPr wrap="square" lIns="0" tIns="0" rIns="0" bIns="0" anchor="ctr">
            <a:spAutoFit/>
          </a:bodyPr>
          <a:lstStyle/>
          <a:p>
            <a:pPr algn="l"/>
            <a:r>
              <a:rPr sz="1050" b="1">
                <a:solidFill>
                  <a:srgbClr val="2563EB"/>
                </a:solidFill>
                <a:latin typeface="맑은 고딕"/>
                <a:ea typeface="맑은 고딕"/>
                <a:cs typeface="맑은 고딕"/>
              </a:rPr>
              <a:t>VC-NED  </a:t>
            </a:r>
            <a:r>
              <a:rPr sz="1000" b="0">
                <a:solidFill>
                  <a:srgbClr val="1B2740"/>
                </a:solidFill>
                <a:latin typeface="맑은 고딕"/>
                <a:ea typeface="맑은 고딕"/>
                <a:cs typeface="맑은 고딕"/>
              </a:rPr>
              <a:t>플랫폼 무게중심이 원점, 축은 북 · 동 · 아래. 자세가 바뀌어도 축이 돌지 않아 트랙을 이 좌표계에서 만든다</a:t>
            </a:r>
          </a:p>
        </p:txBody>
      </p:sp>
      <p:pic>
        <p:nvPicPr>
          <p:cNvPr id="21" name="Picture 20" descr="fig_rcov.png"/>
          <p:cNvPicPr>
            <a:picLocks noChangeAspect="1"/>
          </p:cNvPicPr>
          <p:nvPr/>
        </p:nvPicPr>
        <p:blipFill>
          <a:blip r:embed="rId3"/>
          <a:stretch>
            <a:fillRect/>
          </a:stretch>
        </p:blipFill>
        <p:spPr>
          <a:xfrm>
            <a:off x="6967728" y="2194560"/>
            <a:ext cx="4572000" cy="345331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859536" y="914400"/>
            <a:ext cx="9144000" cy="475488"/>
          </a:xfrm>
          <a:prstGeom prst="rect">
            <a:avLst/>
          </a:prstGeom>
          <a:noFill/>
          <a:ln/>
        </p:spPr>
        <p:txBody>
          <a:bodyPr wrap="square" lIns="0" tIns="0" rIns="0" bIns="0" rtlCol="0" anchor="ctr"/>
          <a:lstStyle/>
          <a:p>
            <a:pPr indent="0" marL="0">
              <a:buNone/>
            </a:pPr>
            <a:r>
              <a:rPr lang="en-US" sz="2400" b="1" dirty="0">
                <a:solidFill>
                  <a:srgbClr val="1B2740"/>
                </a:solidFill>
                <a:latin typeface="맑은 고딕" pitchFamily="34" charset="0"/>
                <a:ea typeface="맑은 고딕" pitchFamily="34" charset="-122"/>
                <a:cs typeface="맑은 고딕" pitchFamily="34" charset="-120"/>
              </a:rPr>
              <a:t>02. 트랙 관리</a:t>
            </a:r>
            <a:endParaRPr lang="en-US" sz="2400" dirty="0"/>
          </a:p>
        </p:txBody>
      </p:sp>
      <p:sp>
        <p:nvSpPr>
          <p:cNvPr id="3" name="Text 1"/>
          <p:cNvSpPr txBox="1"/>
          <p:nvPr/>
        </p:nvSpPr>
        <p:spPr>
          <a:xfrm>
            <a:off x="859536" y="1444752"/>
            <a:ext cx="10588752" cy="304495"/>
          </a:xfrm>
          <a:prstGeom prst="rect">
            <a:avLst/>
          </a:prstGeom>
          <a:noFill/>
          <a:ln/>
        </p:spPr>
        <p:txBody>
          <a:bodyPr wrap="square" lIns="0" tIns="0" rIns="0" bIns="0" rtlCol="0" anchor="ctr"/>
          <a:lstStyle/>
          <a:p>
            <a:pPr indent="0" marL="0">
              <a:buNone/>
            </a:pPr>
            <a:r>
              <a:rPr lang="en-US" sz="1300" dirty="0">
                <a:solidFill>
                  <a:srgbClr val="1B2740"/>
                </a:solidFill>
                <a:latin typeface="맑은 고딕" pitchFamily="34" charset="0"/>
                <a:ea typeface="맑은 고딕" pitchFamily="34" charset="-122"/>
                <a:cs typeface="맑은 고딕" pitchFamily="34" charset="-120"/>
              </a:rPr>
              <a:t>만든 트랙을 확정할지 지울지 정하는 M/N 방식과 트랙 스코어 방식을 설명합니다.</a:t>
            </a:r>
            <a:endParaRPr lang="en-US" sz="1300" dirty="0"/>
          </a:p>
        </p:txBody>
      </p:sp>
      <p:sp>
        <p:nvSpPr>
          <p:cNvPr id="4" name="Text 2"/>
          <p:cNvSpPr txBox="1"/>
          <p:nvPr/>
        </p:nvSpPr>
        <p:spPr>
          <a:xfrm>
            <a:off x="859536" y="2057400"/>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2.1</a:t>
            </a:r>
            <a:endParaRPr lang="en-US" sz="1400" dirty="0"/>
          </a:p>
        </p:txBody>
      </p:sp>
      <p:sp>
        <p:nvSpPr>
          <p:cNvPr id="5" name="Text 3"/>
          <p:cNvSpPr txBox="1"/>
          <p:nvPr/>
        </p:nvSpPr>
        <p:spPr>
          <a:xfrm>
            <a:off x="1418234" y="2057400"/>
            <a:ext cx="862584"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M/N 방식</a:t>
            </a:r>
            <a:endParaRPr lang="en-US" sz="1400" dirty="0"/>
          </a:p>
        </p:txBody>
      </p:sp>
      <p:sp>
        <p:nvSpPr>
          <p:cNvPr id="6" name="Shape 4"/>
          <p:cNvSpPr/>
          <p:nvPr/>
        </p:nvSpPr>
        <p:spPr>
          <a:xfrm>
            <a:off x="2389632" y="2313432"/>
            <a:ext cx="8217408" cy="0"/>
          </a:xfrm>
          <a:prstGeom prst="line">
            <a:avLst/>
          </a:prstGeom>
          <a:noFill/>
          <a:ln w="15875">
            <a:solidFill>
              <a:srgbClr val="AEB9CC"/>
            </a:solidFill>
            <a:prstDash val="sysDot"/>
          </a:ln>
        </p:spPr>
      </p:sp>
      <p:sp>
        <p:nvSpPr>
          <p:cNvPr id="7" name="Text 5"/>
          <p:cNvSpPr txBox="1"/>
          <p:nvPr/>
        </p:nvSpPr>
        <p:spPr>
          <a:xfrm>
            <a:off x="10736885" y="2057400"/>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10</a:t>
            </a:r>
            <a:endParaRPr lang="en-US" sz="1300" dirty="0"/>
          </a:p>
        </p:txBody>
      </p:sp>
      <p:sp>
        <p:nvSpPr>
          <p:cNvPr id="8" name="Text 2"/>
          <p:cNvSpPr txBox="1"/>
          <p:nvPr/>
        </p:nvSpPr>
        <p:spPr>
          <a:xfrm>
            <a:off x="859536" y="2464308"/>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2.2</a:t>
            </a:r>
            <a:endParaRPr lang="en-US" sz="1400" dirty="0"/>
          </a:p>
        </p:txBody>
      </p:sp>
      <p:sp>
        <p:nvSpPr>
          <p:cNvPr id="9" name="Text 3"/>
          <p:cNvSpPr txBox="1"/>
          <p:nvPr/>
        </p:nvSpPr>
        <p:spPr>
          <a:xfrm>
            <a:off x="1418234" y="2464308"/>
            <a:ext cx="1442212"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트랙 스코어 방식</a:t>
            </a:r>
            <a:endParaRPr lang="en-US" sz="1400" dirty="0"/>
          </a:p>
        </p:txBody>
      </p:sp>
      <p:sp>
        <p:nvSpPr>
          <p:cNvPr id="10" name="Shape 4"/>
          <p:cNvSpPr/>
          <p:nvPr/>
        </p:nvSpPr>
        <p:spPr>
          <a:xfrm>
            <a:off x="2969260" y="2720339"/>
            <a:ext cx="7637780" cy="0"/>
          </a:xfrm>
          <a:prstGeom prst="line">
            <a:avLst/>
          </a:prstGeom>
          <a:noFill/>
          <a:ln w="15875">
            <a:solidFill>
              <a:srgbClr val="AEB9CC"/>
            </a:solidFill>
            <a:prstDash val="sysDot"/>
          </a:ln>
        </p:spPr>
      </p:sp>
      <p:sp>
        <p:nvSpPr>
          <p:cNvPr id="11" name="Text 5"/>
          <p:cNvSpPr txBox="1"/>
          <p:nvPr/>
        </p:nvSpPr>
        <p:spPr>
          <a:xfrm>
            <a:off x="10736885" y="2464308"/>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11</a:t>
            </a:r>
            <a:endParaRPr lang="en-US" sz="1300" dirty="0"/>
          </a:p>
        </p:txBody>
      </p:sp>
      <p:sp>
        <p:nvSpPr>
          <p:cNvPr id="12" name="Text 2"/>
          <p:cNvSpPr txBox="1"/>
          <p:nvPr/>
        </p:nvSpPr>
        <p:spPr>
          <a:xfrm>
            <a:off x="859536" y="2871216"/>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2.3</a:t>
            </a:r>
            <a:endParaRPr lang="en-US" sz="1400" dirty="0"/>
          </a:p>
        </p:txBody>
      </p:sp>
      <p:sp>
        <p:nvSpPr>
          <p:cNvPr id="13" name="Text 3"/>
          <p:cNvSpPr txBox="1"/>
          <p:nvPr/>
        </p:nvSpPr>
        <p:spPr>
          <a:xfrm>
            <a:off x="1418234" y="2871216"/>
            <a:ext cx="2880614"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Assigned_Flag 에 따른 스코어 변화</a:t>
            </a:r>
            <a:endParaRPr lang="en-US" sz="1400" dirty="0"/>
          </a:p>
        </p:txBody>
      </p:sp>
      <p:sp>
        <p:nvSpPr>
          <p:cNvPr id="14" name="Shape 4"/>
          <p:cNvSpPr/>
          <p:nvPr/>
        </p:nvSpPr>
        <p:spPr>
          <a:xfrm>
            <a:off x="4407662" y="3127248"/>
            <a:ext cx="6199377" cy="0"/>
          </a:xfrm>
          <a:prstGeom prst="line">
            <a:avLst/>
          </a:prstGeom>
          <a:noFill/>
          <a:ln w="15875">
            <a:solidFill>
              <a:srgbClr val="AEB9CC"/>
            </a:solidFill>
            <a:prstDash val="sysDot"/>
          </a:ln>
        </p:spPr>
      </p:sp>
      <p:sp>
        <p:nvSpPr>
          <p:cNvPr id="15" name="Text 5"/>
          <p:cNvSpPr txBox="1"/>
          <p:nvPr/>
        </p:nvSpPr>
        <p:spPr>
          <a:xfrm>
            <a:off x="10736885" y="2871216"/>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12</a:t>
            </a:r>
            <a:endParaRPr lang="en-US" sz="1300" dirty="0"/>
          </a:p>
        </p:txBody>
      </p:sp>
      <p:sp>
        <p:nvSpPr>
          <p:cNvPr id="1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3</a:t>
            </a:fld>
            <a:endParaRPr lang="en-US"/>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02. 트랙 관리</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2.1 M/N 방식</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최근 N 번의 연관 결과 가운데 성공 횟수 M 으로 확정을, 연속 실패 횟수로 삭제를 정합니다.</a:t>
            </a:r>
            <a:endParaRPr lang="en-US" sz="1250" dirty="0"/>
          </a:p>
        </p:txBody>
      </p:sp>
      <p:sp>
        <p:nvSpPr>
          <p:cNvPr id="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pic>
        <p:nvPicPr>
          <p:cNvPr id="6" name="Picture 5" descr="fig_mn.png"/>
          <p:cNvPicPr>
            <a:picLocks noChangeAspect="1"/>
          </p:cNvPicPr>
          <p:nvPr/>
        </p:nvPicPr>
        <p:blipFill>
          <a:blip r:embed="rId3"/>
          <a:stretch>
            <a:fillRect/>
          </a:stretch>
        </p:blipFill>
        <p:spPr>
          <a:xfrm>
            <a:off x="640080" y="2240280"/>
            <a:ext cx="6263640" cy="2626688"/>
          </a:xfrm>
          <a:prstGeom prst="rect">
            <a:avLst/>
          </a:prstGeom>
        </p:spPr>
      </p:pic>
      <p:sp>
        <p:nvSpPr>
          <p:cNvPr id="7" name="Oval 6"/>
          <p:cNvSpPr/>
          <p:nvPr/>
        </p:nvSpPr>
        <p:spPr>
          <a:xfrm>
            <a:off x="7086600" y="237744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8" name="TextBox 7"/>
          <p:cNvSpPr txBox="1"/>
          <p:nvPr/>
        </p:nvSpPr>
        <p:spPr>
          <a:xfrm>
            <a:off x="7470648" y="2359152"/>
            <a:ext cx="4078224" cy="658368"/>
          </a:xfrm>
          <a:prstGeom prst="rect">
            <a:avLst/>
          </a:prstGeom>
          <a:noFill/>
        </p:spPr>
        <p:txBody>
          <a:bodyPr wrap="square" lIns="0" tIns="0" rIns="0" bIns="0" anchor="t">
            <a:spAutoFit/>
          </a:bodyPr>
          <a:lstStyle/>
          <a:p>
            <a:pPr algn="l">
              <a:lnSpc>
                <a:spcPct val="105000"/>
              </a:lnSpc>
            </a:pPr>
            <a:r>
              <a:rPr sz="1100" b="1">
                <a:solidFill>
                  <a:srgbClr val="1B2740"/>
                </a:solidFill>
                <a:latin typeface="맑은 고딕"/>
                <a:ea typeface="맑은 고딕"/>
                <a:cs typeface="맑은 고딕"/>
              </a:rPr>
              <a:t>임시 트랙</a:t>
            </a:r>
          </a:p>
          <a:p>
            <a:pPr algn="l">
              <a:lnSpc>
                <a:spcPct val="105000"/>
              </a:lnSpc>
            </a:pPr>
            <a:r>
              <a:rPr sz="1100" b="0">
                <a:solidFill>
                  <a:srgbClr val="4A5A7A"/>
                </a:solidFill>
                <a:latin typeface="맑은 고딕"/>
                <a:ea typeface="맑은 고딕"/>
                <a:cs typeface="맑은 고딕"/>
              </a:rPr>
              <a:t>N 번 중 M 번 트랙 연관에 성공하면 확정</a:t>
            </a:r>
          </a:p>
          <a:p>
            <a:pPr algn="l">
              <a:lnSpc>
                <a:spcPct val="105000"/>
              </a:lnSpc>
            </a:pPr>
            <a:r>
              <a:rPr sz="1100" b="0">
                <a:solidFill>
                  <a:srgbClr val="4A5A7A"/>
                </a:solidFill>
                <a:latin typeface="맑은 고딕"/>
                <a:ea typeface="맑은 고딕"/>
                <a:cs typeface="맑은 고딕"/>
              </a:rPr>
              <a:t>M 번 연속 결합에 실패하면 삭제</a:t>
            </a:r>
          </a:p>
        </p:txBody>
      </p:sp>
      <p:sp>
        <p:nvSpPr>
          <p:cNvPr id="9" name="Oval 8"/>
          <p:cNvSpPr/>
          <p:nvPr/>
        </p:nvSpPr>
        <p:spPr>
          <a:xfrm>
            <a:off x="7086600" y="333756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0" name="TextBox 9"/>
          <p:cNvSpPr txBox="1"/>
          <p:nvPr/>
        </p:nvSpPr>
        <p:spPr>
          <a:xfrm>
            <a:off x="7470648" y="3319272"/>
            <a:ext cx="4078224" cy="658368"/>
          </a:xfrm>
          <a:prstGeom prst="rect">
            <a:avLst/>
          </a:prstGeom>
          <a:noFill/>
        </p:spPr>
        <p:txBody>
          <a:bodyPr wrap="square" lIns="0" tIns="0" rIns="0" bIns="0" anchor="t">
            <a:spAutoFit/>
          </a:bodyPr>
          <a:lstStyle/>
          <a:p>
            <a:pPr algn="l">
              <a:lnSpc>
                <a:spcPct val="105000"/>
              </a:lnSpc>
            </a:pPr>
            <a:r>
              <a:rPr sz="1100" b="1">
                <a:solidFill>
                  <a:srgbClr val="1B2740"/>
                </a:solidFill>
                <a:latin typeface="맑은 고딕"/>
                <a:ea typeface="맑은 고딕"/>
                <a:cs typeface="맑은 고딕"/>
              </a:rPr>
              <a:t>확정 트랙</a:t>
            </a:r>
          </a:p>
          <a:p>
            <a:pPr algn="l">
              <a:lnSpc>
                <a:spcPct val="105000"/>
              </a:lnSpc>
            </a:pPr>
            <a:r>
              <a:rPr sz="1100" b="0">
                <a:solidFill>
                  <a:srgbClr val="4A5A7A"/>
                </a:solidFill>
                <a:latin typeface="맑은 고딕"/>
                <a:ea typeface="맑은 고딕"/>
                <a:cs typeface="맑은 고딕"/>
              </a:rPr>
              <a:t>트랙 연관에 실패하면 메모리 트랙으로 바꿈</a:t>
            </a:r>
          </a:p>
          <a:p>
            <a:pPr algn="l">
              <a:lnSpc>
                <a:spcPct val="105000"/>
              </a:lnSpc>
            </a:pPr>
            <a:r>
              <a:rPr sz="1100" b="0">
                <a:solidFill>
                  <a:srgbClr val="4A5A7A"/>
                </a:solidFill>
                <a:latin typeface="맑은 고딕"/>
                <a:ea typeface="맑은 고딕"/>
                <a:cs typeface="맑은 고딕"/>
              </a:rPr>
              <a:t>정한 시간 이상 메모리 상태면 삭제</a:t>
            </a:r>
          </a:p>
        </p:txBody>
      </p:sp>
      <p:sp>
        <p:nvSpPr>
          <p:cNvPr id="11" name="Oval 10"/>
          <p:cNvSpPr/>
          <p:nvPr/>
        </p:nvSpPr>
        <p:spPr>
          <a:xfrm>
            <a:off x="7086600" y="429768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2" name="TextBox 11"/>
          <p:cNvSpPr txBox="1"/>
          <p:nvPr/>
        </p:nvSpPr>
        <p:spPr>
          <a:xfrm>
            <a:off x="7470648" y="4279392"/>
            <a:ext cx="4078224" cy="658368"/>
          </a:xfrm>
          <a:prstGeom prst="rect">
            <a:avLst/>
          </a:prstGeom>
          <a:noFill/>
        </p:spPr>
        <p:txBody>
          <a:bodyPr wrap="square" lIns="0" tIns="0" rIns="0" bIns="0" anchor="t">
            <a:spAutoFit/>
          </a:bodyPr>
          <a:lstStyle/>
          <a:p>
            <a:pPr algn="l">
              <a:lnSpc>
                <a:spcPct val="105000"/>
              </a:lnSpc>
            </a:pPr>
            <a:r>
              <a:rPr sz="1100" b="1">
                <a:solidFill>
                  <a:srgbClr val="1B2740"/>
                </a:solidFill>
                <a:latin typeface="맑은 고딕"/>
                <a:ea typeface="맑은 고딕"/>
                <a:cs typeface="맑은 고딕"/>
              </a:rPr>
              <a:t>특징</a:t>
            </a:r>
          </a:p>
          <a:p>
            <a:pPr algn="l">
              <a:lnSpc>
                <a:spcPct val="105000"/>
              </a:lnSpc>
            </a:pPr>
            <a:r>
              <a:rPr sz="1100" b="0">
                <a:solidFill>
                  <a:srgbClr val="4A5A7A"/>
                </a:solidFill>
                <a:latin typeface="맑은 고딕"/>
                <a:ea typeface="맑은 고딕"/>
                <a:cs typeface="맑은 고딕"/>
              </a:rPr>
              <a:t>성공 · 실패 횟수만 세어 단순하다</a:t>
            </a:r>
          </a:p>
          <a:p>
            <a:pPr algn="l">
              <a:lnSpc>
                <a:spcPct val="105000"/>
              </a:lnSpc>
            </a:pPr>
            <a:r>
              <a:rPr sz="1100" b="0">
                <a:solidFill>
                  <a:srgbClr val="4A5A7A"/>
                </a:solidFill>
                <a:latin typeface="맑은 고딕"/>
                <a:ea typeface="맑은 고딕"/>
                <a:cs typeface="맑은 고딕"/>
              </a:rPr>
              <a:t>트랙 상태를 값 하나로 나타내기는 어렵다</a:t>
            </a:r>
          </a:p>
        </p:txBody>
      </p:sp>
      <p:sp>
        <p:nvSpPr>
          <p:cNvPr id="13" name="Rectangle 12"/>
          <p:cNvSpPr/>
          <p:nvPr/>
        </p:nvSpPr>
        <p:spPr>
          <a:xfrm>
            <a:off x="640080" y="5596128"/>
            <a:ext cx="10908792" cy="502920"/>
          </a:xfrm>
          <a:prstGeom prst="rect">
            <a:avLst/>
          </a:prstGeom>
          <a:solidFill>
            <a:srgbClr val="F7F9FC"/>
          </a:solidFill>
          <a:ln w="9525">
            <a:solidFill>
              <a:srgbClr val="D2D9E5"/>
            </a:solidFill>
          </a:ln>
        </p:spPr>
        <p:txBody>
          <a:bodyPr rtlCol="0" anchor="ctr"/>
          <a:lstStyle/>
          <a:p>
            <a:pPr algn="ctr"/>
          </a:p>
        </p:txBody>
      </p:sp>
      <p:sp>
        <p:nvSpPr>
          <p:cNvPr id="14" name="TextBox 13"/>
          <p:cNvSpPr txBox="1"/>
          <p:nvPr/>
        </p:nvSpPr>
        <p:spPr>
          <a:xfrm>
            <a:off x="822960" y="5596128"/>
            <a:ext cx="10607040" cy="502920"/>
          </a:xfrm>
          <a:prstGeom prst="rect">
            <a:avLst/>
          </a:prstGeom>
          <a:noFill/>
        </p:spPr>
        <p:txBody>
          <a:bodyPr wrap="square" lIns="0" tIns="0" rIns="0" bIns="0" anchor="ctr">
            <a:spAutoFit/>
          </a:bodyPr>
          <a:lstStyle/>
          <a:p>
            <a:pPr algn="l"/>
            <a:r>
              <a:rPr sz="1100" b="1">
                <a:solidFill>
                  <a:srgbClr val="1B2740"/>
                </a:solidFill>
                <a:latin typeface="맑은 고딕"/>
                <a:ea typeface="맑은 고딕"/>
                <a:cs typeface="맑은 고딕"/>
              </a:rPr>
              <a:t>이번 과제는 다음 쪽의 트랙 스코어 방식을 적용했습니다.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02. 트랙 관리</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2.2 트랙 스코어 방식</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트랙마다 TrackScore 와 MemoryScore 를 두고, 점수가 문턱을 넘으면 상태 (TrackState) 를 바꿉니다.</a:t>
            </a:r>
            <a:endParaRPr lang="en-US" sz="1250" dirty="0"/>
          </a:p>
        </p:txBody>
      </p:sp>
      <p:sp>
        <p:nvSpPr>
          <p:cNvPr id="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pic>
        <p:nvPicPr>
          <p:cNvPr id="6" name="Picture 5" descr="fig_state.png"/>
          <p:cNvPicPr>
            <a:picLocks noChangeAspect="1"/>
          </p:cNvPicPr>
          <p:nvPr/>
        </p:nvPicPr>
        <p:blipFill>
          <a:blip r:embed="rId3"/>
          <a:stretch>
            <a:fillRect/>
          </a:stretch>
        </p:blipFill>
        <p:spPr>
          <a:xfrm>
            <a:off x="640080" y="2240280"/>
            <a:ext cx="6400800" cy="3063240"/>
          </a:xfrm>
          <a:prstGeom prst="rect">
            <a:avLst/>
          </a:prstGeom>
        </p:spPr>
      </p:pic>
      <p:sp>
        <p:nvSpPr>
          <p:cNvPr id="7" name="Oval 6"/>
          <p:cNvSpPr/>
          <p:nvPr/>
        </p:nvSpPr>
        <p:spPr>
          <a:xfrm>
            <a:off x="7269480" y="233172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8" name="TextBox 7"/>
          <p:cNvSpPr txBox="1"/>
          <p:nvPr/>
        </p:nvSpPr>
        <p:spPr>
          <a:xfrm>
            <a:off x="7653528" y="2313432"/>
            <a:ext cx="3895344" cy="438912"/>
          </a:xfrm>
          <a:prstGeom prst="rect">
            <a:avLst/>
          </a:prstGeom>
          <a:noFill/>
        </p:spPr>
        <p:txBody>
          <a:bodyPr wrap="square" lIns="0" tIns="0" rIns="0" bIns="0" anchor="t">
            <a:spAutoFit/>
          </a:bodyPr>
          <a:lstStyle/>
          <a:p>
            <a:pPr algn="l">
              <a:lnSpc>
                <a:spcPct val="105000"/>
              </a:lnSpc>
            </a:pPr>
            <a:r>
              <a:rPr sz="1100" b="1">
                <a:solidFill>
                  <a:srgbClr val="1B2740"/>
                </a:solidFill>
                <a:latin typeface="맑은 고딕"/>
                <a:ea typeface="맑은 고딕"/>
                <a:cs typeface="맑은 고딕"/>
              </a:rPr>
              <a:t>TrackState (과제 값)</a:t>
            </a:r>
          </a:p>
          <a:p>
            <a:pPr algn="l">
              <a:lnSpc>
                <a:spcPct val="105000"/>
              </a:lnSpc>
            </a:pPr>
            <a:r>
              <a:rPr sz="1100" b="0">
                <a:solidFill>
                  <a:srgbClr val="4A5A7A"/>
                </a:solidFill>
                <a:latin typeface="맑은 고딕"/>
                <a:ea typeface="맑은 고딕"/>
                <a:cs typeface="맑은 고딕"/>
              </a:rPr>
              <a:t>1 임시,  2 확정,  3 메모리,  4 삭제</a:t>
            </a:r>
          </a:p>
        </p:txBody>
      </p:sp>
      <p:sp>
        <p:nvSpPr>
          <p:cNvPr id="9" name="Oval 8"/>
          <p:cNvSpPr/>
          <p:nvPr/>
        </p:nvSpPr>
        <p:spPr>
          <a:xfrm>
            <a:off x="7269480" y="301752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0" name="TextBox 9"/>
          <p:cNvSpPr txBox="1"/>
          <p:nvPr/>
        </p:nvSpPr>
        <p:spPr>
          <a:xfrm>
            <a:off x="7653528" y="2999232"/>
            <a:ext cx="3895344" cy="658368"/>
          </a:xfrm>
          <a:prstGeom prst="rect">
            <a:avLst/>
          </a:prstGeom>
          <a:noFill/>
        </p:spPr>
        <p:txBody>
          <a:bodyPr wrap="square" lIns="0" tIns="0" rIns="0" bIns="0" anchor="t">
            <a:spAutoFit/>
          </a:bodyPr>
          <a:lstStyle/>
          <a:p>
            <a:pPr algn="l">
              <a:lnSpc>
                <a:spcPct val="105000"/>
              </a:lnSpc>
            </a:pPr>
            <a:r>
              <a:rPr sz="1100" b="1">
                <a:solidFill>
                  <a:srgbClr val="1B2740"/>
                </a:solidFill>
                <a:latin typeface="맑은 고딕"/>
                <a:ea typeface="맑은 고딕"/>
                <a:cs typeface="맑은 고딕"/>
              </a:rPr>
              <a:t>문턱 (과제 값)</a:t>
            </a:r>
          </a:p>
          <a:p>
            <a:pPr algn="l">
              <a:lnSpc>
                <a:spcPct val="105000"/>
              </a:lnSpc>
            </a:pPr>
            <a:r>
              <a:rPr sz="1100" b="0">
                <a:solidFill>
                  <a:srgbClr val="4A5A7A"/>
                </a:solidFill>
                <a:latin typeface="맑은 고딕"/>
                <a:ea typeface="맑은 고딕"/>
                <a:cs typeface="맑은 고딕"/>
              </a:rPr>
              <a:t>임시 트랙 확정 5,  임시 트랙 삭제 0</a:t>
            </a:r>
          </a:p>
          <a:p>
            <a:pPr algn="l">
              <a:lnSpc>
                <a:spcPct val="105000"/>
              </a:lnSpc>
            </a:pPr>
            <a:r>
              <a:rPr sz="1100" b="0">
                <a:solidFill>
                  <a:srgbClr val="4A5A7A"/>
                </a:solidFill>
                <a:latin typeface="맑은 고딕"/>
                <a:ea typeface="맑은 고딕"/>
                <a:cs typeface="맑은 고딕"/>
              </a:rPr>
              <a:t>메모리 트랙 삭제 5</a:t>
            </a:r>
          </a:p>
        </p:txBody>
      </p:sp>
      <p:sp>
        <p:nvSpPr>
          <p:cNvPr id="11" name="Oval 10"/>
          <p:cNvSpPr/>
          <p:nvPr/>
        </p:nvSpPr>
        <p:spPr>
          <a:xfrm>
            <a:off x="7269480" y="393192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2" name="TextBox 11"/>
          <p:cNvSpPr txBox="1"/>
          <p:nvPr/>
        </p:nvSpPr>
        <p:spPr>
          <a:xfrm>
            <a:off x="7653528" y="3913632"/>
            <a:ext cx="3895344" cy="438912"/>
          </a:xfrm>
          <a:prstGeom prst="rect">
            <a:avLst/>
          </a:prstGeom>
          <a:noFill/>
        </p:spPr>
        <p:txBody>
          <a:bodyPr wrap="square" lIns="0" tIns="0" rIns="0" bIns="0" anchor="t">
            <a:spAutoFit/>
          </a:bodyPr>
          <a:lstStyle/>
          <a:p>
            <a:pPr algn="l">
              <a:lnSpc>
                <a:spcPct val="105000"/>
              </a:lnSpc>
            </a:pPr>
            <a:r>
              <a:rPr sz="1100" b="1">
                <a:solidFill>
                  <a:srgbClr val="1B2740"/>
                </a:solidFill>
                <a:latin typeface="맑은 고딕"/>
                <a:ea typeface="맑은 고딕"/>
                <a:cs typeface="맑은 고딕"/>
              </a:rPr>
              <a:t>메모리 트랙이 다시 연관되면</a:t>
            </a:r>
          </a:p>
          <a:p>
            <a:pPr algn="l">
              <a:lnSpc>
                <a:spcPct val="105000"/>
              </a:lnSpc>
            </a:pPr>
            <a:r>
              <a:rPr sz="1100" b="0">
                <a:solidFill>
                  <a:srgbClr val="4A5A7A"/>
                </a:solidFill>
                <a:latin typeface="맑은 고딕"/>
                <a:ea typeface="맑은 고딕"/>
                <a:cs typeface="맑은 고딕"/>
              </a:rPr>
              <a:t>바로 확정 트랙으로, MemoryScore = 0</a:t>
            </a:r>
          </a:p>
        </p:txBody>
      </p:sp>
      <p:sp>
        <p:nvSpPr>
          <p:cNvPr id="13" name="Oval 12"/>
          <p:cNvSpPr/>
          <p:nvPr/>
        </p:nvSpPr>
        <p:spPr>
          <a:xfrm>
            <a:off x="7269480" y="4617720"/>
            <a:ext cx="256032" cy="256032"/>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14" name="TextBox 13"/>
          <p:cNvSpPr txBox="1"/>
          <p:nvPr/>
        </p:nvSpPr>
        <p:spPr>
          <a:xfrm>
            <a:off x="7653528" y="4599432"/>
            <a:ext cx="3895344" cy="658368"/>
          </a:xfrm>
          <a:prstGeom prst="rect">
            <a:avLst/>
          </a:prstGeom>
          <a:noFill/>
        </p:spPr>
        <p:txBody>
          <a:bodyPr wrap="square" lIns="0" tIns="0" rIns="0" bIns="0" anchor="t">
            <a:spAutoFit/>
          </a:bodyPr>
          <a:lstStyle/>
          <a:p>
            <a:pPr algn="l">
              <a:lnSpc>
                <a:spcPct val="105000"/>
              </a:lnSpc>
            </a:pPr>
            <a:r>
              <a:rPr sz="1100" b="1">
                <a:solidFill>
                  <a:srgbClr val="1B2740"/>
                </a:solidFill>
                <a:latin typeface="맑은 고딕"/>
                <a:ea typeface="맑은 고딕"/>
                <a:cs typeface="맑은 고딕"/>
              </a:rPr>
              <a:t>과제에 없어 정한 값</a:t>
            </a:r>
          </a:p>
          <a:p>
            <a:pPr algn="l">
              <a:lnSpc>
                <a:spcPct val="105000"/>
              </a:lnSpc>
            </a:pPr>
            <a:r>
              <a:rPr sz="1100" b="0">
                <a:solidFill>
                  <a:srgbClr val="4A5A7A"/>
                </a:solidFill>
                <a:latin typeface="맑은 고딕"/>
                <a:ea typeface="맑은 고딕"/>
                <a:cs typeface="맑은 고딕"/>
              </a:rPr>
              <a:t>개시 직후 TrackScore 2 (두 플롯으로 만든 트랙)</a:t>
            </a:r>
          </a:p>
          <a:p>
            <a:pPr algn="l">
              <a:lnSpc>
                <a:spcPct val="105000"/>
              </a:lnSpc>
            </a:pPr>
            <a:r>
              <a:rPr sz="1100" b="0">
                <a:solidFill>
                  <a:srgbClr val="4A5A7A"/>
                </a:solidFill>
                <a:latin typeface="맑은 고딕"/>
                <a:ea typeface="맑은 고딕"/>
                <a:cs typeface="맑은 고딕"/>
              </a:rPr>
              <a:t>한 번에 올리고 내리는 양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02. 트랙 관리</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2.3 Assigned_Flag 에 따른 스코어 변화</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Assigned_Flag 는 그 스캔의 트랙 연관 결과입니다 (1 성공, 0 실패). 과제 조건은 연관 기능이 없어 매 스캔 0 입니다.</a:t>
            </a:r>
            <a:endParaRPr lang="en-US" sz="1250" dirty="0"/>
          </a:p>
        </p:txBody>
      </p:sp>
      <p:sp>
        <p:nvSpPr>
          <p:cNvPr id="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pic>
        <p:nvPicPr>
          <p:cNvPr id="6" name="Picture 5" descr="fig_score.png"/>
          <p:cNvPicPr>
            <a:picLocks noChangeAspect="1"/>
          </p:cNvPicPr>
          <p:nvPr/>
        </p:nvPicPr>
        <p:blipFill>
          <a:blip r:embed="rId3"/>
          <a:stretch>
            <a:fillRect/>
          </a:stretch>
        </p:blipFill>
        <p:spPr>
          <a:xfrm>
            <a:off x="640080" y="2240280"/>
            <a:ext cx="10908792" cy="2520939"/>
          </a:xfrm>
          <a:prstGeom prst="rect">
            <a:avLst/>
          </a:prstGeom>
        </p:spPr>
      </p:pic>
      <p:sp>
        <p:nvSpPr>
          <p:cNvPr id="7" name="Oval 6"/>
          <p:cNvSpPr/>
          <p:nvPr/>
        </p:nvSpPr>
        <p:spPr>
          <a:xfrm>
            <a:off x="685800" y="493776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8" name="TextBox 7"/>
          <p:cNvSpPr txBox="1"/>
          <p:nvPr/>
        </p:nvSpPr>
        <p:spPr>
          <a:xfrm>
            <a:off x="1069848" y="4919472"/>
            <a:ext cx="3136392" cy="877824"/>
          </a:xfrm>
          <a:prstGeom prst="rect">
            <a:avLst/>
          </a:prstGeom>
          <a:noFill/>
        </p:spPr>
        <p:txBody>
          <a:bodyPr wrap="square" lIns="0" tIns="0" rIns="0" bIns="0" anchor="t">
            <a:spAutoFit/>
          </a:bodyPr>
          <a:lstStyle/>
          <a:p>
            <a:pPr algn="l">
              <a:lnSpc>
                <a:spcPct val="105000"/>
              </a:lnSpc>
            </a:pPr>
            <a:r>
              <a:rPr sz="1100" b="1">
                <a:solidFill>
                  <a:srgbClr val="1B2740"/>
                </a:solidFill>
                <a:latin typeface="맑은 고딕"/>
                <a:ea typeface="맑은 고딕"/>
                <a:cs typeface="맑은 고딕"/>
              </a:rPr>
              <a:t>처리 순서</a:t>
            </a:r>
          </a:p>
          <a:p>
            <a:pPr algn="l">
              <a:lnSpc>
                <a:spcPct val="105000"/>
              </a:lnSpc>
            </a:pPr>
            <a:r>
              <a:rPr sz="1100" b="0">
                <a:solidFill>
                  <a:srgbClr val="4A5A7A"/>
                </a:solidFill>
                <a:latin typeface="맑은 고딕"/>
                <a:ea typeface="맑은 고딕"/>
                <a:cs typeface="맑은 고딕"/>
              </a:rPr>
              <a:t>기존 트랙을 먼저 판정하고</a:t>
            </a:r>
          </a:p>
          <a:p>
            <a:pPr algn="l">
              <a:lnSpc>
                <a:spcPct val="105000"/>
              </a:lnSpc>
            </a:pPr>
            <a:r>
              <a:rPr sz="1100" b="0">
                <a:solidFill>
                  <a:srgbClr val="4A5A7A"/>
                </a:solidFill>
                <a:latin typeface="맑은 고딕"/>
                <a:ea typeface="맑은 고딕"/>
                <a:cs typeface="맑은 고딕"/>
              </a:rPr>
              <a:t>새 트랙은 그 뒤에 개시</a:t>
            </a:r>
          </a:p>
          <a:p>
            <a:pPr algn="l">
              <a:lnSpc>
                <a:spcPct val="105000"/>
              </a:lnSpc>
            </a:pPr>
            <a:r>
              <a:rPr sz="1100" b="0">
                <a:solidFill>
                  <a:srgbClr val="4A5A7A"/>
                </a:solidFill>
                <a:latin typeface="맑은 고딕"/>
                <a:ea typeface="맑은 고딕"/>
                <a:cs typeface="맑은 고딕"/>
              </a:rPr>
              <a:t>-&gt; 만든 스캔에서는 감점 없음</a:t>
            </a:r>
          </a:p>
        </p:txBody>
      </p:sp>
      <p:sp>
        <p:nvSpPr>
          <p:cNvPr id="9" name="Oval 8"/>
          <p:cNvSpPr/>
          <p:nvPr/>
        </p:nvSpPr>
        <p:spPr>
          <a:xfrm>
            <a:off x="4434840" y="493776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0" name="TextBox 9"/>
          <p:cNvSpPr txBox="1"/>
          <p:nvPr/>
        </p:nvSpPr>
        <p:spPr>
          <a:xfrm>
            <a:off x="4818888" y="4919472"/>
            <a:ext cx="3136392" cy="877824"/>
          </a:xfrm>
          <a:prstGeom prst="rect">
            <a:avLst/>
          </a:prstGeom>
          <a:noFill/>
        </p:spPr>
        <p:txBody>
          <a:bodyPr wrap="square" lIns="0" tIns="0" rIns="0" bIns="0" anchor="t">
            <a:spAutoFit/>
          </a:bodyPr>
          <a:lstStyle/>
          <a:p>
            <a:pPr algn="l">
              <a:lnSpc>
                <a:spcPct val="105000"/>
              </a:lnSpc>
            </a:pPr>
            <a:r>
              <a:rPr sz="1100" b="1">
                <a:solidFill>
                  <a:srgbClr val="1B2740"/>
                </a:solidFill>
                <a:latin typeface="맑은 고딕"/>
                <a:ea typeface="맑은 고딕"/>
                <a:cs typeface="맑은 고딕"/>
              </a:rPr>
              <a:t>과제 조건 (늘 0)</a:t>
            </a:r>
          </a:p>
          <a:p>
            <a:pPr algn="l">
              <a:lnSpc>
                <a:spcPct val="105000"/>
              </a:lnSpc>
            </a:pPr>
            <a:r>
              <a:rPr sz="1100" b="0">
                <a:solidFill>
                  <a:srgbClr val="4A5A7A"/>
                </a:solidFill>
                <a:latin typeface="맑은 고딕"/>
                <a:ea typeface="맑은 고딕"/>
                <a:cs typeface="맑은 고딕"/>
              </a:rPr>
              <a:t>개시 스캔 2, 다음 스캔 1,</a:t>
            </a:r>
          </a:p>
          <a:p>
            <a:pPr algn="l">
              <a:lnSpc>
                <a:spcPct val="105000"/>
              </a:lnSpc>
            </a:pPr>
            <a:r>
              <a:rPr sz="1100" b="0">
                <a:solidFill>
                  <a:srgbClr val="4A5A7A"/>
                </a:solidFill>
                <a:latin typeface="맑은 고딕"/>
                <a:ea typeface="맑은 고딕"/>
                <a:cs typeface="맑은 고딕"/>
              </a:rPr>
              <a:t>그다음 스캔 0 -&gt; 삭제</a:t>
            </a:r>
          </a:p>
          <a:p>
            <a:pPr algn="l">
              <a:lnSpc>
                <a:spcPct val="105000"/>
              </a:lnSpc>
            </a:pPr>
            <a:r>
              <a:rPr sz="1100" b="0">
                <a:solidFill>
                  <a:srgbClr val="4A5A7A"/>
                </a:solidFill>
                <a:latin typeface="맑은 고딕"/>
                <a:ea typeface="맑은 고딕"/>
                <a:cs typeface="맑은 고딕"/>
              </a:rPr>
              <a:t>확정 · 메모리는 나오지 않는다</a:t>
            </a:r>
          </a:p>
        </p:txBody>
      </p:sp>
      <p:sp>
        <p:nvSpPr>
          <p:cNvPr id="11" name="Oval 10"/>
          <p:cNvSpPr/>
          <p:nvPr/>
        </p:nvSpPr>
        <p:spPr>
          <a:xfrm>
            <a:off x="8183879" y="493776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2" name="TextBox 11"/>
          <p:cNvSpPr txBox="1"/>
          <p:nvPr/>
        </p:nvSpPr>
        <p:spPr>
          <a:xfrm>
            <a:off x="8567928" y="4919472"/>
            <a:ext cx="2980944" cy="658368"/>
          </a:xfrm>
          <a:prstGeom prst="rect">
            <a:avLst/>
          </a:prstGeom>
          <a:noFill/>
        </p:spPr>
        <p:txBody>
          <a:bodyPr wrap="square" lIns="0" tIns="0" rIns="0" bIns="0" anchor="t">
            <a:spAutoFit/>
          </a:bodyPr>
          <a:lstStyle/>
          <a:p>
            <a:pPr algn="l">
              <a:lnSpc>
                <a:spcPct val="105000"/>
              </a:lnSpc>
            </a:pPr>
            <a:r>
              <a:rPr sz="1100" b="1">
                <a:solidFill>
                  <a:srgbClr val="1B2740"/>
                </a:solidFill>
                <a:latin typeface="맑은 고딕"/>
                <a:ea typeface="맑은 고딕"/>
                <a:cs typeface="맑은 고딕"/>
              </a:rPr>
              <a:t>확정 · 메모리 확인</a:t>
            </a:r>
          </a:p>
          <a:p>
            <a:pPr algn="l">
              <a:lnSpc>
                <a:spcPct val="105000"/>
              </a:lnSpc>
            </a:pPr>
            <a:r>
              <a:rPr sz="1100" b="0">
                <a:solidFill>
                  <a:srgbClr val="4A5A7A"/>
                </a:solidFill>
                <a:latin typeface="맑은 고딕"/>
                <a:ea typeface="맑은 고딕"/>
                <a:cs typeface="맑은 고딕"/>
              </a:rPr>
              <a:t>연관 결과를 넣어 보는</a:t>
            </a:r>
          </a:p>
          <a:p>
            <a:pPr algn="l">
              <a:lnSpc>
                <a:spcPct val="105000"/>
              </a:lnSpc>
            </a:pPr>
            <a:r>
              <a:rPr sz="1100" b="0">
                <a:solidFill>
                  <a:srgbClr val="4A5A7A"/>
                </a:solidFill>
                <a:latin typeface="맑은 고딕"/>
                <a:ea typeface="맑은 고딕"/>
                <a:cs typeface="맑은 고딕"/>
              </a:rPr>
              <a:t>스코어 확인 창으로 확인 (4.3)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859536" y="914400"/>
            <a:ext cx="9144000" cy="475488"/>
          </a:xfrm>
          <a:prstGeom prst="rect">
            <a:avLst/>
          </a:prstGeom>
          <a:noFill/>
          <a:ln/>
        </p:spPr>
        <p:txBody>
          <a:bodyPr wrap="square" lIns="0" tIns="0" rIns="0" bIns="0" rtlCol="0" anchor="ctr"/>
          <a:lstStyle/>
          <a:p>
            <a:pPr indent="0" marL="0">
              <a:buNone/>
            </a:pPr>
            <a:r>
              <a:rPr lang="en-US" sz="2400" b="1" dirty="0">
                <a:solidFill>
                  <a:srgbClr val="1B2740"/>
                </a:solidFill>
                <a:latin typeface="맑은 고딕" pitchFamily="34" charset="0"/>
                <a:ea typeface="맑은 고딕" pitchFamily="34" charset="-122"/>
                <a:cs typeface="맑은 고딕" pitchFamily="34" charset="-120"/>
              </a:rPr>
              <a:t>03. 구현</a:t>
            </a:r>
            <a:endParaRPr lang="en-US" sz="2400" dirty="0"/>
          </a:p>
        </p:txBody>
      </p:sp>
      <p:sp>
        <p:nvSpPr>
          <p:cNvPr id="3" name="Text 1"/>
          <p:cNvSpPr txBox="1"/>
          <p:nvPr/>
        </p:nvSpPr>
        <p:spPr>
          <a:xfrm>
            <a:off x="859536" y="1444752"/>
            <a:ext cx="10588752" cy="304495"/>
          </a:xfrm>
          <a:prstGeom prst="rect">
            <a:avLst/>
          </a:prstGeom>
          <a:noFill/>
          <a:ln/>
        </p:spPr>
        <p:txBody>
          <a:bodyPr wrap="square" lIns="0" tIns="0" rIns="0" bIns="0" rtlCol="0" anchor="ctr"/>
          <a:lstStyle/>
          <a:p>
            <a:pPr indent="0" marL="0">
              <a:buNone/>
            </a:pPr>
            <a:r>
              <a:rPr lang="en-US" sz="1300" dirty="0">
                <a:solidFill>
                  <a:srgbClr val="1B2740"/>
                </a:solidFill>
                <a:latin typeface="맑은 고딕" pitchFamily="34" charset="0"/>
                <a:ea typeface="맑은 고딕" pitchFamily="34" charset="-122"/>
                <a:cs typeface="맑은 고딕" pitchFamily="34" charset="-120"/>
              </a:rPr>
              <a:t>요구사항이 어느 코드에 있는지 정리하고, 쓰레드 · UDP 구조와 트랙 개시 · 관리 코드를 봅니다.</a:t>
            </a:r>
            <a:endParaRPr lang="en-US" sz="1300" dirty="0"/>
          </a:p>
        </p:txBody>
      </p:sp>
      <p:sp>
        <p:nvSpPr>
          <p:cNvPr id="4" name="Text 2"/>
          <p:cNvSpPr txBox="1"/>
          <p:nvPr/>
        </p:nvSpPr>
        <p:spPr>
          <a:xfrm>
            <a:off x="859536" y="2057400"/>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3.1</a:t>
            </a:r>
            <a:endParaRPr lang="en-US" sz="1400" dirty="0"/>
          </a:p>
        </p:txBody>
      </p:sp>
      <p:sp>
        <p:nvSpPr>
          <p:cNvPr id="5" name="Text 3"/>
          <p:cNvSpPr txBox="1"/>
          <p:nvPr/>
        </p:nvSpPr>
        <p:spPr>
          <a:xfrm>
            <a:off x="1418234" y="2057400"/>
            <a:ext cx="1379982"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요구사항과 구현</a:t>
            </a:r>
            <a:endParaRPr lang="en-US" sz="1400" dirty="0"/>
          </a:p>
        </p:txBody>
      </p:sp>
      <p:sp>
        <p:nvSpPr>
          <p:cNvPr id="6" name="Shape 4"/>
          <p:cNvSpPr/>
          <p:nvPr/>
        </p:nvSpPr>
        <p:spPr>
          <a:xfrm>
            <a:off x="2907030" y="2313432"/>
            <a:ext cx="7700009" cy="0"/>
          </a:xfrm>
          <a:prstGeom prst="line">
            <a:avLst/>
          </a:prstGeom>
          <a:noFill/>
          <a:ln w="15875">
            <a:solidFill>
              <a:srgbClr val="AEB9CC"/>
            </a:solidFill>
            <a:prstDash val="sysDot"/>
          </a:ln>
        </p:spPr>
      </p:sp>
      <p:sp>
        <p:nvSpPr>
          <p:cNvPr id="7" name="Text 5"/>
          <p:cNvSpPr txBox="1"/>
          <p:nvPr/>
        </p:nvSpPr>
        <p:spPr>
          <a:xfrm>
            <a:off x="10736885" y="2057400"/>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14</a:t>
            </a:r>
            <a:endParaRPr lang="en-US" sz="1300" dirty="0"/>
          </a:p>
        </p:txBody>
      </p:sp>
      <p:sp>
        <p:nvSpPr>
          <p:cNvPr id="8" name="Text 2"/>
          <p:cNvSpPr txBox="1"/>
          <p:nvPr/>
        </p:nvSpPr>
        <p:spPr>
          <a:xfrm>
            <a:off x="859536" y="2464308"/>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3.2</a:t>
            </a:r>
            <a:endParaRPr lang="en-US" sz="1400" dirty="0"/>
          </a:p>
        </p:txBody>
      </p:sp>
      <p:sp>
        <p:nvSpPr>
          <p:cNvPr id="9" name="Text 3"/>
          <p:cNvSpPr txBox="1"/>
          <p:nvPr/>
        </p:nvSpPr>
        <p:spPr>
          <a:xfrm>
            <a:off x="1418234" y="2464308"/>
            <a:ext cx="1618234"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쓰레드와 UDP 구조</a:t>
            </a:r>
            <a:endParaRPr lang="en-US" sz="1400" dirty="0"/>
          </a:p>
        </p:txBody>
      </p:sp>
      <p:sp>
        <p:nvSpPr>
          <p:cNvPr id="10" name="Shape 4"/>
          <p:cNvSpPr/>
          <p:nvPr/>
        </p:nvSpPr>
        <p:spPr>
          <a:xfrm>
            <a:off x="3145282" y="2720339"/>
            <a:ext cx="7461757" cy="0"/>
          </a:xfrm>
          <a:prstGeom prst="line">
            <a:avLst/>
          </a:prstGeom>
          <a:noFill/>
          <a:ln w="15875">
            <a:solidFill>
              <a:srgbClr val="AEB9CC"/>
            </a:solidFill>
            <a:prstDash val="sysDot"/>
          </a:ln>
        </p:spPr>
      </p:sp>
      <p:sp>
        <p:nvSpPr>
          <p:cNvPr id="11" name="Text 5"/>
          <p:cNvSpPr txBox="1"/>
          <p:nvPr/>
        </p:nvSpPr>
        <p:spPr>
          <a:xfrm>
            <a:off x="10736885" y="2464308"/>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15</a:t>
            </a:r>
            <a:endParaRPr lang="en-US" sz="1300" dirty="0"/>
          </a:p>
        </p:txBody>
      </p:sp>
      <p:sp>
        <p:nvSpPr>
          <p:cNvPr id="12" name="Text 2"/>
          <p:cNvSpPr txBox="1"/>
          <p:nvPr/>
        </p:nvSpPr>
        <p:spPr>
          <a:xfrm>
            <a:off x="859536" y="2871216"/>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3.3</a:t>
            </a:r>
            <a:endParaRPr lang="en-US" sz="1400" dirty="0"/>
          </a:p>
        </p:txBody>
      </p:sp>
      <p:sp>
        <p:nvSpPr>
          <p:cNvPr id="13" name="Text 3"/>
          <p:cNvSpPr txBox="1"/>
          <p:nvPr/>
        </p:nvSpPr>
        <p:spPr>
          <a:xfrm>
            <a:off x="1418234" y="2871216"/>
            <a:ext cx="2452116"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플롯 메시지 STRUCT_PlotMsg</a:t>
            </a:r>
            <a:endParaRPr lang="en-US" sz="1400" dirty="0"/>
          </a:p>
        </p:txBody>
      </p:sp>
      <p:sp>
        <p:nvSpPr>
          <p:cNvPr id="14" name="Shape 4"/>
          <p:cNvSpPr/>
          <p:nvPr/>
        </p:nvSpPr>
        <p:spPr>
          <a:xfrm>
            <a:off x="3979164" y="3127248"/>
            <a:ext cx="6627875" cy="0"/>
          </a:xfrm>
          <a:prstGeom prst="line">
            <a:avLst/>
          </a:prstGeom>
          <a:noFill/>
          <a:ln w="15875">
            <a:solidFill>
              <a:srgbClr val="AEB9CC"/>
            </a:solidFill>
            <a:prstDash val="sysDot"/>
          </a:ln>
        </p:spPr>
      </p:sp>
      <p:sp>
        <p:nvSpPr>
          <p:cNvPr id="15" name="Text 5"/>
          <p:cNvSpPr txBox="1"/>
          <p:nvPr/>
        </p:nvSpPr>
        <p:spPr>
          <a:xfrm>
            <a:off x="10736885" y="2871216"/>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16</a:t>
            </a:r>
            <a:endParaRPr lang="en-US" sz="1300" dirty="0"/>
          </a:p>
        </p:txBody>
      </p:sp>
      <p:sp>
        <p:nvSpPr>
          <p:cNvPr id="16" name="Text 2"/>
          <p:cNvSpPr txBox="1"/>
          <p:nvPr/>
        </p:nvSpPr>
        <p:spPr>
          <a:xfrm>
            <a:off x="859536" y="3278124"/>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3.4</a:t>
            </a:r>
            <a:endParaRPr lang="en-US" sz="1400" dirty="0"/>
          </a:p>
        </p:txBody>
      </p:sp>
      <p:sp>
        <p:nvSpPr>
          <p:cNvPr id="17" name="Text 3"/>
          <p:cNvSpPr txBox="1"/>
          <p:nvPr/>
        </p:nvSpPr>
        <p:spPr>
          <a:xfrm>
            <a:off x="1418234" y="3278124"/>
            <a:ext cx="3483356"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송신: 플롯 메시지 만들기 (f_Lnk_BuildMsg)</a:t>
            </a:r>
            <a:endParaRPr lang="en-US" sz="1400" dirty="0"/>
          </a:p>
        </p:txBody>
      </p:sp>
      <p:sp>
        <p:nvSpPr>
          <p:cNvPr id="18" name="Shape 4"/>
          <p:cNvSpPr/>
          <p:nvPr/>
        </p:nvSpPr>
        <p:spPr>
          <a:xfrm>
            <a:off x="5010404" y="3534156"/>
            <a:ext cx="5596635" cy="0"/>
          </a:xfrm>
          <a:prstGeom prst="line">
            <a:avLst/>
          </a:prstGeom>
          <a:noFill/>
          <a:ln w="15875">
            <a:solidFill>
              <a:srgbClr val="AEB9CC"/>
            </a:solidFill>
            <a:prstDash val="sysDot"/>
          </a:ln>
        </p:spPr>
      </p:sp>
      <p:sp>
        <p:nvSpPr>
          <p:cNvPr id="19" name="Text 5"/>
          <p:cNvSpPr txBox="1"/>
          <p:nvPr/>
        </p:nvSpPr>
        <p:spPr>
          <a:xfrm>
            <a:off x="10736885" y="3278124"/>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17</a:t>
            </a:r>
            <a:endParaRPr lang="en-US" sz="1300" dirty="0"/>
          </a:p>
        </p:txBody>
      </p:sp>
      <p:sp>
        <p:nvSpPr>
          <p:cNvPr id="20" name="Text 2"/>
          <p:cNvSpPr txBox="1"/>
          <p:nvPr/>
        </p:nvSpPr>
        <p:spPr>
          <a:xfrm>
            <a:off x="859536" y="3685032"/>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3.5</a:t>
            </a:r>
            <a:endParaRPr lang="en-US" sz="1400" dirty="0"/>
          </a:p>
        </p:txBody>
      </p:sp>
      <p:sp>
        <p:nvSpPr>
          <p:cNvPr id="21" name="Text 3"/>
          <p:cNvSpPr txBox="1"/>
          <p:nvPr/>
        </p:nvSpPr>
        <p:spPr>
          <a:xfrm>
            <a:off x="1418234" y="3685032"/>
            <a:ext cx="4102072"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수신: 좌표 변환과 측정 공분산 (f_Lnk_ProcessMsg)</a:t>
            </a:r>
            <a:endParaRPr lang="en-US" sz="1400" dirty="0"/>
          </a:p>
        </p:txBody>
      </p:sp>
      <p:sp>
        <p:nvSpPr>
          <p:cNvPr id="22" name="Shape 4"/>
          <p:cNvSpPr/>
          <p:nvPr/>
        </p:nvSpPr>
        <p:spPr>
          <a:xfrm>
            <a:off x="5629120" y="3941064"/>
            <a:ext cx="4977919" cy="0"/>
          </a:xfrm>
          <a:prstGeom prst="line">
            <a:avLst/>
          </a:prstGeom>
          <a:noFill/>
          <a:ln w="15875">
            <a:solidFill>
              <a:srgbClr val="AEB9CC"/>
            </a:solidFill>
            <a:prstDash val="sysDot"/>
          </a:ln>
        </p:spPr>
      </p:sp>
      <p:sp>
        <p:nvSpPr>
          <p:cNvPr id="23" name="Text 5"/>
          <p:cNvSpPr txBox="1"/>
          <p:nvPr/>
        </p:nvSpPr>
        <p:spPr>
          <a:xfrm>
            <a:off x="10736885" y="3685032"/>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18</a:t>
            </a:r>
            <a:endParaRPr lang="en-US" sz="1300" dirty="0"/>
          </a:p>
        </p:txBody>
      </p:sp>
      <p:sp>
        <p:nvSpPr>
          <p:cNvPr id="24" name="Text 2"/>
          <p:cNvSpPr txBox="1"/>
          <p:nvPr/>
        </p:nvSpPr>
        <p:spPr>
          <a:xfrm>
            <a:off x="859536" y="4091939"/>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3.6</a:t>
            </a:r>
            <a:endParaRPr lang="en-US" sz="1400" dirty="0"/>
          </a:p>
        </p:txBody>
      </p:sp>
      <p:sp>
        <p:nvSpPr>
          <p:cNvPr id="25" name="Text 3"/>
          <p:cNvSpPr txBox="1"/>
          <p:nvPr/>
        </p:nvSpPr>
        <p:spPr>
          <a:xfrm>
            <a:off x="1418234" y="4091939"/>
            <a:ext cx="3545197"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2 Point 개시: 쌍 고르기 (f_Trk_ProcessScan)</a:t>
            </a:r>
            <a:endParaRPr lang="en-US" sz="1400" dirty="0"/>
          </a:p>
        </p:txBody>
      </p:sp>
      <p:sp>
        <p:nvSpPr>
          <p:cNvPr id="26" name="Shape 4"/>
          <p:cNvSpPr/>
          <p:nvPr/>
        </p:nvSpPr>
        <p:spPr>
          <a:xfrm>
            <a:off x="5072245" y="4347972"/>
            <a:ext cx="5534794" cy="0"/>
          </a:xfrm>
          <a:prstGeom prst="line">
            <a:avLst/>
          </a:prstGeom>
          <a:noFill/>
          <a:ln w="15875">
            <a:solidFill>
              <a:srgbClr val="AEB9CC"/>
            </a:solidFill>
            <a:prstDash val="sysDot"/>
          </a:ln>
        </p:spPr>
      </p:sp>
      <p:sp>
        <p:nvSpPr>
          <p:cNvPr id="27" name="Text 5"/>
          <p:cNvSpPr txBox="1"/>
          <p:nvPr/>
        </p:nvSpPr>
        <p:spPr>
          <a:xfrm>
            <a:off x="10736885" y="4091939"/>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19</a:t>
            </a:r>
            <a:endParaRPr lang="en-US" sz="1300" dirty="0"/>
          </a:p>
        </p:txBody>
      </p:sp>
      <p:sp>
        <p:nvSpPr>
          <p:cNvPr id="28" name="Text 2"/>
          <p:cNvSpPr txBox="1"/>
          <p:nvPr/>
        </p:nvSpPr>
        <p:spPr>
          <a:xfrm>
            <a:off x="859536" y="4498848"/>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3.7</a:t>
            </a:r>
            <a:endParaRPr lang="en-US" sz="1400" dirty="0"/>
          </a:p>
        </p:txBody>
      </p:sp>
      <p:sp>
        <p:nvSpPr>
          <p:cNvPr id="29" name="Text 3"/>
          <p:cNvSpPr txBox="1"/>
          <p:nvPr/>
        </p:nvSpPr>
        <p:spPr>
          <a:xfrm>
            <a:off x="1418234" y="4498848"/>
            <a:ext cx="2874641"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2 Point 초기화 (f_Trk_TwoPointInit)</a:t>
            </a:r>
            <a:endParaRPr lang="en-US" sz="1400" dirty="0"/>
          </a:p>
        </p:txBody>
      </p:sp>
      <p:sp>
        <p:nvSpPr>
          <p:cNvPr id="30" name="Shape 4"/>
          <p:cNvSpPr/>
          <p:nvPr/>
        </p:nvSpPr>
        <p:spPr>
          <a:xfrm>
            <a:off x="4401689" y="4754880"/>
            <a:ext cx="6205350" cy="0"/>
          </a:xfrm>
          <a:prstGeom prst="line">
            <a:avLst/>
          </a:prstGeom>
          <a:noFill/>
          <a:ln w="15875">
            <a:solidFill>
              <a:srgbClr val="AEB9CC"/>
            </a:solidFill>
            <a:prstDash val="sysDot"/>
          </a:ln>
        </p:spPr>
      </p:sp>
      <p:sp>
        <p:nvSpPr>
          <p:cNvPr id="31" name="Text 5"/>
          <p:cNvSpPr txBox="1"/>
          <p:nvPr/>
        </p:nvSpPr>
        <p:spPr>
          <a:xfrm>
            <a:off x="10736885" y="4498848"/>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20</a:t>
            </a:r>
            <a:endParaRPr lang="en-US" sz="1300" dirty="0"/>
          </a:p>
        </p:txBody>
      </p:sp>
      <p:sp>
        <p:nvSpPr>
          <p:cNvPr id="32" name="Text 2"/>
          <p:cNvSpPr txBox="1"/>
          <p:nvPr/>
        </p:nvSpPr>
        <p:spPr>
          <a:xfrm>
            <a:off x="859536" y="4905756"/>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3.8</a:t>
            </a:r>
            <a:endParaRPr lang="en-US" sz="1400" dirty="0"/>
          </a:p>
        </p:txBody>
      </p:sp>
      <p:sp>
        <p:nvSpPr>
          <p:cNvPr id="33" name="Text 3"/>
          <p:cNvSpPr txBox="1"/>
          <p:nvPr/>
        </p:nvSpPr>
        <p:spPr>
          <a:xfrm>
            <a:off x="1418234" y="4905756"/>
            <a:ext cx="3059803"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트랙 스코어 로직 (f_Trk_UpdateState)</a:t>
            </a:r>
            <a:endParaRPr lang="en-US" sz="1400" dirty="0"/>
          </a:p>
        </p:txBody>
      </p:sp>
      <p:sp>
        <p:nvSpPr>
          <p:cNvPr id="34" name="Shape 4"/>
          <p:cNvSpPr/>
          <p:nvPr/>
        </p:nvSpPr>
        <p:spPr>
          <a:xfrm>
            <a:off x="4586851" y="5161788"/>
            <a:ext cx="6020188" cy="0"/>
          </a:xfrm>
          <a:prstGeom prst="line">
            <a:avLst/>
          </a:prstGeom>
          <a:noFill/>
          <a:ln w="15875">
            <a:solidFill>
              <a:srgbClr val="AEB9CC"/>
            </a:solidFill>
            <a:prstDash val="sysDot"/>
          </a:ln>
        </p:spPr>
      </p:sp>
      <p:sp>
        <p:nvSpPr>
          <p:cNvPr id="35" name="Text 5"/>
          <p:cNvSpPr txBox="1"/>
          <p:nvPr/>
        </p:nvSpPr>
        <p:spPr>
          <a:xfrm>
            <a:off x="10736885" y="4905756"/>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21</a:t>
            </a:r>
            <a:endParaRPr lang="en-US" sz="1300" dirty="0"/>
          </a:p>
        </p:txBody>
      </p:sp>
      <p:sp>
        <p:nvSpPr>
          <p:cNvPr id="3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3.1 요구사항과 구현</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과제 3 장 (구현) 의 항목을 구현한 곳입니다. 트랙 개시 · 관리는 TrackMgr.c, 플롯 메시지 송수신은 PlotLink.c 에 있습니다.</a:t>
            </a:r>
            <a:endParaRPr lang="en-US" sz="1250" dirty="0"/>
          </a:p>
        </p:txBody>
      </p:sp>
      <p:sp>
        <p:nvSpPr>
          <p:cNvPr id="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graphicFrame>
        <p:nvGraphicFramePr>
          <p:cNvPr id="6" name="Table 5"/>
          <p:cNvGraphicFramePr>
            <a:graphicFrameLocks noGrp="1"/>
          </p:cNvGraphicFramePr>
          <p:nvPr/>
        </p:nvGraphicFramePr>
        <p:xfrm>
          <a:off x="640080" y="2240280"/>
          <a:ext cx="10908792" cy="3675888"/>
        </p:xfrm>
        <a:graphic>
          <a:graphicData uri="http://schemas.openxmlformats.org/drawingml/2006/table">
            <a:tbl>
              <a:tblPr firstRow="1" bandRow="1">
                <a:tableStyleId>{5C22544A-7EE6-4342-B048-85BDC9FD1C3A}</a:tableStyleId>
              </a:tblPr>
              <a:tblGrid>
                <a:gridCol w="3794760"/>
                <a:gridCol w="4160520"/>
                <a:gridCol w="1993392"/>
                <a:gridCol w="960120"/>
              </a:tblGrid>
              <a:tr h="306324">
                <a:tc>
                  <a:txBody>
                    <a:bodyPr/>
                    <a:lstStyle/>
                    <a:p>
                      <a:pPr algn="l"/>
                      <a:r>
                        <a:rPr sz="950" b="1">
                          <a:solidFill>
                            <a:srgbClr val="FFFFFF"/>
                          </a:solidFill>
                          <a:latin typeface="맑은 고딕"/>
                          <a:ea typeface="맑은 고딕"/>
                          <a:cs typeface="맑은 고딕"/>
                        </a:rPr>
                        <a:t>과제 요구사항</a:t>
                      </a:r>
                    </a:p>
                  </a:txBody>
                  <a:tcPr marL="54864" marR="54864" marT="18288" marB="18288" anchor="ctr">
                    <a:solidFill>
                      <a:srgbClr val="1B2740"/>
                    </a:solidFill>
                  </a:tcPr>
                </a:tc>
                <a:tc>
                  <a:txBody>
                    <a:bodyPr/>
                    <a:lstStyle/>
                    <a:p>
                      <a:pPr algn="l"/>
                      <a:r>
                        <a:rPr sz="950" b="1">
                          <a:solidFill>
                            <a:srgbClr val="FFFFFF"/>
                          </a:solidFill>
                          <a:latin typeface="맑은 고딕"/>
                          <a:ea typeface="맑은 고딕"/>
                          <a:cs typeface="맑은 고딕"/>
                        </a:rPr>
                        <a:t>구현</a:t>
                      </a:r>
                    </a:p>
                  </a:txBody>
                  <a:tcPr marL="54864" marR="54864" marT="18288" marB="18288" anchor="ctr">
                    <a:solidFill>
                      <a:srgbClr val="1B2740"/>
                    </a:solidFill>
                  </a:tcPr>
                </a:tc>
                <a:tc>
                  <a:txBody>
                    <a:bodyPr/>
                    <a:lstStyle/>
                    <a:p>
                      <a:pPr algn="l"/>
                      <a:r>
                        <a:rPr sz="950" b="1">
                          <a:solidFill>
                            <a:srgbClr val="FFFFFF"/>
                          </a:solidFill>
                          <a:latin typeface="맑은 고딕"/>
                          <a:ea typeface="맑은 고딕"/>
                          <a:cs typeface="맑은 고딕"/>
                        </a:rPr>
                        <a:t>파일</a:t>
                      </a:r>
                    </a:p>
                  </a:txBody>
                  <a:tcPr marL="54864" marR="54864" marT="18288" marB="18288" anchor="ctr">
                    <a:solidFill>
                      <a:srgbClr val="1B2740"/>
                    </a:solidFill>
                  </a:tcPr>
                </a:tc>
                <a:tc>
                  <a:txBody>
                    <a:bodyPr/>
                    <a:lstStyle/>
                    <a:p>
                      <a:pPr algn="l"/>
                      <a:r>
                        <a:rPr sz="950" b="1">
                          <a:solidFill>
                            <a:srgbClr val="FFFFFF"/>
                          </a:solidFill>
                          <a:latin typeface="맑은 고딕"/>
                          <a:ea typeface="맑은 고딕"/>
                          <a:cs typeface="맑은 고딕"/>
                        </a:rPr>
                        <a:t>쪽</a:t>
                      </a:r>
                    </a:p>
                  </a:txBody>
                  <a:tcPr marL="54864" marR="54864" marT="18288" marB="18288" anchor="ctr">
                    <a:solidFill>
                      <a:srgbClr val="1B2740"/>
                    </a:solidFill>
                  </a:tcPr>
                </a:tc>
              </a:tr>
              <a:tr h="306324">
                <a:tc>
                  <a:txBody>
                    <a:bodyPr/>
                    <a:lstStyle/>
                    <a:p>
                      <a:pPr algn="l"/>
                      <a:r>
                        <a:rPr sz="900" b="0">
                          <a:solidFill>
                            <a:srgbClr val="1B2740"/>
                          </a:solidFill>
                          <a:latin typeface="맑은 고딕"/>
                          <a:ea typeface="맑은 고딕"/>
                          <a:cs typeface="맑은 고딕"/>
                        </a:rPr>
                        <a:t>2 Point 트랙 개시, 상태변수 X_k 9 개</a:t>
                      </a:r>
                    </a:p>
                  </a:txBody>
                  <a:tcPr marL="54864" marR="54864" marT="18288" marB="18288" anchor="ctr">
                    <a:solidFill>
                      <a:srgbClr val="FFFFFF"/>
                    </a:solidFill>
                  </a:tcPr>
                </a:tc>
                <a:tc>
                  <a:txBody>
                    <a:bodyPr/>
                    <a:lstStyle/>
                    <a:p>
                      <a:pPr algn="l"/>
                      <a:r>
                        <a:rPr sz="900" b="0">
                          <a:solidFill>
                            <a:srgbClr val="1B2740"/>
                          </a:solidFill>
                          <a:latin typeface="Consolas"/>
                          <a:ea typeface="Consolas"/>
                          <a:cs typeface="Consolas"/>
                        </a:rPr>
                        <a:t>f_Trk_TwoPointInit</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TrackMgr.c</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20</a:t>
                      </a:r>
                    </a:p>
                  </a:txBody>
                  <a:tcPr marL="54864" marR="54864" marT="18288" marB="18288" anchor="ctr">
                    <a:solidFill>
                      <a:srgbClr val="FFFFFF"/>
                    </a:solidFill>
                  </a:tcPr>
                </a:tc>
              </a:tr>
              <a:tr h="306324">
                <a:tc>
                  <a:txBody>
                    <a:bodyPr/>
                    <a:lstStyle/>
                    <a:p>
                      <a:pPr algn="l"/>
                      <a:r>
                        <a:rPr sz="900" b="0">
                          <a:solidFill>
                            <a:srgbClr val="1B2740"/>
                          </a:solidFill>
                          <a:latin typeface="맑은 고딕"/>
                          <a:ea typeface="맑은 고딕"/>
                          <a:cs typeface="맑은 고딕"/>
                        </a:rPr>
                        <a:t>mat_EstX, mat_EstP 가속도 항 0</a:t>
                      </a:r>
                    </a:p>
                  </a:txBody>
                  <a:tcPr marL="54864" marR="54864" marT="18288" marB="18288" anchor="ctr">
                    <a:solidFill>
                      <a:srgbClr val="F7F9FC"/>
                    </a:solidFill>
                  </a:tcPr>
                </a:tc>
                <a:tc>
                  <a:txBody>
                    <a:bodyPr/>
                    <a:lstStyle/>
                    <a:p>
                      <a:pPr algn="l"/>
                      <a:r>
                        <a:rPr sz="900" b="0">
                          <a:solidFill>
                            <a:srgbClr val="1B2740"/>
                          </a:solidFill>
                          <a:latin typeface="맑은 고딕"/>
                          <a:ea typeface="맑은 고딕"/>
                          <a:cs typeface="맑은 고딕"/>
                        </a:rPr>
                        <a:t>Matrix_initialize 후 위치 · 속도 칸만 채움</a:t>
                      </a:r>
                    </a:p>
                  </a:txBody>
                  <a:tcPr marL="54864" marR="54864" marT="18288" marB="18288" anchor="ctr">
                    <a:solidFill>
                      <a:srgbClr val="F7F9FC"/>
                    </a:solidFill>
                  </a:tcPr>
                </a:tc>
                <a:tc>
                  <a:txBody>
                    <a:bodyPr/>
                    <a:lstStyle/>
                    <a:p>
                      <a:pPr algn="l"/>
                      <a:r>
                        <a:rPr sz="900" b="0">
                          <a:solidFill>
                            <a:srgbClr val="1B2740"/>
                          </a:solidFill>
                          <a:latin typeface="맑은 고딕"/>
                          <a:ea typeface="맑은 고딕"/>
                          <a:cs typeface="맑은 고딕"/>
                        </a:rPr>
                        <a:t>TrackMgr.c</a:t>
                      </a:r>
                    </a:p>
                  </a:txBody>
                  <a:tcPr marL="54864" marR="54864" marT="18288" marB="18288" anchor="ctr">
                    <a:solidFill>
                      <a:srgbClr val="F7F9FC"/>
                    </a:solidFill>
                  </a:tcPr>
                </a:tc>
                <a:tc>
                  <a:txBody>
                    <a:bodyPr/>
                    <a:lstStyle/>
                    <a:p>
                      <a:pPr algn="l"/>
                      <a:r>
                        <a:rPr sz="900" b="0">
                          <a:solidFill>
                            <a:srgbClr val="1B2740"/>
                          </a:solidFill>
                          <a:latin typeface="맑은 고딕"/>
                          <a:ea typeface="맑은 고딕"/>
                          <a:cs typeface="맑은 고딕"/>
                        </a:rPr>
                        <a:t>20</a:t>
                      </a:r>
                    </a:p>
                  </a:txBody>
                  <a:tcPr marL="54864" marR="54864" marT="18288" marB="18288" anchor="ctr">
                    <a:solidFill>
                      <a:srgbClr val="F7F9FC"/>
                    </a:solidFill>
                  </a:tcPr>
                </a:tc>
              </a:tr>
              <a:tr h="306324">
                <a:tc>
                  <a:txBody>
                    <a:bodyPr/>
                    <a:lstStyle/>
                    <a:p>
                      <a:pPr algn="l"/>
                      <a:r>
                        <a:rPr sz="900" b="0">
                          <a:solidFill>
                            <a:srgbClr val="1B2740"/>
                          </a:solidFill>
                          <a:latin typeface="맑은 고딕"/>
                          <a:ea typeface="맑은 고딕"/>
                          <a:cs typeface="맑은 고딕"/>
                        </a:rPr>
                        <a:t>속도 게이팅 V_max = 800 m/s</a:t>
                      </a:r>
                    </a:p>
                  </a:txBody>
                  <a:tcPr marL="54864" marR="54864" marT="18288" marB="18288" anchor="ctr">
                    <a:solidFill>
                      <a:srgbClr val="FFFFFF"/>
                    </a:solidFill>
                  </a:tcPr>
                </a:tc>
                <a:tc>
                  <a:txBody>
                    <a:bodyPr/>
                    <a:lstStyle/>
                    <a:p>
                      <a:pPr algn="l"/>
                      <a:r>
                        <a:rPr sz="900" b="0">
                          <a:solidFill>
                            <a:srgbClr val="1B2740"/>
                          </a:solidFill>
                          <a:latin typeface="Consolas"/>
                          <a:ea typeface="Consolas"/>
                          <a:cs typeface="Consolas"/>
                        </a:rPr>
                        <a:t>f_Trk_ProcessScan,  TRK_VMAX</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TrackMgr.c</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19</a:t>
                      </a:r>
                    </a:p>
                  </a:txBody>
                  <a:tcPr marL="54864" marR="54864" marT="18288" marB="18288" anchor="ctr">
                    <a:solidFill>
                      <a:srgbClr val="FFFFFF"/>
                    </a:solidFill>
                  </a:tcPr>
                </a:tc>
              </a:tr>
              <a:tr h="306324">
                <a:tc>
                  <a:txBody>
                    <a:bodyPr/>
                    <a:lstStyle/>
                    <a:p>
                      <a:pPr algn="l"/>
                      <a:r>
                        <a:rPr sz="900" b="0">
                          <a:solidFill>
                            <a:srgbClr val="1B2740"/>
                          </a:solidFill>
                          <a:latin typeface="맑은 고딕"/>
                          <a:ea typeface="맑은 고딕"/>
                          <a:cs typeface="맑은 고딕"/>
                        </a:rPr>
                        <a:t>트랙 ID 100 ~ 10000</a:t>
                      </a:r>
                    </a:p>
                  </a:txBody>
                  <a:tcPr marL="54864" marR="54864" marT="18288" marB="18288" anchor="ctr">
                    <a:solidFill>
                      <a:srgbClr val="F7F9FC"/>
                    </a:solidFill>
                  </a:tcPr>
                </a:tc>
                <a:tc>
                  <a:txBody>
                    <a:bodyPr/>
                    <a:lstStyle/>
                    <a:p>
                      <a:pPr algn="l"/>
                      <a:r>
                        <a:rPr sz="900" b="0">
                          <a:solidFill>
                            <a:srgbClr val="1B2740"/>
                          </a:solidFill>
                          <a:latin typeface="Consolas"/>
                          <a:ea typeface="Consolas"/>
                          <a:cs typeface="Consolas"/>
                        </a:rPr>
                        <a:t>f_Trk_NewId</a:t>
                      </a:r>
                    </a:p>
                  </a:txBody>
                  <a:tcPr marL="54864" marR="54864" marT="18288" marB="18288" anchor="ctr">
                    <a:solidFill>
                      <a:srgbClr val="F7F9FC"/>
                    </a:solidFill>
                  </a:tcPr>
                </a:tc>
                <a:tc>
                  <a:txBody>
                    <a:bodyPr/>
                    <a:lstStyle/>
                    <a:p>
                      <a:pPr algn="l"/>
                      <a:r>
                        <a:rPr sz="900" b="0">
                          <a:solidFill>
                            <a:srgbClr val="1B2740"/>
                          </a:solidFill>
                          <a:latin typeface="맑은 고딕"/>
                          <a:ea typeface="맑은 고딕"/>
                          <a:cs typeface="맑은 고딕"/>
                        </a:rPr>
                        <a:t>TrackMgr.c</a:t>
                      </a:r>
                    </a:p>
                  </a:txBody>
                  <a:tcPr marL="54864" marR="54864" marT="18288" marB="18288" anchor="ctr">
                    <a:solidFill>
                      <a:srgbClr val="F7F9FC"/>
                    </a:solidFill>
                  </a:tcPr>
                </a:tc>
                <a:tc>
                  <a:txBody>
                    <a:bodyPr/>
                    <a:lstStyle/>
                    <a:p>
                      <a:pPr algn="l"/>
                      <a:r>
                        <a:rPr sz="900" b="0">
                          <a:solidFill>
                            <a:srgbClr val="1B2740"/>
                          </a:solidFill>
                          <a:latin typeface="맑은 고딕"/>
                          <a:ea typeface="맑은 고딕"/>
                          <a:cs typeface="맑은 고딕"/>
                        </a:rPr>
                        <a:t>19</a:t>
                      </a:r>
                    </a:p>
                  </a:txBody>
                  <a:tcPr marL="54864" marR="54864" marT="18288" marB="18288" anchor="ctr">
                    <a:solidFill>
                      <a:srgbClr val="F7F9FC"/>
                    </a:solidFill>
                  </a:tcPr>
                </a:tc>
              </a:tr>
              <a:tr h="306324">
                <a:tc>
                  <a:txBody>
                    <a:bodyPr/>
                    <a:lstStyle/>
                    <a:p>
                      <a:pPr algn="l"/>
                      <a:r>
                        <a:rPr sz="900" b="0">
                          <a:solidFill>
                            <a:srgbClr val="1B2740"/>
                          </a:solidFill>
                          <a:latin typeface="맑은 고딕"/>
                          <a:ea typeface="맑은 고딕"/>
                          <a:cs typeface="맑은 고딕"/>
                        </a:rPr>
                        <a:t>트랙 스코어: 확정 5, 삭제 0, 메모리 삭제 5</a:t>
                      </a:r>
                    </a:p>
                  </a:txBody>
                  <a:tcPr marL="54864" marR="54864" marT="18288" marB="18288" anchor="ctr">
                    <a:solidFill>
                      <a:srgbClr val="FFFFFF"/>
                    </a:solidFill>
                  </a:tcPr>
                </a:tc>
                <a:tc>
                  <a:txBody>
                    <a:bodyPr/>
                    <a:lstStyle/>
                    <a:p>
                      <a:pPr algn="l"/>
                      <a:r>
                        <a:rPr sz="900" b="0">
                          <a:solidFill>
                            <a:srgbClr val="1B2740"/>
                          </a:solidFill>
                          <a:latin typeface="Consolas"/>
                          <a:ea typeface="Consolas"/>
                          <a:cs typeface="Consolas"/>
                        </a:rPr>
                        <a:t>f_Trk_UpdateState</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TrackMgr.c</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21</a:t>
                      </a:r>
                    </a:p>
                  </a:txBody>
                  <a:tcPr marL="54864" marR="54864" marT="18288" marB="18288" anchor="ctr">
                    <a:solidFill>
                      <a:srgbClr val="FFFFFF"/>
                    </a:solidFill>
                  </a:tcPr>
                </a:tc>
              </a:tr>
              <a:tr h="306324">
                <a:tc>
                  <a:txBody>
                    <a:bodyPr/>
                    <a:lstStyle/>
                    <a:p>
                      <a:pPr algn="l"/>
                      <a:r>
                        <a:rPr sz="900" b="0">
                          <a:solidFill>
                            <a:srgbClr val="1B2740"/>
                          </a:solidFill>
                          <a:latin typeface="맑은 고딕"/>
                          <a:ea typeface="맑은 고딕"/>
                          <a:cs typeface="맑은 고딕"/>
                        </a:rPr>
                        <a:t>TrackScore, MemoryScore, TrackState (1 ~ 4)</a:t>
                      </a:r>
                    </a:p>
                  </a:txBody>
                  <a:tcPr marL="54864" marR="54864" marT="18288" marB="18288" anchor="ctr">
                    <a:solidFill>
                      <a:srgbClr val="F7F9FC"/>
                    </a:solidFill>
                  </a:tcPr>
                </a:tc>
                <a:tc>
                  <a:txBody>
                    <a:bodyPr/>
                    <a:lstStyle/>
                    <a:p>
                      <a:pPr algn="l"/>
                      <a:r>
                        <a:rPr sz="900" b="0">
                          <a:solidFill>
                            <a:srgbClr val="1B2740"/>
                          </a:solidFill>
                          <a:latin typeface="Consolas"/>
                          <a:ea typeface="Consolas"/>
                          <a:cs typeface="Consolas"/>
                        </a:rPr>
                        <a:t>ST_Track,  TRK_STATE_*</a:t>
                      </a:r>
                    </a:p>
                  </a:txBody>
                  <a:tcPr marL="54864" marR="54864" marT="18288" marB="18288" anchor="ctr">
                    <a:solidFill>
                      <a:srgbClr val="F7F9FC"/>
                    </a:solidFill>
                  </a:tcPr>
                </a:tc>
                <a:tc>
                  <a:txBody>
                    <a:bodyPr/>
                    <a:lstStyle/>
                    <a:p>
                      <a:pPr algn="l"/>
                      <a:r>
                        <a:rPr sz="900" b="0">
                          <a:solidFill>
                            <a:srgbClr val="1B2740"/>
                          </a:solidFill>
                          <a:latin typeface="맑은 고딕"/>
                          <a:ea typeface="맑은 고딕"/>
                          <a:cs typeface="맑은 고딕"/>
                        </a:rPr>
                        <a:t>TrackMgr.h</a:t>
                      </a:r>
                    </a:p>
                  </a:txBody>
                  <a:tcPr marL="54864" marR="54864" marT="18288" marB="18288" anchor="ctr">
                    <a:solidFill>
                      <a:srgbClr val="F7F9FC"/>
                    </a:solidFill>
                  </a:tcPr>
                </a:tc>
                <a:tc>
                  <a:txBody>
                    <a:bodyPr/>
                    <a:lstStyle/>
                    <a:p>
                      <a:pPr algn="l"/>
                      <a:r>
                        <a:rPr sz="900" b="0">
                          <a:solidFill>
                            <a:srgbClr val="1B2740"/>
                          </a:solidFill>
                          <a:latin typeface="맑은 고딕"/>
                          <a:ea typeface="맑은 고딕"/>
                          <a:cs typeface="맑은 고딕"/>
                        </a:rPr>
                        <a:t>21</a:t>
                      </a:r>
                    </a:p>
                  </a:txBody>
                  <a:tcPr marL="54864" marR="54864" marT="18288" marB="18288" anchor="ctr">
                    <a:solidFill>
                      <a:srgbClr val="F7F9FC"/>
                    </a:solidFill>
                  </a:tcPr>
                </a:tc>
              </a:tr>
              <a:tr h="306324">
                <a:tc>
                  <a:txBody>
                    <a:bodyPr/>
                    <a:lstStyle/>
                    <a:p>
                      <a:pPr algn="l"/>
                      <a:r>
                        <a:rPr sz="900" b="0">
                          <a:solidFill>
                            <a:srgbClr val="1B2740"/>
                          </a:solidFill>
                          <a:latin typeface="맑은 고딕"/>
                          <a:ea typeface="맑은 고딕"/>
                          <a:cs typeface="맑은 고딕"/>
                        </a:rPr>
                        <a:t>안테나 구좌표 플롯 메시지를 수신 쓰레드로</a:t>
                      </a:r>
                    </a:p>
                  </a:txBody>
                  <a:tcPr marL="54864" marR="54864" marT="18288" marB="18288" anchor="ctr">
                    <a:solidFill>
                      <a:srgbClr val="FFFFFF"/>
                    </a:solidFill>
                  </a:tcPr>
                </a:tc>
                <a:tc>
                  <a:txBody>
                    <a:bodyPr/>
                    <a:lstStyle/>
                    <a:p>
                      <a:pPr algn="l"/>
                      <a:r>
                        <a:rPr sz="900" b="0">
                          <a:solidFill>
                            <a:srgbClr val="1B2740"/>
                          </a:solidFill>
                          <a:latin typeface="Consolas"/>
                          <a:ea typeface="Consolas"/>
                          <a:cs typeface="Consolas"/>
                        </a:rPr>
                        <a:t>STRUCT_PlotMsg,  f_Lnk_TxThread / RxThread</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Idd.h, PlotLink.c</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15 ~ 18</a:t>
                      </a:r>
                    </a:p>
                  </a:txBody>
                  <a:tcPr marL="54864" marR="54864" marT="18288" marB="18288" anchor="ctr">
                    <a:solidFill>
                      <a:srgbClr val="FFFFFF"/>
                    </a:solidFill>
                  </a:tcPr>
                </a:tc>
              </a:tr>
              <a:tr h="306324">
                <a:tc>
                  <a:txBody>
                    <a:bodyPr/>
                    <a:lstStyle/>
                    <a:p>
                      <a:pPr algn="l"/>
                      <a:r>
                        <a:rPr sz="900" b="0">
                          <a:solidFill>
                            <a:srgbClr val="1B2740"/>
                          </a:solidFill>
                          <a:latin typeface="맑은 고딕"/>
                          <a:ea typeface="맑은 고딕"/>
                          <a:cs typeface="맑은 고딕"/>
                        </a:rPr>
                        <a:t>표적 플롯 + 클러터, 플롯 ID 10000 ~ 1000000</a:t>
                      </a:r>
                    </a:p>
                  </a:txBody>
                  <a:tcPr marL="54864" marR="54864" marT="18288" marB="18288" anchor="ctr">
                    <a:solidFill>
                      <a:srgbClr val="F7F9FC"/>
                    </a:solidFill>
                  </a:tcPr>
                </a:tc>
                <a:tc>
                  <a:txBody>
                    <a:bodyPr/>
                    <a:lstStyle/>
                    <a:p>
                      <a:pPr algn="l"/>
                      <a:r>
                        <a:rPr sz="900" b="0">
                          <a:solidFill>
                            <a:srgbClr val="1B2740"/>
                          </a:solidFill>
                          <a:latin typeface="Consolas"/>
                          <a:ea typeface="Consolas"/>
                          <a:cs typeface="Consolas"/>
                        </a:rPr>
                        <a:t>f_Lnk_BuildMsg</a:t>
                      </a:r>
                    </a:p>
                  </a:txBody>
                  <a:tcPr marL="54864" marR="54864" marT="18288" marB="18288" anchor="ctr">
                    <a:solidFill>
                      <a:srgbClr val="F7F9FC"/>
                    </a:solidFill>
                  </a:tcPr>
                </a:tc>
                <a:tc>
                  <a:txBody>
                    <a:bodyPr/>
                    <a:lstStyle/>
                    <a:p>
                      <a:pPr algn="l"/>
                      <a:r>
                        <a:rPr sz="900" b="0">
                          <a:solidFill>
                            <a:srgbClr val="1B2740"/>
                          </a:solidFill>
                          <a:latin typeface="맑은 고딕"/>
                          <a:ea typeface="맑은 고딕"/>
                          <a:cs typeface="맑은 고딕"/>
                        </a:rPr>
                        <a:t>PlotLink.c</a:t>
                      </a:r>
                    </a:p>
                  </a:txBody>
                  <a:tcPr marL="54864" marR="54864" marT="18288" marB="18288" anchor="ctr">
                    <a:solidFill>
                      <a:srgbClr val="F7F9FC"/>
                    </a:solidFill>
                  </a:tcPr>
                </a:tc>
                <a:tc>
                  <a:txBody>
                    <a:bodyPr/>
                    <a:lstStyle/>
                    <a:p>
                      <a:pPr algn="l"/>
                      <a:r>
                        <a:rPr sz="900" b="0">
                          <a:solidFill>
                            <a:srgbClr val="1B2740"/>
                          </a:solidFill>
                          <a:latin typeface="맑은 고딕"/>
                          <a:ea typeface="맑은 고딕"/>
                          <a:cs typeface="맑은 고딕"/>
                        </a:rPr>
                        <a:t>17</a:t>
                      </a:r>
                    </a:p>
                  </a:txBody>
                  <a:tcPr marL="54864" marR="54864" marT="18288" marB="18288" anchor="ctr">
                    <a:solidFill>
                      <a:srgbClr val="F7F9FC"/>
                    </a:solidFill>
                  </a:tcPr>
                </a:tc>
              </a:tr>
              <a:tr h="306324">
                <a:tc>
                  <a:txBody>
                    <a:bodyPr/>
                    <a:lstStyle/>
                    <a:p>
                      <a:pPr algn="l"/>
                      <a:r>
                        <a:rPr sz="900" b="0">
                          <a:solidFill>
                            <a:srgbClr val="1B2740"/>
                          </a:solidFill>
                          <a:latin typeface="맑은 고딕"/>
                          <a:ea typeface="맑은 고딕"/>
                          <a:cs typeface="맑은 고딕"/>
                        </a:rPr>
                        <a:t>UDP 또는 TCP/IP 전송</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UDP (과제 1 소켓 함수의 UDP 부분)</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PlotLink.c</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15</a:t>
                      </a:r>
                    </a:p>
                  </a:txBody>
                  <a:tcPr marL="54864" marR="54864" marT="18288" marB="18288" anchor="ctr">
                    <a:solidFill>
                      <a:srgbClr val="FFFFFF"/>
                    </a:solidFill>
                  </a:tcPr>
                </a:tc>
              </a:tr>
              <a:tr h="306324">
                <a:tc>
                  <a:txBody>
                    <a:bodyPr/>
                    <a:lstStyle/>
                    <a:p>
                      <a:pPr algn="l"/>
                      <a:r>
                        <a:rPr sz="900" b="0">
                          <a:solidFill>
                            <a:srgbClr val="1B2740"/>
                          </a:solidFill>
                          <a:latin typeface="맑은 고딕"/>
                          <a:ea typeface="맑은 고딕"/>
                          <a:cs typeface="맑은 고딕"/>
                        </a:rPr>
                        <a:t>매 스캔 Assigned_Flag = 0 (성공 1)</a:t>
                      </a:r>
                    </a:p>
                  </a:txBody>
                  <a:tcPr marL="54864" marR="54864" marT="18288" marB="18288" anchor="ctr">
                    <a:solidFill>
                      <a:srgbClr val="F7F9FC"/>
                    </a:solidFill>
                  </a:tcPr>
                </a:tc>
                <a:tc>
                  <a:txBody>
                    <a:bodyPr/>
                    <a:lstStyle/>
                    <a:p>
                      <a:pPr algn="l"/>
                      <a:r>
                        <a:rPr sz="900" b="0">
                          <a:solidFill>
                            <a:srgbClr val="1B2740"/>
                          </a:solidFill>
                          <a:latin typeface="맑은 고딕"/>
                          <a:ea typeface="맑은 고딕"/>
                          <a:cs typeface="맑은 고딕"/>
                        </a:rPr>
                        <a:t>f_Trk_ProcessScan 첫 단계</a:t>
                      </a:r>
                    </a:p>
                  </a:txBody>
                  <a:tcPr marL="54864" marR="54864" marT="18288" marB="18288" anchor="ctr">
                    <a:solidFill>
                      <a:srgbClr val="F7F9FC"/>
                    </a:solidFill>
                  </a:tcPr>
                </a:tc>
                <a:tc>
                  <a:txBody>
                    <a:bodyPr/>
                    <a:lstStyle/>
                    <a:p>
                      <a:pPr algn="l"/>
                      <a:r>
                        <a:rPr sz="900" b="0">
                          <a:solidFill>
                            <a:srgbClr val="1B2740"/>
                          </a:solidFill>
                          <a:latin typeface="맑은 고딕"/>
                          <a:ea typeface="맑은 고딕"/>
                          <a:cs typeface="맑은 고딕"/>
                        </a:rPr>
                        <a:t>TrackMgr.c</a:t>
                      </a:r>
                    </a:p>
                  </a:txBody>
                  <a:tcPr marL="54864" marR="54864" marT="18288" marB="18288" anchor="ctr">
                    <a:solidFill>
                      <a:srgbClr val="F7F9FC"/>
                    </a:solidFill>
                  </a:tcPr>
                </a:tc>
                <a:tc>
                  <a:txBody>
                    <a:bodyPr/>
                    <a:lstStyle/>
                    <a:p>
                      <a:pPr algn="l"/>
                      <a:r>
                        <a:rPr sz="900" b="0">
                          <a:solidFill>
                            <a:srgbClr val="1B2740"/>
                          </a:solidFill>
                          <a:latin typeface="맑은 고딕"/>
                          <a:ea typeface="맑은 고딕"/>
                          <a:cs typeface="맑은 고딕"/>
                        </a:rPr>
                        <a:t>19</a:t>
                      </a:r>
                    </a:p>
                  </a:txBody>
                  <a:tcPr marL="54864" marR="54864" marT="18288" marB="18288" anchor="ctr">
                    <a:solidFill>
                      <a:srgbClr val="F7F9FC"/>
                    </a:solidFill>
                  </a:tcPr>
                </a:tc>
              </a:tr>
              <a:tr h="306324">
                <a:tc>
                  <a:txBody>
                    <a:bodyPr/>
                    <a:lstStyle/>
                    <a:p>
                      <a:pPr algn="l"/>
                      <a:r>
                        <a:rPr sz="900" b="0">
                          <a:solidFill>
                            <a:srgbClr val="1B2740"/>
                          </a:solidFill>
                          <a:latin typeface="맑은 고딕"/>
                          <a:ea typeface="맑은 고딕"/>
                          <a:cs typeface="맑은 고딕"/>
                        </a:rPr>
                        <a:t>True, Plot, Track 심볼 2D · 3D 전시</a:t>
                      </a:r>
                    </a:p>
                  </a:txBody>
                  <a:tcPr marL="54864" marR="54864" marT="18288" marB="18288" anchor="ctr">
                    <a:solidFill>
                      <a:srgbClr val="FFFFFF"/>
                    </a:solidFill>
                  </a:tcPr>
                </a:tc>
                <a:tc>
                  <a:txBody>
                    <a:bodyPr/>
                    <a:lstStyle/>
                    <a:p>
                      <a:pPr algn="l"/>
                      <a:r>
                        <a:rPr sz="900" b="0">
                          <a:solidFill>
                            <a:srgbClr val="1B2740"/>
                          </a:solidFill>
                          <a:latin typeface="Consolas"/>
                          <a:ea typeface="Consolas"/>
                          <a:cs typeface="Consolas"/>
                        </a:rPr>
                        <a:t>CTrajectoryPlot,  CTrackView3D</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TrajectoryPlot.cpp</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23 ~ 24</a:t>
                      </a:r>
                    </a:p>
                  </a:txBody>
                  <a:tcPr marL="54864" marR="54864" marT="18288" marB="18288" anchor="ct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3.2 쓰레드와 UDP 구조</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과제 4 의 측정 모의 결과를 신호처리가 내보내는 플롯으로 보고, 송신 쓰레드가 스캔마다 UDP 로 보내 수신 쓰레드 (데이터 처리) 가 처리합니다.</a:t>
            </a:r>
            <a:endParaRPr lang="en-US" sz="1250" dirty="0"/>
          </a:p>
        </p:txBody>
      </p:sp>
      <p:sp>
        <p:nvSpPr>
          <p:cNvPr id="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pic>
        <p:nvPicPr>
          <p:cNvPr id="6" name="Picture 5" descr="fig_arch.png"/>
          <p:cNvPicPr>
            <a:picLocks noChangeAspect="1"/>
          </p:cNvPicPr>
          <p:nvPr/>
        </p:nvPicPr>
        <p:blipFill>
          <a:blip r:embed="rId3"/>
          <a:stretch>
            <a:fillRect/>
          </a:stretch>
        </p:blipFill>
        <p:spPr>
          <a:xfrm>
            <a:off x="640080" y="2240280"/>
            <a:ext cx="10908792" cy="2475104"/>
          </a:xfrm>
          <a:prstGeom prst="rect">
            <a:avLst/>
          </a:prstGeom>
        </p:spPr>
      </p:pic>
      <p:sp>
        <p:nvSpPr>
          <p:cNvPr id="7" name="Oval 6"/>
          <p:cNvSpPr/>
          <p:nvPr/>
        </p:nvSpPr>
        <p:spPr>
          <a:xfrm>
            <a:off x="685800" y="489204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8" name="TextBox 7"/>
          <p:cNvSpPr txBox="1"/>
          <p:nvPr/>
        </p:nvSpPr>
        <p:spPr>
          <a:xfrm>
            <a:off x="1069848" y="4873752"/>
            <a:ext cx="3182112" cy="877824"/>
          </a:xfrm>
          <a:prstGeom prst="rect">
            <a:avLst/>
          </a:prstGeom>
          <a:noFill/>
        </p:spPr>
        <p:txBody>
          <a:bodyPr wrap="square" lIns="0" tIns="0" rIns="0" bIns="0" anchor="t">
            <a:spAutoFit/>
          </a:bodyPr>
          <a:lstStyle/>
          <a:p>
            <a:pPr algn="l">
              <a:lnSpc>
                <a:spcPct val="105000"/>
              </a:lnSpc>
            </a:pPr>
            <a:r>
              <a:rPr sz="1100" b="1">
                <a:solidFill>
                  <a:srgbClr val="1B2740"/>
                </a:solidFill>
                <a:latin typeface="맑은 고딕"/>
                <a:ea typeface="맑은 고딕"/>
                <a:cs typeface="맑은 고딕"/>
              </a:rPr>
              <a:t>송신 쓰레드</a:t>
            </a:r>
          </a:p>
          <a:p>
            <a:pPr algn="l">
              <a:lnSpc>
                <a:spcPct val="105000"/>
              </a:lnSpc>
            </a:pPr>
            <a:r>
              <a:rPr sz="1100" b="0">
                <a:solidFill>
                  <a:srgbClr val="4A5A7A"/>
                </a:solidFill>
                <a:latin typeface="맑은 고딕"/>
                <a:ea typeface="맑은 고딕"/>
                <a:cs typeface="맑은 고딕"/>
              </a:rPr>
              <a:t>과제 1 에서 Winsock2 로 옮긴 UDP 함수</a:t>
            </a:r>
          </a:p>
          <a:p>
            <a:pPr algn="l">
              <a:lnSpc>
                <a:spcPct val="105000"/>
              </a:lnSpc>
            </a:pPr>
            <a:r>
              <a:rPr sz="1100" b="0">
                <a:solidFill>
                  <a:srgbClr val="4A5A7A"/>
                </a:solidFill>
                <a:latin typeface="맑은 고딕"/>
                <a:ea typeface="맑은 고딕"/>
                <a:cs typeface="맑은 고딕"/>
              </a:rPr>
              <a:t>스캔 하나 = 데이터그램 하나</a:t>
            </a:r>
          </a:p>
          <a:p>
            <a:pPr algn="l">
              <a:lnSpc>
                <a:spcPct val="105000"/>
              </a:lnSpc>
            </a:pPr>
            <a:r>
              <a:rPr sz="1100" b="0">
                <a:solidFill>
                  <a:srgbClr val="4A5A7A"/>
                </a:solidFill>
                <a:latin typeface="맑은 고딕"/>
                <a:ea typeface="맑은 고딕"/>
                <a:cs typeface="맑은 고딕"/>
              </a:rPr>
              <a:t>수신 버퍼 8 MB, 밀리면 기다림</a:t>
            </a:r>
          </a:p>
        </p:txBody>
      </p:sp>
      <p:sp>
        <p:nvSpPr>
          <p:cNvPr id="9" name="Oval 8"/>
          <p:cNvSpPr/>
          <p:nvPr/>
        </p:nvSpPr>
        <p:spPr>
          <a:xfrm>
            <a:off x="4434840" y="489204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0" name="TextBox 9"/>
          <p:cNvSpPr txBox="1"/>
          <p:nvPr/>
        </p:nvSpPr>
        <p:spPr>
          <a:xfrm>
            <a:off x="4818888" y="4873752"/>
            <a:ext cx="3182112" cy="877824"/>
          </a:xfrm>
          <a:prstGeom prst="rect">
            <a:avLst/>
          </a:prstGeom>
          <a:noFill/>
        </p:spPr>
        <p:txBody>
          <a:bodyPr wrap="square" lIns="0" tIns="0" rIns="0" bIns="0" anchor="t">
            <a:spAutoFit/>
          </a:bodyPr>
          <a:lstStyle/>
          <a:p>
            <a:pPr algn="l">
              <a:lnSpc>
                <a:spcPct val="105000"/>
              </a:lnSpc>
            </a:pPr>
            <a:r>
              <a:rPr sz="1100" b="1">
                <a:solidFill>
                  <a:srgbClr val="1B2740"/>
                </a:solidFill>
                <a:latin typeface="맑은 고딕"/>
                <a:ea typeface="맑은 고딕"/>
                <a:cs typeface="맑은 고딕"/>
              </a:rPr>
              <a:t>수신 쓰레드</a:t>
            </a:r>
          </a:p>
          <a:p>
            <a:pPr algn="l">
              <a:lnSpc>
                <a:spcPct val="105000"/>
              </a:lnSpc>
            </a:pPr>
            <a:r>
              <a:rPr sz="1100" b="0">
                <a:solidFill>
                  <a:srgbClr val="4A5A7A"/>
                </a:solidFill>
                <a:latin typeface="맑은 고딕"/>
                <a:ea typeface="맑은 고딕"/>
                <a:cs typeface="맑은 고딕"/>
              </a:rPr>
              <a:t>수신 대기는 100 ms 마다 끊어</a:t>
            </a:r>
          </a:p>
          <a:p>
            <a:pPr algn="l">
              <a:lnSpc>
                <a:spcPct val="105000"/>
              </a:lnSpc>
            </a:pPr>
            <a:r>
              <a:rPr sz="1100" b="0">
                <a:solidFill>
                  <a:srgbClr val="4A5A7A"/>
                </a:solidFill>
                <a:latin typeface="맑은 고딕"/>
                <a:ea typeface="맑은 고딕"/>
                <a:cs typeface="맑은 고딕"/>
              </a:rPr>
              <a:t>멈춤 신호를 확인</a:t>
            </a:r>
          </a:p>
          <a:p>
            <a:pPr algn="l">
              <a:lnSpc>
                <a:spcPct val="105000"/>
              </a:lnSpc>
            </a:pPr>
            <a:r>
              <a:rPr sz="1100" b="0">
                <a:solidFill>
                  <a:srgbClr val="4A5A7A"/>
                </a:solidFill>
                <a:latin typeface="맑은 고딕"/>
                <a:ea typeface="맑은 고딕"/>
                <a:cs typeface="맑은 고딕"/>
              </a:rPr>
              <a:t>스캔 번호로 빠진 스캔을 셈</a:t>
            </a:r>
          </a:p>
        </p:txBody>
      </p:sp>
      <p:sp>
        <p:nvSpPr>
          <p:cNvPr id="11" name="Oval 10"/>
          <p:cNvSpPr/>
          <p:nvPr/>
        </p:nvSpPr>
        <p:spPr>
          <a:xfrm>
            <a:off x="8183879" y="489204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2" name="TextBox 11"/>
          <p:cNvSpPr txBox="1"/>
          <p:nvPr/>
        </p:nvSpPr>
        <p:spPr>
          <a:xfrm>
            <a:off x="8567928" y="4873752"/>
            <a:ext cx="2980944" cy="877824"/>
          </a:xfrm>
          <a:prstGeom prst="rect">
            <a:avLst/>
          </a:prstGeom>
          <a:noFill/>
        </p:spPr>
        <p:txBody>
          <a:bodyPr wrap="square" lIns="0" tIns="0" rIns="0" bIns="0" anchor="t">
            <a:spAutoFit/>
          </a:bodyPr>
          <a:lstStyle/>
          <a:p>
            <a:pPr algn="l">
              <a:lnSpc>
                <a:spcPct val="105000"/>
              </a:lnSpc>
            </a:pPr>
            <a:r>
              <a:rPr sz="1100" b="1">
                <a:solidFill>
                  <a:srgbClr val="1B2740"/>
                </a:solidFill>
                <a:latin typeface="맑은 고딕"/>
                <a:ea typeface="맑은 고딕"/>
                <a:cs typeface="맑은 고딕"/>
              </a:rPr>
              <a:t>UI</a:t>
            </a:r>
          </a:p>
          <a:p>
            <a:pPr algn="l">
              <a:lnSpc>
                <a:spcPct val="105000"/>
              </a:lnSpc>
            </a:pPr>
            <a:r>
              <a:rPr sz="1100" b="0">
                <a:solidFill>
                  <a:srgbClr val="4A5A7A"/>
                </a:solidFill>
                <a:latin typeface="맑은 고딕"/>
                <a:ea typeface="맑은 고딕"/>
                <a:cs typeface="맑은 고딕"/>
              </a:rPr>
              <a:t>50 ms 타이머로 처리된 스캔을</a:t>
            </a:r>
          </a:p>
          <a:p>
            <a:pPr algn="l">
              <a:lnSpc>
                <a:spcPct val="105000"/>
              </a:lnSpc>
            </a:pPr>
            <a:r>
              <a:rPr sz="1100" b="0">
                <a:solidFill>
                  <a:srgbClr val="4A5A7A"/>
                </a:solidFill>
                <a:latin typeface="맑은 고딕"/>
                <a:ea typeface="맑은 고딕"/>
                <a:cs typeface="맑은 고딕"/>
              </a:rPr>
              <a:t>가져와 그림과 표를 그림</a:t>
            </a:r>
          </a:p>
          <a:p>
            <a:pPr algn="l">
              <a:lnSpc>
                <a:spcPct val="105000"/>
              </a:lnSpc>
            </a:pPr>
            <a:r>
              <a:rPr sz="1100" b="0">
                <a:solidFill>
                  <a:srgbClr val="4A5A7A"/>
                </a:solidFill>
                <a:latin typeface="맑은 고딕"/>
                <a:ea typeface="맑은 고딕"/>
                <a:cs typeface="맑은 고딕"/>
              </a:rPr>
              <a:t>결과는 잠금 안에서 복사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3.3 플롯 메시지 STRUCT_PlotMsg</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참고 소스 코드의 Idd.h 는 STRUCT_PlotInfo 의 Y_Body 에서 끊겨 있어 나머지와 메시지 구조체를 이어 썼습니다.</a:t>
            </a:r>
            <a:endParaRPr lang="en-US" sz="1250" dirty="0"/>
          </a:p>
        </p:txBody>
      </p:sp>
      <p:sp>
        <p:nvSpPr>
          <p:cNvPr id="5" name="TextBox 4"/>
          <p:cNvSpPr txBox="1"/>
          <p:nvPr/>
        </p:nvSpPr>
        <p:spPr>
          <a:xfrm>
            <a:off x="6675120" y="1216152"/>
            <a:ext cx="4873752" cy="438912"/>
          </a:xfrm>
          <a:prstGeom prst="rect">
            <a:avLst/>
          </a:prstGeom>
          <a:noFill/>
        </p:spPr>
        <p:txBody>
          <a:bodyPr wrap="square" lIns="0" tIns="0" rIns="0" bIns="0" anchor="ctr">
            <a:spAutoFit/>
          </a:bodyPr>
          <a:lstStyle/>
          <a:p>
            <a:pPr algn="r"/>
            <a:r>
              <a:rPr sz="1000" b="0">
                <a:solidFill>
                  <a:srgbClr val="8794AC"/>
                </a:solidFill>
                <a:latin typeface="Consolas"/>
                <a:ea typeface="Consolas"/>
                <a:cs typeface="Consolas"/>
              </a:rPr>
              <a:t>TargetSimCore/include/Idd.h</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TextBox 6"/>
          <p:cNvSpPr txBox="1"/>
          <p:nvPr/>
        </p:nvSpPr>
        <p:spPr>
          <a:xfrm>
            <a:off x="640080" y="2231136"/>
            <a:ext cx="5212080"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플롯 하나</a:t>
            </a:r>
            <a:r>
              <a:rPr sz="950" b="0">
                <a:solidFill>
                  <a:srgbClr val="8794AC"/>
                </a:solidFill>
                <a:latin typeface="Consolas"/>
                <a:ea typeface="Consolas"/>
                <a:cs typeface="Consolas"/>
              </a:rPr>
              <a:t>    STRUCT_PlotInfo</a:t>
            </a:r>
          </a:p>
        </p:txBody>
      </p:sp>
      <p:sp>
        <p:nvSpPr>
          <p:cNvPr id="8" name="Rectangle 7"/>
          <p:cNvSpPr/>
          <p:nvPr/>
        </p:nvSpPr>
        <p:spPr>
          <a:xfrm>
            <a:off x="640080" y="2487168"/>
            <a:ext cx="5257800" cy="3657092"/>
          </a:xfrm>
          <a:prstGeom prst="rect">
            <a:avLst/>
          </a:prstGeom>
          <a:solidFill>
            <a:srgbClr val="FFFFFF"/>
          </a:solidFill>
          <a:ln w="9525">
            <a:solidFill>
              <a:srgbClr val="D2D9E5"/>
            </a:solidFill>
          </a:ln>
        </p:spPr>
        <p:txBody>
          <a:bodyPr rtlCol="0" anchor="ctr"/>
          <a:lstStyle/>
          <a:p>
            <a:pPr algn="ctr"/>
          </a:p>
        </p:txBody>
      </p:sp>
      <p:sp>
        <p:nvSpPr>
          <p:cNvPr id="9" name="Rectangle 8"/>
          <p:cNvSpPr/>
          <p:nvPr/>
        </p:nvSpPr>
        <p:spPr>
          <a:xfrm>
            <a:off x="667512" y="3815791"/>
            <a:ext cx="5202936" cy="419100"/>
          </a:xfrm>
          <a:prstGeom prst="rect">
            <a:avLst/>
          </a:prstGeom>
          <a:solidFill>
            <a:srgbClr val="FDEEEE"/>
          </a:solidFill>
          <a:ln>
            <a:noFill/>
          </a:ln>
        </p:spPr>
        <p:txBody>
          <a:bodyPr rtlCol="0" anchor="ctr"/>
          <a:lstStyle/>
          <a:p>
            <a:pPr algn="ctr"/>
          </a:p>
        </p:txBody>
      </p:sp>
      <p:sp>
        <p:nvSpPr>
          <p:cNvPr id="10" name="Rectangle 9"/>
          <p:cNvSpPr/>
          <p:nvPr/>
        </p:nvSpPr>
        <p:spPr>
          <a:xfrm>
            <a:off x="667512" y="3815791"/>
            <a:ext cx="36576" cy="419100"/>
          </a:xfrm>
          <a:prstGeom prst="rect">
            <a:avLst/>
          </a:prstGeom>
          <a:solidFill>
            <a:srgbClr val="DC2626"/>
          </a:solidFill>
          <a:ln>
            <a:noFill/>
          </a:ln>
        </p:spPr>
        <p:txBody>
          <a:bodyPr rtlCol="0" anchor="ctr"/>
          <a:lstStyle/>
          <a:p>
            <a:pPr algn="ctr"/>
          </a:p>
        </p:txBody>
      </p:sp>
      <p:sp>
        <p:nvSpPr>
          <p:cNvPr id="11" name="Oval 10"/>
          <p:cNvSpPr/>
          <p:nvPr/>
        </p:nvSpPr>
        <p:spPr>
          <a:xfrm>
            <a:off x="5797296" y="3785057"/>
            <a:ext cx="201168" cy="201168"/>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12" name="Rectangle 11"/>
          <p:cNvSpPr/>
          <p:nvPr/>
        </p:nvSpPr>
        <p:spPr>
          <a:xfrm>
            <a:off x="667512" y="5352491"/>
            <a:ext cx="5202936" cy="558800"/>
          </a:xfrm>
          <a:prstGeom prst="rect">
            <a:avLst/>
          </a:prstGeom>
          <a:solidFill>
            <a:srgbClr val="FEF3E2"/>
          </a:solidFill>
          <a:ln>
            <a:noFill/>
          </a:ln>
        </p:spPr>
        <p:txBody>
          <a:bodyPr rtlCol="0" anchor="ctr"/>
          <a:lstStyle/>
          <a:p>
            <a:pPr algn="ctr"/>
          </a:p>
        </p:txBody>
      </p:sp>
      <p:sp>
        <p:nvSpPr>
          <p:cNvPr id="13" name="Rectangle 12"/>
          <p:cNvSpPr/>
          <p:nvPr/>
        </p:nvSpPr>
        <p:spPr>
          <a:xfrm>
            <a:off x="667512" y="5352491"/>
            <a:ext cx="36576" cy="558800"/>
          </a:xfrm>
          <a:prstGeom prst="rect">
            <a:avLst/>
          </a:prstGeom>
          <a:solidFill>
            <a:srgbClr val="D97706"/>
          </a:solidFill>
          <a:ln>
            <a:noFill/>
          </a:ln>
        </p:spPr>
        <p:txBody>
          <a:bodyPr rtlCol="0" anchor="ctr"/>
          <a:lstStyle/>
          <a:p>
            <a:pPr algn="ctr"/>
          </a:p>
        </p:txBody>
      </p:sp>
      <p:sp>
        <p:nvSpPr>
          <p:cNvPr id="14" name="Oval 13"/>
          <p:cNvSpPr/>
          <p:nvPr/>
        </p:nvSpPr>
        <p:spPr>
          <a:xfrm>
            <a:off x="5797296" y="5321757"/>
            <a:ext cx="201168" cy="201168"/>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5" name="TextBox 14"/>
          <p:cNvSpPr txBox="1"/>
          <p:nvPr/>
        </p:nvSpPr>
        <p:spPr>
          <a:xfrm>
            <a:off x="731519" y="2569464"/>
            <a:ext cx="5029200" cy="3492500"/>
          </a:xfrm>
          <a:prstGeom prst="rect">
            <a:avLst/>
          </a:prstGeom>
          <a:noFill/>
        </p:spPr>
        <p:txBody>
          <a:bodyPr wrap="none" lIns="0" tIns="0" rIns="0" bIns="0" anchor="t">
            <a:spAutoFit/>
          </a:bodyPr>
          <a:lstStyle/>
          <a:p>
            <a:pPr>
              <a:lnSpc>
                <a:spcPts val="1100"/>
              </a:lnSpc>
            </a:pPr>
            <a:r>
              <a:rPr sz="830" b="0">
                <a:solidFill>
                  <a:srgbClr val="AEB9CC"/>
                </a:solidFill>
                <a:latin typeface="Consolas"/>
                <a:ea typeface="Consolas"/>
                <a:cs typeface="Consolas"/>
              </a:rPr>
              <a:t>27  </a:t>
            </a:r>
            <a:r>
              <a:rPr sz="830" b="0">
                <a:solidFill>
                  <a:srgbClr val="2563EB"/>
                </a:solidFill>
                <a:latin typeface="Consolas"/>
                <a:ea typeface="Consolas"/>
                <a:cs typeface="Consolas"/>
              </a:rPr>
              <a:t>typedef</a:t>
            </a:r>
            <a:r>
              <a:rPr sz="830" b="0">
                <a:solidFill>
                  <a:srgbClr val="1B2740"/>
                </a:solidFill>
                <a:latin typeface="Consolas"/>
                <a:ea typeface="Consolas"/>
                <a:cs typeface="Consolas"/>
              </a:rPr>
              <a:t> </a:t>
            </a:r>
            <a:r>
              <a:rPr sz="830" b="0">
                <a:solidFill>
                  <a:srgbClr val="2563EB"/>
                </a:solidFill>
                <a:latin typeface="Consolas"/>
                <a:ea typeface="Consolas"/>
                <a:cs typeface="Consolas"/>
              </a:rPr>
              <a:t>struct</a:t>
            </a:r>
            <a:r>
              <a:rPr sz="830" b="0">
                <a:solidFill>
                  <a:srgbClr val="1B2740"/>
                </a:solidFill>
                <a:latin typeface="Consolas"/>
                <a:ea typeface="Consolas"/>
                <a:cs typeface="Consolas"/>
              </a:rPr>
              <a:t> </a:t>
            </a:r>
            <a:r>
              <a:rPr sz="830" b="0">
                <a:solidFill>
                  <a:srgbClr val="2563EB"/>
                </a:solidFill>
                <a:latin typeface="Consolas"/>
                <a:ea typeface="Consolas"/>
                <a:cs typeface="Consolas"/>
              </a:rPr>
              <a:t>STRUCT_PlotInfo</a:t>
            </a:r>
          </a:p>
          <a:p>
            <a:pPr>
              <a:lnSpc>
                <a:spcPts val="1100"/>
              </a:lnSpc>
            </a:pPr>
            <a:r>
              <a:rPr sz="830" b="0">
                <a:solidFill>
                  <a:srgbClr val="AEB9CC"/>
                </a:solidFill>
                <a:latin typeface="Consolas"/>
                <a:ea typeface="Consolas"/>
                <a:cs typeface="Consolas"/>
              </a:rPr>
              <a:t>28  </a:t>
            </a:r>
            <a:r>
              <a:rPr sz="830" b="0">
                <a:solidFill>
                  <a:srgbClr val="1B2740"/>
                </a:solidFill>
                <a:latin typeface="Consolas"/>
                <a:ea typeface="Consolas"/>
                <a:cs typeface="Consolas"/>
              </a:rPr>
              <a:t>{</a:t>
            </a:r>
          </a:p>
          <a:p>
            <a:pPr>
              <a:lnSpc>
                <a:spcPts val="1100"/>
              </a:lnSpc>
            </a:pPr>
            <a:r>
              <a:rPr sz="830" b="0">
                <a:solidFill>
                  <a:srgbClr val="AEB9CC"/>
                </a:solidFill>
                <a:latin typeface="Consolas"/>
                <a:ea typeface="Consolas"/>
                <a:cs typeface="Consolas"/>
              </a:rPr>
              <a:t>29  </a:t>
            </a:r>
            <a:r>
              <a:rPr sz="830" b="0">
                <a:solidFill>
                  <a:srgbClr val="1B2740"/>
                </a:solidFill>
                <a:latin typeface="Consolas"/>
                <a:ea typeface="Consolas"/>
                <a:cs typeface="Consolas"/>
              </a:rPr>
              <a:t>  </a:t>
            </a:r>
            <a:r>
              <a:rPr sz="830" b="0">
                <a:solidFill>
                  <a:srgbClr val="2563EB"/>
                </a:solidFill>
                <a:latin typeface="Consolas"/>
                <a:ea typeface="Consolas"/>
                <a:cs typeface="Consolas"/>
              </a:rPr>
              <a:t>UINT32</a:t>
            </a:r>
            <a:r>
              <a:rPr sz="830" b="0">
                <a:solidFill>
                  <a:srgbClr val="1B2740"/>
                </a:solidFill>
                <a:latin typeface="Consolas"/>
                <a:ea typeface="Consolas"/>
                <a:cs typeface="Consolas"/>
              </a:rPr>
              <a:t>  Id;</a:t>
            </a:r>
          </a:p>
          <a:p>
            <a:pPr>
              <a:lnSpc>
                <a:spcPts val="1100"/>
              </a:lnSpc>
            </a:pPr>
            <a:r>
              <a:rPr sz="830" b="0">
                <a:solidFill>
                  <a:srgbClr val="AEB9CC"/>
                </a:solidFill>
                <a:latin typeface="Consolas"/>
                <a:ea typeface="Consolas"/>
                <a:cs typeface="Consolas"/>
              </a:rPr>
              <a:t>30  </a:t>
            </a:r>
            <a:r>
              <a:rPr sz="830" b="0">
                <a:solidFill>
                  <a:srgbClr val="1B2740"/>
                </a:solidFill>
                <a:latin typeface="Consolas"/>
                <a:ea typeface="Consolas"/>
                <a:cs typeface="Consolas"/>
              </a:rPr>
              <a:t>  </a:t>
            </a:r>
            <a:r>
              <a:rPr sz="830" b="0">
                <a:solidFill>
                  <a:srgbClr val="2563EB"/>
                </a:solidFill>
                <a:latin typeface="Consolas"/>
                <a:ea typeface="Consolas"/>
                <a:cs typeface="Consolas"/>
              </a:rPr>
              <a:t>UINT32</a:t>
            </a:r>
            <a:r>
              <a:rPr sz="830" b="0">
                <a:solidFill>
                  <a:srgbClr val="1B2740"/>
                </a:solidFill>
                <a:latin typeface="Consolas"/>
                <a:ea typeface="Consolas"/>
                <a:cs typeface="Consolas"/>
              </a:rPr>
              <a:t>  EmittedDwellNum;</a:t>
            </a:r>
          </a:p>
          <a:p>
            <a:pPr>
              <a:lnSpc>
                <a:spcPts val="1100"/>
              </a:lnSpc>
            </a:pPr>
            <a:r>
              <a:rPr sz="830" b="0">
                <a:solidFill>
                  <a:srgbClr val="AEB9CC"/>
                </a:solidFill>
                <a:latin typeface="Consolas"/>
                <a:ea typeface="Consolas"/>
                <a:cs typeface="Consolas"/>
              </a:rPr>
              <a:t>31  </a:t>
            </a:r>
            <a:r>
              <a:rPr sz="830" b="0">
                <a:solidFill>
                  <a:srgbClr val="1B2740"/>
                </a:solidFill>
                <a:latin typeface="Consolas"/>
                <a:ea typeface="Consolas"/>
                <a:cs typeface="Consolas"/>
              </a:rPr>
              <a:t>  </a:t>
            </a:r>
            <a:r>
              <a:rPr sz="830" b="0">
                <a:solidFill>
                  <a:srgbClr val="2563EB"/>
                </a:solidFill>
                <a:latin typeface="Consolas"/>
                <a:ea typeface="Consolas"/>
                <a:cs typeface="Consolas"/>
              </a:rPr>
              <a:t>UINT32</a:t>
            </a:r>
            <a:r>
              <a:rPr sz="830" b="0">
                <a:solidFill>
                  <a:srgbClr val="1B2740"/>
                </a:solidFill>
                <a:latin typeface="Consolas"/>
                <a:ea typeface="Consolas"/>
                <a:cs typeface="Consolas"/>
              </a:rPr>
              <a:t>  EmittedScanNum;</a:t>
            </a:r>
          </a:p>
          <a:p>
            <a:pPr>
              <a:lnSpc>
                <a:spcPts val="1100"/>
              </a:lnSpc>
            </a:pPr>
            <a:r>
              <a:rPr sz="830" b="0">
                <a:solidFill>
                  <a:srgbClr val="AEB9CC"/>
                </a:solidFill>
                <a:latin typeface="Consolas"/>
                <a:ea typeface="Consolas"/>
                <a:cs typeface="Consolas"/>
              </a:rPr>
              <a:t>32  </a:t>
            </a:r>
            <a:r>
              <a:rPr sz="830" b="0">
                <a:solidFill>
                  <a:srgbClr val="1B2740"/>
                </a:solidFill>
                <a:latin typeface="Consolas"/>
                <a:ea typeface="Consolas"/>
                <a:cs typeface="Consolas"/>
              </a:rPr>
              <a:t>  </a:t>
            </a:r>
            <a:r>
              <a:rPr sz="830" b="0">
                <a:solidFill>
                  <a:srgbClr val="2563EB"/>
                </a:solidFill>
                <a:latin typeface="Consolas"/>
                <a:ea typeface="Consolas"/>
                <a:cs typeface="Consolas"/>
              </a:rPr>
              <a:t>UINT32</a:t>
            </a:r>
            <a:r>
              <a:rPr sz="830" b="0">
                <a:solidFill>
                  <a:srgbClr val="1B2740"/>
                </a:solidFill>
                <a:latin typeface="Consolas"/>
                <a:ea typeface="Consolas"/>
                <a:cs typeface="Consolas"/>
              </a:rPr>
              <a:t>  EmittedBeamNum;</a:t>
            </a:r>
          </a:p>
          <a:p>
            <a:pPr>
              <a:lnSpc>
                <a:spcPts val="1100"/>
              </a:lnSpc>
            </a:pPr>
            <a:r>
              <a:rPr sz="830" b="0">
                <a:solidFill>
                  <a:srgbClr val="AEB9CC"/>
                </a:solidFill>
                <a:latin typeface="Consolas"/>
                <a:ea typeface="Consolas"/>
                <a:cs typeface="Consolas"/>
              </a:rPr>
              <a:t>33  </a:t>
            </a:r>
            <a:r>
              <a:rPr sz="830" b="0">
                <a:solidFill>
                  <a:srgbClr val="1B2740"/>
                </a:solidFill>
                <a:latin typeface="Consolas"/>
                <a:ea typeface="Consolas"/>
                <a:cs typeface="Consolas"/>
              </a:rPr>
              <a:t>  </a:t>
            </a:r>
            <a:r>
              <a:rPr sz="830" b="0">
                <a:solidFill>
                  <a:srgbClr val="2563EB"/>
                </a:solidFill>
                <a:latin typeface="Consolas"/>
                <a:ea typeface="Consolas"/>
                <a:cs typeface="Consolas"/>
              </a:rPr>
              <a:t>UINT32</a:t>
            </a:r>
            <a:r>
              <a:rPr sz="830" b="0">
                <a:solidFill>
                  <a:srgbClr val="1B2740"/>
                </a:solidFill>
                <a:latin typeface="Consolas"/>
                <a:ea typeface="Consolas"/>
                <a:cs typeface="Consolas"/>
              </a:rPr>
              <a:t>  EmittedTimeStamp_s;</a:t>
            </a:r>
          </a:p>
          <a:p>
            <a:pPr>
              <a:lnSpc>
                <a:spcPts val="1100"/>
              </a:lnSpc>
            </a:pPr>
            <a:r>
              <a:rPr sz="830" b="0">
                <a:solidFill>
                  <a:srgbClr val="AEB9CC"/>
                </a:solidFill>
                <a:latin typeface="Consolas"/>
                <a:ea typeface="Consolas"/>
                <a:cs typeface="Consolas"/>
              </a:rPr>
              <a:t>34  </a:t>
            </a:r>
            <a:r>
              <a:rPr sz="830" b="0">
                <a:solidFill>
                  <a:srgbClr val="1B2740"/>
                </a:solidFill>
                <a:latin typeface="Consolas"/>
                <a:ea typeface="Consolas"/>
                <a:cs typeface="Consolas"/>
              </a:rPr>
              <a:t>  </a:t>
            </a:r>
            <a:r>
              <a:rPr sz="830" b="0">
                <a:solidFill>
                  <a:srgbClr val="2563EB"/>
                </a:solidFill>
                <a:latin typeface="Consolas"/>
                <a:ea typeface="Consolas"/>
                <a:cs typeface="Consolas"/>
              </a:rPr>
              <a:t>UINT32</a:t>
            </a:r>
            <a:r>
              <a:rPr sz="830" b="0">
                <a:solidFill>
                  <a:srgbClr val="1B2740"/>
                </a:solidFill>
                <a:latin typeface="Consolas"/>
                <a:ea typeface="Consolas"/>
                <a:cs typeface="Consolas"/>
              </a:rPr>
              <a:t>  EmittedTimeStamp_ns;</a:t>
            </a:r>
          </a:p>
          <a:p>
            <a:pPr>
              <a:lnSpc>
                <a:spcPts val="1100"/>
              </a:lnSpc>
            </a:pPr>
            <a:r>
              <a:rPr sz="830" b="0">
                <a:solidFill>
                  <a:srgbClr val="AEB9CC"/>
                </a:solidFill>
                <a:latin typeface="Consolas"/>
                <a:ea typeface="Consolas"/>
                <a:cs typeface="Consolas"/>
              </a:rPr>
              <a:t>35  </a:t>
            </a:r>
            <a:r>
              <a:rPr sz="830" b="0">
                <a:solidFill>
                  <a:srgbClr val="1B2740"/>
                </a:solidFill>
                <a:latin typeface="Consolas"/>
                <a:ea typeface="Consolas"/>
                <a:cs typeface="Consolas"/>
              </a:rPr>
              <a:t>  </a:t>
            </a:r>
            <a:r>
              <a:rPr sz="830" b="0">
                <a:solidFill>
                  <a:srgbClr val="2563EB"/>
                </a:solidFill>
                <a:latin typeface="Consolas"/>
                <a:ea typeface="Consolas"/>
                <a:cs typeface="Consolas"/>
              </a:rPr>
              <a:t>UCHAR8</a:t>
            </a:r>
            <a:r>
              <a:rPr sz="830" b="0">
                <a:solidFill>
                  <a:srgbClr val="1B2740"/>
                </a:solidFill>
                <a:latin typeface="Consolas"/>
                <a:ea typeface="Consolas"/>
                <a:cs typeface="Consolas"/>
              </a:rPr>
              <a:t>  BeamType;</a:t>
            </a:r>
          </a:p>
          <a:p>
            <a:pPr>
              <a:lnSpc>
                <a:spcPts val="1100"/>
              </a:lnSpc>
            </a:pPr>
            <a:r>
              <a:rPr sz="830" b="0">
                <a:solidFill>
                  <a:srgbClr val="AEB9CC"/>
                </a:solidFill>
                <a:latin typeface="Consolas"/>
                <a:ea typeface="Consolas"/>
                <a:cs typeface="Consolas"/>
              </a:rPr>
              <a:t>36  </a:t>
            </a:r>
            <a:r>
              <a:rPr sz="830" b="0">
                <a:solidFill>
                  <a:srgbClr val="1B2740"/>
                </a:solidFill>
                <a:latin typeface="Consolas"/>
                <a:ea typeface="Consolas"/>
                <a:cs typeface="Consolas"/>
              </a:rPr>
              <a:t>  </a:t>
            </a:r>
            <a:r>
              <a:rPr sz="830" b="0">
                <a:solidFill>
                  <a:srgbClr val="2563EB"/>
                </a:solidFill>
                <a:latin typeface="Consolas"/>
                <a:ea typeface="Consolas"/>
                <a:cs typeface="Consolas"/>
              </a:rPr>
              <a:t>FLOAT32</a:t>
            </a:r>
            <a:r>
              <a:rPr sz="830" b="0">
                <a:solidFill>
                  <a:srgbClr val="1B2740"/>
                </a:solidFill>
                <a:latin typeface="Consolas"/>
                <a:ea typeface="Consolas"/>
                <a:cs typeface="Consolas"/>
              </a:rPr>
              <a:t>  Range_Ant;</a:t>
            </a:r>
          </a:p>
          <a:p>
            <a:pPr>
              <a:lnSpc>
                <a:spcPts val="1100"/>
              </a:lnSpc>
            </a:pPr>
            <a:r>
              <a:rPr sz="830" b="0">
                <a:solidFill>
                  <a:srgbClr val="AEB9CC"/>
                </a:solidFill>
                <a:latin typeface="Consolas"/>
                <a:ea typeface="Consolas"/>
                <a:cs typeface="Consolas"/>
              </a:rPr>
              <a:t>37  </a:t>
            </a:r>
            <a:r>
              <a:rPr sz="830" b="0">
                <a:solidFill>
                  <a:srgbClr val="1B2740"/>
                </a:solidFill>
                <a:latin typeface="Consolas"/>
                <a:ea typeface="Consolas"/>
                <a:cs typeface="Consolas"/>
              </a:rPr>
              <a:t>  </a:t>
            </a:r>
            <a:r>
              <a:rPr sz="830" b="0">
                <a:solidFill>
                  <a:srgbClr val="2563EB"/>
                </a:solidFill>
                <a:latin typeface="Consolas"/>
                <a:ea typeface="Consolas"/>
                <a:cs typeface="Consolas"/>
              </a:rPr>
              <a:t>FLOAT32</a:t>
            </a:r>
            <a:r>
              <a:rPr sz="830" b="0">
                <a:solidFill>
                  <a:srgbClr val="1B2740"/>
                </a:solidFill>
                <a:latin typeface="Consolas"/>
                <a:ea typeface="Consolas"/>
                <a:cs typeface="Consolas"/>
              </a:rPr>
              <a:t>  Azimuth_Ant;</a:t>
            </a:r>
          </a:p>
          <a:p>
            <a:pPr>
              <a:lnSpc>
                <a:spcPts val="1100"/>
              </a:lnSpc>
            </a:pPr>
            <a:r>
              <a:rPr sz="830" b="0">
                <a:solidFill>
                  <a:srgbClr val="AEB9CC"/>
                </a:solidFill>
                <a:latin typeface="Consolas"/>
                <a:ea typeface="Consolas"/>
                <a:cs typeface="Consolas"/>
              </a:rPr>
              <a:t>38  </a:t>
            </a:r>
            <a:r>
              <a:rPr sz="830" b="0">
                <a:solidFill>
                  <a:srgbClr val="1B2740"/>
                </a:solidFill>
                <a:latin typeface="Consolas"/>
                <a:ea typeface="Consolas"/>
                <a:cs typeface="Consolas"/>
              </a:rPr>
              <a:t>  </a:t>
            </a:r>
            <a:r>
              <a:rPr sz="830" b="0">
                <a:solidFill>
                  <a:srgbClr val="2563EB"/>
                </a:solidFill>
                <a:latin typeface="Consolas"/>
                <a:ea typeface="Consolas"/>
                <a:cs typeface="Consolas"/>
              </a:rPr>
              <a:t>FLOAT32</a:t>
            </a:r>
            <a:r>
              <a:rPr sz="830" b="0">
                <a:solidFill>
                  <a:srgbClr val="1B2740"/>
                </a:solidFill>
                <a:latin typeface="Consolas"/>
                <a:ea typeface="Consolas"/>
                <a:cs typeface="Consolas"/>
              </a:rPr>
              <a:t>  Elevation_Ant;</a:t>
            </a:r>
          </a:p>
          <a:p>
            <a:pPr>
              <a:lnSpc>
                <a:spcPts val="1100"/>
              </a:lnSpc>
            </a:pPr>
            <a:r>
              <a:rPr sz="830" b="0">
                <a:solidFill>
                  <a:srgbClr val="AEB9CC"/>
                </a:solidFill>
                <a:latin typeface="Consolas"/>
                <a:ea typeface="Consolas"/>
                <a:cs typeface="Consolas"/>
              </a:rPr>
              <a:t>39  </a:t>
            </a:r>
            <a:r>
              <a:rPr sz="830" b="0">
                <a:solidFill>
                  <a:srgbClr val="1B2740"/>
                </a:solidFill>
                <a:latin typeface="Consolas"/>
                <a:ea typeface="Consolas"/>
                <a:cs typeface="Consolas"/>
              </a:rPr>
              <a:t>  </a:t>
            </a:r>
            <a:r>
              <a:rPr sz="830" b="0">
                <a:solidFill>
                  <a:srgbClr val="2563EB"/>
                </a:solidFill>
                <a:latin typeface="Consolas"/>
                <a:ea typeface="Consolas"/>
                <a:cs typeface="Consolas"/>
              </a:rPr>
              <a:t>FLOAT32</a:t>
            </a:r>
            <a:r>
              <a:rPr sz="830" b="0">
                <a:solidFill>
                  <a:srgbClr val="1B2740"/>
                </a:solidFill>
                <a:latin typeface="Consolas"/>
                <a:ea typeface="Consolas"/>
                <a:cs typeface="Consolas"/>
              </a:rPr>
              <a:t>  Range_VcNed;</a:t>
            </a:r>
          </a:p>
          <a:p>
            <a:pPr>
              <a:lnSpc>
                <a:spcPts val="1100"/>
              </a:lnSpc>
            </a:pPr>
            <a:r>
              <a:rPr sz="830" b="0">
                <a:solidFill>
                  <a:srgbClr val="AEB9CC"/>
                </a:solidFill>
                <a:latin typeface="Consolas"/>
                <a:ea typeface="Consolas"/>
                <a:cs typeface="Consolas"/>
              </a:rPr>
              <a:t>40  </a:t>
            </a:r>
            <a:r>
              <a:rPr sz="830" b="0">
                <a:solidFill>
                  <a:srgbClr val="1B2740"/>
                </a:solidFill>
                <a:latin typeface="Consolas"/>
                <a:ea typeface="Consolas"/>
                <a:cs typeface="Consolas"/>
              </a:rPr>
              <a:t>  </a:t>
            </a:r>
            <a:r>
              <a:rPr sz="830" b="0">
                <a:solidFill>
                  <a:srgbClr val="2563EB"/>
                </a:solidFill>
                <a:latin typeface="Consolas"/>
                <a:ea typeface="Consolas"/>
                <a:cs typeface="Consolas"/>
              </a:rPr>
              <a:t>FLOAT32</a:t>
            </a:r>
            <a:r>
              <a:rPr sz="830" b="0">
                <a:solidFill>
                  <a:srgbClr val="1B2740"/>
                </a:solidFill>
                <a:latin typeface="Consolas"/>
                <a:ea typeface="Consolas"/>
                <a:cs typeface="Consolas"/>
              </a:rPr>
              <a:t>  Azimuth_VcNed;</a:t>
            </a:r>
          </a:p>
          <a:p>
            <a:pPr>
              <a:lnSpc>
                <a:spcPts val="1100"/>
              </a:lnSpc>
            </a:pPr>
            <a:r>
              <a:rPr sz="830" b="0">
                <a:solidFill>
                  <a:srgbClr val="AEB9CC"/>
                </a:solidFill>
                <a:latin typeface="Consolas"/>
                <a:ea typeface="Consolas"/>
                <a:cs typeface="Consolas"/>
              </a:rPr>
              <a:t>41  </a:t>
            </a:r>
            <a:r>
              <a:rPr sz="830" b="0">
                <a:solidFill>
                  <a:srgbClr val="1B2740"/>
                </a:solidFill>
                <a:latin typeface="Consolas"/>
                <a:ea typeface="Consolas"/>
                <a:cs typeface="Consolas"/>
              </a:rPr>
              <a:t>  </a:t>
            </a:r>
            <a:r>
              <a:rPr sz="830" b="0">
                <a:solidFill>
                  <a:srgbClr val="2563EB"/>
                </a:solidFill>
                <a:latin typeface="Consolas"/>
                <a:ea typeface="Consolas"/>
                <a:cs typeface="Consolas"/>
              </a:rPr>
              <a:t>FLOAT32</a:t>
            </a:r>
            <a:r>
              <a:rPr sz="830" b="0">
                <a:solidFill>
                  <a:srgbClr val="1B2740"/>
                </a:solidFill>
                <a:latin typeface="Consolas"/>
                <a:ea typeface="Consolas"/>
                <a:cs typeface="Consolas"/>
              </a:rPr>
              <a:t>  Elevation_VcNed;</a:t>
            </a:r>
          </a:p>
          <a:p>
            <a:pPr>
              <a:lnSpc>
                <a:spcPts val="1100"/>
              </a:lnSpc>
            </a:pPr>
            <a:r>
              <a:rPr sz="830" b="0">
                <a:solidFill>
                  <a:srgbClr val="AEB9CC"/>
                </a:solidFill>
                <a:latin typeface="Consolas"/>
                <a:ea typeface="Consolas"/>
                <a:cs typeface="Consolas"/>
              </a:rPr>
              <a:t>42  </a:t>
            </a:r>
            <a:r>
              <a:rPr sz="830" b="0">
                <a:solidFill>
                  <a:srgbClr val="1B2740"/>
                </a:solidFill>
                <a:latin typeface="Consolas"/>
                <a:ea typeface="Consolas"/>
                <a:cs typeface="Consolas"/>
              </a:rPr>
              <a:t>  </a:t>
            </a:r>
            <a:r>
              <a:rPr sz="830" b="0">
                <a:solidFill>
                  <a:srgbClr val="2563EB"/>
                </a:solidFill>
                <a:latin typeface="Consolas"/>
                <a:ea typeface="Consolas"/>
                <a:cs typeface="Consolas"/>
              </a:rPr>
              <a:t>DOUBLE64</a:t>
            </a:r>
            <a:r>
              <a:rPr sz="830" b="0">
                <a:solidFill>
                  <a:srgbClr val="1B2740"/>
                </a:solidFill>
                <a:latin typeface="Consolas"/>
                <a:ea typeface="Consolas"/>
                <a:cs typeface="Consolas"/>
              </a:rPr>
              <a:t>  X_Ant;</a:t>
            </a:r>
          </a:p>
          <a:p>
            <a:pPr>
              <a:lnSpc>
                <a:spcPts val="1100"/>
              </a:lnSpc>
            </a:pPr>
            <a:r>
              <a:rPr sz="830" b="0">
                <a:solidFill>
                  <a:srgbClr val="AEB9CC"/>
                </a:solidFill>
                <a:latin typeface="Consolas"/>
                <a:ea typeface="Consolas"/>
                <a:cs typeface="Consolas"/>
              </a:rPr>
              <a:t>43  </a:t>
            </a:r>
            <a:r>
              <a:rPr sz="830" b="0">
                <a:solidFill>
                  <a:srgbClr val="1B2740"/>
                </a:solidFill>
                <a:latin typeface="Consolas"/>
                <a:ea typeface="Consolas"/>
                <a:cs typeface="Consolas"/>
              </a:rPr>
              <a:t>  </a:t>
            </a:r>
            <a:r>
              <a:rPr sz="830" b="0">
                <a:solidFill>
                  <a:srgbClr val="2563EB"/>
                </a:solidFill>
                <a:latin typeface="Consolas"/>
                <a:ea typeface="Consolas"/>
                <a:cs typeface="Consolas"/>
              </a:rPr>
              <a:t>DOUBLE64</a:t>
            </a:r>
            <a:r>
              <a:rPr sz="830" b="0">
                <a:solidFill>
                  <a:srgbClr val="1B2740"/>
                </a:solidFill>
                <a:latin typeface="Consolas"/>
                <a:ea typeface="Consolas"/>
                <a:cs typeface="Consolas"/>
              </a:rPr>
              <a:t>  Y_Ant;</a:t>
            </a:r>
          </a:p>
          <a:p>
            <a:pPr>
              <a:lnSpc>
                <a:spcPts val="1100"/>
              </a:lnSpc>
            </a:pPr>
            <a:r>
              <a:rPr sz="830" b="0">
                <a:solidFill>
                  <a:srgbClr val="AEB9CC"/>
                </a:solidFill>
                <a:latin typeface="Consolas"/>
                <a:ea typeface="Consolas"/>
                <a:cs typeface="Consolas"/>
              </a:rPr>
              <a:t>44  </a:t>
            </a:r>
            <a:r>
              <a:rPr sz="830" b="0">
                <a:solidFill>
                  <a:srgbClr val="1B2740"/>
                </a:solidFill>
                <a:latin typeface="Consolas"/>
                <a:ea typeface="Consolas"/>
                <a:cs typeface="Consolas"/>
              </a:rPr>
              <a:t>  </a:t>
            </a:r>
            <a:r>
              <a:rPr sz="830" b="0">
                <a:solidFill>
                  <a:srgbClr val="2563EB"/>
                </a:solidFill>
                <a:latin typeface="Consolas"/>
                <a:ea typeface="Consolas"/>
                <a:cs typeface="Consolas"/>
              </a:rPr>
              <a:t>DOUBLE64</a:t>
            </a:r>
            <a:r>
              <a:rPr sz="830" b="0">
                <a:solidFill>
                  <a:srgbClr val="1B2740"/>
                </a:solidFill>
                <a:latin typeface="Consolas"/>
                <a:ea typeface="Consolas"/>
                <a:cs typeface="Consolas"/>
              </a:rPr>
              <a:t>  Z_Ant;</a:t>
            </a:r>
          </a:p>
          <a:p>
            <a:pPr>
              <a:lnSpc>
                <a:spcPts val="1100"/>
              </a:lnSpc>
            </a:pPr>
            <a:r>
              <a:rPr sz="830" b="0">
                <a:solidFill>
                  <a:srgbClr val="AEB9CC"/>
                </a:solidFill>
                <a:latin typeface="Consolas"/>
                <a:ea typeface="Consolas"/>
                <a:cs typeface="Consolas"/>
              </a:rPr>
              <a:t>45  </a:t>
            </a:r>
            <a:r>
              <a:rPr sz="830" b="0">
                <a:solidFill>
                  <a:srgbClr val="1B2740"/>
                </a:solidFill>
                <a:latin typeface="Consolas"/>
                <a:ea typeface="Consolas"/>
                <a:cs typeface="Consolas"/>
              </a:rPr>
              <a:t>  </a:t>
            </a:r>
            <a:r>
              <a:rPr sz="830" b="0">
                <a:solidFill>
                  <a:srgbClr val="2563EB"/>
                </a:solidFill>
                <a:latin typeface="Consolas"/>
                <a:ea typeface="Consolas"/>
                <a:cs typeface="Consolas"/>
              </a:rPr>
              <a:t>DOUBLE64</a:t>
            </a:r>
            <a:r>
              <a:rPr sz="830" b="0">
                <a:solidFill>
                  <a:srgbClr val="1B2740"/>
                </a:solidFill>
                <a:latin typeface="Consolas"/>
                <a:ea typeface="Consolas"/>
                <a:cs typeface="Consolas"/>
              </a:rPr>
              <a:t>  X_Body;</a:t>
            </a:r>
          </a:p>
          <a:p>
            <a:pPr>
              <a:lnSpc>
                <a:spcPts val="1100"/>
              </a:lnSpc>
            </a:pPr>
            <a:r>
              <a:rPr sz="830" b="0">
                <a:solidFill>
                  <a:srgbClr val="AEB9CC"/>
                </a:solidFill>
                <a:latin typeface="Consolas"/>
                <a:ea typeface="Consolas"/>
                <a:cs typeface="Consolas"/>
              </a:rPr>
              <a:t>46  </a:t>
            </a:r>
            <a:r>
              <a:rPr sz="830" b="0">
                <a:solidFill>
                  <a:srgbClr val="1B2740"/>
                </a:solidFill>
                <a:latin typeface="Consolas"/>
                <a:ea typeface="Consolas"/>
                <a:cs typeface="Consolas"/>
              </a:rPr>
              <a:t>  </a:t>
            </a:r>
            <a:r>
              <a:rPr sz="830" b="0">
                <a:solidFill>
                  <a:srgbClr val="2563EB"/>
                </a:solidFill>
                <a:latin typeface="Consolas"/>
                <a:ea typeface="Consolas"/>
                <a:cs typeface="Consolas"/>
              </a:rPr>
              <a:t>DOUBLE64</a:t>
            </a:r>
            <a:r>
              <a:rPr sz="830" b="0">
                <a:solidFill>
                  <a:srgbClr val="1B2740"/>
                </a:solidFill>
                <a:latin typeface="Consolas"/>
                <a:ea typeface="Consolas"/>
                <a:cs typeface="Consolas"/>
              </a:rPr>
              <a:t>  Y_Body;</a:t>
            </a:r>
          </a:p>
          <a:p>
            <a:pPr>
              <a:lnSpc>
                <a:spcPts val="1100"/>
              </a:lnSpc>
            </a:pPr>
            <a:r>
              <a:rPr sz="830" b="0">
                <a:solidFill>
                  <a:srgbClr val="AEB9CC"/>
                </a:solidFill>
                <a:latin typeface="Consolas"/>
                <a:ea typeface="Consolas"/>
                <a:cs typeface="Consolas"/>
              </a:rPr>
              <a:t>47  </a:t>
            </a:r>
            <a:r>
              <a:rPr sz="830" b="0">
                <a:solidFill>
                  <a:srgbClr val="1B2740"/>
                </a:solidFill>
                <a:latin typeface="Consolas"/>
                <a:ea typeface="Consolas"/>
                <a:cs typeface="Consolas"/>
              </a:rPr>
              <a:t>  </a:t>
            </a:r>
            <a:r>
              <a:rPr sz="830" b="0">
                <a:solidFill>
                  <a:srgbClr val="2563EB"/>
                </a:solidFill>
                <a:latin typeface="Consolas"/>
                <a:ea typeface="Consolas"/>
                <a:cs typeface="Consolas"/>
              </a:rPr>
              <a:t>DOUBLE64</a:t>
            </a:r>
            <a:r>
              <a:rPr sz="830" b="0">
                <a:solidFill>
                  <a:srgbClr val="1B2740"/>
                </a:solidFill>
                <a:latin typeface="Consolas"/>
                <a:ea typeface="Consolas"/>
                <a:cs typeface="Consolas"/>
              </a:rPr>
              <a:t>  Z_Body;</a:t>
            </a:r>
          </a:p>
          <a:p>
            <a:pPr>
              <a:lnSpc>
                <a:spcPts val="1100"/>
              </a:lnSpc>
            </a:pPr>
            <a:r>
              <a:rPr sz="830" b="0">
                <a:solidFill>
                  <a:srgbClr val="AEB9CC"/>
                </a:solidFill>
                <a:latin typeface="Consolas"/>
                <a:ea typeface="Consolas"/>
                <a:cs typeface="Consolas"/>
              </a:rPr>
              <a:t>48  </a:t>
            </a:r>
            <a:r>
              <a:rPr sz="830" b="0">
                <a:solidFill>
                  <a:srgbClr val="1B2740"/>
                </a:solidFill>
                <a:latin typeface="Consolas"/>
                <a:ea typeface="Consolas"/>
                <a:cs typeface="Consolas"/>
              </a:rPr>
              <a:t>  </a:t>
            </a:r>
            <a:r>
              <a:rPr sz="830" b="0">
                <a:solidFill>
                  <a:srgbClr val="2563EB"/>
                </a:solidFill>
                <a:latin typeface="Consolas"/>
                <a:ea typeface="Consolas"/>
                <a:cs typeface="Consolas"/>
              </a:rPr>
              <a:t>DOUBLE64</a:t>
            </a:r>
            <a:r>
              <a:rPr sz="830" b="0">
                <a:solidFill>
                  <a:srgbClr val="1B2740"/>
                </a:solidFill>
                <a:latin typeface="Consolas"/>
                <a:ea typeface="Consolas"/>
                <a:cs typeface="Consolas"/>
              </a:rPr>
              <a:t>  X_VcNed;</a:t>
            </a:r>
          </a:p>
          <a:p>
            <a:pPr>
              <a:lnSpc>
                <a:spcPts val="1100"/>
              </a:lnSpc>
            </a:pPr>
            <a:r>
              <a:rPr sz="830" b="0">
                <a:solidFill>
                  <a:srgbClr val="AEB9CC"/>
                </a:solidFill>
                <a:latin typeface="Consolas"/>
                <a:ea typeface="Consolas"/>
                <a:cs typeface="Consolas"/>
              </a:rPr>
              <a:t>49  </a:t>
            </a:r>
            <a:r>
              <a:rPr sz="830" b="0">
                <a:solidFill>
                  <a:srgbClr val="1B2740"/>
                </a:solidFill>
                <a:latin typeface="Consolas"/>
                <a:ea typeface="Consolas"/>
                <a:cs typeface="Consolas"/>
              </a:rPr>
              <a:t>  </a:t>
            </a:r>
            <a:r>
              <a:rPr sz="830" b="0">
                <a:solidFill>
                  <a:srgbClr val="2563EB"/>
                </a:solidFill>
                <a:latin typeface="Consolas"/>
                <a:ea typeface="Consolas"/>
                <a:cs typeface="Consolas"/>
              </a:rPr>
              <a:t>DOUBLE64</a:t>
            </a:r>
            <a:r>
              <a:rPr sz="830" b="0">
                <a:solidFill>
                  <a:srgbClr val="1B2740"/>
                </a:solidFill>
                <a:latin typeface="Consolas"/>
                <a:ea typeface="Consolas"/>
                <a:cs typeface="Consolas"/>
              </a:rPr>
              <a:t>  Y_VcNed;</a:t>
            </a:r>
          </a:p>
          <a:p>
            <a:pPr>
              <a:lnSpc>
                <a:spcPts val="1100"/>
              </a:lnSpc>
            </a:pPr>
            <a:r>
              <a:rPr sz="830" b="0">
                <a:solidFill>
                  <a:srgbClr val="AEB9CC"/>
                </a:solidFill>
                <a:latin typeface="Consolas"/>
                <a:ea typeface="Consolas"/>
                <a:cs typeface="Consolas"/>
              </a:rPr>
              <a:t>50  </a:t>
            </a:r>
            <a:r>
              <a:rPr sz="830" b="0">
                <a:solidFill>
                  <a:srgbClr val="1B2740"/>
                </a:solidFill>
                <a:latin typeface="Consolas"/>
                <a:ea typeface="Consolas"/>
                <a:cs typeface="Consolas"/>
              </a:rPr>
              <a:t>  </a:t>
            </a:r>
            <a:r>
              <a:rPr sz="830" b="0">
                <a:solidFill>
                  <a:srgbClr val="2563EB"/>
                </a:solidFill>
                <a:latin typeface="Consolas"/>
                <a:ea typeface="Consolas"/>
                <a:cs typeface="Consolas"/>
              </a:rPr>
              <a:t>DOUBLE64</a:t>
            </a:r>
            <a:r>
              <a:rPr sz="830" b="0">
                <a:solidFill>
                  <a:srgbClr val="1B2740"/>
                </a:solidFill>
                <a:latin typeface="Consolas"/>
                <a:ea typeface="Consolas"/>
                <a:cs typeface="Consolas"/>
              </a:rPr>
              <a:t>  Z_VcNed;</a:t>
            </a:r>
          </a:p>
          <a:p>
            <a:pPr>
              <a:lnSpc>
                <a:spcPts val="1100"/>
              </a:lnSpc>
            </a:pPr>
            <a:r>
              <a:rPr sz="830" b="0">
                <a:solidFill>
                  <a:srgbClr val="AEB9CC"/>
                </a:solidFill>
                <a:latin typeface="Consolas"/>
                <a:ea typeface="Consolas"/>
                <a:cs typeface="Consolas"/>
              </a:rPr>
              <a:t>51  </a:t>
            </a:r>
            <a:r>
              <a:rPr sz="830" b="0">
                <a:solidFill>
                  <a:srgbClr val="1B2740"/>
                </a:solidFill>
                <a:latin typeface="Consolas"/>
                <a:ea typeface="Consolas"/>
                <a:cs typeface="Consolas"/>
              </a:rPr>
              <a:t>}</a:t>
            </a:r>
            <a:r>
              <a:rPr sz="830" b="0">
                <a:solidFill>
                  <a:srgbClr val="2563EB"/>
                </a:solidFill>
                <a:latin typeface="Consolas"/>
                <a:ea typeface="Consolas"/>
                <a:cs typeface="Consolas"/>
              </a:rPr>
              <a:t>STRUCT_PlotInfo</a:t>
            </a:r>
            <a:r>
              <a:rPr sz="830" b="0">
                <a:solidFill>
                  <a:srgbClr val="1B2740"/>
                </a:solidFill>
                <a:latin typeface="Consolas"/>
                <a:ea typeface="Consolas"/>
                <a:cs typeface="Consolas"/>
              </a:rPr>
              <a:t>;</a:t>
            </a:r>
          </a:p>
        </p:txBody>
      </p:sp>
      <p:sp>
        <p:nvSpPr>
          <p:cNvPr id="16" name="TextBox 15"/>
          <p:cNvSpPr txBox="1"/>
          <p:nvPr/>
        </p:nvSpPr>
        <p:spPr>
          <a:xfrm>
            <a:off x="6172200" y="2231136"/>
            <a:ext cx="5394960"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스캔 하나의 메시지</a:t>
            </a:r>
            <a:r>
              <a:rPr sz="950" b="0">
                <a:solidFill>
                  <a:srgbClr val="8794AC"/>
                </a:solidFill>
                <a:latin typeface="Consolas"/>
                <a:ea typeface="Consolas"/>
                <a:cs typeface="Consolas"/>
              </a:rPr>
              <a:t>    STRUCT_PlotMsg</a:t>
            </a:r>
          </a:p>
        </p:txBody>
      </p:sp>
      <p:sp>
        <p:nvSpPr>
          <p:cNvPr id="17" name="Rectangle 16"/>
          <p:cNvSpPr/>
          <p:nvPr/>
        </p:nvSpPr>
        <p:spPr>
          <a:xfrm>
            <a:off x="6172200" y="2487168"/>
            <a:ext cx="5376672" cy="2120392"/>
          </a:xfrm>
          <a:prstGeom prst="rect">
            <a:avLst/>
          </a:prstGeom>
          <a:solidFill>
            <a:srgbClr val="FFFFFF"/>
          </a:solidFill>
          <a:ln w="9525">
            <a:solidFill>
              <a:srgbClr val="D2D9E5"/>
            </a:solidFill>
          </a:ln>
        </p:spPr>
        <p:txBody>
          <a:bodyPr rtlCol="0" anchor="ctr"/>
          <a:lstStyle/>
          <a:p>
            <a:pPr algn="ctr"/>
          </a:p>
        </p:txBody>
      </p:sp>
      <p:sp>
        <p:nvSpPr>
          <p:cNvPr id="18" name="Rectangle 17"/>
          <p:cNvSpPr/>
          <p:nvPr/>
        </p:nvSpPr>
        <p:spPr>
          <a:xfrm>
            <a:off x="6199632" y="2837891"/>
            <a:ext cx="5321808" cy="838200"/>
          </a:xfrm>
          <a:prstGeom prst="rect">
            <a:avLst/>
          </a:prstGeom>
          <a:solidFill>
            <a:srgbClr val="EAF1FD"/>
          </a:solidFill>
          <a:ln>
            <a:noFill/>
          </a:ln>
        </p:spPr>
        <p:txBody>
          <a:bodyPr rtlCol="0" anchor="ctr"/>
          <a:lstStyle/>
          <a:p>
            <a:pPr algn="ctr"/>
          </a:p>
        </p:txBody>
      </p:sp>
      <p:sp>
        <p:nvSpPr>
          <p:cNvPr id="19" name="Rectangle 18"/>
          <p:cNvSpPr/>
          <p:nvPr/>
        </p:nvSpPr>
        <p:spPr>
          <a:xfrm>
            <a:off x="6199632" y="2837891"/>
            <a:ext cx="36576" cy="838200"/>
          </a:xfrm>
          <a:prstGeom prst="rect">
            <a:avLst/>
          </a:prstGeom>
          <a:solidFill>
            <a:srgbClr val="2563EB"/>
          </a:solidFill>
          <a:ln>
            <a:noFill/>
          </a:ln>
        </p:spPr>
        <p:txBody>
          <a:bodyPr rtlCol="0" anchor="ctr"/>
          <a:lstStyle/>
          <a:p>
            <a:pPr algn="ctr"/>
          </a:p>
        </p:txBody>
      </p:sp>
      <p:sp>
        <p:nvSpPr>
          <p:cNvPr id="20" name="Oval 19"/>
          <p:cNvSpPr/>
          <p:nvPr/>
        </p:nvSpPr>
        <p:spPr>
          <a:xfrm>
            <a:off x="11448288" y="2807157"/>
            <a:ext cx="201168" cy="201168"/>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21" name="Rectangle 20"/>
          <p:cNvSpPr/>
          <p:nvPr/>
        </p:nvSpPr>
        <p:spPr>
          <a:xfrm>
            <a:off x="6199632" y="3676091"/>
            <a:ext cx="5321808" cy="419100"/>
          </a:xfrm>
          <a:prstGeom prst="rect">
            <a:avLst/>
          </a:prstGeom>
          <a:solidFill>
            <a:srgbClr val="E6F5EE"/>
          </a:solidFill>
          <a:ln>
            <a:noFill/>
          </a:ln>
        </p:spPr>
        <p:txBody>
          <a:bodyPr rtlCol="0" anchor="ctr"/>
          <a:lstStyle/>
          <a:p>
            <a:pPr algn="ctr"/>
          </a:p>
        </p:txBody>
      </p:sp>
      <p:sp>
        <p:nvSpPr>
          <p:cNvPr id="22" name="Rectangle 21"/>
          <p:cNvSpPr/>
          <p:nvPr/>
        </p:nvSpPr>
        <p:spPr>
          <a:xfrm>
            <a:off x="6199632" y="3676091"/>
            <a:ext cx="36576" cy="419100"/>
          </a:xfrm>
          <a:prstGeom prst="rect">
            <a:avLst/>
          </a:prstGeom>
          <a:solidFill>
            <a:srgbClr val="059669"/>
          </a:solidFill>
          <a:ln>
            <a:noFill/>
          </a:ln>
        </p:spPr>
        <p:txBody>
          <a:bodyPr rtlCol="0" anchor="ctr"/>
          <a:lstStyle/>
          <a:p>
            <a:pPr algn="ctr"/>
          </a:p>
        </p:txBody>
      </p:sp>
      <p:sp>
        <p:nvSpPr>
          <p:cNvPr id="23" name="Oval 22"/>
          <p:cNvSpPr/>
          <p:nvPr/>
        </p:nvSpPr>
        <p:spPr>
          <a:xfrm>
            <a:off x="11448288" y="3645357"/>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24" name="Rectangle 23"/>
          <p:cNvSpPr/>
          <p:nvPr/>
        </p:nvSpPr>
        <p:spPr>
          <a:xfrm>
            <a:off x="6199632" y="4095191"/>
            <a:ext cx="5321808" cy="279400"/>
          </a:xfrm>
          <a:prstGeom prst="rect">
            <a:avLst/>
          </a:prstGeom>
          <a:solidFill>
            <a:srgbClr val="F2ECFD"/>
          </a:solidFill>
          <a:ln>
            <a:noFill/>
          </a:ln>
        </p:spPr>
        <p:txBody>
          <a:bodyPr rtlCol="0" anchor="ctr"/>
          <a:lstStyle/>
          <a:p>
            <a:pPr algn="ctr"/>
          </a:p>
        </p:txBody>
      </p:sp>
      <p:sp>
        <p:nvSpPr>
          <p:cNvPr id="25" name="Rectangle 24"/>
          <p:cNvSpPr/>
          <p:nvPr/>
        </p:nvSpPr>
        <p:spPr>
          <a:xfrm>
            <a:off x="6199632" y="4095191"/>
            <a:ext cx="36576" cy="279400"/>
          </a:xfrm>
          <a:prstGeom prst="rect">
            <a:avLst/>
          </a:prstGeom>
          <a:solidFill>
            <a:srgbClr val="7C3AED"/>
          </a:solidFill>
          <a:ln>
            <a:noFill/>
          </a:ln>
        </p:spPr>
        <p:txBody>
          <a:bodyPr rtlCol="0" anchor="ctr"/>
          <a:lstStyle/>
          <a:p>
            <a:pPr algn="ctr"/>
          </a:p>
        </p:txBody>
      </p:sp>
      <p:sp>
        <p:nvSpPr>
          <p:cNvPr id="26" name="Oval 25"/>
          <p:cNvSpPr/>
          <p:nvPr/>
        </p:nvSpPr>
        <p:spPr>
          <a:xfrm>
            <a:off x="11448288" y="4064457"/>
            <a:ext cx="201168" cy="201168"/>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27" name="TextBox 26"/>
          <p:cNvSpPr txBox="1"/>
          <p:nvPr/>
        </p:nvSpPr>
        <p:spPr>
          <a:xfrm>
            <a:off x="6263640" y="2569464"/>
            <a:ext cx="5148072" cy="1955800"/>
          </a:xfrm>
          <a:prstGeom prst="rect">
            <a:avLst/>
          </a:prstGeom>
          <a:noFill/>
        </p:spPr>
        <p:txBody>
          <a:bodyPr wrap="none" lIns="0" tIns="0" rIns="0" bIns="0" anchor="t">
            <a:spAutoFit/>
          </a:bodyPr>
          <a:lstStyle/>
          <a:p>
            <a:pPr>
              <a:lnSpc>
                <a:spcPts val="1100"/>
              </a:lnSpc>
            </a:pPr>
            <a:r>
              <a:rPr sz="830" b="0">
                <a:solidFill>
                  <a:srgbClr val="AEB9CC"/>
                </a:solidFill>
                <a:latin typeface="Consolas"/>
                <a:ea typeface="Consolas"/>
                <a:cs typeface="Consolas"/>
              </a:rPr>
              <a:t>62  </a:t>
            </a:r>
            <a:r>
              <a:rPr sz="830" b="0">
                <a:solidFill>
                  <a:srgbClr val="2563EB"/>
                </a:solidFill>
                <a:latin typeface="Consolas"/>
                <a:ea typeface="Consolas"/>
                <a:cs typeface="Consolas"/>
              </a:rPr>
              <a:t>typedef</a:t>
            </a:r>
            <a:r>
              <a:rPr sz="830" b="0">
                <a:solidFill>
                  <a:srgbClr val="1B2740"/>
                </a:solidFill>
                <a:latin typeface="Consolas"/>
                <a:ea typeface="Consolas"/>
                <a:cs typeface="Consolas"/>
              </a:rPr>
              <a:t> </a:t>
            </a:r>
            <a:r>
              <a:rPr sz="830" b="0">
                <a:solidFill>
                  <a:srgbClr val="2563EB"/>
                </a:solidFill>
                <a:latin typeface="Consolas"/>
                <a:ea typeface="Consolas"/>
                <a:cs typeface="Consolas"/>
              </a:rPr>
              <a:t>struct</a:t>
            </a:r>
            <a:r>
              <a:rPr sz="830" b="0">
                <a:solidFill>
                  <a:srgbClr val="1B2740"/>
                </a:solidFill>
                <a:latin typeface="Consolas"/>
                <a:ea typeface="Consolas"/>
                <a:cs typeface="Consolas"/>
              </a:rPr>
              <a:t> </a:t>
            </a:r>
            <a:r>
              <a:rPr sz="830" b="0">
                <a:solidFill>
                  <a:srgbClr val="2563EB"/>
                </a:solidFill>
                <a:latin typeface="Consolas"/>
                <a:ea typeface="Consolas"/>
                <a:cs typeface="Consolas"/>
              </a:rPr>
              <a:t>STRUCT_PlotMsg</a:t>
            </a:r>
          </a:p>
          <a:p>
            <a:pPr>
              <a:lnSpc>
                <a:spcPts val="1100"/>
              </a:lnSpc>
            </a:pPr>
            <a:r>
              <a:rPr sz="830" b="0">
                <a:solidFill>
                  <a:srgbClr val="AEB9CC"/>
                </a:solidFill>
                <a:latin typeface="Consolas"/>
                <a:ea typeface="Consolas"/>
                <a:cs typeface="Consolas"/>
              </a:rPr>
              <a:t>63  </a:t>
            </a:r>
            <a:r>
              <a:rPr sz="830" b="0">
                <a:solidFill>
                  <a:srgbClr val="1B2740"/>
                </a:solidFill>
                <a:latin typeface="Consolas"/>
                <a:ea typeface="Consolas"/>
                <a:cs typeface="Consolas"/>
              </a:rPr>
              <a:t>{</a:t>
            </a:r>
          </a:p>
          <a:p>
            <a:pPr>
              <a:lnSpc>
                <a:spcPts val="1100"/>
              </a:lnSpc>
            </a:pPr>
            <a:r>
              <a:rPr sz="830" b="0">
                <a:solidFill>
                  <a:srgbClr val="AEB9CC"/>
                </a:solidFill>
                <a:latin typeface="Consolas"/>
                <a:ea typeface="Consolas"/>
                <a:cs typeface="Consolas"/>
              </a:rPr>
              <a:t>64  </a:t>
            </a:r>
            <a:r>
              <a:rPr sz="830" b="0">
                <a:solidFill>
                  <a:srgbClr val="1B2740"/>
                </a:solidFill>
                <a:latin typeface="Consolas"/>
                <a:ea typeface="Consolas"/>
                <a:cs typeface="Consolas"/>
              </a:rPr>
              <a:t>  </a:t>
            </a:r>
            <a:r>
              <a:rPr sz="830" b="0">
                <a:solidFill>
                  <a:srgbClr val="2563EB"/>
                </a:solidFill>
                <a:latin typeface="Consolas"/>
                <a:ea typeface="Consolas"/>
                <a:cs typeface="Consolas"/>
              </a:rPr>
              <a:t>UINT32</a:t>
            </a:r>
            <a:r>
              <a:rPr sz="830" b="0">
                <a:solidFill>
                  <a:srgbClr val="1B2740"/>
                </a:solidFill>
                <a:latin typeface="Consolas"/>
                <a:ea typeface="Consolas"/>
                <a:cs typeface="Consolas"/>
              </a:rPr>
              <a:t>  MsgId;</a:t>
            </a:r>
          </a:p>
          <a:p>
            <a:pPr>
              <a:lnSpc>
                <a:spcPts val="1100"/>
              </a:lnSpc>
            </a:pPr>
            <a:r>
              <a:rPr sz="830" b="0">
                <a:solidFill>
                  <a:srgbClr val="AEB9CC"/>
                </a:solidFill>
                <a:latin typeface="Consolas"/>
                <a:ea typeface="Consolas"/>
                <a:cs typeface="Consolas"/>
              </a:rPr>
              <a:t>65  </a:t>
            </a:r>
            <a:r>
              <a:rPr sz="830" b="0">
                <a:solidFill>
                  <a:srgbClr val="1B2740"/>
                </a:solidFill>
                <a:latin typeface="Consolas"/>
                <a:ea typeface="Consolas"/>
                <a:cs typeface="Consolas"/>
              </a:rPr>
              <a:t>  </a:t>
            </a:r>
            <a:r>
              <a:rPr sz="830" b="0">
                <a:solidFill>
                  <a:srgbClr val="2563EB"/>
                </a:solidFill>
                <a:latin typeface="Consolas"/>
                <a:ea typeface="Consolas"/>
                <a:cs typeface="Consolas"/>
              </a:rPr>
              <a:t>UINT32</a:t>
            </a:r>
            <a:r>
              <a:rPr sz="830" b="0">
                <a:solidFill>
                  <a:srgbClr val="1B2740"/>
                </a:solidFill>
                <a:latin typeface="Consolas"/>
                <a:ea typeface="Consolas"/>
                <a:cs typeface="Consolas"/>
              </a:rPr>
              <a:t>  MsgSize;  </a:t>
            </a:r>
            <a:r>
              <a:rPr sz="830" b="0">
                <a:solidFill>
                  <a:srgbClr val="059669"/>
                </a:solidFill>
                <a:latin typeface="맑은 고딕"/>
                <a:ea typeface="맑은 고딕"/>
                <a:cs typeface="맑은 고딕"/>
              </a:rPr>
              <a:t>// 보내는 바이트 수</a:t>
            </a:r>
          </a:p>
          <a:p>
            <a:pPr>
              <a:lnSpc>
                <a:spcPts val="1100"/>
              </a:lnSpc>
            </a:pPr>
            <a:r>
              <a:rPr sz="830" b="0">
                <a:solidFill>
                  <a:srgbClr val="AEB9CC"/>
                </a:solidFill>
                <a:latin typeface="Consolas"/>
                <a:ea typeface="Consolas"/>
                <a:cs typeface="Consolas"/>
              </a:rPr>
              <a:t>66  </a:t>
            </a:r>
            <a:r>
              <a:rPr sz="830" b="0">
                <a:solidFill>
                  <a:srgbClr val="1B2740"/>
                </a:solidFill>
                <a:latin typeface="Consolas"/>
                <a:ea typeface="Consolas"/>
                <a:cs typeface="Consolas"/>
              </a:rPr>
              <a:t>  </a:t>
            </a:r>
            <a:r>
              <a:rPr sz="830" b="0">
                <a:solidFill>
                  <a:srgbClr val="2563EB"/>
                </a:solidFill>
                <a:latin typeface="Consolas"/>
                <a:ea typeface="Consolas"/>
                <a:cs typeface="Consolas"/>
              </a:rPr>
              <a:t>UINT32</a:t>
            </a:r>
            <a:r>
              <a:rPr sz="830" b="0">
                <a:solidFill>
                  <a:srgbClr val="1B2740"/>
                </a:solidFill>
                <a:latin typeface="Consolas"/>
                <a:ea typeface="Consolas"/>
                <a:cs typeface="Consolas"/>
              </a:rPr>
              <a:t>  ScanNum;</a:t>
            </a:r>
          </a:p>
          <a:p>
            <a:pPr>
              <a:lnSpc>
                <a:spcPts val="1100"/>
              </a:lnSpc>
            </a:pPr>
            <a:r>
              <a:rPr sz="830" b="0">
                <a:solidFill>
                  <a:srgbClr val="AEB9CC"/>
                </a:solidFill>
                <a:latin typeface="Consolas"/>
                <a:ea typeface="Consolas"/>
                <a:cs typeface="Consolas"/>
              </a:rPr>
              <a:t>67  </a:t>
            </a:r>
            <a:r>
              <a:rPr sz="830" b="0">
                <a:solidFill>
                  <a:srgbClr val="1B2740"/>
                </a:solidFill>
                <a:latin typeface="Consolas"/>
                <a:ea typeface="Consolas"/>
                <a:cs typeface="Consolas"/>
              </a:rPr>
              <a:t>  </a:t>
            </a:r>
            <a:r>
              <a:rPr sz="830" b="0">
                <a:solidFill>
                  <a:srgbClr val="2563EB"/>
                </a:solidFill>
                <a:latin typeface="Consolas"/>
                <a:ea typeface="Consolas"/>
                <a:cs typeface="Consolas"/>
              </a:rPr>
              <a:t>UINT32</a:t>
            </a:r>
            <a:r>
              <a:rPr sz="830" b="0">
                <a:solidFill>
                  <a:srgbClr val="1B2740"/>
                </a:solidFill>
                <a:latin typeface="Consolas"/>
                <a:ea typeface="Consolas"/>
                <a:cs typeface="Consolas"/>
              </a:rPr>
              <a:t>  TimeStamp_s;  </a:t>
            </a:r>
            <a:r>
              <a:rPr sz="830" b="0">
                <a:solidFill>
                  <a:srgbClr val="059669"/>
                </a:solidFill>
                <a:latin typeface="맑은 고딕"/>
                <a:ea typeface="맑은 고딕"/>
                <a:cs typeface="맑은 고딕"/>
              </a:rPr>
              <a:t>// 스캔 시각</a:t>
            </a:r>
          </a:p>
          <a:p>
            <a:pPr>
              <a:lnSpc>
                <a:spcPts val="1100"/>
              </a:lnSpc>
            </a:pPr>
            <a:r>
              <a:rPr sz="830" b="0">
                <a:solidFill>
                  <a:srgbClr val="AEB9CC"/>
                </a:solidFill>
                <a:latin typeface="Consolas"/>
                <a:ea typeface="Consolas"/>
                <a:cs typeface="Consolas"/>
              </a:rPr>
              <a:t>68  </a:t>
            </a:r>
            <a:r>
              <a:rPr sz="830" b="0">
                <a:solidFill>
                  <a:srgbClr val="1B2740"/>
                </a:solidFill>
                <a:latin typeface="Consolas"/>
                <a:ea typeface="Consolas"/>
                <a:cs typeface="Consolas"/>
              </a:rPr>
              <a:t>  </a:t>
            </a:r>
            <a:r>
              <a:rPr sz="830" b="0">
                <a:solidFill>
                  <a:srgbClr val="2563EB"/>
                </a:solidFill>
                <a:latin typeface="Consolas"/>
                <a:ea typeface="Consolas"/>
                <a:cs typeface="Consolas"/>
              </a:rPr>
              <a:t>UINT32</a:t>
            </a:r>
            <a:r>
              <a:rPr sz="830" b="0">
                <a:solidFill>
                  <a:srgbClr val="1B2740"/>
                </a:solidFill>
                <a:latin typeface="Consolas"/>
                <a:ea typeface="Consolas"/>
                <a:cs typeface="Consolas"/>
              </a:rPr>
              <a:t>  TimeStamp_ns;</a:t>
            </a:r>
          </a:p>
          <a:p>
            <a:pPr>
              <a:lnSpc>
                <a:spcPts val="1100"/>
              </a:lnSpc>
            </a:pPr>
            <a:r>
              <a:rPr sz="830" b="0">
                <a:solidFill>
                  <a:srgbClr val="AEB9CC"/>
                </a:solidFill>
                <a:latin typeface="Consolas"/>
                <a:ea typeface="Consolas"/>
                <a:cs typeface="Consolas"/>
              </a:rPr>
              <a:t>69  </a:t>
            </a:r>
            <a:r>
              <a:rPr sz="830" b="0">
                <a:solidFill>
                  <a:srgbClr val="1B2740"/>
                </a:solidFill>
                <a:latin typeface="Consolas"/>
                <a:ea typeface="Consolas"/>
                <a:cs typeface="Consolas"/>
              </a:rPr>
              <a:t>  </a:t>
            </a:r>
            <a:r>
              <a:rPr sz="830" b="0">
                <a:solidFill>
                  <a:srgbClr val="2563EB"/>
                </a:solidFill>
                <a:latin typeface="Consolas"/>
                <a:ea typeface="Consolas"/>
                <a:cs typeface="Consolas"/>
              </a:rPr>
              <a:t>UINT32</a:t>
            </a:r>
            <a:r>
              <a:rPr sz="830" b="0">
                <a:solidFill>
                  <a:srgbClr val="1B2740"/>
                </a:solidFill>
                <a:latin typeface="Consolas"/>
                <a:ea typeface="Consolas"/>
                <a:cs typeface="Consolas"/>
              </a:rPr>
              <a:t>  PlotNum;  </a:t>
            </a:r>
            <a:r>
              <a:rPr sz="830" b="0">
                <a:solidFill>
                  <a:srgbClr val="059669"/>
                </a:solidFill>
                <a:latin typeface="맑은 고딕"/>
                <a:ea typeface="맑은 고딕"/>
                <a:cs typeface="맑은 고딕"/>
              </a:rPr>
              <a:t>// 표적 플롯 + 클러터</a:t>
            </a:r>
          </a:p>
          <a:p>
            <a:pPr>
              <a:lnSpc>
                <a:spcPts val="1100"/>
              </a:lnSpc>
            </a:pPr>
            <a:r>
              <a:rPr sz="830" b="0">
                <a:solidFill>
                  <a:srgbClr val="AEB9CC"/>
                </a:solidFill>
                <a:latin typeface="Consolas"/>
                <a:ea typeface="Consolas"/>
                <a:cs typeface="Consolas"/>
              </a:rPr>
              <a:t>70  </a:t>
            </a:r>
            <a:r>
              <a:rPr sz="830" b="0">
                <a:solidFill>
                  <a:srgbClr val="1B2740"/>
                </a:solidFill>
                <a:latin typeface="Consolas"/>
                <a:ea typeface="Consolas"/>
                <a:cs typeface="Consolas"/>
              </a:rPr>
              <a:t>  </a:t>
            </a:r>
            <a:r>
              <a:rPr sz="830" b="0">
                <a:solidFill>
                  <a:srgbClr val="2563EB"/>
                </a:solidFill>
                <a:latin typeface="Consolas"/>
                <a:ea typeface="Consolas"/>
                <a:cs typeface="Consolas"/>
              </a:rPr>
              <a:t>FLOAT32</a:t>
            </a:r>
            <a:r>
              <a:rPr sz="830" b="0">
                <a:solidFill>
                  <a:srgbClr val="1B2740"/>
                </a:solidFill>
                <a:latin typeface="Consolas"/>
                <a:ea typeface="Consolas"/>
                <a:cs typeface="Consolas"/>
              </a:rPr>
              <a:t>  Sigma_Range;  </a:t>
            </a:r>
            <a:r>
              <a:rPr sz="830" b="0">
                <a:solidFill>
                  <a:srgbClr val="059669"/>
                </a:solidFill>
                <a:latin typeface="맑은 고딕"/>
                <a:ea typeface="맑은 고딕"/>
                <a:cs typeface="맑은 고딕"/>
              </a:rPr>
              <a:t>// 측정 표준편차 [m]</a:t>
            </a:r>
          </a:p>
          <a:p>
            <a:pPr>
              <a:lnSpc>
                <a:spcPts val="1100"/>
              </a:lnSpc>
            </a:pPr>
            <a:r>
              <a:rPr sz="830" b="0">
                <a:solidFill>
                  <a:srgbClr val="AEB9CC"/>
                </a:solidFill>
                <a:latin typeface="Consolas"/>
                <a:ea typeface="Consolas"/>
                <a:cs typeface="Consolas"/>
              </a:rPr>
              <a:t>71  </a:t>
            </a:r>
            <a:r>
              <a:rPr sz="830" b="0">
                <a:solidFill>
                  <a:srgbClr val="1B2740"/>
                </a:solidFill>
                <a:latin typeface="Consolas"/>
                <a:ea typeface="Consolas"/>
                <a:cs typeface="Consolas"/>
              </a:rPr>
              <a:t>  </a:t>
            </a:r>
            <a:r>
              <a:rPr sz="830" b="0">
                <a:solidFill>
                  <a:srgbClr val="2563EB"/>
                </a:solidFill>
                <a:latin typeface="Consolas"/>
                <a:ea typeface="Consolas"/>
                <a:cs typeface="Consolas"/>
              </a:rPr>
              <a:t>FLOAT32</a:t>
            </a:r>
            <a:r>
              <a:rPr sz="830" b="0">
                <a:solidFill>
                  <a:srgbClr val="1B2740"/>
                </a:solidFill>
                <a:latin typeface="Consolas"/>
                <a:ea typeface="Consolas"/>
                <a:cs typeface="Consolas"/>
              </a:rPr>
              <a:t>  Sigma_Azimuth;  </a:t>
            </a:r>
            <a:r>
              <a:rPr sz="830" b="0">
                <a:solidFill>
                  <a:srgbClr val="059669"/>
                </a:solidFill>
                <a:latin typeface="맑은 고딕"/>
                <a:ea typeface="맑은 고딕"/>
                <a:cs typeface="맑은 고딕"/>
              </a:rPr>
              <a:t>// [rad]</a:t>
            </a:r>
          </a:p>
          <a:p>
            <a:pPr>
              <a:lnSpc>
                <a:spcPts val="1100"/>
              </a:lnSpc>
            </a:pPr>
            <a:r>
              <a:rPr sz="830" b="0">
                <a:solidFill>
                  <a:srgbClr val="AEB9CC"/>
                </a:solidFill>
                <a:latin typeface="Consolas"/>
                <a:ea typeface="Consolas"/>
                <a:cs typeface="Consolas"/>
              </a:rPr>
              <a:t>72  </a:t>
            </a:r>
            <a:r>
              <a:rPr sz="830" b="0">
                <a:solidFill>
                  <a:srgbClr val="1B2740"/>
                </a:solidFill>
                <a:latin typeface="Consolas"/>
                <a:ea typeface="Consolas"/>
                <a:cs typeface="Consolas"/>
              </a:rPr>
              <a:t>  </a:t>
            </a:r>
            <a:r>
              <a:rPr sz="830" b="0">
                <a:solidFill>
                  <a:srgbClr val="2563EB"/>
                </a:solidFill>
                <a:latin typeface="Consolas"/>
                <a:ea typeface="Consolas"/>
                <a:cs typeface="Consolas"/>
              </a:rPr>
              <a:t>FLOAT32</a:t>
            </a:r>
            <a:r>
              <a:rPr sz="830" b="0">
                <a:solidFill>
                  <a:srgbClr val="1B2740"/>
                </a:solidFill>
                <a:latin typeface="Consolas"/>
                <a:ea typeface="Consolas"/>
                <a:cs typeface="Consolas"/>
              </a:rPr>
              <a:t>  Sigma_Elevation;  </a:t>
            </a:r>
            <a:r>
              <a:rPr sz="830" b="0">
                <a:solidFill>
                  <a:srgbClr val="059669"/>
                </a:solidFill>
                <a:latin typeface="맑은 고딕"/>
                <a:ea typeface="맑은 고딕"/>
                <a:cs typeface="맑은 고딕"/>
              </a:rPr>
              <a:t>// [rad]</a:t>
            </a:r>
          </a:p>
          <a:p>
            <a:pPr>
              <a:lnSpc>
                <a:spcPts val="1100"/>
              </a:lnSpc>
            </a:pPr>
            <a:r>
              <a:rPr sz="830" b="0">
                <a:solidFill>
                  <a:srgbClr val="AEB9CC"/>
                </a:solidFill>
                <a:latin typeface="Consolas"/>
                <a:ea typeface="Consolas"/>
                <a:cs typeface="Consolas"/>
              </a:rPr>
              <a:t>73  </a:t>
            </a:r>
            <a:r>
              <a:rPr sz="830" b="0">
                <a:solidFill>
                  <a:srgbClr val="1B2740"/>
                </a:solidFill>
                <a:latin typeface="Consolas"/>
                <a:ea typeface="Consolas"/>
                <a:cs typeface="Consolas"/>
              </a:rPr>
              <a:t>  </a:t>
            </a:r>
            <a:r>
              <a:rPr sz="830" b="0">
                <a:solidFill>
                  <a:srgbClr val="2563EB"/>
                </a:solidFill>
                <a:latin typeface="Consolas"/>
                <a:ea typeface="Consolas"/>
                <a:cs typeface="Consolas"/>
              </a:rPr>
              <a:t>STRUCT_PlatformInfo</a:t>
            </a:r>
            <a:r>
              <a:rPr sz="830" b="0">
                <a:solidFill>
                  <a:srgbClr val="1B2740"/>
                </a:solidFill>
                <a:latin typeface="Consolas"/>
                <a:ea typeface="Consolas"/>
                <a:cs typeface="Consolas"/>
              </a:rPr>
              <a:t>  st_Platform;</a:t>
            </a:r>
          </a:p>
          <a:p>
            <a:pPr>
              <a:lnSpc>
                <a:spcPts val="1100"/>
              </a:lnSpc>
            </a:pPr>
            <a:r>
              <a:rPr sz="830" b="0">
                <a:solidFill>
                  <a:srgbClr val="AEB9CC"/>
                </a:solidFill>
                <a:latin typeface="Consolas"/>
                <a:ea typeface="Consolas"/>
                <a:cs typeface="Consolas"/>
              </a:rPr>
              <a:t>74  </a:t>
            </a:r>
            <a:r>
              <a:rPr sz="830" b="0">
                <a:solidFill>
                  <a:srgbClr val="1B2740"/>
                </a:solidFill>
                <a:latin typeface="Consolas"/>
                <a:ea typeface="Consolas"/>
                <a:cs typeface="Consolas"/>
              </a:rPr>
              <a:t>  </a:t>
            </a:r>
            <a:r>
              <a:rPr sz="830" b="0">
                <a:solidFill>
                  <a:srgbClr val="2563EB"/>
                </a:solidFill>
                <a:latin typeface="Consolas"/>
                <a:ea typeface="Consolas"/>
                <a:cs typeface="Consolas"/>
              </a:rPr>
              <a:t>STRUCT_PlotInfo</a:t>
            </a:r>
            <a:r>
              <a:rPr sz="830" b="0">
                <a:solidFill>
                  <a:srgbClr val="1B2740"/>
                </a:solidFill>
                <a:latin typeface="Consolas"/>
                <a:ea typeface="Consolas"/>
                <a:cs typeface="Consolas"/>
              </a:rPr>
              <a:t>  st_Plot[</a:t>
            </a:r>
            <a:r>
              <a:rPr sz="830" b="0">
                <a:solidFill>
                  <a:srgbClr val="7C3AED"/>
                </a:solidFill>
                <a:latin typeface="Consolas"/>
                <a:ea typeface="Consolas"/>
                <a:cs typeface="Consolas"/>
              </a:rPr>
              <a:t>IDD_MAX_PLOT</a:t>
            </a:r>
            <a:r>
              <a:rPr sz="830" b="0">
                <a:solidFill>
                  <a:srgbClr val="1B2740"/>
                </a:solidFill>
                <a:latin typeface="Consolas"/>
                <a:ea typeface="Consolas"/>
                <a:cs typeface="Consolas"/>
              </a:rPr>
              <a:t>];</a:t>
            </a:r>
          </a:p>
          <a:p>
            <a:pPr>
              <a:lnSpc>
                <a:spcPts val="1100"/>
              </a:lnSpc>
            </a:pPr>
            <a:r>
              <a:rPr sz="830" b="0">
                <a:solidFill>
                  <a:srgbClr val="AEB9CC"/>
                </a:solidFill>
                <a:latin typeface="Consolas"/>
                <a:ea typeface="Consolas"/>
                <a:cs typeface="Consolas"/>
              </a:rPr>
              <a:t>75  </a:t>
            </a:r>
            <a:r>
              <a:rPr sz="830" b="0">
                <a:solidFill>
                  <a:srgbClr val="1B2740"/>
                </a:solidFill>
                <a:latin typeface="Consolas"/>
                <a:ea typeface="Consolas"/>
                <a:cs typeface="Consolas"/>
              </a:rPr>
              <a:t>}</a:t>
            </a:r>
            <a:r>
              <a:rPr sz="830" b="0">
                <a:solidFill>
                  <a:srgbClr val="2563EB"/>
                </a:solidFill>
                <a:latin typeface="Consolas"/>
                <a:ea typeface="Consolas"/>
                <a:cs typeface="Consolas"/>
              </a:rPr>
              <a:t>STRUCT_PlotMsg</a:t>
            </a:r>
            <a:r>
              <a:rPr sz="830" b="0">
                <a:solidFill>
                  <a:srgbClr val="1B2740"/>
                </a:solidFill>
                <a:latin typeface="Consolas"/>
                <a:ea typeface="Consolas"/>
                <a:cs typeface="Consolas"/>
              </a:rPr>
              <a:t>;</a:t>
            </a:r>
          </a:p>
        </p:txBody>
      </p:sp>
      <p:sp>
        <p:nvSpPr>
          <p:cNvPr id="28" name="Oval 27"/>
          <p:cNvSpPr/>
          <p:nvPr/>
        </p:nvSpPr>
        <p:spPr>
          <a:xfrm>
            <a:off x="6217920" y="4735576"/>
            <a:ext cx="201168" cy="201168"/>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29" name="TextBox 28"/>
          <p:cNvSpPr txBox="1"/>
          <p:nvPr/>
        </p:nvSpPr>
        <p:spPr>
          <a:xfrm>
            <a:off x="6510528" y="4726432"/>
            <a:ext cx="5029200" cy="228600"/>
          </a:xfrm>
          <a:prstGeom prst="rect">
            <a:avLst/>
          </a:prstGeom>
          <a:noFill/>
        </p:spPr>
        <p:txBody>
          <a:bodyPr wrap="square" lIns="0" tIns="0" rIns="0" bIns="0" anchor="ctr">
            <a:spAutoFit/>
          </a:bodyPr>
          <a:lstStyle/>
          <a:p>
            <a:pPr algn="l"/>
            <a:r>
              <a:rPr sz="1000" b="0">
                <a:solidFill>
                  <a:srgbClr val="1B2740"/>
                </a:solidFill>
                <a:latin typeface="맑은 고딕"/>
                <a:ea typeface="맑은 고딕"/>
                <a:cs typeface="맑은 고딕"/>
              </a:rPr>
              <a:t>송신은 안테나 구좌표 세 칸만 채운다</a:t>
            </a:r>
          </a:p>
        </p:txBody>
      </p:sp>
      <p:sp>
        <p:nvSpPr>
          <p:cNvPr id="30" name="Oval 29"/>
          <p:cNvSpPr/>
          <p:nvPr/>
        </p:nvSpPr>
        <p:spPr>
          <a:xfrm>
            <a:off x="6217920" y="5000752"/>
            <a:ext cx="201168" cy="201168"/>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31" name="TextBox 30"/>
          <p:cNvSpPr txBox="1"/>
          <p:nvPr/>
        </p:nvSpPr>
        <p:spPr>
          <a:xfrm>
            <a:off x="6510528" y="4991608"/>
            <a:ext cx="5029200" cy="228600"/>
          </a:xfrm>
          <a:prstGeom prst="rect">
            <a:avLst/>
          </a:prstGeom>
          <a:noFill/>
        </p:spPr>
        <p:txBody>
          <a:bodyPr wrap="square" lIns="0" tIns="0" rIns="0" bIns="0" anchor="ctr">
            <a:spAutoFit/>
          </a:bodyPr>
          <a:lstStyle/>
          <a:p>
            <a:pPr algn="l"/>
            <a:r>
              <a:rPr sz="1000" b="0">
                <a:solidFill>
                  <a:srgbClr val="1B2740"/>
                </a:solidFill>
                <a:latin typeface="맑은 고딕"/>
                <a:ea typeface="맑은 고딕"/>
                <a:cs typeface="맑은 고딕"/>
              </a:rPr>
              <a:t>Y_Body 다음부터 이어 쓴 칸 (받는 쪽이 계산해 채움)</a:t>
            </a:r>
          </a:p>
        </p:txBody>
      </p:sp>
      <p:sp>
        <p:nvSpPr>
          <p:cNvPr id="32" name="Oval 31"/>
          <p:cNvSpPr/>
          <p:nvPr/>
        </p:nvSpPr>
        <p:spPr>
          <a:xfrm>
            <a:off x="6217920" y="5265928"/>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33" name="TextBox 32"/>
          <p:cNvSpPr txBox="1"/>
          <p:nvPr/>
        </p:nvSpPr>
        <p:spPr>
          <a:xfrm>
            <a:off x="6510528" y="5256784"/>
            <a:ext cx="5029200" cy="228600"/>
          </a:xfrm>
          <a:prstGeom prst="rect">
            <a:avLst/>
          </a:prstGeom>
          <a:noFill/>
        </p:spPr>
        <p:txBody>
          <a:bodyPr wrap="square" lIns="0" tIns="0" rIns="0" bIns="0" anchor="ctr">
            <a:spAutoFit/>
          </a:bodyPr>
          <a:lstStyle/>
          <a:p>
            <a:pPr algn="l"/>
            <a:r>
              <a:rPr sz="1000" b="0">
                <a:solidFill>
                  <a:srgbClr val="1B2740"/>
                </a:solidFill>
                <a:latin typeface="맑은 고딕"/>
                <a:ea typeface="맑은 고딕"/>
                <a:cs typeface="맑은 고딕"/>
              </a:rPr>
              <a:t>머리: 종류 · 크기 · 스캔 번호 · 시각 · 플롯 수</a:t>
            </a:r>
          </a:p>
        </p:txBody>
      </p:sp>
      <p:sp>
        <p:nvSpPr>
          <p:cNvPr id="34" name="Oval 33"/>
          <p:cNvSpPr/>
          <p:nvPr/>
        </p:nvSpPr>
        <p:spPr>
          <a:xfrm>
            <a:off x="6217920" y="5531104"/>
            <a:ext cx="201168" cy="201168"/>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35" name="TextBox 34"/>
          <p:cNvSpPr txBox="1"/>
          <p:nvPr/>
        </p:nvSpPr>
        <p:spPr>
          <a:xfrm>
            <a:off x="6510528" y="5521960"/>
            <a:ext cx="5029200" cy="228600"/>
          </a:xfrm>
          <a:prstGeom prst="rect">
            <a:avLst/>
          </a:prstGeom>
          <a:noFill/>
        </p:spPr>
        <p:txBody>
          <a:bodyPr wrap="square" lIns="0" tIns="0" rIns="0" bIns="0" anchor="ctr">
            <a:spAutoFit/>
          </a:bodyPr>
          <a:lstStyle/>
          <a:p>
            <a:pPr algn="l"/>
            <a:r>
              <a:rPr sz="1000" b="0">
                <a:solidFill>
                  <a:srgbClr val="1B2740"/>
                </a:solidFill>
                <a:latin typeface="맑은 고딕"/>
                <a:ea typeface="맑은 고딕"/>
                <a:cs typeface="맑은 고딕"/>
              </a:rPr>
              <a:t>측정 표준편차: 받는 쪽 오차 공분산 계산에 씀</a:t>
            </a:r>
          </a:p>
        </p:txBody>
      </p:sp>
      <p:sp>
        <p:nvSpPr>
          <p:cNvPr id="36" name="Oval 35"/>
          <p:cNvSpPr/>
          <p:nvPr/>
        </p:nvSpPr>
        <p:spPr>
          <a:xfrm>
            <a:off x="6217920" y="5796280"/>
            <a:ext cx="201168" cy="201168"/>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37" name="TextBox 36"/>
          <p:cNvSpPr txBox="1"/>
          <p:nvPr/>
        </p:nvSpPr>
        <p:spPr>
          <a:xfrm>
            <a:off x="6510528" y="5787136"/>
            <a:ext cx="5029200" cy="228600"/>
          </a:xfrm>
          <a:prstGeom prst="rect">
            <a:avLst/>
          </a:prstGeom>
          <a:noFill/>
        </p:spPr>
        <p:txBody>
          <a:bodyPr wrap="square" lIns="0" tIns="0" rIns="0" bIns="0" anchor="ctr">
            <a:spAutoFit/>
          </a:bodyPr>
          <a:lstStyle/>
          <a:p>
            <a:pPr algn="l"/>
            <a:r>
              <a:rPr sz="1000" b="0">
                <a:solidFill>
                  <a:srgbClr val="1B2740"/>
                </a:solidFill>
                <a:latin typeface="맑은 고딕"/>
                <a:ea typeface="맑은 고딕"/>
                <a:cs typeface="맑은 고딕"/>
              </a:rPr>
              <a:t>플랫폼 위치 · 자세, 플롯 배열 (최대 64 개)</a:t>
            </a:r>
          </a:p>
        </p:txBody>
      </p:sp>
      <p:sp>
        <p:nvSpPr>
          <p:cNvPr id="38" name="TextBox 37"/>
          <p:cNvSpPr txBox="1"/>
          <p:nvPr/>
        </p:nvSpPr>
        <p:spPr>
          <a:xfrm>
            <a:off x="6172200" y="6116320"/>
            <a:ext cx="5376672" cy="228600"/>
          </a:xfrm>
          <a:prstGeom prst="rect">
            <a:avLst/>
          </a:prstGeom>
          <a:noFill/>
        </p:spPr>
        <p:txBody>
          <a:bodyPr wrap="square" lIns="0" tIns="0" rIns="0" bIns="0" anchor="t">
            <a:spAutoFit/>
          </a:bodyPr>
          <a:lstStyle/>
          <a:p>
            <a:pPr algn="l"/>
            <a:r>
              <a:rPr sz="950" b="0">
                <a:solidFill>
                  <a:srgbClr val="4A5A7A"/>
                </a:solidFill>
                <a:latin typeface="맑은 고딕"/>
                <a:ea typeface="맑은 고딕"/>
                <a:cs typeface="맑은 고딕"/>
              </a:rPr>
              <a:t>보내는 크기 = 머리 72 B + 플롯 121 B x 플롯 수  (표적 5 + 클러터 5 -&gt; 1,282 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3.4 송신: 플롯 메시지 만들기 (f_Lnk_BuildMsg)</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표적 플롯과 클러터를 섞어 방위각 순서로 담고, 플롯마다 ID 를 매겨 안테나 구좌표만 채웁니다.</a:t>
            </a:r>
            <a:endParaRPr lang="en-US" sz="1250" dirty="0"/>
          </a:p>
        </p:txBody>
      </p:sp>
      <p:sp>
        <p:nvSpPr>
          <p:cNvPr id="5" name="TextBox 4"/>
          <p:cNvSpPr txBox="1"/>
          <p:nvPr/>
        </p:nvSpPr>
        <p:spPr>
          <a:xfrm>
            <a:off x="6675120" y="1216152"/>
            <a:ext cx="4873752" cy="438912"/>
          </a:xfrm>
          <a:prstGeom prst="rect">
            <a:avLst/>
          </a:prstGeom>
          <a:noFill/>
        </p:spPr>
        <p:txBody>
          <a:bodyPr wrap="square" lIns="0" tIns="0" rIns="0" bIns="0" anchor="ctr">
            <a:spAutoFit/>
          </a:bodyPr>
          <a:lstStyle/>
          <a:p>
            <a:pPr algn="r"/>
            <a:r>
              <a:rPr sz="1000" b="0">
                <a:solidFill>
                  <a:srgbClr val="8794AC"/>
                </a:solidFill>
                <a:latin typeface="Consolas"/>
                <a:ea typeface="Consolas"/>
                <a:cs typeface="Consolas"/>
              </a:rPr>
              <a:t>TargetSimCore/src/PlotLink.c</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Rectangle 6"/>
          <p:cNvSpPr/>
          <p:nvPr/>
        </p:nvSpPr>
        <p:spPr>
          <a:xfrm>
            <a:off x="640080" y="2240280"/>
            <a:ext cx="7178040" cy="3847591"/>
          </a:xfrm>
          <a:prstGeom prst="rect">
            <a:avLst/>
          </a:prstGeom>
          <a:solidFill>
            <a:srgbClr val="FFFFFF"/>
          </a:solidFill>
          <a:ln w="9525">
            <a:solidFill>
              <a:srgbClr val="D2D9E5"/>
            </a:solidFill>
          </a:ln>
        </p:spPr>
        <p:txBody>
          <a:bodyPr rtlCol="0" anchor="ctr"/>
          <a:lstStyle/>
          <a:p>
            <a:pPr algn="ctr"/>
          </a:p>
        </p:txBody>
      </p:sp>
      <p:sp>
        <p:nvSpPr>
          <p:cNvPr id="8" name="Rectangle 7"/>
          <p:cNvSpPr/>
          <p:nvPr/>
        </p:nvSpPr>
        <p:spPr>
          <a:xfrm>
            <a:off x="667512" y="2565603"/>
            <a:ext cx="7123176" cy="762000"/>
          </a:xfrm>
          <a:prstGeom prst="rect">
            <a:avLst/>
          </a:prstGeom>
          <a:solidFill>
            <a:srgbClr val="FDEEEE"/>
          </a:solidFill>
          <a:ln>
            <a:noFill/>
          </a:ln>
        </p:spPr>
        <p:txBody>
          <a:bodyPr rtlCol="0" anchor="ctr"/>
          <a:lstStyle/>
          <a:p>
            <a:pPr algn="ctr"/>
          </a:p>
        </p:txBody>
      </p:sp>
      <p:sp>
        <p:nvSpPr>
          <p:cNvPr id="9" name="Rectangle 8"/>
          <p:cNvSpPr/>
          <p:nvPr/>
        </p:nvSpPr>
        <p:spPr>
          <a:xfrm>
            <a:off x="667512" y="2565603"/>
            <a:ext cx="36576" cy="762000"/>
          </a:xfrm>
          <a:prstGeom prst="rect">
            <a:avLst/>
          </a:prstGeom>
          <a:solidFill>
            <a:srgbClr val="DC2626"/>
          </a:solidFill>
          <a:ln>
            <a:noFill/>
          </a:ln>
        </p:spPr>
        <p:txBody>
          <a:bodyPr rtlCol="0" anchor="ctr"/>
          <a:lstStyle/>
          <a:p>
            <a:pPr algn="ctr"/>
          </a:p>
        </p:txBody>
      </p:sp>
      <p:sp>
        <p:nvSpPr>
          <p:cNvPr id="10" name="Oval 9"/>
          <p:cNvSpPr/>
          <p:nvPr/>
        </p:nvSpPr>
        <p:spPr>
          <a:xfrm>
            <a:off x="7717536" y="2528519"/>
            <a:ext cx="201168" cy="201168"/>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11" name="Rectangle 10"/>
          <p:cNvSpPr/>
          <p:nvPr/>
        </p:nvSpPr>
        <p:spPr>
          <a:xfrm>
            <a:off x="667512" y="3454603"/>
            <a:ext cx="7123176" cy="127000"/>
          </a:xfrm>
          <a:prstGeom prst="rect">
            <a:avLst/>
          </a:prstGeom>
          <a:solidFill>
            <a:srgbClr val="FEF3E2"/>
          </a:solidFill>
          <a:ln>
            <a:noFill/>
          </a:ln>
        </p:spPr>
        <p:txBody>
          <a:bodyPr rtlCol="0" anchor="ctr"/>
          <a:lstStyle/>
          <a:p>
            <a:pPr algn="ctr"/>
          </a:p>
        </p:txBody>
      </p:sp>
      <p:sp>
        <p:nvSpPr>
          <p:cNvPr id="12" name="Rectangle 11"/>
          <p:cNvSpPr/>
          <p:nvPr/>
        </p:nvSpPr>
        <p:spPr>
          <a:xfrm>
            <a:off x="667512" y="3454603"/>
            <a:ext cx="36576" cy="127000"/>
          </a:xfrm>
          <a:prstGeom prst="rect">
            <a:avLst/>
          </a:prstGeom>
          <a:solidFill>
            <a:srgbClr val="D97706"/>
          </a:solidFill>
          <a:ln>
            <a:noFill/>
          </a:ln>
        </p:spPr>
        <p:txBody>
          <a:bodyPr rtlCol="0" anchor="ctr"/>
          <a:lstStyle/>
          <a:p>
            <a:pPr algn="ctr"/>
          </a:p>
        </p:txBody>
      </p:sp>
      <p:sp>
        <p:nvSpPr>
          <p:cNvPr id="13" name="Oval 12"/>
          <p:cNvSpPr/>
          <p:nvPr/>
        </p:nvSpPr>
        <p:spPr>
          <a:xfrm>
            <a:off x="7717536" y="3417519"/>
            <a:ext cx="201168" cy="201168"/>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4" name="Rectangle 13"/>
          <p:cNvSpPr/>
          <p:nvPr/>
        </p:nvSpPr>
        <p:spPr>
          <a:xfrm>
            <a:off x="667512" y="3708603"/>
            <a:ext cx="7123176" cy="762000"/>
          </a:xfrm>
          <a:prstGeom prst="rect">
            <a:avLst/>
          </a:prstGeom>
          <a:solidFill>
            <a:srgbClr val="E6F5EE"/>
          </a:solidFill>
          <a:ln>
            <a:noFill/>
          </a:ln>
        </p:spPr>
        <p:txBody>
          <a:bodyPr rtlCol="0" anchor="ctr"/>
          <a:lstStyle/>
          <a:p>
            <a:pPr algn="ctr"/>
          </a:p>
        </p:txBody>
      </p:sp>
      <p:sp>
        <p:nvSpPr>
          <p:cNvPr id="15" name="Rectangle 14"/>
          <p:cNvSpPr/>
          <p:nvPr/>
        </p:nvSpPr>
        <p:spPr>
          <a:xfrm>
            <a:off x="667512" y="3708603"/>
            <a:ext cx="36576" cy="762000"/>
          </a:xfrm>
          <a:prstGeom prst="rect">
            <a:avLst/>
          </a:prstGeom>
          <a:solidFill>
            <a:srgbClr val="059669"/>
          </a:solidFill>
          <a:ln>
            <a:noFill/>
          </a:ln>
        </p:spPr>
        <p:txBody>
          <a:bodyPr rtlCol="0" anchor="ctr"/>
          <a:lstStyle/>
          <a:p>
            <a:pPr algn="ctr"/>
          </a:p>
        </p:txBody>
      </p:sp>
      <p:sp>
        <p:nvSpPr>
          <p:cNvPr id="16" name="Oval 15"/>
          <p:cNvSpPr/>
          <p:nvPr/>
        </p:nvSpPr>
        <p:spPr>
          <a:xfrm>
            <a:off x="7717536" y="3671519"/>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7" name="Rectangle 16"/>
          <p:cNvSpPr/>
          <p:nvPr/>
        </p:nvSpPr>
        <p:spPr>
          <a:xfrm>
            <a:off x="667512" y="4978603"/>
            <a:ext cx="7123176" cy="127000"/>
          </a:xfrm>
          <a:prstGeom prst="rect">
            <a:avLst/>
          </a:prstGeom>
          <a:solidFill>
            <a:srgbClr val="EAF1FD"/>
          </a:solidFill>
          <a:ln>
            <a:noFill/>
          </a:ln>
        </p:spPr>
        <p:txBody>
          <a:bodyPr rtlCol="0" anchor="ctr"/>
          <a:lstStyle/>
          <a:p>
            <a:pPr algn="ctr"/>
          </a:p>
        </p:txBody>
      </p:sp>
      <p:sp>
        <p:nvSpPr>
          <p:cNvPr id="18" name="Rectangle 17"/>
          <p:cNvSpPr/>
          <p:nvPr/>
        </p:nvSpPr>
        <p:spPr>
          <a:xfrm>
            <a:off x="667512" y="4978603"/>
            <a:ext cx="36576" cy="127000"/>
          </a:xfrm>
          <a:prstGeom prst="rect">
            <a:avLst/>
          </a:prstGeom>
          <a:solidFill>
            <a:srgbClr val="2563EB"/>
          </a:solidFill>
          <a:ln>
            <a:noFill/>
          </a:ln>
        </p:spPr>
        <p:txBody>
          <a:bodyPr rtlCol="0" anchor="ctr"/>
          <a:lstStyle/>
          <a:p>
            <a:pPr algn="ctr"/>
          </a:p>
        </p:txBody>
      </p:sp>
      <p:sp>
        <p:nvSpPr>
          <p:cNvPr id="19" name="Oval 18"/>
          <p:cNvSpPr/>
          <p:nvPr/>
        </p:nvSpPr>
        <p:spPr>
          <a:xfrm>
            <a:off x="7717536" y="4941519"/>
            <a:ext cx="201168" cy="201168"/>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20" name="Rectangle 19"/>
          <p:cNvSpPr/>
          <p:nvPr/>
        </p:nvSpPr>
        <p:spPr>
          <a:xfrm>
            <a:off x="667512" y="5232603"/>
            <a:ext cx="7123176" cy="381000"/>
          </a:xfrm>
          <a:prstGeom prst="rect">
            <a:avLst/>
          </a:prstGeom>
          <a:solidFill>
            <a:srgbClr val="EAF1FD"/>
          </a:solidFill>
          <a:ln>
            <a:noFill/>
          </a:ln>
        </p:spPr>
        <p:txBody>
          <a:bodyPr rtlCol="0" anchor="ctr"/>
          <a:lstStyle/>
          <a:p>
            <a:pPr algn="ctr"/>
          </a:p>
        </p:txBody>
      </p:sp>
      <p:sp>
        <p:nvSpPr>
          <p:cNvPr id="21" name="Rectangle 20"/>
          <p:cNvSpPr/>
          <p:nvPr/>
        </p:nvSpPr>
        <p:spPr>
          <a:xfrm>
            <a:off x="667512" y="5232603"/>
            <a:ext cx="36576" cy="381000"/>
          </a:xfrm>
          <a:prstGeom prst="rect">
            <a:avLst/>
          </a:prstGeom>
          <a:solidFill>
            <a:srgbClr val="2563EB"/>
          </a:solidFill>
          <a:ln>
            <a:noFill/>
          </a:ln>
        </p:spPr>
        <p:txBody>
          <a:bodyPr rtlCol="0" anchor="ctr"/>
          <a:lstStyle/>
          <a:p>
            <a:pPr algn="ctr"/>
          </a:p>
        </p:txBody>
      </p:sp>
      <p:sp>
        <p:nvSpPr>
          <p:cNvPr id="22" name="Rectangle 21"/>
          <p:cNvSpPr/>
          <p:nvPr/>
        </p:nvSpPr>
        <p:spPr>
          <a:xfrm>
            <a:off x="667512" y="5740603"/>
            <a:ext cx="7123176" cy="254000"/>
          </a:xfrm>
          <a:prstGeom prst="rect">
            <a:avLst/>
          </a:prstGeom>
          <a:solidFill>
            <a:srgbClr val="F2ECFD"/>
          </a:solidFill>
          <a:ln>
            <a:noFill/>
          </a:ln>
        </p:spPr>
        <p:txBody>
          <a:bodyPr rtlCol="0" anchor="ctr"/>
          <a:lstStyle/>
          <a:p>
            <a:pPr algn="ctr"/>
          </a:p>
        </p:txBody>
      </p:sp>
      <p:sp>
        <p:nvSpPr>
          <p:cNvPr id="23" name="Rectangle 22"/>
          <p:cNvSpPr/>
          <p:nvPr/>
        </p:nvSpPr>
        <p:spPr>
          <a:xfrm>
            <a:off x="667512" y="5740603"/>
            <a:ext cx="36576" cy="254000"/>
          </a:xfrm>
          <a:prstGeom prst="rect">
            <a:avLst/>
          </a:prstGeom>
          <a:solidFill>
            <a:srgbClr val="7C3AED"/>
          </a:solidFill>
          <a:ln>
            <a:noFill/>
          </a:ln>
        </p:spPr>
        <p:txBody>
          <a:bodyPr rtlCol="0" anchor="ctr"/>
          <a:lstStyle/>
          <a:p>
            <a:pPr algn="ctr"/>
          </a:p>
        </p:txBody>
      </p:sp>
      <p:sp>
        <p:nvSpPr>
          <p:cNvPr id="24" name="Oval 23"/>
          <p:cNvSpPr/>
          <p:nvPr/>
        </p:nvSpPr>
        <p:spPr>
          <a:xfrm>
            <a:off x="7717536" y="5703519"/>
            <a:ext cx="201168" cy="201168"/>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25" name="TextBox 24"/>
          <p:cNvSpPr txBox="1"/>
          <p:nvPr/>
        </p:nvSpPr>
        <p:spPr>
          <a:xfrm>
            <a:off x="731519" y="2322576"/>
            <a:ext cx="6949440" cy="3683000"/>
          </a:xfrm>
          <a:prstGeom prst="rect">
            <a:avLst/>
          </a:prstGeom>
          <a:noFill/>
        </p:spPr>
        <p:txBody>
          <a:bodyPr wrap="none" lIns="0" tIns="0" rIns="0" bIns="0" anchor="t">
            <a:spAutoFit/>
          </a:bodyPr>
          <a:lstStyle/>
          <a:p>
            <a:pPr>
              <a:lnSpc>
                <a:spcPts val="1000"/>
              </a:lnSpc>
            </a:pPr>
            <a:r>
              <a:rPr sz="830" b="0">
                <a:solidFill>
                  <a:srgbClr val="AEB9CC"/>
                </a:solidFill>
                <a:latin typeface="Consolas"/>
                <a:ea typeface="Consolas"/>
                <a:cs typeface="Consolas"/>
              </a:rPr>
              <a:t>299  </a:t>
            </a:r>
            <a:r>
              <a:rPr sz="830" b="0">
                <a:solidFill>
                  <a:srgbClr val="2563EB"/>
                </a:solidFill>
                <a:latin typeface="Consolas"/>
                <a:ea typeface="Consolas"/>
                <a:cs typeface="Consolas"/>
              </a:rPr>
              <a:t>static</a:t>
            </a:r>
            <a:r>
              <a:rPr sz="830" b="0">
                <a:solidFill>
                  <a:srgbClr val="1B2740"/>
                </a:solidFill>
                <a:latin typeface="Consolas"/>
                <a:ea typeface="Consolas"/>
                <a:cs typeface="Consolas"/>
              </a:rPr>
              <a:t> </a:t>
            </a:r>
            <a:r>
              <a:rPr sz="830" b="0">
                <a:solidFill>
                  <a:srgbClr val="2563EB"/>
                </a:solidFill>
                <a:latin typeface="Consolas"/>
                <a:ea typeface="Consolas"/>
                <a:cs typeface="Consolas"/>
              </a:rPr>
              <a:t>UINT32</a:t>
            </a:r>
            <a:r>
              <a:rPr sz="830" b="0">
                <a:solidFill>
                  <a:srgbClr val="1B2740"/>
                </a:solidFill>
                <a:latin typeface="Consolas"/>
                <a:ea typeface="Consolas"/>
                <a:cs typeface="Consolas"/>
              </a:rPr>
              <a:t> f_Lnk_BuildMsg(</a:t>
            </a:r>
            <a:r>
              <a:rPr sz="830" b="0">
                <a:solidFill>
                  <a:srgbClr val="2563EB"/>
                </a:solidFill>
                <a:latin typeface="Consolas"/>
                <a:ea typeface="Consolas"/>
                <a:cs typeface="Consolas"/>
              </a:rPr>
              <a:t>STRUCT_PlotMsg</a:t>
            </a:r>
            <a:r>
              <a:rPr sz="830" b="0">
                <a:solidFill>
                  <a:srgbClr val="1B2740"/>
                </a:solidFill>
                <a:latin typeface="Consolas"/>
                <a:ea typeface="Consolas"/>
                <a:cs typeface="Consolas"/>
              </a:rPr>
              <a:t> *st_Msg, </a:t>
            </a:r>
            <a:r>
              <a:rPr sz="830" b="0">
                <a:solidFill>
                  <a:srgbClr val="2563EB"/>
                </a:solidFill>
                <a:latin typeface="Consolas"/>
                <a:ea typeface="Consolas"/>
                <a:cs typeface="Consolas"/>
              </a:rPr>
              <a:t>INT32</a:t>
            </a:r>
            <a:r>
              <a:rPr sz="830" b="0">
                <a:solidFill>
                  <a:srgbClr val="1B2740"/>
                </a:solidFill>
                <a:latin typeface="Consolas"/>
                <a:ea typeface="Consolas"/>
                <a:cs typeface="Consolas"/>
              </a:rPr>
              <a:t> nScan, </a:t>
            </a:r>
            <a:r>
              <a:rPr sz="830" b="0">
                <a:solidFill>
                  <a:srgbClr val="2563EB"/>
                </a:solidFill>
                <a:latin typeface="Consolas"/>
                <a:ea typeface="Consolas"/>
                <a:cs typeface="Consolas"/>
              </a:rPr>
              <a:t>UINT32</a:t>
            </a:r>
            <a:r>
              <a:rPr sz="830" b="0">
                <a:solidFill>
                  <a:srgbClr val="1B2740"/>
                </a:solidFill>
                <a:latin typeface="Consolas"/>
                <a:ea typeface="Consolas"/>
                <a:cs typeface="Consolas"/>
              </a:rPr>
              <a:t> *pt_PlotId)</a:t>
            </a:r>
          </a:p>
          <a:p>
            <a:pPr>
              <a:lnSpc>
                <a:spcPts val="1000"/>
              </a:lnSpc>
            </a:pPr>
            <a:r>
              <a:rPr sz="830" b="0">
                <a:solidFill>
                  <a:srgbClr val="AEB9CC"/>
                </a:solidFill>
                <a:latin typeface="Consolas"/>
                <a:ea typeface="Consolas"/>
                <a:cs typeface="Consolas"/>
              </a:rPr>
              <a:t>     </a:t>
            </a:r>
            <a:r>
              <a:rPr sz="830" b="0">
                <a:solidFill>
                  <a:srgbClr val="8794AC"/>
                </a:solidFill>
                <a:latin typeface="Consolas"/>
                <a:ea typeface="Consolas"/>
                <a:cs typeface="Consolas"/>
              </a:rPr>
              <a:t>...</a:t>
            </a:r>
          </a:p>
          <a:p>
            <a:pPr>
              <a:lnSpc>
                <a:spcPts val="1000"/>
              </a:lnSpc>
            </a:pPr>
            <a:r>
              <a:rPr sz="830" b="0">
                <a:solidFill>
                  <a:srgbClr val="AEB9CC"/>
                </a:solidFill>
                <a:latin typeface="Consolas"/>
                <a:ea typeface="Consolas"/>
                <a:cs typeface="Consolas"/>
              </a:rPr>
              <a:t>314  </a:t>
            </a:r>
            <a:r>
              <a:rPr sz="830" b="0">
                <a:solidFill>
                  <a:srgbClr val="1B2740"/>
                </a:solidFill>
                <a:latin typeface="Consolas"/>
                <a:ea typeface="Consolas"/>
                <a:cs typeface="Consolas"/>
              </a:rPr>
              <a:t>  </a:t>
            </a:r>
            <a:r>
              <a:rPr sz="830" b="0">
                <a:solidFill>
                  <a:srgbClr val="2563EB"/>
                </a:solidFill>
                <a:latin typeface="Consolas"/>
                <a:ea typeface="Consolas"/>
                <a:cs typeface="Consolas"/>
              </a:rPr>
              <a:t>for</a:t>
            </a:r>
            <a:r>
              <a:rPr sz="830" b="0">
                <a:solidFill>
                  <a:srgbClr val="1B2740"/>
                </a:solidFill>
                <a:latin typeface="Consolas"/>
                <a:ea typeface="Consolas"/>
                <a:cs typeface="Consolas"/>
              </a:rPr>
              <a:t> (nIndex = </a:t>
            </a:r>
            <a:r>
              <a:rPr sz="830" b="0">
                <a:solidFill>
                  <a:srgbClr val="B45309"/>
                </a:solidFill>
                <a:latin typeface="Consolas"/>
                <a:ea typeface="Consolas"/>
                <a:cs typeface="Consolas"/>
              </a:rPr>
              <a:t>0</a:t>
            </a:r>
            <a:r>
              <a:rPr sz="830" b="0">
                <a:solidFill>
                  <a:srgbClr val="1B2740"/>
                </a:solidFill>
                <a:latin typeface="Consolas"/>
                <a:ea typeface="Consolas"/>
                <a:cs typeface="Consolas"/>
              </a:rPr>
              <a:t>; (nIndex &lt; st_Scan-&gt;nTargetNum) &amp;&amp; (nPlotNum &lt; </a:t>
            </a:r>
            <a:r>
              <a:rPr sz="830" b="0">
                <a:solidFill>
                  <a:srgbClr val="7C3AED"/>
                </a:solidFill>
                <a:latin typeface="Consolas"/>
                <a:ea typeface="Consolas"/>
                <a:cs typeface="Consolas"/>
              </a:rPr>
              <a:t>IDD_MAX_PLOT</a:t>
            </a:r>
            <a:r>
              <a:rPr sz="830" b="0">
                <a:solidFill>
                  <a:srgbClr val="1B2740"/>
                </a:solidFill>
                <a:latin typeface="Consolas"/>
                <a:ea typeface="Consolas"/>
                <a:cs typeface="Consolas"/>
              </a:rPr>
              <a:t>); nIndex++)</a:t>
            </a:r>
          </a:p>
          <a:p>
            <a:pPr>
              <a:lnSpc>
                <a:spcPts val="1000"/>
              </a:lnSpc>
            </a:pPr>
            <a:r>
              <a:rPr sz="830" b="0">
                <a:solidFill>
                  <a:srgbClr val="AEB9CC"/>
                </a:solidFill>
                <a:latin typeface="Consolas"/>
                <a:ea typeface="Consolas"/>
                <a:cs typeface="Consolas"/>
              </a:rPr>
              <a:t>315  </a:t>
            </a:r>
            <a:r>
              <a:rPr sz="830" b="0">
                <a:solidFill>
                  <a:srgbClr val="1B2740"/>
                </a:solidFill>
                <a:latin typeface="Consolas"/>
                <a:ea typeface="Consolas"/>
                <a:cs typeface="Consolas"/>
              </a:rPr>
              <a:t>  {</a:t>
            </a:r>
          </a:p>
          <a:p>
            <a:pPr>
              <a:lnSpc>
                <a:spcPts val="1000"/>
              </a:lnSpc>
            </a:pPr>
            <a:r>
              <a:rPr sz="830" b="0">
                <a:solidFill>
                  <a:srgbClr val="AEB9CC"/>
                </a:solidFill>
                <a:latin typeface="Consolas"/>
                <a:ea typeface="Consolas"/>
                <a:cs typeface="Consolas"/>
              </a:rPr>
              <a:t>316  </a:t>
            </a:r>
            <a:r>
              <a:rPr sz="830" b="0">
                <a:solidFill>
                  <a:srgbClr val="1B2740"/>
                </a:solidFill>
                <a:latin typeface="Consolas"/>
                <a:ea typeface="Consolas"/>
                <a:cs typeface="Consolas"/>
              </a:rPr>
              <a:t>    st_Sph[nPlotNum]  = st_Scan-&gt;st_Plot[nIndex];</a:t>
            </a:r>
          </a:p>
          <a:p>
            <a:pPr>
              <a:lnSpc>
                <a:spcPts val="1000"/>
              </a:lnSpc>
            </a:pPr>
            <a:r>
              <a:rPr sz="830" b="0">
                <a:solidFill>
                  <a:srgbClr val="AEB9CC"/>
                </a:solidFill>
                <a:latin typeface="Consolas"/>
                <a:ea typeface="Consolas"/>
                <a:cs typeface="Consolas"/>
              </a:rPr>
              <a:t>317  </a:t>
            </a:r>
            <a:r>
              <a:rPr sz="830" b="0">
                <a:solidFill>
                  <a:srgbClr val="1B2740"/>
                </a:solidFill>
                <a:latin typeface="Consolas"/>
                <a:ea typeface="Consolas"/>
                <a:cs typeface="Consolas"/>
              </a:rPr>
              <a:t>    nSource[nPlotNum]  = nIndex + </a:t>
            </a:r>
            <a:r>
              <a:rPr sz="830" b="0">
                <a:solidFill>
                  <a:srgbClr val="B45309"/>
                </a:solidFill>
                <a:latin typeface="Consolas"/>
                <a:ea typeface="Consolas"/>
                <a:cs typeface="Consolas"/>
              </a:rPr>
              <a:t>1</a:t>
            </a:r>
            <a:r>
              <a:rPr sz="830" b="0">
                <a:solidFill>
                  <a:srgbClr val="1B2740"/>
                </a:solidFill>
                <a:latin typeface="Consolas"/>
                <a:ea typeface="Consolas"/>
                <a:cs typeface="Consolas"/>
              </a:rPr>
              <a:t>;</a:t>
            </a:r>
          </a:p>
          <a:p>
            <a:pPr>
              <a:lnSpc>
                <a:spcPts val="1000"/>
              </a:lnSpc>
            </a:pPr>
            <a:r>
              <a:rPr sz="830" b="0">
                <a:solidFill>
                  <a:srgbClr val="AEB9CC"/>
                </a:solidFill>
                <a:latin typeface="Consolas"/>
                <a:ea typeface="Consolas"/>
                <a:cs typeface="Consolas"/>
              </a:rPr>
              <a:t>318  </a:t>
            </a:r>
            <a:r>
              <a:rPr sz="830" b="0">
                <a:solidFill>
                  <a:srgbClr val="1B2740"/>
                </a:solidFill>
                <a:latin typeface="Consolas"/>
                <a:ea typeface="Consolas"/>
                <a:cs typeface="Consolas"/>
              </a:rPr>
              <a:t>    nPlotNum++;</a:t>
            </a:r>
          </a:p>
          <a:p>
            <a:pPr>
              <a:lnSpc>
                <a:spcPts val="1000"/>
              </a:lnSpc>
            </a:pPr>
            <a:r>
              <a:rPr sz="830" b="0">
                <a:solidFill>
                  <a:srgbClr val="AEB9CC"/>
                </a:solidFill>
                <a:latin typeface="Consolas"/>
                <a:ea typeface="Consolas"/>
                <a:cs typeface="Consolas"/>
              </a:rPr>
              <a:t>319  </a:t>
            </a:r>
            <a:r>
              <a:rPr sz="830" b="0">
                <a:solidFill>
                  <a:srgbClr val="1B2740"/>
                </a:solidFill>
                <a:latin typeface="Consolas"/>
                <a:ea typeface="Consolas"/>
                <a:cs typeface="Consolas"/>
              </a:rPr>
              <a:t>  }</a:t>
            </a:r>
          </a:p>
          <a:p>
            <a:pPr>
              <a:lnSpc>
                <a:spcPts val="1000"/>
              </a:lnSpc>
            </a:pPr>
            <a:r>
              <a:rPr sz="830" b="0">
                <a:solidFill>
                  <a:srgbClr val="AEB9CC"/>
                </a:solidFill>
                <a:latin typeface="Consolas"/>
                <a:ea typeface="Consolas"/>
                <a:cs typeface="Consolas"/>
              </a:rPr>
              <a:t>     </a:t>
            </a:r>
            <a:r>
              <a:rPr sz="830" b="0">
                <a:solidFill>
                  <a:srgbClr val="8794AC"/>
                </a:solidFill>
                <a:latin typeface="Consolas"/>
                <a:ea typeface="Consolas"/>
                <a:cs typeface="Consolas"/>
              </a:rPr>
              <a:t>...</a:t>
            </a:r>
          </a:p>
          <a:p>
            <a:pPr>
              <a:lnSpc>
                <a:spcPts val="1000"/>
              </a:lnSpc>
            </a:pPr>
            <a:r>
              <a:rPr sz="830" b="0">
                <a:solidFill>
                  <a:srgbClr val="AEB9CC"/>
                </a:solidFill>
                <a:latin typeface="Consolas"/>
                <a:ea typeface="Consolas"/>
                <a:cs typeface="Consolas"/>
              </a:rPr>
              <a:t>328  </a:t>
            </a:r>
            <a:r>
              <a:rPr sz="830" b="0">
                <a:solidFill>
                  <a:srgbClr val="1B2740"/>
                </a:solidFill>
                <a:latin typeface="Consolas"/>
                <a:ea typeface="Consolas"/>
                <a:cs typeface="Consolas"/>
              </a:rPr>
              <a:t>  </a:t>
            </a:r>
            <a:r>
              <a:rPr sz="830" b="0">
                <a:solidFill>
                  <a:srgbClr val="059669"/>
                </a:solidFill>
                <a:latin typeface="맑은 고딕"/>
                <a:ea typeface="맑은 고딕"/>
                <a:cs typeface="맑은 고딕"/>
              </a:rPr>
              <a:t>// 방위각 오름차순 (삽입 정렬)</a:t>
            </a:r>
          </a:p>
          <a:p>
            <a:pPr>
              <a:lnSpc>
                <a:spcPts val="1000"/>
              </a:lnSpc>
            </a:pPr>
            <a:r>
              <a:rPr sz="830" b="0">
                <a:solidFill>
                  <a:srgbClr val="AEB9CC"/>
                </a:solidFill>
                <a:latin typeface="Consolas"/>
                <a:ea typeface="Consolas"/>
                <a:cs typeface="Consolas"/>
              </a:rPr>
              <a:t>     </a:t>
            </a:r>
            <a:r>
              <a:rPr sz="830" b="0">
                <a:solidFill>
                  <a:srgbClr val="8794AC"/>
                </a:solidFill>
                <a:latin typeface="Consolas"/>
                <a:ea typeface="Consolas"/>
                <a:cs typeface="Consolas"/>
              </a:rPr>
              <a:t>...</a:t>
            </a:r>
          </a:p>
          <a:p>
            <a:pPr>
              <a:lnSpc>
                <a:spcPts val="1000"/>
              </a:lnSpc>
            </a:pPr>
            <a:r>
              <a:rPr sz="830" b="0">
                <a:solidFill>
                  <a:srgbClr val="AEB9CC"/>
                </a:solidFill>
                <a:latin typeface="Consolas"/>
                <a:ea typeface="Consolas"/>
                <a:cs typeface="Consolas"/>
              </a:rPr>
              <a:t>346  </a:t>
            </a:r>
            <a:r>
              <a:rPr sz="830" b="0">
                <a:solidFill>
                  <a:srgbClr val="1B2740"/>
                </a:solidFill>
                <a:latin typeface="Consolas"/>
                <a:ea typeface="Consolas"/>
                <a:cs typeface="Consolas"/>
              </a:rPr>
              <a:t>  st_Msg-&gt;MsgId  = </a:t>
            </a:r>
            <a:r>
              <a:rPr sz="830" b="0">
                <a:solidFill>
                  <a:srgbClr val="7C3AED"/>
                </a:solidFill>
                <a:latin typeface="Consolas"/>
                <a:ea typeface="Consolas"/>
                <a:cs typeface="Consolas"/>
              </a:rPr>
              <a:t>IDD_MSG_ID_PLOT</a:t>
            </a:r>
            <a:r>
              <a:rPr sz="830" b="0">
                <a:solidFill>
                  <a:srgbClr val="1B2740"/>
                </a:solidFill>
                <a:latin typeface="Consolas"/>
                <a:ea typeface="Consolas"/>
                <a:cs typeface="Consolas"/>
              </a:rPr>
              <a:t>;</a:t>
            </a:r>
          </a:p>
          <a:p>
            <a:pPr>
              <a:lnSpc>
                <a:spcPts val="1000"/>
              </a:lnSpc>
            </a:pPr>
            <a:r>
              <a:rPr sz="830" b="0">
                <a:solidFill>
                  <a:srgbClr val="AEB9CC"/>
                </a:solidFill>
                <a:latin typeface="Consolas"/>
                <a:ea typeface="Consolas"/>
                <a:cs typeface="Consolas"/>
              </a:rPr>
              <a:t>347  </a:t>
            </a:r>
            <a:r>
              <a:rPr sz="830" b="0">
                <a:solidFill>
                  <a:srgbClr val="1B2740"/>
                </a:solidFill>
                <a:latin typeface="Consolas"/>
                <a:ea typeface="Consolas"/>
                <a:cs typeface="Consolas"/>
              </a:rPr>
              <a:t>  st_Msg-&gt;MsgSize  = msgSize;</a:t>
            </a:r>
          </a:p>
          <a:p>
            <a:pPr>
              <a:lnSpc>
                <a:spcPts val="1000"/>
              </a:lnSpc>
            </a:pPr>
            <a:r>
              <a:rPr sz="830" b="0">
                <a:solidFill>
                  <a:srgbClr val="AEB9CC"/>
                </a:solidFill>
                <a:latin typeface="Consolas"/>
                <a:ea typeface="Consolas"/>
                <a:cs typeface="Consolas"/>
              </a:rPr>
              <a:t>348  </a:t>
            </a:r>
            <a:r>
              <a:rPr sz="830" b="0">
                <a:solidFill>
                  <a:srgbClr val="1B2740"/>
                </a:solidFill>
                <a:latin typeface="Consolas"/>
                <a:ea typeface="Consolas"/>
                <a:cs typeface="Consolas"/>
              </a:rPr>
              <a:t>  st_Msg-&gt;ScanNum  = (</a:t>
            </a:r>
            <a:r>
              <a:rPr sz="830" b="0">
                <a:solidFill>
                  <a:srgbClr val="2563EB"/>
                </a:solidFill>
                <a:latin typeface="Consolas"/>
                <a:ea typeface="Consolas"/>
                <a:cs typeface="Consolas"/>
              </a:rPr>
              <a:t>UINT32</a:t>
            </a:r>
            <a:r>
              <a:rPr sz="830" b="0">
                <a:solidFill>
                  <a:srgbClr val="1B2740"/>
                </a:solidFill>
                <a:latin typeface="Consolas"/>
                <a:ea typeface="Consolas"/>
                <a:cs typeface="Consolas"/>
              </a:rPr>
              <a:t>)nScan;</a:t>
            </a:r>
          </a:p>
          <a:p>
            <a:pPr>
              <a:lnSpc>
                <a:spcPts val="1000"/>
              </a:lnSpc>
            </a:pPr>
            <a:r>
              <a:rPr sz="830" b="0">
                <a:solidFill>
                  <a:srgbClr val="AEB9CC"/>
                </a:solidFill>
                <a:latin typeface="Consolas"/>
                <a:ea typeface="Consolas"/>
                <a:cs typeface="Consolas"/>
              </a:rPr>
              <a:t>349  </a:t>
            </a:r>
            <a:r>
              <a:rPr sz="830" b="0">
                <a:solidFill>
                  <a:srgbClr val="1B2740"/>
                </a:solidFill>
                <a:latin typeface="Consolas"/>
                <a:ea typeface="Consolas"/>
                <a:cs typeface="Consolas"/>
              </a:rPr>
              <a:t>  st_Msg-&gt;TimeStamp_s  = (</a:t>
            </a:r>
            <a:r>
              <a:rPr sz="830" b="0">
                <a:solidFill>
                  <a:srgbClr val="2563EB"/>
                </a:solidFill>
                <a:latin typeface="Consolas"/>
                <a:ea typeface="Consolas"/>
                <a:cs typeface="Consolas"/>
              </a:rPr>
              <a:t>UINT32</a:t>
            </a:r>
            <a:r>
              <a:rPr sz="830" b="0">
                <a:solidFill>
                  <a:srgbClr val="1B2740"/>
                </a:solidFill>
                <a:latin typeface="Consolas"/>
                <a:ea typeface="Consolas"/>
                <a:cs typeface="Consolas"/>
              </a:rPr>
              <a:t>)(timeNs / </a:t>
            </a:r>
            <a:r>
              <a:rPr sz="830" b="0">
                <a:solidFill>
                  <a:srgbClr val="B45309"/>
                </a:solidFill>
                <a:latin typeface="Consolas"/>
                <a:ea typeface="Consolas"/>
                <a:cs typeface="Consolas"/>
              </a:rPr>
              <a:t>1000000000LL</a:t>
            </a:r>
            <a:r>
              <a:rPr sz="830" b="0">
                <a:solidFill>
                  <a:srgbClr val="1B2740"/>
                </a:solidFill>
                <a:latin typeface="Consolas"/>
                <a:ea typeface="Consolas"/>
                <a:cs typeface="Consolas"/>
              </a:rPr>
              <a:t>);</a:t>
            </a:r>
          </a:p>
          <a:p>
            <a:pPr>
              <a:lnSpc>
                <a:spcPts val="1000"/>
              </a:lnSpc>
            </a:pPr>
            <a:r>
              <a:rPr sz="830" b="0">
                <a:solidFill>
                  <a:srgbClr val="AEB9CC"/>
                </a:solidFill>
                <a:latin typeface="Consolas"/>
                <a:ea typeface="Consolas"/>
                <a:cs typeface="Consolas"/>
              </a:rPr>
              <a:t>350  </a:t>
            </a:r>
            <a:r>
              <a:rPr sz="830" b="0">
                <a:solidFill>
                  <a:srgbClr val="1B2740"/>
                </a:solidFill>
                <a:latin typeface="Consolas"/>
                <a:ea typeface="Consolas"/>
                <a:cs typeface="Consolas"/>
              </a:rPr>
              <a:t>  st_Msg-&gt;TimeStamp_ns  = (</a:t>
            </a:r>
            <a:r>
              <a:rPr sz="830" b="0">
                <a:solidFill>
                  <a:srgbClr val="2563EB"/>
                </a:solidFill>
                <a:latin typeface="Consolas"/>
                <a:ea typeface="Consolas"/>
                <a:cs typeface="Consolas"/>
              </a:rPr>
              <a:t>UINT32</a:t>
            </a:r>
            <a:r>
              <a:rPr sz="830" b="0">
                <a:solidFill>
                  <a:srgbClr val="1B2740"/>
                </a:solidFill>
                <a:latin typeface="Consolas"/>
                <a:ea typeface="Consolas"/>
                <a:cs typeface="Consolas"/>
              </a:rPr>
              <a:t>)(timeNs % </a:t>
            </a:r>
            <a:r>
              <a:rPr sz="830" b="0">
                <a:solidFill>
                  <a:srgbClr val="B45309"/>
                </a:solidFill>
                <a:latin typeface="Consolas"/>
                <a:ea typeface="Consolas"/>
                <a:cs typeface="Consolas"/>
              </a:rPr>
              <a:t>1000000000LL</a:t>
            </a:r>
            <a:r>
              <a:rPr sz="830" b="0">
                <a:solidFill>
                  <a:srgbClr val="1B2740"/>
                </a:solidFill>
                <a:latin typeface="Consolas"/>
                <a:ea typeface="Consolas"/>
                <a:cs typeface="Consolas"/>
              </a:rPr>
              <a:t>);</a:t>
            </a:r>
          </a:p>
          <a:p>
            <a:pPr>
              <a:lnSpc>
                <a:spcPts val="1000"/>
              </a:lnSpc>
            </a:pPr>
            <a:r>
              <a:rPr sz="830" b="0">
                <a:solidFill>
                  <a:srgbClr val="AEB9CC"/>
                </a:solidFill>
                <a:latin typeface="Consolas"/>
                <a:ea typeface="Consolas"/>
                <a:cs typeface="Consolas"/>
              </a:rPr>
              <a:t>351  </a:t>
            </a:r>
            <a:r>
              <a:rPr sz="830" b="0">
                <a:solidFill>
                  <a:srgbClr val="1B2740"/>
                </a:solidFill>
                <a:latin typeface="Consolas"/>
                <a:ea typeface="Consolas"/>
                <a:cs typeface="Consolas"/>
              </a:rPr>
              <a:t>  st_Msg-&gt;PlotNum  = (</a:t>
            </a:r>
            <a:r>
              <a:rPr sz="830" b="0">
                <a:solidFill>
                  <a:srgbClr val="2563EB"/>
                </a:solidFill>
                <a:latin typeface="Consolas"/>
                <a:ea typeface="Consolas"/>
                <a:cs typeface="Consolas"/>
              </a:rPr>
              <a:t>UINT32</a:t>
            </a:r>
            <a:r>
              <a:rPr sz="830" b="0">
                <a:solidFill>
                  <a:srgbClr val="1B2740"/>
                </a:solidFill>
                <a:latin typeface="Consolas"/>
                <a:ea typeface="Consolas"/>
                <a:cs typeface="Consolas"/>
              </a:rPr>
              <a:t>)nPlotNum;</a:t>
            </a:r>
          </a:p>
          <a:p>
            <a:pPr>
              <a:lnSpc>
                <a:spcPts val="1000"/>
              </a:lnSpc>
            </a:pPr>
            <a:r>
              <a:rPr sz="830" b="0">
                <a:solidFill>
                  <a:srgbClr val="AEB9CC"/>
                </a:solidFill>
                <a:latin typeface="Consolas"/>
                <a:ea typeface="Consolas"/>
                <a:cs typeface="Consolas"/>
              </a:rPr>
              <a:t>     </a:t>
            </a:r>
            <a:r>
              <a:rPr sz="830" b="0">
                <a:solidFill>
                  <a:srgbClr val="8794AC"/>
                </a:solidFill>
                <a:latin typeface="Consolas"/>
                <a:ea typeface="Consolas"/>
                <a:cs typeface="Consolas"/>
              </a:rPr>
              <a:t>...</a:t>
            </a:r>
          </a:p>
          <a:p>
            <a:pPr>
              <a:lnSpc>
                <a:spcPts val="1000"/>
              </a:lnSpc>
            </a:pPr>
            <a:r>
              <a:rPr sz="830" b="0">
                <a:solidFill>
                  <a:srgbClr val="AEB9CC"/>
                </a:solidFill>
                <a:latin typeface="Consolas"/>
                <a:ea typeface="Consolas"/>
                <a:cs typeface="Consolas"/>
              </a:rPr>
              <a:t>365  </a:t>
            </a:r>
            <a:r>
              <a:rPr sz="830" b="0">
                <a:solidFill>
                  <a:srgbClr val="1B2740"/>
                </a:solidFill>
                <a:latin typeface="Consolas"/>
                <a:ea typeface="Consolas"/>
                <a:cs typeface="Consolas"/>
              </a:rPr>
              <a:t>  </a:t>
            </a:r>
            <a:r>
              <a:rPr sz="830" b="0">
                <a:solidFill>
                  <a:srgbClr val="2563EB"/>
                </a:solidFill>
                <a:latin typeface="Consolas"/>
                <a:ea typeface="Consolas"/>
                <a:cs typeface="Consolas"/>
              </a:rPr>
              <a:t>for</a:t>
            </a:r>
            <a:r>
              <a:rPr sz="830" b="0">
                <a:solidFill>
                  <a:srgbClr val="1B2740"/>
                </a:solidFill>
                <a:latin typeface="Consolas"/>
                <a:ea typeface="Consolas"/>
                <a:cs typeface="Consolas"/>
              </a:rPr>
              <a:t> (nIndex = </a:t>
            </a:r>
            <a:r>
              <a:rPr sz="830" b="0">
                <a:solidFill>
                  <a:srgbClr val="B45309"/>
                </a:solidFill>
                <a:latin typeface="Consolas"/>
                <a:ea typeface="Consolas"/>
                <a:cs typeface="Consolas"/>
              </a:rPr>
              <a:t>0</a:t>
            </a:r>
            <a:r>
              <a:rPr sz="830" b="0">
                <a:solidFill>
                  <a:srgbClr val="1B2740"/>
                </a:solidFill>
                <a:latin typeface="Consolas"/>
                <a:ea typeface="Consolas"/>
                <a:cs typeface="Consolas"/>
              </a:rPr>
              <a:t>; nIndex &lt; nPlotNum; nIndex++)</a:t>
            </a:r>
          </a:p>
          <a:p>
            <a:pPr>
              <a:lnSpc>
                <a:spcPts val="1000"/>
              </a:lnSpc>
            </a:pPr>
            <a:r>
              <a:rPr sz="830" b="0">
                <a:solidFill>
                  <a:srgbClr val="AEB9CC"/>
                </a:solidFill>
                <a:latin typeface="Consolas"/>
                <a:ea typeface="Consolas"/>
                <a:cs typeface="Consolas"/>
              </a:rPr>
              <a:t>366  </a:t>
            </a:r>
            <a:r>
              <a:rPr sz="830" b="0">
                <a:solidFill>
                  <a:srgbClr val="1B2740"/>
                </a:solidFill>
                <a:latin typeface="Consolas"/>
                <a:ea typeface="Consolas"/>
                <a:cs typeface="Consolas"/>
              </a:rPr>
              <a:t>  {</a:t>
            </a:r>
          </a:p>
          <a:p>
            <a:pPr>
              <a:lnSpc>
                <a:spcPts val="1000"/>
              </a:lnSpc>
            </a:pPr>
            <a:r>
              <a:rPr sz="830" b="0">
                <a:solidFill>
                  <a:srgbClr val="AEB9CC"/>
                </a:solidFill>
                <a:latin typeface="Consolas"/>
                <a:ea typeface="Consolas"/>
                <a:cs typeface="Consolas"/>
              </a:rPr>
              <a:t>367  </a:t>
            </a:r>
            <a:r>
              <a:rPr sz="830" b="0">
                <a:solidFill>
                  <a:srgbClr val="1B2740"/>
                </a:solidFill>
                <a:latin typeface="Consolas"/>
                <a:ea typeface="Consolas"/>
                <a:cs typeface="Consolas"/>
              </a:rPr>
              <a:t>    st_Info  = &amp;st_Msg-&gt;st_Plot[nIndex];</a:t>
            </a:r>
          </a:p>
          <a:p>
            <a:pPr>
              <a:lnSpc>
                <a:spcPts val="1000"/>
              </a:lnSpc>
            </a:pPr>
            <a:r>
              <a:rPr sz="830" b="0">
                <a:solidFill>
                  <a:srgbClr val="AEB9CC"/>
                </a:solidFill>
                <a:latin typeface="Consolas"/>
                <a:ea typeface="Consolas"/>
                <a:cs typeface="Consolas"/>
              </a:rPr>
              <a:t>368  </a:t>
            </a:r>
            <a:r>
              <a:rPr sz="830" b="0">
                <a:solidFill>
                  <a:srgbClr val="1B2740"/>
                </a:solidFill>
                <a:latin typeface="Consolas"/>
                <a:ea typeface="Consolas"/>
                <a:cs typeface="Consolas"/>
              </a:rPr>
              <a:t>    st_Info-&gt;Id  = *pt_PlotId;</a:t>
            </a:r>
          </a:p>
          <a:p>
            <a:pPr>
              <a:lnSpc>
                <a:spcPts val="1000"/>
              </a:lnSpc>
            </a:pPr>
            <a:r>
              <a:rPr sz="830" b="0">
                <a:solidFill>
                  <a:srgbClr val="AEB9CC"/>
                </a:solidFill>
                <a:latin typeface="Consolas"/>
                <a:ea typeface="Consolas"/>
                <a:cs typeface="Consolas"/>
              </a:rPr>
              <a:t>     </a:t>
            </a:r>
            <a:r>
              <a:rPr sz="830" b="0">
                <a:solidFill>
                  <a:srgbClr val="8794AC"/>
                </a:solidFill>
                <a:latin typeface="Consolas"/>
                <a:ea typeface="Consolas"/>
                <a:cs typeface="Consolas"/>
              </a:rPr>
              <a:t>...</a:t>
            </a:r>
          </a:p>
          <a:p>
            <a:pPr>
              <a:lnSpc>
                <a:spcPts val="1000"/>
              </a:lnSpc>
            </a:pPr>
            <a:r>
              <a:rPr sz="830" b="0">
                <a:solidFill>
                  <a:srgbClr val="AEB9CC"/>
                </a:solidFill>
                <a:latin typeface="Consolas"/>
                <a:ea typeface="Consolas"/>
                <a:cs typeface="Consolas"/>
              </a:rPr>
              <a:t>375  </a:t>
            </a:r>
            <a:r>
              <a:rPr sz="830" b="0">
                <a:solidFill>
                  <a:srgbClr val="1B2740"/>
                </a:solidFill>
                <a:latin typeface="Consolas"/>
                <a:ea typeface="Consolas"/>
                <a:cs typeface="Consolas"/>
              </a:rPr>
              <a:t>    st_Info-&gt;Range_Ant  = (</a:t>
            </a:r>
            <a:r>
              <a:rPr sz="830" b="0">
                <a:solidFill>
                  <a:srgbClr val="2563EB"/>
                </a:solidFill>
                <a:latin typeface="Consolas"/>
                <a:ea typeface="Consolas"/>
                <a:cs typeface="Consolas"/>
              </a:rPr>
              <a:t>FLOAT32</a:t>
            </a:r>
            <a:r>
              <a:rPr sz="830" b="0">
                <a:solidFill>
                  <a:srgbClr val="1B2740"/>
                </a:solidFill>
                <a:latin typeface="Consolas"/>
                <a:ea typeface="Consolas"/>
                <a:cs typeface="Consolas"/>
              </a:rPr>
              <a:t>)st_Sph[nOrder[nIndex]].r;</a:t>
            </a:r>
          </a:p>
          <a:p>
            <a:pPr>
              <a:lnSpc>
                <a:spcPts val="1000"/>
              </a:lnSpc>
            </a:pPr>
            <a:r>
              <a:rPr sz="830" b="0">
                <a:solidFill>
                  <a:srgbClr val="AEB9CC"/>
                </a:solidFill>
                <a:latin typeface="Consolas"/>
                <a:ea typeface="Consolas"/>
                <a:cs typeface="Consolas"/>
              </a:rPr>
              <a:t>376  </a:t>
            </a:r>
            <a:r>
              <a:rPr sz="830" b="0">
                <a:solidFill>
                  <a:srgbClr val="1B2740"/>
                </a:solidFill>
                <a:latin typeface="Consolas"/>
                <a:ea typeface="Consolas"/>
                <a:cs typeface="Consolas"/>
              </a:rPr>
              <a:t>    st_Info-&gt;Azimuth_Ant  = (</a:t>
            </a:r>
            <a:r>
              <a:rPr sz="830" b="0">
                <a:solidFill>
                  <a:srgbClr val="2563EB"/>
                </a:solidFill>
                <a:latin typeface="Consolas"/>
                <a:ea typeface="Consolas"/>
                <a:cs typeface="Consolas"/>
              </a:rPr>
              <a:t>FLOAT32</a:t>
            </a:r>
            <a:r>
              <a:rPr sz="830" b="0">
                <a:solidFill>
                  <a:srgbClr val="1B2740"/>
                </a:solidFill>
                <a:latin typeface="Consolas"/>
                <a:ea typeface="Consolas"/>
                <a:cs typeface="Consolas"/>
              </a:rPr>
              <a:t>)st_Sph[nOrder[nIndex]].az;</a:t>
            </a:r>
          </a:p>
          <a:p>
            <a:pPr>
              <a:lnSpc>
                <a:spcPts val="1000"/>
              </a:lnSpc>
            </a:pPr>
            <a:r>
              <a:rPr sz="830" b="0">
                <a:solidFill>
                  <a:srgbClr val="AEB9CC"/>
                </a:solidFill>
                <a:latin typeface="Consolas"/>
                <a:ea typeface="Consolas"/>
                <a:cs typeface="Consolas"/>
              </a:rPr>
              <a:t>377  </a:t>
            </a:r>
            <a:r>
              <a:rPr sz="830" b="0">
                <a:solidFill>
                  <a:srgbClr val="1B2740"/>
                </a:solidFill>
                <a:latin typeface="Consolas"/>
                <a:ea typeface="Consolas"/>
                <a:cs typeface="Consolas"/>
              </a:rPr>
              <a:t>    st_Info-&gt;Elevation_Ant  = (</a:t>
            </a:r>
            <a:r>
              <a:rPr sz="830" b="0">
                <a:solidFill>
                  <a:srgbClr val="2563EB"/>
                </a:solidFill>
                <a:latin typeface="Consolas"/>
                <a:ea typeface="Consolas"/>
                <a:cs typeface="Consolas"/>
              </a:rPr>
              <a:t>FLOAT32</a:t>
            </a:r>
            <a:r>
              <a:rPr sz="830" b="0">
                <a:solidFill>
                  <a:srgbClr val="1B2740"/>
                </a:solidFill>
                <a:latin typeface="Consolas"/>
                <a:ea typeface="Consolas"/>
                <a:cs typeface="Consolas"/>
              </a:rPr>
              <a:t>)st_Sph[nOrder[nIndex]].el;</a:t>
            </a:r>
          </a:p>
          <a:p>
            <a:pPr>
              <a:lnSpc>
                <a:spcPts val="1000"/>
              </a:lnSpc>
            </a:pPr>
            <a:r>
              <a:rPr sz="830" b="0">
                <a:solidFill>
                  <a:srgbClr val="AEB9CC"/>
                </a:solidFill>
                <a:latin typeface="Consolas"/>
                <a:ea typeface="Consolas"/>
                <a:cs typeface="Consolas"/>
              </a:rPr>
              <a:t>     </a:t>
            </a:r>
            <a:r>
              <a:rPr sz="830" b="0">
                <a:solidFill>
                  <a:srgbClr val="8794AC"/>
                </a:solidFill>
                <a:latin typeface="Consolas"/>
                <a:ea typeface="Consolas"/>
                <a:cs typeface="Consolas"/>
              </a:rPr>
              <a:t>...</a:t>
            </a:r>
          </a:p>
          <a:p>
            <a:pPr>
              <a:lnSpc>
                <a:spcPts val="1000"/>
              </a:lnSpc>
            </a:pPr>
            <a:r>
              <a:rPr sz="830" b="0">
                <a:solidFill>
                  <a:srgbClr val="AEB9CC"/>
                </a:solidFill>
                <a:latin typeface="Consolas"/>
                <a:ea typeface="Consolas"/>
                <a:cs typeface="Consolas"/>
              </a:rPr>
              <a:t>389  </a:t>
            </a:r>
            <a:r>
              <a:rPr sz="830" b="0">
                <a:solidFill>
                  <a:srgbClr val="1B2740"/>
                </a:solidFill>
                <a:latin typeface="Consolas"/>
                <a:ea typeface="Consolas"/>
                <a:cs typeface="Consolas"/>
              </a:rPr>
              <a:t>    </a:t>
            </a:r>
            <a:r>
              <a:rPr sz="830" b="0">
                <a:solidFill>
                  <a:srgbClr val="059669"/>
                </a:solidFill>
                <a:latin typeface="맑은 고딕"/>
                <a:ea typeface="맑은 고딕"/>
                <a:cs typeface="맑은 고딕"/>
              </a:rPr>
              <a:t>// 플롯 ID 는 10000 ~ 1000000 을 돌아가며 씀</a:t>
            </a:r>
          </a:p>
          <a:p>
            <a:pPr>
              <a:lnSpc>
                <a:spcPts val="1000"/>
              </a:lnSpc>
            </a:pPr>
            <a:r>
              <a:rPr sz="830" b="0">
                <a:solidFill>
                  <a:srgbClr val="AEB9CC"/>
                </a:solidFill>
                <a:latin typeface="Consolas"/>
                <a:ea typeface="Consolas"/>
                <a:cs typeface="Consolas"/>
              </a:rPr>
              <a:t>390  </a:t>
            </a:r>
            <a:r>
              <a:rPr sz="830" b="0">
                <a:solidFill>
                  <a:srgbClr val="1B2740"/>
                </a:solidFill>
                <a:latin typeface="Consolas"/>
                <a:ea typeface="Consolas"/>
                <a:cs typeface="Consolas"/>
              </a:rPr>
              <a:t>    *pt_PlotId = (*pt_PlotId &gt;= </a:t>
            </a:r>
            <a:r>
              <a:rPr sz="830" b="0">
                <a:solidFill>
                  <a:srgbClr val="7C3AED"/>
                </a:solidFill>
                <a:latin typeface="Consolas"/>
                <a:ea typeface="Consolas"/>
                <a:cs typeface="Consolas"/>
              </a:rPr>
              <a:t>IDD_PLOT_ID_MAX</a:t>
            </a:r>
            <a:r>
              <a:rPr sz="830" b="0">
                <a:solidFill>
                  <a:srgbClr val="1B2740"/>
                </a:solidFill>
                <a:latin typeface="Consolas"/>
                <a:ea typeface="Consolas"/>
                <a:cs typeface="Consolas"/>
              </a:rPr>
              <a:t>) ? </a:t>
            </a:r>
            <a:r>
              <a:rPr sz="830" b="0">
                <a:solidFill>
                  <a:srgbClr val="7C3AED"/>
                </a:solidFill>
                <a:latin typeface="Consolas"/>
                <a:ea typeface="Consolas"/>
                <a:cs typeface="Consolas"/>
              </a:rPr>
              <a:t>IDD_PLOT_ID_MIN</a:t>
            </a:r>
            <a:r>
              <a:rPr sz="830" b="0">
                <a:solidFill>
                  <a:srgbClr val="1B2740"/>
                </a:solidFill>
                <a:latin typeface="Consolas"/>
                <a:ea typeface="Consolas"/>
                <a:cs typeface="Consolas"/>
              </a:rPr>
              <a:t> : (*pt_PlotId + </a:t>
            </a:r>
            <a:r>
              <a:rPr sz="830" b="0">
                <a:solidFill>
                  <a:srgbClr val="B45309"/>
                </a:solidFill>
                <a:latin typeface="Consolas"/>
                <a:ea typeface="Consolas"/>
                <a:cs typeface="Consolas"/>
              </a:rPr>
              <a:t>1U</a:t>
            </a:r>
            <a:r>
              <a:rPr sz="830" b="0">
                <a:solidFill>
                  <a:srgbClr val="1B2740"/>
                </a:solidFill>
                <a:latin typeface="Consolas"/>
                <a:ea typeface="Consolas"/>
                <a:cs typeface="Consolas"/>
              </a:rPr>
              <a:t>);</a:t>
            </a:r>
          </a:p>
        </p:txBody>
      </p:sp>
      <p:sp>
        <p:nvSpPr>
          <p:cNvPr id="26" name="Oval 25"/>
          <p:cNvSpPr/>
          <p:nvPr/>
        </p:nvSpPr>
        <p:spPr>
          <a:xfrm>
            <a:off x="8092440" y="228600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27" name="TextBox 26"/>
          <p:cNvSpPr txBox="1"/>
          <p:nvPr/>
        </p:nvSpPr>
        <p:spPr>
          <a:xfrm>
            <a:off x="8476488" y="2267712"/>
            <a:ext cx="3072384" cy="658368"/>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표적 플롯 + 클러터를 한 배열에</a:t>
            </a:r>
          </a:p>
          <a:p>
            <a:pPr algn="l">
              <a:lnSpc>
                <a:spcPct val="105000"/>
              </a:lnSpc>
            </a:pPr>
            <a:r>
              <a:rPr sz="1050" b="0">
                <a:solidFill>
                  <a:srgbClr val="4A5A7A"/>
                </a:solidFill>
                <a:latin typeface="맑은 고딕"/>
                <a:ea typeface="맑은 고딕"/>
                <a:cs typeface="맑은 고딕"/>
              </a:rPr>
              <a:t>클러터도 같은 모양의 반복문으로 붙임</a:t>
            </a:r>
          </a:p>
          <a:p>
            <a:pPr algn="l">
              <a:lnSpc>
                <a:spcPct val="105000"/>
              </a:lnSpc>
            </a:pPr>
            <a:r>
              <a:rPr sz="1050" b="0">
                <a:solidFill>
                  <a:srgbClr val="4A5A7A"/>
                </a:solidFill>
                <a:latin typeface="맑은 고딕"/>
                <a:ea typeface="맑은 고딕"/>
                <a:cs typeface="맑은 고딕"/>
              </a:rPr>
              <a:t>출처 (표적 k / 클러터) 는 송신 쪽에만 기록</a:t>
            </a:r>
          </a:p>
        </p:txBody>
      </p:sp>
      <p:sp>
        <p:nvSpPr>
          <p:cNvPr id="28" name="Oval 27"/>
          <p:cNvSpPr/>
          <p:nvPr/>
        </p:nvSpPr>
        <p:spPr>
          <a:xfrm>
            <a:off x="8092440" y="315468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29" name="TextBox 28"/>
          <p:cNvSpPr txBox="1"/>
          <p:nvPr/>
        </p:nvSpPr>
        <p:spPr>
          <a:xfrm>
            <a:off x="8476488" y="3136392"/>
            <a:ext cx="3072384" cy="658368"/>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방위각 순서로 정렬</a:t>
            </a:r>
          </a:p>
          <a:p>
            <a:pPr algn="l">
              <a:lnSpc>
                <a:spcPct val="105000"/>
              </a:lnSpc>
            </a:pPr>
            <a:r>
              <a:rPr sz="1050" b="0">
                <a:solidFill>
                  <a:srgbClr val="4A5A7A"/>
                </a:solidFill>
                <a:latin typeface="맑은 고딕"/>
                <a:ea typeface="맑은 고딕"/>
                <a:cs typeface="맑은 고딕"/>
              </a:rPr>
              <a:t>빔이 지나가는 순서처럼</a:t>
            </a:r>
          </a:p>
          <a:p>
            <a:pPr algn="l">
              <a:lnSpc>
                <a:spcPct val="105000"/>
              </a:lnSpc>
            </a:pPr>
            <a:r>
              <a:rPr sz="1050" b="0">
                <a:solidFill>
                  <a:srgbClr val="4A5A7A"/>
                </a:solidFill>
                <a:latin typeface="맑은 고딕"/>
                <a:ea typeface="맑은 고딕"/>
                <a:cs typeface="맑은 고딕"/>
              </a:rPr>
              <a:t>배열 위치로 표적을 알 수 없게</a:t>
            </a:r>
          </a:p>
        </p:txBody>
      </p:sp>
      <p:sp>
        <p:nvSpPr>
          <p:cNvPr id="30" name="Oval 29"/>
          <p:cNvSpPr/>
          <p:nvPr/>
        </p:nvSpPr>
        <p:spPr>
          <a:xfrm>
            <a:off x="8092440" y="402336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31" name="TextBox 30"/>
          <p:cNvSpPr txBox="1"/>
          <p:nvPr/>
        </p:nvSpPr>
        <p:spPr>
          <a:xfrm>
            <a:off x="8476488" y="4005072"/>
            <a:ext cx="3072384" cy="438912"/>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메시지 머리</a:t>
            </a:r>
          </a:p>
          <a:p>
            <a:pPr algn="l">
              <a:lnSpc>
                <a:spcPct val="105000"/>
              </a:lnSpc>
            </a:pPr>
            <a:r>
              <a:rPr sz="1050" b="0">
                <a:solidFill>
                  <a:srgbClr val="4A5A7A"/>
                </a:solidFill>
                <a:latin typeface="맑은 고딕"/>
                <a:ea typeface="맑은 고딕"/>
                <a:cs typeface="맑은 고딕"/>
              </a:rPr>
              <a:t>스캔 번호, 시각, 플롯 수</a:t>
            </a:r>
          </a:p>
        </p:txBody>
      </p:sp>
      <p:sp>
        <p:nvSpPr>
          <p:cNvPr id="32" name="Oval 31"/>
          <p:cNvSpPr/>
          <p:nvPr/>
        </p:nvSpPr>
        <p:spPr>
          <a:xfrm>
            <a:off x="8092440" y="4617720"/>
            <a:ext cx="256032" cy="256032"/>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33" name="TextBox 32"/>
          <p:cNvSpPr txBox="1"/>
          <p:nvPr/>
        </p:nvSpPr>
        <p:spPr>
          <a:xfrm>
            <a:off x="8476488" y="4599432"/>
            <a:ext cx="3072384" cy="438912"/>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플롯 ID 와 안테나 구좌표</a:t>
            </a:r>
          </a:p>
          <a:p>
            <a:pPr algn="l">
              <a:lnSpc>
                <a:spcPct val="105000"/>
              </a:lnSpc>
            </a:pPr>
            <a:r>
              <a:rPr sz="1050" b="0">
                <a:solidFill>
                  <a:srgbClr val="4A5A7A"/>
                </a:solidFill>
                <a:latin typeface="맑은 고딕"/>
                <a:ea typeface="맑은 고딕"/>
                <a:cs typeface="맑은 고딕"/>
              </a:rPr>
              <a:t>거리 · 방위각 · 고각만 채움</a:t>
            </a:r>
          </a:p>
        </p:txBody>
      </p:sp>
      <p:sp>
        <p:nvSpPr>
          <p:cNvPr id="34" name="Oval 33"/>
          <p:cNvSpPr/>
          <p:nvPr/>
        </p:nvSpPr>
        <p:spPr>
          <a:xfrm>
            <a:off x="8092440" y="5212080"/>
            <a:ext cx="256032" cy="256032"/>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35" name="TextBox 34"/>
          <p:cNvSpPr txBox="1"/>
          <p:nvPr/>
        </p:nvSpPr>
        <p:spPr>
          <a:xfrm>
            <a:off x="8476488" y="5193792"/>
            <a:ext cx="3072384" cy="438912"/>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플롯 ID 10000 ~ 1000000</a:t>
            </a:r>
          </a:p>
          <a:p>
            <a:pPr algn="l">
              <a:lnSpc>
                <a:spcPct val="105000"/>
              </a:lnSpc>
            </a:pPr>
            <a:r>
              <a:rPr sz="1050" b="0">
                <a:solidFill>
                  <a:srgbClr val="4A5A7A"/>
                </a:solidFill>
                <a:latin typeface="맑은 고딕"/>
                <a:ea typeface="맑은 고딕"/>
                <a:cs typeface="맑은 고딕"/>
              </a:rPr>
              <a:t>1000000 다음은 10000 으로</a:t>
            </a:r>
          </a:p>
        </p:txBody>
      </p:sp>
      <p:sp>
        <p:nvSpPr>
          <p:cNvPr id="36" name="Rectangle 35"/>
          <p:cNvSpPr/>
          <p:nvPr/>
        </p:nvSpPr>
        <p:spPr>
          <a:xfrm>
            <a:off x="8092440" y="5760720"/>
            <a:ext cx="3456432" cy="384048"/>
          </a:xfrm>
          <a:prstGeom prst="rect">
            <a:avLst/>
          </a:prstGeom>
          <a:solidFill>
            <a:srgbClr val="F7F9FC"/>
          </a:solidFill>
          <a:ln w="9525">
            <a:solidFill>
              <a:srgbClr val="D2D9E5"/>
            </a:solidFill>
          </a:ln>
        </p:spPr>
        <p:txBody>
          <a:bodyPr rtlCol="0" anchor="ctr"/>
          <a:lstStyle/>
          <a:p>
            <a:pPr algn="ctr"/>
          </a:p>
        </p:txBody>
      </p:sp>
      <p:sp>
        <p:nvSpPr>
          <p:cNvPr id="37" name="TextBox 36"/>
          <p:cNvSpPr txBox="1"/>
          <p:nvPr/>
        </p:nvSpPr>
        <p:spPr>
          <a:xfrm>
            <a:off x="8229600" y="5760720"/>
            <a:ext cx="3291840" cy="384048"/>
          </a:xfrm>
          <a:prstGeom prst="rect">
            <a:avLst/>
          </a:prstGeom>
          <a:noFill/>
        </p:spPr>
        <p:txBody>
          <a:bodyPr wrap="square" lIns="0" tIns="0" rIns="0" bIns="0" anchor="ctr">
            <a:spAutoFit/>
          </a:bodyPr>
          <a:lstStyle/>
          <a:p>
            <a:pPr algn="l"/>
            <a:r>
              <a:rPr sz="950" b="0">
                <a:solidFill>
                  <a:srgbClr val="4A5A7A"/>
                </a:solidFill>
                <a:latin typeface="맑은 고딕"/>
                <a:ea typeface="맑은 고딕"/>
                <a:cs typeface="맑은 고딕"/>
              </a:rPr>
              <a:t>보내기: 송신 쓰레드가 과제 1 의 </a:t>
            </a:r>
            <a:r>
              <a:rPr sz="950" b="0">
                <a:solidFill>
                  <a:srgbClr val="1B2740"/>
                </a:solidFill>
                <a:latin typeface="Consolas"/>
                <a:ea typeface="Consolas"/>
                <a:cs typeface="Consolas"/>
              </a:rPr>
              <a:t>f_SocketSendUDP_IPv4_Normal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3.5 수신: 좌표 변환과 측정 공분산 (f_Lnk_ProcessMsg)</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받은 플롯을 VC-NED 로 바꾸고 측정 공분산을 구한 뒤, 트랙 관리와 개시를 한 번에 돌립니다.</a:t>
            </a:r>
            <a:endParaRPr lang="en-US" sz="1250" dirty="0"/>
          </a:p>
        </p:txBody>
      </p:sp>
      <p:sp>
        <p:nvSpPr>
          <p:cNvPr id="5" name="TextBox 4"/>
          <p:cNvSpPr txBox="1"/>
          <p:nvPr/>
        </p:nvSpPr>
        <p:spPr>
          <a:xfrm>
            <a:off x="6675120" y="1216152"/>
            <a:ext cx="4873752" cy="438912"/>
          </a:xfrm>
          <a:prstGeom prst="rect">
            <a:avLst/>
          </a:prstGeom>
          <a:noFill/>
        </p:spPr>
        <p:txBody>
          <a:bodyPr wrap="square" lIns="0" tIns="0" rIns="0" bIns="0" anchor="ctr">
            <a:spAutoFit/>
          </a:bodyPr>
          <a:lstStyle/>
          <a:p>
            <a:pPr algn="r"/>
            <a:r>
              <a:rPr sz="1000" b="0">
                <a:solidFill>
                  <a:srgbClr val="8794AC"/>
                </a:solidFill>
                <a:latin typeface="Consolas"/>
                <a:ea typeface="Consolas"/>
                <a:cs typeface="Consolas"/>
              </a:rPr>
              <a:t>TargetSimCore/src/PlotLink.c</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Rectangle 6"/>
          <p:cNvSpPr/>
          <p:nvPr/>
        </p:nvSpPr>
        <p:spPr>
          <a:xfrm>
            <a:off x="640080" y="2240280"/>
            <a:ext cx="7178040" cy="3022092"/>
          </a:xfrm>
          <a:prstGeom prst="rect">
            <a:avLst/>
          </a:prstGeom>
          <a:solidFill>
            <a:srgbClr val="FFFFFF"/>
          </a:solidFill>
          <a:ln w="9525">
            <a:solidFill>
              <a:srgbClr val="D2D9E5"/>
            </a:solidFill>
          </a:ln>
        </p:spPr>
        <p:txBody>
          <a:bodyPr rtlCol="0" anchor="ctr"/>
          <a:lstStyle/>
          <a:p>
            <a:pPr algn="ctr"/>
          </a:p>
        </p:txBody>
      </p:sp>
      <p:sp>
        <p:nvSpPr>
          <p:cNvPr id="8" name="Rectangle 7"/>
          <p:cNvSpPr/>
          <p:nvPr/>
        </p:nvSpPr>
        <p:spPr>
          <a:xfrm>
            <a:off x="667512" y="2768803"/>
            <a:ext cx="7123176" cy="685800"/>
          </a:xfrm>
          <a:prstGeom prst="rect">
            <a:avLst/>
          </a:prstGeom>
          <a:solidFill>
            <a:srgbClr val="FDEEEE"/>
          </a:solidFill>
          <a:ln>
            <a:noFill/>
          </a:ln>
        </p:spPr>
        <p:txBody>
          <a:bodyPr rtlCol="0" anchor="ctr"/>
          <a:lstStyle/>
          <a:p>
            <a:pPr algn="ctr"/>
          </a:p>
        </p:txBody>
      </p:sp>
      <p:sp>
        <p:nvSpPr>
          <p:cNvPr id="9" name="Rectangle 8"/>
          <p:cNvSpPr/>
          <p:nvPr/>
        </p:nvSpPr>
        <p:spPr>
          <a:xfrm>
            <a:off x="667512" y="2768803"/>
            <a:ext cx="36576" cy="685800"/>
          </a:xfrm>
          <a:prstGeom prst="rect">
            <a:avLst/>
          </a:prstGeom>
          <a:solidFill>
            <a:srgbClr val="DC2626"/>
          </a:solidFill>
          <a:ln>
            <a:noFill/>
          </a:ln>
        </p:spPr>
        <p:txBody>
          <a:bodyPr rtlCol="0" anchor="ctr"/>
          <a:lstStyle/>
          <a:p>
            <a:pPr algn="ctr"/>
          </a:p>
        </p:txBody>
      </p:sp>
      <p:sp>
        <p:nvSpPr>
          <p:cNvPr id="10" name="Oval 9"/>
          <p:cNvSpPr/>
          <p:nvPr/>
        </p:nvSpPr>
        <p:spPr>
          <a:xfrm>
            <a:off x="7717536" y="2725369"/>
            <a:ext cx="201168" cy="201168"/>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11" name="Rectangle 10"/>
          <p:cNvSpPr/>
          <p:nvPr/>
        </p:nvSpPr>
        <p:spPr>
          <a:xfrm>
            <a:off x="667512" y="3911803"/>
            <a:ext cx="7123176" cy="114300"/>
          </a:xfrm>
          <a:prstGeom prst="rect">
            <a:avLst/>
          </a:prstGeom>
          <a:solidFill>
            <a:srgbClr val="FEF3E2"/>
          </a:solidFill>
          <a:ln>
            <a:noFill/>
          </a:ln>
        </p:spPr>
        <p:txBody>
          <a:bodyPr rtlCol="0" anchor="ctr"/>
          <a:lstStyle/>
          <a:p>
            <a:pPr algn="ctr"/>
          </a:p>
        </p:txBody>
      </p:sp>
      <p:sp>
        <p:nvSpPr>
          <p:cNvPr id="12" name="Rectangle 11"/>
          <p:cNvSpPr/>
          <p:nvPr/>
        </p:nvSpPr>
        <p:spPr>
          <a:xfrm>
            <a:off x="667512" y="3911803"/>
            <a:ext cx="36576" cy="114300"/>
          </a:xfrm>
          <a:prstGeom prst="rect">
            <a:avLst/>
          </a:prstGeom>
          <a:solidFill>
            <a:srgbClr val="D97706"/>
          </a:solidFill>
          <a:ln>
            <a:noFill/>
          </a:ln>
        </p:spPr>
        <p:txBody>
          <a:bodyPr rtlCol="0" anchor="ctr"/>
          <a:lstStyle/>
          <a:p>
            <a:pPr algn="ctr"/>
          </a:p>
        </p:txBody>
      </p:sp>
      <p:sp>
        <p:nvSpPr>
          <p:cNvPr id="13" name="Oval 12"/>
          <p:cNvSpPr/>
          <p:nvPr/>
        </p:nvSpPr>
        <p:spPr>
          <a:xfrm>
            <a:off x="7717536" y="3868369"/>
            <a:ext cx="201168" cy="201168"/>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4" name="Rectangle 13"/>
          <p:cNvSpPr/>
          <p:nvPr/>
        </p:nvSpPr>
        <p:spPr>
          <a:xfrm>
            <a:off x="667512" y="4140403"/>
            <a:ext cx="7123176" cy="342900"/>
          </a:xfrm>
          <a:prstGeom prst="rect">
            <a:avLst/>
          </a:prstGeom>
          <a:solidFill>
            <a:srgbClr val="E6F5EE"/>
          </a:solidFill>
          <a:ln>
            <a:noFill/>
          </a:ln>
        </p:spPr>
        <p:txBody>
          <a:bodyPr rtlCol="0" anchor="ctr"/>
          <a:lstStyle/>
          <a:p>
            <a:pPr algn="ctr"/>
          </a:p>
        </p:txBody>
      </p:sp>
      <p:sp>
        <p:nvSpPr>
          <p:cNvPr id="15" name="Rectangle 14"/>
          <p:cNvSpPr/>
          <p:nvPr/>
        </p:nvSpPr>
        <p:spPr>
          <a:xfrm>
            <a:off x="667512" y="4140403"/>
            <a:ext cx="36576" cy="342900"/>
          </a:xfrm>
          <a:prstGeom prst="rect">
            <a:avLst/>
          </a:prstGeom>
          <a:solidFill>
            <a:srgbClr val="059669"/>
          </a:solidFill>
          <a:ln>
            <a:noFill/>
          </a:ln>
        </p:spPr>
        <p:txBody>
          <a:bodyPr rtlCol="0" anchor="ctr"/>
          <a:lstStyle/>
          <a:p>
            <a:pPr algn="ctr"/>
          </a:p>
        </p:txBody>
      </p:sp>
      <p:sp>
        <p:nvSpPr>
          <p:cNvPr id="16" name="Oval 15"/>
          <p:cNvSpPr/>
          <p:nvPr/>
        </p:nvSpPr>
        <p:spPr>
          <a:xfrm>
            <a:off x="7717536" y="4096969"/>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7" name="Rectangle 16"/>
          <p:cNvSpPr/>
          <p:nvPr/>
        </p:nvSpPr>
        <p:spPr>
          <a:xfrm>
            <a:off x="667512" y="4597603"/>
            <a:ext cx="7123176" cy="114300"/>
          </a:xfrm>
          <a:prstGeom prst="rect">
            <a:avLst/>
          </a:prstGeom>
          <a:solidFill>
            <a:srgbClr val="E6F5EE"/>
          </a:solidFill>
          <a:ln>
            <a:noFill/>
          </a:ln>
        </p:spPr>
        <p:txBody>
          <a:bodyPr rtlCol="0" anchor="ctr"/>
          <a:lstStyle/>
          <a:p>
            <a:pPr algn="ctr"/>
          </a:p>
        </p:txBody>
      </p:sp>
      <p:sp>
        <p:nvSpPr>
          <p:cNvPr id="18" name="Rectangle 17"/>
          <p:cNvSpPr/>
          <p:nvPr/>
        </p:nvSpPr>
        <p:spPr>
          <a:xfrm>
            <a:off x="667512" y="4597603"/>
            <a:ext cx="36576" cy="114300"/>
          </a:xfrm>
          <a:prstGeom prst="rect">
            <a:avLst/>
          </a:prstGeom>
          <a:solidFill>
            <a:srgbClr val="059669"/>
          </a:solidFill>
          <a:ln>
            <a:noFill/>
          </a:ln>
        </p:spPr>
        <p:txBody>
          <a:bodyPr rtlCol="0" anchor="ctr"/>
          <a:lstStyle/>
          <a:p>
            <a:pPr algn="ctr"/>
          </a:p>
        </p:txBody>
      </p:sp>
      <p:sp>
        <p:nvSpPr>
          <p:cNvPr id="19" name="Rectangle 18"/>
          <p:cNvSpPr/>
          <p:nvPr/>
        </p:nvSpPr>
        <p:spPr>
          <a:xfrm>
            <a:off x="667512" y="4826203"/>
            <a:ext cx="7123176" cy="114300"/>
          </a:xfrm>
          <a:prstGeom prst="rect">
            <a:avLst/>
          </a:prstGeom>
          <a:solidFill>
            <a:srgbClr val="F2ECFD"/>
          </a:solidFill>
          <a:ln>
            <a:noFill/>
          </a:ln>
        </p:spPr>
        <p:txBody>
          <a:bodyPr rtlCol="0" anchor="ctr"/>
          <a:lstStyle/>
          <a:p>
            <a:pPr algn="ctr"/>
          </a:p>
        </p:txBody>
      </p:sp>
      <p:sp>
        <p:nvSpPr>
          <p:cNvPr id="20" name="Rectangle 19"/>
          <p:cNvSpPr/>
          <p:nvPr/>
        </p:nvSpPr>
        <p:spPr>
          <a:xfrm>
            <a:off x="667512" y="4826203"/>
            <a:ext cx="36576" cy="114300"/>
          </a:xfrm>
          <a:prstGeom prst="rect">
            <a:avLst/>
          </a:prstGeom>
          <a:solidFill>
            <a:srgbClr val="7C3AED"/>
          </a:solidFill>
          <a:ln>
            <a:noFill/>
          </a:ln>
        </p:spPr>
        <p:txBody>
          <a:bodyPr rtlCol="0" anchor="ctr"/>
          <a:lstStyle/>
          <a:p>
            <a:pPr algn="ctr"/>
          </a:p>
        </p:txBody>
      </p:sp>
      <p:sp>
        <p:nvSpPr>
          <p:cNvPr id="21" name="Oval 20"/>
          <p:cNvSpPr/>
          <p:nvPr/>
        </p:nvSpPr>
        <p:spPr>
          <a:xfrm>
            <a:off x="7717536" y="4782769"/>
            <a:ext cx="201168" cy="201168"/>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22" name="Rectangle 21"/>
          <p:cNvSpPr/>
          <p:nvPr/>
        </p:nvSpPr>
        <p:spPr>
          <a:xfrm>
            <a:off x="667512" y="5054803"/>
            <a:ext cx="7123176" cy="114300"/>
          </a:xfrm>
          <a:prstGeom prst="rect">
            <a:avLst/>
          </a:prstGeom>
          <a:solidFill>
            <a:srgbClr val="EAF1FD"/>
          </a:solidFill>
          <a:ln>
            <a:noFill/>
          </a:ln>
        </p:spPr>
        <p:txBody>
          <a:bodyPr rtlCol="0" anchor="ctr"/>
          <a:lstStyle/>
          <a:p>
            <a:pPr algn="ctr"/>
          </a:p>
        </p:txBody>
      </p:sp>
      <p:sp>
        <p:nvSpPr>
          <p:cNvPr id="23" name="Rectangle 22"/>
          <p:cNvSpPr/>
          <p:nvPr/>
        </p:nvSpPr>
        <p:spPr>
          <a:xfrm>
            <a:off x="667512" y="5054803"/>
            <a:ext cx="36576" cy="114300"/>
          </a:xfrm>
          <a:prstGeom prst="rect">
            <a:avLst/>
          </a:prstGeom>
          <a:solidFill>
            <a:srgbClr val="2563EB"/>
          </a:solidFill>
          <a:ln>
            <a:noFill/>
          </a:ln>
        </p:spPr>
        <p:txBody>
          <a:bodyPr rtlCol="0" anchor="ctr"/>
          <a:lstStyle/>
          <a:p>
            <a:pPr algn="ctr"/>
          </a:p>
        </p:txBody>
      </p:sp>
      <p:sp>
        <p:nvSpPr>
          <p:cNvPr id="24" name="Oval 23"/>
          <p:cNvSpPr/>
          <p:nvPr/>
        </p:nvSpPr>
        <p:spPr>
          <a:xfrm>
            <a:off x="7717536" y="5011369"/>
            <a:ext cx="201168" cy="201168"/>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25" name="TextBox 24"/>
          <p:cNvSpPr txBox="1"/>
          <p:nvPr/>
        </p:nvSpPr>
        <p:spPr>
          <a:xfrm>
            <a:off x="731519" y="2322576"/>
            <a:ext cx="6949440" cy="2857500"/>
          </a:xfrm>
          <a:prstGeom prst="rect">
            <a:avLst/>
          </a:prstGeom>
          <a:noFill/>
        </p:spPr>
        <p:txBody>
          <a:bodyPr wrap="none" lIns="0" tIns="0" rIns="0" bIns="0" anchor="t">
            <a:spAutoFit/>
          </a:bodyPr>
          <a:lstStyle/>
          <a:p>
            <a:pPr>
              <a:lnSpc>
                <a:spcPts val="900"/>
              </a:lnSpc>
            </a:pPr>
            <a:r>
              <a:rPr sz="790" b="0">
                <a:solidFill>
                  <a:srgbClr val="AEB9CC"/>
                </a:solidFill>
                <a:latin typeface="Consolas"/>
                <a:ea typeface="Consolas"/>
                <a:cs typeface="Consolas"/>
              </a:rPr>
              <a:t>593  </a:t>
            </a:r>
            <a:r>
              <a:rPr sz="790" b="0">
                <a:solidFill>
                  <a:srgbClr val="2563EB"/>
                </a:solidFill>
                <a:latin typeface="Consolas"/>
                <a:ea typeface="Consolas"/>
                <a:cs typeface="Consolas"/>
              </a:rPr>
              <a:t>static</a:t>
            </a:r>
            <a:r>
              <a:rPr sz="790" b="0">
                <a:solidFill>
                  <a:srgbClr val="1B2740"/>
                </a:solidFill>
                <a:latin typeface="Consolas"/>
                <a:ea typeface="Consolas"/>
                <a:cs typeface="Consolas"/>
              </a:rPr>
              <a:t> </a:t>
            </a:r>
            <a:r>
              <a:rPr sz="790" b="0">
                <a:solidFill>
                  <a:srgbClr val="2563EB"/>
                </a:solidFill>
                <a:latin typeface="Consolas"/>
                <a:ea typeface="Consolas"/>
                <a:cs typeface="Consolas"/>
              </a:rPr>
              <a:t>VOID</a:t>
            </a:r>
            <a:r>
              <a:rPr sz="790" b="0">
                <a:solidFill>
                  <a:srgbClr val="1B2740"/>
                </a:solidFill>
                <a:latin typeface="Consolas"/>
                <a:ea typeface="Consolas"/>
                <a:cs typeface="Consolas"/>
              </a:rPr>
              <a:t> f_Lnk_ProcessMsg(</a:t>
            </a:r>
            <a:r>
              <a:rPr sz="790" b="0">
                <a:solidFill>
                  <a:srgbClr val="2563EB"/>
                </a:solidFill>
                <a:latin typeface="Consolas"/>
                <a:ea typeface="Consolas"/>
                <a:cs typeface="Consolas"/>
              </a:rPr>
              <a:t>STRUCT_PlotMsg</a:t>
            </a:r>
            <a:r>
              <a:rPr sz="790" b="0">
                <a:solidFill>
                  <a:srgbClr val="1B2740"/>
                </a:solidFill>
                <a:latin typeface="Consolas"/>
                <a:ea typeface="Consolas"/>
                <a:cs typeface="Consolas"/>
              </a:rPr>
              <a:t> *st_Msg)</a:t>
            </a:r>
          </a:p>
          <a:p>
            <a:pPr>
              <a:lnSpc>
                <a:spcPts val="900"/>
              </a:lnSpc>
            </a:pPr>
            <a:r>
              <a:rPr sz="790" b="0">
                <a:solidFill>
                  <a:srgbClr val="AEB9CC"/>
                </a:solidFill>
                <a:latin typeface="Consolas"/>
                <a:ea typeface="Consolas"/>
                <a:cs typeface="Consolas"/>
              </a:rPr>
              <a:t>     </a:t>
            </a:r>
            <a:r>
              <a:rPr sz="790" b="0">
                <a:solidFill>
                  <a:srgbClr val="8794AC"/>
                </a:solidFill>
                <a:latin typeface="Consolas"/>
                <a:ea typeface="Consolas"/>
                <a:cs typeface="Consolas"/>
              </a:rPr>
              <a:t>...</a:t>
            </a:r>
          </a:p>
          <a:p>
            <a:pPr>
              <a:lnSpc>
                <a:spcPts val="900"/>
              </a:lnSpc>
            </a:pPr>
            <a:r>
              <a:rPr sz="790" b="0">
                <a:solidFill>
                  <a:srgbClr val="AEB9CC"/>
                </a:solidFill>
                <a:latin typeface="Consolas"/>
                <a:ea typeface="Consolas"/>
                <a:cs typeface="Consolas"/>
              </a:rPr>
              <a:t>595  </a:t>
            </a:r>
            <a:r>
              <a:rPr sz="790" b="0">
                <a:solidFill>
                  <a:srgbClr val="1B2740"/>
                </a:solidFill>
                <a:latin typeface="Consolas"/>
                <a:ea typeface="Consolas"/>
                <a:cs typeface="Consolas"/>
              </a:rPr>
              <a:t>  </a:t>
            </a:r>
            <a:r>
              <a:rPr sz="790" b="0">
                <a:solidFill>
                  <a:srgbClr val="2563EB"/>
                </a:solidFill>
                <a:latin typeface="Consolas"/>
                <a:ea typeface="Consolas"/>
                <a:cs typeface="Consolas"/>
              </a:rPr>
              <a:t>const</a:t>
            </a:r>
            <a:r>
              <a:rPr sz="790" b="0">
                <a:solidFill>
                  <a:srgbClr val="1B2740"/>
                </a:solidFill>
                <a:latin typeface="Consolas"/>
                <a:ea typeface="Consolas"/>
                <a:cs typeface="Consolas"/>
              </a:rPr>
              <a:t> </a:t>
            </a:r>
            <a:r>
              <a:rPr sz="790" b="0">
                <a:solidFill>
                  <a:srgbClr val="2563EB"/>
                </a:solidFill>
                <a:latin typeface="Consolas"/>
                <a:ea typeface="Consolas"/>
                <a:cs typeface="Consolas"/>
              </a:rPr>
              <a:t>FLOAT64</a:t>
            </a:r>
            <a:r>
              <a:rPr sz="790" b="0">
                <a:solidFill>
                  <a:srgbClr val="1B2740"/>
                </a:solidFill>
                <a:latin typeface="Consolas"/>
                <a:ea typeface="Consolas"/>
                <a:cs typeface="Consolas"/>
              </a:rPr>
              <a:t>  time = (</a:t>
            </a:r>
            <a:r>
              <a:rPr sz="790" b="0">
                <a:solidFill>
                  <a:srgbClr val="2563EB"/>
                </a:solidFill>
                <a:latin typeface="Consolas"/>
                <a:ea typeface="Consolas"/>
                <a:cs typeface="Consolas"/>
              </a:rPr>
              <a:t>FLOAT64</a:t>
            </a:r>
            <a:r>
              <a:rPr sz="790" b="0">
                <a:solidFill>
                  <a:srgbClr val="1B2740"/>
                </a:solidFill>
                <a:latin typeface="Consolas"/>
                <a:ea typeface="Consolas"/>
                <a:cs typeface="Consolas"/>
              </a:rPr>
              <a:t>)st_Msg-&gt;TimeStamp_s + ((</a:t>
            </a:r>
            <a:r>
              <a:rPr sz="790" b="0">
                <a:solidFill>
                  <a:srgbClr val="2563EB"/>
                </a:solidFill>
                <a:latin typeface="Consolas"/>
                <a:ea typeface="Consolas"/>
                <a:cs typeface="Consolas"/>
              </a:rPr>
              <a:t>FLOAT64</a:t>
            </a:r>
            <a:r>
              <a:rPr sz="790" b="0">
                <a:solidFill>
                  <a:srgbClr val="1B2740"/>
                </a:solidFill>
                <a:latin typeface="Consolas"/>
                <a:ea typeface="Consolas"/>
                <a:cs typeface="Consolas"/>
              </a:rPr>
              <a:t>)st_Msg-&gt;TimeStamp_ns * </a:t>
            </a:r>
            <a:r>
              <a:rPr sz="790" b="0">
                <a:solidFill>
                  <a:srgbClr val="B45309"/>
                </a:solidFill>
                <a:latin typeface="Consolas"/>
                <a:ea typeface="Consolas"/>
                <a:cs typeface="Consolas"/>
              </a:rPr>
              <a:t>1.0e-9</a:t>
            </a:r>
            <a:r>
              <a:rPr sz="790" b="0">
                <a:solidFill>
                  <a:srgbClr val="1B2740"/>
                </a:solidFill>
                <a:latin typeface="Consolas"/>
                <a:ea typeface="Consolas"/>
                <a:cs typeface="Consolas"/>
              </a:rPr>
              <a:t>);</a:t>
            </a:r>
          </a:p>
          <a:p>
            <a:pPr>
              <a:lnSpc>
                <a:spcPts val="900"/>
              </a:lnSpc>
            </a:pPr>
            <a:r>
              <a:rPr sz="790" b="0">
                <a:solidFill>
                  <a:srgbClr val="AEB9CC"/>
                </a:solidFill>
                <a:latin typeface="Consolas"/>
                <a:ea typeface="Consolas"/>
                <a:cs typeface="Consolas"/>
              </a:rPr>
              <a:t>     </a:t>
            </a:r>
            <a:r>
              <a:rPr sz="790" b="0">
                <a:solidFill>
                  <a:srgbClr val="8794AC"/>
                </a:solidFill>
                <a:latin typeface="Consolas"/>
                <a:ea typeface="Consolas"/>
                <a:cs typeface="Consolas"/>
              </a:rPr>
              <a:t>...</a:t>
            </a:r>
          </a:p>
          <a:p>
            <a:pPr>
              <a:lnSpc>
                <a:spcPts val="900"/>
              </a:lnSpc>
            </a:pPr>
            <a:r>
              <a:rPr sz="790" b="0">
                <a:solidFill>
                  <a:srgbClr val="AEB9CC"/>
                </a:solidFill>
                <a:latin typeface="Consolas"/>
                <a:ea typeface="Consolas"/>
                <a:cs typeface="Consolas"/>
              </a:rPr>
              <a:t>610  </a:t>
            </a:r>
            <a:r>
              <a:rPr sz="790" b="0">
                <a:solidFill>
                  <a:srgbClr val="1B2740"/>
                </a:solidFill>
                <a:latin typeface="Consolas"/>
                <a:ea typeface="Consolas"/>
                <a:cs typeface="Consolas"/>
              </a:rPr>
              <a:t>  st_Sigma.r  = st_Msg-&gt;Sigma_Range;</a:t>
            </a:r>
          </a:p>
          <a:p>
            <a:pPr>
              <a:lnSpc>
                <a:spcPts val="900"/>
              </a:lnSpc>
            </a:pPr>
            <a:r>
              <a:rPr sz="790" b="0">
                <a:solidFill>
                  <a:srgbClr val="AEB9CC"/>
                </a:solidFill>
                <a:latin typeface="Consolas"/>
                <a:ea typeface="Consolas"/>
                <a:cs typeface="Consolas"/>
              </a:rPr>
              <a:t>611  </a:t>
            </a:r>
            <a:r>
              <a:rPr sz="790" b="0">
                <a:solidFill>
                  <a:srgbClr val="1B2740"/>
                </a:solidFill>
                <a:latin typeface="Consolas"/>
                <a:ea typeface="Consolas"/>
                <a:cs typeface="Consolas"/>
              </a:rPr>
              <a:t>  st_Sigma.az  = st_Msg-&gt;Sigma_Azimuth;</a:t>
            </a:r>
          </a:p>
          <a:p>
            <a:pPr>
              <a:lnSpc>
                <a:spcPts val="900"/>
              </a:lnSpc>
            </a:pPr>
            <a:r>
              <a:rPr sz="790" b="0">
                <a:solidFill>
                  <a:srgbClr val="AEB9CC"/>
                </a:solidFill>
                <a:latin typeface="Consolas"/>
                <a:ea typeface="Consolas"/>
                <a:cs typeface="Consolas"/>
              </a:rPr>
              <a:t>612  </a:t>
            </a:r>
            <a:r>
              <a:rPr sz="790" b="0">
                <a:solidFill>
                  <a:srgbClr val="1B2740"/>
                </a:solidFill>
                <a:latin typeface="Consolas"/>
                <a:ea typeface="Consolas"/>
                <a:cs typeface="Consolas"/>
              </a:rPr>
              <a:t>  st_Sigma.el  = st_Msg-&gt;Sigma_Elevation;</a:t>
            </a:r>
          </a:p>
          <a:p>
            <a:pPr>
              <a:lnSpc>
                <a:spcPts val="900"/>
              </a:lnSpc>
            </a:pPr>
            <a:r>
              <a:rPr sz="790" b="0">
                <a:solidFill>
                  <a:srgbClr val="AEB9CC"/>
                </a:solidFill>
                <a:latin typeface="Consolas"/>
                <a:ea typeface="Consolas"/>
                <a:cs typeface="Consolas"/>
              </a:rPr>
              <a:t>613  </a:t>
            </a:r>
            <a:r>
              <a:rPr sz="790" b="0">
                <a:solidFill>
                  <a:srgbClr val="1B2740"/>
                </a:solidFill>
                <a:latin typeface="Consolas"/>
                <a:ea typeface="Consolas"/>
                <a:cs typeface="Consolas"/>
              </a:rPr>
              <a:t>  st_Att.Roll  = st_Msg-&gt;st_Platform.Pf_Roll;</a:t>
            </a:r>
          </a:p>
          <a:p>
            <a:pPr>
              <a:lnSpc>
                <a:spcPts val="900"/>
              </a:lnSpc>
            </a:pPr>
            <a:r>
              <a:rPr sz="790" b="0">
                <a:solidFill>
                  <a:srgbClr val="AEB9CC"/>
                </a:solidFill>
                <a:latin typeface="Consolas"/>
                <a:ea typeface="Consolas"/>
                <a:cs typeface="Consolas"/>
              </a:rPr>
              <a:t>614  </a:t>
            </a:r>
            <a:r>
              <a:rPr sz="790" b="0">
                <a:solidFill>
                  <a:srgbClr val="1B2740"/>
                </a:solidFill>
                <a:latin typeface="Consolas"/>
                <a:ea typeface="Consolas"/>
                <a:cs typeface="Consolas"/>
              </a:rPr>
              <a:t>  st_Att.Pitch  = st_Msg-&gt;st_Platform.Pf_Pitch;</a:t>
            </a:r>
          </a:p>
          <a:p>
            <a:pPr>
              <a:lnSpc>
                <a:spcPts val="900"/>
              </a:lnSpc>
            </a:pPr>
            <a:r>
              <a:rPr sz="790" b="0">
                <a:solidFill>
                  <a:srgbClr val="AEB9CC"/>
                </a:solidFill>
                <a:latin typeface="Consolas"/>
                <a:ea typeface="Consolas"/>
                <a:cs typeface="Consolas"/>
              </a:rPr>
              <a:t>615  </a:t>
            </a:r>
            <a:r>
              <a:rPr sz="790" b="0">
                <a:solidFill>
                  <a:srgbClr val="1B2740"/>
                </a:solidFill>
                <a:latin typeface="Consolas"/>
                <a:ea typeface="Consolas"/>
                <a:cs typeface="Consolas"/>
              </a:rPr>
              <a:t>  st_Att.Yaw  = st_Msg-&gt;st_Platform.Pf_Yaw;</a:t>
            </a:r>
          </a:p>
          <a:p>
            <a:pPr>
              <a:lnSpc>
                <a:spcPts val="900"/>
              </a:lnSpc>
            </a:pPr>
            <a:r>
              <a:rPr sz="790" b="0">
                <a:solidFill>
                  <a:srgbClr val="AEB9CC"/>
                </a:solidFill>
                <a:latin typeface="Consolas"/>
                <a:ea typeface="Consolas"/>
                <a:cs typeface="Consolas"/>
              </a:rPr>
              <a:t>     </a:t>
            </a:r>
            <a:r>
              <a:rPr sz="790" b="0">
                <a:solidFill>
                  <a:srgbClr val="8794AC"/>
                </a:solidFill>
                <a:latin typeface="Consolas"/>
                <a:ea typeface="Consolas"/>
                <a:cs typeface="Consolas"/>
              </a:rPr>
              <a:t>...</a:t>
            </a:r>
          </a:p>
          <a:p>
            <a:pPr>
              <a:lnSpc>
                <a:spcPts val="900"/>
              </a:lnSpc>
            </a:pPr>
            <a:r>
              <a:rPr sz="790" b="0">
                <a:solidFill>
                  <a:srgbClr val="AEB9CC"/>
                </a:solidFill>
                <a:latin typeface="Consolas"/>
                <a:ea typeface="Consolas"/>
                <a:cs typeface="Consolas"/>
              </a:rPr>
              <a:t>617  </a:t>
            </a:r>
            <a:r>
              <a:rPr sz="790" b="0">
                <a:solidFill>
                  <a:srgbClr val="1B2740"/>
                </a:solidFill>
                <a:latin typeface="Consolas"/>
                <a:ea typeface="Consolas"/>
                <a:cs typeface="Consolas"/>
              </a:rPr>
              <a:t>  </a:t>
            </a:r>
            <a:r>
              <a:rPr sz="790" b="0">
                <a:solidFill>
                  <a:srgbClr val="2563EB"/>
                </a:solidFill>
                <a:latin typeface="Consolas"/>
                <a:ea typeface="Consolas"/>
                <a:cs typeface="Consolas"/>
              </a:rPr>
              <a:t>for</a:t>
            </a:r>
            <a:r>
              <a:rPr sz="790" b="0">
                <a:solidFill>
                  <a:srgbClr val="1B2740"/>
                </a:solidFill>
                <a:latin typeface="Consolas"/>
                <a:ea typeface="Consolas"/>
                <a:cs typeface="Consolas"/>
              </a:rPr>
              <a:t> (nPlot = </a:t>
            </a:r>
            <a:r>
              <a:rPr sz="790" b="0">
                <a:solidFill>
                  <a:srgbClr val="B45309"/>
                </a:solidFill>
                <a:latin typeface="Consolas"/>
                <a:ea typeface="Consolas"/>
                <a:cs typeface="Consolas"/>
              </a:rPr>
              <a:t>0</a:t>
            </a:r>
            <a:r>
              <a:rPr sz="790" b="0">
                <a:solidFill>
                  <a:srgbClr val="1B2740"/>
                </a:solidFill>
                <a:latin typeface="Consolas"/>
                <a:ea typeface="Consolas"/>
                <a:cs typeface="Consolas"/>
              </a:rPr>
              <a:t>; nPlot &lt; nPlotNum; nPlot++)</a:t>
            </a:r>
          </a:p>
          <a:p>
            <a:pPr>
              <a:lnSpc>
                <a:spcPts val="900"/>
              </a:lnSpc>
            </a:pPr>
            <a:r>
              <a:rPr sz="790" b="0">
                <a:solidFill>
                  <a:srgbClr val="AEB9CC"/>
                </a:solidFill>
                <a:latin typeface="Consolas"/>
                <a:ea typeface="Consolas"/>
                <a:cs typeface="Consolas"/>
              </a:rPr>
              <a:t>618  </a:t>
            </a:r>
            <a:r>
              <a:rPr sz="790" b="0">
                <a:solidFill>
                  <a:srgbClr val="1B2740"/>
                </a:solidFill>
                <a:latin typeface="Consolas"/>
                <a:ea typeface="Consolas"/>
                <a:cs typeface="Consolas"/>
              </a:rPr>
              <a:t>  {</a:t>
            </a:r>
          </a:p>
          <a:p>
            <a:pPr>
              <a:lnSpc>
                <a:spcPts val="900"/>
              </a:lnSpc>
            </a:pPr>
            <a:r>
              <a:rPr sz="790" b="0">
                <a:solidFill>
                  <a:srgbClr val="AEB9CC"/>
                </a:solidFill>
                <a:latin typeface="Consolas"/>
                <a:ea typeface="Consolas"/>
                <a:cs typeface="Consolas"/>
              </a:rPr>
              <a:t>619  </a:t>
            </a:r>
            <a:r>
              <a:rPr sz="790" b="0">
                <a:solidFill>
                  <a:srgbClr val="1B2740"/>
                </a:solidFill>
                <a:latin typeface="Consolas"/>
                <a:ea typeface="Consolas"/>
                <a:cs typeface="Consolas"/>
              </a:rPr>
              <a:t>    st_Info = &amp;st_Msg-&gt;st_Plot[nPlot];</a:t>
            </a:r>
          </a:p>
          <a:p>
            <a:pPr>
              <a:lnSpc>
                <a:spcPts val="900"/>
              </a:lnSpc>
            </a:pPr>
            <a:r>
              <a:rPr sz="790" b="0">
                <a:solidFill>
                  <a:srgbClr val="AEB9CC"/>
                </a:solidFill>
                <a:latin typeface="Consolas"/>
                <a:ea typeface="Consolas"/>
                <a:cs typeface="Consolas"/>
              </a:rPr>
              <a:t>620  </a:t>
            </a:r>
            <a:r>
              <a:rPr sz="790" b="0">
                <a:solidFill>
                  <a:srgbClr val="1B2740"/>
                </a:solidFill>
                <a:latin typeface="Consolas"/>
                <a:ea typeface="Consolas"/>
                <a:cs typeface="Consolas"/>
              </a:rPr>
              <a:t>    f_Lnk_FillPlotCoord(st_Info, &amp;st_Msg-&gt;st_Platform);</a:t>
            </a:r>
          </a:p>
          <a:p>
            <a:pPr>
              <a:lnSpc>
                <a:spcPts val="900"/>
              </a:lnSpc>
            </a:pPr>
            <a:r>
              <a:rPr sz="790" b="0">
                <a:solidFill>
                  <a:srgbClr val="AEB9CC"/>
                </a:solidFill>
                <a:latin typeface="Consolas"/>
                <a:ea typeface="Consolas"/>
                <a:cs typeface="Consolas"/>
              </a:rPr>
              <a:t>     </a:t>
            </a:r>
            <a:r>
              <a:rPr sz="790" b="0">
                <a:solidFill>
                  <a:srgbClr val="8794AC"/>
                </a:solidFill>
                <a:latin typeface="Consolas"/>
                <a:ea typeface="Consolas"/>
                <a:cs typeface="Consolas"/>
              </a:rPr>
              <a:t>...</a:t>
            </a:r>
          </a:p>
          <a:p>
            <a:pPr>
              <a:lnSpc>
                <a:spcPts val="900"/>
              </a:lnSpc>
            </a:pPr>
            <a:r>
              <a:rPr sz="790" b="0">
                <a:solidFill>
                  <a:srgbClr val="AEB9CC"/>
                </a:solidFill>
                <a:latin typeface="Consolas"/>
                <a:ea typeface="Consolas"/>
                <a:cs typeface="Consolas"/>
              </a:rPr>
              <a:t>628  </a:t>
            </a:r>
            <a:r>
              <a:rPr sz="790" b="0">
                <a:solidFill>
                  <a:srgbClr val="1B2740"/>
                </a:solidFill>
                <a:latin typeface="Consolas"/>
                <a:ea typeface="Consolas"/>
                <a:cs typeface="Consolas"/>
              </a:rPr>
              <a:t>    st_Plot[nPlot].pos[</a:t>
            </a:r>
            <a:r>
              <a:rPr sz="790" b="0">
                <a:solidFill>
                  <a:srgbClr val="B45309"/>
                </a:solidFill>
                <a:latin typeface="Consolas"/>
                <a:ea typeface="Consolas"/>
                <a:cs typeface="Consolas"/>
              </a:rPr>
              <a:t>0</a:t>
            </a:r>
            <a:r>
              <a:rPr sz="790" b="0">
                <a:solidFill>
                  <a:srgbClr val="1B2740"/>
                </a:solidFill>
                <a:latin typeface="Consolas"/>
                <a:ea typeface="Consolas"/>
                <a:cs typeface="Consolas"/>
              </a:rPr>
              <a:t>]  = st_Info-&gt;X_VcNed;</a:t>
            </a:r>
          </a:p>
          <a:p>
            <a:pPr>
              <a:lnSpc>
                <a:spcPts val="900"/>
              </a:lnSpc>
            </a:pPr>
            <a:r>
              <a:rPr sz="790" b="0">
                <a:solidFill>
                  <a:srgbClr val="AEB9CC"/>
                </a:solidFill>
                <a:latin typeface="Consolas"/>
                <a:ea typeface="Consolas"/>
                <a:cs typeface="Consolas"/>
              </a:rPr>
              <a:t>629  </a:t>
            </a:r>
            <a:r>
              <a:rPr sz="790" b="0">
                <a:solidFill>
                  <a:srgbClr val="1B2740"/>
                </a:solidFill>
                <a:latin typeface="Consolas"/>
                <a:ea typeface="Consolas"/>
                <a:cs typeface="Consolas"/>
              </a:rPr>
              <a:t>    st_Plot[nPlot].pos[</a:t>
            </a:r>
            <a:r>
              <a:rPr sz="790" b="0">
                <a:solidFill>
                  <a:srgbClr val="B45309"/>
                </a:solidFill>
                <a:latin typeface="Consolas"/>
                <a:ea typeface="Consolas"/>
                <a:cs typeface="Consolas"/>
              </a:rPr>
              <a:t>1</a:t>
            </a:r>
            <a:r>
              <a:rPr sz="790" b="0">
                <a:solidFill>
                  <a:srgbClr val="1B2740"/>
                </a:solidFill>
                <a:latin typeface="Consolas"/>
                <a:ea typeface="Consolas"/>
                <a:cs typeface="Consolas"/>
              </a:rPr>
              <a:t>]  = st_Info-&gt;Y_VcNed;</a:t>
            </a:r>
          </a:p>
          <a:p>
            <a:pPr>
              <a:lnSpc>
                <a:spcPts val="900"/>
              </a:lnSpc>
            </a:pPr>
            <a:r>
              <a:rPr sz="790" b="0">
                <a:solidFill>
                  <a:srgbClr val="AEB9CC"/>
                </a:solidFill>
                <a:latin typeface="Consolas"/>
                <a:ea typeface="Consolas"/>
                <a:cs typeface="Consolas"/>
              </a:rPr>
              <a:t>630  </a:t>
            </a:r>
            <a:r>
              <a:rPr sz="790" b="0">
                <a:solidFill>
                  <a:srgbClr val="1B2740"/>
                </a:solidFill>
                <a:latin typeface="Consolas"/>
                <a:ea typeface="Consolas"/>
                <a:cs typeface="Consolas"/>
              </a:rPr>
              <a:t>    st_Plot[nPlot].pos[</a:t>
            </a:r>
            <a:r>
              <a:rPr sz="790" b="0">
                <a:solidFill>
                  <a:srgbClr val="B45309"/>
                </a:solidFill>
                <a:latin typeface="Consolas"/>
                <a:ea typeface="Consolas"/>
                <a:cs typeface="Consolas"/>
              </a:rPr>
              <a:t>2</a:t>
            </a:r>
            <a:r>
              <a:rPr sz="790" b="0">
                <a:solidFill>
                  <a:srgbClr val="1B2740"/>
                </a:solidFill>
                <a:latin typeface="Consolas"/>
                <a:ea typeface="Consolas"/>
                <a:cs typeface="Consolas"/>
              </a:rPr>
              <a:t>]  = st_Info-&gt;Z_VcNed;</a:t>
            </a:r>
          </a:p>
          <a:p>
            <a:pPr>
              <a:lnSpc>
                <a:spcPts val="900"/>
              </a:lnSpc>
            </a:pPr>
            <a:r>
              <a:rPr sz="790" b="0">
                <a:solidFill>
                  <a:srgbClr val="AEB9CC"/>
                </a:solidFill>
                <a:latin typeface="Consolas"/>
                <a:ea typeface="Consolas"/>
                <a:cs typeface="Consolas"/>
              </a:rPr>
              <a:t>     </a:t>
            </a:r>
            <a:r>
              <a:rPr sz="790" b="0">
                <a:solidFill>
                  <a:srgbClr val="8794AC"/>
                </a:solidFill>
                <a:latin typeface="Consolas"/>
                <a:ea typeface="Consolas"/>
                <a:cs typeface="Consolas"/>
              </a:rPr>
              <a:t>...</a:t>
            </a:r>
          </a:p>
          <a:p>
            <a:pPr>
              <a:lnSpc>
                <a:spcPts val="900"/>
              </a:lnSpc>
            </a:pPr>
            <a:r>
              <a:rPr sz="790" b="0">
                <a:solidFill>
                  <a:srgbClr val="AEB9CC"/>
                </a:solidFill>
                <a:latin typeface="Consolas"/>
                <a:ea typeface="Consolas"/>
                <a:cs typeface="Consolas"/>
              </a:rPr>
              <a:t>632  </a:t>
            </a:r>
            <a:r>
              <a:rPr sz="790" b="0">
                <a:solidFill>
                  <a:srgbClr val="1B2740"/>
                </a:solidFill>
                <a:latin typeface="Consolas"/>
                <a:ea typeface="Consolas"/>
                <a:cs typeface="Consolas"/>
              </a:rPr>
              <a:t>    f_Trk_MeasCov(st_Plot[nPlot].cov, &amp;st_Meas, &amp;st_Sigma, &amp;st_Att);</a:t>
            </a:r>
          </a:p>
          <a:p>
            <a:pPr>
              <a:lnSpc>
                <a:spcPts val="900"/>
              </a:lnSpc>
            </a:pPr>
            <a:r>
              <a:rPr sz="790" b="0">
                <a:solidFill>
                  <a:srgbClr val="AEB9CC"/>
                </a:solidFill>
                <a:latin typeface="Consolas"/>
                <a:ea typeface="Consolas"/>
                <a:cs typeface="Consolas"/>
              </a:rPr>
              <a:t>     </a:t>
            </a:r>
            <a:r>
              <a:rPr sz="790" b="0">
                <a:solidFill>
                  <a:srgbClr val="8794AC"/>
                </a:solidFill>
                <a:latin typeface="Consolas"/>
                <a:ea typeface="Consolas"/>
                <a:cs typeface="Consolas"/>
              </a:rPr>
              <a:t>...</a:t>
            </a:r>
          </a:p>
          <a:p>
            <a:pPr>
              <a:lnSpc>
                <a:spcPts val="900"/>
              </a:lnSpc>
            </a:pPr>
            <a:r>
              <a:rPr sz="790" b="0">
                <a:solidFill>
                  <a:srgbClr val="AEB9CC"/>
                </a:solidFill>
                <a:latin typeface="Consolas"/>
                <a:ea typeface="Consolas"/>
                <a:cs typeface="Consolas"/>
              </a:rPr>
              <a:t>643  </a:t>
            </a:r>
            <a:r>
              <a:rPr sz="790" b="0">
                <a:solidFill>
                  <a:srgbClr val="1B2740"/>
                </a:solidFill>
                <a:latin typeface="Consolas"/>
                <a:ea typeface="Consolas"/>
                <a:cs typeface="Consolas"/>
              </a:rPr>
              <a:t>    f_Trk_MoveOrigin(&amp;s_Link.st_Table, shift);</a:t>
            </a:r>
          </a:p>
          <a:p>
            <a:pPr>
              <a:lnSpc>
                <a:spcPts val="900"/>
              </a:lnSpc>
            </a:pPr>
            <a:r>
              <a:rPr sz="790" b="0">
                <a:solidFill>
                  <a:srgbClr val="AEB9CC"/>
                </a:solidFill>
                <a:latin typeface="Consolas"/>
                <a:ea typeface="Consolas"/>
                <a:cs typeface="Consolas"/>
              </a:rPr>
              <a:t>     </a:t>
            </a:r>
            <a:r>
              <a:rPr sz="790" b="0">
                <a:solidFill>
                  <a:srgbClr val="8794AC"/>
                </a:solidFill>
                <a:latin typeface="Consolas"/>
                <a:ea typeface="Consolas"/>
                <a:cs typeface="Consolas"/>
              </a:rPr>
              <a:t>...</a:t>
            </a:r>
          </a:p>
          <a:p>
            <a:pPr>
              <a:lnSpc>
                <a:spcPts val="900"/>
              </a:lnSpc>
            </a:pPr>
            <a:r>
              <a:rPr sz="790" b="0">
                <a:solidFill>
                  <a:srgbClr val="AEB9CC"/>
                </a:solidFill>
                <a:latin typeface="Consolas"/>
                <a:ea typeface="Consolas"/>
                <a:cs typeface="Consolas"/>
              </a:rPr>
              <a:t>649  </a:t>
            </a:r>
            <a:r>
              <a:rPr sz="790" b="0">
                <a:solidFill>
                  <a:srgbClr val="1B2740"/>
                </a:solidFill>
                <a:latin typeface="Consolas"/>
                <a:ea typeface="Consolas"/>
                <a:cs typeface="Consolas"/>
              </a:rPr>
              <a:t>  f_Trk_ProcessScan(&amp;s_Link.st_Table, st_Plot, nPlotNum, time, (</a:t>
            </a:r>
            <a:r>
              <a:rPr sz="790" b="0">
                <a:solidFill>
                  <a:srgbClr val="2563EB"/>
                </a:solidFill>
                <a:latin typeface="Consolas"/>
                <a:ea typeface="Consolas"/>
                <a:cs typeface="Consolas"/>
              </a:rPr>
              <a:t>INT32</a:t>
            </a:r>
            <a:r>
              <a:rPr sz="790" b="0">
                <a:solidFill>
                  <a:srgbClr val="1B2740"/>
                </a:solidFill>
                <a:latin typeface="Consolas"/>
                <a:ea typeface="Consolas"/>
                <a:cs typeface="Consolas"/>
              </a:rPr>
              <a:t>)st_Msg-&gt;ScanNum, &amp;st_Log);</a:t>
            </a:r>
          </a:p>
        </p:txBody>
      </p:sp>
      <p:sp>
        <p:nvSpPr>
          <p:cNvPr id="26" name="TextBox 25"/>
          <p:cNvSpPr txBox="1"/>
          <p:nvPr/>
        </p:nvSpPr>
        <p:spPr>
          <a:xfrm>
            <a:off x="640080" y="5335524"/>
            <a:ext cx="7178040"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2  f_Lnk_FillPlotCoord 의 변환 세 줄</a:t>
            </a:r>
            <a:r>
              <a:rPr sz="950" b="0">
                <a:solidFill>
                  <a:srgbClr val="8794AC"/>
                </a:solidFill>
                <a:latin typeface="Consolas"/>
                <a:ea typeface="Consolas"/>
                <a:cs typeface="Consolas"/>
              </a:rPr>
              <a:t>    PlotLink.c</a:t>
            </a:r>
          </a:p>
        </p:txBody>
      </p:sp>
      <p:sp>
        <p:nvSpPr>
          <p:cNvPr id="27" name="Rectangle 26"/>
          <p:cNvSpPr/>
          <p:nvPr/>
        </p:nvSpPr>
        <p:spPr>
          <a:xfrm>
            <a:off x="640080" y="5591556"/>
            <a:ext cx="7178040" cy="507491"/>
          </a:xfrm>
          <a:prstGeom prst="rect">
            <a:avLst/>
          </a:prstGeom>
          <a:solidFill>
            <a:srgbClr val="FFFFFF"/>
          </a:solidFill>
          <a:ln w="9525">
            <a:solidFill>
              <a:srgbClr val="D2D9E5"/>
            </a:solidFill>
          </a:ln>
        </p:spPr>
        <p:txBody>
          <a:bodyPr rtlCol="0" anchor="ctr"/>
          <a:lstStyle/>
          <a:p>
            <a:pPr algn="ctr"/>
          </a:p>
        </p:txBody>
      </p:sp>
      <p:sp>
        <p:nvSpPr>
          <p:cNvPr id="28" name="TextBox 27"/>
          <p:cNvSpPr txBox="1"/>
          <p:nvPr/>
        </p:nvSpPr>
        <p:spPr>
          <a:xfrm>
            <a:off x="731519" y="5673852"/>
            <a:ext cx="6949440" cy="342899"/>
          </a:xfrm>
          <a:prstGeom prst="rect">
            <a:avLst/>
          </a:prstGeom>
          <a:noFill/>
        </p:spPr>
        <p:txBody>
          <a:bodyPr wrap="none" lIns="0" tIns="0" rIns="0" bIns="0" anchor="t">
            <a:spAutoFit/>
          </a:bodyPr>
          <a:lstStyle/>
          <a:p>
            <a:pPr>
              <a:lnSpc>
                <a:spcPts val="900"/>
              </a:lnSpc>
            </a:pPr>
            <a:r>
              <a:rPr sz="740" b="0">
                <a:solidFill>
                  <a:srgbClr val="AEB9CC"/>
                </a:solidFill>
                <a:latin typeface="Consolas"/>
                <a:ea typeface="Consolas"/>
                <a:cs typeface="Consolas"/>
              </a:rPr>
              <a:t>541  </a:t>
            </a:r>
            <a:r>
              <a:rPr sz="740" b="0">
                <a:solidFill>
                  <a:srgbClr val="1B2740"/>
                </a:solidFill>
                <a:latin typeface="Consolas"/>
                <a:ea typeface="Consolas"/>
                <a:cs typeface="Consolas"/>
              </a:rPr>
              <a:t>st_Ant  = f_Trans_Ant_Sph_To_XYZ(st_Info-&gt;Range_Ant, st_Info-&gt;Azimuth_Ant, st_Info-&gt;Elevation_Ant);</a:t>
            </a:r>
          </a:p>
          <a:p>
            <a:pPr>
              <a:lnSpc>
                <a:spcPts val="900"/>
              </a:lnSpc>
            </a:pPr>
            <a:r>
              <a:rPr sz="740" b="0">
                <a:solidFill>
                  <a:srgbClr val="AEB9CC"/>
                </a:solidFill>
                <a:latin typeface="Consolas"/>
                <a:ea typeface="Consolas"/>
                <a:cs typeface="Consolas"/>
              </a:rPr>
              <a:t>542  </a:t>
            </a:r>
            <a:r>
              <a:rPr sz="740" b="0">
                <a:solidFill>
                  <a:srgbClr val="1B2740"/>
                </a:solidFill>
                <a:latin typeface="Consolas"/>
                <a:ea typeface="Consolas"/>
                <a:cs typeface="Consolas"/>
              </a:rPr>
              <a:t>st_Body  = f_Trans_Ant_To_Body(st_Ant.x, st_Ant.y, st_Ant.z);</a:t>
            </a:r>
          </a:p>
          <a:p>
            <a:pPr>
              <a:lnSpc>
                <a:spcPts val="900"/>
              </a:lnSpc>
            </a:pPr>
            <a:r>
              <a:rPr sz="740" b="0">
                <a:solidFill>
                  <a:srgbClr val="AEB9CC"/>
                </a:solidFill>
                <a:latin typeface="Consolas"/>
                <a:ea typeface="Consolas"/>
                <a:cs typeface="Consolas"/>
              </a:rPr>
              <a:t>543  </a:t>
            </a:r>
            <a:r>
              <a:rPr sz="740" b="0">
                <a:solidFill>
                  <a:srgbClr val="1B2740"/>
                </a:solidFill>
                <a:latin typeface="Consolas"/>
                <a:ea typeface="Consolas"/>
                <a:cs typeface="Consolas"/>
              </a:rPr>
              <a:t>st_Ned  = f_Trans_Body_To_Ned(st_Body.x, st_Body.y, st_Body.z, st_Platform-&gt;Pf_Roll, st_Platform-&gt;Pf_Yaw, st_Platform-&gt;Pf_Pitch);</a:t>
            </a:r>
          </a:p>
        </p:txBody>
      </p:sp>
      <p:sp>
        <p:nvSpPr>
          <p:cNvPr id="29" name="Oval 28"/>
          <p:cNvSpPr/>
          <p:nvPr/>
        </p:nvSpPr>
        <p:spPr>
          <a:xfrm>
            <a:off x="8092440" y="228600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30" name="TextBox 29"/>
          <p:cNvSpPr txBox="1"/>
          <p:nvPr/>
        </p:nvSpPr>
        <p:spPr>
          <a:xfrm>
            <a:off x="8476488" y="2267712"/>
            <a:ext cx="3072384" cy="438912"/>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머리에서 꺼냄</a:t>
            </a:r>
          </a:p>
          <a:p>
            <a:pPr algn="l">
              <a:lnSpc>
                <a:spcPct val="105000"/>
              </a:lnSpc>
            </a:pPr>
            <a:r>
              <a:rPr sz="1050" b="0">
                <a:solidFill>
                  <a:srgbClr val="4A5A7A"/>
                </a:solidFill>
                <a:latin typeface="맑은 고딕"/>
                <a:ea typeface="맑은 고딕"/>
                <a:cs typeface="맑은 고딕"/>
              </a:rPr>
              <a:t>시각, 측정 표준편차, 플랫폼 자세</a:t>
            </a:r>
          </a:p>
        </p:txBody>
      </p:sp>
      <p:sp>
        <p:nvSpPr>
          <p:cNvPr id="31" name="Oval 30"/>
          <p:cNvSpPr/>
          <p:nvPr/>
        </p:nvSpPr>
        <p:spPr>
          <a:xfrm>
            <a:off x="8092440" y="288036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32" name="TextBox 31"/>
          <p:cNvSpPr txBox="1"/>
          <p:nvPr/>
        </p:nvSpPr>
        <p:spPr>
          <a:xfrm>
            <a:off x="8476488" y="2862072"/>
            <a:ext cx="3072384" cy="438912"/>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안테나 -&gt; 동체 -&gt; VC-NED</a:t>
            </a:r>
          </a:p>
          <a:p>
            <a:pPr algn="l">
              <a:lnSpc>
                <a:spcPct val="105000"/>
              </a:lnSpc>
            </a:pPr>
            <a:r>
              <a:rPr sz="1050" b="0">
                <a:solidFill>
                  <a:srgbClr val="4A5A7A"/>
                </a:solidFill>
                <a:latin typeface="맑은 고딕"/>
                <a:ea typeface="맑은 고딕"/>
                <a:cs typeface="맑은 고딕"/>
              </a:rPr>
              <a:t>아래 세 줄. 비어 있던 좌표 칸도 채움</a:t>
            </a:r>
          </a:p>
        </p:txBody>
      </p:sp>
      <p:sp>
        <p:nvSpPr>
          <p:cNvPr id="33" name="Oval 32"/>
          <p:cNvSpPr/>
          <p:nvPr/>
        </p:nvSpPr>
        <p:spPr>
          <a:xfrm>
            <a:off x="8092440" y="347472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34" name="TextBox 33"/>
          <p:cNvSpPr txBox="1"/>
          <p:nvPr/>
        </p:nvSpPr>
        <p:spPr>
          <a:xfrm>
            <a:off x="8476488" y="3456432"/>
            <a:ext cx="3072384" cy="438912"/>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트랙 개시용 플롯</a:t>
            </a:r>
          </a:p>
          <a:p>
            <a:pPr algn="l">
              <a:lnSpc>
                <a:spcPct val="105000"/>
              </a:lnSpc>
            </a:pPr>
            <a:r>
              <a:rPr sz="1050" b="0">
                <a:solidFill>
                  <a:srgbClr val="4A5A7A"/>
                </a:solidFill>
                <a:latin typeface="맑은 고딕"/>
                <a:ea typeface="맑은 고딕"/>
                <a:cs typeface="맑은 고딕"/>
              </a:rPr>
              <a:t>위치 VC-NED, 공분산 f_Trk_MeasCov (1.5)</a:t>
            </a:r>
          </a:p>
        </p:txBody>
      </p:sp>
      <p:sp>
        <p:nvSpPr>
          <p:cNvPr id="35" name="Oval 34"/>
          <p:cNvSpPr/>
          <p:nvPr/>
        </p:nvSpPr>
        <p:spPr>
          <a:xfrm>
            <a:off x="8092440" y="4069080"/>
            <a:ext cx="256032" cy="256032"/>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36" name="TextBox 35"/>
          <p:cNvSpPr txBox="1"/>
          <p:nvPr/>
        </p:nvSpPr>
        <p:spPr>
          <a:xfrm>
            <a:off x="8476488" y="4050792"/>
            <a:ext cx="3072384" cy="658368"/>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원점 옮기기</a:t>
            </a:r>
          </a:p>
          <a:p>
            <a:pPr algn="l">
              <a:lnSpc>
                <a:spcPct val="105000"/>
              </a:lnSpc>
            </a:pPr>
            <a:r>
              <a:rPr sz="1050" b="0">
                <a:solidFill>
                  <a:srgbClr val="4A5A7A"/>
                </a:solidFill>
                <a:latin typeface="맑은 고딕"/>
                <a:ea typeface="맑은 고딕"/>
                <a:cs typeface="맑은 고딕"/>
              </a:rPr>
              <a:t>플랫폼이 움직이면 앞 스캔 플롯 · 트랙을</a:t>
            </a:r>
          </a:p>
          <a:p>
            <a:pPr algn="l">
              <a:lnSpc>
                <a:spcPct val="105000"/>
              </a:lnSpc>
            </a:pPr>
            <a:r>
              <a:rPr sz="1050" b="0">
                <a:solidFill>
                  <a:srgbClr val="4A5A7A"/>
                </a:solidFill>
                <a:latin typeface="맑은 고딕"/>
                <a:ea typeface="맑은 고딕"/>
                <a:cs typeface="맑은 고딕"/>
              </a:rPr>
              <a:t>이번 스캔 VC-NED 로 (이번 시나리오는 0)</a:t>
            </a:r>
          </a:p>
        </p:txBody>
      </p:sp>
      <p:sp>
        <p:nvSpPr>
          <p:cNvPr id="37" name="Oval 36"/>
          <p:cNvSpPr/>
          <p:nvPr/>
        </p:nvSpPr>
        <p:spPr>
          <a:xfrm>
            <a:off x="8092440" y="4892040"/>
            <a:ext cx="256032" cy="256032"/>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38" name="TextBox 37"/>
          <p:cNvSpPr txBox="1"/>
          <p:nvPr/>
        </p:nvSpPr>
        <p:spPr>
          <a:xfrm>
            <a:off x="8476488" y="4873752"/>
            <a:ext cx="3072384" cy="658368"/>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트랙 관리 + 2 Point 개시</a:t>
            </a:r>
          </a:p>
          <a:p>
            <a:pPr algn="l">
              <a:lnSpc>
                <a:spcPct val="105000"/>
              </a:lnSpc>
            </a:pPr>
            <a:r>
              <a:rPr sz="1050" b="0">
                <a:solidFill>
                  <a:srgbClr val="4A5A7A"/>
                </a:solidFill>
                <a:latin typeface="맑은 고딕"/>
                <a:ea typeface="맑은 고딕"/>
                <a:cs typeface="맑은 고딕"/>
              </a:rPr>
              <a:t>결과는 스캔 단위로 복사해 둠</a:t>
            </a:r>
          </a:p>
          <a:p>
            <a:pPr algn="l">
              <a:lnSpc>
                <a:spcPct val="105000"/>
              </a:lnSpc>
            </a:pPr>
            <a:r>
              <a:rPr sz="1050" b="0">
                <a:solidFill>
                  <a:srgbClr val="4A5A7A"/>
                </a:solidFill>
                <a:latin typeface="맑은 고딕"/>
                <a:ea typeface="맑은 고딕"/>
                <a:cs typeface="맑은 고딕"/>
              </a:rPr>
              <a:t>(UI 가 가져감)</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3.6 2 Point 개시: 쌍 고르기 (f_Trk_ProcessScan)</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모든 트랙을 Assigned_Flag 0 으로 판정한 뒤, 게이트를 넘는 쌍 가운데 가장 느린 쌍부터 하나씩 골라 트랙을 만듭니다.</a:t>
            </a:r>
            <a:endParaRPr lang="en-US" sz="1250" dirty="0"/>
          </a:p>
        </p:txBody>
      </p:sp>
      <p:sp>
        <p:nvSpPr>
          <p:cNvPr id="5" name="TextBox 4"/>
          <p:cNvSpPr txBox="1"/>
          <p:nvPr/>
        </p:nvSpPr>
        <p:spPr>
          <a:xfrm>
            <a:off x="6675120" y="1216152"/>
            <a:ext cx="4873752" cy="438912"/>
          </a:xfrm>
          <a:prstGeom prst="rect">
            <a:avLst/>
          </a:prstGeom>
          <a:noFill/>
        </p:spPr>
        <p:txBody>
          <a:bodyPr wrap="square" lIns="0" tIns="0" rIns="0" bIns="0" anchor="ctr">
            <a:spAutoFit/>
          </a:bodyPr>
          <a:lstStyle/>
          <a:p>
            <a:pPr algn="r"/>
            <a:r>
              <a:rPr sz="1000" b="0">
                <a:solidFill>
                  <a:srgbClr val="8794AC"/>
                </a:solidFill>
                <a:latin typeface="Consolas"/>
                <a:ea typeface="Consolas"/>
                <a:cs typeface="Consolas"/>
              </a:rPr>
              <a:t>TargetSimCore/src/TrackMgr.c</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Rectangle 6"/>
          <p:cNvSpPr/>
          <p:nvPr/>
        </p:nvSpPr>
        <p:spPr>
          <a:xfrm>
            <a:off x="640080" y="2240280"/>
            <a:ext cx="7178040" cy="3593592"/>
          </a:xfrm>
          <a:prstGeom prst="rect">
            <a:avLst/>
          </a:prstGeom>
          <a:solidFill>
            <a:srgbClr val="FFFFFF"/>
          </a:solidFill>
          <a:ln w="9525">
            <a:solidFill>
              <a:srgbClr val="D2D9E5"/>
            </a:solidFill>
          </a:ln>
        </p:spPr>
        <p:txBody>
          <a:bodyPr rtlCol="0" anchor="ctr"/>
          <a:lstStyle/>
          <a:p>
            <a:pPr algn="ctr"/>
          </a:p>
        </p:txBody>
      </p:sp>
      <p:sp>
        <p:nvSpPr>
          <p:cNvPr id="8" name="Rectangle 7"/>
          <p:cNvSpPr/>
          <p:nvPr/>
        </p:nvSpPr>
        <p:spPr>
          <a:xfrm>
            <a:off x="667512" y="2311603"/>
            <a:ext cx="7123176" cy="254000"/>
          </a:xfrm>
          <a:prstGeom prst="rect">
            <a:avLst/>
          </a:prstGeom>
          <a:solidFill>
            <a:srgbClr val="FDEEEE"/>
          </a:solidFill>
          <a:ln>
            <a:noFill/>
          </a:ln>
        </p:spPr>
        <p:txBody>
          <a:bodyPr rtlCol="0" anchor="ctr"/>
          <a:lstStyle/>
          <a:p>
            <a:pPr algn="ctr"/>
          </a:p>
        </p:txBody>
      </p:sp>
      <p:sp>
        <p:nvSpPr>
          <p:cNvPr id="9" name="Rectangle 8"/>
          <p:cNvSpPr/>
          <p:nvPr/>
        </p:nvSpPr>
        <p:spPr>
          <a:xfrm>
            <a:off x="667512" y="2311603"/>
            <a:ext cx="36576" cy="254000"/>
          </a:xfrm>
          <a:prstGeom prst="rect">
            <a:avLst/>
          </a:prstGeom>
          <a:solidFill>
            <a:srgbClr val="DC2626"/>
          </a:solidFill>
          <a:ln>
            <a:noFill/>
          </a:ln>
        </p:spPr>
        <p:txBody>
          <a:bodyPr rtlCol="0" anchor="ctr"/>
          <a:lstStyle/>
          <a:p>
            <a:pPr algn="ctr"/>
          </a:p>
        </p:txBody>
      </p:sp>
      <p:sp>
        <p:nvSpPr>
          <p:cNvPr id="10" name="Oval 9"/>
          <p:cNvSpPr/>
          <p:nvPr/>
        </p:nvSpPr>
        <p:spPr>
          <a:xfrm>
            <a:off x="7717536" y="2274519"/>
            <a:ext cx="201168" cy="201168"/>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11" name="Rectangle 10"/>
          <p:cNvSpPr/>
          <p:nvPr/>
        </p:nvSpPr>
        <p:spPr>
          <a:xfrm>
            <a:off x="667512" y="2692603"/>
            <a:ext cx="7123176" cy="127000"/>
          </a:xfrm>
          <a:prstGeom prst="rect">
            <a:avLst/>
          </a:prstGeom>
          <a:solidFill>
            <a:srgbClr val="FEF3E2"/>
          </a:solidFill>
          <a:ln>
            <a:noFill/>
          </a:ln>
        </p:spPr>
        <p:txBody>
          <a:bodyPr rtlCol="0" anchor="ctr"/>
          <a:lstStyle/>
          <a:p>
            <a:pPr algn="ctr"/>
          </a:p>
        </p:txBody>
      </p:sp>
      <p:sp>
        <p:nvSpPr>
          <p:cNvPr id="12" name="Rectangle 11"/>
          <p:cNvSpPr/>
          <p:nvPr/>
        </p:nvSpPr>
        <p:spPr>
          <a:xfrm>
            <a:off x="667512" y="2692603"/>
            <a:ext cx="36576" cy="127000"/>
          </a:xfrm>
          <a:prstGeom prst="rect">
            <a:avLst/>
          </a:prstGeom>
          <a:solidFill>
            <a:srgbClr val="D97706"/>
          </a:solidFill>
          <a:ln>
            <a:noFill/>
          </a:ln>
        </p:spPr>
        <p:txBody>
          <a:bodyPr rtlCol="0" anchor="ctr"/>
          <a:lstStyle/>
          <a:p>
            <a:pPr algn="ctr"/>
          </a:p>
        </p:txBody>
      </p:sp>
      <p:sp>
        <p:nvSpPr>
          <p:cNvPr id="13" name="Oval 12"/>
          <p:cNvSpPr/>
          <p:nvPr/>
        </p:nvSpPr>
        <p:spPr>
          <a:xfrm>
            <a:off x="7717536" y="2655519"/>
            <a:ext cx="201168" cy="201168"/>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4" name="Rectangle 13"/>
          <p:cNvSpPr/>
          <p:nvPr/>
        </p:nvSpPr>
        <p:spPr>
          <a:xfrm>
            <a:off x="667512" y="3200603"/>
            <a:ext cx="7123176" cy="1016000"/>
          </a:xfrm>
          <a:prstGeom prst="rect">
            <a:avLst/>
          </a:prstGeom>
          <a:solidFill>
            <a:srgbClr val="FEF3E2"/>
          </a:solidFill>
          <a:ln>
            <a:noFill/>
          </a:ln>
        </p:spPr>
        <p:txBody>
          <a:bodyPr rtlCol="0" anchor="ctr"/>
          <a:lstStyle/>
          <a:p>
            <a:pPr algn="ctr"/>
          </a:p>
        </p:txBody>
      </p:sp>
      <p:sp>
        <p:nvSpPr>
          <p:cNvPr id="15" name="Rectangle 14"/>
          <p:cNvSpPr/>
          <p:nvPr/>
        </p:nvSpPr>
        <p:spPr>
          <a:xfrm>
            <a:off x="667512" y="3200603"/>
            <a:ext cx="36576" cy="1016000"/>
          </a:xfrm>
          <a:prstGeom prst="rect">
            <a:avLst/>
          </a:prstGeom>
          <a:solidFill>
            <a:srgbClr val="D97706"/>
          </a:solidFill>
          <a:ln>
            <a:noFill/>
          </a:ln>
        </p:spPr>
        <p:txBody>
          <a:bodyPr rtlCol="0" anchor="ctr"/>
          <a:lstStyle/>
          <a:p>
            <a:pPr algn="ctr"/>
          </a:p>
        </p:txBody>
      </p:sp>
      <p:sp>
        <p:nvSpPr>
          <p:cNvPr id="16" name="Rectangle 15"/>
          <p:cNvSpPr/>
          <p:nvPr/>
        </p:nvSpPr>
        <p:spPr>
          <a:xfrm>
            <a:off x="667512" y="4216603"/>
            <a:ext cx="7123176" cy="254000"/>
          </a:xfrm>
          <a:prstGeom prst="rect">
            <a:avLst/>
          </a:prstGeom>
          <a:solidFill>
            <a:srgbClr val="E6F5EE"/>
          </a:solidFill>
          <a:ln>
            <a:noFill/>
          </a:ln>
        </p:spPr>
        <p:txBody>
          <a:bodyPr rtlCol="0" anchor="ctr"/>
          <a:lstStyle/>
          <a:p>
            <a:pPr algn="ctr"/>
          </a:p>
        </p:txBody>
      </p:sp>
      <p:sp>
        <p:nvSpPr>
          <p:cNvPr id="17" name="Rectangle 16"/>
          <p:cNvSpPr/>
          <p:nvPr/>
        </p:nvSpPr>
        <p:spPr>
          <a:xfrm>
            <a:off x="667512" y="4216603"/>
            <a:ext cx="36576" cy="254000"/>
          </a:xfrm>
          <a:prstGeom prst="rect">
            <a:avLst/>
          </a:prstGeom>
          <a:solidFill>
            <a:srgbClr val="059669"/>
          </a:solidFill>
          <a:ln>
            <a:noFill/>
          </a:ln>
        </p:spPr>
        <p:txBody>
          <a:bodyPr rtlCol="0" anchor="ctr"/>
          <a:lstStyle/>
          <a:p>
            <a:pPr algn="ctr"/>
          </a:p>
        </p:txBody>
      </p:sp>
      <p:sp>
        <p:nvSpPr>
          <p:cNvPr id="18" name="Oval 17"/>
          <p:cNvSpPr/>
          <p:nvPr/>
        </p:nvSpPr>
        <p:spPr>
          <a:xfrm>
            <a:off x="7717536" y="4179519"/>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9" name="Rectangle 18"/>
          <p:cNvSpPr/>
          <p:nvPr/>
        </p:nvSpPr>
        <p:spPr>
          <a:xfrm>
            <a:off x="667512" y="4597603"/>
            <a:ext cx="7123176" cy="127000"/>
          </a:xfrm>
          <a:prstGeom prst="rect">
            <a:avLst/>
          </a:prstGeom>
          <a:solidFill>
            <a:srgbClr val="EAF1FD"/>
          </a:solidFill>
          <a:ln>
            <a:noFill/>
          </a:ln>
        </p:spPr>
        <p:txBody>
          <a:bodyPr rtlCol="0" anchor="ctr"/>
          <a:lstStyle/>
          <a:p>
            <a:pPr algn="ctr"/>
          </a:p>
        </p:txBody>
      </p:sp>
      <p:sp>
        <p:nvSpPr>
          <p:cNvPr id="20" name="Rectangle 19"/>
          <p:cNvSpPr/>
          <p:nvPr/>
        </p:nvSpPr>
        <p:spPr>
          <a:xfrm>
            <a:off x="667512" y="4597603"/>
            <a:ext cx="36576" cy="127000"/>
          </a:xfrm>
          <a:prstGeom prst="rect">
            <a:avLst/>
          </a:prstGeom>
          <a:solidFill>
            <a:srgbClr val="2563EB"/>
          </a:solidFill>
          <a:ln>
            <a:noFill/>
          </a:ln>
        </p:spPr>
        <p:txBody>
          <a:bodyPr rtlCol="0" anchor="ctr"/>
          <a:lstStyle/>
          <a:p>
            <a:pPr algn="ctr"/>
          </a:p>
        </p:txBody>
      </p:sp>
      <p:sp>
        <p:nvSpPr>
          <p:cNvPr id="21" name="Oval 20"/>
          <p:cNvSpPr/>
          <p:nvPr/>
        </p:nvSpPr>
        <p:spPr>
          <a:xfrm>
            <a:off x="7717536" y="4560519"/>
            <a:ext cx="201168" cy="201168"/>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22" name="Rectangle 21"/>
          <p:cNvSpPr/>
          <p:nvPr/>
        </p:nvSpPr>
        <p:spPr>
          <a:xfrm>
            <a:off x="667512" y="4851603"/>
            <a:ext cx="7123176" cy="127000"/>
          </a:xfrm>
          <a:prstGeom prst="rect">
            <a:avLst/>
          </a:prstGeom>
          <a:solidFill>
            <a:srgbClr val="F2ECFD"/>
          </a:solidFill>
          <a:ln>
            <a:noFill/>
          </a:ln>
        </p:spPr>
        <p:txBody>
          <a:bodyPr rtlCol="0" anchor="ctr"/>
          <a:lstStyle/>
          <a:p>
            <a:pPr algn="ctr"/>
          </a:p>
        </p:txBody>
      </p:sp>
      <p:sp>
        <p:nvSpPr>
          <p:cNvPr id="23" name="Rectangle 22"/>
          <p:cNvSpPr/>
          <p:nvPr/>
        </p:nvSpPr>
        <p:spPr>
          <a:xfrm>
            <a:off x="667512" y="4851603"/>
            <a:ext cx="36576" cy="127000"/>
          </a:xfrm>
          <a:prstGeom prst="rect">
            <a:avLst/>
          </a:prstGeom>
          <a:solidFill>
            <a:srgbClr val="7C3AED"/>
          </a:solidFill>
          <a:ln>
            <a:noFill/>
          </a:ln>
        </p:spPr>
        <p:txBody>
          <a:bodyPr rtlCol="0" anchor="ctr"/>
          <a:lstStyle/>
          <a:p>
            <a:pPr algn="ctr"/>
          </a:p>
        </p:txBody>
      </p:sp>
      <p:sp>
        <p:nvSpPr>
          <p:cNvPr id="24" name="Oval 23"/>
          <p:cNvSpPr/>
          <p:nvPr/>
        </p:nvSpPr>
        <p:spPr>
          <a:xfrm>
            <a:off x="7717536" y="4814519"/>
            <a:ext cx="201168" cy="201168"/>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25" name="Rectangle 24"/>
          <p:cNvSpPr/>
          <p:nvPr/>
        </p:nvSpPr>
        <p:spPr>
          <a:xfrm>
            <a:off x="667512" y="4978603"/>
            <a:ext cx="7123176" cy="381000"/>
          </a:xfrm>
          <a:prstGeom prst="rect">
            <a:avLst/>
          </a:prstGeom>
          <a:solidFill>
            <a:srgbClr val="F2ECFD"/>
          </a:solidFill>
          <a:ln>
            <a:noFill/>
          </a:ln>
        </p:spPr>
        <p:txBody>
          <a:bodyPr rtlCol="0" anchor="ctr"/>
          <a:lstStyle/>
          <a:p>
            <a:pPr algn="ctr"/>
          </a:p>
        </p:txBody>
      </p:sp>
      <p:sp>
        <p:nvSpPr>
          <p:cNvPr id="26" name="Rectangle 25"/>
          <p:cNvSpPr/>
          <p:nvPr/>
        </p:nvSpPr>
        <p:spPr>
          <a:xfrm>
            <a:off x="667512" y="4978603"/>
            <a:ext cx="36576" cy="381000"/>
          </a:xfrm>
          <a:prstGeom prst="rect">
            <a:avLst/>
          </a:prstGeom>
          <a:solidFill>
            <a:srgbClr val="7C3AED"/>
          </a:solidFill>
          <a:ln>
            <a:noFill/>
          </a:ln>
        </p:spPr>
        <p:txBody>
          <a:bodyPr rtlCol="0" anchor="ctr"/>
          <a:lstStyle/>
          <a:p>
            <a:pPr algn="ctr"/>
          </a:p>
        </p:txBody>
      </p:sp>
      <p:sp>
        <p:nvSpPr>
          <p:cNvPr id="27" name="TextBox 26"/>
          <p:cNvSpPr txBox="1"/>
          <p:nvPr/>
        </p:nvSpPr>
        <p:spPr>
          <a:xfrm>
            <a:off x="731519" y="2322576"/>
            <a:ext cx="6949440" cy="3429000"/>
          </a:xfrm>
          <a:prstGeom prst="rect">
            <a:avLst/>
          </a:prstGeom>
          <a:noFill/>
        </p:spPr>
        <p:txBody>
          <a:bodyPr wrap="none" lIns="0" tIns="0" rIns="0" bIns="0" anchor="t">
            <a:spAutoFit/>
          </a:bodyPr>
          <a:lstStyle/>
          <a:p>
            <a:pPr>
              <a:lnSpc>
                <a:spcPts val="1000"/>
              </a:lnSpc>
            </a:pPr>
            <a:r>
              <a:rPr sz="800" b="0">
                <a:solidFill>
                  <a:srgbClr val="AEB9CC"/>
                </a:solidFill>
                <a:latin typeface="Consolas"/>
                <a:ea typeface="Consolas"/>
                <a:cs typeface="Consolas"/>
              </a:rPr>
              <a:t>313  </a:t>
            </a:r>
            <a:r>
              <a:rPr sz="800" b="0">
                <a:solidFill>
                  <a:srgbClr val="1B2740"/>
                </a:solidFill>
                <a:latin typeface="Consolas"/>
                <a:ea typeface="Consolas"/>
                <a:cs typeface="Consolas"/>
              </a:rPr>
              <a:t>  st_Track-&gt;Assigned_Flag  = </a:t>
            </a:r>
            <a:r>
              <a:rPr sz="800" b="0">
                <a:solidFill>
                  <a:srgbClr val="B45309"/>
                </a:solidFill>
                <a:latin typeface="Consolas"/>
                <a:ea typeface="Consolas"/>
                <a:cs typeface="Consolas"/>
              </a:rPr>
              <a:t>0</a:t>
            </a:r>
            <a:r>
              <a:rPr sz="800" b="0">
                <a:solidFill>
                  <a:srgbClr val="1B2740"/>
                </a:solidFill>
                <a:latin typeface="Consolas"/>
                <a:ea typeface="Consolas"/>
                <a:cs typeface="Consolas"/>
              </a:rPr>
              <a:t>;</a:t>
            </a:r>
          </a:p>
          <a:p>
            <a:pPr>
              <a:lnSpc>
                <a:spcPts val="1000"/>
              </a:lnSpc>
            </a:pPr>
            <a:r>
              <a:rPr sz="800" b="0">
                <a:solidFill>
                  <a:srgbClr val="AEB9CC"/>
                </a:solidFill>
                <a:latin typeface="Consolas"/>
                <a:ea typeface="Consolas"/>
                <a:cs typeface="Consolas"/>
              </a:rPr>
              <a:t>314  </a:t>
            </a:r>
            <a:r>
              <a:rPr sz="800" b="0">
                <a:solidFill>
                  <a:srgbClr val="1B2740"/>
                </a:solidFill>
                <a:latin typeface="Consolas"/>
                <a:ea typeface="Consolas"/>
                <a:cs typeface="Consolas"/>
              </a:rPr>
              <a:t>  f_Trk_UpdateState(st_Track);</a:t>
            </a:r>
          </a:p>
          <a:p>
            <a:pPr>
              <a:lnSpc>
                <a:spcPts val="1000"/>
              </a:lnSpc>
            </a:pPr>
            <a:r>
              <a:rPr sz="800" b="0">
                <a:solidFill>
                  <a:srgbClr val="AEB9CC"/>
                </a:solidFill>
                <a:latin typeface="Consolas"/>
                <a:ea typeface="Consolas"/>
                <a:cs typeface="Consolas"/>
              </a:rPr>
              <a:t>     </a:t>
            </a:r>
            <a:r>
              <a:rPr sz="800" b="0">
                <a:solidFill>
                  <a:srgbClr val="8794AC"/>
                </a:solidFill>
                <a:latin typeface="Consolas"/>
                <a:ea typeface="Consolas"/>
                <a:cs typeface="Consolas"/>
              </a:rPr>
              <a:t>...</a:t>
            </a:r>
          </a:p>
          <a:p>
            <a:pPr>
              <a:lnSpc>
                <a:spcPts val="1000"/>
              </a:lnSpc>
            </a:pPr>
            <a:r>
              <a:rPr sz="800" b="0">
                <a:solidFill>
                  <a:srgbClr val="AEB9CC"/>
                </a:solidFill>
                <a:latin typeface="Consolas"/>
                <a:ea typeface="Consolas"/>
                <a:cs typeface="Consolas"/>
              </a:rPr>
              <a:t>371  </a:t>
            </a:r>
            <a:r>
              <a:rPr sz="800" b="0">
                <a:solidFill>
                  <a:srgbClr val="1B2740"/>
                </a:solidFill>
                <a:latin typeface="Consolas"/>
                <a:ea typeface="Consolas"/>
                <a:cs typeface="Consolas"/>
              </a:rPr>
              <a:t>    bestSpeed  = </a:t>
            </a:r>
            <a:r>
              <a:rPr sz="800" b="0">
                <a:solidFill>
                  <a:srgbClr val="7C3AED"/>
                </a:solidFill>
                <a:latin typeface="Consolas"/>
                <a:ea typeface="Consolas"/>
                <a:cs typeface="Consolas"/>
              </a:rPr>
              <a:t>TRK_VMAX</a:t>
            </a:r>
            <a:r>
              <a:rPr sz="800" b="0">
                <a:solidFill>
                  <a:srgbClr val="1B2740"/>
                </a:solidFill>
                <a:latin typeface="Consolas"/>
                <a:ea typeface="Consolas"/>
                <a:cs typeface="Consolas"/>
              </a:rPr>
              <a:t>;</a:t>
            </a:r>
          </a:p>
          <a:p>
            <a:pPr>
              <a:lnSpc>
                <a:spcPts val="1000"/>
              </a:lnSpc>
            </a:pPr>
            <a:r>
              <a:rPr sz="800" b="0">
                <a:solidFill>
                  <a:srgbClr val="AEB9CC"/>
                </a:solidFill>
                <a:latin typeface="Consolas"/>
                <a:ea typeface="Consolas"/>
                <a:cs typeface="Consolas"/>
              </a:rPr>
              <a:t>     </a:t>
            </a:r>
            <a:r>
              <a:rPr sz="800" b="0">
                <a:solidFill>
                  <a:srgbClr val="8794AC"/>
                </a:solidFill>
                <a:latin typeface="Consolas"/>
                <a:ea typeface="Consolas"/>
                <a:cs typeface="Consolas"/>
              </a:rPr>
              <a:t>...</a:t>
            </a:r>
          </a:p>
          <a:p>
            <a:pPr>
              <a:lnSpc>
                <a:spcPts val="1000"/>
              </a:lnSpc>
            </a:pPr>
            <a:r>
              <a:rPr sz="800" b="0">
                <a:solidFill>
                  <a:srgbClr val="AEB9CC"/>
                </a:solidFill>
                <a:latin typeface="Consolas"/>
                <a:ea typeface="Consolas"/>
                <a:cs typeface="Consolas"/>
              </a:rPr>
              <a:t>379  </a:t>
            </a:r>
            <a:r>
              <a:rPr sz="800" b="0">
                <a:solidFill>
                  <a:srgbClr val="1B2740"/>
                </a:solidFill>
                <a:latin typeface="Consolas"/>
                <a:ea typeface="Consolas"/>
                <a:cs typeface="Consolas"/>
              </a:rPr>
              <a:t>        </a:t>
            </a:r>
            <a:r>
              <a:rPr sz="800" b="0">
                <a:solidFill>
                  <a:srgbClr val="2563EB"/>
                </a:solidFill>
                <a:latin typeface="Consolas"/>
                <a:ea typeface="Consolas"/>
                <a:cs typeface="Consolas"/>
              </a:rPr>
              <a:t>if</a:t>
            </a:r>
            <a:r>
              <a:rPr sz="800" b="0">
                <a:solidFill>
                  <a:srgbClr val="1B2740"/>
                </a:solidFill>
                <a:latin typeface="Consolas"/>
                <a:ea typeface="Consolas"/>
                <a:cs typeface="Consolas"/>
              </a:rPr>
              <a:t> ((st_Table-&gt;st_PrevPlot[nPrev].isUsed == </a:t>
            </a:r>
            <a:r>
              <a:rPr sz="800" b="0">
                <a:solidFill>
                  <a:srgbClr val="B45309"/>
                </a:solidFill>
                <a:latin typeface="Consolas"/>
                <a:ea typeface="Consolas"/>
                <a:cs typeface="Consolas"/>
              </a:rPr>
              <a:t>0</a:t>
            </a:r>
            <a:r>
              <a:rPr sz="800" b="0">
                <a:solidFill>
                  <a:srgbClr val="1B2740"/>
                </a:solidFill>
                <a:latin typeface="Consolas"/>
                <a:ea typeface="Consolas"/>
                <a:cs typeface="Consolas"/>
              </a:rPr>
              <a:t>) &amp;&amp; (st_Cur[nCur].isUsed == </a:t>
            </a:r>
            <a:r>
              <a:rPr sz="800" b="0">
                <a:solidFill>
                  <a:srgbClr val="B45309"/>
                </a:solidFill>
                <a:latin typeface="Consolas"/>
                <a:ea typeface="Consolas"/>
                <a:cs typeface="Consolas"/>
              </a:rPr>
              <a:t>0</a:t>
            </a:r>
            <a:r>
              <a:rPr sz="800" b="0">
                <a:solidFill>
                  <a:srgbClr val="1B2740"/>
                </a:solidFill>
                <a:latin typeface="Consolas"/>
                <a:ea typeface="Consolas"/>
                <a:cs typeface="Consolas"/>
              </a:rPr>
              <a:t>))</a:t>
            </a:r>
          </a:p>
          <a:p>
            <a:pPr>
              <a:lnSpc>
                <a:spcPts val="1000"/>
              </a:lnSpc>
            </a:pPr>
            <a:r>
              <a:rPr sz="800" b="0">
                <a:solidFill>
                  <a:srgbClr val="AEB9CC"/>
                </a:solidFill>
                <a:latin typeface="Consolas"/>
                <a:ea typeface="Consolas"/>
                <a:cs typeface="Consolas"/>
              </a:rPr>
              <a:t>380  </a:t>
            </a:r>
            <a:r>
              <a:rPr sz="800" b="0">
                <a:solidFill>
                  <a:srgbClr val="1B2740"/>
                </a:solidFill>
                <a:latin typeface="Consolas"/>
                <a:ea typeface="Consolas"/>
                <a:cs typeface="Consolas"/>
              </a:rPr>
              <a:t>        {</a:t>
            </a:r>
          </a:p>
          <a:p>
            <a:pPr>
              <a:lnSpc>
                <a:spcPts val="1000"/>
              </a:lnSpc>
            </a:pPr>
            <a:r>
              <a:rPr sz="800" b="0">
                <a:solidFill>
                  <a:srgbClr val="AEB9CC"/>
                </a:solidFill>
                <a:latin typeface="Consolas"/>
                <a:ea typeface="Consolas"/>
                <a:cs typeface="Consolas"/>
              </a:rPr>
              <a:t>381  </a:t>
            </a:r>
            <a:r>
              <a:rPr sz="800" b="0">
                <a:solidFill>
                  <a:srgbClr val="1B2740"/>
                </a:solidFill>
                <a:latin typeface="Consolas"/>
                <a:ea typeface="Consolas"/>
                <a:cs typeface="Consolas"/>
              </a:rPr>
              <a:t>          speed = f_Trk_PairSpeed(&amp;st_Table-&gt;st_PrevPlot[nPrev], &amp;st_Cur[nCur], dt);</a:t>
            </a:r>
          </a:p>
          <a:p>
            <a:pPr>
              <a:lnSpc>
                <a:spcPts val="1000"/>
              </a:lnSpc>
            </a:pPr>
            <a:r>
              <a:rPr sz="800" b="0">
                <a:solidFill>
                  <a:srgbClr val="AEB9CC"/>
                </a:solidFill>
                <a:latin typeface="Consolas"/>
                <a:ea typeface="Consolas"/>
                <a:cs typeface="Consolas"/>
              </a:rPr>
              <a:t>382  </a:t>
            </a:r>
          </a:p>
          <a:p>
            <a:pPr>
              <a:lnSpc>
                <a:spcPts val="1000"/>
              </a:lnSpc>
            </a:pPr>
            <a:r>
              <a:rPr sz="800" b="0">
                <a:solidFill>
                  <a:srgbClr val="AEB9CC"/>
                </a:solidFill>
                <a:latin typeface="Consolas"/>
                <a:ea typeface="Consolas"/>
                <a:cs typeface="Consolas"/>
              </a:rPr>
              <a:t>383  </a:t>
            </a:r>
            <a:r>
              <a:rPr sz="800" b="0">
                <a:solidFill>
                  <a:srgbClr val="1B2740"/>
                </a:solidFill>
                <a:latin typeface="Consolas"/>
                <a:ea typeface="Consolas"/>
                <a:cs typeface="Consolas"/>
              </a:rPr>
              <a:t>          </a:t>
            </a:r>
            <a:r>
              <a:rPr sz="800" b="0">
                <a:solidFill>
                  <a:srgbClr val="2563EB"/>
                </a:solidFill>
                <a:latin typeface="Consolas"/>
                <a:ea typeface="Consolas"/>
                <a:cs typeface="Consolas"/>
              </a:rPr>
              <a:t>if</a:t>
            </a:r>
            <a:r>
              <a:rPr sz="800" b="0">
                <a:solidFill>
                  <a:srgbClr val="1B2740"/>
                </a:solidFill>
                <a:latin typeface="Consolas"/>
                <a:ea typeface="Consolas"/>
                <a:cs typeface="Consolas"/>
              </a:rPr>
              <a:t> (speed &lt; bestSpeed)</a:t>
            </a:r>
          </a:p>
          <a:p>
            <a:pPr>
              <a:lnSpc>
                <a:spcPts val="1000"/>
              </a:lnSpc>
            </a:pPr>
            <a:r>
              <a:rPr sz="800" b="0">
                <a:solidFill>
                  <a:srgbClr val="AEB9CC"/>
                </a:solidFill>
                <a:latin typeface="Consolas"/>
                <a:ea typeface="Consolas"/>
                <a:cs typeface="Consolas"/>
              </a:rPr>
              <a:t>384  </a:t>
            </a:r>
            <a:r>
              <a:rPr sz="800" b="0">
                <a:solidFill>
                  <a:srgbClr val="1B2740"/>
                </a:solidFill>
                <a:latin typeface="Consolas"/>
                <a:ea typeface="Consolas"/>
                <a:cs typeface="Consolas"/>
              </a:rPr>
              <a:t>          {</a:t>
            </a:r>
          </a:p>
          <a:p>
            <a:pPr>
              <a:lnSpc>
                <a:spcPts val="1000"/>
              </a:lnSpc>
            </a:pPr>
            <a:r>
              <a:rPr sz="800" b="0">
                <a:solidFill>
                  <a:srgbClr val="AEB9CC"/>
                </a:solidFill>
                <a:latin typeface="Consolas"/>
                <a:ea typeface="Consolas"/>
                <a:cs typeface="Consolas"/>
              </a:rPr>
              <a:t>385  </a:t>
            </a:r>
            <a:r>
              <a:rPr sz="800" b="0">
                <a:solidFill>
                  <a:srgbClr val="1B2740"/>
                </a:solidFill>
                <a:latin typeface="Consolas"/>
                <a:ea typeface="Consolas"/>
                <a:cs typeface="Consolas"/>
              </a:rPr>
              <a:t>            bestSpeed  = speed;</a:t>
            </a:r>
          </a:p>
          <a:p>
            <a:pPr>
              <a:lnSpc>
                <a:spcPts val="1000"/>
              </a:lnSpc>
            </a:pPr>
            <a:r>
              <a:rPr sz="800" b="0">
                <a:solidFill>
                  <a:srgbClr val="AEB9CC"/>
                </a:solidFill>
                <a:latin typeface="Consolas"/>
                <a:ea typeface="Consolas"/>
                <a:cs typeface="Consolas"/>
              </a:rPr>
              <a:t>386  </a:t>
            </a:r>
            <a:r>
              <a:rPr sz="800" b="0">
                <a:solidFill>
                  <a:srgbClr val="1B2740"/>
                </a:solidFill>
                <a:latin typeface="Consolas"/>
                <a:ea typeface="Consolas"/>
                <a:cs typeface="Consolas"/>
              </a:rPr>
              <a:t>            bestPrev  = nPrev;</a:t>
            </a:r>
          </a:p>
          <a:p>
            <a:pPr>
              <a:lnSpc>
                <a:spcPts val="1000"/>
              </a:lnSpc>
            </a:pPr>
            <a:r>
              <a:rPr sz="800" b="0">
                <a:solidFill>
                  <a:srgbClr val="AEB9CC"/>
                </a:solidFill>
                <a:latin typeface="Consolas"/>
                <a:ea typeface="Consolas"/>
                <a:cs typeface="Consolas"/>
              </a:rPr>
              <a:t>387  </a:t>
            </a:r>
            <a:r>
              <a:rPr sz="800" b="0">
                <a:solidFill>
                  <a:srgbClr val="1B2740"/>
                </a:solidFill>
                <a:latin typeface="Consolas"/>
                <a:ea typeface="Consolas"/>
                <a:cs typeface="Consolas"/>
              </a:rPr>
              <a:t>            bestCur  = nCur;</a:t>
            </a:r>
          </a:p>
          <a:p>
            <a:pPr>
              <a:lnSpc>
                <a:spcPts val="1000"/>
              </a:lnSpc>
            </a:pPr>
            <a:r>
              <a:rPr sz="800" b="0">
                <a:solidFill>
                  <a:srgbClr val="AEB9CC"/>
                </a:solidFill>
                <a:latin typeface="Consolas"/>
                <a:ea typeface="Consolas"/>
                <a:cs typeface="Consolas"/>
              </a:rPr>
              <a:t>     </a:t>
            </a:r>
            <a:r>
              <a:rPr sz="800" b="0">
                <a:solidFill>
                  <a:srgbClr val="8794AC"/>
                </a:solidFill>
                <a:latin typeface="Consolas"/>
                <a:ea typeface="Consolas"/>
                <a:cs typeface="Consolas"/>
              </a:rPr>
              <a:t>...</a:t>
            </a:r>
          </a:p>
          <a:p>
            <a:pPr>
              <a:lnSpc>
                <a:spcPts val="1000"/>
              </a:lnSpc>
            </a:pPr>
            <a:r>
              <a:rPr sz="800" b="0">
                <a:solidFill>
                  <a:srgbClr val="AEB9CC"/>
                </a:solidFill>
                <a:latin typeface="Consolas"/>
                <a:ea typeface="Consolas"/>
                <a:cs typeface="Consolas"/>
              </a:rPr>
              <a:t>399  </a:t>
            </a:r>
            <a:r>
              <a:rPr sz="800" b="0">
                <a:solidFill>
                  <a:srgbClr val="1B2740"/>
                </a:solidFill>
                <a:latin typeface="Consolas"/>
                <a:ea typeface="Consolas"/>
                <a:cs typeface="Consolas"/>
              </a:rPr>
              <a:t>      st_Table-&gt;st_PrevPlot[bestPrev].isUsed  = </a:t>
            </a:r>
            <a:r>
              <a:rPr sz="800" b="0">
                <a:solidFill>
                  <a:srgbClr val="B45309"/>
                </a:solidFill>
                <a:latin typeface="Consolas"/>
                <a:ea typeface="Consolas"/>
                <a:cs typeface="Consolas"/>
              </a:rPr>
              <a:t>1</a:t>
            </a:r>
            <a:r>
              <a:rPr sz="800" b="0">
                <a:solidFill>
                  <a:srgbClr val="1B2740"/>
                </a:solidFill>
                <a:latin typeface="Consolas"/>
                <a:ea typeface="Consolas"/>
                <a:cs typeface="Consolas"/>
              </a:rPr>
              <a:t>;</a:t>
            </a:r>
          </a:p>
          <a:p>
            <a:pPr>
              <a:lnSpc>
                <a:spcPts val="1000"/>
              </a:lnSpc>
            </a:pPr>
            <a:r>
              <a:rPr sz="800" b="0">
                <a:solidFill>
                  <a:srgbClr val="AEB9CC"/>
                </a:solidFill>
                <a:latin typeface="Consolas"/>
                <a:ea typeface="Consolas"/>
                <a:cs typeface="Consolas"/>
              </a:rPr>
              <a:t>400  </a:t>
            </a:r>
            <a:r>
              <a:rPr sz="800" b="0">
                <a:solidFill>
                  <a:srgbClr val="1B2740"/>
                </a:solidFill>
                <a:latin typeface="Consolas"/>
                <a:ea typeface="Consolas"/>
                <a:cs typeface="Consolas"/>
              </a:rPr>
              <a:t>      st_Cur[bestCur].isUsed  = </a:t>
            </a:r>
            <a:r>
              <a:rPr sz="800" b="0">
                <a:solidFill>
                  <a:srgbClr val="B45309"/>
                </a:solidFill>
                <a:latin typeface="Consolas"/>
                <a:ea typeface="Consolas"/>
                <a:cs typeface="Consolas"/>
              </a:rPr>
              <a:t>1</a:t>
            </a:r>
            <a:r>
              <a:rPr sz="800" b="0">
                <a:solidFill>
                  <a:srgbClr val="1B2740"/>
                </a:solidFill>
                <a:latin typeface="Consolas"/>
                <a:ea typeface="Consolas"/>
                <a:cs typeface="Consolas"/>
              </a:rPr>
              <a:t>;</a:t>
            </a:r>
          </a:p>
          <a:p>
            <a:pPr>
              <a:lnSpc>
                <a:spcPts val="1000"/>
              </a:lnSpc>
            </a:pPr>
            <a:r>
              <a:rPr sz="800" b="0">
                <a:solidFill>
                  <a:srgbClr val="AEB9CC"/>
                </a:solidFill>
                <a:latin typeface="Consolas"/>
                <a:ea typeface="Consolas"/>
                <a:cs typeface="Consolas"/>
              </a:rPr>
              <a:t>     </a:t>
            </a:r>
            <a:r>
              <a:rPr sz="800" b="0">
                <a:solidFill>
                  <a:srgbClr val="8794AC"/>
                </a:solidFill>
                <a:latin typeface="Consolas"/>
                <a:ea typeface="Consolas"/>
                <a:cs typeface="Consolas"/>
              </a:rPr>
              <a:t>...</a:t>
            </a:r>
          </a:p>
          <a:p>
            <a:pPr>
              <a:lnSpc>
                <a:spcPts val="1000"/>
              </a:lnSpc>
            </a:pPr>
            <a:r>
              <a:rPr sz="800" b="0">
                <a:solidFill>
                  <a:srgbClr val="AEB9CC"/>
                </a:solidFill>
                <a:latin typeface="Consolas"/>
                <a:ea typeface="Consolas"/>
                <a:cs typeface="Consolas"/>
              </a:rPr>
              <a:t>402  </a:t>
            </a:r>
            <a:r>
              <a:rPr sz="800" b="0">
                <a:solidFill>
                  <a:srgbClr val="1B2740"/>
                </a:solidFill>
                <a:latin typeface="Consolas"/>
                <a:ea typeface="Consolas"/>
                <a:cs typeface="Consolas"/>
              </a:rPr>
              <a:t>      newId = (st_Table-&gt;nTrackNum &lt; </a:t>
            </a:r>
            <a:r>
              <a:rPr sz="800" b="0">
                <a:solidFill>
                  <a:srgbClr val="7C3AED"/>
                </a:solidFill>
                <a:latin typeface="Consolas"/>
                <a:ea typeface="Consolas"/>
                <a:cs typeface="Consolas"/>
              </a:rPr>
              <a:t>TRK_MAX_TRACK</a:t>
            </a:r>
            <a:r>
              <a:rPr sz="800" b="0">
                <a:solidFill>
                  <a:srgbClr val="1B2740"/>
                </a:solidFill>
                <a:latin typeface="Consolas"/>
                <a:ea typeface="Consolas"/>
                <a:cs typeface="Consolas"/>
              </a:rPr>
              <a:t>) ? f_Trk_NewId(st_Table) : </a:t>
            </a:r>
            <a:r>
              <a:rPr sz="800" b="0">
                <a:solidFill>
                  <a:srgbClr val="B45309"/>
                </a:solidFill>
                <a:latin typeface="Consolas"/>
                <a:ea typeface="Consolas"/>
                <a:cs typeface="Consolas"/>
              </a:rPr>
              <a:t>0</a:t>
            </a:r>
            <a:r>
              <a:rPr sz="800" b="0">
                <a:solidFill>
                  <a:srgbClr val="1B2740"/>
                </a:solidFill>
                <a:latin typeface="Consolas"/>
                <a:ea typeface="Consolas"/>
                <a:cs typeface="Consolas"/>
              </a:rPr>
              <a:t>;</a:t>
            </a:r>
          </a:p>
          <a:p>
            <a:pPr>
              <a:lnSpc>
                <a:spcPts val="1000"/>
              </a:lnSpc>
            </a:pPr>
            <a:r>
              <a:rPr sz="800" b="0">
                <a:solidFill>
                  <a:srgbClr val="AEB9CC"/>
                </a:solidFill>
                <a:latin typeface="Consolas"/>
                <a:ea typeface="Consolas"/>
                <a:cs typeface="Consolas"/>
              </a:rPr>
              <a:t>     </a:t>
            </a:r>
            <a:r>
              <a:rPr sz="800" b="0">
                <a:solidFill>
                  <a:srgbClr val="8794AC"/>
                </a:solidFill>
                <a:latin typeface="Consolas"/>
                <a:ea typeface="Consolas"/>
                <a:cs typeface="Consolas"/>
              </a:rPr>
              <a:t>...</a:t>
            </a:r>
          </a:p>
          <a:p>
            <a:pPr>
              <a:lnSpc>
                <a:spcPts val="1000"/>
              </a:lnSpc>
            </a:pPr>
            <a:r>
              <a:rPr sz="800" b="0">
                <a:solidFill>
                  <a:srgbClr val="AEB9CC"/>
                </a:solidFill>
                <a:latin typeface="Consolas"/>
                <a:ea typeface="Consolas"/>
                <a:cs typeface="Consolas"/>
              </a:rPr>
              <a:t>412  </a:t>
            </a:r>
            <a:r>
              <a:rPr sz="800" b="0">
                <a:solidFill>
                  <a:srgbClr val="1B2740"/>
                </a:solidFill>
                <a:latin typeface="Consolas"/>
                <a:ea typeface="Consolas"/>
                <a:cs typeface="Consolas"/>
              </a:rPr>
              <a:t>        f_Trk_TwoPointInit(st_Track, &amp;st_Table-&gt;st_PrevPlot[bestPrev], &amp;st_Cur[bestCur]);</a:t>
            </a:r>
          </a:p>
          <a:p>
            <a:pPr>
              <a:lnSpc>
                <a:spcPts val="1000"/>
              </a:lnSpc>
            </a:pPr>
            <a:r>
              <a:rPr sz="800" b="0">
                <a:solidFill>
                  <a:srgbClr val="AEB9CC"/>
                </a:solidFill>
                <a:latin typeface="Consolas"/>
                <a:ea typeface="Consolas"/>
                <a:cs typeface="Consolas"/>
              </a:rPr>
              <a:t>413  </a:t>
            </a:r>
            <a:r>
              <a:rPr sz="800" b="0">
                <a:solidFill>
                  <a:srgbClr val="1B2740"/>
                </a:solidFill>
                <a:latin typeface="Consolas"/>
                <a:ea typeface="Consolas"/>
                <a:cs typeface="Consolas"/>
              </a:rPr>
              <a:t>        st_Track-&gt;TrackId  = newId;</a:t>
            </a:r>
          </a:p>
          <a:p>
            <a:pPr>
              <a:lnSpc>
                <a:spcPts val="1000"/>
              </a:lnSpc>
            </a:pPr>
            <a:r>
              <a:rPr sz="800" b="0">
                <a:solidFill>
                  <a:srgbClr val="AEB9CC"/>
                </a:solidFill>
                <a:latin typeface="Consolas"/>
                <a:ea typeface="Consolas"/>
                <a:cs typeface="Consolas"/>
              </a:rPr>
              <a:t>414  </a:t>
            </a:r>
            <a:r>
              <a:rPr sz="800" b="0">
                <a:solidFill>
                  <a:srgbClr val="1B2740"/>
                </a:solidFill>
                <a:latin typeface="Consolas"/>
                <a:ea typeface="Consolas"/>
                <a:cs typeface="Consolas"/>
              </a:rPr>
              <a:t>        st_Track-&gt;TrackState  = </a:t>
            </a:r>
            <a:r>
              <a:rPr sz="800" b="0">
                <a:solidFill>
                  <a:srgbClr val="7C3AED"/>
                </a:solidFill>
                <a:latin typeface="Consolas"/>
                <a:ea typeface="Consolas"/>
                <a:cs typeface="Consolas"/>
              </a:rPr>
              <a:t>TRK_STATE_TENTATIVE</a:t>
            </a:r>
            <a:r>
              <a:rPr sz="800" b="0">
                <a:solidFill>
                  <a:srgbClr val="1B2740"/>
                </a:solidFill>
                <a:latin typeface="Consolas"/>
                <a:ea typeface="Consolas"/>
                <a:cs typeface="Consolas"/>
              </a:rPr>
              <a:t>;</a:t>
            </a:r>
          </a:p>
          <a:p>
            <a:pPr>
              <a:lnSpc>
                <a:spcPts val="1000"/>
              </a:lnSpc>
            </a:pPr>
            <a:r>
              <a:rPr sz="800" b="0">
                <a:solidFill>
                  <a:srgbClr val="AEB9CC"/>
                </a:solidFill>
                <a:latin typeface="Consolas"/>
                <a:ea typeface="Consolas"/>
                <a:cs typeface="Consolas"/>
              </a:rPr>
              <a:t>415  </a:t>
            </a:r>
            <a:r>
              <a:rPr sz="800" b="0">
                <a:solidFill>
                  <a:srgbClr val="1B2740"/>
                </a:solidFill>
                <a:latin typeface="Consolas"/>
                <a:ea typeface="Consolas"/>
                <a:cs typeface="Consolas"/>
              </a:rPr>
              <a:t>        st_Track-&gt;TrackScore  = </a:t>
            </a:r>
            <a:r>
              <a:rPr sz="800" b="0">
                <a:solidFill>
                  <a:srgbClr val="7C3AED"/>
                </a:solidFill>
                <a:latin typeface="Consolas"/>
                <a:ea typeface="Consolas"/>
                <a:cs typeface="Consolas"/>
              </a:rPr>
              <a:t>TRK_SCORE_INIT</a:t>
            </a:r>
            <a:r>
              <a:rPr sz="800" b="0">
                <a:solidFill>
                  <a:srgbClr val="1B2740"/>
                </a:solidFill>
                <a:latin typeface="Consolas"/>
                <a:ea typeface="Consolas"/>
                <a:cs typeface="Consolas"/>
              </a:rPr>
              <a:t>;</a:t>
            </a:r>
          </a:p>
          <a:p>
            <a:pPr>
              <a:lnSpc>
                <a:spcPts val="1000"/>
              </a:lnSpc>
            </a:pPr>
            <a:r>
              <a:rPr sz="800" b="0">
                <a:solidFill>
                  <a:srgbClr val="AEB9CC"/>
                </a:solidFill>
                <a:latin typeface="Consolas"/>
                <a:ea typeface="Consolas"/>
                <a:cs typeface="Consolas"/>
              </a:rPr>
              <a:t>     </a:t>
            </a:r>
            <a:r>
              <a:rPr sz="800" b="0">
                <a:solidFill>
                  <a:srgbClr val="8794AC"/>
                </a:solidFill>
                <a:latin typeface="Consolas"/>
                <a:ea typeface="Consolas"/>
                <a:cs typeface="Consolas"/>
              </a:rPr>
              <a:t>...</a:t>
            </a:r>
          </a:p>
          <a:p>
            <a:pPr>
              <a:lnSpc>
                <a:spcPts val="1000"/>
              </a:lnSpc>
            </a:pPr>
            <a:r>
              <a:rPr sz="800" b="0">
                <a:solidFill>
                  <a:srgbClr val="AEB9CC"/>
                </a:solidFill>
                <a:latin typeface="Consolas"/>
                <a:ea typeface="Consolas"/>
                <a:cs typeface="Consolas"/>
              </a:rPr>
              <a:t>420  </a:t>
            </a:r>
            <a:r>
              <a:rPr sz="800" b="0">
                <a:solidFill>
                  <a:srgbClr val="1B2740"/>
                </a:solidFill>
                <a:latin typeface="Consolas"/>
                <a:ea typeface="Consolas"/>
                <a:cs typeface="Consolas"/>
              </a:rPr>
              <a:t>        st_Track-&gt;PlotId[</a:t>
            </a:r>
            <a:r>
              <a:rPr sz="800" b="0">
                <a:solidFill>
                  <a:srgbClr val="B45309"/>
                </a:solidFill>
                <a:latin typeface="Consolas"/>
                <a:ea typeface="Consolas"/>
                <a:cs typeface="Consolas"/>
              </a:rPr>
              <a:t>0</a:t>
            </a:r>
            <a:r>
              <a:rPr sz="800" b="0">
                <a:solidFill>
                  <a:srgbClr val="1B2740"/>
                </a:solidFill>
                <a:latin typeface="Consolas"/>
                <a:ea typeface="Consolas"/>
                <a:cs typeface="Consolas"/>
              </a:rPr>
              <a:t>]  = st_Table-&gt;st_PrevPlot[bestPrev].PlotId;</a:t>
            </a:r>
          </a:p>
          <a:p>
            <a:pPr>
              <a:lnSpc>
                <a:spcPts val="1000"/>
              </a:lnSpc>
            </a:pPr>
            <a:r>
              <a:rPr sz="800" b="0">
                <a:solidFill>
                  <a:srgbClr val="AEB9CC"/>
                </a:solidFill>
                <a:latin typeface="Consolas"/>
                <a:ea typeface="Consolas"/>
                <a:cs typeface="Consolas"/>
              </a:rPr>
              <a:t>421  </a:t>
            </a:r>
            <a:r>
              <a:rPr sz="800" b="0">
                <a:solidFill>
                  <a:srgbClr val="1B2740"/>
                </a:solidFill>
                <a:latin typeface="Consolas"/>
                <a:ea typeface="Consolas"/>
                <a:cs typeface="Consolas"/>
              </a:rPr>
              <a:t>        st_Track-&gt;PlotId[</a:t>
            </a:r>
            <a:r>
              <a:rPr sz="800" b="0">
                <a:solidFill>
                  <a:srgbClr val="B45309"/>
                </a:solidFill>
                <a:latin typeface="Consolas"/>
                <a:ea typeface="Consolas"/>
                <a:cs typeface="Consolas"/>
              </a:rPr>
              <a:t>1</a:t>
            </a:r>
            <a:r>
              <a:rPr sz="800" b="0">
                <a:solidFill>
                  <a:srgbClr val="1B2740"/>
                </a:solidFill>
                <a:latin typeface="Consolas"/>
                <a:ea typeface="Consolas"/>
                <a:cs typeface="Consolas"/>
              </a:rPr>
              <a:t>]  = st_Cur[bestCur].PlotId;</a:t>
            </a:r>
          </a:p>
        </p:txBody>
      </p:sp>
      <p:sp>
        <p:nvSpPr>
          <p:cNvPr id="28" name="Oval 27"/>
          <p:cNvSpPr/>
          <p:nvPr/>
        </p:nvSpPr>
        <p:spPr>
          <a:xfrm>
            <a:off x="8092440" y="228600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29" name="TextBox 28"/>
          <p:cNvSpPr txBox="1"/>
          <p:nvPr/>
        </p:nvSpPr>
        <p:spPr>
          <a:xfrm>
            <a:off x="8476488" y="2267712"/>
            <a:ext cx="3072384" cy="658368"/>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트랙 관리 먼저</a:t>
            </a:r>
          </a:p>
          <a:p>
            <a:pPr algn="l">
              <a:lnSpc>
                <a:spcPct val="105000"/>
              </a:lnSpc>
            </a:pPr>
            <a:r>
              <a:rPr sz="1050" b="0">
                <a:solidFill>
                  <a:srgbClr val="4A5A7A"/>
                </a:solidFill>
                <a:latin typeface="맑은 고딕"/>
                <a:ea typeface="맑은 고딕"/>
                <a:cs typeface="맑은 고딕"/>
              </a:rPr>
              <a:t>연관이 없어 모든 트랙 Assigned_Flag = 0</a:t>
            </a:r>
          </a:p>
          <a:p>
            <a:pPr algn="l">
              <a:lnSpc>
                <a:spcPct val="105000"/>
              </a:lnSpc>
            </a:pPr>
            <a:r>
              <a:rPr sz="1050" b="0">
                <a:solidFill>
                  <a:srgbClr val="4A5A7A"/>
                </a:solidFill>
                <a:latin typeface="맑은 고딕"/>
                <a:ea typeface="맑은 고딕"/>
                <a:cs typeface="맑은 고딕"/>
              </a:rPr>
              <a:t>f_Trk_UpdateState 로 판정 (3.8)</a:t>
            </a:r>
          </a:p>
        </p:txBody>
      </p:sp>
      <p:sp>
        <p:nvSpPr>
          <p:cNvPr id="30" name="Oval 29"/>
          <p:cNvSpPr/>
          <p:nvPr/>
        </p:nvSpPr>
        <p:spPr>
          <a:xfrm>
            <a:off x="8092440" y="315468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31" name="TextBox 30"/>
          <p:cNvSpPr txBox="1"/>
          <p:nvPr/>
        </p:nvSpPr>
        <p:spPr>
          <a:xfrm>
            <a:off x="8476488" y="3136392"/>
            <a:ext cx="3072384" cy="658368"/>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속도 게이트</a:t>
            </a:r>
          </a:p>
          <a:p>
            <a:pPr algn="l">
              <a:lnSpc>
                <a:spcPct val="105000"/>
              </a:lnSpc>
            </a:pPr>
            <a:r>
              <a:rPr sz="1050" b="0">
                <a:solidFill>
                  <a:srgbClr val="4A5A7A"/>
                </a:solidFill>
                <a:latin typeface="맑은 고딕"/>
                <a:ea typeface="맑은 고딕"/>
                <a:cs typeface="맑은 고딕"/>
              </a:rPr>
              <a:t>bestSpeed 를 V_max 로 시작</a:t>
            </a:r>
          </a:p>
          <a:p>
            <a:pPr algn="l">
              <a:lnSpc>
                <a:spcPct val="105000"/>
              </a:lnSpc>
            </a:pPr>
            <a:r>
              <a:rPr sz="1050" b="0">
                <a:solidFill>
                  <a:srgbClr val="4A5A7A"/>
                </a:solidFill>
                <a:latin typeface="맑은 고딕"/>
                <a:ea typeface="맑은 고딕"/>
                <a:cs typeface="맑은 고딕"/>
              </a:rPr>
              <a:t>-&gt; 800 m/s 이상인 쌍은 고르지 않음</a:t>
            </a:r>
          </a:p>
        </p:txBody>
      </p:sp>
      <p:sp>
        <p:nvSpPr>
          <p:cNvPr id="32" name="Oval 31"/>
          <p:cNvSpPr/>
          <p:nvPr/>
        </p:nvSpPr>
        <p:spPr>
          <a:xfrm>
            <a:off x="8092440" y="402336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33" name="TextBox 32"/>
          <p:cNvSpPr txBox="1"/>
          <p:nvPr/>
        </p:nvSpPr>
        <p:spPr>
          <a:xfrm>
            <a:off x="8476488" y="4005072"/>
            <a:ext cx="3072384" cy="438912"/>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쓴 플롯 표시</a:t>
            </a:r>
          </a:p>
          <a:p>
            <a:pPr algn="l">
              <a:lnSpc>
                <a:spcPct val="105000"/>
              </a:lnSpc>
            </a:pPr>
            <a:r>
              <a:rPr sz="1050" b="0">
                <a:solidFill>
                  <a:srgbClr val="4A5A7A"/>
                </a:solidFill>
                <a:latin typeface="맑은 고딕"/>
                <a:ea typeface="맑은 고딕"/>
                <a:cs typeface="맑은 고딕"/>
              </a:rPr>
              <a:t>한 플롯은 한 쌍에만</a:t>
            </a:r>
          </a:p>
        </p:txBody>
      </p:sp>
      <p:sp>
        <p:nvSpPr>
          <p:cNvPr id="34" name="Oval 33"/>
          <p:cNvSpPr/>
          <p:nvPr/>
        </p:nvSpPr>
        <p:spPr>
          <a:xfrm>
            <a:off x="8092440" y="4617720"/>
            <a:ext cx="256032" cy="256032"/>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35" name="TextBox 34"/>
          <p:cNvSpPr txBox="1"/>
          <p:nvPr/>
        </p:nvSpPr>
        <p:spPr>
          <a:xfrm>
            <a:off x="8476488" y="4599432"/>
            <a:ext cx="3072384" cy="658368"/>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트랙 ID</a:t>
            </a:r>
          </a:p>
          <a:p>
            <a:pPr algn="l">
              <a:lnSpc>
                <a:spcPct val="105000"/>
              </a:lnSpc>
            </a:pPr>
            <a:r>
              <a:rPr sz="1050" b="0">
                <a:solidFill>
                  <a:srgbClr val="4A5A7A"/>
                </a:solidFill>
                <a:latin typeface="맑은 고딕"/>
                <a:ea typeface="맑은 고딕"/>
                <a:cs typeface="맑은 고딕"/>
              </a:rPr>
              <a:t>100 부터 차례로, 10000 다음은 100</a:t>
            </a:r>
          </a:p>
          <a:p>
            <a:pPr algn="l">
              <a:lnSpc>
                <a:spcPct val="105000"/>
              </a:lnSpc>
            </a:pPr>
            <a:r>
              <a:rPr sz="1050" b="0">
                <a:solidFill>
                  <a:srgbClr val="4A5A7A"/>
                </a:solidFill>
                <a:latin typeface="맑은 고딕"/>
                <a:ea typeface="맑은 고딕"/>
                <a:cs typeface="맑은 고딕"/>
              </a:rPr>
              <a:t>쓰는 중인 ID 는 건너뜀</a:t>
            </a:r>
          </a:p>
        </p:txBody>
      </p:sp>
      <p:sp>
        <p:nvSpPr>
          <p:cNvPr id="36" name="Oval 35"/>
          <p:cNvSpPr/>
          <p:nvPr/>
        </p:nvSpPr>
        <p:spPr>
          <a:xfrm>
            <a:off x="8092440" y="5440680"/>
            <a:ext cx="256032" cy="256032"/>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37" name="TextBox 36"/>
          <p:cNvSpPr txBox="1"/>
          <p:nvPr/>
        </p:nvSpPr>
        <p:spPr>
          <a:xfrm>
            <a:off x="8476488" y="5422392"/>
            <a:ext cx="3072384" cy="438912"/>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초기화 (3.7)</a:t>
            </a:r>
          </a:p>
          <a:p>
            <a:pPr algn="l">
              <a:lnSpc>
                <a:spcPct val="105000"/>
              </a:lnSpc>
            </a:pPr>
            <a:r>
              <a:rPr sz="1050" b="0">
                <a:solidFill>
                  <a:srgbClr val="4A5A7A"/>
                </a:solidFill>
                <a:latin typeface="맑은 고딕"/>
                <a:ea typeface="맑은 고딕"/>
                <a:cs typeface="맑은 고딕"/>
              </a:rPr>
              <a:t>임시 (1), TrackScore 2, 개시 플롯 ID 2 개</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3.7 2 Point 초기화 (f_Trk_TwoPointInit)</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9 x 1 상태변수와 9 x 9 오차 공분산을 0 으로 만든 뒤, 축마다 위치 · 속도 칸만 채웁니다. 가속도 칸은 0 으로 남습니다.</a:t>
            </a:r>
            <a:endParaRPr lang="en-US" sz="1250" dirty="0"/>
          </a:p>
        </p:txBody>
      </p:sp>
      <p:sp>
        <p:nvSpPr>
          <p:cNvPr id="5" name="TextBox 4"/>
          <p:cNvSpPr txBox="1"/>
          <p:nvPr/>
        </p:nvSpPr>
        <p:spPr>
          <a:xfrm>
            <a:off x="6675120" y="1216152"/>
            <a:ext cx="4873752" cy="438912"/>
          </a:xfrm>
          <a:prstGeom prst="rect">
            <a:avLst/>
          </a:prstGeom>
          <a:noFill/>
        </p:spPr>
        <p:txBody>
          <a:bodyPr wrap="square" lIns="0" tIns="0" rIns="0" bIns="0" anchor="ctr">
            <a:spAutoFit/>
          </a:bodyPr>
          <a:lstStyle/>
          <a:p>
            <a:pPr algn="r"/>
            <a:r>
              <a:rPr sz="1000" b="0">
                <a:solidFill>
                  <a:srgbClr val="8794AC"/>
                </a:solidFill>
                <a:latin typeface="Consolas"/>
                <a:ea typeface="Consolas"/>
                <a:cs typeface="Consolas"/>
              </a:rPr>
              <a:t>TargetSimCore/src/TrackMgr.c</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Rectangle 6"/>
          <p:cNvSpPr/>
          <p:nvPr/>
        </p:nvSpPr>
        <p:spPr>
          <a:xfrm>
            <a:off x="640080" y="2240280"/>
            <a:ext cx="7178040" cy="3466592"/>
          </a:xfrm>
          <a:prstGeom prst="rect">
            <a:avLst/>
          </a:prstGeom>
          <a:solidFill>
            <a:srgbClr val="FFFFFF"/>
          </a:solidFill>
          <a:ln w="9525">
            <a:solidFill>
              <a:srgbClr val="D2D9E5"/>
            </a:solidFill>
          </a:ln>
        </p:spPr>
        <p:txBody>
          <a:bodyPr rtlCol="0" anchor="ctr"/>
          <a:lstStyle/>
          <a:p>
            <a:pPr algn="ctr"/>
          </a:p>
        </p:txBody>
      </p:sp>
      <p:sp>
        <p:nvSpPr>
          <p:cNvPr id="8" name="Rectangle 7"/>
          <p:cNvSpPr/>
          <p:nvPr/>
        </p:nvSpPr>
        <p:spPr>
          <a:xfrm>
            <a:off x="667512" y="3327603"/>
            <a:ext cx="7123176" cy="254000"/>
          </a:xfrm>
          <a:prstGeom prst="rect">
            <a:avLst/>
          </a:prstGeom>
          <a:solidFill>
            <a:srgbClr val="FDEEEE"/>
          </a:solidFill>
          <a:ln>
            <a:noFill/>
          </a:ln>
        </p:spPr>
        <p:txBody>
          <a:bodyPr rtlCol="0" anchor="ctr"/>
          <a:lstStyle/>
          <a:p>
            <a:pPr algn="ctr"/>
          </a:p>
        </p:txBody>
      </p:sp>
      <p:sp>
        <p:nvSpPr>
          <p:cNvPr id="9" name="Rectangle 8"/>
          <p:cNvSpPr/>
          <p:nvPr/>
        </p:nvSpPr>
        <p:spPr>
          <a:xfrm>
            <a:off x="667512" y="3327603"/>
            <a:ext cx="36576" cy="254000"/>
          </a:xfrm>
          <a:prstGeom prst="rect">
            <a:avLst/>
          </a:prstGeom>
          <a:solidFill>
            <a:srgbClr val="DC2626"/>
          </a:solidFill>
          <a:ln>
            <a:noFill/>
          </a:ln>
        </p:spPr>
        <p:txBody>
          <a:bodyPr rtlCol="0" anchor="ctr"/>
          <a:lstStyle/>
          <a:p>
            <a:pPr algn="ctr"/>
          </a:p>
        </p:txBody>
      </p:sp>
      <p:sp>
        <p:nvSpPr>
          <p:cNvPr id="10" name="Oval 9"/>
          <p:cNvSpPr/>
          <p:nvPr/>
        </p:nvSpPr>
        <p:spPr>
          <a:xfrm>
            <a:off x="7717536" y="3290519"/>
            <a:ext cx="201168" cy="201168"/>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11" name="Rectangle 10"/>
          <p:cNvSpPr/>
          <p:nvPr/>
        </p:nvSpPr>
        <p:spPr>
          <a:xfrm>
            <a:off x="667512" y="3962603"/>
            <a:ext cx="7123176" cy="381000"/>
          </a:xfrm>
          <a:prstGeom prst="rect">
            <a:avLst/>
          </a:prstGeom>
          <a:solidFill>
            <a:srgbClr val="FEF3E2"/>
          </a:solidFill>
          <a:ln>
            <a:noFill/>
          </a:ln>
        </p:spPr>
        <p:txBody>
          <a:bodyPr rtlCol="0" anchor="ctr"/>
          <a:lstStyle/>
          <a:p>
            <a:pPr algn="ctr"/>
          </a:p>
        </p:txBody>
      </p:sp>
      <p:sp>
        <p:nvSpPr>
          <p:cNvPr id="12" name="Rectangle 11"/>
          <p:cNvSpPr/>
          <p:nvPr/>
        </p:nvSpPr>
        <p:spPr>
          <a:xfrm>
            <a:off x="667512" y="3962603"/>
            <a:ext cx="36576" cy="381000"/>
          </a:xfrm>
          <a:prstGeom prst="rect">
            <a:avLst/>
          </a:prstGeom>
          <a:solidFill>
            <a:srgbClr val="D97706"/>
          </a:solidFill>
          <a:ln>
            <a:noFill/>
          </a:ln>
        </p:spPr>
        <p:txBody>
          <a:bodyPr rtlCol="0" anchor="ctr"/>
          <a:lstStyle/>
          <a:p>
            <a:pPr algn="ctr"/>
          </a:p>
        </p:txBody>
      </p:sp>
      <p:sp>
        <p:nvSpPr>
          <p:cNvPr id="13" name="Oval 12"/>
          <p:cNvSpPr/>
          <p:nvPr/>
        </p:nvSpPr>
        <p:spPr>
          <a:xfrm>
            <a:off x="7717536" y="3925519"/>
            <a:ext cx="201168" cy="201168"/>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4" name="Rectangle 13"/>
          <p:cNvSpPr/>
          <p:nvPr/>
        </p:nvSpPr>
        <p:spPr>
          <a:xfrm>
            <a:off x="667512" y="4724603"/>
            <a:ext cx="7123176" cy="508000"/>
          </a:xfrm>
          <a:prstGeom prst="rect">
            <a:avLst/>
          </a:prstGeom>
          <a:solidFill>
            <a:srgbClr val="E6F5EE"/>
          </a:solidFill>
          <a:ln>
            <a:noFill/>
          </a:ln>
        </p:spPr>
        <p:txBody>
          <a:bodyPr rtlCol="0" anchor="ctr"/>
          <a:lstStyle/>
          <a:p>
            <a:pPr algn="ctr"/>
          </a:p>
        </p:txBody>
      </p:sp>
      <p:sp>
        <p:nvSpPr>
          <p:cNvPr id="15" name="Rectangle 14"/>
          <p:cNvSpPr/>
          <p:nvPr/>
        </p:nvSpPr>
        <p:spPr>
          <a:xfrm>
            <a:off x="667512" y="4724603"/>
            <a:ext cx="36576" cy="508000"/>
          </a:xfrm>
          <a:prstGeom prst="rect">
            <a:avLst/>
          </a:prstGeom>
          <a:solidFill>
            <a:srgbClr val="059669"/>
          </a:solidFill>
          <a:ln>
            <a:noFill/>
          </a:ln>
        </p:spPr>
        <p:txBody>
          <a:bodyPr rtlCol="0" anchor="ctr"/>
          <a:lstStyle/>
          <a:p>
            <a:pPr algn="ctr"/>
          </a:p>
        </p:txBody>
      </p:sp>
      <p:sp>
        <p:nvSpPr>
          <p:cNvPr id="16" name="Oval 15"/>
          <p:cNvSpPr/>
          <p:nvPr/>
        </p:nvSpPr>
        <p:spPr>
          <a:xfrm>
            <a:off x="7717536" y="4687519"/>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7" name="TextBox 16"/>
          <p:cNvSpPr txBox="1"/>
          <p:nvPr/>
        </p:nvSpPr>
        <p:spPr>
          <a:xfrm>
            <a:off x="731519" y="2322576"/>
            <a:ext cx="6949440" cy="3302000"/>
          </a:xfrm>
          <a:prstGeom prst="rect">
            <a:avLst/>
          </a:prstGeom>
          <a:noFill/>
        </p:spPr>
        <p:txBody>
          <a:bodyPr wrap="none" lIns="0" tIns="0" rIns="0" bIns="0" anchor="t">
            <a:spAutoFit/>
          </a:bodyPr>
          <a:lstStyle/>
          <a:p>
            <a:pPr>
              <a:lnSpc>
                <a:spcPts val="1000"/>
              </a:lnSpc>
            </a:pPr>
            <a:r>
              <a:rPr sz="760" b="0">
                <a:solidFill>
                  <a:srgbClr val="AEB9CC"/>
                </a:solidFill>
                <a:latin typeface="Consolas"/>
                <a:ea typeface="Consolas"/>
                <a:cs typeface="Consolas"/>
              </a:rPr>
              <a:t>164  </a:t>
            </a:r>
            <a:r>
              <a:rPr sz="760" b="0">
                <a:solidFill>
                  <a:srgbClr val="2563EB"/>
                </a:solidFill>
                <a:latin typeface="Consolas"/>
                <a:ea typeface="Consolas"/>
                <a:cs typeface="Consolas"/>
              </a:rPr>
              <a:t>VOID</a:t>
            </a:r>
            <a:r>
              <a:rPr sz="760" b="0">
                <a:solidFill>
                  <a:srgbClr val="1B2740"/>
                </a:solidFill>
                <a:latin typeface="Consolas"/>
                <a:ea typeface="Consolas"/>
                <a:cs typeface="Consolas"/>
              </a:rPr>
              <a:t> f_Trk_TwoPointInit(</a:t>
            </a:r>
            <a:r>
              <a:rPr sz="760" b="0">
                <a:solidFill>
                  <a:srgbClr val="2563EB"/>
                </a:solidFill>
                <a:latin typeface="Consolas"/>
                <a:ea typeface="Consolas"/>
                <a:cs typeface="Consolas"/>
              </a:rPr>
              <a:t>ST_Track</a:t>
            </a:r>
            <a:r>
              <a:rPr sz="760" b="0">
                <a:solidFill>
                  <a:srgbClr val="1B2740"/>
                </a:solidFill>
                <a:latin typeface="Consolas"/>
                <a:ea typeface="Consolas"/>
                <a:cs typeface="Consolas"/>
              </a:rPr>
              <a:t> *st_Track, </a:t>
            </a:r>
            <a:r>
              <a:rPr sz="760" b="0">
                <a:solidFill>
                  <a:srgbClr val="2563EB"/>
                </a:solidFill>
                <a:latin typeface="Consolas"/>
                <a:ea typeface="Consolas"/>
                <a:cs typeface="Consolas"/>
              </a:rPr>
              <a:t>const</a:t>
            </a:r>
            <a:r>
              <a:rPr sz="760" b="0">
                <a:solidFill>
                  <a:srgbClr val="1B2740"/>
                </a:solidFill>
                <a:latin typeface="Consolas"/>
                <a:ea typeface="Consolas"/>
                <a:cs typeface="Consolas"/>
              </a:rPr>
              <a:t> </a:t>
            </a:r>
            <a:r>
              <a:rPr sz="760" b="0">
                <a:solidFill>
                  <a:srgbClr val="2563EB"/>
                </a:solidFill>
                <a:latin typeface="Consolas"/>
                <a:ea typeface="Consolas"/>
                <a:cs typeface="Consolas"/>
              </a:rPr>
              <a:t>ST_TrkPlot</a:t>
            </a:r>
            <a:r>
              <a:rPr sz="760" b="0">
                <a:solidFill>
                  <a:srgbClr val="1B2740"/>
                </a:solidFill>
                <a:latin typeface="Consolas"/>
                <a:ea typeface="Consolas"/>
                <a:cs typeface="Consolas"/>
              </a:rPr>
              <a:t> *st_Prev, </a:t>
            </a:r>
            <a:r>
              <a:rPr sz="760" b="0">
                <a:solidFill>
                  <a:srgbClr val="2563EB"/>
                </a:solidFill>
                <a:latin typeface="Consolas"/>
                <a:ea typeface="Consolas"/>
                <a:cs typeface="Consolas"/>
              </a:rPr>
              <a:t>const</a:t>
            </a:r>
            <a:r>
              <a:rPr sz="760" b="0">
                <a:solidFill>
                  <a:srgbClr val="1B2740"/>
                </a:solidFill>
                <a:latin typeface="Consolas"/>
                <a:ea typeface="Consolas"/>
                <a:cs typeface="Consolas"/>
              </a:rPr>
              <a:t> </a:t>
            </a:r>
            <a:r>
              <a:rPr sz="760" b="0">
                <a:solidFill>
                  <a:srgbClr val="2563EB"/>
                </a:solidFill>
                <a:latin typeface="Consolas"/>
                <a:ea typeface="Consolas"/>
                <a:cs typeface="Consolas"/>
              </a:rPr>
              <a:t>ST_TrkPlot</a:t>
            </a:r>
            <a:r>
              <a:rPr sz="760" b="0">
                <a:solidFill>
                  <a:srgbClr val="1B2740"/>
                </a:solidFill>
                <a:latin typeface="Consolas"/>
                <a:ea typeface="Consolas"/>
                <a:cs typeface="Consolas"/>
              </a:rPr>
              <a:t> *st_Cur)</a:t>
            </a:r>
          </a:p>
          <a:p>
            <a:pPr>
              <a:lnSpc>
                <a:spcPts val="1000"/>
              </a:lnSpc>
            </a:pPr>
            <a:r>
              <a:rPr sz="760" b="0">
                <a:solidFill>
                  <a:srgbClr val="AEB9CC"/>
                </a:solidFill>
                <a:latin typeface="Consolas"/>
                <a:ea typeface="Consolas"/>
                <a:cs typeface="Consolas"/>
              </a:rPr>
              <a:t>165  </a:t>
            </a:r>
            <a:r>
              <a:rPr sz="760" b="0">
                <a:solidFill>
                  <a:srgbClr val="1B2740"/>
                </a:solidFill>
                <a:latin typeface="Consolas"/>
                <a:ea typeface="Consolas"/>
                <a:cs typeface="Consolas"/>
              </a:rPr>
              <a:t>{</a:t>
            </a:r>
          </a:p>
          <a:p>
            <a:pPr>
              <a:lnSpc>
                <a:spcPts val="1000"/>
              </a:lnSpc>
            </a:pPr>
            <a:r>
              <a:rPr sz="760" b="0">
                <a:solidFill>
                  <a:srgbClr val="AEB9CC"/>
                </a:solidFill>
                <a:latin typeface="Consolas"/>
                <a:ea typeface="Consolas"/>
                <a:cs typeface="Consolas"/>
              </a:rPr>
              <a:t>166  </a:t>
            </a:r>
            <a:r>
              <a:rPr sz="760" b="0">
                <a:solidFill>
                  <a:srgbClr val="1B2740"/>
                </a:solidFill>
                <a:latin typeface="Consolas"/>
                <a:ea typeface="Consolas"/>
                <a:cs typeface="Consolas"/>
              </a:rPr>
              <a:t>  </a:t>
            </a:r>
            <a:r>
              <a:rPr sz="760" b="0">
                <a:solidFill>
                  <a:srgbClr val="2563EB"/>
                </a:solidFill>
                <a:latin typeface="Consolas"/>
                <a:ea typeface="Consolas"/>
                <a:cs typeface="Consolas"/>
              </a:rPr>
              <a:t>const</a:t>
            </a:r>
            <a:r>
              <a:rPr sz="760" b="0">
                <a:solidFill>
                  <a:srgbClr val="1B2740"/>
                </a:solidFill>
                <a:latin typeface="Consolas"/>
                <a:ea typeface="Consolas"/>
                <a:cs typeface="Consolas"/>
              </a:rPr>
              <a:t> </a:t>
            </a:r>
            <a:r>
              <a:rPr sz="760" b="0">
                <a:solidFill>
                  <a:srgbClr val="2563EB"/>
                </a:solidFill>
                <a:latin typeface="Consolas"/>
                <a:ea typeface="Consolas"/>
                <a:cs typeface="Consolas"/>
              </a:rPr>
              <a:t>FLOAT64</a:t>
            </a:r>
            <a:r>
              <a:rPr sz="760" b="0">
                <a:solidFill>
                  <a:srgbClr val="1B2740"/>
                </a:solidFill>
                <a:latin typeface="Consolas"/>
                <a:ea typeface="Consolas"/>
                <a:cs typeface="Consolas"/>
              </a:rPr>
              <a:t>  dt = st_Cur-&gt;time - st_Prev-&gt;time;</a:t>
            </a:r>
          </a:p>
          <a:p>
            <a:pPr>
              <a:lnSpc>
                <a:spcPts val="1000"/>
              </a:lnSpc>
            </a:pPr>
            <a:r>
              <a:rPr sz="760" b="0">
                <a:solidFill>
                  <a:srgbClr val="AEB9CC"/>
                </a:solidFill>
                <a:latin typeface="Consolas"/>
                <a:ea typeface="Consolas"/>
                <a:cs typeface="Consolas"/>
              </a:rPr>
              <a:t>167  </a:t>
            </a:r>
            <a:r>
              <a:rPr sz="760" b="0">
                <a:solidFill>
                  <a:srgbClr val="1B2740"/>
                </a:solidFill>
                <a:latin typeface="Consolas"/>
                <a:ea typeface="Consolas"/>
                <a:cs typeface="Consolas"/>
              </a:rPr>
              <a:t>  </a:t>
            </a:r>
            <a:r>
              <a:rPr sz="760" b="0">
                <a:solidFill>
                  <a:srgbClr val="2563EB"/>
                </a:solidFill>
                <a:latin typeface="Consolas"/>
                <a:ea typeface="Consolas"/>
                <a:cs typeface="Consolas"/>
              </a:rPr>
              <a:t>matrix</a:t>
            </a:r>
            <a:r>
              <a:rPr sz="760" b="0">
                <a:solidFill>
                  <a:srgbClr val="1B2740"/>
                </a:solidFill>
                <a:latin typeface="Consolas"/>
                <a:ea typeface="Consolas"/>
                <a:cs typeface="Consolas"/>
              </a:rPr>
              <a:t>  *st_X = &amp;st_Track-&gt;mat_EstX;</a:t>
            </a:r>
          </a:p>
          <a:p>
            <a:pPr>
              <a:lnSpc>
                <a:spcPts val="1000"/>
              </a:lnSpc>
            </a:pPr>
            <a:r>
              <a:rPr sz="760" b="0">
                <a:solidFill>
                  <a:srgbClr val="AEB9CC"/>
                </a:solidFill>
                <a:latin typeface="Consolas"/>
                <a:ea typeface="Consolas"/>
                <a:cs typeface="Consolas"/>
              </a:rPr>
              <a:t>168  </a:t>
            </a:r>
            <a:r>
              <a:rPr sz="760" b="0">
                <a:solidFill>
                  <a:srgbClr val="1B2740"/>
                </a:solidFill>
                <a:latin typeface="Consolas"/>
                <a:ea typeface="Consolas"/>
                <a:cs typeface="Consolas"/>
              </a:rPr>
              <a:t>  </a:t>
            </a:r>
            <a:r>
              <a:rPr sz="760" b="0">
                <a:solidFill>
                  <a:srgbClr val="2563EB"/>
                </a:solidFill>
                <a:latin typeface="Consolas"/>
                <a:ea typeface="Consolas"/>
                <a:cs typeface="Consolas"/>
              </a:rPr>
              <a:t>matrix</a:t>
            </a:r>
            <a:r>
              <a:rPr sz="760" b="0">
                <a:solidFill>
                  <a:srgbClr val="1B2740"/>
                </a:solidFill>
                <a:latin typeface="Consolas"/>
                <a:ea typeface="Consolas"/>
                <a:cs typeface="Consolas"/>
              </a:rPr>
              <a:t>  *st_P = &amp;st_Track-&gt;mat_EstP;</a:t>
            </a:r>
          </a:p>
          <a:p>
            <a:pPr>
              <a:lnSpc>
                <a:spcPts val="1000"/>
              </a:lnSpc>
            </a:pPr>
            <a:r>
              <a:rPr sz="760" b="0">
                <a:solidFill>
                  <a:srgbClr val="AEB9CC"/>
                </a:solidFill>
                <a:latin typeface="Consolas"/>
                <a:ea typeface="Consolas"/>
                <a:cs typeface="Consolas"/>
              </a:rPr>
              <a:t>169  </a:t>
            </a:r>
            <a:r>
              <a:rPr sz="760" b="0">
                <a:solidFill>
                  <a:srgbClr val="1B2740"/>
                </a:solidFill>
                <a:latin typeface="Consolas"/>
                <a:ea typeface="Consolas"/>
                <a:cs typeface="Consolas"/>
              </a:rPr>
              <a:t>  </a:t>
            </a:r>
            <a:r>
              <a:rPr sz="760" b="0">
                <a:solidFill>
                  <a:srgbClr val="2563EB"/>
                </a:solidFill>
                <a:latin typeface="Consolas"/>
                <a:ea typeface="Consolas"/>
                <a:cs typeface="Consolas"/>
              </a:rPr>
              <a:t>INT32</a:t>
            </a:r>
            <a:r>
              <a:rPr sz="760" b="0">
                <a:solidFill>
                  <a:srgbClr val="1B2740"/>
                </a:solidFill>
                <a:latin typeface="Consolas"/>
                <a:ea typeface="Consolas"/>
                <a:cs typeface="Consolas"/>
              </a:rPr>
              <a:t>  nAxis;</a:t>
            </a:r>
          </a:p>
          <a:p>
            <a:pPr>
              <a:lnSpc>
                <a:spcPts val="1000"/>
              </a:lnSpc>
            </a:pPr>
            <a:r>
              <a:rPr sz="760" b="0">
                <a:solidFill>
                  <a:srgbClr val="AEB9CC"/>
                </a:solidFill>
                <a:latin typeface="Consolas"/>
                <a:ea typeface="Consolas"/>
                <a:cs typeface="Consolas"/>
              </a:rPr>
              <a:t>170  </a:t>
            </a:r>
            <a:r>
              <a:rPr sz="760" b="0">
                <a:solidFill>
                  <a:srgbClr val="1B2740"/>
                </a:solidFill>
                <a:latin typeface="Consolas"/>
                <a:ea typeface="Consolas"/>
                <a:cs typeface="Consolas"/>
              </a:rPr>
              <a:t>  </a:t>
            </a:r>
            <a:r>
              <a:rPr sz="760" b="0">
                <a:solidFill>
                  <a:srgbClr val="2563EB"/>
                </a:solidFill>
                <a:latin typeface="Consolas"/>
                <a:ea typeface="Consolas"/>
                <a:cs typeface="Consolas"/>
              </a:rPr>
              <a:t>INT32</a:t>
            </a:r>
            <a:r>
              <a:rPr sz="760" b="0">
                <a:solidFill>
                  <a:srgbClr val="1B2740"/>
                </a:solidFill>
                <a:latin typeface="Consolas"/>
                <a:ea typeface="Consolas"/>
                <a:cs typeface="Consolas"/>
              </a:rPr>
              <a:t>  nAxisB;</a:t>
            </a:r>
          </a:p>
          <a:p>
            <a:pPr>
              <a:lnSpc>
                <a:spcPts val="1000"/>
              </a:lnSpc>
            </a:pPr>
            <a:r>
              <a:rPr sz="760" b="0">
                <a:solidFill>
                  <a:srgbClr val="AEB9CC"/>
                </a:solidFill>
                <a:latin typeface="Consolas"/>
                <a:ea typeface="Consolas"/>
                <a:cs typeface="Consolas"/>
              </a:rPr>
              <a:t>171  </a:t>
            </a:r>
          </a:p>
          <a:p>
            <a:pPr>
              <a:lnSpc>
                <a:spcPts val="1000"/>
              </a:lnSpc>
            </a:pPr>
            <a:r>
              <a:rPr sz="760" b="0">
                <a:solidFill>
                  <a:srgbClr val="AEB9CC"/>
                </a:solidFill>
                <a:latin typeface="Consolas"/>
                <a:ea typeface="Consolas"/>
                <a:cs typeface="Consolas"/>
              </a:rPr>
              <a:t>172  </a:t>
            </a:r>
            <a:r>
              <a:rPr sz="760" b="0">
                <a:solidFill>
                  <a:srgbClr val="1B2740"/>
                </a:solidFill>
                <a:latin typeface="Consolas"/>
                <a:ea typeface="Consolas"/>
                <a:cs typeface="Consolas"/>
              </a:rPr>
              <a:t>  Matrix_initialize(st_X, </a:t>
            </a:r>
            <a:r>
              <a:rPr sz="760" b="0">
                <a:solidFill>
                  <a:srgbClr val="7C3AED"/>
                </a:solidFill>
                <a:latin typeface="Consolas"/>
                <a:ea typeface="Consolas"/>
                <a:cs typeface="Consolas"/>
              </a:rPr>
              <a:t>TRK_STATE_DIM</a:t>
            </a:r>
            <a:r>
              <a:rPr sz="760" b="0">
                <a:solidFill>
                  <a:srgbClr val="1B2740"/>
                </a:solidFill>
                <a:latin typeface="Consolas"/>
                <a:ea typeface="Consolas"/>
                <a:cs typeface="Consolas"/>
              </a:rPr>
              <a:t>, </a:t>
            </a:r>
            <a:r>
              <a:rPr sz="760" b="0">
                <a:solidFill>
                  <a:srgbClr val="B45309"/>
                </a:solidFill>
                <a:latin typeface="Consolas"/>
                <a:ea typeface="Consolas"/>
                <a:cs typeface="Consolas"/>
              </a:rPr>
              <a:t>1</a:t>
            </a:r>
            <a:r>
              <a:rPr sz="760" b="0">
                <a:solidFill>
                  <a:srgbClr val="1B2740"/>
                </a:solidFill>
                <a:latin typeface="Consolas"/>
                <a:ea typeface="Consolas"/>
                <a:cs typeface="Consolas"/>
              </a:rPr>
              <a:t>);</a:t>
            </a:r>
          </a:p>
          <a:p>
            <a:pPr>
              <a:lnSpc>
                <a:spcPts val="1000"/>
              </a:lnSpc>
            </a:pPr>
            <a:r>
              <a:rPr sz="760" b="0">
                <a:solidFill>
                  <a:srgbClr val="AEB9CC"/>
                </a:solidFill>
                <a:latin typeface="Consolas"/>
                <a:ea typeface="Consolas"/>
                <a:cs typeface="Consolas"/>
              </a:rPr>
              <a:t>173  </a:t>
            </a:r>
            <a:r>
              <a:rPr sz="760" b="0">
                <a:solidFill>
                  <a:srgbClr val="1B2740"/>
                </a:solidFill>
                <a:latin typeface="Consolas"/>
                <a:ea typeface="Consolas"/>
                <a:cs typeface="Consolas"/>
              </a:rPr>
              <a:t>  Matrix_initialize(st_P, </a:t>
            </a:r>
            <a:r>
              <a:rPr sz="760" b="0">
                <a:solidFill>
                  <a:srgbClr val="7C3AED"/>
                </a:solidFill>
                <a:latin typeface="Consolas"/>
                <a:ea typeface="Consolas"/>
                <a:cs typeface="Consolas"/>
              </a:rPr>
              <a:t>TRK_STATE_DIM</a:t>
            </a:r>
            <a:r>
              <a:rPr sz="760" b="0">
                <a:solidFill>
                  <a:srgbClr val="1B2740"/>
                </a:solidFill>
                <a:latin typeface="Consolas"/>
                <a:ea typeface="Consolas"/>
                <a:cs typeface="Consolas"/>
              </a:rPr>
              <a:t>, </a:t>
            </a:r>
            <a:r>
              <a:rPr sz="760" b="0">
                <a:solidFill>
                  <a:srgbClr val="7C3AED"/>
                </a:solidFill>
                <a:latin typeface="Consolas"/>
                <a:ea typeface="Consolas"/>
                <a:cs typeface="Consolas"/>
              </a:rPr>
              <a:t>TRK_STATE_DIM</a:t>
            </a:r>
            <a:r>
              <a:rPr sz="760" b="0">
                <a:solidFill>
                  <a:srgbClr val="1B2740"/>
                </a:solidFill>
                <a:latin typeface="Consolas"/>
                <a:ea typeface="Consolas"/>
                <a:cs typeface="Consolas"/>
              </a:rPr>
              <a:t>);</a:t>
            </a:r>
          </a:p>
          <a:p>
            <a:pPr>
              <a:lnSpc>
                <a:spcPts val="1000"/>
              </a:lnSpc>
            </a:pPr>
            <a:r>
              <a:rPr sz="760" b="0">
                <a:solidFill>
                  <a:srgbClr val="AEB9CC"/>
                </a:solidFill>
                <a:latin typeface="Consolas"/>
                <a:ea typeface="Consolas"/>
                <a:cs typeface="Consolas"/>
              </a:rPr>
              <a:t>174  </a:t>
            </a:r>
          </a:p>
          <a:p>
            <a:pPr>
              <a:lnSpc>
                <a:spcPts val="1000"/>
              </a:lnSpc>
            </a:pPr>
            <a:r>
              <a:rPr sz="760" b="0">
                <a:solidFill>
                  <a:srgbClr val="AEB9CC"/>
                </a:solidFill>
                <a:latin typeface="Consolas"/>
                <a:ea typeface="Consolas"/>
                <a:cs typeface="Consolas"/>
              </a:rPr>
              <a:t>175  </a:t>
            </a:r>
            <a:r>
              <a:rPr sz="760" b="0">
                <a:solidFill>
                  <a:srgbClr val="1B2740"/>
                </a:solidFill>
                <a:latin typeface="Consolas"/>
                <a:ea typeface="Consolas"/>
                <a:cs typeface="Consolas"/>
              </a:rPr>
              <a:t>  </a:t>
            </a:r>
            <a:r>
              <a:rPr sz="760" b="0">
                <a:solidFill>
                  <a:srgbClr val="2563EB"/>
                </a:solidFill>
                <a:latin typeface="Consolas"/>
                <a:ea typeface="Consolas"/>
                <a:cs typeface="Consolas"/>
              </a:rPr>
              <a:t>for</a:t>
            </a:r>
            <a:r>
              <a:rPr sz="760" b="0">
                <a:solidFill>
                  <a:srgbClr val="1B2740"/>
                </a:solidFill>
                <a:latin typeface="Consolas"/>
                <a:ea typeface="Consolas"/>
                <a:cs typeface="Consolas"/>
              </a:rPr>
              <a:t> (nAxis = </a:t>
            </a:r>
            <a:r>
              <a:rPr sz="760" b="0">
                <a:solidFill>
                  <a:srgbClr val="B45309"/>
                </a:solidFill>
                <a:latin typeface="Consolas"/>
                <a:ea typeface="Consolas"/>
                <a:cs typeface="Consolas"/>
              </a:rPr>
              <a:t>0</a:t>
            </a:r>
            <a:r>
              <a:rPr sz="760" b="0">
                <a:solidFill>
                  <a:srgbClr val="1B2740"/>
                </a:solidFill>
                <a:latin typeface="Consolas"/>
                <a:ea typeface="Consolas"/>
                <a:cs typeface="Consolas"/>
              </a:rPr>
              <a:t>; nAxis &lt; </a:t>
            </a:r>
            <a:r>
              <a:rPr sz="760" b="0">
                <a:solidFill>
                  <a:srgbClr val="B45309"/>
                </a:solidFill>
                <a:latin typeface="Consolas"/>
                <a:ea typeface="Consolas"/>
                <a:cs typeface="Consolas"/>
              </a:rPr>
              <a:t>3</a:t>
            </a:r>
            <a:r>
              <a:rPr sz="760" b="0">
                <a:solidFill>
                  <a:srgbClr val="1B2740"/>
                </a:solidFill>
                <a:latin typeface="Consolas"/>
                <a:ea typeface="Consolas"/>
                <a:cs typeface="Consolas"/>
              </a:rPr>
              <a:t>; nAxis++)</a:t>
            </a:r>
          </a:p>
          <a:p>
            <a:pPr>
              <a:lnSpc>
                <a:spcPts val="1000"/>
              </a:lnSpc>
            </a:pPr>
            <a:r>
              <a:rPr sz="760" b="0">
                <a:solidFill>
                  <a:srgbClr val="AEB9CC"/>
                </a:solidFill>
                <a:latin typeface="Consolas"/>
                <a:ea typeface="Consolas"/>
                <a:cs typeface="Consolas"/>
              </a:rPr>
              <a:t>176  </a:t>
            </a:r>
            <a:r>
              <a:rPr sz="760" b="0">
                <a:solidFill>
                  <a:srgbClr val="1B2740"/>
                </a:solidFill>
                <a:latin typeface="Consolas"/>
                <a:ea typeface="Consolas"/>
                <a:cs typeface="Consolas"/>
              </a:rPr>
              <a:t>  {</a:t>
            </a:r>
          </a:p>
          <a:p>
            <a:pPr>
              <a:lnSpc>
                <a:spcPts val="1000"/>
              </a:lnSpc>
            </a:pPr>
            <a:r>
              <a:rPr sz="760" b="0">
                <a:solidFill>
                  <a:srgbClr val="AEB9CC"/>
                </a:solidFill>
                <a:latin typeface="Consolas"/>
                <a:ea typeface="Consolas"/>
                <a:cs typeface="Consolas"/>
              </a:rPr>
              <a:t>177  </a:t>
            </a:r>
            <a:r>
              <a:rPr sz="760" b="0">
                <a:solidFill>
                  <a:srgbClr val="1B2740"/>
                </a:solidFill>
                <a:latin typeface="Consolas"/>
                <a:ea typeface="Consolas"/>
                <a:cs typeface="Consolas"/>
              </a:rPr>
              <a:t>    st_X-&gt;e[(</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a:t>
            </a:r>
            <a:r>
              <a:rPr sz="760" b="0">
                <a:solidFill>
                  <a:srgbClr val="B45309"/>
                </a:solidFill>
                <a:latin typeface="Consolas"/>
                <a:ea typeface="Consolas"/>
                <a:cs typeface="Consolas"/>
              </a:rPr>
              <a:t>0</a:t>
            </a:r>
            <a:r>
              <a:rPr sz="760" b="0">
                <a:solidFill>
                  <a:srgbClr val="1B2740"/>
                </a:solidFill>
                <a:latin typeface="Consolas"/>
                <a:ea typeface="Consolas"/>
                <a:cs typeface="Consolas"/>
              </a:rPr>
              <a:t>]  = st_Cur-&gt;pos[nAxis];</a:t>
            </a:r>
          </a:p>
          <a:p>
            <a:pPr>
              <a:lnSpc>
                <a:spcPts val="1000"/>
              </a:lnSpc>
            </a:pPr>
            <a:r>
              <a:rPr sz="760" b="0">
                <a:solidFill>
                  <a:srgbClr val="AEB9CC"/>
                </a:solidFill>
                <a:latin typeface="Consolas"/>
                <a:ea typeface="Consolas"/>
                <a:cs typeface="Consolas"/>
              </a:rPr>
              <a:t>178  </a:t>
            </a:r>
            <a:r>
              <a:rPr sz="760" b="0">
                <a:solidFill>
                  <a:srgbClr val="1B2740"/>
                </a:solidFill>
                <a:latin typeface="Consolas"/>
                <a:ea typeface="Consolas"/>
                <a:cs typeface="Consolas"/>
              </a:rPr>
              <a:t>    st_X-&gt;e[(</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 + </a:t>
            </a:r>
            <a:r>
              <a:rPr sz="760" b="0">
                <a:solidFill>
                  <a:srgbClr val="B45309"/>
                </a:solidFill>
                <a:latin typeface="Consolas"/>
                <a:ea typeface="Consolas"/>
                <a:cs typeface="Consolas"/>
              </a:rPr>
              <a:t>1</a:t>
            </a:r>
            <a:r>
              <a:rPr sz="760" b="0">
                <a:solidFill>
                  <a:srgbClr val="1B2740"/>
                </a:solidFill>
                <a:latin typeface="Consolas"/>
                <a:ea typeface="Consolas"/>
                <a:cs typeface="Consolas"/>
              </a:rPr>
              <a:t>][</a:t>
            </a:r>
            <a:r>
              <a:rPr sz="760" b="0">
                <a:solidFill>
                  <a:srgbClr val="B45309"/>
                </a:solidFill>
                <a:latin typeface="Consolas"/>
                <a:ea typeface="Consolas"/>
                <a:cs typeface="Consolas"/>
              </a:rPr>
              <a:t>0</a:t>
            </a:r>
            <a:r>
              <a:rPr sz="760" b="0">
                <a:solidFill>
                  <a:srgbClr val="1B2740"/>
                </a:solidFill>
                <a:latin typeface="Consolas"/>
                <a:ea typeface="Consolas"/>
                <a:cs typeface="Consolas"/>
              </a:rPr>
              <a:t>]  = (st_Cur-&gt;pos[nAxis] - st_Prev-&gt;pos[nAxis]) / dt;</a:t>
            </a:r>
          </a:p>
          <a:p>
            <a:pPr>
              <a:lnSpc>
                <a:spcPts val="1000"/>
              </a:lnSpc>
            </a:pPr>
            <a:r>
              <a:rPr sz="760" b="0">
                <a:solidFill>
                  <a:srgbClr val="AEB9CC"/>
                </a:solidFill>
                <a:latin typeface="Consolas"/>
                <a:ea typeface="Consolas"/>
                <a:cs typeface="Consolas"/>
              </a:rPr>
              <a:t>179  </a:t>
            </a:r>
            <a:r>
              <a:rPr sz="760" b="0">
                <a:solidFill>
                  <a:srgbClr val="1B2740"/>
                </a:solidFill>
                <a:latin typeface="Consolas"/>
                <a:ea typeface="Consolas"/>
                <a:cs typeface="Consolas"/>
              </a:rPr>
              <a:t>    st_X-&gt;e[(</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 + </a:t>
            </a:r>
            <a:r>
              <a:rPr sz="760" b="0">
                <a:solidFill>
                  <a:srgbClr val="B45309"/>
                </a:solidFill>
                <a:latin typeface="Consolas"/>
                <a:ea typeface="Consolas"/>
                <a:cs typeface="Consolas"/>
              </a:rPr>
              <a:t>2</a:t>
            </a:r>
            <a:r>
              <a:rPr sz="760" b="0">
                <a:solidFill>
                  <a:srgbClr val="1B2740"/>
                </a:solidFill>
                <a:latin typeface="Consolas"/>
                <a:ea typeface="Consolas"/>
                <a:cs typeface="Consolas"/>
              </a:rPr>
              <a:t>][</a:t>
            </a:r>
            <a:r>
              <a:rPr sz="760" b="0">
                <a:solidFill>
                  <a:srgbClr val="B45309"/>
                </a:solidFill>
                <a:latin typeface="Consolas"/>
                <a:ea typeface="Consolas"/>
                <a:cs typeface="Consolas"/>
              </a:rPr>
              <a:t>0</a:t>
            </a:r>
            <a:r>
              <a:rPr sz="760" b="0">
                <a:solidFill>
                  <a:srgbClr val="1B2740"/>
                </a:solidFill>
                <a:latin typeface="Consolas"/>
                <a:ea typeface="Consolas"/>
                <a:cs typeface="Consolas"/>
              </a:rPr>
              <a:t>]  = </a:t>
            </a:r>
            <a:r>
              <a:rPr sz="760" b="0">
                <a:solidFill>
                  <a:srgbClr val="B45309"/>
                </a:solidFill>
                <a:latin typeface="Consolas"/>
                <a:ea typeface="Consolas"/>
                <a:cs typeface="Consolas"/>
              </a:rPr>
              <a:t>0.0</a:t>
            </a:r>
            <a:r>
              <a:rPr sz="760" b="0">
                <a:solidFill>
                  <a:srgbClr val="1B2740"/>
                </a:solidFill>
                <a:latin typeface="Consolas"/>
                <a:ea typeface="Consolas"/>
                <a:cs typeface="Consolas"/>
              </a:rPr>
              <a:t>;</a:t>
            </a:r>
          </a:p>
          <a:p>
            <a:pPr>
              <a:lnSpc>
                <a:spcPts val="1000"/>
              </a:lnSpc>
            </a:pPr>
            <a:r>
              <a:rPr sz="760" b="0">
                <a:solidFill>
                  <a:srgbClr val="AEB9CC"/>
                </a:solidFill>
                <a:latin typeface="Consolas"/>
                <a:ea typeface="Consolas"/>
                <a:cs typeface="Consolas"/>
              </a:rPr>
              <a:t>180  </a:t>
            </a:r>
          </a:p>
          <a:p>
            <a:pPr>
              <a:lnSpc>
                <a:spcPts val="1000"/>
              </a:lnSpc>
            </a:pPr>
            <a:r>
              <a:rPr sz="760" b="0">
                <a:solidFill>
                  <a:srgbClr val="AEB9CC"/>
                </a:solidFill>
                <a:latin typeface="Consolas"/>
                <a:ea typeface="Consolas"/>
                <a:cs typeface="Consolas"/>
              </a:rPr>
              <a:t>181  </a:t>
            </a:r>
            <a:r>
              <a:rPr sz="760" b="0">
                <a:solidFill>
                  <a:srgbClr val="1B2740"/>
                </a:solidFill>
                <a:latin typeface="Consolas"/>
                <a:ea typeface="Consolas"/>
                <a:cs typeface="Consolas"/>
              </a:rPr>
              <a:t>    </a:t>
            </a:r>
            <a:r>
              <a:rPr sz="760" b="0">
                <a:solidFill>
                  <a:srgbClr val="2563EB"/>
                </a:solidFill>
                <a:latin typeface="Consolas"/>
                <a:ea typeface="Consolas"/>
                <a:cs typeface="Consolas"/>
              </a:rPr>
              <a:t>for</a:t>
            </a:r>
            <a:r>
              <a:rPr sz="760" b="0">
                <a:solidFill>
                  <a:srgbClr val="1B2740"/>
                </a:solidFill>
                <a:latin typeface="Consolas"/>
                <a:ea typeface="Consolas"/>
                <a:cs typeface="Consolas"/>
              </a:rPr>
              <a:t> (nAxisB = </a:t>
            </a:r>
            <a:r>
              <a:rPr sz="760" b="0">
                <a:solidFill>
                  <a:srgbClr val="B45309"/>
                </a:solidFill>
                <a:latin typeface="Consolas"/>
                <a:ea typeface="Consolas"/>
                <a:cs typeface="Consolas"/>
              </a:rPr>
              <a:t>0</a:t>
            </a:r>
            <a:r>
              <a:rPr sz="760" b="0">
                <a:solidFill>
                  <a:srgbClr val="1B2740"/>
                </a:solidFill>
                <a:latin typeface="Consolas"/>
                <a:ea typeface="Consolas"/>
                <a:cs typeface="Consolas"/>
              </a:rPr>
              <a:t>; nAxisB &lt; </a:t>
            </a:r>
            <a:r>
              <a:rPr sz="760" b="0">
                <a:solidFill>
                  <a:srgbClr val="B45309"/>
                </a:solidFill>
                <a:latin typeface="Consolas"/>
                <a:ea typeface="Consolas"/>
                <a:cs typeface="Consolas"/>
              </a:rPr>
              <a:t>3</a:t>
            </a:r>
            <a:r>
              <a:rPr sz="760" b="0">
                <a:solidFill>
                  <a:srgbClr val="1B2740"/>
                </a:solidFill>
                <a:latin typeface="Consolas"/>
                <a:ea typeface="Consolas"/>
                <a:cs typeface="Consolas"/>
              </a:rPr>
              <a:t>; nAxisB++)</a:t>
            </a:r>
          </a:p>
          <a:p>
            <a:pPr>
              <a:lnSpc>
                <a:spcPts val="1000"/>
              </a:lnSpc>
            </a:pPr>
            <a:r>
              <a:rPr sz="760" b="0">
                <a:solidFill>
                  <a:srgbClr val="AEB9CC"/>
                </a:solidFill>
                <a:latin typeface="Consolas"/>
                <a:ea typeface="Consolas"/>
                <a:cs typeface="Consolas"/>
              </a:rPr>
              <a:t>182  </a:t>
            </a:r>
            <a:r>
              <a:rPr sz="760" b="0">
                <a:solidFill>
                  <a:srgbClr val="1B2740"/>
                </a:solidFill>
                <a:latin typeface="Consolas"/>
                <a:ea typeface="Consolas"/>
                <a:cs typeface="Consolas"/>
              </a:rPr>
              <a:t>    {</a:t>
            </a:r>
          </a:p>
          <a:p>
            <a:pPr>
              <a:lnSpc>
                <a:spcPts val="1000"/>
              </a:lnSpc>
            </a:pPr>
            <a:r>
              <a:rPr sz="760" b="0">
                <a:solidFill>
                  <a:srgbClr val="AEB9CC"/>
                </a:solidFill>
                <a:latin typeface="Consolas"/>
                <a:ea typeface="Consolas"/>
                <a:cs typeface="Consolas"/>
              </a:rPr>
              <a:t>183  </a:t>
            </a:r>
            <a:r>
              <a:rPr sz="760" b="0">
                <a:solidFill>
                  <a:srgbClr val="1B2740"/>
                </a:solidFill>
                <a:latin typeface="Consolas"/>
                <a:ea typeface="Consolas"/>
                <a:cs typeface="Consolas"/>
              </a:rPr>
              <a:t>      st_P-&gt;e[(</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nAxisB)]  = st_Cur-&gt;cov[nAxis][nAxisB];</a:t>
            </a:r>
          </a:p>
          <a:p>
            <a:pPr>
              <a:lnSpc>
                <a:spcPts val="1000"/>
              </a:lnSpc>
            </a:pPr>
            <a:r>
              <a:rPr sz="760" b="0">
                <a:solidFill>
                  <a:srgbClr val="AEB9CC"/>
                </a:solidFill>
                <a:latin typeface="Consolas"/>
                <a:ea typeface="Consolas"/>
                <a:cs typeface="Consolas"/>
              </a:rPr>
              <a:t>184  </a:t>
            </a:r>
            <a:r>
              <a:rPr sz="760" b="0">
                <a:solidFill>
                  <a:srgbClr val="1B2740"/>
                </a:solidFill>
                <a:latin typeface="Consolas"/>
                <a:ea typeface="Consolas"/>
                <a:cs typeface="Consolas"/>
              </a:rPr>
              <a:t>      st_P-&gt;e[(</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nAxisB) + </a:t>
            </a:r>
            <a:r>
              <a:rPr sz="760" b="0">
                <a:solidFill>
                  <a:srgbClr val="B45309"/>
                </a:solidFill>
                <a:latin typeface="Consolas"/>
                <a:ea typeface="Consolas"/>
                <a:cs typeface="Consolas"/>
              </a:rPr>
              <a:t>1</a:t>
            </a:r>
            <a:r>
              <a:rPr sz="760" b="0">
                <a:solidFill>
                  <a:srgbClr val="1B2740"/>
                </a:solidFill>
                <a:latin typeface="Consolas"/>
                <a:ea typeface="Consolas"/>
                <a:cs typeface="Consolas"/>
              </a:rPr>
              <a:t>]  = st_Cur-&gt;cov[nAxis][nAxisB] / dt;</a:t>
            </a:r>
          </a:p>
          <a:p>
            <a:pPr>
              <a:lnSpc>
                <a:spcPts val="1000"/>
              </a:lnSpc>
            </a:pPr>
            <a:r>
              <a:rPr sz="760" b="0">
                <a:solidFill>
                  <a:srgbClr val="AEB9CC"/>
                </a:solidFill>
                <a:latin typeface="Consolas"/>
                <a:ea typeface="Consolas"/>
                <a:cs typeface="Consolas"/>
              </a:rPr>
              <a:t>185  </a:t>
            </a:r>
            <a:r>
              <a:rPr sz="760" b="0">
                <a:solidFill>
                  <a:srgbClr val="1B2740"/>
                </a:solidFill>
                <a:latin typeface="Consolas"/>
                <a:ea typeface="Consolas"/>
                <a:cs typeface="Consolas"/>
              </a:rPr>
              <a:t>      st_P-&gt;e[(</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 + </a:t>
            </a:r>
            <a:r>
              <a:rPr sz="760" b="0">
                <a:solidFill>
                  <a:srgbClr val="B45309"/>
                </a:solidFill>
                <a:latin typeface="Consolas"/>
                <a:ea typeface="Consolas"/>
                <a:cs typeface="Consolas"/>
              </a:rPr>
              <a:t>1</a:t>
            </a:r>
            <a:r>
              <a:rPr sz="760" b="0">
                <a:solidFill>
                  <a:srgbClr val="1B2740"/>
                </a:solidFill>
                <a:latin typeface="Consolas"/>
                <a:ea typeface="Consolas"/>
                <a:cs typeface="Consolas"/>
              </a:rPr>
              <a:t>][(</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nAxisB)]  = st_Cur-&gt;cov[nAxis][nAxisB] / dt;</a:t>
            </a:r>
          </a:p>
          <a:p>
            <a:pPr>
              <a:lnSpc>
                <a:spcPts val="1000"/>
              </a:lnSpc>
            </a:pPr>
            <a:r>
              <a:rPr sz="760" b="0">
                <a:solidFill>
                  <a:srgbClr val="AEB9CC"/>
                </a:solidFill>
                <a:latin typeface="Consolas"/>
                <a:ea typeface="Consolas"/>
                <a:cs typeface="Consolas"/>
              </a:rPr>
              <a:t>186  </a:t>
            </a:r>
            <a:r>
              <a:rPr sz="760" b="0">
                <a:solidFill>
                  <a:srgbClr val="1B2740"/>
                </a:solidFill>
                <a:latin typeface="Consolas"/>
                <a:ea typeface="Consolas"/>
                <a:cs typeface="Consolas"/>
              </a:rPr>
              <a:t>      st_P-&gt;e[(</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 + </a:t>
            </a:r>
            <a:r>
              <a:rPr sz="760" b="0">
                <a:solidFill>
                  <a:srgbClr val="B45309"/>
                </a:solidFill>
                <a:latin typeface="Consolas"/>
                <a:ea typeface="Consolas"/>
                <a:cs typeface="Consolas"/>
              </a:rPr>
              <a:t>1</a:t>
            </a:r>
            <a:r>
              <a:rPr sz="760" b="0">
                <a:solidFill>
                  <a:srgbClr val="1B2740"/>
                </a:solidFill>
                <a:latin typeface="Consolas"/>
                <a:ea typeface="Consolas"/>
                <a:cs typeface="Consolas"/>
              </a:rPr>
              <a:t>][(</a:t>
            </a:r>
            <a:r>
              <a:rPr sz="760" b="0">
                <a:solidFill>
                  <a:srgbClr val="B45309"/>
                </a:solidFill>
                <a:latin typeface="Consolas"/>
                <a:ea typeface="Consolas"/>
                <a:cs typeface="Consolas"/>
              </a:rPr>
              <a:t>3</a:t>
            </a:r>
            <a:r>
              <a:rPr sz="760" b="0">
                <a:solidFill>
                  <a:srgbClr val="1B2740"/>
                </a:solidFill>
                <a:latin typeface="Consolas"/>
                <a:ea typeface="Consolas"/>
                <a:cs typeface="Consolas"/>
              </a:rPr>
              <a:t> * nAxisB) + </a:t>
            </a:r>
            <a:r>
              <a:rPr sz="760" b="0">
                <a:solidFill>
                  <a:srgbClr val="B45309"/>
                </a:solidFill>
                <a:latin typeface="Consolas"/>
                <a:ea typeface="Consolas"/>
                <a:cs typeface="Consolas"/>
              </a:rPr>
              <a:t>1</a:t>
            </a:r>
            <a:r>
              <a:rPr sz="760" b="0">
                <a:solidFill>
                  <a:srgbClr val="1B2740"/>
                </a:solidFill>
                <a:latin typeface="Consolas"/>
                <a:ea typeface="Consolas"/>
                <a:cs typeface="Consolas"/>
              </a:rPr>
              <a:t>]  = (st_Cur-&gt;cov[nAxis][nAxisB] + st_Prev-&gt;cov[nAxis][nAxisB]) / (dt * dt);</a:t>
            </a:r>
          </a:p>
          <a:p>
            <a:pPr>
              <a:lnSpc>
                <a:spcPts val="1000"/>
              </a:lnSpc>
            </a:pPr>
            <a:r>
              <a:rPr sz="760" b="0">
                <a:solidFill>
                  <a:srgbClr val="AEB9CC"/>
                </a:solidFill>
                <a:latin typeface="Consolas"/>
                <a:ea typeface="Consolas"/>
                <a:cs typeface="Consolas"/>
              </a:rPr>
              <a:t>187  </a:t>
            </a:r>
            <a:r>
              <a:rPr sz="760" b="0">
                <a:solidFill>
                  <a:srgbClr val="1B2740"/>
                </a:solidFill>
                <a:latin typeface="Consolas"/>
                <a:ea typeface="Consolas"/>
                <a:cs typeface="Consolas"/>
              </a:rPr>
              <a:t>    }</a:t>
            </a:r>
          </a:p>
          <a:p>
            <a:pPr>
              <a:lnSpc>
                <a:spcPts val="1000"/>
              </a:lnSpc>
            </a:pPr>
            <a:r>
              <a:rPr sz="760" b="0">
                <a:solidFill>
                  <a:srgbClr val="AEB9CC"/>
                </a:solidFill>
                <a:latin typeface="Consolas"/>
                <a:ea typeface="Consolas"/>
                <a:cs typeface="Consolas"/>
              </a:rPr>
              <a:t>188  </a:t>
            </a:r>
            <a:r>
              <a:rPr sz="760" b="0">
                <a:solidFill>
                  <a:srgbClr val="1B2740"/>
                </a:solidFill>
                <a:latin typeface="Consolas"/>
                <a:ea typeface="Consolas"/>
                <a:cs typeface="Consolas"/>
              </a:rPr>
              <a:t>  }</a:t>
            </a:r>
          </a:p>
          <a:p>
            <a:pPr>
              <a:lnSpc>
                <a:spcPts val="1000"/>
              </a:lnSpc>
            </a:pPr>
            <a:r>
              <a:rPr sz="760" b="0">
                <a:solidFill>
                  <a:srgbClr val="AEB9CC"/>
                </a:solidFill>
                <a:latin typeface="Consolas"/>
                <a:ea typeface="Consolas"/>
                <a:cs typeface="Consolas"/>
              </a:rPr>
              <a:t>189  </a:t>
            </a:r>
            <a:r>
              <a:rPr sz="760" b="0">
                <a:solidFill>
                  <a:srgbClr val="1B2740"/>
                </a:solidFill>
                <a:latin typeface="Consolas"/>
                <a:ea typeface="Consolas"/>
                <a:cs typeface="Consolas"/>
              </a:rPr>
              <a:t>}</a:t>
            </a:r>
          </a:p>
        </p:txBody>
      </p:sp>
      <p:sp>
        <p:nvSpPr>
          <p:cNvPr id="18" name="Oval 17"/>
          <p:cNvSpPr/>
          <p:nvPr/>
        </p:nvSpPr>
        <p:spPr>
          <a:xfrm>
            <a:off x="8092440" y="228600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19" name="TextBox 18"/>
          <p:cNvSpPr txBox="1"/>
          <p:nvPr/>
        </p:nvSpPr>
        <p:spPr>
          <a:xfrm>
            <a:off x="8476488" y="2267712"/>
            <a:ext cx="3072384" cy="658368"/>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0 으로 채운 행렬</a:t>
            </a:r>
          </a:p>
          <a:p>
            <a:pPr algn="l">
              <a:lnSpc>
                <a:spcPct val="105000"/>
              </a:lnSpc>
            </a:pPr>
            <a:r>
              <a:rPr sz="1050" b="0">
                <a:solidFill>
                  <a:srgbClr val="4A5A7A"/>
                </a:solidFill>
                <a:latin typeface="맑은 고딕"/>
                <a:ea typeface="맑은 고딕"/>
                <a:cs typeface="맑은 고딕"/>
              </a:rPr>
              <a:t>참고 소스 코드의 Matrix_initialize</a:t>
            </a:r>
          </a:p>
          <a:p>
            <a:pPr algn="l">
              <a:lnSpc>
                <a:spcPct val="105000"/>
              </a:lnSpc>
            </a:pPr>
            <a:r>
              <a:rPr sz="1050" b="0">
                <a:solidFill>
                  <a:srgbClr val="4A5A7A"/>
                </a:solidFill>
                <a:latin typeface="맑은 고딕"/>
                <a:ea typeface="맑은 고딕"/>
                <a:cs typeface="맑은 고딕"/>
              </a:rPr>
              <a:t>가속도 칸은 손대지 않아 0</a:t>
            </a:r>
          </a:p>
        </p:txBody>
      </p:sp>
      <p:sp>
        <p:nvSpPr>
          <p:cNvPr id="20" name="Oval 19"/>
          <p:cNvSpPr/>
          <p:nvPr/>
        </p:nvSpPr>
        <p:spPr>
          <a:xfrm>
            <a:off x="8092440" y="315468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21" name="TextBox 20"/>
          <p:cNvSpPr txBox="1"/>
          <p:nvPr/>
        </p:nvSpPr>
        <p:spPr>
          <a:xfrm>
            <a:off x="8476488" y="3136392"/>
            <a:ext cx="3072384" cy="658368"/>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상태변수 (축마다)</a:t>
            </a:r>
          </a:p>
          <a:p>
            <a:pPr algn="l">
              <a:lnSpc>
                <a:spcPct val="105000"/>
              </a:lnSpc>
            </a:pPr>
            <a:r>
              <a:rPr sz="1050" b="0">
                <a:solidFill>
                  <a:srgbClr val="4A5A7A"/>
                </a:solidFill>
                <a:latin typeface="맑은 고딕"/>
                <a:ea typeface="맑은 고딕"/>
                <a:cs typeface="맑은 고딕"/>
              </a:rPr>
              <a:t>위치 = 이번 플롯</a:t>
            </a:r>
          </a:p>
          <a:p>
            <a:pPr algn="l">
              <a:lnSpc>
                <a:spcPct val="105000"/>
              </a:lnSpc>
            </a:pPr>
            <a:r>
              <a:rPr sz="1050" b="0">
                <a:solidFill>
                  <a:srgbClr val="4A5A7A"/>
                </a:solidFill>
                <a:latin typeface="맑은 고딕"/>
                <a:ea typeface="맑은 고딕"/>
                <a:cs typeface="맑은 고딕"/>
              </a:rPr>
              <a:t>속도 = 위치 차 / 시간 차, 가속도 = 0</a:t>
            </a:r>
          </a:p>
        </p:txBody>
      </p:sp>
      <p:sp>
        <p:nvSpPr>
          <p:cNvPr id="22" name="Oval 21"/>
          <p:cNvSpPr/>
          <p:nvPr/>
        </p:nvSpPr>
        <p:spPr>
          <a:xfrm>
            <a:off x="8092440" y="402336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23" name="TextBox 22"/>
          <p:cNvSpPr txBox="1"/>
          <p:nvPr/>
        </p:nvSpPr>
        <p:spPr>
          <a:xfrm>
            <a:off x="8476488" y="4005072"/>
            <a:ext cx="3072384" cy="877824"/>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오차 공분산 (축 a, b)</a:t>
            </a:r>
          </a:p>
          <a:p>
            <a:pPr algn="l">
              <a:lnSpc>
                <a:spcPct val="105000"/>
              </a:lnSpc>
            </a:pPr>
            <a:r>
              <a:rPr sz="1050" b="0">
                <a:solidFill>
                  <a:srgbClr val="4A5A7A"/>
                </a:solidFill>
                <a:latin typeface="맑은 고딕"/>
                <a:ea typeface="맑은 고딕"/>
                <a:cs typeface="맑은 고딕"/>
              </a:rPr>
              <a:t>P_pp = R_k,   P_pv = P_vp = R_k / T</a:t>
            </a:r>
          </a:p>
          <a:p>
            <a:pPr algn="l">
              <a:lnSpc>
                <a:spcPct val="105000"/>
              </a:lnSpc>
            </a:pPr>
            <a:r>
              <a:rPr sz="1050" b="0">
                <a:solidFill>
                  <a:srgbClr val="4A5A7A"/>
                </a:solidFill>
                <a:latin typeface="맑은 고딕"/>
                <a:ea typeface="맑은 고딕"/>
                <a:cs typeface="맑은 고딕"/>
              </a:rPr>
              <a:t>P_vv = ( R_k + R_k-1 ) / T²</a:t>
            </a:r>
          </a:p>
          <a:p>
            <a:pPr algn="l">
              <a:lnSpc>
                <a:spcPct val="105000"/>
              </a:lnSpc>
            </a:pPr>
            <a:r>
              <a:rPr sz="1050" b="0">
                <a:solidFill>
                  <a:srgbClr val="4A5A7A"/>
                </a:solidFill>
                <a:latin typeface="맑은 고딕"/>
                <a:ea typeface="맑은 고딕"/>
                <a:cs typeface="맑은 고딕"/>
              </a:rPr>
              <a:t>축 사이 칸까지 같은 식 (1.3)</a:t>
            </a:r>
          </a:p>
        </p:txBody>
      </p:sp>
      <p:sp>
        <p:nvSpPr>
          <p:cNvPr id="24" name="Rectangle 23"/>
          <p:cNvSpPr/>
          <p:nvPr/>
        </p:nvSpPr>
        <p:spPr>
          <a:xfrm>
            <a:off x="8092440" y="5074920"/>
            <a:ext cx="3456432" cy="960120"/>
          </a:xfrm>
          <a:prstGeom prst="rect">
            <a:avLst/>
          </a:prstGeom>
          <a:solidFill>
            <a:srgbClr val="F7F9FC"/>
          </a:solidFill>
          <a:ln w="9525">
            <a:solidFill>
              <a:srgbClr val="D2D9E5"/>
            </a:solidFill>
          </a:ln>
        </p:spPr>
        <p:txBody>
          <a:bodyPr rtlCol="0" anchor="ctr"/>
          <a:lstStyle/>
          <a:p>
            <a:pPr algn="ctr"/>
          </a:p>
        </p:txBody>
      </p:sp>
      <p:sp>
        <p:nvSpPr>
          <p:cNvPr id="25" name="TextBox 24"/>
          <p:cNvSpPr txBox="1"/>
          <p:nvPr/>
        </p:nvSpPr>
        <p:spPr>
          <a:xfrm>
            <a:off x="8229600" y="5120640"/>
            <a:ext cx="3246120" cy="868680"/>
          </a:xfrm>
          <a:prstGeom prst="rect">
            <a:avLst/>
          </a:prstGeom>
          <a:noFill/>
        </p:spPr>
        <p:txBody>
          <a:bodyPr wrap="square" lIns="0" tIns="0" rIns="0" bIns="0" anchor="t">
            <a:spAutoFit/>
          </a:bodyPr>
          <a:lstStyle/>
          <a:p>
            <a:pPr algn="l">
              <a:lnSpc>
                <a:spcPct val="110000"/>
              </a:lnSpc>
            </a:pPr>
            <a:r>
              <a:rPr sz="1000" b="1">
                <a:solidFill>
                  <a:srgbClr val="1B2740"/>
                </a:solidFill>
                <a:latin typeface="맑은 고딕"/>
                <a:ea typeface="맑은 고딕"/>
                <a:cs typeface="맑은 고딕"/>
              </a:rPr>
              <a:t>인덱스</a:t>
            </a:r>
          </a:p>
          <a:p>
            <a:pPr algn="l">
              <a:lnSpc>
                <a:spcPct val="110000"/>
              </a:lnSpc>
            </a:pPr>
            <a:r>
              <a:rPr sz="1000" b="0">
                <a:solidFill>
                  <a:srgbClr val="4A5A7A"/>
                </a:solidFill>
                <a:latin typeface="맑은 고딕"/>
                <a:ea typeface="맑은 고딕"/>
                <a:cs typeface="맑은 고딕"/>
              </a:rPr>
              <a:t>축 a 의 위치 3a, 속도 3a+1, 가속도 3a+2</a:t>
            </a:r>
          </a:p>
          <a:p>
            <a:pPr algn="l">
              <a:lnSpc>
                <a:spcPct val="110000"/>
              </a:lnSpc>
            </a:pPr>
            <a:r>
              <a:rPr sz="1000" b="0">
                <a:solidFill>
                  <a:srgbClr val="4A5A7A"/>
                </a:solidFill>
                <a:latin typeface="맑은 고딕"/>
                <a:ea typeface="맑은 고딕"/>
                <a:cs typeface="맑은 고딕"/>
              </a:rPr>
              <a:t>x 북 0 ~ 2,  y 동 3 ~ 5,  z 아래 6 ~ 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03. 구현</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3.8 트랙 스코어 로직 (f_Trk_UpdateState)</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상태마다 case 하나씩입니다. 임시는 TrackScore 로, 확정 · 메모리는 MemoryScore 로 다음 상태를 정합니다.</a:t>
            </a:r>
            <a:endParaRPr lang="en-US" sz="1250" dirty="0"/>
          </a:p>
        </p:txBody>
      </p:sp>
      <p:sp>
        <p:nvSpPr>
          <p:cNvPr id="5" name="TextBox 4"/>
          <p:cNvSpPr txBox="1"/>
          <p:nvPr/>
        </p:nvSpPr>
        <p:spPr>
          <a:xfrm>
            <a:off x="6675120" y="1216152"/>
            <a:ext cx="4873752" cy="438912"/>
          </a:xfrm>
          <a:prstGeom prst="rect">
            <a:avLst/>
          </a:prstGeom>
          <a:noFill/>
        </p:spPr>
        <p:txBody>
          <a:bodyPr wrap="square" lIns="0" tIns="0" rIns="0" bIns="0" anchor="ctr">
            <a:spAutoFit/>
          </a:bodyPr>
          <a:lstStyle/>
          <a:p>
            <a:pPr algn="r"/>
            <a:r>
              <a:rPr sz="1000" b="0">
                <a:solidFill>
                  <a:srgbClr val="8794AC"/>
                </a:solidFill>
                <a:latin typeface="Consolas"/>
                <a:ea typeface="Consolas"/>
                <a:cs typeface="Consolas"/>
              </a:rPr>
              <a:t>TargetSimCore/src/TrackMgr.c</a:t>
            </a:r>
          </a:p>
        </p:txBody>
      </p:sp>
      <p:sp>
        <p:nvSpPr>
          <p:cNvPr id="6"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7" name="TextBox 6"/>
          <p:cNvSpPr txBox="1"/>
          <p:nvPr/>
        </p:nvSpPr>
        <p:spPr>
          <a:xfrm>
            <a:off x="640080" y="2231136"/>
            <a:ext cx="5486400"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임시 트랙</a:t>
            </a:r>
          </a:p>
        </p:txBody>
      </p:sp>
      <p:sp>
        <p:nvSpPr>
          <p:cNvPr id="8" name="Rectangle 7"/>
          <p:cNvSpPr/>
          <p:nvPr/>
        </p:nvSpPr>
        <p:spPr>
          <a:xfrm>
            <a:off x="640080" y="2487168"/>
            <a:ext cx="5532120" cy="2793492"/>
          </a:xfrm>
          <a:prstGeom prst="rect">
            <a:avLst/>
          </a:prstGeom>
          <a:solidFill>
            <a:srgbClr val="FFFFFF"/>
          </a:solidFill>
          <a:ln w="9525">
            <a:solidFill>
              <a:srgbClr val="D2D9E5"/>
            </a:solidFill>
          </a:ln>
        </p:spPr>
        <p:txBody>
          <a:bodyPr rtlCol="0" anchor="ctr"/>
          <a:lstStyle/>
          <a:p>
            <a:pPr algn="ctr"/>
          </a:p>
        </p:txBody>
      </p:sp>
      <p:sp>
        <p:nvSpPr>
          <p:cNvPr id="9" name="Rectangle 8"/>
          <p:cNvSpPr/>
          <p:nvPr/>
        </p:nvSpPr>
        <p:spPr>
          <a:xfrm>
            <a:off x="667512" y="3358591"/>
            <a:ext cx="5477256" cy="114300"/>
          </a:xfrm>
          <a:prstGeom prst="rect">
            <a:avLst/>
          </a:prstGeom>
          <a:solidFill>
            <a:srgbClr val="FDEEEE"/>
          </a:solidFill>
          <a:ln>
            <a:noFill/>
          </a:ln>
        </p:spPr>
        <p:txBody>
          <a:bodyPr rtlCol="0" anchor="ctr"/>
          <a:lstStyle/>
          <a:p>
            <a:pPr algn="ctr"/>
          </a:p>
        </p:txBody>
      </p:sp>
      <p:sp>
        <p:nvSpPr>
          <p:cNvPr id="10" name="Rectangle 9"/>
          <p:cNvSpPr/>
          <p:nvPr/>
        </p:nvSpPr>
        <p:spPr>
          <a:xfrm>
            <a:off x="667512" y="3358591"/>
            <a:ext cx="36576" cy="114300"/>
          </a:xfrm>
          <a:prstGeom prst="rect">
            <a:avLst/>
          </a:prstGeom>
          <a:solidFill>
            <a:srgbClr val="DC2626"/>
          </a:solidFill>
          <a:ln>
            <a:noFill/>
          </a:ln>
        </p:spPr>
        <p:txBody>
          <a:bodyPr rtlCol="0" anchor="ctr"/>
          <a:lstStyle/>
          <a:p>
            <a:pPr algn="ctr"/>
          </a:p>
        </p:txBody>
      </p:sp>
      <p:sp>
        <p:nvSpPr>
          <p:cNvPr id="11" name="Oval 10"/>
          <p:cNvSpPr/>
          <p:nvPr/>
        </p:nvSpPr>
        <p:spPr>
          <a:xfrm>
            <a:off x="6071616" y="3315157"/>
            <a:ext cx="201168" cy="201168"/>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12" name="Rectangle 11"/>
          <p:cNvSpPr/>
          <p:nvPr/>
        </p:nvSpPr>
        <p:spPr>
          <a:xfrm>
            <a:off x="667512" y="3587191"/>
            <a:ext cx="5477256" cy="457200"/>
          </a:xfrm>
          <a:prstGeom prst="rect">
            <a:avLst/>
          </a:prstGeom>
          <a:solidFill>
            <a:srgbClr val="E6F5EE"/>
          </a:solidFill>
          <a:ln>
            <a:noFill/>
          </a:ln>
        </p:spPr>
        <p:txBody>
          <a:bodyPr rtlCol="0" anchor="ctr"/>
          <a:lstStyle/>
          <a:p>
            <a:pPr algn="ctr"/>
          </a:p>
        </p:txBody>
      </p:sp>
      <p:sp>
        <p:nvSpPr>
          <p:cNvPr id="13" name="Rectangle 12"/>
          <p:cNvSpPr/>
          <p:nvPr/>
        </p:nvSpPr>
        <p:spPr>
          <a:xfrm>
            <a:off x="667512" y="3587191"/>
            <a:ext cx="36576" cy="457200"/>
          </a:xfrm>
          <a:prstGeom prst="rect">
            <a:avLst/>
          </a:prstGeom>
          <a:solidFill>
            <a:srgbClr val="059669"/>
          </a:solidFill>
          <a:ln>
            <a:noFill/>
          </a:ln>
        </p:spPr>
        <p:txBody>
          <a:bodyPr rtlCol="0" anchor="ctr"/>
          <a:lstStyle/>
          <a:p>
            <a:pPr algn="ctr"/>
          </a:p>
        </p:txBody>
      </p:sp>
      <p:sp>
        <p:nvSpPr>
          <p:cNvPr id="14" name="Oval 13"/>
          <p:cNvSpPr/>
          <p:nvPr/>
        </p:nvSpPr>
        <p:spPr>
          <a:xfrm>
            <a:off x="6071616" y="3543757"/>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5" name="Rectangle 14"/>
          <p:cNvSpPr/>
          <p:nvPr/>
        </p:nvSpPr>
        <p:spPr>
          <a:xfrm>
            <a:off x="667512" y="4044391"/>
            <a:ext cx="5477256" cy="457200"/>
          </a:xfrm>
          <a:prstGeom prst="rect">
            <a:avLst/>
          </a:prstGeom>
          <a:solidFill>
            <a:srgbClr val="F2ECFD"/>
          </a:solidFill>
          <a:ln>
            <a:noFill/>
          </a:ln>
        </p:spPr>
        <p:txBody>
          <a:bodyPr rtlCol="0" anchor="ctr"/>
          <a:lstStyle/>
          <a:p>
            <a:pPr algn="ctr"/>
          </a:p>
        </p:txBody>
      </p:sp>
      <p:sp>
        <p:nvSpPr>
          <p:cNvPr id="16" name="Rectangle 15"/>
          <p:cNvSpPr/>
          <p:nvPr/>
        </p:nvSpPr>
        <p:spPr>
          <a:xfrm>
            <a:off x="667512" y="4044391"/>
            <a:ext cx="36576" cy="457200"/>
          </a:xfrm>
          <a:prstGeom prst="rect">
            <a:avLst/>
          </a:prstGeom>
          <a:solidFill>
            <a:srgbClr val="7C3AED"/>
          </a:solidFill>
          <a:ln>
            <a:noFill/>
          </a:ln>
        </p:spPr>
        <p:txBody>
          <a:bodyPr rtlCol="0" anchor="ctr"/>
          <a:lstStyle/>
          <a:p>
            <a:pPr algn="ctr"/>
          </a:p>
        </p:txBody>
      </p:sp>
      <p:sp>
        <p:nvSpPr>
          <p:cNvPr id="17" name="TextBox 16"/>
          <p:cNvSpPr txBox="1"/>
          <p:nvPr/>
        </p:nvSpPr>
        <p:spPr>
          <a:xfrm>
            <a:off x="731519" y="2569464"/>
            <a:ext cx="5303520" cy="2628900"/>
          </a:xfrm>
          <a:prstGeom prst="rect">
            <a:avLst/>
          </a:prstGeom>
          <a:noFill/>
        </p:spPr>
        <p:txBody>
          <a:bodyPr wrap="none" lIns="0" tIns="0" rIns="0" bIns="0" anchor="t">
            <a:spAutoFit/>
          </a:bodyPr>
          <a:lstStyle/>
          <a:p>
            <a:pPr>
              <a:lnSpc>
                <a:spcPts val="900"/>
              </a:lnSpc>
            </a:pPr>
            <a:r>
              <a:rPr sz="760" b="0">
                <a:solidFill>
                  <a:srgbClr val="AEB9CC"/>
                </a:solidFill>
                <a:latin typeface="Consolas"/>
                <a:ea typeface="Consolas"/>
                <a:cs typeface="Consolas"/>
              </a:rPr>
              <a:t>108  </a:t>
            </a:r>
            <a:r>
              <a:rPr sz="760" b="0">
                <a:solidFill>
                  <a:srgbClr val="2563EB"/>
                </a:solidFill>
                <a:latin typeface="Consolas"/>
                <a:ea typeface="Consolas"/>
                <a:cs typeface="Consolas"/>
              </a:rPr>
              <a:t>VOID</a:t>
            </a:r>
            <a:r>
              <a:rPr sz="760" b="0">
                <a:solidFill>
                  <a:srgbClr val="1B2740"/>
                </a:solidFill>
                <a:latin typeface="Consolas"/>
                <a:ea typeface="Consolas"/>
                <a:cs typeface="Consolas"/>
              </a:rPr>
              <a:t> f_Trk_UpdateState(</a:t>
            </a:r>
            <a:r>
              <a:rPr sz="760" b="0">
                <a:solidFill>
                  <a:srgbClr val="2563EB"/>
                </a:solidFill>
                <a:latin typeface="Consolas"/>
                <a:ea typeface="Consolas"/>
                <a:cs typeface="Consolas"/>
              </a:rPr>
              <a:t>ST_Track</a:t>
            </a:r>
            <a:r>
              <a:rPr sz="760" b="0">
                <a:solidFill>
                  <a:srgbClr val="1B2740"/>
                </a:solidFill>
                <a:latin typeface="Consolas"/>
                <a:ea typeface="Consolas"/>
                <a:cs typeface="Consolas"/>
              </a:rPr>
              <a:t> *st_Track)</a:t>
            </a:r>
          </a:p>
          <a:p>
            <a:pPr>
              <a:lnSpc>
                <a:spcPts val="900"/>
              </a:lnSpc>
            </a:pPr>
            <a:r>
              <a:rPr sz="760" b="0">
                <a:solidFill>
                  <a:srgbClr val="AEB9CC"/>
                </a:solidFill>
                <a:latin typeface="Consolas"/>
                <a:ea typeface="Consolas"/>
                <a:cs typeface="Consolas"/>
              </a:rPr>
              <a:t>109  </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110  </a:t>
            </a:r>
            <a:r>
              <a:rPr sz="760" b="0">
                <a:solidFill>
                  <a:srgbClr val="1B2740"/>
                </a:solidFill>
                <a:latin typeface="Consolas"/>
                <a:ea typeface="Consolas"/>
                <a:cs typeface="Consolas"/>
              </a:rPr>
              <a:t>  </a:t>
            </a:r>
            <a:r>
              <a:rPr sz="760" b="0">
                <a:solidFill>
                  <a:srgbClr val="2563EB"/>
                </a:solidFill>
                <a:latin typeface="Consolas"/>
                <a:ea typeface="Consolas"/>
                <a:cs typeface="Consolas"/>
              </a:rPr>
              <a:t>const</a:t>
            </a:r>
            <a:r>
              <a:rPr sz="760" b="0">
                <a:solidFill>
                  <a:srgbClr val="1B2740"/>
                </a:solidFill>
                <a:latin typeface="Consolas"/>
                <a:ea typeface="Consolas"/>
                <a:cs typeface="Consolas"/>
              </a:rPr>
              <a:t> </a:t>
            </a:r>
            <a:r>
              <a:rPr sz="760" b="0">
                <a:solidFill>
                  <a:srgbClr val="2563EB"/>
                </a:solidFill>
                <a:latin typeface="Consolas"/>
                <a:ea typeface="Consolas"/>
                <a:cs typeface="Consolas"/>
              </a:rPr>
              <a:t>INT32</a:t>
            </a:r>
            <a:r>
              <a:rPr sz="760" b="0">
                <a:solidFill>
                  <a:srgbClr val="1B2740"/>
                </a:solidFill>
                <a:latin typeface="Consolas"/>
                <a:ea typeface="Consolas"/>
                <a:cs typeface="Consolas"/>
              </a:rPr>
              <a:t> isAssigned = (st_Track-&gt;Assigned_Flag != </a:t>
            </a:r>
            <a:r>
              <a:rPr sz="760" b="0">
                <a:solidFill>
                  <a:srgbClr val="B45309"/>
                </a:solidFill>
                <a:latin typeface="Consolas"/>
                <a:ea typeface="Consolas"/>
                <a:cs typeface="Consolas"/>
              </a:rPr>
              <a:t>0</a:t>
            </a:r>
            <a:r>
              <a:rPr sz="760" b="0">
                <a:solidFill>
                  <a:srgbClr val="1B2740"/>
                </a:solidFill>
                <a:latin typeface="Consolas"/>
                <a:ea typeface="Consolas"/>
                <a:cs typeface="Consolas"/>
              </a:rPr>
              <a:t>) ? </a:t>
            </a:r>
            <a:r>
              <a:rPr sz="760" b="0">
                <a:solidFill>
                  <a:srgbClr val="B45309"/>
                </a:solidFill>
                <a:latin typeface="Consolas"/>
                <a:ea typeface="Consolas"/>
                <a:cs typeface="Consolas"/>
              </a:rPr>
              <a:t>1</a:t>
            </a:r>
            <a:r>
              <a:rPr sz="760" b="0">
                <a:solidFill>
                  <a:srgbClr val="1B2740"/>
                </a:solidFill>
                <a:latin typeface="Consolas"/>
                <a:ea typeface="Consolas"/>
                <a:cs typeface="Consolas"/>
              </a:rPr>
              <a:t> : </a:t>
            </a:r>
            <a:r>
              <a:rPr sz="760" b="0">
                <a:solidFill>
                  <a:srgbClr val="B45309"/>
                </a:solidFill>
                <a:latin typeface="Consolas"/>
                <a:ea typeface="Consolas"/>
                <a:cs typeface="Consolas"/>
              </a:rPr>
              <a:t>0</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111  </a:t>
            </a:r>
          </a:p>
          <a:p>
            <a:pPr>
              <a:lnSpc>
                <a:spcPts val="900"/>
              </a:lnSpc>
            </a:pPr>
            <a:r>
              <a:rPr sz="760" b="0">
                <a:solidFill>
                  <a:srgbClr val="AEB9CC"/>
                </a:solidFill>
                <a:latin typeface="Consolas"/>
                <a:ea typeface="Consolas"/>
                <a:cs typeface="Consolas"/>
              </a:rPr>
              <a:t>112  </a:t>
            </a:r>
            <a:r>
              <a:rPr sz="760" b="0">
                <a:solidFill>
                  <a:srgbClr val="1B2740"/>
                </a:solidFill>
                <a:latin typeface="Consolas"/>
                <a:ea typeface="Consolas"/>
                <a:cs typeface="Consolas"/>
              </a:rPr>
              <a:t>  </a:t>
            </a:r>
            <a:r>
              <a:rPr sz="760" b="0">
                <a:solidFill>
                  <a:srgbClr val="2563EB"/>
                </a:solidFill>
                <a:latin typeface="Consolas"/>
                <a:ea typeface="Consolas"/>
                <a:cs typeface="Consolas"/>
              </a:rPr>
              <a:t>switch</a:t>
            </a:r>
            <a:r>
              <a:rPr sz="760" b="0">
                <a:solidFill>
                  <a:srgbClr val="1B2740"/>
                </a:solidFill>
                <a:latin typeface="Consolas"/>
                <a:ea typeface="Consolas"/>
                <a:cs typeface="Consolas"/>
              </a:rPr>
              <a:t> (st_Track-&gt;TrackState)</a:t>
            </a:r>
          </a:p>
          <a:p>
            <a:pPr>
              <a:lnSpc>
                <a:spcPts val="900"/>
              </a:lnSpc>
            </a:pPr>
            <a:r>
              <a:rPr sz="760" b="0">
                <a:solidFill>
                  <a:srgbClr val="AEB9CC"/>
                </a:solidFill>
                <a:latin typeface="Consolas"/>
                <a:ea typeface="Consolas"/>
                <a:cs typeface="Consolas"/>
              </a:rPr>
              <a:t>113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114  </a:t>
            </a:r>
            <a:r>
              <a:rPr sz="760" b="0">
                <a:solidFill>
                  <a:srgbClr val="1B2740"/>
                </a:solidFill>
                <a:latin typeface="Consolas"/>
                <a:ea typeface="Consolas"/>
                <a:cs typeface="Consolas"/>
              </a:rPr>
              <a:t>  </a:t>
            </a:r>
            <a:r>
              <a:rPr sz="760" b="0">
                <a:solidFill>
                  <a:srgbClr val="2563EB"/>
                </a:solidFill>
                <a:latin typeface="Consolas"/>
                <a:ea typeface="Consolas"/>
                <a:cs typeface="Consolas"/>
              </a:rPr>
              <a:t>case</a:t>
            </a:r>
            <a:r>
              <a:rPr sz="760" b="0">
                <a:solidFill>
                  <a:srgbClr val="1B2740"/>
                </a:solidFill>
                <a:latin typeface="Consolas"/>
                <a:ea typeface="Consolas"/>
                <a:cs typeface="Consolas"/>
              </a:rPr>
              <a:t> </a:t>
            </a:r>
            <a:r>
              <a:rPr sz="760" b="0">
                <a:solidFill>
                  <a:srgbClr val="7C3AED"/>
                </a:solidFill>
                <a:latin typeface="Consolas"/>
                <a:ea typeface="Consolas"/>
                <a:cs typeface="Consolas"/>
              </a:rPr>
              <a:t>TRK_STATE_TENTATIVE</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115  </a:t>
            </a:r>
            <a:r>
              <a:rPr sz="760" b="0">
                <a:solidFill>
                  <a:srgbClr val="1B2740"/>
                </a:solidFill>
                <a:latin typeface="Consolas"/>
                <a:ea typeface="Consolas"/>
                <a:cs typeface="Consolas"/>
              </a:rPr>
              <a:t>    st_Track-&gt;TrackScore = st_Track-&gt;TrackScore + ((isAssigned != </a:t>
            </a:r>
            <a:r>
              <a:rPr sz="760" b="0">
                <a:solidFill>
                  <a:srgbClr val="B45309"/>
                </a:solidFill>
                <a:latin typeface="Consolas"/>
                <a:ea typeface="Consolas"/>
                <a:cs typeface="Consolas"/>
              </a:rPr>
              <a:t>0</a:t>
            </a:r>
            <a:r>
              <a:rPr sz="760" b="0">
                <a:solidFill>
                  <a:srgbClr val="1B2740"/>
                </a:solidFill>
                <a:latin typeface="Consolas"/>
                <a:ea typeface="Consolas"/>
                <a:cs typeface="Consolas"/>
              </a:rPr>
              <a:t>) ? </a:t>
            </a:r>
            <a:r>
              <a:rPr sz="760" b="0">
                <a:solidFill>
                  <a:srgbClr val="B45309"/>
                </a:solidFill>
                <a:latin typeface="Consolas"/>
                <a:ea typeface="Consolas"/>
                <a:cs typeface="Consolas"/>
              </a:rPr>
              <a:t>1</a:t>
            </a:r>
            <a:r>
              <a:rPr sz="760" b="0">
                <a:solidFill>
                  <a:srgbClr val="1B2740"/>
                </a:solidFill>
                <a:latin typeface="Consolas"/>
                <a:ea typeface="Consolas"/>
                <a:cs typeface="Consolas"/>
              </a:rPr>
              <a:t> : -</a:t>
            </a:r>
            <a:r>
              <a:rPr sz="760" b="0">
                <a:solidFill>
                  <a:srgbClr val="B45309"/>
                </a:solidFill>
                <a:latin typeface="Consolas"/>
                <a:ea typeface="Consolas"/>
                <a:cs typeface="Consolas"/>
              </a:rPr>
              <a:t>1</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116  </a:t>
            </a:r>
          </a:p>
          <a:p>
            <a:pPr>
              <a:lnSpc>
                <a:spcPts val="900"/>
              </a:lnSpc>
            </a:pPr>
            <a:r>
              <a:rPr sz="760" b="0">
                <a:solidFill>
                  <a:srgbClr val="AEB9CC"/>
                </a:solidFill>
                <a:latin typeface="Consolas"/>
                <a:ea typeface="Consolas"/>
                <a:cs typeface="Consolas"/>
              </a:rPr>
              <a:t>117  </a:t>
            </a:r>
            <a:r>
              <a:rPr sz="760" b="0">
                <a:solidFill>
                  <a:srgbClr val="1B2740"/>
                </a:solidFill>
                <a:latin typeface="Consolas"/>
                <a:ea typeface="Consolas"/>
                <a:cs typeface="Consolas"/>
              </a:rPr>
              <a:t>    </a:t>
            </a:r>
            <a:r>
              <a:rPr sz="760" b="0">
                <a:solidFill>
                  <a:srgbClr val="2563EB"/>
                </a:solidFill>
                <a:latin typeface="Consolas"/>
                <a:ea typeface="Consolas"/>
                <a:cs typeface="Consolas"/>
              </a:rPr>
              <a:t>if</a:t>
            </a:r>
            <a:r>
              <a:rPr sz="760" b="0">
                <a:solidFill>
                  <a:srgbClr val="1B2740"/>
                </a:solidFill>
                <a:latin typeface="Consolas"/>
                <a:ea typeface="Consolas"/>
                <a:cs typeface="Consolas"/>
              </a:rPr>
              <a:t> (st_Track-&gt;TrackScore &gt;= </a:t>
            </a:r>
            <a:r>
              <a:rPr sz="760" b="0">
                <a:solidFill>
                  <a:srgbClr val="7C3AED"/>
                </a:solidFill>
                <a:latin typeface="Consolas"/>
                <a:ea typeface="Consolas"/>
                <a:cs typeface="Consolas"/>
              </a:rPr>
              <a:t>TRK_SCORE_CONFIRM</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118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119  </a:t>
            </a:r>
            <a:r>
              <a:rPr sz="760" b="0">
                <a:solidFill>
                  <a:srgbClr val="1B2740"/>
                </a:solidFill>
                <a:latin typeface="Consolas"/>
                <a:ea typeface="Consolas"/>
                <a:cs typeface="Consolas"/>
              </a:rPr>
              <a:t>      st_Track-&gt;TrackState = </a:t>
            </a:r>
            <a:r>
              <a:rPr sz="760" b="0">
                <a:solidFill>
                  <a:srgbClr val="7C3AED"/>
                </a:solidFill>
                <a:latin typeface="Consolas"/>
                <a:ea typeface="Consolas"/>
                <a:cs typeface="Consolas"/>
              </a:rPr>
              <a:t>TRK_STATE_CONFIRMED</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120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121  </a:t>
            </a:r>
            <a:r>
              <a:rPr sz="760" b="0">
                <a:solidFill>
                  <a:srgbClr val="1B2740"/>
                </a:solidFill>
                <a:latin typeface="Consolas"/>
                <a:ea typeface="Consolas"/>
                <a:cs typeface="Consolas"/>
              </a:rPr>
              <a:t>    </a:t>
            </a:r>
            <a:r>
              <a:rPr sz="760" b="0">
                <a:solidFill>
                  <a:srgbClr val="2563EB"/>
                </a:solidFill>
                <a:latin typeface="Consolas"/>
                <a:ea typeface="Consolas"/>
                <a:cs typeface="Consolas"/>
              </a:rPr>
              <a:t>else</a:t>
            </a:r>
            <a:r>
              <a:rPr sz="760" b="0">
                <a:solidFill>
                  <a:srgbClr val="1B2740"/>
                </a:solidFill>
                <a:latin typeface="Consolas"/>
                <a:ea typeface="Consolas"/>
                <a:cs typeface="Consolas"/>
              </a:rPr>
              <a:t> </a:t>
            </a:r>
            <a:r>
              <a:rPr sz="760" b="0">
                <a:solidFill>
                  <a:srgbClr val="2563EB"/>
                </a:solidFill>
                <a:latin typeface="Consolas"/>
                <a:ea typeface="Consolas"/>
                <a:cs typeface="Consolas"/>
              </a:rPr>
              <a:t>if</a:t>
            </a:r>
            <a:r>
              <a:rPr sz="760" b="0">
                <a:solidFill>
                  <a:srgbClr val="1B2740"/>
                </a:solidFill>
                <a:latin typeface="Consolas"/>
                <a:ea typeface="Consolas"/>
                <a:cs typeface="Consolas"/>
              </a:rPr>
              <a:t> (st_Track-&gt;TrackScore &lt;= </a:t>
            </a:r>
            <a:r>
              <a:rPr sz="760" b="0">
                <a:solidFill>
                  <a:srgbClr val="7C3AED"/>
                </a:solidFill>
                <a:latin typeface="Consolas"/>
                <a:ea typeface="Consolas"/>
                <a:cs typeface="Consolas"/>
              </a:rPr>
              <a:t>TRK_SCORE_DELETE</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122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123  </a:t>
            </a:r>
            <a:r>
              <a:rPr sz="760" b="0">
                <a:solidFill>
                  <a:srgbClr val="1B2740"/>
                </a:solidFill>
                <a:latin typeface="Consolas"/>
                <a:ea typeface="Consolas"/>
                <a:cs typeface="Consolas"/>
              </a:rPr>
              <a:t>      st_Track-&gt;TrackState = </a:t>
            </a:r>
            <a:r>
              <a:rPr sz="760" b="0">
                <a:solidFill>
                  <a:srgbClr val="7C3AED"/>
                </a:solidFill>
                <a:latin typeface="Consolas"/>
                <a:ea typeface="Consolas"/>
                <a:cs typeface="Consolas"/>
              </a:rPr>
              <a:t>TRK_STATE_DELETED</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124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125  </a:t>
            </a:r>
            <a:r>
              <a:rPr sz="760" b="0">
                <a:solidFill>
                  <a:srgbClr val="1B2740"/>
                </a:solidFill>
                <a:latin typeface="Consolas"/>
                <a:ea typeface="Consolas"/>
                <a:cs typeface="Consolas"/>
              </a:rPr>
              <a:t>    </a:t>
            </a:r>
            <a:r>
              <a:rPr sz="760" b="0">
                <a:solidFill>
                  <a:srgbClr val="2563EB"/>
                </a:solidFill>
                <a:latin typeface="Consolas"/>
                <a:ea typeface="Consolas"/>
                <a:cs typeface="Consolas"/>
              </a:rPr>
              <a:t>else</a:t>
            </a:r>
          </a:p>
          <a:p>
            <a:pPr>
              <a:lnSpc>
                <a:spcPts val="900"/>
              </a:lnSpc>
            </a:pPr>
            <a:r>
              <a:rPr sz="760" b="0">
                <a:solidFill>
                  <a:srgbClr val="AEB9CC"/>
                </a:solidFill>
                <a:latin typeface="Consolas"/>
                <a:ea typeface="Consolas"/>
                <a:cs typeface="Consolas"/>
              </a:rPr>
              <a:t>126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127  </a:t>
            </a:r>
            <a:r>
              <a:rPr sz="760" b="0">
                <a:solidFill>
                  <a:srgbClr val="1B2740"/>
                </a:solidFill>
                <a:latin typeface="Consolas"/>
                <a:ea typeface="Consolas"/>
                <a:cs typeface="Consolas"/>
              </a:rPr>
              <a:t>      </a:t>
            </a:r>
            <a:r>
              <a:rPr sz="760" b="0">
                <a:solidFill>
                  <a:srgbClr val="059669"/>
                </a:solidFill>
                <a:latin typeface="맑은 고딕"/>
                <a:ea typeface="맑은 고딕"/>
                <a:cs typeface="맑은 고딕"/>
              </a:rPr>
              <a:t>// 임시 트랙 유지</a:t>
            </a:r>
          </a:p>
          <a:p>
            <a:pPr>
              <a:lnSpc>
                <a:spcPts val="900"/>
              </a:lnSpc>
            </a:pPr>
            <a:r>
              <a:rPr sz="760" b="0">
                <a:solidFill>
                  <a:srgbClr val="AEB9CC"/>
                </a:solidFill>
                <a:latin typeface="Consolas"/>
                <a:ea typeface="Consolas"/>
                <a:cs typeface="Consolas"/>
              </a:rPr>
              <a:t>128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129  </a:t>
            </a:r>
            <a:r>
              <a:rPr sz="760" b="0">
                <a:solidFill>
                  <a:srgbClr val="1B2740"/>
                </a:solidFill>
                <a:latin typeface="Consolas"/>
                <a:ea typeface="Consolas"/>
                <a:cs typeface="Consolas"/>
              </a:rPr>
              <a:t>    </a:t>
            </a:r>
            <a:r>
              <a:rPr sz="760" b="0">
                <a:solidFill>
                  <a:srgbClr val="2563EB"/>
                </a:solidFill>
                <a:latin typeface="Consolas"/>
                <a:ea typeface="Consolas"/>
                <a:cs typeface="Consolas"/>
              </a:rPr>
              <a:t>break</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130  </a:t>
            </a:r>
          </a:p>
        </p:txBody>
      </p:sp>
      <p:sp>
        <p:nvSpPr>
          <p:cNvPr id="18" name="TextBox 17"/>
          <p:cNvSpPr txBox="1"/>
          <p:nvPr/>
        </p:nvSpPr>
        <p:spPr>
          <a:xfrm>
            <a:off x="6355080" y="2231136"/>
            <a:ext cx="5212080"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확정 트랙, 메모리 트랙</a:t>
            </a:r>
          </a:p>
        </p:txBody>
      </p:sp>
      <p:sp>
        <p:nvSpPr>
          <p:cNvPr id="19" name="Rectangle 18"/>
          <p:cNvSpPr/>
          <p:nvPr/>
        </p:nvSpPr>
        <p:spPr>
          <a:xfrm>
            <a:off x="6355080" y="2487168"/>
            <a:ext cx="5193792" cy="3022092"/>
          </a:xfrm>
          <a:prstGeom prst="rect">
            <a:avLst/>
          </a:prstGeom>
          <a:solidFill>
            <a:srgbClr val="FFFFFF"/>
          </a:solidFill>
          <a:ln w="9525">
            <a:solidFill>
              <a:srgbClr val="D2D9E5"/>
            </a:solidFill>
          </a:ln>
        </p:spPr>
        <p:txBody>
          <a:bodyPr rtlCol="0" anchor="ctr"/>
          <a:lstStyle/>
          <a:p>
            <a:pPr algn="ctr"/>
          </a:p>
        </p:txBody>
      </p:sp>
      <p:sp>
        <p:nvSpPr>
          <p:cNvPr id="20" name="Rectangle 19"/>
          <p:cNvSpPr/>
          <p:nvPr/>
        </p:nvSpPr>
        <p:spPr>
          <a:xfrm>
            <a:off x="6382512" y="2901391"/>
            <a:ext cx="5138928" cy="228600"/>
          </a:xfrm>
          <a:prstGeom prst="rect">
            <a:avLst/>
          </a:prstGeom>
          <a:solidFill>
            <a:srgbClr val="F2ECFD"/>
          </a:solidFill>
          <a:ln>
            <a:noFill/>
          </a:ln>
        </p:spPr>
        <p:txBody>
          <a:bodyPr rtlCol="0" anchor="ctr"/>
          <a:lstStyle/>
          <a:p>
            <a:pPr algn="ctr"/>
          </a:p>
        </p:txBody>
      </p:sp>
      <p:sp>
        <p:nvSpPr>
          <p:cNvPr id="21" name="Rectangle 20"/>
          <p:cNvSpPr/>
          <p:nvPr/>
        </p:nvSpPr>
        <p:spPr>
          <a:xfrm>
            <a:off x="6382512" y="2901391"/>
            <a:ext cx="36576" cy="228600"/>
          </a:xfrm>
          <a:prstGeom prst="rect">
            <a:avLst/>
          </a:prstGeom>
          <a:solidFill>
            <a:srgbClr val="7C3AED"/>
          </a:solidFill>
          <a:ln>
            <a:noFill/>
          </a:ln>
        </p:spPr>
        <p:txBody>
          <a:bodyPr rtlCol="0" anchor="ctr"/>
          <a:lstStyle/>
          <a:p>
            <a:pPr algn="ctr"/>
          </a:p>
        </p:txBody>
      </p:sp>
      <p:sp>
        <p:nvSpPr>
          <p:cNvPr id="22" name="Oval 21"/>
          <p:cNvSpPr/>
          <p:nvPr/>
        </p:nvSpPr>
        <p:spPr>
          <a:xfrm>
            <a:off x="11448288" y="2857957"/>
            <a:ext cx="201168" cy="201168"/>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23" name="Rectangle 22"/>
          <p:cNvSpPr/>
          <p:nvPr/>
        </p:nvSpPr>
        <p:spPr>
          <a:xfrm>
            <a:off x="6382512" y="3815791"/>
            <a:ext cx="5138928" cy="228600"/>
          </a:xfrm>
          <a:prstGeom prst="rect">
            <a:avLst/>
          </a:prstGeom>
          <a:solidFill>
            <a:srgbClr val="E6F5EE"/>
          </a:solidFill>
          <a:ln>
            <a:noFill/>
          </a:ln>
        </p:spPr>
        <p:txBody>
          <a:bodyPr rtlCol="0" anchor="ctr"/>
          <a:lstStyle/>
          <a:p>
            <a:pPr algn="ctr"/>
          </a:p>
        </p:txBody>
      </p:sp>
      <p:sp>
        <p:nvSpPr>
          <p:cNvPr id="24" name="Rectangle 23"/>
          <p:cNvSpPr/>
          <p:nvPr/>
        </p:nvSpPr>
        <p:spPr>
          <a:xfrm>
            <a:off x="6382512" y="3815791"/>
            <a:ext cx="36576" cy="228600"/>
          </a:xfrm>
          <a:prstGeom prst="rect">
            <a:avLst/>
          </a:prstGeom>
          <a:solidFill>
            <a:srgbClr val="059669"/>
          </a:solidFill>
          <a:ln>
            <a:noFill/>
          </a:ln>
        </p:spPr>
        <p:txBody>
          <a:bodyPr rtlCol="0" anchor="ctr"/>
          <a:lstStyle/>
          <a:p>
            <a:pPr algn="ctr"/>
          </a:p>
        </p:txBody>
      </p:sp>
      <p:sp>
        <p:nvSpPr>
          <p:cNvPr id="25" name="Oval 24"/>
          <p:cNvSpPr/>
          <p:nvPr/>
        </p:nvSpPr>
        <p:spPr>
          <a:xfrm>
            <a:off x="11448288" y="3772357"/>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26" name="Rectangle 25"/>
          <p:cNvSpPr/>
          <p:nvPr/>
        </p:nvSpPr>
        <p:spPr>
          <a:xfrm>
            <a:off x="6382512" y="4615891"/>
            <a:ext cx="5138928" cy="457200"/>
          </a:xfrm>
          <a:prstGeom prst="rect">
            <a:avLst/>
          </a:prstGeom>
          <a:solidFill>
            <a:srgbClr val="EAF1FD"/>
          </a:solidFill>
          <a:ln>
            <a:noFill/>
          </a:ln>
        </p:spPr>
        <p:txBody>
          <a:bodyPr rtlCol="0" anchor="ctr"/>
          <a:lstStyle/>
          <a:p>
            <a:pPr algn="ctr"/>
          </a:p>
        </p:txBody>
      </p:sp>
      <p:sp>
        <p:nvSpPr>
          <p:cNvPr id="27" name="Rectangle 26"/>
          <p:cNvSpPr/>
          <p:nvPr/>
        </p:nvSpPr>
        <p:spPr>
          <a:xfrm>
            <a:off x="6382512" y="4615891"/>
            <a:ext cx="36576" cy="457200"/>
          </a:xfrm>
          <a:prstGeom prst="rect">
            <a:avLst/>
          </a:prstGeom>
          <a:solidFill>
            <a:srgbClr val="2563EB"/>
          </a:solidFill>
          <a:ln>
            <a:noFill/>
          </a:ln>
        </p:spPr>
        <p:txBody>
          <a:bodyPr rtlCol="0" anchor="ctr"/>
          <a:lstStyle/>
          <a:p>
            <a:pPr algn="ctr"/>
          </a:p>
        </p:txBody>
      </p:sp>
      <p:sp>
        <p:nvSpPr>
          <p:cNvPr id="28" name="Oval 27"/>
          <p:cNvSpPr/>
          <p:nvPr/>
        </p:nvSpPr>
        <p:spPr>
          <a:xfrm>
            <a:off x="11448288" y="4572457"/>
            <a:ext cx="201168" cy="201168"/>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29" name="TextBox 28"/>
          <p:cNvSpPr txBox="1"/>
          <p:nvPr/>
        </p:nvSpPr>
        <p:spPr>
          <a:xfrm>
            <a:off x="6446520" y="2569464"/>
            <a:ext cx="4965192" cy="2857500"/>
          </a:xfrm>
          <a:prstGeom prst="rect">
            <a:avLst/>
          </a:prstGeom>
          <a:noFill/>
        </p:spPr>
        <p:txBody>
          <a:bodyPr wrap="none" lIns="0" tIns="0" rIns="0" bIns="0" anchor="t">
            <a:spAutoFit/>
          </a:bodyPr>
          <a:lstStyle/>
          <a:p>
            <a:pPr>
              <a:lnSpc>
                <a:spcPts val="900"/>
              </a:lnSpc>
            </a:pPr>
            <a:r>
              <a:rPr sz="760" b="0">
                <a:solidFill>
                  <a:srgbClr val="AEB9CC"/>
                </a:solidFill>
                <a:latin typeface="Consolas"/>
                <a:ea typeface="Consolas"/>
                <a:cs typeface="Consolas"/>
              </a:rPr>
              <a:t>131  </a:t>
            </a:r>
            <a:r>
              <a:rPr sz="760" b="0">
                <a:solidFill>
                  <a:srgbClr val="1B2740"/>
                </a:solidFill>
                <a:latin typeface="Consolas"/>
                <a:ea typeface="Consolas"/>
                <a:cs typeface="Consolas"/>
              </a:rPr>
              <a:t>  </a:t>
            </a:r>
            <a:r>
              <a:rPr sz="760" b="0">
                <a:solidFill>
                  <a:srgbClr val="2563EB"/>
                </a:solidFill>
                <a:latin typeface="Consolas"/>
                <a:ea typeface="Consolas"/>
                <a:cs typeface="Consolas"/>
              </a:rPr>
              <a:t>case</a:t>
            </a:r>
            <a:r>
              <a:rPr sz="760" b="0">
                <a:solidFill>
                  <a:srgbClr val="1B2740"/>
                </a:solidFill>
                <a:latin typeface="Consolas"/>
                <a:ea typeface="Consolas"/>
                <a:cs typeface="Consolas"/>
              </a:rPr>
              <a:t> </a:t>
            </a:r>
            <a:r>
              <a:rPr sz="760" b="0">
                <a:solidFill>
                  <a:srgbClr val="7C3AED"/>
                </a:solidFill>
                <a:latin typeface="Consolas"/>
                <a:ea typeface="Consolas"/>
                <a:cs typeface="Consolas"/>
              </a:rPr>
              <a:t>TRK_STATE_CONFIRMED</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132  </a:t>
            </a:r>
            <a:r>
              <a:rPr sz="760" b="0">
                <a:solidFill>
                  <a:srgbClr val="1B2740"/>
                </a:solidFill>
                <a:latin typeface="Consolas"/>
                <a:ea typeface="Consolas"/>
                <a:cs typeface="Consolas"/>
              </a:rPr>
              <a:t>    </a:t>
            </a:r>
            <a:r>
              <a:rPr sz="760" b="0">
                <a:solidFill>
                  <a:srgbClr val="2563EB"/>
                </a:solidFill>
                <a:latin typeface="Consolas"/>
                <a:ea typeface="Consolas"/>
                <a:cs typeface="Consolas"/>
              </a:rPr>
              <a:t>if</a:t>
            </a:r>
            <a:r>
              <a:rPr sz="760" b="0">
                <a:solidFill>
                  <a:srgbClr val="1B2740"/>
                </a:solidFill>
                <a:latin typeface="Consolas"/>
                <a:ea typeface="Consolas"/>
                <a:cs typeface="Consolas"/>
              </a:rPr>
              <a:t> (isAssigned == </a:t>
            </a:r>
            <a:r>
              <a:rPr sz="760" b="0">
                <a:solidFill>
                  <a:srgbClr val="B45309"/>
                </a:solidFill>
                <a:latin typeface="Consolas"/>
                <a:ea typeface="Consolas"/>
                <a:cs typeface="Consolas"/>
              </a:rPr>
              <a:t>0</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133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134  </a:t>
            </a:r>
            <a:r>
              <a:rPr sz="760" b="0">
                <a:solidFill>
                  <a:srgbClr val="1B2740"/>
                </a:solidFill>
                <a:latin typeface="Consolas"/>
                <a:ea typeface="Consolas"/>
                <a:cs typeface="Consolas"/>
              </a:rPr>
              <a:t>      st_Track-&gt;TrackState  = </a:t>
            </a:r>
            <a:r>
              <a:rPr sz="760" b="0">
                <a:solidFill>
                  <a:srgbClr val="7C3AED"/>
                </a:solidFill>
                <a:latin typeface="Consolas"/>
                <a:ea typeface="Consolas"/>
                <a:cs typeface="Consolas"/>
              </a:rPr>
              <a:t>TRK_STATE_MEMORY</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135  </a:t>
            </a:r>
            <a:r>
              <a:rPr sz="760" b="0">
                <a:solidFill>
                  <a:srgbClr val="1B2740"/>
                </a:solidFill>
                <a:latin typeface="Consolas"/>
                <a:ea typeface="Consolas"/>
                <a:cs typeface="Consolas"/>
              </a:rPr>
              <a:t>      st_Track-&gt;MemoryScore  = st_Track-&gt;MemoryScore + </a:t>
            </a:r>
            <a:r>
              <a:rPr sz="760" b="0">
                <a:solidFill>
                  <a:srgbClr val="B45309"/>
                </a:solidFill>
                <a:latin typeface="Consolas"/>
                <a:ea typeface="Consolas"/>
                <a:cs typeface="Consolas"/>
              </a:rPr>
              <a:t>1</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136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137  </a:t>
            </a:r>
            <a:r>
              <a:rPr sz="760" b="0">
                <a:solidFill>
                  <a:srgbClr val="1B2740"/>
                </a:solidFill>
                <a:latin typeface="Consolas"/>
                <a:ea typeface="Consolas"/>
                <a:cs typeface="Consolas"/>
              </a:rPr>
              <a:t>    </a:t>
            </a:r>
            <a:r>
              <a:rPr sz="760" b="0">
                <a:solidFill>
                  <a:srgbClr val="2563EB"/>
                </a:solidFill>
                <a:latin typeface="Consolas"/>
                <a:ea typeface="Consolas"/>
                <a:cs typeface="Consolas"/>
              </a:rPr>
              <a:t>break</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138  </a:t>
            </a:r>
          </a:p>
          <a:p>
            <a:pPr>
              <a:lnSpc>
                <a:spcPts val="900"/>
              </a:lnSpc>
            </a:pPr>
            <a:r>
              <a:rPr sz="760" b="0">
                <a:solidFill>
                  <a:srgbClr val="AEB9CC"/>
                </a:solidFill>
                <a:latin typeface="Consolas"/>
                <a:ea typeface="Consolas"/>
                <a:cs typeface="Consolas"/>
              </a:rPr>
              <a:t>139  </a:t>
            </a:r>
            <a:r>
              <a:rPr sz="760" b="0">
                <a:solidFill>
                  <a:srgbClr val="1B2740"/>
                </a:solidFill>
                <a:latin typeface="Consolas"/>
                <a:ea typeface="Consolas"/>
                <a:cs typeface="Consolas"/>
              </a:rPr>
              <a:t>  </a:t>
            </a:r>
            <a:r>
              <a:rPr sz="760" b="0">
                <a:solidFill>
                  <a:srgbClr val="2563EB"/>
                </a:solidFill>
                <a:latin typeface="Consolas"/>
                <a:ea typeface="Consolas"/>
                <a:cs typeface="Consolas"/>
              </a:rPr>
              <a:t>case</a:t>
            </a:r>
            <a:r>
              <a:rPr sz="760" b="0">
                <a:solidFill>
                  <a:srgbClr val="1B2740"/>
                </a:solidFill>
                <a:latin typeface="Consolas"/>
                <a:ea typeface="Consolas"/>
                <a:cs typeface="Consolas"/>
              </a:rPr>
              <a:t> </a:t>
            </a:r>
            <a:r>
              <a:rPr sz="760" b="0">
                <a:solidFill>
                  <a:srgbClr val="7C3AED"/>
                </a:solidFill>
                <a:latin typeface="Consolas"/>
                <a:ea typeface="Consolas"/>
                <a:cs typeface="Consolas"/>
              </a:rPr>
              <a:t>TRK_STATE_MEMORY</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140  </a:t>
            </a:r>
            <a:r>
              <a:rPr sz="760" b="0">
                <a:solidFill>
                  <a:srgbClr val="1B2740"/>
                </a:solidFill>
                <a:latin typeface="Consolas"/>
                <a:ea typeface="Consolas"/>
                <a:cs typeface="Consolas"/>
              </a:rPr>
              <a:t>    </a:t>
            </a:r>
            <a:r>
              <a:rPr sz="760" b="0">
                <a:solidFill>
                  <a:srgbClr val="2563EB"/>
                </a:solidFill>
                <a:latin typeface="Consolas"/>
                <a:ea typeface="Consolas"/>
                <a:cs typeface="Consolas"/>
              </a:rPr>
              <a:t>if</a:t>
            </a:r>
            <a:r>
              <a:rPr sz="760" b="0">
                <a:solidFill>
                  <a:srgbClr val="1B2740"/>
                </a:solidFill>
                <a:latin typeface="Consolas"/>
                <a:ea typeface="Consolas"/>
                <a:cs typeface="Consolas"/>
              </a:rPr>
              <a:t> (isAssigned != </a:t>
            </a:r>
            <a:r>
              <a:rPr sz="760" b="0">
                <a:solidFill>
                  <a:srgbClr val="B45309"/>
                </a:solidFill>
                <a:latin typeface="Consolas"/>
                <a:ea typeface="Consolas"/>
                <a:cs typeface="Consolas"/>
              </a:rPr>
              <a:t>0</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141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142  </a:t>
            </a:r>
            <a:r>
              <a:rPr sz="760" b="0">
                <a:solidFill>
                  <a:srgbClr val="1B2740"/>
                </a:solidFill>
                <a:latin typeface="Consolas"/>
                <a:ea typeface="Consolas"/>
                <a:cs typeface="Consolas"/>
              </a:rPr>
              <a:t>      st_Track-&gt;TrackState  = </a:t>
            </a:r>
            <a:r>
              <a:rPr sz="760" b="0">
                <a:solidFill>
                  <a:srgbClr val="7C3AED"/>
                </a:solidFill>
                <a:latin typeface="Consolas"/>
                <a:ea typeface="Consolas"/>
                <a:cs typeface="Consolas"/>
              </a:rPr>
              <a:t>TRK_STATE_CONFIRMED</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143  </a:t>
            </a:r>
            <a:r>
              <a:rPr sz="760" b="0">
                <a:solidFill>
                  <a:srgbClr val="1B2740"/>
                </a:solidFill>
                <a:latin typeface="Consolas"/>
                <a:ea typeface="Consolas"/>
                <a:cs typeface="Consolas"/>
              </a:rPr>
              <a:t>      st_Track-&gt;MemoryScore  = </a:t>
            </a:r>
            <a:r>
              <a:rPr sz="760" b="0">
                <a:solidFill>
                  <a:srgbClr val="B45309"/>
                </a:solidFill>
                <a:latin typeface="Consolas"/>
                <a:ea typeface="Consolas"/>
                <a:cs typeface="Consolas"/>
              </a:rPr>
              <a:t>0</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144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145  </a:t>
            </a:r>
            <a:r>
              <a:rPr sz="760" b="0">
                <a:solidFill>
                  <a:srgbClr val="1B2740"/>
                </a:solidFill>
                <a:latin typeface="Consolas"/>
                <a:ea typeface="Consolas"/>
                <a:cs typeface="Consolas"/>
              </a:rPr>
              <a:t>    </a:t>
            </a:r>
            <a:r>
              <a:rPr sz="760" b="0">
                <a:solidFill>
                  <a:srgbClr val="2563EB"/>
                </a:solidFill>
                <a:latin typeface="Consolas"/>
                <a:ea typeface="Consolas"/>
                <a:cs typeface="Consolas"/>
              </a:rPr>
              <a:t>else</a:t>
            </a:r>
          </a:p>
          <a:p>
            <a:pPr>
              <a:lnSpc>
                <a:spcPts val="900"/>
              </a:lnSpc>
            </a:pPr>
            <a:r>
              <a:rPr sz="760" b="0">
                <a:solidFill>
                  <a:srgbClr val="AEB9CC"/>
                </a:solidFill>
                <a:latin typeface="Consolas"/>
                <a:ea typeface="Consolas"/>
                <a:cs typeface="Consolas"/>
              </a:rPr>
              <a:t>146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147  </a:t>
            </a:r>
            <a:r>
              <a:rPr sz="760" b="0">
                <a:solidFill>
                  <a:srgbClr val="1B2740"/>
                </a:solidFill>
                <a:latin typeface="Consolas"/>
                <a:ea typeface="Consolas"/>
                <a:cs typeface="Consolas"/>
              </a:rPr>
              <a:t>      st_Track-&gt;MemoryScore  = st_Track-&gt;MemoryScore + </a:t>
            </a:r>
            <a:r>
              <a:rPr sz="760" b="0">
                <a:solidFill>
                  <a:srgbClr val="B45309"/>
                </a:solidFill>
                <a:latin typeface="Consolas"/>
                <a:ea typeface="Consolas"/>
                <a:cs typeface="Consolas"/>
              </a:rPr>
              <a:t>1</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148  </a:t>
            </a:r>
          </a:p>
          <a:p>
            <a:pPr>
              <a:lnSpc>
                <a:spcPts val="900"/>
              </a:lnSpc>
            </a:pPr>
            <a:r>
              <a:rPr sz="760" b="0">
                <a:solidFill>
                  <a:srgbClr val="AEB9CC"/>
                </a:solidFill>
                <a:latin typeface="Consolas"/>
                <a:ea typeface="Consolas"/>
                <a:cs typeface="Consolas"/>
              </a:rPr>
              <a:t>149  </a:t>
            </a:r>
            <a:r>
              <a:rPr sz="760" b="0">
                <a:solidFill>
                  <a:srgbClr val="1B2740"/>
                </a:solidFill>
                <a:latin typeface="Consolas"/>
                <a:ea typeface="Consolas"/>
                <a:cs typeface="Consolas"/>
              </a:rPr>
              <a:t>      </a:t>
            </a:r>
            <a:r>
              <a:rPr sz="760" b="0">
                <a:solidFill>
                  <a:srgbClr val="2563EB"/>
                </a:solidFill>
                <a:latin typeface="Consolas"/>
                <a:ea typeface="Consolas"/>
                <a:cs typeface="Consolas"/>
              </a:rPr>
              <a:t>if</a:t>
            </a:r>
            <a:r>
              <a:rPr sz="760" b="0">
                <a:solidFill>
                  <a:srgbClr val="1B2740"/>
                </a:solidFill>
                <a:latin typeface="Consolas"/>
                <a:ea typeface="Consolas"/>
                <a:cs typeface="Consolas"/>
              </a:rPr>
              <a:t> (st_Track-&gt;MemoryScore &gt;= </a:t>
            </a:r>
            <a:r>
              <a:rPr sz="760" b="0">
                <a:solidFill>
                  <a:srgbClr val="7C3AED"/>
                </a:solidFill>
                <a:latin typeface="Consolas"/>
                <a:ea typeface="Consolas"/>
                <a:cs typeface="Consolas"/>
              </a:rPr>
              <a:t>TRK_MEMORY_DELETE</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150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151  </a:t>
            </a:r>
            <a:r>
              <a:rPr sz="760" b="0">
                <a:solidFill>
                  <a:srgbClr val="1B2740"/>
                </a:solidFill>
                <a:latin typeface="Consolas"/>
                <a:ea typeface="Consolas"/>
                <a:cs typeface="Consolas"/>
              </a:rPr>
              <a:t>        st_Track-&gt;TrackState = </a:t>
            </a:r>
            <a:r>
              <a:rPr sz="760" b="0">
                <a:solidFill>
                  <a:srgbClr val="7C3AED"/>
                </a:solidFill>
                <a:latin typeface="Consolas"/>
                <a:ea typeface="Consolas"/>
                <a:cs typeface="Consolas"/>
              </a:rPr>
              <a:t>TRK_STATE_DELETED</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152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153  </a:t>
            </a:r>
            <a:r>
              <a:rPr sz="760" b="0">
                <a:solidFill>
                  <a:srgbClr val="1B2740"/>
                </a:solidFill>
                <a:latin typeface="Consolas"/>
                <a:ea typeface="Consolas"/>
                <a:cs typeface="Consolas"/>
              </a:rPr>
              <a:t>    }</a:t>
            </a:r>
          </a:p>
          <a:p>
            <a:pPr>
              <a:lnSpc>
                <a:spcPts val="900"/>
              </a:lnSpc>
            </a:pPr>
            <a:r>
              <a:rPr sz="760" b="0">
                <a:solidFill>
                  <a:srgbClr val="AEB9CC"/>
                </a:solidFill>
                <a:latin typeface="Consolas"/>
                <a:ea typeface="Consolas"/>
                <a:cs typeface="Consolas"/>
              </a:rPr>
              <a:t>154  </a:t>
            </a:r>
            <a:r>
              <a:rPr sz="760" b="0">
                <a:solidFill>
                  <a:srgbClr val="1B2740"/>
                </a:solidFill>
                <a:latin typeface="Consolas"/>
                <a:ea typeface="Consolas"/>
                <a:cs typeface="Consolas"/>
              </a:rPr>
              <a:t>    </a:t>
            </a:r>
            <a:r>
              <a:rPr sz="760" b="0">
                <a:solidFill>
                  <a:srgbClr val="2563EB"/>
                </a:solidFill>
                <a:latin typeface="Consolas"/>
                <a:ea typeface="Consolas"/>
                <a:cs typeface="Consolas"/>
              </a:rPr>
              <a:t>break</a:t>
            </a:r>
            <a:r>
              <a:rPr sz="760" b="0">
                <a:solidFill>
                  <a:srgbClr val="1B2740"/>
                </a:solidFill>
                <a:latin typeface="Consolas"/>
                <a:ea typeface="Consolas"/>
                <a:cs typeface="Consolas"/>
              </a:rPr>
              <a:t>;</a:t>
            </a:r>
          </a:p>
          <a:p>
            <a:pPr>
              <a:lnSpc>
                <a:spcPts val="900"/>
              </a:lnSpc>
            </a:pPr>
            <a:r>
              <a:rPr sz="760" b="0">
                <a:solidFill>
                  <a:srgbClr val="AEB9CC"/>
                </a:solidFill>
                <a:latin typeface="Consolas"/>
                <a:ea typeface="Consolas"/>
                <a:cs typeface="Consolas"/>
              </a:rPr>
              <a:t>155  </a:t>
            </a:r>
          </a:p>
        </p:txBody>
      </p:sp>
      <p:sp>
        <p:nvSpPr>
          <p:cNvPr id="30" name="Oval 29"/>
          <p:cNvSpPr/>
          <p:nvPr/>
        </p:nvSpPr>
        <p:spPr>
          <a:xfrm>
            <a:off x="640080" y="5870448"/>
            <a:ext cx="201168" cy="201168"/>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31" name="TextBox 30"/>
          <p:cNvSpPr txBox="1"/>
          <p:nvPr/>
        </p:nvSpPr>
        <p:spPr>
          <a:xfrm>
            <a:off x="896112" y="5843016"/>
            <a:ext cx="1920240" cy="457200"/>
          </a:xfrm>
          <a:prstGeom prst="rect">
            <a:avLst/>
          </a:prstGeom>
          <a:noFill/>
        </p:spPr>
        <p:txBody>
          <a:bodyPr wrap="square" lIns="0" tIns="0" rIns="0" bIns="0" anchor="t">
            <a:spAutoFit/>
          </a:bodyPr>
          <a:lstStyle/>
          <a:p>
            <a:pPr algn="l"/>
            <a:r>
              <a:rPr sz="950" b="0">
                <a:solidFill>
                  <a:srgbClr val="1B2740"/>
                </a:solidFill>
                <a:latin typeface="맑은 고딕"/>
                <a:ea typeface="맑은 고딕"/>
                <a:cs typeface="맑은 고딕"/>
              </a:rPr>
              <a:t>성공 +1, 실패 -1</a:t>
            </a:r>
          </a:p>
        </p:txBody>
      </p:sp>
      <p:sp>
        <p:nvSpPr>
          <p:cNvPr id="32" name="Oval 31"/>
          <p:cNvSpPr/>
          <p:nvPr/>
        </p:nvSpPr>
        <p:spPr>
          <a:xfrm>
            <a:off x="2834639" y="5870448"/>
            <a:ext cx="201168" cy="201168"/>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33" name="TextBox 32"/>
          <p:cNvSpPr txBox="1"/>
          <p:nvPr/>
        </p:nvSpPr>
        <p:spPr>
          <a:xfrm>
            <a:off x="3090672" y="5843016"/>
            <a:ext cx="1920240" cy="457200"/>
          </a:xfrm>
          <a:prstGeom prst="rect">
            <a:avLst/>
          </a:prstGeom>
          <a:noFill/>
        </p:spPr>
        <p:txBody>
          <a:bodyPr wrap="square" lIns="0" tIns="0" rIns="0" bIns="0" anchor="t">
            <a:spAutoFit/>
          </a:bodyPr>
          <a:lstStyle/>
          <a:p>
            <a:pPr algn="l"/>
            <a:r>
              <a:rPr sz="950" b="0">
                <a:solidFill>
                  <a:srgbClr val="1B2740"/>
                </a:solidFill>
                <a:latin typeface="맑은 고딕"/>
                <a:ea typeface="맑은 고딕"/>
                <a:cs typeface="맑은 고딕"/>
              </a:rPr>
              <a:t>5 이상 확정, 0 이하 삭제</a:t>
            </a:r>
          </a:p>
        </p:txBody>
      </p:sp>
      <p:sp>
        <p:nvSpPr>
          <p:cNvPr id="34" name="Oval 33"/>
          <p:cNvSpPr/>
          <p:nvPr/>
        </p:nvSpPr>
        <p:spPr>
          <a:xfrm>
            <a:off x="5029200" y="5870448"/>
            <a:ext cx="201168" cy="201168"/>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35" name="TextBox 34"/>
          <p:cNvSpPr txBox="1"/>
          <p:nvPr/>
        </p:nvSpPr>
        <p:spPr>
          <a:xfrm>
            <a:off x="5285232" y="5843016"/>
            <a:ext cx="1920240" cy="457200"/>
          </a:xfrm>
          <a:prstGeom prst="rect">
            <a:avLst/>
          </a:prstGeom>
          <a:noFill/>
        </p:spPr>
        <p:txBody>
          <a:bodyPr wrap="square" lIns="0" tIns="0" rIns="0" bIns="0" anchor="t">
            <a:spAutoFit/>
          </a:bodyPr>
          <a:lstStyle/>
          <a:p>
            <a:pPr algn="l"/>
            <a:r>
              <a:rPr sz="950" b="0">
                <a:solidFill>
                  <a:srgbClr val="1B2740"/>
                </a:solidFill>
                <a:latin typeface="맑은 고딕"/>
                <a:ea typeface="맑은 고딕"/>
                <a:cs typeface="맑은 고딕"/>
              </a:rPr>
              <a:t>확정 -&gt; 메모리, MemoryScore +1</a:t>
            </a:r>
          </a:p>
        </p:txBody>
      </p:sp>
      <p:sp>
        <p:nvSpPr>
          <p:cNvPr id="36" name="Oval 35"/>
          <p:cNvSpPr/>
          <p:nvPr/>
        </p:nvSpPr>
        <p:spPr>
          <a:xfrm>
            <a:off x="7223759" y="5870448"/>
            <a:ext cx="201168" cy="201168"/>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37" name="TextBox 36"/>
          <p:cNvSpPr txBox="1"/>
          <p:nvPr/>
        </p:nvSpPr>
        <p:spPr>
          <a:xfrm>
            <a:off x="7479792" y="5843016"/>
            <a:ext cx="1920240" cy="457200"/>
          </a:xfrm>
          <a:prstGeom prst="rect">
            <a:avLst/>
          </a:prstGeom>
          <a:noFill/>
        </p:spPr>
        <p:txBody>
          <a:bodyPr wrap="square" lIns="0" tIns="0" rIns="0" bIns="0" anchor="t">
            <a:spAutoFit/>
          </a:bodyPr>
          <a:lstStyle/>
          <a:p>
            <a:pPr algn="l"/>
            <a:r>
              <a:rPr sz="950" b="0">
                <a:solidFill>
                  <a:srgbClr val="1B2740"/>
                </a:solidFill>
                <a:latin typeface="맑은 고딕"/>
                <a:ea typeface="맑은 고딕"/>
                <a:cs typeface="맑은 고딕"/>
              </a:rPr>
              <a:t>메모리 -&gt; 바로 확정, MemoryScore 0</a:t>
            </a:r>
          </a:p>
        </p:txBody>
      </p:sp>
      <p:sp>
        <p:nvSpPr>
          <p:cNvPr id="38" name="Oval 37"/>
          <p:cNvSpPr/>
          <p:nvPr/>
        </p:nvSpPr>
        <p:spPr>
          <a:xfrm>
            <a:off x="9418319" y="5870448"/>
            <a:ext cx="201168" cy="201168"/>
          </a:xfrm>
          <a:prstGeom prst="ellipse">
            <a:avLst/>
          </a:prstGeom>
          <a:solidFill>
            <a:srgbClr val="7C3AED"/>
          </a:solidFill>
          <a:ln>
            <a:noFill/>
          </a:ln>
        </p:spPr>
        <p:txBody>
          <a:bodyPr rtlCol="0" anchor="ctr" lIns="0" tIns="0" rIns="0" bIns="0" wrap="square"/>
          <a:lstStyle/>
          <a:p>
            <a:pPr algn="ctr"/>
            <a:r>
              <a:rPr sz="950" b="1">
                <a:solidFill>
                  <a:srgbClr val="FFFFFF"/>
                </a:solidFill>
                <a:latin typeface="맑은 고딕"/>
                <a:ea typeface="맑은 고딕"/>
                <a:cs typeface="맑은 고딕"/>
              </a:rPr>
              <a:t>5</a:t>
            </a:r>
          </a:p>
        </p:txBody>
      </p:sp>
      <p:sp>
        <p:nvSpPr>
          <p:cNvPr id="39" name="TextBox 38"/>
          <p:cNvSpPr txBox="1"/>
          <p:nvPr/>
        </p:nvSpPr>
        <p:spPr>
          <a:xfrm>
            <a:off x="9674351" y="5843016"/>
            <a:ext cx="1920240" cy="457200"/>
          </a:xfrm>
          <a:prstGeom prst="rect">
            <a:avLst/>
          </a:prstGeom>
          <a:noFill/>
        </p:spPr>
        <p:txBody>
          <a:bodyPr wrap="square" lIns="0" tIns="0" rIns="0" bIns="0" anchor="t">
            <a:spAutoFit/>
          </a:bodyPr>
          <a:lstStyle/>
          <a:p>
            <a:pPr algn="l"/>
            <a:r>
              <a:rPr sz="950" b="0">
                <a:solidFill>
                  <a:srgbClr val="1B2740"/>
                </a:solidFill>
                <a:latin typeface="맑은 고딕"/>
                <a:ea typeface="맑은 고딕"/>
                <a:cs typeface="맑은 고딕"/>
              </a:rPr>
              <a:t>MemoryScore 5 이상 삭제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859536" y="914400"/>
            <a:ext cx="9144000" cy="475488"/>
          </a:xfrm>
          <a:prstGeom prst="rect">
            <a:avLst/>
          </a:prstGeom>
          <a:noFill/>
          <a:ln/>
        </p:spPr>
        <p:txBody>
          <a:bodyPr wrap="square" lIns="0" tIns="0" rIns="0" bIns="0" rtlCol="0" anchor="ctr"/>
          <a:lstStyle/>
          <a:p>
            <a:pPr indent="0" marL="0">
              <a:buNone/>
            </a:pPr>
            <a:r>
              <a:rPr lang="en-US" sz="2400" b="1" dirty="0">
                <a:solidFill>
                  <a:srgbClr val="1B2740"/>
                </a:solidFill>
                <a:latin typeface="맑은 고딕" pitchFamily="34" charset="0"/>
                <a:ea typeface="맑은 고딕" pitchFamily="34" charset="-122"/>
                <a:cs typeface="맑은 고딕" pitchFamily="34" charset="-120"/>
              </a:rPr>
              <a:t>04. 결과</a:t>
            </a:r>
            <a:endParaRPr lang="en-US" sz="2400" dirty="0"/>
          </a:p>
        </p:txBody>
      </p:sp>
      <p:sp>
        <p:nvSpPr>
          <p:cNvPr id="3" name="Text 1"/>
          <p:cNvSpPr txBox="1"/>
          <p:nvPr/>
        </p:nvSpPr>
        <p:spPr>
          <a:xfrm>
            <a:off x="859536" y="1444752"/>
            <a:ext cx="10588752" cy="304495"/>
          </a:xfrm>
          <a:prstGeom prst="rect">
            <a:avLst/>
          </a:prstGeom>
          <a:noFill/>
          <a:ln/>
        </p:spPr>
        <p:txBody>
          <a:bodyPr wrap="square" lIns="0" tIns="0" rIns="0" bIns="0" rtlCol="0" anchor="ctr"/>
          <a:lstStyle/>
          <a:p>
            <a:pPr indent="0" marL="0">
              <a:buNone/>
            </a:pPr>
            <a:r>
              <a:rPr lang="en-US" sz="1300" dirty="0">
                <a:solidFill>
                  <a:srgbClr val="1B2740"/>
                </a:solidFill>
                <a:latin typeface="맑은 고딕" pitchFamily="34" charset="0"/>
                <a:ea typeface="맑은 고딕" pitchFamily="34" charset="-122"/>
                <a:cs typeface="맑은 고딕" pitchFamily="34" charset="-120"/>
              </a:rPr>
              <a:t>프로그램 화면과 송수신 결과, 2D · 3D 전시, 트랙 수명, 거리에 따른 개시 결과를 봅니다.</a:t>
            </a:r>
            <a:endParaRPr lang="en-US" sz="1300" dirty="0"/>
          </a:p>
        </p:txBody>
      </p:sp>
      <p:sp>
        <p:nvSpPr>
          <p:cNvPr id="4" name="Text 2"/>
          <p:cNvSpPr txBox="1"/>
          <p:nvPr/>
        </p:nvSpPr>
        <p:spPr>
          <a:xfrm>
            <a:off x="859536" y="2057400"/>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4.1</a:t>
            </a:r>
            <a:endParaRPr lang="en-US" sz="1400" dirty="0"/>
          </a:p>
        </p:txBody>
      </p:sp>
      <p:sp>
        <p:nvSpPr>
          <p:cNvPr id="5" name="Text 3"/>
          <p:cNvSpPr txBox="1"/>
          <p:nvPr/>
        </p:nvSpPr>
        <p:spPr>
          <a:xfrm>
            <a:off x="1418234" y="2057400"/>
            <a:ext cx="2037842"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실행 화면과 송수신 결과</a:t>
            </a:r>
            <a:endParaRPr lang="en-US" sz="1400" dirty="0"/>
          </a:p>
        </p:txBody>
      </p:sp>
      <p:sp>
        <p:nvSpPr>
          <p:cNvPr id="6" name="Shape 4"/>
          <p:cNvSpPr/>
          <p:nvPr/>
        </p:nvSpPr>
        <p:spPr>
          <a:xfrm>
            <a:off x="3564890" y="2313432"/>
            <a:ext cx="7042150" cy="0"/>
          </a:xfrm>
          <a:prstGeom prst="line">
            <a:avLst/>
          </a:prstGeom>
          <a:noFill/>
          <a:ln w="15875">
            <a:solidFill>
              <a:srgbClr val="AEB9CC"/>
            </a:solidFill>
            <a:prstDash val="sysDot"/>
          </a:ln>
        </p:spPr>
      </p:sp>
      <p:sp>
        <p:nvSpPr>
          <p:cNvPr id="7" name="Text 5"/>
          <p:cNvSpPr txBox="1"/>
          <p:nvPr/>
        </p:nvSpPr>
        <p:spPr>
          <a:xfrm>
            <a:off x="10736885" y="2057400"/>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23</a:t>
            </a:r>
            <a:endParaRPr lang="en-US" sz="1300" dirty="0"/>
          </a:p>
        </p:txBody>
      </p:sp>
      <p:sp>
        <p:nvSpPr>
          <p:cNvPr id="8" name="Text 2"/>
          <p:cNvSpPr txBox="1"/>
          <p:nvPr/>
        </p:nvSpPr>
        <p:spPr>
          <a:xfrm>
            <a:off x="859536" y="2464308"/>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4.2</a:t>
            </a:r>
            <a:endParaRPr lang="en-US" sz="1400" dirty="0"/>
          </a:p>
        </p:txBody>
      </p:sp>
      <p:sp>
        <p:nvSpPr>
          <p:cNvPr id="9" name="Text 3"/>
          <p:cNvSpPr txBox="1"/>
          <p:nvPr/>
        </p:nvSpPr>
        <p:spPr>
          <a:xfrm>
            <a:off x="1418234" y="2464308"/>
            <a:ext cx="2586743"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True · Plot · Track 2D · 3D 전시</a:t>
            </a:r>
            <a:endParaRPr lang="en-US" sz="1400" dirty="0"/>
          </a:p>
        </p:txBody>
      </p:sp>
      <p:sp>
        <p:nvSpPr>
          <p:cNvPr id="10" name="Shape 4"/>
          <p:cNvSpPr/>
          <p:nvPr/>
        </p:nvSpPr>
        <p:spPr>
          <a:xfrm>
            <a:off x="4113791" y="2720339"/>
            <a:ext cx="6493248" cy="0"/>
          </a:xfrm>
          <a:prstGeom prst="line">
            <a:avLst/>
          </a:prstGeom>
          <a:noFill/>
          <a:ln w="15875">
            <a:solidFill>
              <a:srgbClr val="AEB9CC"/>
            </a:solidFill>
            <a:prstDash val="sysDot"/>
          </a:ln>
        </p:spPr>
      </p:sp>
      <p:sp>
        <p:nvSpPr>
          <p:cNvPr id="11" name="Text 5"/>
          <p:cNvSpPr txBox="1"/>
          <p:nvPr/>
        </p:nvSpPr>
        <p:spPr>
          <a:xfrm>
            <a:off x="10736885" y="2464308"/>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24</a:t>
            </a:r>
            <a:endParaRPr lang="en-US" sz="1300" dirty="0"/>
          </a:p>
        </p:txBody>
      </p:sp>
      <p:sp>
        <p:nvSpPr>
          <p:cNvPr id="12" name="Text 2"/>
          <p:cNvSpPr txBox="1"/>
          <p:nvPr/>
        </p:nvSpPr>
        <p:spPr>
          <a:xfrm>
            <a:off x="859536" y="2871216"/>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4.3</a:t>
            </a:r>
            <a:endParaRPr lang="en-US" sz="1400" dirty="0"/>
          </a:p>
        </p:txBody>
      </p:sp>
      <p:sp>
        <p:nvSpPr>
          <p:cNvPr id="13" name="Text 3"/>
          <p:cNvSpPr txBox="1"/>
          <p:nvPr/>
        </p:nvSpPr>
        <p:spPr>
          <a:xfrm>
            <a:off x="1418234" y="2871216"/>
            <a:ext cx="2037842"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트랙 수명과 스코어 확인</a:t>
            </a:r>
            <a:endParaRPr lang="en-US" sz="1400" dirty="0"/>
          </a:p>
        </p:txBody>
      </p:sp>
      <p:sp>
        <p:nvSpPr>
          <p:cNvPr id="14" name="Shape 4"/>
          <p:cNvSpPr/>
          <p:nvPr/>
        </p:nvSpPr>
        <p:spPr>
          <a:xfrm>
            <a:off x="3564890" y="3127248"/>
            <a:ext cx="7042150" cy="0"/>
          </a:xfrm>
          <a:prstGeom prst="line">
            <a:avLst/>
          </a:prstGeom>
          <a:noFill/>
          <a:ln w="15875">
            <a:solidFill>
              <a:srgbClr val="AEB9CC"/>
            </a:solidFill>
            <a:prstDash val="sysDot"/>
          </a:ln>
        </p:spPr>
      </p:sp>
      <p:sp>
        <p:nvSpPr>
          <p:cNvPr id="15" name="Text 5"/>
          <p:cNvSpPr txBox="1"/>
          <p:nvPr/>
        </p:nvSpPr>
        <p:spPr>
          <a:xfrm>
            <a:off x="10736885" y="2871216"/>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25</a:t>
            </a:r>
            <a:endParaRPr lang="en-US" sz="1300" dirty="0"/>
          </a:p>
        </p:txBody>
      </p:sp>
      <p:sp>
        <p:nvSpPr>
          <p:cNvPr id="16" name="Text 2"/>
          <p:cNvSpPr txBox="1"/>
          <p:nvPr/>
        </p:nvSpPr>
        <p:spPr>
          <a:xfrm>
            <a:off x="859536" y="3278124"/>
            <a:ext cx="508406" cy="405994"/>
          </a:xfrm>
          <a:prstGeom prst="rect">
            <a:avLst/>
          </a:prstGeom>
          <a:noFill/>
          <a:ln/>
        </p:spPr>
        <p:txBody>
          <a:bodyPr wrap="square" lIns="0" tIns="0" rIns="0" bIns="0" rtlCol="0" anchor="ctr"/>
          <a:lstStyle/>
          <a:p>
            <a:pPr indent="0" marL="0">
              <a:buNone/>
            </a:pPr>
            <a:r>
              <a:rPr lang="en-US" sz="1400" b="1" dirty="0">
                <a:solidFill>
                  <a:srgbClr val="1B2740"/>
                </a:solidFill>
                <a:latin typeface="맑은 고딕" pitchFamily="34" charset="0"/>
                <a:ea typeface="맑은 고딕" pitchFamily="34" charset="-122"/>
                <a:cs typeface="맑은 고딕" pitchFamily="34" charset="-120"/>
              </a:rPr>
              <a:t>4.4</a:t>
            </a:r>
            <a:endParaRPr lang="en-US" sz="1400" dirty="0"/>
          </a:p>
        </p:txBody>
      </p:sp>
      <p:sp>
        <p:nvSpPr>
          <p:cNvPr id="17" name="Text 3"/>
          <p:cNvSpPr txBox="1"/>
          <p:nvPr/>
        </p:nvSpPr>
        <p:spPr>
          <a:xfrm>
            <a:off x="1418234" y="3278124"/>
            <a:ext cx="1860042" cy="405994"/>
          </a:xfrm>
          <a:prstGeom prst="rect">
            <a:avLst/>
          </a:prstGeom>
          <a:noFill/>
          <a:ln/>
        </p:spPr>
        <p:txBody>
          <a:bodyPr wrap="square" lIns="0" tIns="0" rIns="0" bIns="0" rtlCol="0" anchor="ctr"/>
          <a:lstStyle/>
          <a:p>
            <a:pPr indent="0" marL="0">
              <a:buNone/>
            </a:pPr>
            <a:r>
              <a:rPr lang="en-US" sz="1400" dirty="0">
                <a:solidFill>
                  <a:srgbClr val="1B2740"/>
                </a:solidFill>
                <a:latin typeface="맑은 고딕" pitchFamily="34" charset="0"/>
                <a:ea typeface="맑은 고딕" pitchFamily="34" charset="-122"/>
                <a:cs typeface="맑은 고딕" pitchFamily="34" charset="-120"/>
              </a:rPr>
              <a:t>거리에 따른 개시 결과</a:t>
            </a:r>
            <a:endParaRPr lang="en-US" sz="1400" dirty="0"/>
          </a:p>
        </p:txBody>
      </p:sp>
      <p:sp>
        <p:nvSpPr>
          <p:cNvPr id="18" name="Shape 4"/>
          <p:cNvSpPr/>
          <p:nvPr/>
        </p:nvSpPr>
        <p:spPr>
          <a:xfrm>
            <a:off x="3387090" y="3534156"/>
            <a:ext cx="7219950" cy="0"/>
          </a:xfrm>
          <a:prstGeom prst="line">
            <a:avLst/>
          </a:prstGeom>
          <a:noFill/>
          <a:ln w="15875">
            <a:solidFill>
              <a:srgbClr val="AEB9CC"/>
            </a:solidFill>
            <a:prstDash val="sysDot"/>
          </a:ln>
        </p:spPr>
      </p:sp>
      <p:sp>
        <p:nvSpPr>
          <p:cNvPr id="19" name="Text 5"/>
          <p:cNvSpPr txBox="1"/>
          <p:nvPr/>
        </p:nvSpPr>
        <p:spPr>
          <a:xfrm>
            <a:off x="10736885" y="3278124"/>
            <a:ext cx="711403" cy="405994"/>
          </a:xfrm>
          <a:prstGeom prst="rect">
            <a:avLst/>
          </a:prstGeom>
          <a:noFill/>
          <a:ln/>
        </p:spPr>
        <p:txBody>
          <a:bodyPr wrap="square" lIns="0" tIns="0" rIns="0" bIns="0" rtlCol="0" anchor="ctr"/>
          <a:lstStyle/>
          <a:p>
            <a:pPr algn="r" indent="0" marL="0">
              <a:buNone/>
            </a:pPr>
            <a:r>
              <a:rPr lang="en-US" sz="1300" dirty="0">
                <a:solidFill>
                  <a:srgbClr val="4A5A7A"/>
                </a:solidFill>
                <a:latin typeface="맑은 고딕" pitchFamily="34" charset="0"/>
                <a:ea typeface="맑은 고딕" pitchFamily="34" charset="-122"/>
                <a:cs typeface="맑은 고딕" pitchFamily="34" charset="-120"/>
              </a:rPr>
              <a:t>26</a:t>
            </a:r>
            <a:endParaRPr lang="en-US" sz="1300" dirty="0"/>
          </a:p>
        </p:txBody>
      </p:sp>
      <p:sp>
        <p:nvSpPr>
          <p:cNvPr id="20"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3</a:t>
            </a:fld>
            <a:endParaRPr lang="en-US"/>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04. 결과</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4.1 실행 화면과 송수신 결과</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기본 시나리오 + 표적 3 개, 60 s, 스캔 600 개, 스캔당 클러터 5 개 (과제 4 조건). 실행하면 바로 송수신을 시작합니다.</a:t>
            </a:r>
            <a:endParaRPr lang="en-US" sz="1250" dirty="0"/>
          </a:p>
        </p:txBody>
      </p:sp>
      <p:sp>
        <p:nvSpPr>
          <p:cNvPr id="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pic>
        <p:nvPicPr>
          <p:cNvPr id="6" name="Picture 5" descr="ui_full.png"/>
          <p:cNvPicPr>
            <a:picLocks noChangeAspect="1"/>
          </p:cNvPicPr>
          <p:nvPr/>
        </p:nvPicPr>
        <p:blipFill>
          <a:blip r:embed="rId3"/>
          <a:stretch>
            <a:fillRect/>
          </a:stretch>
        </p:blipFill>
        <p:spPr>
          <a:xfrm>
            <a:off x="640080" y="2240280"/>
            <a:ext cx="6785800" cy="3931920"/>
          </a:xfrm>
          <a:prstGeom prst="rect">
            <a:avLst/>
          </a:prstGeom>
          <a:ln w="9525">
            <a:solidFill>
              <a:srgbClr val="D2D9E5"/>
            </a:solidFill>
          </a:ln>
        </p:spPr>
      </p:pic>
      <p:sp>
        <p:nvSpPr>
          <p:cNvPr id="7" name="Oval 6"/>
          <p:cNvSpPr/>
          <p:nvPr/>
        </p:nvSpPr>
        <p:spPr>
          <a:xfrm>
            <a:off x="7635240" y="228600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8" name="TextBox 7"/>
          <p:cNvSpPr txBox="1"/>
          <p:nvPr/>
        </p:nvSpPr>
        <p:spPr>
          <a:xfrm>
            <a:off x="8019288" y="2267712"/>
            <a:ext cx="3529584" cy="658368"/>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UDP 송수신</a:t>
            </a:r>
          </a:p>
          <a:p>
            <a:pPr algn="l">
              <a:lnSpc>
                <a:spcPct val="105000"/>
              </a:lnSpc>
            </a:pPr>
            <a:r>
              <a:rPr sz="1050" b="0">
                <a:solidFill>
                  <a:srgbClr val="4A5A7A"/>
                </a:solidFill>
                <a:latin typeface="맑은 고딕"/>
                <a:ea typeface="맑은 고딕"/>
                <a:cs typeface="맑은 고딕"/>
              </a:rPr>
              <a:t>600 스캔 보냄, 600 스캔 받음, 손실 0</a:t>
            </a:r>
          </a:p>
          <a:p>
            <a:pPr algn="l">
              <a:lnSpc>
                <a:spcPct val="105000"/>
              </a:lnSpc>
            </a:pPr>
            <a:r>
              <a:rPr sz="1050" b="0">
                <a:solidFill>
                  <a:srgbClr val="4A5A7A"/>
                </a:solidFill>
                <a:latin typeface="맑은 고딕"/>
                <a:ea typeface="맑은 고딕"/>
                <a:cs typeface="맑은 고딕"/>
              </a:rPr>
              <a:t>메시지 1,282 B x 600 = 769,200 B</a:t>
            </a:r>
          </a:p>
        </p:txBody>
      </p:sp>
      <p:sp>
        <p:nvSpPr>
          <p:cNvPr id="9" name="Oval 8"/>
          <p:cNvSpPr/>
          <p:nvPr/>
        </p:nvSpPr>
        <p:spPr>
          <a:xfrm>
            <a:off x="7635240" y="315468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0" name="TextBox 9"/>
          <p:cNvSpPr txBox="1"/>
          <p:nvPr/>
        </p:nvSpPr>
        <p:spPr>
          <a:xfrm>
            <a:off x="8019288" y="3136392"/>
            <a:ext cx="3529584" cy="658368"/>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트랙 611 개 개시, 607 개 삭제</a:t>
            </a:r>
          </a:p>
          <a:p>
            <a:pPr algn="l">
              <a:lnSpc>
                <a:spcPct val="105000"/>
              </a:lnSpc>
            </a:pPr>
            <a:r>
              <a:rPr sz="1050" b="0">
                <a:solidFill>
                  <a:srgbClr val="4A5A7A"/>
                </a:solidFill>
                <a:latin typeface="맑은 고딕"/>
                <a:ea typeface="맑은 고딕"/>
                <a:cs typeface="맑은 고딕"/>
              </a:rPr>
              <a:t>개시 쌍은 모두 같은 표적의 플롯</a:t>
            </a:r>
          </a:p>
          <a:p>
            <a:pPr algn="l">
              <a:lnSpc>
                <a:spcPct val="105000"/>
              </a:lnSpc>
            </a:pPr>
            <a:r>
              <a:rPr sz="1050" b="0">
                <a:solidFill>
                  <a:srgbClr val="4A5A7A"/>
                </a:solidFill>
                <a:latin typeface="맑은 고딕"/>
                <a:ea typeface="맑은 고딕"/>
                <a:cs typeface="맑은 고딕"/>
              </a:rPr>
              <a:t>클러터끼리 0, 섞임 0 (송신 쪽 기록과 대조)</a:t>
            </a:r>
          </a:p>
        </p:txBody>
      </p:sp>
      <p:sp>
        <p:nvSpPr>
          <p:cNvPr id="11" name="Oval 10"/>
          <p:cNvSpPr/>
          <p:nvPr/>
        </p:nvSpPr>
        <p:spPr>
          <a:xfrm>
            <a:off x="7635240" y="4023360"/>
            <a:ext cx="256032" cy="256032"/>
          </a:xfrm>
          <a:prstGeom prst="ellipse">
            <a:avLst/>
          </a:prstGeom>
          <a:solidFill>
            <a:srgbClr val="059669"/>
          </a:solidFill>
          <a:ln>
            <a:noFill/>
          </a:ln>
        </p:spPr>
        <p:txBody>
          <a:bodyPr rtlCol="0" anchor="ctr" lIns="0" tIns="0" rIns="0" bIns="0" wrap="square"/>
          <a:lstStyle/>
          <a:p>
            <a:pPr algn="ctr"/>
            <a:r>
              <a:rPr sz="950" b="1">
                <a:solidFill>
                  <a:srgbClr val="FFFFFF"/>
                </a:solidFill>
                <a:latin typeface="맑은 고딕"/>
                <a:ea typeface="맑은 고딕"/>
                <a:cs typeface="맑은 고딕"/>
              </a:rPr>
              <a:t>3</a:t>
            </a:r>
          </a:p>
        </p:txBody>
      </p:sp>
      <p:sp>
        <p:nvSpPr>
          <p:cNvPr id="12" name="TextBox 11"/>
          <p:cNvSpPr txBox="1"/>
          <p:nvPr/>
        </p:nvSpPr>
        <p:spPr>
          <a:xfrm>
            <a:off x="8019288" y="4005072"/>
            <a:ext cx="3529584" cy="658368"/>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스캔 슬라이더</a:t>
            </a:r>
          </a:p>
          <a:p>
            <a:pPr algn="l">
              <a:lnSpc>
                <a:spcPct val="105000"/>
              </a:lnSpc>
            </a:pPr>
            <a:r>
              <a:rPr sz="1050" b="0">
                <a:solidFill>
                  <a:srgbClr val="4A5A7A"/>
                </a:solidFill>
                <a:latin typeface="맑은 고딕"/>
                <a:ea typeface="맑은 고딕"/>
                <a:cs typeface="맑은 고딕"/>
              </a:rPr>
              <a:t>고른 스캔의 2D, 3D 그림과 트랙 표</a:t>
            </a:r>
          </a:p>
          <a:p>
            <a:pPr algn="l">
              <a:lnSpc>
                <a:spcPct val="105000"/>
              </a:lnSpc>
            </a:pPr>
            <a:r>
              <a:rPr sz="1050" b="0">
                <a:solidFill>
                  <a:srgbClr val="4A5A7A"/>
                </a:solidFill>
                <a:latin typeface="맑은 고딕"/>
                <a:ea typeface="맑은 고딕"/>
                <a:cs typeface="맑은 고딕"/>
              </a:rPr>
              <a:t>송신 간격 100 ms 면 실시간으로 따라감</a:t>
            </a:r>
          </a:p>
        </p:txBody>
      </p:sp>
      <p:sp>
        <p:nvSpPr>
          <p:cNvPr id="13" name="Oval 12"/>
          <p:cNvSpPr/>
          <p:nvPr/>
        </p:nvSpPr>
        <p:spPr>
          <a:xfrm>
            <a:off x="7635240" y="4892040"/>
            <a:ext cx="256032" cy="256032"/>
          </a:xfrm>
          <a:prstGeom prst="ellipse">
            <a:avLst/>
          </a:prstGeom>
          <a:solidFill>
            <a:srgbClr val="2563EB"/>
          </a:solidFill>
          <a:ln>
            <a:noFill/>
          </a:ln>
        </p:spPr>
        <p:txBody>
          <a:bodyPr rtlCol="0" anchor="ctr" lIns="0" tIns="0" rIns="0" bIns="0" wrap="square"/>
          <a:lstStyle/>
          <a:p>
            <a:pPr algn="ctr"/>
            <a:r>
              <a:rPr sz="950" b="1">
                <a:solidFill>
                  <a:srgbClr val="FFFFFF"/>
                </a:solidFill>
                <a:latin typeface="맑은 고딕"/>
                <a:ea typeface="맑은 고딕"/>
                <a:cs typeface="맑은 고딕"/>
              </a:rPr>
              <a:t>4</a:t>
            </a:r>
          </a:p>
        </p:txBody>
      </p:sp>
      <p:sp>
        <p:nvSpPr>
          <p:cNvPr id="14" name="TextBox 13"/>
          <p:cNvSpPr txBox="1"/>
          <p:nvPr/>
        </p:nvSpPr>
        <p:spPr>
          <a:xfrm>
            <a:off x="8019288" y="4873752"/>
            <a:ext cx="3529584" cy="658368"/>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트랙 표</a:t>
            </a:r>
          </a:p>
          <a:p>
            <a:pPr algn="l">
              <a:lnSpc>
                <a:spcPct val="105000"/>
              </a:lnSpc>
            </a:pPr>
            <a:r>
              <a:rPr sz="1050" b="0">
                <a:solidFill>
                  <a:srgbClr val="4A5A7A"/>
                </a:solidFill>
                <a:latin typeface="맑은 고딕"/>
                <a:ea typeface="맑은 고딕"/>
                <a:cs typeface="맑은 고딕"/>
              </a:rPr>
              <a:t>트랙 ID, TrackState, TrackScore,</a:t>
            </a:r>
          </a:p>
          <a:p>
            <a:pPr algn="l">
              <a:lnSpc>
                <a:spcPct val="105000"/>
              </a:lnSpc>
            </a:pPr>
            <a:r>
              <a:rPr sz="1050" b="0">
                <a:solidFill>
                  <a:srgbClr val="4A5A7A"/>
                </a:solidFill>
                <a:latin typeface="맑은 고딕"/>
                <a:ea typeface="맑은 고딕"/>
                <a:cs typeface="맑은 고딕"/>
              </a:rPr>
              <a:t>MemoryScore, Assigned_Flag, 위치 · 속도</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04. 결과</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4.2 True · Plot · Track 2D · 3D 전시</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같은 스캔 (300, 30 s) 을 2D 와 3D 로 그린 화면입니다. 참값, 플롯, 트랙 심볼을 함께 그립니다.</a:t>
            </a:r>
            <a:endParaRPr lang="en-US" sz="1250" dirty="0"/>
          </a:p>
        </p:txBody>
      </p:sp>
      <p:sp>
        <p:nvSpPr>
          <p:cNvPr id="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pic>
        <p:nvPicPr>
          <p:cNvPr id="6" name="Picture 5" descr="ui_2d.png"/>
          <p:cNvPicPr>
            <a:picLocks noChangeAspect="1"/>
          </p:cNvPicPr>
          <p:nvPr/>
        </p:nvPicPr>
        <p:blipFill>
          <a:blip r:embed="rId3"/>
          <a:stretch>
            <a:fillRect/>
          </a:stretch>
        </p:blipFill>
        <p:spPr>
          <a:xfrm>
            <a:off x="749808" y="2212848"/>
            <a:ext cx="5074920" cy="3076920"/>
          </a:xfrm>
          <a:prstGeom prst="rect">
            <a:avLst/>
          </a:prstGeom>
          <a:ln w="9525">
            <a:solidFill>
              <a:srgbClr val="D2D9E5"/>
            </a:solidFill>
          </a:ln>
        </p:spPr>
      </p:pic>
      <p:pic>
        <p:nvPicPr>
          <p:cNvPr id="7" name="Picture 6" descr="ui_3d.png"/>
          <p:cNvPicPr>
            <a:picLocks noChangeAspect="1"/>
          </p:cNvPicPr>
          <p:nvPr/>
        </p:nvPicPr>
        <p:blipFill>
          <a:blip r:embed="rId4"/>
          <a:stretch>
            <a:fillRect/>
          </a:stretch>
        </p:blipFill>
        <p:spPr>
          <a:xfrm>
            <a:off x="6355080" y="2212848"/>
            <a:ext cx="5074920" cy="3076920"/>
          </a:xfrm>
          <a:prstGeom prst="rect">
            <a:avLst/>
          </a:prstGeom>
          <a:ln w="9525">
            <a:solidFill>
              <a:srgbClr val="D2D9E5"/>
            </a:solidFill>
          </a:ln>
        </p:spPr>
      </p:pic>
      <p:sp>
        <p:nvSpPr>
          <p:cNvPr id="8" name="TextBox 7"/>
          <p:cNvSpPr txBox="1"/>
          <p:nvPr/>
        </p:nvSpPr>
        <p:spPr>
          <a:xfrm>
            <a:off x="749808" y="5321808"/>
            <a:ext cx="5074920" cy="237744"/>
          </a:xfrm>
          <a:prstGeom prst="rect">
            <a:avLst/>
          </a:prstGeom>
          <a:noFill/>
        </p:spPr>
        <p:txBody>
          <a:bodyPr wrap="square" lIns="0" tIns="0" rIns="0" bIns="0" anchor="t">
            <a:spAutoFit/>
          </a:bodyPr>
          <a:lstStyle/>
          <a:p>
            <a:pPr algn="ctr"/>
            <a:r>
              <a:rPr sz="1000" b="0">
                <a:solidFill>
                  <a:srgbClr val="4A5A7A"/>
                </a:solidFill>
                <a:latin typeface="맑은 고딕"/>
                <a:ea typeface="맑은 고딕"/>
                <a:cs typeface="맑은 고딕"/>
              </a:rPr>
              <a:t>2D (위도 · 경도), 휠로 2.4 배 확대</a:t>
            </a:r>
          </a:p>
        </p:txBody>
      </p:sp>
      <p:sp>
        <p:nvSpPr>
          <p:cNvPr id="9" name="TextBox 8"/>
          <p:cNvSpPr txBox="1"/>
          <p:nvPr/>
        </p:nvSpPr>
        <p:spPr>
          <a:xfrm>
            <a:off x="6355080" y="5321808"/>
            <a:ext cx="5074920" cy="237744"/>
          </a:xfrm>
          <a:prstGeom prst="rect">
            <a:avLst/>
          </a:prstGeom>
          <a:noFill/>
        </p:spPr>
        <p:txBody>
          <a:bodyPr wrap="square" lIns="0" tIns="0" rIns="0" bIns="0" anchor="t">
            <a:spAutoFit/>
          </a:bodyPr>
          <a:lstStyle/>
          <a:p>
            <a:pPr algn="ctr"/>
            <a:r>
              <a:rPr sz="1000" b="0">
                <a:solidFill>
                  <a:srgbClr val="4A5A7A"/>
                </a:solidFill>
                <a:latin typeface="맑은 고딕"/>
                <a:ea typeface="맑은 고딕"/>
                <a:cs typeface="맑은 고딕"/>
              </a:rPr>
              <a:t>3D, 클러터를 끄고 고도 3 배</a:t>
            </a:r>
          </a:p>
        </p:txBody>
      </p:sp>
      <p:sp>
        <p:nvSpPr>
          <p:cNvPr id="10" name="TextBox 9"/>
          <p:cNvSpPr txBox="1"/>
          <p:nvPr/>
        </p:nvSpPr>
        <p:spPr>
          <a:xfrm>
            <a:off x="640080" y="5632704"/>
            <a:ext cx="914400" cy="228600"/>
          </a:xfrm>
          <a:prstGeom prst="rect">
            <a:avLst/>
          </a:prstGeom>
          <a:noFill/>
        </p:spPr>
        <p:txBody>
          <a:bodyPr wrap="square" lIns="0" tIns="0" rIns="0" bIns="0" anchor="ctr">
            <a:spAutoFit/>
          </a:bodyPr>
          <a:lstStyle/>
          <a:p>
            <a:pPr algn="l"/>
            <a:r>
              <a:rPr sz="1050" b="1">
                <a:solidFill>
                  <a:srgbClr val="1B2740"/>
                </a:solidFill>
                <a:latin typeface="맑은 고딕"/>
                <a:ea typeface="맑은 고딕"/>
                <a:cs typeface="맑은 고딕"/>
              </a:rPr>
              <a:t>참값</a:t>
            </a:r>
          </a:p>
        </p:txBody>
      </p:sp>
      <p:sp>
        <p:nvSpPr>
          <p:cNvPr id="11" name="TextBox 10"/>
          <p:cNvSpPr txBox="1"/>
          <p:nvPr/>
        </p:nvSpPr>
        <p:spPr>
          <a:xfrm>
            <a:off x="1417319" y="5632704"/>
            <a:ext cx="4663440" cy="228600"/>
          </a:xfrm>
          <a:prstGeom prst="rect">
            <a:avLst/>
          </a:prstGeom>
          <a:noFill/>
        </p:spPr>
        <p:txBody>
          <a:bodyPr wrap="square" lIns="0" tIns="0" rIns="0" bIns="0" anchor="ctr">
            <a:spAutoFit/>
          </a:bodyPr>
          <a:lstStyle/>
          <a:p>
            <a:pPr algn="l"/>
            <a:r>
              <a:rPr sz="1050" b="0">
                <a:solidFill>
                  <a:srgbClr val="1B2740"/>
                </a:solidFill>
                <a:latin typeface="맑은 고딕"/>
                <a:ea typeface="맑은 고딕"/>
                <a:cs typeface="맑은 고딕"/>
              </a:rPr>
              <a:t>선: 궤적,  마름모: 지금 위치 (표적 색)</a:t>
            </a:r>
          </a:p>
        </p:txBody>
      </p:sp>
      <p:sp>
        <p:nvSpPr>
          <p:cNvPr id="12" name="TextBox 11"/>
          <p:cNvSpPr txBox="1"/>
          <p:nvPr/>
        </p:nvSpPr>
        <p:spPr>
          <a:xfrm>
            <a:off x="6172200" y="5632704"/>
            <a:ext cx="914400" cy="228600"/>
          </a:xfrm>
          <a:prstGeom prst="rect">
            <a:avLst/>
          </a:prstGeom>
          <a:noFill/>
        </p:spPr>
        <p:txBody>
          <a:bodyPr wrap="square" lIns="0" tIns="0" rIns="0" bIns="0" anchor="ctr">
            <a:spAutoFit/>
          </a:bodyPr>
          <a:lstStyle/>
          <a:p>
            <a:pPr algn="l"/>
            <a:r>
              <a:rPr sz="1050" b="1">
                <a:solidFill>
                  <a:srgbClr val="1B2740"/>
                </a:solidFill>
                <a:latin typeface="맑은 고딕"/>
                <a:ea typeface="맑은 고딕"/>
                <a:cs typeface="맑은 고딕"/>
              </a:rPr>
              <a:t>플롯</a:t>
            </a:r>
          </a:p>
        </p:txBody>
      </p:sp>
      <p:sp>
        <p:nvSpPr>
          <p:cNvPr id="13" name="TextBox 12"/>
          <p:cNvSpPr txBox="1"/>
          <p:nvPr/>
        </p:nvSpPr>
        <p:spPr>
          <a:xfrm>
            <a:off x="6949440" y="5632704"/>
            <a:ext cx="4663440" cy="228600"/>
          </a:xfrm>
          <a:prstGeom prst="rect">
            <a:avLst/>
          </a:prstGeom>
          <a:noFill/>
        </p:spPr>
        <p:txBody>
          <a:bodyPr wrap="square" lIns="0" tIns="0" rIns="0" bIns="0" anchor="ctr">
            <a:spAutoFit/>
          </a:bodyPr>
          <a:lstStyle/>
          <a:p>
            <a:pPr algn="l"/>
            <a:r>
              <a:rPr sz="1050" b="0">
                <a:solidFill>
                  <a:srgbClr val="1B2740"/>
                </a:solidFill>
                <a:latin typeface="맑은 고딕"/>
                <a:ea typeface="맑은 고딕"/>
                <a:cs typeface="맑은 고딕"/>
              </a:rPr>
              <a:t>옅은 점: 지난 스캔,  흰 테 큰 점: 지금 스캔</a:t>
            </a:r>
          </a:p>
        </p:txBody>
      </p:sp>
      <p:sp>
        <p:nvSpPr>
          <p:cNvPr id="14" name="TextBox 13"/>
          <p:cNvSpPr txBox="1"/>
          <p:nvPr/>
        </p:nvSpPr>
        <p:spPr>
          <a:xfrm>
            <a:off x="640080" y="5907024"/>
            <a:ext cx="914400" cy="228600"/>
          </a:xfrm>
          <a:prstGeom prst="rect">
            <a:avLst/>
          </a:prstGeom>
          <a:noFill/>
        </p:spPr>
        <p:txBody>
          <a:bodyPr wrap="square" lIns="0" tIns="0" rIns="0" bIns="0" anchor="ctr">
            <a:spAutoFit/>
          </a:bodyPr>
          <a:lstStyle/>
          <a:p>
            <a:pPr algn="l"/>
            <a:r>
              <a:rPr sz="1050" b="1">
                <a:solidFill>
                  <a:srgbClr val="1B2740"/>
                </a:solidFill>
                <a:latin typeface="맑은 고딕"/>
                <a:ea typeface="맑은 고딕"/>
                <a:cs typeface="맑은 고딕"/>
              </a:rPr>
              <a:t>트랙</a:t>
            </a:r>
          </a:p>
        </p:txBody>
      </p:sp>
      <p:sp>
        <p:nvSpPr>
          <p:cNvPr id="15" name="TextBox 14"/>
          <p:cNvSpPr txBox="1"/>
          <p:nvPr/>
        </p:nvSpPr>
        <p:spPr>
          <a:xfrm>
            <a:off x="1417319" y="5907024"/>
            <a:ext cx="4663440" cy="228600"/>
          </a:xfrm>
          <a:prstGeom prst="rect">
            <a:avLst/>
          </a:prstGeom>
          <a:noFill/>
        </p:spPr>
        <p:txBody>
          <a:bodyPr wrap="square" lIns="0" tIns="0" rIns="0" bIns="0" anchor="ctr">
            <a:spAutoFit/>
          </a:bodyPr>
          <a:lstStyle/>
          <a:p>
            <a:pPr algn="l"/>
            <a:r>
              <a:rPr sz="1050" b="0">
                <a:solidFill>
                  <a:srgbClr val="1B2740"/>
                </a:solidFill>
                <a:latin typeface="맑은 고딕"/>
                <a:ea typeface="맑은 고딕"/>
                <a:cs typeface="맑은 고딕"/>
              </a:rPr>
              <a:t>빈 주황 사각형: 임시,  회색 X: 삭제,  숫자: ID</a:t>
            </a:r>
          </a:p>
        </p:txBody>
      </p:sp>
      <p:sp>
        <p:nvSpPr>
          <p:cNvPr id="16" name="TextBox 15"/>
          <p:cNvSpPr txBox="1"/>
          <p:nvPr/>
        </p:nvSpPr>
        <p:spPr>
          <a:xfrm>
            <a:off x="6172200" y="5907024"/>
            <a:ext cx="914400" cy="228600"/>
          </a:xfrm>
          <a:prstGeom prst="rect">
            <a:avLst/>
          </a:prstGeom>
          <a:noFill/>
        </p:spPr>
        <p:txBody>
          <a:bodyPr wrap="square" lIns="0" tIns="0" rIns="0" bIns="0" anchor="ctr">
            <a:spAutoFit/>
          </a:bodyPr>
          <a:lstStyle/>
          <a:p>
            <a:pPr algn="l"/>
            <a:r>
              <a:rPr sz="1050" b="1">
                <a:solidFill>
                  <a:srgbClr val="1B2740"/>
                </a:solidFill>
                <a:latin typeface="맑은 고딕"/>
                <a:ea typeface="맑은 고딕"/>
                <a:cs typeface="맑은 고딕"/>
              </a:rPr>
              <a:t>속도 선</a:t>
            </a:r>
          </a:p>
        </p:txBody>
      </p:sp>
      <p:sp>
        <p:nvSpPr>
          <p:cNvPr id="17" name="TextBox 16"/>
          <p:cNvSpPr txBox="1"/>
          <p:nvPr/>
        </p:nvSpPr>
        <p:spPr>
          <a:xfrm>
            <a:off x="6949440" y="5907024"/>
            <a:ext cx="4663440" cy="228600"/>
          </a:xfrm>
          <a:prstGeom prst="rect">
            <a:avLst/>
          </a:prstGeom>
          <a:noFill/>
        </p:spPr>
        <p:txBody>
          <a:bodyPr wrap="square" lIns="0" tIns="0" rIns="0" bIns="0" anchor="ctr">
            <a:spAutoFit/>
          </a:bodyPr>
          <a:lstStyle/>
          <a:p>
            <a:pPr algn="l"/>
            <a:r>
              <a:rPr sz="1050" b="0">
                <a:solidFill>
                  <a:srgbClr val="1B2740"/>
                </a:solidFill>
                <a:latin typeface="맑은 고딕"/>
                <a:ea typeface="맑은 고딕"/>
                <a:cs typeface="맑은 고딕"/>
              </a:rPr>
              <a:t>트랙 속도로 1 초 동안 가는 거리</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04. 결과</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4.3 트랙 수명과 스코어 확인</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과제 조건 (Assigned_Flag 늘 0) 에서 트랙은 세 스캔 동안만 보입니다. 확정 · 메모리 상태는 스코어 확인 창으로 확인했습니다.</a:t>
            </a:r>
            <a:endParaRPr lang="en-US" sz="1250" dirty="0"/>
          </a:p>
        </p:txBody>
      </p:sp>
      <p:sp>
        <p:nvSpPr>
          <p:cNvPr id="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sp>
        <p:nvSpPr>
          <p:cNvPr id="6" name="TextBox 5"/>
          <p:cNvSpPr txBox="1"/>
          <p:nvPr/>
        </p:nvSpPr>
        <p:spPr>
          <a:xfrm>
            <a:off x="640080" y="2231136"/>
            <a:ext cx="6309360" cy="219456"/>
          </a:xfrm>
          <a:prstGeom prst="rect">
            <a:avLst/>
          </a:prstGeom>
          <a:noFill/>
        </p:spPr>
        <p:txBody>
          <a:bodyPr wrap="square" lIns="0" tIns="0" rIns="0" bIns="0" anchor="ctr">
            <a:spAutoFit/>
          </a:bodyPr>
          <a:lstStyle/>
          <a:p>
            <a:pPr algn="l"/>
            <a:r>
              <a:rPr sz="1150" b="1">
                <a:solidFill>
                  <a:srgbClr val="1B2740"/>
                </a:solidFill>
                <a:latin typeface="맑은 고딕"/>
                <a:ea typeface="맑은 고딕"/>
                <a:cs typeface="맑은 고딕"/>
              </a:rPr>
              <a:t>스캔 300 의 트랙 표</a:t>
            </a:r>
          </a:p>
        </p:txBody>
      </p:sp>
      <p:pic>
        <p:nvPicPr>
          <p:cNvPr id="7" name="Picture 6" descr="table_s300.png"/>
          <p:cNvPicPr>
            <a:picLocks noChangeAspect="1"/>
          </p:cNvPicPr>
          <p:nvPr/>
        </p:nvPicPr>
        <p:blipFill>
          <a:blip r:embed="rId3"/>
          <a:stretch>
            <a:fillRect/>
          </a:stretch>
        </p:blipFill>
        <p:spPr>
          <a:xfrm>
            <a:off x="640080" y="2505456"/>
            <a:ext cx="6309360" cy="851657"/>
          </a:xfrm>
          <a:prstGeom prst="rect">
            <a:avLst/>
          </a:prstGeom>
          <a:ln w="9525">
            <a:solidFill>
              <a:srgbClr val="D2D9E5"/>
            </a:solidFill>
          </a:ln>
        </p:spPr>
      </p:pic>
      <p:sp>
        <p:nvSpPr>
          <p:cNvPr id="8" name="Oval 7"/>
          <p:cNvSpPr/>
          <p:nvPr/>
        </p:nvSpPr>
        <p:spPr>
          <a:xfrm>
            <a:off x="685800" y="393192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9" name="TextBox 8"/>
          <p:cNvSpPr txBox="1"/>
          <p:nvPr/>
        </p:nvSpPr>
        <p:spPr>
          <a:xfrm>
            <a:off x="1069848" y="3913632"/>
            <a:ext cx="5879592" cy="658368"/>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나이가 다른 트랙 세 개</a:t>
            </a:r>
          </a:p>
          <a:p>
            <a:pPr algn="l">
              <a:lnSpc>
                <a:spcPct val="105000"/>
              </a:lnSpc>
            </a:pPr>
            <a:r>
              <a:rPr sz="1050" b="0">
                <a:solidFill>
                  <a:srgbClr val="4A5A7A"/>
                </a:solidFill>
                <a:latin typeface="맑은 고딕"/>
                <a:ea typeface="맑은 고딕"/>
                <a:cs typeface="맑은 고딕"/>
              </a:rPr>
              <a:t>350: 이번 스캔에 개시, TrackScore 2</a:t>
            </a:r>
          </a:p>
          <a:p>
            <a:pPr algn="l">
              <a:lnSpc>
                <a:spcPct val="105000"/>
              </a:lnSpc>
            </a:pPr>
            <a:r>
              <a:rPr sz="1050" b="0">
                <a:solidFill>
                  <a:srgbClr val="4A5A7A"/>
                </a:solidFill>
                <a:latin typeface="맑은 고딕"/>
                <a:ea typeface="맑은 고딕"/>
                <a:cs typeface="맑은 고딕"/>
              </a:rPr>
              <a:t>349: 한 스캔 전 개시, 1  /  348: 두 스캔 전 개시, 0 -&gt; 삭제 (4)</a:t>
            </a:r>
          </a:p>
        </p:txBody>
      </p:sp>
      <p:sp>
        <p:nvSpPr>
          <p:cNvPr id="10" name="TextBox 9"/>
          <p:cNvSpPr txBox="1"/>
          <p:nvPr/>
        </p:nvSpPr>
        <p:spPr>
          <a:xfrm>
            <a:off x="7269480" y="5760720"/>
            <a:ext cx="4279392" cy="274320"/>
          </a:xfrm>
          <a:prstGeom prst="rect">
            <a:avLst/>
          </a:prstGeom>
          <a:noFill/>
        </p:spPr>
        <p:txBody>
          <a:bodyPr wrap="square" lIns="0" tIns="0" rIns="0" bIns="0" anchor="t">
            <a:spAutoFit/>
          </a:bodyPr>
          <a:lstStyle/>
          <a:p>
            <a:pPr algn="ctr"/>
            <a:r>
              <a:rPr sz="1000" b="0">
                <a:solidFill>
                  <a:srgbClr val="4A5A7A"/>
                </a:solidFill>
                <a:latin typeface="맑은 고딕"/>
                <a:ea typeface="맑은 고딕"/>
                <a:cs typeface="맑은 고딕"/>
              </a:rPr>
              <a:t>스코어 확인 창: 1 1 1 0 0 1 1 을 넣은 결과</a:t>
            </a:r>
          </a:p>
        </p:txBody>
      </p:sp>
      <p:sp>
        <p:nvSpPr>
          <p:cNvPr id="11" name="Oval 10"/>
          <p:cNvSpPr/>
          <p:nvPr/>
        </p:nvSpPr>
        <p:spPr>
          <a:xfrm>
            <a:off x="685800" y="4800600"/>
            <a:ext cx="256032" cy="256032"/>
          </a:xfrm>
          <a:prstGeom prst="ellipse">
            <a:avLst/>
          </a:prstGeom>
          <a:solidFill>
            <a:srgbClr val="D97706"/>
          </a:solidFill>
          <a:ln>
            <a:noFill/>
          </a:ln>
        </p:spPr>
        <p:txBody>
          <a:bodyPr rtlCol="0" anchor="ctr" lIns="0" tIns="0" rIns="0" bIns="0" wrap="square"/>
          <a:lstStyle/>
          <a:p>
            <a:pPr algn="ctr"/>
            <a:r>
              <a:rPr sz="950" b="1">
                <a:solidFill>
                  <a:srgbClr val="FFFFFF"/>
                </a:solidFill>
                <a:latin typeface="맑은 고딕"/>
                <a:ea typeface="맑은 고딕"/>
                <a:cs typeface="맑은 고딕"/>
              </a:rPr>
              <a:t>2</a:t>
            </a:r>
          </a:p>
        </p:txBody>
      </p:sp>
      <p:sp>
        <p:nvSpPr>
          <p:cNvPr id="12" name="TextBox 11"/>
          <p:cNvSpPr txBox="1"/>
          <p:nvPr/>
        </p:nvSpPr>
        <p:spPr>
          <a:xfrm>
            <a:off x="1069848" y="4782312"/>
            <a:ext cx="5879592" cy="658368"/>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모든 트랙이 같은 수명</a:t>
            </a:r>
          </a:p>
          <a:p>
            <a:pPr algn="l">
              <a:lnSpc>
                <a:spcPct val="105000"/>
              </a:lnSpc>
            </a:pPr>
            <a:r>
              <a:rPr sz="1050" b="0">
                <a:solidFill>
                  <a:srgbClr val="4A5A7A"/>
                </a:solidFill>
                <a:latin typeface="맑은 고딕"/>
                <a:ea typeface="맑은 고딕"/>
                <a:cs typeface="맑은 고딕"/>
              </a:rPr>
              <a:t>개시 2 -&gt; 1 -&gt; 0 (삭제), 다음 스캔에 표에서 빠짐</a:t>
            </a:r>
          </a:p>
          <a:p>
            <a:pPr algn="l">
              <a:lnSpc>
                <a:spcPct val="105000"/>
              </a:lnSpc>
            </a:pPr>
            <a:r>
              <a:rPr sz="1050" b="0">
                <a:solidFill>
                  <a:srgbClr val="4A5A7A"/>
                </a:solidFill>
                <a:latin typeface="맑은 고딕"/>
                <a:ea typeface="맑은 고딕"/>
                <a:cs typeface="맑은 고딕"/>
              </a:rPr>
              <a:t>611 개 모두 이 순서 (확인: 스캔마다 TrackScore = 2 - 나이)</a:t>
            </a:r>
          </a:p>
        </p:txBody>
      </p:sp>
      <p:pic>
        <p:nvPicPr>
          <p:cNvPr id="13" name="Picture 12" descr="score.png"/>
          <p:cNvPicPr>
            <a:picLocks noChangeAspect="1"/>
          </p:cNvPicPr>
          <p:nvPr/>
        </p:nvPicPr>
        <p:blipFill>
          <a:blip r:embed="rId4"/>
          <a:stretch>
            <a:fillRect/>
          </a:stretch>
        </p:blipFill>
        <p:spPr>
          <a:xfrm>
            <a:off x="7269480" y="2286000"/>
            <a:ext cx="4277706" cy="3429000"/>
          </a:xfrm>
          <a:prstGeom prst="rect">
            <a:avLst/>
          </a:prstGeom>
          <a:ln w="9525">
            <a:solidFill>
              <a:srgbClr val="D2D9E5"/>
            </a:solidFill>
          </a:ln>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2"/>
          <p:cNvSpPr/>
          <p:nvPr>
            <p:ph idx="102" type="body" hasCustomPrompt="1"/>
          </p:nvPr>
        </p:nvSpPr>
        <p:spPr>
          <a:xfrm>
            <a:off x="896112" y="566928"/>
            <a:ext cx="8229600" cy="566928"/>
          </a:xfrm>
          <a:prstGeom prst="rect">
            <a:avLst/>
          </a:prstGeom>
          <a:noFill/>
          <a:ln/>
        </p:spPr>
        <p:txBody>
          <a:bodyPr wrap="square" lIns="0" tIns="0" rIns="0" bIns="0" rtlCol="0" anchor="ctr"/>
          <a:lstStyle/>
          <a:p>
            <a:pPr algn="l" indent="0" marL="0">
              <a:buNone/>
            </a:pPr>
            <a:r>
              <a:rPr lang="en-US" sz="1350" b="1" dirty="0">
                <a:solidFill>
                  <a:srgbClr val="FFFFFF"/>
                </a:solidFill>
                <a:latin typeface="맑은 고딕" pitchFamily="34" charset="0"/>
                <a:ea typeface="맑은 고딕" pitchFamily="34" charset="-122"/>
                <a:cs typeface="맑은 고딕" pitchFamily="34" charset="-120"/>
              </a:rPr>
              <a:t>04. 결과</a:t>
            </a:r>
            <a:endParaRPr lang="en-US" sz="1350" dirty="0"/>
          </a:p>
        </p:txBody>
      </p:sp>
      <p:sp>
        <p:nvSpPr>
          <p:cNvPr id="3" name="Text 2"/>
          <p:cNvSpPr/>
          <p:nvPr>
            <p:ph idx="103" type="title" hasCustomPrompt="1"/>
          </p:nvPr>
        </p:nvSpPr>
        <p:spPr>
          <a:xfrm>
            <a:off x="868680" y="1216152"/>
            <a:ext cx="10451592" cy="438912"/>
          </a:xfrm>
          <a:prstGeom prst="rect">
            <a:avLst/>
          </a:prstGeom>
          <a:noFill/>
          <a:ln/>
        </p:spPr>
        <p:txBody>
          <a:bodyPr wrap="square" lIns="0" tIns="0" rIns="0" bIns="0" rtlCol="0" anchor="ctr"/>
          <a:lstStyle/>
          <a:p>
            <a:pPr algn="l" indent="0" marL="0">
              <a:buNone/>
            </a:pPr>
            <a:r>
              <a:rPr lang="en-US" sz="2100" b="1" dirty="0">
                <a:solidFill>
                  <a:srgbClr val="1B2740"/>
                </a:solidFill>
                <a:latin typeface="맑은 고딕" pitchFamily="34" charset="0"/>
                <a:ea typeface="맑은 고딕" pitchFamily="34" charset="-122"/>
                <a:cs typeface="맑은 고딕" pitchFamily="34" charset="-120"/>
              </a:rPr>
              <a:t>4.4 거리에 따른 개시 결과</a:t>
            </a:r>
            <a:endParaRPr lang="en-US" sz="2100" dirty="0"/>
          </a:p>
        </p:txBody>
      </p:sp>
      <p:sp>
        <p:nvSpPr>
          <p:cNvPr id="4" name="Text 2"/>
          <p:cNvSpPr/>
          <p:nvPr>
            <p:ph idx="104" type="body" hasCustomPrompt="1"/>
          </p:nvPr>
        </p:nvSpPr>
        <p:spPr>
          <a:xfrm>
            <a:off x="868680" y="1700784"/>
            <a:ext cx="10451592" cy="512064"/>
          </a:xfrm>
          <a:prstGeom prst="rect">
            <a:avLst/>
          </a:prstGeom>
          <a:noFill/>
          <a:ln/>
        </p:spPr>
        <p:txBody>
          <a:bodyPr wrap="square" lIns="0" tIns="0" rIns="0" bIns="0" rtlCol="0" anchor="t"/>
          <a:lstStyle/>
          <a:p>
            <a:pPr algn="l" indent="0" marL="0">
              <a:lnSpc>
                <a:spcPct val="105000"/>
              </a:lnSpc>
              <a:buNone/>
            </a:pPr>
            <a:r>
              <a:rPr lang="en-US" sz="1250" dirty="0">
                <a:solidFill>
                  <a:srgbClr val="4A5A7A"/>
                </a:solidFill>
                <a:latin typeface="맑은 고딕" pitchFamily="34" charset="0"/>
                <a:ea typeface="맑은 고딕" pitchFamily="34" charset="-122"/>
                <a:cs typeface="맑은 고딕" pitchFamily="34" charset="-120"/>
              </a:rPr>
              <a:t>각도 오차는 거리에 비례해 위치 오차가 됩니다. 스캔 간격 0.1 s 에서 게이트 반경은 80 m 라 먼 표적일수록 개시가 드뭅니다.</a:t>
            </a:r>
            <a:endParaRPr lang="en-US" sz="1250" dirty="0"/>
          </a:p>
        </p:txBody>
      </p:sp>
      <p:sp>
        <p:nvSpPr>
          <p:cNvPr id="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15</a:t>
            </a:fld>
            <a:endParaRPr lang="en-US"/>
          </a:p>
        </p:txBody>
      </p:sp>
      <p:pic>
        <p:nvPicPr>
          <p:cNvPr id="6" name="Picture 5" descr="fig_rate.png"/>
          <p:cNvPicPr>
            <a:picLocks noChangeAspect="1"/>
          </p:cNvPicPr>
          <p:nvPr/>
        </p:nvPicPr>
        <p:blipFill>
          <a:blip r:embed="rId3"/>
          <a:stretch>
            <a:fillRect/>
          </a:stretch>
        </p:blipFill>
        <p:spPr>
          <a:xfrm>
            <a:off x="640080" y="2240280"/>
            <a:ext cx="5577840" cy="2743200"/>
          </a:xfrm>
          <a:prstGeom prst="rect">
            <a:avLst/>
          </a:prstGeom>
        </p:spPr>
      </p:pic>
      <p:graphicFrame>
        <p:nvGraphicFramePr>
          <p:cNvPr id="7" name="Table 6"/>
          <p:cNvGraphicFramePr>
            <a:graphicFrameLocks noGrp="1"/>
          </p:cNvGraphicFramePr>
          <p:nvPr/>
        </p:nvGraphicFramePr>
        <p:xfrm>
          <a:off x="6492240" y="2286000"/>
          <a:ext cx="5056632" cy="1645920"/>
        </p:xfrm>
        <a:graphic>
          <a:graphicData uri="http://schemas.openxmlformats.org/drawingml/2006/table">
            <a:tbl>
              <a:tblPr firstRow="1" bandRow="1">
                <a:tableStyleId>{5C22544A-7EE6-4342-B048-85BDC9FD1C3A}</a:tableStyleId>
              </a:tblPr>
              <a:tblGrid>
                <a:gridCol w="502920"/>
                <a:gridCol w="1188720"/>
                <a:gridCol w="1051560"/>
                <a:gridCol w="1005840"/>
                <a:gridCol w="1307592"/>
              </a:tblGrid>
              <a:tr h="274320">
                <a:tc>
                  <a:txBody>
                    <a:bodyPr/>
                    <a:lstStyle/>
                    <a:p>
                      <a:pPr algn="l"/>
                      <a:r>
                        <a:rPr sz="950" b="1">
                          <a:solidFill>
                            <a:srgbClr val="FFFFFF"/>
                          </a:solidFill>
                          <a:latin typeface="맑은 고딕"/>
                          <a:ea typeface="맑은 고딕"/>
                          <a:cs typeface="맑은 고딕"/>
                        </a:rPr>
                        <a:t>표적</a:t>
                      </a:r>
                    </a:p>
                  </a:txBody>
                  <a:tcPr marL="54864" marR="54864" marT="18288" marB="18288" anchor="ctr">
                    <a:solidFill>
                      <a:srgbClr val="1B2740"/>
                    </a:solidFill>
                  </a:tcPr>
                </a:tc>
                <a:tc>
                  <a:txBody>
                    <a:bodyPr/>
                    <a:lstStyle/>
                    <a:p>
                      <a:pPr algn="l"/>
                      <a:r>
                        <a:rPr sz="950" b="1">
                          <a:solidFill>
                            <a:srgbClr val="FFFFFF"/>
                          </a:solidFill>
                          <a:latin typeface="맑은 고딕"/>
                          <a:ea typeface="맑은 고딕"/>
                          <a:cs typeface="맑은 고딕"/>
                        </a:rPr>
                        <a:t>거리 [km]</a:t>
                      </a:r>
                    </a:p>
                  </a:txBody>
                  <a:tcPr marL="54864" marR="54864" marT="18288" marB="18288" anchor="ctr">
                    <a:solidFill>
                      <a:srgbClr val="1B2740"/>
                    </a:solidFill>
                  </a:tcPr>
                </a:tc>
                <a:tc>
                  <a:txBody>
                    <a:bodyPr/>
                    <a:lstStyle/>
                    <a:p>
                      <a:pPr algn="l"/>
                      <a:r>
                        <a:rPr sz="950" b="1">
                          <a:solidFill>
                            <a:srgbClr val="FFFFFF"/>
                          </a:solidFill>
                          <a:latin typeface="맑은 고딕"/>
                          <a:ea typeface="맑은 고딕"/>
                          <a:cs typeface="맑은 고딕"/>
                        </a:rPr>
                        <a:t>게이트 통과</a:t>
                      </a:r>
                    </a:p>
                  </a:txBody>
                  <a:tcPr marL="54864" marR="54864" marT="18288" marB="18288" anchor="ctr">
                    <a:solidFill>
                      <a:srgbClr val="1B2740"/>
                    </a:solidFill>
                  </a:tcPr>
                </a:tc>
                <a:tc>
                  <a:txBody>
                    <a:bodyPr/>
                    <a:lstStyle/>
                    <a:p>
                      <a:pPr algn="l"/>
                      <a:r>
                        <a:rPr sz="950" b="1">
                          <a:solidFill>
                            <a:srgbClr val="FFFFFF"/>
                          </a:solidFill>
                          <a:latin typeface="맑은 고딕"/>
                          <a:ea typeface="맑은 고딕"/>
                          <a:cs typeface="맑은 고딕"/>
                        </a:rPr>
                        <a:t>개시 트랙</a:t>
                      </a:r>
                    </a:p>
                  </a:txBody>
                  <a:tcPr marL="54864" marR="54864" marT="18288" marB="18288" anchor="ctr">
                    <a:solidFill>
                      <a:srgbClr val="1B2740"/>
                    </a:solidFill>
                  </a:tcPr>
                </a:tc>
                <a:tc>
                  <a:txBody>
                    <a:bodyPr/>
                    <a:lstStyle/>
                    <a:p>
                      <a:pPr algn="l"/>
                      <a:r>
                        <a:rPr sz="950" b="1">
                          <a:solidFill>
                            <a:srgbClr val="FFFFFF"/>
                          </a:solidFill>
                          <a:latin typeface="맑은 고딕"/>
                          <a:ea typeface="맑은 고딕"/>
                          <a:cs typeface="맑은 고딕"/>
                        </a:rPr>
                        <a:t>속도 오차 RMS</a:t>
                      </a:r>
                    </a:p>
                  </a:txBody>
                  <a:tcPr marL="54864" marR="54864" marT="18288" marB="18288" anchor="ctr">
                    <a:solidFill>
                      <a:srgbClr val="1B2740"/>
                    </a:solidFill>
                  </a:tcPr>
                </a:tc>
              </a:tr>
              <a:tr h="274320">
                <a:tc>
                  <a:txBody>
                    <a:bodyPr/>
                    <a:lstStyle/>
                    <a:p>
                      <a:pPr algn="l"/>
                      <a:r>
                        <a:rPr sz="900" b="0">
                          <a:solidFill>
                            <a:srgbClr val="1B2740"/>
                          </a:solidFill>
                          <a:latin typeface="맑은 고딕"/>
                          <a:ea typeface="맑은 고딕"/>
                          <a:cs typeface="맑은 고딕"/>
                        </a:rPr>
                        <a:t>1</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13.9 ~ 14.1</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11 %</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58</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554 m/s</a:t>
                      </a:r>
                    </a:p>
                  </a:txBody>
                  <a:tcPr marL="54864" marR="54864" marT="18288" marB="18288" anchor="ctr">
                    <a:solidFill>
                      <a:srgbClr val="FFFFFF"/>
                    </a:solidFill>
                  </a:tcPr>
                </a:tc>
              </a:tr>
              <a:tr h="274320">
                <a:tc>
                  <a:txBody>
                    <a:bodyPr/>
                    <a:lstStyle/>
                    <a:p>
                      <a:pPr algn="l"/>
                      <a:r>
                        <a:rPr sz="900" b="0">
                          <a:solidFill>
                            <a:srgbClr val="1B2740"/>
                          </a:solidFill>
                          <a:latin typeface="맑은 고딕"/>
                          <a:ea typeface="맑은 고딕"/>
                          <a:cs typeface="맑은 고딕"/>
                        </a:rPr>
                        <a:t>2</a:t>
                      </a:r>
                    </a:p>
                  </a:txBody>
                  <a:tcPr marL="54864" marR="54864" marT="18288" marB="18288" anchor="ctr">
                    <a:solidFill>
                      <a:srgbClr val="F7F9FC"/>
                    </a:solidFill>
                  </a:tcPr>
                </a:tc>
                <a:tc>
                  <a:txBody>
                    <a:bodyPr/>
                    <a:lstStyle/>
                    <a:p>
                      <a:pPr algn="l"/>
                      <a:r>
                        <a:rPr sz="900" b="0">
                          <a:solidFill>
                            <a:srgbClr val="1B2740"/>
                          </a:solidFill>
                          <a:latin typeface="맑은 고딕"/>
                          <a:ea typeface="맑은 고딕"/>
                          <a:cs typeface="맑은 고딕"/>
                        </a:rPr>
                        <a:t>13.3 -&gt; 1.4</a:t>
                      </a:r>
                    </a:p>
                  </a:txBody>
                  <a:tcPr marL="54864" marR="54864" marT="18288" marB="18288" anchor="ctr">
                    <a:solidFill>
                      <a:srgbClr val="F7F9FC"/>
                    </a:solidFill>
                  </a:tcPr>
                </a:tc>
                <a:tc>
                  <a:txBody>
                    <a:bodyPr/>
                    <a:lstStyle/>
                    <a:p>
                      <a:pPr algn="l"/>
                      <a:r>
                        <a:rPr sz="900" b="0">
                          <a:solidFill>
                            <a:srgbClr val="1B2740"/>
                          </a:solidFill>
                          <a:latin typeface="맑은 고딕"/>
                          <a:ea typeface="맑은 고딕"/>
                          <a:cs typeface="맑은 고딕"/>
                        </a:rPr>
                        <a:t>43 %</a:t>
                      </a:r>
                    </a:p>
                  </a:txBody>
                  <a:tcPr marL="54864" marR="54864" marT="18288" marB="18288" anchor="ctr">
                    <a:solidFill>
                      <a:srgbClr val="F7F9FC"/>
                    </a:solidFill>
                  </a:tcPr>
                </a:tc>
                <a:tc>
                  <a:txBody>
                    <a:bodyPr/>
                    <a:lstStyle/>
                    <a:p>
                      <a:pPr algn="l"/>
                      <a:r>
                        <a:rPr sz="900" b="0">
                          <a:solidFill>
                            <a:srgbClr val="1B2740"/>
                          </a:solidFill>
                          <a:latin typeface="맑은 고딕"/>
                          <a:ea typeface="맑은 고딕"/>
                          <a:cs typeface="맑은 고딕"/>
                        </a:rPr>
                        <a:t>158</a:t>
                      </a:r>
                    </a:p>
                  </a:txBody>
                  <a:tcPr marL="54864" marR="54864" marT="18288" marB="18288" anchor="ctr">
                    <a:solidFill>
                      <a:srgbClr val="F7F9FC"/>
                    </a:solidFill>
                  </a:tcPr>
                </a:tc>
                <a:tc>
                  <a:txBody>
                    <a:bodyPr/>
                    <a:lstStyle/>
                    <a:p>
                      <a:pPr algn="l"/>
                      <a:r>
                        <a:rPr sz="900" b="0">
                          <a:solidFill>
                            <a:srgbClr val="1B2740"/>
                          </a:solidFill>
                          <a:latin typeface="맑은 고딕"/>
                          <a:ea typeface="맑은 고딕"/>
                          <a:cs typeface="맑은 고딕"/>
                        </a:rPr>
                        <a:t>475 m/s</a:t>
                      </a:r>
                    </a:p>
                  </a:txBody>
                  <a:tcPr marL="54864" marR="54864" marT="18288" marB="18288" anchor="ctr">
                    <a:solidFill>
                      <a:srgbClr val="F7F9FC"/>
                    </a:solidFill>
                  </a:tcPr>
                </a:tc>
              </a:tr>
              <a:tr h="274320">
                <a:tc>
                  <a:txBody>
                    <a:bodyPr/>
                    <a:lstStyle/>
                    <a:p>
                      <a:pPr algn="l"/>
                      <a:r>
                        <a:rPr sz="900" b="0">
                          <a:solidFill>
                            <a:srgbClr val="1B2740"/>
                          </a:solidFill>
                          <a:latin typeface="맑은 고딕"/>
                          <a:ea typeface="맑은 고딕"/>
                          <a:cs typeface="맑은 고딕"/>
                        </a:rPr>
                        <a:t>3</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6.1 ~ 10.9</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25 %</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115</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575 m/s</a:t>
                      </a:r>
                    </a:p>
                  </a:txBody>
                  <a:tcPr marL="54864" marR="54864" marT="18288" marB="18288" anchor="ctr">
                    <a:solidFill>
                      <a:srgbClr val="FFFFFF"/>
                    </a:solidFill>
                  </a:tcPr>
                </a:tc>
              </a:tr>
              <a:tr h="274320">
                <a:tc>
                  <a:txBody>
                    <a:bodyPr/>
                    <a:lstStyle/>
                    <a:p>
                      <a:pPr algn="l"/>
                      <a:r>
                        <a:rPr sz="900" b="0">
                          <a:solidFill>
                            <a:srgbClr val="1B2740"/>
                          </a:solidFill>
                          <a:latin typeface="맑은 고딕"/>
                          <a:ea typeface="맑은 고딕"/>
                          <a:cs typeface="맑은 고딕"/>
                        </a:rPr>
                        <a:t>4</a:t>
                      </a:r>
                    </a:p>
                  </a:txBody>
                  <a:tcPr marL="54864" marR="54864" marT="18288" marB="18288" anchor="ctr">
                    <a:solidFill>
                      <a:srgbClr val="F7F9FC"/>
                    </a:solidFill>
                  </a:tcPr>
                </a:tc>
                <a:tc>
                  <a:txBody>
                    <a:bodyPr/>
                    <a:lstStyle/>
                    <a:p>
                      <a:pPr algn="l"/>
                      <a:r>
                        <a:rPr sz="900" b="0">
                          <a:solidFill>
                            <a:srgbClr val="1B2740"/>
                          </a:solidFill>
                          <a:latin typeface="맑은 고딕"/>
                          <a:ea typeface="맑은 고딕"/>
                          <a:cs typeface="맑은 고딕"/>
                        </a:rPr>
                        <a:t>8.4 ~ 13.1</a:t>
                      </a:r>
                    </a:p>
                  </a:txBody>
                  <a:tcPr marL="54864" marR="54864" marT="18288" marB="18288" anchor="ctr">
                    <a:solidFill>
                      <a:srgbClr val="F7F9FC"/>
                    </a:solidFill>
                  </a:tcPr>
                </a:tc>
                <a:tc>
                  <a:txBody>
                    <a:bodyPr/>
                    <a:lstStyle/>
                    <a:p>
                      <a:pPr algn="l"/>
                      <a:r>
                        <a:rPr sz="900" b="0">
                          <a:solidFill>
                            <a:srgbClr val="1B2740"/>
                          </a:solidFill>
                          <a:latin typeface="맑은 고딕"/>
                          <a:ea typeface="맑은 고딕"/>
                          <a:cs typeface="맑은 고딕"/>
                        </a:rPr>
                        <a:t>20 %</a:t>
                      </a:r>
                    </a:p>
                  </a:txBody>
                  <a:tcPr marL="54864" marR="54864" marT="18288" marB="18288" anchor="ctr">
                    <a:solidFill>
                      <a:srgbClr val="F7F9FC"/>
                    </a:solidFill>
                  </a:tcPr>
                </a:tc>
                <a:tc>
                  <a:txBody>
                    <a:bodyPr/>
                    <a:lstStyle/>
                    <a:p>
                      <a:pPr algn="l"/>
                      <a:r>
                        <a:rPr sz="900" b="0">
                          <a:solidFill>
                            <a:srgbClr val="1B2740"/>
                          </a:solidFill>
                          <a:latin typeface="맑은 고딕"/>
                          <a:ea typeface="맑은 고딕"/>
                          <a:cs typeface="맑은 고딕"/>
                        </a:rPr>
                        <a:t>98</a:t>
                      </a:r>
                    </a:p>
                  </a:txBody>
                  <a:tcPr marL="54864" marR="54864" marT="18288" marB="18288" anchor="ctr">
                    <a:solidFill>
                      <a:srgbClr val="F7F9FC"/>
                    </a:solidFill>
                  </a:tcPr>
                </a:tc>
                <a:tc>
                  <a:txBody>
                    <a:bodyPr/>
                    <a:lstStyle/>
                    <a:p>
                      <a:pPr algn="l"/>
                      <a:r>
                        <a:rPr sz="900" b="0">
                          <a:solidFill>
                            <a:srgbClr val="1B2740"/>
                          </a:solidFill>
                          <a:latin typeface="맑은 고딕"/>
                          <a:ea typeface="맑은 고딕"/>
                          <a:cs typeface="맑은 고딕"/>
                        </a:rPr>
                        <a:t>531 m/s</a:t>
                      </a:r>
                    </a:p>
                  </a:txBody>
                  <a:tcPr marL="54864" marR="54864" marT="18288" marB="18288" anchor="ctr">
                    <a:solidFill>
                      <a:srgbClr val="F7F9FC"/>
                    </a:solidFill>
                  </a:tcPr>
                </a:tc>
              </a:tr>
              <a:tr h="274320">
                <a:tc>
                  <a:txBody>
                    <a:bodyPr/>
                    <a:lstStyle/>
                    <a:p>
                      <a:pPr algn="l"/>
                      <a:r>
                        <a:rPr sz="900" b="0">
                          <a:solidFill>
                            <a:srgbClr val="1B2740"/>
                          </a:solidFill>
                          <a:latin typeface="맑은 고딕"/>
                          <a:ea typeface="맑은 고딕"/>
                          <a:cs typeface="맑은 고딕"/>
                        </a:rPr>
                        <a:t>5</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5.8 ~ 6.0</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45 %</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182</a:t>
                      </a:r>
                    </a:p>
                  </a:txBody>
                  <a:tcPr marL="54864" marR="54864" marT="18288" marB="18288" anchor="ctr">
                    <a:solidFill>
                      <a:srgbClr val="FFFFFF"/>
                    </a:solidFill>
                  </a:tcPr>
                </a:tc>
                <a:tc>
                  <a:txBody>
                    <a:bodyPr/>
                    <a:lstStyle/>
                    <a:p>
                      <a:pPr algn="l"/>
                      <a:r>
                        <a:rPr sz="900" b="0">
                          <a:solidFill>
                            <a:srgbClr val="1B2740"/>
                          </a:solidFill>
                          <a:latin typeface="맑은 고딕"/>
                          <a:ea typeface="맑은 고딕"/>
                          <a:cs typeface="맑은 고딕"/>
                        </a:rPr>
                        <a:t>549 m/s</a:t>
                      </a:r>
                    </a:p>
                  </a:txBody>
                  <a:tcPr marL="54864" marR="54864" marT="18288" marB="18288" anchor="ctr">
                    <a:solidFill>
                      <a:srgbClr val="FFFFFF"/>
                    </a:solidFill>
                  </a:tcPr>
                </a:tc>
              </a:tr>
            </a:tbl>
          </a:graphicData>
        </a:graphic>
      </p:graphicFrame>
      <p:sp>
        <p:nvSpPr>
          <p:cNvPr id="8" name="TextBox 7"/>
          <p:cNvSpPr txBox="1"/>
          <p:nvPr/>
        </p:nvSpPr>
        <p:spPr>
          <a:xfrm>
            <a:off x="6492240" y="4023360"/>
            <a:ext cx="5056632" cy="457200"/>
          </a:xfrm>
          <a:prstGeom prst="rect">
            <a:avLst/>
          </a:prstGeom>
          <a:noFill/>
        </p:spPr>
        <p:txBody>
          <a:bodyPr wrap="square" lIns="0" tIns="0" rIns="0" bIns="0" anchor="t">
            <a:spAutoFit/>
          </a:bodyPr>
          <a:lstStyle/>
          <a:p>
            <a:pPr algn="l"/>
            <a:r>
              <a:rPr sz="900" b="0">
                <a:solidFill>
                  <a:srgbClr val="4A5A7A"/>
                </a:solidFill>
                <a:latin typeface="맑은 고딕"/>
                <a:ea typeface="맑은 고딕"/>
                <a:cs typeface="맑은 고딕"/>
              </a:rPr>
              <a:t>게이트 통과: 참 표적 쌍 기준.  개시 트랙: 한 번 쓴 플롯은 다시 쓰지 않아 최대 300.  속도 오차: 개시 순간 추정 속도와 참 속도 차</a:t>
            </a:r>
          </a:p>
        </p:txBody>
      </p:sp>
      <p:sp>
        <p:nvSpPr>
          <p:cNvPr id="9" name="Oval 8"/>
          <p:cNvSpPr/>
          <p:nvPr/>
        </p:nvSpPr>
        <p:spPr>
          <a:xfrm>
            <a:off x="6537960" y="4617720"/>
            <a:ext cx="256032" cy="256032"/>
          </a:xfrm>
          <a:prstGeom prst="ellipse">
            <a:avLst/>
          </a:prstGeom>
          <a:solidFill>
            <a:srgbClr val="DC2626"/>
          </a:solidFill>
          <a:ln>
            <a:noFill/>
          </a:ln>
        </p:spPr>
        <p:txBody>
          <a:bodyPr rtlCol="0" anchor="ctr" lIns="0" tIns="0" rIns="0" bIns="0" wrap="square"/>
          <a:lstStyle/>
          <a:p>
            <a:pPr algn="ctr"/>
            <a:r>
              <a:rPr sz="950" b="1">
                <a:solidFill>
                  <a:srgbClr val="FFFFFF"/>
                </a:solidFill>
                <a:latin typeface="맑은 고딕"/>
                <a:ea typeface="맑은 고딕"/>
                <a:cs typeface="맑은 고딕"/>
              </a:rPr>
              <a:t>1</a:t>
            </a:r>
          </a:p>
        </p:txBody>
      </p:sp>
      <p:sp>
        <p:nvSpPr>
          <p:cNvPr id="10" name="TextBox 9"/>
          <p:cNvSpPr txBox="1"/>
          <p:nvPr/>
        </p:nvSpPr>
        <p:spPr>
          <a:xfrm>
            <a:off x="6922008" y="4599432"/>
            <a:ext cx="4626864" cy="658368"/>
          </a:xfrm>
          <a:prstGeom prst="rect">
            <a:avLst/>
          </a:prstGeom>
          <a:noFill/>
        </p:spPr>
        <p:txBody>
          <a:bodyPr wrap="square" lIns="0" tIns="0" rIns="0" bIns="0" anchor="t">
            <a:spAutoFit/>
          </a:bodyPr>
          <a:lstStyle/>
          <a:p>
            <a:pPr algn="l">
              <a:lnSpc>
                <a:spcPct val="105000"/>
              </a:lnSpc>
            </a:pPr>
            <a:r>
              <a:rPr sz="1050" b="1">
                <a:solidFill>
                  <a:srgbClr val="1B2740"/>
                </a:solidFill>
                <a:latin typeface="맑은 고딕"/>
                <a:ea typeface="맑은 고딕"/>
                <a:cs typeface="맑은 고딕"/>
              </a:rPr>
              <a:t>SNR 1000 이면</a:t>
            </a:r>
          </a:p>
          <a:p>
            <a:pPr algn="l">
              <a:lnSpc>
                <a:spcPct val="105000"/>
              </a:lnSpc>
            </a:pPr>
            <a:r>
              <a:rPr sz="1050" b="0">
                <a:solidFill>
                  <a:srgbClr val="4A5A7A"/>
                </a:solidFill>
                <a:latin typeface="맑은 고딕"/>
                <a:ea typeface="맑은 고딕"/>
                <a:cs typeface="맑은 고딕"/>
              </a:rPr>
              <a:t>모든 표적이 두 스캔마다 개시 (각 300 개)</a:t>
            </a:r>
          </a:p>
          <a:p>
            <a:pPr algn="l">
              <a:lnSpc>
                <a:spcPct val="105000"/>
              </a:lnSpc>
            </a:pPr>
            <a:r>
              <a:rPr sz="1050" b="0">
                <a:solidFill>
                  <a:srgbClr val="4A5A7A"/>
                </a:solidFill>
                <a:latin typeface="맑은 고딕"/>
                <a:ea typeface="맑은 고딕"/>
                <a:cs typeface="맑은 고딕"/>
              </a:rPr>
              <a:t>정규화 속도 오차 제곱 평균 2.8 ~ 2.9 (이론 3) -&gt; P 가 실제 오차와 맞다</a:t>
            </a:r>
          </a:p>
        </p:txBody>
      </p:sp>
      <p:sp>
        <p:nvSpPr>
          <p:cNvPr id="11" name="Rectangle 10"/>
          <p:cNvSpPr/>
          <p:nvPr/>
        </p:nvSpPr>
        <p:spPr>
          <a:xfrm>
            <a:off x="640080" y="5257800"/>
            <a:ext cx="5577840" cy="777240"/>
          </a:xfrm>
          <a:prstGeom prst="rect">
            <a:avLst/>
          </a:prstGeom>
          <a:solidFill>
            <a:srgbClr val="FEF3E2"/>
          </a:solidFill>
          <a:ln w="9525">
            <a:solidFill>
              <a:srgbClr val="D97706"/>
            </a:solidFill>
          </a:ln>
        </p:spPr>
        <p:txBody>
          <a:bodyPr rtlCol="0" anchor="ctr"/>
          <a:lstStyle/>
          <a:p>
            <a:pPr algn="ctr"/>
          </a:p>
        </p:txBody>
      </p:sp>
      <p:sp>
        <p:nvSpPr>
          <p:cNvPr id="12" name="TextBox 11"/>
          <p:cNvSpPr txBox="1"/>
          <p:nvPr/>
        </p:nvSpPr>
        <p:spPr>
          <a:xfrm>
            <a:off x="804672" y="5303520"/>
            <a:ext cx="5303520" cy="713232"/>
          </a:xfrm>
          <a:prstGeom prst="rect">
            <a:avLst/>
          </a:prstGeom>
          <a:noFill/>
        </p:spPr>
        <p:txBody>
          <a:bodyPr wrap="square" lIns="0" tIns="0" rIns="0" bIns="0" anchor="t">
            <a:spAutoFit/>
          </a:bodyPr>
          <a:lstStyle/>
          <a:p>
            <a:pPr algn="l">
              <a:lnSpc>
                <a:spcPct val="110000"/>
              </a:lnSpc>
            </a:pPr>
            <a:r>
              <a:rPr sz="1050" b="1">
                <a:solidFill>
                  <a:srgbClr val="B45309"/>
                </a:solidFill>
                <a:latin typeface="맑은 고딕"/>
                <a:ea typeface="맑은 고딕"/>
                <a:cs typeface="맑은 고딕"/>
              </a:rPr>
              <a:t>속도 오차가 큰 이유</a:t>
            </a:r>
          </a:p>
          <a:p>
            <a:pPr algn="l">
              <a:lnSpc>
                <a:spcPct val="110000"/>
              </a:lnSpc>
            </a:pPr>
            <a:r>
              <a:rPr sz="1000" b="0">
                <a:solidFill>
                  <a:srgbClr val="1B2740"/>
                </a:solidFill>
                <a:latin typeface="맑은 고딕"/>
                <a:ea typeface="맑은 고딕"/>
                <a:cs typeface="맑은 고딕"/>
              </a:rPr>
              <a:t>위치 오차를 0.1 s 로 나누기 때문. 스캔 간격이 수 초인 탐색 레이다라면</a:t>
            </a:r>
          </a:p>
          <a:p>
            <a:pPr algn="l">
              <a:lnSpc>
                <a:spcPct val="110000"/>
              </a:lnSpc>
            </a:pPr>
            <a:r>
              <a:rPr sz="1000" b="0">
                <a:solidFill>
                  <a:srgbClr val="1B2740"/>
                </a:solidFill>
                <a:latin typeface="맑은 고딕"/>
                <a:ea typeface="맑은 고딕"/>
                <a:cs typeface="맑은 고딕"/>
              </a:rPr>
              <a:t>같은 위치 오차에서 속도 오차가 수십 분의 일로 준다.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206240" y="2788920"/>
            <a:ext cx="6766560" cy="731520"/>
          </a:xfrm>
          <a:prstGeom prst="rect">
            <a:avLst/>
          </a:prstGeom>
          <a:noFill/>
          <a:ln/>
        </p:spPr>
        <p:txBody>
          <a:bodyPr wrap="square" lIns="0" tIns="0" rIns="0" bIns="0" rtlCol="0" anchor="ctr"/>
          <a:lstStyle/>
          <a:p>
            <a:pPr algn="r" indent="0" marL="0">
              <a:buNone/>
            </a:pPr>
            <a:r>
              <a:rPr lang="en-US" sz="3600" b="1" dirty="0">
                <a:solidFill>
                  <a:srgbClr val="FFFFFF"/>
                </a:solidFill>
                <a:latin typeface="맑은 고딕" pitchFamily="34" charset="0"/>
                <a:ea typeface="맑은 고딕" pitchFamily="34" charset="-122"/>
                <a:cs typeface="맑은 고딕" pitchFamily="34" charset="-120"/>
              </a:rPr>
              <a:t>감사합니다</a:t>
            </a:r>
            <a:endParaRPr lang="en-US" sz="3600" dirty="0"/>
          </a:p>
        </p:txBody>
      </p:sp>
      <p:sp>
        <p:nvSpPr>
          <p:cNvPr id="3" name="Shape 1"/>
          <p:cNvSpPr/>
          <p:nvPr/>
        </p:nvSpPr>
        <p:spPr>
          <a:xfrm>
            <a:off x="7863840" y="3675888"/>
            <a:ext cx="3108960" cy="0"/>
          </a:xfrm>
          <a:prstGeom prst="line">
            <a:avLst/>
          </a:prstGeom>
          <a:noFill/>
          <a:ln w="9525">
            <a:solidFill>
              <a:srgbClr val="AEB9CC"/>
            </a:solidFill>
            <a:prstDash val="solid"/>
          </a:ln>
        </p:spPr>
      </p:sp>
      <p:sp>
        <p:nvSpPr>
          <p:cNvPr id="4" name="Text 2"/>
          <p:cNvSpPr txBox="1"/>
          <p:nvPr/>
        </p:nvSpPr>
        <p:spPr>
          <a:xfrm>
            <a:off x="4206240" y="3803904"/>
            <a:ext cx="6766560" cy="310896"/>
          </a:xfrm>
          <a:prstGeom prst="rect">
            <a:avLst/>
          </a:prstGeom>
          <a:noFill/>
          <a:ln/>
        </p:spPr>
        <p:txBody>
          <a:bodyPr wrap="square" lIns="0" tIns="0" rIns="0" bIns="0" rtlCol="0" anchor="ctr"/>
          <a:lstStyle/>
          <a:p>
            <a:pPr algn="r" indent="0" marL="0">
              <a:buNone/>
            </a:pPr>
            <a:r>
              <a:rPr lang="en-US" sz="1300" dirty="0">
                <a:solidFill>
                  <a:srgbClr val="AEB9CC"/>
                </a:solidFill>
                <a:latin typeface="맑은 고딕" pitchFamily="34" charset="0"/>
                <a:ea typeface="맑은 고딕" pitchFamily="34" charset="-122"/>
                <a:cs typeface="맑은 고딕" pitchFamily="34" charset="-120"/>
              </a:rPr>
              <a:t>질문 주시면 답변드리겠습니다</a:t>
            </a:r>
            <a:endParaRPr lang="en-US" sz="1300" dirty="0"/>
          </a:p>
        </p:txBody>
      </p:sp>
    </p:spTree>
  </p:cSld>
  <p:clrMapOvr>
    <a:masterClrMapping/>
  </p:clrMapOvr>
</p:sld>
</file>

<file path=ppt/theme/theme1.xml><?xml version="1.0" encoding="utf-8"?>
<a:theme xmlns:a="http://schemas.openxmlformats.org/drawingml/2006/main" name="Radar SW Study">
  <a:themeElements>
    <a:clrScheme name="Radar SW Study">
      <a:dk1>
        <a:srgbClr val="1B2740"/>
      </a:dk1>
      <a:lt1>
        <a:srgbClr val="FFFFFF"/>
      </a:lt1>
      <a:dk2>
        <a:srgbClr val="4A5A7A"/>
      </a:dk2>
      <a:lt2>
        <a:srgbClr val="F7F9FC"/>
      </a:lt2>
      <a:accent1>
        <a:srgbClr val="2563EB"/>
      </a:accent1>
      <a:accent2>
        <a:srgbClr val="D97706"/>
      </a:accent2>
      <a:accent3>
        <a:srgbClr val="059669"/>
      </a:accent3>
      <a:accent4>
        <a:srgbClr val="DC2626"/>
      </a:accent4>
      <a:accent5>
        <a:srgbClr val="7C3AED"/>
      </a:accent5>
      <a:accent6>
        <a:srgbClr val="8794AC"/>
      </a:accent6>
      <a:hlink>
        <a:srgbClr val="2563EB"/>
      </a:hlink>
      <a:folHlink>
        <a:srgbClr val="7C3AED"/>
      </a:folHlink>
    </a:clrScheme>
    <a:fontScheme name="Radar SW Study">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radar-sw-study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플롯 · 클러터 모의</dc:title>
  <dc:subject>레이다 SW 학습 과제 4</dc:subject>
  <dc:creator>Janghwan Kim (Harley)</dc:creator>
  <cp:lastModifiedBy>Janghwan Kim (Harley)</cp:lastModifiedBy>
  <cp:revision>1</cp:revision>
  <dcterms:created xsi:type="dcterms:W3CDTF">2026-10-13T08:47:03Z</dcterms:created>
  <dcterms:modified xsi:type="dcterms:W3CDTF">2026-10-13T08:47:03Z</dcterms:modified>
</cp:coreProperties>
</file>