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6"/>
    <p:sldId id="276" r:id="rId5"/>
    <p:sldId id="277" r:id="rId4"/>
    <p:sldId id="278" r:id="rId3"/>
    <p:sldId id="279" r:id="rId2"/>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5 발표를 시작하겠습니다. 주제는 트랙 개시와 트랙 관리입니다.</a:t>
            </a:r>
          </a:p>
          <a:p>
            <a:r>
              <a:t>과제 4에서는 표적 플롯과 클러터를 만들었습니다. 이번 과제에서는 그 플롯을 받아 트랙을 만들고, 만든 트랙의 상태를 관리하는 기능을 구현했습니다.</a:t>
            </a:r>
          </a:p>
          <a:p>
            <a:r>
              <a:t>개념, 구현, 결과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부분으로 진행하겠습니다.</a:t>
            </a:r>
          </a:p>
          <a:p>
            <a:r>
              <a:t>첫 번째는 트랙을 처음 만드는 트랙 개시, 두 번째는 만든 트랙의 상태를 관리하는 트랙 관리입니다.</a:t>
            </a:r>
          </a:p>
          <a:p>
            <a:r>
              <a:t>세 번째로 C 코드 구현을 보고, 마지막으로 실행 결과를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파트는 트랙 개시입니다.</a:t>
            </a:r>
          </a:p>
          <a:p>
            <a:r>
              <a:t>플롯과 트랙의 차이, 1-Point와 2-Point 개시 방법, 2-Point 초기값 계산, 측정잡음 공분산 R, 속도 게이팅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과제의 위치입니다. 과제 3에서 표적의 참값 궤적을 만들었고, 과제 4에서 참값에 잡음을 더한 플롯과 클러터를 만들었습니다. 과제 5는 그 다음 단계입니다.</a:t>
            </a:r>
          </a:p>
          <a:p>
            <a:r>
              <a:t>왼쪽 그림이 레이다가 넘겨주는 정보입니다. 스캔마다 점이 찍히지만, 각 점이 표적인지 클러터인지는 알 수 없습니다.</a:t>
            </a:r>
          </a:p>
          <a:p>
            <a:r>
              <a:t>오른쪽 그림처럼 같은 물체로 판단되는 플롯을 묶고, 번호와 위치, 속도, 상태를 부여한 것이 트랙입니다.</a:t>
            </a:r>
          </a:p>
          <a:p>
            <a:r>
              <a:t>이번 과제는 트랙을 처음 만드는 개시와, 트랙 상태를 관리하는 기능을 구현하는 것입니다. 새 플롯을 기존 트랙에 이어 붙이는 연관과 추적 필터는 다음 과제에서 다루게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개시 방법은 두 가지입니다.</a:t>
            </a:r>
          </a:p>
          <a:p>
            <a:r>
              <a:t>1-Point 개시는 플롯 하나로 트랙을 만드는 방법입니다. 위치는 플롯 위치를 그대로 쓰지만, 점 하나로는 움직이는 방향을 알 수 없어 속도를 0으로 둡니다. 그래서 개시는 가장 빠르지만 초기 속도 오차가 크게 됩니다.</a:t>
            </a:r>
          </a:p>
          <a:p>
            <a:r>
              <a:t>2-Point 개시는 연속된 두 스캔의 플롯을 사용합니다. 두 플롯의 위치 차이를 시간 차로 나누어 속도를 구하기 때문에 1-Point보다 속도 오차가 작습니다. 대신 두 번째 스캔까지 기다려야 하므로 개시가 한 스캔 늦어집니다.</a:t>
            </a:r>
          </a:p>
          <a:p>
            <a:r>
              <a:t>이번 과제에서는 2-Point 개시를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개시의 계산식입니다.</a:t>
            </a:r>
          </a:p>
          <a:p>
            <a:r>
              <a:t>상태 변수는 과제에서 정한 대로 x, y, z 축마다 위치, 속도, 가속도를 가지는 9개입니다. 좌표계는 레이다를 원점으로 하는 북-동-아래, VC-NED 좌표계를 사용했습니다.</a:t>
            </a:r>
          </a:p>
          <a:p>
            <a:r>
              <a:t>초기 상태는 축마다 같은 식으로 계산합니다. 위치는 이번 스캔 플롯, 속도는 두 플롯의 위치 차를 시간 차 T로 나눈 값, 가속도는 과제 조건에 따라 0입니다.</a:t>
            </a:r>
          </a:p>
          <a:p>
            <a:r>
              <a:t>초기 오차 공분산 P는 오른쪽 그림과 같은 9 곱하기 9 행렬입니다. 위치 칸에는 이번 플롯의 측정잡음 R, 위치와 속도 사이에는 R을 T로 나눈 값, 속도 칸에는 두 플롯의 R을 더해 T 제곱으로 나눈 값이 들어갑니다. 회색으로 표시한 가속도 행과 열은 모두 0입니다.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P를 계산하려면 플롯 하나의 위치 오차, 즉 측정잡음 공분산 R이 필요합니다.</a:t>
            </a:r>
          </a:p>
          <a:p>
            <a:r>
              <a:t>과제에서는 R을 구성하는 표준편차로 거리 10미터, 방위각과 고각 0.2도를 주었습니다.</a:t>
            </a:r>
          </a:p>
          <a:p>
            <a:r>
              <a:t>레이다는 거리와 각도로 재고 트랙은 북, 동, 아래의 미터 좌표로 관리하기 때문에, 오른쪽 위 식처럼 바꿔 씁니다. 가운데 파란 괄호는 레이다 시선을 기준으로 본 오차 크기입니다. 거리 방향은 10미터 그대로이고, 각도 오차는 거리를 곱해 미터로 바꿉니다. 방위각 쪽의 cos el은 고각이 높을수록 같은 방위각 차이가 옆으로 덜 벌어지는 것을 반영한 값으로, 고각이 작으면 거의 1입니다.</a:t>
            </a:r>
          </a:p>
          <a:p>
            <a:r>
              <a:t>앞뒤의 초록색 C는 시선 기준 축을 북, 동, 아래 축으로 돌리는 회전 행렬이고, 안테나가 향한 방향과 플랫폼 자세로 정해집니다. 앞뒤로 C를 곱하는 것은 타원의 모양은 그대로 두고 방향만 돌려 놓는다는 뜻입니다.</a:t>
            </a:r>
          </a:p>
          <a:p>
            <a:r>
              <a:t>R이 무엇을 뜻하는지는 아래 그림으로 보겠습니다. 레이다는 거리는 정확하게 재지만 방향은 조금씩 틀리고, 이 각도 오차는 왼쪽 그림처럼 손전등 빛과 같이 멀리 갈수록 옆으로 퍼집니다. 0.2도는 5킬로미터에서 약 17미터, 14킬로미터에서는 약 49미터가 됩니다. 반면 거리 오차는 어디서나 10미터입니다.</a:t>
            </a:r>
          </a:p>
          <a:p>
            <a:r>
              <a:t>오른쪽은 14킬로미터 표적 주변을 실제 비율로 확대한 그림입니다. 같은 표적을 여러 번 재면 플롯이 점들처럼 흩어지는데, 이 흩어지는 크기와 모양이 R입니다. 거리 방향으로는 10미터로 좁고 옆 방향으로는 49미터로 넓은, 옆으로 긴 타원이 됩니다. 위아래인 고각 방향도 같은 원리입니다.</a:t>
            </a:r>
          </a:p>
          <a:p>
            <a:r>
              <a:t>플롯마다 거리와 방향이 다르기 때문에 R은 플롯마다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어떤 두 플롯으로 트랙을 만들지 정하는 속도 게이팅입니다.</a:t>
            </a:r>
          </a:p>
          <a:p>
            <a:r>
              <a:t>앞 스캔과 이번 스캔의 플롯을 모두 짝지으면 클러터끼리도 트랙이 만들어집니다. 그래서 표적이 가질 수 있는 최대 속도 V_max로 짝을 거릅니다.</a:t>
            </a:r>
          </a:p>
          <a:p>
            <a:r>
              <a:t>두 플롯 사이 거리를 시간 차로 나눈 값이 V_max보다 작을 때만 트랙을 개시합니다. 과제 조건은 800 m/s이고 스캔 간격이 0.1초이므로, 앞 플롯을 중심으로 반경 80미터 안에 들어온 플롯만 짝이 됩니다.</a:t>
            </a:r>
          </a:p>
          <a:p>
            <a:r>
              <a:t>오른쪽 그림에서 A와 a, C와 c는 원 안에 있어 트랙이 되고, B와 b는 원 밖이라 제외됩니다. 짝이 없는 d는 다음 스캔의 후보로 남습니다.</a:t>
            </a:r>
          </a:p>
          <a:p>
            <a:r>
              <a:t>구현에서는 게이트를 통과한 쌍이 여러 개이면 가장 가까운 쌍부터 선택하고, 한 플롯은 한 트랙에만 사용하도록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파트는 트랙 관리입니다.</a:t>
            </a:r>
          </a:p>
          <a:p>
            <a:r>
              <a:t>개시된 트랙이 모두 실제 표적은 아니기 때문에, 트랙마다 상태를 두고 연관 결과에 따라 상태를 바꾸게 됩니다. 트랙 상태 네 가지와 M/N 방식, 트랙 스코어 방식을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상태는 과제에서 정한 대로 네 가지입니다.</a:t>
            </a:r>
          </a:p>
          <a:p>
            <a:r>
              <a:t>1번 임시 트랙은 막 개시된 트랙입니다. 연관이 계속 성공해 확정 조건을 만족하면 2번 확정 트랙이 됩니다.</a:t>
            </a:r>
          </a:p>
          <a:p>
            <a:r>
              <a:t>확정 트랙이 연관에 실패하면 바로 삭제하지 않고 3번 메모리 트랙으로 전환합니다. 메모리 트랙은 다시 연관되면 확정 트랙으로 돌아가고, 삭제 조건을 만족하면 4번 삭제 트랙이 됩니다. 임시 트랙도 삭제 조건을 만족하면 삭제됩니다.</a:t>
            </a:r>
          </a:p>
          <a:p>
            <a:r>
              <a:t>상태를 바꾸는 기준은 트랙 연관 결과입니다. 트랙 연관은 이번 스캔의 플롯 가운데 기존 트랙에 이어지는 플롯을 찾아 그 트랙에 붙이는 과정입니다. 트랙의 위치와 속도로 이번 스캔의 위치를 예측하고, 예측 위치 주변의 연관 게이트 안에 들어온 플롯 가운데 가장 가까운 플롯을 트랙에 할당합니다.</a:t>
            </a:r>
          </a:p>
          <a:p>
            <a:r>
              <a:t>오른쪽 그림처럼 할당된 플롯이 있으면 Assigned_Flag는 1, 게이트 안에 플롯이 없으면 0이 됩니다. 이번 과제에서는 연관 기능이 구현되어 있지 않기 때문에 과제 조건대로 매 스캔 0을 부여하고, 연관 기능은 다음 과제에서 구현하게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관리 방식은 M/N 방식입니다.</a:t>
            </a:r>
          </a:p>
          <a:p>
            <a:r>
              <a:t>최근 N번의 스캔 가운데 M번 연관에 성공하면 트랙을 확정합니다. 그림은 N이 5, M이 3인 예시로, 최근 다섯 스캔에서 네 번 성공했으므로 확정 트랙이 됩니다.</a:t>
            </a:r>
          </a:p>
          <a:p>
            <a:r>
              <a:t>임시 트랙은 M번 연속으로 결합에 실패하면 삭제합니다. 확정 트랙은 연관에 실패하면 메모리 트랙으로 전환하고, 메모리 상태가 일정 시간 이상 유지되면 삭제합니다.</a:t>
            </a:r>
          </a:p>
          <a:p>
            <a:r>
              <a:t>성공과 실패 횟수로 판단하기 때문에 규칙이 단순하고, 트랙마다 최근 N번의 이력을 관리하게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트랙 스코어 방식이며, 이번 과제에서 적용한 방식입니다.</a:t>
            </a:r>
          </a:p>
          <a:p>
            <a:r>
              <a:t>오른쪽 규칙을 보겠습니다. 임시 트랙은 연관에 성공하면 TrackScore를 1 올리고, 실패하면 1 내립니다. TrackScore가 확정 문턱치 5 이상이 되면 확정, 삭제 문턱치 0 이하가 되면 삭제합니다.</a:t>
            </a:r>
          </a:p>
          <a:p>
            <a:r>
              <a:t>확정 트랙은 연관에 실패하면 메모리 트랙으로 전환하고 MemoryScore를 1 올립니다.</a:t>
            </a:r>
          </a:p>
          <a:p>
            <a:r>
              <a:t>메모리 트랙은 연관에 성공하면 바로 확정 트랙으로 돌아가고 MemoryScore를 0으로 초기화합니다. 실패가 이어져 MemoryScore가 5 이상이 되면 삭제합니다.</a:t>
            </a:r>
          </a:p>
          <a:p>
            <a:r>
              <a:t>왼쪽 그래프는 성공 세 번, 실패 두 번, 성공 한 번, 이후 계속 실패한 경우의 점수 변화입니다. 개시 직후 TrackScore는 플롯 두 개로 만든 트랙이므로 2로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구현입니다.</a:t>
            </a:r>
          </a:p>
          <a:p>
            <a:r>
              <a:t>과제 4의 TargetSim 프로그램에 플롯 메시지 송수신과 트랙 개시, 관리 기능을 추가했습니다. 코드마다 어떤 역할을 하고, 어떤 순서로, 어떻게 계산하는지를 중심으로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위쪽 회색 영역이 C로 작성한 코어 DLL이고, 아래가 MFC 화면입니다.</a:t>
            </a:r>
          </a:p>
          <a:p>
            <a:r>
              <a:t>윗줄의 궤적 계산과 측정 모의는 과제 3, 4에서 만든 부분입니다. 0.1초마다 표적 위치를 계산하고, 표적 플롯과 클러터를 만듭니다.</a:t>
            </a:r>
          </a:p>
          <a:p>
            <a:r>
              <a:t>이번 과제에서 추가한 부분은 파란색의 송신 쓰레드와 수신 쓰레드, 주황색의 트랙 개시와 관리입니다. 송신 쓰레드는 신호처리 역할로 플롯을 메시지로 묶어 보내고, 수신 쓰레드는 데이터 처리 역할로 메시지를 받아 트랙 개시와 관리로 넘깁니다.</a:t>
            </a:r>
          </a:p>
          <a:p>
            <a:r>
              <a:t>처리 결과는 스캔마다 결과 버퍼에 저장되고, 화면은 이 결과를 가져와 그림과 트랙 표로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스캔 하나가 처리되는 순서입니다.</a:t>
            </a:r>
          </a:p>
          <a:p>
            <a:r>
              <a:t>위쪽은 송신 쓰레드입니다. 1번에서 이번 스캔의 표적 플롯 2개와 클러터 5개를 모아 방위각 순서로 섞습니다. 2번에서 플롯마다 ID를 붙이고 거리, 방위각, 고각을 메시지에 담습니다. 3번에서 이 메시지를 UDP로 보냅니다. 메시지 하나가 스캔 하나입니다.</a:t>
            </a:r>
          </a:p>
          <a:p>
            <a:r>
              <a:t>아래쪽은 수신 쓰레드입니다. 메시지를 받으면 4번에서 플롯 좌표를 구좌표에서 VC-NED 직교 좌표로 바꾸고, 5번에서 플롯마다 측정잡음 공분산 R을 계산합니다. 6번에서 트랙 개시와 관리를 수행하고, 7번에서 결과를 버퍼에 저장합니다.</a:t>
            </a:r>
          </a:p>
          <a:p>
            <a:r>
              <a:t>오른쪽은 메시지에 담기는 내용입니다. 스캔 번호와 시각, 플랫폼 위치와 자세, R을 만들 표준편차, 그리고 플롯 목록이 들어갑니다. 표적과 클러터를 구분하는 정보는 넣지 않았기 때문에, 받는 쪽은 모든 플롯을 같은 방식으로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자료구조와 한 스캔의 처리 순서입니다.</a:t>
            </a:r>
          </a:p>
          <a:p>
            <a:r>
              <a:t>왼쪽 위는 트랙 하나를 나타내는 구조체입니다. 트랙 번호, 상태, 점수, 연관 결과, 상태 변수와 오차 공분산을 담고 있으며, 변수 이름은 과제 명세를 그대로 사용했습니다. 아래는 과제 조건을 상수로 정의한 부분입니다.</a:t>
            </a:r>
          </a:p>
          <a:p>
            <a:r>
              <a:t>오른쪽은 수신 쓰레드가 메시지를 받을 때마다 f_Trk_ProcessScan이 수행하는 네 단계입니다.</a:t>
            </a:r>
          </a:p>
          <a:p>
            <a:r>
              <a:t>첫째, 앞 스캔에서 삭제 상태가 된 트랙을 트랙 표에서 지웁니다.</a:t>
            </a:r>
          </a:p>
          <a:p>
            <a:r>
              <a:t>둘째, 남아 있는 트랙마다 연관 결과를 0으로 두고 스코어 로직으로 상태를 갱신합니다.</a:t>
            </a:r>
          </a:p>
          <a:p>
            <a:r>
              <a:t>셋째, 앞 스캔과 이번 스캔의 플롯 쌍 가운데 속도 게이트를 통과한 쌍으로 새 트랙을 만듭니다. 가까운 쌍부터 선택하고, 트랙 ID는 100부터 차례로 부여합니다.</a:t>
            </a:r>
          </a:p>
          <a:p>
            <a:r>
              <a:t>넷째, 이번 스캔의 플롯을 다음 스캔의 개시 후보로 보관합니다. 트랙을 만드는 데 쓴 플롯은 후보에서 제외합니다.</a:t>
            </a:r>
          </a:p>
          <a:p>
            <a:r>
              <a:t>2-Point 개시와 스코어 로직은 다음 두 장에서 코드로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초기화 함수입니다. 두 플롯으로 트랙의 첫 상태와 오차 공분산을 채웁니다.</a:t>
            </a:r>
          </a:p>
          <a:p>
            <a:r>
              <a:t>먼저 두 플롯의 시간 차 T를 구하고, x, y, z 축마다 같은 계산을 반복합니다.</a:t>
            </a:r>
          </a:p>
          <a:p>
            <a:r>
              <a:t>1번 위치는 이번 플롯 위치, 2번 속도는 두 플롯의 위치 차를 T로 나눈 값, 3번 가속도는 과제 조건대로 0입니다.</a:t>
            </a:r>
          </a:p>
          <a:p>
            <a:r>
              <a:t>4번은 오차 공분산 P입니다. 위치 칸에는 이번 플롯의 R, 위치와 속도 사이에는 R을 T로 나눈 값, 속도 칸에는 두 플롯의 R을 더해 T 제곱으로 나눈 값을 넣습니다. 가속도 칸은 0으로 남겨 둡니다.</a:t>
            </a:r>
          </a:p>
          <a:p>
            <a:r>
              <a:t>오른쪽 5번은 R을 만드는 표준편차입니다. 과제 값인 10미터, 0.2도, 0.2도를 사용하고, 이 값으로 플롯마다 R을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스코어 로직 함수입니다. 트랙마다 매 스캔 한 번 호출되고, 현재 상태에 따라 나누어 처리합니다.</a:t>
            </a:r>
          </a:p>
          <a:p>
            <a:r>
              <a:t>왼쪽은 임시 트랙입니다. 1번에서 연관에 성공하면 점수를 1 올리고, 실패하면 1 내립니다. 2번에서 점수가 5 이상이면 확정, 3번에서 0 이하이면 삭제합니다.</a:t>
            </a:r>
          </a:p>
          <a:p>
            <a:r>
              <a:t>오른쪽 4번은 확정 트랙으로, 연관에 실패하면 메모리 트랙으로 바꾸고 MemoryScore를 1 올립니다.</a:t>
            </a:r>
          </a:p>
          <a:p>
            <a:r>
              <a:t>5번은 메모리 트랙으로, 연관에 성공하면 바로 확정으로 돌아가고 MemoryScore를 0으로 초기화합니다. 실패하면 MemoryScore를 올리고, 5 이상이 되면 삭제합니다.</a:t>
            </a:r>
          </a:p>
          <a:p>
            <a:r>
              <a:t>문턱치는 모두 과제 값을 상수로 정의해 사용했고, 이 함수는 결과 화면의 스코어 확인 창에서도 그대로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결과입니다.</a:t>
            </a:r>
          </a:p>
          <a:p>
            <a:r>
              <a:t>시뮬레이션 조건과 실행 화면, 한 스캔 시점의 화면과 트랙 표, 트랙 수명을 보고, 마지막으로 전체 궤적을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조건과 실행 화면입니다.</a:t>
            </a:r>
          </a:p>
          <a:p>
            <a:r>
              <a:t>시나리오는 과제 3의 지그재그 응용 시나리오입니다. 플랫폼은 정지해 있고, 대함 표적은 30 m/s, 대공 표적은 200 m/s로 기동합니다. 116초 동안 0.1초 간격으로 1,160 스캔이며, 스캔마다 표적 플롯 2개와 클러터 5개가 생성됩니다.</a:t>
            </a:r>
          </a:p>
          <a:p>
            <a:r>
              <a:t>개시와 관리 조건은 과제 값을 그대로 사용했고, 연관 기능이 없으므로 Assigned_Flag는 항상 0입니다.</a:t>
            </a:r>
          </a:p>
          <a:p>
            <a:r>
              <a:t>오른쪽은 스캔 701 시점의 실행 화면입니다. 위쪽이 2D와 3D 그림, 왼쪽 아래가 송수신과 트랙 요약, 오른쪽 아래가 현재 스캔의 트랙 표입니다. 플롯 메시지 1,160개를 모두 송수신해 처리한 것을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중간인 스캔 701, 70.1초 시점의 화면입니다. 과제의 결과 화면 조건대로 True, Plot, Track 심볼을 한 그림에 함께 표시했습니다.</a:t>
            </a:r>
          </a:p>
          <a:p>
            <a:r>
              <a:t>왼쪽 2D 그림에서 진한 선은 지금까지 지나온 참값 궤적, 옅은 선은 앞으로 지나갈 궤적이고, 동그라미는 시작점입니다. 작은 점이 플롯과 클러터입니다. 표적 근처의 주황색 네모가 임시 트랙, 회색 네모가 삭제 트랙이며, 옆의 숫자는 트랙 ID입니다.</a:t>
            </a:r>
          </a:p>
          <a:p>
            <a:r>
              <a:t>오른쪽 3D 그림은 고도를 2배로 늘려 표시했습니다. 대공 표적 주변의 클러터와 플롯, 트랙을 함께 볼 수 있습니다.</a:t>
            </a:r>
          </a:p>
          <a:p>
            <a:r>
              <a:t>아래 기호는 화면 범례와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스캔을 확대해 트랙이 만들어지는 모습을 보겠습니다. 표적 2가 레이다 가까이 온 스캔 1154입니다.</a:t>
            </a:r>
          </a:p>
          <a:p>
            <a:r>
              <a:t>빨간 선이 참값 궤적이고, 흰 동그라미가 앞 스캔 1153의 플롯, 검은 점이 이번 스캔 1154의 플롯입니다.</a:t>
            </a:r>
          </a:p>
          <a:p>
            <a:r>
              <a:t>1번, 앞 스캔 플롯을 중심으로 반경 80미터의 속도 게이트를 둡니다. 최대 속도 800 m/s에 스캔 간격 0.1초를 곱한 값입니다.</a:t>
            </a:r>
          </a:p>
          <a:p>
            <a:r>
              <a:t>2번, 이번 스캔 플롯까지의 거리가 31미터로 게이트 안에 있으므로, 이 두 플롯으로 트랙 451을 개시합니다. 임시 상태, 점수 2로 시작합니다.</a:t>
            </a:r>
          </a:p>
          <a:p>
            <a:r>
              <a:t>3번, 트랙 위치는 이번 플롯 위치이고, 속도는 두 플롯 사이 거리 31미터를 0.1초로 나눈 약 310 m/s입니다. 참값 200 m/s와 차이가 나는 것은 플롯 위치에 측정 잡음이 있기 때문이고, 이 오차는 다음 과제의 추적 필터에서 줄여 나가게 됩니다.</a:t>
            </a:r>
          </a:p>
          <a:p>
            <a:r>
              <a:t>4번, 회색 네모 450은 두 스캔 전인 스캔 1152에 개시된 트랙입니다. 연관이 없어 점수가 2, 1, 0으로 내려가 이번 스캔에 삭제 상태가 되었습니다.</a:t>
            </a:r>
          </a:p>
          <a:p>
            <a:r>
              <a:t>오른쪽 아래 트랙 표에서도 451은 임시 상태에 점수 2, 450은 삭제 상태에 점수 0인 것을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116초 동안의 트랙 생성 결과입니다.</a:t>
            </a:r>
          </a:p>
          <a:p>
            <a:r>
              <a:t>위쪽의 세로선 하나가 트랙 하나가 개시된 시각입니다. 표적 1에서 117개, 표적 2에서 235개, 클러터끼리 3개로 모두 355개의 트랙이 개시되었습니다.</a:t>
            </a:r>
          </a:p>
          <a:p>
            <a:r>
              <a:t>아래쪽은 스캔마다 트랙 표에 남아 있는 트랙 수입니다. 연관이 없어 모든 트랙의 TrackScore가 2, 1, 0으로 내려가고, 개시 두 스캔 뒤 삭제되므로 많아야 4개입니다.</a:t>
            </a:r>
          </a:p>
          <a:p>
            <a:r>
              <a:t>같은 이유로 시뮬레이션에서는 확정과 메모리 상태가 나타나지 않습니다. 이 두 상태는 오른쪽의 스코어 확인 창으로 확인했습니다. Assigned_Flag 순서를 입력하면 코어의 스코어 함수를 그대로 호출해 결과를 표시합니다. 1, 1, 1을 입력하면 TrackScore 5에서 확정되고, 0, 0이 이어지면 메모리 트랙으로 전환되며, 다시 1이 들어오면 바로 확정으로 돌아가고 MemoryScore가 0이 됩니다.</a:t>
            </a:r>
          </a:p>
          <a:p>
            <a:r>
              <a:t>트랙 ID와 플롯 ID도 과제 범위 안에서 부여되었습니다.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시뮬레이션을 끝까지 실행한 화면입니다. 스캔 1159, 115.9초 시점입니다.</a:t>
            </a:r>
          </a:p>
          <a:p>
            <a:r>
              <a:t>왼쪽 2D 그림에서 빨간 선이 대공 표적, 파란 선이 대함 표적의 참값 궤적이고, 동그라미는 각 표적의 시작점입니다. 대공 표적은 위쪽에서 출발해 200 m/s로 S자 기동을 하며 내려오고, 대함 표적은 30 m/s로 움직이기 때문에 이동 거리가 짧습니다.</a:t>
            </a:r>
          </a:p>
          <a:p>
            <a:r>
              <a:t>궤적을 따라 이어진 점이 116초 동안 받은 표적 플롯이고, 넓게 퍼진 회색 점이 클러터입니다.</a:t>
            </a:r>
          </a:p>
          <a:p>
            <a:r>
              <a:t>오른쪽 3D 그림은 같은 결과를 고도까지 표시한 것입니다. 대공 표적은 고도 약 2,000미터에서, 대함 표적은 해수면 높이에서 움직입니다.</a:t>
            </a:r>
          </a:p>
          <a:p>
            <a:r>
              <a:t>주황색 네모 453과 454는 마지막 스캔 시점에 남아 있는 임시 트랙입니다.</a:t>
            </a:r>
          </a:p>
          <a:p>
            <a:r>
              <a:t>이렇게 116초 동안 받은 플롯으로 트랙 개시와 관리를 수행했습니다.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이번 과제에서는 2-Point 트랙 개시와 트랙 스코어 방식의 트랙 관리를 구현했고, 플롯 메시지 송수신부터 화면 표시까지 동작을 확인했습니다.</a:t>
            </a:r>
          </a:p>
          <a:p>
            <a:r>
              <a:t>이상으로 발표를 마치겠습니다. 감사합니다.</a:t>
            </a:r>
          </a:p>
          <a:p>
            <a:r>
              <a:t>질문 주시면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notesSlide" Target="../notesSlides/notesSlide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0" y="658368"/>
            <a:ext cx="3017520" cy="274320"/>
          </a:xfrm>
          <a:prstGeom prst="rect">
            <a:avLst/>
          </a:prstGeom>
          <a:noFill/>
        </p:spPr>
        <p:txBody>
          <a:bodyPr wrap="square" lIns="0" rIns="0" tIns="0" bIns="0" anchor="t">
            <a:spAutoFit/>
          </a:bodyPr>
          <a:lstStyle/>
          <a:p>
            <a:pPr algn="r">
              <a:spcAft>
                <a:spcPts val="0"/>
              </a:spcAft>
            </a:pPr>
            <a:r>
              <a:rPr sz="1000" b="1" i="0">
                <a:solidFill>
                  <a:srgbClr val="FFFFFF"/>
                </a:solidFill>
                <a:latin typeface="Arial"/>
                <a:ea typeface="맑은 고딕"/>
              </a:rPr>
              <a:t>Confidential</a:t>
            </a:r>
          </a:p>
        </p:txBody>
      </p:sp>
      <p:sp>
        <p:nvSpPr>
          <p:cNvPr id="3" name="TextBox 2"/>
          <p:cNvSpPr txBox="1"/>
          <p:nvPr/>
        </p:nvSpPr>
        <p:spPr>
          <a:xfrm>
            <a:off x="4206240" y="2505456"/>
            <a:ext cx="6766560" cy="457200"/>
          </a:xfrm>
          <a:prstGeom prst="rect">
            <a:avLst/>
          </a:prstGeom>
          <a:noFill/>
        </p:spPr>
        <p:txBody>
          <a:bodyPr wrap="square" lIns="0" rIns="0" tIns="0" bIns="0" anchor="t">
            <a:spAutoFit/>
          </a:bodyPr>
          <a:lstStyle/>
          <a:p>
            <a:pPr algn="r">
              <a:spcAft>
                <a:spcPts val="0"/>
              </a:spcAft>
            </a:pPr>
            <a:r>
              <a:rPr sz="1400" b="0" i="0">
                <a:solidFill>
                  <a:srgbClr val="AEB9CC"/>
                </a:solidFill>
                <a:latin typeface="맑은 고딕"/>
                <a:ea typeface="맑은 고딕"/>
              </a:rPr>
              <a:t>레이다 SW 학습 과제 5</a:t>
            </a:r>
          </a:p>
        </p:txBody>
      </p:sp>
      <p:sp>
        <p:nvSpPr>
          <p:cNvPr id="4" name="TextBox 3"/>
          <p:cNvSpPr txBox="1"/>
          <p:nvPr/>
        </p:nvSpPr>
        <p:spPr>
          <a:xfrm>
            <a:off x="4206240" y="2944368"/>
            <a:ext cx="6766560" cy="685800"/>
          </a:xfrm>
          <a:prstGeom prst="rect">
            <a:avLst/>
          </a:prstGeom>
          <a:noFill/>
        </p:spPr>
        <p:txBody>
          <a:bodyPr wrap="square" lIns="0" rIns="0" tIns="0" bIns="0" anchor="t">
            <a:spAutoFit/>
          </a:bodyPr>
          <a:lstStyle/>
          <a:p>
            <a:pPr algn="r">
              <a:spcAft>
                <a:spcPts val="0"/>
              </a:spcAft>
            </a:pPr>
            <a:r>
              <a:rPr sz="3800" b="1" i="0">
                <a:solidFill>
                  <a:srgbClr val="FFFFFF"/>
                </a:solidFill>
                <a:latin typeface="맑은 고딕"/>
                <a:ea typeface="맑은 고딕"/>
              </a:rPr>
              <a:t>트랙 개시 · 관리</a:t>
            </a:r>
          </a:p>
        </p:txBody>
      </p:sp>
      <p:cxnSp>
        <p:nvCxnSpPr>
          <p:cNvPr id="5" name="Connector 4"/>
          <p:cNvCxnSpPr/>
          <p:nvPr/>
        </p:nvCxnSpPr>
        <p:spPr>
          <a:xfrm>
            <a:off x="7863840" y="3913632"/>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0" y="4059936"/>
            <a:ext cx="6766560" cy="292608"/>
          </a:xfrm>
          <a:prstGeom prst="rect">
            <a:avLst/>
          </a:prstGeom>
          <a:noFill/>
        </p:spPr>
        <p:txBody>
          <a:bodyPr wrap="square" lIns="0" rIns="0" tIns="0" bIns="0" anchor="t">
            <a:spAutoFit/>
          </a:bodyPr>
          <a:lstStyle/>
          <a:p>
            <a:pPr algn="r">
              <a:spcAft>
                <a:spcPts val="0"/>
              </a:spcAft>
            </a:pPr>
            <a:r>
              <a:rPr sz="1300" b="0" i="0">
                <a:solidFill>
                  <a:srgbClr val="AEB9CC"/>
                </a:solidFill>
                <a:latin typeface="Arial"/>
                <a:ea typeface="맑은 고딕"/>
              </a:rPr>
              <a:t>Track Initiation and Track Management</a:t>
            </a:r>
          </a:p>
        </p:txBody>
      </p:sp>
      <p:sp>
        <p:nvSpPr>
          <p:cNvPr id="7" name="TextBox 6"/>
          <p:cNvSpPr txBox="1"/>
          <p:nvPr/>
        </p:nvSpPr>
        <p:spPr>
          <a:xfrm>
            <a:off x="4206240" y="5120640"/>
            <a:ext cx="6766560" cy="292608"/>
          </a:xfrm>
          <a:prstGeom prst="rect">
            <a:avLst/>
          </a:prstGeom>
          <a:noFill/>
        </p:spPr>
        <p:txBody>
          <a:bodyPr wrap="square" lIns="0" rIns="0" tIns="0" bIns="0" anchor="t">
            <a:spAutoFit/>
          </a:bodyPr>
          <a:lstStyle/>
          <a:p>
            <a:pPr algn="r">
              <a:spcAft>
                <a:spcPts val="0"/>
              </a:spcAft>
            </a:pPr>
            <a:r>
              <a:rPr sz="1200" b="0" i="0">
                <a:solidFill>
                  <a:srgbClr val="FFFFFF"/>
                </a:solidFill>
                <a:latin typeface="Arial"/>
                <a:ea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
        <p:nvSpPr>
          <p:cNvPr id="26" name="TextBox 25"/>
          <p:cNvSpPr txBox="1"/>
          <p:nvPr/>
        </p:nvSpPr>
        <p:spPr>
          <a:xfrm>
            <a:off x="457200" y="2743200"/>
            <a:ext cx="3291840" cy="1188720"/>
          </a:xfrm>
          <a:prstGeom prst="rect">
            <a:avLst/>
          </a:prstGeom>
          <a:noFill/>
        </p:spPr>
        <p:txBody>
          <a:bodyPr wrap="square" lIns="0" rIns="0" tIns="0" bIns="0" anchor="t">
            <a:spAutoFit/>
          </a:bodyPr>
          <a:lstStyle/>
          <a:p>
            <a:pPr algn="ctr">
              <a:spcAft>
                <a:spcPts val="400"/>
              </a:spcAft>
            </a:pPr>
            <a:r>
              <a:rPr sz="1800" b="1" i="0">
                <a:solidFill>
                  <a:srgbClr val="FFFFFF"/>
                </a:solidFill>
                <a:latin typeface="맑은 고딕"/>
                <a:ea typeface="맑은 고딕"/>
              </a:rPr>
              <a:t>트랙 개시 · 관리</a:t>
            </a:r>
          </a:p>
          <a:p>
            <a:pPr algn="ctr">
              <a:spcAft>
                <a:spcPts val="0"/>
              </a:spcAft>
            </a:pPr>
            <a:r>
              <a:rPr sz="1800" b="1" i="0">
                <a:solidFill>
                  <a:srgbClr val="FFFFFF"/>
                </a:solidFill>
                <a:latin typeface="맑은 고딕"/>
                <a:ea typeface="맑은 고딕"/>
              </a:rPr>
              <a:t>TrackMgr</a:t>
            </a:r>
          </a:p>
        </p:txBody>
      </p:sp>
      <p:sp>
        <p:nvSpPr>
          <p:cNvPr id="27" name="TextBox 26"/>
          <p:cNvSpPr txBox="1"/>
          <p:nvPr/>
        </p:nvSpPr>
        <p:spPr>
          <a:xfrm>
            <a:off x="457200" y="6035040"/>
            <a:ext cx="3291840" cy="274320"/>
          </a:xfrm>
          <a:prstGeom prst="rect">
            <a:avLst/>
          </a:prstGeom>
          <a:noFill/>
        </p:spPr>
        <p:txBody>
          <a:bodyPr wrap="square" lIns="0" rIns="0" tIns="0" bIns="0" anchor="t">
            <a:spAutoFit/>
          </a:bodyPr>
          <a:lstStyle/>
          <a:p>
            <a:pPr algn="ctr">
              <a:spcAft>
                <a:spcPts val="0"/>
              </a:spcAft>
            </a:pPr>
            <a:r>
              <a:rPr sz="1000" b="0" i="0">
                <a:solidFill>
                  <a:srgbClr val="AEB9CC"/>
                </a:solidFill>
                <a:latin typeface="Arial"/>
                <a:ea typeface="맑은 고딕"/>
              </a:rPr>
              <a:t>Janghwan Kim (Harley)</a:t>
            </a:r>
          </a:p>
        </p:txBody>
      </p:sp>
      <p:sp>
        <p:nvSpPr>
          <p:cNvPr id="28" name="TextBox 27"/>
          <p:cNvSpPr txBox="1"/>
          <p:nvPr/>
        </p:nvSpPr>
        <p:spPr>
          <a:xfrm>
            <a:off x="4800600" y="1801368"/>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01</a:t>
            </a:r>
          </a:p>
        </p:txBody>
      </p:sp>
      <p:sp>
        <p:nvSpPr>
          <p:cNvPr id="29" name="TextBox 28"/>
          <p:cNvSpPr txBox="1"/>
          <p:nvPr/>
        </p:nvSpPr>
        <p:spPr>
          <a:xfrm>
            <a:off x="5852160" y="1801368"/>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개시</a:t>
            </a:r>
          </a:p>
        </p:txBody>
      </p:sp>
      <p:cxnSp>
        <p:nvCxnSpPr>
          <p:cNvPr id="30" name="Connector 29"/>
          <p:cNvCxnSpPr/>
          <p:nvPr/>
        </p:nvCxnSpPr>
        <p:spPr>
          <a:xfrm>
            <a:off x="7178040" y="2103120"/>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009376" y="1801368"/>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3</a:t>
            </a:r>
          </a:p>
        </p:txBody>
      </p:sp>
      <p:cxnSp>
        <p:nvCxnSpPr>
          <p:cNvPr id="32" name="Connector 31"/>
          <p:cNvCxnSpPr/>
          <p:nvPr/>
        </p:nvCxnSpPr>
        <p:spPr>
          <a:xfrm>
            <a:off x="4800600" y="2459736"/>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00600" y="2569464"/>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02</a:t>
            </a:r>
          </a:p>
        </p:txBody>
      </p:sp>
      <p:sp>
        <p:nvSpPr>
          <p:cNvPr id="34" name="TextBox 33"/>
          <p:cNvSpPr txBox="1"/>
          <p:nvPr/>
        </p:nvSpPr>
        <p:spPr>
          <a:xfrm>
            <a:off x="5852160" y="2569464"/>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관리</a:t>
            </a:r>
          </a:p>
        </p:txBody>
      </p:sp>
      <p:cxnSp>
        <p:nvCxnSpPr>
          <p:cNvPr id="35" name="Connector 34"/>
          <p:cNvCxnSpPr/>
          <p:nvPr/>
        </p:nvCxnSpPr>
        <p:spPr>
          <a:xfrm>
            <a:off x="7178040" y="2871216"/>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1009376" y="2569464"/>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9</a:t>
            </a:r>
          </a:p>
        </p:txBody>
      </p:sp>
      <p:cxnSp>
        <p:nvCxnSpPr>
          <p:cNvPr id="37" name="Connector 36"/>
          <p:cNvCxnSpPr/>
          <p:nvPr/>
        </p:nvCxnSpPr>
        <p:spPr>
          <a:xfrm>
            <a:off x="4800600" y="3227832"/>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00600" y="3337560"/>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03</a:t>
            </a:r>
          </a:p>
        </p:txBody>
      </p:sp>
      <p:sp>
        <p:nvSpPr>
          <p:cNvPr id="39" name="TextBox 38"/>
          <p:cNvSpPr txBox="1"/>
          <p:nvPr/>
        </p:nvSpPr>
        <p:spPr>
          <a:xfrm>
            <a:off x="5852160" y="3337560"/>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구현</a:t>
            </a:r>
          </a:p>
        </p:txBody>
      </p:sp>
      <p:cxnSp>
        <p:nvCxnSpPr>
          <p:cNvPr id="40" name="Connector 39"/>
          <p:cNvCxnSpPr/>
          <p:nvPr/>
        </p:nvCxnSpPr>
        <p:spPr>
          <a:xfrm>
            <a:off x="6519672" y="3639312"/>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1009376" y="3337560"/>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13</a:t>
            </a:r>
          </a:p>
        </p:txBody>
      </p:sp>
      <p:cxnSp>
        <p:nvCxnSpPr>
          <p:cNvPr id="42" name="Connector 41"/>
          <p:cNvCxnSpPr/>
          <p:nvPr/>
        </p:nvCxnSpPr>
        <p:spPr>
          <a:xfrm>
            <a:off x="4800600" y="3995928"/>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00600" y="4105656"/>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04</a:t>
            </a:r>
          </a:p>
        </p:txBody>
      </p:sp>
      <p:sp>
        <p:nvSpPr>
          <p:cNvPr id="44" name="TextBox 43"/>
          <p:cNvSpPr txBox="1"/>
          <p:nvPr/>
        </p:nvSpPr>
        <p:spPr>
          <a:xfrm>
            <a:off x="5852160" y="4105656"/>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결과</a:t>
            </a:r>
          </a:p>
        </p:txBody>
      </p:sp>
      <p:cxnSp>
        <p:nvCxnSpPr>
          <p:cNvPr id="45" name="Connector 44"/>
          <p:cNvCxnSpPr/>
          <p:nvPr/>
        </p:nvCxnSpPr>
        <p:spPr>
          <a:xfrm>
            <a:off x="6519672" y="4407408"/>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009376" y="4105656"/>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01. 트랙 개시</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플롯으로 트랙을 처음 만드는 방법과, 그때 필요한 초기 상태 · 오차 공분산 · 속도 게이트를 설명합니다.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플롯에서 트랙으로</a:t>
            </a:r>
          </a:p>
        </p:txBody>
      </p:sp>
      <p:cxnSp>
        <p:nvCxnSpPr>
          <p:cNvPr id="30" name="Connector 29"/>
          <p:cNvCxnSpPr/>
          <p:nvPr/>
        </p:nvCxnSpPr>
        <p:spPr>
          <a:xfrm>
            <a:off x="3031236" y="2313432"/>
            <a:ext cx="75758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1-Point 와 2-Point 트랙 개시</a:t>
            </a:r>
          </a:p>
        </p:txBody>
      </p:sp>
      <p:cxnSp>
        <p:nvCxnSpPr>
          <p:cNvPr id="34" name="Connector 33"/>
          <p:cNvCxnSpPr/>
          <p:nvPr/>
        </p:nvCxnSpPr>
        <p:spPr>
          <a:xfrm>
            <a:off x="4142232" y="2720339"/>
            <a:ext cx="64648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초기 상태와 오차 공분산</a:t>
            </a:r>
          </a:p>
        </p:txBody>
      </p:sp>
      <p:cxnSp>
        <p:nvCxnSpPr>
          <p:cNvPr id="38" name="Connector 37"/>
          <p:cNvCxnSpPr/>
          <p:nvPr/>
        </p:nvCxnSpPr>
        <p:spPr>
          <a:xfrm>
            <a:off x="4338828" y="3127248"/>
            <a:ext cx="626821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측정잡음 공분산 R (σr 10 m, σaz · σel 0.2°)</a:t>
            </a:r>
          </a:p>
        </p:txBody>
      </p:sp>
      <p:cxnSp>
        <p:nvCxnSpPr>
          <p:cNvPr id="42" name="Connector 41"/>
          <p:cNvCxnSpPr/>
          <p:nvPr/>
        </p:nvCxnSpPr>
        <p:spPr>
          <a:xfrm>
            <a:off x="5545836" y="3534155"/>
            <a:ext cx="50612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속도 게이팅 (V_max = 800 m/s)</a:t>
            </a:r>
          </a:p>
        </p:txBody>
      </p:sp>
      <p:cxnSp>
        <p:nvCxnSpPr>
          <p:cNvPr id="46" name="Connector 45"/>
          <p:cNvCxnSpPr/>
          <p:nvPr/>
        </p:nvCxnSpPr>
        <p:spPr>
          <a:xfrm>
            <a:off x="4238244" y="3941063"/>
            <a:ext cx="636879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1.1 플롯에서 트랙으로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레이다는 스캔마다 점 (플롯) 만 줍니다. 이 점들을 시간 순서로 묶어 "같은 물체" 로 관리하는 단위가 트랙입니다.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45720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레이다 처리 흐름에서의 위치</a:t>
            </a:r>
          </a:p>
        </p:txBody>
      </p:sp>
      <p:sp>
        <p:nvSpPr>
          <p:cNvPr id="27" name="Rectangle 26"/>
          <p:cNvSpPr/>
          <p:nvPr/>
        </p:nvSpPr>
        <p:spPr>
          <a:xfrm>
            <a:off x="640080"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표적 궤적 모의</a:t>
            </a:r>
          </a:p>
        </p:txBody>
      </p:sp>
      <p:sp>
        <p:nvSpPr>
          <p:cNvPr id="29" name="TextBox 28"/>
          <p:cNvSpPr txBox="1"/>
          <p:nvPr/>
        </p:nvSpPr>
        <p:spPr>
          <a:xfrm>
            <a:off x="640080"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3 · 시각별 참값</a:t>
            </a:r>
          </a:p>
        </p:txBody>
      </p:sp>
      <p:cxnSp>
        <p:nvCxnSpPr>
          <p:cNvPr id="30" name="Connector 29"/>
          <p:cNvCxnSpPr/>
          <p:nvPr/>
        </p:nvCxnSpPr>
        <p:spPr>
          <a:xfrm>
            <a:off x="3145536" y="2880360"/>
            <a:ext cx="265175"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456432"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56432"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측정 모의</a:t>
            </a:r>
          </a:p>
        </p:txBody>
      </p:sp>
      <p:sp>
        <p:nvSpPr>
          <p:cNvPr id="33" name="TextBox 32"/>
          <p:cNvSpPr txBox="1"/>
          <p:nvPr/>
        </p:nvSpPr>
        <p:spPr>
          <a:xfrm>
            <a:off x="3456432"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4 · 플롯 · 클러터</a:t>
            </a:r>
          </a:p>
        </p:txBody>
      </p:sp>
      <p:cxnSp>
        <p:nvCxnSpPr>
          <p:cNvPr id="34" name="Connector 33"/>
          <p:cNvCxnSpPr/>
          <p:nvPr/>
        </p:nvCxnSpPr>
        <p:spPr>
          <a:xfrm>
            <a:off x="5961888"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272784" y="2578608"/>
            <a:ext cx="2459736" cy="603504"/>
          </a:xfrm>
          <a:prstGeom prst="rect">
            <a:avLst/>
          </a:prstGeom>
          <a:solidFill>
            <a:srgbClr val="EBF2FE"/>
          </a:solidFill>
          <a:ln w="1524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72784"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트랙 개시 · 관리</a:t>
            </a:r>
          </a:p>
        </p:txBody>
      </p:sp>
      <p:sp>
        <p:nvSpPr>
          <p:cNvPr id="37" name="TextBox 36"/>
          <p:cNvSpPr txBox="1"/>
          <p:nvPr/>
        </p:nvSpPr>
        <p:spPr>
          <a:xfrm>
            <a:off x="6272784" y="2907792"/>
            <a:ext cx="2459736" cy="219456"/>
          </a:xfrm>
          <a:prstGeom prst="rect">
            <a:avLst/>
          </a:prstGeom>
          <a:noFill/>
        </p:spPr>
        <p:txBody>
          <a:bodyPr wrap="square" lIns="0" rIns="0" tIns="0" bIns="0" anchor="t">
            <a:spAutoFit/>
          </a:bodyPr>
          <a:lstStyle/>
          <a:p>
            <a:pPr algn="ctr">
              <a:spcAft>
                <a:spcPts val="0"/>
              </a:spcAft>
            </a:pPr>
            <a:r>
              <a:rPr sz="1050" b="0" i="0">
                <a:solidFill>
                  <a:srgbClr val="4A5A7A"/>
                </a:solidFill>
                <a:latin typeface="맑은 고딕"/>
                <a:ea typeface="맑은 고딕"/>
              </a:rPr>
              <a:t>과제 5 · 이번 과제</a:t>
            </a:r>
          </a:p>
        </p:txBody>
      </p:sp>
      <p:cxnSp>
        <p:nvCxnSpPr>
          <p:cNvPr id="38" name="Connector 37"/>
          <p:cNvCxnSpPr/>
          <p:nvPr/>
        </p:nvCxnSpPr>
        <p:spPr>
          <a:xfrm>
            <a:off x="8778240"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089136"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89136" y="2633472"/>
            <a:ext cx="2459736" cy="274320"/>
          </a:xfrm>
          <a:prstGeom prst="rect">
            <a:avLst/>
          </a:prstGeom>
          <a:noFill/>
        </p:spPr>
        <p:txBody>
          <a:bodyPr wrap="square" lIns="0" rIns="0" tIns="0" bIns="0" anchor="t">
            <a:spAutoFit/>
          </a:bodyPr>
          <a:lstStyle/>
          <a:p>
            <a:pPr algn="ctr">
              <a:spcAft>
                <a:spcPts val="0"/>
              </a:spcAft>
            </a:pPr>
            <a:r>
              <a:rPr sz="1250" b="1" i="0">
                <a:solidFill>
                  <a:srgbClr val="7A879F"/>
                </a:solidFill>
                <a:latin typeface="맑은 고딕"/>
                <a:ea typeface="맑은 고딕"/>
              </a:rPr>
              <a:t>추적 필터 · 트랙 연관</a:t>
            </a:r>
          </a:p>
        </p:txBody>
      </p:sp>
      <p:sp>
        <p:nvSpPr>
          <p:cNvPr id="41" name="TextBox 40"/>
          <p:cNvSpPr txBox="1"/>
          <p:nvPr/>
        </p:nvSpPr>
        <p:spPr>
          <a:xfrm>
            <a:off x="9089136"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다음 과제</a:t>
            </a:r>
          </a:p>
        </p:txBody>
      </p:sp>
      <p:sp>
        <p:nvSpPr>
          <p:cNvPr id="42" name="Rounded Rectangle 41"/>
          <p:cNvSpPr/>
          <p:nvPr/>
        </p:nvSpPr>
        <p:spPr>
          <a:xfrm>
            <a:off x="6784848" y="3255264"/>
            <a:ext cx="859536" cy="23774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이번 과제</a:t>
            </a:r>
          </a:p>
        </p:txBody>
      </p:sp>
      <p:sp>
        <p:nvSpPr>
          <p:cNvPr id="43" name="TextBox 42"/>
          <p:cNvSpPr txBox="1"/>
          <p:nvPr/>
        </p:nvSpPr>
        <p:spPr>
          <a:xfrm>
            <a:off x="9089136" y="3255264"/>
            <a:ext cx="2468880" cy="237744"/>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연관 · 필터는 다음 과제에서</a:t>
            </a:r>
          </a:p>
        </p:txBody>
      </p:sp>
      <p:cxnSp>
        <p:nvCxnSpPr>
          <p:cNvPr id="44" name="Connector 43"/>
          <p:cNvCxnSpPr/>
          <p:nvPr/>
        </p:nvCxnSpPr>
        <p:spPr>
          <a:xfrm>
            <a:off x="640080" y="3602736"/>
            <a:ext cx="10908792" cy="0"/>
          </a:xfrm>
          <a:prstGeom prst="line">
            <a:avLst/>
          </a:prstGeom>
          <a:ln w="9525">
            <a:solidFill>
              <a:srgbClr val="E3E8F0"/>
            </a:solidFill>
          </a:ln>
        </p:spPr>
        <p:style>
          <a:lnRef idx="2">
            <a:schemeClr val="accent1"/>
          </a:lnRef>
          <a:fillRef idx="0">
            <a:schemeClr val="accent1"/>
          </a:fillRef>
          <a:effectRef idx="1">
            <a:schemeClr val="accent1"/>
          </a:effectRef>
          <a:fontRef idx="minor">
            <a:schemeClr val="tx1"/>
          </a:fontRef>
        </p:style>
      </p:cxnSp>
      <p:pic>
        <p:nvPicPr>
          <p:cNvPr id="45" name="Picture 44" descr="fig_plot_track.png"/>
          <p:cNvPicPr>
            <a:picLocks noChangeAspect="1"/>
          </p:cNvPicPr>
          <p:nvPr/>
        </p:nvPicPr>
        <p:blipFill>
          <a:blip r:embed="rId2"/>
          <a:stretch>
            <a:fillRect/>
          </a:stretch>
        </p:blipFill>
        <p:spPr>
          <a:xfrm>
            <a:off x="685800" y="3648456"/>
            <a:ext cx="7178040" cy="2614224"/>
          </a:xfrm>
          <a:prstGeom prst="rect">
            <a:avLst/>
          </a:prstGeom>
        </p:spPr>
      </p:pic>
      <p:sp>
        <p:nvSpPr>
          <p:cNvPr id="46" name="Rounded Rectangle 45"/>
          <p:cNvSpPr/>
          <p:nvPr/>
        </p:nvSpPr>
        <p:spPr>
          <a:xfrm>
            <a:off x="8366760" y="3749039"/>
            <a:ext cx="1143000" cy="256032"/>
          </a:xfrm>
          <a:prstGeom prst="roundRect">
            <a:avLst>
              <a:gd name="adj" fmla="val 25000"/>
            </a:avLst>
          </a:prstGeom>
          <a:solidFill>
            <a:srgbClr val="FFFFFF"/>
          </a:solidFill>
          <a:ln w="9525">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1B2740"/>
                </a:solidFill>
                <a:latin typeface="맑은 고딕"/>
                <a:ea typeface="맑은 고딕"/>
              </a:rPr>
              <a:t>플롯</a:t>
            </a:r>
          </a:p>
        </p:txBody>
      </p:sp>
      <p:sp>
        <p:nvSpPr>
          <p:cNvPr id="47" name="TextBox 46"/>
          <p:cNvSpPr txBox="1"/>
          <p:nvPr/>
        </p:nvSpPr>
        <p:spPr>
          <a:xfrm>
            <a:off x="8366760" y="4050791"/>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한 스캔에서 탐지된 측정치 하나.</a:t>
            </a:r>
          </a:p>
          <a:p>
            <a:pPr algn="l">
              <a:spcAft>
                <a:spcPts val="0"/>
              </a:spcAft>
            </a:pPr>
            <a:r>
              <a:rPr sz="1050" b="0" i="0">
                <a:solidFill>
                  <a:srgbClr val="1B2740"/>
                </a:solidFill>
                <a:latin typeface="맑은 고딕"/>
                <a:ea typeface="맑은 고딕"/>
              </a:rPr>
              <a:t>거리 · 방위각 · 고각. 표적인지 모름</a:t>
            </a:r>
          </a:p>
        </p:txBody>
      </p:sp>
      <p:sp>
        <p:nvSpPr>
          <p:cNvPr id="48" name="Rounded Rectangle 47"/>
          <p:cNvSpPr/>
          <p:nvPr/>
        </p:nvSpPr>
        <p:spPr>
          <a:xfrm>
            <a:off x="8366760" y="4599431"/>
            <a:ext cx="114300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트랙</a:t>
            </a:r>
          </a:p>
        </p:txBody>
      </p:sp>
      <p:sp>
        <p:nvSpPr>
          <p:cNvPr id="49" name="TextBox 48"/>
          <p:cNvSpPr txBox="1"/>
          <p:nvPr/>
        </p:nvSpPr>
        <p:spPr>
          <a:xfrm>
            <a:off x="8366760" y="4901183"/>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같은 물체라고 묶은 플롯들.</a:t>
            </a:r>
          </a:p>
          <a:p>
            <a:pPr algn="l">
              <a:spcAft>
                <a:spcPts val="0"/>
              </a:spcAft>
            </a:pPr>
            <a:r>
              <a:rPr sz="1050" b="0" i="0">
                <a:solidFill>
                  <a:srgbClr val="1B2740"/>
                </a:solidFill>
                <a:latin typeface="맑은 고딕"/>
                <a:ea typeface="맑은 고딕"/>
              </a:rPr>
              <a:t>ID · 위치 · 속도 · 상태를 가짐</a:t>
            </a:r>
          </a:p>
        </p:txBody>
      </p:sp>
      <p:sp>
        <p:nvSpPr>
          <p:cNvPr id="50" name="Rounded Rectangle 49"/>
          <p:cNvSpPr/>
          <p:nvPr/>
        </p:nvSpPr>
        <p:spPr>
          <a:xfrm>
            <a:off x="8366760" y="5449824"/>
            <a:ext cx="1143000" cy="25603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이번 과제 범위</a:t>
            </a:r>
          </a:p>
        </p:txBody>
      </p:sp>
      <p:sp>
        <p:nvSpPr>
          <p:cNvPr id="51" name="TextBox 50"/>
          <p:cNvSpPr txBox="1"/>
          <p:nvPr/>
        </p:nvSpPr>
        <p:spPr>
          <a:xfrm>
            <a:off x="8366760" y="5751576"/>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트랙을 처음 만들기 (개시)</a:t>
            </a:r>
          </a:p>
          <a:p>
            <a:pPr algn="l">
              <a:spcAft>
                <a:spcPts val="0"/>
              </a:spcAft>
            </a:pPr>
            <a:r>
              <a:rPr sz="1050" b="0" i="0">
                <a:solidFill>
                  <a:srgbClr val="1B2740"/>
                </a:solidFill>
                <a:latin typeface="맑은 고딕"/>
                <a:ea typeface="맑은 고딕"/>
              </a:rPr>
              <a:t>트랙 상태 올리고 내리기 (관리)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1.2 1-Point 와 2-Point 트랙 개시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트랙을 플롯 몇 개로 시작하느냐의 차이입니다. 빨리 시작할지, 속도를 알고 시작할지를 고르는 문제입니다.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1p2p.png"/>
          <p:cNvPicPr>
            <a:picLocks noChangeAspect="1"/>
          </p:cNvPicPr>
          <p:nvPr/>
        </p:nvPicPr>
        <p:blipFill>
          <a:blip r:embed="rId2"/>
          <a:stretch>
            <a:fillRect/>
          </a:stretch>
        </p:blipFill>
        <p:spPr>
          <a:xfrm>
            <a:off x="731520" y="2240280"/>
            <a:ext cx="10698480" cy="4011930"/>
          </a:xfrm>
          <a:prstGeom prst="rect">
            <a:avLst/>
          </a:prstGeom>
        </p:spPr>
      </p:pic>
      <p:sp>
        <p:nvSpPr>
          <p:cNvPr id="27" name="Rounded Rectangle 26"/>
          <p:cNvSpPr/>
          <p:nvPr/>
        </p:nvSpPr>
        <p:spPr>
          <a:xfrm>
            <a:off x="640080" y="5760720"/>
            <a:ext cx="10908792" cy="420624"/>
          </a:xfrm>
          <a:prstGeom prst="roundRect">
            <a:avLst>
              <a:gd name="adj" fmla="val 2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760720"/>
            <a:ext cx="10607040" cy="420624"/>
          </a:xfrm>
          <a:prstGeom prst="rect">
            <a:avLst/>
          </a:prstGeom>
          <a:noFill/>
        </p:spPr>
        <p:txBody>
          <a:bodyPr wrap="square" lIns="0" rIns="0" tIns="0" bIns="0" anchor="ctr">
            <a:spAutoFit/>
          </a:bodyPr>
          <a:lstStyle/>
          <a:p>
            <a:pPr algn="l">
              <a:spcAft>
                <a:spcPts val="0"/>
              </a:spcAft>
            </a:pPr>
            <a:r>
              <a:rPr sz="1200" b="0" i="0">
                <a:solidFill>
                  <a:srgbClr val="1B2740"/>
                </a:solidFill>
                <a:latin typeface="맑은 고딕"/>
                <a:ea typeface="맑은 고딕"/>
              </a:rPr>
              <a:t>이번 과제: </a:t>
            </a:r>
            <a:r>
              <a:rPr sz="1200" b="1" i="0">
                <a:solidFill>
                  <a:srgbClr val="1B2740"/>
                </a:solidFill>
                <a:latin typeface="맑은 고딕"/>
                <a:ea typeface="맑은 고딕"/>
              </a:rPr>
              <a:t>2-Point 개시</a:t>
            </a:r>
            <a:r>
              <a:rPr sz="1200" b="0" i="0">
                <a:solidFill>
                  <a:srgbClr val="1B2740"/>
                </a:solidFill>
                <a:latin typeface="맑은 고딕"/>
                <a:ea typeface="맑은 고딕"/>
              </a:rPr>
              <a:t> — 연속 두 스캔의 플롯 쌍으로 초기 상태 변수 (mat_EstX) 와 초기 오차 공분산 (mat_EstP) 을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1.3 2-Point 초기 상태와 오차 공분산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상태 변수는 축마다 위치 · 속도 · 가속도, 모두 9 개. 두 플롯으로 위치와 속도를 채우고 가속도 항은 과제 조건대로 0 으로 둡니다.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상태 변수 (VC-NED: 북 · 동 · 아래, 레이다 원점)</a:t>
            </a:r>
          </a:p>
        </p:txBody>
      </p:sp>
      <p:sp>
        <p:nvSpPr>
          <p:cNvPr id="27" name="Rounded Rectangle 26"/>
          <p:cNvSpPr/>
          <p:nvPr/>
        </p:nvSpPr>
        <p:spPr>
          <a:xfrm>
            <a:off x="640080" y="2560320"/>
            <a:ext cx="6217920" cy="457200"/>
          </a:xfrm>
          <a:prstGeom prst="roundRect">
            <a:avLst>
              <a:gd name="adj" fmla="val 15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560320"/>
            <a:ext cx="6217920" cy="457200"/>
          </a:xfrm>
          <a:prstGeom prst="rect">
            <a:avLst/>
          </a:prstGeom>
          <a:noFill/>
        </p:spPr>
        <p:txBody>
          <a:bodyPr wrap="square" lIns="0" rIns="0" tIns="0" bIns="0" anchor="ctr">
            <a:spAutoFit/>
          </a:bodyPr>
          <a:lstStyle/>
          <a:p>
            <a:pPr algn="ctr">
              <a:spcAft>
                <a:spcPts val="0"/>
              </a:spcAft>
            </a:pPr>
            <a:r>
              <a:rPr sz="1400" b="1" i="0">
                <a:solidFill>
                  <a:srgbClr val="1B2740"/>
                </a:solidFill>
                <a:latin typeface="Cambria Math"/>
                <a:ea typeface="Cambria Math"/>
              </a:rPr>
              <a:t>X</a:t>
            </a:r>
            <a:r>
              <a:rPr sz="1400" b="1" i="0" baseline="-25000">
                <a:solidFill>
                  <a:srgbClr val="1B2740"/>
                </a:solidFill>
                <a:latin typeface="Cambria Math"/>
                <a:ea typeface="Cambria Math"/>
              </a:rPr>
              <a:t>k</a:t>
            </a:r>
            <a:r>
              <a:rPr sz="1400" b="1" i="0">
                <a:solidFill>
                  <a:srgbClr val="1B2740"/>
                </a:solidFill>
                <a:latin typeface="Cambria Math"/>
                <a:ea typeface="Cambria Math"/>
              </a:rPr>
              <a:t> = [ x  x'  x''   y  y'  y''   z  z'  z'' ]</a:t>
            </a:r>
            <a:r>
              <a:rPr sz="1400" b="1" i="0" baseline="30000">
                <a:solidFill>
                  <a:srgbClr val="1B2740"/>
                </a:solidFill>
                <a:latin typeface="Cambria Math"/>
                <a:ea typeface="Cambria Math"/>
              </a:rPr>
              <a:t>T</a:t>
            </a:r>
          </a:p>
        </p:txBody>
      </p:sp>
      <p:sp>
        <p:nvSpPr>
          <p:cNvPr id="29" name="TextBox 28"/>
          <p:cNvSpPr txBox="1"/>
          <p:nvPr/>
        </p:nvSpPr>
        <p:spPr>
          <a:xfrm>
            <a:off x="640080" y="3182112"/>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상태 mat_EstX  (축마다 같은 식, T = 두 플롯의 시간 차 0.1 s)</a:t>
            </a:r>
          </a:p>
        </p:txBody>
      </p:sp>
      <p:sp>
        <p:nvSpPr>
          <p:cNvPr id="30" name="Rounded Rectangle 29"/>
          <p:cNvSpPr/>
          <p:nvPr/>
        </p:nvSpPr>
        <p:spPr>
          <a:xfrm>
            <a:off x="640080" y="3493008"/>
            <a:ext cx="731520" cy="274320"/>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위치</a:t>
            </a:r>
          </a:p>
        </p:txBody>
      </p:sp>
      <p:sp>
        <p:nvSpPr>
          <p:cNvPr id="31" name="TextBox 30"/>
          <p:cNvSpPr txBox="1"/>
          <p:nvPr/>
        </p:nvSpPr>
        <p:spPr>
          <a:xfrm>
            <a:off x="1508760" y="3474720"/>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z</a:t>
            </a:r>
            <a:r>
              <a:rPr sz="1300" b="0" i="0" baseline="-25000">
                <a:solidFill>
                  <a:srgbClr val="1B2740"/>
                </a:solidFill>
                <a:latin typeface="Cambria Math"/>
                <a:ea typeface="Cambria Math"/>
              </a:rPr>
              <a:t>k</a:t>
            </a:r>
          </a:p>
        </p:txBody>
      </p:sp>
      <p:sp>
        <p:nvSpPr>
          <p:cNvPr id="32" name="TextBox 31"/>
          <p:cNvSpPr txBox="1"/>
          <p:nvPr/>
        </p:nvSpPr>
        <p:spPr>
          <a:xfrm>
            <a:off x="4343400" y="3474720"/>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이번 스캔 플롯 그대로</a:t>
            </a:r>
          </a:p>
        </p:txBody>
      </p:sp>
      <p:sp>
        <p:nvSpPr>
          <p:cNvPr id="33" name="Rounded Rectangle 32"/>
          <p:cNvSpPr/>
          <p:nvPr/>
        </p:nvSpPr>
        <p:spPr>
          <a:xfrm>
            <a:off x="640080" y="3877056"/>
            <a:ext cx="731520" cy="274320"/>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속도</a:t>
            </a:r>
          </a:p>
        </p:txBody>
      </p:sp>
      <p:sp>
        <p:nvSpPr>
          <p:cNvPr id="34" name="TextBox 33"/>
          <p:cNvSpPr txBox="1"/>
          <p:nvPr/>
        </p:nvSpPr>
        <p:spPr>
          <a:xfrm>
            <a:off x="1508760" y="3858768"/>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 z</a:t>
            </a:r>
            <a:r>
              <a:rPr sz="1300" b="0" i="0" baseline="-25000">
                <a:solidFill>
                  <a:srgbClr val="1B2740"/>
                </a:solidFill>
                <a:latin typeface="Cambria Math"/>
                <a:ea typeface="Cambria Math"/>
              </a:rPr>
              <a:t>k</a:t>
            </a:r>
            <a:r>
              <a:rPr sz="1300" b="0" i="0">
                <a:solidFill>
                  <a:srgbClr val="1B2740"/>
                </a:solidFill>
                <a:latin typeface="Cambria Math"/>
                <a:ea typeface="Cambria Math"/>
              </a:rPr>
              <a:t> − z</a:t>
            </a:r>
            <a:r>
              <a:rPr sz="1300" b="0" i="0" baseline="-25000">
                <a:solidFill>
                  <a:srgbClr val="1B2740"/>
                </a:solidFill>
                <a:latin typeface="Cambria Math"/>
                <a:ea typeface="Cambria Math"/>
              </a:rPr>
              <a:t>k−1</a:t>
            </a:r>
            <a:r>
              <a:rPr sz="1300" b="0" i="0">
                <a:solidFill>
                  <a:srgbClr val="1B2740"/>
                </a:solidFill>
                <a:latin typeface="Cambria Math"/>
                <a:ea typeface="Cambria Math"/>
              </a:rPr>
              <a:t> ) / T</a:t>
            </a:r>
          </a:p>
        </p:txBody>
      </p:sp>
      <p:sp>
        <p:nvSpPr>
          <p:cNvPr id="35" name="TextBox 34"/>
          <p:cNvSpPr txBox="1"/>
          <p:nvPr/>
        </p:nvSpPr>
        <p:spPr>
          <a:xfrm>
            <a:off x="4343400" y="3858768"/>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위치 변화량 ÷ 시간</a:t>
            </a:r>
          </a:p>
        </p:txBody>
      </p:sp>
      <p:sp>
        <p:nvSpPr>
          <p:cNvPr id="36" name="Rounded Rectangle 35"/>
          <p:cNvSpPr/>
          <p:nvPr/>
        </p:nvSpPr>
        <p:spPr>
          <a:xfrm>
            <a:off x="640080" y="4261104"/>
            <a:ext cx="731520" cy="274320"/>
          </a:xfrm>
          <a:prstGeom prst="roundRect">
            <a:avLst>
              <a:gd name="adj" fmla="val 25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8794AC"/>
                </a:solidFill>
                <a:latin typeface="맑은 고딕"/>
                <a:ea typeface="맑은 고딕"/>
              </a:rPr>
              <a:t>가속도</a:t>
            </a:r>
          </a:p>
        </p:txBody>
      </p:sp>
      <p:sp>
        <p:nvSpPr>
          <p:cNvPr id="37" name="TextBox 36"/>
          <p:cNvSpPr txBox="1"/>
          <p:nvPr/>
        </p:nvSpPr>
        <p:spPr>
          <a:xfrm>
            <a:off x="1508760" y="4242816"/>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0</a:t>
            </a:r>
          </a:p>
        </p:txBody>
      </p:sp>
      <p:sp>
        <p:nvSpPr>
          <p:cNvPr id="38" name="TextBox 37"/>
          <p:cNvSpPr txBox="1"/>
          <p:nvPr/>
        </p:nvSpPr>
        <p:spPr>
          <a:xfrm>
            <a:off x="4343400" y="4242816"/>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두 점으로는 못 구함 (과제 조건)</a:t>
            </a:r>
          </a:p>
        </p:txBody>
      </p:sp>
      <p:sp>
        <p:nvSpPr>
          <p:cNvPr id="39" name="TextBox 38"/>
          <p:cNvSpPr txBox="1"/>
          <p:nvPr/>
        </p:nvSpPr>
        <p:spPr>
          <a:xfrm>
            <a:off x="640080" y="4709160"/>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오차 공분산 mat_EstP  (축 a, b 마다, R = 플롯 위치 측정잡음)</a:t>
            </a:r>
          </a:p>
        </p:txBody>
      </p:sp>
      <p:sp>
        <p:nvSpPr>
          <p:cNvPr id="40" name="Rounded Rectangle 39"/>
          <p:cNvSpPr/>
          <p:nvPr/>
        </p:nvSpPr>
        <p:spPr>
          <a:xfrm>
            <a:off x="640080" y="5029200"/>
            <a:ext cx="3017520" cy="310896"/>
          </a:xfrm>
          <a:prstGeom prst="roundRect">
            <a:avLst>
              <a:gd name="adj" fmla="val 20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0080" y="5029200"/>
            <a:ext cx="3017520" cy="310896"/>
          </a:xfrm>
          <a:prstGeom prst="rect">
            <a:avLst/>
          </a:prstGeom>
          <a:noFill/>
        </p:spPr>
        <p:txBody>
          <a:bodyPr wrap="square" lIns="0" rIns="0" tIns="0" bIns="0" anchor="ctr">
            <a:spAutoFit/>
          </a:bodyPr>
          <a:lstStyle/>
          <a:p>
            <a:pPr algn="ctr">
              <a:spcAft>
                <a:spcPts val="0"/>
              </a:spcAft>
            </a:pPr>
            <a:r>
              <a:rPr sz="1200" b="1" i="0">
                <a:solidFill>
                  <a:srgbClr val="2563EB"/>
                </a:solidFill>
                <a:latin typeface="Cambria Math"/>
                <a:ea typeface="Cambria Math"/>
              </a:rPr>
              <a:t>P</a:t>
            </a:r>
            <a:r>
              <a:rPr sz="1200" b="1" i="0" baseline="-25000">
                <a:solidFill>
                  <a:srgbClr val="2563EB"/>
                </a:solidFill>
                <a:latin typeface="Cambria Math"/>
                <a:ea typeface="Cambria Math"/>
              </a:rPr>
              <a:t>pp</a:t>
            </a:r>
            <a:r>
              <a:rPr sz="1200" b="1" i="0">
                <a:solidFill>
                  <a:srgbClr val="2563EB"/>
                </a:solidFill>
                <a:latin typeface="Cambria Math"/>
                <a:ea typeface="Cambria Math"/>
              </a:rPr>
              <a:t> = R</a:t>
            </a:r>
            <a:r>
              <a:rPr sz="1200" b="1" i="0" baseline="-25000">
                <a:solidFill>
                  <a:srgbClr val="2563EB"/>
                </a:solidFill>
                <a:latin typeface="Cambria Math"/>
                <a:ea typeface="Cambria Math"/>
              </a:rPr>
              <a:t>k</a:t>
            </a:r>
          </a:p>
        </p:txBody>
      </p:sp>
      <p:sp>
        <p:nvSpPr>
          <p:cNvPr id="42" name="Rounded Rectangle 41"/>
          <p:cNvSpPr/>
          <p:nvPr/>
        </p:nvSpPr>
        <p:spPr>
          <a:xfrm>
            <a:off x="3794760" y="5029200"/>
            <a:ext cx="3017520" cy="310896"/>
          </a:xfrm>
          <a:prstGeom prst="roundRect">
            <a:avLst>
              <a:gd name="adj" fmla="val 20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794760" y="5029200"/>
            <a:ext cx="3017520" cy="310896"/>
          </a:xfrm>
          <a:prstGeom prst="rect">
            <a:avLst/>
          </a:prstGeom>
          <a:noFill/>
        </p:spPr>
        <p:txBody>
          <a:bodyPr wrap="square" lIns="0" rIns="0" tIns="0" bIns="0" anchor="ctr">
            <a:spAutoFit/>
          </a:bodyPr>
          <a:lstStyle/>
          <a:p>
            <a:pPr algn="ctr">
              <a:spcAft>
                <a:spcPts val="0"/>
              </a:spcAft>
            </a:pPr>
            <a:r>
              <a:rPr sz="1200" b="1" i="0">
                <a:solidFill>
                  <a:srgbClr val="059669"/>
                </a:solidFill>
                <a:latin typeface="Cambria Math"/>
                <a:ea typeface="Cambria Math"/>
              </a:rPr>
              <a:t>P</a:t>
            </a:r>
            <a:r>
              <a:rPr sz="1200" b="1" i="0" baseline="-25000">
                <a:solidFill>
                  <a:srgbClr val="059669"/>
                </a:solidFill>
                <a:latin typeface="Cambria Math"/>
                <a:ea typeface="Cambria Math"/>
              </a:rPr>
              <a:t>pv</a:t>
            </a:r>
            <a:r>
              <a:rPr sz="1200" b="1" i="0">
                <a:solidFill>
                  <a:srgbClr val="059669"/>
                </a:solidFill>
                <a:latin typeface="Cambria Math"/>
                <a:ea typeface="Cambria Math"/>
              </a:rPr>
              <a:t> = P</a:t>
            </a:r>
            <a:r>
              <a:rPr sz="1200" b="1" i="0" baseline="-25000">
                <a:solidFill>
                  <a:srgbClr val="059669"/>
                </a:solidFill>
                <a:latin typeface="Cambria Math"/>
                <a:ea typeface="Cambria Math"/>
              </a:rPr>
              <a:t>vp</a:t>
            </a:r>
            <a:r>
              <a:rPr sz="1200" b="1" i="0">
                <a:solidFill>
                  <a:srgbClr val="059669"/>
                </a:solidFill>
                <a:latin typeface="Cambria Math"/>
                <a:ea typeface="Cambria Math"/>
              </a:rPr>
              <a:t> = R</a:t>
            </a:r>
            <a:r>
              <a:rPr sz="1200" b="1" i="0" baseline="-25000">
                <a:solidFill>
                  <a:srgbClr val="059669"/>
                </a:solidFill>
                <a:latin typeface="Cambria Math"/>
                <a:ea typeface="Cambria Math"/>
              </a:rPr>
              <a:t>k</a:t>
            </a:r>
            <a:r>
              <a:rPr sz="1200" b="1" i="0">
                <a:solidFill>
                  <a:srgbClr val="059669"/>
                </a:solidFill>
                <a:latin typeface="Cambria Math"/>
                <a:ea typeface="Cambria Math"/>
              </a:rPr>
              <a:t> / T</a:t>
            </a:r>
          </a:p>
        </p:txBody>
      </p:sp>
      <p:sp>
        <p:nvSpPr>
          <p:cNvPr id="44" name="Rounded Rectangle 43"/>
          <p:cNvSpPr/>
          <p:nvPr/>
        </p:nvSpPr>
        <p:spPr>
          <a:xfrm>
            <a:off x="640080" y="5413248"/>
            <a:ext cx="3017520" cy="310896"/>
          </a:xfrm>
          <a:prstGeom prst="roundRect">
            <a:avLst>
              <a:gd name="adj" fmla="val 20000"/>
            </a:avLst>
          </a:prstGeom>
          <a:solidFill>
            <a:srgbClr val="FFFFFF"/>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413248"/>
            <a:ext cx="3017520" cy="310896"/>
          </a:xfrm>
          <a:prstGeom prst="rect">
            <a:avLst/>
          </a:prstGeom>
          <a:noFill/>
        </p:spPr>
        <p:txBody>
          <a:bodyPr wrap="square" lIns="0" rIns="0" tIns="0" bIns="0" anchor="ctr">
            <a:spAutoFit/>
          </a:bodyPr>
          <a:lstStyle/>
          <a:p>
            <a:pPr algn="ctr">
              <a:spcAft>
                <a:spcPts val="0"/>
              </a:spcAft>
            </a:pPr>
            <a:r>
              <a:rPr sz="1200" b="1" i="0">
                <a:solidFill>
                  <a:srgbClr val="DC2626"/>
                </a:solidFill>
                <a:latin typeface="Cambria Math"/>
                <a:ea typeface="Cambria Math"/>
              </a:rPr>
              <a:t>P</a:t>
            </a:r>
            <a:r>
              <a:rPr sz="1200" b="1" i="0" baseline="-25000">
                <a:solidFill>
                  <a:srgbClr val="DC2626"/>
                </a:solidFill>
                <a:latin typeface="Cambria Math"/>
                <a:ea typeface="Cambria Math"/>
              </a:rPr>
              <a:t>vv</a:t>
            </a:r>
            <a:r>
              <a:rPr sz="1200" b="1" i="0">
                <a:solidFill>
                  <a:srgbClr val="DC2626"/>
                </a:solidFill>
                <a:latin typeface="Cambria Math"/>
                <a:ea typeface="Cambria Math"/>
              </a:rPr>
              <a:t> = ( R</a:t>
            </a:r>
            <a:r>
              <a:rPr sz="1200" b="1" i="0" baseline="-25000">
                <a:solidFill>
                  <a:srgbClr val="DC2626"/>
                </a:solidFill>
                <a:latin typeface="Cambria Math"/>
                <a:ea typeface="Cambria Math"/>
              </a:rPr>
              <a:t>k</a:t>
            </a:r>
            <a:r>
              <a:rPr sz="1200" b="1" i="0">
                <a:solidFill>
                  <a:srgbClr val="DC2626"/>
                </a:solidFill>
                <a:latin typeface="Cambria Math"/>
                <a:ea typeface="Cambria Math"/>
              </a:rPr>
              <a:t> + R</a:t>
            </a:r>
            <a:r>
              <a:rPr sz="1200" b="1" i="0" baseline="-25000">
                <a:solidFill>
                  <a:srgbClr val="DC2626"/>
                </a:solidFill>
                <a:latin typeface="Cambria Math"/>
                <a:ea typeface="Cambria Math"/>
              </a:rPr>
              <a:t>k−1</a:t>
            </a:r>
            <a:r>
              <a:rPr sz="1200" b="1" i="0">
                <a:solidFill>
                  <a:srgbClr val="DC2626"/>
                </a:solidFill>
                <a:latin typeface="Cambria Math"/>
                <a:ea typeface="Cambria Math"/>
              </a:rPr>
              <a:t> ) / T</a:t>
            </a:r>
            <a:r>
              <a:rPr sz="1200" b="1" i="0" baseline="30000">
                <a:solidFill>
                  <a:srgbClr val="DC2626"/>
                </a:solidFill>
                <a:latin typeface="Cambria Math"/>
                <a:ea typeface="Cambria Math"/>
              </a:rPr>
              <a:t>2</a:t>
            </a:r>
          </a:p>
        </p:txBody>
      </p:sp>
      <p:sp>
        <p:nvSpPr>
          <p:cNvPr id="46" name="Rounded Rectangle 45"/>
          <p:cNvSpPr/>
          <p:nvPr/>
        </p:nvSpPr>
        <p:spPr>
          <a:xfrm>
            <a:off x="3794760" y="5413248"/>
            <a:ext cx="3017520" cy="310896"/>
          </a:xfrm>
          <a:prstGeom prst="roundRect">
            <a:avLst>
              <a:gd name="adj" fmla="val 20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794760" y="5413248"/>
            <a:ext cx="3017520" cy="310896"/>
          </a:xfrm>
          <a:prstGeom prst="rect">
            <a:avLst/>
          </a:prstGeom>
          <a:noFill/>
        </p:spPr>
        <p:txBody>
          <a:bodyPr wrap="square" lIns="0" rIns="0" tIns="0" bIns="0" anchor="ctr">
            <a:spAutoFit/>
          </a:bodyPr>
          <a:lstStyle/>
          <a:p>
            <a:pPr algn="ctr">
              <a:spcAft>
                <a:spcPts val="0"/>
              </a:spcAft>
            </a:pPr>
            <a:r>
              <a:rPr sz="1200" b="1" i="0">
                <a:solidFill>
                  <a:srgbClr val="8794AC"/>
                </a:solidFill>
                <a:latin typeface="맑은 고딕"/>
                <a:ea typeface="맑은 고딕"/>
              </a:rPr>
              <a:t>가속도 행 · 열 = 0</a:t>
            </a:r>
          </a:p>
        </p:txBody>
      </p:sp>
      <p:pic>
        <p:nvPicPr>
          <p:cNvPr id="48" name="Picture 47" descr="fig_pmatrix.png"/>
          <p:cNvPicPr>
            <a:picLocks noChangeAspect="1"/>
          </p:cNvPicPr>
          <p:nvPr/>
        </p:nvPicPr>
        <p:blipFill>
          <a:blip r:embed="rId2"/>
          <a:stretch>
            <a:fillRect/>
          </a:stretch>
        </p:blipFill>
        <p:spPr>
          <a:xfrm>
            <a:off x="7269480" y="2240280"/>
            <a:ext cx="3939702" cy="3703320"/>
          </a:xfrm>
          <a:prstGeom prst="rect">
            <a:avLst/>
          </a:prstGeom>
        </p:spPr>
      </p:pic>
      <p:sp>
        <p:nvSpPr>
          <p:cNvPr id="49" name="TextBox 48"/>
          <p:cNvSpPr txBox="1"/>
          <p:nvPr/>
        </p:nvSpPr>
        <p:spPr>
          <a:xfrm>
            <a:off x="7269480" y="5943600"/>
            <a:ext cx="4023360" cy="274320"/>
          </a:xfrm>
          <a:prstGeom prst="rect">
            <a:avLst/>
          </a:prstGeom>
          <a:noFill/>
        </p:spPr>
        <p:txBody>
          <a:bodyPr wrap="square" lIns="0" rIns="0" tIns="0" bIns="0" anchor="t">
            <a:spAutoFit/>
          </a:bodyPr>
          <a:lstStyle/>
          <a:p>
            <a:pPr algn="ctr">
              <a:spcAft>
                <a:spcPts val="0"/>
              </a:spcAft>
            </a:pPr>
            <a:r>
              <a:rPr sz="1000" b="0" i="0">
                <a:solidFill>
                  <a:srgbClr val="4A5A7A"/>
                </a:solidFill>
                <a:latin typeface="맑은 고딕"/>
                <a:ea typeface="맑은 고딕"/>
              </a:rPr>
              <a:t>mat_EstP 9 × 9 구조 (같은 색 = 같은 식, 회색 = 가속도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1.4 측정잡음 공분산 R</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P 를 만들려면 플롯 하나의 위치 오차 R 이 필요합니다. 과제가 준 구좌표 표준편차를 VC-NED 직교 좌표 공분산으로 바꿔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691640" cy="914400"/>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40864"/>
            <a:ext cx="1691640" cy="256032"/>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range</a:t>
            </a:r>
          </a:p>
        </p:txBody>
      </p:sp>
      <p:sp>
        <p:nvSpPr>
          <p:cNvPr id="28" name="TextBox 27"/>
          <p:cNvSpPr txBox="1"/>
          <p:nvPr/>
        </p:nvSpPr>
        <p:spPr>
          <a:xfrm>
            <a:off x="640080" y="2578608"/>
            <a:ext cx="1691640" cy="548640"/>
          </a:xfrm>
          <a:prstGeom prst="rect">
            <a:avLst/>
          </a:prstGeom>
          <a:noFill/>
        </p:spPr>
        <p:txBody>
          <a:bodyPr wrap="square" lIns="0" rIns="0" tIns="0" bIns="0" anchor="t">
            <a:spAutoFit/>
          </a:bodyPr>
          <a:lstStyle/>
          <a:p>
            <a:pPr algn="ctr">
              <a:spcAft>
                <a:spcPts val="0"/>
              </a:spcAft>
            </a:pPr>
            <a:r>
              <a:rPr sz="2600" b="1" i="0">
                <a:solidFill>
                  <a:srgbClr val="2563EB"/>
                </a:solidFill>
                <a:latin typeface="Arial"/>
                <a:ea typeface="맑은 고딕"/>
              </a:rPr>
              <a:t>10 m</a:t>
            </a:r>
          </a:p>
        </p:txBody>
      </p:sp>
      <p:sp>
        <p:nvSpPr>
          <p:cNvPr id="29" name="Rounded Rectangle 28"/>
          <p:cNvSpPr/>
          <p:nvPr/>
        </p:nvSpPr>
        <p:spPr>
          <a:xfrm>
            <a:off x="2468880" y="2286000"/>
            <a:ext cx="1691640" cy="914400"/>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468880" y="2340864"/>
            <a:ext cx="1691640" cy="256032"/>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azimuth</a:t>
            </a:r>
          </a:p>
        </p:txBody>
      </p:sp>
      <p:sp>
        <p:nvSpPr>
          <p:cNvPr id="31" name="TextBox 30"/>
          <p:cNvSpPr txBox="1"/>
          <p:nvPr/>
        </p:nvSpPr>
        <p:spPr>
          <a:xfrm>
            <a:off x="2468880" y="2578608"/>
            <a:ext cx="1691640" cy="548640"/>
          </a:xfrm>
          <a:prstGeom prst="rect">
            <a:avLst/>
          </a:prstGeom>
          <a:noFill/>
        </p:spPr>
        <p:txBody>
          <a:bodyPr wrap="square" lIns="0" rIns="0" tIns="0" bIns="0" anchor="t">
            <a:spAutoFit/>
          </a:bodyPr>
          <a:lstStyle/>
          <a:p>
            <a:pPr algn="ctr">
              <a:spcAft>
                <a:spcPts val="0"/>
              </a:spcAft>
            </a:pPr>
            <a:r>
              <a:rPr sz="2600" b="1" i="0">
                <a:solidFill>
                  <a:srgbClr val="2563EB"/>
                </a:solidFill>
                <a:latin typeface="Arial"/>
                <a:ea typeface="맑은 고딕"/>
              </a:rPr>
              <a:t>0.2 °</a:t>
            </a:r>
          </a:p>
        </p:txBody>
      </p:sp>
      <p:sp>
        <p:nvSpPr>
          <p:cNvPr id="32" name="Rounded Rectangle 31"/>
          <p:cNvSpPr/>
          <p:nvPr/>
        </p:nvSpPr>
        <p:spPr>
          <a:xfrm>
            <a:off x="4297680" y="2286000"/>
            <a:ext cx="1691640" cy="914400"/>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97680" y="2340864"/>
            <a:ext cx="1691640" cy="256032"/>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elevation</a:t>
            </a:r>
          </a:p>
        </p:txBody>
      </p:sp>
      <p:sp>
        <p:nvSpPr>
          <p:cNvPr id="34" name="TextBox 33"/>
          <p:cNvSpPr txBox="1"/>
          <p:nvPr/>
        </p:nvSpPr>
        <p:spPr>
          <a:xfrm>
            <a:off x="4297680" y="2578608"/>
            <a:ext cx="1691640" cy="548640"/>
          </a:xfrm>
          <a:prstGeom prst="rect">
            <a:avLst/>
          </a:prstGeom>
          <a:noFill/>
        </p:spPr>
        <p:txBody>
          <a:bodyPr wrap="square" lIns="0" rIns="0" tIns="0" bIns="0" anchor="t">
            <a:spAutoFit/>
          </a:bodyPr>
          <a:lstStyle/>
          <a:p>
            <a:pPr algn="ctr">
              <a:spcAft>
                <a:spcPts val="0"/>
              </a:spcAft>
            </a:pPr>
            <a:r>
              <a:rPr sz="2600" b="1" i="0">
                <a:solidFill>
                  <a:srgbClr val="2563EB"/>
                </a:solidFill>
                <a:latin typeface="Arial"/>
                <a:ea typeface="맑은 고딕"/>
              </a:rPr>
              <a:t>0.2 °</a:t>
            </a:r>
          </a:p>
        </p:txBody>
      </p:sp>
      <p:sp>
        <p:nvSpPr>
          <p:cNvPr id="35" name="TextBox 34"/>
          <p:cNvSpPr txBox="1"/>
          <p:nvPr/>
        </p:nvSpPr>
        <p:spPr>
          <a:xfrm>
            <a:off x="640080" y="3246120"/>
            <a:ext cx="5394960" cy="274320"/>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과제 조건: 트랙 초기화 (초기 오차 공분산) 에 쓰는 R 의 표준편차</a:t>
            </a:r>
          </a:p>
        </p:txBody>
      </p:sp>
      <p:sp>
        <p:nvSpPr>
          <p:cNvPr id="36" name="Rounded Rectangle 35"/>
          <p:cNvSpPr/>
          <p:nvPr/>
        </p:nvSpPr>
        <p:spPr>
          <a:xfrm>
            <a:off x="6263640" y="2286000"/>
            <a:ext cx="5285232" cy="1207008"/>
          </a:xfrm>
          <a:prstGeom prst="roundRect">
            <a:avLst>
              <a:gd name="adj" fmla="val 6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0" y="2340864"/>
            <a:ext cx="5029200" cy="347472"/>
          </a:xfrm>
          <a:prstGeom prst="rect">
            <a:avLst/>
          </a:prstGeom>
          <a:noFill/>
        </p:spPr>
        <p:txBody>
          <a:bodyPr wrap="square" lIns="0" rIns="0" tIns="0" bIns="0" anchor="ctr">
            <a:spAutoFit/>
          </a:bodyPr>
          <a:lstStyle/>
          <a:p>
            <a:pPr algn="l">
              <a:spcAft>
                <a:spcPts val="0"/>
              </a:spcAft>
            </a:pPr>
            <a:r>
              <a:rPr sz="1400" b="1" i="0">
                <a:solidFill>
                  <a:srgbClr val="1B2740"/>
                </a:solidFill>
                <a:latin typeface="Cambria Math"/>
                <a:ea typeface="Cambria Math"/>
              </a:rPr>
              <a:t>R</a:t>
            </a:r>
            <a:r>
              <a:rPr sz="1400" b="1" i="0" baseline="-25000">
                <a:solidFill>
                  <a:srgbClr val="1B2740"/>
                </a:solidFill>
                <a:latin typeface="Cambria Math"/>
                <a:ea typeface="Cambria Math"/>
              </a:rPr>
              <a:t>NED</a:t>
            </a:r>
            <a:r>
              <a:rPr sz="1400" b="1" i="0">
                <a:solidFill>
                  <a:srgbClr val="1B2740"/>
                </a:solidFill>
                <a:latin typeface="Cambria Math"/>
                <a:ea typeface="Cambria Math"/>
              </a:rPr>
              <a:t> = </a:t>
            </a:r>
            <a:r>
              <a:rPr sz="1400" b="1" i="0">
                <a:solidFill>
                  <a:srgbClr val="059669"/>
                </a:solidFill>
                <a:latin typeface="Cambria Math"/>
                <a:ea typeface="Cambria Math"/>
              </a:rPr>
              <a:t>C</a:t>
            </a:r>
            <a:r>
              <a:rPr sz="1400" b="1" i="0">
                <a:solidFill>
                  <a:srgbClr val="2563EB"/>
                </a:solidFill>
                <a:latin typeface="Cambria Math"/>
                <a:ea typeface="Cambria Math"/>
              </a:rPr>
              <a:t> · diag( σ</a:t>
            </a:r>
            <a:r>
              <a:rPr sz="1400" b="1" i="0" baseline="-25000">
                <a:solidFill>
                  <a:srgbClr val="2563EB"/>
                </a:solidFill>
                <a:latin typeface="Cambria Math"/>
                <a:ea typeface="Cambria Math"/>
              </a:rPr>
              <a:t>r</a:t>
            </a:r>
            <a:r>
              <a:rPr sz="1400" b="1" i="0" baseline="30000">
                <a:solidFill>
                  <a:srgbClr val="2563EB"/>
                </a:solidFill>
                <a:latin typeface="Cambria Math"/>
                <a:ea typeface="Cambria Math"/>
              </a:rPr>
              <a:t>2</a:t>
            </a:r>
            <a:r>
              <a:rPr sz="1400" b="1" i="0">
                <a:solidFill>
                  <a:srgbClr val="2563EB"/>
                </a:solidFill>
                <a:latin typeface="Cambria Math"/>
                <a:ea typeface="Cambria Math"/>
              </a:rPr>
              <a:t>,  (r cos el · σ</a:t>
            </a:r>
            <a:r>
              <a:rPr sz="1400" b="1" i="0" baseline="-25000">
                <a:solidFill>
                  <a:srgbClr val="2563EB"/>
                </a:solidFill>
                <a:latin typeface="Cambria Math"/>
                <a:ea typeface="Cambria Math"/>
              </a:rPr>
              <a:t>az</a:t>
            </a:r>
            <a:r>
              <a:rPr sz="1400" b="1" i="0">
                <a:solidFill>
                  <a:srgbClr val="2563EB"/>
                </a:solidFill>
                <a:latin typeface="Cambria Math"/>
                <a:ea typeface="Cambria Math"/>
              </a:rPr>
              <a:t>)</a:t>
            </a:r>
            <a:r>
              <a:rPr sz="1400" b="1" i="0" baseline="30000">
                <a:solidFill>
                  <a:srgbClr val="2563EB"/>
                </a:solidFill>
                <a:latin typeface="Cambria Math"/>
                <a:ea typeface="Cambria Math"/>
              </a:rPr>
              <a:t>2</a:t>
            </a:r>
            <a:r>
              <a:rPr sz="1400" b="1" i="0">
                <a:solidFill>
                  <a:srgbClr val="2563EB"/>
                </a:solidFill>
                <a:latin typeface="Cambria Math"/>
                <a:ea typeface="Cambria Math"/>
              </a:rPr>
              <a:t>,  (r · σ</a:t>
            </a:r>
            <a:r>
              <a:rPr sz="1400" b="1" i="0" baseline="-25000">
                <a:solidFill>
                  <a:srgbClr val="2563EB"/>
                </a:solidFill>
                <a:latin typeface="Cambria Math"/>
                <a:ea typeface="Cambria Math"/>
              </a:rPr>
              <a:t>el</a:t>
            </a:r>
            <a:r>
              <a:rPr sz="1400" b="1" i="0">
                <a:solidFill>
                  <a:srgbClr val="2563EB"/>
                </a:solidFill>
                <a:latin typeface="Cambria Math"/>
                <a:ea typeface="Cambria Math"/>
              </a:rPr>
              <a:t>)</a:t>
            </a:r>
            <a:r>
              <a:rPr sz="1400" b="1" i="0" baseline="30000">
                <a:solidFill>
                  <a:srgbClr val="2563EB"/>
                </a:solidFill>
                <a:latin typeface="Cambria Math"/>
                <a:ea typeface="Cambria Math"/>
              </a:rPr>
              <a:t>2</a:t>
            </a:r>
            <a:r>
              <a:rPr sz="1400" b="1" i="0">
                <a:solidFill>
                  <a:srgbClr val="2563EB"/>
                </a:solidFill>
                <a:latin typeface="Cambria Math"/>
                <a:ea typeface="Cambria Math"/>
              </a:rPr>
              <a:t> ) · </a:t>
            </a:r>
            <a:r>
              <a:rPr sz="1400" b="1" i="0">
                <a:solidFill>
                  <a:srgbClr val="059669"/>
                </a:solidFill>
                <a:latin typeface="Cambria Math"/>
                <a:ea typeface="Cambria Math"/>
              </a:rPr>
              <a:t>C</a:t>
            </a:r>
            <a:r>
              <a:rPr sz="1400" b="1" i="0" baseline="30000">
                <a:solidFill>
                  <a:srgbClr val="059669"/>
                </a:solidFill>
                <a:latin typeface="Cambria Math"/>
                <a:ea typeface="Cambria Math"/>
              </a:rPr>
              <a:t>T</a:t>
            </a:r>
          </a:p>
        </p:txBody>
      </p:sp>
      <p:sp>
        <p:nvSpPr>
          <p:cNvPr id="38" name="Rounded Rectangle 37"/>
          <p:cNvSpPr/>
          <p:nvPr/>
        </p:nvSpPr>
        <p:spPr>
          <a:xfrm>
            <a:off x="6400800" y="2734056"/>
            <a:ext cx="841248" cy="21031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50" b="1" i="0">
                <a:solidFill>
                  <a:srgbClr val="2563EB"/>
                </a:solidFill>
                <a:latin typeface="맑은 고딕"/>
                <a:ea typeface="맑은 고딕"/>
              </a:rPr>
              <a:t>오차 크기</a:t>
            </a:r>
          </a:p>
        </p:txBody>
      </p:sp>
      <p:sp>
        <p:nvSpPr>
          <p:cNvPr id="39" name="TextBox 38"/>
          <p:cNvSpPr txBox="1"/>
          <p:nvPr/>
        </p:nvSpPr>
        <p:spPr>
          <a:xfrm>
            <a:off x="7333488" y="2734056"/>
            <a:ext cx="4160520" cy="210312"/>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레이다 시선 기준 거리 · 옆 · 위아래 오차. 각도 × 거리 = 미터</a:t>
            </a:r>
          </a:p>
        </p:txBody>
      </p:sp>
      <p:sp>
        <p:nvSpPr>
          <p:cNvPr id="40" name="Rounded Rectangle 39"/>
          <p:cNvSpPr/>
          <p:nvPr/>
        </p:nvSpPr>
        <p:spPr>
          <a:xfrm>
            <a:off x="6400800" y="2980944"/>
            <a:ext cx="841248" cy="21031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50" b="1" i="0">
                <a:solidFill>
                  <a:srgbClr val="059669"/>
                </a:solidFill>
                <a:latin typeface="맑은 고딕"/>
                <a:ea typeface="맑은 고딕"/>
              </a:rPr>
              <a:t>회전 C</a:t>
            </a:r>
          </a:p>
        </p:txBody>
      </p:sp>
      <p:sp>
        <p:nvSpPr>
          <p:cNvPr id="41" name="TextBox 40"/>
          <p:cNvSpPr txBox="1"/>
          <p:nvPr/>
        </p:nvSpPr>
        <p:spPr>
          <a:xfrm>
            <a:off x="7333488" y="2980944"/>
            <a:ext cx="4160520" cy="210312"/>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시선 기준 축 → 북 · 동 · 아래 축 (안테나 방향 + 플랫폼 자세)</a:t>
            </a:r>
          </a:p>
        </p:txBody>
      </p:sp>
      <p:sp>
        <p:nvSpPr>
          <p:cNvPr id="42" name="TextBox 41"/>
          <p:cNvSpPr txBox="1"/>
          <p:nvPr/>
        </p:nvSpPr>
        <p:spPr>
          <a:xfrm>
            <a:off x="6400800" y="3246120"/>
            <a:ext cx="5029200" cy="210312"/>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앞뒤로 C 를 곱하면 타원 모양은 그대로, 방향만 북 · 동 · 아래로 돌려 놓음</a:t>
            </a:r>
          </a:p>
        </p:txBody>
      </p:sp>
      <p:pic>
        <p:nvPicPr>
          <p:cNvPr id="43" name="Picture 42" descr="fig_rcov.png"/>
          <p:cNvPicPr>
            <a:picLocks noChangeAspect="1"/>
          </p:cNvPicPr>
          <p:nvPr/>
        </p:nvPicPr>
        <p:blipFill>
          <a:blip r:embed="rId4"/>
          <a:stretch>
            <a:fillRect/>
          </a:stretch>
        </p:blipFill>
        <p:spPr>
          <a:xfrm>
            <a:off x="640080" y="3611880"/>
            <a:ext cx="6949440" cy="2606040"/>
          </a:xfrm>
          <a:prstGeom prst="rect">
            <a:avLst/>
          </a:prstGeom>
        </p:spPr>
      </p:pic>
      <p:sp>
        <p:nvSpPr>
          <p:cNvPr id="44" name="TextBox 43"/>
          <p:cNvSpPr txBox="1"/>
          <p:nvPr/>
        </p:nvSpPr>
        <p:spPr>
          <a:xfrm>
            <a:off x="7818120" y="3703320"/>
            <a:ext cx="3749039"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R 이 뜻하는 것</a:t>
            </a:r>
          </a:p>
        </p:txBody>
      </p:sp>
      <p:sp>
        <p:nvSpPr>
          <p:cNvPr id="45" name="Oval 44"/>
          <p:cNvSpPr/>
          <p:nvPr/>
        </p:nvSpPr>
        <p:spPr>
          <a:xfrm>
            <a:off x="7818120" y="4059935"/>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6" name="TextBox 45"/>
          <p:cNvSpPr txBox="1"/>
          <p:nvPr/>
        </p:nvSpPr>
        <p:spPr>
          <a:xfrm>
            <a:off x="8202168" y="4041648"/>
            <a:ext cx="33649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R = 플롯이 흩어지는 정도</a:t>
            </a:r>
          </a:p>
          <a:p>
            <a:pPr algn="l">
              <a:spcAft>
                <a:spcPts val="100"/>
              </a:spcAft>
            </a:pPr>
            <a:r>
              <a:rPr sz="1050" b="0" i="0">
                <a:solidFill>
                  <a:srgbClr val="4A5A7A"/>
                </a:solidFill>
                <a:latin typeface="맑은 고딕"/>
                <a:ea typeface="맑은 고딕"/>
              </a:rPr>
              <a:t>같은 표적을 여러 번 잴 때 흩어지는 크기 · 모양</a:t>
            </a:r>
          </a:p>
        </p:txBody>
      </p:sp>
      <p:sp>
        <p:nvSpPr>
          <p:cNvPr id="47" name="Oval 46"/>
          <p:cNvSpPr/>
          <p:nvPr/>
        </p:nvSpPr>
        <p:spPr>
          <a:xfrm>
            <a:off x="7818120" y="4718303"/>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48" name="TextBox 47"/>
          <p:cNvSpPr txBox="1"/>
          <p:nvPr/>
        </p:nvSpPr>
        <p:spPr>
          <a:xfrm>
            <a:off x="8202168" y="4700016"/>
            <a:ext cx="3364991" cy="676656"/>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거리는 정확, 방향은 멀수록 퍼짐</a:t>
            </a:r>
          </a:p>
          <a:p>
            <a:pPr algn="l">
              <a:spcAft>
                <a:spcPts val="100"/>
              </a:spcAft>
            </a:pPr>
            <a:r>
              <a:rPr sz="1050" b="0" i="0">
                <a:solidFill>
                  <a:srgbClr val="4A5A7A"/>
                </a:solidFill>
                <a:latin typeface="맑은 고딕"/>
                <a:ea typeface="맑은 고딕"/>
              </a:rPr>
              <a:t>거리 방향: 10 m (어디서나 같음)</a:t>
            </a:r>
          </a:p>
          <a:p>
            <a:pPr algn="l">
              <a:spcAft>
                <a:spcPts val="100"/>
              </a:spcAft>
            </a:pPr>
            <a:r>
              <a:rPr sz="1050" b="0" i="0">
                <a:solidFill>
                  <a:srgbClr val="4A5A7A"/>
                </a:solidFill>
                <a:latin typeface="맑은 고딕"/>
                <a:ea typeface="맑은 고딕"/>
              </a:rPr>
              <a:t>옆 · 위아래: 거리 × 0.2° (14 km → 49 m)</a:t>
            </a:r>
          </a:p>
        </p:txBody>
      </p:sp>
      <p:sp>
        <p:nvSpPr>
          <p:cNvPr id="49" name="Oval 48"/>
          <p:cNvSpPr/>
          <p:nvPr/>
        </p:nvSpPr>
        <p:spPr>
          <a:xfrm>
            <a:off x="7818120" y="5577840"/>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0" name="TextBox 49"/>
          <p:cNvSpPr txBox="1"/>
          <p:nvPr/>
        </p:nvSpPr>
        <p:spPr>
          <a:xfrm>
            <a:off x="8202168" y="5559552"/>
            <a:ext cx="33649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그래서 옆으로 긴 타원, 플롯마다 계산</a:t>
            </a:r>
          </a:p>
          <a:p>
            <a:pPr algn="l">
              <a:spcAft>
                <a:spcPts val="100"/>
              </a:spcAft>
            </a:pPr>
            <a:r>
              <a:rPr sz="1050" b="0" i="0">
                <a:solidFill>
                  <a:srgbClr val="4A5A7A"/>
                </a:solidFill>
                <a:latin typeface="맑은 고딕"/>
                <a:ea typeface="맑은 고딕"/>
              </a:rPr>
              <a:t>거리 · 방향이 플롯마다 달라 R 도 다름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1.5 속도 게이팅</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앞 스캔 플롯과 이번 스캔 플롯을 아무렇게나 짝지으면 클러터끼리도 트랙이 됩니다. 표적이 낼 수 있는 최대 속도로 짝을 거릅니다.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5669280" cy="1115568"/>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59152"/>
            <a:ext cx="5669280" cy="548640"/>
          </a:xfrm>
          <a:prstGeom prst="rect">
            <a:avLst/>
          </a:prstGeom>
          <a:noFill/>
        </p:spPr>
        <p:txBody>
          <a:bodyPr wrap="square" lIns="0" rIns="0" tIns="0" bIns="0" anchor="ctr">
            <a:spAutoFit/>
          </a:bodyPr>
          <a:lstStyle/>
          <a:p>
            <a:pPr algn="ctr">
              <a:spcAft>
                <a:spcPts val="0"/>
              </a:spcAft>
            </a:pPr>
            <a:r>
              <a:rPr sz="2200" b="1" i="0">
                <a:solidFill>
                  <a:srgbClr val="1B2740"/>
                </a:solidFill>
                <a:latin typeface="Cambria Math"/>
                <a:ea typeface="Cambria Math"/>
              </a:rPr>
              <a:t>| z</a:t>
            </a:r>
            <a:r>
              <a:rPr sz="2200" b="1" i="0" baseline="-25000">
                <a:solidFill>
                  <a:srgbClr val="1B2740"/>
                </a:solidFill>
                <a:latin typeface="Cambria Math"/>
                <a:ea typeface="Cambria Math"/>
              </a:rPr>
              <a:t>k,i</a:t>
            </a:r>
            <a:r>
              <a:rPr sz="2200" b="1" i="0">
                <a:solidFill>
                  <a:srgbClr val="1B2740"/>
                </a:solidFill>
                <a:latin typeface="Cambria Math"/>
                <a:ea typeface="Cambria Math"/>
              </a:rPr>
              <a:t> − z</a:t>
            </a:r>
            <a:r>
              <a:rPr sz="2200" b="1" i="0" baseline="-25000">
                <a:solidFill>
                  <a:srgbClr val="1B2740"/>
                </a:solidFill>
                <a:latin typeface="Cambria Math"/>
                <a:ea typeface="Cambria Math"/>
              </a:rPr>
              <a:t>k−1,j</a:t>
            </a:r>
            <a:r>
              <a:rPr sz="2200" b="1" i="0">
                <a:solidFill>
                  <a:srgbClr val="1B2740"/>
                </a:solidFill>
                <a:latin typeface="Cambria Math"/>
                <a:ea typeface="Cambria Math"/>
              </a:rPr>
              <a:t> | / ΔT  &lt;  V</a:t>
            </a:r>
            <a:r>
              <a:rPr sz="2200" b="1" i="0" baseline="-25000">
                <a:solidFill>
                  <a:srgbClr val="1B2740"/>
                </a:solidFill>
                <a:latin typeface="Cambria Math"/>
                <a:ea typeface="Cambria Math"/>
              </a:rPr>
              <a:t>max</a:t>
            </a:r>
          </a:p>
        </p:txBody>
      </p:sp>
      <p:sp>
        <p:nvSpPr>
          <p:cNvPr id="28" name="TextBox 27"/>
          <p:cNvSpPr txBox="1"/>
          <p:nvPr/>
        </p:nvSpPr>
        <p:spPr>
          <a:xfrm>
            <a:off x="640080" y="2926080"/>
            <a:ext cx="5669280" cy="36576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V</a:t>
            </a:r>
            <a:r>
              <a:rPr sz="1200" b="1" i="0" baseline="-25000">
                <a:solidFill>
                  <a:srgbClr val="2563EB"/>
                </a:solidFill>
                <a:latin typeface="맑은 고딕"/>
                <a:ea typeface="맑은 고딕"/>
              </a:rPr>
              <a:t>max</a:t>
            </a:r>
            <a:r>
              <a:rPr sz="1200" b="1" i="0">
                <a:solidFill>
                  <a:srgbClr val="2563EB"/>
                </a:solidFill>
                <a:latin typeface="맑은 고딕"/>
                <a:ea typeface="맑은 고딕"/>
              </a:rPr>
              <a:t> = 800 m/s (과제 조건),  ΔT = 0.1 s  →  앞 플롯 중심 반경 80 m</a:t>
            </a:r>
          </a:p>
        </p:txBody>
      </p:sp>
      <p:sp>
        <p:nvSpPr>
          <p:cNvPr id="29" name="TextBox 28"/>
          <p:cNvSpPr txBox="1"/>
          <p:nvPr/>
        </p:nvSpPr>
        <p:spPr>
          <a:xfrm>
            <a:off x="640080" y="3584448"/>
            <a:ext cx="566928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구현에서 정한 짝짓기 규칙</a:t>
            </a:r>
          </a:p>
        </p:txBody>
      </p:sp>
      <p:sp>
        <p:nvSpPr>
          <p:cNvPr id="30" name="Oval 29"/>
          <p:cNvSpPr/>
          <p:nvPr/>
        </p:nvSpPr>
        <p:spPr>
          <a:xfrm>
            <a:off x="640080" y="395020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1" name="TextBox 30"/>
          <p:cNvSpPr txBox="1"/>
          <p:nvPr/>
        </p:nvSpPr>
        <p:spPr>
          <a:xfrm>
            <a:off x="1024127" y="393192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게이트를 통과한 쌍이 여럿이면 가장 가까운 쌍부터</a:t>
            </a:r>
          </a:p>
          <a:p>
            <a:pPr algn="l">
              <a:spcAft>
                <a:spcPts val="100"/>
              </a:spcAft>
            </a:pPr>
            <a:r>
              <a:rPr sz="1050" b="0" i="0">
                <a:solidFill>
                  <a:srgbClr val="4A5A7A"/>
                </a:solidFill>
                <a:latin typeface="맑은 고딕"/>
                <a:ea typeface="맑은 고딕"/>
              </a:rPr>
              <a:t>두 플롯의 속력 (위치 변화량 ÷ ΔT) 이 작은 순서로 선택</a:t>
            </a:r>
          </a:p>
        </p:txBody>
      </p:sp>
      <p:sp>
        <p:nvSpPr>
          <p:cNvPr id="32" name="Oval 31"/>
          <p:cNvSpPr/>
          <p:nvPr/>
        </p:nvSpPr>
        <p:spPr>
          <a:xfrm>
            <a:off x="640080" y="459028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3" name="TextBox 32"/>
          <p:cNvSpPr txBox="1"/>
          <p:nvPr/>
        </p:nvSpPr>
        <p:spPr>
          <a:xfrm>
            <a:off x="1024127" y="457200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한 플롯은 한 트랙에만 씀</a:t>
            </a:r>
          </a:p>
          <a:p>
            <a:pPr algn="l">
              <a:spcAft>
                <a:spcPts val="100"/>
              </a:spcAft>
            </a:pPr>
            <a:r>
              <a:rPr sz="1050" b="0" i="0">
                <a:solidFill>
                  <a:srgbClr val="4A5A7A"/>
                </a:solidFill>
                <a:latin typeface="맑은 고딕"/>
                <a:ea typeface="맑은 고딕"/>
              </a:rPr>
              <a:t>개시에 쓴 플롯은 다음 스캔의 개시 후보에서 뺌</a:t>
            </a:r>
          </a:p>
        </p:txBody>
      </p:sp>
      <p:sp>
        <p:nvSpPr>
          <p:cNvPr id="34" name="Oval 33"/>
          <p:cNvSpPr/>
          <p:nvPr/>
        </p:nvSpPr>
        <p:spPr>
          <a:xfrm>
            <a:off x="640080" y="523036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5" name="TextBox 34"/>
          <p:cNvSpPr txBox="1"/>
          <p:nvPr/>
        </p:nvSpPr>
        <p:spPr>
          <a:xfrm>
            <a:off x="1024127" y="521208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짝이 없던 이번 스캔 플롯은 다음 스캔 후보로</a:t>
            </a:r>
          </a:p>
          <a:p>
            <a:pPr algn="l">
              <a:spcAft>
                <a:spcPts val="100"/>
              </a:spcAft>
            </a:pPr>
            <a:r>
              <a:rPr sz="1050" b="0" i="0">
                <a:solidFill>
                  <a:srgbClr val="4A5A7A"/>
                </a:solidFill>
                <a:latin typeface="맑은 고딕"/>
                <a:ea typeface="맑은 고딕"/>
              </a:rPr>
              <a:t>오른쪽 그림의 d 처럼 다음 스캔에서 다시 짝을 찾음</a:t>
            </a:r>
          </a:p>
        </p:txBody>
      </p:sp>
      <p:pic>
        <p:nvPicPr>
          <p:cNvPr id="36" name="Picture 35" descr="fig_gate.png"/>
          <p:cNvPicPr>
            <a:picLocks noChangeAspect="1"/>
          </p:cNvPicPr>
          <p:nvPr/>
        </p:nvPicPr>
        <p:blipFill>
          <a:blip r:embed="rId2"/>
          <a:stretch>
            <a:fillRect/>
          </a:stretch>
        </p:blipFill>
        <p:spPr>
          <a:xfrm>
            <a:off x="6675120" y="2240280"/>
            <a:ext cx="4846320" cy="3365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02. 트랙 관리</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개시한 트랙을 계속 믿을지 지울지 정하는 규칙입니다. 트랙 상태 네 가지와 M/N 방식, 트랙 스코어 방식을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상태 네 가지</a:t>
            </a:r>
          </a:p>
        </p:txBody>
      </p:sp>
      <p:cxnSp>
        <p:nvCxnSpPr>
          <p:cNvPr id="30" name="Connector 29"/>
          <p:cNvCxnSpPr/>
          <p:nvPr/>
        </p:nvCxnSpPr>
        <p:spPr>
          <a:xfrm>
            <a:off x="3049524" y="2313432"/>
            <a:ext cx="755751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M/N 방식</a:t>
            </a:r>
          </a:p>
        </p:txBody>
      </p:sp>
      <p:cxnSp>
        <p:nvCxnSpPr>
          <p:cNvPr id="34" name="Connector 33"/>
          <p:cNvCxnSpPr/>
          <p:nvPr/>
        </p:nvCxnSpPr>
        <p:spPr>
          <a:xfrm>
            <a:off x="2276856" y="2720339"/>
            <a:ext cx="833018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방식 (이번 과제)</a:t>
            </a:r>
          </a:p>
        </p:txBody>
      </p:sp>
      <p:cxnSp>
        <p:nvCxnSpPr>
          <p:cNvPr id="38" name="Connector 37"/>
          <p:cNvCxnSpPr/>
          <p:nvPr/>
        </p:nvCxnSpPr>
        <p:spPr>
          <a:xfrm>
            <a:off x="4032504" y="3127248"/>
            <a:ext cx="65745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2.1 트랙 상태 네 가지</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TrackState 1 임시 · 2 확정 · 3 메모리 · 4 삭제. 매 스캔 트랙 연관 결과 (Assigned_Flag: 1 성공, 0 실패) 로 상태가 바뀝니다.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tates.png"/>
          <p:cNvPicPr>
            <a:picLocks noChangeAspect="1"/>
          </p:cNvPicPr>
          <p:nvPr/>
        </p:nvPicPr>
        <p:blipFill>
          <a:blip r:embed="rId2"/>
          <a:stretch>
            <a:fillRect/>
          </a:stretch>
        </p:blipFill>
        <p:spPr>
          <a:xfrm>
            <a:off x="640080" y="2377440"/>
            <a:ext cx="7315200" cy="2514600"/>
          </a:xfrm>
          <a:prstGeom prst="rect">
            <a:avLst/>
          </a:prstGeom>
        </p:spPr>
      </p:pic>
      <p:sp>
        <p:nvSpPr>
          <p:cNvPr id="27" name="Rounded Rectangle 26"/>
          <p:cNvSpPr/>
          <p:nvPr/>
        </p:nvSpPr>
        <p:spPr>
          <a:xfrm>
            <a:off x="8183879" y="2286000"/>
            <a:ext cx="3364992" cy="3035808"/>
          </a:xfrm>
          <a:prstGeom prst="roundRect">
            <a:avLst>
              <a:gd name="adj" fmla="val 6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21040" y="2340864"/>
            <a:ext cx="310896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연관과 Assigned_Flag</a:t>
            </a:r>
          </a:p>
        </p:txBody>
      </p:sp>
      <p:pic>
        <p:nvPicPr>
          <p:cNvPr id="29" name="Picture 28" descr="fig_assoc.png"/>
          <p:cNvPicPr>
            <a:picLocks noChangeAspect="1"/>
          </p:cNvPicPr>
          <p:nvPr/>
        </p:nvPicPr>
        <p:blipFill>
          <a:blip r:embed="rId3"/>
          <a:stretch>
            <a:fillRect/>
          </a:stretch>
        </p:blipFill>
        <p:spPr>
          <a:xfrm>
            <a:off x="8229600" y="2651760"/>
            <a:ext cx="3273552" cy="1454912"/>
          </a:xfrm>
          <a:prstGeom prst="rect">
            <a:avLst/>
          </a:prstGeom>
        </p:spPr>
      </p:pic>
      <p:sp>
        <p:nvSpPr>
          <p:cNvPr id="30" name="TextBox 29"/>
          <p:cNvSpPr txBox="1"/>
          <p:nvPr/>
        </p:nvSpPr>
        <p:spPr>
          <a:xfrm>
            <a:off x="8321040" y="4160520"/>
            <a:ext cx="3127248" cy="1143000"/>
          </a:xfrm>
          <a:prstGeom prst="rect">
            <a:avLst/>
          </a:prstGeom>
          <a:noFill/>
        </p:spPr>
        <p:txBody>
          <a:bodyPr wrap="square" lIns="0" rIns="0" tIns="0" bIns="0" anchor="t">
            <a:spAutoFit/>
          </a:bodyPr>
          <a:lstStyle/>
          <a:p>
            <a:pPr algn="l">
              <a:spcAft>
                <a:spcPts val="300"/>
              </a:spcAft>
            </a:pPr>
            <a:r>
              <a:rPr sz="950" b="0" i="0">
                <a:solidFill>
                  <a:srgbClr val="1B2740"/>
                </a:solidFill>
                <a:latin typeface="맑은 고딕"/>
                <a:ea typeface="맑은 고딕"/>
              </a:rPr>
              <a:t>트랙 연관: 이번 스캔 플롯 가운데 기존 트랙에 이어지는 플롯을 찾아 붙이는 과정</a:t>
            </a:r>
          </a:p>
          <a:p>
            <a:pPr algn="l">
              <a:spcAft>
                <a:spcPts val="300"/>
              </a:spcAft>
            </a:pPr>
            <a:r>
              <a:rPr sz="950" b="0" i="0">
                <a:solidFill>
                  <a:srgbClr val="1B2740"/>
                </a:solidFill>
                <a:latin typeface="맑은 고딕"/>
                <a:ea typeface="맑은 고딕"/>
              </a:rPr>
              <a:t>트랙 위치 · 속도로 이번 위치를 예측하고, 그 주변 연관 게이트 안의 가장 가까운 플롯을 할당</a:t>
            </a:r>
          </a:p>
          <a:p>
            <a:pPr algn="l">
              <a:spcAft>
                <a:spcPts val="300"/>
              </a:spcAft>
            </a:pPr>
            <a:r>
              <a:rPr sz="950" b="0" i="0">
                <a:solidFill>
                  <a:srgbClr val="D97706"/>
                </a:solidFill>
                <a:latin typeface="맑은 고딕"/>
                <a:ea typeface="맑은 고딕"/>
              </a:rPr>
              <a:t>이번 과제는 연관 기능이 없어 항상 0</a:t>
            </a:r>
          </a:p>
        </p:txBody>
      </p:sp>
      <p:sp>
        <p:nvSpPr>
          <p:cNvPr id="31" name="Rounded Rectangle 30"/>
          <p:cNvSpPr/>
          <p:nvPr/>
        </p:nvSpPr>
        <p:spPr>
          <a:xfrm>
            <a:off x="640080" y="5440680"/>
            <a:ext cx="2615184" cy="777240"/>
          </a:xfrm>
          <a:prstGeom prst="roundRect">
            <a:avLst>
              <a:gd name="adj" fmla="val 12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5486400"/>
            <a:ext cx="2377440" cy="256032"/>
          </a:xfrm>
          <a:prstGeom prst="rect">
            <a:avLst/>
          </a:prstGeom>
          <a:noFill/>
        </p:spPr>
        <p:txBody>
          <a:bodyPr wrap="square" lIns="0" rIns="0" tIns="0" bIns="0" anchor="t">
            <a:spAutoFit/>
          </a:bodyPr>
          <a:lstStyle/>
          <a:p>
            <a:pPr algn="l">
              <a:spcAft>
                <a:spcPts val="0"/>
              </a:spcAft>
            </a:pPr>
            <a:r>
              <a:rPr sz="1200" b="1" i="0">
                <a:solidFill>
                  <a:srgbClr val="D97706"/>
                </a:solidFill>
                <a:latin typeface="맑은 고딕"/>
                <a:ea typeface="맑은 고딕"/>
              </a:rPr>
              <a:t>1 임시</a:t>
            </a:r>
          </a:p>
        </p:txBody>
      </p:sp>
      <p:sp>
        <p:nvSpPr>
          <p:cNvPr id="33" name="TextBox 32"/>
          <p:cNvSpPr txBox="1"/>
          <p:nvPr/>
        </p:nvSpPr>
        <p:spPr>
          <a:xfrm>
            <a:off x="777240"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막 개시한 트랙. 아직 진짜 표적인지 모름</a:t>
            </a:r>
          </a:p>
        </p:txBody>
      </p:sp>
      <p:sp>
        <p:nvSpPr>
          <p:cNvPr id="34" name="Rounded Rectangle 33"/>
          <p:cNvSpPr/>
          <p:nvPr/>
        </p:nvSpPr>
        <p:spPr>
          <a:xfrm>
            <a:off x="3401568" y="5440680"/>
            <a:ext cx="2615184" cy="777240"/>
          </a:xfrm>
          <a:prstGeom prst="roundRect">
            <a:avLst>
              <a:gd name="adj" fmla="val 12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7" y="5486400"/>
            <a:ext cx="2377440" cy="256032"/>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2 확정</a:t>
            </a:r>
          </a:p>
        </p:txBody>
      </p:sp>
      <p:sp>
        <p:nvSpPr>
          <p:cNvPr id="36" name="TextBox 35"/>
          <p:cNvSpPr txBox="1"/>
          <p:nvPr/>
        </p:nvSpPr>
        <p:spPr>
          <a:xfrm>
            <a:off x="3538727"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연관이 꾸준히 성공해 믿을 만해진 트랙</a:t>
            </a:r>
          </a:p>
        </p:txBody>
      </p:sp>
      <p:sp>
        <p:nvSpPr>
          <p:cNvPr id="37" name="Rounded Rectangle 36"/>
          <p:cNvSpPr/>
          <p:nvPr/>
        </p:nvSpPr>
        <p:spPr>
          <a:xfrm>
            <a:off x="6163056" y="5440680"/>
            <a:ext cx="2615184" cy="777240"/>
          </a:xfrm>
          <a:prstGeom prst="roundRect">
            <a:avLst>
              <a:gd name="adj" fmla="val 12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00216" y="5486400"/>
            <a:ext cx="2377440" cy="256032"/>
          </a:xfrm>
          <a:prstGeom prst="rect">
            <a:avLst/>
          </a:prstGeom>
          <a:noFill/>
        </p:spPr>
        <p:txBody>
          <a:bodyPr wrap="square" lIns="0" rIns="0" tIns="0" bIns="0" anchor="t">
            <a:spAutoFit/>
          </a:bodyPr>
          <a:lstStyle/>
          <a:p>
            <a:pPr algn="l">
              <a:spcAft>
                <a:spcPts val="0"/>
              </a:spcAft>
            </a:pPr>
            <a:r>
              <a:rPr sz="1200" b="1" i="0">
                <a:solidFill>
                  <a:srgbClr val="7C3AED"/>
                </a:solidFill>
                <a:latin typeface="맑은 고딕"/>
                <a:ea typeface="맑은 고딕"/>
              </a:rPr>
              <a:t>3 메모리</a:t>
            </a:r>
          </a:p>
        </p:txBody>
      </p:sp>
      <p:sp>
        <p:nvSpPr>
          <p:cNvPr id="39" name="TextBox 38"/>
          <p:cNvSpPr txBox="1"/>
          <p:nvPr/>
        </p:nvSpPr>
        <p:spPr>
          <a:xfrm>
            <a:off x="6300216"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확정이었다가 이번 스캔에 놓친 트랙. 바로 지우지 않고 기다림</a:t>
            </a:r>
          </a:p>
        </p:txBody>
      </p:sp>
      <p:sp>
        <p:nvSpPr>
          <p:cNvPr id="40" name="Rounded Rectangle 39"/>
          <p:cNvSpPr/>
          <p:nvPr/>
        </p:nvSpPr>
        <p:spPr>
          <a:xfrm>
            <a:off x="8924544" y="5440680"/>
            <a:ext cx="2615184" cy="777240"/>
          </a:xfrm>
          <a:prstGeom prst="roundRect">
            <a:avLst>
              <a:gd name="adj" fmla="val 12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61704" y="5486400"/>
            <a:ext cx="2377440" cy="256032"/>
          </a:xfrm>
          <a:prstGeom prst="rect">
            <a:avLst/>
          </a:prstGeom>
          <a:noFill/>
        </p:spPr>
        <p:txBody>
          <a:bodyPr wrap="square" lIns="0" rIns="0" tIns="0" bIns="0" anchor="t">
            <a:spAutoFit/>
          </a:bodyPr>
          <a:lstStyle/>
          <a:p>
            <a:pPr algn="l">
              <a:spcAft>
                <a:spcPts val="0"/>
              </a:spcAft>
            </a:pPr>
            <a:r>
              <a:rPr sz="1200" b="1" i="0">
                <a:solidFill>
                  <a:srgbClr val="6B7280"/>
                </a:solidFill>
                <a:latin typeface="맑은 고딕"/>
                <a:ea typeface="맑은 고딕"/>
              </a:rPr>
              <a:t>4 삭제</a:t>
            </a:r>
          </a:p>
        </p:txBody>
      </p:sp>
      <p:sp>
        <p:nvSpPr>
          <p:cNvPr id="42" name="TextBox 41"/>
          <p:cNvSpPr txBox="1"/>
          <p:nvPr/>
        </p:nvSpPr>
        <p:spPr>
          <a:xfrm>
            <a:off x="9061704"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더 볼 필요 없는 트랙. 한 스캔 보인 뒤 표에서 빠짐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2.2 M/N 방식</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최근 N 번 가운데 M 번 연관되면 확정합니다. 연관 성공 · 실패를 횟수로 세는 방식입니다.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mn.png"/>
          <p:cNvPicPr>
            <a:picLocks noChangeAspect="1"/>
          </p:cNvPicPr>
          <p:nvPr/>
        </p:nvPicPr>
        <p:blipFill>
          <a:blip r:embed="rId2"/>
          <a:stretch>
            <a:fillRect/>
          </a:stretch>
        </p:blipFill>
        <p:spPr>
          <a:xfrm>
            <a:off x="822960" y="2240280"/>
            <a:ext cx="10241280" cy="2560320"/>
          </a:xfrm>
          <a:prstGeom prst="rect">
            <a:avLst/>
          </a:prstGeom>
        </p:spPr>
      </p:pic>
      <p:sp>
        <p:nvSpPr>
          <p:cNvPr id="27" name="Rounded Rectangle 26"/>
          <p:cNvSpPr/>
          <p:nvPr/>
        </p:nvSpPr>
        <p:spPr>
          <a:xfrm>
            <a:off x="640080" y="4846320"/>
            <a:ext cx="3520440" cy="1371600"/>
          </a:xfrm>
          <a:prstGeom prst="roundRect">
            <a:avLst>
              <a:gd name="adj" fmla="val 8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 y="4937760"/>
            <a:ext cx="3200400" cy="274320"/>
          </a:xfrm>
          <a:prstGeom prst="rect">
            <a:avLst/>
          </a:prstGeom>
          <a:noFill/>
        </p:spPr>
        <p:txBody>
          <a:bodyPr wrap="square" lIns="0" rIns="0" tIns="0" bIns="0" anchor="t">
            <a:spAutoFit/>
          </a:bodyPr>
          <a:lstStyle/>
          <a:p>
            <a:pPr algn="l">
              <a:spcAft>
                <a:spcPts val="0"/>
              </a:spcAft>
            </a:pPr>
            <a:r>
              <a:rPr sz="1250" b="1" i="0">
                <a:solidFill>
                  <a:srgbClr val="D97706"/>
                </a:solidFill>
                <a:latin typeface="맑은 고딕"/>
                <a:ea typeface="맑은 고딕"/>
              </a:rPr>
              <a:t>임시 트랙</a:t>
            </a:r>
          </a:p>
        </p:txBody>
      </p:sp>
      <p:sp>
        <p:nvSpPr>
          <p:cNvPr id="29" name="TextBox 28"/>
          <p:cNvSpPr txBox="1"/>
          <p:nvPr/>
        </p:nvSpPr>
        <p:spPr>
          <a:xfrm>
            <a:off x="822959"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N 번 중 M 번 트랙 연관 성공 → 트랙 확정</a:t>
            </a:r>
          </a:p>
          <a:p>
            <a:pPr algn="l">
              <a:spcAft>
                <a:spcPts val="400"/>
              </a:spcAft>
            </a:pPr>
            <a:r>
              <a:rPr sz="1100" b="0" i="0">
                <a:solidFill>
                  <a:srgbClr val="1B2740"/>
                </a:solidFill>
                <a:latin typeface="맑은 고딕"/>
                <a:ea typeface="맑은 고딕"/>
              </a:rPr>
              <a:t>M 번 연속 결합 실패 → 트랙 삭제</a:t>
            </a:r>
          </a:p>
        </p:txBody>
      </p:sp>
      <p:sp>
        <p:nvSpPr>
          <p:cNvPr id="30" name="Rounded Rectangle 29"/>
          <p:cNvSpPr/>
          <p:nvPr/>
        </p:nvSpPr>
        <p:spPr>
          <a:xfrm>
            <a:off x="4343400" y="4846320"/>
            <a:ext cx="3520440" cy="1371600"/>
          </a:xfrm>
          <a:prstGeom prst="roundRect">
            <a:avLst>
              <a:gd name="adj" fmla="val 8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26280" y="4937760"/>
            <a:ext cx="3200400" cy="274320"/>
          </a:xfrm>
          <a:prstGeom prst="rect">
            <a:avLst/>
          </a:prstGeom>
          <a:noFill/>
        </p:spPr>
        <p:txBody>
          <a:bodyPr wrap="square" lIns="0" rIns="0" tIns="0" bIns="0" anchor="t">
            <a:spAutoFit/>
          </a:bodyPr>
          <a:lstStyle/>
          <a:p>
            <a:pPr algn="l">
              <a:spcAft>
                <a:spcPts val="0"/>
              </a:spcAft>
            </a:pPr>
            <a:r>
              <a:rPr sz="1250" b="1" i="0">
                <a:solidFill>
                  <a:srgbClr val="059669"/>
                </a:solidFill>
                <a:latin typeface="맑은 고딕"/>
                <a:ea typeface="맑은 고딕"/>
              </a:rPr>
              <a:t>확정 트랙</a:t>
            </a:r>
          </a:p>
        </p:txBody>
      </p:sp>
      <p:sp>
        <p:nvSpPr>
          <p:cNvPr id="32" name="TextBox 31"/>
          <p:cNvSpPr txBox="1"/>
          <p:nvPr/>
        </p:nvSpPr>
        <p:spPr>
          <a:xfrm>
            <a:off x="4526280"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트랙 연관 실패 → 메모리 트랙 전환</a:t>
            </a:r>
          </a:p>
          <a:p>
            <a:pPr algn="l">
              <a:spcAft>
                <a:spcPts val="400"/>
              </a:spcAft>
            </a:pPr>
            <a:r>
              <a:rPr sz="1100" b="0" i="0">
                <a:solidFill>
                  <a:srgbClr val="1B2740"/>
                </a:solidFill>
                <a:latin typeface="맑은 고딕"/>
                <a:ea typeface="맑은 고딕"/>
              </a:rPr>
              <a:t>특정 시간 이상 메모리 상태 유지 → 트랙 삭제</a:t>
            </a:r>
          </a:p>
        </p:txBody>
      </p:sp>
      <p:sp>
        <p:nvSpPr>
          <p:cNvPr id="33" name="Rounded Rectangle 32"/>
          <p:cNvSpPr/>
          <p:nvPr/>
        </p:nvSpPr>
        <p:spPr>
          <a:xfrm>
            <a:off x="8046720" y="4846320"/>
            <a:ext cx="3502152" cy="1371600"/>
          </a:xfrm>
          <a:prstGeom prst="roundRect">
            <a:avLst>
              <a:gd name="adj" fmla="val 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0" y="4937760"/>
            <a:ext cx="3200400" cy="1234440"/>
          </a:xfrm>
          <a:prstGeom prst="rect">
            <a:avLst/>
          </a:prstGeom>
          <a:noFill/>
        </p:spPr>
        <p:txBody>
          <a:bodyPr wrap="square" lIns="0" rIns="0" tIns="0" bIns="0" anchor="t">
            <a:spAutoFit/>
          </a:bodyPr>
          <a:lstStyle/>
          <a:p>
            <a:pPr algn="l">
              <a:spcAft>
                <a:spcPts val="400"/>
              </a:spcAft>
            </a:pPr>
            <a:r>
              <a:rPr sz="1250" b="1" i="0">
                <a:solidFill>
                  <a:srgbClr val="1B2740"/>
                </a:solidFill>
                <a:latin typeface="맑은 고딕"/>
                <a:ea typeface="맑은 고딕"/>
              </a:rPr>
              <a:t>특징</a:t>
            </a:r>
          </a:p>
          <a:p>
            <a:pPr algn="l">
              <a:spcAft>
                <a:spcPts val="300"/>
              </a:spcAft>
            </a:pPr>
            <a:r>
              <a:rPr sz="1100" b="0" i="0">
                <a:solidFill>
                  <a:srgbClr val="1B2740"/>
                </a:solidFill>
                <a:latin typeface="맑은 고딕"/>
                <a:ea typeface="맑은 고딕"/>
              </a:rPr>
              <a:t>성공 · 실패 횟수로 판단하는 단순한 규칙</a:t>
            </a:r>
          </a:p>
          <a:p>
            <a:pPr algn="l">
              <a:spcAft>
                <a:spcPts val="0"/>
              </a:spcAft>
            </a:pPr>
            <a:r>
              <a:rPr sz="1100" b="0" i="0">
                <a:solidFill>
                  <a:srgbClr val="1B2740"/>
                </a:solidFill>
                <a:latin typeface="맑은 고딕"/>
                <a:ea typeface="맑은 고딕"/>
              </a:rPr>
              <a:t>트랙마다 최근 N 번의 연관 이력을 관리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2.3 트랙 스코어 방식 (이번 과제)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연관에 성공하면 점수를 올리고 실패하면 내립니다. 점수가 문턱치를 넘는지로 상태를 바꿉니다. 과제는 이 방식을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core.png"/>
          <p:cNvPicPr>
            <a:picLocks noChangeAspect="1"/>
          </p:cNvPicPr>
          <p:nvPr/>
        </p:nvPicPr>
        <p:blipFill>
          <a:blip r:embed="rId2"/>
          <a:stretch>
            <a:fillRect/>
          </a:stretch>
        </p:blipFill>
        <p:spPr>
          <a:xfrm>
            <a:off x="566928" y="2286000"/>
            <a:ext cx="7086600" cy="2377440"/>
          </a:xfrm>
          <a:prstGeom prst="rect">
            <a:avLst/>
          </a:prstGeom>
        </p:spPr>
      </p:pic>
      <p:sp>
        <p:nvSpPr>
          <p:cNvPr id="27" name="TextBox 26"/>
          <p:cNvSpPr txBox="1"/>
          <p:nvPr/>
        </p:nvSpPr>
        <p:spPr>
          <a:xfrm>
            <a:off x="640080" y="4709160"/>
            <a:ext cx="694944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Flag 1 1 1 0 0 1 0 0 0 0 0 을 넣은 예 (UI 스코어 확인 창과 같은 계산)</a:t>
            </a:r>
          </a:p>
        </p:txBody>
      </p:sp>
      <p:sp>
        <p:nvSpPr>
          <p:cNvPr id="28" name="Rounded Rectangle 27"/>
          <p:cNvSpPr/>
          <p:nvPr/>
        </p:nvSpPr>
        <p:spPr>
          <a:xfrm>
            <a:off x="7818120" y="2286000"/>
            <a:ext cx="3730752" cy="393192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01000" y="2359152"/>
            <a:ext cx="3474720" cy="274320"/>
          </a:xfrm>
          <a:prstGeom prst="rect">
            <a:avLst/>
          </a:prstGeom>
          <a:noFill/>
        </p:spPr>
        <p:txBody>
          <a:bodyPr wrap="square" lIns="0" rIns="0" tIns="0" bIns="0" anchor="t">
            <a:spAutoFit/>
          </a:bodyPr>
          <a:lstStyle/>
          <a:p>
            <a:pPr algn="l">
              <a:spcAft>
                <a:spcPts val="0"/>
              </a:spcAft>
            </a:pPr>
            <a:r>
              <a:rPr sz="1250" b="1" i="0">
                <a:solidFill>
                  <a:srgbClr val="1B2740"/>
                </a:solidFill>
                <a:latin typeface="맑은 고딕"/>
                <a:ea typeface="맑은 고딕"/>
              </a:rPr>
              <a:t>과제 조건과 규칙</a:t>
            </a:r>
          </a:p>
        </p:txBody>
      </p:sp>
      <p:sp>
        <p:nvSpPr>
          <p:cNvPr id="30" name="Rounded Rectangle 29"/>
          <p:cNvSpPr/>
          <p:nvPr/>
        </p:nvSpPr>
        <p:spPr>
          <a:xfrm>
            <a:off x="8001000" y="2724912"/>
            <a:ext cx="96012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임시 (1)</a:t>
            </a:r>
          </a:p>
        </p:txBody>
      </p:sp>
      <p:sp>
        <p:nvSpPr>
          <p:cNvPr id="31" name="TextBox 30"/>
          <p:cNvSpPr txBox="1"/>
          <p:nvPr/>
        </p:nvSpPr>
        <p:spPr>
          <a:xfrm>
            <a:off x="9098280" y="2706624"/>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TrackScore +1, 실패 −1</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5</a:t>
            </a:r>
            <a:r>
              <a:rPr sz="1050" b="0" i="0">
                <a:solidFill>
                  <a:srgbClr val="1B2740"/>
                </a:solidFill>
                <a:latin typeface="맑은 고딕"/>
                <a:ea typeface="맑은 고딕"/>
              </a:rPr>
              <a:t> → 확정</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0</a:t>
            </a:r>
            <a:r>
              <a:rPr sz="1050" b="0" i="0">
                <a:solidFill>
                  <a:srgbClr val="1B2740"/>
                </a:solidFill>
                <a:latin typeface="맑은 고딕"/>
                <a:ea typeface="맑은 고딕"/>
              </a:rPr>
              <a:t> → 삭제</a:t>
            </a:r>
          </a:p>
        </p:txBody>
      </p:sp>
      <p:sp>
        <p:nvSpPr>
          <p:cNvPr id="32" name="Rounded Rectangle 31"/>
          <p:cNvSpPr/>
          <p:nvPr/>
        </p:nvSpPr>
        <p:spPr>
          <a:xfrm>
            <a:off x="8001000" y="3739896"/>
            <a:ext cx="960120" cy="25603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확정 (2)</a:t>
            </a:r>
          </a:p>
        </p:txBody>
      </p:sp>
      <p:sp>
        <p:nvSpPr>
          <p:cNvPr id="33" name="TextBox 32"/>
          <p:cNvSpPr txBox="1"/>
          <p:nvPr/>
        </p:nvSpPr>
        <p:spPr>
          <a:xfrm>
            <a:off x="9098280" y="3721608"/>
            <a:ext cx="2423160" cy="2743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실패 → 메모리, MemoryScore +1</a:t>
            </a:r>
          </a:p>
        </p:txBody>
      </p:sp>
      <p:sp>
        <p:nvSpPr>
          <p:cNvPr id="34" name="Rounded Rectangle 33"/>
          <p:cNvSpPr/>
          <p:nvPr/>
        </p:nvSpPr>
        <p:spPr>
          <a:xfrm>
            <a:off x="8001000" y="4261104"/>
            <a:ext cx="960120" cy="256032"/>
          </a:xfrm>
          <a:prstGeom prst="roundRect">
            <a:avLst>
              <a:gd name="adj" fmla="val 25000"/>
            </a:avLst>
          </a:prstGeom>
          <a:solidFill>
            <a:srgbClr val="FFFF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7C3AED"/>
                </a:solidFill>
                <a:latin typeface="맑은 고딕"/>
                <a:ea typeface="맑은 고딕"/>
              </a:rPr>
              <a:t>메모리 (3)</a:t>
            </a:r>
          </a:p>
        </p:txBody>
      </p:sp>
      <p:sp>
        <p:nvSpPr>
          <p:cNvPr id="35" name="TextBox 34"/>
          <p:cNvSpPr txBox="1"/>
          <p:nvPr/>
        </p:nvSpPr>
        <p:spPr>
          <a:xfrm>
            <a:off x="9098280" y="4242816"/>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 바로 확정, MemoryScore = 0</a:t>
            </a:r>
          </a:p>
          <a:p>
            <a:pPr algn="l">
              <a:spcAft>
                <a:spcPts val="200"/>
              </a:spcAft>
            </a:pPr>
            <a:r>
              <a:rPr sz="1050" b="0" i="0">
                <a:solidFill>
                  <a:srgbClr val="1B2740"/>
                </a:solidFill>
                <a:latin typeface="맑은 고딕"/>
                <a:ea typeface="맑은 고딕"/>
              </a:rPr>
              <a:t>실패 → MemoryScore +1</a:t>
            </a:r>
          </a:p>
          <a:p>
            <a:pPr algn="l">
              <a:spcAft>
                <a:spcPts val="200"/>
              </a:spcAft>
            </a:pPr>
            <a:r>
              <a:rPr sz="1050" b="0" i="0">
                <a:solidFill>
                  <a:srgbClr val="1B2740"/>
                </a:solidFill>
                <a:latin typeface="맑은 고딕"/>
                <a:ea typeface="맑은 고딕"/>
              </a:rPr>
              <a:t>MemoryScore ≥ </a:t>
            </a:r>
            <a:r>
              <a:rPr sz="1050" b="1" i="0">
                <a:solidFill>
                  <a:srgbClr val="1B2740"/>
                </a:solidFill>
                <a:latin typeface="맑은 고딕"/>
                <a:ea typeface="맑은 고딕"/>
              </a:rPr>
              <a:t>5</a:t>
            </a:r>
            <a:r>
              <a:rPr sz="1050" b="0" i="0">
                <a:solidFill>
                  <a:srgbClr val="1B2740"/>
                </a:solidFill>
                <a:latin typeface="맑은 고딕"/>
                <a:ea typeface="맑은 고딕"/>
              </a:rPr>
              <a:t> → 삭제</a:t>
            </a:r>
          </a:p>
        </p:txBody>
      </p:sp>
      <p:cxnSp>
        <p:nvCxnSpPr>
          <p:cNvPr id="36" name="Connector 35"/>
          <p:cNvCxnSpPr/>
          <p:nvPr/>
        </p:nvCxnSpPr>
        <p:spPr>
          <a:xfrm>
            <a:off x="8001000" y="5294376"/>
            <a:ext cx="338328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01000" y="5349240"/>
            <a:ext cx="3474720" cy="685800"/>
          </a:xfrm>
          <a:prstGeom prst="rect">
            <a:avLst/>
          </a:prstGeom>
          <a:noFill/>
        </p:spPr>
        <p:txBody>
          <a:bodyPr wrap="square" lIns="0" rIns="0" tIns="0" bIns="0" anchor="t">
            <a:spAutoFit/>
          </a:bodyPr>
          <a:lstStyle/>
          <a:p>
            <a:pPr algn="l">
              <a:spcAft>
                <a:spcPts val="100"/>
              </a:spcAft>
            </a:pPr>
            <a:r>
              <a:rPr sz="1000" b="0" i="0">
                <a:solidFill>
                  <a:srgbClr val="4A5A7A"/>
                </a:solidFill>
                <a:latin typeface="맑은 고딕"/>
                <a:ea typeface="맑은 고딕"/>
              </a:rPr>
              <a:t>개시 직후 TrackScore = 2</a:t>
            </a:r>
          </a:p>
          <a:p>
            <a:pPr algn="l">
              <a:spcAft>
                <a:spcPts val="100"/>
              </a:spcAft>
            </a:pPr>
            <a:r>
              <a:rPr sz="1000" b="0" i="0">
                <a:solidFill>
                  <a:srgbClr val="4A5A7A"/>
                </a:solidFill>
                <a:latin typeface="맑은 고딕"/>
                <a:ea typeface="맑은 고딕"/>
              </a:rPr>
              <a:t>(플롯 두 개로 개시한 트랙)</a:t>
            </a:r>
          </a:p>
        </p:txBody>
      </p:sp>
      <p:sp>
        <p:nvSpPr>
          <p:cNvPr id="38" name="Rounded Rectangle 37"/>
          <p:cNvSpPr/>
          <p:nvPr/>
        </p:nvSpPr>
        <p:spPr>
          <a:xfrm>
            <a:off x="640080" y="5074920"/>
            <a:ext cx="6949440" cy="1143000"/>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5138928"/>
            <a:ext cx="6675120" cy="1051560"/>
          </a:xfrm>
          <a:prstGeom prst="rect">
            <a:avLst/>
          </a:prstGeom>
          <a:noFill/>
        </p:spPr>
        <p:txBody>
          <a:bodyPr wrap="square" lIns="0" rIns="0" tIns="0" bIns="0" anchor="t">
            <a:spAutoFit/>
          </a:bodyPr>
          <a:lstStyle/>
          <a:p>
            <a:pPr algn="l">
              <a:spcAft>
                <a:spcPts val="300"/>
              </a:spcAft>
            </a:pPr>
            <a:r>
              <a:rPr sz="1200" b="1" i="0">
                <a:solidFill>
                  <a:srgbClr val="1B2740"/>
                </a:solidFill>
                <a:latin typeface="맑은 고딕"/>
                <a:ea typeface="맑은 고딕"/>
              </a:rPr>
              <a:t>과제 적용 조건</a:t>
            </a:r>
          </a:p>
          <a:p>
            <a:pPr algn="l">
              <a:spcAft>
                <a:spcPts val="200"/>
              </a:spcAft>
            </a:pPr>
            <a:r>
              <a:rPr sz="1050" b="0" i="0">
                <a:solidFill>
                  <a:srgbClr val="1B2740"/>
                </a:solidFill>
                <a:latin typeface="맑은 고딕"/>
                <a:ea typeface="맑은 고딕"/>
              </a:rPr>
              <a:t>· 임시 트랙 확정 문턱치 5, 임시 트랙 삭제 문턱치 0, 메모리 트랙 삭제 문턱치 5</a:t>
            </a:r>
          </a:p>
          <a:p>
            <a:pPr algn="l">
              <a:spcAft>
                <a:spcPts val="200"/>
              </a:spcAft>
            </a:pPr>
            <a:r>
              <a:rPr sz="1050" b="0" i="0">
                <a:solidFill>
                  <a:srgbClr val="1B2740"/>
                </a:solidFill>
                <a:latin typeface="맑은 고딕"/>
                <a:ea typeface="맑은 고딕"/>
              </a:rPr>
              <a:t>· 메모리 트랙이 다시 연관되면 바로 확정 트랙으로 전환, MemoryScore = 0</a:t>
            </a:r>
          </a:p>
          <a:p>
            <a:pPr algn="l">
              <a:spcAft>
                <a:spcPts val="0"/>
              </a:spcAft>
            </a:pPr>
            <a:r>
              <a:rPr sz="1050" b="0" i="0">
                <a:solidFill>
                  <a:srgbClr val="1B2740"/>
                </a:solidFill>
                <a:latin typeface="맑은 고딕"/>
                <a:ea typeface="맑은 고딕"/>
              </a:rPr>
              <a:t>· TrackState: 1 임시, 2 확정, 3 메모리, 4 삭제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03. 구현</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과제 4 프로그램 (TargetSim) 에 플롯 메시지 송수신과 트랙 개시 · 관리를 넣었습니다. 코드마다 맡은 역할과 처리 순서, 계산 방법을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구조와 데이터 흐름</a:t>
            </a:r>
          </a:p>
        </p:txBody>
      </p:sp>
      <p:cxnSp>
        <p:nvCxnSpPr>
          <p:cNvPr id="30" name="Connector 29"/>
          <p:cNvCxnSpPr/>
          <p:nvPr/>
        </p:nvCxnSpPr>
        <p:spPr>
          <a:xfrm>
            <a:off x="3570732" y="2313432"/>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 메시지 송수신 순서</a:t>
            </a:r>
          </a:p>
        </p:txBody>
      </p:sp>
      <p:cxnSp>
        <p:nvCxnSpPr>
          <p:cNvPr id="34" name="Connector 33"/>
          <p:cNvCxnSpPr/>
          <p:nvPr/>
        </p:nvCxnSpPr>
        <p:spPr>
          <a:xfrm>
            <a:off x="3570732" y="2720339"/>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자료구조와 스캔 처리 순서 (f_Trk_ProcessScan)</a:t>
            </a:r>
          </a:p>
        </p:txBody>
      </p:sp>
      <p:cxnSp>
        <p:nvCxnSpPr>
          <p:cNvPr id="38" name="Connector 37"/>
          <p:cNvCxnSpPr/>
          <p:nvPr/>
        </p:nvCxnSpPr>
        <p:spPr>
          <a:xfrm>
            <a:off x="6108192" y="3127248"/>
            <a:ext cx="449884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개시와 R 계산 (f_Trk_TwoPointInit)</a:t>
            </a:r>
          </a:p>
        </p:txBody>
      </p:sp>
      <p:cxnSp>
        <p:nvCxnSpPr>
          <p:cNvPr id="42" name="Connector 41"/>
          <p:cNvCxnSpPr/>
          <p:nvPr/>
        </p:nvCxnSpPr>
        <p:spPr>
          <a:xfrm>
            <a:off x="5486400" y="3534155"/>
            <a:ext cx="51206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로직 (f_Trk_UpdateState)</a:t>
            </a:r>
          </a:p>
        </p:txBody>
      </p:sp>
      <p:cxnSp>
        <p:nvCxnSpPr>
          <p:cNvPr id="46" name="Connector 45"/>
          <p:cNvCxnSpPr/>
          <p:nvPr/>
        </p:nvCxnSpPr>
        <p:spPr>
          <a:xfrm>
            <a:off x="4873752" y="3941063"/>
            <a:ext cx="57332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3.1 전체 구조와 데이터 흐름</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한 프로그램 안에 신호처리 역할의 송신 쓰레드와 데이터 처리 역할의 수신 쓰레드를 두고, 스캔마다 플롯 메시지를 UDP 로 주고받습니다.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0908792" cy="3090672"/>
          </a:xfrm>
          <a:prstGeom prst="roundRect">
            <a:avLst>
              <a:gd name="adj" fmla="val 3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2340864"/>
            <a:ext cx="4572000" cy="256032"/>
          </a:xfrm>
          <a:prstGeom prst="rect">
            <a:avLst/>
          </a:prstGeom>
          <a:noFill/>
        </p:spPr>
        <p:txBody>
          <a:bodyPr wrap="square" lIns="0" rIns="0" tIns="0" bIns="0" anchor="t">
            <a:spAutoFit/>
          </a:bodyPr>
          <a:lstStyle/>
          <a:p>
            <a:pPr algn="l">
              <a:spcAft>
                <a:spcPts val="0"/>
              </a:spcAft>
            </a:pPr>
            <a:r>
              <a:rPr sz="1100" b="1" i="0">
                <a:solidFill>
                  <a:srgbClr val="4A5A7A"/>
                </a:solidFill>
                <a:latin typeface="Arial"/>
                <a:ea typeface="맑은 고딕"/>
              </a:rPr>
              <a:t>TargetSimCore.dll  (C)</a:t>
            </a:r>
          </a:p>
        </p:txBody>
      </p:sp>
      <p:sp>
        <p:nvSpPr>
          <p:cNvPr id="28" name="Rounded Rectangle 27"/>
          <p:cNvSpPr/>
          <p:nvPr/>
        </p:nvSpPr>
        <p:spPr>
          <a:xfrm>
            <a:off x="914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궤적 계산  (과제 3)</a:t>
            </a:r>
          </a:p>
        </p:txBody>
      </p:sp>
      <p:sp>
        <p:nvSpPr>
          <p:cNvPr id="30" name="TextBox 29"/>
          <p:cNvSpPr txBox="1"/>
          <p:nvPr/>
        </p:nvSpPr>
        <p:spPr>
          <a:xfrm>
            <a:off x="914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0.1 s 마다 플랫폼 · 표적 위치 계산</a:t>
            </a:r>
          </a:p>
        </p:txBody>
      </p:sp>
      <p:sp>
        <p:nvSpPr>
          <p:cNvPr id="31" name="TextBox 30"/>
          <p:cNvSpPr txBox="1"/>
          <p:nvPr/>
        </p:nvSpPr>
        <p:spPr>
          <a:xfrm>
            <a:off x="914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TargetSim.c</a:t>
            </a:r>
          </a:p>
        </p:txBody>
      </p:sp>
      <p:sp>
        <p:nvSpPr>
          <p:cNvPr id="32" name="Rounded Rectangle 31"/>
          <p:cNvSpPr/>
          <p:nvPr/>
        </p:nvSpPr>
        <p:spPr>
          <a:xfrm>
            <a:off x="4343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343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측정 모의  (과제 4)</a:t>
            </a:r>
          </a:p>
        </p:txBody>
      </p:sp>
      <p:sp>
        <p:nvSpPr>
          <p:cNvPr id="34" name="TextBox 33"/>
          <p:cNvSpPr txBox="1"/>
          <p:nvPr/>
        </p:nvSpPr>
        <p:spPr>
          <a:xfrm>
            <a:off x="4343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표적 플롯 + 클러터 5 개 생성</a:t>
            </a:r>
          </a:p>
        </p:txBody>
      </p:sp>
      <p:sp>
        <p:nvSpPr>
          <p:cNvPr id="35" name="TextBox 34"/>
          <p:cNvSpPr txBox="1"/>
          <p:nvPr/>
        </p:nvSpPr>
        <p:spPr>
          <a:xfrm>
            <a:off x="4343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PlotSim.c</a:t>
            </a:r>
          </a:p>
        </p:txBody>
      </p:sp>
      <p:sp>
        <p:nvSpPr>
          <p:cNvPr id="36" name="Rounded Rectangle 35"/>
          <p:cNvSpPr/>
          <p:nvPr/>
        </p:nvSpPr>
        <p:spPr>
          <a:xfrm>
            <a:off x="7772400" y="2670048"/>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0" y="2743200"/>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송신 쓰레드  (신호처리 역할)</a:t>
            </a:r>
          </a:p>
        </p:txBody>
      </p:sp>
      <p:sp>
        <p:nvSpPr>
          <p:cNvPr id="38" name="TextBox 37"/>
          <p:cNvSpPr txBox="1"/>
          <p:nvPr/>
        </p:nvSpPr>
        <p:spPr>
          <a:xfrm>
            <a:off x="7772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스캔의 플롯을 메시지로 묶어 보냄</a:t>
            </a:r>
          </a:p>
        </p:txBody>
      </p:sp>
      <p:sp>
        <p:nvSpPr>
          <p:cNvPr id="39" name="TextBox 38"/>
          <p:cNvSpPr txBox="1"/>
          <p:nvPr/>
        </p:nvSpPr>
        <p:spPr>
          <a:xfrm>
            <a:off x="7772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0" name="Rounded Rectangle 39"/>
          <p:cNvSpPr/>
          <p:nvPr/>
        </p:nvSpPr>
        <p:spPr>
          <a:xfrm>
            <a:off x="7772400" y="4279392"/>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772400" y="4352544"/>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수신 쓰레드  (데이터 처리 역할)</a:t>
            </a:r>
          </a:p>
        </p:txBody>
      </p:sp>
      <p:sp>
        <p:nvSpPr>
          <p:cNvPr id="42" name="TextBox 41"/>
          <p:cNvSpPr txBox="1"/>
          <p:nvPr/>
        </p:nvSpPr>
        <p:spPr>
          <a:xfrm>
            <a:off x="7772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좌표 변환, 플롯마다 R 계산</a:t>
            </a:r>
          </a:p>
        </p:txBody>
      </p:sp>
      <p:sp>
        <p:nvSpPr>
          <p:cNvPr id="43" name="TextBox 42"/>
          <p:cNvSpPr txBox="1"/>
          <p:nvPr/>
        </p:nvSpPr>
        <p:spPr>
          <a:xfrm>
            <a:off x="7772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4" name="Rounded Rectangle 43"/>
          <p:cNvSpPr/>
          <p:nvPr/>
        </p:nvSpPr>
        <p:spPr>
          <a:xfrm>
            <a:off x="4343400" y="4279392"/>
            <a:ext cx="3017520" cy="896112"/>
          </a:xfrm>
          <a:prstGeom prst="roundRect">
            <a:avLst>
              <a:gd name="adj" fmla="val 10000"/>
            </a:avLst>
          </a:prstGeom>
          <a:solidFill>
            <a:srgbClr val="FEF5E7"/>
          </a:solidFill>
          <a:ln w="1397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4352544"/>
            <a:ext cx="3017520" cy="274320"/>
          </a:xfrm>
          <a:prstGeom prst="rect">
            <a:avLst/>
          </a:prstGeom>
          <a:noFill/>
        </p:spPr>
        <p:txBody>
          <a:bodyPr wrap="square" lIns="0" rIns="0" tIns="0" bIns="0" anchor="t">
            <a:spAutoFit/>
          </a:bodyPr>
          <a:lstStyle/>
          <a:p>
            <a:pPr algn="ctr">
              <a:spcAft>
                <a:spcPts val="0"/>
              </a:spcAft>
            </a:pPr>
            <a:r>
              <a:rPr sz="1200" b="1" i="0">
                <a:solidFill>
                  <a:srgbClr val="D97706"/>
                </a:solidFill>
                <a:latin typeface="맑은 고딕"/>
                <a:ea typeface="맑은 고딕"/>
              </a:rPr>
              <a:t>트랙 개시 · 관리</a:t>
            </a:r>
          </a:p>
        </p:txBody>
      </p:sp>
      <p:sp>
        <p:nvSpPr>
          <p:cNvPr id="46" name="TextBox 45"/>
          <p:cNvSpPr txBox="1"/>
          <p:nvPr/>
        </p:nvSpPr>
        <p:spPr>
          <a:xfrm>
            <a:off x="4343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트랙 표 갱신 (개시 · 상태 관리)</a:t>
            </a:r>
          </a:p>
        </p:txBody>
      </p:sp>
      <p:sp>
        <p:nvSpPr>
          <p:cNvPr id="47" name="TextBox 46"/>
          <p:cNvSpPr txBox="1"/>
          <p:nvPr/>
        </p:nvSpPr>
        <p:spPr>
          <a:xfrm>
            <a:off x="4343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TrackMgr.c</a:t>
            </a:r>
          </a:p>
        </p:txBody>
      </p:sp>
      <p:sp>
        <p:nvSpPr>
          <p:cNvPr id="48" name="Rounded Rectangle 47"/>
          <p:cNvSpPr/>
          <p:nvPr/>
        </p:nvSpPr>
        <p:spPr>
          <a:xfrm>
            <a:off x="914400" y="4279392"/>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4352544"/>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결과 버퍼</a:t>
            </a:r>
          </a:p>
        </p:txBody>
      </p:sp>
      <p:sp>
        <p:nvSpPr>
          <p:cNvPr id="50" name="TextBox 49"/>
          <p:cNvSpPr txBox="1"/>
          <p:nvPr/>
        </p:nvSpPr>
        <p:spPr>
          <a:xfrm>
            <a:off x="914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플롯 · 트랙 결과 저장</a:t>
            </a:r>
          </a:p>
        </p:txBody>
      </p:sp>
      <p:sp>
        <p:nvSpPr>
          <p:cNvPr id="51" name="TextBox 50"/>
          <p:cNvSpPr txBox="1"/>
          <p:nvPr/>
        </p:nvSpPr>
        <p:spPr>
          <a:xfrm>
            <a:off x="914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cxnSp>
        <p:nvCxnSpPr>
          <p:cNvPr id="52" name="Connector 51"/>
          <p:cNvCxnSpPr/>
          <p:nvPr/>
        </p:nvCxnSpPr>
        <p:spPr>
          <a:xfrm>
            <a:off x="3950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379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379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3950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81160" y="3584448"/>
            <a:ext cx="0" cy="676656"/>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390888" y="3712463"/>
            <a:ext cx="2103120" cy="457200"/>
          </a:xfrm>
          <a:prstGeom prst="rect">
            <a:avLst/>
          </a:prstGeom>
          <a:noFill/>
        </p:spPr>
        <p:txBody>
          <a:bodyPr wrap="square" lIns="0" rIns="0" tIns="0" bIns="0" anchor="t">
            <a:spAutoFit/>
          </a:bodyPr>
          <a:lstStyle/>
          <a:p>
            <a:pPr algn="l">
              <a:spcAft>
                <a:spcPts val="0"/>
              </a:spcAft>
            </a:pPr>
            <a:r>
              <a:rPr sz="1000" b="1" i="0">
                <a:solidFill>
                  <a:srgbClr val="2563EB"/>
                </a:solidFill>
                <a:latin typeface="맑은 고딕"/>
                <a:ea typeface="맑은 고딕"/>
              </a:rPr>
              <a:t>UDP</a:t>
            </a:r>
          </a:p>
          <a:p>
            <a:pPr algn="l">
              <a:spcAft>
                <a:spcPts val="0"/>
              </a:spcAft>
            </a:pPr>
            <a:r>
              <a:rPr sz="1000" b="1" i="0">
                <a:solidFill>
                  <a:srgbClr val="2563EB"/>
                </a:solidFill>
                <a:latin typeface="맑은 고딕"/>
                <a:ea typeface="맑은 고딕"/>
              </a:rPr>
              <a:t>스캔마다 메시지 1 개</a:t>
            </a:r>
          </a:p>
        </p:txBody>
      </p:sp>
      <p:cxnSp>
        <p:nvCxnSpPr>
          <p:cNvPr id="58" name="Connector 57"/>
          <p:cNvCxnSpPr/>
          <p:nvPr/>
        </p:nvCxnSpPr>
        <p:spPr>
          <a:xfrm>
            <a:off x="2423160" y="5193792"/>
            <a:ext cx="0" cy="32004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40080" y="5532120"/>
            <a:ext cx="10908792" cy="71323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68680" y="5568696"/>
            <a:ext cx="10515600" cy="658368"/>
          </a:xfrm>
          <a:prstGeom prst="rect">
            <a:avLst/>
          </a:prstGeom>
          <a:noFill/>
        </p:spPr>
        <p:txBody>
          <a:bodyPr wrap="square" lIns="0" rIns="0" tIns="0" bIns="0" anchor="t">
            <a:spAutoFit/>
          </a:bodyPr>
          <a:lstStyle/>
          <a:p>
            <a:pPr algn="l">
              <a:spcAft>
                <a:spcPts val="200"/>
              </a:spcAft>
            </a:pPr>
            <a:r>
              <a:rPr sz="1200" b="1" i="0">
                <a:solidFill>
                  <a:srgbClr val="1B2740"/>
                </a:solidFill>
                <a:latin typeface="맑은 고딕"/>
                <a:ea typeface="맑은 고딕"/>
              </a:rPr>
              <a:t>TargetSimUI.exe  (MFC 화면)</a:t>
            </a:r>
          </a:p>
          <a:p>
            <a:pPr algn="l">
              <a:spcAft>
                <a:spcPts val="0"/>
              </a:spcAft>
            </a:pPr>
            <a:r>
              <a:rPr sz="1050" b="0" i="0">
                <a:solidFill>
                  <a:srgbClr val="4A5A7A"/>
                </a:solidFill>
                <a:latin typeface="맑은 고딕"/>
                <a:ea typeface="맑은 고딕"/>
              </a:rPr>
              <a:t>결과 버퍼에서 처리된 스캔을 가져와  True · Plot · Clutter · Track 2D / 3D 그림,  지금 스캔의 트랙 표,  송수신 · 트랙 요약으로 보여 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3.2 플롯 메시지 송수신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송신 쓰레드는 스캔마다 플롯을 메시지 하나로 묶어 보내고, 수신 쓰레드는 받은 플롯을 트랙 계산에 쓸 수 있는 형태로 바꿔 넘깁니다.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86000"/>
            <a:ext cx="5486400" cy="274320"/>
          </a:xfrm>
          <a:prstGeom prst="rect">
            <a:avLst/>
          </a:prstGeom>
          <a:noFill/>
        </p:spPr>
        <p:txBody>
          <a:bodyPr wrap="square" lIns="0" rIns="0" tIns="0" bIns="0" anchor="t">
            <a:spAutoFit/>
          </a:bodyPr>
          <a:lstStyle/>
          <a:p>
            <a:pPr algn="l">
              <a:spcAft>
                <a:spcPts val="0"/>
              </a:spcAft>
            </a:pPr>
            <a:r>
              <a:rPr sz="1200" b="1" i="0">
                <a:solidFill>
                  <a:srgbClr val="2563EB"/>
                </a:solidFill>
                <a:latin typeface="맑은 고딕"/>
                <a:ea typeface="맑은 고딕"/>
              </a:rPr>
              <a:t>송신 쓰레드  (신호처리 역할)</a:t>
            </a:r>
            <a:r>
              <a:rPr sz="950" b="0" i="0">
                <a:solidFill>
                  <a:srgbClr val="8794AC"/>
                </a:solidFill>
                <a:latin typeface="Consolas"/>
                <a:ea typeface="Consolas"/>
              </a:rPr>
              <a:t>    PlotLink.c  f_Lnk_TxThread</a:t>
            </a:r>
          </a:p>
        </p:txBody>
      </p:sp>
      <p:sp>
        <p:nvSpPr>
          <p:cNvPr id="27" name="Rounded Rectangle 26"/>
          <p:cNvSpPr/>
          <p:nvPr/>
        </p:nvSpPr>
        <p:spPr>
          <a:xfrm>
            <a:off x="64008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19"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9" name="TextBox 28"/>
          <p:cNvSpPr txBox="1"/>
          <p:nvPr/>
        </p:nvSpPr>
        <p:spPr>
          <a:xfrm>
            <a:off x="102412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플롯 모으기</a:t>
            </a:r>
          </a:p>
        </p:txBody>
      </p:sp>
      <p:sp>
        <p:nvSpPr>
          <p:cNvPr id="30" name="TextBox 29"/>
          <p:cNvSpPr txBox="1"/>
          <p:nvPr/>
        </p:nvSpPr>
        <p:spPr>
          <a:xfrm>
            <a:off x="731519"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표적 플롯 2 + 클러터 5</a:t>
            </a:r>
          </a:p>
          <a:p>
            <a:pPr algn="l">
              <a:spcAft>
                <a:spcPts val="0"/>
              </a:spcAft>
            </a:pPr>
            <a:r>
              <a:rPr sz="980" b="0" i="0">
                <a:solidFill>
                  <a:srgbClr val="1B2740"/>
                </a:solidFill>
                <a:latin typeface="맑은 고딕"/>
                <a:ea typeface="맑은 고딕"/>
              </a:rPr>
              <a:t>방위각 순서로 섞음</a:t>
            </a:r>
          </a:p>
        </p:txBody>
      </p:sp>
      <p:sp>
        <p:nvSpPr>
          <p:cNvPr id="31" name="TextBox 30"/>
          <p:cNvSpPr txBox="1"/>
          <p:nvPr/>
        </p:nvSpPr>
        <p:spPr>
          <a:xfrm>
            <a:off x="731519"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2" name="Connector 31"/>
          <p:cNvCxnSpPr/>
          <p:nvPr/>
        </p:nvCxnSpPr>
        <p:spPr>
          <a:xfrm>
            <a:off x="293827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276599"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336804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5" name="TextBox 34"/>
          <p:cNvSpPr txBox="1"/>
          <p:nvPr/>
        </p:nvSpPr>
        <p:spPr>
          <a:xfrm>
            <a:off x="366064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메시지 만들기</a:t>
            </a:r>
          </a:p>
        </p:txBody>
      </p:sp>
      <p:sp>
        <p:nvSpPr>
          <p:cNvPr id="36" name="TextBox 35"/>
          <p:cNvSpPr txBox="1"/>
          <p:nvPr/>
        </p:nvSpPr>
        <p:spPr>
          <a:xfrm>
            <a:off x="336804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 ID 부여</a:t>
            </a:r>
          </a:p>
          <a:p>
            <a:pPr algn="l">
              <a:spcAft>
                <a:spcPts val="0"/>
              </a:spcAft>
            </a:pPr>
            <a:r>
              <a:rPr sz="980" b="0" i="0">
                <a:solidFill>
                  <a:srgbClr val="1B2740"/>
                </a:solidFill>
                <a:latin typeface="맑은 고딕"/>
                <a:ea typeface="맑은 고딕"/>
              </a:rPr>
              <a:t>거리 · 방위각 · 고각 + R σ</a:t>
            </a:r>
          </a:p>
        </p:txBody>
      </p:sp>
      <p:sp>
        <p:nvSpPr>
          <p:cNvPr id="37" name="TextBox 36"/>
          <p:cNvSpPr txBox="1"/>
          <p:nvPr/>
        </p:nvSpPr>
        <p:spPr>
          <a:xfrm>
            <a:off x="336804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8" name="Connector 37"/>
          <p:cNvCxnSpPr/>
          <p:nvPr/>
        </p:nvCxnSpPr>
        <p:spPr>
          <a:xfrm>
            <a:off x="557479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1312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00456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41" name="TextBox 40"/>
          <p:cNvSpPr txBox="1"/>
          <p:nvPr/>
        </p:nvSpPr>
        <p:spPr>
          <a:xfrm>
            <a:off x="6297168"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보내기</a:t>
            </a:r>
          </a:p>
        </p:txBody>
      </p:sp>
      <p:sp>
        <p:nvSpPr>
          <p:cNvPr id="42" name="TextBox 41"/>
          <p:cNvSpPr txBox="1"/>
          <p:nvPr/>
        </p:nvSpPr>
        <p:spPr>
          <a:xfrm>
            <a:off x="600456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스캔 순서대로</a:t>
            </a:r>
          </a:p>
          <a:p>
            <a:pPr algn="l">
              <a:spcAft>
                <a:spcPts val="0"/>
              </a:spcAft>
            </a:pPr>
            <a:r>
              <a:rPr sz="980" b="0" i="0">
                <a:solidFill>
                  <a:srgbClr val="1B2740"/>
                </a:solidFill>
                <a:latin typeface="맑은 고딕"/>
                <a:ea typeface="맑은 고딕"/>
              </a:rPr>
              <a:t>메시지 1 개씩 UDP 전송</a:t>
            </a:r>
          </a:p>
        </p:txBody>
      </p:sp>
      <p:sp>
        <p:nvSpPr>
          <p:cNvPr id="43" name="TextBox 42"/>
          <p:cNvSpPr txBox="1"/>
          <p:nvPr/>
        </p:nvSpPr>
        <p:spPr>
          <a:xfrm>
            <a:off x="600456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f_Lnk_TxThread</a:t>
            </a:r>
          </a:p>
        </p:txBody>
      </p:sp>
      <p:sp>
        <p:nvSpPr>
          <p:cNvPr id="44" name="TextBox 43"/>
          <p:cNvSpPr txBox="1"/>
          <p:nvPr/>
        </p:nvSpPr>
        <p:spPr>
          <a:xfrm>
            <a:off x="640080" y="4224528"/>
            <a:ext cx="5486400" cy="274320"/>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수신 쓰레드  (데이터 처리 역할)</a:t>
            </a:r>
            <a:r>
              <a:rPr sz="950" b="0" i="0">
                <a:solidFill>
                  <a:srgbClr val="8794AC"/>
                </a:solidFill>
                <a:latin typeface="Consolas"/>
                <a:ea typeface="Consolas"/>
              </a:rPr>
              <a:t>    PlotLink.c  f_Lnk_RxThread</a:t>
            </a:r>
          </a:p>
        </p:txBody>
      </p:sp>
      <p:sp>
        <p:nvSpPr>
          <p:cNvPr id="45" name="Rounded Rectangle 44"/>
          <p:cNvSpPr/>
          <p:nvPr/>
        </p:nvSpPr>
        <p:spPr>
          <a:xfrm>
            <a:off x="64008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73151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47" name="TextBox 46"/>
          <p:cNvSpPr txBox="1"/>
          <p:nvPr/>
        </p:nvSpPr>
        <p:spPr>
          <a:xfrm>
            <a:off x="102412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좌표 변환</a:t>
            </a:r>
          </a:p>
        </p:txBody>
      </p:sp>
      <p:sp>
        <p:nvSpPr>
          <p:cNvPr id="48" name="TextBox 47"/>
          <p:cNvSpPr txBox="1"/>
          <p:nvPr/>
        </p:nvSpPr>
        <p:spPr>
          <a:xfrm>
            <a:off x="73151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구좌표 →</a:t>
            </a:r>
          </a:p>
          <a:p>
            <a:pPr algn="l">
              <a:spcAft>
                <a:spcPts val="0"/>
              </a:spcAft>
            </a:pPr>
            <a:r>
              <a:rPr sz="980" b="0" i="0">
                <a:solidFill>
                  <a:srgbClr val="1B2740"/>
                </a:solidFill>
                <a:latin typeface="맑은 고딕"/>
                <a:ea typeface="맑은 고딕"/>
              </a:rPr>
              <a:t>VC-NED 직교 좌표</a:t>
            </a:r>
          </a:p>
        </p:txBody>
      </p:sp>
      <p:sp>
        <p:nvSpPr>
          <p:cNvPr id="49" name="TextBox 48"/>
          <p:cNvSpPr txBox="1"/>
          <p:nvPr/>
        </p:nvSpPr>
        <p:spPr>
          <a:xfrm>
            <a:off x="73151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f_Lnk_FillPlotCoord</a:t>
            </a:r>
          </a:p>
        </p:txBody>
      </p:sp>
      <p:cxnSp>
        <p:nvCxnSpPr>
          <p:cNvPr id="50" name="Connector 49"/>
          <p:cNvCxnSpPr/>
          <p:nvPr/>
        </p:nvCxnSpPr>
        <p:spPr>
          <a:xfrm>
            <a:off x="234772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2594609"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268604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3" name="TextBox 52"/>
          <p:cNvSpPr txBox="1"/>
          <p:nvPr/>
        </p:nvSpPr>
        <p:spPr>
          <a:xfrm>
            <a:off x="297865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R 계산</a:t>
            </a:r>
          </a:p>
        </p:txBody>
      </p:sp>
      <p:sp>
        <p:nvSpPr>
          <p:cNvPr id="54" name="TextBox 53"/>
          <p:cNvSpPr txBox="1"/>
          <p:nvPr/>
        </p:nvSpPr>
        <p:spPr>
          <a:xfrm>
            <a:off x="268604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a:t>
            </a:r>
          </a:p>
          <a:p>
            <a:pPr algn="l">
              <a:spcAft>
                <a:spcPts val="0"/>
              </a:spcAft>
            </a:pPr>
            <a:r>
              <a:rPr sz="980" b="0" i="0">
                <a:solidFill>
                  <a:srgbClr val="1B2740"/>
                </a:solidFill>
                <a:latin typeface="맑은 고딕"/>
                <a:ea typeface="맑은 고딕"/>
              </a:rPr>
              <a:t>측정잡음 공분산</a:t>
            </a:r>
          </a:p>
        </p:txBody>
      </p:sp>
      <p:sp>
        <p:nvSpPr>
          <p:cNvPr id="55" name="TextBox 54"/>
          <p:cNvSpPr txBox="1"/>
          <p:nvPr/>
        </p:nvSpPr>
        <p:spPr>
          <a:xfrm>
            <a:off x="268604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f_Trk_MeasCov</a:t>
            </a:r>
          </a:p>
        </p:txBody>
      </p:sp>
      <p:cxnSp>
        <p:nvCxnSpPr>
          <p:cNvPr id="56" name="Connector 55"/>
          <p:cNvCxnSpPr/>
          <p:nvPr/>
        </p:nvCxnSpPr>
        <p:spPr>
          <a:xfrm>
            <a:off x="430225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454914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64057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6</a:t>
            </a:r>
          </a:p>
        </p:txBody>
      </p:sp>
      <p:sp>
        <p:nvSpPr>
          <p:cNvPr id="59" name="TextBox 58"/>
          <p:cNvSpPr txBox="1"/>
          <p:nvPr/>
        </p:nvSpPr>
        <p:spPr>
          <a:xfrm>
            <a:off x="493318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트랙 처리</a:t>
            </a:r>
          </a:p>
        </p:txBody>
      </p:sp>
      <p:sp>
        <p:nvSpPr>
          <p:cNvPr id="60" name="TextBox 59"/>
          <p:cNvSpPr txBox="1"/>
          <p:nvPr/>
        </p:nvSpPr>
        <p:spPr>
          <a:xfrm>
            <a:off x="464057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개시 · 상태 관리</a:t>
            </a:r>
          </a:p>
          <a:p>
            <a:pPr algn="l">
              <a:spcAft>
                <a:spcPts val="0"/>
              </a:spcAft>
            </a:pPr>
            <a:r>
              <a:rPr sz="980" b="0" i="0">
                <a:solidFill>
                  <a:srgbClr val="1B2740"/>
                </a:solidFill>
                <a:latin typeface="맑은 고딕"/>
                <a:ea typeface="맑은 고딕"/>
              </a:rPr>
              <a:t>(다음 장)</a:t>
            </a:r>
          </a:p>
        </p:txBody>
      </p:sp>
      <p:sp>
        <p:nvSpPr>
          <p:cNvPr id="61" name="TextBox 60"/>
          <p:cNvSpPr txBox="1"/>
          <p:nvPr/>
        </p:nvSpPr>
        <p:spPr>
          <a:xfrm>
            <a:off x="464057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f_Trk_ProcessScan</a:t>
            </a:r>
          </a:p>
        </p:txBody>
      </p:sp>
      <p:cxnSp>
        <p:nvCxnSpPr>
          <p:cNvPr id="62" name="Connector 61"/>
          <p:cNvCxnSpPr/>
          <p:nvPr/>
        </p:nvCxnSpPr>
        <p:spPr>
          <a:xfrm>
            <a:off x="6256782"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650367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59510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7</a:t>
            </a:r>
          </a:p>
        </p:txBody>
      </p:sp>
      <p:sp>
        <p:nvSpPr>
          <p:cNvPr id="65" name="TextBox 64"/>
          <p:cNvSpPr txBox="1"/>
          <p:nvPr/>
        </p:nvSpPr>
        <p:spPr>
          <a:xfrm>
            <a:off x="688771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결과 저장</a:t>
            </a:r>
          </a:p>
        </p:txBody>
      </p:sp>
      <p:sp>
        <p:nvSpPr>
          <p:cNvPr id="66" name="TextBox 65"/>
          <p:cNvSpPr txBox="1"/>
          <p:nvPr/>
        </p:nvSpPr>
        <p:spPr>
          <a:xfrm>
            <a:off x="659510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 · 트랙 표 저장</a:t>
            </a:r>
          </a:p>
          <a:p>
            <a:pPr algn="l">
              <a:spcAft>
                <a:spcPts val="0"/>
              </a:spcAft>
            </a:pPr>
            <a:r>
              <a:rPr sz="980" b="0" i="0">
                <a:solidFill>
                  <a:srgbClr val="1B2740"/>
                </a:solidFill>
                <a:latin typeface="맑은 고딕"/>
                <a:ea typeface="맑은 고딕"/>
              </a:rPr>
              <a:t>→ 화면이 가져감</a:t>
            </a:r>
          </a:p>
        </p:txBody>
      </p:sp>
      <p:sp>
        <p:nvSpPr>
          <p:cNvPr id="67" name="TextBox 66"/>
          <p:cNvSpPr txBox="1"/>
          <p:nvPr/>
        </p:nvSpPr>
        <p:spPr>
          <a:xfrm>
            <a:off x="659510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f_Lnk_ProcessMsg</a:t>
            </a:r>
          </a:p>
        </p:txBody>
      </p:sp>
      <p:cxnSp>
        <p:nvCxnSpPr>
          <p:cNvPr id="68" name="Connector 67"/>
          <p:cNvCxnSpPr/>
          <p:nvPr/>
        </p:nvCxnSpPr>
        <p:spPr>
          <a:xfrm>
            <a:off x="7048500" y="3657600"/>
            <a:ext cx="0" cy="402336"/>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38912" y="4059936"/>
            <a:ext cx="6609588" cy="0"/>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38912" y="4059936"/>
            <a:ext cx="0" cy="1024128"/>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38912" y="5084064"/>
            <a:ext cx="18288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579620" y="3730752"/>
            <a:ext cx="2377440" cy="228600"/>
          </a:xfrm>
          <a:prstGeom prst="rect">
            <a:avLst/>
          </a:prstGeom>
          <a:noFill/>
        </p:spPr>
        <p:txBody>
          <a:bodyPr wrap="square" lIns="0" rIns="0" tIns="0" bIns="0" anchor="t">
            <a:spAutoFit/>
          </a:bodyPr>
          <a:lstStyle/>
          <a:p>
            <a:pPr algn="r">
              <a:spcAft>
                <a:spcPts val="0"/>
              </a:spcAft>
            </a:pPr>
            <a:r>
              <a:rPr sz="1000" b="1" i="0">
                <a:solidFill>
                  <a:srgbClr val="2563EB"/>
                </a:solidFill>
                <a:latin typeface="맑은 고딕"/>
                <a:ea typeface="맑은 고딕"/>
              </a:rPr>
              <a:t>UDP  (스캔마다 메시지 1 개)</a:t>
            </a:r>
          </a:p>
        </p:txBody>
      </p:sp>
      <p:sp>
        <p:nvSpPr>
          <p:cNvPr id="73" name="Rounded Rectangle 72"/>
          <p:cNvSpPr/>
          <p:nvPr/>
        </p:nvSpPr>
        <p:spPr>
          <a:xfrm>
            <a:off x="8549640" y="2286000"/>
            <a:ext cx="2999232" cy="352044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732519" y="2395728"/>
            <a:ext cx="2633472"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메시지 한 개에 담는 내용</a:t>
            </a:r>
          </a:p>
        </p:txBody>
      </p:sp>
      <p:sp>
        <p:nvSpPr>
          <p:cNvPr id="75" name="TextBox 74"/>
          <p:cNvSpPr txBox="1"/>
          <p:nvPr/>
        </p:nvSpPr>
        <p:spPr>
          <a:xfrm>
            <a:off x="8732519" y="2670048"/>
            <a:ext cx="2633472" cy="228600"/>
          </a:xfrm>
          <a:prstGeom prst="rect">
            <a:avLst/>
          </a:prstGeom>
          <a:noFill/>
        </p:spPr>
        <p:txBody>
          <a:bodyPr wrap="square" lIns="0" rIns="0" tIns="0" bIns="0" anchor="t">
            <a:spAutoFit/>
          </a:bodyPr>
          <a:lstStyle/>
          <a:p>
            <a:pPr algn="l">
              <a:spcAft>
                <a:spcPts val="0"/>
              </a:spcAft>
            </a:pPr>
            <a:r>
              <a:rPr sz="850" b="0" i="0">
                <a:solidFill>
                  <a:srgbClr val="8794AC"/>
                </a:solidFill>
                <a:latin typeface="Consolas"/>
                <a:ea typeface="Consolas"/>
              </a:rPr>
              <a:t>STRUCT_PlotMsg (Idd.h)</a:t>
            </a:r>
          </a:p>
        </p:txBody>
      </p:sp>
      <p:sp>
        <p:nvSpPr>
          <p:cNvPr id="76" name="Rectangle 75"/>
          <p:cNvSpPr/>
          <p:nvPr/>
        </p:nvSpPr>
        <p:spPr>
          <a:xfrm>
            <a:off x="8732519" y="30906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897112" y="30358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스캔 번호 · 시각</a:t>
            </a:r>
          </a:p>
        </p:txBody>
      </p:sp>
      <p:sp>
        <p:nvSpPr>
          <p:cNvPr id="78" name="Rectangle 77"/>
          <p:cNvSpPr/>
          <p:nvPr/>
        </p:nvSpPr>
        <p:spPr>
          <a:xfrm>
            <a:off x="8732519" y="350215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897112" y="344728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플랫폼 위치 · 자세</a:t>
            </a:r>
          </a:p>
          <a:p>
            <a:pPr algn="l">
              <a:spcAft>
                <a:spcPts val="0"/>
              </a:spcAft>
            </a:pPr>
            <a:r>
              <a:rPr sz="950" b="0" i="0">
                <a:solidFill>
                  <a:srgbClr val="4A5A7A"/>
                </a:solidFill>
                <a:latin typeface="맑은 고딕"/>
                <a:ea typeface="맑은 고딕"/>
              </a:rPr>
              <a:t>좌표 변환에 사용</a:t>
            </a:r>
          </a:p>
        </p:txBody>
      </p:sp>
      <p:sp>
        <p:nvSpPr>
          <p:cNvPr id="80" name="Rectangle 79"/>
          <p:cNvSpPr/>
          <p:nvPr/>
        </p:nvSpPr>
        <p:spPr>
          <a:xfrm>
            <a:off x="8732519" y="4096511"/>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8897112" y="404164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R 표준편차</a:t>
            </a:r>
          </a:p>
          <a:p>
            <a:pPr algn="l">
              <a:spcAft>
                <a:spcPts val="0"/>
              </a:spcAft>
            </a:pPr>
            <a:r>
              <a:rPr sz="950" b="0" i="0">
                <a:solidFill>
                  <a:srgbClr val="4A5A7A"/>
                </a:solidFill>
                <a:latin typeface="맑은 고딕"/>
                <a:ea typeface="맑은 고딕"/>
              </a:rPr>
              <a:t>σr 10 m, σaz 0.2°, σel 0.2°</a:t>
            </a:r>
          </a:p>
        </p:txBody>
      </p:sp>
      <p:sp>
        <p:nvSpPr>
          <p:cNvPr id="82" name="Rectangle 81"/>
          <p:cNvSpPr/>
          <p:nvPr/>
        </p:nvSpPr>
        <p:spPr>
          <a:xfrm>
            <a:off x="8732519" y="46908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8897112" y="46360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플롯 7 개</a:t>
            </a:r>
          </a:p>
          <a:p>
            <a:pPr algn="l">
              <a:spcAft>
                <a:spcPts val="0"/>
              </a:spcAft>
            </a:pPr>
            <a:r>
              <a:rPr sz="950" b="0" i="0">
                <a:solidFill>
                  <a:srgbClr val="4A5A7A"/>
                </a:solidFill>
                <a:latin typeface="맑은 고딕"/>
                <a:ea typeface="맑은 고딕"/>
              </a:rPr>
              <a:t>플롯 ID (10000 ~ 1000000)</a:t>
            </a:r>
          </a:p>
          <a:p>
            <a:pPr algn="l">
              <a:spcAft>
                <a:spcPts val="0"/>
              </a:spcAft>
            </a:pPr>
            <a:r>
              <a:rPr sz="950" b="0" i="0">
                <a:solidFill>
                  <a:srgbClr val="4A5A7A"/>
                </a:solidFill>
                <a:latin typeface="맑은 고딕"/>
                <a:ea typeface="맑은 고딕"/>
              </a:rPr>
              <a:t>거리 · 방위각 · 고각</a:t>
            </a:r>
          </a:p>
        </p:txBody>
      </p:sp>
      <p:sp>
        <p:nvSpPr>
          <p:cNvPr id="84" name="TextBox 83"/>
          <p:cNvSpPr txBox="1"/>
          <p:nvPr/>
        </p:nvSpPr>
        <p:spPr>
          <a:xfrm>
            <a:off x="8732519" y="5413248"/>
            <a:ext cx="2633472" cy="274320"/>
          </a:xfrm>
          <a:prstGeom prst="rect">
            <a:avLst/>
          </a:prstGeom>
          <a:noFill/>
        </p:spPr>
        <p:txBody>
          <a:bodyPr wrap="square" lIns="0" rIns="0" tIns="0" bIns="0" anchor="t">
            <a:spAutoFit/>
          </a:bodyPr>
          <a:lstStyle/>
          <a:p>
            <a:pPr algn="l">
              <a:spcAft>
                <a:spcPts val="0"/>
              </a:spcAft>
            </a:pPr>
            <a:r>
              <a:rPr sz="950" b="1" i="0">
                <a:solidFill>
                  <a:srgbClr val="D97706"/>
                </a:solidFill>
                <a:latin typeface="맑은 고딕"/>
                <a:ea typeface="맑은 고딕"/>
              </a:rPr>
              <a:t>표적 / 클러터 구분 정보는 넣지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3.3 트랙 자료구조와 스캔 처리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수신 쓰레드가 메시지를 받을 때마다 f_Trk_ProcessScan 이 아래 네 단계를 차례로 수행합니다. 트랙 변수 이름은 과제 명세 그대로입니다.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하나 ST_Track    </a:t>
            </a:r>
            <a:r>
              <a:rPr sz="950" b="0" i="0">
                <a:solidFill>
                  <a:srgbClr val="8794AC"/>
                </a:solidFill>
                <a:latin typeface="Consolas"/>
                <a:ea typeface="Consolas"/>
              </a:rPr>
              <a:t>TrackMgr.h</a:t>
            </a:r>
          </a:p>
        </p:txBody>
      </p:sp>
      <p:sp>
        <p:nvSpPr>
          <p:cNvPr id="27" name="Rectangle 26"/>
          <p:cNvSpPr/>
          <p:nvPr/>
        </p:nvSpPr>
        <p:spPr>
          <a:xfrm>
            <a:off x="640080" y="2514600"/>
            <a:ext cx="5760720" cy="19476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19" y="2587752"/>
            <a:ext cx="5577840" cy="17830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103  </a:t>
            </a:r>
            <a:r>
              <a:rPr sz="860" b="0" i="0">
                <a:solidFill>
                  <a:srgbClr val="2563EB"/>
                </a:solidFill>
                <a:latin typeface="Consolas"/>
                <a:ea typeface="Consolas"/>
              </a:rPr>
              <a:t>typedef</a:t>
            </a:r>
            <a:r>
              <a:rPr sz="860" b="0" i="0">
                <a:solidFill>
                  <a:srgbClr val="1B2740"/>
                </a:solidFill>
                <a:latin typeface="Consolas"/>
                <a:ea typeface="Consolas"/>
              </a:rPr>
              <a:t> </a:t>
            </a:r>
            <a:r>
              <a:rPr sz="860" b="0" i="0">
                <a:solidFill>
                  <a:srgbClr val="2563EB"/>
                </a:solidFill>
                <a:latin typeface="Consolas"/>
                <a:ea typeface="Consolas"/>
              </a:rPr>
              <a:t>struct</a:t>
            </a:r>
          </a:p>
          <a:p>
            <a:pPr>
              <a:lnSpc>
                <a:spcPts val="1080"/>
              </a:lnSpc>
            </a:pPr>
            <a:r>
              <a:rPr sz="860" b="0" i="0">
                <a:solidFill>
                  <a:srgbClr val="AEB9CC"/>
                </a:solidFill>
                <a:latin typeface="Consolas"/>
                <a:ea typeface="Consolas"/>
              </a:rPr>
              <a:t>104  </a:t>
            </a:r>
            <a:r>
              <a:rPr sz="860" b="0" i="0">
                <a:solidFill>
                  <a:srgbClr val="1B2740"/>
                </a:solidFill>
                <a:latin typeface="Consolas"/>
                <a:ea typeface="Consolas"/>
              </a:rPr>
              <a:t>{</a:t>
            </a:r>
          </a:p>
          <a:p>
            <a:pPr>
              <a:lnSpc>
                <a:spcPts val="1080"/>
              </a:lnSpc>
            </a:pPr>
            <a:r>
              <a:rPr sz="860" b="0" i="0">
                <a:solidFill>
                  <a:srgbClr val="AEB9CC"/>
                </a:solidFill>
                <a:latin typeface="Consolas"/>
                <a:ea typeface="Consolas"/>
              </a:rPr>
              <a:t>105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TrackId</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ID (100 ~ 10000)</a:t>
            </a:r>
          </a:p>
          <a:p>
            <a:pPr>
              <a:lnSpc>
                <a:spcPts val="1080"/>
              </a:lnSpc>
            </a:pPr>
            <a:r>
              <a:rPr sz="860" b="0" i="0">
                <a:solidFill>
                  <a:srgbClr val="AEB9CC"/>
                </a:solidFill>
                <a:latin typeface="Consolas"/>
                <a:ea typeface="Consolas"/>
              </a:rPr>
              <a:t>106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TrackState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1 임시, 2 확정, 3 메모리, 4 삭제</a:t>
            </a:r>
          </a:p>
          <a:p>
            <a:pPr>
              <a:lnSpc>
                <a:spcPts val="1080"/>
              </a:lnSpc>
            </a:pPr>
            <a:r>
              <a:rPr sz="860" b="0" i="0">
                <a:solidFill>
                  <a:srgbClr val="AEB9CC"/>
                </a:solidFill>
                <a:latin typeface="Consolas"/>
                <a:ea typeface="Consolas"/>
              </a:rPr>
              <a:t>107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점수</a:t>
            </a:r>
          </a:p>
          <a:p>
            <a:pPr>
              <a:lnSpc>
                <a:spcPts val="1080"/>
              </a:lnSpc>
            </a:pPr>
            <a:r>
              <a:rPr sz="860" b="0" i="0">
                <a:solidFill>
                  <a:srgbClr val="AEB9CC"/>
                </a:solidFill>
                <a:latin typeface="Consolas"/>
                <a:ea typeface="Consolas"/>
              </a:rPr>
              <a:t>108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MemoryScore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메모리 점수</a:t>
            </a:r>
          </a:p>
          <a:p>
            <a:pPr>
              <a:lnSpc>
                <a:spcPts val="1080"/>
              </a:lnSpc>
            </a:pPr>
            <a:r>
              <a:rPr sz="860" b="0" i="0">
                <a:solidFill>
                  <a:srgbClr val="AEB9CC"/>
                </a:solidFill>
                <a:latin typeface="Consolas"/>
                <a:ea typeface="Consolas"/>
              </a:rPr>
              <a:t>109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Assigned_Flag</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연관 결과. 1 성공, 0 실패</a:t>
            </a:r>
          </a:p>
          <a:p>
            <a:pPr>
              <a:lnSpc>
                <a:spcPts val="1080"/>
              </a:lnSpc>
            </a:pPr>
            <a:r>
              <a:rPr sz="860" b="0" i="0">
                <a:solidFill>
                  <a:srgbClr val="AEB9CC"/>
                </a:solidFill>
                <a:latin typeface="Consolas"/>
                <a:ea typeface="Consolas"/>
              </a:rPr>
              <a:t>110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mat_EstX</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1 상태변수 (VC-NED)</a:t>
            </a:r>
          </a:p>
          <a:p>
            <a:pPr>
              <a:lnSpc>
                <a:spcPts val="1080"/>
              </a:lnSpc>
            </a:pPr>
            <a:r>
              <a:rPr sz="860" b="0" i="0">
                <a:solidFill>
                  <a:srgbClr val="AEB9CC"/>
                </a:solidFill>
                <a:latin typeface="Consolas"/>
                <a:ea typeface="Consolas"/>
              </a:rPr>
              <a:t>111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mat_EstP</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9 오차 공분산</a:t>
            </a:r>
          </a:p>
          <a:p>
            <a:pPr>
              <a:lnSpc>
                <a:spcPts val="1080"/>
              </a:lnSpc>
            </a:pPr>
            <a:r>
              <a:rPr sz="860" b="0" i="0">
                <a:solidFill>
                  <a:srgbClr val="AEB9CC"/>
                </a:solidFill>
                <a:latin typeface="Consolas"/>
                <a:ea typeface="Consolas"/>
              </a:rPr>
              <a:t>112  </a:t>
            </a:r>
            <a:r>
              <a:rPr sz="860" b="0" i="0">
                <a:solidFill>
                  <a:srgbClr val="1B2740"/>
                </a:solidFill>
                <a:latin typeface="Consolas"/>
                <a:ea typeface="Consolas"/>
              </a:rPr>
              <a:t>  </a:t>
            </a:r>
            <a:r>
              <a:rPr sz="860" b="0" i="0">
                <a:solidFill>
                  <a:srgbClr val="2563EB"/>
                </a:solidFill>
                <a:latin typeface="Consolas"/>
                <a:ea typeface="Consolas"/>
              </a:rPr>
              <a:t>FLOAT64</a:t>
            </a:r>
            <a:r>
              <a:rPr sz="860" b="0" i="0">
                <a:solidFill>
                  <a:srgbClr val="1B2740"/>
                </a:solidFill>
                <a:latin typeface="Consolas"/>
                <a:ea typeface="Consolas"/>
              </a:rPr>
              <a:t>  </a:t>
            </a:r>
            <a:r>
              <a:rPr sz="860" b="0" i="0">
                <a:solidFill>
                  <a:srgbClr val="1B2740"/>
                </a:solidFill>
                <a:latin typeface="Consolas"/>
                <a:ea typeface="Consolas"/>
              </a:rPr>
              <a:t>initTime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시각 [s]</a:t>
            </a:r>
          </a:p>
          <a:p>
            <a:pPr>
              <a:lnSpc>
                <a:spcPts val="1080"/>
              </a:lnSpc>
            </a:pPr>
            <a:r>
              <a:rPr sz="860" b="0" i="0">
                <a:solidFill>
                  <a:srgbClr val="AEB9CC"/>
                </a:solidFill>
                <a:latin typeface="Consolas"/>
                <a:ea typeface="Consolas"/>
              </a:rPr>
              <a:t>113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nInitScan</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스캔 번호</a:t>
            </a:r>
          </a:p>
          <a:p>
            <a:pPr>
              <a:lnSpc>
                <a:spcPts val="1080"/>
              </a:lnSpc>
            </a:pPr>
            <a:r>
              <a:rPr sz="860" b="0" i="0">
                <a:solidFill>
                  <a:srgbClr val="AEB9CC"/>
                </a:solidFill>
                <a:latin typeface="Consolas"/>
                <a:ea typeface="Consolas"/>
              </a:rPr>
              <a:t>114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PlotId</a:t>
            </a:r>
            <a:r>
              <a:rPr sz="860" b="0" i="0">
                <a:solidFill>
                  <a:srgbClr val="1B2740"/>
                </a:solidFill>
                <a:latin typeface="Consolas"/>
                <a:ea typeface="Consolas"/>
              </a:rPr>
              <a:t>[</a:t>
            </a:r>
            <a:r>
              <a:rPr sz="860" b="0" i="0">
                <a:solidFill>
                  <a:srgbClr val="B45309"/>
                </a:solidFill>
                <a:latin typeface="Consolas"/>
                <a:ea typeface="Consolas"/>
              </a:rPr>
              <a:t>2</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개시에 쓴 플롯 ID (앞 스캔, 이번 스캔)</a:t>
            </a:r>
          </a:p>
          <a:p>
            <a:pPr>
              <a:lnSpc>
                <a:spcPts val="1080"/>
              </a:lnSpc>
            </a:pPr>
            <a:r>
              <a:rPr sz="860" b="0" i="0">
                <a:solidFill>
                  <a:srgbClr val="AEB9CC"/>
                </a:solidFill>
                <a:latin typeface="Consolas"/>
                <a:ea typeface="Consolas"/>
              </a:rPr>
              <a:t>115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2563EB"/>
                </a:solidFill>
                <a:latin typeface="Consolas"/>
                <a:ea typeface="Consolas"/>
              </a:rPr>
              <a:t>ST_Track</a:t>
            </a:r>
            <a:r>
              <a:rPr sz="860" b="0" i="0">
                <a:solidFill>
                  <a:srgbClr val="1B2740"/>
                </a:solidFill>
                <a:latin typeface="Consolas"/>
                <a:ea typeface="Consolas"/>
              </a:rPr>
              <a:t>;</a:t>
            </a:r>
          </a:p>
        </p:txBody>
      </p:sp>
      <p:sp>
        <p:nvSpPr>
          <p:cNvPr id="29" name="TextBox 28"/>
          <p:cNvSpPr txBox="1"/>
          <p:nvPr/>
        </p:nvSpPr>
        <p:spPr>
          <a:xfrm>
            <a:off x="640080" y="4535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과제 조건 상수    </a:t>
            </a:r>
            <a:r>
              <a:rPr sz="950" b="0" i="0">
                <a:solidFill>
                  <a:srgbClr val="8794AC"/>
                </a:solidFill>
                <a:latin typeface="Consolas"/>
                <a:ea typeface="Consolas"/>
              </a:rPr>
              <a:t>TrackMgr.h</a:t>
            </a:r>
          </a:p>
        </p:txBody>
      </p:sp>
      <p:sp>
        <p:nvSpPr>
          <p:cNvPr id="30" name="Rectangle 29"/>
          <p:cNvSpPr/>
          <p:nvPr/>
        </p:nvSpPr>
        <p:spPr>
          <a:xfrm>
            <a:off x="640080" y="4800600"/>
            <a:ext cx="5760720" cy="12618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19" y="4873752"/>
            <a:ext cx="5577840" cy="10972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 36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TRK_VMAX</a:t>
            </a:r>
            <a:r>
              <a:rPr sz="860" b="0" i="0">
                <a:solidFill>
                  <a:srgbClr val="1B2740"/>
                </a:solidFill>
                <a:latin typeface="Consolas"/>
                <a:ea typeface="Consolas"/>
              </a:rPr>
              <a:t>               </a:t>
            </a:r>
            <a:r>
              <a:rPr sz="860" b="0" i="0">
                <a:solidFill>
                  <a:srgbClr val="B45309"/>
                </a:solidFill>
                <a:latin typeface="Consolas"/>
                <a:ea typeface="Consolas"/>
              </a:rPr>
              <a:t>800.0</a:t>
            </a:r>
          </a:p>
          <a:p>
            <a:pPr>
              <a:lnSpc>
                <a:spcPts val="1080"/>
              </a:lnSpc>
            </a:pPr>
            <a:r>
              <a:rPr sz="860" b="0" i="0">
                <a:solidFill>
                  <a:srgbClr val="AEB9CC"/>
                </a:solidFill>
                <a:latin typeface="Consolas"/>
                <a:ea typeface="Consolas"/>
              </a:rPr>
              <a:t> 40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TRK_SCORE_CONFIRM</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44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TRK_SCORE_DELETE</a:t>
            </a:r>
            <a:r>
              <a:rPr sz="860" b="0" i="0">
                <a:solidFill>
                  <a:srgbClr val="1B2740"/>
                </a:solidFill>
                <a:latin typeface="Consolas"/>
                <a:ea typeface="Consolas"/>
              </a:rPr>
              <a:t>       </a:t>
            </a:r>
            <a:r>
              <a:rPr sz="860" b="0" i="0">
                <a:solidFill>
                  <a:srgbClr val="B45309"/>
                </a:solidFill>
                <a:latin typeface="Consolas"/>
                <a:ea typeface="Consolas"/>
              </a:rPr>
              <a:t>0</a:t>
            </a:r>
          </a:p>
          <a:p>
            <a:pPr>
              <a:lnSpc>
                <a:spcPts val="1080"/>
              </a:lnSpc>
            </a:pPr>
            <a:r>
              <a:rPr sz="860" b="0" i="0">
                <a:solidFill>
                  <a:srgbClr val="AEB9CC"/>
                </a:solidFill>
                <a:latin typeface="Consolas"/>
                <a:ea typeface="Consolas"/>
              </a:rPr>
              <a:t> 48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TRK_MEMORY_DELETE</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52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TRK_SCORE_INIT</a:t>
            </a:r>
            <a:r>
              <a:rPr sz="860" b="0" i="0">
                <a:solidFill>
                  <a:srgbClr val="1B2740"/>
                </a:solidFill>
                <a:latin typeface="Consolas"/>
                <a:ea typeface="Consolas"/>
              </a:rPr>
              <a:t>         </a:t>
            </a:r>
            <a:r>
              <a:rPr sz="860" b="0" i="0">
                <a:solidFill>
                  <a:srgbClr val="B45309"/>
                </a:solidFill>
                <a:latin typeface="Consolas"/>
                <a:ea typeface="Consolas"/>
              </a:rPr>
              <a:t>2</a:t>
            </a:r>
          </a:p>
          <a:p>
            <a:pPr>
              <a:lnSpc>
                <a:spcPts val="1080"/>
              </a:lnSpc>
            </a:pPr>
            <a:r>
              <a:rPr sz="860" b="0" i="0">
                <a:solidFill>
                  <a:srgbClr val="AEB9CC"/>
                </a:solidFill>
                <a:latin typeface="Consolas"/>
                <a:ea typeface="Consolas"/>
              </a:rPr>
              <a:t> 64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TRK_R_SIGMA_RANGE</a:t>
            </a:r>
            <a:r>
              <a:rPr sz="860" b="0" i="0">
                <a:solidFill>
                  <a:srgbClr val="1B2740"/>
                </a:solidFill>
                <a:latin typeface="Consolas"/>
                <a:ea typeface="Consolas"/>
              </a:rPr>
              <a:t>      </a:t>
            </a:r>
            <a:r>
              <a:rPr sz="860" b="0" i="0">
                <a:solidFill>
                  <a:srgbClr val="B45309"/>
                </a:solidFill>
                <a:latin typeface="Consolas"/>
                <a:ea typeface="Consolas"/>
              </a:rPr>
              <a:t>10.0</a:t>
            </a:r>
          </a:p>
          <a:p>
            <a:pPr>
              <a:lnSpc>
                <a:spcPts val="1080"/>
              </a:lnSpc>
            </a:pPr>
            <a:r>
              <a:rPr sz="860" b="0" i="0">
                <a:solidFill>
                  <a:srgbClr val="AEB9CC"/>
                </a:solidFill>
                <a:latin typeface="Consolas"/>
                <a:ea typeface="Consolas"/>
              </a:rPr>
              <a:t> 68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TRK_R_SIGMA_AZIMUTH</a:t>
            </a:r>
            <a:r>
              <a:rPr sz="860" b="0" i="0">
                <a:solidFill>
                  <a:srgbClr val="1B2740"/>
                </a:solidFill>
                <a:latin typeface="Consolas"/>
                <a:ea typeface="Consolas"/>
              </a:rPr>
              <a:t>    </a:t>
            </a:r>
            <a:r>
              <a:rPr sz="860" b="0" i="0">
                <a:solidFill>
                  <a:srgbClr val="B45309"/>
                </a:solidFill>
                <a:latin typeface="Consolas"/>
                <a:ea typeface="Consolas"/>
              </a:rPr>
              <a:t>0.2</a:t>
            </a:r>
          </a:p>
          <a:p>
            <a:pPr>
              <a:lnSpc>
                <a:spcPts val="1080"/>
              </a:lnSpc>
            </a:pPr>
            <a:r>
              <a:rPr sz="860" b="0" i="0">
                <a:solidFill>
                  <a:srgbClr val="AEB9CC"/>
                </a:solidFill>
                <a:latin typeface="Consolas"/>
                <a:ea typeface="Consolas"/>
              </a:rPr>
              <a:t> 72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TRK_R_SIGMA_ELEVATION</a:t>
            </a:r>
            <a:r>
              <a:rPr sz="860" b="0" i="0">
                <a:solidFill>
                  <a:srgbClr val="1B2740"/>
                </a:solidFill>
                <a:latin typeface="Consolas"/>
                <a:ea typeface="Consolas"/>
              </a:rPr>
              <a:t>  </a:t>
            </a:r>
            <a:r>
              <a:rPr sz="860" b="0" i="0">
                <a:solidFill>
                  <a:srgbClr val="B45309"/>
                </a:solidFill>
                <a:latin typeface="Consolas"/>
                <a:ea typeface="Consolas"/>
              </a:rPr>
              <a:t>0.2</a:t>
            </a:r>
          </a:p>
        </p:txBody>
      </p:sp>
      <p:sp>
        <p:nvSpPr>
          <p:cNvPr id="32" name="Rounded Rectangle 31"/>
          <p:cNvSpPr/>
          <p:nvPr/>
        </p:nvSpPr>
        <p:spPr>
          <a:xfrm>
            <a:off x="6720840" y="2286000"/>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12280" y="2359152"/>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①</a:t>
            </a:r>
          </a:p>
        </p:txBody>
      </p:sp>
      <p:sp>
        <p:nvSpPr>
          <p:cNvPr id="34" name="TextBox 33"/>
          <p:cNvSpPr txBox="1"/>
          <p:nvPr/>
        </p:nvSpPr>
        <p:spPr>
          <a:xfrm>
            <a:off x="7315200" y="2359152"/>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삭제 트랙 정리</a:t>
            </a:r>
          </a:p>
        </p:txBody>
      </p:sp>
      <p:sp>
        <p:nvSpPr>
          <p:cNvPr id="35" name="TextBox 34"/>
          <p:cNvSpPr txBox="1"/>
          <p:nvPr/>
        </p:nvSpPr>
        <p:spPr>
          <a:xfrm>
            <a:off x="7315200" y="2651760"/>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스캔에서 삭제 (4) 가 된 트랙을</a:t>
            </a:r>
          </a:p>
          <a:p>
            <a:pPr algn="l">
              <a:spcAft>
                <a:spcPts val="0"/>
              </a:spcAft>
            </a:pPr>
            <a:r>
              <a:rPr sz="1000" b="0" i="0">
                <a:solidFill>
                  <a:srgbClr val="4A5A7A"/>
                </a:solidFill>
                <a:latin typeface="맑은 고딕"/>
                <a:ea typeface="맑은 고딕"/>
              </a:rPr>
              <a:t>트랙 표에서 지움</a:t>
            </a:r>
          </a:p>
        </p:txBody>
      </p:sp>
      <p:sp>
        <p:nvSpPr>
          <p:cNvPr id="36" name="Rounded Rectangle 35"/>
          <p:cNvSpPr/>
          <p:nvPr/>
        </p:nvSpPr>
        <p:spPr>
          <a:xfrm>
            <a:off x="6720840" y="3273552"/>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12280" y="3346704"/>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②</a:t>
            </a:r>
          </a:p>
        </p:txBody>
      </p:sp>
      <p:sp>
        <p:nvSpPr>
          <p:cNvPr id="38" name="TextBox 37"/>
          <p:cNvSpPr txBox="1"/>
          <p:nvPr/>
        </p:nvSpPr>
        <p:spPr>
          <a:xfrm>
            <a:off x="7315200" y="3346704"/>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관리  →  3.5</a:t>
            </a:r>
          </a:p>
        </p:txBody>
      </p:sp>
      <p:sp>
        <p:nvSpPr>
          <p:cNvPr id="39" name="TextBox 38"/>
          <p:cNvSpPr txBox="1"/>
          <p:nvPr/>
        </p:nvSpPr>
        <p:spPr>
          <a:xfrm>
            <a:off x="7315200" y="3639312"/>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모든 트랙에 Assigned_Flag = 0 (연관 기능 없음)</a:t>
            </a:r>
          </a:p>
          <a:p>
            <a:pPr algn="l">
              <a:spcAft>
                <a:spcPts val="0"/>
              </a:spcAft>
            </a:pPr>
            <a:r>
              <a:rPr sz="1000" b="0" i="0">
                <a:solidFill>
                  <a:srgbClr val="4A5A7A"/>
                </a:solidFill>
                <a:latin typeface="맑은 고딕"/>
                <a:ea typeface="맑은 고딕"/>
              </a:rPr>
              <a:t>스코어 로직으로 상태 갱신</a:t>
            </a:r>
          </a:p>
        </p:txBody>
      </p:sp>
      <p:sp>
        <p:nvSpPr>
          <p:cNvPr id="40" name="Rounded Rectangle 39"/>
          <p:cNvSpPr/>
          <p:nvPr/>
        </p:nvSpPr>
        <p:spPr>
          <a:xfrm>
            <a:off x="6720840" y="4261104"/>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12280" y="4334256"/>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③</a:t>
            </a:r>
          </a:p>
        </p:txBody>
      </p:sp>
      <p:sp>
        <p:nvSpPr>
          <p:cNvPr id="42" name="TextBox 41"/>
          <p:cNvSpPr txBox="1"/>
          <p:nvPr/>
        </p:nvSpPr>
        <p:spPr>
          <a:xfrm>
            <a:off x="7315200" y="4334256"/>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2-Point 개시  →  3.4</a:t>
            </a:r>
          </a:p>
        </p:txBody>
      </p:sp>
      <p:sp>
        <p:nvSpPr>
          <p:cNvPr id="43" name="TextBox 42"/>
          <p:cNvSpPr txBox="1"/>
          <p:nvPr/>
        </p:nvSpPr>
        <p:spPr>
          <a:xfrm>
            <a:off x="7315200" y="4626864"/>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 이번 스캔 플롯 쌍 중 속도 게이트 통과 쌍으로</a:t>
            </a:r>
          </a:p>
          <a:p>
            <a:pPr algn="l">
              <a:spcAft>
                <a:spcPts val="0"/>
              </a:spcAft>
            </a:pPr>
            <a:r>
              <a:rPr sz="1000" b="0" i="0">
                <a:solidFill>
                  <a:srgbClr val="4A5A7A"/>
                </a:solidFill>
                <a:latin typeface="맑은 고딕"/>
                <a:ea typeface="맑은 고딕"/>
              </a:rPr>
              <a:t>가까운 쌍부터 새 트랙 생성, 트랙 ID 부여</a:t>
            </a:r>
          </a:p>
        </p:txBody>
      </p:sp>
      <p:sp>
        <p:nvSpPr>
          <p:cNvPr id="44" name="Rounded Rectangle 43"/>
          <p:cNvSpPr/>
          <p:nvPr/>
        </p:nvSpPr>
        <p:spPr>
          <a:xfrm>
            <a:off x="6720840" y="5248656"/>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812280" y="5321808"/>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④</a:t>
            </a:r>
          </a:p>
        </p:txBody>
      </p:sp>
      <p:sp>
        <p:nvSpPr>
          <p:cNvPr id="46" name="TextBox 45"/>
          <p:cNvSpPr txBox="1"/>
          <p:nvPr/>
        </p:nvSpPr>
        <p:spPr>
          <a:xfrm>
            <a:off x="7315200" y="5321808"/>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개시 후보 보관</a:t>
            </a:r>
          </a:p>
        </p:txBody>
      </p:sp>
      <p:sp>
        <p:nvSpPr>
          <p:cNvPr id="47" name="TextBox 46"/>
          <p:cNvSpPr txBox="1"/>
          <p:nvPr/>
        </p:nvSpPr>
        <p:spPr>
          <a:xfrm>
            <a:off x="7315200" y="5614416"/>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이번 스캔 플롯을 다음 스캔의 개시 후보로 보관</a:t>
            </a:r>
          </a:p>
          <a:p>
            <a:pPr algn="l">
              <a:spcAft>
                <a:spcPts val="0"/>
              </a:spcAft>
            </a:pPr>
            <a:r>
              <a:rPr sz="1000" b="0" i="0">
                <a:solidFill>
                  <a:srgbClr val="4A5A7A"/>
                </a:solidFill>
                <a:latin typeface="맑은 고딕"/>
                <a:ea typeface="맑은 고딕"/>
              </a:rPr>
              <a:t>(트랙을 만드는 데 쓴 플롯은 제외)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3.4 2-Point 개시와 R 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두 플롯으로 트랙의 첫 상태 mat_EstX 와 오차 공분산 mat_EstP 를 채웁니다. 시간 차를 구한 뒤 x · y · z 축마다 같은 계산을 반복합니다.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903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2-Point 초기화    </a:t>
            </a:r>
            <a:r>
              <a:rPr sz="950" b="0" i="0">
                <a:solidFill>
                  <a:srgbClr val="8794AC"/>
                </a:solidFill>
                <a:latin typeface="Consolas"/>
                <a:ea typeface="Consolas"/>
              </a:rPr>
              <a:t>TrackMgr.c</a:t>
            </a:r>
          </a:p>
        </p:txBody>
      </p:sp>
      <p:sp>
        <p:nvSpPr>
          <p:cNvPr id="27" name="Rectangle 26"/>
          <p:cNvSpPr/>
          <p:nvPr/>
        </p:nvSpPr>
        <p:spPr>
          <a:xfrm>
            <a:off x="640080" y="2514600"/>
            <a:ext cx="6903720" cy="327720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4076395"/>
            <a:ext cx="6848856" cy="135331"/>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4076395"/>
            <a:ext cx="36576" cy="1353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4211726"/>
            <a:ext cx="6848856" cy="135331"/>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4211726"/>
            <a:ext cx="36576" cy="13533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347057"/>
            <a:ext cx="6848856" cy="135331"/>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347057"/>
            <a:ext cx="36576" cy="13533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67512" y="4753051"/>
            <a:ext cx="6848856" cy="541324"/>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7512" y="4753051"/>
            <a:ext cx="36576" cy="5413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19" y="2587752"/>
            <a:ext cx="6720840" cy="3112617"/>
          </a:xfrm>
          <a:prstGeom prst="rect">
            <a:avLst/>
          </a:prstGeom>
          <a:noFill/>
        </p:spPr>
        <p:txBody>
          <a:bodyPr wrap="square" lIns="0" rIns="0" tIns="0" bIns="0">
            <a:spAutoFit/>
          </a:bodyPr>
          <a:lstStyle/>
          <a:p>
            <a:pPr>
              <a:lnSpc>
                <a:spcPts val="1065"/>
              </a:lnSpc>
            </a:pPr>
            <a:r>
              <a:rPr sz="780" b="0" i="0">
                <a:solidFill>
                  <a:srgbClr val="AEB9CC"/>
                </a:solidFill>
                <a:latin typeface="Consolas"/>
                <a:ea typeface="Consolas"/>
              </a:rPr>
              <a:t>222  </a:t>
            </a:r>
            <a:r>
              <a:rPr sz="780" b="0" i="0">
                <a:solidFill>
                  <a:srgbClr val="2563EB"/>
                </a:solidFill>
                <a:latin typeface="Consolas"/>
                <a:ea typeface="Consolas"/>
              </a:rPr>
              <a:t>VOID</a:t>
            </a:r>
            <a:r>
              <a:rPr sz="780" b="0" i="0">
                <a:solidFill>
                  <a:srgbClr val="1B2740"/>
                </a:solidFill>
                <a:latin typeface="Consolas"/>
                <a:ea typeface="Consolas"/>
              </a:rPr>
              <a:t> </a:t>
            </a:r>
            <a:r>
              <a:rPr sz="780" b="0" i="0">
                <a:solidFill>
                  <a:srgbClr val="1B2740"/>
                </a:solidFill>
                <a:latin typeface="Consolas"/>
                <a:ea typeface="Consolas"/>
              </a:rPr>
              <a:t>f_Trk_TwoPointInit</a:t>
            </a:r>
            <a:r>
              <a:rPr sz="780" b="0" i="0">
                <a:solidFill>
                  <a:srgbClr val="1B2740"/>
                </a:solidFill>
                <a:latin typeface="Consolas"/>
                <a:ea typeface="Consolas"/>
              </a:rPr>
              <a:t>(</a:t>
            </a:r>
            <a:r>
              <a:rPr sz="780" b="0" i="0">
                <a:solidFill>
                  <a:srgbClr val="2563EB"/>
                </a:solidFill>
                <a:latin typeface="Consolas"/>
                <a:ea typeface="Consolas"/>
              </a:rPr>
              <a:t>ST_Track</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223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224  </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FLOAT64</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225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mat_EstX</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226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mat_EstP</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227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228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230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231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233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234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235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236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237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2</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0.0</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239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240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241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242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243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244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245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246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247  </a:t>
            </a:r>
            <a:r>
              <a:rPr sz="780" b="0" i="0">
                <a:solidFill>
                  <a:srgbClr val="1B2740"/>
                </a:solidFill>
                <a:latin typeface="Consolas"/>
                <a:ea typeface="Consolas"/>
              </a:rPr>
              <a:t>}</a:t>
            </a:r>
          </a:p>
        </p:txBody>
      </p:sp>
      <p:sp>
        <p:nvSpPr>
          <p:cNvPr id="37" name="Oval 36"/>
          <p:cNvSpPr/>
          <p:nvPr/>
        </p:nvSpPr>
        <p:spPr>
          <a:xfrm>
            <a:off x="7397496" y="404347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8" name="Oval 37"/>
          <p:cNvSpPr/>
          <p:nvPr/>
        </p:nvSpPr>
        <p:spPr>
          <a:xfrm>
            <a:off x="7397496" y="417880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9" name="Oval 38"/>
          <p:cNvSpPr/>
          <p:nvPr/>
        </p:nvSpPr>
        <p:spPr>
          <a:xfrm>
            <a:off x="7397496" y="4314139"/>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0" name="Oval 39"/>
          <p:cNvSpPr/>
          <p:nvPr/>
        </p:nvSpPr>
        <p:spPr>
          <a:xfrm>
            <a:off x="7397496" y="472013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1" name="TextBox 40"/>
          <p:cNvSpPr txBox="1"/>
          <p:nvPr/>
        </p:nvSpPr>
        <p:spPr>
          <a:xfrm>
            <a:off x="7772400" y="2249424"/>
            <a:ext cx="3776472"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R 표준편차 (과제 값)    </a:t>
            </a:r>
            <a:r>
              <a:rPr sz="950" b="0" i="0">
                <a:solidFill>
                  <a:srgbClr val="8794AC"/>
                </a:solidFill>
                <a:latin typeface="Consolas"/>
                <a:ea typeface="Consolas"/>
              </a:rPr>
              <a:t>TrackMgr.c</a:t>
            </a:r>
          </a:p>
        </p:txBody>
      </p:sp>
      <p:sp>
        <p:nvSpPr>
          <p:cNvPr id="42" name="Rectangle 41"/>
          <p:cNvSpPr/>
          <p:nvPr/>
        </p:nvSpPr>
        <p:spPr>
          <a:xfrm>
            <a:off x="7772400" y="2514600"/>
            <a:ext cx="3776472" cy="97657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799831" y="2858414"/>
            <a:ext cx="3721608" cy="405993"/>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799831" y="2858414"/>
            <a:ext cx="36576" cy="40599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863840" y="2587752"/>
            <a:ext cx="3593591" cy="811987"/>
          </a:xfrm>
          <a:prstGeom prst="rect">
            <a:avLst/>
          </a:prstGeom>
          <a:noFill/>
        </p:spPr>
        <p:txBody>
          <a:bodyPr wrap="square" lIns="0" rIns="0" tIns="0" bIns="0">
            <a:spAutoFit/>
          </a:bodyPr>
          <a:lstStyle/>
          <a:p>
            <a:pPr>
              <a:lnSpc>
                <a:spcPts val="1065"/>
              </a:lnSpc>
            </a:pPr>
            <a:r>
              <a:rPr sz="740" b="0" i="0">
                <a:solidFill>
                  <a:srgbClr val="AEB9CC"/>
                </a:solidFill>
                <a:latin typeface="Consolas"/>
                <a:ea typeface="Consolas"/>
              </a:rPr>
              <a:t>285  </a:t>
            </a:r>
            <a:r>
              <a:rPr sz="740" b="0" i="0">
                <a:solidFill>
                  <a:srgbClr val="2563EB"/>
                </a:solidFill>
                <a:latin typeface="Consolas"/>
                <a:ea typeface="Consolas"/>
              </a:rPr>
              <a:t>VOID</a:t>
            </a:r>
            <a:r>
              <a:rPr sz="740" b="0" i="0">
                <a:solidFill>
                  <a:srgbClr val="1B2740"/>
                </a:solidFill>
                <a:latin typeface="Consolas"/>
                <a:ea typeface="Consolas"/>
              </a:rPr>
              <a:t> </a:t>
            </a:r>
            <a:r>
              <a:rPr sz="740" b="0" i="0">
                <a:solidFill>
                  <a:srgbClr val="1B2740"/>
                </a:solidFill>
                <a:latin typeface="Consolas"/>
                <a:ea typeface="Consolas"/>
              </a:rPr>
              <a:t>f_Trk_GetMeasSigma</a:t>
            </a:r>
            <a:r>
              <a:rPr sz="740" b="0" i="0">
                <a:solidFill>
                  <a:srgbClr val="1B2740"/>
                </a:solidFill>
                <a:latin typeface="Consolas"/>
                <a:ea typeface="Consolas"/>
              </a:rPr>
              <a:t>(</a:t>
            </a:r>
            <a:r>
              <a:rPr sz="740" b="0" i="0">
                <a:solidFill>
                  <a:srgbClr val="2563EB"/>
                </a:solidFill>
                <a:latin typeface="Consolas"/>
                <a:ea typeface="Consolas"/>
              </a:rPr>
              <a:t>STRUCT_Coord_Sph</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st_Sigma</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286  </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287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r</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7C3AED"/>
                </a:solidFill>
                <a:latin typeface="Consolas"/>
                <a:ea typeface="Consolas"/>
              </a:rPr>
              <a:t>TRK_R_SIGMA_RANGE</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288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az</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TRK_R_SIGMA_AZIMUTH</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289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el</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TRK_R_SIGMA_ELEVATION</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290  </a:t>
            </a:r>
            <a:r>
              <a:rPr sz="740" b="0" i="0">
                <a:solidFill>
                  <a:srgbClr val="1B2740"/>
                </a:solidFill>
                <a:latin typeface="Consolas"/>
                <a:ea typeface="Consolas"/>
              </a:rPr>
              <a:t>}</a:t>
            </a:r>
          </a:p>
        </p:txBody>
      </p:sp>
      <p:sp>
        <p:nvSpPr>
          <p:cNvPr id="46" name="Oval 45"/>
          <p:cNvSpPr/>
          <p:nvPr/>
        </p:nvSpPr>
        <p:spPr>
          <a:xfrm>
            <a:off x="11402567" y="28254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7" name="Oval 46"/>
          <p:cNvSpPr/>
          <p:nvPr/>
        </p:nvSpPr>
        <p:spPr>
          <a:xfrm>
            <a:off x="7772400" y="367588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8" name="TextBox 47"/>
          <p:cNvSpPr txBox="1"/>
          <p:nvPr/>
        </p:nvSpPr>
        <p:spPr>
          <a:xfrm>
            <a:off x="8156448" y="365760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z</a:t>
            </a:r>
            <a:r>
              <a:rPr sz="1150" b="1" i="0" baseline="-25000">
                <a:solidFill>
                  <a:srgbClr val="1B2740"/>
                </a:solidFill>
                <a:latin typeface="맑은 고딕"/>
                <a:ea typeface="맑은 고딕"/>
              </a:rPr>
              <a:t>k</a:t>
            </a:r>
          </a:p>
        </p:txBody>
      </p:sp>
      <p:sp>
        <p:nvSpPr>
          <p:cNvPr id="49" name="Oval 48"/>
          <p:cNvSpPr/>
          <p:nvPr/>
        </p:nvSpPr>
        <p:spPr>
          <a:xfrm>
            <a:off x="7772400" y="4041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0" name="TextBox 49"/>
          <p:cNvSpPr txBox="1"/>
          <p:nvPr/>
        </p:nvSpPr>
        <p:spPr>
          <a:xfrm>
            <a:off x="8156448" y="402336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 (z</a:t>
            </a:r>
            <a:r>
              <a:rPr sz="1150" b="1" i="0" baseline="-25000">
                <a:solidFill>
                  <a:srgbClr val="1B2740"/>
                </a:solidFill>
                <a:latin typeface="맑은 고딕"/>
                <a:ea typeface="맑은 고딕"/>
              </a:rPr>
              <a:t>k</a:t>
            </a:r>
            <a:r>
              <a:rPr sz="1150" b="1" i="0">
                <a:solidFill>
                  <a:srgbClr val="1B2740"/>
                </a:solidFill>
                <a:latin typeface="맑은 고딕"/>
                <a:ea typeface="맑은 고딕"/>
              </a:rPr>
              <a:t> − z</a:t>
            </a:r>
            <a:r>
              <a:rPr sz="1150" b="1" i="0" baseline="-25000">
                <a:solidFill>
                  <a:srgbClr val="1B2740"/>
                </a:solidFill>
                <a:latin typeface="맑은 고딕"/>
                <a:ea typeface="맑은 고딕"/>
              </a:rPr>
              <a:t>k−1</a:t>
            </a:r>
            <a:r>
              <a:rPr sz="1150" b="1" i="0">
                <a:solidFill>
                  <a:srgbClr val="1B2740"/>
                </a:solidFill>
                <a:latin typeface="맑은 고딕"/>
                <a:ea typeface="맑은 고딕"/>
              </a:rPr>
              <a:t>) / T</a:t>
            </a:r>
          </a:p>
        </p:txBody>
      </p:sp>
      <p:sp>
        <p:nvSpPr>
          <p:cNvPr id="51" name="Oval 50"/>
          <p:cNvSpPr/>
          <p:nvPr/>
        </p:nvSpPr>
        <p:spPr>
          <a:xfrm>
            <a:off x="7772400" y="4407407"/>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2" name="TextBox 51"/>
          <p:cNvSpPr txBox="1"/>
          <p:nvPr/>
        </p:nvSpPr>
        <p:spPr>
          <a:xfrm>
            <a:off x="8156448" y="438912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가속도 = 0 (과제 조건)</a:t>
            </a:r>
          </a:p>
        </p:txBody>
      </p:sp>
      <p:sp>
        <p:nvSpPr>
          <p:cNvPr id="53" name="Oval 52"/>
          <p:cNvSpPr/>
          <p:nvPr/>
        </p:nvSpPr>
        <p:spPr>
          <a:xfrm>
            <a:off x="7772400" y="47731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54" name="TextBox 53"/>
          <p:cNvSpPr txBox="1"/>
          <p:nvPr/>
        </p:nvSpPr>
        <p:spPr>
          <a:xfrm>
            <a:off x="8156448" y="47548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P = R</a:t>
            </a:r>
            <a:r>
              <a:rPr sz="1150" b="1" i="0" baseline="-25000">
                <a:solidFill>
                  <a:srgbClr val="1B2740"/>
                </a:solidFill>
                <a:latin typeface="맑은 고딕"/>
                <a:ea typeface="맑은 고딕"/>
              </a:rPr>
              <a:t>k</a:t>
            </a:r>
            <a:r>
              <a:rPr sz="1150" b="1" i="0">
                <a:solidFill>
                  <a:srgbClr val="1B2740"/>
                </a:solidFill>
                <a:latin typeface="맑은 고딕"/>
                <a:ea typeface="맑은 고딕"/>
              </a:rPr>
              <a:t>,  R</a:t>
            </a:r>
            <a:r>
              <a:rPr sz="1150" b="1" i="0" baseline="-25000">
                <a:solidFill>
                  <a:srgbClr val="1B2740"/>
                </a:solidFill>
                <a:latin typeface="맑은 고딕"/>
                <a:ea typeface="맑은 고딕"/>
              </a:rPr>
              <a:t>k</a:t>
            </a:r>
            <a:r>
              <a:rPr sz="1150" b="1" i="0">
                <a:solidFill>
                  <a:srgbClr val="1B2740"/>
                </a:solidFill>
                <a:latin typeface="맑은 고딕"/>
                <a:ea typeface="맑은 고딕"/>
              </a:rPr>
              <a:t>/T,  (R</a:t>
            </a:r>
            <a:r>
              <a:rPr sz="1150" b="1" i="0" baseline="-25000">
                <a:solidFill>
                  <a:srgbClr val="1B2740"/>
                </a:solidFill>
                <a:latin typeface="맑은 고딕"/>
                <a:ea typeface="맑은 고딕"/>
              </a:rPr>
              <a:t>k</a:t>
            </a:r>
            <a:r>
              <a:rPr sz="1150" b="1" i="0">
                <a:solidFill>
                  <a:srgbClr val="1B2740"/>
                </a:solidFill>
                <a:latin typeface="맑은 고딕"/>
                <a:ea typeface="맑은 고딕"/>
              </a:rPr>
              <a:t>+R</a:t>
            </a:r>
            <a:r>
              <a:rPr sz="1150" b="1" i="0" baseline="-25000">
                <a:solidFill>
                  <a:srgbClr val="1B2740"/>
                </a:solidFill>
                <a:latin typeface="맑은 고딕"/>
                <a:ea typeface="맑은 고딕"/>
              </a:rPr>
              <a:t>k−1</a:t>
            </a:r>
            <a:r>
              <a:rPr sz="1150" b="1" i="0">
                <a:solidFill>
                  <a:srgbClr val="1B2740"/>
                </a:solidFill>
                <a:latin typeface="맑은 고딕"/>
                <a:ea typeface="맑은 고딕"/>
              </a:rPr>
              <a:t>)/T</a:t>
            </a:r>
            <a:r>
              <a:rPr sz="1150" b="1" i="0" baseline="30000">
                <a:solidFill>
                  <a:srgbClr val="1B2740"/>
                </a:solidFill>
                <a:latin typeface="맑은 고딕"/>
                <a:ea typeface="맑은 고딕"/>
              </a:rPr>
              <a:t>2</a:t>
            </a:r>
          </a:p>
          <a:p>
            <a:pPr algn="l">
              <a:spcAft>
                <a:spcPts val="100"/>
              </a:spcAft>
            </a:pPr>
            <a:r>
              <a:rPr sz="1050" b="0" i="0">
                <a:solidFill>
                  <a:srgbClr val="4A5A7A"/>
                </a:solidFill>
                <a:latin typeface="맑은 고딕"/>
                <a:ea typeface="맑은 고딕"/>
              </a:rPr>
              <a:t>위치 · 위치-속도 · 속도 칸, 가속도 칸은 0</a:t>
            </a:r>
          </a:p>
        </p:txBody>
      </p:sp>
      <p:sp>
        <p:nvSpPr>
          <p:cNvPr id="55" name="Oval 54"/>
          <p:cNvSpPr/>
          <p:nvPr/>
        </p:nvSpPr>
        <p:spPr>
          <a:xfrm>
            <a:off x="7772400" y="54589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6" name="TextBox 55"/>
          <p:cNvSpPr txBox="1"/>
          <p:nvPr/>
        </p:nvSpPr>
        <p:spPr>
          <a:xfrm>
            <a:off x="8156448" y="54406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σ 10 m, 0.2°, 0.2°</a:t>
            </a:r>
          </a:p>
          <a:p>
            <a:pPr algn="l">
              <a:spcAft>
                <a:spcPts val="100"/>
              </a:spcAft>
            </a:pPr>
            <a:r>
              <a:rPr sz="1050" b="0" i="0">
                <a:solidFill>
                  <a:srgbClr val="4A5A7A"/>
                </a:solidFill>
                <a:latin typeface="맑은 고딕"/>
                <a:ea typeface="맑은 고딕"/>
              </a:rPr>
              <a:t>이 값으로 플롯마다 R 계산 (1.4 의 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3.5 트랙 스코어 로직 (f_Trk_UpdateState)</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트랙마다 매 스캔 한 번 불려, 현재 상태와 연관 결과 (Assigned_Flag) 에 따라 점수와 상태를 바꿉니다. 과제 2.2 규칙을 그대로 옮겼습니다.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임시 트랙    </a:t>
            </a:r>
            <a:r>
              <a:rPr sz="950" b="0" i="0">
                <a:solidFill>
                  <a:srgbClr val="8794AC"/>
                </a:solidFill>
                <a:latin typeface="Consolas"/>
                <a:ea typeface="Consolas"/>
              </a:rPr>
              <a:t>TrackMgr.c</a:t>
            </a:r>
          </a:p>
        </p:txBody>
      </p:sp>
      <p:sp>
        <p:nvSpPr>
          <p:cNvPr id="27" name="Rectangle 26"/>
          <p:cNvSpPr/>
          <p:nvPr/>
        </p:nvSpPr>
        <p:spPr>
          <a:xfrm>
            <a:off x="640080" y="2514600"/>
            <a:ext cx="5349240" cy="305409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3454603"/>
            <a:ext cx="5294376" cy="144475"/>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3454603"/>
            <a:ext cx="36576" cy="14447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3599078"/>
            <a:ext cx="5294376" cy="433425"/>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3599078"/>
            <a:ext cx="36576" cy="433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176979"/>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176979"/>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5166359" cy="288950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158  </a:t>
            </a:r>
            <a:r>
              <a:rPr sz="760" b="0" i="0">
                <a:solidFill>
                  <a:srgbClr val="2563EB"/>
                </a:solidFill>
                <a:latin typeface="Consolas"/>
                <a:ea typeface="Consolas"/>
              </a:rPr>
              <a:t>VOID</a:t>
            </a:r>
            <a:r>
              <a:rPr sz="760" b="0" i="0">
                <a:solidFill>
                  <a:srgbClr val="1B2740"/>
                </a:solidFill>
                <a:latin typeface="Consolas"/>
                <a:ea typeface="Consolas"/>
              </a:rPr>
              <a:t> </a:t>
            </a:r>
            <a:r>
              <a:rPr sz="760" b="0" i="0">
                <a:solidFill>
                  <a:srgbClr val="1B2740"/>
                </a:solidFill>
                <a:latin typeface="Consolas"/>
                <a:ea typeface="Consolas"/>
              </a:rPr>
              <a:t>f_Trk_UpdateState</a:t>
            </a:r>
            <a:r>
              <a:rPr sz="760" b="0" i="0">
                <a:solidFill>
                  <a:srgbClr val="1B2740"/>
                </a:solidFill>
                <a:latin typeface="Consolas"/>
                <a:ea typeface="Consolas"/>
              </a:rPr>
              <a:t>(</a:t>
            </a:r>
            <a:r>
              <a:rPr sz="760" b="0" i="0">
                <a:solidFill>
                  <a:srgbClr val="2563EB"/>
                </a:solidFill>
                <a:latin typeface="Consolas"/>
                <a:ea typeface="Consolas"/>
              </a:rPr>
              <a:t>ST_Track</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159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160  </a:t>
            </a:r>
            <a:r>
              <a:rPr sz="760" b="0" i="0">
                <a:solidFill>
                  <a:srgbClr val="1B2740"/>
                </a:solidFill>
                <a:latin typeface="Consolas"/>
                <a:ea typeface="Consolas"/>
              </a:rPr>
              <a:t>  </a:t>
            </a:r>
            <a:r>
              <a:rPr sz="760" b="0" i="0">
                <a:solidFill>
                  <a:srgbClr val="2563EB"/>
                </a:solidFill>
                <a:latin typeface="Consolas"/>
                <a:ea typeface="Consolas"/>
              </a:rPr>
              <a:t>const</a:t>
            </a:r>
            <a:r>
              <a:rPr sz="760" b="0" i="0">
                <a:solidFill>
                  <a:srgbClr val="1B2740"/>
                </a:solidFill>
                <a:latin typeface="Consolas"/>
                <a:ea typeface="Consolas"/>
              </a:rPr>
              <a:t> </a:t>
            </a:r>
            <a:r>
              <a:rPr sz="760" b="0" i="0">
                <a:solidFill>
                  <a:srgbClr val="2563EB"/>
                </a:solidFill>
                <a:latin typeface="Consolas"/>
                <a:ea typeface="Consolas"/>
              </a:rPr>
              <a:t>INT32</a:t>
            </a:r>
            <a:r>
              <a:rPr sz="760" b="0" i="0">
                <a:solidFill>
                  <a:srgbClr val="1B2740"/>
                </a:solidFill>
                <a:latin typeface="Consolas"/>
                <a:ea typeface="Consolas"/>
              </a:rPr>
              <a:t> </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Assigned_Flag</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162  </a:t>
            </a:r>
            <a:r>
              <a:rPr sz="760" b="0" i="0">
                <a:solidFill>
                  <a:srgbClr val="1B2740"/>
                </a:solidFill>
                <a:latin typeface="Consolas"/>
                <a:ea typeface="Consolas"/>
              </a:rPr>
              <a:t>  </a:t>
            </a:r>
            <a:r>
              <a:rPr sz="760" b="0" i="0">
                <a:solidFill>
                  <a:srgbClr val="2563EB"/>
                </a:solidFill>
                <a:latin typeface="Consolas"/>
                <a:ea typeface="Consolas"/>
              </a:rPr>
              <a:t>switch</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164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TRK_STATE_TENTATIVE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B45309"/>
                </a:solidFill>
                <a:latin typeface="Consolas"/>
                <a:ea typeface="Consolas"/>
              </a:rPr>
              <a:t>1</a:t>
            </a:r>
            <a:r>
              <a:rPr sz="760" b="0" i="0">
                <a:solidFill>
                  <a:srgbClr val="1B2740"/>
                </a:solidFill>
                <a:latin typeface="Consolas"/>
                <a:ea typeface="Consolas"/>
              </a:rPr>
              <a:t>)</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167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TRK_SCORE_CONFIRM</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169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171  </a:t>
            </a:r>
            <a:r>
              <a:rPr sz="760" b="0" i="0">
                <a:solidFill>
                  <a:srgbClr val="1B2740"/>
                </a:solidFill>
                <a:latin typeface="Consolas"/>
                <a:ea typeface="Consolas"/>
              </a:rPr>
              <a:t>    </a:t>
            </a:r>
            <a:r>
              <a:rPr sz="760" b="0" i="0">
                <a:solidFill>
                  <a:srgbClr val="2563EB"/>
                </a:solidFill>
                <a:latin typeface="Consolas"/>
                <a:ea typeface="Consolas"/>
              </a:rPr>
              <a:t>else</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&lt;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176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177  </a:t>
            </a:r>
            <a:r>
              <a:rPr sz="760" b="0" i="0">
                <a:solidFill>
                  <a:srgbClr val="1B2740"/>
                </a:solidFill>
                <a:latin typeface="Consolas"/>
                <a:ea typeface="Consolas"/>
              </a:rPr>
              <a:t>      </a:t>
            </a:r>
            <a:r>
              <a:rPr sz="760" b="0" i="0">
                <a:solidFill>
                  <a:srgbClr val="059669"/>
                </a:solidFill>
                <a:latin typeface="Consolas"/>
                <a:ea typeface="Consolas"/>
              </a:rPr>
              <a:t>// 임시 트랙 유지</a:t>
            </a:r>
          </a:p>
          <a:p>
            <a:pPr>
              <a:lnSpc>
                <a:spcPts val="1137"/>
              </a:lnSpc>
            </a:pPr>
            <a:r>
              <a:rPr sz="760" b="0" i="0">
                <a:solidFill>
                  <a:srgbClr val="AEB9CC"/>
                </a:solidFill>
                <a:latin typeface="Consolas"/>
                <a:ea typeface="Consolas"/>
              </a:rPr>
              <a:t>178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179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35" name="Oval 34"/>
          <p:cNvSpPr/>
          <p:nvPr/>
        </p:nvSpPr>
        <p:spPr>
          <a:xfrm>
            <a:off x="5843016" y="342625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5843016" y="357073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5843016" y="4148632"/>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38" name="TextBox 37"/>
          <p:cNvSpPr txBox="1"/>
          <p:nvPr/>
        </p:nvSpPr>
        <p:spPr>
          <a:xfrm>
            <a:off x="6199632"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확정 · 메모리 트랙    </a:t>
            </a:r>
            <a:r>
              <a:rPr sz="950" b="0" i="0">
                <a:solidFill>
                  <a:srgbClr val="8794AC"/>
                </a:solidFill>
                <a:latin typeface="Consolas"/>
                <a:ea typeface="Consolas"/>
              </a:rPr>
              <a:t>TrackMgr.c</a:t>
            </a:r>
          </a:p>
        </p:txBody>
      </p:sp>
      <p:sp>
        <p:nvSpPr>
          <p:cNvPr id="39" name="Rectangle 38"/>
          <p:cNvSpPr/>
          <p:nvPr/>
        </p:nvSpPr>
        <p:spPr>
          <a:xfrm>
            <a:off x="6199632" y="2514600"/>
            <a:ext cx="5349240" cy="334304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227064" y="3021177"/>
            <a:ext cx="5294376" cy="288950"/>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27064" y="3021177"/>
            <a:ext cx="36576" cy="288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27064" y="4032504"/>
            <a:ext cx="5294376" cy="288950"/>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227064" y="4032504"/>
            <a:ext cx="36576" cy="2889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227064" y="4899355"/>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227064" y="4899355"/>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291072" y="2587752"/>
            <a:ext cx="5166359" cy="317845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181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182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184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187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189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190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191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192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196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197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199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TRK_MEMORY_DELETE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201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204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47" name="Oval 46"/>
          <p:cNvSpPr/>
          <p:nvPr/>
        </p:nvSpPr>
        <p:spPr>
          <a:xfrm>
            <a:off x="11402567" y="2992831"/>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8" name="Oval 47"/>
          <p:cNvSpPr/>
          <p:nvPr/>
        </p:nvSpPr>
        <p:spPr>
          <a:xfrm>
            <a:off x="11402567" y="4004157"/>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9" name="Oval 48"/>
          <p:cNvSpPr/>
          <p:nvPr/>
        </p:nvSpPr>
        <p:spPr>
          <a:xfrm>
            <a:off x="11402567" y="487100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0" name="Oval 49"/>
          <p:cNvSpPr/>
          <p:nvPr/>
        </p:nvSpPr>
        <p:spPr>
          <a:xfrm>
            <a:off x="640080" y="5989320"/>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51" name="TextBox 50"/>
          <p:cNvSpPr txBox="1"/>
          <p:nvPr/>
        </p:nvSpPr>
        <p:spPr>
          <a:xfrm>
            <a:off x="896112" y="5961888"/>
            <a:ext cx="965606"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TrackScore ±1</a:t>
            </a:r>
          </a:p>
        </p:txBody>
      </p:sp>
      <p:sp>
        <p:nvSpPr>
          <p:cNvPr id="52" name="Oval 51"/>
          <p:cNvSpPr/>
          <p:nvPr/>
        </p:nvSpPr>
        <p:spPr>
          <a:xfrm>
            <a:off x="1989734" y="5989320"/>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53" name="TextBox 52"/>
          <p:cNvSpPr txBox="1"/>
          <p:nvPr/>
        </p:nvSpPr>
        <p:spPr>
          <a:xfrm>
            <a:off x="2245766" y="5961888"/>
            <a:ext cx="769924"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 5 → 확정</a:t>
            </a:r>
          </a:p>
        </p:txBody>
      </p:sp>
      <p:sp>
        <p:nvSpPr>
          <p:cNvPr id="54" name="Oval 53"/>
          <p:cNvSpPr/>
          <p:nvPr/>
        </p:nvSpPr>
        <p:spPr>
          <a:xfrm>
            <a:off x="3143707" y="5989320"/>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5" name="TextBox 54"/>
          <p:cNvSpPr txBox="1"/>
          <p:nvPr/>
        </p:nvSpPr>
        <p:spPr>
          <a:xfrm>
            <a:off x="3399739" y="5961888"/>
            <a:ext cx="2679191"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삭제 (TrackScore ≤ 0 · MemoryScore ≥ 5)</a:t>
            </a:r>
          </a:p>
        </p:txBody>
      </p:sp>
      <p:sp>
        <p:nvSpPr>
          <p:cNvPr id="56" name="Oval 55"/>
          <p:cNvSpPr/>
          <p:nvPr/>
        </p:nvSpPr>
        <p:spPr>
          <a:xfrm>
            <a:off x="6206947" y="5989320"/>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57" name="TextBox 56"/>
          <p:cNvSpPr txBox="1"/>
          <p:nvPr/>
        </p:nvSpPr>
        <p:spPr>
          <a:xfrm>
            <a:off x="6462979" y="5961888"/>
            <a:ext cx="2023567"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실패 → 메모리, MemoryScore +1</a:t>
            </a:r>
          </a:p>
        </p:txBody>
      </p:sp>
      <p:sp>
        <p:nvSpPr>
          <p:cNvPr id="58" name="Oval 57"/>
          <p:cNvSpPr/>
          <p:nvPr/>
        </p:nvSpPr>
        <p:spPr>
          <a:xfrm>
            <a:off x="8614562" y="59893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59" name="TextBox 58"/>
          <p:cNvSpPr txBox="1"/>
          <p:nvPr/>
        </p:nvSpPr>
        <p:spPr>
          <a:xfrm>
            <a:off x="8870594" y="5961888"/>
            <a:ext cx="2156155"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성공 → 바로 확정, MemoryScore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04. 결과</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프로그램을 실행한 결과 화면과 수치로 트랙 개시 · 관리 동작을 확인합니다.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시뮬레이션 조건과 결과 화면</a:t>
            </a:r>
          </a:p>
        </p:txBody>
      </p:sp>
      <p:cxnSp>
        <p:nvCxnSpPr>
          <p:cNvPr id="30" name="Connector 29"/>
          <p:cNvCxnSpPr/>
          <p:nvPr/>
        </p:nvCxnSpPr>
        <p:spPr>
          <a:xfrm>
            <a:off x="3918204" y="2313432"/>
            <a:ext cx="66888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True · Plot · Track 동시 표시 (스캔 701)</a:t>
            </a:r>
          </a:p>
        </p:txBody>
      </p:sp>
      <p:cxnSp>
        <p:nvCxnSpPr>
          <p:cNvPr id="34" name="Connector 33"/>
          <p:cNvCxnSpPr/>
          <p:nvPr/>
        </p:nvCxnSpPr>
        <p:spPr>
          <a:xfrm>
            <a:off x="5276088" y="2720339"/>
            <a:ext cx="533095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한 스캔 확대: 트랙이 만들어지는 모습</a:t>
            </a:r>
          </a:p>
        </p:txBody>
      </p:sp>
      <p:cxnSp>
        <p:nvCxnSpPr>
          <p:cNvPr id="38" name="Connector 37"/>
          <p:cNvCxnSpPr/>
          <p:nvPr/>
        </p:nvCxnSpPr>
        <p:spPr>
          <a:xfrm>
            <a:off x="4727448" y="3127248"/>
            <a:ext cx="58795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22</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수명과 스코어 로직 확인</a:t>
            </a:r>
          </a:p>
        </p:txBody>
      </p:sp>
      <p:cxnSp>
        <p:nvCxnSpPr>
          <p:cNvPr id="42" name="Connector 41"/>
          <p:cNvCxnSpPr/>
          <p:nvPr/>
        </p:nvCxnSpPr>
        <p:spPr>
          <a:xfrm>
            <a:off x="4014216" y="3534155"/>
            <a:ext cx="659282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23</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궤적 (시뮬레이션 마지막 화면)</a:t>
            </a:r>
          </a:p>
        </p:txBody>
      </p:sp>
      <p:cxnSp>
        <p:nvCxnSpPr>
          <p:cNvPr id="46" name="Connector 45"/>
          <p:cNvCxnSpPr/>
          <p:nvPr/>
        </p:nvCxnSpPr>
        <p:spPr>
          <a:xfrm>
            <a:off x="4553712" y="3941063"/>
            <a:ext cx="605332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4.1 시뮬레이션 조건과 결과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Visual Studio 2022 Release x64 로 빌드해 실행한 화면입니다. 1,160 개 플롯 메시지를 모두 보내고 받아 처리했습니다 (손실 0).</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914400" cy="457200"/>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286000"/>
            <a:ext cx="914400" cy="457200"/>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시나리오</a:t>
            </a:r>
          </a:p>
        </p:txBody>
      </p:sp>
      <p:sp>
        <p:nvSpPr>
          <p:cNvPr id="28" name="TextBox 27"/>
          <p:cNvSpPr txBox="1"/>
          <p:nvPr/>
        </p:nvSpPr>
        <p:spPr>
          <a:xfrm>
            <a:off x="1664208" y="2286000"/>
            <a:ext cx="3017520" cy="457200"/>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과제 3 지그재그 응용 · 플랫폼 정지</a:t>
            </a:r>
          </a:p>
          <a:p>
            <a:pPr algn="l">
              <a:spcAft>
                <a:spcPts val="0"/>
              </a:spcAft>
            </a:pPr>
            <a:r>
              <a:rPr sz="1000" b="0" i="0">
                <a:solidFill>
                  <a:srgbClr val="1B2740"/>
                </a:solidFill>
                <a:latin typeface="맑은 고딕"/>
                <a:ea typeface="맑은 고딕"/>
              </a:rPr>
              <a:t>표적 1 대함 30 m/s, 표적 2 대공 200 m/s</a:t>
            </a:r>
          </a:p>
        </p:txBody>
      </p:sp>
      <p:sp>
        <p:nvSpPr>
          <p:cNvPr id="29" name="Rounded Rectangle 28"/>
          <p:cNvSpPr/>
          <p:nvPr/>
        </p:nvSpPr>
        <p:spPr>
          <a:xfrm>
            <a:off x="640080" y="27980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27980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시간</a:t>
            </a:r>
          </a:p>
        </p:txBody>
      </p:sp>
      <p:sp>
        <p:nvSpPr>
          <p:cNvPr id="31" name="TextBox 30"/>
          <p:cNvSpPr txBox="1"/>
          <p:nvPr/>
        </p:nvSpPr>
        <p:spPr>
          <a:xfrm>
            <a:off x="1664208" y="27980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116 s, 스캔 간격 0.1 s → 1,160 스캔</a:t>
            </a:r>
          </a:p>
        </p:txBody>
      </p:sp>
      <p:sp>
        <p:nvSpPr>
          <p:cNvPr id="32" name="Rounded Rectangle 31"/>
          <p:cNvSpPr/>
          <p:nvPr/>
        </p:nvSpPr>
        <p:spPr>
          <a:xfrm>
            <a:off x="640080" y="31638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31638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플롯</a:t>
            </a:r>
          </a:p>
        </p:txBody>
      </p:sp>
      <p:sp>
        <p:nvSpPr>
          <p:cNvPr id="34" name="TextBox 33"/>
          <p:cNvSpPr txBox="1"/>
          <p:nvPr/>
        </p:nvSpPr>
        <p:spPr>
          <a:xfrm>
            <a:off x="1664208" y="31638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SNR 20 · 표적 2 + 클러터 5 = 스캔당 7 개</a:t>
            </a:r>
          </a:p>
        </p:txBody>
      </p:sp>
      <p:sp>
        <p:nvSpPr>
          <p:cNvPr id="35" name="Rounded Rectangle 34"/>
          <p:cNvSpPr/>
          <p:nvPr/>
        </p:nvSpPr>
        <p:spPr>
          <a:xfrm>
            <a:off x="640080" y="352958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352958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개시</a:t>
            </a:r>
          </a:p>
        </p:txBody>
      </p:sp>
      <p:sp>
        <p:nvSpPr>
          <p:cNvPr id="37" name="TextBox 36"/>
          <p:cNvSpPr txBox="1"/>
          <p:nvPr/>
        </p:nvSpPr>
        <p:spPr>
          <a:xfrm>
            <a:off x="1664208" y="352958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2-Point, V_max 800 m/s</a:t>
            </a:r>
          </a:p>
        </p:txBody>
      </p:sp>
      <p:sp>
        <p:nvSpPr>
          <p:cNvPr id="38" name="Rounded Rectangle 37"/>
          <p:cNvSpPr/>
          <p:nvPr/>
        </p:nvSpPr>
        <p:spPr>
          <a:xfrm>
            <a:off x="640080" y="389534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389534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R</a:t>
            </a:r>
          </a:p>
        </p:txBody>
      </p:sp>
      <p:sp>
        <p:nvSpPr>
          <p:cNvPr id="40" name="TextBox 39"/>
          <p:cNvSpPr txBox="1"/>
          <p:nvPr/>
        </p:nvSpPr>
        <p:spPr>
          <a:xfrm>
            <a:off x="1664208" y="389534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σr 10 m, σaz 0.2°, σel 0.2°</a:t>
            </a:r>
          </a:p>
        </p:txBody>
      </p:sp>
      <p:sp>
        <p:nvSpPr>
          <p:cNvPr id="41" name="Rounded Rectangle 40"/>
          <p:cNvSpPr/>
          <p:nvPr/>
        </p:nvSpPr>
        <p:spPr>
          <a:xfrm>
            <a:off x="640080" y="426110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426110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관리</a:t>
            </a:r>
          </a:p>
        </p:txBody>
      </p:sp>
      <p:sp>
        <p:nvSpPr>
          <p:cNvPr id="43" name="TextBox 42"/>
          <p:cNvSpPr txBox="1"/>
          <p:nvPr/>
        </p:nvSpPr>
        <p:spPr>
          <a:xfrm>
            <a:off x="1664208" y="426110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스코어 5 / 0 / 5, 개시 스코어 2</a:t>
            </a:r>
          </a:p>
        </p:txBody>
      </p:sp>
      <p:sp>
        <p:nvSpPr>
          <p:cNvPr id="44" name="Rounded Rectangle 43"/>
          <p:cNvSpPr/>
          <p:nvPr/>
        </p:nvSpPr>
        <p:spPr>
          <a:xfrm>
            <a:off x="640080" y="46268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46268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연관</a:t>
            </a:r>
          </a:p>
        </p:txBody>
      </p:sp>
      <p:sp>
        <p:nvSpPr>
          <p:cNvPr id="46" name="TextBox 45"/>
          <p:cNvSpPr txBox="1"/>
          <p:nvPr/>
        </p:nvSpPr>
        <p:spPr>
          <a:xfrm>
            <a:off x="1664208" y="46268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없음 → Assigned_Flag 0 고정</a:t>
            </a:r>
          </a:p>
        </p:txBody>
      </p:sp>
      <p:sp>
        <p:nvSpPr>
          <p:cNvPr id="47" name="Rounded Rectangle 46"/>
          <p:cNvSpPr/>
          <p:nvPr/>
        </p:nvSpPr>
        <p:spPr>
          <a:xfrm>
            <a:off x="640080" y="49926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49926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전송</a:t>
            </a:r>
          </a:p>
        </p:txBody>
      </p:sp>
      <p:sp>
        <p:nvSpPr>
          <p:cNvPr id="49" name="TextBox 48"/>
          <p:cNvSpPr txBox="1"/>
          <p:nvPr/>
        </p:nvSpPr>
        <p:spPr>
          <a:xfrm>
            <a:off x="1664208" y="49926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UDP 루프백 · 보냄 = 받음 = 1,160</a:t>
            </a:r>
          </a:p>
        </p:txBody>
      </p:sp>
      <p:pic>
        <p:nvPicPr>
          <p:cNvPr id="50" name="Picture 49" descr="ui_s701_both.png"/>
          <p:cNvPicPr>
            <a:picLocks noChangeAspect="1"/>
          </p:cNvPicPr>
          <p:nvPr/>
        </p:nvPicPr>
        <p:blipFill>
          <a:blip r:embed="rId2"/>
          <a:stretch>
            <a:fillRect/>
          </a:stretch>
        </p:blipFill>
        <p:spPr>
          <a:xfrm>
            <a:off x="5148072" y="2286000"/>
            <a:ext cx="6400800" cy="3944951"/>
          </a:xfrm>
          <a:prstGeom prst="rect">
            <a:avLst/>
          </a:prstGeom>
          <a:ln w="9525">
            <a:solidFill>
              <a:srgbClr val="D2D9E5"/>
            </a:solidFill>
          </a:ln>
        </p:spPr>
      </p:pic>
      <p:sp>
        <p:nvSpPr>
          <p:cNvPr id="51" name="TextBox 50"/>
          <p:cNvSpPr txBox="1"/>
          <p:nvPr/>
        </p:nvSpPr>
        <p:spPr>
          <a:xfrm>
            <a:off x="4892040" y="6236208"/>
            <a:ext cx="6656832" cy="228600"/>
          </a:xfrm>
          <a:prstGeom prst="rect">
            <a:avLst/>
          </a:prstGeom>
          <a:noFill/>
        </p:spPr>
        <p:txBody>
          <a:bodyPr wrap="square" lIns="0" rIns="0" tIns="0" bIns="0" anchor="t">
            <a:spAutoFit/>
          </a:bodyPr>
          <a:lstStyle/>
          <a:p>
            <a:pPr algn="l">
              <a:spcAft>
                <a:spcPts val="0"/>
              </a:spcAft>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4.2 True · Plot · Track 동시 표시 (스캔 701)</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701 (70.1 s) 화면. 참값 궤적, 지금까지의 플롯 · 클러터, 지금 스캔의 트랙 심볼을 한 그림에 겹쳐 그립니다.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 끌어서 회전</a:t>
            </a:r>
          </a:p>
        </p:txBody>
      </p:sp>
      <p:sp>
        <p:nvSpPr>
          <p:cNvPr id="30" name="TextBox 29"/>
          <p:cNvSpPr txBox="1"/>
          <p:nvPr/>
        </p:nvSpPr>
        <p:spPr>
          <a:xfrm>
            <a:off x="640080" y="5998464"/>
            <a:ext cx="2057400"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참값 궤적 · ○ 시작점</a:t>
            </a:r>
          </a:p>
        </p:txBody>
      </p:sp>
      <p:sp>
        <p:nvSpPr>
          <p:cNvPr id="31" name="TextBox 30"/>
          <p:cNvSpPr txBox="1"/>
          <p:nvPr/>
        </p:nvSpPr>
        <p:spPr>
          <a:xfrm>
            <a:off x="2697480" y="5998464"/>
            <a:ext cx="2414015"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 (큰 점 = 지금 스캔)</a:t>
            </a:r>
          </a:p>
        </p:txBody>
      </p:sp>
      <p:sp>
        <p:nvSpPr>
          <p:cNvPr id="32" name="TextBox 31"/>
          <p:cNvSpPr txBox="1"/>
          <p:nvPr/>
        </p:nvSpPr>
        <p:spPr>
          <a:xfrm>
            <a:off x="5111496" y="5998464"/>
            <a:ext cx="868680"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3" name="TextBox 32"/>
          <p:cNvSpPr txBox="1"/>
          <p:nvPr/>
        </p:nvSpPr>
        <p:spPr>
          <a:xfrm>
            <a:off x="5980176" y="5998464"/>
            <a:ext cx="749808"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a:t>
            </a:r>
          </a:p>
        </p:txBody>
      </p:sp>
      <p:sp>
        <p:nvSpPr>
          <p:cNvPr id="34" name="TextBox 33"/>
          <p:cNvSpPr txBox="1"/>
          <p:nvPr/>
        </p:nvSpPr>
        <p:spPr>
          <a:xfrm>
            <a:off x="6729984" y="5998464"/>
            <a:ext cx="749808" cy="237744"/>
          </a:xfrm>
          <a:prstGeom prst="rect">
            <a:avLst/>
          </a:prstGeom>
          <a:noFill/>
        </p:spPr>
        <p:txBody>
          <a:bodyPr wrap="square" lIns="0" rIns="0" tIns="0" bIns="0" anchor="t">
            <a:spAutoFit/>
          </a:bodyPr>
          <a:lstStyle/>
          <a:p>
            <a:pPr algn="l">
              <a:spcAft>
                <a:spcPts val="0"/>
              </a:spcAft>
            </a:pPr>
            <a:r>
              <a:rPr sz="1050" b="1" i="0">
                <a:solidFill>
                  <a:srgbClr val="059669"/>
                </a:solidFill>
                <a:latin typeface="맑은 고딕"/>
                <a:ea typeface="맑은 고딕"/>
              </a:rPr>
              <a:t>■ 확정</a:t>
            </a:r>
          </a:p>
        </p:txBody>
      </p:sp>
      <p:sp>
        <p:nvSpPr>
          <p:cNvPr id="35" name="TextBox 34"/>
          <p:cNvSpPr txBox="1"/>
          <p:nvPr/>
        </p:nvSpPr>
        <p:spPr>
          <a:xfrm>
            <a:off x="7479792" y="5998464"/>
            <a:ext cx="868680" cy="237744"/>
          </a:xfrm>
          <a:prstGeom prst="rect">
            <a:avLst/>
          </a:prstGeom>
          <a:noFill/>
        </p:spPr>
        <p:txBody>
          <a:bodyPr wrap="square" lIns="0" rIns="0" tIns="0" bIns="0" anchor="t">
            <a:spAutoFit/>
          </a:bodyPr>
          <a:lstStyle/>
          <a:p>
            <a:pPr algn="l">
              <a:spcAft>
                <a:spcPts val="0"/>
              </a:spcAft>
            </a:pPr>
            <a:r>
              <a:rPr sz="1050" b="1" i="0">
                <a:solidFill>
                  <a:srgbClr val="7C3AED"/>
                </a:solidFill>
                <a:latin typeface="맑은 고딕"/>
                <a:ea typeface="맑은 고딕"/>
              </a:rPr>
              <a:t>⬚ 메모리</a:t>
            </a:r>
          </a:p>
        </p:txBody>
      </p:sp>
      <p:sp>
        <p:nvSpPr>
          <p:cNvPr id="36" name="TextBox 35"/>
          <p:cNvSpPr txBox="1"/>
          <p:nvPr/>
        </p:nvSpPr>
        <p:spPr>
          <a:xfrm>
            <a:off x="8348471" y="5998464"/>
            <a:ext cx="749808"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삭제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4.3 한 스캔 확대: 트랙이 만들어지는 모습 (스캔 1154)</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표적 2 가 레이다 가까이 온 스캔 1154 를 확대했습니다. 두 스캔의 플롯이 게이트 안이면 트랙을 만들고, 연관이 없는 트랙은 두 스캔 뒤 삭제됩니다.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zoom.png"/>
          <p:cNvPicPr>
            <a:picLocks noChangeAspect="1"/>
          </p:cNvPicPr>
          <p:nvPr/>
        </p:nvPicPr>
        <p:blipFill>
          <a:blip r:embed="rId2"/>
          <a:stretch>
            <a:fillRect/>
          </a:stretch>
        </p:blipFill>
        <p:spPr>
          <a:xfrm>
            <a:off x="566928" y="2194560"/>
            <a:ext cx="6035040" cy="3926910"/>
          </a:xfrm>
          <a:prstGeom prst="rect">
            <a:avLst/>
          </a:prstGeom>
        </p:spPr>
      </p:pic>
      <p:sp>
        <p:nvSpPr>
          <p:cNvPr id="27" name="Oval 26"/>
          <p:cNvSpPr/>
          <p:nvPr/>
        </p:nvSpPr>
        <p:spPr>
          <a:xfrm>
            <a:off x="6903720" y="2304288"/>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8" name="TextBox 27"/>
          <p:cNvSpPr txBox="1"/>
          <p:nvPr/>
        </p:nvSpPr>
        <p:spPr>
          <a:xfrm>
            <a:off x="7287768" y="228600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게이트: 앞 스캔 플롯에서 반경 80 m</a:t>
            </a:r>
          </a:p>
          <a:p>
            <a:pPr algn="l">
              <a:spcAft>
                <a:spcPts val="100"/>
              </a:spcAft>
            </a:pPr>
            <a:r>
              <a:rPr sz="1050" b="0" i="0">
                <a:solidFill>
                  <a:srgbClr val="4A5A7A"/>
                </a:solidFill>
                <a:latin typeface="맑은 고딕"/>
                <a:ea typeface="맑은 고딕"/>
              </a:rPr>
              <a:t>최대 속도 800 m/s × 스캔 간격 0.1 s</a:t>
            </a:r>
          </a:p>
        </p:txBody>
      </p:sp>
      <p:sp>
        <p:nvSpPr>
          <p:cNvPr id="29" name="Oval 28"/>
          <p:cNvSpPr/>
          <p:nvPr/>
        </p:nvSpPr>
        <p:spPr>
          <a:xfrm>
            <a:off x="6903720" y="2898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0" name="TextBox 29"/>
          <p:cNvSpPr txBox="1"/>
          <p:nvPr/>
        </p:nvSpPr>
        <p:spPr>
          <a:xfrm>
            <a:off x="7287768" y="288036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이번 스캔 플롯까지 31 m → 게이트 안</a:t>
            </a:r>
          </a:p>
          <a:p>
            <a:pPr algn="l">
              <a:spcAft>
                <a:spcPts val="100"/>
              </a:spcAft>
            </a:pPr>
            <a:r>
              <a:rPr sz="1050" b="0" i="0">
                <a:solidFill>
                  <a:srgbClr val="4A5A7A"/>
                </a:solidFill>
                <a:latin typeface="맑은 고딕"/>
                <a:ea typeface="맑은 고딕"/>
              </a:rPr>
              <a:t>이 두 플롯으로 트랙 451 개시 (임시, 점수 2)</a:t>
            </a:r>
          </a:p>
        </p:txBody>
      </p:sp>
      <p:sp>
        <p:nvSpPr>
          <p:cNvPr id="31" name="Oval 30"/>
          <p:cNvSpPr/>
          <p:nvPr/>
        </p:nvSpPr>
        <p:spPr>
          <a:xfrm>
            <a:off x="6903720" y="349300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2" name="TextBox 31"/>
          <p:cNvSpPr txBox="1"/>
          <p:nvPr/>
        </p:nvSpPr>
        <p:spPr>
          <a:xfrm>
            <a:off x="7287768" y="347472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속도 = 31 m ÷ 0.1 s ≈ 310 m/s</a:t>
            </a:r>
          </a:p>
          <a:p>
            <a:pPr algn="l">
              <a:spcAft>
                <a:spcPts val="100"/>
              </a:spcAft>
            </a:pPr>
            <a:r>
              <a:rPr sz="1050" b="0" i="0">
                <a:solidFill>
                  <a:srgbClr val="4A5A7A"/>
                </a:solidFill>
                <a:latin typeface="맑은 고딕"/>
                <a:ea typeface="맑은 고딕"/>
              </a:rPr>
              <a:t>플롯의 측정 잡음 때문에 참값 200 m/s 와 차이가 남</a:t>
            </a:r>
          </a:p>
        </p:txBody>
      </p:sp>
      <p:sp>
        <p:nvSpPr>
          <p:cNvPr id="33" name="Oval 32"/>
          <p:cNvSpPr/>
          <p:nvPr/>
        </p:nvSpPr>
        <p:spPr>
          <a:xfrm>
            <a:off x="6903720" y="40873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34" name="TextBox 33"/>
          <p:cNvSpPr txBox="1"/>
          <p:nvPr/>
        </p:nvSpPr>
        <p:spPr>
          <a:xfrm>
            <a:off x="7287768" y="406908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트랙 450: 두 스캔 전 (스캔 1152) 에 개시</a:t>
            </a:r>
          </a:p>
          <a:p>
            <a:pPr algn="l">
              <a:spcAft>
                <a:spcPts val="100"/>
              </a:spcAft>
            </a:pPr>
            <a:r>
              <a:rPr sz="1050" b="0" i="0">
                <a:solidFill>
                  <a:srgbClr val="4A5A7A"/>
                </a:solidFill>
                <a:latin typeface="맑은 고딕"/>
                <a:ea typeface="맑은 고딕"/>
              </a:rPr>
              <a:t>연관이 없어 점수 2 → 1 → 0, 이번 스캔에 삭제</a:t>
            </a:r>
          </a:p>
        </p:txBody>
      </p:sp>
      <p:sp>
        <p:nvSpPr>
          <p:cNvPr id="35" name="TextBox 34"/>
          <p:cNvSpPr txBox="1"/>
          <p:nvPr/>
        </p:nvSpPr>
        <p:spPr>
          <a:xfrm>
            <a:off x="6903720" y="4864608"/>
            <a:ext cx="4645152" cy="256032"/>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스캔 1154 의 트랙 표</a:t>
            </a:r>
          </a:p>
        </p:txBody>
      </p:sp>
      <p:graphicFrame>
        <p:nvGraphicFramePr>
          <p:cNvPr id="36" name="Table 35"/>
          <p:cNvGraphicFramePr>
            <a:graphicFrameLocks noGrp="1"/>
          </p:cNvGraphicFramePr>
          <p:nvPr/>
        </p:nvGraphicFramePr>
        <p:xfrm>
          <a:off x="6903720" y="5138928"/>
          <a:ext cx="4645152" cy="822960"/>
        </p:xfrm>
        <a:graphic>
          <a:graphicData uri="http://schemas.openxmlformats.org/drawingml/2006/table">
            <a:tbl>
              <a:tblPr firstRow="0" bandRow="0">
                <a:tableStyleId>{5C22544A-7EE6-4342-B048-85BDC9FD1C3A}</a:tableStyleId>
              </a:tblPr>
              <a:tblGrid>
                <a:gridCol w="731520"/>
                <a:gridCol w="1005840"/>
                <a:gridCol w="914400"/>
                <a:gridCol w="1078992"/>
                <a:gridCol w="914400"/>
              </a:tblGrid>
              <a:tr h="274320">
                <a:tc>
                  <a:txBody>
                    <a:bodyPr/>
                    <a:lstStyle/>
                    <a:p>
                      <a:pPr algn="ctr"/>
                      <a:r>
                        <a:rPr sz="1000" b="1" i="0">
                          <a:solidFill>
                            <a:srgbClr val="FFFFFF"/>
                          </a:solidFill>
                          <a:latin typeface="맑은 고딕"/>
                          <a:ea typeface="맑은 고딕"/>
                        </a:rPr>
                        <a:t>트랙 ID</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TrackState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TrackScore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Assigned_Flag</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개시 스캔</a:t>
                      </a:r>
                    </a:p>
                  </a:txBody>
                  <a:tcPr marL="54864" marR="54864" marT="9144" marB="9144" anchor="ctr">
                    <a:solidFill>
                      <a:srgbClr val="1B2740"/>
                    </a:solidFill>
                  </a:tcPr>
                </a:tc>
              </a:tr>
              <a:tr h="274320">
                <a:tc>
                  <a:txBody>
                    <a:bodyPr/>
                    <a:lstStyle/>
                    <a:p>
                      <a:pPr algn="ctr"/>
                      <a:r>
                        <a:rPr sz="1000" b="1" i="0">
                          <a:solidFill>
                            <a:srgbClr val="D97706"/>
                          </a:solidFill>
                          <a:latin typeface="맑은 고딕"/>
                          <a:ea typeface="맑은 고딕"/>
                        </a:rPr>
                        <a:t>451</a:t>
                      </a:r>
                    </a:p>
                  </a:txBody>
                  <a:tcPr marL="54864" marR="54864" marT="9144" marB="9144" anchor="ctr">
                    <a:solidFill>
                      <a:srgbClr val="FEF5E7"/>
                    </a:solidFill>
                  </a:tcPr>
                </a:tc>
                <a:tc>
                  <a:txBody>
                    <a:bodyPr/>
                    <a:lstStyle/>
                    <a:p>
                      <a:pPr algn="ctr"/>
                      <a:r>
                        <a:rPr sz="1000" b="1" i="0">
                          <a:solidFill>
                            <a:srgbClr val="D97706"/>
                          </a:solidFill>
                          <a:latin typeface="맑은 고딕"/>
                          <a:ea typeface="맑은 고딕"/>
                        </a:rPr>
                        <a:t>1 임시</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2</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0</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1154</a:t>
                      </a:r>
                    </a:p>
                  </a:txBody>
                  <a:tcPr marL="54864" marR="54864" marT="9144" marB="9144" anchor="ctr">
                    <a:solidFill>
                      <a:srgbClr val="FEF5E7"/>
                    </a:solidFill>
                  </a:tcPr>
                </a:tc>
              </a:tr>
              <a:tr h="274320">
                <a:tc>
                  <a:txBody>
                    <a:bodyPr/>
                    <a:lstStyle/>
                    <a:p>
                      <a:pPr algn="ctr"/>
                      <a:r>
                        <a:rPr sz="1000" b="1" i="0">
                          <a:solidFill>
                            <a:srgbClr val="6B7280"/>
                          </a:solidFill>
                          <a:latin typeface="맑은 고딕"/>
                          <a:ea typeface="맑은 고딕"/>
                        </a:rPr>
                        <a:t>450</a:t>
                      </a:r>
                    </a:p>
                  </a:txBody>
                  <a:tcPr marL="54864" marR="54864" marT="9144" marB="9144" anchor="ctr">
                    <a:solidFill>
                      <a:srgbClr val="F7F9FC"/>
                    </a:solidFill>
                  </a:tcPr>
                </a:tc>
                <a:tc>
                  <a:txBody>
                    <a:bodyPr/>
                    <a:lstStyle/>
                    <a:p>
                      <a:pPr algn="ctr"/>
                      <a:r>
                        <a:rPr sz="1000" b="1" i="0">
                          <a:solidFill>
                            <a:srgbClr val="6B7280"/>
                          </a:solidFill>
                          <a:latin typeface="맑은 고딕"/>
                          <a:ea typeface="맑은 고딕"/>
                        </a:rPr>
                        <a:t>4 삭제</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1152</a:t>
                      </a:r>
                    </a:p>
                  </a:txBody>
                  <a:tcPr marL="54864" marR="54864" marT="9144" marB="9144" anchor="ctr">
                    <a:solidFill>
                      <a:srgbClr val="F7F9F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4.4 트랙 수명과 스코어 로직 확인</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연관이 없어 모든 트랙이 2 → 1 → 0 으로 내려가 개시 두 스캔 뒤 삭제됩니다. 확정 · 메모리 전환은 스코어 확인 창에 Flag 를 넣어 확인했습니다.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life.png"/>
          <p:cNvPicPr>
            <a:picLocks noChangeAspect="1"/>
          </p:cNvPicPr>
          <p:nvPr/>
        </p:nvPicPr>
        <p:blipFill>
          <a:blip r:embed="rId2"/>
          <a:stretch>
            <a:fillRect/>
          </a:stretch>
        </p:blipFill>
        <p:spPr>
          <a:xfrm>
            <a:off x="566928" y="2240280"/>
            <a:ext cx="6766560" cy="2606040"/>
          </a:xfrm>
          <a:prstGeom prst="rect">
            <a:avLst/>
          </a:prstGeom>
        </p:spPr>
      </p:pic>
      <p:sp>
        <p:nvSpPr>
          <p:cNvPr id="27" name="TextBox 26"/>
          <p:cNvSpPr txBox="1"/>
          <p:nvPr/>
        </p:nvSpPr>
        <p:spPr>
          <a:xfrm>
            <a:off x="640080" y="4937760"/>
            <a:ext cx="1600200" cy="502920"/>
          </a:xfrm>
          <a:prstGeom prst="rect">
            <a:avLst/>
          </a:prstGeom>
          <a:noFill/>
        </p:spPr>
        <p:txBody>
          <a:bodyPr wrap="square" lIns="0" rIns="0" tIns="0" bIns="0" anchor="t">
            <a:spAutoFit/>
          </a:bodyPr>
          <a:lstStyle/>
          <a:p>
            <a:pPr algn="l">
              <a:spcAft>
                <a:spcPts val="0"/>
              </a:spcAft>
            </a:pPr>
            <a:r>
              <a:rPr sz="2400" b="1" i="0">
                <a:solidFill>
                  <a:srgbClr val="1B2740"/>
                </a:solidFill>
                <a:latin typeface="Arial"/>
                <a:ea typeface="맑은 고딕"/>
              </a:rPr>
              <a:t>355</a:t>
            </a:r>
          </a:p>
        </p:txBody>
      </p:sp>
      <p:sp>
        <p:nvSpPr>
          <p:cNvPr id="28" name="TextBox 27"/>
          <p:cNvSpPr txBox="1"/>
          <p:nvPr/>
        </p:nvSpPr>
        <p:spPr>
          <a:xfrm>
            <a:off x="64008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만든 트랙</a:t>
            </a:r>
          </a:p>
        </p:txBody>
      </p:sp>
      <p:sp>
        <p:nvSpPr>
          <p:cNvPr id="29" name="TextBox 28"/>
          <p:cNvSpPr txBox="1"/>
          <p:nvPr/>
        </p:nvSpPr>
        <p:spPr>
          <a:xfrm>
            <a:off x="2331720" y="4937760"/>
            <a:ext cx="1600200" cy="502920"/>
          </a:xfrm>
          <a:prstGeom prst="rect">
            <a:avLst/>
          </a:prstGeom>
          <a:noFill/>
        </p:spPr>
        <p:txBody>
          <a:bodyPr wrap="square" lIns="0" rIns="0" tIns="0" bIns="0" anchor="t">
            <a:spAutoFit/>
          </a:bodyPr>
          <a:lstStyle/>
          <a:p>
            <a:pPr algn="l">
              <a:spcAft>
                <a:spcPts val="0"/>
              </a:spcAft>
            </a:pPr>
            <a:r>
              <a:rPr sz="2400" b="1" i="0">
                <a:solidFill>
                  <a:srgbClr val="2563EB"/>
                </a:solidFill>
                <a:latin typeface="Arial"/>
                <a:ea typeface="맑은 고딕"/>
              </a:rPr>
              <a:t>352</a:t>
            </a:r>
          </a:p>
        </p:txBody>
      </p:sp>
      <p:sp>
        <p:nvSpPr>
          <p:cNvPr id="30" name="TextBox 29"/>
          <p:cNvSpPr txBox="1"/>
          <p:nvPr/>
        </p:nvSpPr>
        <p:spPr>
          <a:xfrm>
            <a:off x="233172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같은 표적 플롯 쌍</a:t>
            </a:r>
          </a:p>
        </p:txBody>
      </p:sp>
      <p:sp>
        <p:nvSpPr>
          <p:cNvPr id="31" name="TextBox 30"/>
          <p:cNvSpPr txBox="1"/>
          <p:nvPr/>
        </p:nvSpPr>
        <p:spPr>
          <a:xfrm>
            <a:off x="4023360" y="4937760"/>
            <a:ext cx="1600200" cy="502920"/>
          </a:xfrm>
          <a:prstGeom prst="rect">
            <a:avLst/>
          </a:prstGeom>
          <a:noFill/>
        </p:spPr>
        <p:txBody>
          <a:bodyPr wrap="square" lIns="0" rIns="0" tIns="0" bIns="0" anchor="t">
            <a:spAutoFit/>
          </a:bodyPr>
          <a:lstStyle/>
          <a:p>
            <a:pPr algn="l">
              <a:spcAft>
                <a:spcPts val="0"/>
              </a:spcAft>
            </a:pPr>
            <a:r>
              <a:rPr sz="2400" b="1" i="0">
                <a:solidFill>
                  <a:srgbClr val="6B7280"/>
                </a:solidFill>
                <a:latin typeface="Arial"/>
                <a:ea typeface="맑은 고딕"/>
              </a:rPr>
              <a:t>3</a:t>
            </a:r>
          </a:p>
        </p:txBody>
      </p:sp>
      <p:sp>
        <p:nvSpPr>
          <p:cNvPr id="32" name="TextBox 31"/>
          <p:cNvSpPr txBox="1"/>
          <p:nvPr/>
        </p:nvSpPr>
        <p:spPr>
          <a:xfrm>
            <a:off x="402336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클러터끼리 쌍</a:t>
            </a:r>
          </a:p>
        </p:txBody>
      </p:sp>
      <p:sp>
        <p:nvSpPr>
          <p:cNvPr id="33" name="TextBox 32"/>
          <p:cNvSpPr txBox="1"/>
          <p:nvPr/>
        </p:nvSpPr>
        <p:spPr>
          <a:xfrm>
            <a:off x="5715000" y="4937760"/>
            <a:ext cx="1600200" cy="502920"/>
          </a:xfrm>
          <a:prstGeom prst="rect">
            <a:avLst/>
          </a:prstGeom>
          <a:noFill/>
        </p:spPr>
        <p:txBody>
          <a:bodyPr wrap="square" lIns="0" rIns="0" tIns="0" bIns="0" anchor="t">
            <a:spAutoFit/>
          </a:bodyPr>
          <a:lstStyle/>
          <a:p>
            <a:pPr algn="l">
              <a:spcAft>
                <a:spcPts val="0"/>
              </a:spcAft>
            </a:pPr>
            <a:r>
              <a:rPr sz="2400" b="1" i="0">
                <a:solidFill>
                  <a:srgbClr val="D97706"/>
                </a:solidFill>
                <a:latin typeface="Arial"/>
                <a:ea typeface="맑은 고딕"/>
              </a:rPr>
              <a:t>4</a:t>
            </a:r>
          </a:p>
        </p:txBody>
      </p:sp>
      <p:sp>
        <p:nvSpPr>
          <p:cNvPr id="34" name="TextBox 33"/>
          <p:cNvSpPr txBox="1"/>
          <p:nvPr/>
        </p:nvSpPr>
        <p:spPr>
          <a:xfrm>
            <a:off x="571500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표의 최대 트랙 수</a:t>
            </a:r>
          </a:p>
        </p:txBody>
      </p:sp>
      <p:sp>
        <p:nvSpPr>
          <p:cNvPr id="35" name="TextBox 34"/>
          <p:cNvSpPr txBox="1"/>
          <p:nvPr/>
        </p:nvSpPr>
        <p:spPr>
          <a:xfrm>
            <a:off x="640080" y="5779008"/>
            <a:ext cx="6675120" cy="4572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트랙 ID 100 ~ 454 사용 (과제 범위 100 ~ 10000),  플롯 ID 10000 ~ 18119 사용 (과제 범위 10000 ~ 1000000)</a:t>
            </a:r>
          </a:p>
        </p:txBody>
      </p:sp>
      <p:pic>
        <p:nvPicPr>
          <p:cNvPr id="36" name="Picture 35" descr="ui_score_p2.png"/>
          <p:cNvPicPr>
            <a:picLocks noChangeAspect="1"/>
          </p:cNvPicPr>
          <p:nvPr/>
        </p:nvPicPr>
        <p:blipFill>
          <a:blip r:embed="rId3"/>
          <a:stretch>
            <a:fillRect/>
          </a:stretch>
        </p:blipFill>
        <p:spPr>
          <a:xfrm>
            <a:off x="7589520" y="2286000"/>
            <a:ext cx="3959352" cy="3196492"/>
          </a:xfrm>
          <a:prstGeom prst="rect">
            <a:avLst/>
          </a:prstGeom>
          <a:ln w="9525">
            <a:solidFill>
              <a:srgbClr val="D2D9E5"/>
            </a:solidFill>
          </a:ln>
        </p:spPr>
      </p:pic>
      <p:sp>
        <p:nvSpPr>
          <p:cNvPr id="37" name="TextBox 36"/>
          <p:cNvSpPr txBox="1"/>
          <p:nvPr/>
        </p:nvSpPr>
        <p:spPr>
          <a:xfrm>
            <a:off x="7589520" y="5514672"/>
            <a:ext cx="3959352" cy="4572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스코어 확인 창: Flag 1 1 1 0 0 1 1</a:t>
            </a:r>
          </a:p>
          <a:p>
            <a:pPr algn="l">
              <a:spcAft>
                <a:spcPts val="0"/>
              </a:spcAft>
            </a:pPr>
            <a:r>
              <a:rPr sz="1000" b="0" i="0">
                <a:solidFill>
                  <a:srgbClr val="4A5A7A"/>
                </a:solidFill>
                <a:latin typeface="맑은 고딕"/>
                <a:ea typeface="맑은 고딕"/>
              </a:rPr>
              <a:t>임시 → 확정 (5) → 메모리 → 다시 확정 (MemoryScore 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4.5 전체 궤적 (시뮬레이션 마지막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1159 (115.9 s), 116 초를 끝까지 돌린 화면입니다. 두 표적의 참값 궤적 전체와 그동안 받은 플롯 · 클러터가 모두 그려져 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full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full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a:t>
            </a:r>
          </a:p>
        </p:txBody>
      </p:sp>
      <p:sp>
        <p:nvSpPr>
          <p:cNvPr id="30" name="TextBox 29"/>
          <p:cNvSpPr txBox="1"/>
          <p:nvPr/>
        </p:nvSpPr>
        <p:spPr>
          <a:xfrm>
            <a:off x="640080" y="5998464"/>
            <a:ext cx="1933956" cy="237744"/>
          </a:xfrm>
          <a:prstGeom prst="rect">
            <a:avLst/>
          </a:prstGeom>
          <a:noFill/>
        </p:spPr>
        <p:txBody>
          <a:bodyPr wrap="square" lIns="0" rIns="0" tIns="0" bIns="0" anchor="t">
            <a:spAutoFit/>
          </a:bodyPr>
          <a:lstStyle/>
          <a:p>
            <a:pPr algn="l">
              <a:spcAft>
                <a:spcPts val="0"/>
              </a:spcAft>
            </a:pPr>
            <a:r>
              <a:rPr sz="1050" b="1" i="0">
                <a:solidFill>
                  <a:srgbClr val="2563EB"/>
                </a:solidFill>
                <a:latin typeface="맑은 고딕"/>
                <a:ea typeface="맑은 고딕"/>
              </a:rPr>
              <a:t>━ 표적 1 대함 30 m/s</a:t>
            </a:r>
          </a:p>
        </p:txBody>
      </p:sp>
      <p:sp>
        <p:nvSpPr>
          <p:cNvPr id="31" name="TextBox 30"/>
          <p:cNvSpPr txBox="1"/>
          <p:nvPr/>
        </p:nvSpPr>
        <p:spPr>
          <a:xfrm>
            <a:off x="2574036" y="5998464"/>
            <a:ext cx="2011680" cy="237744"/>
          </a:xfrm>
          <a:prstGeom prst="rect">
            <a:avLst/>
          </a:prstGeom>
          <a:noFill/>
        </p:spPr>
        <p:txBody>
          <a:bodyPr wrap="square" lIns="0" rIns="0" tIns="0" bIns="0" anchor="t">
            <a:spAutoFit/>
          </a:bodyPr>
          <a:lstStyle/>
          <a:p>
            <a:pPr algn="l">
              <a:spcAft>
                <a:spcPts val="0"/>
              </a:spcAft>
            </a:pPr>
            <a:r>
              <a:rPr sz="1050" b="1" i="0">
                <a:solidFill>
                  <a:srgbClr val="DC2626"/>
                </a:solidFill>
                <a:latin typeface="맑은 고딕"/>
                <a:ea typeface="맑은 고딕"/>
              </a:rPr>
              <a:t>━ 표적 2 대공 200 m/s</a:t>
            </a:r>
          </a:p>
        </p:txBody>
      </p:sp>
      <p:sp>
        <p:nvSpPr>
          <p:cNvPr id="32" name="TextBox 31"/>
          <p:cNvSpPr txBox="1"/>
          <p:nvPr/>
        </p:nvSpPr>
        <p:spPr>
          <a:xfrm>
            <a:off x="4585716" y="5998464"/>
            <a:ext cx="1010412"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시작점</a:t>
            </a:r>
          </a:p>
        </p:txBody>
      </p:sp>
      <p:sp>
        <p:nvSpPr>
          <p:cNvPr id="33" name="TextBox 32"/>
          <p:cNvSpPr txBox="1"/>
          <p:nvPr/>
        </p:nvSpPr>
        <p:spPr>
          <a:xfrm>
            <a:off x="5596128" y="5998464"/>
            <a:ext cx="864108"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a:t>
            </a:r>
          </a:p>
        </p:txBody>
      </p:sp>
      <p:sp>
        <p:nvSpPr>
          <p:cNvPr id="34" name="TextBox 33"/>
          <p:cNvSpPr txBox="1"/>
          <p:nvPr/>
        </p:nvSpPr>
        <p:spPr>
          <a:xfrm>
            <a:off x="6460236" y="5998464"/>
            <a:ext cx="941832"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5" name="TextBox 34"/>
          <p:cNvSpPr txBox="1"/>
          <p:nvPr/>
        </p:nvSpPr>
        <p:spPr>
          <a:xfrm>
            <a:off x="7402068" y="5998464"/>
            <a:ext cx="1234440"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 트랙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2788920"/>
            <a:ext cx="6766560" cy="731520"/>
          </a:xfrm>
          <a:prstGeom prst="rect">
            <a:avLst/>
          </a:prstGeom>
          <a:noFill/>
        </p:spPr>
        <p:txBody>
          <a:bodyPr wrap="square" lIns="0" rIns="0" tIns="0" bIns="0" anchor="t">
            <a:spAutoFit/>
          </a:bodyPr>
          <a:lstStyle/>
          <a:p>
            <a:pPr algn="r">
              <a:spcAft>
                <a:spcPts val="0"/>
              </a:spcAft>
            </a:pPr>
            <a:r>
              <a:rPr sz="3600" b="1" i="0">
                <a:solidFill>
                  <a:srgbClr val="FFFFFF"/>
                </a:solidFill>
                <a:latin typeface="맑은 고딕"/>
                <a:ea typeface="맑은 고딕"/>
              </a:rPr>
              <a:t>감사합니다</a:t>
            </a:r>
          </a:p>
        </p:txBody>
      </p:sp>
      <p:cxnSp>
        <p:nvCxnSpPr>
          <p:cNvPr id="3" name="Connector 2"/>
          <p:cNvCxnSpPr/>
          <p:nvPr/>
        </p:nvCxnSpPr>
        <p:spPr>
          <a:xfrm>
            <a:off x="7863840" y="3675887"/>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206240" y="3803904"/>
            <a:ext cx="6766560" cy="310896"/>
          </a:xfrm>
          <a:prstGeom prst="rect">
            <a:avLst/>
          </a:prstGeom>
          <a:noFill/>
        </p:spPr>
        <p:txBody>
          <a:bodyPr wrap="square" lIns="0" rIns="0" tIns="0" bIns="0" anchor="t">
            <a:spAutoFit/>
          </a:bodyPr>
          <a:lstStyle/>
          <a:p>
            <a:pPr algn="r">
              <a:spcAft>
                <a:spcPts val="0"/>
              </a:spcAft>
            </a:pPr>
            <a:r>
              <a:rPr sz="1300" b="0" i="0">
                <a:solidFill>
                  <a:srgbClr val="AEB9CC"/>
                </a:solidFill>
                <a:latin typeface="맑은 고딕"/>
                <a:ea typeface="맑은 고딕"/>
              </a:rPr>
              <a:t>질문 주시면 편하게 답변드리겠습니다</a:t>
            </a:r>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