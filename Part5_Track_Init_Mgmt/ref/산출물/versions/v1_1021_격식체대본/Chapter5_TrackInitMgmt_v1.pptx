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6"/>
    <p:sldId id="276" r:id="rId5"/>
    <p:sldId id="277" r:id="rId4"/>
    <p:sldId id="278" r:id="rId3"/>
    <p:sldId id="279" r:id="rId2"/>
    <p:sldId id="280" r:id="rId31"/>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b5945cf-05e3-b14d-c6ff-aef2bff3cb02}">
          <p14:sldIdLst>
            <p14:sldId id="256"/>
            <p14:sldId id="257"/>
          </p14:sldIdLst>
        </p14:section>
        <p14:section name="01 플롯" id="{0f5810f4-50ba-7392-e208-ecc21c93235a}">
          <p14:sldIdLst>
            <p14:sldId id="258"/>
            <p14:sldId id="259"/>
            <p14:sldId id="260"/>
            <p14:sldId id="261"/>
            <p14:sldId id="262"/>
            <p14:sldId id="263"/>
            <p14:sldId id="264"/>
            <p14:sldId id="265"/>
          </p14:sldIdLst>
        </p14:section>
        <p14:section name="02 클러터" id="{50886d5c-d02a-e7aa-da24-16c77f7475c7}">
          <p14:sldIdLst>
            <p14:sldId id="266"/>
            <p14:sldId id="267"/>
            <p14:sldId id="268"/>
          </p14:sldIdLst>
        </p14:section>
        <p14:section name="03 구현" id="{fadd100c-6470-8d1f-9d3a-2049fb54abdf}">
          <p14:sldIdLst>
            <p14:sldId id="269"/>
            <p14:sldId id="270"/>
            <p14:sldId id="271"/>
            <p14:sldId id="272"/>
            <p14:sldId id="273"/>
            <p14:sldId id="274"/>
          </p14:sldIdLst>
        </p14:section>
        <p14:section name="04 결과" id="{e36c4d74-5342-a93f-b28d-bc920de806eb}">
          <p14:sldIdLst>
            <p14:sldId id="275"/>
            <p14:sldId id="276"/>
            <p14:sldId id="277"/>
            <p14:sldId id="278"/>
          </p14:sldIdLst>
        </p14:section>
        <p14:section name="마무리" id="{9395e1f0-5a4b-3464-c223-c7d7ed14ad9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5 발표를 시작하겠습니다. 주제는 트랙 개시와 트랙 관리입니다.</a:t>
            </a:r>
          </a:p>
          <a:p>
            <a:r>
              <a:t>과제 4에서는 표적 플롯과 클러터를 만들었습니다. 이번 과제에서는 그 플롯을 받아 트랙을 만들고, 만든 트랙의 상태를 관리하는 기능을 구현했습니다.</a:t>
            </a:r>
          </a:p>
          <a:p>
            <a:r>
              <a:t>개념, 구현, 결과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네 부분으로 진행하겠습니다.</a:t>
            </a:r>
          </a:p>
          <a:p>
            <a:r>
              <a:t>첫 번째는 트랙을 처음 만드는 트랙 개시, 두 번째는 만든 트랙의 상태를 관리하는 트랙 관리입니다.</a:t>
            </a:r>
          </a:p>
          <a:p>
            <a:r>
              <a:t>세 번째로 C 코드 구현을 보고, 마지막으로 실행 결과와 과제 요구사항 점검 순서로 마무리하겠습니다.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파트는 트랙 개시입니다.</a:t>
            </a:r>
          </a:p>
          <a:p>
            <a:r>
              <a:t>플롯과 트랙의 차이, 1-Point와 2-Point 개시 방법, 2-Point 초기값 계산, 측정잡음 공분산 R, 속도 게이팅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과제의 위치입니다. 과제 3에서 표적의 참값 궤적을 만들었고, 과제 4에서 참값에 잡음을 더한 플롯과 클러터를 만들었습니다. 과제 5는 그 다음 단계입니다.</a:t>
            </a:r>
          </a:p>
          <a:p>
            <a:r>
              <a:t>왼쪽 그림이 레이다가 넘겨주는 정보입니다. 스캔마다 점이 찍히지만, 각 점이 표적인지 클러터인지는 알 수 없습니다.</a:t>
            </a:r>
          </a:p>
          <a:p>
            <a:r>
              <a:t>오른쪽 그림처럼 같은 물체로 판단되는 플롯을 묶고, 번호와 위치, 속도, 상태를 부여한 것이 트랙입니다.</a:t>
            </a:r>
          </a:p>
          <a:p>
            <a:r>
              <a:t>이번 과제는 트랙을 처음 만드는 개시와, 트랙 상태를 관리하는 기능을 구현하는 것입니다. 새 플롯을 기존 트랙에 이어 붙이는 연관과 추적 필터는 다음 과제에서 다루게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개시 방법은 두 가지입니다.</a:t>
            </a:r>
          </a:p>
          <a:p>
            <a:r>
              <a:t>1-Point 개시는 플롯 하나로 트랙을 만드는 방법입니다. 위치는 플롯 위치를 그대로 쓰지만, 점 하나로는 움직이는 방향을 알 수 없어 속도를 0으로 둡니다. 그래서 개시는 가장 빠르지만 초기 속도 오차가 크게 됩니다.</a:t>
            </a:r>
          </a:p>
          <a:p>
            <a:r>
              <a:t>2-Point 개시는 연속된 두 스캔의 플롯을 사용합니다. 두 플롯의 위치 차이를 시간 차로 나누어 속도를 구하기 때문에 1-Point보다 속도 오차가 작습니다. 대신 두 번째 스캔까지 기다려야 하므로 개시가 한 스캔 늦어집니다.</a:t>
            </a:r>
          </a:p>
          <a:p>
            <a:r>
              <a:t>이번 과제에서는 2-Point 개시를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개시의 계산식입니다.</a:t>
            </a:r>
          </a:p>
          <a:p>
            <a:r>
              <a:t>상태 변수는 과제에서 정한 대로 x, y, z 축마다 위치, 속도, 가속도를 가지는 9개입니다. 좌표계는 레이다를 원점으로 하는 북-동-아래, VC-NED 좌표계를 사용했습니다.</a:t>
            </a:r>
          </a:p>
          <a:p>
            <a:r>
              <a:t>초기 상태는 축마다 같은 식으로 계산합니다. 위치는 이번 스캔 플롯, 속도는 두 플롯의 위치 차를 시간 차 T로 나눈 값, 가속도는 과제 조건에 따라 0입니다.</a:t>
            </a:r>
          </a:p>
          <a:p>
            <a:r>
              <a:t>초기 오차 공분산 P는 오른쪽 그림과 같은 9 곱하기 9 행렬입니다. 위치 칸에는 이번 플롯의 측정잡음 R, 위치와 속도 사이에는 R을 T로 나눈 값, 속도 칸에는 두 플롯의 R을 더해 T 제곱으로 나눈 값이 들어갑니다. 회색으로 표시한 가속도 행과 열은 모두 0입니다.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P를 계산하려면 플롯 하나의 위치 오차, 즉 측정잡음 공분산 R이 필요합니다.</a:t>
            </a:r>
          </a:p>
          <a:p>
            <a:r>
              <a:t>과제에서는 R을 구성하는 표준편차로 거리 10미터, 방위각과 고각 0.2도를 주었습니다.</a:t>
            </a:r>
          </a:p>
          <a:p>
            <a:r>
              <a:t>레이다는 거리와 각도로 측정하고 트랙은 직교 좌표로 관리하기 때문에, 오른쪽 위 식과 같이 변환합니다. 야코비안 J로 구좌표 오차를 안테나 직교 좌표로 옮기고, 회전 행렬 M으로 NED 좌표로 돌립니다.</a:t>
            </a:r>
          </a:p>
          <a:p>
            <a:r>
              <a:t>아래 그림처럼 각도 오차는 거리에 비례하는 위치 오차가 됩니다. 14킬로미터 거리에서 0.2도는 약 49미터입니다. 그래서 R은 시선 방향으로는 좁고 옆 방향으로는 넓은 타원이 됩니다. 플롯마다 거리와 방향이 다르기 때문에 R은 플롯마다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어떤 두 플롯으로 트랙을 만들지 정하는 속도 게이팅입니다.</a:t>
            </a:r>
          </a:p>
          <a:p>
            <a:r>
              <a:t>앞 스캔과 이번 스캔의 플롯을 모두 짝지으면 클러터끼리도 트랙이 만들어집니다. 그래서 표적이 가질 수 있는 최대 속도 V_max로 짝을 거릅니다.</a:t>
            </a:r>
          </a:p>
          <a:p>
            <a:r>
              <a:t>두 플롯 사이 거리를 시간 차로 나눈 값이 V_max보다 작을 때만 트랙을 개시합니다. 과제 조건은 800 m/s이고 스캔 간격이 0.1초이므로, 앞 플롯을 중심으로 반경 80미터 안에 들어온 플롯만 짝이 됩니다.</a:t>
            </a:r>
          </a:p>
          <a:p>
            <a:r>
              <a:t>오른쪽 그림에서 A와 a, C와 c는 원 안에 있어 트랙이 되고, B와 b는 원 밖이라 제외됩니다. 짝이 없는 d는 다음 스캔의 후보로 남습니다.</a:t>
            </a:r>
          </a:p>
          <a:p>
            <a:r>
              <a:t>구현에서는 게이트를 통과한 쌍이 여러 개이면 가장 가까운 쌍부터 선택하고, 한 플롯은 한 트랙에만 사용하도록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파트는 트랙 관리입니다.</a:t>
            </a:r>
          </a:p>
          <a:p>
            <a:r>
              <a:t>개시된 트랙이 모두 실제 표적은 아니기 때문에, 트랙마다 상태를 두고 연관 결과에 따라 상태를 바꾸게 됩니다. 트랙 상태 네 가지와 M/N 방식, 트랙 스코어 방식을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상태는 과제에서 정한 대로 네 가지입니다.</a:t>
            </a:r>
          </a:p>
          <a:p>
            <a:r>
              <a:t>1번 임시 트랙은 막 개시된 트랙입니다. 연관이 계속 성공해 확정 조건을 만족하면 2번 확정 트랙이 됩니다.</a:t>
            </a:r>
          </a:p>
          <a:p>
            <a:r>
              <a:t>확정 트랙이 연관에 실패하면 바로 삭제하지 않고 3번 메모리 트랙으로 전환합니다. 메모리 트랙은 다시 연관되면 확정 트랙으로 돌아가고, 삭제 조건을 만족하면 4번 삭제 트랙이 됩니다. 임시 트랙도 삭제 조건을 만족하면 삭제됩니다.</a:t>
            </a:r>
          </a:p>
          <a:p>
            <a:r>
              <a:t>연관 결과는 Assigned_Flag로 받습니다. 1이면 성공, 0이면 실패입니다.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관리 방식은 M/N 방식입니다.</a:t>
            </a:r>
          </a:p>
          <a:p>
            <a:r>
              <a:t>최근 N번의 스캔 가운데 M번 연관에 성공하면 트랙을 확정합니다. 그림은 N이 5, M이 3인 예시로, 최근 다섯 스캔에서 네 번 성공했으므로 확정 트랙이 됩니다.</a:t>
            </a:r>
          </a:p>
          <a:p>
            <a:r>
              <a:t>임시 트랙은 M번 연속으로 결합에 실패하면 삭제합니다. 확정 트랙은 연관에 실패하면 메모리 트랙으로 전환하고, 메모리 상태가 일정 시간 이상 유지되면 삭제합니다.</a:t>
            </a:r>
          </a:p>
          <a:p>
            <a:r>
              <a:t>성공과 실패 횟수로 판단하기 때문에 규칙이 단순하고, 트랙마다 최근 N번의 이력을 관리하게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트랙 스코어 방식이며, 이번 과제에서 적용한 방식입니다.</a:t>
            </a:r>
          </a:p>
          <a:p>
            <a:r>
              <a:t>오른쪽 규칙을 보겠습니다. 임시 트랙은 연관에 성공하면 TrackScore를 1 올리고, 실패하면 1 내립니다. TrackScore가 확정 문턱치 5 이상이 되면 확정, 삭제 문턱치 0 이하가 되면 삭제합니다.</a:t>
            </a:r>
          </a:p>
          <a:p>
            <a:r>
              <a:t>확정 트랙은 연관에 실패하면 메모리 트랙으로 전환하고 MemoryScore를 1 올립니다.</a:t>
            </a:r>
          </a:p>
          <a:p>
            <a:r>
              <a:t>메모리 트랙은 연관에 성공하면 바로 확정 트랙으로 돌아가고 MemoryScore를 0으로 초기화합니다. 실패가 이어져 MemoryScore가 5 이상이 되면 삭제합니다.</a:t>
            </a:r>
          </a:p>
          <a:p>
            <a:r>
              <a:t>왼쪽 그래프는 성공 세 번, 실패 두 번, 성공 한 번, 이후 계속 실패한 경우의 점수 변화입니다. 개시 직후 TrackScore는 플롯 두 개로 만든 트랙이므로 2로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파트는 구현입니다.</a:t>
            </a:r>
          </a:p>
          <a:p>
            <a:r>
              <a:t>과제 4의 TargetSim 프로그램에 플롯 메시지 송수신 쓰레드와 트랙 개시, 관리 모듈을 추가했습니다. 전체 구조, 플롯 메시지, 자료구조, 개시 코드, 스코어 코드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구조입니다. 위쪽 회색 영역이 C로 작성한 코어 DLL이고, 아래가 MFC 화면입니다.</a:t>
            </a:r>
          </a:p>
          <a:p>
            <a:r>
              <a:t>윗줄의 궤적 계산과 측정 모의는 과제 3, 4의 코드입니다. 0.1초마다 표적 상태를 계산하고, 표적 플롯과 클러터 5개를 만듭니다.</a:t>
            </a:r>
          </a:p>
          <a:p>
            <a:r>
              <a:t>이번에 추가한 부분은 파란색의 송신 쓰레드와 수신 쓰레드입니다. 송신 쓰레드는 신호처리 역할로, 스캔마다 플롯 메시지를 하나씩 만들어 UDP로 전송합니다. 수신 쓰레드는 데이터 처리 역할로, 메시지를 받아 VC-NED 좌표로 변환하고 R을 계산한 뒤 트랙 개시와 관리 함수를 호출합니다.</a:t>
            </a:r>
          </a:p>
          <a:p>
            <a:r>
              <a:t>처리 결과는 스캔마다 버퍼에 저장되고, 화면은 50밀리초마다 결과를 가져와 그림과 트랙 표로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플롯 메시지 구조체 STRUCT_PlotMsg입니다. 스캔 하나에 메시지 하나를 전송합니다.</a:t>
            </a:r>
          </a:p>
          <a:p>
            <a:r>
              <a:t>1번 PlotNum은 메시지에 담긴 플롯 수입니다. 표적 2개와 클러터 5개로 7개이며, 메시지 크기는 919바이트입니다.</a:t>
            </a:r>
          </a:p>
          <a:p>
            <a:r>
              <a:t>2번은 측정잡음 표준편차 칸입니다. 과제 값인 10미터, 0.2도, 0.2도를 실어 보내고, 수신 쪽은 이 값으로 R을 계산합니다.</a:t>
            </a:r>
          </a:p>
          <a:p>
            <a:r>
              <a:t>3번과 같이 송신 쪽은 플롯마다 안테나 기준의 거리, 방위각, 고각만 채웁니다. 나머지 좌표는 수신 쪽에서 계산합니다. 표적과 클러터를 구분하는 정보는 메시지에 넣지 않습니다.</a:t>
            </a:r>
          </a:p>
          <a:p>
            <a:r>
              <a:t>4번은 스캔 시각의 플랫폼 정보와 플롯 배열이고, 5번은 플롯 ID입니다. 플롯 ID는 과제 조건대로 10000부터 1씩 증가하고, 1000000 다음에는 10000으로 돌아갑니다.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자료구조와 처리 순서입니다.</a:t>
            </a:r>
          </a:p>
          <a:p>
            <a:r>
              <a:t>왼쪽은 트랙 하나를 나타내는 구조체입니다. TrackId, TrackState, TrackScore, MemoryScore, Assigned_Flag, mat_EstX, mat_EstP는 과제 명세의 이름을 그대로 사용했습니다. 아래는 과제 조건을 정의한 상수입니다.</a:t>
            </a:r>
          </a:p>
          <a:p>
            <a:r>
              <a:t>오른쪽은 수신 쓰레드가 메시지를 받을 때마다 수행하는 네 단계입니다.</a:t>
            </a:r>
          </a:p>
          <a:p>
            <a:r>
              <a:t>첫째, 앞 스캔에서 삭제 상태가 된 트랙을 트랙 표에서 제거합니다.</a:t>
            </a:r>
          </a:p>
          <a:p>
            <a:r>
              <a:t>둘째, 트랙 관리입니다. 연관 기능이 아직 없으므로 과제 조건에 따라 모든 트랙의 Assigned_Flag를 0으로 두고 스코어 로직을 수행합니다.</a:t>
            </a:r>
          </a:p>
          <a:p>
            <a:r>
              <a:t>셋째, 2-Point 개시입니다. 속도 게이트를 통과한 쌍으로 트랙을 만들고 트랙 ID를 부여합니다. 트랙 ID는 100부터 순서대로 부여하고, 10000 다음에는 100으로 돌아갑니다.</a:t>
            </a:r>
          </a:p>
          <a:p>
            <a:r>
              <a:t>넷째, 이번 스캔 플롯을 다음 스캔의 개시 후보로 보관합니다.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초기화 함수입니다. 앞에서 설명한 식을 그대로 구현했습니다.</a:t>
            </a:r>
          </a:p>
          <a:p>
            <a:r>
              <a:t>1번은 위치로, 이번 플롯 위치를 넣습니다. 2번은 속도로, 두 플롯의 위치 차를 시간 차로 나눕니다. 3번은 가속도로, 0을 넣습니다.</a:t>
            </a:r>
          </a:p>
          <a:p>
            <a:r>
              <a:t>4번은 오차 공분산 P를 채우는 부분입니다. 위치, 위치와 속도, 속도 칸에 각각 R, R 나누기 T, 두 R의 합 나누기 T 제곱이 들어갑니다. 가속도 칸은 행렬 초기화 함수가 0으로 채운 값을 그대로 유지합니다.</a:t>
            </a:r>
          </a:p>
          <a:p>
            <a:r>
              <a:t>오른쪽 5번은 R을 구성하는 표준편차를 반환하는 함수입니다. 과제 값인 10미터와 0.2도를 라디안으로 변환해 반환하고, f_Trk_MeasCov 함수가 이 값으로 NED 좌표의 R을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스코어 로직 함수입니다. 과제의 규칙을 switch 문으로 구현했습니다.</a:t>
            </a:r>
          </a:p>
          <a:p>
            <a:r>
              <a:t>왼쪽은 임시 트랙입니다. 1번에서 연관 결과에 따라 TrackScore를 1 올리거나 내리고, 2번에서 5 이상이면 확정, 3번에서 0 이하이면 삭제합니다.</a:t>
            </a:r>
          </a:p>
          <a:p>
            <a:r>
              <a:t>오른쪽 4번은 확정 트랙으로, 연관에 실패하면 메모리 트랙으로 전환하고 MemoryScore를 1 올립니다.</a:t>
            </a:r>
          </a:p>
          <a:p>
            <a:r>
              <a:t>5번은 메모리 트랙으로, 연관에 성공하면 바로 확정 트랙으로 돌아가고 MemoryScore를 0으로 초기화합니다. 실패하면 MemoryScore를 올리고, 3번과 같이 5 이상이 되면 삭제합니다.</a:t>
            </a:r>
          </a:p>
          <a:p>
            <a:r>
              <a:t>문턱치는 모두 헤더의 상수를 사용하며, 이 함수는 화면의 스코어 확인 창에서도 그대로 사용됩니다.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파트는 결과입니다.</a:t>
            </a:r>
          </a:p>
          <a:p>
            <a:r>
              <a:t>실행 화면과 결과 수치를 확인하고, 과제 요구사항 점검으로 마무리하겠습니다.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조건과 실행 화면입니다.</a:t>
            </a:r>
          </a:p>
          <a:p>
            <a:r>
              <a:t>시나리오는 과제 3의 지그재그 응용 시나리오입니다. 플랫폼은 정지해 있고, 대함 표적은 30 m/s, 대공 표적은 200 m/s로 기동합니다. 116초 동안 0.1초 간격으로 1,160 스캔이며, 스캔마다 표적 플롯 2개와 클러터 5개가 생성됩니다.</a:t>
            </a:r>
          </a:p>
          <a:p>
            <a:r>
              <a:t>개시와 관리 조건은 과제 값을 그대로 사용했고, 연관 기능이 없으므로 Assigned_Flag는 항상 0입니다.</a:t>
            </a:r>
          </a:p>
          <a:p>
            <a:r>
              <a:t>오른쪽은 실제 실행 화면입니다. 위쪽이 2D와 3D 그림, 왼쪽 아래가 송수신과 트랙 요약, 오른쪽 아래가 현재 스캔의 트랙 표입니다. 플롯 메시지 1,160개를 모두 송수신해 처리한 것을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과제의 결과 화면 조건인 True, Plot, Track 심볼의 동시 표시입니다. 스캔 701, 70.1초 시점입니다.</a:t>
            </a:r>
          </a:p>
          <a:p>
            <a:r>
              <a:t>왼쪽 2D 그림은 위경도 격자 위에 그렸습니다. 선이 참값 궤적, 동그라미가 현재 참값 위치, 작은 점이 플롯과 클러터입니다. 표적 근처의 주황색 네모가 임시 트랙, 회색 네모가 삭제 트랙이며, 옆의 숫자는 트랙 ID입니다.</a:t>
            </a:r>
          </a:p>
          <a:p>
            <a:r>
              <a:t>오른쪽 3D 그림은 고도를 2배로 늘려 표시했습니다. 고도 축을 대공 표적 높이의 두 배로 잡아, 대공 표적이 가운데 높이에 오고 주변 클러터 사이의 플롯과 트랙을 함께 볼 수 있도록 했습니다.</a:t>
            </a:r>
          </a:p>
          <a:p>
            <a:r>
              <a:t>아래 기호는 화면 범례와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스캔을 표적 주변만 확대한 그림입니다. 현재 참값 위치를 원점으로 두었습니다.</a:t>
            </a:r>
          </a:p>
          <a:p>
            <a:r>
              <a:t>표적 1을 보면, 흰 동그라미가 앞 스캔 플롯, 검은 동그라미가 이번 스캔 플롯입니다. 두 플롯이 속도 게이트를 통과해 이번 플롯 위치에 임시 트랙 284가 개시되었습니다. 화살표는 두 플롯으로 구한 속도이고, 점선 타원은 오차 공분산의 위치 1시그마입니다.</a:t>
            </a:r>
          </a:p>
          <a:p>
            <a:r>
              <a:t>회색 네모 282는 두 스캔 전에 개시된 트랙으로, 연관이 없어 TrackScore가 2, 1, 0으로 내려가 이번 스캔에 삭제 상태가 되었습니다.</a:t>
            </a:r>
          </a:p>
          <a:p>
            <a:r>
              <a:t>아래 트랙 표에서도 같은 내용을 확인할 수 있습니다. 284와 285는 임시 상태에 TrackScore 2, 282와 283은 삭제 상태에 TrackScore 0이며, Assigned_Flag는 모두 0입니다.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116초 동안의 트랙 생성 결과입니다.</a:t>
            </a:r>
          </a:p>
          <a:p>
            <a:r>
              <a:t>위쪽의 세로선 하나가 트랙 하나가 개시된 시각입니다. 표적 1에서 117개, 표적 2에서 235개, 클러터끼리 3개로 모두 355개의 트랙이 개시되었습니다.</a:t>
            </a:r>
          </a:p>
          <a:p>
            <a:r>
              <a:t>아래쪽은 스캔마다 트랙 표에 남아 있는 트랙 수입니다. 연관이 없어 모든 트랙의 TrackScore가 2, 1, 0으로 내려가고, 개시 두 스캔 뒤 삭제되므로 많아야 4개입니다.</a:t>
            </a:r>
          </a:p>
          <a:p>
            <a:r>
              <a:t>같은 이유로 시뮬레이션에서는 확정과 메모리 상태가 나타나지 않습니다. 이 두 상태는 오른쪽의 스코어 확인 창으로 확인했습니다. Assigned_Flag 순서를 입력하면 코어의 스코어 함수를 그대로 호출해 결과를 표시합니다. 1, 1, 1을 입력하면 TrackScore 5에서 확정되고, 0, 0이 이어지면 메모리 트랙으로 전환되며, 다시 1이 들어오면 바로 확정으로 돌아가고 MemoryScore가 0이 됩니다.</a:t>
            </a:r>
          </a:p>
          <a:p>
            <a:r>
              <a:t>트랙 ID와 플롯 ID도 과제 범위 안에서 부여되었습니다.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과제 요구사항 점검표입니다.</a:t>
            </a:r>
          </a:p>
          <a:p>
            <a:r>
              <a:t>트랙 개시는 9차원 상태 변수, 2-Point 개시와 800 m/s 속도 게이트, 가속도 항 0, R 표준편차, 트랙 ID 범위를 모두 구현했고, 각각 단위 시험으로 확인했습니다.</a:t>
            </a:r>
          </a:p>
          <a:p>
            <a:r>
              <a:t>트랙 관리는 문턱치 5, 0, 5와 메모리 트랙의 확정 복귀 규칙, 변수 이름까지 명세대로 구현했습니다.</a:t>
            </a:r>
          </a:p>
          <a:p>
            <a:r>
              <a:t>시뮬레이션은 안테나 구좌표 플롯 메시지의 UDP 송수신, 스캔마다의 플롯 ID 부여, Assigned_Flag 0 처리, 2D와 3D 화면의 True, Plot, Track 동시 표시를 확인했습니다.</a:t>
            </a:r>
          </a:p>
          <a:p>
            <a:r>
              <a:t>이상으로 과제 5의 요구사항을 모두 충족했습니다.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감사합니다.</a:t>
            </a:r>
          </a:p>
          <a:p>
            <a:r>
              <a:t>질문 주시면 답변드리겠습니다.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EX">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740"/>
          </a:solidFill>
          <a:ln/>
        </p:spPr>
      </p:sp>
      <p:sp>
        <p:nvSpPr>
          <p:cNvPr id="3" name="Text 1"/>
          <p:cNvSpPr/>
          <p:nvPr/>
        </p:nvSpPr>
        <p:spPr>
          <a:xfrm>
            <a:off x="777240" y="502920"/>
            <a:ext cx="182880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INDEX</a:t>
            </a:r>
            <a:endParaRPr lang="en-US" sz="2600" dirty="0"/>
          </a:p>
        </p:txBody>
      </p:sp>
      <p:sp>
        <p:nvSpPr>
          <p:cNvPr id="4" name="Shape 2"/>
          <p:cNvSpPr/>
          <p:nvPr/>
        </p:nvSpPr>
        <p:spPr>
          <a:xfrm>
            <a:off x="2103120" y="722376"/>
            <a:ext cx="2103120" cy="0"/>
          </a:xfrm>
          <a:prstGeom prst="line">
            <a:avLst/>
          </a:prstGeom>
          <a:noFill/>
          <a:ln w="9525">
            <a:solidFill>
              <a:srgbClr val="3A4C78"/>
            </a:solidFill>
            <a:prstDash val="solid"/>
          </a:ln>
        </p:spPr>
      </p:sp>
      <p:sp>
        <p:nvSpPr>
          <p:cNvPr id="5" name="Shape 3"/>
          <p:cNvSpPr/>
          <p:nvPr/>
        </p:nvSpPr>
        <p:spPr>
          <a:xfrm>
            <a:off x="4206240" y="722376"/>
            <a:ext cx="7269480" cy="0"/>
          </a:xfrm>
          <a:prstGeom prst="line">
            <a:avLst/>
          </a:prstGeom>
          <a:noFill/>
          <a:ln w="9525">
            <a:solidFill>
              <a:srgbClr val="D2D9E5"/>
            </a:solidFill>
            <a:prstDash val="solid"/>
          </a:ln>
        </p:spPr>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0908792" cy="566928"/>
          </a:xfrm>
          <a:prstGeom prst="rect">
            <a:avLst/>
          </a:prstGeom>
          <a:solidFill>
            <a:srgbClr val="1B2740"/>
          </a:solidFill>
          <a:ln/>
        </p:spPr>
      </p:sp>
      <p:sp>
        <p:nvSpPr>
          <p:cNvPr id="3" name="Shape 1"/>
          <p:cNvSpPr/>
          <p:nvPr/>
        </p:nvSpPr>
        <p:spPr>
          <a:xfrm>
            <a:off x="640080" y="6327648"/>
            <a:ext cx="10908792" cy="0"/>
          </a:xfrm>
          <a:prstGeom prst="line">
            <a:avLst/>
          </a:prstGeom>
          <a:noFill/>
          <a:ln w="9525">
            <a:solidFill>
              <a:srgbClr val="D2D9E5"/>
            </a:solidFill>
            <a:prstDash val="solid"/>
          </a:ln>
        </p:spPr>
      </p:sp>
      <p:sp>
        <p:nvSpPr>
          <p:cNvPr id="4" name="Text 2"/>
          <p:cNvSpPr/>
          <p:nvPr>
            <p:ph idx="102" type="body" hasCustomPrompt="1"/>
          </p:nvPr>
        </p:nvSpPr>
        <p:spPr>
          <a:xfrm>
            <a:off x="896112" y="566928"/>
            <a:ext cx="8229600" cy="566928"/>
          </a:xfrm>
          <a:prstGeom prst="rect">
            <a:avLst/>
          </a:prstGeom>
          <a:noFill/>
          <a:ln/>
        </p:spPr>
        <p:txBody>
          <a:bodyPr wrap="square" rtlCol="0"/>
          <a:lstStyle>
            <a:lvl1pPr algn="l" indent="0" marL="0">
              <a:buNone/>
              <a:defRPr lang="en-US" sz="135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1350" dirty="0"/>
          </a:p>
        </p:txBody>
      </p:sp>
      <p:sp>
        <p:nvSpPr>
          <p:cNvPr id="5" name="Text 2"/>
          <p:cNvSpPr/>
          <p:nvPr>
            <p:ph idx="103" type="title" hasCustomPrompt="1"/>
          </p:nvPr>
        </p:nvSpPr>
        <p:spPr>
          <a:xfrm>
            <a:off x="868680" y="1216152"/>
            <a:ext cx="10451592" cy="438912"/>
          </a:xfrm>
          <a:prstGeom prst="rect">
            <a:avLst/>
          </a:prstGeom>
          <a:noFill/>
          <a:ln/>
        </p:spPr>
        <p:txBody>
          <a:bodyPr wrap="square" rtlCol="0"/>
          <a:lstStyle>
            <a:lvl1pPr algn="l" indent="0" marL="0">
              <a:buNone/>
              <a:defRPr lang="en-US" sz="2100" b="1" dirty="0">
                <a:solidFill>
                  <a:srgbClr val="1B2740"/>
                </a:solidFill>
                <a:latin typeface="맑은 고딕" pitchFamily="34" charset="0"/>
                <a:ea typeface="맑은 고딕" pitchFamily="34" charset="-122"/>
                <a:cs typeface="맑은 고딕" pitchFamily="34" charset="-120"/>
              </a:defRPr>
            </a:lvl1pPr>
          </a:lstStyle>
          <a:p>
            <a:pPr algn="l" indent="0" marL="0">
              <a:buNone/>
            </a:pPr>
            <a:endParaRPr lang="en-US" sz="2100" dirty="0"/>
          </a:p>
        </p:txBody>
      </p:sp>
      <p:sp>
        <p:nvSpPr>
          <p:cNvPr id="6" name="Text 2"/>
          <p:cNvSpPr/>
          <p:nvPr>
            <p:ph idx="104" type="body" hasCustomPrompt="1"/>
          </p:nvPr>
        </p:nvSpPr>
        <p:spPr>
          <a:xfrm>
            <a:off x="868680" y="1700784"/>
            <a:ext cx="10451592" cy="512064"/>
          </a:xfrm>
          <a:prstGeom prst="rect">
            <a:avLst/>
          </a:prstGeom>
          <a:noFill/>
          <a:ln/>
        </p:spPr>
        <p:txBody>
          <a:bodyPr wrap="square" rtlCol="0"/>
          <a:lstStyle>
            <a:lvl1pPr algn="l" indent="0" marL="0">
              <a:lnSpc>
                <a:spcPct val="105000"/>
              </a:lnSpc>
              <a:buNone/>
              <a:defRPr lang="en-US" sz="1250" dirty="0">
                <a:solidFill>
                  <a:srgbClr val="4A5A7A"/>
                </a:solidFill>
                <a:latin typeface="맑은 고딕" pitchFamily="34" charset="0"/>
                <a:ea typeface="맑은 고딕" pitchFamily="34" charset="-122"/>
                <a:cs typeface="맑은 고딕" pitchFamily="34" charset="-120"/>
              </a:defRPr>
            </a:lvl1pPr>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 y="713232"/>
            <a:ext cx="10698480" cy="0"/>
          </a:xfrm>
          <a:prstGeom prst="line">
            <a:avLst/>
          </a:prstGeom>
          <a:noFill/>
          <a:ln w="9525">
            <a:solidFill>
              <a:srgbClr val="AEB9CC"/>
            </a:solidFill>
            <a:prstDash val="solid"/>
          </a:ln>
        </p:spPr>
      </p:sp>
      <p:sp>
        <p:nvSpPr>
          <p:cNvPr id="3" name="Shape 1"/>
          <p:cNvSpPr/>
          <p:nvPr/>
        </p:nvSpPr>
        <p:spPr>
          <a:xfrm>
            <a:off x="749808" y="6336792"/>
            <a:ext cx="10698480" cy="0"/>
          </a:xfrm>
          <a:prstGeom prst="line">
            <a:avLst/>
          </a:prstGeom>
          <a:noFill/>
          <a:ln w="9525">
            <a:solidFill>
              <a:srgbClr val="AEB9CC"/>
            </a:solidFill>
            <a:prstDash val="solid"/>
          </a:ln>
        </p:spPr>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0" y="658368"/>
            <a:ext cx="3017520" cy="274320"/>
          </a:xfrm>
          <a:prstGeom prst="rect">
            <a:avLst/>
          </a:prstGeom>
          <a:noFill/>
        </p:spPr>
        <p:txBody>
          <a:bodyPr wrap="square" lIns="0" rIns="0" tIns="0" bIns="0" anchor="t">
            <a:spAutoFit/>
          </a:bodyPr>
          <a:lstStyle/>
          <a:p>
            <a:pPr algn="r">
              <a:spcAft>
                <a:spcPts val="0"/>
              </a:spcAft>
            </a:pPr>
            <a:r>
              <a:rPr sz="1000" b="1" i="0">
                <a:solidFill>
                  <a:srgbClr val="FFFFFF"/>
                </a:solidFill>
                <a:latin typeface="Arial"/>
                <a:ea typeface="맑은 고딕"/>
              </a:rPr>
              <a:t>Confidential</a:t>
            </a:r>
          </a:p>
        </p:txBody>
      </p:sp>
      <p:sp>
        <p:nvSpPr>
          <p:cNvPr id="3" name="TextBox 2"/>
          <p:cNvSpPr txBox="1"/>
          <p:nvPr/>
        </p:nvSpPr>
        <p:spPr>
          <a:xfrm>
            <a:off x="4206240" y="2505456"/>
            <a:ext cx="6766560" cy="457200"/>
          </a:xfrm>
          <a:prstGeom prst="rect">
            <a:avLst/>
          </a:prstGeom>
          <a:noFill/>
        </p:spPr>
        <p:txBody>
          <a:bodyPr wrap="square" lIns="0" rIns="0" tIns="0" bIns="0" anchor="t">
            <a:spAutoFit/>
          </a:bodyPr>
          <a:lstStyle/>
          <a:p>
            <a:pPr algn="r">
              <a:spcAft>
                <a:spcPts val="0"/>
              </a:spcAft>
            </a:pPr>
            <a:r>
              <a:rPr sz="1400" b="0" i="0">
                <a:solidFill>
                  <a:srgbClr val="AEB9CC"/>
                </a:solidFill>
                <a:latin typeface="맑은 고딕"/>
                <a:ea typeface="맑은 고딕"/>
              </a:rPr>
              <a:t>레이다 SW 학습 과제 5</a:t>
            </a:r>
          </a:p>
        </p:txBody>
      </p:sp>
      <p:sp>
        <p:nvSpPr>
          <p:cNvPr id="4" name="TextBox 3"/>
          <p:cNvSpPr txBox="1"/>
          <p:nvPr/>
        </p:nvSpPr>
        <p:spPr>
          <a:xfrm>
            <a:off x="4206240" y="2944368"/>
            <a:ext cx="6766560" cy="685800"/>
          </a:xfrm>
          <a:prstGeom prst="rect">
            <a:avLst/>
          </a:prstGeom>
          <a:noFill/>
        </p:spPr>
        <p:txBody>
          <a:bodyPr wrap="square" lIns="0" rIns="0" tIns="0" bIns="0" anchor="t">
            <a:spAutoFit/>
          </a:bodyPr>
          <a:lstStyle/>
          <a:p>
            <a:pPr algn="r">
              <a:spcAft>
                <a:spcPts val="0"/>
              </a:spcAft>
            </a:pPr>
            <a:r>
              <a:rPr sz="3800" b="1" i="0">
                <a:solidFill>
                  <a:srgbClr val="FFFFFF"/>
                </a:solidFill>
                <a:latin typeface="맑은 고딕"/>
                <a:ea typeface="맑은 고딕"/>
              </a:rPr>
              <a:t>트랙 개시 · 관리</a:t>
            </a:r>
          </a:p>
        </p:txBody>
      </p:sp>
      <p:cxnSp>
        <p:nvCxnSpPr>
          <p:cNvPr id="5" name="Connector 4"/>
          <p:cNvCxnSpPr/>
          <p:nvPr/>
        </p:nvCxnSpPr>
        <p:spPr>
          <a:xfrm>
            <a:off x="7863840" y="3913632"/>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0" y="4059936"/>
            <a:ext cx="6766560" cy="292608"/>
          </a:xfrm>
          <a:prstGeom prst="rect">
            <a:avLst/>
          </a:prstGeom>
          <a:noFill/>
        </p:spPr>
        <p:txBody>
          <a:bodyPr wrap="square" lIns="0" rIns="0" tIns="0" bIns="0" anchor="t">
            <a:spAutoFit/>
          </a:bodyPr>
          <a:lstStyle/>
          <a:p>
            <a:pPr algn="r">
              <a:spcAft>
                <a:spcPts val="0"/>
              </a:spcAft>
            </a:pPr>
            <a:r>
              <a:rPr sz="1300" b="0" i="0">
                <a:solidFill>
                  <a:srgbClr val="AEB9CC"/>
                </a:solidFill>
                <a:latin typeface="Arial"/>
                <a:ea typeface="맑은 고딕"/>
              </a:rPr>
              <a:t>Track Initiation and Track Management</a:t>
            </a:r>
          </a:p>
        </p:txBody>
      </p:sp>
      <p:sp>
        <p:nvSpPr>
          <p:cNvPr id="7" name="TextBox 6"/>
          <p:cNvSpPr txBox="1"/>
          <p:nvPr/>
        </p:nvSpPr>
        <p:spPr>
          <a:xfrm>
            <a:off x="4206240" y="5120640"/>
            <a:ext cx="6766560" cy="292608"/>
          </a:xfrm>
          <a:prstGeom prst="rect">
            <a:avLst/>
          </a:prstGeom>
          <a:noFill/>
        </p:spPr>
        <p:txBody>
          <a:bodyPr wrap="square" lIns="0" rIns="0" tIns="0" bIns="0" anchor="t">
            <a:spAutoFit/>
          </a:bodyPr>
          <a:lstStyle/>
          <a:p>
            <a:pPr algn="r">
              <a:spcAft>
                <a:spcPts val="0"/>
              </a:spcAft>
            </a:pPr>
            <a:r>
              <a:rPr sz="1200" b="0" i="0">
                <a:solidFill>
                  <a:srgbClr val="FFFFFF"/>
                </a:solidFill>
                <a:latin typeface="Arial"/>
                <a:ea typeface="맑은 고딕"/>
              </a:rPr>
              <a:t>Janghwan Kim (Harley)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
        <p:nvSpPr>
          <p:cNvPr id="26" name="TextBox 25"/>
          <p:cNvSpPr txBox="1"/>
          <p:nvPr/>
        </p:nvSpPr>
        <p:spPr>
          <a:xfrm>
            <a:off x="457200" y="2743200"/>
            <a:ext cx="3291840" cy="1188720"/>
          </a:xfrm>
          <a:prstGeom prst="rect">
            <a:avLst/>
          </a:prstGeom>
          <a:noFill/>
        </p:spPr>
        <p:txBody>
          <a:bodyPr wrap="square" lIns="0" rIns="0" tIns="0" bIns="0" anchor="t">
            <a:spAutoFit/>
          </a:bodyPr>
          <a:lstStyle/>
          <a:p>
            <a:pPr algn="ctr">
              <a:spcAft>
                <a:spcPts val="400"/>
              </a:spcAft>
            </a:pPr>
            <a:r>
              <a:rPr sz="1800" b="1" i="0">
                <a:solidFill>
                  <a:srgbClr val="FFFFFF"/>
                </a:solidFill>
                <a:latin typeface="맑은 고딕"/>
                <a:ea typeface="맑은 고딕"/>
              </a:rPr>
              <a:t>트랙 개시 · 관리</a:t>
            </a:r>
          </a:p>
          <a:p>
            <a:pPr algn="ctr">
              <a:spcAft>
                <a:spcPts val="0"/>
              </a:spcAft>
            </a:pPr>
            <a:r>
              <a:rPr sz="1800" b="1" i="0">
                <a:solidFill>
                  <a:srgbClr val="FFFFFF"/>
                </a:solidFill>
                <a:latin typeface="맑은 고딕"/>
                <a:ea typeface="맑은 고딕"/>
              </a:rPr>
              <a:t>TrackMgr</a:t>
            </a:r>
          </a:p>
        </p:txBody>
      </p:sp>
      <p:sp>
        <p:nvSpPr>
          <p:cNvPr id="27" name="TextBox 26"/>
          <p:cNvSpPr txBox="1"/>
          <p:nvPr/>
        </p:nvSpPr>
        <p:spPr>
          <a:xfrm>
            <a:off x="457200" y="6035040"/>
            <a:ext cx="3291840" cy="274320"/>
          </a:xfrm>
          <a:prstGeom prst="rect">
            <a:avLst/>
          </a:prstGeom>
          <a:noFill/>
        </p:spPr>
        <p:txBody>
          <a:bodyPr wrap="square" lIns="0" rIns="0" tIns="0" bIns="0" anchor="t">
            <a:spAutoFit/>
          </a:bodyPr>
          <a:lstStyle/>
          <a:p>
            <a:pPr algn="ctr">
              <a:spcAft>
                <a:spcPts val="0"/>
              </a:spcAft>
            </a:pPr>
            <a:r>
              <a:rPr sz="1000" b="0" i="0">
                <a:solidFill>
                  <a:srgbClr val="AEB9CC"/>
                </a:solidFill>
                <a:latin typeface="Arial"/>
                <a:ea typeface="맑은 고딕"/>
              </a:rPr>
              <a:t>Janghwan Kim (Harley)</a:t>
            </a:r>
          </a:p>
        </p:txBody>
      </p:sp>
      <p:sp>
        <p:nvSpPr>
          <p:cNvPr id="28" name="TextBox 27"/>
          <p:cNvSpPr txBox="1"/>
          <p:nvPr/>
        </p:nvSpPr>
        <p:spPr>
          <a:xfrm>
            <a:off x="4800600" y="1801368"/>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01</a:t>
            </a:r>
          </a:p>
        </p:txBody>
      </p:sp>
      <p:sp>
        <p:nvSpPr>
          <p:cNvPr id="29" name="TextBox 28"/>
          <p:cNvSpPr txBox="1"/>
          <p:nvPr/>
        </p:nvSpPr>
        <p:spPr>
          <a:xfrm>
            <a:off x="5852160" y="1801368"/>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개시</a:t>
            </a:r>
          </a:p>
        </p:txBody>
      </p:sp>
      <p:cxnSp>
        <p:nvCxnSpPr>
          <p:cNvPr id="30" name="Connector 29"/>
          <p:cNvCxnSpPr/>
          <p:nvPr/>
        </p:nvCxnSpPr>
        <p:spPr>
          <a:xfrm>
            <a:off x="7178040" y="2103120"/>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009376" y="1801368"/>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3</a:t>
            </a:r>
          </a:p>
        </p:txBody>
      </p:sp>
      <p:cxnSp>
        <p:nvCxnSpPr>
          <p:cNvPr id="32" name="Connector 31"/>
          <p:cNvCxnSpPr/>
          <p:nvPr/>
        </p:nvCxnSpPr>
        <p:spPr>
          <a:xfrm>
            <a:off x="4800600" y="2459736"/>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800600" y="2569464"/>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02</a:t>
            </a:r>
          </a:p>
        </p:txBody>
      </p:sp>
      <p:sp>
        <p:nvSpPr>
          <p:cNvPr id="34" name="TextBox 33"/>
          <p:cNvSpPr txBox="1"/>
          <p:nvPr/>
        </p:nvSpPr>
        <p:spPr>
          <a:xfrm>
            <a:off x="5852160" y="2569464"/>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관리</a:t>
            </a:r>
          </a:p>
        </p:txBody>
      </p:sp>
      <p:cxnSp>
        <p:nvCxnSpPr>
          <p:cNvPr id="35" name="Connector 34"/>
          <p:cNvCxnSpPr/>
          <p:nvPr/>
        </p:nvCxnSpPr>
        <p:spPr>
          <a:xfrm>
            <a:off x="7178040" y="2871216"/>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1009376" y="2569464"/>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9</a:t>
            </a:r>
          </a:p>
        </p:txBody>
      </p:sp>
      <p:cxnSp>
        <p:nvCxnSpPr>
          <p:cNvPr id="37" name="Connector 36"/>
          <p:cNvCxnSpPr/>
          <p:nvPr/>
        </p:nvCxnSpPr>
        <p:spPr>
          <a:xfrm>
            <a:off x="4800600" y="3227832"/>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800600" y="3337560"/>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03</a:t>
            </a:r>
          </a:p>
        </p:txBody>
      </p:sp>
      <p:sp>
        <p:nvSpPr>
          <p:cNvPr id="39" name="TextBox 38"/>
          <p:cNvSpPr txBox="1"/>
          <p:nvPr/>
        </p:nvSpPr>
        <p:spPr>
          <a:xfrm>
            <a:off x="5852160" y="3337560"/>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구현</a:t>
            </a:r>
          </a:p>
        </p:txBody>
      </p:sp>
      <p:cxnSp>
        <p:nvCxnSpPr>
          <p:cNvPr id="40" name="Connector 39"/>
          <p:cNvCxnSpPr/>
          <p:nvPr/>
        </p:nvCxnSpPr>
        <p:spPr>
          <a:xfrm>
            <a:off x="6519672" y="3639312"/>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1009376" y="3337560"/>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13</a:t>
            </a:r>
          </a:p>
        </p:txBody>
      </p:sp>
      <p:cxnSp>
        <p:nvCxnSpPr>
          <p:cNvPr id="42" name="Connector 41"/>
          <p:cNvCxnSpPr/>
          <p:nvPr/>
        </p:nvCxnSpPr>
        <p:spPr>
          <a:xfrm>
            <a:off x="4800600" y="3995928"/>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800600" y="4105656"/>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04</a:t>
            </a:r>
          </a:p>
        </p:txBody>
      </p:sp>
      <p:sp>
        <p:nvSpPr>
          <p:cNvPr id="44" name="TextBox 43"/>
          <p:cNvSpPr txBox="1"/>
          <p:nvPr/>
        </p:nvSpPr>
        <p:spPr>
          <a:xfrm>
            <a:off x="5852160" y="4105656"/>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결과</a:t>
            </a:r>
          </a:p>
        </p:txBody>
      </p:sp>
      <p:cxnSp>
        <p:nvCxnSpPr>
          <p:cNvPr id="45" name="Connector 44"/>
          <p:cNvCxnSpPr/>
          <p:nvPr/>
        </p:nvCxnSpPr>
        <p:spPr>
          <a:xfrm>
            <a:off x="6519672" y="4407408"/>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009376" y="4105656"/>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01. 트랙 개시</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플롯으로 트랙을 처음 만드는 방법과, 그때 필요한 초기 상태 · 오차 공분산 · 속도 게이트를 설명합니다.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플롯에서 트랙으로</a:t>
            </a:r>
          </a:p>
        </p:txBody>
      </p:sp>
      <p:cxnSp>
        <p:nvCxnSpPr>
          <p:cNvPr id="30" name="Connector 29"/>
          <p:cNvCxnSpPr/>
          <p:nvPr/>
        </p:nvCxnSpPr>
        <p:spPr>
          <a:xfrm>
            <a:off x="3031236" y="2313432"/>
            <a:ext cx="75758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1-Point 와 2-Point 트랙 개시</a:t>
            </a:r>
          </a:p>
        </p:txBody>
      </p:sp>
      <p:cxnSp>
        <p:nvCxnSpPr>
          <p:cNvPr id="34" name="Connector 33"/>
          <p:cNvCxnSpPr/>
          <p:nvPr/>
        </p:nvCxnSpPr>
        <p:spPr>
          <a:xfrm>
            <a:off x="4142232" y="2720339"/>
            <a:ext cx="64648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초기 상태와 오차 공분산</a:t>
            </a:r>
          </a:p>
        </p:txBody>
      </p:sp>
      <p:cxnSp>
        <p:nvCxnSpPr>
          <p:cNvPr id="38" name="Connector 37"/>
          <p:cNvCxnSpPr/>
          <p:nvPr/>
        </p:nvCxnSpPr>
        <p:spPr>
          <a:xfrm>
            <a:off x="4338828" y="3127248"/>
            <a:ext cx="626821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측정잡음 공분산 R (σr 10 m, σaz · σel 0.2°)</a:t>
            </a:r>
          </a:p>
        </p:txBody>
      </p:sp>
      <p:cxnSp>
        <p:nvCxnSpPr>
          <p:cNvPr id="42" name="Connector 41"/>
          <p:cNvCxnSpPr/>
          <p:nvPr/>
        </p:nvCxnSpPr>
        <p:spPr>
          <a:xfrm>
            <a:off x="5545836" y="3534155"/>
            <a:ext cx="50612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속도 게이팅 (V_max = 800 m/s)</a:t>
            </a:r>
          </a:p>
        </p:txBody>
      </p:sp>
      <p:cxnSp>
        <p:nvCxnSpPr>
          <p:cNvPr id="46" name="Connector 45"/>
          <p:cNvCxnSpPr/>
          <p:nvPr/>
        </p:nvCxnSpPr>
        <p:spPr>
          <a:xfrm>
            <a:off x="4238244" y="3941063"/>
            <a:ext cx="636879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1.1 플롯에서 트랙으로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레이다는 스캔마다 점 (플롯) 만 줍니다. 이 점들을 시간 순서로 묶어 "같은 물체" 로 관리하는 단위가 트랙입니다.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45720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레이다 처리 흐름에서의 위치</a:t>
            </a:r>
          </a:p>
        </p:txBody>
      </p:sp>
      <p:sp>
        <p:nvSpPr>
          <p:cNvPr id="27" name="Rectangle 26"/>
          <p:cNvSpPr/>
          <p:nvPr/>
        </p:nvSpPr>
        <p:spPr>
          <a:xfrm>
            <a:off x="640080"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표적 궤적 모의</a:t>
            </a:r>
          </a:p>
        </p:txBody>
      </p:sp>
      <p:sp>
        <p:nvSpPr>
          <p:cNvPr id="29" name="TextBox 28"/>
          <p:cNvSpPr txBox="1"/>
          <p:nvPr/>
        </p:nvSpPr>
        <p:spPr>
          <a:xfrm>
            <a:off x="640080"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3 · 시각별 참값</a:t>
            </a:r>
          </a:p>
        </p:txBody>
      </p:sp>
      <p:cxnSp>
        <p:nvCxnSpPr>
          <p:cNvPr id="30" name="Connector 29"/>
          <p:cNvCxnSpPr/>
          <p:nvPr/>
        </p:nvCxnSpPr>
        <p:spPr>
          <a:xfrm>
            <a:off x="3145536" y="2880360"/>
            <a:ext cx="265175"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456432"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56432"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측정 모의</a:t>
            </a:r>
          </a:p>
        </p:txBody>
      </p:sp>
      <p:sp>
        <p:nvSpPr>
          <p:cNvPr id="33" name="TextBox 32"/>
          <p:cNvSpPr txBox="1"/>
          <p:nvPr/>
        </p:nvSpPr>
        <p:spPr>
          <a:xfrm>
            <a:off x="3456432"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4 · 플롯 · 클러터</a:t>
            </a:r>
          </a:p>
        </p:txBody>
      </p:sp>
      <p:cxnSp>
        <p:nvCxnSpPr>
          <p:cNvPr id="34" name="Connector 33"/>
          <p:cNvCxnSpPr/>
          <p:nvPr/>
        </p:nvCxnSpPr>
        <p:spPr>
          <a:xfrm>
            <a:off x="5961888"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272784" y="2578608"/>
            <a:ext cx="2459736" cy="603504"/>
          </a:xfrm>
          <a:prstGeom prst="rect">
            <a:avLst/>
          </a:prstGeom>
          <a:solidFill>
            <a:srgbClr val="EBF2FE"/>
          </a:solidFill>
          <a:ln w="1524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72784"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트랙 개시 · 관리</a:t>
            </a:r>
          </a:p>
        </p:txBody>
      </p:sp>
      <p:sp>
        <p:nvSpPr>
          <p:cNvPr id="37" name="TextBox 36"/>
          <p:cNvSpPr txBox="1"/>
          <p:nvPr/>
        </p:nvSpPr>
        <p:spPr>
          <a:xfrm>
            <a:off x="6272784" y="2907792"/>
            <a:ext cx="2459736" cy="219456"/>
          </a:xfrm>
          <a:prstGeom prst="rect">
            <a:avLst/>
          </a:prstGeom>
          <a:noFill/>
        </p:spPr>
        <p:txBody>
          <a:bodyPr wrap="square" lIns="0" rIns="0" tIns="0" bIns="0" anchor="t">
            <a:spAutoFit/>
          </a:bodyPr>
          <a:lstStyle/>
          <a:p>
            <a:pPr algn="ctr">
              <a:spcAft>
                <a:spcPts val="0"/>
              </a:spcAft>
            </a:pPr>
            <a:r>
              <a:rPr sz="1050" b="0" i="0">
                <a:solidFill>
                  <a:srgbClr val="4A5A7A"/>
                </a:solidFill>
                <a:latin typeface="맑은 고딕"/>
                <a:ea typeface="맑은 고딕"/>
              </a:rPr>
              <a:t>과제 5 · 이번 과제</a:t>
            </a:r>
          </a:p>
        </p:txBody>
      </p:sp>
      <p:cxnSp>
        <p:nvCxnSpPr>
          <p:cNvPr id="38" name="Connector 37"/>
          <p:cNvCxnSpPr/>
          <p:nvPr/>
        </p:nvCxnSpPr>
        <p:spPr>
          <a:xfrm>
            <a:off x="8778240"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089136"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089136" y="2633472"/>
            <a:ext cx="2459736" cy="274320"/>
          </a:xfrm>
          <a:prstGeom prst="rect">
            <a:avLst/>
          </a:prstGeom>
          <a:noFill/>
        </p:spPr>
        <p:txBody>
          <a:bodyPr wrap="square" lIns="0" rIns="0" tIns="0" bIns="0" anchor="t">
            <a:spAutoFit/>
          </a:bodyPr>
          <a:lstStyle/>
          <a:p>
            <a:pPr algn="ctr">
              <a:spcAft>
                <a:spcPts val="0"/>
              </a:spcAft>
            </a:pPr>
            <a:r>
              <a:rPr sz="1250" b="1" i="0">
                <a:solidFill>
                  <a:srgbClr val="7A879F"/>
                </a:solidFill>
                <a:latin typeface="맑은 고딕"/>
                <a:ea typeface="맑은 고딕"/>
              </a:rPr>
              <a:t>추적 필터 · 트랙 연관</a:t>
            </a:r>
          </a:p>
        </p:txBody>
      </p:sp>
      <p:sp>
        <p:nvSpPr>
          <p:cNvPr id="41" name="TextBox 40"/>
          <p:cNvSpPr txBox="1"/>
          <p:nvPr/>
        </p:nvSpPr>
        <p:spPr>
          <a:xfrm>
            <a:off x="9089136"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다음 과제</a:t>
            </a:r>
          </a:p>
        </p:txBody>
      </p:sp>
      <p:sp>
        <p:nvSpPr>
          <p:cNvPr id="42" name="Rounded Rectangle 41"/>
          <p:cNvSpPr/>
          <p:nvPr/>
        </p:nvSpPr>
        <p:spPr>
          <a:xfrm>
            <a:off x="6784848" y="3255264"/>
            <a:ext cx="859536" cy="23774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00" b="1" i="0">
                <a:solidFill>
                  <a:srgbClr val="2563EB"/>
                </a:solidFill>
                <a:latin typeface="맑은 고딕"/>
                <a:ea typeface="맑은 고딕"/>
              </a:rPr>
              <a:t>이번 과제</a:t>
            </a:r>
          </a:p>
        </p:txBody>
      </p:sp>
      <p:sp>
        <p:nvSpPr>
          <p:cNvPr id="43" name="TextBox 42"/>
          <p:cNvSpPr txBox="1"/>
          <p:nvPr/>
        </p:nvSpPr>
        <p:spPr>
          <a:xfrm>
            <a:off x="9089136" y="3255264"/>
            <a:ext cx="2468880" cy="237744"/>
          </a:xfrm>
          <a:prstGeom prst="rect">
            <a:avLst/>
          </a:prstGeom>
          <a:noFill/>
        </p:spPr>
        <p:txBody>
          <a:bodyPr wrap="square" lIns="0" rIns="0" tIns="0" bIns="0" anchor="t">
            <a:spAutoFit/>
          </a:bodyPr>
          <a:lstStyle/>
          <a:p>
            <a:pPr algn="l">
              <a:spcAft>
                <a:spcPts val="0"/>
              </a:spcAft>
            </a:pPr>
            <a:r>
              <a:rPr sz="1050" b="0" i="0">
                <a:solidFill>
                  <a:srgbClr val="4A5A7A"/>
                </a:solidFill>
                <a:latin typeface="맑은 고딕"/>
                <a:ea typeface="맑은 고딕"/>
              </a:rPr>
              <a:t>연관 · 필터는 다음 과제에서</a:t>
            </a:r>
          </a:p>
        </p:txBody>
      </p:sp>
      <p:cxnSp>
        <p:nvCxnSpPr>
          <p:cNvPr id="44" name="Connector 43"/>
          <p:cNvCxnSpPr/>
          <p:nvPr/>
        </p:nvCxnSpPr>
        <p:spPr>
          <a:xfrm>
            <a:off x="640080" y="3602736"/>
            <a:ext cx="10908792" cy="0"/>
          </a:xfrm>
          <a:prstGeom prst="line">
            <a:avLst/>
          </a:prstGeom>
          <a:ln w="9525">
            <a:solidFill>
              <a:srgbClr val="E3E8F0"/>
            </a:solidFill>
          </a:ln>
        </p:spPr>
        <p:style>
          <a:lnRef idx="2">
            <a:schemeClr val="accent1"/>
          </a:lnRef>
          <a:fillRef idx="0">
            <a:schemeClr val="accent1"/>
          </a:fillRef>
          <a:effectRef idx="1">
            <a:schemeClr val="accent1"/>
          </a:effectRef>
          <a:fontRef idx="minor">
            <a:schemeClr val="tx1"/>
          </a:fontRef>
        </p:style>
      </p:cxnSp>
      <p:pic>
        <p:nvPicPr>
          <p:cNvPr id="45" name="Picture 44" descr="fig_plot_track.png"/>
          <p:cNvPicPr>
            <a:picLocks noChangeAspect="1"/>
          </p:cNvPicPr>
          <p:nvPr/>
        </p:nvPicPr>
        <p:blipFill>
          <a:blip r:embed="rId2"/>
          <a:stretch>
            <a:fillRect/>
          </a:stretch>
        </p:blipFill>
        <p:spPr>
          <a:xfrm>
            <a:off x="685800" y="3648456"/>
            <a:ext cx="7178040" cy="2614224"/>
          </a:xfrm>
          <a:prstGeom prst="rect">
            <a:avLst/>
          </a:prstGeom>
        </p:spPr>
      </p:pic>
      <p:sp>
        <p:nvSpPr>
          <p:cNvPr id="46" name="Rounded Rectangle 45"/>
          <p:cNvSpPr/>
          <p:nvPr/>
        </p:nvSpPr>
        <p:spPr>
          <a:xfrm>
            <a:off x="8366760" y="3749039"/>
            <a:ext cx="1143000" cy="256032"/>
          </a:xfrm>
          <a:prstGeom prst="roundRect">
            <a:avLst>
              <a:gd name="adj" fmla="val 25000"/>
            </a:avLst>
          </a:prstGeom>
          <a:solidFill>
            <a:srgbClr val="FFFFFF"/>
          </a:solidFill>
          <a:ln w="9525">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1B2740"/>
                </a:solidFill>
                <a:latin typeface="맑은 고딕"/>
                <a:ea typeface="맑은 고딕"/>
              </a:rPr>
              <a:t>플롯</a:t>
            </a:r>
          </a:p>
        </p:txBody>
      </p:sp>
      <p:sp>
        <p:nvSpPr>
          <p:cNvPr id="47" name="TextBox 46"/>
          <p:cNvSpPr txBox="1"/>
          <p:nvPr/>
        </p:nvSpPr>
        <p:spPr>
          <a:xfrm>
            <a:off x="8366760" y="4050791"/>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한 스캔에서 탐지된 측정치 하나.</a:t>
            </a:r>
          </a:p>
          <a:p>
            <a:pPr algn="l">
              <a:spcAft>
                <a:spcPts val="0"/>
              </a:spcAft>
            </a:pPr>
            <a:r>
              <a:rPr sz="1050" b="0" i="0">
                <a:solidFill>
                  <a:srgbClr val="1B2740"/>
                </a:solidFill>
                <a:latin typeface="맑은 고딕"/>
                <a:ea typeface="맑은 고딕"/>
              </a:rPr>
              <a:t>거리 · 방위각 · 고각. 표적인지 모름</a:t>
            </a:r>
          </a:p>
        </p:txBody>
      </p:sp>
      <p:sp>
        <p:nvSpPr>
          <p:cNvPr id="48" name="Rounded Rectangle 47"/>
          <p:cNvSpPr/>
          <p:nvPr/>
        </p:nvSpPr>
        <p:spPr>
          <a:xfrm>
            <a:off x="8366760" y="4599431"/>
            <a:ext cx="114300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트랙</a:t>
            </a:r>
          </a:p>
        </p:txBody>
      </p:sp>
      <p:sp>
        <p:nvSpPr>
          <p:cNvPr id="49" name="TextBox 48"/>
          <p:cNvSpPr txBox="1"/>
          <p:nvPr/>
        </p:nvSpPr>
        <p:spPr>
          <a:xfrm>
            <a:off x="8366760" y="4901183"/>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같은 물체라고 묶은 플롯들.</a:t>
            </a:r>
          </a:p>
          <a:p>
            <a:pPr algn="l">
              <a:spcAft>
                <a:spcPts val="0"/>
              </a:spcAft>
            </a:pPr>
            <a:r>
              <a:rPr sz="1050" b="0" i="0">
                <a:solidFill>
                  <a:srgbClr val="1B2740"/>
                </a:solidFill>
                <a:latin typeface="맑은 고딕"/>
                <a:ea typeface="맑은 고딕"/>
              </a:rPr>
              <a:t>ID · 위치 · 속도 · 상태를 가짐</a:t>
            </a:r>
          </a:p>
        </p:txBody>
      </p:sp>
      <p:sp>
        <p:nvSpPr>
          <p:cNvPr id="50" name="Rounded Rectangle 49"/>
          <p:cNvSpPr/>
          <p:nvPr/>
        </p:nvSpPr>
        <p:spPr>
          <a:xfrm>
            <a:off x="8366760" y="5449824"/>
            <a:ext cx="1143000" cy="256032"/>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이번 과제 범위</a:t>
            </a:r>
          </a:p>
        </p:txBody>
      </p:sp>
      <p:sp>
        <p:nvSpPr>
          <p:cNvPr id="51" name="TextBox 50"/>
          <p:cNvSpPr txBox="1"/>
          <p:nvPr/>
        </p:nvSpPr>
        <p:spPr>
          <a:xfrm>
            <a:off x="8366760" y="5751576"/>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트랙을 처음 만들기 (개시)</a:t>
            </a:r>
          </a:p>
          <a:p>
            <a:pPr algn="l">
              <a:spcAft>
                <a:spcPts val="0"/>
              </a:spcAft>
            </a:pPr>
            <a:r>
              <a:rPr sz="1050" b="0" i="0">
                <a:solidFill>
                  <a:srgbClr val="1B2740"/>
                </a:solidFill>
                <a:latin typeface="맑은 고딕"/>
                <a:ea typeface="맑은 고딕"/>
              </a:rPr>
              <a:t>트랙 상태 올리고 내리기 (관리)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1.2 1-Point 와 2-Point 트랙 개시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트랙을 플롯 몇 개로 시작하느냐의 차이입니다. 빨리 시작할지, 속도를 알고 시작할지를 고르는 문제입니다.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1p2p.png"/>
          <p:cNvPicPr>
            <a:picLocks noChangeAspect="1"/>
          </p:cNvPicPr>
          <p:nvPr/>
        </p:nvPicPr>
        <p:blipFill>
          <a:blip r:embed="rId2"/>
          <a:stretch>
            <a:fillRect/>
          </a:stretch>
        </p:blipFill>
        <p:spPr>
          <a:xfrm>
            <a:off x="731520" y="2240280"/>
            <a:ext cx="10698480" cy="4011930"/>
          </a:xfrm>
          <a:prstGeom prst="rect">
            <a:avLst/>
          </a:prstGeom>
        </p:spPr>
      </p:pic>
      <p:sp>
        <p:nvSpPr>
          <p:cNvPr id="27" name="Rounded Rectangle 26"/>
          <p:cNvSpPr/>
          <p:nvPr/>
        </p:nvSpPr>
        <p:spPr>
          <a:xfrm>
            <a:off x="640080" y="5760720"/>
            <a:ext cx="10908792" cy="420624"/>
          </a:xfrm>
          <a:prstGeom prst="roundRect">
            <a:avLst>
              <a:gd name="adj" fmla="val 2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760720"/>
            <a:ext cx="10607040" cy="420624"/>
          </a:xfrm>
          <a:prstGeom prst="rect">
            <a:avLst/>
          </a:prstGeom>
          <a:noFill/>
        </p:spPr>
        <p:txBody>
          <a:bodyPr wrap="square" lIns="0" rIns="0" tIns="0" bIns="0" anchor="ctr">
            <a:spAutoFit/>
          </a:bodyPr>
          <a:lstStyle/>
          <a:p>
            <a:pPr algn="l">
              <a:spcAft>
                <a:spcPts val="0"/>
              </a:spcAft>
            </a:pPr>
            <a:r>
              <a:rPr sz="1200" b="0" i="0">
                <a:solidFill>
                  <a:srgbClr val="1B2740"/>
                </a:solidFill>
                <a:latin typeface="맑은 고딕"/>
                <a:ea typeface="맑은 고딕"/>
              </a:rPr>
              <a:t>이번 과제: </a:t>
            </a:r>
            <a:r>
              <a:rPr sz="1200" b="1" i="0">
                <a:solidFill>
                  <a:srgbClr val="1B2740"/>
                </a:solidFill>
                <a:latin typeface="맑은 고딕"/>
                <a:ea typeface="맑은 고딕"/>
              </a:rPr>
              <a:t>2-Point 개시</a:t>
            </a:r>
            <a:r>
              <a:rPr sz="1200" b="0" i="0">
                <a:solidFill>
                  <a:srgbClr val="1B2740"/>
                </a:solidFill>
                <a:latin typeface="맑은 고딕"/>
                <a:ea typeface="맑은 고딕"/>
              </a:rPr>
              <a:t> — 연속 두 스캔의 플롯 쌍으로 초기 상태 변수 (mat_EstX) 와 초기 오차 공분산 (mat_EstP) 을 계산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1.3 2-Point 초기 상태와 오차 공분산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상태 변수는 축마다 위치 · 속도 · 가속도, 모두 9 개. 두 플롯으로 위치와 속도를 채우고 가속도 항은 과제 조건대로 0 으로 둡니다.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상태 변수 (VC-NED: 북 · 동 · 아래, 레이다 원점)</a:t>
            </a:r>
          </a:p>
        </p:txBody>
      </p:sp>
      <p:sp>
        <p:nvSpPr>
          <p:cNvPr id="27" name="Rounded Rectangle 26"/>
          <p:cNvSpPr/>
          <p:nvPr/>
        </p:nvSpPr>
        <p:spPr>
          <a:xfrm>
            <a:off x="640080" y="2560320"/>
            <a:ext cx="6217920" cy="457200"/>
          </a:xfrm>
          <a:prstGeom prst="roundRect">
            <a:avLst>
              <a:gd name="adj" fmla="val 15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560320"/>
            <a:ext cx="6217920" cy="457200"/>
          </a:xfrm>
          <a:prstGeom prst="rect">
            <a:avLst/>
          </a:prstGeom>
          <a:noFill/>
        </p:spPr>
        <p:txBody>
          <a:bodyPr wrap="square" lIns="0" rIns="0" tIns="0" bIns="0" anchor="ctr">
            <a:spAutoFit/>
          </a:bodyPr>
          <a:lstStyle/>
          <a:p>
            <a:pPr algn="ctr">
              <a:spcAft>
                <a:spcPts val="0"/>
              </a:spcAft>
            </a:pPr>
            <a:r>
              <a:rPr sz="1400" b="1" i="0">
                <a:solidFill>
                  <a:srgbClr val="1B2740"/>
                </a:solidFill>
                <a:latin typeface="Cambria Math"/>
                <a:ea typeface="Cambria Math"/>
              </a:rPr>
              <a:t>X</a:t>
            </a:r>
            <a:r>
              <a:rPr sz="1400" b="1" i="0" baseline="-25000">
                <a:solidFill>
                  <a:srgbClr val="1B2740"/>
                </a:solidFill>
                <a:latin typeface="Cambria Math"/>
                <a:ea typeface="Cambria Math"/>
              </a:rPr>
              <a:t>k</a:t>
            </a:r>
            <a:r>
              <a:rPr sz="1400" b="1" i="0">
                <a:solidFill>
                  <a:srgbClr val="1B2740"/>
                </a:solidFill>
                <a:latin typeface="Cambria Math"/>
                <a:ea typeface="Cambria Math"/>
              </a:rPr>
              <a:t> = [ x  x'  x''   y  y'  y''   z  z'  z'' ]</a:t>
            </a:r>
            <a:r>
              <a:rPr sz="1400" b="1" i="0" baseline="30000">
                <a:solidFill>
                  <a:srgbClr val="1B2740"/>
                </a:solidFill>
                <a:latin typeface="Cambria Math"/>
                <a:ea typeface="Cambria Math"/>
              </a:rPr>
              <a:t>T</a:t>
            </a:r>
          </a:p>
        </p:txBody>
      </p:sp>
      <p:sp>
        <p:nvSpPr>
          <p:cNvPr id="29" name="TextBox 28"/>
          <p:cNvSpPr txBox="1"/>
          <p:nvPr/>
        </p:nvSpPr>
        <p:spPr>
          <a:xfrm>
            <a:off x="640080" y="3182112"/>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상태 mat_EstX  (축마다 같은 식, T = 두 플롯의 시간 차 0.1 s)</a:t>
            </a:r>
          </a:p>
        </p:txBody>
      </p:sp>
      <p:sp>
        <p:nvSpPr>
          <p:cNvPr id="30" name="Rounded Rectangle 29"/>
          <p:cNvSpPr/>
          <p:nvPr/>
        </p:nvSpPr>
        <p:spPr>
          <a:xfrm>
            <a:off x="640080" y="3493008"/>
            <a:ext cx="731520" cy="274320"/>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위치</a:t>
            </a:r>
          </a:p>
        </p:txBody>
      </p:sp>
      <p:sp>
        <p:nvSpPr>
          <p:cNvPr id="31" name="TextBox 30"/>
          <p:cNvSpPr txBox="1"/>
          <p:nvPr/>
        </p:nvSpPr>
        <p:spPr>
          <a:xfrm>
            <a:off x="1508760" y="3474720"/>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z</a:t>
            </a:r>
            <a:r>
              <a:rPr sz="1300" b="0" i="0" baseline="-25000">
                <a:solidFill>
                  <a:srgbClr val="1B2740"/>
                </a:solidFill>
                <a:latin typeface="Cambria Math"/>
                <a:ea typeface="Cambria Math"/>
              </a:rPr>
              <a:t>k</a:t>
            </a:r>
          </a:p>
        </p:txBody>
      </p:sp>
      <p:sp>
        <p:nvSpPr>
          <p:cNvPr id="32" name="TextBox 31"/>
          <p:cNvSpPr txBox="1"/>
          <p:nvPr/>
        </p:nvSpPr>
        <p:spPr>
          <a:xfrm>
            <a:off x="4343400" y="3474720"/>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이번 스캔 플롯 그대로</a:t>
            </a:r>
          </a:p>
        </p:txBody>
      </p:sp>
      <p:sp>
        <p:nvSpPr>
          <p:cNvPr id="33" name="Rounded Rectangle 32"/>
          <p:cNvSpPr/>
          <p:nvPr/>
        </p:nvSpPr>
        <p:spPr>
          <a:xfrm>
            <a:off x="640080" y="3877056"/>
            <a:ext cx="731520" cy="274320"/>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속도</a:t>
            </a:r>
          </a:p>
        </p:txBody>
      </p:sp>
      <p:sp>
        <p:nvSpPr>
          <p:cNvPr id="34" name="TextBox 33"/>
          <p:cNvSpPr txBox="1"/>
          <p:nvPr/>
        </p:nvSpPr>
        <p:spPr>
          <a:xfrm>
            <a:off x="1508760" y="3858768"/>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 z</a:t>
            </a:r>
            <a:r>
              <a:rPr sz="1300" b="0" i="0" baseline="-25000">
                <a:solidFill>
                  <a:srgbClr val="1B2740"/>
                </a:solidFill>
                <a:latin typeface="Cambria Math"/>
                <a:ea typeface="Cambria Math"/>
              </a:rPr>
              <a:t>k</a:t>
            </a:r>
            <a:r>
              <a:rPr sz="1300" b="0" i="0">
                <a:solidFill>
                  <a:srgbClr val="1B2740"/>
                </a:solidFill>
                <a:latin typeface="Cambria Math"/>
                <a:ea typeface="Cambria Math"/>
              </a:rPr>
              <a:t> − z</a:t>
            </a:r>
            <a:r>
              <a:rPr sz="1300" b="0" i="0" baseline="-25000">
                <a:solidFill>
                  <a:srgbClr val="1B2740"/>
                </a:solidFill>
                <a:latin typeface="Cambria Math"/>
                <a:ea typeface="Cambria Math"/>
              </a:rPr>
              <a:t>k−1</a:t>
            </a:r>
            <a:r>
              <a:rPr sz="1300" b="0" i="0">
                <a:solidFill>
                  <a:srgbClr val="1B2740"/>
                </a:solidFill>
                <a:latin typeface="Cambria Math"/>
                <a:ea typeface="Cambria Math"/>
              </a:rPr>
              <a:t> ) / T</a:t>
            </a:r>
          </a:p>
        </p:txBody>
      </p:sp>
      <p:sp>
        <p:nvSpPr>
          <p:cNvPr id="35" name="TextBox 34"/>
          <p:cNvSpPr txBox="1"/>
          <p:nvPr/>
        </p:nvSpPr>
        <p:spPr>
          <a:xfrm>
            <a:off x="4343400" y="3858768"/>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위치 변화량 ÷ 시간</a:t>
            </a:r>
          </a:p>
        </p:txBody>
      </p:sp>
      <p:sp>
        <p:nvSpPr>
          <p:cNvPr id="36" name="Rounded Rectangle 35"/>
          <p:cNvSpPr/>
          <p:nvPr/>
        </p:nvSpPr>
        <p:spPr>
          <a:xfrm>
            <a:off x="640080" y="4261104"/>
            <a:ext cx="731520" cy="274320"/>
          </a:xfrm>
          <a:prstGeom prst="roundRect">
            <a:avLst>
              <a:gd name="adj" fmla="val 25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8794AC"/>
                </a:solidFill>
                <a:latin typeface="맑은 고딕"/>
                <a:ea typeface="맑은 고딕"/>
              </a:rPr>
              <a:t>가속도</a:t>
            </a:r>
          </a:p>
        </p:txBody>
      </p:sp>
      <p:sp>
        <p:nvSpPr>
          <p:cNvPr id="37" name="TextBox 36"/>
          <p:cNvSpPr txBox="1"/>
          <p:nvPr/>
        </p:nvSpPr>
        <p:spPr>
          <a:xfrm>
            <a:off x="1508760" y="4242816"/>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0</a:t>
            </a:r>
          </a:p>
        </p:txBody>
      </p:sp>
      <p:sp>
        <p:nvSpPr>
          <p:cNvPr id="38" name="TextBox 37"/>
          <p:cNvSpPr txBox="1"/>
          <p:nvPr/>
        </p:nvSpPr>
        <p:spPr>
          <a:xfrm>
            <a:off x="4343400" y="4242816"/>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두 점으로는 못 구함 (과제 조건)</a:t>
            </a:r>
          </a:p>
        </p:txBody>
      </p:sp>
      <p:sp>
        <p:nvSpPr>
          <p:cNvPr id="39" name="TextBox 38"/>
          <p:cNvSpPr txBox="1"/>
          <p:nvPr/>
        </p:nvSpPr>
        <p:spPr>
          <a:xfrm>
            <a:off x="640080" y="4709160"/>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오차 공분산 mat_EstP  (축 a, b 마다, R = 플롯 위치 측정잡음)</a:t>
            </a:r>
          </a:p>
        </p:txBody>
      </p:sp>
      <p:sp>
        <p:nvSpPr>
          <p:cNvPr id="40" name="Rounded Rectangle 39"/>
          <p:cNvSpPr/>
          <p:nvPr/>
        </p:nvSpPr>
        <p:spPr>
          <a:xfrm>
            <a:off x="640080" y="5029200"/>
            <a:ext cx="3017520" cy="310896"/>
          </a:xfrm>
          <a:prstGeom prst="roundRect">
            <a:avLst>
              <a:gd name="adj" fmla="val 20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40080" y="5029200"/>
            <a:ext cx="3017520" cy="310896"/>
          </a:xfrm>
          <a:prstGeom prst="rect">
            <a:avLst/>
          </a:prstGeom>
          <a:noFill/>
        </p:spPr>
        <p:txBody>
          <a:bodyPr wrap="square" lIns="0" rIns="0" tIns="0" bIns="0" anchor="ctr">
            <a:spAutoFit/>
          </a:bodyPr>
          <a:lstStyle/>
          <a:p>
            <a:pPr algn="ctr">
              <a:spcAft>
                <a:spcPts val="0"/>
              </a:spcAft>
            </a:pPr>
            <a:r>
              <a:rPr sz="1200" b="1" i="0">
                <a:solidFill>
                  <a:srgbClr val="2563EB"/>
                </a:solidFill>
                <a:latin typeface="Cambria Math"/>
                <a:ea typeface="Cambria Math"/>
              </a:rPr>
              <a:t>P</a:t>
            </a:r>
            <a:r>
              <a:rPr sz="1200" b="1" i="0" baseline="-25000">
                <a:solidFill>
                  <a:srgbClr val="2563EB"/>
                </a:solidFill>
                <a:latin typeface="Cambria Math"/>
                <a:ea typeface="Cambria Math"/>
              </a:rPr>
              <a:t>pp</a:t>
            </a:r>
            <a:r>
              <a:rPr sz="1200" b="1" i="0">
                <a:solidFill>
                  <a:srgbClr val="2563EB"/>
                </a:solidFill>
                <a:latin typeface="Cambria Math"/>
                <a:ea typeface="Cambria Math"/>
              </a:rPr>
              <a:t> = R</a:t>
            </a:r>
            <a:r>
              <a:rPr sz="1200" b="1" i="0" baseline="-25000">
                <a:solidFill>
                  <a:srgbClr val="2563EB"/>
                </a:solidFill>
                <a:latin typeface="Cambria Math"/>
                <a:ea typeface="Cambria Math"/>
              </a:rPr>
              <a:t>k</a:t>
            </a:r>
          </a:p>
        </p:txBody>
      </p:sp>
      <p:sp>
        <p:nvSpPr>
          <p:cNvPr id="42" name="Rounded Rectangle 41"/>
          <p:cNvSpPr/>
          <p:nvPr/>
        </p:nvSpPr>
        <p:spPr>
          <a:xfrm>
            <a:off x="3794760" y="5029200"/>
            <a:ext cx="3017520" cy="310896"/>
          </a:xfrm>
          <a:prstGeom prst="roundRect">
            <a:avLst>
              <a:gd name="adj" fmla="val 20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794760" y="5029200"/>
            <a:ext cx="3017520" cy="310896"/>
          </a:xfrm>
          <a:prstGeom prst="rect">
            <a:avLst/>
          </a:prstGeom>
          <a:noFill/>
        </p:spPr>
        <p:txBody>
          <a:bodyPr wrap="square" lIns="0" rIns="0" tIns="0" bIns="0" anchor="ctr">
            <a:spAutoFit/>
          </a:bodyPr>
          <a:lstStyle/>
          <a:p>
            <a:pPr algn="ctr">
              <a:spcAft>
                <a:spcPts val="0"/>
              </a:spcAft>
            </a:pPr>
            <a:r>
              <a:rPr sz="1200" b="1" i="0">
                <a:solidFill>
                  <a:srgbClr val="059669"/>
                </a:solidFill>
                <a:latin typeface="Cambria Math"/>
                <a:ea typeface="Cambria Math"/>
              </a:rPr>
              <a:t>P</a:t>
            </a:r>
            <a:r>
              <a:rPr sz="1200" b="1" i="0" baseline="-25000">
                <a:solidFill>
                  <a:srgbClr val="059669"/>
                </a:solidFill>
                <a:latin typeface="Cambria Math"/>
                <a:ea typeface="Cambria Math"/>
              </a:rPr>
              <a:t>pv</a:t>
            </a:r>
            <a:r>
              <a:rPr sz="1200" b="1" i="0">
                <a:solidFill>
                  <a:srgbClr val="059669"/>
                </a:solidFill>
                <a:latin typeface="Cambria Math"/>
                <a:ea typeface="Cambria Math"/>
              </a:rPr>
              <a:t> = P</a:t>
            </a:r>
            <a:r>
              <a:rPr sz="1200" b="1" i="0" baseline="-25000">
                <a:solidFill>
                  <a:srgbClr val="059669"/>
                </a:solidFill>
                <a:latin typeface="Cambria Math"/>
                <a:ea typeface="Cambria Math"/>
              </a:rPr>
              <a:t>vp</a:t>
            </a:r>
            <a:r>
              <a:rPr sz="1200" b="1" i="0">
                <a:solidFill>
                  <a:srgbClr val="059669"/>
                </a:solidFill>
                <a:latin typeface="Cambria Math"/>
                <a:ea typeface="Cambria Math"/>
              </a:rPr>
              <a:t> = R</a:t>
            </a:r>
            <a:r>
              <a:rPr sz="1200" b="1" i="0" baseline="-25000">
                <a:solidFill>
                  <a:srgbClr val="059669"/>
                </a:solidFill>
                <a:latin typeface="Cambria Math"/>
                <a:ea typeface="Cambria Math"/>
              </a:rPr>
              <a:t>k</a:t>
            </a:r>
            <a:r>
              <a:rPr sz="1200" b="1" i="0">
                <a:solidFill>
                  <a:srgbClr val="059669"/>
                </a:solidFill>
                <a:latin typeface="Cambria Math"/>
                <a:ea typeface="Cambria Math"/>
              </a:rPr>
              <a:t> / T</a:t>
            </a:r>
          </a:p>
        </p:txBody>
      </p:sp>
      <p:sp>
        <p:nvSpPr>
          <p:cNvPr id="44" name="Rounded Rectangle 43"/>
          <p:cNvSpPr/>
          <p:nvPr/>
        </p:nvSpPr>
        <p:spPr>
          <a:xfrm>
            <a:off x="640080" y="5413248"/>
            <a:ext cx="3017520" cy="310896"/>
          </a:xfrm>
          <a:prstGeom prst="roundRect">
            <a:avLst>
              <a:gd name="adj" fmla="val 20000"/>
            </a:avLst>
          </a:prstGeom>
          <a:solidFill>
            <a:srgbClr val="FFFFFF"/>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413248"/>
            <a:ext cx="3017520" cy="310896"/>
          </a:xfrm>
          <a:prstGeom prst="rect">
            <a:avLst/>
          </a:prstGeom>
          <a:noFill/>
        </p:spPr>
        <p:txBody>
          <a:bodyPr wrap="square" lIns="0" rIns="0" tIns="0" bIns="0" anchor="ctr">
            <a:spAutoFit/>
          </a:bodyPr>
          <a:lstStyle/>
          <a:p>
            <a:pPr algn="ctr">
              <a:spcAft>
                <a:spcPts val="0"/>
              </a:spcAft>
            </a:pPr>
            <a:r>
              <a:rPr sz="1200" b="1" i="0">
                <a:solidFill>
                  <a:srgbClr val="DC2626"/>
                </a:solidFill>
                <a:latin typeface="Cambria Math"/>
                <a:ea typeface="Cambria Math"/>
              </a:rPr>
              <a:t>P</a:t>
            </a:r>
            <a:r>
              <a:rPr sz="1200" b="1" i="0" baseline="-25000">
                <a:solidFill>
                  <a:srgbClr val="DC2626"/>
                </a:solidFill>
                <a:latin typeface="Cambria Math"/>
                <a:ea typeface="Cambria Math"/>
              </a:rPr>
              <a:t>vv</a:t>
            </a:r>
            <a:r>
              <a:rPr sz="1200" b="1" i="0">
                <a:solidFill>
                  <a:srgbClr val="DC2626"/>
                </a:solidFill>
                <a:latin typeface="Cambria Math"/>
                <a:ea typeface="Cambria Math"/>
              </a:rPr>
              <a:t> = ( R</a:t>
            </a:r>
            <a:r>
              <a:rPr sz="1200" b="1" i="0" baseline="-25000">
                <a:solidFill>
                  <a:srgbClr val="DC2626"/>
                </a:solidFill>
                <a:latin typeface="Cambria Math"/>
                <a:ea typeface="Cambria Math"/>
              </a:rPr>
              <a:t>k</a:t>
            </a:r>
            <a:r>
              <a:rPr sz="1200" b="1" i="0">
                <a:solidFill>
                  <a:srgbClr val="DC2626"/>
                </a:solidFill>
                <a:latin typeface="Cambria Math"/>
                <a:ea typeface="Cambria Math"/>
              </a:rPr>
              <a:t> + R</a:t>
            </a:r>
            <a:r>
              <a:rPr sz="1200" b="1" i="0" baseline="-25000">
                <a:solidFill>
                  <a:srgbClr val="DC2626"/>
                </a:solidFill>
                <a:latin typeface="Cambria Math"/>
                <a:ea typeface="Cambria Math"/>
              </a:rPr>
              <a:t>k−1</a:t>
            </a:r>
            <a:r>
              <a:rPr sz="1200" b="1" i="0">
                <a:solidFill>
                  <a:srgbClr val="DC2626"/>
                </a:solidFill>
                <a:latin typeface="Cambria Math"/>
                <a:ea typeface="Cambria Math"/>
              </a:rPr>
              <a:t> ) / T</a:t>
            </a:r>
            <a:r>
              <a:rPr sz="1200" b="1" i="0" baseline="30000">
                <a:solidFill>
                  <a:srgbClr val="DC2626"/>
                </a:solidFill>
                <a:latin typeface="Cambria Math"/>
                <a:ea typeface="Cambria Math"/>
              </a:rPr>
              <a:t>2</a:t>
            </a:r>
          </a:p>
        </p:txBody>
      </p:sp>
      <p:sp>
        <p:nvSpPr>
          <p:cNvPr id="46" name="Rounded Rectangle 45"/>
          <p:cNvSpPr/>
          <p:nvPr/>
        </p:nvSpPr>
        <p:spPr>
          <a:xfrm>
            <a:off x="3794760" y="5413248"/>
            <a:ext cx="3017520" cy="310896"/>
          </a:xfrm>
          <a:prstGeom prst="roundRect">
            <a:avLst>
              <a:gd name="adj" fmla="val 20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794760" y="5413248"/>
            <a:ext cx="3017520" cy="310896"/>
          </a:xfrm>
          <a:prstGeom prst="rect">
            <a:avLst/>
          </a:prstGeom>
          <a:noFill/>
        </p:spPr>
        <p:txBody>
          <a:bodyPr wrap="square" lIns="0" rIns="0" tIns="0" bIns="0" anchor="ctr">
            <a:spAutoFit/>
          </a:bodyPr>
          <a:lstStyle/>
          <a:p>
            <a:pPr algn="ctr">
              <a:spcAft>
                <a:spcPts val="0"/>
              </a:spcAft>
            </a:pPr>
            <a:r>
              <a:rPr sz="1200" b="1" i="0">
                <a:solidFill>
                  <a:srgbClr val="8794AC"/>
                </a:solidFill>
                <a:latin typeface="맑은 고딕"/>
                <a:ea typeface="맑은 고딕"/>
              </a:rPr>
              <a:t>가속도 행 · 열 = 0</a:t>
            </a:r>
          </a:p>
        </p:txBody>
      </p:sp>
      <p:pic>
        <p:nvPicPr>
          <p:cNvPr id="48" name="Picture 47" descr="fig_pmatrix.png"/>
          <p:cNvPicPr>
            <a:picLocks noChangeAspect="1"/>
          </p:cNvPicPr>
          <p:nvPr/>
        </p:nvPicPr>
        <p:blipFill>
          <a:blip r:embed="rId2"/>
          <a:stretch>
            <a:fillRect/>
          </a:stretch>
        </p:blipFill>
        <p:spPr>
          <a:xfrm>
            <a:off x="7269480" y="2240280"/>
            <a:ext cx="3939702" cy="3703320"/>
          </a:xfrm>
          <a:prstGeom prst="rect">
            <a:avLst/>
          </a:prstGeom>
        </p:spPr>
      </p:pic>
      <p:sp>
        <p:nvSpPr>
          <p:cNvPr id="49" name="TextBox 48"/>
          <p:cNvSpPr txBox="1"/>
          <p:nvPr/>
        </p:nvSpPr>
        <p:spPr>
          <a:xfrm>
            <a:off x="7269480" y="5943600"/>
            <a:ext cx="4023360" cy="274320"/>
          </a:xfrm>
          <a:prstGeom prst="rect">
            <a:avLst/>
          </a:prstGeom>
          <a:noFill/>
        </p:spPr>
        <p:txBody>
          <a:bodyPr wrap="square" lIns="0" rIns="0" tIns="0" bIns="0" anchor="t">
            <a:spAutoFit/>
          </a:bodyPr>
          <a:lstStyle/>
          <a:p>
            <a:pPr algn="ctr">
              <a:spcAft>
                <a:spcPts val="0"/>
              </a:spcAft>
            </a:pPr>
            <a:r>
              <a:rPr sz="1000" b="0" i="0">
                <a:solidFill>
                  <a:srgbClr val="4A5A7A"/>
                </a:solidFill>
                <a:latin typeface="맑은 고딕"/>
                <a:ea typeface="맑은 고딕"/>
              </a:rPr>
              <a:t>mat_EstP 9 × 9 구조 (같은 색 = 같은 식, 회색 = 가속도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1.4 측정잡음 공분산 R</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P 를 만들려면 플롯 하나의 위치 오차 R 이 필요합니다. 과제가 준 구좌표 표준편차를 VC-NED 직교 좌표 공분산으로 바꿔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691640" cy="914400"/>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40864"/>
            <a:ext cx="1691640" cy="256032"/>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range</a:t>
            </a:r>
          </a:p>
        </p:txBody>
      </p:sp>
      <p:sp>
        <p:nvSpPr>
          <p:cNvPr id="28" name="TextBox 27"/>
          <p:cNvSpPr txBox="1"/>
          <p:nvPr/>
        </p:nvSpPr>
        <p:spPr>
          <a:xfrm>
            <a:off x="640080" y="2578608"/>
            <a:ext cx="1691640" cy="548640"/>
          </a:xfrm>
          <a:prstGeom prst="rect">
            <a:avLst/>
          </a:prstGeom>
          <a:noFill/>
        </p:spPr>
        <p:txBody>
          <a:bodyPr wrap="square" lIns="0" rIns="0" tIns="0" bIns="0" anchor="t">
            <a:spAutoFit/>
          </a:bodyPr>
          <a:lstStyle/>
          <a:p>
            <a:pPr algn="ctr">
              <a:spcAft>
                <a:spcPts val="0"/>
              </a:spcAft>
            </a:pPr>
            <a:r>
              <a:rPr sz="2600" b="1" i="0">
                <a:solidFill>
                  <a:srgbClr val="2563EB"/>
                </a:solidFill>
                <a:latin typeface="Arial"/>
                <a:ea typeface="맑은 고딕"/>
              </a:rPr>
              <a:t>10 m</a:t>
            </a:r>
          </a:p>
        </p:txBody>
      </p:sp>
      <p:sp>
        <p:nvSpPr>
          <p:cNvPr id="29" name="Rounded Rectangle 28"/>
          <p:cNvSpPr/>
          <p:nvPr/>
        </p:nvSpPr>
        <p:spPr>
          <a:xfrm>
            <a:off x="2468880" y="2286000"/>
            <a:ext cx="1691640" cy="914400"/>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468880" y="2340864"/>
            <a:ext cx="1691640" cy="256032"/>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azimuth</a:t>
            </a:r>
          </a:p>
        </p:txBody>
      </p:sp>
      <p:sp>
        <p:nvSpPr>
          <p:cNvPr id="31" name="TextBox 30"/>
          <p:cNvSpPr txBox="1"/>
          <p:nvPr/>
        </p:nvSpPr>
        <p:spPr>
          <a:xfrm>
            <a:off x="2468880" y="2578608"/>
            <a:ext cx="1691640" cy="548640"/>
          </a:xfrm>
          <a:prstGeom prst="rect">
            <a:avLst/>
          </a:prstGeom>
          <a:noFill/>
        </p:spPr>
        <p:txBody>
          <a:bodyPr wrap="square" lIns="0" rIns="0" tIns="0" bIns="0" anchor="t">
            <a:spAutoFit/>
          </a:bodyPr>
          <a:lstStyle/>
          <a:p>
            <a:pPr algn="ctr">
              <a:spcAft>
                <a:spcPts val="0"/>
              </a:spcAft>
            </a:pPr>
            <a:r>
              <a:rPr sz="2600" b="1" i="0">
                <a:solidFill>
                  <a:srgbClr val="2563EB"/>
                </a:solidFill>
                <a:latin typeface="Arial"/>
                <a:ea typeface="맑은 고딕"/>
              </a:rPr>
              <a:t>0.2 °</a:t>
            </a:r>
          </a:p>
        </p:txBody>
      </p:sp>
      <p:sp>
        <p:nvSpPr>
          <p:cNvPr id="32" name="Rounded Rectangle 31"/>
          <p:cNvSpPr/>
          <p:nvPr/>
        </p:nvSpPr>
        <p:spPr>
          <a:xfrm>
            <a:off x="4297680" y="2286000"/>
            <a:ext cx="1691640" cy="914400"/>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97680" y="2340864"/>
            <a:ext cx="1691640" cy="256032"/>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elevation</a:t>
            </a:r>
          </a:p>
        </p:txBody>
      </p:sp>
      <p:sp>
        <p:nvSpPr>
          <p:cNvPr id="34" name="TextBox 33"/>
          <p:cNvSpPr txBox="1"/>
          <p:nvPr/>
        </p:nvSpPr>
        <p:spPr>
          <a:xfrm>
            <a:off x="4297680" y="2578608"/>
            <a:ext cx="1691640" cy="548640"/>
          </a:xfrm>
          <a:prstGeom prst="rect">
            <a:avLst/>
          </a:prstGeom>
          <a:noFill/>
        </p:spPr>
        <p:txBody>
          <a:bodyPr wrap="square" lIns="0" rIns="0" tIns="0" bIns="0" anchor="t">
            <a:spAutoFit/>
          </a:bodyPr>
          <a:lstStyle/>
          <a:p>
            <a:pPr algn="ctr">
              <a:spcAft>
                <a:spcPts val="0"/>
              </a:spcAft>
            </a:pPr>
            <a:r>
              <a:rPr sz="2600" b="1" i="0">
                <a:solidFill>
                  <a:srgbClr val="2563EB"/>
                </a:solidFill>
                <a:latin typeface="Arial"/>
                <a:ea typeface="맑은 고딕"/>
              </a:rPr>
              <a:t>0.2 °</a:t>
            </a:r>
          </a:p>
        </p:txBody>
      </p:sp>
      <p:sp>
        <p:nvSpPr>
          <p:cNvPr id="35" name="TextBox 34"/>
          <p:cNvSpPr txBox="1"/>
          <p:nvPr/>
        </p:nvSpPr>
        <p:spPr>
          <a:xfrm>
            <a:off x="640080" y="3246120"/>
            <a:ext cx="5394960" cy="274320"/>
          </a:xfrm>
          <a:prstGeom prst="rect">
            <a:avLst/>
          </a:prstGeom>
          <a:noFill/>
        </p:spPr>
        <p:txBody>
          <a:bodyPr wrap="square" lIns="0" rIns="0" tIns="0" bIns="0" anchor="t">
            <a:spAutoFit/>
          </a:bodyPr>
          <a:lstStyle/>
          <a:p>
            <a:pPr algn="l">
              <a:spcAft>
                <a:spcPts val="0"/>
              </a:spcAft>
            </a:pPr>
            <a:r>
              <a:rPr sz="1050" b="0" i="0">
                <a:solidFill>
                  <a:srgbClr val="4A5A7A"/>
                </a:solidFill>
                <a:latin typeface="맑은 고딕"/>
                <a:ea typeface="맑은 고딕"/>
              </a:rPr>
              <a:t>과제 조건: 트랙 초기화 (초기 오차 공분산) 에 쓰는 R 의 표준편차</a:t>
            </a:r>
          </a:p>
        </p:txBody>
      </p:sp>
      <p:sp>
        <p:nvSpPr>
          <p:cNvPr id="36" name="Rounded Rectangle 35"/>
          <p:cNvSpPr/>
          <p:nvPr/>
        </p:nvSpPr>
        <p:spPr>
          <a:xfrm>
            <a:off x="6263640" y="2286000"/>
            <a:ext cx="5285232" cy="1207008"/>
          </a:xfrm>
          <a:prstGeom prst="roundRect">
            <a:avLst>
              <a:gd name="adj" fmla="val 6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46520" y="2359152"/>
            <a:ext cx="5029200" cy="1097280"/>
          </a:xfrm>
          <a:prstGeom prst="rect">
            <a:avLst/>
          </a:prstGeom>
          <a:noFill/>
        </p:spPr>
        <p:txBody>
          <a:bodyPr wrap="square" lIns="0" rIns="0" tIns="0" bIns="0" anchor="t">
            <a:spAutoFit/>
          </a:bodyPr>
          <a:lstStyle/>
          <a:p>
            <a:pPr algn="l">
              <a:spcAft>
                <a:spcPts val="200"/>
              </a:spcAft>
            </a:pPr>
            <a:r>
              <a:rPr sz="1350" b="1" i="0">
                <a:solidFill>
                  <a:srgbClr val="1B2740"/>
                </a:solidFill>
                <a:latin typeface="Cambria Math"/>
                <a:ea typeface="Cambria Math"/>
              </a:rPr>
              <a:t>R</a:t>
            </a:r>
            <a:r>
              <a:rPr sz="1350" b="1" i="0" baseline="-25000">
                <a:solidFill>
                  <a:srgbClr val="1B2740"/>
                </a:solidFill>
                <a:latin typeface="Cambria Math"/>
                <a:ea typeface="Cambria Math"/>
              </a:rPr>
              <a:t>ant</a:t>
            </a:r>
            <a:r>
              <a:rPr sz="1350" b="1" i="0">
                <a:solidFill>
                  <a:srgbClr val="1B2740"/>
                </a:solidFill>
                <a:latin typeface="Cambria Math"/>
                <a:ea typeface="Cambria Math"/>
              </a:rPr>
              <a:t> = J · diag( σ</a:t>
            </a:r>
            <a:r>
              <a:rPr sz="1350" b="1" i="0" baseline="-25000">
                <a:solidFill>
                  <a:srgbClr val="1B2740"/>
                </a:solidFill>
                <a:latin typeface="Cambria Math"/>
                <a:ea typeface="Cambria Math"/>
              </a:rPr>
              <a:t>r</a:t>
            </a:r>
            <a:r>
              <a:rPr sz="1350" b="1" i="0" baseline="30000">
                <a:solidFill>
                  <a:srgbClr val="1B2740"/>
                </a:solidFill>
                <a:latin typeface="Cambria Math"/>
                <a:ea typeface="Cambria Math"/>
              </a:rPr>
              <a:t>2</a:t>
            </a:r>
            <a:r>
              <a:rPr sz="1350" b="1" i="0">
                <a:solidFill>
                  <a:srgbClr val="1B2740"/>
                </a:solidFill>
                <a:latin typeface="Cambria Math"/>
                <a:ea typeface="Cambria Math"/>
              </a:rPr>
              <a:t>, σ</a:t>
            </a:r>
            <a:r>
              <a:rPr sz="1350" b="1" i="0" baseline="-25000">
                <a:solidFill>
                  <a:srgbClr val="1B2740"/>
                </a:solidFill>
                <a:latin typeface="Cambria Math"/>
                <a:ea typeface="Cambria Math"/>
              </a:rPr>
              <a:t>az</a:t>
            </a:r>
            <a:r>
              <a:rPr sz="1350" b="1" i="0" baseline="30000">
                <a:solidFill>
                  <a:srgbClr val="1B2740"/>
                </a:solidFill>
                <a:latin typeface="Cambria Math"/>
                <a:ea typeface="Cambria Math"/>
              </a:rPr>
              <a:t>2</a:t>
            </a:r>
            <a:r>
              <a:rPr sz="1350" b="1" i="0">
                <a:solidFill>
                  <a:srgbClr val="1B2740"/>
                </a:solidFill>
                <a:latin typeface="Cambria Math"/>
                <a:ea typeface="Cambria Math"/>
              </a:rPr>
              <a:t>, σ</a:t>
            </a:r>
            <a:r>
              <a:rPr sz="1350" b="1" i="0" baseline="-25000">
                <a:solidFill>
                  <a:srgbClr val="1B2740"/>
                </a:solidFill>
                <a:latin typeface="Cambria Math"/>
                <a:ea typeface="Cambria Math"/>
              </a:rPr>
              <a:t>el</a:t>
            </a:r>
            <a:r>
              <a:rPr sz="1350" b="1" i="0" baseline="30000">
                <a:solidFill>
                  <a:srgbClr val="1B2740"/>
                </a:solidFill>
                <a:latin typeface="Cambria Math"/>
                <a:ea typeface="Cambria Math"/>
              </a:rPr>
              <a:t>2</a:t>
            </a:r>
            <a:r>
              <a:rPr sz="1350" b="1" i="0">
                <a:solidFill>
                  <a:srgbClr val="1B2740"/>
                </a:solidFill>
                <a:latin typeface="Cambria Math"/>
                <a:ea typeface="Cambria Math"/>
              </a:rPr>
              <a:t> ) · J</a:t>
            </a:r>
            <a:r>
              <a:rPr sz="1350" b="1" i="0" baseline="30000">
                <a:solidFill>
                  <a:srgbClr val="1B2740"/>
                </a:solidFill>
                <a:latin typeface="Cambria Math"/>
                <a:ea typeface="Cambria Math"/>
              </a:rPr>
              <a:t>T</a:t>
            </a:r>
          </a:p>
          <a:p>
            <a:pPr algn="l">
              <a:spcAft>
                <a:spcPts val="600"/>
              </a:spcAft>
            </a:pPr>
            <a:r>
              <a:rPr sz="1050" b="0" i="0">
                <a:solidFill>
                  <a:srgbClr val="4A5A7A"/>
                </a:solidFill>
                <a:latin typeface="맑은 고딕"/>
                <a:ea typeface="맑은 고딕"/>
              </a:rPr>
              <a:t>J : 구좌표 (r, az, el) → 안테나 직교 좌표의 야코비안</a:t>
            </a:r>
          </a:p>
          <a:p>
            <a:pPr algn="l">
              <a:spcAft>
                <a:spcPts val="200"/>
              </a:spcAft>
            </a:pPr>
            <a:r>
              <a:rPr sz="1350" b="1" i="0">
                <a:solidFill>
                  <a:srgbClr val="1B2740"/>
                </a:solidFill>
                <a:latin typeface="Cambria Math"/>
                <a:ea typeface="Cambria Math"/>
              </a:rPr>
              <a:t>R</a:t>
            </a:r>
            <a:r>
              <a:rPr sz="1350" b="1" i="0" baseline="-25000">
                <a:solidFill>
                  <a:srgbClr val="1B2740"/>
                </a:solidFill>
                <a:latin typeface="Cambria Math"/>
                <a:ea typeface="Cambria Math"/>
              </a:rPr>
              <a:t>NED</a:t>
            </a:r>
            <a:r>
              <a:rPr sz="1350" b="1" i="0">
                <a:solidFill>
                  <a:srgbClr val="1B2740"/>
                </a:solidFill>
                <a:latin typeface="Cambria Math"/>
                <a:ea typeface="Cambria Math"/>
              </a:rPr>
              <a:t> = M · R</a:t>
            </a:r>
            <a:r>
              <a:rPr sz="1350" b="1" i="0" baseline="-25000">
                <a:solidFill>
                  <a:srgbClr val="1B2740"/>
                </a:solidFill>
                <a:latin typeface="Cambria Math"/>
                <a:ea typeface="Cambria Math"/>
              </a:rPr>
              <a:t>ant</a:t>
            </a:r>
            <a:r>
              <a:rPr sz="1350" b="1" i="0">
                <a:solidFill>
                  <a:srgbClr val="1B2740"/>
                </a:solidFill>
                <a:latin typeface="Cambria Math"/>
                <a:ea typeface="Cambria Math"/>
              </a:rPr>
              <a:t> · M</a:t>
            </a:r>
            <a:r>
              <a:rPr sz="1350" b="1" i="0" baseline="30000">
                <a:solidFill>
                  <a:srgbClr val="1B2740"/>
                </a:solidFill>
                <a:latin typeface="Cambria Math"/>
                <a:ea typeface="Cambria Math"/>
              </a:rPr>
              <a:t>T</a:t>
            </a:r>
          </a:p>
          <a:p>
            <a:pPr algn="l">
              <a:spcAft>
                <a:spcPts val="0"/>
              </a:spcAft>
            </a:pPr>
            <a:r>
              <a:rPr sz="1050" b="0" i="0">
                <a:solidFill>
                  <a:srgbClr val="4A5A7A"/>
                </a:solidFill>
                <a:latin typeface="맑은 고딕"/>
                <a:ea typeface="맑은 고딕"/>
              </a:rPr>
              <a:t>M : 안테나 → 동체 → NED 회전 (플랫폼 자세)</a:t>
            </a:r>
          </a:p>
        </p:txBody>
      </p:sp>
      <p:pic>
        <p:nvPicPr>
          <p:cNvPr id="38" name="Picture 37" descr="fig_rcov.png"/>
          <p:cNvPicPr>
            <a:picLocks noChangeAspect="1"/>
          </p:cNvPicPr>
          <p:nvPr/>
        </p:nvPicPr>
        <p:blipFill>
          <a:blip r:embed="rId2"/>
          <a:stretch>
            <a:fillRect/>
          </a:stretch>
        </p:blipFill>
        <p:spPr>
          <a:xfrm>
            <a:off x="640080" y="3611880"/>
            <a:ext cx="6949440" cy="2606040"/>
          </a:xfrm>
          <a:prstGeom prst="rect">
            <a:avLst/>
          </a:prstGeom>
        </p:spPr>
      </p:pic>
      <p:sp>
        <p:nvSpPr>
          <p:cNvPr id="39" name="TextBox 38"/>
          <p:cNvSpPr txBox="1"/>
          <p:nvPr/>
        </p:nvSpPr>
        <p:spPr>
          <a:xfrm>
            <a:off x="7818120" y="3703320"/>
            <a:ext cx="3749039"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R 의 모양</a:t>
            </a:r>
          </a:p>
        </p:txBody>
      </p:sp>
      <p:sp>
        <p:nvSpPr>
          <p:cNvPr id="40" name="Oval 39"/>
          <p:cNvSpPr/>
          <p:nvPr/>
        </p:nvSpPr>
        <p:spPr>
          <a:xfrm>
            <a:off x="7818120" y="4059935"/>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1" name="TextBox 40"/>
          <p:cNvSpPr txBox="1"/>
          <p:nvPr/>
        </p:nvSpPr>
        <p:spPr>
          <a:xfrm>
            <a:off x="8202168" y="4041648"/>
            <a:ext cx="3364991" cy="676656"/>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각도 오차 → 옆 방향 위치 오차</a:t>
            </a:r>
          </a:p>
          <a:p>
            <a:pPr algn="l">
              <a:spcAft>
                <a:spcPts val="100"/>
              </a:spcAft>
            </a:pPr>
            <a:r>
              <a:rPr sz="1050" b="0" i="0">
                <a:solidFill>
                  <a:srgbClr val="4A5A7A"/>
                </a:solidFill>
                <a:latin typeface="맑은 고딕"/>
                <a:ea typeface="맑은 고딕"/>
              </a:rPr>
              <a:t>위치 오차 ≈ 거리 r × σθ</a:t>
            </a:r>
          </a:p>
          <a:p>
            <a:pPr algn="l">
              <a:spcAft>
                <a:spcPts val="100"/>
              </a:spcAft>
            </a:pPr>
            <a:r>
              <a:rPr sz="1050" b="0" i="0">
                <a:solidFill>
                  <a:srgbClr val="4A5A7A"/>
                </a:solidFill>
                <a:latin typeface="맑은 고딕"/>
                <a:ea typeface="맑은 고딕"/>
              </a:rPr>
              <a:t>14 km 에서 0.2° → 약 49 m</a:t>
            </a:r>
          </a:p>
        </p:txBody>
      </p:sp>
      <p:sp>
        <p:nvSpPr>
          <p:cNvPr id="42" name="Oval 41"/>
          <p:cNvSpPr/>
          <p:nvPr/>
        </p:nvSpPr>
        <p:spPr>
          <a:xfrm>
            <a:off x="7818120" y="4791455"/>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43" name="TextBox 42"/>
          <p:cNvSpPr txBox="1"/>
          <p:nvPr/>
        </p:nvSpPr>
        <p:spPr>
          <a:xfrm>
            <a:off x="8202168" y="4773168"/>
            <a:ext cx="3364991"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시선 방향으로 납작한 타원</a:t>
            </a:r>
          </a:p>
          <a:p>
            <a:pPr algn="l">
              <a:spcAft>
                <a:spcPts val="100"/>
              </a:spcAft>
            </a:pPr>
            <a:r>
              <a:rPr sz="1050" b="0" i="0">
                <a:solidFill>
                  <a:srgbClr val="4A5A7A"/>
                </a:solidFill>
                <a:latin typeface="맑은 고딕"/>
                <a:ea typeface="맑은 고딕"/>
              </a:rPr>
              <a:t>거리 방향 10 m, 옆 방향 약 49 m</a:t>
            </a:r>
          </a:p>
        </p:txBody>
      </p:sp>
      <p:sp>
        <p:nvSpPr>
          <p:cNvPr id="44" name="Oval 43"/>
          <p:cNvSpPr/>
          <p:nvPr/>
        </p:nvSpPr>
        <p:spPr>
          <a:xfrm>
            <a:off x="7818120" y="5431536"/>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45" name="TextBox 44"/>
          <p:cNvSpPr txBox="1"/>
          <p:nvPr/>
        </p:nvSpPr>
        <p:spPr>
          <a:xfrm>
            <a:off x="8202168" y="5413248"/>
            <a:ext cx="3364991"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플롯마다 계산</a:t>
            </a:r>
          </a:p>
          <a:p>
            <a:pPr algn="l">
              <a:spcAft>
                <a:spcPts val="100"/>
              </a:spcAft>
            </a:pPr>
            <a:r>
              <a:rPr sz="1050" b="0" i="0">
                <a:solidFill>
                  <a:srgbClr val="4A5A7A"/>
                </a:solidFill>
                <a:latin typeface="맑은 고딕"/>
                <a:ea typeface="맑은 고딕"/>
              </a:rPr>
              <a:t>거리와 방향이 플롯마다 다르기 때문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1.5 속도 게이팅</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앞 스캔 플롯과 이번 스캔 플롯을 아무렇게나 짝지으면 클러터끼리도 트랙이 됩니다. 표적이 낼 수 있는 최대 속도로 짝을 거릅니다.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5669280" cy="1115568"/>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59152"/>
            <a:ext cx="5669280" cy="548640"/>
          </a:xfrm>
          <a:prstGeom prst="rect">
            <a:avLst/>
          </a:prstGeom>
          <a:noFill/>
        </p:spPr>
        <p:txBody>
          <a:bodyPr wrap="square" lIns="0" rIns="0" tIns="0" bIns="0" anchor="ctr">
            <a:spAutoFit/>
          </a:bodyPr>
          <a:lstStyle/>
          <a:p>
            <a:pPr algn="ctr">
              <a:spcAft>
                <a:spcPts val="0"/>
              </a:spcAft>
            </a:pPr>
            <a:r>
              <a:rPr sz="2200" b="1" i="0">
                <a:solidFill>
                  <a:srgbClr val="1B2740"/>
                </a:solidFill>
                <a:latin typeface="Cambria Math"/>
                <a:ea typeface="Cambria Math"/>
              </a:rPr>
              <a:t>| z</a:t>
            </a:r>
            <a:r>
              <a:rPr sz="2200" b="1" i="0" baseline="-25000">
                <a:solidFill>
                  <a:srgbClr val="1B2740"/>
                </a:solidFill>
                <a:latin typeface="Cambria Math"/>
                <a:ea typeface="Cambria Math"/>
              </a:rPr>
              <a:t>k,i</a:t>
            </a:r>
            <a:r>
              <a:rPr sz="2200" b="1" i="0">
                <a:solidFill>
                  <a:srgbClr val="1B2740"/>
                </a:solidFill>
                <a:latin typeface="Cambria Math"/>
                <a:ea typeface="Cambria Math"/>
              </a:rPr>
              <a:t> − z</a:t>
            </a:r>
            <a:r>
              <a:rPr sz="2200" b="1" i="0" baseline="-25000">
                <a:solidFill>
                  <a:srgbClr val="1B2740"/>
                </a:solidFill>
                <a:latin typeface="Cambria Math"/>
                <a:ea typeface="Cambria Math"/>
              </a:rPr>
              <a:t>k−1,j</a:t>
            </a:r>
            <a:r>
              <a:rPr sz="2200" b="1" i="0">
                <a:solidFill>
                  <a:srgbClr val="1B2740"/>
                </a:solidFill>
                <a:latin typeface="Cambria Math"/>
                <a:ea typeface="Cambria Math"/>
              </a:rPr>
              <a:t> | / ΔT  &lt;  V</a:t>
            </a:r>
            <a:r>
              <a:rPr sz="2200" b="1" i="0" baseline="-25000">
                <a:solidFill>
                  <a:srgbClr val="1B2740"/>
                </a:solidFill>
                <a:latin typeface="Cambria Math"/>
                <a:ea typeface="Cambria Math"/>
              </a:rPr>
              <a:t>max</a:t>
            </a:r>
          </a:p>
        </p:txBody>
      </p:sp>
      <p:sp>
        <p:nvSpPr>
          <p:cNvPr id="28" name="TextBox 27"/>
          <p:cNvSpPr txBox="1"/>
          <p:nvPr/>
        </p:nvSpPr>
        <p:spPr>
          <a:xfrm>
            <a:off x="640080" y="2926080"/>
            <a:ext cx="5669280" cy="36576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V</a:t>
            </a:r>
            <a:r>
              <a:rPr sz="1200" b="1" i="0" baseline="-25000">
                <a:solidFill>
                  <a:srgbClr val="2563EB"/>
                </a:solidFill>
                <a:latin typeface="맑은 고딕"/>
                <a:ea typeface="맑은 고딕"/>
              </a:rPr>
              <a:t>max</a:t>
            </a:r>
            <a:r>
              <a:rPr sz="1200" b="1" i="0">
                <a:solidFill>
                  <a:srgbClr val="2563EB"/>
                </a:solidFill>
                <a:latin typeface="맑은 고딕"/>
                <a:ea typeface="맑은 고딕"/>
              </a:rPr>
              <a:t> = 800 m/s (과제 조건),  ΔT = 0.1 s  →  앞 플롯 중심 반경 80 m</a:t>
            </a:r>
          </a:p>
        </p:txBody>
      </p:sp>
      <p:sp>
        <p:nvSpPr>
          <p:cNvPr id="29" name="TextBox 28"/>
          <p:cNvSpPr txBox="1"/>
          <p:nvPr/>
        </p:nvSpPr>
        <p:spPr>
          <a:xfrm>
            <a:off x="640080" y="3584448"/>
            <a:ext cx="566928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구현에서 정한 짝짓기 규칙</a:t>
            </a:r>
          </a:p>
        </p:txBody>
      </p:sp>
      <p:sp>
        <p:nvSpPr>
          <p:cNvPr id="30" name="Oval 29"/>
          <p:cNvSpPr/>
          <p:nvPr/>
        </p:nvSpPr>
        <p:spPr>
          <a:xfrm>
            <a:off x="640080" y="395020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31" name="TextBox 30"/>
          <p:cNvSpPr txBox="1"/>
          <p:nvPr/>
        </p:nvSpPr>
        <p:spPr>
          <a:xfrm>
            <a:off x="1024127" y="393192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게이트를 통과한 쌍이 여럿이면 가장 가까운 쌍부터</a:t>
            </a:r>
          </a:p>
          <a:p>
            <a:pPr algn="l">
              <a:spcAft>
                <a:spcPts val="100"/>
              </a:spcAft>
            </a:pPr>
            <a:r>
              <a:rPr sz="1050" b="0" i="0">
                <a:solidFill>
                  <a:srgbClr val="4A5A7A"/>
                </a:solidFill>
                <a:latin typeface="맑은 고딕"/>
                <a:ea typeface="맑은 고딕"/>
              </a:rPr>
              <a:t>두 플롯의 속력 (위치 변화량 ÷ ΔT) 이 작은 순서로 선택</a:t>
            </a:r>
          </a:p>
        </p:txBody>
      </p:sp>
      <p:sp>
        <p:nvSpPr>
          <p:cNvPr id="32" name="Oval 31"/>
          <p:cNvSpPr/>
          <p:nvPr/>
        </p:nvSpPr>
        <p:spPr>
          <a:xfrm>
            <a:off x="640080" y="459028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3" name="TextBox 32"/>
          <p:cNvSpPr txBox="1"/>
          <p:nvPr/>
        </p:nvSpPr>
        <p:spPr>
          <a:xfrm>
            <a:off x="1024127" y="457200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한 플롯은 한 트랙에만 씀</a:t>
            </a:r>
          </a:p>
          <a:p>
            <a:pPr algn="l">
              <a:spcAft>
                <a:spcPts val="100"/>
              </a:spcAft>
            </a:pPr>
            <a:r>
              <a:rPr sz="1050" b="0" i="0">
                <a:solidFill>
                  <a:srgbClr val="4A5A7A"/>
                </a:solidFill>
                <a:latin typeface="맑은 고딕"/>
                <a:ea typeface="맑은 고딕"/>
              </a:rPr>
              <a:t>개시에 쓴 플롯은 다음 스캔의 개시 후보에서 뺌</a:t>
            </a:r>
          </a:p>
        </p:txBody>
      </p:sp>
      <p:sp>
        <p:nvSpPr>
          <p:cNvPr id="34" name="Oval 33"/>
          <p:cNvSpPr/>
          <p:nvPr/>
        </p:nvSpPr>
        <p:spPr>
          <a:xfrm>
            <a:off x="640080" y="523036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5" name="TextBox 34"/>
          <p:cNvSpPr txBox="1"/>
          <p:nvPr/>
        </p:nvSpPr>
        <p:spPr>
          <a:xfrm>
            <a:off x="1024127" y="521208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짝이 없던 이번 스캔 플롯은 다음 스캔 후보로</a:t>
            </a:r>
          </a:p>
          <a:p>
            <a:pPr algn="l">
              <a:spcAft>
                <a:spcPts val="100"/>
              </a:spcAft>
            </a:pPr>
            <a:r>
              <a:rPr sz="1050" b="0" i="0">
                <a:solidFill>
                  <a:srgbClr val="4A5A7A"/>
                </a:solidFill>
                <a:latin typeface="맑은 고딕"/>
                <a:ea typeface="맑은 고딕"/>
              </a:rPr>
              <a:t>오른쪽 그림의 d 처럼 다음 스캔에서 다시 짝을 찾음</a:t>
            </a:r>
          </a:p>
        </p:txBody>
      </p:sp>
      <p:pic>
        <p:nvPicPr>
          <p:cNvPr id="36" name="Picture 35" descr="fig_gate.png"/>
          <p:cNvPicPr>
            <a:picLocks noChangeAspect="1"/>
          </p:cNvPicPr>
          <p:nvPr/>
        </p:nvPicPr>
        <p:blipFill>
          <a:blip r:embed="rId2"/>
          <a:stretch>
            <a:fillRect/>
          </a:stretch>
        </p:blipFill>
        <p:spPr>
          <a:xfrm>
            <a:off x="6675120" y="2240280"/>
            <a:ext cx="4846320" cy="3365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02. 트랙 관리</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개시한 트랙을 계속 믿을지 지울지 정하는 규칙입니다. 트랙 상태 네 가지와 M/N 방식, 트랙 스코어 방식을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상태 네 가지</a:t>
            </a:r>
          </a:p>
        </p:txBody>
      </p:sp>
      <p:cxnSp>
        <p:nvCxnSpPr>
          <p:cNvPr id="30" name="Connector 29"/>
          <p:cNvCxnSpPr/>
          <p:nvPr/>
        </p:nvCxnSpPr>
        <p:spPr>
          <a:xfrm>
            <a:off x="3049524" y="2313432"/>
            <a:ext cx="755751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M/N 방식</a:t>
            </a:r>
          </a:p>
        </p:txBody>
      </p:sp>
      <p:cxnSp>
        <p:nvCxnSpPr>
          <p:cNvPr id="34" name="Connector 33"/>
          <p:cNvCxnSpPr/>
          <p:nvPr/>
        </p:nvCxnSpPr>
        <p:spPr>
          <a:xfrm>
            <a:off x="2276856" y="2720339"/>
            <a:ext cx="833018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방식 (이번 과제)</a:t>
            </a:r>
          </a:p>
        </p:txBody>
      </p:sp>
      <p:cxnSp>
        <p:nvCxnSpPr>
          <p:cNvPr id="38" name="Connector 37"/>
          <p:cNvCxnSpPr/>
          <p:nvPr/>
        </p:nvCxnSpPr>
        <p:spPr>
          <a:xfrm>
            <a:off x="4032504" y="3127248"/>
            <a:ext cx="65745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2.1 트랙 상태 네 가지</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TrackState 1 임시 · 2 확정 · 3 메모리 · 4 삭제. 매 스캔 트랙 연관 결과 (Assigned_Flag: 1 성공, 0 실패) 로 상태가 바뀝니다.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tates.png"/>
          <p:cNvPicPr>
            <a:picLocks noChangeAspect="1"/>
          </p:cNvPicPr>
          <p:nvPr/>
        </p:nvPicPr>
        <p:blipFill>
          <a:blip r:embed="rId2"/>
          <a:stretch>
            <a:fillRect/>
          </a:stretch>
        </p:blipFill>
        <p:spPr>
          <a:xfrm>
            <a:off x="1280160" y="2240280"/>
            <a:ext cx="9601200" cy="3138854"/>
          </a:xfrm>
          <a:prstGeom prst="rect">
            <a:avLst/>
          </a:prstGeom>
        </p:spPr>
      </p:pic>
      <p:sp>
        <p:nvSpPr>
          <p:cNvPr id="27" name="Rounded Rectangle 26"/>
          <p:cNvSpPr/>
          <p:nvPr/>
        </p:nvSpPr>
        <p:spPr>
          <a:xfrm>
            <a:off x="640080" y="5440680"/>
            <a:ext cx="2615184" cy="777240"/>
          </a:xfrm>
          <a:prstGeom prst="roundRect">
            <a:avLst>
              <a:gd name="adj" fmla="val 12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7240" y="5486400"/>
            <a:ext cx="2377440" cy="256032"/>
          </a:xfrm>
          <a:prstGeom prst="rect">
            <a:avLst/>
          </a:prstGeom>
          <a:noFill/>
        </p:spPr>
        <p:txBody>
          <a:bodyPr wrap="square" lIns="0" rIns="0" tIns="0" bIns="0" anchor="t">
            <a:spAutoFit/>
          </a:bodyPr>
          <a:lstStyle/>
          <a:p>
            <a:pPr algn="l">
              <a:spcAft>
                <a:spcPts val="0"/>
              </a:spcAft>
            </a:pPr>
            <a:r>
              <a:rPr sz="1200" b="1" i="0">
                <a:solidFill>
                  <a:srgbClr val="D97706"/>
                </a:solidFill>
                <a:latin typeface="맑은 고딕"/>
                <a:ea typeface="맑은 고딕"/>
              </a:rPr>
              <a:t>1 임시</a:t>
            </a:r>
          </a:p>
        </p:txBody>
      </p:sp>
      <p:sp>
        <p:nvSpPr>
          <p:cNvPr id="29" name="TextBox 28"/>
          <p:cNvSpPr txBox="1"/>
          <p:nvPr/>
        </p:nvSpPr>
        <p:spPr>
          <a:xfrm>
            <a:off x="777240"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막 개시한 트랙. 아직 진짜 표적인지 모름</a:t>
            </a:r>
          </a:p>
        </p:txBody>
      </p:sp>
      <p:sp>
        <p:nvSpPr>
          <p:cNvPr id="30" name="Rounded Rectangle 29"/>
          <p:cNvSpPr/>
          <p:nvPr/>
        </p:nvSpPr>
        <p:spPr>
          <a:xfrm>
            <a:off x="3401568" y="5440680"/>
            <a:ext cx="2615184" cy="777240"/>
          </a:xfrm>
          <a:prstGeom prst="roundRect">
            <a:avLst>
              <a:gd name="adj" fmla="val 12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538727" y="5486400"/>
            <a:ext cx="2377440" cy="256032"/>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2 확정</a:t>
            </a:r>
          </a:p>
        </p:txBody>
      </p:sp>
      <p:sp>
        <p:nvSpPr>
          <p:cNvPr id="32" name="TextBox 31"/>
          <p:cNvSpPr txBox="1"/>
          <p:nvPr/>
        </p:nvSpPr>
        <p:spPr>
          <a:xfrm>
            <a:off x="3538727"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연관이 꾸준히 성공해 믿을 만해진 트랙</a:t>
            </a:r>
          </a:p>
        </p:txBody>
      </p:sp>
      <p:sp>
        <p:nvSpPr>
          <p:cNvPr id="33" name="Rounded Rectangle 32"/>
          <p:cNvSpPr/>
          <p:nvPr/>
        </p:nvSpPr>
        <p:spPr>
          <a:xfrm>
            <a:off x="6163056" y="5440680"/>
            <a:ext cx="2615184" cy="777240"/>
          </a:xfrm>
          <a:prstGeom prst="roundRect">
            <a:avLst>
              <a:gd name="adj" fmla="val 12000"/>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00216" y="5486400"/>
            <a:ext cx="2377440" cy="256032"/>
          </a:xfrm>
          <a:prstGeom prst="rect">
            <a:avLst/>
          </a:prstGeom>
          <a:noFill/>
        </p:spPr>
        <p:txBody>
          <a:bodyPr wrap="square" lIns="0" rIns="0" tIns="0" bIns="0" anchor="t">
            <a:spAutoFit/>
          </a:bodyPr>
          <a:lstStyle/>
          <a:p>
            <a:pPr algn="l">
              <a:spcAft>
                <a:spcPts val="0"/>
              </a:spcAft>
            </a:pPr>
            <a:r>
              <a:rPr sz="1200" b="1" i="0">
                <a:solidFill>
                  <a:srgbClr val="7C3AED"/>
                </a:solidFill>
                <a:latin typeface="맑은 고딕"/>
                <a:ea typeface="맑은 고딕"/>
              </a:rPr>
              <a:t>3 메모리</a:t>
            </a:r>
          </a:p>
        </p:txBody>
      </p:sp>
      <p:sp>
        <p:nvSpPr>
          <p:cNvPr id="35" name="TextBox 34"/>
          <p:cNvSpPr txBox="1"/>
          <p:nvPr/>
        </p:nvSpPr>
        <p:spPr>
          <a:xfrm>
            <a:off x="6300216"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확정이었다가 이번 스캔에 놓친 트랙. 바로 지우지 않고 기다림</a:t>
            </a:r>
          </a:p>
        </p:txBody>
      </p:sp>
      <p:sp>
        <p:nvSpPr>
          <p:cNvPr id="36" name="Rounded Rectangle 35"/>
          <p:cNvSpPr/>
          <p:nvPr/>
        </p:nvSpPr>
        <p:spPr>
          <a:xfrm>
            <a:off x="8924544" y="5440680"/>
            <a:ext cx="2615184" cy="777240"/>
          </a:xfrm>
          <a:prstGeom prst="roundRect">
            <a:avLst>
              <a:gd name="adj" fmla="val 12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061704" y="5486400"/>
            <a:ext cx="2377440" cy="256032"/>
          </a:xfrm>
          <a:prstGeom prst="rect">
            <a:avLst/>
          </a:prstGeom>
          <a:noFill/>
        </p:spPr>
        <p:txBody>
          <a:bodyPr wrap="square" lIns="0" rIns="0" tIns="0" bIns="0" anchor="t">
            <a:spAutoFit/>
          </a:bodyPr>
          <a:lstStyle/>
          <a:p>
            <a:pPr algn="l">
              <a:spcAft>
                <a:spcPts val="0"/>
              </a:spcAft>
            </a:pPr>
            <a:r>
              <a:rPr sz="1200" b="1" i="0">
                <a:solidFill>
                  <a:srgbClr val="6B7280"/>
                </a:solidFill>
                <a:latin typeface="맑은 고딕"/>
                <a:ea typeface="맑은 고딕"/>
              </a:rPr>
              <a:t>4 삭제</a:t>
            </a:r>
          </a:p>
        </p:txBody>
      </p:sp>
      <p:sp>
        <p:nvSpPr>
          <p:cNvPr id="38" name="TextBox 37"/>
          <p:cNvSpPr txBox="1"/>
          <p:nvPr/>
        </p:nvSpPr>
        <p:spPr>
          <a:xfrm>
            <a:off x="9061704"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더 볼 필요 없는 트랙. 한 스캔 보인 뒤 표에서 빠짐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2.2 M/N 방식</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최근 N 번 가운데 M 번 연관되면 확정합니다. 연관 성공 · 실패를 횟수로 세는 방식입니다.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mn.png"/>
          <p:cNvPicPr>
            <a:picLocks noChangeAspect="1"/>
          </p:cNvPicPr>
          <p:nvPr/>
        </p:nvPicPr>
        <p:blipFill>
          <a:blip r:embed="rId2"/>
          <a:stretch>
            <a:fillRect/>
          </a:stretch>
        </p:blipFill>
        <p:spPr>
          <a:xfrm>
            <a:off x="822960" y="2240280"/>
            <a:ext cx="10241280" cy="2560320"/>
          </a:xfrm>
          <a:prstGeom prst="rect">
            <a:avLst/>
          </a:prstGeom>
        </p:spPr>
      </p:pic>
      <p:sp>
        <p:nvSpPr>
          <p:cNvPr id="27" name="Rounded Rectangle 26"/>
          <p:cNvSpPr/>
          <p:nvPr/>
        </p:nvSpPr>
        <p:spPr>
          <a:xfrm>
            <a:off x="640080" y="4846320"/>
            <a:ext cx="3520440" cy="1371600"/>
          </a:xfrm>
          <a:prstGeom prst="roundRect">
            <a:avLst>
              <a:gd name="adj" fmla="val 8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59" y="4937760"/>
            <a:ext cx="3200400" cy="274320"/>
          </a:xfrm>
          <a:prstGeom prst="rect">
            <a:avLst/>
          </a:prstGeom>
          <a:noFill/>
        </p:spPr>
        <p:txBody>
          <a:bodyPr wrap="square" lIns="0" rIns="0" tIns="0" bIns="0" anchor="t">
            <a:spAutoFit/>
          </a:bodyPr>
          <a:lstStyle/>
          <a:p>
            <a:pPr algn="l">
              <a:spcAft>
                <a:spcPts val="0"/>
              </a:spcAft>
            </a:pPr>
            <a:r>
              <a:rPr sz="1250" b="1" i="0">
                <a:solidFill>
                  <a:srgbClr val="D97706"/>
                </a:solidFill>
                <a:latin typeface="맑은 고딕"/>
                <a:ea typeface="맑은 고딕"/>
              </a:rPr>
              <a:t>임시 트랙</a:t>
            </a:r>
          </a:p>
        </p:txBody>
      </p:sp>
      <p:sp>
        <p:nvSpPr>
          <p:cNvPr id="29" name="TextBox 28"/>
          <p:cNvSpPr txBox="1"/>
          <p:nvPr/>
        </p:nvSpPr>
        <p:spPr>
          <a:xfrm>
            <a:off x="822959"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N 번 중 M 번 트랙 연관 성공 → 트랙 확정</a:t>
            </a:r>
          </a:p>
          <a:p>
            <a:pPr algn="l">
              <a:spcAft>
                <a:spcPts val="400"/>
              </a:spcAft>
            </a:pPr>
            <a:r>
              <a:rPr sz="1100" b="0" i="0">
                <a:solidFill>
                  <a:srgbClr val="1B2740"/>
                </a:solidFill>
                <a:latin typeface="맑은 고딕"/>
                <a:ea typeface="맑은 고딕"/>
              </a:rPr>
              <a:t>M 번 연속 결합 실패 → 트랙 삭제</a:t>
            </a:r>
          </a:p>
        </p:txBody>
      </p:sp>
      <p:sp>
        <p:nvSpPr>
          <p:cNvPr id="30" name="Rounded Rectangle 29"/>
          <p:cNvSpPr/>
          <p:nvPr/>
        </p:nvSpPr>
        <p:spPr>
          <a:xfrm>
            <a:off x="4343400" y="4846320"/>
            <a:ext cx="3520440" cy="1371600"/>
          </a:xfrm>
          <a:prstGeom prst="roundRect">
            <a:avLst>
              <a:gd name="adj" fmla="val 8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26280" y="4937760"/>
            <a:ext cx="3200400" cy="274320"/>
          </a:xfrm>
          <a:prstGeom prst="rect">
            <a:avLst/>
          </a:prstGeom>
          <a:noFill/>
        </p:spPr>
        <p:txBody>
          <a:bodyPr wrap="square" lIns="0" rIns="0" tIns="0" bIns="0" anchor="t">
            <a:spAutoFit/>
          </a:bodyPr>
          <a:lstStyle/>
          <a:p>
            <a:pPr algn="l">
              <a:spcAft>
                <a:spcPts val="0"/>
              </a:spcAft>
            </a:pPr>
            <a:r>
              <a:rPr sz="1250" b="1" i="0">
                <a:solidFill>
                  <a:srgbClr val="059669"/>
                </a:solidFill>
                <a:latin typeface="맑은 고딕"/>
                <a:ea typeface="맑은 고딕"/>
              </a:rPr>
              <a:t>확정 트랙</a:t>
            </a:r>
          </a:p>
        </p:txBody>
      </p:sp>
      <p:sp>
        <p:nvSpPr>
          <p:cNvPr id="32" name="TextBox 31"/>
          <p:cNvSpPr txBox="1"/>
          <p:nvPr/>
        </p:nvSpPr>
        <p:spPr>
          <a:xfrm>
            <a:off x="4526280"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트랙 연관 실패 → 메모리 트랙 전환</a:t>
            </a:r>
          </a:p>
          <a:p>
            <a:pPr algn="l">
              <a:spcAft>
                <a:spcPts val="400"/>
              </a:spcAft>
            </a:pPr>
            <a:r>
              <a:rPr sz="1100" b="0" i="0">
                <a:solidFill>
                  <a:srgbClr val="1B2740"/>
                </a:solidFill>
                <a:latin typeface="맑은 고딕"/>
                <a:ea typeface="맑은 고딕"/>
              </a:rPr>
              <a:t>특정 시간 이상 메모리 상태 유지 → 트랙 삭제</a:t>
            </a:r>
          </a:p>
        </p:txBody>
      </p:sp>
      <p:sp>
        <p:nvSpPr>
          <p:cNvPr id="33" name="Rounded Rectangle 32"/>
          <p:cNvSpPr/>
          <p:nvPr/>
        </p:nvSpPr>
        <p:spPr>
          <a:xfrm>
            <a:off x="8046720" y="4846320"/>
            <a:ext cx="3502152" cy="1371600"/>
          </a:xfrm>
          <a:prstGeom prst="roundRect">
            <a:avLst>
              <a:gd name="adj" fmla="val 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29600" y="4937760"/>
            <a:ext cx="3200400" cy="1234440"/>
          </a:xfrm>
          <a:prstGeom prst="rect">
            <a:avLst/>
          </a:prstGeom>
          <a:noFill/>
        </p:spPr>
        <p:txBody>
          <a:bodyPr wrap="square" lIns="0" rIns="0" tIns="0" bIns="0" anchor="t">
            <a:spAutoFit/>
          </a:bodyPr>
          <a:lstStyle/>
          <a:p>
            <a:pPr algn="l">
              <a:spcAft>
                <a:spcPts val="400"/>
              </a:spcAft>
            </a:pPr>
            <a:r>
              <a:rPr sz="1250" b="1" i="0">
                <a:solidFill>
                  <a:srgbClr val="1B2740"/>
                </a:solidFill>
                <a:latin typeface="맑은 고딕"/>
                <a:ea typeface="맑은 고딕"/>
              </a:rPr>
              <a:t>특징</a:t>
            </a:r>
          </a:p>
          <a:p>
            <a:pPr algn="l">
              <a:spcAft>
                <a:spcPts val="300"/>
              </a:spcAft>
            </a:pPr>
            <a:r>
              <a:rPr sz="1100" b="0" i="0">
                <a:solidFill>
                  <a:srgbClr val="1B2740"/>
                </a:solidFill>
                <a:latin typeface="맑은 고딕"/>
                <a:ea typeface="맑은 고딕"/>
              </a:rPr>
              <a:t>성공 · 실패 횟수로 판단하는 단순한 규칙</a:t>
            </a:r>
          </a:p>
          <a:p>
            <a:pPr algn="l">
              <a:spcAft>
                <a:spcPts val="0"/>
              </a:spcAft>
            </a:pPr>
            <a:r>
              <a:rPr sz="1100" b="0" i="0">
                <a:solidFill>
                  <a:srgbClr val="1B2740"/>
                </a:solidFill>
                <a:latin typeface="맑은 고딕"/>
                <a:ea typeface="맑은 고딕"/>
              </a:rPr>
              <a:t>트랙마다 최근 N 번의 연관 이력을 관리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2.3 트랙 스코어 방식 (이번 과제)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연관에 성공하면 점수를 올리고 실패하면 내립니다. 점수가 문턱치를 넘는지로 상태를 바꿉니다. 과제는 이 방식을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core.png"/>
          <p:cNvPicPr>
            <a:picLocks noChangeAspect="1"/>
          </p:cNvPicPr>
          <p:nvPr/>
        </p:nvPicPr>
        <p:blipFill>
          <a:blip r:embed="rId2"/>
          <a:stretch>
            <a:fillRect/>
          </a:stretch>
        </p:blipFill>
        <p:spPr>
          <a:xfrm>
            <a:off x="566928" y="2286000"/>
            <a:ext cx="7086600" cy="2377440"/>
          </a:xfrm>
          <a:prstGeom prst="rect">
            <a:avLst/>
          </a:prstGeom>
        </p:spPr>
      </p:pic>
      <p:sp>
        <p:nvSpPr>
          <p:cNvPr id="27" name="TextBox 26"/>
          <p:cNvSpPr txBox="1"/>
          <p:nvPr/>
        </p:nvSpPr>
        <p:spPr>
          <a:xfrm>
            <a:off x="640080" y="4709160"/>
            <a:ext cx="694944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Flag 1 1 1 0 0 1 0 0 0 0 0 을 넣은 예 (UI 스코어 확인 창과 같은 계산)</a:t>
            </a:r>
          </a:p>
        </p:txBody>
      </p:sp>
      <p:sp>
        <p:nvSpPr>
          <p:cNvPr id="28" name="Rounded Rectangle 27"/>
          <p:cNvSpPr/>
          <p:nvPr/>
        </p:nvSpPr>
        <p:spPr>
          <a:xfrm>
            <a:off x="7818120" y="2286000"/>
            <a:ext cx="3730752" cy="393192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001000" y="2359152"/>
            <a:ext cx="3474720" cy="274320"/>
          </a:xfrm>
          <a:prstGeom prst="rect">
            <a:avLst/>
          </a:prstGeom>
          <a:noFill/>
        </p:spPr>
        <p:txBody>
          <a:bodyPr wrap="square" lIns="0" rIns="0" tIns="0" bIns="0" anchor="t">
            <a:spAutoFit/>
          </a:bodyPr>
          <a:lstStyle/>
          <a:p>
            <a:pPr algn="l">
              <a:spcAft>
                <a:spcPts val="0"/>
              </a:spcAft>
            </a:pPr>
            <a:r>
              <a:rPr sz="1250" b="1" i="0">
                <a:solidFill>
                  <a:srgbClr val="1B2740"/>
                </a:solidFill>
                <a:latin typeface="맑은 고딕"/>
                <a:ea typeface="맑은 고딕"/>
              </a:rPr>
              <a:t>과제 조건과 규칙</a:t>
            </a:r>
          </a:p>
        </p:txBody>
      </p:sp>
      <p:sp>
        <p:nvSpPr>
          <p:cNvPr id="30" name="Rounded Rectangle 29"/>
          <p:cNvSpPr/>
          <p:nvPr/>
        </p:nvSpPr>
        <p:spPr>
          <a:xfrm>
            <a:off x="8001000" y="2724912"/>
            <a:ext cx="96012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임시 (1)</a:t>
            </a:r>
          </a:p>
        </p:txBody>
      </p:sp>
      <p:sp>
        <p:nvSpPr>
          <p:cNvPr id="31" name="TextBox 30"/>
          <p:cNvSpPr txBox="1"/>
          <p:nvPr/>
        </p:nvSpPr>
        <p:spPr>
          <a:xfrm>
            <a:off x="9098280" y="2706624"/>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TrackScore +1, 실패 −1</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5</a:t>
            </a:r>
            <a:r>
              <a:rPr sz="1050" b="0" i="0">
                <a:solidFill>
                  <a:srgbClr val="1B2740"/>
                </a:solidFill>
                <a:latin typeface="맑은 고딕"/>
                <a:ea typeface="맑은 고딕"/>
              </a:rPr>
              <a:t> → 확정</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0</a:t>
            </a:r>
            <a:r>
              <a:rPr sz="1050" b="0" i="0">
                <a:solidFill>
                  <a:srgbClr val="1B2740"/>
                </a:solidFill>
                <a:latin typeface="맑은 고딕"/>
                <a:ea typeface="맑은 고딕"/>
              </a:rPr>
              <a:t> → 삭제</a:t>
            </a:r>
          </a:p>
        </p:txBody>
      </p:sp>
      <p:sp>
        <p:nvSpPr>
          <p:cNvPr id="32" name="Rounded Rectangle 31"/>
          <p:cNvSpPr/>
          <p:nvPr/>
        </p:nvSpPr>
        <p:spPr>
          <a:xfrm>
            <a:off x="8001000" y="3739896"/>
            <a:ext cx="960120" cy="256032"/>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확정 (2)</a:t>
            </a:r>
          </a:p>
        </p:txBody>
      </p:sp>
      <p:sp>
        <p:nvSpPr>
          <p:cNvPr id="33" name="TextBox 32"/>
          <p:cNvSpPr txBox="1"/>
          <p:nvPr/>
        </p:nvSpPr>
        <p:spPr>
          <a:xfrm>
            <a:off x="9098280" y="3721608"/>
            <a:ext cx="2423160" cy="2743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실패 → 메모리, MemoryScore +1</a:t>
            </a:r>
          </a:p>
        </p:txBody>
      </p:sp>
      <p:sp>
        <p:nvSpPr>
          <p:cNvPr id="34" name="Rounded Rectangle 33"/>
          <p:cNvSpPr/>
          <p:nvPr/>
        </p:nvSpPr>
        <p:spPr>
          <a:xfrm>
            <a:off x="8001000" y="4261104"/>
            <a:ext cx="960120" cy="256032"/>
          </a:xfrm>
          <a:prstGeom prst="roundRect">
            <a:avLst>
              <a:gd name="adj" fmla="val 25000"/>
            </a:avLst>
          </a:prstGeom>
          <a:solidFill>
            <a:srgbClr val="FFFFFF"/>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7C3AED"/>
                </a:solidFill>
                <a:latin typeface="맑은 고딕"/>
                <a:ea typeface="맑은 고딕"/>
              </a:rPr>
              <a:t>메모리 (3)</a:t>
            </a:r>
          </a:p>
        </p:txBody>
      </p:sp>
      <p:sp>
        <p:nvSpPr>
          <p:cNvPr id="35" name="TextBox 34"/>
          <p:cNvSpPr txBox="1"/>
          <p:nvPr/>
        </p:nvSpPr>
        <p:spPr>
          <a:xfrm>
            <a:off x="9098280" y="4242816"/>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 바로 확정, MemoryScore = 0</a:t>
            </a:r>
          </a:p>
          <a:p>
            <a:pPr algn="l">
              <a:spcAft>
                <a:spcPts val="200"/>
              </a:spcAft>
            </a:pPr>
            <a:r>
              <a:rPr sz="1050" b="0" i="0">
                <a:solidFill>
                  <a:srgbClr val="1B2740"/>
                </a:solidFill>
                <a:latin typeface="맑은 고딕"/>
                <a:ea typeface="맑은 고딕"/>
              </a:rPr>
              <a:t>실패 → MemoryScore +1</a:t>
            </a:r>
          </a:p>
          <a:p>
            <a:pPr algn="l">
              <a:spcAft>
                <a:spcPts val="200"/>
              </a:spcAft>
            </a:pPr>
            <a:r>
              <a:rPr sz="1050" b="0" i="0">
                <a:solidFill>
                  <a:srgbClr val="1B2740"/>
                </a:solidFill>
                <a:latin typeface="맑은 고딕"/>
                <a:ea typeface="맑은 고딕"/>
              </a:rPr>
              <a:t>MemoryScore ≥ </a:t>
            </a:r>
            <a:r>
              <a:rPr sz="1050" b="1" i="0">
                <a:solidFill>
                  <a:srgbClr val="1B2740"/>
                </a:solidFill>
                <a:latin typeface="맑은 고딕"/>
                <a:ea typeface="맑은 고딕"/>
              </a:rPr>
              <a:t>5</a:t>
            </a:r>
            <a:r>
              <a:rPr sz="1050" b="0" i="0">
                <a:solidFill>
                  <a:srgbClr val="1B2740"/>
                </a:solidFill>
                <a:latin typeface="맑은 고딕"/>
                <a:ea typeface="맑은 고딕"/>
              </a:rPr>
              <a:t> → 삭제</a:t>
            </a:r>
          </a:p>
        </p:txBody>
      </p:sp>
      <p:cxnSp>
        <p:nvCxnSpPr>
          <p:cNvPr id="36" name="Connector 35"/>
          <p:cNvCxnSpPr/>
          <p:nvPr/>
        </p:nvCxnSpPr>
        <p:spPr>
          <a:xfrm>
            <a:off x="8001000" y="5294376"/>
            <a:ext cx="338328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001000" y="5349240"/>
            <a:ext cx="3474720" cy="685800"/>
          </a:xfrm>
          <a:prstGeom prst="rect">
            <a:avLst/>
          </a:prstGeom>
          <a:noFill/>
        </p:spPr>
        <p:txBody>
          <a:bodyPr wrap="square" lIns="0" rIns="0" tIns="0" bIns="0" anchor="t">
            <a:spAutoFit/>
          </a:bodyPr>
          <a:lstStyle/>
          <a:p>
            <a:pPr algn="l">
              <a:spcAft>
                <a:spcPts val="100"/>
              </a:spcAft>
            </a:pPr>
            <a:r>
              <a:rPr sz="1000" b="0" i="0">
                <a:solidFill>
                  <a:srgbClr val="4A5A7A"/>
                </a:solidFill>
                <a:latin typeface="맑은 고딕"/>
                <a:ea typeface="맑은 고딕"/>
              </a:rPr>
              <a:t>개시 직후 TrackScore = 2</a:t>
            </a:r>
          </a:p>
          <a:p>
            <a:pPr algn="l">
              <a:spcAft>
                <a:spcPts val="100"/>
              </a:spcAft>
            </a:pPr>
            <a:r>
              <a:rPr sz="1000" b="0" i="0">
                <a:solidFill>
                  <a:srgbClr val="4A5A7A"/>
                </a:solidFill>
                <a:latin typeface="맑은 고딕"/>
                <a:ea typeface="맑은 고딕"/>
              </a:rPr>
              <a:t>(플롯 두 개로 개시한 트랙)</a:t>
            </a:r>
          </a:p>
        </p:txBody>
      </p:sp>
      <p:sp>
        <p:nvSpPr>
          <p:cNvPr id="38" name="Rounded Rectangle 37"/>
          <p:cNvSpPr/>
          <p:nvPr/>
        </p:nvSpPr>
        <p:spPr>
          <a:xfrm>
            <a:off x="640080" y="5074920"/>
            <a:ext cx="6949440" cy="1143000"/>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2960" y="5138928"/>
            <a:ext cx="6675120" cy="1051560"/>
          </a:xfrm>
          <a:prstGeom prst="rect">
            <a:avLst/>
          </a:prstGeom>
          <a:noFill/>
        </p:spPr>
        <p:txBody>
          <a:bodyPr wrap="square" lIns="0" rIns="0" tIns="0" bIns="0" anchor="t">
            <a:spAutoFit/>
          </a:bodyPr>
          <a:lstStyle/>
          <a:p>
            <a:pPr algn="l">
              <a:spcAft>
                <a:spcPts val="300"/>
              </a:spcAft>
            </a:pPr>
            <a:r>
              <a:rPr sz="1200" b="1" i="0">
                <a:solidFill>
                  <a:srgbClr val="1B2740"/>
                </a:solidFill>
                <a:latin typeface="맑은 고딕"/>
                <a:ea typeface="맑은 고딕"/>
              </a:rPr>
              <a:t>과제 적용 조건</a:t>
            </a:r>
          </a:p>
          <a:p>
            <a:pPr algn="l">
              <a:spcAft>
                <a:spcPts val="200"/>
              </a:spcAft>
            </a:pPr>
            <a:r>
              <a:rPr sz="1050" b="0" i="0">
                <a:solidFill>
                  <a:srgbClr val="1B2740"/>
                </a:solidFill>
                <a:latin typeface="맑은 고딕"/>
                <a:ea typeface="맑은 고딕"/>
              </a:rPr>
              <a:t>· 임시 트랙 확정 문턱치 5, 임시 트랙 삭제 문턱치 0, 메모리 트랙 삭제 문턱치 5</a:t>
            </a:r>
          </a:p>
          <a:p>
            <a:pPr algn="l">
              <a:spcAft>
                <a:spcPts val="200"/>
              </a:spcAft>
            </a:pPr>
            <a:r>
              <a:rPr sz="1050" b="0" i="0">
                <a:solidFill>
                  <a:srgbClr val="1B2740"/>
                </a:solidFill>
                <a:latin typeface="맑은 고딕"/>
                <a:ea typeface="맑은 고딕"/>
              </a:rPr>
              <a:t>· 메모리 트랙이 다시 연관되면 바로 확정 트랙으로 전환, MemoryScore = 0</a:t>
            </a:r>
          </a:p>
          <a:p>
            <a:pPr algn="l">
              <a:spcAft>
                <a:spcPts val="0"/>
              </a:spcAft>
            </a:pPr>
            <a:r>
              <a:rPr sz="1050" b="0" i="0">
                <a:solidFill>
                  <a:srgbClr val="1B2740"/>
                </a:solidFill>
                <a:latin typeface="맑은 고딕"/>
                <a:ea typeface="맑은 고딕"/>
              </a:rPr>
              <a:t>· TrackState: 1 임시, 2 확정, 3 메모리, 4 삭제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03. 구현</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과제 4 프로그램 (TargetSim) 에 플롯 메시지 송수신과 트랙 개시 · 관리를 넣은 구조와 코드를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구조와 데이터 흐름</a:t>
            </a:r>
          </a:p>
        </p:txBody>
      </p:sp>
      <p:cxnSp>
        <p:nvCxnSpPr>
          <p:cNvPr id="30" name="Connector 29"/>
          <p:cNvCxnSpPr/>
          <p:nvPr/>
        </p:nvCxnSpPr>
        <p:spPr>
          <a:xfrm>
            <a:off x="3570732" y="2313432"/>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 메시지 STRUCT_PlotMsg</a:t>
            </a:r>
          </a:p>
        </p:txBody>
      </p:sp>
      <p:cxnSp>
        <p:nvCxnSpPr>
          <p:cNvPr id="34" name="Connector 33"/>
          <p:cNvCxnSpPr/>
          <p:nvPr/>
        </p:nvCxnSpPr>
        <p:spPr>
          <a:xfrm>
            <a:off x="3950208" y="2720339"/>
            <a:ext cx="665683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자료구조와 스캔 처리 순서</a:t>
            </a:r>
          </a:p>
        </p:txBody>
      </p:sp>
      <p:cxnSp>
        <p:nvCxnSpPr>
          <p:cNvPr id="38" name="Connector 37"/>
          <p:cNvCxnSpPr/>
          <p:nvPr/>
        </p:nvCxnSpPr>
        <p:spPr>
          <a:xfrm>
            <a:off x="4187952" y="3127248"/>
            <a:ext cx="641908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개시와 R 계산 (f_Trk_TwoPointInit)</a:t>
            </a:r>
          </a:p>
        </p:txBody>
      </p:sp>
      <p:cxnSp>
        <p:nvCxnSpPr>
          <p:cNvPr id="42" name="Connector 41"/>
          <p:cNvCxnSpPr/>
          <p:nvPr/>
        </p:nvCxnSpPr>
        <p:spPr>
          <a:xfrm>
            <a:off x="5486400" y="3534155"/>
            <a:ext cx="51206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로직 (f_Trk_UpdateState)</a:t>
            </a:r>
          </a:p>
        </p:txBody>
      </p:sp>
      <p:cxnSp>
        <p:nvCxnSpPr>
          <p:cNvPr id="46" name="Connector 45"/>
          <p:cNvCxnSpPr/>
          <p:nvPr/>
        </p:nvCxnSpPr>
        <p:spPr>
          <a:xfrm>
            <a:off x="4873752" y="3941063"/>
            <a:ext cx="573328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3.1 전체 구조와 데이터 흐름</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한 프로그램 안에 신호처리 역할의 송신 쓰레드와 데이터 처리 역할의 수신 쓰레드를 두고, 스캔마다 플롯 메시지를 UDP 로 주고받습니다.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0908792" cy="3017520"/>
          </a:xfrm>
          <a:prstGeom prst="roundRect">
            <a:avLst>
              <a:gd name="adj" fmla="val 3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2340864"/>
            <a:ext cx="4572000" cy="256032"/>
          </a:xfrm>
          <a:prstGeom prst="rect">
            <a:avLst/>
          </a:prstGeom>
          <a:noFill/>
        </p:spPr>
        <p:txBody>
          <a:bodyPr wrap="square" lIns="0" rIns="0" tIns="0" bIns="0" anchor="t">
            <a:spAutoFit/>
          </a:bodyPr>
          <a:lstStyle/>
          <a:p>
            <a:pPr algn="l">
              <a:spcAft>
                <a:spcPts val="0"/>
              </a:spcAft>
            </a:pPr>
            <a:r>
              <a:rPr sz="1100" b="1" i="0">
                <a:solidFill>
                  <a:srgbClr val="4A5A7A"/>
                </a:solidFill>
                <a:latin typeface="Arial"/>
                <a:ea typeface="맑은 고딕"/>
              </a:rPr>
              <a:t>TargetSimCore.dll  (C)</a:t>
            </a:r>
          </a:p>
        </p:txBody>
      </p:sp>
      <p:sp>
        <p:nvSpPr>
          <p:cNvPr id="28" name="Rounded Rectangle 27"/>
          <p:cNvSpPr/>
          <p:nvPr/>
        </p:nvSpPr>
        <p:spPr>
          <a:xfrm>
            <a:off x="914400" y="2697480"/>
            <a:ext cx="3017520" cy="777240"/>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278892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궤적 계산  (과제 3)</a:t>
            </a:r>
          </a:p>
        </p:txBody>
      </p:sp>
      <p:sp>
        <p:nvSpPr>
          <p:cNvPr id="30" name="TextBox 29"/>
          <p:cNvSpPr txBox="1"/>
          <p:nvPr/>
        </p:nvSpPr>
        <p:spPr>
          <a:xfrm>
            <a:off x="914400" y="3108960"/>
            <a:ext cx="3017520" cy="274320"/>
          </a:xfrm>
          <a:prstGeom prst="rect">
            <a:avLst/>
          </a:prstGeom>
          <a:noFill/>
        </p:spPr>
        <p:txBody>
          <a:bodyPr wrap="square" lIns="0" rIns="0" tIns="0" bIns="0" anchor="t">
            <a:spAutoFit/>
          </a:bodyPr>
          <a:lstStyle/>
          <a:p>
            <a:pPr algn="ctr">
              <a:spcAft>
                <a:spcPts val="0"/>
              </a:spcAft>
            </a:pPr>
            <a:r>
              <a:rPr sz="950" b="0" i="0">
                <a:solidFill>
                  <a:srgbClr val="4A5A7A"/>
                </a:solidFill>
                <a:latin typeface="맑은 고딕"/>
                <a:ea typeface="맑은 고딕"/>
              </a:rPr>
              <a:t>TargetSim.c · 0.1 s 마다 플랫폼 · 표적 상태</a:t>
            </a:r>
          </a:p>
        </p:txBody>
      </p:sp>
      <p:sp>
        <p:nvSpPr>
          <p:cNvPr id="31" name="Rounded Rectangle 30"/>
          <p:cNvSpPr/>
          <p:nvPr/>
        </p:nvSpPr>
        <p:spPr>
          <a:xfrm>
            <a:off x="4343400" y="2697480"/>
            <a:ext cx="3017520" cy="777240"/>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343400" y="278892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측정 모의  (과제 4)</a:t>
            </a:r>
          </a:p>
        </p:txBody>
      </p:sp>
      <p:sp>
        <p:nvSpPr>
          <p:cNvPr id="33" name="TextBox 32"/>
          <p:cNvSpPr txBox="1"/>
          <p:nvPr/>
        </p:nvSpPr>
        <p:spPr>
          <a:xfrm>
            <a:off x="4343400" y="3108960"/>
            <a:ext cx="3017520" cy="274320"/>
          </a:xfrm>
          <a:prstGeom prst="rect">
            <a:avLst/>
          </a:prstGeom>
          <a:noFill/>
        </p:spPr>
        <p:txBody>
          <a:bodyPr wrap="square" lIns="0" rIns="0" tIns="0" bIns="0" anchor="t">
            <a:spAutoFit/>
          </a:bodyPr>
          <a:lstStyle/>
          <a:p>
            <a:pPr algn="ctr">
              <a:spcAft>
                <a:spcPts val="0"/>
              </a:spcAft>
            </a:pPr>
            <a:r>
              <a:rPr sz="950" b="0" i="0">
                <a:solidFill>
                  <a:srgbClr val="4A5A7A"/>
                </a:solidFill>
                <a:latin typeface="맑은 고딕"/>
                <a:ea typeface="맑은 고딕"/>
              </a:rPr>
              <a:t>PlotSim.c · 표적 플롯 + 클러터 5 개 / 스캔</a:t>
            </a:r>
          </a:p>
        </p:txBody>
      </p:sp>
      <p:sp>
        <p:nvSpPr>
          <p:cNvPr id="34" name="Rounded Rectangle 33"/>
          <p:cNvSpPr/>
          <p:nvPr/>
        </p:nvSpPr>
        <p:spPr>
          <a:xfrm>
            <a:off x="7772400" y="2697480"/>
            <a:ext cx="3017520" cy="777240"/>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772400" y="2788920"/>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송신 쓰레드  (신호처리 역할)</a:t>
            </a:r>
          </a:p>
        </p:txBody>
      </p:sp>
      <p:sp>
        <p:nvSpPr>
          <p:cNvPr id="36" name="TextBox 35"/>
          <p:cNvSpPr txBox="1"/>
          <p:nvPr/>
        </p:nvSpPr>
        <p:spPr>
          <a:xfrm>
            <a:off x="7772400" y="3108960"/>
            <a:ext cx="3017520" cy="274320"/>
          </a:xfrm>
          <a:prstGeom prst="rect">
            <a:avLst/>
          </a:prstGeom>
          <a:noFill/>
        </p:spPr>
        <p:txBody>
          <a:bodyPr wrap="square" lIns="0" rIns="0" tIns="0" bIns="0" anchor="t">
            <a:spAutoFit/>
          </a:bodyPr>
          <a:lstStyle/>
          <a:p>
            <a:pPr algn="ctr">
              <a:spcAft>
                <a:spcPts val="0"/>
              </a:spcAft>
            </a:pPr>
            <a:r>
              <a:rPr sz="950" b="0" i="0">
                <a:solidFill>
                  <a:srgbClr val="4A5A7A"/>
                </a:solidFill>
                <a:latin typeface="맑은 고딕"/>
                <a:ea typeface="맑은 고딕"/>
              </a:rPr>
              <a:t>f_Lnk_TxThread · STRUCT_PlotMsg, 플롯 ID</a:t>
            </a:r>
          </a:p>
        </p:txBody>
      </p:sp>
      <p:sp>
        <p:nvSpPr>
          <p:cNvPr id="37" name="Rounded Rectangle 36"/>
          <p:cNvSpPr/>
          <p:nvPr/>
        </p:nvSpPr>
        <p:spPr>
          <a:xfrm>
            <a:off x="7772400" y="4251960"/>
            <a:ext cx="3017520" cy="777240"/>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772400" y="4343400"/>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수신 쓰레드  (데이터 처리 역할)</a:t>
            </a:r>
          </a:p>
        </p:txBody>
      </p:sp>
      <p:sp>
        <p:nvSpPr>
          <p:cNvPr id="39" name="TextBox 38"/>
          <p:cNvSpPr txBox="1"/>
          <p:nvPr/>
        </p:nvSpPr>
        <p:spPr>
          <a:xfrm>
            <a:off x="7772400" y="4663440"/>
            <a:ext cx="3017520" cy="274320"/>
          </a:xfrm>
          <a:prstGeom prst="rect">
            <a:avLst/>
          </a:prstGeom>
          <a:noFill/>
        </p:spPr>
        <p:txBody>
          <a:bodyPr wrap="square" lIns="0" rIns="0" tIns="0" bIns="0" anchor="t">
            <a:spAutoFit/>
          </a:bodyPr>
          <a:lstStyle/>
          <a:p>
            <a:pPr algn="ctr">
              <a:spcAft>
                <a:spcPts val="0"/>
              </a:spcAft>
            </a:pPr>
            <a:r>
              <a:rPr sz="950" b="0" i="0">
                <a:solidFill>
                  <a:srgbClr val="4A5A7A"/>
                </a:solidFill>
                <a:latin typeface="맑은 고딕"/>
                <a:ea typeface="맑은 고딕"/>
              </a:rPr>
              <a:t>f_Lnk_RxThread · 구좌표 → VC-NED, R</a:t>
            </a:r>
          </a:p>
        </p:txBody>
      </p:sp>
      <p:sp>
        <p:nvSpPr>
          <p:cNvPr id="40" name="Rounded Rectangle 39"/>
          <p:cNvSpPr/>
          <p:nvPr/>
        </p:nvSpPr>
        <p:spPr>
          <a:xfrm>
            <a:off x="4343400" y="4251960"/>
            <a:ext cx="3017520" cy="777240"/>
          </a:xfrm>
          <a:prstGeom prst="roundRect">
            <a:avLst>
              <a:gd name="adj" fmla="val 10000"/>
            </a:avLst>
          </a:prstGeom>
          <a:solidFill>
            <a:srgbClr val="FEF5E7"/>
          </a:solidFill>
          <a:ln w="1397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343400" y="4343400"/>
            <a:ext cx="3017520" cy="274320"/>
          </a:xfrm>
          <a:prstGeom prst="rect">
            <a:avLst/>
          </a:prstGeom>
          <a:noFill/>
        </p:spPr>
        <p:txBody>
          <a:bodyPr wrap="square" lIns="0" rIns="0" tIns="0" bIns="0" anchor="t">
            <a:spAutoFit/>
          </a:bodyPr>
          <a:lstStyle/>
          <a:p>
            <a:pPr algn="ctr">
              <a:spcAft>
                <a:spcPts val="0"/>
              </a:spcAft>
            </a:pPr>
            <a:r>
              <a:rPr sz="1200" b="1" i="0">
                <a:solidFill>
                  <a:srgbClr val="D97706"/>
                </a:solidFill>
                <a:latin typeface="맑은 고딕"/>
                <a:ea typeface="맑은 고딕"/>
              </a:rPr>
              <a:t>트랙 개시 · 관리</a:t>
            </a:r>
          </a:p>
        </p:txBody>
      </p:sp>
      <p:sp>
        <p:nvSpPr>
          <p:cNvPr id="42" name="TextBox 41"/>
          <p:cNvSpPr txBox="1"/>
          <p:nvPr/>
        </p:nvSpPr>
        <p:spPr>
          <a:xfrm>
            <a:off x="4343400" y="4663440"/>
            <a:ext cx="3017520" cy="274320"/>
          </a:xfrm>
          <a:prstGeom prst="rect">
            <a:avLst/>
          </a:prstGeom>
          <a:noFill/>
        </p:spPr>
        <p:txBody>
          <a:bodyPr wrap="square" lIns="0" rIns="0" tIns="0" bIns="0" anchor="t">
            <a:spAutoFit/>
          </a:bodyPr>
          <a:lstStyle/>
          <a:p>
            <a:pPr algn="ctr">
              <a:spcAft>
                <a:spcPts val="0"/>
              </a:spcAft>
            </a:pPr>
            <a:r>
              <a:rPr sz="950" b="0" i="0">
                <a:solidFill>
                  <a:srgbClr val="4A5A7A"/>
                </a:solidFill>
                <a:latin typeface="맑은 고딕"/>
                <a:ea typeface="맑은 고딕"/>
              </a:rPr>
              <a:t>TrackMgr.c · f_Trk_ProcessScan</a:t>
            </a:r>
          </a:p>
        </p:txBody>
      </p:sp>
      <p:sp>
        <p:nvSpPr>
          <p:cNvPr id="43" name="Rounded Rectangle 42"/>
          <p:cNvSpPr/>
          <p:nvPr/>
        </p:nvSpPr>
        <p:spPr>
          <a:xfrm>
            <a:off x="914400" y="4251960"/>
            <a:ext cx="3017520" cy="777240"/>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14400" y="43434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결과 버퍼</a:t>
            </a:r>
          </a:p>
        </p:txBody>
      </p:sp>
      <p:sp>
        <p:nvSpPr>
          <p:cNvPr id="45" name="TextBox 44"/>
          <p:cNvSpPr txBox="1"/>
          <p:nvPr/>
        </p:nvSpPr>
        <p:spPr>
          <a:xfrm>
            <a:off x="914400" y="4663440"/>
            <a:ext cx="3017520" cy="274320"/>
          </a:xfrm>
          <a:prstGeom prst="rect">
            <a:avLst/>
          </a:prstGeom>
          <a:noFill/>
        </p:spPr>
        <p:txBody>
          <a:bodyPr wrap="square" lIns="0" rIns="0" tIns="0" bIns="0" anchor="t">
            <a:spAutoFit/>
          </a:bodyPr>
          <a:lstStyle/>
          <a:p>
            <a:pPr algn="ctr">
              <a:spcAft>
                <a:spcPts val="0"/>
              </a:spcAft>
            </a:pPr>
            <a:r>
              <a:rPr sz="950" b="0" i="0">
                <a:solidFill>
                  <a:srgbClr val="4A5A7A"/>
                </a:solidFill>
                <a:latin typeface="맑은 고딕"/>
                <a:ea typeface="맑은 고딕"/>
              </a:rPr>
              <a:t>스캔마다 플롯 · 트랙 표 · 처리 기록</a:t>
            </a:r>
          </a:p>
        </p:txBody>
      </p:sp>
      <p:cxnSp>
        <p:nvCxnSpPr>
          <p:cNvPr id="46" name="Connector 45"/>
          <p:cNvCxnSpPr/>
          <p:nvPr/>
        </p:nvCxnSpPr>
        <p:spPr>
          <a:xfrm>
            <a:off x="3950208" y="308152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379208" y="308152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7379208" y="463600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3950208" y="463600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281160" y="3493008"/>
            <a:ext cx="0" cy="740664"/>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9372600" y="3593592"/>
            <a:ext cx="2194560" cy="548640"/>
          </a:xfrm>
          <a:prstGeom prst="rect">
            <a:avLst/>
          </a:prstGeom>
          <a:noFill/>
        </p:spPr>
        <p:txBody>
          <a:bodyPr wrap="square" lIns="0" rIns="0" tIns="0" bIns="0" anchor="t">
            <a:spAutoFit/>
          </a:bodyPr>
          <a:lstStyle/>
          <a:p>
            <a:pPr algn="l">
              <a:spcAft>
                <a:spcPts val="0"/>
              </a:spcAft>
            </a:pPr>
            <a:r>
              <a:rPr sz="1000" b="1" i="0">
                <a:solidFill>
                  <a:srgbClr val="2563EB"/>
                </a:solidFill>
                <a:latin typeface="맑은 고딕"/>
                <a:ea typeface="맑은 고딕"/>
              </a:rPr>
              <a:t>UDP 127.0.0.1:50505</a:t>
            </a:r>
          </a:p>
          <a:p>
            <a:pPr algn="l">
              <a:spcAft>
                <a:spcPts val="0"/>
              </a:spcAft>
            </a:pPr>
            <a:r>
              <a:rPr sz="1000" b="1" i="0">
                <a:solidFill>
                  <a:srgbClr val="2563EB"/>
                </a:solidFill>
                <a:latin typeface="맑은 고딕"/>
                <a:ea typeface="맑은 고딕"/>
              </a:rPr>
              <a:t>스캔마다 메시지 1 개 (919 B)</a:t>
            </a:r>
          </a:p>
        </p:txBody>
      </p:sp>
      <p:cxnSp>
        <p:nvCxnSpPr>
          <p:cNvPr id="52" name="Connector 51"/>
          <p:cNvCxnSpPr/>
          <p:nvPr/>
        </p:nvCxnSpPr>
        <p:spPr>
          <a:xfrm>
            <a:off x="2423160" y="5047488"/>
            <a:ext cx="0" cy="420624"/>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640080" y="5486400"/>
            <a:ext cx="10908792" cy="731520"/>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868680" y="5513832"/>
            <a:ext cx="10515600" cy="685800"/>
          </a:xfrm>
          <a:prstGeom prst="rect">
            <a:avLst/>
          </a:prstGeom>
          <a:noFill/>
        </p:spPr>
        <p:txBody>
          <a:bodyPr wrap="square" lIns="0" rIns="0" tIns="0" bIns="0" anchor="t">
            <a:spAutoFit/>
          </a:bodyPr>
          <a:lstStyle/>
          <a:p>
            <a:pPr algn="l">
              <a:spcAft>
                <a:spcPts val="200"/>
              </a:spcAft>
            </a:pPr>
            <a:r>
              <a:rPr sz="1200" b="1" i="0">
                <a:solidFill>
                  <a:srgbClr val="1B2740"/>
                </a:solidFill>
                <a:latin typeface="맑은 고딕"/>
                <a:ea typeface="맑은 고딕"/>
              </a:rPr>
              <a:t>TargetSimUI.exe  (MFC)</a:t>
            </a:r>
          </a:p>
          <a:p>
            <a:pPr algn="l">
              <a:spcAft>
                <a:spcPts val="0"/>
              </a:spcAft>
            </a:pPr>
            <a:r>
              <a:rPr sz="1050" b="0" i="0">
                <a:solidFill>
                  <a:srgbClr val="4A5A7A"/>
                </a:solidFill>
                <a:latin typeface="맑은 고딕"/>
                <a:ea typeface="맑은 고딕"/>
              </a:rPr>
              <a:t>50 ms 타이머로 처리된 스캔을 가져와  True · Plot · Clutter · Track 2D / 3D 그림,  지금 스캔의 트랙 표,  송수신 · 트랙 요약을 보여 줌  (스코어 확인 창, CSV 저장)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3.2 플롯 메시지 STRUCT_PlotMsg</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하나 = 메시지 하나. 표적 플롯과 클러터를 섞어, 안테나 구좌표 (거리 · 방위각 · 고각) 성분으로만 채워 보냅니다.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40080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플롯 메시지    </a:t>
            </a:r>
            <a:r>
              <a:rPr sz="950" b="0" i="0">
                <a:solidFill>
                  <a:srgbClr val="8794AC"/>
                </a:solidFill>
                <a:latin typeface="Consolas"/>
                <a:ea typeface="Consolas"/>
              </a:rPr>
              <a:t>Idd.h</a:t>
            </a:r>
          </a:p>
        </p:txBody>
      </p:sp>
      <p:sp>
        <p:nvSpPr>
          <p:cNvPr id="27" name="Rectangle 26"/>
          <p:cNvSpPr/>
          <p:nvPr/>
        </p:nvSpPr>
        <p:spPr>
          <a:xfrm>
            <a:off x="640080" y="2514600"/>
            <a:ext cx="6400800" cy="2187244"/>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3599078"/>
            <a:ext cx="6345936" cy="144475"/>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3599078"/>
            <a:ext cx="36576" cy="14447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3743553"/>
            <a:ext cx="6345936" cy="433425"/>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3743553"/>
            <a:ext cx="36576" cy="4334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176979"/>
            <a:ext cx="6345936" cy="288950"/>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176979"/>
            <a:ext cx="36576" cy="2889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19" y="2587752"/>
            <a:ext cx="6217920" cy="2022652"/>
          </a:xfrm>
          <a:prstGeom prst="rect">
            <a:avLst/>
          </a:prstGeom>
          <a:noFill/>
        </p:spPr>
        <p:txBody>
          <a:bodyPr wrap="square" lIns="0" rIns="0" tIns="0" bIns="0">
            <a:spAutoFit/>
          </a:bodyPr>
          <a:lstStyle/>
          <a:p>
            <a:pPr>
              <a:lnSpc>
                <a:spcPts val="1137"/>
              </a:lnSpc>
            </a:pPr>
            <a:r>
              <a:rPr sz="860" b="0" i="0">
                <a:solidFill>
                  <a:srgbClr val="AEB9CC"/>
                </a:solidFill>
                <a:latin typeface="Consolas"/>
                <a:ea typeface="Consolas"/>
              </a:rPr>
              <a:t> 93  </a:t>
            </a:r>
            <a:r>
              <a:rPr sz="860" b="0" i="0">
                <a:solidFill>
                  <a:srgbClr val="2563EB"/>
                </a:solidFill>
                <a:latin typeface="Consolas"/>
                <a:ea typeface="Consolas"/>
              </a:rPr>
              <a:t>typedef</a:t>
            </a:r>
            <a:r>
              <a:rPr sz="860" b="0" i="0">
                <a:solidFill>
                  <a:srgbClr val="1B2740"/>
                </a:solidFill>
                <a:latin typeface="Consolas"/>
                <a:ea typeface="Consolas"/>
              </a:rPr>
              <a:t> </a:t>
            </a:r>
            <a:r>
              <a:rPr sz="860" b="0" i="0">
                <a:solidFill>
                  <a:srgbClr val="2563EB"/>
                </a:solidFill>
                <a:latin typeface="Consolas"/>
                <a:ea typeface="Consolas"/>
              </a:rPr>
              <a:t>struct</a:t>
            </a:r>
            <a:r>
              <a:rPr sz="860" b="0" i="0">
                <a:solidFill>
                  <a:srgbClr val="1B2740"/>
                </a:solidFill>
                <a:latin typeface="Consolas"/>
                <a:ea typeface="Consolas"/>
              </a:rPr>
              <a:t> </a:t>
            </a:r>
            <a:r>
              <a:rPr sz="860" b="0" i="0">
                <a:solidFill>
                  <a:srgbClr val="2563EB"/>
                </a:solidFill>
                <a:latin typeface="Consolas"/>
                <a:ea typeface="Consolas"/>
              </a:rPr>
              <a:t>STRUCT_PlotMsg</a:t>
            </a:r>
          </a:p>
          <a:p>
            <a:pPr>
              <a:lnSpc>
                <a:spcPts val="1137"/>
              </a:lnSpc>
            </a:pPr>
            <a:r>
              <a:rPr sz="860" b="0" i="0">
                <a:solidFill>
                  <a:srgbClr val="AEB9CC"/>
                </a:solidFill>
                <a:latin typeface="Consolas"/>
                <a:ea typeface="Consolas"/>
              </a:rPr>
              <a:t> 94  </a:t>
            </a:r>
            <a:r>
              <a:rPr sz="860" b="0" i="0">
                <a:solidFill>
                  <a:srgbClr val="1B2740"/>
                </a:solidFill>
                <a:latin typeface="Consolas"/>
                <a:ea typeface="Consolas"/>
              </a:rPr>
              <a:t>{</a:t>
            </a:r>
          </a:p>
          <a:p>
            <a:pPr>
              <a:lnSpc>
                <a:spcPts val="1137"/>
              </a:lnSpc>
            </a:pPr>
            <a:r>
              <a:rPr sz="860" b="0" i="0">
                <a:solidFill>
                  <a:srgbClr val="AEB9CC"/>
                </a:solidFill>
                <a:latin typeface="Consolas"/>
                <a:ea typeface="Consolas"/>
              </a:rPr>
              <a:t> 95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MsgId</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IDD_MSG_ID_PLOT 또는 IDD_MSG_ID_END</a:t>
            </a:r>
          </a:p>
          <a:p>
            <a:pPr>
              <a:lnSpc>
                <a:spcPts val="1137"/>
              </a:lnSpc>
            </a:pPr>
            <a:r>
              <a:rPr sz="860" b="0" i="0">
                <a:solidFill>
                  <a:srgbClr val="AEB9CC"/>
                </a:solidFill>
                <a:latin typeface="Consolas"/>
                <a:ea typeface="Consolas"/>
              </a:rPr>
              <a:t> 96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MsgSize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보내는 바이트 수</a:t>
            </a:r>
          </a:p>
          <a:p>
            <a:pPr>
              <a:lnSpc>
                <a:spcPts val="1137"/>
              </a:lnSpc>
            </a:pPr>
            <a:r>
              <a:rPr sz="860" b="0" i="0">
                <a:solidFill>
                  <a:srgbClr val="AEB9CC"/>
                </a:solidFill>
                <a:latin typeface="Consolas"/>
                <a:ea typeface="Consolas"/>
              </a:rPr>
              <a:t> 97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ScanNum</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스캔 번호</a:t>
            </a:r>
          </a:p>
          <a:p>
            <a:pPr>
              <a:lnSpc>
                <a:spcPts val="1137"/>
              </a:lnSpc>
            </a:pPr>
            <a:r>
              <a:rPr sz="860" b="0" i="0">
                <a:solidFill>
                  <a:srgbClr val="AEB9CC"/>
                </a:solidFill>
                <a:latin typeface="Consolas"/>
                <a:ea typeface="Consolas"/>
              </a:rPr>
              <a:t> 98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TimeStamp_s</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스캔 시각 (초)</a:t>
            </a:r>
          </a:p>
          <a:p>
            <a:pPr>
              <a:lnSpc>
                <a:spcPts val="1137"/>
              </a:lnSpc>
            </a:pPr>
            <a:r>
              <a:rPr sz="860" b="0" i="0">
                <a:solidFill>
                  <a:srgbClr val="AEB9CC"/>
                </a:solidFill>
                <a:latin typeface="Consolas"/>
                <a:ea typeface="Consolas"/>
              </a:rPr>
              <a:t> 99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TimeStamp_ns</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스캔 시각 (나노초)</a:t>
            </a:r>
          </a:p>
          <a:p>
            <a:pPr>
              <a:lnSpc>
                <a:spcPts val="1137"/>
              </a:lnSpc>
            </a:pPr>
            <a:r>
              <a:rPr sz="860" b="0" i="0">
                <a:solidFill>
                  <a:srgbClr val="AEB9CC"/>
                </a:solidFill>
                <a:latin typeface="Consolas"/>
                <a:ea typeface="Consolas"/>
              </a:rPr>
              <a:t>100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PlotNum</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표적 플롯 + 클러터 수</a:t>
            </a:r>
          </a:p>
          <a:p>
            <a:pPr>
              <a:lnSpc>
                <a:spcPts val="1137"/>
              </a:lnSpc>
            </a:pPr>
            <a:r>
              <a:rPr sz="860" b="0" i="0">
                <a:solidFill>
                  <a:srgbClr val="AEB9CC"/>
                </a:solidFill>
                <a:latin typeface="Consolas"/>
                <a:ea typeface="Consolas"/>
              </a:rPr>
              <a:t>101  </a:t>
            </a:r>
            <a:r>
              <a:rPr sz="860" b="0" i="0">
                <a:solidFill>
                  <a:srgbClr val="1B2740"/>
                </a:solidFill>
                <a:latin typeface="Consolas"/>
                <a:ea typeface="Consolas"/>
              </a:rPr>
              <a:t>  </a:t>
            </a:r>
            <a:r>
              <a:rPr sz="860" b="0" i="0">
                <a:solidFill>
                  <a:srgbClr val="2563EB"/>
                </a:solidFill>
                <a:latin typeface="Consolas"/>
                <a:ea typeface="Consolas"/>
              </a:rPr>
              <a:t>FLOAT32</a:t>
            </a:r>
            <a:r>
              <a:rPr sz="860" b="0" i="0">
                <a:solidFill>
                  <a:srgbClr val="1B2740"/>
                </a:solidFill>
                <a:latin typeface="Consolas"/>
                <a:ea typeface="Consolas"/>
              </a:rPr>
              <a:t>              </a:t>
            </a:r>
            <a:r>
              <a:rPr sz="860" b="0" i="0">
                <a:solidFill>
                  <a:srgbClr val="1B2740"/>
                </a:solidFill>
                <a:latin typeface="Consolas"/>
                <a:ea typeface="Consolas"/>
              </a:rPr>
              <a:t>Sigma_Range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측정잡음 거리 표준편차 [m]. 트랙 초기화 R 구…</a:t>
            </a:r>
          </a:p>
          <a:p>
            <a:pPr>
              <a:lnSpc>
                <a:spcPts val="1137"/>
              </a:lnSpc>
            </a:pPr>
            <a:r>
              <a:rPr sz="860" b="0" i="0">
                <a:solidFill>
                  <a:srgbClr val="AEB9CC"/>
                </a:solidFill>
                <a:latin typeface="Consolas"/>
                <a:ea typeface="Consolas"/>
              </a:rPr>
              <a:t>102  </a:t>
            </a:r>
            <a:r>
              <a:rPr sz="860" b="0" i="0">
                <a:solidFill>
                  <a:srgbClr val="1B2740"/>
                </a:solidFill>
                <a:latin typeface="Consolas"/>
                <a:ea typeface="Consolas"/>
              </a:rPr>
              <a:t>  </a:t>
            </a:r>
            <a:r>
              <a:rPr sz="860" b="0" i="0">
                <a:solidFill>
                  <a:srgbClr val="2563EB"/>
                </a:solidFill>
                <a:latin typeface="Consolas"/>
                <a:ea typeface="Consolas"/>
              </a:rPr>
              <a:t>FLOAT32</a:t>
            </a:r>
            <a:r>
              <a:rPr sz="860" b="0" i="0">
                <a:solidFill>
                  <a:srgbClr val="1B2740"/>
                </a:solidFill>
                <a:latin typeface="Consolas"/>
                <a:ea typeface="Consolas"/>
              </a:rPr>
              <a:t>              </a:t>
            </a:r>
            <a:r>
              <a:rPr sz="860" b="0" i="0">
                <a:solidFill>
                  <a:srgbClr val="1B2740"/>
                </a:solidFill>
                <a:latin typeface="Consolas"/>
                <a:ea typeface="Consolas"/>
              </a:rPr>
              <a:t>Sigma_Azimuth</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측정잡음 방위각 표준편차 [rad] (과제 조건…</a:t>
            </a:r>
          </a:p>
          <a:p>
            <a:pPr>
              <a:lnSpc>
                <a:spcPts val="1137"/>
              </a:lnSpc>
            </a:pPr>
            <a:r>
              <a:rPr sz="860" b="0" i="0">
                <a:solidFill>
                  <a:srgbClr val="AEB9CC"/>
                </a:solidFill>
                <a:latin typeface="Consolas"/>
                <a:ea typeface="Consolas"/>
              </a:rPr>
              <a:t>103  </a:t>
            </a:r>
            <a:r>
              <a:rPr sz="860" b="0" i="0">
                <a:solidFill>
                  <a:srgbClr val="1B2740"/>
                </a:solidFill>
                <a:latin typeface="Consolas"/>
                <a:ea typeface="Consolas"/>
              </a:rPr>
              <a:t>  </a:t>
            </a:r>
            <a:r>
              <a:rPr sz="860" b="0" i="0">
                <a:solidFill>
                  <a:srgbClr val="2563EB"/>
                </a:solidFill>
                <a:latin typeface="Consolas"/>
                <a:ea typeface="Consolas"/>
              </a:rPr>
              <a:t>FLOAT32</a:t>
            </a:r>
            <a:r>
              <a:rPr sz="860" b="0" i="0">
                <a:solidFill>
                  <a:srgbClr val="1B2740"/>
                </a:solidFill>
                <a:latin typeface="Consolas"/>
                <a:ea typeface="Consolas"/>
              </a:rPr>
              <a:t>              </a:t>
            </a:r>
            <a:r>
              <a:rPr sz="860" b="0" i="0">
                <a:solidFill>
                  <a:srgbClr val="1B2740"/>
                </a:solidFill>
                <a:latin typeface="Consolas"/>
                <a:ea typeface="Consolas"/>
              </a:rPr>
              <a:t>Sigma_Elevation</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측정잡음 고각 표준편차 [rad] (과제 조건…</a:t>
            </a:r>
          </a:p>
          <a:p>
            <a:pPr>
              <a:lnSpc>
                <a:spcPts val="1137"/>
              </a:lnSpc>
            </a:pPr>
            <a:r>
              <a:rPr sz="860" b="0" i="0">
                <a:solidFill>
                  <a:srgbClr val="AEB9CC"/>
                </a:solidFill>
                <a:latin typeface="Consolas"/>
                <a:ea typeface="Consolas"/>
              </a:rPr>
              <a:t>104  </a:t>
            </a:r>
            <a:r>
              <a:rPr sz="860" b="0" i="0">
                <a:solidFill>
                  <a:srgbClr val="1B2740"/>
                </a:solidFill>
                <a:latin typeface="Consolas"/>
                <a:ea typeface="Consolas"/>
              </a:rPr>
              <a:t>  </a:t>
            </a:r>
            <a:r>
              <a:rPr sz="860" b="0" i="0">
                <a:solidFill>
                  <a:srgbClr val="2563EB"/>
                </a:solidFill>
                <a:latin typeface="Consolas"/>
                <a:ea typeface="Consolas"/>
              </a:rPr>
              <a:t>STRUCT_PlatformInfo</a:t>
            </a:r>
            <a:r>
              <a:rPr sz="860" b="0" i="0">
                <a:solidFill>
                  <a:srgbClr val="1B2740"/>
                </a:solidFill>
                <a:latin typeface="Consolas"/>
                <a:ea typeface="Consolas"/>
              </a:rPr>
              <a:t>  </a:t>
            </a:r>
            <a:r>
              <a:rPr sz="860" b="0" i="0">
                <a:solidFill>
                  <a:srgbClr val="1B2740"/>
                </a:solidFill>
                <a:latin typeface="Consolas"/>
                <a:ea typeface="Consolas"/>
              </a:rPr>
              <a:t>st_Platform</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스캔 시각의 플랫폼 (레이다) 정보</a:t>
            </a:r>
          </a:p>
          <a:p>
            <a:pPr>
              <a:lnSpc>
                <a:spcPts val="1137"/>
              </a:lnSpc>
            </a:pPr>
            <a:r>
              <a:rPr sz="860" b="0" i="0">
                <a:solidFill>
                  <a:srgbClr val="AEB9CC"/>
                </a:solidFill>
                <a:latin typeface="Consolas"/>
                <a:ea typeface="Consolas"/>
              </a:rPr>
              <a:t>105  </a:t>
            </a:r>
            <a:r>
              <a:rPr sz="860" b="0" i="0">
                <a:solidFill>
                  <a:srgbClr val="1B2740"/>
                </a:solidFill>
                <a:latin typeface="Consolas"/>
                <a:ea typeface="Consolas"/>
              </a:rPr>
              <a:t>  </a:t>
            </a:r>
            <a:r>
              <a:rPr sz="860" b="0" i="0">
                <a:solidFill>
                  <a:srgbClr val="2563EB"/>
                </a:solidFill>
                <a:latin typeface="Consolas"/>
                <a:ea typeface="Consolas"/>
              </a:rPr>
              <a:t>STRUCT_PlotInfo</a:t>
            </a:r>
            <a:r>
              <a:rPr sz="860" b="0" i="0">
                <a:solidFill>
                  <a:srgbClr val="1B2740"/>
                </a:solidFill>
                <a:latin typeface="Consolas"/>
                <a:ea typeface="Consolas"/>
              </a:rPr>
              <a:t>      </a:t>
            </a:r>
            <a:r>
              <a:rPr sz="860" b="0" i="0">
                <a:solidFill>
                  <a:srgbClr val="1B2740"/>
                </a:solidFill>
                <a:latin typeface="Consolas"/>
                <a:ea typeface="Consolas"/>
              </a:rPr>
              <a:t>st_Plot</a:t>
            </a:r>
            <a:r>
              <a:rPr sz="860" b="0" i="0">
                <a:solidFill>
                  <a:srgbClr val="1B2740"/>
                </a:solidFill>
                <a:latin typeface="Consolas"/>
                <a:ea typeface="Consolas"/>
              </a:rPr>
              <a:t>[</a:t>
            </a:r>
            <a:r>
              <a:rPr sz="860" b="0" i="0">
                <a:solidFill>
                  <a:srgbClr val="7C3AED"/>
                </a:solidFill>
                <a:latin typeface="Consolas"/>
                <a:ea typeface="Consolas"/>
              </a:rPr>
              <a:t>IDD_MAX_PLOT</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플롯 (PlotNum 개만 보냄)</a:t>
            </a:r>
          </a:p>
          <a:p>
            <a:pPr>
              <a:lnSpc>
                <a:spcPts val="1137"/>
              </a:lnSpc>
            </a:pPr>
            <a:r>
              <a:rPr sz="860" b="0" i="0">
                <a:solidFill>
                  <a:srgbClr val="AEB9CC"/>
                </a:solidFill>
                <a:latin typeface="Consolas"/>
                <a:ea typeface="Consolas"/>
              </a:rPr>
              <a:t>106  </a:t>
            </a:r>
            <a:r>
              <a:rPr sz="860" b="0" i="0">
                <a:solidFill>
                  <a:srgbClr val="1B2740"/>
                </a:solidFill>
                <a:latin typeface="Consolas"/>
                <a:ea typeface="Consolas"/>
              </a:rPr>
              <a:t>}</a:t>
            </a:r>
            <a:r>
              <a:rPr sz="860" b="0" i="0">
                <a:solidFill>
                  <a:srgbClr val="2563EB"/>
                </a:solidFill>
                <a:latin typeface="Consolas"/>
                <a:ea typeface="Consolas"/>
              </a:rPr>
              <a:t>STRUCT_PlotMsg</a:t>
            </a:r>
            <a:r>
              <a:rPr sz="860" b="0" i="0">
                <a:solidFill>
                  <a:srgbClr val="1B2740"/>
                </a:solidFill>
                <a:latin typeface="Consolas"/>
                <a:ea typeface="Consolas"/>
              </a:rPr>
              <a:t>;</a:t>
            </a:r>
          </a:p>
        </p:txBody>
      </p:sp>
      <p:sp>
        <p:nvSpPr>
          <p:cNvPr id="35" name="Oval 34"/>
          <p:cNvSpPr/>
          <p:nvPr/>
        </p:nvSpPr>
        <p:spPr>
          <a:xfrm>
            <a:off x="6894576" y="3570732"/>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6" name="Oval 35"/>
          <p:cNvSpPr/>
          <p:nvPr/>
        </p:nvSpPr>
        <p:spPr>
          <a:xfrm>
            <a:off x="6894576" y="3715207"/>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7" name="Oval 36"/>
          <p:cNvSpPr/>
          <p:nvPr/>
        </p:nvSpPr>
        <p:spPr>
          <a:xfrm>
            <a:off x="6894576" y="4148632"/>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38" name="TextBox 37"/>
          <p:cNvSpPr txBox="1"/>
          <p:nvPr/>
        </p:nvSpPr>
        <p:spPr>
          <a:xfrm>
            <a:off x="640080" y="4820716"/>
            <a:ext cx="640080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송신 쪽이 채우는 칸    </a:t>
            </a:r>
            <a:r>
              <a:rPr sz="950" b="0" i="0">
                <a:solidFill>
                  <a:srgbClr val="8794AC"/>
                </a:solidFill>
                <a:latin typeface="Consolas"/>
                <a:ea typeface="Consolas"/>
              </a:rPr>
              <a:t>PlotLink.c  f_Lnk_BuildMsg</a:t>
            </a:r>
          </a:p>
        </p:txBody>
      </p:sp>
      <p:sp>
        <p:nvSpPr>
          <p:cNvPr id="39" name="Rectangle 38"/>
          <p:cNvSpPr/>
          <p:nvPr/>
        </p:nvSpPr>
        <p:spPr>
          <a:xfrm>
            <a:off x="640080" y="5085892"/>
            <a:ext cx="6400800" cy="1031443"/>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67512" y="5303520"/>
            <a:ext cx="634593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67512" y="5303520"/>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67512" y="5881420"/>
            <a:ext cx="6345936" cy="144475"/>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67512" y="5881420"/>
            <a:ext cx="36576" cy="14447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31519" y="5159044"/>
            <a:ext cx="6217920" cy="866851"/>
          </a:xfrm>
          <a:prstGeom prst="rect">
            <a:avLst/>
          </a:prstGeom>
          <a:noFill/>
        </p:spPr>
        <p:txBody>
          <a:bodyPr wrap="square" lIns="0" rIns="0" tIns="0" bIns="0">
            <a:spAutoFit/>
          </a:bodyPr>
          <a:lstStyle/>
          <a:p>
            <a:pPr>
              <a:lnSpc>
                <a:spcPts val="1137"/>
              </a:lnSpc>
            </a:pPr>
            <a:r>
              <a:rPr sz="860" b="0" i="0">
                <a:solidFill>
                  <a:srgbClr val="AEB9CC"/>
                </a:solidFill>
                <a:latin typeface="Consolas"/>
                <a:ea typeface="Consolas"/>
              </a:rPr>
              <a:t>456  </a:t>
            </a:r>
            <a:r>
              <a:rPr sz="860" b="0" i="0">
                <a:solidFill>
                  <a:srgbClr val="1B2740"/>
                </a:solidFill>
                <a:latin typeface="Consolas"/>
                <a:ea typeface="Consolas"/>
              </a:rPr>
              <a:t>    </a:t>
            </a:r>
            <a:r>
              <a:rPr sz="860" b="0" i="0">
                <a:solidFill>
                  <a:srgbClr val="1B2740"/>
                </a:solidFill>
                <a:latin typeface="Consolas"/>
                <a:ea typeface="Consolas"/>
              </a:rPr>
              <a:t>st_Info</a:t>
            </a:r>
            <a:r>
              <a:rPr sz="860" b="0" i="0">
                <a:solidFill>
                  <a:srgbClr val="1B2740"/>
                </a:solidFill>
                <a:latin typeface="Consolas"/>
                <a:ea typeface="Consolas"/>
              </a:rPr>
              <a:t>-</a:t>
            </a:r>
            <a:r>
              <a:rPr sz="860" b="0" i="0">
                <a:solidFill>
                  <a:srgbClr val="1B2740"/>
                </a:solidFill>
                <a:latin typeface="Consolas"/>
                <a:ea typeface="Consolas"/>
              </a:rPr>
              <a:t>&gt;</a:t>
            </a:r>
            <a:r>
              <a:rPr sz="860" b="0" i="0">
                <a:solidFill>
                  <a:srgbClr val="1B2740"/>
                </a:solidFill>
                <a:latin typeface="Consolas"/>
                <a:ea typeface="Consolas"/>
              </a:rPr>
              <a:t>Id</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1B2740"/>
                </a:solidFill>
                <a:latin typeface="Consolas"/>
                <a:ea typeface="Consolas"/>
              </a:rPr>
              <a:t>pt_PlotId</a:t>
            </a:r>
            <a:r>
              <a:rPr sz="860" b="0" i="0">
                <a:solidFill>
                  <a:srgbClr val="1B2740"/>
                </a:solidFill>
                <a:latin typeface="Consolas"/>
                <a:ea typeface="Consolas"/>
              </a:rPr>
              <a:t>;</a:t>
            </a:r>
          </a:p>
          <a:p>
            <a:pPr>
              <a:lnSpc>
                <a:spcPts val="1137"/>
              </a:lnSpc>
            </a:pPr>
            <a:r>
              <a:rPr sz="860" b="0" i="0">
                <a:solidFill>
                  <a:srgbClr val="AEB9CC"/>
                </a:solidFill>
                <a:latin typeface="Consolas"/>
                <a:ea typeface="Consolas"/>
              </a:rPr>
              <a:t>463  </a:t>
            </a:r>
            <a:r>
              <a:rPr sz="860" b="0" i="0">
                <a:solidFill>
                  <a:srgbClr val="1B2740"/>
                </a:solidFill>
                <a:latin typeface="Consolas"/>
                <a:ea typeface="Consolas"/>
              </a:rPr>
              <a:t>    </a:t>
            </a:r>
            <a:r>
              <a:rPr sz="860" b="0" i="0">
                <a:solidFill>
                  <a:srgbClr val="1B2740"/>
                </a:solidFill>
                <a:latin typeface="Consolas"/>
                <a:ea typeface="Consolas"/>
              </a:rPr>
              <a:t>st_Info</a:t>
            </a:r>
            <a:r>
              <a:rPr sz="860" b="0" i="0">
                <a:solidFill>
                  <a:srgbClr val="1B2740"/>
                </a:solidFill>
                <a:latin typeface="Consolas"/>
                <a:ea typeface="Consolas"/>
              </a:rPr>
              <a:t>-</a:t>
            </a:r>
            <a:r>
              <a:rPr sz="860" b="0" i="0">
                <a:solidFill>
                  <a:srgbClr val="1B2740"/>
                </a:solidFill>
                <a:latin typeface="Consolas"/>
                <a:ea typeface="Consolas"/>
              </a:rPr>
              <a:t>&gt;</a:t>
            </a:r>
            <a:r>
              <a:rPr sz="860" b="0" i="0">
                <a:solidFill>
                  <a:srgbClr val="1B2740"/>
                </a:solidFill>
                <a:latin typeface="Consolas"/>
                <a:ea typeface="Consolas"/>
              </a:rPr>
              <a:t>Range_Ant</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2563EB"/>
                </a:solidFill>
                <a:latin typeface="Consolas"/>
                <a:ea typeface="Consolas"/>
              </a:rPr>
              <a:t>FLOAT32</a:t>
            </a:r>
            <a:r>
              <a:rPr sz="860" b="0" i="0">
                <a:solidFill>
                  <a:srgbClr val="1B2740"/>
                </a:solidFill>
                <a:latin typeface="Consolas"/>
                <a:ea typeface="Consolas"/>
              </a:rPr>
              <a:t>)</a:t>
            </a:r>
            <a:r>
              <a:rPr sz="860" b="0" i="0">
                <a:solidFill>
                  <a:srgbClr val="1B2740"/>
                </a:solidFill>
                <a:latin typeface="Consolas"/>
                <a:ea typeface="Consolas"/>
              </a:rPr>
              <a:t>st_Sph</a:t>
            </a:r>
            <a:r>
              <a:rPr sz="860" b="0" i="0">
                <a:solidFill>
                  <a:srgbClr val="1B2740"/>
                </a:solidFill>
                <a:latin typeface="Consolas"/>
                <a:ea typeface="Consolas"/>
              </a:rPr>
              <a:t>[</a:t>
            </a:r>
            <a:r>
              <a:rPr sz="860" b="0" i="0">
                <a:solidFill>
                  <a:srgbClr val="1B2740"/>
                </a:solidFill>
                <a:latin typeface="Consolas"/>
                <a:ea typeface="Consolas"/>
              </a:rPr>
              <a:t>nOrder</a:t>
            </a:r>
            <a:r>
              <a:rPr sz="860" b="0" i="0">
                <a:solidFill>
                  <a:srgbClr val="1B2740"/>
                </a:solidFill>
                <a:latin typeface="Consolas"/>
                <a:ea typeface="Consolas"/>
              </a:rPr>
              <a:t>[</a:t>
            </a:r>
            <a:r>
              <a:rPr sz="860" b="0" i="0">
                <a:solidFill>
                  <a:srgbClr val="1B2740"/>
                </a:solidFill>
                <a:latin typeface="Consolas"/>
                <a:ea typeface="Consolas"/>
              </a:rPr>
              <a:t>nIndex</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r</a:t>
            </a:r>
            <a:r>
              <a:rPr sz="860" b="0" i="0">
                <a:solidFill>
                  <a:srgbClr val="1B2740"/>
                </a:solidFill>
                <a:latin typeface="Consolas"/>
                <a:ea typeface="Consolas"/>
              </a:rPr>
              <a:t>;</a:t>
            </a:r>
          </a:p>
          <a:p>
            <a:pPr>
              <a:lnSpc>
                <a:spcPts val="1137"/>
              </a:lnSpc>
            </a:pPr>
            <a:r>
              <a:rPr sz="860" b="0" i="0">
                <a:solidFill>
                  <a:srgbClr val="AEB9CC"/>
                </a:solidFill>
                <a:latin typeface="Consolas"/>
                <a:ea typeface="Consolas"/>
              </a:rPr>
              <a:t>464  </a:t>
            </a:r>
            <a:r>
              <a:rPr sz="860" b="0" i="0">
                <a:solidFill>
                  <a:srgbClr val="1B2740"/>
                </a:solidFill>
                <a:latin typeface="Consolas"/>
                <a:ea typeface="Consolas"/>
              </a:rPr>
              <a:t>    </a:t>
            </a:r>
            <a:r>
              <a:rPr sz="860" b="0" i="0">
                <a:solidFill>
                  <a:srgbClr val="1B2740"/>
                </a:solidFill>
                <a:latin typeface="Consolas"/>
                <a:ea typeface="Consolas"/>
              </a:rPr>
              <a:t>st_Info</a:t>
            </a:r>
            <a:r>
              <a:rPr sz="860" b="0" i="0">
                <a:solidFill>
                  <a:srgbClr val="1B2740"/>
                </a:solidFill>
                <a:latin typeface="Consolas"/>
                <a:ea typeface="Consolas"/>
              </a:rPr>
              <a:t>-</a:t>
            </a:r>
            <a:r>
              <a:rPr sz="860" b="0" i="0">
                <a:solidFill>
                  <a:srgbClr val="1B2740"/>
                </a:solidFill>
                <a:latin typeface="Consolas"/>
                <a:ea typeface="Consolas"/>
              </a:rPr>
              <a:t>&gt;</a:t>
            </a:r>
            <a:r>
              <a:rPr sz="860" b="0" i="0">
                <a:solidFill>
                  <a:srgbClr val="1B2740"/>
                </a:solidFill>
                <a:latin typeface="Consolas"/>
                <a:ea typeface="Consolas"/>
              </a:rPr>
              <a:t>Azimuth_Ant</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2563EB"/>
                </a:solidFill>
                <a:latin typeface="Consolas"/>
                <a:ea typeface="Consolas"/>
              </a:rPr>
              <a:t>FLOAT32</a:t>
            </a:r>
            <a:r>
              <a:rPr sz="860" b="0" i="0">
                <a:solidFill>
                  <a:srgbClr val="1B2740"/>
                </a:solidFill>
                <a:latin typeface="Consolas"/>
                <a:ea typeface="Consolas"/>
              </a:rPr>
              <a:t>)</a:t>
            </a:r>
            <a:r>
              <a:rPr sz="860" b="0" i="0">
                <a:solidFill>
                  <a:srgbClr val="1B2740"/>
                </a:solidFill>
                <a:latin typeface="Consolas"/>
                <a:ea typeface="Consolas"/>
              </a:rPr>
              <a:t>st_Sph</a:t>
            </a:r>
            <a:r>
              <a:rPr sz="860" b="0" i="0">
                <a:solidFill>
                  <a:srgbClr val="1B2740"/>
                </a:solidFill>
                <a:latin typeface="Consolas"/>
                <a:ea typeface="Consolas"/>
              </a:rPr>
              <a:t>[</a:t>
            </a:r>
            <a:r>
              <a:rPr sz="860" b="0" i="0">
                <a:solidFill>
                  <a:srgbClr val="1B2740"/>
                </a:solidFill>
                <a:latin typeface="Consolas"/>
                <a:ea typeface="Consolas"/>
              </a:rPr>
              <a:t>nOrder</a:t>
            </a:r>
            <a:r>
              <a:rPr sz="860" b="0" i="0">
                <a:solidFill>
                  <a:srgbClr val="1B2740"/>
                </a:solidFill>
                <a:latin typeface="Consolas"/>
                <a:ea typeface="Consolas"/>
              </a:rPr>
              <a:t>[</a:t>
            </a:r>
            <a:r>
              <a:rPr sz="860" b="0" i="0">
                <a:solidFill>
                  <a:srgbClr val="1B2740"/>
                </a:solidFill>
                <a:latin typeface="Consolas"/>
                <a:ea typeface="Consolas"/>
              </a:rPr>
              <a:t>nIndex</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az</a:t>
            </a:r>
            <a:r>
              <a:rPr sz="860" b="0" i="0">
                <a:solidFill>
                  <a:srgbClr val="1B2740"/>
                </a:solidFill>
                <a:latin typeface="Consolas"/>
                <a:ea typeface="Consolas"/>
              </a:rPr>
              <a:t>;</a:t>
            </a:r>
          </a:p>
          <a:p>
            <a:pPr>
              <a:lnSpc>
                <a:spcPts val="1137"/>
              </a:lnSpc>
            </a:pPr>
            <a:r>
              <a:rPr sz="860" b="0" i="0">
                <a:solidFill>
                  <a:srgbClr val="AEB9CC"/>
                </a:solidFill>
                <a:latin typeface="Consolas"/>
                <a:ea typeface="Consolas"/>
              </a:rPr>
              <a:t>465  </a:t>
            </a:r>
            <a:r>
              <a:rPr sz="860" b="0" i="0">
                <a:solidFill>
                  <a:srgbClr val="1B2740"/>
                </a:solidFill>
                <a:latin typeface="Consolas"/>
                <a:ea typeface="Consolas"/>
              </a:rPr>
              <a:t>    </a:t>
            </a:r>
            <a:r>
              <a:rPr sz="860" b="0" i="0">
                <a:solidFill>
                  <a:srgbClr val="1B2740"/>
                </a:solidFill>
                <a:latin typeface="Consolas"/>
                <a:ea typeface="Consolas"/>
              </a:rPr>
              <a:t>st_Info</a:t>
            </a:r>
            <a:r>
              <a:rPr sz="860" b="0" i="0">
                <a:solidFill>
                  <a:srgbClr val="1B2740"/>
                </a:solidFill>
                <a:latin typeface="Consolas"/>
                <a:ea typeface="Consolas"/>
              </a:rPr>
              <a:t>-</a:t>
            </a:r>
            <a:r>
              <a:rPr sz="860" b="0" i="0">
                <a:solidFill>
                  <a:srgbClr val="1B2740"/>
                </a:solidFill>
                <a:latin typeface="Consolas"/>
                <a:ea typeface="Consolas"/>
              </a:rPr>
              <a:t>&gt;</a:t>
            </a:r>
            <a:r>
              <a:rPr sz="860" b="0" i="0">
                <a:solidFill>
                  <a:srgbClr val="1B2740"/>
                </a:solidFill>
                <a:latin typeface="Consolas"/>
                <a:ea typeface="Consolas"/>
              </a:rPr>
              <a:t>Elevation_Ant</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2563EB"/>
                </a:solidFill>
                <a:latin typeface="Consolas"/>
                <a:ea typeface="Consolas"/>
              </a:rPr>
              <a:t>FLOAT32</a:t>
            </a:r>
            <a:r>
              <a:rPr sz="860" b="0" i="0">
                <a:solidFill>
                  <a:srgbClr val="1B2740"/>
                </a:solidFill>
                <a:latin typeface="Consolas"/>
                <a:ea typeface="Consolas"/>
              </a:rPr>
              <a:t>)</a:t>
            </a:r>
            <a:r>
              <a:rPr sz="860" b="0" i="0">
                <a:solidFill>
                  <a:srgbClr val="1B2740"/>
                </a:solidFill>
                <a:latin typeface="Consolas"/>
                <a:ea typeface="Consolas"/>
              </a:rPr>
              <a:t>st_Sph</a:t>
            </a:r>
            <a:r>
              <a:rPr sz="860" b="0" i="0">
                <a:solidFill>
                  <a:srgbClr val="1B2740"/>
                </a:solidFill>
                <a:latin typeface="Consolas"/>
                <a:ea typeface="Consolas"/>
              </a:rPr>
              <a:t>[</a:t>
            </a:r>
            <a:r>
              <a:rPr sz="860" b="0" i="0">
                <a:solidFill>
                  <a:srgbClr val="1B2740"/>
                </a:solidFill>
                <a:latin typeface="Consolas"/>
                <a:ea typeface="Consolas"/>
              </a:rPr>
              <a:t>nOrder</a:t>
            </a:r>
            <a:r>
              <a:rPr sz="860" b="0" i="0">
                <a:solidFill>
                  <a:srgbClr val="1B2740"/>
                </a:solidFill>
                <a:latin typeface="Consolas"/>
                <a:ea typeface="Consolas"/>
              </a:rPr>
              <a:t>[</a:t>
            </a:r>
            <a:r>
              <a:rPr sz="860" b="0" i="0">
                <a:solidFill>
                  <a:srgbClr val="1B2740"/>
                </a:solidFill>
                <a:latin typeface="Consolas"/>
                <a:ea typeface="Consolas"/>
              </a:rPr>
              <a:t>nIndex</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el</a:t>
            </a:r>
            <a:r>
              <a:rPr sz="860" b="0" i="0">
                <a:solidFill>
                  <a:srgbClr val="1B2740"/>
                </a:solidFill>
                <a:latin typeface="Consolas"/>
                <a:ea typeface="Consolas"/>
              </a:rPr>
              <a:t>;</a:t>
            </a:r>
          </a:p>
          <a:p>
            <a:pPr>
              <a:lnSpc>
                <a:spcPts val="1137"/>
              </a:lnSpc>
            </a:pPr>
            <a:r>
              <a:rPr sz="860" b="0" i="0">
                <a:solidFill>
                  <a:srgbClr val="AEB9CC"/>
                </a:solidFill>
                <a:latin typeface="Consolas"/>
                <a:ea typeface="Consolas"/>
              </a:rPr>
              <a:t>477  </a:t>
            </a:r>
            <a:r>
              <a:rPr sz="860" b="0" i="0">
                <a:solidFill>
                  <a:srgbClr val="1B2740"/>
                </a:solidFill>
                <a:latin typeface="Consolas"/>
                <a:ea typeface="Consolas"/>
              </a:rPr>
              <a:t>    </a:t>
            </a:r>
            <a:r>
              <a:rPr sz="860" b="0" i="0">
                <a:solidFill>
                  <a:srgbClr val="059669"/>
                </a:solidFill>
                <a:latin typeface="Consolas"/>
                <a:ea typeface="Consolas"/>
              </a:rPr>
              <a:t>// 플롯 ID 는 10000 ~ 1000000 을 돌아가며 씀</a:t>
            </a:r>
          </a:p>
          <a:p>
            <a:pPr>
              <a:lnSpc>
                <a:spcPts val="1137"/>
              </a:lnSpc>
            </a:pPr>
            <a:r>
              <a:rPr sz="860" b="0" i="0">
                <a:solidFill>
                  <a:srgbClr val="AEB9CC"/>
                </a:solidFill>
                <a:latin typeface="Consolas"/>
                <a:ea typeface="Consolas"/>
              </a:rPr>
              <a:t>478  </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1B2740"/>
                </a:solidFill>
                <a:latin typeface="Consolas"/>
                <a:ea typeface="Consolas"/>
              </a:rPr>
              <a:t>pt_PlotId</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pt_PlotId</a:t>
            </a:r>
            <a:r>
              <a:rPr sz="860" b="0" i="0">
                <a:solidFill>
                  <a:srgbClr val="1B2740"/>
                </a:solidFill>
                <a:latin typeface="Consolas"/>
                <a:ea typeface="Consolas"/>
              </a:rPr>
              <a:t> </a:t>
            </a:r>
            <a:r>
              <a:rPr sz="860" b="0" i="0">
                <a:solidFill>
                  <a:srgbClr val="1B2740"/>
                </a:solidFill>
                <a:latin typeface="Consolas"/>
                <a:ea typeface="Consolas"/>
              </a:rPr>
              <a:t>&gt;</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7C3AED"/>
                </a:solidFill>
                <a:latin typeface="Consolas"/>
                <a:ea typeface="Consolas"/>
              </a:rPr>
              <a:t>IDD_PLOT_ID_MAX</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7C3AED"/>
                </a:solidFill>
                <a:latin typeface="Consolas"/>
                <a:ea typeface="Consolas"/>
              </a:rPr>
              <a:t>IDD_PLOT_ID_MIN</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pt_PlotId</a:t>
            </a:r>
            <a:r>
              <a:rPr sz="860" b="0" i="0">
                <a:solidFill>
                  <a:srgbClr val="1B2740"/>
                </a:solidFill>
                <a:latin typeface="Consolas"/>
                <a:ea typeface="Consolas"/>
              </a:rPr>
              <a:t>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B45309"/>
                </a:solidFill>
                <a:latin typeface="Consolas"/>
                <a:ea typeface="Consolas"/>
              </a:rPr>
              <a:t>1</a:t>
            </a:r>
            <a:r>
              <a:rPr sz="860" b="0" i="0">
                <a:solidFill>
                  <a:srgbClr val="1B2740"/>
                </a:solidFill>
                <a:latin typeface="Consolas"/>
                <a:ea typeface="Consolas"/>
              </a:rPr>
              <a:t>…</a:t>
            </a:r>
          </a:p>
        </p:txBody>
      </p:sp>
      <p:sp>
        <p:nvSpPr>
          <p:cNvPr id="45" name="Oval 44"/>
          <p:cNvSpPr/>
          <p:nvPr/>
        </p:nvSpPr>
        <p:spPr>
          <a:xfrm>
            <a:off x="6894576" y="5275173"/>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6" name="Oval 45"/>
          <p:cNvSpPr/>
          <p:nvPr/>
        </p:nvSpPr>
        <p:spPr>
          <a:xfrm>
            <a:off x="6894576" y="5853074"/>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7" name="Oval 46"/>
          <p:cNvSpPr/>
          <p:nvPr/>
        </p:nvSpPr>
        <p:spPr>
          <a:xfrm>
            <a:off x="7360920" y="2304288"/>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8" name="TextBox 47"/>
          <p:cNvSpPr txBox="1"/>
          <p:nvPr/>
        </p:nvSpPr>
        <p:spPr>
          <a:xfrm>
            <a:off x="7744968" y="2286000"/>
            <a:ext cx="3822191"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플롯 수 = 표적 2 + 클러터 5</a:t>
            </a:r>
          </a:p>
          <a:p>
            <a:pPr algn="l">
              <a:spcAft>
                <a:spcPts val="100"/>
              </a:spcAft>
            </a:pPr>
            <a:r>
              <a:rPr sz="1050" b="0" i="0">
                <a:solidFill>
                  <a:srgbClr val="4A5A7A"/>
                </a:solidFill>
                <a:latin typeface="맑은 고딕"/>
                <a:ea typeface="맑은 고딕"/>
              </a:rPr>
              <a:t>보낼 때는 머리 72 B + 플롯 121 B × 7 = 919 B</a:t>
            </a:r>
          </a:p>
        </p:txBody>
      </p:sp>
      <p:sp>
        <p:nvSpPr>
          <p:cNvPr id="49" name="Oval 48"/>
          <p:cNvSpPr/>
          <p:nvPr/>
        </p:nvSpPr>
        <p:spPr>
          <a:xfrm>
            <a:off x="7360920" y="299008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50" name="TextBox 49"/>
          <p:cNvSpPr txBox="1"/>
          <p:nvPr/>
        </p:nvSpPr>
        <p:spPr>
          <a:xfrm>
            <a:off x="7744968" y="2971800"/>
            <a:ext cx="3822191" cy="676656"/>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R 을 만들 측정잡음 표준편차</a:t>
            </a:r>
          </a:p>
          <a:p>
            <a:pPr algn="l">
              <a:spcAft>
                <a:spcPts val="100"/>
              </a:spcAft>
            </a:pPr>
            <a:r>
              <a:rPr sz="1050" b="0" i="0">
                <a:solidFill>
                  <a:srgbClr val="4A5A7A"/>
                </a:solidFill>
                <a:latin typeface="맑은 고딕"/>
                <a:ea typeface="맑은 고딕"/>
              </a:rPr>
              <a:t>과제 값 10 m, 0.2°, 0.2° 를 실어 보냄</a:t>
            </a:r>
          </a:p>
          <a:p>
            <a:pPr algn="l">
              <a:spcAft>
                <a:spcPts val="100"/>
              </a:spcAft>
            </a:pPr>
            <a:r>
              <a:rPr sz="1050" b="0" i="0">
                <a:solidFill>
                  <a:srgbClr val="4A5A7A"/>
                </a:solidFill>
                <a:latin typeface="맑은 고딕"/>
                <a:ea typeface="맑은 고딕"/>
              </a:rPr>
              <a:t>받는 쪽은 이 값으로 R 을 계산</a:t>
            </a:r>
          </a:p>
        </p:txBody>
      </p:sp>
      <p:sp>
        <p:nvSpPr>
          <p:cNvPr id="51" name="Oval 50"/>
          <p:cNvSpPr/>
          <p:nvPr/>
        </p:nvSpPr>
        <p:spPr>
          <a:xfrm>
            <a:off x="7360920" y="3877055"/>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52" name="TextBox 51"/>
          <p:cNvSpPr txBox="1"/>
          <p:nvPr/>
        </p:nvSpPr>
        <p:spPr>
          <a:xfrm>
            <a:off x="7744968" y="3858768"/>
            <a:ext cx="3822191" cy="676656"/>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안테나 구좌표만 채움</a:t>
            </a:r>
          </a:p>
          <a:p>
            <a:pPr algn="l">
              <a:spcAft>
                <a:spcPts val="100"/>
              </a:spcAft>
            </a:pPr>
            <a:r>
              <a:rPr sz="1050" b="0" i="0">
                <a:solidFill>
                  <a:srgbClr val="4A5A7A"/>
                </a:solidFill>
                <a:latin typeface="맑은 고딕"/>
                <a:ea typeface="맑은 고딕"/>
              </a:rPr>
              <a:t>VC-NED 등 나머지 좌표는 받는 쪽이 계산</a:t>
            </a:r>
          </a:p>
          <a:p>
            <a:pPr algn="l">
              <a:spcAft>
                <a:spcPts val="100"/>
              </a:spcAft>
            </a:pPr>
            <a:r>
              <a:rPr sz="1050" b="0" i="0">
                <a:solidFill>
                  <a:srgbClr val="4A5A7A"/>
                </a:solidFill>
                <a:latin typeface="맑은 고딕"/>
                <a:ea typeface="맑은 고딕"/>
              </a:rPr>
              <a:t>표적 / 클러터 꼬리표 없이 방위각 순서로 섞음</a:t>
            </a:r>
          </a:p>
        </p:txBody>
      </p:sp>
      <p:sp>
        <p:nvSpPr>
          <p:cNvPr id="53" name="Oval 52"/>
          <p:cNvSpPr/>
          <p:nvPr/>
        </p:nvSpPr>
        <p:spPr>
          <a:xfrm>
            <a:off x="7360920" y="4764024"/>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54" name="TextBox 53"/>
          <p:cNvSpPr txBox="1"/>
          <p:nvPr/>
        </p:nvSpPr>
        <p:spPr>
          <a:xfrm>
            <a:off x="7744968" y="4745736"/>
            <a:ext cx="3822191"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스캔 시각의 플랫폼 정보 + 플롯 배열</a:t>
            </a:r>
          </a:p>
          <a:p>
            <a:pPr algn="l">
              <a:spcAft>
                <a:spcPts val="100"/>
              </a:spcAft>
            </a:pPr>
            <a:r>
              <a:rPr sz="1050" b="0" i="0">
                <a:solidFill>
                  <a:srgbClr val="4A5A7A"/>
                </a:solidFill>
                <a:latin typeface="맑은 고딕"/>
                <a:ea typeface="맑은 고딕"/>
              </a:rPr>
              <a:t>PlotNum 개만큼만 보냄</a:t>
            </a:r>
          </a:p>
        </p:txBody>
      </p:sp>
      <p:sp>
        <p:nvSpPr>
          <p:cNvPr id="55" name="Oval 54"/>
          <p:cNvSpPr/>
          <p:nvPr/>
        </p:nvSpPr>
        <p:spPr>
          <a:xfrm>
            <a:off x="7360920" y="541324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6" name="TextBox 55"/>
          <p:cNvSpPr txBox="1"/>
          <p:nvPr/>
        </p:nvSpPr>
        <p:spPr>
          <a:xfrm>
            <a:off x="7744968" y="5394960"/>
            <a:ext cx="3822191"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플롯 ID 10000 ~ 1000000 (과제 조건)</a:t>
            </a:r>
          </a:p>
          <a:p>
            <a:pPr algn="l">
              <a:spcAft>
                <a:spcPts val="100"/>
              </a:spcAft>
            </a:pPr>
            <a:r>
              <a:rPr sz="1050" b="0" i="0">
                <a:solidFill>
                  <a:srgbClr val="4A5A7A"/>
                </a:solidFill>
                <a:latin typeface="맑은 고딕"/>
                <a:ea typeface="맑은 고딕"/>
              </a:rPr>
              <a:t>1 씩 늘리고 1000000 다음은 10000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3.3 트랙 자료구조와 스캔 처리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 변수 이름은 과제 명세 그대로 두었고, 수신 쓰레드가 메시지를 받을 때마다 f_Trk_ProcessScan 이 아래 네 단계를 돌립니다.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트랙 하나 ST_Track    </a:t>
            </a:r>
            <a:r>
              <a:rPr sz="950" b="0" i="0">
                <a:solidFill>
                  <a:srgbClr val="8794AC"/>
                </a:solidFill>
                <a:latin typeface="Consolas"/>
                <a:ea typeface="Consolas"/>
              </a:rPr>
              <a:t>TrackMgr.h</a:t>
            </a:r>
          </a:p>
        </p:txBody>
      </p:sp>
      <p:sp>
        <p:nvSpPr>
          <p:cNvPr id="27" name="Rectangle 26"/>
          <p:cNvSpPr/>
          <p:nvPr/>
        </p:nvSpPr>
        <p:spPr>
          <a:xfrm>
            <a:off x="640080" y="2514600"/>
            <a:ext cx="5760720" cy="19476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2862072"/>
            <a:ext cx="5705856" cy="137160"/>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2862072"/>
            <a:ext cx="36576" cy="13716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2999232"/>
            <a:ext cx="5705856" cy="548640"/>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2999232"/>
            <a:ext cx="36576" cy="5486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3547872"/>
            <a:ext cx="5705856" cy="274320"/>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3547872"/>
            <a:ext cx="36576" cy="27432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19" y="2587752"/>
            <a:ext cx="5577840" cy="17830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103  </a:t>
            </a:r>
            <a:r>
              <a:rPr sz="860" b="0" i="0">
                <a:solidFill>
                  <a:srgbClr val="2563EB"/>
                </a:solidFill>
                <a:latin typeface="Consolas"/>
                <a:ea typeface="Consolas"/>
              </a:rPr>
              <a:t>typedef</a:t>
            </a:r>
            <a:r>
              <a:rPr sz="860" b="0" i="0">
                <a:solidFill>
                  <a:srgbClr val="1B2740"/>
                </a:solidFill>
                <a:latin typeface="Consolas"/>
                <a:ea typeface="Consolas"/>
              </a:rPr>
              <a:t> </a:t>
            </a:r>
            <a:r>
              <a:rPr sz="860" b="0" i="0">
                <a:solidFill>
                  <a:srgbClr val="2563EB"/>
                </a:solidFill>
                <a:latin typeface="Consolas"/>
                <a:ea typeface="Consolas"/>
              </a:rPr>
              <a:t>struct</a:t>
            </a:r>
          </a:p>
          <a:p>
            <a:pPr>
              <a:lnSpc>
                <a:spcPts val="1080"/>
              </a:lnSpc>
            </a:pPr>
            <a:r>
              <a:rPr sz="860" b="0" i="0">
                <a:solidFill>
                  <a:srgbClr val="AEB9CC"/>
                </a:solidFill>
                <a:latin typeface="Consolas"/>
                <a:ea typeface="Consolas"/>
              </a:rPr>
              <a:t>104  </a:t>
            </a:r>
            <a:r>
              <a:rPr sz="860" b="0" i="0">
                <a:solidFill>
                  <a:srgbClr val="1B2740"/>
                </a:solidFill>
                <a:latin typeface="Consolas"/>
                <a:ea typeface="Consolas"/>
              </a:rPr>
              <a:t>{</a:t>
            </a:r>
          </a:p>
          <a:p>
            <a:pPr>
              <a:lnSpc>
                <a:spcPts val="1080"/>
              </a:lnSpc>
            </a:pPr>
            <a:r>
              <a:rPr sz="860" b="0" i="0">
                <a:solidFill>
                  <a:srgbClr val="AEB9CC"/>
                </a:solidFill>
                <a:latin typeface="Consolas"/>
                <a:ea typeface="Consolas"/>
              </a:rPr>
              <a:t>105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TrackId</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ID (100 ~ 10000)</a:t>
            </a:r>
          </a:p>
          <a:p>
            <a:pPr>
              <a:lnSpc>
                <a:spcPts val="1080"/>
              </a:lnSpc>
            </a:pPr>
            <a:r>
              <a:rPr sz="860" b="0" i="0">
                <a:solidFill>
                  <a:srgbClr val="AEB9CC"/>
                </a:solidFill>
                <a:latin typeface="Consolas"/>
                <a:ea typeface="Consolas"/>
              </a:rPr>
              <a:t>106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TrackState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1 임시, 2 확정, 3 메모리, 4 삭제</a:t>
            </a:r>
          </a:p>
          <a:p>
            <a:pPr>
              <a:lnSpc>
                <a:spcPts val="1080"/>
              </a:lnSpc>
            </a:pPr>
            <a:r>
              <a:rPr sz="860" b="0" i="0">
                <a:solidFill>
                  <a:srgbClr val="AEB9CC"/>
                </a:solidFill>
                <a:latin typeface="Consolas"/>
                <a:ea typeface="Consolas"/>
              </a:rPr>
              <a:t>107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점수</a:t>
            </a:r>
          </a:p>
          <a:p>
            <a:pPr>
              <a:lnSpc>
                <a:spcPts val="1080"/>
              </a:lnSpc>
            </a:pPr>
            <a:r>
              <a:rPr sz="860" b="0" i="0">
                <a:solidFill>
                  <a:srgbClr val="AEB9CC"/>
                </a:solidFill>
                <a:latin typeface="Consolas"/>
                <a:ea typeface="Consolas"/>
              </a:rPr>
              <a:t>108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MemoryScore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메모리 점수</a:t>
            </a:r>
          </a:p>
          <a:p>
            <a:pPr>
              <a:lnSpc>
                <a:spcPts val="1080"/>
              </a:lnSpc>
            </a:pPr>
            <a:r>
              <a:rPr sz="860" b="0" i="0">
                <a:solidFill>
                  <a:srgbClr val="AEB9CC"/>
                </a:solidFill>
                <a:latin typeface="Consolas"/>
                <a:ea typeface="Consolas"/>
              </a:rPr>
              <a:t>109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Assigned_Flag</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연관 결과. 1 성공, 0 실패</a:t>
            </a:r>
          </a:p>
          <a:p>
            <a:pPr>
              <a:lnSpc>
                <a:spcPts val="1080"/>
              </a:lnSpc>
            </a:pPr>
            <a:r>
              <a:rPr sz="860" b="0" i="0">
                <a:solidFill>
                  <a:srgbClr val="AEB9CC"/>
                </a:solidFill>
                <a:latin typeface="Consolas"/>
                <a:ea typeface="Consolas"/>
              </a:rPr>
              <a:t>110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mat_EstX</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1 상태변수 (VC-NED)</a:t>
            </a:r>
          </a:p>
          <a:p>
            <a:pPr>
              <a:lnSpc>
                <a:spcPts val="1080"/>
              </a:lnSpc>
            </a:pPr>
            <a:r>
              <a:rPr sz="860" b="0" i="0">
                <a:solidFill>
                  <a:srgbClr val="AEB9CC"/>
                </a:solidFill>
                <a:latin typeface="Consolas"/>
                <a:ea typeface="Consolas"/>
              </a:rPr>
              <a:t>111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mat_EstP</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9 오차 공분산</a:t>
            </a:r>
          </a:p>
          <a:p>
            <a:pPr>
              <a:lnSpc>
                <a:spcPts val="1080"/>
              </a:lnSpc>
            </a:pPr>
            <a:r>
              <a:rPr sz="860" b="0" i="0">
                <a:solidFill>
                  <a:srgbClr val="AEB9CC"/>
                </a:solidFill>
                <a:latin typeface="Consolas"/>
                <a:ea typeface="Consolas"/>
              </a:rPr>
              <a:t>112  </a:t>
            </a:r>
            <a:r>
              <a:rPr sz="860" b="0" i="0">
                <a:solidFill>
                  <a:srgbClr val="1B2740"/>
                </a:solidFill>
                <a:latin typeface="Consolas"/>
                <a:ea typeface="Consolas"/>
              </a:rPr>
              <a:t>  </a:t>
            </a:r>
            <a:r>
              <a:rPr sz="860" b="0" i="0">
                <a:solidFill>
                  <a:srgbClr val="2563EB"/>
                </a:solidFill>
                <a:latin typeface="Consolas"/>
                <a:ea typeface="Consolas"/>
              </a:rPr>
              <a:t>FLOAT64</a:t>
            </a:r>
            <a:r>
              <a:rPr sz="860" b="0" i="0">
                <a:solidFill>
                  <a:srgbClr val="1B2740"/>
                </a:solidFill>
                <a:latin typeface="Consolas"/>
                <a:ea typeface="Consolas"/>
              </a:rPr>
              <a:t>  </a:t>
            </a:r>
            <a:r>
              <a:rPr sz="860" b="0" i="0">
                <a:solidFill>
                  <a:srgbClr val="1B2740"/>
                </a:solidFill>
                <a:latin typeface="Consolas"/>
                <a:ea typeface="Consolas"/>
              </a:rPr>
              <a:t>initTime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시각 [s]</a:t>
            </a:r>
          </a:p>
          <a:p>
            <a:pPr>
              <a:lnSpc>
                <a:spcPts val="1080"/>
              </a:lnSpc>
            </a:pPr>
            <a:r>
              <a:rPr sz="860" b="0" i="0">
                <a:solidFill>
                  <a:srgbClr val="AEB9CC"/>
                </a:solidFill>
                <a:latin typeface="Consolas"/>
                <a:ea typeface="Consolas"/>
              </a:rPr>
              <a:t>113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nInitScan</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스캔 번호</a:t>
            </a:r>
          </a:p>
          <a:p>
            <a:pPr>
              <a:lnSpc>
                <a:spcPts val="1080"/>
              </a:lnSpc>
            </a:pPr>
            <a:r>
              <a:rPr sz="860" b="0" i="0">
                <a:solidFill>
                  <a:srgbClr val="AEB9CC"/>
                </a:solidFill>
                <a:latin typeface="Consolas"/>
                <a:ea typeface="Consolas"/>
              </a:rPr>
              <a:t>114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PlotId</a:t>
            </a:r>
            <a:r>
              <a:rPr sz="860" b="0" i="0">
                <a:solidFill>
                  <a:srgbClr val="1B2740"/>
                </a:solidFill>
                <a:latin typeface="Consolas"/>
                <a:ea typeface="Consolas"/>
              </a:rPr>
              <a:t>[</a:t>
            </a:r>
            <a:r>
              <a:rPr sz="860" b="0" i="0">
                <a:solidFill>
                  <a:srgbClr val="B45309"/>
                </a:solidFill>
                <a:latin typeface="Consolas"/>
                <a:ea typeface="Consolas"/>
              </a:rPr>
              <a:t>2</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개시에 쓴 플롯 ID (앞 스캔, 이번 스캔)</a:t>
            </a:r>
          </a:p>
          <a:p>
            <a:pPr>
              <a:lnSpc>
                <a:spcPts val="1080"/>
              </a:lnSpc>
            </a:pPr>
            <a:r>
              <a:rPr sz="860" b="0" i="0">
                <a:solidFill>
                  <a:srgbClr val="AEB9CC"/>
                </a:solidFill>
                <a:latin typeface="Consolas"/>
                <a:ea typeface="Consolas"/>
              </a:rPr>
              <a:t>115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2563EB"/>
                </a:solidFill>
                <a:latin typeface="Consolas"/>
                <a:ea typeface="Consolas"/>
              </a:rPr>
              <a:t>ST_Track</a:t>
            </a:r>
            <a:r>
              <a:rPr sz="860" b="0" i="0">
                <a:solidFill>
                  <a:srgbClr val="1B2740"/>
                </a:solidFill>
                <a:latin typeface="Consolas"/>
                <a:ea typeface="Consolas"/>
              </a:rPr>
              <a:t>;</a:t>
            </a:r>
          </a:p>
        </p:txBody>
      </p:sp>
      <p:sp>
        <p:nvSpPr>
          <p:cNvPr id="35" name="Oval 34"/>
          <p:cNvSpPr/>
          <p:nvPr/>
        </p:nvSpPr>
        <p:spPr>
          <a:xfrm>
            <a:off x="6254496" y="2830068"/>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6" name="Oval 35"/>
          <p:cNvSpPr/>
          <p:nvPr/>
        </p:nvSpPr>
        <p:spPr>
          <a:xfrm>
            <a:off x="6254496" y="296722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7" name="Oval 36"/>
          <p:cNvSpPr/>
          <p:nvPr/>
        </p:nvSpPr>
        <p:spPr>
          <a:xfrm>
            <a:off x="6254496" y="3515868"/>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38" name="TextBox 37"/>
          <p:cNvSpPr txBox="1"/>
          <p:nvPr/>
        </p:nvSpPr>
        <p:spPr>
          <a:xfrm>
            <a:off x="640080" y="4535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과제 조건 상수    </a:t>
            </a:r>
            <a:r>
              <a:rPr sz="950" b="0" i="0">
                <a:solidFill>
                  <a:srgbClr val="8794AC"/>
                </a:solidFill>
                <a:latin typeface="Consolas"/>
                <a:ea typeface="Consolas"/>
              </a:rPr>
              <a:t>TrackMgr.h</a:t>
            </a:r>
          </a:p>
        </p:txBody>
      </p:sp>
      <p:sp>
        <p:nvSpPr>
          <p:cNvPr id="39" name="Rectangle 38"/>
          <p:cNvSpPr/>
          <p:nvPr/>
        </p:nvSpPr>
        <p:spPr>
          <a:xfrm>
            <a:off x="640080" y="4800600"/>
            <a:ext cx="5760720" cy="12618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31519" y="4873752"/>
            <a:ext cx="5577840" cy="10972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 36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TRK_VMAX</a:t>
            </a:r>
            <a:r>
              <a:rPr sz="860" b="0" i="0">
                <a:solidFill>
                  <a:srgbClr val="1B2740"/>
                </a:solidFill>
                <a:latin typeface="Consolas"/>
                <a:ea typeface="Consolas"/>
              </a:rPr>
              <a:t>               </a:t>
            </a:r>
            <a:r>
              <a:rPr sz="860" b="0" i="0">
                <a:solidFill>
                  <a:srgbClr val="B45309"/>
                </a:solidFill>
                <a:latin typeface="Consolas"/>
                <a:ea typeface="Consolas"/>
              </a:rPr>
              <a:t>800.0</a:t>
            </a:r>
          </a:p>
          <a:p>
            <a:pPr>
              <a:lnSpc>
                <a:spcPts val="1080"/>
              </a:lnSpc>
            </a:pPr>
            <a:r>
              <a:rPr sz="860" b="0" i="0">
                <a:solidFill>
                  <a:srgbClr val="AEB9CC"/>
                </a:solidFill>
                <a:latin typeface="Consolas"/>
                <a:ea typeface="Consolas"/>
              </a:rPr>
              <a:t> 40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TRK_SCORE_CONFIRM</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44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TRK_SCORE_DELETE</a:t>
            </a:r>
            <a:r>
              <a:rPr sz="860" b="0" i="0">
                <a:solidFill>
                  <a:srgbClr val="1B2740"/>
                </a:solidFill>
                <a:latin typeface="Consolas"/>
                <a:ea typeface="Consolas"/>
              </a:rPr>
              <a:t>       </a:t>
            </a:r>
            <a:r>
              <a:rPr sz="860" b="0" i="0">
                <a:solidFill>
                  <a:srgbClr val="B45309"/>
                </a:solidFill>
                <a:latin typeface="Consolas"/>
                <a:ea typeface="Consolas"/>
              </a:rPr>
              <a:t>0</a:t>
            </a:r>
          </a:p>
          <a:p>
            <a:pPr>
              <a:lnSpc>
                <a:spcPts val="1080"/>
              </a:lnSpc>
            </a:pPr>
            <a:r>
              <a:rPr sz="860" b="0" i="0">
                <a:solidFill>
                  <a:srgbClr val="AEB9CC"/>
                </a:solidFill>
                <a:latin typeface="Consolas"/>
                <a:ea typeface="Consolas"/>
              </a:rPr>
              <a:t> 48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TRK_MEMORY_DELETE</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52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TRK_SCORE_INIT</a:t>
            </a:r>
            <a:r>
              <a:rPr sz="860" b="0" i="0">
                <a:solidFill>
                  <a:srgbClr val="1B2740"/>
                </a:solidFill>
                <a:latin typeface="Consolas"/>
                <a:ea typeface="Consolas"/>
              </a:rPr>
              <a:t>         </a:t>
            </a:r>
            <a:r>
              <a:rPr sz="860" b="0" i="0">
                <a:solidFill>
                  <a:srgbClr val="B45309"/>
                </a:solidFill>
                <a:latin typeface="Consolas"/>
                <a:ea typeface="Consolas"/>
              </a:rPr>
              <a:t>2</a:t>
            </a:r>
          </a:p>
          <a:p>
            <a:pPr>
              <a:lnSpc>
                <a:spcPts val="1080"/>
              </a:lnSpc>
            </a:pPr>
            <a:r>
              <a:rPr sz="860" b="0" i="0">
                <a:solidFill>
                  <a:srgbClr val="AEB9CC"/>
                </a:solidFill>
                <a:latin typeface="Consolas"/>
                <a:ea typeface="Consolas"/>
              </a:rPr>
              <a:t> 64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TRK_R_SIGMA_RANGE</a:t>
            </a:r>
            <a:r>
              <a:rPr sz="860" b="0" i="0">
                <a:solidFill>
                  <a:srgbClr val="1B2740"/>
                </a:solidFill>
                <a:latin typeface="Consolas"/>
                <a:ea typeface="Consolas"/>
              </a:rPr>
              <a:t>      </a:t>
            </a:r>
            <a:r>
              <a:rPr sz="860" b="0" i="0">
                <a:solidFill>
                  <a:srgbClr val="B45309"/>
                </a:solidFill>
                <a:latin typeface="Consolas"/>
                <a:ea typeface="Consolas"/>
              </a:rPr>
              <a:t>10.0</a:t>
            </a:r>
          </a:p>
          <a:p>
            <a:pPr>
              <a:lnSpc>
                <a:spcPts val="1080"/>
              </a:lnSpc>
            </a:pPr>
            <a:r>
              <a:rPr sz="860" b="0" i="0">
                <a:solidFill>
                  <a:srgbClr val="AEB9CC"/>
                </a:solidFill>
                <a:latin typeface="Consolas"/>
                <a:ea typeface="Consolas"/>
              </a:rPr>
              <a:t> 68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TRK_R_SIGMA_AZIMUTH</a:t>
            </a:r>
            <a:r>
              <a:rPr sz="860" b="0" i="0">
                <a:solidFill>
                  <a:srgbClr val="1B2740"/>
                </a:solidFill>
                <a:latin typeface="Consolas"/>
                <a:ea typeface="Consolas"/>
              </a:rPr>
              <a:t>    </a:t>
            </a:r>
            <a:r>
              <a:rPr sz="860" b="0" i="0">
                <a:solidFill>
                  <a:srgbClr val="B45309"/>
                </a:solidFill>
                <a:latin typeface="Consolas"/>
                <a:ea typeface="Consolas"/>
              </a:rPr>
              <a:t>0.2</a:t>
            </a:r>
          </a:p>
          <a:p>
            <a:pPr>
              <a:lnSpc>
                <a:spcPts val="1080"/>
              </a:lnSpc>
            </a:pPr>
            <a:r>
              <a:rPr sz="860" b="0" i="0">
                <a:solidFill>
                  <a:srgbClr val="AEB9CC"/>
                </a:solidFill>
                <a:latin typeface="Consolas"/>
                <a:ea typeface="Consolas"/>
              </a:rPr>
              <a:t> 72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TRK_R_SIGMA_ELEVATION</a:t>
            </a:r>
            <a:r>
              <a:rPr sz="860" b="0" i="0">
                <a:solidFill>
                  <a:srgbClr val="1B2740"/>
                </a:solidFill>
                <a:latin typeface="Consolas"/>
                <a:ea typeface="Consolas"/>
              </a:rPr>
              <a:t>  </a:t>
            </a:r>
            <a:r>
              <a:rPr sz="860" b="0" i="0">
                <a:solidFill>
                  <a:srgbClr val="B45309"/>
                </a:solidFill>
                <a:latin typeface="Consolas"/>
                <a:ea typeface="Consolas"/>
              </a:rPr>
              <a:t>0.2</a:t>
            </a:r>
          </a:p>
        </p:txBody>
      </p:sp>
      <p:sp>
        <p:nvSpPr>
          <p:cNvPr id="41" name="Rounded Rectangle 40"/>
          <p:cNvSpPr/>
          <p:nvPr/>
        </p:nvSpPr>
        <p:spPr>
          <a:xfrm>
            <a:off x="6720840" y="2286000"/>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812280" y="2359152"/>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①</a:t>
            </a:r>
          </a:p>
        </p:txBody>
      </p:sp>
      <p:sp>
        <p:nvSpPr>
          <p:cNvPr id="43" name="TextBox 42"/>
          <p:cNvSpPr txBox="1"/>
          <p:nvPr/>
        </p:nvSpPr>
        <p:spPr>
          <a:xfrm>
            <a:off x="7315200" y="2359152"/>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삭제 트랙 정리</a:t>
            </a:r>
          </a:p>
        </p:txBody>
      </p:sp>
      <p:sp>
        <p:nvSpPr>
          <p:cNvPr id="44" name="TextBox 43"/>
          <p:cNvSpPr txBox="1"/>
          <p:nvPr/>
        </p:nvSpPr>
        <p:spPr>
          <a:xfrm>
            <a:off x="7315200" y="2651760"/>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스캔에 삭제 (4) 가 된 트랙을 표에서 뺌.</a:t>
            </a:r>
          </a:p>
          <a:p>
            <a:pPr algn="l">
              <a:spcAft>
                <a:spcPts val="0"/>
              </a:spcAft>
            </a:pPr>
            <a:r>
              <a:rPr sz="1000" b="0" i="0">
                <a:solidFill>
                  <a:srgbClr val="4A5A7A"/>
                </a:solidFill>
                <a:latin typeface="맑은 고딕"/>
                <a:ea typeface="맑은 고딕"/>
              </a:rPr>
              <a:t>삭제 트랙은 한 스캔 동안 화면에 보인 뒤 사라짐</a:t>
            </a:r>
          </a:p>
        </p:txBody>
      </p:sp>
      <p:sp>
        <p:nvSpPr>
          <p:cNvPr id="45" name="Rounded Rectangle 44"/>
          <p:cNvSpPr/>
          <p:nvPr/>
        </p:nvSpPr>
        <p:spPr>
          <a:xfrm>
            <a:off x="6720840" y="3273552"/>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812280" y="3346704"/>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②</a:t>
            </a:r>
          </a:p>
        </p:txBody>
      </p:sp>
      <p:sp>
        <p:nvSpPr>
          <p:cNvPr id="47" name="TextBox 46"/>
          <p:cNvSpPr txBox="1"/>
          <p:nvPr/>
        </p:nvSpPr>
        <p:spPr>
          <a:xfrm>
            <a:off x="7315200" y="3346704"/>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관리 (스코어 로직)</a:t>
            </a:r>
          </a:p>
        </p:txBody>
      </p:sp>
      <p:sp>
        <p:nvSpPr>
          <p:cNvPr id="48" name="TextBox 47"/>
          <p:cNvSpPr txBox="1"/>
          <p:nvPr/>
        </p:nvSpPr>
        <p:spPr>
          <a:xfrm>
            <a:off x="7315200" y="3639312"/>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연관 기능이 아직 없으므로 모든 트랙</a:t>
            </a:r>
          </a:p>
          <a:p>
            <a:pPr algn="l">
              <a:spcAft>
                <a:spcPts val="0"/>
              </a:spcAft>
            </a:pPr>
            <a:r>
              <a:rPr sz="1000" b="0" i="0">
                <a:solidFill>
                  <a:srgbClr val="4A5A7A"/>
                </a:solidFill>
                <a:latin typeface="맑은 고딕"/>
                <a:ea typeface="맑은 고딕"/>
              </a:rPr>
              <a:t>Assigned_Flag = 0 → f_Trk_UpdateState</a:t>
            </a:r>
          </a:p>
        </p:txBody>
      </p:sp>
      <p:sp>
        <p:nvSpPr>
          <p:cNvPr id="49" name="Rounded Rectangle 48"/>
          <p:cNvSpPr/>
          <p:nvPr/>
        </p:nvSpPr>
        <p:spPr>
          <a:xfrm>
            <a:off x="6720840" y="4261104"/>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812280" y="4334256"/>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③</a:t>
            </a:r>
          </a:p>
        </p:txBody>
      </p:sp>
      <p:sp>
        <p:nvSpPr>
          <p:cNvPr id="51" name="TextBox 50"/>
          <p:cNvSpPr txBox="1"/>
          <p:nvPr/>
        </p:nvSpPr>
        <p:spPr>
          <a:xfrm>
            <a:off x="7315200" y="4334256"/>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2-Point 개시</a:t>
            </a:r>
          </a:p>
        </p:txBody>
      </p:sp>
      <p:sp>
        <p:nvSpPr>
          <p:cNvPr id="52" name="TextBox 51"/>
          <p:cNvSpPr txBox="1"/>
          <p:nvPr/>
        </p:nvSpPr>
        <p:spPr>
          <a:xfrm>
            <a:off x="7315200" y="4626864"/>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속도 게이트 → 속력 작은 쌍부터 → 트랙 ID 부여</a:t>
            </a:r>
          </a:p>
          <a:p>
            <a:pPr algn="l">
              <a:spcAft>
                <a:spcPts val="0"/>
              </a:spcAft>
            </a:pPr>
            <a:r>
              <a:rPr sz="1000" b="0" i="0">
                <a:solidFill>
                  <a:srgbClr val="4A5A7A"/>
                </a:solidFill>
                <a:latin typeface="맑은 고딕"/>
                <a:ea typeface="맑은 고딕"/>
              </a:rPr>
              <a:t>(100 ~ 10000 순환, 표에 남은 ID 는 건너뜀)</a:t>
            </a:r>
          </a:p>
        </p:txBody>
      </p:sp>
      <p:sp>
        <p:nvSpPr>
          <p:cNvPr id="53" name="Rounded Rectangle 52"/>
          <p:cNvSpPr/>
          <p:nvPr/>
        </p:nvSpPr>
        <p:spPr>
          <a:xfrm>
            <a:off x="6720840" y="5248656"/>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812280" y="5321808"/>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④</a:t>
            </a:r>
          </a:p>
        </p:txBody>
      </p:sp>
      <p:sp>
        <p:nvSpPr>
          <p:cNvPr id="55" name="TextBox 54"/>
          <p:cNvSpPr txBox="1"/>
          <p:nvPr/>
        </p:nvSpPr>
        <p:spPr>
          <a:xfrm>
            <a:off x="7315200" y="5321808"/>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개시 후보 보관</a:t>
            </a:r>
          </a:p>
        </p:txBody>
      </p:sp>
      <p:sp>
        <p:nvSpPr>
          <p:cNvPr id="56" name="TextBox 55"/>
          <p:cNvSpPr txBox="1"/>
          <p:nvPr/>
        </p:nvSpPr>
        <p:spPr>
          <a:xfrm>
            <a:off x="7315200" y="5614416"/>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이번 스캔 플롯을 다음 스캔 후보로.</a:t>
            </a:r>
          </a:p>
          <a:p>
            <a:pPr algn="l">
              <a:spcAft>
                <a:spcPts val="0"/>
              </a:spcAft>
            </a:pPr>
            <a:r>
              <a:rPr sz="1000" b="0" i="0">
                <a:solidFill>
                  <a:srgbClr val="4A5A7A"/>
                </a:solidFill>
                <a:latin typeface="맑은 고딕"/>
                <a:ea typeface="맑은 고딕"/>
              </a:rPr>
              <a:t>개시에 쓴 플롯은 표시해 두고 후보에서 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3.4 2-Point 개시와 R 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f_Trk_TwoPointInit 이 mat_EstX · mat_EstP 를 채우고, 그 안의 R 은 과제 값 표준편차로 f_Trk_MeasCov 가 만듭니다.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903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2-Point 초기화    </a:t>
            </a:r>
            <a:r>
              <a:rPr sz="950" b="0" i="0">
                <a:solidFill>
                  <a:srgbClr val="8794AC"/>
                </a:solidFill>
                <a:latin typeface="Consolas"/>
                <a:ea typeface="Consolas"/>
              </a:rPr>
              <a:t>TrackMgr.c</a:t>
            </a:r>
          </a:p>
        </p:txBody>
      </p:sp>
      <p:sp>
        <p:nvSpPr>
          <p:cNvPr id="27" name="Rectangle 26"/>
          <p:cNvSpPr/>
          <p:nvPr/>
        </p:nvSpPr>
        <p:spPr>
          <a:xfrm>
            <a:off x="640080" y="2514600"/>
            <a:ext cx="6903720" cy="327720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4076395"/>
            <a:ext cx="6848856" cy="135331"/>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4076395"/>
            <a:ext cx="36576" cy="135331"/>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4211726"/>
            <a:ext cx="6848856" cy="135331"/>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4211726"/>
            <a:ext cx="36576" cy="13533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347057"/>
            <a:ext cx="6848856" cy="135331"/>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347057"/>
            <a:ext cx="36576" cy="13533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67512" y="4753051"/>
            <a:ext cx="6848856" cy="541324"/>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67512" y="4753051"/>
            <a:ext cx="36576" cy="5413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1519" y="2587752"/>
            <a:ext cx="6720840" cy="3112617"/>
          </a:xfrm>
          <a:prstGeom prst="rect">
            <a:avLst/>
          </a:prstGeom>
          <a:noFill/>
        </p:spPr>
        <p:txBody>
          <a:bodyPr wrap="square" lIns="0" rIns="0" tIns="0" bIns="0">
            <a:spAutoFit/>
          </a:bodyPr>
          <a:lstStyle/>
          <a:p>
            <a:pPr>
              <a:lnSpc>
                <a:spcPts val="1065"/>
              </a:lnSpc>
            </a:pPr>
            <a:r>
              <a:rPr sz="780" b="0" i="0">
                <a:solidFill>
                  <a:srgbClr val="AEB9CC"/>
                </a:solidFill>
                <a:latin typeface="Consolas"/>
                <a:ea typeface="Consolas"/>
              </a:rPr>
              <a:t>222  </a:t>
            </a:r>
            <a:r>
              <a:rPr sz="780" b="0" i="0">
                <a:solidFill>
                  <a:srgbClr val="2563EB"/>
                </a:solidFill>
                <a:latin typeface="Consolas"/>
                <a:ea typeface="Consolas"/>
              </a:rPr>
              <a:t>VOID</a:t>
            </a:r>
            <a:r>
              <a:rPr sz="780" b="0" i="0">
                <a:solidFill>
                  <a:srgbClr val="1B2740"/>
                </a:solidFill>
                <a:latin typeface="Consolas"/>
                <a:ea typeface="Consolas"/>
              </a:rPr>
              <a:t> </a:t>
            </a:r>
            <a:r>
              <a:rPr sz="780" b="0" i="0">
                <a:solidFill>
                  <a:srgbClr val="1B2740"/>
                </a:solidFill>
                <a:latin typeface="Consolas"/>
                <a:ea typeface="Consolas"/>
              </a:rPr>
              <a:t>f_Trk_TwoPointInit</a:t>
            </a:r>
            <a:r>
              <a:rPr sz="780" b="0" i="0">
                <a:solidFill>
                  <a:srgbClr val="1B2740"/>
                </a:solidFill>
                <a:latin typeface="Consolas"/>
                <a:ea typeface="Consolas"/>
              </a:rPr>
              <a:t>(</a:t>
            </a:r>
            <a:r>
              <a:rPr sz="780" b="0" i="0">
                <a:solidFill>
                  <a:srgbClr val="2563EB"/>
                </a:solidFill>
                <a:latin typeface="Consolas"/>
                <a:ea typeface="Consolas"/>
              </a:rPr>
              <a:t>ST_Track</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223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224  </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FLOAT64</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225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mat_EstX</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226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mat_EstP</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227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228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230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231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233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234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235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236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237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2</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0.0</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239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240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241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242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243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244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245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246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247  </a:t>
            </a:r>
            <a:r>
              <a:rPr sz="780" b="0" i="0">
                <a:solidFill>
                  <a:srgbClr val="1B2740"/>
                </a:solidFill>
                <a:latin typeface="Consolas"/>
                <a:ea typeface="Consolas"/>
              </a:rPr>
              <a:t>}</a:t>
            </a:r>
          </a:p>
        </p:txBody>
      </p:sp>
      <p:sp>
        <p:nvSpPr>
          <p:cNvPr id="37" name="Oval 36"/>
          <p:cNvSpPr/>
          <p:nvPr/>
        </p:nvSpPr>
        <p:spPr>
          <a:xfrm>
            <a:off x="7397496" y="404347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8" name="Oval 37"/>
          <p:cNvSpPr/>
          <p:nvPr/>
        </p:nvSpPr>
        <p:spPr>
          <a:xfrm>
            <a:off x="7397496" y="417880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9" name="Oval 38"/>
          <p:cNvSpPr/>
          <p:nvPr/>
        </p:nvSpPr>
        <p:spPr>
          <a:xfrm>
            <a:off x="7397496" y="4314139"/>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0" name="Oval 39"/>
          <p:cNvSpPr/>
          <p:nvPr/>
        </p:nvSpPr>
        <p:spPr>
          <a:xfrm>
            <a:off x="7397496" y="4720132"/>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1" name="TextBox 40"/>
          <p:cNvSpPr txBox="1"/>
          <p:nvPr/>
        </p:nvSpPr>
        <p:spPr>
          <a:xfrm>
            <a:off x="7772400" y="2249424"/>
            <a:ext cx="3776472"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R 표준편차 (과제 값)    </a:t>
            </a:r>
            <a:r>
              <a:rPr sz="950" b="0" i="0">
                <a:solidFill>
                  <a:srgbClr val="8794AC"/>
                </a:solidFill>
                <a:latin typeface="Consolas"/>
                <a:ea typeface="Consolas"/>
              </a:rPr>
              <a:t>TrackMgr.c</a:t>
            </a:r>
          </a:p>
        </p:txBody>
      </p:sp>
      <p:sp>
        <p:nvSpPr>
          <p:cNvPr id="42" name="Rectangle 41"/>
          <p:cNvSpPr/>
          <p:nvPr/>
        </p:nvSpPr>
        <p:spPr>
          <a:xfrm>
            <a:off x="7772400" y="2514600"/>
            <a:ext cx="3776472" cy="97657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799831" y="2858414"/>
            <a:ext cx="3721608" cy="405993"/>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799831" y="2858414"/>
            <a:ext cx="36576" cy="40599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863840" y="2587752"/>
            <a:ext cx="3593591" cy="811987"/>
          </a:xfrm>
          <a:prstGeom prst="rect">
            <a:avLst/>
          </a:prstGeom>
          <a:noFill/>
        </p:spPr>
        <p:txBody>
          <a:bodyPr wrap="square" lIns="0" rIns="0" tIns="0" bIns="0">
            <a:spAutoFit/>
          </a:bodyPr>
          <a:lstStyle/>
          <a:p>
            <a:pPr>
              <a:lnSpc>
                <a:spcPts val="1065"/>
              </a:lnSpc>
            </a:pPr>
            <a:r>
              <a:rPr sz="740" b="0" i="0">
                <a:solidFill>
                  <a:srgbClr val="AEB9CC"/>
                </a:solidFill>
                <a:latin typeface="Consolas"/>
                <a:ea typeface="Consolas"/>
              </a:rPr>
              <a:t>285  </a:t>
            </a:r>
            <a:r>
              <a:rPr sz="740" b="0" i="0">
                <a:solidFill>
                  <a:srgbClr val="2563EB"/>
                </a:solidFill>
                <a:latin typeface="Consolas"/>
                <a:ea typeface="Consolas"/>
              </a:rPr>
              <a:t>VOID</a:t>
            </a:r>
            <a:r>
              <a:rPr sz="740" b="0" i="0">
                <a:solidFill>
                  <a:srgbClr val="1B2740"/>
                </a:solidFill>
                <a:latin typeface="Consolas"/>
                <a:ea typeface="Consolas"/>
              </a:rPr>
              <a:t> </a:t>
            </a:r>
            <a:r>
              <a:rPr sz="740" b="0" i="0">
                <a:solidFill>
                  <a:srgbClr val="1B2740"/>
                </a:solidFill>
                <a:latin typeface="Consolas"/>
                <a:ea typeface="Consolas"/>
              </a:rPr>
              <a:t>f_Trk_GetMeasSigma</a:t>
            </a:r>
            <a:r>
              <a:rPr sz="740" b="0" i="0">
                <a:solidFill>
                  <a:srgbClr val="1B2740"/>
                </a:solidFill>
                <a:latin typeface="Consolas"/>
                <a:ea typeface="Consolas"/>
              </a:rPr>
              <a:t>(</a:t>
            </a:r>
            <a:r>
              <a:rPr sz="740" b="0" i="0">
                <a:solidFill>
                  <a:srgbClr val="2563EB"/>
                </a:solidFill>
                <a:latin typeface="Consolas"/>
                <a:ea typeface="Consolas"/>
              </a:rPr>
              <a:t>STRUCT_Coord_Sph</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st_Sigma</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286  </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287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r</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7C3AED"/>
                </a:solidFill>
                <a:latin typeface="Consolas"/>
                <a:ea typeface="Consolas"/>
              </a:rPr>
              <a:t>TRK_R_SIGMA_RANGE</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288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az</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TRK_R_SIGMA_AZIMUTH</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289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el</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TRK_R_SIGMA_ELEVATION</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290  </a:t>
            </a:r>
            <a:r>
              <a:rPr sz="740" b="0" i="0">
                <a:solidFill>
                  <a:srgbClr val="1B2740"/>
                </a:solidFill>
                <a:latin typeface="Consolas"/>
                <a:ea typeface="Consolas"/>
              </a:rPr>
              <a:t>}</a:t>
            </a:r>
          </a:p>
        </p:txBody>
      </p:sp>
      <p:sp>
        <p:nvSpPr>
          <p:cNvPr id="46" name="Oval 45"/>
          <p:cNvSpPr/>
          <p:nvPr/>
        </p:nvSpPr>
        <p:spPr>
          <a:xfrm>
            <a:off x="11402567" y="28254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7" name="Oval 46"/>
          <p:cNvSpPr/>
          <p:nvPr/>
        </p:nvSpPr>
        <p:spPr>
          <a:xfrm>
            <a:off x="7772400" y="367588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8" name="TextBox 47"/>
          <p:cNvSpPr txBox="1"/>
          <p:nvPr/>
        </p:nvSpPr>
        <p:spPr>
          <a:xfrm>
            <a:off x="8156448" y="365760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z</a:t>
            </a:r>
            <a:r>
              <a:rPr sz="1150" b="1" i="0" baseline="-25000">
                <a:solidFill>
                  <a:srgbClr val="1B2740"/>
                </a:solidFill>
                <a:latin typeface="맑은 고딕"/>
                <a:ea typeface="맑은 고딕"/>
              </a:rPr>
              <a:t>k</a:t>
            </a:r>
          </a:p>
        </p:txBody>
      </p:sp>
      <p:sp>
        <p:nvSpPr>
          <p:cNvPr id="49" name="Oval 48"/>
          <p:cNvSpPr/>
          <p:nvPr/>
        </p:nvSpPr>
        <p:spPr>
          <a:xfrm>
            <a:off x="7772400" y="4041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50" name="TextBox 49"/>
          <p:cNvSpPr txBox="1"/>
          <p:nvPr/>
        </p:nvSpPr>
        <p:spPr>
          <a:xfrm>
            <a:off x="8156448" y="402336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 (z</a:t>
            </a:r>
            <a:r>
              <a:rPr sz="1150" b="1" i="0" baseline="-25000">
                <a:solidFill>
                  <a:srgbClr val="1B2740"/>
                </a:solidFill>
                <a:latin typeface="맑은 고딕"/>
                <a:ea typeface="맑은 고딕"/>
              </a:rPr>
              <a:t>k</a:t>
            </a:r>
            <a:r>
              <a:rPr sz="1150" b="1" i="0">
                <a:solidFill>
                  <a:srgbClr val="1B2740"/>
                </a:solidFill>
                <a:latin typeface="맑은 고딕"/>
                <a:ea typeface="맑은 고딕"/>
              </a:rPr>
              <a:t> − z</a:t>
            </a:r>
            <a:r>
              <a:rPr sz="1150" b="1" i="0" baseline="-25000">
                <a:solidFill>
                  <a:srgbClr val="1B2740"/>
                </a:solidFill>
                <a:latin typeface="맑은 고딕"/>
                <a:ea typeface="맑은 고딕"/>
              </a:rPr>
              <a:t>k−1</a:t>
            </a:r>
            <a:r>
              <a:rPr sz="1150" b="1" i="0">
                <a:solidFill>
                  <a:srgbClr val="1B2740"/>
                </a:solidFill>
                <a:latin typeface="맑은 고딕"/>
                <a:ea typeface="맑은 고딕"/>
              </a:rPr>
              <a:t>) / T</a:t>
            </a:r>
          </a:p>
        </p:txBody>
      </p:sp>
      <p:sp>
        <p:nvSpPr>
          <p:cNvPr id="51" name="Oval 50"/>
          <p:cNvSpPr/>
          <p:nvPr/>
        </p:nvSpPr>
        <p:spPr>
          <a:xfrm>
            <a:off x="7772400" y="4407407"/>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52" name="TextBox 51"/>
          <p:cNvSpPr txBox="1"/>
          <p:nvPr/>
        </p:nvSpPr>
        <p:spPr>
          <a:xfrm>
            <a:off x="8156448" y="438912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가속도 = 0 (P 의 가속도 칸도 0 유지)</a:t>
            </a:r>
          </a:p>
        </p:txBody>
      </p:sp>
      <p:sp>
        <p:nvSpPr>
          <p:cNvPr id="53" name="Oval 52"/>
          <p:cNvSpPr/>
          <p:nvPr/>
        </p:nvSpPr>
        <p:spPr>
          <a:xfrm>
            <a:off x="7772400" y="47731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54" name="TextBox 53"/>
          <p:cNvSpPr txBox="1"/>
          <p:nvPr/>
        </p:nvSpPr>
        <p:spPr>
          <a:xfrm>
            <a:off x="8156448" y="47548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P 블록: R</a:t>
            </a:r>
            <a:r>
              <a:rPr sz="1150" b="1" i="0" baseline="-25000">
                <a:solidFill>
                  <a:srgbClr val="1B2740"/>
                </a:solidFill>
                <a:latin typeface="맑은 고딕"/>
                <a:ea typeface="맑은 고딕"/>
              </a:rPr>
              <a:t>k</a:t>
            </a:r>
            <a:r>
              <a:rPr sz="1150" b="1" i="0">
                <a:solidFill>
                  <a:srgbClr val="1B2740"/>
                </a:solidFill>
                <a:latin typeface="맑은 고딕"/>
                <a:ea typeface="맑은 고딕"/>
              </a:rPr>
              <a:t>,  R</a:t>
            </a:r>
            <a:r>
              <a:rPr sz="1150" b="1" i="0" baseline="-25000">
                <a:solidFill>
                  <a:srgbClr val="1B2740"/>
                </a:solidFill>
                <a:latin typeface="맑은 고딕"/>
                <a:ea typeface="맑은 고딕"/>
              </a:rPr>
              <a:t>k</a:t>
            </a:r>
            <a:r>
              <a:rPr sz="1150" b="1" i="0">
                <a:solidFill>
                  <a:srgbClr val="1B2740"/>
                </a:solidFill>
                <a:latin typeface="맑은 고딕"/>
                <a:ea typeface="맑은 고딕"/>
              </a:rPr>
              <a:t>/T,  (R</a:t>
            </a:r>
            <a:r>
              <a:rPr sz="1150" b="1" i="0" baseline="-25000">
                <a:solidFill>
                  <a:srgbClr val="1B2740"/>
                </a:solidFill>
                <a:latin typeface="맑은 고딕"/>
                <a:ea typeface="맑은 고딕"/>
              </a:rPr>
              <a:t>k</a:t>
            </a:r>
            <a:r>
              <a:rPr sz="1150" b="1" i="0">
                <a:solidFill>
                  <a:srgbClr val="1B2740"/>
                </a:solidFill>
                <a:latin typeface="맑은 고딕"/>
                <a:ea typeface="맑은 고딕"/>
              </a:rPr>
              <a:t>+R</a:t>
            </a:r>
            <a:r>
              <a:rPr sz="1150" b="1" i="0" baseline="-25000">
                <a:solidFill>
                  <a:srgbClr val="1B2740"/>
                </a:solidFill>
                <a:latin typeface="맑은 고딕"/>
                <a:ea typeface="맑은 고딕"/>
              </a:rPr>
              <a:t>k−1</a:t>
            </a:r>
            <a:r>
              <a:rPr sz="1150" b="1" i="0">
                <a:solidFill>
                  <a:srgbClr val="1B2740"/>
                </a:solidFill>
                <a:latin typeface="맑은 고딕"/>
                <a:ea typeface="맑은 고딕"/>
              </a:rPr>
              <a:t>)/T</a:t>
            </a:r>
            <a:r>
              <a:rPr sz="1150" b="1" i="0" baseline="30000">
                <a:solidFill>
                  <a:srgbClr val="1B2740"/>
                </a:solidFill>
                <a:latin typeface="맑은 고딕"/>
                <a:ea typeface="맑은 고딕"/>
              </a:rPr>
              <a:t>2</a:t>
            </a:r>
          </a:p>
          <a:p>
            <a:pPr algn="l">
              <a:spcAft>
                <a:spcPts val="100"/>
              </a:spcAft>
            </a:pPr>
            <a:r>
              <a:rPr sz="1050" b="0" i="0">
                <a:solidFill>
                  <a:srgbClr val="4A5A7A"/>
                </a:solidFill>
                <a:latin typeface="맑은 고딕"/>
                <a:ea typeface="맑은 고딕"/>
              </a:rPr>
              <a:t>Matrix_initialize 가 0 으로 채운 뒤 위치 · 속도 칸만 씀</a:t>
            </a:r>
          </a:p>
        </p:txBody>
      </p:sp>
      <p:sp>
        <p:nvSpPr>
          <p:cNvPr id="55" name="Oval 54"/>
          <p:cNvSpPr/>
          <p:nvPr/>
        </p:nvSpPr>
        <p:spPr>
          <a:xfrm>
            <a:off x="7772400" y="545896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6" name="TextBox 55"/>
          <p:cNvSpPr txBox="1"/>
          <p:nvPr/>
        </p:nvSpPr>
        <p:spPr>
          <a:xfrm>
            <a:off x="8156448" y="54406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σ 10 m, 0.2°, 0.2° → R</a:t>
            </a:r>
          </a:p>
          <a:p>
            <a:pPr algn="l">
              <a:spcAft>
                <a:spcPts val="100"/>
              </a:spcAft>
            </a:pPr>
            <a:r>
              <a:rPr sz="1050" b="0" i="0">
                <a:solidFill>
                  <a:srgbClr val="4A5A7A"/>
                </a:solidFill>
                <a:latin typeface="맑은 고딕"/>
                <a:ea typeface="맑은 고딕"/>
              </a:rPr>
              <a:t>f_Trk_MeasCov: J · diag(σ²) · Jᵀ 를 NED 로 회전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3.5 트랙 스코어 로직 (f_Trk_UpdateState)</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과제 2.2 규칙을 switch 문 하나로 옮겼습니다. 문턱치는 TrackMgr.h 의 상수 (5, 0, 5) 를 그대로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임시 트랙    </a:t>
            </a:r>
            <a:r>
              <a:rPr sz="950" b="0" i="0">
                <a:solidFill>
                  <a:srgbClr val="8794AC"/>
                </a:solidFill>
                <a:latin typeface="Consolas"/>
                <a:ea typeface="Consolas"/>
              </a:rPr>
              <a:t>TrackMgr.c</a:t>
            </a:r>
          </a:p>
        </p:txBody>
      </p:sp>
      <p:sp>
        <p:nvSpPr>
          <p:cNvPr id="27" name="Rectangle 26"/>
          <p:cNvSpPr/>
          <p:nvPr/>
        </p:nvSpPr>
        <p:spPr>
          <a:xfrm>
            <a:off x="640080" y="2514600"/>
            <a:ext cx="5349240" cy="305409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3454603"/>
            <a:ext cx="5294376" cy="144475"/>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3454603"/>
            <a:ext cx="36576" cy="14447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3599078"/>
            <a:ext cx="5294376" cy="433425"/>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3599078"/>
            <a:ext cx="36576" cy="4334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176979"/>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176979"/>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19" y="2587752"/>
            <a:ext cx="5166359" cy="288950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158  </a:t>
            </a:r>
            <a:r>
              <a:rPr sz="760" b="0" i="0">
                <a:solidFill>
                  <a:srgbClr val="2563EB"/>
                </a:solidFill>
                <a:latin typeface="Consolas"/>
                <a:ea typeface="Consolas"/>
              </a:rPr>
              <a:t>VOID</a:t>
            </a:r>
            <a:r>
              <a:rPr sz="760" b="0" i="0">
                <a:solidFill>
                  <a:srgbClr val="1B2740"/>
                </a:solidFill>
                <a:latin typeface="Consolas"/>
                <a:ea typeface="Consolas"/>
              </a:rPr>
              <a:t> </a:t>
            </a:r>
            <a:r>
              <a:rPr sz="760" b="0" i="0">
                <a:solidFill>
                  <a:srgbClr val="1B2740"/>
                </a:solidFill>
                <a:latin typeface="Consolas"/>
                <a:ea typeface="Consolas"/>
              </a:rPr>
              <a:t>f_Trk_UpdateState</a:t>
            </a:r>
            <a:r>
              <a:rPr sz="760" b="0" i="0">
                <a:solidFill>
                  <a:srgbClr val="1B2740"/>
                </a:solidFill>
                <a:latin typeface="Consolas"/>
                <a:ea typeface="Consolas"/>
              </a:rPr>
              <a:t>(</a:t>
            </a:r>
            <a:r>
              <a:rPr sz="760" b="0" i="0">
                <a:solidFill>
                  <a:srgbClr val="2563EB"/>
                </a:solidFill>
                <a:latin typeface="Consolas"/>
                <a:ea typeface="Consolas"/>
              </a:rPr>
              <a:t>ST_Track</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159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160  </a:t>
            </a:r>
            <a:r>
              <a:rPr sz="760" b="0" i="0">
                <a:solidFill>
                  <a:srgbClr val="1B2740"/>
                </a:solidFill>
                <a:latin typeface="Consolas"/>
                <a:ea typeface="Consolas"/>
              </a:rPr>
              <a:t>  </a:t>
            </a:r>
            <a:r>
              <a:rPr sz="760" b="0" i="0">
                <a:solidFill>
                  <a:srgbClr val="2563EB"/>
                </a:solidFill>
                <a:latin typeface="Consolas"/>
                <a:ea typeface="Consolas"/>
              </a:rPr>
              <a:t>const</a:t>
            </a:r>
            <a:r>
              <a:rPr sz="760" b="0" i="0">
                <a:solidFill>
                  <a:srgbClr val="1B2740"/>
                </a:solidFill>
                <a:latin typeface="Consolas"/>
                <a:ea typeface="Consolas"/>
              </a:rPr>
              <a:t> </a:t>
            </a:r>
            <a:r>
              <a:rPr sz="760" b="0" i="0">
                <a:solidFill>
                  <a:srgbClr val="2563EB"/>
                </a:solidFill>
                <a:latin typeface="Consolas"/>
                <a:ea typeface="Consolas"/>
              </a:rPr>
              <a:t>INT32</a:t>
            </a:r>
            <a:r>
              <a:rPr sz="760" b="0" i="0">
                <a:solidFill>
                  <a:srgbClr val="1B2740"/>
                </a:solidFill>
                <a:latin typeface="Consolas"/>
                <a:ea typeface="Consolas"/>
              </a:rPr>
              <a:t> </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Assigned_Flag</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162  </a:t>
            </a:r>
            <a:r>
              <a:rPr sz="760" b="0" i="0">
                <a:solidFill>
                  <a:srgbClr val="1B2740"/>
                </a:solidFill>
                <a:latin typeface="Consolas"/>
                <a:ea typeface="Consolas"/>
              </a:rPr>
              <a:t>  </a:t>
            </a:r>
            <a:r>
              <a:rPr sz="760" b="0" i="0">
                <a:solidFill>
                  <a:srgbClr val="2563EB"/>
                </a:solidFill>
                <a:latin typeface="Consolas"/>
                <a:ea typeface="Consolas"/>
              </a:rPr>
              <a:t>switch</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164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TRK_STATE_TENTATIVE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B45309"/>
                </a:solidFill>
                <a:latin typeface="Consolas"/>
                <a:ea typeface="Consolas"/>
              </a:rPr>
              <a:t>1</a:t>
            </a:r>
            <a:r>
              <a:rPr sz="760" b="0" i="0">
                <a:solidFill>
                  <a:srgbClr val="1B2740"/>
                </a:solidFill>
                <a:latin typeface="Consolas"/>
                <a:ea typeface="Consolas"/>
              </a:rPr>
              <a:t>)</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167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TRK_SCORE_CONFIRM</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169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171  </a:t>
            </a:r>
            <a:r>
              <a:rPr sz="760" b="0" i="0">
                <a:solidFill>
                  <a:srgbClr val="1B2740"/>
                </a:solidFill>
                <a:latin typeface="Consolas"/>
                <a:ea typeface="Consolas"/>
              </a:rPr>
              <a:t>    </a:t>
            </a:r>
            <a:r>
              <a:rPr sz="760" b="0" i="0">
                <a:solidFill>
                  <a:srgbClr val="2563EB"/>
                </a:solidFill>
                <a:latin typeface="Consolas"/>
                <a:ea typeface="Consolas"/>
              </a:rPr>
              <a:t>else</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&lt;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176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177  </a:t>
            </a:r>
            <a:r>
              <a:rPr sz="760" b="0" i="0">
                <a:solidFill>
                  <a:srgbClr val="1B2740"/>
                </a:solidFill>
                <a:latin typeface="Consolas"/>
                <a:ea typeface="Consolas"/>
              </a:rPr>
              <a:t>      </a:t>
            </a:r>
            <a:r>
              <a:rPr sz="760" b="0" i="0">
                <a:solidFill>
                  <a:srgbClr val="059669"/>
                </a:solidFill>
                <a:latin typeface="Consolas"/>
                <a:ea typeface="Consolas"/>
              </a:rPr>
              <a:t>// 임시 트랙 유지</a:t>
            </a:r>
          </a:p>
          <a:p>
            <a:pPr>
              <a:lnSpc>
                <a:spcPts val="1137"/>
              </a:lnSpc>
            </a:pPr>
            <a:r>
              <a:rPr sz="760" b="0" i="0">
                <a:solidFill>
                  <a:srgbClr val="AEB9CC"/>
                </a:solidFill>
                <a:latin typeface="Consolas"/>
                <a:ea typeface="Consolas"/>
              </a:rPr>
              <a:t>178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179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35" name="Oval 34"/>
          <p:cNvSpPr/>
          <p:nvPr/>
        </p:nvSpPr>
        <p:spPr>
          <a:xfrm>
            <a:off x="5843016" y="342625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6" name="Oval 35"/>
          <p:cNvSpPr/>
          <p:nvPr/>
        </p:nvSpPr>
        <p:spPr>
          <a:xfrm>
            <a:off x="5843016" y="3570732"/>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7" name="Oval 36"/>
          <p:cNvSpPr/>
          <p:nvPr/>
        </p:nvSpPr>
        <p:spPr>
          <a:xfrm>
            <a:off x="5843016" y="4148632"/>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38" name="TextBox 37"/>
          <p:cNvSpPr txBox="1"/>
          <p:nvPr/>
        </p:nvSpPr>
        <p:spPr>
          <a:xfrm>
            <a:off x="6199632"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확정 · 메모리 트랙    </a:t>
            </a:r>
            <a:r>
              <a:rPr sz="950" b="0" i="0">
                <a:solidFill>
                  <a:srgbClr val="8794AC"/>
                </a:solidFill>
                <a:latin typeface="Consolas"/>
                <a:ea typeface="Consolas"/>
              </a:rPr>
              <a:t>TrackMgr.c</a:t>
            </a:r>
          </a:p>
        </p:txBody>
      </p:sp>
      <p:sp>
        <p:nvSpPr>
          <p:cNvPr id="39" name="Rectangle 38"/>
          <p:cNvSpPr/>
          <p:nvPr/>
        </p:nvSpPr>
        <p:spPr>
          <a:xfrm>
            <a:off x="6199632" y="2514600"/>
            <a:ext cx="5349240" cy="334304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227064" y="3021177"/>
            <a:ext cx="5294376" cy="288950"/>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27064" y="3021177"/>
            <a:ext cx="36576" cy="2889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27064" y="4032504"/>
            <a:ext cx="5294376" cy="288950"/>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227064" y="4032504"/>
            <a:ext cx="36576" cy="2889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227064" y="4899355"/>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227064" y="4899355"/>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291072" y="2587752"/>
            <a:ext cx="5166359" cy="317845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181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182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184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187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189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190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191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192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196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197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199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TRK_MEMORY_DELETE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201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204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47" name="Oval 46"/>
          <p:cNvSpPr/>
          <p:nvPr/>
        </p:nvSpPr>
        <p:spPr>
          <a:xfrm>
            <a:off x="11402567" y="2992831"/>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8" name="Oval 47"/>
          <p:cNvSpPr/>
          <p:nvPr/>
        </p:nvSpPr>
        <p:spPr>
          <a:xfrm>
            <a:off x="11402567" y="4004157"/>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9" name="Oval 48"/>
          <p:cNvSpPr/>
          <p:nvPr/>
        </p:nvSpPr>
        <p:spPr>
          <a:xfrm>
            <a:off x="11402567" y="4871008"/>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0" name="Oval 49"/>
          <p:cNvSpPr/>
          <p:nvPr/>
        </p:nvSpPr>
        <p:spPr>
          <a:xfrm>
            <a:off x="640080" y="5989320"/>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51" name="TextBox 50"/>
          <p:cNvSpPr txBox="1"/>
          <p:nvPr/>
        </p:nvSpPr>
        <p:spPr>
          <a:xfrm>
            <a:off x="896112" y="5961888"/>
            <a:ext cx="965606"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TrackScore ±1</a:t>
            </a:r>
          </a:p>
        </p:txBody>
      </p:sp>
      <p:sp>
        <p:nvSpPr>
          <p:cNvPr id="52" name="Oval 51"/>
          <p:cNvSpPr/>
          <p:nvPr/>
        </p:nvSpPr>
        <p:spPr>
          <a:xfrm>
            <a:off x="1989734" y="5989320"/>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53" name="TextBox 52"/>
          <p:cNvSpPr txBox="1"/>
          <p:nvPr/>
        </p:nvSpPr>
        <p:spPr>
          <a:xfrm>
            <a:off x="2245766" y="5961888"/>
            <a:ext cx="769924"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 5 → 확정</a:t>
            </a:r>
          </a:p>
        </p:txBody>
      </p:sp>
      <p:sp>
        <p:nvSpPr>
          <p:cNvPr id="54" name="Oval 53"/>
          <p:cNvSpPr/>
          <p:nvPr/>
        </p:nvSpPr>
        <p:spPr>
          <a:xfrm>
            <a:off x="3143707" y="5989320"/>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5" name="TextBox 54"/>
          <p:cNvSpPr txBox="1"/>
          <p:nvPr/>
        </p:nvSpPr>
        <p:spPr>
          <a:xfrm>
            <a:off x="3399739" y="5961888"/>
            <a:ext cx="2679191"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삭제 (TrackScore ≤ 0 · MemoryScore ≥ 5)</a:t>
            </a:r>
          </a:p>
        </p:txBody>
      </p:sp>
      <p:sp>
        <p:nvSpPr>
          <p:cNvPr id="56" name="Oval 55"/>
          <p:cNvSpPr/>
          <p:nvPr/>
        </p:nvSpPr>
        <p:spPr>
          <a:xfrm>
            <a:off x="6206947" y="5989320"/>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57" name="TextBox 56"/>
          <p:cNvSpPr txBox="1"/>
          <p:nvPr/>
        </p:nvSpPr>
        <p:spPr>
          <a:xfrm>
            <a:off x="6462979" y="5961888"/>
            <a:ext cx="2023567"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실패 → 메모리, MemoryScore +1</a:t>
            </a:r>
          </a:p>
        </p:txBody>
      </p:sp>
      <p:sp>
        <p:nvSpPr>
          <p:cNvPr id="58" name="Oval 57"/>
          <p:cNvSpPr/>
          <p:nvPr/>
        </p:nvSpPr>
        <p:spPr>
          <a:xfrm>
            <a:off x="8614562" y="59893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59" name="TextBox 58"/>
          <p:cNvSpPr txBox="1"/>
          <p:nvPr/>
        </p:nvSpPr>
        <p:spPr>
          <a:xfrm>
            <a:off x="8870594" y="5961888"/>
            <a:ext cx="2156155"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성공 → 바로 확정, MemoryScore 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04. 결과</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프로그램을 실행한 결과 화면과 수치로 개시 · 관리 동작을 확인하고, 과제 요구사항을 항목별로 점검합니다.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시뮬레이션 조건과 결과 화면</a:t>
            </a:r>
          </a:p>
        </p:txBody>
      </p:sp>
      <p:cxnSp>
        <p:nvCxnSpPr>
          <p:cNvPr id="30" name="Connector 29"/>
          <p:cNvCxnSpPr/>
          <p:nvPr/>
        </p:nvCxnSpPr>
        <p:spPr>
          <a:xfrm>
            <a:off x="3918204" y="2313432"/>
            <a:ext cx="66888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True · Plot · Track 동시 표시 (2D · 3D)</a:t>
            </a:r>
          </a:p>
        </p:txBody>
      </p:sp>
      <p:cxnSp>
        <p:nvCxnSpPr>
          <p:cNvPr id="34" name="Connector 33"/>
          <p:cNvCxnSpPr/>
          <p:nvPr/>
        </p:nvCxnSpPr>
        <p:spPr>
          <a:xfrm>
            <a:off x="5216652" y="2720339"/>
            <a:ext cx="539038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한 스캔 확대: 트랙이 만들어지는 모습</a:t>
            </a:r>
          </a:p>
        </p:txBody>
      </p:sp>
      <p:cxnSp>
        <p:nvCxnSpPr>
          <p:cNvPr id="38" name="Connector 37"/>
          <p:cNvCxnSpPr/>
          <p:nvPr/>
        </p:nvCxnSpPr>
        <p:spPr>
          <a:xfrm>
            <a:off x="4727448" y="3127248"/>
            <a:ext cx="587959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22</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수명과 스코어 로직 확인</a:t>
            </a:r>
          </a:p>
        </p:txBody>
      </p:sp>
      <p:cxnSp>
        <p:nvCxnSpPr>
          <p:cNvPr id="42" name="Connector 41"/>
          <p:cNvCxnSpPr/>
          <p:nvPr/>
        </p:nvCxnSpPr>
        <p:spPr>
          <a:xfrm>
            <a:off x="4014216" y="3534155"/>
            <a:ext cx="659282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23</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과제 요구사항 점검</a:t>
            </a:r>
          </a:p>
        </p:txBody>
      </p:sp>
      <p:cxnSp>
        <p:nvCxnSpPr>
          <p:cNvPr id="46" name="Connector 45"/>
          <p:cNvCxnSpPr/>
          <p:nvPr/>
        </p:nvCxnSpPr>
        <p:spPr>
          <a:xfrm>
            <a:off x="3127248" y="3941063"/>
            <a:ext cx="747979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4.1 시뮬레이션 조건과 결과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Visual Studio 2022 Release x64 로 빌드해 실행한 화면입니다. 1,160 개 플롯 메시지를 모두 보내고 받아 처리했습니다 (손실 0).</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914400" cy="457200"/>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286000"/>
            <a:ext cx="914400" cy="457200"/>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시나리오</a:t>
            </a:r>
          </a:p>
        </p:txBody>
      </p:sp>
      <p:sp>
        <p:nvSpPr>
          <p:cNvPr id="28" name="TextBox 27"/>
          <p:cNvSpPr txBox="1"/>
          <p:nvPr/>
        </p:nvSpPr>
        <p:spPr>
          <a:xfrm>
            <a:off x="1664208" y="2286000"/>
            <a:ext cx="3017520" cy="457200"/>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과제 3 지그재그 응용 · 플랫폼 정지</a:t>
            </a:r>
          </a:p>
          <a:p>
            <a:pPr algn="l">
              <a:spcAft>
                <a:spcPts val="0"/>
              </a:spcAft>
            </a:pPr>
            <a:r>
              <a:rPr sz="1000" b="0" i="0">
                <a:solidFill>
                  <a:srgbClr val="1B2740"/>
                </a:solidFill>
                <a:latin typeface="맑은 고딕"/>
                <a:ea typeface="맑은 고딕"/>
              </a:rPr>
              <a:t>표적 1 대함 30 m/s, 표적 2 대공 200 m/s</a:t>
            </a:r>
          </a:p>
        </p:txBody>
      </p:sp>
      <p:sp>
        <p:nvSpPr>
          <p:cNvPr id="29" name="Rounded Rectangle 28"/>
          <p:cNvSpPr/>
          <p:nvPr/>
        </p:nvSpPr>
        <p:spPr>
          <a:xfrm>
            <a:off x="640080" y="27980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27980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시간</a:t>
            </a:r>
          </a:p>
        </p:txBody>
      </p:sp>
      <p:sp>
        <p:nvSpPr>
          <p:cNvPr id="31" name="TextBox 30"/>
          <p:cNvSpPr txBox="1"/>
          <p:nvPr/>
        </p:nvSpPr>
        <p:spPr>
          <a:xfrm>
            <a:off x="1664208" y="27980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116 s, 스캔 간격 0.1 s → 1,160 스캔</a:t>
            </a:r>
          </a:p>
        </p:txBody>
      </p:sp>
      <p:sp>
        <p:nvSpPr>
          <p:cNvPr id="32" name="Rounded Rectangle 31"/>
          <p:cNvSpPr/>
          <p:nvPr/>
        </p:nvSpPr>
        <p:spPr>
          <a:xfrm>
            <a:off x="640080" y="31638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31638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플롯</a:t>
            </a:r>
          </a:p>
        </p:txBody>
      </p:sp>
      <p:sp>
        <p:nvSpPr>
          <p:cNvPr id="34" name="TextBox 33"/>
          <p:cNvSpPr txBox="1"/>
          <p:nvPr/>
        </p:nvSpPr>
        <p:spPr>
          <a:xfrm>
            <a:off x="1664208" y="31638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SNR 20 · 표적 2 + 클러터 5 = 스캔당 7 개</a:t>
            </a:r>
          </a:p>
        </p:txBody>
      </p:sp>
      <p:sp>
        <p:nvSpPr>
          <p:cNvPr id="35" name="Rounded Rectangle 34"/>
          <p:cNvSpPr/>
          <p:nvPr/>
        </p:nvSpPr>
        <p:spPr>
          <a:xfrm>
            <a:off x="640080" y="352958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352958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개시</a:t>
            </a:r>
          </a:p>
        </p:txBody>
      </p:sp>
      <p:sp>
        <p:nvSpPr>
          <p:cNvPr id="37" name="TextBox 36"/>
          <p:cNvSpPr txBox="1"/>
          <p:nvPr/>
        </p:nvSpPr>
        <p:spPr>
          <a:xfrm>
            <a:off x="1664208" y="352958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2-Point, V_max 800 m/s</a:t>
            </a:r>
          </a:p>
        </p:txBody>
      </p:sp>
      <p:sp>
        <p:nvSpPr>
          <p:cNvPr id="38" name="Rounded Rectangle 37"/>
          <p:cNvSpPr/>
          <p:nvPr/>
        </p:nvSpPr>
        <p:spPr>
          <a:xfrm>
            <a:off x="640080" y="389534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389534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R</a:t>
            </a:r>
          </a:p>
        </p:txBody>
      </p:sp>
      <p:sp>
        <p:nvSpPr>
          <p:cNvPr id="40" name="TextBox 39"/>
          <p:cNvSpPr txBox="1"/>
          <p:nvPr/>
        </p:nvSpPr>
        <p:spPr>
          <a:xfrm>
            <a:off x="1664208" y="389534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σr 10 m, σaz 0.2°, σel 0.2°</a:t>
            </a:r>
          </a:p>
        </p:txBody>
      </p:sp>
      <p:sp>
        <p:nvSpPr>
          <p:cNvPr id="41" name="Rounded Rectangle 40"/>
          <p:cNvSpPr/>
          <p:nvPr/>
        </p:nvSpPr>
        <p:spPr>
          <a:xfrm>
            <a:off x="640080" y="426110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426110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관리</a:t>
            </a:r>
          </a:p>
        </p:txBody>
      </p:sp>
      <p:sp>
        <p:nvSpPr>
          <p:cNvPr id="43" name="TextBox 42"/>
          <p:cNvSpPr txBox="1"/>
          <p:nvPr/>
        </p:nvSpPr>
        <p:spPr>
          <a:xfrm>
            <a:off x="1664208" y="426110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스코어 5 / 0 / 5, 개시 스코어 2</a:t>
            </a:r>
          </a:p>
        </p:txBody>
      </p:sp>
      <p:sp>
        <p:nvSpPr>
          <p:cNvPr id="44" name="Rounded Rectangle 43"/>
          <p:cNvSpPr/>
          <p:nvPr/>
        </p:nvSpPr>
        <p:spPr>
          <a:xfrm>
            <a:off x="640080" y="46268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46268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연관</a:t>
            </a:r>
          </a:p>
        </p:txBody>
      </p:sp>
      <p:sp>
        <p:nvSpPr>
          <p:cNvPr id="46" name="TextBox 45"/>
          <p:cNvSpPr txBox="1"/>
          <p:nvPr/>
        </p:nvSpPr>
        <p:spPr>
          <a:xfrm>
            <a:off x="1664208" y="46268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없음 → Assigned_Flag 0 고정</a:t>
            </a:r>
          </a:p>
        </p:txBody>
      </p:sp>
      <p:sp>
        <p:nvSpPr>
          <p:cNvPr id="47" name="Rounded Rectangle 46"/>
          <p:cNvSpPr/>
          <p:nvPr/>
        </p:nvSpPr>
        <p:spPr>
          <a:xfrm>
            <a:off x="640080" y="49926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49926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전송</a:t>
            </a:r>
          </a:p>
        </p:txBody>
      </p:sp>
      <p:sp>
        <p:nvSpPr>
          <p:cNvPr id="49" name="TextBox 48"/>
          <p:cNvSpPr txBox="1"/>
          <p:nvPr/>
        </p:nvSpPr>
        <p:spPr>
          <a:xfrm>
            <a:off x="1664208" y="49926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UDP 루프백 · 보냄 = 받음 = 1,160</a:t>
            </a:r>
          </a:p>
        </p:txBody>
      </p:sp>
      <p:pic>
        <p:nvPicPr>
          <p:cNvPr id="50" name="Picture 49" descr="ui_s701_both.png"/>
          <p:cNvPicPr>
            <a:picLocks noChangeAspect="1"/>
          </p:cNvPicPr>
          <p:nvPr/>
        </p:nvPicPr>
        <p:blipFill>
          <a:blip r:embed="rId2"/>
          <a:stretch>
            <a:fillRect/>
          </a:stretch>
        </p:blipFill>
        <p:spPr>
          <a:xfrm>
            <a:off x="5148072" y="2286000"/>
            <a:ext cx="6400800" cy="3944951"/>
          </a:xfrm>
          <a:prstGeom prst="rect">
            <a:avLst/>
          </a:prstGeom>
          <a:ln w="9525">
            <a:solidFill>
              <a:srgbClr val="D2D9E5"/>
            </a:solidFill>
          </a:ln>
        </p:spPr>
      </p:pic>
      <p:sp>
        <p:nvSpPr>
          <p:cNvPr id="51" name="TextBox 50"/>
          <p:cNvSpPr txBox="1"/>
          <p:nvPr/>
        </p:nvSpPr>
        <p:spPr>
          <a:xfrm>
            <a:off x="4892040" y="6236208"/>
            <a:ext cx="6656832" cy="228600"/>
          </a:xfrm>
          <a:prstGeom prst="rect">
            <a:avLst/>
          </a:prstGeom>
          <a:noFill/>
        </p:spPr>
        <p:txBody>
          <a:bodyPr wrap="square" lIns="0" rIns="0" tIns="0" bIns="0" anchor="t">
            <a:spAutoFit/>
          </a:bodyPr>
          <a:lstStyle/>
          <a:p>
            <a:pPr algn="l">
              <a:spcAft>
                <a:spcPts val="0"/>
              </a:spcAft>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4.2 True · Plot · Track 동시 표시 (2D · 3D)</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701 (70.1 s) 화면. 참값 궤적과 지금 위치, 지금까지의 플롯 · 클러터, 지금 스캔의 트랙 심볼을 한 그림에 겹쳐 그립니다.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2d.png"/>
          <p:cNvPicPr>
            <a:picLocks noChangeAspect="1"/>
          </p:cNvPicPr>
          <p:nvPr/>
        </p:nvPicPr>
        <p:blipFill>
          <a:blip r:embed="rId2"/>
          <a:stretch>
            <a:fillRect/>
          </a:stretch>
        </p:blipFill>
        <p:spPr>
          <a:xfrm>
            <a:off x="640080" y="2286000"/>
            <a:ext cx="5349240" cy="3410140"/>
          </a:xfrm>
          <a:prstGeom prst="rect">
            <a:avLst/>
          </a:prstGeom>
          <a:ln w="9525">
            <a:solidFill>
              <a:srgbClr val="D2D9E5"/>
            </a:solidFill>
          </a:ln>
        </p:spPr>
      </p:pic>
      <p:pic>
        <p:nvPicPr>
          <p:cNvPr id="27" name="Picture 26" descr="ui_crop_3d.png"/>
          <p:cNvPicPr>
            <a:picLocks noChangeAspect="1"/>
          </p:cNvPicPr>
          <p:nvPr/>
        </p:nvPicPr>
        <p:blipFill>
          <a:blip r:embed="rId3"/>
          <a:stretch>
            <a:fillRect/>
          </a:stretch>
        </p:blipFill>
        <p:spPr>
          <a:xfrm>
            <a:off x="6199632" y="2286000"/>
            <a:ext cx="5349240" cy="3387852"/>
          </a:xfrm>
          <a:prstGeom prst="rect">
            <a:avLst/>
          </a:prstGeom>
          <a:ln w="9525">
            <a:solidFill>
              <a:srgbClr val="D2D9E5"/>
            </a:solidFill>
          </a:ln>
        </p:spPr>
      </p:pic>
      <p:sp>
        <p:nvSpPr>
          <p:cNvPr id="28" name="TextBox 27"/>
          <p:cNvSpPr txBox="1"/>
          <p:nvPr/>
        </p:nvSpPr>
        <p:spPr>
          <a:xfrm>
            <a:off x="640080"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2D: 위경도 격자 위 동-북 평면</a:t>
            </a:r>
          </a:p>
        </p:txBody>
      </p:sp>
      <p:sp>
        <p:nvSpPr>
          <p:cNvPr id="29" name="TextBox 28"/>
          <p:cNvSpPr txBox="1"/>
          <p:nvPr/>
        </p:nvSpPr>
        <p:spPr>
          <a:xfrm>
            <a:off x="6199632"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3D: 동-북-고도 (고도 2 배), 대공 표적이 가운데 높이에 오도록 표시</a:t>
            </a:r>
          </a:p>
        </p:txBody>
      </p:sp>
      <p:sp>
        <p:nvSpPr>
          <p:cNvPr id="30" name="TextBox 29"/>
          <p:cNvSpPr txBox="1"/>
          <p:nvPr/>
        </p:nvSpPr>
        <p:spPr>
          <a:xfrm>
            <a:off x="640080" y="5998464"/>
            <a:ext cx="2295144"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참값 궤적 · ○ 지금 위치</a:t>
            </a:r>
          </a:p>
        </p:txBody>
      </p:sp>
      <p:sp>
        <p:nvSpPr>
          <p:cNvPr id="31" name="TextBox 30"/>
          <p:cNvSpPr txBox="1"/>
          <p:nvPr/>
        </p:nvSpPr>
        <p:spPr>
          <a:xfrm>
            <a:off x="2935224" y="5998464"/>
            <a:ext cx="2414015"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 (큰 점 = 지금 스캔)</a:t>
            </a:r>
          </a:p>
        </p:txBody>
      </p:sp>
      <p:sp>
        <p:nvSpPr>
          <p:cNvPr id="32" name="TextBox 31"/>
          <p:cNvSpPr txBox="1"/>
          <p:nvPr/>
        </p:nvSpPr>
        <p:spPr>
          <a:xfrm>
            <a:off x="5349240" y="5998464"/>
            <a:ext cx="868680"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3" name="TextBox 32"/>
          <p:cNvSpPr txBox="1"/>
          <p:nvPr/>
        </p:nvSpPr>
        <p:spPr>
          <a:xfrm>
            <a:off x="6217920" y="5998464"/>
            <a:ext cx="749808"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a:t>
            </a:r>
          </a:p>
        </p:txBody>
      </p:sp>
      <p:sp>
        <p:nvSpPr>
          <p:cNvPr id="34" name="TextBox 33"/>
          <p:cNvSpPr txBox="1"/>
          <p:nvPr/>
        </p:nvSpPr>
        <p:spPr>
          <a:xfrm>
            <a:off x="6967728" y="5998464"/>
            <a:ext cx="749808" cy="237744"/>
          </a:xfrm>
          <a:prstGeom prst="rect">
            <a:avLst/>
          </a:prstGeom>
          <a:noFill/>
        </p:spPr>
        <p:txBody>
          <a:bodyPr wrap="square" lIns="0" rIns="0" tIns="0" bIns="0" anchor="t">
            <a:spAutoFit/>
          </a:bodyPr>
          <a:lstStyle/>
          <a:p>
            <a:pPr algn="l">
              <a:spcAft>
                <a:spcPts val="0"/>
              </a:spcAft>
            </a:pPr>
            <a:r>
              <a:rPr sz="1050" b="1" i="0">
                <a:solidFill>
                  <a:srgbClr val="059669"/>
                </a:solidFill>
                <a:latin typeface="맑은 고딕"/>
                <a:ea typeface="맑은 고딕"/>
              </a:rPr>
              <a:t>■ 확정</a:t>
            </a:r>
          </a:p>
        </p:txBody>
      </p:sp>
      <p:sp>
        <p:nvSpPr>
          <p:cNvPr id="35" name="TextBox 34"/>
          <p:cNvSpPr txBox="1"/>
          <p:nvPr/>
        </p:nvSpPr>
        <p:spPr>
          <a:xfrm>
            <a:off x="7717536" y="5998464"/>
            <a:ext cx="868680" cy="237744"/>
          </a:xfrm>
          <a:prstGeom prst="rect">
            <a:avLst/>
          </a:prstGeom>
          <a:noFill/>
        </p:spPr>
        <p:txBody>
          <a:bodyPr wrap="square" lIns="0" rIns="0" tIns="0" bIns="0" anchor="t">
            <a:spAutoFit/>
          </a:bodyPr>
          <a:lstStyle/>
          <a:p>
            <a:pPr algn="l">
              <a:spcAft>
                <a:spcPts val="0"/>
              </a:spcAft>
            </a:pPr>
            <a:r>
              <a:rPr sz="1050" b="1" i="0">
                <a:solidFill>
                  <a:srgbClr val="7C3AED"/>
                </a:solidFill>
                <a:latin typeface="맑은 고딕"/>
                <a:ea typeface="맑은 고딕"/>
              </a:rPr>
              <a:t>⬚ 메모리</a:t>
            </a:r>
          </a:p>
        </p:txBody>
      </p:sp>
      <p:sp>
        <p:nvSpPr>
          <p:cNvPr id="36" name="TextBox 35"/>
          <p:cNvSpPr txBox="1"/>
          <p:nvPr/>
        </p:nvSpPr>
        <p:spPr>
          <a:xfrm>
            <a:off x="8586215" y="5998464"/>
            <a:ext cx="749808"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삭제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4.3 한 스캔 확대: 트랙이 만들어지는 모습</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701 에서 두 표적 모두 앞 스캔 · 이번 스캔 플롯 쌍이 게이트를 통과해 임시 트랙 284, 285 가 생겼고, 스캔 699 에 만든 282, 283 은 삭제됐습니다.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zoom.png"/>
          <p:cNvPicPr>
            <a:picLocks noChangeAspect="1"/>
          </p:cNvPicPr>
          <p:nvPr/>
        </p:nvPicPr>
        <p:blipFill>
          <a:blip r:embed="rId2"/>
          <a:stretch>
            <a:fillRect/>
          </a:stretch>
        </p:blipFill>
        <p:spPr>
          <a:xfrm>
            <a:off x="640080" y="2212848"/>
            <a:ext cx="7223760" cy="3127360"/>
          </a:xfrm>
          <a:prstGeom prst="rect">
            <a:avLst/>
          </a:prstGeom>
        </p:spPr>
      </p:pic>
      <p:sp>
        <p:nvSpPr>
          <p:cNvPr id="27" name="TextBox 26"/>
          <p:cNvSpPr txBox="1"/>
          <p:nvPr/>
        </p:nvSpPr>
        <p:spPr>
          <a:xfrm>
            <a:off x="8366760" y="2286000"/>
            <a:ext cx="32004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같은 스캔의 트랙 표 (UI)</a:t>
            </a:r>
          </a:p>
        </p:txBody>
      </p:sp>
      <p:sp>
        <p:nvSpPr>
          <p:cNvPr id="28" name="TextBox 27"/>
          <p:cNvSpPr txBox="1"/>
          <p:nvPr/>
        </p:nvSpPr>
        <p:spPr>
          <a:xfrm>
            <a:off x="8366760" y="2578608"/>
            <a:ext cx="3200400" cy="1737360"/>
          </a:xfrm>
          <a:prstGeom prst="rect">
            <a:avLst/>
          </a:prstGeom>
          <a:noFill/>
        </p:spPr>
        <p:txBody>
          <a:bodyPr wrap="square" lIns="0" rIns="0" tIns="0" bIns="0" anchor="t">
            <a:spAutoFit/>
          </a:bodyPr>
          <a:lstStyle/>
          <a:p>
            <a:pPr algn="l">
              <a:spcAft>
                <a:spcPts val="300"/>
              </a:spcAft>
            </a:pPr>
            <a:r>
              <a:rPr sz="1050" b="0" i="0">
                <a:solidFill>
                  <a:srgbClr val="1B2740"/>
                </a:solidFill>
                <a:latin typeface="맑은 고딕"/>
                <a:ea typeface="맑은 고딕"/>
              </a:rPr>
              <a:t>284 · 285: 임시 (1), TrackScore 2</a:t>
            </a:r>
          </a:p>
          <a:p>
            <a:pPr algn="l">
              <a:spcAft>
                <a:spcPts val="300"/>
              </a:spcAft>
            </a:pPr>
            <a:r>
              <a:rPr sz="1050" b="0" i="0">
                <a:solidFill>
                  <a:srgbClr val="1B2740"/>
                </a:solidFill>
                <a:latin typeface="맑은 고딕"/>
                <a:ea typeface="맑은 고딕"/>
              </a:rPr>
              <a:t>282 · 283: 삭제 (4), TrackScore 0</a:t>
            </a:r>
          </a:p>
          <a:p>
            <a:pPr algn="l">
              <a:spcAft>
                <a:spcPts val="300"/>
              </a:spcAft>
            </a:pPr>
            <a:r>
              <a:rPr sz="1050" b="0" i="0">
                <a:solidFill>
                  <a:srgbClr val="1B2740"/>
                </a:solidFill>
                <a:latin typeface="맑은 고딕"/>
                <a:ea typeface="맑은 고딕"/>
              </a:rPr>
              <a:t>Assigned_Flag 는 모두 0</a:t>
            </a:r>
          </a:p>
          <a:p>
            <a:pPr algn="l">
              <a:spcAft>
                <a:spcPts val="0"/>
              </a:spcAft>
            </a:pPr>
            <a:r>
              <a:rPr sz="1050" b="0" i="0">
                <a:solidFill>
                  <a:srgbClr val="4A5A7A"/>
                </a:solidFill>
                <a:latin typeface="맑은 고딕"/>
                <a:ea typeface="맑은 고딕"/>
              </a:rPr>
              <a:t>트랙 위치 = 이번 플롯, 속도 = 두 플롯 차 ÷ 0.1 s</a:t>
            </a:r>
          </a:p>
        </p:txBody>
      </p:sp>
      <p:pic>
        <p:nvPicPr>
          <p:cNvPr id="29" name="Picture 28" descr="ui_crop_table.png"/>
          <p:cNvPicPr>
            <a:picLocks noChangeAspect="1"/>
          </p:cNvPicPr>
          <p:nvPr/>
        </p:nvPicPr>
        <p:blipFill>
          <a:blip r:embed="rId3"/>
          <a:stretch>
            <a:fillRect/>
          </a:stretch>
        </p:blipFill>
        <p:spPr>
          <a:xfrm>
            <a:off x="640080" y="5422392"/>
            <a:ext cx="7223760" cy="784713"/>
          </a:xfrm>
          <a:prstGeom prst="rect">
            <a:avLst/>
          </a:prstGeom>
          <a:ln w="9525">
            <a:solidFill>
              <a:srgbClr val="D2D9E5"/>
            </a:solidFill>
          </a:ln>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4.4 트랙 수명과 스코어 로직 확인</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연관이 없어 모든 트랙이 2 → 1 → 0 으로 내려가 개시 두 스캔 뒤 삭제됩니다. 확정 · 메모리 전환은 스코어 확인 창에 Flag 를 넣어 확인했습니다.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life.png"/>
          <p:cNvPicPr>
            <a:picLocks noChangeAspect="1"/>
          </p:cNvPicPr>
          <p:nvPr/>
        </p:nvPicPr>
        <p:blipFill>
          <a:blip r:embed="rId2"/>
          <a:stretch>
            <a:fillRect/>
          </a:stretch>
        </p:blipFill>
        <p:spPr>
          <a:xfrm>
            <a:off x="566928" y="2240280"/>
            <a:ext cx="6766560" cy="2606040"/>
          </a:xfrm>
          <a:prstGeom prst="rect">
            <a:avLst/>
          </a:prstGeom>
        </p:spPr>
      </p:pic>
      <p:sp>
        <p:nvSpPr>
          <p:cNvPr id="27" name="TextBox 26"/>
          <p:cNvSpPr txBox="1"/>
          <p:nvPr/>
        </p:nvSpPr>
        <p:spPr>
          <a:xfrm>
            <a:off x="640080" y="4937760"/>
            <a:ext cx="1600200" cy="502920"/>
          </a:xfrm>
          <a:prstGeom prst="rect">
            <a:avLst/>
          </a:prstGeom>
          <a:noFill/>
        </p:spPr>
        <p:txBody>
          <a:bodyPr wrap="square" lIns="0" rIns="0" tIns="0" bIns="0" anchor="t">
            <a:spAutoFit/>
          </a:bodyPr>
          <a:lstStyle/>
          <a:p>
            <a:pPr algn="l">
              <a:spcAft>
                <a:spcPts val="0"/>
              </a:spcAft>
            </a:pPr>
            <a:r>
              <a:rPr sz="2400" b="1" i="0">
                <a:solidFill>
                  <a:srgbClr val="1B2740"/>
                </a:solidFill>
                <a:latin typeface="Arial"/>
                <a:ea typeface="맑은 고딕"/>
              </a:rPr>
              <a:t>355</a:t>
            </a:r>
          </a:p>
        </p:txBody>
      </p:sp>
      <p:sp>
        <p:nvSpPr>
          <p:cNvPr id="28" name="TextBox 27"/>
          <p:cNvSpPr txBox="1"/>
          <p:nvPr/>
        </p:nvSpPr>
        <p:spPr>
          <a:xfrm>
            <a:off x="64008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만든 트랙</a:t>
            </a:r>
          </a:p>
        </p:txBody>
      </p:sp>
      <p:sp>
        <p:nvSpPr>
          <p:cNvPr id="29" name="TextBox 28"/>
          <p:cNvSpPr txBox="1"/>
          <p:nvPr/>
        </p:nvSpPr>
        <p:spPr>
          <a:xfrm>
            <a:off x="2331720" y="4937760"/>
            <a:ext cx="1600200" cy="502920"/>
          </a:xfrm>
          <a:prstGeom prst="rect">
            <a:avLst/>
          </a:prstGeom>
          <a:noFill/>
        </p:spPr>
        <p:txBody>
          <a:bodyPr wrap="square" lIns="0" rIns="0" tIns="0" bIns="0" anchor="t">
            <a:spAutoFit/>
          </a:bodyPr>
          <a:lstStyle/>
          <a:p>
            <a:pPr algn="l">
              <a:spcAft>
                <a:spcPts val="0"/>
              </a:spcAft>
            </a:pPr>
            <a:r>
              <a:rPr sz="2400" b="1" i="0">
                <a:solidFill>
                  <a:srgbClr val="2563EB"/>
                </a:solidFill>
                <a:latin typeface="Arial"/>
                <a:ea typeface="맑은 고딕"/>
              </a:rPr>
              <a:t>352</a:t>
            </a:r>
          </a:p>
        </p:txBody>
      </p:sp>
      <p:sp>
        <p:nvSpPr>
          <p:cNvPr id="30" name="TextBox 29"/>
          <p:cNvSpPr txBox="1"/>
          <p:nvPr/>
        </p:nvSpPr>
        <p:spPr>
          <a:xfrm>
            <a:off x="233172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같은 표적 플롯 쌍</a:t>
            </a:r>
          </a:p>
        </p:txBody>
      </p:sp>
      <p:sp>
        <p:nvSpPr>
          <p:cNvPr id="31" name="TextBox 30"/>
          <p:cNvSpPr txBox="1"/>
          <p:nvPr/>
        </p:nvSpPr>
        <p:spPr>
          <a:xfrm>
            <a:off x="4023360" y="4937760"/>
            <a:ext cx="1600200" cy="502920"/>
          </a:xfrm>
          <a:prstGeom prst="rect">
            <a:avLst/>
          </a:prstGeom>
          <a:noFill/>
        </p:spPr>
        <p:txBody>
          <a:bodyPr wrap="square" lIns="0" rIns="0" tIns="0" bIns="0" anchor="t">
            <a:spAutoFit/>
          </a:bodyPr>
          <a:lstStyle/>
          <a:p>
            <a:pPr algn="l">
              <a:spcAft>
                <a:spcPts val="0"/>
              </a:spcAft>
            </a:pPr>
            <a:r>
              <a:rPr sz="2400" b="1" i="0">
                <a:solidFill>
                  <a:srgbClr val="6B7280"/>
                </a:solidFill>
                <a:latin typeface="Arial"/>
                <a:ea typeface="맑은 고딕"/>
              </a:rPr>
              <a:t>3</a:t>
            </a:r>
          </a:p>
        </p:txBody>
      </p:sp>
      <p:sp>
        <p:nvSpPr>
          <p:cNvPr id="32" name="TextBox 31"/>
          <p:cNvSpPr txBox="1"/>
          <p:nvPr/>
        </p:nvSpPr>
        <p:spPr>
          <a:xfrm>
            <a:off x="402336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클러터끼리 쌍</a:t>
            </a:r>
          </a:p>
        </p:txBody>
      </p:sp>
      <p:sp>
        <p:nvSpPr>
          <p:cNvPr id="33" name="TextBox 32"/>
          <p:cNvSpPr txBox="1"/>
          <p:nvPr/>
        </p:nvSpPr>
        <p:spPr>
          <a:xfrm>
            <a:off x="5715000" y="4937760"/>
            <a:ext cx="1600200" cy="502920"/>
          </a:xfrm>
          <a:prstGeom prst="rect">
            <a:avLst/>
          </a:prstGeom>
          <a:noFill/>
        </p:spPr>
        <p:txBody>
          <a:bodyPr wrap="square" lIns="0" rIns="0" tIns="0" bIns="0" anchor="t">
            <a:spAutoFit/>
          </a:bodyPr>
          <a:lstStyle/>
          <a:p>
            <a:pPr algn="l">
              <a:spcAft>
                <a:spcPts val="0"/>
              </a:spcAft>
            </a:pPr>
            <a:r>
              <a:rPr sz="2400" b="1" i="0">
                <a:solidFill>
                  <a:srgbClr val="D97706"/>
                </a:solidFill>
                <a:latin typeface="Arial"/>
                <a:ea typeface="맑은 고딕"/>
              </a:rPr>
              <a:t>4</a:t>
            </a:r>
          </a:p>
        </p:txBody>
      </p:sp>
      <p:sp>
        <p:nvSpPr>
          <p:cNvPr id="34" name="TextBox 33"/>
          <p:cNvSpPr txBox="1"/>
          <p:nvPr/>
        </p:nvSpPr>
        <p:spPr>
          <a:xfrm>
            <a:off x="571500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표의 최대 트랙 수</a:t>
            </a:r>
          </a:p>
        </p:txBody>
      </p:sp>
      <p:sp>
        <p:nvSpPr>
          <p:cNvPr id="35" name="TextBox 34"/>
          <p:cNvSpPr txBox="1"/>
          <p:nvPr/>
        </p:nvSpPr>
        <p:spPr>
          <a:xfrm>
            <a:off x="640080" y="5779008"/>
            <a:ext cx="6675120" cy="4572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트랙 ID 100 ~ 454 사용 (과제 범위 100 ~ 10000),  플롯 ID 10000 ~ 18119 사용 (과제 범위 10000 ~ 1000000)</a:t>
            </a:r>
          </a:p>
        </p:txBody>
      </p:sp>
      <p:pic>
        <p:nvPicPr>
          <p:cNvPr id="36" name="Picture 35" descr="ui_score_p2.png"/>
          <p:cNvPicPr>
            <a:picLocks noChangeAspect="1"/>
          </p:cNvPicPr>
          <p:nvPr/>
        </p:nvPicPr>
        <p:blipFill>
          <a:blip r:embed="rId3"/>
          <a:stretch>
            <a:fillRect/>
          </a:stretch>
        </p:blipFill>
        <p:spPr>
          <a:xfrm>
            <a:off x="7589520" y="2286000"/>
            <a:ext cx="3959352" cy="3196492"/>
          </a:xfrm>
          <a:prstGeom prst="rect">
            <a:avLst/>
          </a:prstGeom>
          <a:ln w="9525">
            <a:solidFill>
              <a:srgbClr val="D2D9E5"/>
            </a:solidFill>
          </a:ln>
        </p:spPr>
      </p:pic>
      <p:sp>
        <p:nvSpPr>
          <p:cNvPr id="37" name="TextBox 36"/>
          <p:cNvSpPr txBox="1"/>
          <p:nvPr/>
        </p:nvSpPr>
        <p:spPr>
          <a:xfrm>
            <a:off x="7589520" y="5514672"/>
            <a:ext cx="3959352" cy="4572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스코어 확인 창: Flag 1 1 1 0 0 1 1</a:t>
            </a:r>
          </a:p>
          <a:p>
            <a:pPr algn="l">
              <a:spcAft>
                <a:spcPts val="0"/>
              </a:spcAft>
            </a:pPr>
            <a:r>
              <a:rPr sz="1000" b="0" i="0">
                <a:solidFill>
                  <a:srgbClr val="4A5A7A"/>
                </a:solidFill>
                <a:latin typeface="맑은 고딕"/>
                <a:ea typeface="맑은 고딕"/>
              </a:rPr>
              <a:t>임시 → 확정 (5) → 메모리 → 다시 확정 (MemoryScore 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4.5 과제 요구사항 점검</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과제 5 의 구현 항목을 하나씩 코드 위치와 확인 방법에 맞춰 봤습니다. 전 항목 충족입니다.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graphicFrame>
        <p:nvGraphicFramePr>
          <p:cNvPr id="26" name="Table 25"/>
          <p:cNvGraphicFramePr>
            <a:graphicFrameLocks noGrp="1"/>
          </p:cNvGraphicFramePr>
          <p:nvPr/>
        </p:nvGraphicFramePr>
        <p:xfrm>
          <a:off x="640080" y="2240280"/>
          <a:ext cx="10908791" cy="3712464"/>
        </p:xfrm>
        <a:graphic>
          <a:graphicData uri="http://schemas.openxmlformats.org/drawingml/2006/table">
            <a:tbl>
              <a:tblPr firstRow="0" bandRow="0">
                <a:tableStyleId>{5C22544A-7EE6-4342-B048-85BDC9FD1C3A}</a:tableStyleId>
              </a:tblPr>
              <a:tblGrid>
                <a:gridCol w="960120"/>
                <a:gridCol w="3977639"/>
                <a:gridCol w="3291840"/>
                <a:gridCol w="2679192"/>
              </a:tblGrid>
              <a:tr h="265176">
                <a:tc>
                  <a:txBody>
                    <a:bodyPr/>
                    <a:lstStyle/>
                    <a:p>
                      <a:r>
                        <a:rPr sz="1050" b="1" i="0">
                          <a:solidFill>
                            <a:srgbClr val="FFFFFF"/>
                          </a:solidFill>
                          <a:latin typeface="맑은 고딕"/>
                          <a:ea typeface="맑은 고딕"/>
                        </a:rPr>
                        <a:t>구분</a:t>
                      </a:r>
                    </a:p>
                  </a:txBody>
                  <a:tcPr marL="54864" marR="54864" marT="9144" marB="9144" anchor="ctr">
                    <a:solidFill>
                      <a:srgbClr val="1B2740"/>
                    </a:solidFill>
                  </a:tcPr>
                </a:tc>
                <a:tc>
                  <a:txBody>
                    <a:bodyPr/>
                    <a:lstStyle/>
                    <a:p>
                      <a:r>
                        <a:rPr sz="1050" b="1" i="0">
                          <a:solidFill>
                            <a:srgbClr val="FFFFFF"/>
                          </a:solidFill>
                          <a:latin typeface="맑은 고딕"/>
                          <a:ea typeface="맑은 고딕"/>
                        </a:rPr>
                        <a:t>요구사항</a:t>
                      </a:r>
                    </a:p>
                  </a:txBody>
                  <a:tcPr marL="54864" marR="54864" marT="9144" marB="9144" anchor="ctr">
                    <a:solidFill>
                      <a:srgbClr val="1B2740"/>
                    </a:solidFill>
                  </a:tcPr>
                </a:tc>
                <a:tc>
                  <a:txBody>
                    <a:bodyPr/>
                    <a:lstStyle/>
                    <a:p>
                      <a:r>
                        <a:rPr sz="1050" b="1" i="0">
                          <a:solidFill>
                            <a:srgbClr val="FFFFFF"/>
                          </a:solidFill>
                          <a:latin typeface="맑은 고딕"/>
                          <a:ea typeface="맑은 고딕"/>
                        </a:rPr>
                        <a:t>구현 (파일 · 함수)</a:t>
                      </a:r>
                    </a:p>
                  </a:txBody>
                  <a:tcPr marL="54864" marR="54864" marT="9144" marB="9144" anchor="ctr">
                    <a:solidFill>
                      <a:srgbClr val="1B2740"/>
                    </a:solidFill>
                  </a:tcPr>
                </a:tc>
                <a:tc>
                  <a:txBody>
                    <a:bodyPr/>
                    <a:lstStyle/>
                    <a:p>
                      <a:r>
                        <a:rPr sz="1050" b="1" i="0">
                          <a:solidFill>
                            <a:srgbClr val="FFFFFF"/>
                          </a:solidFill>
                          <a:latin typeface="맑은 고딕"/>
                          <a:ea typeface="맑은 고딕"/>
                        </a:rPr>
                        <a:t>확인</a:t>
                      </a:r>
                    </a:p>
                  </a:txBody>
                  <a:tcPr marL="54864" marR="54864" marT="9144" marB="9144" anchor="ctr">
                    <a:solidFill>
                      <a:srgbClr val="1B2740"/>
                    </a:solidFill>
                  </a:tcPr>
                </a:tc>
              </a:tr>
              <a:tr h="265176">
                <a:tc>
                  <a:txBody>
                    <a:bodyPr/>
                    <a:lstStyle/>
                    <a:p>
                      <a:r>
                        <a:rPr sz="1000" b="1" i="0">
                          <a:solidFill>
                            <a:srgbClr val="2563EB"/>
                          </a:solidFill>
                          <a:latin typeface="맑은 고딕"/>
                          <a:ea typeface="맑은 고딕"/>
                        </a:rPr>
                        <a:t>개시</a:t>
                      </a:r>
                    </a:p>
                  </a:txBody>
                  <a:tcPr marL="54864" marR="54864" marT="9144" marB="9144" anchor="ctr">
                    <a:solidFill>
                      <a:srgbClr val="FFFFFF"/>
                    </a:solidFill>
                  </a:tcPr>
                </a:tc>
                <a:tc>
                  <a:txBody>
                    <a:bodyPr/>
                    <a:lstStyle/>
                    <a:p>
                      <a:r>
                        <a:rPr sz="1000" b="0" i="0">
                          <a:solidFill>
                            <a:srgbClr val="1B2740"/>
                          </a:solidFill>
                          <a:latin typeface="맑은 고딕"/>
                          <a:ea typeface="맑은 고딕"/>
                        </a:rPr>
                        <a:t>상태 변수 X = [x x' x'' y y' y'' z z' z'']ᵀ</a:t>
                      </a:r>
                    </a:p>
                  </a:txBody>
                  <a:tcPr marL="54864" marR="54864" marT="9144" marB="9144" anchor="ctr">
                    <a:solidFill>
                      <a:srgbClr val="FFFFFF"/>
                    </a:solidFill>
                  </a:tcPr>
                </a:tc>
                <a:tc>
                  <a:txBody>
                    <a:bodyPr/>
                    <a:lstStyle/>
                    <a:p>
                      <a:r>
                        <a:rPr sz="1000" b="0" i="0">
                          <a:solidFill>
                            <a:srgbClr val="1B2740"/>
                          </a:solidFill>
                          <a:latin typeface="맑은 고딕"/>
                          <a:ea typeface="맑은 고딕"/>
                        </a:rPr>
                        <a:t>TrackMgr.h  TRK_STATE_DIM 9, ST_Track</a:t>
                      </a:r>
                    </a:p>
                  </a:txBody>
                  <a:tcPr marL="54864" marR="54864" marT="9144" marB="9144" anchor="ctr">
                    <a:solidFill>
                      <a:srgbClr val="FFFFFF"/>
                    </a:solidFill>
                  </a:tcPr>
                </a:tc>
                <a:tc>
                  <a:txBody>
                    <a:bodyPr/>
                    <a:lstStyle/>
                    <a:p>
                      <a:r>
                        <a:rPr sz="1000" b="0" i="0">
                          <a:solidFill>
                            <a:srgbClr val="059669"/>
                          </a:solidFill>
                          <a:latin typeface="맑은 고딕"/>
                          <a:ea typeface="맑은 고딕"/>
                        </a:rPr>
                        <a:t>단위 시험 9×1, 9×9</a:t>
                      </a:r>
                    </a:p>
                  </a:txBody>
                  <a:tcPr marL="54864" marR="54864" marT="9144" marB="9144" anchor="ctr">
                    <a:solidFill>
                      <a:srgbClr val="FFFFFF"/>
                    </a:solidFill>
                  </a:tcPr>
                </a:tc>
              </a:tr>
              <a:tr h="265176">
                <a:tc>
                  <a:txBody>
                    <a:bodyPr/>
                    <a:lstStyle/>
                    <a:p/>
                  </a:txBody>
                  <a:tcPr marL="54864" marR="54864" marT="9144" marB="9144" anchor="ctr">
                    <a:solidFill>
                      <a:srgbClr val="F7F9FC"/>
                    </a:solidFill>
                  </a:tcPr>
                </a:tc>
                <a:tc>
                  <a:txBody>
                    <a:bodyPr/>
                    <a:lstStyle/>
                    <a:p>
                      <a:r>
                        <a:rPr sz="1000" b="0" i="0">
                          <a:solidFill>
                            <a:srgbClr val="1B2740"/>
                          </a:solidFill>
                          <a:latin typeface="맑은 고딕"/>
                          <a:ea typeface="맑은 고딕"/>
                        </a:rPr>
                        <a:t>2-Point 개시, 속도 게이트 V_max = 800 m/s</a:t>
                      </a:r>
                    </a:p>
                  </a:txBody>
                  <a:tcPr marL="54864" marR="54864" marT="9144" marB="9144" anchor="ctr">
                    <a:solidFill>
                      <a:srgbClr val="F7F9FC"/>
                    </a:solidFill>
                  </a:tcPr>
                </a:tc>
                <a:tc>
                  <a:txBody>
                    <a:bodyPr/>
                    <a:lstStyle/>
                    <a:p>
                      <a:r>
                        <a:rPr sz="1000" b="0" i="0">
                          <a:solidFill>
                            <a:srgbClr val="1B2740"/>
                          </a:solidFill>
                          <a:latin typeface="맑은 고딕"/>
                          <a:ea typeface="맑은 고딕"/>
                        </a:rPr>
                        <a:t>TrackMgr.c  f_Trk_ProcessScan</a:t>
                      </a:r>
                    </a:p>
                  </a:txBody>
                  <a:tcPr marL="54864" marR="54864" marT="9144" marB="9144" anchor="ctr">
                    <a:solidFill>
                      <a:srgbClr val="F7F9FC"/>
                    </a:solidFill>
                  </a:tcPr>
                </a:tc>
                <a:tc>
                  <a:txBody>
                    <a:bodyPr/>
                    <a:lstStyle/>
                    <a:p>
                      <a:r>
                        <a:rPr sz="1000" b="0" i="0">
                          <a:solidFill>
                            <a:srgbClr val="059669"/>
                          </a:solidFill>
                          <a:latin typeface="맑은 고딕"/>
                          <a:ea typeface="맑은 고딕"/>
                        </a:rPr>
                        <a:t>799 m/s 통과, 801 m/s 탈락</a:t>
                      </a:r>
                    </a:p>
                  </a:txBody>
                  <a:tcPr marL="54864" marR="54864" marT="9144" marB="9144" anchor="ctr">
                    <a:solidFill>
                      <a:srgbClr val="F7F9FC"/>
                    </a:solidFill>
                  </a:tcPr>
                </a:tc>
              </a:tr>
              <a:tr h="265176">
                <a:tc>
                  <a:txBody>
                    <a:bodyPr/>
                    <a:lstStyle/>
                    <a:p/>
                  </a:txBody>
                  <a:tcPr marL="54864" marR="54864" marT="9144" marB="9144" anchor="ctr">
                    <a:solidFill>
                      <a:srgbClr val="FFFFFF"/>
                    </a:solidFill>
                  </a:tcPr>
                </a:tc>
                <a:tc>
                  <a:txBody>
                    <a:bodyPr/>
                    <a:lstStyle/>
                    <a:p>
                      <a:r>
                        <a:rPr sz="1000" b="0" i="0">
                          <a:solidFill>
                            <a:srgbClr val="1B2740"/>
                          </a:solidFill>
                          <a:latin typeface="맑은 고딕"/>
                          <a:ea typeface="맑은 고딕"/>
                        </a:rPr>
                        <a:t>mat_EstX · mat_EstP 가속도 항 0</a:t>
                      </a:r>
                    </a:p>
                  </a:txBody>
                  <a:tcPr marL="54864" marR="54864" marT="9144" marB="9144" anchor="ctr">
                    <a:solidFill>
                      <a:srgbClr val="FFFFFF"/>
                    </a:solidFill>
                  </a:tcPr>
                </a:tc>
                <a:tc>
                  <a:txBody>
                    <a:bodyPr/>
                    <a:lstStyle/>
                    <a:p>
                      <a:r>
                        <a:rPr sz="1000" b="0" i="0">
                          <a:solidFill>
                            <a:srgbClr val="1B2740"/>
                          </a:solidFill>
                          <a:latin typeface="맑은 고딕"/>
                          <a:ea typeface="맑은 고딕"/>
                        </a:rPr>
                        <a:t>f_Trk_TwoPointInit</a:t>
                      </a:r>
                    </a:p>
                  </a:txBody>
                  <a:tcPr marL="54864" marR="54864" marT="9144" marB="9144" anchor="ctr">
                    <a:solidFill>
                      <a:srgbClr val="FFFFFF"/>
                    </a:solidFill>
                  </a:tcPr>
                </a:tc>
                <a:tc>
                  <a:txBody>
                    <a:bodyPr/>
                    <a:lstStyle/>
                    <a:p>
                      <a:r>
                        <a:rPr sz="1000" b="0" i="0">
                          <a:solidFill>
                            <a:srgbClr val="059669"/>
                          </a:solidFill>
                          <a:latin typeface="맑은 고딕"/>
                          <a:ea typeface="맑은 고딕"/>
                        </a:rPr>
                        <a:t>가속도 행 · 열 0 확인</a:t>
                      </a:r>
                    </a:p>
                  </a:txBody>
                  <a:tcPr marL="54864" marR="54864" marT="9144" marB="9144" anchor="ctr">
                    <a:solidFill>
                      <a:srgbClr val="FFFFFF"/>
                    </a:solidFill>
                  </a:tcPr>
                </a:tc>
              </a:tr>
              <a:tr h="265176">
                <a:tc>
                  <a:txBody>
                    <a:bodyPr/>
                    <a:lstStyle/>
                    <a:p/>
                  </a:txBody>
                  <a:tcPr marL="54864" marR="54864" marT="9144" marB="9144" anchor="ctr">
                    <a:solidFill>
                      <a:srgbClr val="F7F9FC"/>
                    </a:solidFill>
                  </a:tcPr>
                </a:tc>
                <a:tc>
                  <a:txBody>
                    <a:bodyPr/>
                    <a:lstStyle/>
                    <a:p>
                      <a:r>
                        <a:rPr sz="1000" b="0" i="0">
                          <a:solidFill>
                            <a:srgbClr val="1B2740"/>
                          </a:solidFill>
                          <a:latin typeface="맑은 고딕"/>
                          <a:ea typeface="맑은 고딕"/>
                        </a:rPr>
                        <a:t>R: σr 10 m, σaz 0.2°, σel 0.2°</a:t>
                      </a:r>
                    </a:p>
                  </a:txBody>
                  <a:tcPr marL="54864" marR="54864" marT="9144" marB="9144" anchor="ctr">
                    <a:solidFill>
                      <a:srgbClr val="F7F9FC"/>
                    </a:solidFill>
                  </a:tcPr>
                </a:tc>
                <a:tc>
                  <a:txBody>
                    <a:bodyPr/>
                    <a:lstStyle/>
                    <a:p>
                      <a:r>
                        <a:rPr sz="1000" b="0" i="0">
                          <a:solidFill>
                            <a:srgbClr val="1B2740"/>
                          </a:solidFill>
                          <a:latin typeface="맑은 고딕"/>
                          <a:ea typeface="맑은 고딕"/>
                        </a:rPr>
                        <a:t>f_Trk_GetMeasSigma, f_Trk_MeasCov</a:t>
                      </a:r>
                    </a:p>
                  </a:txBody>
                  <a:tcPr marL="54864" marR="54864" marT="9144" marB="9144" anchor="ctr">
                    <a:solidFill>
                      <a:srgbClr val="F7F9FC"/>
                    </a:solidFill>
                  </a:tcPr>
                </a:tc>
                <a:tc>
                  <a:txBody>
                    <a:bodyPr/>
                    <a:lstStyle/>
                    <a:p>
                      <a:r>
                        <a:rPr sz="1000" b="0" i="0">
                          <a:solidFill>
                            <a:srgbClr val="059669"/>
                          </a:solidFill>
                          <a:latin typeface="맑은 고딕"/>
                          <a:ea typeface="맑은 고딕"/>
                        </a:rPr>
                        <a:t>초기 P 위치 대각 = R</a:t>
                      </a:r>
                    </a:p>
                  </a:txBody>
                  <a:tcPr marL="54864" marR="54864" marT="9144" marB="9144" anchor="ctr">
                    <a:solidFill>
                      <a:srgbClr val="F7F9FC"/>
                    </a:solidFill>
                  </a:tcPr>
                </a:tc>
              </a:tr>
              <a:tr h="265176">
                <a:tc>
                  <a:txBody>
                    <a:bodyPr/>
                    <a:lstStyle/>
                    <a:p/>
                  </a:txBody>
                  <a:tcPr marL="54864" marR="54864" marT="9144" marB="9144" anchor="ctr">
                    <a:solidFill>
                      <a:srgbClr val="FFFFFF"/>
                    </a:solidFill>
                  </a:tcPr>
                </a:tc>
                <a:tc>
                  <a:txBody>
                    <a:bodyPr/>
                    <a:lstStyle/>
                    <a:p>
                      <a:r>
                        <a:rPr sz="1000" b="0" i="0">
                          <a:solidFill>
                            <a:srgbClr val="1B2740"/>
                          </a:solidFill>
                          <a:latin typeface="맑은 고딕"/>
                          <a:ea typeface="맑은 고딕"/>
                        </a:rPr>
                        <a:t>트랙 ID 100 ~ 10000</a:t>
                      </a:r>
                    </a:p>
                  </a:txBody>
                  <a:tcPr marL="54864" marR="54864" marT="9144" marB="9144" anchor="ctr">
                    <a:solidFill>
                      <a:srgbClr val="FFFFFF"/>
                    </a:solidFill>
                  </a:tcPr>
                </a:tc>
                <a:tc>
                  <a:txBody>
                    <a:bodyPr/>
                    <a:lstStyle/>
                    <a:p>
                      <a:r>
                        <a:rPr sz="1000" b="0" i="0">
                          <a:solidFill>
                            <a:srgbClr val="1B2740"/>
                          </a:solidFill>
                          <a:latin typeface="맑은 고딕"/>
                          <a:ea typeface="맑은 고딕"/>
                        </a:rPr>
                        <a:t>f_Trk_NewId</a:t>
                      </a:r>
                    </a:p>
                  </a:txBody>
                  <a:tcPr marL="54864" marR="54864" marT="9144" marB="9144" anchor="ctr">
                    <a:solidFill>
                      <a:srgbClr val="FFFFFF"/>
                    </a:solidFill>
                  </a:tcPr>
                </a:tc>
                <a:tc>
                  <a:txBody>
                    <a:bodyPr/>
                    <a:lstStyle/>
                    <a:p>
                      <a:r>
                        <a:rPr sz="1000" b="0" i="0">
                          <a:solidFill>
                            <a:srgbClr val="059669"/>
                          </a:solidFill>
                          <a:latin typeface="맑은 고딕"/>
                          <a:ea typeface="맑은 고딕"/>
                        </a:rPr>
                        <a:t>9999 → 10000 → 100 순환</a:t>
                      </a:r>
                    </a:p>
                  </a:txBody>
                  <a:tcPr marL="54864" marR="54864" marT="9144" marB="9144" anchor="ctr">
                    <a:solidFill>
                      <a:srgbClr val="FFFFFF"/>
                    </a:solidFill>
                  </a:tcPr>
                </a:tc>
              </a:tr>
              <a:tr h="265176">
                <a:tc>
                  <a:txBody>
                    <a:bodyPr/>
                    <a:lstStyle/>
                    <a:p>
                      <a:r>
                        <a:rPr sz="1000" b="1" i="0">
                          <a:solidFill>
                            <a:srgbClr val="2563EB"/>
                          </a:solidFill>
                          <a:latin typeface="맑은 고딕"/>
                          <a:ea typeface="맑은 고딕"/>
                        </a:rPr>
                        <a:t>관리</a:t>
                      </a:r>
                    </a:p>
                  </a:txBody>
                  <a:tcPr marL="54864" marR="54864" marT="9144" marB="9144" anchor="ctr">
                    <a:solidFill>
                      <a:srgbClr val="F7F9FC"/>
                    </a:solidFill>
                  </a:tcPr>
                </a:tc>
                <a:tc>
                  <a:txBody>
                    <a:bodyPr/>
                    <a:lstStyle/>
                    <a:p>
                      <a:r>
                        <a:rPr sz="1000" b="0" i="0">
                          <a:solidFill>
                            <a:srgbClr val="1B2740"/>
                          </a:solidFill>
                          <a:latin typeface="맑은 고딕"/>
                          <a:ea typeface="맑은 고딕"/>
                        </a:rPr>
                        <a:t>확정 5, 임시 삭제 0, 메모리 삭제 5</a:t>
                      </a:r>
                    </a:p>
                  </a:txBody>
                  <a:tcPr marL="54864" marR="54864" marT="9144" marB="9144" anchor="ctr">
                    <a:solidFill>
                      <a:srgbClr val="F7F9FC"/>
                    </a:solidFill>
                  </a:tcPr>
                </a:tc>
                <a:tc>
                  <a:txBody>
                    <a:bodyPr/>
                    <a:lstStyle/>
                    <a:p>
                      <a:r>
                        <a:rPr sz="1000" b="0" i="0">
                          <a:solidFill>
                            <a:srgbClr val="1B2740"/>
                          </a:solidFill>
                          <a:latin typeface="맑은 고딕"/>
                          <a:ea typeface="맑은 고딕"/>
                        </a:rPr>
                        <a:t>TrackMgr.h 상수, f_Trk_UpdateState</a:t>
                      </a:r>
                    </a:p>
                  </a:txBody>
                  <a:tcPr marL="54864" marR="54864" marT="9144" marB="9144" anchor="ctr">
                    <a:solidFill>
                      <a:srgbClr val="F7F9FC"/>
                    </a:solidFill>
                  </a:tcPr>
                </a:tc>
                <a:tc>
                  <a:txBody>
                    <a:bodyPr/>
                    <a:lstStyle/>
                    <a:p>
                      <a:r>
                        <a:rPr sz="1000" b="0" i="0">
                          <a:solidFill>
                            <a:srgbClr val="059669"/>
                          </a:solidFill>
                          <a:latin typeface="맑은 고딕"/>
                          <a:ea typeface="맑은 고딕"/>
                        </a:rPr>
                        <a:t>스코어 확인 창 · 단위 시험</a:t>
                      </a:r>
                    </a:p>
                  </a:txBody>
                  <a:tcPr marL="54864" marR="54864" marT="9144" marB="9144" anchor="ctr">
                    <a:solidFill>
                      <a:srgbClr val="F7F9FC"/>
                    </a:solidFill>
                  </a:tcPr>
                </a:tc>
              </a:tr>
              <a:tr h="265176">
                <a:tc>
                  <a:txBody>
                    <a:bodyPr/>
                    <a:lstStyle/>
                    <a:p/>
                  </a:txBody>
                  <a:tcPr marL="54864" marR="54864" marT="9144" marB="9144" anchor="ctr">
                    <a:solidFill>
                      <a:srgbClr val="FFFFFF"/>
                    </a:solidFill>
                  </a:tcPr>
                </a:tc>
                <a:tc>
                  <a:txBody>
                    <a:bodyPr/>
                    <a:lstStyle/>
                    <a:p>
                      <a:r>
                        <a:rPr sz="1000" b="0" i="0">
                          <a:solidFill>
                            <a:srgbClr val="1B2740"/>
                          </a:solidFill>
                          <a:latin typeface="맑은 고딕"/>
                          <a:ea typeface="맑은 고딕"/>
                        </a:rPr>
                        <a:t>메모리 → 연관 성공 시 바로 확정, MemoryScore 0</a:t>
                      </a:r>
                    </a:p>
                  </a:txBody>
                  <a:tcPr marL="54864" marR="54864" marT="9144" marB="9144" anchor="ctr">
                    <a:solidFill>
                      <a:srgbClr val="FFFFFF"/>
                    </a:solidFill>
                  </a:tcPr>
                </a:tc>
                <a:tc>
                  <a:txBody>
                    <a:bodyPr/>
                    <a:lstStyle/>
                    <a:p>
                      <a:r>
                        <a:rPr sz="1000" b="0" i="0">
                          <a:solidFill>
                            <a:srgbClr val="1B2740"/>
                          </a:solidFill>
                          <a:latin typeface="맑은 고딕"/>
                          <a:ea typeface="맑은 고딕"/>
                        </a:rPr>
                        <a:t>f_Trk_UpdateState</a:t>
                      </a:r>
                    </a:p>
                  </a:txBody>
                  <a:tcPr marL="54864" marR="54864" marT="9144" marB="9144" anchor="ctr">
                    <a:solidFill>
                      <a:srgbClr val="FFFFFF"/>
                    </a:solidFill>
                  </a:tcPr>
                </a:tc>
                <a:tc>
                  <a:txBody>
                    <a:bodyPr/>
                    <a:lstStyle/>
                    <a:p>
                      <a:r>
                        <a:rPr sz="1000" b="0" i="0">
                          <a:solidFill>
                            <a:srgbClr val="059669"/>
                          </a:solidFill>
                          <a:latin typeface="맑은 고딕"/>
                          <a:ea typeface="맑은 고딕"/>
                        </a:rPr>
                        <a:t>Flag 1 1 1 0 0 1 결과</a:t>
                      </a:r>
                    </a:p>
                  </a:txBody>
                  <a:tcPr marL="54864" marR="54864" marT="9144" marB="9144" anchor="ctr">
                    <a:solidFill>
                      <a:srgbClr val="FFFFFF"/>
                    </a:solidFill>
                  </a:tcPr>
                </a:tc>
              </a:tr>
              <a:tr h="265176">
                <a:tc>
                  <a:txBody>
                    <a:bodyPr/>
                    <a:lstStyle/>
                    <a:p/>
                  </a:txBody>
                  <a:tcPr marL="54864" marR="54864" marT="9144" marB="9144" anchor="ctr">
                    <a:solidFill>
                      <a:srgbClr val="F7F9FC"/>
                    </a:solidFill>
                  </a:tcPr>
                </a:tc>
                <a:tc>
                  <a:txBody>
                    <a:bodyPr/>
                    <a:lstStyle/>
                    <a:p>
                      <a:r>
                        <a:rPr sz="1000" b="0" i="0">
                          <a:solidFill>
                            <a:srgbClr val="1B2740"/>
                          </a:solidFill>
                          <a:latin typeface="맑은 고딕"/>
                          <a:ea typeface="맑은 고딕"/>
                        </a:rPr>
                        <a:t>TrackScore · MemoryScore · TrackState (1 ~ 4)</a:t>
                      </a:r>
                    </a:p>
                  </a:txBody>
                  <a:tcPr marL="54864" marR="54864" marT="9144" marB="9144" anchor="ctr">
                    <a:solidFill>
                      <a:srgbClr val="F7F9FC"/>
                    </a:solidFill>
                  </a:tcPr>
                </a:tc>
                <a:tc>
                  <a:txBody>
                    <a:bodyPr/>
                    <a:lstStyle/>
                    <a:p>
                      <a:r>
                        <a:rPr sz="1000" b="0" i="0">
                          <a:solidFill>
                            <a:srgbClr val="1B2740"/>
                          </a:solidFill>
                          <a:latin typeface="맑은 고딕"/>
                          <a:ea typeface="맑은 고딕"/>
                        </a:rPr>
                        <a:t>ST_Track (명세 이름 그대로)</a:t>
                      </a:r>
                    </a:p>
                  </a:txBody>
                  <a:tcPr marL="54864" marR="54864" marT="9144" marB="9144" anchor="ctr">
                    <a:solidFill>
                      <a:srgbClr val="F7F9FC"/>
                    </a:solidFill>
                  </a:tcPr>
                </a:tc>
                <a:tc>
                  <a:txBody>
                    <a:bodyPr/>
                    <a:lstStyle/>
                    <a:p>
                      <a:r>
                        <a:rPr sz="1000" b="0" i="0">
                          <a:solidFill>
                            <a:srgbClr val="059669"/>
                          </a:solidFill>
                          <a:latin typeface="맑은 고딕"/>
                          <a:ea typeface="맑은 고딕"/>
                        </a:rPr>
                        <a:t>트랙 표 · CSV</a:t>
                      </a:r>
                    </a:p>
                  </a:txBody>
                  <a:tcPr marL="54864" marR="54864" marT="9144" marB="9144" anchor="ctr">
                    <a:solidFill>
                      <a:srgbClr val="F7F9FC"/>
                    </a:solidFill>
                  </a:tcPr>
                </a:tc>
              </a:tr>
              <a:tr h="265176">
                <a:tc>
                  <a:txBody>
                    <a:bodyPr/>
                    <a:lstStyle/>
                    <a:p>
                      <a:r>
                        <a:rPr sz="1000" b="1" i="0">
                          <a:solidFill>
                            <a:srgbClr val="2563EB"/>
                          </a:solidFill>
                          <a:latin typeface="맑은 고딕"/>
                          <a:ea typeface="맑은 고딕"/>
                        </a:rPr>
                        <a:t>시뮬레이션</a:t>
                      </a:r>
                    </a:p>
                  </a:txBody>
                  <a:tcPr marL="54864" marR="54864" marT="9144" marB="9144" anchor="ctr">
                    <a:solidFill>
                      <a:srgbClr val="FFFFFF"/>
                    </a:solidFill>
                  </a:tcPr>
                </a:tc>
                <a:tc>
                  <a:txBody>
                    <a:bodyPr/>
                    <a:lstStyle/>
                    <a:p>
                      <a:r>
                        <a:rPr sz="1000" b="0" i="0">
                          <a:solidFill>
                            <a:srgbClr val="1B2740"/>
                          </a:solidFill>
                          <a:latin typeface="맑은 고딕"/>
                          <a:ea typeface="맑은 고딕"/>
                        </a:rPr>
                        <a:t>안테나 구좌표 플롯 메시지 (STRUCT_PlotMsg) 를 수신 쓰레드로</a:t>
                      </a:r>
                    </a:p>
                  </a:txBody>
                  <a:tcPr marL="54864" marR="54864" marT="9144" marB="9144" anchor="ctr">
                    <a:solidFill>
                      <a:srgbClr val="FFFFFF"/>
                    </a:solidFill>
                  </a:tcPr>
                </a:tc>
                <a:tc>
                  <a:txBody>
                    <a:bodyPr/>
                    <a:lstStyle/>
                    <a:p>
                      <a:r>
                        <a:rPr sz="1000" b="0" i="0">
                          <a:solidFill>
                            <a:srgbClr val="1B2740"/>
                          </a:solidFill>
                          <a:latin typeface="맑은 고딕"/>
                          <a:ea typeface="맑은 고딕"/>
                        </a:rPr>
                        <a:t>Idd.h, PlotLink.c  송신 · 수신 쓰레드</a:t>
                      </a:r>
                    </a:p>
                  </a:txBody>
                  <a:tcPr marL="54864" marR="54864" marT="9144" marB="9144" anchor="ctr">
                    <a:solidFill>
                      <a:srgbClr val="FFFFFF"/>
                    </a:solidFill>
                  </a:tcPr>
                </a:tc>
                <a:tc>
                  <a:txBody>
                    <a:bodyPr/>
                    <a:lstStyle/>
                    <a:p>
                      <a:r>
                        <a:rPr sz="1000" b="0" i="0">
                          <a:solidFill>
                            <a:srgbClr val="059669"/>
                          </a:solidFill>
                          <a:latin typeface="맑은 고딕"/>
                          <a:ea typeface="맑은 고딕"/>
                        </a:rPr>
                        <a:t>1,160 보냄 = 받음</a:t>
                      </a:r>
                    </a:p>
                  </a:txBody>
                  <a:tcPr marL="54864" marR="54864" marT="9144" marB="9144" anchor="ctr">
                    <a:solidFill>
                      <a:srgbClr val="FFFFFF"/>
                    </a:solidFill>
                  </a:tcPr>
                </a:tc>
              </a:tr>
              <a:tr h="265176">
                <a:tc>
                  <a:txBody>
                    <a:bodyPr/>
                    <a:lstStyle/>
                    <a:p/>
                  </a:txBody>
                  <a:tcPr marL="54864" marR="54864" marT="9144" marB="9144" anchor="ctr">
                    <a:solidFill>
                      <a:srgbClr val="F7F9FC"/>
                    </a:solidFill>
                  </a:tcPr>
                </a:tc>
                <a:tc>
                  <a:txBody>
                    <a:bodyPr/>
                    <a:lstStyle/>
                    <a:p>
                      <a:r>
                        <a:rPr sz="1000" b="0" i="0">
                          <a:solidFill>
                            <a:srgbClr val="1B2740"/>
                          </a:solidFill>
                          <a:latin typeface="맑은 고딕"/>
                          <a:ea typeface="맑은 고딕"/>
                        </a:rPr>
                        <a:t>표적 + 클러터, 스캔마다 플롯 ID 10000 ~ 1000000</a:t>
                      </a:r>
                    </a:p>
                  </a:txBody>
                  <a:tcPr marL="54864" marR="54864" marT="9144" marB="9144" anchor="ctr">
                    <a:solidFill>
                      <a:srgbClr val="F7F9FC"/>
                    </a:solidFill>
                  </a:tcPr>
                </a:tc>
                <a:tc>
                  <a:txBody>
                    <a:bodyPr/>
                    <a:lstStyle/>
                    <a:p>
                      <a:r>
                        <a:rPr sz="1000" b="0" i="0">
                          <a:solidFill>
                            <a:srgbClr val="1B2740"/>
                          </a:solidFill>
                          <a:latin typeface="맑은 고딕"/>
                          <a:ea typeface="맑은 고딕"/>
                        </a:rPr>
                        <a:t>f_Lnk_BuildMsg</a:t>
                      </a:r>
                    </a:p>
                  </a:txBody>
                  <a:tcPr marL="54864" marR="54864" marT="9144" marB="9144" anchor="ctr">
                    <a:solidFill>
                      <a:srgbClr val="F7F9FC"/>
                    </a:solidFill>
                  </a:tcPr>
                </a:tc>
                <a:tc>
                  <a:txBody>
                    <a:bodyPr/>
                    <a:lstStyle/>
                    <a:p>
                      <a:r>
                        <a:rPr sz="1000" b="0" i="0">
                          <a:solidFill>
                            <a:srgbClr val="059669"/>
                          </a:solidFill>
                          <a:latin typeface="맑은 고딕"/>
                          <a:ea typeface="맑은 고딕"/>
                        </a:rPr>
                        <a:t>ID 10000 ~ 18119</a:t>
                      </a:r>
                    </a:p>
                  </a:txBody>
                  <a:tcPr marL="54864" marR="54864" marT="9144" marB="9144" anchor="ctr">
                    <a:solidFill>
                      <a:srgbClr val="F7F9FC"/>
                    </a:solidFill>
                  </a:tcPr>
                </a:tc>
              </a:tr>
              <a:tr h="265176">
                <a:tc>
                  <a:txBody>
                    <a:bodyPr/>
                    <a:lstStyle/>
                    <a:p/>
                  </a:txBody>
                  <a:tcPr marL="54864" marR="54864" marT="9144" marB="9144" anchor="ctr">
                    <a:solidFill>
                      <a:srgbClr val="FFFFFF"/>
                    </a:solidFill>
                  </a:tcPr>
                </a:tc>
                <a:tc>
                  <a:txBody>
                    <a:bodyPr/>
                    <a:lstStyle/>
                    <a:p>
                      <a:r>
                        <a:rPr sz="1000" b="0" i="0">
                          <a:solidFill>
                            <a:srgbClr val="1B2740"/>
                          </a:solidFill>
                          <a:latin typeface="맑은 고딕"/>
                          <a:ea typeface="맑은 고딕"/>
                        </a:rPr>
                        <a:t>UDP 또는 TCP/IP</a:t>
                      </a:r>
                    </a:p>
                  </a:txBody>
                  <a:tcPr marL="54864" marR="54864" marT="9144" marB="9144" anchor="ctr">
                    <a:solidFill>
                      <a:srgbClr val="FFFFFF"/>
                    </a:solidFill>
                  </a:tcPr>
                </a:tc>
                <a:tc>
                  <a:txBody>
                    <a:bodyPr/>
                    <a:lstStyle/>
                    <a:p>
                      <a:r>
                        <a:rPr sz="1000" b="0" i="0">
                          <a:solidFill>
                            <a:srgbClr val="1B2740"/>
                          </a:solidFill>
                          <a:latin typeface="맑은 고딕"/>
                          <a:ea typeface="맑은 고딕"/>
                        </a:rPr>
                        <a:t>UDP 127.0.0.1:50505</a:t>
                      </a:r>
                    </a:p>
                  </a:txBody>
                  <a:tcPr marL="54864" marR="54864" marT="9144" marB="9144" anchor="ctr">
                    <a:solidFill>
                      <a:srgbClr val="FFFFFF"/>
                    </a:solidFill>
                  </a:tcPr>
                </a:tc>
                <a:tc>
                  <a:txBody>
                    <a:bodyPr/>
                    <a:lstStyle/>
                    <a:p>
                      <a:r>
                        <a:rPr sz="1000" b="0" i="0">
                          <a:solidFill>
                            <a:srgbClr val="059669"/>
                          </a:solidFill>
                          <a:latin typeface="맑은 고딕"/>
                          <a:ea typeface="맑은 고딕"/>
                        </a:rPr>
                        <a:t>손실 0</a:t>
                      </a:r>
                    </a:p>
                  </a:txBody>
                  <a:tcPr marL="54864" marR="54864" marT="9144" marB="9144" anchor="ctr">
                    <a:solidFill>
                      <a:srgbClr val="FFFFFF"/>
                    </a:solidFill>
                  </a:tcPr>
                </a:tc>
              </a:tr>
              <a:tr h="265176">
                <a:tc>
                  <a:txBody>
                    <a:bodyPr/>
                    <a:lstStyle/>
                    <a:p/>
                  </a:txBody>
                  <a:tcPr marL="54864" marR="54864" marT="9144" marB="9144" anchor="ctr">
                    <a:solidFill>
                      <a:srgbClr val="F7F9FC"/>
                    </a:solidFill>
                  </a:tcPr>
                </a:tc>
                <a:tc>
                  <a:txBody>
                    <a:bodyPr/>
                    <a:lstStyle/>
                    <a:p>
                      <a:r>
                        <a:rPr sz="1000" b="0" i="0">
                          <a:solidFill>
                            <a:srgbClr val="1B2740"/>
                          </a:solidFill>
                          <a:latin typeface="맑은 고딕"/>
                          <a:ea typeface="맑은 고딕"/>
                        </a:rPr>
                        <a:t>Assigned_Flag 매 스캔 0 (실패)</a:t>
                      </a:r>
                    </a:p>
                  </a:txBody>
                  <a:tcPr marL="54864" marR="54864" marT="9144" marB="9144" anchor="ctr">
                    <a:solidFill>
                      <a:srgbClr val="F7F9FC"/>
                    </a:solidFill>
                  </a:tcPr>
                </a:tc>
                <a:tc>
                  <a:txBody>
                    <a:bodyPr/>
                    <a:lstStyle/>
                    <a:p>
                      <a:r>
                        <a:rPr sz="1000" b="0" i="0">
                          <a:solidFill>
                            <a:srgbClr val="1B2740"/>
                          </a:solidFill>
                          <a:latin typeface="맑은 고딕"/>
                          <a:ea typeface="맑은 고딕"/>
                        </a:rPr>
                        <a:t>f_Trk_ProcessScan ②</a:t>
                      </a:r>
                    </a:p>
                  </a:txBody>
                  <a:tcPr marL="54864" marR="54864" marT="9144" marB="9144" anchor="ctr">
                    <a:solidFill>
                      <a:srgbClr val="F7F9FC"/>
                    </a:solidFill>
                  </a:tcPr>
                </a:tc>
                <a:tc>
                  <a:txBody>
                    <a:bodyPr/>
                    <a:lstStyle/>
                    <a:p>
                      <a:r>
                        <a:rPr sz="1000" b="0" i="0">
                          <a:solidFill>
                            <a:srgbClr val="059669"/>
                          </a:solidFill>
                          <a:latin typeface="맑은 고딕"/>
                          <a:ea typeface="맑은 고딕"/>
                        </a:rPr>
                        <a:t>모든 트랙 · 스캔 0</a:t>
                      </a:r>
                    </a:p>
                  </a:txBody>
                  <a:tcPr marL="54864" marR="54864" marT="9144" marB="9144" anchor="ctr">
                    <a:solidFill>
                      <a:srgbClr val="F7F9FC"/>
                    </a:solidFill>
                  </a:tcPr>
                </a:tc>
              </a:tr>
              <a:tr h="265176">
                <a:tc>
                  <a:txBody>
                    <a:bodyPr/>
                    <a:lstStyle/>
                    <a:p/>
                  </a:txBody>
                  <a:tcPr marL="54864" marR="54864" marT="9144" marB="9144" anchor="ctr">
                    <a:solidFill>
                      <a:srgbClr val="FFFFFF"/>
                    </a:solidFill>
                  </a:tcPr>
                </a:tc>
                <a:tc>
                  <a:txBody>
                    <a:bodyPr/>
                    <a:lstStyle/>
                    <a:p>
                      <a:r>
                        <a:rPr sz="1000" b="0" i="0">
                          <a:solidFill>
                            <a:srgbClr val="1B2740"/>
                          </a:solidFill>
                          <a:latin typeface="맑은 고딕"/>
                          <a:ea typeface="맑은 고딕"/>
                        </a:rPr>
                        <a:t>True · Plot · Track 동시 표시 (3D, 2D)</a:t>
                      </a:r>
                    </a:p>
                  </a:txBody>
                  <a:tcPr marL="54864" marR="54864" marT="9144" marB="9144" anchor="ctr">
                    <a:solidFill>
                      <a:srgbClr val="FFFFFF"/>
                    </a:solidFill>
                  </a:tcPr>
                </a:tc>
                <a:tc>
                  <a:txBody>
                    <a:bodyPr/>
                    <a:lstStyle/>
                    <a:p>
                      <a:r>
                        <a:rPr sz="1000" b="0" i="0">
                          <a:solidFill>
                            <a:srgbClr val="1B2740"/>
                          </a:solidFill>
                          <a:latin typeface="맑은 고딕"/>
                          <a:ea typeface="맑은 고딕"/>
                        </a:rPr>
                        <a:t>TrajectoryPlot.cpp  2D · 3D 그림</a:t>
                      </a:r>
                    </a:p>
                  </a:txBody>
                  <a:tcPr marL="54864" marR="54864" marT="9144" marB="9144" anchor="ctr">
                    <a:solidFill>
                      <a:srgbClr val="FFFFFF"/>
                    </a:solidFill>
                  </a:tcPr>
                </a:tc>
                <a:tc>
                  <a:txBody>
                    <a:bodyPr/>
                    <a:lstStyle/>
                    <a:p>
                      <a:r>
                        <a:rPr sz="1000" b="0" i="0">
                          <a:solidFill>
                            <a:srgbClr val="059669"/>
                          </a:solidFill>
                          <a:latin typeface="맑은 고딕"/>
                          <a:ea typeface="맑은 고딕"/>
                        </a:rPr>
                        <a:t>4.2 화면</a:t>
                      </a:r>
                    </a:p>
                  </a:txBody>
                  <a:tcPr marL="54864" marR="54864" marT="9144" marB="9144"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2788920"/>
            <a:ext cx="6766560" cy="731520"/>
          </a:xfrm>
          <a:prstGeom prst="rect">
            <a:avLst/>
          </a:prstGeom>
          <a:noFill/>
        </p:spPr>
        <p:txBody>
          <a:bodyPr wrap="square" lIns="0" rIns="0" tIns="0" bIns="0" anchor="t">
            <a:spAutoFit/>
          </a:bodyPr>
          <a:lstStyle/>
          <a:p>
            <a:pPr algn="r">
              <a:spcAft>
                <a:spcPts val="0"/>
              </a:spcAft>
            </a:pPr>
            <a:r>
              <a:rPr sz="3600" b="1" i="0">
                <a:solidFill>
                  <a:srgbClr val="FFFFFF"/>
                </a:solidFill>
                <a:latin typeface="맑은 고딕"/>
                <a:ea typeface="맑은 고딕"/>
              </a:rPr>
              <a:t>감사합니다</a:t>
            </a:r>
          </a:p>
        </p:txBody>
      </p:sp>
      <p:cxnSp>
        <p:nvCxnSpPr>
          <p:cNvPr id="3" name="Connector 2"/>
          <p:cNvCxnSpPr/>
          <p:nvPr/>
        </p:nvCxnSpPr>
        <p:spPr>
          <a:xfrm>
            <a:off x="7863840" y="3675887"/>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206240" y="3803904"/>
            <a:ext cx="6766560" cy="310896"/>
          </a:xfrm>
          <a:prstGeom prst="rect">
            <a:avLst/>
          </a:prstGeom>
          <a:noFill/>
        </p:spPr>
        <p:txBody>
          <a:bodyPr wrap="square" lIns="0" rIns="0" tIns="0" bIns="0" anchor="t">
            <a:spAutoFit/>
          </a:bodyPr>
          <a:lstStyle/>
          <a:p>
            <a:pPr algn="r">
              <a:spcAft>
                <a:spcPts val="0"/>
              </a:spcAft>
            </a:pPr>
            <a:r>
              <a:rPr sz="1300" b="0" i="0">
                <a:solidFill>
                  <a:srgbClr val="AEB9CC"/>
                </a:solidFill>
                <a:latin typeface="맑은 고딕"/>
                <a:ea typeface="맑은 고딕"/>
              </a:rPr>
              <a:t>질문 주시면 편하게 답변드리겠습니다</a:t>
            </a:r>
          </a:p>
        </p:txBody>
      </p:sp>
    </p:spTree>
  </p:cSld>
  <p:clrMapOvr>
    <a:masterClrMapping/>
  </p:clrMapOvr>
</p:sld>
</file>

<file path=ppt/theme/theme1.xml><?xml version="1.0" encoding="utf-8"?>
<a:theme xmlns:a="http://schemas.openxmlformats.org/drawingml/2006/main" name="Radar SW Study">
  <a:themeElements>
    <a:clrScheme name="Radar SW Study">
      <a:dk1>
        <a:srgbClr val="1B2740"/>
      </a:dk1>
      <a:lt1>
        <a:srgbClr val="FFFFFF"/>
      </a:lt1>
      <a:dk2>
        <a:srgbClr val="4A5A7A"/>
      </a:dk2>
      <a:lt2>
        <a:srgbClr val="F7F9FC"/>
      </a:lt2>
      <a:accent1>
        <a:srgbClr val="2563EB"/>
      </a:accent1>
      <a:accent2>
        <a:srgbClr val="D97706"/>
      </a:accent2>
      <a:accent3>
        <a:srgbClr val="059669"/>
      </a:accent3>
      <a:accent4>
        <a:srgbClr val="DC2626"/>
      </a:accent4>
      <a:accent5>
        <a:srgbClr val="7C3AED"/>
      </a:accent5>
      <a:accent6>
        <a:srgbClr val="8794AC"/>
      </a:accent6>
      <a:hlink>
        <a:srgbClr val="2563EB"/>
      </a:hlink>
      <a:folHlink>
        <a:srgbClr val="7C3AED"/>
      </a:folHlink>
    </a:clrScheme>
    <a:fontScheme name="Radar SW Stud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radar-sw-study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Janghwan Kim (Harley)</cp:lastModifiedBy>
  <cp:revision>1</cp:revision>
  <dcterms:created xsi:type="dcterms:W3CDTF">2026-10-13T08:47:03Z</dcterms:created>
  <dcterms:modified xsi:type="dcterms:W3CDTF">2026-10-13T08:47:03Z</dcterms:modified>
</cp:coreProperties>
</file>