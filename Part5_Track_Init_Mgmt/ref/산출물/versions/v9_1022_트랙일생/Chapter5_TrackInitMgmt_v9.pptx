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 4에서는 SNR로 거리와 각도의 표준편차를 계산해 플롯을 만들었습니다. SNR 20에서 거리 4.74미터, 방위각 0.48도, 고각 0.49도였습니다. 하지만 트랙 초기화에 쓰는 R의 표준편차는 이번 과제에서 거리 10미터, 방위각과 고각 0.2도로 값을 정해 주었기 때문에, SNR로 계산한 값이 아니라 과제에서 준 이 값을 그대로 사용했습니다.</a:t>
            </a:r>
          </a:p>
          <a:p>
            <a:r>
              <a:t>R이 무엇을 뜻하는지는 아래 그림으로 보겠습니다. 레이다는 거리는 정확하게 재지만 방향은 조금씩 틀리고, 이 각도 오차는 1번 그림처럼 손전등 빛과 같이 멀리 갈수록 옆으로 퍼집니다. 0.2도는 5킬로미터에서 약 17미터, 14킬로미터에서는 약 49미터가 됩니다. 반면 거리 오차는 어디서나 10미터입니다.</a:t>
            </a:r>
          </a:p>
          <a:p>
            <a:r>
              <a:t>2번 그림은 14킬로미터 표적 주변을 실제 비율로 확대한 것입니다.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오른쪽 아래는 R을 실제로 계산하는 행렬식입니다. 위 줄은 플롯 위치를 바꾸는 식으로, 이전 과제의 좌표 변환 함수 세 개를 그대로 이은 것입니다. 구좌표를 안테나 직교 좌표로 바꾸는 s, 그리고 안테나에서 동체로, 동체에서 북, 동, 아래로 돌리는 회전 두 개입니다.</a:t>
            </a:r>
          </a:p>
          <a:p>
            <a:r>
              <a:t>아래 줄이 공분산을 바꾸는 식입니다. 행렬을 곱하는 변환은 공분산의 앞뒤로 같은 행렬을 곱하면 되므로, 회전 두 개는 위 줄과 같은 행렬을 그대로 씁니다. 다만 구좌표 변환 s는 곡선이라서, 측정 지점에서의 기울기인 G로 바꿔 씁니다.</a:t>
            </a:r>
          </a:p>
          <a:p>
            <a:r>
              <a:t>G의 세 열은 거리, 방위각, 고각이 조금 변할 때 위치가 움직이는 방향과 크기이고, 크기가 각각 1, r cos el, r입니다. 그래서 각도 오차에 거리를 곱한 값이 미터 오차가 되고, 14킬로미터 표적이면 10미터, 49미터, 49미터로 2번 그림의 타원과 같습니다. 방위각 쪽의 cos el은 고각이 높을수록 같은 방위각 차이가 옆으로 덜 벌어지는 것을 반영한 값으로, 고각이 작으면 거의 1입니다.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과제의 결과 화면 조건대로 True, Plot, Track 심볼을 한 그림에 함께 표시했습니다.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기호는 화면 범례와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결과입니다. 표적 1에서 117개, 표적 2에서 235개, 클러터끼리 3개로 모두 355개의 트랙이 개시되었고, 모든 트랙이 같은 일생을 거칩니다.</a:t>
            </a:r>
          </a:p>
          <a:p>
            <a:r>
              <a:t>왼쪽 위 그림은 처음 10초 동안 생긴 트랙 22개를 줄 하나씩 그린 것입니다. 칸 하나가 스캔 하나이고, 주황 칸 두 개가 임시 상태, 회색 칸 하나가 삭제 상태입니다.</a:t>
            </a:r>
          </a:p>
          <a:p>
            <a:r>
              <a:t>아래는 첫 줄인 트랙 100의 경우입니다. 스캔 10에 플롯 두 개로 점수 2로 개시되고, 연관이 없으니 스캔 11에서 1, 스캔 12에서 0이 되어 삭제 상태가 되고, 스캔 13을 처리할 때 표에서 빠집니다.</a:t>
            </a:r>
          </a:p>
          <a:p>
            <a:r>
              <a:t>트랙 ID는 표적과 관계없이 만들어진 순서대로 붙습니다. 그래서 100은 표적 2, 101은 표적 1의 트랙이고, 100이 끝나는 시점과 101이 시작되는 시점은 관계가 없습니다. 같은 표적에서는 개시에 쓴 플롯을 다시 쓰지 않기 때문에 다음 트랙이 빨라도 두 스캔 뒤, 즉 앞 트랙이 삭제되는 스캔에 생깁니다. 그림의 104와 105가 그 예입니다. 실제로는 플롯 잡음 때문에 게이트를 통과하지 못하는 스캔이 많아, 표적 1은 평균 9.8 스캔, 표적 2는 평균 4.9 스캔마다 트랙이 생겼습니다.</a:t>
            </a:r>
          </a:p>
          <a:p>
            <a:r>
              <a:t>연관이 없기 때문에 시뮬레이션에서는 확정과 메모리 상태가 나타나지 않습니다. 이 두 상태는 오른쪽의 스코어 확인 창으로 확인했습니다.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시점입니다.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notesSlide" Target="../notesSlides/notesSlide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15.png"/><Relationship Id="rId4" Type="http://schemas.openxmlformats.org/officeDocument/2006/relationships/notesSlide" Target="../notesSlides/notesSlide23.xml"/><Relationship Id="rId5"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정해 준 표준편차로 R 을 만들어 VC-NED 좌표로 바꿉니다.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10 m</a:t>
            </a:r>
          </a:p>
        </p:txBody>
      </p:sp>
      <p:sp>
        <p:nvSpPr>
          <p:cNvPr id="29" name="Rounded Rectangle 28"/>
          <p:cNvSpPr/>
          <p:nvPr/>
        </p:nvSpPr>
        <p:spPr>
          <a:xfrm>
            <a:off x="24688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2" name="Rounded Rectangle 31"/>
          <p:cNvSpPr/>
          <p:nvPr/>
        </p:nvSpPr>
        <p:spPr>
          <a:xfrm>
            <a:off x="42976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5" name="Rounded Rectangle 34"/>
          <p:cNvSpPr/>
          <p:nvPr/>
        </p:nvSpPr>
        <p:spPr>
          <a:xfrm>
            <a:off x="640080" y="3118104"/>
            <a:ext cx="987552" cy="19202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2563EB"/>
                </a:solidFill>
                <a:latin typeface="맑은 고딕"/>
                <a:ea typeface="맑은 고딕"/>
              </a:rPr>
              <a:t>과제 5 지정값</a:t>
            </a:r>
          </a:p>
        </p:txBody>
      </p:sp>
      <p:sp>
        <p:nvSpPr>
          <p:cNvPr id="36" name="TextBox 35"/>
          <p:cNvSpPr txBox="1"/>
          <p:nvPr/>
        </p:nvSpPr>
        <p:spPr>
          <a:xfrm>
            <a:off x="1719072" y="3118104"/>
            <a:ext cx="4297680" cy="192024"/>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트랙 초기화 (초기 오차 공분산) 용 R 의 표준편차</a:t>
            </a:r>
          </a:p>
        </p:txBody>
      </p:sp>
      <p:sp>
        <p:nvSpPr>
          <p:cNvPr id="37" name="Rounded Rectangle 36"/>
          <p:cNvSpPr/>
          <p:nvPr/>
        </p:nvSpPr>
        <p:spPr>
          <a:xfrm>
            <a:off x="640080" y="3332988"/>
            <a:ext cx="987552" cy="192024"/>
          </a:xfrm>
          <a:prstGeom prst="roundRect">
            <a:avLst>
              <a:gd name="adj" fmla="val 25000"/>
            </a:avLst>
          </a:prstGeom>
          <a:solidFill>
            <a:srgbClr val="FFFFFF"/>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6B7280"/>
                </a:solidFill>
                <a:latin typeface="맑은 고딕"/>
                <a:ea typeface="맑은 고딕"/>
              </a:rPr>
              <a:t>과제 4 SNR</a:t>
            </a:r>
          </a:p>
        </p:txBody>
      </p:sp>
      <p:sp>
        <p:nvSpPr>
          <p:cNvPr id="38" name="TextBox 37"/>
          <p:cNvSpPr txBox="1"/>
          <p:nvPr/>
        </p:nvSpPr>
        <p:spPr>
          <a:xfrm>
            <a:off x="1719072" y="3332988"/>
            <a:ext cx="4297680" cy="192024"/>
          </a:xfrm>
          <a:prstGeom prst="rect">
            <a:avLst/>
          </a:prstGeom>
          <a:noFill/>
        </p:spPr>
        <p:txBody>
          <a:bodyPr wrap="square" lIns="0" rIns="0" tIns="0" bIns="0" anchor="ctr">
            <a:spAutoFit/>
          </a:bodyPr>
          <a:lstStyle/>
          <a:p>
            <a:pPr algn="l">
              <a:spcAft>
                <a:spcPts val="0"/>
              </a:spcAft>
            </a:pPr>
            <a:r>
              <a:rPr sz="1000" b="0" i="0">
                <a:solidFill>
                  <a:srgbClr val="4A5A7A"/>
                </a:solidFill>
                <a:latin typeface="맑은 고딕"/>
                <a:ea typeface="맑은 고딕"/>
              </a:rPr>
              <a:t>플롯 모의 잡음은 SNR 20 으로 계산: 4.74 m · 0.48° · 0.49° (R 과 별개)</a:t>
            </a:r>
          </a:p>
        </p:txBody>
      </p:sp>
      <p:sp>
        <p:nvSpPr>
          <p:cNvPr id="39" name="Rounded Rectangle 38"/>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0" y="2331720"/>
            <a:ext cx="5029200" cy="256032"/>
          </a:xfrm>
          <a:prstGeom prst="rect">
            <a:avLst/>
          </a:prstGeom>
          <a:noFill/>
        </p:spPr>
        <p:txBody>
          <a:bodyPr wrap="square" lIns="0" rIns="0" tIns="0" bIns="0" anchor="t">
            <a:spAutoFit/>
          </a:bodyPr>
          <a:lstStyle/>
          <a:p>
            <a:pPr algn="l">
              <a:spcAft>
                <a:spcPts val="0"/>
              </a:spcAft>
            </a:pPr>
            <a:r>
              <a:rPr sz="1150" b="1" i="0">
                <a:solidFill>
                  <a:srgbClr val="1B2740"/>
                </a:solidFill>
                <a:latin typeface="맑은 고딕"/>
                <a:ea typeface="맑은 고딕"/>
              </a:rPr>
              <a:t>R 이 뜻하는 것</a:t>
            </a:r>
          </a:p>
        </p:txBody>
      </p:sp>
      <p:sp>
        <p:nvSpPr>
          <p:cNvPr id="41" name="Oval 40"/>
          <p:cNvSpPr/>
          <p:nvPr/>
        </p:nvSpPr>
        <p:spPr>
          <a:xfrm>
            <a:off x="6400800" y="2660903"/>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42" name="TextBox 41"/>
          <p:cNvSpPr txBox="1"/>
          <p:nvPr/>
        </p:nvSpPr>
        <p:spPr>
          <a:xfrm>
            <a:off x="6693408" y="263347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R = 플롯이 흩어지는 정도   </a:t>
            </a:r>
            <a:r>
              <a:rPr sz="950" b="0" i="0">
                <a:solidFill>
                  <a:srgbClr val="4A5A7A"/>
                </a:solidFill>
                <a:latin typeface="맑은 고딕"/>
                <a:ea typeface="맑은 고딕"/>
              </a:rPr>
              <a:t>같은 표적을 여러 번 잴 때 흩어지는 크기 · 모양</a:t>
            </a:r>
          </a:p>
        </p:txBody>
      </p:sp>
      <p:sp>
        <p:nvSpPr>
          <p:cNvPr id="43" name="Oval 42"/>
          <p:cNvSpPr/>
          <p:nvPr/>
        </p:nvSpPr>
        <p:spPr>
          <a:xfrm>
            <a:off x="6400800" y="2935223"/>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44" name="TextBox 43"/>
          <p:cNvSpPr txBox="1"/>
          <p:nvPr/>
        </p:nvSpPr>
        <p:spPr>
          <a:xfrm>
            <a:off x="6693408" y="2907791"/>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거리는 정확, 방향은 멀수록 퍼짐   </a:t>
            </a:r>
            <a:r>
              <a:rPr sz="950" b="0" i="0">
                <a:solidFill>
                  <a:srgbClr val="4A5A7A"/>
                </a:solidFill>
                <a:latin typeface="맑은 고딕"/>
                <a:ea typeface="맑은 고딕"/>
              </a:rPr>
              <a:t>거리 10 m 그대로, 옆 · 위아래 = 거리 × 0.2°</a:t>
            </a:r>
          </a:p>
        </p:txBody>
      </p:sp>
      <p:sp>
        <p:nvSpPr>
          <p:cNvPr id="45" name="Oval 44"/>
          <p:cNvSpPr/>
          <p:nvPr/>
        </p:nvSpPr>
        <p:spPr>
          <a:xfrm>
            <a:off x="6400800" y="3209544"/>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6" name="TextBox 45"/>
          <p:cNvSpPr txBox="1"/>
          <p:nvPr/>
        </p:nvSpPr>
        <p:spPr>
          <a:xfrm>
            <a:off x="6693408" y="318211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그래서 옆으로 긴 타원   </a:t>
            </a:r>
            <a:r>
              <a:rPr sz="950" b="0" i="0">
                <a:solidFill>
                  <a:srgbClr val="4A5A7A"/>
                </a:solidFill>
                <a:latin typeface="맑은 고딕"/>
                <a:ea typeface="맑은 고딕"/>
              </a:rPr>
              <a:t>거리 · 방향이 플롯마다 달라 R 도 플롯마다 계산</a:t>
            </a:r>
          </a:p>
        </p:txBody>
      </p:sp>
      <p:pic>
        <p:nvPicPr>
          <p:cNvPr id="47" name="Picture 46" descr="fig_rcov.png"/>
          <p:cNvPicPr>
            <a:picLocks noChangeAspect="1"/>
          </p:cNvPicPr>
          <p:nvPr/>
        </p:nvPicPr>
        <p:blipFill>
          <a:blip r:embed="rId4"/>
          <a:stretch>
            <a:fillRect/>
          </a:stretch>
        </p:blipFill>
        <p:spPr>
          <a:xfrm>
            <a:off x="640080" y="3611880"/>
            <a:ext cx="6949440" cy="2606040"/>
          </a:xfrm>
          <a:prstGeom prst="rect">
            <a:avLst/>
          </a:prstGeom>
        </p:spPr>
      </p:pic>
      <p:sp>
        <p:nvSpPr>
          <p:cNvPr id="48" name="TextBox 47"/>
          <p:cNvSpPr txBox="1"/>
          <p:nvPr/>
        </p:nvSpPr>
        <p:spPr>
          <a:xfrm>
            <a:off x="7818120" y="3630168"/>
            <a:ext cx="3749039" cy="256032"/>
          </a:xfrm>
          <a:prstGeom prst="rect">
            <a:avLst/>
          </a:prstGeom>
          <a:noFill/>
        </p:spPr>
        <p:txBody>
          <a:bodyPr wrap="square" lIns="0" rIns="0" tIns="0" bIns="0" anchor="ctr">
            <a:spAutoFit/>
          </a:bodyPr>
          <a:lstStyle/>
          <a:p>
            <a:pPr algn="l">
              <a:spcAft>
                <a:spcPts val="0"/>
              </a:spcAft>
            </a:pPr>
            <a:r>
              <a:rPr sz="1200" b="1" i="0">
                <a:solidFill>
                  <a:srgbClr val="1B2740"/>
                </a:solidFill>
                <a:latin typeface="맑은 고딕"/>
                <a:ea typeface="맑은 고딕"/>
              </a:rPr>
              <a:t>R 계산 행렬식   </a:t>
            </a:r>
            <a:r>
              <a:rPr sz="950" b="0" i="0">
                <a:solidFill>
                  <a:srgbClr val="8794AC"/>
                </a:solidFill>
                <a:latin typeface="맑은 고딕"/>
                <a:ea typeface="맑은 고딕"/>
              </a:rPr>
              <a:t>이전 과제 좌표 변환과 같은 행렬</a:t>
            </a:r>
          </a:p>
        </p:txBody>
      </p:sp>
      <p:pic>
        <p:nvPicPr>
          <p:cNvPr id="49" name="Picture 48" descr="fig_rmatrix.png"/>
          <p:cNvPicPr>
            <a:picLocks noChangeAspect="1"/>
          </p:cNvPicPr>
          <p:nvPr/>
        </p:nvPicPr>
        <p:blipFill>
          <a:blip r:embed="rId2"/>
          <a:stretch>
            <a:fillRect/>
          </a:stretch>
        </p:blipFill>
        <p:spPr>
          <a:xfrm>
            <a:off x="7754112" y="3877056"/>
            <a:ext cx="3794760" cy="23940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pic>
        <p:nvPicPr>
          <p:cNvPr id="50" name="Picture 49"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
        <p:nvSpPr>
          <p:cNvPr id="51" name="TextBox 50"/>
          <p:cNvSpPr txBox="1"/>
          <p:nvPr/>
        </p:nvSpPr>
        <p:spPr>
          <a:xfrm>
            <a:off x="4892040" y="6236208"/>
            <a:ext cx="6656832" cy="228600"/>
          </a:xfrm>
          <a:prstGeom prst="rect">
            <a:avLst/>
          </a:prstGeom>
          <a:noFill/>
        </p:spPr>
        <p:txBody>
          <a:bodyPr wrap="square" lIns="0" rIns="0" tIns="0" bIns="0" anchor="t">
            <a:spAutoFit/>
          </a:bodyPr>
          <a:lstStyle/>
          <a:p>
            <a:pPr algn="l">
              <a:spcAft>
                <a:spcPts val="0"/>
              </a:spcAft>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701 (70.1 s) 화면. 참값 궤적, 지금까지의 플롯 · 클러터, 지금 스캔의 트랙 심볼을 한 그림에 겹쳐 그립니다.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 끌어서 회전</a:t>
            </a:r>
          </a:p>
        </p:txBody>
      </p:sp>
      <p:sp>
        <p:nvSpPr>
          <p:cNvPr id="30" name="TextBox 29"/>
          <p:cNvSpPr txBox="1"/>
          <p:nvPr/>
        </p:nvSpPr>
        <p:spPr>
          <a:xfrm>
            <a:off x="640080" y="5998464"/>
            <a:ext cx="2057400"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참값 궤적 · ○ 시작점</a:t>
            </a:r>
          </a:p>
        </p:txBody>
      </p:sp>
      <p:sp>
        <p:nvSpPr>
          <p:cNvPr id="31" name="TextBox 30"/>
          <p:cNvSpPr txBox="1"/>
          <p:nvPr/>
        </p:nvSpPr>
        <p:spPr>
          <a:xfrm>
            <a:off x="2697480" y="5998464"/>
            <a:ext cx="2414015"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 (큰 점 = 지금 스캔)</a:t>
            </a:r>
          </a:p>
        </p:txBody>
      </p:sp>
      <p:sp>
        <p:nvSpPr>
          <p:cNvPr id="32" name="TextBox 31"/>
          <p:cNvSpPr txBox="1"/>
          <p:nvPr/>
        </p:nvSpPr>
        <p:spPr>
          <a:xfrm>
            <a:off x="5111496" y="5998464"/>
            <a:ext cx="868680"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3" name="TextBox 32"/>
          <p:cNvSpPr txBox="1"/>
          <p:nvPr/>
        </p:nvSpPr>
        <p:spPr>
          <a:xfrm>
            <a:off x="5980176" y="5998464"/>
            <a:ext cx="749808"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a:t>
            </a:r>
          </a:p>
        </p:txBody>
      </p:sp>
      <p:sp>
        <p:nvSpPr>
          <p:cNvPr id="34" name="TextBox 33"/>
          <p:cNvSpPr txBox="1"/>
          <p:nvPr/>
        </p:nvSpPr>
        <p:spPr>
          <a:xfrm>
            <a:off x="6729984" y="5998464"/>
            <a:ext cx="749808" cy="237744"/>
          </a:xfrm>
          <a:prstGeom prst="rect">
            <a:avLst/>
          </a:prstGeom>
          <a:noFill/>
        </p:spPr>
        <p:txBody>
          <a:bodyPr wrap="square" lIns="0" rIns="0" tIns="0" bIns="0" anchor="t">
            <a:spAutoFit/>
          </a:bodyPr>
          <a:lstStyle/>
          <a:p>
            <a:pPr algn="l">
              <a:spcAft>
                <a:spcPts val="0"/>
              </a:spcAft>
            </a:pPr>
            <a:r>
              <a:rPr sz="1050" b="1" i="0">
                <a:solidFill>
                  <a:srgbClr val="059669"/>
                </a:solidFill>
                <a:latin typeface="맑은 고딕"/>
                <a:ea typeface="맑은 고딕"/>
              </a:rPr>
              <a:t>■ 확정</a:t>
            </a:r>
          </a:p>
        </p:txBody>
      </p:sp>
      <p:sp>
        <p:nvSpPr>
          <p:cNvPr id="35" name="TextBox 34"/>
          <p:cNvSpPr txBox="1"/>
          <p:nvPr/>
        </p:nvSpPr>
        <p:spPr>
          <a:xfrm>
            <a:off x="7479792" y="5998464"/>
            <a:ext cx="868680" cy="237744"/>
          </a:xfrm>
          <a:prstGeom prst="rect">
            <a:avLst/>
          </a:prstGeom>
          <a:noFill/>
        </p:spPr>
        <p:txBody>
          <a:bodyPr wrap="square" lIns="0" rIns="0" tIns="0" bIns="0" anchor="t">
            <a:spAutoFit/>
          </a:bodyPr>
          <a:lstStyle/>
          <a:p>
            <a:pPr algn="l">
              <a:spcAft>
                <a:spcPts val="0"/>
              </a:spcAft>
            </a:pPr>
            <a:r>
              <a:rPr sz="1050" b="1" i="0">
                <a:solidFill>
                  <a:srgbClr val="7C3AED"/>
                </a:solidFill>
                <a:latin typeface="맑은 고딕"/>
                <a:ea typeface="맑은 고딕"/>
              </a:rPr>
              <a:t>⬚ 메모리</a:t>
            </a:r>
          </a:p>
        </p:txBody>
      </p:sp>
      <p:sp>
        <p:nvSpPr>
          <p:cNvPr id="36" name="TextBox 35"/>
          <p:cNvSpPr txBox="1"/>
          <p:nvPr/>
        </p:nvSpPr>
        <p:spPr>
          <a:xfrm>
            <a:off x="8348471" y="5998464"/>
            <a:ext cx="749808"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2"/>
          <a:stretch>
            <a:fillRect/>
          </a:stretch>
        </p:blipFill>
        <p:spPr>
          <a:xfrm>
            <a:off x="566928" y="2194560"/>
            <a:ext cx="6035040" cy="3926910"/>
          </a:xfrm>
          <a:prstGeom prst="rect">
            <a:avLst/>
          </a:prstGeom>
        </p:spPr>
      </p:pic>
      <p:sp>
        <p:nvSpPr>
          <p:cNvPr id="27" name="Oval 26"/>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8" name="TextBox 27"/>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29" name="Oval 28"/>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0" name="TextBox 29"/>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1" name="Oval 30"/>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2" name="TextBox 31"/>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3" name="Oval 32"/>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4" name="TextBox 33"/>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5" name="TextBox 34"/>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graphicFrame>
        <p:nvGraphicFramePr>
          <p:cNvPr id="36" name="Table 35"/>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 355 개 (표적 1 117 · 표적 2 235 · 클러터끼리 3) 가 모두 같은 일생을 거칩니다: 개시 → 두 스캔 뒤 삭제.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line.png"/>
          <p:cNvPicPr>
            <a:picLocks noChangeAspect="1"/>
          </p:cNvPicPr>
          <p:nvPr/>
        </p:nvPicPr>
        <p:blipFill>
          <a:blip r:embed="rId5"/>
          <a:stretch>
            <a:fillRect/>
          </a:stretch>
        </p:blipFill>
        <p:spPr>
          <a:xfrm>
            <a:off x="603504" y="2240280"/>
            <a:ext cx="6812280" cy="2606040"/>
          </a:xfrm>
          <a:prstGeom prst="rect">
            <a:avLst/>
          </a:prstGeom>
        </p:spPr>
      </p:pic>
      <p:sp>
        <p:nvSpPr>
          <p:cNvPr id="27" name="TextBox 26"/>
          <p:cNvSpPr txBox="1"/>
          <p:nvPr/>
        </p:nvSpPr>
        <p:spPr>
          <a:xfrm>
            <a:off x="640080" y="4882896"/>
            <a:ext cx="676656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100 의 경우  (표적 2, 위 그림의 첫 줄)</a:t>
            </a:r>
          </a:p>
        </p:txBody>
      </p:sp>
      <p:sp>
        <p:nvSpPr>
          <p:cNvPr id="28" name="Rounded Rectangle 27"/>
          <p:cNvSpPr/>
          <p:nvPr/>
        </p:nvSpPr>
        <p:spPr>
          <a:xfrm>
            <a:off x="603504" y="5175504"/>
            <a:ext cx="1552194" cy="1005840"/>
          </a:xfrm>
          <a:prstGeom prst="roundRect">
            <a:avLst>
              <a:gd name="adj" fmla="val 8000"/>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13232" y="5276088"/>
            <a:ext cx="182880" cy="182880"/>
          </a:xfrm>
          <a:prstGeom prst="rect">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87552"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10</a:t>
            </a:r>
          </a:p>
        </p:txBody>
      </p:sp>
      <p:sp>
        <p:nvSpPr>
          <p:cNvPr id="31" name="TextBox 30"/>
          <p:cNvSpPr txBox="1"/>
          <p:nvPr/>
        </p:nvSpPr>
        <p:spPr>
          <a:xfrm>
            <a:off x="713232" y="5541264"/>
            <a:ext cx="1369314"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TrackScore 2</a:t>
            </a:r>
          </a:p>
        </p:txBody>
      </p:sp>
      <p:sp>
        <p:nvSpPr>
          <p:cNvPr id="32" name="TextBox 31"/>
          <p:cNvSpPr txBox="1"/>
          <p:nvPr/>
        </p:nvSpPr>
        <p:spPr>
          <a:xfrm>
            <a:off x="713232"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두 플롯으로 개시</a:t>
            </a:r>
          </a:p>
          <a:p>
            <a:pPr algn="l">
              <a:spcAft>
                <a:spcPts val="0"/>
              </a:spcAft>
            </a:pPr>
            <a:r>
              <a:rPr sz="900" b="0" i="0">
                <a:solidFill>
                  <a:srgbClr val="4A5A7A"/>
                </a:solidFill>
                <a:latin typeface="맑은 고딕"/>
                <a:ea typeface="맑은 고딕"/>
              </a:rPr>
              <a:t>(10067 + 10074)</a:t>
            </a:r>
          </a:p>
        </p:txBody>
      </p:sp>
      <p:cxnSp>
        <p:nvCxnSpPr>
          <p:cNvPr id="33" name="Connector 32"/>
          <p:cNvCxnSpPr/>
          <p:nvPr/>
        </p:nvCxnSpPr>
        <p:spPr>
          <a:xfrm>
            <a:off x="2173986" y="5678424"/>
            <a:ext cx="164592" cy="0"/>
          </a:xfrm>
          <a:prstGeom prst="line">
            <a:avLst/>
          </a:prstGeom>
          <a:ln w="1524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356866" y="5175504"/>
            <a:ext cx="1552194" cy="1005840"/>
          </a:xfrm>
          <a:prstGeom prst="roundRect">
            <a:avLst>
              <a:gd name="adj" fmla="val 8000"/>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466594" y="5276088"/>
            <a:ext cx="182880" cy="182880"/>
          </a:xfrm>
          <a:prstGeom prst="rect">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740914"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11</a:t>
            </a:r>
          </a:p>
        </p:txBody>
      </p:sp>
      <p:sp>
        <p:nvSpPr>
          <p:cNvPr id="37" name="TextBox 36"/>
          <p:cNvSpPr txBox="1"/>
          <p:nvPr/>
        </p:nvSpPr>
        <p:spPr>
          <a:xfrm>
            <a:off x="2466594" y="5541264"/>
            <a:ext cx="1369314"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TrackScore 1</a:t>
            </a:r>
          </a:p>
        </p:txBody>
      </p:sp>
      <p:sp>
        <p:nvSpPr>
          <p:cNvPr id="38" name="TextBox 37"/>
          <p:cNvSpPr txBox="1"/>
          <p:nvPr/>
        </p:nvSpPr>
        <p:spPr>
          <a:xfrm>
            <a:off x="2466594"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Assigned_Flag 0 → −1</a:t>
            </a:r>
          </a:p>
        </p:txBody>
      </p:sp>
      <p:cxnSp>
        <p:nvCxnSpPr>
          <p:cNvPr id="39" name="Connector 38"/>
          <p:cNvCxnSpPr/>
          <p:nvPr/>
        </p:nvCxnSpPr>
        <p:spPr>
          <a:xfrm>
            <a:off x="3927348" y="5678424"/>
            <a:ext cx="164592" cy="0"/>
          </a:xfrm>
          <a:prstGeom prst="line">
            <a:avLst/>
          </a:prstGeom>
          <a:ln w="1524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110228" y="5175504"/>
            <a:ext cx="1552194" cy="1005840"/>
          </a:xfrm>
          <a:prstGeom prst="roundRect">
            <a:avLst>
              <a:gd name="adj" fmla="val 8000"/>
            </a:avLst>
          </a:prstGeom>
          <a:solidFill>
            <a:srgbClr val="FFFFFF"/>
          </a:solidFill>
          <a:ln w="1778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19956" y="5276088"/>
            <a:ext cx="182880" cy="182880"/>
          </a:xfrm>
          <a:prstGeom prst="rect">
            <a:avLst/>
          </a:prstGeom>
          <a:solidFill>
            <a:srgbClr val="FFFFFF"/>
          </a:solidFill>
          <a:ln w="1778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a:off x="4219956" y="5276088"/>
            <a:ext cx="182880" cy="18288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219956" y="5276088"/>
            <a:ext cx="182880" cy="18288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494276"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12</a:t>
            </a:r>
          </a:p>
        </p:txBody>
      </p:sp>
      <p:sp>
        <p:nvSpPr>
          <p:cNvPr id="45" name="TextBox 44"/>
          <p:cNvSpPr txBox="1"/>
          <p:nvPr/>
        </p:nvSpPr>
        <p:spPr>
          <a:xfrm>
            <a:off x="4219956" y="5541264"/>
            <a:ext cx="1369314"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TrackScore 0</a:t>
            </a:r>
          </a:p>
        </p:txBody>
      </p:sp>
      <p:sp>
        <p:nvSpPr>
          <p:cNvPr id="46" name="TextBox 45"/>
          <p:cNvSpPr txBox="1"/>
          <p:nvPr/>
        </p:nvSpPr>
        <p:spPr>
          <a:xfrm>
            <a:off x="4219956"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0 이하라 삭제 상태 (4)</a:t>
            </a:r>
          </a:p>
        </p:txBody>
      </p:sp>
      <p:cxnSp>
        <p:nvCxnSpPr>
          <p:cNvPr id="47" name="Connector 46"/>
          <p:cNvCxnSpPr/>
          <p:nvPr/>
        </p:nvCxnSpPr>
        <p:spPr>
          <a:xfrm>
            <a:off x="5680709" y="5678424"/>
            <a:ext cx="164593" cy="0"/>
          </a:xfrm>
          <a:prstGeom prst="line">
            <a:avLst/>
          </a:prstGeom>
          <a:ln w="1524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863590" y="5175504"/>
            <a:ext cx="1552194" cy="1005840"/>
          </a:xfrm>
          <a:prstGeom prst="roundRect">
            <a:avLst>
              <a:gd name="adj" fmla="val 8000"/>
            </a:avLst>
          </a:prstGeom>
          <a:solidFill>
            <a:srgbClr val="FFFFFF"/>
          </a:solidFill>
          <a:ln w="17780">
            <a:solidFill>
              <a:srgbClr val="AEB9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247638"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13</a:t>
            </a:r>
          </a:p>
        </p:txBody>
      </p:sp>
      <p:sp>
        <p:nvSpPr>
          <p:cNvPr id="50" name="TextBox 49"/>
          <p:cNvSpPr txBox="1"/>
          <p:nvPr/>
        </p:nvSpPr>
        <p:spPr>
          <a:xfrm>
            <a:off x="5973318" y="5541264"/>
            <a:ext cx="1369314" cy="237744"/>
          </a:xfrm>
          <a:prstGeom prst="rect">
            <a:avLst/>
          </a:prstGeom>
          <a:noFill/>
        </p:spPr>
        <p:txBody>
          <a:bodyPr wrap="square" lIns="0" rIns="0" tIns="0" bIns="0" anchor="t">
            <a:spAutoFit/>
          </a:bodyPr>
          <a:lstStyle/>
          <a:p>
            <a:pPr algn="l">
              <a:spcAft>
                <a:spcPts val="0"/>
              </a:spcAft>
            </a:pPr>
            <a:r>
              <a:rPr sz="1050" b="1" i="0">
                <a:solidFill>
                  <a:srgbClr val="4A5A7A"/>
                </a:solidFill>
                <a:latin typeface="맑은 고딕"/>
                <a:ea typeface="맑은 고딕"/>
              </a:rPr>
              <a:t>표에 없음</a:t>
            </a:r>
          </a:p>
        </p:txBody>
      </p:sp>
      <p:sp>
        <p:nvSpPr>
          <p:cNvPr id="51" name="TextBox 50"/>
          <p:cNvSpPr txBox="1"/>
          <p:nvPr/>
        </p:nvSpPr>
        <p:spPr>
          <a:xfrm>
            <a:off x="5973318"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처리 시작 때 표에서 뺌</a:t>
            </a:r>
          </a:p>
        </p:txBody>
      </p:sp>
      <p:pic>
        <p:nvPicPr>
          <p:cNvPr id="52" name="Picture 51"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53" name="TextBox 52"/>
          <p:cNvSpPr txBox="1"/>
          <p:nvPr/>
        </p:nvSpPr>
        <p:spPr>
          <a:xfrm>
            <a:off x="7589520" y="5514672"/>
            <a:ext cx="3959352" cy="64008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스코어 확인 창: Flag 1 1 1 0 0 1 1</a:t>
            </a:r>
          </a:p>
          <a:p>
            <a:pPr algn="l">
              <a:spcAft>
                <a:spcPts val="0"/>
              </a:spcAft>
            </a:pPr>
            <a:r>
              <a:rPr sz="1000" b="0" i="0">
                <a:solidFill>
                  <a:srgbClr val="4A5A7A"/>
                </a:solidFill>
                <a:latin typeface="맑은 고딕"/>
                <a:ea typeface="맑은 고딕"/>
              </a:rPr>
              <a:t>임시 → 확정 (5) → 메모리 → 다시 확정 (MemoryScore 0)</a:t>
            </a:r>
          </a:p>
          <a:p>
            <a:pPr algn="l">
              <a:spcAft>
                <a:spcPts val="0"/>
              </a:spcAft>
            </a:pPr>
            <a:r>
              <a:rPr sz="1000" b="0" i="0">
                <a:solidFill>
                  <a:srgbClr val="4A5A7A"/>
                </a:solidFill>
                <a:latin typeface="맑은 고딕"/>
                <a:ea typeface="맑은 고딕"/>
              </a:rPr>
              <a:t>트랙 ID 100 ~ 454 · 플롯 ID 10000 ~ 18119 (과제 범위 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a:t>
            </a:r>
          </a:p>
        </p:txBody>
      </p:sp>
      <p:sp>
        <p:nvSpPr>
          <p:cNvPr id="30" name="TextBox 29"/>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1" name="TextBox 30"/>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2" name="TextBox 31"/>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3" name="TextBox 32"/>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4" name="TextBox 33"/>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5" name="TextBox 34"/>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