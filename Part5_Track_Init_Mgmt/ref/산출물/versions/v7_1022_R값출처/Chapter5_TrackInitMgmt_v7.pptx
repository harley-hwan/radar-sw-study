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 4에서는 SNR로 거리와 각도의 표준편차를 계산해 플롯을 만들었습니다. SNR 20에서 거리 4.74미터, 방위각 0.48도, 고각 0.49도였습니다. 하지만 트랙 초기화에 쓰는 R의 표준편차는 이번 과제에서 거리 10미터, 방위각과 고각 0.2도로 값을 정해 주었기 때문에, SNR로 계산한 값이 아니라 과제에서 준 이 값을 그대로 사용했습니다.</a:t>
            </a:r>
          </a:p>
          <a:p>
            <a:r>
              <a:t>레이다는 거리와 각도로 재고 트랙은 북, 동, 아래의 미터 좌표로 관리하기 때문에, 오른쪽 위 식처럼 바꿔 씁니다. 가운데 파란 괄호는 레이다 시선을 기준으로 본 오차 크기입니다. 거리 방향은 10미터 그대로이고, 각도 오차는 거리를 곱해 미터로 바꿉니다. 방위각 쪽의 cos el은 고각이 높을수록 같은 방위각 차이가 옆으로 덜 벌어지는 것을 반영한 값으로, 고각이 작으면 거의 1입니다.</a:t>
            </a:r>
          </a:p>
          <a:p>
            <a:r>
              <a:t>앞뒤의 초록색 C는 시선 기준 축을 북, 동, 아래 축으로 돌리는 회전 행렬이고, 안테나가 향한 방향과 플랫폼 자세로 정해집니다. 앞뒤로 C를 곱하는 것은 타원의 모양은 그대로 두고 방향만 돌려 놓는다는 뜻입니다.</a:t>
            </a:r>
          </a:p>
          <a:p>
            <a:r>
              <a:t>R이 무엇을 뜻하는지는 아래 그림으로 보겠습니다. 레이다는 거리는 정확하게 재지만 방향은 조금씩 틀리고, 이 각도 오차는 왼쪽 그림처럼 손전등 빛과 같이 멀리 갈수록 옆으로 퍼집니다. 0.2도는 5킬로미터에서 약 17미터, 14킬로미터에서는 약 49미터가 됩니다. 반면 거리 오차는 어디서나 10미터입니다.</a:t>
            </a:r>
          </a:p>
          <a:p>
            <a:r>
              <a:t>오른쪽은 14킬로미터 표적 주변을 실제 비율로 확대한 그림입니다. 같은 표적을 여러 번 재면 플롯이 점들처럼 흩어지는데, 이 흩어지는 크기와 모양이 R입니다. 거리 방향으로는 10미터로 좁고 옆 방향으로는 49미터로 넓은, 옆으로 긴 타원이 됩니다. 위아래인 고각 방향도 같은 원리입니다.</a:t>
            </a:r>
          </a:p>
          <a:p>
            <a:r>
              <a:t>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상태를 바꾸는 기준은 트랙 연관 결과입니다. 트랙 연관은 이번 스캔의 플롯 가운데 기존 트랙에 이어지는 플롯을 찾아 그 트랙에 붙이는 과정입니다. 트랙의 위치와 속도로 이번 스캔의 위치를 예측하고, 예측 위치 주변의 연관 게이트 안에 들어온 플롯 가운데 가장 가까운 플롯을 트랙에 할당합니다.</a:t>
            </a:r>
          </a:p>
          <a:p>
            <a:r>
              <a:t>오른쪽 그림처럼 할당된 플롯이 있으면 Assigned_Flag는 1, 게이트 안에 플롯이 없으면 0이 됩니다. 이번 과제에서는 연관 기능이 구현되어 있지 않기 때문에 과제 조건대로 매 스캔 0을 부여하고, 연관 기능은 다음 과제에서 구현하게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송수신과 트랙 개시, 관리 기능을 추가했습니다. 코드마다 어떤 역할을 하고, 어떤 순서로, 어떻게 계산하는지를 중심으로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4에서 만든 부분입니다. 0.1초마다 표적 위치를 계산하고, 표적 플롯과 클러터를 만듭니다.</a:t>
            </a:r>
          </a:p>
          <a:p>
            <a:r>
              <a:t>이번 과제에서 추가한 부분은 파란색의 송신 쓰레드와 수신 쓰레드, 주황색의 트랙 개시와 관리입니다. 송신 쓰레드는 신호처리 역할로 플롯을 메시지로 묶어 보내고, 수신 쓰레드는 데이터 처리 역할로 메시지를 받아 트랙 개시와 관리로 넘깁니다.</a:t>
            </a:r>
          </a:p>
          <a:p>
            <a:r>
              <a:t>처리 결과는 스캔마다 결과 버퍼에 저장되고, 화면은 이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하나가 처리되는 순서입니다.</a:t>
            </a:r>
          </a:p>
          <a:p>
            <a:r>
              <a:t>위쪽은 송신 쓰레드입니다. 1번에서 이번 스캔의 표적 플롯 2개와 클러터 5개를 모아 방위각 순서로 섞습니다. 2번에서 플롯마다 ID를 붙이고 거리, 방위각, 고각을 메시지에 담습니다. 3번에서 이 메시지를 UDP로 보냅니다. 메시지 하나가 스캔 하나입니다.</a:t>
            </a:r>
          </a:p>
          <a:p>
            <a:r>
              <a:t>아래쪽은 수신 쓰레드입니다. 메시지를 받으면 4번에서 플롯 좌표를 구좌표에서 VC-NED 직교 좌표로 바꾸고, 5번에서 플롯마다 측정잡음 공분산 R을 계산합니다. 6번에서 트랙 개시와 관리를 수행하고, 7번에서 결과를 버퍼에 저장합니다.</a:t>
            </a:r>
          </a:p>
          <a:p>
            <a:r>
              <a:t>오른쪽은 메시지에 담기는 내용입니다. 스캔 번호와 시각, 플랫폼 위치와 자세, R을 만들 표준편차, 그리고 플롯 목록이 들어갑니다. 표적과 클러터를 구분하는 정보는 넣지 않았기 때문에, 받는 쪽은 모든 플롯을 같은 방식으로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한 스캔의 처리 순서입니다.</a:t>
            </a:r>
          </a:p>
          <a:p>
            <a:r>
              <a:t>왼쪽 위는 트랙 하나를 나타내는 구조체입니다. 트랙 번호, 상태, 점수, 연관 결과, 상태 변수와 오차 공분산을 담고 있으며, 변수 이름은 과제 명세를 그대로 사용했습니다. 아래는 과제 조건을 상수로 정의한 부분입니다.</a:t>
            </a:r>
          </a:p>
          <a:p>
            <a:r>
              <a:t>오른쪽은 수신 쓰레드가 메시지를 받을 때마다 f_Trk_ProcessScan이 수행하는 네 단계입니다.</a:t>
            </a:r>
          </a:p>
          <a:p>
            <a:r>
              <a:t>첫째, 앞 스캔에서 삭제 상태가 된 트랙을 트랙 표에서 지웁니다.</a:t>
            </a:r>
          </a:p>
          <a:p>
            <a:r>
              <a:t>둘째, 남아 있는 트랙마다 연관 결과를 0으로 두고 스코어 로직으로 상태를 갱신합니다.</a:t>
            </a:r>
          </a:p>
          <a:p>
            <a:r>
              <a:t>셋째, 앞 스캔과 이번 스캔의 플롯 쌍 가운데 속도 게이트를 통과한 쌍으로 새 트랙을 만듭니다. 가까운 쌍부터 선택하고, 트랙 ID는 100부터 차례로 부여합니다.</a:t>
            </a:r>
          </a:p>
          <a:p>
            <a:r>
              <a:t>넷째, 이번 스캔의 플롯을 다음 스캔의 개시 후보로 보관합니다. 트랙을 만드는 데 쓴 플롯은 후보에서 제외합니다.</a:t>
            </a:r>
          </a:p>
          <a:p>
            <a:r>
              <a:t>2-Point 개시와 스코어 로직은 다음 두 장에서 코드로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두 플롯으로 트랙의 첫 상태와 오차 공분산을 채웁니다.</a:t>
            </a:r>
          </a:p>
          <a:p>
            <a:r>
              <a:t>먼저 두 플롯의 시간 차 T를 구하고, x, y, z 축마다 같은 계산을 반복합니다.</a:t>
            </a:r>
          </a:p>
          <a:p>
            <a:r>
              <a:t>1번 위치는 이번 플롯 위치, 2번 속도는 두 플롯의 위치 차를 T로 나눈 값, 3번 가속도는 과제 조건대로 0입니다.</a:t>
            </a:r>
          </a:p>
          <a:p>
            <a:r>
              <a:t>4번은 오차 공분산 P입니다. 위치 칸에는 이번 플롯의 R, 위치와 속도 사이에는 R을 T로 나눈 값, 속도 칸에는 두 플롯의 R을 더해 T 제곱으로 나눈 값을 넣습니다. 가속도 칸은 0으로 남겨 둡니다.</a:t>
            </a:r>
          </a:p>
          <a:p>
            <a:r>
              <a:t>오른쪽 5번은 R을 만드는 표준편차입니다. 과제 값인 10미터, 0.2도, 0.2도를 사용하고, 이 값으로 플롯마다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트랙마다 매 스캔 한 번 호출되고, 현재 상태에 따라 나누어 처리합니다.</a:t>
            </a:r>
          </a:p>
          <a:p>
            <a:r>
              <a:t>왼쪽은 임시 트랙입니다. 1번에서 연관에 성공하면 점수를 1 올리고, 실패하면 1 내립니다. 2번에서 점수가 5 이상이면 확정, 3번에서 0 이하이면 삭제합니다.</a:t>
            </a:r>
          </a:p>
          <a:p>
            <a:r>
              <a:t>오른쪽 4번은 확정 트랙으로, 연관에 실패하면 메모리 트랙으로 바꾸고 MemoryScore를 1 올립니다.</a:t>
            </a:r>
          </a:p>
          <a:p>
            <a:r>
              <a:t>5번은 메모리 트랙으로, 연관에 성공하면 바로 확정으로 돌아가고 MemoryScore를 0으로 초기화합니다. 실패하면 MemoryScore를 올리고, 5 이상이 되면 삭제합니다.</a:t>
            </a:r>
          </a:p>
          <a:p>
            <a:r>
              <a:t>문턱치는 모두 과제 값을 상수로 정의해 사용했고, 이 함수는 결과 화면의 스코어 확인 창에서도 그대로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시뮬레이션 조건과 실행 화면, 한 스캔 시점의 화면과 트랙 표, 트랙 수명을 보고, 마지막으로 전체 궤적을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스캔 701 시점의 실행 화면입니다. 위쪽이 2D와 3D 그림, 왼쪽 아래가 송수신과 트랙 요약, 오른쪽 아래가 현재 스캔의 트랙 표입니다. 플롯 메시지 1,160개를 모두 송수신해 처리한 것을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중간인 스캔 701, 70.1초 시점의 화면입니다. 과제의 결과 화면 조건대로 True, Plot, Track 심볼을 한 그림에 함께 표시했습니다.</a:t>
            </a:r>
          </a:p>
          <a:p>
            <a:r>
              <a:t>왼쪽 2D 그림에서 진한 선은 지금까지 지나온 참값 궤적, 옅은 선은 앞으로 지나갈 궤적이고, 동그라미는 시작점입니다. 작은 점이 플롯과 클러터입니다. 표적 근처의 주황색 네모가 임시 트랙, 회색 네모가 삭제 트랙이며, 옆의 숫자는 트랙 ID입니다.</a:t>
            </a:r>
          </a:p>
          <a:p>
            <a:r>
              <a:t>오른쪽 3D 그림은 고도를 2배로 늘려 표시했습니다. 대공 표적 주변의 클러터와 플롯, 트랙을 함께 볼 수 있습니다.</a:t>
            </a:r>
          </a:p>
          <a:p>
            <a:r>
              <a:t>아래 기호는 화면 범례와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스캔을 확대해 트랙이 만들어지는 모습을 보겠습니다. 표적 2가 레이다 가까이 온 스캔 1154입니다.</a:t>
            </a:r>
          </a:p>
          <a:p>
            <a:r>
              <a:t>빨간 선이 참값 궤적이고, 흰 동그라미가 앞 스캔 1153의 플롯, 검은 점이 이번 스캔 1154의 플롯입니다.</a:t>
            </a:r>
          </a:p>
          <a:p>
            <a:r>
              <a:t>1번, 앞 스캔 플롯을 중심으로 반경 80미터의 속도 게이트를 둡니다. 최대 속도 800 m/s에 스캔 간격 0.1초를 곱한 값입니다.</a:t>
            </a:r>
          </a:p>
          <a:p>
            <a:r>
              <a:t>2번, 이번 스캔 플롯까지의 거리가 31미터로 게이트 안에 있으므로, 이 두 플롯으로 트랙 451을 개시합니다. 임시 상태, 점수 2로 시작합니다.</a:t>
            </a:r>
          </a:p>
          <a:p>
            <a:r>
              <a:t>3번, 트랙 위치는 이번 플롯 위치이고, 속도는 두 플롯 사이 거리 31미터를 0.1초로 나눈 약 310 m/s입니다. 참값 200 m/s와 차이가 나는 것은 플롯 위치에 측정 잡음이 있기 때문이고, 이 오차는 다음 과제의 추적 필터에서 줄여 나가게 됩니다.</a:t>
            </a:r>
          </a:p>
          <a:p>
            <a:r>
              <a:t>4번, 회색 네모 450은 두 스캔 전인 스캔 1152에 개시된 트랙입니다. 연관이 없어 점수가 2, 1, 0으로 내려가 이번 스캔에 삭제 상태가 되었습니다.</a:t>
            </a:r>
          </a:p>
          <a:p>
            <a:r>
              <a:t>오른쪽 아래 트랙 표에서도 451은 임시 상태에 점수 2, 450은 삭제 상태에 점수 0인 것을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생성 결과입니다.</a:t>
            </a:r>
          </a:p>
          <a:p>
            <a:r>
              <a:t>위쪽의 세로선 하나가 트랙 하나가 개시된 시각입니다. 표적 1에서 117개, 표적 2에서 235개, 클러터끼리 3개로 모두 355개의 트랙이 개시되었습니다.</a:t>
            </a:r>
          </a:p>
          <a:p>
            <a:r>
              <a:t>아래쪽은 스캔마다 트랙 표에 남아 있는 트랙 수입니다. 연관이 없어 모든 트랙의 TrackScore가 2, 1, 0으로 내려가고, 개시 두 스캔 뒤 삭제되므로 많아야 4개입니다.</a:t>
            </a:r>
          </a:p>
          <a:p>
            <a:r>
              <a:t>같은 이유로 시뮬레이션에서는 확정과 메모리 상태가 나타나지 않습니다. 이 두 상태는 오른쪽의 스코어 확인 창으로 확인했습니다.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시뮬레이션을 끝까지 실행한 화면입니다. 스캔 1159, 115.9초 시점입니다.</a:t>
            </a:r>
          </a:p>
          <a:p>
            <a:r>
              <a:t>왼쪽 2D 그림에서 빨간 선이 대공 표적, 파란 선이 대함 표적의 참값 궤적이고, 동그라미는 각 표적의 시작점입니다. 대공 표적은 위쪽에서 출발해 200 m/s로 S자 기동을 하며 내려오고, 대함 표적은 30 m/s로 움직이기 때문에 이동 거리가 짧습니다.</a:t>
            </a:r>
          </a:p>
          <a:p>
            <a:r>
              <a:t>궤적을 따라 이어진 점이 116초 동안 받은 표적 플롯이고, 넓게 퍼진 회색 점이 클러터입니다.</a:t>
            </a:r>
          </a:p>
          <a:p>
            <a:r>
              <a:t>오른쪽 3D 그림은 같은 결과를 고도까지 표시한 것입니다. 대공 표적은 고도 약 2,000미터에서, 대함 표적은 해수면 높이에서 움직입니다.</a:t>
            </a:r>
          </a:p>
          <a:p>
            <a:r>
              <a:t>주황색 네모 453과 454는 마지막 스캔 시점에 남아 있는 임시 트랙입니다.</a:t>
            </a:r>
          </a:p>
          <a:p>
            <a:r>
              <a:t>이렇게 116초 동안 받은 플롯으로 트랙 개시와 관리를 수행했습니다.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과제에서는 2-Point 트랙 개시와 트랙 스코어 방식의 트랙 관리를 구현했고, 플롯 메시지 송수신부터 화면 표시까지 동작을 확인했습니다.</a:t>
            </a:r>
          </a:p>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3" Type="http://schemas.openxmlformats.org/officeDocument/2006/relationships/notesSlide" Target="../notesSlides/notesSlide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정해 준 표준편차로 R 을 만들어 VC-NED 좌표로 바꿉니다.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10 m</a:t>
            </a:r>
          </a:p>
        </p:txBody>
      </p:sp>
      <p:sp>
        <p:nvSpPr>
          <p:cNvPr id="29" name="Rounded Rectangle 28"/>
          <p:cNvSpPr/>
          <p:nvPr/>
        </p:nvSpPr>
        <p:spPr>
          <a:xfrm>
            <a:off x="24688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4688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4688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2" name="Rounded Rectangle 31"/>
          <p:cNvSpPr/>
          <p:nvPr/>
        </p:nvSpPr>
        <p:spPr>
          <a:xfrm>
            <a:off x="42976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76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42976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5" name="Rounded Rectangle 34"/>
          <p:cNvSpPr/>
          <p:nvPr/>
        </p:nvSpPr>
        <p:spPr>
          <a:xfrm>
            <a:off x="640080" y="3118104"/>
            <a:ext cx="987552" cy="19202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2563EB"/>
                </a:solidFill>
                <a:latin typeface="맑은 고딕"/>
                <a:ea typeface="맑은 고딕"/>
              </a:rPr>
              <a:t>과제 5 지정값</a:t>
            </a:r>
          </a:p>
        </p:txBody>
      </p:sp>
      <p:sp>
        <p:nvSpPr>
          <p:cNvPr id="36" name="TextBox 35"/>
          <p:cNvSpPr txBox="1"/>
          <p:nvPr/>
        </p:nvSpPr>
        <p:spPr>
          <a:xfrm>
            <a:off x="1719072" y="3118104"/>
            <a:ext cx="4297680" cy="192024"/>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트랙 초기화 (초기 오차 공분산) 용 R 의 표준편차</a:t>
            </a:r>
          </a:p>
        </p:txBody>
      </p:sp>
      <p:sp>
        <p:nvSpPr>
          <p:cNvPr id="37" name="Rounded Rectangle 36"/>
          <p:cNvSpPr/>
          <p:nvPr/>
        </p:nvSpPr>
        <p:spPr>
          <a:xfrm>
            <a:off x="640080" y="3332988"/>
            <a:ext cx="987552" cy="192024"/>
          </a:xfrm>
          <a:prstGeom prst="roundRect">
            <a:avLst>
              <a:gd name="adj" fmla="val 25000"/>
            </a:avLst>
          </a:prstGeom>
          <a:solidFill>
            <a:srgbClr val="FFFFFF"/>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6B7280"/>
                </a:solidFill>
                <a:latin typeface="맑은 고딕"/>
                <a:ea typeface="맑은 고딕"/>
              </a:rPr>
              <a:t>과제 4 SNR</a:t>
            </a:r>
          </a:p>
        </p:txBody>
      </p:sp>
      <p:sp>
        <p:nvSpPr>
          <p:cNvPr id="38" name="TextBox 37"/>
          <p:cNvSpPr txBox="1"/>
          <p:nvPr/>
        </p:nvSpPr>
        <p:spPr>
          <a:xfrm>
            <a:off x="1719072" y="3332988"/>
            <a:ext cx="4297680" cy="192024"/>
          </a:xfrm>
          <a:prstGeom prst="rect">
            <a:avLst/>
          </a:prstGeom>
          <a:noFill/>
        </p:spPr>
        <p:txBody>
          <a:bodyPr wrap="square" lIns="0" rIns="0" tIns="0" bIns="0" anchor="ctr">
            <a:spAutoFit/>
          </a:bodyPr>
          <a:lstStyle/>
          <a:p>
            <a:pPr algn="l">
              <a:spcAft>
                <a:spcPts val="0"/>
              </a:spcAft>
            </a:pPr>
            <a:r>
              <a:rPr sz="1000" b="0" i="0">
                <a:solidFill>
                  <a:srgbClr val="4A5A7A"/>
                </a:solidFill>
                <a:latin typeface="맑은 고딕"/>
                <a:ea typeface="맑은 고딕"/>
              </a:rPr>
              <a:t>플롯 모의 잡음은 SNR 20 으로 계산: 4.74 m · 0.48° · 0.49° (R 과 별개)</a:t>
            </a:r>
          </a:p>
        </p:txBody>
      </p:sp>
      <p:sp>
        <p:nvSpPr>
          <p:cNvPr id="39" name="Rounded Rectangle 38"/>
          <p:cNvSpPr/>
          <p:nvPr/>
        </p:nvSpPr>
        <p:spPr>
          <a:xfrm>
            <a:off x="6263640" y="2286000"/>
            <a:ext cx="5285232" cy="1207008"/>
          </a:xfrm>
          <a:prstGeom prst="roundRect">
            <a:avLst>
              <a:gd name="adj" fmla="val 6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00800" y="2340864"/>
            <a:ext cx="5029200" cy="347472"/>
          </a:xfrm>
          <a:prstGeom prst="rect">
            <a:avLst/>
          </a:prstGeom>
          <a:noFill/>
        </p:spPr>
        <p:txBody>
          <a:bodyPr wrap="square" lIns="0" rIns="0" tIns="0" bIns="0" anchor="ctr">
            <a:spAutoFit/>
          </a:bodyPr>
          <a:lstStyle/>
          <a:p>
            <a:pPr algn="l">
              <a:spcAft>
                <a:spcPts val="0"/>
              </a:spcAft>
            </a:pPr>
            <a:r>
              <a:rPr sz="1400" b="1" i="0">
                <a:solidFill>
                  <a:srgbClr val="1B2740"/>
                </a:solidFill>
                <a:latin typeface="Cambria Math"/>
                <a:ea typeface="Cambria Math"/>
              </a:rPr>
              <a:t>R</a:t>
            </a:r>
            <a:r>
              <a:rPr sz="1400" b="1" i="0" baseline="-25000">
                <a:solidFill>
                  <a:srgbClr val="1B2740"/>
                </a:solidFill>
                <a:latin typeface="Cambria Math"/>
                <a:ea typeface="Cambria Math"/>
              </a:rPr>
              <a:t>NED</a:t>
            </a:r>
            <a:r>
              <a:rPr sz="1400" b="1" i="0">
                <a:solidFill>
                  <a:srgbClr val="1B2740"/>
                </a:solidFill>
                <a:latin typeface="Cambria Math"/>
                <a:ea typeface="Cambria Math"/>
              </a:rPr>
              <a:t> = </a:t>
            </a:r>
            <a:r>
              <a:rPr sz="1400" b="1" i="0">
                <a:solidFill>
                  <a:srgbClr val="059669"/>
                </a:solidFill>
                <a:latin typeface="Cambria Math"/>
                <a:ea typeface="Cambria Math"/>
              </a:rPr>
              <a:t>C</a:t>
            </a:r>
            <a:r>
              <a:rPr sz="1400" b="1" i="0">
                <a:solidFill>
                  <a:srgbClr val="2563EB"/>
                </a:solidFill>
                <a:latin typeface="Cambria Math"/>
                <a:ea typeface="Cambria Math"/>
              </a:rPr>
              <a:t> · diag( σ</a:t>
            </a:r>
            <a:r>
              <a:rPr sz="1400" b="1" i="0" baseline="-25000">
                <a:solidFill>
                  <a:srgbClr val="2563EB"/>
                </a:solidFill>
                <a:latin typeface="Cambria Math"/>
                <a:ea typeface="Cambria Math"/>
              </a:rPr>
              <a:t>r</a:t>
            </a:r>
            <a:r>
              <a:rPr sz="1400" b="1" i="0" baseline="30000">
                <a:solidFill>
                  <a:srgbClr val="2563EB"/>
                </a:solidFill>
                <a:latin typeface="Cambria Math"/>
                <a:ea typeface="Cambria Math"/>
              </a:rPr>
              <a:t>2</a:t>
            </a:r>
            <a:r>
              <a:rPr sz="1400" b="1" i="0">
                <a:solidFill>
                  <a:srgbClr val="2563EB"/>
                </a:solidFill>
                <a:latin typeface="Cambria Math"/>
                <a:ea typeface="Cambria Math"/>
              </a:rPr>
              <a:t>,  (r cos el · σ</a:t>
            </a:r>
            <a:r>
              <a:rPr sz="1400" b="1" i="0" baseline="-25000">
                <a:solidFill>
                  <a:srgbClr val="2563EB"/>
                </a:solidFill>
                <a:latin typeface="Cambria Math"/>
                <a:ea typeface="Cambria Math"/>
              </a:rPr>
              <a:t>az</a:t>
            </a:r>
            <a:r>
              <a:rPr sz="1400" b="1" i="0">
                <a:solidFill>
                  <a:srgbClr val="2563EB"/>
                </a:solidFill>
                <a:latin typeface="Cambria Math"/>
                <a:ea typeface="Cambria Math"/>
              </a:rPr>
              <a:t>)</a:t>
            </a:r>
            <a:r>
              <a:rPr sz="1400" b="1" i="0" baseline="30000">
                <a:solidFill>
                  <a:srgbClr val="2563EB"/>
                </a:solidFill>
                <a:latin typeface="Cambria Math"/>
                <a:ea typeface="Cambria Math"/>
              </a:rPr>
              <a:t>2</a:t>
            </a:r>
            <a:r>
              <a:rPr sz="1400" b="1" i="0">
                <a:solidFill>
                  <a:srgbClr val="2563EB"/>
                </a:solidFill>
                <a:latin typeface="Cambria Math"/>
                <a:ea typeface="Cambria Math"/>
              </a:rPr>
              <a:t>,  (r · σ</a:t>
            </a:r>
            <a:r>
              <a:rPr sz="1400" b="1" i="0" baseline="-25000">
                <a:solidFill>
                  <a:srgbClr val="2563EB"/>
                </a:solidFill>
                <a:latin typeface="Cambria Math"/>
                <a:ea typeface="Cambria Math"/>
              </a:rPr>
              <a:t>el</a:t>
            </a:r>
            <a:r>
              <a:rPr sz="1400" b="1" i="0">
                <a:solidFill>
                  <a:srgbClr val="2563EB"/>
                </a:solidFill>
                <a:latin typeface="Cambria Math"/>
                <a:ea typeface="Cambria Math"/>
              </a:rPr>
              <a:t>)</a:t>
            </a:r>
            <a:r>
              <a:rPr sz="1400" b="1" i="0" baseline="30000">
                <a:solidFill>
                  <a:srgbClr val="2563EB"/>
                </a:solidFill>
                <a:latin typeface="Cambria Math"/>
                <a:ea typeface="Cambria Math"/>
              </a:rPr>
              <a:t>2</a:t>
            </a:r>
            <a:r>
              <a:rPr sz="1400" b="1" i="0">
                <a:solidFill>
                  <a:srgbClr val="2563EB"/>
                </a:solidFill>
                <a:latin typeface="Cambria Math"/>
                <a:ea typeface="Cambria Math"/>
              </a:rPr>
              <a:t> ) · </a:t>
            </a:r>
            <a:r>
              <a:rPr sz="1400" b="1" i="0">
                <a:solidFill>
                  <a:srgbClr val="059669"/>
                </a:solidFill>
                <a:latin typeface="Cambria Math"/>
                <a:ea typeface="Cambria Math"/>
              </a:rPr>
              <a:t>C</a:t>
            </a:r>
            <a:r>
              <a:rPr sz="1400" b="1" i="0" baseline="30000">
                <a:solidFill>
                  <a:srgbClr val="059669"/>
                </a:solidFill>
                <a:latin typeface="Cambria Math"/>
                <a:ea typeface="Cambria Math"/>
              </a:rPr>
              <a:t>T</a:t>
            </a:r>
          </a:p>
        </p:txBody>
      </p:sp>
      <p:sp>
        <p:nvSpPr>
          <p:cNvPr id="41" name="Rounded Rectangle 40"/>
          <p:cNvSpPr/>
          <p:nvPr/>
        </p:nvSpPr>
        <p:spPr>
          <a:xfrm>
            <a:off x="6400800" y="2734056"/>
            <a:ext cx="841248" cy="21031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50" b="1" i="0">
                <a:solidFill>
                  <a:srgbClr val="2563EB"/>
                </a:solidFill>
                <a:latin typeface="맑은 고딕"/>
                <a:ea typeface="맑은 고딕"/>
              </a:rPr>
              <a:t>오차 크기</a:t>
            </a:r>
          </a:p>
        </p:txBody>
      </p:sp>
      <p:sp>
        <p:nvSpPr>
          <p:cNvPr id="42" name="TextBox 41"/>
          <p:cNvSpPr txBox="1"/>
          <p:nvPr/>
        </p:nvSpPr>
        <p:spPr>
          <a:xfrm>
            <a:off x="7333488" y="2734056"/>
            <a:ext cx="4160520" cy="210312"/>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레이다 시선 기준 거리 · 옆 · 위아래 오차. 각도 × 거리 = 미터</a:t>
            </a:r>
          </a:p>
        </p:txBody>
      </p:sp>
      <p:sp>
        <p:nvSpPr>
          <p:cNvPr id="43" name="Rounded Rectangle 42"/>
          <p:cNvSpPr/>
          <p:nvPr/>
        </p:nvSpPr>
        <p:spPr>
          <a:xfrm>
            <a:off x="6400800" y="2980944"/>
            <a:ext cx="841248" cy="21031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50" b="1" i="0">
                <a:solidFill>
                  <a:srgbClr val="059669"/>
                </a:solidFill>
                <a:latin typeface="맑은 고딕"/>
                <a:ea typeface="맑은 고딕"/>
              </a:rPr>
              <a:t>회전 C</a:t>
            </a:r>
          </a:p>
        </p:txBody>
      </p:sp>
      <p:sp>
        <p:nvSpPr>
          <p:cNvPr id="44" name="TextBox 43"/>
          <p:cNvSpPr txBox="1"/>
          <p:nvPr/>
        </p:nvSpPr>
        <p:spPr>
          <a:xfrm>
            <a:off x="7333488" y="2980944"/>
            <a:ext cx="4160520" cy="210312"/>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시선 기준 축 → 북 · 동 · 아래 축 (안테나 방향 + 플랫폼 자세)</a:t>
            </a:r>
          </a:p>
        </p:txBody>
      </p:sp>
      <p:sp>
        <p:nvSpPr>
          <p:cNvPr id="45" name="TextBox 44"/>
          <p:cNvSpPr txBox="1"/>
          <p:nvPr/>
        </p:nvSpPr>
        <p:spPr>
          <a:xfrm>
            <a:off x="6400800" y="3246120"/>
            <a:ext cx="5029200" cy="210312"/>
          </a:xfrm>
          <a:prstGeom prst="rect">
            <a:avLst/>
          </a:prstGeom>
          <a:noFill/>
        </p:spPr>
        <p:txBody>
          <a:bodyPr wrap="square" lIns="0" rIns="0" tIns="0" bIns="0" anchor="ctr">
            <a:spAutoFit/>
          </a:bodyPr>
          <a:lstStyle/>
          <a:p>
            <a:pPr algn="l">
              <a:spcAft>
                <a:spcPts val="0"/>
              </a:spcAft>
            </a:pPr>
            <a:r>
              <a:rPr sz="950" b="0" i="0">
                <a:solidFill>
                  <a:srgbClr val="4A5A7A"/>
                </a:solidFill>
                <a:latin typeface="맑은 고딕"/>
                <a:ea typeface="맑은 고딕"/>
              </a:rPr>
              <a:t>앞뒤로 C 를 곱하면 타원 모양은 그대로, 방향만 북 · 동 · 아래로 돌려 놓음</a:t>
            </a:r>
          </a:p>
        </p:txBody>
      </p:sp>
      <p:pic>
        <p:nvPicPr>
          <p:cNvPr id="46" name="Picture 45" descr="fig_rcov.png"/>
          <p:cNvPicPr>
            <a:picLocks noChangeAspect="1"/>
          </p:cNvPicPr>
          <p:nvPr/>
        </p:nvPicPr>
        <p:blipFill>
          <a:blip r:embed="rId4"/>
          <a:stretch>
            <a:fillRect/>
          </a:stretch>
        </p:blipFill>
        <p:spPr>
          <a:xfrm>
            <a:off x="640080" y="3611880"/>
            <a:ext cx="6949440" cy="2606040"/>
          </a:xfrm>
          <a:prstGeom prst="rect">
            <a:avLst/>
          </a:prstGeom>
        </p:spPr>
      </p:pic>
      <p:sp>
        <p:nvSpPr>
          <p:cNvPr id="47" name="TextBox 46"/>
          <p:cNvSpPr txBox="1"/>
          <p:nvPr/>
        </p:nvSpPr>
        <p:spPr>
          <a:xfrm>
            <a:off x="7818120" y="3703320"/>
            <a:ext cx="3749039"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R 이 뜻하는 것</a:t>
            </a:r>
          </a:p>
        </p:txBody>
      </p:sp>
      <p:sp>
        <p:nvSpPr>
          <p:cNvPr id="48" name="Oval 47"/>
          <p:cNvSpPr/>
          <p:nvPr/>
        </p:nvSpPr>
        <p:spPr>
          <a:xfrm>
            <a:off x="7818120" y="4059935"/>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9" name="TextBox 48"/>
          <p:cNvSpPr txBox="1"/>
          <p:nvPr/>
        </p:nvSpPr>
        <p:spPr>
          <a:xfrm>
            <a:off x="8202168" y="4041648"/>
            <a:ext cx="33649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R = 플롯이 흩어지는 정도</a:t>
            </a:r>
          </a:p>
          <a:p>
            <a:pPr algn="l">
              <a:spcAft>
                <a:spcPts val="100"/>
              </a:spcAft>
            </a:pPr>
            <a:r>
              <a:rPr sz="1050" b="0" i="0">
                <a:solidFill>
                  <a:srgbClr val="4A5A7A"/>
                </a:solidFill>
                <a:latin typeface="맑은 고딕"/>
                <a:ea typeface="맑은 고딕"/>
              </a:rPr>
              <a:t>같은 표적을 여러 번 잴 때 흩어지는 크기 · 모양</a:t>
            </a:r>
          </a:p>
        </p:txBody>
      </p:sp>
      <p:sp>
        <p:nvSpPr>
          <p:cNvPr id="50" name="Oval 49"/>
          <p:cNvSpPr/>
          <p:nvPr/>
        </p:nvSpPr>
        <p:spPr>
          <a:xfrm>
            <a:off x="7818120" y="4718303"/>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1" name="TextBox 50"/>
          <p:cNvSpPr txBox="1"/>
          <p:nvPr/>
        </p:nvSpPr>
        <p:spPr>
          <a:xfrm>
            <a:off x="8202168" y="4700016"/>
            <a:ext cx="3364991" cy="676656"/>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거리는 정확, 방향은 멀수록 퍼짐</a:t>
            </a:r>
          </a:p>
          <a:p>
            <a:pPr algn="l">
              <a:spcAft>
                <a:spcPts val="100"/>
              </a:spcAft>
            </a:pPr>
            <a:r>
              <a:rPr sz="1050" b="0" i="0">
                <a:solidFill>
                  <a:srgbClr val="4A5A7A"/>
                </a:solidFill>
                <a:latin typeface="맑은 고딕"/>
                <a:ea typeface="맑은 고딕"/>
              </a:rPr>
              <a:t>거리 방향: 10 m (어디서나 같음)</a:t>
            </a:r>
          </a:p>
          <a:p>
            <a:pPr algn="l">
              <a:spcAft>
                <a:spcPts val="100"/>
              </a:spcAft>
            </a:pPr>
            <a:r>
              <a:rPr sz="1050" b="0" i="0">
                <a:solidFill>
                  <a:srgbClr val="4A5A7A"/>
                </a:solidFill>
                <a:latin typeface="맑은 고딕"/>
                <a:ea typeface="맑은 고딕"/>
              </a:rPr>
              <a:t>옆 · 위아래: 거리 × 0.2° (14 km → 49 m)</a:t>
            </a:r>
          </a:p>
        </p:txBody>
      </p:sp>
      <p:sp>
        <p:nvSpPr>
          <p:cNvPr id="52" name="Oval 51"/>
          <p:cNvSpPr/>
          <p:nvPr/>
        </p:nvSpPr>
        <p:spPr>
          <a:xfrm>
            <a:off x="7818120" y="5577840"/>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3" name="TextBox 52"/>
          <p:cNvSpPr txBox="1"/>
          <p:nvPr/>
        </p:nvSpPr>
        <p:spPr>
          <a:xfrm>
            <a:off x="8202168" y="5559552"/>
            <a:ext cx="3364991"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그래서 옆으로 긴 타원, 플롯마다 계산</a:t>
            </a:r>
          </a:p>
          <a:p>
            <a:pPr algn="l">
              <a:spcAft>
                <a:spcPts val="100"/>
              </a:spcAft>
            </a:pPr>
            <a:r>
              <a:rPr sz="1050" b="0" i="0">
                <a:solidFill>
                  <a:srgbClr val="4A5A7A"/>
                </a:solidFill>
                <a:latin typeface="맑은 고딕"/>
                <a:ea typeface="맑은 고딕"/>
              </a:rPr>
              <a:t>거리 · 방향이 플롯마다 달라 R 도 다름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640080" y="2377440"/>
            <a:ext cx="7315200" cy="2514600"/>
          </a:xfrm>
          <a:prstGeom prst="rect">
            <a:avLst/>
          </a:prstGeom>
        </p:spPr>
      </p:pic>
      <p:sp>
        <p:nvSpPr>
          <p:cNvPr id="27" name="Rounded Rectangle 26"/>
          <p:cNvSpPr/>
          <p:nvPr/>
        </p:nvSpPr>
        <p:spPr>
          <a:xfrm>
            <a:off x="8183879" y="2286000"/>
            <a:ext cx="3364992" cy="3035808"/>
          </a:xfrm>
          <a:prstGeom prst="roundRect">
            <a:avLst>
              <a:gd name="adj" fmla="val 6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21040" y="2340864"/>
            <a:ext cx="310896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연관과 Assigned_Flag</a:t>
            </a:r>
          </a:p>
        </p:txBody>
      </p:sp>
      <p:pic>
        <p:nvPicPr>
          <p:cNvPr id="29" name="Picture 28" descr="fig_assoc.png"/>
          <p:cNvPicPr>
            <a:picLocks noChangeAspect="1"/>
          </p:cNvPicPr>
          <p:nvPr/>
        </p:nvPicPr>
        <p:blipFill>
          <a:blip r:embed="rId3"/>
          <a:stretch>
            <a:fillRect/>
          </a:stretch>
        </p:blipFill>
        <p:spPr>
          <a:xfrm>
            <a:off x="8229600" y="2651760"/>
            <a:ext cx="3273552" cy="1454912"/>
          </a:xfrm>
          <a:prstGeom prst="rect">
            <a:avLst/>
          </a:prstGeom>
        </p:spPr>
      </p:pic>
      <p:sp>
        <p:nvSpPr>
          <p:cNvPr id="30" name="TextBox 29"/>
          <p:cNvSpPr txBox="1"/>
          <p:nvPr/>
        </p:nvSpPr>
        <p:spPr>
          <a:xfrm>
            <a:off x="8321040" y="4160520"/>
            <a:ext cx="3127248" cy="1143000"/>
          </a:xfrm>
          <a:prstGeom prst="rect">
            <a:avLst/>
          </a:prstGeom>
          <a:noFill/>
        </p:spPr>
        <p:txBody>
          <a:bodyPr wrap="square" lIns="0" rIns="0" tIns="0" bIns="0" anchor="t">
            <a:spAutoFit/>
          </a:bodyPr>
          <a:lstStyle/>
          <a:p>
            <a:pPr algn="l">
              <a:spcAft>
                <a:spcPts val="300"/>
              </a:spcAft>
            </a:pPr>
            <a:r>
              <a:rPr sz="950" b="0" i="0">
                <a:solidFill>
                  <a:srgbClr val="1B2740"/>
                </a:solidFill>
                <a:latin typeface="맑은 고딕"/>
                <a:ea typeface="맑은 고딕"/>
              </a:rPr>
              <a:t>트랙 연관: 이번 스캔 플롯 가운데 기존 트랙에 이어지는 플롯을 찾아 붙이는 과정</a:t>
            </a:r>
          </a:p>
          <a:p>
            <a:pPr algn="l">
              <a:spcAft>
                <a:spcPts val="300"/>
              </a:spcAft>
            </a:pPr>
            <a:r>
              <a:rPr sz="950" b="0" i="0">
                <a:solidFill>
                  <a:srgbClr val="1B2740"/>
                </a:solidFill>
                <a:latin typeface="맑은 고딕"/>
                <a:ea typeface="맑은 고딕"/>
              </a:rPr>
              <a:t>트랙 위치 · 속도로 이번 위치를 예측하고, 그 주변 연관 게이트 안의 가장 가까운 플롯을 할당</a:t>
            </a:r>
          </a:p>
          <a:p>
            <a:pPr algn="l">
              <a:spcAft>
                <a:spcPts val="300"/>
              </a:spcAft>
            </a:pPr>
            <a:r>
              <a:rPr sz="950" b="0" i="0">
                <a:solidFill>
                  <a:srgbClr val="D97706"/>
                </a:solidFill>
                <a:latin typeface="맑은 고딕"/>
                <a:ea typeface="맑은 고딕"/>
              </a:rPr>
              <a:t>이번 과제는 연관 기능이 없어 항상 0</a:t>
            </a:r>
          </a:p>
        </p:txBody>
      </p:sp>
      <p:sp>
        <p:nvSpPr>
          <p:cNvPr id="31" name="Rounded Rectangle 30"/>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33" name="TextBox 32"/>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4" name="Rounded Rectangle 33"/>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6" name="TextBox 35"/>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7" name="Rounded Rectangle 36"/>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9" name="TextBox 38"/>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40" name="Rounded Rectangle 39"/>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42" name="TextBox 41"/>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넣었습니다. 코드마다 맡은 역할과 처리 순서, 계산 방법을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송수신 순서</a:t>
            </a:r>
          </a:p>
        </p:txBody>
      </p:sp>
      <p:cxnSp>
        <p:nvCxnSpPr>
          <p:cNvPr id="34" name="Connector 33"/>
          <p:cNvCxnSpPr/>
          <p:nvPr/>
        </p:nvCxnSpPr>
        <p:spPr>
          <a:xfrm>
            <a:off x="3570732" y="2720339"/>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 (f_Trk_ProcessScan)</a:t>
            </a:r>
          </a:p>
        </p:txBody>
      </p:sp>
      <p:cxnSp>
        <p:nvCxnSpPr>
          <p:cNvPr id="38" name="Connector 37"/>
          <p:cNvCxnSpPr/>
          <p:nvPr/>
        </p:nvCxnSpPr>
        <p:spPr>
          <a:xfrm>
            <a:off x="6108192" y="3127248"/>
            <a:ext cx="449884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90672"/>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0.1 s 마다 플랫폼 · 표적 위치 계산</a:t>
            </a:r>
          </a:p>
        </p:txBody>
      </p:sp>
      <p:sp>
        <p:nvSpPr>
          <p:cNvPr id="31" name="TextBox 30"/>
          <p:cNvSpPr txBox="1"/>
          <p:nvPr/>
        </p:nvSpPr>
        <p:spPr>
          <a:xfrm>
            <a:off x="914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TargetSim.c</a:t>
            </a:r>
          </a:p>
        </p:txBody>
      </p:sp>
      <p:sp>
        <p:nvSpPr>
          <p:cNvPr id="32" name="Rounded Rectangle 31"/>
          <p:cNvSpPr/>
          <p:nvPr/>
        </p:nvSpPr>
        <p:spPr>
          <a:xfrm>
            <a:off x="4343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43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4" name="TextBox 33"/>
          <p:cNvSpPr txBox="1"/>
          <p:nvPr/>
        </p:nvSpPr>
        <p:spPr>
          <a:xfrm>
            <a:off x="4343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표적 플롯 + 클러터 5 개 생성</a:t>
            </a:r>
          </a:p>
        </p:txBody>
      </p:sp>
      <p:sp>
        <p:nvSpPr>
          <p:cNvPr id="35" name="TextBox 34"/>
          <p:cNvSpPr txBox="1"/>
          <p:nvPr/>
        </p:nvSpPr>
        <p:spPr>
          <a:xfrm>
            <a:off x="4343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PlotSim.c</a:t>
            </a:r>
          </a:p>
        </p:txBody>
      </p:sp>
      <p:sp>
        <p:nvSpPr>
          <p:cNvPr id="36" name="Rounded Rectangle 35"/>
          <p:cNvSpPr/>
          <p:nvPr/>
        </p:nvSpPr>
        <p:spPr>
          <a:xfrm>
            <a:off x="7772400" y="2670048"/>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0" y="27432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8" name="TextBox 37"/>
          <p:cNvSpPr txBox="1"/>
          <p:nvPr/>
        </p:nvSpPr>
        <p:spPr>
          <a:xfrm>
            <a:off x="7772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스캔의 플롯을 메시지로 묶어 보냄</a:t>
            </a:r>
          </a:p>
        </p:txBody>
      </p:sp>
      <p:sp>
        <p:nvSpPr>
          <p:cNvPr id="39" name="TextBox 38"/>
          <p:cNvSpPr txBox="1"/>
          <p:nvPr/>
        </p:nvSpPr>
        <p:spPr>
          <a:xfrm>
            <a:off x="7772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0" name="Rounded Rectangle 39"/>
          <p:cNvSpPr/>
          <p:nvPr/>
        </p:nvSpPr>
        <p:spPr>
          <a:xfrm>
            <a:off x="7772400" y="4279392"/>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0" y="4352544"/>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42" name="TextBox 41"/>
          <p:cNvSpPr txBox="1"/>
          <p:nvPr/>
        </p:nvSpPr>
        <p:spPr>
          <a:xfrm>
            <a:off x="7772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좌표 변환, 플롯마다 R 계산</a:t>
            </a:r>
          </a:p>
        </p:txBody>
      </p:sp>
      <p:sp>
        <p:nvSpPr>
          <p:cNvPr id="43" name="TextBox 42"/>
          <p:cNvSpPr txBox="1"/>
          <p:nvPr/>
        </p:nvSpPr>
        <p:spPr>
          <a:xfrm>
            <a:off x="7772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4" name="Rounded Rectangle 43"/>
          <p:cNvSpPr/>
          <p:nvPr/>
        </p:nvSpPr>
        <p:spPr>
          <a:xfrm>
            <a:off x="4343400" y="4279392"/>
            <a:ext cx="3017520" cy="896112"/>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4352544"/>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6" name="TextBox 45"/>
          <p:cNvSpPr txBox="1"/>
          <p:nvPr/>
        </p:nvSpPr>
        <p:spPr>
          <a:xfrm>
            <a:off x="4343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트랙 표 갱신 (개시 · 상태 관리)</a:t>
            </a:r>
          </a:p>
        </p:txBody>
      </p:sp>
      <p:sp>
        <p:nvSpPr>
          <p:cNvPr id="47" name="TextBox 46"/>
          <p:cNvSpPr txBox="1"/>
          <p:nvPr/>
        </p:nvSpPr>
        <p:spPr>
          <a:xfrm>
            <a:off x="4343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TrackMgr.c</a:t>
            </a:r>
          </a:p>
        </p:txBody>
      </p:sp>
      <p:sp>
        <p:nvSpPr>
          <p:cNvPr id="48" name="Rounded Rectangle 47"/>
          <p:cNvSpPr/>
          <p:nvPr/>
        </p:nvSpPr>
        <p:spPr>
          <a:xfrm>
            <a:off x="914400" y="4279392"/>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4352544"/>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50" name="TextBox 49"/>
          <p:cNvSpPr txBox="1"/>
          <p:nvPr/>
        </p:nvSpPr>
        <p:spPr>
          <a:xfrm>
            <a:off x="914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플롯 · 트랙 결과 저장</a:t>
            </a:r>
          </a:p>
        </p:txBody>
      </p:sp>
      <p:sp>
        <p:nvSpPr>
          <p:cNvPr id="51" name="TextBox 50"/>
          <p:cNvSpPr txBox="1"/>
          <p:nvPr/>
        </p:nvSpPr>
        <p:spPr>
          <a:xfrm>
            <a:off x="914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cxnSp>
        <p:nvCxnSpPr>
          <p:cNvPr id="52" name="Connector 51"/>
          <p:cNvCxnSpPr/>
          <p:nvPr/>
        </p:nvCxnSpPr>
        <p:spPr>
          <a:xfrm>
            <a:off x="3950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79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379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950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1160" y="3584448"/>
            <a:ext cx="0" cy="676656"/>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390888" y="3712463"/>
            <a:ext cx="2103120" cy="45720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a:t>
            </a:r>
          </a:p>
          <a:p>
            <a:pPr algn="l">
              <a:spcAft>
                <a:spcPts val="0"/>
              </a:spcAft>
            </a:pPr>
            <a:r>
              <a:rPr sz="1000" b="1" i="0">
                <a:solidFill>
                  <a:srgbClr val="2563EB"/>
                </a:solidFill>
                <a:latin typeface="맑은 고딕"/>
                <a:ea typeface="맑은 고딕"/>
              </a:rPr>
              <a:t>스캔마다 메시지 1 개</a:t>
            </a:r>
          </a:p>
        </p:txBody>
      </p:sp>
      <p:cxnSp>
        <p:nvCxnSpPr>
          <p:cNvPr id="58" name="Connector 57"/>
          <p:cNvCxnSpPr/>
          <p:nvPr/>
        </p:nvCxnSpPr>
        <p:spPr>
          <a:xfrm>
            <a:off x="2423160" y="5193792"/>
            <a:ext cx="0" cy="32004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0080" y="5532120"/>
            <a:ext cx="10908792" cy="71323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68680" y="5568696"/>
            <a:ext cx="10515600" cy="658368"/>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 화면)</a:t>
            </a:r>
          </a:p>
          <a:p>
            <a:pPr algn="l">
              <a:spcAft>
                <a:spcPts val="0"/>
              </a:spcAft>
            </a:pPr>
            <a:r>
              <a:rPr sz="1050" b="0" i="0">
                <a:solidFill>
                  <a:srgbClr val="4A5A7A"/>
                </a:solidFill>
                <a:latin typeface="맑은 고딕"/>
                <a:ea typeface="맑은 고딕"/>
              </a:rPr>
              <a:t>결과 버퍼에서 처리된 스캔을 가져와  True · Plot · Clutter · Track 2D / 3D 그림,  지금 스캔의 트랙 표,  송수신 · 트랙 요약으로 보여 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송수신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송신 쓰레드는 스캔마다 플롯을 메시지 하나로 묶어 보내고, 수신 쓰레드는 받은 플롯을 트랙 계산에 쓸 수 있는 형태로 바꿔 넘깁니다.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86000"/>
            <a:ext cx="5486400" cy="274320"/>
          </a:xfrm>
          <a:prstGeom prst="rect">
            <a:avLst/>
          </a:prstGeom>
          <a:noFill/>
        </p:spPr>
        <p:txBody>
          <a:bodyPr wrap="square" lIns="0" rIns="0" tIns="0" bIns="0" anchor="t">
            <a:spAutoFit/>
          </a:bodyPr>
          <a:lstStyle/>
          <a:p>
            <a:pPr algn="l">
              <a:spcAft>
                <a:spcPts val="0"/>
              </a:spcAft>
            </a:pPr>
            <a:r>
              <a:rPr sz="1200" b="1" i="0">
                <a:solidFill>
                  <a:srgbClr val="2563EB"/>
                </a:solidFill>
                <a:latin typeface="맑은 고딕"/>
                <a:ea typeface="맑은 고딕"/>
              </a:rPr>
              <a:t>송신 쓰레드  (신호처리 역할)</a:t>
            </a:r>
            <a:r>
              <a:rPr sz="950" b="0" i="0">
                <a:solidFill>
                  <a:srgbClr val="8794AC"/>
                </a:solidFill>
                <a:latin typeface="Consolas"/>
                <a:ea typeface="Consolas"/>
              </a:rPr>
              <a:t>    PlotLink.c  f_Lnk_TxThread</a:t>
            </a:r>
          </a:p>
        </p:txBody>
      </p:sp>
      <p:sp>
        <p:nvSpPr>
          <p:cNvPr id="27" name="Rounded Rectangle 26"/>
          <p:cNvSpPr/>
          <p:nvPr/>
        </p:nvSpPr>
        <p:spPr>
          <a:xfrm>
            <a:off x="64008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19"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9" name="TextBox 28"/>
          <p:cNvSpPr txBox="1"/>
          <p:nvPr/>
        </p:nvSpPr>
        <p:spPr>
          <a:xfrm>
            <a:off x="102412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플롯 모으기</a:t>
            </a:r>
          </a:p>
        </p:txBody>
      </p:sp>
      <p:sp>
        <p:nvSpPr>
          <p:cNvPr id="30" name="TextBox 29"/>
          <p:cNvSpPr txBox="1"/>
          <p:nvPr/>
        </p:nvSpPr>
        <p:spPr>
          <a:xfrm>
            <a:off x="731519"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표적 플롯 2 + 클러터 5</a:t>
            </a:r>
          </a:p>
          <a:p>
            <a:pPr algn="l">
              <a:spcAft>
                <a:spcPts val="0"/>
              </a:spcAft>
            </a:pPr>
            <a:r>
              <a:rPr sz="980" b="0" i="0">
                <a:solidFill>
                  <a:srgbClr val="1B2740"/>
                </a:solidFill>
                <a:latin typeface="맑은 고딕"/>
                <a:ea typeface="맑은 고딕"/>
              </a:rPr>
              <a:t>방위각 순서로 섞음</a:t>
            </a:r>
          </a:p>
        </p:txBody>
      </p:sp>
      <p:sp>
        <p:nvSpPr>
          <p:cNvPr id="31" name="TextBox 30"/>
          <p:cNvSpPr txBox="1"/>
          <p:nvPr/>
        </p:nvSpPr>
        <p:spPr>
          <a:xfrm>
            <a:off x="731519"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2" name="Connector 31"/>
          <p:cNvCxnSpPr/>
          <p:nvPr/>
        </p:nvCxnSpPr>
        <p:spPr>
          <a:xfrm>
            <a:off x="293827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276599"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36804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5" name="TextBox 34"/>
          <p:cNvSpPr txBox="1"/>
          <p:nvPr/>
        </p:nvSpPr>
        <p:spPr>
          <a:xfrm>
            <a:off x="366064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메시지 만들기</a:t>
            </a:r>
          </a:p>
        </p:txBody>
      </p:sp>
      <p:sp>
        <p:nvSpPr>
          <p:cNvPr id="36" name="TextBox 35"/>
          <p:cNvSpPr txBox="1"/>
          <p:nvPr/>
        </p:nvSpPr>
        <p:spPr>
          <a:xfrm>
            <a:off x="336804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 ID 부여</a:t>
            </a:r>
          </a:p>
          <a:p>
            <a:pPr algn="l">
              <a:spcAft>
                <a:spcPts val="0"/>
              </a:spcAft>
            </a:pPr>
            <a:r>
              <a:rPr sz="980" b="0" i="0">
                <a:solidFill>
                  <a:srgbClr val="1B2740"/>
                </a:solidFill>
                <a:latin typeface="맑은 고딕"/>
                <a:ea typeface="맑은 고딕"/>
              </a:rPr>
              <a:t>거리 · 방위각 · 고각 + R σ</a:t>
            </a:r>
          </a:p>
        </p:txBody>
      </p:sp>
      <p:sp>
        <p:nvSpPr>
          <p:cNvPr id="37" name="TextBox 36"/>
          <p:cNvSpPr txBox="1"/>
          <p:nvPr/>
        </p:nvSpPr>
        <p:spPr>
          <a:xfrm>
            <a:off x="336804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8" name="Connector 37"/>
          <p:cNvCxnSpPr/>
          <p:nvPr/>
        </p:nvCxnSpPr>
        <p:spPr>
          <a:xfrm>
            <a:off x="557479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1312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00456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1" name="TextBox 40"/>
          <p:cNvSpPr txBox="1"/>
          <p:nvPr/>
        </p:nvSpPr>
        <p:spPr>
          <a:xfrm>
            <a:off x="6297168"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보내기</a:t>
            </a:r>
          </a:p>
        </p:txBody>
      </p:sp>
      <p:sp>
        <p:nvSpPr>
          <p:cNvPr id="42" name="TextBox 41"/>
          <p:cNvSpPr txBox="1"/>
          <p:nvPr/>
        </p:nvSpPr>
        <p:spPr>
          <a:xfrm>
            <a:off x="600456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스캔 순서대로</a:t>
            </a:r>
          </a:p>
          <a:p>
            <a:pPr algn="l">
              <a:spcAft>
                <a:spcPts val="0"/>
              </a:spcAft>
            </a:pPr>
            <a:r>
              <a:rPr sz="980" b="0" i="0">
                <a:solidFill>
                  <a:srgbClr val="1B2740"/>
                </a:solidFill>
                <a:latin typeface="맑은 고딕"/>
                <a:ea typeface="맑은 고딕"/>
              </a:rPr>
              <a:t>메시지 1 개씩 UDP 전송</a:t>
            </a:r>
          </a:p>
        </p:txBody>
      </p:sp>
      <p:sp>
        <p:nvSpPr>
          <p:cNvPr id="43" name="TextBox 42"/>
          <p:cNvSpPr txBox="1"/>
          <p:nvPr/>
        </p:nvSpPr>
        <p:spPr>
          <a:xfrm>
            <a:off x="600456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f_Lnk_TxThread</a:t>
            </a:r>
          </a:p>
        </p:txBody>
      </p:sp>
      <p:sp>
        <p:nvSpPr>
          <p:cNvPr id="44" name="TextBox 43"/>
          <p:cNvSpPr txBox="1"/>
          <p:nvPr/>
        </p:nvSpPr>
        <p:spPr>
          <a:xfrm>
            <a:off x="640080" y="4224528"/>
            <a:ext cx="5486400" cy="274320"/>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수신 쓰레드  (데이터 처리 역할)</a:t>
            </a:r>
            <a:r>
              <a:rPr sz="950" b="0" i="0">
                <a:solidFill>
                  <a:srgbClr val="8794AC"/>
                </a:solidFill>
                <a:latin typeface="Consolas"/>
                <a:ea typeface="Consolas"/>
              </a:rPr>
              <a:t>    PlotLink.c  f_Lnk_RxThread</a:t>
            </a:r>
          </a:p>
        </p:txBody>
      </p:sp>
      <p:sp>
        <p:nvSpPr>
          <p:cNvPr id="45" name="Rounded Rectangle 44"/>
          <p:cNvSpPr/>
          <p:nvPr/>
        </p:nvSpPr>
        <p:spPr>
          <a:xfrm>
            <a:off x="64008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3151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47" name="TextBox 46"/>
          <p:cNvSpPr txBox="1"/>
          <p:nvPr/>
        </p:nvSpPr>
        <p:spPr>
          <a:xfrm>
            <a:off x="102412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좌표 변환</a:t>
            </a:r>
          </a:p>
        </p:txBody>
      </p:sp>
      <p:sp>
        <p:nvSpPr>
          <p:cNvPr id="48" name="TextBox 47"/>
          <p:cNvSpPr txBox="1"/>
          <p:nvPr/>
        </p:nvSpPr>
        <p:spPr>
          <a:xfrm>
            <a:off x="73151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구좌표 →</a:t>
            </a:r>
          </a:p>
          <a:p>
            <a:pPr algn="l">
              <a:spcAft>
                <a:spcPts val="0"/>
              </a:spcAft>
            </a:pPr>
            <a:r>
              <a:rPr sz="980" b="0" i="0">
                <a:solidFill>
                  <a:srgbClr val="1B2740"/>
                </a:solidFill>
                <a:latin typeface="맑은 고딕"/>
                <a:ea typeface="맑은 고딕"/>
              </a:rPr>
              <a:t>VC-NED 직교 좌표</a:t>
            </a:r>
          </a:p>
        </p:txBody>
      </p:sp>
      <p:sp>
        <p:nvSpPr>
          <p:cNvPr id="49" name="TextBox 48"/>
          <p:cNvSpPr txBox="1"/>
          <p:nvPr/>
        </p:nvSpPr>
        <p:spPr>
          <a:xfrm>
            <a:off x="73151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f_Lnk_FillPlotCoord</a:t>
            </a:r>
          </a:p>
        </p:txBody>
      </p:sp>
      <p:cxnSp>
        <p:nvCxnSpPr>
          <p:cNvPr id="50" name="Connector 49"/>
          <p:cNvCxnSpPr/>
          <p:nvPr/>
        </p:nvCxnSpPr>
        <p:spPr>
          <a:xfrm>
            <a:off x="234772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594609"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68604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3" name="TextBox 52"/>
          <p:cNvSpPr txBox="1"/>
          <p:nvPr/>
        </p:nvSpPr>
        <p:spPr>
          <a:xfrm>
            <a:off x="297865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R 계산</a:t>
            </a:r>
          </a:p>
        </p:txBody>
      </p:sp>
      <p:sp>
        <p:nvSpPr>
          <p:cNvPr id="54" name="TextBox 53"/>
          <p:cNvSpPr txBox="1"/>
          <p:nvPr/>
        </p:nvSpPr>
        <p:spPr>
          <a:xfrm>
            <a:off x="268604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a:t>
            </a:r>
          </a:p>
          <a:p>
            <a:pPr algn="l">
              <a:spcAft>
                <a:spcPts val="0"/>
              </a:spcAft>
            </a:pPr>
            <a:r>
              <a:rPr sz="980" b="0" i="0">
                <a:solidFill>
                  <a:srgbClr val="1B2740"/>
                </a:solidFill>
                <a:latin typeface="맑은 고딕"/>
                <a:ea typeface="맑은 고딕"/>
              </a:rPr>
              <a:t>측정잡음 공분산</a:t>
            </a:r>
          </a:p>
        </p:txBody>
      </p:sp>
      <p:sp>
        <p:nvSpPr>
          <p:cNvPr id="55" name="TextBox 54"/>
          <p:cNvSpPr txBox="1"/>
          <p:nvPr/>
        </p:nvSpPr>
        <p:spPr>
          <a:xfrm>
            <a:off x="268604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f_Trk_MeasCov</a:t>
            </a:r>
          </a:p>
        </p:txBody>
      </p:sp>
      <p:cxnSp>
        <p:nvCxnSpPr>
          <p:cNvPr id="56" name="Connector 55"/>
          <p:cNvCxnSpPr/>
          <p:nvPr/>
        </p:nvCxnSpPr>
        <p:spPr>
          <a:xfrm>
            <a:off x="430225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454914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64057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6</a:t>
            </a:r>
          </a:p>
        </p:txBody>
      </p:sp>
      <p:sp>
        <p:nvSpPr>
          <p:cNvPr id="59" name="TextBox 58"/>
          <p:cNvSpPr txBox="1"/>
          <p:nvPr/>
        </p:nvSpPr>
        <p:spPr>
          <a:xfrm>
            <a:off x="493318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트랙 처리</a:t>
            </a:r>
          </a:p>
        </p:txBody>
      </p:sp>
      <p:sp>
        <p:nvSpPr>
          <p:cNvPr id="60" name="TextBox 59"/>
          <p:cNvSpPr txBox="1"/>
          <p:nvPr/>
        </p:nvSpPr>
        <p:spPr>
          <a:xfrm>
            <a:off x="464057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개시 · 상태 관리</a:t>
            </a:r>
          </a:p>
          <a:p>
            <a:pPr algn="l">
              <a:spcAft>
                <a:spcPts val="0"/>
              </a:spcAft>
            </a:pPr>
            <a:r>
              <a:rPr sz="980" b="0" i="0">
                <a:solidFill>
                  <a:srgbClr val="1B2740"/>
                </a:solidFill>
                <a:latin typeface="맑은 고딕"/>
                <a:ea typeface="맑은 고딕"/>
              </a:rPr>
              <a:t>(다음 장)</a:t>
            </a:r>
          </a:p>
        </p:txBody>
      </p:sp>
      <p:sp>
        <p:nvSpPr>
          <p:cNvPr id="61" name="TextBox 60"/>
          <p:cNvSpPr txBox="1"/>
          <p:nvPr/>
        </p:nvSpPr>
        <p:spPr>
          <a:xfrm>
            <a:off x="464057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f_Trk_ProcessScan</a:t>
            </a:r>
          </a:p>
        </p:txBody>
      </p:sp>
      <p:cxnSp>
        <p:nvCxnSpPr>
          <p:cNvPr id="62" name="Connector 61"/>
          <p:cNvCxnSpPr/>
          <p:nvPr/>
        </p:nvCxnSpPr>
        <p:spPr>
          <a:xfrm>
            <a:off x="6256782"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50367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9510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7</a:t>
            </a:r>
          </a:p>
        </p:txBody>
      </p:sp>
      <p:sp>
        <p:nvSpPr>
          <p:cNvPr id="65" name="TextBox 64"/>
          <p:cNvSpPr txBox="1"/>
          <p:nvPr/>
        </p:nvSpPr>
        <p:spPr>
          <a:xfrm>
            <a:off x="688771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결과 저장</a:t>
            </a:r>
          </a:p>
        </p:txBody>
      </p:sp>
      <p:sp>
        <p:nvSpPr>
          <p:cNvPr id="66" name="TextBox 65"/>
          <p:cNvSpPr txBox="1"/>
          <p:nvPr/>
        </p:nvSpPr>
        <p:spPr>
          <a:xfrm>
            <a:off x="659510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 · 트랙 표 저장</a:t>
            </a:r>
          </a:p>
          <a:p>
            <a:pPr algn="l">
              <a:spcAft>
                <a:spcPts val="0"/>
              </a:spcAft>
            </a:pPr>
            <a:r>
              <a:rPr sz="980" b="0" i="0">
                <a:solidFill>
                  <a:srgbClr val="1B2740"/>
                </a:solidFill>
                <a:latin typeface="맑은 고딕"/>
                <a:ea typeface="맑은 고딕"/>
              </a:rPr>
              <a:t>→ 화면이 가져감</a:t>
            </a:r>
          </a:p>
        </p:txBody>
      </p:sp>
      <p:sp>
        <p:nvSpPr>
          <p:cNvPr id="67" name="TextBox 66"/>
          <p:cNvSpPr txBox="1"/>
          <p:nvPr/>
        </p:nvSpPr>
        <p:spPr>
          <a:xfrm>
            <a:off x="659510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f_Lnk_ProcessMsg</a:t>
            </a:r>
          </a:p>
        </p:txBody>
      </p:sp>
      <p:cxnSp>
        <p:nvCxnSpPr>
          <p:cNvPr id="68" name="Connector 67"/>
          <p:cNvCxnSpPr/>
          <p:nvPr/>
        </p:nvCxnSpPr>
        <p:spPr>
          <a:xfrm>
            <a:off x="7048500" y="3657600"/>
            <a:ext cx="0" cy="402336"/>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38912" y="4059936"/>
            <a:ext cx="6609588"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38912" y="4059936"/>
            <a:ext cx="0" cy="1024128"/>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8912" y="5084064"/>
            <a:ext cx="18288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579620" y="3730752"/>
            <a:ext cx="2377440" cy="228600"/>
          </a:xfrm>
          <a:prstGeom prst="rect">
            <a:avLst/>
          </a:prstGeom>
          <a:noFill/>
        </p:spPr>
        <p:txBody>
          <a:bodyPr wrap="square" lIns="0" rIns="0" tIns="0" bIns="0" anchor="t">
            <a:spAutoFit/>
          </a:bodyPr>
          <a:lstStyle/>
          <a:p>
            <a:pPr algn="r">
              <a:spcAft>
                <a:spcPts val="0"/>
              </a:spcAft>
            </a:pPr>
            <a:r>
              <a:rPr sz="1000" b="1" i="0">
                <a:solidFill>
                  <a:srgbClr val="2563EB"/>
                </a:solidFill>
                <a:latin typeface="맑은 고딕"/>
                <a:ea typeface="맑은 고딕"/>
              </a:rPr>
              <a:t>UDP  (스캔마다 메시지 1 개)</a:t>
            </a:r>
          </a:p>
        </p:txBody>
      </p:sp>
      <p:sp>
        <p:nvSpPr>
          <p:cNvPr id="73" name="Rounded Rectangle 72"/>
          <p:cNvSpPr/>
          <p:nvPr/>
        </p:nvSpPr>
        <p:spPr>
          <a:xfrm>
            <a:off x="8549640" y="2286000"/>
            <a:ext cx="2999232" cy="352044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732519" y="2395728"/>
            <a:ext cx="2633472"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메시지 한 개에 담는 내용</a:t>
            </a:r>
          </a:p>
        </p:txBody>
      </p:sp>
      <p:sp>
        <p:nvSpPr>
          <p:cNvPr id="75" name="TextBox 74"/>
          <p:cNvSpPr txBox="1"/>
          <p:nvPr/>
        </p:nvSpPr>
        <p:spPr>
          <a:xfrm>
            <a:off x="8732519" y="2670048"/>
            <a:ext cx="2633472" cy="228600"/>
          </a:xfrm>
          <a:prstGeom prst="rect">
            <a:avLst/>
          </a:prstGeom>
          <a:noFill/>
        </p:spPr>
        <p:txBody>
          <a:bodyPr wrap="square" lIns="0" rIns="0" tIns="0" bIns="0" anchor="t">
            <a:spAutoFit/>
          </a:bodyPr>
          <a:lstStyle/>
          <a:p>
            <a:pPr algn="l">
              <a:spcAft>
                <a:spcPts val="0"/>
              </a:spcAft>
            </a:pPr>
            <a:r>
              <a:rPr sz="850" b="0" i="0">
                <a:solidFill>
                  <a:srgbClr val="8794AC"/>
                </a:solidFill>
                <a:latin typeface="Consolas"/>
                <a:ea typeface="Consolas"/>
              </a:rPr>
              <a:t>STRUCT_PlotMsg (Idd.h)</a:t>
            </a:r>
          </a:p>
        </p:txBody>
      </p:sp>
      <p:sp>
        <p:nvSpPr>
          <p:cNvPr id="76" name="Rectangle 75"/>
          <p:cNvSpPr/>
          <p:nvPr/>
        </p:nvSpPr>
        <p:spPr>
          <a:xfrm>
            <a:off x="8732519" y="30906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897112" y="30358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스캔 번호 · 시각</a:t>
            </a:r>
          </a:p>
        </p:txBody>
      </p:sp>
      <p:sp>
        <p:nvSpPr>
          <p:cNvPr id="78" name="Rectangle 77"/>
          <p:cNvSpPr/>
          <p:nvPr/>
        </p:nvSpPr>
        <p:spPr>
          <a:xfrm>
            <a:off x="8732519" y="350215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897112" y="344728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플랫폼 위치 · 자세</a:t>
            </a:r>
          </a:p>
          <a:p>
            <a:pPr algn="l">
              <a:spcAft>
                <a:spcPts val="0"/>
              </a:spcAft>
            </a:pPr>
            <a:r>
              <a:rPr sz="950" b="0" i="0">
                <a:solidFill>
                  <a:srgbClr val="4A5A7A"/>
                </a:solidFill>
                <a:latin typeface="맑은 고딕"/>
                <a:ea typeface="맑은 고딕"/>
              </a:rPr>
              <a:t>좌표 변환에 사용</a:t>
            </a:r>
          </a:p>
        </p:txBody>
      </p:sp>
      <p:sp>
        <p:nvSpPr>
          <p:cNvPr id="80" name="Rectangle 79"/>
          <p:cNvSpPr/>
          <p:nvPr/>
        </p:nvSpPr>
        <p:spPr>
          <a:xfrm>
            <a:off x="8732519" y="4096511"/>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897112" y="404164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R 표준편차</a:t>
            </a:r>
          </a:p>
          <a:p>
            <a:pPr algn="l">
              <a:spcAft>
                <a:spcPts val="0"/>
              </a:spcAft>
            </a:pPr>
            <a:r>
              <a:rPr sz="950" b="0" i="0">
                <a:solidFill>
                  <a:srgbClr val="4A5A7A"/>
                </a:solidFill>
                <a:latin typeface="맑은 고딕"/>
                <a:ea typeface="맑은 고딕"/>
              </a:rPr>
              <a:t>σr 10 m, σaz 0.2°, σel 0.2°</a:t>
            </a:r>
          </a:p>
        </p:txBody>
      </p:sp>
      <p:sp>
        <p:nvSpPr>
          <p:cNvPr id="82" name="Rectangle 81"/>
          <p:cNvSpPr/>
          <p:nvPr/>
        </p:nvSpPr>
        <p:spPr>
          <a:xfrm>
            <a:off x="8732519" y="46908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8897112" y="46360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플롯 7 개</a:t>
            </a:r>
          </a:p>
          <a:p>
            <a:pPr algn="l">
              <a:spcAft>
                <a:spcPts val="0"/>
              </a:spcAft>
            </a:pPr>
            <a:r>
              <a:rPr sz="950" b="0" i="0">
                <a:solidFill>
                  <a:srgbClr val="4A5A7A"/>
                </a:solidFill>
                <a:latin typeface="맑은 고딕"/>
                <a:ea typeface="맑은 고딕"/>
              </a:rPr>
              <a:t>플롯 ID (10000 ~ 1000000)</a:t>
            </a:r>
          </a:p>
          <a:p>
            <a:pPr algn="l">
              <a:spcAft>
                <a:spcPts val="0"/>
              </a:spcAft>
            </a:pPr>
            <a:r>
              <a:rPr sz="950" b="0" i="0">
                <a:solidFill>
                  <a:srgbClr val="4A5A7A"/>
                </a:solidFill>
                <a:latin typeface="맑은 고딕"/>
                <a:ea typeface="맑은 고딕"/>
              </a:rPr>
              <a:t>거리 · 방위각 · 고각</a:t>
            </a:r>
          </a:p>
        </p:txBody>
      </p:sp>
      <p:sp>
        <p:nvSpPr>
          <p:cNvPr id="84" name="TextBox 83"/>
          <p:cNvSpPr txBox="1"/>
          <p:nvPr/>
        </p:nvSpPr>
        <p:spPr>
          <a:xfrm>
            <a:off x="8732519" y="5413248"/>
            <a:ext cx="2633472" cy="274320"/>
          </a:xfrm>
          <a:prstGeom prst="rect">
            <a:avLst/>
          </a:prstGeom>
          <a:noFill/>
        </p:spPr>
        <p:txBody>
          <a:bodyPr wrap="square" lIns="0" rIns="0" tIns="0" bIns="0" anchor="t">
            <a:spAutoFit/>
          </a:bodyPr>
          <a:lstStyle/>
          <a:p>
            <a:pPr algn="l">
              <a:spcAft>
                <a:spcPts val="0"/>
              </a:spcAft>
            </a:pPr>
            <a:r>
              <a:rPr sz="950" b="1" i="0">
                <a:solidFill>
                  <a:srgbClr val="D97706"/>
                </a:solidFill>
                <a:latin typeface="맑은 고딕"/>
                <a:ea typeface="맑은 고딕"/>
              </a:rPr>
              <a:t>표적 / 클러터 구분 정보는 넣지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수신 쓰레드가 메시지를 받을 때마다 f_Trk_ProcessScan 이 아래 네 단계를 차례로 수행합니다. 트랙 변수 이름은 과제 명세 그대로입니다.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29" name="TextBox 28"/>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0" name="Rectangle 29"/>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32" name="Rounded Rectangle 31"/>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34" name="TextBox 33"/>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35" name="TextBox 34"/>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스캔에서 삭제 (4) 가 된 트랙을</a:t>
            </a:r>
          </a:p>
          <a:p>
            <a:pPr algn="l">
              <a:spcAft>
                <a:spcPts val="0"/>
              </a:spcAft>
            </a:pPr>
            <a:r>
              <a:rPr sz="1000" b="0" i="0">
                <a:solidFill>
                  <a:srgbClr val="4A5A7A"/>
                </a:solidFill>
                <a:latin typeface="맑은 고딕"/>
                <a:ea typeface="맑은 고딕"/>
              </a:rPr>
              <a:t>트랙 표에서 지움</a:t>
            </a:r>
          </a:p>
        </p:txBody>
      </p:sp>
      <p:sp>
        <p:nvSpPr>
          <p:cNvPr id="36" name="Rounded Rectangle 35"/>
          <p:cNvSpPr/>
          <p:nvPr/>
        </p:nvSpPr>
        <p:spPr>
          <a:xfrm>
            <a:off x="6720840" y="3273552"/>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38" name="TextBox 37"/>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  3.5</a:t>
            </a:r>
          </a:p>
        </p:txBody>
      </p:sp>
      <p:sp>
        <p:nvSpPr>
          <p:cNvPr id="39" name="TextBox 38"/>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모든 트랙에 Assigned_Flag = 0 (연관 기능 없음)</a:t>
            </a:r>
          </a:p>
          <a:p>
            <a:pPr algn="l">
              <a:spcAft>
                <a:spcPts val="0"/>
              </a:spcAft>
            </a:pPr>
            <a:r>
              <a:rPr sz="1000" b="0" i="0">
                <a:solidFill>
                  <a:srgbClr val="4A5A7A"/>
                </a:solidFill>
                <a:latin typeface="맑은 고딕"/>
                <a:ea typeface="맑은 고딕"/>
              </a:rPr>
              <a:t>스코어 로직으로 상태 갱신</a:t>
            </a:r>
          </a:p>
        </p:txBody>
      </p:sp>
      <p:sp>
        <p:nvSpPr>
          <p:cNvPr id="40" name="Rounded Rectangle 39"/>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42" name="TextBox 41"/>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  →  3.4</a:t>
            </a:r>
          </a:p>
        </p:txBody>
      </p:sp>
      <p:sp>
        <p:nvSpPr>
          <p:cNvPr id="43" name="TextBox 42"/>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 이번 스캔 플롯 쌍 중 속도 게이트 통과 쌍으로</a:t>
            </a:r>
          </a:p>
          <a:p>
            <a:pPr algn="l">
              <a:spcAft>
                <a:spcPts val="0"/>
              </a:spcAft>
            </a:pPr>
            <a:r>
              <a:rPr sz="1000" b="0" i="0">
                <a:solidFill>
                  <a:srgbClr val="4A5A7A"/>
                </a:solidFill>
                <a:latin typeface="맑은 고딕"/>
                <a:ea typeface="맑은 고딕"/>
              </a:rPr>
              <a:t>가까운 쌍부터 새 트랙 생성, 트랙 ID 부여</a:t>
            </a:r>
          </a:p>
        </p:txBody>
      </p:sp>
      <p:sp>
        <p:nvSpPr>
          <p:cNvPr id="44" name="Rounded Rectangle 43"/>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46" name="TextBox 45"/>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47" name="TextBox 46"/>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스캔의 개시 후보로 보관</a:t>
            </a:r>
          </a:p>
          <a:p>
            <a:pPr algn="l">
              <a:spcAft>
                <a:spcPts val="0"/>
              </a:spcAft>
            </a:pPr>
            <a:r>
              <a:rPr sz="1000" b="0" i="0">
                <a:solidFill>
                  <a:srgbClr val="4A5A7A"/>
                </a:solidFill>
                <a:latin typeface="맑은 고딕"/>
                <a:ea typeface="맑은 고딕"/>
              </a:rPr>
              <a:t>(트랙을 만드는 데 쓴 플롯은 제외)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두 플롯으로 트랙의 첫 상태 mat_EstX 와 오차 공분산 mat_EstP 를 채웁니다. 시간 차를 구한 뒤 x · y · z 축마다 같은 계산을 반복합니다.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(과제 조건)</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위치 · 위치-속도 · 속도 칸, 가속도 칸은 0</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a:t>
            </a:r>
          </a:p>
          <a:p>
            <a:pPr algn="l">
              <a:spcAft>
                <a:spcPts val="100"/>
              </a:spcAft>
            </a:pPr>
            <a:r>
              <a:rPr sz="1050" b="0" i="0">
                <a:solidFill>
                  <a:srgbClr val="4A5A7A"/>
                </a:solidFill>
                <a:latin typeface="맑은 고딕"/>
                <a:ea typeface="맑은 고딕"/>
              </a:rPr>
              <a:t>이 값으로 플롯마다 R 계산 (1.4 의 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트랙마다 매 스캔 한 번 불려, 현재 상태와 연관 결과 (Assigned_Flag) 에 따라 점수와 상태를 바꿉니다. 과제 2.2 규칙을 그대로 옮겼습니다.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트랙 개시 · 관리 동작을 확인합니다.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(스캔 701)</a:t>
            </a:r>
          </a:p>
        </p:txBody>
      </p:sp>
      <p:cxnSp>
        <p:nvCxnSpPr>
          <p:cNvPr id="34" name="Connector 33"/>
          <p:cNvCxnSpPr/>
          <p:nvPr/>
        </p:nvCxnSpPr>
        <p:spPr>
          <a:xfrm>
            <a:off x="5276088" y="2720339"/>
            <a:ext cx="533095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궤적 (시뮬레이션 마지막 화면)</a:t>
            </a:r>
          </a:p>
        </p:txBody>
      </p:sp>
      <p:cxnSp>
        <p:nvCxnSpPr>
          <p:cNvPr id="46" name="Connector 45"/>
          <p:cNvCxnSpPr/>
          <p:nvPr/>
        </p:nvCxnSpPr>
        <p:spPr>
          <a:xfrm>
            <a:off x="4553712" y="3941063"/>
            <a:ext cx="605332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pic>
        <p:nvPicPr>
          <p:cNvPr id="50" name="Picture 49"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
        <p:nvSpPr>
          <p:cNvPr id="51" name="TextBox 50"/>
          <p:cNvSpPr txBox="1"/>
          <p:nvPr/>
        </p:nvSpPr>
        <p:spPr>
          <a:xfrm>
            <a:off x="4892040" y="6236208"/>
            <a:ext cx="6656832" cy="228600"/>
          </a:xfrm>
          <a:prstGeom prst="rect">
            <a:avLst/>
          </a:prstGeom>
          <a:noFill/>
        </p:spPr>
        <p:txBody>
          <a:bodyPr wrap="square" lIns="0" rIns="0" tIns="0" bIns="0" anchor="t">
            <a:spAutoFit/>
          </a:bodyPr>
          <a:lstStyle/>
          <a:p>
            <a:pPr algn="l">
              <a:spcAft>
                <a:spcPts val="0"/>
              </a:spcAft>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(스캔 701)</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701 (70.1 s) 화면. 참값 궤적, 지금까지의 플롯 · 클러터, 지금 스캔의 트랙 심볼을 한 그림에 겹쳐 그립니다.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 끌어서 회전</a:t>
            </a:r>
          </a:p>
        </p:txBody>
      </p:sp>
      <p:sp>
        <p:nvSpPr>
          <p:cNvPr id="30" name="TextBox 29"/>
          <p:cNvSpPr txBox="1"/>
          <p:nvPr/>
        </p:nvSpPr>
        <p:spPr>
          <a:xfrm>
            <a:off x="640080" y="5998464"/>
            <a:ext cx="2057400"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참값 궤적 · ○ 시작점</a:t>
            </a:r>
          </a:p>
        </p:txBody>
      </p:sp>
      <p:sp>
        <p:nvSpPr>
          <p:cNvPr id="31" name="TextBox 30"/>
          <p:cNvSpPr txBox="1"/>
          <p:nvPr/>
        </p:nvSpPr>
        <p:spPr>
          <a:xfrm>
            <a:off x="2697480" y="5998464"/>
            <a:ext cx="2414015"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 (큰 점 = 지금 스캔)</a:t>
            </a:r>
          </a:p>
        </p:txBody>
      </p:sp>
      <p:sp>
        <p:nvSpPr>
          <p:cNvPr id="32" name="TextBox 31"/>
          <p:cNvSpPr txBox="1"/>
          <p:nvPr/>
        </p:nvSpPr>
        <p:spPr>
          <a:xfrm>
            <a:off x="5111496" y="5998464"/>
            <a:ext cx="868680"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3" name="TextBox 32"/>
          <p:cNvSpPr txBox="1"/>
          <p:nvPr/>
        </p:nvSpPr>
        <p:spPr>
          <a:xfrm>
            <a:off x="5980176" y="5998464"/>
            <a:ext cx="749808"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a:t>
            </a:r>
          </a:p>
        </p:txBody>
      </p:sp>
      <p:sp>
        <p:nvSpPr>
          <p:cNvPr id="34" name="TextBox 33"/>
          <p:cNvSpPr txBox="1"/>
          <p:nvPr/>
        </p:nvSpPr>
        <p:spPr>
          <a:xfrm>
            <a:off x="6729984" y="5998464"/>
            <a:ext cx="749808" cy="237744"/>
          </a:xfrm>
          <a:prstGeom prst="rect">
            <a:avLst/>
          </a:prstGeom>
          <a:noFill/>
        </p:spPr>
        <p:txBody>
          <a:bodyPr wrap="square" lIns="0" rIns="0" tIns="0" bIns="0" anchor="t">
            <a:spAutoFit/>
          </a:bodyPr>
          <a:lstStyle/>
          <a:p>
            <a:pPr algn="l">
              <a:spcAft>
                <a:spcPts val="0"/>
              </a:spcAft>
            </a:pPr>
            <a:r>
              <a:rPr sz="1050" b="1" i="0">
                <a:solidFill>
                  <a:srgbClr val="059669"/>
                </a:solidFill>
                <a:latin typeface="맑은 고딕"/>
                <a:ea typeface="맑은 고딕"/>
              </a:rPr>
              <a:t>■ 확정</a:t>
            </a:r>
          </a:p>
        </p:txBody>
      </p:sp>
      <p:sp>
        <p:nvSpPr>
          <p:cNvPr id="35" name="TextBox 34"/>
          <p:cNvSpPr txBox="1"/>
          <p:nvPr/>
        </p:nvSpPr>
        <p:spPr>
          <a:xfrm>
            <a:off x="7479792" y="5998464"/>
            <a:ext cx="868680" cy="237744"/>
          </a:xfrm>
          <a:prstGeom prst="rect">
            <a:avLst/>
          </a:prstGeom>
          <a:noFill/>
        </p:spPr>
        <p:txBody>
          <a:bodyPr wrap="square" lIns="0" rIns="0" tIns="0" bIns="0" anchor="t">
            <a:spAutoFit/>
          </a:bodyPr>
          <a:lstStyle/>
          <a:p>
            <a:pPr algn="l">
              <a:spcAft>
                <a:spcPts val="0"/>
              </a:spcAft>
            </a:pPr>
            <a:r>
              <a:rPr sz="1050" b="1" i="0">
                <a:solidFill>
                  <a:srgbClr val="7C3AED"/>
                </a:solidFill>
                <a:latin typeface="맑은 고딕"/>
                <a:ea typeface="맑은 고딕"/>
              </a:rPr>
              <a:t>⬚ 메모리</a:t>
            </a:r>
          </a:p>
        </p:txBody>
      </p:sp>
      <p:sp>
        <p:nvSpPr>
          <p:cNvPr id="36" name="TextBox 35"/>
          <p:cNvSpPr txBox="1"/>
          <p:nvPr/>
        </p:nvSpPr>
        <p:spPr>
          <a:xfrm>
            <a:off x="8348471" y="5998464"/>
            <a:ext cx="749808"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삭제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 (스캔 1154)</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표적 2 가 레이다 가까이 온 스캔 1154 를 확대했습니다. 두 스캔의 플롯이 게이트 안이면 트랙을 만들고, 연관이 없는 트랙은 두 스캔 뒤 삭제됩니다.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2"/>
          <a:stretch>
            <a:fillRect/>
          </a:stretch>
        </p:blipFill>
        <p:spPr>
          <a:xfrm>
            <a:off x="566928" y="2194560"/>
            <a:ext cx="6035040" cy="3926910"/>
          </a:xfrm>
          <a:prstGeom prst="rect">
            <a:avLst/>
          </a:prstGeom>
        </p:spPr>
      </p:pic>
      <p:sp>
        <p:nvSpPr>
          <p:cNvPr id="27" name="Oval 26"/>
          <p:cNvSpPr/>
          <p:nvPr/>
        </p:nvSpPr>
        <p:spPr>
          <a:xfrm>
            <a:off x="69037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8" name="TextBox 27"/>
          <p:cNvSpPr txBox="1"/>
          <p:nvPr/>
        </p:nvSpPr>
        <p:spPr>
          <a:xfrm>
            <a:off x="7287768" y="228600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게이트: 앞 스캔 플롯에서 반경 80 m</a:t>
            </a:r>
          </a:p>
          <a:p>
            <a:pPr algn="l">
              <a:spcAft>
                <a:spcPts val="100"/>
              </a:spcAft>
            </a:pPr>
            <a:r>
              <a:rPr sz="1050" b="0" i="0">
                <a:solidFill>
                  <a:srgbClr val="4A5A7A"/>
                </a:solidFill>
                <a:latin typeface="맑은 고딕"/>
                <a:ea typeface="맑은 고딕"/>
              </a:rPr>
              <a:t>최대 속도 800 m/s × 스캔 간격 0.1 s</a:t>
            </a:r>
          </a:p>
        </p:txBody>
      </p:sp>
      <p:sp>
        <p:nvSpPr>
          <p:cNvPr id="29" name="Oval 28"/>
          <p:cNvSpPr/>
          <p:nvPr/>
        </p:nvSpPr>
        <p:spPr>
          <a:xfrm>
            <a:off x="6903720" y="2898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0" name="TextBox 29"/>
          <p:cNvSpPr txBox="1"/>
          <p:nvPr/>
        </p:nvSpPr>
        <p:spPr>
          <a:xfrm>
            <a:off x="7287768" y="288036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이번 스캔 플롯까지 31 m → 게이트 안</a:t>
            </a:r>
          </a:p>
          <a:p>
            <a:pPr algn="l">
              <a:spcAft>
                <a:spcPts val="100"/>
              </a:spcAft>
            </a:pPr>
            <a:r>
              <a:rPr sz="1050" b="0" i="0">
                <a:solidFill>
                  <a:srgbClr val="4A5A7A"/>
                </a:solidFill>
                <a:latin typeface="맑은 고딕"/>
                <a:ea typeface="맑은 고딕"/>
              </a:rPr>
              <a:t>이 두 플롯으로 트랙 451 개시 (임시, 점수 2)</a:t>
            </a:r>
          </a:p>
        </p:txBody>
      </p:sp>
      <p:sp>
        <p:nvSpPr>
          <p:cNvPr id="31" name="Oval 30"/>
          <p:cNvSpPr/>
          <p:nvPr/>
        </p:nvSpPr>
        <p:spPr>
          <a:xfrm>
            <a:off x="6903720" y="349300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2" name="TextBox 31"/>
          <p:cNvSpPr txBox="1"/>
          <p:nvPr/>
        </p:nvSpPr>
        <p:spPr>
          <a:xfrm>
            <a:off x="7287768" y="347472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속도 = 31 m ÷ 0.1 s ≈ 310 m/s</a:t>
            </a:r>
          </a:p>
          <a:p>
            <a:pPr algn="l">
              <a:spcAft>
                <a:spcPts val="100"/>
              </a:spcAft>
            </a:pPr>
            <a:r>
              <a:rPr sz="1050" b="0" i="0">
                <a:solidFill>
                  <a:srgbClr val="4A5A7A"/>
                </a:solidFill>
                <a:latin typeface="맑은 고딕"/>
                <a:ea typeface="맑은 고딕"/>
              </a:rPr>
              <a:t>플롯의 측정 잡음 때문에 참값 200 m/s 와 차이가 남</a:t>
            </a:r>
          </a:p>
        </p:txBody>
      </p:sp>
      <p:sp>
        <p:nvSpPr>
          <p:cNvPr id="33" name="Oval 32"/>
          <p:cNvSpPr/>
          <p:nvPr/>
        </p:nvSpPr>
        <p:spPr>
          <a:xfrm>
            <a:off x="6903720" y="40873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34" name="TextBox 33"/>
          <p:cNvSpPr txBox="1"/>
          <p:nvPr/>
        </p:nvSpPr>
        <p:spPr>
          <a:xfrm>
            <a:off x="7287768" y="406908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트랙 450: 두 스캔 전 (스캔 1152) 에 개시</a:t>
            </a:r>
          </a:p>
          <a:p>
            <a:pPr algn="l">
              <a:spcAft>
                <a:spcPts val="100"/>
              </a:spcAft>
            </a:pPr>
            <a:r>
              <a:rPr sz="1050" b="0" i="0">
                <a:solidFill>
                  <a:srgbClr val="4A5A7A"/>
                </a:solidFill>
                <a:latin typeface="맑은 고딕"/>
                <a:ea typeface="맑은 고딕"/>
              </a:rPr>
              <a:t>연관이 없어 점수 2 → 1 → 0, 이번 스캔에 삭제</a:t>
            </a:r>
          </a:p>
        </p:txBody>
      </p:sp>
      <p:sp>
        <p:nvSpPr>
          <p:cNvPr id="35" name="TextBox 34"/>
          <p:cNvSpPr txBox="1"/>
          <p:nvPr/>
        </p:nvSpPr>
        <p:spPr>
          <a:xfrm>
            <a:off x="6903720" y="4864608"/>
            <a:ext cx="4645152" cy="256032"/>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스캔 1154 의 트랙 표</a:t>
            </a:r>
          </a:p>
        </p:txBody>
      </p:sp>
      <p:graphicFrame>
        <p:nvGraphicFramePr>
          <p:cNvPr id="36" name="Table 35"/>
          <p:cNvGraphicFramePr>
            <a:graphicFrameLocks noGrp="1"/>
          </p:cNvGraphicFramePr>
          <p:nvPr/>
        </p:nvGraphicFramePr>
        <p:xfrm>
          <a:off x="6903720" y="5138928"/>
          <a:ext cx="4645152" cy="822960"/>
        </p:xfrm>
        <a:graphic>
          <a:graphicData uri="http://schemas.openxmlformats.org/drawingml/2006/table">
            <a:tbl>
              <a:tblPr firstRow="0" bandRow="0">
                <a:tableStyleId>{5C22544A-7EE6-4342-B048-85BDC9FD1C3A}</a:tableStyleId>
              </a:tblPr>
              <a:tblGrid>
                <a:gridCol w="731520"/>
                <a:gridCol w="1005840"/>
                <a:gridCol w="914400"/>
                <a:gridCol w="1078992"/>
                <a:gridCol w="914400"/>
              </a:tblGrid>
              <a:tr h="274320">
                <a:tc>
                  <a:txBody>
                    <a:bodyPr/>
                    <a:lstStyle/>
                    <a:p>
                      <a:pPr algn="ctr"/>
                      <a:r>
                        <a:rPr sz="1000" b="1" i="0">
                          <a:solidFill>
                            <a:srgbClr val="FFFFFF"/>
                          </a:solidFill>
                          <a:latin typeface="맑은 고딕"/>
                          <a:ea typeface="맑은 고딕"/>
                        </a:rPr>
                        <a:t>트랙 ID</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TrackState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TrackScore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Assigned_Flag</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개시 스캔</a:t>
                      </a:r>
                    </a:p>
                  </a:txBody>
                  <a:tcPr marL="54864" marR="54864" marT="9144" marB="9144" anchor="ctr">
                    <a:solidFill>
                      <a:srgbClr val="1B2740"/>
                    </a:solidFill>
                  </a:tcPr>
                </a:tc>
              </a:tr>
              <a:tr h="274320">
                <a:tc>
                  <a:txBody>
                    <a:bodyPr/>
                    <a:lstStyle/>
                    <a:p>
                      <a:pPr algn="ctr"/>
                      <a:r>
                        <a:rPr sz="1000" b="1" i="0">
                          <a:solidFill>
                            <a:srgbClr val="D97706"/>
                          </a:solidFill>
                          <a:latin typeface="맑은 고딕"/>
                          <a:ea typeface="맑은 고딕"/>
                        </a:rPr>
                        <a:t>451</a:t>
                      </a:r>
                    </a:p>
                  </a:txBody>
                  <a:tcPr marL="54864" marR="54864" marT="9144" marB="9144" anchor="ctr">
                    <a:solidFill>
                      <a:srgbClr val="FEF5E7"/>
                    </a:solidFill>
                  </a:tcPr>
                </a:tc>
                <a:tc>
                  <a:txBody>
                    <a:bodyPr/>
                    <a:lstStyle/>
                    <a:p>
                      <a:pPr algn="ctr"/>
                      <a:r>
                        <a:rPr sz="1000" b="1" i="0">
                          <a:solidFill>
                            <a:srgbClr val="D97706"/>
                          </a:solidFill>
                          <a:latin typeface="맑은 고딕"/>
                          <a:ea typeface="맑은 고딕"/>
                        </a:rPr>
                        <a:t>1 임시</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2</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0</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1154</a:t>
                      </a:r>
                    </a:p>
                  </a:txBody>
                  <a:tcPr marL="54864" marR="54864" marT="9144" marB="9144" anchor="ctr">
                    <a:solidFill>
                      <a:srgbClr val="FEF5E7"/>
                    </a:solidFill>
                  </a:tcPr>
                </a:tc>
              </a:tr>
              <a:tr h="274320">
                <a:tc>
                  <a:txBody>
                    <a:bodyPr/>
                    <a:lstStyle/>
                    <a:p>
                      <a:pPr algn="ctr"/>
                      <a:r>
                        <a:rPr sz="1000" b="1" i="0">
                          <a:solidFill>
                            <a:srgbClr val="6B7280"/>
                          </a:solidFill>
                          <a:latin typeface="맑은 고딕"/>
                          <a:ea typeface="맑은 고딕"/>
                        </a:rPr>
                        <a:t>450</a:t>
                      </a:r>
                    </a:p>
                  </a:txBody>
                  <a:tcPr marL="54864" marR="54864" marT="9144" marB="9144" anchor="ctr">
                    <a:solidFill>
                      <a:srgbClr val="F7F9FC"/>
                    </a:solidFill>
                  </a:tcPr>
                </a:tc>
                <a:tc>
                  <a:txBody>
                    <a:bodyPr/>
                    <a:lstStyle/>
                    <a:p>
                      <a:pPr algn="ctr"/>
                      <a:r>
                        <a:rPr sz="1000" b="1" i="0">
                          <a:solidFill>
                            <a:srgbClr val="6B7280"/>
                          </a:solidFill>
                          <a:latin typeface="맑은 고딕"/>
                          <a:ea typeface="맑은 고딕"/>
                        </a:rPr>
                        <a:t>4 삭제</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1152</a:t>
                      </a:r>
                    </a:p>
                  </a:txBody>
                  <a:tcPr marL="54864" marR="54864" marT="9144" marB="9144" anchor="ctr">
                    <a:solidFill>
                      <a:srgbClr val="F7F9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연관이 없어 모든 트랙이 2 → 1 → 0 으로 내려가 개시 두 스캔 뒤 삭제됩니다.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png"/>
          <p:cNvPicPr>
            <a:picLocks noChangeAspect="1"/>
          </p:cNvPicPr>
          <p:nvPr/>
        </p:nvPicPr>
        <p:blipFill>
          <a:blip r:embed="rId2"/>
          <a:stretch>
            <a:fillRect/>
          </a:stretch>
        </p:blipFill>
        <p:spPr>
          <a:xfrm>
            <a:off x="566928" y="2240280"/>
            <a:ext cx="6766560" cy="2606040"/>
          </a:xfrm>
          <a:prstGeom prst="rect">
            <a:avLst/>
          </a:prstGeom>
        </p:spPr>
      </p:pic>
      <p:sp>
        <p:nvSpPr>
          <p:cNvPr id="27" name="TextBox 26"/>
          <p:cNvSpPr txBox="1"/>
          <p:nvPr/>
        </p:nvSpPr>
        <p:spPr>
          <a:xfrm>
            <a:off x="640080" y="4937760"/>
            <a:ext cx="1600200" cy="502920"/>
          </a:xfrm>
          <a:prstGeom prst="rect">
            <a:avLst/>
          </a:prstGeom>
          <a:noFill/>
        </p:spPr>
        <p:txBody>
          <a:bodyPr wrap="square" lIns="0" rIns="0" tIns="0" bIns="0" anchor="t">
            <a:spAutoFit/>
          </a:bodyPr>
          <a:lstStyle/>
          <a:p>
            <a:pPr algn="l">
              <a:spcAft>
                <a:spcPts val="0"/>
              </a:spcAft>
            </a:pPr>
            <a:r>
              <a:rPr sz="2400" b="1" i="0">
                <a:solidFill>
                  <a:srgbClr val="1B2740"/>
                </a:solidFill>
                <a:latin typeface="Arial"/>
                <a:ea typeface="맑은 고딕"/>
              </a:rPr>
              <a:t>355</a:t>
            </a:r>
          </a:p>
        </p:txBody>
      </p:sp>
      <p:sp>
        <p:nvSpPr>
          <p:cNvPr id="28" name="TextBox 27"/>
          <p:cNvSpPr txBox="1"/>
          <p:nvPr/>
        </p:nvSpPr>
        <p:spPr>
          <a:xfrm>
            <a:off x="64008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만든 트랙</a:t>
            </a:r>
          </a:p>
        </p:txBody>
      </p:sp>
      <p:sp>
        <p:nvSpPr>
          <p:cNvPr id="29" name="TextBox 28"/>
          <p:cNvSpPr txBox="1"/>
          <p:nvPr/>
        </p:nvSpPr>
        <p:spPr>
          <a:xfrm>
            <a:off x="2331720" y="4937760"/>
            <a:ext cx="1600200" cy="502920"/>
          </a:xfrm>
          <a:prstGeom prst="rect">
            <a:avLst/>
          </a:prstGeom>
          <a:noFill/>
        </p:spPr>
        <p:txBody>
          <a:bodyPr wrap="square" lIns="0" rIns="0" tIns="0" bIns="0" anchor="t">
            <a:spAutoFit/>
          </a:bodyPr>
          <a:lstStyle/>
          <a:p>
            <a:pPr algn="l">
              <a:spcAft>
                <a:spcPts val="0"/>
              </a:spcAft>
            </a:pPr>
            <a:r>
              <a:rPr sz="2400" b="1" i="0">
                <a:solidFill>
                  <a:srgbClr val="2563EB"/>
                </a:solidFill>
                <a:latin typeface="Arial"/>
                <a:ea typeface="맑은 고딕"/>
              </a:rPr>
              <a:t>352</a:t>
            </a:r>
          </a:p>
        </p:txBody>
      </p:sp>
      <p:sp>
        <p:nvSpPr>
          <p:cNvPr id="30" name="TextBox 29"/>
          <p:cNvSpPr txBox="1"/>
          <p:nvPr/>
        </p:nvSpPr>
        <p:spPr>
          <a:xfrm>
            <a:off x="233172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같은 표적 플롯 쌍</a:t>
            </a:r>
          </a:p>
        </p:txBody>
      </p:sp>
      <p:sp>
        <p:nvSpPr>
          <p:cNvPr id="31" name="TextBox 30"/>
          <p:cNvSpPr txBox="1"/>
          <p:nvPr/>
        </p:nvSpPr>
        <p:spPr>
          <a:xfrm>
            <a:off x="4023360" y="4937760"/>
            <a:ext cx="1600200" cy="502920"/>
          </a:xfrm>
          <a:prstGeom prst="rect">
            <a:avLst/>
          </a:prstGeom>
          <a:noFill/>
        </p:spPr>
        <p:txBody>
          <a:bodyPr wrap="square" lIns="0" rIns="0" tIns="0" bIns="0" anchor="t">
            <a:spAutoFit/>
          </a:bodyPr>
          <a:lstStyle/>
          <a:p>
            <a:pPr algn="l">
              <a:spcAft>
                <a:spcPts val="0"/>
              </a:spcAft>
            </a:pPr>
            <a:r>
              <a:rPr sz="2400" b="1" i="0">
                <a:solidFill>
                  <a:srgbClr val="6B7280"/>
                </a:solidFill>
                <a:latin typeface="Arial"/>
                <a:ea typeface="맑은 고딕"/>
              </a:rPr>
              <a:t>3</a:t>
            </a:r>
          </a:p>
        </p:txBody>
      </p:sp>
      <p:sp>
        <p:nvSpPr>
          <p:cNvPr id="32" name="TextBox 31"/>
          <p:cNvSpPr txBox="1"/>
          <p:nvPr/>
        </p:nvSpPr>
        <p:spPr>
          <a:xfrm>
            <a:off x="402336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클러터끼리 쌍</a:t>
            </a:r>
          </a:p>
        </p:txBody>
      </p:sp>
      <p:sp>
        <p:nvSpPr>
          <p:cNvPr id="33" name="TextBox 32"/>
          <p:cNvSpPr txBox="1"/>
          <p:nvPr/>
        </p:nvSpPr>
        <p:spPr>
          <a:xfrm>
            <a:off x="5715000" y="4937760"/>
            <a:ext cx="1600200" cy="502920"/>
          </a:xfrm>
          <a:prstGeom prst="rect">
            <a:avLst/>
          </a:prstGeom>
          <a:noFill/>
        </p:spPr>
        <p:txBody>
          <a:bodyPr wrap="square" lIns="0" rIns="0" tIns="0" bIns="0" anchor="t">
            <a:spAutoFit/>
          </a:bodyPr>
          <a:lstStyle/>
          <a:p>
            <a:pPr algn="l">
              <a:spcAft>
                <a:spcPts val="0"/>
              </a:spcAft>
            </a:pPr>
            <a:r>
              <a:rPr sz="2400" b="1" i="0">
                <a:solidFill>
                  <a:srgbClr val="D97706"/>
                </a:solidFill>
                <a:latin typeface="Arial"/>
                <a:ea typeface="맑은 고딕"/>
              </a:rPr>
              <a:t>4</a:t>
            </a:r>
          </a:p>
        </p:txBody>
      </p:sp>
      <p:sp>
        <p:nvSpPr>
          <p:cNvPr id="34" name="TextBox 33"/>
          <p:cNvSpPr txBox="1"/>
          <p:nvPr/>
        </p:nvSpPr>
        <p:spPr>
          <a:xfrm>
            <a:off x="571500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표의 최대 트랙 수</a:t>
            </a:r>
          </a:p>
        </p:txBody>
      </p:sp>
      <p:sp>
        <p:nvSpPr>
          <p:cNvPr id="35" name="TextBox 34"/>
          <p:cNvSpPr txBox="1"/>
          <p:nvPr/>
        </p:nvSpPr>
        <p:spPr>
          <a:xfrm>
            <a:off x="640080" y="5779008"/>
            <a:ext cx="6675120"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트랙 ID 100 ~ 454 사용 (과제 범위 100 ~ 10000),  플롯 ID 10000 ~ 18119 사용 (과제 범위 10000 ~ 1000000)</a:t>
            </a:r>
          </a:p>
        </p:txBody>
      </p:sp>
      <p:pic>
        <p:nvPicPr>
          <p:cNvPr id="36" name="Picture 35"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37" name="TextBox 36"/>
          <p:cNvSpPr txBox="1"/>
          <p:nvPr/>
        </p:nvSpPr>
        <p:spPr>
          <a:xfrm>
            <a:off x="7589520" y="5514672"/>
            <a:ext cx="3959352"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스코어 확인 창: Flag 1 1 1 0 0 1 1</a:t>
            </a:r>
          </a:p>
          <a:p>
            <a:pPr algn="l">
              <a:spcAft>
                <a:spcPts val="0"/>
              </a:spcAft>
            </a:pPr>
            <a:r>
              <a:rPr sz="1000" b="0" i="0">
                <a:solidFill>
                  <a:srgbClr val="4A5A7A"/>
                </a:solidFill>
                <a:latin typeface="맑은 고딕"/>
                <a:ea typeface="맑은 고딕"/>
              </a:rPr>
              <a:t>임시 → 확정 (5) → 메모리 → 다시 확정 (MemoryScore 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전체 궤적 (시뮬레이션 마지막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1159 (115.9 s), 116 초를 끝까지 돌린 화면입니다. 두 표적의 참값 궤적 전체와 그동안 받은 플롯 · 클러터가 모두 그려져 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full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full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a:t>
            </a:r>
          </a:p>
        </p:txBody>
      </p:sp>
      <p:sp>
        <p:nvSpPr>
          <p:cNvPr id="30" name="TextBox 29"/>
          <p:cNvSpPr txBox="1"/>
          <p:nvPr/>
        </p:nvSpPr>
        <p:spPr>
          <a:xfrm>
            <a:off x="640080" y="5998464"/>
            <a:ext cx="1933956" cy="237744"/>
          </a:xfrm>
          <a:prstGeom prst="rect">
            <a:avLst/>
          </a:prstGeom>
          <a:noFill/>
        </p:spPr>
        <p:txBody>
          <a:bodyPr wrap="square" lIns="0" rIns="0" tIns="0" bIns="0" anchor="t">
            <a:spAutoFit/>
          </a:bodyPr>
          <a:lstStyle/>
          <a:p>
            <a:pPr algn="l">
              <a:spcAft>
                <a:spcPts val="0"/>
              </a:spcAft>
            </a:pPr>
            <a:r>
              <a:rPr sz="1050" b="1" i="0">
                <a:solidFill>
                  <a:srgbClr val="2563EB"/>
                </a:solidFill>
                <a:latin typeface="맑은 고딕"/>
                <a:ea typeface="맑은 고딕"/>
              </a:rPr>
              <a:t>━ 표적 1 대함 30 m/s</a:t>
            </a:r>
          </a:p>
        </p:txBody>
      </p:sp>
      <p:sp>
        <p:nvSpPr>
          <p:cNvPr id="31" name="TextBox 30"/>
          <p:cNvSpPr txBox="1"/>
          <p:nvPr/>
        </p:nvSpPr>
        <p:spPr>
          <a:xfrm>
            <a:off x="2574036" y="5998464"/>
            <a:ext cx="2011680" cy="237744"/>
          </a:xfrm>
          <a:prstGeom prst="rect">
            <a:avLst/>
          </a:prstGeom>
          <a:noFill/>
        </p:spPr>
        <p:txBody>
          <a:bodyPr wrap="square" lIns="0" rIns="0" tIns="0" bIns="0" anchor="t">
            <a:spAutoFit/>
          </a:bodyPr>
          <a:lstStyle/>
          <a:p>
            <a:pPr algn="l">
              <a:spcAft>
                <a:spcPts val="0"/>
              </a:spcAft>
            </a:pPr>
            <a:r>
              <a:rPr sz="1050" b="1" i="0">
                <a:solidFill>
                  <a:srgbClr val="DC2626"/>
                </a:solidFill>
                <a:latin typeface="맑은 고딕"/>
                <a:ea typeface="맑은 고딕"/>
              </a:rPr>
              <a:t>━ 표적 2 대공 200 m/s</a:t>
            </a:r>
          </a:p>
        </p:txBody>
      </p:sp>
      <p:sp>
        <p:nvSpPr>
          <p:cNvPr id="32" name="TextBox 31"/>
          <p:cNvSpPr txBox="1"/>
          <p:nvPr/>
        </p:nvSpPr>
        <p:spPr>
          <a:xfrm>
            <a:off x="4585716" y="5998464"/>
            <a:ext cx="1010412"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시작점</a:t>
            </a:r>
          </a:p>
        </p:txBody>
      </p:sp>
      <p:sp>
        <p:nvSpPr>
          <p:cNvPr id="33" name="TextBox 32"/>
          <p:cNvSpPr txBox="1"/>
          <p:nvPr/>
        </p:nvSpPr>
        <p:spPr>
          <a:xfrm>
            <a:off x="5596128" y="5998464"/>
            <a:ext cx="864108"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a:t>
            </a:r>
          </a:p>
        </p:txBody>
      </p:sp>
      <p:sp>
        <p:nvSpPr>
          <p:cNvPr id="34" name="TextBox 33"/>
          <p:cNvSpPr txBox="1"/>
          <p:nvPr/>
        </p:nvSpPr>
        <p:spPr>
          <a:xfrm>
            <a:off x="6460236" y="5998464"/>
            <a:ext cx="941832"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5" name="TextBox 34"/>
          <p:cNvSpPr txBox="1"/>
          <p:nvPr/>
        </p:nvSpPr>
        <p:spPr>
          <a:xfrm>
            <a:off x="7402068" y="5998464"/>
            <a:ext cx="1234440"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 트랙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