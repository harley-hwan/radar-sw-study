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6"/>
    <p:sldId id="276" r:id="rId5"/>
    <p:sldId id="277" r:id="rId4"/>
    <p:sldId id="278" r:id="rId3"/>
    <p:sldId id="279" r:id="rId2"/>
    <p:sldId id="280" r:id="rId31"/>
    <p:sldId id="281" r:id="rId32"/>
    <p:sldId id="282" r:id="rId33"/>
    <p:sldId id="283" r:id="rId34"/>
    <p:sldId id="284" r:id="rId35"/>
    <p:sldId id="285" r:id="rId36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3b5945cf-05e3-b14d-c6ff-aef2bff3cb02}">
          <p14:sldIdLst>
            <p14:sldId id="256"/>
            <p14:sldId id="257"/>
          </p14:sldIdLst>
        </p14:section>
        <p14:section name="01 플롯" id="{0f5810f4-50ba-7392-e208-ecc21c93235a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02 클러터" id="{50886d5c-d02a-e7aa-da24-16c77f7475c7}">
          <p14:sldIdLst>
            <p14:sldId id="266"/>
            <p14:sldId id="267"/>
            <p14:sldId id="268"/>
          </p14:sldIdLst>
        </p14:section>
        <p14:section name="03 구현" id="{fadd100c-6470-8d1f-9d3a-2049fb54abdf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04 결과" id="{e36c4d74-5342-a93f-b28d-bc920de806eb}">
          <p14:sldIdLst>
            <p14:sldId id="275"/>
            <p14:sldId id="276"/>
            <p14:sldId id="277"/>
            <p14:sldId id="278"/>
          </p14:sldIdLst>
        </p14:section>
        <p14:section name="마무리" id="{9395e1f0-5a4b-3464-c223-c7d7ed14ad98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4.xml"/><Relationship Id="rId3" Type="http://schemas.openxmlformats.org/officeDocument/2006/relationships/slide" Target="slides/slide23.xml"/><Relationship Id="rId4" Type="http://schemas.openxmlformats.org/officeDocument/2006/relationships/slide" Target="slides/slide22.xml"/><Relationship Id="rId5" Type="http://schemas.openxmlformats.org/officeDocument/2006/relationships/slide" Target="slides/slide21.xml"/><Relationship Id="rId6" Type="http://schemas.openxmlformats.org/officeDocument/2006/relationships/slide" Target="slides/slide20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과제 6 발표를 시작하겠습니다. 주제는 추적 필터입니다.</a:t>
            </a:r>
          </a:p>
          <a:p>
            <a:r>
              <a:t>과제 5 에서는 플롯 두 개로 트랙을 만들고 트랙 스코어로 상태를 관리했습니다. 이번 과제에서는 그 트랙의 위치와 속도, 가속도를 스캔마다 예측하고 플롯으로 고쳐 나가는 추적 필터, Singer 모델을 적용한 CMKF 를 구현했습니다.</a:t>
            </a:r>
          </a:p>
          <a:p>
            <a:r>
              <a:t>이론, 구현, 과제 값으로 돌린 결과, 파라미터 조정 순서로 설명드리겠습니다.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발표는 네 부분으로 진행하겠습니다.</a:t>
            </a:r>
          </a:p>
          <a:p>
            <a:r>
              <a:t>첫 번째로 칼만 필터와 CMKF, Singer 모델, 그리고 발산을 판단하는 기준을 설명드리고, 두 번째로 C 코드 구현과 결과 화면을 보겠습니다.</a:t>
            </a:r>
          </a:p>
          <a:p>
            <a:r>
              <a:t>세 번째는 과제에서 준 파라미터로 대함과 대공 시나리오를 돌린 결과이고, 마지막으로 트랙이 발산하지 않도록 파라미터를 조정한 과정과 결과를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 파트는 추적 필터 이론입니다.</a:t>
            </a:r>
          </a:p>
          <a:p>
            <a:r>
              <a:t>추적 필터가 하는 일, 칼만 필터의 예측과 갱신, CMKF 의 측정치 변환과 측정잡음 공분산, Singer 모델의 상태천이 행렬과 공정잡음 공분산, 마지막으로 발산을 판단하는 기준 순서로 설명드리겠습니다.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과제 4 에서 만든 플롯을 과제 5 에서 트랙으로 묶었고, 이번 과제에서는 그 트랙에 추적 필터를 넣습니다. 트랙 연관은 아직 구현하지 않고, 과제 조건대로 탐지된 플롯은 트랙에 무조건 연관된다고 가정했습니다.</a:t>
            </a:r>
          </a:p>
          <a:p>
            <a:r>
              <a:t>왼쪽 그림은 대공 표적이 선회하는 12 초 동안의 실제 결과입니다. 레이다가 주는 플롯은 방위각과 고각 잡음 때문에 참값 주변에 흩어져 있습니다. 오른쪽처럼 추적 필터는 이 플롯들로 매끄러운 트랙을 만듭니다.</a:t>
            </a:r>
          </a:p>
          <a:p>
            <a:r>
              <a:t>필터는 스캔마다 두 가지 일을 합니다. 먼저 지난 추정값으로 이번 스캔의 위치를 예측하고, 다음으로 이번 플롯과 예측의 차이를 칼만 게인만큼 반영해 갱신합니다. 그 결과 트랙은 세 축의 위치, 속도, 가속도 아홉 개 상태와, 그 상태가 얼마나 정확한지를 나타내는 9 곱하기 9 오차 공분산을 가집니다.</a:t>
            </a:r>
          </a:p>
          <a:p>
            <a:r>
              <a:t>과제 5 와 달라진 점도 있습니다. 과제 5 에서는 연관 기능이 없어 Assigned_Flag 가 항상 0 이었고 트랙이 두 스캔 뒤 삭제되었습니다. 이번에는 연관 가정으로 Assigned_Flag 가 1 이 되어, 트랙이 0.2 초에 개시되고 0.5 초에 확정된 뒤 끝까지 유지됩니다.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칼만 필터는 스캔마다 예측과 갱신을 한 번씩 합니다. 오른쪽의 다섯 식이 과제 자료의 CMKF 식이고, 왼쪽 그림의 타원은 각 단계의 오차 공분산 크기를 나타냅니다.</a:t>
            </a:r>
          </a:p>
          <a:p>
            <a:r>
              <a:t>첫 번째 예측 단계에서는 지난 추정값에 상태천이 행렬 F 를 곱해 0.1 초 뒤의 위치를 계산합니다. 오차 공분산도 F 로 옮긴 뒤 공정잡음 Q 를 더하므로, 점선 타원처럼 커집니다. 그동안 표적이 어떻게 기동할지 모르기 때문입니다.</a:t>
            </a:r>
          </a:p>
          <a:p>
            <a:r>
              <a:t>두 번째 갱신 단계에서는 칼만 게인 K 를 구합니다. K 는 예측 오차 P 와 플롯 오차 R 의 비율로 정해지는 값으로, 예측과 플롯 가운데 어느 쪽을 더 믿을지를 나타냅니다. 추정값은 플롯과 예측의 차이, 즉 잔차에 K 를 곱한 만큼 플롯 쪽으로 옮겨지고, 오차 공분산은 플롯 정보를 반영해 작아집니다.</a:t>
            </a:r>
          </a:p>
          <a:p>
            <a:r>
              <a:t>아래 상자의 내용이 뒤에서 파라미터를 조정할 때의 핵심입니다. R 을 작게 잡거나 Q 를 크게 잡으면 K 가 커져 필터가 플롯을 많이 따르고, 반대로 하면 예측, 즉 운동 모델을 많이 따릅니다.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CMKF 는 Converted Measurement Kalman Filter, 측정치를 변환해서 쓰는 칼만 필터입니다. 레이다가 재는 값은 거리, 방위각, 고각이지만, CMKF 는 이 값을 과제 3 의 좌표 변환 함수로 VC-NED 직교 좌표 위치로 바꾼 뒤 측정치로 씁니다.</a:t>
            </a:r>
          </a:p>
          <a:p>
            <a:r>
              <a:t>이렇게 하면 측정 행렬 H 가 왼쪽 그림처럼 상태 아홉 개 가운데 위치 세 개만 꺼내는 간단한 선형 행렬이 됩니다. 잔차는 플롯 위치에서 예측 위치를 뺀 값이 됩니다.</a:t>
            </a:r>
          </a:p>
          <a:p>
            <a:r>
              <a:t>대신 측정잡음 공분산 R 도 직교 좌표로 바꿔야 합니다. 오른쪽 식은 과제 5 에서 트랙 초기화에 쓴 식과 같습니다. 거리, 방위각, 고각 표준편차의 제곱을 대각에 놓고, 자코비안 J 로 각도 오차를 미터 오차로 바꾼 다음, 회전 행렬로 안테나 축을 북, 동, 아래 축으로 돌립니다. 과제 6 의 표준편차는 거리 10 미터, 방위각과 고각 0.3 도입니다.</a:t>
            </a:r>
          </a:p>
          <a:p>
            <a:r>
              <a:t>두 표적의 시작 거리인 13.5 에서 14 킬로미터에서 0.3 도는 약 70 미터입니다. 그래서 R 은 거리 방향 10 미터, 옆과 위 방향 70 미터인 납작한 타원이 됩니다. 거리와 각도가 플롯마다 다르므로 R 은 플롯마다 계산합니다.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운동 모델로는 Singer 모델을 씁니다. Singer 모델은 표적의 가속도를 시간이 지나면 점점 잊히는 랜덤 과정으로 봅니다. 왼쪽 그림은 지금 가속도와 t 초 뒤 가속도의 상관으로, e 의 마이너스 t 나누기 타우 승으로 줄어듭니다.</a:t>
            </a:r>
          </a:p>
          <a:p>
            <a:r>
              <a:t>시상수 타우는 기동이 얼마나 오래 이어지는지를 나타냅니다. 과제 값 10 초에서는 10 초 뒤 상관이 37 퍼센트로 줄어듭니다. 타우가 아주 작으면 가속도를 바로 잊으므로 등속 모델에 가깝고, 아주 크면 가속도가 계속 유지되므로 등가속 모델에 가깝습니다. q 는 기동 가속도의 표준편차, 즉 표적이 얼마나 세게 기동하는지를 나타내며 과제 값은 0.5 m/s² 입니다.</a:t>
            </a:r>
          </a:p>
          <a:p>
            <a:r>
              <a:t>오른쪽은 상태천이 행렬 F 입니다. x, y, z 세 축에 같은 3 곱하기 3 블록 f 가 들어갑니다. 스캔 간격 0.1 초와 타우 10 초를 넣으면 아래 숫자처럼 거의 등가속 운동과 같고, 가속도 칸만 0.990 이라 스캔마다 1 퍼센트씩 줄어듭니다. 위치에는 속도 곱하기 T 와 가속도 곱하기 약 T 제곱의 절반이, 속도에는 가속도 곱하기 약 T 가 더해집니다.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공정잡음 공분산 Q 는 한 스캔 사이에 모르는 기동이 만드는 오차입니다. 2 q 제곱 나누기 타우에 블록 q_k 를 곱한 꼴이고, q_k 의 여섯 원소는 과제 자료의 식을 그대로 썼습니다. 식을 짧게 쓰려고 T 나누기 타우를 x 로 적었습니다.</a:t>
            </a:r>
          </a:p>
          <a:p>
            <a:r>
              <a:t>다만 두 군데를 바로잡았습니다. 첫째, 자료의 q12 식에는 2 (T/τ) 뒤에 T 가 하나 더 붙어 있습니다. 괄호 안의 다른 항은 모두 단위가 없는데 이 항만 초 단위가 남습니다. 이 식대로 계산하면 q12 가 마이너스 89 가 되어, q12 제곱이 q11 곱하기 q22 보다 커집니다. 이러면 공분산 행렬이 될 수 없으므로 표준 Singer 식으로 구현했습니다.</a:t>
            </a:r>
          </a:p>
          <a:p>
            <a:r>
              <a:t>둘째, 오른쪽 그림처럼 T/τ 가 작으면 괄호 안에서 1 과 e 의 마이너스 2x 승처럼 거의 같은 수끼리 빼면서 유효 자리가 사라집니다. 과제 값에서는 상대 오차가 백만분의 6 정도지만, 화면에서 타우를 120 초보다 크게 넣으면 q11 이 음수가 되기도 합니다. 그래서 T/τ 가 0.05 보다 작을 때는 같은 식을 테일러 급수 다섯 항으로 계산했습니다. 60 자리 기준값, 수치 적분과 비교해 상대 오차는 10 의 마이너스 9 승보다 작았고, 모든 T/τ 에서 Q 가 양의 정부호였습니다.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과제는 트랙이 발산하거나 유지되지 않으면 파라미터를 조정하라고 했습니다. 연관 가정 때문에 트랙은 끊기지 않으므로, 발산을 판단할 기준이 따로 필요해서 NIS 를 사용했습니다.</a:t>
            </a:r>
          </a:p>
          <a:p>
            <a:r>
              <a:t>NIS 는 잔차를 잔차 공분산 S 로 나눈 통계적 거리입니다. 필터의 R 과 Q 가 실제와 맞으면 NIS 는 왼쪽 그림처럼 자유도 3 의 카이제곱 분포를 따르고 평균은 3 입니다. 이 분포의 99 퍼센트 값인 11.34 를 게이트로 정했습니다. 정상적인 필터라면 게이트 밖으로 나갈 확률은 1 퍼센트입니다.</a:t>
            </a:r>
          </a:p>
          <a:p>
            <a:r>
              <a:t>오른쪽 그림은 대공 표적을 과제 값으로 돌렸을 때 첫 선회 중의 NIS 입니다. 점 위의 숫자는 게이트 밖이 몇 번 이어졌는지입니다. 9.6 초부터 다섯 번 연속 게이트 밖이 되어 10.0 초에 발산 판정을 한 번 했습니다. 1 퍼센트 사건이 다섯 번 연속 일어날 확률은 100 억분의 1 이므로, 우연이 아니라 필터가 표적을 놓친 것으로 볼 수 있습니다.</a:t>
            </a:r>
          </a:p>
          <a:p>
            <a:r>
              <a:t>연속 다섯 번은 과제 5 의 메모리 트랙 삭제 문턱과 같게 정했습니다. 게이트는 판단에만 쓰고, 갱신은 가정대로 계속하며 트랙도 지우지 않고 횟수만 셉니다. 화면에서는 이 구간을 빨간 띠로 보여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파트는 구현입니다.</a:t>
            </a:r>
          </a:p>
          <a:p>
            <a:r>
              <a:t>전체 구조와 바뀐 곳, 스캔 처리 순서와 연관 가정, 예측과 갱신 코드, 그리고 결과 화면 순서로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전체 구조는 과제 5 와 같습니다. 한 프로그램 안에 신호처리 역할의 송신 쓰레드와 데이터 처리 역할의 수신 쓰레드가 있고, 스캔마다 플롯 메시지를 UDP 로 주고받습니다. 주황색이 이번 과제에서 바뀐 곳입니다.</a:t>
            </a:r>
          </a:p>
          <a:p>
            <a:r>
              <a:t>궤적 계산은 대함과 대공 두 시나리오로 바꿨고, 측정 모의는 클러터 없이 표적 플롯만 만들도록 했습니다. 가장 크게 바뀐 곳은 TrackMgr.c 의 트랙 처리로, 과제 5 의 개시와 관리 사이에 예측, 연관 가정, CMKF 갱신, 발산 판정을 넣었습니다. 결과 버퍼에는 잔차, NIS, 오차 공분산과 참값 대비 오차를 함께 남깁니다.</a:t>
            </a:r>
          </a:p>
          <a:p>
            <a:r>
              <a:t>화면에는 과제가 요구한 LLA 3D 궤적과 위도-고도, 경도-고도 2D 궤적을 새로 그렸고, 시나리오와 필터 파라미터를 화면에서 바꿔 다시 실행할 수 있게 했습니다. 송신과 수신 쓰레드, 메시지 구조는 과제 5 그대로입니다.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수신 쓰레드는 플롯 메시지를 받을 때마다 f_Trk_ProcessScan 을 부르고, 이 함수가 왼쪽의 여섯 단계를 차례로 수행합니다. 주황색 두 단계가 새로 들어간 부분이고 나머지는 과제 5 그대로입니다.</a:t>
            </a:r>
          </a:p>
          <a:p>
            <a:r>
              <a:t>2 단계에서 모든 트랙을 이번 스캔 시각까지 예측하고, 트랙과 플롯 사이의 통계적 거리 d 제곱을 계산합니다. 3 단계가 연관 가정입니다. 연관 기법이 없으므로 탐지된 플롯은 무조건 트랙에 연관된다고 보는데, 트랙이나 플롯이 여러 개일 때를 위해 거리가 가장 가까운 트랙-플롯 짝부터 하나씩 묶었습니다. 오른쪽 코드의 1 번이 가장 가까운 짝을 찾는 부분이고, 게이트 문턱이 없어 아무리 멀어도 연관됩니다.</a:t>
            </a:r>
          </a:p>
          <a:p>
            <a:r>
              <a:t>묶은 짝은 2 번에서 CMKF 로 갱신하고, 3 번에서 Assigned_Flag 를 1 로 둡니다. 그러면 4 단계 스코어 로직에서 점수가 올라 트랙이 확정됩니다. 트랙이 가져간 플롯은 5 단계 2-Point 개시 후보에서 빠지므로, 이번 시나리오처럼 표적이 하나면 트랙도 하나만 유지됩니다.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예측 부분 코드입니다. 왼쪽 위는 상태천이 행렬 F 의 블록 f 를 만드는 함수입니다. 1 번처럼 e 의 마이너스 x 승 빼기 1 을 expm1 함수로 계산했습니다. 타우가 크면 e 의 마이너스 x 승이 1 에 아주 가까워져, 그냥 빼면 유효 자리가 사라지기 때문입니다. 이렇게 만든 F 는 행렬 지수 함수로 구한 값과 10 의 마이너스 15 승 수준으로 같았습니다.</a:t>
            </a:r>
          </a:p>
          <a:p>
            <a:r>
              <a:t>왼쪽 아래 f_Trk_Predict 는 과제 식 그대로 2 번에서 X 에 F 를 곱하고, 3 번에서 F P F 전치에 Q 를 더합니다. 반올림으로 생기는 작은 비대칭은 대칭으로 맞춥니다.</a:t>
            </a:r>
          </a:p>
          <a:p>
            <a:r>
              <a:t>오른쪽은 Q 를 계산하는 함수의 핵심입니다. 4 번에서 T/τ 가 0.05 보다 작으면 급수로, 아니면 과제 자료의 닫힌 식으로 괄호 안 값을 계산합니다. 5 번이 q12 로, 자료의 오타를 고친 표준식입니다. 마지막에 각 원소에 타우의 거듭제곱과 2 q 제곱 나누기 타우를 곱해 세 축 블록에 채웁니다.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갱신 부분 코드입니다. 왼쪽은 CMKF 갱신으로, 과제 자료의 식을 matrixCalcLib 함수로 그대로 옮겼습니다. 잔차와 잔차 공분산 S 를 구한 뒤, 1 번에서 칼만 게인, 2 번에서 추정치, 3 번에서 추정 오차 공분산을 계산합니다. 이 결과는 따로 구현한 갱신식과 무작위 50 개 경우에서 10 의 마이너스 13 승 수준으로 같았습니다.</a:t>
            </a:r>
          </a:p>
          <a:p>
            <a:r>
              <a:t>오른쪽은 이번 과제에서 정한 발산 판정입니다. 4 번에서 잔차와 S 로 NIS 를 계산합니다. 5 번에서 NIS 가 게이트 11.34 보다 크면 게이트 밖 연속 횟수와 누적 횟수를 하나씩 늘리고, 연속 횟수가 5 가 되는 순간 발산 판정을 한 번 셉니다. 게이트 안으로 들어오면 연속 횟수는 0 으로 돌아갑니다. 이 횟수들은 트랙 표와 화면 요약, 추적 성능 그림에 그대로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 화면입니다. 이 발표의 프로그램 화면은 TargetSimUI 의 실제 그리기 코드를 리눅스에서 그대로 실행해 그린 미리보기입니다. 그래서 글꼴 모양은 Windows 화면과 조금 다를 수 있습니다.</a:t>
            </a:r>
          </a:p>
          <a:p>
            <a:r>
              <a:t>1 번에서 대함과 대공 시나리오를 고르고, 2 번에서 보기를 고릅니다. 기본 보기는 3 번의 3D 궤적과 4 번의 위도-고도, 경도-고도 2D 궤적을 함께 보여 줍니다. 세 그림 모두 축이 위도, 경도, 고도 눈금이라 LLA 좌표로 바로 읽을 수 있습니다. 파란 선이 참값, 점이 플롯, 녹색 선과 네모가 트랙이고, 과제 요구대로 같은 ID 의 트랙 기호끼리 선으로 이어 그립니다. 보기에서는 3D 만, 2D 만, 평면, 그리고 오차와 NIS 를 보여 주는 추적 성능을 따로 고를 수도 있습니다.</a:t>
            </a:r>
          </a:p>
          <a:p>
            <a:r>
              <a:t>5 번에서 R 표준편차와 Singer q, τ 를 넣고 다시 실행합니다. 과제 값, 조정 값 단추로 두 설정을 바로 넣을 수 있습니다. 6 번 트랙 표에는 과제 5 의 열에 가속도, 위치 표준편차, NIS, 게이트 밖, 발산 판정, 참값 대비 오차를 더했습니다.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 파트는 과제에서 정한 파라미터, 즉 R 표준편차 10 미터, 0.3 도, 0.3 도와 Singer q 0.5, τ 10 초로 두 시나리오를 돌린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시나리오는 대함과 대공 두 가지이고 하나씩 따로 실행했습니다. 레이다는 북위 32 도, 동경 126 도에 정지해 북쪽을 보고 있습니다.</a:t>
            </a:r>
          </a:p>
          <a:p>
            <a:r>
              <a:t>대함 표적은 북쪽 약 14 킬로미터, 고도 0 미터에서 서쪽으로 초속 30 미터로 움직이며, 1 G 로 45 도씩 네 번 선회해 지그재그로 갑니다. 왼쪽 그림의 확대 칸이 대함 궤적입니다. 대공 표적은 북쪽 약 13 킬로미터, 고도 2,000 미터에서 남쪽으로 초속 200 미터로 비행하며, 4 G 로 여섯 번 선회합니다. 다섯 번은 8 초 동안 90 도, 마지막은 116 초 끝까지 150 도입니다. 보라색이 선회 구간입니다.</a:t>
            </a:r>
          </a:p>
          <a:p>
            <a:r>
              <a:t>두 시나리오 모두 116 초 동안 0.1 초 간격, 1,160 스캔이고, 과제 조건대로 클러터 없이 SNR 20 의 표적 플롯만 만들었습니다. 이때 플롯의 실제 잡음은 거리 4.74 미터, 방위각 0.48 도, 고각 0.49 도입니다. 탐지된 플롯은 트랙에 무조건 연관된다고 가정했습니다.</a:t>
            </a:r>
          </a:p>
          <a:p>
            <a:r>
              <a:t>성능은 참값 대비 위치 오차로 보았는데, 2-Point 개시 직후의 큰 오차가 섞이지 않도록 갱신 20 번, 즉 2 초 뒤부터 계산했습니다.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대함 표적 결과입니다. 왼쪽이 3D 궤적, 오른쪽 위가 위도-고도, 아래가 경도-고도 2D 궤적입니다. 트랙 ID 100 하나가 0.2 초에 개시되어 0.5 초에 확정되었고, 116 초 끝까지 끊기지 않고 유지되었습니다. 녹색 트랙 선이 파란 참값을 따라가는 것을 볼 수 있습니다.</a:t>
            </a:r>
          </a:p>
          <a:p>
            <a:r>
              <a:t>2D 그림에서 플롯과 트랙이 위아래로 흔들리는 것은 고각 잡음 때문입니다. 14 킬로미터에서 0.49 도는 약 120 미터입니다.</a:t>
            </a:r>
          </a:p>
          <a:p>
            <a:r>
              <a:t>수치로는 위치 오차 RMS 30.5 미터, NIS 평균 5.68, 게이트 밖 12.4 퍼센트이고, 발산 판정은 없었습니다. 다만 NIS 평균이 이론값 3 보다 큰데, 필터가 생각하는 오차보다 실제 오차가 크다는 뜻입니다. 원인은 3.5 에서 설명드리겠습니다.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대공 표적 결과입니다. 이 경우에도 연관 가정 덕분에 트랙 하나가 끝까지 이어졌습니다.</a:t>
            </a:r>
          </a:p>
          <a:p>
            <a:r>
              <a:t>하지만 수치를 보면 위치 오차 RMS 가 137.3 미터, 최대 313.6 미터로 커졌고, NIS 평균은 44.87 로 이론값 3 의 15 배입니다. 게이트 밖 비율은 74.1 퍼센트이고 발산 판정이 11 번 났습니다. 오차는 대부분 수평 방향이라 화면 크기에서는 트랙이 참값과 가까워 보이지만, 선회 구간마다 140 에서 310 미터씩 벌어집니다. 위도-고도 그림에 세로로 보이는 줄은 표적이 동서로 나는 동안 위도가 거의 같아 한자리에 쌓인 플롯과 트랙으로, 고각 잡음 때문에 위아래로 퍼진 것입니다. 다음 장의 추적 성능 보기에서 시간에 따라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대공 표적의 추적 성능 보기입니다. 위는 참값 대비 위치 오차, 아래는 NIS 를 로그 눈금으로 그린 것이고, 회색 띠는 선회 구간, 빨간 띠는 게이트 밖이 다섯 번 이상 이어진 발산 판정 구간입니다.</a:t>
            </a:r>
          </a:p>
          <a:p>
            <a:r>
              <a:t>선회가 시작되면 오차가 커지기 시작해 선회마다 140 에서 310 미터까지 커지고, NIS 는 수십에서 170 까지 올라 게이트 11.34 를 크게 넘습니다. 선회가 끝난 뒤에도 오차가 바로 줄지 않고 몇 초 동안 이어지는데, 필터가 추정한 가속도가 늦게 빠지기 때문입니다. 결국 여섯 번의 선회마다 발산 판정 구간이 생겼습니다.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발산의 원인은 필터가 가정한 값이 실제보다 작기 때문입니다.</a:t>
            </a:r>
          </a:p>
          <a:p>
            <a:r>
              <a:t>첫째는 기동 가속도입니다. 과제 값 q 0.5 m/s² 는 표적이 거의 등속으로 움직인다고 보는 값인데, 대공 표적은 4 G, 즉 39 m/s² 로 선회합니다. 오른쪽 그림에서 남색이 참값 가속도, 주황색이 필터가 추정한 가속도입니다. 참값은 선회가 시작되면 바로 39 가 되지만, 추정값은 늦게 올라가 20 정도에서 멈추고 선회가 끝난 뒤에야 내려옵니다.</a:t>
            </a:r>
          </a:p>
          <a:p>
            <a:r>
              <a:t>q 가 작으면 예측 오차 공분산 P 가 작고 칼만 게인 K 도 작습니다. 그래서 필터는 플롯보다 직진하는 예측을 믿게 됩니다. 왼쪽 그림처럼 표적이 선회하는 동안 트랙은 바깥쪽으로 밀려나, 첫 선회에서 최대 274 미터까지 벌어졌습니다.</a:t>
            </a:r>
          </a:p>
          <a:p>
            <a:r>
              <a:t>둘째는 측정잡음입니다. 과제 값 R 의 각도 표준편차는 0.3 도인데, SNR 20 플롯의 실제 잡음은 0.48 도입니다. 필터가 플롯을 실제보다 정확하다고 믿기 때문에, 선회가 짧은 대함 표적에서도 NIS 평균이 3 이 아니라 5.68 이 되었습니다. 다음 파트에서 이 두 가지를 조정했습니다.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파트는 파라미터 조정입니다.</a:t>
            </a:r>
          </a:p>
          <a:p>
            <a:r>
              <a:t>조정 방법, 측정잡음 R 조정, 공정잡음 q 와 τ 조정, 대함과 대공의 조정 결과, 과제 값과 조정 값 비교, 정리 순서로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파라미터는 한 번의 실행 결과만으로 고르지 않았습니다. 한 번의 실행은 특정 잡음 하나에 대한 결과라 우연이 섞이기 때문입니다. 그래서 플롯 잡음의 seed 를 30 개로 바꿔 가며 같은 설정을 30 번씩 돌렸습니다. seed 0 은 프로그램이 기본으로 쓰는 잡음과 같습니다.</a:t>
            </a:r>
          </a:p>
          <a:p>
            <a:r>
              <a:t>설정은 q 를 0.1 부터 80 까지 열 단계, R 의 각도 표준편차를 0.3 도와 0.5 도로 바꾼 스무 가지에, τ 를 1 초부터 60 초까지 바꾼 여섯 가지를 더했습니다. 두 시나리오에서 모두 1,560 번을 실제 UDP 송수신과 TrackMgr.c 코드 그대로 돌렸습니다.</a:t>
            </a:r>
          </a:p>
          <a:p>
            <a:r>
              <a:t>고르는 규칙은 두 단계입니다. 먼저 30 번 모두 발산 판정이 한 번도 없어야 하고, 그 가운데에서 위치 오차 RMS 가 가장 작은 값을 골랐습니다. 그 결과 R 표준편차는 두 시나리오 모두 10 미터, 0.5 도, 0.5 도이고, q 는 대함 0.5, 대공 20, τ 는 과제 값 10 초 그대로입니다. 화면의 조정 값 단추가 이 값을 넣습니다.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측정잡음 R 입니다. 왼쪽 그림은 두 시나리오 플롯 2,320 개에서 참값을 뺀 오차의 분포입니다. 방위각과 고각의 실제 표준편차는 0.47 도와 0.49 도인데, 과제 값 0.3 도의 주황색 분포는 이보다 훨씬 좁습니다. 0.5 도로 잡은 파란색 분포가 실제와 잘 맞습니다. 거리는 실제 4.7 미터보다 과제 값 10 미터가 넓어서 그대로 두었습니다.</a:t>
            </a:r>
          </a:p>
          <a:p>
            <a:r>
              <a:t>오른쪽 그림이 그 결과입니다. R 이 0.3 도이면 q 를 80 까지 키워도 NIS 평균이 5.2 아래로 내려가지 않습니다. q 로는 풀리지 않는 문제라는 뜻입니다. 0.5 도로 바꾸면 q 가 충분할 때 NIS 평균이 2.0 에서 2.5 사이가 되고, 게이트 밖 비율도 11 퍼센트에서 0.2 에서 0.4 퍼센트로 줄어듭니다. 3 보다 조금 작은 것은 거리와 각도 표준편차를 실제보다 조금 크게, 즉 보수적으로 잡았기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다음은 공정잡음 q 입니다. 위 그림은 위치 오차 RMS, 아래는 30 번 가운데 발산 판정이 난 횟수입니다.</a:t>
            </a:r>
          </a:p>
          <a:p>
            <a:r>
              <a:t>q 가 너무 작으면 선회를 따라가지 못해 오차가 커지고 발산 판정이 납니다. 대공 표적은 q 2 까지 30 번 모두 발산 판정이 났습니다. 반대로 q 가 너무 크면 필터가 플롯 잡음까지 따라가서 오차가 다시 커집니다. 그래서 RMS 는 가운데에서 가장 작아지는 모양이 됩니다.</a:t>
            </a:r>
          </a:p>
          <a:p>
            <a:r>
              <a:t>R 을 0.5 도로 둔 파란 선에서, 발산 판정이 한 번도 없으면서 RMS 가 가장 작은 값은 대함이 q 0.5 에서 30 미터, 대공이 q 20 에서 37 미터였습니다. 과제 값은 대함에서 30 번 중 2 번, 대공에서 30 번 모두 발산 판정이 났습니다. 대공의 q 20 은 선회 가속도 39 m/s² 가 약 2 시그마 안에 들어오는 크기입니다.</a:t>
            </a:r>
          </a:p>
          <a:p>
            <a:r>
              <a:t>오른쪽 그림처럼 τ 는 1 초에서 60 초까지 바꿔도 RMS 차이가 대함 3.4 미터, 대공 1.3 미터 정도로 작아서 과제 값 10 초를 그대로 썼습니다.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조정 값으로 대함 표적을 다시 돌린 결과입니다. 이번에도 트랙 하나가 끝까지 유지되었습니다. q 는 과제 값 그대로이고 R 의 각도 표준편차만 0.5 도로 바꿨기 때문에, 궤적 모양은 과제 값 결과와 거의 같습니다.</a:t>
            </a:r>
          </a:p>
          <a:p>
            <a:r>
              <a:t>차이는 NIS 에서 납니다. NIS 평균이 5.68 에서 2.44 로, 게이트 밖 비율이 12.4 퍼센트에서 0.4 퍼센트로 줄어, 필터가 생각하는 오차와 실제 오차가 맞게 되었습니다. 위치 오차 RMS 도 30.5 미터에서 29.4 미터로 조금 줄었고, 30 번 실험에서 발산 판정이 난 횟수는 2 번에서 0 번이 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조정 값으로 대공 표적을 다시 돌린 결과입니다. 선회 구간에서도 트랙이 참값을 따라가고, 발산 판정이 11 번에서 0 번으로 없어졌습니다.</a:t>
            </a:r>
          </a:p>
          <a:p>
            <a:r>
              <a:t>위치 오차 RMS 는 137.3 미터에서 36.7 미터로, 최대 오차는 313.6 미터에서 115.4 미터로 줄었습니다. NIS 평균은 2.11, 게이트 밖은 0 퍼센트입니다. 30 번 실험에서도 발산 판정은 한 번도 없었습니다.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대공 표적에서 과제 값과 조정 값을 시간에 따라 비교한 그림입니다. 주황색이 과제 값, 파란색이 조정 값입니다. 과제 값은 선회마다 오차가 140 에서 310 미터까지 커지지만, 조정 값은 첫 선회의 115 미터를 빼면 선회 중에도 100 미터 안에 머뭅니다. NIS 도 조정 값은 게이트 아래에 고르게 퍼져 있습니다.</a:t>
            </a:r>
          </a:p>
          <a:p>
            <a:r>
              <a:t>오른쪽은 첫 선회를 확대한 평면 그림입니다. 과제 값 트랙은 선회 바깥쪽으로 크게 벌어졌다가 늦게 돌아오지만, 조정 값 트랙은 참값을 따라 돕니다. q 가 커지면 예측 오차 공분산이 커져 칼만 게인이 커지고, 필터가 선회하는 플롯을 바로 따라가기 때문입니다. 대신 직진 구간에서는 플롯 잡음을 조금 더 따라가므로, q 를 무작정 키우지 않고 RMS 가 가장 작은 20 을 골랐습니다.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정리하겠습니다. 표는 네 실행의 결과입니다.</a:t>
            </a:r>
          </a:p>
          <a:p>
            <a:r>
              <a:t>과제 값으로는 대함 표적은 유지되었지만 NIS 가 이론값보다 컸고, 대공 표적은 선회마다 발산 판정이 나 모두 11 번이었습니다. R 의 각도 표준편차를 실제 플롯 잡음 수준인 0.5 도로, q 를 표적 기동에 맞게 대공 20 으로 조정해 두 시나리오 모두 발산 판정 없이 트랙을 유지했습니다. 30 번 반복 실험에서도 발산 판정은 한 번도 없었습니다.</a:t>
            </a:r>
          </a:p>
          <a:p>
            <a:r>
              <a:t>한계도 있습니다. 첫째, 대함에 가장 좋은 q 는 0.5, 대공은 20 으로 달라서, 표적 종류를 모르면 하나의 q 로 둘 다 맞출 수 없습니다. 이때는 여러 운동 모델을 함께 쓰는 IMM 같은 방법이 필요합니다. 둘째, 이번에는 탐지 플롯이 무조건 연관된다고 가정했습니다. 클러터가 있으면 게이트와 연관 기법이 필요하고, 이번에 쓴 NIS 가 그 게이트의 기준이 됩니다. 셋째, 대함 조정 값은 직진 구간에서는 NEES 가 3.5 로 이론값 3 에 가깝지만, 선회 중과 직후에는 10 에서 19 로 필터가 생각하는 오차가 실제보다 작습니다. 선회가 짧아 발산 판정까지 가지는 않았습니다.</a:t>
            </a:r>
          </a:p>
          <a:p>
            <a:r>
              <a:t>이상으로 발표를 마치겠습니다.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감사합니다. 질문 주시면 편하게 답변드리겠습니다.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END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EX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274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103120" y="722376"/>
            <a:ext cx="2103120" cy="0"/>
          </a:xfrm>
          <a:prstGeom prst="line">
            <a:avLst/>
          </a:prstGeom>
          <a:noFill/>
          <a:ln w="9525">
            <a:solidFill>
              <a:srgbClr val="3A4C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722376"/>
            <a:ext cx="7269480" cy="0"/>
          </a:xfrm>
          <a:prstGeom prst="line">
            <a:avLst/>
          </a:prstGeom>
          <a:noFill/>
          <a:ln w="9525">
            <a:solidFill>
              <a:srgbClr val="D2D9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5352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08792" cy="566928"/>
          </a:xfrm>
          <a:prstGeom prst="rect">
            <a:avLst/>
          </a:prstGeom>
          <a:solidFill>
            <a:srgbClr val="1B274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327648"/>
            <a:ext cx="10908792" cy="0"/>
          </a:xfrm>
          <a:prstGeom prst="line">
            <a:avLst/>
          </a:prstGeom>
          <a:noFill/>
          <a:ln w="9525">
            <a:solidFill>
              <a:srgbClr val="D2D9E5"/>
            </a:solidFill>
            <a:prstDash val="solid"/>
          </a:ln>
        </p:spPr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896112" y="566928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868680" y="1216152"/>
            <a:ext cx="10451592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rgbClr val="1B27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21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868680" y="1700784"/>
            <a:ext cx="10451592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5000"/>
              </a:lnSpc>
              <a:buNone/>
              <a:defRPr lang="en-US" sz="1250" dirty="0">
                <a:solidFill>
                  <a:srgbClr val="4A5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10698480" cy="0"/>
          </a:xfrm>
          <a:prstGeom prst="line">
            <a:avLst/>
          </a:prstGeom>
          <a:noFill/>
          <a:ln w="9525">
            <a:solidFill>
              <a:srgbClr val="AEB9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6336792"/>
            <a:ext cx="10698480" cy="0"/>
          </a:xfrm>
          <a:prstGeom prst="line">
            <a:avLst/>
          </a:prstGeom>
          <a:noFill/>
          <a:ln w="9525">
            <a:solidFill>
              <a:srgbClr val="AEB9C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5352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65836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  <a:ea typeface="맑은 고딕"/>
              </a:rPr>
              <a:t>Confidential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2505456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AEB9CC"/>
                </a:solidFill>
                <a:latin typeface="맑은 고딕"/>
                <a:ea typeface="맑은 고딕"/>
              </a:rPr>
              <a:t>레이다 SW 학습 과제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944368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맑은 고딕"/>
                <a:ea typeface="맑은 고딕"/>
              </a:rPr>
              <a:t>추적 필터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863840" y="3913632"/>
            <a:ext cx="3108960" cy="0"/>
          </a:xfrm>
          <a:prstGeom prst="line">
            <a:avLst/>
          </a:prstGeom>
          <a:ln w="9525">
            <a:solidFill>
              <a:srgbClr val="8794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206240" y="4059936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AEB9CC"/>
                </a:solidFill>
                <a:latin typeface="Arial"/>
                <a:ea typeface="맑은 고딕"/>
              </a:rPr>
              <a:t>Tracking Filter: CMKF with Singer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512064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맑은 고딕"/>
              </a:rPr>
              <a:t>Janghwan Kim (Harley)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5352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274320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추적 필터</a:t>
            </a:r>
          </a:p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Singer CMKF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0350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AEB9CC"/>
                </a:solidFill>
                <a:latin typeface="Arial"/>
                <a:ea typeface="맑은 고딕"/>
              </a:rPr>
              <a:t>Janghwan Kim (Harley)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1801368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B2740"/>
                </a:solidFill>
                <a:latin typeface="Arial"/>
                <a:ea typeface="맑은 고딕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1801368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740"/>
                </a:solidFill>
                <a:latin typeface="맑은 고딕"/>
                <a:ea typeface="맑은 고딕"/>
              </a:rPr>
              <a:t>추적 필터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8312" y="2103120"/>
            <a:ext cx="3858768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1009376" y="1801368"/>
            <a:ext cx="51206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Arial"/>
                <a:ea typeface="맑은 고딕"/>
              </a:rPr>
              <a:t>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800600" y="2459736"/>
            <a:ext cx="6720840" cy="0"/>
          </a:xfrm>
          <a:prstGeom prst="line">
            <a:avLst/>
          </a:prstGeom>
          <a:ln w="9525">
            <a:solidFill>
              <a:srgbClr val="D2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800600" y="2569464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B2740"/>
                </a:solidFill>
                <a:latin typeface="Arial"/>
                <a:ea typeface="맑은 고딕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256946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740"/>
                </a:solidFill>
                <a:latin typeface="맑은 고딕"/>
                <a:ea typeface="맑은 고딕"/>
              </a:rPr>
              <a:t>구현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19672" y="2871216"/>
            <a:ext cx="4407408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1009376" y="2569464"/>
            <a:ext cx="51206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Arial"/>
                <a:ea typeface="맑은 고딕"/>
              </a:rPr>
              <a:t>10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800600" y="3227832"/>
            <a:ext cx="6720840" cy="0"/>
          </a:xfrm>
          <a:prstGeom prst="line">
            <a:avLst/>
          </a:prstGeom>
          <a:ln w="9525">
            <a:solidFill>
              <a:srgbClr val="D2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800600" y="333756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B2740"/>
                </a:solidFill>
                <a:latin typeface="Arial"/>
                <a:ea typeface="맑은 고딕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333756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740"/>
                </a:solidFill>
                <a:latin typeface="맑은 고딕"/>
                <a:ea typeface="맑은 고딕"/>
              </a:rPr>
              <a:t>결과: 과제 값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507223" y="3639312"/>
            <a:ext cx="3419857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1009376" y="3337560"/>
            <a:ext cx="51206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Arial"/>
                <a:ea typeface="맑은 고딕"/>
              </a:rPr>
              <a:t>16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800600" y="3995928"/>
            <a:ext cx="6720840" cy="0"/>
          </a:xfrm>
          <a:prstGeom prst="line">
            <a:avLst/>
          </a:prstGeom>
          <a:ln w="9525">
            <a:solidFill>
              <a:srgbClr val="D2D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800600" y="4105656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B2740"/>
                </a:solidFill>
                <a:latin typeface="Arial"/>
                <a:ea typeface="맑은 고딕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0" y="410565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740"/>
                </a:solidFill>
                <a:latin typeface="맑은 고딕"/>
                <a:ea typeface="맑은 고딕"/>
              </a:rPr>
              <a:t>파라미터 조정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507223" y="4407408"/>
            <a:ext cx="3419857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009376" y="4105656"/>
            <a:ext cx="51206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Arial"/>
                <a:ea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59536" y="914400"/>
            <a:ext cx="9144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B2740"/>
                </a:solidFill>
                <a:latin typeface="맑은 고딕"/>
                <a:ea typeface="맑은 고딕"/>
              </a:rPr>
              <a:t>01. 추적 필터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1444752"/>
            <a:ext cx="105887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B2740"/>
                </a:solidFill>
                <a:latin typeface="맑은 고딕"/>
                <a:ea typeface="맑은 고딕"/>
              </a:rPr>
              <a:t>트랙의 위치 · 속도 · 가속도를 스캔마다 예측하고 플롯으로 고치는 칼만 필터 (CMKF) 와, 표적 기동을 나타내는 Singer 모델을 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2057400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1.1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2057400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추적 필터가 하는 일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23260" y="2313432"/>
            <a:ext cx="7383780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735056" y="2057400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2464308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1.2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2464308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칼만 필터 한 주기: 예측과 갱신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06240" y="2720339"/>
            <a:ext cx="6400800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735056" y="2464308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2871215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1.3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2871215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CMKF: 측정치 변환과 측정잡음 공분산 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860036" y="3127248"/>
            <a:ext cx="5747004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0735056" y="2871215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78123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1.4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3278123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Singer 모델과 상태천이 행렬 F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165091" y="3534155"/>
            <a:ext cx="6441949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735056" y="3278123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" y="3685031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1.5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3685031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공정잡음 공분산 Q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049524" y="3941063"/>
            <a:ext cx="7557516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735056" y="3685031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" y="4091939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1.6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20" y="4091939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발산 판단: NIS 와 게이트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703320" y="4347972"/>
            <a:ext cx="6903720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0735056" y="4091939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01. 추적 필터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1.1 추적 필터가 하는 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과제 5 는 트랙을 만들고 상태만 관리했습니다. 과제 6 은 그 트랙의 위치 · 속도 · 가속도를 스캔마다 예측하고 플롯으로 고치는 추적 필터를 넣습니다.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40080" y="2267712"/>
            <a:ext cx="2459736" cy="585216"/>
          </a:xfrm>
          <a:prstGeom prst="rect">
            <a:avLst/>
          </a:prstGeom>
          <a:solidFill>
            <a:srgbClr val="F7F9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2313432"/>
            <a:ext cx="2459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B2740"/>
                </a:solidFill>
                <a:latin typeface="맑은 고딕"/>
                <a:ea typeface="맑은 고딕"/>
              </a:rPr>
              <a:t>측정 모의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587752"/>
            <a:ext cx="2459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794AC"/>
                </a:solidFill>
                <a:latin typeface="맑은 고딕"/>
                <a:ea typeface="맑은 고딕"/>
              </a:rPr>
              <a:t>과제 4 · 스캔마다 플롯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45536" y="2560320"/>
            <a:ext cx="265175" cy="0"/>
          </a:xfrm>
          <a:prstGeom prst="line">
            <a:avLst/>
          </a:prstGeom>
          <a:ln w="12700">
            <a:solidFill>
              <a:srgbClr val="AEB9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456432" y="2267712"/>
            <a:ext cx="2459736" cy="585216"/>
          </a:xfrm>
          <a:prstGeom prst="rect">
            <a:avLst/>
          </a:prstGeom>
          <a:solidFill>
            <a:srgbClr val="F7F9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456432" y="2313432"/>
            <a:ext cx="2459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B2740"/>
                </a:solidFill>
                <a:latin typeface="맑은 고딕"/>
                <a:ea typeface="맑은 고딕"/>
              </a:rPr>
              <a:t>트랙 개시 ·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6432" y="2587752"/>
            <a:ext cx="2459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794AC"/>
                </a:solidFill>
                <a:latin typeface="맑은 고딕"/>
                <a:ea typeface="맑은 고딕"/>
              </a:rPr>
              <a:t>과제 5 · 2-Point, 스코어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61888" y="2560320"/>
            <a:ext cx="265176" cy="0"/>
          </a:xfrm>
          <a:prstGeom prst="line">
            <a:avLst/>
          </a:prstGeom>
          <a:ln w="12700">
            <a:solidFill>
              <a:srgbClr val="AEB9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272784" y="2267712"/>
            <a:ext cx="2459736" cy="585216"/>
          </a:xfrm>
          <a:prstGeom prst="rect">
            <a:avLst/>
          </a:prstGeom>
          <a:solidFill>
            <a:srgbClr val="EBF2FE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72784" y="2313432"/>
            <a:ext cx="2459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B2740"/>
                </a:solidFill>
                <a:latin typeface="맑은 고딕"/>
                <a:ea typeface="맑은 고딕"/>
              </a:rPr>
              <a:t>추적 필터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2784" y="2587752"/>
            <a:ext cx="2459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4A5A7A"/>
                </a:solidFill>
                <a:latin typeface="맑은 고딕"/>
                <a:ea typeface="맑은 고딕"/>
              </a:rPr>
              <a:t>과제 6 · 이번 과제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778240" y="2560320"/>
            <a:ext cx="265176" cy="0"/>
          </a:xfrm>
          <a:prstGeom prst="line">
            <a:avLst/>
          </a:prstGeom>
          <a:ln w="12700">
            <a:solidFill>
              <a:srgbClr val="AEB9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089136" y="2267712"/>
            <a:ext cx="2459736" cy="585216"/>
          </a:xfrm>
          <a:prstGeom prst="rect">
            <a:avLst/>
          </a:prstGeom>
          <a:solidFill>
            <a:srgbClr val="F7F9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089136" y="2313432"/>
            <a:ext cx="2459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7A879F"/>
                </a:solidFill>
                <a:latin typeface="맑은 고딕"/>
                <a:ea typeface="맑은 고딕"/>
              </a:rPr>
              <a:t>트랙 연관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89136" y="2587752"/>
            <a:ext cx="2459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794AC"/>
                </a:solidFill>
                <a:latin typeface="맑은 고딕"/>
                <a:ea typeface="맑은 고딕"/>
              </a:rPr>
              <a:t>이번에는 무조건 연관 (가정)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40080" y="3017520"/>
            <a:ext cx="10908792" cy="0"/>
          </a:xfrm>
          <a:prstGeom prst="line">
            <a:avLst/>
          </a:prstGeom>
          <a:ln w="9525">
            <a:solidFill>
              <a:srgbClr val="E3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fig_r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27248"/>
            <a:ext cx="4983480" cy="2881485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640080" y="6045308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결과 데이터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4480" y="6036164"/>
            <a:ext cx="4069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대공 표적 조정 값 실행 22 ~ 34 s (plots · tracks.csv)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315468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2740"/>
                </a:solidFill>
                <a:latin typeface="맑은 고딕"/>
                <a:ea typeface="맑은 고딕"/>
              </a:rPr>
              <a:t>스캔마다 하는 일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3520440"/>
            <a:ext cx="868680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050" b="1" i="0">
                <a:solidFill>
                  <a:srgbClr val="2563EB"/>
                </a:solidFill>
                <a:latin typeface="맑은 고딕"/>
                <a:ea typeface="맑은 고딕"/>
              </a:rPr>
              <a:t>① 예측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3493008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지난 추정으로 이번 스캔의 위치를 미리 계산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A7A"/>
                </a:solidFill>
                <a:latin typeface="맑은 고딕"/>
                <a:ea typeface="맑은 고딕"/>
              </a:rPr>
              <a:t>표적 운동 모델: Singer 모델 (1.4)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4178808"/>
            <a:ext cx="868680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050" b="1" i="0">
                <a:solidFill>
                  <a:srgbClr val="2563EB"/>
                </a:solidFill>
                <a:latin typeface="맑은 고딕"/>
                <a:ea typeface="맑은 고딕"/>
              </a:rPr>
              <a:t>② 갱신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4151376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이번 플롯과 예측의 차이 (잔차) 를 칼만 게인 K 만큼 반영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A7A"/>
                </a:solidFill>
                <a:latin typeface="맑은 고딕"/>
                <a:ea typeface="맑은 고딕"/>
              </a:rPr>
              <a:t>K 는 예측 오차 P 와 플롯 오차 R 로 정함 (1.2)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0" y="4837176"/>
            <a:ext cx="868680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050" b="1" i="0">
                <a:solidFill>
                  <a:srgbClr val="1B2740"/>
                </a:solidFill>
                <a:latin typeface="맑은 고딕"/>
                <a:ea typeface="맑은 고딕"/>
              </a:rPr>
              <a:t>결과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4809744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트랙 = 상태 9 개 + 오차 공분산 P (9 × 9)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A7A"/>
                </a:solidFill>
                <a:latin typeface="맑은 고딕"/>
                <a:ea typeface="맑은 고딕"/>
              </a:rPr>
              <a:t>위치 · 속도 · 가속도 × 북 · 동 · 아래 (VC-NED)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0" y="5504688"/>
            <a:ext cx="5605272" cy="749808"/>
          </a:xfrm>
          <a:prstGeom prst="roundRect">
            <a:avLst>
              <a:gd name="adj" fmla="val 10000"/>
            </a:avLst>
          </a:prstGeom>
          <a:solidFill>
            <a:srgbClr val="FEF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108192" y="5550408"/>
            <a:ext cx="534924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B2740"/>
                </a:solidFill>
                <a:latin typeface="맑은 고딕"/>
                <a:ea typeface="맑은 고딕"/>
              </a:rPr>
              <a:t>과제 5 와 달라진 점: 탐지 플롯을 트랙에 무조건 연관 (가정)</a:t>
            </a:r>
          </a:p>
          <a:p>
            <a:pPr algn="l">
              <a:spcAft>
                <a:spcPts val="0"/>
              </a:spcAft>
            </a:pPr>
            <a:r>
              <a:rPr sz="960" b="0" i="0">
                <a:solidFill>
                  <a:srgbClr val="1B2740"/>
                </a:solidFill>
                <a:latin typeface="맑은 고딕"/>
                <a:ea typeface="맑은 고딕"/>
              </a:rPr>
              <a:t>Assigned_Flag 1 → 0.2 s 개시, 0.5 s 확정 뒤 끝까지 유지 (과제 5 는 늘 0 → 두 스캔 뒤 삭제)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01. 추적 필터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1.2 칼만 필터 한 주기: 예측과 갱신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스캔마다 예측과 갱신을 한 번씩 합니다. 과제 자료의 다섯 식이 이 두 단계이고, 오차 공분산 (타원) 이 예측에서 커졌다가 갱신에서 줄어듭니다.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pic>
        <p:nvPicPr>
          <p:cNvPr id="26" name="Picture 25" descr="fig_kf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12848"/>
            <a:ext cx="5394960" cy="3382554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172200" y="2304288"/>
            <a:ext cx="566928" cy="23774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950" b="1" i="0">
                <a:solidFill>
                  <a:srgbClr val="2563EB"/>
                </a:solidFill>
                <a:latin typeface="맑은 고딕"/>
                <a:ea typeface="맑은 고딕"/>
              </a:rPr>
              <a:t>예측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267712"/>
            <a:ext cx="4690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740"/>
                </a:solidFill>
                <a:latin typeface="맑은 고딕"/>
                <a:ea typeface="맑은 고딕"/>
              </a:rPr>
              <a:t>추정치 예측   </a:t>
            </a: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지난 추정을 T (0.1 s) 만큼 앞으로 (F: Singer 모델)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532888"/>
            <a:ext cx="4690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X̂</a:t>
            </a:r>
            <a:r>
              <a:rPr sz="12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k|k−1</a:t>
            </a: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 = F</a:t>
            </a:r>
            <a:r>
              <a:rPr sz="12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k</a:t>
            </a: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 X̂</a:t>
            </a:r>
            <a:r>
              <a:rPr sz="12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k−1|k−1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2944368"/>
            <a:ext cx="566928" cy="23774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950" b="1" i="0">
                <a:solidFill>
                  <a:srgbClr val="2563EB"/>
                </a:solidFill>
                <a:latin typeface="맑은 고딕"/>
                <a:ea typeface="맑은 고딕"/>
              </a:rPr>
              <a:t>예측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907792"/>
            <a:ext cx="4690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740"/>
                </a:solidFill>
                <a:latin typeface="맑은 고딕"/>
                <a:ea typeface="맑은 고딕"/>
              </a:rPr>
              <a:t>오차 공분산 예측   </a:t>
            </a: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모르는 기동 Q 만큼 커짐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172968"/>
            <a:ext cx="4690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P</a:t>
            </a:r>
            <a:r>
              <a:rPr sz="12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k|k−1</a:t>
            </a: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 = F</a:t>
            </a:r>
            <a:r>
              <a:rPr sz="12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k</a:t>
            </a: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 P</a:t>
            </a:r>
            <a:r>
              <a:rPr sz="12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k−1|k−1</a:t>
            </a: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 F</a:t>
            </a:r>
            <a:r>
              <a:rPr sz="12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k</a:t>
            </a:r>
            <a:r>
              <a:rPr sz="1250" b="0" i="0" baseline="30000">
                <a:solidFill>
                  <a:srgbClr val="1B2740"/>
                </a:solidFill>
                <a:latin typeface="Cambria Math"/>
                <a:ea typeface="맑은 고딕"/>
              </a:rPr>
              <a:t>T</a:t>
            </a: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 + Q</a:t>
            </a:r>
            <a:r>
              <a:rPr sz="12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584448"/>
            <a:ext cx="566928" cy="23774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950" b="1" i="0">
                <a:solidFill>
                  <a:srgbClr val="059669"/>
                </a:solidFill>
                <a:latin typeface="맑은 고딕"/>
                <a:ea typeface="맑은 고딕"/>
              </a:rPr>
              <a:t>갱신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547872"/>
            <a:ext cx="4690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740"/>
                </a:solidFill>
                <a:latin typeface="맑은 고딕"/>
                <a:ea typeface="맑은 고딕"/>
              </a:rPr>
              <a:t>칼만 게인   </a:t>
            </a: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예측 오차 P 와 플롯 오차 R 의 비율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813048"/>
            <a:ext cx="4690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K</a:t>
            </a:r>
            <a:r>
              <a:rPr sz="12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k</a:t>
            </a: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 = P</a:t>
            </a:r>
            <a:r>
              <a:rPr sz="12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k|k−1</a:t>
            </a: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 H</a:t>
            </a:r>
            <a:r>
              <a:rPr sz="1250" b="0" i="0" baseline="30000">
                <a:solidFill>
                  <a:srgbClr val="1B2740"/>
                </a:solidFill>
                <a:latin typeface="Cambria Math"/>
                <a:ea typeface="맑은 고딕"/>
              </a:rPr>
              <a:t>T</a:t>
            </a: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 ( H P</a:t>
            </a:r>
            <a:r>
              <a:rPr sz="12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k|k−1</a:t>
            </a: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 H</a:t>
            </a:r>
            <a:r>
              <a:rPr sz="1250" b="0" i="0" baseline="30000">
                <a:solidFill>
                  <a:srgbClr val="1B2740"/>
                </a:solidFill>
                <a:latin typeface="Cambria Math"/>
                <a:ea typeface="맑은 고딕"/>
              </a:rPr>
              <a:t>T</a:t>
            </a: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 + R</a:t>
            </a:r>
            <a:r>
              <a:rPr sz="12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k</a:t>
            </a: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 )</a:t>
            </a:r>
            <a:r>
              <a:rPr sz="1250" b="0" i="0" baseline="30000">
                <a:solidFill>
                  <a:srgbClr val="1B2740"/>
                </a:solidFill>
                <a:latin typeface="Cambria Math"/>
                <a:ea typeface="맑은 고딕"/>
              </a:rPr>
              <a:t>−1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4224528"/>
            <a:ext cx="566928" cy="23774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950" b="1" i="0">
                <a:solidFill>
                  <a:srgbClr val="059669"/>
                </a:solidFill>
                <a:latin typeface="맑은 고딕"/>
                <a:ea typeface="맑은 고딕"/>
              </a:rPr>
              <a:t>갱신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87952"/>
            <a:ext cx="4690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740"/>
                </a:solidFill>
                <a:latin typeface="맑은 고딕"/>
                <a:ea typeface="맑은 고딕"/>
              </a:rPr>
              <a:t>추정치   </a:t>
            </a: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잔차 (플롯 − 예측) 의 K 만큼 고침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453128"/>
            <a:ext cx="4690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X̂</a:t>
            </a:r>
            <a:r>
              <a:rPr sz="12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k|k</a:t>
            </a: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 = X̂</a:t>
            </a:r>
            <a:r>
              <a:rPr sz="12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k|k−1</a:t>
            </a: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 + K</a:t>
            </a:r>
            <a:r>
              <a:rPr sz="12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k</a:t>
            </a: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 ( z</a:t>
            </a:r>
            <a:r>
              <a:rPr sz="12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k</a:t>
            </a: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 − H X̂</a:t>
            </a:r>
            <a:r>
              <a:rPr sz="12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k|k−1</a:t>
            </a: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 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4864608"/>
            <a:ext cx="566928" cy="23774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950" b="1" i="0">
                <a:solidFill>
                  <a:srgbClr val="059669"/>
                </a:solidFill>
                <a:latin typeface="맑은 고딕"/>
                <a:ea typeface="맑은 고딕"/>
              </a:rPr>
              <a:t>갱신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828032"/>
            <a:ext cx="4690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740"/>
                </a:solidFill>
                <a:latin typeface="맑은 고딕"/>
                <a:ea typeface="맑은 고딕"/>
              </a:rPr>
              <a:t>추정 오차 공분산   </a:t>
            </a: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플롯을 반영해 줄어듦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093208"/>
            <a:ext cx="4690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P</a:t>
            </a:r>
            <a:r>
              <a:rPr sz="12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k|k</a:t>
            </a: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 = ( I − K</a:t>
            </a:r>
            <a:r>
              <a:rPr sz="12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k</a:t>
            </a:r>
            <a:r>
              <a:rPr sz="1250" b="0" i="0">
                <a:solidFill>
                  <a:srgbClr val="1B2740"/>
                </a:solidFill>
                <a:latin typeface="Cambria Math"/>
                <a:ea typeface="맑은 고딕"/>
              </a:rPr>
              <a:t> H ) P</a:t>
            </a:r>
            <a:r>
              <a:rPr sz="12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k|k−1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687568"/>
            <a:ext cx="10908792" cy="566928"/>
          </a:xfrm>
          <a:prstGeom prst="roundRect">
            <a:avLst>
              <a:gd name="adj" fmla="val 20000"/>
            </a:avLst>
          </a:prstGeom>
          <a:solidFill>
            <a:srgbClr val="EB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22960" y="56875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B2740"/>
                </a:solidFill>
                <a:latin typeface="맑은 고딕"/>
                <a:ea typeface="맑은 고딕"/>
              </a:rPr>
              <a:t>K 가 크면 플롯을, 작으면 예측 (운동 모델) 을 따름.  R 이 작거나 (플롯을 믿음) Q 가 클수록 (모델을 덜 믿음) K 가 커짐  →  4 장에서 조정할 손잡이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01. 추적 필터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1.3 CMKF: 측정치 변환과 측정잡음 공분산 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레이다는 거리 · 방위각 · 고각을 잽니다. CMKF 는 이 값을 VC-NED 직교 좌표로 바꾼 위치를 측정치로 써서 측정 식이 선형 (H) 이 되게 합니다.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2585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2740"/>
                </a:solidFill>
                <a:latin typeface="맑은 고딕"/>
                <a:ea typeface="맑은 고딕"/>
              </a:rPr>
              <a:t>측정치 변환 (CM: Converted Measurement)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2606040"/>
            <a:ext cx="1133856" cy="548640"/>
          </a:xfrm>
          <a:prstGeom prst="roundRect">
            <a:avLst>
              <a:gd name="adj" fmla="val 12000"/>
            </a:avLst>
          </a:prstGeom>
          <a:solidFill>
            <a:srgbClr val="EBF2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0080" y="2642616"/>
            <a:ext cx="1133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B2740"/>
                </a:solidFill>
                <a:latin typeface="Cambria Math"/>
                <a:ea typeface="맑은 고딕"/>
              </a:rPr>
              <a:t>r · θ · 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889504"/>
            <a:ext cx="11338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4A5A7A"/>
                </a:solidFill>
                <a:latin typeface="맑은 고딕"/>
                <a:ea typeface="맑은 고딕"/>
              </a:rPr>
              <a:t>구좌표 (플롯)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801368" y="2880360"/>
            <a:ext cx="182880" cy="0"/>
          </a:xfrm>
          <a:prstGeom prst="line">
            <a:avLst/>
          </a:prstGeom>
          <a:ln w="13970">
            <a:solidFill>
              <a:srgbClr val="4A5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011680" y="2606040"/>
            <a:ext cx="1133856" cy="54864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011680" y="2642616"/>
            <a:ext cx="1133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안테나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2889504"/>
            <a:ext cx="11338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4A5A7A"/>
                </a:solidFill>
                <a:latin typeface="맑은 고딕"/>
                <a:ea typeface="맑은 고딕"/>
              </a:rPr>
              <a:t>직교 좌표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172968" y="2880360"/>
            <a:ext cx="182880" cy="0"/>
          </a:xfrm>
          <a:prstGeom prst="line">
            <a:avLst/>
          </a:prstGeom>
          <a:ln w="13970">
            <a:solidFill>
              <a:srgbClr val="4A5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383280" y="2606040"/>
            <a:ext cx="1133856" cy="54864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383280" y="2642616"/>
            <a:ext cx="1133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동체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2889504"/>
            <a:ext cx="11338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4A5A7A"/>
                </a:solidFill>
                <a:latin typeface="맑은 고딕"/>
                <a:ea typeface="맑은 고딕"/>
              </a:rPr>
              <a:t>좌표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44568" y="2880360"/>
            <a:ext cx="182880" cy="0"/>
          </a:xfrm>
          <a:prstGeom prst="line">
            <a:avLst/>
          </a:prstGeom>
          <a:ln w="13970">
            <a:solidFill>
              <a:srgbClr val="4A5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754880" y="2606040"/>
            <a:ext cx="1133856" cy="548640"/>
          </a:xfrm>
          <a:prstGeom prst="roundRect">
            <a:avLst>
              <a:gd name="adj" fmla="val 12000"/>
            </a:avLst>
          </a:prstGeom>
          <a:solidFill>
            <a:srgbClr val="EBF2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754880" y="2642616"/>
            <a:ext cx="1133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B2740"/>
                </a:solidFill>
                <a:latin typeface="Cambria Math"/>
                <a:ea typeface="맑은 고딕"/>
              </a:rPr>
              <a:t>z = [x y z]</a:t>
            </a:r>
            <a:r>
              <a:rPr sz="1100" b="1" i="0" baseline="30000">
                <a:solidFill>
                  <a:srgbClr val="1B2740"/>
                </a:solidFill>
                <a:latin typeface="Cambria Math"/>
                <a:ea typeface="맑은 고딕"/>
              </a:rPr>
              <a:t>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2889504"/>
            <a:ext cx="11338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4A5A7A"/>
                </a:solidFill>
                <a:latin typeface="맑은 고딕"/>
                <a:ea typeface="맑은 고딕"/>
              </a:rPr>
              <a:t>VC-NED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320040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과제 3 좌표 변환 함수 그대로 (수신 쓰레드 f_Lnk_FillPlotCoord)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35661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2740"/>
                </a:solidFill>
                <a:latin typeface="맑은 고딕"/>
                <a:ea typeface="맑은 고딕"/>
              </a:rPr>
              <a:t>측정 행렬 H: 상태 9 개 가운데 위치 3 개만 꺼냄</a:t>
            </a:r>
          </a:p>
        </p:txBody>
      </p:sp>
      <p:pic>
        <p:nvPicPr>
          <p:cNvPr id="44" name="Picture 43" descr="fig_h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0"/>
            <a:ext cx="5120640" cy="1578864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640080" y="5577840"/>
            <a:ext cx="5257800" cy="676656"/>
          </a:xfrm>
          <a:prstGeom prst="roundRect">
            <a:avLst>
              <a:gd name="adj" fmla="val 12000"/>
            </a:avLst>
          </a:prstGeom>
          <a:solidFill>
            <a:srgbClr val="EB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04672" y="5596128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B2740"/>
                </a:solidFill>
                <a:latin typeface="맑은 고딕"/>
                <a:ea typeface="맑은 고딕"/>
              </a:rPr>
              <a:t>잔차 ν = z</a:t>
            </a:r>
            <a:r>
              <a:rPr sz="1050" b="1" i="0" baseline="-25000">
                <a:solidFill>
                  <a:srgbClr val="1B2740"/>
                </a:solidFill>
                <a:latin typeface="맑은 고딕"/>
                <a:ea typeface="맑은 고딕"/>
              </a:rPr>
              <a:t>k</a:t>
            </a:r>
            <a:r>
              <a:rPr sz="1050" b="1" i="0">
                <a:solidFill>
                  <a:srgbClr val="1B2740"/>
                </a:solidFill>
                <a:latin typeface="맑은 고딕"/>
                <a:ea typeface="맑은 고딕"/>
              </a:rPr>
              <a:t> − H X̂</a:t>
            </a:r>
            <a:r>
              <a:rPr sz="1050" b="1" i="0" baseline="-25000">
                <a:solidFill>
                  <a:srgbClr val="1B2740"/>
                </a:solidFill>
                <a:latin typeface="맑은 고딕"/>
                <a:ea typeface="맑은 고딕"/>
              </a:rPr>
              <a:t>k|k−1</a:t>
            </a:r>
            <a:r>
              <a:rPr sz="1050" b="1" i="0">
                <a:solidFill>
                  <a:srgbClr val="1B2740"/>
                </a:solidFill>
                <a:latin typeface="맑은 고딕"/>
                <a:ea typeface="맑은 고딕"/>
              </a:rPr>
              <a:t> = 플롯 위치 − 예측 위치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A7A"/>
                </a:solidFill>
                <a:latin typeface="맑은 고딕"/>
                <a:ea typeface="맑은 고딕"/>
              </a:rPr>
              <a:t>측정 식이 선형이라 칼만 필터 식을 그대로 씀. 대신 R 을 직교 좌표로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258568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2740"/>
                </a:solidFill>
                <a:latin typeface="맑은 고딕"/>
                <a:ea typeface="맑은 고딕"/>
              </a:rPr>
              <a:t>측정잡음 공분산 R  (과제 5 의 1.4 와 같은 식)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2606040"/>
            <a:ext cx="5285232" cy="84124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263640" y="2651760"/>
            <a:ext cx="52852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B2740"/>
                </a:solidFill>
                <a:latin typeface="Cambria Math"/>
                <a:ea typeface="맑은 고딕"/>
              </a:rPr>
              <a:t>R</a:t>
            </a:r>
            <a:r>
              <a:rPr sz="1500" b="1" i="0" baseline="-25000">
                <a:solidFill>
                  <a:srgbClr val="1B2740"/>
                </a:solidFill>
                <a:latin typeface="Cambria Math"/>
                <a:ea typeface="맑은 고딕"/>
              </a:rPr>
              <a:t>k</a:t>
            </a:r>
            <a:r>
              <a:rPr sz="1500" b="1" i="0" baseline="30000">
                <a:solidFill>
                  <a:srgbClr val="1B2740"/>
                </a:solidFill>
                <a:latin typeface="Cambria Math"/>
                <a:ea typeface="맑은 고딕"/>
              </a:rPr>
              <a:t>NED</a:t>
            </a:r>
            <a:r>
              <a:rPr sz="1500" b="1" i="0">
                <a:solidFill>
                  <a:srgbClr val="1B2740"/>
                </a:solidFill>
                <a:latin typeface="Cambria Math"/>
                <a:ea typeface="맑은 고딕"/>
              </a:rPr>
              <a:t> = M J R</a:t>
            </a:r>
            <a:r>
              <a:rPr sz="1500" b="1" i="0" baseline="-25000">
                <a:solidFill>
                  <a:srgbClr val="1B2740"/>
                </a:solidFill>
                <a:latin typeface="Cambria Math"/>
                <a:ea typeface="맑은 고딕"/>
              </a:rPr>
              <a:t>k</a:t>
            </a:r>
            <a:r>
              <a:rPr sz="1500" b="1" i="0" baseline="30000">
                <a:solidFill>
                  <a:srgbClr val="1B2740"/>
                </a:solidFill>
                <a:latin typeface="Cambria Math"/>
                <a:ea typeface="맑은 고딕"/>
              </a:rPr>
              <a:t>rθφ</a:t>
            </a:r>
            <a:r>
              <a:rPr sz="1500" b="1" i="0">
                <a:solidFill>
                  <a:srgbClr val="1B2740"/>
                </a:solidFill>
                <a:latin typeface="Cambria Math"/>
                <a:ea typeface="맑은 고딕"/>
              </a:rPr>
              <a:t> J</a:t>
            </a:r>
            <a:r>
              <a:rPr sz="1500" b="1" i="0" baseline="30000">
                <a:solidFill>
                  <a:srgbClr val="1B2740"/>
                </a:solidFill>
                <a:latin typeface="Cambria Math"/>
                <a:ea typeface="맑은 고딕"/>
              </a:rPr>
              <a:t>T</a:t>
            </a:r>
            <a:r>
              <a:rPr sz="1500" b="1" i="0">
                <a:solidFill>
                  <a:srgbClr val="1B2740"/>
                </a:solidFill>
                <a:latin typeface="Cambria Math"/>
                <a:ea typeface="맑은 고딕"/>
              </a:rPr>
              <a:t> M</a:t>
            </a:r>
            <a:r>
              <a:rPr sz="1500" b="1" i="0" baseline="30000">
                <a:solidFill>
                  <a:srgbClr val="1B2740"/>
                </a:solidFill>
                <a:latin typeface="Cambria Math"/>
                <a:ea typeface="맑은 고딕"/>
              </a:rPr>
              <a:t>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3072384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M = C</a:t>
            </a:r>
            <a:r>
              <a:rPr sz="950" b="0" i="0" baseline="-25000">
                <a:solidFill>
                  <a:srgbClr val="4A5A7A"/>
                </a:solidFill>
                <a:latin typeface="맑은 고딕"/>
                <a:ea typeface="맑은 고딕"/>
              </a:rPr>
              <a:t>Body</a:t>
            </a:r>
            <a:r>
              <a:rPr sz="950" b="0" i="0" baseline="30000">
                <a:solidFill>
                  <a:srgbClr val="4A5A7A"/>
                </a:solidFill>
                <a:latin typeface="맑은 고딕"/>
                <a:ea typeface="맑은 고딕"/>
              </a:rPr>
              <a:t>NED</a:t>
            </a: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 C</a:t>
            </a:r>
            <a:r>
              <a:rPr sz="950" b="0" i="0" baseline="-25000">
                <a:solidFill>
                  <a:srgbClr val="4A5A7A"/>
                </a:solidFill>
                <a:latin typeface="맑은 고딕"/>
                <a:ea typeface="맑은 고딕"/>
              </a:rPr>
              <a:t>Ant</a:t>
            </a:r>
            <a:r>
              <a:rPr sz="950" b="0" i="0" baseline="30000">
                <a:solidFill>
                  <a:srgbClr val="4A5A7A"/>
                </a:solidFill>
                <a:latin typeface="맑은 고딕"/>
                <a:ea typeface="맑은 고딕"/>
              </a:rPr>
              <a:t>Body</a:t>
            </a: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 (안테나 → 동체 → NED 회전),   R</a:t>
            </a:r>
            <a:r>
              <a:rPr sz="950" b="0" i="0" baseline="-25000">
                <a:solidFill>
                  <a:srgbClr val="4A5A7A"/>
                </a:solidFill>
                <a:latin typeface="맑은 고딕"/>
                <a:ea typeface="맑은 고딕"/>
              </a:rPr>
              <a:t>k</a:t>
            </a:r>
            <a:r>
              <a:rPr sz="950" b="0" i="0" baseline="30000">
                <a:solidFill>
                  <a:srgbClr val="4A5A7A"/>
                </a:solidFill>
                <a:latin typeface="맑은 고딕"/>
                <a:ea typeface="맑은 고딕"/>
              </a:rPr>
              <a:t>rθφ</a:t>
            </a: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 = diag( σ</a:t>
            </a:r>
            <a:r>
              <a:rPr sz="950" b="0" i="0" baseline="-25000">
                <a:solidFill>
                  <a:srgbClr val="4A5A7A"/>
                </a:solidFill>
                <a:latin typeface="맑은 고딕"/>
                <a:ea typeface="맑은 고딕"/>
              </a:rPr>
              <a:t>rng</a:t>
            </a:r>
            <a:r>
              <a:rPr sz="950" b="0" i="0" baseline="30000">
                <a:solidFill>
                  <a:srgbClr val="4A5A7A"/>
                </a:solidFill>
                <a:latin typeface="맑은 고딕"/>
                <a:ea typeface="맑은 고딕"/>
              </a:rPr>
              <a:t>2</a:t>
            </a: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, σ</a:t>
            </a:r>
            <a:r>
              <a:rPr sz="950" b="0" i="0" baseline="-25000">
                <a:solidFill>
                  <a:srgbClr val="4A5A7A"/>
                </a:solidFill>
                <a:latin typeface="맑은 고딕"/>
                <a:ea typeface="맑은 고딕"/>
              </a:rPr>
              <a:t>azi</a:t>
            </a:r>
            <a:r>
              <a:rPr sz="950" b="0" i="0" baseline="30000">
                <a:solidFill>
                  <a:srgbClr val="4A5A7A"/>
                </a:solidFill>
                <a:latin typeface="맑은 고딕"/>
                <a:ea typeface="맑은 고딕"/>
              </a:rPr>
              <a:t>2</a:t>
            </a: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, σ</a:t>
            </a:r>
            <a:r>
              <a:rPr sz="950" b="0" i="0" baseline="-25000">
                <a:solidFill>
                  <a:srgbClr val="4A5A7A"/>
                </a:solidFill>
                <a:latin typeface="맑은 고딕"/>
                <a:ea typeface="맑은 고딕"/>
              </a:rPr>
              <a:t>ele</a:t>
            </a:r>
            <a:r>
              <a:rPr sz="950" b="0" i="0" baseline="30000">
                <a:solidFill>
                  <a:srgbClr val="4A5A7A"/>
                </a:solidFill>
                <a:latin typeface="맑은 고딕"/>
                <a:ea typeface="맑은 고딕"/>
              </a:rPr>
              <a:t>2</a:t>
            </a: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 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63640" y="3566160"/>
            <a:ext cx="1682496" cy="603504"/>
          </a:xfrm>
          <a:prstGeom prst="roundRect">
            <a:avLst>
              <a:gd name="adj" fmla="val 12000"/>
            </a:avLst>
          </a:prstGeom>
          <a:solidFill>
            <a:srgbClr val="EB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63640" y="3584448"/>
            <a:ext cx="1682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σ</a:t>
            </a:r>
            <a:r>
              <a:rPr sz="950" b="0" i="0" baseline="-25000">
                <a:solidFill>
                  <a:srgbClr val="4A5A7A"/>
                </a:solidFill>
                <a:latin typeface="맑은 고딕"/>
                <a:ea typeface="맑은 고딕"/>
              </a:rPr>
              <a:t>rng</a:t>
            </a: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  (과제 값)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776472"/>
            <a:ext cx="16824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563EB"/>
                </a:solidFill>
                <a:latin typeface="Arial"/>
                <a:ea typeface="맑은 고딕"/>
              </a:rPr>
              <a:t>10 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65008" y="3566160"/>
            <a:ext cx="1682496" cy="603504"/>
          </a:xfrm>
          <a:prstGeom prst="roundRect">
            <a:avLst>
              <a:gd name="adj" fmla="val 12000"/>
            </a:avLst>
          </a:prstGeom>
          <a:solidFill>
            <a:srgbClr val="EB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065008" y="3584448"/>
            <a:ext cx="1682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σ</a:t>
            </a:r>
            <a:r>
              <a:rPr sz="950" b="0" i="0" baseline="-25000">
                <a:solidFill>
                  <a:srgbClr val="4A5A7A"/>
                </a:solidFill>
                <a:latin typeface="맑은 고딕"/>
                <a:ea typeface="맑은 고딕"/>
              </a:rPr>
              <a:t>azi</a:t>
            </a: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  (과제 값)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65008" y="3776472"/>
            <a:ext cx="16824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563EB"/>
                </a:solidFill>
                <a:latin typeface="Arial"/>
                <a:ea typeface="맑은 고딕"/>
              </a:rPr>
              <a:t>0.3°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66376" y="3566160"/>
            <a:ext cx="1682496" cy="603504"/>
          </a:xfrm>
          <a:prstGeom prst="roundRect">
            <a:avLst>
              <a:gd name="adj" fmla="val 12000"/>
            </a:avLst>
          </a:prstGeom>
          <a:solidFill>
            <a:srgbClr val="EB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866376" y="3584448"/>
            <a:ext cx="1682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σ</a:t>
            </a:r>
            <a:r>
              <a:rPr sz="950" b="0" i="0" baseline="-25000">
                <a:solidFill>
                  <a:srgbClr val="4A5A7A"/>
                </a:solidFill>
                <a:latin typeface="맑은 고딕"/>
                <a:ea typeface="맑은 고딕"/>
              </a:rPr>
              <a:t>ele</a:t>
            </a: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  (과제 값)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66376" y="3776472"/>
            <a:ext cx="16824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563EB"/>
                </a:solidFill>
                <a:latin typeface="Arial"/>
                <a:ea typeface="맑은 고딕"/>
              </a:rPr>
              <a:t>0.3°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63640" y="4279392"/>
            <a:ext cx="5285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740"/>
                </a:solidFill>
                <a:latin typeface="맑은 고딕"/>
                <a:ea typeface="맑은 고딕"/>
              </a:rPr>
              <a:t>자코비안 J = ∂(x, y, z) / ∂(r, θ, φ)    θ 방위각, φ 고각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6263640" y="4553712"/>
          <a:ext cx="5285231" cy="7406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00200"/>
                <a:gridCol w="1828800"/>
                <a:gridCol w="1856231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sinθ cosφ</a:t>
                      </a:r>
                    </a:p>
                  </a:txBody>
                  <a:tcPr marL="54864" marR="54864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r cosθ cosφ</a:t>
                      </a:r>
                    </a:p>
                  </a:txBody>
                  <a:tcPr marL="54864" marR="54864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−r sinθ sinφ</a:t>
                      </a:r>
                    </a:p>
                  </a:txBody>
                  <a:tcPr marL="54864" marR="54864" marT="0" marB="0" anchor="ctr"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sinφ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r cosφ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cosθ cosφ</a:t>
                      </a:r>
                    </a:p>
                  </a:txBody>
                  <a:tcPr marL="54864" marR="54864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−r sinθ cosφ</a:t>
                      </a:r>
                    </a:p>
                  </a:txBody>
                  <a:tcPr marL="54864" marR="54864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−r cosθ sinφ</a:t>
                      </a:r>
                    </a:p>
                  </a:txBody>
                  <a:tcPr marL="54864" marR="54864" marT="0" marB="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6263640" y="5394960"/>
            <a:ext cx="5285232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B2740"/>
                </a:solidFill>
                <a:latin typeface="맑은 고딕"/>
                <a:ea typeface="맑은 고딕"/>
              </a:rPr>
              <a:t>0.3° 는 13.5 ~ 14 km (두 표적의 시작 거리) 에서 약 70 m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4A5A7A"/>
                </a:solidFill>
                <a:latin typeface="맑은 고딕"/>
                <a:ea typeface="맑은 고딕"/>
              </a:rPr>
              <a:t>→ R 은 거리 방향 10 m, 옆 · 위 방향 70 m 인 납작한 타원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A7A"/>
                </a:solidFill>
                <a:latin typeface="맑은 고딕"/>
                <a:ea typeface="맑은 고딕"/>
              </a:rPr>
              <a:t>거리 · 각도가 플롯마다 달라 R 도 플롯마다 계산 (f_Trk_MeasCov)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01. 추적 필터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1.4 Singer 모델과 상태천이 행렬 F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표적 가속도를 시간이 지나면 점점 잊히는 랜덤 과정 (1 차 마르코프) 으로 봅니다. τ 는 기동이 이어지는 시간, q 는 기동 가속도의 크기입니다.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pic>
        <p:nvPicPr>
          <p:cNvPr id="26" name="Picture 25" descr="fig_sin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5212080" cy="260604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40080" y="4983480"/>
            <a:ext cx="2560320" cy="126187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" y="504748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τ  기동 시상수 [s]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312664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맑은 고딕"/>
                <a:ea typeface="맑은 고딕"/>
              </a:rPr>
              <a:t>과제 값 10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596128"/>
            <a:ext cx="23317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가속도가 이어지는 시간</a:t>
            </a:r>
          </a:p>
          <a:p>
            <a:pPr algn="l">
              <a:spcAft>
                <a:spcPts val="10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작으면 등속 (CV), 크면 등가속 (CA) 에 가까움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19272" y="4983480"/>
            <a:ext cx="2560320" cy="126187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456432" y="504748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q  기동 가속도 표준편차 [m/s²]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6432" y="5312664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563EB"/>
                </a:solidFill>
                <a:latin typeface="맑은 고딕"/>
                <a:ea typeface="맑은 고딕"/>
              </a:rPr>
              <a:t>과제 값 0.5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56432" y="5596128"/>
            <a:ext cx="23317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얼마나 세게 기동하나</a:t>
            </a:r>
          </a:p>
          <a:p>
            <a:pPr algn="l">
              <a:spcAft>
                <a:spcPts val="10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공정잡음 Q 의 크기를 정함 (1.5)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2258568"/>
            <a:ext cx="5376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2740"/>
                </a:solidFill>
                <a:latin typeface="맑은 고딕"/>
                <a:ea typeface="맑은 고딕"/>
              </a:rPr>
              <a:t>F = blockdiag( f, f, f )    x · y · z 축마다 같은 f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172200" y="2606040"/>
          <a:ext cx="5376672" cy="11521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85800"/>
                <a:gridCol w="685800"/>
                <a:gridCol w="4005072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1</a:t>
                      </a:r>
                    </a:p>
                  </a:txBody>
                  <a:tcPr marL="54864" marR="54864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T</a:t>
                      </a:r>
                    </a:p>
                  </a:txBody>
                  <a:tcPr marL="54864" marR="54864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τ</a:t>
                      </a:r>
                      <a:r>
                        <a:rPr sz="1250" b="0" i="0" baseline="3000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2</a:t>
                      </a:r>
                      <a:r>
                        <a:rPr sz="1250" b="0" i="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 ( −1 + T/τ + e</a:t>
                      </a:r>
                      <a:r>
                        <a:rPr sz="1250" b="0" i="0" baseline="3000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−T/τ</a:t>
                      </a:r>
                      <a:r>
                        <a:rPr sz="1250" b="0" i="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 )</a:t>
                      </a:r>
                    </a:p>
                  </a:txBody>
                  <a:tcPr marL="54864" marR="54864" marT="0" marB="0" anchor="ctr"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τ ( 1 − e</a:t>
                      </a:r>
                      <a:r>
                        <a:rPr sz="1250" b="0" i="0" baseline="3000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−T/τ</a:t>
                      </a:r>
                      <a:r>
                        <a:rPr sz="1250" b="0" i="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 )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e</a:t>
                      </a:r>
                      <a:r>
                        <a:rPr sz="1250" b="0" i="0" baseline="30000">
                          <a:solidFill>
                            <a:srgbClr val="1B2740"/>
                          </a:solidFill>
                          <a:latin typeface="Cambria Math"/>
                          <a:ea typeface="맑은 고딕"/>
                        </a:rPr>
                        <a:t>−T/τ</a:t>
                      </a:r>
                    </a:p>
                  </a:txBody>
                  <a:tcPr marL="54864" marR="54864" marT="0" marB="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6172200" y="3840480"/>
            <a:ext cx="5376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2740"/>
                </a:solidFill>
                <a:latin typeface="맑은 고딕"/>
                <a:ea typeface="맑은 고딕"/>
              </a:rPr>
              <a:t>T 0.1 s, τ 10 s 이면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6172200" y="4133087"/>
          <a:ext cx="5376672" cy="9875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85800"/>
                <a:gridCol w="685800"/>
                <a:gridCol w="4005072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740"/>
                          </a:solidFill>
                          <a:latin typeface="Arial"/>
                          <a:ea typeface="맑은 고딕"/>
                        </a:rPr>
                        <a:t>1</a:t>
                      </a:r>
                    </a:p>
                  </a:txBody>
                  <a:tcPr marL="54864" marR="54864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740"/>
                          </a:solidFill>
                          <a:latin typeface="Arial"/>
                          <a:ea typeface="맑은 고딕"/>
                        </a:rPr>
                        <a:t>0.1</a:t>
                      </a:r>
                    </a:p>
                  </a:txBody>
                  <a:tcPr marL="54864" marR="54864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740"/>
                          </a:solidFill>
                          <a:latin typeface="Arial"/>
                          <a:ea typeface="맑은 고딕"/>
                        </a:rPr>
                        <a:t>0.00498   (≈ T</a:t>
                      </a:r>
                      <a:r>
                        <a:rPr sz="1200" b="0" i="0" baseline="30000">
                          <a:solidFill>
                            <a:srgbClr val="1B2740"/>
                          </a:solidFill>
                          <a:latin typeface="Arial"/>
                          <a:ea typeface="맑은 고딕"/>
                        </a:rPr>
                        <a:t>2</a:t>
                      </a:r>
                      <a:r>
                        <a:rPr sz="1200" b="0" i="0">
                          <a:solidFill>
                            <a:srgbClr val="1B2740"/>
                          </a:solidFill>
                          <a:latin typeface="Arial"/>
                          <a:ea typeface="맑은 고딕"/>
                        </a:rPr>
                        <a:t>/2)</a:t>
                      </a:r>
                    </a:p>
                  </a:txBody>
                  <a:tcPr marL="54864" marR="54864" marT="0" marB="0" anchor="ctr">
                    <a:solidFill>
                      <a:srgbClr val="F7F9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740"/>
                          </a:solidFill>
                          <a:latin typeface="Arial"/>
                          <a:ea typeface="맑은 고딕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740"/>
                          </a:solidFill>
                          <a:latin typeface="Arial"/>
                          <a:ea typeface="맑은 고딕"/>
                        </a:rPr>
                        <a:t>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740"/>
                          </a:solidFill>
                          <a:latin typeface="Arial"/>
                          <a:ea typeface="맑은 고딕"/>
                        </a:rPr>
                        <a:t>0.0995   (≈ T)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740"/>
                          </a:solidFill>
                          <a:latin typeface="Arial"/>
                          <a:ea typeface="맑은 고딕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740"/>
                          </a:solidFill>
                          <a:latin typeface="Arial"/>
                          <a:ea typeface="맑은 고딕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B2740"/>
                          </a:solidFill>
                          <a:latin typeface="Arial"/>
                          <a:ea typeface="맑은 고딕"/>
                        </a:rPr>
                        <a:t>0.990</a:t>
                      </a:r>
                    </a:p>
                  </a:txBody>
                  <a:tcPr marL="54864" marR="54864" marT="0" marB="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6172200" y="5212080"/>
            <a:ext cx="53766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B2740"/>
                </a:solidFill>
                <a:latin typeface="맑은 고딕"/>
                <a:ea typeface="맑은 고딕"/>
              </a:rPr>
              <a:t>위치 += 속도 × T + 가속도 × 약 T</a:t>
            </a:r>
            <a:r>
              <a:rPr sz="1050" b="0" i="0" baseline="30000">
                <a:solidFill>
                  <a:srgbClr val="1B2740"/>
                </a:solidFill>
                <a:latin typeface="맑은 고딕"/>
                <a:ea typeface="맑은 고딕"/>
              </a:rPr>
              <a:t>2</a:t>
            </a:r>
            <a:r>
              <a:rPr sz="1050" b="0" i="0">
                <a:solidFill>
                  <a:srgbClr val="1B2740"/>
                </a:solidFill>
                <a:latin typeface="맑은 고딕"/>
                <a:ea typeface="맑은 고딕"/>
              </a:rPr>
              <a:t>/2,   속도 += 가속도 × 약 T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B2740"/>
                </a:solidFill>
                <a:latin typeface="맑은 고딕"/>
                <a:ea typeface="맑은 고딕"/>
              </a:rPr>
              <a:t>가속도 × 0.990: 스캔마다 1 % 씩 줄어 τ (10 s) 뒤 37 %</a:t>
            </a:r>
          </a:p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구현: e</a:t>
            </a:r>
            <a:r>
              <a:rPr sz="980" b="0" i="0" baseline="30000">
                <a:solidFill>
                  <a:srgbClr val="4A5A7A"/>
                </a:solidFill>
                <a:latin typeface="맑은 고딕"/>
                <a:ea typeface="맑은 고딕"/>
              </a:rPr>
              <a:t>−T/τ</a:t>
            </a: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 − 1 은 expm1 로 계산 (τ 가 커도 자리 손실 없음, 2.3)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01. 추적 필터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1.5 공정잡음 공분산 Q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Q 는 한 스캔 사이 모르는 기동이 만드는 오차입니다. 과제 자료의 q</a:t>
            </a:r>
            <a:r>
              <a:rPr sz="1250" b="0" i="0" baseline="-25000">
                <a:solidFill>
                  <a:srgbClr val="4A5A7A"/>
                </a:solidFill>
                <a:latin typeface="맑은 고딕"/>
                <a:ea typeface="맑은 고딕"/>
              </a:rPr>
              <a:t>k</a:t>
            </a:r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 식을 쓰되, q12 의 오타와 작은 T/τ 에서의 계산 오차를 바로잡았습니다.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40080" y="2258568"/>
            <a:ext cx="5257800" cy="5029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2258568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Cambria Math"/>
                <a:ea typeface="맑은 고딕"/>
              </a:rPr>
              <a:t>Q</a:t>
            </a:r>
            <a:r>
              <a:rPr sz="1400" b="1" i="0" baseline="-25000">
                <a:solidFill>
                  <a:srgbClr val="1B2740"/>
                </a:solidFill>
                <a:latin typeface="Cambria Math"/>
                <a:ea typeface="맑은 고딕"/>
              </a:rPr>
              <a:t>k</a:t>
            </a:r>
            <a:r>
              <a:rPr sz="1400" b="1" i="0">
                <a:solidFill>
                  <a:srgbClr val="1B2740"/>
                </a:solidFill>
                <a:latin typeface="Cambria Math"/>
                <a:ea typeface="맑은 고딕"/>
              </a:rPr>
              <a:t> = (2q</a:t>
            </a:r>
            <a:r>
              <a:rPr sz="1400" b="1" i="0" baseline="30000">
                <a:solidFill>
                  <a:srgbClr val="1B2740"/>
                </a:solidFill>
                <a:latin typeface="Cambria Math"/>
                <a:ea typeface="맑은 고딕"/>
              </a:rPr>
              <a:t>2</a:t>
            </a:r>
            <a:r>
              <a:rPr sz="1400" b="1" i="0">
                <a:solidFill>
                  <a:srgbClr val="1B2740"/>
                </a:solidFill>
                <a:latin typeface="Cambria Math"/>
                <a:ea typeface="맑은 고딕"/>
              </a:rPr>
              <a:t>/τ) · blockdiag( q</a:t>
            </a:r>
            <a:r>
              <a:rPr sz="1400" b="1" i="0" baseline="-25000">
                <a:solidFill>
                  <a:srgbClr val="1B2740"/>
                </a:solidFill>
                <a:latin typeface="Cambria Math"/>
                <a:ea typeface="맑은 고딕"/>
              </a:rPr>
              <a:t>k</a:t>
            </a:r>
            <a:r>
              <a:rPr sz="1400" b="1" i="0">
                <a:solidFill>
                  <a:srgbClr val="1B2740"/>
                </a:solidFill>
                <a:latin typeface="Cambria Math"/>
                <a:ea typeface="맑은 고딕"/>
              </a:rPr>
              <a:t>, q</a:t>
            </a:r>
            <a:r>
              <a:rPr sz="1400" b="1" i="0" baseline="-25000">
                <a:solidFill>
                  <a:srgbClr val="1B2740"/>
                </a:solidFill>
                <a:latin typeface="Cambria Math"/>
                <a:ea typeface="맑은 고딕"/>
              </a:rPr>
              <a:t>k</a:t>
            </a:r>
            <a:r>
              <a:rPr sz="1400" b="1" i="0">
                <a:solidFill>
                  <a:srgbClr val="1B2740"/>
                </a:solidFill>
                <a:latin typeface="Cambria Math"/>
                <a:ea typeface="맑은 고딕"/>
              </a:rPr>
              <a:t>, q</a:t>
            </a:r>
            <a:r>
              <a:rPr sz="1400" b="1" i="0" baseline="-25000">
                <a:solidFill>
                  <a:srgbClr val="1B2740"/>
                </a:solidFill>
                <a:latin typeface="Cambria Math"/>
                <a:ea typeface="맑은 고딕"/>
              </a:rPr>
              <a:t>k</a:t>
            </a:r>
            <a:r>
              <a:rPr sz="1400" b="1" i="0">
                <a:solidFill>
                  <a:srgbClr val="1B2740"/>
                </a:solidFill>
                <a:latin typeface="Cambria Math"/>
                <a:ea typeface="맑은 고딕"/>
              </a:rPr>
              <a:t> 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834640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q</a:t>
            </a:r>
            <a:r>
              <a:rPr sz="1100" b="1" i="0" baseline="-25000">
                <a:solidFill>
                  <a:srgbClr val="1B2740"/>
                </a:solidFill>
                <a:latin typeface="맑은 고딕"/>
                <a:ea typeface="맑은 고딕"/>
              </a:rPr>
              <a:t>k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 의 원소   (x = T/τ 로 줄여 씀)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108960"/>
            <a:ext cx="52578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q</a:t>
            </a:r>
            <a:r>
              <a:rPr sz="10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11</a:t>
            </a: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 = (τ</a:t>
            </a:r>
            <a:r>
              <a:rPr sz="1050" b="0" i="0" baseline="30000">
                <a:solidFill>
                  <a:srgbClr val="1B2740"/>
                </a:solidFill>
                <a:latin typeface="Cambria Math"/>
                <a:ea typeface="맑은 고딕"/>
              </a:rPr>
              <a:t>5</a:t>
            </a: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/2)( 1 − e</a:t>
            </a:r>
            <a:r>
              <a:rPr sz="1050" b="0" i="0" baseline="30000">
                <a:solidFill>
                  <a:srgbClr val="1B2740"/>
                </a:solidFill>
                <a:latin typeface="Cambria Math"/>
                <a:ea typeface="맑은 고딕"/>
              </a:rPr>
              <a:t>−2x</a:t>
            </a: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 + 2x + 2x</a:t>
            </a:r>
            <a:r>
              <a:rPr sz="1050" b="0" i="0" baseline="30000">
                <a:solidFill>
                  <a:srgbClr val="1B2740"/>
                </a:solidFill>
                <a:latin typeface="Cambria Math"/>
                <a:ea typeface="맑은 고딕"/>
              </a:rPr>
              <a:t>3</a:t>
            </a: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/3 − 2x</a:t>
            </a:r>
            <a:r>
              <a:rPr sz="1050" b="0" i="0" baseline="30000">
                <a:solidFill>
                  <a:srgbClr val="1B2740"/>
                </a:solidFill>
                <a:latin typeface="Cambria Math"/>
                <a:ea typeface="맑은 고딕"/>
              </a:rPr>
              <a:t>2</a:t>
            </a: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 − 4x e</a:t>
            </a:r>
            <a:r>
              <a:rPr sz="1050" b="0" i="0" baseline="30000">
                <a:solidFill>
                  <a:srgbClr val="1B2740"/>
                </a:solidFill>
                <a:latin typeface="Cambria Math"/>
                <a:ea typeface="맑은 고딕"/>
              </a:rPr>
              <a:t>−x</a:t>
            </a: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 )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2563EB"/>
                </a:solidFill>
                <a:latin typeface="Cambria Math"/>
                <a:ea typeface="맑은 고딕"/>
              </a:rPr>
              <a:t>q</a:t>
            </a:r>
            <a:r>
              <a:rPr sz="1050" b="1" i="0" baseline="-25000">
                <a:solidFill>
                  <a:srgbClr val="2563EB"/>
                </a:solidFill>
                <a:latin typeface="Cambria Math"/>
                <a:ea typeface="맑은 고딕"/>
              </a:rPr>
              <a:t>12</a:t>
            </a:r>
            <a:r>
              <a:rPr sz="1050" b="1" i="0">
                <a:solidFill>
                  <a:srgbClr val="2563EB"/>
                </a:solidFill>
                <a:latin typeface="Cambria Math"/>
                <a:ea typeface="맑은 고딕"/>
              </a:rPr>
              <a:t> = (τ</a:t>
            </a:r>
            <a:r>
              <a:rPr sz="1050" b="1" i="0" baseline="30000">
                <a:solidFill>
                  <a:srgbClr val="2563EB"/>
                </a:solidFill>
                <a:latin typeface="Cambria Math"/>
                <a:ea typeface="맑은 고딕"/>
              </a:rPr>
              <a:t>4</a:t>
            </a:r>
            <a:r>
              <a:rPr sz="1050" b="1" i="0">
                <a:solidFill>
                  <a:srgbClr val="2563EB"/>
                </a:solidFill>
                <a:latin typeface="Cambria Math"/>
                <a:ea typeface="맑은 고딕"/>
              </a:rPr>
              <a:t>/2)( 1 + e</a:t>
            </a:r>
            <a:r>
              <a:rPr sz="1050" b="1" i="0" baseline="30000">
                <a:solidFill>
                  <a:srgbClr val="2563EB"/>
                </a:solidFill>
                <a:latin typeface="Cambria Math"/>
                <a:ea typeface="맑은 고딕"/>
              </a:rPr>
              <a:t>−2x</a:t>
            </a:r>
            <a:r>
              <a:rPr sz="1050" b="1" i="0">
                <a:solidFill>
                  <a:srgbClr val="2563EB"/>
                </a:solidFill>
                <a:latin typeface="Cambria Math"/>
                <a:ea typeface="맑은 고딕"/>
              </a:rPr>
              <a:t> − 2e</a:t>
            </a:r>
            <a:r>
              <a:rPr sz="1050" b="1" i="0" baseline="30000">
                <a:solidFill>
                  <a:srgbClr val="2563EB"/>
                </a:solidFill>
                <a:latin typeface="Cambria Math"/>
                <a:ea typeface="맑은 고딕"/>
              </a:rPr>
              <a:t>−x</a:t>
            </a:r>
            <a:r>
              <a:rPr sz="1050" b="1" i="0">
                <a:solidFill>
                  <a:srgbClr val="2563EB"/>
                </a:solidFill>
                <a:latin typeface="Cambria Math"/>
                <a:ea typeface="맑은 고딕"/>
              </a:rPr>
              <a:t> + 2x e</a:t>
            </a:r>
            <a:r>
              <a:rPr sz="1050" b="1" i="0" baseline="30000">
                <a:solidFill>
                  <a:srgbClr val="2563EB"/>
                </a:solidFill>
                <a:latin typeface="Cambria Math"/>
                <a:ea typeface="맑은 고딕"/>
              </a:rPr>
              <a:t>−x</a:t>
            </a:r>
            <a:r>
              <a:rPr sz="1050" b="1" i="0">
                <a:solidFill>
                  <a:srgbClr val="2563EB"/>
                </a:solidFill>
                <a:latin typeface="Cambria Math"/>
                <a:ea typeface="맑은 고딕"/>
              </a:rPr>
              <a:t> − 2x + x</a:t>
            </a:r>
            <a:r>
              <a:rPr sz="1050" b="1" i="0" baseline="30000">
                <a:solidFill>
                  <a:srgbClr val="2563EB"/>
                </a:solidFill>
                <a:latin typeface="Cambria Math"/>
                <a:ea typeface="맑은 고딕"/>
              </a:rPr>
              <a:t>2</a:t>
            </a:r>
            <a:r>
              <a:rPr sz="1050" b="1" i="0">
                <a:solidFill>
                  <a:srgbClr val="2563EB"/>
                </a:solidFill>
                <a:latin typeface="Cambria Math"/>
                <a:ea typeface="맑은 고딕"/>
              </a:rPr>
              <a:t> )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q</a:t>
            </a:r>
            <a:r>
              <a:rPr sz="10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13</a:t>
            </a: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 = (τ</a:t>
            </a:r>
            <a:r>
              <a:rPr sz="1050" b="0" i="0" baseline="30000">
                <a:solidFill>
                  <a:srgbClr val="1B2740"/>
                </a:solidFill>
                <a:latin typeface="Cambria Math"/>
                <a:ea typeface="맑은 고딕"/>
              </a:rPr>
              <a:t>3</a:t>
            </a: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/2)( 1 − e</a:t>
            </a:r>
            <a:r>
              <a:rPr sz="1050" b="0" i="0" baseline="30000">
                <a:solidFill>
                  <a:srgbClr val="1B2740"/>
                </a:solidFill>
                <a:latin typeface="Cambria Math"/>
                <a:ea typeface="맑은 고딕"/>
              </a:rPr>
              <a:t>−2x</a:t>
            </a: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 − 2x e</a:t>
            </a:r>
            <a:r>
              <a:rPr sz="1050" b="0" i="0" baseline="30000">
                <a:solidFill>
                  <a:srgbClr val="1B2740"/>
                </a:solidFill>
                <a:latin typeface="Cambria Math"/>
                <a:ea typeface="맑은 고딕"/>
              </a:rPr>
              <a:t>−x</a:t>
            </a: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 )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q</a:t>
            </a:r>
            <a:r>
              <a:rPr sz="10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22</a:t>
            </a: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 = (τ</a:t>
            </a:r>
            <a:r>
              <a:rPr sz="1050" b="0" i="0" baseline="30000">
                <a:solidFill>
                  <a:srgbClr val="1B2740"/>
                </a:solidFill>
                <a:latin typeface="Cambria Math"/>
                <a:ea typeface="맑은 고딕"/>
              </a:rPr>
              <a:t>3</a:t>
            </a: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/2)( 4e</a:t>
            </a:r>
            <a:r>
              <a:rPr sz="1050" b="0" i="0" baseline="30000">
                <a:solidFill>
                  <a:srgbClr val="1B2740"/>
                </a:solidFill>
                <a:latin typeface="Cambria Math"/>
                <a:ea typeface="맑은 고딕"/>
              </a:rPr>
              <a:t>−x</a:t>
            </a: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 − 3 − e</a:t>
            </a:r>
            <a:r>
              <a:rPr sz="1050" b="0" i="0" baseline="30000">
                <a:solidFill>
                  <a:srgbClr val="1B2740"/>
                </a:solidFill>
                <a:latin typeface="Cambria Math"/>
                <a:ea typeface="맑은 고딕"/>
              </a:rPr>
              <a:t>−2x</a:t>
            </a: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 + 2x )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q</a:t>
            </a:r>
            <a:r>
              <a:rPr sz="10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23</a:t>
            </a: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 = (τ</a:t>
            </a:r>
            <a:r>
              <a:rPr sz="1050" b="0" i="0" baseline="30000">
                <a:solidFill>
                  <a:srgbClr val="1B2740"/>
                </a:solidFill>
                <a:latin typeface="Cambria Math"/>
                <a:ea typeface="맑은 고딕"/>
              </a:rPr>
              <a:t>2</a:t>
            </a: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/2)( e</a:t>
            </a:r>
            <a:r>
              <a:rPr sz="1050" b="0" i="0" baseline="30000">
                <a:solidFill>
                  <a:srgbClr val="1B2740"/>
                </a:solidFill>
                <a:latin typeface="Cambria Math"/>
                <a:ea typeface="맑은 고딕"/>
              </a:rPr>
              <a:t>−2x</a:t>
            </a: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 + 1 − 2e</a:t>
            </a:r>
            <a:r>
              <a:rPr sz="1050" b="0" i="0" baseline="30000">
                <a:solidFill>
                  <a:srgbClr val="1B2740"/>
                </a:solidFill>
                <a:latin typeface="Cambria Math"/>
                <a:ea typeface="맑은 고딕"/>
              </a:rPr>
              <a:t>−x</a:t>
            </a: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 )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q</a:t>
            </a:r>
            <a:r>
              <a:rPr sz="1050" b="0" i="0" baseline="-25000">
                <a:solidFill>
                  <a:srgbClr val="1B2740"/>
                </a:solidFill>
                <a:latin typeface="Cambria Math"/>
                <a:ea typeface="맑은 고딕"/>
              </a:rPr>
              <a:t>33</a:t>
            </a: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 = (τ/2)( 1 − e</a:t>
            </a:r>
            <a:r>
              <a:rPr sz="1050" b="0" i="0" baseline="30000">
                <a:solidFill>
                  <a:srgbClr val="1B2740"/>
                </a:solidFill>
                <a:latin typeface="Cambria Math"/>
                <a:ea typeface="맑은 고딕"/>
              </a:rPr>
              <a:t>−2x</a:t>
            </a:r>
            <a:r>
              <a:rPr sz="1050" b="0" i="0">
                <a:solidFill>
                  <a:srgbClr val="1B2740"/>
                </a:solidFill>
                <a:latin typeface="Cambria Math"/>
                <a:ea typeface="맑은 고딕"/>
              </a:rPr>
              <a:t> 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754880"/>
            <a:ext cx="5257800" cy="1499616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4800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i="0">
                <a:solidFill>
                  <a:srgbClr val="1B2740"/>
                </a:solidFill>
                <a:latin typeface="맑은 고딕"/>
                <a:ea typeface="맑은 고딕"/>
              </a:rPr>
              <a:t>① q12 오타: 자료의 2(T/τ)·</a:t>
            </a:r>
            <a:r>
              <a:rPr sz="1050" b="1" i="0">
                <a:solidFill>
                  <a:srgbClr val="1B2740"/>
                </a:solidFill>
                <a:latin typeface="맑은 고딕"/>
                <a:ea typeface="맑은 고딕"/>
              </a:rPr>
              <a:t>T</a:t>
            </a:r>
            <a:r>
              <a:rPr sz="1050" b="1" i="0">
                <a:solidFill>
                  <a:srgbClr val="1B2740"/>
                </a:solidFill>
                <a:latin typeface="맑은 고딕"/>
                <a:ea typeface="맑은 고딕"/>
              </a:rPr>
              <a:t>·e</a:t>
            </a:r>
            <a:r>
              <a:rPr sz="1050" b="1" i="0" baseline="30000">
                <a:solidFill>
                  <a:srgbClr val="1B2740"/>
                </a:solidFill>
                <a:latin typeface="맑은 고딕"/>
                <a:ea typeface="맑은 고딕"/>
              </a:rPr>
              <a:t>−T/τ</a:t>
            </a:r>
            <a:r>
              <a:rPr sz="1050" b="1" i="0">
                <a:solidFill>
                  <a:srgbClr val="1B2740"/>
                </a:solidFill>
                <a:latin typeface="맑은 고딕"/>
                <a:ea typeface="맑은 고딕"/>
              </a:rPr>
              <a:t> 는 이 항만 [s] 단위가 남음</a:t>
            </a:r>
          </a:p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→ 표준식 2(T/τ)e</a:t>
            </a:r>
            <a:r>
              <a:rPr sz="980" b="0" i="0" baseline="30000">
                <a:solidFill>
                  <a:srgbClr val="4A5A7A"/>
                </a:solidFill>
                <a:latin typeface="맑은 고딕"/>
                <a:ea typeface="맑은 고딕"/>
              </a:rPr>
              <a:t>−T/τ</a:t>
            </a: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 로 구현 (위 파란 줄).  T 0.1 s, τ 10 s 일 때: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77240" y="5321808"/>
          <a:ext cx="4983480" cy="8778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25880"/>
                <a:gridCol w="822960"/>
                <a:gridCol w="822960"/>
                <a:gridCol w="822960"/>
                <a:gridCol w="118872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q11</a:t>
                      </a:r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q22</a:t>
                      </a:r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q12</a:t>
                      </a:r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q12² ≤ q11·q22</a:t>
                      </a:r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표준식 (구현)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B2740"/>
                          </a:solidFill>
                          <a:latin typeface="Arial"/>
                          <a:ea typeface="맑은 고딕"/>
                        </a:rPr>
                        <a:t>4.97e−7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B2740"/>
                          </a:solidFill>
                          <a:latin typeface="Arial"/>
                          <a:ea typeface="맑은 고딕"/>
                        </a:rPr>
                        <a:t>3.31e−4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B2740"/>
                          </a:solidFill>
                          <a:latin typeface="Arial"/>
                          <a:ea typeface="맑은 고딕"/>
                        </a:rPr>
                        <a:t>1.24e−5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만족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DC2626"/>
                          </a:solidFill>
                          <a:latin typeface="맑은 고딕"/>
                          <a:ea typeface="맑은 고딕"/>
                        </a:rPr>
                        <a:t>자료 식 그대로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DC2626"/>
                          </a:solidFill>
                          <a:latin typeface="Arial"/>
                          <a:ea typeface="맑은 고딕"/>
                        </a:rPr>
                        <a:t>4.97e−7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DC2626"/>
                          </a:solidFill>
                          <a:latin typeface="Arial"/>
                          <a:ea typeface="맑은 고딕"/>
                        </a:rPr>
                        <a:t>3.31e−4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DC2626"/>
                          </a:solidFill>
                          <a:latin typeface="Arial"/>
                          <a:ea typeface="맑은 고딕"/>
                        </a:rPr>
                        <a:t>−89.1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DC2626"/>
                          </a:solidFill>
                          <a:latin typeface="맑은 고딕"/>
                          <a:ea typeface="맑은 고딕"/>
                        </a:rPr>
                        <a:t>깨짐: 공분산 아님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6172200" y="2258568"/>
            <a:ext cx="5376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2740"/>
                </a:solidFill>
                <a:latin typeface="맑은 고딕"/>
                <a:ea typeface="맑은 고딕"/>
              </a:rPr>
              <a:t>② 작은 T/τ 에서 자리 손실 → 급수</a:t>
            </a:r>
          </a:p>
        </p:txBody>
      </p:sp>
      <p:pic>
        <p:nvPicPr>
          <p:cNvPr id="34" name="Picture 33" descr="fig_qp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560320"/>
            <a:ext cx="5376672" cy="292836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172200" y="5561838"/>
            <a:ext cx="5376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B2740"/>
                </a:solidFill>
                <a:latin typeface="맑은 고딕"/>
                <a:ea typeface="맑은 고딕"/>
              </a:rPr>
              <a:t>T/τ &lt; 0.05 이면 같은 식을 테일러 급수 5 항으로 계산 (TRK_SERIES_X)</a:t>
            </a:r>
          </a:p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검증: 60 자리 기준값 · 수치 적분과 상대 오차 1e−9 미만, 모든 T/τ 에서 Q 가 양의 정부호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01. 추적 필터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1.6 발산 판단: NIS 와 게이트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과제는 트랙이 발산하거나 유지되지 않으면 파라미터를 조정하라고 합니다. 발산을 잔차의 통계적 크기 NIS 로 판단하는 규칙을 정했습니다.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40080" y="2258568"/>
            <a:ext cx="5257800" cy="74980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2286000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B2740"/>
                </a:solidFill>
                <a:latin typeface="Cambria Math"/>
                <a:ea typeface="맑은 고딕"/>
              </a:rPr>
              <a:t>NIS = ν</a:t>
            </a:r>
            <a:r>
              <a:rPr sz="1600" b="1" i="0" baseline="30000">
                <a:solidFill>
                  <a:srgbClr val="1B2740"/>
                </a:solidFill>
                <a:latin typeface="Cambria Math"/>
                <a:ea typeface="맑은 고딕"/>
              </a:rPr>
              <a:t>T</a:t>
            </a:r>
            <a:r>
              <a:rPr sz="1600" b="1" i="0">
                <a:solidFill>
                  <a:srgbClr val="1B2740"/>
                </a:solidFill>
                <a:latin typeface="Cambria Math"/>
                <a:ea typeface="맑은 고딕"/>
              </a:rPr>
              <a:t> S</a:t>
            </a:r>
            <a:r>
              <a:rPr sz="1600" b="1" i="0" baseline="30000">
                <a:solidFill>
                  <a:srgbClr val="1B2740"/>
                </a:solidFill>
                <a:latin typeface="Cambria Math"/>
                <a:ea typeface="맑은 고딕"/>
              </a:rPr>
              <a:t>−1</a:t>
            </a:r>
            <a:r>
              <a:rPr sz="1600" b="1" i="0">
                <a:solidFill>
                  <a:srgbClr val="1B2740"/>
                </a:solidFill>
                <a:latin typeface="Cambria Math"/>
                <a:ea typeface="맑은 고딕"/>
              </a:rPr>
              <a:t> 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651760"/>
            <a:ext cx="5257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4A5A7A"/>
                </a:solidFill>
                <a:latin typeface="Cambria Math"/>
                <a:ea typeface="맑은 고딕"/>
              </a:rPr>
              <a:t>ν = z</a:t>
            </a:r>
            <a:r>
              <a:rPr sz="1100" b="0" i="0" baseline="-25000">
                <a:solidFill>
                  <a:srgbClr val="4A5A7A"/>
                </a:solidFill>
                <a:latin typeface="Cambria Math"/>
                <a:ea typeface="맑은 고딕"/>
              </a:rPr>
              <a:t>k</a:t>
            </a:r>
            <a:r>
              <a:rPr sz="1100" b="0" i="0">
                <a:solidFill>
                  <a:srgbClr val="4A5A7A"/>
                </a:solidFill>
                <a:latin typeface="Cambria Math"/>
                <a:ea typeface="맑은 고딕"/>
              </a:rPr>
              <a:t> − H X̂</a:t>
            </a:r>
            <a:r>
              <a:rPr sz="1100" b="0" i="0" baseline="-25000">
                <a:solidFill>
                  <a:srgbClr val="4A5A7A"/>
                </a:solidFill>
                <a:latin typeface="Cambria Math"/>
                <a:ea typeface="맑은 고딕"/>
              </a:rPr>
              <a:t>k|k−1</a:t>
            </a:r>
            <a:r>
              <a:rPr sz="1100" b="0" i="0">
                <a:solidFill>
                  <a:srgbClr val="4A5A7A"/>
                </a:solidFill>
                <a:latin typeface="Cambria Math"/>
                <a:ea typeface="맑은 고딕"/>
              </a:rPr>
              <a:t>,    S = H P</a:t>
            </a:r>
            <a:r>
              <a:rPr sz="1100" b="0" i="0" baseline="-25000">
                <a:solidFill>
                  <a:srgbClr val="4A5A7A"/>
                </a:solidFill>
                <a:latin typeface="Cambria Math"/>
                <a:ea typeface="맑은 고딕"/>
              </a:rPr>
              <a:t>k|k−1</a:t>
            </a:r>
            <a:r>
              <a:rPr sz="1100" b="0" i="0">
                <a:solidFill>
                  <a:srgbClr val="4A5A7A"/>
                </a:solidFill>
                <a:latin typeface="Cambria Math"/>
                <a:ea typeface="맑은 고딕"/>
              </a:rPr>
              <a:t> H</a:t>
            </a:r>
            <a:r>
              <a:rPr sz="1100" b="0" i="0" baseline="30000">
                <a:solidFill>
                  <a:srgbClr val="4A5A7A"/>
                </a:solidFill>
                <a:latin typeface="Cambria Math"/>
                <a:ea typeface="맑은 고딕"/>
              </a:rPr>
              <a:t>T</a:t>
            </a:r>
            <a:r>
              <a:rPr sz="1100" b="0" i="0">
                <a:solidFill>
                  <a:srgbClr val="4A5A7A"/>
                </a:solidFill>
                <a:latin typeface="Cambria Math"/>
                <a:ea typeface="맑은 고딕"/>
              </a:rPr>
              <a:t> + R</a:t>
            </a:r>
            <a:r>
              <a:rPr sz="1100" b="0" i="0" baseline="-25000">
                <a:solidFill>
                  <a:srgbClr val="4A5A7A"/>
                </a:solidFill>
                <a:latin typeface="Cambria Math"/>
                <a:ea typeface="맑은 고딕"/>
              </a:rPr>
              <a:t>k</a:t>
            </a:r>
          </a:p>
        </p:txBody>
      </p:sp>
      <p:pic>
        <p:nvPicPr>
          <p:cNvPr id="29" name="Picture 28" descr="fig_chi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90672"/>
            <a:ext cx="5257800" cy="2529696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40080" y="5669280"/>
            <a:ext cx="5257800" cy="585216"/>
          </a:xfrm>
          <a:prstGeom prst="roundRect">
            <a:avLst>
              <a:gd name="adj" fmla="val 15000"/>
            </a:avLst>
          </a:prstGeom>
          <a:solidFill>
            <a:srgbClr val="EB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5669280"/>
            <a:ext cx="50292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1B2740"/>
                </a:solidFill>
                <a:latin typeface="맑은 고딕"/>
                <a:ea typeface="맑은 고딕"/>
              </a:rPr>
              <a:t>R · Q 가 맞으면 NIS 는 자유도 3 카이제곱 (평균 3), 99 % 값 11.34 를 게이트로</a:t>
            </a:r>
          </a:p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정상이면 게이트 밖 1 % → 5 번 연속은 100 억 번에 1 번 꼴 (0.01</a:t>
            </a:r>
            <a:r>
              <a:rPr sz="980" b="0" i="0" baseline="30000">
                <a:solidFill>
                  <a:srgbClr val="4A5A7A"/>
                </a:solidFill>
                <a:latin typeface="맑은 고딕"/>
                <a:ea typeface="맑은 고딕"/>
              </a:rPr>
              <a:t>5</a:t>
            </a: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2258568"/>
            <a:ext cx="5376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2740"/>
                </a:solidFill>
                <a:latin typeface="맑은 고딕"/>
                <a:ea typeface="맑은 고딕"/>
              </a:rPr>
              <a:t>대공 표적 · 과제 값: 첫 선회 중 NIS</a:t>
            </a:r>
          </a:p>
        </p:txBody>
      </p:sp>
      <p:pic>
        <p:nvPicPr>
          <p:cNvPr id="33" name="Picture 32" descr="fig_ru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560320"/>
            <a:ext cx="5376672" cy="2405353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172200" y="5002249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결과 데이터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4993105"/>
            <a:ext cx="44622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air_given/tracks.csv 의 nis · gate_run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5358865"/>
            <a:ext cx="868680" cy="23774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950" b="1" i="0">
                <a:solidFill>
                  <a:srgbClr val="DC2626"/>
                </a:solidFill>
                <a:latin typeface="맑은 고딕"/>
                <a:ea typeface="맑은 고딕"/>
              </a:rPr>
              <a:t>게이트 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0608" y="5331433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NIS &gt; 11.34  (χ²(3) 99 %, TRK_GATE_CHI2)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5669761"/>
            <a:ext cx="868680" cy="23774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950" b="1" i="0">
                <a:solidFill>
                  <a:srgbClr val="DC2626"/>
                </a:solidFill>
                <a:latin typeface="맑은 고딕"/>
                <a:ea typeface="맑은 고딕"/>
              </a:rPr>
              <a:t>발산 판정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0608" y="5642329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게이트 밖이 5 번 이어질 때마다 1 회 (TRK_DIVERGE_NUM)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5980657"/>
            <a:ext cx="868680" cy="23774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950" b="1" i="0">
                <a:solidFill>
                  <a:srgbClr val="1B2740"/>
                </a:solidFill>
                <a:latin typeface="맑은 고딕"/>
                <a:ea typeface="맑은 고딕"/>
              </a:rPr>
              <a:t>처리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0608" y="5953225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갱신은 가정대로 계속, 트랙은 지우지 않고 횟수만 셈 (화면 빨간 띠)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59536" y="914400"/>
            <a:ext cx="9144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B2740"/>
                </a:solidFill>
                <a:latin typeface="맑은 고딕"/>
                <a:ea typeface="맑은 고딕"/>
              </a:rPr>
              <a:t>02. 구현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1444752"/>
            <a:ext cx="105887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B2740"/>
                </a:solidFill>
                <a:latin typeface="맑은 고딕"/>
                <a:ea typeface="맑은 고딕"/>
              </a:rPr>
              <a:t>과제 5 프로그램 (TargetSim) 의 트랙 처리에 Singer CMKF 를 넣고, 시나리오 · 파라미터 입력과 LLA 결과 화면을 만들었습니다.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2057400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2.1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2057400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전체 구조와 바뀐 곳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23260" y="2313432"/>
            <a:ext cx="7383780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735056" y="2057400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2464308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2.2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2464308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스캔 처리 순서와 연관 가정 (f_Trk_ProcessScan)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60720" y="2720339"/>
            <a:ext cx="4846320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735056" y="2464308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2871215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2.3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2871215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예측: Singer F · Q 와 f_Trk_Predict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850892" y="3127248"/>
            <a:ext cx="5756148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0735056" y="2871215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78123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2.4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3278123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갱신: CMKF 와 발산 판정 (f_Trk_Update)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65776" y="3534155"/>
            <a:ext cx="5541264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735056" y="3278123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" y="3685031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2.5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3685031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결과 화면 (TargetSimUI)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680460" y="3941063"/>
            <a:ext cx="6926580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735056" y="3685031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02. 구현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2.1 전체 구조와 바뀐 곳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과제 5 의 구조 (송신 · 수신 쓰레드, 스캔마다 UDP 메시지) 는 그대로 두고, 트랙 처리에 추적 필터를 넣고 시나리오와 결과 화면을 바꿨습니다.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40080" y="2286000"/>
            <a:ext cx="10908792" cy="309067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234086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A5A7A"/>
                </a:solidFill>
                <a:latin typeface="Arial"/>
                <a:ea typeface="맑은 고딕"/>
              </a:rPr>
              <a:t>TargetSimCore.dll  (C)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46920" y="2359152"/>
            <a:ext cx="1737360" cy="23774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950" b="1" i="0">
                <a:solidFill>
                  <a:srgbClr val="D97706"/>
                </a:solidFill>
                <a:latin typeface="맑은 고딕"/>
                <a:ea typeface="맑은 고딕"/>
              </a:rPr>
              <a:t>주황 = 과제 6 에서 바뀜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2670048"/>
            <a:ext cx="30175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1B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14400" y="2743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B2740"/>
                </a:solidFill>
                <a:latin typeface="맑은 고딕"/>
                <a:ea typeface="맑은 고딕"/>
              </a:rPr>
              <a:t>궤적 계산  (과제 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04495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과제 3 그대로 (시나리오는 화면에서)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282696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8794AC"/>
                </a:solidFill>
                <a:latin typeface="Consolas"/>
                <a:ea typeface="Consolas"/>
              </a:rPr>
              <a:t>TargetSim.c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3400" y="2670048"/>
            <a:ext cx="3017520" cy="896112"/>
          </a:xfrm>
          <a:prstGeom prst="roundRect">
            <a:avLst>
              <a:gd name="adj" fmla="val 10000"/>
            </a:avLst>
          </a:prstGeom>
          <a:solidFill>
            <a:srgbClr val="FEF5E7"/>
          </a:solidFill>
          <a:ln w="1397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343400" y="2743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측정 모의  (과제 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304495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표적 플롯만 (클러터 0), 잡음 seed 지정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3282696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8794AC"/>
                </a:solidFill>
                <a:latin typeface="Consolas"/>
                <a:ea typeface="Consolas"/>
              </a:rPr>
              <a:t>PlotSim.c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2670048"/>
            <a:ext cx="3017520" cy="896112"/>
          </a:xfrm>
          <a:prstGeom prst="roundRect">
            <a:avLst>
              <a:gd name="adj" fmla="val 10000"/>
            </a:avLst>
          </a:prstGeom>
          <a:solidFill>
            <a:srgbClr val="EBF2FE"/>
          </a:solidFill>
          <a:ln w="1397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72400" y="2743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맑은 고딕"/>
                <a:ea typeface="맑은 고딕"/>
              </a:rPr>
              <a:t>송신 쓰레드  (신호처리 역할)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304495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스캔의 플롯 + R σ (파라미터) 를 메시지로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282696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8794AC"/>
                </a:solidFill>
                <a:latin typeface="Consolas"/>
                <a:ea typeface="Consolas"/>
              </a:rPr>
              <a:t>PlotLink.c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0" y="4279392"/>
            <a:ext cx="3017520" cy="896112"/>
          </a:xfrm>
          <a:prstGeom prst="roundRect">
            <a:avLst>
              <a:gd name="adj" fmla="val 10000"/>
            </a:avLst>
          </a:prstGeom>
          <a:solidFill>
            <a:srgbClr val="EBF2FE"/>
          </a:solidFill>
          <a:ln w="1397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72400" y="435254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맑은 고딕"/>
                <a:ea typeface="맑은 고딕"/>
              </a:rPr>
              <a:t>수신 쓰레드  (데이터 처리 역할)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65429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좌표 변환, 플롯마다 R 계산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892040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8794AC"/>
                </a:solidFill>
                <a:latin typeface="Consolas"/>
                <a:ea typeface="Consolas"/>
              </a:rPr>
              <a:t>PlotLink.c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43400" y="4279392"/>
            <a:ext cx="3017520" cy="896112"/>
          </a:xfrm>
          <a:prstGeom prst="roundRect">
            <a:avLst>
              <a:gd name="adj" fmla="val 10000"/>
            </a:avLst>
          </a:prstGeom>
          <a:solidFill>
            <a:srgbClr val="FEF5E7"/>
          </a:solidFill>
          <a:ln w="1397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343400" y="435254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추적 필터 + 트랙 관리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465429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예측 · 연관 (가정) · CMKF 갱신 · 발산 판정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43400" y="4892040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8794AC"/>
                </a:solidFill>
                <a:latin typeface="Consolas"/>
                <a:ea typeface="Consolas"/>
              </a:rPr>
              <a:t>TrackMgr.c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" y="4279392"/>
            <a:ext cx="3017520" cy="896112"/>
          </a:xfrm>
          <a:prstGeom prst="roundRect">
            <a:avLst>
              <a:gd name="adj" fmla="val 10000"/>
            </a:avLst>
          </a:prstGeom>
          <a:solidFill>
            <a:srgbClr val="FEF5E7"/>
          </a:solidFill>
          <a:ln w="1397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14400" y="435254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D97706"/>
                </a:solidFill>
                <a:latin typeface="맑은 고딕"/>
                <a:ea typeface="맑은 고딕"/>
              </a:rPr>
              <a:t>결과 버퍼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465429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+ 잔차 · NIS · P · 발산 판정 횟수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4892040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8794AC"/>
                </a:solidFill>
                <a:latin typeface="Consolas"/>
                <a:ea typeface="Consolas"/>
              </a:rPr>
              <a:t>PlotLink.c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950208" y="3118104"/>
            <a:ext cx="374904" cy="0"/>
          </a:xfrm>
          <a:prstGeom prst="line">
            <a:avLst/>
          </a:prstGeom>
          <a:ln w="15875">
            <a:solidFill>
              <a:srgbClr val="4A5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379208" y="3118104"/>
            <a:ext cx="374904" cy="0"/>
          </a:xfrm>
          <a:prstGeom prst="line">
            <a:avLst/>
          </a:prstGeom>
          <a:ln w="15875">
            <a:solidFill>
              <a:srgbClr val="4A5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7379208" y="4727448"/>
            <a:ext cx="374904" cy="0"/>
          </a:xfrm>
          <a:prstGeom prst="line">
            <a:avLst/>
          </a:prstGeom>
          <a:ln w="15875">
            <a:solidFill>
              <a:srgbClr val="4A5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3950208" y="4727448"/>
            <a:ext cx="374904" cy="0"/>
          </a:xfrm>
          <a:prstGeom prst="line">
            <a:avLst/>
          </a:prstGeom>
          <a:ln w="15875">
            <a:solidFill>
              <a:srgbClr val="4A5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281160" y="3584448"/>
            <a:ext cx="0" cy="676656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390888" y="3712463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맑은 고딕"/>
                <a:ea typeface="맑은 고딕"/>
              </a:rPr>
              <a:t>UDP</a:t>
            </a:r>
          </a:p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563EB"/>
                </a:solidFill>
                <a:latin typeface="맑은 고딕"/>
                <a:ea typeface="맑은 고딕"/>
              </a:rPr>
              <a:t>스캔마다 메시지 1 개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423160" y="5193792"/>
            <a:ext cx="0" cy="320040"/>
          </a:xfrm>
          <a:prstGeom prst="line">
            <a:avLst/>
          </a:prstGeom>
          <a:ln w="15875">
            <a:solidFill>
              <a:srgbClr val="4A5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640080" y="5532120"/>
            <a:ext cx="10908792" cy="713232"/>
          </a:xfrm>
          <a:prstGeom prst="roundRect">
            <a:avLst>
              <a:gd name="adj" fmla="val 10000"/>
            </a:avLst>
          </a:prstGeom>
          <a:solidFill>
            <a:srgbClr val="FEF5E7"/>
          </a:solidFill>
          <a:ln w="1397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868680" y="5568696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B2740"/>
                </a:solidFill>
                <a:latin typeface="맑은 고딕"/>
                <a:ea typeface="맑은 고딕"/>
              </a:rPr>
              <a:t>TargetSimUI.exe  (MFC 화면)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A5A7A"/>
                </a:solidFill>
                <a:latin typeface="맑은 고딕"/>
                <a:ea typeface="맑은 고딕"/>
              </a:rPr>
              <a:t>시나리오 (대함 · 대공) · 필터 파라미터 입력,  3D (LLA) · 위도-고도 · 경도-고도 · 평면 · 추적 성능 보기,  참값 대비 오차,  트랙 표 (가속도 · NIS · 발산 판정)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02. 구현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2.2 스캔 처리 순서와 연관 가정 (f_Trk_ProcessScan)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수신 쓰레드가 플롯 메시지를 받을 때마다 아래 여섯 단계를 차례로 합니다. 과제 5 의 개시 · 관리 사이에 예측과 연관 (가정) · 갱신이 들어갔습니다.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40080" y="2286000"/>
            <a:ext cx="4846320" cy="47548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2377440"/>
            <a:ext cx="274320" cy="274320"/>
          </a:xfrm>
          <a:prstGeom prst="ellipse">
            <a:avLst/>
          </a:prstGeom>
          <a:solidFill>
            <a:srgbClr val="879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2340864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2740"/>
                </a:solidFill>
                <a:latin typeface="맑은 고딕"/>
                <a:ea typeface="맑은 고딕"/>
              </a:rPr>
              <a:t>삭제 트랙 빼기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2587752"/>
            <a:ext cx="4297680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앞 스캔에서 삭제 (4) 가 된 트랙을 표에서 지움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2834640"/>
            <a:ext cx="4846320" cy="658368"/>
          </a:xfrm>
          <a:prstGeom prst="roundRect">
            <a:avLst>
              <a:gd name="adj" fmla="val 10000"/>
            </a:avLst>
          </a:prstGeom>
          <a:solidFill>
            <a:srgbClr val="FEF5E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749808" y="2926080"/>
            <a:ext cx="274320" cy="27432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2889504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2740"/>
                </a:solidFill>
                <a:latin typeface="맑은 고딕"/>
                <a:ea typeface="맑은 고딕"/>
              </a:rPr>
              <a:t>예측   과제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313639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모든 트랙을 이번 스캔 시각까지 (F, Q)</a:t>
            </a:r>
          </a:p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트랙-플롯 통계적 거리 d</a:t>
            </a:r>
            <a:r>
              <a:rPr sz="980" b="0" i="0" baseline="30000">
                <a:solidFill>
                  <a:srgbClr val="4A5A7A"/>
                </a:solidFill>
                <a:latin typeface="맑은 고딕"/>
                <a:ea typeface="맑은 고딕"/>
              </a:rPr>
              <a:t>2</a:t>
            </a: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 = ν</a:t>
            </a:r>
            <a:r>
              <a:rPr sz="980" b="0" i="0" baseline="30000">
                <a:solidFill>
                  <a:srgbClr val="4A5A7A"/>
                </a:solidFill>
                <a:latin typeface="맑은 고딕"/>
                <a:ea typeface="맑은 고딕"/>
              </a:rPr>
              <a:t>T</a:t>
            </a: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S</a:t>
            </a:r>
            <a:r>
              <a:rPr sz="980" b="0" i="0" baseline="30000">
                <a:solidFill>
                  <a:srgbClr val="4A5A7A"/>
                </a:solidFill>
                <a:latin typeface="맑은 고딕"/>
                <a:ea typeface="맑은 고딕"/>
              </a:rPr>
              <a:t>−1</a:t>
            </a: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ν 계산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3566160"/>
            <a:ext cx="4846320" cy="658368"/>
          </a:xfrm>
          <a:prstGeom prst="roundRect">
            <a:avLst>
              <a:gd name="adj" fmla="val 10000"/>
            </a:avLst>
          </a:prstGeom>
          <a:solidFill>
            <a:srgbClr val="FEF5E7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749808" y="3657600"/>
            <a:ext cx="274320" cy="27432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3621024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2740"/>
                </a:solidFill>
                <a:latin typeface="맑은 고딕"/>
                <a:ea typeface="맑은 고딕"/>
              </a:rPr>
              <a:t>연관 (가정) · 갱신   과제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386791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d</a:t>
            </a:r>
            <a:r>
              <a:rPr sz="980" b="0" i="0" baseline="30000">
                <a:solidFill>
                  <a:srgbClr val="4A5A7A"/>
                </a:solidFill>
                <a:latin typeface="맑은 고딕"/>
                <a:ea typeface="맑은 고딕"/>
              </a:rPr>
              <a:t>2</a:t>
            </a: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 가 가장 작은 짝부터, 문턱 없이 연관</a:t>
            </a:r>
          </a:p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CMKF 갱신, NIS 로 게이트 밖 · 발산 판정 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297680"/>
            <a:ext cx="4846320" cy="47548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49808" y="4389120"/>
            <a:ext cx="274320" cy="274320"/>
          </a:xfrm>
          <a:prstGeom prst="ellipse">
            <a:avLst/>
          </a:prstGeom>
          <a:solidFill>
            <a:srgbClr val="879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4352544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2740"/>
                </a:solidFill>
                <a:latin typeface="맑은 고딕"/>
                <a:ea typeface="맑은 고딕"/>
              </a:rPr>
              <a:t>트랙 관리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4599432"/>
            <a:ext cx="4297680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스코어 로직 (과제 5). 연관되면 Assigned_Flag 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846320"/>
            <a:ext cx="4846320" cy="47548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749808" y="4937759"/>
            <a:ext cx="274320" cy="274320"/>
          </a:xfrm>
          <a:prstGeom prst="ellipse">
            <a:avLst/>
          </a:prstGeom>
          <a:solidFill>
            <a:srgbClr val="879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4901183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2740"/>
                </a:solidFill>
                <a:latin typeface="맑은 고딕"/>
                <a:ea typeface="맑은 고딕"/>
              </a:rPr>
              <a:t>2-Point 개시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5148072"/>
            <a:ext cx="4297680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트랙이 가져가지 않은 플롯끼리 (과제 5)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5394959"/>
            <a:ext cx="4846320" cy="47548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749808" y="5486399"/>
            <a:ext cx="274320" cy="274320"/>
          </a:xfrm>
          <a:prstGeom prst="ellipse">
            <a:avLst/>
          </a:prstGeom>
          <a:solidFill>
            <a:srgbClr val="879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5449823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2740"/>
                </a:solidFill>
                <a:latin typeface="맑은 고딕"/>
                <a:ea typeface="맑은 고딕"/>
              </a:rPr>
              <a:t>개시 후보 보관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" y="5696712"/>
            <a:ext cx="4297680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이번 플롯을 다음 스캔 개시 후보로 (과제 5)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15000" y="2276856"/>
            <a:ext cx="58338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③ 연관 (가정) · 갱신    </a:t>
            </a:r>
            <a:r>
              <a:rPr sz="950" b="0" i="0">
                <a:solidFill>
                  <a:srgbClr val="8794AC"/>
                </a:solidFill>
                <a:latin typeface="Consolas"/>
                <a:ea typeface="Consolas"/>
              </a:rPr>
              <a:t>TrackMgr.c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15000" y="2542032"/>
            <a:ext cx="5833872" cy="3675887"/>
          </a:xfrm>
          <a:prstGeom prst="rect">
            <a:avLst/>
          </a:prstGeom>
          <a:solidFill>
            <a:srgbClr val="FFFFFF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742432" y="3931920"/>
            <a:ext cx="5779008" cy="219456"/>
          </a:xfrm>
          <a:prstGeom prst="rect">
            <a:avLst/>
          </a:prstGeom>
          <a:solidFill>
            <a:srgbClr val="FD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742432" y="3931920"/>
            <a:ext cx="36576" cy="21945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5742432" y="5687568"/>
            <a:ext cx="5779008" cy="109728"/>
          </a:xfrm>
          <a:prstGeom prst="rect">
            <a:avLst/>
          </a:prstGeom>
          <a:solidFill>
            <a:srgbClr val="FEF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5742432" y="5687568"/>
            <a:ext cx="36576" cy="1097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5742432" y="5907023"/>
            <a:ext cx="5779008" cy="109728"/>
          </a:xfrm>
          <a:prstGeom prst="rect">
            <a:avLst/>
          </a:prstGeom>
          <a:solidFill>
            <a:srgbClr val="E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5742432" y="5907023"/>
            <a:ext cx="36576" cy="10972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806440" y="2615184"/>
            <a:ext cx="5650992" cy="3511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673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20" b="0" i="0">
                <a:solidFill>
                  <a:srgbClr val="059669"/>
                </a:solidFill>
                <a:latin typeface="Consolas"/>
                <a:ea typeface="Consolas"/>
              </a:rPr>
              <a:t>// 3. 연관 (가정) 과 갱신: 연관 기법이 없어 플롯은 무조건 연관된 것으로 봄 (게이트 문턱 …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674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20" b="0" i="0">
                <a:solidFill>
                  <a:srgbClr val="059669"/>
                </a:solidFill>
                <a:latin typeface="Consolas"/>
                <a:ea typeface="Consolas"/>
              </a:rPr>
              <a:t>// 플롯이 여럿이면 통계적 거리가 가장 가까운 트랙-플롯 짝부터 하나씩 묶음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675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isSearching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B45309"/>
                </a:solidFill>
                <a:latin typeface="Consolas"/>
                <a:ea typeface="Consolas"/>
              </a:rPr>
              <a:t>1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677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20" b="0" i="0">
                <a:solidFill>
                  <a:srgbClr val="2563EB"/>
                </a:solidFill>
                <a:latin typeface="Consolas"/>
                <a:ea typeface="Consolas"/>
              </a:rPr>
              <a:t>while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isSearching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!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B45309"/>
                </a:solidFill>
                <a:latin typeface="Consolas"/>
                <a:ea typeface="Consolas"/>
              </a:rPr>
              <a:t>0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678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679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bestTrack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20" b="0" i="0">
                <a:solidFill>
                  <a:srgbClr val="B45309"/>
                </a:solidFill>
                <a:latin typeface="Consolas"/>
                <a:ea typeface="Consolas"/>
              </a:rPr>
              <a:t>1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680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bestCur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20" b="0" i="0">
                <a:solidFill>
                  <a:srgbClr val="B45309"/>
                </a:solidFill>
                <a:latin typeface="Consolas"/>
                <a:ea typeface="Consolas"/>
              </a:rPr>
              <a:t>1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681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bestDistance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B45309"/>
                </a:solidFill>
                <a:latin typeface="Consolas"/>
                <a:ea typeface="Consolas"/>
              </a:rPr>
              <a:t>0.0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683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20" b="0" i="0">
                <a:solidFill>
                  <a:srgbClr val="2563EB"/>
                </a:solidFill>
                <a:latin typeface="Consolas"/>
                <a:ea typeface="Consolas"/>
              </a:rPr>
              <a:t>for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nTrack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B45309"/>
                </a:solidFill>
                <a:latin typeface="Consolas"/>
                <a:ea typeface="Consolas"/>
              </a:rPr>
              <a:t>0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nTrack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&lt;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st_Table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nTrackNum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nTrack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684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685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  </a:t>
            </a:r>
            <a:r>
              <a:rPr sz="720" b="0" i="0">
                <a:solidFill>
                  <a:srgbClr val="2563EB"/>
                </a:solidFill>
                <a:latin typeface="Consolas"/>
                <a:ea typeface="Consolas"/>
              </a:rPr>
              <a:t>for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nCur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B45309"/>
                </a:solidFill>
                <a:latin typeface="Consolas"/>
                <a:ea typeface="Consolas"/>
              </a:rPr>
              <a:t>0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nCur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&lt;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nCurNum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nCur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686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687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    </a:t>
            </a:r>
            <a:r>
              <a:rPr sz="720" b="0" i="0">
                <a:solidFill>
                  <a:srgbClr val="2563EB"/>
                </a:solidFill>
                <a:latin typeface="Consolas"/>
                <a:ea typeface="Consolas"/>
              </a:rPr>
              <a:t>if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st_Table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nTrack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.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Assigned_Flag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B45309"/>
                </a:solidFill>
                <a:latin typeface="Consolas"/>
                <a:ea typeface="Consolas"/>
              </a:rPr>
              <a:t>0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st_Cur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nCur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.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isUsed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B45309"/>
                </a:solidFill>
                <a:latin typeface="Consolas"/>
                <a:ea typeface="Consolas"/>
              </a:rPr>
              <a:t>0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688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  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bestTrack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&lt;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B45309"/>
                </a:solidFill>
                <a:latin typeface="Consolas"/>
                <a:ea typeface="Consolas"/>
              </a:rPr>
              <a:t>0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|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|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st_Table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distance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nTrack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nCur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&lt;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bestDistance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689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690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  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bestDistance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st_Table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distance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nTrack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nCur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691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  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bestTrack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nTrack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692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  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bestCur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nCur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693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}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694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}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695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}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697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20" b="0" i="0">
                <a:solidFill>
                  <a:srgbClr val="2563EB"/>
                </a:solidFill>
                <a:latin typeface="Consolas"/>
                <a:ea typeface="Consolas"/>
              </a:rPr>
              <a:t>if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bestTrack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&lt;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B45309"/>
                </a:solidFill>
                <a:latin typeface="Consolas"/>
                <a:ea typeface="Consolas"/>
              </a:rPr>
              <a:t>0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698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699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isSearching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B45309"/>
                </a:solidFill>
                <a:latin typeface="Consolas"/>
                <a:ea typeface="Consolas"/>
              </a:rPr>
              <a:t>0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700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}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701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20" b="0" i="0">
                <a:solidFill>
                  <a:srgbClr val="2563EB"/>
                </a:solidFill>
                <a:latin typeface="Consolas"/>
                <a:ea typeface="Consolas"/>
              </a:rPr>
              <a:t>else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702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703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st_Table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bestTrack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704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f_Trk_Update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st_Cur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bestCur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705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st_Cur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bestCur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.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isUsed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B45309"/>
                </a:solidFill>
                <a:latin typeface="Consolas"/>
                <a:ea typeface="Consolas"/>
              </a:rPr>
              <a:t>1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706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Assigned_Flag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20" b="0" i="0">
                <a:solidFill>
                  <a:srgbClr val="B45309"/>
                </a:solidFill>
                <a:latin typeface="Consolas"/>
                <a:ea typeface="Consolas"/>
              </a:rPr>
              <a:t>1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20" b="0" i="0">
                <a:solidFill>
                  <a:srgbClr val="AEB9CC"/>
                </a:solidFill>
                <a:latin typeface="Consolas"/>
                <a:ea typeface="Consolas"/>
              </a:rPr>
              <a:t>707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      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st_Log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nUpdatedNum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2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</p:txBody>
      </p:sp>
      <p:sp>
        <p:nvSpPr>
          <p:cNvPr id="59" name="Oval 58"/>
          <p:cNvSpPr/>
          <p:nvPr/>
        </p:nvSpPr>
        <p:spPr>
          <a:xfrm>
            <a:off x="11402567" y="3941063"/>
            <a:ext cx="201168" cy="20116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0" name="Oval 59"/>
          <p:cNvSpPr/>
          <p:nvPr/>
        </p:nvSpPr>
        <p:spPr>
          <a:xfrm>
            <a:off x="11402567" y="5641848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61" name="Oval 60"/>
          <p:cNvSpPr/>
          <p:nvPr/>
        </p:nvSpPr>
        <p:spPr>
          <a:xfrm>
            <a:off x="11155680" y="5861303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02. 구현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2.3 예측: Singer F · Q 와 f_Trk_Predict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F 와 Q 는 과제 자료의 식 그대로 계산합니다. 다만 숫자 자리 손실을 막으려고 F 는 expm1, Q 는 T/τ 가 작을 때 급수를 씁니다.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27685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Singer F 의 블록 f    </a:t>
            </a:r>
            <a:r>
              <a:rPr sz="950" b="0" i="0">
                <a:solidFill>
                  <a:srgbClr val="8794AC"/>
                </a:solidFill>
                <a:latin typeface="Consolas"/>
                <a:ea typeface="Consolas"/>
              </a:rPr>
              <a:t>TrackMgr.c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2542032"/>
            <a:ext cx="5120640" cy="996696"/>
          </a:xfrm>
          <a:prstGeom prst="rect">
            <a:avLst/>
          </a:prstGeom>
          <a:solidFill>
            <a:srgbClr val="FFFFFF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67512" y="2971800"/>
            <a:ext cx="5065776" cy="118872"/>
          </a:xfrm>
          <a:prstGeom prst="rect">
            <a:avLst/>
          </a:prstGeom>
          <a:solidFill>
            <a:srgbClr val="FD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67512" y="2971800"/>
            <a:ext cx="36576" cy="11887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31519" y="2615184"/>
            <a:ext cx="4937759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936"/>
              </a:lnSpc>
            </a:pPr>
            <a:r>
              <a:rPr sz="760" b="0" i="0">
                <a:solidFill>
                  <a:srgbClr val="AEB9CC"/>
                </a:solidFill>
                <a:latin typeface="Consolas"/>
                <a:ea typeface="Consolas"/>
              </a:rPr>
              <a:t>306  </a:t>
            </a:r>
            <a:r>
              <a:rPr sz="760" b="0" i="0">
                <a:solidFill>
                  <a:srgbClr val="2563EB"/>
                </a:solidFill>
                <a:latin typeface="Consolas"/>
                <a:ea typeface="Consolas"/>
              </a:rPr>
              <a:t>VOID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f_Trk_SingerF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60" b="0" i="0">
                <a:solidFill>
                  <a:srgbClr val="2563EB"/>
                </a:solidFill>
                <a:latin typeface="Consolas"/>
                <a:ea typeface="Consolas"/>
              </a:rPr>
              <a:t>matrix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st_F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2563EB"/>
                </a:solidFill>
                <a:latin typeface="Consolas"/>
                <a:ea typeface="Consolas"/>
              </a:rPr>
              <a:t>FLOAT64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dt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2563EB"/>
                </a:solidFill>
                <a:latin typeface="Consolas"/>
                <a:ea typeface="Consolas"/>
              </a:rPr>
              <a:t>FLOAT64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tau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</a:p>
          <a:p>
            <a:pPr>
              <a:lnSpc>
                <a:spcPts val="936"/>
              </a:lnSpc>
            </a:pPr>
            <a:r>
              <a:rPr sz="760" b="0" i="0">
                <a:solidFill>
                  <a:srgbClr val="AEB9CC"/>
                </a:solidFill>
                <a:latin typeface="Consolas"/>
                <a:ea typeface="Consolas"/>
              </a:rPr>
              <a:t>307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ts val="936"/>
              </a:lnSpc>
            </a:pPr>
            <a:r>
              <a:rPr sz="760" b="0" i="0">
                <a:solidFill>
                  <a:srgbClr val="AEB9CC"/>
                </a:solidFill>
                <a:latin typeface="Consolas"/>
                <a:ea typeface="Consolas"/>
              </a:rPr>
              <a:t>308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60" b="0" i="0">
                <a:solidFill>
                  <a:srgbClr val="2563EB"/>
                </a:solidFill>
                <a:latin typeface="Consolas"/>
                <a:ea typeface="Consolas"/>
              </a:rPr>
              <a:t>const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2563EB"/>
                </a:solidFill>
                <a:latin typeface="Consolas"/>
                <a:ea typeface="Consolas"/>
              </a:rPr>
              <a:t>FLOAT64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x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dt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/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tau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36"/>
              </a:lnSpc>
            </a:pPr>
            <a:r>
              <a:rPr sz="760" b="0" i="0">
                <a:solidFill>
                  <a:srgbClr val="AEB9CC"/>
                </a:solidFill>
                <a:latin typeface="Consolas"/>
                <a:ea typeface="Consolas"/>
              </a:rPr>
              <a:t>309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60" b="0" i="0">
                <a:solidFill>
                  <a:srgbClr val="2563EB"/>
                </a:solidFill>
                <a:latin typeface="Consolas"/>
                <a:ea typeface="Consolas"/>
              </a:rPr>
              <a:t>const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2563EB"/>
                </a:solidFill>
                <a:latin typeface="Consolas"/>
                <a:ea typeface="Consolas"/>
              </a:rPr>
              <a:t>FLOAT64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em1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expm1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x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36"/>
              </a:lnSpc>
            </a:pPr>
            <a:r>
              <a:rPr sz="760" b="0" i="0">
                <a:solidFill>
                  <a:srgbClr val="AEB9CC"/>
                </a:solidFill>
                <a:latin typeface="Consolas"/>
                <a:ea typeface="Consolas"/>
              </a:rPr>
              <a:t>315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f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0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0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1.0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f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0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1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dt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f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0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2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tau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tau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x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em1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36"/>
              </a:lnSpc>
            </a:pPr>
            <a:r>
              <a:rPr sz="760" b="0" i="0">
                <a:solidFill>
                  <a:srgbClr val="AEB9CC"/>
                </a:solidFill>
                <a:latin typeface="Consolas"/>
                <a:ea typeface="Consolas"/>
              </a:rPr>
              <a:t>316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f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1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0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0.0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f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1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1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1.0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f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1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2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tau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em1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36"/>
              </a:lnSpc>
            </a:pPr>
            <a:r>
              <a:rPr sz="760" b="0" i="0">
                <a:solidFill>
                  <a:srgbClr val="AEB9CC"/>
                </a:solidFill>
                <a:latin typeface="Consolas"/>
                <a:ea typeface="Consolas"/>
              </a:rPr>
              <a:t>317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f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2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0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0.0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f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2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1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0.0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f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2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2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1.0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em1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</p:txBody>
      </p:sp>
      <p:sp>
        <p:nvSpPr>
          <p:cNvPr id="31" name="Oval 30"/>
          <p:cNvSpPr/>
          <p:nvPr/>
        </p:nvSpPr>
        <p:spPr>
          <a:xfrm>
            <a:off x="5614416" y="2930652"/>
            <a:ext cx="201168" cy="20116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685032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예측 f_Trk_Predict    </a:t>
            </a:r>
            <a:r>
              <a:rPr sz="950" b="0" i="0">
                <a:solidFill>
                  <a:srgbClr val="8794AC"/>
                </a:solidFill>
                <a:latin typeface="Consolas"/>
                <a:ea typeface="Consolas"/>
              </a:rPr>
              <a:t>TrackMgr.c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950208"/>
            <a:ext cx="5120640" cy="1947672"/>
          </a:xfrm>
          <a:prstGeom prst="rect">
            <a:avLst/>
          </a:prstGeom>
          <a:solidFill>
            <a:srgbClr val="FFFFFF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67512" y="5093208"/>
            <a:ext cx="5065776" cy="118872"/>
          </a:xfrm>
          <a:prstGeom prst="rect">
            <a:avLst/>
          </a:prstGeom>
          <a:solidFill>
            <a:srgbClr val="FEF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67512" y="5093208"/>
            <a:ext cx="36576" cy="11887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67512" y="5212080"/>
            <a:ext cx="5065776" cy="237744"/>
          </a:xfrm>
          <a:prstGeom prst="rect">
            <a:avLst/>
          </a:prstGeom>
          <a:solidFill>
            <a:srgbClr val="E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67512" y="5212080"/>
            <a:ext cx="36576" cy="23774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31519" y="4023360"/>
            <a:ext cx="4937759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936"/>
              </a:lnSpc>
            </a:pPr>
            <a:r>
              <a:rPr sz="760" b="0" i="0">
                <a:solidFill>
                  <a:srgbClr val="AEB9CC"/>
                </a:solidFill>
                <a:latin typeface="Consolas"/>
                <a:ea typeface="Consolas"/>
              </a:rPr>
              <a:t>411  </a:t>
            </a:r>
            <a:r>
              <a:rPr sz="760" b="0" i="0">
                <a:solidFill>
                  <a:srgbClr val="2563EB"/>
                </a:solidFill>
                <a:latin typeface="Consolas"/>
                <a:ea typeface="Consolas"/>
              </a:rPr>
              <a:t>VOID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f_Trk_Predict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60" b="0" i="0">
                <a:solidFill>
                  <a:srgbClr val="2563EB"/>
                </a:solidFill>
                <a:latin typeface="Consolas"/>
                <a:ea typeface="Consolas"/>
              </a:rPr>
              <a:t>ST_Track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2563EB"/>
                </a:solidFill>
                <a:latin typeface="Consolas"/>
                <a:ea typeface="Consolas"/>
              </a:rPr>
              <a:t>FLOAT64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time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2563EB"/>
                </a:solidFill>
                <a:latin typeface="Consolas"/>
                <a:ea typeface="Consolas"/>
              </a:rPr>
              <a:t>const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2563EB"/>
                </a:solidFill>
                <a:latin typeface="Consolas"/>
                <a:ea typeface="Consolas"/>
              </a:rPr>
              <a:t>ST_TrkParam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st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…</a:t>
            </a:r>
          </a:p>
          <a:p>
            <a:pPr>
              <a:lnSpc>
                <a:spcPts val="936"/>
              </a:lnSpc>
            </a:pPr>
            <a:r>
              <a:rPr sz="760" b="0" i="0">
                <a:solidFill>
                  <a:srgbClr val="AEB9CC"/>
                </a:solidFill>
                <a:latin typeface="Consolas"/>
                <a:ea typeface="Consolas"/>
              </a:rPr>
              <a:t>412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ts val="936"/>
              </a:lnSpc>
            </a:pPr>
            <a:r>
              <a:rPr sz="760" b="0" i="0">
                <a:solidFill>
                  <a:srgbClr val="AEB9CC"/>
                </a:solidFill>
                <a:latin typeface="Consolas"/>
                <a:ea typeface="Consolas"/>
              </a:rPr>
              <a:t>413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60" b="0" i="0">
                <a:solidFill>
                  <a:srgbClr val="2563EB"/>
                </a:solidFill>
                <a:latin typeface="Consolas"/>
                <a:ea typeface="Consolas"/>
              </a:rPr>
              <a:t>const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2563EB"/>
                </a:solidFill>
                <a:latin typeface="Consolas"/>
                <a:ea typeface="Consolas"/>
              </a:rPr>
              <a:t>FLOAT64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dt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time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stateTime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36"/>
              </a:lnSpc>
            </a:pPr>
            <a:r>
              <a:rPr sz="760" b="0" i="0">
                <a:solidFill>
                  <a:srgbClr val="8794AC"/>
                </a:solidFill>
                <a:latin typeface="Consolas"/>
                <a:ea typeface="Consolas"/>
              </a:rPr>
              <a:t>     ...</a:t>
            </a:r>
          </a:p>
          <a:p>
            <a:pPr>
              <a:lnSpc>
                <a:spcPts val="936"/>
              </a:lnSpc>
            </a:pPr>
            <a:r>
              <a:rPr sz="760" b="0" i="0">
                <a:solidFill>
                  <a:srgbClr val="AEB9CC"/>
                </a:solidFill>
                <a:latin typeface="Consolas"/>
                <a:ea typeface="Consolas"/>
              </a:rPr>
              <a:t>419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60" b="0" i="0">
                <a:solidFill>
                  <a:srgbClr val="2563EB"/>
                </a:solidFill>
                <a:latin typeface="Consolas"/>
                <a:ea typeface="Consolas"/>
              </a:rPr>
              <a:t>if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dt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B45309"/>
                </a:solidFill>
                <a:latin typeface="Consolas"/>
                <a:ea typeface="Consolas"/>
              </a:rPr>
              <a:t>0.0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</a:p>
          <a:p>
            <a:pPr>
              <a:lnSpc>
                <a:spcPts val="936"/>
              </a:lnSpc>
            </a:pPr>
            <a:r>
              <a:rPr sz="760" b="0" i="0">
                <a:solidFill>
                  <a:srgbClr val="AEB9CC"/>
                </a:solidFill>
                <a:latin typeface="Consolas"/>
                <a:ea typeface="Consolas"/>
              </a:rPr>
              <a:t>420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ts val="936"/>
              </a:lnSpc>
            </a:pPr>
            <a:r>
              <a:rPr sz="760" b="0" i="0">
                <a:solidFill>
                  <a:srgbClr val="AEB9CC"/>
                </a:solidFill>
                <a:latin typeface="Consolas"/>
                <a:ea typeface="Consolas"/>
              </a:rPr>
              <a:t>421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f_Trk_SingerF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mat_F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dt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st_Param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singerTau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36"/>
              </a:lnSpc>
            </a:pPr>
            <a:r>
              <a:rPr sz="760" b="0" i="0">
                <a:solidFill>
                  <a:srgbClr val="AEB9CC"/>
                </a:solidFill>
                <a:latin typeface="Consolas"/>
                <a:ea typeface="Consolas"/>
              </a:rPr>
              <a:t>422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f_Trk_SingerQ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mat_Q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dt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st_Param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singerQ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st_Param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singerTau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36"/>
              </a:lnSpc>
            </a:pPr>
            <a:r>
              <a:rPr sz="760" b="0" i="0">
                <a:solidFill>
                  <a:srgbClr val="AEB9CC"/>
                </a:solidFill>
                <a:latin typeface="Consolas"/>
                <a:ea typeface="Consolas"/>
              </a:rPr>
              <a:t>423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mat_Ft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Matrix_Transpose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mat_F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36"/>
              </a:lnSpc>
            </a:pPr>
            <a:r>
              <a:rPr sz="760" b="0" i="0">
                <a:solidFill>
                  <a:srgbClr val="AEB9CC"/>
                </a:solidFill>
                <a:latin typeface="Consolas"/>
                <a:ea typeface="Consolas"/>
              </a:rPr>
              <a:t>425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mat_EstX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Matrix_Product2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mat_F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mat_EstX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36"/>
              </a:lnSpc>
            </a:pPr>
            <a:r>
              <a:rPr sz="760" b="0" i="0">
                <a:solidFill>
                  <a:srgbClr val="AEB9CC"/>
                </a:solidFill>
                <a:latin typeface="Consolas"/>
                <a:ea typeface="Consolas"/>
              </a:rPr>
              <a:t>426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mat_FPFt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         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Matrix_Product3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mat_F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mat_EstP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m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…</a:t>
            </a:r>
          </a:p>
          <a:p>
            <a:pPr>
              <a:lnSpc>
                <a:spcPts val="936"/>
              </a:lnSpc>
            </a:pPr>
            <a:r>
              <a:rPr sz="760" b="0" i="0">
                <a:solidFill>
                  <a:srgbClr val="AEB9CC"/>
                </a:solidFill>
                <a:latin typeface="Consolas"/>
                <a:ea typeface="Consolas"/>
              </a:rPr>
              <a:t>427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mat_EstP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Matrix_Add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mat_FPFt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mat_Q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36"/>
              </a:lnSpc>
            </a:pPr>
            <a:r>
              <a:rPr sz="760" b="0" i="0">
                <a:solidFill>
                  <a:srgbClr val="AEB9CC"/>
                </a:solidFill>
                <a:latin typeface="Consolas"/>
                <a:ea typeface="Consolas"/>
              </a:rPr>
              <a:t>428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f_Trk_Symmetrize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mat_EstP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36"/>
              </a:lnSpc>
            </a:pPr>
            <a:r>
              <a:rPr sz="760" b="0" i="0">
                <a:solidFill>
                  <a:srgbClr val="AEB9CC"/>
                </a:solidFill>
                <a:latin typeface="Consolas"/>
                <a:ea typeface="Consolas"/>
              </a:rPr>
              <a:t>429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stateTime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time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36"/>
              </a:lnSpc>
            </a:pPr>
            <a:r>
              <a:rPr sz="760" b="0" i="0">
                <a:solidFill>
                  <a:srgbClr val="AEB9CC"/>
                </a:solidFill>
                <a:latin typeface="Consolas"/>
                <a:ea typeface="Consolas"/>
              </a:rPr>
              <a:t>430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60" b="0" i="0">
                <a:solidFill>
                  <a:srgbClr val="1B2740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39" name="Oval 38"/>
          <p:cNvSpPr/>
          <p:nvPr/>
        </p:nvSpPr>
        <p:spPr>
          <a:xfrm>
            <a:off x="5614416" y="5052060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0" name="Oval 39"/>
          <p:cNvSpPr/>
          <p:nvPr/>
        </p:nvSpPr>
        <p:spPr>
          <a:xfrm>
            <a:off x="5367527" y="5230368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2276856"/>
            <a:ext cx="5559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Singer Q: 급수 / 닫힌 식    </a:t>
            </a:r>
            <a:r>
              <a:rPr sz="950" b="0" i="0">
                <a:solidFill>
                  <a:srgbClr val="8794AC"/>
                </a:solidFill>
                <a:latin typeface="Consolas"/>
                <a:ea typeface="Consolas"/>
              </a:rPr>
              <a:t>TrackMgr.c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89320" y="2542032"/>
            <a:ext cx="5559552" cy="3346704"/>
          </a:xfrm>
          <a:prstGeom prst="rect">
            <a:avLst/>
          </a:prstGeom>
          <a:solidFill>
            <a:srgbClr val="FFFFFF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6016752" y="3383279"/>
            <a:ext cx="5504688" cy="109728"/>
          </a:xfrm>
          <a:prstGeom prst="rect">
            <a:avLst/>
          </a:prstGeom>
          <a:solidFill>
            <a:srgbClr val="EB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16752" y="3383279"/>
            <a:ext cx="36576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6016752" y="5138927"/>
            <a:ext cx="5504688" cy="109728"/>
          </a:xfrm>
          <a:prstGeom prst="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6016752" y="5138927"/>
            <a:ext cx="36576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080759" y="2615184"/>
            <a:ext cx="5376672" cy="3182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336  </a:t>
            </a:r>
            <a:r>
              <a:rPr sz="700" b="0" i="0">
                <a:solidFill>
                  <a:srgbClr val="2563EB"/>
                </a:solidFill>
                <a:latin typeface="Consolas"/>
                <a:ea typeface="Consolas"/>
              </a:rPr>
              <a:t>VOID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f_Trk_SingerQ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2563EB"/>
                </a:solidFill>
                <a:latin typeface="Consolas"/>
                <a:ea typeface="Consolas"/>
              </a:rPr>
              <a:t>matrix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st_Q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2563EB"/>
                </a:solidFill>
                <a:latin typeface="Consolas"/>
                <a:ea typeface="Consolas"/>
              </a:rPr>
              <a:t>FLOAT64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dt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2563EB"/>
                </a:solidFill>
                <a:latin typeface="Consolas"/>
                <a:ea typeface="Consolas"/>
              </a:rPr>
              <a:t>FLOAT64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q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2563EB"/>
                </a:solidFill>
                <a:latin typeface="Consolas"/>
                <a:ea typeface="Consolas"/>
              </a:rPr>
              <a:t>FLOAT64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tau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8794AC"/>
                </a:solidFill>
                <a:latin typeface="Consolas"/>
                <a:ea typeface="Consolas"/>
              </a:rPr>
              <a:t>     ...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349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00" b="0" i="0">
                <a:solidFill>
                  <a:srgbClr val="2563EB"/>
                </a:solidFill>
                <a:latin typeface="Consolas"/>
                <a:ea typeface="Consolas"/>
              </a:rPr>
              <a:t>const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2563EB"/>
                </a:solidFill>
                <a:latin typeface="Consolas"/>
                <a:ea typeface="Consolas"/>
              </a:rPr>
              <a:t>FLOAT64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dt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/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tau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350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00" b="0" i="0">
                <a:solidFill>
                  <a:srgbClr val="2563EB"/>
                </a:solidFill>
                <a:latin typeface="Consolas"/>
                <a:ea typeface="Consolas"/>
              </a:rPr>
              <a:t>const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2563EB"/>
                </a:solidFill>
                <a:latin typeface="Consolas"/>
                <a:ea typeface="Consolas"/>
              </a:rPr>
              <a:t>FLOAT64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e1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exp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351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00" b="0" i="0">
                <a:solidFill>
                  <a:srgbClr val="2563EB"/>
                </a:solidFill>
                <a:latin typeface="Consolas"/>
                <a:ea typeface="Consolas"/>
              </a:rPr>
              <a:t>const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2563EB"/>
                </a:solidFill>
                <a:latin typeface="Consolas"/>
                <a:ea typeface="Consolas"/>
              </a:rPr>
              <a:t>FLOAT64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e2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exp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2.0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352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00" b="0" i="0">
                <a:solidFill>
                  <a:srgbClr val="2563EB"/>
                </a:solidFill>
                <a:latin typeface="Consolas"/>
                <a:ea typeface="Consolas"/>
              </a:rPr>
              <a:t>const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2563EB"/>
                </a:solidFill>
                <a:latin typeface="Consolas"/>
                <a:ea typeface="Consolas"/>
              </a:rPr>
              <a:t>FLOAT64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scale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2.0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q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q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/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tau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8794AC"/>
                </a:solidFill>
                <a:latin typeface="Consolas"/>
                <a:ea typeface="Consolas"/>
              </a:rPr>
              <a:t>     ...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362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00" b="0" i="0">
                <a:solidFill>
                  <a:srgbClr val="2563EB"/>
                </a:solidFill>
                <a:latin typeface="Consolas"/>
                <a:ea typeface="Consolas"/>
              </a:rPr>
              <a:t>if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&lt;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7C3AED"/>
                </a:solidFill>
                <a:latin typeface="Consolas"/>
                <a:ea typeface="Consolas"/>
              </a:rPr>
              <a:t>TRK_SERIES_X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363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364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00" b="0" i="0">
                <a:solidFill>
                  <a:srgbClr val="2563EB"/>
                </a:solidFill>
                <a:latin typeface="Consolas"/>
                <a:ea typeface="Consolas"/>
              </a:rPr>
              <a:t>for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nIndex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nIndex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&lt;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7C3AED"/>
                </a:solidFill>
                <a:latin typeface="Consolas"/>
                <a:ea typeface="Consolas"/>
              </a:rPr>
              <a:t>TRK_Q_NUM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nIndex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365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366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  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power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        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pow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2563EB"/>
                </a:solidFill>
                <a:latin typeface="Consolas"/>
                <a:ea typeface="Consolas"/>
              </a:rPr>
              <a:t>FLOAT64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s_Power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nIndex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367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  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bracket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nIndex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0.0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369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    </a:t>
            </a:r>
            <a:r>
              <a:rPr sz="700" b="0" i="0">
                <a:solidFill>
                  <a:srgbClr val="2563EB"/>
                </a:solidFill>
                <a:latin typeface="Consolas"/>
                <a:ea typeface="Consolas"/>
              </a:rPr>
              <a:t>for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nTerm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nTerm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&lt;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7C3AED"/>
                </a:solidFill>
                <a:latin typeface="Consolas"/>
                <a:ea typeface="Consolas"/>
              </a:rPr>
              <a:t>TRK_SERIES_NUM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nTerm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370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  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371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    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bracket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nIndex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bracket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nIndex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s_Coef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nIndex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nTerm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power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372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    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power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        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power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373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  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}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374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}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375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}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376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00" b="0" i="0">
                <a:solidFill>
                  <a:srgbClr val="2563EB"/>
                </a:solidFill>
                <a:latin typeface="Consolas"/>
                <a:ea typeface="Consolas"/>
              </a:rPr>
              <a:t>else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377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378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bracket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1.0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e2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2.0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2.0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/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3.0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2.0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4.0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…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379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bracket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1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1.0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e2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2.0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e1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2.0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e1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2.0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380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bracket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2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1.0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e2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2.0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e1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381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bracket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3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4.0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e1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3.0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e2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2.0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x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382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bracket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4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e2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1.0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2.0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e1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383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bracket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5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B45309"/>
                </a:solidFill>
                <a:latin typeface="Consolas"/>
                <a:ea typeface="Consolas"/>
              </a:rPr>
              <a:t>1.0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e2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864"/>
              </a:lnSpc>
            </a:pPr>
            <a:r>
              <a:rPr sz="700" b="0" i="0">
                <a:solidFill>
                  <a:srgbClr val="AEB9CC"/>
                </a:solidFill>
                <a:latin typeface="Consolas"/>
                <a:ea typeface="Consolas"/>
              </a:rPr>
              <a:t>384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00" b="0" i="0">
                <a:solidFill>
                  <a:srgbClr val="1B2740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48" name="Oval 47"/>
          <p:cNvSpPr/>
          <p:nvPr/>
        </p:nvSpPr>
        <p:spPr>
          <a:xfrm>
            <a:off x="11402567" y="3337560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9" name="Oval 48"/>
          <p:cNvSpPr/>
          <p:nvPr/>
        </p:nvSpPr>
        <p:spPr>
          <a:xfrm>
            <a:off x="11402567" y="5093207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50" name="Oval 49"/>
          <p:cNvSpPr/>
          <p:nvPr/>
        </p:nvSpPr>
        <p:spPr>
          <a:xfrm>
            <a:off x="640080" y="6044184"/>
            <a:ext cx="201168" cy="20116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" y="6016752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740"/>
                </a:solidFill>
                <a:latin typeface="맑은 고딕"/>
                <a:ea typeface="맑은 고딕"/>
              </a:rPr>
              <a:t>e^(−T/τ) − 1 을 expm1 로</a:t>
            </a:r>
          </a:p>
        </p:txBody>
      </p:sp>
      <p:sp>
        <p:nvSpPr>
          <p:cNvPr id="52" name="Oval 51"/>
          <p:cNvSpPr/>
          <p:nvPr/>
        </p:nvSpPr>
        <p:spPr>
          <a:xfrm>
            <a:off x="2715768" y="6044184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71800" y="6016752"/>
            <a:ext cx="57058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740"/>
                </a:solidFill>
                <a:latin typeface="맑은 고딕"/>
                <a:ea typeface="맑은 고딕"/>
              </a:rPr>
              <a:t>X = F X</a:t>
            </a:r>
          </a:p>
        </p:txBody>
      </p:sp>
      <p:sp>
        <p:nvSpPr>
          <p:cNvPr id="54" name="Oval 53"/>
          <p:cNvSpPr/>
          <p:nvPr/>
        </p:nvSpPr>
        <p:spPr>
          <a:xfrm>
            <a:off x="3670401" y="6044184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26433" y="6016752"/>
            <a:ext cx="10314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740"/>
                </a:solidFill>
                <a:latin typeface="맑은 고딕"/>
                <a:ea typeface="맑은 고딕"/>
              </a:rPr>
              <a:t>P = F P Fᵀ + Q</a:t>
            </a:r>
          </a:p>
        </p:txBody>
      </p:sp>
      <p:sp>
        <p:nvSpPr>
          <p:cNvPr id="56" name="Oval 55"/>
          <p:cNvSpPr/>
          <p:nvPr/>
        </p:nvSpPr>
        <p:spPr>
          <a:xfrm>
            <a:off x="5085892" y="604418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41924" y="6016752"/>
            <a:ext cx="123078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740"/>
                </a:solidFill>
                <a:latin typeface="맑은 고딕"/>
                <a:ea typeface="맑은 고딕"/>
              </a:rPr>
              <a:t>T/τ &lt; 0.05 → 급수</a:t>
            </a:r>
          </a:p>
        </p:txBody>
      </p:sp>
      <p:sp>
        <p:nvSpPr>
          <p:cNvPr id="58" name="Oval 57"/>
          <p:cNvSpPr/>
          <p:nvPr/>
        </p:nvSpPr>
        <p:spPr>
          <a:xfrm>
            <a:off x="6700723" y="6044184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56755" y="6016752"/>
            <a:ext cx="15645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740"/>
                </a:solidFill>
                <a:latin typeface="맑은 고딕"/>
                <a:ea typeface="맑은 고딕"/>
              </a:rPr>
              <a:t>q12 표준식 (오타 고침)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02. 구현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2.4 갱신: CMKF 와 발산 판정 (f_Trk_Update)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연관된 플롯으로 칼만 게인 · 추정치 · 추정 오차 공분산을 계산하고, 그때의 잔차로 NIS 를 구해 게이트 밖 횟수와 발산 판정을 셉니다.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0080" y="2276856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CMKF 갱신    </a:t>
            </a:r>
            <a:r>
              <a:rPr sz="950" b="0" i="0">
                <a:solidFill>
                  <a:srgbClr val="8794AC"/>
                </a:solidFill>
                <a:latin typeface="Consolas"/>
                <a:ea typeface="Consolas"/>
              </a:rPr>
              <a:t>TrackMgr.c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2542032"/>
            <a:ext cx="5440680" cy="2756916"/>
          </a:xfrm>
          <a:prstGeom prst="rect">
            <a:avLst/>
          </a:prstGeom>
          <a:solidFill>
            <a:srgbClr val="FFFFFF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67512" y="3849624"/>
            <a:ext cx="5385816" cy="246888"/>
          </a:xfrm>
          <a:prstGeom prst="rect">
            <a:avLst/>
          </a:prstGeom>
          <a:solidFill>
            <a:srgbClr val="FD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67512" y="3849624"/>
            <a:ext cx="36576" cy="24688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67512" y="4219956"/>
            <a:ext cx="5385816" cy="246888"/>
          </a:xfrm>
          <a:prstGeom prst="rect">
            <a:avLst/>
          </a:prstGeom>
          <a:solidFill>
            <a:srgbClr val="FEF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67512" y="4219956"/>
            <a:ext cx="36576" cy="2468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67512" y="4590288"/>
            <a:ext cx="5385816" cy="617220"/>
          </a:xfrm>
          <a:prstGeom prst="rect">
            <a:avLst/>
          </a:prstGeom>
          <a:solidFill>
            <a:srgbClr val="E8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67512" y="4590288"/>
            <a:ext cx="36576" cy="6172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31519" y="2615184"/>
            <a:ext cx="5257800" cy="25923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446  </a:t>
            </a:r>
            <a:r>
              <a:rPr sz="780" b="0" i="0">
                <a:solidFill>
                  <a:srgbClr val="059669"/>
                </a:solidFill>
                <a:latin typeface="Consolas"/>
                <a:ea typeface="Consolas"/>
              </a:rPr>
              <a:t>// CMKF 갱신: K = P H^T (H P H^T + R)^-1, X = X + K (z - H X), P = (I - K H) P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447  </a:t>
            </a:r>
            <a:r>
              <a:rPr sz="780" b="0" i="0">
                <a:solidFill>
                  <a:srgbClr val="059669"/>
                </a:solidFill>
                <a:latin typeface="Consolas"/>
                <a:ea typeface="Consolas"/>
              </a:rPr>
              <a:t>// 그때의 잔차, S, NIS 로 게이트 밖 (NIS &gt; TRK_GATE_CHI2) 횟수를 세고, TRK_D…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448  </a:t>
            </a:r>
            <a:r>
              <a:rPr sz="780" b="0" i="0">
                <a:solidFill>
                  <a:srgbClr val="2563EB"/>
                </a:solidFill>
                <a:latin typeface="Consolas"/>
                <a:ea typeface="Consolas"/>
              </a:rPr>
              <a:t>VOID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f_Trk_Update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80" b="0" i="0">
                <a:solidFill>
                  <a:srgbClr val="2563EB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2563EB"/>
                </a:solidFill>
                <a:latin typeface="Consolas"/>
                <a:ea typeface="Consolas"/>
              </a:rPr>
              <a:t>const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2563EB"/>
                </a:solidFill>
                <a:latin typeface="Consolas"/>
                <a:ea typeface="Consolas"/>
              </a:rPr>
              <a:t>ST_TrkPlot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*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st_Plot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449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8794AC"/>
                </a:solidFill>
                <a:latin typeface="Consolas"/>
                <a:ea typeface="Consolas"/>
              </a:rPr>
              <a:t>     ...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464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f_Trk_Innovation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st_Plot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mat_V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mat_S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465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f_Trk_MakeH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mat_H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466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mat_Ht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          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Matrix_Transpose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mat_H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467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mat_Si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          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Matrix_Inverse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mat_S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469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059669"/>
                </a:solidFill>
                <a:latin typeface="Consolas"/>
                <a:ea typeface="Consolas"/>
              </a:rPr>
              <a:t>// 칼만 게인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470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mat_PHt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         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Matrix_Product2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mat_EstP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mat_Ht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471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           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Matrix_Product2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mat_PHt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mat_Si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473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059669"/>
                </a:solidFill>
                <a:latin typeface="Consolas"/>
                <a:ea typeface="Consolas"/>
              </a:rPr>
              <a:t>// 추정치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474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mat_KV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          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Matrix_Product2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mat_V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475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mat_EstX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Matrix_Add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mat_EstX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mat_KV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477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059669"/>
                </a:solidFill>
                <a:latin typeface="Consolas"/>
                <a:ea typeface="Consolas"/>
              </a:rPr>
              <a:t>// 추정오차공분산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478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Matrix_Identity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mat_I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479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mat_KH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          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Matrix_Product2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mat_H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480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mat_IKH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         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Matrix_Subtract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mat_I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mat_KH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481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mat_EstP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Matrix_Product2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mat_IKH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mat_EstP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482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f_Trk_Symmetrize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mat_EstP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</p:txBody>
      </p:sp>
      <p:sp>
        <p:nvSpPr>
          <p:cNvPr id="35" name="Oval 34"/>
          <p:cNvSpPr/>
          <p:nvPr/>
        </p:nvSpPr>
        <p:spPr>
          <a:xfrm>
            <a:off x="5934456" y="3872484"/>
            <a:ext cx="201168" cy="20116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36" name="Oval 35"/>
          <p:cNvSpPr/>
          <p:nvPr/>
        </p:nvSpPr>
        <p:spPr>
          <a:xfrm>
            <a:off x="5934456" y="4242816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7" name="Oval 36"/>
          <p:cNvSpPr/>
          <p:nvPr/>
        </p:nvSpPr>
        <p:spPr>
          <a:xfrm>
            <a:off x="5934456" y="4798314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276856"/>
            <a:ext cx="52852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NIS · 게이트 밖 · 발산 판정    </a:t>
            </a:r>
            <a:r>
              <a:rPr sz="950" b="0" i="0">
                <a:solidFill>
                  <a:srgbClr val="8794AC"/>
                </a:solidFill>
                <a:latin typeface="Consolas"/>
                <a:ea typeface="Consolas"/>
              </a:rPr>
              <a:t>TrackMgr.c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2542032"/>
            <a:ext cx="5285232" cy="3374136"/>
          </a:xfrm>
          <a:prstGeom prst="rect">
            <a:avLst/>
          </a:prstGeom>
          <a:solidFill>
            <a:srgbClr val="FFFFFF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291072" y="3726180"/>
            <a:ext cx="5230368" cy="123444"/>
          </a:xfrm>
          <a:prstGeom prst="rect">
            <a:avLst/>
          </a:prstGeom>
          <a:solidFill>
            <a:srgbClr val="EB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291072" y="3726180"/>
            <a:ext cx="36576" cy="1234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291072" y="4096512"/>
            <a:ext cx="5230368" cy="1604772"/>
          </a:xfrm>
          <a:prstGeom prst="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6291072" y="4096512"/>
            <a:ext cx="36576" cy="16047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355079" y="2615184"/>
            <a:ext cx="5102352" cy="3209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484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059669"/>
                </a:solidFill>
                <a:latin typeface="Consolas"/>
                <a:ea typeface="Consolas"/>
              </a:rPr>
              <a:t>// 잔차 기록, 게이트 밖 횟수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485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2563EB"/>
                </a:solidFill>
                <a:latin typeface="Consolas"/>
                <a:ea typeface="Consolas"/>
              </a:rPr>
              <a:t>for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nRow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B45309"/>
                </a:solidFill>
                <a:latin typeface="Consolas"/>
                <a:ea typeface="Consolas"/>
              </a:rPr>
              <a:t>0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nRow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&lt;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7C3AED"/>
                </a:solidFill>
                <a:latin typeface="Consolas"/>
                <a:ea typeface="Consolas"/>
              </a:rPr>
              <a:t>TRK_MEAS_DIM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nRow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486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487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innov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nRow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mat_V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.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e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nRow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80" b="0" i="0">
                <a:solidFill>
                  <a:srgbClr val="B45309"/>
                </a:solidFill>
                <a:latin typeface="Consolas"/>
                <a:ea typeface="Consolas"/>
              </a:rPr>
              <a:t>0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489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80" b="0" i="0">
                <a:solidFill>
                  <a:srgbClr val="2563EB"/>
                </a:solidFill>
                <a:latin typeface="Consolas"/>
                <a:ea typeface="Consolas"/>
              </a:rPr>
              <a:t>for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nCol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B45309"/>
                </a:solidFill>
                <a:latin typeface="Consolas"/>
                <a:ea typeface="Consolas"/>
              </a:rPr>
              <a:t>0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nCol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&lt;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7C3AED"/>
                </a:solidFill>
                <a:latin typeface="Consolas"/>
                <a:ea typeface="Consolas"/>
              </a:rPr>
              <a:t>TRK_MEAS_DIM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nCol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490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491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  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innovCov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nRow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nCol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mat_S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.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e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nRow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[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nCol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]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492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}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493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}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495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nis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     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f_Trk_Mahalanobis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mat_V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,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&amp;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mat_Si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496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PlotIdLast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st_Plot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PlotId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497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nUpdateNum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nUpdateNum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B45309"/>
                </a:solidFill>
                <a:latin typeface="Consolas"/>
                <a:ea typeface="Consolas"/>
              </a:rPr>
              <a:t>1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499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2563EB"/>
                </a:solidFill>
                <a:latin typeface="Consolas"/>
                <a:ea typeface="Consolas"/>
              </a:rPr>
              <a:t>if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nis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7C3AED"/>
                </a:solidFill>
                <a:latin typeface="Consolas"/>
                <a:ea typeface="Consolas"/>
              </a:rPr>
              <a:t>TRK_GATE_CHI2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500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501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nGateOutRun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nGateOutRun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B45309"/>
                </a:solidFill>
                <a:latin typeface="Consolas"/>
                <a:ea typeface="Consolas"/>
              </a:rPr>
              <a:t>1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502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nGateOutSum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nGateOutSum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B45309"/>
                </a:solidFill>
                <a:latin typeface="Consolas"/>
                <a:ea typeface="Consolas"/>
              </a:rPr>
              <a:t>1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504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80" b="0" i="0">
                <a:solidFill>
                  <a:srgbClr val="2563EB"/>
                </a:solidFill>
                <a:latin typeface="Consolas"/>
                <a:ea typeface="Consolas"/>
              </a:rPr>
              <a:t>if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(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nGateOutRun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7C3AED"/>
                </a:solidFill>
                <a:latin typeface="Consolas"/>
                <a:ea typeface="Consolas"/>
              </a:rPr>
              <a:t>TRK_DIVERGE_NUM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)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505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506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  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nDivergeNum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nDivergeNum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+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B45309"/>
                </a:solidFill>
                <a:latin typeface="Consolas"/>
                <a:ea typeface="Consolas"/>
              </a:rPr>
              <a:t>1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507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}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508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}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509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2563EB"/>
                </a:solidFill>
                <a:latin typeface="Consolas"/>
                <a:ea typeface="Consolas"/>
              </a:rPr>
              <a:t>else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510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511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st_Track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-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&gt;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nGateOutRun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=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</a:t>
            </a:r>
            <a:r>
              <a:rPr sz="780" b="0" i="0">
                <a:solidFill>
                  <a:srgbClr val="B45309"/>
                </a:solidFill>
                <a:latin typeface="Consolas"/>
                <a:ea typeface="Consolas"/>
              </a:rPr>
              <a:t>0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512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}</a:t>
            </a:r>
          </a:p>
          <a:p>
            <a:pPr>
              <a:lnSpc>
                <a:spcPts val="972"/>
              </a:lnSpc>
            </a:pPr>
            <a:r>
              <a:rPr sz="780" b="0" i="0">
                <a:solidFill>
                  <a:srgbClr val="AEB9CC"/>
                </a:solidFill>
                <a:latin typeface="Consolas"/>
                <a:ea typeface="Consolas"/>
              </a:rPr>
              <a:t>513  </a:t>
            </a:r>
            <a:r>
              <a:rPr sz="780" b="0" i="0">
                <a:solidFill>
                  <a:srgbClr val="1B2740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45" name="Oval 44"/>
          <p:cNvSpPr/>
          <p:nvPr/>
        </p:nvSpPr>
        <p:spPr>
          <a:xfrm>
            <a:off x="11402567" y="3687318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6" name="Oval 45"/>
          <p:cNvSpPr/>
          <p:nvPr/>
        </p:nvSpPr>
        <p:spPr>
          <a:xfrm>
            <a:off x="11402567" y="4798314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47" name="Oval 46"/>
          <p:cNvSpPr/>
          <p:nvPr/>
        </p:nvSpPr>
        <p:spPr>
          <a:xfrm>
            <a:off x="640080" y="6044184"/>
            <a:ext cx="201168" cy="20116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" y="6016752"/>
            <a:ext cx="89976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740"/>
                </a:solidFill>
                <a:latin typeface="맑은 고딕"/>
                <a:ea typeface="맑은 고딕"/>
              </a:rPr>
              <a:t>K = P Hᵀ S⁻¹</a:t>
            </a:r>
          </a:p>
        </p:txBody>
      </p:sp>
      <p:sp>
        <p:nvSpPr>
          <p:cNvPr id="49" name="Oval 48"/>
          <p:cNvSpPr/>
          <p:nvPr/>
        </p:nvSpPr>
        <p:spPr>
          <a:xfrm>
            <a:off x="1923897" y="6044184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79929" y="6016752"/>
            <a:ext cx="8339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740"/>
                </a:solidFill>
                <a:latin typeface="맑은 고딕"/>
                <a:ea typeface="맑은 고딕"/>
              </a:rPr>
              <a:t>X = X + K ν</a:t>
            </a:r>
          </a:p>
        </p:txBody>
      </p:sp>
      <p:sp>
        <p:nvSpPr>
          <p:cNvPr id="51" name="Oval 50"/>
          <p:cNvSpPr/>
          <p:nvPr/>
        </p:nvSpPr>
        <p:spPr>
          <a:xfrm>
            <a:off x="3141878" y="6044184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97910" y="6016752"/>
            <a:ext cx="182514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740"/>
                </a:solidFill>
                <a:latin typeface="맑은 고딕"/>
                <a:ea typeface="맑은 고딕"/>
              </a:rPr>
              <a:t>P = (I − K H) P, 대칭 맞춤</a:t>
            </a:r>
          </a:p>
        </p:txBody>
      </p:sp>
      <p:sp>
        <p:nvSpPr>
          <p:cNvPr id="53" name="Oval 52"/>
          <p:cNvSpPr/>
          <p:nvPr/>
        </p:nvSpPr>
        <p:spPr>
          <a:xfrm>
            <a:off x="5351068" y="604418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07100" y="6016752"/>
            <a:ext cx="10314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740"/>
                </a:solidFill>
                <a:latin typeface="맑은 고딕"/>
                <a:ea typeface="맑은 고딕"/>
              </a:rPr>
              <a:t>NIS = νᵀ S⁻¹ ν</a:t>
            </a:r>
          </a:p>
        </p:txBody>
      </p:sp>
      <p:sp>
        <p:nvSpPr>
          <p:cNvPr id="55" name="Oval 54"/>
          <p:cNvSpPr/>
          <p:nvPr/>
        </p:nvSpPr>
        <p:spPr>
          <a:xfrm>
            <a:off x="6766560" y="6044184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22592" y="6016752"/>
            <a:ext cx="2886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B2740"/>
                </a:solidFill>
                <a:latin typeface="맑은 고딕"/>
                <a:ea typeface="맑은 고딕"/>
              </a:rPr>
              <a:t>&gt; 11.34 게이트 밖, 5 번 이어지면 발산 판정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02. 구현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2.5 결과 화면 (TargetSimUI)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과제가 요구한 3D (LLA) 와 위도-고도 · 경도-고도 2D 궤적에 참값 · 플롯 · 트랙을 함께 그리고, 같은 ID 의 트랙은 선으로 잇습니다. 시나리오와 필터 파라미터는 화면에서 바꿉니다.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pic>
        <p:nvPicPr>
          <p:cNvPr id="26" name="Picture 25" descr="pv_air_tuned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6400800" cy="3810000"/>
          </a:xfrm>
          <a:prstGeom prst="rect">
            <a:avLst/>
          </a:prstGeom>
          <a:ln w="9525">
            <a:solidFill>
              <a:srgbClr val="D2D9E5"/>
            </a:solidFill>
          </a:ln>
        </p:spPr>
      </p:pic>
      <p:sp>
        <p:nvSpPr>
          <p:cNvPr id="27" name="Oval 26"/>
          <p:cNvSpPr/>
          <p:nvPr/>
        </p:nvSpPr>
        <p:spPr>
          <a:xfrm>
            <a:off x="1235964" y="2212848"/>
            <a:ext cx="237744" cy="237744"/>
          </a:xfrm>
          <a:prstGeom prst="ellipse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8" name="Oval 27"/>
          <p:cNvSpPr/>
          <p:nvPr/>
        </p:nvSpPr>
        <p:spPr>
          <a:xfrm>
            <a:off x="6775704" y="2449068"/>
            <a:ext cx="237744" cy="237744"/>
          </a:xfrm>
          <a:prstGeom prst="ellipse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9" name="Oval 28"/>
          <p:cNvSpPr/>
          <p:nvPr/>
        </p:nvSpPr>
        <p:spPr>
          <a:xfrm>
            <a:off x="3980688" y="2593848"/>
            <a:ext cx="237744" cy="237744"/>
          </a:xfrm>
          <a:prstGeom prst="ellipse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0" name="Oval 29"/>
          <p:cNvSpPr/>
          <p:nvPr/>
        </p:nvSpPr>
        <p:spPr>
          <a:xfrm>
            <a:off x="6739128" y="2708148"/>
            <a:ext cx="237744" cy="237744"/>
          </a:xfrm>
          <a:prstGeom prst="ellipse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31" name="Oval 30"/>
          <p:cNvSpPr/>
          <p:nvPr/>
        </p:nvSpPr>
        <p:spPr>
          <a:xfrm>
            <a:off x="2460497" y="4784598"/>
            <a:ext cx="237744" cy="237744"/>
          </a:xfrm>
          <a:prstGeom prst="ellipse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6678168" y="5687568"/>
            <a:ext cx="237744" cy="237744"/>
          </a:xfrm>
          <a:prstGeom prst="ellipse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33" name="Oval 32"/>
          <p:cNvSpPr/>
          <p:nvPr/>
        </p:nvSpPr>
        <p:spPr>
          <a:xfrm>
            <a:off x="7589520" y="2258568"/>
            <a:ext cx="256032" cy="256032"/>
          </a:xfrm>
          <a:prstGeom prst="ellipse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8" y="2240280"/>
            <a:ext cx="35753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시나리오</a:t>
            </a:r>
          </a:p>
          <a:p>
            <a:pPr algn="l">
              <a:spcAft>
                <a:spcPts val="10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대함 · 대공 (바꾸면 궤적 · 플롯부터 다시)</a:t>
            </a:r>
          </a:p>
        </p:txBody>
      </p:sp>
      <p:sp>
        <p:nvSpPr>
          <p:cNvPr id="35" name="Oval 34"/>
          <p:cNvSpPr/>
          <p:nvPr/>
        </p:nvSpPr>
        <p:spPr>
          <a:xfrm>
            <a:off x="7589520" y="2807208"/>
            <a:ext cx="256032" cy="256032"/>
          </a:xfrm>
          <a:prstGeom prst="ellipse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8" y="2788920"/>
            <a:ext cx="35753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보기</a:t>
            </a:r>
          </a:p>
          <a:p>
            <a:pPr algn="l">
              <a:spcAft>
                <a:spcPts val="10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3D + 2D (기본) · 3D · 2D · 평면 · 추적 성능 (오차 · NIS)</a:t>
            </a:r>
          </a:p>
        </p:txBody>
      </p:sp>
      <p:sp>
        <p:nvSpPr>
          <p:cNvPr id="37" name="Oval 36"/>
          <p:cNvSpPr/>
          <p:nvPr/>
        </p:nvSpPr>
        <p:spPr>
          <a:xfrm>
            <a:off x="7589520" y="3355848"/>
            <a:ext cx="256032" cy="256032"/>
          </a:xfrm>
          <a:prstGeom prst="ellipse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3568" y="3337560"/>
            <a:ext cx="35753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3D 궤적 (LLA)</a:t>
            </a:r>
          </a:p>
          <a:p>
            <a:pPr algn="l">
              <a:spcAft>
                <a:spcPts val="10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경도 · 위도 · 고도 눈금, 끌어서 회전 · 휠로 확대</a:t>
            </a:r>
          </a:p>
        </p:txBody>
      </p:sp>
      <p:sp>
        <p:nvSpPr>
          <p:cNvPr id="39" name="Oval 38"/>
          <p:cNvSpPr/>
          <p:nvPr/>
        </p:nvSpPr>
        <p:spPr>
          <a:xfrm>
            <a:off x="7589520" y="3904487"/>
            <a:ext cx="256032" cy="256032"/>
          </a:xfrm>
          <a:prstGeom prst="ellipse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3568" y="3886200"/>
            <a:ext cx="35753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2D 궤적</a:t>
            </a:r>
          </a:p>
          <a:p>
            <a:pPr algn="l">
              <a:spcAft>
                <a:spcPts val="10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위도-고도 (위), 경도-고도 (아래)</a:t>
            </a:r>
          </a:p>
        </p:txBody>
      </p:sp>
      <p:sp>
        <p:nvSpPr>
          <p:cNvPr id="41" name="Oval 40"/>
          <p:cNvSpPr/>
          <p:nvPr/>
        </p:nvSpPr>
        <p:spPr>
          <a:xfrm>
            <a:off x="7589520" y="4453127"/>
            <a:ext cx="256032" cy="256032"/>
          </a:xfrm>
          <a:prstGeom prst="ellipse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3568" y="4434840"/>
            <a:ext cx="35753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추적 필터 파라미터</a:t>
            </a:r>
          </a:p>
          <a:p>
            <a:pPr algn="l">
              <a:spcAft>
                <a:spcPts val="10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R σ · q · τ 입력, 과제 값 · 조정 값 단추, 적용 · 다시 실행</a:t>
            </a:r>
          </a:p>
        </p:txBody>
      </p:sp>
      <p:sp>
        <p:nvSpPr>
          <p:cNvPr id="43" name="Oval 42"/>
          <p:cNvSpPr/>
          <p:nvPr/>
        </p:nvSpPr>
        <p:spPr>
          <a:xfrm>
            <a:off x="7589520" y="5001767"/>
            <a:ext cx="256032" cy="256032"/>
          </a:xfrm>
          <a:prstGeom prst="ellipse">
            <a:avLst/>
          </a:prstGeom>
          <a:solidFill>
            <a:srgbClr val="1B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3568" y="4983479"/>
            <a:ext cx="35753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트랙 표</a:t>
            </a:r>
          </a:p>
          <a:p>
            <a:pPr algn="l">
              <a:spcAft>
                <a:spcPts val="10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지금 스캔의 트랙: 상태 · 위치 · 가속도 · NIS · 발산 판정 · 오차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589520" y="5596128"/>
            <a:ext cx="3959352" cy="658368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699248" y="5623560"/>
            <a:ext cx="37947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80" b="1" i="0">
                <a:solidFill>
                  <a:srgbClr val="1B2740"/>
                </a:solidFill>
                <a:latin typeface="맑은 고딕"/>
                <a:ea typeface="맑은 고딕"/>
              </a:rPr>
              <a:t>그림: </a:t>
            </a:r>
            <a:r>
              <a:rPr sz="980" b="1" i="0">
                <a:solidFill>
                  <a:srgbClr val="2563EB"/>
                </a:solidFill>
                <a:latin typeface="맑은 고딕"/>
                <a:ea typeface="맑은 고딕"/>
              </a:rPr>
              <a:t>━ 참값  </a:t>
            </a:r>
            <a:r>
              <a:rPr sz="980" b="1" i="0">
                <a:solidFill>
                  <a:srgbClr val="1B2740"/>
                </a:solidFill>
                <a:latin typeface="맑은 고딕"/>
                <a:ea typeface="맑은 고딕"/>
              </a:rPr>
              <a:t>● 플롯  </a:t>
            </a:r>
            <a:r>
              <a:rPr sz="980" b="1" i="0">
                <a:solidFill>
                  <a:srgbClr val="059669"/>
                </a:solidFill>
                <a:latin typeface="맑은 고딕"/>
                <a:ea typeface="맑은 고딕"/>
              </a:rPr>
              <a:t>━■ 트랙</a:t>
            </a:r>
          </a:p>
          <a:p>
            <a:r>
              <a:rPr sz="930" b="0" i="0">
                <a:solidFill>
                  <a:srgbClr val="4A5A7A"/>
                </a:solidFill>
                <a:latin typeface="맑은 고딕"/>
                <a:ea typeface="맑은 고딕"/>
              </a:rPr>
              <a:t>트랙 기호: □ 임시 ■ 확정 ⬚ 메모리 ⊠ 삭제, 같은 ID 끼리 선으로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6086856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화면 미리보기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54480" y="607771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TargetSimUI 그리기 코드를 리눅스에서 실행한 미리보기 (대공 · 조정 값 · 스캔 1159)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59536" y="914400"/>
            <a:ext cx="9144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B2740"/>
                </a:solidFill>
                <a:latin typeface="맑은 고딕"/>
                <a:ea typeface="맑은 고딕"/>
              </a:rPr>
              <a:t>03. 결과: 과제 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1444752"/>
            <a:ext cx="105887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B2740"/>
                </a:solidFill>
                <a:latin typeface="맑은 고딕"/>
                <a:ea typeface="맑은 고딕"/>
              </a:rPr>
              <a:t>과제가 정한 값 (R σ 10 m · 0.3° · 0.3°, q 0.5, τ 10) 으로 대함 · 대공 시나리오를 하나씩 실행한 결과입니다.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2057400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3.1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2057400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시나리오와 시뮬레이션 조건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822192" y="2313432"/>
            <a:ext cx="6784848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735056" y="2057400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2464308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3.2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2464308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대함 표적: 트랙이 끝까지 유지됨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83964" y="2720339"/>
            <a:ext cx="6323076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735056" y="2464308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2871215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3.3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2871215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대공 표적: 트랙은 이어지지만 오차가 큼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901184" y="3127248"/>
            <a:ext cx="5705856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0735056" y="2871215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78123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3.4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3278123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대공 표적 추적 성능: 발산 판정 11 번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764024" y="3534155"/>
            <a:ext cx="5843016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735056" y="3278123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" y="3685031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3.5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3685031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발산 원인: 필터가 가정한 기동 · 잡음이 실제보다 작음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153912" y="3941063"/>
            <a:ext cx="4453128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735056" y="3685031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03. 결과: 과제 값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3.1 시나리오와 시뮬레이션 조건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대함 · 대공 표적을 하나씩 따로 실행합니다. 클러터 없이 표적 플롯만 만들고, 탐지 플롯은 모두 트랙에 연관된다고 가정합니다.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pic>
        <p:nvPicPr>
          <p:cNvPr id="26" name="Picture 25" descr="fig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4478433" cy="370332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40080" y="5980176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결과 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971032"/>
            <a:ext cx="3564033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truth.csv 의 참값 궤적과 turn 열 (VC-NED, km)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77840" y="2258568"/>
            <a:ext cx="1051560" cy="457200"/>
          </a:xfrm>
          <a:prstGeom prst="roundRect">
            <a:avLst>
              <a:gd name="adj" fmla="val 15000"/>
            </a:avLst>
          </a:prstGeom>
          <a:solidFill>
            <a:srgbClr val="EB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577840" y="2258568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563EB"/>
                </a:solidFill>
                <a:latin typeface="맑은 고딕"/>
                <a:ea typeface="맑은 고딕"/>
              </a:rPr>
              <a:t>대함 표적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8272" y="2258568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32.125°N 126.03°E, 고도 0 m · 서쪽 30 m/s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±1 G 선회 4 번 (2.4 s 동안 45°)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2770632"/>
            <a:ext cx="1051560" cy="457200"/>
          </a:xfrm>
          <a:prstGeom prst="roundRect">
            <a:avLst>
              <a:gd name="adj" fmla="val 15000"/>
            </a:avLst>
          </a:prstGeom>
          <a:solidFill>
            <a:srgbClr val="EB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77840" y="2770632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563EB"/>
                </a:solidFill>
                <a:latin typeface="맑은 고딕"/>
                <a:ea typeface="맑은 고딕"/>
              </a:rPr>
              <a:t>대공 표적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2770632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32.12°N 126.0°E, 고도 2,000 m · 남쪽 200 m/s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±4 G 선회 6 번 (8 s 동안 90°, 마지막은 150°)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7840" y="3282696"/>
            <a:ext cx="1051560" cy="310896"/>
          </a:xfrm>
          <a:prstGeom prst="roundRect">
            <a:avLst>
              <a:gd name="adj" fmla="val 15000"/>
            </a:avLst>
          </a:prstGeom>
          <a:solidFill>
            <a:srgbClr val="EB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577840" y="3282696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563EB"/>
                </a:solidFill>
                <a:latin typeface="맑은 고딕"/>
                <a:ea typeface="맑은 고딕"/>
              </a:rPr>
              <a:t>레이다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328269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32.0°N 126.0°E 에 정지, 북쪽을 봄 (VC-NED 원점)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77840" y="3648456"/>
            <a:ext cx="1051560" cy="310896"/>
          </a:xfrm>
          <a:prstGeom prst="roundRect">
            <a:avLst>
              <a:gd name="adj" fmla="val 15000"/>
            </a:avLst>
          </a:prstGeom>
          <a:solidFill>
            <a:srgbClr val="EB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577840" y="3648456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563EB"/>
                </a:solidFill>
                <a:latin typeface="맑은 고딕"/>
                <a:ea typeface="맑은 고딕"/>
              </a:rPr>
              <a:t>시간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48272" y="364845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116 s, 스캔 간격 0.1 s → 1,160 스캔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77840" y="4014216"/>
            <a:ext cx="1051560" cy="310896"/>
          </a:xfrm>
          <a:prstGeom prst="roundRect">
            <a:avLst>
              <a:gd name="adj" fmla="val 15000"/>
            </a:avLst>
          </a:prstGeom>
          <a:solidFill>
            <a:srgbClr val="EB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577840" y="4014216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563EB"/>
                </a:solidFill>
                <a:latin typeface="맑은 고딕"/>
                <a:ea typeface="맑은 고딕"/>
              </a:rPr>
              <a:t>플롯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8272" y="401421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SNR 20 표적 플롯만 (클러터 0), 실제 σ 4.74 m · 0.48° · 0.49°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77840" y="4379976"/>
            <a:ext cx="1051560" cy="310896"/>
          </a:xfrm>
          <a:prstGeom prst="roundRect">
            <a:avLst>
              <a:gd name="adj" fmla="val 15000"/>
            </a:avLst>
          </a:prstGeom>
          <a:solidFill>
            <a:srgbClr val="EB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577840" y="4379976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563EB"/>
                </a:solidFill>
                <a:latin typeface="맑은 고딕"/>
                <a:ea typeface="맑은 고딕"/>
              </a:rPr>
              <a:t>연관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48272" y="437997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탐지 플롯을 트랙에 무조건 연관 (가정)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77840" y="4745736"/>
            <a:ext cx="1051560" cy="310896"/>
          </a:xfrm>
          <a:prstGeom prst="roundRect">
            <a:avLst>
              <a:gd name="adj" fmla="val 15000"/>
            </a:avLst>
          </a:prstGeom>
          <a:solidFill>
            <a:srgbClr val="EB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5577840" y="4745736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563EB"/>
                </a:solidFill>
                <a:latin typeface="맑은 고딕"/>
                <a:ea typeface="맑은 고딕"/>
              </a:rPr>
              <a:t>필터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47457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CMKF + Singer (VC-NED), R σ 10 m · 0.3° · 0.3°, q 0.5, τ 10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577840" y="5111496"/>
            <a:ext cx="1051560" cy="310896"/>
          </a:xfrm>
          <a:prstGeom prst="roundRect">
            <a:avLst>
              <a:gd name="adj" fmla="val 15000"/>
            </a:avLst>
          </a:prstGeom>
          <a:solidFill>
            <a:srgbClr val="EB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577840" y="5111496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563EB"/>
                </a:solidFill>
                <a:latin typeface="맑은 고딕"/>
                <a:ea typeface="맑은 고딕"/>
              </a:rPr>
              <a:t>개시 · 관리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48272" y="511149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2-Point (V</a:t>
            </a:r>
            <a:r>
              <a:rPr sz="1000" b="0" i="0" baseline="-25000">
                <a:solidFill>
                  <a:srgbClr val="1B2740"/>
                </a:solidFill>
                <a:latin typeface="맑은 고딕"/>
                <a:ea typeface="맑은 고딕"/>
              </a:rPr>
              <a:t>max</a:t>
            </a: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 800 m/s), 스코어 5 / 0 / 5 (과제 5)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577840" y="5477256"/>
            <a:ext cx="1051560" cy="310896"/>
          </a:xfrm>
          <a:prstGeom prst="roundRect">
            <a:avLst>
              <a:gd name="adj" fmla="val 15000"/>
            </a:avLst>
          </a:prstGeom>
          <a:solidFill>
            <a:srgbClr val="EB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5577840" y="5477256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563EB"/>
                </a:solidFill>
                <a:latin typeface="맑은 고딕"/>
                <a:ea typeface="맑은 고딕"/>
              </a:rPr>
              <a:t>통계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48272" y="547725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갱신 20 번 (2 s) 뒤부터 참값 대비 위치 오차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03. 결과: 과제 값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3.2 대함 표적: 트랙이 끝까지 유지됨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과제 값으로 대함 표적을 끝까지 (115.9 s) 돌린 화면입니다. 트랙 하나 (ID 100) 가 0.2 s 에 개시, 0.5 s 에 확정된 뒤 끝까지 유지되고 발산 판정은 없습니다.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pic>
        <p:nvPicPr>
          <p:cNvPr id="26" name="Picture 25" descr="pv_ship_given_al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10908792" cy="3415682"/>
          </a:xfrm>
          <a:prstGeom prst="rect">
            <a:avLst/>
          </a:prstGeom>
          <a:ln w="9525">
            <a:solidFill>
              <a:srgbClr val="D2D9E5"/>
            </a:solidFill>
          </a:ln>
        </p:spPr>
      </p:pic>
      <p:sp>
        <p:nvSpPr>
          <p:cNvPr id="27" name="Rounded Rectangle 26"/>
          <p:cNvSpPr/>
          <p:nvPr/>
        </p:nvSpPr>
        <p:spPr>
          <a:xfrm>
            <a:off x="640080" y="5692537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화면 미리보기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683393"/>
            <a:ext cx="99943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TargetSimUI 그리기 코드를 리눅스에서 실행한 미리보기 · 대함 · 과제 값 · 스캔 1159: 3D (LLA) + 위도-고도 + 경도-고도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925312"/>
            <a:ext cx="2093976" cy="329184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5925312"/>
            <a:ext cx="20939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위치 오차 RMS   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30.5 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43784" y="5925312"/>
            <a:ext cx="2093976" cy="329184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843784" y="5925312"/>
            <a:ext cx="20939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최대   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96.9 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47488" y="5925312"/>
            <a:ext cx="2093976" cy="329184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047488" y="5925312"/>
            <a:ext cx="20939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NIS 평균   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5.68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51192" y="5925312"/>
            <a:ext cx="2093976" cy="329184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251192" y="5925312"/>
            <a:ext cx="20939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게이트 밖   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12.4 %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54896" y="5925312"/>
            <a:ext cx="2093976" cy="329184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454896" y="5925312"/>
            <a:ext cx="20939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발산 판정   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0 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03. 결과: 과제 값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3.3 대공 표적: 트랙은 이어지지만 오차가 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과제 값으로 대공 표적을 돌린 화면입니다. 연관 가정 덕분에 트랙 하나가 끝까지 이어지지만, 4 G 선회마다 참값과 수평으로 140 ~ 310 m 벌어집니다.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pic>
        <p:nvPicPr>
          <p:cNvPr id="26" name="Picture 25" descr="pv_air_given_al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10908792" cy="3415682"/>
          </a:xfrm>
          <a:prstGeom prst="rect">
            <a:avLst/>
          </a:prstGeom>
          <a:ln w="9525">
            <a:solidFill>
              <a:srgbClr val="D2D9E5"/>
            </a:solidFill>
          </a:ln>
        </p:spPr>
      </p:pic>
      <p:sp>
        <p:nvSpPr>
          <p:cNvPr id="27" name="Rounded Rectangle 26"/>
          <p:cNvSpPr/>
          <p:nvPr/>
        </p:nvSpPr>
        <p:spPr>
          <a:xfrm>
            <a:off x="640080" y="5692537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화면 미리보기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683393"/>
            <a:ext cx="99943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TargetSimUI 그리기 코드를 리눅스에서 실행한 미리보기 · 대공 · 과제 값 · 스캔 1159: 3D (LLA) + 위도-고도 + 경도-고도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925312"/>
            <a:ext cx="2093976" cy="329184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5925312"/>
            <a:ext cx="20939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위치 오차 RMS   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137.3 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43784" y="5925312"/>
            <a:ext cx="2093976" cy="329184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843784" y="5925312"/>
            <a:ext cx="20939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최대   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313.6 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47488" y="5925312"/>
            <a:ext cx="2093976" cy="329184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047488" y="5925312"/>
            <a:ext cx="20939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NIS 평균   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44.87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51192" y="5925312"/>
            <a:ext cx="2093976" cy="329184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251192" y="5925312"/>
            <a:ext cx="20939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게이트 밖   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74.1 %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54896" y="5925312"/>
            <a:ext cx="2093976" cy="329184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454896" y="5925312"/>
            <a:ext cx="20939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발산 판정   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11 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03. 결과: 과제 값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3.4 대공 표적 추적 성능: 발산 판정 11 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추적 성능 보기 (위: 참값 대비 위치 오차, 아래: NIS 로그 눈금). 선회 (회색 띠) 마다 오차와 NIS 가 커지고, 게이트 밖이 5 번 이상 이어진 구간 (빨간 띠) 이 생깁니다.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pic>
        <p:nvPicPr>
          <p:cNvPr id="26" name="Picture 25" descr="pv_air_given_perf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10908792" cy="3415682"/>
          </a:xfrm>
          <a:prstGeom prst="rect">
            <a:avLst/>
          </a:prstGeom>
          <a:ln w="9525">
            <a:solidFill>
              <a:srgbClr val="D2D9E5"/>
            </a:solidFill>
          </a:ln>
        </p:spPr>
      </p:pic>
      <p:sp>
        <p:nvSpPr>
          <p:cNvPr id="27" name="Rounded Rectangle 26"/>
          <p:cNvSpPr/>
          <p:nvPr/>
        </p:nvSpPr>
        <p:spPr>
          <a:xfrm>
            <a:off x="640080" y="5692537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화면 미리보기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683393"/>
            <a:ext cx="99943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TargetSimUI 그리기 코드를 리눅스에서 실행한 미리보기 · 대공 · 과제 값 · 추적 성능 보기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907024"/>
            <a:ext cx="3557016" cy="365760"/>
          </a:xfrm>
          <a:prstGeom prst="roundRect">
            <a:avLst>
              <a:gd name="adj" fmla="val 20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9808" y="590702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740"/>
                </a:solidFill>
                <a:latin typeface="맑은 고딕"/>
                <a:ea typeface="맑은 고딕"/>
              </a:rPr>
              <a:t>선회마다 오차 140 ~ 310 m   </a:t>
            </a:r>
            <a:r>
              <a:rPr sz="900" b="0" i="0">
                <a:solidFill>
                  <a:srgbClr val="4A5A7A"/>
                </a:solidFill>
                <a:latin typeface="맑은 고딕"/>
                <a:ea typeface="맑은 고딕"/>
              </a:rPr>
              <a:t>최대 314 m (세 번째 선회)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15968" y="5907024"/>
            <a:ext cx="3557016" cy="365760"/>
          </a:xfrm>
          <a:prstGeom prst="roundRect">
            <a:avLst>
              <a:gd name="adj" fmla="val 20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425696" y="590702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740"/>
                </a:solidFill>
                <a:latin typeface="맑은 고딕"/>
                <a:ea typeface="맑은 고딕"/>
              </a:rPr>
              <a:t>NIS 수십 ~ 170   </a:t>
            </a:r>
            <a:r>
              <a:rPr sz="900" b="0" i="0">
                <a:solidFill>
                  <a:srgbClr val="4A5A7A"/>
                </a:solidFill>
                <a:latin typeface="맑은 고딕"/>
                <a:ea typeface="맑은 고딕"/>
              </a:rPr>
              <a:t>게이트 밖 74.1 %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91855" y="5907024"/>
            <a:ext cx="3557016" cy="365760"/>
          </a:xfrm>
          <a:prstGeom prst="roundRect">
            <a:avLst>
              <a:gd name="adj" fmla="val 20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101583" y="590702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B2740"/>
                </a:solidFill>
                <a:latin typeface="맑은 고딕"/>
                <a:ea typeface="맑은 고딕"/>
              </a:rPr>
              <a:t>선회 뒤에도 몇 초 이어짐   </a:t>
            </a:r>
            <a:r>
              <a:rPr sz="900" b="0" i="0">
                <a:solidFill>
                  <a:srgbClr val="4A5A7A"/>
                </a:solidFill>
                <a:latin typeface="맑은 고딕"/>
                <a:ea typeface="맑은 고딕"/>
              </a:rPr>
              <a:t>가속도 추정이 늦게 빠짐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03. 결과: 과제 값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3.5 발산 원인: 필터가 가정한 기동 · 잡음이 실제보다 작음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과제 값의 q 0.5 m/s² 는 대공 표적의 4 G (39 m/s²) 선회를 거의 없는 일로 봅니다. R 의 0.3° 도 실제 플롯 잡음 (0.48°) 보다 작습니다.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pic>
        <p:nvPicPr>
          <p:cNvPr id="26" name="Picture 25" descr="fig_lag_giv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3981907" cy="324612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40080" y="5522976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결과 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513832"/>
            <a:ext cx="306750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air_given 의 truth · plots · tracks.csv (3 ~ 17.5 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815584"/>
            <a:ext cx="3981907" cy="438912"/>
          </a:xfrm>
          <a:prstGeom prst="roundRect">
            <a:avLst>
              <a:gd name="adj" fmla="val 15000"/>
            </a:avLst>
          </a:prstGeom>
          <a:solidFill>
            <a:srgbClr val="EB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9808" y="5815584"/>
            <a:ext cx="379902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B2740"/>
                </a:solidFill>
                <a:latin typeface="맑은 고딕"/>
                <a:ea typeface="맑은 고딕"/>
              </a:rPr>
              <a:t>q 가 작으면 P · K 가 작아 직진하는 예측을 믿음 → 선회를 늦게 따라감</a:t>
            </a:r>
          </a:p>
        </p:txBody>
      </p:sp>
      <p:pic>
        <p:nvPicPr>
          <p:cNvPr id="31" name="Picture 30" descr="fig_accel_giv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587" y="2240280"/>
            <a:ext cx="6698284" cy="2817532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850587" y="5094388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결과 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4987" y="5085244"/>
            <a:ext cx="578388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참값: truth.csv 위치의 2 차 차분, 트랙: tracks.csv 의 an · ae · ad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850587" y="5423572"/>
          <a:ext cx="6698284" cy="8778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25880"/>
                <a:gridCol w="2011680"/>
                <a:gridCol w="3360724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과제 값 (필터가 가정)</a:t>
                      </a:r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실제</a:t>
                      </a:r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기동 가속도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q 0.5 m/s²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대공 4 G = 39 m/s², 대함 1 G = 9.8 m/s²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플롯 각도 잡음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R σ 0.3°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SNR 20: 0.48° (방위), 0.49° (고각)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59536" y="914400"/>
            <a:ext cx="91440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B2740"/>
                </a:solidFill>
                <a:latin typeface="맑은 고딕"/>
                <a:ea typeface="맑은 고딕"/>
              </a:rPr>
              <a:t>04. 파라미터 조정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1444752"/>
            <a:ext cx="105887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B2740"/>
                </a:solidFill>
                <a:latin typeface="맑은 고딕"/>
                <a:ea typeface="맑은 고딕"/>
              </a:rPr>
              <a:t>트랙이 끊기지 않고 발산하지 않도록 측정잡음 (R σ) 과 공정잡음 (q, τ) 파라미터를 30 회 몬테카를로 실험으로 골랐습니다.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2057400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4.1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2057400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조정 방법: 30 회 몬테카를로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954780" y="2313432"/>
            <a:ext cx="6652260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735056" y="2057400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2464308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4.2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2464308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측정잡음 R: σ 0.3° → 0.5°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872484" y="2720339"/>
            <a:ext cx="6734556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735056" y="2464308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2871215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4.3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2871215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공정잡음 q · τ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816352" y="3127248"/>
            <a:ext cx="7790688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0735056" y="2871215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78123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4.4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3278123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대함 조정 결과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779776" y="3534155"/>
            <a:ext cx="7827264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735056" y="3278123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" y="3685031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4.5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3685031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대공 조정 결과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779776" y="3941063"/>
            <a:ext cx="7827264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735056" y="3685031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" y="4091939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4.6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20" y="4091939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과제 값과 조정 값 비교 (대공)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128516" y="4347972"/>
            <a:ext cx="6478524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0735056" y="4091939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" y="4498848"/>
            <a:ext cx="5120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2740"/>
                </a:solidFill>
                <a:latin typeface="맑은 고딕"/>
                <a:ea typeface="맑은 고딕"/>
              </a:rPr>
              <a:t>4.7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17320" y="4498848"/>
            <a:ext cx="6035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B2740"/>
                </a:solidFill>
                <a:latin typeface="맑은 고딕"/>
                <a:ea typeface="맑은 고딕"/>
              </a:rPr>
              <a:t>정리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892808" y="4754880"/>
            <a:ext cx="8714232" cy="0"/>
          </a:xfrm>
          <a:prstGeom prst="line">
            <a:avLst/>
          </a:prstGeom>
          <a:ln w="9525">
            <a:solidFill>
              <a:srgbClr val="D2D9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735056" y="4498848"/>
            <a:ext cx="713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4A5A7A"/>
                </a:solidFill>
                <a:latin typeface="맑은 고딕"/>
                <a:ea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04. 파라미터 조정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4.1 조정 방법: 30 회 몬테카를로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한 번의 실행은 잡음 하나에 대한 결과라 우연이 섞입니다. 플롯 잡음 seed 를 30 개로 바꿔 돌린 평균과 발산이 난 회차 수로 값을 골랐습니다.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40080" y="2286000"/>
            <a:ext cx="2560320" cy="148132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23591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2740"/>
                </a:solidFill>
                <a:latin typeface="맑은 고딕"/>
                <a:ea typeface="맑은 고딕"/>
              </a:rPr>
              <a:t>① 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679192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q 0.1 ~ 80 (10 단계)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× R σ 0.3° · 0.5°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+ τ 1 ~ 60 s (6 단계)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27832" y="3026664"/>
            <a:ext cx="164592" cy="0"/>
          </a:xfrm>
          <a:prstGeom prst="line">
            <a:avLst/>
          </a:prstGeom>
          <a:ln w="13970">
            <a:solidFill>
              <a:srgbClr val="4A5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419856" y="2286000"/>
            <a:ext cx="2560320" cy="148132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557016" y="23591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2740"/>
                </a:solidFill>
                <a:latin typeface="맑은 고딕"/>
                <a:ea typeface="맑은 고딕"/>
              </a:rPr>
              <a:t>② 30 회 반복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7016" y="2679192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플롯 잡음 seed 30 개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(seed 0 = 프로그램 기본)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26 설정 × 2 시나리오 → 1,560 번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07608" y="3026664"/>
            <a:ext cx="164592" cy="0"/>
          </a:xfrm>
          <a:prstGeom prst="line">
            <a:avLst/>
          </a:prstGeom>
          <a:ln w="13970">
            <a:solidFill>
              <a:srgbClr val="4A5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199632" y="2286000"/>
            <a:ext cx="2560320" cy="148132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336792" y="23591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2740"/>
                </a:solidFill>
                <a:latin typeface="맑은 고딕"/>
                <a:ea typeface="맑은 고딕"/>
              </a:rPr>
              <a:t>③ 지표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2679192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위치 오차 RMS (갱신 20 번 뒤)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NIS 평균, 게이트 밖 %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발산 판정 횟수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787384" y="3026664"/>
            <a:ext cx="164592" cy="0"/>
          </a:xfrm>
          <a:prstGeom prst="line">
            <a:avLst/>
          </a:prstGeom>
          <a:ln w="13970">
            <a:solidFill>
              <a:srgbClr val="4A5A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979408" y="2286000"/>
            <a:ext cx="2560320" cy="1481328"/>
          </a:xfrm>
          <a:prstGeom prst="roundRect">
            <a:avLst>
              <a:gd name="adj" fmla="val 8000"/>
            </a:avLst>
          </a:prstGeom>
          <a:solidFill>
            <a:srgbClr val="EBF2FE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116568" y="235915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563EB"/>
                </a:solidFill>
                <a:latin typeface="맑은 고딕"/>
                <a:ea typeface="맑은 고딕"/>
              </a:rPr>
              <a:t>④ 고르는 규칙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6568" y="2679192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30 회 모두 발산 판정 0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그 가운데 RMS 가 가장 작은 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3858768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 i="0">
                <a:solidFill>
                  <a:srgbClr val="4A5A7A"/>
                </a:solidFill>
                <a:latin typeface="맑은 고딕"/>
                <a:ea typeface="맑은 고딕"/>
              </a:rPr>
              <a:t>실행은 실제 코드 그대로: PlotLink.c UDP 송수신 쓰레드 + TrackMgr.c (검증 프로그램 tools/verify/harness_main.c, 결과 data/sweep.csv)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224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2740"/>
                </a:solidFill>
                <a:latin typeface="맑은 고딕"/>
                <a:ea typeface="맑은 고딕"/>
              </a:rPr>
              <a:t>고른 값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640080" y="4526280"/>
          <a:ext cx="10908792" cy="13167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2194560"/>
                <a:gridCol w="1051560"/>
                <a:gridCol w="868680"/>
                <a:gridCol w="2377440"/>
                <a:gridCol w="2953512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 σ (거리 · 방위 · 고각)</a:t>
                      </a:r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 [m/s²]</a:t>
                      </a:r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τ [s]</a:t>
                      </a:r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30 회 중 발산 판정이 난 회차</a:t>
                      </a:r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위치 오차 RMS (30 회 평균)</a:t>
                      </a:r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과제 값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10 m · 0.3° · 0.3°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대함 2 · 대공 30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대함 30.9 m · 대공 135.8 m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조정 값 대함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10 m · 0.5° · 0.5°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30.0 m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조정 값 대공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10 m · 0.5° · 0.5°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20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36.8 m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640080" y="592531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A7A"/>
                </a:solidFill>
                <a:latin typeface="맑은 고딕"/>
                <a:ea typeface="맑은 고딕"/>
              </a:rPr>
              <a:t>화면의 [조정 값] 단추가 시나리오에 맞는 값을 넣음 (Scenario.cpp s_Tuned)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04. 파라미터 조정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4.2 측정잡음 R: σ 0.3° → 0.5°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실제 플롯의 각도 잡음은 0.48° 인데 R 은 0.3° 로 가정해 플롯을 너무 믿습니다. 그래서 q 를 아무리 바꿔도 NIS 가 3 으로 내려오지 않습니다.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pic>
        <p:nvPicPr>
          <p:cNvPr id="26" name="Picture 25" descr="fig_plot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6629400" cy="259800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40080" y="4874864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결과 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865720"/>
            <a:ext cx="5715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plots.csv − truth.csv (두 시나리오 플롯 2,320 개)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258912"/>
            <a:ext cx="6629400" cy="995583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5332064"/>
            <a:ext cx="6355080" cy="876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B2740"/>
                </a:solidFill>
                <a:latin typeface="맑은 고딕"/>
                <a:ea typeface="맑은 고딕"/>
              </a:rPr>
              <a:t>왜 0.5° 인가</a:t>
            </a:r>
          </a:p>
          <a:p>
            <a:pPr algn="l">
              <a:spcAft>
                <a:spcPts val="200"/>
              </a:spcAft>
            </a:pPr>
            <a:r>
              <a:rPr sz="1030" b="0" i="0">
                <a:solidFill>
                  <a:srgbClr val="1B2740"/>
                </a:solidFill>
                <a:latin typeface="맑은 고딕"/>
                <a:ea typeface="맑은 고딕"/>
              </a:rPr>
              <a:t>· 실제 각도 잡음 (방위 0.47°, 고각 0.49°) 보다 조금 크게, 보수적으로 잡은 값</a:t>
            </a:r>
          </a:p>
          <a:p>
            <a:pPr algn="l">
              <a:spcAft>
                <a:spcPts val="200"/>
              </a:spcAft>
            </a:pPr>
            <a:r>
              <a:rPr sz="1030" b="0" i="0">
                <a:solidFill>
                  <a:srgbClr val="1B2740"/>
                </a:solidFill>
                <a:latin typeface="맑은 고딕"/>
                <a:ea typeface="맑은 고딕"/>
              </a:rPr>
              <a:t>· 거리는 실제 4.7 m 보다 과제 값 10 m 가 넓어 그대로 둠</a:t>
            </a:r>
          </a:p>
          <a:p>
            <a:pPr algn="l">
              <a:spcAft>
                <a:spcPts val="0"/>
              </a:spcAft>
            </a:pPr>
            <a:r>
              <a:rPr sz="1030" b="0" i="0">
                <a:solidFill>
                  <a:srgbClr val="1B2740"/>
                </a:solidFill>
                <a:latin typeface="맑은 고딕"/>
                <a:ea typeface="맑은 고딕"/>
              </a:rPr>
              <a:t>· 과제 5 와 같은 이유: 받는 쪽은 실제 잡음을 모름. 결과 (NIS) 를 보고 R 을 맞춤</a:t>
            </a:r>
          </a:p>
        </p:txBody>
      </p:sp>
      <p:pic>
        <p:nvPicPr>
          <p:cNvPr id="31" name="Picture 30" descr="fig_sweep_n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2240280"/>
            <a:ext cx="4050792" cy="1844557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498079" y="4121413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결과 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112269"/>
            <a:ext cx="31363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sweep.csv (설정마다 30 회 평균)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487173"/>
            <a:ext cx="405079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B2740"/>
                </a:solidFill>
                <a:latin typeface="맑은 고딕"/>
                <a:ea typeface="맑은 고딕"/>
              </a:rPr>
              <a:t>σ 0.3°: q 를 80 까지 키워도 NIS 5.2 이상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4A5A7A"/>
                </a:solidFill>
                <a:latin typeface="맑은 고딕"/>
                <a:ea typeface="맑은 고딕"/>
              </a:rPr>
              <a:t>게이트 밖 11 % 남음 → q 로는 안 풀림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B2740"/>
                </a:solidFill>
                <a:latin typeface="맑은 고딕"/>
                <a:ea typeface="맑은 고딕"/>
              </a:rPr>
              <a:t>σ 0.5°: NIS 2.0 ~ 2.5 (q 가 충분할 때)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4A5A7A"/>
                </a:solidFill>
                <a:latin typeface="맑은 고딕"/>
                <a:ea typeface="맑은 고딕"/>
              </a:rPr>
              <a:t>게이트 밖 0.2 ~ 0.4 %, 3 보다 조금 작음 = 보수적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04. 파라미터 조정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4.3 공정잡음 q · 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q 가 작으면 선회를 못 따라가 발산하고, 크면 플롯 잡음을 따라가 오차가 커집니다. 대함은 q 0.5, 대공은 q 20 에서 발산 없이 오차가 가장 작습니다.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pic>
        <p:nvPicPr>
          <p:cNvPr id="26" name="Picture 25" descr="fig_sweep_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12848"/>
            <a:ext cx="6675120" cy="3833684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40080" y="6073963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결과 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6064819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sweep.csv (설정마다 seed 30 개)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240280"/>
            <a:ext cx="3959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B2740"/>
                </a:solidFill>
                <a:latin typeface="맑은 고딕"/>
                <a:ea typeface="맑은 고딕"/>
              </a:rPr>
              <a:t>τ 의 영향 (조정한 R σ, q 에서)</a:t>
            </a:r>
          </a:p>
        </p:txBody>
      </p:sp>
      <p:pic>
        <p:nvPicPr>
          <p:cNvPr id="30" name="Picture 29" descr="fig_sweep_ta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542032"/>
            <a:ext cx="3959352" cy="1979676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7589520" y="4549140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결과 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539996"/>
            <a:ext cx="304495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sweep.csv τ 실험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896612"/>
            <a:ext cx="3959352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1" i="0">
                <a:solidFill>
                  <a:srgbClr val="1B2740"/>
                </a:solidFill>
                <a:latin typeface="맑은 고딕"/>
                <a:ea typeface="맑은 고딕"/>
              </a:rPr>
              <a:t>τ 1 ~ 60 s 에서 RMS 차이 대함 3.4 m, 대공 1.3 m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4A5A7A"/>
                </a:solidFill>
                <a:latin typeface="맑은 고딕"/>
                <a:ea typeface="맑은 고딕"/>
              </a:rPr>
              <a:t>→ τ 는 과제 값 10 s 그대로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B2740"/>
                </a:solidFill>
                <a:latin typeface="맑은 고딕"/>
                <a:ea typeface="맑은 고딕"/>
              </a:rPr>
              <a:t>q 를 고른 기준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· 대함: 선회가 짧아 (2.4 s) 작은 q 가 유리 → 0.5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· 대공: 4 G (39 m/s²) 가 약 2σ 안에 들도록 → 20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B2740"/>
                </a:solidFill>
                <a:latin typeface="맑은 고딕"/>
                <a:ea typeface="맑은 고딕"/>
              </a:rPr>
              <a:t>· 과제 값 q 0.5 는 대공에서 30 회 모두 발산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04. 파라미터 조정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4.4 대함 조정 결과: R σ 0.5°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R 의 각도 σ 만 0.5° 로 바꿔 NIS 가 실제 잡음과 맞아졌습니다 (평균 5.68 → 2.44). 궤적과 위치 오차는 과제 값과 거의 같습니다.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pic>
        <p:nvPicPr>
          <p:cNvPr id="26" name="Picture 25" descr="pv_ship_tuned_al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10908792" cy="3415682"/>
          </a:xfrm>
          <a:prstGeom prst="rect">
            <a:avLst/>
          </a:prstGeom>
          <a:ln w="9525">
            <a:solidFill>
              <a:srgbClr val="D2D9E5"/>
            </a:solidFill>
          </a:ln>
        </p:spPr>
      </p:pic>
      <p:sp>
        <p:nvSpPr>
          <p:cNvPr id="27" name="Rounded Rectangle 26"/>
          <p:cNvSpPr/>
          <p:nvPr/>
        </p:nvSpPr>
        <p:spPr>
          <a:xfrm>
            <a:off x="640080" y="5692537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화면 미리보기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683393"/>
            <a:ext cx="99943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TargetSimUI 그리기 코드를 리눅스에서 실행한 미리보기 · 대함 · 조정 값 (R σ 10 m · 0.5° · 0.5°, q 0.5, τ 10) · 스캔 1159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925312"/>
            <a:ext cx="1741932" cy="329184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5925312"/>
            <a:ext cx="17419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RMS   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30.5 → 29.4 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73452" y="5925312"/>
            <a:ext cx="1741932" cy="329184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473452" y="5925312"/>
            <a:ext cx="17419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최대   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97 → 99 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06824" y="5925312"/>
            <a:ext cx="1741932" cy="329184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306824" y="5925312"/>
            <a:ext cx="17419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NIS 평균   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5.68 → 2.44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0196" y="5925312"/>
            <a:ext cx="1741932" cy="329184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140196" y="5925312"/>
            <a:ext cx="17419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게이트 밖   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12.4 → 0.4 %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73567" y="5925312"/>
            <a:ext cx="1741932" cy="329184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973567" y="5925312"/>
            <a:ext cx="17419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발산 판정   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0 → 0 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06939" y="5925312"/>
            <a:ext cx="1741932" cy="329184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806939" y="5925312"/>
            <a:ext cx="17419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30 회 중 발산   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2 → 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04. 파라미터 조정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4.5 대공 조정 결과: R σ 0.5°, q 20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선회에서도 트랙이 참값을 따라가며 발산 판정이 사라졌습니다 (11 번 → 0 번). 위치 오차 RMS 는 137 m → 37 m 로 줄었습니다.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pic>
        <p:nvPicPr>
          <p:cNvPr id="26" name="Picture 25" descr="pv_air_tuned_al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10908792" cy="3415682"/>
          </a:xfrm>
          <a:prstGeom prst="rect">
            <a:avLst/>
          </a:prstGeom>
          <a:ln w="9525">
            <a:solidFill>
              <a:srgbClr val="D2D9E5"/>
            </a:solidFill>
          </a:ln>
        </p:spPr>
      </p:pic>
      <p:sp>
        <p:nvSpPr>
          <p:cNvPr id="27" name="Rounded Rectangle 26"/>
          <p:cNvSpPr/>
          <p:nvPr/>
        </p:nvSpPr>
        <p:spPr>
          <a:xfrm>
            <a:off x="640080" y="5692537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화면 미리보기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683393"/>
            <a:ext cx="99943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TargetSimUI 그리기 코드를 리눅스에서 실행한 미리보기 · 대공 · 조정 값 (R σ 10 m · 0.5° · 0.5°, q 20, τ 10) · 스캔 1159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925312"/>
            <a:ext cx="1741932" cy="329184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5925312"/>
            <a:ext cx="17419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RMS   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137.3 → 36.7 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73452" y="5925312"/>
            <a:ext cx="1741932" cy="329184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473452" y="5925312"/>
            <a:ext cx="17419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최대   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314 → 115 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06824" y="5925312"/>
            <a:ext cx="1741932" cy="329184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306824" y="5925312"/>
            <a:ext cx="17419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NIS 평균   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44.87 → 2.11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0196" y="5925312"/>
            <a:ext cx="1741932" cy="329184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140196" y="5925312"/>
            <a:ext cx="17419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게이트 밖   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74.1 → 0.0 %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73567" y="5925312"/>
            <a:ext cx="1741932" cy="329184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973567" y="5925312"/>
            <a:ext cx="17419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발산 판정   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11 → 0 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06939" y="5925312"/>
            <a:ext cx="1741932" cy="329184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806939" y="5925312"/>
            <a:ext cx="17419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30 회 중 발산   </a:t>
            </a:r>
            <a:r>
              <a:rPr sz="1100" b="1" i="0">
                <a:solidFill>
                  <a:srgbClr val="1B2740"/>
                </a:solidFill>
                <a:latin typeface="맑은 고딕"/>
                <a:ea typeface="맑은 고딕"/>
              </a:rPr>
              <a:t>30 → 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04. 파라미터 조정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4.6 과제 값과 조정 값 비교 (대공)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과제 값 (주황) 은 선회마다 오차가 커지고 NIS 가 게이트를 넘지만, 조정 값 (파랑) 은 선회 중에도 참값을 따라가고 NIS 가 게이트 아래에 머뭅니다.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pic>
        <p:nvPicPr>
          <p:cNvPr id="26" name="Picture 25" descr="fig_compare_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6675120" cy="333756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40080" y="5614416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결과 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605272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air_given · air_tuned 의 tracks.csv (err, nis)</a:t>
            </a:r>
          </a:p>
        </p:txBody>
      </p:sp>
      <p:pic>
        <p:nvPicPr>
          <p:cNvPr id="29" name="Picture 28" descr="fig_lag_bo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798" y="2240280"/>
            <a:ext cx="4094073" cy="333756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7454798" y="5614416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결과 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9198" y="5605272"/>
            <a:ext cx="3179673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첫 선회 평면 (truth · plots · tracks.csv)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961888"/>
            <a:ext cx="10908792" cy="292608"/>
          </a:xfrm>
          <a:prstGeom prst="roundRect">
            <a:avLst>
              <a:gd name="adj" fmla="val 12000"/>
            </a:avLst>
          </a:prstGeom>
          <a:solidFill>
            <a:srgbClr val="EB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2960" y="5961888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 i="0">
                <a:solidFill>
                  <a:srgbClr val="1B2740"/>
                </a:solidFill>
                <a:latin typeface="맑은 고딕"/>
                <a:ea typeface="맑은 고딕"/>
              </a:rPr>
              <a:t>q ↑ → 예측 P ↑ → 칼만 게인 K ↑ : 선회하는 플롯을 바로 따라감.  대신 직진에서는 플롯 잡음을 조금 더 따라가므로 RMS 가 가장 작은 q 20 을 고름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04. 파라미터 조정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sz="2100" b="1" i="0">
                <a:solidFill>
                  <a:srgbClr val="1B2740"/>
                </a:solidFill>
                <a:latin typeface="맑은 고딕"/>
                <a:ea typeface="맑은 고딕"/>
              </a:rPr>
              <a:t>4.7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sz="1250" b="0" i="0">
                <a:solidFill>
                  <a:srgbClr val="4A5A7A"/>
                </a:solidFill>
                <a:latin typeface="맑은 고딕"/>
                <a:ea typeface="맑은 고딕"/>
              </a:rPr>
              <a:t>과제 값으로는 대공 표적이 선회마다 발산 판정을 받았고, R σ 와 q 를 조정해 두 시나리오 모두 발산 판정 없이 트랙을 유지했습니다.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50408" y="638251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4A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40080" y="2286000"/>
          <a:ext cx="10908792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91640"/>
                <a:gridCol w="1463040"/>
                <a:gridCol w="640080"/>
                <a:gridCol w="1325880"/>
                <a:gridCol w="1188720"/>
                <a:gridCol w="1005840"/>
                <a:gridCol w="1051560"/>
                <a:gridCol w="1051560"/>
                <a:gridCol w="1490472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실행</a:t>
                      </a:r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 σ (방위 · 고각)</a:t>
                      </a:r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q</a:t>
                      </a:r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위치 오차 RMS</a:t>
                      </a:r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최대 오차</a:t>
                      </a:r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NIS 평균</a:t>
                      </a:r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게이트 밖</a:t>
                      </a:r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발산 판정</a:t>
                      </a:r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30 회 중 발산</a:t>
                      </a:r>
                    </a:p>
                  </a:txBody>
                  <a:tcPr marL="54864" marR="54864" marT="0" marB="0" anchor="ctr">
                    <a:solidFill>
                      <a:srgbClr val="1B274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대함 · 과제 값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0.3° · 0.3°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30.5 m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96.9 m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5.68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12.4 %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0 번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2 회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대함 · 조정 값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0.5° · 0.5°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29.4 m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99.0 m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2.44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0.4 %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0 번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0 회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대공 · 과제 값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0.3° · 0.3°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137.3 m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313.6 m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44.87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74.1 %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11 번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30 회</a:t>
                      </a:r>
                    </a:p>
                  </a:txBody>
                  <a:tcPr marL="54864" marR="54864" marT="0" marB="0" anchor="ctr">
                    <a:solidFill>
                      <a:srgbClr val="FEF5E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대공 · 조정 값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0.5° · 0.5°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20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36.7 m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115.4 m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2.11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0.0 %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0 번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B2740"/>
                          </a:solidFill>
                          <a:latin typeface="맑은 고딕"/>
                          <a:ea typeface="맑은 고딕"/>
                        </a:rPr>
                        <a:t>0 회</a:t>
                      </a:r>
                    </a:p>
                  </a:txBody>
                  <a:tcPr marL="54864" marR="54864" marT="0" marB="0" anchor="ctr">
                    <a:solidFill>
                      <a:srgbClr val="EBF2FE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640080" y="3986784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결과 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977640"/>
            <a:ext cx="99943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A5A7A"/>
                </a:solidFill>
                <a:latin typeface="맑은 고딕"/>
                <a:ea typeface="맑은 고딕"/>
              </a:rPr>
              <a:t>runs.csv (프로그램 기본 잡음 한 번), sweep.csv (30 회)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343400"/>
            <a:ext cx="5349240" cy="1911095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4407408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740"/>
                </a:solidFill>
                <a:latin typeface="맑은 고딕"/>
                <a:ea typeface="맑은 고딕"/>
              </a:rPr>
              <a:t>결론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B2740"/>
                </a:solidFill>
                <a:latin typeface="맑은 고딕"/>
                <a:ea typeface="맑은 고딕"/>
              </a:rPr>
              <a:t>· 과제 값 q 0.5 는 4 G 선회를 못 따라감 → 대공 발산 판정 11 번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B2740"/>
                </a:solidFill>
                <a:latin typeface="맑은 고딕"/>
                <a:ea typeface="맑은 고딕"/>
              </a:rPr>
              <a:t>· R σ 를 실제 플롯 잡음 수준 (0.5°) 으로 → NIS 가 정상 범위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B2740"/>
                </a:solidFill>
                <a:latin typeface="맑은 고딕"/>
                <a:ea typeface="맑은 고딕"/>
              </a:rPr>
              <a:t>· q 를 표적 기동에 맞게 (대공 20) → 발산 0, RMS 137 → 37 m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2740"/>
                </a:solidFill>
                <a:latin typeface="맑은 고딕"/>
                <a:ea typeface="맑은 고딕"/>
              </a:rPr>
              <a:t>· 30 회 반복에서도 두 시나리오 모두 발산 판정 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2" y="4343400"/>
            <a:ext cx="5349240" cy="191109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2D9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382512" y="4407408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740"/>
                </a:solidFill>
                <a:latin typeface="맑은 고딕"/>
                <a:ea typeface="맑은 고딕"/>
              </a:rPr>
              <a:t>한계와 다음 단계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B2740"/>
                </a:solidFill>
                <a:latin typeface="맑은 고딕"/>
                <a:ea typeface="맑은 고딕"/>
              </a:rPr>
              <a:t>· 가장 좋은 q 가 대함 0.5 · 대공 20 으로 다름 → 표적을 모르면 IMM 같은 다중 모델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1B2740"/>
                </a:solidFill>
                <a:latin typeface="맑은 고딕"/>
                <a:ea typeface="맑은 고딕"/>
              </a:rPr>
              <a:t>· 무조건 연관 가정 → 클러터가 있으면 게이트 · 연관 기법 필요 (NIS 가 그 기준)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B2740"/>
                </a:solidFill>
                <a:latin typeface="맑은 고딕"/>
                <a:ea typeface="맑은 고딕"/>
              </a:rPr>
              <a:t>· 대함 조정 값: 직진 NEES 3.5 (맞으면 3), 선회 중 · 직후 10 ~ 19 → P 가 실제 오차보다 작은 구간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0" y="2788920"/>
            <a:ext cx="6766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맑은 고딕"/>
                <a:ea typeface="맑은 고딕"/>
              </a:rPr>
              <a:t>감사합니다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863840" y="3675887"/>
            <a:ext cx="3108960" cy="0"/>
          </a:xfrm>
          <a:prstGeom prst="line">
            <a:avLst/>
          </a:prstGeom>
          <a:ln w="9525">
            <a:solidFill>
              <a:srgbClr val="8794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06240" y="3803904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AEB9CC"/>
                </a:solidFill>
                <a:latin typeface="맑은 고딕"/>
                <a:ea typeface="맑은 고딕"/>
              </a:rPr>
              <a:t>질문 주시면 편하게 답변드리겠습니다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dar SW Study">
  <a:themeElements>
    <a:clrScheme name="Radar SW Study">
      <a:dk1>
        <a:srgbClr val="1B2740"/>
      </a:dk1>
      <a:lt1>
        <a:srgbClr val="FFFFFF"/>
      </a:lt1>
      <a:dk2>
        <a:srgbClr val="4A5A7A"/>
      </a:dk2>
      <a:lt2>
        <a:srgbClr val="F7F9FC"/>
      </a:lt2>
      <a:accent1>
        <a:srgbClr val="2563EB"/>
      </a:accent1>
      <a:accent2>
        <a:srgbClr val="D97706"/>
      </a:accent2>
      <a:accent3>
        <a:srgbClr val="059669"/>
      </a:accent3>
      <a:accent4>
        <a:srgbClr val="DC2626"/>
      </a:accent4>
      <a:accent5>
        <a:srgbClr val="7C3AED"/>
      </a:accent5>
      <a:accent6>
        <a:srgbClr val="8794AC"/>
      </a:accent6>
      <a:hlink>
        <a:srgbClr val="2563EB"/>
      </a:hlink>
      <a:folHlink>
        <a:srgbClr val="7C3AED"/>
      </a:folHlink>
    </a:clrScheme>
    <a:fontScheme name="Radar SW Study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radar-sw-study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플롯 · 클러터 모의</dc:title>
  <dc:subject>레이다 SW 학습 과제 4</dc:subject>
  <dc:creator>Janghwan Kim (Harley)</dc:creator>
  <cp:lastModifiedBy>Janghwan Kim (Harley)</cp:lastModifiedBy>
  <cp:revision>1</cp:revision>
  <dcterms:created xsi:type="dcterms:W3CDTF">2026-10-13T08:47:03Z</dcterms:created>
  <dcterms:modified xsi:type="dcterms:W3CDTF">2026-10-13T08:47:03Z</dcterms:modified>
</cp:coreProperties>
</file>