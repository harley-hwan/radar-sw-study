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과제에서는 R을 구성하는 표준편차로 거리 10미터, 방위각과 고각 0.2도를 주었습니다.</a:t>
            </a:r>
          </a:p>
          <a:p>
            <a:r>
              <a:t>레이다는 거리와 각도로 측정하고 트랙은 직교 좌표로 관리하기 때문에, 오른쪽 위 식과 같이 변환합니다. 야코비안 J로 구좌표 오차를 안테나 직교 좌표로 옮기고, 회전 행렬 M으로 NED 좌표로 돌립니다.</a:t>
            </a:r>
          </a:p>
          <a:p>
            <a:r>
              <a:t>아래 그림처럼 각도 오차는 거리에 비례하는 위치 오차가 됩니다. 14킬로미터 거리에서 0.2도는 약 49미터입니다. 그래서 R은 시선 방향으로는 좁고 옆 방향으로는 넓은 타원이 됩니다. 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송수신과 트랙 개시, 관리 기능을 추가했습니다. 코드마다 어떤 역할을 하고, 어떤 순서로, 어떻게 계산하는지를 중심으로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4에서 만든 부분입니다. 0.1초마다 표적 위치를 계산하고, 표적 플롯과 클러터를 만듭니다.</a:t>
            </a:r>
          </a:p>
          <a:p>
            <a:r>
              <a:t>이번 과제에서 추가한 부분은 파란색의 송신 쓰레드와 수신 쓰레드, 주황색의 트랙 개시와 관리입니다. 송신 쓰레드는 신호처리 역할로 플롯을 메시지로 묶어 보내고, 수신 쓰레드는 데이터 처리 역할로 메시지를 받아 트랙 개시와 관리로 넘깁니다.</a:t>
            </a:r>
          </a:p>
          <a:p>
            <a:r>
              <a:t>처리 결과는 스캔마다 결과 버퍼에 저장되고, 화면은 이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스캔 하나가 처리되는 순서입니다.</a:t>
            </a:r>
          </a:p>
          <a:p>
            <a:r>
              <a:t>위쪽은 송신 쓰레드입니다. 1번에서 이번 스캔의 표적 플롯 2개와 클러터 5개를 모아 방위각 순서로 섞습니다. 2번에서 플롯마다 ID를 붙이고 거리, 방위각, 고각을 메시지에 담습니다. 3번에서 이 메시지를 UDP로 보냅니다. 메시지 하나가 스캔 하나입니다.</a:t>
            </a:r>
          </a:p>
          <a:p>
            <a:r>
              <a:t>아래쪽은 수신 쓰레드입니다. 메시지를 받으면 4번에서 플롯 좌표를 구좌표에서 VC-NED 직교 좌표로 바꾸고, 5번에서 플롯마다 측정잡음 공분산 R을 계산합니다. 6번에서 트랙 개시와 관리를 수행하고, 7번에서 결과를 버퍼에 저장합니다.</a:t>
            </a:r>
          </a:p>
          <a:p>
            <a:r>
              <a:t>오른쪽은 메시지에 담기는 내용입니다. 스캔 번호와 시각, 플랫폼 위치와 자세, R을 만들 표준편차, 그리고 플롯 목록이 들어갑니다. 표적과 클러터를 구분하는 정보는 넣지 않았기 때문에, 받는 쪽은 모든 플롯을 같은 방식으로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한 스캔의 처리 순서입니다.</a:t>
            </a:r>
          </a:p>
          <a:p>
            <a:r>
              <a:t>왼쪽 위는 트랙 하나를 나타내는 구조체입니다. 트랙 번호, 상태, 점수, 연관 결과, 상태 변수와 오차 공분산을 담고 있으며, 변수 이름은 과제 명세를 그대로 사용했습니다. 아래는 과제 조건을 상수로 정의한 부분입니다.</a:t>
            </a:r>
          </a:p>
          <a:p>
            <a:r>
              <a:t>오른쪽은 수신 쓰레드가 메시지를 받을 때마다 f_Trk_ProcessScan이 수행하는 네 단계입니다.</a:t>
            </a:r>
          </a:p>
          <a:p>
            <a:r>
              <a:t>첫째, 앞 스캔에서 삭제 상태가 된 트랙을 트랙 표에서 지웁니다.</a:t>
            </a:r>
          </a:p>
          <a:p>
            <a:r>
              <a:t>둘째, 남아 있는 트랙마다 연관 결과를 0으로 두고 스코어 로직으로 상태를 갱신합니다.</a:t>
            </a:r>
          </a:p>
          <a:p>
            <a:r>
              <a:t>셋째, 앞 스캔과 이번 스캔의 플롯 쌍 가운데 속도 게이트를 통과한 쌍으로 새 트랙을 만듭니다. 가까운 쌍부터 선택하고, 트랙 ID는 100부터 차례로 부여합니다.</a:t>
            </a:r>
          </a:p>
          <a:p>
            <a:r>
              <a:t>넷째, 이번 스캔의 플롯을 다음 스캔의 개시 후보로 보관합니다. 트랙을 만드는 데 쓴 플롯은 후보에서 제외합니다.</a:t>
            </a:r>
          </a:p>
          <a:p>
            <a:r>
              <a:t>2-Point 개시와 스코어 로직은 다음 두 장에서 코드로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두 플롯으로 트랙의 첫 상태와 오차 공분산을 채웁니다.</a:t>
            </a:r>
          </a:p>
          <a:p>
            <a:r>
              <a:t>먼저 두 플롯의 시간 차 T를 구하고, x, y, z 축마다 같은 계산을 반복합니다.</a:t>
            </a:r>
          </a:p>
          <a:p>
            <a:r>
              <a:t>1번 위치는 이번 플롯 위치, 2번 속도는 두 플롯의 위치 차를 T로 나눈 값, 3번 가속도는 과제 조건대로 0입니다.</a:t>
            </a:r>
          </a:p>
          <a:p>
            <a:r>
              <a:t>4번은 오차 공분산 P입니다. 위치 칸에는 이번 플롯의 R, 위치와 속도 사이에는 R을 T로 나눈 값, 속도 칸에는 두 플롯의 R을 더해 T 제곱으로 나눈 값을 넣습니다. 가속도 칸은 0으로 남겨 둡니다.</a:t>
            </a:r>
          </a:p>
          <a:p>
            <a:r>
              <a:t>오른쪽 5번은 R을 만드는 표준편차입니다. 과제 값인 10미터, 0.2도, 0.2도를 사용하고, 이 값으로 플롯마다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트랙마다 매 스캔 한 번 호출되고, 현재 상태에 따라 나누어 처리합니다.</a:t>
            </a:r>
          </a:p>
          <a:p>
            <a:r>
              <a:t>왼쪽은 임시 트랙입니다. 1번에서 연관에 성공하면 점수를 1 올리고, 실패하면 1 내립니다. 2번에서 점수가 5 이상이면 확정, 3번에서 0 이하이면 삭제합니다.</a:t>
            </a:r>
          </a:p>
          <a:p>
            <a:r>
              <a:t>오른쪽 4번은 확정 트랙으로, 연관에 실패하면 메모리 트랙으로 바꾸고 MemoryScore를 1 올립니다.</a:t>
            </a:r>
          </a:p>
          <a:p>
            <a:r>
              <a:t>5번은 메모리 트랙으로, 연관에 성공하면 바로 확정으로 돌아가고 MemoryScore를 0으로 초기화합니다. 실패하면 MemoryScore를 올리고, 5 이상이 되면 삭제합니다.</a:t>
            </a:r>
          </a:p>
          <a:p>
            <a:r>
              <a:t>문턱치는 모두 과제 값을 상수로 정의해 사용했고, 이 함수는 결과 화면의 스코어 확인 창에서도 그대로 사용합니다.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한 스캔 시점의 화면과 트랙 표, 트랙 수명을 보고, 마지막으로 전체 궤적을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스캔 701 시점의 실행 화면입니다. 위쪽이 2D와 3D 그림, 왼쪽 아래가 송수신과 트랙 요약, 오른쪽 아래가 현재 스캔의 트랙 표입니다. 플롯 메시지 1,160개를 모두 송수신해 처리한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과제의 결과 화면 조건대로 True, Plot, Track 심볼을 한 그림에 함께 표시했습니다.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기호는 화면 범례와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스캔을 표적 주변만 확대한 그림입니다. 현재 참값 위치를 원점으로 두었습니다.</a:t>
            </a:r>
          </a:p>
          <a:p>
            <a:r>
              <a:t>표적 1을 보면, 흰 동그라미가 앞 스캔 플롯, 검은 동그라미가 이번 스캔 플롯입니다. 두 플롯이 속도 게이트를 통과해 이번 플롯 위치에 임시 트랙 284가 개시되었습니다. 화살표는 두 플롯으로 구한 속도이고, 점선 타원은 오차 공분산의 위치 1시그마입니다.</a:t>
            </a:r>
          </a:p>
          <a:p>
            <a:r>
              <a:t>회색 네모 282는 두 스캔 전에 개시된 트랙으로, 연관이 없어 TrackScore가 2, 1, 0으로 내려가 이번 스캔에 삭제 상태가 되었습니다.</a:t>
            </a:r>
          </a:p>
          <a:p>
            <a:r>
              <a:t>아래 트랙 표에서도 같은 내용을 확인할 수 있습니다. 284와 285는 임시 상태에 TrackScore 2, 282와 283은 삭제 상태에 TrackScore 0이며, Assigned_Flag는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생성 결과입니다.</a:t>
            </a:r>
          </a:p>
          <a:p>
            <a:r>
              <a:t>위쪽의 세로선 하나가 트랙 하나가 개시된 시각입니다. 표적 1에서 117개, 표적 2에서 235개, 클러터끼리 3개로 모두 355개의 트랙이 개시되었습니다.</a:t>
            </a:r>
          </a:p>
          <a:p>
            <a:r>
              <a:t>아래쪽은 스캔마다 트랙 표에 남아 있는 트랙 수입니다. 연관이 없어 모든 트랙의 TrackScore가 2, 1, 0으로 내려가고, 개시 두 스캔 뒤 삭제되므로 많아야 4개입니다.</a:t>
            </a:r>
          </a:p>
          <a:p>
            <a:r>
              <a:t>같은 이유로 시뮬레이션에서는 확정과 메모리 상태가 나타나지 않습니다. 이 두 상태는 오른쪽의 스코어 확인 창으로 확인했습니다.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시뮬레이션을 끝까지 실행한 화면입니다. 스캔 1159, 115.9초 시점입니다.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a:t>
            </a:r>
          </a:p>
          <a:p>
            <a:r>
              <a:t>이렇게 116초 동안 받은 플롯으로 트랙 개시와 관리를 수행했습니다.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준 구좌표 표준편차를 VC-NED 직교 좌표 공분산으로 바꿔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10 m</a:t>
            </a:r>
          </a:p>
        </p:txBody>
      </p:sp>
      <p:sp>
        <p:nvSpPr>
          <p:cNvPr id="29" name="Rounded Rectangle 28"/>
          <p:cNvSpPr/>
          <p:nvPr/>
        </p:nvSpPr>
        <p:spPr>
          <a:xfrm>
            <a:off x="24688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4688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4688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2" name="Rounded Rectangle 31"/>
          <p:cNvSpPr/>
          <p:nvPr/>
        </p:nvSpPr>
        <p:spPr>
          <a:xfrm>
            <a:off x="42976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42976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5" name="TextBox 34"/>
          <p:cNvSpPr txBox="1"/>
          <p:nvPr/>
        </p:nvSpPr>
        <p:spPr>
          <a:xfrm>
            <a:off x="640080" y="3246120"/>
            <a:ext cx="5394960" cy="274320"/>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과제 조건: 트랙 초기화 (초기 오차 공분산) 에 쓰는 R 의 표준편차</a:t>
            </a:r>
          </a:p>
        </p:txBody>
      </p:sp>
      <p:sp>
        <p:nvSpPr>
          <p:cNvPr id="36" name="Rounded Rectangle 35"/>
          <p:cNvSpPr/>
          <p:nvPr/>
        </p:nvSpPr>
        <p:spPr>
          <a:xfrm>
            <a:off x="6263640" y="2286000"/>
            <a:ext cx="5285232" cy="1207008"/>
          </a:xfrm>
          <a:prstGeom prst="roundRect">
            <a:avLst>
              <a:gd name="adj" fmla="val 6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446520" y="2359152"/>
            <a:ext cx="5029200" cy="1097280"/>
          </a:xfrm>
          <a:prstGeom prst="rect">
            <a:avLst/>
          </a:prstGeom>
          <a:noFill/>
        </p:spPr>
        <p:txBody>
          <a:bodyPr wrap="square" lIns="0" rIns="0" tIns="0" bIns="0" anchor="t">
            <a:spAutoFit/>
          </a:bodyPr>
          <a:lstStyle/>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ant</a:t>
            </a:r>
            <a:r>
              <a:rPr sz="1350" b="1" i="0">
                <a:solidFill>
                  <a:srgbClr val="1B2740"/>
                </a:solidFill>
                <a:latin typeface="Cambria Math"/>
                <a:ea typeface="Cambria Math"/>
              </a:rPr>
              <a:t> = J · diag( σ</a:t>
            </a:r>
            <a:r>
              <a:rPr sz="1350" b="1" i="0" baseline="-25000">
                <a:solidFill>
                  <a:srgbClr val="1B2740"/>
                </a:solidFill>
                <a:latin typeface="Cambria Math"/>
                <a:ea typeface="Cambria Math"/>
              </a:rPr>
              <a:t>r</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az</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el</a:t>
            </a:r>
            <a:r>
              <a:rPr sz="1350" b="1" i="0" baseline="30000">
                <a:solidFill>
                  <a:srgbClr val="1B2740"/>
                </a:solidFill>
                <a:latin typeface="Cambria Math"/>
                <a:ea typeface="Cambria Math"/>
              </a:rPr>
              <a:t>2</a:t>
            </a:r>
            <a:r>
              <a:rPr sz="1350" b="1" i="0">
                <a:solidFill>
                  <a:srgbClr val="1B2740"/>
                </a:solidFill>
                <a:latin typeface="Cambria Math"/>
                <a:ea typeface="Cambria Math"/>
              </a:rPr>
              <a:t> ) · J</a:t>
            </a:r>
            <a:r>
              <a:rPr sz="1350" b="1" i="0" baseline="30000">
                <a:solidFill>
                  <a:srgbClr val="1B2740"/>
                </a:solidFill>
                <a:latin typeface="Cambria Math"/>
                <a:ea typeface="Cambria Math"/>
              </a:rPr>
              <a:t>T</a:t>
            </a:r>
          </a:p>
          <a:p>
            <a:pPr algn="l">
              <a:spcAft>
                <a:spcPts val="600"/>
              </a:spcAft>
            </a:pPr>
            <a:r>
              <a:rPr sz="1050" b="0" i="0">
                <a:solidFill>
                  <a:srgbClr val="4A5A7A"/>
                </a:solidFill>
                <a:latin typeface="맑은 고딕"/>
                <a:ea typeface="맑은 고딕"/>
              </a:rPr>
              <a:t>J : 구좌표 (r, az, el) → 안테나 직교 좌표의 야코비안</a:t>
            </a:r>
          </a:p>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NED</a:t>
            </a:r>
            <a:r>
              <a:rPr sz="1350" b="1" i="0">
                <a:solidFill>
                  <a:srgbClr val="1B2740"/>
                </a:solidFill>
                <a:latin typeface="Cambria Math"/>
                <a:ea typeface="Cambria Math"/>
              </a:rPr>
              <a:t> = M · R</a:t>
            </a:r>
            <a:r>
              <a:rPr sz="1350" b="1" i="0" baseline="-25000">
                <a:solidFill>
                  <a:srgbClr val="1B2740"/>
                </a:solidFill>
                <a:latin typeface="Cambria Math"/>
                <a:ea typeface="Cambria Math"/>
              </a:rPr>
              <a:t>ant</a:t>
            </a:r>
            <a:r>
              <a:rPr sz="1350" b="1" i="0">
                <a:solidFill>
                  <a:srgbClr val="1B2740"/>
                </a:solidFill>
                <a:latin typeface="Cambria Math"/>
                <a:ea typeface="Cambria Math"/>
              </a:rPr>
              <a:t> · M</a:t>
            </a:r>
            <a:r>
              <a:rPr sz="1350" b="1" i="0" baseline="30000">
                <a:solidFill>
                  <a:srgbClr val="1B2740"/>
                </a:solidFill>
                <a:latin typeface="Cambria Math"/>
                <a:ea typeface="Cambria Math"/>
              </a:rPr>
              <a:t>T</a:t>
            </a:r>
          </a:p>
          <a:p>
            <a:pPr algn="l">
              <a:spcAft>
                <a:spcPts val="0"/>
              </a:spcAft>
            </a:pPr>
            <a:r>
              <a:rPr sz="1050" b="0" i="0">
                <a:solidFill>
                  <a:srgbClr val="4A5A7A"/>
                </a:solidFill>
                <a:latin typeface="맑은 고딕"/>
                <a:ea typeface="맑은 고딕"/>
              </a:rPr>
              <a:t>M : 안테나 → 동체 → NED 회전 (플랫폼 자세)</a:t>
            </a:r>
          </a:p>
        </p:txBody>
      </p:sp>
      <p:pic>
        <p:nvPicPr>
          <p:cNvPr id="38" name="Picture 37" descr="fig_rcov.png"/>
          <p:cNvPicPr>
            <a:picLocks noChangeAspect="1"/>
          </p:cNvPicPr>
          <p:nvPr/>
        </p:nvPicPr>
        <p:blipFill>
          <a:blip r:embed="rId2"/>
          <a:stretch>
            <a:fillRect/>
          </a:stretch>
        </p:blipFill>
        <p:spPr>
          <a:xfrm>
            <a:off x="640080" y="3611880"/>
            <a:ext cx="6949440" cy="2606040"/>
          </a:xfrm>
          <a:prstGeom prst="rect">
            <a:avLst/>
          </a:prstGeom>
        </p:spPr>
      </p:pic>
      <p:sp>
        <p:nvSpPr>
          <p:cNvPr id="39" name="TextBox 38"/>
          <p:cNvSpPr txBox="1"/>
          <p:nvPr/>
        </p:nvSpPr>
        <p:spPr>
          <a:xfrm>
            <a:off x="7818120" y="3703320"/>
            <a:ext cx="3749039"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R 의 모양</a:t>
            </a:r>
          </a:p>
        </p:txBody>
      </p:sp>
      <p:sp>
        <p:nvSpPr>
          <p:cNvPr id="40" name="Oval 39"/>
          <p:cNvSpPr/>
          <p:nvPr/>
        </p:nvSpPr>
        <p:spPr>
          <a:xfrm>
            <a:off x="7818120" y="4059935"/>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1" name="TextBox 40"/>
          <p:cNvSpPr txBox="1"/>
          <p:nvPr/>
        </p:nvSpPr>
        <p:spPr>
          <a:xfrm>
            <a:off x="8202168" y="4041648"/>
            <a:ext cx="33649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각도 오차 → 옆 방향 위치 오차</a:t>
            </a:r>
          </a:p>
          <a:p>
            <a:pPr algn="l">
              <a:spcAft>
                <a:spcPts val="100"/>
              </a:spcAft>
            </a:pPr>
            <a:r>
              <a:rPr sz="1050" b="0" i="0">
                <a:solidFill>
                  <a:srgbClr val="4A5A7A"/>
                </a:solidFill>
                <a:latin typeface="맑은 고딕"/>
                <a:ea typeface="맑은 고딕"/>
              </a:rPr>
              <a:t>위치 오차 ≈ 거리 r × σθ</a:t>
            </a:r>
          </a:p>
          <a:p>
            <a:pPr algn="l">
              <a:spcAft>
                <a:spcPts val="100"/>
              </a:spcAft>
            </a:pPr>
            <a:r>
              <a:rPr sz="1050" b="0" i="0">
                <a:solidFill>
                  <a:srgbClr val="4A5A7A"/>
                </a:solidFill>
                <a:latin typeface="맑은 고딕"/>
                <a:ea typeface="맑은 고딕"/>
              </a:rPr>
              <a:t>14 km 에서 0.2° → 약 49 m</a:t>
            </a:r>
          </a:p>
        </p:txBody>
      </p:sp>
      <p:sp>
        <p:nvSpPr>
          <p:cNvPr id="42" name="Oval 41"/>
          <p:cNvSpPr/>
          <p:nvPr/>
        </p:nvSpPr>
        <p:spPr>
          <a:xfrm>
            <a:off x="7818120" y="4791455"/>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43" name="TextBox 42"/>
          <p:cNvSpPr txBox="1"/>
          <p:nvPr/>
        </p:nvSpPr>
        <p:spPr>
          <a:xfrm>
            <a:off x="8202168" y="477316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시선 방향으로 납작한 타원</a:t>
            </a:r>
          </a:p>
          <a:p>
            <a:pPr algn="l">
              <a:spcAft>
                <a:spcPts val="100"/>
              </a:spcAft>
            </a:pPr>
            <a:r>
              <a:rPr sz="1050" b="0" i="0">
                <a:solidFill>
                  <a:srgbClr val="4A5A7A"/>
                </a:solidFill>
                <a:latin typeface="맑은 고딕"/>
                <a:ea typeface="맑은 고딕"/>
              </a:rPr>
              <a:t>거리 방향 10 m, 옆 방향 약 49 m</a:t>
            </a:r>
          </a:p>
        </p:txBody>
      </p:sp>
      <p:sp>
        <p:nvSpPr>
          <p:cNvPr id="44" name="Oval 43"/>
          <p:cNvSpPr/>
          <p:nvPr/>
        </p:nvSpPr>
        <p:spPr>
          <a:xfrm>
            <a:off x="7818120" y="5431536"/>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5" name="TextBox 44"/>
          <p:cNvSpPr txBox="1"/>
          <p:nvPr/>
        </p:nvSpPr>
        <p:spPr>
          <a:xfrm>
            <a:off x="8202168" y="541324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플롯마다 계산</a:t>
            </a:r>
          </a:p>
          <a:p>
            <a:pPr algn="l">
              <a:spcAft>
                <a:spcPts val="100"/>
              </a:spcAft>
            </a:pPr>
            <a:r>
              <a:rPr sz="1050" b="0" i="0">
                <a:solidFill>
                  <a:srgbClr val="4A5A7A"/>
                </a:solidFill>
                <a:latin typeface="맑은 고딕"/>
                <a:ea typeface="맑은 고딕"/>
              </a:rPr>
              <a:t>거리와 방향이 플롯마다 다르기 때문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넣었습니다. 코드마다 맡은 역할과 처리 순서, 계산 방법을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송수신 순서</a:t>
            </a:r>
          </a:p>
        </p:txBody>
      </p:sp>
      <p:cxnSp>
        <p:nvCxnSpPr>
          <p:cNvPr id="34" name="Connector 33"/>
          <p:cNvCxnSpPr/>
          <p:nvPr/>
        </p:nvCxnSpPr>
        <p:spPr>
          <a:xfrm>
            <a:off x="3570732" y="2720339"/>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 (f_Trk_ProcessScan)</a:t>
            </a:r>
          </a:p>
        </p:txBody>
      </p:sp>
      <p:cxnSp>
        <p:nvCxnSpPr>
          <p:cNvPr id="38" name="Connector 37"/>
          <p:cNvCxnSpPr/>
          <p:nvPr/>
        </p:nvCxnSpPr>
        <p:spPr>
          <a:xfrm>
            <a:off x="6108192" y="3127248"/>
            <a:ext cx="449884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90672"/>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0.1 s 마다 플랫폼 · 표적 위치 계산</a:t>
            </a:r>
          </a:p>
        </p:txBody>
      </p:sp>
      <p:sp>
        <p:nvSpPr>
          <p:cNvPr id="31" name="TextBox 30"/>
          <p:cNvSpPr txBox="1"/>
          <p:nvPr/>
        </p:nvSpPr>
        <p:spPr>
          <a:xfrm>
            <a:off x="914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TargetSim.c</a:t>
            </a:r>
          </a:p>
        </p:txBody>
      </p:sp>
      <p:sp>
        <p:nvSpPr>
          <p:cNvPr id="32" name="Rounded Rectangle 31"/>
          <p:cNvSpPr/>
          <p:nvPr/>
        </p:nvSpPr>
        <p:spPr>
          <a:xfrm>
            <a:off x="4343400" y="2670048"/>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343400" y="27432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4" name="TextBox 33"/>
          <p:cNvSpPr txBox="1"/>
          <p:nvPr/>
        </p:nvSpPr>
        <p:spPr>
          <a:xfrm>
            <a:off x="4343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표적 플롯 + 클러터 5 개 생성</a:t>
            </a:r>
          </a:p>
        </p:txBody>
      </p:sp>
      <p:sp>
        <p:nvSpPr>
          <p:cNvPr id="35" name="TextBox 34"/>
          <p:cNvSpPr txBox="1"/>
          <p:nvPr/>
        </p:nvSpPr>
        <p:spPr>
          <a:xfrm>
            <a:off x="4343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PlotSim.c</a:t>
            </a:r>
          </a:p>
        </p:txBody>
      </p:sp>
      <p:sp>
        <p:nvSpPr>
          <p:cNvPr id="36" name="Rounded Rectangle 35"/>
          <p:cNvSpPr/>
          <p:nvPr/>
        </p:nvSpPr>
        <p:spPr>
          <a:xfrm>
            <a:off x="7772400" y="2670048"/>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772400" y="27432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8" name="TextBox 37"/>
          <p:cNvSpPr txBox="1"/>
          <p:nvPr/>
        </p:nvSpPr>
        <p:spPr>
          <a:xfrm>
            <a:off x="7772400" y="3044952"/>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스캔의 플롯을 메시지로 묶어 보냄</a:t>
            </a:r>
          </a:p>
        </p:txBody>
      </p:sp>
      <p:sp>
        <p:nvSpPr>
          <p:cNvPr id="39" name="TextBox 38"/>
          <p:cNvSpPr txBox="1"/>
          <p:nvPr/>
        </p:nvSpPr>
        <p:spPr>
          <a:xfrm>
            <a:off x="7772400" y="3282696"/>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0" name="Rounded Rectangle 39"/>
          <p:cNvSpPr/>
          <p:nvPr/>
        </p:nvSpPr>
        <p:spPr>
          <a:xfrm>
            <a:off x="7772400" y="4279392"/>
            <a:ext cx="3017520" cy="896112"/>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772400" y="4352544"/>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42" name="TextBox 41"/>
          <p:cNvSpPr txBox="1"/>
          <p:nvPr/>
        </p:nvSpPr>
        <p:spPr>
          <a:xfrm>
            <a:off x="7772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좌표 변환, 플롯마다 R 계산</a:t>
            </a:r>
          </a:p>
        </p:txBody>
      </p:sp>
      <p:sp>
        <p:nvSpPr>
          <p:cNvPr id="43" name="TextBox 42"/>
          <p:cNvSpPr txBox="1"/>
          <p:nvPr/>
        </p:nvSpPr>
        <p:spPr>
          <a:xfrm>
            <a:off x="7772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sp>
        <p:nvSpPr>
          <p:cNvPr id="44" name="Rounded Rectangle 43"/>
          <p:cNvSpPr/>
          <p:nvPr/>
        </p:nvSpPr>
        <p:spPr>
          <a:xfrm>
            <a:off x="4343400" y="4279392"/>
            <a:ext cx="3017520" cy="896112"/>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343400" y="4352544"/>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6" name="TextBox 45"/>
          <p:cNvSpPr txBox="1"/>
          <p:nvPr/>
        </p:nvSpPr>
        <p:spPr>
          <a:xfrm>
            <a:off x="4343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트랙 표 갱신 (개시 · 상태 관리)</a:t>
            </a:r>
          </a:p>
        </p:txBody>
      </p:sp>
      <p:sp>
        <p:nvSpPr>
          <p:cNvPr id="47" name="TextBox 46"/>
          <p:cNvSpPr txBox="1"/>
          <p:nvPr/>
        </p:nvSpPr>
        <p:spPr>
          <a:xfrm>
            <a:off x="4343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TrackMgr.c</a:t>
            </a:r>
          </a:p>
        </p:txBody>
      </p:sp>
      <p:sp>
        <p:nvSpPr>
          <p:cNvPr id="48" name="Rounded Rectangle 47"/>
          <p:cNvSpPr/>
          <p:nvPr/>
        </p:nvSpPr>
        <p:spPr>
          <a:xfrm>
            <a:off x="914400" y="4279392"/>
            <a:ext cx="3017520" cy="89611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14400" y="4352544"/>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50" name="TextBox 49"/>
          <p:cNvSpPr txBox="1"/>
          <p:nvPr/>
        </p:nvSpPr>
        <p:spPr>
          <a:xfrm>
            <a:off x="914400" y="4654296"/>
            <a:ext cx="3017520" cy="256032"/>
          </a:xfrm>
          <a:prstGeom prst="rect">
            <a:avLst/>
          </a:prstGeom>
          <a:noFill/>
        </p:spPr>
        <p:txBody>
          <a:bodyPr wrap="square" lIns="0" rIns="0" tIns="0" bIns="0" anchor="t">
            <a:spAutoFit/>
          </a:bodyPr>
          <a:lstStyle/>
          <a:p>
            <a:pPr algn="ctr">
              <a:spcAft>
                <a:spcPts val="0"/>
              </a:spcAft>
            </a:pPr>
            <a:r>
              <a:rPr sz="1000" b="0" i="0">
                <a:solidFill>
                  <a:srgbClr val="1B2740"/>
                </a:solidFill>
                <a:latin typeface="맑은 고딕"/>
                <a:ea typeface="맑은 고딕"/>
              </a:rPr>
              <a:t>스캔마다 플롯 · 트랙 결과 저장</a:t>
            </a:r>
          </a:p>
        </p:txBody>
      </p:sp>
      <p:sp>
        <p:nvSpPr>
          <p:cNvPr id="51" name="TextBox 50"/>
          <p:cNvSpPr txBox="1"/>
          <p:nvPr/>
        </p:nvSpPr>
        <p:spPr>
          <a:xfrm>
            <a:off x="914400" y="4892040"/>
            <a:ext cx="3017520" cy="219456"/>
          </a:xfrm>
          <a:prstGeom prst="rect">
            <a:avLst/>
          </a:prstGeom>
          <a:noFill/>
        </p:spPr>
        <p:txBody>
          <a:bodyPr wrap="square" lIns="0" rIns="0" tIns="0" bIns="0" anchor="t">
            <a:spAutoFit/>
          </a:bodyPr>
          <a:lstStyle/>
          <a:p>
            <a:pPr algn="ctr">
              <a:spcAft>
                <a:spcPts val="0"/>
              </a:spcAft>
            </a:pPr>
            <a:r>
              <a:rPr sz="850" b="0" i="0">
                <a:solidFill>
                  <a:srgbClr val="8794AC"/>
                </a:solidFill>
                <a:latin typeface="Consolas"/>
                <a:ea typeface="Consolas"/>
              </a:rPr>
              <a:t>PlotLink.c</a:t>
            </a:r>
          </a:p>
        </p:txBody>
      </p:sp>
      <p:cxnSp>
        <p:nvCxnSpPr>
          <p:cNvPr id="52" name="Connector 51"/>
          <p:cNvCxnSpPr/>
          <p:nvPr/>
        </p:nvCxnSpPr>
        <p:spPr>
          <a:xfrm>
            <a:off x="3950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379208" y="3118104"/>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7379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3950208" y="472744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81160" y="3584448"/>
            <a:ext cx="0" cy="676656"/>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390888" y="3712463"/>
            <a:ext cx="2103120" cy="45720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a:t>
            </a:r>
          </a:p>
          <a:p>
            <a:pPr algn="l">
              <a:spcAft>
                <a:spcPts val="0"/>
              </a:spcAft>
            </a:pPr>
            <a:r>
              <a:rPr sz="1000" b="1" i="0">
                <a:solidFill>
                  <a:srgbClr val="2563EB"/>
                </a:solidFill>
                <a:latin typeface="맑은 고딕"/>
                <a:ea typeface="맑은 고딕"/>
              </a:rPr>
              <a:t>스캔마다 메시지 1 개</a:t>
            </a:r>
          </a:p>
        </p:txBody>
      </p:sp>
      <p:cxnSp>
        <p:nvCxnSpPr>
          <p:cNvPr id="58" name="Connector 57"/>
          <p:cNvCxnSpPr/>
          <p:nvPr/>
        </p:nvCxnSpPr>
        <p:spPr>
          <a:xfrm>
            <a:off x="2423160" y="5193792"/>
            <a:ext cx="0" cy="32004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40080" y="5532120"/>
            <a:ext cx="10908792" cy="713232"/>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68680" y="5568696"/>
            <a:ext cx="10515600" cy="658368"/>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 화면)</a:t>
            </a:r>
          </a:p>
          <a:p>
            <a:pPr algn="l">
              <a:spcAft>
                <a:spcPts val="0"/>
              </a:spcAft>
            </a:pPr>
            <a:r>
              <a:rPr sz="1050" b="0" i="0">
                <a:solidFill>
                  <a:srgbClr val="4A5A7A"/>
                </a:solidFill>
                <a:latin typeface="맑은 고딕"/>
                <a:ea typeface="맑은 고딕"/>
              </a:rPr>
              <a:t>결과 버퍼에서 처리된 스캔을 가져와  True · Plot · Clutter · Track 2D / 3D 그림,  지금 스캔의 트랙 표,  송수신 · 트랙 요약으로 보여 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송수신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송신 쓰레드는 스캔마다 플롯을 메시지 하나로 묶어 보내고, 수신 쓰레드는 받은 플롯을 트랙 계산에 쓸 수 있는 형태로 바꿔 넘깁니다.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86000"/>
            <a:ext cx="5486400" cy="274320"/>
          </a:xfrm>
          <a:prstGeom prst="rect">
            <a:avLst/>
          </a:prstGeom>
          <a:noFill/>
        </p:spPr>
        <p:txBody>
          <a:bodyPr wrap="square" lIns="0" rIns="0" tIns="0" bIns="0" anchor="t">
            <a:spAutoFit/>
          </a:bodyPr>
          <a:lstStyle/>
          <a:p>
            <a:pPr algn="l">
              <a:spcAft>
                <a:spcPts val="0"/>
              </a:spcAft>
            </a:pPr>
            <a:r>
              <a:rPr sz="1200" b="1" i="0">
                <a:solidFill>
                  <a:srgbClr val="2563EB"/>
                </a:solidFill>
                <a:latin typeface="맑은 고딕"/>
                <a:ea typeface="맑은 고딕"/>
              </a:rPr>
              <a:t>송신 쓰레드  (신호처리 역할)</a:t>
            </a:r>
            <a:r>
              <a:rPr sz="950" b="0" i="0">
                <a:solidFill>
                  <a:srgbClr val="8794AC"/>
                </a:solidFill>
                <a:latin typeface="Consolas"/>
                <a:ea typeface="Consolas"/>
              </a:rPr>
              <a:t>    PlotLink.c  f_Lnk_TxThread</a:t>
            </a:r>
          </a:p>
        </p:txBody>
      </p:sp>
      <p:sp>
        <p:nvSpPr>
          <p:cNvPr id="27" name="Rounded Rectangle 26"/>
          <p:cNvSpPr/>
          <p:nvPr/>
        </p:nvSpPr>
        <p:spPr>
          <a:xfrm>
            <a:off x="64008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31519"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29" name="TextBox 28"/>
          <p:cNvSpPr txBox="1"/>
          <p:nvPr/>
        </p:nvSpPr>
        <p:spPr>
          <a:xfrm>
            <a:off x="102412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플롯 모으기</a:t>
            </a:r>
          </a:p>
        </p:txBody>
      </p:sp>
      <p:sp>
        <p:nvSpPr>
          <p:cNvPr id="30" name="TextBox 29"/>
          <p:cNvSpPr txBox="1"/>
          <p:nvPr/>
        </p:nvSpPr>
        <p:spPr>
          <a:xfrm>
            <a:off x="731519"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표적 플롯 2 + 클러터 5</a:t>
            </a:r>
          </a:p>
          <a:p>
            <a:pPr algn="l">
              <a:spcAft>
                <a:spcPts val="0"/>
              </a:spcAft>
            </a:pPr>
            <a:r>
              <a:rPr sz="980" b="0" i="0">
                <a:solidFill>
                  <a:srgbClr val="1B2740"/>
                </a:solidFill>
                <a:latin typeface="맑은 고딕"/>
                <a:ea typeface="맑은 고딕"/>
              </a:rPr>
              <a:t>방위각 순서로 섞음</a:t>
            </a:r>
          </a:p>
        </p:txBody>
      </p:sp>
      <p:sp>
        <p:nvSpPr>
          <p:cNvPr id="31" name="TextBox 30"/>
          <p:cNvSpPr txBox="1"/>
          <p:nvPr/>
        </p:nvSpPr>
        <p:spPr>
          <a:xfrm>
            <a:off x="731519"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2" name="Connector 31"/>
          <p:cNvCxnSpPr/>
          <p:nvPr/>
        </p:nvCxnSpPr>
        <p:spPr>
          <a:xfrm>
            <a:off x="293827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276599"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36804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5" name="TextBox 34"/>
          <p:cNvSpPr txBox="1"/>
          <p:nvPr/>
        </p:nvSpPr>
        <p:spPr>
          <a:xfrm>
            <a:off x="3660647"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메시지 만들기</a:t>
            </a:r>
          </a:p>
        </p:txBody>
      </p:sp>
      <p:sp>
        <p:nvSpPr>
          <p:cNvPr id="36" name="TextBox 35"/>
          <p:cNvSpPr txBox="1"/>
          <p:nvPr/>
        </p:nvSpPr>
        <p:spPr>
          <a:xfrm>
            <a:off x="336804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 ID 부여</a:t>
            </a:r>
          </a:p>
          <a:p>
            <a:pPr algn="l">
              <a:spcAft>
                <a:spcPts val="0"/>
              </a:spcAft>
            </a:pPr>
            <a:r>
              <a:rPr sz="980" b="0" i="0">
                <a:solidFill>
                  <a:srgbClr val="1B2740"/>
                </a:solidFill>
                <a:latin typeface="맑은 고딕"/>
                <a:ea typeface="맑은 고딕"/>
              </a:rPr>
              <a:t>거리 · 방위각 · 고각 + R σ</a:t>
            </a:r>
          </a:p>
        </p:txBody>
      </p:sp>
      <p:sp>
        <p:nvSpPr>
          <p:cNvPr id="37" name="TextBox 36"/>
          <p:cNvSpPr txBox="1"/>
          <p:nvPr/>
        </p:nvSpPr>
        <p:spPr>
          <a:xfrm>
            <a:off x="336804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f_Lnk_BuildMsg</a:t>
            </a:r>
          </a:p>
        </p:txBody>
      </p:sp>
      <p:cxnSp>
        <p:nvCxnSpPr>
          <p:cNvPr id="38" name="Connector 37"/>
          <p:cNvCxnSpPr/>
          <p:nvPr/>
        </p:nvCxnSpPr>
        <p:spPr>
          <a:xfrm>
            <a:off x="5574792" y="3145536"/>
            <a:ext cx="310896" cy="0"/>
          </a:xfrm>
          <a:prstGeom prst="line">
            <a:avLst/>
          </a:prstGeom>
          <a:ln w="1587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913120" y="2633472"/>
            <a:ext cx="2270760" cy="1024128"/>
          </a:xfrm>
          <a:prstGeom prst="roundRect">
            <a:avLst>
              <a:gd name="adj" fmla="val 8000"/>
            </a:avLst>
          </a:prstGeom>
          <a:solidFill>
            <a:srgbClr val="EBF2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004560" y="2724912"/>
            <a:ext cx="228600" cy="2286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1" name="TextBox 40"/>
          <p:cNvSpPr txBox="1"/>
          <p:nvPr/>
        </p:nvSpPr>
        <p:spPr>
          <a:xfrm>
            <a:off x="6297168" y="2706624"/>
            <a:ext cx="1813560" cy="274320"/>
          </a:xfrm>
          <a:prstGeom prst="rect">
            <a:avLst/>
          </a:prstGeom>
          <a:noFill/>
        </p:spPr>
        <p:txBody>
          <a:bodyPr wrap="square" lIns="0" rIns="0" tIns="0" bIns="0" anchor="t">
            <a:spAutoFit/>
          </a:bodyPr>
          <a:lstStyle/>
          <a:p>
            <a:pPr algn="l">
              <a:spcAft>
                <a:spcPts val="0"/>
              </a:spcAft>
            </a:pPr>
            <a:r>
              <a:rPr sz="1150" b="1" i="0">
                <a:solidFill>
                  <a:srgbClr val="2563EB"/>
                </a:solidFill>
                <a:latin typeface="맑은 고딕"/>
                <a:ea typeface="맑은 고딕"/>
              </a:rPr>
              <a:t>보내기</a:t>
            </a:r>
          </a:p>
        </p:txBody>
      </p:sp>
      <p:sp>
        <p:nvSpPr>
          <p:cNvPr id="42" name="TextBox 41"/>
          <p:cNvSpPr txBox="1"/>
          <p:nvPr/>
        </p:nvSpPr>
        <p:spPr>
          <a:xfrm>
            <a:off x="6004560" y="2999232"/>
            <a:ext cx="208788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스캔 순서대로</a:t>
            </a:r>
          </a:p>
          <a:p>
            <a:pPr algn="l">
              <a:spcAft>
                <a:spcPts val="0"/>
              </a:spcAft>
            </a:pPr>
            <a:r>
              <a:rPr sz="980" b="0" i="0">
                <a:solidFill>
                  <a:srgbClr val="1B2740"/>
                </a:solidFill>
                <a:latin typeface="맑은 고딕"/>
                <a:ea typeface="맑은 고딕"/>
              </a:rPr>
              <a:t>메시지 1 개씩 UDP 전송</a:t>
            </a:r>
          </a:p>
        </p:txBody>
      </p:sp>
      <p:sp>
        <p:nvSpPr>
          <p:cNvPr id="43" name="TextBox 42"/>
          <p:cNvSpPr txBox="1"/>
          <p:nvPr/>
        </p:nvSpPr>
        <p:spPr>
          <a:xfrm>
            <a:off x="6004560" y="3410712"/>
            <a:ext cx="208788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f_Lnk_TxThread</a:t>
            </a:r>
          </a:p>
        </p:txBody>
      </p:sp>
      <p:sp>
        <p:nvSpPr>
          <p:cNvPr id="44" name="TextBox 43"/>
          <p:cNvSpPr txBox="1"/>
          <p:nvPr/>
        </p:nvSpPr>
        <p:spPr>
          <a:xfrm>
            <a:off x="640080" y="4224528"/>
            <a:ext cx="5486400" cy="274320"/>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수신 쓰레드  (데이터 처리 역할)</a:t>
            </a:r>
            <a:r>
              <a:rPr sz="950" b="0" i="0">
                <a:solidFill>
                  <a:srgbClr val="8794AC"/>
                </a:solidFill>
                <a:latin typeface="Consolas"/>
                <a:ea typeface="Consolas"/>
              </a:rPr>
              <a:t>    PlotLink.c  f_Lnk_RxThread</a:t>
            </a:r>
          </a:p>
        </p:txBody>
      </p:sp>
      <p:sp>
        <p:nvSpPr>
          <p:cNvPr id="45" name="Rounded Rectangle 44"/>
          <p:cNvSpPr/>
          <p:nvPr/>
        </p:nvSpPr>
        <p:spPr>
          <a:xfrm>
            <a:off x="64008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3151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47" name="TextBox 46"/>
          <p:cNvSpPr txBox="1"/>
          <p:nvPr/>
        </p:nvSpPr>
        <p:spPr>
          <a:xfrm>
            <a:off x="102412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좌표 변환</a:t>
            </a:r>
          </a:p>
        </p:txBody>
      </p:sp>
      <p:sp>
        <p:nvSpPr>
          <p:cNvPr id="48" name="TextBox 47"/>
          <p:cNvSpPr txBox="1"/>
          <p:nvPr/>
        </p:nvSpPr>
        <p:spPr>
          <a:xfrm>
            <a:off x="73151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구좌표 →</a:t>
            </a:r>
          </a:p>
          <a:p>
            <a:pPr algn="l">
              <a:spcAft>
                <a:spcPts val="0"/>
              </a:spcAft>
            </a:pPr>
            <a:r>
              <a:rPr sz="980" b="0" i="0">
                <a:solidFill>
                  <a:srgbClr val="1B2740"/>
                </a:solidFill>
                <a:latin typeface="맑은 고딕"/>
                <a:ea typeface="맑은 고딕"/>
              </a:rPr>
              <a:t>VC-NED 직교 좌표</a:t>
            </a:r>
          </a:p>
        </p:txBody>
      </p:sp>
      <p:sp>
        <p:nvSpPr>
          <p:cNvPr id="49" name="TextBox 48"/>
          <p:cNvSpPr txBox="1"/>
          <p:nvPr/>
        </p:nvSpPr>
        <p:spPr>
          <a:xfrm>
            <a:off x="73151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f_Lnk_FillPlotCoord</a:t>
            </a:r>
          </a:p>
        </p:txBody>
      </p:sp>
      <p:cxnSp>
        <p:nvCxnSpPr>
          <p:cNvPr id="50" name="Connector 49"/>
          <p:cNvCxnSpPr/>
          <p:nvPr/>
        </p:nvCxnSpPr>
        <p:spPr>
          <a:xfrm>
            <a:off x="234772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594609"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268604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3" name="TextBox 52"/>
          <p:cNvSpPr txBox="1"/>
          <p:nvPr/>
        </p:nvSpPr>
        <p:spPr>
          <a:xfrm>
            <a:off x="2978657"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R 계산</a:t>
            </a:r>
          </a:p>
        </p:txBody>
      </p:sp>
      <p:sp>
        <p:nvSpPr>
          <p:cNvPr id="54" name="TextBox 53"/>
          <p:cNvSpPr txBox="1"/>
          <p:nvPr/>
        </p:nvSpPr>
        <p:spPr>
          <a:xfrm>
            <a:off x="268604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플롯마다</a:t>
            </a:r>
          </a:p>
          <a:p>
            <a:pPr algn="l">
              <a:spcAft>
                <a:spcPts val="0"/>
              </a:spcAft>
            </a:pPr>
            <a:r>
              <a:rPr sz="980" b="0" i="0">
                <a:solidFill>
                  <a:srgbClr val="1B2740"/>
                </a:solidFill>
                <a:latin typeface="맑은 고딕"/>
                <a:ea typeface="맑은 고딕"/>
              </a:rPr>
              <a:t>측정잡음 공분산</a:t>
            </a:r>
          </a:p>
        </p:txBody>
      </p:sp>
      <p:sp>
        <p:nvSpPr>
          <p:cNvPr id="55" name="TextBox 54"/>
          <p:cNvSpPr txBox="1"/>
          <p:nvPr/>
        </p:nvSpPr>
        <p:spPr>
          <a:xfrm>
            <a:off x="268604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f_Trk_MeasCov</a:t>
            </a:r>
          </a:p>
        </p:txBody>
      </p:sp>
      <p:cxnSp>
        <p:nvCxnSpPr>
          <p:cNvPr id="56" name="Connector 55"/>
          <p:cNvCxnSpPr/>
          <p:nvPr/>
        </p:nvCxnSpPr>
        <p:spPr>
          <a:xfrm>
            <a:off x="4302251"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4914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64057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6</a:t>
            </a:r>
          </a:p>
        </p:txBody>
      </p:sp>
      <p:sp>
        <p:nvSpPr>
          <p:cNvPr id="59" name="TextBox 58"/>
          <p:cNvSpPr txBox="1"/>
          <p:nvPr/>
        </p:nvSpPr>
        <p:spPr>
          <a:xfrm>
            <a:off x="493318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트랙 처리</a:t>
            </a:r>
          </a:p>
        </p:txBody>
      </p:sp>
      <p:sp>
        <p:nvSpPr>
          <p:cNvPr id="60" name="TextBox 59"/>
          <p:cNvSpPr txBox="1"/>
          <p:nvPr/>
        </p:nvSpPr>
        <p:spPr>
          <a:xfrm>
            <a:off x="464057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개시 · 상태 관리</a:t>
            </a:r>
          </a:p>
          <a:p>
            <a:pPr algn="l">
              <a:spcAft>
                <a:spcPts val="0"/>
              </a:spcAft>
            </a:pPr>
            <a:r>
              <a:rPr sz="980" b="0" i="0">
                <a:solidFill>
                  <a:srgbClr val="1B2740"/>
                </a:solidFill>
                <a:latin typeface="맑은 고딕"/>
                <a:ea typeface="맑은 고딕"/>
              </a:rPr>
              <a:t>(다음 장)</a:t>
            </a:r>
          </a:p>
        </p:txBody>
      </p:sp>
      <p:sp>
        <p:nvSpPr>
          <p:cNvPr id="61" name="TextBox 60"/>
          <p:cNvSpPr txBox="1"/>
          <p:nvPr/>
        </p:nvSpPr>
        <p:spPr>
          <a:xfrm>
            <a:off x="464057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f_Trk_ProcessScan</a:t>
            </a:r>
          </a:p>
        </p:txBody>
      </p:sp>
      <p:cxnSp>
        <p:nvCxnSpPr>
          <p:cNvPr id="62" name="Connector 61"/>
          <p:cNvCxnSpPr/>
          <p:nvPr/>
        </p:nvCxnSpPr>
        <p:spPr>
          <a:xfrm>
            <a:off x="6256782" y="5084064"/>
            <a:ext cx="219456" cy="0"/>
          </a:xfrm>
          <a:prstGeom prst="line">
            <a:avLst/>
          </a:prstGeom>
          <a:ln w="15875">
            <a:solidFill>
              <a:srgbClr val="0596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6503670" y="4572000"/>
            <a:ext cx="1680210" cy="1024128"/>
          </a:xfrm>
          <a:prstGeom prst="roundRect">
            <a:avLst>
              <a:gd name="adj" fmla="val 8000"/>
            </a:avLst>
          </a:prstGeom>
          <a:solidFill>
            <a:srgbClr val="E8F6F0"/>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95109" y="4663440"/>
            <a:ext cx="228600" cy="2286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7</a:t>
            </a:r>
          </a:p>
        </p:txBody>
      </p:sp>
      <p:sp>
        <p:nvSpPr>
          <p:cNvPr id="65" name="TextBox 64"/>
          <p:cNvSpPr txBox="1"/>
          <p:nvPr/>
        </p:nvSpPr>
        <p:spPr>
          <a:xfrm>
            <a:off x="6887718" y="4645152"/>
            <a:ext cx="1223010" cy="274320"/>
          </a:xfrm>
          <a:prstGeom prst="rect">
            <a:avLst/>
          </a:prstGeom>
          <a:noFill/>
        </p:spPr>
        <p:txBody>
          <a:bodyPr wrap="square" lIns="0" rIns="0" tIns="0" bIns="0" anchor="t">
            <a:spAutoFit/>
          </a:bodyPr>
          <a:lstStyle/>
          <a:p>
            <a:pPr algn="l">
              <a:spcAft>
                <a:spcPts val="0"/>
              </a:spcAft>
            </a:pPr>
            <a:r>
              <a:rPr sz="1150" b="1" i="0">
                <a:solidFill>
                  <a:srgbClr val="059669"/>
                </a:solidFill>
                <a:latin typeface="맑은 고딕"/>
                <a:ea typeface="맑은 고딕"/>
              </a:rPr>
              <a:t>결과 저장</a:t>
            </a:r>
          </a:p>
        </p:txBody>
      </p:sp>
      <p:sp>
        <p:nvSpPr>
          <p:cNvPr id="66" name="TextBox 65"/>
          <p:cNvSpPr txBox="1"/>
          <p:nvPr/>
        </p:nvSpPr>
        <p:spPr>
          <a:xfrm>
            <a:off x="6595109" y="4937760"/>
            <a:ext cx="1497330" cy="411480"/>
          </a:xfrm>
          <a:prstGeom prst="rect">
            <a:avLst/>
          </a:prstGeom>
          <a:noFill/>
        </p:spPr>
        <p:txBody>
          <a:bodyPr wrap="square" lIns="0" rIns="0" tIns="0" bIns="0" anchor="t">
            <a:spAutoFit/>
          </a:bodyPr>
          <a:lstStyle/>
          <a:p>
            <a:pPr algn="l">
              <a:spcAft>
                <a:spcPts val="0"/>
              </a:spcAft>
            </a:pPr>
            <a:r>
              <a:rPr sz="980" b="0" i="0">
                <a:solidFill>
                  <a:srgbClr val="1B2740"/>
                </a:solidFill>
                <a:latin typeface="맑은 고딕"/>
                <a:ea typeface="맑은 고딕"/>
              </a:rPr>
              <a:t>플롯 · 트랙 표 저장</a:t>
            </a:r>
          </a:p>
          <a:p>
            <a:pPr algn="l">
              <a:spcAft>
                <a:spcPts val="0"/>
              </a:spcAft>
            </a:pPr>
            <a:r>
              <a:rPr sz="980" b="0" i="0">
                <a:solidFill>
                  <a:srgbClr val="1B2740"/>
                </a:solidFill>
                <a:latin typeface="맑은 고딕"/>
                <a:ea typeface="맑은 고딕"/>
              </a:rPr>
              <a:t>→ 화면이 가져감</a:t>
            </a:r>
          </a:p>
        </p:txBody>
      </p:sp>
      <p:sp>
        <p:nvSpPr>
          <p:cNvPr id="67" name="TextBox 66"/>
          <p:cNvSpPr txBox="1"/>
          <p:nvPr/>
        </p:nvSpPr>
        <p:spPr>
          <a:xfrm>
            <a:off x="6595109" y="5349240"/>
            <a:ext cx="1497330" cy="201168"/>
          </a:xfrm>
          <a:prstGeom prst="rect">
            <a:avLst/>
          </a:prstGeom>
          <a:noFill/>
        </p:spPr>
        <p:txBody>
          <a:bodyPr wrap="square" lIns="0" rIns="0" tIns="0" bIns="0" anchor="t">
            <a:spAutoFit/>
          </a:bodyPr>
          <a:lstStyle/>
          <a:p>
            <a:pPr algn="l">
              <a:spcAft>
                <a:spcPts val="0"/>
              </a:spcAft>
            </a:pPr>
            <a:r>
              <a:rPr sz="800" b="0" i="0">
                <a:solidFill>
                  <a:srgbClr val="8794AC"/>
                </a:solidFill>
                <a:latin typeface="Consolas"/>
                <a:ea typeface="Consolas"/>
              </a:rPr>
              <a:t>f_Lnk_ProcessMsg</a:t>
            </a:r>
          </a:p>
        </p:txBody>
      </p:sp>
      <p:cxnSp>
        <p:nvCxnSpPr>
          <p:cNvPr id="68" name="Connector 67"/>
          <p:cNvCxnSpPr/>
          <p:nvPr/>
        </p:nvCxnSpPr>
        <p:spPr>
          <a:xfrm>
            <a:off x="7048500" y="3657600"/>
            <a:ext cx="0" cy="402336"/>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38912" y="4059936"/>
            <a:ext cx="6609588" cy="0"/>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38912" y="4059936"/>
            <a:ext cx="0" cy="1024128"/>
          </a:xfrm>
          <a:prstGeom prst="line">
            <a:avLst/>
          </a:prstGeom>
          <a:ln w="2032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38912" y="5084064"/>
            <a:ext cx="182880" cy="0"/>
          </a:xfrm>
          <a:prstGeom prst="line">
            <a:avLst/>
          </a:prstGeom>
          <a:ln w="2032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579620" y="3730752"/>
            <a:ext cx="2377440" cy="228600"/>
          </a:xfrm>
          <a:prstGeom prst="rect">
            <a:avLst/>
          </a:prstGeom>
          <a:noFill/>
        </p:spPr>
        <p:txBody>
          <a:bodyPr wrap="square" lIns="0" rIns="0" tIns="0" bIns="0" anchor="t">
            <a:spAutoFit/>
          </a:bodyPr>
          <a:lstStyle/>
          <a:p>
            <a:pPr algn="r">
              <a:spcAft>
                <a:spcPts val="0"/>
              </a:spcAft>
            </a:pPr>
            <a:r>
              <a:rPr sz="1000" b="1" i="0">
                <a:solidFill>
                  <a:srgbClr val="2563EB"/>
                </a:solidFill>
                <a:latin typeface="맑은 고딕"/>
                <a:ea typeface="맑은 고딕"/>
              </a:rPr>
              <a:t>UDP  (스캔마다 메시지 1 개)</a:t>
            </a:r>
          </a:p>
        </p:txBody>
      </p:sp>
      <p:sp>
        <p:nvSpPr>
          <p:cNvPr id="73" name="Rounded Rectangle 72"/>
          <p:cNvSpPr/>
          <p:nvPr/>
        </p:nvSpPr>
        <p:spPr>
          <a:xfrm>
            <a:off x="8549640" y="2286000"/>
            <a:ext cx="2999232" cy="352044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732519" y="2395728"/>
            <a:ext cx="2633472"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메시지 한 개에 담는 내용</a:t>
            </a:r>
          </a:p>
        </p:txBody>
      </p:sp>
      <p:sp>
        <p:nvSpPr>
          <p:cNvPr id="75" name="TextBox 74"/>
          <p:cNvSpPr txBox="1"/>
          <p:nvPr/>
        </p:nvSpPr>
        <p:spPr>
          <a:xfrm>
            <a:off x="8732519" y="2670048"/>
            <a:ext cx="2633472" cy="228600"/>
          </a:xfrm>
          <a:prstGeom prst="rect">
            <a:avLst/>
          </a:prstGeom>
          <a:noFill/>
        </p:spPr>
        <p:txBody>
          <a:bodyPr wrap="square" lIns="0" rIns="0" tIns="0" bIns="0" anchor="t">
            <a:spAutoFit/>
          </a:bodyPr>
          <a:lstStyle/>
          <a:p>
            <a:pPr algn="l">
              <a:spcAft>
                <a:spcPts val="0"/>
              </a:spcAft>
            </a:pPr>
            <a:r>
              <a:rPr sz="850" b="0" i="0">
                <a:solidFill>
                  <a:srgbClr val="8794AC"/>
                </a:solidFill>
                <a:latin typeface="Consolas"/>
                <a:ea typeface="Consolas"/>
              </a:rPr>
              <a:t>STRUCT_PlotMsg (Idd.h)</a:t>
            </a:r>
          </a:p>
        </p:txBody>
      </p:sp>
      <p:sp>
        <p:nvSpPr>
          <p:cNvPr id="76" name="Rectangle 75"/>
          <p:cNvSpPr/>
          <p:nvPr/>
        </p:nvSpPr>
        <p:spPr>
          <a:xfrm>
            <a:off x="8732519" y="30906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897112" y="30358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스캔 번호 · 시각</a:t>
            </a:r>
          </a:p>
        </p:txBody>
      </p:sp>
      <p:sp>
        <p:nvSpPr>
          <p:cNvPr id="78" name="Rectangle 77"/>
          <p:cNvSpPr/>
          <p:nvPr/>
        </p:nvSpPr>
        <p:spPr>
          <a:xfrm>
            <a:off x="8732519" y="350215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897112" y="344728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플랫폼 위치 · 자세</a:t>
            </a:r>
          </a:p>
          <a:p>
            <a:pPr algn="l">
              <a:spcAft>
                <a:spcPts val="0"/>
              </a:spcAft>
            </a:pPr>
            <a:r>
              <a:rPr sz="950" b="0" i="0">
                <a:solidFill>
                  <a:srgbClr val="4A5A7A"/>
                </a:solidFill>
                <a:latin typeface="맑은 고딕"/>
                <a:ea typeface="맑은 고딕"/>
              </a:rPr>
              <a:t>좌표 변환에 사용</a:t>
            </a:r>
          </a:p>
        </p:txBody>
      </p:sp>
      <p:sp>
        <p:nvSpPr>
          <p:cNvPr id="80" name="Rectangle 79"/>
          <p:cNvSpPr/>
          <p:nvPr/>
        </p:nvSpPr>
        <p:spPr>
          <a:xfrm>
            <a:off x="8732519" y="4096511"/>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897112" y="404164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R 표준편차</a:t>
            </a:r>
          </a:p>
          <a:p>
            <a:pPr algn="l">
              <a:spcAft>
                <a:spcPts val="0"/>
              </a:spcAft>
            </a:pPr>
            <a:r>
              <a:rPr sz="950" b="0" i="0">
                <a:solidFill>
                  <a:srgbClr val="4A5A7A"/>
                </a:solidFill>
                <a:latin typeface="맑은 고딕"/>
                <a:ea typeface="맑은 고딕"/>
              </a:rPr>
              <a:t>σr 10 m, σaz 0.2°, σel 0.2°</a:t>
            </a:r>
          </a:p>
        </p:txBody>
      </p:sp>
      <p:sp>
        <p:nvSpPr>
          <p:cNvPr id="82" name="Rectangle 81"/>
          <p:cNvSpPr/>
          <p:nvPr/>
        </p:nvSpPr>
        <p:spPr>
          <a:xfrm>
            <a:off x="8732519" y="4690872"/>
            <a:ext cx="64008" cy="1828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8897112" y="4636008"/>
            <a:ext cx="2496311" cy="566928"/>
          </a:xfrm>
          <a:prstGeom prst="rect">
            <a:avLst/>
          </a:prstGeom>
          <a:noFill/>
        </p:spPr>
        <p:txBody>
          <a:bodyPr wrap="square" lIns="0" rIns="0" tIns="0" bIns="0" anchor="t">
            <a:spAutoFit/>
          </a:bodyPr>
          <a:lstStyle/>
          <a:p>
            <a:pPr algn="l">
              <a:spcAft>
                <a:spcPts val="100"/>
              </a:spcAft>
            </a:pPr>
            <a:r>
              <a:rPr sz="1050" b="1" i="0">
                <a:solidFill>
                  <a:srgbClr val="1B2740"/>
                </a:solidFill>
                <a:latin typeface="맑은 고딕"/>
                <a:ea typeface="맑은 고딕"/>
              </a:rPr>
              <a:t>플롯 7 개</a:t>
            </a:r>
          </a:p>
          <a:p>
            <a:pPr algn="l">
              <a:spcAft>
                <a:spcPts val="0"/>
              </a:spcAft>
            </a:pPr>
            <a:r>
              <a:rPr sz="950" b="0" i="0">
                <a:solidFill>
                  <a:srgbClr val="4A5A7A"/>
                </a:solidFill>
                <a:latin typeface="맑은 고딕"/>
                <a:ea typeface="맑은 고딕"/>
              </a:rPr>
              <a:t>플롯 ID (10000 ~ 1000000)</a:t>
            </a:r>
          </a:p>
          <a:p>
            <a:pPr algn="l">
              <a:spcAft>
                <a:spcPts val="0"/>
              </a:spcAft>
            </a:pPr>
            <a:r>
              <a:rPr sz="950" b="0" i="0">
                <a:solidFill>
                  <a:srgbClr val="4A5A7A"/>
                </a:solidFill>
                <a:latin typeface="맑은 고딕"/>
                <a:ea typeface="맑은 고딕"/>
              </a:rPr>
              <a:t>거리 · 방위각 · 고각</a:t>
            </a:r>
          </a:p>
        </p:txBody>
      </p:sp>
      <p:sp>
        <p:nvSpPr>
          <p:cNvPr id="84" name="TextBox 83"/>
          <p:cNvSpPr txBox="1"/>
          <p:nvPr/>
        </p:nvSpPr>
        <p:spPr>
          <a:xfrm>
            <a:off x="8732519" y="5413248"/>
            <a:ext cx="2633472" cy="274320"/>
          </a:xfrm>
          <a:prstGeom prst="rect">
            <a:avLst/>
          </a:prstGeom>
          <a:noFill/>
        </p:spPr>
        <p:txBody>
          <a:bodyPr wrap="square" lIns="0" rIns="0" tIns="0" bIns="0" anchor="t">
            <a:spAutoFit/>
          </a:bodyPr>
          <a:lstStyle/>
          <a:p>
            <a:pPr algn="l">
              <a:spcAft>
                <a:spcPts val="0"/>
              </a:spcAft>
            </a:pPr>
            <a:r>
              <a:rPr sz="950" b="1" i="0">
                <a:solidFill>
                  <a:srgbClr val="D97706"/>
                </a:solidFill>
                <a:latin typeface="맑은 고딕"/>
                <a:ea typeface="맑은 고딕"/>
              </a:rPr>
              <a:t>표적 / 클러터 구분 정보는 넣지 않음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수신 쓰레드가 메시지를 받을 때마다 f_Trk_ProcessScan 이 아래 네 단계를 차례로 수행합니다. 트랙 변수 이름은 과제 명세 그대로입니다.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29" name="TextBox 28"/>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0" name="Rectangle 29"/>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32" name="Rounded Rectangle 31"/>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34" name="TextBox 33"/>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35" name="TextBox 34"/>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스캔에서 삭제 (4) 가 된 트랙을</a:t>
            </a:r>
          </a:p>
          <a:p>
            <a:pPr algn="l">
              <a:spcAft>
                <a:spcPts val="0"/>
              </a:spcAft>
            </a:pPr>
            <a:r>
              <a:rPr sz="1000" b="0" i="0">
                <a:solidFill>
                  <a:srgbClr val="4A5A7A"/>
                </a:solidFill>
                <a:latin typeface="맑은 고딕"/>
                <a:ea typeface="맑은 고딕"/>
              </a:rPr>
              <a:t>트랙 표에서 지움</a:t>
            </a:r>
          </a:p>
        </p:txBody>
      </p:sp>
      <p:sp>
        <p:nvSpPr>
          <p:cNvPr id="36" name="Rounded Rectangle 35"/>
          <p:cNvSpPr/>
          <p:nvPr/>
        </p:nvSpPr>
        <p:spPr>
          <a:xfrm>
            <a:off x="6720840" y="3273552"/>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38" name="TextBox 37"/>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  3.5</a:t>
            </a:r>
          </a:p>
        </p:txBody>
      </p:sp>
      <p:sp>
        <p:nvSpPr>
          <p:cNvPr id="39" name="TextBox 38"/>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모든 트랙에 Assigned_Flag = 0 (연관 기능 없음)</a:t>
            </a:r>
          </a:p>
          <a:p>
            <a:pPr algn="l">
              <a:spcAft>
                <a:spcPts val="0"/>
              </a:spcAft>
            </a:pPr>
            <a:r>
              <a:rPr sz="1000" b="0" i="0">
                <a:solidFill>
                  <a:srgbClr val="4A5A7A"/>
                </a:solidFill>
                <a:latin typeface="맑은 고딕"/>
                <a:ea typeface="맑은 고딕"/>
              </a:rPr>
              <a:t>스코어 로직으로 상태 갱신</a:t>
            </a:r>
          </a:p>
        </p:txBody>
      </p:sp>
      <p:sp>
        <p:nvSpPr>
          <p:cNvPr id="40" name="Rounded Rectangle 39"/>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42" name="TextBox 41"/>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  →  3.4</a:t>
            </a:r>
          </a:p>
        </p:txBody>
      </p:sp>
      <p:sp>
        <p:nvSpPr>
          <p:cNvPr id="43" name="TextBox 42"/>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 이번 스캔 플롯 쌍 중 속도 게이트 통과 쌍으로</a:t>
            </a:r>
          </a:p>
          <a:p>
            <a:pPr algn="l">
              <a:spcAft>
                <a:spcPts val="0"/>
              </a:spcAft>
            </a:pPr>
            <a:r>
              <a:rPr sz="1000" b="0" i="0">
                <a:solidFill>
                  <a:srgbClr val="4A5A7A"/>
                </a:solidFill>
                <a:latin typeface="맑은 고딕"/>
                <a:ea typeface="맑은 고딕"/>
              </a:rPr>
              <a:t>가까운 쌍부터 새 트랙 생성, 트랙 ID 부여</a:t>
            </a:r>
          </a:p>
        </p:txBody>
      </p:sp>
      <p:sp>
        <p:nvSpPr>
          <p:cNvPr id="44" name="Rounded Rectangle 43"/>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46" name="TextBox 45"/>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47" name="TextBox 46"/>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스캔의 개시 후보로 보관</a:t>
            </a:r>
          </a:p>
          <a:p>
            <a:pPr algn="l">
              <a:spcAft>
                <a:spcPts val="0"/>
              </a:spcAft>
            </a:pPr>
            <a:r>
              <a:rPr sz="1000" b="0" i="0">
                <a:solidFill>
                  <a:srgbClr val="4A5A7A"/>
                </a:solidFill>
                <a:latin typeface="맑은 고딕"/>
                <a:ea typeface="맑은 고딕"/>
              </a:rPr>
              <a:t>(트랙을 만드는 데 쓴 플롯은 제외)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두 플롯으로 트랙의 첫 상태 mat_EstX 와 오차 공분산 mat_EstP 를 채웁니다. 시간 차를 구한 뒤 x · y · z 축마다 같은 계산을 반복합니다.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(과제 조건)</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위치 · 위치-속도 · 속도 칸, 가속도 칸은 0</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a:t>
            </a:r>
          </a:p>
          <a:p>
            <a:pPr algn="l">
              <a:spcAft>
                <a:spcPts val="100"/>
              </a:spcAft>
            </a:pPr>
            <a:r>
              <a:rPr sz="1050" b="0" i="0">
                <a:solidFill>
                  <a:srgbClr val="4A5A7A"/>
                </a:solidFill>
                <a:latin typeface="맑은 고딕"/>
                <a:ea typeface="맑은 고딕"/>
              </a:rPr>
              <a:t>이 값으로 플롯마다 R 계산 (1.4 의 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트랙마다 매 스캔 한 번 불려, 현재 상태와 연관 결과 (Assigned_Flag) 에 따라 점수와 상태를 바꿉니다. 과제 2.2 규칙을 그대로 옮겼습니다.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4" name="Connector 33"/>
          <p:cNvCxnSpPr/>
          <p:nvPr/>
        </p:nvCxnSpPr>
        <p:spPr>
          <a:xfrm>
            <a:off x="5276088" y="2720339"/>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38" name="Connector 37"/>
          <p:cNvCxnSpPr/>
          <p:nvPr/>
        </p:nvCxnSpPr>
        <p:spPr>
          <a:xfrm>
            <a:off x="4727448" y="3127248"/>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2" name="Connector 41"/>
          <p:cNvCxnSpPr/>
          <p:nvPr/>
        </p:nvCxnSpPr>
        <p:spPr>
          <a:xfrm>
            <a:off x="4014216" y="3534155"/>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46" name="Connector 45"/>
          <p:cNvCxnSpPr/>
          <p:nvPr/>
        </p:nvCxnSpPr>
        <p:spPr>
          <a:xfrm>
            <a:off x="4553712" y="3941063"/>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pic>
        <p:nvPicPr>
          <p:cNvPr id="50" name="Picture 49" descr="ui_s701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
        <p:nvSpPr>
          <p:cNvPr id="51" name="TextBox 50"/>
          <p:cNvSpPr txBox="1"/>
          <p:nvPr/>
        </p:nvSpPr>
        <p:spPr>
          <a:xfrm>
            <a:off x="4892040" y="6236208"/>
            <a:ext cx="6656832" cy="228600"/>
          </a:xfrm>
          <a:prstGeom prst="rect">
            <a:avLst/>
          </a:prstGeom>
          <a:noFill/>
        </p:spPr>
        <p:txBody>
          <a:bodyPr wrap="square" lIns="0" rIns="0" tIns="0" bIns="0" anchor="t">
            <a:spAutoFit/>
          </a:bodyPr>
          <a:lstStyle/>
          <a:p>
            <a:pPr algn="l">
              <a:spcAft>
                <a:spcPts val="0"/>
              </a:spcAft>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(70.1 s) 화면. 참값 궤적, 지금까지의 플롯 · 클러터, 지금 스캔의 트랙 심볼을 한 그림에 겹쳐 그립니다.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 끌어서 회전</a:t>
            </a:r>
          </a:p>
        </p:txBody>
      </p:sp>
      <p:sp>
        <p:nvSpPr>
          <p:cNvPr id="30" name="TextBox 29"/>
          <p:cNvSpPr txBox="1"/>
          <p:nvPr/>
        </p:nvSpPr>
        <p:spPr>
          <a:xfrm>
            <a:off x="640080" y="5998464"/>
            <a:ext cx="2057400"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참값 궤적 · ○ 시작점</a:t>
            </a:r>
          </a:p>
        </p:txBody>
      </p:sp>
      <p:sp>
        <p:nvSpPr>
          <p:cNvPr id="31" name="TextBox 30"/>
          <p:cNvSpPr txBox="1"/>
          <p:nvPr/>
        </p:nvSpPr>
        <p:spPr>
          <a:xfrm>
            <a:off x="2697480" y="5998464"/>
            <a:ext cx="2414015"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 (큰 점 = 지금 스캔)</a:t>
            </a:r>
          </a:p>
        </p:txBody>
      </p:sp>
      <p:sp>
        <p:nvSpPr>
          <p:cNvPr id="32" name="TextBox 31"/>
          <p:cNvSpPr txBox="1"/>
          <p:nvPr/>
        </p:nvSpPr>
        <p:spPr>
          <a:xfrm>
            <a:off x="5111496" y="5998464"/>
            <a:ext cx="868680"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3" name="TextBox 32"/>
          <p:cNvSpPr txBox="1"/>
          <p:nvPr/>
        </p:nvSpPr>
        <p:spPr>
          <a:xfrm>
            <a:off x="5980176" y="5998464"/>
            <a:ext cx="749808"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a:t>
            </a:r>
          </a:p>
        </p:txBody>
      </p:sp>
      <p:sp>
        <p:nvSpPr>
          <p:cNvPr id="34" name="TextBox 33"/>
          <p:cNvSpPr txBox="1"/>
          <p:nvPr/>
        </p:nvSpPr>
        <p:spPr>
          <a:xfrm>
            <a:off x="6729984" y="5998464"/>
            <a:ext cx="749808" cy="237744"/>
          </a:xfrm>
          <a:prstGeom prst="rect">
            <a:avLst/>
          </a:prstGeom>
          <a:noFill/>
        </p:spPr>
        <p:txBody>
          <a:bodyPr wrap="square" lIns="0" rIns="0" tIns="0" bIns="0" anchor="t">
            <a:spAutoFit/>
          </a:bodyPr>
          <a:lstStyle/>
          <a:p>
            <a:pPr algn="l">
              <a:spcAft>
                <a:spcPts val="0"/>
              </a:spcAft>
            </a:pPr>
            <a:r>
              <a:rPr sz="1050" b="1" i="0">
                <a:solidFill>
                  <a:srgbClr val="059669"/>
                </a:solidFill>
                <a:latin typeface="맑은 고딕"/>
                <a:ea typeface="맑은 고딕"/>
              </a:rPr>
              <a:t>■ 확정</a:t>
            </a:r>
          </a:p>
        </p:txBody>
      </p:sp>
      <p:sp>
        <p:nvSpPr>
          <p:cNvPr id="35" name="TextBox 34"/>
          <p:cNvSpPr txBox="1"/>
          <p:nvPr/>
        </p:nvSpPr>
        <p:spPr>
          <a:xfrm>
            <a:off x="7479792" y="5998464"/>
            <a:ext cx="868680" cy="237744"/>
          </a:xfrm>
          <a:prstGeom prst="rect">
            <a:avLst/>
          </a:prstGeom>
          <a:noFill/>
        </p:spPr>
        <p:txBody>
          <a:bodyPr wrap="square" lIns="0" rIns="0" tIns="0" bIns="0" anchor="t">
            <a:spAutoFit/>
          </a:bodyPr>
          <a:lstStyle/>
          <a:p>
            <a:pPr algn="l">
              <a:spcAft>
                <a:spcPts val="0"/>
              </a:spcAft>
            </a:pPr>
            <a:r>
              <a:rPr sz="1050" b="1" i="0">
                <a:solidFill>
                  <a:srgbClr val="7C3AED"/>
                </a:solidFill>
                <a:latin typeface="맑은 고딕"/>
                <a:ea typeface="맑은 고딕"/>
              </a:rPr>
              <a:t>⬚ 메모리</a:t>
            </a:r>
          </a:p>
        </p:txBody>
      </p:sp>
      <p:sp>
        <p:nvSpPr>
          <p:cNvPr id="36" name="TextBox 35"/>
          <p:cNvSpPr txBox="1"/>
          <p:nvPr/>
        </p:nvSpPr>
        <p:spPr>
          <a:xfrm>
            <a:off x="8348471" y="5998464"/>
            <a:ext cx="749808"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한 스캔 확대: 트랙이 만들어지는 모습</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에서 두 표적 모두 앞 스캔 · 이번 스캔 플롯 쌍이 게이트를 통과해 임시 트랙 284, 285 가 생겼고, 스캔 699 에 만든 282, 283 은 삭제됐습니다.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2"/>
          <a:stretch>
            <a:fillRect/>
          </a:stretch>
        </p:blipFill>
        <p:spPr>
          <a:xfrm>
            <a:off x="640080" y="2212848"/>
            <a:ext cx="7223760" cy="3127360"/>
          </a:xfrm>
          <a:prstGeom prst="rect">
            <a:avLst/>
          </a:prstGeom>
        </p:spPr>
      </p:pic>
      <p:sp>
        <p:nvSpPr>
          <p:cNvPr id="27" name="TextBox 26"/>
          <p:cNvSpPr txBox="1"/>
          <p:nvPr/>
        </p:nvSpPr>
        <p:spPr>
          <a:xfrm>
            <a:off x="8366760" y="2286000"/>
            <a:ext cx="32004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같은 스캔의 트랙 표 (UI)</a:t>
            </a:r>
          </a:p>
        </p:txBody>
      </p:sp>
      <p:sp>
        <p:nvSpPr>
          <p:cNvPr id="28" name="TextBox 27"/>
          <p:cNvSpPr txBox="1"/>
          <p:nvPr/>
        </p:nvSpPr>
        <p:spPr>
          <a:xfrm>
            <a:off x="8366760" y="2578608"/>
            <a:ext cx="3200400" cy="1737360"/>
          </a:xfrm>
          <a:prstGeom prst="rect">
            <a:avLst/>
          </a:prstGeom>
          <a:noFill/>
        </p:spPr>
        <p:txBody>
          <a:bodyPr wrap="square" lIns="0" rIns="0" tIns="0" bIns="0" anchor="t">
            <a:spAutoFit/>
          </a:bodyPr>
          <a:lstStyle/>
          <a:p>
            <a:pPr algn="l">
              <a:spcAft>
                <a:spcPts val="300"/>
              </a:spcAft>
            </a:pPr>
            <a:r>
              <a:rPr sz="1050" b="0" i="0">
                <a:solidFill>
                  <a:srgbClr val="1B2740"/>
                </a:solidFill>
                <a:latin typeface="맑은 고딕"/>
                <a:ea typeface="맑은 고딕"/>
              </a:rPr>
              <a:t>284 · 285: 임시 (1), TrackScore 2</a:t>
            </a:r>
          </a:p>
          <a:p>
            <a:pPr algn="l">
              <a:spcAft>
                <a:spcPts val="300"/>
              </a:spcAft>
            </a:pPr>
            <a:r>
              <a:rPr sz="1050" b="0" i="0">
                <a:solidFill>
                  <a:srgbClr val="1B2740"/>
                </a:solidFill>
                <a:latin typeface="맑은 고딕"/>
                <a:ea typeface="맑은 고딕"/>
              </a:rPr>
              <a:t>282 · 283: 삭제 (4), TrackScore 0</a:t>
            </a:r>
          </a:p>
          <a:p>
            <a:pPr algn="l">
              <a:spcAft>
                <a:spcPts val="300"/>
              </a:spcAft>
            </a:pPr>
            <a:r>
              <a:rPr sz="1050" b="0" i="0">
                <a:solidFill>
                  <a:srgbClr val="1B2740"/>
                </a:solidFill>
                <a:latin typeface="맑은 고딕"/>
                <a:ea typeface="맑은 고딕"/>
              </a:rPr>
              <a:t>Assigned_Flag 는 모두 0</a:t>
            </a:r>
          </a:p>
          <a:p>
            <a:pPr algn="l">
              <a:spcAft>
                <a:spcPts val="0"/>
              </a:spcAft>
            </a:pPr>
            <a:r>
              <a:rPr sz="1050" b="0" i="0">
                <a:solidFill>
                  <a:srgbClr val="4A5A7A"/>
                </a:solidFill>
                <a:latin typeface="맑은 고딕"/>
                <a:ea typeface="맑은 고딕"/>
              </a:rPr>
              <a:t>트랙 위치 = 이번 플롯, 속도 = 두 플롯 차 ÷ 0.1 s</a:t>
            </a:r>
          </a:p>
        </p:txBody>
      </p:sp>
      <p:pic>
        <p:nvPicPr>
          <p:cNvPr id="29" name="Picture 28" descr="ui_crop_table.png"/>
          <p:cNvPicPr>
            <a:picLocks noChangeAspect="1"/>
          </p:cNvPicPr>
          <p:nvPr/>
        </p:nvPicPr>
        <p:blipFill>
          <a:blip r:embed="rId3"/>
          <a:stretch>
            <a:fillRect/>
          </a:stretch>
        </p:blipFill>
        <p:spPr>
          <a:xfrm>
            <a:off x="640080" y="5422392"/>
            <a:ext cx="7223760" cy="784713"/>
          </a:xfrm>
          <a:prstGeom prst="rect">
            <a:avLst/>
          </a:prstGeom>
          <a:ln w="9525">
            <a:solidFill>
              <a:srgbClr val="D2D9E5"/>
            </a:solidFill>
          </a:ln>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연관이 없어 모든 트랙이 2 → 1 → 0 으로 내려가 개시 두 스캔 뒤 삭제됩니다.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png"/>
          <p:cNvPicPr>
            <a:picLocks noChangeAspect="1"/>
          </p:cNvPicPr>
          <p:nvPr/>
        </p:nvPicPr>
        <p:blipFill>
          <a:blip r:embed="rId2"/>
          <a:stretch>
            <a:fillRect/>
          </a:stretch>
        </p:blipFill>
        <p:spPr>
          <a:xfrm>
            <a:off x="566928" y="2240280"/>
            <a:ext cx="6766560" cy="2606040"/>
          </a:xfrm>
          <a:prstGeom prst="rect">
            <a:avLst/>
          </a:prstGeom>
        </p:spPr>
      </p:pic>
      <p:sp>
        <p:nvSpPr>
          <p:cNvPr id="27" name="TextBox 26"/>
          <p:cNvSpPr txBox="1"/>
          <p:nvPr/>
        </p:nvSpPr>
        <p:spPr>
          <a:xfrm>
            <a:off x="640080" y="4937760"/>
            <a:ext cx="1600200" cy="502920"/>
          </a:xfrm>
          <a:prstGeom prst="rect">
            <a:avLst/>
          </a:prstGeom>
          <a:noFill/>
        </p:spPr>
        <p:txBody>
          <a:bodyPr wrap="square" lIns="0" rIns="0" tIns="0" bIns="0" anchor="t">
            <a:spAutoFit/>
          </a:bodyPr>
          <a:lstStyle/>
          <a:p>
            <a:pPr algn="l">
              <a:spcAft>
                <a:spcPts val="0"/>
              </a:spcAft>
            </a:pPr>
            <a:r>
              <a:rPr sz="2400" b="1" i="0">
                <a:solidFill>
                  <a:srgbClr val="1B2740"/>
                </a:solidFill>
                <a:latin typeface="Arial"/>
                <a:ea typeface="맑은 고딕"/>
              </a:rPr>
              <a:t>355</a:t>
            </a:r>
          </a:p>
        </p:txBody>
      </p:sp>
      <p:sp>
        <p:nvSpPr>
          <p:cNvPr id="28" name="TextBox 27"/>
          <p:cNvSpPr txBox="1"/>
          <p:nvPr/>
        </p:nvSpPr>
        <p:spPr>
          <a:xfrm>
            <a:off x="64008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만든 트랙</a:t>
            </a:r>
          </a:p>
        </p:txBody>
      </p:sp>
      <p:sp>
        <p:nvSpPr>
          <p:cNvPr id="29" name="TextBox 28"/>
          <p:cNvSpPr txBox="1"/>
          <p:nvPr/>
        </p:nvSpPr>
        <p:spPr>
          <a:xfrm>
            <a:off x="2331720" y="4937760"/>
            <a:ext cx="1600200" cy="502920"/>
          </a:xfrm>
          <a:prstGeom prst="rect">
            <a:avLst/>
          </a:prstGeom>
          <a:noFill/>
        </p:spPr>
        <p:txBody>
          <a:bodyPr wrap="square" lIns="0" rIns="0" tIns="0" bIns="0" anchor="t">
            <a:spAutoFit/>
          </a:bodyPr>
          <a:lstStyle/>
          <a:p>
            <a:pPr algn="l">
              <a:spcAft>
                <a:spcPts val="0"/>
              </a:spcAft>
            </a:pPr>
            <a:r>
              <a:rPr sz="2400" b="1" i="0">
                <a:solidFill>
                  <a:srgbClr val="2563EB"/>
                </a:solidFill>
                <a:latin typeface="Arial"/>
                <a:ea typeface="맑은 고딕"/>
              </a:rPr>
              <a:t>352</a:t>
            </a:r>
          </a:p>
        </p:txBody>
      </p:sp>
      <p:sp>
        <p:nvSpPr>
          <p:cNvPr id="30" name="TextBox 29"/>
          <p:cNvSpPr txBox="1"/>
          <p:nvPr/>
        </p:nvSpPr>
        <p:spPr>
          <a:xfrm>
            <a:off x="233172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같은 표적 플롯 쌍</a:t>
            </a:r>
          </a:p>
        </p:txBody>
      </p:sp>
      <p:sp>
        <p:nvSpPr>
          <p:cNvPr id="31" name="TextBox 30"/>
          <p:cNvSpPr txBox="1"/>
          <p:nvPr/>
        </p:nvSpPr>
        <p:spPr>
          <a:xfrm>
            <a:off x="4023360" y="4937760"/>
            <a:ext cx="1600200" cy="502920"/>
          </a:xfrm>
          <a:prstGeom prst="rect">
            <a:avLst/>
          </a:prstGeom>
          <a:noFill/>
        </p:spPr>
        <p:txBody>
          <a:bodyPr wrap="square" lIns="0" rIns="0" tIns="0" bIns="0" anchor="t">
            <a:spAutoFit/>
          </a:bodyPr>
          <a:lstStyle/>
          <a:p>
            <a:pPr algn="l">
              <a:spcAft>
                <a:spcPts val="0"/>
              </a:spcAft>
            </a:pPr>
            <a:r>
              <a:rPr sz="2400" b="1" i="0">
                <a:solidFill>
                  <a:srgbClr val="6B7280"/>
                </a:solidFill>
                <a:latin typeface="Arial"/>
                <a:ea typeface="맑은 고딕"/>
              </a:rPr>
              <a:t>3</a:t>
            </a:r>
          </a:p>
        </p:txBody>
      </p:sp>
      <p:sp>
        <p:nvSpPr>
          <p:cNvPr id="32" name="TextBox 31"/>
          <p:cNvSpPr txBox="1"/>
          <p:nvPr/>
        </p:nvSpPr>
        <p:spPr>
          <a:xfrm>
            <a:off x="402336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클러터끼리 쌍</a:t>
            </a:r>
          </a:p>
        </p:txBody>
      </p:sp>
      <p:sp>
        <p:nvSpPr>
          <p:cNvPr id="33" name="TextBox 32"/>
          <p:cNvSpPr txBox="1"/>
          <p:nvPr/>
        </p:nvSpPr>
        <p:spPr>
          <a:xfrm>
            <a:off x="5715000" y="4937760"/>
            <a:ext cx="1600200" cy="502920"/>
          </a:xfrm>
          <a:prstGeom prst="rect">
            <a:avLst/>
          </a:prstGeom>
          <a:noFill/>
        </p:spPr>
        <p:txBody>
          <a:bodyPr wrap="square" lIns="0" rIns="0" tIns="0" bIns="0" anchor="t">
            <a:spAutoFit/>
          </a:bodyPr>
          <a:lstStyle/>
          <a:p>
            <a:pPr algn="l">
              <a:spcAft>
                <a:spcPts val="0"/>
              </a:spcAft>
            </a:pPr>
            <a:r>
              <a:rPr sz="2400" b="1" i="0">
                <a:solidFill>
                  <a:srgbClr val="D97706"/>
                </a:solidFill>
                <a:latin typeface="Arial"/>
                <a:ea typeface="맑은 고딕"/>
              </a:rPr>
              <a:t>4</a:t>
            </a:r>
          </a:p>
        </p:txBody>
      </p:sp>
      <p:sp>
        <p:nvSpPr>
          <p:cNvPr id="34" name="TextBox 33"/>
          <p:cNvSpPr txBox="1"/>
          <p:nvPr/>
        </p:nvSpPr>
        <p:spPr>
          <a:xfrm>
            <a:off x="571500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표의 최대 트랙 수</a:t>
            </a:r>
          </a:p>
        </p:txBody>
      </p:sp>
      <p:sp>
        <p:nvSpPr>
          <p:cNvPr id="35" name="TextBox 34"/>
          <p:cNvSpPr txBox="1"/>
          <p:nvPr/>
        </p:nvSpPr>
        <p:spPr>
          <a:xfrm>
            <a:off x="640080" y="5779008"/>
            <a:ext cx="6675120"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트랙 ID 100 ~ 454 사용 (과제 범위 100 ~ 10000),  플롯 ID 10000 ~ 18119 사용 (과제 범위 10000 ~ 1000000)</a:t>
            </a:r>
          </a:p>
        </p:txBody>
      </p:sp>
      <p:pic>
        <p:nvPicPr>
          <p:cNvPr id="36" name="Picture 35"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7" name="TextBox 36"/>
          <p:cNvSpPr txBox="1"/>
          <p:nvPr/>
        </p:nvSpPr>
        <p:spPr>
          <a:xfrm>
            <a:off x="7589520" y="5514672"/>
            <a:ext cx="3959352"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스코어 확인 창: Flag 1 1 1 0 0 1 1</a:t>
            </a:r>
          </a:p>
          <a:p>
            <a:pPr algn="l">
              <a:spcAft>
                <a:spcPts val="0"/>
              </a:spcAft>
            </a:pPr>
            <a:r>
              <a:rPr sz="1000" b="0" i="0">
                <a:solidFill>
                  <a:srgbClr val="4A5A7A"/>
                </a:solidFill>
                <a:latin typeface="맑은 고딕"/>
                <a:ea typeface="맑은 고딕"/>
              </a:rPr>
              <a:t>임시 → 확정 (5) → 메모리 → 다시 확정 (MemoryScore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a:t>
            </a:r>
          </a:p>
        </p:txBody>
      </p:sp>
      <p:sp>
        <p:nvSpPr>
          <p:cNvPr id="30" name="TextBox 29"/>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1" name="TextBox 30"/>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2" name="TextBox 31"/>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3" name="TextBox 32"/>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4" name="TextBox 33"/>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5" name="TextBox 34"/>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