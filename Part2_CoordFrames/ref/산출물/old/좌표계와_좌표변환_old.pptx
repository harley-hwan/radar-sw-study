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7" d="100"/>
          <a:sy n="167" d="100"/>
        </p:scale>
        <p:origin x="3696" y="-17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62FB1-80D8-459A-8761-60CEA13F1B0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1D49C-8DA1-43FF-BC21-3A721E390A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532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46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32688"/>
            <a:ext cx="11094415" cy="0"/>
          </a:xfrm>
          <a:prstGeom prst="line">
            <a:avLst/>
          </a:prstGeom>
          <a:noFill/>
          <a:ln w="11430">
            <a:solidFill>
              <a:srgbClr val="6E7681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48640" y="11155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레이다 신호처리 · 표적 위치 산출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95728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좌표계와 좌표변환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85216" y="3584448"/>
            <a:ext cx="2340864" cy="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548640" y="37856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2D8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 함선 레이다 – 안테나 극좌표에서 위경도까지의 변환 체인 설계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02575" y="5175504"/>
            <a:ext cx="3840480" cy="0"/>
          </a:xfrm>
          <a:prstGeom prst="line">
            <a:avLst/>
          </a:prstGeom>
          <a:noFill/>
          <a:ln w="11430">
            <a:solidFill>
              <a:srgbClr val="6E7681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 txBox="1"/>
          <p:nvPr/>
        </p:nvSpPr>
        <p:spPr>
          <a:xfrm>
            <a:off x="7802575" y="53218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100" dirty="0" smtClean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r>
              <a:rPr lang="en-US" sz="110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sz="1100" dirty="0" smtClean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09.10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8638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91056"/>
            <a:ext cx="11094415" cy="0"/>
          </a:xfrm>
          <a:prstGeom prst="line">
            <a:avLst/>
          </a:prstGeom>
          <a:noFill/>
          <a:ln w="20320">
            <a:solidFill>
              <a:srgbClr val="3E465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 txBox="1"/>
          <p:nvPr/>
        </p:nvSpPr>
        <p:spPr>
          <a:xfrm>
            <a:off x="603504" y="208483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883664" y="2103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좌표변환의 기초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883664" y="250545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좌표계가 여럿인가  ·  회전과 평행이동  ·  회전행렬의 유도와 성질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545775" y="2103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54096"/>
            <a:ext cx="11094415" cy="0"/>
          </a:xfrm>
          <a:prstGeom prst="line">
            <a:avLst/>
          </a:prstGeom>
          <a:noFill/>
          <a:ln w="1016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603504" y="33832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340156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좌표계 여섯 가지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883664" y="38039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안테나(극좌표 · 직교좌표 · UV)  ·  동체(Body)  ·  INS  ·  NED / ENU  ·  ECEF / ECI  ·  LLA  ·  변환 체인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45775" y="3401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11094415" cy="0"/>
          </a:xfrm>
          <a:prstGeom prst="line">
            <a:avLst/>
          </a:prstGeom>
          <a:noFill/>
          <a:ln w="1016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03504" y="46817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883664" y="470001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설계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883664" y="510235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조건  ·  단계별 좌표계 선정  ·  안테나 → 동체 → 로컬  ·  로컬 → ECEF → 위경도  ·  역변환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545775" y="4700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17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32888" y="566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64408" y="749808"/>
            <a:ext cx="9601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224528" y="749808"/>
            <a:ext cx="7400239" cy="0"/>
          </a:xfrm>
          <a:prstGeom prst="line">
            <a:avLst/>
          </a:prstGeom>
          <a:noFill/>
          <a:ln w="11430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274320" y="3017520"/>
            <a:ext cx="3675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좌표변환의 기초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6419088"/>
            <a:ext cx="7967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01768" y="25420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797296" y="254203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좌표계가 여럿인가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01768" y="3493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797296" y="349300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좌표변환의 기본 동작 – 회전과 평행이동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01768" y="44439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5797296" y="444398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회전행렬의 유도와 성질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00. 왜 좌표계가 여럿인가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물체를 두 사람이 본다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2834640" cy="2834640"/>
          </a:xfrm>
          <a:prstGeom prst="pie">
            <a:avLst>
              <a:gd name="adj1" fmla="val -2520000"/>
              <a:gd name="adj2" fmla="val 2640000"/>
            </a:avLst>
          </a:prstGeom>
          <a:solidFill>
            <a:srgbClr val="E6E6E6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1435608"/>
            <a:ext cx="2651760" cy="2651760"/>
          </a:xfrm>
          <a:prstGeom prst="pie">
            <a:avLst>
              <a:gd name="adj1" fmla="val 7920000"/>
              <a:gd name="adj2" fmla="val 13080000"/>
            </a:avLst>
          </a:prstGeom>
          <a:solidFill>
            <a:srgbClr val="E6E6E6"/>
          </a:solidFill>
          <a:ln/>
        </p:spPr>
      </p:sp>
      <p:sp>
        <p:nvSpPr>
          <p:cNvPr id="12" name="Shape 10"/>
          <p:cNvSpPr/>
          <p:nvPr/>
        </p:nvSpPr>
        <p:spPr>
          <a:xfrm rot="5400000">
            <a:off x="1490472" y="3209544"/>
            <a:ext cx="310896" cy="384048"/>
          </a:xfrm>
          <a:prstGeom prst="triangle">
            <a:avLst/>
          </a:prstGeom>
          <a:solidFill>
            <a:srgbClr val="FFFFFF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6212" y="3268980"/>
            <a:ext cx="265176" cy="26517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926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관측자 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16200000">
            <a:off x="5888736" y="2569464"/>
            <a:ext cx="310896" cy="384048"/>
          </a:xfrm>
          <a:prstGeom prst="triangle">
            <a:avLst/>
          </a:prstGeom>
          <a:solidFill>
            <a:srgbClr val="FFFFFF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9572" y="2628900"/>
            <a:ext cx="265176" cy="26517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22585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관측자 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78992" y="2450592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245059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오른쪽에 있는데.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38928" y="182880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38928" y="18288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왼쪽에 있는데?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20824" y="3401568"/>
            <a:ext cx="1335024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410712" y="33832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rot="785514">
            <a:off x="2005085" y="3538728"/>
            <a:ext cx="1211054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rot="5595000">
            <a:off x="2837464" y="3450737"/>
            <a:ext cx="9849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rot="5985000">
            <a:off x="2826332" y="3548442"/>
            <a:ext cx="9849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 txBox="1"/>
          <p:nvPr/>
        </p:nvSpPr>
        <p:spPr>
          <a:xfrm>
            <a:off x="2441448" y="3712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21°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 rot="10100442">
            <a:off x="4495855" y="2953512"/>
            <a:ext cx="1176417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325112" y="3017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rot="8555679">
            <a:off x="4606722" y="3191256"/>
            <a:ext cx="1174141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 rot="-5870000">
            <a:off x="4826012" y="2941535"/>
            <a:ext cx="11427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 rot="-5370000">
            <a:off x="4818723" y="2827796"/>
            <a:ext cx="11427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rot="-4870000">
            <a:off x="4827996" y="2714201"/>
            <a:ext cx="11427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 rot="-4370000">
            <a:off x="4853634" y="2603150"/>
            <a:ext cx="11427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rot="-3870000">
            <a:off x="4895096" y="2496988"/>
            <a:ext cx="11427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 rot="-3370000">
            <a:off x="4951507" y="2397955"/>
            <a:ext cx="11427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 txBox="1"/>
          <p:nvPr/>
        </p:nvSpPr>
        <p:spPr>
          <a:xfrm>
            <a:off x="4233672" y="3328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29°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 rot="1370019">
            <a:off x="1943091" y="4078224"/>
            <a:ext cx="2450609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ysDot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rot="7521748">
            <a:off x="4388819" y="3790188"/>
            <a:ext cx="1737961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ysDot"/>
            <a:headEnd type="none"/>
            <a:tailEnd type="none"/>
          </a:ln>
        </p:spPr>
      </p:sp>
      <p:sp>
        <p:nvSpPr>
          <p:cNvPr id="40" name="Text 38"/>
          <p:cNvSpPr txBox="1"/>
          <p:nvPr/>
        </p:nvSpPr>
        <p:spPr>
          <a:xfrm>
            <a:off x="2788920" y="4224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m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230368" y="39502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06824" y="4443984"/>
            <a:ext cx="384048" cy="329184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813048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 하나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42048" y="1755648"/>
            <a:ext cx="4160520" cy="1481328"/>
          </a:xfrm>
          <a:prstGeom prst="roundRect">
            <a:avLst>
              <a:gd name="adj" fmla="val 3086"/>
            </a:avLst>
          </a:prstGeom>
          <a:solidFill>
            <a:srgbClr val="DCDCD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498080" y="1956816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관측자 A 가 말하면</a:t>
            </a:r>
            <a:endParaRPr lang="en-US" sz="150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오른쪽에 있는데."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오른쪽으로 21도, 9 m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242048" y="3401568"/>
            <a:ext cx="4160520" cy="1481328"/>
          </a:xfrm>
          <a:prstGeom prst="roundRect">
            <a:avLst>
              <a:gd name="adj" fmla="val 3086"/>
            </a:avLst>
          </a:prstGeom>
          <a:solidFill>
            <a:srgbClr val="DCDCD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498080" y="3602736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관측자 B 가 말하면</a:t>
            </a:r>
            <a:endParaRPr lang="en-US" sz="150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 왼쪽에 있는데 ?"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왼쪽으로 29도, 7 m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786384" y="5074920"/>
            <a:ext cx="10607040" cy="786384"/>
          </a:xfrm>
          <a:prstGeom prst="roundRect">
            <a:avLst>
              <a:gd name="adj" fmla="val 5814"/>
            </a:avLst>
          </a:prstGeom>
          <a:solidFill>
            <a:srgbClr val="E7E7E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005840" y="523036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것은 두 가지뿐이다 – 어디에 서서 재는가 (원점), 어디를 보고 재는가 (축)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좌표계란 그 둘을 미리 정해 놓은 약속이고, 기준이 다른 두 좌표계의 숫자를 서로 옮겨 주는 계산이 좌표변환이다.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00. 좌표변환의 기본 동작 – 회전과 평행이동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rot="5400000">
            <a:off x="4700016" y="2743200"/>
            <a:ext cx="2779776" cy="0"/>
          </a:xfrm>
          <a:prstGeom prst="line">
            <a:avLst/>
          </a:prstGeom>
          <a:noFill/>
          <a:ln w="11430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932688" y="1371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회전 (rotation) — 기준 방향이 다를 때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좌표계의 축이 어긋난 만큼 θ 돌려서 맞춘다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017520" y="3675888"/>
            <a:ext cx="1627632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 rot="-5400000">
            <a:off x="2322576" y="2980944"/>
            <a:ext cx="138988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 rot="-2109251">
            <a:off x="2872689" y="3218688"/>
            <a:ext cx="158811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 rot="-7509251">
            <a:off x="1766265" y="3026664"/>
            <a:ext cx="158811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 rot="3562500">
            <a:off x="3775221" y="3183567"/>
            <a:ext cx="14787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rot="4087500">
            <a:off x="3840436" y="3315809"/>
            <a:ext cx="14787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rot="4612500">
            <a:off x="3884774" y="3456432"/>
            <a:ext cx="14787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rot="5137500">
            <a:off x="3907204" y="3602164"/>
            <a:ext cx="14787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4718304" y="36576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980944" y="21031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370832" y="26334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901952" y="2286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y'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34198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240280" y="3822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원점은 같다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1371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평행이동 (translation) — 기준 점이 다를 때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좌표계의 원점이 떨어진 만큼 t 옮겨서 맞춘다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 rot="-5400000">
            <a:off x="6702552" y="3172968"/>
            <a:ext cx="1078992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242048" y="3712464"/>
            <a:ext cx="109728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 rot="-5400000">
            <a:off x="8906256" y="2761488"/>
            <a:ext cx="109728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54896" y="3310128"/>
            <a:ext cx="120700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 rot="-598017">
            <a:off x="7225304" y="3520440"/>
            <a:ext cx="2218904" cy="0"/>
          </a:xfrm>
          <a:prstGeom prst="line">
            <a:avLst/>
          </a:prstGeom>
          <a:noFill/>
          <a:ln w="17145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196328" y="24505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369417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409176" y="2029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y'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735056" y="32918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334670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931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축방향은 같다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" y="4352544"/>
            <a:ext cx="4882896" cy="676656"/>
          </a:xfrm>
          <a:prstGeom prst="roundRect">
            <a:avLst>
              <a:gd name="adj" fmla="val 8108"/>
            </a:avLst>
          </a:prstGeom>
          <a:solidFill>
            <a:srgbClr val="8E8E8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115568" y="445312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회전 – 방향만 바꾼다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길이도 각도도 변하지 않는다. 축을 돌려 다시 읽을 뿐이다.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91656" y="4352544"/>
            <a:ext cx="4882896" cy="676656"/>
          </a:xfrm>
          <a:prstGeom prst="roundRect">
            <a:avLst>
              <a:gd name="adj" fmla="val 8108"/>
            </a:avLst>
          </a:prstGeom>
          <a:solidFill>
            <a:srgbClr val="8E8E8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92824" y="445312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평행이동 – 자리만 옮긴다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방향은 그대로다. 원점 사이의 차이를 벡터 하나로 더하거나 뺀다.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14400" y="5157216"/>
            <a:ext cx="10360152" cy="713232"/>
          </a:xfrm>
          <a:prstGeom prst="roundRect">
            <a:avLst>
              <a:gd name="adj" fmla="val 6410"/>
            </a:avLst>
          </a:prstGeom>
          <a:solidFill>
            <a:srgbClr val="DCDCD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97280" y="5294376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좌표   =   R   ·   기존 좌표   +   t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회전행렬 (3 x 3) ·  t 평행이동 (3 x 1).    모든 단계는 이 두 개로 동작한다.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00. 회전행렬의 유도와 성질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삼각함수 덧셈정리 한 줄에서 나온다.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207008" y="4315968"/>
            <a:ext cx="1572768" cy="0"/>
          </a:xfrm>
          <a:prstGeom prst="line">
            <a:avLst/>
          </a:prstGeom>
          <a:noFill/>
          <a:ln w="14605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 rot="-5400000">
            <a:off x="164592" y="3273552"/>
            <a:ext cx="2084832" cy="0"/>
          </a:xfrm>
          <a:prstGeom prst="line">
            <a:avLst/>
          </a:prstGeom>
          <a:noFill/>
          <a:ln w="14605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834640" y="42976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0482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-1529853">
            <a:off x="1142873" y="4032504"/>
            <a:ext cx="131699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 rot="-3705016">
            <a:off x="840707" y="3703320"/>
            <a:ext cx="139097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dash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354580" y="3707892"/>
            <a:ext cx="82296" cy="8229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4228" y="3049524"/>
            <a:ext cx="82296" cy="8229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42416" y="2907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P'(x', y')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450592" y="3767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(x, y)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4150000">
            <a:off x="1639263" y="4137577"/>
            <a:ext cx="7308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rot="4650000">
            <a:off x="1660168" y="4207404"/>
            <a:ext cx="7308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rot="5150000">
            <a:off x="1670732" y="4279523"/>
            <a:ext cx="7308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rot="1902000">
            <a:off x="1619080" y="3555135"/>
            <a:ext cx="1156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 rot="2346000">
            <a:off x="1713158" y="3621993"/>
            <a:ext cx="1156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rot="2790000">
            <a:off x="1797842" y="3700411"/>
            <a:ext cx="1156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rot="3234000">
            <a:off x="1871720" y="3789083"/>
            <a:ext cx="1156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rot="3678000">
            <a:off x="1933563" y="3886531"/>
            <a:ext cx="1156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1609344" y="416966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773936" y="34198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rot="10800000">
            <a:off x="1207008" y="3749040"/>
            <a:ext cx="1188720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 rot="5400000">
            <a:off x="2112264" y="4032504"/>
            <a:ext cx="566928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 rot="10800000">
            <a:off x="1207008" y="3090672"/>
            <a:ext cx="658368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rot="5400000">
            <a:off x="1252728" y="3703320"/>
            <a:ext cx="1225296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34" name="Text 32"/>
          <p:cNvSpPr txBox="1"/>
          <p:nvPr/>
        </p:nvSpPr>
        <p:spPr>
          <a:xfrm>
            <a:off x="3035808" y="1883664"/>
            <a:ext cx="4114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점을 극좌표로 쓰면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= r·cos α ,   y = r·sin α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θ 만큼 더 돌리면 각이 α+θ 가 되므로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x' = r·cos(α+θ) = r·cosα·cosθ − r·sinα·sinθ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y' = r·sin(α+θ) = r·sinα·cosθ + r·cosα·sinθ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r·cosα = x,  r·sin α = y 를 되돌려 넣으면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x' = x·cos θ − y·sin θ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y' = x·sin θ + y·cos θ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두 줄을 표로 적은 것이 Rz(θ) 다.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33488" y="1755648"/>
            <a:ext cx="4041648" cy="3968496"/>
          </a:xfrm>
          <a:prstGeom prst="roundRect">
            <a:avLst>
              <a:gd name="adj" fmla="val 1152"/>
            </a:avLst>
          </a:prstGeom>
          <a:solidFill>
            <a:srgbClr val="DCDCD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33488" y="1883664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축 둘레의 회전행렬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607808" y="2304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Rz(θ) — z 축 둘레 (yaw)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882128" y="257860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cos θ    −sin θ      0 ]</a:t>
            </a:r>
            <a:endParaRPr lang="en-US" sz="11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sin θ     cos θ      0 ]</a:t>
            </a:r>
            <a:endParaRPr lang="en-US" sz="11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0         0        1 ]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07808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Ry(θ) — y 축 둘레 (pitch)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882128" y="373075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cos θ      0     sin θ ]</a:t>
            </a:r>
            <a:endParaRPr lang="en-US" sz="11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0        1       0   ]</a:t>
            </a:r>
            <a:endParaRPr lang="en-US" sz="11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−sin θ     0     cos θ ]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607808" y="4608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Rx(θ) — x 축 둘레 (roll)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7882128" y="488289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1        0       0   ]</a:t>
            </a:r>
            <a:endParaRPr lang="en-US" sz="11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0     cos θ   −sin θ ]</a:t>
            </a:r>
            <a:endParaRPr lang="en-US" sz="11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0     sin θ    cos θ 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32888" y="566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64408" y="749808"/>
            <a:ext cx="9601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224528" y="749808"/>
            <a:ext cx="7400239" cy="0"/>
          </a:xfrm>
          <a:prstGeom prst="line">
            <a:avLst/>
          </a:prstGeom>
          <a:noFill/>
          <a:ln w="11430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274320" y="3017520"/>
            <a:ext cx="3675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좌표계 여섯 가지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6419088"/>
            <a:ext cx="7967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01768" y="1481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797296" y="148132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 좌표계 – 극좌표 · 직교좌표 · UV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01768" y="21762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797296" y="21762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동체(Body) 좌표계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01768" y="28712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5797296" y="287121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 좌표계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001768" y="35661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797296" y="35661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NED / ENU 국지수평 좌표계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01768" y="42611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5797296" y="426110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/ ECI 지구 중심 좌표계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01768" y="49560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5797296" y="495604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 측지 좌표계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001768" y="5650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5797296" y="565099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 체인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안테나 좌표계 ① 극좌표(Polar)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레이다가 물리적으로 잴 수 있는 것 – 거리 하나와 각도 둘. 기준은 안테나 자기 정면(보어사이트).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 rot="5400000">
            <a:off x="2816352" y="3493008"/>
            <a:ext cx="3364992" cy="0"/>
          </a:xfrm>
          <a:prstGeom prst="line">
            <a:avLst/>
          </a:prstGeom>
          <a:noFill/>
          <a:ln w="11430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 txBox="1"/>
          <p:nvPr/>
        </p:nvSpPr>
        <p:spPr>
          <a:xfrm>
            <a:off x="96012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안테나 – 방위각 Az(Azimuth)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5400000">
            <a:off x="1389888" y="3639312"/>
            <a:ext cx="310896" cy="548640"/>
          </a:xfrm>
          <a:prstGeom prst="trapezoid">
            <a:avLst/>
          </a:prstGeom>
          <a:solidFill>
            <a:srgbClr val="B4B4B4"/>
          </a:solidFill>
          <a:ln/>
        </p:spPr>
      </p:sp>
      <p:sp>
        <p:nvSpPr>
          <p:cNvPr id="13" name="Shape 11"/>
          <p:cNvSpPr/>
          <p:nvPr/>
        </p:nvSpPr>
        <p:spPr>
          <a:xfrm>
            <a:off x="1664208" y="3346704"/>
            <a:ext cx="137160" cy="1133856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" y="3694176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레이다</a:t>
            </a:r>
            <a:endParaRPr lang="en-US" sz="95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10512" y="3913632"/>
            <a:ext cx="192024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496312" y="40965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보어사이트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rot="-5400000">
            <a:off x="1033272" y="3136392"/>
            <a:ext cx="155448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901952" y="2231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왼쪽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rot="-1713950">
            <a:off x="1696446" y="3465576"/>
            <a:ext cx="1874052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596896" y="33101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3930000">
            <a:off x="2430267" y="3610841"/>
            <a:ext cx="8931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rot="4350000">
            <a:off x="2462216" y="3694070"/>
            <a:ext cx="8931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rot="4770000">
            <a:off x="2483783" y="3780572"/>
            <a:ext cx="8931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 rot="5190000">
            <a:off x="2494647" y="3869057"/>
            <a:ext cx="8931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2432304" y="3657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61004" y="2930652"/>
            <a:ext cx="100584" cy="10058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91840" y="2743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본 안테나 – 고각 El(Elevation)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541264" y="3346704"/>
            <a:ext cx="137160" cy="1133856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30" name="Shape 28"/>
          <p:cNvSpPr/>
          <p:nvPr/>
        </p:nvSpPr>
        <p:spPr>
          <a:xfrm>
            <a:off x="5193792" y="3456432"/>
            <a:ext cx="347472" cy="566928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31" name="Shape 29"/>
          <p:cNvSpPr/>
          <p:nvPr/>
        </p:nvSpPr>
        <p:spPr>
          <a:xfrm>
            <a:off x="5303520" y="4023360"/>
            <a:ext cx="146304" cy="658368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32" name="Shape 30"/>
          <p:cNvSpPr/>
          <p:nvPr/>
        </p:nvSpPr>
        <p:spPr>
          <a:xfrm>
            <a:off x="4901184" y="4681728"/>
            <a:ext cx="950976" cy="11887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33" name="Shape 31"/>
          <p:cNvSpPr/>
          <p:nvPr/>
        </p:nvSpPr>
        <p:spPr>
          <a:xfrm>
            <a:off x="4773168" y="4818888"/>
            <a:ext cx="123444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ysDot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5687568" y="3913632"/>
            <a:ext cx="192024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6327648" y="4096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보어사이트 (수평)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 rot="-5400000">
            <a:off x="4910328" y="3136392"/>
            <a:ext cx="155448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779008" y="22311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위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 rot="-1840136">
            <a:off x="5559689" y="3447288"/>
            <a:ext cx="1828526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6419088" y="327355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rot="3825000">
            <a:off x="6339912" y="3566568"/>
            <a:ext cx="10286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rot="4275000">
            <a:off x="6379192" y="3661398"/>
            <a:ext cx="10286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 rot="4725000">
            <a:off x="6405759" y="3760545"/>
            <a:ext cx="10286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 rot="5175000">
            <a:off x="6419156" y="3862310"/>
            <a:ext cx="10286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 txBox="1"/>
          <p:nvPr/>
        </p:nvSpPr>
        <p:spPr>
          <a:xfrm>
            <a:off x="6364224" y="3639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64908" y="2894076"/>
            <a:ext cx="100584" cy="10058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095744" y="27066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973568" y="1755648"/>
            <a:ext cx="3401568" cy="3675888"/>
          </a:xfrm>
          <a:prstGeom prst="roundRect">
            <a:avLst>
              <a:gd name="adj" fmla="val 1344"/>
            </a:avLst>
          </a:prstGeom>
          <a:solidFill>
            <a:srgbClr val="DCDCD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229600" y="190195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성분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2395728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시선거리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Range · 전파 왕복시간 × c ÷ 2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229600" y="3127248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방위각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Azimuth · 보어사이트에서 왼쪽(반시계)으로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229600" y="3858768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 고각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Elevation · 수평면에서 위로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229600" y="4590288"/>
            <a:ext cx="2889504" cy="566928"/>
          </a:xfrm>
          <a:prstGeom prst="roundRect">
            <a:avLst>
              <a:gd name="adj" fmla="val 12903"/>
            </a:avLst>
          </a:prstGeom>
          <a:solidFill>
            <a:srgbClr val="8E8E8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229600" y="459028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km  /  30°  /  0°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914400" y="54132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보어사이트 = 안테나가 똑바로 바라보는 방향. 안테나 신호가 가장 세게 나가고 들어오는 한가운데 방향.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안테나 좌표계 ② 직교좌표(Cartesian)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표적을 각도 대신 서로 직각인 세 축 방향 거리(x, y, z)로 적은 것.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1883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보어사이트 · x 왼쪽 · y 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10800000">
            <a:off x="1234440" y="3127248"/>
            <a:ext cx="5577840" cy="1975104"/>
          </a:xfrm>
          <a:prstGeom prst="parallelogram">
            <a:avLst/>
          </a:prstGeom>
          <a:solidFill>
            <a:srgbClr val="EAEAEA"/>
          </a:solidFill>
          <a:ln w="10160">
            <a:solidFill>
              <a:srgbClr val="C4C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4828032"/>
            <a:ext cx="33832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437376" y="4809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z축 (보어사이트)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rot="-8100000">
            <a:off x="1166960" y="4069080"/>
            <a:ext cx="214664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170432" y="30540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x축 (왼쪽)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rot="-5400000">
            <a:off x="2423160" y="4251960"/>
            <a:ext cx="1152144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212848" y="3712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y축 (위)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99232" y="4828032"/>
            <a:ext cx="2578608" cy="0"/>
          </a:xfrm>
          <a:prstGeom prst="line">
            <a:avLst/>
          </a:prstGeom>
          <a:noFill/>
          <a:ln w="2032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rot="-7956843">
            <a:off x="4535962" y="4370832"/>
            <a:ext cx="1242508" cy="0"/>
          </a:xfrm>
          <a:prstGeom prst="line">
            <a:avLst/>
          </a:prstGeom>
          <a:noFill/>
          <a:ln w="2032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-1665512">
            <a:off x="2886262" y="4370832"/>
            <a:ext cx="1963300" cy="0"/>
          </a:xfrm>
          <a:prstGeom prst="line">
            <a:avLst/>
          </a:prstGeom>
          <a:noFill/>
          <a:ln w="2032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rot="-3205059">
            <a:off x="2410340" y="3657600"/>
            <a:ext cx="2915144" cy="0"/>
          </a:xfrm>
          <a:prstGeom prst="line">
            <a:avLst/>
          </a:prstGeom>
          <a:noFill/>
          <a:ln w="1778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rot="-5400000">
            <a:off x="4023360" y="3200400"/>
            <a:ext cx="1426464" cy="0"/>
          </a:xfrm>
          <a:prstGeom prst="line">
            <a:avLst/>
          </a:prstGeom>
          <a:noFill/>
          <a:ln w="20320">
            <a:solidFill>
              <a:srgbClr val="333333"/>
            </a:solidFill>
            <a:prstDash val="dash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rot="1200000">
            <a:off x="5266944" y="4645152"/>
            <a:ext cx="164592" cy="164592"/>
          </a:xfrm>
          <a:prstGeom prst="rect">
            <a:avLst/>
          </a:prstGeom>
          <a:ln w="1143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739896"/>
            <a:ext cx="155448" cy="155448"/>
          </a:xfrm>
          <a:prstGeom prst="rect">
            <a:avLst/>
          </a:prstGeom>
          <a:ln w="1143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5152" y="2395728"/>
            <a:ext cx="182880" cy="1828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79392" y="2176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584448" y="367588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828032" y="3035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sin(El)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864608" y="33101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y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712464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cos(El)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358384" y="426110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041648" y="504748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 rot="2780000">
            <a:off x="3752113" y="4046472"/>
            <a:ext cx="1318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 rot="3180000">
            <a:off x="3837310" y="4146815"/>
            <a:ext cx="1318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rot="3580000">
            <a:off x="3910282" y="4256370"/>
            <a:ext cx="1318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 txBox="1"/>
          <p:nvPr/>
        </p:nvSpPr>
        <p:spPr>
          <a:xfrm>
            <a:off x="3968496" y="3584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El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rot="4400000">
            <a:off x="3836995" y="4560987"/>
            <a:ext cx="10846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 rot="4800000">
            <a:off x="3861965" y="4666346"/>
            <a:ext cx="10846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rot="5200000">
            <a:off x="3874536" y="4773893"/>
            <a:ext cx="10846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 txBox="1"/>
          <p:nvPr/>
        </p:nvSpPr>
        <p:spPr>
          <a:xfrm>
            <a:off x="3639312" y="4553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Az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961888" y="51206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수평면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589520" y="1755648"/>
            <a:ext cx="3749040" cy="1371600"/>
          </a:xfrm>
          <a:prstGeom prst="roundRect">
            <a:avLst>
              <a:gd name="adj" fmla="val 3333"/>
            </a:avLst>
          </a:prstGeom>
          <a:solidFill>
            <a:srgbClr val="DCDCD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845552" y="190195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직교좌표로 바꾸나</a:t>
            </a:r>
            <a:endParaRPr lang="en-US" sz="14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극좌표끼리는 회전을 합성할 수 없다.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회전행렬은 벡터에만 곱할 수 있다.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589520" y="3310128"/>
            <a:ext cx="3749040" cy="2029968"/>
          </a:xfrm>
          <a:prstGeom prst="roundRect">
            <a:avLst>
              <a:gd name="adj" fmla="val 2252"/>
            </a:avLst>
          </a:prstGeom>
          <a:solidFill>
            <a:srgbClr val="DCDCD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845552" y="3493008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</a:t>
            </a:r>
            <a:endParaRPr lang="en-US" sz="1400" dirty="0"/>
          </a:p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 =  R  ×  cos(El)  ×  sin (Az)</a:t>
            </a:r>
            <a:endParaRPr lang="en-US" sz="1400" dirty="0"/>
          </a:p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 =  R  ×  sin(El)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 =  R  ×  cos(El)  ×  cos(Az)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14400" y="5468112"/>
            <a:ext cx="10360152" cy="420624"/>
          </a:xfrm>
          <a:prstGeom prst="roundRect">
            <a:avLst>
              <a:gd name="adj" fmla="val 10870"/>
            </a:avLst>
          </a:prstGeom>
          <a:solidFill>
            <a:srgbClr val="E7E7E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115568" y="546811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예제값   R = 20,000 m · Az = 30° · El = 0°   →   x = +10,000.0000 m,    y = 0.0000 m,    z = +17,320.5081 m ( = 10,000√3 ),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안테나 좌표계 ③ UV(방향코사인)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방향을 길이 1인 화살표로 보고, 그 화살표를 안테나 세 축에 나눠 담은 값이다.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792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1 화살표를 세 축에 나눠 담기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El 로 위아래를 떼고  →  ② 남은 cos(El) 을 Az 로 나눈다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-1437749">
            <a:off x="1118862" y="2670048"/>
            <a:ext cx="1621043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 rot="5400000">
            <a:off x="2340864" y="2670048"/>
            <a:ext cx="65836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188720" y="2999232"/>
            <a:ext cx="148132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670048" y="2999232"/>
            <a:ext cx="822960" cy="0"/>
          </a:xfrm>
          <a:prstGeom prst="line">
            <a:avLst/>
          </a:prstGeom>
          <a:noFill/>
          <a:ln w="11430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rot="4200000">
            <a:off x="1601276" y="2837002"/>
            <a:ext cx="66337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rot="4680000">
            <a:off x="1619516" y="2900613"/>
            <a:ext cx="66337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rot="5160000">
            <a:off x="1628726" y="2966144"/>
            <a:ext cx="66337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1444752" y="24323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1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2615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 = sin(El)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591056" y="3090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cos(El)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29809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수평면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188720" y="3950208"/>
            <a:ext cx="1481328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 rot="5400000">
            <a:off x="2276856" y="4343400"/>
            <a:ext cx="786384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rot="1677734">
            <a:off x="1090824" y="4343400"/>
            <a:ext cx="167712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670048" y="3950208"/>
            <a:ext cx="822960" cy="0"/>
          </a:xfrm>
          <a:prstGeom prst="line">
            <a:avLst/>
          </a:prstGeom>
          <a:noFill/>
          <a:ln w="11430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rot="5610000">
            <a:off x="1667615" y="3981410"/>
            <a:ext cx="6252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 rot="6030000">
            <a:off x="1660010" y="4043350"/>
            <a:ext cx="6252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 rot="6450000">
            <a:off x="1644912" y="4103901"/>
            <a:ext cx="6252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 rot="6870000">
            <a:off x="1622549" y="4162161"/>
            <a:ext cx="6252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1280160" y="37307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 = cos(El)·cos(Az)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4133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743200" y="43342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 = cos(El)·sin(Az)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517904" y="47365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cos(El)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072384" y="3931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보어사이트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864608" y="17922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 면에서 본 u – v 평면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(u, v) 는 표적 방향의 그림자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02352" y="2505456"/>
            <a:ext cx="2340864" cy="2340864"/>
          </a:xfrm>
          <a:prstGeom prst="ellipse">
            <a:avLst/>
          </a:prstGeom>
          <a:solidFill>
            <a:srgbClr val="E9E9E9"/>
          </a:solidFill>
          <a:ln w="13970">
            <a:solidFill>
              <a:srgbClr val="5A5A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87568" y="3090672"/>
            <a:ext cx="1170432" cy="1170432"/>
          </a:xfrm>
          <a:prstGeom prst="ellipse">
            <a:avLst/>
          </a:prstGeom>
          <a:ln w="10160">
            <a:solidFill>
              <a:srgbClr val="A8A8A8"/>
            </a:solidFill>
            <a:prstDash val="sysDot"/>
          </a:ln>
        </p:spPr>
      </p:sp>
      <p:sp>
        <p:nvSpPr>
          <p:cNvPr id="39" name="Shape 37"/>
          <p:cNvSpPr/>
          <p:nvPr/>
        </p:nvSpPr>
        <p:spPr>
          <a:xfrm>
            <a:off x="5259190" y="2662294"/>
            <a:ext cx="2027188" cy="2027188"/>
          </a:xfrm>
          <a:prstGeom prst="ellipse">
            <a:avLst/>
          </a:prstGeom>
          <a:ln w="10160">
            <a:solidFill>
              <a:srgbClr val="A8A8A8"/>
            </a:solidFill>
            <a:prstDash val="sysDot"/>
          </a:ln>
        </p:spPr>
      </p:sp>
      <p:sp>
        <p:nvSpPr>
          <p:cNvPr id="40" name="Shape 38"/>
          <p:cNvSpPr/>
          <p:nvPr/>
        </p:nvSpPr>
        <p:spPr>
          <a:xfrm>
            <a:off x="6272784" y="3675888"/>
            <a:ext cx="1426464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 rot="-5400000">
            <a:off x="5559552" y="2962656"/>
            <a:ext cx="1426464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7754112" y="36576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236208" y="208483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89420" y="3607308"/>
            <a:ext cx="137160" cy="137160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45" name="Shape 43"/>
          <p:cNvSpPr/>
          <p:nvPr/>
        </p:nvSpPr>
        <p:spPr>
          <a:xfrm>
            <a:off x="6217920" y="3621024"/>
            <a:ext cx="109728" cy="109728"/>
          </a:xfrm>
          <a:prstGeom prst="ellipse">
            <a:avLst/>
          </a:prstGeom>
          <a:ln w="11430">
            <a:solidFill>
              <a:srgbClr val="3A3A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31536" y="2926080"/>
            <a:ext cx="365760" cy="365760"/>
          </a:xfrm>
          <a:prstGeom prst="ellipse">
            <a:avLst/>
          </a:prstGeom>
          <a:ln w="10160">
            <a:solidFill>
              <a:srgbClr val="777777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5212080" y="27432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격자로브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5541264" y="3072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0" y="40599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6400800" y="45537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5212080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u = 0.500, v = 0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4553712" y="49011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u² + v² ≤ 1 — 이 원 밖으로는 빔을 못 만든다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960120" y="5102352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 = cos(El) · sin(Az)      v = sin(El)      w = cos(El) · cos(Az)</a:t>
            </a:r>
            <a:endParaRPr lang="en-US" sz="1250" dirty="0"/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성분을 제곱해 더하면 1 이 된다 — 길이 1 인 화살표를 나눠 담은 것이므로.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성분은 그 축과 이루는 각의 코사인이라 '방향코사인' 이라 부른다. u, v 는 약자가 아니라 성분의 이름이다.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882128" y="1755648"/>
            <a:ext cx="3474720" cy="3675888"/>
          </a:xfrm>
          <a:prstGeom prst="roundRect">
            <a:avLst>
              <a:gd name="adj" fmla="val 1316"/>
            </a:avLst>
          </a:prstGeom>
          <a:solidFill>
            <a:srgbClr val="DCDCD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119872" y="190195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UV 를 쓰나</a:t>
            </a:r>
            <a:endParaRPr lang="en-US" sz="1400" dirty="0"/>
          </a:p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현대 레이다는 대부분 위상배열이다.</a:t>
            </a:r>
            <a:endParaRPr lang="en-US" sz="1400" dirty="0"/>
          </a:p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수백 ~ 수천 개 소자에 위상차를 줘서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빔 방향을 전자적으로 바꾼다.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8156448" y="3145536"/>
            <a:ext cx="292608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156448" y="314553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-k(m · d · u + n · d · v)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8193024" y="378561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소자 번호에 u, v 를 곱하기만 하면 된다.</a:t>
            </a:r>
            <a:endParaRPr lang="en-US" sz="90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(Az, El) 로는 이렇게 단순해지지 않는다.</a:t>
            </a:r>
            <a:endParaRPr lang="en-US" sz="90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되돌릴 때는 asin 대신 atan2 를 쓴다.</a:t>
            </a:r>
            <a:endParaRPr lang="en-US" sz="90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= atan2(u,w)</a:t>
            </a:r>
            <a:endParaRPr lang="en-US" sz="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 = atan2(v, √(u²+w²))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914400" y="570585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UV 에는 거리가 없다 → 방향만 담는 표현이라, 표적 위치를 옮기는 이번 변환에는 들어가지 않는다.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동체(Body) 좌표계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133502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동체(Body) 좌표계 = FRD</a:t>
            </a:r>
            <a:endParaRPr lang="en-US" sz="1250" dirty="0"/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FRD = Forward-Right-Down.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원점은 무게중심. 세 축은 배에 붙어 함께 움직인다.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3350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방위 · 백틸트 · 레버암 – 이 셋이 안테나 → 동체 변환의 전부다.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5400000">
            <a:off x="2322576" y="3090672"/>
            <a:ext cx="2706624" cy="0"/>
          </a:xfrm>
          <a:prstGeom prst="line">
            <a:avLst/>
          </a:prstGeom>
          <a:noFill/>
          <a:ln w="11430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rot="5400000">
            <a:off x="6492240" y="3090672"/>
            <a:ext cx="2706624" cy="0"/>
          </a:xfrm>
          <a:prstGeom prst="line">
            <a:avLst/>
          </a:prstGeom>
          <a:noFill/>
          <a:ln w="11430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rot="1680000">
            <a:off x="1115568" y="2468880"/>
            <a:ext cx="859536" cy="1243584"/>
          </a:xfrm>
          <a:prstGeom prst="parallelogram">
            <a:avLst/>
          </a:prstGeom>
          <a:solidFill>
            <a:srgbClr val="E2E2E2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2747089">
            <a:off x="1594497" y="2441448"/>
            <a:ext cx="944093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432304" y="1993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선수(앞)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1976953">
            <a:off x="1642714" y="3099816"/>
            <a:ext cx="1176844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761488" y="33649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우현(오른쪽)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1106424" y="3410712"/>
            <a:ext cx="1261872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261872" y="4096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아래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87952" y="2743200"/>
            <a:ext cx="2834640" cy="566928"/>
          </a:xfrm>
          <a:prstGeom prst="hexagon">
            <a:avLst/>
          </a:prstGeom>
          <a:solidFill>
            <a:srgbClr val="F7F7F7"/>
          </a:solidFill>
          <a:ln w="15240">
            <a:solidFill>
              <a:srgbClr val="44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871216"/>
            <a:ext cx="786384" cy="274320"/>
          </a:xfrm>
          <a:prstGeom prst="rect">
            <a:avLst/>
          </a:prstGeom>
          <a:solidFill>
            <a:srgbClr val="D6D6D6"/>
          </a:solidFill>
          <a:ln w="889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59552" y="2871216"/>
            <a:ext cx="530352" cy="274320"/>
          </a:xfrm>
          <a:prstGeom prst="rect">
            <a:avLst/>
          </a:prstGeom>
          <a:solidFill>
            <a:srgbClr val="D6D6D6"/>
          </a:solidFill>
          <a:ln w="889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871216"/>
            <a:ext cx="420624" cy="274320"/>
          </a:xfrm>
          <a:prstGeom prst="rect">
            <a:avLst/>
          </a:prstGeom>
          <a:solidFill>
            <a:srgbClr val="D6D6D6"/>
          </a:solidFill>
          <a:ln w="8890">
            <a:solidFill>
              <a:srgbClr val="5555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06824" y="2935224"/>
            <a:ext cx="164592" cy="164592"/>
          </a:xfrm>
          <a:prstGeom prst="ellipse">
            <a:avLst/>
          </a:prstGeom>
          <a:ln w="11430">
            <a:solidFill>
              <a:srgbClr val="44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18304" y="2578608"/>
            <a:ext cx="365760" cy="3657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96712" y="2971800"/>
            <a:ext cx="91440" cy="914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 rot="-5400000">
            <a:off x="4754880" y="2304288"/>
            <a:ext cx="292608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rot="-5400000">
            <a:off x="5449824" y="2450592"/>
            <a:ext cx="585216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 rot="10800000">
            <a:off x="4901184" y="2231136"/>
            <a:ext cx="84124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059936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레버암 x = −30 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rot="-945070">
            <a:off x="5783382" y="2734056"/>
            <a:ext cx="741059" cy="0"/>
          </a:xfrm>
          <a:prstGeom prst="line">
            <a:avLst/>
          </a:prstGeom>
          <a:noFill/>
          <a:ln w="1143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6547104" y="2560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무게중심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42432" y="3017520"/>
            <a:ext cx="1719072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498080" y="2999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x_b 선수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rot="5400000">
            <a:off x="4434840" y="3575304"/>
            <a:ext cx="93268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4279392" y="40782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z_a 보어사이트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rot="-10545000">
            <a:off x="4819978" y="3654587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 rot="-10035000">
            <a:off x="4739775" y="3642600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 rot="-9525000">
            <a:off x="4662224" y="3618891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rot="-9015000">
            <a:off x="4589030" y="3583979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 rot="-8505000">
            <a:off x="4521799" y="3538632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rot="-7995000">
            <a:off x="4462011" y="3483845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 rot="-7485000">
            <a:off x="4410976" y="3420823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 rot="-6975000">
            <a:off x="4369818" y="3350950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 rot="-6465000">
            <a:off x="4339440" y="3275761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 rot="-5955000">
            <a:off x="4320508" y="3196907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5376672" y="3584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방위 90°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3968496" y="4315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그림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3968496" y="4544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값 : 설치 방위 90° · 백틸트 0°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814816" y="3200400"/>
            <a:ext cx="1755648" cy="1097280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F7F7F7"/>
          </a:solidFill>
          <a:ln w="15240">
            <a:solidFill>
              <a:srgbClr val="44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35440" y="2834640"/>
            <a:ext cx="914400" cy="384048"/>
          </a:xfrm>
          <a:prstGeom prst="rect">
            <a:avLst/>
          </a:prstGeom>
          <a:solidFill>
            <a:srgbClr val="E2E2E2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81744" y="2505456"/>
            <a:ext cx="621792" cy="347472"/>
          </a:xfrm>
          <a:prstGeom prst="rect">
            <a:avLst/>
          </a:prstGeom>
          <a:solidFill>
            <a:srgbClr val="D2D2D2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46336" y="2157984"/>
            <a:ext cx="292608" cy="365760"/>
          </a:xfrm>
          <a:prstGeom prst="rect">
            <a:avLst/>
          </a:prstGeom>
          <a:solidFill>
            <a:srgbClr val="C4C4C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1320000">
            <a:off x="9610344" y="1773936"/>
            <a:ext cx="274320" cy="402336"/>
          </a:xfrm>
          <a:prstGeom prst="rect">
            <a:avLst/>
          </a:prstGeom>
          <a:solidFill>
            <a:srgbClr val="BEBEB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-1709738">
            <a:off x="9794828" y="1764792"/>
            <a:ext cx="728313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784080" y="1773936"/>
            <a:ext cx="768096" cy="0"/>
          </a:xfrm>
          <a:prstGeom prst="line">
            <a:avLst/>
          </a:prstGeom>
          <a:noFill/>
          <a:ln w="10160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56" name="Text 54"/>
          <p:cNvSpPr txBox="1"/>
          <p:nvPr/>
        </p:nvSpPr>
        <p:spPr>
          <a:xfrm>
            <a:off x="10479024" y="1481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백틸트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628632" y="3374136"/>
            <a:ext cx="91440" cy="914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857232" y="3438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무게중심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449056" y="1828800"/>
            <a:ext cx="1133856" cy="0"/>
          </a:xfrm>
          <a:prstGeom prst="line">
            <a:avLst/>
          </a:prstGeom>
          <a:noFill/>
          <a:ln w="10160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8449056" y="3419856"/>
            <a:ext cx="1152144" cy="0"/>
          </a:xfrm>
          <a:prstGeom prst="line">
            <a:avLst/>
          </a:prstGeom>
          <a:noFill/>
          <a:ln w="10160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 rot="5400000">
            <a:off x="7744968" y="2624328"/>
            <a:ext cx="159105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triangle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7205472" y="2450592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레버암</a:t>
            </a:r>
            <a:endParaRPr lang="en-US" sz="95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= −10 m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8101584" y="43159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선미에서 본 그림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8101584" y="4544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레버암 (-30, 0, -10) m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14400" y="4791456"/>
            <a:ext cx="3127248" cy="1097280"/>
          </a:xfrm>
          <a:prstGeom prst="roundRect">
            <a:avLst>
              <a:gd name="adj" fmla="val 4167"/>
            </a:avLst>
          </a:prstGeom>
          <a:solidFill>
            <a:srgbClr val="DCDCDC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115568" y="491947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 · 축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 = 배의 무게중심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선수 · y 우현 · z 아래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FRD(Forward-Right-Down)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261104" y="4791456"/>
            <a:ext cx="7013448" cy="1097280"/>
          </a:xfrm>
          <a:prstGeom prst="roundRect">
            <a:avLst>
              <a:gd name="adj" fmla="val 4167"/>
            </a:avLst>
          </a:prstGeom>
          <a:solidFill>
            <a:srgbClr val="DCDCDC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462272" y="4846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 → 동체 변환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462272" y="5120640"/>
            <a:ext cx="193852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462272" y="512064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p안테나 (x 왼쪽, y 위, z 보어사이트)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4370832" y="545896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값 →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419088" y="5257800"/>
            <a:ext cx="118872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6556248" y="5120640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556248" y="51206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맞춤 A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6464808" y="545896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Rz(−90°)·Rx(−90°)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7324344" y="5257800"/>
            <a:ext cx="118872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7461504" y="5120640"/>
            <a:ext cx="859536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461504" y="512064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Ry(백틸트)</a:t>
            </a:r>
            <a:endParaRPr lang="en-US" sz="800" dirty="0"/>
          </a:p>
        </p:txBody>
      </p:sp>
      <p:sp>
        <p:nvSpPr>
          <p:cNvPr id="79" name="Text 77"/>
          <p:cNvSpPr txBox="1"/>
          <p:nvPr/>
        </p:nvSpPr>
        <p:spPr>
          <a:xfrm>
            <a:off x="7370064" y="545896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백틸트 0°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8339328" y="5257800"/>
            <a:ext cx="118872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8476488" y="512064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476488" y="5120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Rz(설치방위)</a:t>
            </a:r>
            <a:endParaRPr lang="en-US" sz="800" dirty="0"/>
          </a:p>
        </p:txBody>
      </p:sp>
      <p:sp>
        <p:nvSpPr>
          <p:cNvPr id="83" name="Text 81"/>
          <p:cNvSpPr txBox="1"/>
          <p:nvPr/>
        </p:nvSpPr>
        <p:spPr>
          <a:xfrm>
            <a:off x="8385048" y="5458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방위 90°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9500616" y="5257800"/>
            <a:ext cx="118872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9637776" y="5120640"/>
            <a:ext cx="73152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637776" y="5120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레버암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9546336" y="5458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레버암 (−30, 0, −10) m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10387584" y="5257800"/>
            <a:ext cx="118872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10524744" y="512064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524744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p동체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4462272" y="5632704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쓰면  p동체 = Rz(설치방위) · Ry(백틸트) · A · p안테나 + 레버암      A 는 안테나 면 기준 축을 동체 축으로 돌려 놓는 상수 행렬 (참고자료 2.2.9)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INS 좌표계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자세각 = 동체 축이 북 · 동 · 아래에 대해 얼마나 돌아가 있나.  동체 좌표계는 북이 어딘지 모르지만, INS 는 안다.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 rot="720000">
            <a:off x="2244898" y="2969402"/>
            <a:ext cx="1316736" cy="566928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D8D8D8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720000">
            <a:off x="2495496" y="2910589"/>
            <a:ext cx="914400" cy="219456"/>
          </a:xfrm>
          <a:prstGeom prst="rect">
            <a:avLst/>
          </a:prstGeom>
          <a:solidFill>
            <a:srgbClr val="CFCFCF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720000">
            <a:off x="2696571" y="2695929"/>
            <a:ext cx="603504" cy="219456"/>
          </a:xfrm>
          <a:prstGeom prst="rect">
            <a:avLst/>
          </a:prstGeom>
          <a:solidFill>
            <a:srgbClr val="C4C4C4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720000">
            <a:off x="3011947" y="2472125"/>
            <a:ext cx="64008" cy="237744"/>
          </a:xfrm>
          <a:prstGeom prst="rect">
            <a:avLst/>
          </a:prstGeom>
          <a:solidFill>
            <a:srgbClr val="8A8A8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47088" y="3200400"/>
            <a:ext cx="2157984" cy="0"/>
          </a:xfrm>
          <a:prstGeom prst="line">
            <a:avLst/>
          </a:prstGeom>
          <a:noFill/>
          <a:ln w="11430">
            <a:solidFill>
              <a:srgbClr val="9A9A9A"/>
            </a:solidFill>
            <a:prstDash val="sysDot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rot="1512067">
            <a:off x="1757584" y="2999232"/>
            <a:ext cx="343600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 rot="1512067">
            <a:off x="3750976" y="3383280"/>
            <a:ext cx="343600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 rot="840000">
            <a:off x="5135095" y="3060524"/>
            <a:ext cx="1975104" cy="310896"/>
          </a:xfrm>
          <a:prstGeom prst="trapezoid">
            <a:avLst/>
          </a:prstGeom>
          <a:solidFill>
            <a:srgbClr val="D8D8D8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840000">
            <a:off x="5553620" y="2924715"/>
            <a:ext cx="969264" cy="201168"/>
          </a:xfrm>
          <a:prstGeom prst="rect">
            <a:avLst/>
          </a:prstGeom>
          <a:solidFill>
            <a:srgbClr val="CFCFCF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840000">
            <a:off x="5682875" y="2725146"/>
            <a:ext cx="621792" cy="201168"/>
          </a:xfrm>
          <a:prstGeom prst="rect">
            <a:avLst/>
          </a:prstGeom>
          <a:solidFill>
            <a:srgbClr val="C4C4C4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840000">
            <a:off x="5939602" y="2520857"/>
            <a:ext cx="54864" cy="219456"/>
          </a:xfrm>
          <a:prstGeom prst="rect">
            <a:avLst/>
          </a:prstGeom>
          <a:solidFill>
            <a:srgbClr val="8A8A8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3218688"/>
            <a:ext cx="2432304" cy="0"/>
          </a:xfrm>
          <a:prstGeom prst="line">
            <a:avLst/>
          </a:prstGeom>
          <a:noFill/>
          <a:ln w="11430">
            <a:solidFill>
              <a:srgbClr val="9A9A9A"/>
            </a:solidFill>
            <a:prstDash val="sysDot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rot="7753846">
            <a:off x="6879514" y="3543602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rot="8261538">
            <a:off x="6773079" y="3655912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 rot="8769231">
            <a:off x="6651276" y="3751339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rot="9276923">
            <a:off x="6516758" y="3827804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rot="9784615">
            <a:off x="6372452" y="3883642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rot="10292308">
            <a:off x="6221501" y="3917639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 rot="10800000">
            <a:off x="6067190" y="3929055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 rot="-10292308">
            <a:off x="5912880" y="3917639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 rot="-9784615">
            <a:off x="5761929" y="3883642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 rot="-9276923">
            <a:off x="5617623" y="3827804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 rot="-8769231">
            <a:off x="5483105" y="3751339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rot="-8261538">
            <a:off x="5361302" y="3655912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 rot="-7753846">
            <a:off x="5254866" y="3543602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 rot="-5400000">
            <a:off x="8732520" y="2404872"/>
            <a:ext cx="859536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8814816" y="17922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62288" y="2834640"/>
            <a:ext cx="969264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10186416" y="28163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동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rot="-2700000">
            <a:off x="9022148" y="2496312"/>
            <a:ext cx="956936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9875520" y="2048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x_b 선수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rot="2700000">
            <a:off x="9044873" y="3118104"/>
            <a:ext cx="801757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9765792" y="3364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y_b 우현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rot="270000">
            <a:off x="9162129" y="2180325"/>
            <a:ext cx="10331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 rot="810000">
            <a:off x="9263852" y="2196436"/>
            <a:ext cx="10331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 rot="1350000">
            <a:off x="9361803" y="2228262"/>
            <a:ext cx="10331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 rot="1890000">
            <a:off x="9453569" y="2275019"/>
            <a:ext cx="10331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 rot="2430000">
            <a:off x="9536891" y="2335556"/>
            <a:ext cx="10331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8" name="Text 46"/>
          <p:cNvSpPr txBox="1"/>
          <p:nvPr/>
        </p:nvSpPr>
        <p:spPr>
          <a:xfrm>
            <a:off x="9217152" y="22311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45°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 rot="-2700000">
            <a:off x="9180576" y="2414016"/>
            <a:ext cx="841248" cy="274320"/>
          </a:xfrm>
          <a:prstGeom prst="hexagon">
            <a:avLst/>
          </a:prstGeom>
          <a:solidFill>
            <a:srgbClr val="D2D2D2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61504" y="28895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북은 선수에서</a:t>
            </a:r>
            <a:endParaRPr lang="en-US" sz="85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왼쪽으로 45°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1005840" y="3822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roll  (횡동요)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1005840" y="4059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뒤에서 본 그림 · x축(선수축) 둘레 · 우현이 내려가면 +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1005840" y="4297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0°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261104" y="3822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pitch  (종동요)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4261104" y="4059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본 그림 · y축(우현축) 둘레 · 선수가 올라가면 +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4261104" y="4297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0°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7461504" y="3822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yaw  (선수방위)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7461504" y="4059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그림 · z축(아래축) 둘레 · 진북에서 시계방향 +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7461504" y="4297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45°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14400" y="4572000"/>
            <a:ext cx="4882896" cy="914400"/>
          </a:xfrm>
          <a:prstGeom prst="roundRect">
            <a:avLst>
              <a:gd name="adj" fmla="val 5000"/>
            </a:avLst>
          </a:prstGeom>
          <a:solidFill>
            <a:srgbClr val="DCDCDC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115568" y="468172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 좌표계란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 센서에 붙은 좌표계 – 원점은 센서 블록의 기준점, 축은 센서의 직교 3축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배의 자세와 위치를 재서 준다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391656" y="4572000"/>
            <a:ext cx="4882896" cy="914400"/>
          </a:xfrm>
          <a:prstGeom prst="roundRect">
            <a:avLst>
              <a:gd name="adj" fmla="val 5000"/>
            </a:avLst>
          </a:prstGeom>
          <a:solidFill>
            <a:srgbClr val="DCDCDC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592824" y="4681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 가 주는 값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592824" y="49194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7461504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roll 0° · pitch 0° · yaw  45°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6592824" y="51023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7461504" y="5102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36.408 °N · 127.307 °E · 0 m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6592824" y="52852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7461504" y="5285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과제에선 x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14400" y="5559552"/>
            <a:ext cx="10360152" cy="347472"/>
          </a:xfrm>
          <a:prstGeom prst="roundRect">
            <a:avLst>
              <a:gd name="adj" fmla="val 13158"/>
            </a:avLst>
          </a:prstGeom>
          <a:solidFill>
            <a:srgbClr val="E7E7E7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1115568" y="560527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 는 값의 공급원이다. – 자세각은 로컬 NED 좌표를 만드는데, 위경도는 그 뒤 지구 좌표로 갈 때 쓰인다.</a:t>
            </a:r>
            <a:endParaRPr lang="en-US" sz="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yaw 45° 는 "진북이 선수에서 왼쪽으로 45°" 라는 뜻이다.  북이 어느 쪽인지 알았으니, 동체 좌표를 북 · 동 기준으로 다시 적을 수 있다.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NED / ENU 국지수평 좌표계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배가 아무리 흔들려도 북쪽은 계속 북쪽이다.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17739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NED (항공우주 · 항법 · 무기체계)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North-East-Down.  북 → 동 → 아래 순서, 셋째 축이 아래로 +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82896" y="17739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ENU (측지 · 측량 · GIS · 로보틱스)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East-North-Up.  동 → 북 → 위 순서, 셋째 축이 위로 +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1097280" y="2724912"/>
            <a:ext cx="3017520" cy="969264"/>
          </a:xfrm>
          <a:prstGeom prst="parallelogram">
            <a:avLst/>
          </a:prstGeom>
          <a:solidFill>
            <a:srgbClr val="E9E9E9"/>
          </a:solidFill>
          <a:ln w="10160">
            <a:solidFill>
              <a:srgbClr val="C0C0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5400000">
            <a:off x="2029968" y="2743200"/>
            <a:ext cx="73152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468880" y="23225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북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24871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rot="1338372">
            <a:off x="2366883" y="3255264"/>
            <a:ext cx="770921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145536" y="3364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동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615184" y="31272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 rot="5400000">
            <a:off x="2029968" y="3474720"/>
            <a:ext cx="73152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468880" y="37856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아래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212848" y="352958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412748" y="3259836"/>
            <a:ext cx="100584" cy="10058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" y="32918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999232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수평면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rot="10800000">
            <a:off x="5065776" y="2724912"/>
            <a:ext cx="3017520" cy="969264"/>
          </a:xfrm>
          <a:prstGeom prst="parallelogram">
            <a:avLst/>
          </a:prstGeom>
          <a:solidFill>
            <a:srgbClr val="E9E9E9"/>
          </a:solidFill>
          <a:ln w="10160">
            <a:solidFill>
              <a:srgbClr val="C0C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5400000">
            <a:off x="5943600" y="2688336"/>
            <a:ext cx="84124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437376" y="2194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 위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25054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 rot="1338372">
            <a:off x="6335379" y="3255264"/>
            <a:ext cx="770921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114032" y="3364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동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31272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 rot="-4020677">
            <a:off x="6164456" y="2807208"/>
            <a:ext cx="65556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675120" y="23957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북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327648" y="27066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81244" y="3259836"/>
            <a:ext cx="100584" cy="10058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754880" y="32918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967728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수평면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1060704" y="40965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(N −19,340,  E +5,155,  D −10) 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60704" y="4315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높이는 수평면 기준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0" y="40965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 +5,155,  N −19,340,  U +10) m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2706624" y="4315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 · 동은 같은 방향이다. 셋째 축만 뒤집히고, 둘 다 오른손 좌표계다.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485632" y="1755648"/>
            <a:ext cx="2788920" cy="2688336"/>
          </a:xfrm>
          <a:prstGeom prst="roundRect">
            <a:avLst>
              <a:gd name="adj" fmla="val 1701"/>
            </a:avLst>
          </a:prstGeom>
          <a:solidFill>
            <a:srgbClr val="DCDCD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686800" y="1938528"/>
            <a:ext cx="23957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좌표계의 존재 이유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배와 함께 이동하지만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회전하지는 않는다.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표적이 실제로 움직인 것과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배가 흔들린 것을 구분할 수 있다.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 필터를 여기서 돌리는 이유다.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14400" y="4590288"/>
            <a:ext cx="10360152" cy="1298448"/>
          </a:xfrm>
          <a:prstGeom prst="roundRect">
            <a:avLst>
              <a:gd name="adj" fmla="val 3521"/>
            </a:avLst>
          </a:prstGeom>
          <a:solidFill>
            <a:srgbClr val="DCDCD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133856" y="46451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동체 → NED 변환 공식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1188720" y="4937760"/>
            <a:ext cx="6583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88720" y="49377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p동체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32688" y="52578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 = 무게중심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865376" y="5074920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029968" y="4937760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029968" y="4937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(roll)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773936" y="5257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0°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2834640" y="5074920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2999232" y="4937760"/>
            <a:ext cx="859536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999232" y="493776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Ry(pitch)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2743200" y="5257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0°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877056" y="5074920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041648" y="4937760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041648" y="4937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Rz(yaw)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3785616" y="5257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45°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4846320" y="5074920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5010912" y="4937760"/>
            <a:ext cx="129844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010912" y="49377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p_NED  (N, E, D)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4754880" y="52578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 = 무게중심 → 평행이동 없음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6327648" y="5074920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492240" y="4937760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492240" y="493776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순서만 바꿈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6236208" y="52578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(E, N, U) = (E, N, −D)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7717536" y="5074920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7882128" y="4937760"/>
            <a:ext cx="129844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882128" y="49377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p_ENU  (E, N, U)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7626096" y="52578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값을 다른 순서로</a:t>
            </a:r>
            <a:endParaRPr lang="en-US" sz="650" dirty="0"/>
          </a:p>
        </p:txBody>
      </p:sp>
      <p:sp>
        <p:nvSpPr>
          <p:cNvPr id="73" name="Text 71"/>
          <p:cNvSpPr txBox="1"/>
          <p:nvPr/>
        </p:nvSpPr>
        <p:spPr>
          <a:xfrm>
            <a:off x="9692640" y="493776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줄임말 : 세 회전행렬의 곱을 C_ned←body 로 쓴다</a:t>
            </a:r>
            <a:endParaRPr lang="en-US" sz="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'동체 좌표를 NED 좌표로 바꾸는 행렬' — 설계 장에서 이 줄임말을 쓴다</a:t>
            </a:r>
            <a:endParaRPr lang="en-US" sz="700" dirty="0"/>
          </a:p>
        </p:txBody>
      </p:sp>
      <p:sp>
        <p:nvSpPr>
          <p:cNvPr id="74" name="Text 72"/>
          <p:cNvSpPr txBox="1"/>
          <p:nvPr/>
        </p:nvSpPr>
        <p:spPr>
          <a:xfrm>
            <a:off x="1188720" y="550468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쓰면  p_NED = Rz(yaw) · Ry(pitch) · Rx(roll) · p동체  —  벡터에 가까운 오른쪽(roll)부터 차례로 곱한다</a:t>
            </a:r>
            <a:endParaRPr lang="en-US" sz="8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 p_NED = Rz(45°) · Ry(0°) · Rx(0°) · p동체 = Rz(45°) · p동체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ECEF / ECI 지구 중심 좌표계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원점은 같고, 축이 도느냐 마느냐만 다르다.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1755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— 지구와 함께 돈다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Earth-Centered, Earth-Fixed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축과 건물이 같이 도니 사이 각(경도)이 언제 봐도 같다.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44752" y="2542032"/>
            <a:ext cx="1353312" cy="1353312"/>
          </a:xfrm>
          <a:prstGeom prst="ellipse">
            <a:avLst/>
          </a:prstGeom>
          <a:solidFill>
            <a:srgbClr val="E4E4E4"/>
          </a:solidFill>
          <a:ln w="13970">
            <a:solidFill>
              <a:srgbClr val="4A4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154680"/>
            <a:ext cx="128016" cy="128016"/>
          </a:xfrm>
          <a:prstGeom prst="ellipse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95805" y="3193085"/>
            <a:ext cx="51206" cy="5120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2121408" y="3218688"/>
            <a:ext cx="1152144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328416" y="32004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-3011666">
            <a:off x="1992923" y="2944368"/>
            <a:ext cx="714169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514600" y="2496312"/>
            <a:ext cx="237744" cy="237744"/>
          </a:xfrm>
          <a:prstGeom prst="ellipse">
            <a:avLst/>
          </a:prstGeom>
          <a:solidFill>
            <a:srgbClr val="6E6E6E"/>
          </a:solidFill>
          <a:ln/>
        </p:spPr>
      </p:sp>
      <p:sp>
        <p:nvSpPr>
          <p:cNvPr id="18" name="Shape 16"/>
          <p:cNvSpPr/>
          <p:nvPr/>
        </p:nvSpPr>
        <p:spPr>
          <a:xfrm rot="2650000">
            <a:off x="2349002" y="2957016"/>
            <a:ext cx="53151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rot="3150000">
            <a:off x="2384243" y="2996616"/>
            <a:ext cx="53151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650000">
            <a:off x="2413372" y="3040905"/>
            <a:ext cx="53151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rot="4150000">
            <a:off x="2435775" y="3088949"/>
            <a:ext cx="53151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rot="4650000">
            <a:off x="2450979" y="3139732"/>
            <a:ext cx="53151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rot="5150000">
            <a:off x="2458662" y="3192183"/>
            <a:ext cx="53151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2377440" y="2944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경도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 rot="3826682">
            <a:off x="1228167" y="3172968"/>
            <a:ext cx="1365858" cy="0"/>
          </a:xfrm>
          <a:prstGeom prst="line">
            <a:avLst/>
          </a:prstGeom>
          <a:noFill/>
          <a:ln w="11430">
            <a:solidFill>
              <a:srgbClr val="777777"/>
            </a:solidFill>
            <a:prstDash val="dash"/>
            <a:headEnd type="none"/>
            <a:tailEnd type="none"/>
          </a:ln>
        </p:spPr>
      </p:sp>
      <p:sp>
        <p:nvSpPr>
          <p:cNvPr id="26" name="Text 24"/>
          <p:cNvSpPr txBox="1"/>
          <p:nvPr/>
        </p:nvSpPr>
        <p:spPr>
          <a:xfrm>
            <a:off x="932688" y="3602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그리니치 자오선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1755648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ECI — 별에 고정, 돌지 않는다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Earth-Centered Inertial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축이 멈춰 있으니 건물은 하루에 한 바퀴 돈다.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64608" y="2340864"/>
            <a:ext cx="1755648" cy="1755648"/>
          </a:xfrm>
          <a:prstGeom prst="ellipse">
            <a:avLst/>
          </a:prstGeom>
          <a:ln w="11430">
            <a:solidFill>
              <a:srgbClr val="777777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065776" y="2542032"/>
            <a:ext cx="1353312" cy="1353312"/>
          </a:xfrm>
          <a:prstGeom prst="ellipse">
            <a:avLst/>
          </a:prstGeom>
          <a:solidFill>
            <a:srgbClr val="E4E4E4"/>
          </a:solidFill>
          <a:ln w="13970">
            <a:solidFill>
              <a:srgbClr val="4A4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78424" y="3154680"/>
            <a:ext cx="128016" cy="128016"/>
          </a:xfrm>
          <a:prstGeom prst="ellipse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6829" y="3193085"/>
            <a:ext cx="51206" cy="5120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5742432" y="3218688"/>
            <a:ext cx="1152144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949440" y="32004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rot="-3011666">
            <a:off x="5613947" y="2944368"/>
            <a:ext cx="714169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6135624" y="2496312"/>
            <a:ext cx="237744" cy="237744"/>
          </a:xfrm>
          <a:prstGeom prst="ellipse">
            <a:avLst/>
          </a:prstGeom>
          <a:solidFill>
            <a:srgbClr val="6E6E6E"/>
          </a:solidFill>
          <a:ln/>
        </p:spPr>
      </p:sp>
      <p:sp>
        <p:nvSpPr>
          <p:cNvPr id="36" name="Shape 34"/>
          <p:cNvSpPr/>
          <p:nvPr/>
        </p:nvSpPr>
        <p:spPr>
          <a:xfrm rot="2650000">
            <a:off x="5981405" y="2943932"/>
            <a:ext cx="5580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 rot="3150000">
            <a:off x="6018408" y="2985512"/>
            <a:ext cx="5580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 rot="3650000">
            <a:off x="6048994" y="3032016"/>
            <a:ext cx="5580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rot="4150000">
            <a:off x="6072518" y="3082462"/>
            <a:ext cx="5580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 rot="4650000">
            <a:off x="6088481" y="3135785"/>
            <a:ext cx="5580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rot="5150000">
            <a:off x="6096548" y="3190858"/>
            <a:ext cx="5580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 txBox="1"/>
          <p:nvPr/>
        </p:nvSpPr>
        <p:spPr>
          <a:xfrm>
            <a:off x="6035040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5010912" y="28346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춘분점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310128" y="2871216"/>
            <a:ext cx="1170432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3493008" y="26700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Rz(θ)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 rot="10800000">
            <a:off x="3310128" y="3584448"/>
            <a:ext cx="1170432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3438144" y="3712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Rz(θ)^T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4535424" y="3749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한 바퀴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932688" y="41696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축 = 그리니치 자오선. 지구와 함께 돈다.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4590288" y="41696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축 = 별(춘분점)에 고정. 돌지 않는다.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932688" y="43708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θ = GMST (Greenwich Mean Sidereal Time).  시각이 1 ms 어긋나면 적도에서 0.47 m 어긋난다.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589520" y="1755648"/>
            <a:ext cx="3749040" cy="1481328"/>
          </a:xfrm>
          <a:prstGeom prst="roundRect">
            <a:avLst>
              <a:gd name="adj" fmla="val 3086"/>
            </a:avLst>
          </a:prstGeom>
          <a:solidFill>
            <a:srgbClr val="DCDCDC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808976" y="1901952"/>
            <a:ext cx="332841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— Earth-Centered, Earth-Fixed   ( 이번 과제 O )</a:t>
            </a:r>
            <a:endParaRPr lang="en-US" sz="105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 = 지구 중심 . X = 그리니치 자오선 . Z = 북극 . Y = 오른손</a:t>
            </a:r>
            <a:endParaRPr lang="en-US" sz="105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지구와 함께 돈다 → 지표 한 점의 좌표가 시각과 무관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GPS · 지도 · 위경도의 바탕이 되는 좌표계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589520" y="3401568"/>
            <a:ext cx="3749040" cy="1481328"/>
          </a:xfrm>
          <a:prstGeom prst="roundRect">
            <a:avLst>
              <a:gd name="adj" fmla="val 3086"/>
            </a:avLst>
          </a:prstGeom>
          <a:solidFill>
            <a:srgbClr val="DCDCD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808976" y="3547872"/>
            <a:ext cx="332841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ECI — Earth-Centered Inertial   ( 이번 과제 X )</a:t>
            </a:r>
            <a:endParaRPr lang="en-US" sz="105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 = 지구 중심 . X = 춘분점 ( 별 ) 방향 · Z = 북극</a:t>
            </a:r>
            <a:endParaRPr lang="en-US" sz="105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돌지 않는다 → 뉴턴 법칙이 그대로 성립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 · 탄도탄의 궤도 계산에 쓴다 ( 중력만 받는 운동 )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914400" y="4590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 공식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4400" y="4828032"/>
            <a:ext cx="10360152" cy="1060704"/>
          </a:xfrm>
          <a:prstGeom prst="roundRect">
            <a:avLst>
              <a:gd name="adj" fmla="val 4310"/>
            </a:avLst>
          </a:prstGeom>
          <a:solidFill>
            <a:srgbClr val="DCDCDC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97280" y="5047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NED → ECEF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542032" y="4937760"/>
            <a:ext cx="676656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542032" y="493776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p_NED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36976" y="5065776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383280" y="4937760"/>
            <a:ext cx="1389888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383280" y="49377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Ry(−90° − 위도)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3108960" y="524865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축에 맞춰 돌린다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4791456" y="5065776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4937760" y="4937760"/>
            <a:ext cx="932688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937760" y="49377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Rz(경도)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888736" y="5065776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6035040" y="4937760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035040" y="4937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P배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5760720" y="52486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배의 ECEF 위치를 더한다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6693408" y="5065776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6839712" y="4937760"/>
            <a:ext cx="7863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839712" y="493776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p_ECEF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7735824" y="4901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줄임말 : Rz(경도) · Ry(−90° − 위도) = C_ecef←ned</a:t>
            </a:r>
            <a:endParaRPr lang="en-US" sz="6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R_N 은 그 위도의 곡률반경, e² 는 WGS-84 상수 — 다음 장 LLA 에서</a:t>
            </a:r>
            <a:endParaRPr lang="en-US" sz="650" dirty="0"/>
          </a:p>
        </p:txBody>
      </p:sp>
      <p:sp>
        <p:nvSpPr>
          <p:cNvPr id="76" name="Text 74"/>
          <p:cNvSpPr txBox="1"/>
          <p:nvPr/>
        </p:nvSpPr>
        <p:spPr>
          <a:xfrm>
            <a:off x="1097280" y="5504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→ ECI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542032" y="5394960"/>
            <a:ext cx="7863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2542032" y="539496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p_ECEF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346704" y="5522976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3493008" y="5394960"/>
            <a:ext cx="676656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493008" y="539496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Rz(θ)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187952" y="5522976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4334256" y="5394960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334256" y="53949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p_ECI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5047488" y="5413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θ = 지구 자전각 (GMST) — 시각으로 정해진다</a:t>
            </a:r>
            <a:endParaRPr lang="en-US" sz="6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지구가 돈 각만큼 되돌리면 별 기준 좌표. 거꾸로는 전치.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7735824" y="5285232"/>
            <a:ext cx="34015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7772400" y="5358384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P배 = 배의 위경도 · 고도 (φ, λ, h) 에서</a:t>
            </a:r>
            <a:endParaRPr lang="en-US" sz="7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= (R_N + h)cosφcosλ,   Y = (R_N + h)cosφsinλ,   Z = (R_N(1 − e²) + h)sinφ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LLA 측지 좌표계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33856" y="1755648"/>
            <a:ext cx="2157984" cy="2157984"/>
          </a:xfrm>
          <a:prstGeom prst="ellipse">
            <a:avLst/>
          </a:prstGeom>
          <a:ln w="13970">
            <a:solidFill>
              <a:srgbClr val="4A4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2450592"/>
            <a:ext cx="2157984" cy="768096"/>
          </a:xfrm>
          <a:prstGeom prst="ellipse">
            <a:avLst/>
          </a:prstGeom>
          <a:ln w="10160">
            <a:solidFill>
              <a:srgbClr val="8A8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755648"/>
            <a:ext cx="768096" cy="2157984"/>
          </a:xfrm>
          <a:prstGeom prst="ellipse">
            <a:avLst/>
          </a:prstGeom>
          <a:ln w="10160">
            <a:solidFill>
              <a:srgbClr val="8A8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755648"/>
            <a:ext cx="1682496" cy="2157984"/>
          </a:xfrm>
          <a:prstGeom prst="ellipse">
            <a:avLst/>
          </a:prstGeom>
          <a:ln w="8890">
            <a:solidFill>
              <a:srgbClr val="A8A8A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rot="-5400000">
            <a:off x="1472184" y="2185416"/>
            <a:ext cx="148132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892808" y="1280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북극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 rot="-2343188">
            <a:off x="2073406" y="2441448"/>
            <a:ext cx="124814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rot="-2436078">
            <a:off x="3141521" y="1938528"/>
            <a:ext cx="337214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3383280" y="1773936"/>
            <a:ext cx="109728" cy="109728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Shape 15"/>
          <p:cNvSpPr/>
          <p:nvPr/>
        </p:nvSpPr>
        <p:spPr>
          <a:xfrm>
            <a:off x="3131820" y="1997964"/>
            <a:ext cx="100584" cy="100584"/>
          </a:xfrm>
          <a:prstGeom prst="ellipse">
            <a:avLst/>
          </a:prstGeom>
          <a:ln w="1143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18688" y="15910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(φ, λ, h)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99232" y="2267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 고도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304288" y="2048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타원체 면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 rot="3240000">
            <a:off x="2617355" y="2512943"/>
            <a:ext cx="7654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rot="3720000">
            <a:off x="2657817" y="2577697"/>
            <a:ext cx="7654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rot="4200000">
            <a:off x="2688874" y="2647451"/>
            <a:ext cx="7654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 rot="4680000">
            <a:off x="2709920" y="2720849"/>
            <a:ext cx="7654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rot="5160000">
            <a:off x="2720547" y="2796462"/>
            <a:ext cx="7654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 txBox="1"/>
          <p:nvPr/>
        </p:nvSpPr>
        <p:spPr>
          <a:xfrm>
            <a:off x="2560320" y="29809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 위도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938528" y="34381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 경도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30936" y="31455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316736" y="2889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지구중심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" y="40599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그리니치 자오선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041648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자오선 단면 — 위도 φ 는 어디서 재나 (편평률 과장)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 rot="270000">
            <a:off x="4498530" y="1836906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rot="810000">
            <a:off x="4701976" y="1869128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 rot="1350000">
            <a:off x="4897878" y="1932781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rot="1890000">
            <a:off x="5081410" y="2026295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 rot="2430000">
            <a:off x="5248054" y="2147369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 rot="2970000">
            <a:off x="5393705" y="2293021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 rot="3510000">
            <a:off x="5514779" y="2459664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rot="4050000">
            <a:off x="5608293" y="2643196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 rot="4590000">
            <a:off x="5671946" y="2839098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rot="5130000">
            <a:off x="5704168" y="3042545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 rot="5670000">
            <a:off x="5704168" y="3248527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 rot="6210000">
            <a:off x="5671946" y="3451974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 rot="6750000">
            <a:off x="5608293" y="3647876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 rot="7290000">
            <a:off x="5514779" y="3831408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 rot="7830000">
            <a:off x="5393705" y="3998051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 rot="8370000">
            <a:off x="5248054" y="4143703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 rot="8910000">
            <a:off x="5081410" y="4264777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 rot="9450000">
            <a:off x="4897878" y="4358291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 rot="9990000">
            <a:off x="4701976" y="4421944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 rot="10530000">
            <a:off x="4498530" y="4454166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 rot="5400000">
            <a:off x="3182112" y="3145536"/>
            <a:ext cx="2633472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4498848" y="3145536"/>
            <a:ext cx="177393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54" name="Text 52"/>
          <p:cNvSpPr txBox="1"/>
          <p:nvPr/>
        </p:nvSpPr>
        <p:spPr>
          <a:xfrm>
            <a:off x="5870448" y="3127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적도면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 rot="-5400000">
            <a:off x="4343400" y="1746504"/>
            <a:ext cx="31089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3822192" y="15179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자전축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3803904" y="31272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O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85816" y="2194560"/>
            <a:ext cx="91440" cy="914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9" name="Shape 57"/>
          <p:cNvSpPr/>
          <p:nvPr/>
        </p:nvSpPr>
        <p:spPr>
          <a:xfrm rot="-2648694">
            <a:off x="4315308" y="2692908"/>
            <a:ext cx="1299767" cy="0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 rot="-3080412">
            <a:off x="4981423" y="2221992"/>
            <a:ext cx="936803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5522976" y="16916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수직선 (타원체 면에 수직)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 rot="7304915">
            <a:off x="4257219" y="2683764"/>
            <a:ext cx="1946298" cy="0"/>
          </a:xfrm>
          <a:prstGeom prst="line">
            <a:avLst/>
          </a:prstGeom>
          <a:noFill/>
          <a:ln w="10795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 rot="2815000">
            <a:off x="5020216" y="3199730"/>
            <a:ext cx="6245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 rot="3285000">
            <a:off x="5059571" y="3248042"/>
            <a:ext cx="6245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 rot="3755000">
            <a:off x="5091975" y="3301266"/>
            <a:ext cx="6245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 rot="4225000">
            <a:off x="5116822" y="3358411"/>
            <a:ext cx="6245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 rot="4695000">
            <a:off x="5133649" y="3418408"/>
            <a:ext cx="6245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 rot="5165000">
            <a:off x="5142142" y="3480140"/>
            <a:ext cx="6245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9" name="Text 67"/>
          <p:cNvSpPr txBox="1"/>
          <p:nvPr/>
        </p:nvSpPr>
        <p:spPr>
          <a:xfrm>
            <a:off x="5193792" y="334670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77156" y="3470148"/>
            <a:ext cx="82296" cy="8229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480560" y="36576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   OG = e²R_N sinφ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4864608" y="2944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수선의 발</a:t>
            </a:r>
            <a:endParaRPr lang="en-US" sz="650" dirty="0"/>
          </a:p>
        </p:txBody>
      </p:sp>
      <p:sp>
        <p:nvSpPr>
          <p:cNvPr id="73" name="Text 71"/>
          <p:cNvSpPr txBox="1"/>
          <p:nvPr/>
        </p:nvSpPr>
        <p:spPr>
          <a:xfrm>
            <a:off x="3803904" y="44988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 측지위도 = 적도면 ~ 수직선.  지도 · GPS · 이 자료의 위도가 이것</a:t>
            </a:r>
            <a:endParaRPr lang="en-US" sz="75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φ' 지심위도 = 적도면 ~ 중심에서 그은 선.  다른 값 — 지도에서 안 쓴다</a:t>
            </a:r>
            <a:endParaRPr lang="en-US" sz="7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지구(편평 비율)는 거의 구라 φ − φ' 는 최대 0.19°, 경도 λ 는 영향 없음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7882128" y="1444752"/>
            <a:ext cx="3474720" cy="1481328"/>
          </a:xfrm>
          <a:prstGeom prst="roundRect">
            <a:avLst>
              <a:gd name="adj" fmla="val 3086"/>
            </a:avLst>
          </a:prstGeom>
          <a:solidFill>
            <a:srgbClr val="DCDCDC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8101584" y="1572768"/>
            <a:ext cx="30540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 — Latitude · Longitude · Altitude ( 이번 과제 O )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 위도 = 적도면에서 잰 각 . 북 +, 남 − (−90° ~ +90°)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 경도 = 그리니치 자오선에서 동쪽으로 잰 각 (−180° ~ +180°)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 고도 = 타원체 면에서 수직으로 잰 높이 . 지도 · 해도 · GPS 가 쓰는 좌표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882128" y="3108960"/>
            <a:ext cx="3474720" cy="1536192"/>
          </a:xfrm>
          <a:prstGeom prst="roundRect">
            <a:avLst>
              <a:gd name="adj" fmla="val 2976"/>
            </a:avLst>
          </a:prstGeom>
          <a:solidFill>
            <a:srgbClr val="DCDCDC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8101584" y="3255264"/>
            <a:ext cx="30540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WGS-84 — 지구 모형과 상수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지구를 적도 반지름 a · 극 반지름 b 의 타원체로 본 세계 표준 모형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= 6,378,137.0 m,   b = 6,356,752.3 m,   1/f = 298.257223563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e² = 1 − b²/a² = 0.00669438 — 아래 공식의 RN 에 들어가는 상수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914400" y="47000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 공식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914400" y="4919472"/>
            <a:ext cx="10360152" cy="969264"/>
          </a:xfrm>
          <a:prstGeom prst="roundRect">
            <a:avLst>
              <a:gd name="adj" fmla="val 4717"/>
            </a:avLst>
          </a:prstGeom>
          <a:solidFill>
            <a:srgbClr val="DCDCDC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1097280" y="5102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 → ECEF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432304" y="4992624"/>
            <a:ext cx="100584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2432304" y="4992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 (φ, λ, h)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456432" y="5111496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3639312" y="4974336"/>
            <a:ext cx="1316736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639312" y="497433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RN = a / √(1 − e² sin²φ)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3639312" y="527608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위도의 곡률반경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4974336" y="5111496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5157216" y="4937760"/>
            <a:ext cx="223113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157216" y="493776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90" name="Text 88"/>
          <p:cNvSpPr txBox="1"/>
          <p:nvPr/>
        </p:nvSpPr>
        <p:spPr>
          <a:xfrm>
            <a:off x="5193792" y="4965192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6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= (RN + h)cosφcosλ</a:t>
            </a:r>
            <a:endParaRPr lang="en-US" sz="650" dirty="0"/>
          </a:p>
          <a:p>
            <a:pPr marL="0" indent="0" algn="ctr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6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= (RN + h)cosφsinλ</a:t>
            </a:r>
            <a:endParaRPr lang="en-US" sz="6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= (RN(1 − e²) + h)sinφ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7406640" y="5111496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7589520" y="4992624"/>
            <a:ext cx="1133856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589520" y="499262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(X, Y, Z)</a:t>
            </a:r>
            <a:endParaRPr lang="en-US" sz="800" dirty="0"/>
          </a:p>
        </p:txBody>
      </p:sp>
      <p:sp>
        <p:nvSpPr>
          <p:cNvPr id="94" name="Text 92"/>
          <p:cNvSpPr txBox="1"/>
          <p:nvPr/>
        </p:nvSpPr>
        <p:spPr>
          <a:xfrm>
            <a:off x="7589520" y="525780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넣으면 바로 나온다</a:t>
            </a:r>
            <a:endParaRPr lang="en-US" sz="600" dirty="0"/>
          </a:p>
        </p:txBody>
      </p:sp>
      <p:sp>
        <p:nvSpPr>
          <p:cNvPr id="95" name="Text 93"/>
          <p:cNvSpPr txBox="1"/>
          <p:nvPr/>
        </p:nvSpPr>
        <p:spPr>
          <a:xfrm>
            <a:off x="1097280" y="55046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→ LLA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432304" y="5394960"/>
            <a:ext cx="100584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2432304" y="53949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(X, Y, Z)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3456432" y="5513832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3639312" y="5394960"/>
            <a:ext cx="969264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3639312" y="539496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= √(X² + Y²)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626864" y="5513832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4773168" y="5394960"/>
            <a:ext cx="10972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4773168" y="53949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φ₀ = arctan(Z / p)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5888736" y="5513832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6035040" y="5394960"/>
            <a:ext cx="1700784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6035040" y="539496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tan φ = (Z + e²RN sinφ) / p  →  φ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7754112" y="5513832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7900416" y="5394960"/>
            <a:ext cx="118872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900416" y="53949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 = p / cosφ − RN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9107424" y="5513832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9253728" y="5394960"/>
            <a:ext cx="100584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9253728" y="53949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 (φ, λ, h)</a:t>
            </a:r>
            <a:endParaRPr lang="en-US" sz="750" dirty="0"/>
          </a:p>
        </p:txBody>
      </p:sp>
      <p:sp>
        <p:nvSpPr>
          <p:cNvPr id="113" name="Text 111"/>
          <p:cNvSpPr txBox="1"/>
          <p:nvPr/>
        </p:nvSpPr>
        <p:spPr>
          <a:xfrm>
            <a:off x="10296144" y="561441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 = arctan(Y / X)  바로 나온다</a:t>
            </a:r>
            <a:endParaRPr lang="en-US" sz="600" dirty="0"/>
          </a:p>
        </p:txBody>
      </p:sp>
      <p:sp>
        <p:nvSpPr>
          <p:cNvPr id="114" name="Text 112"/>
          <p:cNvSpPr txBox="1"/>
          <p:nvPr/>
        </p:nvSpPr>
        <p:spPr>
          <a:xfrm>
            <a:off x="5760720" y="5669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값과 다르면 다시 넣는다 (보통 3 ~ 4 번)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변환 체인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회전은 설치 방위와 INS(자세, 위경도)가, 이동은 레버암과 INS(배 위치)가 공급한다. 이 구분이 그대로 오차의 출처 목록이 된다.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1792224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DCDCD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33856" y="1865376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신호처리 출력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R, Az, El (안테나 극좌표)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2926080" y="2345436"/>
            <a:ext cx="201168" cy="118872"/>
          </a:xfrm>
          <a:prstGeom prst="triangle">
            <a:avLst/>
          </a:prstGeom>
          <a:solidFill>
            <a:srgbClr val="9A9A9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505456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DCDCD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33856" y="257860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 좌표계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Polar → Cartesian → (UV)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10800000">
            <a:off x="2926080" y="3058668"/>
            <a:ext cx="201168" cy="118872"/>
          </a:xfrm>
          <a:prstGeom prst="triangle">
            <a:avLst/>
          </a:prstGeom>
          <a:solidFill>
            <a:srgbClr val="9A9A9A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218688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DCDCD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33856" y="3291840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동체(Body) 좌표계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x=선수  y=우현  z=아래 (FRD)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 rot="10800000">
            <a:off x="2926080" y="3771900"/>
            <a:ext cx="201168" cy="118872"/>
          </a:xfrm>
          <a:prstGeom prst="triangle">
            <a:avLst/>
          </a:prstGeom>
          <a:solidFill>
            <a:srgbClr val="9A9A9A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3931920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DCDCD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33856" y="4005072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로컬(NED) 좌표계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x=북  y=동  z=아래   데이터처리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rot="10800000">
            <a:off x="2926080" y="4485132"/>
            <a:ext cx="201168" cy="118872"/>
          </a:xfrm>
          <a:prstGeom prst="triangle">
            <a:avLst/>
          </a:prstGeom>
          <a:solidFill>
            <a:srgbClr val="9A9A9A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4645152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DCDCD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33856" y="4718304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좌표계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지구중심 지구고정 직교좌표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 rot="10800000">
            <a:off x="2926080" y="5198364"/>
            <a:ext cx="201168" cy="118872"/>
          </a:xfrm>
          <a:prstGeom prst="triangle">
            <a:avLst/>
          </a:prstGeom>
          <a:solidFill>
            <a:srgbClr val="9A9A9A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5358384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DCDCD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33856" y="5431536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 좌표계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  경도  고도 → 전시기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541264" y="204825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극좌표를 x, y, z 세 성분으로 분해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표현만 바꿀 뿐 · 회전도 이동도 없음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541264" y="276148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C_body ← ant = Rz(설치방위)  ·  Ry(백틸트)  +  레버암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회전+이동   설치 도면이 공급 · 고정형이라 상수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541264" y="347472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C_ned ← body = Rz(yaw)  ·  Ry(pitch)  ·  Rx(roll)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   INS 자세가 공급 · 매 순간 변함 · 곱하는 순서는 yaw → pitch → roll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541264" y="418795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C_ecef ← ned(위도, 경도)  +  배의 ECEF 위치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회전+이동   INS 위치가 공급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541264" y="490118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  ·  고도 반복 계산  (값이 안 변할 때까지)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WGS-84 타원체  직교좌표 → 위경도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32888" y="566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64408" y="749808"/>
            <a:ext cx="9601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224528" y="749808"/>
            <a:ext cx="7400239" cy="0"/>
          </a:xfrm>
          <a:prstGeom prst="line">
            <a:avLst/>
          </a:prstGeom>
          <a:noFill/>
          <a:ln w="11430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274320" y="3017520"/>
            <a:ext cx="3675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설계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6419088"/>
            <a:ext cx="7967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01768" y="1783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797296" y="17830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조건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01768" y="26517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797296" y="26517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좌표계 선정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01768" y="3520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5797296" y="35204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변환 – 안테나 → 동체 → 로컬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001768" y="4389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797296" y="43891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변환 – 로컬 → ECEF → 위경도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01768" y="5257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5797296" y="52578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역변환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설계 조건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조건 여섯 가지와, 그것이 설계를 어떻게 묶는가</a:t>
            </a:r>
            <a:endParaRPr lang="en-US" sz="14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73936"/>
          <a:ext cx="10360152" cy="3621024"/>
        </p:xfrm>
        <a:graphic>
          <a:graphicData uri="http://schemas.openxmlformats.org/drawingml/2006/table">
            <a:tbl>
              <a:tblPr/>
              <a:tblGrid>
                <a:gridCol w="1737360"/>
                <a:gridCol w="4160520"/>
                <a:gridCol w="446227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설계에 미치는 영향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47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플랫폼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해상 함선, 고정형 안테나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안테나 → 동체 변환이 상수.  배의 흔들림은 INS 자세로 보상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안테나 설치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선수 기준 시계방향 90°, 무게중심에서 30m 뒤 / 10m 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설치 방위 90°, 백틸트 0°, 레버암 (-30, 0, -10) 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INS 설치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무게중심과 축 일치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INS 값 (자세 · 위치)을 보정 없이 그대로 동체 값으로 쓴다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입력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안테나 기준 거리 · 방위각 · 고각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체인의 출발점 = 안테나 극좌표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처리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로컬 좌표계에서 수행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체인의 중간 목적지 = 로컬 수평 좌표계(NED)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출력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 / 경 / 고도 + 안테나 극좌표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정변환뿐 아니라 역변환도 필요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단계별 좌표계 선정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조건 여섯 가지와, 그것이 설계를 어떻게 묶는가</a:t>
            </a:r>
            <a:endParaRPr lang="en-US" sz="14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73936"/>
          <a:ext cx="10360152" cy="3255264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697687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왜 이것인가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47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안테나 – 극좌표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레이다가 물리적으로 잴 수 있는 것이 거리와 두 각도뿐이다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안테나 – 직교좌표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회전행렬은 벡터에만 곱할 수 있다.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동체(Body)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안테나 · INS · 무장이 만나는 유일한 공통 기준.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로컬(NED)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배와 함께 가되 흔들리지는 않아 표적의 실제 움직임만 남는다 → 여기서 추적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NED 인 이유: 동체 FRD 와 축 의미가 같다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ECEF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 위치를 더하려면 지구에 고정된 직교좌표가 필요 – 로컬과 위경도의 다리 역할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전시기 · 통제제어가 지도 위에 표시하는 형식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914400" y="5212080"/>
            <a:ext cx="2487168" cy="676656"/>
          </a:xfrm>
          <a:prstGeom prst="roundRect">
            <a:avLst>
              <a:gd name="adj" fmla="val 6757"/>
            </a:avLst>
          </a:prstGeom>
          <a:solidFill>
            <a:srgbClr val="DCDCD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15568" y="528523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무게중심에 축을 맞춰 설치.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547872" y="5212080"/>
            <a:ext cx="2487168" cy="676656"/>
          </a:xfrm>
          <a:prstGeom prst="roundRect">
            <a:avLst>
              <a:gd name="adj" fmla="val 6757"/>
            </a:avLst>
          </a:prstGeom>
          <a:solidFill>
            <a:srgbClr val="DCDCD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749040" y="528523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UV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방향만 있고 거리가 없다.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81344" y="5212080"/>
            <a:ext cx="2487168" cy="676656"/>
          </a:xfrm>
          <a:prstGeom prst="roundRect">
            <a:avLst>
              <a:gd name="adj" fmla="val 6757"/>
            </a:avLst>
          </a:prstGeom>
          <a:solidFill>
            <a:srgbClr val="DCDCD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82512" y="528523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ECI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관성 동역학 전파가 필요할 때만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(위성 · 탄도탄)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14816" y="5212080"/>
            <a:ext cx="2487168" cy="676656"/>
          </a:xfrm>
          <a:prstGeom prst="roundRect">
            <a:avLst>
              <a:gd name="adj" fmla="val 6757"/>
            </a:avLst>
          </a:prstGeom>
          <a:solidFill>
            <a:srgbClr val="DCDCD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15984" y="528523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ENU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NED 와 정보량이 같다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동체 FRD 와 축 의미가 다름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단계별 변환    안테나 → 동체 → 로컬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316736"/>
            <a:ext cx="2212848" cy="129844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0704" y="1463040"/>
            <a:ext cx="1920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안테나 극좌표</a:t>
            </a:r>
            <a:endParaRPr lang="en-US" sz="1400" dirty="0"/>
          </a:p>
          <a:p>
            <a:pPr marL="0" indent="0" algn="ctr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직교 좌표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D8D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변경 (회전 · 이동 없음)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316736"/>
            <a:ext cx="7982712" cy="1298448"/>
          </a:xfrm>
          <a:prstGeom prst="roundRect">
            <a:avLst>
              <a:gd name="adj" fmla="val 3521"/>
            </a:avLst>
          </a:prstGeom>
          <a:solidFill>
            <a:srgbClr val="E7E7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47872" y="1444752"/>
            <a:ext cx="7498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= R cos El sin Az = 20,000 × cos 0° × sin 30° = +10,000.00 m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= R sin El = 20,000 × sin 0° = 0.00 m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= R cos El cos Az = 20,000 × cos 0° × cos 30° = +17,320.51 m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 안테나 = ( +10,000.00, 0.00, +17,320.51 ) 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779776"/>
            <a:ext cx="2212848" cy="146304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60704" y="29260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안테나 → 동체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D8D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 + 평행이동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2779776"/>
            <a:ext cx="7982712" cy="1463040"/>
          </a:xfrm>
          <a:prstGeom prst="roundRect">
            <a:avLst>
              <a:gd name="adj" fmla="val 3125"/>
            </a:avLst>
          </a:prstGeom>
          <a:solidFill>
            <a:srgbClr val="E7E7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47872" y="292608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동체 = Rz(90°)·Ry(0°)·A·p 안테나 + 레버암    A = Rz(−90°)·Rx(−90°) ( 축 맞춤 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2186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1   0   0 ]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828032" y="32186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+10,000.00 ]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32186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+10,000.00 ]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717536" y="321868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−30 ]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631936" y="32186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+9,970.00 ]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34198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0   0   1 ]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34198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  0.00 ]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272784" y="34198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+17,320.51 ]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717536" y="341985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0 ]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631936" y="34198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+17,320.51 ]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36210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0  −1   0 ]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828032" y="362102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+17,320.51 ]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272784" y="362102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  0.00 ]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7717536" y="362102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−10 ]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8631936" y="362102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−10.00 ]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672584" y="341985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135624" y="341985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580376" y="341985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513064" y="341985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547872" y="39867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 동체 = ( +9,970.00, +17,320.51, −10.00 ) 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4400" y="4407408"/>
            <a:ext cx="2212848" cy="146304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60704" y="4553712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동체 → 로컬 (NED)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D8D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회전만 (원점이 같음)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91840" y="4407408"/>
            <a:ext cx="7982712" cy="1463040"/>
          </a:xfrm>
          <a:prstGeom prst="roundRect">
            <a:avLst>
              <a:gd name="adj" fmla="val 3125"/>
            </a:avLst>
          </a:prstGeom>
          <a:solidFill>
            <a:srgbClr val="E7E7E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547872" y="453542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pNED = Rz(45°)·Ry(0°)·Rx(0°)·p 동체 = Rz(45°)·p 동체 (cos 45° = sin 45° = 0.7071)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566160" y="4828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cos 45°  −sin 45°   0 ]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394960" y="482803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+9,970.00 ]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6839712" y="482803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−5,197.59 ]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3566160" y="50292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sin 45°   cos 45°   0 ]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394960" y="50292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+17,320.51 ]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6839712" y="50292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+19,297.30 ]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3566160" y="52303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0         0      1 ]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5394960" y="52303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−10.00 ]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839712" y="52303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−10.00 ]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5321808" y="502920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711696" y="502920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321040" y="480974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= cos45°·(+9,970.00) − sin45°·17,320.51</a:t>
            </a:r>
            <a:endParaRPr lang="en-US" sz="85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= sin45°·(+9,970.00) + cos45°·17,320.51</a:t>
            </a:r>
            <a:endParaRPr lang="en-US" sz="85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= −10.00 (z 그대로)</a:t>
            </a:r>
            <a:endParaRPr lang="en-US" sz="8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 = 180° − arctan(E/N) = 105.074°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3547872" y="559612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pNED = ( −5,197.59, +19,297.30, −10.00 ) m, 방위 105.074°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단계별 변환    로컬 → ECEF → 위경도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335024"/>
            <a:ext cx="2212848" cy="212140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0704" y="21579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로컬 → ECEF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8D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 + 평행이동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1335024"/>
            <a:ext cx="7982712" cy="2121408"/>
          </a:xfrm>
          <a:prstGeom prst="roundRect">
            <a:avLst>
              <a:gd name="adj" fmla="val 2155"/>
            </a:avLst>
          </a:prstGeom>
          <a:solidFill>
            <a:srgbClr val="E7E7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11296" y="144475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RN = a / √(1 − e² sin²φ) = 6,378,137 / √(1 − 0.00669438 × 0.5935²) = 6,385,671.08 m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배 = ( (RN+h) cosφ cosλ, (RN+h) cosφ sinλ, (RN(1−e²)+h) sinφ )  (φ = 36.408°, λ = 127.307°, h = 0)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= ( −3,114,830.11, +4,087,762.85, +3,764,723.10 ) m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Cecef←ned = Rz(λ)·Ry(−90° − φ)   (sinφ = 0.5935, cosφ = 0.8048, sinλ = 0.7954, cosλ = −0.6061)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24323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−sinφ cosλ   −sinλ   −cosφ cosλ ]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961888" y="243230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0.3597   −0.7954    0.4878 ]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74736" y="2432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−5,197.59 ]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473184" y="2432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−17,223.68 ]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511296" y="2651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−sinφ sinλ    cosλ   −cosφ sinλ ]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961888" y="265176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−0.4721   −0.6061   −0.6401 ]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8174736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+19,297.30 ]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9473184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−9,235.66 ]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3511296" y="28712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  cosφ       0        −sinφ ]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5961888" y="287121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0.8048         0   −0.5935 ]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174736" y="28712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−10.00 ]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473184" y="28712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−4,177.15 ]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815584" y="265176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265176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265176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511296" y="318211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P 표적 = P 배 + C · pNED = (  −3,125,892.50,   +4,093,774.96,   +3,749,164.21 ) 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3602736"/>
            <a:ext cx="2212848" cy="1883664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60704" y="4297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ECEF → LLA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8D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 · 고도 반복 계산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291840" y="3602736"/>
            <a:ext cx="7982712" cy="1883664"/>
          </a:xfrm>
          <a:prstGeom prst="roundRect">
            <a:avLst>
              <a:gd name="adj" fmla="val 2427"/>
            </a:avLst>
          </a:prstGeom>
          <a:solidFill>
            <a:srgbClr val="E7E7E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11296" y="3730752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경도 λ = arctan(Y / X) = arctan( 4,078,527.19 / −3,132,053.79 ) = 127.522008°      ( X &lt; 0, Y &gt; 0 → 2 사분면 )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 φ : p = √(X² + Y²) = 5,142,387.09 m,     φ0 = arctan(Z / p) = 36.177411°      ( 지구를 구로 본 첫 값 )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tan φ = ( Z + e² RN sinφ ) / p   에 φ0 를 넣고 되풀이 :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φ1 = 36.360167°  →  φ2 = 36.360964°  →  φ3 = 36.360967°  →  φ4 = 36.360967176°      ( 변화 &lt; 1e-7°, 멈춤 )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 h = p / cosφ − RN = 6,385,695.57 − 6,385,654.29 = 41.2824 m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표적 LLA = ( 36.360967176°N, 127.522008441°E, 41.2824 m 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" y="5614416"/>
            <a:ext cx="10360152" cy="0"/>
          </a:xfrm>
          <a:prstGeom prst="line">
            <a:avLst/>
          </a:prstGeom>
          <a:noFill/>
          <a:ln w="11430">
            <a:solidFill>
              <a:srgbClr val="A8A8A8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914400" y="5632704"/>
            <a:ext cx="10360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LLA  =    36.360967176°N        127.522008441°E        고도 41.2824 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14400" y="5943600"/>
            <a:ext cx="10360152" cy="0"/>
          </a:xfrm>
          <a:prstGeom prst="line">
            <a:avLst/>
          </a:prstGeom>
          <a:noFill/>
          <a:ln w="11430">
            <a:solidFill>
              <a:srgbClr val="A8A8A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역변환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10360152" cy="914400"/>
          </a:xfrm>
          <a:prstGeom prst="roundRect">
            <a:avLst>
              <a:gd name="adj" fmla="val 5000"/>
            </a:avLst>
          </a:prstGeom>
          <a:solidFill>
            <a:srgbClr val="DCDCD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517904"/>
            <a:ext cx="9994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역변환은 새로울 게 없다</a:t>
            </a:r>
            <a:endParaRPr lang="en-US" sz="1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회전은 전치(transpose)          ② 평행이동은 빼기          ③ 순서는 거꾸로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2487168"/>
            <a:ext cx="10360152" cy="2340864"/>
          </a:xfrm>
          <a:prstGeom prst="roundRect">
            <a:avLst>
              <a:gd name="adj" fmla="val 1953"/>
            </a:avLst>
          </a:prstGeom>
          <a:solidFill>
            <a:srgbClr val="DCDCD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98448" y="28346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LLA ( 36.360967°N,     127.522008°E,     41.2824 m 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13639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ECEF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136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정변환과 같은 공식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43814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로컬 NED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127248" y="34381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C_ecef←ned^T × ( 표적 − 배 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38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전치 + 빼기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7398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동체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127248" y="37398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C_ned←body^T × p_ned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739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전치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404164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안테나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127248" y="40416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C_body←ant^T × (p_body − 레버암 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041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전치 + 빼기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43434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극좌표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127248" y="43434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= √(x²+y²+z²),      Az = atan2(y, x),      El = atan2(−z, √(x²+y²))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4400" y="5029200"/>
            <a:ext cx="10360152" cy="841248"/>
          </a:xfrm>
          <a:prstGeom prst="roundRect">
            <a:avLst>
              <a:gd name="adj" fmla="val 5435"/>
            </a:avLst>
          </a:prstGeom>
          <a:solidFill>
            <a:srgbClr val="DCDCD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029200"/>
            <a:ext cx="10360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:  R = 20,000.000000 m          Az = 30.000000°          El = 0.000000°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3920</Words>
  <Application>Microsoft Office PowerPoint</Application>
  <PresentationFormat>사용자 지정</PresentationFormat>
  <Paragraphs>652</Paragraphs>
  <Slides>22</Slides>
  <Notes>22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3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좌표계와 좌표변환</dc:title>
  <dc:subject>레이다 표적 좌표변환 설계</dc:subject>
  <dc:creator>PptxGenJS</dc:creator>
  <cp:lastModifiedBy>harley</cp:lastModifiedBy>
  <cp:revision>2</cp:revision>
  <dcterms:created xsi:type="dcterms:W3CDTF">2026-09-08T14:28:41Z</dcterms:created>
  <dcterms:modified xsi:type="dcterms:W3CDTF">2026-09-08T14:34:23Z</dcterms:modified>
</cp:coreProperties>
</file>