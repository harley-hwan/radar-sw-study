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Part 2 과제인 좌표계와 좌표변환 발표를 시작하겠습니다.</a:t>
            </a:r>
          </a:p>
          <a:p>
            <a:r>
              <a:t>이번 과제는 한 문장으로 줄이면 이렇습니다. 안테나가 잰 거리 20 km, 방위각 30도, 고각 0도 이 세 숫자를, 전시기가 쓸 북위 36.2337도 동경 127.3643도 고도 41.5 m 로 바꾸는 것입니다.</a:t>
            </a:r>
          </a:p>
          <a:p>
            <a:r>
              <a:t>그 사이에 어떤 좌표계를 거쳐야 하고, 왜 그 순서여야 하고, C 로 짠 코드가 맞았는지를 어떻게 확인했는지 순서로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덩어리로 진행하겠습니다.</a:t>
            </a:r>
          </a:p>
          <a:p>
            <a:r>
              <a:t>01 은 좌표계 학습입니다. 과제가 지정한 여섯 개 항목을, 실제 좌표계로 세면 열 종인데, 안테나 쪽 셋, 플랫폼 쪽 넷, 지구 쪽 셋으로 묶어 정리했습니다.</a:t>
            </a:r>
          </a:p>
          <a:p>
            <a:r>
              <a:t>02 는 설계입니다. 과제 조건 여섯 개가 각각 무엇을 지정하는지 보고, 5단계 변환 체인을 세웁니다.</a:t>
            </a:r>
          </a:p>
          <a:p>
            <a:r>
              <a:t>03 은 C 구현과 검증입니다. 코드가 어떻게 생겼고, 실행 결과가 어떻게 나오고, 그게 맞다는 것을 어떻게 확인했는지입니다.</a:t>
            </a:r>
          </a:p>
          <a:p>
            <a:r>
              <a:t>세는 단위를 여기서 한 번만 정해 두겠습니다. 과제 항목은 여섯 개, 좌표계는 열 종, 변환 사슬은 5단계 6마디입니다. 이후 슬라이드는 전부 이 정의를 따릅니다.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왜 좌표계를 여러 번 갈아타야 하는지부터 말씀드리겠습니다. 입력과 출력 사이에 어긋남이 셋 있기 때문입니다.</a:t>
            </a:r>
          </a:p>
          <a:p>
            <a:r>
              <a:t>첫째, 설치 기하입니다. 안테나가 뱃머리를 보고 있지 않습니다. 선수 기준 시계방향 90도, 즉 우현을 봅니다. 게다가 무게중심에 있지도 않습니다. 30 m 뒤, 10 m 위입니다. 그래서 회전과 평행이동이 둘 다 필요합니다.</a:t>
            </a:r>
          </a:p>
          <a:p>
            <a:r>
              <a:t>둘째, 함선 자세입니다. 파도 때문에 배가 매 순간 흔들립니다. 이번 입력은 선수방위 45도입니다. 그래서 자세 회전이 필요합니다.</a:t>
            </a:r>
          </a:p>
          <a:p>
            <a:r>
              <a:t>셋째, 지구 형상입니다. 배가 지구 위 한 점에 얹혀 있고, 그 지구는 평면도 구도 아닙니다. 그래서 타원체 변환이 필요합니다.</a:t>
            </a:r>
          </a:p>
          <a:p>
            <a:r>
              <a:t>아래가 그 결과로 나온 사슬입니다. 안테나 극좌표에서 출발해 안테나 직교, 동체, NED, ECEF 를 거쳐 위경고도까지 갑니다. 화살표 위의 조건 번호가 그 단계를 요구한 근거입니다.</a:t>
            </a:r>
          </a:p>
          <a:p>
            <a:r>
              <a:t>이 세 어긋남은 뒤에서 각각 숫자로 되돌아옵니다. 30 m, 5.9 km, 31.5 m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의 첫 장, 안테나 좌표계입니다. 셋이 나오지만 서로 다른 좌표계가 아니라 같은 방향을 세 가지로 적은 것입니다.</a:t>
            </a:r>
          </a:p>
          <a:p>
            <a:r>
              <a:t>Polar 는 신호처리가 내주는 측정 원값입니다. 거리 하나와 각도 둘. 오차도 이 축 기준으로 붙습니다. 조건 4의 입력이자 조건 6의 출력이라 사슬의 양 끝이 전부 이 표기입니다. 다만 각도끼리는 더할 수 없어서, 이 표기로는 회전도 평행이동도 못 합니다.</a:t>
            </a:r>
          </a:p>
          <a:p>
            <a:r>
              <a:t>그래서 Cartesian 으로 폅니다. x 가 정면, y 가 우현, z 가 아래입니다. 회전행렬을 곱할 수 있는 유일한 형태라 첫 단계에서 바로 변환합니다. 여기서 규약 하나를 고정합니다. z 축이 아래가 양수라서, 고각이 양수인 표적은 z 가 음수가 됩니다. 이 규약은 이후 모든 좌표계에 그대로 이어집니다.</a:t>
            </a:r>
          </a:p>
          <a:p>
            <a:r>
              <a:t>UV 는 방향코사인입니다. 위상배열의 빔 조향 격자와 안테나 패턴이 이 평면에서 등간격·선형으로 나오기 때문에 신호처리 쪽에서 씁니다. 이번 설계에서는 쓰지 않는데, 고정형이라서가 아닙니다. 고정면 배열이라도 전자 조향을 하면 UV 는 계속 쓰입니다. 다만 조건 4가 이미 R, Az, El 로 넘겨주기 때문에 데이터 처리 사슬 안에는 들어올 자리가 없는 것입니다.</a:t>
            </a:r>
          </a:p>
          <a:p>
            <a:r>
              <a:t>마지막으로 되돌릴 때는 asin 이 아니라 atan2 를 씁니다. 반올림으로 인자가 1 을 넘으면 asin 은 NaN 을 내고, 사분면 판정도 못 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플랫폼 쪽 좌표계 넷입니다.</a:t>
            </a:r>
          </a:p>
          <a:p>
            <a:r>
              <a:t>동체 좌표계는 함선 무게중심이 원점이고 x 가 선수, y 가 우현, z 가 아래입니다. 함선에 고정되어 있어서 자세와 무관합니다. 여기가 중요한 이유는, 조건 2의 설치 정보 — 회전 90도와 레버암 — 를 여기서 전부 흡수해 버리기 때문입니다. 그 다음 단계부터는 함선만 신경 쓰면 됩니다.</a:t>
            </a:r>
          </a:p>
          <a:p>
            <a:r>
              <a:t>INS 는 조건 3에 의해 동체와 원점도 축도 일치합니다. 그래서 좌표계로는 존재하지만 변환 단계는 없습니다. roll, pitch, yaw 를 동체에서 NED 로 가는 회전에 그대로 대입할 뿐입니다. 축이 어긋난 함정이면 여기에 정렬 회전이 한 단계 더 들어갑니다.</a:t>
            </a:r>
          </a:p>
          <a:p>
            <a:r>
              <a:t>NED 는 함선 바로 아래 접평면입니다. 북, 동, 아래. 조건 5가 지정한 데이터 처리 좌표계입니다.</a:t>
            </a:r>
          </a:p>
          <a:p>
            <a:r>
              <a:t>ENU 는 쓰지 않습니다. NED 와는 앞 두 축을 맞바꾸고 세 번째 축 부호를 뒤집은 관계라 둘 다 오른손 좌표계로 남습니다. 단순히 축만 바꾸면 왼손 좌표계가 되니까요. 동체의 z 아래 규약과 3-2-1 자세 정의에 그대로 이어지는 NED 를 택해 부호 변환 단계를 없앴습니다.</a:t>
            </a:r>
          </a:p>
          <a:p>
            <a:r>
              <a:t>왜 굳이 로컬을 쓰느냐. 위경도에서 직접 추적 필터를 돌리면 경도 1도의 실제 거리가 위도마다 달라서 등속 직선운동이 직선으로 표현되지 않습니다.</a:t>
            </a:r>
          </a:p>
          <a:p>
            <a:r>
              <a:t>대신 대가가 있습니다. NED 평면은 평평하므로 NED 의 z 를 그대로 고도로 읽으면 안 됩니다. 20 km 나가면 타원체고가 31.5 m 커집니다. 그래서 4단계와 5단계로 ECEF 와 LLA 를 거칩니다.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지구 쪽 좌표계 셋입니다.</a:t>
            </a:r>
          </a:p>
          <a:p>
            <a:r>
              <a:t>ECEF 는 지구 중심이 원점이고 지구와 함께 회전합니다. X 가 그리니치 적도, Z 가 자전축입니다. 경유로 씁니다. 국소 평면을 지구 전역 좌표로 올리는 유일한 다리이기 때문입니다. 원점이 플랫폼에 묶여 있지 않아서 다른 플랫폼이나 전시기와 같은 좌표로 대화할 수 있다는 것도 이유입니다.</a:t>
            </a:r>
          </a:p>
          <a:p>
            <a:r>
              <a:t>ECI 는 원점은 같고 축이 별 기준으로 관성 고정입니다. ECEF 와는 자전축 둘레 회전 하나 차이입니다. 이번 설계에서는 쓰지 않습니다. 사슬 전체가 지구고정계 안에서 닫히고 관성 전파나 천측이 없기 때문입니다. 위성이나 궤도 카탈로그와 연동할 때만 이 한 단계가 붙고, 그때는 시각 동기가 정밀도를 지배합니다. 1 밀리초면 적도에서 0.47 m 입니다.</a:t>
            </a:r>
          </a:p>
          <a:p>
            <a:r>
              <a:t>LLA 는 WGS-84 타원체 기준 위도, 경도, 타원체고입니다. 조건 6이 요구하는 최종 출력 형식이고 사람과 전시기가 읽는 형식입니다.</a:t>
            </a:r>
          </a:p>
          <a:p>
            <a:r>
              <a:t>오른쪽 그림이 왜 지구 모양이 개입하는지 보여줍니다. 타원체면의 법선이 지구 중심을 지나지 않습니다. 그래서 측지위도와 지심위도가 갈리고, 그 차이가 위도 45도 부근에서 최대 0.192도까지 벌어집니다. 타원체고는 그 법선을 따라 잰 높이입니다.</a:t>
            </a:r>
          </a:p>
          <a:p>
            <a:r>
              <a:t>마지막으로 고도 함정 하나. 타원체고는 해발고도가 아닙니다. 한국 근해 지오이드고가 20에서 25 m 정도라, 타원체고 41.5 m 는 해발로는 17에서 22 m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설계로 넘어갑니다. 과제 조건 여섯 개를 하나씩 보겠습니다. 이 조건들은 배경 설명이 아니라 설계 사양입니다.</a:t>
            </a:r>
          </a:p>
          <a:p>
            <a:r>
              <a:t>조건 1, 해상 함선에 고정형 안테나. 안테나 지향이 상수라 짐벌 단계가 없습니다. 대신 파도로 자세가 매 순간 변해서 자세 변환은 필수입니다.</a:t>
            </a:r>
          </a:p>
          <a:p>
            <a:r>
              <a:t>조건 2, 선수 기준 시계 90도, 무게중심 뒤 30 m 위 10 m. 안테나에서 동체로 가는 데 회전과 레버암 두 항이 모두 필요합니다. 회전만으로는 안 됩니다.</a:t>
            </a:r>
          </a:p>
          <a:p>
            <a:r>
              <a:t>조건 3, INS 가 무게중심과 축이 일치. 변환 단계 하나를 지웁니다.</a:t>
            </a:r>
          </a:p>
          <a:p>
            <a:r>
              <a:t>조건 4, 입력이 안테나 기준 R, Az, El. 사슬의 시작점이 확정됩니다.</a:t>
            </a:r>
          </a:p>
          <a:p>
            <a:r>
              <a:t>조건 5, 데이터 처리는 로컬에서. NED 를 처리 좌표계로 확정합니다. 여기서 멈추라는 조건이지 ECEF 로 올라가라는 조건이 아닙니다.</a:t>
            </a:r>
          </a:p>
          <a:p>
            <a:r>
              <a:t>조건 6, 출력이 위경고도와 안테나 극좌표 둘 다. ECEF 경유와 LLA 도달을 요구하는 유일한 조건이고, 동시에 모든 변환을 정·역 쌍으로 만드는 조건입니다.</a:t>
            </a:r>
          </a:p>
          <a:p>
            <a:r>
              <a:t>정리하면 조건 3이 단계 하나를 지우고, 조건 5가 하나를 고정하고, 조건 6이 함수 개수를 두 배로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조건 2를 그림으로 옮기면 이렇습니다.</a:t>
            </a:r>
          </a:p>
          <a:p>
            <a:r>
              <a:t>왼쪽 평면도를 보시면 진북에서 배가 시계방향 45도를 향하고, 그 선수를 기준으로 안테나가 다시 시계방향 90도, 그 안테나 정면을 기준으로 표적이 30도에 있습니다. 세 각이 누적되어 진북 기준 165도가 됩니다.</a:t>
            </a:r>
          </a:p>
          <a:p>
            <a:r>
              <a:t>그런데 코드가 낸 NED 결과는 165.074도입니다. 0.074도 차이가 나는데, 이게 오차가 아닙니다. 165.000도는 레버암을 0 으로 놓고 안테나 보어사이트에서 잰 값이고, 165.074도는 NED 원점인 무게중심에서 본 표적 방위입니다. 안테나가 무게중심보다 30 m 뒤에 있어서 두 기준점에서 본 방위가 갈리는 것이고, 20 km 에서 약 26 m 횡변위에 해당합니다.</a:t>
            </a:r>
          </a:p>
          <a:p>
            <a:r>
              <a:t>오른쪽 측면도가 부호를 보여줍니다. z 축이 아래가 양수라서, 뒤 30 m 위 10 m 는 마이너스 30, 0, 마이너스 10 이 됩니다. 처음 보면 반드시 헷갈리는 부분입니다.</a:t>
            </a:r>
          </a:p>
          <a:p>
            <a:r>
              <a:t>그리고 한 가지 더. 레버암은 회전이 아니라 평행이동입니다. 그래서 표적이 20 km 든 100 km 든 같은 30 m, 10 m 가 그대로 남습니다. 거리에 비례해 희석되는 각도 오차와 구분되는 이 항의 서명입니다.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설계의 결론입니다. 5단계 변환 체인입니다.</a:t>
            </a:r>
          </a:p>
          <a:p>
            <a:r>
              <a:t>표를 읽는 법을 먼저 말씀드리면, 위의 공식 한 줄입니다. 새 좌표는 회전행렬에 옛 좌표를 곱하고 평행이동을 더한 것입니다. 원점이 같으면 평행이동이 0 이라 회전만 남고, 원점이 다르면 평행이동이 붙습니다.</a:t>
            </a:r>
          </a:p>
          <a:p>
            <a:r>
              <a:t>1단계는 극좌표를 직교로 폅니다. 회전도 이동도 없고 삼각함수뿐입니다.</a:t>
            </a:r>
          </a:p>
          <a:p>
            <a:r>
              <a:t>2단계 안테나에서 동체로는 설치 방위 회전과 레버암이 둘 다 있습니다. 원점이 다르기 때문입니다.</a:t>
            </a:r>
          </a:p>
          <a:p>
            <a:r>
              <a:t>3단계 동체에서 NED 로는 회전만입니다. 원점이 같습니다. 여기가 조건 5의 처리 좌표계입니다.</a:t>
            </a:r>
          </a:p>
          <a:p>
            <a:r>
              <a:t>4단계 NED 에서 ECEF 로는 위경도로 정해지는 회전에 함선의 ECEF 위치를 더합니다.</a:t>
            </a:r>
          </a:p>
          <a:p>
            <a:r>
              <a:t>5단계 ECEF 에서 LLA 로는 회전이 아니라 WGS-84 반복해입니다. 이 단계만 예외인데 12p 에서 따로 보겠습니다.</a:t>
            </a:r>
          </a:p>
          <a:p>
            <a:r>
              <a:t>아래 띠가 역방향입니다. 역은 회전을 전치하고 평행이동을 빼고 순서를 뒤집는 것입니다. 새로 배울 것이 없습니다. 다만 더하기와 돌리기는 교환되지 않고 3-2-1 곱 순서도 교환되지 않습니다. 순서를 바꾸면 컴파일도 실행도 정상이고 값만 조용히 틀립니다.</a:t>
            </a:r>
          </a:p>
          <a:p>
            <a:r>
              <a:t>그리고 조건 6이 출력 두 개를 요구하는 이유입니다. LLA 는 함선이 움직여도 변하지 않는 절대 좌표라 전시기와 상급부대가 공유합니다. 안테나 극좌표는 추적 게이트와 빔 재지향에 쓰는 상대 좌표입니다. 그래서 역변환은 값을 되돌리는 검사가 아니라 실제 운용 경로입니다.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구현입니다. 먼저 구조입니다.</a:t>
            </a:r>
          </a:p>
          <a:p>
            <a:r>
              <a:t>CoordCore 는 정적 라이브러리입니다. 좌표변환을 담은 coord_frames 와, 지급받은 matrixCalcLib 을 원본 그대로 넣었습니다. radar_coord 는 콘솔이고 과제 3.1 입력으로 단계별 값과 왕복오차, 최종 출력을 찍습니다. CoordUI 는 MFC 다이얼로그인데 변환 로직이 한 줄도 없이 f_ 함수만 부릅니다. 슬라이더로 자세를 바꿔 가며 확인할 수 있습니다.</a:t>
            </a:r>
          </a:p>
          <a:p>
            <a:r>
              <a:t>이렇게 나눈 이유는 로직이 한 곳에만 있으면 검증 대상이 하나로 고정되기 때문입니다.</a:t>
            </a:r>
          </a:p>
          <a:p>
            <a:r>
              <a:t>오른쪽이 헤더입니다. 좌표계마다 타입을 따로 뒀습니다. 전부 double 세 개짜리지만, ST_Polar 자리에 ST_Lla 를 넣는 실수를 컴파일러가 잡아 줍니다.</a:t>
            </a:r>
          </a:p>
          <a:p>
            <a:r>
              <a:t>API 는 열 개인데 정확히 다섯 쌍입니다. f_AntToBody 가 있으면 f_BodyToAnt 가 반드시 있습니다. 짝이 없는 함수가 있으면 그 자체가 설계가 덜 끝났다는 신호입니다.</a:t>
            </a:r>
          </a:p>
          <a:p>
            <a:r>
              <a:t>그리고 조건이 코드가 되는 지점을 하나 보시면, main.c 의 ST_Mount 초기화 한 줄입니다. 조건 2가 상수 하나로 그대로 들어옵니다. 고정형이라 런타임에 안 바뀝니다.</a:t>
            </a:r>
          </a:p>
          <a:p>
            <a:r>
              <a:t>마지막으로 지급 라이브러리 함정 하나. Matrix_Identity 가 9×9 기준이라 3×3 에 쓸 수 없습니다. Matrix_initialize 로 3×3 을 잡은 뒤 0 이 아닌 칸만 채웠습니다.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구현 원칙 두 가지입니다.</a:t>
            </a:r>
          </a:p>
          <a:p>
            <a:r>
              <a:t>첫째, 이름에 방향을 박습니다. f_AntToBody 와 f_BodyToAnt 처럼요. 여기서 중요한 것은 정변환과 역변환이 같은 회전행렬 함수를 공유한다는 점입니다. 그래서 한쪽만 고치는 실수가 구조적으로 불가능하고, 틀릴 수 있는 지점이 회전행렬을 만드는 세 함수로 줄어듭니다.</a:t>
            </a:r>
          </a:p>
          <a:p>
            <a:r>
              <a:t>둘째, 회전은 축 회전 곱으로만 만들고 역은 전치로만 합니다. 3×3 원소 아홉 개를 손으로 쓰면 부호 하나 틀려도 눈으로 못 잡습니다. 왼쪽 위 코드를 보시면 동체에서 NED 로 가는 회전이 Rz, Ry, Rx 를 곱한 한 줄입니다. 3-2-1 순서가 이 함수 하나에 갇혀 있습니다.</a:t>
            </a:r>
          </a:p>
          <a:p>
            <a:r>
              <a:t>아래 코드가 역변환인데, 새 행렬을 만들지 않습니다. 같은 함수로 회전행렬을 만들고 Matrix_Transpose 한 번입니다. Matrix_Inverse 도 쓰지 않습니다. 직교행렬이라 전치가 곧 역이고, 일반 역행렬보다 정확하고 빠릅니다.</a:t>
            </a:r>
          </a:p>
          <a:p>
            <a:r>
              <a:t>마지막으로 개념 하나만 짚고 가면, 회전은 좌표축을 바꾸는 것이지 점을 옮기는 것이 아닙니다. 표적은 가만히 있고 그것을 재는 축만 갈아탑니다.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단계 중 넷은 닫힌 식입니다. 이 단계만 예외입니다.</a:t>
            </a:r>
          </a:p>
          <a:p>
            <a:r>
              <a:t>이유는 6p 그림에 있습니다. 타원체면의 법선이 지구 중심을 지나지 않기 때문에 위도와 고도가 서로를 참조합니다. 위도를 알아야 곡률반경 N 이 나오고, N 을 알아야 위도가 나옵니다.</a:t>
            </a:r>
          </a:p>
          <a:p>
            <a:r>
              <a:t>그래서 반복으로 풉니다. 초기값은 지구를 구로 본 위도, 고도 0 입니다. 위도와 고도를 번갈아 계산하면서 둘 다 허용오차 안에 들어오면 멈춥니다.</a:t>
            </a:r>
          </a:p>
          <a:p>
            <a:r>
              <a:t>오른쪽이 실제 수렴 과정입니다. 1회 추정이 마이너스 1만 4천 미터까지 튑니다. 초기 위도를 지심위도로 잡은 대가인데, 6p 에서 본 측지-지심 위도차 0.192도가 그 정체입니다. 위도 오차 0.18도가 고도 오차 14.8 km 로 증폭된 것입니다. 그래도 3회면 미터 단위, 6회면 마이크로미터 단위로 수렴합니다.</a:t>
            </a:r>
          </a:p>
          <a:p>
            <a:r>
              <a:t>그럼에도 상한 10회를 둡니다. 실시간 태스크에서 무한루프는 오차보다 위험하기 때문입니다. 그리고 종료 조건은 위도와 고도 두 개를 동시에 만족해야 통과합니다.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 결과입니다. 위의 띠가 과제가 준 입력 전부입니다.</a:t>
            </a:r>
          </a:p>
          <a:p>
            <a:r>
              <a:t>1단계에서 극좌표가 직교로 펴집니다. 2단계에서 동체로 옮겨지는데, 여기서 눈으로 확인이 됩니다. Rz 90도가 안테나의 x 17,320 을 동체의 y 로 그대로 보냈고, x 성분 마이너스 1만에 레버암 마이너스 30 이 더해져 마이너스 10,030 이 됐습니다. 1차 확인은 여기서 끝납니다.</a:t>
            </a:r>
          </a:p>
          <a:p>
            <a:r>
              <a:t>3단계 NED 결과가 북쪽으로 마이너스 19,339, 동쪽으로 5,155 입니다. 진북 기준 165.074도, 지상거리 20,015 m 입니다.</a:t>
            </a:r>
          </a:p>
          <a:p>
            <a:r>
              <a:t>4단계 ECEF 는 자릿수가 커서 표시용으로 잘랐습니다. 여기서 눈으로 하는 확인은, 표적과 함선 두 점의 차이 크기가 약 20,015 m 로 3단계의 지상거리와 맞는지입니다.</a:t>
            </a:r>
          </a:p>
          <a:p>
            <a:r>
              <a:t>5단계에서 위경고도가 나옵니다. 반복 6회로 수렴했습니다.</a:t>
            </a:r>
          </a:p>
          <a:p>
            <a:r>
              <a:t>아래 두 상자가 조건 6이 요구한 최종 출력 두 형태입니다.</a:t>
            </a:r>
          </a:p>
          <a:p>
            <a:r>
              <a:t>구현에서 하나 신경 쓴 것은, 최종값만 찍지 않고 단계별 중간값을 전부 출력하게 만든 것입니다. 틀렸을 때 어느 단계인지 바로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 첫 장입니다. 두 가지를 하는데, 잡는 오류의 종류가 다르기 때문에 하나로 다른 하나를 대신할 수 없습니다.</a:t>
            </a:r>
          </a:p>
          <a:p>
            <a:r>
              <a:t>왼쪽이 왕복 검증입니다. 표적 위경고도에서 출발해 ECEF, NED, 동체, 안테나 직교를 거쳐 극좌표까지 다섯 단계를 되짚어 입력과 비교합니다. 결과는 R 20,000.000000 m, Az 30.000000도, El 0도로 입력과 정확히 같습니다. 왕복오차는 거리 3.6e−10 m, 각도 2.1e−12 도로 배정밀도 반올림 수준입니다.</a:t>
            </a:r>
          </a:p>
          <a:p>
            <a:r>
              <a:t>이걸로 잡히는 것은 정·역 쌍의 부호 실수, 전치 빠짐, 평행이동 순서 뒤바뀜입니다.</a:t>
            </a:r>
          </a:p>
          <a:p>
            <a:r>
              <a:t>그런데 한계가 있습니다. 정변환과 역변환이 같은 방향으로 함께 틀리면 왕복은 그대로 통과합니다. 그래서 두 번째가 필요합니다.</a:t>
            </a:r>
          </a:p>
          <a:p>
            <a:r>
              <a:t>오른쪽이 손검산입니다. 선수 45도 더하기 설치 90도 더하기 측정 30도는 165.000도인데, 코드의 NED 결과는 165.074도입니다. 그 차이 0.074도는 오차가 아닙니다. 165.000도는 레버암을 0 으로 놓고 안테나 보어사이트에서 잰 값이고, 165.074도는 NED 원점인 무게중심에서 본 표적 방위입니다. 안테나가 30 m 뒤에 있어 두 기준점에서 본 방위가 갈리는 것입니다. 8p 평면도의 두 시선이 그것이고, 이 검산식 자체는 배가 수평이고 레버암이 0일 때만 성립하는 근사입니다.</a:t>
            </a:r>
          </a:p>
          <a:p>
            <a:r>
              <a:t>이걸로 잡히는 것은 Rz 회전 방향이 시계인지 반시계인지, 3-2-1 곱 순서가 통째로 틀렸는지입니다. 3p 에서 세운 어긋남 ①의 회전 항을 검증하는 자리가 여기입니다.</a:t>
            </a:r>
          </a:p>
          <a:p>
            <a:r>
              <a:t>두 검증 모두 radar_coord 가 실행할 때마다 스스로 출력하게 만들어 두면 그대로 회귀 검사가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검증 두 번째입니다. 3p 에서 세운 세 어긋남이 여기서 숫자로 답을 받습니다.</a:t>
            </a:r>
          </a:p>
          <a:p>
            <a:r>
              <a:t>실험 A, 레버암을 빼면. 수평으로 30 m, 고도로 10 m 가 그대로 어긋납니다. 중요한 것은 표적이 멀어져도 이 오차가 줄지 않는다는 점입니다. 각도 오차가 아니라 위치 오차라서 거리에 희석되지 않습니다. 이게 이 항의 서명입니다.</a:t>
            </a:r>
          </a:p>
          <a:p>
            <a:r>
              <a:t>실험 B, roll 을 무시하면. 같은 측정값에 자세만 바꿔 넣었습니다. roll 0도에서 실제 고각이 플러스 0.03도, 10도에서 마이너스 8.61도, 20도에서 마이너스 17.19도입니다. roll 20도면 20 km 앞 표적 고도가 약 5.9 km 어긋납니다. 자세 보정은 옵션이 아닙니다.</a:t>
            </a:r>
          </a:p>
          <a:p>
            <a:r>
              <a:t>C 는 실험이 아니라 해석입니다. 로컬 평면을 고도 기준면으로 착각했을 때, 즉 NED 의 z 를 그대로 고도로 읽었을 때 생기는 값입니다. 5 km 에서 2 m, 20 km 에서 31.5 m, 100 km 에서 786 m 입니다. 이 값은 구현의 오차가 아닙니다. 왕복오차가 1e−10 인 것이 그 증거입니다. 사슬이 4단계와 5단계로 ECEF 와 LLA 를 거치는 이유입니다.</a:t>
            </a:r>
          </a:p>
          <a:p>
            <a:r>
              <a:t>마지막으로 아래 계산을 보시면, 표적 타원체고 41.50 m 는 안테나 높이 10 m 더하기 20 km 에서의 평면-타원체 차 31.5 m 입니다. 13p 의 5단계 출력이 우연이 아님을 손으로 확인한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정리하겠습니다.</a:t>
            </a:r>
          </a:p>
          <a:p>
            <a:r>
              <a:t>과제 1. 여섯 개 항목 열 종을 안테나, 플랫폼, 지구 세 묶음으로 정리했습니다. 좌표계를 정하는 것은 원점과 축 둘뿐이고, 그 둘이 그대로 평행이동과 회전이 됩니다.</a:t>
            </a:r>
          </a:p>
          <a:p>
            <a:r>
              <a:t>과제 2. 조건이 좌표계를 정합니다. 조건 3이 단계를 지우고, 조건 5가 NED 를 고정하고, 조건 6이 ECEF 경유와 모든 함수의 정·역 쌍을 만들었습니다. UV, ECI, ENU 를 쓰지 않는 이유까지 조건과 규약으로 설명됩니다.</a:t>
            </a:r>
          </a:p>
          <a:p>
            <a:r>
              <a:t>과제 3. 정·역 열 개 함수로 구현해 36.2337도, 127.3643도, 41.50 m 를 얻었습니다. 왕복오차로 끝내지 않고 손검산과 빼보기 실험으로 각 항이 실제로 일하는지 따로 확인했습니다.</a:t>
            </a:r>
          </a:p>
          <a:p>
            <a:r>
              <a:t>남은 것 셋입니다. 지구고정계 밖으로 나가면 ECEF 와 ECI 사이에 회전 한 단계가 붙고, 그때는 시각 동기가 정밀도를 지배합니다. 타원체고를 해발로 바꾸려면 지오이드 모델이 필요합니다. 회전형 안테나로 바뀌면 짐벌각 한 단계가 안테나와 동체 사이에 추가됩니다.</a:t>
            </a:r>
          </a:p>
          <a:p>
            <a:r>
              <a:t>마지막으로 한 줄. 부호와 축과 단위 규약을 헤더 주석에 못 박아 두는 것이 가장 값싼 방어입니다.</a:t>
            </a:r>
          </a:p>
          <a:p>
            <a:r>
              <a:t>이상입니다. 질문 환영합니다.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418320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1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3931920" y="260604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입력하십시오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2179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부서명/담당자명 기입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DEX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23160" y="786384"/>
            <a:ext cx="8549640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24160" y="365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3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365760" y="2926080"/>
            <a:ext cx="3749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작성하실 제목을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입력하시기 바랍니다.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6400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8800" y="786384"/>
            <a:ext cx="9875520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89720" y="640080"/>
            <a:ext cx="2103120" cy="292608"/>
          </a:xfrm>
          <a:prstGeom prst="rect">
            <a:avLst/>
          </a:prstGeom>
          <a:solidFill>
            <a:srgbClr val="2C2C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LIGHT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8800" y="786384"/>
            <a:ext cx="9875520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89720" y="640080"/>
            <a:ext cx="2103120" cy="292608"/>
          </a:xfrm>
          <a:prstGeom prst="rect">
            <a:avLst/>
          </a:prstGeom>
          <a:solidFill>
            <a:srgbClr val="EDED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868680" y="123444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write the main title here</a:t>
            </a:r>
            <a:endParaRPr lang="en-US" sz="2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subtitle here</a:t>
            </a:r>
            <a:endParaRPr lang="en-US" sz="16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868680" y="22860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입력하십시오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2C2C2C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77295" cy="65836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82296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메시지 입력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0241280" y="4114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Name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_LI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6495" cy="169164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0" y="0"/>
            <a:ext cx="487649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669280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A1A1A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9775" y="60350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9D6EC"/>
                </a:solidFill>
                <a:latin typeface="Arial"/>
                <a:ea typeface="Arial"/>
                <a:cs typeface="Arial"/>
              </a:rPr>
              <a:t>Part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31720" y="896112"/>
            <a:ext cx="9219895" cy="0"/>
          </a:xfrm>
          <a:prstGeom prst="line">
            <a:avLst/>
          </a:prstGeom>
          <a:ln w="9525">
            <a:solidFill>
              <a:srgbClr val="3B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0" y="2514600"/>
            <a:ext cx="8808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레이다 좌표계와 좌표변환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474720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안테나 극좌표에서 위·경·고도까지, 5단계 변환의 설계와 C 구현 검증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0" y="4041648"/>
            <a:ext cx="3870655" cy="0"/>
          </a:xfrm>
          <a:prstGeom prst="line">
            <a:avLst/>
          </a:prstGeom>
          <a:ln w="9525">
            <a:solidFill>
              <a:srgbClr val="3B55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0" y="5074920"/>
            <a:ext cx="88084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레이다 시스템 소프트웨어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367528"/>
            <a:ext cx="88084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Part2_CoordFrames  ·  CoordCore / radar_coord / CoordUI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224528"/>
            <a:ext cx="8808415" cy="603504"/>
          </a:xfrm>
          <a:prstGeom prst="roundRect">
            <a:avLst>
              <a:gd name="adj" fmla="val 10000"/>
            </a:avLst>
          </a:prstGeom>
          <a:solidFill>
            <a:srgbClr val="1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334256"/>
            <a:ext cx="8442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입력  R 20 km · Az 30° · El 0°</a:t>
            </a:r>
            <a:r>
              <a:rPr sz="1150" b="0" i="0">
                <a:solidFill>
                  <a:srgbClr val="6E86B4"/>
                </a:solidFill>
                <a:latin typeface="맑은 고딕"/>
                <a:ea typeface="맑은 고딕"/>
                <a:cs typeface="맑은 고딕"/>
              </a:rPr>
              <a:t>      ⟶      </a:t>
            </a:r>
            <a:r>
              <a:rPr sz="11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출력  36.233700° N · 127.364345° E · 41.50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7548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663440" y="786384"/>
            <a:ext cx="697961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271455" y="420624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 i="0">
                <a:solidFill>
                  <a:srgbClr val="13233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017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좌표계와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좌표변환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2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안테나 극좌표에서
위·경·고도까지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733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8FA6CC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70078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2B57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737360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좌표계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048256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과제 1항 · 6개 항목 = 좌표계 10종을 안테나 3 / 플랫폼 4 / 지구 3 으로 정리
결론 — 하나로는 안 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42855" y="174650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3 – 6 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09160" y="2999232"/>
            <a:ext cx="6933895" cy="0"/>
          </a:xfrm>
          <a:prstGeom prst="line">
            <a:avLst/>
          </a:prstGeom>
          <a:ln w="9525">
            <a:solidFill>
              <a:srgbClr val="D6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09160" y="316382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323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200400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좌표변환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511296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과제 2항 · 조건 6개가 지정하는 것 · 설치 기하 · 5단계 체인과 선정 이유
결론 — 5단계 6마디, 전부 정·역 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2855" y="320954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7 – 9 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9160" y="4462272"/>
            <a:ext cx="6933895" cy="0"/>
          </a:xfrm>
          <a:prstGeom prst="line">
            <a:avLst/>
          </a:prstGeom>
          <a:ln w="9525">
            <a:solidFill>
              <a:srgbClr val="D6D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09160" y="462686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2B57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663440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C 구현과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4974336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과제 3항 · 자료구조와 API · 구현 원칙 · ECEF→LLA 반복 · 실행 결과 · 검증 2장
결론 — 왕복오차 1e−10, 그래도 손검산과 빼보기로 따로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46725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10 – 15 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8647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01.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좌표계를 갈아타는가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입력과 출력 사이에는 한 번에 건너뛸 수 없는 어긋남이 셋 있고, 어긋남 하나가 변환 단계를 부릅니다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99616"/>
            <a:ext cx="3393338" cy="18288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18488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어긋남 ①   설치 기하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3027578" cy="1316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안테나가 뱃머리를 보지 않고 (선수 기준 시계 90°)
무게중심에도 없다 (뒤 30 m, 위 10 m)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→ 회전 + 평행이동이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499616"/>
            <a:ext cx="3393338" cy="18288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18488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어긋남 ②   함선 자세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1920240"/>
            <a:ext cx="3027578" cy="1316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파도로 배가 매 순간 흔들린다
(이번 입력은 yaw 45°)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→ 자세 회전이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1499616"/>
            <a:ext cx="3393338" cy="18288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9716" y="1618488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어긋남 ③   지구 형상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1920240"/>
            <a:ext cx="3027578" cy="1316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배가 지구 위 한 점(36.408° N, 127.307° E)에 얹혀 있고
그 지구는 평면도 구도 아니다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→ 타원체 변환이 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11296"/>
            <a:ext cx="10728655" cy="1517904"/>
          </a:xfrm>
          <a:prstGeom prst="roundRect">
            <a:avLst>
              <a:gd name="adj" fmla="val 8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3014" y="3785615"/>
            <a:ext cx="18714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안테나 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3767328"/>
            <a:ext cx="18531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8A93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4078224"/>
            <a:ext cx="18531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조건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5865" y="3785615"/>
            <a:ext cx="18714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3233F"/>
                </a:solidFill>
                <a:latin typeface="맑은 고딕"/>
                <a:ea typeface="맑은 고딕"/>
                <a:cs typeface="맑은 고딕"/>
              </a:rPr>
              <a:t>안테나 직교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6435" y="3767328"/>
            <a:ext cx="18531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8A93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6435" y="4078224"/>
            <a:ext cx="18531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716" y="3785615"/>
            <a:ext cx="18714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3233F"/>
                </a:solidFill>
                <a:latin typeface="맑은 고딕"/>
                <a:ea typeface="맑은 고딕"/>
                <a:cs typeface="맑은 고딕"/>
              </a:rPr>
              <a:t>동체 (=INS)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9286" y="3767328"/>
            <a:ext cx="18531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8A93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9286" y="4078224"/>
            <a:ext cx="18531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조건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1567" y="3785615"/>
            <a:ext cx="18714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3233F"/>
                </a:solidFill>
                <a:latin typeface="맑은 고딕"/>
                <a:ea typeface="맑은 고딕"/>
                <a:cs typeface="맑은 고딕"/>
              </a:rPr>
              <a:t>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137" y="3767328"/>
            <a:ext cx="18531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8A93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137" y="4078224"/>
            <a:ext cx="18531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조건 6·경유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4418" y="3785615"/>
            <a:ext cx="18714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3233F"/>
                </a:solidFill>
                <a:latin typeface="맑은 고딕"/>
                <a:ea typeface="맑은 고딕"/>
                <a:cs typeface="맑은 고딕"/>
              </a:rPr>
              <a:t>ECEF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4988" y="3767328"/>
            <a:ext cx="18531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8A93A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4988" y="4078224"/>
            <a:ext cx="18531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조건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7269" y="3785615"/>
            <a:ext cx="18714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LLA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8716" y="4590288"/>
            <a:ext cx="196285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조건 3 — INS→동체 단계 하나 삭제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55955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이 세 어긋남은 뒤에서 숫자로 되돌아옵니다 — ① 30 m · ② 5.9 km · ③ 31.5 m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① 의 회전 항은 14p 손검산(165.000° vs 165.074°)이, 나머지는 15p 빼보기 실험이 맡습니다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01.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안테나 좌표계 3종 — Polar · Cartesian · UV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셋은 서로 다른 좌표계가 아니라 같은 방향을 세 가지로 적은 것입니다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pic>
        <p:nvPicPr>
          <p:cNvPr id="10" name="Picture 9" descr="antenna_fra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810512"/>
            <a:ext cx="5852160" cy="2852928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0" y="1499616"/>
          <a:ext cx="4602175" cy="1865376"/>
        </p:xfrm>
        <a:graphic>
          <a:graphicData uri="http://schemas.openxmlformats.org/drawingml/2006/table">
            <a:tbl>
              <a:tblPr firstRow="0" bandRow="0"/>
              <a:tblGrid>
                <a:gridCol w="920435"/>
                <a:gridCol w="36817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표기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성분과 쓰임 · 본 과제 사용 여부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Polar
</a:t>
                      </a:r>
                      <a:r>
                        <a:rPr sz="90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(R, Az, El) — 신호처리가 내주는 측정 원값. 오차도 이 축 기준.
조건 ④ 의 입력이자 조건 ⑥ 의 출력이라 사슬의 양 끝이 이 표기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Cartesian
</a:t>
                      </a:r>
                      <a:r>
                        <a:rPr sz="90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정면 · y 우현 · z 아래
x = R·cosEl·cosAz,  y = R·cosEl·sinAz,  z = −R·sinEl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5A64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UV
</a:t>
                      </a:r>
                      <a:r>
                        <a:rPr sz="900" b="1" i="0">
                          <a:solidFill>
                            <a:srgbClr val="8A93A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미사용</a:t>
                      </a:r>
                    </a:p>
                  </a:txBody>
                  <a:tcPr marL="82296" marR="82296" marT="27432" marB="27432" anchor="ctr">
                    <a:solidFill>
                      <a:srgbClr val="F5F5F7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A64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 = cosEl·sinAz,  v = sinEl — 위상배열 빔 조향 격자·안테나 패턴이
이 평면에서 등간격. 신호처리 내부 표기라 처리 사슬 바깥</a:t>
                      </a:r>
                    </a:p>
                  </a:txBody>
                  <a:tcPr marL="82296" marR="82296" marT="27432" marB="27432" anchor="ctr">
                    <a:solidFill>
                      <a:srgbClr val="F5F5F7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858000" y="3474720"/>
            <a:ext cx="4602175" cy="188366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593591"/>
            <a:ext cx="4272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짚고 가는 것 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895344"/>
            <a:ext cx="4236415" cy="1371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각도끼리는 더할 수 없다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— 회전·평행이동을 하려면 직교로 펴야 한다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z 축은 아래가 +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— El &gt; 0 인 표적의 z 는 음수. 이후 모든 좌표계가 이 규약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되돌릴 때는 atan2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— asin 은 인자가 1 을 넘으면 NaN, 사분면 판정도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5955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UV 를 안 쓰는 이유는 고정형이라서가 아닙니다 — 신호처리 내부 표기라 처리 사슬 바깥일 뿐입니다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고정면 배열이라도 전자 조향을 하면 UV 는 신호처리 쪽에서 계속 쓰입니다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01.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플랫폼 쪽 — 동체 · INS · NED · ENU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동체는 설치 정보를 흡수하는 자리, INS 는 자세 공급원, NED 는 데이터 처리를 하는 로컬 평면입니다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499616"/>
          <a:ext cx="10728652" cy="2578608"/>
        </p:xfrm>
        <a:graphic>
          <a:graphicData uri="http://schemas.openxmlformats.org/drawingml/2006/table">
            <a:tbl>
              <a:tblPr firstRow="0" bandRow="0"/>
              <a:tblGrid>
                <a:gridCol w="1192072"/>
                <a:gridCol w="1558864"/>
                <a:gridCol w="2017353"/>
                <a:gridCol w="5960363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좌표계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원점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축 정의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과제 사용 여부와 이유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2B57A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동체 (Body)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함선 무게중심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선수 · y 우현 · z 아래
(함선 고정, 자세와 무관)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— 조건 ② 의 설치 정보(회전 90° + 레버암)를 여기서 전부 흡수해
이후 단계는 함선만 신경 쓰면 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2B57A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INS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항법장치 기준점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③ 에 의해
동체와 원점·축 일치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사용하되 변환 단계 없음 — roll·pitch·yaw 를 동체→NED 회전에 그대로 대입.
축이 어긋난 함정이면 정렬 회전 1단계가 추가된다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함선 바로 아래 접평면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북 · y 동 · z 아래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— 조건 ⑤ 가 지정한 데이터 처리 좌표계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5A64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ENU</a:t>
                      </a:r>
                    </a:p>
                  </a:txBody>
                  <a:tcPr marL="82296" marR="82296" marT="27432" marB="27432" anchor="ctr">
                    <a:solidFill>
                      <a:srgbClr val="F5F5F7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A64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접평면</a:t>
                      </a:r>
                    </a:p>
                  </a:txBody>
                  <a:tcPr marL="82296" marR="82296" marT="27432" marB="27432" anchor="ctr">
                    <a:solidFill>
                      <a:srgbClr val="F5F5F7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A64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동 · y 북 · z 위</a:t>
                      </a:r>
                    </a:p>
                  </a:txBody>
                  <a:tcPr marL="82296" marR="82296" marT="27432" marB="27432" anchor="ctr">
                    <a:solidFill>
                      <a:srgbClr val="F5F5F7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A64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미사용 — 앞 두 축을 맞바꾸고 셋째 축 부호를 뒤집은 관계라 둘 다 우수좌표계.
동체 z(아래)·3-2-1 정의에 그대로 이어지는 NED 를 택해 부호 변환을 없앴다</a:t>
                      </a:r>
                    </a:p>
                  </a:txBody>
                  <a:tcPr marL="82296" marR="82296" marT="27432" marB="27432" anchor="ctr">
                    <a:solidFill>
                      <a:srgbClr val="F5F5F7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133087"/>
            <a:ext cx="4935181" cy="1225296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59"/>
            <a:ext cx="46059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왜 로컬에서 처리하나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53712"/>
            <a:ext cx="4569421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위·경도에서 직접 추적 필터를 돌리면 경도 1° 의 실제 거리가 위도마다 달라져 등속 직선운동이 직선으로 표현되지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1021" y="4133087"/>
            <a:ext cx="5519153" cy="1225296"/>
          </a:xfrm>
          <a:prstGeom prst="roundRect">
            <a:avLst>
              <a:gd name="adj" fmla="val 6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3901" y="4251959"/>
            <a:ext cx="51899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그 대가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3901" y="4553712"/>
            <a:ext cx="5153393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NED 평면은 평평하므로 NED 의 z 를 그대로 고도로 읽으면 안 된다.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등고로 20 km 나간 점의 타원체고는 31.5 m 커진다 → 그래서 ④⑤단계로 ECEF·LLA 를 거친다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65099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조건 ③ 이 변환 단계 하나를 지우고, 조건 ⑤ 가 처리 좌표계를 NED 로 고정합니다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01.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지구 쪽 — ECEF · ECI · LLA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여기서부터는 지구 모양(WGS-84)이 계산에 직접 개입하고, 셋 중 하나는 이번 설계에 필요가 없습니다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499616"/>
          <a:ext cx="6355078" cy="2505456"/>
        </p:xfrm>
        <a:graphic>
          <a:graphicData uri="http://schemas.openxmlformats.org/drawingml/2006/table">
            <a:tbl>
              <a:tblPr firstRow="0" bandRow="0"/>
              <a:tblGrid>
                <a:gridCol w="762609"/>
                <a:gridCol w="1864156"/>
                <a:gridCol w="3728313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좌표계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원점 / 축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과제 사용 여부와 이유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2B57A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ECEF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지구 중심 · 지구와 함께 회전
X 그리니치 적도, Z 자전축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경유로 사용 — 국소 평면을 지구 전역 좌표로 올리는 유일한 다리.
원점이 플랫폼에 묶이지 않아 타 플랫폼·전시기와 같은 좌표로 대화 가능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5A64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ECI</a:t>
                      </a:r>
                    </a:p>
                  </a:txBody>
                  <a:tcPr marL="82296" marR="82296" marT="27432" marB="27432" anchor="ctr">
                    <a:solidFill>
                      <a:srgbClr val="F5F5F7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A64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원점 · 별 기준 관성 고정
자전축 둘레 회전 하나 차이</a:t>
                      </a:r>
                    </a:p>
                  </a:txBody>
                  <a:tcPr marL="82296" marR="82296" marT="27432" marB="27432" anchor="ctr">
                    <a:solidFill>
                      <a:srgbClr val="F5F5F7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5A647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미사용 — 사슬 전체가 지구고정계에서 닫히고 관성 전파·천측이 없다.
위성·궤도 연동 시에만 한 단계 추가 (그때는 시각 동기가 정밀도를 지배)</a:t>
                      </a:r>
                    </a:p>
                  </a:txBody>
                  <a:tcPr marL="82296" marR="82296" marT="27432" marB="27432" anchor="ctr">
                    <a:solidFill>
                      <a:srgbClr val="F5F5F7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WGS-84 타원체 기준
위도 · 경도 · 타원체고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— 조건 ⑥ 이 요구하는 최종 출력 형식이자
사람과 전시기가 읽는 형식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041648"/>
            <a:ext cx="6355080" cy="1316736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60258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WGS-84 — 실제 계산에 쓰인 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5989320" cy="804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a = 6,378,137.0 m</a:t>
            </a:r>
            <a:r>
              <a:rPr sz="100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e² = 0.00669438</a:t>
            </a:r>
            <a:r>
              <a:rPr sz="100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N(36.408°) = 6,385,671.083 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타원체고 ≠ 해발</a:t>
            </a: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— 한국 근해 지오이드고가 약 +20 ~ +25 m 이므로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타원체고 41.5 m 는 해발로는 약 17 ~ 22 m 다</a:t>
            </a:r>
          </a:p>
        </p:txBody>
      </p:sp>
      <p:pic>
        <p:nvPicPr>
          <p:cNvPr id="14" name="Picture 13" descr="earth_fra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1755648"/>
            <a:ext cx="4160520" cy="32552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5955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타원체면의 법선이 지구 중심을 지나지 않습니다 — 그래서 측지위도와 지심위도가 갈립니다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이 하나가 12p 의 ECEF→LLA 가 한 번에 안 풀리는 이유이기도 합니다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02.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 6개가 지정하는 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조건은 배경 설명이 아니라, 어떤 좌표계를 쓰고 어떤 항을 넣을지 하나씩 못 박은 설계 사양입니다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499616"/>
          <a:ext cx="10728653" cy="3163824"/>
        </p:xfrm>
        <a:graphic>
          <a:graphicData uri="http://schemas.openxmlformats.org/drawingml/2006/table">
            <a:tbl>
              <a:tblPr firstRow="0" bandRow="0"/>
              <a:tblGrid>
                <a:gridCol w="1054525"/>
                <a:gridCol w="2384145"/>
                <a:gridCol w="7289983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설계에 지정하는 것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플랫폼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해상 함선 + 고정형 안테나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안테나 지향이 상수라 짐벌 단계 없음. 대신 파도로 자세가 매 순간 변해 자세 변환이 필수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설치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선수 기준 시계 90°
무게중심 뒤 30 m · 위 10 m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안테나→동체에 회전 Rz(90°) 와 레버암 (−30, 0, −10) m 두 항이 모두 필요 (회전만으로는 불가)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INS</a:t>
                      </a:r>
                    </a:p>
                  </a:txBody>
                  <a:tcPr marL="82296" marR="82296" marT="27432" marB="27432" anchor="ctr">
                    <a:solidFill>
                      <a:srgbClr val="FCF0E8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무게중심과 축이 일치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INS 좌표계 = 동체 좌표계 → 변환 단계 하나를 지운다 (축이 어긋나면 정렬 회전이 하나 더 붙는다)</a:t>
                      </a:r>
                    </a:p>
                  </a:txBody>
                  <a:tcPr marL="82296" marR="82296" marT="27432" marB="27432" anchor="ctr">
                    <a:solidFill>
                      <a:srgbClr val="FCF0E8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입력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안테나 기준 R · Az · El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사슬의 시작점이 안테나 극좌표로 확정, 첫 단계는 극 → 직교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처리</a:t>
                      </a:r>
                    </a:p>
                  </a:txBody>
                  <a:tcPr marL="82296" marR="82296" marT="27432" marB="27432" anchor="ctr">
                    <a:solidFill>
                      <a:srgbClr val="FCF0E8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처리는 로컬에서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NED 를 처리 좌표계로 확정 — 여기서 멈추라는 조건이지 ECEF 로 올라가라는 조건이 아니다</a:t>
                      </a:r>
                    </a:p>
                  </a:txBody>
                  <a:tcPr marL="82296" marR="82296" marT="27432" marB="27432" anchor="ctr">
                    <a:solidFill>
                      <a:srgbClr val="FCF0E8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⑥ 출력</a:t>
                      </a:r>
                    </a:p>
                  </a:txBody>
                  <a:tcPr marL="82296" marR="82296" marT="27432" marB="27432" anchor="ctr">
                    <a:solidFill>
                      <a:srgbClr val="FCF0E8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LLA + 안테나 극좌표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ECEF 경유와 LLA 도달을 요구하는 유일한 조건이자, 모든 변환을 정·역 쌍으로 만드는 조건</a:t>
                      </a:r>
                    </a:p>
                  </a:txBody>
                  <a:tcPr marL="82296" marR="82296" marT="27432" marB="27432" anchor="ctr">
                    <a:solidFill>
                      <a:srgbClr val="FCF0E8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700016"/>
            <a:ext cx="10728655" cy="512064"/>
          </a:xfrm>
          <a:prstGeom prst="roundRect">
            <a:avLst>
              <a:gd name="adj" fmla="val 8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28031"/>
            <a:ext cx="101800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선정 5마디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 안테나 극 · 안테나 직교 · 동체(=INS) · NED · LLA        </a:t>
            </a:r>
            <a:r>
              <a:rPr sz="10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경유 1마디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 ECEF        </a:t>
            </a:r>
            <a:r>
              <a:rPr sz="1000" b="1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제외 3</a:t>
            </a: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 UV · ECI · 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65099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조건 ③⑤⑥ 이 각각 단계 하나를 지우고, 하나를 고정하고, 함수 개수를 두 배로 만듭니다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02.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 ② 의 기하 — 설치 방위와 레버암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방위각은 선수각·설치각·측정각이 더해져 만들어지고, 레버암은 거리가 멀어져도 줄지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pic>
        <p:nvPicPr>
          <p:cNvPr id="10" name="Picture 9" descr="ship_mount_geo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1952"/>
            <a:ext cx="7040880" cy="29632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01000" y="1499616"/>
            <a:ext cx="3459175" cy="24688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618488"/>
            <a:ext cx="3129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진북 기준 방위 = 세 각의 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20240"/>
            <a:ext cx="3093415" cy="1956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yaw 45° + 설치 90° + Az 30°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=  165.000°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손검산 — 레버암 0 · 안테나 보어사이트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코드 NED  165.074°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NED 원점(무게중심)에서 본 방위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차이 0.074° 는 오차가 아니다.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두 기준점이 30 m 떨어져 있기 때문 (20 km 에서 약 26 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114800"/>
            <a:ext cx="3459175" cy="1243584"/>
          </a:xfrm>
          <a:prstGeom prst="roundRect">
            <a:avLst>
              <a:gd name="adj" fmla="val 6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4233672"/>
            <a:ext cx="31299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레버암은 평행이동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535424"/>
            <a:ext cx="3093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표적이 20 km 든 100 km 든 같은 30 m · 10 m 가 남는다.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거리에 희석되는 각도 오차와 구분되는 서명 (15p 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65099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z 축이 아래가 + 라서 '뒤 30 m · 위 10 m' 는 (−30, 0, −10) 이 됩니다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02.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5단계 변환 체인과 선정 이유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좌표변환의 재료는 회전과 평행이동 둘뿐이고, 조건 ⑥ 때문에 다섯 단계 전부에 역방향을 둡니다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99616"/>
            <a:ext cx="10728655" cy="420624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91056"/>
            <a:ext cx="101800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읽는 법   </a:t>
            </a:r>
            <a:r>
              <a:rPr sz="115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p_B = C(B←A) · p_A + t</a:t>
            </a: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     원점이 같으면 t = 0 으로 회전만, 원점이 다르면 t 가 붙는다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029967"/>
          <a:ext cx="10728652" cy="2670048"/>
        </p:xfrm>
        <a:graphic>
          <a:graphicData uri="http://schemas.openxmlformats.org/drawingml/2006/table">
            <a:tbl>
              <a:tblPr firstRow="0" bandRow="0"/>
              <a:tblGrid>
                <a:gridCol w="506503"/>
                <a:gridCol w="1703691"/>
                <a:gridCol w="2256240"/>
                <a:gridCol w="1611600"/>
                <a:gridCol w="598594"/>
                <a:gridCol w="4052024"/>
              </a:tblGrid>
              <a:tr h="292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from → to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회전 C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평행이동 t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원점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단계를 두는 이유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극 → 안테나 직교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  (삼각함수)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각도끼리는 더할 수 없어 벡터로 펴야 회전·이동이 가능 (조건 ④)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안테나 → 동체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Rz(설치방위)·Ry(백틸트)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레버암
(−30, 0, −10)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다름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안테나 설치 정보를 여기서 전부 흡수 (조건 ②)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동체 → NED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Rz(yaw)·Ry(pitch)·Rx(roll)
[ 3-2-1 ]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INS 자세를 반영해 흔들리는 축을 북·동·하로 고정 (조건 ⑤ 도달)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NED → ECEF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Rz(경도)·Ry(−90° − 위도)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함선 ECEF 위치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다름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국소 평면을 지구 전역 좌표로 올림 (조건 ⑥ 이 요구하는 경유)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ECEF → LLA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회전 아님
(WGS-84 반복해)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전시기가 읽는 형식으로 (조건 ⑥) — 유일하게 한 번에 안 풀린다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20" y="4864608"/>
            <a:ext cx="10728655" cy="402336"/>
          </a:xfrm>
          <a:prstGeom prst="roundRect">
            <a:avLst>
              <a:gd name="adj" fmla="val 6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46904"/>
            <a:ext cx="10180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역방향   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회전은 전치, 평행이동은 빼기, 순서는 거꾸로 — 같은 회전행렬을 재사용하므로 함수가 10개여도 실제 로직은 5쌍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5955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역변환은 값을 되돌리는 검사가 아니라 실제 운용 경로입니다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LLA 는 전시기·상급부대가 공유하는 절대 좌표, 안테나 극좌표는 추적 게이트·빔 재지향에 쓰는 상대 좌표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03.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 구조 — 자료구조와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변환 로직을 라이브러리 한 곳에 몰고 함수 이름에 방향을 박아, 호출부에서 헷갈릴 여지를 없앴습니다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99616"/>
            <a:ext cx="4935181" cy="16916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18488"/>
            <a:ext cx="46059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모듈 구성 — 로직은 한 곳에만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569421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CoordCore</a:t>
            </a: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  정적 라이브러리. coord_frames.c/h + 지급 matrixCalcLib.c/h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radar_coord</a:t>
            </a: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  콘솔. 과제 3.1 입력으로 단계별 값·왕복오차·최종출력 출력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CoordUI</a:t>
            </a: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  MFC 다이얼로그. 변환 로직 없이 f_* 호출만, 슬라이더로 자세 변경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→ 변환 로직이 한 곳에만 있으므로 검증 대상이 하나로 고정된다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1021" y="1499616"/>
            <a:ext cx="5519153" cy="169164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DC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3901" y="1618488"/>
            <a:ext cx="515339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coord_frames.h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2189" y="1892807"/>
            <a:ext cx="511681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F855A"/>
                </a:solidFill>
                <a:latin typeface="Consolas"/>
                <a:ea typeface="Consolas"/>
                <a:cs typeface="Consolas"/>
              </a:rPr>
              <a:t>// 좌표계마다 타입을 따로 둔다 — 잘못 넣으면 컴파일러가 잡는다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typedef struct { FLOAT64 dRange, dAz, dEl; } </a:t>
            </a:r>
            <a:r>
              <a:rPr sz="8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ST_Polar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typedef struct { FLOAT64 dLat, dLon, dAlt; } </a:t>
            </a:r>
            <a:r>
              <a:rPr sz="8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ST_Lla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typedef struct { FLOAT64 dRoll, dPitch, dYaw; } </a:t>
            </a:r>
            <a:r>
              <a:rPr sz="8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ST_Attitude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typedef struct { FLOAT64 dAz, dTilt; ST_Vec3 stOffset; } </a:t>
            </a:r>
            <a:r>
              <a:rPr sz="8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ST_Mount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82696"/>
            <a:ext cx="4935181" cy="207568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01568"/>
            <a:ext cx="46059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API 10개 = 정·역 5쌍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4569421" cy="1563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f_PolarToXyz</a:t>
            </a:r>
            <a:r>
              <a:rPr sz="900" b="0" i="0">
                <a:solidFill>
                  <a:srgbClr val="8A93A8"/>
                </a:solidFill>
                <a:latin typeface="맑은 고딕"/>
                <a:ea typeface="맑은 고딕"/>
                <a:cs typeface="맑은 고딕"/>
              </a:rPr>
              <a:t>   ↔   </a:t>
            </a:r>
            <a:r>
              <a:rPr sz="9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f_XyzToPolar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f_AntToBody</a:t>
            </a:r>
            <a:r>
              <a:rPr sz="900" b="0" i="0">
                <a:solidFill>
                  <a:srgbClr val="8A93A8"/>
                </a:solidFill>
                <a:latin typeface="맑은 고딕"/>
                <a:ea typeface="맑은 고딕"/>
                <a:cs typeface="맑은 고딕"/>
              </a:rPr>
              <a:t>   ↔   </a:t>
            </a:r>
            <a:r>
              <a:rPr sz="9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f_BodyToAnt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f_BodyToNed</a:t>
            </a:r>
            <a:r>
              <a:rPr sz="900" b="0" i="0">
                <a:solidFill>
                  <a:srgbClr val="8A93A8"/>
                </a:solidFill>
                <a:latin typeface="맑은 고딕"/>
                <a:ea typeface="맑은 고딕"/>
                <a:cs typeface="맑은 고딕"/>
              </a:rPr>
              <a:t>   ↔   </a:t>
            </a:r>
            <a:r>
              <a:rPr sz="9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f_NedToBody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f_NedToEcef</a:t>
            </a:r>
            <a:r>
              <a:rPr sz="900" b="0" i="0">
                <a:solidFill>
                  <a:srgbClr val="8A93A8"/>
                </a:solidFill>
                <a:latin typeface="맑은 고딕"/>
                <a:ea typeface="맑은 고딕"/>
                <a:cs typeface="맑은 고딕"/>
              </a:rPr>
              <a:t>   ↔   </a:t>
            </a:r>
            <a:r>
              <a:rPr sz="9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f_EcefToNed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f_LlaToEcef</a:t>
            </a:r>
            <a:r>
              <a:rPr sz="900" b="0" i="0">
                <a:solidFill>
                  <a:srgbClr val="8A93A8"/>
                </a:solidFill>
                <a:latin typeface="맑은 고딕"/>
                <a:ea typeface="맑은 고딕"/>
                <a:cs typeface="맑은 고딕"/>
              </a:rPr>
              <a:t>   ↔   </a:t>
            </a:r>
            <a:r>
              <a:rPr sz="9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f_EcefToLla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짝이 없는 함수가 있으면 그 자체가 설계가 덜 끝났다는 신호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1021" y="3282696"/>
            <a:ext cx="5519153" cy="923544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DC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3901" y="3401568"/>
            <a:ext cx="515339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main.c — 조건이 코드가 되는 지점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2189" y="3675887"/>
            <a:ext cx="511681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F855A"/>
                </a:solidFill>
                <a:latin typeface="Consolas"/>
                <a:ea typeface="Consolas"/>
                <a:cs typeface="Consolas"/>
              </a:rPr>
              <a:t>// 조건 ② 가 상수 하나로 그대로 들어온다 (고정형이라 런타임에 안 바뀜)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ST_Mount stMount = { DEG2RAD(</a:t>
            </a:r>
            <a:r>
              <a:rPr sz="8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90.0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), DEG2RAD(0.0),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                 { </a:t>
            </a:r>
            <a:r>
              <a:rPr sz="8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-30.0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, 0.0, </a:t>
            </a:r>
            <a:r>
              <a:rPr sz="8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-10.0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} };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1021" y="4297680"/>
            <a:ext cx="5519153" cy="106070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3901" y="4416552"/>
            <a:ext cx="51899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13233F"/>
                </a:solidFill>
                <a:latin typeface="맑은 고딕"/>
                <a:ea typeface="맑은 고딕"/>
                <a:cs typeface="맑은 고딕"/>
              </a:rPr>
              <a:t>지급 라이브러리 함정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3901" y="4718304"/>
            <a:ext cx="515339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8"/>
                </a:solidFill>
                <a:latin typeface="Consolas"/>
                <a:ea typeface="Consolas"/>
                <a:cs typeface="Consolas"/>
              </a:rPr>
              <a:t>Matrix_Identity</a:t>
            </a: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는 9×9 기준이라 3×3 에 못 쓴다</a:t>
            </a: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
→ </a:t>
            </a:r>
            <a:r>
              <a:rPr sz="900" b="0" i="0">
                <a:solidFill>
                  <a:srgbClr val="5A6478"/>
                </a:solidFill>
                <a:latin typeface="Consolas"/>
                <a:ea typeface="Consolas"/>
                <a:cs typeface="Consolas"/>
              </a:rPr>
              <a:t>Matrix_initialize(&amp;m, 3, 3)</a:t>
            </a: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으로 0 을 채운 뒤 대입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5955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사내 규칙 그대로 — ST_ 구조체 · f_ 함수 · FLOAT64 / INT32 / VOID 재정의형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단위는 라이브러리 안에서 rad·m 로 통일하고 deg 변환은 경계(main, UI)에서만 합니다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03.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 원칙 — 회전은 곱으로만, 역은 전치로만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행렬 원소를 손으로 쓰지 않으면 틀릴 수 있는 곳이 세 함수로 줄어듭니다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99616"/>
            <a:ext cx="5900760" cy="1792224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DC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18488"/>
            <a:ext cx="553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coord_frames.c — 회전은 축 회전 곱으로만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892807"/>
            <a:ext cx="5498424" cy="1307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F855A"/>
                </a:solidFill>
                <a:latin typeface="Consolas"/>
                <a:ea typeface="Consolas"/>
                <a:cs typeface="Consolas"/>
              </a:rPr>
              <a:t>// 3-2-1 순서를 이 함수 하나에 가둔다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static matrix </a:t>
            </a:r>
            <a:r>
              <a:rPr sz="8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f_RotBodyToNed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(const ST_Attitude stAtt)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matrix stRz = f_RotZ(stAtt.dYaw);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matrix stRy = f_RotY(stAtt.dPitch);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matrix stRx = f_RotX(stAtt.dRoll);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return </a:t>
            </a:r>
            <a:r>
              <a:rPr sz="8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Matrix_Product3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(&amp;stRz, &amp;stRy, &amp;stRx);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38144"/>
            <a:ext cx="5900760" cy="1773936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DC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57015"/>
            <a:ext cx="553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coord_frames.c — 역은 전치로만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831335"/>
            <a:ext cx="5498424" cy="1289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F855A"/>
                </a:solidFill>
                <a:latin typeface="Consolas"/>
                <a:ea typeface="Consolas"/>
                <a:cs typeface="Consolas"/>
              </a:rPr>
              <a:t>// 역변환에 새 행렬을 만들지 않는다. Matrix_Inverse 도 쓰지 않는다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ST_Vec3 </a:t>
            </a:r>
            <a:r>
              <a:rPr sz="850" b="1" i="0">
                <a:solidFill>
                  <a:srgbClr val="2B57A6"/>
                </a:solidFill>
                <a:latin typeface="Consolas"/>
                <a:ea typeface="Consolas"/>
                <a:cs typeface="Consolas"/>
              </a:rPr>
              <a:t>f_NedToBody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(const ST_Attitude stAtt, const ST_Vec3 stNed)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matrix stR   = f_RotBodyToNed(stAtt);   </a:t>
            </a:r>
            <a:r>
              <a:rPr sz="850" b="0" i="0">
                <a:solidFill>
                  <a:srgbClr val="2F855A"/>
                </a:solidFill>
                <a:latin typeface="Consolas"/>
                <a:ea typeface="Consolas"/>
                <a:cs typeface="Consolas"/>
              </a:rPr>
              <a:t>// 정변환과 같은 함수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matrix stRt  = </a:t>
            </a:r>
            <a:r>
              <a:rPr sz="8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Matrix_Transpose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(&amp;stR);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matrix stOut = Matrix_Product2(&amp;stRt, &amp;stP);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return f_ToVec(&amp;stOut);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6600" y="1499616"/>
            <a:ext cx="4553574" cy="179222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52904" y="1600200"/>
            <a:ext cx="274320" cy="274320"/>
          </a:xfrm>
          <a:prstGeom prst="ellipse">
            <a:avLst/>
          </a:prstGeom>
          <a:solidFill>
            <a:srgbClr val="2B5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8664" y="1618488"/>
            <a:ext cx="38952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이름에 방향을 박는다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9480" y="1920240"/>
            <a:ext cx="4187814" cy="1280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f_AtoB  /  f_BtoA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정·역이 같은 회전행렬 함수를 공유하므로 한쪽만 고치는 실수가 구조적으로 불가능하다.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틀릴 수 있는 지점이 </a:t>
            </a:r>
            <a:r>
              <a:rPr sz="850" b="0" i="0">
                <a:solidFill>
                  <a:srgbClr val="5A6478"/>
                </a:solidFill>
                <a:latin typeface="Consolas"/>
                <a:ea typeface="Consolas"/>
                <a:cs typeface="Consolas"/>
              </a:rPr>
              <a:t>f_RotAntToBody · f_RotBodyToNed · f_RotNedToEcef</a:t>
            </a: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세 함수로 줄어든다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6600" y="3438144"/>
            <a:ext cx="4553574" cy="1225296"/>
          </a:xfrm>
          <a:prstGeom prst="roundRect">
            <a:avLst>
              <a:gd name="adj" fmla="val 6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52904" y="3538727"/>
            <a:ext cx="274320" cy="274320"/>
          </a:xfrm>
          <a:prstGeom prst="ellipse">
            <a:avLst/>
          </a:prstGeom>
          <a:solidFill>
            <a:srgbClr val="C2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8664" y="3557015"/>
            <a:ext cx="38952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회전은 곱으로만, 역은 전치로만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9480" y="3858768"/>
            <a:ext cx="4187814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3×3 원소 9개를 손으로 쓰면 부호 하나 틀려도 눈으로 못 잡는다.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직교행렬이라 전치가 곧 역이고, 일반 역행렬보다 정확하고 빠르다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6600" y="4773168"/>
            <a:ext cx="4553574" cy="4389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9480" y="4864608"/>
            <a:ext cx="41878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회전은 좌표축을 바꾸는 것이지 점을 옮기는 것이 아니다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5099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단위는 라이브러리 안에서 rad·m 만 씁니다 — deg 가 중간에 섞이면 값이 그럴듯해서 더 못 잡습니다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03.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ECEF → LLA — 유일하게 한 번에 안 풀리는 단계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위도를 알아야 N 이 나오고 N 을 알아야 위도가 나오는 순환이라 반복으로 풀되, 반드시 상한을 둡니다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99616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타원체면의 법선이 지구 중심을 지나지 않기 때문에(6p) 위도와 고도가 서로를 참조한다 — 나머지 네 단계는 전부 닫힌 식이지만 이 단계만 예외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10512"/>
            <a:ext cx="5900760" cy="2322576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DC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9384"/>
            <a:ext cx="5535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coord_frames.c — f_EcefToLla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03703"/>
            <a:ext cx="5498424" cy="1837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dLat0 = atan2(stEcef.dZ, dP);  dAlt0 = 0.0;   </a:t>
            </a:r>
            <a:r>
              <a:rPr sz="850" b="0" i="0">
                <a:solidFill>
                  <a:srgbClr val="2F855A"/>
                </a:solidFill>
                <a:latin typeface="Consolas"/>
                <a:ea typeface="Consolas"/>
                <a:cs typeface="Consolas"/>
              </a:rPr>
              <a:t>// 구로 본 위도에서 출발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for (i = 0; i &lt; </a:t>
            </a:r>
            <a:r>
              <a:rPr sz="8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LLA_ITER_MAX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; i++)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dN   = WGS84_A / sqrt(1.0 - WGS84_E2 * sin(dLat0)*sin(dLat0));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dAlt = dP / cos(dLat0) - dN;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dLat = atan2(stEcef.dZ * (dN + dAlt),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             dP * (dN * (1.0 - WGS84_E2) + dAlt));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if ((fabs(dLat - dLat0) &lt; </a:t>
            </a:r>
            <a:r>
              <a:rPr sz="8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LLA_TOL_LAT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) &amp;&amp;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    (fabs(dAlt - dAlt0) &lt; </a:t>
            </a:r>
            <a:r>
              <a:rPr sz="8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LLA_TOL_ALT</a:t>
            </a: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)) break;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    dLat0 = dLat;   dAlt0 = dAlt;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6600" y="1828800"/>
            <a:ext cx="455357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실제 수렴 과정 (고도 h)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906600" y="2103120"/>
          <a:ext cx="4553572" cy="950976"/>
        </p:xfrm>
        <a:graphic>
          <a:graphicData uri="http://schemas.openxmlformats.org/drawingml/2006/table">
            <a:tbl>
              <a:tblPr firstRow="0" bandRow="0"/>
              <a:tblGrid>
                <a:gridCol w="542092"/>
                <a:gridCol w="1734694"/>
                <a:gridCol w="542092"/>
                <a:gridCol w="1734694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고도 h [m]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고도 h [m]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−14,795.626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41.4954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76.360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41.49520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41.413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41.495196</a:t>
                      </a:r>
                    </a:p>
                  </a:txBody>
                  <a:tcPr marL="82296" marR="82296" marT="27432" marB="27432" anchor="ctr">
                    <a:solidFill>
                      <a:srgbClr val="FCF0E8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906600" y="3090672"/>
            <a:ext cx="4553574" cy="10698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9480" y="3209544"/>
            <a:ext cx="42243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상수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9480" y="3511296"/>
            <a:ext cx="4187814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LLA_ITER_MAX 10</a:t>
            </a: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  반복 상한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LLA_TOL_LAT 1e-12 rad   LLA_TOL_ALT 1e-6 m</a:t>
            </a: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   종료 허용오차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24528"/>
            <a:ext cx="5900760" cy="1133856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55715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1회가 −14,795 m 까지 튀는 이유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45152"/>
            <a:ext cx="55350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초기 위도를 지심위도로 잡은 대가다.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6p 의 측지-지심 위도차 0.192° 가 그 정체 — 위도 오차 0.18° 가 고도 오차 14.8 km 로 증폭된다. 3회면 m, 6회면 µm 단위로 수렴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6600" y="4224528"/>
            <a:ext cx="4553574" cy="1133856"/>
          </a:xfrm>
          <a:prstGeom prst="roundRect">
            <a:avLst>
              <a:gd name="adj" fmla="val 6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9480" y="4343400"/>
            <a:ext cx="422439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그럼에도 상한을 두는 이유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9480" y="4645152"/>
            <a:ext cx="4187814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실시간 태스크에서 무한루프는 오차보다 위험하다.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종료 조건은 위도와 고도 두 개를 동시에 만족해야 통과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5099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다섯 단계 중 넷은 닫힌 식이고, 반복이 필요한 것은 이 한 단계뿐입니다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03.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결과 — 단계별 값과 최종 출력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과제 입력값 한 세트가 다섯 단계를 지나 위·경·고도로 나옵니다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99616"/>
            <a:ext cx="10728655" cy="47548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591056"/>
            <a:ext cx="1021659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입력  </a:t>
            </a:r>
            <a:r>
              <a:rPr sz="90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R 20,000 m · Az 30.000° · El 0.000°</a:t>
            </a:r>
            <a:r>
              <a:rPr sz="9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     함선  </a:t>
            </a:r>
            <a:r>
              <a:rPr sz="90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36.408° N, 127.307° E, 0 m · roll 0°, pitch 0°, yaw 45°</a:t>
            </a:r>
            <a:r>
              <a:rPr sz="9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     설치  </a:t>
            </a:r>
            <a:r>
              <a:rPr sz="900" b="0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방위 90°, 백틸트 0°, 레버암 (−30, 0, −10) 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066543"/>
          <a:ext cx="10728653" cy="2286000"/>
        </p:xfrm>
        <a:graphic>
          <a:graphicData uri="http://schemas.openxmlformats.org/drawingml/2006/table">
            <a:tbl>
              <a:tblPr firstRow="0" bandRow="0"/>
              <a:tblGrid>
                <a:gridCol w="1151143"/>
                <a:gridCol w="4466435"/>
                <a:gridCol w="5111075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눈으로 하는 확인</a:t>
                      </a:r>
                    </a:p>
                  </a:txBody>
                  <a:tcPr marL="82296" marR="82296" marT="27432" marB="27432" anchor="ctr">
                    <a:solidFill>
                      <a:srgbClr val="13233F"/>
                    </a:solidFill>
                    <a:lnL w="9525" cap="flat" cmpd="sng" algn="ctr">
                      <a:solidFill>
                        <a:srgbClr val="13233F"/>
                      </a:solidFill>
                    </a:lnL>
                    <a:lnR w="9525" cap="flat" cmpd="sng" algn="ctr">
                      <a:solidFill>
                        <a:srgbClr val="13233F"/>
                      </a:solidFill>
                    </a:lnR>
                    <a:lnT w="9525" cap="flat" cmpd="sng" algn="ctr">
                      <a:solidFill>
                        <a:srgbClr val="13233F"/>
                      </a:solidFill>
                    </a:lnT>
                    <a:lnB w="9525" cap="flat" cmpd="sng" algn="ctr">
                      <a:solidFill>
                        <a:srgbClr val="13233F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극 → 직교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Consolas"/>
                          <a:ea typeface="Consolas"/>
                          <a:cs typeface="Consolas"/>
                        </a:rPr>
                        <a:t>( +17,320.5081,  +10,000.0000,  −0.0000 ) 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→ 동체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Consolas"/>
                          <a:ea typeface="Consolas"/>
                          <a:cs typeface="Consolas"/>
                        </a:rPr>
                        <a:t>( −10,030.0000,  +17,320.5081,  −10.0000 ) m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Rz(90°) 가 안테나 x 를 동체 y 로 그대로 보냈고,
x 성분 −10,000 에 레버암 −30 이 더해져 −10,030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→ NED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Consolas"/>
                          <a:ea typeface="Consolas"/>
                          <a:cs typeface="Consolas"/>
                        </a:rPr>
                        <a:t>( −19,339.7297,  +5,155.1677,  −10.0000 ) 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진북 기준 165.074°, 지상거리 20,015.017 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→ ECEF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2233"/>
                          </a:solidFill>
                          <a:latin typeface="Consolas"/>
                          <a:ea typeface="Consolas"/>
                          <a:cs typeface="Consolas"/>
                        </a:rPr>
                        <a:t>표적 ( −3,125,893, +4,093,775, +3,749,164 ) m
함선 ( −3,114,830, +4,087,763, +3,764,723 ) m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점의 차 크기 ≈ 20,015 m 로 ③ 의 지상거리와 일치
(자릿수는 표시용으로 자름)</a:t>
                      </a:r>
                    </a:p>
                  </a:txBody>
                  <a:tcPr marL="82296" marR="82296" marT="27432" marB="27432" anchor="ctr">
                    <a:solidFill>
                      <a:srgbClr val="F2F5FA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C2521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⑤ → LLA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C2521C"/>
                          </a:solidFill>
                          <a:latin typeface="Consolas"/>
                          <a:ea typeface="Consolas"/>
                          <a:cs typeface="Consolas"/>
                        </a:rPr>
                        <a:t>36.233700252° N,  127.364344961° E,  41.4952 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223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6회 수렴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D8E0EC"/>
                      </a:solidFill>
                    </a:lnL>
                    <a:lnR w="9525" cap="flat" cmpd="sng" algn="ctr">
                      <a:solidFill>
                        <a:srgbClr val="D8E0EC"/>
                      </a:solidFill>
                    </a:lnR>
                    <a:lnT w="9525" cap="flat" cmpd="sng" algn="ctr">
                      <a:solidFill>
                        <a:srgbClr val="D8E0EC"/>
                      </a:solidFill>
                    </a:lnT>
                    <a:lnB w="9525" cap="flat" cmpd="sng" algn="ctr">
                      <a:solidFill>
                        <a:srgbClr val="D8E0E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20" y="4407408"/>
            <a:ext cx="5227167" cy="950976"/>
          </a:xfrm>
          <a:prstGeom prst="roundRect">
            <a:avLst>
              <a:gd name="adj" fmla="val 6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97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① 표적 위 / 경 / 고도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2"/>
            <a:ext cx="48614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36.233700° N,  127.364345° E,  41.50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4407408"/>
            <a:ext cx="5227167" cy="950976"/>
          </a:xfrm>
          <a:prstGeom prst="roundRect">
            <a:avLst>
              <a:gd name="adj" fmla="val 6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4526280"/>
            <a:ext cx="4897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② 표적 안테나 극좌표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4828032"/>
            <a:ext cx="48614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R 20,000.000 m,  Az 30.000°,  El 0.000°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65099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최종값만 찍지 않고 단계별 중간값을 전부 출력하게 만들어, 틀렸을 때 어느 단계인지 바로 보이게 했습니다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03.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① 왕복오차와 손검산 — 잡는 오류가 다르다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왕복은 정·역의 비대칭을 잡고, 손검산은 회전 방향·순서 자체를 잡습니다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99616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두 검증은 잡는 오류의 종류가 다르므로 하나로 다른 하나를 대신할 수 없다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65376"/>
            <a:ext cx="5227167" cy="331012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4897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① 왕복 검증 — 정·역의 비대칭을 잡는다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4861407" cy="2798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표적 LLA → ECEF → NED → 동체 → 안테나 직교 → 극좌표로 되짚어 입력과 비교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R  20,000.000000 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Az     30.000000°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El      0.000000°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왕복오차  dR 3.6e−10 m · dAz 2.1e−12° · dEl 2.5e−12°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→ 배정밀도 반올림 수준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잡히는 오류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정·역 쌍의 부호 실수 · 전치 빠짐 · 평행이동 순서 뒤바뀜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한계 — 정변환과 역변환이 같은 방향으로 함께 틀리면 왕복은 그대로 통과한다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865376"/>
            <a:ext cx="5227167" cy="3310128"/>
          </a:xfrm>
          <a:prstGeom prst="roundRect">
            <a:avLst>
              <a:gd name="adj" fmla="val 6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984248"/>
            <a:ext cx="4897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② 손검산 — 회전 방향·순서 자체를 잡는다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286000"/>
            <a:ext cx="4861407" cy="2798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손검산  선수 45° + 설치 90° + 측정 30°  =  165.000°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레버암 0 가정 · 안테나 보어사이트에서 잰 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2521C"/>
                </a:solidFill>
                <a:latin typeface="Consolas"/>
                <a:ea typeface="Consolas"/>
                <a:cs typeface="Consolas"/>
              </a:rPr>
              <a:t>코드    NED 결과                        =  165.074°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NED 원점(무게중심)에서 본 표적 방위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차이 0.074° 는 오차가 아니다.</a:t>
            </a:r>
            <a:r>
              <a:rPr sz="9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안테나가 무게중심보다 30 m 뒤에 있어 두 기준점에서 본 방위가 갈린다 — 8p 평면도의 두 시선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이 검산식 자체는 배가 수평이고 레버암이 0 일 때만 성립하는 근사다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잡히는 오류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Rz 회전 방향(시계/반시계)과 3-2-1 곱 순서가 통째로 틀리는 경우 — 3p 어긋남 ① 의 회전 항을 검증하는 자리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65099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두 검증 모두 radar_coord 가 실행할 때마다 스스로 출력하게 만들어 두면 그대로 회귀 검사가 됩니다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8FA6CC"/>
                </a:solidFill>
                <a:latin typeface="맑은 고딕"/>
                <a:ea typeface="맑은 고딕"/>
                <a:cs typeface="맑은 고딕"/>
              </a:rPr>
              <a:t>03. </a:t>
            </a: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② 항을 빼 보기, 그리고 평면 근사의 해석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항을 하나씩 빼 보면 그 항이 왜 있는지가 숫자로 드러납니다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023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99616"/>
            <a:ext cx="107286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3p 의 세 어긋남 — </a:t>
            </a:r>
            <a:r>
              <a:rPr sz="10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① 설치 기하</a:t>
            </a:r>
            <a:r>
              <a:rPr sz="10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0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② 함선 자세</a:t>
            </a:r>
            <a:r>
              <a:rPr sz="10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10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③ 지구 형상</a:t>
            </a:r>
            <a:r>
              <a:rPr sz="1050" b="0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 — 이 여기서 30 m · 5.9 km · 31.5 m 로 되돌아온다 (① 의 회전 항은 14p 손검산이 맡는다)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01952"/>
            <a:ext cx="5227167" cy="160934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0824"/>
            <a:ext cx="4897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A   레버암 생략 — 어긋남 ① 설치 기하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22576"/>
            <a:ext cx="4861407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수평 30 m, 고도 10 m 가 그대로 어긋난다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표적이 멀어져도 줄지 않는다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각도 오차가 아니라 위치 오차라서 거리에 희석되지 않는 것이 이 항의 서명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901952"/>
            <a:ext cx="5227167" cy="160934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2020824"/>
            <a:ext cx="4897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B   roll 무시 — 어긋남 ② 함선 자세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2322576"/>
            <a:ext cx="4861407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roll 0° → 실제 고각 +0.03°    10° → −8.61°    20° → −17.19°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roll 20° 면 20 km 앞 표적 고도가 약 5.9 km 어긋난다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→ 자세 보정은 옵션이 아니다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39312"/>
            <a:ext cx="10728655" cy="1572768"/>
          </a:xfrm>
          <a:prstGeom prst="roundRect">
            <a:avLst>
              <a:gd name="adj" fmla="val 6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58184"/>
            <a:ext cx="10399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C   평면 근사와 타원체의 차이 — 어긋남 ③ 지구 형상   (실험이 아니라 정상 결과의 해석)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59936"/>
            <a:ext cx="10362895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로컬 평면을 고도 기준면으로 착각했을 때, 즉 NED 의 z(−10 m) 를 그대로 고도로 읽었을 때 생기는 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A2233"/>
                </a:solidFill>
                <a:latin typeface="Consolas"/>
                <a:ea typeface="Consolas"/>
                <a:cs typeface="Consolas"/>
              </a:rPr>
              <a:t>5 km  2.0 m       10 km  7.9 m       20 km  31.5 m       50 km  196.7 m       100 km  786.4 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이 값은 구현의 오차가 아니라(왕복오차 1e−10 이 그 증거) 사슬이 ④⑤단계로 ECEF·LLA 를 거치는 이유다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68112"/>
            <a:ext cx="11277295" cy="676656"/>
          </a:xfrm>
          <a:prstGeom prst="roundRect">
            <a:avLst>
              <a:gd name="adj" fmla="val 10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59552"/>
            <a:ext cx="1072865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표적 타원체고 41.50 m  =  안테나 높이 10 m  +  20 km 에서의 평면-타원체 차 31.5 m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13p ⑤단계 출력이 우연이 아님을 손으로 확인합니다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02336"/>
            <a:ext cx="11277295" cy="841248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493776"/>
            <a:ext cx="96926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정리와 남은 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맑은 고딕"/>
                <a:ea typeface="맑은 고딕"/>
                <a:cs typeface="맑은 고딕"/>
              </a:rPr>
              <a:t>좌표변환은 회전과 평행이동의 조합일 뿐이고, 어려운 것은 수식이 아니라 규약을 끝까지 지키는 일입니다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0015" y="621792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35024"/>
            <a:ext cx="11277295" cy="4846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B9C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LIG Defense&amp;Aerospace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8647" y="637336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6895" y="6373368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Part 2. 좌표계와 좌표변환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99616"/>
            <a:ext cx="10728655" cy="74980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499616"/>
            <a:ext cx="50292" cy="749808"/>
          </a:xfrm>
          <a:prstGeom prst="rect">
            <a:avLst/>
          </a:prstGeom>
          <a:solidFill>
            <a:srgbClr val="2B5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161848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과제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61848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좌표계 학습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1901952"/>
            <a:ext cx="102897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6개 항목 10종을 안테나 / 플랫폼 / 지구 세 묶음으로 정리했다. 좌표계를 정하는 것은 원점과 축 둘뿐이고, 그 둘이 그대로 평행이동과 회전이 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22576"/>
            <a:ext cx="10728655" cy="74980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322576"/>
            <a:ext cx="50292" cy="749808"/>
          </a:xfrm>
          <a:prstGeom prst="rect">
            <a:avLst/>
          </a:prstGeom>
          <a:solidFill>
            <a:srgbClr val="2B5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44144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2B57A6"/>
                </a:solidFill>
                <a:latin typeface="맑은 고딕"/>
                <a:ea typeface="맑은 고딕"/>
                <a:cs typeface="맑은 고딕"/>
              </a:rPr>
              <a:t>과제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44144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좌표변환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2724912"/>
            <a:ext cx="102897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조건이 좌표계를 정한다 — ③ 이 단계를 지우고, ⑤ 가 NED 를 고정하고, ⑥ 이 ECEF 경유와 모든 함수의 정·역 쌍을 만들었다. UV · ECI · ENU 를 쓰지 않는 이유까지 조건과 규약으로 설명된다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45536"/>
            <a:ext cx="10728655" cy="74980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145536"/>
            <a:ext cx="50292" cy="749808"/>
          </a:xfrm>
          <a:prstGeom prst="rect">
            <a:avLst/>
          </a:prstGeom>
          <a:solidFill>
            <a:srgbClr val="C25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264408"/>
            <a:ext cx="914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과제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64408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1A2233"/>
                </a:solidFill>
                <a:latin typeface="맑은 고딕"/>
                <a:ea typeface="맑은 고딕"/>
                <a:cs typeface="맑은 고딕"/>
              </a:rPr>
              <a:t>C 구현과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3547872"/>
            <a:ext cx="102897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정·역 10개 함수로 36.233700° N / 127.364345° E / 41.50 m 를 얻었고, 왕복오차로 끝내지 않고 손검산과 빼보기 실험으로 각 항이 실제로 일하는지 따로 확인했다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78224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남은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3393338" cy="11887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07992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3233F"/>
                </a:solidFill>
                <a:latin typeface="맑은 고딕"/>
                <a:ea typeface="맑은 고딕"/>
                <a:cs typeface="맑은 고딕"/>
              </a:rPr>
              <a:t>지구고정계 밖으로 나갈 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9744"/>
            <a:ext cx="3027578" cy="676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ECEF ↔ ECI 는 자전축 둘레 회전 한 단계 차이. 위성·궤도 연동 시 시각 동기가 정밀도를 지배 (1 ms = 적도 0.47 m)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99178" y="4389120"/>
            <a:ext cx="3393338" cy="11887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2058" y="4507992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3233F"/>
                </a:solidFill>
                <a:latin typeface="맑은 고딕"/>
                <a:ea typeface="맑은 고딕"/>
                <a:cs typeface="맑은 고딕"/>
              </a:rPr>
              <a:t>타원체고 → 해발고도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2058" y="4809744"/>
            <a:ext cx="3027578" cy="676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지오이드 모델이 필요하다. 한국 근해 +20~25 m 라 41.5 m 는 해발 약 17~22 m — 전시 규격 확인 필요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6836" y="4389120"/>
            <a:ext cx="3393338" cy="118872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9716" y="4507992"/>
            <a:ext cx="306415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13233F"/>
                </a:solidFill>
                <a:latin typeface="맑은 고딕"/>
                <a:ea typeface="맑은 고딕"/>
                <a:cs typeface="맑은 고딕"/>
              </a:rPr>
              <a:t>회전형 안테나로 바뀌면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9716" y="4809744"/>
            <a:ext cx="3027578" cy="676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/>
            </a:p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478"/>
                </a:solidFill>
                <a:latin typeface="맑은 고딕"/>
                <a:ea typeface="맑은 고딕"/>
                <a:cs typeface="맑은 고딕"/>
              </a:rPr>
              <a:t>짐벌각 한 단계가 안테나 ↔ 동체 사이에 추가된다. 나머지 체인은 그대로다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69279"/>
            <a:ext cx="10728655" cy="493776"/>
          </a:xfrm>
          <a:prstGeom prst="roundRect">
            <a:avLst>
              <a:gd name="adj" fmla="val 8000"/>
            </a:avLst>
          </a:prstGeom>
          <a:solidFill>
            <a:srgbClr val="FCF0E8"/>
          </a:solidFill>
          <a:ln w="9525">
            <a:solidFill>
              <a:srgbClr val="EBC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797295"/>
            <a:ext cx="101800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2521C"/>
                </a:solidFill>
                <a:latin typeface="맑은 고딕"/>
                <a:ea typeface="맑은 고딕"/>
                <a:cs typeface="맑은 고딕"/>
              </a:rPr>
              <a:t>부호 · 축 · 단위 규약을 헤더 주석에 못 박아 두는 것이 가장 값싼 방어입니다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PptxGenJS Presentation</dc:subject>
  <dc:creator>PptxGenJS</dc:creator>
  <cp:lastModifiedBy>PptxGenJS</cp:lastModifiedBy>
  <cp:revision>1</cp:revision>
  <dcterms:created xsi:type="dcterms:W3CDTF">2026-09-03T11:33:40Z</dcterms:created>
  <dcterms:modified xsi:type="dcterms:W3CDTF">2026-09-03T11:33:40Z</dcterms:modified>
</cp:coreProperties>
</file>