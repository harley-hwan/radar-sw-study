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9"/>
    <p:sldId id="280" r:id="rId31"/>
    <p:sldId id="287" r:id="rId30"/>
    <p:sldId id="281" r:id="rId32"/>
    <p:sldId id="282" r:id="rId33"/>
    <p:sldId id="283" r:id="rId34"/>
    <p:sldId id="284" r:id="rId35"/>
    <p:sldId id="285" r:id="rId36"/>
    <p:sldId id="286"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67" d="100"/>
          <a:sy n="167" d="100"/>
        </p:scale>
        <p:origin x="3696" y="-172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4.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609600"/>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609600"/>
          </a:xfrm>
          <a:prstGeom prst="rect">
            <a:avLst/>
          </a:prstGeom>
        </p:spPr>
        <p:txBody>
          <a:bodyPr vert="horz" lIns="91440" tIns="45720" rIns="91440" bIns="45720" rtlCol="0"/>
          <a:lstStyle>
            <a:lvl1pPr algn="r">
              <a:defRPr sz="1200"/>
            </a:lvl1pPr>
          </a:lstStyle>
          <a:p>
            <a:fld id="{6CC62FB1-80D8-459A-8761-60CEA13F1B0B}" type="datetimeFigureOut">
              <a:rPr lang="ko-KR" altLang="en-US" smtClean="0"/>
              <a:t>2026-09-08</a:t>
            </a:fld>
            <a:endParaRPr lang="ko-KR" altLang="en-US"/>
          </a:p>
        </p:txBody>
      </p:sp>
      <p:sp>
        <p:nvSpPr>
          <p:cNvPr id="4" name="슬라이드 이미지 개체 틀 3"/>
          <p:cNvSpPr>
            <a:spLocks noGrp="1" noRot="1" noChangeAspect="1"/>
          </p:cNvSpPr>
          <p:nvPr>
            <p:ph type="sldImg" idx="2"/>
          </p:nvPr>
        </p:nvSpPr>
        <p:spPr>
          <a:xfrm>
            <a:off x="-635000" y="914400"/>
            <a:ext cx="8128000" cy="45720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5791200"/>
            <a:ext cx="5486400" cy="5486400"/>
          </a:xfrm>
          <a:prstGeom prst="rect">
            <a:avLst/>
          </a:prstGeom>
        </p:spPr>
        <p:txBody>
          <a:bodyPr vert="horz" lIns="91440" tIns="45720" rIns="91440" bIns="45720" rtlCol="0"/>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11580813"/>
            <a:ext cx="2971800" cy="609600"/>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11580813"/>
            <a:ext cx="2971800" cy="609600"/>
          </a:xfrm>
          <a:prstGeom prst="rect">
            <a:avLst/>
          </a:prstGeom>
        </p:spPr>
        <p:txBody>
          <a:bodyPr vert="horz" lIns="91440" tIns="45720" rIns="91440" bIns="45720" rtlCol="0" anchor="b"/>
          <a:lstStyle>
            <a:lvl1pPr algn="r">
              <a:defRPr sz="1200"/>
            </a:lvl1pPr>
          </a:lstStyle>
          <a:p>
            <a:fld id="{9EA1D49C-8DA1-43FF-BC21-3A721E390A05}" type="slidenum">
              <a:rPr lang="ko-KR" altLang="en-US" smtClean="0"/>
              <a:t>‹#›</a:t>
            </a:fld>
            <a:endParaRPr lang="ko-KR" altLang="en-US"/>
          </a:p>
        </p:txBody>
      </p:sp>
    </p:spTree>
    <p:extLst>
      <p:ext uri="{BB962C8B-B14F-4D97-AF65-F5344CB8AC3E}">
        <p14:creationId xmlns:p14="http://schemas.microsoft.com/office/powerpoint/2010/main" val="397753222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레이다 시스템 소프트웨어 스터디 두 번째 시간, 좌표계와 좌표변환을 발표하겠습니다.</a:t>
            </a:r>
          </a:p>
          <a:p/>
          <a:p>
            <a:r>
              <a:t>레이다가 표적을 잡으면 신호처리에서 나오는 값은 거리 하나와 각도 둘, 이렇게 세 개뿐입니다. 그런데 전시기에 찍혀야 하는 것은 지도 위의 위도와 경도입니다. 이 둘 사이에는 한 번에 건너뛸 수 없는 간극이 있습니다.</a:t>
            </a:r>
          </a:p>
          <a:p/>
          <a:p>
            <a:r>
              <a:t>오늘은 그 간극을 어떤 좌표계로 몇 단계에 걸쳐 메우는지, 그리고 왜 하필 그 좌표계여야 하는지를 먼저 보겠습니다. 그다음 실제 과제 조건으로 손계산까지 따라가고, 마지막에 C 코드와 실행 결과로 확인하겠습니다.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전체는 네 부분입니다.</a:t>
            </a:r>
          </a:p>
          <a:p/>
          <a:p>
            <a:r>
              <a:t>0장에서는 좌표변환이라는 것이 결국 무엇인지 정리합니다. 재료가 회전과 평행이동 두 가지뿐이라는 것, 그리고 회전행렬이 어디서 나오는지까지 봅니다.</a:t>
            </a:r>
          </a:p>
          <a:p/>
          <a:p>
            <a:r>
              <a:t>1장에서는 이번 설계에 등장하는 좌표계 여섯 가지를 하나씩 봅니다. 각 좌표계의 원점이 어디이고 축이 무엇인지, 그리고 그 단계가 왜 필요한지가 핵심입니다.</a:t>
            </a:r>
          </a:p>
          <a:p/>
          <a:p>
            <a:r>
              <a:t>2장은 실전 설계입니다. 과제 조건이 좌표계 선택을 어떻게 결정하는지 보고, 입력값 하나를 다섯 단계에 걸쳐 손으로 계산해 위경도까지 끌고 갑니다.</a:t>
            </a:r>
          </a:p>
          <a:p/>
          <a:p>
            <a:r>
              <a:t>3장은 C 구현입니다. 공식이 코드로 어떻게 옮겨지는지 보고, 실행 결과가 손계산과 맞는지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기초부터 정리하겠습니다.</a:t>
            </a:r>
          </a:p>
          <a:p/>
          <a:p>
            <a:r>
              <a:t>좌표계가 왜 하나로는 안 되는지, 좌표변환이 실제로 하는 일이 무엇인지, 그리고 앞으로 계속 쓰게 될 회전행렬이 어디서 나오고 어떤 성질을 갖는지, 이 세 가지를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아주 단순한 상황부터 보겠습니다. 물체가 하나 있고, 두 사람이 그것을 봅니다.</a:t>
            </a:r>
          </a:p>
          <a:p/>
          <a:p>
            <a:r>
              <a:t>관측자 A는 "내 오른쪽에 있는데" 라고 말합니다. 앞에서 오른쪽으로 21도, 9미터입니다. 관측자 B는 같은 물체를 보고 "내 왼쪽에 있는데" 라고 합니다. 앞에서 왼쪽으로 29도, 7미터입니다.</a:t>
            </a:r>
          </a:p>
          <a:p/>
          <a:p>
            <a:r>
              <a:t>물체는 분명히 하나인데 숫자가 완전히 다릅니다. 그런데 누가 틀린 것이 아니라 둘 다 맞습니다.</a:t>
            </a:r>
          </a:p>
          <a:p/>
          <a:p>
            <a:r>
              <a:t>다른 것은 딱 두 가지입니다. 어디에 서서 재는가, 즉 원점. 그리고 어디를 보고 재는가, 즉 축의 방향입니다.</a:t>
            </a:r>
          </a:p>
          <a:p/>
          <a:p>
            <a:r>
              <a:t>그 둘을 미리 정해 놓은 약속이 좌표계이고, 약속이 다른 두 좌표계의 숫자를 서로 옮겨 주는 계산이 좌표변환입니다.</a:t>
            </a:r>
          </a:p>
          <a:p/>
          <a:p>
            <a:r>
              <a:t>레이다도 똑같습니다. 안테나는 자기 정면을 기준으로 재고, 배는 뱃머리를 기준으로 알고, 지도는 북극과 그리니치를 기준으로 적습니다. 기준이 서로 다르기 때문에 변환이 필요한 것입니다.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좌표변환의 재료는 두 개뿐입니다.</a:t>
            </a:r>
          </a:p>
          <a:p/>
          <a:p>
            <a:r>
              <a:t>첫째는 회전입니다. 두 좌표계의 원점은 같은데 축이 어긋나 있을 때 씁니다. 어긋난 각도만큼 θ 를 돌려서 맞춥니다. 회전은 방향만 바꿉니다. 길이도, 벡터 사이의 각도도 변하지 않습니다.</a:t>
            </a:r>
          </a:p>
          <a:p/>
          <a:p>
            <a:r>
              <a:t>둘째는 평행이동입니다. 축 방향은 같은데 원점이 떨어져 있을 때 씁니다. 떨어진 만큼 t 를 더해서 맞춥니다. 이것은 자리만 옮기고 방향은 건드리지 않습니다.</a:t>
            </a:r>
          </a:p>
          <a:p/>
          <a:p>
            <a:r>
              <a:t>오늘 나올 다섯 단계가 전부 이 둘의 조합입니다. 식으로 쓰면 "새 좌표 = R 곱하기 기존 좌표, 더하기 t" 한 줄이고, 단계마다 그 R 과 t 를 누가 공급하느냐만 달라집니다.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외우는 것이 아니라 유도되는 것입니다.</a:t>
            </a:r>
          </a:p>
          <a:p/>
          <a:p>
            <a:r>
              <a:t>왼쪽 그림을 보시면, 점 P 를 극좌표로 쓰면 x 는 r 코사인 α, y 는 r 사인 α 입니다. 여기서 θ 만큼 더 돌리면 각이 α 더하기 θ 가 되니까, x' 은 r 코사인 α 더하기 θ 입니다. 삼각함수 덧셈정리로 풀면 r 코사인 α 코사인 θ 빼기 r 사인 α 사인 θ 가 됩니다.</a:t>
            </a:r>
          </a:p>
          <a:p/>
          <a:p>
            <a:r>
              <a:t>그런데 r 코사인 α 가 원래 x 이고 r 사인 α 가 원래 y 입니다. 그래서 x' 은 x 코사인 θ 빼기 y 사인 θ 가 됩니다. y' 도 같은 방식으로 나옵니다. 이 두 줄을 행렬로 묶은 것이 회전행렬입니다.</a:t>
            </a:r>
          </a:p>
          <a:p/>
          <a:p>
            <a:r>
              <a:t>이것을 세 축 둘레로 각각 만든 것이 오른쪽 Rz, Ry, Rx 입니다. 각각 yaw, pitch, roll 에 해당합니다. 보시면 Ry 만 부호 배치가 다른데, 뒤에 코드에서 다시 짚겠습니다.</a:t>
            </a:r>
          </a:p>
          <a:p/>
          <a:p>
            <a:r>
              <a:t>그리고 오늘 가장 많이 쓰게 될 성질이 맨 아래에 있습니다. R 전치 곱하기 R 이 단위행렬입니다. 즉 역행렬이 곧 전치입니다. 역행렬을 따로 구할 필요가 없다는 뜻이고, 뒤에 나올 역변환 전체가 이 한 줄에 기대고 있습니다.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이번 설계에 실제로 등장하는 좌표계들을 보겠습니다.</a:t>
            </a:r>
          </a:p>
          <a:p/>
          <a:p>
            <a:r>
              <a:t>안테나에서 출발해서, 배에 붙어 있는 동체 좌표계, 자세를 공급하는 INS, 배 주변의 수평면인 NED, 지구 전체 기준인 ECEF, 그리고 마지막 출력인 위경도까지 순서대로 봅니다.</a:t>
            </a:r>
          </a:p>
          <a:p/>
          <a:p>
            <a:r>
              <a:t>각 좌표계마다 원점이 어디이고 축이 무엇인지, 그리고 그 단계가 왜 필요한지에 초점을 맞추겠습니다.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변환 체인의 출발점입니다. 레이다가 물리적으로 잴 수 있는 것은 세 개뿐입니다.</a:t>
            </a:r>
          </a:p>
          <a:p/>
          <a:p>
            <a:r>
              <a:t>거리 R 은 전파를 쏘고 되돌아오는 시간에 빛의 속도를 곱하고 2 로 나눈 값입니다. 왕복이기 때문에 2 로 나눕니다.</a:t>
            </a:r>
          </a:p>
          <a:p/>
          <a:p>
            <a:r>
              <a:t>방위각과 고각은 안테나 정면, 즉 보어사이트를 기준으로 잰 각입니다. 보어사이트는 안테나 신호가 가장 세게 나가고 들어오는 한가운데 방향을 말합니다.</a:t>
            </a:r>
          </a:p>
          <a:p/>
          <a:p>
            <a:r>
              <a:t>위 그림은 안테나를 위에서 내려다본 것으로 좌우 방향인 방위각을, 아래 그림은 옆에서 본 것으로 위아래 방향인 고각을 나타냅니다.</a:t>
            </a:r>
          </a:p>
          <a:p/>
          <a:p>
            <a:r>
              <a:t>이번 과제의 입력은 20 킬로미터, 방위 30도, 고각 0도입니다. 오늘 다루는 모든 계산이 이 세 숫자에서 출발합니다.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극좌표는 사람이 읽기에는 편하지만, 그대로 회전시킬 수는 없습니다. 회전행렬은 벡터에만 곱할 수 있기 때문입니다. 각도끼리 더한다고 회전이 합성되지 않습니다.</a:t>
            </a:r>
          </a:p>
          <a:p/>
          <a:p>
            <a:r>
              <a:t>그래서 같은 표적을 서로 직각인 세 축 방향의 거리로 다시 적습니다. 안테나 좌표계는 z 가 보어사이트, x 가 왼쪽, y 가 위입니다.</a:t>
            </a:r>
          </a:p>
          <a:p/>
          <a:p>
            <a:r>
              <a:t>공식은 그림에서 그대로 나옵니다. 먼저 고각으로 위아래 성분을 뗍니다. y 가 R 사인 El 입니다. 그러고 남은 R 코사인 El 이 수평면에 깔린 길이인데, 이것을 다시 방위각으로 나누어 x 는 사인 Az 를, z 는 코사인 Az 를 곱합니다.</a:t>
            </a:r>
          </a:p>
          <a:p/>
          <a:p>
            <a:r>
              <a:t>이번 값을 넣어 보겠습니다. 고각이 0도라 y 는 0 입니다. x 는 2만 곱하기 사인 30도로 정확히 1만 미터, z 는 2만 곱하기 코사인 30도로 1만 7320.51 미터입니다.</a:t>
            </a:r>
          </a:p>
          <a:p/>
          <a:p>
            <a:r>
              <a:t>여기서 중요한 것은 표현만 바뀌었지 표적은 그대로라는 점입니다. 아직 회전도 이동도 하지 않았습니다.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안테나 좌표계의 세 번째 표현인 UV, 방향코사인입니다.</a:t>
            </a:r>
          </a:p>
          <a:p/>
          <a:p>
            <a:r>
              <a:t>표적 방향을 길이 1 인 화살표로 보고, 그 화살표를 안테나 세 축에 나눠 담은 값입니다. 만드는 순서는 직교좌표와 같습니다. 먼저 고각으로 위아래를 떼면 v 가 사인 El 이 되고, 남은 코사인 El 을 방위각으로 나누면 u 와 w 가 나옵니다. 세 성분을 제곱해서 더하면 1 이 되는데, 길이 1 인 화살표를 쪼갠 것이니 당연한 결과입니다.</a:t>
            </a:r>
          </a:p>
          <a:p/>
          <a:p>
            <a:r>
              <a:t>가운데 그림은 안테나 면에서 본 u-v 평면으로, 표적 방향의 그림자라고 보시면 됩니다. u 제곱 더하기 v 제곱이 1 이하인 원 안쪽으로만 빔을 만들 수 있습니다.</a:t>
            </a:r>
          </a:p>
          <a:p/>
          <a:p>
            <a:r>
              <a:t>왜 이런 표현을 쓰는지가 오른쪽에 있습니다. 현대 레이다는 대부분 위상배열입니다. 수백에서 수천 개의 소자에 위상차를 줘서 빔 방향을 전자적으로 바꾸는데, 그 위상차 공식을 보시면 소자 번호에 u 와 v 를 곱하기만 하면 됩니다. 각도 Az, El 로는 이렇게 단순해지지 않습니다.</a:t>
            </a:r>
          </a:p>
          <a:p/>
          <a:p>
            <a:r>
              <a:t>다만 오늘 체인에는 UV 가 들어가지 않습니다. UV 에는 거리가 없기 때문입니다. 방향만 담는 표현이라 표적의 위치를 옮기는 이번 변환에는 쓸 수 없습니다.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안테나에서 나온 값을 이제 배 기준으로 옮깁니다.</a:t>
            </a:r>
          </a:p>
          <a:p/>
          <a:p>
            <a:r>
              <a:t>동체 좌표계는 FRD 입니다. Forward, Right, Down. x 가 선수 즉 앞, y 가 우현 즉 오른쪽, z 가 아래입니다. 원점은 배의 무게중심이고, 세 축은 배에 붙어서 배와 함께 움직입니다.</a:t>
            </a:r>
          </a:p>
          <a:p/>
          <a:p>
            <a:r>
              <a:t>안테나에서 동체로 가는 데 필요한 정보는 세 가지뿐이고, 전부 설치 도면에서 나옵니다.</a:t>
            </a:r>
          </a:p>
          <a:p/>
          <a:p>
            <a:r>
              <a:t>첫째는 설치 방위입니다. 안테나를 뱃머리 기준으로 어느 방향에 달았는가. 이번 과제는 90도, 즉 우현을 봅니다.</a:t>
            </a:r>
          </a:p>
          <a:p/>
          <a:p>
            <a:r>
              <a:t>둘째는 백틸트입니다. 안테나 면을 위로 얼마나 들어 올렸는가. 이번 과제는 0도입니다.</a:t>
            </a:r>
          </a:p>
          <a:p/>
          <a:p>
            <a:r>
              <a:t>셋째는 레버암입니다. 무게중심에서 안테나까지의 거리 벡터로, 이번 과제는 (−30, 0, −10) 미터입니다. 선수 방향으로 30미터 뒤, 그리고 10미터 위라는 뜻입니다.</a:t>
            </a:r>
          </a:p>
          <a:p/>
          <a:p>
            <a:r>
              <a:t>아래 흐름도가 이 셋이 어떻게 들어가는지 보여줍니다. 축 맞춤 A 를 먼저 걸고, 백틸트, 설치 방위 순으로 회전한 다음, 마지막에 레버암을 더합니다. 이 순서가 왜 이래야 하는지는 3장에서 따로 다루겠습니다.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동체 좌표계에는 결정적인 한계가 있습니다. 북쪽이 어딘지 모릅니다. 배에 붙어 있으니 배가 돌면 축도 같이 돌아버립니다.</a:t>
            </a:r>
          </a:p>
          <a:p/>
          <a:p>
            <a:r>
              <a:t>그 정보를 주는 것이 INS, 관성항법장치입니다. INS 는 센서 블록에 붙은 자기 좌표계를 갖고 있고, 보통 무게중심에 축을 맞춰 설치합니다.</a:t>
            </a:r>
          </a:p>
          <a:p/>
          <a:p>
            <a:r>
              <a:t>INS 가 주는 값은 자세와 위치입니다. 자세는 롤, 피치, 요 세 각도입니다. 롤은 선수축 둘레로 배가 좌우로 기우는 것, 피치는 우현축 둘레로 뱃머리가 들리는 것, 요는 아래축 둘레로 배가 어느 방향을 보고 있는가입니다.</a:t>
            </a:r>
          </a:p>
          <a:p/>
          <a:p>
            <a:r>
              <a:t>이번 과제는 롤 0도, 피치 0도, 요 45도입니다. 요 45도는 배가 진북에서 시계방향으로 45도 돌아가 있다는 뜻이고, 바꿔 말하면 진북이 선수에서 왼쪽으로 45도에 있다는 것입니다.</a:t>
            </a:r>
          </a:p>
          <a:p/>
          <a:p>
            <a:r>
              <a:t>위치는 북위 36.408도, 동경 127.307도, 고도 0 입니다. 자세각은 다음 단계에서 NED 로 갈 때 쓰이고, 위경도는 그다음 지구 좌표로 갈 때 쓰입니다.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그 성질을 쓰는 좌표계가 NED 입니다.</a:t>
            </a:r>
          </a:p>
          <a:p/>
          <a:p>
            <a:r>
              <a:t>NED 는 North, East, Down 으로 북, 동, 아래 순서이고 셋째 축이 아래로 양수입니다. ENU 는 East, North, Up 으로 동, 북, 위 순서입니다. 두 그림을 비교해 보시면 북과 동은 같은 방향이고 셋째 축만 뒤집혀 있습니다. 둘 다 오른손 좌표계이고 정보량이 같습니다. 항공우주와 무기체계에서는 관례상 NED 를, 측지나 GIS 쪽에서는 ENU 를 씁니다.</a:t>
            </a:r>
          </a:p>
          <a:p/>
          <a:p>
            <a:r>
              <a:t>이 좌표계가 왜 필요한지가 오른쪽에 있습니다. NED 는 배와 함께 이동하지만 배와 함께 회전하지는 않습니다. 그래서 표적이 실제로 움직인 것과 배가 흔들린 것을 구분할 수 있습니다. 추적 필터를 이 좌표계에서 돌리는 이유입니다.</a:t>
            </a:r>
          </a:p>
          <a:p/>
          <a:p>
            <a:r>
              <a:t>아래가 동체에서 NED 로 가는 변환입니다. 원점이 둘 다 무게중심이라 평행이동이 없고 회전만 걸립니다. 롤, 피치, 요 세 회전을 곱하는데 벡터에 가까운 롤부터 차례로 걸립니다. 이번 과제는 롤과 피치가 0도라 결국 요 45도만 남습니다.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여기서부터는 기준이 배가 아니라 지구 전체입니다.</a:t>
            </a:r>
          </a:p>
          <a:p/>
          <a:p>
            <a:r>
              <a:t>ECEF 와 ECI 는 원점이 지구 중심으로 똑같습니다. 다른 것은 축이 도느냐 마느냐뿐입니다.</a:t>
            </a:r>
          </a:p>
          <a:p/>
          <a:p>
            <a:r>
              <a:t>ECEF 는 Earth-Centered, Earth-Fixed 입니다. X 축이 그리니치 자오선을 향하고 지구와 함께 돕니다. 축과 지표의 건물이 같이 도니까, 지표 한 점의 좌표가 시간이 지나도 변하지 않습니다.</a:t>
            </a:r>
          </a:p>
          <a:p/>
          <a:p>
            <a:r>
              <a:t>ECI 는 Earth-Centered Inertial 입니다. X 축이 춘분점, 즉 별에 고정되어 있어서 돌지 않습니다. 그래서 지표의 건물이 하루에 한 바퀴 돕니다. 대신 축이 관성계라 뉴턴 법칙이 그대로 성립하고, 위성이나 탄도탄처럼 궤도를 전파해야 할 때 씁니다.</a:t>
            </a:r>
          </a:p>
          <a:p/>
          <a:p>
            <a:r>
              <a:t>둘 사이 변환은 지구 자전각 θ 하나로 끝나는데, 이 θ 가 GMST, 즉 시각으로 정해집니다. 그래서 시각이 1밀리초만 어긋나도 적도에서 0.47미터가 어긋납니다.</a:t>
            </a:r>
          </a:p>
          <a:p/>
          <a:p>
            <a:r>
              <a:t>이번 과제는 지표에 있는 표적을 다루므로 ECEF 만 씁니다. 아래 변환을 보시면 NED 를 지구 축에 맞춰 두 번 돌린 다음 배의 ECEF 위치를 더합니다. 회전은 배의 위경도가, 이동은 배의 위치가 공급합니다.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좌표계이자 최종 출력입니다. 위도, 경도, 고도.</a:t>
            </a:r>
          </a:p>
          <a:p/>
          <a:p>
            <a:r>
              <a:t>여기서 처음으로 지구의 모양이 계산에 직접 들어옵니다. 지구는 완전한 구가 아니라 적도 쪽이 볼록하고 극 쪽이 눌린 타원체입니다. 그 모양을 정한 세계 표준이 WGS-84 이고, 적도 반지름이 6,378,137 미터, 극 반지름이 6,356,752 미터입니다. 차이가 약 21 킬로미터, 비율로는 0.3 퍼센트 정도입니다.</a:t>
            </a:r>
          </a:p>
          <a:p/>
          <a:p>
            <a:r>
              <a:t>가운데 그림이 중요합니다. 위도를 어디서 재느냐인데, 우리가 쓰는 측지위도 φ 는 타원체 면에 수직인 선이 적도면과 이루는 각입니다. 지구 중심에서 그은 선으로 재는 지심위도와는 다른 값이고, 지도와 GPS 가 쓰는 것은 측지위도입니다.</a:t>
            </a:r>
          </a:p>
          <a:p/>
          <a:p>
            <a:r>
              <a:t>아래 변환을 보시면, LLA 에서 ECEF 로는 공식에 넣으면 한 번에 나옵니다. 그런데 반대 방향은 그렇지 않습니다. 곡률반경 RN 을 구하려면 위도를 알아야 하고, 위도를 구하려면 RN 을 알아야 하는 순환 구조입니다. 그래서 초기값을 넣고 값이 더 안 변할 때까지 반복해서 풉니다. 보통 서너 번이면 수렴합니다.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본 좌표계를 하나로 이어 붙인 것이 이 표입니다. 위에서 아래로 다섯 단계입니다.</a:t>
            </a:r>
          </a:p>
          <a:p/>
          <a:p>
            <a:r>
              <a:t>첫째, 극좌표를 직교좌표로 바꿉니다. 표현만 바뀌고 회전도 이동도 없습니다.</a:t>
            </a:r>
          </a:p>
          <a:p/>
          <a:p>
            <a:r>
              <a:t>둘째, 안테나에서 동체로 갑니다. 회전과 이동이 모두 있고 설치 도면이 값을 공급합니다. 고정형 안테나라 이 값들은 상수입니다.</a:t>
            </a:r>
          </a:p>
          <a:p/>
          <a:p>
            <a:r>
              <a:t>셋째, 동체에서 NED 로 갑니다. 원점이 같아서 회전만 있고 INS 자세가 공급합니다. 이 값은 매 순간 변합니다.</a:t>
            </a:r>
          </a:p>
          <a:p/>
          <a:p>
            <a:r>
              <a:t>넷째, NED 에서 ECEF 로 갑니다. 회전과 이동이 모두 있고 INS 위치가 공급합니다.</a:t>
            </a:r>
          </a:p>
          <a:p/>
          <a:p>
            <a:r>
              <a:t>다섯째, ECEF 를 위경도로 바꿉니다. 여기만 반복 계산입니다.</a:t>
            </a:r>
          </a:p>
          <a:p/>
          <a:p>
            <a:r>
              <a:t>오른쪽 열을 보시면 각 단계의 회전과 이동을 누가 공급하는지가 적혀 있습니다. 이 표는 그대로 오차의 출처 목록이 됩니다. 설치 도면이 틀리면 2단계가, INS 자세가 흔들리면 3단계가, INS 위치가 부정확하면 4단계가 틀어집니다.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실제 과제 조건으로 설계를 해 보겠습니다.</a:t>
            </a:r>
          </a:p>
          <a:p/>
          <a:p>
            <a:r>
              <a:t>주어진 조건이 좌표계 선택을 어떻게 결정하는지 보고, 왜 어떤 좌표계는 쓰지 않는지도 함께 정리하겠습니다. 그다음 입력값 하나를 실제로 손으로 계산해서 위경도까지 끌고 가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주어진 조건 여섯 가지입니다.</a:t>
            </a:r>
          </a:p>
          <a:p/>
          <a:p>
            <a:r>
              <a:t>이것은 단순한 배경 설명이 아닙니다. 조건 하나하나가 어느 좌표계를 쓸지, 어떤 항을 넣을지를 못 박은 설계 사양입니다.</a:t>
            </a:r>
          </a:p>
          <a:p/>
          <a:p>
            <a:r>
              <a:t>예를 들어 안테나가 고정형이라는 조건은 설치 방위와 레버암이 상수라는 뜻입니다. 표적이 지표 근처라는 조건은 ECI 가 필요 없다는 뜻입니다. 그리고 역방향 변환도 요구된다는 조건 때문에, 다섯 단계 전부에 역변환을 준비해 두어야 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설계에서 중요한 것은 쓸 것을 고르는 것만큼이나 안 쓸 것을 정하는 일입니다.</a:t>
            </a:r>
          </a:p>
          <a:p/>
          <a:p>
            <a:r>
              <a:t>UV 는 뺐습니다. 방향만 있고 거리가 없어서 표적의 위치를 옮기는 데 쓸 수 없습니다.</a:t>
            </a:r>
          </a:p>
          <a:p/>
          <a:p>
            <a:r>
              <a:t>ECI 도 뺐습니다. 관성 동역학으로 궤도를 전파할 일이 없기 때문입니다. 위성이나 탄도탄이라면 필요하지만 이번 과제는 아닙니다.</a:t>
            </a:r>
          </a:p>
          <a:p/>
          <a:p>
            <a:r>
              <a:t>ENU 도 뺐습니다. NED 와 정보량이 완전히 같은데, 동체 좌표계가 FRD 라 셋째 축의 의미를 맞추기에는 NED 가 자연스럽습니다.</a:t>
            </a:r>
          </a:p>
          <a:p/>
          <a:p>
            <a:r>
              <a:t>INS 는 좌표계라기보다 값의 공급원으로 씁니다. 무게중심에 축을 맞춰 설치했다고 보고, 자세와 위치를 받아 쓰기만 합니다.</a:t>
            </a:r>
          </a:p>
          <a:p/>
          <a:p>
            <a:r>
              <a:t>그래서 남은 것이 다섯 단계, 앞 장에서 본 변환 체인입니다.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숫자를 직접 따라가 보겠습니다.</a:t>
            </a:r>
          </a:p>
          <a:p/>
          <a:p>
            <a:r>
              <a:t>첫째, 극좌표를 직교로 바꿉니다. 고각이 0도라 y 는 0 입니다. x 는 2만 곱하기 사인 30도로 정확히 1만 미터. z 는 2만 곱하기 코사인 30도로 1만 7320.51 미터, 이것은 1만 루트3 입니다.</a:t>
            </a:r>
          </a:p>
          <a:p/>
          <a:p>
            <a:r>
              <a:t>둘째, 안테나에서 동체로 갑니다. 축 맞춤 A 와 설치 방위 90도를 합치면 가운데 3×3 행렬이 나옵니다. 이것을 곱하면 1만, 1만 7320.51, 0 이 되고, 여기에 레버암 (−30, 0, −10) 을 더하면 동체 좌표 (9970, 17320.51, −10) 이 됩니다. z 가 −10 인 것은 동체의 z 축이 아래를 향하기 때문이고, 표적이 무게중심보다 10미터 위에 있다는 뜻입니다.</a:t>
            </a:r>
          </a:p>
          <a:p/>
          <a:p>
            <a:r>
              <a:t>셋째, 동체에서 NED 로 갑니다. 롤과 피치가 0도라 요 45도만 남습니다. 코사인 45도와 사인 45도가 둘 다 0.7071 이니, 북 성분은 −5197.59, 동 성분은 19297.30 이 나옵니다.</a:t>
            </a:r>
          </a:p>
          <a:p/>
          <a:p>
            <a:r>
              <a:t>북이 음수인 것이 이상해 보일 수 있는데, 배가 진북에서 시계방향 45도로 돌아 있고 표적이 우현 쪽에 있으니 결과적으로 남동쪽이 됩니다. 방위각으로 환산하면 105.07도입니다.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넷째 단계, NED 에서 ECEF 로 갑니다.</a:t>
            </a:r>
          </a:p>
          <a:p/>
          <a:p>
            <a:r>
              <a:t>먼저 배의 ECEF 위치부터 구해야 합니다. 배의 위도 36.408도를 넣으면 그 위도에서의 곡률반경 RN 이 6,385,671 미터로 나오고, 이것을 공식에 넣으면 배의 ECEF 좌표가 나옵니다.</a:t>
            </a:r>
          </a:p>
          <a:p/>
          <a:p>
            <a:r>
              <a:t>그다음 NED 벡터를 지구 축에 맞춰 돌립니다. 가운데 3×3 이 경도와 위도로 만들어진 회전행렬이고, 이것을 NED 에 곱하면 (−17223.68, −9235.66, −4177.15) 가 나옵니다. 여기에 배의 ECEF 위치를 더한 것이 표적의 ECEF 입니다.</a:t>
            </a:r>
          </a:p>
          <a:p/>
          <a:p>
            <a:r>
              <a:t>값이 갑자기 3백만 미터대로 뛰는데, 놀랄 일이 아닙니다. 원점이 지구 중심이니까 지구 반지름만큼이 기본으로 깔리는 것입니다.</a:t>
            </a:r>
          </a:p>
          <a:p/>
          <a:p>
            <a:r>
              <a:t>다섯째, ECEF 를 위경도로 되돌립니다. 경도는 Y 와 X 의 아크탄젠트로 바로 나옵니다. X 가 음수이고 Y 가 양수라 2사분면이고, 127.522008도입니다. 위도는 앞서 말씀드린 순환 구조라 반복으로 풉니다.</a:t>
            </a:r>
          </a:p>
          <a:p/>
          <a:p>
            <a:r>
              <a:t>최종 결과가 북위 36.360967도, 동경 127.522008도, 고도 41.28 미터입니다.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조건에 역방향 변환도 요구되어 있습니다. 그런데 역변환은 새로 만들 것이 거의 없습니다.</a:t>
            </a:r>
          </a:p>
          <a:p/>
          <a:p>
            <a:r>
              <a:t>규칙은 세 가지입니다. 회전은 전치. 앞에서 R 전치가 곧 역행렬이라고 했으니 그대로 씁니다. 평행이동은 빼기. 더했던 것을 빼면 됩니다. 그리고 순서는 거꾸로.</a:t>
            </a:r>
          </a:p>
          <a:p/>
          <a:p>
            <a:r>
              <a:t>표를 따라가 보겠습니다. 위경도에서 ECEF 로 갈 때는 정변환과 똑같은 공식을 씁니다. ECEF 에서 NED 로 갈 때는 배의 위치를 먼저 빼고 전치 행렬을 곱합니다. NED 에서 동체는 원점이 같으니 전치만 곱하면 됩니다. 동체에서 안테나는 레버암을 먼저 빼고 전치를 곱합니다.</a:t>
            </a:r>
          </a:p>
          <a:p/>
          <a:p>
            <a:r>
              <a:t>마지막으로 직교좌표를 극좌표로 되돌리면 R 이 2만 미터, 방위 30도, 고각 0도. 처음 입력값이 그대로 돌아왔습니다.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C 구현입니다.</a:t>
            </a:r>
          </a:p>
          <a:p/>
          <a:p>
            <a:r>
              <a:t>회전행렬을 코드로 어떻게 옮기는지부터 시작하겠습니다. 그다음 앞에서 가장 헷갈리기 쉬웠던 안테나에서 동체로 가는 부분을 따로 자세히 보고, 나머지 단계는 공식과 코드를 나란히 놓고 확인하겠습니다. 마지막에 실행 결과가 손계산과 맞는지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회전행렬 구현은 사실상 옮겨 적기입니다.</a:t>
            </a:r>
          </a:p>
          <a:p/>
          <a:p>
            <a:r>
              <a:t>Matrix_initialize 로 3×3 을 잡으면 아홉 칸이 전부 0 으로 채워집니다. 그러면 공식에서 0 이 아닌 칸만 채우면 됩니다. Rz 는 다섯 칸입니다. e[0][0] 에 코사인, e[0][1] 에 마이너스 사인, e[1][0] 에 사인, e[1][1] 에 코사인, 그리고 e[2][2] 에 1. 나머지 네 칸은 0 인 채로 두면 됩니다. 공식의 칸 위치와 배열 첨자가 1대1 로 대응합니다.</a:t>
            </a:r>
          </a:p>
          <a:p/>
          <a:p>
            <a:r>
              <a:t>f_RotX 와 f_RotY 도 같은 방식인데, Ry 만 부호 배치가 반대입니다. e[0][2] 가 플러스 사인이고 e[2][0] 이 마이너스 사인입니다. 세 축 중에 여기만 다르니 코드를 보실 때 주의해서 봐 주시면 됩니다.</a:t>
            </a:r>
          </a:p>
          <a:p/>
          <a:p>
            <a:r>
              <a:t>그리고 이 장에서 꼭 기억하실 것이 아래 상자입니다. 회전에는 교환법칙이 없습니다. 곱하는 순서를 바꾸면 결과가 달라지는데, 문제는 컴파일 에러도 런타임 에러도 나지 않는다는 점입니다. 그냥 조용히 다른 값이 나옵니다. 다음 장에서 실제로 그런 자리가 어디인지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안테나에서 동체로 갈 때 왜 회전이 세 번인지, 이 장에서 정리하겠습니다.</a:t>
            </a:r>
          </a:p>
          <a:p/>
          <a:p>
            <a:r>
              <a:t>왼쪽 위가 첫 번째인 A 입니다. 이것은 사실 돌리는 것이 아닙니다. 안테나 좌표계는 x 가 왼쪽, y 가 위, z 가 보어사이트 순서로 적습니다. 동체는 x 가 선수, y 가 우현, z 가 아래 순서로 적습니다. 표를 보시면 안테나의 보어사이트가 동체의 선수 자리로, 안테나의 왼쪽이 좌현으로, 안테나의 위가 그대로 위로 갑니다. 물리적으로는 아무것도 움직이지 않았습니다. 같은 방향을 다른 순서로 다시 적었을 뿐입니다. 그래서 A 는 설치와 무관한 상수입니다.</a:t>
            </a:r>
          </a:p>
          <a:p/>
          <a:p>
            <a:r>
              <a:t>오른쪽 위가 그다음입니다. A 만 적용하면 보어사이트가 선수를 향합니다. 여기에 백틸트를 걸면 선수에서 위로 들리고, 마지막에 설치 방위를 걸면 우현 방향에서 위로 들린 실제 설치 자세가 됩니다.</a:t>
            </a:r>
          </a:p>
          <a:p/>
          <a:p>
            <a:r>
              <a:t>가운데가 왜 이 순서여야 하는가입니다. Rz 는 동체의 z 축, 즉 아래 축 둘레로 도는 회전입니다. 그런데 A 보다 먼저 걸리면 벡터가 아직 안테나 좌표에 있습니다. 안테나의 z 는 보어사이트이니, 동체의 아래 축이 아니라 보어사이트 축 둘레로 돌아 버립니다. 그래서 A 가 반드시 먼저 걸려야 합니다.</a:t>
            </a:r>
          </a:p>
          <a:p/>
          <a:p>
            <a:r>
              <a:t>아래 왼쪽이 실제로 순서를 바꿨을 때입니다. A 와 Rz 를 바꾸면 표적이 상공 10 킬로미터에 뜹니다. Ry 와 Rz 를 바꾸면 더 무서운데, 우현 설치에서는 백틸트가 통째로 사라집니다. 회전축과 보어사이트가 겹쳐서 Ry 가 아무 일도 하지 않기 때문입니다.</a:t>
            </a:r>
          </a:p>
          <a:p/>
          <a:p>
            <a:r>
              <a:t>그런데 아래 오른쪽이 진짜 함정입니다. 이번 과제는 백틸트가 0도라 Ry 가 단위행렬입니다. 순서를 바꿔도 결과가 똑같이 나옵니다. 왕복오차 검증도 정변환과 역변환이 같은 행렬을 쓰기 때문에 이 오류를 잡지 못합니다. 백틸트를 주는 순간 조용히 틀리기 시작하는 자리입니다.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단계별로 공식과 코드를 나란히 놓고 보겠습니다.</a:t>
            </a:r>
          </a:p>
          <a:p/>
          <a:p>
            <a:r>
              <a:t>첫 번째, 극좌표에서 직교로. 왼쪽 공식 세 줄이 오른쪽 코드 세 줄과 그대로 대응합니다. 별도 설명이 필요 없을 정도입니다.</a:t>
            </a:r>
          </a:p>
          <a:p/>
          <a:p>
            <a:r>
              <a:t>두 번째, 안테나에서 동체로. 식은 Rz 곱하기 Ry 곱하기 A 곱하기 p_ant, 더하기 레버암입니다. 코드를 보시면 설치 방위로 Rz 를, 백틸트로 Ry 를, 축 맞춤으로 A 를 각각 만들고, Product2 로 Rz 와 Ry 를 먼저 곱한 다음 거기에 A 를 곱합니다. 결과적으로 A 가 맨 오른쪽에 남아서 벡터에 가장 먼저 걸립니다. 식의 순서와 코드의 순서가 정확히 같습니다.</a:t>
            </a:r>
          </a:p>
          <a:p/>
          <a:p>
            <a:r>
              <a:t>아래 띠가 이번 과제 값인데, 앞에서 손으로 계산한 것과 같은 숫자가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동체에서 NED 로 갑니다. 원점이 같아서 평행이동이 없고 회전만 걸립니다.</a:t>
            </a:r>
          </a:p>
          <a:p/>
          <a:p>
            <a:r>
              <a:t>코드에서 요, 피치, 롤로 각각 회전행렬을 만들고 Product3 로 한 번에 곱하는데, Product3 가 왼쪽부터 묶기 때문에 결과적으로 롤이 벡터에 가장 먼저 걸립니다. 이것이 표준 ZYX 순서이고, 순서를 바꾸면 값이 달라지니 주의해야 합니다.</a:t>
            </a:r>
          </a:p>
          <a:p/>
          <a:p>
            <a:r>
              <a:t>네 번째, NED 에서 ECEF 로 갑니다. 회전은 경도로 만든 Rz 와, 마이너스 90도 빼기 위도로 만든 Ry 두 개입니다. 여기에 배의 ECEF 위치를 더하는데, 코드를 보시면 그 배의 위치를 함수가 안에서 직접 구합니다. 배의 위경도를 받아서 f_LlaToEcef 를 호출하는 방식이라, 호출하는 쪽에서 미리 계산해 넘길 필요가 없습니다.</a:t>
            </a:r>
          </a:p>
          <a:p/>
          <a:p>
            <a:r>
              <a:t>아래 띠를 보시면 NED 에서 ECEF 로 넘어가는 순간 자릿수가 확 커집니다. 원점이 지구 중심이기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LLA 와 ECEF 사이입니다.</a:t>
            </a:r>
          </a:p>
          <a:p/>
          <a:p>
            <a:r>
              <a:t>LLA 에서 ECEF 로는 공식에 넣으면 바로 나옵니다. 코드도 네 줄입니다. 여기서 눈여겨보실 것은 z 성분에만 1 빼기 e 제곱이 붙는다는 점입니다. 지구가 극 쪽으로 눌린 만큼 z 를 줄여 주는 것이고, x 와 y 에는 붙지 않습니다.</a:t>
            </a:r>
          </a:p>
          <a:p/>
          <a:p>
            <a:r>
              <a:t>반대 방향이 오늘 유일하게 한 번에 풀리지 않는 단계입니다. 경도는 아크탄젠트로 바로 나오지만, 위도는 곡률반경 RN 이 있어야 구할 수 있고 RN 은 위도가 있어야 구할 수 있습니다. 그래서 초기값으로 지구를 그냥 구로 봤을 때의 위도를 넣고, 위도와 고도를 번갈아 계산하면서 값이 더 안 변할 때까지 반복합니다.</a:t>
            </a:r>
          </a:p>
          <a:p/>
          <a:p>
            <a:r>
              <a:t>아래가 실제 수렴 과정입니다. 초기값 36.177 에서 시작해서 첫 번째 반복에 36.3614, 세 번째에 이미 소수점 일곱 자리가 맞고, 여섯 번째에서 변화가 10의 마이너스 16승이 되어 빠져나옵니다. 최대 열 번으로 상한을 걸어 두었지만 실제로는 대여섯 번이면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역변환 구현입니다. 앞에서 본 규칙 세 가지가 코드로도 그대로 나타납니다.</a:t>
            </a:r>
          </a:p>
          <a:p/>
          <a:p>
            <a:r>
              <a:t>위쪽 식을 보시면 정변환이 p' = R 곱하기 p 더하기 t 이고, 역변환은 p = R 전치 곱하기 괄호 p' 빼기 t 입니다.</a:t>
            </a:r>
          </a:p>
          <a:p/>
          <a:p>
            <a:r>
              <a:t>아래 두 코드를 비교해 보시면, 정변환은 회전하고 더합니다. 역변환은 전치를 만들고, 빼고, 회전합니다.</a:t>
            </a:r>
          </a:p>
          <a:p/>
          <a:p>
            <a:r>
              <a:t>여기서 놓치기 쉬운 것이 순서입니다. 오른쪽 위 상자에 있는데, 레버암은 동체 좌표계에서 잰 값입니다. 그래서 동체 좌표 상태에서 먼저 빼고, 그다음에 안테나 축으로 되돌려야 합니다. 두 줄을 바꿔서 안테나 축으로 먼저 돌린 다음 빼면, 레버암이 엉뚱한 좌표계에서 빠져 결과가 틀어집니다.</a:t>
            </a:r>
          </a:p>
          <a:p/>
          <a:p>
            <a:r>
              <a:t>아래는 직교좌표를 극좌표로 되돌리는 부분입니다. 거리는 세 성분의 제곱합의 제곱근이고, 방위각과 고각은 아크탄젠트로 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radar_coord.exe 를 돌린 화면입니다.</a:t>
            </a:r>
          </a:p>
          <a:p/>
          <a:p>
            <a:r>
              <a:t>위쪽이 입력이고, 그 아래가 정변환 다섯 단계입니다. 1번부터 5번까지 값이 앞에서 손으로 계산한 것과 전부 일치합니다. 그 아래 역변환은 이 값을 그대로 되짚어 온 것인데, 마지막 줄을 보시면 입력과의 차이가 거리 기준 10의 마이너스 10승 미터 수준입니다.</a:t>
            </a:r>
          </a:p>
          <a:p/>
          <a:p>
            <a:r>
              <a:t>오른쪽 위를 봐 주십시오. 4번 단계에서 좌표가 갑자기 3천 킬로미터대로 뜁니다. 표적까지의 거리는 20 킬로미터인데 좌표값은 3,132 킬로미터입니다. 원점이 지구 중심이기 때문입니다.</a:t>
            </a:r>
          </a:p>
          <a:p/>
          <a:p>
            <a:r>
              <a:t>이것이 왜 중요하냐면, 이 크기의 숫자를 32비트 float 으로 담으면 표현할 수 있는 눈금 간격이 0.25 미터가 됩니다. 미터 이하가 통째로 날아간다는 뜻입니다. 그래서 이 라이브러리는 전 구간을 double, 코드에서는 FLOAT64 로 씁니다.</a:t>
            </a:r>
          </a:p>
          <a:p/>
          <a:p>
            <a:r>
              <a:t>가운데는 과제가 요구한 최종 출력 두 가지입니다. 표적의 위경도와 고도, 그리고 역변환으로 되돌린 안테나 극좌표입니다.</a:t>
            </a:r>
          </a:p>
          <a:p/>
          <a:p>
            <a:r>
              <a:t>아래가 고도 이야기인데, 조금 의아하실 수 있습니다. 표적은 배의 수평면에서 10 미터 위인데 왜 고도가 41.3 미터로 나오느냐. 그림을 보시면, 파란 선이 수평면을 따라 20 킬로미터를 직진한 선입니다. 그런데 지구는 휘어 있으니 지구 표면은 그 직선에서 점점 멀어집니다. 20 킬로미터 지점에서 그 차이가 31.3 미터입니다. 표적은 수평면보다 10 미터 위에 있으니, 지구 타원체면 기준으로는 10 더하기 31.3, 약 41.3 미터가 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UI 화면입니다.</a:t>
            </a:r>
          </a:p>
          <a:p/>
          <a:p>
            <a:r>
              <a:t>같은 CoordCore 라이브러리를 MFC 쪽에서도 그대로 호출합니다. 계산 로직이 한 곳에만 있고 콘솔과 UI 가 같은 함수를 부르는 구조입니다.</a:t>
            </a:r>
          </a:p>
          <a:p/>
          <a:p>
            <a:r>
              <a:t>왼쪽에서 측정값, 플랫폼 위치와 자세, 안테나 설치값을 입력합니다. 롤, 피치, 요는 슬라이더로도 바꿀 수 있어서 배가 흔들릴 때 결과가 어떻게 변하는지 바로 확인할 수 있습니다.</a:t>
            </a:r>
          </a:p>
          <a:p/>
          <a:p>
            <a:r>
              <a:t>가운데 표가 정변환 다섯 단계와 역변환 다섯 단계를 한 번에 보여주고, 그 아래가 최종 출력과 왕복오차입니다.</a:t>
            </a:r>
          </a:p>
          <a:p/>
          <a:p>
            <a:r>
              <a:t>표에 찍힌 값이 앞에서 본 손계산, 그리고 콘솔 출력과 모두 같습니다.</a:t>
            </a:r>
          </a:p>
          <a:p/>
          <a:p>
            <a:r>
              <a:t>이상으로 발표를 마치겠습니다.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a:effectLst/>
      </p:bgPr>
    </p:bg>
    <p:spTree>
      <p:nvGrpSpPr>
        <p:cNvPr id="1" name=""/>
        <p:cNvGrpSpPr/>
        <p:nvPr/>
      </p:nvGrpSpPr>
      <p:grpSpPr>
        <a:xfrm>
          <a:off x="0" y="0"/>
          <a:ext cx="0" cy="0"/>
          <a:chOff x="0" y="0"/>
          <a:chExt cx="0" cy="0"/>
        </a:xfrm>
      </p:grpSpPr>
      <p:sp>
        <p:nvSpPr>
          <p:cNvPr id="2" name="Shape 0"/>
          <p:cNvSpPr/>
          <p:nvPr/>
        </p:nvSpPr>
        <p:spPr>
          <a:xfrm>
            <a:off x="548640" y="932688"/>
            <a:ext cx="11094415" cy="0"/>
          </a:xfrm>
          <a:prstGeom prst="line">
            <a:avLst/>
          </a:prstGeom>
          <a:noFill/>
          <a:ln w="11430">
            <a:solidFill>
              <a:srgbClr val="5A6478"/>
            </a:solidFill>
            <a:prstDash val="solid"/>
            <a:headEnd type="none"/>
            <a:tailEnd type="none"/>
          </a:ln>
        </p:spPr>
        <p:txBody>
          <a:bodyPr/>
          <a:p/>
        </p:txBody>
      </p:sp>
      <p:sp>
        <p:nvSpPr>
          <p:cNvPr id="3" name="Text 1"/>
          <p:cNvSpPr txBox="1"/>
          <p:nvPr/>
        </p:nvSpPr>
        <p:spPr>
          <a:xfrm>
            <a:off x="548640" y="1115568"/>
            <a:ext cx="7315200" cy="292608"/>
          </a:xfrm>
          <a:prstGeom prst="rect">
            <a:avLst/>
          </a:prstGeom>
          <a:noFill/>
          <a:ln/>
        </p:spPr>
        <p:txBody>
          <a:bodyPr wrap="square" lIns="0" tIns="0" rIns="0" bIns="0" rtlCol="0" anchor="ctr"/>
          <a:lstStyle/>
          <a:p>
            <a:pPr marL="0" indent="0">
              <a:buNone/>
            </a:pPr>
            <a:r>
              <a:rPr lang="en-US" sz="1200" dirty="0">
                <a:solidFill>
                  <a:srgbClr val="9DB3D6"/>
                </a:solidFill>
                <a:latin typeface="맑은 고딕" pitchFamily="34" charset="0"/>
                <a:ea typeface="맑은 고딕" pitchFamily="34" charset="-122"/>
                <a:cs typeface="맑은 고딕" pitchFamily="34" charset="-120"/>
              </a:rPr>
              <a:t>레이다 신호처리 · 표적 위치 산출</a:t>
            </a:r>
            <a:endParaRPr lang="en-US" sz="1200" dirty="0"/>
          </a:p>
        </p:txBody>
      </p:sp>
      <p:sp>
        <p:nvSpPr>
          <p:cNvPr id="4" name="Text 2"/>
          <p:cNvSpPr txBox="1"/>
          <p:nvPr/>
        </p:nvSpPr>
        <p:spPr>
          <a:xfrm>
            <a:off x="548640" y="2395728"/>
            <a:ext cx="9601200" cy="1005840"/>
          </a:xfrm>
          <a:prstGeom prst="rect">
            <a:avLst/>
          </a:prstGeom>
          <a:noFill/>
          <a:ln/>
        </p:spPr>
        <p:txBody>
          <a:bodyPr wrap="square" lIns="0" tIns="0" rIns="0" bIns="0" rtlCol="0" anchor="ctr"/>
          <a:lstStyle/>
          <a:p>
            <a:pPr marL="0" indent="0">
              <a:buNone/>
            </a:pPr>
            <a:r>
              <a:rPr lang="en-US" sz="4400" b="1" dirty="0">
                <a:solidFill>
                  <a:srgbClr val="FFFFFF"/>
                </a:solidFill>
                <a:latin typeface="맑은 고딕" pitchFamily="34" charset="0"/>
                <a:ea typeface="맑은 고딕" pitchFamily="34" charset="-122"/>
                <a:cs typeface="맑은 고딕" pitchFamily="34" charset="-120"/>
              </a:rPr>
              <a:t>좌표계와 좌표변환</a:t>
            </a:r>
            <a:endParaRPr lang="en-US" sz="4400" dirty="0"/>
          </a:p>
        </p:txBody>
      </p:sp>
      <p:sp>
        <p:nvSpPr>
          <p:cNvPr id="5" name="Shape 3"/>
          <p:cNvSpPr/>
          <p:nvPr/>
        </p:nvSpPr>
        <p:spPr>
          <a:xfrm>
            <a:off x="585216" y="3584448"/>
            <a:ext cx="2340864" cy="0"/>
          </a:xfrm>
          <a:prstGeom prst="line">
            <a:avLst/>
          </a:prstGeom>
          <a:noFill/>
          <a:ln w="27940">
            <a:solidFill>
              <a:srgbClr val="C9D6EC"/>
            </a:solidFill>
            <a:prstDash val="solid"/>
            <a:headEnd type="none"/>
            <a:tailEnd type="none"/>
          </a:ln>
        </p:spPr>
        <p:txBody>
          <a:bodyPr/>
          <a:p/>
        </p:txBody>
      </p:sp>
      <p:sp>
        <p:nvSpPr>
          <p:cNvPr id="6" name="Text 4"/>
          <p:cNvSpPr txBox="1"/>
          <p:nvPr/>
        </p:nvSpPr>
        <p:spPr>
          <a:xfrm>
            <a:off x="548640" y="3785616"/>
            <a:ext cx="9601200" cy="365760"/>
          </a:xfrm>
          <a:prstGeom prst="rect">
            <a:avLst/>
          </a:prstGeom>
          <a:noFill/>
          <a:ln/>
        </p:spPr>
        <p:txBody>
          <a:bodyPr wrap="square" lIns="0" tIns="0" rIns="0" bIns="0" rtlCol="0" anchor="ctr"/>
          <a:lstStyle/>
          <a:p>
            <a:pPr marL="0" indent="0">
              <a:buNone/>
            </a:pPr>
            <a:r>
              <a:rPr lang="en-US" sz="1500" dirty="0">
                <a:solidFill>
                  <a:srgbClr val="C9D6EC"/>
                </a:solidFill>
                <a:latin typeface="맑은 고딕" pitchFamily="34" charset="0"/>
                <a:ea typeface="맑은 고딕" pitchFamily="34" charset="-122"/>
                <a:cs typeface="맑은 고딕" pitchFamily="34" charset="-120"/>
              </a:rPr>
              <a:t>해상 함선 레이다 – 안테나 극좌표에서 위경도까지의 변환 체인 설계</a:t>
            </a:r>
            <a:endParaRPr lang="en-US" sz="1500" dirty="0"/>
          </a:p>
        </p:txBody>
      </p:sp>
      <p:sp>
        <p:nvSpPr>
          <p:cNvPr id="7" name="Shape 5"/>
          <p:cNvSpPr/>
          <p:nvPr/>
        </p:nvSpPr>
        <p:spPr>
          <a:xfrm>
            <a:off x="7802575" y="5175504"/>
            <a:ext cx="3840480" cy="0"/>
          </a:xfrm>
          <a:prstGeom prst="line">
            <a:avLst/>
          </a:prstGeom>
          <a:noFill/>
          <a:ln w="11430">
            <a:solidFill>
              <a:srgbClr val="5A6478"/>
            </a:solidFill>
            <a:prstDash val="solid"/>
            <a:headEnd type="none"/>
            <a:tailEnd type="none"/>
          </a:ln>
        </p:spPr>
        <p:txBody>
          <a:bodyPr/>
          <a:p/>
        </p:txBody>
      </p:sp>
      <p:sp>
        <p:nvSpPr>
          <p:cNvPr id="8" name="Text 6"/>
          <p:cNvSpPr txBox="1"/>
          <p:nvPr/>
        </p:nvSpPr>
        <p:spPr>
          <a:xfrm>
            <a:off x="7802575" y="5321808"/>
            <a:ext cx="3840480" cy="566928"/>
          </a:xfrm>
          <a:prstGeom prst="rect">
            <a:avLst/>
          </a:prstGeom>
          <a:noFill/>
          <a:ln/>
        </p:spPr>
        <p:txBody>
          <a:bodyPr wrap="square" lIns="0" tIns="0" rIns="0" bIns="0" rtlCol="0" anchor="t"/>
          <a:lstStyle/>
          <a:p>
            <a:pPr marL="0" indent="0" algn="r">
              <a:lnSpc>
                <a:spcPct val="105000"/>
              </a:lnSpc>
              <a:buNone/>
            </a:pPr>
            <a:r>
              <a:rPr lang="en-US" sz="1100" dirty="0" smtClean="0">
                <a:solidFill>
                  <a:srgbClr val="9DB3D6"/>
                </a:solidFill>
                <a:latin typeface="맑은 고딕" pitchFamily="34" charset="0"/>
                <a:ea typeface="맑은 고딕" pitchFamily="34" charset="-122"/>
                <a:cs typeface="맑은 고딕" pitchFamily="34" charset="-120"/>
              </a:rPr>
              <a:t>2026. 09. 10</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EDF5"/>
        </a:solidFill>
        <a:effectLst/>
      </p:bgPr>
    </p:bg>
    <p:spTree>
      <p:nvGrpSpPr>
        <p:cNvPr id="1" name=""/>
        <p:cNvGrpSpPr/>
        <p:nvPr/>
      </p:nvGrpSpPr>
      <p:grpSpPr>
        <a:xfrm>
          <a:off x="0" y="0"/>
          <a:ext cx="0" cy="0"/>
          <a:chOff x="0" y="0"/>
          <a:chExt cx="0" cy="0"/>
        </a:xfrm>
      </p:grpSpPr>
      <p:sp>
        <p:nvSpPr>
          <p:cNvPr id="2" name="Text 0"/>
          <p:cNvSpPr txBox="1"/>
          <p:nvPr/>
        </p:nvSpPr>
        <p:spPr>
          <a:xfrm>
            <a:off x="548640" y="786384"/>
            <a:ext cx="4572000" cy="603504"/>
          </a:xfrm>
          <a:prstGeom prst="rect">
            <a:avLst/>
          </a:prstGeom>
          <a:noFill/>
          <a:ln/>
        </p:spPr>
        <p:txBody>
          <a:bodyPr wrap="square" lIns="0" tIns="0" rIns="0" bIns="0" rtlCol="0" anchor="ctr"/>
          <a:lstStyle/>
          <a:p>
            <a:pPr marL="0" indent="0">
              <a:buNone/>
            </a:pPr>
            <a:r>
              <a:rPr lang="en-US" sz="3200" b="1" dirty="0">
                <a:solidFill>
                  <a:srgbClr val="1A2233"/>
                </a:solidFill>
                <a:latin typeface="맑은 고딕" pitchFamily="34" charset="0"/>
                <a:ea typeface="맑은 고딕" pitchFamily="34" charset="-122"/>
                <a:cs typeface="맑은 고딕" pitchFamily="34" charset="-120"/>
              </a:rPr>
              <a:t>목차</a:t>
            </a:r>
            <a:endParaRPr lang="en-US" sz="3200" dirty="0"/>
          </a:p>
        </p:txBody>
      </p:sp>
      <p:sp>
        <p:nvSpPr>
          <p:cNvPr id="3" name="Shape 1"/>
          <p:cNvSpPr/>
          <p:nvPr/>
        </p:nvSpPr>
        <p:spPr>
          <a:xfrm>
            <a:off x="548640" y="1591056"/>
            <a:ext cx="11094415" cy="0"/>
          </a:xfrm>
          <a:prstGeom prst="line">
            <a:avLst/>
          </a:prstGeom>
          <a:noFill/>
          <a:ln w="20320">
            <a:solidFill>
              <a:srgbClr val="13233F"/>
            </a:solidFill>
            <a:prstDash val="solid"/>
            <a:headEnd type="none"/>
            <a:tailEnd type="none"/>
          </a:ln>
        </p:spPr>
        <p:txBody>
          <a:bodyPr/>
          <a:p/>
        </p:txBody>
      </p:sp>
      <p:sp>
        <p:nvSpPr>
          <p:cNvPr id="4" name="Text 2"/>
          <p:cNvSpPr txBox="1"/>
          <p:nvPr/>
        </p:nvSpPr>
        <p:spPr>
          <a:xfrm>
            <a:off x="603504" y="1938528"/>
            <a:ext cx="1097280" cy="566928"/>
          </a:xfrm>
          <a:prstGeom prst="rect">
            <a:avLst/>
          </a:prstGeom>
          <a:noFill/>
          <a:ln/>
        </p:spPr>
        <p:txBody>
          <a:bodyPr wrap="square" lIns="0" tIns="0" rIns="0" bIns="0" rtlCol="0" anchor="ctr"/>
          <a:lstStyle/>
          <a:p>
            <a:pPr marL="0" indent="0">
              <a:buNone/>
            </a:pPr>
            <a:r>
              <a:rPr lang="en-US" sz="3000" b="1" dirty="0">
                <a:solidFill>
                  <a:srgbClr val="2B57A6"/>
                </a:solidFill>
                <a:latin typeface="Arial" pitchFamily="34" charset="0"/>
                <a:ea typeface="Arial" pitchFamily="34" charset="-122"/>
                <a:cs typeface="Arial" pitchFamily="34" charset="-120"/>
              </a:rPr>
              <a:t>00</a:t>
            </a:r>
            <a:endParaRPr lang="en-US" sz="3000" dirty="0"/>
          </a:p>
        </p:txBody>
      </p:sp>
      <p:sp>
        <p:nvSpPr>
          <p:cNvPr id="5" name="Text 3"/>
          <p:cNvSpPr txBox="1"/>
          <p:nvPr/>
        </p:nvSpPr>
        <p:spPr>
          <a:xfrm>
            <a:off x="1883664" y="1956816"/>
            <a:ext cx="6766560" cy="365760"/>
          </a:xfrm>
          <a:prstGeom prst="rect">
            <a:avLst/>
          </a:prstGeom>
          <a:noFill/>
          <a:ln/>
        </p:spPr>
        <p:txBody>
          <a:bodyPr wrap="square" lIns="0" tIns="0" rIns="0" bIns="0" rtlCol="0" anchor="ctr"/>
          <a:lstStyle/>
          <a:p>
            <a:pPr marL="0" indent="0">
              <a:buNone/>
            </a:pPr>
            <a:r>
              <a:rPr lang="en-US" sz="1900" b="1" dirty="0">
                <a:solidFill>
                  <a:srgbClr val="1A2233"/>
                </a:solidFill>
                <a:latin typeface="맑은 고딕" pitchFamily="34" charset="0"/>
                <a:ea typeface="맑은 고딕" pitchFamily="34" charset="-122"/>
                <a:cs typeface="맑은 고딕" pitchFamily="34" charset="-120"/>
              </a:rPr>
              <a:t>좌표변환의 기초</a:t>
            </a:r>
            <a:endParaRPr lang="en-US" sz="1900" dirty="0"/>
          </a:p>
        </p:txBody>
      </p:sp>
      <p:sp>
        <p:nvSpPr>
          <p:cNvPr id="6" name="Text 4"/>
          <p:cNvSpPr txBox="1"/>
          <p:nvPr/>
        </p:nvSpPr>
        <p:spPr>
          <a:xfrm>
            <a:off x="1883664" y="2359152"/>
            <a:ext cx="8778240" cy="292608"/>
          </a:xfrm>
          <a:prstGeom prst="rect">
            <a:avLst/>
          </a:prstGeom>
          <a:noFill/>
          <a:ln/>
        </p:spPr>
        <p:txBody>
          <a:bodyPr wrap="square" lIns="0" tIns="0" rIns="0" bIns="0" rtlCol="0" anchor="ctr"/>
          <a:lstStyle/>
          <a:p>
            <a:pPr marL="0" indent="0">
              <a:buNone/>
            </a:pPr>
            <a:r>
              <a:rPr lang="en-US" sz="1050" dirty="0">
                <a:solidFill>
                  <a:srgbClr val="5A6478"/>
                </a:solidFill>
                <a:latin typeface="맑은 고딕" pitchFamily="34" charset="0"/>
                <a:ea typeface="맑은 고딕" pitchFamily="34" charset="-122"/>
                <a:cs typeface="맑은 고딕" pitchFamily="34" charset="-120"/>
              </a:rPr>
              <a:t>왜 좌표계가 여럿인가  ·  회전과 평행이동  ·  회전행렬의 유도와 성질</a:t>
            </a:r>
            <a:endParaRPr lang="en-US" sz="1050" dirty="0"/>
          </a:p>
        </p:txBody>
      </p:sp>
      <p:sp>
        <p:nvSpPr>
          <p:cNvPr id="7" name="Text 5"/>
          <p:cNvSpPr txBox="1"/>
          <p:nvPr/>
        </p:nvSpPr>
        <p:spPr>
          <a:xfrm>
            <a:off x="10545775" y="1956816"/>
            <a:ext cx="1097280" cy="365760"/>
          </a:xfrm>
          <a:prstGeom prst="rect">
            <a:avLst/>
          </a:prstGeom>
          <a:noFill/>
          <a:ln/>
        </p:spPr>
        <p:txBody>
          <a:bodyPr wrap="square" lIns="0" tIns="0" rIns="0" bIns="0" rtlCol="0" anchor="ctr"/>
          <a:lstStyle/>
          <a:p>
            <a:pPr marL="0" indent="0" algn="r">
              <a:buNone/>
            </a:pPr>
            <a:r>
              <a:rPr lang="en-US" sz="1100" dirty="0">
                <a:solidFill>
                  <a:srgbClr val="5A6478"/>
                </a:solidFill>
                <a:latin typeface="Arial" pitchFamily="34" charset="0"/>
                <a:ea typeface="Arial" pitchFamily="34" charset="-122"/>
                <a:cs typeface="Arial" pitchFamily="34" charset="-120"/>
              </a:rPr>
              <a:t>p. 3</a:t>
            </a:r>
            <a:endParaRPr lang="en-US" sz="1100" dirty="0"/>
          </a:p>
        </p:txBody>
      </p:sp>
      <p:sp>
        <p:nvSpPr>
          <p:cNvPr id="8" name="Shape 6"/>
          <p:cNvSpPr/>
          <p:nvPr/>
        </p:nvSpPr>
        <p:spPr>
          <a:xfrm>
            <a:off x="548640" y="2743200"/>
            <a:ext cx="11094415" cy="0"/>
          </a:xfrm>
          <a:prstGeom prst="line">
            <a:avLst/>
          </a:prstGeom>
          <a:noFill/>
          <a:ln w="10160">
            <a:solidFill>
              <a:srgbClr val="C9D6EC"/>
            </a:solidFill>
            <a:prstDash val="solid"/>
            <a:headEnd type="none"/>
            <a:tailEnd type="none"/>
          </a:ln>
        </p:spPr>
        <p:txBody>
          <a:bodyPr/>
          <a:p/>
        </p:txBody>
      </p:sp>
      <p:sp>
        <p:nvSpPr>
          <p:cNvPr id="9" name="Text 7"/>
          <p:cNvSpPr txBox="1"/>
          <p:nvPr/>
        </p:nvSpPr>
        <p:spPr>
          <a:xfrm>
            <a:off x="603504" y="3090672"/>
            <a:ext cx="1097280" cy="566928"/>
          </a:xfrm>
          <a:prstGeom prst="rect">
            <a:avLst/>
          </a:prstGeom>
          <a:noFill/>
          <a:ln/>
        </p:spPr>
        <p:txBody>
          <a:bodyPr wrap="square" lIns="0" tIns="0" rIns="0" bIns="0" rtlCol="0" anchor="ctr"/>
          <a:lstStyle/>
          <a:p>
            <a:pPr marL="0" indent="0">
              <a:buNone/>
            </a:pPr>
            <a:r>
              <a:rPr lang="en-US" sz="3000" b="1" dirty="0">
                <a:solidFill>
                  <a:srgbClr val="2B57A6"/>
                </a:solidFill>
                <a:latin typeface="Arial" pitchFamily="34" charset="0"/>
                <a:ea typeface="Arial" pitchFamily="34" charset="-122"/>
                <a:cs typeface="Arial" pitchFamily="34" charset="-120"/>
              </a:rPr>
              <a:t>01</a:t>
            </a:r>
            <a:endParaRPr lang="en-US" sz="3000" dirty="0"/>
          </a:p>
        </p:txBody>
      </p:sp>
      <p:sp>
        <p:nvSpPr>
          <p:cNvPr id="10" name="Text 8"/>
          <p:cNvSpPr txBox="1"/>
          <p:nvPr/>
        </p:nvSpPr>
        <p:spPr>
          <a:xfrm>
            <a:off x="1883664" y="3108960"/>
            <a:ext cx="6766560" cy="365760"/>
          </a:xfrm>
          <a:prstGeom prst="rect">
            <a:avLst/>
          </a:prstGeom>
          <a:noFill/>
          <a:ln/>
        </p:spPr>
        <p:txBody>
          <a:bodyPr wrap="square" lIns="0" tIns="0" rIns="0" bIns="0" rtlCol="0" anchor="ctr"/>
          <a:lstStyle/>
          <a:p>
            <a:pPr marL="0" indent="0">
              <a:buNone/>
            </a:pPr>
            <a:r>
              <a:rPr lang="en-US" sz="1900" b="1" dirty="0">
                <a:solidFill>
                  <a:srgbClr val="1A2233"/>
                </a:solidFill>
                <a:latin typeface="맑은 고딕" pitchFamily="34" charset="0"/>
                <a:ea typeface="맑은 고딕" pitchFamily="34" charset="-122"/>
                <a:cs typeface="맑은 고딕" pitchFamily="34" charset="-120"/>
              </a:rPr>
              <a:t>좌표계 여섯 가지</a:t>
            </a:r>
            <a:endParaRPr lang="en-US" sz="1900" dirty="0"/>
          </a:p>
        </p:txBody>
      </p:sp>
      <p:sp>
        <p:nvSpPr>
          <p:cNvPr id="11" name="Text 9"/>
          <p:cNvSpPr txBox="1"/>
          <p:nvPr/>
        </p:nvSpPr>
        <p:spPr>
          <a:xfrm>
            <a:off x="1883664" y="3511296"/>
            <a:ext cx="8778240" cy="292608"/>
          </a:xfrm>
          <a:prstGeom prst="rect">
            <a:avLst/>
          </a:prstGeom>
          <a:noFill/>
          <a:ln/>
        </p:spPr>
        <p:txBody>
          <a:bodyPr wrap="square" lIns="0" tIns="0" rIns="0" bIns="0" rtlCol="0" anchor="ctr"/>
          <a:lstStyle/>
          <a:p>
            <a:pPr marL="0" indent="0">
              <a:buNone/>
            </a:pPr>
            <a:r>
              <a:rPr lang="en-US" sz="1050" dirty="0">
                <a:solidFill>
                  <a:srgbClr val="5A6478"/>
                </a:solidFill>
                <a:latin typeface="맑은 고딕" pitchFamily="34" charset="0"/>
                <a:ea typeface="맑은 고딕" pitchFamily="34" charset="-122"/>
                <a:cs typeface="맑은 고딕" pitchFamily="34" charset="-120"/>
              </a:rPr>
              <a:t>안테나(극좌표 · 직교좌표 · UV)  ·  동체(Body)  ·  INS  ·  NED / ENU  ·  ECEF / ECI  ·  LLA  ·  변환 체인</a:t>
            </a:r>
            <a:endParaRPr lang="en-US" sz="1050" dirty="0"/>
          </a:p>
        </p:txBody>
      </p:sp>
      <p:sp>
        <p:nvSpPr>
          <p:cNvPr id="12" name="Text 10"/>
          <p:cNvSpPr txBox="1"/>
          <p:nvPr/>
        </p:nvSpPr>
        <p:spPr>
          <a:xfrm>
            <a:off x="10545775" y="3108960"/>
            <a:ext cx="1097280" cy="365760"/>
          </a:xfrm>
          <a:prstGeom prst="rect">
            <a:avLst/>
          </a:prstGeom>
          <a:noFill/>
          <a:ln/>
        </p:spPr>
        <p:txBody>
          <a:bodyPr wrap="square" lIns="0" tIns="0" rIns="0" bIns="0" rtlCol="0" anchor="ctr"/>
          <a:lstStyle/>
          <a:p>
            <a:pPr marL="0" indent="0" algn="r">
              <a:buNone/>
            </a:pPr>
            <a:r>
              <a:rPr lang="en-US" sz="1100" dirty="0">
                <a:solidFill>
                  <a:srgbClr val="5A6478"/>
                </a:solidFill>
                <a:latin typeface="Arial" pitchFamily="34" charset="0"/>
                <a:ea typeface="Arial" pitchFamily="34" charset="-122"/>
                <a:cs typeface="Arial" pitchFamily="34" charset="-120"/>
              </a:rPr>
              <a:t>p. 7</a:t>
            </a:r>
            <a:endParaRPr lang="en-US" sz="1100" dirty="0"/>
          </a:p>
        </p:txBody>
      </p:sp>
      <p:sp>
        <p:nvSpPr>
          <p:cNvPr id="13" name="Shape 11"/>
          <p:cNvSpPr/>
          <p:nvPr/>
        </p:nvSpPr>
        <p:spPr>
          <a:xfrm>
            <a:off x="548640" y="3895344"/>
            <a:ext cx="11094415" cy="0"/>
          </a:xfrm>
          <a:prstGeom prst="line">
            <a:avLst/>
          </a:prstGeom>
          <a:noFill/>
          <a:ln w="10160">
            <a:solidFill>
              <a:srgbClr val="C9D6EC"/>
            </a:solidFill>
            <a:prstDash val="solid"/>
            <a:headEnd type="none"/>
            <a:tailEnd type="none"/>
          </a:ln>
        </p:spPr>
        <p:txBody>
          <a:bodyPr/>
          <a:p/>
        </p:txBody>
      </p:sp>
      <p:sp>
        <p:nvSpPr>
          <p:cNvPr id="14" name="Text 12"/>
          <p:cNvSpPr txBox="1"/>
          <p:nvPr/>
        </p:nvSpPr>
        <p:spPr>
          <a:xfrm>
            <a:off x="603504" y="4242816"/>
            <a:ext cx="1097280" cy="566928"/>
          </a:xfrm>
          <a:prstGeom prst="rect">
            <a:avLst/>
          </a:prstGeom>
          <a:noFill/>
          <a:ln/>
        </p:spPr>
        <p:txBody>
          <a:bodyPr wrap="square" lIns="0" tIns="0" rIns="0" bIns="0" rtlCol="0" anchor="ctr"/>
          <a:lstStyle/>
          <a:p>
            <a:pPr marL="0" indent="0">
              <a:buNone/>
            </a:pPr>
            <a:r>
              <a:rPr lang="en-US" sz="3000" b="1" dirty="0">
                <a:solidFill>
                  <a:srgbClr val="2B57A6"/>
                </a:solidFill>
                <a:latin typeface="Arial" pitchFamily="34" charset="0"/>
                <a:ea typeface="Arial" pitchFamily="34" charset="-122"/>
                <a:cs typeface="Arial" pitchFamily="34" charset="-120"/>
              </a:rPr>
              <a:t>02</a:t>
            </a:r>
            <a:endParaRPr lang="en-US" sz="3000" dirty="0"/>
          </a:p>
        </p:txBody>
      </p:sp>
      <p:sp>
        <p:nvSpPr>
          <p:cNvPr id="15" name="Text 13"/>
          <p:cNvSpPr txBox="1"/>
          <p:nvPr/>
        </p:nvSpPr>
        <p:spPr>
          <a:xfrm>
            <a:off x="1883664" y="4261104"/>
            <a:ext cx="6766560" cy="365760"/>
          </a:xfrm>
          <a:prstGeom prst="rect">
            <a:avLst/>
          </a:prstGeom>
          <a:noFill/>
          <a:ln/>
        </p:spPr>
        <p:txBody>
          <a:bodyPr wrap="square" lIns="0" tIns="0" rIns="0" bIns="0" rtlCol="0" anchor="ctr"/>
          <a:lstStyle/>
          <a:p>
            <a:pPr marL="0" indent="0">
              <a:buNone/>
            </a:pPr>
            <a:r>
              <a:rPr lang="en-US" sz="1900" b="1" dirty="0">
                <a:solidFill>
                  <a:srgbClr val="1A2233"/>
                </a:solidFill>
                <a:latin typeface="맑은 고딕" pitchFamily="34" charset="0"/>
                <a:ea typeface="맑은 고딕" pitchFamily="34" charset="-122"/>
                <a:cs typeface="맑은 고딕" pitchFamily="34" charset="-120"/>
              </a:rPr>
              <a:t>실전 설계</a:t>
            </a:r>
            <a:endParaRPr lang="en-US" sz="1900" dirty="0"/>
          </a:p>
        </p:txBody>
      </p:sp>
      <p:sp>
        <p:nvSpPr>
          <p:cNvPr id="16" name="Text 14"/>
          <p:cNvSpPr txBox="1"/>
          <p:nvPr/>
        </p:nvSpPr>
        <p:spPr>
          <a:xfrm>
            <a:off x="1883664" y="4663440"/>
            <a:ext cx="8778240" cy="292608"/>
          </a:xfrm>
          <a:prstGeom prst="rect">
            <a:avLst/>
          </a:prstGeom>
          <a:noFill/>
          <a:ln/>
        </p:spPr>
        <p:txBody>
          <a:bodyPr wrap="square" lIns="0" tIns="0" rIns="0" bIns="0" rtlCol="0" anchor="ctr"/>
          <a:lstStyle/>
          <a:p>
            <a:pPr marL="0" indent="0">
              <a:buNone/>
            </a:pPr>
            <a:r>
              <a:rPr lang="en-US" sz="1050" dirty="0">
                <a:solidFill>
                  <a:srgbClr val="5A6478"/>
                </a:solidFill>
                <a:latin typeface="맑은 고딕" pitchFamily="34" charset="0"/>
                <a:ea typeface="맑은 고딕" pitchFamily="34" charset="-122"/>
                <a:cs typeface="맑은 고딕" pitchFamily="34" charset="-120"/>
              </a:rPr>
              <a:t>설계 조건  ·  단계별 좌표계 선정  ·  안테나 → 동체 → 로컬  ·  로컬 → ECEF → 위경도  ·  역변환</a:t>
            </a:r>
            <a:endParaRPr lang="en-US" sz="1050" dirty="0"/>
          </a:p>
        </p:txBody>
      </p:sp>
      <p:sp>
        <p:nvSpPr>
          <p:cNvPr id="17" name="Text 15"/>
          <p:cNvSpPr txBox="1"/>
          <p:nvPr/>
        </p:nvSpPr>
        <p:spPr>
          <a:xfrm>
            <a:off x="10545775" y="4261104"/>
            <a:ext cx="1097280" cy="365760"/>
          </a:xfrm>
          <a:prstGeom prst="rect">
            <a:avLst/>
          </a:prstGeom>
          <a:noFill/>
          <a:ln/>
        </p:spPr>
        <p:txBody>
          <a:bodyPr wrap="square" lIns="0" tIns="0" rIns="0" bIns="0" rtlCol="0" anchor="ctr"/>
          <a:lstStyle/>
          <a:p>
            <a:pPr marL="0" indent="0" algn="r">
              <a:buNone/>
            </a:pPr>
            <a:r>
              <a:rPr lang="en-US" sz="1100" dirty="0">
                <a:solidFill>
                  <a:srgbClr val="5A6478"/>
                </a:solidFill>
                <a:latin typeface="Arial" pitchFamily="34" charset="0"/>
                <a:ea typeface="Arial" pitchFamily="34" charset="-122"/>
                <a:cs typeface="Arial" pitchFamily="34" charset="-120"/>
              </a:rPr>
              <a:t>p. 17</a:t>
            </a:r>
            <a:endParaRPr lang="en-US" sz="1100" dirty="0"/>
          </a:p>
        </p:txBody>
      </p:sp>
      <p:sp>
        <p:nvSpPr>
          <p:cNvPr id="18" name="Shape 16"/>
          <p:cNvSpPr/>
          <p:nvPr/>
        </p:nvSpPr>
        <p:spPr>
          <a:xfrm>
            <a:off x="548640" y="6199632"/>
            <a:ext cx="11094415" cy="0"/>
          </a:xfrm>
          <a:prstGeom prst="line">
            <a:avLst/>
          </a:prstGeom>
          <a:noFill/>
          <a:ln w="9525">
            <a:solidFill>
              <a:srgbClr val="C9D6EC"/>
            </a:solidFill>
            <a:prstDash val="solid"/>
          </a:ln>
        </p:spPr>
        <p:txBody>
          <a:bodyPr/>
          <a:p/>
        </p:txBody>
      </p:sp>
      <p:sp>
        <p:nvSpPr>
          <p:cNvPr id="20" name="Text 18"/>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a:t>
            </a:r>
            <a:endParaRPr lang="en-US" sz="900" dirty="0"/>
          </a:p>
        </p:txBody>
      </p:sp>
      <p:sp>
        <p:nvSpPr>
          <p:cNvPr id="21" name="Copy 21"/>
          <p:cNvSpPr/>
          <p:nvPr/>
        </p:nvSpPr>
        <p:spPr>
          <a:xfrm>
            <a:off x="548640" y="5047488"/>
            <a:ext cx="11094415" cy="0"/>
          </a:xfrm>
          <a:prstGeom prst="line">
            <a:avLst/>
          </a:prstGeom>
          <a:noFill/>
          <a:ln w="10160">
            <a:solidFill>
              <a:srgbClr val="C9D6EC"/>
            </a:solidFill>
            <a:prstDash val="solid"/>
            <a:headEnd type="none"/>
            <a:tailEnd type="none"/>
          </a:ln>
        </p:spPr>
        <p:txBody>
          <a:bodyPr/>
          <a:p/>
        </p:txBody>
      </p:sp>
      <p:sp>
        <p:nvSpPr>
          <p:cNvPr id="22" name="Copy 22"/>
          <p:cNvSpPr txBox="1"/>
          <p:nvPr/>
        </p:nvSpPr>
        <p:spPr>
          <a:xfrm>
            <a:off x="603504" y="5394960"/>
            <a:ext cx="1097280" cy="566928"/>
          </a:xfrm>
          <a:prstGeom prst="rect">
            <a:avLst/>
          </a:prstGeom>
          <a:noFill/>
          <a:ln/>
        </p:spPr>
        <p:txBody>
          <a:bodyPr wrap="square" lIns="0" tIns="0" rIns="0" bIns="0" rtlCol="0" anchor="ctr"/>
          <a:lstStyle/>
          <a:p>
            <a:pPr marL="0" indent="0">
              <a:buNone/>
            </a:pPr>
            <a:r>
              <a:rPr lang="en-US" sz="3000" b="1" dirty="0">
                <a:solidFill>
                  <a:srgbClr val="2B57A6"/>
                </a:solidFill>
                <a:latin typeface="Arial" pitchFamily="34" charset="0"/>
                <a:ea typeface="Arial" pitchFamily="34" charset="-122"/>
                <a:cs typeface="Arial" pitchFamily="34" charset="-120"/>
              </a:rPr>
              <a:t>03</a:t>
            </a:r>
            <a:endParaRPr lang="en-US" sz="3000" dirty="0"/>
          </a:p>
        </p:txBody>
      </p:sp>
      <p:sp>
        <p:nvSpPr>
          <p:cNvPr id="23" name="Copy 23"/>
          <p:cNvSpPr txBox="1"/>
          <p:nvPr/>
        </p:nvSpPr>
        <p:spPr>
          <a:xfrm>
            <a:off x="1883664" y="5413248"/>
            <a:ext cx="6766560" cy="365760"/>
          </a:xfrm>
          <a:prstGeom prst="rect">
            <a:avLst/>
          </a:prstGeom>
          <a:noFill/>
          <a:ln/>
        </p:spPr>
        <p:txBody>
          <a:bodyPr wrap="square" lIns="0" tIns="0" rIns="0" bIns="0" rtlCol="0" anchor="ctr"/>
          <a:lstStyle/>
          <a:p>
            <a:pPr marL="0" indent="0">
              <a:buNone/>
            </a:pPr>
            <a:r>
              <a:rPr lang="en-US" sz="1900" b="1" dirty="0">
                <a:solidFill>
                  <a:srgbClr val="1A2233"/>
                </a:solidFill>
                <a:latin typeface="맑은 고딕" pitchFamily="34" charset="0"/>
                <a:ea typeface="맑은 고딕" pitchFamily="34" charset="-122"/>
                <a:cs typeface="맑은 고딕" pitchFamily="34" charset="-120"/>
              </a:rPr>
              <a:t>C언어로 구현</a:t>
            </a:r>
            <a:endParaRPr lang="en-US" sz="1900" dirty="0"/>
          </a:p>
        </p:txBody>
      </p:sp>
      <p:sp>
        <p:nvSpPr>
          <p:cNvPr id="24" name="Copy 24"/>
          <p:cNvSpPr txBox="1"/>
          <p:nvPr/>
        </p:nvSpPr>
        <p:spPr>
          <a:xfrm>
            <a:off x="1883664" y="5815584"/>
            <a:ext cx="8778240" cy="292608"/>
          </a:xfrm>
          <a:prstGeom prst="rect">
            <a:avLst/>
          </a:prstGeom>
          <a:noFill/>
          <a:ln/>
        </p:spPr>
        <p:txBody>
          <a:bodyPr wrap="square" lIns="0" tIns="0" rIns="0" bIns="0" rtlCol="0" anchor="ctr"/>
          <a:lstStyle/>
          <a:p>
            <a:pPr marL="0" indent="0">
              <a:buNone/>
            </a:pPr>
            <a:r>
              <a:rPr lang="en-US" sz="1050" dirty="0">
                <a:solidFill>
                  <a:srgbClr val="5A6478"/>
                </a:solidFill>
                <a:latin typeface="맑은 고딕" pitchFamily="34" charset="0"/>
                <a:ea typeface="맑은 고딕" pitchFamily="34" charset="-122"/>
                <a:cs typeface="맑은 고딕" pitchFamily="34" charset="-120"/>
              </a:rPr>
              <a:t>회전행렬  ·  축 맞춤과 회전 순서  ·  공식과 코드 대응  ·  역변환  ·  실행 결과와 UI 확인</a:t>
            </a:r>
            <a:endParaRPr lang="en-US" sz="1050" dirty="0"/>
          </a:p>
        </p:txBody>
      </p:sp>
      <p:sp>
        <p:nvSpPr>
          <p:cNvPr id="25" name="Copy 25"/>
          <p:cNvSpPr txBox="1"/>
          <p:nvPr/>
        </p:nvSpPr>
        <p:spPr>
          <a:xfrm>
            <a:off x="10545775" y="5413248"/>
            <a:ext cx="1097280" cy="365760"/>
          </a:xfrm>
          <a:prstGeom prst="rect">
            <a:avLst/>
          </a:prstGeom>
          <a:noFill/>
          <a:ln/>
        </p:spPr>
        <p:txBody>
          <a:bodyPr wrap="square" lIns="0" tIns="0" rIns="0" bIns="0" rtlCol="0" anchor="ctr"/>
          <a:lstStyle/>
          <a:p>
            <a:pPr marL="0" indent="0" algn="r">
              <a:buNone/>
            </a:pPr>
            <a:r>
              <a:rPr lang="en-US" sz="1100" dirty="0">
                <a:solidFill>
                  <a:srgbClr val="5A6478"/>
                </a:solidFill>
                <a:latin typeface="Arial" pitchFamily="34" charset="0"/>
                <a:ea typeface="Arial" pitchFamily="34" charset="-122"/>
                <a:cs typeface="Arial" pitchFamily="34" charset="-120"/>
              </a:rPr>
              <a:t>p. 23</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0" y="0"/>
            <a:ext cx="4224528" cy="6858000"/>
          </a:xfrm>
          <a:prstGeom prst="rect">
            <a:avLst/>
          </a:prstGeom>
          <a:solidFill>
            <a:srgbClr val="13233F"/>
          </a:solidFill>
          <a:ln/>
        </p:spPr>
        <p:txBody>
          <a:bodyPr/>
          <a:p/>
        </p:txBody>
      </p:sp>
      <p:sp>
        <p:nvSpPr>
          <p:cNvPr id="3" name="Text 1"/>
          <p:cNvSpPr txBox="1"/>
          <p:nvPr/>
        </p:nvSpPr>
        <p:spPr>
          <a:xfrm>
            <a:off x="2532888" y="566928"/>
            <a:ext cx="640080" cy="365760"/>
          </a:xfrm>
          <a:prstGeom prst="rect">
            <a:avLst/>
          </a:prstGeom>
          <a:noFill/>
          <a:ln/>
        </p:spPr>
        <p:txBody>
          <a:bodyPr wrap="square" lIns="0" tIns="0" rIns="0" bIns="0" rtlCol="0" anchor="ctr"/>
          <a:lstStyle/>
          <a:p>
            <a:pPr marL="0" indent="0" algn="r">
              <a:buNone/>
            </a:pPr>
            <a:r>
              <a:rPr lang="en-US" sz="1900" b="1" dirty="0">
                <a:solidFill>
                  <a:srgbClr val="FFFFFF"/>
                </a:solidFill>
                <a:latin typeface="Arial" pitchFamily="34" charset="0"/>
                <a:ea typeface="Arial" pitchFamily="34" charset="-122"/>
                <a:cs typeface="Arial" pitchFamily="34" charset="-120"/>
              </a:rPr>
              <a:t>00</a:t>
            </a:r>
            <a:endParaRPr lang="en-US" sz="1900" dirty="0"/>
          </a:p>
        </p:txBody>
      </p:sp>
      <p:sp>
        <p:nvSpPr>
          <p:cNvPr id="4" name="Shape 2"/>
          <p:cNvSpPr/>
          <p:nvPr/>
        </p:nvSpPr>
        <p:spPr>
          <a:xfrm>
            <a:off x="3264408" y="749808"/>
            <a:ext cx="960120" cy="0"/>
          </a:xfrm>
          <a:prstGeom prst="line">
            <a:avLst/>
          </a:prstGeom>
          <a:noFill/>
          <a:ln w="12700">
            <a:solidFill>
              <a:srgbClr val="C9D6EC"/>
            </a:solidFill>
            <a:prstDash val="solid"/>
            <a:headEnd type="none"/>
            <a:tailEnd type="none"/>
          </a:ln>
        </p:spPr>
        <p:txBody>
          <a:bodyPr/>
          <a:p/>
        </p:txBody>
      </p:sp>
      <p:sp>
        <p:nvSpPr>
          <p:cNvPr id="5" name="Shape 3"/>
          <p:cNvSpPr/>
          <p:nvPr/>
        </p:nvSpPr>
        <p:spPr>
          <a:xfrm>
            <a:off x="4224528" y="749808"/>
            <a:ext cx="7400239" cy="0"/>
          </a:xfrm>
          <a:prstGeom prst="line">
            <a:avLst/>
          </a:prstGeom>
          <a:noFill/>
          <a:ln w="11430">
            <a:solidFill>
              <a:srgbClr val="13233F"/>
            </a:solidFill>
            <a:prstDash val="solid"/>
            <a:headEnd type="none"/>
            <a:tailEnd type="none"/>
          </a:ln>
        </p:spPr>
        <p:txBody>
          <a:bodyPr/>
          <a:p/>
        </p:txBody>
      </p:sp>
      <p:sp>
        <p:nvSpPr>
          <p:cNvPr id="6" name="Text 4"/>
          <p:cNvSpPr txBox="1"/>
          <p:nvPr/>
        </p:nvSpPr>
        <p:spPr>
          <a:xfrm>
            <a:off x="274320" y="3017520"/>
            <a:ext cx="3675888" cy="822960"/>
          </a:xfrm>
          <a:prstGeom prst="rect">
            <a:avLst/>
          </a:prstGeom>
          <a:noFill/>
          <a:ln/>
        </p:spPr>
        <p:txBody>
          <a:bodyPr wrap="square" lIns="0" tIns="0" rIns="0" bIns="0" rtlCol="0" anchor="ctr"/>
          <a:lstStyle/>
          <a:p>
            <a:pPr marL="0" indent="0" algn="ctr">
              <a:buNone/>
            </a:pPr>
            <a:r>
              <a:rPr lang="en-US" sz="2900" b="1" dirty="0">
                <a:solidFill>
                  <a:srgbClr val="FFFFFF"/>
                </a:solidFill>
                <a:latin typeface="맑은 고딕" pitchFamily="34" charset="0"/>
                <a:ea typeface="맑은 고딕" pitchFamily="34" charset="-122"/>
                <a:cs typeface="맑은 고딕" pitchFamily="34" charset="-120"/>
              </a:rPr>
              <a:t>좌표변환의 기초</a:t>
            </a:r>
            <a:endParaRPr lang="en-US" sz="2900" dirty="0"/>
          </a:p>
        </p:txBody>
      </p:sp>
      <p:sp>
        <p:nvSpPr>
          <p:cNvPr id="8" name="Text 6"/>
          <p:cNvSpPr txBox="1"/>
          <p:nvPr/>
        </p:nvSpPr>
        <p:spPr>
          <a:xfrm>
            <a:off x="4224528" y="6419088"/>
            <a:ext cx="7967167"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3</a:t>
            </a:r>
            <a:endParaRPr lang="en-US" sz="900" dirty="0"/>
          </a:p>
        </p:txBody>
      </p:sp>
      <p:sp>
        <p:nvSpPr>
          <p:cNvPr id="9" name="Text 7"/>
          <p:cNvSpPr txBox="1"/>
          <p:nvPr/>
        </p:nvSpPr>
        <p:spPr>
          <a:xfrm>
            <a:off x="5001768" y="2542032"/>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1</a:t>
            </a:r>
            <a:endParaRPr lang="en-US" sz="2100" dirty="0"/>
          </a:p>
        </p:txBody>
      </p:sp>
      <p:sp>
        <p:nvSpPr>
          <p:cNvPr id="10" name="Text 8"/>
          <p:cNvSpPr txBox="1"/>
          <p:nvPr/>
        </p:nvSpPr>
        <p:spPr>
          <a:xfrm>
            <a:off x="5797296" y="2542032"/>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왜 좌표계가 여럿인가</a:t>
            </a:r>
            <a:endParaRPr lang="en-US" sz="1350" dirty="0"/>
          </a:p>
        </p:txBody>
      </p:sp>
      <p:sp>
        <p:nvSpPr>
          <p:cNvPr id="11" name="Text 9"/>
          <p:cNvSpPr txBox="1"/>
          <p:nvPr/>
        </p:nvSpPr>
        <p:spPr>
          <a:xfrm>
            <a:off x="5001768" y="3493008"/>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2</a:t>
            </a:r>
            <a:endParaRPr lang="en-US" sz="2100" dirty="0"/>
          </a:p>
        </p:txBody>
      </p:sp>
      <p:sp>
        <p:nvSpPr>
          <p:cNvPr id="12" name="Text 10"/>
          <p:cNvSpPr txBox="1"/>
          <p:nvPr/>
        </p:nvSpPr>
        <p:spPr>
          <a:xfrm>
            <a:off x="5797296" y="3493008"/>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좌표변환의 기본 동작 – 회전과 평행이동</a:t>
            </a:r>
            <a:endParaRPr lang="en-US" sz="1350" dirty="0"/>
          </a:p>
        </p:txBody>
      </p:sp>
      <p:sp>
        <p:nvSpPr>
          <p:cNvPr id="13" name="Text 11"/>
          <p:cNvSpPr txBox="1"/>
          <p:nvPr/>
        </p:nvSpPr>
        <p:spPr>
          <a:xfrm>
            <a:off x="5001768" y="4443984"/>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3</a:t>
            </a:r>
            <a:endParaRPr lang="en-US" sz="2100" dirty="0"/>
          </a:p>
        </p:txBody>
      </p:sp>
      <p:sp>
        <p:nvSpPr>
          <p:cNvPr id="14" name="Text 12"/>
          <p:cNvSpPr txBox="1"/>
          <p:nvPr/>
        </p:nvSpPr>
        <p:spPr>
          <a:xfrm>
            <a:off x="5797296" y="4443984"/>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회전행렬의 유도와 성질</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00. 왜 좌표계가 여럿인가</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4</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같은 물체를 두 사람이 본다</a:t>
            </a:r>
            <a:endParaRPr lang="en-US" sz="1450" dirty="0"/>
          </a:p>
        </p:txBody>
      </p:sp>
      <p:sp>
        <p:nvSpPr>
          <p:cNvPr id="10" name="Shape 8"/>
          <p:cNvSpPr/>
          <p:nvPr/>
        </p:nvSpPr>
        <p:spPr>
          <a:xfrm>
            <a:off x="457200" y="1984248"/>
            <a:ext cx="2834640" cy="2834640"/>
          </a:xfrm>
          <a:prstGeom prst="pie">
            <a:avLst>
              <a:gd name="adj1" fmla="val -2520000"/>
              <a:gd name="adj2" fmla="val 2640000"/>
            </a:avLst>
          </a:prstGeom>
          <a:solidFill>
            <a:srgbClr val="EEF1F7"/>
          </a:solidFill>
          <a:ln/>
        </p:spPr>
        <p:txBody>
          <a:bodyPr/>
          <a:p/>
        </p:txBody>
      </p:sp>
      <p:sp>
        <p:nvSpPr>
          <p:cNvPr id="11" name="Shape 9"/>
          <p:cNvSpPr/>
          <p:nvPr/>
        </p:nvSpPr>
        <p:spPr>
          <a:xfrm>
            <a:off x="4480560" y="1435608"/>
            <a:ext cx="2651760" cy="2651760"/>
          </a:xfrm>
          <a:prstGeom prst="pie">
            <a:avLst>
              <a:gd name="adj1" fmla="val 7920000"/>
              <a:gd name="adj2" fmla="val 13080000"/>
            </a:avLst>
          </a:prstGeom>
          <a:solidFill>
            <a:srgbClr val="EEF1F7"/>
          </a:solidFill>
          <a:ln/>
        </p:spPr>
        <p:txBody>
          <a:bodyPr/>
          <a:p/>
        </p:txBody>
      </p:sp>
      <p:sp>
        <p:nvSpPr>
          <p:cNvPr id="12" name="Shape 10"/>
          <p:cNvSpPr/>
          <p:nvPr/>
        </p:nvSpPr>
        <p:spPr>
          <a:xfrm rot="5400000">
            <a:off x="1490472" y="3209544"/>
            <a:ext cx="310896" cy="384048"/>
          </a:xfrm>
          <a:prstGeom prst="triangle">
            <a:avLst/>
          </a:prstGeom>
          <a:solidFill>
            <a:srgbClr val="F5F7FB"/>
          </a:solidFill>
          <a:ln w="13970">
            <a:solidFill>
              <a:srgbClr val="13233F"/>
            </a:solidFill>
            <a:prstDash val="solid"/>
          </a:ln>
        </p:spPr>
        <p:txBody>
          <a:bodyPr/>
          <a:p/>
        </p:txBody>
      </p:sp>
      <p:sp>
        <p:nvSpPr>
          <p:cNvPr id="13" name="Shape 11"/>
          <p:cNvSpPr/>
          <p:nvPr/>
        </p:nvSpPr>
        <p:spPr>
          <a:xfrm>
            <a:off x="1696212" y="3268980"/>
            <a:ext cx="265176" cy="265176"/>
          </a:xfrm>
          <a:prstGeom prst="ellipse">
            <a:avLst/>
          </a:prstGeom>
          <a:solidFill>
            <a:srgbClr val="F5F7FB"/>
          </a:solidFill>
          <a:ln w="13970">
            <a:solidFill>
              <a:srgbClr val="13233F"/>
            </a:solidFill>
            <a:prstDash val="solid"/>
          </a:ln>
        </p:spPr>
        <p:txBody>
          <a:bodyPr/>
          <a:p/>
        </p:txBody>
      </p:sp>
      <p:sp>
        <p:nvSpPr>
          <p:cNvPr id="14" name="Text 12"/>
          <p:cNvSpPr txBox="1"/>
          <p:nvPr/>
        </p:nvSpPr>
        <p:spPr>
          <a:xfrm>
            <a:off x="822960" y="2926080"/>
            <a:ext cx="914400" cy="201168"/>
          </a:xfrm>
          <a:prstGeom prst="rect">
            <a:avLst/>
          </a:prstGeom>
          <a:noFill/>
          <a:ln/>
        </p:spPr>
        <p:txBody>
          <a:bodyPr wrap="square" lIns="0" tIns="0" rIns="0" bIns="0" rtlCol="0" anchor="ctr"/>
          <a:lstStyle/>
          <a:p>
            <a:pPr marL="0" indent="0" algn="r">
              <a:buNone/>
            </a:pPr>
            <a:r>
              <a:rPr lang="en-US" sz="1000" dirty="0">
                <a:solidFill>
                  <a:srgbClr val="1A2233"/>
                </a:solidFill>
                <a:latin typeface="맑은 고딕" pitchFamily="34" charset="0"/>
                <a:ea typeface="맑은 고딕" pitchFamily="34" charset="-122"/>
                <a:cs typeface="맑은 고딕" pitchFamily="34" charset="-120"/>
              </a:rPr>
              <a:t>관측자 A</a:t>
            </a:r>
            <a:endParaRPr lang="en-US" sz="1000" dirty="0"/>
          </a:p>
        </p:txBody>
      </p:sp>
      <p:sp>
        <p:nvSpPr>
          <p:cNvPr id="15" name="Shape 13"/>
          <p:cNvSpPr/>
          <p:nvPr/>
        </p:nvSpPr>
        <p:spPr>
          <a:xfrm rot="16200000">
            <a:off x="5888736" y="2569464"/>
            <a:ext cx="310896" cy="384048"/>
          </a:xfrm>
          <a:prstGeom prst="triangle">
            <a:avLst/>
          </a:prstGeom>
          <a:solidFill>
            <a:srgbClr val="F5F7FB"/>
          </a:solidFill>
          <a:ln w="13970">
            <a:solidFill>
              <a:srgbClr val="13233F"/>
            </a:solidFill>
            <a:prstDash val="solid"/>
          </a:ln>
        </p:spPr>
        <p:txBody>
          <a:bodyPr/>
          <a:p/>
        </p:txBody>
      </p:sp>
      <p:sp>
        <p:nvSpPr>
          <p:cNvPr id="16" name="Shape 14"/>
          <p:cNvSpPr/>
          <p:nvPr/>
        </p:nvSpPr>
        <p:spPr>
          <a:xfrm>
            <a:off x="5719572" y="2628900"/>
            <a:ext cx="265176" cy="265176"/>
          </a:xfrm>
          <a:prstGeom prst="ellipse">
            <a:avLst/>
          </a:prstGeom>
          <a:solidFill>
            <a:srgbClr val="F5F7FB"/>
          </a:solidFill>
          <a:ln w="13970">
            <a:solidFill>
              <a:srgbClr val="13233F"/>
            </a:solidFill>
            <a:prstDash val="solid"/>
          </a:ln>
        </p:spPr>
        <p:txBody>
          <a:bodyPr/>
          <a:p/>
        </p:txBody>
      </p:sp>
      <p:sp>
        <p:nvSpPr>
          <p:cNvPr id="17" name="Text 15"/>
          <p:cNvSpPr txBox="1"/>
          <p:nvPr/>
        </p:nvSpPr>
        <p:spPr>
          <a:xfrm>
            <a:off x="5577840" y="2258568"/>
            <a:ext cx="1005840" cy="201168"/>
          </a:xfrm>
          <a:prstGeom prst="rect">
            <a:avLst/>
          </a:prstGeom>
          <a:noFill/>
          <a:ln/>
        </p:spPr>
        <p:txBody>
          <a:bodyPr wrap="square" lIns="0" tIns="0" rIns="0" bIns="0" rtlCol="0" anchor="ctr"/>
          <a:lstStyle/>
          <a:p>
            <a:pPr marL="0" indent="0" algn="ctr">
              <a:buNone/>
            </a:pPr>
            <a:r>
              <a:rPr lang="en-US" sz="1000" dirty="0">
                <a:solidFill>
                  <a:srgbClr val="1A2233"/>
                </a:solidFill>
                <a:latin typeface="맑은 고딕" pitchFamily="34" charset="0"/>
                <a:ea typeface="맑은 고딕" pitchFamily="34" charset="-122"/>
                <a:cs typeface="맑은 고딕" pitchFamily="34" charset="-120"/>
              </a:rPr>
              <a:t>관측자 B</a:t>
            </a:r>
            <a:endParaRPr lang="en-US" sz="1000" dirty="0"/>
          </a:p>
        </p:txBody>
      </p:sp>
      <p:sp>
        <p:nvSpPr>
          <p:cNvPr id="18" name="Shape 16"/>
          <p:cNvSpPr/>
          <p:nvPr/>
        </p:nvSpPr>
        <p:spPr>
          <a:xfrm>
            <a:off x="1078992" y="2450592"/>
            <a:ext cx="1783080" cy="310896"/>
          </a:xfrm>
          <a:prstGeom prst="roundRect">
            <a:avLst>
              <a:gd name="adj" fmla="val 17647"/>
            </a:avLst>
          </a:prstGeom>
          <a:solidFill>
            <a:srgbClr val="F5F7FB"/>
          </a:solidFill>
          <a:ln w="11430">
            <a:solidFill>
              <a:srgbClr val="5A6478"/>
            </a:solidFill>
            <a:prstDash val="solid"/>
          </a:ln>
        </p:spPr>
        <p:txBody>
          <a:bodyPr/>
          <a:p/>
        </p:txBody>
      </p:sp>
      <p:sp>
        <p:nvSpPr>
          <p:cNvPr id="19" name="Text 17"/>
          <p:cNvSpPr txBox="1"/>
          <p:nvPr/>
        </p:nvSpPr>
        <p:spPr>
          <a:xfrm>
            <a:off x="1078992" y="2450592"/>
            <a:ext cx="1783080" cy="310896"/>
          </a:xfrm>
          <a:prstGeom prst="rect">
            <a:avLst/>
          </a:prstGeom>
          <a:noFill/>
          <a:ln/>
        </p:spPr>
        <p:txBody>
          <a:bodyPr wrap="square" lIns="0" tIns="0" rIns="0" bIns="0" rtlCol="0" anchor="ctr"/>
          <a:lstStyle/>
          <a:p>
            <a:pPr marL="0" indent="0" algn="ctr">
              <a:buNone/>
            </a:pPr>
            <a:r>
              <a:rPr lang="en-US" sz="950" dirty="0">
                <a:solidFill>
                  <a:srgbClr val="1A2233"/>
                </a:solidFill>
                <a:latin typeface="맑은 고딕" pitchFamily="34" charset="0"/>
                <a:ea typeface="맑은 고딕" pitchFamily="34" charset="-122"/>
                <a:cs typeface="맑은 고딕" pitchFamily="34" charset="-120"/>
              </a:rPr>
              <a:t>내 오른쪽에 있는데.</a:t>
            </a:r>
            <a:endParaRPr lang="en-US" sz="950" dirty="0"/>
          </a:p>
        </p:txBody>
      </p:sp>
      <p:sp>
        <p:nvSpPr>
          <p:cNvPr id="20" name="Shape 18"/>
          <p:cNvSpPr/>
          <p:nvPr/>
        </p:nvSpPr>
        <p:spPr>
          <a:xfrm>
            <a:off x="5138928" y="1828800"/>
            <a:ext cx="1645920" cy="310896"/>
          </a:xfrm>
          <a:prstGeom prst="roundRect">
            <a:avLst>
              <a:gd name="adj" fmla="val 17647"/>
            </a:avLst>
          </a:prstGeom>
          <a:solidFill>
            <a:srgbClr val="F5F7FB"/>
          </a:solidFill>
          <a:ln w="11430">
            <a:solidFill>
              <a:srgbClr val="5A6478"/>
            </a:solidFill>
            <a:prstDash val="solid"/>
          </a:ln>
        </p:spPr>
        <p:txBody>
          <a:bodyPr/>
          <a:p/>
        </p:txBody>
      </p:sp>
      <p:sp>
        <p:nvSpPr>
          <p:cNvPr id="21" name="Text 19"/>
          <p:cNvSpPr txBox="1"/>
          <p:nvPr/>
        </p:nvSpPr>
        <p:spPr>
          <a:xfrm>
            <a:off x="5138928" y="1828800"/>
            <a:ext cx="1645920" cy="310896"/>
          </a:xfrm>
          <a:prstGeom prst="rect">
            <a:avLst/>
          </a:prstGeom>
          <a:noFill/>
          <a:ln/>
        </p:spPr>
        <p:txBody>
          <a:bodyPr wrap="square" lIns="0" tIns="0" rIns="0" bIns="0" rtlCol="0" anchor="ctr"/>
          <a:lstStyle/>
          <a:p>
            <a:pPr marL="0" indent="0" algn="ctr">
              <a:buNone/>
            </a:pPr>
            <a:r>
              <a:rPr lang="en-US" sz="950" dirty="0">
                <a:solidFill>
                  <a:srgbClr val="1A2233"/>
                </a:solidFill>
                <a:latin typeface="맑은 고딕" pitchFamily="34" charset="0"/>
                <a:ea typeface="맑은 고딕" pitchFamily="34" charset="-122"/>
                <a:cs typeface="맑은 고딕" pitchFamily="34" charset="-120"/>
              </a:rPr>
              <a:t>내 왼쪽에 있는데?</a:t>
            </a:r>
            <a:endParaRPr lang="en-US" sz="950" dirty="0"/>
          </a:p>
        </p:txBody>
      </p:sp>
      <p:sp>
        <p:nvSpPr>
          <p:cNvPr id="22" name="Shape 20"/>
          <p:cNvSpPr/>
          <p:nvPr/>
        </p:nvSpPr>
        <p:spPr>
          <a:xfrm>
            <a:off x="2020824" y="3401568"/>
            <a:ext cx="1335024" cy="0"/>
          </a:xfrm>
          <a:prstGeom prst="line">
            <a:avLst/>
          </a:prstGeom>
          <a:noFill/>
          <a:ln w="16510">
            <a:solidFill>
              <a:srgbClr val="13233F"/>
            </a:solidFill>
            <a:prstDash val="solid"/>
            <a:headEnd type="none"/>
            <a:tailEnd type="triangle"/>
          </a:ln>
        </p:spPr>
        <p:txBody>
          <a:bodyPr/>
          <a:p/>
        </p:txBody>
      </p:sp>
      <p:sp>
        <p:nvSpPr>
          <p:cNvPr id="23" name="Text 21"/>
          <p:cNvSpPr txBox="1"/>
          <p:nvPr/>
        </p:nvSpPr>
        <p:spPr>
          <a:xfrm>
            <a:off x="3410712" y="3383280"/>
            <a:ext cx="32004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앞</a:t>
            </a:r>
            <a:endParaRPr lang="en-US" sz="1000" dirty="0"/>
          </a:p>
        </p:txBody>
      </p:sp>
      <p:sp>
        <p:nvSpPr>
          <p:cNvPr id="24" name="Shape 22"/>
          <p:cNvSpPr/>
          <p:nvPr/>
        </p:nvSpPr>
        <p:spPr>
          <a:xfrm rot="785514">
            <a:off x="2005085" y="3538728"/>
            <a:ext cx="1211054" cy="0"/>
          </a:xfrm>
          <a:prstGeom prst="line">
            <a:avLst/>
          </a:prstGeom>
          <a:noFill/>
          <a:ln w="13970">
            <a:solidFill>
              <a:srgbClr val="13233F"/>
            </a:solidFill>
            <a:prstDash val="solid"/>
            <a:headEnd type="none"/>
            <a:tailEnd type="none"/>
          </a:ln>
        </p:spPr>
        <p:txBody>
          <a:bodyPr/>
          <a:p/>
        </p:txBody>
      </p:sp>
      <p:sp>
        <p:nvSpPr>
          <p:cNvPr id="25" name="Shape 23"/>
          <p:cNvSpPr/>
          <p:nvPr/>
        </p:nvSpPr>
        <p:spPr>
          <a:xfrm rot="5595000">
            <a:off x="2837464" y="3450737"/>
            <a:ext cx="98496" cy="0"/>
          </a:xfrm>
          <a:prstGeom prst="line">
            <a:avLst/>
          </a:prstGeom>
          <a:noFill/>
          <a:ln w="12700">
            <a:solidFill>
              <a:srgbClr val="13233F"/>
            </a:solidFill>
            <a:prstDash val="solid"/>
            <a:headEnd type="none"/>
            <a:tailEnd type="none"/>
          </a:ln>
        </p:spPr>
        <p:txBody>
          <a:bodyPr/>
          <a:p/>
        </p:txBody>
      </p:sp>
      <p:sp>
        <p:nvSpPr>
          <p:cNvPr id="26" name="Shape 24"/>
          <p:cNvSpPr/>
          <p:nvPr/>
        </p:nvSpPr>
        <p:spPr>
          <a:xfrm rot="5985000">
            <a:off x="2826332" y="3548442"/>
            <a:ext cx="98496" cy="0"/>
          </a:xfrm>
          <a:prstGeom prst="line">
            <a:avLst/>
          </a:prstGeom>
          <a:noFill/>
          <a:ln w="12700">
            <a:solidFill>
              <a:srgbClr val="13233F"/>
            </a:solidFill>
            <a:prstDash val="solid"/>
            <a:headEnd type="none"/>
            <a:tailEnd type="none"/>
          </a:ln>
        </p:spPr>
        <p:txBody>
          <a:bodyPr/>
          <a:p/>
        </p:txBody>
      </p:sp>
      <p:sp>
        <p:nvSpPr>
          <p:cNvPr id="27" name="Text 25"/>
          <p:cNvSpPr txBox="1"/>
          <p:nvPr/>
        </p:nvSpPr>
        <p:spPr>
          <a:xfrm>
            <a:off x="2441448" y="3712464"/>
            <a:ext cx="1005840" cy="201168"/>
          </a:xfrm>
          <a:prstGeom prst="rect">
            <a:avLst/>
          </a:prstGeom>
          <a:noFill/>
          <a:ln/>
        </p:spPr>
        <p:txBody>
          <a:bodyPr wrap="square" lIns="0" tIns="0" rIns="0" bIns="0" rtlCol="0" anchor="ctr"/>
          <a:lstStyle/>
          <a:p>
            <a:pPr marL="0" indent="0" algn="l">
              <a:buNone/>
            </a:pPr>
            <a:r>
              <a:rPr lang="en-US" sz="850" dirty="0">
                <a:solidFill>
                  <a:srgbClr val="1A2233"/>
                </a:solidFill>
                <a:latin typeface="맑은 고딕" pitchFamily="34" charset="0"/>
                <a:ea typeface="맑은 고딕" pitchFamily="34" charset="-122"/>
                <a:cs typeface="맑은 고딕" pitchFamily="34" charset="-120"/>
              </a:rPr>
              <a:t>오른쪽 21°</a:t>
            </a:r>
            <a:endParaRPr lang="en-US" sz="850" dirty="0"/>
          </a:p>
        </p:txBody>
      </p:sp>
      <p:sp>
        <p:nvSpPr>
          <p:cNvPr id="28" name="Shape 26"/>
          <p:cNvSpPr/>
          <p:nvPr/>
        </p:nvSpPr>
        <p:spPr>
          <a:xfrm rot="10100442">
            <a:off x="4495855" y="2953512"/>
            <a:ext cx="1176417" cy="0"/>
          </a:xfrm>
          <a:prstGeom prst="line">
            <a:avLst/>
          </a:prstGeom>
          <a:noFill/>
          <a:ln w="16510">
            <a:solidFill>
              <a:srgbClr val="13233F"/>
            </a:solidFill>
            <a:prstDash val="solid"/>
            <a:headEnd type="none"/>
            <a:tailEnd type="triangle"/>
          </a:ln>
        </p:spPr>
        <p:txBody>
          <a:bodyPr/>
          <a:p/>
        </p:txBody>
      </p:sp>
      <p:sp>
        <p:nvSpPr>
          <p:cNvPr id="29" name="Text 27"/>
          <p:cNvSpPr txBox="1"/>
          <p:nvPr/>
        </p:nvSpPr>
        <p:spPr>
          <a:xfrm>
            <a:off x="4325112" y="3017520"/>
            <a:ext cx="32004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앞</a:t>
            </a:r>
            <a:endParaRPr lang="en-US" sz="1000" dirty="0"/>
          </a:p>
        </p:txBody>
      </p:sp>
      <p:sp>
        <p:nvSpPr>
          <p:cNvPr id="30" name="Shape 28"/>
          <p:cNvSpPr/>
          <p:nvPr/>
        </p:nvSpPr>
        <p:spPr>
          <a:xfrm rot="8555679">
            <a:off x="4606722" y="3191256"/>
            <a:ext cx="1174141" cy="0"/>
          </a:xfrm>
          <a:prstGeom prst="line">
            <a:avLst/>
          </a:prstGeom>
          <a:noFill/>
          <a:ln w="13970">
            <a:solidFill>
              <a:srgbClr val="13233F"/>
            </a:solidFill>
            <a:prstDash val="solid"/>
            <a:headEnd type="none"/>
            <a:tailEnd type="none"/>
          </a:ln>
        </p:spPr>
        <p:txBody>
          <a:bodyPr/>
          <a:p/>
        </p:txBody>
      </p:sp>
      <p:sp>
        <p:nvSpPr>
          <p:cNvPr id="31" name="Shape 29"/>
          <p:cNvSpPr/>
          <p:nvPr/>
        </p:nvSpPr>
        <p:spPr>
          <a:xfrm rot="-5870000">
            <a:off x="4826012" y="2941535"/>
            <a:ext cx="114274" cy="0"/>
          </a:xfrm>
          <a:prstGeom prst="line">
            <a:avLst/>
          </a:prstGeom>
          <a:noFill/>
          <a:ln w="12700">
            <a:solidFill>
              <a:srgbClr val="13233F"/>
            </a:solidFill>
            <a:prstDash val="solid"/>
            <a:headEnd type="none"/>
            <a:tailEnd type="none"/>
          </a:ln>
        </p:spPr>
        <p:txBody>
          <a:bodyPr/>
          <a:p/>
        </p:txBody>
      </p:sp>
      <p:sp>
        <p:nvSpPr>
          <p:cNvPr id="32" name="Shape 30"/>
          <p:cNvSpPr/>
          <p:nvPr/>
        </p:nvSpPr>
        <p:spPr>
          <a:xfrm rot="-5370000">
            <a:off x="4818723" y="2827796"/>
            <a:ext cx="114274" cy="0"/>
          </a:xfrm>
          <a:prstGeom prst="line">
            <a:avLst/>
          </a:prstGeom>
          <a:noFill/>
          <a:ln w="12700">
            <a:solidFill>
              <a:srgbClr val="13233F"/>
            </a:solidFill>
            <a:prstDash val="solid"/>
            <a:headEnd type="none"/>
            <a:tailEnd type="none"/>
          </a:ln>
        </p:spPr>
        <p:txBody>
          <a:bodyPr/>
          <a:p/>
        </p:txBody>
      </p:sp>
      <p:sp>
        <p:nvSpPr>
          <p:cNvPr id="33" name="Shape 31"/>
          <p:cNvSpPr/>
          <p:nvPr/>
        </p:nvSpPr>
        <p:spPr>
          <a:xfrm rot="-4870000">
            <a:off x="4827996" y="2714201"/>
            <a:ext cx="114274" cy="0"/>
          </a:xfrm>
          <a:prstGeom prst="line">
            <a:avLst/>
          </a:prstGeom>
          <a:noFill/>
          <a:ln w="12700">
            <a:solidFill>
              <a:srgbClr val="13233F"/>
            </a:solidFill>
            <a:prstDash val="solid"/>
            <a:headEnd type="none"/>
            <a:tailEnd type="none"/>
          </a:ln>
        </p:spPr>
        <p:txBody>
          <a:bodyPr/>
          <a:p/>
        </p:txBody>
      </p:sp>
      <p:sp>
        <p:nvSpPr>
          <p:cNvPr id="34" name="Shape 32"/>
          <p:cNvSpPr/>
          <p:nvPr/>
        </p:nvSpPr>
        <p:spPr>
          <a:xfrm rot="-4370000">
            <a:off x="4853634" y="2603150"/>
            <a:ext cx="114274" cy="0"/>
          </a:xfrm>
          <a:prstGeom prst="line">
            <a:avLst/>
          </a:prstGeom>
          <a:noFill/>
          <a:ln w="12700">
            <a:solidFill>
              <a:srgbClr val="13233F"/>
            </a:solidFill>
            <a:prstDash val="solid"/>
            <a:headEnd type="none"/>
            <a:tailEnd type="none"/>
          </a:ln>
        </p:spPr>
        <p:txBody>
          <a:bodyPr/>
          <a:p/>
        </p:txBody>
      </p:sp>
      <p:sp>
        <p:nvSpPr>
          <p:cNvPr id="35" name="Shape 33"/>
          <p:cNvSpPr/>
          <p:nvPr/>
        </p:nvSpPr>
        <p:spPr>
          <a:xfrm rot="-3870000">
            <a:off x="4895096" y="2496988"/>
            <a:ext cx="114274" cy="0"/>
          </a:xfrm>
          <a:prstGeom prst="line">
            <a:avLst/>
          </a:prstGeom>
          <a:noFill/>
          <a:ln w="12700">
            <a:solidFill>
              <a:srgbClr val="13233F"/>
            </a:solidFill>
            <a:prstDash val="solid"/>
            <a:headEnd type="none"/>
            <a:tailEnd type="none"/>
          </a:ln>
        </p:spPr>
        <p:txBody>
          <a:bodyPr/>
          <a:p/>
        </p:txBody>
      </p:sp>
      <p:sp>
        <p:nvSpPr>
          <p:cNvPr id="36" name="Shape 34"/>
          <p:cNvSpPr/>
          <p:nvPr/>
        </p:nvSpPr>
        <p:spPr>
          <a:xfrm rot="-3370000">
            <a:off x="4951507" y="2397955"/>
            <a:ext cx="114274" cy="0"/>
          </a:xfrm>
          <a:prstGeom prst="line">
            <a:avLst/>
          </a:prstGeom>
          <a:noFill/>
          <a:ln w="12700">
            <a:solidFill>
              <a:srgbClr val="13233F"/>
            </a:solidFill>
            <a:prstDash val="solid"/>
            <a:headEnd type="none"/>
            <a:tailEnd type="none"/>
          </a:ln>
        </p:spPr>
        <p:txBody>
          <a:bodyPr/>
          <a:p/>
        </p:txBody>
      </p:sp>
      <p:sp>
        <p:nvSpPr>
          <p:cNvPr id="37" name="Text 35"/>
          <p:cNvSpPr txBox="1"/>
          <p:nvPr/>
        </p:nvSpPr>
        <p:spPr>
          <a:xfrm>
            <a:off x="4233672" y="3328416"/>
            <a:ext cx="914400" cy="201168"/>
          </a:xfrm>
          <a:prstGeom prst="rect">
            <a:avLst/>
          </a:prstGeom>
          <a:noFill/>
          <a:ln/>
        </p:spPr>
        <p:txBody>
          <a:bodyPr wrap="square" lIns="0" tIns="0" rIns="0" bIns="0" rtlCol="0" anchor="ctr"/>
          <a:lstStyle/>
          <a:p>
            <a:pPr marL="0" indent="0" algn="l">
              <a:buNone/>
            </a:pPr>
            <a:r>
              <a:rPr lang="en-US" sz="850" dirty="0">
                <a:solidFill>
                  <a:srgbClr val="1A2233"/>
                </a:solidFill>
                <a:latin typeface="맑은 고딕" pitchFamily="34" charset="0"/>
                <a:ea typeface="맑은 고딕" pitchFamily="34" charset="-122"/>
                <a:cs typeface="맑은 고딕" pitchFamily="34" charset="-120"/>
              </a:rPr>
              <a:t>왼쪽 29°</a:t>
            </a:r>
            <a:endParaRPr lang="en-US" sz="850" dirty="0"/>
          </a:p>
        </p:txBody>
      </p:sp>
      <p:sp>
        <p:nvSpPr>
          <p:cNvPr id="38" name="Shape 36"/>
          <p:cNvSpPr/>
          <p:nvPr/>
        </p:nvSpPr>
        <p:spPr>
          <a:xfrm rot="1370019">
            <a:off x="1943091" y="4078224"/>
            <a:ext cx="2450609" cy="0"/>
          </a:xfrm>
          <a:prstGeom prst="line">
            <a:avLst/>
          </a:prstGeom>
          <a:noFill/>
          <a:ln w="12700">
            <a:solidFill>
              <a:srgbClr val="5A6478"/>
            </a:solidFill>
            <a:prstDash val="sysDot"/>
            <a:headEnd type="none"/>
            <a:tailEnd type="none"/>
          </a:ln>
        </p:spPr>
        <p:txBody>
          <a:bodyPr/>
          <a:p/>
        </p:txBody>
      </p:sp>
      <p:sp>
        <p:nvSpPr>
          <p:cNvPr id="39" name="Shape 37"/>
          <p:cNvSpPr/>
          <p:nvPr/>
        </p:nvSpPr>
        <p:spPr>
          <a:xfrm rot="7521748">
            <a:off x="4388819" y="3790188"/>
            <a:ext cx="1737961" cy="0"/>
          </a:xfrm>
          <a:prstGeom prst="line">
            <a:avLst/>
          </a:prstGeom>
          <a:noFill/>
          <a:ln w="12700">
            <a:solidFill>
              <a:srgbClr val="5A6478"/>
            </a:solidFill>
            <a:prstDash val="sysDot"/>
            <a:headEnd type="none"/>
            <a:tailEnd type="none"/>
          </a:ln>
        </p:spPr>
        <p:txBody>
          <a:bodyPr/>
          <a:p/>
        </p:txBody>
      </p:sp>
      <p:sp>
        <p:nvSpPr>
          <p:cNvPr id="40" name="Text 38"/>
          <p:cNvSpPr txBox="1"/>
          <p:nvPr/>
        </p:nvSpPr>
        <p:spPr>
          <a:xfrm>
            <a:off x="2788920" y="4224528"/>
            <a:ext cx="54864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9 m</a:t>
            </a:r>
            <a:endParaRPr lang="en-US" sz="900" dirty="0"/>
          </a:p>
        </p:txBody>
      </p:sp>
      <p:sp>
        <p:nvSpPr>
          <p:cNvPr id="41" name="Text 39"/>
          <p:cNvSpPr txBox="1"/>
          <p:nvPr/>
        </p:nvSpPr>
        <p:spPr>
          <a:xfrm>
            <a:off x="5230368" y="3950208"/>
            <a:ext cx="54864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7 m</a:t>
            </a:r>
            <a:endParaRPr lang="en-US" sz="900" dirty="0"/>
          </a:p>
        </p:txBody>
      </p:sp>
      <p:sp>
        <p:nvSpPr>
          <p:cNvPr id="42" name="Shape 40"/>
          <p:cNvSpPr/>
          <p:nvPr/>
        </p:nvSpPr>
        <p:spPr>
          <a:xfrm>
            <a:off x="4306824" y="4443984"/>
            <a:ext cx="384048" cy="329184"/>
          </a:xfrm>
          <a:prstGeom prst="rect">
            <a:avLst/>
          </a:prstGeom>
          <a:solidFill>
            <a:srgbClr val="34507F"/>
          </a:solidFill>
          <a:ln/>
        </p:spPr>
        <p:txBody>
          <a:bodyPr/>
          <a:p/>
        </p:txBody>
      </p:sp>
      <p:sp>
        <p:nvSpPr>
          <p:cNvPr id="43" name="Text 41"/>
          <p:cNvSpPr txBox="1"/>
          <p:nvPr/>
        </p:nvSpPr>
        <p:spPr>
          <a:xfrm>
            <a:off x="3813048" y="4901184"/>
            <a:ext cx="1371600" cy="201168"/>
          </a:xfrm>
          <a:prstGeom prst="rect">
            <a:avLst/>
          </a:prstGeom>
          <a:noFill/>
          <a:ln/>
        </p:spPr>
        <p:txBody>
          <a:bodyPr wrap="square" lIns="0" tIns="0" rIns="0" bIns="0" rtlCol="0" anchor="ctr"/>
          <a:lstStyle/>
          <a:p>
            <a:pPr marL="0" indent="0" algn="ctr">
              <a:buNone/>
            </a:pPr>
            <a:r>
              <a:rPr lang="en-US" sz="1000" dirty="0">
                <a:solidFill>
                  <a:srgbClr val="1A2233"/>
                </a:solidFill>
                <a:latin typeface="맑은 고딕" pitchFamily="34" charset="0"/>
                <a:ea typeface="맑은 고딕" pitchFamily="34" charset="-122"/>
                <a:cs typeface="맑은 고딕" pitchFamily="34" charset="-120"/>
              </a:rPr>
              <a:t>물체 하나</a:t>
            </a:r>
            <a:endParaRPr lang="en-US" sz="1000" dirty="0"/>
          </a:p>
        </p:txBody>
      </p:sp>
      <p:sp>
        <p:nvSpPr>
          <p:cNvPr id="44" name="Shape 42"/>
          <p:cNvSpPr/>
          <p:nvPr/>
        </p:nvSpPr>
        <p:spPr>
          <a:xfrm>
            <a:off x="7242048" y="1755648"/>
            <a:ext cx="4160520" cy="1481328"/>
          </a:xfrm>
          <a:prstGeom prst="roundRect">
            <a:avLst>
              <a:gd name="adj" fmla="val 3086"/>
            </a:avLst>
          </a:prstGeom>
          <a:solidFill>
            <a:srgbClr val="EEF1F7"/>
          </a:solidFill>
          <a:ln/>
        </p:spPr>
        <p:txBody>
          <a:bodyPr/>
          <a:p/>
        </p:txBody>
      </p:sp>
      <p:sp>
        <p:nvSpPr>
          <p:cNvPr id="45" name="Text 43"/>
          <p:cNvSpPr txBox="1"/>
          <p:nvPr/>
        </p:nvSpPr>
        <p:spPr>
          <a:xfrm>
            <a:off x="7498080" y="1956816"/>
            <a:ext cx="3703320" cy="1097280"/>
          </a:xfrm>
          <a:prstGeom prst="rect">
            <a:avLst/>
          </a:prstGeom>
          <a:noFill/>
          <a:ln/>
        </p:spPr>
        <p:txBody>
          <a:bodyPr wrap="square" lIns="0" tIns="0" rIns="0" bIns="0" rtlCol="0" anchor="t"/>
          <a:lstStyle/>
          <a:p>
            <a:pPr marL="0" indent="0" algn="l">
              <a:lnSpc>
                <a:spcPct val="105000"/>
              </a:lnSpc>
              <a:spcAft>
                <a:spcPts val="1000"/>
              </a:spcAft>
              <a:buNone/>
            </a:pPr>
            <a:r>
              <a:rPr lang="en-US" sz="1500" b="1" dirty="0">
                <a:solidFill>
                  <a:srgbClr val="1A2233"/>
                </a:solidFill>
                <a:latin typeface="맑은 고딕" pitchFamily="34" charset="0"/>
                <a:ea typeface="맑은 고딕" pitchFamily="34" charset="-122"/>
                <a:cs typeface="맑은 고딕" pitchFamily="34" charset="-120"/>
              </a:rPr>
              <a:t>관측자 A 가 말하면</a:t>
            </a:r>
            <a:endParaRPr lang="en-US" sz="1500" dirty="0"/>
          </a:p>
          <a:p>
            <a:pPr marL="0" indent="0" algn="l">
              <a:lnSpc>
                <a:spcPct val="105000"/>
              </a:lnSpc>
              <a:spcAft>
                <a:spcPts val="600"/>
              </a:spcAft>
              <a:buNone/>
            </a:pPr>
            <a:r>
              <a:rPr lang="en-US" sz="1250" dirty="0">
                <a:solidFill>
                  <a:srgbClr val="1A2233"/>
                </a:solidFill>
                <a:latin typeface="맑은 고딕" pitchFamily="34" charset="0"/>
                <a:ea typeface="맑은 고딕" pitchFamily="34" charset="-122"/>
                <a:cs typeface="맑은 고딕" pitchFamily="34" charset="-120"/>
              </a:rPr>
              <a:t>"내 오른쪽에 있는데."</a:t>
            </a:r>
            <a:endParaRPr lang="en-US" sz="1500" dirty="0"/>
          </a:p>
          <a:p>
            <a:pPr marL="0" indent="0" algn="l">
              <a:lnSpc>
                <a:spcPct val="105000"/>
              </a:lnSpc>
              <a:buNone/>
            </a:pPr>
            <a:r>
              <a:rPr lang="en-US" sz="1250" dirty="0">
                <a:solidFill>
                  <a:srgbClr val="1A2233"/>
                </a:solidFill>
                <a:latin typeface="맑은 고딕" pitchFamily="34" charset="0"/>
                <a:ea typeface="맑은 고딕" pitchFamily="34" charset="-122"/>
                <a:cs typeface="맑은 고딕" pitchFamily="34" charset="-120"/>
              </a:rPr>
              <a:t>앞에서 오른쪽으로 21도, 9 m</a:t>
            </a:r>
            <a:endParaRPr lang="en-US" sz="1500" dirty="0"/>
          </a:p>
        </p:txBody>
      </p:sp>
      <p:sp>
        <p:nvSpPr>
          <p:cNvPr id="46" name="Shape 44"/>
          <p:cNvSpPr/>
          <p:nvPr/>
        </p:nvSpPr>
        <p:spPr>
          <a:xfrm>
            <a:off x="7242048" y="3401568"/>
            <a:ext cx="4160520" cy="1481328"/>
          </a:xfrm>
          <a:prstGeom prst="roundRect">
            <a:avLst>
              <a:gd name="adj" fmla="val 3086"/>
            </a:avLst>
          </a:prstGeom>
          <a:solidFill>
            <a:srgbClr val="EEF1F7"/>
          </a:solidFill>
          <a:ln/>
        </p:spPr>
        <p:txBody>
          <a:bodyPr/>
          <a:p/>
        </p:txBody>
      </p:sp>
      <p:sp>
        <p:nvSpPr>
          <p:cNvPr id="47" name="Text 45"/>
          <p:cNvSpPr txBox="1"/>
          <p:nvPr/>
        </p:nvSpPr>
        <p:spPr>
          <a:xfrm>
            <a:off x="7498080" y="3602736"/>
            <a:ext cx="3703320" cy="1097280"/>
          </a:xfrm>
          <a:prstGeom prst="rect">
            <a:avLst/>
          </a:prstGeom>
          <a:noFill/>
          <a:ln/>
        </p:spPr>
        <p:txBody>
          <a:bodyPr wrap="square" lIns="0" tIns="0" rIns="0" bIns="0" rtlCol="0" anchor="t"/>
          <a:lstStyle/>
          <a:p>
            <a:pPr marL="0" indent="0" algn="l">
              <a:lnSpc>
                <a:spcPct val="105000"/>
              </a:lnSpc>
              <a:spcAft>
                <a:spcPts val="1000"/>
              </a:spcAft>
              <a:buNone/>
            </a:pPr>
            <a:r>
              <a:rPr lang="en-US" sz="1500" b="1" dirty="0">
                <a:solidFill>
                  <a:srgbClr val="1A2233"/>
                </a:solidFill>
                <a:latin typeface="맑은 고딕" pitchFamily="34" charset="0"/>
                <a:ea typeface="맑은 고딕" pitchFamily="34" charset="-122"/>
                <a:cs typeface="맑은 고딕" pitchFamily="34" charset="-120"/>
              </a:rPr>
              <a:t>관측자 B 가 말하면</a:t>
            </a:r>
            <a:endParaRPr lang="en-US" sz="1500" dirty="0"/>
          </a:p>
          <a:p>
            <a:pPr marL="0" indent="0" algn="l">
              <a:lnSpc>
                <a:spcPct val="105000"/>
              </a:lnSpc>
              <a:spcAft>
                <a:spcPts val="600"/>
              </a:spcAft>
              <a:buNone/>
            </a:pPr>
            <a:r>
              <a:rPr lang="en-US" sz="1250" dirty="0">
                <a:solidFill>
                  <a:srgbClr val="1A2233"/>
                </a:solidFill>
                <a:latin typeface="맑은 고딕" pitchFamily="34" charset="0"/>
                <a:ea typeface="맑은 고딕" pitchFamily="34" charset="-122"/>
                <a:cs typeface="맑은 고딕" pitchFamily="34" charset="-120"/>
              </a:rPr>
              <a:t>"내 왼쪽에 있는데?"</a:t>
            </a:r>
            <a:endParaRPr lang="en-US" sz="1500" dirty="0"/>
          </a:p>
          <a:p>
            <a:pPr marL="0" indent="0" algn="l">
              <a:lnSpc>
                <a:spcPct val="105000"/>
              </a:lnSpc>
              <a:buNone/>
            </a:pPr>
            <a:r>
              <a:rPr lang="en-US" sz="1250" dirty="0">
                <a:solidFill>
                  <a:srgbClr val="1A2233"/>
                </a:solidFill>
                <a:latin typeface="맑은 고딕" pitchFamily="34" charset="0"/>
                <a:ea typeface="맑은 고딕" pitchFamily="34" charset="-122"/>
                <a:cs typeface="맑은 고딕" pitchFamily="34" charset="-120"/>
              </a:rPr>
              <a:t>앞에서 왼쪽으로 29도, 7 m</a:t>
            </a:r>
            <a:endParaRPr lang="en-US" sz="1500" dirty="0"/>
          </a:p>
        </p:txBody>
      </p:sp>
      <p:sp>
        <p:nvSpPr>
          <p:cNvPr id="48" name="Shape 46"/>
          <p:cNvSpPr/>
          <p:nvPr/>
        </p:nvSpPr>
        <p:spPr>
          <a:xfrm>
            <a:off x="786384" y="5074920"/>
            <a:ext cx="10607040" cy="786384"/>
          </a:xfrm>
          <a:prstGeom prst="roundRect">
            <a:avLst>
              <a:gd name="adj" fmla="val 5814"/>
            </a:avLst>
          </a:prstGeom>
          <a:solidFill>
            <a:srgbClr val="EEF1F7"/>
          </a:solidFill>
          <a:ln/>
        </p:spPr>
        <p:txBody>
          <a:bodyPr/>
          <a:p/>
        </p:txBody>
      </p:sp>
      <p:sp>
        <p:nvSpPr>
          <p:cNvPr id="49" name="Text 47"/>
          <p:cNvSpPr txBox="1"/>
          <p:nvPr/>
        </p:nvSpPr>
        <p:spPr>
          <a:xfrm>
            <a:off x="1005840" y="5230368"/>
            <a:ext cx="10149840" cy="548640"/>
          </a:xfrm>
          <a:prstGeom prst="rect">
            <a:avLst/>
          </a:prstGeom>
          <a:noFill/>
          <a:ln/>
        </p:spPr>
        <p:txBody>
          <a:bodyPr wrap="square" lIns="0" tIns="0" rIns="0" bIns="0" rtlCol="0" anchor="t"/>
          <a:lstStyle/>
          <a:p>
            <a:pPr marL="0" indent="0" algn="l">
              <a:lnSpc>
                <a:spcPct val="105000"/>
              </a:lnSpc>
              <a:spcAft>
                <a:spcPts val="800"/>
              </a:spcAft>
              <a:buNone/>
            </a:pPr>
            <a:r>
              <a:rPr lang="en-US" sz="1400" b="1" dirty="0">
                <a:solidFill>
                  <a:srgbClr val="1A2233"/>
                </a:solidFill>
                <a:latin typeface="맑은 고딕" pitchFamily="34" charset="0"/>
                <a:ea typeface="맑은 고딕" pitchFamily="34" charset="-122"/>
                <a:cs typeface="맑은 고딕" pitchFamily="34" charset="-120"/>
              </a:rPr>
              <a:t>다른 것은 두 가지뿐이다 – 어디에 서서 재는가 (원점), 어디를 보고 재는가 (축)</a:t>
            </a:r>
            <a:endParaRPr lang="en-US" sz="1400" dirty="0"/>
          </a:p>
          <a:p>
            <a:pPr marL="0" indent="0" algn="l">
              <a:lnSpc>
                <a:spcPct val="105000"/>
              </a:lnSpc>
              <a:buNone/>
            </a:pPr>
            <a:r>
              <a:rPr lang="en-US" sz="1050" dirty="0">
                <a:solidFill>
                  <a:srgbClr val="5A6478"/>
                </a:solidFill>
                <a:latin typeface="맑은 고딕" pitchFamily="34" charset="0"/>
                <a:ea typeface="맑은 고딕" pitchFamily="34" charset="-122"/>
                <a:cs typeface="맑은 고딕" pitchFamily="34" charset="-120"/>
              </a:rPr>
              <a:t>좌표계란 그 둘을 미리 정해 놓은 약속이고, 기준이 다른 두 좌표계의 숫자를 서로 옮겨 주는 계산이 좌표변환이다.</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00. 좌표변환의 기본 동작 – 회전과 평행이동</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5</a:t>
            </a:r>
            <a:endParaRPr lang="en-US" sz="900" dirty="0"/>
          </a:p>
        </p:txBody>
      </p:sp>
      <p:sp>
        <p:nvSpPr>
          <p:cNvPr id="8" name="Shape 6"/>
          <p:cNvSpPr/>
          <p:nvPr/>
        </p:nvSpPr>
        <p:spPr>
          <a:xfrm rot="5400000">
            <a:off x="4700016" y="2743200"/>
            <a:ext cx="2779776" cy="0"/>
          </a:xfrm>
          <a:prstGeom prst="line">
            <a:avLst/>
          </a:prstGeom>
          <a:noFill/>
          <a:ln w="11430">
            <a:solidFill>
              <a:srgbClr val="C9D6EC"/>
            </a:solidFill>
            <a:prstDash val="solid"/>
            <a:headEnd type="none"/>
            <a:tailEnd type="none"/>
          </a:ln>
        </p:spPr>
        <p:txBody>
          <a:bodyPr/>
          <a:p/>
        </p:txBody>
      </p:sp>
      <p:sp>
        <p:nvSpPr>
          <p:cNvPr id="9" name="Text 7"/>
          <p:cNvSpPr txBox="1"/>
          <p:nvPr/>
        </p:nvSpPr>
        <p:spPr>
          <a:xfrm>
            <a:off x="932688" y="1371600"/>
            <a:ext cx="4937760" cy="548640"/>
          </a:xfrm>
          <a:prstGeom prst="rect">
            <a:avLst/>
          </a:prstGeom>
          <a:noFill/>
          <a:ln/>
        </p:spPr>
        <p:txBody>
          <a:bodyPr wrap="square" lIns="0" tIns="0" rIns="0" bIns="0" rtlCol="0" anchor="t"/>
          <a:lstStyle/>
          <a:p>
            <a:pPr marL="0" indent="0" algn="l">
              <a:lnSpc>
                <a:spcPct val="105000"/>
              </a:lnSpc>
              <a:spcAft>
                <a:spcPts val="400"/>
              </a:spcAft>
              <a:buNone/>
            </a:pPr>
            <a:r>
              <a:rPr lang="en-US" sz="1350" b="1" dirty="0">
                <a:solidFill>
                  <a:srgbClr val="1A2233"/>
                </a:solidFill>
                <a:latin typeface="맑은 고딕" pitchFamily="34" charset="0"/>
                <a:ea typeface="맑은 고딕" pitchFamily="34" charset="-122"/>
                <a:cs typeface="맑은 고딕" pitchFamily="34" charset="-120"/>
              </a:rPr>
              <a:t>① 회전 (rotation) — 기준 방향이 다를 때</a:t>
            </a:r>
            <a:endParaRPr lang="en-US" sz="1350" dirty="0"/>
          </a:p>
          <a:p>
            <a:pPr marL="0" indent="0" algn="l">
              <a:lnSpc>
                <a:spcPct val="105000"/>
              </a:lnSpc>
              <a:buNone/>
            </a:pPr>
            <a:r>
              <a:rPr lang="en-US" sz="1050" dirty="0">
                <a:solidFill>
                  <a:srgbClr val="5A6478"/>
                </a:solidFill>
                <a:latin typeface="맑은 고딕" pitchFamily="34" charset="0"/>
                <a:ea typeface="맑은 고딕" pitchFamily="34" charset="-122"/>
                <a:cs typeface="맑은 고딕" pitchFamily="34" charset="-120"/>
              </a:rPr>
              <a:t>두 좌표계의 축이 어긋난 만큼 θ 돌려서 맞춘다</a:t>
            </a:r>
            <a:endParaRPr lang="en-US" sz="1350" dirty="0"/>
          </a:p>
        </p:txBody>
      </p:sp>
      <p:sp>
        <p:nvSpPr>
          <p:cNvPr id="10" name="Shape 8"/>
          <p:cNvSpPr/>
          <p:nvPr/>
        </p:nvSpPr>
        <p:spPr>
          <a:xfrm>
            <a:off x="3017520" y="3675888"/>
            <a:ext cx="1627632" cy="0"/>
          </a:xfrm>
          <a:prstGeom prst="line">
            <a:avLst/>
          </a:prstGeom>
          <a:noFill/>
          <a:ln w="15240">
            <a:solidFill>
              <a:srgbClr val="13233F"/>
            </a:solidFill>
            <a:prstDash val="solid"/>
            <a:headEnd type="none"/>
            <a:tailEnd type="triangle"/>
          </a:ln>
        </p:spPr>
        <p:txBody>
          <a:bodyPr/>
          <a:p/>
        </p:txBody>
      </p:sp>
      <p:sp>
        <p:nvSpPr>
          <p:cNvPr id="11" name="Shape 9"/>
          <p:cNvSpPr/>
          <p:nvPr/>
        </p:nvSpPr>
        <p:spPr>
          <a:xfrm rot="-5400000">
            <a:off x="2322576" y="2980944"/>
            <a:ext cx="1389888" cy="0"/>
          </a:xfrm>
          <a:prstGeom prst="line">
            <a:avLst/>
          </a:prstGeom>
          <a:noFill/>
          <a:ln w="15240">
            <a:solidFill>
              <a:srgbClr val="13233F"/>
            </a:solidFill>
            <a:prstDash val="solid"/>
            <a:headEnd type="none"/>
            <a:tailEnd type="triangle"/>
          </a:ln>
        </p:spPr>
        <p:txBody>
          <a:bodyPr/>
          <a:p/>
        </p:txBody>
      </p:sp>
      <p:sp>
        <p:nvSpPr>
          <p:cNvPr id="12" name="Shape 10"/>
          <p:cNvSpPr/>
          <p:nvPr/>
        </p:nvSpPr>
        <p:spPr>
          <a:xfrm rot="-2109251">
            <a:off x="2872689" y="3218688"/>
            <a:ext cx="1588110" cy="0"/>
          </a:xfrm>
          <a:prstGeom prst="line">
            <a:avLst/>
          </a:prstGeom>
          <a:noFill/>
          <a:ln w="15240">
            <a:solidFill>
              <a:srgbClr val="13233F"/>
            </a:solidFill>
            <a:prstDash val="solid"/>
            <a:headEnd type="none"/>
            <a:tailEnd type="triangle"/>
          </a:ln>
        </p:spPr>
        <p:txBody>
          <a:bodyPr/>
          <a:p/>
        </p:txBody>
      </p:sp>
      <p:sp>
        <p:nvSpPr>
          <p:cNvPr id="13" name="Shape 11"/>
          <p:cNvSpPr/>
          <p:nvPr/>
        </p:nvSpPr>
        <p:spPr>
          <a:xfrm rot="-7509251">
            <a:off x="1766265" y="3026664"/>
            <a:ext cx="1588110" cy="0"/>
          </a:xfrm>
          <a:prstGeom prst="line">
            <a:avLst/>
          </a:prstGeom>
          <a:noFill/>
          <a:ln w="15240">
            <a:solidFill>
              <a:srgbClr val="13233F"/>
            </a:solidFill>
            <a:prstDash val="solid"/>
            <a:headEnd type="none"/>
            <a:tailEnd type="triangle"/>
          </a:ln>
        </p:spPr>
        <p:txBody>
          <a:bodyPr/>
          <a:p/>
        </p:txBody>
      </p:sp>
      <p:sp>
        <p:nvSpPr>
          <p:cNvPr id="14" name="Shape 12"/>
          <p:cNvSpPr/>
          <p:nvPr/>
        </p:nvSpPr>
        <p:spPr>
          <a:xfrm rot="3562500">
            <a:off x="3775221" y="3183567"/>
            <a:ext cx="147879" cy="0"/>
          </a:xfrm>
          <a:prstGeom prst="line">
            <a:avLst/>
          </a:prstGeom>
          <a:noFill/>
          <a:ln w="12700">
            <a:solidFill>
              <a:srgbClr val="13233F"/>
            </a:solidFill>
            <a:prstDash val="solid"/>
            <a:headEnd type="none"/>
            <a:tailEnd type="none"/>
          </a:ln>
        </p:spPr>
        <p:txBody>
          <a:bodyPr/>
          <a:p/>
        </p:txBody>
      </p:sp>
      <p:sp>
        <p:nvSpPr>
          <p:cNvPr id="15" name="Shape 13"/>
          <p:cNvSpPr/>
          <p:nvPr/>
        </p:nvSpPr>
        <p:spPr>
          <a:xfrm rot="4087500">
            <a:off x="3840436" y="3315809"/>
            <a:ext cx="147879" cy="0"/>
          </a:xfrm>
          <a:prstGeom prst="line">
            <a:avLst/>
          </a:prstGeom>
          <a:noFill/>
          <a:ln w="12700">
            <a:solidFill>
              <a:srgbClr val="13233F"/>
            </a:solidFill>
            <a:prstDash val="solid"/>
            <a:headEnd type="none"/>
            <a:tailEnd type="none"/>
          </a:ln>
        </p:spPr>
        <p:txBody>
          <a:bodyPr/>
          <a:p/>
        </p:txBody>
      </p:sp>
      <p:sp>
        <p:nvSpPr>
          <p:cNvPr id="16" name="Shape 14"/>
          <p:cNvSpPr/>
          <p:nvPr/>
        </p:nvSpPr>
        <p:spPr>
          <a:xfrm rot="4612500">
            <a:off x="3884774" y="3456432"/>
            <a:ext cx="147879" cy="0"/>
          </a:xfrm>
          <a:prstGeom prst="line">
            <a:avLst/>
          </a:prstGeom>
          <a:noFill/>
          <a:ln w="12700">
            <a:solidFill>
              <a:srgbClr val="13233F"/>
            </a:solidFill>
            <a:prstDash val="solid"/>
            <a:headEnd type="none"/>
            <a:tailEnd type="none"/>
          </a:ln>
        </p:spPr>
        <p:txBody>
          <a:bodyPr/>
          <a:p/>
        </p:txBody>
      </p:sp>
      <p:sp>
        <p:nvSpPr>
          <p:cNvPr id="17" name="Shape 15"/>
          <p:cNvSpPr/>
          <p:nvPr/>
        </p:nvSpPr>
        <p:spPr>
          <a:xfrm rot="5137500">
            <a:off x="3907204" y="3602164"/>
            <a:ext cx="147879" cy="0"/>
          </a:xfrm>
          <a:prstGeom prst="line">
            <a:avLst/>
          </a:prstGeom>
          <a:noFill/>
          <a:ln w="12700">
            <a:solidFill>
              <a:srgbClr val="13233F"/>
            </a:solidFill>
            <a:prstDash val="solid"/>
            <a:headEnd type="none"/>
            <a:tailEnd type="none"/>
          </a:ln>
        </p:spPr>
        <p:txBody>
          <a:bodyPr/>
          <a:p/>
        </p:txBody>
      </p:sp>
      <p:sp>
        <p:nvSpPr>
          <p:cNvPr id="18" name="Text 16"/>
          <p:cNvSpPr txBox="1"/>
          <p:nvPr/>
        </p:nvSpPr>
        <p:spPr>
          <a:xfrm>
            <a:off x="4718304" y="3657600"/>
            <a:ext cx="228600" cy="201168"/>
          </a:xfrm>
          <a:prstGeom prst="rect">
            <a:avLst/>
          </a:prstGeom>
          <a:noFill/>
          <a:ln/>
        </p:spPr>
        <p:txBody>
          <a:bodyPr wrap="square" lIns="0" tIns="0" rIns="0" bIns="0" rtlCol="0" anchor="ctr"/>
          <a:lstStyle/>
          <a:p>
            <a:pPr marL="0" indent="0" algn="l">
              <a:buNone/>
            </a:pPr>
            <a:r>
              <a:rPr lang="en-US" sz="1100" dirty="0">
                <a:solidFill>
                  <a:srgbClr val="1A2233"/>
                </a:solidFill>
                <a:latin typeface="Arial" pitchFamily="34" charset="0"/>
                <a:ea typeface="Arial" pitchFamily="34" charset="-122"/>
                <a:cs typeface="Arial" pitchFamily="34" charset="-120"/>
              </a:rPr>
              <a:t>x</a:t>
            </a:r>
            <a:endParaRPr lang="en-US" sz="1100" dirty="0"/>
          </a:p>
        </p:txBody>
      </p:sp>
      <p:sp>
        <p:nvSpPr>
          <p:cNvPr id="19" name="Text 17"/>
          <p:cNvSpPr txBox="1"/>
          <p:nvPr/>
        </p:nvSpPr>
        <p:spPr>
          <a:xfrm>
            <a:off x="2980944" y="2103120"/>
            <a:ext cx="228600" cy="201168"/>
          </a:xfrm>
          <a:prstGeom prst="rect">
            <a:avLst/>
          </a:prstGeom>
          <a:noFill/>
          <a:ln/>
        </p:spPr>
        <p:txBody>
          <a:bodyPr wrap="square" lIns="0" tIns="0" rIns="0" bIns="0" rtlCol="0" anchor="ctr"/>
          <a:lstStyle/>
          <a:p>
            <a:pPr marL="0" indent="0" algn="l">
              <a:buNone/>
            </a:pPr>
            <a:r>
              <a:rPr lang="en-US" sz="1100" dirty="0">
                <a:solidFill>
                  <a:srgbClr val="1A2233"/>
                </a:solidFill>
                <a:latin typeface="Arial" pitchFamily="34" charset="0"/>
                <a:ea typeface="Arial" pitchFamily="34" charset="-122"/>
                <a:cs typeface="Arial" pitchFamily="34" charset="-120"/>
              </a:rPr>
              <a:t>y</a:t>
            </a:r>
            <a:endParaRPr lang="en-US" sz="1100" dirty="0"/>
          </a:p>
        </p:txBody>
      </p:sp>
      <p:sp>
        <p:nvSpPr>
          <p:cNvPr id="20" name="Text 18"/>
          <p:cNvSpPr txBox="1"/>
          <p:nvPr/>
        </p:nvSpPr>
        <p:spPr>
          <a:xfrm>
            <a:off x="4370832" y="2633472"/>
            <a:ext cx="274320" cy="201168"/>
          </a:xfrm>
          <a:prstGeom prst="rect">
            <a:avLst/>
          </a:prstGeom>
          <a:noFill/>
          <a:ln/>
        </p:spPr>
        <p:txBody>
          <a:bodyPr wrap="square" lIns="0" tIns="0" rIns="0" bIns="0" rtlCol="0" anchor="ctr"/>
          <a:lstStyle/>
          <a:p>
            <a:pPr marL="0" indent="0" algn="l">
              <a:buNone/>
            </a:pPr>
            <a:r>
              <a:rPr lang="en-US" sz="1100" dirty="0">
                <a:solidFill>
                  <a:srgbClr val="1A2233"/>
                </a:solidFill>
                <a:latin typeface="Arial" pitchFamily="34" charset="0"/>
                <a:ea typeface="Arial" pitchFamily="34" charset="-122"/>
                <a:cs typeface="Arial" pitchFamily="34" charset="-120"/>
              </a:rPr>
              <a:t>x'</a:t>
            </a:r>
            <a:endParaRPr lang="en-US" sz="1100" dirty="0"/>
          </a:p>
        </p:txBody>
      </p:sp>
      <p:sp>
        <p:nvSpPr>
          <p:cNvPr id="21" name="Text 19"/>
          <p:cNvSpPr txBox="1"/>
          <p:nvPr/>
        </p:nvSpPr>
        <p:spPr>
          <a:xfrm>
            <a:off x="1901952" y="2286000"/>
            <a:ext cx="274320" cy="201168"/>
          </a:xfrm>
          <a:prstGeom prst="rect">
            <a:avLst/>
          </a:prstGeom>
          <a:noFill/>
          <a:ln/>
        </p:spPr>
        <p:txBody>
          <a:bodyPr wrap="square" lIns="0" tIns="0" rIns="0" bIns="0" rtlCol="0" anchor="ctr"/>
          <a:lstStyle/>
          <a:p>
            <a:pPr marL="0" indent="0" algn="l">
              <a:buNone/>
            </a:pPr>
            <a:r>
              <a:rPr lang="en-US" sz="1100" dirty="0">
                <a:solidFill>
                  <a:srgbClr val="1A2233"/>
                </a:solidFill>
                <a:latin typeface="Arial" pitchFamily="34" charset="0"/>
                <a:ea typeface="Arial" pitchFamily="34" charset="-122"/>
                <a:cs typeface="Arial" pitchFamily="34" charset="-120"/>
              </a:rPr>
              <a:t>y'</a:t>
            </a:r>
            <a:endParaRPr lang="en-US" sz="1100" dirty="0"/>
          </a:p>
        </p:txBody>
      </p:sp>
      <p:sp>
        <p:nvSpPr>
          <p:cNvPr id="22" name="Text 20"/>
          <p:cNvSpPr txBox="1"/>
          <p:nvPr/>
        </p:nvSpPr>
        <p:spPr>
          <a:xfrm>
            <a:off x="4023360" y="3419856"/>
            <a:ext cx="228600" cy="201168"/>
          </a:xfrm>
          <a:prstGeom prst="rect">
            <a:avLst/>
          </a:prstGeom>
          <a:noFill/>
          <a:ln/>
        </p:spPr>
        <p:txBody>
          <a:bodyPr wrap="square" lIns="0" tIns="0" rIns="0" bIns="0" rtlCol="0" anchor="ctr"/>
          <a:lstStyle/>
          <a:p>
            <a:pPr marL="0" indent="0" algn="l">
              <a:buNone/>
            </a:pPr>
            <a:r>
              <a:rPr lang="en-US" sz="1200" dirty="0">
                <a:solidFill>
                  <a:srgbClr val="1A2233"/>
                </a:solidFill>
                <a:latin typeface="Arial" pitchFamily="34" charset="0"/>
                <a:ea typeface="Arial" pitchFamily="34" charset="-122"/>
                <a:cs typeface="Arial" pitchFamily="34" charset="-120"/>
              </a:rPr>
              <a:t>θ</a:t>
            </a:r>
            <a:endParaRPr lang="en-US" sz="1200" dirty="0"/>
          </a:p>
        </p:txBody>
      </p:sp>
      <p:sp>
        <p:nvSpPr>
          <p:cNvPr id="23" name="Text 21"/>
          <p:cNvSpPr txBox="1"/>
          <p:nvPr/>
        </p:nvSpPr>
        <p:spPr>
          <a:xfrm>
            <a:off x="2240280" y="3822192"/>
            <a:ext cx="1554480" cy="201168"/>
          </a:xfrm>
          <a:prstGeom prst="rect">
            <a:avLst/>
          </a:prstGeom>
          <a:noFill/>
          <a:ln/>
        </p:spPr>
        <p:txBody>
          <a:bodyPr wrap="square" lIns="0" tIns="0" rIns="0" bIns="0" rtlCol="0" anchor="ctr"/>
          <a:lstStyle/>
          <a:p>
            <a:pPr marL="0" indent="0" algn="ctr">
              <a:buNone/>
            </a:pPr>
            <a:r>
              <a:rPr lang="en-US" sz="950" dirty="0">
                <a:solidFill>
                  <a:srgbClr val="1A2233"/>
                </a:solidFill>
                <a:latin typeface="맑은 고딕" pitchFamily="34" charset="0"/>
                <a:ea typeface="맑은 고딕" pitchFamily="34" charset="-122"/>
                <a:cs typeface="맑은 고딕" pitchFamily="34" charset="-120"/>
              </a:rPr>
              <a:t>원점은 같다</a:t>
            </a:r>
            <a:endParaRPr lang="en-US" sz="950" dirty="0"/>
          </a:p>
        </p:txBody>
      </p:sp>
      <p:sp>
        <p:nvSpPr>
          <p:cNvPr id="24" name="Text 22"/>
          <p:cNvSpPr txBox="1"/>
          <p:nvPr/>
        </p:nvSpPr>
        <p:spPr>
          <a:xfrm>
            <a:off x="6382512" y="1371600"/>
            <a:ext cx="4937760" cy="548640"/>
          </a:xfrm>
          <a:prstGeom prst="rect">
            <a:avLst/>
          </a:prstGeom>
          <a:noFill/>
          <a:ln/>
        </p:spPr>
        <p:txBody>
          <a:bodyPr wrap="square" lIns="0" tIns="0" rIns="0" bIns="0" rtlCol="0" anchor="t"/>
          <a:lstStyle/>
          <a:p>
            <a:pPr marL="0" indent="0" algn="l">
              <a:lnSpc>
                <a:spcPct val="105000"/>
              </a:lnSpc>
              <a:spcAft>
                <a:spcPts val="400"/>
              </a:spcAft>
              <a:buNone/>
            </a:pPr>
            <a:r>
              <a:rPr lang="en-US" sz="1350" b="1" dirty="0">
                <a:solidFill>
                  <a:srgbClr val="1A2233"/>
                </a:solidFill>
                <a:latin typeface="맑은 고딕" pitchFamily="34" charset="0"/>
                <a:ea typeface="맑은 고딕" pitchFamily="34" charset="-122"/>
                <a:cs typeface="맑은 고딕" pitchFamily="34" charset="-120"/>
              </a:rPr>
              <a:t>② 평행이동 (translation) — 기준 점이 다를 때</a:t>
            </a:r>
            <a:endParaRPr lang="en-US" sz="1350" dirty="0"/>
          </a:p>
          <a:p>
            <a:pPr marL="0" indent="0" algn="l">
              <a:lnSpc>
                <a:spcPct val="105000"/>
              </a:lnSpc>
              <a:buNone/>
            </a:pPr>
            <a:r>
              <a:rPr lang="en-US" sz="1050" dirty="0">
                <a:solidFill>
                  <a:srgbClr val="5A6478"/>
                </a:solidFill>
                <a:latin typeface="맑은 고딕" pitchFamily="34" charset="0"/>
                <a:ea typeface="맑은 고딕" pitchFamily="34" charset="-122"/>
                <a:cs typeface="맑은 고딕" pitchFamily="34" charset="-120"/>
              </a:rPr>
              <a:t>두 좌표계의 원점이 떨어진 만큼 t 옮겨서 맞춘다</a:t>
            </a:r>
            <a:endParaRPr lang="en-US" sz="1350" dirty="0"/>
          </a:p>
        </p:txBody>
      </p:sp>
      <p:sp>
        <p:nvSpPr>
          <p:cNvPr id="25" name="Shape 23"/>
          <p:cNvSpPr/>
          <p:nvPr/>
        </p:nvSpPr>
        <p:spPr>
          <a:xfrm rot="-5400000">
            <a:off x="6702552" y="3172968"/>
            <a:ext cx="1078992" cy="0"/>
          </a:xfrm>
          <a:prstGeom prst="line">
            <a:avLst/>
          </a:prstGeom>
          <a:noFill/>
          <a:ln w="15240">
            <a:solidFill>
              <a:srgbClr val="13233F"/>
            </a:solidFill>
            <a:prstDash val="solid"/>
            <a:headEnd type="none"/>
            <a:tailEnd type="triangle"/>
          </a:ln>
        </p:spPr>
        <p:txBody>
          <a:bodyPr/>
          <a:p/>
        </p:txBody>
      </p:sp>
      <p:sp>
        <p:nvSpPr>
          <p:cNvPr id="26" name="Shape 24"/>
          <p:cNvSpPr/>
          <p:nvPr/>
        </p:nvSpPr>
        <p:spPr>
          <a:xfrm>
            <a:off x="7242048" y="3712464"/>
            <a:ext cx="1097280" cy="0"/>
          </a:xfrm>
          <a:prstGeom prst="line">
            <a:avLst/>
          </a:prstGeom>
          <a:noFill/>
          <a:ln w="15240">
            <a:solidFill>
              <a:srgbClr val="13233F"/>
            </a:solidFill>
            <a:prstDash val="solid"/>
            <a:headEnd type="none"/>
            <a:tailEnd type="triangle"/>
          </a:ln>
        </p:spPr>
        <p:txBody>
          <a:bodyPr/>
          <a:p/>
        </p:txBody>
      </p:sp>
      <p:sp>
        <p:nvSpPr>
          <p:cNvPr id="27" name="Shape 25"/>
          <p:cNvSpPr/>
          <p:nvPr/>
        </p:nvSpPr>
        <p:spPr>
          <a:xfrm rot="-5400000">
            <a:off x="8906256" y="2761488"/>
            <a:ext cx="1097280" cy="0"/>
          </a:xfrm>
          <a:prstGeom prst="line">
            <a:avLst/>
          </a:prstGeom>
          <a:noFill/>
          <a:ln w="15240">
            <a:solidFill>
              <a:srgbClr val="13233F"/>
            </a:solidFill>
            <a:prstDash val="solid"/>
            <a:headEnd type="none"/>
            <a:tailEnd type="triangle"/>
          </a:ln>
        </p:spPr>
        <p:txBody>
          <a:bodyPr/>
          <a:p/>
        </p:txBody>
      </p:sp>
      <p:sp>
        <p:nvSpPr>
          <p:cNvPr id="28" name="Shape 26"/>
          <p:cNvSpPr/>
          <p:nvPr/>
        </p:nvSpPr>
        <p:spPr>
          <a:xfrm>
            <a:off x="9454896" y="3310128"/>
            <a:ext cx="1207008" cy="0"/>
          </a:xfrm>
          <a:prstGeom prst="line">
            <a:avLst/>
          </a:prstGeom>
          <a:noFill/>
          <a:ln w="15240">
            <a:solidFill>
              <a:srgbClr val="13233F"/>
            </a:solidFill>
            <a:prstDash val="solid"/>
            <a:headEnd type="none"/>
            <a:tailEnd type="triangle"/>
          </a:ln>
        </p:spPr>
        <p:txBody>
          <a:bodyPr/>
          <a:p/>
        </p:txBody>
      </p:sp>
      <p:sp>
        <p:nvSpPr>
          <p:cNvPr id="29" name="Shape 27"/>
          <p:cNvSpPr/>
          <p:nvPr/>
        </p:nvSpPr>
        <p:spPr>
          <a:xfrm rot="-598017">
            <a:off x="7225304" y="3520440"/>
            <a:ext cx="2218904" cy="0"/>
          </a:xfrm>
          <a:prstGeom prst="line">
            <a:avLst/>
          </a:prstGeom>
          <a:noFill/>
          <a:ln w="17145">
            <a:solidFill>
              <a:srgbClr val="13233F"/>
            </a:solidFill>
            <a:prstDash val="solid"/>
            <a:headEnd type="none"/>
            <a:tailEnd type="triangle"/>
          </a:ln>
        </p:spPr>
        <p:txBody>
          <a:bodyPr/>
          <a:p/>
        </p:txBody>
      </p:sp>
      <p:sp>
        <p:nvSpPr>
          <p:cNvPr id="30" name="Text 28"/>
          <p:cNvSpPr txBox="1"/>
          <p:nvPr/>
        </p:nvSpPr>
        <p:spPr>
          <a:xfrm>
            <a:off x="7196328" y="2450592"/>
            <a:ext cx="228600" cy="201168"/>
          </a:xfrm>
          <a:prstGeom prst="rect">
            <a:avLst/>
          </a:prstGeom>
          <a:noFill/>
          <a:ln/>
        </p:spPr>
        <p:txBody>
          <a:bodyPr wrap="square" lIns="0" tIns="0" rIns="0" bIns="0" rtlCol="0" anchor="ctr"/>
          <a:lstStyle/>
          <a:p>
            <a:pPr marL="0" indent="0" algn="l">
              <a:buNone/>
            </a:pPr>
            <a:r>
              <a:rPr lang="en-US" sz="1100" dirty="0">
                <a:solidFill>
                  <a:srgbClr val="1A2233"/>
                </a:solidFill>
                <a:latin typeface="Arial" pitchFamily="34" charset="0"/>
                <a:ea typeface="Arial" pitchFamily="34" charset="-122"/>
                <a:cs typeface="Arial" pitchFamily="34" charset="-120"/>
              </a:rPr>
              <a:t>y</a:t>
            </a:r>
            <a:endParaRPr lang="en-US" sz="1100" dirty="0"/>
          </a:p>
        </p:txBody>
      </p:sp>
      <p:sp>
        <p:nvSpPr>
          <p:cNvPr id="31" name="Text 29"/>
          <p:cNvSpPr txBox="1"/>
          <p:nvPr/>
        </p:nvSpPr>
        <p:spPr>
          <a:xfrm>
            <a:off x="8412480" y="3694176"/>
            <a:ext cx="228600" cy="201168"/>
          </a:xfrm>
          <a:prstGeom prst="rect">
            <a:avLst/>
          </a:prstGeom>
          <a:noFill/>
          <a:ln/>
        </p:spPr>
        <p:txBody>
          <a:bodyPr wrap="square" lIns="0" tIns="0" rIns="0" bIns="0" rtlCol="0" anchor="ctr"/>
          <a:lstStyle/>
          <a:p>
            <a:pPr marL="0" indent="0" algn="l">
              <a:buNone/>
            </a:pPr>
            <a:r>
              <a:rPr lang="en-US" sz="1100" dirty="0">
                <a:solidFill>
                  <a:srgbClr val="1A2233"/>
                </a:solidFill>
                <a:latin typeface="Arial" pitchFamily="34" charset="0"/>
                <a:ea typeface="Arial" pitchFamily="34" charset="-122"/>
                <a:cs typeface="Arial" pitchFamily="34" charset="-120"/>
              </a:rPr>
              <a:t>x</a:t>
            </a:r>
            <a:endParaRPr lang="en-US" sz="1100" dirty="0"/>
          </a:p>
        </p:txBody>
      </p:sp>
      <p:sp>
        <p:nvSpPr>
          <p:cNvPr id="32" name="Text 30"/>
          <p:cNvSpPr txBox="1"/>
          <p:nvPr/>
        </p:nvSpPr>
        <p:spPr>
          <a:xfrm>
            <a:off x="9409176" y="2029968"/>
            <a:ext cx="274320" cy="201168"/>
          </a:xfrm>
          <a:prstGeom prst="rect">
            <a:avLst/>
          </a:prstGeom>
          <a:noFill/>
          <a:ln/>
        </p:spPr>
        <p:txBody>
          <a:bodyPr wrap="square" lIns="0" tIns="0" rIns="0" bIns="0" rtlCol="0" anchor="ctr"/>
          <a:lstStyle/>
          <a:p>
            <a:pPr marL="0" indent="0" algn="l">
              <a:buNone/>
            </a:pPr>
            <a:r>
              <a:rPr lang="en-US" sz="1100" dirty="0">
                <a:solidFill>
                  <a:srgbClr val="1A2233"/>
                </a:solidFill>
                <a:latin typeface="Arial" pitchFamily="34" charset="0"/>
                <a:ea typeface="Arial" pitchFamily="34" charset="-122"/>
                <a:cs typeface="Arial" pitchFamily="34" charset="-120"/>
              </a:rPr>
              <a:t>y'</a:t>
            </a:r>
            <a:endParaRPr lang="en-US" sz="1100" dirty="0"/>
          </a:p>
        </p:txBody>
      </p:sp>
      <p:sp>
        <p:nvSpPr>
          <p:cNvPr id="33" name="Text 31"/>
          <p:cNvSpPr txBox="1"/>
          <p:nvPr/>
        </p:nvSpPr>
        <p:spPr>
          <a:xfrm>
            <a:off x="10735056" y="3291840"/>
            <a:ext cx="274320" cy="201168"/>
          </a:xfrm>
          <a:prstGeom prst="rect">
            <a:avLst/>
          </a:prstGeom>
          <a:noFill/>
          <a:ln/>
        </p:spPr>
        <p:txBody>
          <a:bodyPr wrap="square" lIns="0" tIns="0" rIns="0" bIns="0" rtlCol="0" anchor="ctr"/>
          <a:lstStyle/>
          <a:p>
            <a:pPr marL="0" indent="0" algn="l">
              <a:buNone/>
            </a:pPr>
            <a:r>
              <a:rPr lang="en-US" sz="1100" dirty="0">
                <a:solidFill>
                  <a:srgbClr val="1A2233"/>
                </a:solidFill>
                <a:latin typeface="Arial" pitchFamily="34" charset="0"/>
                <a:ea typeface="Arial" pitchFamily="34" charset="-122"/>
                <a:cs typeface="Arial" pitchFamily="34" charset="-120"/>
              </a:rPr>
              <a:t>x'</a:t>
            </a:r>
            <a:endParaRPr lang="en-US" sz="1100" dirty="0"/>
          </a:p>
        </p:txBody>
      </p:sp>
      <p:sp>
        <p:nvSpPr>
          <p:cNvPr id="34" name="Text 32"/>
          <p:cNvSpPr txBox="1"/>
          <p:nvPr/>
        </p:nvSpPr>
        <p:spPr>
          <a:xfrm>
            <a:off x="8321040" y="3346704"/>
            <a:ext cx="228600" cy="201168"/>
          </a:xfrm>
          <a:prstGeom prst="rect">
            <a:avLst/>
          </a:prstGeom>
          <a:noFill/>
          <a:ln/>
        </p:spPr>
        <p:txBody>
          <a:bodyPr wrap="square" lIns="0" tIns="0" rIns="0" bIns="0" rtlCol="0" anchor="ctr"/>
          <a:lstStyle/>
          <a:p>
            <a:pPr marL="0" indent="0" algn="l">
              <a:buNone/>
            </a:pPr>
            <a:r>
              <a:rPr lang="en-US" sz="1200" dirty="0">
                <a:solidFill>
                  <a:srgbClr val="1A2233"/>
                </a:solidFill>
                <a:latin typeface="Arial" pitchFamily="34" charset="0"/>
                <a:ea typeface="Arial" pitchFamily="34" charset="-122"/>
                <a:cs typeface="Arial" pitchFamily="34" charset="-120"/>
              </a:rPr>
              <a:t>t</a:t>
            </a:r>
            <a:endParaRPr lang="en-US" sz="1200" dirty="0"/>
          </a:p>
        </p:txBody>
      </p:sp>
      <p:sp>
        <p:nvSpPr>
          <p:cNvPr id="35" name="Text 33"/>
          <p:cNvSpPr txBox="1"/>
          <p:nvPr/>
        </p:nvSpPr>
        <p:spPr>
          <a:xfrm>
            <a:off x="6739128" y="3931920"/>
            <a:ext cx="1737360" cy="201168"/>
          </a:xfrm>
          <a:prstGeom prst="rect">
            <a:avLst/>
          </a:prstGeom>
          <a:noFill/>
          <a:ln/>
        </p:spPr>
        <p:txBody>
          <a:bodyPr wrap="square" lIns="0" tIns="0" rIns="0" bIns="0" rtlCol="0" anchor="ctr"/>
          <a:lstStyle/>
          <a:p>
            <a:pPr marL="0" indent="0" algn="ctr">
              <a:buNone/>
            </a:pPr>
            <a:r>
              <a:rPr lang="en-US" sz="950" dirty="0">
                <a:solidFill>
                  <a:srgbClr val="1A2233"/>
                </a:solidFill>
                <a:latin typeface="맑은 고딕" pitchFamily="34" charset="0"/>
                <a:ea typeface="맑은 고딕" pitchFamily="34" charset="-122"/>
                <a:cs typeface="맑은 고딕" pitchFamily="34" charset="-120"/>
              </a:rPr>
              <a:t>축방향은 같다</a:t>
            </a:r>
            <a:endParaRPr lang="en-US" sz="950" dirty="0"/>
          </a:p>
        </p:txBody>
      </p:sp>
      <p:sp>
        <p:nvSpPr>
          <p:cNvPr id="36" name="Shape 34"/>
          <p:cNvSpPr/>
          <p:nvPr/>
        </p:nvSpPr>
        <p:spPr>
          <a:xfrm>
            <a:off x="914400" y="4352544"/>
            <a:ext cx="4882896" cy="676656"/>
          </a:xfrm>
          <a:prstGeom prst="roundRect">
            <a:avLst>
              <a:gd name="adj" fmla="val 8108"/>
            </a:avLst>
          </a:prstGeom>
          <a:solidFill>
            <a:srgbClr val="34507F"/>
          </a:solidFill>
          <a:ln/>
        </p:spPr>
        <p:txBody>
          <a:bodyPr/>
          <a:p/>
        </p:txBody>
      </p:sp>
      <p:sp>
        <p:nvSpPr>
          <p:cNvPr id="37" name="Text 35"/>
          <p:cNvSpPr txBox="1"/>
          <p:nvPr/>
        </p:nvSpPr>
        <p:spPr>
          <a:xfrm>
            <a:off x="1115568" y="4453128"/>
            <a:ext cx="4572000" cy="512064"/>
          </a:xfrm>
          <a:prstGeom prst="rect">
            <a:avLst/>
          </a:prstGeom>
          <a:noFill/>
          <a:ln/>
        </p:spPr>
        <p:txBody>
          <a:bodyPr wrap="square" lIns="0" tIns="0" rIns="0" bIns="0" rtlCol="0" anchor="t"/>
          <a:lstStyle/>
          <a:p>
            <a:pPr marL="0" indent="0" algn="l">
              <a:lnSpc>
                <a:spcPct val="105000"/>
              </a:lnSpc>
              <a:spcAft>
                <a:spcPts val="500"/>
              </a:spcAft>
              <a:buNone/>
            </a:pPr>
            <a:r>
              <a:rPr lang="en-US" sz="1400" b="1" dirty="0">
                <a:solidFill>
                  <a:srgbClr val="FFFFFF"/>
                </a:solidFill>
                <a:latin typeface="맑은 고딕" pitchFamily="34" charset="0"/>
                <a:ea typeface="맑은 고딕" pitchFamily="34" charset="-122"/>
                <a:cs typeface="맑은 고딕" pitchFamily="34" charset="-120"/>
              </a:rPr>
              <a:t>1. 회전 – 방향만 바꾼다</a:t>
            </a:r>
            <a:endParaRPr lang="en-US" sz="1400" dirty="0"/>
          </a:p>
          <a:p>
            <a:pPr marL="0" indent="0" algn="l">
              <a:lnSpc>
                <a:spcPct val="105000"/>
              </a:lnSpc>
              <a:buNone/>
            </a:pPr>
            <a:r>
              <a:rPr lang="en-US" sz="900" dirty="0">
                <a:solidFill>
                  <a:srgbClr val="C9D6EC"/>
                </a:solidFill>
                <a:latin typeface="맑은 고딕" pitchFamily="34" charset="0"/>
                <a:ea typeface="맑은 고딕" pitchFamily="34" charset="-122"/>
                <a:cs typeface="맑은 고딕" pitchFamily="34" charset="-120"/>
              </a:rPr>
              <a:t>길이도 각도도 변하지 않는다. 축을 돌려 다시 읽을 뿐이다.</a:t>
            </a:r>
            <a:endParaRPr lang="en-US" sz="1400" dirty="0"/>
          </a:p>
        </p:txBody>
      </p:sp>
      <p:sp>
        <p:nvSpPr>
          <p:cNvPr id="38" name="Shape 36"/>
          <p:cNvSpPr/>
          <p:nvPr/>
        </p:nvSpPr>
        <p:spPr>
          <a:xfrm>
            <a:off x="6391656" y="4352544"/>
            <a:ext cx="4882896" cy="676656"/>
          </a:xfrm>
          <a:prstGeom prst="roundRect">
            <a:avLst>
              <a:gd name="adj" fmla="val 8108"/>
            </a:avLst>
          </a:prstGeom>
          <a:solidFill>
            <a:srgbClr val="34507F"/>
          </a:solidFill>
          <a:ln/>
        </p:spPr>
        <p:txBody>
          <a:bodyPr/>
          <a:p/>
        </p:txBody>
      </p:sp>
      <p:sp>
        <p:nvSpPr>
          <p:cNvPr id="39" name="Text 37"/>
          <p:cNvSpPr txBox="1"/>
          <p:nvPr/>
        </p:nvSpPr>
        <p:spPr>
          <a:xfrm>
            <a:off x="6592824" y="4453128"/>
            <a:ext cx="4572000" cy="512064"/>
          </a:xfrm>
          <a:prstGeom prst="rect">
            <a:avLst/>
          </a:prstGeom>
          <a:noFill/>
          <a:ln/>
        </p:spPr>
        <p:txBody>
          <a:bodyPr wrap="square" lIns="0" tIns="0" rIns="0" bIns="0" rtlCol="0" anchor="t"/>
          <a:lstStyle/>
          <a:p>
            <a:pPr marL="0" indent="0" algn="l">
              <a:lnSpc>
                <a:spcPct val="105000"/>
              </a:lnSpc>
              <a:spcAft>
                <a:spcPts val="500"/>
              </a:spcAft>
              <a:buNone/>
            </a:pPr>
            <a:r>
              <a:rPr lang="en-US" sz="1400" b="1" dirty="0">
                <a:solidFill>
                  <a:srgbClr val="FFFFFF"/>
                </a:solidFill>
                <a:latin typeface="맑은 고딕" pitchFamily="34" charset="0"/>
                <a:ea typeface="맑은 고딕" pitchFamily="34" charset="-122"/>
                <a:cs typeface="맑은 고딕" pitchFamily="34" charset="-120"/>
              </a:rPr>
              <a:t>2. 평행이동 – 자리만 옮긴다</a:t>
            </a:r>
            <a:endParaRPr lang="en-US" sz="1400" dirty="0"/>
          </a:p>
          <a:p>
            <a:pPr marL="0" indent="0" algn="l">
              <a:lnSpc>
                <a:spcPct val="105000"/>
              </a:lnSpc>
              <a:buNone/>
            </a:pPr>
            <a:r>
              <a:rPr lang="en-US" sz="900" dirty="0">
                <a:solidFill>
                  <a:srgbClr val="C9D6EC"/>
                </a:solidFill>
                <a:latin typeface="맑은 고딕" pitchFamily="34" charset="0"/>
                <a:ea typeface="맑은 고딕" pitchFamily="34" charset="-122"/>
                <a:cs typeface="맑은 고딕" pitchFamily="34" charset="-120"/>
              </a:rPr>
              <a:t>방향은 그대로다. 원점 사이의 차이를 벡터 하나로 더하거나 뺀다.</a:t>
            </a:r>
            <a:endParaRPr lang="en-US" sz="1400" dirty="0"/>
          </a:p>
        </p:txBody>
      </p:sp>
      <p:sp>
        <p:nvSpPr>
          <p:cNvPr id="40" name="Shape 38"/>
          <p:cNvSpPr/>
          <p:nvPr/>
        </p:nvSpPr>
        <p:spPr>
          <a:xfrm>
            <a:off x="914400" y="5157216"/>
            <a:ext cx="10360152" cy="713232"/>
          </a:xfrm>
          <a:prstGeom prst="roundRect">
            <a:avLst>
              <a:gd name="adj" fmla="val 6410"/>
            </a:avLst>
          </a:prstGeom>
          <a:solidFill>
            <a:srgbClr val="EEF1F7"/>
          </a:solidFill>
          <a:ln/>
        </p:spPr>
        <p:txBody>
          <a:bodyPr/>
          <a:p/>
        </p:txBody>
      </p:sp>
      <p:sp>
        <p:nvSpPr>
          <p:cNvPr id="41" name="Text 39"/>
          <p:cNvSpPr txBox="1"/>
          <p:nvPr/>
        </p:nvSpPr>
        <p:spPr>
          <a:xfrm>
            <a:off x="1097280" y="5294376"/>
            <a:ext cx="9994392" cy="548640"/>
          </a:xfrm>
          <a:prstGeom prst="rect">
            <a:avLst/>
          </a:prstGeom>
          <a:noFill/>
          <a:ln/>
        </p:spPr>
        <p:txBody>
          <a:bodyPr wrap="square" lIns="0" tIns="0" rIns="0" bIns="0" rtlCol="0" anchor="t"/>
          <a:lstStyle/>
          <a:p>
            <a:pPr marL="0" indent="0" algn="ctr">
              <a:lnSpc>
                <a:spcPct val="105000"/>
              </a:lnSpc>
              <a:spcAft>
                <a:spcPts val="600"/>
              </a:spcAft>
              <a:buNone/>
            </a:pPr>
            <a:r>
              <a:rPr lang="en-US" sz="1800" b="1" dirty="0">
                <a:solidFill>
                  <a:srgbClr val="1A2233"/>
                </a:solidFill>
                <a:latin typeface="맑은 고딕" pitchFamily="34" charset="0"/>
                <a:ea typeface="맑은 고딕" pitchFamily="34" charset="-122"/>
                <a:cs typeface="맑은 고딕" pitchFamily="34" charset="-120"/>
              </a:rPr>
              <a:t>새 좌표   =   R   ·   기존 좌표   +   t</a:t>
            </a:r>
            <a:endParaRPr lang="en-US" sz="1800" dirty="0"/>
          </a:p>
          <a:p>
            <a:pPr marL="0" indent="0" algn="ctr">
              <a:lnSpc>
                <a:spcPct val="105000"/>
              </a:lnSpc>
              <a:buNone/>
            </a:pPr>
            <a:r>
              <a:rPr lang="en-US" sz="1000" dirty="0">
                <a:solidFill>
                  <a:srgbClr val="5A6478"/>
                </a:solidFill>
                <a:latin typeface="맑은 고딕" pitchFamily="34" charset="0"/>
                <a:ea typeface="맑은 고딕" pitchFamily="34" charset="-122"/>
                <a:cs typeface="맑은 고딕" pitchFamily="34" charset="-120"/>
              </a:rPr>
              <a:t>R 회전행렬 (3 x 3) ·  t 평행이동 (3 x 1).    모든 단계는 이 두 개로 동작한다.</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00. 회전행렬의 유도와 성질</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6</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삼각함수 덧셈정리 한 줄에서 나온다.</a:t>
            </a:r>
            <a:endParaRPr lang="en-US" sz="1450" dirty="0"/>
          </a:p>
        </p:txBody>
      </p:sp>
      <p:sp>
        <p:nvSpPr>
          <p:cNvPr id="10" name="Shape 8"/>
          <p:cNvSpPr/>
          <p:nvPr/>
        </p:nvSpPr>
        <p:spPr>
          <a:xfrm>
            <a:off x="1207008" y="4315968"/>
            <a:ext cx="1572768" cy="0"/>
          </a:xfrm>
          <a:prstGeom prst="line">
            <a:avLst/>
          </a:prstGeom>
          <a:noFill/>
          <a:ln w="14605">
            <a:solidFill>
              <a:srgbClr val="13233F"/>
            </a:solidFill>
            <a:prstDash val="solid"/>
            <a:headEnd type="none"/>
            <a:tailEnd type="triangle"/>
          </a:ln>
        </p:spPr>
        <p:txBody>
          <a:bodyPr/>
          <a:p/>
        </p:txBody>
      </p:sp>
      <p:sp>
        <p:nvSpPr>
          <p:cNvPr id="11" name="Shape 9"/>
          <p:cNvSpPr/>
          <p:nvPr/>
        </p:nvSpPr>
        <p:spPr>
          <a:xfrm rot="-5400000">
            <a:off x="164592" y="3273552"/>
            <a:ext cx="2084832" cy="0"/>
          </a:xfrm>
          <a:prstGeom prst="line">
            <a:avLst/>
          </a:prstGeom>
          <a:noFill/>
          <a:ln w="14605">
            <a:solidFill>
              <a:srgbClr val="13233F"/>
            </a:solidFill>
            <a:prstDash val="solid"/>
            <a:headEnd type="none"/>
            <a:tailEnd type="triangle"/>
          </a:ln>
        </p:spPr>
        <p:txBody>
          <a:bodyPr/>
          <a:p/>
        </p:txBody>
      </p:sp>
      <p:sp>
        <p:nvSpPr>
          <p:cNvPr id="12" name="Text 10"/>
          <p:cNvSpPr txBox="1"/>
          <p:nvPr/>
        </p:nvSpPr>
        <p:spPr>
          <a:xfrm>
            <a:off x="2834640" y="4297680"/>
            <a:ext cx="22860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x</a:t>
            </a:r>
            <a:endParaRPr lang="en-US" sz="1000" dirty="0"/>
          </a:p>
        </p:txBody>
      </p:sp>
      <p:sp>
        <p:nvSpPr>
          <p:cNvPr id="13" name="Text 11"/>
          <p:cNvSpPr txBox="1"/>
          <p:nvPr/>
        </p:nvSpPr>
        <p:spPr>
          <a:xfrm>
            <a:off x="1170432" y="2048256"/>
            <a:ext cx="22860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y</a:t>
            </a:r>
            <a:endParaRPr lang="en-US" sz="1000" dirty="0"/>
          </a:p>
        </p:txBody>
      </p:sp>
      <p:sp>
        <p:nvSpPr>
          <p:cNvPr id="14" name="Shape 12"/>
          <p:cNvSpPr/>
          <p:nvPr/>
        </p:nvSpPr>
        <p:spPr>
          <a:xfrm rot="-1529853">
            <a:off x="1142873" y="4032504"/>
            <a:ext cx="1316990" cy="0"/>
          </a:xfrm>
          <a:prstGeom prst="line">
            <a:avLst/>
          </a:prstGeom>
          <a:noFill/>
          <a:ln w="15240">
            <a:solidFill>
              <a:srgbClr val="13233F"/>
            </a:solidFill>
            <a:prstDash val="solid"/>
            <a:headEnd type="none"/>
            <a:tailEnd type="triangle"/>
          </a:ln>
        </p:spPr>
        <p:txBody>
          <a:bodyPr/>
          <a:p/>
        </p:txBody>
      </p:sp>
      <p:sp>
        <p:nvSpPr>
          <p:cNvPr id="15" name="Shape 13"/>
          <p:cNvSpPr/>
          <p:nvPr/>
        </p:nvSpPr>
        <p:spPr>
          <a:xfrm rot="-3705016">
            <a:off x="840707" y="3703320"/>
            <a:ext cx="1390970" cy="0"/>
          </a:xfrm>
          <a:prstGeom prst="line">
            <a:avLst/>
          </a:prstGeom>
          <a:noFill/>
          <a:ln w="15240">
            <a:solidFill>
              <a:srgbClr val="13233F"/>
            </a:solidFill>
            <a:prstDash val="dash"/>
            <a:headEnd type="none"/>
            <a:tailEnd type="triangle"/>
          </a:ln>
        </p:spPr>
        <p:txBody>
          <a:bodyPr/>
          <a:p/>
        </p:txBody>
      </p:sp>
      <p:sp>
        <p:nvSpPr>
          <p:cNvPr id="16" name="Shape 14"/>
          <p:cNvSpPr/>
          <p:nvPr/>
        </p:nvSpPr>
        <p:spPr>
          <a:xfrm>
            <a:off x="2354580" y="3707892"/>
            <a:ext cx="82296" cy="82296"/>
          </a:xfrm>
          <a:prstGeom prst="ellipse">
            <a:avLst/>
          </a:prstGeom>
          <a:solidFill>
            <a:srgbClr val="13233F"/>
          </a:solidFill>
          <a:ln/>
        </p:spPr>
        <p:txBody>
          <a:bodyPr/>
          <a:p/>
        </p:txBody>
      </p:sp>
      <p:sp>
        <p:nvSpPr>
          <p:cNvPr id="17" name="Shape 15"/>
          <p:cNvSpPr/>
          <p:nvPr/>
        </p:nvSpPr>
        <p:spPr>
          <a:xfrm>
            <a:off x="1824228" y="3049524"/>
            <a:ext cx="82296" cy="82296"/>
          </a:xfrm>
          <a:prstGeom prst="ellipse">
            <a:avLst/>
          </a:prstGeom>
          <a:solidFill>
            <a:srgbClr val="13233F"/>
          </a:solidFill>
          <a:ln/>
        </p:spPr>
        <p:txBody>
          <a:bodyPr/>
          <a:p/>
        </p:txBody>
      </p:sp>
      <p:sp>
        <p:nvSpPr>
          <p:cNvPr id="18" name="Text 16"/>
          <p:cNvSpPr txBox="1"/>
          <p:nvPr/>
        </p:nvSpPr>
        <p:spPr>
          <a:xfrm>
            <a:off x="1042416" y="2907792"/>
            <a:ext cx="914400" cy="201168"/>
          </a:xfrm>
          <a:prstGeom prst="rect">
            <a:avLst/>
          </a:prstGeom>
          <a:noFill/>
          <a:ln/>
        </p:spPr>
        <p:txBody>
          <a:bodyPr wrap="square" lIns="0" tIns="0" rIns="0" bIns="0" rtlCol="0" anchor="ctr"/>
          <a:lstStyle/>
          <a:p>
            <a:pPr marL="0" indent="0" algn="r">
              <a:buNone/>
            </a:pPr>
            <a:r>
              <a:rPr lang="en-US" sz="900" dirty="0">
                <a:solidFill>
                  <a:srgbClr val="1A2233"/>
                </a:solidFill>
                <a:latin typeface="맑은 고딕" pitchFamily="34" charset="0"/>
                <a:ea typeface="맑은 고딕" pitchFamily="34" charset="-122"/>
                <a:cs typeface="맑은 고딕" pitchFamily="34" charset="-120"/>
              </a:rPr>
              <a:t>P'(x', y')</a:t>
            </a:r>
            <a:endParaRPr lang="en-US" sz="900" dirty="0"/>
          </a:p>
        </p:txBody>
      </p:sp>
      <p:sp>
        <p:nvSpPr>
          <p:cNvPr id="19" name="Text 17"/>
          <p:cNvSpPr txBox="1"/>
          <p:nvPr/>
        </p:nvSpPr>
        <p:spPr>
          <a:xfrm>
            <a:off x="2450592" y="3767328"/>
            <a:ext cx="77724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P (x, y)</a:t>
            </a:r>
            <a:endParaRPr lang="en-US" sz="900" dirty="0"/>
          </a:p>
        </p:txBody>
      </p:sp>
      <p:sp>
        <p:nvSpPr>
          <p:cNvPr id="20" name="Shape 18"/>
          <p:cNvSpPr/>
          <p:nvPr/>
        </p:nvSpPr>
        <p:spPr>
          <a:xfrm rot="4150000">
            <a:off x="1639263" y="4137577"/>
            <a:ext cx="73082" cy="0"/>
          </a:xfrm>
          <a:prstGeom prst="line">
            <a:avLst/>
          </a:prstGeom>
          <a:noFill/>
          <a:ln w="12700">
            <a:solidFill>
              <a:srgbClr val="13233F"/>
            </a:solidFill>
            <a:prstDash val="solid"/>
            <a:headEnd type="none"/>
            <a:tailEnd type="none"/>
          </a:ln>
        </p:spPr>
        <p:txBody>
          <a:bodyPr/>
          <a:p/>
        </p:txBody>
      </p:sp>
      <p:sp>
        <p:nvSpPr>
          <p:cNvPr id="21" name="Shape 19"/>
          <p:cNvSpPr/>
          <p:nvPr/>
        </p:nvSpPr>
        <p:spPr>
          <a:xfrm rot="4650000">
            <a:off x="1660168" y="4207404"/>
            <a:ext cx="73082" cy="0"/>
          </a:xfrm>
          <a:prstGeom prst="line">
            <a:avLst/>
          </a:prstGeom>
          <a:noFill/>
          <a:ln w="12700">
            <a:solidFill>
              <a:srgbClr val="13233F"/>
            </a:solidFill>
            <a:prstDash val="solid"/>
            <a:headEnd type="none"/>
            <a:tailEnd type="none"/>
          </a:ln>
        </p:spPr>
        <p:txBody>
          <a:bodyPr/>
          <a:p/>
        </p:txBody>
      </p:sp>
      <p:sp>
        <p:nvSpPr>
          <p:cNvPr id="22" name="Shape 20"/>
          <p:cNvSpPr/>
          <p:nvPr/>
        </p:nvSpPr>
        <p:spPr>
          <a:xfrm rot="5150000">
            <a:off x="1670732" y="4279523"/>
            <a:ext cx="73082" cy="0"/>
          </a:xfrm>
          <a:prstGeom prst="line">
            <a:avLst/>
          </a:prstGeom>
          <a:noFill/>
          <a:ln w="12700">
            <a:solidFill>
              <a:srgbClr val="13233F"/>
            </a:solidFill>
            <a:prstDash val="solid"/>
            <a:headEnd type="none"/>
            <a:tailEnd type="none"/>
          </a:ln>
        </p:spPr>
        <p:txBody>
          <a:bodyPr/>
          <a:p/>
        </p:txBody>
      </p:sp>
      <p:sp>
        <p:nvSpPr>
          <p:cNvPr id="23" name="Shape 21"/>
          <p:cNvSpPr/>
          <p:nvPr/>
        </p:nvSpPr>
        <p:spPr>
          <a:xfrm rot="1902000">
            <a:off x="1619080" y="3555135"/>
            <a:ext cx="115656" cy="0"/>
          </a:xfrm>
          <a:prstGeom prst="line">
            <a:avLst/>
          </a:prstGeom>
          <a:noFill/>
          <a:ln w="12700">
            <a:solidFill>
              <a:srgbClr val="13233F"/>
            </a:solidFill>
            <a:prstDash val="solid"/>
            <a:headEnd type="none"/>
            <a:tailEnd type="none"/>
          </a:ln>
        </p:spPr>
        <p:txBody>
          <a:bodyPr/>
          <a:p/>
        </p:txBody>
      </p:sp>
      <p:sp>
        <p:nvSpPr>
          <p:cNvPr id="24" name="Shape 22"/>
          <p:cNvSpPr/>
          <p:nvPr/>
        </p:nvSpPr>
        <p:spPr>
          <a:xfrm rot="2346000">
            <a:off x="1713158" y="3621993"/>
            <a:ext cx="115656" cy="0"/>
          </a:xfrm>
          <a:prstGeom prst="line">
            <a:avLst/>
          </a:prstGeom>
          <a:noFill/>
          <a:ln w="12700">
            <a:solidFill>
              <a:srgbClr val="13233F"/>
            </a:solidFill>
            <a:prstDash val="solid"/>
            <a:headEnd type="none"/>
            <a:tailEnd type="none"/>
          </a:ln>
        </p:spPr>
        <p:txBody>
          <a:bodyPr/>
          <a:p/>
        </p:txBody>
      </p:sp>
      <p:sp>
        <p:nvSpPr>
          <p:cNvPr id="25" name="Shape 23"/>
          <p:cNvSpPr/>
          <p:nvPr/>
        </p:nvSpPr>
        <p:spPr>
          <a:xfrm rot="2790000">
            <a:off x="1797842" y="3700411"/>
            <a:ext cx="115656" cy="0"/>
          </a:xfrm>
          <a:prstGeom prst="line">
            <a:avLst/>
          </a:prstGeom>
          <a:noFill/>
          <a:ln w="12700">
            <a:solidFill>
              <a:srgbClr val="13233F"/>
            </a:solidFill>
            <a:prstDash val="solid"/>
            <a:headEnd type="none"/>
            <a:tailEnd type="none"/>
          </a:ln>
        </p:spPr>
        <p:txBody>
          <a:bodyPr/>
          <a:p/>
        </p:txBody>
      </p:sp>
      <p:sp>
        <p:nvSpPr>
          <p:cNvPr id="26" name="Shape 24"/>
          <p:cNvSpPr/>
          <p:nvPr/>
        </p:nvSpPr>
        <p:spPr>
          <a:xfrm rot="3234000">
            <a:off x="1871720" y="3789083"/>
            <a:ext cx="115656" cy="0"/>
          </a:xfrm>
          <a:prstGeom prst="line">
            <a:avLst/>
          </a:prstGeom>
          <a:noFill/>
          <a:ln w="12700">
            <a:solidFill>
              <a:srgbClr val="13233F"/>
            </a:solidFill>
            <a:prstDash val="solid"/>
            <a:headEnd type="none"/>
            <a:tailEnd type="none"/>
          </a:ln>
        </p:spPr>
        <p:txBody>
          <a:bodyPr/>
          <a:p/>
        </p:txBody>
      </p:sp>
      <p:sp>
        <p:nvSpPr>
          <p:cNvPr id="27" name="Shape 25"/>
          <p:cNvSpPr/>
          <p:nvPr/>
        </p:nvSpPr>
        <p:spPr>
          <a:xfrm rot="3678000">
            <a:off x="1933563" y="3886531"/>
            <a:ext cx="115656" cy="0"/>
          </a:xfrm>
          <a:prstGeom prst="line">
            <a:avLst/>
          </a:prstGeom>
          <a:noFill/>
          <a:ln w="12700">
            <a:solidFill>
              <a:srgbClr val="13233F"/>
            </a:solidFill>
            <a:prstDash val="solid"/>
            <a:headEnd type="none"/>
            <a:tailEnd type="none"/>
          </a:ln>
        </p:spPr>
        <p:txBody>
          <a:bodyPr/>
          <a:p/>
        </p:txBody>
      </p:sp>
      <p:sp>
        <p:nvSpPr>
          <p:cNvPr id="28" name="Text 26"/>
          <p:cNvSpPr txBox="1"/>
          <p:nvPr/>
        </p:nvSpPr>
        <p:spPr>
          <a:xfrm>
            <a:off x="1609344" y="4169664"/>
            <a:ext cx="22860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α</a:t>
            </a:r>
            <a:endParaRPr lang="en-US" sz="1000" dirty="0"/>
          </a:p>
        </p:txBody>
      </p:sp>
      <p:sp>
        <p:nvSpPr>
          <p:cNvPr id="29" name="Text 27"/>
          <p:cNvSpPr txBox="1"/>
          <p:nvPr/>
        </p:nvSpPr>
        <p:spPr>
          <a:xfrm>
            <a:off x="1773936" y="3419856"/>
            <a:ext cx="22860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θ</a:t>
            </a:r>
            <a:endParaRPr lang="en-US" sz="1000" dirty="0"/>
          </a:p>
        </p:txBody>
      </p:sp>
      <p:sp>
        <p:nvSpPr>
          <p:cNvPr id="30" name="Shape 28"/>
          <p:cNvSpPr/>
          <p:nvPr/>
        </p:nvSpPr>
        <p:spPr>
          <a:xfrm rot="10800000">
            <a:off x="1207008" y="3749040"/>
            <a:ext cx="1188720" cy="0"/>
          </a:xfrm>
          <a:prstGeom prst="line">
            <a:avLst/>
          </a:prstGeom>
          <a:noFill/>
          <a:ln w="9525">
            <a:solidFill>
              <a:srgbClr val="C9D6EC"/>
            </a:solidFill>
            <a:prstDash val="sysDot"/>
            <a:headEnd type="none"/>
            <a:tailEnd type="none"/>
          </a:ln>
        </p:spPr>
        <p:txBody>
          <a:bodyPr/>
          <a:p/>
        </p:txBody>
      </p:sp>
      <p:sp>
        <p:nvSpPr>
          <p:cNvPr id="31" name="Shape 29"/>
          <p:cNvSpPr/>
          <p:nvPr/>
        </p:nvSpPr>
        <p:spPr>
          <a:xfrm rot="5400000">
            <a:off x="2112264" y="4032504"/>
            <a:ext cx="566928" cy="0"/>
          </a:xfrm>
          <a:prstGeom prst="line">
            <a:avLst/>
          </a:prstGeom>
          <a:noFill/>
          <a:ln w="9525">
            <a:solidFill>
              <a:srgbClr val="C9D6EC"/>
            </a:solidFill>
            <a:prstDash val="sysDot"/>
            <a:headEnd type="none"/>
            <a:tailEnd type="none"/>
          </a:ln>
        </p:spPr>
        <p:txBody>
          <a:bodyPr/>
          <a:p/>
        </p:txBody>
      </p:sp>
      <p:sp>
        <p:nvSpPr>
          <p:cNvPr id="32" name="Shape 30"/>
          <p:cNvSpPr/>
          <p:nvPr/>
        </p:nvSpPr>
        <p:spPr>
          <a:xfrm rot="10800000">
            <a:off x="1207008" y="3090672"/>
            <a:ext cx="658368" cy="0"/>
          </a:xfrm>
          <a:prstGeom prst="line">
            <a:avLst/>
          </a:prstGeom>
          <a:noFill/>
          <a:ln w="9525">
            <a:solidFill>
              <a:srgbClr val="C9D6EC"/>
            </a:solidFill>
            <a:prstDash val="sysDot"/>
            <a:headEnd type="none"/>
            <a:tailEnd type="none"/>
          </a:ln>
        </p:spPr>
        <p:txBody>
          <a:bodyPr/>
          <a:p/>
        </p:txBody>
      </p:sp>
      <p:sp>
        <p:nvSpPr>
          <p:cNvPr id="33" name="Shape 31"/>
          <p:cNvSpPr/>
          <p:nvPr/>
        </p:nvSpPr>
        <p:spPr>
          <a:xfrm rot="5400000">
            <a:off x="1252728" y="3703320"/>
            <a:ext cx="1225296" cy="0"/>
          </a:xfrm>
          <a:prstGeom prst="line">
            <a:avLst/>
          </a:prstGeom>
          <a:noFill/>
          <a:ln w="9525">
            <a:solidFill>
              <a:srgbClr val="C9D6EC"/>
            </a:solidFill>
            <a:prstDash val="sysDot"/>
            <a:headEnd type="none"/>
            <a:tailEnd type="none"/>
          </a:ln>
        </p:spPr>
        <p:txBody>
          <a:bodyPr/>
          <a:p/>
        </p:txBody>
      </p:sp>
      <p:sp>
        <p:nvSpPr>
          <p:cNvPr id="34" name="Text 32"/>
          <p:cNvSpPr txBox="1"/>
          <p:nvPr/>
        </p:nvSpPr>
        <p:spPr>
          <a:xfrm>
            <a:off x="3035808" y="1883664"/>
            <a:ext cx="4114800" cy="2743200"/>
          </a:xfrm>
          <a:prstGeom prst="rect">
            <a:avLst/>
          </a:prstGeom>
          <a:noFill/>
          <a:ln/>
        </p:spPr>
        <p:txBody>
          <a:bodyPr wrap="square" lIns="0" tIns="0" rIns="0" bIns="0" rtlCol="0" anchor="t"/>
          <a:lstStyle/>
          <a:p>
            <a:pPr marL="0" indent="0" algn="l">
              <a:lnSpc>
                <a:spcPct val="105000"/>
              </a:lnSpc>
              <a:spcAft>
                <a:spcPts val="600"/>
              </a:spcAft>
              <a:buNone/>
            </a:pPr>
            <a:r>
              <a:rPr lang="en-US" sz="950" dirty="0">
                <a:solidFill>
                  <a:srgbClr val="5A6478"/>
                </a:solidFill>
                <a:latin typeface="맑은 고딕" pitchFamily="34" charset="0"/>
                <a:ea typeface="맑은 고딕" pitchFamily="34" charset="-122"/>
                <a:cs typeface="맑은 고딕" pitchFamily="34" charset="-120"/>
              </a:rPr>
              <a:t>원래 점을 극좌표로 쓰면</a:t>
            </a:r>
            <a:endParaRPr lang="en-US" sz="950" dirty="0"/>
          </a:p>
          <a:p>
            <a:pPr marL="0" indent="0" algn="l">
              <a:lnSpc>
                <a:spcPct val="105000"/>
              </a:lnSpc>
              <a:spcAft>
                <a:spcPts val="1600"/>
              </a:spcAft>
              <a:buNone/>
            </a:pPr>
            <a:r>
              <a:rPr lang="en-US" sz="1450" dirty="0">
                <a:solidFill>
                  <a:srgbClr val="1A2233"/>
                </a:solidFill>
                <a:latin typeface="맑은 고딕" pitchFamily="34" charset="0"/>
                <a:ea typeface="맑은 고딕" pitchFamily="34" charset="-122"/>
                <a:cs typeface="맑은 고딕" pitchFamily="34" charset="-120"/>
              </a:rPr>
              <a:t>x = r·cos α ,   y = r·sin α</a:t>
            </a:r>
            <a:endParaRPr lang="en-US" sz="950" dirty="0"/>
          </a:p>
          <a:p>
            <a:pPr marL="0" indent="0" algn="l">
              <a:lnSpc>
                <a:spcPct val="105000"/>
              </a:lnSpc>
              <a:spcAft>
                <a:spcPts val="600"/>
              </a:spcAft>
              <a:buNone/>
            </a:pPr>
            <a:r>
              <a:rPr lang="en-US" sz="950" dirty="0">
                <a:solidFill>
                  <a:srgbClr val="5A6478"/>
                </a:solidFill>
                <a:latin typeface="맑은 고딕" pitchFamily="34" charset="0"/>
                <a:ea typeface="맑은 고딕" pitchFamily="34" charset="-122"/>
                <a:cs typeface="맑은 고딕" pitchFamily="34" charset="-120"/>
              </a:rPr>
              <a:t>θ 만큼 더 돌리면 각이 α+θ 가 되므로</a:t>
            </a:r>
            <a:endParaRPr lang="en-US" sz="950" dirty="0"/>
          </a:p>
          <a:p>
            <a:pPr marL="0" indent="0" algn="l">
              <a:lnSpc>
                <a:spcPct val="105000"/>
              </a:lnSpc>
              <a:spcAft>
                <a:spcPts val="400"/>
              </a:spcAft>
              <a:buNone/>
            </a:pPr>
            <a:r>
              <a:rPr lang="en-US" sz="1200" dirty="0">
                <a:solidFill>
                  <a:srgbClr val="1A2233"/>
                </a:solidFill>
                <a:latin typeface="맑은 고딕" pitchFamily="34" charset="0"/>
                <a:ea typeface="맑은 고딕" pitchFamily="34" charset="-122"/>
                <a:cs typeface="맑은 고딕" pitchFamily="34" charset="-120"/>
              </a:rPr>
              <a:t>x' = r·cos(α+θ) = r·cosα·cosθ − r·sinα·sinθ</a:t>
            </a:r>
            <a:endParaRPr lang="en-US" sz="950" dirty="0"/>
          </a:p>
          <a:p>
            <a:pPr marL="0" indent="0" algn="l">
              <a:lnSpc>
                <a:spcPct val="105000"/>
              </a:lnSpc>
              <a:spcAft>
                <a:spcPts val="1600"/>
              </a:spcAft>
              <a:buNone/>
            </a:pPr>
            <a:r>
              <a:rPr lang="en-US" sz="1200" dirty="0">
                <a:solidFill>
                  <a:srgbClr val="1A2233"/>
                </a:solidFill>
                <a:latin typeface="맑은 고딕" pitchFamily="34" charset="0"/>
                <a:ea typeface="맑은 고딕" pitchFamily="34" charset="-122"/>
                <a:cs typeface="맑은 고딕" pitchFamily="34" charset="-120"/>
              </a:rPr>
              <a:t>y' = r·sin(α+θ) = r·sinα·cosθ + r·cosα·sinθ</a:t>
            </a:r>
            <a:endParaRPr lang="en-US" sz="950" dirty="0"/>
          </a:p>
          <a:p>
            <a:pPr marL="0" indent="0" algn="l">
              <a:lnSpc>
                <a:spcPct val="105000"/>
              </a:lnSpc>
              <a:spcAft>
                <a:spcPts val="600"/>
              </a:spcAft>
              <a:buNone/>
            </a:pPr>
            <a:r>
              <a:rPr lang="en-US" sz="950" dirty="0">
                <a:solidFill>
                  <a:srgbClr val="5A6478"/>
                </a:solidFill>
                <a:latin typeface="맑은 고딕" pitchFamily="34" charset="0"/>
                <a:ea typeface="맑은 고딕" pitchFamily="34" charset="-122"/>
                <a:cs typeface="맑은 고딕" pitchFamily="34" charset="-120"/>
              </a:rPr>
              <a:t>r·cosα = x,  r·sin α = y 를 되돌려 넣으면</a:t>
            </a:r>
            <a:endParaRPr lang="en-US" sz="950" dirty="0"/>
          </a:p>
          <a:p>
            <a:pPr marL="0" indent="0" algn="l">
              <a:lnSpc>
                <a:spcPct val="105000"/>
              </a:lnSpc>
              <a:spcAft>
                <a:spcPts val="400"/>
              </a:spcAft>
              <a:buNone/>
            </a:pPr>
            <a:r>
              <a:rPr lang="en-US" sz="1400" dirty="0">
                <a:solidFill>
                  <a:srgbClr val="1A2233"/>
                </a:solidFill>
                <a:latin typeface="맑은 고딕" pitchFamily="34" charset="0"/>
                <a:ea typeface="맑은 고딕" pitchFamily="34" charset="-122"/>
                <a:cs typeface="맑은 고딕" pitchFamily="34" charset="-120"/>
              </a:rPr>
              <a:t>x' = x·cos θ − y·sin θ</a:t>
            </a:r>
            <a:endParaRPr lang="en-US" sz="950" dirty="0"/>
          </a:p>
          <a:p>
            <a:pPr marL="0" indent="0" algn="l">
              <a:lnSpc>
                <a:spcPct val="105000"/>
              </a:lnSpc>
              <a:spcAft>
                <a:spcPts val="1600"/>
              </a:spcAft>
              <a:buNone/>
            </a:pPr>
            <a:r>
              <a:rPr lang="en-US" sz="1400" dirty="0">
                <a:solidFill>
                  <a:srgbClr val="1A2233"/>
                </a:solidFill>
                <a:latin typeface="맑은 고딕" pitchFamily="34" charset="0"/>
                <a:ea typeface="맑은 고딕" pitchFamily="34" charset="-122"/>
                <a:cs typeface="맑은 고딕" pitchFamily="34" charset="-120"/>
              </a:rPr>
              <a:t>y' = x·sin θ + y·cos θ</a:t>
            </a:r>
            <a:endParaRPr lang="en-US" sz="950" dirty="0"/>
          </a:p>
          <a:p>
            <a:pPr marL="0" indent="0" algn="l">
              <a:lnSpc>
                <a:spcPct val="105000"/>
              </a:lnSpc>
              <a:buNone/>
            </a:pPr>
            <a:r>
              <a:rPr lang="en-US" sz="950" dirty="0">
                <a:solidFill>
                  <a:srgbClr val="5A6478"/>
                </a:solidFill>
                <a:latin typeface="맑은 고딕" pitchFamily="34" charset="0"/>
                <a:ea typeface="맑은 고딕" pitchFamily="34" charset="-122"/>
                <a:cs typeface="맑은 고딕" pitchFamily="34" charset="-120"/>
              </a:rPr>
              <a:t>이 두 줄을 표로 적은 것이 Rz(θ) 다.</a:t>
            </a:r>
            <a:endParaRPr lang="en-US" sz="950" dirty="0"/>
          </a:p>
        </p:txBody>
      </p:sp>
      <p:sp>
        <p:nvSpPr>
          <p:cNvPr id="35" name="Shape 33"/>
          <p:cNvSpPr/>
          <p:nvPr/>
        </p:nvSpPr>
        <p:spPr>
          <a:xfrm>
            <a:off x="7333488" y="1755648"/>
            <a:ext cx="4041648" cy="3968496"/>
          </a:xfrm>
          <a:prstGeom prst="roundRect">
            <a:avLst>
              <a:gd name="adj" fmla="val 1152"/>
            </a:avLst>
          </a:prstGeom>
          <a:solidFill>
            <a:srgbClr val="EEF1F7"/>
          </a:solidFill>
          <a:ln/>
        </p:spPr>
        <p:txBody>
          <a:bodyPr/>
          <a:p/>
        </p:txBody>
      </p:sp>
      <p:sp>
        <p:nvSpPr>
          <p:cNvPr id="36" name="Text 34"/>
          <p:cNvSpPr txBox="1"/>
          <p:nvPr/>
        </p:nvSpPr>
        <p:spPr>
          <a:xfrm>
            <a:off x="7333488" y="1883664"/>
            <a:ext cx="4041648" cy="310896"/>
          </a:xfrm>
          <a:prstGeom prst="rect">
            <a:avLst/>
          </a:prstGeom>
          <a:noFill/>
          <a:ln/>
        </p:spPr>
        <p:txBody>
          <a:bodyPr wrap="square" lIns="0" tIns="0" rIns="0" bIns="0" rtlCol="0" anchor="ctr"/>
          <a:lstStyle/>
          <a:p>
            <a:pPr marL="0" indent="0" algn="ctr">
              <a:buNone/>
            </a:pPr>
            <a:r>
              <a:rPr lang="en-US" sz="1500" b="1" dirty="0">
                <a:solidFill>
                  <a:srgbClr val="1A2233"/>
                </a:solidFill>
                <a:latin typeface="맑은 고딕" pitchFamily="34" charset="0"/>
                <a:ea typeface="맑은 고딕" pitchFamily="34" charset="-122"/>
                <a:cs typeface="맑은 고딕" pitchFamily="34" charset="-120"/>
              </a:rPr>
              <a:t>세 축 둘레의 회전행렬</a:t>
            </a:r>
            <a:endParaRPr lang="en-US" sz="1500" dirty="0"/>
          </a:p>
        </p:txBody>
      </p:sp>
      <p:sp>
        <p:nvSpPr>
          <p:cNvPr id="37" name="Text 35"/>
          <p:cNvSpPr txBox="1"/>
          <p:nvPr/>
        </p:nvSpPr>
        <p:spPr>
          <a:xfrm>
            <a:off x="7607808" y="2304288"/>
            <a:ext cx="3657600" cy="256032"/>
          </a:xfrm>
          <a:prstGeom prst="rect">
            <a:avLst/>
          </a:prstGeom>
          <a:noFill/>
          <a:ln/>
        </p:spPr>
        <p:txBody>
          <a:bodyPr wrap="square" lIns="0" tIns="0" rIns="0" bIns="0" rtlCol="0" anchor="ct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Rz(θ) — z 축 둘레 (yaw)</a:t>
            </a:r>
            <a:endParaRPr lang="en-US" sz="1250" dirty="0"/>
          </a:p>
        </p:txBody>
      </p:sp>
      <p:sp>
        <p:nvSpPr>
          <p:cNvPr id="38" name="Text 36"/>
          <p:cNvSpPr txBox="1"/>
          <p:nvPr/>
        </p:nvSpPr>
        <p:spPr>
          <a:xfrm>
            <a:off x="7882128" y="2578608"/>
            <a:ext cx="3383280" cy="713232"/>
          </a:xfrm>
          <a:prstGeom prst="rect">
            <a:avLst/>
          </a:prstGeom>
          <a:noFill/>
          <a:ln/>
        </p:spPr>
        <p:txBody>
          <a:bodyPr wrap="square" lIns="0" tIns="0" rIns="0" bIns="0" rtlCol="0" anchor="t"/>
          <a:lstStyle/>
          <a:p>
            <a:pPr marL="0" indent="0" algn="l">
              <a:lnSpc>
                <a:spcPct val="105000"/>
              </a:lnSpc>
              <a:spcAft>
                <a:spcPts val="100"/>
              </a:spcAft>
              <a:buNone/>
            </a:pPr>
            <a:r>
              <a:rPr lang="en-US" sz="1100" dirty="0">
                <a:solidFill>
                  <a:srgbClr val="1A2233"/>
                </a:solidFill>
                <a:latin typeface="Courier New" pitchFamily="34" charset="0"/>
                <a:ea typeface="Courier New" pitchFamily="34" charset="-122"/>
                <a:cs typeface="Courier New" pitchFamily="34" charset="-120"/>
              </a:rPr>
              <a:t>[ cos θ    −sin θ      0 ]</a:t>
            </a:r>
            <a:endParaRPr lang="en-US" sz="1100" dirty="0"/>
          </a:p>
          <a:p>
            <a:pPr marL="0" indent="0" algn="l">
              <a:lnSpc>
                <a:spcPct val="105000"/>
              </a:lnSpc>
              <a:spcAft>
                <a:spcPts val="100"/>
              </a:spcAft>
              <a:buNone/>
            </a:pPr>
            <a:r>
              <a:rPr lang="en-US" sz="1100" dirty="0">
                <a:solidFill>
                  <a:srgbClr val="1A2233"/>
                </a:solidFill>
                <a:latin typeface="Courier New" pitchFamily="34" charset="0"/>
                <a:ea typeface="Courier New" pitchFamily="34" charset="-122"/>
                <a:cs typeface="Courier New" pitchFamily="34" charset="-120"/>
              </a:rPr>
              <a:t>[ sin θ     cos θ      0 ]</a:t>
            </a:r>
            <a:endParaRPr lang="en-US" sz="1100" dirty="0"/>
          </a:p>
          <a:p>
            <a:pPr marL="0" indent="0" algn="l">
              <a:lnSpc>
                <a:spcPct val="105000"/>
              </a:lnSpc>
              <a:spcAft>
                <a:spcPts val="100"/>
              </a:spcAft>
              <a:buNone/>
            </a:pPr>
            <a:r>
              <a:rPr lang="en-US" sz="1100" dirty="0">
                <a:solidFill>
                  <a:srgbClr val="1A2233"/>
                </a:solidFill>
                <a:latin typeface="Courier New" pitchFamily="34" charset="0"/>
                <a:ea typeface="Courier New" pitchFamily="34" charset="-122"/>
                <a:cs typeface="Courier New" pitchFamily="34" charset="-120"/>
              </a:rPr>
              <a:t>[   0         0        1 ]</a:t>
            </a:r>
            <a:endParaRPr lang="en-US" sz="1100" dirty="0"/>
          </a:p>
        </p:txBody>
      </p:sp>
      <p:sp>
        <p:nvSpPr>
          <p:cNvPr id="39" name="Text 37"/>
          <p:cNvSpPr txBox="1"/>
          <p:nvPr/>
        </p:nvSpPr>
        <p:spPr>
          <a:xfrm>
            <a:off x="7607808" y="3456432"/>
            <a:ext cx="3657600" cy="256032"/>
          </a:xfrm>
          <a:prstGeom prst="rect">
            <a:avLst/>
          </a:prstGeom>
          <a:noFill/>
          <a:ln/>
        </p:spPr>
        <p:txBody>
          <a:bodyPr wrap="square" lIns="0" tIns="0" rIns="0" bIns="0" rtlCol="0" anchor="ct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Ry(θ) — y 축 둘레 (pitch)</a:t>
            </a:r>
            <a:endParaRPr lang="en-US" sz="1250" dirty="0"/>
          </a:p>
        </p:txBody>
      </p:sp>
      <p:sp>
        <p:nvSpPr>
          <p:cNvPr id="40" name="Text 38"/>
          <p:cNvSpPr txBox="1"/>
          <p:nvPr/>
        </p:nvSpPr>
        <p:spPr>
          <a:xfrm>
            <a:off x="7882128" y="3730752"/>
            <a:ext cx="3383280" cy="713232"/>
          </a:xfrm>
          <a:prstGeom prst="rect">
            <a:avLst/>
          </a:prstGeom>
          <a:noFill/>
          <a:ln/>
        </p:spPr>
        <p:txBody>
          <a:bodyPr wrap="square" lIns="0" tIns="0" rIns="0" bIns="0" rtlCol="0" anchor="t"/>
          <a:lstStyle/>
          <a:p>
            <a:pPr marL="0" indent="0" algn="l">
              <a:lnSpc>
                <a:spcPct val="105000"/>
              </a:lnSpc>
              <a:spcAft>
                <a:spcPts val="100"/>
              </a:spcAft>
              <a:buNone/>
            </a:pPr>
            <a:r>
              <a:rPr lang="en-US" sz="1100" dirty="0">
                <a:solidFill>
                  <a:srgbClr val="1A2233"/>
                </a:solidFill>
                <a:latin typeface="Courier New" pitchFamily="34" charset="0"/>
                <a:ea typeface="Courier New" pitchFamily="34" charset="-122"/>
                <a:cs typeface="Courier New" pitchFamily="34" charset="-120"/>
              </a:rPr>
              <a:t>[ cos θ      0     sin θ ]</a:t>
            </a:r>
            <a:endParaRPr lang="en-US" sz="1100" dirty="0"/>
          </a:p>
          <a:p>
            <a:pPr marL="0" indent="0" algn="l">
              <a:lnSpc>
                <a:spcPct val="105000"/>
              </a:lnSpc>
              <a:spcAft>
                <a:spcPts val="100"/>
              </a:spcAft>
              <a:buNone/>
            </a:pPr>
            <a:r>
              <a:rPr lang="en-US" sz="1100" dirty="0">
                <a:solidFill>
                  <a:srgbClr val="1A2233"/>
                </a:solidFill>
                <a:latin typeface="Courier New" pitchFamily="34" charset="0"/>
                <a:ea typeface="Courier New" pitchFamily="34" charset="-122"/>
                <a:cs typeface="Courier New" pitchFamily="34" charset="-120"/>
              </a:rPr>
              <a:t>[   0        1       0   ]</a:t>
            </a:r>
            <a:endParaRPr lang="en-US" sz="1100" dirty="0"/>
          </a:p>
          <a:p>
            <a:pPr marL="0" indent="0" algn="l">
              <a:lnSpc>
                <a:spcPct val="105000"/>
              </a:lnSpc>
              <a:spcAft>
                <a:spcPts val="100"/>
              </a:spcAft>
              <a:buNone/>
            </a:pPr>
            <a:r>
              <a:rPr lang="en-US" sz="1100" dirty="0">
                <a:solidFill>
                  <a:srgbClr val="1A2233"/>
                </a:solidFill>
                <a:latin typeface="Courier New" pitchFamily="34" charset="0"/>
                <a:ea typeface="Courier New" pitchFamily="34" charset="-122"/>
                <a:cs typeface="Courier New" pitchFamily="34" charset="-120"/>
              </a:rPr>
              <a:t>[ −sin θ     0     cos θ ]</a:t>
            </a:r>
            <a:endParaRPr lang="en-US" sz="1100" dirty="0"/>
          </a:p>
        </p:txBody>
      </p:sp>
      <p:sp>
        <p:nvSpPr>
          <p:cNvPr id="41" name="Text 39"/>
          <p:cNvSpPr txBox="1"/>
          <p:nvPr/>
        </p:nvSpPr>
        <p:spPr>
          <a:xfrm>
            <a:off x="7607808" y="4608576"/>
            <a:ext cx="3657600" cy="256032"/>
          </a:xfrm>
          <a:prstGeom prst="rect">
            <a:avLst/>
          </a:prstGeom>
          <a:noFill/>
          <a:ln/>
        </p:spPr>
        <p:txBody>
          <a:bodyPr wrap="square" lIns="0" tIns="0" rIns="0" bIns="0" rtlCol="0" anchor="ct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Rx(θ) — x 축 둘레 (roll)</a:t>
            </a:r>
            <a:endParaRPr lang="en-US" sz="1250" dirty="0"/>
          </a:p>
        </p:txBody>
      </p:sp>
      <p:sp>
        <p:nvSpPr>
          <p:cNvPr id="42" name="Text 40"/>
          <p:cNvSpPr txBox="1"/>
          <p:nvPr/>
        </p:nvSpPr>
        <p:spPr>
          <a:xfrm>
            <a:off x="7882128" y="4882896"/>
            <a:ext cx="3383280" cy="713232"/>
          </a:xfrm>
          <a:prstGeom prst="rect">
            <a:avLst/>
          </a:prstGeom>
          <a:noFill/>
          <a:ln/>
        </p:spPr>
        <p:txBody>
          <a:bodyPr wrap="square" lIns="0" tIns="0" rIns="0" bIns="0" rtlCol="0" anchor="t"/>
          <a:lstStyle/>
          <a:p>
            <a:pPr marL="0" indent="0" algn="l">
              <a:lnSpc>
                <a:spcPct val="105000"/>
              </a:lnSpc>
              <a:spcAft>
                <a:spcPts val="100"/>
              </a:spcAft>
              <a:buNone/>
            </a:pPr>
            <a:r>
              <a:rPr lang="en-US" sz="1100" dirty="0">
                <a:solidFill>
                  <a:srgbClr val="1A2233"/>
                </a:solidFill>
                <a:latin typeface="Courier New" pitchFamily="34" charset="0"/>
                <a:ea typeface="Courier New" pitchFamily="34" charset="-122"/>
                <a:cs typeface="Courier New" pitchFamily="34" charset="-120"/>
              </a:rPr>
              <a:t>[   1        0       0   ]</a:t>
            </a:r>
            <a:endParaRPr lang="en-US" sz="1100" dirty="0"/>
          </a:p>
          <a:p>
            <a:pPr marL="0" indent="0" algn="l">
              <a:lnSpc>
                <a:spcPct val="105000"/>
              </a:lnSpc>
              <a:spcAft>
                <a:spcPts val="100"/>
              </a:spcAft>
              <a:buNone/>
            </a:pPr>
            <a:r>
              <a:rPr lang="en-US" sz="1100" dirty="0">
                <a:solidFill>
                  <a:srgbClr val="1A2233"/>
                </a:solidFill>
                <a:latin typeface="Courier New" pitchFamily="34" charset="0"/>
                <a:ea typeface="Courier New" pitchFamily="34" charset="-122"/>
                <a:cs typeface="Courier New" pitchFamily="34" charset="-120"/>
              </a:rPr>
              <a:t>[   0     cos θ   −sin θ ]</a:t>
            </a:r>
            <a:endParaRPr lang="en-US" sz="1100" dirty="0"/>
          </a:p>
          <a:p>
            <a:pPr marL="0" indent="0" algn="l">
              <a:lnSpc>
                <a:spcPct val="105000"/>
              </a:lnSpc>
              <a:spcAft>
                <a:spcPts val="100"/>
              </a:spcAft>
              <a:buNone/>
            </a:pPr>
            <a:r>
              <a:rPr lang="en-US" sz="1100" dirty="0">
                <a:solidFill>
                  <a:srgbClr val="1A2233"/>
                </a:solidFill>
                <a:latin typeface="Courier New" pitchFamily="34" charset="0"/>
                <a:ea typeface="Courier New" pitchFamily="34" charset="-122"/>
                <a:cs typeface="Courier New" pitchFamily="34" charset="-120"/>
              </a:rPr>
              <a:t>[   0     sin θ    cos θ ]</a:t>
            </a:r>
            <a:endParaRPr lang="en-US" sz="1100" dirty="0"/>
          </a:p>
        </p:txBody>
      </p:sp>
      <p:sp>
        <p:nvSpPr>
          <p:cNvPr id="43" name="Rounded Rectangle 42"/>
          <p:cNvSpPr/>
          <p:nvPr/>
        </p:nvSpPr>
        <p:spPr>
          <a:xfrm>
            <a:off x="786384" y="4700016"/>
            <a:ext cx="6437376" cy="1188720"/>
          </a:xfrm>
          <a:prstGeom prst="roundRect">
            <a:avLst>
              <a:gd name="adj" fmla="val 4000"/>
            </a:avLst>
          </a:prstGeom>
          <a:solidFill>
            <a:srgbClr val="EEF1F7"/>
          </a:solidFill>
          <a:ln>
            <a:noFill/>
          </a:ln>
          <a:effectLst/>
        </p:spPr>
        <p:txBody>
          <a:bodyPr rtlCol="0" anchor="ctr"/>
          <a:lstStyle/>
          <a:p>
            <a:pPr algn="ctr"/>
          </a:p>
        </p:txBody>
      </p:sp>
      <p:sp>
        <p:nvSpPr>
          <p:cNvPr id="44" name="TextBox 43"/>
          <p:cNvSpPr txBox="1"/>
          <p:nvPr/>
        </p:nvSpPr>
        <p:spPr>
          <a:xfrm>
            <a:off x="987552" y="4773168"/>
            <a:ext cx="6035040" cy="1060704"/>
          </a:xfrm>
          <a:prstGeom prst="rect">
            <a:avLst/>
          </a:prstGeom>
          <a:noFill/>
          <a:ln/>
        </p:spPr>
        <p:txBody>
          <a:bodyPr wrap="square">
            <a:spAutoFit/>
          </a:bodyPr>
          <a:lstStyle/>
          <a:p>
            <a:pPr>
              <a:spcBef>
                <a:spcPts val="0"/>
              </a:spcBef>
            </a:pPr>
            <a:r>
              <a:rPr sz="1200" b="1">
                <a:solidFill>
                  <a:srgbClr val="1A2233"/>
                </a:solidFill>
                <a:latin typeface="맑은 고딕"/>
              </a:rPr>
              <a:t>성질 — 역변환에서 전치를 쓰는 근거</a:t>
            </a:r>
          </a:p>
          <a:p>
            <a:pPr>
              <a:spcBef>
                <a:spcPts val="500"/>
              </a:spcBef>
            </a:pPr>
            <a:r>
              <a:rPr sz="900" b="0">
                <a:solidFill>
                  <a:srgbClr val="1A2233"/>
                </a:solidFill>
                <a:latin typeface="맑은 고딕"/>
              </a:rPr>
              <a:t>R^T · R = I ,   즉   R⁻¹ = R^T   —   역행렬을 따로 구할 필요가 없다 (p.22 역변환)</a:t>
            </a:r>
          </a:p>
          <a:p>
            <a:pPr>
              <a:spcBef>
                <a:spcPts val="250"/>
              </a:spcBef>
            </a:pPr>
            <a:r>
              <a:rPr sz="900" b="0">
                <a:solidFill>
                  <a:srgbClr val="1A2233"/>
                </a:solidFill>
                <a:latin typeface="맑은 고딕"/>
              </a:rPr>
              <a:t>det R = 1   —   오른손 좌표계는 오른손 좌표계로 남는다</a:t>
            </a:r>
          </a:p>
          <a:p>
            <a:pPr>
              <a:spcBef>
                <a:spcPts val="250"/>
              </a:spcBef>
            </a:pPr>
            <a:r>
              <a:rPr sz="900" b="0">
                <a:solidFill>
                  <a:srgbClr val="1A2233"/>
                </a:solidFill>
                <a:latin typeface="맑은 고딕"/>
              </a:rPr>
              <a:t>|Rp| = |p|   —   길이도, 두 벡터가 이루는 각도도 그대로다</a:t>
            </a:r>
          </a:p>
          <a:p>
            <a:pPr>
              <a:spcBef>
                <a:spcPts val="250"/>
              </a:spcBef>
            </a:pPr>
            <a:r>
              <a:rPr sz="900" b="0">
                <a:solidFill>
                  <a:srgbClr val="5A6478"/>
                </a:solidFill>
                <a:latin typeface="맑은 고딕"/>
              </a:rPr>
              <a:t>위 유도는 점을 θ 돌린 것. 축을 θ 돌려 같은 점을 다시 읽으면 R^T 가 된다.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0" y="0"/>
            <a:ext cx="4224528" cy="6858000"/>
          </a:xfrm>
          <a:prstGeom prst="rect">
            <a:avLst/>
          </a:prstGeom>
          <a:solidFill>
            <a:srgbClr val="13233F"/>
          </a:solidFill>
          <a:ln/>
        </p:spPr>
        <p:txBody>
          <a:bodyPr/>
          <a:p/>
        </p:txBody>
      </p:sp>
      <p:sp>
        <p:nvSpPr>
          <p:cNvPr id="3" name="Text 1"/>
          <p:cNvSpPr txBox="1"/>
          <p:nvPr/>
        </p:nvSpPr>
        <p:spPr>
          <a:xfrm>
            <a:off x="2532888" y="566928"/>
            <a:ext cx="640080" cy="365760"/>
          </a:xfrm>
          <a:prstGeom prst="rect">
            <a:avLst/>
          </a:prstGeom>
          <a:noFill/>
          <a:ln/>
        </p:spPr>
        <p:txBody>
          <a:bodyPr wrap="square" lIns="0" tIns="0" rIns="0" bIns="0" rtlCol="0" anchor="ctr"/>
          <a:lstStyle/>
          <a:p>
            <a:pPr marL="0" indent="0" algn="r">
              <a:buNone/>
            </a:pPr>
            <a:r>
              <a:rPr lang="en-US" sz="1900" b="1" dirty="0">
                <a:solidFill>
                  <a:srgbClr val="FFFFFF"/>
                </a:solidFill>
                <a:latin typeface="Arial" pitchFamily="34" charset="0"/>
                <a:ea typeface="Arial" pitchFamily="34" charset="-122"/>
                <a:cs typeface="Arial" pitchFamily="34" charset="-120"/>
              </a:rPr>
              <a:t>01</a:t>
            </a:r>
            <a:endParaRPr lang="en-US" sz="1900" dirty="0"/>
          </a:p>
        </p:txBody>
      </p:sp>
      <p:sp>
        <p:nvSpPr>
          <p:cNvPr id="4" name="Shape 2"/>
          <p:cNvSpPr/>
          <p:nvPr/>
        </p:nvSpPr>
        <p:spPr>
          <a:xfrm>
            <a:off x="3264408" y="749808"/>
            <a:ext cx="960120" cy="0"/>
          </a:xfrm>
          <a:prstGeom prst="line">
            <a:avLst/>
          </a:prstGeom>
          <a:noFill/>
          <a:ln w="12700">
            <a:solidFill>
              <a:srgbClr val="C9D6EC"/>
            </a:solidFill>
            <a:prstDash val="solid"/>
            <a:headEnd type="none"/>
            <a:tailEnd type="none"/>
          </a:ln>
        </p:spPr>
        <p:txBody>
          <a:bodyPr/>
          <a:p/>
        </p:txBody>
      </p:sp>
      <p:sp>
        <p:nvSpPr>
          <p:cNvPr id="5" name="Shape 3"/>
          <p:cNvSpPr/>
          <p:nvPr/>
        </p:nvSpPr>
        <p:spPr>
          <a:xfrm>
            <a:off x="4224528" y="749808"/>
            <a:ext cx="7400239" cy="0"/>
          </a:xfrm>
          <a:prstGeom prst="line">
            <a:avLst/>
          </a:prstGeom>
          <a:noFill/>
          <a:ln w="11430">
            <a:solidFill>
              <a:srgbClr val="13233F"/>
            </a:solidFill>
            <a:prstDash val="solid"/>
            <a:headEnd type="none"/>
            <a:tailEnd type="none"/>
          </a:ln>
        </p:spPr>
        <p:txBody>
          <a:bodyPr/>
          <a:p/>
        </p:txBody>
      </p:sp>
      <p:sp>
        <p:nvSpPr>
          <p:cNvPr id="6" name="Text 4"/>
          <p:cNvSpPr txBox="1"/>
          <p:nvPr/>
        </p:nvSpPr>
        <p:spPr>
          <a:xfrm>
            <a:off x="274320" y="3017520"/>
            <a:ext cx="3675888" cy="822960"/>
          </a:xfrm>
          <a:prstGeom prst="rect">
            <a:avLst/>
          </a:prstGeom>
          <a:noFill/>
          <a:ln/>
        </p:spPr>
        <p:txBody>
          <a:bodyPr wrap="square" lIns="0" tIns="0" rIns="0" bIns="0" rtlCol="0" anchor="ctr"/>
          <a:lstStyle/>
          <a:p>
            <a:pPr marL="0" indent="0" algn="ctr">
              <a:buNone/>
            </a:pPr>
            <a:r>
              <a:rPr lang="en-US" sz="2900" b="1" dirty="0">
                <a:solidFill>
                  <a:srgbClr val="FFFFFF"/>
                </a:solidFill>
                <a:latin typeface="맑은 고딕" pitchFamily="34" charset="0"/>
                <a:ea typeface="맑은 고딕" pitchFamily="34" charset="-122"/>
                <a:cs typeface="맑은 고딕" pitchFamily="34" charset="-120"/>
              </a:rPr>
              <a:t>좌표계 여섯 가지</a:t>
            </a:r>
            <a:endParaRPr lang="en-US" sz="2900" dirty="0"/>
          </a:p>
        </p:txBody>
      </p:sp>
      <p:sp>
        <p:nvSpPr>
          <p:cNvPr id="8" name="Text 6"/>
          <p:cNvSpPr txBox="1"/>
          <p:nvPr/>
        </p:nvSpPr>
        <p:spPr>
          <a:xfrm>
            <a:off x="4224528" y="6419088"/>
            <a:ext cx="7967167"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7</a:t>
            </a:r>
            <a:endParaRPr lang="en-US" sz="900" dirty="0"/>
          </a:p>
        </p:txBody>
      </p:sp>
      <p:sp>
        <p:nvSpPr>
          <p:cNvPr id="9" name="Text 7"/>
          <p:cNvSpPr txBox="1"/>
          <p:nvPr/>
        </p:nvSpPr>
        <p:spPr>
          <a:xfrm>
            <a:off x="5001768" y="1481328"/>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1</a:t>
            </a:r>
            <a:endParaRPr lang="en-US" sz="2100" dirty="0"/>
          </a:p>
        </p:txBody>
      </p:sp>
      <p:sp>
        <p:nvSpPr>
          <p:cNvPr id="10" name="Text 8"/>
          <p:cNvSpPr txBox="1"/>
          <p:nvPr/>
        </p:nvSpPr>
        <p:spPr>
          <a:xfrm>
            <a:off x="5797296" y="1481328"/>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안테나 좌표계 – 극좌표 · 직교좌표 · UV</a:t>
            </a:r>
            <a:endParaRPr lang="en-US" sz="1350" dirty="0"/>
          </a:p>
        </p:txBody>
      </p:sp>
      <p:sp>
        <p:nvSpPr>
          <p:cNvPr id="11" name="Text 9"/>
          <p:cNvSpPr txBox="1"/>
          <p:nvPr/>
        </p:nvSpPr>
        <p:spPr>
          <a:xfrm>
            <a:off x="5001768" y="2176272"/>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2</a:t>
            </a:r>
            <a:endParaRPr lang="en-US" sz="2100" dirty="0"/>
          </a:p>
        </p:txBody>
      </p:sp>
      <p:sp>
        <p:nvSpPr>
          <p:cNvPr id="12" name="Text 10"/>
          <p:cNvSpPr txBox="1"/>
          <p:nvPr/>
        </p:nvSpPr>
        <p:spPr>
          <a:xfrm>
            <a:off x="5797296" y="2176272"/>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동체(Body) 좌표계</a:t>
            </a:r>
            <a:endParaRPr lang="en-US" sz="1350" dirty="0"/>
          </a:p>
        </p:txBody>
      </p:sp>
      <p:sp>
        <p:nvSpPr>
          <p:cNvPr id="13" name="Text 11"/>
          <p:cNvSpPr txBox="1"/>
          <p:nvPr/>
        </p:nvSpPr>
        <p:spPr>
          <a:xfrm>
            <a:off x="5001768" y="2871216"/>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3</a:t>
            </a:r>
            <a:endParaRPr lang="en-US" sz="2100" dirty="0"/>
          </a:p>
        </p:txBody>
      </p:sp>
      <p:sp>
        <p:nvSpPr>
          <p:cNvPr id="14" name="Text 12"/>
          <p:cNvSpPr txBox="1"/>
          <p:nvPr/>
        </p:nvSpPr>
        <p:spPr>
          <a:xfrm>
            <a:off x="5797296" y="2871216"/>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INS 좌표계</a:t>
            </a:r>
            <a:endParaRPr lang="en-US" sz="1350" dirty="0"/>
          </a:p>
        </p:txBody>
      </p:sp>
      <p:sp>
        <p:nvSpPr>
          <p:cNvPr id="15" name="Text 13"/>
          <p:cNvSpPr txBox="1"/>
          <p:nvPr/>
        </p:nvSpPr>
        <p:spPr>
          <a:xfrm>
            <a:off x="5001768" y="3566160"/>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4</a:t>
            </a:r>
            <a:endParaRPr lang="en-US" sz="2100" dirty="0"/>
          </a:p>
        </p:txBody>
      </p:sp>
      <p:sp>
        <p:nvSpPr>
          <p:cNvPr id="16" name="Text 14"/>
          <p:cNvSpPr txBox="1"/>
          <p:nvPr/>
        </p:nvSpPr>
        <p:spPr>
          <a:xfrm>
            <a:off x="5797296" y="3566160"/>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NED / ENU 국지수평 좌표계</a:t>
            </a:r>
            <a:endParaRPr lang="en-US" sz="1350" dirty="0"/>
          </a:p>
        </p:txBody>
      </p:sp>
      <p:sp>
        <p:nvSpPr>
          <p:cNvPr id="17" name="Text 15"/>
          <p:cNvSpPr txBox="1"/>
          <p:nvPr/>
        </p:nvSpPr>
        <p:spPr>
          <a:xfrm>
            <a:off x="5001768" y="4261104"/>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5</a:t>
            </a:r>
            <a:endParaRPr lang="en-US" sz="2100" dirty="0"/>
          </a:p>
        </p:txBody>
      </p:sp>
      <p:sp>
        <p:nvSpPr>
          <p:cNvPr id="18" name="Text 16"/>
          <p:cNvSpPr txBox="1"/>
          <p:nvPr/>
        </p:nvSpPr>
        <p:spPr>
          <a:xfrm>
            <a:off x="5797296" y="4261104"/>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ECEF / ECI 지구 중심 좌표계</a:t>
            </a:r>
            <a:endParaRPr lang="en-US" sz="1350" dirty="0"/>
          </a:p>
        </p:txBody>
      </p:sp>
      <p:sp>
        <p:nvSpPr>
          <p:cNvPr id="19" name="Text 17"/>
          <p:cNvSpPr txBox="1"/>
          <p:nvPr/>
        </p:nvSpPr>
        <p:spPr>
          <a:xfrm>
            <a:off x="5001768" y="4956048"/>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6</a:t>
            </a:r>
            <a:endParaRPr lang="en-US" sz="2100" dirty="0"/>
          </a:p>
        </p:txBody>
      </p:sp>
      <p:sp>
        <p:nvSpPr>
          <p:cNvPr id="20" name="Text 18"/>
          <p:cNvSpPr txBox="1"/>
          <p:nvPr/>
        </p:nvSpPr>
        <p:spPr>
          <a:xfrm>
            <a:off x="5797296" y="4956048"/>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LLA 측지 좌표계</a:t>
            </a:r>
            <a:endParaRPr lang="en-US" sz="1350" dirty="0"/>
          </a:p>
        </p:txBody>
      </p:sp>
      <p:sp>
        <p:nvSpPr>
          <p:cNvPr id="21" name="Text 19"/>
          <p:cNvSpPr txBox="1"/>
          <p:nvPr/>
        </p:nvSpPr>
        <p:spPr>
          <a:xfrm>
            <a:off x="5001768" y="5650992"/>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7</a:t>
            </a:r>
            <a:endParaRPr lang="en-US" sz="2100" dirty="0"/>
          </a:p>
        </p:txBody>
      </p:sp>
      <p:sp>
        <p:nvSpPr>
          <p:cNvPr id="22" name="Text 20"/>
          <p:cNvSpPr txBox="1"/>
          <p:nvPr/>
        </p:nvSpPr>
        <p:spPr>
          <a:xfrm>
            <a:off x="5797296" y="5650992"/>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변환 체인</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01. 안테나 좌표계 ① 극좌표(Polar)</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8</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레이다가 물리적으로 잴 수 있는 것 – 거리 하나와 각도 둘. 기준은 안테나 자기 정면(보어사이트).</a:t>
            </a:r>
            <a:endParaRPr lang="en-US" sz="1450" dirty="0"/>
          </a:p>
        </p:txBody>
      </p:sp>
      <p:sp>
        <p:nvSpPr>
          <p:cNvPr id="10" name="Shape 8"/>
          <p:cNvSpPr/>
          <p:nvPr/>
        </p:nvSpPr>
        <p:spPr>
          <a:xfrm rot="5400000">
            <a:off x="2816352" y="3493008"/>
            <a:ext cx="3364992" cy="0"/>
          </a:xfrm>
          <a:prstGeom prst="line">
            <a:avLst/>
          </a:prstGeom>
          <a:noFill/>
          <a:ln w="11430">
            <a:solidFill>
              <a:srgbClr val="C9D6EC"/>
            </a:solidFill>
            <a:prstDash val="solid"/>
            <a:headEnd type="none"/>
            <a:tailEnd type="none"/>
          </a:ln>
        </p:spPr>
        <p:txBody>
          <a:bodyPr/>
          <a:p/>
        </p:txBody>
      </p:sp>
      <p:sp>
        <p:nvSpPr>
          <p:cNvPr id="11" name="Text 9"/>
          <p:cNvSpPr txBox="1"/>
          <p:nvPr/>
        </p:nvSpPr>
        <p:spPr>
          <a:xfrm>
            <a:off x="960120" y="1828800"/>
            <a:ext cx="3474720" cy="274320"/>
          </a:xfrm>
          <a:prstGeom prst="rect">
            <a:avLst/>
          </a:prstGeom>
          <a:noFill/>
          <a:ln/>
        </p:spPr>
        <p:txBody>
          <a:bodyPr wrap="square" lIns="0" tIns="0" rIns="0" bIns="0" rtlCol="0" anchor="ct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위에서 본 안테나 – 방위각 Az(Azimuth)</a:t>
            </a:r>
            <a:endParaRPr lang="en-US" sz="1250" dirty="0"/>
          </a:p>
        </p:txBody>
      </p:sp>
      <p:sp>
        <p:nvSpPr>
          <p:cNvPr id="12" name="Shape 10"/>
          <p:cNvSpPr/>
          <p:nvPr/>
        </p:nvSpPr>
        <p:spPr>
          <a:xfrm rot="5400000">
            <a:off x="1389888" y="3639312"/>
            <a:ext cx="310896" cy="548640"/>
          </a:xfrm>
          <a:prstGeom prst="trapezoid">
            <a:avLst/>
          </a:prstGeom>
          <a:solidFill>
            <a:srgbClr val="B9C0CC"/>
          </a:solidFill>
          <a:ln/>
        </p:spPr>
        <p:txBody>
          <a:bodyPr/>
          <a:p/>
        </p:txBody>
      </p:sp>
      <p:sp>
        <p:nvSpPr>
          <p:cNvPr id="13" name="Shape 11"/>
          <p:cNvSpPr/>
          <p:nvPr/>
        </p:nvSpPr>
        <p:spPr>
          <a:xfrm>
            <a:off x="1664208" y="3346704"/>
            <a:ext cx="137160" cy="1133856"/>
          </a:xfrm>
          <a:prstGeom prst="rect">
            <a:avLst/>
          </a:prstGeom>
          <a:solidFill>
            <a:srgbClr val="B9C0CC"/>
          </a:solidFill>
          <a:ln/>
        </p:spPr>
        <p:txBody>
          <a:bodyPr/>
          <a:p/>
        </p:txBody>
      </p:sp>
      <p:sp>
        <p:nvSpPr>
          <p:cNvPr id="14" name="Text 12"/>
          <p:cNvSpPr txBox="1"/>
          <p:nvPr/>
        </p:nvSpPr>
        <p:spPr>
          <a:xfrm>
            <a:off x="109728" y="3694176"/>
            <a:ext cx="969264" cy="457200"/>
          </a:xfrm>
          <a:prstGeom prst="rect">
            <a:avLst/>
          </a:prstGeom>
          <a:noFill/>
          <a:ln/>
        </p:spPr>
        <p:txBody>
          <a:bodyPr wrap="square" lIns="0" tIns="0" rIns="0" bIns="0" rtlCol="0" anchor="t"/>
          <a:lstStyle/>
          <a:p>
            <a:pPr marL="0" indent="0" algn="r">
              <a:lnSpc>
                <a:spcPct val="105000"/>
              </a:lnSpc>
              <a:spcAft>
                <a:spcPts val="200"/>
              </a:spcAft>
              <a:buNone/>
            </a:pPr>
            <a:r>
              <a:rPr lang="en-US" sz="950" dirty="0">
                <a:solidFill>
                  <a:srgbClr val="1A2233"/>
                </a:solidFill>
                <a:latin typeface="맑은 고딕" pitchFamily="34" charset="0"/>
                <a:ea typeface="맑은 고딕" pitchFamily="34" charset="-122"/>
                <a:cs typeface="맑은 고딕" pitchFamily="34" charset="-120"/>
              </a:rPr>
              <a:t>레이다</a:t>
            </a:r>
            <a:endParaRPr lang="en-US" sz="950" dirty="0"/>
          </a:p>
          <a:p>
            <a:pPr marL="0" indent="0" algn="r">
              <a:lnSpc>
                <a:spcPct val="105000"/>
              </a:lnSpc>
              <a:buNone/>
            </a:pPr>
            <a:r>
              <a:rPr lang="en-US" sz="950" dirty="0">
                <a:solidFill>
                  <a:srgbClr val="1A2233"/>
                </a:solidFill>
                <a:latin typeface="맑은 고딕" pitchFamily="34" charset="0"/>
                <a:ea typeface="맑은 고딕" pitchFamily="34" charset="-122"/>
                <a:cs typeface="맑은 고딕" pitchFamily="34" charset="-120"/>
              </a:rPr>
              <a:t>안테나</a:t>
            </a:r>
            <a:endParaRPr lang="en-US" sz="950" dirty="0"/>
          </a:p>
        </p:txBody>
      </p:sp>
      <p:sp>
        <p:nvSpPr>
          <p:cNvPr id="15" name="Shape 13"/>
          <p:cNvSpPr/>
          <p:nvPr/>
        </p:nvSpPr>
        <p:spPr>
          <a:xfrm>
            <a:off x="1810512" y="3913632"/>
            <a:ext cx="1920240" cy="0"/>
          </a:xfrm>
          <a:prstGeom prst="line">
            <a:avLst/>
          </a:prstGeom>
          <a:noFill/>
          <a:ln w="15240">
            <a:solidFill>
              <a:srgbClr val="13233F"/>
            </a:solidFill>
            <a:prstDash val="solid"/>
            <a:headEnd type="none"/>
            <a:tailEnd type="triangle"/>
          </a:ln>
        </p:spPr>
        <p:txBody>
          <a:bodyPr/>
          <a:p/>
        </p:txBody>
      </p:sp>
      <p:sp>
        <p:nvSpPr>
          <p:cNvPr id="16" name="Text 14"/>
          <p:cNvSpPr txBox="1"/>
          <p:nvPr/>
        </p:nvSpPr>
        <p:spPr>
          <a:xfrm>
            <a:off x="2496312" y="4096512"/>
            <a:ext cx="128016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z 보어사이트</a:t>
            </a:r>
            <a:endParaRPr lang="en-US" sz="900" dirty="0"/>
          </a:p>
        </p:txBody>
      </p:sp>
      <p:sp>
        <p:nvSpPr>
          <p:cNvPr id="17" name="Shape 15"/>
          <p:cNvSpPr/>
          <p:nvPr/>
        </p:nvSpPr>
        <p:spPr>
          <a:xfrm rot="-5400000">
            <a:off x="1033272" y="3136392"/>
            <a:ext cx="1554480" cy="0"/>
          </a:xfrm>
          <a:prstGeom prst="line">
            <a:avLst/>
          </a:prstGeom>
          <a:noFill/>
          <a:ln w="15240">
            <a:solidFill>
              <a:srgbClr val="13233F"/>
            </a:solidFill>
            <a:prstDash val="solid"/>
            <a:headEnd type="none"/>
            <a:tailEnd type="triangle"/>
          </a:ln>
        </p:spPr>
        <p:txBody>
          <a:bodyPr/>
          <a:p/>
        </p:txBody>
      </p:sp>
      <p:sp>
        <p:nvSpPr>
          <p:cNvPr id="18" name="Text 16"/>
          <p:cNvSpPr txBox="1"/>
          <p:nvPr/>
        </p:nvSpPr>
        <p:spPr>
          <a:xfrm>
            <a:off x="1901952" y="2231136"/>
            <a:ext cx="82296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x 왼쪽</a:t>
            </a:r>
            <a:endParaRPr lang="en-US" sz="900" dirty="0"/>
          </a:p>
        </p:txBody>
      </p:sp>
      <p:sp>
        <p:nvSpPr>
          <p:cNvPr id="19" name="Shape 17"/>
          <p:cNvSpPr/>
          <p:nvPr/>
        </p:nvSpPr>
        <p:spPr>
          <a:xfrm rot="-1713950">
            <a:off x="1696446" y="3465576"/>
            <a:ext cx="1874052" cy="0"/>
          </a:xfrm>
          <a:prstGeom prst="line">
            <a:avLst/>
          </a:prstGeom>
          <a:noFill/>
          <a:ln w="16510">
            <a:solidFill>
              <a:srgbClr val="13233F"/>
            </a:solidFill>
            <a:prstDash val="solid"/>
            <a:headEnd type="none"/>
            <a:tailEnd type="triangle"/>
          </a:ln>
        </p:spPr>
        <p:txBody>
          <a:bodyPr/>
          <a:p/>
        </p:txBody>
      </p:sp>
      <p:sp>
        <p:nvSpPr>
          <p:cNvPr id="20" name="Text 18"/>
          <p:cNvSpPr txBox="1"/>
          <p:nvPr/>
        </p:nvSpPr>
        <p:spPr>
          <a:xfrm>
            <a:off x="2596896" y="3310128"/>
            <a:ext cx="228600" cy="201168"/>
          </a:xfrm>
          <a:prstGeom prst="rect">
            <a:avLst/>
          </a:prstGeom>
          <a:noFill/>
          <a:ln/>
        </p:spPr>
        <p:txBody>
          <a:bodyPr wrap="square" lIns="0" tIns="0" rIns="0" bIns="0" rtlCol="0" anchor="ctr"/>
          <a:lstStyle/>
          <a:p>
            <a:pPr marL="0" indent="0" algn="l">
              <a:buNone/>
            </a:pPr>
            <a:r>
              <a:rPr lang="en-US" sz="1100" b="1" dirty="0">
                <a:solidFill>
                  <a:srgbClr val="1A2233"/>
                </a:solidFill>
                <a:latin typeface="Arial" pitchFamily="34" charset="0"/>
                <a:ea typeface="Arial" pitchFamily="34" charset="-122"/>
                <a:cs typeface="Arial" pitchFamily="34" charset="-120"/>
              </a:rPr>
              <a:t>R</a:t>
            </a:r>
            <a:endParaRPr lang="en-US" sz="1100" dirty="0"/>
          </a:p>
        </p:txBody>
      </p:sp>
      <p:sp>
        <p:nvSpPr>
          <p:cNvPr id="21" name="Shape 19"/>
          <p:cNvSpPr/>
          <p:nvPr/>
        </p:nvSpPr>
        <p:spPr>
          <a:xfrm rot="3930000">
            <a:off x="2430267" y="3610841"/>
            <a:ext cx="89316" cy="0"/>
          </a:xfrm>
          <a:prstGeom prst="line">
            <a:avLst/>
          </a:prstGeom>
          <a:noFill/>
          <a:ln w="12700">
            <a:solidFill>
              <a:srgbClr val="13233F"/>
            </a:solidFill>
            <a:prstDash val="solid"/>
            <a:headEnd type="none"/>
            <a:tailEnd type="none"/>
          </a:ln>
        </p:spPr>
        <p:txBody>
          <a:bodyPr/>
          <a:p/>
        </p:txBody>
      </p:sp>
      <p:sp>
        <p:nvSpPr>
          <p:cNvPr id="22" name="Shape 20"/>
          <p:cNvSpPr/>
          <p:nvPr/>
        </p:nvSpPr>
        <p:spPr>
          <a:xfrm rot="4350000">
            <a:off x="2462216" y="3694070"/>
            <a:ext cx="89316" cy="0"/>
          </a:xfrm>
          <a:prstGeom prst="line">
            <a:avLst/>
          </a:prstGeom>
          <a:noFill/>
          <a:ln w="12700">
            <a:solidFill>
              <a:srgbClr val="13233F"/>
            </a:solidFill>
            <a:prstDash val="solid"/>
            <a:headEnd type="none"/>
            <a:tailEnd type="none"/>
          </a:ln>
        </p:spPr>
        <p:txBody>
          <a:bodyPr/>
          <a:p/>
        </p:txBody>
      </p:sp>
      <p:sp>
        <p:nvSpPr>
          <p:cNvPr id="23" name="Shape 21"/>
          <p:cNvSpPr/>
          <p:nvPr/>
        </p:nvSpPr>
        <p:spPr>
          <a:xfrm rot="4770000">
            <a:off x="2483783" y="3780572"/>
            <a:ext cx="89316" cy="0"/>
          </a:xfrm>
          <a:prstGeom prst="line">
            <a:avLst/>
          </a:prstGeom>
          <a:noFill/>
          <a:ln w="12700">
            <a:solidFill>
              <a:srgbClr val="13233F"/>
            </a:solidFill>
            <a:prstDash val="solid"/>
            <a:headEnd type="none"/>
            <a:tailEnd type="none"/>
          </a:ln>
        </p:spPr>
        <p:txBody>
          <a:bodyPr/>
          <a:p/>
        </p:txBody>
      </p:sp>
      <p:sp>
        <p:nvSpPr>
          <p:cNvPr id="24" name="Shape 22"/>
          <p:cNvSpPr/>
          <p:nvPr/>
        </p:nvSpPr>
        <p:spPr>
          <a:xfrm rot="5190000">
            <a:off x="2494647" y="3869057"/>
            <a:ext cx="89316" cy="0"/>
          </a:xfrm>
          <a:prstGeom prst="line">
            <a:avLst/>
          </a:prstGeom>
          <a:noFill/>
          <a:ln w="12700">
            <a:solidFill>
              <a:srgbClr val="13233F"/>
            </a:solidFill>
            <a:prstDash val="solid"/>
            <a:headEnd type="none"/>
            <a:tailEnd type="none"/>
          </a:ln>
        </p:spPr>
        <p:txBody>
          <a:bodyPr/>
          <a:p/>
        </p:txBody>
      </p:sp>
      <p:sp>
        <p:nvSpPr>
          <p:cNvPr id="25" name="Text 23"/>
          <p:cNvSpPr txBox="1"/>
          <p:nvPr/>
        </p:nvSpPr>
        <p:spPr>
          <a:xfrm>
            <a:off x="2432304" y="3657600"/>
            <a:ext cx="32004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Az</a:t>
            </a:r>
            <a:endParaRPr lang="en-US" sz="1000" dirty="0"/>
          </a:p>
        </p:txBody>
      </p:sp>
      <p:sp>
        <p:nvSpPr>
          <p:cNvPr id="26" name="Shape 24"/>
          <p:cNvSpPr/>
          <p:nvPr/>
        </p:nvSpPr>
        <p:spPr>
          <a:xfrm>
            <a:off x="3461004" y="2930652"/>
            <a:ext cx="100584" cy="100584"/>
          </a:xfrm>
          <a:prstGeom prst="ellipse">
            <a:avLst/>
          </a:prstGeom>
          <a:solidFill>
            <a:srgbClr val="13233F"/>
          </a:solidFill>
          <a:ln/>
        </p:spPr>
        <p:txBody>
          <a:bodyPr/>
          <a:p/>
        </p:txBody>
      </p:sp>
      <p:sp>
        <p:nvSpPr>
          <p:cNvPr id="27" name="Text 25"/>
          <p:cNvSpPr txBox="1"/>
          <p:nvPr/>
        </p:nvSpPr>
        <p:spPr>
          <a:xfrm>
            <a:off x="3291840" y="2743200"/>
            <a:ext cx="54864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표적</a:t>
            </a:r>
            <a:endParaRPr lang="en-US" sz="950" dirty="0"/>
          </a:p>
        </p:txBody>
      </p:sp>
      <p:sp>
        <p:nvSpPr>
          <p:cNvPr id="28" name="Text 26"/>
          <p:cNvSpPr txBox="1"/>
          <p:nvPr/>
        </p:nvSpPr>
        <p:spPr>
          <a:xfrm>
            <a:off x="4846320" y="1828800"/>
            <a:ext cx="3474720" cy="274320"/>
          </a:xfrm>
          <a:prstGeom prst="rect">
            <a:avLst/>
          </a:prstGeom>
          <a:noFill/>
          <a:ln/>
        </p:spPr>
        <p:txBody>
          <a:bodyPr wrap="square" lIns="0" tIns="0" rIns="0" bIns="0" rtlCol="0" anchor="ct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옆에서 본 안테나 – 고각 El(Elevation)</a:t>
            </a:r>
            <a:endParaRPr lang="en-US" sz="1250" dirty="0"/>
          </a:p>
        </p:txBody>
      </p:sp>
      <p:sp>
        <p:nvSpPr>
          <p:cNvPr id="29" name="Shape 27"/>
          <p:cNvSpPr/>
          <p:nvPr/>
        </p:nvSpPr>
        <p:spPr>
          <a:xfrm>
            <a:off x="5541264" y="3346704"/>
            <a:ext cx="137160" cy="1133856"/>
          </a:xfrm>
          <a:prstGeom prst="rect">
            <a:avLst/>
          </a:prstGeom>
          <a:solidFill>
            <a:srgbClr val="B9C0CC"/>
          </a:solidFill>
          <a:ln/>
        </p:spPr>
        <p:txBody>
          <a:bodyPr/>
          <a:p/>
        </p:txBody>
      </p:sp>
      <p:sp>
        <p:nvSpPr>
          <p:cNvPr id="30" name="Shape 28"/>
          <p:cNvSpPr/>
          <p:nvPr/>
        </p:nvSpPr>
        <p:spPr>
          <a:xfrm>
            <a:off x="5193792" y="3456432"/>
            <a:ext cx="347472" cy="566928"/>
          </a:xfrm>
          <a:prstGeom prst="rect">
            <a:avLst/>
          </a:prstGeom>
          <a:solidFill>
            <a:srgbClr val="B9C0CC"/>
          </a:solidFill>
          <a:ln/>
        </p:spPr>
        <p:txBody>
          <a:bodyPr/>
          <a:p/>
        </p:txBody>
      </p:sp>
      <p:sp>
        <p:nvSpPr>
          <p:cNvPr id="31" name="Shape 29"/>
          <p:cNvSpPr/>
          <p:nvPr/>
        </p:nvSpPr>
        <p:spPr>
          <a:xfrm>
            <a:off x="5303520" y="4023360"/>
            <a:ext cx="146304" cy="658368"/>
          </a:xfrm>
          <a:prstGeom prst="rect">
            <a:avLst/>
          </a:prstGeom>
          <a:solidFill>
            <a:srgbClr val="B9C0CC"/>
          </a:solidFill>
          <a:ln/>
        </p:spPr>
        <p:txBody>
          <a:bodyPr/>
          <a:p/>
        </p:txBody>
      </p:sp>
      <p:sp>
        <p:nvSpPr>
          <p:cNvPr id="32" name="Shape 30"/>
          <p:cNvSpPr/>
          <p:nvPr/>
        </p:nvSpPr>
        <p:spPr>
          <a:xfrm>
            <a:off x="4901184" y="4681728"/>
            <a:ext cx="950976" cy="118872"/>
          </a:xfrm>
          <a:prstGeom prst="rect">
            <a:avLst/>
          </a:prstGeom>
          <a:solidFill>
            <a:srgbClr val="B9C0CC"/>
          </a:solidFill>
          <a:ln/>
        </p:spPr>
        <p:txBody>
          <a:bodyPr/>
          <a:p/>
        </p:txBody>
      </p:sp>
      <p:sp>
        <p:nvSpPr>
          <p:cNvPr id="33" name="Shape 31"/>
          <p:cNvSpPr/>
          <p:nvPr/>
        </p:nvSpPr>
        <p:spPr>
          <a:xfrm>
            <a:off x="4773168" y="4818888"/>
            <a:ext cx="1234440" cy="0"/>
          </a:xfrm>
          <a:prstGeom prst="line">
            <a:avLst/>
          </a:prstGeom>
          <a:noFill/>
          <a:ln w="10160">
            <a:solidFill>
              <a:srgbClr val="C9D6EC"/>
            </a:solidFill>
            <a:prstDash val="sysDot"/>
            <a:headEnd type="none"/>
            <a:tailEnd type="none"/>
          </a:ln>
        </p:spPr>
        <p:txBody>
          <a:bodyPr/>
          <a:p/>
        </p:txBody>
      </p:sp>
      <p:sp>
        <p:nvSpPr>
          <p:cNvPr id="34" name="Shape 32"/>
          <p:cNvSpPr/>
          <p:nvPr/>
        </p:nvSpPr>
        <p:spPr>
          <a:xfrm>
            <a:off x="5687568" y="3913632"/>
            <a:ext cx="1920240" cy="0"/>
          </a:xfrm>
          <a:prstGeom prst="line">
            <a:avLst/>
          </a:prstGeom>
          <a:noFill/>
          <a:ln w="15240">
            <a:solidFill>
              <a:srgbClr val="13233F"/>
            </a:solidFill>
            <a:prstDash val="solid"/>
            <a:headEnd type="none"/>
            <a:tailEnd type="triangle"/>
          </a:ln>
        </p:spPr>
        <p:txBody>
          <a:bodyPr/>
          <a:p/>
        </p:txBody>
      </p:sp>
      <p:sp>
        <p:nvSpPr>
          <p:cNvPr id="35" name="Text 33"/>
          <p:cNvSpPr txBox="1"/>
          <p:nvPr/>
        </p:nvSpPr>
        <p:spPr>
          <a:xfrm>
            <a:off x="6327648" y="4096512"/>
            <a:ext cx="164592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z 보어사이트 (수평)</a:t>
            </a:r>
            <a:endParaRPr lang="en-US" sz="900" dirty="0"/>
          </a:p>
        </p:txBody>
      </p:sp>
      <p:sp>
        <p:nvSpPr>
          <p:cNvPr id="36" name="Shape 34"/>
          <p:cNvSpPr/>
          <p:nvPr/>
        </p:nvSpPr>
        <p:spPr>
          <a:xfrm rot="-5400000">
            <a:off x="4910328" y="3136392"/>
            <a:ext cx="1554480" cy="0"/>
          </a:xfrm>
          <a:prstGeom prst="line">
            <a:avLst/>
          </a:prstGeom>
          <a:noFill/>
          <a:ln w="15240">
            <a:solidFill>
              <a:srgbClr val="13233F"/>
            </a:solidFill>
            <a:prstDash val="solid"/>
            <a:headEnd type="none"/>
            <a:tailEnd type="triangle"/>
          </a:ln>
        </p:spPr>
        <p:txBody>
          <a:bodyPr/>
          <a:p/>
        </p:txBody>
      </p:sp>
      <p:sp>
        <p:nvSpPr>
          <p:cNvPr id="37" name="Text 35"/>
          <p:cNvSpPr txBox="1"/>
          <p:nvPr/>
        </p:nvSpPr>
        <p:spPr>
          <a:xfrm>
            <a:off x="5779008" y="2231136"/>
            <a:ext cx="64008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y 위</a:t>
            </a:r>
            <a:endParaRPr lang="en-US" sz="900" dirty="0"/>
          </a:p>
        </p:txBody>
      </p:sp>
      <p:sp>
        <p:nvSpPr>
          <p:cNvPr id="38" name="Shape 36"/>
          <p:cNvSpPr/>
          <p:nvPr/>
        </p:nvSpPr>
        <p:spPr>
          <a:xfrm rot="-1840136">
            <a:off x="5559689" y="3447288"/>
            <a:ext cx="1828526" cy="0"/>
          </a:xfrm>
          <a:prstGeom prst="line">
            <a:avLst/>
          </a:prstGeom>
          <a:noFill/>
          <a:ln w="16510">
            <a:solidFill>
              <a:srgbClr val="13233F"/>
            </a:solidFill>
            <a:prstDash val="solid"/>
            <a:headEnd type="none"/>
            <a:tailEnd type="triangle"/>
          </a:ln>
        </p:spPr>
        <p:txBody>
          <a:bodyPr/>
          <a:p/>
        </p:txBody>
      </p:sp>
      <p:sp>
        <p:nvSpPr>
          <p:cNvPr id="39" name="Text 37"/>
          <p:cNvSpPr txBox="1"/>
          <p:nvPr/>
        </p:nvSpPr>
        <p:spPr>
          <a:xfrm>
            <a:off x="6419088" y="3273552"/>
            <a:ext cx="228600" cy="201168"/>
          </a:xfrm>
          <a:prstGeom prst="rect">
            <a:avLst/>
          </a:prstGeom>
          <a:noFill/>
          <a:ln/>
        </p:spPr>
        <p:txBody>
          <a:bodyPr wrap="square" lIns="0" tIns="0" rIns="0" bIns="0" rtlCol="0" anchor="ctr"/>
          <a:lstStyle/>
          <a:p>
            <a:pPr marL="0" indent="0" algn="l">
              <a:buNone/>
            </a:pPr>
            <a:r>
              <a:rPr lang="en-US" sz="1100" b="1" dirty="0">
                <a:solidFill>
                  <a:srgbClr val="1A2233"/>
                </a:solidFill>
                <a:latin typeface="Arial" pitchFamily="34" charset="0"/>
                <a:ea typeface="Arial" pitchFamily="34" charset="-122"/>
                <a:cs typeface="Arial" pitchFamily="34" charset="-120"/>
              </a:rPr>
              <a:t>R</a:t>
            </a:r>
            <a:endParaRPr lang="en-US" sz="1100" dirty="0"/>
          </a:p>
        </p:txBody>
      </p:sp>
      <p:sp>
        <p:nvSpPr>
          <p:cNvPr id="40" name="Shape 38"/>
          <p:cNvSpPr/>
          <p:nvPr/>
        </p:nvSpPr>
        <p:spPr>
          <a:xfrm rot="3825000">
            <a:off x="6339912" y="3566568"/>
            <a:ext cx="102864" cy="0"/>
          </a:xfrm>
          <a:prstGeom prst="line">
            <a:avLst/>
          </a:prstGeom>
          <a:noFill/>
          <a:ln w="12700">
            <a:solidFill>
              <a:srgbClr val="13233F"/>
            </a:solidFill>
            <a:prstDash val="solid"/>
            <a:headEnd type="none"/>
            <a:tailEnd type="none"/>
          </a:ln>
        </p:spPr>
        <p:txBody>
          <a:bodyPr/>
          <a:p/>
        </p:txBody>
      </p:sp>
      <p:sp>
        <p:nvSpPr>
          <p:cNvPr id="41" name="Shape 39"/>
          <p:cNvSpPr/>
          <p:nvPr/>
        </p:nvSpPr>
        <p:spPr>
          <a:xfrm rot="4275000">
            <a:off x="6379192" y="3661398"/>
            <a:ext cx="102864" cy="0"/>
          </a:xfrm>
          <a:prstGeom prst="line">
            <a:avLst/>
          </a:prstGeom>
          <a:noFill/>
          <a:ln w="12700">
            <a:solidFill>
              <a:srgbClr val="13233F"/>
            </a:solidFill>
            <a:prstDash val="solid"/>
            <a:headEnd type="none"/>
            <a:tailEnd type="none"/>
          </a:ln>
        </p:spPr>
        <p:txBody>
          <a:bodyPr/>
          <a:p/>
        </p:txBody>
      </p:sp>
      <p:sp>
        <p:nvSpPr>
          <p:cNvPr id="42" name="Shape 40"/>
          <p:cNvSpPr/>
          <p:nvPr/>
        </p:nvSpPr>
        <p:spPr>
          <a:xfrm rot="4725000">
            <a:off x="6405759" y="3760545"/>
            <a:ext cx="102864" cy="0"/>
          </a:xfrm>
          <a:prstGeom prst="line">
            <a:avLst/>
          </a:prstGeom>
          <a:noFill/>
          <a:ln w="12700">
            <a:solidFill>
              <a:srgbClr val="13233F"/>
            </a:solidFill>
            <a:prstDash val="solid"/>
            <a:headEnd type="none"/>
            <a:tailEnd type="none"/>
          </a:ln>
        </p:spPr>
        <p:txBody>
          <a:bodyPr/>
          <a:p/>
        </p:txBody>
      </p:sp>
      <p:sp>
        <p:nvSpPr>
          <p:cNvPr id="43" name="Shape 41"/>
          <p:cNvSpPr/>
          <p:nvPr/>
        </p:nvSpPr>
        <p:spPr>
          <a:xfrm rot="5175000">
            <a:off x="6419156" y="3862310"/>
            <a:ext cx="102864" cy="0"/>
          </a:xfrm>
          <a:prstGeom prst="line">
            <a:avLst/>
          </a:prstGeom>
          <a:noFill/>
          <a:ln w="12700">
            <a:solidFill>
              <a:srgbClr val="13233F"/>
            </a:solidFill>
            <a:prstDash val="solid"/>
            <a:headEnd type="none"/>
            <a:tailEnd type="none"/>
          </a:ln>
        </p:spPr>
        <p:txBody>
          <a:bodyPr/>
          <a:p/>
        </p:txBody>
      </p:sp>
      <p:sp>
        <p:nvSpPr>
          <p:cNvPr id="44" name="Text 42"/>
          <p:cNvSpPr txBox="1"/>
          <p:nvPr/>
        </p:nvSpPr>
        <p:spPr>
          <a:xfrm>
            <a:off x="6364224" y="3639312"/>
            <a:ext cx="27432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El</a:t>
            </a:r>
            <a:endParaRPr lang="en-US" sz="1000" dirty="0"/>
          </a:p>
        </p:txBody>
      </p:sp>
      <p:sp>
        <p:nvSpPr>
          <p:cNvPr id="45" name="Shape 43"/>
          <p:cNvSpPr/>
          <p:nvPr/>
        </p:nvSpPr>
        <p:spPr>
          <a:xfrm>
            <a:off x="7264908" y="2894076"/>
            <a:ext cx="100584" cy="100584"/>
          </a:xfrm>
          <a:prstGeom prst="ellipse">
            <a:avLst/>
          </a:prstGeom>
          <a:solidFill>
            <a:srgbClr val="13233F"/>
          </a:solidFill>
          <a:ln/>
        </p:spPr>
        <p:txBody>
          <a:bodyPr/>
          <a:p/>
        </p:txBody>
      </p:sp>
      <p:sp>
        <p:nvSpPr>
          <p:cNvPr id="46" name="Text 44"/>
          <p:cNvSpPr txBox="1"/>
          <p:nvPr/>
        </p:nvSpPr>
        <p:spPr>
          <a:xfrm>
            <a:off x="7095744" y="2706624"/>
            <a:ext cx="54864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표적</a:t>
            </a:r>
            <a:endParaRPr lang="en-US" sz="950" dirty="0"/>
          </a:p>
        </p:txBody>
      </p:sp>
      <p:sp>
        <p:nvSpPr>
          <p:cNvPr id="47" name="Shape 45"/>
          <p:cNvSpPr/>
          <p:nvPr/>
        </p:nvSpPr>
        <p:spPr>
          <a:xfrm>
            <a:off x="7973568" y="1755648"/>
            <a:ext cx="3401568" cy="3675888"/>
          </a:xfrm>
          <a:prstGeom prst="roundRect">
            <a:avLst>
              <a:gd name="adj" fmla="val 1344"/>
            </a:avLst>
          </a:prstGeom>
          <a:solidFill>
            <a:srgbClr val="EEF1F7"/>
          </a:solidFill>
          <a:ln/>
        </p:spPr>
        <p:txBody>
          <a:bodyPr/>
          <a:p/>
        </p:txBody>
      </p:sp>
      <p:sp>
        <p:nvSpPr>
          <p:cNvPr id="48" name="Text 46"/>
          <p:cNvSpPr txBox="1"/>
          <p:nvPr/>
        </p:nvSpPr>
        <p:spPr>
          <a:xfrm>
            <a:off x="8229600" y="1901952"/>
            <a:ext cx="2944368" cy="310896"/>
          </a:xfrm>
          <a:prstGeom prst="rect">
            <a:avLst/>
          </a:prstGeom>
          <a:noFill/>
          <a:ln/>
        </p:spPr>
        <p:txBody>
          <a:bodyPr wrap="square" lIns="0" tIns="0" rIns="0" bIns="0" rtlCol="0" anchor="ctr"/>
          <a:lstStyle/>
          <a:p>
            <a:pPr marL="0" indent="0">
              <a:buNone/>
            </a:pPr>
            <a:r>
              <a:rPr lang="en-US" sz="1500" b="1" dirty="0">
                <a:solidFill>
                  <a:srgbClr val="1A2233"/>
                </a:solidFill>
                <a:latin typeface="맑은 고딕" pitchFamily="34" charset="0"/>
                <a:ea typeface="맑은 고딕" pitchFamily="34" charset="-122"/>
                <a:cs typeface="맑은 고딕" pitchFamily="34" charset="-120"/>
              </a:rPr>
              <a:t>세 성분</a:t>
            </a:r>
            <a:endParaRPr lang="en-US" sz="1500" dirty="0"/>
          </a:p>
        </p:txBody>
      </p:sp>
      <p:sp>
        <p:nvSpPr>
          <p:cNvPr id="49" name="Text 47"/>
          <p:cNvSpPr txBox="1"/>
          <p:nvPr/>
        </p:nvSpPr>
        <p:spPr>
          <a:xfrm>
            <a:off x="8229600" y="2395728"/>
            <a:ext cx="2944368" cy="548640"/>
          </a:xfrm>
          <a:prstGeom prst="rect">
            <a:avLst/>
          </a:prstGeom>
          <a:noFill/>
          <a:ln/>
        </p:spPr>
        <p:txBody>
          <a:bodyPr wrap="square" lIns="0" tIns="0" rIns="0" bIns="0" rtlCol="0" anchor="t"/>
          <a:lstStyle/>
          <a:p>
            <a:pPr marL="0" indent="0" algn="l">
              <a:lnSpc>
                <a:spcPct val="105000"/>
              </a:lnSpc>
              <a:spcAft>
                <a:spcPts val="500"/>
              </a:spcAft>
              <a:buNone/>
            </a:pPr>
            <a:r>
              <a:rPr lang="en-US" sz="1300" b="1" dirty="0">
                <a:solidFill>
                  <a:srgbClr val="1A2233"/>
                </a:solidFill>
                <a:latin typeface="맑은 고딕" pitchFamily="34" charset="0"/>
                <a:ea typeface="맑은 고딕" pitchFamily="34" charset="-122"/>
                <a:cs typeface="맑은 고딕" pitchFamily="34" charset="-120"/>
              </a:rPr>
              <a:t>R 시선거리</a:t>
            </a:r>
            <a:endParaRPr lang="en-US" sz="1300" dirty="0"/>
          </a:p>
          <a:p>
            <a:pPr marL="0" indent="0" algn="l">
              <a:lnSpc>
                <a:spcPct val="105000"/>
              </a:lnSpc>
              <a:buNone/>
            </a:pPr>
            <a:r>
              <a:rPr lang="en-US" sz="950" dirty="0">
                <a:solidFill>
                  <a:srgbClr val="5A6478"/>
                </a:solidFill>
                <a:latin typeface="맑은 고딕" pitchFamily="34" charset="0"/>
                <a:ea typeface="맑은 고딕" pitchFamily="34" charset="-122"/>
                <a:cs typeface="맑은 고딕" pitchFamily="34" charset="-120"/>
              </a:rPr>
              <a:t>Range · 전파 왕복시간 × c ÷ 2</a:t>
            </a:r>
            <a:endParaRPr lang="en-US" sz="1300" dirty="0"/>
          </a:p>
        </p:txBody>
      </p:sp>
      <p:sp>
        <p:nvSpPr>
          <p:cNvPr id="50" name="Text 48"/>
          <p:cNvSpPr txBox="1"/>
          <p:nvPr/>
        </p:nvSpPr>
        <p:spPr>
          <a:xfrm>
            <a:off x="8229600" y="3127248"/>
            <a:ext cx="2944368" cy="548640"/>
          </a:xfrm>
          <a:prstGeom prst="rect">
            <a:avLst/>
          </a:prstGeom>
          <a:noFill/>
          <a:ln/>
        </p:spPr>
        <p:txBody>
          <a:bodyPr wrap="square" lIns="0" tIns="0" rIns="0" bIns="0" rtlCol="0" anchor="t"/>
          <a:lstStyle/>
          <a:p>
            <a:pPr marL="0" indent="0" algn="l">
              <a:lnSpc>
                <a:spcPct val="105000"/>
              </a:lnSpc>
              <a:spcAft>
                <a:spcPts val="500"/>
              </a:spcAft>
              <a:buNone/>
            </a:pPr>
            <a:r>
              <a:rPr lang="en-US" sz="1300" b="1" dirty="0">
                <a:solidFill>
                  <a:srgbClr val="1A2233"/>
                </a:solidFill>
                <a:latin typeface="맑은 고딕" pitchFamily="34" charset="0"/>
                <a:ea typeface="맑은 고딕" pitchFamily="34" charset="-122"/>
                <a:cs typeface="맑은 고딕" pitchFamily="34" charset="-120"/>
              </a:rPr>
              <a:t>Az 방위각</a:t>
            </a:r>
            <a:endParaRPr lang="en-US" sz="1300" dirty="0"/>
          </a:p>
          <a:p>
            <a:pPr marL="0" indent="0" algn="l">
              <a:lnSpc>
                <a:spcPct val="105000"/>
              </a:lnSpc>
              <a:buNone/>
            </a:pPr>
            <a:r>
              <a:rPr lang="en-US" sz="950" dirty="0">
                <a:solidFill>
                  <a:srgbClr val="5A6478"/>
                </a:solidFill>
                <a:latin typeface="맑은 고딕" pitchFamily="34" charset="0"/>
                <a:ea typeface="맑은 고딕" pitchFamily="34" charset="-122"/>
                <a:cs typeface="맑은 고딕" pitchFamily="34" charset="-120"/>
              </a:rPr>
              <a:t>Azimuth · 보어사이트에서 왼쪽(반시계)으로</a:t>
            </a:r>
            <a:endParaRPr lang="en-US" sz="1300" dirty="0"/>
          </a:p>
        </p:txBody>
      </p:sp>
      <p:sp>
        <p:nvSpPr>
          <p:cNvPr id="51" name="Text 49"/>
          <p:cNvSpPr txBox="1"/>
          <p:nvPr/>
        </p:nvSpPr>
        <p:spPr>
          <a:xfrm>
            <a:off x="8229600" y="3858768"/>
            <a:ext cx="2944368" cy="548640"/>
          </a:xfrm>
          <a:prstGeom prst="rect">
            <a:avLst/>
          </a:prstGeom>
          <a:noFill/>
          <a:ln/>
        </p:spPr>
        <p:txBody>
          <a:bodyPr wrap="square" lIns="0" tIns="0" rIns="0" bIns="0" rtlCol="0" anchor="t"/>
          <a:lstStyle/>
          <a:p>
            <a:pPr marL="0" indent="0" algn="l">
              <a:lnSpc>
                <a:spcPct val="105000"/>
              </a:lnSpc>
              <a:spcAft>
                <a:spcPts val="500"/>
              </a:spcAft>
              <a:buNone/>
            </a:pPr>
            <a:r>
              <a:rPr lang="en-US" sz="1300" b="1" dirty="0">
                <a:solidFill>
                  <a:srgbClr val="1A2233"/>
                </a:solidFill>
                <a:latin typeface="맑은 고딕" pitchFamily="34" charset="0"/>
                <a:ea typeface="맑은 고딕" pitchFamily="34" charset="-122"/>
                <a:cs typeface="맑은 고딕" pitchFamily="34" charset="-120"/>
              </a:rPr>
              <a:t>El 고각</a:t>
            </a:r>
            <a:endParaRPr lang="en-US" sz="1300" dirty="0"/>
          </a:p>
          <a:p>
            <a:pPr marL="0" indent="0" algn="l">
              <a:lnSpc>
                <a:spcPct val="105000"/>
              </a:lnSpc>
              <a:buNone/>
            </a:pPr>
            <a:r>
              <a:rPr lang="en-US" sz="950" dirty="0">
                <a:solidFill>
                  <a:srgbClr val="5A6478"/>
                </a:solidFill>
                <a:latin typeface="맑은 고딕" pitchFamily="34" charset="0"/>
                <a:ea typeface="맑은 고딕" pitchFamily="34" charset="-122"/>
                <a:cs typeface="맑은 고딕" pitchFamily="34" charset="-120"/>
              </a:rPr>
              <a:t>Elevation · 수평면에서 위로</a:t>
            </a:r>
            <a:endParaRPr lang="en-US" sz="1300" dirty="0"/>
          </a:p>
        </p:txBody>
      </p:sp>
      <p:sp>
        <p:nvSpPr>
          <p:cNvPr id="52" name="Shape 50"/>
          <p:cNvSpPr/>
          <p:nvPr/>
        </p:nvSpPr>
        <p:spPr>
          <a:xfrm>
            <a:off x="8229600" y="4590288"/>
            <a:ext cx="2889504" cy="566928"/>
          </a:xfrm>
          <a:prstGeom prst="roundRect">
            <a:avLst>
              <a:gd name="adj" fmla="val 12903"/>
            </a:avLst>
          </a:prstGeom>
          <a:solidFill>
            <a:srgbClr val="34507F"/>
          </a:solidFill>
          <a:ln/>
        </p:spPr>
        <p:txBody>
          <a:bodyPr/>
          <a:p/>
        </p:txBody>
      </p:sp>
      <p:sp>
        <p:nvSpPr>
          <p:cNvPr id="53" name="Text 51"/>
          <p:cNvSpPr txBox="1"/>
          <p:nvPr/>
        </p:nvSpPr>
        <p:spPr>
          <a:xfrm>
            <a:off x="8229600" y="4590288"/>
            <a:ext cx="2889504" cy="566928"/>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20 km  /  30°  /  0°</a:t>
            </a:r>
            <a:endParaRPr lang="en-US" sz="1500" dirty="0"/>
          </a:p>
        </p:txBody>
      </p:sp>
      <p:sp>
        <p:nvSpPr>
          <p:cNvPr id="54" name="Text 52"/>
          <p:cNvSpPr txBox="1"/>
          <p:nvPr/>
        </p:nvSpPr>
        <p:spPr>
          <a:xfrm>
            <a:off x="914400" y="5413248"/>
            <a:ext cx="6766560" cy="274320"/>
          </a:xfrm>
          <a:prstGeom prst="rect">
            <a:avLst/>
          </a:prstGeom>
          <a:noFill/>
          <a:ln/>
        </p:spPr>
        <p:txBody>
          <a:bodyPr wrap="square" lIns="0" tIns="0" rIns="0" bIns="0" rtlCol="0" anchor="ctr"/>
          <a:lstStyle/>
          <a:p>
            <a:pPr marL="0" indent="0" algn="ctr">
              <a:buNone/>
            </a:pPr>
            <a:r>
              <a:rPr lang="en-US" sz="1000" i="1" dirty="0">
                <a:solidFill>
                  <a:srgbClr val="5A6478"/>
                </a:solidFill>
                <a:latin typeface="맑은 고딕" pitchFamily="34" charset="0"/>
                <a:ea typeface="맑은 고딕" pitchFamily="34" charset="-122"/>
                <a:cs typeface="맑은 고딕" pitchFamily="34" charset="-120"/>
              </a:rPr>
              <a:t>보어사이트 = 안테나가 똑바로 바라보는 방향. 안테나 신호가 가장 세게 나가고 들어오는 한가운데 방향.</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01. 안테나 좌표계 ② 직교좌표(Cartesian)</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9</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같은 표적을 각도 대신 서로 직각인 세 축 방향 거리(x, y, z)로 적은 것.</a:t>
            </a:r>
            <a:endParaRPr lang="en-US" sz="1450" dirty="0"/>
          </a:p>
        </p:txBody>
      </p:sp>
      <p:sp>
        <p:nvSpPr>
          <p:cNvPr id="10" name="Text 8"/>
          <p:cNvSpPr txBox="1"/>
          <p:nvPr/>
        </p:nvSpPr>
        <p:spPr>
          <a:xfrm>
            <a:off x="1170432" y="1883664"/>
            <a:ext cx="2743200" cy="201168"/>
          </a:xfrm>
          <a:prstGeom prst="rect">
            <a:avLst/>
          </a:prstGeom>
          <a:noFill/>
          <a:ln/>
        </p:spPr>
        <p:txBody>
          <a:bodyPr wrap="square" lIns="0" tIns="0" rIns="0" bIns="0" rtlCol="0" anchor="ctr"/>
          <a:lstStyle/>
          <a:p>
            <a:pPr marL="0" indent="0" algn="l">
              <a:buNone/>
            </a:pPr>
            <a:r>
              <a:rPr lang="en-US" sz="1000" dirty="0">
                <a:solidFill>
                  <a:srgbClr val="5A6478"/>
                </a:solidFill>
                <a:latin typeface="맑은 고딕" pitchFamily="34" charset="0"/>
                <a:ea typeface="맑은 고딕" pitchFamily="34" charset="-122"/>
                <a:cs typeface="맑은 고딕" pitchFamily="34" charset="-120"/>
              </a:rPr>
              <a:t>z 보어사이트 · x 왼쪽 · y 위</a:t>
            </a:r>
            <a:endParaRPr lang="en-US" sz="1000" dirty="0"/>
          </a:p>
        </p:txBody>
      </p:sp>
      <p:sp>
        <p:nvSpPr>
          <p:cNvPr id="11" name="Shape 9"/>
          <p:cNvSpPr/>
          <p:nvPr/>
        </p:nvSpPr>
        <p:spPr>
          <a:xfrm rot="10800000">
            <a:off x="1234440" y="3127248"/>
            <a:ext cx="5577840" cy="1975104"/>
          </a:xfrm>
          <a:prstGeom prst="parallelogram">
            <a:avLst/>
          </a:prstGeom>
          <a:solidFill>
            <a:srgbClr val="F5F7FB"/>
          </a:solidFill>
          <a:ln w="10160">
            <a:solidFill>
              <a:srgbClr val="C9D6EC"/>
            </a:solidFill>
            <a:prstDash val="solid"/>
          </a:ln>
        </p:spPr>
        <p:txBody>
          <a:bodyPr/>
          <a:p/>
        </p:txBody>
      </p:sp>
      <p:sp>
        <p:nvSpPr>
          <p:cNvPr id="12" name="Shape 10"/>
          <p:cNvSpPr/>
          <p:nvPr/>
        </p:nvSpPr>
        <p:spPr>
          <a:xfrm>
            <a:off x="2999232" y="4828032"/>
            <a:ext cx="3383280" cy="0"/>
          </a:xfrm>
          <a:prstGeom prst="line">
            <a:avLst/>
          </a:prstGeom>
          <a:noFill/>
          <a:ln w="15875">
            <a:solidFill>
              <a:srgbClr val="13233F"/>
            </a:solidFill>
            <a:prstDash val="solid"/>
            <a:headEnd type="none"/>
            <a:tailEnd type="triangle"/>
          </a:ln>
        </p:spPr>
        <p:txBody>
          <a:bodyPr/>
          <a:p/>
        </p:txBody>
      </p:sp>
      <p:sp>
        <p:nvSpPr>
          <p:cNvPr id="13" name="Text 11"/>
          <p:cNvSpPr txBox="1"/>
          <p:nvPr/>
        </p:nvSpPr>
        <p:spPr>
          <a:xfrm>
            <a:off x="6437376" y="4809744"/>
            <a:ext cx="155448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z축 (보어사이트)</a:t>
            </a:r>
            <a:endParaRPr lang="en-US" sz="950" dirty="0"/>
          </a:p>
        </p:txBody>
      </p:sp>
      <p:sp>
        <p:nvSpPr>
          <p:cNvPr id="14" name="Shape 12"/>
          <p:cNvSpPr/>
          <p:nvPr/>
        </p:nvSpPr>
        <p:spPr>
          <a:xfrm rot="-8100000">
            <a:off x="1166960" y="4069080"/>
            <a:ext cx="2146640" cy="0"/>
          </a:xfrm>
          <a:prstGeom prst="line">
            <a:avLst/>
          </a:prstGeom>
          <a:noFill/>
          <a:ln w="15875">
            <a:solidFill>
              <a:srgbClr val="13233F"/>
            </a:solidFill>
            <a:prstDash val="solid"/>
            <a:headEnd type="none"/>
            <a:tailEnd type="triangle"/>
          </a:ln>
        </p:spPr>
        <p:txBody>
          <a:bodyPr/>
          <a:p/>
        </p:txBody>
      </p:sp>
      <p:sp>
        <p:nvSpPr>
          <p:cNvPr id="15" name="Text 13"/>
          <p:cNvSpPr txBox="1"/>
          <p:nvPr/>
        </p:nvSpPr>
        <p:spPr>
          <a:xfrm>
            <a:off x="1170432" y="3054096"/>
            <a:ext cx="118872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x축 (왼쪽)</a:t>
            </a:r>
            <a:endParaRPr lang="en-US" sz="950" dirty="0"/>
          </a:p>
        </p:txBody>
      </p:sp>
      <p:sp>
        <p:nvSpPr>
          <p:cNvPr id="16" name="Shape 14"/>
          <p:cNvSpPr/>
          <p:nvPr/>
        </p:nvSpPr>
        <p:spPr>
          <a:xfrm rot="-5400000">
            <a:off x="2423160" y="4251960"/>
            <a:ext cx="1152144" cy="0"/>
          </a:xfrm>
          <a:prstGeom prst="line">
            <a:avLst/>
          </a:prstGeom>
          <a:noFill/>
          <a:ln w="15875">
            <a:solidFill>
              <a:srgbClr val="13233F"/>
            </a:solidFill>
            <a:prstDash val="solid"/>
            <a:headEnd type="none"/>
            <a:tailEnd type="triangle"/>
          </a:ln>
        </p:spPr>
        <p:txBody>
          <a:bodyPr/>
          <a:p/>
        </p:txBody>
      </p:sp>
      <p:sp>
        <p:nvSpPr>
          <p:cNvPr id="17" name="Text 15"/>
          <p:cNvSpPr txBox="1"/>
          <p:nvPr/>
        </p:nvSpPr>
        <p:spPr>
          <a:xfrm>
            <a:off x="2212848" y="3712464"/>
            <a:ext cx="91440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y축 (위)</a:t>
            </a:r>
            <a:endParaRPr lang="en-US" sz="950" dirty="0"/>
          </a:p>
        </p:txBody>
      </p:sp>
      <p:sp>
        <p:nvSpPr>
          <p:cNvPr id="18" name="Shape 16"/>
          <p:cNvSpPr/>
          <p:nvPr/>
        </p:nvSpPr>
        <p:spPr>
          <a:xfrm>
            <a:off x="2999232" y="4828032"/>
            <a:ext cx="2578608" cy="0"/>
          </a:xfrm>
          <a:prstGeom prst="line">
            <a:avLst/>
          </a:prstGeom>
          <a:noFill/>
          <a:ln w="20320">
            <a:solidFill>
              <a:srgbClr val="13233F"/>
            </a:solidFill>
            <a:prstDash val="solid"/>
            <a:headEnd type="none"/>
            <a:tailEnd type="none"/>
          </a:ln>
        </p:spPr>
        <p:txBody>
          <a:bodyPr/>
          <a:p/>
        </p:txBody>
      </p:sp>
      <p:sp>
        <p:nvSpPr>
          <p:cNvPr id="19" name="Shape 17"/>
          <p:cNvSpPr/>
          <p:nvPr/>
        </p:nvSpPr>
        <p:spPr>
          <a:xfrm rot="-7956843">
            <a:off x="4535962" y="4370832"/>
            <a:ext cx="1242508" cy="0"/>
          </a:xfrm>
          <a:prstGeom prst="line">
            <a:avLst/>
          </a:prstGeom>
          <a:noFill/>
          <a:ln w="20320">
            <a:solidFill>
              <a:srgbClr val="13233F"/>
            </a:solidFill>
            <a:prstDash val="solid"/>
            <a:headEnd type="none"/>
            <a:tailEnd type="none"/>
          </a:ln>
        </p:spPr>
        <p:txBody>
          <a:bodyPr/>
          <a:p/>
        </p:txBody>
      </p:sp>
      <p:sp>
        <p:nvSpPr>
          <p:cNvPr id="20" name="Shape 18"/>
          <p:cNvSpPr/>
          <p:nvPr/>
        </p:nvSpPr>
        <p:spPr>
          <a:xfrm rot="-1665512">
            <a:off x="2886262" y="4370832"/>
            <a:ext cx="1963300" cy="0"/>
          </a:xfrm>
          <a:prstGeom prst="line">
            <a:avLst/>
          </a:prstGeom>
          <a:noFill/>
          <a:ln w="20320">
            <a:solidFill>
              <a:srgbClr val="13233F"/>
            </a:solidFill>
            <a:prstDash val="solid"/>
            <a:headEnd type="none"/>
            <a:tailEnd type="none"/>
          </a:ln>
        </p:spPr>
        <p:txBody>
          <a:bodyPr/>
          <a:p/>
        </p:txBody>
      </p:sp>
      <p:sp>
        <p:nvSpPr>
          <p:cNvPr id="21" name="Shape 19"/>
          <p:cNvSpPr/>
          <p:nvPr/>
        </p:nvSpPr>
        <p:spPr>
          <a:xfrm rot="-3205059">
            <a:off x="2410340" y="3657600"/>
            <a:ext cx="2915144" cy="0"/>
          </a:xfrm>
          <a:prstGeom prst="line">
            <a:avLst/>
          </a:prstGeom>
          <a:noFill/>
          <a:ln w="17780">
            <a:solidFill>
              <a:srgbClr val="13233F"/>
            </a:solidFill>
            <a:prstDash val="solid"/>
            <a:headEnd type="none"/>
            <a:tailEnd type="none"/>
          </a:ln>
        </p:spPr>
        <p:txBody>
          <a:bodyPr/>
          <a:p/>
        </p:txBody>
      </p:sp>
      <p:sp>
        <p:nvSpPr>
          <p:cNvPr id="22" name="Shape 20"/>
          <p:cNvSpPr/>
          <p:nvPr/>
        </p:nvSpPr>
        <p:spPr>
          <a:xfrm rot="-5400000">
            <a:off x="4023360" y="3200400"/>
            <a:ext cx="1426464" cy="0"/>
          </a:xfrm>
          <a:prstGeom prst="line">
            <a:avLst/>
          </a:prstGeom>
          <a:noFill/>
          <a:ln w="20320">
            <a:solidFill>
              <a:srgbClr val="13233F"/>
            </a:solidFill>
            <a:prstDash val="dash"/>
            <a:headEnd type="none"/>
            <a:tailEnd type="none"/>
          </a:ln>
        </p:spPr>
        <p:txBody>
          <a:bodyPr/>
          <a:p/>
        </p:txBody>
      </p:sp>
      <p:sp>
        <p:nvSpPr>
          <p:cNvPr id="23" name="Shape 21"/>
          <p:cNvSpPr/>
          <p:nvPr/>
        </p:nvSpPr>
        <p:spPr>
          <a:xfrm rot="1200000">
            <a:off x="5266944" y="4645152"/>
            <a:ext cx="164592" cy="164592"/>
          </a:xfrm>
          <a:prstGeom prst="rect">
            <a:avLst/>
          </a:prstGeom>
          <a:ln w="11430">
            <a:solidFill>
              <a:srgbClr val="13233F"/>
            </a:solidFill>
            <a:prstDash val="solid"/>
          </a:ln>
        </p:spPr>
        <p:txBody>
          <a:bodyPr/>
          <a:p/>
        </p:txBody>
      </p:sp>
      <p:sp>
        <p:nvSpPr>
          <p:cNvPr id="24" name="Shape 22"/>
          <p:cNvSpPr/>
          <p:nvPr/>
        </p:nvSpPr>
        <p:spPr>
          <a:xfrm>
            <a:off x="4754880" y="3739896"/>
            <a:ext cx="155448" cy="155448"/>
          </a:xfrm>
          <a:prstGeom prst="rect">
            <a:avLst/>
          </a:prstGeom>
          <a:ln w="11430">
            <a:solidFill>
              <a:srgbClr val="13233F"/>
            </a:solidFill>
            <a:prstDash val="solid"/>
          </a:ln>
        </p:spPr>
        <p:txBody>
          <a:bodyPr/>
          <a:p/>
        </p:txBody>
      </p:sp>
      <p:sp>
        <p:nvSpPr>
          <p:cNvPr id="25" name="Shape 23"/>
          <p:cNvSpPr/>
          <p:nvPr/>
        </p:nvSpPr>
        <p:spPr>
          <a:xfrm>
            <a:off x="4645152" y="2395728"/>
            <a:ext cx="182880" cy="182880"/>
          </a:xfrm>
          <a:prstGeom prst="ellipse">
            <a:avLst/>
          </a:prstGeom>
          <a:solidFill>
            <a:srgbClr val="13233F"/>
          </a:solidFill>
          <a:ln/>
        </p:spPr>
        <p:txBody>
          <a:bodyPr/>
          <a:p/>
        </p:txBody>
      </p:sp>
      <p:sp>
        <p:nvSpPr>
          <p:cNvPr id="26" name="Text 24"/>
          <p:cNvSpPr txBox="1"/>
          <p:nvPr/>
        </p:nvSpPr>
        <p:spPr>
          <a:xfrm>
            <a:off x="4279392" y="2176272"/>
            <a:ext cx="914400" cy="201168"/>
          </a:xfrm>
          <a:prstGeom prst="rect">
            <a:avLst/>
          </a:prstGeom>
          <a:noFill/>
          <a:ln/>
        </p:spPr>
        <p:txBody>
          <a:bodyPr wrap="square" lIns="0" tIns="0" rIns="0" bIns="0" rtlCol="0" anchor="ctr"/>
          <a:lstStyle/>
          <a:p>
            <a:pPr marL="0" indent="0" algn="ctr">
              <a:buNone/>
            </a:pPr>
            <a:r>
              <a:rPr lang="en-US" sz="1050" b="1" dirty="0">
                <a:solidFill>
                  <a:srgbClr val="1A2233"/>
                </a:solidFill>
                <a:latin typeface="맑은 고딕" pitchFamily="34" charset="0"/>
                <a:ea typeface="맑은 고딕" pitchFamily="34" charset="-122"/>
                <a:cs typeface="맑은 고딕" pitchFamily="34" charset="-120"/>
              </a:rPr>
              <a:t>표적</a:t>
            </a:r>
            <a:endParaRPr lang="en-US" sz="1050" dirty="0"/>
          </a:p>
        </p:txBody>
      </p:sp>
      <p:sp>
        <p:nvSpPr>
          <p:cNvPr id="27" name="Text 25"/>
          <p:cNvSpPr txBox="1"/>
          <p:nvPr/>
        </p:nvSpPr>
        <p:spPr>
          <a:xfrm>
            <a:off x="3584448" y="3675888"/>
            <a:ext cx="228600" cy="201168"/>
          </a:xfrm>
          <a:prstGeom prst="rect">
            <a:avLst/>
          </a:prstGeom>
          <a:noFill/>
          <a:ln/>
        </p:spPr>
        <p:txBody>
          <a:bodyPr wrap="square" lIns="0" tIns="0" rIns="0" bIns="0" rtlCol="0" anchor="ctr"/>
          <a:lstStyle/>
          <a:p>
            <a:pPr marL="0" indent="0" algn="l">
              <a:buNone/>
            </a:pPr>
            <a:r>
              <a:rPr lang="en-US" sz="1150" b="1" dirty="0">
                <a:solidFill>
                  <a:srgbClr val="1A2233"/>
                </a:solidFill>
                <a:latin typeface="Arial" pitchFamily="34" charset="0"/>
                <a:ea typeface="Arial" pitchFamily="34" charset="-122"/>
                <a:cs typeface="Arial" pitchFamily="34" charset="-120"/>
              </a:rPr>
              <a:t>R</a:t>
            </a:r>
            <a:endParaRPr lang="en-US" sz="1150" dirty="0"/>
          </a:p>
        </p:txBody>
      </p:sp>
      <p:sp>
        <p:nvSpPr>
          <p:cNvPr id="28" name="Text 26"/>
          <p:cNvSpPr txBox="1"/>
          <p:nvPr/>
        </p:nvSpPr>
        <p:spPr>
          <a:xfrm>
            <a:off x="4828032" y="3035808"/>
            <a:ext cx="100584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R sin(El)</a:t>
            </a:r>
            <a:endParaRPr lang="en-US" sz="1000" dirty="0"/>
          </a:p>
        </p:txBody>
      </p:sp>
      <p:sp>
        <p:nvSpPr>
          <p:cNvPr id="29" name="Text 27"/>
          <p:cNvSpPr txBox="1"/>
          <p:nvPr/>
        </p:nvSpPr>
        <p:spPr>
          <a:xfrm>
            <a:off x="4864608" y="3310128"/>
            <a:ext cx="45720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 y</a:t>
            </a:r>
            <a:endParaRPr lang="en-US" sz="1000" dirty="0"/>
          </a:p>
        </p:txBody>
      </p:sp>
      <p:sp>
        <p:nvSpPr>
          <p:cNvPr id="30" name="Text 28"/>
          <p:cNvSpPr txBox="1"/>
          <p:nvPr/>
        </p:nvSpPr>
        <p:spPr>
          <a:xfrm>
            <a:off x="3712464" y="4315968"/>
            <a:ext cx="100584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R cos(El)</a:t>
            </a:r>
            <a:endParaRPr lang="en-US" sz="1000" dirty="0"/>
          </a:p>
        </p:txBody>
      </p:sp>
      <p:sp>
        <p:nvSpPr>
          <p:cNvPr id="31" name="Text 29"/>
          <p:cNvSpPr txBox="1"/>
          <p:nvPr/>
        </p:nvSpPr>
        <p:spPr>
          <a:xfrm>
            <a:off x="5358384" y="4261104"/>
            <a:ext cx="228600" cy="201168"/>
          </a:xfrm>
          <a:prstGeom prst="rect">
            <a:avLst/>
          </a:prstGeom>
          <a:noFill/>
          <a:ln/>
        </p:spPr>
        <p:txBody>
          <a:bodyPr wrap="square" lIns="0" tIns="0" rIns="0" bIns="0" rtlCol="0" anchor="ctr"/>
          <a:lstStyle/>
          <a:p>
            <a:pPr marL="0" indent="0" algn="l">
              <a:buNone/>
            </a:pPr>
            <a:r>
              <a:rPr lang="en-US" sz="1150" b="1" dirty="0">
                <a:solidFill>
                  <a:srgbClr val="1A2233"/>
                </a:solidFill>
                <a:latin typeface="Arial" pitchFamily="34" charset="0"/>
                <a:ea typeface="Arial" pitchFamily="34" charset="-122"/>
                <a:cs typeface="Arial" pitchFamily="34" charset="-120"/>
              </a:rPr>
              <a:t>X</a:t>
            </a:r>
            <a:endParaRPr lang="en-US" sz="1150" dirty="0"/>
          </a:p>
        </p:txBody>
      </p:sp>
      <p:sp>
        <p:nvSpPr>
          <p:cNvPr id="32" name="Text 30"/>
          <p:cNvSpPr txBox="1"/>
          <p:nvPr/>
        </p:nvSpPr>
        <p:spPr>
          <a:xfrm>
            <a:off x="4041648" y="5047488"/>
            <a:ext cx="228600" cy="201168"/>
          </a:xfrm>
          <a:prstGeom prst="rect">
            <a:avLst/>
          </a:prstGeom>
          <a:noFill/>
          <a:ln/>
        </p:spPr>
        <p:txBody>
          <a:bodyPr wrap="square" lIns="0" tIns="0" rIns="0" bIns="0" rtlCol="0" anchor="ctr"/>
          <a:lstStyle/>
          <a:p>
            <a:pPr marL="0" indent="0" algn="l">
              <a:buNone/>
            </a:pPr>
            <a:r>
              <a:rPr lang="en-US" sz="1150" b="1" dirty="0">
                <a:solidFill>
                  <a:srgbClr val="1A2233"/>
                </a:solidFill>
                <a:latin typeface="Arial" pitchFamily="34" charset="0"/>
                <a:ea typeface="Arial" pitchFamily="34" charset="-122"/>
                <a:cs typeface="Arial" pitchFamily="34" charset="-120"/>
              </a:rPr>
              <a:t>Z</a:t>
            </a:r>
            <a:endParaRPr lang="en-US" sz="1150" dirty="0"/>
          </a:p>
        </p:txBody>
      </p:sp>
      <p:sp>
        <p:nvSpPr>
          <p:cNvPr id="33" name="Shape 31"/>
          <p:cNvSpPr/>
          <p:nvPr/>
        </p:nvSpPr>
        <p:spPr>
          <a:xfrm rot="2780000">
            <a:off x="3752113" y="4046472"/>
            <a:ext cx="131856" cy="0"/>
          </a:xfrm>
          <a:prstGeom prst="line">
            <a:avLst/>
          </a:prstGeom>
          <a:noFill/>
          <a:ln w="12700">
            <a:solidFill>
              <a:srgbClr val="13233F"/>
            </a:solidFill>
            <a:prstDash val="solid"/>
            <a:headEnd type="none"/>
            <a:tailEnd type="none"/>
          </a:ln>
        </p:spPr>
        <p:txBody>
          <a:bodyPr/>
          <a:p/>
        </p:txBody>
      </p:sp>
      <p:sp>
        <p:nvSpPr>
          <p:cNvPr id="34" name="Shape 32"/>
          <p:cNvSpPr/>
          <p:nvPr/>
        </p:nvSpPr>
        <p:spPr>
          <a:xfrm rot="3180000">
            <a:off x="3837310" y="4146815"/>
            <a:ext cx="131856" cy="0"/>
          </a:xfrm>
          <a:prstGeom prst="line">
            <a:avLst/>
          </a:prstGeom>
          <a:noFill/>
          <a:ln w="12700">
            <a:solidFill>
              <a:srgbClr val="13233F"/>
            </a:solidFill>
            <a:prstDash val="solid"/>
            <a:headEnd type="none"/>
            <a:tailEnd type="none"/>
          </a:ln>
        </p:spPr>
        <p:txBody>
          <a:bodyPr/>
          <a:p/>
        </p:txBody>
      </p:sp>
      <p:sp>
        <p:nvSpPr>
          <p:cNvPr id="35" name="Shape 33"/>
          <p:cNvSpPr/>
          <p:nvPr/>
        </p:nvSpPr>
        <p:spPr>
          <a:xfrm rot="3580000">
            <a:off x="3910282" y="4256370"/>
            <a:ext cx="131856" cy="0"/>
          </a:xfrm>
          <a:prstGeom prst="line">
            <a:avLst/>
          </a:prstGeom>
          <a:noFill/>
          <a:ln w="12700">
            <a:solidFill>
              <a:srgbClr val="13233F"/>
            </a:solidFill>
            <a:prstDash val="solid"/>
            <a:headEnd type="none"/>
            <a:tailEnd type="none"/>
          </a:ln>
        </p:spPr>
        <p:txBody>
          <a:bodyPr/>
          <a:p/>
        </p:txBody>
      </p:sp>
      <p:sp>
        <p:nvSpPr>
          <p:cNvPr id="36" name="Text 34"/>
          <p:cNvSpPr txBox="1"/>
          <p:nvPr/>
        </p:nvSpPr>
        <p:spPr>
          <a:xfrm>
            <a:off x="3968496" y="3584448"/>
            <a:ext cx="54864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① El</a:t>
            </a:r>
            <a:endParaRPr lang="en-US" sz="1000" dirty="0"/>
          </a:p>
        </p:txBody>
      </p:sp>
      <p:sp>
        <p:nvSpPr>
          <p:cNvPr id="37" name="Shape 35"/>
          <p:cNvSpPr/>
          <p:nvPr/>
        </p:nvSpPr>
        <p:spPr>
          <a:xfrm rot="4400000">
            <a:off x="3836995" y="4560987"/>
            <a:ext cx="108462" cy="0"/>
          </a:xfrm>
          <a:prstGeom prst="line">
            <a:avLst/>
          </a:prstGeom>
          <a:noFill/>
          <a:ln w="12700">
            <a:solidFill>
              <a:srgbClr val="13233F"/>
            </a:solidFill>
            <a:prstDash val="solid"/>
            <a:headEnd type="none"/>
            <a:tailEnd type="none"/>
          </a:ln>
        </p:spPr>
        <p:txBody>
          <a:bodyPr/>
          <a:p/>
        </p:txBody>
      </p:sp>
      <p:sp>
        <p:nvSpPr>
          <p:cNvPr id="38" name="Shape 36"/>
          <p:cNvSpPr/>
          <p:nvPr/>
        </p:nvSpPr>
        <p:spPr>
          <a:xfrm rot="4800000">
            <a:off x="3861965" y="4666346"/>
            <a:ext cx="108462" cy="0"/>
          </a:xfrm>
          <a:prstGeom prst="line">
            <a:avLst/>
          </a:prstGeom>
          <a:noFill/>
          <a:ln w="12700">
            <a:solidFill>
              <a:srgbClr val="13233F"/>
            </a:solidFill>
            <a:prstDash val="solid"/>
            <a:headEnd type="none"/>
            <a:tailEnd type="none"/>
          </a:ln>
        </p:spPr>
        <p:txBody>
          <a:bodyPr/>
          <a:p/>
        </p:txBody>
      </p:sp>
      <p:sp>
        <p:nvSpPr>
          <p:cNvPr id="39" name="Shape 37"/>
          <p:cNvSpPr/>
          <p:nvPr/>
        </p:nvSpPr>
        <p:spPr>
          <a:xfrm rot="5200000">
            <a:off x="3874536" y="4773893"/>
            <a:ext cx="108462" cy="0"/>
          </a:xfrm>
          <a:prstGeom prst="line">
            <a:avLst/>
          </a:prstGeom>
          <a:noFill/>
          <a:ln w="12700">
            <a:solidFill>
              <a:srgbClr val="13233F"/>
            </a:solidFill>
            <a:prstDash val="solid"/>
            <a:headEnd type="none"/>
            <a:tailEnd type="none"/>
          </a:ln>
        </p:spPr>
        <p:txBody>
          <a:bodyPr/>
          <a:p/>
        </p:txBody>
      </p:sp>
      <p:sp>
        <p:nvSpPr>
          <p:cNvPr id="40" name="Text 38"/>
          <p:cNvSpPr txBox="1"/>
          <p:nvPr/>
        </p:nvSpPr>
        <p:spPr>
          <a:xfrm>
            <a:off x="3639312" y="4553712"/>
            <a:ext cx="64008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② Az</a:t>
            </a:r>
            <a:endParaRPr lang="en-US" sz="1000" dirty="0"/>
          </a:p>
        </p:txBody>
      </p:sp>
      <p:sp>
        <p:nvSpPr>
          <p:cNvPr id="41" name="Text 39"/>
          <p:cNvSpPr txBox="1"/>
          <p:nvPr/>
        </p:nvSpPr>
        <p:spPr>
          <a:xfrm>
            <a:off x="5961888" y="5120640"/>
            <a:ext cx="822960" cy="201168"/>
          </a:xfrm>
          <a:prstGeom prst="rect">
            <a:avLst/>
          </a:prstGeom>
          <a:noFill/>
          <a:ln/>
        </p:spPr>
        <p:txBody>
          <a:bodyPr wrap="square" lIns="0" tIns="0" rIns="0" bIns="0" rtlCol="0" anchor="ctr"/>
          <a:lstStyle/>
          <a:p>
            <a:pPr marL="0" indent="0" algn="l">
              <a:buNone/>
            </a:pPr>
            <a:r>
              <a:rPr lang="en-US" sz="950" dirty="0">
                <a:solidFill>
                  <a:srgbClr val="5A6478"/>
                </a:solidFill>
                <a:latin typeface="맑은 고딕" pitchFamily="34" charset="0"/>
                <a:ea typeface="맑은 고딕" pitchFamily="34" charset="-122"/>
                <a:cs typeface="맑은 고딕" pitchFamily="34" charset="-120"/>
              </a:rPr>
              <a:t>수평면</a:t>
            </a:r>
            <a:endParaRPr lang="en-US" sz="950" dirty="0"/>
          </a:p>
        </p:txBody>
      </p:sp>
      <p:sp>
        <p:nvSpPr>
          <p:cNvPr id="42" name="Shape 40"/>
          <p:cNvSpPr/>
          <p:nvPr/>
        </p:nvSpPr>
        <p:spPr>
          <a:xfrm>
            <a:off x="7589520" y="1755648"/>
            <a:ext cx="3749040" cy="1371600"/>
          </a:xfrm>
          <a:prstGeom prst="roundRect">
            <a:avLst>
              <a:gd name="adj" fmla="val 3333"/>
            </a:avLst>
          </a:prstGeom>
          <a:solidFill>
            <a:srgbClr val="EEF1F7"/>
          </a:solidFill>
          <a:ln/>
        </p:spPr>
        <p:txBody>
          <a:bodyPr/>
          <a:p/>
        </p:txBody>
      </p:sp>
      <p:sp>
        <p:nvSpPr>
          <p:cNvPr id="43" name="Text 41"/>
          <p:cNvSpPr txBox="1"/>
          <p:nvPr/>
        </p:nvSpPr>
        <p:spPr>
          <a:xfrm>
            <a:off x="7845552" y="1901952"/>
            <a:ext cx="3291840" cy="1097280"/>
          </a:xfrm>
          <a:prstGeom prst="rect">
            <a:avLst/>
          </a:prstGeom>
          <a:noFill/>
          <a:ln/>
        </p:spPr>
        <p:txBody>
          <a:bodyPr wrap="square" lIns="0" tIns="0" rIns="0" bIns="0" rtlCol="0" anchor="t"/>
          <a:lstStyle/>
          <a:p>
            <a:pPr marL="0" indent="0" algn="l">
              <a:lnSpc>
                <a:spcPct val="105000"/>
              </a:lnSpc>
              <a:spcAft>
                <a:spcPts val="1200"/>
              </a:spcAft>
              <a:buNone/>
            </a:pPr>
            <a:r>
              <a:rPr lang="en-US" sz="1400" b="1" dirty="0">
                <a:solidFill>
                  <a:srgbClr val="1A2233"/>
                </a:solidFill>
                <a:latin typeface="맑은 고딕" pitchFamily="34" charset="0"/>
                <a:ea typeface="맑은 고딕" pitchFamily="34" charset="-122"/>
                <a:cs typeface="맑은 고딕" pitchFamily="34" charset="-120"/>
              </a:rPr>
              <a:t>왜 직교좌표로 바꾸나</a:t>
            </a:r>
            <a:endParaRPr lang="en-US" sz="1400" dirty="0"/>
          </a:p>
          <a:p>
            <a:pPr marL="0" indent="0" algn="l">
              <a:lnSpc>
                <a:spcPct val="105000"/>
              </a:lnSpc>
              <a:spcAft>
                <a:spcPts val="400"/>
              </a:spcAft>
              <a:buNone/>
            </a:pPr>
            <a:r>
              <a:rPr lang="en-US" sz="1150" dirty="0">
                <a:solidFill>
                  <a:srgbClr val="1A2233"/>
                </a:solidFill>
                <a:latin typeface="맑은 고딕" pitchFamily="34" charset="0"/>
                <a:ea typeface="맑은 고딕" pitchFamily="34" charset="-122"/>
                <a:cs typeface="맑은 고딕" pitchFamily="34" charset="-120"/>
              </a:rPr>
              <a:t>극좌표끼리는 회전을 합성할 수 없다.</a:t>
            </a:r>
            <a:endParaRPr lang="en-US" sz="1400" dirty="0"/>
          </a:p>
          <a:p>
            <a:pPr marL="0" indent="0" algn="l">
              <a:lnSpc>
                <a:spcPct val="105000"/>
              </a:lnSpc>
              <a:buNone/>
            </a:pPr>
            <a:r>
              <a:rPr lang="en-US" sz="1150" dirty="0">
                <a:solidFill>
                  <a:srgbClr val="1A2233"/>
                </a:solidFill>
                <a:latin typeface="맑은 고딕" pitchFamily="34" charset="0"/>
                <a:ea typeface="맑은 고딕" pitchFamily="34" charset="-122"/>
                <a:cs typeface="맑은 고딕" pitchFamily="34" charset="-120"/>
              </a:rPr>
              <a:t>회전행렬은 벡터에만 곱할 수 있다.</a:t>
            </a:r>
            <a:endParaRPr lang="en-US" sz="1400" dirty="0"/>
          </a:p>
        </p:txBody>
      </p:sp>
      <p:sp>
        <p:nvSpPr>
          <p:cNvPr id="44" name="Shape 42"/>
          <p:cNvSpPr/>
          <p:nvPr/>
        </p:nvSpPr>
        <p:spPr>
          <a:xfrm>
            <a:off x="7589520" y="3310128"/>
            <a:ext cx="3749040" cy="2029968"/>
          </a:xfrm>
          <a:prstGeom prst="roundRect">
            <a:avLst>
              <a:gd name="adj" fmla="val 2252"/>
            </a:avLst>
          </a:prstGeom>
          <a:solidFill>
            <a:srgbClr val="EEF1F7"/>
          </a:solidFill>
          <a:ln/>
        </p:spPr>
        <p:txBody>
          <a:bodyPr/>
          <a:p/>
        </p:txBody>
      </p:sp>
      <p:sp>
        <p:nvSpPr>
          <p:cNvPr id="45" name="Text 43"/>
          <p:cNvSpPr txBox="1"/>
          <p:nvPr/>
        </p:nvSpPr>
        <p:spPr>
          <a:xfrm>
            <a:off x="7845552" y="3493008"/>
            <a:ext cx="3291840" cy="1737360"/>
          </a:xfrm>
          <a:prstGeom prst="rect">
            <a:avLst/>
          </a:prstGeom>
          <a:noFill/>
          <a:ln/>
        </p:spPr>
        <p:txBody>
          <a:bodyPr wrap="square" lIns="0" tIns="0" rIns="0" bIns="0" rtlCol="0" anchor="t"/>
          <a:lstStyle/>
          <a:p>
            <a:pPr marL="0" indent="0" algn="l">
              <a:lnSpc>
                <a:spcPct val="105000"/>
              </a:lnSpc>
              <a:spcAft>
                <a:spcPts val="2000"/>
              </a:spcAft>
              <a:buNone/>
            </a:pPr>
            <a:r>
              <a:rPr lang="en-US" sz="1400" b="1" dirty="0">
                <a:solidFill>
                  <a:srgbClr val="1A2233"/>
                </a:solidFill>
                <a:latin typeface="맑은 고딕" pitchFamily="34" charset="0"/>
                <a:ea typeface="맑은 고딕" pitchFamily="34" charset="-122"/>
                <a:cs typeface="맑은 고딕" pitchFamily="34" charset="-120"/>
              </a:rPr>
              <a:t>공식</a:t>
            </a:r>
            <a:endParaRPr lang="en-US" sz="1400" dirty="0"/>
          </a:p>
          <a:p>
            <a:pPr marL="0" indent="0" algn="l">
              <a:lnSpc>
                <a:spcPct val="105000"/>
              </a:lnSpc>
              <a:spcAft>
                <a:spcPts val="1000"/>
              </a:spcAft>
              <a:buNone/>
            </a:pPr>
            <a:r>
              <a:rPr lang="en-US" sz="1200" b="1" dirty="0">
                <a:solidFill>
                  <a:srgbClr val="1A2233"/>
                </a:solidFill>
                <a:latin typeface="맑은 고딕" pitchFamily="34" charset="0"/>
                <a:ea typeface="맑은 고딕" pitchFamily="34" charset="-122"/>
                <a:cs typeface="맑은 고딕" pitchFamily="34" charset="-120"/>
              </a:rPr>
              <a:t>x  =  R  ×  cos(El)  ×  sin (Az)</a:t>
            </a:r>
            <a:endParaRPr lang="en-US" sz="1400" dirty="0"/>
          </a:p>
          <a:p>
            <a:pPr marL="0" indent="0" algn="l">
              <a:lnSpc>
                <a:spcPct val="105000"/>
              </a:lnSpc>
              <a:spcAft>
                <a:spcPts val="1000"/>
              </a:spcAft>
              <a:buNone/>
            </a:pPr>
            <a:r>
              <a:rPr lang="en-US" sz="1200" b="1" dirty="0">
                <a:solidFill>
                  <a:srgbClr val="1A2233"/>
                </a:solidFill>
                <a:latin typeface="맑은 고딕" pitchFamily="34" charset="0"/>
                <a:ea typeface="맑은 고딕" pitchFamily="34" charset="-122"/>
                <a:cs typeface="맑은 고딕" pitchFamily="34" charset="-120"/>
              </a:rPr>
              <a:t>y  =  R  ×  sin(El)</a:t>
            </a:r>
            <a:endParaRPr lang="en-US" sz="1400" dirty="0"/>
          </a:p>
          <a:p>
            <a:pPr marL="0" indent="0" algn="l">
              <a:lnSpc>
                <a:spcPct val="105000"/>
              </a:lnSpc>
              <a:buNone/>
            </a:pPr>
            <a:r>
              <a:rPr lang="en-US" sz="1200" b="1" dirty="0">
                <a:solidFill>
                  <a:srgbClr val="1A2233"/>
                </a:solidFill>
                <a:latin typeface="맑은 고딕" pitchFamily="34" charset="0"/>
                <a:ea typeface="맑은 고딕" pitchFamily="34" charset="-122"/>
                <a:cs typeface="맑은 고딕" pitchFamily="34" charset="-120"/>
              </a:rPr>
              <a:t>z  =  R  ×  cos(El)  ×  cos(Az)</a:t>
            </a:r>
            <a:endParaRPr lang="en-US" sz="1400" dirty="0"/>
          </a:p>
        </p:txBody>
      </p:sp>
      <p:sp>
        <p:nvSpPr>
          <p:cNvPr id="46" name="Shape 44"/>
          <p:cNvSpPr/>
          <p:nvPr/>
        </p:nvSpPr>
        <p:spPr>
          <a:xfrm>
            <a:off x="914400" y="5468112"/>
            <a:ext cx="10360152" cy="420624"/>
          </a:xfrm>
          <a:prstGeom prst="roundRect">
            <a:avLst>
              <a:gd name="adj" fmla="val 10870"/>
            </a:avLst>
          </a:prstGeom>
          <a:solidFill>
            <a:srgbClr val="EEF1F7"/>
          </a:solidFill>
          <a:ln/>
        </p:spPr>
        <p:txBody>
          <a:bodyPr/>
          <a:p/>
        </p:txBody>
      </p:sp>
      <p:sp>
        <p:nvSpPr>
          <p:cNvPr id="47" name="Text 45"/>
          <p:cNvSpPr txBox="1"/>
          <p:nvPr/>
        </p:nvSpPr>
        <p:spPr>
          <a:xfrm>
            <a:off x="1115568" y="5468112"/>
            <a:ext cx="9966960" cy="420624"/>
          </a:xfrm>
          <a:prstGeom prst="rect">
            <a:avLst/>
          </a:prstGeom>
          <a:noFill/>
          <a:ln/>
        </p:spPr>
        <p:txBody>
          <a:bodyPr wrap="square" lIns="0" tIns="0" rIns="0" bIns="0" rtlCol="0" anchor="ctr"/>
          <a:lstStyle/>
          <a:p>
            <a:pPr marL="0" indent="0">
              <a:buNone/>
            </a:pPr>
            <a:r>
              <a:rPr lang="en-US" sz="1050" dirty="0">
                <a:solidFill>
                  <a:srgbClr val="1A2233"/>
                </a:solidFill>
                <a:latin typeface="맑은 고딕" pitchFamily="34" charset="0"/>
                <a:ea typeface="맑은 고딕" pitchFamily="34" charset="-122"/>
                <a:cs typeface="맑은 고딕" pitchFamily="34" charset="-120"/>
              </a:rPr>
              <a:t>예제값   R = 20,000 m · Az = 30° · El = 0°   →   x = +10,000.0000 m,    y = 0.0000 m,    z = +17,320.5081 m ( = 10,000√3 )</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01. 안테나 좌표계 ③ UV(방향코사인)</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10</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표적 방향을 길이 1인 화살표로 보고, 그 화살표를 안테나 세 축에 나눠 담은 값이다.</a:t>
            </a:r>
            <a:endParaRPr lang="en-US" sz="1450" dirty="0"/>
          </a:p>
        </p:txBody>
      </p:sp>
      <p:sp>
        <p:nvSpPr>
          <p:cNvPr id="10" name="Text 8"/>
          <p:cNvSpPr txBox="1"/>
          <p:nvPr/>
        </p:nvSpPr>
        <p:spPr>
          <a:xfrm>
            <a:off x="960120" y="1792224"/>
            <a:ext cx="3840480" cy="457200"/>
          </a:xfrm>
          <a:prstGeom prst="rect">
            <a:avLst/>
          </a:prstGeom>
          <a:noFill/>
          <a:ln/>
        </p:spPr>
        <p:txBody>
          <a:bodyPr wrap="square" lIns="0" tIns="0" rIns="0" bIns="0" rtlCol="0" anchor="t"/>
          <a:lstStyle/>
          <a:p>
            <a:pPr marL="0" indent="0" algn="l">
              <a:lnSpc>
                <a:spcPct val="105000"/>
              </a:lnSpc>
              <a:spcAft>
                <a:spcPts val="300"/>
              </a:spcAft>
              <a:buNone/>
            </a:pPr>
            <a:r>
              <a:rPr lang="en-US" sz="1200" b="1" dirty="0">
                <a:solidFill>
                  <a:srgbClr val="1A2233"/>
                </a:solidFill>
                <a:latin typeface="맑은 고딕" pitchFamily="34" charset="0"/>
                <a:ea typeface="맑은 고딕" pitchFamily="34" charset="-122"/>
                <a:cs typeface="맑은 고딕" pitchFamily="34" charset="-120"/>
              </a:rPr>
              <a:t>길이 1 화살표를 세 축에 나눠 담기</a:t>
            </a:r>
            <a:endParaRPr lang="en-US" sz="120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① El 로 위아래를 떼고  →  ② 남은 cos(El) 을 Az 로 나눈다</a:t>
            </a:r>
            <a:endParaRPr lang="en-US" sz="1200" dirty="0"/>
          </a:p>
        </p:txBody>
      </p:sp>
      <p:sp>
        <p:nvSpPr>
          <p:cNvPr id="11" name="Shape 9"/>
          <p:cNvSpPr/>
          <p:nvPr/>
        </p:nvSpPr>
        <p:spPr>
          <a:xfrm rot="-1437749">
            <a:off x="1118862" y="2670048"/>
            <a:ext cx="1621043" cy="0"/>
          </a:xfrm>
          <a:prstGeom prst="line">
            <a:avLst/>
          </a:prstGeom>
          <a:noFill/>
          <a:ln w="16510">
            <a:solidFill>
              <a:srgbClr val="13233F"/>
            </a:solidFill>
            <a:prstDash val="solid"/>
            <a:headEnd type="none"/>
            <a:tailEnd type="triangle"/>
          </a:ln>
        </p:spPr>
        <p:txBody>
          <a:bodyPr/>
          <a:p/>
        </p:txBody>
      </p:sp>
      <p:sp>
        <p:nvSpPr>
          <p:cNvPr id="12" name="Shape 10"/>
          <p:cNvSpPr/>
          <p:nvPr/>
        </p:nvSpPr>
        <p:spPr>
          <a:xfrm rot="5400000">
            <a:off x="2340864" y="2670048"/>
            <a:ext cx="658368" cy="0"/>
          </a:xfrm>
          <a:prstGeom prst="line">
            <a:avLst/>
          </a:prstGeom>
          <a:noFill/>
          <a:ln w="15240">
            <a:solidFill>
              <a:srgbClr val="13233F"/>
            </a:solidFill>
            <a:prstDash val="solid"/>
            <a:headEnd type="none"/>
            <a:tailEnd type="none"/>
          </a:ln>
        </p:spPr>
        <p:txBody>
          <a:bodyPr/>
          <a:p/>
        </p:txBody>
      </p:sp>
      <p:sp>
        <p:nvSpPr>
          <p:cNvPr id="13" name="Shape 11"/>
          <p:cNvSpPr/>
          <p:nvPr/>
        </p:nvSpPr>
        <p:spPr>
          <a:xfrm>
            <a:off x="1188720" y="2999232"/>
            <a:ext cx="1481328" cy="0"/>
          </a:xfrm>
          <a:prstGeom prst="line">
            <a:avLst/>
          </a:prstGeom>
          <a:noFill/>
          <a:ln w="15240">
            <a:solidFill>
              <a:srgbClr val="13233F"/>
            </a:solidFill>
            <a:prstDash val="solid"/>
            <a:headEnd type="none"/>
            <a:tailEnd type="none"/>
          </a:ln>
        </p:spPr>
        <p:txBody>
          <a:bodyPr/>
          <a:p/>
        </p:txBody>
      </p:sp>
      <p:sp>
        <p:nvSpPr>
          <p:cNvPr id="14" name="Shape 12"/>
          <p:cNvSpPr/>
          <p:nvPr/>
        </p:nvSpPr>
        <p:spPr>
          <a:xfrm>
            <a:off x="2670048" y="2999232"/>
            <a:ext cx="822960" cy="0"/>
          </a:xfrm>
          <a:prstGeom prst="line">
            <a:avLst/>
          </a:prstGeom>
          <a:noFill/>
          <a:ln w="11430">
            <a:solidFill>
              <a:srgbClr val="C9D6EC"/>
            </a:solidFill>
            <a:prstDash val="sysDot"/>
            <a:headEnd type="none"/>
            <a:tailEnd type="none"/>
          </a:ln>
        </p:spPr>
        <p:txBody>
          <a:bodyPr/>
          <a:p/>
        </p:txBody>
      </p:sp>
      <p:sp>
        <p:nvSpPr>
          <p:cNvPr id="15" name="Shape 13"/>
          <p:cNvSpPr/>
          <p:nvPr/>
        </p:nvSpPr>
        <p:spPr>
          <a:xfrm rot="4200000">
            <a:off x="1601276" y="2837002"/>
            <a:ext cx="66337" cy="0"/>
          </a:xfrm>
          <a:prstGeom prst="line">
            <a:avLst/>
          </a:prstGeom>
          <a:noFill/>
          <a:ln w="12700">
            <a:solidFill>
              <a:srgbClr val="13233F"/>
            </a:solidFill>
            <a:prstDash val="solid"/>
            <a:headEnd type="none"/>
            <a:tailEnd type="none"/>
          </a:ln>
        </p:spPr>
        <p:txBody>
          <a:bodyPr/>
          <a:p/>
        </p:txBody>
      </p:sp>
      <p:sp>
        <p:nvSpPr>
          <p:cNvPr id="16" name="Shape 14"/>
          <p:cNvSpPr/>
          <p:nvPr/>
        </p:nvSpPr>
        <p:spPr>
          <a:xfrm rot="4680000">
            <a:off x="1619516" y="2900613"/>
            <a:ext cx="66337" cy="0"/>
          </a:xfrm>
          <a:prstGeom prst="line">
            <a:avLst/>
          </a:prstGeom>
          <a:noFill/>
          <a:ln w="12700">
            <a:solidFill>
              <a:srgbClr val="13233F"/>
            </a:solidFill>
            <a:prstDash val="solid"/>
            <a:headEnd type="none"/>
            <a:tailEnd type="none"/>
          </a:ln>
        </p:spPr>
        <p:txBody>
          <a:bodyPr/>
          <a:p/>
        </p:txBody>
      </p:sp>
      <p:sp>
        <p:nvSpPr>
          <p:cNvPr id="17" name="Shape 15"/>
          <p:cNvSpPr/>
          <p:nvPr/>
        </p:nvSpPr>
        <p:spPr>
          <a:xfrm rot="5160000">
            <a:off x="1628726" y="2966144"/>
            <a:ext cx="66337" cy="0"/>
          </a:xfrm>
          <a:prstGeom prst="line">
            <a:avLst/>
          </a:prstGeom>
          <a:noFill/>
          <a:ln w="12700">
            <a:solidFill>
              <a:srgbClr val="13233F"/>
            </a:solidFill>
            <a:prstDash val="solid"/>
            <a:headEnd type="none"/>
            <a:tailEnd type="none"/>
          </a:ln>
        </p:spPr>
        <p:txBody>
          <a:bodyPr/>
          <a:p/>
        </p:txBody>
      </p:sp>
      <p:sp>
        <p:nvSpPr>
          <p:cNvPr id="18" name="Text 16"/>
          <p:cNvSpPr txBox="1"/>
          <p:nvPr/>
        </p:nvSpPr>
        <p:spPr>
          <a:xfrm>
            <a:off x="1444752" y="2432304"/>
            <a:ext cx="73152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길이 1</a:t>
            </a:r>
            <a:endParaRPr lang="en-US" sz="950" dirty="0"/>
          </a:p>
        </p:txBody>
      </p:sp>
      <p:sp>
        <p:nvSpPr>
          <p:cNvPr id="19" name="Text 17"/>
          <p:cNvSpPr txBox="1"/>
          <p:nvPr/>
        </p:nvSpPr>
        <p:spPr>
          <a:xfrm>
            <a:off x="1572768" y="2852928"/>
            <a:ext cx="274320" cy="201168"/>
          </a:xfrm>
          <a:prstGeom prst="rect">
            <a:avLst/>
          </a:prstGeom>
          <a:noFill/>
          <a:ln/>
        </p:spPr>
        <p:txBody>
          <a:bodyPr wrap="square" lIns="0" tIns="0" rIns="0" bIns="0" rtlCol="0" anchor="ctr"/>
          <a:lstStyle/>
          <a:p>
            <a:pPr marL="0" indent="0" algn="l">
              <a:buNone/>
            </a:pPr>
            <a:r>
              <a:rPr lang="en-US" sz="900" dirty="0">
                <a:solidFill>
                  <a:srgbClr val="1A2233"/>
                </a:solidFill>
                <a:latin typeface="Arial" pitchFamily="34" charset="0"/>
                <a:ea typeface="Arial" pitchFamily="34" charset="-122"/>
                <a:cs typeface="Arial" pitchFamily="34" charset="-120"/>
              </a:rPr>
              <a:t>El</a:t>
            </a:r>
            <a:endParaRPr lang="en-US" sz="900" dirty="0"/>
          </a:p>
        </p:txBody>
      </p:sp>
      <p:sp>
        <p:nvSpPr>
          <p:cNvPr id="20" name="Text 18"/>
          <p:cNvSpPr txBox="1"/>
          <p:nvPr/>
        </p:nvSpPr>
        <p:spPr>
          <a:xfrm>
            <a:off x="2743200" y="2615184"/>
            <a:ext cx="109728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v = sin(El)</a:t>
            </a:r>
            <a:endParaRPr lang="en-US" sz="950" dirty="0"/>
          </a:p>
        </p:txBody>
      </p:sp>
      <p:sp>
        <p:nvSpPr>
          <p:cNvPr id="21" name="Text 19"/>
          <p:cNvSpPr txBox="1"/>
          <p:nvPr/>
        </p:nvSpPr>
        <p:spPr>
          <a:xfrm>
            <a:off x="1591056" y="3090672"/>
            <a:ext cx="82296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cos(El)</a:t>
            </a:r>
            <a:endParaRPr lang="en-US" sz="950" dirty="0"/>
          </a:p>
        </p:txBody>
      </p:sp>
      <p:sp>
        <p:nvSpPr>
          <p:cNvPr id="22" name="Text 20"/>
          <p:cNvSpPr txBox="1"/>
          <p:nvPr/>
        </p:nvSpPr>
        <p:spPr>
          <a:xfrm>
            <a:off x="3108960" y="2980944"/>
            <a:ext cx="640080" cy="201168"/>
          </a:xfrm>
          <a:prstGeom prst="rect">
            <a:avLst/>
          </a:prstGeom>
          <a:noFill/>
          <a:ln/>
        </p:spPr>
        <p:txBody>
          <a:bodyPr wrap="square" lIns="0" tIns="0" rIns="0" bIns="0" rtlCol="0" anchor="ctr"/>
          <a:lstStyle/>
          <a:p>
            <a:pPr marL="0" indent="0" algn="l">
              <a:buNone/>
            </a:pPr>
            <a:r>
              <a:rPr lang="en-US" sz="850" dirty="0">
                <a:solidFill>
                  <a:srgbClr val="5A6478"/>
                </a:solidFill>
                <a:latin typeface="맑은 고딕" pitchFamily="34" charset="0"/>
                <a:ea typeface="맑은 고딕" pitchFamily="34" charset="-122"/>
                <a:cs typeface="맑은 고딕" pitchFamily="34" charset="-120"/>
              </a:rPr>
              <a:t>수평면</a:t>
            </a:r>
            <a:endParaRPr lang="en-US" sz="850" dirty="0"/>
          </a:p>
        </p:txBody>
      </p:sp>
      <p:sp>
        <p:nvSpPr>
          <p:cNvPr id="23" name="Shape 21"/>
          <p:cNvSpPr/>
          <p:nvPr/>
        </p:nvSpPr>
        <p:spPr>
          <a:xfrm>
            <a:off x="1188720" y="3950208"/>
            <a:ext cx="1481328" cy="0"/>
          </a:xfrm>
          <a:prstGeom prst="line">
            <a:avLst/>
          </a:prstGeom>
          <a:noFill/>
          <a:ln w="16510">
            <a:solidFill>
              <a:srgbClr val="13233F"/>
            </a:solidFill>
            <a:prstDash val="solid"/>
            <a:headEnd type="none"/>
            <a:tailEnd type="triangle"/>
          </a:ln>
        </p:spPr>
        <p:txBody>
          <a:bodyPr/>
          <a:p/>
        </p:txBody>
      </p:sp>
      <p:sp>
        <p:nvSpPr>
          <p:cNvPr id="24" name="Shape 22"/>
          <p:cNvSpPr/>
          <p:nvPr/>
        </p:nvSpPr>
        <p:spPr>
          <a:xfrm rot="5400000">
            <a:off x="2276856" y="4343400"/>
            <a:ext cx="786384" cy="0"/>
          </a:xfrm>
          <a:prstGeom prst="line">
            <a:avLst/>
          </a:prstGeom>
          <a:noFill/>
          <a:ln w="15240">
            <a:solidFill>
              <a:srgbClr val="13233F"/>
            </a:solidFill>
            <a:prstDash val="solid"/>
            <a:headEnd type="none"/>
            <a:tailEnd type="none"/>
          </a:ln>
        </p:spPr>
        <p:txBody>
          <a:bodyPr/>
          <a:p/>
        </p:txBody>
      </p:sp>
      <p:sp>
        <p:nvSpPr>
          <p:cNvPr id="25" name="Shape 23"/>
          <p:cNvSpPr/>
          <p:nvPr/>
        </p:nvSpPr>
        <p:spPr>
          <a:xfrm rot="1677734">
            <a:off x="1090824" y="4343400"/>
            <a:ext cx="1677120" cy="0"/>
          </a:xfrm>
          <a:prstGeom prst="line">
            <a:avLst/>
          </a:prstGeom>
          <a:noFill/>
          <a:ln w="15240">
            <a:solidFill>
              <a:srgbClr val="13233F"/>
            </a:solidFill>
            <a:prstDash val="solid"/>
            <a:headEnd type="none"/>
            <a:tailEnd type="none"/>
          </a:ln>
        </p:spPr>
        <p:txBody>
          <a:bodyPr/>
          <a:p/>
        </p:txBody>
      </p:sp>
      <p:sp>
        <p:nvSpPr>
          <p:cNvPr id="26" name="Shape 24"/>
          <p:cNvSpPr/>
          <p:nvPr/>
        </p:nvSpPr>
        <p:spPr>
          <a:xfrm>
            <a:off x="2670048" y="3950208"/>
            <a:ext cx="822960" cy="0"/>
          </a:xfrm>
          <a:prstGeom prst="line">
            <a:avLst/>
          </a:prstGeom>
          <a:noFill/>
          <a:ln w="11430">
            <a:solidFill>
              <a:srgbClr val="C9D6EC"/>
            </a:solidFill>
            <a:prstDash val="sysDot"/>
            <a:headEnd type="none"/>
            <a:tailEnd type="none"/>
          </a:ln>
        </p:spPr>
        <p:txBody>
          <a:bodyPr/>
          <a:p/>
        </p:txBody>
      </p:sp>
      <p:sp>
        <p:nvSpPr>
          <p:cNvPr id="27" name="Shape 25"/>
          <p:cNvSpPr/>
          <p:nvPr/>
        </p:nvSpPr>
        <p:spPr>
          <a:xfrm rot="5610000">
            <a:off x="1667615" y="3981410"/>
            <a:ext cx="62522" cy="0"/>
          </a:xfrm>
          <a:prstGeom prst="line">
            <a:avLst/>
          </a:prstGeom>
          <a:noFill/>
          <a:ln w="12700">
            <a:solidFill>
              <a:srgbClr val="13233F"/>
            </a:solidFill>
            <a:prstDash val="solid"/>
            <a:headEnd type="none"/>
            <a:tailEnd type="none"/>
          </a:ln>
        </p:spPr>
        <p:txBody>
          <a:bodyPr/>
          <a:p/>
        </p:txBody>
      </p:sp>
      <p:sp>
        <p:nvSpPr>
          <p:cNvPr id="28" name="Shape 26"/>
          <p:cNvSpPr/>
          <p:nvPr/>
        </p:nvSpPr>
        <p:spPr>
          <a:xfrm rot="6030000">
            <a:off x="1660010" y="4043350"/>
            <a:ext cx="62522" cy="0"/>
          </a:xfrm>
          <a:prstGeom prst="line">
            <a:avLst/>
          </a:prstGeom>
          <a:noFill/>
          <a:ln w="12700">
            <a:solidFill>
              <a:srgbClr val="13233F"/>
            </a:solidFill>
            <a:prstDash val="solid"/>
            <a:headEnd type="none"/>
            <a:tailEnd type="none"/>
          </a:ln>
        </p:spPr>
        <p:txBody>
          <a:bodyPr/>
          <a:p/>
        </p:txBody>
      </p:sp>
      <p:sp>
        <p:nvSpPr>
          <p:cNvPr id="29" name="Shape 27"/>
          <p:cNvSpPr/>
          <p:nvPr/>
        </p:nvSpPr>
        <p:spPr>
          <a:xfrm rot="6450000">
            <a:off x="1644912" y="4103901"/>
            <a:ext cx="62522" cy="0"/>
          </a:xfrm>
          <a:prstGeom prst="line">
            <a:avLst/>
          </a:prstGeom>
          <a:noFill/>
          <a:ln w="12700">
            <a:solidFill>
              <a:srgbClr val="13233F"/>
            </a:solidFill>
            <a:prstDash val="solid"/>
            <a:headEnd type="none"/>
            <a:tailEnd type="none"/>
          </a:ln>
        </p:spPr>
        <p:txBody>
          <a:bodyPr/>
          <a:p/>
        </p:txBody>
      </p:sp>
      <p:sp>
        <p:nvSpPr>
          <p:cNvPr id="30" name="Shape 28"/>
          <p:cNvSpPr/>
          <p:nvPr/>
        </p:nvSpPr>
        <p:spPr>
          <a:xfrm rot="6870000">
            <a:off x="1622549" y="4162161"/>
            <a:ext cx="62522" cy="0"/>
          </a:xfrm>
          <a:prstGeom prst="line">
            <a:avLst/>
          </a:prstGeom>
          <a:noFill/>
          <a:ln w="12700">
            <a:solidFill>
              <a:srgbClr val="13233F"/>
            </a:solidFill>
            <a:prstDash val="solid"/>
            <a:headEnd type="none"/>
            <a:tailEnd type="none"/>
          </a:ln>
        </p:spPr>
        <p:txBody>
          <a:bodyPr/>
          <a:p/>
        </p:txBody>
      </p:sp>
      <p:sp>
        <p:nvSpPr>
          <p:cNvPr id="31" name="Text 29"/>
          <p:cNvSpPr txBox="1"/>
          <p:nvPr/>
        </p:nvSpPr>
        <p:spPr>
          <a:xfrm>
            <a:off x="1280160" y="3730752"/>
            <a:ext cx="173736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w = cos(El)·cos(Az)</a:t>
            </a:r>
            <a:endParaRPr lang="en-US" sz="950" dirty="0"/>
          </a:p>
        </p:txBody>
      </p:sp>
      <p:sp>
        <p:nvSpPr>
          <p:cNvPr id="32" name="Text 30"/>
          <p:cNvSpPr txBox="1"/>
          <p:nvPr/>
        </p:nvSpPr>
        <p:spPr>
          <a:xfrm>
            <a:off x="1463040" y="4133088"/>
            <a:ext cx="320040" cy="201168"/>
          </a:xfrm>
          <a:prstGeom prst="rect">
            <a:avLst/>
          </a:prstGeom>
          <a:noFill/>
          <a:ln/>
        </p:spPr>
        <p:txBody>
          <a:bodyPr wrap="square" lIns="0" tIns="0" rIns="0" bIns="0" rtlCol="0" anchor="ctr"/>
          <a:lstStyle/>
          <a:p>
            <a:pPr marL="0" indent="0" algn="l">
              <a:buNone/>
            </a:pPr>
            <a:r>
              <a:rPr lang="en-US" sz="900" dirty="0">
                <a:solidFill>
                  <a:srgbClr val="1A2233"/>
                </a:solidFill>
                <a:latin typeface="Arial" pitchFamily="34" charset="0"/>
                <a:ea typeface="Arial" pitchFamily="34" charset="-122"/>
                <a:cs typeface="Arial" pitchFamily="34" charset="-120"/>
              </a:rPr>
              <a:t>Az</a:t>
            </a:r>
            <a:endParaRPr lang="en-US" sz="900" dirty="0"/>
          </a:p>
        </p:txBody>
      </p:sp>
      <p:sp>
        <p:nvSpPr>
          <p:cNvPr id="33" name="Text 31"/>
          <p:cNvSpPr txBox="1"/>
          <p:nvPr/>
        </p:nvSpPr>
        <p:spPr>
          <a:xfrm>
            <a:off x="2743200" y="4334256"/>
            <a:ext cx="173736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u = cos(El)·sin(Az)</a:t>
            </a:r>
            <a:endParaRPr lang="en-US" sz="950" dirty="0"/>
          </a:p>
        </p:txBody>
      </p:sp>
      <p:sp>
        <p:nvSpPr>
          <p:cNvPr id="34" name="Text 32"/>
          <p:cNvSpPr txBox="1"/>
          <p:nvPr/>
        </p:nvSpPr>
        <p:spPr>
          <a:xfrm>
            <a:off x="1517904" y="4736592"/>
            <a:ext cx="82296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cos(El)</a:t>
            </a:r>
            <a:endParaRPr lang="en-US" sz="950" dirty="0"/>
          </a:p>
        </p:txBody>
      </p:sp>
      <p:sp>
        <p:nvSpPr>
          <p:cNvPr id="35" name="Text 33"/>
          <p:cNvSpPr txBox="1"/>
          <p:nvPr/>
        </p:nvSpPr>
        <p:spPr>
          <a:xfrm>
            <a:off x="3072384" y="3931920"/>
            <a:ext cx="1005840" cy="201168"/>
          </a:xfrm>
          <a:prstGeom prst="rect">
            <a:avLst/>
          </a:prstGeom>
          <a:noFill/>
          <a:ln/>
        </p:spPr>
        <p:txBody>
          <a:bodyPr wrap="square" lIns="0" tIns="0" rIns="0" bIns="0" rtlCol="0" anchor="ctr"/>
          <a:lstStyle/>
          <a:p>
            <a:pPr marL="0" indent="0" algn="l">
              <a:buNone/>
            </a:pPr>
            <a:r>
              <a:rPr lang="en-US" sz="850" dirty="0">
                <a:solidFill>
                  <a:srgbClr val="5A6478"/>
                </a:solidFill>
                <a:latin typeface="맑은 고딕" pitchFamily="34" charset="0"/>
                <a:ea typeface="맑은 고딕" pitchFamily="34" charset="-122"/>
                <a:cs typeface="맑은 고딕" pitchFamily="34" charset="-120"/>
              </a:rPr>
              <a:t>보어사이트</a:t>
            </a:r>
            <a:endParaRPr lang="en-US" sz="850" dirty="0"/>
          </a:p>
        </p:txBody>
      </p:sp>
      <p:sp>
        <p:nvSpPr>
          <p:cNvPr id="36" name="Text 34"/>
          <p:cNvSpPr txBox="1"/>
          <p:nvPr/>
        </p:nvSpPr>
        <p:spPr>
          <a:xfrm>
            <a:off x="4864608" y="1792224"/>
            <a:ext cx="2834640" cy="457200"/>
          </a:xfrm>
          <a:prstGeom prst="rect">
            <a:avLst/>
          </a:prstGeom>
          <a:noFill/>
          <a:ln/>
        </p:spPr>
        <p:txBody>
          <a:bodyPr wrap="square" lIns="0" tIns="0" rIns="0" bIns="0" rtlCol="0" anchor="t"/>
          <a:lstStyle/>
          <a:p>
            <a:pPr marL="0" indent="0" algn="l">
              <a:lnSpc>
                <a:spcPct val="105000"/>
              </a:lnSpc>
              <a:spcAft>
                <a:spcPts val="300"/>
              </a:spcAft>
              <a:buNone/>
            </a:pPr>
            <a:r>
              <a:rPr lang="en-US" sz="1200" b="1" dirty="0">
                <a:solidFill>
                  <a:srgbClr val="1A2233"/>
                </a:solidFill>
                <a:latin typeface="맑은 고딕" pitchFamily="34" charset="0"/>
                <a:ea typeface="맑은 고딕" pitchFamily="34" charset="-122"/>
                <a:cs typeface="맑은 고딕" pitchFamily="34" charset="-120"/>
              </a:rPr>
              <a:t>안테나 면에서 본 u – v 평면</a:t>
            </a:r>
            <a:endParaRPr lang="en-US" sz="120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점 (u, v) 는 표적 방향의 그림자</a:t>
            </a:r>
            <a:endParaRPr lang="en-US" sz="1200" dirty="0"/>
          </a:p>
        </p:txBody>
      </p:sp>
      <p:sp>
        <p:nvSpPr>
          <p:cNvPr id="37" name="Shape 35"/>
          <p:cNvSpPr/>
          <p:nvPr/>
        </p:nvSpPr>
        <p:spPr>
          <a:xfrm>
            <a:off x="5102352" y="2505456"/>
            <a:ext cx="2340864" cy="2340864"/>
          </a:xfrm>
          <a:prstGeom prst="ellipse">
            <a:avLst/>
          </a:prstGeom>
          <a:solidFill>
            <a:srgbClr val="F5F7FB"/>
          </a:solidFill>
          <a:ln w="13970">
            <a:solidFill>
              <a:srgbClr val="5A6478"/>
            </a:solidFill>
            <a:prstDash val="solid"/>
          </a:ln>
        </p:spPr>
        <p:txBody>
          <a:bodyPr/>
          <a:p/>
        </p:txBody>
      </p:sp>
      <p:sp>
        <p:nvSpPr>
          <p:cNvPr id="38" name="Shape 36"/>
          <p:cNvSpPr/>
          <p:nvPr/>
        </p:nvSpPr>
        <p:spPr>
          <a:xfrm>
            <a:off x="5687568" y="3090672"/>
            <a:ext cx="1170432" cy="1170432"/>
          </a:xfrm>
          <a:prstGeom prst="ellipse">
            <a:avLst/>
          </a:prstGeom>
          <a:ln w="10160">
            <a:solidFill>
              <a:srgbClr val="C9D6EC"/>
            </a:solidFill>
            <a:prstDash val="sysDot"/>
          </a:ln>
        </p:spPr>
        <p:txBody>
          <a:bodyPr/>
          <a:p/>
        </p:txBody>
      </p:sp>
      <p:sp>
        <p:nvSpPr>
          <p:cNvPr id="39" name="Shape 37"/>
          <p:cNvSpPr/>
          <p:nvPr/>
        </p:nvSpPr>
        <p:spPr>
          <a:xfrm>
            <a:off x="5259190" y="2662294"/>
            <a:ext cx="2027188" cy="2027188"/>
          </a:xfrm>
          <a:prstGeom prst="ellipse">
            <a:avLst/>
          </a:prstGeom>
          <a:ln w="10160">
            <a:solidFill>
              <a:srgbClr val="C9D6EC"/>
            </a:solidFill>
            <a:prstDash val="sysDot"/>
          </a:ln>
        </p:spPr>
        <p:txBody>
          <a:bodyPr/>
          <a:p/>
        </p:txBody>
      </p:sp>
      <p:sp>
        <p:nvSpPr>
          <p:cNvPr id="40" name="Shape 38"/>
          <p:cNvSpPr/>
          <p:nvPr/>
        </p:nvSpPr>
        <p:spPr>
          <a:xfrm>
            <a:off x="6272784" y="3675888"/>
            <a:ext cx="1426464" cy="0"/>
          </a:xfrm>
          <a:prstGeom prst="line">
            <a:avLst/>
          </a:prstGeom>
          <a:noFill/>
          <a:ln w="13970">
            <a:solidFill>
              <a:srgbClr val="13233F"/>
            </a:solidFill>
            <a:prstDash val="solid"/>
            <a:headEnd type="none"/>
            <a:tailEnd type="triangle"/>
          </a:ln>
        </p:spPr>
        <p:txBody>
          <a:bodyPr/>
          <a:p/>
        </p:txBody>
      </p:sp>
      <p:sp>
        <p:nvSpPr>
          <p:cNvPr id="41" name="Shape 39"/>
          <p:cNvSpPr/>
          <p:nvPr/>
        </p:nvSpPr>
        <p:spPr>
          <a:xfrm rot="-5400000">
            <a:off x="5559552" y="2962656"/>
            <a:ext cx="1426464" cy="0"/>
          </a:xfrm>
          <a:prstGeom prst="line">
            <a:avLst/>
          </a:prstGeom>
          <a:noFill/>
          <a:ln w="13970">
            <a:solidFill>
              <a:srgbClr val="13233F"/>
            </a:solidFill>
            <a:prstDash val="solid"/>
            <a:headEnd type="none"/>
            <a:tailEnd type="triangle"/>
          </a:ln>
        </p:spPr>
        <p:txBody>
          <a:bodyPr/>
          <a:p/>
        </p:txBody>
      </p:sp>
      <p:sp>
        <p:nvSpPr>
          <p:cNvPr id="42" name="Text 40"/>
          <p:cNvSpPr txBox="1"/>
          <p:nvPr/>
        </p:nvSpPr>
        <p:spPr>
          <a:xfrm>
            <a:off x="7754112" y="3657600"/>
            <a:ext cx="22860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u</a:t>
            </a:r>
            <a:endParaRPr lang="en-US" sz="1000" dirty="0"/>
          </a:p>
        </p:txBody>
      </p:sp>
      <p:sp>
        <p:nvSpPr>
          <p:cNvPr id="43" name="Text 41"/>
          <p:cNvSpPr txBox="1"/>
          <p:nvPr/>
        </p:nvSpPr>
        <p:spPr>
          <a:xfrm>
            <a:off x="6236208" y="2084832"/>
            <a:ext cx="22860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v</a:t>
            </a:r>
            <a:endParaRPr lang="en-US" sz="1000" dirty="0"/>
          </a:p>
        </p:txBody>
      </p:sp>
      <p:sp>
        <p:nvSpPr>
          <p:cNvPr id="44" name="Shape 42"/>
          <p:cNvSpPr/>
          <p:nvPr/>
        </p:nvSpPr>
        <p:spPr>
          <a:xfrm>
            <a:off x="6789420" y="3607308"/>
            <a:ext cx="137160" cy="137160"/>
          </a:xfrm>
          <a:prstGeom prst="ellipse">
            <a:avLst/>
          </a:prstGeom>
          <a:solidFill>
            <a:srgbClr val="13233F"/>
          </a:solidFill>
          <a:ln/>
        </p:spPr>
        <p:txBody>
          <a:bodyPr/>
          <a:p/>
        </p:txBody>
      </p:sp>
      <p:sp>
        <p:nvSpPr>
          <p:cNvPr id="45" name="Shape 43"/>
          <p:cNvSpPr/>
          <p:nvPr/>
        </p:nvSpPr>
        <p:spPr>
          <a:xfrm>
            <a:off x="6217920" y="3621024"/>
            <a:ext cx="109728" cy="109728"/>
          </a:xfrm>
          <a:prstGeom prst="ellipse">
            <a:avLst/>
          </a:prstGeom>
          <a:ln w="11430">
            <a:solidFill>
              <a:srgbClr val="13233F"/>
            </a:solidFill>
            <a:prstDash val="solid"/>
          </a:ln>
        </p:spPr>
        <p:txBody>
          <a:bodyPr/>
          <a:p/>
        </p:txBody>
      </p:sp>
      <p:sp>
        <p:nvSpPr>
          <p:cNvPr id="46" name="Shape 44"/>
          <p:cNvSpPr/>
          <p:nvPr/>
        </p:nvSpPr>
        <p:spPr>
          <a:xfrm>
            <a:off x="5431536" y="2926080"/>
            <a:ext cx="365760" cy="365760"/>
          </a:xfrm>
          <a:prstGeom prst="ellipse">
            <a:avLst/>
          </a:prstGeom>
          <a:ln w="10160">
            <a:solidFill>
              <a:srgbClr val="5A6478"/>
            </a:solidFill>
            <a:prstDash val="dash"/>
          </a:ln>
        </p:spPr>
        <p:txBody>
          <a:bodyPr/>
          <a:p/>
        </p:txBody>
      </p:sp>
      <p:sp>
        <p:nvSpPr>
          <p:cNvPr id="47" name="Text 45"/>
          <p:cNvSpPr txBox="1"/>
          <p:nvPr/>
        </p:nvSpPr>
        <p:spPr>
          <a:xfrm>
            <a:off x="5212080" y="2743200"/>
            <a:ext cx="822960" cy="201168"/>
          </a:xfrm>
          <a:prstGeom prst="rect">
            <a:avLst/>
          </a:prstGeom>
          <a:noFill/>
          <a:ln/>
        </p:spPr>
        <p:txBody>
          <a:bodyPr wrap="square" lIns="0" tIns="0" rIns="0" bIns="0" rtlCol="0" anchor="ctr"/>
          <a:lstStyle/>
          <a:p>
            <a:pPr marL="0" indent="0" algn="l">
              <a:buNone/>
            </a:pPr>
            <a:r>
              <a:rPr lang="en-US" sz="800" dirty="0">
                <a:solidFill>
                  <a:srgbClr val="5A6478"/>
                </a:solidFill>
                <a:latin typeface="맑은 고딕" pitchFamily="34" charset="0"/>
                <a:ea typeface="맑은 고딕" pitchFamily="34" charset="-122"/>
                <a:cs typeface="맑은 고딕" pitchFamily="34" charset="-120"/>
              </a:rPr>
              <a:t>격자로브</a:t>
            </a:r>
            <a:endParaRPr lang="en-US" sz="800" dirty="0"/>
          </a:p>
        </p:txBody>
      </p:sp>
      <p:sp>
        <p:nvSpPr>
          <p:cNvPr id="48" name="Text 46"/>
          <p:cNvSpPr txBox="1"/>
          <p:nvPr/>
        </p:nvSpPr>
        <p:spPr>
          <a:xfrm>
            <a:off x="5541264" y="3072384"/>
            <a:ext cx="228600" cy="201168"/>
          </a:xfrm>
          <a:prstGeom prst="rect">
            <a:avLst/>
          </a:prstGeom>
          <a:noFill/>
          <a:ln/>
        </p:spPr>
        <p:txBody>
          <a:bodyPr wrap="square" lIns="0" tIns="0" rIns="0" bIns="0" rtlCol="0" anchor="ctr"/>
          <a:lstStyle/>
          <a:p>
            <a:pPr marL="0" indent="0" algn="l">
              <a:buNone/>
            </a:pPr>
            <a:r>
              <a:rPr lang="en-US" sz="800" dirty="0">
                <a:solidFill>
                  <a:srgbClr val="5A6478"/>
                </a:solidFill>
                <a:latin typeface="Arial" pitchFamily="34" charset="0"/>
                <a:ea typeface="Arial" pitchFamily="34" charset="-122"/>
                <a:cs typeface="Arial" pitchFamily="34" charset="-120"/>
              </a:rPr>
              <a:t>w</a:t>
            </a:r>
            <a:endParaRPr lang="en-US" sz="800" dirty="0"/>
          </a:p>
        </p:txBody>
      </p:sp>
      <p:sp>
        <p:nvSpPr>
          <p:cNvPr id="49" name="Text 47"/>
          <p:cNvSpPr txBox="1"/>
          <p:nvPr/>
        </p:nvSpPr>
        <p:spPr>
          <a:xfrm>
            <a:off x="6400800" y="4059936"/>
            <a:ext cx="365760" cy="201168"/>
          </a:xfrm>
          <a:prstGeom prst="rect">
            <a:avLst/>
          </a:prstGeom>
          <a:noFill/>
          <a:ln/>
        </p:spPr>
        <p:txBody>
          <a:bodyPr wrap="square" lIns="0" tIns="0" rIns="0" bIns="0" rtlCol="0" anchor="ctr"/>
          <a:lstStyle/>
          <a:p>
            <a:pPr marL="0" indent="0" algn="l">
              <a:buNone/>
            </a:pPr>
            <a:r>
              <a:rPr lang="en-US" sz="750" dirty="0">
                <a:solidFill>
                  <a:srgbClr val="5A6478"/>
                </a:solidFill>
                <a:latin typeface="맑은 고딕" pitchFamily="34" charset="0"/>
                <a:ea typeface="맑은 고딕" pitchFamily="34" charset="-122"/>
                <a:cs typeface="맑은 고딕" pitchFamily="34" charset="-120"/>
              </a:rPr>
              <a:t>30°</a:t>
            </a:r>
            <a:endParaRPr lang="en-US" sz="750" dirty="0"/>
          </a:p>
        </p:txBody>
      </p:sp>
      <p:sp>
        <p:nvSpPr>
          <p:cNvPr id="50" name="Text 48"/>
          <p:cNvSpPr txBox="1"/>
          <p:nvPr/>
        </p:nvSpPr>
        <p:spPr>
          <a:xfrm>
            <a:off x="6400800" y="4553712"/>
            <a:ext cx="365760" cy="201168"/>
          </a:xfrm>
          <a:prstGeom prst="rect">
            <a:avLst/>
          </a:prstGeom>
          <a:noFill/>
          <a:ln/>
        </p:spPr>
        <p:txBody>
          <a:bodyPr wrap="square" lIns="0" tIns="0" rIns="0" bIns="0" rtlCol="0" anchor="ctr"/>
          <a:lstStyle/>
          <a:p>
            <a:pPr marL="0" indent="0" algn="l">
              <a:buNone/>
            </a:pPr>
            <a:r>
              <a:rPr lang="en-US" sz="750" dirty="0">
                <a:solidFill>
                  <a:srgbClr val="5A6478"/>
                </a:solidFill>
                <a:latin typeface="맑은 고딕" pitchFamily="34" charset="0"/>
                <a:ea typeface="맑은 고딕" pitchFamily="34" charset="-122"/>
                <a:cs typeface="맑은 고딕" pitchFamily="34" charset="-120"/>
              </a:rPr>
              <a:t>60°</a:t>
            </a:r>
            <a:endParaRPr lang="en-US" sz="750" dirty="0"/>
          </a:p>
        </p:txBody>
      </p:sp>
      <p:sp>
        <p:nvSpPr>
          <p:cNvPr id="51" name="Text 49"/>
          <p:cNvSpPr txBox="1"/>
          <p:nvPr/>
        </p:nvSpPr>
        <p:spPr>
          <a:xfrm>
            <a:off x="5175504" y="3931920"/>
            <a:ext cx="1325880" cy="201168"/>
          </a:xfrm>
          <a:prstGeom prst="rect">
            <a:avLst/>
          </a:prstGeom>
          <a:noFill/>
          <a:ln/>
        </p:spPr>
        <p:txBody>
          <a:bodyPr wrap="square" lIns="0" tIns="0" rIns="0" bIns="0" rtlCol="0" anchor="ctr"/>
          <a:lstStyle/>
          <a:p>
            <a:pPr marL="0" indent="0" algn="r">
              <a:buNone/>
            </a:pPr>
            <a:r>
              <a:rPr lang="en-US" sz="750" dirty="0">
                <a:solidFill>
                  <a:srgbClr val="1A2233"/>
                </a:solidFill>
                <a:latin typeface="맑은 고딕" pitchFamily="34" charset="0"/>
                <a:ea typeface="맑은 고딕" pitchFamily="34" charset="-122"/>
                <a:cs typeface="맑은 고딕" pitchFamily="34" charset="-120"/>
              </a:rPr>
              <a:t>표적 u = 0.500, v = 0</a:t>
            </a:r>
            <a:endParaRPr lang="en-US" sz="850" dirty="0"/>
          </a:p>
        </p:txBody>
      </p:sp>
      <p:sp>
        <p:nvSpPr>
          <p:cNvPr id="52" name="Text 50"/>
          <p:cNvSpPr txBox="1"/>
          <p:nvPr/>
        </p:nvSpPr>
        <p:spPr>
          <a:xfrm>
            <a:off x="4553712" y="4901184"/>
            <a:ext cx="3566160" cy="201168"/>
          </a:xfrm>
          <a:prstGeom prst="rect">
            <a:avLst/>
          </a:prstGeom>
          <a:noFill/>
          <a:ln/>
        </p:spPr>
        <p:txBody>
          <a:bodyPr wrap="square" lIns="0" tIns="0" rIns="0" bIns="0" rtlCol="0" anchor="ctr"/>
          <a:lstStyle/>
          <a:p>
            <a:pPr marL="0" indent="0" algn="ctr">
              <a:buNone/>
            </a:pPr>
            <a:r>
              <a:rPr lang="en-US" sz="900" dirty="0">
                <a:solidFill>
                  <a:srgbClr val="1A2233"/>
                </a:solidFill>
                <a:latin typeface="맑은 고딕" pitchFamily="34" charset="0"/>
                <a:ea typeface="맑은 고딕" pitchFamily="34" charset="-122"/>
                <a:cs typeface="맑은 고딕" pitchFamily="34" charset="-120"/>
              </a:rPr>
              <a:t>u² + v² ≤ 1 — 이 원 밖으로는 빔을 못 만든다</a:t>
            </a:r>
            <a:endParaRPr lang="en-US" sz="900" dirty="0"/>
          </a:p>
        </p:txBody>
      </p:sp>
      <p:sp>
        <p:nvSpPr>
          <p:cNvPr id="53" name="Text 51"/>
          <p:cNvSpPr txBox="1"/>
          <p:nvPr/>
        </p:nvSpPr>
        <p:spPr>
          <a:xfrm>
            <a:off x="960120" y="5102352"/>
            <a:ext cx="6675120" cy="603504"/>
          </a:xfrm>
          <a:prstGeom prst="rect">
            <a:avLst/>
          </a:prstGeom>
          <a:noFill/>
          <a:ln/>
        </p:spPr>
        <p:txBody>
          <a:bodyPr wrap="square" lIns="0" tIns="0" rIns="0" bIns="0" rtlCol="0" anchor="t"/>
          <a:lstStyle/>
          <a:p>
            <a:pPr marL="0" indent="0" algn="l">
              <a:lnSpc>
                <a:spcPct val="105000"/>
              </a:lnSpc>
              <a:spcAft>
                <a:spcPts val="500"/>
              </a:spcAft>
              <a:buNone/>
            </a:pPr>
            <a:r>
              <a:rPr lang="en-US" sz="1250" dirty="0">
                <a:solidFill>
                  <a:srgbClr val="1A2233"/>
                </a:solidFill>
                <a:latin typeface="맑은 고딕" pitchFamily="34" charset="0"/>
                <a:ea typeface="맑은 고딕" pitchFamily="34" charset="-122"/>
                <a:cs typeface="맑은 고딕" pitchFamily="34" charset="-120"/>
              </a:rPr>
              <a:t>u = cos(El) · sin(Az)      v = sin(El)      w = cos(El) · cos(Az)</a:t>
            </a:r>
            <a:endParaRPr lang="en-US" sz="1250" dirty="0"/>
          </a:p>
          <a:p>
            <a:pPr marL="0" indent="0" algn="l">
              <a:lnSpc>
                <a:spcPct val="105000"/>
              </a:lnSpc>
              <a:spcAft>
                <a:spcPts val="200"/>
              </a:spcAft>
              <a:buNone/>
            </a:pPr>
            <a:r>
              <a:rPr lang="en-US" sz="900" dirty="0">
                <a:solidFill>
                  <a:srgbClr val="5A6478"/>
                </a:solidFill>
                <a:latin typeface="맑은 고딕" pitchFamily="34" charset="0"/>
                <a:ea typeface="맑은 고딕" pitchFamily="34" charset="-122"/>
                <a:cs typeface="맑은 고딕" pitchFamily="34" charset="-120"/>
              </a:rPr>
              <a:t>세 성분을 제곱해 더하면 1 이 된다 — 길이 1 인 화살표를 나눠 담은 것이므로.</a:t>
            </a:r>
            <a:endParaRPr lang="en-US" sz="125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각 성분은 그 축과 이루는 각의 코사인이라 '방향코사인' 이라 부른다. u, v 는 약자가 아니라 성분의 이름이다.</a:t>
            </a:r>
            <a:endParaRPr lang="en-US" sz="1250" dirty="0"/>
          </a:p>
        </p:txBody>
      </p:sp>
      <p:sp>
        <p:nvSpPr>
          <p:cNvPr id="54" name="Shape 52"/>
          <p:cNvSpPr/>
          <p:nvPr/>
        </p:nvSpPr>
        <p:spPr>
          <a:xfrm>
            <a:off x="7882128" y="1755648"/>
            <a:ext cx="3474720" cy="3675888"/>
          </a:xfrm>
          <a:prstGeom prst="roundRect">
            <a:avLst>
              <a:gd name="adj" fmla="val 1316"/>
            </a:avLst>
          </a:prstGeom>
          <a:solidFill>
            <a:srgbClr val="EEF1F7"/>
          </a:solidFill>
          <a:ln/>
        </p:spPr>
        <p:txBody>
          <a:bodyPr/>
          <a:p/>
        </p:txBody>
      </p:sp>
      <p:sp>
        <p:nvSpPr>
          <p:cNvPr id="55" name="Text 53"/>
          <p:cNvSpPr txBox="1"/>
          <p:nvPr/>
        </p:nvSpPr>
        <p:spPr>
          <a:xfrm>
            <a:off x="8119872" y="1901952"/>
            <a:ext cx="3017520" cy="1188720"/>
          </a:xfrm>
          <a:prstGeom prst="rect">
            <a:avLst/>
          </a:prstGeom>
          <a:noFill/>
          <a:ln/>
        </p:spPr>
        <p:txBody>
          <a:bodyPr wrap="square" lIns="0" tIns="0" rIns="0" bIns="0" rtlCol="0" anchor="t"/>
          <a:lstStyle/>
          <a:p>
            <a:pPr marL="0" indent="0" algn="l">
              <a:lnSpc>
                <a:spcPct val="105000"/>
              </a:lnSpc>
              <a:spcAft>
                <a:spcPts val="1400"/>
              </a:spcAft>
              <a:buNone/>
            </a:pPr>
            <a:r>
              <a:rPr lang="en-US" sz="1400" b="1" dirty="0">
                <a:solidFill>
                  <a:srgbClr val="1A2233"/>
                </a:solidFill>
                <a:latin typeface="맑은 고딕" pitchFamily="34" charset="0"/>
                <a:ea typeface="맑은 고딕" pitchFamily="34" charset="-122"/>
                <a:cs typeface="맑은 고딕" pitchFamily="34" charset="-120"/>
              </a:rPr>
              <a:t>왜 UV 를 쓰나</a:t>
            </a:r>
            <a:endParaRPr lang="en-US" sz="1400" dirty="0"/>
          </a:p>
          <a:p>
            <a:pPr marL="0" indent="0" algn="l">
              <a:lnSpc>
                <a:spcPct val="105000"/>
              </a:lnSpc>
              <a:spcAft>
                <a:spcPts val="500"/>
              </a:spcAft>
              <a:buNone/>
            </a:pPr>
            <a:r>
              <a:rPr lang="en-US" sz="1100" dirty="0">
                <a:solidFill>
                  <a:srgbClr val="1A2233"/>
                </a:solidFill>
                <a:latin typeface="맑은 고딕" pitchFamily="34" charset="0"/>
                <a:ea typeface="맑은 고딕" pitchFamily="34" charset="-122"/>
                <a:cs typeface="맑은 고딕" pitchFamily="34" charset="-120"/>
              </a:rPr>
              <a:t>현대 레이다는 대부분 위상배열이다.</a:t>
            </a:r>
            <a:endParaRPr lang="en-US" sz="1400" dirty="0"/>
          </a:p>
          <a:p>
            <a:pPr marL="0" indent="0" algn="l">
              <a:lnSpc>
                <a:spcPct val="105000"/>
              </a:lnSpc>
              <a:spcAft>
                <a:spcPts val="500"/>
              </a:spcAft>
              <a:buNone/>
            </a:pPr>
            <a:r>
              <a:rPr lang="en-US" sz="1100" dirty="0">
                <a:solidFill>
                  <a:srgbClr val="1A2233"/>
                </a:solidFill>
                <a:latin typeface="맑은 고딕" pitchFamily="34" charset="0"/>
                <a:ea typeface="맑은 고딕" pitchFamily="34" charset="-122"/>
                <a:cs typeface="맑은 고딕" pitchFamily="34" charset="-120"/>
              </a:rPr>
              <a:t>수백 ~ 수천 개 소자에 위상차를 줘서</a:t>
            </a:r>
            <a:endParaRPr lang="en-US" sz="1400" dirty="0"/>
          </a:p>
          <a:p>
            <a:pPr marL="0" indent="0" algn="l">
              <a:lnSpc>
                <a:spcPct val="105000"/>
              </a:lnSpc>
              <a:buNone/>
            </a:pPr>
            <a:r>
              <a:rPr lang="en-US" sz="1100" dirty="0">
                <a:solidFill>
                  <a:srgbClr val="1A2233"/>
                </a:solidFill>
                <a:latin typeface="맑은 고딕" pitchFamily="34" charset="0"/>
                <a:ea typeface="맑은 고딕" pitchFamily="34" charset="-122"/>
                <a:cs typeface="맑은 고딕" pitchFamily="34" charset="-120"/>
              </a:rPr>
              <a:t>빔 방향을 전자적으로 바꾼다.</a:t>
            </a:r>
            <a:endParaRPr lang="en-US" sz="1400" dirty="0"/>
          </a:p>
        </p:txBody>
      </p:sp>
      <p:sp>
        <p:nvSpPr>
          <p:cNvPr id="56" name="Shape 54"/>
          <p:cNvSpPr/>
          <p:nvPr/>
        </p:nvSpPr>
        <p:spPr>
          <a:xfrm>
            <a:off x="8065008" y="3145536"/>
            <a:ext cx="3108960" cy="475488"/>
          </a:xfrm>
          <a:prstGeom prst="roundRect">
            <a:avLst>
              <a:gd name="adj" fmla="val 17308"/>
            </a:avLst>
          </a:prstGeom>
          <a:solidFill>
            <a:srgbClr val="F5F7FB"/>
          </a:solidFill>
          <a:ln/>
        </p:spPr>
        <p:txBody>
          <a:bodyPr/>
          <a:p/>
        </p:txBody>
      </p:sp>
      <p:sp>
        <p:nvSpPr>
          <p:cNvPr id="57" name="Text 55"/>
          <p:cNvSpPr txBox="1"/>
          <p:nvPr/>
        </p:nvSpPr>
        <p:spPr>
          <a:xfrm>
            <a:off x="8065008" y="3145536"/>
            <a:ext cx="3108960" cy="475488"/>
          </a:xfrm>
          <a:prstGeom prst="rect">
            <a:avLst/>
          </a:prstGeom>
          <a:noFill/>
          <a:ln/>
        </p:spPr>
        <p:txBody>
          <a:bodyPr wrap="square" lIns="0" tIns="0" rIns="0" bIns="0" rtlCol="0" anchor="ctr"/>
          <a:lstStyle/>
          <a:p>
            <a:pPr marL="0" indent="0" algn="ctr">
              <a:buNone/>
            </a:pPr>
            <a:r>
              <a:rPr lang="en-US" sz="1100" dirty="0">
                <a:solidFill>
                  <a:srgbClr val="1A2233"/>
                </a:solidFill>
                <a:latin typeface="맑은 고딕" pitchFamily="34" charset="0"/>
                <a:ea typeface="맑은 고딕" pitchFamily="34" charset="-122"/>
                <a:cs typeface="맑은 고딕" pitchFamily="34" charset="-120"/>
              </a:rPr>
              <a:t>φ(m, n) = −k ( m·d·u + n·d·v )</a:t>
            </a:r>
            <a:endParaRPr lang="en-US" sz="1250" dirty="0"/>
          </a:p>
        </p:txBody>
      </p:sp>
      <p:sp>
        <p:nvSpPr>
          <p:cNvPr id="58" name="Text 56"/>
          <p:cNvSpPr txBox="1"/>
          <p:nvPr/>
        </p:nvSpPr>
        <p:spPr>
          <a:xfrm>
            <a:off x="8193024" y="3785616"/>
            <a:ext cx="3017520" cy="1097280"/>
          </a:xfrm>
          <a:prstGeom prst="rect">
            <a:avLst/>
          </a:prstGeom>
          <a:noFill/>
          <a:ln/>
        </p:spPr>
        <p:txBody>
          <a:bodyPr wrap="square" lIns="0" tIns="0" rIns="0" bIns="0" rtlCol="0" anchor="t"/>
          <a:lstStyle/>
          <a:p>
            <a:pPr marL="0" indent="0" algn="l">
              <a:lnSpc>
                <a:spcPct val="105000"/>
              </a:lnSpc>
              <a:spcAft>
                <a:spcPts val="300"/>
              </a:spcAft>
              <a:buNone/>
            </a:pPr>
            <a:r>
              <a:rPr lang="en-US" sz="850" i="1" dirty="0">
                <a:solidFill>
                  <a:srgbClr val="5A6478"/>
                </a:solidFill>
                <a:latin typeface="맑은 고딕" pitchFamily="34" charset="0"/>
                <a:ea typeface="맑은 고딕" pitchFamily="34" charset="-122"/>
                <a:cs typeface="맑은 고딕" pitchFamily="34" charset="-120"/>
              </a:rPr>
              <a:t>k = 2π/λ · d 소자 간격 · m, n 소자 번호</a:t>
            </a:r>
            <a:endParaRPr lang="en-US" sz="900" dirty="0"/>
          </a:p>
          <a:p>
            <a:pPr marL="0" indent="0" algn="l">
              <a:lnSpc>
                <a:spcPct val="105000"/>
              </a:lnSpc>
              <a:spcAft>
                <a:spcPts val="300"/>
              </a:spcAft>
              <a:buNone/>
            </a:pPr>
            <a:r>
              <a:rPr lang="en-US" sz="850" i="1" dirty="0">
                <a:solidFill>
                  <a:srgbClr val="5A6478"/>
                </a:solidFill>
                <a:latin typeface="맑은 고딕" pitchFamily="34" charset="0"/>
                <a:ea typeface="맑은 고딕" pitchFamily="34" charset="-122"/>
                <a:cs typeface="맑은 고딕" pitchFamily="34" charset="-120"/>
              </a:rPr>
              <a:t>소자 번호에 u, v 를 곱하기만 하면 된다.</a:t>
            </a:r>
            <a:endParaRPr lang="en-US" sz="900" dirty="0"/>
          </a:p>
          <a:p>
            <a:pPr marL="0" indent="0" algn="l">
              <a:lnSpc>
                <a:spcPct val="105000"/>
              </a:lnSpc>
              <a:spcAft>
                <a:spcPts val="300"/>
              </a:spcAft>
              <a:buNone/>
            </a:pPr>
            <a:r>
              <a:rPr lang="en-US" sz="850" i="1" dirty="0">
                <a:solidFill>
                  <a:srgbClr val="5A6478"/>
                </a:solidFill>
                <a:latin typeface="맑은 고딕" pitchFamily="34" charset="0"/>
                <a:ea typeface="맑은 고딕" pitchFamily="34" charset="-122"/>
                <a:cs typeface="맑은 고딕" pitchFamily="34" charset="-120"/>
              </a:rPr>
              <a:t>각도 (Az, El) 로는 이렇게 단순해지지 않는다.</a:t>
            </a:r>
            <a:endParaRPr lang="en-US" sz="900" dirty="0"/>
          </a:p>
          <a:p>
            <a:pPr marL="0" indent="0" algn="l">
              <a:lnSpc>
                <a:spcPct val="105000"/>
              </a:lnSpc>
              <a:spcAft>
                <a:spcPts val="300"/>
              </a:spcAft>
              <a:buNone/>
            </a:pPr>
            <a:r>
              <a:rPr lang="en-US" sz="850" i="1" dirty="0">
                <a:solidFill>
                  <a:srgbClr val="5A6478"/>
                </a:solidFill>
                <a:latin typeface="맑은 고딕" pitchFamily="34" charset="0"/>
                <a:ea typeface="맑은 고딕" pitchFamily="34" charset="-122"/>
                <a:cs typeface="맑은 고딕" pitchFamily="34" charset="-120"/>
              </a:rPr>
              <a:t>격자로브 : d &gt; λ/2 이면 원치 않는 제2 빔이 생긴다.</a:t>
            </a:r>
            <a:endParaRPr lang="en-US" sz="900" dirty="0"/>
          </a:p>
          <a:p>
            <a:pPr marL="0" indent="0" algn="l">
              <a:lnSpc>
                <a:spcPct val="105000"/>
              </a:lnSpc>
              <a:buNone/>
            </a:pPr>
            <a:r>
              <a:rPr lang="en-US" sz="850" i="1" dirty="0">
                <a:solidFill>
                  <a:srgbClr val="5A6478"/>
                </a:solidFill>
                <a:latin typeface="맑은 고딕" pitchFamily="34" charset="0"/>
                <a:ea typeface="맑은 고딕" pitchFamily="34" charset="-122"/>
                <a:cs typeface="맑은 고딕" pitchFamily="34" charset="-120"/>
              </a:rPr>
              <a:t>UV 에서 각도로 되돌리면</a:t>
            </a:r>
            <a:endParaRPr lang="en-US" sz="900" dirty="0"/>
          </a:p>
          <a:p>
            <a:pPr marL="0" indent="0" algn="l">
              <a:lnSpc>
                <a:spcPct val="105000"/>
              </a:lnSpc>
              <a:buNone/>
            </a:pPr>
            <a:r>
              <a:rPr lang="en-US" sz="850" i="1" dirty="0">
                <a:solidFill>
                  <a:srgbClr val="5A6478"/>
                </a:solidFill>
                <a:latin typeface="맑은 고딕" pitchFamily="34" charset="0"/>
                <a:ea typeface="맑은 고딕" pitchFamily="34" charset="-122"/>
                <a:cs typeface="맑은 고딕" pitchFamily="34" charset="-120"/>
              </a:rPr>
              <a:t>Az = atan2(u, w)</a:t>
            </a:r>
            <a:endParaRPr lang="en-US" sz="900" dirty="0"/>
          </a:p>
          <a:p>
            <a:pPr marL="0" indent="0" algn="l">
              <a:lnSpc>
                <a:spcPct val="105000"/>
              </a:lnSpc>
              <a:buNone/>
            </a:pPr>
            <a:r>
              <a:rPr lang="en-US" sz="850" i="1" dirty="0">
                <a:solidFill>
                  <a:srgbClr val="5A6478"/>
                </a:solidFill>
                <a:latin typeface="맑은 고딕" pitchFamily="34" charset="0"/>
                <a:ea typeface="맑은 고딕" pitchFamily="34" charset="-122"/>
                <a:cs typeface="맑은 고딕" pitchFamily="34" charset="-120"/>
              </a:rPr>
              <a:t>El = atan2(v, √(u²+w²))</a:t>
            </a:r>
            <a:endParaRPr lang="en-US" sz="900" dirty="0"/>
          </a:p>
        </p:txBody>
      </p:sp>
      <p:sp>
        <p:nvSpPr>
          <p:cNvPr id="59" name="Text 57"/>
          <p:cNvSpPr txBox="1"/>
          <p:nvPr/>
        </p:nvSpPr>
        <p:spPr>
          <a:xfrm>
            <a:off x="914400" y="5705856"/>
            <a:ext cx="10360152" cy="237744"/>
          </a:xfrm>
          <a:prstGeom prst="rect">
            <a:avLst/>
          </a:prstGeom>
          <a:noFill/>
          <a:ln/>
        </p:spPr>
        <p:txBody>
          <a:bodyPr wrap="square" lIns="0" tIns="0" rIns="0" bIns="0" rtlCol="0" anchor="ctr"/>
          <a:lstStyle/>
          <a:p>
            <a:pPr marL="0" indent="0" algn="ctr">
              <a:buNone/>
            </a:pPr>
            <a:r>
              <a:rPr lang="en-US" sz="900" i="1" dirty="0">
                <a:solidFill>
                  <a:srgbClr val="5A6478"/>
                </a:solidFill>
                <a:latin typeface="맑은 고딕" pitchFamily="34" charset="0"/>
                <a:ea typeface="맑은 고딕" pitchFamily="34" charset="-122"/>
                <a:cs typeface="맑은 고딕" pitchFamily="34" charset="-120"/>
              </a:rPr>
              <a:t>* UV 에는 거리가 없다 → 방향만 담는 표현이라, 표적 위치를 옮기는 이번 변환에는 들어가지 않는다.</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01. 동체(Body) 좌표계</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11</a:t>
            </a:r>
            <a:endParaRPr lang="en-US" sz="900" dirty="0"/>
          </a:p>
        </p:txBody>
      </p:sp>
      <p:sp>
        <p:nvSpPr>
          <p:cNvPr id="8" name="Text 6"/>
          <p:cNvSpPr txBox="1"/>
          <p:nvPr/>
        </p:nvSpPr>
        <p:spPr>
          <a:xfrm>
            <a:off x="932688" y="1335024"/>
            <a:ext cx="2651760" cy="731520"/>
          </a:xfrm>
          <a:prstGeom prst="rect">
            <a:avLst/>
          </a:prstGeom>
          <a:noFill/>
          <a:ln/>
        </p:spPr>
        <p:txBody>
          <a:bodyPr wrap="square" lIns="0" tIns="0" rIns="0" bIns="0" rtlCol="0" anchor="t"/>
          <a:lstStyle/>
          <a:p>
            <a:pPr marL="0" indent="0" algn="l">
              <a:lnSpc>
                <a:spcPct val="105000"/>
              </a:lnSpc>
              <a:spcAft>
                <a:spcPts val="800"/>
              </a:spcAft>
              <a:buNone/>
            </a:pPr>
            <a:r>
              <a:rPr lang="en-US" sz="1250" b="1" dirty="0">
                <a:solidFill>
                  <a:srgbClr val="1A2233"/>
                </a:solidFill>
                <a:latin typeface="맑은 고딕" pitchFamily="34" charset="0"/>
                <a:ea typeface="맑은 고딕" pitchFamily="34" charset="-122"/>
                <a:cs typeface="맑은 고딕" pitchFamily="34" charset="-120"/>
              </a:rPr>
              <a:t>동체(Body) 좌표계 = FRD</a:t>
            </a:r>
            <a:endParaRPr lang="en-US" sz="1250" dirty="0"/>
          </a:p>
          <a:p>
            <a:pPr marL="0" indent="0" algn="l">
              <a:lnSpc>
                <a:spcPct val="105000"/>
              </a:lnSpc>
              <a:spcAft>
                <a:spcPts val="200"/>
              </a:spcAft>
              <a:buNone/>
            </a:pPr>
            <a:r>
              <a:rPr lang="en-US" sz="850" dirty="0">
                <a:solidFill>
                  <a:srgbClr val="5A6478"/>
                </a:solidFill>
                <a:latin typeface="맑은 고딕" pitchFamily="34" charset="0"/>
                <a:ea typeface="맑은 고딕" pitchFamily="34" charset="-122"/>
                <a:cs typeface="맑은 고딕" pitchFamily="34" charset="-120"/>
              </a:rPr>
              <a:t>FRD = Forward-Right-Down.</a:t>
            </a:r>
            <a:endParaRPr lang="en-US" sz="125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원점은 무게중심. 세 축은 배에 붙어 함께 움직인다.</a:t>
            </a:r>
            <a:endParaRPr lang="en-US" sz="1250" dirty="0"/>
          </a:p>
        </p:txBody>
      </p:sp>
      <p:sp>
        <p:nvSpPr>
          <p:cNvPr id="9" name="Text 7"/>
          <p:cNvSpPr txBox="1"/>
          <p:nvPr/>
        </p:nvSpPr>
        <p:spPr>
          <a:xfrm>
            <a:off x="3840480" y="1335024"/>
            <a:ext cx="7406640" cy="274320"/>
          </a:xfrm>
          <a:prstGeom prst="rect">
            <a:avLst/>
          </a:prstGeom>
          <a:noFill/>
          <a:ln/>
        </p:spPr>
        <p:txBody>
          <a:bodyPr wrap="square" lIns="0" tIns="0" rIns="0" bIns="0" rtlCol="0" anchor="ctr"/>
          <a:lstStyle/>
          <a:p>
            <a:pPr marL="0" indent="0">
              <a:buNone/>
            </a:pPr>
            <a:r>
              <a:rPr lang="en-US" sz="1300" b="1" dirty="0">
                <a:solidFill>
                  <a:srgbClr val="1A2233"/>
                </a:solidFill>
                <a:latin typeface="맑은 고딕" pitchFamily="34" charset="0"/>
                <a:ea typeface="맑은 고딕" pitchFamily="34" charset="-122"/>
                <a:cs typeface="맑은 고딕" pitchFamily="34" charset="-120"/>
              </a:rPr>
              <a:t>설치 방위 · 백틸트 · 레버암 – 이 셋이 안테나 → 동체 변환의 전부다.</a:t>
            </a:r>
            <a:endParaRPr lang="en-US" sz="1300" dirty="0"/>
          </a:p>
        </p:txBody>
      </p:sp>
      <p:sp>
        <p:nvSpPr>
          <p:cNvPr id="10" name="Shape 8"/>
          <p:cNvSpPr/>
          <p:nvPr/>
        </p:nvSpPr>
        <p:spPr>
          <a:xfrm rot="5400000">
            <a:off x="2322576" y="3090672"/>
            <a:ext cx="2706624" cy="0"/>
          </a:xfrm>
          <a:prstGeom prst="line">
            <a:avLst/>
          </a:prstGeom>
          <a:noFill/>
          <a:ln w="11430">
            <a:solidFill>
              <a:srgbClr val="C9D6EC"/>
            </a:solidFill>
            <a:prstDash val="solid"/>
            <a:headEnd type="none"/>
            <a:tailEnd type="none"/>
          </a:ln>
        </p:spPr>
        <p:txBody>
          <a:bodyPr/>
          <a:p/>
        </p:txBody>
      </p:sp>
      <p:sp>
        <p:nvSpPr>
          <p:cNvPr id="11" name="Shape 9"/>
          <p:cNvSpPr/>
          <p:nvPr/>
        </p:nvSpPr>
        <p:spPr>
          <a:xfrm rot="5400000">
            <a:off x="6492240" y="3090672"/>
            <a:ext cx="2706624" cy="0"/>
          </a:xfrm>
          <a:prstGeom prst="line">
            <a:avLst/>
          </a:prstGeom>
          <a:noFill/>
          <a:ln w="11430">
            <a:solidFill>
              <a:srgbClr val="C9D6EC"/>
            </a:solidFill>
            <a:prstDash val="solid"/>
            <a:headEnd type="none"/>
            <a:tailEnd type="none"/>
          </a:ln>
        </p:spPr>
        <p:txBody>
          <a:bodyPr/>
          <a:p/>
        </p:txBody>
      </p:sp>
      <p:sp>
        <p:nvSpPr>
          <p:cNvPr id="12" name="Shape 10"/>
          <p:cNvSpPr/>
          <p:nvPr/>
        </p:nvSpPr>
        <p:spPr>
          <a:xfrm rot="1680000">
            <a:off x="1115568" y="2468880"/>
            <a:ext cx="859536" cy="1243584"/>
          </a:xfrm>
          <a:prstGeom prst="parallelogram">
            <a:avLst/>
          </a:prstGeom>
          <a:solidFill>
            <a:srgbClr val="EEF1F7"/>
          </a:solidFill>
          <a:ln w="12700">
            <a:solidFill>
              <a:srgbClr val="5A6478"/>
            </a:solidFill>
            <a:prstDash val="solid"/>
          </a:ln>
        </p:spPr>
        <p:txBody>
          <a:bodyPr/>
          <a:p/>
        </p:txBody>
      </p:sp>
      <p:sp>
        <p:nvSpPr>
          <p:cNvPr id="13" name="Shape 11"/>
          <p:cNvSpPr/>
          <p:nvPr/>
        </p:nvSpPr>
        <p:spPr>
          <a:xfrm rot="-2747089">
            <a:off x="1594497" y="2441448"/>
            <a:ext cx="944093" cy="0"/>
          </a:xfrm>
          <a:prstGeom prst="line">
            <a:avLst/>
          </a:prstGeom>
          <a:noFill/>
          <a:ln w="16510">
            <a:solidFill>
              <a:srgbClr val="13233F"/>
            </a:solidFill>
            <a:prstDash val="solid"/>
            <a:headEnd type="none"/>
            <a:tailEnd type="triangle"/>
          </a:ln>
        </p:spPr>
        <p:txBody>
          <a:bodyPr/>
          <a:p/>
        </p:txBody>
      </p:sp>
      <p:sp>
        <p:nvSpPr>
          <p:cNvPr id="14" name="Text 12"/>
          <p:cNvSpPr txBox="1"/>
          <p:nvPr/>
        </p:nvSpPr>
        <p:spPr>
          <a:xfrm>
            <a:off x="2432304" y="1993392"/>
            <a:ext cx="118872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x 선수(앞)</a:t>
            </a:r>
            <a:endParaRPr lang="en-US" sz="1000" dirty="0"/>
          </a:p>
        </p:txBody>
      </p:sp>
      <p:sp>
        <p:nvSpPr>
          <p:cNvPr id="15" name="Shape 13"/>
          <p:cNvSpPr/>
          <p:nvPr/>
        </p:nvSpPr>
        <p:spPr>
          <a:xfrm rot="1976953">
            <a:off x="1642714" y="3099816"/>
            <a:ext cx="1176844" cy="0"/>
          </a:xfrm>
          <a:prstGeom prst="line">
            <a:avLst/>
          </a:prstGeom>
          <a:noFill/>
          <a:ln w="16510">
            <a:solidFill>
              <a:srgbClr val="13233F"/>
            </a:solidFill>
            <a:prstDash val="solid"/>
            <a:headEnd type="none"/>
            <a:tailEnd type="triangle"/>
          </a:ln>
        </p:spPr>
        <p:txBody>
          <a:bodyPr/>
          <a:p/>
        </p:txBody>
      </p:sp>
      <p:sp>
        <p:nvSpPr>
          <p:cNvPr id="16" name="Text 14"/>
          <p:cNvSpPr txBox="1"/>
          <p:nvPr/>
        </p:nvSpPr>
        <p:spPr>
          <a:xfrm>
            <a:off x="2761488" y="3364992"/>
            <a:ext cx="155448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y 우현(오른쪽)</a:t>
            </a:r>
            <a:endParaRPr lang="en-US" sz="1000" dirty="0"/>
          </a:p>
        </p:txBody>
      </p:sp>
      <p:sp>
        <p:nvSpPr>
          <p:cNvPr id="17" name="Shape 15"/>
          <p:cNvSpPr/>
          <p:nvPr/>
        </p:nvSpPr>
        <p:spPr>
          <a:xfrm rot="5400000">
            <a:off x="1106424" y="3410712"/>
            <a:ext cx="1261872" cy="0"/>
          </a:xfrm>
          <a:prstGeom prst="line">
            <a:avLst/>
          </a:prstGeom>
          <a:noFill/>
          <a:ln w="16510">
            <a:solidFill>
              <a:srgbClr val="13233F"/>
            </a:solidFill>
            <a:prstDash val="solid"/>
            <a:headEnd type="none"/>
            <a:tailEnd type="triangle"/>
          </a:ln>
        </p:spPr>
        <p:txBody>
          <a:bodyPr/>
          <a:p/>
        </p:txBody>
      </p:sp>
      <p:sp>
        <p:nvSpPr>
          <p:cNvPr id="18" name="Text 16"/>
          <p:cNvSpPr txBox="1"/>
          <p:nvPr/>
        </p:nvSpPr>
        <p:spPr>
          <a:xfrm>
            <a:off x="1261872" y="4096512"/>
            <a:ext cx="914400" cy="201168"/>
          </a:xfrm>
          <a:prstGeom prst="rect">
            <a:avLst/>
          </a:prstGeom>
          <a:noFill/>
          <a:ln/>
        </p:spPr>
        <p:txBody>
          <a:bodyPr wrap="square" lIns="0" tIns="0" rIns="0" bIns="0" rtlCol="0" anchor="ctr"/>
          <a:lstStyle/>
          <a:p>
            <a:pPr marL="0" indent="0" algn="ctr">
              <a:buNone/>
            </a:pPr>
            <a:r>
              <a:rPr lang="en-US" sz="1000" dirty="0">
                <a:solidFill>
                  <a:srgbClr val="1A2233"/>
                </a:solidFill>
                <a:latin typeface="맑은 고딕" pitchFamily="34" charset="0"/>
                <a:ea typeface="맑은 고딕" pitchFamily="34" charset="-122"/>
                <a:cs typeface="맑은 고딕" pitchFamily="34" charset="-120"/>
              </a:rPr>
              <a:t>z 아래</a:t>
            </a:r>
            <a:endParaRPr lang="en-US" sz="1000" dirty="0"/>
          </a:p>
        </p:txBody>
      </p:sp>
      <p:sp>
        <p:nvSpPr>
          <p:cNvPr id="19" name="Shape 17"/>
          <p:cNvSpPr/>
          <p:nvPr/>
        </p:nvSpPr>
        <p:spPr>
          <a:xfrm>
            <a:off x="4187952" y="2743200"/>
            <a:ext cx="2834640" cy="566928"/>
          </a:xfrm>
          <a:prstGeom prst="hexagon">
            <a:avLst/>
          </a:prstGeom>
          <a:solidFill>
            <a:srgbClr val="F5F7FB"/>
          </a:solidFill>
          <a:ln w="15240">
            <a:solidFill>
              <a:srgbClr val="13233F"/>
            </a:solidFill>
            <a:prstDash val="solid"/>
          </a:ln>
        </p:spPr>
        <p:txBody>
          <a:bodyPr/>
          <a:p/>
        </p:txBody>
      </p:sp>
      <p:sp>
        <p:nvSpPr>
          <p:cNvPr id="20" name="Shape 18"/>
          <p:cNvSpPr/>
          <p:nvPr/>
        </p:nvSpPr>
        <p:spPr>
          <a:xfrm>
            <a:off x="4572000" y="2871216"/>
            <a:ext cx="786384" cy="274320"/>
          </a:xfrm>
          <a:prstGeom prst="rect">
            <a:avLst/>
          </a:prstGeom>
          <a:solidFill>
            <a:srgbClr val="EEF1F7"/>
          </a:solidFill>
          <a:ln w="8890">
            <a:solidFill>
              <a:srgbClr val="5A6478"/>
            </a:solidFill>
            <a:prstDash val="solid"/>
          </a:ln>
        </p:spPr>
        <p:txBody>
          <a:bodyPr/>
          <a:p/>
        </p:txBody>
      </p:sp>
      <p:sp>
        <p:nvSpPr>
          <p:cNvPr id="21" name="Shape 19"/>
          <p:cNvSpPr/>
          <p:nvPr/>
        </p:nvSpPr>
        <p:spPr>
          <a:xfrm>
            <a:off x="5559552" y="2871216"/>
            <a:ext cx="530352" cy="274320"/>
          </a:xfrm>
          <a:prstGeom prst="rect">
            <a:avLst/>
          </a:prstGeom>
          <a:solidFill>
            <a:srgbClr val="EEF1F7"/>
          </a:solidFill>
          <a:ln w="8890">
            <a:solidFill>
              <a:srgbClr val="5A6478"/>
            </a:solidFill>
            <a:prstDash val="solid"/>
          </a:ln>
        </p:spPr>
        <p:txBody>
          <a:bodyPr/>
          <a:p/>
        </p:txBody>
      </p:sp>
      <p:sp>
        <p:nvSpPr>
          <p:cNvPr id="22" name="Shape 20"/>
          <p:cNvSpPr/>
          <p:nvPr/>
        </p:nvSpPr>
        <p:spPr>
          <a:xfrm>
            <a:off x="6217920" y="2871216"/>
            <a:ext cx="420624" cy="274320"/>
          </a:xfrm>
          <a:prstGeom prst="rect">
            <a:avLst/>
          </a:prstGeom>
          <a:solidFill>
            <a:srgbClr val="EEF1F7"/>
          </a:solidFill>
          <a:ln w="8890">
            <a:solidFill>
              <a:srgbClr val="5A6478"/>
            </a:solidFill>
            <a:prstDash val="solid"/>
          </a:ln>
        </p:spPr>
        <p:txBody>
          <a:bodyPr/>
          <a:p/>
        </p:txBody>
      </p:sp>
      <p:sp>
        <p:nvSpPr>
          <p:cNvPr id="23" name="Shape 21"/>
          <p:cNvSpPr/>
          <p:nvPr/>
        </p:nvSpPr>
        <p:spPr>
          <a:xfrm>
            <a:off x="4306824" y="2935224"/>
            <a:ext cx="164592" cy="164592"/>
          </a:xfrm>
          <a:prstGeom prst="ellipse">
            <a:avLst/>
          </a:prstGeom>
          <a:ln w="11430">
            <a:solidFill>
              <a:srgbClr val="13233F"/>
            </a:solidFill>
            <a:prstDash val="solid"/>
          </a:ln>
        </p:spPr>
        <p:txBody>
          <a:bodyPr/>
          <a:p/>
        </p:txBody>
      </p:sp>
      <p:sp>
        <p:nvSpPr>
          <p:cNvPr id="24" name="Shape 22"/>
          <p:cNvSpPr/>
          <p:nvPr/>
        </p:nvSpPr>
        <p:spPr>
          <a:xfrm>
            <a:off x="4718304" y="2578608"/>
            <a:ext cx="365760" cy="365760"/>
          </a:xfrm>
          <a:prstGeom prst="ellipse">
            <a:avLst/>
          </a:prstGeom>
          <a:solidFill>
            <a:srgbClr val="EEF1F7"/>
          </a:solidFill>
          <a:ln w="12700">
            <a:solidFill>
              <a:srgbClr val="13233F"/>
            </a:solidFill>
            <a:prstDash val="solid"/>
          </a:ln>
        </p:spPr>
        <p:txBody>
          <a:bodyPr/>
          <a:p/>
        </p:txBody>
      </p:sp>
      <p:sp>
        <p:nvSpPr>
          <p:cNvPr id="25" name="Shape 23"/>
          <p:cNvSpPr/>
          <p:nvPr/>
        </p:nvSpPr>
        <p:spPr>
          <a:xfrm>
            <a:off x="5696712" y="2971800"/>
            <a:ext cx="91440" cy="91440"/>
          </a:xfrm>
          <a:prstGeom prst="ellipse">
            <a:avLst/>
          </a:prstGeom>
          <a:solidFill>
            <a:srgbClr val="13233F"/>
          </a:solidFill>
          <a:ln/>
        </p:spPr>
        <p:txBody>
          <a:bodyPr/>
          <a:p/>
        </p:txBody>
      </p:sp>
      <p:sp>
        <p:nvSpPr>
          <p:cNvPr id="26" name="Shape 24"/>
          <p:cNvSpPr/>
          <p:nvPr/>
        </p:nvSpPr>
        <p:spPr>
          <a:xfrm rot="-5400000">
            <a:off x="4754880" y="2304288"/>
            <a:ext cx="292608" cy="0"/>
          </a:xfrm>
          <a:prstGeom prst="line">
            <a:avLst/>
          </a:prstGeom>
          <a:noFill/>
          <a:ln w="10160">
            <a:solidFill>
              <a:srgbClr val="5A6478"/>
            </a:solidFill>
            <a:prstDash val="solid"/>
            <a:headEnd type="none"/>
            <a:tailEnd type="none"/>
          </a:ln>
        </p:spPr>
        <p:txBody>
          <a:bodyPr/>
          <a:p/>
        </p:txBody>
      </p:sp>
      <p:sp>
        <p:nvSpPr>
          <p:cNvPr id="27" name="Shape 25"/>
          <p:cNvSpPr/>
          <p:nvPr/>
        </p:nvSpPr>
        <p:spPr>
          <a:xfrm rot="-5400000">
            <a:off x="5449824" y="2450592"/>
            <a:ext cx="585216" cy="0"/>
          </a:xfrm>
          <a:prstGeom prst="line">
            <a:avLst/>
          </a:prstGeom>
          <a:noFill/>
          <a:ln w="10160">
            <a:solidFill>
              <a:srgbClr val="5A6478"/>
            </a:solidFill>
            <a:prstDash val="solid"/>
            <a:headEnd type="none"/>
            <a:tailEnd type="none"/>
          </a:ln>
        </p:spPr>
        <p:txBody>
          <a:bodyPr/>
          <a:p/>
        </p:txBody>
      </p:sp>
      <p:sp>
        <p:nvSpPr>
          <p:cNvPr id="28" name="Shape 26"/>
          <p:cNvSpPr/>
          <p:nvPr/>
        </p:nvSpPr>
        <p:spPr>
          <a:xfrm rot="10800000">
            <a:off x="4901184" y="2231136"/>
            <a:ext cx="841248" cy="0"/>
          </a:xfrm>
          <a:prstGeom prst="line">
            <a:avLst/>
          </a:prstGeom>
          <a:noFill/>
          <a:ln w="12700">
            <a:solidFill>
              <a:srgbClr val="13233F"/>
            </a:solidFill>
            <a:prstDash val="solid"/>
            <a:headEnd type="triangle"/>
            <a:tailEnd type="triangle"/>
          </a:ln>
        </p:spPr>
        <p:txBody>
          <a:bodyPr/>
          <a:p/>
        </p:txBody>
      </p:sp>
      <p:sp>
        <p:nvSpPr>
          <p:cNvPr id="29" name="Text 27"/>
          <p:cNvSpPr txBox="1"/>
          <p:nvPr/>
        </p:nvSpPr>
        <p:spPr>
          <a:xfrm>
            <a:off x="4059936" y="1920240"/>
            <a:ext cx="173736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레버암 x = −30 m</a:t>
            </a:r>
            <a:endParaRPr lang="en-US" sz="950" dirty="0"/>
          </a:p>
        </p:txBody>
      </p:sp>
      <p:sp>
        <p:nvSpPr>
          <p:cNvPr id="30" name="Shape 28"/>
          <p:cNvSpPr/>
          <p:nvPr/>
        </p:nvSpPr>
        <p:spPr>
          <a:xfrm rot="-945070">
            <a:off x="5783382" y="2734056"/>
            <a:ext cx="741059" cy="0"/>
          </a:xfrm>
          <a:prstGeom prst="line">
            <a:avLst/>
          </a:prstGeom>
          <a:noFill/>
          <a:ln w="11430">
            <a:solidFill>
              <a:srgbClr val="5A6478"/>
            </a:solidFill>
            <a:prstDash val="solid"/>
            <a:headEnd type="none"/>
            <a:tailEnd type="none"/>
          </a:ln>
        </p:spPr>
        <p:txBody>
          <a:bodyPr/>
          <a:p/>
        </p:txBody>
      </p:sp>
      <p:sp>
        <p:nvSpPr>
          <p:cNvPr id="31" name="Text 29"/>
          <p:cNvSpPr txBox="1"/>
          <p:nvPr/>
        </p:nvSpPr>
        <p:spPr>
          <a:xfrm>
            <a:off x="6547104" y="2560320"/>
            <a:ext cx="91440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무게중심</a:t>
            </a:r>
            <a:endParaRPr lang="en-US" sz="950" dirty="0"/>
          </a:p>
        </p:txBody>
      </p:sp>
      <p:sp>
        <p:nvSpPr>
          <p:cNvPr id="32" name="Shape 30"/>
          <p:cNvSpPr/>
          <p:nvPr/>
        </p:nvSpPr>
        <p:spPr>
          <a:xfrm>
            <a:off x="5742432" y="3017520"/>
            <a:ext cx="1719072" cy="0"/>
          </a:xfrm>
          <a:prstGeom prst="line">
            <a:avLst/>
          </a:prstGeom>
          <a:noFill/>
          <a:ln w="15240">
            <a:solidFill>
              <a:srgbClr val="13233F"/>
            </a:solidFill>
            <a:prstDash val="solid"/>
            <a:headEnd type="none"/>
            <a:tailEnd type="triangle"/>
          </a:ln>
        </p:spPr>
        <p:txBody>
          <a:bodyPr/>
          <a:p/>
        </p:txBody>
      </p:sp>
      <p:sp>
        <p:nvSpPr>
          <p:cNvPr id="33" name="Text 31"/>
          <p:cNvSpPr txBox="1"/>
          <p:nvPr/>
        </p:nvSpPr>
        <p:spPr>
          <a:xfrm>
            <a:off x="7498080" y="2999232"/>
            <a:ext cx="91440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x_b 선수</a:t>
            </a:r>
            <a:endParaRPr lang="en-US" sz="1000" dirty="0"/>
          </a:p>
        </p:txBody>
      </p:sp>
      <p:sp>
        <p:nvSpPr>
          <p:cNvPr id="34" name="Shape 32"/>
          <p:cNvSpPr/>
          <p:nvPr/>
        </p:nvSpPr>
        <p:spPr>
          <a:xfrm rot="5400000">
            <a:off x="4434840" y="3575304"/>
            <a:ext cx="932688" cy="0"/>
          </a:xfrm>
          <a:prstGeom prst="line">
            <a:avLst/>
          </a:prstGeom>
          <a:noFill/>
          <a:ln w="15240">
            <a:solidFill>
              <a:srgbClr val="13233F"/>
            </a:solidFill>
            <a:prstDash val="solid"/>
            <a:headEnd type="none"/>
            <a:tailEnd type="triangle"/>
          </a:ln>
        </p:spPr>
        <p:txBody>
          <a:bodyPr/>
          <a:p/>
        </p:txBody>
      </p:sp>
      <p:sp>
        <p:nvSpPr>
          <p:cNvPr id="35" name="Text 33"/>
          <p:cNvSpPr txBox="1"/>
          <p:nvPr/>
        </p:nvSpPr>
        <p:spPr>
          <a:xfrm>
            <a:off x="4279392" y="4078224"/>
            <a:ext cx="137160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z_a 보어사이트</a:t>
            </a:r>
            <a:endParaRPr lang="en-US" sz="1000" dirty="0"/>
          </a:p>
        </p:txBody>
      </p:sp>
      <p:sp>
        <p:nvSpPr>
          <p:cNvPr id="36" name="Shape 34"/>
          <p:cNvSpPr/>
          <p:nvPr/>
        </p:nvSpPr>
        <p:spPr>
          <a:xfrm rot="-10545000">
            <a:off x="4819978" y="3654587"/>
            <a:ext cx="81318" cy="0"/>
          </a:xfrm>
          <a:prstGeom prst="line">
            <a:avLst/>
          </a:prstGeom>
          <a:noFill/>
          <a:ln w="12700">
            <a:solidFill>
              <a:srgbClr val="13233F"/>
            </a:solidFill>
            <a:prstDash val="solid"/>
            <a:headEnd type="none"/>
            <a:tailEnd type="none"/>
          </a:ln>
        </p:spPr>
        <p:txBody>
          <a:bodyPr/>
          <a:p/>
        </p:txBody>
      </p:sp>
      <p:sp>
        <p:nvSpPr>
          <p:cNvPr id="37" name="Shape 35"/>
          <p:cNvSpPr/>
          <p:nvPr/>
        </p:nvSpPr>
        <p:spPr>
          <a:xfrm rot="-10035000">
            <a:off x="4739775" y="3642600"/>
            <a:ext cx="81318" cy="0"/>
          </a:xfrm>
          <a:prstGeom prst="line">
            <a:avLst/>
          </a:prstGeom>
          <a:noFill/>
          <a:ln w="12700">
            <a:solidFill>
              <a:srgbClr val="13233F"/>
            </a:solidFill>
            <a:prstDash val="solid"/>
            <a:headEnd type="none"/>
            <a:tailEnd type="none"/>
          </a:ln>
        </p:spPr>
        <p:txBody>
          <a:bodyPr/>
          <a:p/>
        </p:txBody>
      </p:sp>
      <p:sp>
        <p:nvSpPr>
          <p:cNvPr id="38" name="Shape 36"/>
          <p:cNvSpPr/>
          <p:nvPr/>
        </p:nvSpPr>
        <p:spPr>
          <a:xfrm rot="-9525000">
            <a:off x="4662224" y="3618891"/>
            <a:ext cx="81318" cy="0"/>
          </a:xfrm>
          <a:prstGeom prst="line">
            <a:avLst/>
          </a:prstGeom>
          <a:noFill/>
          <a:ln w="12700">
            <a:solidFill>
              <a:srgbClr val="13233F"/>
            </a:solidFill>
            <a:prstDash val="solid"/>
            <a:headEnd type="none"/>
            <a:tailEnd type="none"/>
          </a:ln>
        </p:spPr>
        <p:txBody>
          <a:bodyPr/>
          <a:p/>
        </p:txBody>
      </p:sp>
      <p:sp>
        <p:nvSpPr>
          <p:cNvPr id="39" name="Shape 37"/>
          <p:cNvSpPr/>
          <p:nvPr/>
        </p:nvSpPr>
        <p:spPr>
          <a:xfrm rot="-9015000">
            <a:off x="4589030" y="3583979"/>
            <a:ext cx="81318" cy="0"/>
          </a:xfrm>
          <a:prstGeom prst="line">
            <a:avLst/>
          </a:prstGeom>
          <a:noFill/>
          <a:ln w="12700">
            <a:solidFill>
              <a:srgbClr val="13233F"/>
            </a:solidFill>
            <a:prstDash val="solid"/>
            <a:headEnd type="none"/>
            <a:tailEnd type="none"/>
          </a:ln>
        </p:spPr>
        <p:txBody>
          <a:bodyPr/>
          <a:p/>
        </p:txBody>
      </p:sp>
      <p:sp>
        <p:nvSpPr>
          <p:cNvPr id="40" name="Shape 38"/>
          <p:cNvSpPr/>
          <p:nvPr/>
        </p:nvSpPr>
        <p:spPr>
          <a:xfrm rot="-8505000">
            <a:off x="4521799" y="3538632"/>
            <a:ext cx="81318" cy="0"/>
          </a:xfrm>
          <a:prstGeom prst="line">
            <a:avLst/>
          </a:prstGeom>
          <a:noFill/>
          <a:ln w="12700">
            <a:solidFill>
              <a:srgbClr val="13233F"/>
            </a:solidFill>
            <a:prstDash val="solid"/>
            <a:headEnd type="none"/>
            <a:tailEnd type="none"/>
          </a:ln>
        </p:spPr>
        <p:txBody>
          <a:bodyPr/>
          <a:p/>
        </p:txBody>
      </p:sp>
      <p:sp>
        <p:nvSpPr>
          <p:cNvPr id="41" name="Shape 39"/>
          <p:cNvSpPr/>
          <p:nvPr/>
        </p:nvSpPr>
        <p:spPr>
          <a:xfrm rot="-7995000">
            <a:off x="4462011" y="3483845"/>
            <a:ext cx="81318" cy="0"/>
          </a:xfrm>
          <a:prstGeom prst="line">
            <a:avLst/>
          </a:prstGeom>
          <a:noFill/>
          <a:ln w="12700">
            <a:solidFill>
              <a:srgbClr val="13233F"/>
            </a:solidFill>
            <a:prstDash val="solid"/>
            <a:headEnd type="none"/>
            <a:tailEnd type="none"/>
          </a:ln>
        </p:spPr>
        <p:txBody>
          <a:bodyPr/>
          <a:p/>
        </p:txBody>
      </p:sp>
      <p:sp>
        <p:nvSpPr>
          <p:cNvPr id="42" name="Shape 40"/>
          <p:cNvSpPr/>
          <p:nvPr/>
        </p:nvSpPr>
        <p:spPr>
          <a:xfrm rot="-7485000">
            <a:off x="4410976" y="3420823"/>
            <a:ext cx="81318" cy="0"/>
          </a:xfrm>
          <a:prstGeom prst="line">
            <a:avLst/>
          </a:prstGeom>
          <a:noFill/>
          <a:ln w="12700">
            <a:solidFill>
              <a:srgbClr val="13233F"/>
            </a:solidFill>
            <a:prstDash val="solid"/>
            <a:headEnd type="none"/>
            <a:tailEnd type="none"/>
          </a:ln>
        </p:spPr>
        <p:txBody>
          <a:bodyPr/>
          <a:p/>
        </p:txBody>
      </p:sp>
      <p:sp>
        <p:nvSpPr>
          <p:cNvPr id="43" name="Shape 41"/>
          <p:cNvSpPr/>
          <p:nvPr/>
        </p:nvSpPr>
        <p:spPr>
          <a:xfrm rot="-6975000">
            <a:off x="4369818" y="3350950"/>
            <a:ext cx="81318" cy="0"/>
          </a:xfrm>
          <a:prstGeom prst="line">
            <a:avLst/>
          </a:prstGeom>
          <a:noFill/>
          <a:ln w="12700">
            <a:solidFill>
              <a:srgbClr val="13233F"/>
            </a:solidFill>
            <a:prstDash val="solid"/>
            <a:headEnd type="none"/>
            <a:tailEnd type="none"/>
          </a:ln>
        </p:spPr>
        <p:txBody>
          <a:bodyPr/>
          <a:p/>
        </p:txBody>
      </p:sp>
      <p:sp>
        <p:nvSpPr>
          <p:cNvPr id="44" name="Shape 42"/>
          <p:cNvSpPr/>
          <p:nvPr/>
        </p:nvSpPr>
        <p:spPr>
          <a:xfrm rot="-6465000">
            <a:off x="4339440" y="3275761"/>
            <a:ext cx="81318" cy="0"/>
          </a:xfrm>
          <a:prstGeom prst="line">
            <a:avLst/>
          </a:prstGeom>
          <a:noFill/>
          <a:ln w="12700">
            <a:solidFill>
              <a:srgbClr val="13233F"/>
            </a:solidFill>
            <a:prstDash val="solid"/>
            <a:headEnd type="none"/>
            <a:tailEnd type="none"/>
          </a:ln>
        </p:spPr>
        <p:txBody>
          <a:bodyPr/>
          <a:p/>
        </p:txBody>
      </p:sp>
      <p:sp>
        <p:nvSpPr>
          <p:cNvPr id="45" name="Shape 43"/>
          <p:cNvSpPr/>
          <p:nvPr/>
        </p:nvSpPr>
        <p:spPr>
          <a:xfrm rot="-5955000">
            <a:off x="4320508" y="3196907"/>
            <a:ext cx="81318" cy="0"/>
          </a:xfrm>
          <a:prstGeom prst="line">
            <a:avLst/>
          </a:prstGeom>
          <a:noFill/>
          <a:ln w="12700">
            <a:solidFill>
              <a:srgbClr val="13233F"/>
            </a:solidFill>
            <a:prstDash val="solid"/>
            <a:headEnd type="none"/>
            <a:tailEnd type="triangle"/>
          </a:ln>
        </p:spPr>
        <p:txBody>
          <a:bodyPr/>
          <a:p/>
        </p:txBody>
      </p:sp>
      <p:sp>
        <p:nvSpPr>
          <p:cNvPr id="46" name="Text 44"/>
          <p:cNvSpPr txBox="1"/>
          <p:nvPr/>
        </p:nvSpPr>
        <p:spPr>
          <a:xfrm>
            <a:off x="5376672" y="3584448"/>
            <a:ext cx="128016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설치 방위 90°</a:t>
            </a:r>
            <a:endParaRPr lang="en-US" sz="950" dirty="0"/>
          </a:p>
        </p:txBody>
      </p:sp>
      <p:sp>
        <p:nvSpPr>
          <p:cNvPr id="47" name="Text 45"/>
          <p:cNvSpPr txBox="1"/>
          <p:nvPr/>
        </p:nvSpPr>
        <p:spPr>
          <a:xfrm>
            <a:off x="3968496" y="4315968"/>
            <a:ext cx="3657600" cy="201168"/>
          </a:xfrm>
          <a:prstGeom prst="rect">
            <a:avLst/>
          </a:prstGeom>
          <a:noFill/>
          <a:ln/>
        </p:spPr>
        <p:txBody>
          <a:bodyPr wrap="square" lIns="0" tIns="0" rIns="0" bIns="0" rtlCol="0" anchor="ctr"/>
          <a:lstStyle/>
          <a:p>
            <a:pPr marL="0" indent="0" algn="ctr">
              <a:buNone/>
            </a:pPr>
            <a:r>
              <a:rPr lang="en-US" sz="1150" b="1" dirty="0">
                <a:solidFill>
                  <a:srgbClr val="1A2233"/>
                </a:solidFill>
                <a:latin typeface="맑은 고딕" pitchFamily="34" charset="0"/>
                <a:ea typeface="맑은 고딕" pitchFamily="34" charset="-122"/>
                <a:cs typeface="맑은 고딕" pitchFamily="34" charset="-120"/>
              </a:rPr>
              <a:t>위에서 본 그림</a:t>
            </a:r>
            <a:endParaRPr lang="en-US" sz="1150" dirty="0"/>
          </a:p>
        </p:txBody>
      </p:sp>
      <p:sp>
        <p:nvSpPr>
          <p:cNvPr id="48" name="Text 46"/>
          <p:cNvSpPr txBox="1"/>
          <p:nvPr/>
        </p:nvSpPr>
        <p:spPr>
          <a:xfrm>
            <a:off x="3968496" y="4544568"/>
            <a:ext cx="3657600" cy="201168"/>
          </a:xfrm>
          <a:prstGeom prst="rect">
            <a:avLst/>
          </a:prstGeom>
          <a:noFill/>
          <a:ln/>
        </p:spPr>
        <p:txBody>
          <a:bodyPr wrap="square" lIns="0" tIns="0" rIns="0" bIns="0" rtlCol="0" anchor="ctr"/>
          <a:lstStyle/>
          <a:p>
            <a:pPr marL="0" indent="0" algn="ctr">
              <a:buNone/>
            </a:pPr>
            <a:r>
              <a:rPr lang="en-US" sz="950" dirty="0">
                <a:solidFill>
                  <a:srgbClr val="5A6478"/>
                </a:solidFill>
                <a:latin typeface="맑은 고딕" pitchFamily="34" charset="0"/>
                <a:ea typeface="맑은 고딕" pitchFamily="34" charset="-122"/>
                <a:cs typeface="맑은 고딕" pitchFamily="34" charset="-120"/>
              </a:rPr>
              <a:t>이번 과제 값 : 설치 방위 90° · 백틸트 0°</a:t>
            </a:r>
            <a:endParaRPr lang="en-US" sz="950" dirty="0"/>
          </a:p>
        </p:txBody>
      </p:sp>
      <p:sp>
        <p:nvSpPr>
          <p:cNvPr id="49" name="Shape 47"/>
          <p:cNvSpPr/>
          <p:nvPr/>
        </p:nvSpPr>
        <p:spPr>
          <a:xfrm>
            <a:off x="8814816" y="3200400"/>
            <a:ext cx="1755648" cy="1097280"/>
          </a:xfrm>
          <a:prstGeom prst="chord">
            <a:avLst>
              <a:gd name="adj1" fmla="val 0"/>
              <a:gd name="adj2" fmla="val 10800000"/>
            </a:avLst>
          </a:prstGeom>
          <a:solidFill>
            <a:srgbClr val="F5F7FB"/>
          </a:solidFill>
          <a:ln w="15240">
            <a:solidFill>
              <a:srgbClr val="13233F"/>
            </a:solidFill>
            <a:prstDash val="solid"/>
          </a:ln>
        </p:spPr>
        <p:txBody>
          <a:bodyPr/>
          <a:p/>
        </p:txBody>
      </p:sp>
      <p:sp>
        <p:nvSpPr>
          <p:cNvPr id="50" name="Shape 48"/>
          <p:cNvSpPr/>
          <p:nvPr/>
        </p:nvSpPr>
        <p:spPr>
          <a:xfrm>
            <a:off x="9235440" y="2834640"/>
            <a:ext cx="914400" cy="384048"/>
          </a:xfrm>
          <a:prstGeom prst="rect">
            <a:avLst/>
          </a:prstGeom>
          <a:solidFill>
            <a:srgbClr val="EEF1F7"/>
          </a:solidFill>
          <a:ln w="12700">
            <a:solidFill>
              <a:srgbClr val="13233F"/>
            </a:solidFill>
            <a:prstDash val="solid"/>
          </a:ln>
        </p:spPr>
        <p:txBody>
          <a:bodyPr/>
          <a:p/>
        </p:txBody>
      </p:sp>
      <p:sp>
        <p:nvSpPr>
          <p:cNvPr id="51" name="Shape 49"/>
          <p:cNvSpPr/>
          <p:nvPr/>
        </p:nvSpPr>
        <p:spPr>
          <a:xfrm>
            <a:off x="9381744" y="2505456"/>
            <a:ext cx="621792" cy="347472"/>
          </a:xfrm>
          <a:prstGeom prst="rect">
            <a:avLst/>
          </a:prstGeom>
          <a:solidFill>
            <a:srgbClr val="EEF1F7"/>
          </a:solidFill>
          <a:ln w="12700">
            <a:solidFill>
              <a:srgbClr val="13233F"/>
            </a:solidFill>
            <a:prstDash val="solid"/>
          </a:ln>
        </p:spPr>
        <p:txBody>
          <a:bodyPr/>
          <a:p/>
        </p:txBody>
      </p:sp>
      <p:sp>
        <p:nvSpPr>
          <p:cNvPr id="52" name="Shape 50"/>
          <p:cNvSpPr/>
          <p:nvPr/>
        </p:nvSpPr>
        <p:spPr>
          <a:xfrm>
            <a:off x="9546336" y="2157984"/>
            <a:ext cx="292608" cy="365760"/>
          </a:xfrm>
          <a:prstGeom prst="rect">
            <a:avLst/>
          </a:prstGeom>
          <a:solidFill>
            <a:srgbClr val="EEF1F7"/>
          </a:solidFill>
          <a:ln w="12700">
            <a:solidFill>
              <a:srgbClr val="13233F"/>
            </a:solidFill>
            <a:prstDash val="solid"/>
          </a:ln>
        </p:spPr>
        <p:txBody>
          <a:bodyPr/>
          <a:p/>
        </p:txBody>
      </p:sp>
      <p:sp>
        <p:nvSpPr>
          <p:cNvPr id="53" name="Shape 51"/>
          <p:cNvSpPr/>
          <p:nvPr/>
        </p:nvSpPr>
        <p:spPr>
          <a:xfrm rot="1320000">
            <a:off x="9610344" y="1773936"/>
            <a:ext cx="274320" cy="402336"/>
          </a:xfrm>
          <a:prstGeom prst="rect">
            <a:avLst/>
          </a:prstGeom>
          <a:solidFill>
            <a:srgbClr val="B9C0CC"/>
          </a:solidFill>
          <a:ln w="12700">
            <a:solidFill>
              <a:srgbClr val="13233F"/>
            </a:solidFill>
            <a:prstDash val="solid"/>
          </a:ln>
        </p:spPr>
        <p:txBody>
          <a:bodyPr/>
          <a:p/>
        </p:txBody>
      </p:sp>
      <p:sp>
        <p:nvSpPr>
          <p:cNvPr id="54" name="Shape 52"/>
          <p:cNvSpPr/>
          <p:nvPr/>
        </p:nvSpPr>
        <p:spPr>
          <a:xfrm rot="-1709738">
            <a:off x="9794828" y="1764792"/>
            <a:ext cx="728313" cy="0"/>
          </a:xfrm>
          <a:prstGeom prst="line">
            <a:avLst/>
          </a:prstGeom>
          <a:noFill/>
          <a:ln w="15240">
            <a:solidFill>
              <a:srgbClr val="13233F"/>
            </a:solidFill>
            <a:prstDash val="solid"/>
            <a:headEnd type="none"/>
            <a:tailEnd type="triangle"/>
          </a:ln>
        </p:spPr>
        <p:txBody>
          <a:bodyPr/>
          <a:p/>
        </p:txBody>
      </p:sp>
      <p:sp>
        <p:nvSpPr>
          <p:cNvPr id="55" name="Shape 53"/>
          <p:cNvSpPr/>
          <p:nvPr/>
        </p:nvSpPr>
        <p:spPr>
          <a:xfrm>
            <a:off x="9784080" y="1773936"/>
            <a:ext cx="768096" cy="0"/>
          </a:xfrm>
          <a:prstGeom prst="line">
            <a:avLst/>
          </a:prstGeom>
          <a:noFill/>
          <a:ln w="10160">
            <a:solidFill>
              <a:srgbClr val="C9D6EC"/>
            </a:solidFill>
            <a:prstDash val="sysDot"/>
            <a:headEnd type="none"/>
            <a:tailEnd type="none"/>
          </a:ln>
        </p:spPr>
        <p:txBody>
          <a:bodyPr/>
          <a:p/>
        </p:txBody>
      </p:sp>
      <p:sp>
        <p:nvSpPr>
          <p:cNvPr id="56" name="Text 54"/>
          <p:cNvSpPr txBox="1"/>
          <p:nvPr/>
        </p:nvSpPr>
        <p:spPr>
          <a:xfrm>
            <a:off x="10479024" y="1481328"/>
            <a:ext cx="82296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백틸트</a:t>
            </a:r>
            <a:endParaRPr lang="en-US" sz="1000" dirty="0"/>
          </a:p>
        </p:txBody>
      </p:sp>
      <p:sp>
        <p:nvSpPr>
          <p:cNvPr id="57" name="Shape 55"/>
          <p:cNvSpPr/>
          <p:nvPr/>
        </p:nvSpPr>
        <p:spPr>
          <a:xfrm>
            <a:off x="9628632" y="3374136"/>
            <a:ext cx="91440" cy="91440"/>
          </a:xfrm>
          <a:prstGeom prst="ellipse">
            <a:avLst/>
          </a:prstGeom>
          <a:solidFill>
            <a:srgbClr val="13233F"/>
          </a:solidFill>
          <a:ln/>
        </p:spPr>
        <p:txBody>
          <a:bodyPr/>
          <a:p/>
        </p:txBody>
      </p:sp>
      <p:sp>
        <p:nvSpPr>
          <p:cNvPr id="58" name="Text 56"/>
          <p:cNvSpPr txBox="1"/>
          <p:nvPr/>
        </p:nvSpPr>
        <p:spPr>
          <a:xfrm>
            <a:off x="9857232" y="3438144"/>
            <a:ext cx="91440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무게중심</a:t>
            </a:r>
            <a:endParaRPr lang="en-US" sz="950" dirty="0"/>
          </a:p>
        </p:txBody>
      </p:sp>
      <p:sp>
        <p:nvSpPr>
          <p:cNvPr id="59" name="Shape 57"/>
          <p:cNvSpPr/>
          <p:nvPr/>
        </p:nvSpPr>
        <p:spPr>
          <a:xfrm>
            <a:off x="8449056" y="1828800"/>
            <a:ext cx="1133856" cy="0"/>
          </a:xfrm>
          <a:prstGeom prst="line">
            <a:avLst/>
          </a:prstGeom>
          <a:noFill/>
          <a:ln w="10160">
            <a:solidFill>
              <a:srgbClr val="C9D6EC"/>
            </a:solidFill>
            <a:prstDash val="sysDot"/>
            <a:headEnd type="none"/>
            <a:tailEnd type="none"/>
          </a:ln>
        </p:spPr>
        <p:txBody>
          <a:bodyPr/>
          <a:p/>
        </p:txBody>
      </p:sp>
      <p:sp>
        <p:nvSpPr>
          <p:cNvPr id="60" name="Shape 58"/>
          <p:cNvSpPr/>
          <p:nvPr/>
        </p:nvSpPr>
        <p:spPr>
          <a:xfrm>
            <a:off x="8449056" y="3419856"/>
            <a:ext cx="1152144" cy="0"/>
          </a:xfrm>
          <a:prstGeom prst="line">
            <a:avLst/>
          </a:prstGeom>
          <a:noFill/>
          <a:ln w="10160">
            <a:solidFill>
              <a:srgbClr val="C9D6EC"/>
            </a:solidFill>
            <a:prstDash val="sysDot"/>
            <a:headEnd type="none"/>
            <a:tailEnd type="none"/>
          </a:ln>
        </p:spPr>
        <p:txBody>
          <a:bodyPr/>
          <a:p/>
        </p:txBody>
      </p:sp>
      <p:sp>
        <p:nvSpPr>
          <p:cNvPr id="61" name="Shape 59"/>
          <p:cNvSpPr/>
          <p:nvPr/>
        </p:nvSpPr>
        <p:spPr>
          <a:xfrm rot="5400000">
            <a:off x="7744968" y="2624328"/>
            <a:ext cx="1591056" cy="0"/>
          </a:xfrm>
          <a:prstGeom prst="line">
            <a:avLst/>
          </a:prstGeom>
          <a:noFill/>
          <a:ln w="12700">
            <a:solidFill>
              <a:srgbClr val="13233F"/>
            </a:solidFill>
            <a:prstDash val="solid"/>
            <a:headEnd type="triangle"/>
            <a:tailEnd type="triangle"/>
          </a:ln>
        </p:spPr>
        <p:txBody>
          <a:bodyPr/>
          <a:p/>
        </p:txBody>
      </p:sp>
      <p:sp>
        <p:nvSpPr>
          <p:cNvPr id="62" name="Text 60"/>
          <p:cNvSpPr txBox="1"/>
          <p:nvPr/>
        </p:nvSpPr>
        <p:spPr>
          <a:xfrm>
            <a:off x="7205472" y="2450592"/>
            <a:ext cx="1207008" cy="438912"/>
          </a:xfrm>
          <a:prstGeom prst="rect">
            <a:avLst/>
          </a:prstGeom>
          <a:noFill/>
          <a:ln/>
        </p:spPr>
        <p:txBody>
          <a:bodyPr wrap="square" lIns="0" tIns="0" rIns="0" bIns="0" rtlCol="0" anchor="t"/>
          <a:lstStyle/>
          <a:p>
            <a:pPr marL="0" indent="0" algn="r">
              <a:lnSpc>
                <a:spcPct val="105000"/>
              </a:lnSpc>
              <a:spcAft>
                <a:spcPts val="300"/>
              </a:spcAft>
              <a:buNone/>
            </a:pPr>
            <a:r>
              <a:rPr lang="en-US" sz="950" dirty="0">
                <a:solidFill>
                  <a:srgbClr val="1A2233"/>
                </a:solidFill>
                <a:latin typeface="맑은 고딕" pitchFamily="34" charset="0"/>
                <a:ea typeface="맑은 고딕" pitchFamily="34" charset="-122"/>
                <a:cs typeface="맑은 고딕" pitchFamily="34" charset="-120"/>
              </a:rPr>
              <a:t>레버암</a:t>
            </a:r>
            <a:endParaRPr lang="en-US" sz="950" dirty="0"/>
          </a:p>
          <a:p>
            <a:pPr marL="0" indent="0" algn="r">
              <a:lnSpc>
                <a:spcPct val="105000"/>
              </a:lnSpc>
              <a:buNone/>
            </a:pPr>
            <a:r>
              <a:rPr lang="en-US" sz="950" dirty="0">
                <a:solidFill>
                  <a:srgbClr val="1A2233"/>
                </a:solidFill>
                <a:latin typeface="맑은 고딕" pitchFamily="34" charset="0"/>
                <a:ea typeface="맑은 고딕" pitchFamily="34" charset="-122"/>
                <a:cs typeface="맑은 고딕" pitchFamily="34" charset="-120"/>
              </a:rPr>
              <a:t>z = −10 m</a:t>
            </a:r>
            <a:endParaRPr lang="en-US" sz="950" dirty="0"/>
          </a:p>
        </p:txBody>
      </p:sp>
      <p:sp>
        <p:nvSpPr>
          <p:cNvPr id="63" name="Text 61"/>
          <p:cNvSpPr txBox="1"/>
          <p:nvPr/>
        </p:nvSpPr>
        <p:spPr>
          <a:xfrm>
            <a:off x="8101584" y="4315968"/>
            <a:ext cx="3108960" cy="201168"/>
          </a:xfrm>
          <a:prstGeom prst="rect">
            <a:avLst/>
          </a:prstGeom>
          <a:noFill/>
          <a:ln/>
        </p:spPr>
        <p:txBody>
          <a:bodyPr wrap="square" lIns="0" tIns="0" rIns="0" bIns="0" rtlCol="0" anchor="ctr"/>
          <a:lstStyle/>
          <a:p>
            <a:pPr marL="0" indent="0" algn="ctr">
              <a:buNone/>
            </a:pPr>
            <a:r>
              <a:rPr lang="en-US" sz="1150" b="1" dirty="0">
                <a:solidFill>
                  <a:srgbClr val="1A2233"/>
                </a:solidFill>
                <a:latin typeface="맑은 고딕" pitchFamily="34" charset="0"/>
                <a:ea typeface="맑은 고딕" pitchFamily="34" charset="-122"/>
                <a:cs typeface="맑은 고딕" pitchFamily="34" charset="-120"/>
              </a:rPr>
              <a:t>선미에서 본 그림</a:t>
            </a:r>
            <a:endParaRPr lang="en-US" sz="1150" dirty="0"/>
          </a:p>
        </p:txBody>
      </p:sp>
      <p:sp>
        <p:nvSpPr>
          <p:cNvPr id="64" name="Text 62"/>
          <p:cNvSpPr txBox="1"/>
          <p:nvPr/>
        </p:nvSpPr>
        <p:spPr>
          <a:xfrm>
            <a:off x="8101584" y="4544568"/>
            <a:ext cx="3108960" cy="201168"/>
          </a:xfrm>
          <a:prstGeom prst="rect">
            <a:avLst/>
          </a:prstGeom>
          <a:noFill/>
          <a:ln/>
        </p:spPr>
        <p:txBody>
          <a:bodyPr wrap="square" lIns="0" tIns="0" rIns="0" bIns="0" rtlCol="0" anchor="ctr"/>
          <a:lstStyle/>
          <a:p>
            <a:pPr marL="0" indent="0" algn="ctr">
              <a:buNone/>
            </a:pPr>
            <a:r>
              <a:rPr lang="en-US" sz="950" dirty="0">
                <a:solidFill>
                  <a:srgbClr val="5A6478"/>
                </a:solidFill>
                <a:latin typeface="맑은 고딕" pitchFamily="34" charset="0"/>
                <a:ea typeface="맑은 고딕" pitchFamily="34" charset="-122"/>
                <a:cs typeface="맑은 고딕" pitchFamily="34" charset="-120"/>
              </a:rPr>
              <a:t>레버암 (−30, 0, −10) m</a:t>
            </a:r>
            <a:endParaRPr lang="en-US" sz="950" dirty="0"/>
          </a:p>
        </p:txBody>
      </p:sp>
      <p:sp>
        <p:nvSpPr>
          <p:cNvPr id="65" name="Shape 63"/>
          <p:cNvSpPr/>
          <p:nvPr/>
        </p:nvSpPr>
        <p:spPr>
          <a:xfrm>
            <a:off x="914400" y="4791456"/>
            <a:ext cx="3127248" cy="1170432"/>
          </a:xfrm>
          <a:prstGeom prst="roundRect">
            <a:avLst>
              <a:gd name="adj" fmla="val 4167"/>
            </a:avLst>
          </a:prstGeom>
          <a:solidFill>
            <a:srgbClr val="EEF1F7"/>
          </a:solidFill>
          <a:ln/>
        </p:spPr>
        <p:txBody>
          <a:bodyPr/>
          <a:p/>
        </p:txBody>
      </p:sp>
      <p:sp>
        <p:nvSpPr>
          <p:cNvPr id="66" name="Text 64"/>
          <p:cNvSpPr txBox="1"/>
          <p:nvPr/>
        </p:nvSpPr>
        <p:spPr>
          <a:xfrm>
            <a:off x="1115568" y="4919472"/>
            <a:ext cx="2743200" cy="914400"/>
          </a:xfrm>
          <a:prstGeom prst="rect">
            <a:avLst/>
          </a:prstGeom>
          <a:noFill/>
          <a:ln/>
        </p:spPr>
        <p:txBody>
          <a:bodyPr wrap="square" lIns="0" tIns="0" rIns="0" bIns="0" rtlCol="0" anchor="t"/>
          <a:lstStyle/>
          <a:p>
            <a:pPr marL="0" indent="0" algn="l">
              <a:lnSpc>
                <a:spcPct val="105000"/>
              </a:lnSpc>
              <a:spcAft>
                <a:spcPts val="600"/>
              </a:spcAft>
              <a:buNone/>
            </a:pPr>
            <a:r>
              <a:rPr lang="en-US" sz="1200" b="1" dirty="0">
                <a:solidFill>
                  <a:srgbClr val="1A2233"/>
                </a:solidFill>
                <a:latin typeface="맑은 고딕" pitchFamily="34" charset="0"/>
                <a:ea typeface="맑은 고딕" pitchFamily="34" charset="-122"/>
                <a:cs typeface="맑은 고딕" pitchFamily="34" charset="-120"/>
              </a:rPr>
              <a:t>원점 · 축</a:t>
            </a:r>
            <a:endParaRPr lang="en-US" sz="1200" dirty="0"/>
          </a:p>
          <a:p>
            <a:pPr marL="0" indent="0" algn="l">
              <a:lnSpc>
                <a:spcPct val="105000"/>
              </a:lnSpc>
              <a:spcAft>
                <a:spcPts val="200"/>
              </a:spcAft>
              <a:buNone/>
            </a:pPr>
            <a:r>
              <a:rPr lang="en-US" sz="950" dirty="0">
                <a:solidFill>
                  <a:srgbClr val="1A2233"/>
                </a:solidFill>
                <a:latin typeface="맑은 고딕" pitchFamily="34" charset="0"/>
                <a:ea typeface="맑은 고딕" pitchFamily="34" charset="-122"/>
                <a:cs typeface="맑은 고딕" pitchFamily="34" charset="-120"/>
              </a:rPr>
              <a:t>원점 = 배의 무게중심</a:t>
            </a:r>
            <a:endParaRPr lang="en-US" sz="1200" dirty="0"/>
          </a:p>
          <a:p>
            <a:pPr marL="0" indent="0" algn="l">
              <a:lnSpc>
                <a:spcPct val="105000"/>
              </a:lnSpc>
              <a:spcAft>
                <a:spcPts val="200"/>
              </a:spcAft>
              <a:buNone/>
            </a:pPr>
            <a:r>
              <a:rPr lang="en-US" sz="950" dirty="0">
                <a:solidFill>
                  <a:srgbClr val="1A2233"/>
                </a:solidFill>
                <a:latin typeface="맑은 고딕" pitchFamily="34" charset="0"/>
                <a:ea typeface="맑은 고딕" pitchFamily="34" charset="-122"/>
                <a:cs typeface="맑은 고딕" pitchFamily="34" charset="-120"/>
              </a:rPr>
              <a:t>x 선수 · y 우현 · z 아래</a:t>
            </a:r>
            <a:endParaRPr lang="en-US" sz="1200" dirty="0"/>
          </a:p>
          <a:p>
            <a:pPr marL="0" indent="0" algn="l">
              <a:lnSpc>
                <a:spcPct val="105000"/>
              </a:lnSpc>
              <a:buNone/>
            </a:pPr>
            <a:r>
              <a:rPr lang="en-US" sz="950" dirty="0">
                <a:solidFill>
                  <a:srgbClr val="1A2233"/>
                </a:solidFill>
                <a:latin typeface="맑은 고딕" pitchFamily="34" charset="0"/>
                <a:ea typeface="맑은 고딕" pitchFamily="34" charset="-122"/>
                <a:cs typeface="맑은 고딕" pitchFamily="34" charset="-120"/>
              </a:rPr>
              <a:t>→ FRD(Forward-Right-Down)</a:t>
            </a:r>
            <a:endParaRPr lang="en-US" sz="1200" dirty="0"/>
          </a:p>
        </p:txBody>
      </p:sp>
      <p:sp>
        <p:nvSpPr>
          <p:cNvPr id="67" name="Shape 65"/>
          <p:cNvSpPr/>
          <p:nvPr/>
        </p:nvSpPr>
        <p:spPr>
          <a:xfrm>
            <a:off x="4261104" y="4791456"/>
            <a:ext cx="7013448" cy="1170432"/>
          </a:xfrm>
          <a:prstGeom prst="roundRect">
            <a:avLst>
              <a:gd name="adj" fmla="val 4167"/>
            </a:avLst>
          </a:prstGeom>
          <a:solidFill>
            <a:srgbClr val="EEF1F7"/>
          </a:solidFill>
          <a:ln/>
        </p:spPr>
        <p:txBody>
          <a:bodyPr/>
          <a:p/>
        </p:txBody>
      </p:sp>
      <p:sp>
        <p:nvSpPr>
          <p:cNvPr id="68" name="Text 66"/>
          <p:cNvSpPr txBox="1"/>
          <p:nvPr/>
        </p:nvSpPr>
        <p:spPr>
          <a:xfrm>
            <a:off x="4462272" y="4846320"/>
            <a:ext cx="2743200" cy="219456"/>
          </a:xfrm>
          <a:prstGeom prst="rect">
            <a:avLst/>
          </a:prstGeom>
          <a:noFill/>
          <a:ln/>
        </p:spPr>
        <p:txBody>
          <a:bodyPr wrap="square" lIns="0" tIns="0" rIns="0" bIns="0" rtlCol="0" anchor="ct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안테나 → 동체 변환</a:t>
            </a:r>
            <a:endParaRPr lang="en-US" sz="1200" dirty="0"/>
          </a:p>
        </p:txBody>
      </p:sp>
      <p:sp>
        <p:nvSpPr>
          <p:cNvPr id="69" name="Shape 67"/>
          <p:cNvSpPr/>
          <p:nvPr/>
        </p:nvSpPr>
        <p:spPr>
          <a:xfrm>
            <a:off x="4462272" y="5120640"/>
            <a:ext cx="1938528" cy="274320"/>
          </a:xfrm>
          <a:prstGeom prst="roundRect">
            <a:avLst>
              <a:gd name="adj" fmla="val 26667"/>
            </a:avLst>
          </a:prstGeom>
          <a:solidFill>
            <a:srgbClr val="F5F7FB"/>
          </a:solidFill>
          <a:ln w="11430">
            <a:solidFill>
              <a:srgbClr val="5A6478"/>
            </a:solidFill>
            <a:prstDash val="solid"/>
          </a:ln>
        </p:spPr>
        <p:txBody>
          <a:bodyPr/>
          <a:p/>
        </p:txBody>
      </p:sp>
      <p:sp>
        <p:nvSpPr>
          <p:cNvPr id="70" name="Text 68"/>
          <p:cNvSpPr txBox="1"/>
          <p:nvPr/>
        </p:nvSpPr>
        <p:spPr>
          <a:xfrm>
            <a:off x="4462272" y="5120640"/>
            <a:ext cx="1938528" cy="274320"/>
          </a:xfrm>
          <a:prstGeom prst="rect">
            <a:avLst/>
          </a:prstGeom>
          <a:noFill/>
          <a:ln/>
        </p:spPr>
        <p:txBody>
          <a:bodyPr wrap="square" lIns="0" tIns="0" rIns="0" bIns="0" rtlCol="0" anchor="ctr"/>
          <a:lstStyle/>
          <a:p>
            <a:pPr marL="0" indent="0" algn="ctr">
              <a:buNone/>
            </a:pPr>
            <a:r>
              <a:rPr lang="en-US" sz="750" b="1" dirty="0">
                <a:solidFill>
                  <a:srgbClr val="1A2233"/>
                </a:solidFill>
                <a:latin typeface="맑은 고딕" pitchFamily="34" charset="0"/>
                <a:ea typeface="맑은 고딕" pitchFamily="34" charset="-122"/>
                <a:cs typeface="맑은 고딕" pitchFamily="34" charset="-120"/>
              </a:rPr>
              <a:t>p안테나 (x 왼쪽, y 위, z 보어사이트)</a:t>
            </a:r>
            <a:endParaRPr lang="en-US" sz="750" dirty="0"/>
          </a:p>
        </p:txBody>
      </p:sp>
      <p:sp>
        <p:nvSpPr>
          <p:cNvPr id="71" name="Text 69"/>
          <p:cNvSpPr txBox="1"/>
          <p:nvPr/>
        </p:nvSpPr>
        <p:spPr>
          <a:xfrm>
            <a:off x="4370832" y="5394960"/>
            <a:ext cx="2212848" cy="201168"/>
          </a:xfrm>
          <a:prstGeom prst="rect">
            <a:avLst/>
          </a:prstGeom>
          <a:noFill/>
          <a:ln/>
        </p:spPr>
        <p:txBody>
          <a:bodyPr wrap="square" lIns="0" tIns="0" rIns="0" bIns="0" rtlCol="0" anchor="ctr"/>
          <a:lstStyle/>
          <a:p>
            <a:pPr marL="0" indent="0" algn="ctr">
              <a:buNone/>
            </a:pPr>
            <a:r>
              <a:rPr lang="en-US" sz="700" dirty="0">
                <a:solidFill>
                  <a:srgbClr val="5A6478"/>
                </a:solidFill>
                <a:latin typeface="맑은 고딕" pitchFamily="34" charset="0"/>
                <a:ea typeface="맑은 고딕" pitchFamily="34" charset="-122"/>
                <a:cs typeface="맑은 고딕" pitchFamily="34" charset="-120"/>
              </a:rPr>
              <a:t>이번 과제 값 →</a:t>
            </a:r>
            <a:endParaRPr lang="en-US" sz="700" dirty="0"/>
          </a:p>
        </p:txBody>
      </p:sp>
      <p:sp>
        <p:nvSpPr>
          <p:cNvPr id="72" name="Shape 70"/>
          <p:cNvSpPr/>
          <p:nvPr/>
        </p:nvSpPr>
        <p:spPr>
          <a:xfrm>
            <a:off x="6419088" y="5257800"/>
            <a:ext cx="118872" cy="0"/>
          </a:xfrm>
          <a:prstGeom prst="line">
            <a:avLst/>
          </a:prstGeom>
          <a:noFill/>
          <a:ln w="16510">
            <a:solidFill>
              <a:srgbClr val="13233F"/>
            </a:solidFill>
            <a:prstDash val="solid"/>
            <a:headEnd type="none"/>
            <a:tailEnd type="triangle"/>
          </a:ln>
        </p:spPr>
        <p:txBody>
          <a:bodyPr/>
          <a:p/>
        </p:txBody>
      </p:sp>
      <p:sp>
        <p:nvSpPr>
          <p:cNvPr id="73" name="Shape 71"/>
          <p:cNvSpPr/>
          <p:nvPr/>
        </p:nvSpPr>
        <p:spPr>
          <a:xfrm>
            <a:off x="6556248" y="5120640"/>
            <a:ext cx="749808" cy="274320"/>
          </a:xfrm>
          <a:prstGeom prst="roundRect">
            <a:avLst>
              <a:gd name="adj" fmla="val 26667"/>
            </a:avLst>
          </a:prstGeom>
          <a:solidFill>
            <a:srgbClr val="F5F7FB"/>
          </a:solidFill>
          <a:ln w="11430">
            <a:solidFill>
              <a:srgbClr val="5A6478"/>
            </a:solidFill>
            <a:prstDash val="solid"/>
          </a:ln>
        </p:spPr>
        <p:txBody>
          <a:bodyPr/>
          <a:p/>
        </p:txBody>
      </p:sp>
      <p:sp>
        <p:nvSpPr>
          <p:cNvPr id="74" name="Text 72"/>
          <p:cNvSpPr txBox="1"/>
          <p:nvPr/>
        </p:nvSpPr>
        <p:spPr>
          <a:xfrm>
            <a:off x="6556248" y="5120640"/>
            <a:ext cx="749808" cy="274320"/>
          </a:xfrm>
          <a:prstGeom prst="rect">
            <a:avLst/>
          </a:prstGeom>
          <a:noFill/>
          <a:ln/>
        </p:spPr>
        <p:txBody>
          <a:bodyPr wrap="square" lIns="0" tIns="0" rIns="0" bIns="0" rtlCol="0" anchor="ctr"/>
          <a:lstStyle/>
          <a:p>
            <a:pPr marL="0" indent="0" algn="ctr">
              <a:buNone/>
            </a:pPr>
            <a:r>
              <a:rPr lang="en-US" sz="800" b="1" dirty="0">
                <a:solidFill>
                  <a:srgbClr val="1A2233"/>
                </a:solidFill>
                <a:latin typeface="맑은 고딕" pitchFamily="34" charset="0"/>
                <a:ea typeface="맑은 고딕" pitchFamily="34" charset="-122"/>
                <a:cs typeface="맑은 고딕" pitchFamily="34" charset="-120"/>
              </a:rPr>
              <a:t>축 맞춤 A</a:t>
            </a:r>
            <a:endParaRPr lang="en-US" sz="800" dirty="0"/>
          </a:p>
        </p:txBody>
      </p:sp>
      <p:sp>
        <p:nvSpPr>
          <p:cNvPr id="75" name="Text 73"/>
          <p:cNvSpPr txBox="1"/>
          <p:nvPr/>
        </p:nvSpPr>
        <p:spPr>
          <a:xfrm>
            <a:off x="6464808" y="5394960"/>
            <a:ext cx="1024128"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Rz(−90°)·Rx(−90°)</a:t>
            </a:r>
            <a:endParaRPr lang="en-US" sz="650" dirty="0"/>
          </a:p>
        </p:txBody>
      </p:sp>
      <p:sp>
        <p:nvSpPr>
          <p:cNvPr id="76" name="Shape 74"/>
          <p:cNvSpPr/>
          <p:nvPr/>
        </p:nvSpPr>
        <p:spPr>
          <a:xfrm>
            <a:off x="7324344" y="5257800"/>
            <a:ext cx="118872" cy="0"/>
          </a:xfrm>
          <a:prstGeom prst="line">
            <a:avLst/>
          </a:prstGeom>
          <a:noFill/>
          <a:ln w="16510">
            <a:solidFill>
              <a:srgbClr val="13233F"/>
            </a:solidFill>
            <a:prstDash val="solid"/>
            <a:headEnd type="none"/>
            <a:tailEnd type="triangle"/>
          </a:ln>
        </p:spPr>
        <p:txBody>
          <a:bodyPr/>
          <a:p/>
        </p:txBody>
      </p:sp>
      <p:sp>
        <p:nvSpPr>
          <p:cNvPr id="77" name="Shape 75"/>
          <p:cNvSpPr/>
          <p:nvPr/>
        </p:nvSpPr>
        <p:spPr>
          <a:xfrm>
            <a:off x="7461504" y="5120640"/>
            <a:ext cx="859536" cy="274320"/>
          </a:xfrm>
          <a:prstGeom prst="roundRect">
            <a:avLst>
              <a:gd name="adj" fmla="val 26667"/>
            </a:avLst>
          </a:prstGeom>
          <a:solidFill>
            <a:srgbClr val="F5F7FB"/>
          </a:solidFill>
          <a:ln w="11430">
            <a:solidFill>
              <a:srgbClr val="5A6478"/>
            </a:solidFill>
            <a:prstDash val="solid"/>
          </a:ln>
        </p:spPr>
        <p:txBody>
          <a:bodyPr/>
          <a:p/>
        </p:txBody>
      </p:sp>
      <p:sp>
        <p:nvSpPr>
          <p:cNvPr id="78" name="Text 76"/>
          <p:cNvSpPr txBox="1"/>
          <p:nvPr/>
        </p:nvSpPr>
        <p:spPr>
          <a:xfrm>
            <a:off x="7461504" y="5120640"/>
            <a:ext cx="859536" cy="274320"/>
          </a:xfrm>
          <a:prstGeom prst="rect">
            <a:avLst/>
          </a:prstGeom>
          <a:noFill/>
          <a:ln/>
        </p:spPr>
        <p:txBody>
          <a:bodyPr wrap="square" lIns="0" tIns="0" rIns="0" bIns="0" rtlCol="0" anchor="ctr"/>
          <a:lstStyle/>
          <a:p>
            <a:pPr marL="0" indent="0" algn="ctr">
              <a:buNone/>
            </a:pPr>
            <a:r>
              <a:rPr lang="en-US" sz="800" b="1" dirty="0">
                <a:solidFill>
                  <a:srgbClr val="1A2233"/>
                </a:solidFill>
                <a:latin typeface="맑은 고딕" pitchFamily="34" charset="0"/>
                <a:ea typeface="맑은 고딕" pitchFamily="34" charset="-122"/>
                <a:cs typeface="맑은 고딕" pitchFamily="34" charset="-120"/>
              </a:rPr>
              <a:t>Ry(백틸트)</a:t>
            </a:r>
            <a:endParaRPr lang="en-US" sz="800" dirty="0"/>
          </a:p>
        </p:txBody>
      </p:sp>
      <p:sp>
        <p:nvSpPr>
          <p:cNvPr id="79" name="Text 77"/>
          <p:cNvSpPr txBox="1"/>
          <p:nvPr/>
        </p:nvSpPr>
        <p:spPr>
          <a:xfrm>
            <a:off x="7370064" y="5394960"/>
            <a:ext cx="1133856" cy="201168"/>
          </a:xfrm>
          <a:prstGeom prst="rect">
            <a:avLst/>
          </a:prstGeom>
          <a:noFill/>
          <a:ln/>
        </p:spPr>
        <p:txBody>
          <a:bodyPr wrap="square" lIns="0" tIns="0" rIns="0" bIns="0" rtlCol="0" anchor="ctr"/>
          <a:lstStyle/>
          <a:p>
            <a:pPr marL="0" indent="0" algn="ctr">
              <a:buNone/>
            </a:pPr>
            <a:r>
              <a:rPr lang="en-US" sz="700" dirty="0">
                <a:solidFill>
                  <a:srgbClr val="5A6478"/>
                </a:solidFill>
                <a:latin typeface="맑은 고딕" pitchFamily="34" charset="0"/>
                <a:ea typeface="맑은 고딕" pitchFamily="34" charset="-122"/>
                <a:cs typeface="맑은 고딕" pitchFamily="34" charset="-120"/>
              </a:rPr>
              <a:t>백틸트 0°</a:t>
            </a:r>
            <a:endParaRPr lang="en-US" sz="700" dirty="0"/>
          </a:p>
        </p:txBody>
      </p:sp>
      <p:sp>
        <p:nvSpPr>
          <p:cNvPr id="80" name="Shape 78"/>
          <p:cNvSpPr/>
          <p:nvPr/>
        </p:nvSpPr>
        <p:spPr>
          <a:xfrm>
            <a:off x="8339328" y="5257800"/>
            <a:ext cx="118872" cy="0"/>
          </a:xfrm>
          <a:prstGeom prst="line">
            <a:avLst/>
          </a:prstGeom>
          <a:noFill/>
          <a:ln w="16510">
            <a:solidFill>
              <a:srgbClr val="13233F"/>
            </a:solidFill>
            <a:prstDash val="solid"/>
            <a:headEnd type="none"/>
            <a:tailEnd type="triangle"/>
          </a:ln>
        </p:spPr>
        <p:txBody>
          <a:bodyPr/>
          <a:p/>
        </p:txBody>
      </p:sp>
      <p:sp>
        <p:nvSpPr>
          <p:cNvPr id="81" name="Shape 79"/>
          <p:cNvSpPr/>
          <p:nvPr/>
        </p:nvSpPr>
        <p:spPr>
          <a:xfrm>
            <a:off x="8476488" y="5120640"/>
            <a:ext cx="1005840" cy="274320"/>
          </a:xfrm>
          <a:prstGeom prst="roundRect">
            <a:avLst>
              <a:gd name="adj" fmla="val 26667"/>
            </a:avLst>
          </a:prstGeom>
          <a:solidFill>
            <a:srgbClr val="F5F7FB"/>
          </a:solidFill>
          <a:ln w="11430">
            <a:solidFill>
              <a:srgbClr val="5A6478"/>
            </a:solidFill>
            <a:prstDash val="solid"/>
          </a:ln>
        </p:spPr>
        <p:txBody>
          <a:bodyPr/>
          <a:p/>
        </p:txBody>
      </p:sp>
      <p:sp>
        <p:nvSpPr>
          <p:cNvPr id="82" name="Text 80"/>
          <p:cNvSpPr txBox="1"/>
          <p:nvPr/>
        </p:nvSpPr>
        <p:spPr>
          <a:xfrm>
            <a:off x="8476488" y="5120640"/>
            <a:ext cx="1005840" cy="274320"/>
          </a:xfrm>
          <a:prstGeom prst="rect">
            <a:avLst/>
          </a:prstGeom>
          <a:noFill/>
          <a:ln/>
        </p:spPr>
        <p:txBody>
          <a:bodyPr wrap="square" lIns="0" tIns="0" rIns="0" bIns="0" rtlCol="0" anchor="ctr"/>
          <a:lstStyle/>
          <a:p>
            <a:pPr marL="0" indent="0" algn="ctr">
              <a:buNone/>
            </a:pPr>
            <a:r>
              <a:rPr lang="en-US" sz="800" b="1" dirty="0">
                <a:solidFill>
                  <a:srgbClr val="1A2233"/>
                </a:solidFill>
                <a:latin typeface="맑은 고딕" pitchFamily="34" charset="0"/>
                <a:ea typeface="맑은 고딕" pitchFamily="34" charset="-122"/>
                <a:cs typeface="맑은 고딕" pitchFamily="34" charset="-120"/>
              </a:rPr>
              <a:t>Rz(설치방위)</a:t>
            </a:r>
            <a:endParaRPr lang="en-US" sz="800" dirty="0"/>
          </a:p>
        </p:txBody>
      </p:sp>
      <p:sp>
        <p:nvSpPr>
          <p:cNvPr id="83" name="Text 81"/>
          <p:cNvSpPr txBox="1"/>
          <p:nvPr/>
        </p:nvSpPr>
        <p:spPr>
          <a:xfrm>
            <a:off x="8385048" y="5394960"/>
            <a:ext cx="1280160" cy="201168"/>
          </a:xfrm>
          <a:prstGeom prst="rect">
            <a:avLst/>
          </a:prstGeom>
          <a:noFill/>
          <a:ln/>
        </p:spPr>
        <p:txBody>
          <a:bodyPr wrap="square" lIns="0" tIns="0" rIns="0" bIns="0" rtlCol="0" anchor="ctr"/>
          <a:lstStyle/>
          <a:p>
            <a:pPr marL="0" indent="0" algn="ctr">
              <a:buNone/>
            </a:pPr>
            <a:r>
              <a:rPr lang="en-US" sz="700" dirty="0">
                <a:solidFill>
                  <a:srgbClr val="5A6478"/>
                </a:solidFill>
                <a:latin typeface="맑은 고딕" pitchFamily="34" charset="0"/>
                <a:ea typeface="맑은 고딕" pitchFamily="34" charset="-122"/>
                <a:cs typeface="맑은 고딕" pitchFamily="34" charset="-120"/>
              </a:rPr>
              <a:t>설치 방위 90°</a:t>
            </a:r>
            <a:endParaRPr lang="en-US" sz="700" dirty="0"/>
          </a:p>
        </p:txBody>
      </p:sp>
      <p:sp>
        <p:nvSpPr>
          <p:cNvPr id="84" name="Shape 82"/>
          <p:cNvSpPr/>
          <p:nvPr/>
        </p:nvSpPr>
        <p:spPr>
          <a:xfrm>
            <a:off x="9500616" y="5257800"/>
            <a:ext cx="118872" cy="0"/>
          </a:xfrm>
          <a:prstGeom prst="line">
            <a:avLst/>
          </a:prstGeom>
          <a:noFill/>
          <a:ln w="16510">
            <a:solidFill>
              <a:srgbClr val="13233F"/>
            </a:solidFill>
            <a:prstDash val="solid"/>
            <a:headEnd type="none"/>
            <a:tailEnd type="triangle"/>
          </a:ln>
        </p:spPr>
        <p:txBody>
          <a:bodyPr/>
          <a:p/>
        </p:txBody>
      </p:sp>
      <p:sp>
        <p:nvSpPr>
          <p:cNvPr id="85" name="Shape 83"/>
          <p:cNvSpPr/>
          <p:nvPr/>
        </p:nvSpPr>
        <p:spPr>
          <a:xfrm>
            <a:off x="9637776" y="5120640"/>
            <a:ext cx="731520" cy="274320"/>
          </a:xfrm>
          <a:prstGeom prst="roundRect">
            <a:avLst>
              <a:gd name="adj" fmla="val 26667"/>
            </a:avLst>
          </a:prstGeom>
          <a:solidFill>
            <a:srgbClr val="F5F7FB"/>
          </a:solidFill>
          <a:ln w="11430">
            <a:solidFill>
              <a:srgbClr val="5A6478"/>
            </a:solidFill>
            <a:prstDash val="solid"/>
          </a:ln>
        </p:spPr>
        <p:txBody>
          <a:bodyPr/>
          <a:p/>
        </p:txBody>
      </p:sp>
      <p:sp>
        <p:nvSpPr>
          <p:cNvPr id="86" name="Text 84"/>
          <p:cNvSpPr txBox="1"/>
          <p:nvPr/>
        </p:nvSpPr>
        <p:spPr>
          <a:xfrm>
            <a:off x="9637776" y="5120640"/>
            <a:ext cx="731520" cy="274320"/>
          </a:xfrm>
          <a:prstGeom prst="rect">
            <a:avLst/>
          </a:prstGeom>
          <a:noFill/>
          <a:ln/>
        </p:spPr>
        <p:txBody>
          <a:bodyPr wrap="square" lIns="0" tIns="0" rIns="0" bIns="0" rtlCol="0" anchor="ctr"/>
          <a:lstStyle/>
          <a:p>
            <a:pPr marL="0" indent="0" algn="ctr">
              <a:buNone/>
            </a:pPr>
            <a:r>
              <a:rPr lang="en-US" sz="800" b="1" dirty="0">
                <a:solidFill>
                  <a:srgbClr val="1A2233"/>
                </a:solidFill>
                <a:latin typeface="맑은 고딕" pitchFamily="34" charset="0"/>
                <a:ea typeface="맑은 고딕" pitchFamily="34" charset="-122"/>
                <a:cs typeface="맑은 고딕" pitchFamily="34" charset="-120"/>
              </a:rPr>
              <a:t>+ 레버암</a:t>
            </a:r>
            <a:endParaRPr lang="en-US" sz="800" dirty="0"/>
          </a:p>
        </p:txBody>
      </p:sp>
      <p:sp>
        <p:nvSpPr>
          <p:cNvPr id="87" name="Text 85"/>
          <p:cNvSpPr txBox="1"/>
          <p:nvPr/>
        </p:nvSpPr>
        <p:spPr>
          <a:xfrm>
            <a:off x="9546336" y="5394960"/>
            <a:ext cx="1005840"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레버암 (−30, 0, −10) m</a:t>
            </a:r>
            <a:endParaRPr lang="en-US" sz="650" dirty="0"/>
          </a:p>
        </p:txBody>
      </p:sp>
      <p:sp>
        <p:nvSpPr>
          <p:cNvPr id="88" name="Shape 86"/>
          <p:cNvSpPr/>
          <p:nvPr/>
        </p:nvSpPr>
        <p:spPr>
          <a:xfrm>
            <a:off x="10387584" y="5257800"/>
            <a:ext cx="118872" cy="0"/>
          </a:xfrm>
          <a:prstGeom prst="line">
            <a:avLst/>
          </a:prstGeom>
          <a:noFill/>
          <a:ln w="16510">
            <a:solidFill>
              <a:srgbClr val="13233F"/>
            </a:solidFill>
            <a:prstDash val="solid"/>
            <a:headEnd type="none"/>
            <a:tailEnd type="triangle"/>
          </a:ln>
        </p:spPr>
        <p:txBody>
          <a:bodyPr/>
          <a:p/>
        </p:txBody>
      </p:sp>
      <p:sp>
        <p:nvSpPr>
          <p:cNvPr id="89" name="Shape 87"/>
          <p:cNvSpPr/>
          <p:nvPr/>
        </p:nvSpPr>
        <p:spPr>
          <a:xfrm>
            <a:off x="10524744" y="5120640"/>
            <a:ext cx="548640" cy="274320"/>
          </a:xfrm>
          <a:prstGeom prst="roundRect">
            <a:avLst>
              <a:gd name="adj" fmla="val 26667"/>
            </a:avLst>
          </a:prstGeom>
          <a:solidFill>
            <a:srgbClr val="F5F7FB"/>
          </a:solidFill>
          <a:ln w="11430">
            <a:solidFill>
              <a:srgbClr val="5A6478"/>
            </a:solidFill>
            <a:prstDash val="solid"/>
          </a:ln>
        </p:spPr>
        <p:txBody>
          <a:bodyPr/>
          <a:p/>
        </p:txBody>
      </p:sp>
      <p:sp>
        <p:nvSpPr>
          <p:cNvPr id="90" name="Text 88"/>
          <p:cNvSpPr txBox="1"/>
          <p:nvPr/>
        </p:nvSpPr>
        <p:spPr>
          <a:xfrm>
            <a:off x="10524744" y="5120640"/>
            <a:ext cx="548640" cy="274320"/>
          </a:xfrm>
          <a:prstGeom prst="rect">
            <a:avLst/>
          </a:prstGeom>
          <a:noFill/>
          <a:ln/>
        </p:spPr>
        <p:txBody>
          <a:bodyPr wrap="square" lIns="0" tIns="0" rIns="0" bIns="0" rtlCol="0" anchor="ctr"/>
          <a:lstStyle/>
          <a:p>
            <a:pPr marL="0" indent="0" algn="ctr">
              <a:buNone/>
            </a:pPr>
            <a:r>
              <a:rPr lang="en-US" sz="800" b="1" dirty="0">
                <a:solidFill>
                  <a:srgbClr val="1A2233"/>
                </a:solidFill>
                <a:latin typeface="맑은 고딕" pitchFamily="34" charset="0"/>
                <a:ea typeface="맑은 고딕" pitchFamily="34" charset="-122"/>
                <a:cs typeface="맑은 고딕" pitchFamily="34" charset="-120"/>
              </a:rPr>
              <a:t>p동체</a:t>
            </a:r>
            <a:endParaRPr lang="en-US" sz="800" dirty="0"/>
          </a:p>
        </p:txBody>
      </p:sp>
      <p:sp>
        <p:nvSpPr>
          <p:cNvPr id="91" name="Text 89"/>
          <p:cNvSpPr txBox="1"/>
          <p:nvPr/>
        </p:nvSpPr>
        <p:spPr>
          <a:xfrm>
            <a:off x="4462272" y="5614416"/>
            <a:ext cx="6803136" cy="274320"/>
          </a:xfrm>
          <a:prstGeom prst="rect">
            <a:avLst/>
          </a:prstGeom>
          <a:noFill/>
          <a:ln/>
        </p:spPr>
        <p:txBody>
          <a:bodyPr wrap="square" lIns="0" tIns="0" rIns="0" bIns="0" rtlCol="0" anchor="ctr"/>
          <a:lstStyle/>
          <a:p>
            <a:pPr marL="0" indent="0">
              <a:buNone/>
            </a:pPr>
            <a:r>
              <a:rPr lang="en-US" sz="750" dirty="0">
                <a:solidFill>
                  <a:srgbClr val="5A6478"/>
                </a:solidFill>
                <a:latin typeface="맑은 고딕" pitchFamily="34" charset="0"/>
                <a:ea typeface="맑은 고딕" pitchFamily="34" charset="-122"/>
                <a:cs typeface="맑은 고딕" pitchFamily="34" charset="-120"/>
              </a:rPr>
              <a:t>식으로 쓰면   p동체 = Rz(설치방위) · Ry(백틸트) · A · p안테나 + 레버암</a:t>
            </a:r>
            <a:endParaRPr lang="en-US" sz="780" dirty="0"/>
          </a:p>
          <a:p>
            <a:pPr marL="0" indent="0">
              <a:buNone/>
            </a:pPr>
            <a:r>
              <a:rPr lang="en-US" sz="750" dirty="0">
                <a:solidFill>
                  <a:srgbClr val="5A6478"/>
                </a:solidFill>
                <a:latin typeface="맑은 고딕" pitchFamily="34" charset="0"/>
                <a:ea typeface="맑은 고딕" pitchFamily="34" charset="-122"/>
                <a:cs typeface="맑은 고딕" pitchFamily="34" charset="-120"/>
              </a:rPr>
              <a:t>A = Rz(−90°)·Rx(−90°) — 안테나 면 기준 축을 동체 축으로 돌려 놓는 상수 행렬 (참고자료 : CIWS-II 데이터처리를 위한 좌표계 및 좌표변환 §2.2.9)</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01. INS 좌표계</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12</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자세각 = 동체 축이 북 · 동 · 아래에 대해 얼마나 돌아가 있나.  동체 좌표계는 북이 어딘지 모르지만, INS 는 안다.</a:t>
            </a:r>
            <a:endParaRPr lang="en-US" sz="1450" dirty="0"/>
          </a:p>
        </p:txBody>
      </p:sp>
      <p:sp>
        <p:nvSpPr>
          <p:cNvPr id="10" name="Shape 8"/>
          <p:cNvSpPr/>
          <p:nvPr/>
        </p:nvSpPr>
        <p:spPr>
          <a:xfrm rot="720000">
            <a:off x="2244898" y="2969402"/>
            <a:ext cx="1316736" cy="566928"/>
          </a:xfrm>
          <a:prstGeom prst="chord">
            <a:avLst>
              <a:gd name="adj1" fmla="val 0"/>
              <a:gd name="adj2" fmla="val 10800000"/>
            </a:avLst>
          </a:prstGeom>
          <a:solidFill>
            <a:srgbClr val="EEF1F7"/>
          </a:solidFill>
          <a:ln w="12700">
            <a:solidFill>
              <a:srgbClr val="13233F"/>
            </a:solidFill>
            <a:prstDash val="solid"/>
          </a:ln>
        </p:spPr>
        <p:txBody>
          <a:bodyPr/>
          <a:p/>
        </p:txBody>
      </p:sp>
      <p:sp>
        <p:nvSpPr>
          <p:cNvPr id="11" name="Shape 9"/>
          <p:cNvSpPr/>
          <p:nvPr/>
        </p:nvSpPr>
        <p:spPr>
          <a:xfrm rot="720000">
            <a:off x="2495496" y="2910589"/>
            <a:ext cx="914400" cy="219456"/>
          </a:xfrm>
          <a:prstGeom prst="rect">
            <a:avLst/>
          </a:prstGeom>
          <a:solidFill>
            <a:srgbClr val="EEF1F7"/>
          </a:solidFill>
          <a:ln w="12700">
            <a:solidFill>
              <a:srgbClr val="13233F"/>
            </a:solidFill>
            <a:prstDash val="solid"/>
          </a:ln>
        </p:spPr>
        <p:txBody>
          <a:bodyPr/>
          <a:p/>
        </p:txBody>
      </p:sp>
      <p:sp>
        <p:nvSpPr>
          <p:cNvPr id="12" name="Shape 10"/>
          <p:cNvSpPr/>
          <p:nvPr/>
        </p:nvSpPr>
        <p:spPr>
          <a:xfrm rot="720000">
            <a:off x="2696571" y="2695929"/>
            <a:ext cx="603504" cy="219456"/>
          </a:xfrm>
          <a:prstGeom prst="rect">
            <a:avLst/>
          </a:prstGeom>
          <a:solidFill>
            <a:srgbClr val="EEF1F7"/>
          </a:solidFill>
          <a:ln w="12700">
            <a:solidFill>
              <a:srgbClr val="13233F"/>
            </a:solidFill>
            <a:prstDash val="solid"/>
          </a:ln>
        </p:spPr>
        <p:txBody>
          <a:bodyPr/>
          <a:p/>
        </p:txBody>
      </p:sp>
      <p:sp>
        <p:nvSpPr>
          <p:cNvPr id="13" name="Shape 11"/>
          <p:cNvSpPr/>
          <p:nvPr/>
        </p:nvSpPr>
        <p:spPr>
          <a:xfrm rot="720000">
            <a:off x="3011947" y="2472125"/>
            <a:ext cx="64008" cy="237744"/>
          </a:xfrm>
          <a:prstGeom prst="rect">
            <a:avLst/>
          </a:prstGeom>
          <a:solidFill>
            <a:srgbClr val="B9C0CC"/>
          </a:solidFill>
          <a:ln w="12700">
            <a:solidFill>
              <a:srgbClr val="13233F"/>
            </a:solidFill>
            <a:prstDash val="solid"/>
          </a:ln>
        </p:spPr>
        <p:txBody>
          <a:bodyPr/>
          <a:p/>
        </p:txBody>
      </p:sp>
      <p:sp>
        <p:nvSpPr>
          <p:cNvPr id="14" name="Shape 12"/>
          <p:cNvSpPr/>
          <p:nvPr/>
        </p:nvSpPr>
        <p:spPr>
          <a:xfrm>
            <a:off x="1847088" y="3200400"/>
            <a:ext cx="2157984" cy="0"/>
          </a:xfrm>
          <a:prstGeom prst="line">
            <a:avLst/>
          </a:prstGeom>
          <a:noFill/>
          <a:ln w="11430">
            <a:solidFill>
              <a:srgbClr val="C9D6EC"/>
            </a:solidFill>
            <a:prstDash val="sysDot"/>
            <a:headEnd type="none"/>
            <a:tailEnd type="none"/>
          </a:ln>
        </p:spPr>
        <p:txBody>
          <a:bodyPr/>
          <a:p/>
        </p:txBody>
      </p:sp>
      <p:sp>
        <p:nvSpPr>
          <p:cNvPr id="15" name="Shape 13"/>
          <p:cNvSpPr/>
          <p:nvPr/>
        </p:nvSpPr>
        <p:spPr>
          <a:xfrm rot="1512067">
            <a:off x="1757584" y="2999232"/>
            <a:ext cx="343600" cy="0"/>
          </a:xfrm>
          <a:prstGeom prst="line">
            <a:avLst/>
          </a:prstGeom>
          <a:noFill/>
          <a:ln w="13970">
            <a:solidFill>
              <a:srgbClr val="13233F"/>
            </a:solidFill>
            <a:prstDash val="solid"/>
            <a:headEnd type="none"/>
            <a:tailEnd type="triangle"/>
          </a:ln>
        </p:spPr>
        <p:txBody>
          <a:bodyPr/>
          <a:p/>
        </p:txBody>
      </p:sp>
      <p:sp>
        <p:nvSpPr>
          <p:cNvPr id="16" name="Shape 14"/>
          <p:cNvSpPr/>
          <p:nvPr/>
        </p:nvSpPr>
        <p:spPr>
          <a:xfrm rot="1512067">
            <a:off x="3750976" y="3383280"/>
            <a:ext cx="343600" cy="0"/>
          </a:xfrm>
          <a:prstGeom prst="line">
            <a:avLst/>
          </a:prstGeom>
          <a:noFill/>
          <a:ln w="13970">
            <a:solidFill>
              <a:srgbClr val="13233F"/>
            </a:solidFill>
            <a:prstDash val="solid"/>
            <a:headEnd type="none"/>
            <a:tailEnd type="triangle"/>
          </a:ln>
        </p:spPr>
        <p:txBody>
          <a:bodyPr/>
          <a:p/>
        </p:txBody>
      </p:sp>
      <p:sp>
        <p:nvSpPr>
          <p:cNvPr id="17" name="Shape 15"/>
          <p:cNvSpPr/>
          <p:nvPr/>
        </p:nvSpPr>
        <p:spPr>
          <a:xfrm rot="840000">
            <a:off x="5135095" y="3060524"/>
            <a:ext cx="1975104" cy="310896"/>
          </a:xfrm>
          <a:prstGeom prst="trapezoid">
            <a:avLst/>
          </a:prstGeom>
          <a:solidFill>
            <a:srgbClr val="EEF1F7"/>
          </a:solidFill>
          <a:ln w="12700">
            <a:solidFill>
              <a:srgbClr val="13233F"/>
            </a:solidFill>
            <a:prstDash val="solid"/>
          </a:ln>
        </p:spPr>
        <p:txBody>
          <a:bodyPr/>
          <a:p/>
        </p:txBody>
      </p:sp>
      <p:sp>
        <p:nvSpPr>
          <p:cNvPr id="18" name="Shape 16"/>
          <p:cNvSpPr/>
          <p:nvPr/>
        </p:nvSpPr>
        <p:spPr>
          <a:xfrm rot="840000">
            <a:off x="5553620" y="2924715"/>
            <a:ext cx="969264" cy="201168"/>
          </a:xfrm>
          <a:prstGeom prst="rect">
            <a:avLst/>
          </a:prstGeom>
          <a:solidFill>
            <a:srgbClr val="EEF1F7"/>
          </a:solidFill>
          <a:ln w="12700">
            <a:solidFill>
              <a:srgbClr val="13233F"/>
            </a:solidFill>
            <a:prstDash val="solid"/>
          </a:ln>
        </p:spPr>
        <p:txBody>
          <a:bodyPr/>
          <a:p/>
        </p:txBody>
      </p:sp>
      <p:sp>
        <p:nvSpPr>
          <p:cNvPr id="19" name="Shape 17"/>
          <p:cNvSpPr/>
          <p:nvPr/>
        </p:nvSpPr>
        <p:spPr>
          <a:xfrm rot="840000">
            <a:off x="5682875" y="2725146"/>
            <a:ext cx="621792" cy="201168"/>
          </a:xfrm>
          <a:prstGeom prst="rect">
            <a:avLst/>
          </a:prstGeom>
          <a:solidFill>
            <a:srgbClr val="EEF1F7"/>
          </a:solidFill>
          <a:ln w="12700">
            <a:solidFill>
              <a:srgbClr val="13233F"/>
            </a:solidFill>
            <a:prstDash val="solid"/>
          </a:ln>
        </p:spPr>
        <p:txBody>
          <a:bodyPr/>
          <a:p/>
        </p:txBody>
      </p:sp>
      <p:sp>
        <p:nvSpPr>
          <p:cNvPr id="20" name="Shape 18"/>
          <p:cNvSpPr/>
          <p:nvPr/>
        </p:nvSpPr>
        <p:spPr>
          <a:xfrm rot="840000">
            <a:off x="5939602" y="2520857"/>
            <a:ext cx="54864" cy="219456"/>
          </a:xfrm>
          <a:prstGeom prst="rect">
            <a:avLst/>
          </a:prstGeom>
          <a:solidFill>
            <a:srgbClr val="B9C0CC"/>
          </a:solidFill>
          <a:ln w="12700">
            <a:solidFill>
              <a:srgbClr val="13233F"/>
            </a:solidFill>
            <a:prstDash val="solid"/>
          </a:ln>
        </p:spPr>
        <p:txBody>
          <a:bodyPr/>
          <a:p/>
        </p:txBody>
      </p:sp>
      <p:sp>
        <p:nvSpPr>
          <p:cNvPr id="21" name="Shape 19"/>
          <p:cNvSpPr/>
          <p:nvPr/>
        </p:nvSpPr>
        <p:spPr>
          <a:xfrm>
            <a:off x="4937760" y="3218688"/>
            <a:ext cx="2432304" cy="0"/>
          </a:xfrm>
          <a:prstGeom prst="line">
            <a:avLst/>
          </a:prstGeom>
          <a:noFill/>
          <a:ln w="11430">
            <a:solidFill>
              <a:srgbClr val="C9D6EC"/>
            </a:solidFill>
            <a:prstDash val="sysDot"/>
            <a:headEnd type="none"/>
            <a:tailEnd type="none"/>
          </a:ln>
        </p:spPr>
        <p:txBody>
          <a:bodyPr/>
          <a:p/>
        </p:txBody>
      </p:sp>
      <p:sp>
        <p:nvSpPr>
          <p:cNvPr id="22" name="Shape 20"/>
          <p:cNvSpPr/>
          <p:nvPr/>
        </p:nvSpPr>
        <p:spPr>
          <a:xfrm rot="7753846">
            <a:off x="6879514" y="3543602"/>
            <a:ext cx="155155" cy="0"/>
          </a:xfrm>
          <a:prstGeom prst="line">
            <a:avLst/>
          </a:prstGeom>
          <a:noFill/>
          <a:ln w="12700">
            <a:solidFill>
              <a:srgbClr val="13233F"/>
            </a:solidFill>
            <a:prstDash val="solid"/>
            <a:headEnd type="none"/>
            <a:tailEnd type="none"/>
          </a:ln>
        </p:spPr>
        <p:txBody>
          <a:bodyPr/>
          <a:p/>
        </p:txBody>
      </p:sp>
      <p:sp>
        <p:nvSpPr>
          <p:cNvPr id="23" name="Shape 21"/>
          <p:cNvSpPr/>
          <p:nvPr/>
        </p:nvSpPr>
        <p:spPr>
          <a:xfrm rot="8261538">
            <a:off x="6773079" y="3655912"/>
            <a:ext cx="155155" cy="0"/>
          </a:xfrm>
          <a:prstGeom prst="line">
            <a:avLst/>
          </a:prstGeom>
          <a:noFill/>
          <a:ln w="12700">
            <a:solidFill>
              <a:srgbClr val="13233F"/>
            </a:solidFill>
            <a:prstDash val="solid"/>
            <a:headEnd type="none"/>
            <a:tailEnd type="none"/>
          </a:ln>
        </p:spPr>
        <p:txBody>
          <a:bodyPr/>
          <a:p/>
        </p:txBody>
      </p:sp>
      <p:sp>
        <p:nvSpPr>
          <p:cNvPr id="24" name="Shape 22"/>
          <p:cNvSpPr/>
          <p:nvPr/>
        </p:nvSpPr>
        <p:spPr>
          <a:xfrm rot="8769231">
            <a:off x="6651276" y="3751339"/>
            <a:ext cx="155155" cy="0"/>
          </a:xfrm>
          <a:prstGeom prst="line">
            <a:avLst/>
          </a:prstGeom>
          <a:noFill/>
          <a:ln w="12700">
            <a:solidFill>
              <a:srgbClr val="13233F"/>
            </a:solidFill>
            <a:prstDash val="solid"/>
            <a:headEnd type="none"/>
            <a:tailEnd type="none"/>
          </a:ln>
        </p:spPr>
        <p:txBody>
          <a:bodyPr/>
          <a:p/>
        </p:txBody>
      </p:sp>
      <p:sp>
        <p:nvSpPr>
          <p:cNvPr id="25" name="Shape 23"/>
          <p:cNvSpPr/>
          <p:nvPr/>
        </p:nvSpPr>
        <p:spPr>
          <a:xfrm rot="9276923">
            <a:off x="6516758" y="3827804"/>
            <a:ext cx="155155" cy="0"/>
          </a:xfrm>
          <a:prstGeom prst="line">
            <a:avLst/>
          </a:prstGeom>
          <a:noFill/>
          <a:ln w="12700">
            <a:solidFill>
              <a:srgbClr val="13233F"/>
            </a:solidFill>
            <a:prstDash val="solid"/>
            <a:headEnd type="none"/>
            <a:tailEnd type="none"/>
          </a:ln>
        </p:spPr>
        <p:txBody>
          <a:bodyPr/>
          <a:p/>
        </p:txBody>
      </p:sp>
      <p:sp>
        <p:nvSpPr>
          <p:cNvPr id="26" name="Shape 24"/>
          <p:cNvSpPr/>
          <p:nvPr/>
        </p:nvSpPr>
        <p:spPr>
          <a:xfrm rot="9784615">
            <a:off x="6372452" y="3883642"/>
            <a:ext cx="155155" cy="0"/>
          </a:xfrm>
          <a:prstGeom prst="line">
            <a:avLst/>
          </a:prstGeom>
          <a:noFill/>
          <a:ln w="12700">
            <a:solidFill>
              <a:srgbClr val="13233F"/>
            </a:solidFill>
            <a:prstDash val="solid"/>
            <a:headEnd type="none"/>
            <a:tailEnd type="none"/>
          </a:ln>
        </p:spPr>
        <p:txBody>
          <a:bodyPr/>
          <a:p/>
        </p:txBody>
      </p:sp>
      <p:sp>
        <p:nvSpPr>
          <p:cNvPr id="27" name="Shape 25"/>
          <p:cNvSpPr/>
          <p:nvPr/>
        </p:nvSpPr>
        <p:spPr>
          <a:xfrm rot="10292308">
            <a:off x="6221501" y="3917639"/>
            <a:ext cx="155155" cy="0"/>
          </a:xfrm>
          <a:prstGeom prst="line">
            <a:avLst/>
          </a:prstGeom>
          <a:noFill/>
          <a:ln w="12700">
            <a:solidFill>
              <a:srgbClr val="13233F"/>
            </a:solidFill>
            <a:prstDash val="solid"/>
            <a:headEnd type="none"/>
            <a:tailEnd type="none"/>
          </a:ln>
        </p:spPr>
        <p:txBody>
          <a:bodyPr/>
          <a:p/>
        </p:txBody>
      </p:sp>
      <p:sp>
        <p:nvSpPr>
          <p:cNvPr id="28" name="Shape 26"/>
          <p:cNvSpPr/>
          <p:nvPr/>
        </p:nvSpPr>
        <p:spPr>
          <a:xfrm rot="10800000">
            <a:off x="6067190" y="3929055"/>
            <a:ext cx="155155" cy="0"/>
          </a:xfrm>
          <a:prstGeom prst="line">
            <a:avLst/>
          </a:prstGeom>
          <a:noFill/>
          <a:ln w="12700">
            <a:solidFill>
              <a:srgbClr val="13233F"/>
            </a:solidFill>
            <a:prstDash val="solid"/>
            <a:headEnd type="none"/>
            <a:tailEnd type="none"/>
          </a:ln>
        </p:spPr>
        <p:txBody>
          <a:bodyPr/>
          <a:p/>
        </p:txBody>
      </p:sp>
      <p:sp>
        <p:nvSpPr>
          <p:cNvPr id="29" name="Shape 27"/>
          <p:cNvSpPr/>
          <p:nvPr/>
        </p:nvSpPr>
        <p:spPr>
          <a:xfrm rot="-10292308">
            <a:off x="5912880" y="3917639"/>
            <a:ext cx="155155" cy="0"/>
          </a:xfrm>
          <a:prstGeom prst="line">
            <a:avLst/>
          </a:prstGeom>
          <a:noFill/>
          <a:ln w="12700">
            <a:solidFill>
              <a:srgbClr val="13233F"/>
            </a:solidFill>
            <a:prstDash val="solid"/>
            <a:headEnd type="none"/>
            <a:tailEnd type="none"/>
          </a:ln>
        </p:spPr>
        <p:txBody>
          <a:bodyPr/>
          <a:p/>
        </p:txBody>
      </p:sp>
      <p:sp>
        <p:nvSpPr>
          <p:cNvPr id="30" name="Shape 28"/>
          <p:cNvSpPr/>
          <p:nvPr/>
        </p:nvSpPr>
        <p:spPr>
          <a:xfrm rot="-9784615">
            <a:off x="5761929" y="3883642"/>
            <a:ext cx="155155" cy="0"/>
          </a:xfrm>
          <a:prstGeom prst="line">
            <a:avLst/>
          </a:prstGeom>
          <a:noFill/>
          <a:ln w="12700">
            <a:solidFill>
              <a:srgbClr val="13233F"/>
            </a:solidFill>
            <a:prstDash val="solid"/>
            <a:headEnd type="none"/>
            <a:tailEnd type="none"/>
          </a:ln>
        </p:spPr>
        <p:txBody>
          <a:bodyPr/>
          <a:p/>
        </p:txBody>
      </p:sp>
      <p:sp>
        <p:nvSpPr>
          <p:cNvPr id="31" name="Shape 29"/>
          <p:cNvSpPr/>
          <p:nvPr/>
        </p:nvSpPr>
        <p:spPr>
          <a:xfrm rot="-9276923">
            <a:off x="5617623" y="3827804"/>
            <a:ext cx="155155" cy="0"/>
          </a:xfrm>
          <a:prstGeom prst="line">
            <a:avLst/>
          </a:prstGeom>
          <a:noFill/>
          <a:ln w="12700">
            <a:solidFill>
              <a:srgbClr val="13233F"/>
            </a:solidFill>
            <a:prstDash val="solid"/>
            <a:headEnd type="none"/>
            <a:tailEnd type="none"/>
          </a:ln>
        </p:spPr>
        <p:txBody>
          <a:bodyPr/>
          <a:p/>
        </p:txBody>
      </p:sp>
      <p:sp>
        <p:nvSpPr>
          <p:cNvPr id="32" name="Shape 30"/>
          <p:cNvSpPr/>
          <p:nvPr/>
        </p:nvSpPr>
        <p:spPr>
          <a:xfrm rot="-8769231">
            <a:off x="5483105" y="3751339"/>
            <a:ext cx="155155" cy="0"/>
          </a:xfrm>
          <a:prstGeom prst="line">
            <a:avLst/>
          </a:prstGeom>
          <a:noFill/>
          <a:ln w="12700">
            <a:solidFill>
              <a:srgbClr val="13233F"/>
            </a:solidFill>
            <a:prstDash val="solid"/>
            <a:headEnd type="none"/>
            <a:tailEnd type="none"/>
          </a:ln>
        </p:spPr>
        <p:txBody>
          <a:bodyPr/>
          <a:p/>
        </p:txBody>
      </p:sp>
      <p:sp>
        <p:nvSpPr>
          <p:cNvPr id="33" name="Shape 31"/>
          <p:cNvSpPr/>
          <p:nvPr/>
        </p:nvSpPr>
        <p:spPr>
          <a:xfrm rot="-8261538">
            <a:off x="5361302" y="3655912"/>
            <a:ext cx="155155" cy="0"/>
          </a:xfrm>
          <a:prstGeom prst="line">
            <a:avLst/>
          </a:prstGeom>
          <a:noFill/>
          <a:ln w="12700">
            <a:solidFill>
              <a:srgbClr val="13233F"/>
            </a:solidFill>
            <a:prstDash val="solid"/>
            <a:headEnd type="none"/>
            <a:tailEnd type="none"/>
          </a:ln>
        </p:spPr>
        <p:txBody>
          <a:bodyPr/>
          <a:p/>
        </p:txBody>
      </p:sp>
      <p:sp>
        <p:nvSpPr>
          <p:cNvPr id="34" name="Shape 32"/>
          <p:cNvSpPr/>
          <p:nvPr/>
        </p:nvSpPr>
        <p:spPr>
          <a:xfrm rot="-7753846">
            <a:off x="5254866" y="3543602"/>
            <a:ext cx="155155" cy="0"/>
          </a:xfrm>
          <a:prstGeom prst="line">
            <a:avLst/>
          </a:prstGeom>
          <a:noFill/>
          <a:ln w="12700">
            <a:solidFill>
              <a:srgbClr val="13233F"/>
            </a:solidFill>
            <a:prstDash val="solid"/>
            <a:headEnd type="none"/>
            <a:tailEnd type="triangle"/>
          </a:ln>
        </p:spPr>
        <p:txBody>
          <a:bodyPr/>
          <a:p/>
        </p:txBody>
      </p:sp>
      <p:sp>
        <p:nvSpPr>
          <p:cNvPr id="35" name="Shape 33"/>
          <p:cNvSpPr/>
          <p:nvPr/>
        </p:nvSpPr>
        <p:spPr>
          <a:xfrm rot="-5400000">
            <a:off x="8732520" y="2404872"/>
            <a:ext cx="859536" cy="0"/>
          </a:xfrm>
          <a:prstGeom prst="line">
            <a:avLst/>
          </a:prstGeom>
          <a:noFill/>
          <a:ln w="15240">
            <a:solidFill>
              <a:srgbClr val="13233F"/>
            </a:solidFill>
            <a:prstDash val="solid"/>
            <a:headEnd type="none"/>
            <a:tailEnd type="triangle"/>
          </a:ln>
        </p:spPr>
        <p:txBody>
          <a:bodyPr/>
          <a:p/>
        </p:txBody>
      </p:sp>
      <p:sp>
        <p:nvSpPr>
          <p:cNvPr id="36" name="Text 34"/>
          <p:cNvSpPr txBox="1"/>
          <p:nvPr/>
        </p:nvSpPr>
        <p:spPr>
          <a:xfrm>
            <a:off x="8814816" y="1792224"/>
            <a:ext cx="731520" cy="201168"/>
          </a:xfrm>
          <a:prstGeom prst="rect">
            <a:avLst/>
          </a:prstGeom>
          <a:noFill/>
          <a:ln/>
        </p:spPr>
        <p:txBody>
          <a:bodyPr wrap="square" lIns="0" tIns="0" rIns="0" bIns="0" rtlCol="0" anchor="ctr"/>
          <a:lstStyle/>
          <a:p>
            <a:pPr marL="0" indent="0" algn="ctr">
              <a:buNone/>
            </a:pPr>
            <a:r>
              <a:rPr lang="en-US" sz="1000" dirty="0">
                <a:solidFill>
                  <a:srgbClr val="1A2233"/>
                </a:solidFill>
                <a:latin typeface="맑은 고딕" pitchFamily="34" charset="0"/>
                <a:ea typeface="맑은 고딕" pitchFamily="34" charset="-122"/>
                <a:cs typeface="맑은 고딕" pitchFamily="34" charset="-120"/>
              </a:rPr>
              <a:t>N 북</a:t>
            </a:r>
            <a:endParaRPr lang="en-US" sz="1000" dirty="0"/>
          </a:p>
        </p:txBody>
      </p:sp>
      <p:sp>
        <p:nvSpPr>
          <p:cNvPr id="37" name="Shape 35"/>
          <p:cNvSpPr/>
          <p:nvPr/>
        </p:nvSpPr>
        <p:spPr>
          <a:xfrm>
            <a:off x="9162288" y="2834640"/>
            <a:ext cx="969264" cy="0"/>
          </a:xfrm>
          <a:prstGeom prst="line">
            <a:avLst/>
          </a:prstGeom>
          <a:noFill/>
          <a:ln w="15240">
            <a:solidFill>
              <a:srgbClr val="13233F"/>
            </a:solidFill>
            <a:prstDash val="solid"/>
            <a:headEnd type="none"/>
            <a:tailEnd type="triangle"/>
          </a:ln>
        </p:spPr>
        <p:txBody>
          <a:bodyPr/>
          <a:p/>
        </p:txBody>
      </p:sp>
      <p:sp>
        <p:nvSpPr>
          <p:cNvPr id="38" name="Text 36"/>
          <p:cNvSpPr txBox="1"/>
          <p:nvPr/>
        </p:nvSpPr>
        <p:spPr>
          <a:xfrm>
            <a:off x="10186416" y="2816352"/>
            <a:ext cx="64008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E 동</a:t>
            </a:r>
            <a:endParaRPr lang="en-US" sz="1000" dirty="0"/>
          </a:p>
        </p:txBody>
      </p:sp>
      <p:sp>
        <p:nvSpPr>
          <p:cNvPr id="39" name="Shape 37"/>
          <p:cNvSpPr/>
          <p:nvPr/>
        </p:nvSpPr>
        <p:spPr>
          <a:xfrm rot="-2700000">
            <a:off x="9022148" y="2496312"/>
            <a:ext cx="956936" cy="0"/>
          </a:xfrm>
          <a:prstGeom prst="line">
            <a:avLst/>
          </a:prstGeom>
          <a:noFill/>
          <a:ln w="16510">
            <a:solidFill>
              <a:srgbClr val="13233F"/>
            </a:solidFill>
            <a:prstDash val="solid"/>
            <a:headEnd type="none"/>
            <a:tailEnd type="triangle"/>
          </a:ln>
        </p:spPr>
        <p:txBody>
          <a:bodyPr/>
          <a:p/>
        </p:txBody>
      </p:sp>
      <p:sp>
        <p:nvSpPr>
          <p:cNvPr id="40" name="Text 38"/>
          <p:cNvSpPr txBox="1"/>
          <p:nvPr/>
        </p:nvSpPr>
        <p:spPr>
          <a:xfrm>
            <a:off x="9875520" y="2048256"/>
            <a:ext cx="91440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x_b 선수</a:t>
            </a:r>
            <a:endParaRPr lang="en-US" sz="1000" dirty="0"/>
          </a:p>
        </p:txBody>
      </p:sp>
      <p:sp>
        <p:nvSpPr>
          <p:cNvPr id="41" name="Shape 39"/>
          <p:cNvSpPr/>
          <p:nvPr/>
        </p:nvSpPr>
        <p:spPr>
          <a:xfrm rot="2700000">
            <a:off x="9044873" y="3118104"/>
            <a:ext cx="801757" cy="0"/>
          </a:xfrm>
          <a:prstGeom prst="line">
            <a:avLst/>
          </a:prstGeom>
          <a:noFill/>
          <a:ln w="16510">
            <a:solidFill>
              <a:srgbClr val="13233F"/>
            </a:solidFill>
            <a:prstDash val="solid"/>
            <a:headEnd type="none"/>
            <a:tailEnd type="triangle"/>
          </a:ln>
        </p:spPr>
        <p:txBody>
          <a:bodyPr/>
          <a:p/>
        </p:txBody>
      </p:sp>
      <p:sp>
        <p:nvSpPr>
          <p:cNvPr id="42" name="Text 40"/>
          <p:cNvSpPr txBox="1"/>
          <p:nvPr/>
        </p:nvSpPr>
        <p:spPr>
          <a:xfrm>
            <a:off x="9765792" y="3364992"/>
            <a:ext cx="91440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y_b 우현</a:t>
            </a:r>
            <a:endParaRPr lang="en-US" sz="1000" dirty="0"/>
          </a:p>
        </p:txBody>
      </p:sp>
      <p:sp>
        <p:nvSpPr>
          <p:cNvPr id="43" name="Shape 41"/>
          <p:cNvSpPr/>
          <p:nvPr/>
        </p:nvSpPr>
        <p:spPr>
          <a:xfrm rot="270000">
            <a:off x="9162129" y="2180325"/>
            <a:ext cx="103310" cy="0"/>
          </a:xfrm>
          <a:prstGeom prst="line">
            <a:avLst/>
          </a:prstGeom>
          <a:noFill/>
          <a:ln w="12700">
            <a:solidFill>
              <a:srgbClr val="13233F"/>
            </a:solidFill>
            <a:prstDash val="solid"/>
            <a:headEnd type="none"/>
            <a:tailEnd type="none"/>
          </a:ln>
        </p:spPr>
        <p:txBody>
          <a:bodyPr/>
          <a:p/>
        </p:txBody>
      </p:sp>
      <p:sp>
        <p:nvSpPr>
          <p:cNvPr id="44" name="Shape 42"/>
          <p:cNvSpPr/>
          <p:nvPr/>
        </p:nvSpPr>
        <p:spPr>
          <a:xfrm rot="810000">
            <a:off x="9263852" y="2196436"/>
            <a:ext cx="103310" cy="0"/>
          </a:xfrm>
          <a:prstGeom prst="line">
            <a:avLst/>
          </a:prstGeom>
          <a:noFill/>
          <a:ln w="12700">
            <a:solidFill>
              <a:srgbClr val="13233F"/>
            </a:solidFill>
            <a:prstDash val="solid"/>
            <a:headEnd type="none"/>
            <a:tailEnd type="none"/>
          </a:ln>
        </p:spPr>
        <p:txBody>
          <a:bodyPr/>
          <a:p/>
        </p:txBody>
      </p:sp>
      <p:sp>
        <p:nvSpPr>
          <p:cNvPr id="45" name="Shape 43"/>
          <p:cNvSpPr/>
          <p:nvPr/>
        </p:nvSpPr>
        <p:spPr>
          <a:xfrm rot="1350000">
            <a:off x="9361803" y="2228262"/>
            <a:ext cx="103310" cy="0"/>
          </a:xfrm>
          <a:prstGeom prst="line">
            <a:avLst/>
          </a:prstGeom>
          <a:noFill/>
          <a:ln w="12700">
            <a:solidFill>
              <a:srgbClr val="13233F"/>
            </a:solidFill>
            <a:prstDash val="solid"/>
            <a:headEnd type="none"/>
            <a:tailEnd type="none"/>
          </a:ln>
        </p:spPr>
        <p:txBody>
          <a:bodyPr/>
          <a:p/>
        </p:txBody>
      </p:sp>
      <p:sp>
        <p:nvSpPr>
          <p:cNvPr id="46" name="Shape 44"/>
          <p:cNvSpPr/>
          <p:nvPr/>
        </p:nvSpPr>
        <p:spPr>
          <a:xfrm rot="1890000">
            <a:off x="9453569" y="2275019"/>
            <a:ext cx="103310" cy="0"/>
          </a:xfrm>
          <a:prstGeom prst="line">
            <a:avLst/>
          </a:prstGeom>
          <a:noFill/>
          <a:ln w="12700">
            <a:solidFill>
              <a:srgbClr val="13233F"/>
            </a:solidFill>
            <a:prstDash val="solid"/>
            <a:headEnd type="none"/>
            <a:tailEnd type="none"/>
          </a:ln>
        </p:spPr>
        <p:txBody>
          <a:bodyPr/>
          <a:p/>
        </p:txBody>
      </p:sp>
      <p:sp>
        <p:nvSpPr>
          <p:cNvPr id="47" name="Shape 45"/>
          <p:cNvSpPr/>
          <p:nvPr/>
        </p:nvSpPr>
        <p:spPr>
          <a:xfrm rot="2430000">
            <a:off x="9536891" y="2335556"/>
            <a:ext cx="103310" cy="0"/>
          </a:xfrm>
          <a:prstGeom prst="line">
            <a:avLst/>
          </a:prstGeom>
          <a:noFill/>
          <a:ln w="12700">
            <a:solidFill>
              <a:srgbClr val="13233F"/>
            </a:solidFill>
            <a:prstDash val="solid"/>
            <a:headEnd type="none"/>
            <a:tailEnd type="none"/>
          </a:ln>
        </p:spPr>
        <p:txBody>
          <a:bodyPr/>
          <a:p/>
        </p:txBody>
      </p:sp>
      <p:sp>
        <p:nvSpPr>
          <p:cNvPr id="48" name="Text 46"/>
          <p:cNvSpPr txBox="1"/>
          <p:nvPr/>
        </p:nvSpPr>
        <p:spPr>
          <a:xfrm>
            <a:off x="9217152" y="2231136"/>
            <a:ext cx="36576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45°</a:t>
            </a:r>
            <a:endParaRPr lang="en-US" sz="900" dirty="0"/>
          </a:p>
        </p:txBody>
      </p:sp>
      <p:sp>
        <p:nvSpPr>
          <p:cNvPr id="49" name="Shape 47"/>
          <p:cNvSpPr/>
          <p:nvPr/>
        </p:nvSpPr>
        <p:spPr>
          <a:xfrm rot="-2700000">
            <a:off x="9180576" y="2414016"/>
            <a:ext cx="841248" cy="274320"/>
          </a:xfrm>
          <a:prstGeom prst="hexagon">
            <a:avLst/>
          </a:prstGeom>
          <a:solidFill>
            <a:srgbClr val="EEF1F7"/>
          </a:solidFill>
          <a:ln w="12700">
            <a:solidFill>
              <a:srgbClr val="13233F"/>
            </a:solidFill>
            <a:prstDash val="solid"/>
          </a:ln>
        </p:spPr>
        <p:txBody>
          <a:bodyPr/>
          <a:p/>
        </p:txBody>
      </p:sp>
      <p:sp>
        <p:nvSpPr>
          <p:cNvPr id="50" name="Text 48"/>
          <p:cNvSpPr txBox="1"/>
          <p:nvPr/>
        </p:nvSpPr>
        <p:spPr>
          <a:xfrm>
            <a:off x="7461504" y="2889504"/>
            <a:ext cx="1371600" cy="384048"/>
          </a:xfrm>
          <a:prstGeom prst="rect">
            <a:avLst/>
          </a:prstGeom>
          <a:noFill/>
          <a:ln/>
        </p:spPr>
        <p:txBody>
          <a:bodyPr wrap="square" lIns="0" tIns="0" rIns="0" bIns="0" rtlCol="0" anchor="t"/>
          <a:lstStyle/>
          <a:p>
            <a:pPr marL="0" indent="0" algn="r">
              <a:lnSpc>
                <a:spcPct val="105000"/>
              </a:lnSpc>
              <a:spcAft>
                <a:spcPts val="200"/>
              </a:spcAft>
              <a:buNone/>
            </a:pPr>
            <a:r>
              <a:rPr lang="en-US" sz="850" dirty="0">
                <a:solidFill>
                  <a:srgbClr val="1A2233"/>
                </a:solidFill>
                <a:latin typeface="맑은 고딕" pitchFamily="34" charset="0"/>
                <a:ea typeface="맑은 고딕" pitchFamily="34" charset="-122"/>
                <a:cs typeface="맑은 고딕" pitchFamily="34" charset="-120"/>
              </a:rPr>
              <a:t>북은 선수에서</a:t>
            </a:r>
            <a:endParaRPr lang="en-US" sz="850" dirty="0"/>
          </a:p>
          <a:p>
            <a:pPr marL="0" indent="0" algn="r">
              <a:lnSpc>
                <a:spcPct val="105000"/>
              </a:lnSpc>
              <a:buNone/>
            </a:pPr>
            <a:r>
              <a:rPr lang="en-US" sz="850" dirty="0">
                <a:solidFill>
                  <a:srgbClr val="1A2233"/>
                </a:solidFill>
                <a:latin typeface="맑은 고딕" pitchFamily="34" charset="0"/>
                <a:ea typeface="맑은 고딕" pitchFamily="34" charset="-122"/>
                <a:cs typeface="맑은 고딕" pitchFamily="34" charset="-120"/>
              </a:rPr>
              <a:t>왼쪽으로 45°</a:t>
            </a:r>
            <a:endParaRPr lang="en-US" sz="850" dirty="0"/>
          </a:p>
        </p:txBody>
      </p:sp>
      <p:sp>
        <p:nvSpPr>
          <p:cNvPr id="51" name="Text 49"/>
          <p:cNvSpPr txBox="1"/>
          <p:nvPr/>
        </p:nvSpPr>
        <p:spPr>
          <a:xfrm>
            <a:off x="1005840" y="3822192"/>
            <a:ext cx="3840480" cy="201168"/>
          </a:xfrm>
          <a:prstGeom prst="rect">
            <a:avLst/>
          </a:prstGeom>
          <a:noFill/>
          <a:ln/>
        </p:spPr>
        <p:txBody>
          <a:bodyPr wrap="square" lIns="0" tIns="0" rIns="0" bIns="0" rtlCol="0" anchor="ctr"/>
          <a:lstStyle/>
          <a:p>
            <a:pPr marL="0" indent="0" algn="ctr">
              <a:buNone/>
            </a:pPr>
            <a:r>
              <a:rPr lang="en-US" sz="1300" b="1" dirty="0">
                <a:solidFill>
                  <a:srgbClr val="1A2233"/>
                </a:solidFill>
                <a:latin typeface="맑은 고딕" pitchFamily="34" charset="0"/>
                <a:ea typeface="맑은 고딕" pitchFamily="34" charset="-122"/>
                <a:cs typeface="맑은 고딕" pitchFamily="34" charset="-120"/>
              </a:rPr>
              <a:t>roll  (횡동요)</a:t>
            </a:r>
            <a:endParaRPr lang="en-US" sz="1300" dirty="0"/>
          </a:p>
        </p:txBody>
      </p:sp>
      <p:sp>
        <p:nvSpPr>
          <p:cNvPr id="52" name="Text 50"/>
          <p:cNvSpPr txBox="1"/>
          <p:nvPr/>
        </p:nvSpPr>
        <p:spPr>
          <a:xfrm>
            <a:off x="1005840" y="4059936"/>
            <a:ext cx="3840480" cy="201168"/>
          </a:xfrm>
          <a:prstGeom prst="rect">
            <a:avLst/>
          </a:prstGeom>
          <a:noFill/>
          <a:ln/>
        </p:spPr>
        <p:txBody>
          <a:bodyPr wrap="square" lIns="0" tIns="0" rIns="0" bIns="0" rtlCol="0" anchor="ctr"/>
          <a:lstStyle/>
          <a:p>
            <a:pPr marL="0" indent="0" algn="ctr">
              <a:buNone/>
            </a:pPr>
            <a:r>
              <a:rPr lang="en-US" sz="850" dirty="0">
                <a:solidFill>
                  <a:srgbClr val="5A6478"/>
                </a:solidFill>
                <a:latin typeface="맑은 고딕" pitchFamily="34" charset="0"/>
                <a:ea typeface="맑은 고딕" pitchFamily="34" charset="-122"/>
                <a:cs typeface="맑은 고딕" pitchFamily="34" charset="-120"/>
              </a:rPr>
              <a:t>뒤에서 본 그림 · x축(선수축) 둘레 · 우현이 내려가면 +</a:t>
            </a:r>
            <a:endParaRPr lang="en-US" sz="850" dirty="0"/>
          </a:p>
        </p:txBody>
      </p:sp>
      <p:sp>
        <p:nvSpPr>
          <p:cNvPr id="53" name="Text 51"/>
          <p:cNvSpPr txBox="1"/>
          <p:nvPr/>
        </p:nvSpPr>
        <p:spPr>
          <a:xfrm>
            <a:off x="1005840" y="4297680"/>
            <a:ext cx="3840480" cy="201168"/>
          </a:xfrm>
          <a:prstGeom prst="rect">
            <a:avLst/>
          </a:prstGeom>
          <a:noFill/>
          <a:ln/>
        </p:spPr>
        <p:txBody>
          <a:bodyPr wrap="square" lIns="0" tIns="0" rIns="0" bIns="0" rtlCol="0" anchor="ctr"/>
          <a:lstStyle/>
          <a:p>
            <a:pPr marL="0" indent="0" algn="ctr">
              <a:buNone/>
            </a:pPr>
            <a:r>
              <a:rPr lang="en-US" sz="1200" dirty="0">
                <a:solidFill>
                  <a:srgbClr val="1A2233"/>
                </a:solidFill>
                <a:latin typeface="맑은 고딕" pitchFamily="34" charset="0"/>
                <a:ea typeface="맑은 고딕" pitchFamily="34" charset="-122"/>
                <a:cs typeface="맑은 고딕" pitchFamily="34" charset="-120"/>
              </a:rPr>
              <a:t>이번 과제 0°</a:t>
            </a:r>
            <a:endParaRPr lang="en-US" sz="1200" dirty="0"/>
          </a:p>
        </p:txBody>
      </p:sp>
      <p:sp>
        <p:nvSpPr>
          <p:cNvPr id="54" name="Text 52"/>
          <p:cNvSpPr txBox="1"/>
          <p:nvPr/>
        </p:nvSpPr>
        <p:spPr>
          <a:xfrm>
            <a:off x="4261104" y="3822192"/>
            <a:ext cx="3840480" cy="201168"/>
          </a:xfrm>
          <a:prstGeom prst="rect">
            <a:avLst/>
          </a:prstGeom>
          <a:noFill/>
          <a:ln/>
        </p:spPr>
        <p:txBody>
          <a:bodyPr wrap="square" lIns="0" tIns="0" rIns="0" bIns="0" rtlCol="0" anchor="ctr"/>
          <a:lstStyle/>
          <a:p>
            <a:pPr marL="0" indent="0" algn="ctr">
              <a:buNone/>
            </a:pPr>
            <a:r>
              <a:rPr lang="en-US" sz="1300" b="1" dirty="0">
                <a:solidFill>
                  <a:srgbClr val="1A2233"/>
                </a:solidFill>
                <a:latin typeface="맑은 고딕" pitchFamily="34" charset="0"/>
                <a:ea typeface="맑은 고딕" pitchFamily="34" charset="-122"/>
                <a:cs typeface="맑은 고딕" pitchFamily="34" charset="-120"/>
              </a:rPr>
              <a:t>pitch  (종동요)</a:t>
            </a:r>
            <a:endParaRPr lang="en-US" sz="1300" dirty="0"/>
          </a:p>
        </p:txBody>
      </p:sp>
      <p:sp>
        <p:nvSpPr>
          <p:cNvPr id="55" name="Text 53"/>
          <p:cNvSpPr txBox="1"/>
          <p:nvPr/>
        </p:nvSpPr>
        <p:spPr>
          <a:xfrm>
            <a:off x="4261104" y="4059936"/>
            <a:ext cx="3840480" cy="201168"/>
          </a:xfrm>
          <a:prstGeom prst="rect">
            <a:avLst/>
          </a:prstGeom>
          <a:noFill/>
          <a:ln/>
        </p:spPr>
        <p:txBody>
          <a:bodyPr wrap="square" lIns="0" tIns="0" rIns="0" bIns="0" rtlCol="0" anchor="ctr"/>
          <a:lstStyle/>
          <a:p>
            <a:pPr marL="0" indent="0" algn="ctr">
              <a:buNone/>
            </a:pPr>
            <a:r>
              <a:rPr lang="en-US" sz="850" dirty="0">
                <a:solidFill>
                  <a:srgbClr val="5A6478"/>
                </a:solidFill>
                <a:latin typeface="맑은 고딕" pitchFamily="34" charset="0"/>
                <a:ea typeface="맑은 고딕" pitchFamily="34" charset="-122"/>
                <a:cs typeface="맑은 고딕" pitchFamily="34" charset="-120"/>
              </a:rPr>
              <a:t>옆에서 본 그림 · y축(우현축) 둘레 · 선수가 올라가면 +</a:t>
            </a:r>
            <a:endParaRPr lang="en-US" sz="850" dirty="0"/>
          </a:p>
        </p:txBody>
      </p:sp>
      <p:sp>
        <p:nvSpPr>
          <p:cNvPr id="56" name="Text 54"/>
          <p:cNvSpPr txBox="1"/>
          <p:nvPr/>
        </p:nvSpPr>
        <p:spPr>
          <a:xfrm>
            <a:off x="4261104" y="4297680"/>
            <a:ext cx="3840480" cy="201168"/>
          </a:xfrm>
          <a:prstGeom prst="rect">
            <a:avLst/>
          </a:prstGeom>
          <a:noFill/>
          <a:ln/>
        </p:spPr>
        <p:txBody>
          <a:bodyPr wrap="square" lIns="0" tIns="0" rIns="0" bIns="0" rtlCol="0" anchor="ctr"/>
          <a:lstStyle/>
          <a:p>
            <a:pPr marL="0" indent="0" algn="ctr">
              <a:buNone/>
            </a:pPr>
            <a:r>
              <a:rPr lang="en-US" sz="1200" dirty="0">
                <a:solidFill>
                  <a:srgbClr val="1A2233"/>
                </a:solidFill>
                <a:latin typeface="맑은 고딕" pitchFamily="34" charset="0"/>
                <a:ea typeface="맑은 고딕" pitchFamily="34" charset="-122"/>
                <a:cs typeface="맑은 고딕" pitchFamily="34" charset="-120"/>
              </a:rPr>
              <a:t>이번 과제 0°</a:t>
            </a:r>
            <a:endParaRPr lang="en-US" sz="1200" dirty="0"/>
          </a:p>
        </p:txBody>
      </p:sp>
      <p:sp>
        <p:nvSpPr>
          <p:cNvPr id="57" name="Text 55"/>
          <p:cNvSpPr txBox="1"/>
          <p:nvPr/>
        </p:nvSpPr>
        <p:spPr>
          <a:xfrm>
            <a:off x="7461504" y="3822192"/>
            <a:ext cx="3840480" cy="201168"/>
          </a:xfrm>
          <a:prstGeom prst="rect">
            <a:avLst/>
          </a:prstGeom>
          <a:noFill/>
          <a:ln/>
        </p:spPr>
        <p:txBody>
          <a:bodyPr wrap="square" lIns="0" tIns="0" rIns="0" bIns="0" rtlCol="0" anchor="ctr"/>
          <a:lstStyle/>
          <a:p>
            <a:pPr marL="0" indent="0" algn="ctr">
              <a:buNone/>
            </a:pPr>
            <a:r>
              <a:rPr lang="en-US" sz="1300" b="1" dirty="0">
                <a:solidFill>
                  <a:srgbClr val="1A2233"/>
                </a:solidFill>
                <a:latin typeface="맑은 고딕" pitchFamily="34" charset="0"/>
                <a:ea typeface="맑은 고딕" pitchFamily="34" charset="-122"/>
                <a:cs typeface="맑은 고딕" pitchFamily="34" charset="-120"/>
              </a:rPr>
              <a:t>yaw  (선수방위)</a:t>
            </a:r>
            <a:endParaRPr lang="en-US" sz="1300" dirty="0"/>
          </a:p>
        </p:txBody>
      </p:sp>
      <p:sp>
        <p:nvSpPr>
          <p:cNvPr id="58" name="Text 56"/>
          <p:cNvSpPr txBox="1"/>
          <p:nvPr/>
        </p:nvSpPr>
        <p:spPr>
          <a:xfrm>
            <a:off x="7461504" y="4059936"/>
            <a:ext cx="3840480" cy="201168"/>
          </a:xfrm>
          <a:prstGeom prst="rect">
            <a:avLst/>
          </a:prstGeom>
          <a:noFill/>
          <a:ln/>
        </p:spPr>
        <p:txBody>
          <a:bodyPr wrap="square" lIns="0" tIns="0" rIns="0" bIns="0" rtlCol="0" anchor="ctr"/>
          <a:lstStyle/>
          <a:p>
            <a:pPr marL="0" indent="0" algn="ctr">
              <a:buNone/>
            </a:pPr>
            <a:r>
              <a:rPr lang="en-US" sz="850" dirty="0">
                <a:solidFill>
                  <a:srgbClr val="5A6478"/>
                </a:solidFill>
                <a:latin typeface="맑은 고딕" pitchFamily="34" charset="0"/>
                <a:ea typeface="맑은 고딕" pitchFamily="34" charset="-122"/>
                <a:cs typeface="맑은 고딕" pitchFamily="34" charset="-120"/>
              </a:rPr>
              <a:t>위에서 본 그림 · z축(아래축) 둘레 · 진북에서 시계방향 +</a:t>
            </a:r>
            <a:endParaRPr lang="en-US" sz="850" dirty="0"/>
          </a:p>
        </p:txBody>
      </p:sp>
      <p:sp>
        <p:nvSpPr>
          <p:cNvPr id="59" name="Text 57"/>
          <p:cNvSpPr txBox="1"/>
          <p:nvPr/>
        </p:nvSpPr>
        <p:spPr>
          <a:xfrm>
            <a:off x="7461504" y="4297680"/>
            <a:ext cx="3840480" cy="201168"/>
          </a:xfrm>
          <a:prstGeom prst="rect">
            <a:avLst/>
          </a:prstGeom>
          <a:noFill/>
          <a:ln/>
        </p:spPr>
        <p:txBody>
          <a:bodyPr wrap="square" lIns="0" tIns="0" rIns="0" bIns="0" rtlCol="0" anchor="ctr"/>
          <a:lstStyle/>
          <a:p>
            <a:pPr marL="0" indent="0" algn="ctr">
              <a:buNone/>
            </a:pPr>
            <a:r>
              <a:rPr lang="en-US" sz="1200" dirty="0">
                <a:solidFill>
                  <a:srgbClr val="1A2233"/>
                </a:solidFill>
                <a:latin typeface="맑은 고딕" pitchFamily="34" charset="0"/>
                <a:ea typeface="맑은 고딕" pitchFamily="34" charset="-122"/>
                <a:cs typeface="맑은 고딕" pitchFamily="34" charset="-120"/>
              </a:rPr>
              <a:t>이번 과제 45°</a:t>
            </a:r>
            <a:endParaRPr lang="en-US" sz="1200" dirty="0"/>
          </a:p>
        </p:txBody>
      </p:sp>
      <p:sp>
        <p:nvSpPr>
          <p:cNvPr id="60" name="Shape 58"/>
          <p:cNvSpPr/>
          <p:nvPr/>
        </p:nvSpPr>
        <p:spPr>
          <a:xfrm>
            <a:off x="914400" y="4572000"/>
            <a:ext cx="4882896" cy="914400"/>
          </a:xfrm>
          <a:prstGeom prst="roundRect">
            <a:avLst>
              <a:gd name="adj" fmla="val 5000"/>
            </a:avLst>
          </a:prstGeom>
          <a:solidFill>
            <a:srgbClr val="EEF1F7"/>
          </a:solidFill>
          <a:ln/>
        </p:spPr>
        <p:txBody>
          <a:bodyPr/>
          <a:p/>
        </p:txBody>
      </p:sp>
      <p:sp>
        <p:nvSpPr>
          <p:cNvPr id="61" name="Text 59"/>
          <p:cNvSpPr txBox="1"/>
          <p:nvPr/>
        </p:nvSpPr>
        <p:spPr>
          <a:xfrm>
            <a:off x="1115568" y="4681728"/>
            <a:ext cx="4480560" cy="768096"/>
          </a:xfrm>
          <a:prstGeom prst="rect">
            <a:avLst/>
          </a:prstGeom>
          <a:noFill/>
          <a:ln/>
        </p:spPr>
        <p:txBody>
          <a:bodyPr wrap="square" lIns="0" tIns="0" rIns="0" bIns="0" rtlCol="0" anchor="t"/>
          <a:lstStyle/>
          <a:p>
            <a:pPr marL="0" indent="0" algn="l">
              <a:lnSpc>
                <a:spcPct val="105000"/>
              </a:lnSpc>
              <a:spcAft>
                <a:spcPts val="800"/>
              </a:spcAft>
              <a:buNone/>
            </a:pPr>
            <a:r>
              <a:rPr lang="en-US" sz="1200" b="1" dirty="0">
                <a:solidFill>
                  <a:srgbClr val="1A2233"/>
                </a:solidFill>
                <a:latin typeface="맑은 고딕" pitchFamily="34" charset="0"/>
                <a:ea typeface="맑은 고딕" pitchFamily="34" charset="-122"/>
                <a:cs typeface="맑은 고딕" pitchFamily="34" charset="-120"/>
              </a:rPr>
              <a:t>INS 좌표계란</a:t>
            </a:r>
            <a:endParaRPr lang="en-US" sz="1200" dirty="0"/>
          </a:p>
          <a:p>
            <a:pPr marL="0" indent="0" algn="l">
              <a:lnSpc>
                <a:spcPct val="105000"/>
              </a:lnSpc>
              <a:spcAft>
                <a:spcPts val="300"/>
              </a:spcAft>
              <a:buNone/>
            </a:pPr>
            <a:r>
              <a:rPr lang="en-US" sz="950" dirty="0">
                <a:solidFill>
                  <a:srgbClr val="1A2233"/>
                </a:solidFill>
                <a:latin typeface="맑은 고딕" pitchFamily="34" charset="0"/>
                <a:ea typeface="맑은 고딕" pitchFamily="34" charset="-122"/>
                <a:cs typeface="맑은 고딕" pitchFamily="34" charset="-120"/>
              </a:rPr>
              <a:t>INS 센서에 붙은 좌표계 – 원점은 센서 블록의 기준점, 축은 센서의 직교 3축</a:t>
            </a:r>
            <a:endParaRPr lang="en-US" sz="1200" dirty="0"/>
          </a:p>
          <a:p>
            <a:pPr marL="0" indent="0" algn="l">
              <a:lnSpc>
                <a:spcPct val="105000"/>
              </a:lnSpc>
              <a:buNone/>
            </a:pPr>
            <a:r>
              <a:rPr lang="en-US" sz="950" dirty="0">
                <a:solidFill>
                  <a:srgbClr val="1A2233"/>
                </a:solidFill>
                <a:latin typeface="맑은 고딕" pitchFamily="34" charset="0"/>
                <a:ea typeface="맑은 고딕" pitchFamily="34" charset="-122"/>
                <a:cs typeface="맑은 고딕" pitchFamily="34" charset="-120"/>
              </a:rPr>
              <a:t>배의 자세와 위치를 재서 준다</a:t>
            </a:r>
            <a:endParaRPr lang="en-US" sz="1200" dirty="0"/>
          </a:p>
        </p:txBody>
      </p:sp>
      <p:sp>
        <p:nvSpPr>
          <p:cNvPr id="62" name="Shape 60"/>
          <p:cNvSpPr/>
          <p:nvPr/>
        </p:nvSpPr>
        <p:spPr>
          <a:xfrm>
            <a:off x="6391656" y="4572000"/>
            <a:ext cx="4882896" cy="914400"/>
          </a:xfrm>
          <a:prstGeom prst="roundRect">
            <a:avLst>
              <a:gd name="adj" fmla="val 5000"/>
            </a:avLst>
          </a:prstGeom>
          <a:solidFill>
            <a:srgbClr val="EEF1F7"/>
          </a:solidFill>
          <a:ln/>
        </p:spPr>
        <p:txBody>
          <a:bodyPr/>
          <a:p/>
        </p:txBody>
      </p:sp>
      <p:sp>
        <p:nvSpPr>
          <p:cNvPr id="63" name="Text 61"/>
          <p:cNvSpPr txBox="1"/>
          <p:nvPr/>
        </p:nvSpPr>
        <p:spPr>
          <a:xfrm>
            <a:off x="6592824" y="4681728"/>
            <a:ext cx="2743200" cy="219456"/>
          </a:xfrm>
          <a:prstGeom prst="rect">
            <a:avLst/>
          </a:prstGeom>
          <a:noFill/>
          <a:ln/>
        </p:spPr>
        <p:txBody>
          <a:bodyPr wrap="square" lIns="0" tIns="0" rIns="0" bIns="0" rtlCol="0" anchor="ct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INS 가 주는 값</a:t>
            </a:r>
            <a:endParaRPr lang="en-US" sz="1200" dirty="0"/>
          </a:p>
        </p:txBody>
      </p:sp>
      <p:sp>
        <p:nvSpPr>
          <p:cNvPr id="64" name="Text 62"/>
          <p:cNvSpPr txBox="1"/>
          <p:nvPr/>
        </p:nvSpPr>
        <p:spPr>
          <a:xfrm>
            <a:off x="6592824" y="4919472"/>
            <a:ext cx="82296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자세</a:t>
            </a:r>
            <a:endParaRPr lang="en-US" sz="950" dirty="0"/>
          </a:p>
        </p:txBody>
      </p:sp>
      <p:sp>
        <p:nvSpPr>
          <p:cNvPr id="65" name="Text 63"/>
          <p:cNvSpPr txBox="1"/>
          <p:nvPr/>
        </p:nvSpPr>
        <p:spPr>
          <a:xfrm>
            <a:off x="7461504" y="4919472"/>
            <a:ext cx="365760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roll 0° · pitch 0° · yaw  45°</a:t>
            </a:r>
            <a:endParaRPr lang="en-US" sz="950" dirty="0"/>
          </a:p>
        </p:txBody>
      </p:sp>
      <p:sp>
        <p:nvSpPr>
          <p:cNvPr id="66" name="Text 64"/>
          <p:cNvSpPr txBox="1"/>
          <p:nvPr/>
        </p:nvSpPr>
        <p:spPr>
          <a:xfrm>
            <a:off x="6592824" y="5102352"/>
            <a:ext cx="82296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위치</a:t>
            </a:r>
            <a:endParaRPr lang="en-US" sz="950" dirty="0"/>
          </a:p>
        </p:txBody>
      </p:sp>
      <p:sp>
        <p:nvSpPr>
          <p:cNvPr id="67" name="Text 65"/>
          <p:cNvSpPr txBox="1"/>
          <p:nvPr/>
        </p:nvSpPr>
        <p:spPr>
          <a:xfrm>
            <a:off x="7461504" y="5102352"/>
            <a:ext cx="365760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36.408 °N · 127.307 °E · 0 m</a:t>
            </a:r>
            <a:endParaRPr lang="en-US" sz="950" dirty="0"/>
          </a:p>
        </p:txBody>
      </p:sp>
      <p:sp>
        <p:nvSpPr>
          <p:cNvPr id="68" name="Text 66"/>
          <p:cNvSpPr txBox="1"/>
          <p:nvPr/>
        </p:nvSpPr>
        <p:spPr>
          <a:xfrm>
            <a:off x="6592824" y="5285232"/>
            <a:ext cx="82296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속도</a:t>
            </a:r>
            <a:endParaRPr lang="en-US" sz="950" dirty="0"/>
          </a:p>
        </p:txBody>
      </p:sp>
      <p:sp>
        <p:nvSpPr>
          <p:cNvPr id="69" name="Text 67"/>
          <p:cNvSpPr txBox="1"/>
          <p:nvPr/>
        </p:nvSpPr>
        <p:spPr>
          <a:xfrm>
            <a:off x="7461504" y="5285232"/>
            <a:ext cx="3657600" cy="201168"/>
          </a:xfrm>
          <a:prstGeom prst="rect">
            <a:avLst/>
          </a:prstGeom>
          <a:noFill/>
          <a:ln/>
        </p:spPr>
        <p:txBody>
          <a:bodyPr wrap="square" lIns="0" tIns="0" rIns="0" bIns="0" rtlCol="0" anchor="ctr"/>
          <a:lstStyle/>
          <a:p>
            <a:pPr marL="0" indent="0" algn="l">
              <a:buNone/>
            </a:pPr>
            <a:r>
              <a:rPr lang="en-US" sz="950" dirty="0">
                <a:solidFill>
                  <a:srgbClr val="1A2233"/>
                </a:solidFill>
                <a:latin typeface="맑은 고딕" pitchFamily="34" charset="0"/>
                <a:ea typeface="맑은 고딕" pitchFamily="34" charset="-122"/>
                <a:cs typeface="맑은 고딕" pitchFamily="34" charset="-120"/>
              </a:rPr>
              <a:t>이번 과제에선 사용 안 함</a:t>
            </a:r>
            <a:endParaRPr lang="en-US" sz="950" dirty="0"/>
          </a:p>
        </p:txBody>
      </p:sp>
      <p:sp>
        <p:nvSpPr>
          <p:cNvPr id="70" name="Shape 68"/>
          <p:cNvSpPr/>
          <p:nvPr/>
        </p:nvSpPr>
        <p:spPr>
          <a:xfrm>
            <a:off x="914400" y="5559552"/>
            <a:ext cx="10360152" cy="347472"/>
          </a:xfrm>
          <a:prstGeom prst="roundRect">
            <a:avLst>
              <a:gd name="adj" fmla="val 13158"/>
            </a:avLst>
          </a:prstGeom>
          <a:solidFill>
            <a:srgbClr val="EEF1F7"/>
          </a:solidFill>
          <a:ln/>
        </p:spPr>
        <p:txBody>
          <a:bodyPr/>
          <a:p/>
        </p:txBody>
      </p:sp>
      <p:sp>
        <p:nvSpPr>
          <p:cNvPr id="71" name="Text 69"/>
          <p:cNvSpPr txBox="1"/>
          <p:nvPr/>
        </p:nvSpPr>
        <p:spPr>
          <a:xfrm>
            <a:off x="1115568" y="5605272"/>
            <a:ext cx="9966960" cy="292608"/>
          </a:xfrm>
          <a:prstGeom prst="rect">
            <a:avLst/>
          </a:prstGeom>
          <a:noFill/>
          <a:ln/>
        </p:spPr>
        <p:txBody>
          <a:bodyPr wrap="square" lIns="0" tIns="0" rIns="0" bIns="0" rtlCol="0" anchor="t"/>
          <a:lstStyle/>
          <a:p>
            <a:pPr marL="0" indent="0" algn="l">
              <a:lnSpc>
                <a:spcPct val="105000"/>
              </a:lnSpc>
              <a:spcAft>
                <a:spcPts val="200"/>
              </a:spcAft>
              <a:buNone/>
            </a:pPr>
            <a:r>
              <a:rPr lang="en-US" sz="900" dirty="0">
                <a:solidFill>
                  <a:srgbClr val="1A2233"/>
                </a:solidFill>
                <a:latin typeface="맑은 고딕" pitchFamily="34" charset="0"/>
                <a:ea typeface="맑은 고딕" pitchFamily="34" charset="-122"/>
                <a:cs typeface="맑은 고딕" pitchFamily="34" charset="-120"/>
              </a:rPr>
              <a:t>INS 는 값의 공급원이다. – 자세각은 로컬 NED 좌표를 만드는데, 위경도는 그 뒤 지구 좌표로 갈 때 쓰인다.</a:t>
            </a:r>
            <a:endParaRPr lang="en-US" sz="900" dirty="0"/>
          </a:p>
          <a:p>
            <a:pPr marL="0" indent="0" algn="l">
              <a:lnSpc>
                <a:spcPct val="105000"/>
              </a:lnSpc>
              <a:buNone/>
            </a:pPr>
            <a:r>
              <a:rPr lang="en-US" sz="900" dirty="0">
                <a:solidFill>
                  <a:srgbClr val="1A2233"/>
                </a:solidFill>
                <a:latin typeface="맑은 고딕" pitchFamily="34" charset="0"/>
                <a:ea typeface="맑은 고딕" pitchFamily="34" charset="-122"/>
                <a:cs typeface="맑은 고딕" pitchFamily="34" charset="-120"/>
              </a:rPr>
              <a:t>yaw 45° 는 "진북이 선수에서 왼쪽으로 45°" 라는 뜻이다.  북이 어느 쪽인지 알았으니, 동체 좌표를 북 · 동 기준으로 다시 적을 수 있다.</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01. NED / ENU 국지수평 좌표계</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13</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배가 아무리 흔들려도 북쪽은 계속 북쪽이다.</a:t>
            </a:r>
            <a:endParaRPr lang="en-US" sz="1450" dirty="0"/>
          </a:p>
        </p:txBody>
      </p:sp>
      <p:sp>
        <p:nvSpPr>
          <p:cNvPr id="10" name="Text 8"/>
          <p:cNvSpPr txBox="1"/>
          <p:nvPr/>
        </p:nvSpPr>
        <p:spPr>
          <a:xfrm>
            <a:off x="932688" y="1773936"/>
            <a:ext cx="3657600" cy="457200"/>
          </a:xfrm>
          <a:prstGeom prst="rect">
            <a:avLst/>
          </a:prstGeom>
          <a:noFill/>
          <a:ln/>
        </p:spPr>
        <p:txBody>
          <a:bodyPr wrap="square" lIns="0" tIns="0" rIns="0" bIns="0" rtlCol="0" anchor="t"/>
          <a:lstStyle/>
          <a:p>
            <a:pPr marL="0" indent="0" algn="l">
              <a:lnSpc>
                <a:spcPct val="105000"/>
              </a:lnSpc>
              <a:spcAft>
                <a:spcPts val="300"/>
              </a:spcAft>
              <a:buNone/>
            </a:pPr>
            <a:r>
              <a:rPr lang="en-US" sz="1250" b="1" dirty="0">
                <a:solidFill>
                  <a:srgbClr val="1A2233"/>
                </a:solidFill>
                <a:latin typeface="맑은 고딕" pitchFamily="34" charset="0"/>
                <a:ea typeface="맑은 고딕" pitchFamily="34" charset="-122"/>
                <a:cs typeface="맑은 고딕" pitchFamily="34" charset="-120"/>
              </a:rPr>
              <a:t>NED (항공우주 · 항법 · 무기체계)</a:t>
            </a:r>
            <a:endParaRPr lang="en-US" sz="125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North-East-Down.  북 → 동 → 아래 순서, 셋째 축이 아래로 +</a:t>
            </a:r>
            <a:endParaRPr lang="en-US" sz="1250" dirty="0"/>
          </a:p>
        </p:txBody>
      </p:sp>
      <p:sp>
        <p:nvSpPr>
          <p:cNvPr id="11" name="Text 9"/>
          <p:cNvSpPr txBox="1"/>
          <p:nvPr/>
        </p:nvSpPr>
        <p:spPr>
          <a:xfrm>
            <a:off x="4882896" y="1773936"/>
            <a:ext cx="3657600" cy="457200"/>
          </a:xfrm>
          <a:prstGeom prst="rect">
            <a:avLst/>
          </a:prstGeom>
          <a:noFill/>
          <a:ln/>
        </p:spPr>
        <p:txBody>
          <a:bodyPr wrap="square" lIns="0" tIns="0" rIns="0" bIns="0" rtlCol="0" anchor="t"/>
          <a:lstStyle/>
          <a:p>
            <a:pPr marL="0" indent="0" algn="l">
              <a:lnSpc>
                <a:spcPct val="105000"/>
              </a:lnSpc>
              <a:spcAft>
                <a:spcPts val="300"/>
              </a:spcAft>
              <a:buNone/>
            </a:pPr>
            <a:r>
              <a:rPr lang="en-US" sz="1250" b="1" dirty="0">
                <a:solidFill>
                  <a:srgbClr val="1A2233"/>
                </a:solidFill>
                <a:latin typeface="맑은 고딕" pitchFamily="34" charset="0"/>
                <a:ea typeface="맑은 고딕" pitchFamily="34" charset="-122"/>
                <a:cs typeface="맑은 고딕" pitchFamily="34" charset="-120"/>
              </a:rPr>
              <a:t>ENU (측지 · 측량 · GIS · 로보틱스)</a:t>
            </a:r>
            <a:endParaRPr lang="en-US" sz="125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East-North-Up.  동 → 북 → 위 순서, 셋째 축이 위로 +</a:t>
            </a:r>
            <a:endParaRPr lang="en-US" sz="1250" dirty="0"/>
          </a:p>
        </p:txBody>
      </p:sp>
      <p:sp>
        <p:nvSpPr>
          <p:cNvPr id="12" name="Shape 10"/>
          <p:cNvSpPr/>
          <p:nvPr/>
        </p:nvSpPr>
        <p:spPr>
          <a:xfrm rot="10800000">
            <a:off x="1097280" y="2724912"/>
            <a:ext cx="3017520" cy="969264"/>
          </a:xfrm>
          <a:prstGeom prst="parallelogram">
            <a:avLst/>
          </a:prstGeom>
          <a:solidFill>
            <a:srgbClr val="F5F7FB"/>
          </a:solidFill>
          <a:ln w="10160">
            <a:solidFill>
              <a:srgbClr val="C9D6EC"/>
            </a:solidFill>
            <a:prstDash val="solid"/>
          </a:ln>
        </p:spPr>
        <p:txBody>
          <a:bodyPr/>
          <a:p/>
        </p:txBody>
      </p:sp>
      <p:sp>
        <p:nvSpPr>
          <p:cNvPr id="13" name="Shape 11"/>
          <p:cNvSpPr/>
          <p:nvPr/>
        </p:nvSpPr>
        <p:spPr>
          <a:xfrm rot="17579323">
            <a:off x="2195960" y="2807208"/>
            <a:ext cx="655568" cy="0"/>
          </a:xfrm>
          <a:prstGeom prst="line">
            <a:avLst/>
          </a:prstGeom>
          <a:noFill/>
          <a:ln w="15240">
            <a:solidFill>
              <a:srgbClr val="13233F"/>
            </a:solidFill>
            <a:prstDash val="solid"/>
            <a:headEnd type="none"/>
            <a:tailEnd type="triangle"/>
          </a:ln>
        </p:spPr>
        <p:txBody>
          <a:bodyPr/>
          <a:p/>
        </p:txBody>
      </p:sp>
      <p:sp>
        <p:nvSpPr>
          <p:cNvPr id="14" name="Text 12"/>
          <p:cNvSpPr txBox="1"/>
          <p:nvPr/>
        </p:nvSpPr>
        <p:spPr>
          <a:xfrm>
            <a:off x="2706624" y="2395728"/>
            <a:ext cx="64008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N 북</a:t>
            </a:r>
            <a:endParaRPr lang="en-US" sz="900" dirty="0"/>
          </a:p>
        </p:txBody>
      </p:sp>
      <p:sp>
        <p:nvSpPr>
          <p:cNvPr id="15" name="Text 13"/>
          <p:cNvSpPr txBox="1"/>
          <p:nvPr/>
        </p:nvSpPr>
        <p:spPr>
          <a:xfrm>
            <a:off x="2359152" y="2706624"/>
            <a:ext cx="18288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①</a:t>
            </a:r>
            <a:endParaRPr lang="en-US" sz="800" dirty="0"/>
          </a:p>
        </p:txBody>
      </p:sp>
      <p:sp>
        <p:nvSpPr>
          <p:cNvPr id="16" name="Shape 14"/>
          <p:cNvSpPr/>
          <p:nvPr/>
        </p:nvSpPr>
        <p:spPr>
          <a:xfrm rot="1338372">
            <a:off x="2366883" y="3255264"/>
            <a:ext cx="770921" cy="0"/>
          </a:xfrm>
          <a:prstGeom prst="line">
            <a:avLst/>
          </a:prstGeom>
          <a:noFill/>
          <a:ln w="15240">
            <a:solidFill>
              <a:srgbClr val="13233F"/>
            </a:solidFill>
            <a:prstDash val="solid"/>
            <a:headEnd type="none"/>
            <a:tailEnd type="triangle"/>
          </a:ln>
        </p:spPr>
        <p:txBody>
          <a:bodyPr/>
          <a:p/>
        </p:txBody>
      </p:sp>
      <p:sp>
        <p:nvSpPr>
          <p:cNvPr id="17" name="Text 15"/>
          <p:cNvSpPr txBox="1"/>
          <p:nvPr/>
        </p:nvSpPr>
        <p:spPr>
          <a:xfrm>
            <a:off x="3145536" y="3364992"/>
            <a:ext cx="64008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E 동</a:t>
            </a:r>
            <a:endParaRPr lang="en-US" sz="900" dirty="0"/>
          </a:p>
        </p:txBody>
      </p:sp>
      <p:sp>
        <p:nvSpPr>
          <p:cNvPr id="18" name="Text 16"/>
          <p:cNvSpPr txBox="1"/>
          <p:nvPr/>
        </p:nvSpPr>
        <p:spPr>
          <a:xfrm>
            <a:off x="2615184" y="3127248"/>
            <a:ext cx="18288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②</a:t>
            </a:r>
            <a:endParaRPr lang="en-US" sz="800" dirty="0"/>
          </a:p>
        </p:txBody>
      </p:sp>
      <p:sp>
        <p:nvSpPr>
          <p:cNvPr id="19" name="Shape 17"/>
          <p:cNvSpPr/>
          <p:nvPr/>
        </p:nvSpPr>
        <p:spPr>
          <a:xfrm rot="5400000">
            <a:off x="2029968" y="3474720"/>
            <a:ext cx="731520" cy="0"/>
          </a:xfrm>
          <a:prstGeom prst="line">
            <a:avLst/>
          </a:prstGeom>
          <a:noFill/>
          <a:ln w="15240">
            <a:solidFill>
              <a:srgbClr val="13233F"/>
            </a:solidFill>
            <a:prstDash val="solid"/>
            <a:headEnd type="none"/>
            <a:tailEnd type="triangle"/>
          </a:ln>
        </p:spPr>
        <p:txBody>
          <a:bodyPr/>
          <a:p/>
        </p:txBody>
      </p:sp>
      <p:sp>
        <p:nvSpPr>
          <p:cNvPr id="20" name="Text 18"/>
          <p:cNvSpPr txBox="1"/>
          <p:nvPr/>
        </p:nvSpPr>
        <p:spPr>
          <a:xfrm>
            <a:off x="2468880" y="3785616"/>
            <a:ext cx="73152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D 아래</a:t>
            </a:r>
            <a:endParaRPr lang="en-US" sz="900" dirty="0"/>
          </a:p>
        </p:txBody>
      </p:sp>
      <p:sp>
        <p:nvSpPr>
          <p:cNvPr id="21" name="Text 19"/>
          <p:cNvSpPr txBox="1"/>
          <p:nvPr/>
        </p:nvSpPr>
        <p:spPr>
          <a:xfrm>
            <a:off x="2212848" y="3529584"/>
            <a:ext cx="18288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③</a:t>
            </a:r>
            <a:endParaRPr lang="en-US" sz="800" dirty="0"/>
          </a:p>
        </p:txBody>
      </p:sp>
      <p:sp>
        <p:nvSpPr>
          <p:cNvPr id="22" name="Shape 20"/>
          <p:cNvSpPr/>
          <p:nvPr/>
        </p:nvSpPr>
        <p:spPr>
          <a:xfrm>
            <a:off x="1412748" y="3259836"/>
            <a:ext cx="100584" cy="100584"/>
          </a:xfrm>
          <a:prstGeom prst="ellipse">
            <a:avLst/>
          </a:prstGeom>
          <a:solidFill>
            <a:srgbClr val="13233F"/>
          </a:solidFill>
          <a:ln/>
        </p:spPr>
        <p:txBody>
          <a:bodyPr/>
          <a:p/>
        </p:txBody>
      </p:sp>
      <p:sp>
        <p:nvSpPr>
          <p:cNvPr id="23" name="Text 21"/>
          <p:cNvSpPr txBox="1"/>
          <p:nvPr/>
        </p:nvSpPr>
        <p:spPr>
          <a:xfrm>
            <a:off x="786384" y="3291840"/>
            <a:ext cx="566928" cy="201168"/>
          </a:xfrm>
          <a:prstGeom prst="rect">
            <a:avLst/>
          </a:prstGeom>
          <a:noFill/>
          <a:ln/>
        </p:spPr>
        <p:txBody>
          <a:bodyPr wrap="square" lIns="0" tIns="0" rIns="0" bIns="0" rtlCol="0" anchor="ctr"/>
          <a:lstStyle/>
          <a:p>
            <a:pPr marL="0" indent="0" algn="r">
              <a:buNone/>
            </a:pPr>
            <a:r>
              <a:rPr lang="en-US" sz="850" dirty="0">
                <a:solidFill>
                  <a:srgbClr val="1A2233"/>
                </a:solidFill>
                <a:latin typeface="맑은 고딕" pitchFamily="34" charset="0"/>
                <a:ea typeface="맑은 고딕" pitchFamily="34" charset="-122"/>
                <a:cs typeface="맑은 고딕" pitchFamily="34" charset="-120"/>
              </a:rPr>
              <a:t>표적</a:t>
            </a:r>
            <a:endParaRPr lang="en-US" sz="850" dirty="0"/>
          </a:p>
        </p:txBody>
      </p:sp>
      <p:sp>
        <p:nvSpPr>
          <p:cNvPr id="24" name="Text 22"/>
          <p:cNvSpPr txBox="1"/>
          <p:nvPr/>
        </p:nvSpPr>
        <p:spPr>
          <a:xfrm>
            <a:off x="2999232" y="3767328"/>
            <a:ext cx="914400" cy="201168"/>
          </a:xfrm>
          <a:prstGeom prst="rect">
            <a:avLst/>
          </a:prstGeom>
          <a:noFill/>
          <a:ln/>
        </p:spPr>
        <p:txBody>
          <a:bodyPr wrap="square" lIns="0" tIns="0" rIns="0" bIns="0" rtlCol="0" anchor="ctr"/>
          <a:lstStyle/>
          <a:p>
            <a:pPr marL="0" indent="0" algn="l">
              <a:buNone/>
            </a:pPr>
            <a:r>
              <a:rPr lang="en-US" sz="750" dirty="0">
                <a:solidFill>
                  <a:srgbClr val="5A6478"/>
                </a:solidFill>
                <a:latin typeface="맑은 고딕" pitchFamily="34" charset="0"/>
                <a:ea typeface="맑은 고딕" pitchFamily="34" charset="-122"/>
                <a:cs typeface="맑은 고딕" pitchFamily="34" charset="-120"/>
              </a:rPr>
              <a:t>표적 수평면</a:t>
            </a:r>
            <a:endParaRPr lang="en-US" sz="750" dirty="0"/>
          </a:p>
        </p:txBody>
      </p:sp>
      <p:sp>
        <p:nvSpPr>
          <p:cNvPr id="25" name="Shape 23"/>
          <p:cNvSpPr/>
          <p:nvPr/>
        </p:nvSpPr>
        <p:spPr>
          <a:xfrm rot="10800000">
            <a:off x="5065776" y="2724912"/>
            <a:ext cx="3017520" cy="969264"/>
          </a:xfrm>
          <a:prstGeom prst="parallelogram">
            <a:avLst/>
          </a:prstGeom>
          <a:solidFill>
            <a:srgbClr val="F5F7FB"/>
          </a:solidFill>
          <a:ln w="10160">
            <a:solidFill>
              <a:srgbClr val="C9D6EC"/>
            </a:solidFill>
            <a:prstDash val="solid"/>
          </a:ln>
        </p:spPr>
        <p:txBody>
          <a:bodyPr/>
          <a:p/>
        </p:txBody>
      </p:sp>
      <p:sp>
        <p:nvSpPr>
          <p:cNvPr id="26" name="Shape 24"/>
          <p:cNvSpPr/>
          <p:nvPr/>
        </p:nvSpPr>
        <p:spPr>
          <a:xfrm rot="-5400000">
            <a:off x="5943600" y="2688336"/>
            <a:ext cx="841248" cy="0"/>
          </a:xfrm>
          <a:prstGeom prst="line">
            <a:avLst/>
          </a:prstGeom>
          <a:noFill/>
          <a:ln w="15240">
            <a:solidFill>
              <a:srgbClr val="13233F"/>
            </a:solidFill>
            <a:prstDash val="solid"/>
            <a:headEnd type="none"/>
            <a:tailEnd type="triangle"/>
          </a:ln>
        </p:spPr>
        <p:txBody>
          <a:bodyPr/>
          <a:p/>
        </p:txBody>
      </p:sp>
      <p:sp>
        <p:nvSpPr>
          <p:cNvPr id="27" name="Text 25"/>
          <p:cNvSpPr txBox="1"/>
          <p:nvPr/>
        </p:nvSpPr>
        <p:spPr>
          <a:xfrm>
            <a:off x="6437376" y="2194560"/>
            <a:ext cx="73152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U 위</a:t>
            </a:r>
            <a:endParaRPr lang="en-US" sz="900" dirty="0"/>
          </a:p>
        </p:txBody>
      </p:sp>
      <p:sp>
        <p:nvSpPr>
          <p:cNvPr id="28" name="Text 26"/>
          <p:cNvSpPr txBox="1"/>
          <p:nvPr/>
        </p:nvSpPr>
        <p:spPr>
          <a:xfrm>
            <a:off x="6163056" y="2505456"/>
            <a:ext cx="18288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③</a:t>
            </a:r>
            <a:endParaRPr lang="en-US" sz="800" dirty="0"/>
          </a:p>
        </p:txBody>
      </p:sp>
      <p:sp>
        <p:nvSpPr>
          <p:cNvPr id="29" name="Shape 27"/>
          <p:cNvSpPr/>
          <p:nvPr/>
        </p:nvSpPr>
        <p:spPr>
          <a:xfrm rot="1338372">
            <a:off x="6335379" y="3255264"/>
            <a:ext cx="770921" cy="0"/>
          </a:xfrm>
          <a:prstGeom prst="line">
            <a:avLst/>
          </a:prstGeom>
          <a:noFill/>
          <a:ln w="15240">
            <a:solidFill>
              <a:srgbClr val="13233F"/>
            </a:solidFill>
            <a:prstDash val="solid"/>
            <a:headEnd type="none"/>
            <a:tailEnd type="triangle"/>
          </a:ln>
        </p:spPr>
        <p:txBody>
          <a:bodyPr/>
          <a:p/>
        </p:txBody>
      </p:sp>
      <p:sp>
        <p:nvSpPr>
          <p:cNvPr id="30" name="Text 28"/>
          <p:cNvSpPr txBox="1"/>
          <p:nvPr/>
        </p:nvSpPr>
        <p:spPr>
          <a:xfrm>
            <a:off x="7114032" y="3364992"/>
            <a:ext cx="64008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E 동</a:t>
            </a:r>
            <a:endParaRPr lang="en-US" sz="900" dirty="0"/>
          </a:p>
        </p:txBody>
      </p:sp>
      <p:sp>
        <p:nvSpPr>
          <p:cNvPr id="31" name="Text 29"/>
          <p:cNvSpPr txBox="1"/>
          <p:nvPr/>
        </p:nvSpPr>
        <p:spPr>
          <a:xfrm>
            <a:off x="6583680" y="3127248"/>
            <a:ext cx="18288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①</a:t>
            </a:r>
            <a:endParaRPr lang="en-US" sz="800" dirty="0"/>
          </a:p>
        </p:txBody>
      </p:sp>
      <p:sp>
        <p:nvSpPr>
          <p:cNvPr id="32" name="Shape 30"/>
          <p:cNvSpPr/>
          <p:nvPr/>
        </p:nvSpPr>
        <p:spPr>
          <a:xfrm rot="-4020677">
            <a:off x="6164456" y="2807208"/>
            <a:ext cx="655568" cy="0"/>
          </a:xfrm>
          <a:prstGeom prst="line">
            <a:avLst/>
          </a:prstGeom>
          <a:noFill/>
          <a:ln w="15240">
            <a:solidFill>
              <a:srgbClr val="13233F"/>
            </a:solidFill>
            <a:prstDash val="solid"/>
            <a:headEnd type="none"/>
            <a:tailEnd type="triangle"/>
          </a:ln>
        </p:spPr>
        <p:txBody>
          <a:bodyPr/>
          <a:p/>
        </p:txBody>
      </p:sp>
      <p:sp>
        <p:nvSpPr>
          <p:cNvPr id="33" name="Text 31"/>
          <p:cNvSpPr txBox="1"/>
          <p:nvPr/>
        </p:nvSpPr>
        <p:spPr>
          <a:xfrm>
            <a:off x="6675120" y="2395728"/>
            <a:ext cx="64008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N 북</a:t>
            </a:r>
            <a:endParaRPr lang="en-US" sz="900" dirty="0"/>
          </a:p>
        </p:txBody>
      </p:sp>
      <p:sp>
        <p:nvSpPr>
          <p:cNvPr id="34" name="Text 32"/>
          <p:cNvSpPr txBox="1"/>
          <p:nvPr/>
        </p:nvSpPr>
        <p:spPr>
          <a:xfrm>
            <a:off x="6327648" y="2706624"/>
            <a:ext cx="18288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②</a:t>
            </a:r>
            <a:endParaRPr lang="en-US" sz="800" dirty="0"/>
          </a:p>
        </p:txBody>
      </p:sp>
      <p:sp>
        <p:nvSpPr>
          <p:cNvPr id="35" name="Shape 33"/>
          <p:cNvSpPr/>
          <p:nvPr/>
        </p:nvSpPr>
        <p:spPr>
          <a:xfrm>
            <a:off x="5381244" y="3259836"/>
            <a:ext cx="100584" cy="100584"/>
          </a:xfrm>
          <a:prstGeom prst="ellipse">
            <a:avLst/>
          </a:prstGeom>
          <a:solidFill>
            <a:srgbClr val="13233F"/>
          </a:solidFill>
          <a:ln/>
        </p:spPr>
        <p:txBody>
          <a:bodyPr/>
          <a:p/>
        </p:txBody>
      </p:sp>
      <p:sp>
        <p:nvSpPr>
          <p:cNvPr id="36" name="Text 34"/>
          <p:cNvSpPr txBox="1"/>
          <p:nvPr/>
        </p:nvSpPr>
        <p:spPr>
          <a:xfrm>
            <a:off x="4754880" y="3291840"/>
            <a:ext cx="566928" cy="201168"/>
          </a:xfrm>
          <a:prstGeom prst="rect">
            <a:avLst/>
          </a:prstGeom>
          <a:noFill/>
          <a:ln/>
        </p:spPr>
        <p:txBody>
          <a:bodyPr wrap="square" lIns="0" tIns="0" rIns="0" bIns="0" rtlCol="0" anchor="ctr"/>
          <a:lstStyle/>
          <a:p>
            <a:pPr marL="0" indent="0" algn="r">
              <a:buNone/>
            </a:pPr>
            <a:r>
              <a:rPr lang="en-US" sz="850" dirty="0">
                <a:solidFill>
                  <a:srgbClr val="1A2233"/>
                </a:solidFill>
                <a:latin typeface="맑은 고딕" pitchFamily="34" charset="0"/>
                <a:ea typeface="맑은 고딕" pitchFamily="34" charset="-122"/>
                <a:cs typeface="맑은 고딕" pitchFamily="34" charset="-120"/>
              </a:rPr>
              <a:t>표적</a:t>
            </a:r>
            <a:endParaRPr lang="en-US" sz="850" dirty="0"/>
          </a:p>
        </p:txBody>
      </p:sp>
      <p:sp>
        <p:nvSpPr>
          <p:cNvPr id="37" name="Text 35"/>
          <p:cNvSpPr txBox="1"/>
          <p:nvPr/>
        </p:nvSpPr>
        <p:spPr>
          <a:xfrm>
            <a:off x="6967728" y="3767328"/>
            <a:ext cx="914400" cy="201168"/>
          </a:xfrm>
          <a:prstGeom prst="rect">
            <a:avLst/>
          </a:prstGeom>
          <a:noFill/>
          <a:ln/>
        </p:spPr>
        <p:txBody>
          <a:bodyPr wrap="square" lIns="0" tIns="0" rIns="0" bIns="0" rtlCol="0" anchor="ctr"/>
          <a:lstStyle/>
          <a:p>
            <a:pPr marL="0" indent="0" algn="l">
              <a:buNone/>
            </a:pPr>
            <a:r>
              <a:rPr lang="en-US" sz="750" dirty="0">
                <a:solidFill>
                  <a:srgbClr val="5A6478"/>
                </a:solidFill>
                <a:latin typeface="맑은 고딕" pitchFamily="34" charset="0"/>
                <a:ea typeface="맑은 고딕" pitchFamily="34" charset="-122"/>
                <a:cs typeface="맑은 고딕" pitchFamily="34" charset="-120"/>
              </a:rPr>
              <a:t>표적 수평면</a:t>
            </a:r>
            <a:endParaRPr lang="en-US" sz="750" dirty="0"/>
          </a:p>
        </p:txBody>
      </p:sp>
      <p:sp>
        <p:nvSpPr>
          <p:cNvPr id="38" name="Text 36"/>
          <p:cNvSpPr txBox="1"/>
          <p:nvPr/>
        </p:nvSpPr>
        <p:spPr>
          <a:xfrm>
            <a:off x="1060704" y="4096512"/>
            <a:ext cx="338328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(N −5,197.59,   E +19,297.30,   D −10.00) m</a:t>
            </a:r>
            <a:endParaRPr lang="en-US" sz="1100" dirty="0"/>
          </a:p>
        </p:txBody>
      </p:sp>
      <p:sp>
        <p:nvSpPr>
          <p:cNvPr id="39" name="Text 37"/>
          <p:cNvSpPr txBox="1"/>
          <p:nvPr/>
        </p:nvSpPr>
        <p:spPr>
          <a:xfrm>
            <a:off x="1060704" y="4315968"/>
            <a:ext cx="1828800" cy="201168"/>
          </a:xfrm>
          <a:prstGeom prst="rect">
            <a:avLst/>
          </a:prstGeom>
          <a:noFill/>
          <a:ln/>
        </p:spPr>
        <p:txBody>
          <a:bodyPr wrap="square" lIns="0" tIns="0" rIns="0" bIns="0" rtlCol="0" anchor="ctr"/>
          <a:lstStyle/>
          <a:p>
            <a:pPr marL="0" indent="0" algn="l">
              <a:buNone/>
            </a:pPr>
            <a:r>
              <a:rPr lang="en-US" sz="800" dirty="0">
                <a:solidFill>
                  <a:srgbClr val="5A6478"/>
                </a:solidFill>
                <a:latin typeface="맑은 고딕" pitchFamily="34" charset="0"/>
                <a:ea typeface="맑은 고딕" pitchFamily="34" charset="-122"/>
                <a:cs typeface="맑은 고딕" pitchFamily="34" charset="-120"/>
              </a:rPr>
              <a:t>표적 높이는 수평면 기준</a:t>
            </a:r>
            <a:endParaRPr lang="en-US" sz="800" dirty="0"/>
          </a:p>
        </p:txBody>
      </p:sp>
      <p:sp>
        <p:nvSpPr>
          <p:cNvPr id="40" name="Text 38"/>
          <p:cNvSpPr txBox="1"/>
          <p:nvPr/>
        </p:nvSpPr>
        <p:spPr>
          <a:xfrm>
            <a:off x="5029200" y="4096512"/>
            <a:ext cx="338328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(E +19,297.30,   N −5,197.59,   U +10.00) m</a:t>
            </a:r>
            <a:endParaRPr lang="en-US" sz="1100" dirty="0"/>
          </a:p>
        </p:txBody>
      </p:sp>
      <p:sp>
        <p:nvSpPr>
          <p:cNvPr id="41" name="Text 39"/>
          <p:cNvSpPr txBox="1"/>
          <p:nvPr/>
        </p:nvSpPr>
        <p:spPr>
          <a:xfrm>
            <a:off x="2706624" y="4315968"/>
            <a:ext cx="548640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북 · 동은 같은 방향이다. 셋째 축만 뒤집히고, 둘 다 오른손 좌표계다.</a:t>
            </a:r>
            <a:endParaRPr lang="en-US" sz="1000" dirty="0"/>
          </a:p>
        </p:txBody>
      </p:sp>
      <p:sp>
        <p:nvSpPr>
          <p:cNvPr id="42" name="Shape 40"/>
          <p:cNvSpPr/>
          <p:nvPr/>
        </p:nvSpPr>
        <p:spPr>
          <a:xfrm>
            <a:off x="8485632" y="1755648"/>
            <a:ext cx="2788920" cy="2688336"/>
          </a:xfrm>
          <a:prstGeom prst="roundRect">
            <a:avLst>
              <a:gd name="adj" fmla="val 1701"/>
            </a:avLst>
          </a:prstGeom>
          <a:solidFill>
            <a:srgbClr val="EEF1F7"/>
          </a:solidFill>
          <a:ln/>
        </p:spPr>
        <p:txBody>
          <a:bodyPr/>
          <a:p/>
        </p:txBody>
      </p:sp>
      <p:sp>
        <p:nvSpPr>
          <p:cNvPr id="43" name="Text 41"/>
          <p:cNvSpPr txBox="1"/>
          <p:nvPr/>
        </p:nvSpPr>
        <p:spPr>
          <a:xfrm>
            <a:off x="8686800" y="1938528"/>
            <a:ext cx="2395728" cy="2468880"/>
          </a:xfrm>
          <a:prstGeom prst="rect">
            <a:avLst/>
          </a:prstGeom>
          <a:noFill/>
          <a:ln/>
        </p:spPr>
        <p:txBody>
          <a:bodyPr wrap="square" lIns="0" tIns="0" rIns="0" bIns="0" rtlCol="0" anchor="t"/>
          <a:lstStyle/>
          <a:p>
            <a:pPr marL="0" indent="0" algn="l">
              <a:lnSpc>
                <a:spcPct val="105000"/>
              </a:lnSpc>
              <a:spcAft>
                <a:spcPts val="1800"/>
              </a:spcAft>
              <a:buNone/>
            </a:pPr>
            <a:r>
              <a:rPr lang="en-US" sz="1300" b="1" dirty="0">
                <a:solidFill>
                  <a:srgbClr val="1A2233"/>
                </a:solidFill>
                <a:latin typeface="맑은 고딕" pitchFamily="34" charset="0"/>
                <a:ea typeface="맑은 고딕" pitchFamily="34" charset="-122"/>
                <a:cs typeface="맑은 고딕" pitchFamily="34" charset="-120"/>
              </a:rPr>
              <a:t>이 좌표계의 존재 이유</a:t>
            </a:r>
            <a:endParaRPr lang="en-US" sz="1300" dirty="0"/>
          </a:p>
          <a:p>
            <a:pPr marL="0" indent="0" algn="l">
              <a:lnSpc>
                <a:spcPct val="105000"/>
              </a:lnSpc>
              <a:spcAft>
                <a:spcPts val="400"/>
              </a:spcAft>
              <a:buNone/>
            </a:pPr>
            <a:r>
              <a:rPr lang="en-US" sz="1100" dirty="0">
                <a:solidFill>
                  <a:srgbClr val="1A2233"/>
                </a:solidFill>
                <a:latin typeface="맑은 고딕" pitchFamily="34" charset="0"/>
                <a:ea typeface="맑은 고딕" pitchFamily="34" charset="-122"/>
                <a:cs typeface="맑은 고딕" pitchFamily="34" charset="-120"/>
              </a:rPr>
              <a:t>배와 함께 이동하지만</a:t>
            </a:r>
            <a:endParaRPr lang="en-US" sz="1300" dirty="0"/>
          </a:p>
          <a:p>
            <a:pPr marL="0" indent="0" algn="l">
              <a:lnSpc>
                <a:spcPct val="105000"/>
              </a:lnSpc>
              <a:spcAft>
                <a:spcPts val="1800"/>
              </a:spcAft>
              <a:buNone/>
            </a:pPr>
            <a:r>
              <a:rPr lang="en-US" sz="1100" dirty="0">
                <a:solidFill>
                  <a:srgbClr val="1A2233"/>
                </a:solidFill>
                <a:latin typeface="맑은 고딕" pitchFamily="34" charset="0"/>
                <a:ea typeface="맑은 고딕" pitchFamily="34" charset="-122"/>
                <a:cs typeface="맑은 고딕" pitchFamily="34" charset="-120"/>
              </a:rPr>
              <a:t>함께 회전하지는 않는다.</a:t>
            </a:r>
            <a:endParaRPr lang="en-US" sz="1300" dirty="0"/>
          </a:p>
          <a:p>
            <a:pPr marL="0" indent="0" algn="l">
              <a:lnSpc>
                <a:spcPct val="105000"/>
              </a:lnSpc>
              <a:spcAft>
                <a:spcPts val="400"/>
              </a:spcAft>
              <a:buNone/>
            </a:pPr>
            <a:r>
              <a:rPr lang="en-US" sz="1100" dirty="0">
                <a:solidFill>
                  <a:srgbClr val="1A2233"/>
                </a:solidFill>
                <a:latin typeface="맑은 고딕" pitchFamily="34" charset="0"/>
                <a:ea typeface="맑은 고딕" pitchFamily="34" charset="-122"/>
                <a:cs typeface="맑은 고딕" pitchFamily="34" charset="-120"/>
              </a:rPr>
              <a:t>그래서 표적이 실제로 움직인 것과</a:t>
            </a:r>
            <a:endParaRPr lang="en-US" sz="1300" dirty="0"/>
          </a:p>
          <a:p>
            <a:pPr marL="0" indent="0" algn="l">
              <a:lnSpc>
                <a:spcPct val="105000"/>
              </a:lnSpc>
              <a:spcAft>
                <a:spcPts val="1800"/>
              </a:spcAft>
              <a:buNone/>
            </a:pPr>
            <a:r>
              <a:rPr lang="en-US" sz="1100" dirty="0">
                <a:solidFill>
                  <a:srgbClr val="1A2233"/>
                </a:solidFill>
                <a:latin typeface="맑은 고딕" pitchFamily="34" charset="0"/>
                <a:ea typeface="맑은 고딕" pitchFamily="34" charset="-122"/>
                <a:cs typeface="맑은 고딕" pitchFamily="34" charset="-120"/>
              </a:rPr>
              <a:t>배가 흔들린 것을 구분할 수 있다.</a:t>
            </a:r>
            <a:endParaRPr lang="en-US" sz="1300" dirty="0"/>
          </a:p>
          <a:p>
            <a:pPr marL="0" indent="0" algn="l">
              <a:lnSpc>
                <a:spcPct val="105000"/>
              </a:lnSpc>
              <a:buNone/>
            </a:pPr>
            <a:r>
              <a:rPr lang="en-US" sz="1100" dirty="0">
                <a:solidFill>
                  <a:srgbClr val="1A2233"/>
                </a:solidFill>
                <a:latin typeface="맑은 고딕" pitchFamily="34" charset="0"/>
                <a:ea typeface="맑은 고딕" pitchFamily="34" charset="-122"/>
                <a:cs typeface="맑은 고딕" pitchFamily="34" charset="-120"/>
              </a:rPr>
              <a:t>추적 필터를 여기서 돌리는 이유다.</a:t>
            </a:r>
            <a:endParaRPr lang="en-US" sz="1300" dirty="0"/>
          </a:p>
        </p:txBody>
      </p:sp>
      <p:sp>
        <p:nvSpPr>
          <p:cNvPr id="44" name="Shape 42"/>
          <p:cNvSpPr/>
          <p:nvPr/>
        </p:nvSpPr>
        <p:spPr>
          <a:xfrm>
            <a:off x="914400" y="4590288"/>
            <a:ext cx="10360152" cy="1298448"/>
          </a:xfrm>
          <a:prstGeom prst="roundRect">
            <a:avLst>
              <a:gd name="adj" fmla="val 3521"/>
            </a:avLst>
          </a:prstGeom>
          <a:solidFill>
            <a:srgbClr val="EEF1F7"/>
          </a:solidFill>
          <a:ln/>
        </p:spPr>
        <p:txBody>
          <a:bodyPr/>
          <a:p/>
        </p:txBody>
      </p:sp>
      <p:sp>
        <p:nvSpPr>
          <p:cNvPr id="45" name="Text 43"/>
          <p:cNvSpPr txBox="1"/>
          <p:nvPr/>
        </p:nvSpPr>
        <p:spPr>
          <a:xfrm>
            <a:off x="1133856" y="4645152"/>
            <a:ext cx="3291840" cy="237744"/>
          </a:xfrm>
          <a:prstGeom prst="rect">
            <a:avLst/>
          </a:prstGeom>
          <a:noFill/>
          <a:ln/>
        </p:spPr>
        <p:txBody>
          <a:bodyPr wrap="square" lIns="0" tIns="0" rIns="0" bIns="0" rtlCol="0" anchor="ctr"/>
          <a:lstStyle/>
          <a:p>
            <a:pPr marL="0" indent="0">
              <a:buNone/>
            </a:pPr>
            <a:r>
              <a:rPr lang="en-US" sz="1250" b="1" dirty="0">
                <a:solidFill>
                  <a:srgbClr val="1A2233"/>
                </a:solidFill>
                <a:latin typeface="맑은 고딕" pitchFamily="34" charset="0"/>
                <a:ea typeface="맑은 고딕" pitchFamily="34" charset="-122"/>
                <a:cs typeface="맑은 고딕" pitchFamily="34" charset="-120"/>
              </a:rPr>
              <a:t>동체 → NED 변환 공식</a:t>
            </a:r>
            <a:endParaRPr lang="en-US" sz="1250" dirty="0"/>
          </a:p>
        </p:txBody>
      </p:sp>
      <p:sp>
        <p:nvSpPr>
          <p:cNvPr id="46" name="Shape 44"/>
          <p:cNvSpPr/>
          <p:nvPr/>
        </p:nvSpPr>
        <p:spPr>
          <a:xfrm>
            <a:off x="1188720" y="4937760"/>
            <a:ext cx="658368" cy="274320"/>
          </a:xfrm>
          <a:prstGeom prst="roundRect">
            <a:avLst>
              <a:gd name="adj" fmla="val 26667"/>
            </a:avLst>
          </a:prstGeom>
          <a:solidFill>
            <a:srgbClr val="F5F7FB"/>
          </a:solidFill>
          <a:ln w="11430">
            <a:solidFill>
              <a:srgbClr val="5A6478"/>
            </a:solidFill>
            <a:prstDash val="solid"/>
          </a:ln>
        </p:spPr>
        <p:txBody>
          <a:bodyPr/>
          <a:p/>
        </p:txBody>
      </p:sp>
      <p:sp>
        <p:nvSpPr>
          <p:cNvPr id="47" name="Text 45"/>
          <p:cNvSpPr txBox="1"/>
          <p:nvPr/>
        </p:nvSpPr>
        <p:spPr>
          <a:xfrm>
            <a:off x="1188720" y="4937760"/>
            <a:ext cx="658368" cy="274320"/>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p동체</a:t>
            </a:r>
            <a:endParaRPr lang="en-US" sz="900" dirty="0"/>
          </a:p>
        </p:txBody>
      </p:sp>
      <p:sp>
        <p:nvSpPr>
          <p:cNvPr id="48" name="Text 46"/>
          <p:cNvSpPr txBox="1"/>
          <p:nvPr/>
        </p:nvSpPr>
        <p:spPr>
          <a:xfrm>
            <a:off x="932688" y="5257800"/>
            <a:ext cx="1170432"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원점 = 무게중심</a:t>
            </a:r>
            <a:endParaRPr lang="en-US" sz="650" dirty="0"/>
          </a:p>
        </p:txBody>
      </p:sp>
      <p:sp>
        <p:nvSpPr>
          <p:cNvPr id="49" name="Shape 47"/>
          <p:cNvSpPr/>
          <p:nvPr/>
        </p:nvSpPr>
        <p:spPr>
          <a:xfrm>
            <a:off x="1865376" y="5074920"/>
            <a:ext cx="146304" cy="0"/>
          </a:xfrm>
          <a:prstGeom prst="line">
            <a:avLst/>
          </a:prstGeom>
          <a:noFill/>
          <a:ln w="16510">
            <a:solidFill>
              <a:srgbClr val="13233F"/>
            </a:solidFill>
            <a:prstDash val="solid"/>
            <a:headEnd type="none"/>
            <a:tailEnd type="triangle"/>
          </a:ln>
        </p:spPr>
        <p:txBody>
          <a:bodyPr/>
          <a:p/>
        </p:txBody>
      </p:sp>
      <p:sp>
        <p:nvSpPr>
          <p:cNvPr id="50" name="Shape 48"/>
          <p:cNvSpPr/>
          <p:nvPr/>
        </p:nvSpPr>
        <p:spPr>
          <a:xfrm>
            <a:off x="2029968" y="4937760"/>
            <a:ext cx="786384" cy="274320"/>
          </a:xfrm>
          <a:prstGeom prst="roundRect">
            <a:avLst>
              <a:gd name="adj" fmla="val 26667"/>
            </a:avLst>
          </a:prstGeom>
          <a:solidFill>
            <a:srgbClr val="F5F7FB"/>
          </a:solidFill>
          <a:ln w="11430">
            <a:solidFill>
              <a:srgbClr val="5A6478"/>
            </a:solidFill>
            <a:prstDash val="solid"/>
          </a:ln>
        </p:spPr>
        <p:txBody>
          <a:bodyPr/>
          <a:p/>
        </p:txBody>
      </p:sp>
      <p:sp>
        <p:nvSpPr>
          <p:cNvPr id="51" name="Text 49"/>
          <p:cNvSpPr txBox="1"/>
          <p:nvPr/>
        </p:nvSpPr>
        <p:spPr>
          <a:xfrm>
            <a:off x="2029968" y="4937760"/>
            <a:ext cx="786384" cy="274320"/>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Rx (roll)</a:t>
            </a:r>
            <a:endParaRPr lang="en-US" sz="900" dirty="0"/>
          </a:p>
        </p:txBody>
      </p:sp>
      <p:sp>
        <p:nvSpPr>
          <p:cNvPr id="52" name="Text 50"/>
          <p:cNvSpPr txBox="1"/>
          <p:nvPr/>
        </p:nvSpPr>
        <p:spPr>
          <a:xfrm>
            <a:off x="1773936" y="5257800"/>
            <a:ext cx="1298448"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이번 과제 0°</a:t>
            </a:r>
            <a:endParaRPr lang="en-US" sz="650" dirty="0"/>
          </a:p>
        </p:txBody>
      </p:sp>
      <p:sp>
        <p:nvSpPr>
          <p:cNvPr id="53" name="Shape 51"/>
          <p:cNvSpPr/>
          <p:nvPr/>
        </p:nvSpPr>
        <p:spPr>
          <a:xfrm>
            <a:off x="2834640" y="5074920"/>
            <a:ext cx="146304" cy="0"/>
          </a:xfrm>
          <a:prstGeom prst="line">
            <a:avLst/>
          </a:prstGeom>
          <a:noFill/>
          <a:ln w="16510">
            <a:solidFill>
              <a:srgbClr val="13233F"/>
            </a:solidFill>
            <a:prstDash val="solid"/>
            <a:headEnd type="none"/>
            <a:tailEnd type="triangle"/>
          </a:ln>
        </p:spPr>
        <p:txBody>
          <a:bodyPr/>
          <a:p/>
        </p:txBody>
      </p:sp>
      <p:sp>
        <p:nvSpPr>
          <p:cNvPr id="54" name="Shape 52"/>
          <p:cNvSpPr/>
          <p:nvPr/>
        </p:nvSpPr>
        <p:spPr>
          <a:xfrm>
            <a:off x="2999232" y="4937760"/>
            <a:ext cx="859536" cy="274320"/>
          </a:xfrm>
          <a:prstGeom prst="roundRect">
            <a:avLst>
              <a:gd name="adj" fmla="val 26667"/>
            </a:avLst>
          </a:prstGeom>
          <a:solidFill>
            <a:srgbClr val="F5F7FB"/>
          </a:solidFill>
          <a:ln w="11430">
            <a:solidFill>
              <a:srgbClr val="5A6478"/>
            </a:solidFill>
            <a:prstDash val="solid"/>
          </a:ln>
        </p:spPr>
        <p:txBody>
          <a:bodyPr/>
          <a:p/>
        </p:txBody>
      </p:sp>
      <p:sp>
        <p:nvSpPr>
          <p:cNvPr id="55" name="Text 53"/>
          <p:cNvSpPr txBox="1"/>
          <p:nvPr/>
        </p:nvSpPr>
        <p:spPr>
          <a:xfrm>
            <a:off x="2999232" y="4937760"/>
            <a:ext cx="859536" cy="274320"/>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Ry(pitch)</a:t>
            </a:r>
            <a:endParaRPr lang="en-US" sz="900" dirty="0"/>
          </a:p>
        </p:txBody>
      </p:sp>
      <p:sp>
        <p:nvSpPr>
          <p:cNvPr id="56" name="Text 54"/>
          <p:cNvSpPr txBox="1"/>
          <p:nvPr/>
        </p:nvSpPr>
        <p:spPr>
          <a:xfrm>
            <a:off x="2743200" y="5257800"/>
            <a:ext cx="1371600"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이번 과제 0°</a:t>
            </a:r>
            <a:endParaRPr lang="en-US" sz="650" dirty="0"/>
          </a:p>
        </p:txBody>
      </p:sp>
      <p:sp>
        <p:nvSpPr>
          <p:cNvPr id="57" name="Shape 55"/>
          <p:cNvSpPr/>
          <p:nvPr/>
        </p:nvSpPr>
        <p:spPr>
          <a:xfrm>
            <a:off x="3877056" y="5074920"/>
            <a:ext cx="146304" cy="0"/>
          </a:xfrm>
          <a:prstGeom prst="line">
            <a:avLst/>
          </a:prstGeom>
          <a:noFill/>
          <a:ln w="16510">
            <a:solidFill>
              <a:srgbClr val="13233F"/>
            </a:solidFill>
            <a:prstDash val="solid"/>
            <a:headEnd type="none"/>
            <a:tailEnd type="triangle"/>
          </a:ln>
        </p:spPr>
        <p:txBody>
          <a:bodyPr/>
          <a:p/>
        </p:txBody>
      </p:sp>
      <p:sp>
        <p:nvSpPr>
          <p:cNvPr id="58" name="Shape 56"/>
          <p:cNvSpPr/>
          <p:nvPr/>
        </p:nvSpPr>
        <p:spPr>
          <a:xfrm>
            <a:off x="4041648" y="4937760"/>
            <a:ext cx="786384" cy="274320"/>
          </a:xfrm>
          <a:prstGeom prst="roundRect">
            <a:avLst>
              <a:gd name="adj" fmla="val 26667"/>
            </a:avLst>
          </a:prstGeom>
          <a:solidFill>
            <a:srgbClr val="F5F7FB"/>
          </a:solidFill>
          <a:ln w="11430">
            <a:solidFill>
              <a:srgbClr val="5A6478"/>
            </a:solidFill>
            <a:prstDash val="solid"/>
          </a:ln>
        </p:spPr>
        <p:txBody>
          <a:bodyPr/>
          <a:p/>
        </p:txBody>
      </p:sp>
      <p:sp>
        <p:nvSpPr>
          <p:cNvPr id="59" name="Text 57"/>
          <p:cNvSpPr txBox="1"/>
          <p:nvPr/>
        </p:nvSpPr>
        <p:spPr>
          <a:xfrm>
            <a:off x="4041648" y="4937760"/>
            <a:ext cx="786384" cy="274320"/>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Rz(yaw)</a:t>
            </a:r>
            <a:endParaRPr lang="en-US" sz="900" dirty="0"/>
          </a:p>
        </p:txBody>
      </p:sp>
      <p:sp>
        <p:nvSpPr>
          <p:cNvPr id="60" name="Text 58"/>
          <p:cNvSpPr txBox="1"/>
          <p:nvPr/>
        </p:nvSpPr>
        <p:spPr>
          <a:xfrm>
            <a:off x="3785616" y="5257800"/>
            <a:ext cx="1298448"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이번 과제 45°</a:t>
            </a:r>
            <a:endParaRPr lang="en-US" sz="650" dirty="0"/>
          </a:p>
        </p:txBody>
      </p:sp>
      <p:sp>
        <p:nvSpPr>
          <p:cNvPr id="61" name="Shape 59"/>
          <p:cNvSpPr/>
          <p:nvPr/>
        </p:nvSpPr>
        <p:spPr>
          <a:xfrm>
            <a:off x="4846320" y="5074920"/>
            <a:ext cx="146304" cy="0"/>
          </a:xfrm>
          <a:prstGeom prst="line">
            <a:avLst/>
          </a:prstGeom>
          <a:noFill/>
          <a:ln w="16510">
            <a:solidFill>
              <a:srgbClr val="13233F"/>
            </a:solidFill>
            <a:prstDash val="solid"/>
            <a:headEnd type="none"/>
            <a:tailEnd type="triangle"/>
          </a:ln>
        </p:spPr>
        <p:txBody>
          <a:bodyPr/>
          <a:p/>
        </p:txBody>
      </p:sp>
      <p:sp>
        <p:nvSpPr>
          <p:cNvPr id="62" name="Shape 60"/>
          <p:cNvSpPr/>
          <p:nvPr/>
        </p:nvSpPr>
        <p:spPr>
          <a:xfrm>
            <a:off x="5010912" y="4937760"/>
            <a:ext cx="1298448" cy="274320"/>
          </a:xfrm>
          <a:prstGeom prst="roundRect">
            <a:avLst>
              <a:gd name="adj" fmla="val 26667"/>
            </a:avLst>
          </a:prstGeom>
          <a:solidFill>
            <a:srgbClr val="F5F7FB"/>
          </a:solidFill>
          <a:ln w="11430">
            <a:solidFill>
              <a:srgbClr val="5A6478"/>
            </a:solidFill>
            <a:prstDash val="solid"/>
          </a:ln>
        </p:spPr>
        <p:txBody>
          <a:bodyPr/>
          <a:p/>
        </p:txBody>
      </p:sp>
      <p:sp>
        <p:nvSpPr>
          <p:cNvPr id="63" name="Text 61"/>
          <p:cNvSpPr txBox="1"/>
          <p:nvPr/>
        </p:nvSpPr>
        <p:spPr>
          <a:xfrm>
            <a:off x="5010912" y="4937760"/>
            <a:ext cx="1298448" cy="274320"/>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p_NED  (N, E, D)</a:t>
            </a:r>
            <a:endParaRPr lang="en-US" sz="900" dirty="0"/>
          </a:p>
        </p:txBody>
      </p:sp>
      <p:sp>
        <p:nvSpPr>
          <p:cNvPr id="64" name="Text 62"/>
          <p:cNvSpPr txBox="1"/>
          <p:nvPr/>
        </p:nvSpPr>
        <p:spPr>
          <a:xfrm>
            <a:off x="4754880" y="5257800"/>
            <a:ext cx="1810512"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원점 = 무게중심 → 평행이동 없음</a:t>
            </a:r>
            <a:endParaRPr lang="en-US" sz="650" dirty="0"/>
          </a:p>
        </p:txBody>
      </p:sp>
      <p:sp>
        <p:nvSpPr>
          <p:cNvPr id="65" name="Shape 63"/>
          <p:cNvSpPr/>
          <p:nvPr/>
        </p:nvSpPr>
        <p:spPr>
          <a:xfrm>
            <a:off x="6327648" y="5074920"/>
            <a:ext cx="146304" cy="0"/>
          </a:xfrm>
          <a:prstGeom prst="line">
            <a:avLst/>
          </a:prstGeom>
          <a:noFill/>
          <a:ln w="16510">
            <a:solidFill>
              <a:srgbClr val="13233F"/>
            </a:solidFill>
            <a:prstDash val="solid"/>
            <a:headEnd type="none"/>
            <a:tailEnd type="triangle"/>
          </a:ln>
        </p:spPr>
        <p:txBody>
          <a:bodyPr/>
          <a:p/>
        </p:txBody>
      </p:sp>
      <p:sp>
        <p:nvSpPr>
          <p:cNvPr id="66" name="Shape 64"/>
          <p:cNvSpPr/>
          <p:nvPr/>
        </p:nvSpPr>
        <p:spPr>
          <a:xfrm>
            <a:off x="6492240" y="4937760"/>
            <a:ext cx="1207008" cy="274320"/>
          </a:xfrm>
          <a:prstGeom prst="roundRect">
            <a:avLst>
              <a:gd name="adj" fmla="val 26667"/>
            </a:avLst>
          </a:prstGeom>
          <a:solidFill>
            <a:srgbClr val="F5F7FB"/>
          </a:solidFill>
          <a:ln w="11430">
            <a:solidFill>
              <a:srgbClr val="5A6478"/>
            </a:solidFill>
            <a:prstDash val="solid"/>
          </a:ln>
        </p:spPr>
        <p:txBody>
          <a:bodyPr/>
          <a:p/>
        </p:txBody>
      </p:sp>
      <p:sp>
        <p:nvSpPr>
          <p:cNvPr id="67" name="Text 65"/>
          <p:cNvSpPr txBox="1"/>
          <p:nvPr/>
        </p:nvSpPr>
        <p:spPr>
          <a:xfrm>
            <a:off x="6492240" y="4937760"/>
            <a:ext cx="1207008" cy="274320"/>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순서만 바꿈</a:t>
            </a:r>
            <a:endParaRPr lang="en-US" sz="900" dirty="0"/>
          </a:p>
        </p:txBody>
      </p:sp>
      <p:sp>
        <p:nvSpPr>
          <p:cNvPr id="68" name="Text 66"/>
          <p:cNvSpPr txBox="1"/>
          <p:nvPr/>
        </p:nvSpPr>
        <p:spPr>
          <a:xfrm>
            <a:off x="6236208" y="5257800"/>
            <a:ext cx="1719072"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(E, N, U) = (E, N, −D)</a:t>
            </a:r>
            <a:endParaRPr lang="en-US" sz="650" dirty="0"/>
          </a:p>
        </p:txBody>
      </p:sp>
      <p:sp>
        <p:nvSpPr>
          <p:cNvPr id="69" name="Shape 67"/>
          <p:cNvSpPr/>
          <p:nvPr/>
        </p:nvSpPr>
        <p:spPr>
          <a:xfrm>
            <a:off x="7717536" y="5074920"/>
            <a:ext cx="146304" cy="0"/>
          </a:xfrm>
          <a:prstGeom prst="line">
            <a:avLst/>
          </a:prstGeom>
          <a:noFill/>
          <a:ln w="16510">
            <a:solidFill>
              <a:srgbClr val="13233F"/>
            </a:solidFill>
            <a:prstDash val="solid"/>
            <a:headEnd type="none"/>
            <a:tailEnd type="triangle"/>
          </a:ln>
        </p:spPr>
        <p:txBody>
          <a:bodyPr/>
          <a:p/>
        </p:txBody>
      </p:sp>
      <p:sp>
        <p:nvSpPr>
          <p:cNvPr id="70" name="Shape 68"/>
          <p:cNvSpPr/>
          <p:nvPr/>
        </p:nvSpPr>
        <p:spPr>
          <a:xfrm>
            <a:off x="7882128" y="4937760"/>
            <a:ext cx="1298448" cy="274320"/>
          </a:xfrm>
          <a:prstGeom prst="roundRect">
            <a:avLst>
              <a:gd name="adj" fmla="val 26667"/>
            </a:avLst>
          </a:prstGeom>
          <a:solidFill>
            <a:srgbClr val="F5F7FB"/>
          </a:solidFill>
          <a:ln w="11430">
            <a:solidFill>
              <a:srgbClr val="5A6478"/>
            </a:solidFill>
            <a:prstDash val="solid"/>
          </a:ln>
        </p:spPr>
        <p:txBody>
          <a:bodyPr/>
          <a:p/>
        </p:txBody>
      </p:sp>
      <p:sp>
        <p:nvSpPr>
          <p:cNvPr id="71" name="Text 69"/>
          <p:cNvSpPr txBox="1"/>
          <p:nvPr/>
        </p:nvSpPr>
        <p:spPr>
          <a:xfrm>
            <a:off x="7882128" y="4937760"/>
            <a:ext cx="1298448" cy="274320"/>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p_ENU  (E, N, U)</a:t>
            </a:r>
            <a:endParaRPr lang="en-US" sz="900" dirty="0"/>
          </a:p>
        </p:txBody>
      </p:sp>
      <p:sp>
        <p:nvSpPr>
          <p:cNvPr id="72" name="Text 70"/>
          <p:cNvSpPr txBox="1"/>
          <p:nvPr/>
        </p:nvSpPr>
        <p:spPr>
          <a:xfrm>
            <a:off x="7626096" y="5257800"/>
            <a:ext cx="1810512"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같은 값을 다른 순서로</a:t>
            </a:r>
            <a:endParaRPr lang="en-US" sz="650" dirty="0"/>
          </a:p>
        </p:txBody>
      </p:sp>
      <p:sp>
        <p:nvSpPr>
          <p:cNvPr id="73" name="Text 71"/>
          <p:cNvSpPr txBox="1"/>
          <p:nvPr/>
        </p:nvSpPr>
        <p:spPr>
          <a:xfrm>
            <a:off x="9381744" y="4937760"/>
            <a:ext cx="1883664" cy="365760"/>
          </a:xfrm>
          <a:prstGeom prst="rect">
            <a:avLst/>
          </a:prstGeom>
          <a:noFill/>
          <a:ln/>
        </p:spPr>
        <p:txBody>
          <a:bodyPr wrap="square" lIns="0" tIns="0" rIns="0" bIns="0" rtlCol="0" anchor="t"/>
          <a:lstStyle/>
          <a:p>
            <a:pPr marL="0" indent="0" algn="l">
              <a:lnSpc>
                <a:spcPct val="105000"/>
              </a:lnSpc>
              <a:spcAft>
                <a:spcPts val="200"/>
              </a:spcAft>
              <a:buNone/>
            </a:pPr>
            <a:r>
              <a:rPr lang="en-US" sz="650" dirty="0">
                <a:solidFill>
                  <a:srgbClr val="5A6478"/>
                </a:solidFill>
                <a:latin typeface="맑은 고딕" pitchFamily="34" charset="0"/>
                <a:ea typeface="맑은 고딕" pitchFamily="34" charset="-122"/>
                <a:cs typeface="맑은 고딕" pitchFamily="34" charset="-120"/>
              </a:rPr>
              <a:t>줄임말 : 세 회전행렬의 곱 = C_ned←body</a:t>
            </a:r>
            <a:endParaRPr lang="en-US" sz="700" dirty="0"/>
          </a:p>
          <a:p>
            <a:pPr marL="0" indent="0" algn="l">
              <a:lnSpc>
                <a:spcPct val="105000"/>
              </a:lnSpc>
              <a:buNone/>
            </a:pPr>
            <a:r>
              <a:rPr lang="en-US" sz="650" dirty="0">
                <a:solidFill>
                  <a:srgbClr val="5A6478"/>
                </a:solidFill>
                <a:latin typeface="맑은 고딕" pitchFamily="34" charset="0"/>
                <a:ea typeface="맑은 고딕" pitchFamily="34" charset="-122"/>
                <a:cs typeface="맑은 고딕" pitchFamily="34" charset="-120"/>
              </a:rPr>
              <a:t>'동체 → NED 변환 행렬' — 설계 장에서 이 줄임말을 쓴다</a:t>
            </a:r>
            <a:endParaRPr lang="en-US" sz="700" dirty="0"/>
          </a:p>
        </p:txBody>
      </p:sp>
      <p:sp>
        <p:nvSpPr>
          <p:cNvPr id="74" name="Text 72"/>
          <p:cNvSpPr txBox="1"/>
          <p:nvPr/>
        </p:nvSpPr>
        <p:spPr>
          <a:xfrm>
            <a:off x="1188720" y="5504688"/>
            <a:ext cx="9784080" cy="329184"/>
          </a:xfrm>
          <a:prstGeom prst="rect">
            <a:avLst/>
          </a:prstGeom>
          <a:noFill/>
          <a:ln/>
        </p:spPr>
        <p:txBody>
          <a:bodyPr wrap="square" lIns="0" tIns="0" rIns="0" bIns="0" rtlCol="0" anchor="t"/>
          <a:lstStyle/>
          <a:p>
            <a:pPr marL="0" indent="0" algn="l">
              <a:lnSpc>
                <a:spcPct val="105000"/>
              </a:lnSpc>
              <a:spcAft>
                <a:spcPts val="300"/>
              </a:spcAft>
              <a:buNone/>
            </a:pPr>
            <a:r>
              <a:rPr lang="en-US" sz="850" dirty="0">
                <a:solidFill>
                  <a:srgbClr val="5A6478"/>
                </a:solidFill>
                <a:latin typeface="맑은 고딕" pitchFamily="34" charset="0"/>
                <a:ea typeface="맑은 고딕" pitchFamily="34" charset="-122"/>
                <a:cs typeface="맑은 고딕" pitchFamily="34" charset="-120"/>
              </a:rPr>
              <a:t>식으로 쓰면  p_NED = Rz(yaw) · Ry(pitch) · Rx(roll) · p동체  —  벡터에 가까운 오른쪽(roll)부터 차례로 곱한다</a:t>
            </a:r>
            <a:endParaRPr lang="en-US" sz="85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이번 과제  p_NED = Rz(45°) · Ry(0°) · Rx(0°) · p동체 = Rz(45°) · p동체</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01. ECEF / ECI 지구 중심 좌표계</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14</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둘 다 원점은 같고, 축이 도느냐 마느냐만 다르다.</a:t>
            </a:r>
            <a:endParaRPr lang="en-US" sz="1450" dirty="0"/>
          </a:p>
        </p:txBody>
      </p:sp>
      <p:sp>
        <p:nvSpPr>
          <p:cNvPr id="10" name="Text 8"/>
          <p:cNvSpPr txBox="1"/>
          <p:nvPr/>
        </p:nvSpPr>
        <p:spPr>
          <a:xfrm>
            <a:off x="932688" y="1755648"/>
            <a:ext cx="3108960" cy="548640"/>
          </a:xfrm>
          <a:prstGeom prst="rect">
            <a:avLst/>
          </a:prstGeom>
          <a:noFill/>
          <a:ln/>
        </p:spPr>
        <p:txBody>
          <a:bodyPr wrap="square" lIns="0" tIns="0" rIns="0" bIns="0" rtlCol="0" anchor="t"/>
          <a:lstStyle/>
          <a:p>
            <a:pPr marL="0" indent="0" algn="l">
              <a:lnSpc>
                <a:spcPct val="105000"/>
              </a:lnSpc>
              <a:spcAft>
                <a:spcPts val="200"/>
              </a:spcAft>
              <a:buNone/>
            </a:pPr>
            <a:r>
              <a:rPr lang="en-US" sz="1200" b="1" dirty="0">
                <a:solidFill>
                  <a:srgbClr val="1A2233"/>
                </a:solidFill>
                <a:latin typeface="맑은 고딕" pitchFamily="34" charset="0"/>
                <a:ea typeface="맑은 고딕" pitchFamily="34" charset="-122"/>
                <a:cs typeface="맑은 고딕" pitchFamily="34" charset="-120"/>
              </a:rPr>
              <a:t>ECEF — 지구와 함께 돈다</a:t>
            </a:r>
            <a:endParaRPr lang="en-US" sz="1200" dirty="0"/>
          </a:p>
          <a:p>
            <a:pPr marL="0" indent="0" algn="l">
              <a:lnSpc>
                <a:spcPct val="105000"/>
              </a:lnSpc>
              <a:spcAft>
                <a:spcPts val="200"/>
              </a:spcAft>
              <a:buNone/>
            </a:pPr>
            <a:r>
              <a:rPr lang="en-US" sz="800" dirty="0">
                <a:solidFill>
                  <a:srgbClr val="5A6478"/>
                </a:solidFill>
                <a:latin typeface="맑은 고딕" pitchFamily="34" charset="0"/>
                <a:ea typeface="맑은 고딕" pitchFamily="34" charset="-122"/>
                <a:cs typeface="맑은 고딕" pitchFamily="34" charset="-120"/>
              </a:rPr>
              <a:t>Earth-Centered, Earth-Fixed</a:t>
            </a:r>
            <a:endParaRPr lang="en-US" sz="1200" dirty="0"/>
          </a:p>
          <a:p>
            <a:pPr marL="0" indent="0" algn="l">
              <a:lnSpc>
                <a:spcPct val="105000"/>
              </a:lnSpc>
              <a:buNone/>
            </a:pPr>
            <a:r>
              <a:rPr lang="en-US" sz="700" dirty="0">
                <a:solidFill>
                  <a:srgbClr val="5A6478"/>
                </a:solidFill>
                <a:latin typeface="맑은 고딕" pitchFamily="34" charset="0"/>
                <a:ea typeface="맑은 고딕" pitchFamily="34" charset="-122"/>
                <a:cs typeface="맑은 고딕" pitchFamily="34" charset="-120"/>
              </a:rPr>
              <a:t>축과 건물이 같이 도니 사이 각(경도)이 언제 봐도 같다.</a:t>
            </a:r>
            <a:endParaRPr lang="en-US" sz="1200" dirty="0"/>
          </a:p>
        </p:txBody>
      </p:sp>
      <p:sp>
        <p:nvSpPr>
          <p:cNvPr id="11" name="Shape 9"/>
          <p:cNvSpPr/>
          <p:nvPr/>
        </p:nvSpPr>
        <p:spPr>
          <a:xfrm>
            <a:off x="1444752" y="2542032"/>
            <a:ext cx="1353312" cy="1353312"/>
          </a:xfrm>
          <a:prstGeom prst="ellipse">
            <a:avLst/>
          </a:prstGeom>
          <a:solidFill>
            <a:srgbClr val="EEF1F7"/>
          </a:solidFill>
          <a:ln w="13970">
            <a:solidFill>
              <a:srgbClr val="13233F"/>
            </a:solidFill>
            <a:prstDash val="solid"/>
          </a:ln>
        </p:spPr>
        <p:txBody>
          <a:bodyPr/>
          <a:p/>
        </p:txBody>
      </p:sp>
      <p:sp>
        <p:nvSpPr>
          <p:cNvPr id="12" name="Shape 10"/>
          <p:cNvSpPr/>
          <p:nvPr/>
        </p:nvSpPr>
        <p:spPr>
          <a:xfrm>
            <a:off x="2057400" y="3154680"/>
            <a:ext cx="128016" cy="128016"/>
          </a:xfrm>
          <a:prstGeom prst="ellipse">
            <a:avLst/>
          </a:prstGeom>
          <a:ln w="12700">
            <a:solidFill>
              <a:srgbClr val="13233F"/>
            </a:solidFill>
            <a:prstDash val="solid"/>
          </a:ln>
        </p:spPr>
        <p:txBody>
          <a:bodyPr/>
          <a:p/>
        </p:txBody>
      </p:sp>
      <p:sp>
        <p:nvSpPr>
          <p:cNvPr id="13" name="Shape 11"/>
          <p:cNvSpPr/>
          <p:nvPr/>
        </p:nvSpPr>
        <p:spPr>
          <a:xfrm>
            <a:off x="2095805" y="3193085"/>
            <a:ext cx="51206" cy="51206"/>
          </a:xfrm>
          <a:prstGeom prst="ellipse">
            <a:avLst/>
          </a:prstGeom>
          <a:solidFill>
            <a:srgbClr val="13233F"/>
          </a:solidFill>
          <a:ln/>
        </p:spPr>
        <p:txBody>
          <a:bodyPr/>
          <a:p/>
        </p:txBody>
      </p:sp>
      <p:sp>
        <p:nvSpPr>
          <p:cNvPr id="14" name="Shape 12"/>
          <p:cNvSpPr/>
          <p:nvPr/>
        </p:nvSpPr>
        <p:spPr>
          <a:xfrm>
            <a:off x="2121408" y="3218688"/>
            <a:ext cx="1152144" cy="0"/>
          </a:xfrm>
          <a:prstGeom prst="line">
            <a:avLst/>
          </a:prstGeom>
          <a:noFill/>
          <a:ln w="13970">
            <a:solidFill>
              <a:srgbClr val="13233F"/>
            </a:solidFill>
            <a:prstDash val="solid"/>
            <a:headEnd type="none"/>
            <a:tailEnd type="triangle"/>
          </a:ln>
        </p:spPr>
        <p:txBody>
          <a:bodyPr/>
          <a:p/>
        </p:txBody>
      </p:sp>
      <p:sp>
        <p:nvSpPr>
          <p:cNvPr id="15" name="Text 13"/>
          <p:cNvSpPr txBox="1"/>
          <p:nvPr/>
        </p:nvSpPr>
        <p:spPr>
          <a:xfrm>
            <a:off x="3328416" y="3200400"/>
            <a:ext cx="22860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X</a:t>
            </a:r>
            <a:endParaRPr lang="en-US" sz="1000" dirty="0"/>
          </a:p>
        </p:txBody>
      </p:sp>
      <p:sp>
        <p:nvSpPr>
          <p:cNvPr id="16" name="Shape 14"/>
          <p:cNvSpPr/>
          <p:nvPr/>
        </p:nvSpPr>
        <p:spPr>
          <a:xfrm rot="-3011666">
            <a:off x="1992923" y="2944368"/>
            <a:ext cx="714169" cy="0"/>
          </a:xfrm>
          <a:prstGeom prst="line">
            <a:avLst/>
          </a:prstGeom>
          <a:noFill/>
          <a:ln w="12700">
            <a:solidFill>
              <a:srgbClr val="13233F"/>
            </a:solidFill>
            <a:prstDash val="solid"/>
            <a:headEnd type="none"/>
            <a:tailEnd type="none"/>
          </a:ln>
        </p:spPr>
        <p:txBody>
          <a:bodyPr/>
          <a:p/>
        </p:txBody>
      </p:sp>
      <p:sp>
        <p:nvSpPr>
          <p:cNvPr id="17" name="Shape 15"/>
          <p:cNvSpPr/>
          <p:nvPr/>
        </p:nvSpPr>
        <p:spPr>
          <a:xfrm>
            <a:off x="2514600" y="2496312"/>
            <a:ext cx="237744" cy="237744"/>
          </a:xfrm>
          <a:prstGeom prst="ellipse">
            <a:avLst/>
          </a:prstGeom>
          <a:solidFill>
            <a:srgbClr val="34507F"/>
          </a:solidFill>
          <a:ln/>
        </p:spPr>
        <p:txBody>
          <a:bodyPr/>
          <a:p/>
        </p:txBody>
      </p:sp>
      <p:sp>
        <p:nvSpPr>
          <p:cNvPr id="18" name="Shape 16"/>
          <p:cNvSpPr/>
          <p:nvPr/>
        </p:nvSpPr>
        <p:spPr>
          <a:xfrm rot="2650000">
            <a:off x="2349002" y="2957016"/>
            <a:ext cx="53151" cy="0"/>
          </a:xfrm>
          <a:prstGeom prst="line">
            <a:avLst/>
          </a:prstGeom>
          <a:noFill/>
          <a:ln w="12700">
            <a:solidFill>
              <a:srgbClr val="13233F"/>
            </a:solidFill>
            <a:prstDash val="solid"/>
            <a:headEnd type="none"/>
            <a:tailEnd type="none"/>
          </a:ln>
        </p:spPr>
        <p:txBody>
          <a:bodyPr/>
          <a:p/>
        </p:txBody>
      </p:sp>
      <p:sp>
        <p:nvSpPr>
          <p:cNvPr id="19" name="Shape 17"/>
          <p:cNvSpPr/>
          <p:nvPr/>
        </p:nvSpPr>
        <p:spPr>
          <a:xfrm rot="3150000">
            <a:off x="2384243" y="2996616"/>
            <a:ext cx="53151" cy="0"/>
          </a:xfrm>
          <a:prstGeom prst="line">
            <a:avLst/>
          </a:prstGeom>
          <a:noFill/>
          <a:ln w="12700">
            <a:solidFill>
              <a:srgbClr val="13233F"/>
            </a:solidFill>
            <a:prstDash val="solid"/>
            <a:headEnd type="none"/>
            <a:tailEnd type="none"/>
          </a:ln>
        </p:spPr>
        <p:txBody>
          <a:bodyPr/>
          <a:p/>
        </p:txBody>
      </p:sp>
      <p:sp>
        <p:nvSpPr>
          <p:cNvPr id="20" name="Shape 18"/>
          <p:cNvSpPr/>
          <p:nvPr/>
        </p:nvSpPr>
        <p:spPr>
          <a:xfrm rot="3650000">
            <a:off x="2413372" y="3040905"/>
            <a:ext cx="53151" cy="0"/>
          </a:xfrm>
          <a:prstGeom prst="line">
            <a:avLst/>
          </a:prstGeom>
          <a:noFill/>
          <a:ln w="12700">
            <a:solidFill>
              <a:srgbClr val="13233F"/>
            </a:solidFill>
            <a:prstDash val="solid"/>
            <a:headEnd type="none"/>
            <a:tailEnd type="none"/>
          </a:ln>
        </p:spPr>
        <p:txBody>
          <a:bodyPr/>
          <a:p/>
        </p:txBody>
      </p:sp>
      <p:sp>
        <p:nvSpPr>
          <p:cNvPr id="21" name="Shape 19"/>
          <p:cNvSpPr/>
          <p:nvPr/>
        </p:nvSpPr>
        <p:spPr>
          <a:xfrm rot="4150000">
            <a:off x="2435775" y="3088949"/>
            <a:ext cx="53151" cy="0"/>
          </a:xfrm>
          <a:prstGeom prst="line">
            <a:avLst/>
          </a:prstGeom>
          <a:noFill/>
          <a:ln w="12700">
            <a:solidFill>
              <a:srgbClr val="13233F"/>
            </a:solidFill>
            <a:prstDash val="solid"/>
            <a:headEnd type="none"/>
            <a:tailEnd type="none"/>
          </a:ln>
        </p:spPr>
        <p:txBody>
          <a:bodyPr/>
          <a:p/>
        </p:txBody>
      </p:sp>
      <p:sp>
        <p:nvSpPr>
          <p:cNvPr id="22" name="Shape 20"/>
          <p:cNvSpPr/>
          <p:nvPr/>
        </p:nvSpPr>
        <p:spPr>
          <a:xfrm rot="4650000">
            <a:off x="2450979" y="3139732"/>
            <a:ext cx="53151" cy="0"/>
          </a:xfrm>
          <a:prstGeom prst="line">
            <a:avLst/>
          </a:prstGeom>
          <a:noFill/>
          <a:ln w="12700">
            <a:solidFill>
              <a:srgbClr val="13233F"/>
            </a:solidFill>
            <a:prstDash val="solid"/>
            <a:headEnd type="none"/>
            <a:tailEnd type="none"/>
          </a:ln>
        </p:spPr>
        <p:txBody>
          <a:bodyPr/>
          <a:p/>
        </p:txBody>
      </p:sp>
      <p:sp>
        <p:nvSpPr>
          <p:cNvPr id="23" name="Shape 21"/>
          <p:cNvSpPr/>
          <p:nvPr/>
        </p:nvSpPr>
        <p:spPr>
          <a:xfrm rot="5150000">
            <a:off x="2458662" y="3192183"/>
            <a:ext cx="53151" cy="0"/>
          </a:xfrm>
          <a:prstGeom prst="line">
            <a:avLst/>
          </a:prstGeom>
          <a:noFill/>
          <a:ln w="12700">
            <a:solidFill>
              <a:srgbClr val="13233F"/>
            </a:solidFill>
            <a:prstDash val="solid"/>
            <a:headEnd type="none"/>
            <a:tailEnd type="none"/>
          </a:ln>
        </p:spPr>
        <p:txBody>
          <a:bodyPr/>
          <a:p/>
        </p:txBody>
      </p:sp>
      <p:sp>
        <p:nvSpPr>
          <p:cNvPr id="24" name="Text 22"/>
          <p:cNvSpPr txBox="1"/>
          <p:nvPr/>
        </p:nvSpPr>
        <p:spPr>
          <a:xfrm>
            <a:off x="2377440" y="2944368"/>
            <a:ext cx="365760" cy="201168"/>
          </a:xfrm>
          <a:prstGeom prst="rect">
            <a:avLst/>
          </a:prstGeom>
          <a:noFill/>
          <a:ln/>
        </p:spPr>
        <p:txBody>
          <a:bodyPr wrap="square" lIns="0" tIns="0" rIns="0" bIns="0" rtlCol="0" anchor="ctr"/>
          <a:lstStyle/>
          <a:p>
            <a:pPr marL="0" indent="0" algn="l">
              <a:buNone/>
            </a:pPr>
            <a:r>
              <a:rPr lang="en-US" sz="700" dirty="0">
                <a:solidFill>
                  <a:srgbClr val="5A6478"/>
                </a:solidFill>
                <a:latin typeface="맑은 고딕" pitchFamily="34" charset="0"/>
                <a:ea typeface="맑은 고딕" pitchFamily="34" charset="-122"/>
                <a:cs typeface="맑은 고딕" pitchFamily="34" charset="-120"/>
              </a:rPr>
              <a:t>경도</a:t>
            </a:r>
            <a:endParaRPr lang="en-US" sz="700" dirty="0"/>
          </a:p>
        </p:txBody>
      </p:sp>
      <p:sp>
        <p:nvSpPr>
          <p:cNvPr id="25" name="Shape 23"/>
          <p:cNvSpPr/>
          <p:nvPr/>
        </p:nvSpPr>
        <p:spPr>
          <a:xfrm rot="3826682">
            <a:off x="1228167" y="3172968"/>
            <a:ext cx="1365858" cy="0"/>
          </a:xfrm>
          <a:prstGeom prst="line">
            <a:avLst/>
          </a:prstGeom>
          <a:noFill/>
          <a:ln w="11430">
            <a:solidFill>
              <a:srgbClr val="5A6478"/>
            </a:solidFill>
            <a:prstDash val="dash"/>
            <a:headEnd type="none"/>
            <a:tailEnd type="none"/>
          </a:ln>
        </p:spPr>
        <p:txBody>
          <a:bodyPr/>
          <a:p/>
        </p:txBody>
      </p:sp>
      <p:sp>
        <p:nvSpPr>
          <p:cNvPr id="26" name="Text 24"/>
          <p:cNvSpPr txBox="1"/>
          <p:nvPr/>
        </p:nvSpPr>
        <p:spPr>
          <a:xfrm>
            <a:off x="932688" y="3602736"/>
            <a:ext cx="1005840" cy="201168"/>
          </a:xfrm>
          <a:prstGeom prst="rect">
            <a:avLst/>
          </a:prstGeom>
          <a:noFill/>
          <a:ln/>
        </p:spPr>
        <p:txBody>
          <a:bodyPr wrap="square" lIns="0" tIns="0" rIns="0" bIns="0" rtlCol="0" anchor="ctr"/>
          <a:lstStyle/>
          <a:p>
            <a:pPr marL="0" indent="0" algn="l">
              <a:buNone/>
            </a:pPr>
            <a:r>
              <a:rPr lang="en-US" sz="650" dirty="0">
                <a:solidFill>
                  <a:srgbClr val="5A6478"/>
                </a:solidFill>
                <a:latin typeface="맑은 고딕" pitchFamily="34" charset="0"/>
                <a:ea typeface="맑은 고딕" pitchFamily="34" charset="-122"/>
                <a:cs typeface="맑은 고딕" pitchFamily="34" charset="-120"/>
              </a:rPr>
              <a:t>그리니치 자오선</a:t>
            </a:r>
            <a:endParaRPr lang="en-US" sz="650" dirty="0"/>
          </a:p>
        </p:txBody>
      </p:sp>
      <p:sp>
        <p:nvSpPr>
          <p:cNvPr id="27" name="Text 25"/>
          <p:cNvSpPr txBox="1"/>
          <p:nvPr/>
        </p:nvSpPr>
        <p:spPr>
          <a:xfrm>
            <a:off x="4590288" y="1755648"/>
            <a:ext cx="2889504" cy="548640"/>
          </a:xfrm>
          <a:prstGeom prst="rect">
            <a:avLst/>
          </a:prstGeom>
          <a:noFill/>
          <a:ln/>
        </p:spPr>
        <p:txBody>
          <a:bodyPr wrap="square" lIns="0" tIns="0" rIns="0" bIns="0" rtlCol="0" anchor="t"/>
          <a:lstStyle/>
          <a:p>
            <a:pPr marL="0" indent="0" algn="l">
              <a:lnSpc>
                <a:spcPct val="105000"/>
              </a:lnSpc>
              <a:spcAft>
                <a:spcPts val="200"/>
              </a:spcAft>
              <a:buNone/>
            </a:pPr>
            <a:r>
              <a:rPr lang="en-US" sz="1200" b="1" dirty="0">
                <a:solidFill>
                  <a:srgbClr val="1A2233"/>
                </a:solidFill>
                <a:latin typeface="맑은 고딕" pitchFamily="34" charset="0"/>
                <a:ea typeface="맑은 고딕" pitchFamily="34" charset="-122"/>
                <a:cs typeface="맑은 고딕" pitchFamily="34" charset="-120"/>
              </a:rPr>
              <a:t>ECI — 별에 고정, 돌지 않는다</a:t>
            </a:r>
            <a:endParaRPr lang="en-US" sz="1200" dirty="0"/>
          </a:p>
          <a:p>
            <a:pPr marL="0" indent="0" algn="l">
              <a:lnSpc>
                <a:spcPct val="105000"/>
              </a:lnSpc>
              <a:spcAft>
                <a:spcPts val="200"/>
              </a:spcAft>
              <a:buNone/>
            </a:pPr>
            <a:r>
              <a:rPr lang="en-US" sz="800" dirty="0">
                <a:solidFill>
                  <a:srgbClr val="5A6478"/>
                </a:solidFill>
                <a:latin typeface="맑은 고딕" pitchFamily="34" charset="0"/>
                <a:ea typeface="맑은 고딕" pitchFamily="34" charset="-122"/>
                <a:cs typeface="맑은 고딕" pitchFamily="34" charset="-120"/>
              </a:rPr>
              <a:t>Earth-Centered Inertial</a:t>
            </a:r>
            <a:endParaRPr lang="en-US" sz="1200" dirty="0"/>
          </a:p>
          <a:p>
            <a:pPr marL="0" indent="0" algn="l">
              <a:lnSpc>
                <a:spcPct val="105000"/>
              </a:lnSpc>
              <a:buNone/>
            </a:pPr>
            <a:r>
              <a:rPr lang="en-US" sz="700" dirty="0">
                <a:solidFill>
                  <a:srgbClr val="5A6478"/>
                </a:solidFill>
                <a:latin typeface="맑은 고딕" pitchFamily="34" charset="0"/>
                <a:ea typeface="맑은 고딕" pitchFamily="34" charset="-122"/>
                <a:cs typeface="맑은 고딕" pitchFamily="34" charset="-120"/>
              </a:rPr>
              <a:t>축이 멈춰 있으니 건물은 하루에 한 바퀴 돈다.</a:t>
            </a:r>
            <a:endParaRPr lang="en-US" sz="1200" dirty="0"/>
          </a:p>
        </p:txBody>
      </p:sp>
      <p:sp>
        <p:nvSpPr>
          <p:cNvPr id="28" name="Shape 26"/>
          <p:cNvSpPr/>
          <p:nvPr/>
        </p:nvSpPr>
        <p:spPr>
          <a:xfrm>
            <a:off x="4864608" y="2340864"/>
            <a:ext cx="1755648" cy="1755648"/>
          </a:xfrm>
          <a:prstGeom prst="ellipse">
            <a:avLst/>
          </a:prstGeom>
          <a:ln w="11430">
            <a:solidFill>
              <a:srgbClr val="5A6478"/>
            </a:solidFill>
            <a:prstDash val="dash"/>
          </a:ln>
        </p:spPr>
        <p:txBody>
          <a:bodyPr/>
          <a:p/>
        </p:txBody>
      </p:sp>
      <p:sp>
        <p:nvSpPr>
          <p:cNvPr id="29" name="Shape 27"/>
          <p:cNvSpPr/>
          <p:nvPr/>
        </p:nvSpPr>
        <p:spPr>
          <a:xfrm>
            <a:off x="5065776" y="2542032"/>
            <a:ext cx="1353312" cy="1353312"/>
          </a:xfrm>
          <a:prstGeom prst="ellipse">
            <a:avLst/>
          </a:prstGeom>
          <a:solidFill>
            <a:srgbClr val="EEF1F7"/>
          </a:solidFill>
          <a:ln w="13970">
            <a:solidFill>
              <a:srgbClr val="13233F"/>
            </a:solidFill>
            <a:prstDash val="solid"/>
          </a:ln>
        </p:spPr>
        <p:txBody>
          <a:bodyPr/>
          <a:p/>
        </p:txBody>
      </p:sp>
      <p:sp>
        <p:nvSpPr>
          <p:cNvPr id="30" name="Shape 28"/>
          <p:cNvSpPr/>
          <p:nvPr/>
        </p:nvSpPr>
        <p:spPr>
          <a:xfrm>
            <a:off x="5678424" y="3154680"/>
            <a:ext cx="128016" cy="128016"/>
          </a:xfrm>
          <a:prstGeom prst="ellipse">
            <a:avLst/>
          </a:prstGeom>
          <a:ln w="12700">
            <a:solidFill>
              <a:srgbClr val="13233F"/>
            </a:solidFill>
            <a:prstDash val="solid"/>
          </a:ln>
        </p:spPr>
        <p:txBody>
          <a:bodyPr/>
          <a:p/>
        </p:txBody>
      </p:sp>
      <p:sp>
        <p:nvSpPr>
          <p:cNvPr id="31" name="Shape 29"/>
          <p:cNvSpPr/>
          <p:nvPr/>
        </p:nvSpPr>
        <p:spPr>
          <a:xfrm>
            <a:off x="5716829" y="3193085"/>
            <a:ext cx="51206" cy="51206"/>
          </a:xfrm>
          <a:prstGeom prst="ellipse">
            <a:avLst/>
          </a:prstGeom>
          <a:solidFill>
            <a:srgbClr val="13233F"/>
          </a:solidFill>
          <a:ln/>
        </p:spPr>
        <p:txBody>
          <a:bodyPr/>
          <a:p/>
        </p:txBody>
      </p:sp>
      <p:sp>
        <p:nvSpPr>
          <p:cNvPr id="32" name="Shape 30"/>
          <p:cNvSpPr/>
          <p:nvPr/>
        </p:nvSpPr>
        <p:spPr>
          <a:xfrm>
            <a:off x="5742432" y="3218688"/>
            <a:ext cx="1152144" cy="0"/>
          </a:xfrm>
          <a:prstGeom prst="line">
            <a:avLst/>
          </a:prstGeom>
          <a:noFill/>
          <a:ln w="13970">
            <a:solidFill>
              <a:srgbClr val="13233F"/>
            </a:solidFill>
            <a:prstDash val="solid"/>
            <a:headEnd type="none"/>
            <a:tailEnd type="triangle"/>
          </a:ln>
        </p:spPr>
        <p:txBody>
          <a:bodyPr/>
          <a:p/>
        </p:txBody>
      </p:sp>
      <p:sp>
        <p:nvSpPr>
          <p:cNvPr id="33" name="Text 31"/>
          <p:cNvSpPr txBox="1"/>
          <p:nvPr/>
        </p:nvSpPr>
        <p:spPr>
          <a:xfrm>
            <a:off x="6949440" y="3200400"/>
            <a:ext cx="22860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X</a:t>
            </a:r>
            <a:endParaRPr lang="en-US" sz="1000" dirty="0"/>
          </a:p>
        </p:txBody>
      </p:sp>
      <p:sp>
        <p:nvSpPr>
          <p:cNvPr id="34" name="Shape 32"/>
          <p:cNvSpPr/>
          <p:nvPr/>
        </p:nvSpPr>
        <p:spPr>
          <a:xfrm rot="-3011666">
            <a:off x="5613947" y="2944368"/>
            <a:ext cx="714169" cy="0"/>
          </a:xfrm>
          <a:prstGeom prst="line">
            <a:avLst/>
          </a:prstGeom>
          <a:noFill/>
          <a:ln w="12700">
            <a:solidFill>
              <a:srgbClr val="13233F"/>
            </a:solidFill>
            <a:prstDash val="solid"/>
            <a:headEnd type="none"/>
            <a:tailEnd type="none"/>
          </a:ln>
        </p:spPr>
        <p:txBody>
          <a:bodyPr/>
          <a:p/>
        </p:txBody>
      </p:sp>
      <p:sp>
        <p:nvSpPr>
          <p:cNvPr id="35" name="Shape 33"/>
          <p:cNvSpPr/>
          <p:nvPr/>
        </p:nvSpPr>
        <p:spPr>
          <a:xfrm>
            <a:off x="6135624" y="2496312"/>
            <a:ext cx="237744" cy="237744"/>
          </a:xfrm>
          <a:prstGeom prst="ellipse">
            <a:avLst/>
          </a:prstGeom>
          <a:solidFill>
            <a:srgbClr val="34507F"/>
          </a:solidFill>
          <a:ln/>
        </p:spPr>
        <p:txBody>
          <a:bodyPr/>
          <a:p/>
        </p:txBody>
      </p:sp>
      <p:sp>
        <p:nvSpPr>
          <p:cNvPr id="36" name="Shape 34"/>
          <p:cNvSpPr/>
          <p:nvPr/>
        </p:nvSpPr>
        <p:spPr>
          <a:xfrm rot="2650000">
            <a:off x="5981405" y="2943932"/>
            <a:ext cx="55808" cy="0"/>
          </a:xfrm>
          <a:prstGeom prst="line">
            <a:avLst/>
          </a:prstGeom>
          <a:noFill/>
          <a:ln w="12700">
            <a:solidFill>
              <a:srgbClr val="13233F"/>
            </a:solidFill>
            <a:prstDash val="solid"/>
            <a:headEnd type="none"/>
            <a:tailEnd type="none"/>
          </a:ln>
        </p:spPr>
        <p:txBody>
          <a:bodyPr/>
          <a:p/>
        </p:txBody>
      </p:sp>
      <p:sp>
        <p:nvSpPr>
          <p:cNvPr id="37" name="Shape 35"/>
          <p:cNvSpPr/>
          <p:nvPr/>
        </p:nvSpPr>
        <p:spPr>
          <a:xfrm rot="3150000">
            <a:off x="6018408" y="2985512"/>
            <a:ext cx="55808" cy="0"/>
          </a:xfrm>
          <a:prstGeom prst="line">
            <a:avLst/>
          </a:prstGeom>
          <a:noFill/>
          <a:ln w="12700">
            <a:solidFill>
              <a:srgbClr val="13233F"/>
            </a:solidFill>
            <a:prstDash val="solid"/>
            <a:headEnd type="none"/>
            <a:tailEnd type="none"/>
          </a:ln>
        </p:spPr>
        <p:txBody>
          <a:bodyPr/>
          <a:p/>
        </p:txBody>
      </p:sp>
      <p:sp>
        <p:nvSpPr>
          <p:cNvPr id="38" name="Shape 36"/>
          <p:cNvSpPr/>
          <p:nvPr/>
        </p:nvSpPr>
        <p:spPr>
          <a:xfrm rot="3650000">
            <a:off x="6048994" y="3032016"/>
            <a:ext cx="55808" cy="0"/>
          </a:xfrm>
          <a:prstGeom prst="line">
            <a:avLst/>
          </a:prstGeom>
          <a:noFill/>
          <a:ln w="12700">
            <a:solidFill>
              <a:srgbClr val="13233F"/>
            </a:solidFill>
            <a:prstDash val="solid"/>
            <a:headEnd type="none"/>
            <a:tailEnd type="none"/>
          </a:ln>
        </p:spPr>
        <p:txBody>
          <a:bodyPr/>
          <a:p/>
        </p:txBody>
      </p:sp>
      <p:sp>
        <p:nvSpPr>
          <p:cNvPr id="39" name="Shape 37"/>
          <p:cNvSpPr/>
          <p:nvPr/>
        </p:nvSpPr>
        <p:spPr>
          <a:xfrm rot="4150000">
            <a:off x="6072518" y="3082462"/>
            <a:ext cx="55808" cy="0"/>
          </a:xfrm>
          <a:prstGeom prst="line">
            <a:avLst/>
          </a:prstGeom>
          <a:noFill/>
          <a:ln w="12700">
            <a:solidFill>
              <a:srgbClr val="13233F"/>
            </a:solidFill>
            <a:prstDash val="solid"/>
            <a:headEnd type="none"/>
            <a:tailEnd type="none"/>
          </a:ln>
        </p:spPr>
        <p:txBody>
          <a:bodyPr/>
          <a:p/>
        </p:txBody>
      </p:sp>
      <p:sp>
        <p:nvSpPr>
          <p:cNvPr id="40" name="Shape 38"/>
          <p:cNvSpPr/>
          <p:nvPr/>
        </p:nvSpPr>
        <p:spPr>
          <a:xfrm rot="4650000">
            <a:off x="6088481" y="3135785"/>
            <a:ext cx="55808" cy="0"/>
          </a:xfrm>
          <a:prstGeom prst="line">
            <a:avLst/>
          </a:prstGeom>
          <a:noFill/>
          <a:ln w="12700">
            <a:solidFill>
              <a:srgbClr val="13233F"/>
            </a:solidFill>
            <a:prstDash val="solid"/>
            <a:headEnd type="none"/>
            <a:tailEnd type="none"/>
          </a:ln>
        </p:spPr>
        <p:txBody>
          <a:bodyPr/>
          <a:p/>
        </p:txBody>
      </p:sp>
      <p:sp>
        <p:nvSpPr>
          <p:cNvPr id="41" name="Shape 39"/>
          <p:cNvSpPr/>
          <p:nvPr/>
        </p:nvSpPr>
        <p:spPr>
          <a:xfrm rot="5150000">
            <a:off x="6096548" y="3190858"/>
            <a:ext cx="55808" cy="0"/>
          </a:xfrm>
          <a:prstGeom prst="line">
            <a:avLst/>
          </a:prstGeom>
          <a:noFill/>
          <a:ln w="12700">
            <a:solidFill>
              <a:srgbClr val="13233F"/>
            </a:solidFill>
            <a:prstDash val="solid"/>
            <a:headEnd type="none"/>
            <a:tailEnd type="none"/>
          </a:ln>
        </p:spPr>
        <p:txBody>
          <a:bodyPr/>
          <a:p/>
        </p:txBody>
      </p:sp>
      <p:sp>
        <p:nvSpPr>
          <p:cNvPr id="42" name="Text 40"/>
          <p:cNvSpPr txBox="1"/>
          <p:nvPr/>
        </p:nvSpPr>
        <p:spPr>
          <a:xfrm>
            <a:off x="6035040" y="2926080"/>
            <a:ext cx="182880" cy="201168"/>
          </a:xfrm>
          <a:prstGeom prst="rect">
            <a:avLst/>
          </a:prstGeom>
          <a:noFill/>
          <a:ln/>
        </p:spPr>
        <p:txBody>
          <a:bodyPr wrap="square" lIns="0" tIns="0" rIns="0" bIns="0" rtlCol="0" anchor="ctr"/>
          <a:lstStyle/>
          <a:p>
            <a:pPr marL="0" indent="0" algn="l">
              <a:buNone/>
            </a:pPr>
            <a:r>
              <a:rPr lang="en-US" sz="800" dirty="0">
                <a:solidFill>
                  <a:srgbClr val="1A2233"/>
                </a:solidFill>
                <a:latin typeface="Arial" pitchFamily="34" charset="0"/>
                <a:ea typeface="Arial" pitchFamily="34" charset="-122"/>
                <a:cs typeface="Arial" pitchFamily="34" charset="-120"/>
              </a:rPr>
              <a:t>θ</a:t>
            </a:r>
            <a:endParaRPr lang="en-US" sz="800" dirty="0"/>
          </a:p>
        </p:txBody>
      </p:sp>
      <p:sp>
        <p:nvSpPr>
          <p:cNvPr id="43" name="Text 41"/>
          <p:cNvSpPr txBox="1"/>
          <p:nvPr/>
        </p:nvSpPr>
        <p:spPr>
          <a:xfrm>
            <a:off x="5010912" y="2834640"/>
            <a:ext cx="640080" cy="201168"/>
          </a:xfrm>
          <a:prstGeom prst="rect">
            <a:avLst/>
          </a:prstGeom>
          <a:noFill/>
          <a:ln/>
        </p:spPr>
        <p:txBody>
          <a:bodyPr wrap="square" lIns="0" tIns="0" rIns="0" bIns="0" rtlCol="0" anchor="ctr"/>
          <a:lstStyle/>
          <a:p>
            <a:pPr marL="0" indent="0" algn="l">
              <a:buNone/>
            </a:pPr>
            <a:r>
              <a:rPr lang="en-US" sz="650" dirty="0">
                <a:solidFill>
                  <a:srgbClr val="5A6478"/>
                </a:solidFill>
                <a:latin typeface="맑은 고딕" pitchFamily="34" charset="0"/>
                <a:ea typeface="맑은 고딕" pitchFamily="34" charset="-122"/>
                <a:cs typeface="맑은 고딕" pitchFamily="34" charset="-120"/>
              </a:rPr>
              <a:t>춘분점</a:t>
            </a:r>
            <a:endParaRPr lang="en-US" sz="650" dirty="0"/>
          </a:p>
        </p:txBody>
      </p:sp>
      <p:sp>
        <p:nvSpPr>
          <p:cNvPr id="44" name="Shape 42"/>
          <p:cNvSpPr/>
          <p:nvPr/>
        </p:nvSpPr>
        <p:spPr>
          <a:xfrm>
            <a:off x="3310128" y="2871216"/>
            <a:ext cx="1170432" cy="0"/>
          </a:xfrm>
          <a:prstGeom prst="line">
            <a:avLst/>
          </a:prstGeom>
          <a:noFill/>
          <a:ln w="13970">
            <a:solidFill>
              <a:srgbClr val="13233F"/>
            </a:solidFill>
            <a:prstDash val="solid"/>
            <a:headEnd type="none"/>
            <a:tailEnd type="triangle"/>
          </a:ln>
        </p:spPr>
        <p:txBody>
          <a:bodyPr/>
          <a:p/>
        </p:txBody>
      </p:sp>
      <p:sp>
        <p:nvSpPr>
          <p:cNvPr id="45" name="Text 43"/>
          <p:cNvSpPr txBox="1"/>
          <p:nvPr/>
        </p:nvSpPr>
        <p:spPr>
          <a:xfrm>
            <a:off x="3493008" y="2670048"/>
            <a:ext cx="822960" cy="201168"/>
          </a:xfrm>
          <a:prstGeom prst="rect">
            <a:avLst/>
          </a:prstGeom>
          <a:noFill/>
          <a:ln/>
        </p:spPr>
        <p:txBody>
          <a:bodyPr wrap="square" lIns="0" tIns="0" rIns="0" bIns="0" rtlCol="0" anchor="ctr"/>
          <a:lstStyle/>
          <a:p>
            <a:pPr marL="0" indent="0" algn="ctr">
              <a:buNone/>
            </a:pPr>
            <a:r>
              <a:rPr lang="en-US" sz="950" dirty="0">
                <a:solidFill>
                  <a:srgbClr val="1A2233"/>
                </a:solidFill>
                <a:latin typeface="Arial" pitchFamily="34" charset="0"/>
                <a:ea typeface="Arial" pitchFamily="34" charset="-122"/>
                <a:cs typeface="Arial" pitchFamily="34" charset="-120"/>
              </a:rPr>
              <a:t>Rz(θ)</a:t>
            </a:r>
            <a:endParaRPr lang="en-US" sz="950" dirty="0"/>
          </a:p>
        </p:txBody>
      </p:sp>
      <p:sp>
        <p:nvSpPr>
          <p:cNvPr id="46" name="Shape 44"/>
          <p:cNvSpPr/>
          <p:nvPr/>
        </p:nvSpPr>
        <p:spPr>
          <a:xfrm rot="10800000">
            <a:off x="3310128" y="3584448"/>
            <a:ext cx="1170432" cy="0"/>
          </a:xfrm>
          <a:prstGeom prst="line">
            <a:avLst/>
          </a:prstGeom>
          <a:noFill/>
          <a:ln w="13970">
            <a:solidFill>
              <a:srgbClr val="13233F"/>
            </a:solidFill>
            <a:prstDash val="solid"/>
            <a:headEnd type="none"/>
            <a:tailEnd type="triangle"/>
          </a:ln>
        </p:spPr>
        <p:txBody>
          <a:bodyPr/>
          <a:p/>
        </p:txBody>
      </p:sp>
      <p:sp>
        <p:nvSpPr>
          <p:cNvPr id="47" name="Text 45"/>
          <p:cNvSpPr txBox="1"/>
          <p:nvPr/>
        </p:nvSpPr>
        <p:spPr>
          <a:xfrm>
            <a:off x="3438144" y="3712464"/>
            <a:ext cx="914400" cy="201168"/>
          </a:xfrm>
          <a:prstGeom prst="rect">
            <a:avLst/>
          </a:prstGeom>
          <a:noFill/>
          <a:ln/>
        </p:spPr>
        <p:txBody>
          <a:bodyPr wrap="square" lIns="0" tIns="0" rIns="0" bIns="0" rtlCol="0" anchor="ctr"/>
          <a:lstStyle/>
          <a:p>
            <a:pPr marL="0" indent="0" algn="ctr">
              <a:buNone/>
            </a:pPr>
            <a:r>
              <a:rPr lang="en-US" sz="950" dirty="0">
                <a:solidFill>
                  <a:srgbClr val="1A2233"/>
                </a:solidFill>
                <a:latin typeface="Arial" pitchFamily="34" charset="0"/>
                <a:ea typeface="Arial" pitchFamily="34" charset="-122"/>
                <a:cs typeface="Arial" pitchFamily="34" charset="-120"/>
              </a:rPr>
              <a:t>Rz(θ)^T</a:t>
            </a:r>
            <a:endParaRPr lang="en-US" sz="950" dirty="0"/>
          </a:p>
        </p:txBody>
      </p:sp>
      <p:sp>
        <p:nvSpPr>
          <p:cNvPr id="48" name="Text 46"/>
          <p:cNvSpPr txBox="1"/>
          <p:nvPr/>
        </p:nvSpPr>
        <p:spPr>
          <a:xfrm>
            <a:off x="4535424" y="3749040"/>
            <a:ext cx="914400" cy="201168"/>
          </a:xfrm>
          <a:prstGeom prst="rect">
            <a:avLst/>
          </a:prstGeom>
          <a:noFill/>
          <a:ln/>
        </p:spPr>
        <p:txBody>
          <a:bodyPr wrap="square" lIns="0" tIns="0" rIns="0" bIns="0" rtlCol="0" anchor="ctr"/>
          <a:lstStyle/>
          <a:p>
            <a:pPr marL="0" indent="0" algn="l">
              <a:buNone/>
            </a:pPr>
            <a:r>
              <a:rPr lang="en-US" sz="700" dirty="0">
                <a:solidFill>
                  <a:srgbClr val="5A6478"/>
                </a:solidFill>
                <a:latin typeface="맑은 고딕" pitchFamily="34" charset="0"/>
                <a:ea typeface="맑은 고딕" pitchFamily="34" charset="-122"/>
                <a:cs typeface="맑은 고딕" pitchFamily="34" charset="-120"/>
              </a:rPr>
              <a:t>하루 한 바퀴</a:t>
            </a:r>
            <a:endParaRPr lang="en-US" sz="700" dirty="0"/>
          </a:p>
        </p:txBody>
      </p:sp>
      <p:sp>
        <p:nvSpPr>
          <p:cNvPr id="49" name="Text 47"/>
          <p:cNvSpPr txBox="1"/>
          <p:nvPr/>
        </p:nvSpPr>
        <p:spPr>
          <a:xfrm>
            <a:off x="932688" y="4169664"/>
            <a:ext cx="310896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X 축 = 그리니치 자오선. 지구와 함께 돈다.</a:t>
            </a:r>
            <a:endParaRPr lang="en-US" sz="800" dirty="0"/>
          </a:p>
        </p:txBody>
      </p:sp>
      <p:sp>
        <p:nvSpPr>
          <p:cNvPr id="50" name="Text 48"/>
          <p:cNvSpPr txBox="1"/>
          <p:nvPr/>
        </p:nvSpPr>
        <p:spPr>
          <a:xfrm>
            <a:off x="4590288" y="4169664"/>
            <a:ext cx="310896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X 축 = 별(춘분점)에 고정. 돌지 않는다.</a:t>
            </a:r>
            <a:endParaRPr lang="en-US" sz="800" dirty="0"/>
          </a:p>
        </p:txBody>
      </p:sp>
      <p:sp>
        <p:nvSpPr>
          <p:cNvPr id="51" name="Text 49"/>
          <p:cNvSpPr txBox="1"/>
          <p:nvPr/>
        </p:nvSpPr>
        <p:spPr>
          <a:xfrm>
            <a:off x="932688" y="4370832"/>
            <a:ext cx="6583680" cy="201168"/>
          </a:xfrm>
          <a:prstGeom prst="rect">
            <a:avLst/>
          </a:prstGeom>
          <a:noFill/>
          <a:ln/>
        </p:spPr>
        <p:txBody>
          <a:bodyPr wrap="square" lIns="0" tIns="0" rIns="0" bIns="0" rtlCol="0" anchor="ctr"/>
          <a:lstStyle/>
          <a:p>
            <a:pPr marL="0" indent="0" algn="l">
              <a:buNone/>
            </a:pPr>
            <a:r>
              <a:rPr lang="en-US" sz="800" dirty="0">
                <a:solidFill>
                  <a:srgbClr val="5A6478"/>
                </a:solidFill>
                <a:latin typeface="맑은 고딕" pitchFamily="34" charset="0"/>
                <a:ea typeface="맑은 고딕" pitchFamily="34" charset="-122"/>
                <a:cs typeface="맑은 고딕" pitchFamily="34" charset="-120"/>
              </a:rPr>
              <a:t>θ = GMST (Greenwich Mean Sidereal Time).  시각이 1 ms 어긋나면 적도에서 0.47 m 어긋난다.</a:t>
            </a:r>
            <a:endParaRPr lang="en-US" sz="800" dirty="0"/>
          </a:p>
        </p:txBody>
      </p:sp>
      <p:sp>
        <p:nvSpPr>
          <p:cNvPr id="52" name="Shape 50"/>
          <p:cNvSpPr/>
          <p:nvPr/>
        </p:nvSpPr>
        <p:spPr>
          <a:xfrm>
            <a:off x="7589520" y="1755648"/>
            <a:ext cx="3749040" cy="1481328"/>
          </a:xfrm>
          <a:prstGeom prst="roundRect">
            <a:avLst>
              <a:gd name="adj" fmla="val 3086"/>
            </a:avLst>
          </a:prstGeom>
          <a:solidFill>
            <a:srgbClr val="EEF1F7"/>
          </a:solidFill>
          <a:ln/>
        </p:spPr>
        <p:txBody>
          <a:bodyPr/>
          <a:p/>
        </p:txBody>
      </p:sp>
      <p:sp>
        <p:nvSpPr>
          <p:cNvPr id="53" name="Text 51"/>
          <p:cNvSpPr txBox="1"/>
          <p:nvPr/>
        </p:nvSpPr>
        <p:spPr>
          <a:xfrm>
            <a:off x="7808976" y="1901952"/>
            <a:ext cx="3328416" cy="1225296"/>
          </a:xfrm>
          <a:prstGeom prst="rect">
            <a:avLst/>
          </a:prstGeom>
          <a:noFill/>
          <a:ln/>
        </p:spPr>
        <p:txBody>
          <a:bodyPr wrap="square" lIns="0" tIns="0" rIns="0" bIns="0" rtlCol="0" anchor="t"/>
          <a:lstStyle/>
          <a:p>
            <a:pPr marL="0" indent="0" algn="l">
              <a:lnSpc>
                <a:spcPct val="105000"/>
              </a:lnSpc>
              <a:spcAft>
                <a:spcPts val="1000"/>
              </a:spcAft>
              <a:buNone/>
            </a:pPr>
            <a:r>
              <a:rPr lang="en-US" sz="1050" b="1" dirty="0">
                <a:solidFill>
                  <a:srgbClr val="1A2233"/>
                </a:solidFill>
                <a:latin typeface="맑은 고딕" pitchFamily="34" charset="0"/>
                <a:ea typeface="맑은 고딕" pitchFamily="34" charset="-122"/>
                <a:cs typeface="맑은 고딕" pitchFamily="34" charset="-120"/>
              </a:rPr>
              <a:t>ECEF — Earth-Centered, Earth-Fixed   ( 이번 과제 O )</a:t>
            </a:r>
            <a:endParaRPr lang="en-US" sz="1050" dirty="0"/>
          </a:p>
          <a:p>
            <a:pPr marL="0" indent="0" algn="l">
              <a:lnSpc>
                <a:spcPct val="105000"/>
              </a:lnSpc>
              <a:spcAft>
                <a:spcPts val="400"/>
              </a:spcAft>
              <a:buNone/>
            </a:pPr>
            <a:r>
              <a:rPr lang="en-US" sz="850" dirty="0">
                <a:solidFill>
                  <a:srgbClr val="1A2233"/>
                </a:solidFill>
                <a:latin typeface="맑은 고딕" pitchFamily="34" charset="0"/>
                <a:ea typeface="맑은 고딕" pitchFamily="34" charset="-122"/>
                <a:cs typeface="맑은 고딕" pitchFamily="34" charset="-120"/>
              </a:rPr>
              <a:t>원점 = 지구 중심 . X = 그리니치 자오선 . Z = 북극 . Y = 오른손</a:t>
            </a:r>
            <a:endParaRPr lang="en-US" sz="1050" dirty="0"/>
          </a:p>
          <a:p>
            <a:pPr marL="0" indent="0" algn="l">
              <a:lnSpc>
                <a:spcPct val="105000"/>
              </a:lnSpc>
              <a:spcAft>
                <a:spcPts val="400"/>
              </a:spcAft>
              <a:buNone/>
            </a:pPr>
            <a:r>
              <a:rPr lang="en-US" sz="850" dirty="0">
                <a:solidFill>
                  <a:srgbClr val="1A2233"/>
                </a:solidFill>
                <a:latin typeface="맑은 고딕" pitchFamily="34" charset="0"/>
                <a:ea typeface="맑은 고딕" pitchFamily="34" charset="-122"/>
                <a:cs typeface="맑은 고딕" pitchFamily="34" charset="-120"/>
              </a:rPr>
              <a:t>지구와 함께 돈다 → 지표 한 점의 좌표가 시각과 무관</a:t>
            </a:r>
            <a:endParaRPr lang="en-US" sz="1050" dirty="0"/>
          </a:p>
          <a:p>
            <a:pPr marL="0" indent="0" algn="l">
              <a:lnSpc>
                <a:spcPct val="105000"/>
              </a:lnSpc>
              <a:buNone/>
            </a:pPr>
            <a:r>
              <a:rPr lang="en-US" sz="850" dirty="0">
                <a:solidFill>
                  <a:srgbClr val="1A2233"/>
                </a:solidFill>
                <a:latin typeface="맑은 고딕" pitchFamily="34" charset="0"/>
                <a:ea typeface="맑은 고딕" pitchFamily="34" charset="-122"/>
                <a:cs typeface="맑은 고딕" pitchFamily="34" charset="-120"/>
              </a:rPr>
              <a:t>GPS · 지도 · 위경도의 바탕이 되는 좌표계</a:t>
            </a:r>
            <a:endParaRPr lang="en-US" sz="1050" dirty="0"/>
          </a:p>
        </p:txBody>
      </p:sp>
      <p:sp>
        <p:nvSpPr>
          <p:cNvPr id="54" name="Shape 52"/>
          <p:cNvSpPr/>
          <p:nvPr/>
        </p:nvSpPr>
        <p:spPr>
          <a:xfrm>
            <a:off x="7589520" y="3401568"/>
            <a:ext cx="3749040" cy="1481328"/>
          </a:xfrm>
          <a:prstGeom prst="roundRect">
            <a:avLst>
              <a:gd name="adj" fmla="val 3086"/>
            </a:avLst>
          </a:prstGeom>
          <a:solidFill>
            <a:srgbClr val="EEF1F7"/>
          </a:solidFill>
          <a:ln/>
        </p:spPr>
        <p:txBody>
          <a:bodyPr/>
          <a:p/>
        </p:txBody>
      </p:sp>
      <p:sp>
        <p:nvSpPr>
          <p:cNvPr id="55" name="Text 53"/>
          <p:cNvSpPr txBox="1"/>
          <p:nvPr/>
        </p:nvSpPr>
        <p:spPr>
          <a:xfrm>
            <a:off x="7808976" y="3547872"/>
            <a:ext cx="3328416" cy="1225296"/>
          </a:xfrm>
          <a:prstGeom prst="rect">
            <a:avLst/>
          </a:prstGeom>
          <a:noFill/>
          <a:ln/>
        </p:spPr>
        <p:txBody>
          <a:bodyPr wrap="square" lIns="0" tIns="0" rIns="0" bIns="0" rtlCol="0" anchor="t"/>
          <a:lstStyle/>
          <a:p>
            <a:pPr marL="0" indent="0" algn="l">
              <a:lnSpc>
                <a:spcPct val="105000"/>
              </a:lnSpc>
              <a:spcAft>
                <a:spcPts val="1000"/>
              </a:spcAft>
              <a:buNone/>
            </a:pPr>
            <a:r>
              <a:rPr lang="en-US" sz="1050" b="1" dirty="0">
                <a:solidFill>
                  <a:srgbClr val="1A2233"/>
                </a:solidFill>
                <a:latin typeface="맑은 고딕" pitchFamily="34" charset="0"/>
                <a:ea typeface="맑은 고딕" pitchFamily="34" charset="-122"/>
                <a:cs typeface="맑은 고딕" pitchFamily="34" charset="-120"/>
              </a:rPr>
              <a:t>ECI — Earth-Centered Inertial   ( 이번 과제 X )</a:t>
            </a:r>
            <a:endParaRPr lang="en-US" sz="1050" dirty="0"/>
          </a:p>
          <a:p>
            <a:pPr marL="0" indent="0" algn="l">
              <a:lnSpc>
                <a:spcPct val="105000"/>
              </a:lnSpc>
              <a:spcAft>
                <a:spcPts val="400"/>
              </a:spcAft>
              <a:buNone/>
            </a:pPr>
            <a:r>
              <a:rPr lang="en-US" sz="850" dirty="0">
                <a:solidFill>
                  <a:srgbClr val="1A2233"/>
                </a:solidFill>
                <a:latin typeface="맑은 고딕" pitchFamily="34" charset="0"/>
                <a:ea typeface="맑은 고딕" pitchFamily="34" charset="-122"/>
                <a:cs typeface="맑은 고딕" pitchFamily="34" charset="-120"/>
              </a:rPr>
              <a:t>원점 = 지구 중심 . X = 춘분점 ( 별 ) 방향 · Z = 북극</a:t>
            </a:r>
            <a:endParaRPr lang="en-US" sz="1050" dirty="0"/>
          </a:p>
          <a:p>
            <a:pPr marL="0" indent="0" algn="l">
              <a:lnSpc>
                <a:spcPct val="105000"/>
              </a:lnSpc>
              <a:spcAft>
                <a:spcPts val="400"/>
              </a:spcAft>
              <a:buNone/>
            </a:pPr>
            <a:r>
              <a:rPr lang="en-US" sz="850" dirty="0">
                <a:solidFill>
                  <a:srgbClr val="1A2233"/>
                </a:solidFill>
                <a:latin typeface="맑은 고딕" pitchFamily="34" charset="0"/>
                <a:ea typeface="맑은 고딕" pitchFamily="34" charset="-122"/>
                <a:cs typeface="맑은 고딕" pitchFamily="34" charset="-120"/>
              </a:rPr>
              <a:t>돌지 않는다 → 뉴턴 법칙이 그대로 성립</a:t>
            </a:r>
            <a:endParaRPr lang="en-US" sz="1050" dirty="0"/>
          </a:p>
          <a:p>
            <a:pPr marL="0" indent="0" algn="l">
              <a:lnSpc>
                <a:spcPct val="105000"/>
              </a:lnSpc>
              <a:buNone/>
            </a:pPr>
            <a:r>
              <a:rPr lang="en-US" sz="850" dirty="0">
                <a:solidFill>
                  <a:srgbClr val="1A2233"/>
                </a:solidFill>
                <a:latin typeface="맑은 고딕" pitchFamily="34" charset="0"/>
                <a:ea typeface="맑은 고딕" pitchFamily="34" charset="-122"/>
                <a:cs typeface="맑은 고딕" pitchFamily="34" charset="-120"/>
              </a:rPr>
              <a:t>위성 · 탄도탄의 궤도 계산에 쓴다 ( 중력만 받는 운동 )</a:t>
            </a:r>
            <a:endParaRPr lang="en-US" sz="1050" dirty="0"/>
          </a:p>
        </p:txBody>
      </p:sp>
      <p:sp>
        <p:nvSpPr>
          <p:cNvPr id="56" name="Text 54"/>
          <p:cNvSpPr txBox="1"/>
          <p:nvPr/>
        </p:nvSpPr>
        <p:spPr>
          <a:xfrm>
            <a:off x="914400" y="4590288"/>
            <a:ext cx="1828800" cy="237744"/>
          </a:xfrm>
          <a:prstGeom prst="rect">
            <a:avLst/>
          </a:prstGeom>
          <a:noFill/>
          <a:ln/>
        </p:spPr>
        <p:txBody>
          <a:bodyPr wrap="square" lIns="0" tIns="0" rIns="0" bIns="0" rtlCol="0" anchor="ct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변환 공식</a:t>
            </a:r>
            <a:endParaRPr lang="en-US" sz="1200" dirty="0"/>
          </a:p>
        </p:txBody>
      </p:sp>
      <p:sp>
        <p:nvSpPr>
          <p:cNvPr id="57" name="Shape 55"/>
          <p:cNvSpPr/>
          <p:nvPr/>
        </p:nvSpPr>
        <p:spPr>
          <a:xfrm>
            <a:off x="914400" y="4828032"/>
            <a:ext cx="10360152" cy="1060704"/>
          </a:xfrm>
          <a:prstGeom prst="roundRect">
            <a:avLst>
              <a:gd name="adj" fmla="val 4310"/>
            </a:avLst>
          </a:prstGeom>
          <a:solidFill>
            <a:srgbClr val="EEF1F7"/>
          </a:solidFill>
          <a:ln/>
        </p:spPr>
        <p:txBody>
          <a:bodyPr/>
          <a:p/>
        </p:txBody>
      </p:sp>
      <p:sp>
        <p:nvSpPr>
          <p:cNvPr id="58" name="Text 56"/>
          <p:cNvSpPr txBox="1"/>
          <p:nvPr/>
        </p:nvSpPr>
        <p:spPr>
          <a:xfrm>
            <a:off x="1097280" y="5047488"/>
            <a:ext cx="1371600" cy="201168"/>
          </a:xfrm>
          <a:prstGeom prst="rect">
            <a:avLst/>
          </a:prstGeom>
          <a:noFill/>
          <a:ln/>
        </p:spPr>
        <p:txBody>
          <a:bodyPr wrap="square" lIns="0" tIns="0" rIns="0" bIns="0" rtlCol="0" anchor="ctr"/>
          <a:lstStyle/>
          <a:p>
            <a:pPr marL="0" indent="0" algn="l">
              <a:buNone/>
            </a:pPr>
            <a:r>
              <a:rPr lang="en-US" sz="1050" b="1" dirty="0">
                <a:solidFill>
                  <a:srgbClr val="1A2233"/>
                </a:solidFill>
                <a:latin typeface="맑은 고딕" pitchFamily="34" charset="0"/>
                <a:ea typeface="맑은 고딕" pitchFamily="34" charset="-122"/>
                <a:cs typeface="맑은 고딕" pitchFamily="34" charset="-120"/>
              </a:rPr>
              <a:t>NED → ECEF</a:t>
            </a:r>
            <a:endParaRPr lang="en-US" sz="1050" dirty="0"/>
          </a:p>
        </p:txBody>
      </p:sp>
      <p:sp>
        <p:nvSpPr>
          <p:cNvPr id="59" name="Shape 57"/>
          <p:cNvSpPr/>
          <p:nvPr/>
        </p:nvSpPr>
        <p:spPr>
          <a:xfrm>
            <a:off x="2542032" y="4937760"/>
            <a:ext cx="676656" cy="256032"/>
          </a:xfrm>
          <a:prstGeom prst="roundRect">
            <a:avLst>
              <a:gd name="adj" fmla="val 28571"/>
            </a:avLst>
          </a:prstGeom>
          <a:solidFill>
            <a:srgbClr val="F5F7FB"/>
          </a:solidFill>
          <a:ln w="11430">
            <a:solidFill>
              <a:srgbClr val="5A6478"/>
            </a:solidFill>
            <a:prstDash val="solid"/>
          </a:ln>
        </p:spPr>
        <p:txBody>
          <a:bodyPr/>
          <a:p/>
        </p:txBody>
      </p:sp>
      <p:sp>
        <p:nvSpPr>
          <p:cNvPr id="60" name="Text 58"/>
          <p:cNvSpPr txBox="1"/>
          <p:nvPr/>
        </p:nvSpPr>
        <p:spPr>
          <a:xfrm>
            <a:off x="2542032" y="4937760"/>
            <a:ext cx="676656" cy="256032"/>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p_NED</a:t>
            </a:r>
            <a:endParaRPr lang="en-US" sz="900" dirty="0"/>
          </a:p>
        </p:txBody>
      </p:sp>
      <p:sp>
        <p:nvSpPr>
          <p:cNvPr id="61" name="Shape 59"/>
          <p:cNvSpPr/>
          <p:nvPr/>
        </p:nvSpPr>
        <p:spPr>
          <a:xfrm>
            <a:off x="3236976" y="5065776"/>
            <a:ext cx="128016" cy="0"/>
          </a:xfrm>
          <a:prstGeom prst="line">
            <a:avLst/>
          </a:prstGeom>
          <a:noFill/>
          <a:ln w="16510">
            <a:solidFill>
              <a:srgbClr val="13233F"/>
            </a:solidFill>
            <a:prstDash val="solid"/>
            <a:headEnd type="none"/>
            <a:tailEnd type="triangle"/>
          </a:ln>
        </p:spPr>
        <p:txBody>
          <a:bodyPr/>
          <a:p/>
        </p:txBody>
      </p:sp>
      <p:sp>
        <p:nvSpPr>
          <p:cNvPr id="62" name="Shape 60"/>
          <p:cNvSpPr/>
          <p:nvPr/>
        </p:nvSpPr>
        <p:spPr>
          <a:xfrm>
            <a:off x="3383280" y="4937760"/>
            <a:ext cx="1389888" cy="256032"/>
          </a:xfrm>
          <a:prstGeom prst="roundRect">
            <a:avLst>
              <a:gd name="adj" fmla="val 28571"/>
            </a:avLst>
          </a:prstGeom>
          <a:solidFill>
            <a:srgbClr val="F5F7FB"/>
          </a:solidFill>
          <a:ln w="11430">
            <a:solidFill>
              <a:srgbClr val="5A6478"/>
            </a:solidFill>
            <a:prstDash val="solid"/>
          </a:ln>
        </p:spPr>
        <p:txBody>
          <a:bodyPr/>
          <a:p/>
        </p:txBody>
      </p:sp>
      <p:sp>
        <p:nvSpPr>
          <p:cNvPr id="63" name="Text 61"/>
          <p:cNvSpPr txBox="1"/>
          <p:nvPr/>
        </p:nvSpPr>
        <p:spPr>
          <a:xfrm>
            <a:off x="3383280" y="4937760"/>
            <a:ext cx="1389888" cy="256032"/>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Ry(−90° − 위도)</a:t>
            </a:r>
            <a:endParaRPr lang="en-US" sz="900" dirty="0"/>
          </a:p>
        </p:txBody>
      </p:sp>
      <p:sp>
        <p:nvSpPr>
          <p:cNvPr id="64" name="Text 62"/>
          <p:cNvSpPr txBox="1"/>
          <p:nvPr/>
        </p:nvSpPr>
        <p:spPr>
          <a:xfrm>
            <a:off x="3108960" y="5248656"/>
            <a:ext cx="1938528"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지구 축에 맞춰 돌린다</a:t>
            </a:r>
            <a:endParaRPr lang="en-US" sz="650" dirty="0"/>
          </a:p>
        </p:txBody>
      </p:sp>
      <p:sp>
        <p:nvSpPr>
          <p:cNvPr id="65" name="Shape 63"/>
          <p:cNvSpPr/>
          <p:nvPr/>
        </p:nvSpPr>
        <p:spPr>
          <a:xfrm>
            <a:off x="4791456" y="5065776"/>
            <a:ext cx="128016" cy="0"/>
          </a:xfrm>
          <a:prstGeom prst="line">
            <a:avLst/>
          </a:prstGeom>
          <a:noFill/>
          <a:ln w="16510">
            <a:solidFill>
              <a:srgbClr val="13233F"/>
            </a:solidFill>
            <a:prstDash val="solid"/>
            <a:headEnd type="none"/>
            <a:tailEnd type="triangle"/>
          </a:ln>
        </p:spPr>
        <p:txBody>
          <a:bodyPr/>
          <a:p/>
        </p:txBody>
      </p:sp>
      <p:sp>
        <p:nvSpPr>
          <p:cNvPr id="66" name="Shape 64"/>
          <p:cNvSpPr/>
          <p:nvPr/>
        </p:nvSpPr>
        <p:spPr>
          <a:xfrm>
            <a:off x="4937760" y="4937760"/>
            <a:ext cx="932688" cy="256032"/>
          </a:xfrm>
          <a:prstGeom prst="roundRect">
            <a:avLst>
              <a:gd name="adj" fmla="val 28571"/>
            </a:avLst>
          </a:prstGeom>
          <a:solidFill>
            <a:srgbClr val="F5F7FB"/>
          </a:solidFill>
          <a:ln w="11430">
            <a:solidFill>
              <a:srgbClr val="5A6478"/>
            </a:solidFill>
            <a:prstDash val="solid"/>
          </a:ln>
        </p:spPr>
        <p:txBody>
          <a:bodyPr/>
          <a:p/>
        </p:txBody>
      </p:sp>
      <p:sp>
        <p:nvSpPr>
          <p:cNvPr id="67" name="Text 65"/>
          <p:cNvSpPr txBox="1"/>
          <p:nvPr/>
        </p:nvSpPr>
        <p:spPr>
          <a:xfrm>
            <a:off x="4937760" y="4937760"/>
            <a:ext cx="932688" cy="256032"/>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Rz(경도)</a:t>
            </a:r>
            <a:endParaRPr lang="en-US" sz="900" dirty="0"/>
          </a:p>
        </p:txBody>
      </p:sp>
      <p:sp>
        <p:nvSpPr>
          <p:cNvPr id="68" name="Shape 66"/>
          <p:cNvSpPr/>
          <p:nvPr/>
        </p:nvSpPr>
        <p:spPr>
          <a:xfrm>
            <a:off x="5888736" y="5065776"/>
            <a:ext cx="128016" cy="0"/>
          </a:xfrm>
          <a:prstGeom prst="line">
            <a:avLst/>
          </a:prstGeom>
          <a:noFill/>
          <a:ln w="16510">
            <a:solidFill>
              <a:srgbClr val="13233F"/>
            </a:solidFill>
            <a:prstDash val="solid"/>
            <a:headEnd type="none"/>
            <a:tailEnd type="triangle"/>
          </a:ln>
        </p:spPr>
        <p:txBody>
          <a:bodyPr/>
          <a:p/>
        </p:txBody>
      </p:sp>
      <p:sp>
        <p:nvSpPr>
          <p:cNvPr id="69" name="Shape 67"/>
          <p:cNvSpPr/>
          <p:nvPr/>
        </p:nvSpPr>
        <p:spPr>
          <a:xfrm>
            <a:off x="6035040" y="4937760"/>
            <a:ext cx="640080" cy="256032"/>
          </a:xfrm>
          <a:prstGeom prst="roundRect">
            <a:avLst>
              <a:gd name="adj" fmla="val 28571"/>
            </a:avLst>
          </a:prstGeom>
          <a:solidFill>
            <a:srgbClr val="F5F7FB"/>
          </a:solidFill>
          <a:ln w="11430">
            <a:solidFill>
              <a:srgbClr val="5A6478"/>
            </a:solidFill>
            <a:prstDash val="solid"/>
          </a:ln>
        </p:spPr>
        <p:txBody>
          <a:bodyPr/>
          <a:p/>
        </p:txBody>
      </p:sp>
      <p:sp>
        <p:nvSpPr>
          <p:cNvPr id="70" name="Text 68"/>
          <p:cNvSpPr txBox="1"/>
          <p:nvPr/>
        </p:nvSpPr>
        <p:spPr>
          <a:xfrm>
            <a:off x="6035040" y="4937760"/>
            <a:ext cx="640080" cy="256032"/>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 P배</a:t>
            </a:r>
            <a:endParaRPr lang="en-US" sz="900" dirty="0"/>
          </a:p>
        </p:txBody>
      </p:sp>
      <p:sp>
        <p:nvSpPr>
          <p:cNvPr id="71" name="Text 69"/>
          <p:cNvSpPr txBox="1"/>
          <p:nvPr/>
        </p:nvSpPr>
        <p:spPr>
          <a:xfrm>
            <a:off x="5760720" y="5193792"/>
            <a:ext cx="1188720" cy="201168"/>
          </a:xfrm>
          <a:prstGeom prst="rect">
            <a:avLst/>
          </a:prstGeom>
          <a:noFill/>
          <a:ln/>
        </p:spPr>
        <p:txBody>
          <a:bodyPr wrap="square" lIns="0" tIns="0" rIns="0" bIns="0" rtlCol="0" anchor="ctr"/>
          <a:lstStyle/>
          <a:p>
            <a:pPr marL="0" indent="0" algn="ctr">
              <a:buNone/>
            </a:pPr>
            <a:r>
              <a:rPr lang="en-US" sz="650" dirty="0">
                <a:solidFill>
                  <a:srgbClr val="5A6478"/>
                </a:solidFill>
                <a:latin typeface="맑은 고딕" pitchFamily="34" charset="0"/>
                <a:ea typeface="맑은 고딕" pitchFamily="34" charset="-122"/>
                <a:cs typeface="맑은 고딕" pitchFamily="34" charset="-120"/>
              </a:rPr>
              <a:t>배의 ECEF 위치를 더한다</a:t>
            </a:r>
            <a:endParaRPr lang="en-US" sz="650" dirty="0"/>
          </a:p>
        </p:txBody>
      </p:sp>
      <p:sp>
        <p:nvSpPr>
          <p:cNvPr id="72" name="Shape 70"/>
          <p:cNvSpPr/>
          <p:nvPr/>
        </p:nvSpPr>
        <p:spPr>
          <a:xfrm>
            <a:off x="6693408" y="5065776"/>
            <a:ext cx="128016" cy="0"/>
          </a:xfrm>
          <a:prstGeom prst="line">
            <a:avLst/>
          </a:prstGeom>
          <a:noFill/>
          <a:ln w="16510">
            <a:solidFill>
              <a:srgbClr val="13233F"/>
            </a:solidFill>
            <a:prstDash val="solid"/>
            <a:headEnd type="none"/>
            <a:tailEnd type="triangle"/>
          </a:ln>
        </p:spPr>
        <p:txBody>
          <a:bodyPr/>
          <a:p/>
        </p:txBody>
      </p:sp>
      <p:sp>
        <p:nvSpPr>
          <p:cNvPr id="73" name="Shape 71"/>
          <p:cNvSpPr/>
          <p:nvPr/>
        </p:nvSpPr>
        <p:spPr>
          <a:xfrm>
            <a:off x="6839712" y="4937760"/>
            <a:ext cx="786384" cy="256032"/>
          </a:xfrm>
          <a:prstGeom prst="roundRect">
            <a:avLst>
              <a:gd name="adj" fmla="val 28571"/>
            </a:avLst>
          </a:prstGeom>
          <a:solidFill>
            <a:srgbClr val="F5F7FB"/>
          </a:solidFill>
          <a:ln w="11430">
            <a:solidFill>
              <a:srgbClr val="5A6478"/>
            </a:solidFill>
            <a:prstDash val="solid"/>
          </a:ln>
        </p:spPr>
        <p:txBody>
          <a:bodyPr/>
          <a:p/>
        </p:txBody>
      </p:sp>
      <p:sp>
        <p:nvSpPr>
          <p:cNvPr id="74" name="Text 72"/>
          <p:cNvSpPr txBox="1"/>
          <p:nvPr/>
        </p:nvSpPr>
        <p:spPr>
          <a:xfrm>
            <a:off x="6839712" y="4937760"/>
            <a:ext cx="786384" cy="256032"/>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p_ECEF</a:t>
            </a:r>
            <a:endParaRPr lang="en-US" sz="900" dirty="0"/>
          </a:p>
        </p:txBody>
      </p:sp>
      <p:sp>
        <p:nvSpPr>
          <p:cNvPr id="75" name="Text 73"/>
          <p:cNvSpPr txBox="1"/>
          <p:nvPr/>
        </p:nvSpPr>
        <p:spPr>
          <a:xfrm>
            <a:off x="7735824" y="4901184"/>
            <a:ext cx="3383280" cy="274320"/>
          </a:xfrm>
          <a:prstGeom prst="rect">
            <a:avLst/>
          </a:prstGeom>
          <a:noFill/>
          <a:ln/>
        </p:spPr>
        <p:txBody>
          <a:bodyPr wrap="square" lIns="0" tIns="0" rIns="0" bIns="0" rtlCol="0" anchor="t"/>
          <a:lstStyle/>
          <a:p>
            <a:pPr marL="0" indent="0" algn="l">
              <a:lnSpc>
                <a:spcPct val="105000"/>
              </a:lnSpc>
              <a:spcAft>
                <a:spcPts val="200"/>
              </a:spcAft>
              <a:buNone/>
            </a:pPr>
            <a:r>
              <a:rPr lang="en-US" sz="650" dirty="0">
                <a:solidFill>
                  <a:srgbClr val="5A6478"/>
                </a:solidFill>
                <a:latin typeface="맑은 고딕" pitchFamily="34" charset="0"/>
                <a:ea typeface="맑은 고딕" pitchFamily="34" charset="-122"/>
                <a:cs typeface="맑은 고딕" pitchFamily="34" charset="-120"/>
              </a:rPr>
              <a:t>줄임말 : Rz(경도) · Ry(−90° − 위도) = C_ecef←ned</a:t>
            </a:r>
            <a:endParaRPr lang="en-US" sz="650" dirty="0"/>
          </a:p>
          <a:p>
            <a:pPr marL="0" indent="0" algn="l">
              <a:lnSpc>
                <a:spcPct val="105000"/>
              </a:lnSpc>
              <a:buNone/>
            </a:pPr>
            <a:r>
              <a:rPr lang="en-US" sz="650" dirty="0">
                <a:solidFill>
                  <a:srgbClr val="5A6478"/>
                </a:solidFill>
                <a:latin typeface="맑은 고딕" pitchFamily="34" charset="0"/>
                <a:ea typeface="맑은 고딕" pitchFamily="34" charset="-122"/>
                <a:cs typeface="맑은 고딕" pitchFamily="34" charset="-120"/>
              </a:rPr>
              <a:t>R_N 은 그 위도의 곡률반경, e² 는 WGS-84 상수 — 다음 장 LLA 에서</a:t>
            </a:r>
            <a:endParaRPr lang="en-US" sz="650" dirty="0"/>
          </a:p>
        </p:txBody>
      </p:sp>
      <p:sp>
        <p:nvSpPr>
          <p:cNvPr id="76" name="Text 74"/>
          <p:cNvSpPr txBox="1"/>
          <p:nvPr/>
        </p:nvSpPr>
        <p:spPr>
          <a:xfrm>
            <a:off x="1097280" y="5504688"/>
            <a:ext cx="1371600" cy="201168"/>
          </a:xfrm>
          <a:prstGeom prst="rect">
            <a:avLst/>
          </a:prstGeom>
          <a:noFill/>
          <a:ln/>
        </p:spPr>
        <p:txBody>
          <a:bodyPr wrap="square" lIns="0" tIns="0" rIns="0" bIns="0" rtlCol="0" anchor="ctr"/>
          <a:lstStyle/>
          <a:p>
            <a:pPr marL="0" indent="0" algn="l">
              <a:buNone/>
            </a:pPr>
            <a:r>
              <a:rPr lang="en-US" sz="1050" b="1" dirty="0">
                <a:solidFill>
                  <a:srgbClr val="1A2233"/>
                </a:solidFill>
                <a:latin typeface="맑은 고딕" pitchFamily="34" charset="0"/>
                <a:ea typeface="맑은 고딕" pitchFamily="34" charset="-122"/>
                <a:cs typeface="맑은 고딕" pitchFamily="34" charset="-120"/>
              </a:rPr>
              <a:t>ECEF → ECI</a:t>
            </a:r>
            <a:endParaRPr lang="en-US" sz="1050" dirty="0"/>
          </a:p>
        </p:txBody>
      </p:sp>
      <p:sp>
        <p:nvSpPr>
          <p:cNvPr id="77" name="Shape 75"/>
          <p:cNvSpPr/>
          <p:nvPr/>
        </p:nvSpPr>
        <p:spPr>
          <a:xfrm>
            <a:off x="2542032" y="5394960"/>
            <a:ext cx="786384" cy="256032"/>
          </a:xfrm>
          <a:prstGeom prst="roundRect">
            <a:avLst>
              <a:gd name="adj" fmla="val 28571"/>
            </a:avLst>
          </a:prstGeom>
          <a:solidFill>
            <a:srgbClr val="F5F7FB"/>
          </a:solidFill>
          <a:ln w="11430">
            <a:solidFill>
              <a:srgbClr val="5A6478"/>
            </a:solidFill>
            <a:prstDash val="solid"/>
          </a:ln>
        </p:spPr>
        <p:txBody>
          <a:bodyPr/>
          <a:p/>
        </p:txBody>
      </p:sp>
      <p:sp>
        <p:nvSpPr>
          <p:cNvPr id="78" name="Text 76"/>
          <p:cNvSpPr txBox="1"/>
          <p:nvPr/>
        </p:nvSpPr>
        <p:spPr>
          <a:xfrm>
            <a:off x="2542032" y="5394960"/>
            <a:ext cx="786384" cy="256032"/>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p_ECEF</a:t>
            </a:r>
            <a:endParaRPr lang="en-US" sz="900" dirty="0"/>
          </a:p>
        </p:txBody>
      </p:sp>
      <p:sp>
        <p:nvSpPr>
          <p:cNvPr id="79" name="Shape 77"/>
          <p:cNvSpPr/>
          <p:nvPr/>
        </p:nvSpPr>
        <p:spPr>
          <a:xfrm>
            <a:off x="3346704" y="5522976"/>
            <a:ext cx="128016" cy="0"/>
          </a:xfrm>
          <a:prstGeom prst="line">
            <a:avLst/>
          </a:prstGeom>
          <a:noFill/>
          <a:ln w="16510">
            <a:solidFill>
              <a:srgbClr val="13233F"/>
            </a:solidFill>
            <a:prstDash val="solid"/>
            <a:headEnd type="none"/>
            <a:tailEnd type="triangle"/>
          </a:ln>
        </p:spPr>
        <p:txBody>
          <a:bodyPr/>
          <a:p/>
        </p:txBody>
      </p:sp>
      <p:sp>
        <p:nvSpPr>
          <p:cNvPr id="80" name="Shape 78"/>
          <p:cNvSpPr/>
          <p:nvPr/>
        </p:nvSpPr>
        <p:spPr>
          <a:xfrm>
            <a:off x="3493008" y="5394960"/>
            <a:ext cx="676656" cy="256032"/>
          </a:xfrm>
          <a:prstGeom prst="roundRect">
            <a:avLst>
              <a:gd name="adj" fmla="val 28571"/>
            </a:avLst>
          </a:prstGeom>
          <a:solidFill>
            <a:srgbClr val="F5F7FB"/>
          </a:solidFill>
          <a:ln w="11430">
            <a:solidFill>
              <a:srgbClr val="5A6478"/>
            </a:solidFill>
            <a:prstDash val="solid"/>
          </a:ln>
        </p:spPr>
        <p:txBody>
          <a:bodyPr/>
          <a:p/>
        </p:txBody>
      </p:sp>
      <p:sp>
        <p:nvSpPr>
          <p:cNvPr id="81" name="Text 79"/>
          <p:cNvSpPr txBox="1"/>
          <p:nvPr/>
        </p:nvSpPr>
        <p:spPr>
          <a:xfrm>
            <a:off x="3493008" y="5394960"/>
            <a:ext cx="676656" cy="256032"/>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Rz(θ)</a:t>
            </a:r>
            <a:endParaRPr lang="en-US" sz="900" dirty="0"/>
          </a:p>
        </p:txBody>
      </p:sp>
      <p:sp>
        <p:nvSpPr>
          <p:cNvPr id="82" name="Shape 80"/>
          <p:cNvSpPr/>
          <p:nvPr/>
        </p:nvSpPr>
        <p:spPr>
          <a:xfrm>
            <a:off x="4187952" y="5522976"/>
            <a:ext cx="128016" cy="0"/>
          </a:xfrm>
          <a:prstGeom prst="line">
            <a:avLst/>
          </a:prstGeom>
          <a:noFill/>
          <a:ln w="16510">
            <a:solidFill>
              <a:srgbClr val="13233F"/>
            </a:solidFill>
            <a:prstDash val="solid"/>
            <a:headEnd type="none"/>
            <a:tailEnd type="triangle"/>
          </a:ln>
        </p:spPr>
        <p:txBody>
          <a:bodyPr/>
          <a:p/>
        </p:txBody>
      </p:sp>
      <p:sp>
        <p:nvSpPr>
          <p:cNvPr id="83" name="Shape 81"/>
          <p:cNvSpPr/>
          <p:nvPr/>
        </p:nvSpPr>
        <p:spPr>
          <a:xfrm>
            <a:off x="4334256" y="5394960"/>
            <a:ext cx="640080" cy="256032"/>
          </a:xfrm>
          <a:prstGeom prst="roundRect">
            <a:avLst>
              <a:gd name="adj" fmla="val 28571"/>
            </a:avLst>
          </a:prstGeom>
          <a:solidFill>
            <a:srgbClr val="F5F7FB"/>
          </a:solidFill>
          <a:ln w="11430">
            <a:solidFill>
              <a:srgbClr val="5A6478"/>
            </a:solidFill>
            <a:prstDash val="solid"/>
          </a:ln>
        </p:spPr>
        <p:txBody>
          <a:bodyPr/>
          <a:p/>
        </p:txBody>
      </p:sp>
      <p:sp>
        <p:nvSpPr>
          <p:cNvPr id="84" name="Text 82"/>
          <p:cNvSpPr txBox="1"/>
          <p:nvPr/>
        </p:nvSpPr>
        <p:spPr>
          <a:xfrm>
            <a:off x="4334256" y="5394960"/>
            <a:ext cx="640080" cy="256032"/>
          </a:xfrm>
          <a:prstGeom prst="rect">
            <a:avLst/>
          </a:prstGeom>
          <a:noFill/>
          <a:ln/>
        </p:spPr>
        <p:txBody>
          <a:bodyPr wrap="square" lIns="0" tIns="0" rIns="0" bIns="0" rtlCol="0" anchor="ctr"/>
          <a:lstStyle/>
          <a:p>
            <a:pPr marL="0" indent="0" algn="ctr">
              <a:buNone/>
            </a:pPr>
            <a:r>
              <a:rPr lang="en-US" sz="900" b="1" dirty="0">
                <a:solidFill>
                  <a:srgbClr val="1A2233"/>
                </a:solidFill>
                <a:latin typeface="맑은 고딕" pitchFamily="34" charset="0"/>
                <a:ea typeface="맑은 고딕" pitchFamily="34" charset="-122"/>
                <a:cs typeface="맑은 고딕" pitchFamily="34" charset="-120"/>
              </a:rPr>
              <a:t>p_ECI</a:t>
            </a:r>
            <a:endParaRPr lang="en-US" sz="900" dirty="0"/>
          </a:p>
        </p:txBody>
      </p:sp>
      <p:sp>
        <p:nvSpPr>
          <p:cNvPr id="85" name="Text 83"/>
          <p:cNvSpPr txBox="1"/>
          <p:nvPr/>
        </p:nvSpPr>
        <p:spPr>
          <a:xfrm>
            <a:off x="5047488" y="5449824"/>
            <a:ext cx="2468880" cy="274320"/>
          </a:xfrm>
          <a:prstGeom prst="rect">
            <a:avLst/>
          </a:prstGeom>
          <a:noFill/>
          <a:ln/>
        </p:spPr>
        <p:txBody>
          <a:bodyPr wrap="square" lIns="0" tIns="0" rIns="0" bIns="0" rtlCol="0" anchor="t"/>
          <a:lstStyle/>
          <a:p>
            <a:pPr marL="0" indent="0" algn="l">
              <a:lnSpc>
                <a:spcPct val="105000"/>
              </a:lnSpc>
              <a:spcAft>
                <a:spcPts val="200"/>
              </a:spcAft>
              <a:buNone/>
            </a:pPr>
            <a:r>
              <a:rPr lang="en-US" sz="650" dirty="0">
                <a:solidFill>
                  <a:srgbClr val="5A6478"/>
                </a:solidFill>
                <a:latin typeface="맑은 고딕" pitchFamily="34" charset="0"/>
                <a:ea typeface="맑은 고딕" pitchFamily="34" charset="-122"/>
                <a:cs typeface="맑은 고딕" pitchFamily="34" charset="-120"/>
              </a:rPr>
              <a:t>θ = 지구 자전각 (GMST) — 시각으로 정해진다</a:t>
            </a:r>
            <a:endParaRPr lang="en-US" sz="650" dirty="0"/>
          </a:p>
          <a:p>
            <a:pPr marL="0" indent="0" algn="l">
              <a:lnSpc>
                <a:spcPct val="105000"/>
              </a:lnSpc>
              <a:buNone/>
            </a:pPr>
            <a:r>
              <a:rPr lang="en-US" sz="650" dirty="0">
                <a:solidFill>
                  <a:srgbClr val="5A6478"/>
                </a:solidFill>
                <a:latin typeface="맑은 고딕" pitchFamily="34" charset="0"/>
                <a:ea typeface="맑은 고딕" pitchFamily="34" charset="-122"/>
                <a:cs typeface="맑은 고딕" pitchFamily="34" charset="-120"/>
              </a:rPr>
              <a:t>지구가 돈 각만큼 되돌리면 별 기준 좌표. 거꾸로는 전치.</a:t>
            </a:r>
            <a:endParaRPr lang="en-US" sz="650" dirty="0"/>
          </a:p>
        </p:txBody>
      </p:sp>
      <p:sp>
        <p:nvSpPr>
          <p:cNvPr id="86" name="Shape 84"/>
          <p:cNvSpPr/>
          <p:nvPr/>
        </p:nvSpPr>
        <p:spPr>
          <a:xfrm>
            <a:off x="7735824" y="5285232"/>
            <a:ext cx="3401568" cy="457200"/>
          </a:xfrm>
          <a:prstGeom prst="roundRect">
            <a:avLst>
              <a:gd name="adj" fmla="val 12000"/>
            </a:avLst>
          </a:prstGeom>
          <a:solidFill>
            <a:srgbClr val="F5F7FB"/>
          </a:solidFill>
          <a:ln/>
        </p:spPr>
        <p:txBody>
          <a:bodyPr/>
          <a:p/>
        </p:txBody>
      </p:sp>
      <p:sp>
        <p:nvSpPr>
          <p:cNvPr id="87" name="Text 85"/>
          <p:cNvSpPr txBox="1"/>
          <p:nvPr/>
        </p:nvSpPr>
        <p:spPr>
          <a:xfrm>
            <a:off x="7772400" y="5358384"/>
            <a:ext cx="3328416" cy="347472"/>
          </a:xfrm>
          <a:prstGeom prst="rect">
            <a:avLst/>
          </a:prstGeom>
          <a:noFill/>
          <a:ln/>
        </p:spPr>
        <p:txBody>
          <a:bodyPr wrap="square" lIns="0" tIns="0" rIns="0" bIns="0" rtlCol="0" anchor="t"/>
          <a:lstStyle/>
          <a:p>
            <a:pPr marL="0" indent="0" algn="ctr">
              <a:lnSpc>
                <a:spcPct val="105000"/>
              </a:lnSpc>
              <a:spcAft>
                <a:spcPts val="200"/>
              </a:spcAft>
              <a:buNone/>
            </a:pPr>
            <a:r>
              <a:rPr lang="en-US" sz="750" b="1" dirty="0">
                <a:solidFill>
                  <a:srgbClr val="1A2233"/>
                </a:solidFill>
                <a:latin typeface="맑은 고딕" pitchFamily="34" charset="0"/>
                <a:ea typeface="맑은 고딕" pitchFamily="34" charset="-122"/>
                <a:cs typeface="맑은 고딕" pitchFamily="34" charset="-120"/>
              </a:rPr>
              <a:t>P배 = 배의 위경도 · 고도 (φ, λ, h) 에서</a:t>
            </a:r>
            <a:endParaRPr lang="en-US" sz="750" dirty="0"/>
          </a:p>
          <a:p>
            <a:pPr marL="0" indent="0" algn="ctr">
              <a:lnSpc>
                <a:spcPct val="105000"/>
              </a:lnSpc>
              <a:buNone/>
            </a:pPr>
            <a:r>
              <a:rPr lang="en-US" sz="650" dirty="0">
                <a:solidFill>
                  <a:srgbClr val="1A2233"/>
                </a:solidFill>
                <a:latin typeface="맑은 고딕" pitchFamily="34" charset="0"/>
                <a:ea typeface="맑은 고딕" pitchFamily="34" charset="-122"/>
                <a:cs typeface="맑은 고딕" pitchFamily="34" charset="-120"/>
              </a:rPr>
              <a:t>X = (R_N + h)cosφcosλ,   Y = (R_N + h)cosφsinλ,   Z = (R_N(1 − e²) + h)sinφ</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01. LLA 측지 좌표계</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15</a:t>
            </a:r>
            <a:endParaRPr lang="en-US" sz="900" dirty="0"/>
          </a:p>
        </p:txBody>
      </p:sp>
      <p:sp>
        <p:nvSpPr>
          <p:cNvPr id="8" name="Shape 6"/>
          <p:cNvSpPr/>
          <p:nvPr/>
        </p:nvSpPr>
        <p:spPr>
          <a:xfrm>
            <a:off x="1133856" y="1755648"/>
            <a:ext cx="2157984" cy="2157984"/>
          </a:xfrm>
          <a:prstGeom prst="ellipse">
            <a:avLst/>
          </a:prstGeom>
          <a:ln w="13970">
            <a:solidFill>
              <a:srgbClr val="13233F"/>
            </a:solidFill>
            <a:prstDash val="solid"/>
          </a:ln>
        </p:spPr>
        <p:txBody>
          <a:bodyPr/>
          <a:p/>
        </p:txBody>
      </p:sp>
      <p:sp>
        <p:nvSpPr>
          <p:cNvPr id="9" name="Shape 7"/>
          <p:cNvSpPr/>
          <p:nvPr/>
        </p:nvSpPr>
        <p:spPr>
          <a:xfrm>
            <a:off x="1133856" y="2450592"/>
            <a:ext cx="2157984" cy="768096"/>
          </a:xfrm>
          <a:prstGeom prst="ellipse">
            <a:avLst/>
          </a:prstGeom>
          <a:ln w="10160">
            <a:solidFill>
              <a:srgbClr val="C9D6EC"/>
            </a:solidFill>
            <a:prstDash val="solid"/>
          </a:ln>
        </p:spPr>
        <p:txBody>
          <a:bodyPr/>
          <a:p/>
        </p:txBody>
      </p:sp>
      <p:sp>
        <p:nvSpPr>
          <p:cNvPr id="10" name="Shape 8"/>
          <p:cNvSpPr/>
          <p:nvPr/>
        </p:nvSpPr>
        <p:spPr>
          <a:xfrm>
            <a:off x="1828800" y="1755648"/>
            <a:ext cx="768096" cy="2157984"/>
          </a:xfrm>
          <a:prstGeom prst="ellipse">
            <a:avLst/>
          </a:prstGeom>
          <a:ln w="10160">
            <a:solidFill>
              <a:srgbClr val="C9D6EC"/>
            </a:solidFill>
            <a:prstDash val="solid"/>
          </a:ln>
        </p:spPr>
        <p:txBody>
          <a:bodyPr/>
          <a:p/>
        </p:txBody>
      </p:sp>
      <p:sp>
        <p:nvSpPr>
          <p:cNvPr id="11" name="Shape 9"/>
          <p:cNvSpPr/>
          <p:nvPr/>
        </p:nvSpPr>
        <p:spPr>
          <a:xfrm>
            <a:off x="1371600" y="1755648"/>
            <a:ext cx="1682496" cy="2157984"/>
          </a:xfrm>
          <a:prstGeom prst="ellipse">
            <a:avLst/>
          </a:prstGeom>
          <a:ln w="8890">
            <a:solidFill>
              <a:srgbClr val="C9D6EC"/>
            </a:solidFill>
            <a:prstDash val="dash"/>
          </a:ln>
        </p:spPr>
        <p:txBody>
          <a:bodyPr/>
          <a:p/>
        </p:txBody>
      </p:sp>
      <p:sp>
        <p:nvSpPr>
          <p:cNvPr id="12" name="Shape 10"/>
          <p:cNvSpPr/>
          <p:nvPr/>
        </p:nvSpPr>
        <p:spPr>
          <a:xfrm rot="-5400000">
            <a:off x="1472184" y="2185416"/>
            <a:ext cx="1481328" cy="0"/>
          </a:xfrm>
          <a:prstGeom prst="line">
            <a:avLst/>
          </a:prstGeom>
          <a:noFill/>
          <a:ln w="13970">
            <a:solidFill>
              <a:srgbClr val="13233F"/>
            </a:solidFill>
            <a:prstDash val="solid"/>
            <a:headEnd type="none"/>
            <a:tailEnd type="triangle"/>
          </a:ln>
        </p:spPr>
        <p:txBody>
          <a:bodyPr/>
          <a:p/>
        </p:txBody>
      </p:sp>
      <p:sp>
        <p:nvSpPr>
          <p:cNvPr id="13" name="Text 11"/>
          <p:cNvSpPr txBox="1"/>
          <p:nvPr/>
        </p:nvSpPr>
        <p:spPr>
          <a:xfrm>
            <a:off x="1892808" y="1280160"/>
            <a:ext cx="640080" cy="201168"/>
          </a:xfrm>
          <a:prstGeom prst="rect">
            <a:avLst/>
          </a:prstGeom>
          <a:noFill/>
          <a:ln/>
        </p:spPr>
        <p:txBody>
          <a:bodyPr wrap="square" lIns="0" tIns="0" rIns="0" bIns="0" rtlCol="0" anchor="ctr"/>
          <a:lstStyle/>
          <a:p>
            <a:pPr marL="0" indent="0" algn="ctr">
              <a:buNone/>
            </a:pPr>
            <a:r>
              <a:rPr lang="en-US" sz="850" dirty="0">
                <a:solidFill>
                  <a:srgbClr val="1A2233"/>
                </a:solidFill>
                <a:latin typeface="맑은 고딕" pitchFamily="34" charset="0"/>
                <a:ea typeface="맑은 고딕" pitchFamily="34" charset="-122"/>
                <a:cs typeface="맑은 고딕" pitchFamily="34" charset="-120"/>
              </a:rPr>
              <a:t>북극</a:t>
            </a:r>
            <a:endParaRPr lang="en-US" sz="850" dirty="0"/>
          </a:p>
        </p:txBody>
      </p:sp>
      <p:sp>
        <p:nvSpPr>
          <p:cNvPr id="14" name="Shape 12"/>
          <p:cNvSpPr/>
          <p:nvPr/>
        </p:nvSpPr>
        <p:spPr>
          <a:xfrm rot="-2343188">
            <a:off x="2073406" y="2441448"/>
            <a:ext cx="1248148" cy="0"/>
          </a:xfrm>
          <a:prstGeom prst="line">
            <a:avLst/>
          </a:prstGeom>
          <a:noFill/>
          <a:ln w="12700">
            <a:solidFill>
              <a:srgbClr val="13233F"/>
            </a:solidFill>
            <a:prstDash val="solid"/>
            <a:headEnd type="none"/>
            <a:tailEnd type="none"/>
          </a:ln>
        </p:spPr>
        <p:txBody>
          <a:bodyPr/>
          <a:p/>
        </p:txBody>
      </p:sp>
      <p:sp>
        <p:nvSpPr>
          <p:cNvPr id="15" name="Shape 13"/>
          <p:cNvSpPr/>
          <p:nvPr/>
        </p:nvSpPr>
        <p:spPr>
          <a:xfrm rot="-2436078">
            <a:off x="3141521" y="1938528"/>
            <a:ext cx="337214" cy="0"/>
          </a:xfrm>
          <a:prstGeom prst="line">
            <a:avLst/>
          </a:prstGeom>
          <a:noFill/>
          <a:ln w="12700">
            <a:solidFill>
              <a:srgbClr val="13233F"/>
            </a:solidFill>
            <a:prstDash val="dash"/>
            <a:headEnd type="none"/>
            <a:tailEnd type="none"/>
          </a:ln>
        </p:spPr>
        <p:txBody>
          <a:bodyPr/>
          <a:p/>
        </p:txBody>
      </p:sp>
      <p:sp>
        <p:nvSpPr>
          <p:cNvPr id="16" name="Shape 14"/>
          <p:cNvSpPr/>
          <p:nvPr/>
        </p:nvSpPr>
        <p:spPr>
          <a:xfrm>
            <a:off x="3383280" y="1773936"/>
            <a:ext cx="109728" cy="109728"/>
          </a:xfrm>
          <a:prstGeom prst="ellipse">
            <a:avLst/>
          </a:prstGeom>
          <a:solidFill>
            <a:srgbClr val="13233F"/>
          </a:solidFill>
          <a:ln/>
        </p:spPr>
        <p:txBody>
          <a:bodyPr/>
          <a:p/>
        </p:txBody>
      </p:sp>
      <p:sp>
        <p:nvSpPr>
          <p:cNvPr id="17" name="Shape 15"/>
          <p:cNvSpPr/>
          <p:nvPr/>
        </p:nvSpPr>
        <p:spPr>
          <a:xfrm>
            <a:off x="3131820" y="1997964"/>
            <a:ext cx="100584" cy="100584"/>
          </a:xfrm>
          <a:prstGeom prst="ellipse">
            <a:avLst/>
          </a:prstGeom>
          <a:ln w="11430">
            <a:solidFill>
              <a:srgbClr val="13233F"/>
            </a:solidFill>
            <a:prstDash val="solid"/>
          </a:ln>
        </p:spPr>
        <p:txBody>
          <a:bodyPr/>
          <a:p/>
        </p:txBody>
      </p:sp>
      <p:sp>
        <p:nvSpPr>
          <p:cNvPr id="18" name="Text 16"/>
          <p:cNvSpPr txBox="1"/>
          <p:nvPr/>
        </p:nvSpPr>
        <p:spPr>
          <a:xfrm>
            <a:off x="3218688" y="1591056"/>
            <a:ext cx="1097280" cy="201168"/>
          </a:xfrm>
          <a:prstGeom prst="rect">
            <a:avLst/>
          </a:prstGeom>
          <a:noFill/>
          <a:ln/>
        </p:spPr>
        <p:txBody>
          <a:bodyPr wrap="square" lIns="0" tIns="0" rIns="0" bIns="0" rtlCol="0" anchor="ctr"/>
          <a:lstStyle/>
          <a:p>
            <a:pPr marL="0" indent="0" algn="l">
              <a:buNone/>
            </a:pPr>
            <a:r>
              <a:rPr lang="en-US" sz="900" dirty="0">
                <a:solidFill>
                  <a:srgbClr val="1A2233"/>
                </a:solidFill>
                <a:latin typeface="맑은 고딕" pitchFamily="34" charset="0"/>
                <a:ea typeface="맑은 고딕" pitchFamily="34" charset="-122"/>
                <a:cs typeface="맑은 고딕" pitchFamily="34" charset="-120"/>
              </a:rPr>
              <a:t>P (φ, λ, h)</a:t>
            </a:r>
            <a:endParaRPr lang="en-US" sz="900" dirty="0"/>
          </a:p>
        </p:txBody>
      </p:sp>
      <p:sp>
        <p:nvSpPr>
          <p:cNvPr id="19" name="Text 17"/>
          <p:cNvSpPr txBox="1"/>
          <p:nvPr/>
        </p:nvSpPr>
        <p:spPr>
          <a:xfrm>
            <a:off x="2999232" y="2267712"/>
            <a:ext cx="64008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h 고도</a:t>
            </a:r>
            <a:endParaRPr lang="en-US" sz="800" dirty="0"/>
          </a:p>
        </p:txBody>
      </p:sp>
      <p:sp>
        <p:nvSpPr>
          <p:cNvPr id="20" name="Text 18"/>
          <p:cNvSpPr txBox="1"/>
          <p:nvPr/>
        </p:nvSpPr>
        <p:spPr>
          <a:xfrm>
            <a:off x="2304288" y="2048256"/>
            <a:ext cx="822960" cy="201168"/>
          </a:xfrm>
          <a:prstGeom prst="rect">
            <a:avLst/>
          </a:prstGeom>
          <a:noFill/>
          <a:ln/>
        </p:spPr>
        <p:txBody>
          <a:bodyPr wrap="square" lIns="0" tIns="0" rIns="0" bIns="0" rtlCol="0" anchor="ctr"/>
          <a:lstStyle/>
          <a:p>
            <a:pPr marL="0" indent="0" algn="l">
              <a:buNone/>
            </a:pPr>
            <a:r>
              <a:rPr lang="en-US" sz="700" dirty="0">
                <a:solidFill>
                  <a:srgbClr val="5A6478"/>
                </a:solidFill>
                <a:latin typeface="맑은 고딕" pitchFamily="34" charset="0"/>
                <a:ea typeface="맑은 고딕" pitchFamily="34" charset="-122"/>
                <a:cs typeface="맑은 고딕" pitchFamily="34" charset="-120"/>
              </a:rPr>
              <a:t>타원체 면</a:t>
            </a:r>
            <a:endParaRPr lang="en-US" sz="700" dirty="0"/>
          </a:p>
        </p:txBody>
      </p:sp>
      <p:sp>
        <p:nvSpPr>
          <p:cNvPr id="21" name="Shape 19"/>
          <p:cNvSpPr/>
          <p:nvPr/>
        </p:nvSpPr>
        <p:spPr>
          <a:xfrm rot="3240000">
            <a:off x="2617355" y="2512943"/>
            <a:ext cx="76542" cy="0"/>
          </a:xfrm>
          <a:prstGeom prst="line">
            <a:avLst/>
          </a:prstGeom>
          <a:noFill/>
          <a:ln w="12700">
            <a:solidFill>
              <a:srgbClr val="13233F"/>
            </a:solidFill>
            <a:prstDash val="solid"/>
            <a:headEnd type="none"/>
            <a:tailEnd type="none"/>
          </a:ln>
        </p:spPr>
        <p:txBody>
          <a:bodyPr/>
          <a:p/>
        </p:txBody>
      </p:sp>
      <p:sp>
        <p:nvSpPr>
          <p:cNvPr id="22" name="Shape 20"/>
          <p:cNvSpPr/>
          <p:nvPr/>
        </p:nvSpPr>
        <p:spPr>
          <a:xfrm rot="3720000">
            <a:off x="2657817" y="2577697"/>
            <a:ext cx="76542" cy="0"/>
          </a:xfrm>
          <a:prstGeom prst="line">
            <a:avLst/>
          </a:prstGeom>
          <a:noFill/>
          <a:ln w="12700">
            <a:solidFill>
              <a:srgbClr val="13233F"/>
            </a:solidFill>
            <a:prstDash val="solid"/>
            <a:headEnd type="none"/>
            <a:tailEnd type="none"/>
          </a:ln>
        </p:spPr>
        <p:txBody>
          <a:bodyPr/>
          <a:p/>
        </p:txBody>
      </p:sp>
      <p:sp>
        <p:nvSpPr>
          <p:cNvPr id="23" name="Shape 21"/>
          <p:cNvSpPr/>
          <p:nvPr/>
        </p:nvSpPr>
        <p:spPr>
          <a:xfrm rot="4200000">
            <a:off x="2688874" y="2647451"/>
            <a:ext cx="76542" cy="0"/>
          </a:xfrm>
          <a:prstGeom prst="line">
            <a:avLst/>
          </a:prstGeom>
          <a:noFill/>
          <a:ln w="12700">
            <a:solidFill>
              <a:srgbClr val="13233F"/>
            </a:solidFill>
            <a:prstDash val="solid"/>
            <a:headEnd type="none"/>
            <a:tailEnd type="none"/>
          </a:ln>
        </p:spPr>
        <p:txBody>
          <a:bodyPr/>
          <a:p/>
        </p:txBody>
      </p:sp>
      <p:sp>
        <p:nvSpPr>
          <p:cNvPr id="24" name="Shape 22"/>
          <p:cNvSpPr/>
          <p:nvPr/>
        </p:nvSpPr>
        <p:spPr>
          <a:xfrm rot="4680000">
            <a:off x="2709920" y="2720849"/>
            <a:ext cx="76542" cy="0"/>
          </a:xfrm>
          <a:prstGeom prst="line">
            <a:avLst/>
          </a:prstGeom>
          <a:noFill/>
          <a:ln w="12700">
            <a:solidFill>
              <a:srgbClr val="13233F"/>
            </a:solidFill>
            <a:prstDash val="solid"/>
            <a:headEnd type="none"/>
            <a:tailEnd type="none"/>
          </a:ln>
        </p:spPr>
        <p:txBody>
          <a:bodyPr/>
          <a:p/>
        </p:txBody>
      </p:sp>
      <p:sp>
        <p:nvSpPr>
          <p:cNvPr id="25" name="Shape 23"/>
          <p:cNvSpPr/>
          <p:nvPr/>
        </p:nvSpPr>
        <p:spPr>
          <a:xfrm rot="5160000">
            <a:off x="2720547" y="2796462"/>
            <a:ext cx="76542" cy="0"/>
          </a:xfrm>
          <a:prstGeom prst="line">
            <a:avLst/>
          </a:prstGeom>
          <a:noFill/>
          <a:ln w="12700">
            <a:solidFill>
              <a:srgbClr val="13233F"/>
            </a:solidFill>
            <a:prstDash val="solid"/>
            <a:headEnd type="none"/>
            <a:tailEnd type="none"/>
          </a:ln>
        </p:spPr>
        <p:txBody>
          <a:bodyPr/>
          <a:p/>
        </p:txBody>
      </p:sp>
      <p:sp>
        <p:nvSpPr>
          <p:cNvPr id="26" name="Text 24"/>
          <p:cNvSpPr txBox="1"/>
          <p:nvPr/>
        </p:nvSpPr>
        <p:spPr>
          <a:xfrm>
            <a:off x="2560320" y="2980944"/>
            <a:ext cx="731520" cy="201168"/>
          </a:xfrm>
          <a:prstGeom prst="rect">
            <a:avLst/>
          </a:prstGeom>
          <a:noFill/>
          <a:ln/>
        </p:spPr>
        <p:txBody>
          <a:bodyPr wrap="square" lIns="0" tIns="0" rIns="0" bIns="0" rtlCol="0" anchor="ctr"/>
          <a:lstStyle/>
          <a:p>
            <a:pPr marL="0" indent="0" algn="l">
              <a:buNone/>
            </a:pPr>
            <a:r>
              <a:rPr lang="en-US" sz="850" dirty="0">
                <a:solidFill>
                  <a:srgbClr val="1A2233"/>
                </a:solidFill>
                <a:latin typeface="맑은 고딕" pitchFamily="34" charset="0"/>
                <a:ea typeface="맑은 고딕" pitchFamily="34" charset="-122"/>
                <a:cs typeface="맑은 고딕" pitchFamily="34" charset="-120"/>
              </a:rPr>
              <a:t>φ 위도</a:t>
            </a:r>
            <a:endParaRPr lang="en-US" sz="850" dirty="0"/>
          </a:p>
        </p:txBody>
      </p:sp>
      <p:sp>
        <p:nvSpPr>
          <p:cNvPr id="27" name="Text 25"/>
          <p:cNvSpPr txBox="1"/>
          <p:nvPr/>
        </p:nvSpPr>
        <p:spPr>
          <a:xfrm>
            <a:off x="1938528" y="3438144"/>
            <a:ext cx="822960" cy="201168"/>
          </a:xfrm>
          <a:prstGeom prst="rect">
            <a:avLst/>
          </a:prstGeom>
          <a:noFill/>
          <a:ln/>
        </p:spPr>
        <p:txBody>
          <a:bodyPr wrap="square" lIns="0" tIns="0" rIns="0" bIns="0" rtlCol="0" anchor="ctr"/>
          <a:lstStyle/>
          <a:p>
            <a:pPr marL="0" indent="0" algn="ctr">
              <a:buNone/>
            </a:pPr>
            <a:r>
              <a:rPr lang="en-US" sz="850" dirty="0">
                <a:solidFill>
                  <a:srgbClr val="1A2233"/>
                </a:solidFill>
                <a:latin typeface="맑은 고딕" pitchFamily="34" charset="0"/>
                <a:ea typeface="맑은 고딕" pitchFamily="34" charset="-122"/>
                <a:cs typeface="맑은 고딕" pitchFamily="34" charset="-120"/>
              </a:rPr>
              <a:t>λ 경도</a:t>
            </a:r>
            <a:endParaRPr lang="en-US" sz="850" dirty="0"/>
          </a:p>
        </p:txBody>
      </p:sp>
      <p:sp>
        <p:nvSpPr>
          <p:cNvPr id="28" name="Text 26"/>
          <p:cNvSpPr txBox="1"/>
          <p:nvPr/>
        </p:nvSpPr>
        <p:spPr>
          <a:xfrm>
            <a:off x="630936" y="3145536"/>
            <a:ext cx="457200" cy="201168"/>
          </a:xfrm>
          <a:prstGeom prst="rect">
            <a:avLst/>
          </a:prstGeom>
          <a:noFill/>
          <a:ln/>
        </p:spPr>
        <p:txBody>
          <a:bodyPr wrap="square" lIns="0" tIns="0" rIns="0" bIns="0" rtlCol="0" anchor="ctr"/>
          <a:lstStyle/>
          <a:p>
            <a:pPr marL="0" indent="0" algn="r">
              <a:buNone/>
            </a:pPr>
            <a:r>
              <a:rPr lang="en-US" sz="800" dirty="0">
                <a:solidFill>
                  <a:srgbClr val="1A2233"/>
                </a:solidFill>
                <a:latin typeface="맑은 고딕" pitchFamily="34" charset="0"/>
                <a:ea typeface="맑은 고딕" pitchFamily="34" charset="-122"/>
                <a:cs typeface="맑은 고딕" pitchFamily="34" charset="-120"/>
              </a:rPr>
              <a:t>적도</a:t>
            </a:r>
            <a:endParaRPr lang="en-US" sz="800" dirty="0"/>
          </a:p>
        </p:txBody>
      </p:sp>
      <p:sp>
        <p:nvSpPr>
          <p:cNvPr id="29" name="Text 27"/>
          <p:cNvSpPr txBox="1"/>
          <p:nvPr/>
        </p:nvSpPr>
        <p:spPr>
          <a:xfrm>
            <a:off x="1316736" y="2889504"/>
            <a:ext cx="731520" cy="201168"/>
          </a:xfrm>
          <a:prstGeom prst="rect">
            <a:avLst/>
          </a:prstGeom>
          <a:noFill/>
          <a:ln/>
        </p:spPr>
        <p:txBody>
          <a:bodyPr wrap="square" lIns="0" tIns="0" rIns="0" bIns="0" rtlCol="0" anchor="ctr"/>
          <a:lstStyle/>
          <a:p>
            <a:pPr marL="0" indent="0" algn="r">
              <a:buNone/>
            </a:pPr>
            <a:r>
              <a:rPr lang="en-US" sz="700" dirty="0">
                <a:solidFill>
                  <a:srgbClr val="5A6478"/>
                </a:solidFill>
                <a:latin typeface="맑은 고딕" pitchFamily="34" charset="0"/>
                <a:ea typeface="맑은 고딕" pitchFamily="34" charset="-122"/>
                <a:cs typeface="맑은 고딕" pitchFamily="34" charset="-120"/>
              </a:rPr>
              <a:t>지구중심</a:t>
            </a:r>
            <a:endParaRPr lang="en-US" sz="700" dirty="0"/>
          </a:p>
        </p:txBody>
      </p:sp>
      <p:sp>
        <p:nvSpPr>
          <p:cNvPr id="30" name="Text 28"/>
          <p:cNvSpPr txBox="1"/>
          <p:nvPr/>
        </p:nvSpPr>
        <p:spPr>
          <a:xfrm>
            <a:off x="978408" y="4059936"/>
            <a:ext cx="1554480" cy="201168"/>
          </a:xfrm>
          <a:prstGeom prst="rect">
            <a:avLst/>
          </a:prstGeom>
          <a:noFill/>
          <a:ln/>
        </p:spPr>
        <p:txBody>
          <a:bodyPr wrap="square" lIns="0" tIns="0" rIns="0" bIns="0" rtlCol="0" anchor="ctr"/>
          <a:lstStyle/>
          <a:p>
            <a:pPr marL="0" indent="0" algn="ctr">
              <a:buNone/>
            </a:pPr>
            <a:r>
              <a:rPr lang="en-US" sz="750" dirty="0">
                <a:solidFill>
                  <a:srgbClr val="5A6478"/>
                </a:solidFill>
                <a:latin typeface="맑은 고딕" pitchFamily="34" charset="0"/>
                <a:ea typeface="맑은 고딕" pitchFamily="34" charset="-122"/>
                <a:cs typeface="맑은 고딕" pitchFamily="34" charset="-120"/>
              </a:rPr>
              <a:t>그리니치 자오선</a:t>
            </a:r>
            <a:endParaRPr lang="en-US" sz="750" dirty="0"/>
          </a:p>
        </p:txBody>
      </p:sp>
      <p:sp>
        <p:nvSpPr>
          <p:cNvPr id="31" name="Text 29"/>
          <p:cNvSpPr txBox="1"/>
          <p:nvPr/>
        </p:nvSpPr>
        <p:spPr>
          <a:xfrm>
            <a:off x="4041648" y="1207008"/>
            <a:ext cx="3657600" cy="274320"/>
          </a:xfrm>
          <a:prstGeom prst="rect">
            <a:avLst/>
          </a:prstGeom>
          <a:noFill/>
          <a:ln/>
        </p:spPr>
        <p:txBody>
          <a:bodyPr wrap="square" lIns="0" tIns="0" rIns="0" bIns="0" rtlCol="0" anchor="ctr"/>
          <a:lstStyle/>
          <a:p>
            <a:pPr marL="0" indent="0" algn="ctr">
              <a:buNone/>
            </a:pPr>
            <a:r>
              <a:rPr lang="en-US" sz="1150" b="1" dirty="0">
                <a:solidFill>
                  <a:srgbClr val="1A2233"/>
                </a:solidFill>
                <a:latin typeface="맑은 고딕" pitchFamily="34" charset="0"/>
                <a:ea typeface="맑은 고딕" pitchFamily="34" charset="-122"/>
                <a:cs typeface="맑은 고딕" pitchFamily="34" charset="-120"/>
              </a:rPr>
              <a:t>자오선 단면 — 위도 φ 는 어디서 재나 (편평률 과장)</a:t>
            </a:r>
            <a:endParaRPr lang="en-US" sz="1150" dirty="0"/>
          </a:p>
        </p:txBody>
      </p:sp>
      <p:sp>
        <p:nvSpPr>
          <p:cNvPr id="32" name="Shape 30"/>
          <p:cNvSpPr/>
          <p:nvPr/>
        </p:nvSpPr>
        <p:spPr>
          <a:xfrm rot="270000">
            <a:off x="4498530" y="1836906"/>
            <a:ext cx="206620" cy="0"/>
          </a:xfrm>
          <a:prstGeom prst="line">
            <a:avLst/>
          </a:prstGeom>
          <a:noFill/>
          <a:ln w="13970">
            <a:solidFill>
              <a:srgbClr val="13233F"/>
            </a:solidFill>
            <a:prstDash val="solid"/>
            <a:headEnd type="none"/>
            <a:tailEnd type="none"/>
          </a:ln>
        </p:spPr>
        <p:txBody>
          <a:bodyPr/>
          <a:p/>
        </p:txBody>
      </p:sp>
      <p:sp>
        <p:nvSpPr>
          <p:cNvPr id="33" name="Shape 31"/>
          <p:cNvSpPr/>
          <p:nvPr/>
        </p:nvSpPr>
        <p:spPr>
          <a:xfrm rot="810000">
            <a:off x="4701976" y="1869128"/>
            <a:ext cx="206620" cy="0"/>
          </a:xfrm>
          <a:prstGeom prst="line">
            <a:avLst/>
          </a:prstGeom>
          <a:noFill/>
          <a:ln w="13970">
            <a:solidFill>
              <a:srgbClr val="13233F"/>
            </a:solidFill>
            <a:prstDash val="solid"/>
            <a:headEnd type="none"/>
            <a:tailEnd type="none"/>
          </a:ln>
        </p:spPr>
        <p:txBody>
          <a:bodyPr/>
          <a:p/>
        </p:txBody>
      </p:sp>
      <p:sp>
        <p:nvSpPr>
          <p:cNvPr id="34" name="Shape 32"/>
          <p:cNvSpPr/>
          <p:nvPr/>
        </p:nvSpPr>
        <p:spPr>
          <a:xfrm rot="1350000">
            <a:off x="4897878" y="1932781"/>
            <a:ext cx="206620" cy="0"/>
          </a:xfrm>
          <a:prstGeom prst="line">
            <a:avLst/>
          </a:prstGeom>
          <a:noFill/>
          <a:ln w="13970">
            <a:solidFill>
              <a:srgbClr val="13233F"/>
            </a:solidFill>
            <a:prstDash val="solid"/>
            <a:headEnd type="none"/>
            <a:tailEnd type="none"/>
          </a:ln>
        </p:spPr>
        <p:txBody>
          <a:bodyPr/>
          <a:p/>
        </p:txBody>
      </p:sp>
      <p:sp>
        <p:nvSpPr>
          <p:cNvPr id="35" name="Shape 33"/>
          <p:cNvSpPr/>
          <p:nvPr/>
        </p:nvSpPr>
        <p:spPr>
          <a:xfrm rot="1890000">
            <a:off x="5081410" y="2026295"/>
            <a:ext cx="206620" cy="0"/>
          </a:xfrm>
          <a:prstGeom prst="line">
            <a:avLst/>
          </a:prstGeom>
          <a:noFill/>
          <a:ln w="13970">
            <a:solidFill>
              <a:srgbClr val="13233F"/>
            </a:solidFill>
            <a:prstDash val="solid"/>
            <a:headEnd type="none"/>
            <a:tailEnd type="none"/>
          </a:ln>
        </p:spPr>
        <p:txBody>
          <a:bodyPr/>
          <a:p/>
        </p:txBody>
      </p:sp>
      <p:sp>
        <p:nvSpPr>
          <p:cNvPr id="36" name="Shape 34"/>
          <p:cNvSpPr/>
          <p:nvPr/>
        </p:nvSpPr>
        <p:spPr>
          <a:xfrm rot="2430000">
            <a:off x="5248054" y="2147369"/>
            <a:ext cx="206620" cy="0"/>
          </a:xfrm>
          <a:prstGeom prst="line">
            <a:avLst/>
          </a:prstGeom>
          <a:noFill/>
          <a:ln w="13970">
            <a:solidFill>
              <a:srgbClr val="13233F"/>
            </a:solidFill>
            <a:prstDash val="solid"/>
            <a:headEnd type="none"/>
            <a:tailEnd type="none"/>
          </a:ln>
        </p:spPr>
        <p:txBody>
          <a:bodyPr/>
          <a:p/>
        </p:txBody>
      </p:sp>
      <p:sp>
        <p:nvSpPr>
          <p:cNvPr id="37" name="Shape 35"/>
          <p:cNvSpPr/>
          <p:nvPr/>
        </p:nvSpPr>
        <p:spPr>
          <a:xfrm rot="2970000">
            <a:off x="5393705" y="2293021"/>
            <a:ext cx="206620" cy="0"/>
          </a:xfrm>
          <a:prstGeom prst="line">
            <a:avLst/>
          </a:prstGeom>
          <a:noFill/>
          <a:ln w="13970">
            <a:solidFill>
              <a:srgbClr val="13233F"/>
            </a:solidFill>
            <a:prstDash val="solid"/>
            <a:headEnd type="none"/>
            <a:tailEnd type="none"/>
          </a:ln>
        </p:spPr>
        <p:txBody>
          <a:bodyPr/>
          <a:p/>
        </p:txBody>
      </p:sp>
      <p:sp>
        <p:nvSpPr>
          <p:cNvPr id="38" name="Shape 36"/>
          <p:cNvSpPr/>
          <p:nvPr/>
        </p:nvSpPr>
        <p:spPr>
          <a:xfrm rot="3510000">
            <a:off x="5514779" y="2459664"/>
            <a:ext cx="206620" cy="0"/>
          </a:xfrm>
          <a:prstGeom prst="line">
            <a:avLst/>
          </a:prstGeom>
          <a:noFill/>
          <a:ln w="13970">
            <a:solidFill>
              <a:srgbClr val="13233F"/>
            </a:solidFill>
            <a:prstDash val="solid"/>
            <a:headEnd type="none"/>
            <a:tailEnd type="none"/>
          </a:ln>
        </p:spPr>
        <p:txBody>
          <a:bodyPr/>
          <a:p/>
        </p:txBody>
      </p:sp>
      <p:sp>
        <p:nvSpPr>
          <p:cNvPr id="39" name="Shape 37"/>
          <p:cNvSpPr/>
          <p:nvPr/>
        </p:nvSpPr>
        <p:spPr>
          <a:xfrm rot="4050000">
            <a:off x="5608293" y="2643196"/>
            <a:ext cx="206620" cy="0"/>
          </a:xfrm>
          <a:prstGeom prst="line">
            <a:avLst/>
          </a:prstGeom>
          <a:noFill/>
          <a:ln w="13970">
            <a:solidFill>
              <a:srgbClr val="13233F"/>
            </a:solidFill>
            <a:prstDash val="solid"/>
            <a:headEnd type="none"/>
            <a:tailEnd type="none"/>
          </a:ln>
        </p:spPr>
        <p:txBody>
          <a:bodyPr/>
          <a:p/>
        </p:txBody>
      </p:sp>
      <p:sp>
        <p:nvSpPr>
          <p:cNvPr id="40" name="Shape 38"/>
          <p:cNvSpPr/>
          <p:nvPr/>
        </p:nvSpPr>
        <p:spPr>
          <a:xfrm rot="4590000">
            <a:off x="5671946" y="2839098"/>
            <a:ext cx="206620" cy="0"/>
          </a:xfrm>
          <a:prstGeom prst="line">
            <a:avLst/>
          </a:prstGeom>
          <a:noFill/>
          <a:ln w="13970">
            <a:solidFill>
              <a:srgbClr val="13233F"/>
            </a:solidFill>
            <a:prstDash val="solid"/>
            <a:headEnd type="none"/>
            <a:tailEnd type="none"/>
          </a:ln>
        </p:spPr>
        <p:txBody>
          <a:bodyPr/>
          <a:p/>
        </p:txBody>
      </p:sp>
      <p:sp>
        <p:nvSpPr>
          <p:cNvPr id="41" name="Shape 39"/>
          <p:cNvSpPr/>
          <p:nvPr/>
        </p:nvSpPr>
        <p:spPr>
          <a:xfrm rot="5130000">
            <a:off x="5704168" y="3042545"/>
            <a:ext cx="206620" cy="0"/>
          </a:xfrm>
          <a:prstGeom prst="line">
            <a:avLst/>
          </a:prstGeom>
          <a:noFill/>
          <a:ln w="13970">
            <a:solidFill>
              <a:srgbClr val="13233F"/>
            </a:solidFill>
            <a:prstDash val="solid"/>
            <a:headEnd type="none"/>
            <a:tailEnd type="none"/>
          </a:ln>
        </p:spPr>
        <p:txBody>
          <a:bodyPr/>
          <a:p/>
        </p:txBody>
      </p:sp>
      <p:sp>
        <p:nvSpPr>
          <p:cNvPr id="42" name="Shape 40"/>
          <p:cNvSpPr/>
          <p:nvPr/>
        </p:nvSpPr>
        <p:spPr>
          <a:xfrm rot="5670000">
            <a:off x="5704168" y="3248527"/>
            <a:ext cx="206620" cy="0"/>
          </a:xfrm>
          <a:prstGeom prst="line">
            <a:avLst/>
          </a:prstGeom>
          <a:noFill/>
          <a:ln w="13970">
            <a:solidFill>
              <a:srgbClr val="13233F"/>
            </a:solidFill>
            <a:prstDash val="solid"/>
            <a:headEnd type="none"/>
            <a:tailEnd type="none"/>
          </a:ln>
        </p:spPr>
        <p:txBody>
          <a:bodyPr/>
          <a:p/>
        </p:txBody>
      </p:sp>
      <p:sp>
        <p:nvSpPr>
          <p:cNvPr id="43" name="Shape 41"/>
          <p:cNvSpPr/>
          <p:nvPr/>
        </p:nvSpPr>
        <p:spPr>
          <a:xfrm rot="6210000">
            <a:off x="5671946" y="3451974"/>
            <a:ext cx="206620" cy="0"/>
          </a:xfrm>
          <a:prstGeom prst="line">
            <a:avLst/>
          </a:prstGeom>
          <a:noFill/>
          <a:ln w="13970">
            <a:solidFill>
              <a:srgbClr val="13233F"/>
            </a:solidFill>
            <a:prstDash val="solid"/>
            <a:headEnd type="none"/>
            <a:tailEnd type="none"/>
          </a:ln>
        </p:spPr>
        <p:txBody>
          <a:bodyPr/>
          <a:p/>
        </p:txBody>
      </p:sp>
      <p:sp>
        <p:nvSpPr>
          <p:cNvPr id="44" name="Shape 42"/>
          <p:cNvSpPr/>
          <p:nvPr/>
        </p:nvSpPr>
        <p:spPr>
          <a:xfrm rot="6750000">
            <a:off x="5608293" y="3647876"/>
            <a:ext cx="206620" cy="0"/>
          </a:xfrm>
          <a:prstGeom prst="line">
            <a:avLst/>
          </a:prstGeom>
          <a:noFill/>
          <a:ln w="13970">
            <a:solidFill>
              <a:srgbClr val="13233F"/>
            </a:solidFill>
            <a:prstDash val="solid"/>
            <a:headEnd type="none"/>
            <a:tailEnd type="none"/>
          </a:ln>
        </p:spPr>
        <p:txBody>
          <a:bodyPr/>
          <a:p/>
        </p:txBody>
      </p:sp>
      <p:sp>
        <p:nvSpPr>
          <p:cNvPr id="45" name="Shape 43"/>
          <p:cNvSpPr/>
          <p:nvPr/>
        </p:nvSpPr>
        <p:spPr>
          <a:xfrm rot="7290000">
            <a:off x="5514779" y="3831408"/>
            <a:ext cx="206620" cy="0"/>
          </a:xfrm>
          <a:prstGeom prst="line">
            <a:avLst/>
          </a:prstGeom>
          <a:noFill/>
          <a:ln w="13970">
            <a:solidFill>
              <a:srgbClr val="13233F"/>
            </a:solidFill>
            <a:prstDash val="solid"/>
            <a:headEnd type="none"/>
            <a:tailEnd type="none"/>
          </a:ln>
        </p:spPr>
        <p:txBody>
          <a:bodyPr/>
          <a:p/>
        </p:txBody>
      </p:sp>
      <p:sp>
        <p:nvSpPr>
          <p:cNvPr id="46" name="Shape 44"/>
          <p:cNvSpPr/>
          <p:nvPr/>
        </p:nvSpPr>
        <p:spPr>
          <a:xfrm rot="7830000">
            <a:off x="5393705" y="3998051"/>
            <a:ext cx="206620" cy="0"/>
          </a:xfrm>
          <a:prstGeom prst="line">
            <a:avLst/>
          </a:prstGeom>
          <a:noFill/>
          <a:ln w="13970">
            <a:solidFill>
              <a:srgbClr val="13233F"/>
            </a:solidFill>
            <a:prstDash val="solid"/>
            <a:headEnd type="none"/>
            <a:tailEnd type="none"/>
          </a:ln>
        </p:spPr>
        <p:txBody>
          <a:bodyPr/>
          <a:p/>
        </p:txBody>
      </p:sp>
      <p:sp>
        <p:nvSpPr>
          <p:cNvPr id="47" name="Shape 45"/>
          <p:cNvSpPr/>
          <p:nvPr/>
        </p:nvSpPr>
        <p:spPr>
          <a:xfrm rot="8370000">
            <a:off x="5248054" y="4143703"/>
            <a:ext cx="206620" cy="0"/>
          </a:xfrm>
          <a:prstGeom prst="line">
            <a:avLst/>
          </a:prstGeom>
          <a:noFill/>
          <a:ln w="13970">
            <a:solidFill>
              <a:srgbClr val="13233F"/>
            </a:solidFill>
            <a:prstDash val="solid"/>
            <a:headEnd type="none"/>
            <a:tailEnd type="none"/>
          </a:ln>
        </p:spPr>
        <p:txBody>
          <a:bodyPr/>
          <a:p/>
        </p:txBody>
      </p:sp>
      <p:sp>
        <p:nvSpPr>
          <p:cNvPr id="48" name="Shape 46"/>
          <p:cNvSpPr/>
          <p:nvPr/>
        </p:nvSpPr>
        <p:spPr>
          <a:xfrm rot="8910000">
            <a:off x="5081410" y="4264777"/>
            <a:ext cx="206620" cy="0"/>
          </a:xfrm>
          <a:prstGeom prst="line">
            <a:avLst/>
          </a:prstGeom>
          <a:noFill/>
          <a:ln w="13970">
            <a:solidFill>
              <a:srgbClr val="13233F"/>
            </a:solidFill>
            <a:prstDash val="solid"/>
            <a:headEnd type="none"/>
            <a:tailEnd type="none"/>
          </a:ln>
        </p:spPr>
        <p:txBody>
          <a:bodyPr/>
          <a:p/>
        </p:txBody>
      </p:sp>
      <p:sp>
        <p:nvSpPr>
          <p:cNvPr id="49" name="Shape 47"/>
          <p:cNvSpPr/>
          <p:nvPr/>
        </p:nvSpPr>
        <p:spPr>
          <a:xfrm rot="9450000">
            <a:off x="4897878" y="4358291"/>
            <a:ext cx="206620" cy="0"/>
          </a:xfrm>
          <a:prstGeom prst="line">
            <a:avLst/>
          </a:prstGeom>
          <a:noFill/>
          <a:ln w="13970">
            <a:solidFill>
              <a:srgbClr val="13233F"/>
            </a:solidFill>
            <a:prstDash val="solid"/>
            <a:headEnd type="none"/>
            <a:tailEnd type="none"/>
          </a:ln>
        </p:spPr>
        <p:txBody>
          <a:bodyPr/>
          <a:p/>
        </p:txBody>
      </p:sp>
      <p:sp>
        <p:nvSpPr>
          <p:cNvPr id="50" name="Shape 48"/>
          <p:cNvSpPr/>
          <p:nvPr/>
        </p:nvSpPr>
        <p:spPr>
          <a:xfrm rot="9990000">
            <a:off x="4701976" y="4421944"/>
            <a:ext cx="206620" cy="0"/>
          </a:xfrm>
          <a:prstGeom prst="line">
            <a:avLst/>
          </a:prstGeom>
          <a:noFill/>
          <a:ln w="13970">
            <a:solidFill>
              <a:srgbClr val="13233F"/>
            </a:solidFill>
            <a:prstDash val="solid"/>
            <a:headEnd type="none"/>
            <a:tailEnd type="none"/>
          </a:ln>
        </p:spPr>
        <p:txBody>
          <a:bodyPr/>
          <a:p/>
        </p:txBody>
      </p:sp>
      <p:sp>
        <p:nvSpPr>
          <p:cNvPr id="51" name="Shape 49"/>
          <p:cNvSpPr/>
          <p:nvPr/>
        </p:nvSpPr>
        <p:spPr>
          <a:xfrm rot="10530000">
            <a:off x="4498530" y="4454166"/>
            <a:ext cx="206620" cy="0"/>
          </a:xfrm>
          <a:prstGeom prst="line">
            <a:avLst/>
          </a:prstGeom>
          <a:noFill/>
          <a:ln w="13970">
            <a:solidFill>
              <a:srgbClr val="13233F"/>
            </a:solidFill>
            <a:prstDash val="solid"/>
            <a:headEnd type="none"/>
            <a:tailEnd type="none"/>
          </a:ln>
        </p:spPr>
        <p:txBody>
          <a:bodyPr/>
          <a:p/>
        </p:txBody>
      </p:sp>
      <p:sp>
        <p:nvSpPr>
          <p:cNvPr id="52" name="Shape 50"/>
          <p:cNvSpPr/>
          <p:nvPr/>
        </p:nvSpPr>
        <p:spPr>
          <a:xfrm rot="5400000">
            <a:off x="3182112" y="3145536"/>
            <a:ext cx="2633472" cy="0"/>
          </a:xfrm>
          <a:prstGeom prst="line">
            <a:avLst/>
          </a:prstGeom>
          <a:noFill/>
          <a:ln w="13970">
            <a:solidFill>
              <a:srgbClr val="13233F"/>
            </a:solidFill>
            <a:prstDash val="solid"/>
            <a:headEnd type="none"/>
            <a:tailEnd type="none"/>
          </a:ln>
        </p:spPr>
        <p:txBody>
          <a:bodyPr/>
          <a:p/>
        </p:txBody>
      </p:sp>
      <p:sp>
        <p:nvSpPr>
          <p:cNvPr id="53" name="Shape 51"/>
          <p:cNvSpPr/>
          <p:nvPr/>
        </p:nvSpPr>
        <p:spPr>
          <a:xfrm>
            <a:off x="4498848" y="3145536"/>
            <a:ext cx="1773936" cy="0"/>
          </a:xfrm>
          <a:prstGeom prst="line">
            <a:avLst/>
          </a:prstGeom>
          <a:noFill/>
          <a:ln w="12700">
            <a:solidFill>
              <a:srgbClr val="13233F"/>
            </a:solidFill>
            <a:prstDash val="solid"/>
            <a:headEnd type="none"/>
            <a:tailEnd type="none"/>
          </a:ln>
        </p:spPr>
        <p:txBody>
          <a:bodyPr/>
          <a:p/>
        </p:txBody>
      </p:sp>
      <p:sp>
        <p:nvSpPr>
          <p:cNvPr id="54" name="Text 52"/>
          <p:cNvSpPr txBox="1"/>
          <p:nvPr/>
        </p:nvSpPr>
        <p:spPr>
          <a:xfrm>
            <a:off x="5870448" y="3127248"/>
            <a:ext cx="64008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적도면</a:t>
            </a:r>
            <a:endParaRPr lang="en-US" sz="800" dirty="0"/>
          </a:p>
        </p:txBody>
      </p:sp>
      <p:sp>
        <p:nvSpPr>
          <p:cNvPr id="55" name="Shape 53"/>
          <p:cNvSpPr/>
          <p:nvPr/>
        </p:nvSpPr>
        <p:spPr>
          <a:xfrm rot="-5400000">
            <a:off x="4343400" y="1746504"/>
            <a:ext cx="310896" cy="0"/>
          </a:xfrm>
          <a:prstGeom prst="line">
            <a:avLst/>
          </a:prstGeom>
          <a:noFill/>
          <a:ln w="12700">
            <a:solidFill>
              <a:srgbClr val="13233F"/>
            </a:solidFill>
            <a:prstDash val="solid"/>
            <a:headEnd type="none"/>
            <a:tailEnd type="triangle"/>
          </a:ln>
        </p:spPr>
        <p:txBody>
          <a:bodyPr/>
          <a:p/>
        </p:txBody>
      </p:sp>
      <p:sp>
        <p:nvSpPr>
          <p:cNvPr id="56" name="Text 54"/>
          <p:cNvSpPr txBox="1"/>
          <p:nvPr/>
        </p:nvSpPr>
        <p:spPr>
          <a:xfrm>
            <a:off x="3822192" y="1517904"/>
            <a:ext cx="731520" cy="201168"/>
          </a:xfrm>
          <a:prstGeom prst="rect">
            <a:avLst/>
          </a:prstGeom>
          <a:noFill/>
          <a:ln/>
        </p:spPr>
        <p:txBody>
          <a:bodyPr wrap="square" lIns="0" tIns="0" rIns="0" bIns="0" rtlCol="0" anchor="ctr"/>
          <a:lstStyle/>
          <a:p>
            <a:pPr marL="0" indent="0" algn="ctr">
              <a:buNone/>
            </a:pPr>
            <a:r>
              <a:rPr lang="en-US" sz="800" dirty="0">
                <a:solidFill>
                  <a:srgbClr val="1A2233"/>
                </a:solidFill>
                <a:latin typeface="맑은 고딕" pitchFamily="34" charset="0"/>
                <a:ea typeface="맑은 고딕" pitchFamily="34" charset="-122"/>
                <a:cs typeface="맑은 고딕" pitchFamily="34" charset="-120"/>
              </a:rPr>
              <a:t>자전축</a:t>
            </a:r>
            <a:endParaRPr lang="en-US" sz="800" dirty="0"/>
          </a:p>
        </p:txBody>
      </p:sp>
      <p:sp>
        <p:nvSpPr>
          <p:cNvPr id="57" name="Text 55"/>
          <p:cNvSpPr txBox="1"/>
          <p:nvPr/>
        </p:nvSpPr>
        <p:spPr>
          <a:xfrm>
            <a:off x="3803904" y="3127248"/>
            <a:ext cx="566928" cy="201168"/>
          </a:xfrm>
          <a:prstGeom prst="rect">
            <a:avLst/>
          </a:prstGeom>
          <a:noFill/>
          <a:ln/>
        </p:spPr>
        <p:txBody>
          <a:bodyPr wrap="square" lIns="0" tIns="0" rIns="0" bIns="0" rtlCol="0" anchor="ctr"/>
          <a:lstStyle/>
          <a:p>
            <a:pPr marL="0" indent="0" algn="r">
              <a:buNone/>
            </a:pPr>
            <a:r>
              <a:rPr lang="en-US" sz="800" dirty="0">
                <a:solidFill>
                  <a:srgbClr val="1A2233"/>
                </a:solidFill>
                <a:latin typeface="맑은 고딕" pitchFamily="34" charset="0"/>
                <a:ea typeface="맑은 고딕" pitchFamily="34" charset="-122"/>
                <a:cs typeface="맑은 고딕" pitchFamily="34" charset="-120"/>
              </a:rPr>
              <a:t>중심 O</a:t>
            </a:r>
            <a:endParaRPr lang="en-US" sz="800" dirty="0"/>
          </a:p>
        </p:txBody>
      </p:sp>
      <p:sp>
        <p:nvSpPr>
          <p:cNvPr id="58" name="Shape 56"/>
          <p:cNvSpPr/>
          <p:nvPr/>
        </p:nvSpPr>
        <p:spPr>
          <a:xfrm>
            <a:off x="5385816" y="2194560"/>
            <a:ext cx="91440" cy="91440"/>
          </a:xfrm>
          <a:prstGeom prst="ellipse">
            <a:avLst/>
          </a:prstGeom>
          <a:solidFill>
            <a:srgbClr val="13233F"/>
          </a:solidFill>
          <a:ln/>
        </p:spPr>
        <p:txBody>
          <a:bodyPr/>
          <a:p/>
        </p:txBody>
      </p:sp>
      <p:sp>
        <p:nvSpPr>
          <p:cNvPr id="59" name="Shape 57"/>
          <p:cNvSpPr/>
          <p:nvPr/>
        </p:nvSpPr>
        <p:spPr>
          <a:xfrm rot="-2648694">
            <a:off x="4315308" y="2692908"/>
            <a:ext cx="1299767" cy="0"/>
          </a:xfrm>
          <a:prstGeom prst="line">
            <a:avLst/>
          </a:prstGeom>
          <a:noFill/>
          <a:ln w="11430">
            <a:solidFill>
              <a:srgbClr val="C9D6EC"/>
            </a:solidFill>
            <a:prstDash val="dash"/>
            <a:headEnd type="none"/>
            <a:tailEnd type="none"/>
          </a:ln>
        </p:spPr>
        <p:txBody>
          <a:bodyPr/>
          <a:p/>
        </p:txBody>
      </p:sp>
      <p:sp>
        <p:nvSpPr>
          <p:cNvPr id="60" name="Shape 58"/>
          <p:cNvSpPr/>
          <p:nvPr/>
        </p:nvSpPr>
        <p:spPr>
          <a:xfrm rot="-3080412">
            <a:off x="4981423" y="2221992"/>
            <a:ext cx="936803" cy="0"/>
          </a:xfrm>
          <a:prstGeom prst="line">
            <a:avLst/>
          </a:prstGeom>
          <a:noFill/>
          <a:ln w="13970">
            <a:solidFill>
              <a:srgbClr val="13233F"/>
            </a:solidFill>
            <a:prstDash val="solid"/>
            <a:headEnd type="none"/>
            <a:tailEnd type="triangle"/>
          </a:ln>
        </p:spPr>
        <p:txBody>
          <a:bodyPr/>
          <a:p/>
        </p:txBody>
      </p:sp>
      <p:sp>
        <p:nvSpPr>
          <p:cNvPr id="61" name="Text 59"/>
          <p:cNvSpPr txBox="1"/>
          <p:nvPr/>
        </p:nvSpPr>
        <p:spPr>
          <a:xfrm>
            <a:off x="5522976" y="1691640"/>
            <a:ext cx="1920240" cy="201168"/>
          </a:xfrm>
          <a:prstGeom prst="rect">
            <a:avLst/>
          </a:prstGeom>
          <a:noFill/>
          <a:ln/>
        </p:spPr>
        <p:txBody>
          <a:bodyPr wrap="square" lIns="0" tIns="0" rIns="0" bIns="0" rtlCol="0" anchor="ctr"/>
          <a:lstStyle/>
          <a:p>
            <a:pPr marL="0" indent="0" algn="l">
              <a:buNone/>
            </a:pPr>
            <a:r>
              <a:rPr lang="en-US" sz="800" dirty="0">
                <a:solidFill>
                  <a:srgbClr val="1A2233"/>
                </a:solidFill>
                <a:latin typeface="맑은 고딕" pitchFamily="34" charset="0"/>
                <a:ea typeface="맑은 고딕" pitchFamily="34" charset="-122"/>
                <a:cs typeface="맑은 고딕" pitchFamily="34" charset="-120"/>
              </a:rPr>
              <a:t>수직선 (타원체 면에 수직)</a:t>
            </a:r>
            <a:endParaRPr lang="en-US" sz="800" dirty="0"/>
          </a:p>
        </p:txBody>
      </p:sp>
      <p:sp>
        <p:nvSpPr>
          <p:cNvPr id="62" name="Shape 60"/>
          <p:cNvSpPr/>
          <p:nvPr/>
        </p:nvSpPr>
        <p:spPr>
          <a:xfrm rot="7304915">
            <a:off x="4257219" y="2683764"/>
            <a:ext cx="1946298" cy="0"/>
          </a:xfrm>
          <a:prstGeom prst="line">
            <a:avLst/>
          </a:prstGeom>
          <a:noFill/>
          <a:ln w="10795">
            <a:solidFill>
              <a:srgbClr val="C9D6EC"/>
            </a:solidFill>
            <a:prstDash val="sysDot"/>
            <a:headEnd type="none"/>
            <a:tailEnd type="none"/>
          </a:ln>
        </p:spPr>
        <p:txBody>
          <a:bodyPr/>
          <a:p/>
        </p:txBody>
      </p:sp>
      <p:sp>
        <p:nvSpPr>
          <p:cNvPr id="63" name="Shape 61"/>
          <p:cNvSpPr/>
          <p:nvPr/>
        </p:nvSpPr>
        <p:spPr>
          <a:xfrm rot="2815000">
            <a:off x="5020216" y="3199730"/>
            <a:ext cx="62459" cy="0"/>
          </a:xfrm>
          <a:prstGeom prst="line">
            <a:avLst/>
          </a:prstGeom>
          <a:noFill/>
          <a:ln w="12700">
            <a:solidFill>
              <a:srgbClr val="13233F"/>
            </a:solidFill>
            <a:prstDash val="solid"/>
            <a:headEnd type="none"/>
            <a:tailEnd type="none"/>
          </a:ln>
        </p:spPr>
        <p:txBody>
          <a:bodyPr/>
          <a:p/>
        </p:txBody>
      </p:sp>
      <p:sp>
        <p:nvSpPr>
          <p:cNvPr id="64" name="Shape 62"/>
          <p:cNvSpPr/>
          <p:nvPr/>
        </p:nvSpPr>
        <p:spPr>
          <a:xfrm rot="3285000">
            <a:off x="5059571" y="3248042"/>
            <a:ext cx="62459" cy="0"/>
          </a:xfrm>
          <a:prstGeom prst="line">
            <a:avLst/>
          </a:prstGeom>
          <a:noFill/>
          <a:ln w="12700">
            <a:solidFill>
              <a:srgbClr val="13233F"/>
            </a:solidFill>
            <a:prstDash val="solid"/>
            <a:headEnd type="none"/>
            <a:tailEnd type="none"/>
          </a:ln>
        </p:spPr>
        <p:txBody>
          <a:bodyPr/>
          <a:p/>
        </p:txBody>
      </p:sp>
      <p:sp>
        <p:nvSpPr>
          <p:cNvPr id="65" name="Shape 63"/>
          <p:cNvSpPr/>
          <p:nvPr/>
        </p:nvSpPr>
        <p:spPr>
          <a:xfrm rot="3755000">
            <a:off x="5091975" y="3301266"/>
            <a:ext cx="62459" cy="0"/>
          </a:xfrm>
          <a:prstGeom prst="line">
            <a:avLst/>
          </a:prstGeom>
          <a:noFill/>
          <a:ln w="12700">
            <a:solidFill>
              <a:srgbClr val="13233F"/>
            </a:solidFill>
            <a:prstDash val="solid"/>
            <a:headEnd type="none"/>
            <a:tailEnd type="none"/>
          </a:ln>
        </p:spPr>
        <p:txBody>
          <a:bodyPr/>
          <a:p/>
        </p:txBody>
      </p:sp>
      <p:sp>
        <p:nvSpPr>
          <p:cNvPr id="66" name="Shape 64"/>
          <p:cNvSpPr/>
          <p:nvPr/>
        </p:nvSpPr>
        <p:spPr>
          <a:xfrm rot="4225000">
            <a:off x="5116822" y="3358411"/>
            <a:ext cx="62459" cy="0"/>
          </a:xfrm>
          <a:prstGeom prst="line">
            <a:avLst/>
          </a:prstGeom>
          <a:noFill/>
          <a:ln w="12700">
            <a:solidFill>
              <a:srgbClr val="13233F"/>
            </a:solidFill>
            <a:prstDash val="solid"/>
            <a:headEnd type="none"/>
            <a:tailEnd type="none"/>
          </a:ln>
        </p:spPr>
        <p:txBody>
          <a:bodyPr/>
          <a:p/>
        </p:txBody>
      </p:sp>
      <p:sp>
        <p:nvSpPr>
          <p:cNvPr id="67" name="Shape 65"/>
          <p:cNvSpPr/>
          <p:nvPr/>
        </p:nvSpPr>
        <p:spPr>
          <a:xfrm rot="4695000">
            <a:off x="5133649" y="3418408"/>
            <a:ext cx="62459" cy="0"/>
          </a:xfrm>
          <a:prstGeom prst="line">
            <a:avLst/>
          </a:prstGeom>
          <a:noFill/>
          <a:ln w="12700">
            <a:solidFill>
              <a:srgbClr val="13233F"/>
            </a:solidFill>
            <a:prstDash val="solid"/>
            <a:headEnd type="none"/>
            <a:tailEnd type="none"/>
          </a:ln>
        </p:spPr>
        <p:txBody>
          <a:bodyPr/>
          <a:p/>
        </p:txBody>
      </p:sp>
      <p:sp>
        <p:nvSpPr>
          <p:cNvPr id="68" name="Shape 66"/>
          <p:cNvSpPr/>
          <p:nvPr/>
        </p:nvSpPr>
        <p:spPr>
          <a:xfrm rot="5165000">
            <a:off x="5142142" y="3480140"/>
            <a:ext cx="62459" cy="0"/>
          </a:xfrm>
          <a:prstGeom prst="line">
            <a:avLst/>
          </a:prstGeom>
          <a:noFill/>
          <a:ln w="12700">
            <a:solidFill>
              <a:srgbClr val="13233F"/>
            </a:solidFill>
            <a:prstDash val="solid"/>
            <a:headEnd type="none"/>
            <a:tailEnd type="none"/>
          </a:ln>
        </p:spPr>
        <p:txBody>
          <a:bodyPr/>
          <a:p/>
        </p:txBody>
      </p:sp>
      <p:sp>
        <p:nvSpPr>
          <p:cNvPr id="69" name="Text 67"/>
          <p:cNvSpPr txBox="1"/>
          <p:nvPr/>
        </p:nvSpPr>
        <p:spPr>
          <a:xfrm>
            <a:off x="5193792" y="3346704"/>
            <a:ext cx="182880" cy="201168"/>
          </a:xfrm>
          <a:prstGeom prst="rect">
            <a:avLst/>
          </a:prstGeom>
          <a:noFill/>
          <a:ln/>
        </p:spPr>
        <p:txBody>
          <a:bodyPr wrap="square" lIns="0" tIns="0" rIns="0" bIns="0" rtlCol="0" anchor="ctr"/>
          <a:lstStyle/>
          <a:p>
            <a:pPr marL="0" indent="0" algn="l">
              <a:buNone/>
            </a:pPr>
            <a:r>
              <a:rPr lang="en-US" sz="1000" dirty="0">
                <a:solidFill>
                  <a:srgbClr val="1A2233"/>
                </a:solidFill>
                <a:latin typeface="Arial" pitchFamily="34" charset="0"/>
                <a:ea typeface="Arial" pitchFamily="34" charset="-122"/>
                <a:cs typeface="Arial" pitchFamily="34" charset="-120"/>
              </a:rPr>
              <a:t>φ</a:t>
            </a:r>
            <a:endParaRPr lang="en-US" sz="1000" dirty="0"/>
          </a:p>
        </p:txBody>
      </p:sp>
      <p:sp>
        <p:nvSpPr>
          <p:cNvPr id="70" name="Shape 68"/>
          <p:cNvSpPr/>
          <p:nvPr/>
        </p:nvSpPr>
        <p:spPr>
          <a:xfrm>
            <a:off x="4677156" y="3470148"/>
            <a:ext cx="82296" cy="82296"/>
          </a:xfrm>
          <a:prstGeom prst="ellipse">
            <a:avLst/>
          </a:prstGeom>
          <a:solidFill>
            <a:srgbClr val="13233F"/>
          </a:solidFill>
          <a:ln/>
        </p:spPr>
        <p:txBody>
          <a:bodyPr/>
          <a:p/>
        </p:txBody>
      </p:sp>
      <p:sp>
        <p:nvSpPr>
          <p:cNvPr id="71" name="Text 69"/>
          <p:cNvSpPr txBox="1"/>
          <p:nvPr/>
        </p:nvSpPr>
        <p:spPr>
          <a:xfrm>
            <a:off x="3749039" y="3730752"/>
            <a:ext cx="1737360" cy="201168"/>
          </a:xfrm>
          <a:prstGeom prst="rect">
            <a:avLst/>
          </a:prstGeom>
          <a:noFill/>
          <a:ln/>
        </p:spPr>
        <p:txBody>
          <a:bodyPr wrap="square" lIns="0" tIns="0" rIns="0" bIns="0" rtlCol="0" anchor="ctr"/>
          <a:lstStyle/>
          <a:p>
            <a:pPr marL="0" indent="0" algn="l">
              <a:buNone/>
            </a:pPr>
            <a:r>
              <a:rPr lang="en-US" sz="700" dirty="0">
                <a:solidFill>
                  <a:srgbClr val="5A6478"/>
                </a:solidFill>
                <a:latin typeface="맑은 고딕" pitchFamily="34" charset="0"/>
                <a:ea typeface="맑은 고딕" pitchFamily="34" charset="-122"/>
                <a:cs typeface="맑은 고딕" pitchFamily="34" charset="-120"/>
              </a:rPr>
              <a:t>G  ·  OG = e² · RN · sinφ</a:t>
            </a:r>
            <a:endParaRPr lang="en-US" sz="700" dirty="0"/>
          </a:p>
        </p:txBody>
      </p:sp>
      <p:sp>
        <p:nvSpPr>
          <p:cNvPr id="72" name="Text 70"/>
          <p:cNvSpPr txBox="1"/>
          <p:nvPr/>
        </p:nvSpPr>
        <p:spPr>
          <a:xfrm>
            <a:off x="4864608" y="2944368"/>
            <a:ext cx="914400" cy="201168"/>
          </a:xfrm>
          <a:prstGeom prst="rect">
            <a:avLst/>
          </a:prstGeom>
          <a:noFill/>
          <a:ln/>
        </p:spPr>
        <p:txBody>
          <a:bodyPr wrap="square" lIns="0" tIns="0" rIns="0" bIns="0" rtlCol="0" anchor="ctr"/>
          <a:lstStyle/>
          <a:p>
            <a:pPr marL="0" indent="0" algn="l">
              <a:buNone/>
            </a:pPr>
            <a:r>
              <a:rPr lang="en-US" sz="650" dirty="0">
                <a:solidFill>
                  <a:srgbClr val="5A6478"/>
                </a:solidFill>
                <a:latin typeface="맑은 고딕" pitchFamily="34" charset="0"/>
                <a:ea typeface="맑은 고딕" pitchFamily="34" charset="-122"/>
                <a:cs typeface="맑은 고딕" pitchFamily="34" charset="-120"/>
              </a:rPr>
              <a:t>수선의 발</a:t>
            </a:r>
            <a:endParaRPr lang="en-US" sz="650" dirty="0"/>
          </a:p>
        </p:txBody>
      </p:sp>
      <p:sp>
        <p:nvSpPr>
          <p:cNvPr id="73" name="Text 71"/>
          <p:cNvSpPr txBox="1"/>
          <p:nvPr/>
        </p:nvSpPr>
        <p:spPr>
          <a:xfrm>
            <a:off x="3803904" y="4498848"/>
            <a:ext cx="3931920" cy="384048"/>
          </a:xfrm>
          <a:prstGeom prst="rect">
            <a:avLst/>
          </a:prstGeom>
          <a:noFill/>
          <a:ln/>
        </p:spPr>
        <p:txBody>
          <a:bodyPr wrap="square" lIns="0" tIns="0" rIns="0" bIns="0" rtlCol="0" anchor="t"/>
          <a:lstStyle/>
          <a:p>
            <a:pPr marL="0" indent="0" algn="l">
              <a:lnSpc>
                <a:spcPct val="105000"/>
              </a:lnSpc>
              <a:spcAft>
                <a:spcPts val="300"/>
              </a:spcAft>
              <a:buNone/>
            </a:pPr>
            <a:r>
              <a:rPr lang="en-US" sz="750" dirty="0">
                <a:solidFill>
                  <a:srgbClr val="5A6478"/>
                </a:solidFill>
                <a:latin typeface="맑은 고딕" pitchFamily="34" charset="0"/>
                <a:ea typeface="맑은 고딕" pitchFamily="34" charset="-122"/>
                <a:cs typeface="맑은 고딕" pitchFamily="34" charset="-120"/>
              </a:rPr>
              <a:t>φ 측지위도 = 적도면 ~ 수직선.  지도 · GPS · 이 자료의 위도가 이것</a:t>
            </a:r>
            <a:endParaRPr lang="en-US" sz="750" dirty="0"/>
          </a:p>
          <a:p>
            <a:pPr marL="0" indent="0" algn="l">
              <a:lnSpc>
                <a:spcPct val="105000"/>
              </a:lnSpc>
              <a:spcAft>
                <a:spcPts val="300"/>
              </a:spcAft>
              <a:buNone/>
            </a:pPr>
            <a:r>
              <a:rPr lang="en-US" sz="750" dirty="0">
                <a:solidFill>
                  <a:srgbClr val="5A6478"/>
                </a:solidFill>
                <a:latin typeface="맑은 고딕" pitchFamily="34" charset="0"/>
                <a:ea typeface="맑은 고딕" pitchFamily="34" charset="-122"/>
                <a:cs typeface="맑은 고딕" pitchFamily="34" charset="-120"/>
              </a:rPr>
              <a:t>φ' 지심위도 = 적도면 ~ 중심에서 그은 선.  다른 값 — 지도에서 안 쓴다</a:t>
            </a:r>
            <a:endParaRPr lang="en-US" sz="750" dirty="0"/>
          </a:p>
          <a:p>
            <a:pPr marL="0" indent="0" algn="l">
              <a:lnSpc>
                <a:spcPct val="105000"/>
              </a:lnSpc>
              <a:buNone/>
            </a:pPr>
            <a:r>
              <a:rPr lang="en-US" sz="750" dirty="0">
                <a:solidFill>
                  <a:srgbClr val="5A6478"/>
                </a:solidFill>
                <a:latin typeface="맑은 고딕" pitchFamily="34" charset="0"/>
                <a:ea typeface="맑은 고딕" pitchFamily="34" charset="-122"/>
                <a:cs typeface="맑은 고딕" pitchFamily="34" charset="-120"/>
              </a:rPr>
              <a:t>실제 지구(편평 비율)는 거의 구라 φ − φ' 는 최대 0.19°, 경도 λ 는 영향 없음</a:t>
            </a:r>
            <a:endParaRPr lang="en-US" sz="750" dirty="0"/>
          </a:p>
        </p:txBody>
      </p:sp>
      <p:sp>
        <p:nvSpPr>
          <p:cNvPr id="74" name="Shape 72"/>
          <p:cNvSpPr/>
          <p:nvPr/>
        </p:nvSpPr>
        <p:spPr>
          <a:xfrm>
            <a:off x="7882128" y="1444752"/>
            <a:ext cx="3474720" cy="1481328"/>
          </a:xfrm>
          <a:prstGeom prst="roundRect">
            <a:avLst>
              <a:gd name="adj" fmla="val 3086"/>
            </a:avLst>
          </a:prstGeom>
          <a:solidFill>
            <a:srgbClr val="EEF1F7"/>
          </a:solidFill>
          <a:ln/>
        </p:spPr>
        <p:txBody>
          <a:bodyPr/>
          <a:p/>
        </p:txBody>
      </p:sp>
      <p:sp>
        <p:nvSpPr>
          <p:cNvPr id="75" name="Text 73"/>
          <p:cNvSpPr txBox="1"/>
          <p:nvPr/>
        </p:nvSpPr>
        <p:spPr>
          <a:xfrm>
            <a:off x="8101584" y="1572768"/>
            <a:ext cx="3054096" cy="1243584"/>
          </a:xfrm>
          <a:prstGeom prst="rect">
            <a:avLst/>
          </a:prstGeom>
          <a:noFill/>
          <a:ln/>
        </p:spPr>
        <p:txBody>
          <a:bodyPr wrap="square" lIns="0" tIns="0" rIns="0" bIns="0" rtlCol="0" anchor="t"/>
          <a:lstStyle/>
          <a:p>
            <a:pPr marL="0" indent="0" algn="l">
              <a:lnSpc>
                <a:spcPct val="105000"/>
              </a:lnSpc>
              <a:spcAft>
                <a:spcPts val="1200"/>
              </a:spcAft>
              <a:buNone/>
            </a:pPr>
            <a:r>
              <a:rPr lang="en-US" sz="900" b="1" dirty="0">
                <a:solidFill>
                  <a:srgbClr val="1A2233"/>
                </a:solidFill>
                <a:latin typeface="맑은 고딕" pitchFamily="34" charset="0"/>
                <a:ea typeface="맑은 고딕" pitchFamily="34" charset="-122"/>
                <a:cs typeface="맑은 고딕" pitchFamily="34" charset="-120"/>
              </a:rPr>
              <a:t>LLA — Latitude · Longitude · Altitude  (이번 과제 O)</a:t>
            </a:r>
            <a:endParaRPr lang="en-US" sz="1000" dirty="0"/>
          </a:p>
          <a:p>
            <a:pPr marL="0" indent="0" algn="l">
              <a:lnSpc>
                <a:spcPct val="105000"/>
              </a:lnSpc>
              <a:spcAft>
                <a:spcPts val="600"/>
              </a:spcAft>
              <a:buNone/>
            </a:pPr>
            <a:r>
              <a:rPr lang="en-US" sz="800" dirty="0">
                <a:solidFill>
                  <a:srgbClr val="1A2233"/>
                </a:solidFill>
                <a:latin typeface="맑은 고딕" pitchFamily="34" charset="0"/>
                <a:ea typeface="맑은 고딕" pitchFamily="34" charset="-122"/>
                <a:cs typeface="맑은 고딕" pitchFamily="34" charset="-120"/>
              </a:rPr>
              <a:t>φ 위도 = 적도면에서 잰 각 . 북 +, 남 − (−90° ~ +90°)</a:t>
            </a:r>
            <a:endParaRPr lang="en-US" sz="1000" dirty="0"/>
          </a:p>
          <a:p>
            <a:pPr marL="0" indent="0" algn="l">
              <a:lnSpc>
                <a:spcPct val="105000"/>
              </a:lnSpc>
              <a:spcAft>
                <a:spcPts val="600"/>
              </a:spcAft>
              <a:buNone/>
            </a:pPr>
            <a:r>
              <a:rPr lang="en-US" sz="800" dirty="0">
                <a:solidFill>
                  <a:srgbClr val="1A2233"/>
                </a:solidFill>
                <a:latin typeface="맑은 고딕" pitchFamily="34" charset="0"/>
                <a:ea typeface="맑은 고딕" pitchFamily="34" charset="-122"/>
                <a:cs typeface="맑은 고딕" pitchFamily="34" charset="-120"/>
              </a:rPr>
              <a:t>λ 경도 = 그리니치 자오선에서 동쪽으로 잰 각 (−180° ~ +180°)</a:t>
            </a:r>
            <a:endParaRPr lang="en-US" sz="1000" dirty="0"/>
          </a:p>
          <a:p>
            <a:pPr marL="0" indent="0" algn="l">
              <a:lnSpc>
                <a:spcPct val="105000"/>
              </a:lnSpc>
              <a:buNone/>
            </a:pPr>
            <a:r>
              <a:rPr lang="en-US" sz="800" dirty="0">
                <a:solidFill>
                  <a:srgbClr val="1A2233"/>
                </a:solidFill>
                <a:latin typeface="맑은 고딕" pitchFamily="34" charset="0"/>
                <a:ea typeface="맑은 고딕" pitchFamily="34" charset="-122"/>
                <a:cs typeface="맑은 고딕" pitchFamily="34" charset="-120"/>
              </a:rPr>
              <a:t>h 고도 = 타원체 면에서 수직으로 잰 높이 . 지도 · 해도 · GPS 가 쓰는 좌표</a:t>
            </a:r>
            <a:endParaRPr lang="en-US" sz="1000" dirty="0"/>
          </a:p>
        </p:txBody>
      </p:sp>
      <p:sp>
        <p:nvSpPr>
          <p:cNvPr id="76" name="Shape 74"/>
          <p:cNvSpPr/>
          <p:nvPr/>
        </p:nvSpPr>
        <p:spPr>
          <a:xfrm>
            <a:off x="7882128" y="3108960"/>
            <a:ext cx="3474720" cy="1536192"/>
          </a:xfrm>
          <a:prstGeom prst="roundRect">
            <a:avLst>
              <a:gd name="adj" fmla="val 2976"/>
            </a:avLst>
          </a:prstGeom>
          <a:solidFill>
            <a:srgbClr val="EEF1F7"/>
          </a:solidFill>
          <a:ln/>
        </p:spPr>
        <p:txBody>
          <a:bodyPr/>
          <a:p/>
        </p:txBody>
      </p:sp>
      <p:sp>
        <p:nvSpPr>
          <p:cNvPr id="77" name="Text 75"/>
          <p:cNvSpPr txBox="1"/>
          <p:nvPr/>
        </p:nvSpPr>
        <p:spPr>
          <a:xfrm>
            <a:off x="8101584" y="3255264"/>
            <a:ext cx="3054096" cy="1298448"/>
          </a:xfrm>
          <a:prstGeom prst="rect">
            <a:avLst/>
          </a:prstGeom>
          <a:noFill/>
          <a:ln/>
        </p:spPr>
        <p:txBody>
          <a:bodyPr wrap="square" lIns="0" tIns="0" rIns="0" bIns="0" rtlCol="0" anchor="t"/>
          <a:lstStyle/>
          <a:p>
            <a:pPr marL="0" indent="0" algn="l">
              <a:lnSpc>
                <a:spcPct val="105000"/>
              </a:lnSpc>
              <a:spcAft>
                <a:spcPts val="1200"/>
              </a:spcAft>
              <a:buNone/>
            </a:pPr>
            <a:r>
              <a:rPr lang="en-US" sz="1200" b="1" dirty="0">
                <a:solidFill>
                  <a:srgbClr val="1A2233"/>
                </a:solidFill>
                <a:latin typeface="맑은 고딕" pitchFamily="34" charset="0"/>
                <a:ea typeface="맑은 고딕" pitchFamily="34" charset="-122"/>
                <a:cs typeface="맑은 고딕" pitchFamily="34" charset="-120"/>
              </a:rPr>
              <a:t>WGS-84 — 지구 모형과 상수</a:t>
            </a:r>
            <a:endParaRPr lang="en-US" sz="1200" dirty="0"/>
          </a:p>
          <a:p>
            <a:pPr marL="0" indent="0" algn="l">
              <a:lnSpc>
                <a:spcPct val="105000"/>
              </a:lnSpc>
              <a:spcAft>
                <a:spcPts val="800"/>
              </a:spcAft>
              <a:buNone/>
            </a:pPr>
            <a:r>
              <a:rPr lang="en-US" sz="850" dirty="0">
                <a:solidFill>
                  <a:srgbClr val="1A2233"/>
                </a:solidFill>
                <a:latin typeface="맑은 고딕" pitchFamily="34" charset="0"/>
                <a:ea typeface="맑은 고딕" pitchFamily="34" charset="-122"/>
                <a:cs typeface="맑은 고딕" pitchFamily="34" charset="-120"/>
              </a:rPr>
              <a:t>지구를 적도 반지름 a · 극 반지름 b 의 타원체로 본 세계 표준 모형</a:t>
            </a:r>
            <a:endParaRPr lang="en-US" sz="1200" dirty="0"/>
          </a:p>
          <a:p>
            <a:pPr marL="0" indent="0" algn="l">
              <a:lnSpc>
                <a:spcPct val="105000"/>
              </a:lnSpc>
              <a:spcAft>
                <a:spcPts val="600"/>
              </a:spcAft>
              <a:buNone/>
            </a:pPr>
            <a:r>
              <a:rPr lang="en-US" sz="850" dirty="0">
                <a:solidFill>
                  <a:srgbClr val="1A2233"/>
                </a:solidFill>
                <a:latin typeface="맑은 고딕" pitchFamily="34" charset="0"/>
                <a:ea typeface="맑은 고딕" pitchFamily="34" charset="-122"/>
                <a:cs typeface="맑은 고딕" pitchFamily="34" charset="-120"/>
              </a:rPr>
              <a:t>a = 6,378,137.0 m ,   b = 6,356,752.3 m</a:t>
            </a:r>
            <a:endParaRPr lang="en-US" sz="1200" dirty="0"/>
          </a:p>
          <a:p>
            <a:pPr marL="0" indent="0" algn="l">
              <a:lnSpc>
                <a:spcPct val="105000"/>
              </a:lnSpc>
              <a:buNone/>
            </a:pPr>
            <a:r>
              <a:rPr lang="en-US" sz="850" dirty="0">
                <a:solidFill>
                  <a:srgbClr val="1A2233"/>
                </a:solidFill>
                <a:latin typeface="맑은 고딕" pitchFamily="34" charset="0"/>
                <a:ea typeface="맑은 고딕" pitchFamily="34" charset="-122"/>
                <a:cs typeface="맑은 고딕" pitchFamily="34" charset="-120"/>
              </a:rPr>
              <a:t>1/f = 298.257223563</a:t>
            </a:r>
            <a:endParaRPr lang="en-US" sz="1200" dirty="0"/>
          </a:p>
          <a:p>
            <a:pPr marL="0" indent="0" algn="l">
              <a:lnSpc>
                <a:spcPct val="105000"/>
              </a:lnSpc>
              <a:buNone/>
            </a:pPr>
            <a:r>
              <a:rPr lang="en-US" sz="850" dirty="0">
                <a:solidFill>
                  <a:srgbClr val="1A2233"/>
                </a:solidFill>
                <a:latin typeface="맑은 고딕" pitchFamily="34" charset="0"/>
                <a:ea typeface="맑은 고딕" pitchFamily="34" charset="-122"/>
                <a:cs typeface="맑은 고딕" pitchFamily="34" charset="-120"/>
              </a:rPr>
              <a:t>e² = 1 − b²/a² = 0.00669438   (RN 에 들어가는 상수)</a:t>
            </a:r>
            <a:endParaRPr lang="en-US" sz="1200" dirty="0"/>
          </a:p>
        </p:txBody>
      </p:sp>
      <p:sp>
        <p:nvSpPr>
          <p:cNvPr id="78" name="Text 76"/>
          <p:cNvSpPr txBox="1"/>
          <p:nvPr/>
        </p:nvSpPr>
        <p:spPr>
          <a:xfrm>
            <a:off x="914400" y="4700016"/>
            <a:ext cx="1828800" cy="237744"/>
          </a:xfrm>
          <a:prstGeom prst="rect">
            <a:avLst/>
          </a:prstGeom>
          <a:noFill/>
          <a:ln/>
        </p:spPr>
        <p:txBody>
          <a:bodyPr wrap="square" lIns="0" tIns="0" rIns="0" bIns="0" rtlCol="0" anchor="ctr"/>
          <a:lstStyle/>
          <a:p>
            <a:pPr marL="0" indent="0">
              <a:buNone/>
            </a:pPr>
            <a:r>
              <a:rPr lang="en-US" sz="1200" b="1" dirty="0">
                <a:solidFill>
                  <a:srgbClr val="1A2233"/>
                </a:solidFill>
                <a:latin typeface="맑은 고딕" pitchFamily="34" charset="0"/>
                <a:ea typeface="맑은 고딕" pitchFamily="34" charset="-122"/>
                <a:cs typeface="맑은 고딕" pitchFamily="34" charset="-120"/>
              </a:rPr>
              <a:t>변환 공식</a:t>
            </a:r>
            <a:endParaRPr lang="en-US" sz="1200" dirty="0"/>
          </a:p>
        </p:txBody>
      </p:sp>
      <p:sp>
        <p:nvSpPr>
          <p:cNvPr id="79" name="Shape 77"/>
          <p:cNvSpPr/>
          <p:nvPr/>
        </p:nvSpPr>
        <p:spPr>
          <a:xfrm>
            <a:off x="914400" y="4919472"/>
            <a:ext cx="10360152" cy="1042415"/>
          </a:xfrm>
          <a:prstGeom prst="roundRect">
            <a:avLst>
              <a:gd name="adj" fmla="val 4717"/>
            </a:avLst>
          </a:prstGeom>
          <a:solidFill>
            <a:srgbClr val="EEF1F7"/>
          </a:solidFill>
          <a:ln/>
        </p:spPr>
        <p:txBody>
          <a:bodyPr/>
          <a:p/>
        </p:txBody>
      </p:sp>
      <p:sp>
        <p:nvSpPr>
          <p:cNvPr id="80" name="Text 78"/>
          <p:cNvSpPr txBox="1"/>
          <p:nvPr/>
        </p:nvSpPr>
        <p:spPr>
          <a:xfrm>
            <a:off x="1097280" y="5102352"/>
            <a:ext cx="1280160" cy="201168"/>
          </a:xfrm>
          <a:prstGeom prst="rect">
            <a:avLst/>
          </a:prstGeom>
          <a:noFill/>
          <a:ln/>
        </p:spPr>
        <p:txBody>
          <a:bodyPr wrap="square" lIns="0" tIns="0" rIns="0" bIns="0" rtlCol="0" anchor="ctr"/>
          <a:lstStyle/>
          <a:p>
            <a:pPr marL="0" indent="0" algn="l">
              <a:buNone/>
            </a:pPr>
            <a:r>
              <a:rPr lang="en-US" sz="1000" b="1" dirty="0">
                <a:solidFill>
                  <a:srgbClr val="1A2233"/>
                </a:solidFill>
                <a:latin typeface="맑은 고딕" pitchFamily="34" charset="0"/>
                <a:ea typeface="맑은 고딕" pitchFamily="34" charset="-122"/>
                <a:cs typeface="맑은 고딕" pitchFamily="34" charset="-120"/>
              </a:rPr>
              <a:t>LLA → ECEF</a:t>
            </a:r>
            <a:endParaRPr lang="en-US" sz="1000" dirty="0"/>
          </a:p>
        </p:txBody>
      </p:sp>
      <p:sp>
        <p:nvSpPr>
          <p:cNvPr id="81" name="Shape 79"/>
          <p:cNvSpPr/>
          <p:nvPr/>
        </p:nvSpPr>
        <p:spPr>
          <a:xfrm>
            <a:off x="2432304" y="4992624"/>
            <a:ext cx="1005840" cy="237744"/>
          </a:xfrm>
          <a:prstGeom prst="roundRect">
            <a:avLst>
              <a:gd name="adj" fmla="val 30769"/>
            </a:avLst>
          </a:prstGeom>
          <a:solidFill>
            <a:srgbClr val="F5F7FB"/>
          </a:solidFill>
          <a:ln w="11430">
            <a:solidFill>
              <a:srgbClr val="5A6478"/>
            </a:solidFill>
            <a:prstDash val="solid"/>
          </a:ln>
        </p:spPr>
        <p:txBody>
          <a:bodyPr/>
          <a:p/>
        </p:txBody>
      </p:sp>
      <p:sp>
        <p:nvSpPr>
          <p:cNvPr id="82" name="Text 80"/>
          <p:cNvSpPr txBox="1"/>
          <p:nvPr/>
        </p:nvSpPr>
        <p:spPr>
          <a:xfrm>
            <a:off x="2432304" y="4992624"/>
            <a:ext cx="1005840" cy="237744"/>
          </a:xfrm>
          <a:prstGeom prst="rect">
            <a:avLst/>
          </a:prstGeom>
          <a:noFill/>
          <a:ln/>
        </p:spPr>
        <p:txBody>
          <a:bodyPr wrap="square" lIns="0" tIns="0" rIns="0" bIns="0" rtlCol="0" anchor="ctr"/>
          <a:lstStyle/>
          <a:p>
            <a:pPr marL="0" indent="0" algn="ctr">
              <a:buNone/>
            </a:pPr>
            <a:r>
              <a:rPr lang="en-US" sz="800" b="1" dirty="0">
                <a:solidFill>
                  <a:srgbClr val="1A2233"/>
                </a:solidFill>
                <a:latin typeface="맑은 고딕" pitchFamily="34" charset="0"/>
                <a:ea typeface="맑은 고딕" pitchFamily="34" charset="-122"/>
                <a:cs typeface="맑은 고딕" pitchFamily="34" charset="-120"/>
              </a:rPr>
              <a:t>LLA (φ, λ, h)</a:t>
            </a:r>
            <a:endParaRPr lang="en-US" sz="800" dirty="0"/>
          </a:p>
        </p:txBody>
      </p:sp>
      <p:sp>
        <p:nvSpPr>
          <p:cNvPr id="83" name="Shape 81"/>
          <p:cNvSpPr/>
          <p:nvPr/>
        </p:nvSpPr>
        <p:spPr>
          <a:xfrm>
            <a:off x="3456432" y="5111496"/>
            <a:ext cx="146304" cy="0"/>
          </a:xfrm>
          <a:prstGeom prst="line">
            <a:avLst/>
          </a:prstGeom>
          <a:noFill/>
          <a:ln w="16510">
            <a:solidFill>
              <a:srgbClr val="13233F"/>
            </a:solidFill>
            <a:prstDash val="solid"/>
            <a:headEnd type="none"/>
            <a:tailEnd type="triangle"/>
          </a:ln>
        </p:spPr>
        <p:txBody>
          <a:bodyPr/>
          <a:p/>
        </p:txBody>
      </p:sp>
      <p:sp>
        <p:nvSpPr>
          <p:cNvPr id="84" name="Shape 82"/>
          <p:cNvSpPr/>
          <p:nvPr/>
        </p:nvSpPr>
        <p:spPr>
          <a:xfrm>
            <a:off x="3639312" y="4974336"/>
            <a:ext cx="1828800" cy="274320"/>
          </a:xfrm>
          <a:prstGeom prst="roundRect">
            <a:avLst>
              <a:gd name="adj" fmla="val 26667"/>
            </a:avLst>
          </a:prstGeom>
          <a:solidFill>
            <a:srgbClr val="F5F7FB"/>
          </a:solidFill>
          <a:ln w="11430">
            <a:solidFill>
              <a:srgbClr val="5A6478"/>
            </a:solidFill>
            <a:prstDash val="solid"/>
          </a:ln>
        </p:spPr>
        <p:txBody>
          <a:bodyPr/>
          <a:p/>
        </p:txBody>
      </p:sp>
      <p:sp>
        <p:nvSpPr>
          <p:cNvPr id="85" name="Text 83"/>
          <p:cNvSpPr txBox="1"/>
          <p:nvPr/>
        </p:nvSpPr>
        <p:spPr>
          <a:xfrm>
            <a:off x="3639312" y="4974336"/>
            <a:ext cx="1828800" cy="274320"/>
          </a:xfrm>
          <a:prstGeom prst="rect">
            <a:avLst/>
          </a:prstGeom>
          <a:noFill/>
          <a:ln/>
        </p:spPr>
        <p:txBody>
          <a:bodyPr wrap="square" lIns="0" tIns="0" rIns="0" bIns="0" rtlCol="0" anchor="ctr"/>
          <a:lstStyle/>
          <a:p>
            <a:pPr marL="0" indent="0" algn="ctr">
              <a:buNone/>
            </a:pPr>
            <a:r>
              <a:rPr lang="en-US" sz="750" b="1" dirty="0">
                <a:solidFill>
                  <a:srgbClr val="1A2233"/>
                </a:solidFill>
                <a:latin typeface="맑은 고딕" pitchFamily="34" charset="0"/>
                <a:ea typeface="맑은 고딕" pitchFamily="34" charset="-122"/>
                <a:cs typeface="맑은 고딕" pitchFamily="34" charset="-120"/>
              </a:rPr>
              <a:t>RN = a / √(1 − e² sin²φ)</a:t>
            </a:r>
            <a:endParaRPr lang="en-US" sz="750" dirty="0"/>
          </a:p>
        </p:txBody>
      </p:sp>
      <p:sp>
        <p:nvSpPr>
          <p:cNvPr id="86" name="Text 84"/>
          <p:cNvSpPr txBox="1"/>
          <p:nvPr/>
        </p:nvSpPr>
        <p:spPr>
          <a:xfrm>
            <a:off x="3639312" y="5266944"/>
            <a:ext cx="1828800" cy="182880"/>
          </a:xfrm>
          <a:prstGeom prst="rect">
            <a:avLst/>
          </a:prstGeom>
          <a:noFill/>
          <a:ln/>
        </p:spPr>
        <p:txBody>
          <a:bodyPr wrap="square" lIns="0" tIns="0" rIns="0" bIns="0" rtlCol="0" anchor="ctr"/>
          <a:lstStyle/>
          <a:p>
            <a:pPr marL="0" indent="0" algn="ctr">
              <a:buNone/>
            </a:pPr>
            <a:r>
              <a:rPr lang="en-US" sz="600" dirty="0">
                <a:solidFill>
                  <a:srgbClr val="5A6478"/>
                </a:solidFill>
                <a:latin typeface="맑은 고딕" pitchFamily="34" charset="0"/>
                <a:ea typeface="맑은 고딕" pitchFamily="34" charset="-122"/>
                <a:cs typeface="맑은 고딕" pitchFamily="34" charset="-120"/>
              </a:rPr>
              <a:t>그 위도의 곡률반경</a:t>
            </a:r>
            <a:endParaRPr lang="en-US" sz="600" dirty="0"/>
          </a:p>
        </p:txBody>
      </p:sp>
      <p:sp>
        <p:nvSpPr>
          <p:cNvPr id="87" name="Shape 85"/>
          <p:cNvSpPr/>
          <p:nvPr/>
        </p:nvSpPr>
        <p:spPr>
          <a:xfrm>
            <a:off x="5559552" y="5111496"/>
            <a:ext cx="146304" cy="0"/>
          </a:xfrm>
          <a:prstGeom prst="line">
            <a:avLst/>
          </a:prstGeom>
          <a:noFill/>
          <a:ln w="16510">
            <a:solidFill>
              <a:srgbClr val="13233F"/>
            </a:solidFill>
            <a:prstDash val="solid"/>
            <a:headEnd type="none"/>
            <a:tailEnd type="triangle"/>
          </a:ln>
        </p:spPr>
        <p:txBody>
          <a:bodyPr/>
          <a:p/>
        </p:txBody>
      </p:sp>
      <p:sp>
        <p:nvSpPr>
          <p:cNvPr id="88" name="Shape 86"/>
          <p:cNvSpPr/>
          <p:nvPr/>
        </p:nvSpPr>
        <p:spPr>
          <a:xfrm>
            <a:off x="5742432" y="4937760"/>
            <a:ext cx="2468880" cy="347472"/>
          </a:xfrm>
          <a:prstGeom prst="roundRect">
            <a:avLst>
              <a:gd name="adj" fmla="val 21053"/>
            </a:avLst>
          </a:prstGeom>
          <a:solidFill>
            <a:srgbClr val="F5F7FB"/>
          </a:solidFill>
          <a:ln w="11430">
            <a:solidFill>
              <a:srgbClr val="5A6478"/>
            </a:solidFill>
            <a:prstDash val="solid"/>
          </a:ln>
        </p:spPr>
        <p:txBody>
          <a:bodyPr/>
          <a:p/>
        </p:txBody>
      </p:sp>
      <p:sp>
        <p:nvSpPr>
          <p:cNvPr id="89" name="Text 87"/>
          <p:cNvSpPr txBox="1"/>
          <p:nvPr/>
        </p:nvSpPr>
        <p:spPr>
          <a:xfrm>
            <a:off x="5742432" y="4937760"/>
            <a:ext cx="2468880" cy="347472"/>
          </a:xfrm>
          <a:prstGeom prst="rect">
            <a:avLst/>
          </a:prstGeom>
          <a:noFill/>
          <a:ln/>
        </p:spPr>
        <p:txBody>
          <a:bodyPr wrap="square" lIns="0" tIns="0" rIns="0" bIns="0" rtlCol="0" anchor="ctr"/>
          <a:lstStyle/>
          <a:p>
            <a:pPr marL="0" indent="0" algn="ctr">
              <a:buNone/>
            </a:pPr>
            <a:endParaRPr lang="en-US" sz="700" dirty="0"/>
          </a:p>
        </p:txBody>
      </p:sp>
      <p:sp>
        <p:nvSpPr>
          <p:cNvPr id="90" name="Text 88"/>
          <p:cNvSpPr txBox="1"/>
          <p:nvPr/>
        </p:nvSpPr>
        <p:spPr>
          <a:xfrm>
            <a:off x="5779008" y="4965192"/>
            <a:ext cx="2395728" cy="310896"/>
          </a:xfrm>
          <a:prstGeom prst="rect">
            <a:avLst/>
          </a:prstGeom>
          <a:noFill/>
          <a:ln/>
        </p:spPr>
        <p:txBody>
          <a:bodyPr wrap="square" lIns="0" tIns="0" rIns="0" bIns="0" rtlCol="0" anchor="t"/>
          <a:lstStyle/>
          <a:p>
            <a:pPr marL="0" indent="0" algn="ctr">
              <a:lnSpc>
                <a:spcPct val="105000"/>
              </a:lnSpc>
              <a:spcAft>
                <a:spcPts val="100"/>
              </a:spcAft>
              <a:buNone/>
            </a:pPr>
            <a:r>
              <a:rPr lang="en-US" sz="650" dirty="0">
                <a:solidFill>
                  <a:srgbClr val="1A2233"/>
                </a:solidFill>
                <a:latin typeface="맑은 고딕" pitchFamily="34" charset="0"/>
                <a:ea typeface="맑은 고딕" pitchFamily="34" charset="-122"/>
                <a:cs typeface="맑은 고딕" pitchFamily="34" charset="-120"/>
              </a:rPr>
              <a:t>X = (RN + h)cosφcosλ</a:t>
            </a:r>
            <a:endParaRPr lang="en-US" sz="650" dirty="0"/>
          </a:p>
          <a:p>
            <a:pPr marL="0" indent="0" algn="ctr">
              <a:lnSpc>
                <a:spcPct val="105000"/>
              </a:lnSpc>
              <a:spcAft>
                <a:spcPts val="100"/>
              </a:spcAft>
              <a:buNone/>
            </a:pPr>
            <a:r>
              <a:rPr lang="en-US" sz="650" dirty="0">
                <a:solidFill>
                  <a:srgbClr val="1A2233"/>
                </a:solidFill>
                <a:latin typeface="맑은 고딕" pitchFamily="34" charset="0"/>
                <a:ea typeface="맑은 고딕" pitchFamily="34" charset="-122"/>
                <a:cs typeface="맑은 고딕" pitchFamily="34" charset="-120"/>
              </a:rPr>
              <a:t>Y = (RN + h)cosφsinλ</a:t>
            </a:r>
            <a:endParaRPr lang="en-US" sz="650" dirty="0"/>
          </a:p>
          <a:p>
            <a:pPr marL="0" indent="0" algn="ctr">
              <a:lnSpc>
                <a:spcPct val="105000"/>
              </a:lnSpc>
              <a:buNone/>
            </a:pPr>
            <a:r>
              <a:rPr lang="en-US" sz="650" dirty="0">
                <a:solidFill>
                  <a:srgbClr val="1A2233"/>
                </a:solidFill>
                <a:latin typeface="맑은 고딕" pitchFamily="34" charset="0"/>
                <a:ea typeface="맑은 고딕" pitchFamily="34" charset="-122"/>
                <a:cs typeface="맑은 고딕" pitchFamily="34" charset="-120"/>
              </a:rPr>
              <a:t>Z = (RN(1 − e²) + h)sinφ</a:t>
            </a:r>
            <a:endParaRPr lang="en-US" sz="650" dirty="0"/>
          </a:p>
        </p:txBody>
      </p:sp>
      <p:sp>
        <p:nvSpPr>
          <p:cNvPr id="91" name="Shape 89"/>
          <p:cNvSpPr/>
          <p:nvPr/>
        </p:nvSpPr>
        <p:spPr>
          <a:xfrm>
            <a:off x="8302752" y="5111496"/>
            <a:ext cx="146304" cy="0"/>
          </a:xfrm>
          <a:prstGeom prst="line">
            <a:avLst/>
          </a:prstGeom>
          <a:noFill/>
          <a:ln w="16510">
            <a:solidFill>
              <a:srgbClr val="13233F"/>
            </a:solidFill>
            <a:prstDash val="solid"/>
            <a:headEnd type="none"/>
            <a:tailEnd type="triangle"/>
          </a:ln>
        </p:spPr>
        <p:txBody>
          <a:bodyPr/>
          <a:p/>
        </p:txBody>
      </p:sp>
      <p:sp>
        <p:nvSpPr>
          <p:cNvPr id="92" name="Shape 90"/>
          <p:cNvSpPr/>
          <p:nvPr/>
        </p:nvSpPr>
        <p:spPr>
          <a:xfrm>
            <a:off x="8485632" y="4992624"/>
            <a:ext cx="1133856" cy="237744"/>
          </a:xfrm>
          <a:prstGeom prst="roundRect">
            <a:avLst>
              <a:gd name="adj" fmla="val 30769"/>
            </a:avLst>
          </a:prstGeom>
          <a:solidFill>
            <a:srgbClr val="F5F7FB"/>
          </a:solidFill>
          <a:ln w="11430">
            <a:solidFill>
              <a:srgbClr val="5A6478"/>
            </a:solidFill>
            <a:prstDash val="solid"/>
          </a:ln>
        </p:spPr>
        <p:txBody>
          <a:bodyPr/>
          <a:p/>
        </p:txBody>
      </p:sp>
      <p:sp>
        <p:nvSpPr>
          <p:cNvPr id="93" name="Text 91"/>
          <p:cNvSpPr txBox="1"/>
          <p:nvPr/>
        </p:nvSpPr>
        <p:spPr>
          <a:xfrm>
            <a:off x="8485632" y="4992624"/>
            <a:ext cx="1133856" cy="237744"/>
          </a:xfrm>
          <a:prstGeom prst="rect">
            <a:avLst/>
          </a:prstGeom>
          <a:noFill/>
          <a:ln/>
        </p:spPr>
        <p:txBody>
          <a:bodyPr wrap="square" lIns="0" tIns="0" rIns="0" bIns="0" rtlCol="0" anchor="ctr"/>
          <a:lstStyle/>
          <a:p>
            <a:pPr marL="0" indent="0" algn="ctr">
              <a:buNone/>
            </a:pPr>
            <a:r>
              <a:rPr lang="en-US" sz="800" b="1" dirty="0">
                <a:solidFill>
                  <a:srgbClr val="1A2233"/>
                </a:solidFill>
                <a:latin typeface="맑은 고딕" pitchFamily="34" charset="0"/>
                <a:ea typeface="맑은 고딕" pitchFamily="34" charset="-122"/>
                <a:cs typeface="맑은 고딕" pitchFamily="34" charset="-120"/>
              </a:rPr>
              <a:t>ECEF (X, Y, Z)</a:t>
            </a:r>
            <a:endParaRPr lang="en-US" sz="800" dirty="0"/>
          </a:p>
        </p:txBody>
      </p:sp>
      <p:sp>
        <p:nvSpPr>
          <p:cNvPr id="94" name="Text 92"/>
          <p:cNvSpPr txBox="1"/>
          <p:nvPr/>
        </p:nvSpPr>
        <p:spPr>
          <a:xfrm>
            <a:off x="8485632" y="5257800"/>
            <a:ext cx="1133856" cy="201168"/>
          </a:xfrm>
          <a:prstGeom prst="rect">
            <a:avLst/>
          </a:prstGeom>
          <a:noFill/>
          <a:ln/>
        </p:spPr>
        <p:txBody>
          <a:bodyPr wrap="square" lIns="0" tIns="0" rIns="0" bIns="0" rtlCol="0" anchor="ctr"/>
          <a:lstStyle/>
          <a:p>
            <a:pPr marL="0" indent="0" algn="ctr">
              <a:buNone/>
            </a:pPr>
            <a:r>
              <a:rPr lang="en-US" sz="600" dirty="0">
                <a:solidFill>
                  <a:srgbClr val="5A6478"/>
                </a:solidFill>
                <a:latin typeface="맑은 고딕" pitchFamily="34" charset="0"/>
                <a:ea typeface="맑은 고딕" pitchFamily="34" charset="-122"/>
                <a:cs typeface="맑은 고딕" pitchFamily="34" charset="-120"/>
              </a:rPr>
              <a:t>넣으면 바로 나온다</a:t>
            </a:r>
            <a:endParaRPr lang="en-US" sz="600" dirty="0"/>
          </a:p>
        </p:txBody>
      </p:sp>
      <p:sp>
        <p:nvSpPr>
          <p:cNvPr id="95" name="Text 93"/>
          <p:cNvSpPr txBox="1"/>
          <p:nvPr/>
        </p:nvSpPr>
        <p:spPr>
          <a:xfrm>
            <a:off x="1097280" y="5577840"/>
            <a:ext cx="1280160" cy="201168"/>
          </a:xfrm>
          <a:prstGeom prst="rect">
            <a:avLst/>
          </a:prstGeom>
          <a:noFill/>
          <a:ln/>
        </p:spPr>
        <p:txBody>
          <a:bodyPr wrap="square" lIns="0" tIns="0" rIns="0" bIns="0" rtlCol="0" anchor="ctr"/>
          <a:lstStyle/>
          <a:p>
            <a:pPr marL="0" indent="0" algn="l">
              <a:buNone/>
            </a:pPr>
            <a:r>
              <a:rPr lang="en-US" sz="1000" b="1" dirty="0">
                <a:solidFill>
                  <a:srgbClr val="1A2233"/>
                </a:solidFill>
                <a:latin typeface="맑은 고딕" pitchFamily="34" charset="0"/>
                <a:ea typeface="맑은 고딕" pitchFamily="34" charset="-122"/>
                <a:cs typeface="맑은 고딕" pitchFamily="34" charset="-120"/>
              </a:rPr>
              <a:t>ECEF → LLA</a:t>
            </a:r>
            <a:endParaRPr lang="en-US" sz="1000" dirty="0"/>
          </a:p>
        </p:txBody>
      </p:sp>
      <p:sp>
        <p:nvSpPr>
          <p:cNvPr id="96" name="Shape 94"/>
          <p:cNvSpPr/>
          <p:nvPr/>
        </p:nvSpPr>
        <p:spPr>
          <a:xfrm>
            <a:off x="2432304" y="5468112"/>
            <a:ext cx="1005840" cy="237744"/>
          </a:xfrm>
          <a:prstGeom prst="roundRect">
            <a:avLst>
              <a:gd name="adj" fmla="val 30769"/>
            </a:avLst>
          </a:prstGeom>
          <a:solidFill>
            <a:srgbClr val="F5F7FB"/>
          </a:solidFill>
          <a:ln w="11430">
            <a:solidFill>
              <a:srgbClr val="5A6478"/>
            </a:solidFill>
            <a:prstDash val="solid"/>
          </a:ln>
        </p:spPr>
        <p:txBody>
          <a:bodyPr/>
          <a:p/>
        </p:txBody>
      </p:sp>
      <p:sp>
        <p:nvSpPr>
          <p:cNvPr id="97" name="Text 95"/>
          <p:cNvSpPr txBox="1"/>
          <p:nvPr/>
        </p:nvSpPr>
        <p:spPr>
          <a:xfrm>
            <a:off x="2432304" y="5468112"/>
            <a:ext cx="1005840" cy="237744"/>
          </a:xfrm>
          <a:prstGeom prst="rect">
            <a:avLst/>
          </a:prstGeom>
          <a:noFill/>
          <a:ln/>
        </p:spPr>
        <p:txBody>
          <a:bodyPr wrap="square" lIns="0" tIns="0" rIns="0" bIns="0" rtlCol="0" anchor="ctr"/>
          <a:lstStyle/>
          <a:p>
            <a:pPr marL="0" indent="0" algn="ctr">
              <a:buNone/>
            </a:pPr>
            <a:r>
              <a:rPr lang="en-US" sz="750" b="1" dirty="0">
                <a:solidFill>
                  <a:srgbClr val="1A2233"/>
                </a:solidFill>
                <a:latin typeface="맑은 고딕" pitchFamily="34" charset="0"/>
                <a:ea typeface="맑은 고딕" pitchFamily="34" charset="-122"/>
                <a:cs typeface="맑은 고딕" pitchFamily="34" charset="-120"/>
              </a:rPr>
              <a:t>ECEF (X, Y, Z)</a:t>
            </a:r>
            <a:endParaRPr lang="en-US" sz="750" dirty="0"/>
          </a:p>
        </p:txBody>
      </p:sp>
      <p:sp>
        <p:nvSpPr>
          <p:cNvPr id="98" name="Shape 96"/>
          <p:cNvSpPr/>
          <p:nvPr/>
        </p:nvSpPr>
        <p:spPr>
          <a:xfrm>
            <a:off x="3456432" y="5586984"/>
            <a:ext cx="146304" cy="0"/>
          </a:xfrm>
          <a:prstGeom prst="line">
            <a:avLst/>
          </a:prstGeom>
          <a:noFill/>
          <a:ln w="16510">
            <a:solidFill>
              <a:srgbClr val="13233F"/>
            </a:solidFill>
            <a:prstDash val="solid"/>
            <a:headEnd type="none"/>
            <a:tailEnd type="triangle"/>
          </a:ln>
        </p:spPr>
        <p:txBody>
          <a:bodyPr/>
          <a:p/>
        </p:txBody>
      </p:sp>
      <p:sp>
        <p:nvSpPr>
          <p:cNvPr id="99" name="Shape 97"/>
          <p:cNvSpPr/>
          <p:nvPr/>
        </p:nvSpPr>
        <p:spPr>
          <a:xfrm>
            <a:off x="3639312" y="5468112"/>
            <a:ext cx="969264" cy="237744"/>
          </a:xfrm>
          <a:prstGeom prst="roundRect">
            <a:avLst>
              <a:gd name="adj" fmla="val 30769"/>
            </a:avLst>
          </a:prstGeom>
          <a:solidFill>
            <a:srgbClr val="F5F7FB"/>
          </a:solidFill>
          <a:ln w="11430">
            <a:solidFill>
              <a:srgbClr val="5A6478"/>
            </a:solidFill>
            <a:prstDash val="solid"/>
          </a:ln>
        </p:spPr>
        <p:txBody>
          <a:bodyPr/>
          <a:p/>
        </p:txBody>
      </p:sp>
      <p:sp>
        <p:nvSpPr>
          <p:cNvPr id="100" name="Text 98"/>
          <p:cNvSpPr txBox="1"/>
          <p:nvPr/>
        </p:nvSpPr>
        <p:spPr>
          <a:xfrm>
            <a:off x="3639312" y="5468112"/>
            <a:ext cx="969264" cy="237744"/>
          </a:xfrm>
          <a:prstGeom prst="rect">
            <a:avLst/>
          </a:prstGeom>
          <a:noFill/>
          <a:ln/>
        </p:spPr>
        <p:txBody>
          <a:bodyPr wrap="square" lIns="0" tIns="0" rIns="0" bIns="0" rtlCol="0" anchor="ctr"/>
          <a:lstStyle/>
          <a:p>
            <a:pPr marL="0" indent="0" algn="ctr">
              <a:buNone/>
            </a:pPr>
            <a:r>
              <a:rPr lang="en-US" sz="750" b="1" dirty="0">
                <a:solidFill>
                  <a:srgbClr val="1A2233"/>
                </a:solidFill>
                <a:latin typeface="맑은 고딕" pitchFamily="34" charset="0"/>
                <a:ea typeface="맑은 고딕" pitchFamily="34" charset="-122"/>
                <a:cs typeface="맑은 고딕" pitchFamily="34" charset="-120"/>
              </a:rPr>
              <a:t>p = √(X² + Y²)</a:t>
            </a:r>
            <a:endParaRPr lang="en-US" sz="750" dirty="0"/>
          </a:p>
        </p:txBody>
      </p:sp>
      <p:sp>
        <p:nvSpPr>
          <p:cNvPr id="101" name="Shape 99"/>
          <p:cNvSpPr/>
          <p:nvPr/>
        </p:nvSpPr>
        <p:spPr>
          <a:xfrm>
            <a:off x="4626864" y="5586984"/>
            <a:ext cx="128016" cy="0"/>
          </a:xfrm>
          <a:prstGeom prst="line">
            <a:avLst/>
          </a:prstGeom>
          <a:noFill/>
          <a:ln w="16510">
            <a:solidFill>
              <a:srgbClr val="13233F"/>
            </a:solidFill>
            <a:prstDash val="solid"/>
            <a:headEnd type="none"/>
            <a:tailEnd type="triangle"/>
          </a:ln>
        </p:spPr>
        <p:txBody>
          <a:bodyPr/>
          <a:p/>
        </p:txBody>
      </p:sp>
      <p:sp>
        <p:nvSpPr>
          <p:cNvPr id="102" name="Shape 100"/>
          <p:cNvSpPr/>
          <p:nvPr/>
        </p:nvSpPr>
        <p:spPr>
          <a:xfrm>
            <a:off x="4773168" y="5468112"/>
            <a:ext cx="1097280" cy="237744"/>
          </a:xfrm>
          <a:prstGeom prst="roundRect">
            <a:avLst>
              <a:gd name="adj" fmla="val 30769"/>
            </a:avLst>
          </a:prstGeom>
          <a:solidFill>
            <a:srgbClr val="F5F7FB"/>
          </a:solidFill>
          <a:ln w="11430">
            <a:solidFill>
              <a:srgbClr val="5A6478"/>
            </a:solidFill>
            <a:prstDash val="solid"/>
          </a:ln>
        </p:spPr>
        <p:txBody>
          <a:bodyPr/>
          <a:p/>
        </p:txBody>
      </p:sp>
      <p:sp>
        <p:nvSpPr>
          <p:cNvPr id="103" name="Text 101"/>
          <p:cNvSpPr txBox="1"/>
          <p:nvPr/>
        </p:nvSpPr>
        <p:spPr>
          <a:xfrm>
            <a:off x="4773168" y="5468112"/>
            <a:ext cx="1097280" cy="237744"/>
          </a:xfrm>
          <a:prstGeom prst="rect">
            <a:avLst/>
          </a:prstGeom>
          <a:noFill/>
          <a:ln/>
        </p:spPr>
        <p:txBody>
          <a:bodyPr wrap="square" lIns="0" tIns="0" rIns="0" bIns="0" rtlCol="0" anchor="ctr"/>
          <a:lstStyle/>
          <a:p>
            <a:pPr marL="0" indent="0" algn="ctr">
              <a:buNone/>
            </a:pPr>
            <a:r>
              <a:rPr lang="en-US" sz="750" b="1" dirty="0">
                <a:solidFill>
                  <a:srgbClr val="1A2233"/>
                </a:solidFill>
                <a:latin typeface="맑은 고딕" pitchFamily="34" charset="0"/>
                <a:ea typeface="맑은 고딕" pitchFamily="34" charset="-122"/>
                <a:cs typeface="맑은 고딕" pitchFamily="34" charset="-120"/>
              </a:rPr>
              <a:t>φ₀ = arctan(Z / p)</a:t>
            </a:r>
            <a:endParaRPr lang="en-US" sz="750" dirty="0"/>
          </a:p>
        </p:txBody>
      </p:sp>
      <p:sp>
        <p:nvSpPr>
          <p:cNvPr id="104" name="Shape 102"/>
          <p:cNvSpPr/>
          <p:nvPr/>
        </p:nvSpPr>
        <p:spPr>
          <a:xfrm>
            <a:off x="5888736" y="5586984"/>
            <a:ext cx="128016" cy="0"/>
          </a:xfrm>
          <a:prstGeom prst="line">
            <a:avLst/>
          </a:prstGeom>
          <a:noFill/>
          <a:ln w="16510">
            <a:solidFill>
              <a:srgbClr val="13233F"/>
            </a:solidFill>
            <a:prstDash val="solid"/>
            <a:headEnd type="none"/>
            <a:tailEnd type="triangle"/>
          </a:ln>
        </p:spPr>
        <p:txBody>
          <a:bodyPr/>
          <a:p/>
        </p:txBody>
      </p:sp>
      <p:sp>
        <p:nvSpPr>
          <p:cNvPr id="105" name="Shape 103"/>
          <p:cNvSpPr/>
          <p:nvPr/>
        </p:nvSpPr>
        <p:spPr>
          <a:xfrm>
            <a:off x="6035040" y="5468112"/>
            <a:ext cx="1700784" cy="237744"/>
          </a:xfrm>
          <a:prstGeom prst="roundRect">
            <a:avLst>
              <a:gd name="adj" fmla="val 30769"/>
            </a:avLst>
          </a:prstGeom>
          <a:solidFill>
            <a:srgbClr val="F5F7FB"/>
          </a:solidFill>
          <a:ln w="11430">
            <a:solidFill>
              <a:srgbClr val="5A6478"/>
            </a:solidFill>
            <a:prstDash val="solid"/>
          </a:ln>
        </p:spPr>
        <p:txBody>
          <a:bodyPr/>
          <a:p/>
        </p:txBody>
      </p:sp>
      <p:sp>
        <p:nvSpPr>
          <p:cNvPr id="106" name="Text 104"/>
          <p:cNvSpPr txBox="1"/>
          <p:nvPr/>
        </p:nvSpPr>
        <p:spPr>
          <a:xfrm>
            <a:off x="6035040" y="5468112"/>
            <a:ext cx="1700784" cy="237744"/>
          </a:xfrm>
          <a:prstGeom prst="rect">
            <a:avLst/>
          </a:prstGeom>
          <a:noFill/>
          <a:ln/>
        </p:spPr>
        <p:txBody>
          <a:bodyPr wrap="square" lIns="0" tIns="0" rIns="0" bIns="0" rtlCol="0" anchor="ctr"/>
          <a:lstStyle/>
          <a:p>
            <a:pPr marL="0" indent="0" algn="ctr">
              <a:buNone/>
            </a:pPr>
            <a:r>
              <a:rPr lang="en-US" sz="750" b="1" dirty="0">
                <a:solidFill>
                  <a:srgbClr val="1A2233"/>
                </a:solidFill>
                <a:latin typeface="맑은 고딕" pitchFamily="34" charset="0"/>
                <a:ea typeface="맑은 고딕" pitchFamily="34" charset="-122"/>
                <a:cs typeface="맑은 고딕" pitchFamily="34" charset="-120"/>
              </a:rPr>
              <a:t>tan φ = (Z + e²RN sinφ) / p  →  φ</a:t>
            </a:r>
            <a:endParaRPr lang="en-US" sz="750" dirty="0"/>
          </a:p>
        </p:txBody>
      </p:sp>
      <p:sp>
        <p:nvSpPr>
          <p:cNvPr id="107" name="Shape 105"/>
          <p:cNvSpPr/>
          <p:nvPr/>
        </p:nvSpPr>
        <p:spPr>
          <a:xfrm>
            <a:off x="7754112" y="5586984"/>
            <a:ext cx="128016" cy="0"/>
          </a:xfrm>
          <a:prstGeom prst="line">
            <a:avLst/>
          </a:prstGeom>
          <a:noFill/>
          <a:ln w="16510">
            <a:solidFill>
              <a:srgbClr val="13233F"/>
            </a:solidFill>
            <a:prstDash val="solid"/>
            <a:headEnd type="none"/>
            <a:tailEnd type="triangle"/>
          </a:ln>
        </p:spPr>
        <p:txBody>
          <a:bodyPr/>
          <a:p/>
        </p:txBody>
      </p:sp>
      <p:sp>
        <p:nvSpPr>
          <p:cNvPr id="108" name="Shape 106"/>
          <p:cNvSpPr/>
          <p:nvPr/>
        </p:nvSpPr>
        <p:spPr>
          <a:xfrm>
            <a:off x="7900416" y="5468112"/>
            <a:ext cx="1188720" cy="237744"/>
          </a:xfrm>
          <a:prstGeom prst="roundRect">
            <a:avLst>
              <a:gd name="adj" fmla="val 30769"/>
            </a:avLst>
          </a:prstGeom>
          <a:solidFill>
            <a:srgbClr val="F5F7FB"/>
          </a:solidFill>
          <a:ln w="11430">
            <a:solidFill>
              <a:srgbClr val="5A6478"/>
            </a:solidFill>
            <a:prstDash val="solid"/>
          </a:ln>
        </p:spPr>
        <p:txBody>
          <a:bodyPr/>
          <a:p/>
        </p:txBody>
      </p:sp>
      <p:sp>
        <p:nvSpPr>
          <p:cNvPr id="109" name="Text 107"/>
          <p:cNvSpPr txBox="1"/>
          <p:nvPr/>
        </p:nvSpPr>
        <p:spPr>
          <a:xfrm>
            <a:off x="7900416" y="5468112"/>
            <a:ext cx="1188720" cy="237744"/>
          </a:xfrm>
          <a:prstGeom prst="rect">
            <a:avLst/>
          </a:prstGeom>
          <a:noFill/>
          <a:ln/>
        </p:spPr>
        <p:txBody>
          <a:bodyPr wrap="square" lIns="0" tIns="0" rIns="0" bIns="0" rtlCol="0" anchor="ctr"/>
          <a:lstStyle/>
          <a:p>
            <a:pPr marL="0" indent="0" algn="ctr">
              <a:buNone/>
            </a:pPr>
            <a:r>
              <a:rPr lang="en-US" sz="750" b="1" dirty="0">
                <a:solidFill>
                  <a:srgbClr val="1A2233"/>
                </a:solidFill>
                <a:latin typeface="맑은 고딕" pitchFamily="34" charset="0"/>
                <a:ea typeface="맑은 고딕" pitchFamily="34" charset="-122"/>
                <a:cs typeface="맑은 고딕" pitchFamily="34" charset="-120"/>
              </a:rPr>
              <a:t>h = p / cosφ − RN</a:t>
            </a:r>
            <a:endParaRPr lang="en-US" sz="750" dirty="0"/>
          </a:p>
        </p:txBody>
      </p:sp>
      <p:sp>
        <p:nvSpPr>
          <p:cNvPr id="110" name="Shape 108"/>
          <p:cNvSpPr/>
          <p:nvPr/>
        </p:nvSpPr>
        <p:spPr>
          <a:xfrm>
            <a:off x="9107424" y="5586984"/>
            <a:ext cx="128016" cy="0"/>
          </a:xfrm>
          <a:prstGeom prst="line">
            <a:avLst/>
          </a:prstGeom>
          <a:noFill/>
          <a:ln w="16510">
            <a:solidFill>
              <a:srgbClr val="13233F"/>
            </a:solidFill>
            <a:prstDash val="solid"/>
            <a:headEnd type="none"/>
            <a:tailEnd type="triangle"/>
          </a:ln>
        </p:spPr>
        <p:txBody>
          <a:bodyPr/>
          <a:p/>
        </p:txBody>
      </p:sp>
      <p:sp>
        <p:nvSpPr>
          <p:cNvPr id="111" name="Shape 109"/>
          <p:cNvSpPr/>
          <p:nvPr/>
        </p:nvSpPr>
        <p:spPr>
          <a:xfrm>
            <a:off x="9253728" y="5468112"/>
            <a:ext cx="1005840" cy="237744"/>
          </a:xfrm>
          <a:prstGeom prst="roundRect">
            <a:avLst>
              <a:gd name="adj" fmla="val 30769"/>
            </a:avLst>
          </a:prstGeom>
          <a:solidFill>
            <a:srgbClr val="F5F7FB"/>
          </a:solidFill>
          <a:ln w="11430">
            <a:solidFill>
              <a:srgbClr val="5A6478"/>
            </a:solidFill>
            <a:prstDash val="solid"/>
          </a:ln>
        </p:spPr>
        <p:txBody>
          <a:bodyPr/>
          <a:p/>
        </p:txBody>
      </p:sp>
      <p:sp>
        <p:nvSpPr>
          <p:cNvPr id="112" name="Text 110"/>
          <p:cNvSpPr txBox="1"/>
          <p:nvPr/>
        </p:nvSpPr>
        <p:spPr>
          <a:xfrm>
            <a:off x="9253728" y="5468112"/>
            <a:ext cx="1005840" cy="237744"/>
          </a:xfrm>
          <a:prstGeom prst="rect">
            <a:avLst/>
          </a:prstGeom>
          <a:noFill/>
          <a:ln/>
        </p:spPr>
        <p:txBody>
          <a:bodyPr wrap="square" lIns="0" tIns="0" rIns="0" bIns="0" rtlCol="0" anchor="ctr"/>
          <a:lstStyle/>
          <a:p>
            <a:pPr marL="0" indent="0" algn="ctr">
              <a:buNone/>
            </a:pPr>
            <a:r>
              <a:rPr lang="en-US" sz="750" b="1" dirty="0">
                <a:solidFill>
                  <a:srgbClr val="1A2233"/>
                </a:solidFill>
                <a:latin typeface="맑은 고딕" pitchFamily="34" charset="0"/>
                <a:ea typeface="맑은 고딕" pitchFamily="34" charset="-122"/>
                <a:cs typeface="맑은 고딕" pitchFamily="34" charset="-120"/>
              </a:rPr>
              <a:t>LLA (φ, λ, h)</a:t>
            </a:r>
            <a:endParaRPr lang="en-US" sz="750" dirty="0"/>
          </a:p>
        </p:txBody>
      </p:sp>
      <p:sp>
        <p:nvSpPr>
          <p:cNvPr id="113" name="Text 111"/>
          <p:cNvSpPr txBox="1"/>
          <p:nvPr/>
        </p:nvSpPr>
        <p:spPr>
          <a:xfrm>
            <a:off x="9253728" y="5742432"/>
            <a:ext cx="2011680" cy="201168"/>
          </a:xfrm>
          <a:prstGeom prst="rect">
            <a:avLst/>
          </a:prstGeom>
          <a:noFill/>
          <a:ln/>
        </p:spPr>
        <p:txBody>
          <a:bodyPr wrap="square" lIns="0" tIns="0" rIns="0" bIns="0" rtlCol="0" anchor="ctr"/>
          <a:lstStyle/>
          <a:p>
            <a:pPr marL="0" indent="0" algn="l">
              <a:buNone/>
            </a:pPr>
            <a:r>
              <a:rPr lang="en-US" sz="650" dirty="0">
                <a:solidFill>
                  <a:srgbClr val="5A6478"/>
                </a:solidFill>
                <a:latin typeface="맑은 고딕" pitchFamily="34" charset="0"/>
                <a:ea typeface="맑은 고딕" pitchFamily="34" charset="-122"/>
                <a:cs typeface="맑은 고딕" pitchFamily="34" charset="-120"/>
              </a:rPr>
              <a:t>λ = atan2(Y, X) — 바로 나온다</a:t>
            </a:r>
            <a:endParaRPr lang="en-US" sz="600" dirty="0"/>
          </a:p>
        </p:txBody>
      </p:sp>
      <p:sp>
        <p:nvSpPr>
          <p:cNvPr id="114" name="Text 112"/>
          <p:cNvSpPr txBox="1"/>
          <p:nvPr/>
        </p:nvSpPr>
        <p:spPr>
          <a:xfrm>
            <a:off x="5760720" y="5742432"/>
            <a:ext cx="2194560" cy="201168"/>
          </a:xfrm>
          <a:prstGeom prst="rect">
            <a:avLst/>
          </a:prstGeom>
          <a:noFill/>
          <a:ln/>
        </p:spPr>
        <p:txBody>
          <a:bodyPr wrap="square" lIns="0" tIns="0" rIns="0" bIns="0" rtlCol="0" anchor="ctr"/>
          <a:lstStyle/>
          <a:p>
            <a:pPr marL="0" indent="0" algn="ctr">
              <a:buNone/>
            </a:pPr>
            <a:r>
              <a:rPr lang="en-US" sz="600" dirty="0">
                <a:solidFill>
                  <a:srgbClr val="5A6478"/>
                </a:solidFill>
                <a:latin typeface="맑은 고딕" pitchFamily="34" charset="0"/>
                <a:ea typeface="맑은 고딕" pitchFamily="34" charset="-122"/>
                <a:cs typeface="맑은 고딕" pitchFamily="34" charset="-120"/>
              </a:rPr>
              <a:t>앞 값과 다르면 다시 넣는다 (보통 3 ~ 4 번)</a:t>
            </a:r>
            <a:endParaRPr lang="en-US" sz="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01. 변환 체인</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16</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회전은 설치 방위와 INS 자세가, 이동은 레버암과 INS 위치가 공급한다 — 그대로 오차의 출처 목록이 된다.</a:t>
            </a:r>
            <a:endParaRPr lang="en-US" sz="1450" dirty="0"/>
          </a:p>
        </p:txBody>
      </p:sp>
      <p:sp>
        <p:nvSpPr>
          <p:cNvPr id="10" name="Shape 8"/>
          <p:cNvSpPr/>
          <p:nvPr/>
        </p:nvSpPr>
        <p:spPr>
          <a:xfrm>
            <a:off x="914400" y="1792224"/>
            <a:ext cx="4224528" cy="512064"/>
          </a:xfrm>
          <a:prstGeom prst="roundRect">
            <a:avLst>
              <a:gd name="adj" fmla="val 8929"/>
            </a:avLst>
          </a:prstGeom>
          <a:solidFill>
            <a:srgbClr val="EEF1F7"/>
          </a:solidFill>
          <a:ln/>
        </p:spPr>
        <p:txBody>
          <a:bodyPr/>
          <a:p/>
        </p:txBody>
      </p:sp>
      <p:sp>
        <p:nvSpPr>
          <p:cNvPr id="11" name="Text 9"/>
          <p:cNvSpPr txBox="1"/>
          <p:nvPr/>
        </p:nvSpPr>
        <p:spPr>
          <a:xfrm>
            <a:off x="1133856" y="1865376"/>
            <a:ext cx="3803904" cy="384048"/>
          </a:xfrm>
          <a:prstGeom prst="rect">
            <a:avLst/>
          </a:prstGeom>
          <a:noFill/>
          <a:ln/>
        </p:spPr>
        <p:txBody>
          <a:bodyPr wrap="square" lIns="0" tIns="0" rIns="0" bIns="0" rtlCol="0" anchor="t"/>
          <a:lstStyle/>
          <a:p>
            <a:pPr marL="0" indent="0" algn="l">
              <a:lnSpc>
                <a:spcPct val="105000"/>
              </a:lnSpc>
              <a:spcAft>
                <a:spcPts val="300"/>
              </a:spcAft>
              <a:buNone/>
            </a:pPr>
            <a:r>
              <a:rPr lang="en-US" sz="1150" b="1" dirty="0">
                <a:solidFill>
                  <a:srgbClr val="1A2233"/>
                </a:solidFill>
                <a:latin typeface="맑은 고딕" pitchFamily="34" charset="0"/>
                <a:ea typeface="맑은 고딕" pitchFamily="34" charset="-122"/>
                <a:cs typeface="맑은 고딕" pitchFamily="34" charset="-120"/>
              </a:rPr>
              <a:t>신호처리 출력</a:t>
            </a:r>
            <a:endParaRPr lang="en-US" sz="115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R, Az, El (안테나 극좌표)</a:t>
            </a:r>
            <a:endParaRPr lang="en-US" sz="1150" dirty="0"/>
          </a:p>
        </p:txBody>
      </p:sp>
      <p:sp>
        <p:nvSpPr>
          <p:cNvPr id="12" name="Shape 10"/>
          <p:cNvSpPr/>
          <p:nvPr/>
        </p:nvSpPr>
        <p:spPr>
          <a:xfrm rot="10800000">
            <a:off x="2926080" y="2345436"/>
            <a:ext cx="201168" cy="118872"/>
          </a:xfrm>
          <a:prstGeom prst="triangle">
            <a:avLst/>
          </a:prstGeom>
          <a:solidFill>
            <a:srgbClr val="B9C0CC"/>
          </a:solidFill>
          <a:ln/>
        </p:spPr>
        <p:txBody>
          <a:bodyPr/>
          <a:p/>
        </p:txBody>
      </p:sp>
      <p:sp>
        <p:nvSpPr>
          <p:cNvPr id="13" name="Shape 11"/>
          <p:cNvSpPr/>
          <p:nvPr/>
        </p:nvSpPr>
        <p:spPr>
          <a:xfrm>
            <a:off x="914400" y="2505456"/>
            <a:ext cx="4224528" cy="512064"/>
          </a:xfrm>
          <a:prstGeom prst="roundRect">
            <a:avLst>
              <a:gd name="adj" fmla="val 8929"/>
            </a:avLst>
          </a:prstGeom>
          <a:solidFill>
            <a:srgbClr val="EEF1F7"/>
          </a:solidFill>
          <a:ln/>
        </p:spPr>
        <p:txBody>
          <a:bodyPr/>
          <a:p/>
        </p:txBody>
      </p:sp>
      <p:sp>
        <p:nvSpPr>
          <p:cNvPr id="14" name="Text 12"/>
          <p:cNvSpPr txBox="1"/>
          <p:nvPr/>
        </p:nvSpPr>
        <p:spPr>
          <a:xfrm>
            <a:off x="1133856" y="2578608"/>
            <a:ext cx="3803904" cy="384048"/>
          </a:xfrm>
          <a:prstGeom prst="rect">
            <a:avLst/>
          </a:prstGeom>
          <a:noFill/>
          <a:ln/>
        </p:spPr>
        <p:txBody>
          <a:bodyPr wrap="square" lIns="0" tIns="0" rIns="0" bIns="0" rtlCol="0" anchor="t"/>
          <a:lstStyle/>
          <a:p>
            <a:pPr marL="0" indent="0" algn="l">
              <a:lnSpc>
                <a:spcPct val="105000"/>
              </a:lnSpc>
              <a:spcAft>
                <a:spcPts val="300"/>
              </a:spcAft>
              <a:buNone/>
            </a:pPr>
            <a:r>
              <a:rPr lang="en-US" sz="1150" b="1" dirty="0">
                <a:solidFill>
                  <a:srgbClr val="1A2233"/>
                </a:solidFill>
                <a:latin typeface="맑은 고딕" pitchFamily="34" charset="0"/>
                <a:ea typeface="맑은 고딕" pitchFamily="34" charset="-122"/>
                <a:cs typeface="맑은 고딕" pitchFamily="34" charset="-120"/>
              </a:rPr>
              <a:t>안테나 좌표계</a:t>
            </a:r>
            <a:endParaRPr lang="en-US" sz="115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Polar → Cartesian → (UV)</a:t>
            </a:r>
            <a:endParaRPr lang="en-US" sz="1150" dirty="0"/>
          </a:p>
        </p:txBody>
      </p:sp>
      <p:sp>
        <p:nvSpPr>
          <p:cNvPr id="15" name="Shape 13"/>
          <p:cNvSpPr/>
          <p:nvPr/>
        </p:nvSpPr>
        <p:spPr>
          <a:xfrm rot="10800000">
            <a:off x="2926080" y="3058668"/>
            <a:ext cx="201168" cy="118872"/>
          </a:xfrm>
          <a:prstGeom prst="triangle">
            <a:avLst/>
          </a:prstGeom>
          <a:solidFill>
            <a:srgbClr val="B9C0CC"/>
          </a:solidFill>
          <a:ln/>
        </p:spPr>
        <p:txBody>
          <a:bodyPr/>
          <a:p/>
        </p:txBody>
      </p:sp>
      <p:sp>
        <p:nvSpPr>
          <p:cNvPr id="16" name="Shape 14"/>
          <p:cNvSpPr/>
          <p:nvPr/>
        </p:nvSpPr>
        <p:spPr>
          <a:xfrm>
            <a:off x="914400" y="3218688"/>
            <a:ext cx="4224528" cy="512064"/>
          </a:xfrm>
          <a:prstGeom prst="roundRect">
            <a:avLst>
              <a:gd name="adj" fmla="val 8929"/>
            </a:avLst>
          </a:prstGeom>
          <a:solidFill>
            <a:srgbClr val="EEF1F7"/>
          </a:solidFill>
          <a:ln/>
        </p:spPr>
        <p:txBody>
          <a:bodyPr/>
          <a:p/>
        </p:txBody>
      </p:sp>
      <p:sp>
        <p:nvSpPr>
          <p:cNvPr id="17" name="Text 15"/>
          <p:cNvSpPr txBox="1"/>
          <p:nvPr/>
        </p:nvSpPr>
        <p:spPr>
          <a:xfrm>
            <a:off x="1133856" y="3291840"/>
            <a:ext cx="3803904" cy="384048"/>
          </a:xfrm>
          <a:prstGeom prst="rect">
            <a:avLst/>
          </a:prstGeom>
          <a:noFill/>
          <a:ln/>
        </p:spPr>
        <p:txBody>
          <a:bodyPr wrap="square" lIns="0" tIns="0" rIns="0" bIns="0" rtlCol="0" anchor="t"/>
          <a:lstStyle/>
          <a:p>
            <a:pPr marL="0" indent="0" algn="l">
              <a:lnSpc>
                <a:spcPct val="105000"/>
              </a:lnSpc>
              <a:spcAft>
                <a:spcPts val="300"/>
              </a:spcAft>
              <a:buNone/>
            </a:pPr>
            <a:r>
              <a:rPr lang="en-US" sz="1150" b="1" dirty="0">
                <a:solidFill>
                  <a:srgbClr val="1A2233"/>
                </a:solidFill>
                <a:latin typeface="맑은 고딕" pitchFamily="34" charset="0"/>
                <a:ea typeface="맑은 고딕" pitchFamily="34" charset="-122"/>
                <a:cs typeface="맑은 고딕" pitchFamily="34" charset="-120"/>
              </a:rPr>
              <a:t>동체(Body) 좌표계</a:t>
            </a:r>
            <a:endParaRPr lang="en-US" sz="115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x=선수  y=우현  z=아래 (FRD)</a:t>
            </a:r>
            <a:endParaRPr lang="en-US" sz="1150" dirty="0"/>
          </a:p>
        </p:txBody>
      </p:sp>
      <p:sp>
        <p:nvSpPr>
          <p:cNvPr id="18" name="Shape 16"/>
          <p:cNvSpPr/>
          <p:nvPr/>
        </p:nvSpPr>
        <p:spPr>
          <a:xfrm rot="10800000">
            <a:off x="2926080" y="3771900"/>
            <a:ext cx="201168" cy="118872"/>
          </a:xfrm>
          <a:prstGeom prst="triangle">
            <a:avLst/>
          </a:prstGeom>
          <a:solidFill>
            <a:srgbClr val="B9C0CC"/>
          </a:solidFill>
          <a:ln/>
        </p:spPr>
        <p:txBody>
          <a:bodyPr/>
          <a:p/>
        </p:txBody>
      </p:sp>
      <p:sp>
        <p:nvSpPr>
          <p:cNvPr id="19" name="Shape 17"/>
          <p:cNvSpPr/>
          <p:nvPr/>
        </p:nvSpPr>
        <p:spPr>
          <a:xfrm>
            <a:off x="914400" y="3931920"/>
            <a:ext cx="4224528" cy="512064"/>
          </a:xfrm>
          <a:prstGeom prst="roundRect">
            <a:avLst>
              <a:gd name="adj" fmla="val 8929"/>
            </a:avLst>
          </a:prstGeom>
          <a:solidFill>
            <a:srgbClr val="EEF1F7"/>
          </a:solidFill>
          <a:ln/>
        </p:spPr>
        <p:txBody>
          <a:bodyPr/>
          <a:p/>
        </p:txBody>
      </p:sp>
      <p:sp>
        <p:nvSpPr>
          <p:cNvPr id="20" name="Text 18"/>
          <p:cNvSpPr txBox="1"/>
          <p:nvPr/>
        </p:nvSpPr>
        <p:spPr>
          <a:xfrm>
            <a:off x="1133856" y="4005072"/>
            <a:ext cx="3803904" cy="384048"/>
          </a:xfrm>
          <a:prstGeom prst="rect">
            <a:avLst/>
          </a:prstGeom>
          <a:noFill/>
          <a:ln/>
        </p:spPr>
        <p:txBody>
          <a:bodyPr wrap="square" lIns="0" tIns="0" rIns="0" bIns="0" rtlCol="0" anchor="t"/>
          <a:lstStyle/>
          <a:p>
            <a:pPr marL="0" indent="0" algn="l">
              <a:lnSpc>
                <a:spcPct val="105000"/>
              </a:lnSpc>
              <a:spcAft>
                <a:spcPts val="300"/>
              </a:spcAft>
              <a:buNone/>
            </a:pPr>
            <a:r>
              <a:rPr lang="en-US" sz="1150" b="1" dirty="0">
                <a:solidFill>
                  <a:srgbClr val="1A2233"/>
                </a:solidFill>
                <a:latin typeface="맑은 고딕" pitchFamily="34" charset="0"/>
                <a:ea typeface="맑은 고딕" pitchFamily="34" charset="-122"/>
                <a:cs typeface="맑은 고딕" pitchFamily="34" charset="-120"/>
              </a:rPr>
              <a:t>로컬(NED) 좌표계</a:t>
            </a:r>
            <a:endParaRPr lang="en-US" sz="115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x=북  y=동  z=아래   데이터처리</a:t>
            </a:r>
            <a:endParaRPr lang="en-US" sz="1150" dirty="0"/>
          </a:p>
        </p:txBody>
      </p:sp>
      <p:sp>
        <p:nvSpPr>
          <p:cNvPr id="21" name="Shape 19"/>
          <p:cNvSpPr/>
          <p:nvPr/>
        </p:nvSpPr>
        <p:spPr>
          <a:xfrm rot="10800000">
            <a:off x="2926080" y="4485132"/>
            <a:ext cx="201168" cy="118872"/>
          </a:xfrm>
          <a:prstGeom prst="triangle">
            <a:avLst/>
          </a:prstGeom>
          <a:solidFill>
            <a:srgbClr val="B9C0CC"/>
          </a:solidFill>
          <a:ln/>
        </p:spPr>
        <p:txBody>
          <a:bodyPr/>
          <a:p/>
        </p:txBody>
      </p:sp>
      <p:sp>
        <p:nvSpPr>
          <p:cNvPr id="22" name="Shape 20"/>
          <p:cNvSpPr/>
          <p:nvPr/>
        </p:nvSpPr>
        <p:spPr>
          <a:xfrm>
            <a:off x="914400" y="4645152"/>
            <a:ext cx="4224528" cy="512064"/>
          </a:xfrm>
          <a:prstGeom prst="roundRect">
            <a:avLst>
              <a:gd name="adj" fmla="val 8929"/>
            </a:avLst>
          </a:prstGeom>
          <a:solidFill>
            <a:srgbClr val="EEF1F7"/>
          </a:solidFill>
          <a:ln/>
        </p:spPr>
        <p:txBody>
          <a:bodyPr/>
          <a:p/>
        </p:txBody>
      </p:sp>
      <p:sp>
        <p:nvSpPr>
          <p:cNvPr id="23" name="Text 21"/>
          <p:cNvSpPr txBox="1"/>
          <p:nvPr/>
        </p:nvSpPr>
        <p:spPr>
          <a:xfrm>
            <a:off x="1133856" y="4718304"/>
            <a:ext cx="3803904" cy="384048"/>
          </a:xfrm>
          <a:prstGeom prst="rect">
            <a:avLst/>
          </a:prstGeom>
          <a:noFill/>
          <a:ln/>
        </p:spPr>
        <p:txBody>
          <a:bodyPr wrap="square" lIns="0" tIns="0" rIns="0" bIns="0" rtlCol="0" anchor="t"/>
          <a:lstStyle/>
          <a:p>
            <a:pPr marL="0" indent="0" algn="l">
              <a:lnSpc>
                <a:spcPct val="105000"/>
              </a:lnSpc>
              <a:spcAft>
                <a:spcPts val="300"/>
              </a:spcAft>
              <a:buNone/>
            </a:pPr>
            <a:r>
              <a:rPr lang="en-US" sz="1150" b="1" dirty="0">
                <a:solidFill>
                  <a:srgbClr val="1A2233"/>
                </a:solidFill>
                <a:latin typeface="맑은 고딕" pitchFamily="34" charset="0"/>
                <a:ea typeface="맑은 고딕" pitchFamily="34" charset="-122"/>
                <a:cs typeface="맑은 고딕" pitchFamily="34" charset="-120"/>
              </a:rPr>
              <a:t>ECEF 좌표계</a:t>
            </a:r>
            <a:endParaRPr lang="en-US" sz="115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지구중심 지구고정 직교좌표</a:t>
            </a:r>
            <a:endParaRPr lang="en-US" sz="1150" dirty="0"/>
          </a:p>
        </p:txBody>
      </p:sp>
      <p:sp>
        <p:nvSpPr>
          <p:cNvPr id="24" name="Shape 22"/>
          <p:cNvSpPr/>
          <p:nvPr/>
        </p:nvSpPr>
        <p:spPr>
          <a:xfrm rot="10800000">
            <a:off x="2926080" y="5198364"/>
            <a:ext cx="201168" cy="118872"/>
          </a:xfrm>
          <a:prstGeom prst="triangle">
            <a:avLst/>
          </a:prstGeom>
          <a:solidFill>
            <a:srgbClr val="B9C0CC"/>
          </a:solidFill>
          <a:ln/>
        </p:spPr>
        <p:txBody>
          <a:bodyPr/>
          <a:p/>
        </p:txBody>
      </p:sp>
      <p:sp>
        <p:nvSpPr>
          <p:cNvPr id="25" name="Shape 23"/>
          <p:cNvSpPr/>
          <p:nvPr/>
        </p:nvSpPr>
        <p:spPr>
          <a:xfrm>
            <a:off x="914400" y="5358384"/>
            <a:ext cx="4224528" cy="512064"/>
          </a:xfrm>
          <a:prstGeom prst="roundRect">
            <a:avLst>
              <a:gd name="adj" fmla="val 8929"/>
            </a:avLst>
          </a:prstGeom>
          <a:solidFill>
            <a:srgbClr val="EEF1F7"/>
          </a:solidFill>
          <a:ln/>
        </p:spPr>
        <p:txBody>
          <a:bodyPr/>
          <a:p/>
        </p:txBody>
      </p:sp>
      <p:sp>
        <p:nvSpPr>
          <p:cNvPr id="26" name="Text 24"/>
          <p:cNvSpPr txBox="1"/>
          <p:nvPr/>
        </p:nvSpPr>
        <p:spPr>
          <a:xfrm>
            <a:off x="1133856" y="5431536"/>
            <a:ext cx="3803904" cy="384048"/>
          </a:xfrm>
          <a:prstGeom prst="rect">
            <a:avLst/>
          </a:prstGeom>
          <a:noFill/>
          <a:ln/>
        </p:spPr>
        <p:txBody>
          <a:bodyPr wrap="square" lIns="0" tIns="0" rIns="0" bIns="0" rtlCol="0" anchor="t"/>
          <a:lstStyle/>
          <a:p>
            <a:pPr marL="0" indent="0" algn="l">
              <a:lnSpc>
                <a:spcPct val="105000"/>
              </a:lnSpc>
              <a:spcAft>
                <a:spcPts val="300"/>
              </a:spcAft>
              <a:buNone/>
            </a:pPr>
            <a:r>
              <a:rPr lang="en-US" sz="1150" b="1" dirty="0">
                <a:solidFill>
                  <a:srgbClr val="1A2233"/>
                </a:solidFill>
                <a:latin typeface="맑은 고딕" pitchFamily="34" charset="0"/>
                <a:ea typeface="맑은 고딕" pitchFamily="34" charset="-122"/>
                <a:cs typeface="맑은 고딕" pitchFamily="34" charset="-120"/>
              </a:rPr>
              <a:t>LLA 좌표계</a:t>
            </a:r>
            <a:endParaRPr lang="en-US" sz="115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위도  경도  고도 → 전시기</a:t>
            </a:r>
            <a:endParaRPr lang="en-US" sz="1150" dirty="0"/>
          </a:p>
        </p:txBody>
      </p:sp>
      <p:sp>
        <p:nvSpPr>
          <p:cNvPr id="27" name="Text 25"/>
          <p:cNvSpPr txBox="1"/>
          <p:nvPr/>
        </p:nvSpPr>
        <p:spPr>
          <a:xfrm>
            <a:off x="5541264" y="2048256"/>
            <a:ext cx="5760720" cy="566928"/>
          </a:xfrm>
          <a:prstGeom prst="rect">
            <a:avLst/>
          </a:prstGeom>
          <a:noFill/>
          <a:ln/>
        </p:spPr>
        <p:txBody>
          <a:bodyPr wrap="square" lIns="0" tIns="0" rIns="0" bIns="0" rtlCol="0" anchor="t"/>
          <a:lstStyle/>
          <a:p>
            <a:pPr marL="0" indent="0" algn="l">
              <a:lnSpc>
                <a:spcPct val="105000"/>
              </a:lnSpc>
              <a:spcAft>
                <a:spcPts val="500"/>
              </a:spcAft>
              <a:buNone/>
            </a:pPr>
            <a:r>
              <a:rPr lang="en-US" sz="1250" b="1" dirty="0">
                <a:solidFill>
                  <a:srgbClr val="1A2233"/>
                </a:solidFill>
                <a:latin typeface="맑은 고딕" pitchFamily="34" charset="0"/>
                <a:ea typeface="맑은 고딕" pitchFamily="34" charset="-122"/>
                <a:cs typeface="맑은 고딕" pitchFamily="34" charset="-120"/>
              </a:rPr>
              <a:t>극좌표를 x, y, z 세 성분으로 분해</a:t>
            </a:r>
            <a:endParaRPr lang="en-US" sz="125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표현만 바꿀 뿐 · 회전도 이동도 없음</a:t>
            </a:r>
            <a:endParaRPr lang="en-US" sz="1250" dirty="0"/>
          </a:p>
        </p:txBody>
      </p:sp>
      <p:sp>
        <p:nvSpPr>
          <p:cNvPr id="28" name="Text 26"/>
          <p:cNvSpPr txBox="1"/>
          <p:nvPr/>
        </p:nvSpPr>
        <p:spPr>
          <a:xfrm>
            <a:off x="5541264" y="2761488"/>
            <a:ext cx="5760720" cy="566928"/>
          </a:xfrm>
          <a:prstGeom prst="rect">
            <a:avLst/>
          </a:prstGeom>
          <a:noFill/>
          <a:ln/>
        </p:spPr>
        <p:txBody>
          <a:bodyPr wrap="square" lIns="0" tIns="0" rIns="0" bIns="0" rtlCol="0" anchor="t"/>
          <a:lstStyle/>
          <a:p>
            <a:pPr marL="0" indent="0" algn="l">
              <a:lnSpc>
                <a:spcPct val="105000"/>
              </a:lnSpc>
              <a:spcAft>
                <a:spcPts val="500"/>
              </a:spcAft>
              <a:buNone/>
            </a:pPr>
            <a:r>
              <a:rPr lang="en-US" sz="1250" b="1" dirty="0">
                <a:solidFill>
                  <a:srgbClr val="1A2233"/>
                </a:solidFill>
                <a:latin typeface="맑은 고딕" pitchFamily="34" charset="0"/>
                <a:ea typeface="맑은 고딕" pitchFamily="34" charset="-122"/>
                <a:cs typeface="맑은 고딕" pitchFamily="34" charset="-120"/>
              </a:rPr>
              <a:t>p동체 = Rz(설치방위) · Ry(백틸트) · A · p안테나  +  레버암</a:t>
            </a:r>
            <a:endParaRPr lang="en-US" sz="125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회전+이동   설치 도면이 공급 · 고정형이라 상수 · A 는 축 맞춤 상수 행렬</a:t>
            </a:r>
            <a:endParaRPr lang="en-US" sz="1250" dirty="0"/>
          </a:p>
        </p:txBody>
      </p:sp>
      <p:sp>
        <p:nvSpPr>
          <p:cNvPr id="29" name="Text 27"/>
          <p:cNvSpPr txBox="1"/>
          <p:nvPr/>
        </p:nvSpPr>
        <p:spPr>
          <a:xfrm>
            <a:off x="5541264" y="3474720"/>
            <a:ext cx="5760720" cy="566928"/>
          </a:xfrm>
          <a:prstGeom prst="rect">
            <a:avLst/>
          </a:prstGeom>
          <a:noFill/>
          <a:ln/>
        </p:spPr>
        <p:txBody>
          <a:bodyPr wrap="square" lIns="0" tIns="0" rIns="0" bIns="0" rtlCol="0" anchor="t"/>
          <a:lstStyle/>
          <a:p>
            <a:pPr marL="0" indent="0" algn="l">
              <a:lnSpc>
                <a:spcPct val="105000"/>
              </a:lnSpc>
              <a:spcAft>
                <a:spcPts val="500"/>
              </a:spcAft>
              <a:buNone/>
            </a:pPr>
            <a:r>
              <a:rPr lang="en-US" sz="1250" b="1" dirty="0">
                <a:solidFill>
                  <a:srgbClr val="1A2233"/>
                </a:solidFill>
                <a:latin typeface="맑은 고딕" pitchFamily="34" charset="0"/>
                <a:ea typeface="맑은 고딕" pitchFamily="34" charset="-122"/>
                <a:cs typeface="맑은 고딕" pitchFamily="34" charset="-120"/>
              </a:rPr>
              <a:t>C_ned ← body = Rz(yaw)  ·  Ry(pitch)  ·  Rx(roll)</a:t>
            </a:r>
            <a:endParaRPr lang="en-US" sz="125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회전   INS 자세가 공급 · 매 순간 변함 · 벡터에 가까운 Rx(roll) 부터 적용된다</a:t>
            </a:r>
            <a:endParaRPr lang="en-US" sz="1250" dirty="0"/>
          </a:p>
        </p:txBody>
      </p:sp>
      <p:sp>
        <p:nvSpPr>
          <p:cNvPr id="30" name="Text 28"/>
          <p:cNvSpPr txBox="1"/>
          <p:nvPr/>
        </p:nvSpPr>
        <p:spPr>
          <a:xfrm>
            <a:off x="5541264" y="4187952"/>
            <a:ext cx="5760720" cy="566928"/>
          </a:xfrm>
          <a:prstGeom prst="rect">
            <a:avLst/>
          </a:prstGeom>
          <a:noFill/>
          <a:ln/>
        </p:spPr>
        <p:txBody>
          <a:bodyPr wrap="square" lIns="0" tIns="0" rIns="0" bIns="0" rtlCol="0" anchor="t"/>
          <a:lstStyle/>
          <a:p>
            <a:pPr marL="0" indent="0" algn="l">
              <a:lnSpc>
                <a:spcPct val="105000"/>
              </a:lnSpc>
              <a:spcAft>
                <a:spcPts val="500"/>
              </a:spcAft>
              <a:buNone/>
            </a:pPr>
            <a:r>
              <a:rPr lang="en-US" sz="1250" b="1" dirty="0">
                <a:solidFill>
                  <a:srgbClr val="1A2233"/>
                </a:solidFill>
                <a:latin typeface="맑은 고딕" pitchFamily="34" charset="0"/>
                <a:ea typeface="맑은 고딕" pitchFamily="34" charset="-122"/>
                <a:cs typeface="맑은 고딕" pitchFamily="34" charset="-120"/>
              </a:rPr>
              <a:t>p_ECEF = C_ecef←ned(위도, 경도) · p_NED  +  배의 ECEF 위치</a:t>
            </a:r>
            <a:endParaRPr lang="en-US" sz="125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회전+이동   INS 위치가 공급</a:t>
            </a:r>
            <a:endParaRPr lang="en-US" sz="1250" dirty="0"/>
          </a:p>
        </p:txBody>
      </p:sp>
      <p:sp>
        <p:nvSpPr>
          <p:cNvPr id="31" name="Text 29"/>
          <p:cNvSpPr txBox="1"/>
          <p:nvPr/>
        </p:nvSpPr>
        <p:spPr>
          <a:xfrm>
            <a:off x="5541264" y="4901184"/>
            <a:ext cx="5760720" cy="566928"/>
          </a:xfrm>
          <a:prstGeom prst="rect">
            <a:avLst/>
          </a:prstGeom>
          <a:noFill/>
          <a:ln/>
        </p:spPr>
        <p:txBody>
          <a:bodyPr wrap="square" lIns="0" tIns="0" rIns="0" bIns="0" rtlCol="0" anchor="t"/>
          <a:lstStyle/>
          <a:p>
            <a:pPr marL="0" indent="0" algn="l">
              <a:lnSpc>
                <a:spcPct val="105000"/>
              </a:lnSpc>
              <a:spcAft>
                <a:spcPts val="500"/>
              </a:spcAft>
              <a:buNone/>
            </a:pPr>
            <a:r>
              <a:rPr lang="en-US" sz="1250" b="1" dirty="0">
                <a:solidFill>
                  <a:srgbClr val="1A2233"/>
                </a:solidFill>
                <a:latin typeface="맑은 고딕" pitchFamily="34" charset="0"/>
                <a:ea typeface="맑은 고딕" pitchFamily="34" charset="-122"/>
                <a:cs typeface="맑은 고딕" pitchFamily="34" charset="-120"/>
              </a:rPr>
              <a:t>위도  ·  고도 반복 계산  (값이 안 변할 때까지)</a:t>
            </a:r>
            <a:endParaRPr lang="en-US" sz="1250" dirty="0"/>
          </a:p>
          <a:p>
            <a:pPr marL="0" indent="0" algn="l">
              <a:lnSpc>
                <a:spcPct val="105000"/>
              </a:lnSpc>
              <a:buNone/>
            </a:pPr>
            <a:r>
              <a:rPr lang="en-US" sz="850" dirty="0">
                <a:solidFill>
                  <a:srgbClr val="5A6478"/>
                </a:solidFill>
                <a:latin typeface="맑은 고딕" pitchFamily="34" charset="0"/>
                <a:ea typeface="맑은 고딕" pitchFamily="34" charset="-122"/>
                <a:cs typeface="맑은 고딕" pitchFamily="34" charset="-120"/>
              </a:rPr>
              <a:t>WGS-84 타원체  직교좌표 → 위경도</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0" y="0"/>
            <a:ext cx="4224528" cy="6858000"/>
          </a:xfrm>
          <a:prstGeom prst="rect">
            <a:avLst/>
          </a:prstGeom>
          <a:solidFill>
            <a:srgbClr val="13233F"/>
          </a:solidFill>
          <a:ln/>
        </p:spPr>
        <p:txBody>
          <a:bodyPr/>
          <a:p/>
        </p:txBody>
      </p:sp>
      <p:sp>
        <p:nvSpPr>
          <p:cNvPr id="3" name="Text 1"/>
          <p:cNvSpPr txBox="1"/>
          <p:nvPr/>
        </p:nvSpPr>
        <p:spPr>
          <a:xfrm>
            <a:off x="2532888" y="566928"/>
            <a:ext cx="640080" cy="365760"/>
          </a:xfrm>
          <a:prstGeom prst="rect">
            <a:avLst/>
          </a:prstGeom>
          <a:noFill/>
          <a:ln/>
        </p:spPr>
        <p:txBody>
          <a:bodyPr wrap="square" lIns="0" tIns="0" rIns="0" bIns="0" rtlCol="0" anchor="ctr"/>
          <a:lstStyle/>
          <a:p>
            <a:pPr marL="0" indent="0" algn="r">
              <a:buNone/>
            </a:pPr>
            <a:r>
              <a:rPr lang="en-US" sz="1900" b="1" dirty="0">
                <a:solidFill>
                  <a:srgbClr val="FFFFFF"/>
                </a:solidFill>
                <a:latin typeface="Arial" pitchFamily="34" charset="0"/>
                <a:ea typeface="Arial" pitchFamily="34" charset="-122"/>
                <a:cs typeface="Arial" pitchFamily="34" charset="-120"/>
              </a:rPr>
              <a:t>02</a:t>
            </a:r>
            <a:endParaRPr lang="en-US" sz="1900" dirty="0"/>
          </a:p>
        </p:txBody>
      </p:sp>
      <p:sp>
        <p:nvSpPr>
          <p:cNvPr id="4" name="Shape 2"/>
          <p:cNvSpPr/>
          <p:nvPr/>
        </p:nvSpPr>
        <p:spPr>
          <a:xfrm>
            <a:off x="3264408" y="749808"/>
            <a:ext cx="960120" cy="0"/>
          </a:xfrm>
          <a:prstGeom prst="line">
            <a:avLst/>
          </a:prstGeom>
          <a:noFill/>
          <a:ln w="12700">
            <a:solidFill>
              <a:srgbClr val="C9D6EC"/>
            </a:solidFill>
            <a:prstDash val="solid"/>
            <a:headEnd type="none"/>
            <a:tailEnd type="none"/>
          </a:ln>
        </p:spPr>
        <p:txBody>
          <a:bodyPr/>
          <a:p/>
        </p:txBody>
      </p:sp>
      <p:sp>
        <p:nvSpPr>
          <p:cNvPr id="5" name="Shape 3"/>
          <p:cNvSpPr/>
          <p:nvPr/>
        </p:nvSpPr>
        <p:spPr>
          <a:xfrm>
            <a:off x="4224528" y="749808"/>
            <a:ext cx="7400239" cy="0"/>
          </a:xfrm>
          <a:prstGeom prst="line">
            <a:avLst/>
          </a:prstGeom>
          <a:noFill/>
          <a:ln w="11430">
            <a:solidFill>
              <a:srgbClr val="13233F"/>
            </a:solidFill>
            <a:prstDash val="solid"/>
            <a:headEnd type="none"/>
            <a:tailEnd type="none"/>
          </a:ln>
        </p:spPr>
        <p:txBody>
          <a:bodyPr/>
          <a:p/>
        </p:txBody>
      </p:sp>
      <p:sp>
        <p:nvSpPr>
          <p:cNvPr id="6" name="Text 4"/>
          <p:cNvSpPr txBox="1"/>
          <p:nvPr/>
        </p:nvSpPr>
        <p:spPr>
          <a:xfrm>
            <a:off x="274320" y="3017520"/>
            <a:ext cx="3675888" cy="822960"/>
          </a:xfrm>
          <a:prstGeom prst="rect">
            <a:avLst/>
          </a:prstGeom>
          <a:noFill/>
          <a:ln/>
        </p:spPr>
        <p:txBody>
          <a:bodyPr wrap="square" lIns="0" tIns="0" rIns="0" bIns="0" rtlCol="0" anchor="ctr"/>
          <a:lstStyle/>
          <a:p>
            <a:pPr marL="0" indent="0" algn="ctr">
              <a:buNone/>
            </a:pPr>
            <a:r>
              <a:rPr lang="en-US" sz="2900" b="1" dirty="0">
                <a:solidFill>
                  <a:srgbClr val="FFFFFF"/>
                </a:solidFill>
                <a:latin typeface="맑은 고딕" pitchFamily="34" charset="0"/>
                <a:ea typeface="맑은 고딕" pitchFamily="34" charset="-122"/>
                <a:cs typeface="맑은 고딕" pitchFamily="34" charset="-120"/>
              </a:rPr>
              <a:t>실전 설계</a:t>
            </a:r>
            <a:endParaRPr lang="en-US" sz="2900" dirty="0"/>
          </a:p>
        </p:txBody>
      </p:sp>
      <p:sp>
        <p:nvSpPr>
          <p:cNvPr id="8" name="Text 6"/>
          <p:cNvSpPr txBox="1"/>
          <p:nvPr/>
        </p:nvSpPr>
        <p:spPr>
          <a:xfrm>
            <a:off x="4224528" y="6419088"/>
            <a:ext cx="7967167"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17</a:t>
            </a:r>
            <a:endParaRPr lang="en-US" sz="900" dirty="0"/>
          </a:p>
        </p:txBody>
      </p:sp>
      <p:sp>
        <p:nvSpPr>
          <p:cNvPr id="9" name="Text 7"/>
          <p:cNvSpPr txBox="1"/>
          <p:nvPr/>
        </p:nvSpPr>
        <p:spPr>
          <a:xfrm>
            <a:off x="5001768" y="1783080"/>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1</a:t>
            </a:r>
            <a:endParaRPr lang="en-US" sz="2100" dirty="0"/>
          </a:p>
        </p:txBody>
      </p:sp>
      <p:sp>
        <p:nvSpPr>
          <p:cNvPr id="10" name="Text 8"/>
          <p:cNvSpPr txBox="1"/>
          <p:nvPr/>
        </p:nvSpPr>
        <p:spPr>
          <a:xfrm>
            <a:off x="5797296" y="1783080"/>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설계 조건</a:t>
            </a:r>
            <a:endParaRPr lang="en-US" sz="1350" dirty="0"/>
          </a:p>
        </p:txBody>
      </p:sp>
      <p:sp>
        <p:nvSpPr>
          <p:cNvPr id="11" name="Text 9"/>
          <p:cNvSpPr txBox="1"/>
          <p:nvPr/>
        </p:nvSpPr>
        <p:spPr>
          <a:xfrm>
            <a:off x="5001768" y="2651760"/>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2</a:t>
            </a:r>
            <a:endParaRPr lang="en-US" sz="2100" dirty="0"/>
          </a:p>
        </p:txBody>
      </p:sp>
      <p:sp>
        <p:nvSpPr>
          <p:cNvPr id="12" name="Text 10"/>
          <p:cNvSpPr txBox="1"/>
          <p:nvPr/>
        </p:nvSpPr>
        <p:spPr>
          <a:xfrm>
            <a:off x="5797296" y="2651760"/>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단계별 좌표계 선정</a:t>
            </a:r>
            <a:endParaRPr lang="en-US" sz="1350" dirty="0"/>
          </a:p>
        </p:txBody>
      </p:sp>
      <p:sp>
        <p:nvSpPr>
          <p:cNvPr id="13" name="Text 11"/>
          <p:cNvSpPr txBox="1"/>
          <p:nvPr/>
        </p:nvSpPr>
        <p:spPr>
          <a:xfrm>
            <a:off x="5001768" y="3520440"/>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3</a:t>
            </a:r>
            <a:endParaRPr lang="en-US" sz="2100" dirty="0"/>
          </a:p>
        </p:txBody>
      </p:sp>
      <p:sp>
        <p:nvSpPr>
          <p:cNvPr id="14" name="Text 12"/>
          <p:cNvSpPr txBox="1"/>
          <p:nvPr/>
        </p:nvSpPr>
        <p:spPr>
          <a:xfrm>
            <a:off x="5797296" y="3520440"/>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단계별 변환 – 안테나 → 동체 → 로컬</a:t>
            </a:r>
            <a:endParaRPr lang="en-US" sz="1350" dirty="0"/>
          </a:p>
        </p:txBody>
      </p:sp>
      <p:sp>
        <p:nvSpPr>
          <p:cNvPr id="15" name="Text 13"/>
          <p:cNvSpPr txBox="1"/>
          <p:nvPr/>
        </p:nvSpPr>
        <p:spPr>
          <a:xfrm>
            <a:off x="5001768" y="4389120"/>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4</a:t>
            </a:r>
            <a:endParaRPr lang="en-US" sz="2100" dirty="0"/>
          </a:p>
        </p:txBody>
      </p:sp>
      <p:sp>
        <p:nvSpPr>
          <p:cNvPr id="16" name="Text 14"/>
          <p:cNvSpPr txBox="1"/>
          <p:nvPr/>
        </p:nvSpPr>
        <p:spPr>
          <a:xfrm>
            <a:off x="5797296" y="4389120"/>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단계별 변환 – 로컬 → ECEF → 위경도</a:t>
            </a:r>
            <a:endParaRPr lang="en-US" sz="1350" dirty="0"/>
          </a:p>
        </p:txBody>
      </p:sp>
      <p:sp>
        <p:nvSpPr>
          <p:cNvPr id="17" name="Text 15"/>
          <p:cNvSpPr txBox="1"/>
          <p:nvPr/>
        </p:nvSpPr>
        <p:spPr>
          <a:xfrm>
            <a:off x="5001768" y="5257800"/>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5</a:t>
            </a:r>
            <a:endParaRPr lang="en-US" sz="2100" dirty="0"/>
          </a:p>
        </p:txBody>
      </p:sp>
      <p:sp>
        <p:nvSpPr>
          <p:cNvPr id="18" name="Text 16"/>
          <p:cNvSpPr txBox="1"/>
          <p:nvPr/>
        </p:nvSpPr>
        <p:spPr>
          <a:xfrm>
            <a:off x="5797296" y="5257800"/>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역변환</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02. 설계 조건</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18</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주어진 조건 여섯 가지와, 그것이 설계를 어떻게 묶는가</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1773936"/>
          <a:ext cx="10360152" cy="3621024"/>
        </p:xfrm>
        <a:graphic>
          <a:graphicData uri="http://schemas.openxmlformats.org/drawingml/2006/table">
            <a:tbl>
              <a:tblPr/>
              <a:tblGrid>
                <a:gridCol w="1737360"/>
                <a:gridCol w="4160520"/>
                <a:gridCol w="4462272"/>
              </a:tblGrid>
              <a:tr h="329184">
                <a:tc>
                  <a:txBody>
                    <a:bodyPr/>
                    <a:lstStyle/>
                    <a:p>
                      <a:pPr marL="0" indent="0">
                        <a:buNone/>
                      </a:pPr>
                      <a:r>
                        <a:rPr lang="en-US" sz="1100" b="1" dirty="0">
                          <a:solidFill>
                            <a:srgbClr val="FFFFFF"/>
                          </a:solidFill>
                          <a:latin typeface="맑은 고딕" pitchFamily="34" charset="0"/>
                          <a:ea typeface="맑은 고딕" pitchFamily="34" charset="-122"/>
                          <a:cs typeface="맑은 고딕" pitchFamily="34" charset="-120"/>
                        </a:rPr>
                        <a:t>조건</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E747C"/>
                    </a:solidFill>
                  </a:tcPr>
                </a:tc>
                <a:tc>
                  <a:txBody>
                    <a:bodyPr/>
                    <a:lstStyle/>
                    <a:p>
                      <a:pPr marL="0" indent="0">
                        <a:buNone/>
                      </a:pPr>
                      <a:r>
                        <a:rPr lang="en-US" sz="1100" b="1" dirty="0">
                          <a:solidFill>
                            <a:srgbClr val="FFFFFF"/>
                          </a:solidFill>
                          <a:latin typeface="맑은 고딕" pitchFamily="34" charset="0"/>
                          <a:ea typeface="맑은 고딕" pitchFamily="34" charset="-122"/>
                          <a:cs typeface="맑은 고딕" pitchFamily="34" charset="-120"/>
                        </a:rPr>
                        <a:t>내용</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E747C"/>
                    </a:solidFill>
                  </a:tcPr>
                </a:tc>
                <a:tc>
                  <a:txBody>
                    <a:bodyPr/>
                    <a:lstStyle/>
                    <a:p>
                      <a:pPr marL="0" indent="0">
                        <a:buNone/>
                      </a:pPr>
                      <a:r>
                        <a:rPr lang="en-US" sz="1100" b="1" dirty="0">
                          <a:solidFill>
                            <a:srgbClr val="FFFFFF"/>
                          </a:solidFill>
                          <a:latin typeface="맑은 고딕" pitchFamily="34" charset="0"/>
                          <a:ea typeface="맑은 고딕" pitchFamily="34" charset="-122"/>
                          <a:cs typeface="맑은 고딕" pitchFamily="34" charset="-120"/>
                        </a:rPr>
                        <a:t>설계에 미치는 영향</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E747C"/>
                    </a:solidFill>
                  </a:tcPr>
                </a:tc>
              </a:tr>
              <a:tr h="548640">
                <a:tc>
                  <a:txBody>
                    <a:bodyPr/>
                    <a:lstStyle/>
                    <a:p>
                      <a:pPr marL="0" indent="0">
                        <a:buNone/>
                      </a:pPr>
                      <a:r>
                        <a:rPr lang="en-US" sz="1100" b="1" dirty="0">
                          <a:solidFill>
                            <a:srgbClr val="1A1A1A"/>
                          </a:solidFill>
                          <a:latin typeface="맑은 고딕" pitchFamily="34" charset="0"/>
                          <a:ea typeface="맑은 고딕" pitchFamily="34" charset="-122"/>
                          <a:cs typeface="맑은 고딕" pitchFamily="34" charset="-120"/>
                        </a:rPr>
                        <a:t>① 플랫폼</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해상 함선, 고정형 안테나</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안테나 → 동체 변환이 상수.  배의 흔들림은 INS 자세로 보상</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r>
              <a:tr h="548640">
                <a:tc>
                  <a:txBody>
                    <a:bodyPr/>
                    <a:lstStyle/>
                    <a:p>
                      <a:pPr marL="0" indent="0">
                        <a:buNone/>
                      </a:pPr>
                      <a:r>
                        <a:rPr lang="en-US" sz="1100" b="1" dirty="0">
                          <a:solidFill>
                            <a:srgbClr val="1A1A1A"/>
                          </a:solidFill>
                          <a:latin typeface="맑은 고딕" pitchFamily="34" charset="0"/>
                          <a:ea typeface="맑은 고딕" pitchFamily="34" charset="-122"/>
                          <a:cs typeface="맑은 고딕" pitchFamily="34" charset="-120"/>
                        </a:rPr>
                        <a:t>② 안테나 설치</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선수 기준 시계방향 90°, 무게중심에서 30m 뒤 / 10m 위</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설치 방위 90°, 백틸트 0°, 레버암 (−30, 0, −10) m</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r>
              <a:tr h="548640">
                <a:tc>
                  <a:txBody>
                    <a:bodyPr/>
                    <a:lstStyle/>
                    <a:p>
                      <a:pPr marL="0" indent="0">
                        <a:buNone/>
                      </a:pPr>
                      <a:r>
                        <a:rPr lang="en-US" sz="1100" b="1" dirty="0">
                          <a:solidFill>
                            <a:srgbClr val="1A1A1A"/>
                          </a:solidFill>
                          <a:latin typeface="맑은 고딕" pitchFamily="34" charset="0"/>
                          <a:ea typeface="맑은 고딕" pitchFamily="34" charset="-122"/>
                          <a:cs typeface="맑은 고딕" pitchFamily="34" charset="-120"/>
                        </a:rPr>
                        <a:t>③ INS 설치</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무게중심과 축 일치</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INS 값 (자세 · 위치)을 보정 없이 그대로 동체 값으로 쓴다</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r>
              <a:tr h="548640">
                <a:tc>
                  <a:txBody>
                    <a:bodyPr/>
                    <a:lstStyle/>
                    <a:p>
                      <a:pPr marL="0" indent="0">
                        <a:buNone/>
                      </a:pPr>
                      <a:r>
                        <a:rPr lang="en-US" sz="1100" b="1" dirty="0">
                          <a:solidFill>
                            <a:srgbClr val="1A1A1A"/>
                          </a:solidFill>
                          <a:latin typeface="맑은 고딕" pitchFamily="34" charset="0"/>
                          <a:ea typeface="맑은 고딕" pitchFamily="34" charset="-122"/>
                          <a:cs typeface="맑은 고딕" pitchFamily="34" charset="-120"/>
                        </a:rPr>
                        <a:t>④ 입력</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안테나 기준 거리 · 방위각 · 고각</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체인의 출발점 = 안테나 극좌표</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r>
              <a:tr h="548640">
                <a:tc>
                  <a:txBody>
                    <a:bodyPr/>
                    <a:lstStyle/>
                    <a:p>
                      <a:pPr marL="0" indent="0">
                        <a:buNone/>
                      </a:pPr>
                      <a:r>
                        <a:rPr lang="en-US" sz="1100" b="1" dirty="0">
                          <a:solidFill>
                            <a:srgbClr val="1A1A1A"/>
                          </a:solidFill>
                          <a:latin typeface="맑은 고딕" pitchFamily="34" charset="0"/>
                          <a:ea typeface="맑은 고딕" pitchFamily="34" charset="-122"/>
                          <a:cs typeface="맑은 고딕" pitchFamily="34" charset="-120"/>
                        </a:rPr>
                        <a:t>⑤ 처리</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로컬 좌표계에서 수행</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체인의 중간 목적지 = 로컬 수평 좌표계(NED)</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r>
              <a:tr h="548640">
                <a:tc>
                  <a:txBody>
                    <a:bodyPr/>
                    <a:lstStyle/>
                    <a:p>
                      <a:pPr marL="0" indent="0">
                        <a:buNone/>
                      </a:pPr>
                      <a:r>
                        <a:rPr lang="en-US" sz="1100" b="1" dirty="0">
                          <a:solidFill>
                            <a:srgbClr val="1A1A1A"/>
                          </a:solidFill>
                          <a:latin typeface="맑은 고딕" pitchFamily="34" charset="0"/>
                          <a:ea typeface="맑은 고딕" pitchFamily="34" charset="-122"/>
                          <a:cs typeface="맑은 고딕" pitchFamily="34" charset="-120"/>
                        </a:rPr>
                        <a:t>⑥ 출력</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위 / 경 / 고도 + 안테나 극좌표</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정변환뿐 아니라 역변환도 필요</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02. 단계별 좌표계 선정</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19</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여섯 단계, 각 단계에서 왜 그 좌표계를 쓰는가</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1773936"/>
          <a:ext cx="10360152" cy="3255264"/>
        </p:xfrm>
        <a:graphic>
          <a:graphicData uri="http://schemas.openxmlformats.org/drawingml/2006/table">
            <a:tbl>
              <a:tblPr/>
              <a:tblGrid>
                <a:gridCol w="1005840"/>
                <a:gridCol w="2377440"/>
                <a:gridCol w="6976872"/>
              </a:tblGrid>
              <a:tr h="310896">
                <a:tc>
                  <a:txBody>
                    <a:bodyPr/>
                    <a:lstStyle/>
                    <a:p>
                      <a:pPr marL="0" indent="0">
                        <a:buNone/>
                      </a:pPr>
                      <a:r>
                        <a:rPr lang="en-US" sz="1100" b="1" dirty="0">
                          <a:solidFill>
                            <a:srgbClr val="FFFFFF"/>
                          </a:solidFill>
                          <a:latin typeface="맑은 고딕" pitchFamily="34" charset="0"/>
                          <a:ea typeface="맑은 고딕" pitchFamily="34" charset="-122"/>
                          <a:cs typeface="맑은 고딕" pitchFamily="34" charset="-120"/>
                        </a:rPr>
                        <a:t>단계</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E747C"/>
                    </a:solidFill>
                  </a:tcPr>
                </a:tc>
                <a:tc>
                  <a:txBody>
                    <a:bodyPr/>
                    <a:lstStyle/>
                    <a:p>
                      <a:pPr marL="0" indent="0">
                        <a:buNone/>
                      </a:pPr>
                      <a:r>
                        <a:rPr lang="en-US" sz="1100" b="1" dirty="0">
                          <a:solidFill>
                            <a:srgbClr val="FFFFFF"/>
                          </a:solidFill>
                          <a:latin typeface="맑은 고딕" pitchFamily="34" charset="0"/>
                          <a:ea typeface="맑은 고딕" pitchFamily="34" charset="-122"/>
                          <a:cs typeface="맑은 고딕" pitchFamily="34" charset="-120"/>
                        </a:rPr>
                        <a:t>좌표계</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E747C"/>
                    </a:solidFill>
                  </a:tcPr>
                </a:tc>
                <a:tc>
                  <a:txBody>
                    <a:bodyPr/>
                    <a:lstStyle/>
                    <a:p>
                      <a:pPr marL="0" indent="0">
                        <a:buNone/>
                      </a:pPr>
                      <a:r>
                        <a:rPr lang="en-US" sz="1100" b="1" dirty="0">
                          <a:solidFill>
                            <a:srgbClr val="FFFFFF"/>
                          </a:solidFill>
                          <a:latin typeface="맑은 고딕" pitchFamily="34" charset="0"/>
                          <a:ea typeface="맑은 고딕" pitchFamily="34" charset="-122"/>
                          <a:cs typeface="맑은 고딕" pitchFamily="34" charset="-120"/>
                        </a:rPr>
                        <a:t>왜 이것인가</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E747C"/>
                    </a:solidFill>
                  </a:tcPr>
                </a:tc>
              </a:tr>
              <a:tr h="457200">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0</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안테나 – 극좌표</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레이다가 물리적으로 잴 수 있는 것이 거리와 두 각도뿐이다</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r>
              <a:tr h="457200">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1</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안테나 – 직교좌표</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회전행렬은 벡터에만 곱할 수 있다.</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r>
              <a:tr h="457200">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2</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동체(Body)</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안테나 · INS · 무장이 만나는 유일한 공통 기준.</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r>
              <a:tr h="658368">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3</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로컬(NED)</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배와 함께 가되 흔들리지는 않아 표적의 실제 움직임만 남는다 → 여기서 추적</a:t>
                      </a:r>
                      <a:endParaRPr lang="en-US" sz="1100" dirty="0">
                        <a:latin typeface="맑은 고딕" charset="0"/>
                        <a:ea typeface="맑은 고딕" charset="0"/>
                        <a:cs typeface="맑은 고딕" charset="0"/>
                      </a:endParaRPr>
                    </a:p>
                    <a:p>
                      <a:pPr marL="0" indent="0">
                        <a:buNone/>
                      </a:pPr>
                      <a:r>
                        <a:rPr lang="en-US" sz="1100" dirty="0">
                          <a:solidFill>
                            <a:srgbClr val="1A1A1A"/>
                          </a:solidFill>
                          <a:latin typeface="맑은 고딕" pitchFamily="34" charset="0"/>
                          <a:ea typeface="맑은 고딕" pitchFamily="34" charset="-122"/>
                          <a:cs typeface="맑은 고딕" pitchFamily="34" charset="-120"/>
                        </a:rPr>
                        <a:t>NED 인 이유: 동체 FRD 와 축 의미가 같다</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r>
              <a:tr h="457200">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4</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ECEF</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배 위치를 더하려면 지구에 고정된 직교좌표가 필요 – 로컬과 위경도의 다리 역할</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EDED"/>
                    </a:solidFill>
                  </a:tcPr>
                </a:tc>
              </a:tr>
              <a:tr h="457200">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5</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LLA</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c>
                  <a:txBody>
                    <a:bodyPr/>
                    <a:lstStyle/>
                    <a:p>
                      <a:pPr marL="0" indent="0">
                        <a:buNone/>
                      </a:pPr>
                      <a:r>
                        <a:rPr lang="en-US" sz="1100" dirty="0">
                          <a:solidFill>
                            <a:srgbClr val="1A1A1A"/>
                          </a:solidFill>
                          <a:latin typeface="맑은 고딕" pitchFamily="34" charset="0"/>
                          <a:ea typeface="맑은 고딕" pitchFamily="34" charset="-122"/>
                          <a:cs typeface="맑은 고딕" pitchFamily="34" charset="-120"/>
                        </a:rPr>
                        <a:t>전시기 · 통제제어가 지도 위에 표시하는 형식</a:t>
                      </a:r>
                      <a:endParaRPr lang="en-US" sz="1100" dirty="0">
                        <a:latin typeface="맑은 고딕" charset="0"/>
                        <a:ea typeface="맑은 고딕" charset="0"/>
                        <a:cs typeface="맑은 고딕" charset="0"/>
                      </a:endParaRPr>
                    </a:p>
                  </a:txBody>
                  <a:tcPr marL="127000" marR="1270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2E2"/>
                    </a:solidFill>
                  </a:tcPr>
                </a:tc>
              </a:tr>
            </a:tbl>
          </a:graphicData>
        </a:graphic>
      </p:graphicFrame>
      <p:sp>
        <p:nvSpPr>
          <p:cNvPr id="11" name="Shape 8"/>
          <p:cNvSpPr/>
          <p:nvPr/>
        </p:nvSpPr>
        <p:spPr>
          <a:xfrm>
            <a:off x="914400" y="5212080"/>
            <a:ext cx="2487168" cy="676656"/>
          </a:xfrm>
          <a:prstGeom prst="roundRect">
            <a:avLst>
              <a:gd name="adj" fmla="val 6757"/>
            </a:avLst>
          </a:prstGeom>
          <a:solidFill>
            <a:srgbClr val="EEF1F7"/>
          </a:solidFill>
          <a:ln/>
        </p:spPr>
        <p:txBody>
          <a:bodyPr/>
          <a:p/>
        </p:txBody>
      </p:sp>
      <p:sp>
        <p:nvSpPr>
          <p:cNvPr id="12" name="Text 9"/>
          <p:cNvSpPr txBox="1"/>
          <p:nvPr/>
        </p:nvSpPr>
        <p:spPr>
          <a:xfrm>
            <a:off x="1115568" y="5285232"/>
            <a:ext cx="2084832" cy="548640"/>
          </a:xfrm>
          <a:prstGeom prst="rect">
            <a:avLst/>
          </a:prstGeom>
          <a:noFill/>
          <a:ln/>
        </p:spPr>
        <p:txBody>
          <a:bodyPr wrap="square" lIns="0" tIns="0" rIns="0" bIns="0" rtlCol="0" anchor="t"/>
          <a:lstStyle/>
          <a:p>
            <a:pPr marL="0" indent="0" algn="l">
              <a:lnSpc>
                <a:spcPct val="105000"/>
              </a:lnSpc>
              <a:spcAft>
                <a:spcPts val="500"/>
              </a:spcAft>
              <a:buNone/>
            </a:pPr>
            <a:r>
              <a:rPr lang="en-US" sz="1200" b="1" dirty="0">
                <a:solidFill>
                  <a:srgbClr val="1A2233"/>
                </a:solidFill>
                <a:latin typeface="맑은 고딕" pitchFamily="34" charset="0"/>
                <a:ea typeface="맑은 고딕" pitchFamily="34" charset="-122"/>
                <a:cs typeface="맑은 고딕" pitchFamily="34" charset="-120"/>
              </a:rPr>
              <a:t>INS</a:t>
            </a:r>
            <a:endParaRPr lang="en-US" sz="120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무게중심에 축을 맞춰 설치.</a:t>
            </a:r>
            <a:endParaRPr lang="en-US" sz="1200" dirty="0"/>
          </a:p>
        </p:txBody>
      </p:sp>
      <p:sp>
        <p:nvSpPr>
          <p:cNvPr id="13" name="Shape 10"/>
          <p:cNvSpPr/>
          <p:nvPr/>
        </p:nvSpPr>
        <p:spPr>
          <a:xfrm>
            <a:off x="3547872" y="5212080"/>
            <a:ext cx="2487168" cy="676656"/>
          </a:xfrm>
          <a:prstGeom prst="roundRect">
            <a:avLst>
              <a:gd name="adj" fmla="val 6757"/>
            </a:avLst>
          </a:prstGeom>
          <a:solidFill>
            <a:srgbClr val="EEF1F7"/>
          </a:solidFill>
          <a:ln/>
        </p:spPr>
        <p:txBody>
          <a:bodyPr/>
          <a:p/>
        </p:txBody>
      </p:sp>
      <p:sp>
        <p:nvSpPr>
          <p:cNvPr id="14" name="Text 11"/>
          <p:cNvSpPr txBox="1"/>
          <p:nvPr/>
        </p:nvSpPr>
        <p:spPr>
          <a:xfrm>
            <a:off x="3749040" y="5285232"/>
            <a:ext cx="2084832" cy="548640"/>
          </a:xfrm>
          <a:prstGeom prst="rect">
            <a:avLst/>
          </a:prstGeom>
          <a:noFill/>
          <a:ln/>
        </p:spPr>
        <p:txBody>
          <a:bodyPr wrap="square" lIns="0" tIns="0" rIns="0" bIns="0" rtlCol="0" anchor="t"/>
          <a:lstStyle/>
          <a:p>
            <a:pPr marL="0" indent="0" algn="l">
              <a:lnSpc>
                <a:spcPct val="105000"/>
              </a:lnSpc>
              <a:spcAft>
                <a:spcPts val="500"/>
              </a:spcAft>
              <a:buNone/>
            </a:pPr>
            <a:r>
              <a:rPr lang="en-US" sz="1200" b="1" dirty="0">
                <a:solidFill>
                  <a:srgbClr val="1A2233"/>
                </a:solidFill>
                <a:latin typeface="맑은 고딕" pitchFamily="34" charset="0"/>
                <a:ea typeface="맑은 고딕" pitchFamily="34" charset="-122"/>
                <a:cs typeface="맑은 고딕" pitchFamily="34" charset="-120"/>
              </a:rPr>
              <a:t>UV</a:t>
            </a:r>
            <a:endParaRPr lang="en-US" sz="120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방향만 있고 거리가 없다.</a:t>
            </a:r>
            <a:endParaRPr lang="en-US" sz="1200" dirty="0"/>
          </a:p>
        </p:txBody>
      </p:sp>
      <p:sp>
        <p:nvSpPr>
          <p:cNvPr id="15" name="Shape 12"/>
          <p:cNvSpPr/>
          <p:nvPr/>
        </p:nvSpPr>
        <p:spPr>
          <a:xfrm>
            <a:off x="6181344" y="5212080"/>
            <a:ext cx="2487168" cy="676656"/>
          </a:xfrm>
          <a:prstGeom prst="roundRect">
            <a:avLst>
              <a:gd name="adj" fmla="val 6757"/>
            </a:avLst>
          </a:prstGeom>
          <a:solidFill>
            <a:srgbClr val="EEF1F7"/>
          </a:solidFill>
          <a:ln/>
        </p:spPr>
        <p:txBody>
          <a:bodyPr/>
          <a:p/>
        </p:txBody>
      </p:sp>
      <p:sp>
        <p:nvSpPr>
          <p:cNvPr id="16" name="Text 13"/>
          <p:cNvSpPr txBox="1"/>
          <p:nvPr/>
        </p:nvSpPr>
        <p:spPr>
          <a:xfrm>
            <a:off x="6382512" y="5285232"/>
            <a:ext cx="2084832" cy="548640"/>
          </a:xfrm>
          <a:prstGeom prst="rect">
            <a:avLst/>
          </a:prstGeom>
          <a:noFill/>
          <a:ln/>
        </p:spPr>
        <p:txBody>
          <a:bodyPr wrap="square" lIns="0" tIns="0" rIns="0" bIns="0" rtlCol="0" anchor="t"/>
          <a:lstStyle/>
          <a:p>
            <a:pPr marL="0" indent="0" algn="l">
              <a:lnSpc>
                <a:spcPct val="105000"/>
              </a:lnSpc>
              <a:spcAft>
                <a:spcPts val="500"/>
              </a:spcAft>
              <a:buNone/>
            </a:pPr>
            <a:r>
              <a:rPr lang="en-US" sz="1200" b="1" dirty="0">
                <a:solidFill>
                  <a:srgbClr val="1A2233"/>
                </a:solidFill>
                <a:latin typeface="맑은 고딕" pitchFamily="34" charset="0"/>
                <a:ea typeface="맑은 고딕" pitchFamily="34" charset="-122"/>
                <a:cs typeface="맑은 고딕" pitchFamily="34" charset="-120"/>
              </a:rPr>
              <a:t>ECI</a:t>
            </a:r>
            <a:endParaRPr lang="en-US" sz="1200" dirty="0"/>
          </a:p>
          <a:p>
            <a:pPr marL="0" indent="0" algn="l">
              <a:lnSpc>
                <a:spcPct val="105000"/>
              </a:lnSpc>
              <a:spcAft>
                <a:spcPts val="100"/>
              </a:spcAft>
              <a:buNone/>
            </a:pPr>
            <a:r>
              <a:rPr lang="en-US" sz="900" dirty="0">
                <a:solidFill>
                  <a:srgbClr val="5A6478"/>
                </a:solidFill>
                <a:latin typeface="맑은 고딕" pitchFamily="34" charset="0"/>
                <a:ea typeface="맑은 고딕" pitchFamily="34" charset="-122"/>
                <a:cs typeface="맑은 고딕" pitchFamily="34" charset="-120"/>
              </a:rPr>
              <a:t>관성 동역학 전파가 필요할 때만</a:t>
            </a:r>
            <a:endParaRPr lang="en-US" sz="120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(위성 · 탄도탄)</a:t>
            </a:r>
            <a:endParaRPr lang="en-US" sz="1200" dirty="0"/>
          </a:p>
        </p:txBody>
      </p:sp>
      <p:sp>
        <p:nvSpPr>
          <p:cNvPr id="17" name="Shape 14"/>
          <p:cNvSpPr/>
          <p:nvPr/>
        </p:nvSpPr>
        <p:spPr>
          <a:xfrm>
            <a:off x="8814816" y="5212080"/>
            <a:ext cx="2487168" cy="676656"/>
          </a:xfrm>
          <a:prstGeom prst="roundRect">
            <a:avLst>
              <a:gd name="adj" fmla="val 6757"/>
            </a:avLst>
          </a:prstGeom>
          <a:solidFill>
            <a:srgbClr val="EEF1F7"/>
          </a:solidFill>
          <a:ln/>
        </p:spPr>
        <p:txBody>
          <a:bodyPr/>
          <a:p/>
        </p:txBody>
      </p:sp>
      <p:sp>
        <p:nvSpPr>
          <p:cNvPr id="18" name="Text 15"/>
          <p:cNvSpPr txBox="1"/>
          <p:nvPr/>
        </p:nvSpPr>
        <p:spPr>
          <a:xfrm>
            <a:off x="9015984" y="5285232"/>
            <a:ext cx="2084832" cy="548640"/>
          </a:xfrm>
          <a:prstGeom prst="rect">
            <a:avLst/>
          </a:prstGeom>
          <a:noFill/>
          <a:ln/>
        </p:spPr>
        <p:txBody>
          <a:bodyPr wrap="square" lIns="0" tIns="0" rIns="0" bIns="0" rtlCol="0" anchor="t"/>
          <a:lstStyle/>
          <a:p>
            <a:pPr marL="0" indent="0" algn="l">
              <a:lnSpc>
                <a:spcPct val="105000"/>
              </a:lnSpc>
              <a:spcAft>
                <a:spcPts val="500"/>
              </a:spcAft>
              <a:buNone/>
            </a:pPr>
            <a:r>
              <a:rPr lang="en-US" sz="1200" b="1" dirty="0">
                <a:solidFill>
                  <a:srgbClr val="1A2233"/>
                </a:solidFill>
                <a:latin typeface="맑은 고딕" pitchFamily="34" charset="0"/>
                <a:ea typeface="맑은 고딕" pitchFamily="34" charset="-122"/>
                <a:cs typeface="맑은 고딕" pitchFamily="34" charset="-120"/>
              </a:rPr>
              <a:t>ENU</a:t>
            </a:r>
            <a:endParaRPr lang="en-US" sz="1200" dirty="0"/>
          </a:p>
          <a:p>
            <a:pPr marL="0" indent="0" algn="l">
              <a:lnSpc>
                <a:spcPct val="105000"/>
              </a:lnSpc>
              <a:spcAft>
                <a:spcPts val="100"/>
              </a:spcAft>
              <a:buNone/>
            </a:pPr>
            <a:r>
              <a:rPr lang="en-US" sz="900" dirty="0">
                <a:solidFill>
                  <a:srgbClr val="5A6478"/>
                </a:solidFill>
                <a:latin typeface="맑은 고딕" pitchFamily="34" charset="0"/>
                <a:ea typeface="맑은 고딕" pitchFamily="34" charset="-122"/>
                <a:cs typeface="맑은 고딕" pitchFamily="34" charset="-120"/>
              </a:rPr>
              <a:t>NED 와 정보량이 같다</a:t>
            </a:r>
            <a:endParaRPr lang="en-US" sz="1200" dirty="0"/>
          </a:p>
          <a:p>
            <a:pPr marL="0" indent="0" algn="l">
              <a:lnSpc>
                <a:spcPct val="105000"/>
              </a:lnSpc>
              <a:buNone/>
            </a:pPr>
            <a:r>
              <a:rPr lang="en-US" sz="900" dirty="0">
                <a:solidFill>
                  <a:srgbClr val="5A6478"/>
                </a:solidFill>
                <a:latin typeface="맑은 고딕" pitchFamily="34" charset="0"/>
                <a:ea typeface="맑은 고딕" pitchFamily="34" charset="-122"/>
                <a:cs typeface="맑은 고딕" pitchFamily="34" charset="-120"/>
              </a:rPr>
              <a:t>- 동체 FRD 와 축 의미가 다름</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02. 단계별 변환    안테나 → 동체 → 로컬</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20</a:t>
            </a:r>
            <a:endParaRPr lang="en-US" sz="900" dirty="0"/>
          </a:p>
        </p:txBody>
      </p:sp>
      <p:sp>
        <p:nvSpPr>
          <p:cNvPr id="8" name="Shape 6"/>
          <p:cNvSpPr/>
          <p:nvPr/>
        </p:nvSpPr>
        <p:spPr>
          <a:xfrm>
            <a:off x="914400" y="1316736"/>
            <a:ext cx="2212848" cy="1298448"/>
          </a:xfrm>
          <a:prstGeom prst="rect">
            <a:avLst/>
          </a:prstGeom>
          <a:solidFill>
            <a:srgbClr val="13233F"/>
          </a:solidFill>
          <a:ln/>
        </p:spPr>
        <p:txBody>
          <a:bodyPr/>
          <a:p/>
        </p:txBody>
      </p:sp>
      <p:sp>
        <p:nvSpPr>
          <p:cNvPr id="9" name="Text 7"/>
          <p:cNvSpPr txBox="1"/>
          <p:nvPr/>
        </p:nvSpPr>
        <p:spPr>
          <a:xfrm>
            <a:off x="1060704" y="1463040"/>
            <a:ext cx="1920240" cy="1024128"/>
          </a:xfrm>
          <a:prstGeom prst="rect">
            <a:avLst/>
          </a:prstGeom>
          <a:noFill/>
          <a:ln/>
        </p:spPr>
        <p:txBody>
          <a:bodyPr wrap="square" lIns="0" tIns="0" rIns="0" bIns="0" rtlCol="0" anchor="t"/>
          <a:lstStyle/>
          <a:p>
            <a:pPr marL="0" indent="0" algn="ctr">
              <a:lnSpc>
                <a:spcPct val="105000"/>
              </a:lnSpc>
              <a:spcAft>
                <a:spcPts val="400"/>
              </a:spcAft>
              <a:buNone/>
            </a:pPr>
            <a:r>
              <a:rPr lang="en-US" sz="1400" b="1" dirty="0">
                <a:solidFill>
                  <a:srgbClr val="FFFFFF"/>
                </a:solidFill>
                <a:latin typeface="맑은 고딕" pitchFamily="34" charset="0"/>
                <a:ea typeface="맑은 고딕" pitchFamily="34" charset="-122"/>
                <a:cs typeface="맑은 고딕" pitchFamily="34" charset="-120"/>
              </a:rPr>
              <a:t>① 안테나 극좌표</a:t>
            </a:r>
            <a:endParaRPr lang="en-US" sz="1400" dirty="0"/>
          </a:p>
          <a:p>
            <a:pPr marL="0" indent="0" algn="ctr">
              <a:lnSpc>
                <a:spcPct val="105000"/>
              </a:lnSpc>
              <a:spcAft>
                <a:spcPts val="1200"/>
              </a:spcAft>
              <a:buNone/>
            </a:pPr>
            <a:r>
              <a:rPr lang="en-US" sz="1400" b="1" dirty="0">
                <a:solidFill>
                  <a:srgbClr val="FFFFFF"/>
                </a:solidFill>
                <a:latin typeface="맑은 고딕" pitchFamily="34" charset="0"/>
                <a:ea typeface="맑은 고딕" pitchFamily="34" charset="-122"/>
                <a:cs typeface="맑은 고딕" pitchFamily="34" charset="-120"/>
              </a:rPr>
              <a:t>→ 직교 좌표</a:t>
            </a:r>
            <a:endParaRPr lang="en-US" sz="1400" dirty="0"/>
          </a:p>
          <a:p>
            <a:pPr marL="0" indent="0" algn="ctr">
              <a:lnSpc>
                <a:spcPct val="105000"/>
              </a:lnSpc>
              <a:buNone/>
            </a:pPr>
            <a:r>
              <a:rPr lang="en-US" sz="800" dirty="0">
                <a:solidFill>
                  <a:srgbClr val="C9D6EC"/>
                </a:solidFill>
                <a:latin typeface="맑은 고딕" pitchFamily="34" charset="0"/>
                <a:ea typeface="맑은 고딕" pitchFamily="34" charset="-122"/>
                <a:cs typeface="맑은 고딕" pitchFamily="34" charset="-120"/>
              </a:rPr>
              <a:t>표현 변경 (회전 · 이동 없음)</a:t>
            </a:r>
            <a:endParaRPr lang="en-US" sz="1400" dirty="0"/>
          </a:p>
        </p:txBody>
      </p:sp>
      <p:sp>
        <p:nvSpPr>
          <p:cNvPr id="10" name="Shape 8"/>
          <p:cNvSpPr/>
          <p:nvPr/>
        </p:nvSpPr>
        <p:spPr>
          <a:xfrm>
            <a:off x="3291840" y="1316736"/>
            <a:ext cx="7982712" cy="1298448"/>
          </a:xfrm>
          <a:prstGeom prst="roundRect">
            <a:avLst>
              <a:gd name="adj" fmla="val 3521"/>
            </a:avLst>
          </a:prstGeom>
          <a:solidFill>
            <a:srgbClr val="EEF1F7"/>
          </a:solidFill>
          <a:ln/>
        </p:spPr>
        <p:txBody>
          <a:bodyPr/>
          <a:p/>
        </p:txBody>
      </p:sp>
      <p:sp>
        <p:nvSpPr>
          <p:cNvPr id="11" name="Text 9"/>
          <p:cNvSpPr txBox="1"/>
          <p:nvPr/>
        </p:nvSpPr>
        <p:spPr>
          <a:xfrm>
            <a:off x="3547872" y="1444752"/>
            <a:ext cx="7498080" cy="1060704"/>
          </a:xfrm>
          <a:prstGeom prst="rect">
            <a:avLst/>
          </a:prstGeom>
          <a:noFill/>
          <a:ln/>
        </p:spPr>
        <p:txBody>
          <a:bodyPr wrap="square" lIns="0" tIns="0" rIns="0" bIns="0" rtlCol="0" anchor="t"/>
          <a:lstStyle/>
          <a:p>
            <a:pPr marL="0" indent="0" algn="l">
              <a:lnSpc>
                <a:spcPct val="105000"/>
              </a:lnSpc>
              <a:spcAft>
                <a:spcPts val="800"/>
              </a:spcAft>
              <a:buNone/>
            </a:pPr>
            <a:r>
              <a:rPr lang="en-US" sz="1200" dirty="0">
                <a:solidFill>
                  <a:srgbClr val="1A2233"/>
                </a:solidFill>
                <a:latin typeface="맑은 고딕" pitchFamily="34" charset="0"/>
                <a:ea typeface="맑은 고딕" pitchFamily="34" charset="-122"/>
                <a:cs typeface="맑은 고딕" pitchFamily="34" charset="-120"/>
              </a:rPr>
              <a:t>x = R cos El sin Az = 20,000 × cos 0° × sin 30° = +10,000.00 m</a:t>
            </a:r>
            <a:endParaRPr lang="en-US" sz="1200" dirty="0"/>
          </a:p>
          <a:p>
            <a:pPr marL="0" indent="0" algn="l">
              <a:lnSpc>
                <a:spcPct val="105000"/>
              </a:lnSpc>
              <a:spcAft>
                <a:spcPts val="800"/>
              </a:spcAft>
              <a:buNone/>
            </a:pPr>
            <a:r>
              <a:rPr lang="en-US" sz="1200" dirty="0">
                <a:solidFill>
                  <a:srgbClr val="1A2233"/>
                </a:solidFill>
                <a:latin typeface="맑은 고딕" pitchFamily="34" charset="0"/>
                <a:ea typeface="맑은 고딕" pitchFamily="34" charset="-122"/>
                <a:cs typeface="맑은 고딕" pitchFamily="34" charset="-120"/>
              </a:rPr>
              <a:t>y = R sin El = 20,000 × sin 0° = 0.00 m</a:t>
            </a:r>
            <a:endParaRPr lang="en-US" sz="1200" dirty="0"/>
          </a:p>
          <a:p>
            <a:pPr marL="0" indent="0" algn="l">
              <a:lnSpc>
                <a:spcPct val="105000"/>
              </a:lnSpc>
              <a:spcAft>
                <a:spcPts val="800"/>
              </a:spcAft>
              <a:buNone/>
            </a:pPr>
            <a:r>
              <a:rPr lang="en-US" sz="1200" dirty="0">
                <a:solidFill>
                  <a:srgbClr val="1A2233"/>
                </a:solidFill>
                <a:latin typeface="맑은 고딕" pitchFamily="34" charset="0"/>
                <a:ea typeface="맑은 고딕" pitchFamily="34" charset="-122"/>
                <a:cs typeface="맑은 고딕" pitchFamily="34" charset="-120"/>
              </a:rPr>
              <a:t>z = R cos El cos Az = 20,000 × cos 0° × cos 30° = +17,320.51 m</a:t>
            </a:r>
            <a:endParaRPr lang="en-US" sz="1200" dirty="0"/>
          </a:p>
          <a:p>
            <a:pPr marL="0" indent="0" algn="l">
              <a:lnSpc>
                <a:spcPct val="105000"/>
              </a:lnSpc>
              <a:buNone/>
            </a:pPr>
            <a:r>
              <a:rPr lang="en-US" sz="1100" dirty="0">
                <a:solidFill>
                  <a:srgbClr val="1A2233"/>
                </a:solidFill>
                <a:latin typeface="맑은 고딕" pitchFamily="34" charset="0"/>
                <a:ea typeface="맑은 고딕" pitchFamily="34" charset="-122"/>
                <a:cs typeface="맑은 고딕" pitchFamily="34" charset="-120"/>
              </a:rPr>
              <a:t>→ p 안테나 = ( +10,000.00, 0.00, +17,320.51 ) m</a:t>
            </a:r>
            <a:endParaRPr lang="en-US" sz="1200" dirty="0"/>
          </a:p>
        </p:txBody>
      </p:sp>
      <p:sp>
        <p:nvSpPr>
          <p:cNvPr id="12" name="Shape 10"/>
          <p:cNvSpPr/>
          <p:nvPr/>
        </p:nvSpPr>
        <p:spPr>
          <a:xfrm>
            <a:off x="914400" y="2779776"/>
            <a:ext cx="2212848" cy="1463040"/>
          </a:xfrm>
          <a:prstGeom prst="rect">
            <a:avLst/>
          </a:prstGeom>
          <a:solidFill>
            <a:srgbClr val="13233F"/>
          </a:solidFill>
          <a:ln/>
        </p:spPr>
        <p:txBody>
          <a:bodyPr/>
          <a:p/>
        </p:txBody>
      </p:sp>
      <p:sp>
        <p:nvSpPr>
          <p:cNvPr id="13" name="Text 11"/>
          <p:cNvSpPr txBox="1"/>
          <p:nvPr/>
        </p:nvSpPr>
        <p:spPr>
          <a:xfrm>
            <a:off x="1060704" y="2926080"/>
            <a:ext cx="1920240" cy="1188720"/>
          </a:xfrm>
          <a:prstGeom prst="rect">
            <a:avLst/>
          </a:prstGeom>
          <a:noFill/>
          <a:ln/>
        </p:spPr>
        <p:txBody>
          <a:bodyPr wrap="square" lIns="0" tIns="0" rIns="0" bIns="0" rtlCol="0" anchor="t"/>
          <a:lstStyle/>
          <a:p>
            <a:pPr marL="0" indent="0" algn="ctr">
              <a:lnSpc>
                <a:spcPct val="105000"/>
              </a:lnSpc>
              <a:spcAft>
                <a:spcPts val="1400"/>
              </a:spcAft>
              <a:buNone/>
            </a:pPr>
            <a:r>
              <a:rPr lang="en-US" sz="1400" b="1" dirty="0">
                <a:solidFill>
                  <a:srgbClr val="FFFFFF"/>
                </a:solidFill>
                <a:latin typeface="맑은 고딕" pitchFamily="34" charset="0"/>
                <a:ea typeface="맑은 고딕" pitchFamily="34" charset="-122"/>
                <a:cs typeface="맑은 고딕" pitchFamily="34" charset="-120"/>
              </a:rPr>
              <a:t>② 안테나 → 동체</a:t>
            </a:r>
            <a:endParaRPr lang="en-US" sz="1400" dirty="0"/>
          </a:p>
          <a:p>
            <a:pPr marL="0" indent="0" algn="ctr">
              <a:lnSpc>
                <a:spcPct val="105000"/>
              </a:lnSpc>
              <a:buNone/>
            </a:pPr>
            <a:r>
              <a:rPr lang="en-US" sz="800" dirty="0">
                <a:solidFill>
                  <a:srgbClr val="C9D6EC"/>
                </a:solidFill>
                <a:latin typeface="맑은 고딕" pitchFamily="34" charset="0"/>
                <a:ea typeface="맑은 고딕" pitchFamily="34" charset="-122"/>
                <a:cs typeface="맑은 고딕" pitchFamily="34" charset="-120"/>
              </a:rPr>
              <a:t>회전 + 평행이동</a:t>
            </a:r>
            <a:endParaRPr lang="en-US" sz="1400" dirty="0"/>
          </a:p>
        </p:txBody>
      </p:sp>
      <p:sp>
        <p:nvSpPr>
          <p:cNvPr id="14" name="Shape 12"/>
          <p:cNvSpPr/>
          <p:nvPr/>
        </p:nvSpPr>
        <p:spPr>
          <a:xfrm>
            <a:off x="3291840" y="2779776"/>
            <a:ext cx="7982712" cy="1463040"/>
          </a:xfrm>
          <a:prstGeom prst="roundRect">
            <a:avLst>
              <a:gd name="adj" fmla="val 3125"/>
            </a:avLst>
          </a:prstGeom>
          <a:solidFill>
            <a:srgbClr val="EEF1F7"/>
          </a:solidFill>
          <a:ln/>
        </p:spPr>
        <p:txBody>
          <a:bodyPr/>
          <a:p/>
        </p:txBody>
      </p:sp>
      <p:sp>
        <p:nvSpPr>
          <p:cNvPr id="15" name="Text 13"/>
          <p:cNvSpPr txBox="1"/>
          <p:nvPr/>
        </p:nvSpPr>
        <p:spPr>
          <a:xfrm>
            <a:off x="3547872" y="2926080"/>
            <a:ext cx="749808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p 동체 = Rz(90°)·Ry(0°)·A·p 안테나 + 레버암     ( A = Rz(−90°)·Rx(−90°) 축 맞춤,   아래 3×3 = Rz(90°)·Ry(0°)·A )</a:t>
            </a:r>
            <a:endParaRPr lang="en-US" sz="1100" dirty="0"/>
          </a:p>
        </p:txBody>
      </p:sp>
      <p:sp>
        <p:nvSpPr>
          <p:cNvPr id="16" name="Text 14"/>
          <p:cNvSpPr txBox="1"/>
          <p:nvPr/>
        </p:nvSpPr>
        <p:spPr>
          <a:xfrm>
            <a:off x="3566160" y="3218688"/>
            <a:ext cx="1097280"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   0   0 ]</a:t>
            </a:r>
            <a:endParaRPr lang="en-US" sz="850" dirty="0"/>
          </a:p>
        </p:txBody>
      </p:sp>
      <p:sp>
        <p:nvSpPr>
          <p:cNvPr id="17" name="Text 15"/>
          <p:cNvSpPr txBox="1"/>
          <p:nvPr/>
        </p:nvSpPr>
        <p:spPr>
          <a:xfrm>
            <a:off x="4828032" y="3218688"/>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+10,000.00 ]</a:t>
            </a:r>
            <a:endParaRPr lang="en-US" sz="850" dirty="0"/>
          </a:p>
        </p:txBody>
      </p:sp>
      <p:sp>
        <p:nvSpPr>
          <p:cNvPr id="18" name="Text 16"/>
          <p:cNvSpPr txBox="1"/>
          <p:nvPr/>
        </p:nvSpPr>
        <p:spPr>
          <a:xfrm>
            <a:off x="6272784" y="3218688"/>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+10,000.00 ]</a:t>
            </a:r>
            <a:endParaRPr lang="en-US" sz="850" dirty="0"/>
          </a:p>
        </p:txBody>
      </p:sp>
      <p:sp>
        <p:nvSpPr>
          <p:cNvPr id="19" name="Text 17"/>
          <p:cNvSpPr txBox="1"/>
          <p:nvPr/>
        </p:nvSpPr>
        <p:spPr>
          <a:xfrm>
            <a:off x="7717536" y="3218688"/>
            <a:ext cx="786384"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−30 ]</a:t>
            </a:r>
            <a:endParaRPr lang="en-US" sz="850" dirty="0"/>
          </a:p>
        </p:txBody>
      </p:sp>
      <p:sp>
        <p:nvSpPr>
          <p:cNvPr id="20" name="Text 18"/>
          <p:cNvSpPr txBox="1"/>
          <p:nvPr/>
        </p:nvSpPr>
        <p:spPr>
          <a:xfrm>
            <a:off x="8631936" y="3218688"/>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+9,970.00 ]</a:t>
            </a:r>
            <a:endParaRPr lang="en-US" sz="850" dirty="0"/>
          </a:p>
        </p:txBody>
      </p:sp>
      <p:sp>
        <p:nvSpPr>
          <p:cNvPr id="21" name="Text 19"/>
          <p:cNvSpPr txBox="1"/>
          <p:nvPr/>
        </p:nvSpPr>
        <p:spPr>
          <a:xfrm>
            <a:off x="3566160" y="3419856"/>
            <a:ext cx="1097280"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0   0   1 ]</a:t>
            </a:r>
            <a:endParaRPr lang="en-US" sz="850" dirty="0"/>
          </a:p>
        </p:txBody>
      </p:sp>
      <p:sp>
        <p:nvSpPr>
          <p:cNvPr id="22" name="Text 20"/>
          <p:cNvSpPr txBox="1"/>
          <p:nvPr/>
        </p:nvSpPr>
        <p:spPr>
          <a:xfrm>
            <a:off x="4828032" y="3419856"/>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0.00 ]</a:t>
            </a:r>
            <a:endParaRPr lang="en-US" sz="850" dirty="0"/>
          </a:p>
        </p:txBody>
      </p:sp>
      <p:sp>
        <p:nvSpPr>
          <p:cNvPr id="23" name="Text 21"/>
          <p:cNvSpPr txBox="1"/>
          <p:nvPr/>
        </p:nvSpPr>
        <p:spPr>
          <a:xfrm>
            <a:off x="6272784" y="3419856"/>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+17,320.51 ]</a:t>
            </a:r>
            <a:endParaRPr lang="en-US" sz="850" dirty="0"/>
          </a:p>
        </p:txBody>
      </p:sp>
      <p:sp>
        <p:nvSpPr>
          <p:cNvPr id="24" name="Text 22"/>
          <p:cNvSpPr txBox="1"/>
          <p:nvPr/>
        </p:nvSpPr>
        <p:spPr>
          <a:xfrm>
            <a:off x="7717536" y="3419856"/>
            <a:ext cx="786384"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0 ]</a:t>
            </a:r>
            <a:endParaRPr lang="en-US" sz="850" dirty="0"/>
          </a:p>
        </p:txBody>
      </p:sp>
      <p:sp>
        <p:nvSpPr>
          <p:cNvPr id="25" name="Text 23"/>
          <p:cNvSpPr txBox="1"/>
          <p:nvPr/>
        </p:nvSpPr>
        <p:spPr>
          <a:xfrm>
            <a:off x="8631936" y="3419856"/>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+17,320.51 ]</a:t>
            </a:r>
            <a:endParaRPr lang="en-US" sz="850" dirty="0"/>
          </a:p>
        </p:txBody>
      </p:sp>
      <p:sp>
        <p:nvSpPr>
          <p:cNvPr id="26" name="Text 24"/>
          <p:cNvSpPr txBox="1"/>
          <p:nvPr/>
        </p:nvSpPr>
        <p:spPr>
          <a:xfrm>
            <a:off x="3566160" y="3621024"/>
            <a:ext cx="1097280"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0  −1   0 ]</a:t>
            </a:r>
            <a:endParaRPr lang="en-US" sz="850" dirty="0"/>
          </a:p>
        </p:txBody>
      </p:sp>
      <p:sp>
        <p:nvSpPr>
          <p:cNvPr id="27" name="Text 25"/>
          <p:cNvSpPr txBox="1"/>
          <p:nvPr/>
        </p:nvSpPr>
        <p:spPr>
          <a:xfrm>
            <a:off x="4828032" y="3621024"/>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+17,320.51 ]</a:t>
            </a:r>
            <a:endParaRPr lang="en-US" sz="850" dirty="0"/>
          </a:p>
        </p:txBody>
      </p:sp>
      <p:sp>
        <p:nvSpPr>
          <p:cNvPr id="28" name="Text 26"/>
          <p:cNvSpPr txBox="1"/>
          <p:nvPr/>
        </p:nvSpPr>
        <p:spPr>
          <a:xfrm>
            <a:off x="6272784" y="3621024"/>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0.00 ]</a:t>
            </a:r>
            <a:endParaRPr lang="en-US" sz="850" dirty="0"/>
          </a:p>
        </p:txBody>
      </p:sp>
      <p:sp>
        <p:nvSpPr>
          <p:cNvPr id="29" name="Text 27"/>
          <p:cNvSpPr txBox="1"/>
          <p:nvPr/>
        </p:nvSpPr>
        <p:spPr>
          <a:xfrm>
            <a:off x="7717536" y="3621024"/>
            <a:ext cx="786384"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−10 ]</a:t>
            </a:r>
            <a:endParaRPr lang="en-US" sz="850" dirty="0"/>
          </a:p>
        </p:txBody>
      </p:sp>
      <p:sp>
        <p:nvSpPr>
          <p:cNvPr id="30" name="Text 28"/>
          <p:cNvSpPr txBox="1"/>
          <p:nvPr/>
        </p:nvSpPr>
        <p:spPr>
          <a:xfrm>
            <a:off x="8631936" y="3621024"/>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−10.00 ]</a:t>
            </a:r>
            <a:endParaRPr lang="en-US" sz="850" dirty="0"/>
          </a:p>
        </p:txBody>
      </p:sp>
      <p:sp>
        <p:nvSpPr>
          <p:cNvPr id="31" name="Text 29"/>
          <p:cNvSpPr txBox="1"/>
          <p:nvPr/>
        </p:nvSpPr>
        <p:spPr>
          <a:xfrm>
            <a:off x="4672584" y="3419856"/>
            <a:ext cx="128016" cy="201168"/>
          </a:xfrm>
          <a:prstGeom prst="rect">
            <a:avLst/>
          </a:prstGeom>
          <a:noFill/>
          <a:ln/>
        </p:spPr>
        <p:txBody>
          <a:bodyPr wrap="square" lIns="0" tIns="0" rIns="0" bIns="0" rtlCol="0" anchor="ctr"/>
          <a:lstStyle/>
          <a:p>
            <a:pPr marL="0" indent="0" algn="ctr">
              <a:buNone/>
            </a:pPr>
            <a:r>
              <a:rPr lang="en-US" sz="1100" dirty="0">
                <a:solidFill>
                  <a:srgbClr val="1A2233"/>
                </a:solidFill>
                <a:latin typeface="Arial" pitchFamily="34" charset="0"/>
                <a:ea typeface="Arial" pitchFamily="34" charset="-122"/>
                <a:cs typeface="Arial" pitchFamily="34" charset="-120"/>
              </a:rPr>
              <a:t>·</a:t>
            </a:r>
            <a:endParaRPr lang="en-US" sz="1100" dirty="0"/>
          </a:p>
        </p:txBody>
      </p:sp>
      <p:sp>
        <p:nvSpPr>
          <p:cNvPr id="32" name="Text 30"/>
          <p:cNvSpPr txBox="1"/>
          <p:nvPr/>
        </p:nvSpPr>
        <p:spPr>
          <a:xfrm>
            <a:off x="6135624" y="3419856"/>
            <a:ext cx="128016" cy="201168"/>
          </a:xfrm>
          <a:prstGeom prst="rect">
            <a:avLst/>
          </a:prstGeom>
          <a:noFill/>
          <a:ln/>
        </p:spPr>
        <p:txBody>
          <a:bodyPr wrap="square" lIns="0" tIns="0" rIns="0" bIns="0" rtlCol="0" anchor="ctr"/>
          <a:lstStyle/>
          <a:p>
            <a:pPr marL="0" indent="0" algn="ctr">
              <a:buNone/>
            </a:pPr>
            <a:r>
              <a:rPr lang="en-US" sz="1100" dirty="0">
                <a:solidFill>
                  <a:srgbClr val="1A2233"/>
                </a:solidFill>
                <a:latin typeface="Arial" pitchFamily="34" charset="0"/>
                <a:ea typeface="Arial" pitchFamily="34" charset="-122"/>
                <a:cs typeface="Arial" pitchFamily="34" charset="-120"/>
              </a:rPr>
              <a:t>=</a:t>
            </a:r>
            <a:endParaRPr lang="en-US" sz="1100" dirty="0"/>
          </a:p>
        </p:txBody>
      </p:sp>
      <p:sp>
        <p:nvSpPr>
          <p:cNvPr id="33" name="Text 31"/>
          <p:cNvSpPr txBox="1"/>
          <p:nvPr/>
        </p:nvSpPr>
        <p:spPr>
          <a:xfrm>
            <a:off x="7580376" y="3419856"/>
            <a:ext cx="128016" cy="201168"/>
          </a:xfrm>
          <a:prstGeom prst="rect">
            <a:avLst/>
          </a:prstGeom>
          <a:noFill/>
          <a:ln/>
        </p:spPr>
        <p:txBody>
          <a:bodyPr wrap="square" lIns="0" tIns="0" rIns="0" bIns="0" rtlCol="0" anchor="ctr"/>
          <a:lstStyle/>
          <a:p>
            <a:pPr marL="0" indent="0" algn="ctr">
              <a:buNone/>
            </a:pPr>
            <a:r>
              <a:rPr lang="en-US" sz="1100" dirty="0">
                <a:solidFill>
                  <a:srgbClr val="1A2233"/>
                </a:solidFill>
                <a:latin typeface="Arial" pitchFamily="34" charset="0"/>
                <a:ea typeface="Arial" pitchFamily="34" charset="-122"/>
                <a:cs typeface="Arial" pitchFamily="34" charset="-120"/>
              </a:rPr>
              <a:t>+</a:t>
            </a:r>
            <a:endParaRPr lang="en-US" sz="1100" dirty="0"/>
          </a:p>
        </p:txBody>
      </p:sp>
      <p:sp>
        <p:nvSpPr>
          <p:cNvPr id="34" name="Text 32"/>
          <p:cNvSpPr txBox="1"/>
          <p:nvPr/>
        </p:nvSpPr>
        <p:spPr>
          <a:xfrm>
            <a:off x="8513064" y="3419856"/>
            <a:ext cx="128016" cy="201168"/>
          </a:xfrm>
          <a:prstGeom prst="rect">
            <a:avLst/>
          </a:prstGeom>
          <a:noFill/>
          <a:ln/>
        </p:spPr>
        <p:txBody>
          <a:bodyPr wrap="square" lIns="0" tIns="0" rIns="0" bIns="0" rtlCol="0" anchor="ctr"/>
          <a:lstStyle/>
          <a:p>
            <a:pPr marL="0" indent="0" algn="ctr">
              <a:buNone/>
            </a:pPr>
            <a:r>
              <a:rPr lang="en-US" sz="1100" dirty="0">
                <a:solidFill>
                  <a:srgbClr val="1A2233"/>
                </a:solidFill>
                <a:latin typeface="Arial" pitchFamily="34" charset="0"/>
                <a:ea typeface="Arial" pitchFamily="34" charset="-122"/>
                <a:cs typeface="Arial" pitchFamily="34" charset="-120"/>
              </a:rPr>
              <a:t>=</a:t>
            </a:r>
            <a:endParaRPr lang="en-US" sz="1100" dirty="0"/>
          </a:p>
        </p:txBody>
      </p:sp>
      <p:sp>
        <p:nvSpPr>
          <p:cNvPr id="35" name="Text 33"/>
          <p:cNvSpPr txBox="1"/>
          <p:nvPr/>
        </p:nvSpPr>
        <p:spPr>
          <a:xfrm>
            <a:off x="3547872" y="3986784"/>
            <a:ext cx="5486400" cy="201168"/>
          </a:xfrm>
          <a:prstGeom prst="rect">
            <a:avLst/>
          </a:prstGeom>
          <a:noFill/>
          <a:ln/>
        </p:spPr>
        <p:txBody>
          <a:bodyPr wrap="square" lIns="0" tIns="0" rIns="0" bIns="0" rtlCol="0" anchor="ctr"/>
          <a:lstStyle/>
          <a:p>
            <a:pPr marL="0" indent="0" algn="l">
              <a:buNone/>
            </a:pPr>
            <a:r>
              <a:rPr lang="en-US" sz="1100" dirty="0">
                <a:solidFill>
                  <a:srgbClr val="1A2233"/>
                </a:solidFill>
                <a:latin typeface="맑은 고딕" pitchFamily="34" charset="0"/>
                <a:ea typeface="맑은 고딕" pitchFamily="34" charset="-122"/>
                <a:cs typeface="맑은 고딕" pitchFamily="34" charset="-120"/>
              </a:rPr>
              <a:t>→ p 동체 = ( +9,970.00, +17,320.51, −10.00 ) m</a:t>
            </a:r>
            <a:endParaRPr lang="en-US" sz="1100" dirty="0"/>
          </a:p>
        </p:txBody>
      </p:sp>
      <p:sp>
        <p:nvSpPr>
          <p:cNvPr id="36" name="Shape 34"/>
          <p:cNvSpPr/>
          <p:nvPr/>
        </p:nvSpPr>
        <p:spPr>
          <a:xfrm>
            <a:off x="914400" y="4407408"/>
            <a:ext cx="2212848" cy="1463040"/>
          </a:xfrm>
          <a:prstGeom prst="rect">
            <a:avLst/>
          </a:prstGeom>
          <a:solidFill>
            <a:srgbClr val="13233F"/>
          </a:solidFill>
          <a:ln/>
        </p:spPr>
        <p:txBody>
          <a:bodyPr/>
          <a:p/>
        </p:txBody>
      </p:sp>
      <p:sp>
        <p:nvSpPr>
          <p:cNvPr id="37" name="Text 35"/>
          <p:cNvSpPr txBox="1"/>
          <p:nvPr/>
        </p:nvSpPr>
        <p:spPr>
          <a:xfrm>
            <a:off x="1060704" y="4553712"/>
            <a:ext cx="1920240" cy="1188720"/>
          </a:xfrm>
          <a:prstGeom prst="rect">
            <a:avLst/>
          </a:prstGeom>
          <a:noFill/>
          <a:ln/>
        </p:spPr>
        <p:txBody>
          <a:bodyPr wrap="square" lIns="0" tIns="0" rIns="0" bIns="0" rtlCol="0" anchor="t"/>
          <a:lstStyle/>
          <a:p>
            <a:pPr marL="0" indent="0" algn="ctr">
              <a:lnSpc>
                <a:spcPct val="105000"/>
              </a:lnSpc>
              <a:spcAft>
                <a:spcPts val="1400"/>
              </a:spcAft>
              <a:buNone/>
            </a:pPr>
            <a:r>
              <a:rPr lang="en-US" sz="1300" b="1" dirty="0">
                <a:solidFill>
                  <a:srgbClr val="FFFFFF"/>
                </a:solidFill>
                <a:latin typeface="맑은 고딕" pitchFamily="34" charset="0"/>
                <a:ea typeface="맑은 고딕" pitchFamily="34" charset="-122"/>
                <a:cs typeface="맑은 고딕" pitchFamily="34" charset="-120"/>
              </a:rPr>
              <a:t>③ 동체 → 로컬 (NED)</a:t>
            </a:r>
            <a:endParaRPr lang="en-US" sz="1300" dirty="0"/>
          </a:p>
          <a:p>
            <a:pPr marL="0" indent="0" algn="ctr">
              <a:lnSpc>
                <a:spcPct val="105000"/>
              </a:lnSpc>
              <a:buNone/>
            </a:pPr>
            <a:r>
              <a:rPr lang="en-US" sz="800" dirty="0">
                <a:solidFill>
                  <a:srgbClr val="C9D6EC"/>
                </a:solidFill>
                <a:latin typeface="맑은 고딕" pitchFamily="34" charset="0"/>
                <a:ea typeface="맑은 고딕" pitchFamily="34" charset="-122"/>
                <a:cs typeface="맑은 고딕" pitchFamily="34" charset="-120"/>
              </a:rPr>
              <a:t>회전만 (원점이 같음)</a:t>
            </a:r>
            <a:endParaRPr lang="en-US" sz="1300" dirty="0"/>
          </a:p>
        </p:txBody>
      </p:sp>
      <p:sp>
        <p:nvSpPr>
          <p:cNvPr id="38" name="Shape 36"/>
          <p:cNvSpPr/>
          <p:nvPr/>
        </p:nvSpPr>
        <p:spPr>
          <a:xfrm>
            <a:off x="3291840" y="4407408"/>
            <a:ext cx="7982712" cy="1463040"/>
          </a:xfrm>
          <a:prstGeom prst="roundRect">
            <a:avLst>
              <a:gd name="adj" fmla="val 3125"/>
            </a:avLst>
          </a:prstGeom>
          <a:solidFill>
            <a:srgbClr val="EEF1F7"/>
          </a:solidFill>
          <a:ln/>
        </p:spPr>
        <p:txBody>
          <a:bodyPr/>
          <a:p/>
        </p:txBody>
      </p:sp>
      <p:sp>
        <p:nvSpPr>
          <p:cNvPr id="39" name="Text 37"/>
          <p:cNvSpPr txBox="1"/>
          <p:nvPr/>
        </p:nvSpPr>
        <p:spPr>
          <a:xfrm>
            <a:off x="3547872" y="4535424"/>
            <a:ext cx="7498080" cy="201168"/>
          </a:xfrm>
          <a:prstGeom prst="rect">
            <a:avLst/>
          </a:prstGeom>
          <a:noFill/>
          <a:ln/>
        </p:spPr>
        <p:txBody>
          <a:bodyPr wrap="square" lIns="0" tIns="0" rIns="0" bIns="0" rtlCol="0" anchor="ctr"/>
          <a:lstStyle/>
          <a:p>
            <a:pPr marL="0" indent="0" algn="l">
              <a:buNone/>
            </a:pPr>
            <a:r>
              <a:rPr lang="en-US" sz="1100" dirty="0">
                <a:solidFill>
                  <a:srgbClr val="1A2233"/>
                </a:solidFill>
                <a:latin typeface="맑은 고딕" pitchFamily="34" charset="0"/>
                <a:ea typeface="맑은 고딕" pitchFamily="34" charset="-122"/>
                <a:cs typeface="맑은 고딕" pitchFamily="34" charset="-120"/>
              </a:rPr>
              <a:t>pNED = Rz(45°)·Ry(0°)·Rx(0°)·p 동체 = Rz(45°)·p 동체 (cos 45° = sin 45° = 0.7071)</a:t>
            </a:r>
            <a:endParaRPr lang="en-US" sz="1100" dirty="0"/>
          </a:p>
        </p:txBody>
      </p:sp>
      <p:sp>
        <p:nvSpPr>
          <p:cNvPr id="40" name="Text 38"/>
          <p:cNvSpPr txBox="1"/>
          <p:nvPr/>
        </p:nvSpPr>
        <p:spPr>
          <a:xfrm>
            <a:off x="3566160" y="4828032"/>
            <a:ext cx="1737360"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cos 45°  −sin 45°   0 ]</a:t>
            </a:r>
            <a:endParaRPr lang="en-US" sz="850" dirty="0"/>
          </a:p>
        </p:txBody>
      </p:sp>
      <p:sp>
        <p:nvSpPr>
          <p:cNvPr id="41" name="Text 39"/>
          <p:cNvSpPr txBox="1"/>
          <p:nvPr/>
        </p:nvSpPr>
        <p:spPr>
          <a:xfrm>
            <a:off x="5394960" y="4828032"/>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+9,970.00 ]</a:t>
            </a:r>
            <a:endParaRPr lang="en-US" sz="850" dirty="0"/>
          </a:p>
        </p:txBody>
      </p:sp>
      <p:sp>
        <p:nvSpPr>
          <p:cNvPr id="42" name="Text 40"/>
          <p:cNvSpPr txBox="1"/>
          <p:nvPr/>
        </p:nvSpPr>
        <p:spPr>
          <a:xfrm>
            <a:off x="6839712" y="4828032"/>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−5,197.59 ]</a:t>
            </a:r>
            <a:endParaRPr lang="en-US" sz="850" dirty="0"/>
          </a:p>
        </p:txBody>
      </p:sp>
      <p:sp>
        <p:nvSpPr>
          <p:cNvPr id="43" name="Text 41"/>
          <p:cNvSpPr txBox="1"/>
          <p:nvPr/>
        </p:nvSpPr>
        <p:spPr>
          <a:xfrm>
            <a:off x="3566160" y="5029200"/>
            <a:ext cx="1737360"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sin 45°   cos 45°   0 ]</a:t>
            </a:r>
            <a:endParaRPr lang="en-US" sz="850" dirty="0"/>
          </a:p>
        </p:txBody>
      </p:sp>
      <p:sp>
        <p:nvSpPr>
          <p:cNvPr id="44" name="Text 42"/>
          <p:cNvSpPr txBox="1"/>
          <p:nvPr/>
        </p:nvSpPr>
        <p:spPr>
          <a:xfrm>
            <a:off x="5394960" y="5029200"/>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+17,320.51 ]</a:t>
            </a:r>
            <a:endParaRPr lang="en-US" sz="850" dirty="0"/>
          </a:p>
        </p:txBody>
      </p:sp>
      <p:sp>
        <p:nvSpPr>
          <p:cNvPr id="45" name="Text 43"/>
          <p:cNvSpPr txBox="1"/>
          <p:nvPr/>
        </p:nvSpPr>
        <p:spPr>
          <a:xfrm>
            <a:off x="6839712" y="5029200"/>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+19,297.30 ]</a:t>
            </a:r>
            <a:endParaRPr lang="en-US" sz="850" dirty="0"/>
          </a:p>
        </p:txBody>
      </p:sp>
      <p:sp>
        <p:nvSpPr>
          <p:cNvPr id="46" name="Text 44"/>
          <p:cNvSpPr txBox="1"/>
          <p:nvPr/>
        </p:nvSpPr>
        <p:spPr>
          <a:xfrm>
            <a:off x="3566160" y="5230368"/>
            <a:ext cx="1737360"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0         0      1 ]</a:t>
            </a:r>
            <a:endParaRPr lang="en-US" sz="850" dirty="0"/>
          </a:p>
        </p:txBody>
      </p:sp>
      <p:sp>
        <p:nvSpPr>
          <p:cNvPr id="47" name="Text 45"/>
          <p:cNvSpPr txBox="1"/>
          <p:nvPr/>
        </p:nvSpPr>
        <p:spPr>
          <a:xfrm>
            <a:off x="5394960" y="5230368"/>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−10.00 ]</a:t>
            </a:r>
            <a:endParaRPr lang="en-US" sz="850" dirty="0"/>
          </a:p>
        </p:txBody>
      </p:sp>
      <p:sp>
        <p:nvSpPr>
          <p:cNvPr id="48" name="Text 46"/>
          <p:cNvSpPr txBox="1"/>
          <p:nvPr/>
        </p:nvSpPr>
        <p:spPr>
          <a:xfrm>
            <a:off x="6839712" y="5230368"/>
            <a:ext cx="1298448" cy="201168"/>
          </a:xfrm>
          <a:prstGeom prst="rect">
            <a:avLst/>
          </a:prstGeom>
          <a:noFill/>
          <a:ln/>
        </p:spPr>
        <p:txBody>
          <a:bodyPr wrap="square" lIns="0" tIns="0" rIns="0" bIns="0" rtlCol="0" anchor="ctr"/>
          <a:lstStyle/>
          <a:p>
            <a:pPr marL="0" indent="0" algn="ctr">
              <a:buNone/>
            </a:pPr>
            <a:r>
              <a:rPr lang="en-US" sz="850" dirty="0">
                <a:solidFill>
                  <a:srgbClr val="1A2233"/>
                </a:solidFill>
                <a:latin typeface="Courier New" pitchFamily="34" charset="0"/>
                <a:ea typeface="Courier New" pitchFamily="34" charset="-122"/>
                <a:cs typeface="Courier New" pitchFamily="34" charset="-120"/>
              </a:rPr>
              <a:t>[     −10.00 ]</a:t>
            </a:r>
            <a:endParaRPr lang="en-US" sz="850" dirty="0"/>
          </a:p>
        </p:txBody>
      </p:sp>
      <p:sp>
        <p:nvSpPr>
          <p:cNvPr id="49" name="Text 47"/>
          <p:cNvSpPr txBox="1"/>
          <p:nvPr/>
        </p:nvSpPr>
        <p:spPr>
          <a:xfrm>
            <a:off x="5321808" y="5029200"/>
            <a:ext cx="128016" cy="201168"/>
          </a:xfrm>
          <a:prstGeom prst="rect">
            <a:avLst/>
          </a:prstGeom>
          <a:noFill/>
          <a:ln/>
        </p:spPr>
        <p:txBody>
          <a:bodyPr wrap="square" lIns="0" tIns="0" rIns="0" bIns="0" rtlCol="0" anchor="ctr"/>
          <a:lstStyle/>
          <a:p>
            <a:pPr marL="0" indent="0" algn="ctr">
              <a:buNone/>
            </a:pPr>
            <a:r>
              <a:rPr lang="en-US" sz="1100" dirty="0">
                <a:solidFill>
                  <a:srgbClr val="1A2233"/>
                </a:solidFill>
                <a:latin typeface="Arial" pitchFamily="34" charset="0"/>
                <a:ea typeface="Arial" pitchFamily="34" charset="-122"/>
                <a:cs typeface="Arial" pitchFamily="34" charset="-120"/>
              </a:rPr>
              <a:t>·</a:t>
            </a:r>
            <a:endParaRPr lang="en-US" sz="1100" dirty="0"/>
          </a:p>
        </p:txBody>
      </p:sp>
      <p:sp>
        <p:nvSpPr>
          <p:cNvPr id="50" name="Text 48"/>
          <p:cNvSpPr txBox="1"/>
          <p:nvPr/>
        </p:nvSpPr>
        <p:spPr>
          <a:xfrm>
            <a:off x="6711696" y="5029200"/>
            <a:ext cx="128016" cy="201168"/>
          </a:xfrm>
          <a:prstGeom prst="rect">
            <a:avLst/>
          </a:prstGeom>
          <a:noFill/>
          <a:ln/>
        </p:spPr>
        <p:txBody>
          <a:bodyPr wrap="square" lIns="0" tIns="0" rIns="0" bIns="0" rtlCol="0" anchor="ctr"/>
          <a:lstStyle/>
          <a:p>
            <a:pPr marL="0" indent="0" algn="ctr">
              <a:buNone/>
            </a:pPr>
            <a:r>
              <a:rPr lang="en-US" sz="1100" dirty="0">
                <a:solidFill>
                  <a:srgbClr val="1A2233"/>
                </a:solidFill>
                <a:latin typeface="Arial" pitchFamily="34" charset="0"/>
                <a:ea typeface="Arial" pitchFamily="34" charset="-122"/>
                <a:cs typeface="Arial" pitchFamily="34" charset="-120"/>
              </a:rPr>
              <a:t>=</a:t>
            </a:r>
            <a:endParaRPr lang="en-US" sz="1100" dirty="0"/>
          </a:p>
        </p:txBody>
      </p:sp>
      <p:sp>
        <p:nvSpPr>
          <p:cNvPr id="51" name="Text 49"/>
          <p:cNvSpPr txBox="1"/>
          <p:nvPr/>
        </p:nvSpPr>
        <p:spPr>
          <a:xfrm>
            <a:off x="8321040" y="4809744"/>
            <a:ext cx="2834640" cy="731520"/>
          </a:xfrm>
          <a:prstGeom prst="rect">
            <a:avLst/>
          </a:prstGeom>
          <a:noFill/>
          <a:ln/>
        </p:spPr>
        <p:txBody>
          <a:bodyPr wrap="square" lIns="0" tIns="0" rIns="0" bIns="0" rtlCol="0" anchor="t"/>
          <a:lstStyle/>
          <a:p>
            <a:pPr marL="0" indent="0" algn="l">
              <a:lnSpc>
                <a:spcPct val="105000"/>
              </a:lnSpc>
              <a:spcAft>
                <a:spcPts val="300"/>
              </a:spcAft>
              <a:buNone/>
            </a:pPr>
            <a:r>
              <a:rPr lang="en-US" sz="850" dirty="0">
                <a:solidFill>
                  <a:srgbClr val="1A2233"/>
                </a:solidFill>
                <a:latin typeface="맑은 고딕" pitchFamily="34" charset="0"/>
                <a:ea typeface="맑은 고딕" pitchFamily="34" charset="-122"/>
                <a:cs typeface="맑은 고딕" pitchFamily="34" charset="-120"/>
              </a:rPr>
              <a:t>N = cos45°·(+9,970.00) − sin45°·17,320.51</a:t>
            </a:r>
            <a:endParaRPr lang="en-US" sz="850" dirty="0"/>
          </a:p>
          <a:p>
            <a:pPr marL="0" indent="0" algn="l">
              <a:lnSpc>
                <a:spcPct val="105000"/>
              </a:lnSpc>
              <a:spcAft>
                <a:spcPts val="300"/>
              </a:spcAft>
              <a:buNone/>
            </a:pPr>
            <a:r>
              <a:rPr lang="en-US" sz="850" dirty="0">
                <a:solidFill>
                  <a:srgbClr val="1A2233"/>
                </a:solidFill>
                <a:latin typeface="맑은 고딕" pitchFamily="34" charset="0"/>
                <a:ea typeface="맑은 고딕" pitchFamily="34" charset="-122"/>
                <a:cs typeface="맑은 고딕" pitchFamily="34" charset="-120"/>
              </a:rPr>
              <a:t>E = sin45°·(+9,970.00) + cos45°·17,320.51</a:t>
            </a:r>
            <a:endParaRPr lang="en-US" sz="850" dirty="0"/>
          </a:p>
          <a:p>
            <a:pPr marL="0" indent="0" algn="l">
              <a:lnSpc>
                <a:spcPct val="105000"/>
              </a:lnSpc>
              <a:spcAft>
                <a:spcPts val="300"/>
              </a:spcAft>
              <a:buNone/>
            </a:pPr>
            <a:r>
              <a:rPr lang="en-US" sz="850" dirty="0">
                <a:solidFill>
                  <a:srgbClr val="1A2233"/>
                </a:solidFill>
                <a:latin typeface="맑은 고딕" pitchFamily="34" charset="0"/>
                <a:ea typeface="맑은 고딕" pitchFamily="34" charset="-122"/>
                <a:cs typeface="맑은 고딕" pitchFamily="34" charset="-120"/>
              </a:rPr>
              <a:t>D = −10.00 (z 그대로)</a:t>
            </a:r>
            <a:endParaRPr lang="en-US" sz="850" dirty="0"/>
          </a:p>
          <a:p>
            <a:pPr marL="0" indent="0" algn="l">
              <a:lnSpc>
                <a:spcPct val="105000"/>
              </a:lnSpc>
              <a:buNone/>
            </a:pPr>
            <a:r>
              <a:rPr lang="en-US" sz="850" dirty="0">
                <a:solidFill>
                  <a:srgbClr val="1A2233"/>
                </a:solidFill>
                <a:latin typeface="맑은 고딕" pitchFamily="34" charset="0"/>
                <a:ea typeface="맑은 고딕" pitchFamily="34" charset="-122"/>
                <a:cs typeface="맑은 고딕" pitchFamily="34" charset="-120"/>
              </a:rPr>
              <a:t>방위 = atan2(E, N) = 105.074°</a:t>
            </a:r>
            <a:endParaRPr lang="en-US" sz="850" dirty="0"/>
          </a:p>
        </p:txBody>
      </p:sp>
      <p:sp>
        <p:nvSpPr>
          <p:cNvPr id="52" name="Text 50"/>
          <p:cNvSpPr txBox="1"/>
          <p:nvPr/>
        </p:nvSpPr>
        <p:spPr>
          <a:xfrm>
            <a:off x="3547872" y="5596128"/>
            <a:ext cx="6035040" cy="201168"/>
          </a:xfrm>
          <a:prstGeom prst="rect">
            <a:avLst/>
          </a:prstGeom>
          <a:noFill/>
          <a:ln/>
        </p:spPr>
        <p:txBody>
          <a:bodyPr wrap="square" lIns="0" tIns="0" rIns="0" bIns="0" rtlCol="0" anchor="ctr"/>
          <a:lstStyle/>
          <a:p>
            <a:pPr marL="0" indent="0" algn="l">
              <a:buNone/>
            </a:pPr>
            <a:r>
              <a:rPr lang="en-US" sz="1100" dirty="0">
                <a:solidFill>
                  <a:srgbClr val="1A2233"/>
                </a:solidFill>
                <a:latin typeface="맑은 고딕" pitchFamily="34" charset="0"/>
                <a:ea typeface="맑은 고딕" pitchFamily="34" charset="-122"/>
                <a:cs typeface="맑은 고딕" pitchFamily="34" charset="-120"/>
              </a:rPr>
              <a:t>→ pNED = ( −5,197.59, +19,297.30, −10.00 ) m, 방위 105.074°</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02. 단계별 변환    로컬 → ECEF → 위경도</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21</a:t>
            </a:r>
            <a:endParaRPr lang="en-US" sz="900" dirty="0"/>
          </a:p>
        </p:txBody>
      </p:sp>
      <p:sp>
        <p:nvSpPr>
          <p:cNvPr id="8" name="Shape 6"/>
          <p:cNvSpPr/>
          <p:nvPr/>
        </p:nvSpPr>
        <p:spPr>
          <a:xfrm>
            <a:off x="914400" y="1335024"/>
            <a:ext cx="2212848" cy="2121408"/>
          </a:xfrm>
          <a:prstGeom prst="rect">
            <a:avLst/>
          </a:prstGeom>
          <a:solidFill>
            <a:srgbClr val="13233F"/>
          </a:solidFill>
          <a:ln/>
        </p:spPr>
        <p:txBody>
          <a:bodyPr/>
          <a:p/>
        </p:txBody>
      </p:sp>
      <p:sp>
        <p:nvSpPr>
          <p:cNvPr id="9" name="Text 7"/>
          <p:cNvSpPr txBox="1"/>
          <p:nvPr/>
        </p:nvSpPr>
        <p:spPr>
          <a:xfrm>
            <a:off x="1060704" y="2157984"/>
            <a:ext cx="1920240" cy="548640"/>
          </a:xfrm>
          <a:prstGeom prst="rect">
            <a:avLst/>
          </a:prstGeom>
          <a:noFill/>
          <a:ln/>
        </p:spPr>
        <p:txBody>
          <a:bodyPr wrap="square" lIns="0" tIns="0" rIns="0" bIns="0" rtlCol="0" anchor="t"/>
          <a:lstStyle/>
          <a:p>
            <a:pPr marL="0" indent="0" algn="ctr">
              <a:lnSpc>
                <a:spcPct val="105000"/>
              </a:lnSpc>
              <a:spcAft>
                <a:spcPts val="1400"/>
              </a:spcAft>
              <a:buNone/>
            </a:pPr>
            <a:r>
              <a:rPr lang="en-US" sz="1500" b="1" dirty="0">
                <a:solidFill>
                  <a:srgbClr val="FFFFFF"/>
                </a:solidFill>
                <a:latin typeface="맑은 고딕" pitchFamily="34" charset="0"/>
                <a:ea typeface="맑은 고딕" pitchFamily="34" charset="-122"/>
                <a:cs typeface="맑은 고딕" pitchFamily="34" charset="-120"/>
              </a:rPr>
              <a:t>④ 로컬 → ECEF</a:t>
            </a:r>
            <a:endParaRPr lang="en-US" sz="1500" dirty="0"/>
          </a:p>
          <a:p>
            <a:pPr marL="0" indent="0" algn="ctr">
              <a:lnSpc>
                <a:spcPct val="105000"/>
              </a:lnSpc>
              <a:buNone/>
            </a:pPr>
            <a:r>
              <a:rPr lang="en-US" sz="850" dirty="0">
                <a:solidFill>
                  <a:srgbClr val="C9D6EC"/>
                </a:solidFill>
                <a:latin typeface="맑은 고딕" pitchFamily="34" charset="0"/>
                <a:ea typeface="맑은 고딕" pitchFamily="34" charset="-122"/>
                <a:cs typeface="맑은 고딕" pitchFamily="34" charset="-120"/>
              </a:rPr>
              <a:t>회전 + 평행이동</a:t>
            </a:r>
            <a:endParaRPr lang="en-US" sz="1500" dirty="0"/>
          </a:p>
        </p:txBody>
      </p:sp>
      <p:sp>
        <p:nvSpPr>
          <p:cNvPr id="10" name="Shape 8"/>
          <p:cNvSpPr/>
          <p:nvPr/>
        </p:nvSpPr>
        <p:spPr>
          <a:xfrm>
            <a:off x="3291840" y="1335024"/>
            <a:ext cx="7982712" cy="2121408"/>
          </a:xfrm>
          <a:prstGeom prst="roundRect">
            <a:avLst>
              <a:gd name="adj" fmla="val 2155"/>
            </a:avLst>
          </a:prstGeom>
          <a:solidFill>
            <a:srgbClr val="EEF1F7"/>
          </a:solidFill>
          <a:ln/>
        </p:spPr>
        <p:txBody>
          <a:bodyPr/>
          <a:p/>
        </p:txBody>
      </p:sp>
      <p:sp>
        <p:nvSpPr>
          <p:cNvPr id="11" name="Text 9"/>
          <p:cNvSpPr txBox="1"/>
          <p:nvPr/>
        </p:nvSpPr>
        <p:spPr>
          <a:xfrm>
            <a:off x="3511296" y="1444752"/>
            <a:ext cx="7589520" cy="914400"/>
          </a:xfrm>
          <a:prstGeom prst="rect">
            <a:avLst/>
          </a:prstGeom>
          <a:noFill/>
          <a:ln/>
        </p:spPr>
        <p:txBody>
          <a:bodyPr wrap="square" lIns="0" tIns="0" rIns="0" bIns="0" rtlCol="0" anchor="t"/>
          <a:lstStyle/>
          <a:p>
            <a:pPr marL="0" indent="0" algn="l">
              <a:lnSpc>
                <a:spcPct val="105000"/>
              </a:lnSpc>
              <a:spcAft>
                <a:spcPts val="500"/>
              </a:spcAft>
              <a:buNone/>
            </a:pPr>
            <a:r>
              <a:rPr lang="en-US" sz="1000" dirty="0">
                <a:solidFill>
                  <a:srgbClr val="1A2233"/>
                </a:solidFill>
                <a:latin typeface="맑은 고딕" pitchFamily="34" charset="0"/>
                <a:ea typeface="맑은 고딕" pitchFamily="34" charset="-122"/>
                <a:cs typeface="맑은 고딕" pitchFamily="34" charset="-120"/>
              </a:rPr>
              <a:t>① RN = a / √(1 − e² sin²φ) = 6,378,137 / √(1 − 0.00669438 × 0.5935313²) = 6,385,671.08 m</a:t>
            </a:r>
            <a:endParaRPr lang="en-US" sz="1000" dirty="0"/>
          </a:p>
          <a:p>
            <a:pPr marL="0" indent="0" algn="l">
              <a:lnSpc>
                <a:spcPct val="105000"/>
              </a:lnSpc>
              <a:spcAft>
                <a:spcPts val="500"/>
              </a:spcAft>
              <a:buNone/>
            </a:pPr>
            <a:r>
              <a:rPr lang="en-US" sz="1000" dirty="0">
                <a:solidFill>
                  <a:srgbClr val="1A2233"/>
                </a:solidFill>
                <a:latin typeface="맑은 고딕" pitchFamily="34" charset="0"/>
                <a:ea typeface="맑은 고딕" pitchFamily="34" charset="-122"/>
                <a:cs typeface="맑은 고딕" pitchFamily="34" charset="-120"/>
              </a:rPr>
              <a:t>P 배 = ( (RN+h) cosφ cosλ, (RN+h) cosφ sinλ, (RN(1−e²)+h) sinφ )  (φ = 36.408°, λ = 127.307°, h = 0)</a:t>
            </a:r>
            <a:endParaRPr lang="en-US" sz="1000" dirty="0"/>
          </a:p>
          <a:p>
            <a:pPr marL="0" indent="0" algn="l">
              <a:lnSpc>
                <a:spcPct val="105000"/>
              </a:lnSpc>
              <a:spcAft>
                <a:spcPts val="500"/>
              </a:spcAft>
              <a:buNone/>
            </a:pPr>
            <a:r>
              <a:rPr lang="en-US" sz="1000" dirty="0">
                <a:solidFill>
                  <a:srgbClr val="1A2233"/>
                </a:solidFill>
                <a:latin typeface="맑은 고딕" pitchFamily="34" charset="0"/>
                <a:ea typeface="맑은 고딕" pitchFamily="34" charset="-122"/>
                <a:cs typeface="맑은 고딕" pitchFamily="34" charset="-120"/>
              </a:rPr>
              <a:t>        = ( −3,114,830.11, +4,087,762.85, +3,764,723.10 ) m</a:t>
            </a:r>
            <a:endParaRPr lang="en-US" sz="1000" dirty="0"/>
          </a:p>
          <a:p>
            <a:pPr marL="0" indent="0" algn="l">
              <a:lnSpc>
                <a:spcPct val="105000"/>
              </a:lnSpc>
              <a:buNone/>
            </a:pPr>
            <a:r>
              <a:rPr lang="en-US" sz="1000" dirty="0">
                <a:solidFill>
                  <a:srgbClr val="1A2233"/>
                </a:solidFill>
                <a:latin typeface="맑은 고딕" pitchFamily="34" charset="0"/>
                <a:ea typeface="맑은 고딕" pitchFamily="34" charset="-122"/>
                <a:cs typeface="맑은 고딕" pitchFamily="34" charset="-120"/>
              </a:rPr>
              <a:t>② Cecef←ned = Rz(λ)·Ry(−90° − φ)   (sinφ = 0.5935, cosφ = 0.8048, sinλ = 0.7954, cosλ = −0.6061)</a:t>
            </a:r>
            <a:endParaRPr lang="en-US" sz="1000" dirty="0"/>
          </a:p>
        </p:txBody>
      </p:sp>
      <p:sp>
        <p:nvSpPr>
          <p:cNvPr id="12" name="Text 10"/>
          <p:cNvSpPr txBox="1"/>
          <p:nvPr/>
        </p:nvSpPr>
        <p:spPr>
          <a:xfrm>
            <a:off x="3511296" y="2432304"/>
            <a:ext cx="2286000"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−sinφ cosλ   −sinλ   −cosφ cosλ ]</a:t>
            </a:r>
            <a:endParaRPr lang="en-US" sz="800" dirty="0"/>
          </a:p>
        </p:txBody>
      </p:sp>
      <p:sp>
        <p:nvSpPr>
          <p:cNvPr id="13" name="Text 11"/>
          <p:cNvSpPr txBox="1"/>
          <p:nvPr/>
        </p:nvSpPr>
        <p:spPr>
          <a:xfrm>
            <a:off x="5961888" y="2432304"/>
            <a:ext cx="2048256"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0.3597   −0.7954    0.4878 ]</a:t>
            </a:r>
            <a:endParaRPr lang="en-US" sz="800" dirty="0"/>
          </a:p>
        </p:txBody>
      </p:sp>
      <p:sp>
        <p:nvSpPr>
          <p:cNvPr id="14" name="Text 12"/>
          <p:cNvSpPr txBox="1"/>
          <p:nvPr/>
        </p:nvSpPr>
        <p:spPr>
          <a:xfrm>
            <a:off x="8174736" y="2432304"/>
            <a:ext cx="1188720"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−5,197.59 ]</a:t>
            </a:r>
            <a:endParaRPr lang="en-US" sz="800" dirty="0"/>
          </a:p>
        </p:txBody>
      </p:sp>
      <p:sp>
        <p:nvSpPr>
          <p:cNvPr id="15" name="Text 13"/>
          <p:cNvSpPr txBox="1"/>
          <p:nvPr/>
        </p:nvSpPr>
        <p:spPr>
          <a:xfrm>
            <a:off x="9473184" y="2432304"/>
            <a:ext cx="1188720"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−17,223.68 ]</a:t>
            </a:r>
            <a:endParaRPr lang="en-US" sz="800" dirty="0"/>
          </a:p>
        </p:txBody>
      </p:sp>
      <p:sp>
        <p:nvSpPr>
          <p:cNvPr id="16" name="Text 14"/>
          <p:cNvSpPr txBox="1"/>
          <p:nvPr/>
        </p:nvSpPr>
        <p:spPr>
          <a:xfrm>
            <a:off x="3511296" y="2651760"/>
            <a:ext cx="2286000"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−sinφ sinλ    cosλ   −cosφ sinλ ]</a:t>
            </a:r>
            <a:endParaRPr lang="en-US" sz="800" dirty="0"/>
          </a:p>
        </p:txBody>
      </p:sp>
      <p:sp>
        <p:nvSpPr>
          <p:cNvPr id="17" name="Text 15"/>
          <p:cNvSpPr txBox="1"/>
          <p:nvPr/>
        </p:nvSpPr>
        <p:spPr>
          <a:xfrm>
            <a:off x="5961888" y="2651760"/>
            <a:ext cx="2048256"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−0.4721   −0.6061   −0.6401 ]</a:t>
            </a:r>
            <a:endParaRPr lang="en-US" sz="800" dirty="0"/>
          </a:p>
        </p:txBody>
      </p:sp>
      <p:sp>
        <p:nvSpPr>
          <p:cNvPr id="18" name="Text 16"/>
          <p:cNvSpPr txBox="1"/>
          <p:nvPr/>
        </p:nvSpPr>
        <p:spPr>
          <a:xfrm>
            <a:off x="8174736" y="2651760"/>
            <a:ext cx="1188720"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+19,297.30 ]</a:t>
            </a:r>
            <a:endParaRPr lang="en-US" sz="800" dirty="0"/>
          </a:p>
        </p:txBody>
      </p:sp>
      <p:sp>
        <p:nvSpPr>
          <p:cNvPr id="19" name="Text 17"/>
          <p:cNvSpPr txBox="1"/>
          <p:nvPr/>
        </p:nvSpPr>
        <p:spPr>
          <a:xfrm>
            <a:off x="9473184" y="2651760"/>
            <a:ext cx="1188720"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−9,235.66 ]</a:t>
            </a:r>
            <a:endParaRPr lang="en-US" sz="800" dirty="0"/>
          </a:p>
        </p:txBody>
      </p:sp>
      <p:sp>
        <p:nvSpPr>
          <p:cNvPr id="20" name="Text 18"/>
          <p:cNvSpPr txBox="1"/>
          <p:nvPr/>
        </p:nvSpPr>
        <p:spPr>
          <a:xfrm>
            <a:off x="3511296" y="2871216"/>
            <a:ext cx="2286000"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cosφ       0        −sinφ ]</a:t>
            </a:r>
            <a:endParaRPr lang="en-US" sz="800" dirty="0"/>
          </a:p>
        </p:txBody>
      </p:sp>
      <p:sp>
        <p:nvSpPr>
          <p:cNvPr id="21" name="Text 19"/>
          <p:cNvSpPr txBox="1"/>
          <p:nvPr/>
        </p:nvSpPr>
        <p:spPr>
          <a:xfrm>
            <a:off x="5961888" y="2871216"/>
            <a:ext cx="2048256"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0.8048         0   −0.5935 ]</a:t>
            </a:r>
            <a:endParaRPr lang="en-US" sz="800" dirty="0"/>
          </a:p>
        </p:txBody>
      </p:sp>
      <p:sp>
        <p:nvSpPr>
          <p:cNvPr id="22" name="Text 20"/>
          <p:cNvSpPr txBox="1"/>
          <p:nvPr/>
        </p:nvSpPr>
        <p:spPr>
          <a:xfrm>
            <a:off x="8174736" y="2871216"/>
            <a:ext cx="1188720"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−10.00 ]</a:t>
            </a:r>
            <a:endParaRPr lang="en-US" sz="800" dirty="0"/>
          </a:p>
        </p:txBody>
      </p:sp>
      <p:sp>
        <p:nvSpPr>
          <p:cNvPr id="23" name="Text 21"/>
          <p:cNvSpPr txBox="1"/>
          <p:nvPr/>
        </p:nvSpPr>
        <p:spPr>
          <a:xfrm>
            <a:off x="9473184" y="2871216"/>
            <a:ext cx="1188720" cy="201168"/>
          </a:xfrm>
          <a:prstGeom prst="rect">
            <a:avLst/>
          </a:prstGeom>
          <a:noFill/>
          <a:ln/>
        </p:spPr>
        <p:txBody>
          <a:bodyPr wrap="square" lIns="0" tIns="0" rIns="0" bIns="0" rtlCol="0" anchor="ctr"/>
          <a:lstStyle/>
          <a:p>
            <a:pPr marL="0" indent="0" algn="ctr">
              <a:buNone/>
            </a:pPr>
            <a:r>
              <a:rPr lang="en-US" sz="800" dirty="0">
                <a:solidFill>
                  <a:srgbClr val="1A2233"/>
                </a:solidFill>
                <a:latin typeface="Courier New" pitchFamily="34" charset="0"/>
                <a:ea typeface="Courier New" pitchFamily="34" charset="-122"/>
                <a:cs typeface="Courier New" pitchFamily="34" charset="-120"/>
              </a:rPr>
              <a:t>[  −4,177.15 ]</a:t>
            </a:r>
            <a:endParaRPr lang="en-US" sz="800" dirty="0"/>
          </a:p>
        </p:txBody>
      </p:sp>
      <p:sp>
        <p:nvSpPr>
          <p:cNvPr id="24" name="Text 22"/>
          <p:cNvSpPr txBox="1"/>
          <p:nvPr/>
        </p:nvSpPr>
        <p:spPr>
          <a:xfrm>
            <a:off x="5815584" y="2651760"/>
            <a:ext cx="128016" cy="201168"/>
          </a:xfrm>
          <a:prstGeom prst="rect">
            <a:avLst/>
          </a:prstGeom>
          <a:noFill/>
          <a:ln/>
        </p:spPr>
        <p:txBody>
          <a:bodyPr wrap="square" lIns="0" tIns="0" rIns="0" bIns="0" rtlCol="0" anchor="ctr"/>
          <a:lstStyle/>
          <a:p>
            <a:pPr marL="0" indent="0" algn="ctr">
              <a:buNone/>
            </a:pPr>
            <a:r>
              <a:rPr lang="en-US" sz="1100" dirty="0">
                <a:solidFill>
                  <a:srgbClr val="1A2233"/>
                </a:solidFill>
                <a:latin typeface="Arial" pitchFamily="34" charset="0"/>
                <a:ea typeface="Arial" pitchFamily="34" charset="-122"/>
                <a:cs typeface="Arial" pitchFamily="34" charset="-120"/>
              </a:rPr>
              <a:t>=</a:t>
            </a:r>
            <a:endParaRPr lang="en-US" sz="1100" dirty="0"/>
          </a:p>
        </p:txBody>
      </p:sp>
      <p:sp>
        <p:nvSpPr>
          <p:cNvPr id="25" name="Text 23"/>
          <p:cNvSpPr txBox="1"/>
          <p:nvPr/>
        </p:nvSpPr>
        <p:spPr>
          <a:xfrm>
            <a:off x="8046720" y="2651760"/>
            <a:ext cx="128016" cy="201168"/>
          </a:xfrm>
          <a:prstGeom prst="rect">
            <a:avLst/>
          </a:prstGeom>
          <a:noFill/>
          <a:ln/>
        </p:spPr>
        <p:txBody>
          <a:bodyPr wrap="square" lIns="0" tIns="0" rIns="0" bIns="0" rtlCol="0" anchor="ctr"/>
          <a:lstStyle/>
          <a:p>
            <a:pPr marL="0" indent="0" algn="ctr">
              <a:buNone/>
            </a:pPr>
            <a:r>
              <a:rPr lang="en-US" sz="1100" dirty="0">
                <a:solidFill>
                  <a:srgbClr val="1A2233"/>
                </a:solidFill>
                <a:latin typeface="Arial" pitchFamily="34" charset="0"/>
                <a:ea typeface="Arial" pitchFamily="34" charset="-122"/>
                <a:cs typeface="Arial" pitchFamily="34" charset="-120"/>
              </a:rPr>
              <a:t>·</a:t>
            </a:r>
            <a:endParaRPr lang="en-US" sz="1100" dirty="0"/>
          </a:p>
        </p:txBody>
      </p:sp>
      <p:sp>
        <p:nvSpPr>
          <p:cNvPr id="26" name="Text 24"/>
          <p:cNvSpPr txBox="1"/>
          <p:nvPr/>
        </p:nvSpPr>
        <p:spPr>
          <a:xfrm>
            <a:off x="9345168" y="2651760"/>
            <a:ext cx="128016" cy="201168"/>
          </a:xfrm>
          <a:prstGeom prst="rect">
            <a:avLst/>
          </a:prstGeom>
          <a:noFill/>
          <a:ln/>
        </p:spPr>
        <p:txBody>
          <a:bodyPr wrap="square" lIns="0" tIns="0" rIns="0" bIns="0" rtlCol="0" anchor="ctr"/>
          <a:lstStyle/>
          <a:p>
            <a:pPr marL="0" indent="0" algn="ctr">
              <a:buNone/>
            </a:pPr>
            <a:r>
              <a:rPr lang="en-US" sz="1100" dirty="0">
                <a:solidFill>
                  <a:srgbClr val="1A2233"/>
                </a:solidFill>
                <a:latin typeface="Arial" pitchFamily="34" charset="0"/>
                <a:ea typeface="Arial" pitchFamily="34" charset="-122"/>
                <a:cs typeface="Arial" pitchFamily="34" charset="-120"/>
              </a:rPr>
              <a:t>=</a:t>
            </a:r>
            <a:endParaRPr lang="en-US" sz="1100" dirty="0"/>
          </a:p>
        </p:txBody>
      </p:sp>
      <p:sp>
        <p:nvSpPr>
          <p:cNvPr id="27" name="Text 25"/>
          <p:cNvSpPr txBox="1"/>
          <p:nvPr/>
        </p:nvSpPr>
        <p:spPr>
          <a:xfrm>
            <a:off x="3511296" y="3182112"/>
            <a:ext cx="7589520" cy="201168"/>
          </a:xfrm>
          <a:prstGeom prst="rect">
            <a:avLst/>
          </a:prstGeom>
          <a:noFill/>
          <a:ln/>
        </p:spPr>
        <p:txBody>
          <a:bodyPr wrap="square" lIns="0" tIns="0" rIns="0" bIns="0" rtlCol="0" anchor="ctr"/>
          <a:lstStyle/>
          <a:p>
            <a:pPr marL="0" indent="0" algn="l">
              <a:buNone/>
            </a:pPr>
            <a:r>
              <a:rPr lang="en-US" sz="1000" dirty="0">
                <a:solidFill>
                  <a:srgbClr val="1A2233"/>
                </a:solidFill>
                <a:latin typeface="맑은 고딕" pitchFamily="34" charset="0"/>
                <a:ea typeface="맑은 고딕" pitchFamily="34" charset="-122"/>
                <a:cs typeface="맑은 고딕" pitchFamily="34" charset="-120"/>
              </a:rPr>
              <a:t>③ P 표적 = P 배 + C · pNED = (  −3,132,053.79,   +4,078,527.19,   +3,760,545.95 ) m</a:t>
            </a:r>
            <a:endParaRPr lang="en-US" sz="1000" dirty="0"/>
          </a:p>
        </p:txBody>
      </p:sp>
      <p:sp>
        <p:nvSpPr>
          <p:cNvPr id="28" name="Shape 26"/>
          <p:cNvSpPr/>
          <p:nvPr/>
        </p:nvSpPr>
        <p:spPr>
          <a:xfrm>
            <a:off x="914400" y="3602736"/>
            <a:ext cx="2212848" cy="1883664"/>
          </a:xfrm>
          <a:prstGeom prst="rect">
            <a:avLst/>
          </a:prstGeom>
          <a:solidFill>
            <a:srgbClr val="13233F"/>
          </a:solidFill>
          <a:ln/>
        </p:spPr>
        <p:txBody>
          <a:bodyPr/>
          <a:p/>
        </p:txBody>
      </p:sp>
      <p:sp>
        <p:nvSpPr>
          <p:cNvPr id="29" name="Text 27"/>
          <p:cNvSpPr txBox="1"/>
          <p:nvPr/>
        </p:nvSpPr>
        <p:spPr>
          <a:xfrm>
            <a:off x="1060704" y="4297680"/>
            <a:ext cx="1920240" cy="548640"/>
          </a:xfrm>
          <a:prstGeom prst="rect">
            <a:avLst/>
          </a:prstGeom>
          <a:noFill/>
          <a:ln/>
        </p:spPr>
        <p:txBody>
          <a:bodyPr wrap="square" lIns="0" tIns="0" rIns="0" bIns="0" rtlCol="0" anchor="t"/>
          <a:lstStyle/>
          <a:p>
            <a:pPr marL="0" indent="0" algn="ctr">
              <a:lnSpc>
                <a:spcPct val="105000"/>
              </a:lnSpc>
              <a:spcAft>
                <a:spcPts val="1400"/>
              </a:spcAft>
              <a:buNone/>
            </a:pPr>
            <a:r>
              <a:rPr lang="en-US" sz="1500" b="1" dirty="0">
                <a:solidFill>
                  <a:srgbClr val="FFFFFF"/>
                </a:solidFill>
                <a:latin typeface="맑은 고딕" pitchFamily="34" charset="0"/>
                <a:ea typeface="맑은 고딕" pitchFamily="34" charset="-122"/>
                <a:cs typeface="맑은 고딕" pitchFamily="34" charset="-120"/>
              </a:rPr>
              <a:t>⑤ ECEF → LLA</a:t>
            </a:r>
            <a:endParaRPr lang="en-US" sz="1500" dirty="0"/>
          </a:p>
          <a:p>
            <a:pPr marL="0" indent="0" algn="ctr">
              <a:lnSpc>
                <a:spcPct val="105000"/>
              </a:lnSpc>
              <a:buNone/>
            </a:pPr>
            <a:r>
              <a:rPr lang="en-US" sz="850" dirty="0">
                <a:solidFill>
                  <a:srgbClr val="C9D6EC"/>
                </a:solidFill>
                <a:latin typeface="맑은 고딕" pitchFamily="34" charset="0"/>
                <a:ea typeface="맑은 고딕" pitchFamily="34" charset="-122"/>
                <a:cs typeface="맑은 고딕" pitchFamily="34" charset="-120"/>
              </a:rPr>
              <a:t>위도 · 고도 반복 계산</a:t>
            </a:r>
            <a:endParaRPr lang="en-US" sz="1500" dirty="0"/>
          </a:p>
        </p:txBody>
      </p:sp>
      <p:sp>
        <p:nvSpPr>
          <p:cNvPr id="30" name="Shape 28"/>
          <p:cNvSpPr/>
          <p:nvPr/>
        </p:nvSpPr>
        <p:spPr>
          <a:xfrm>
            <a:off x="3291840" y="3602736"/>
            <a:ext cx="7982712" cy="1883664"/>
          </a:xfrm>
          <a:prstGeom prst="roundRect">
            <a:avLst>
              <a:gd name="adj" fmla="val 2427"/>
            </a:avLst>
          </a:prstGeom>
          <a:solidFill>
            <a:srgbClr val="EEF1F7"/>
          </a:solidFill>
          <a:ln/>
        </p:spPr>
        <p:txBody>
          <a:bodyPr/>
          <a:p/>
        </p:txBody>
      </p:sp>
      <p:sp>
        <p:nvSpPr>
          <p:cNvPr id="31" name="Text 29"/>
          <p:cNvSpPr txBox="1"/>
          <p:nvPr/>
        </p:nvSpPr>
        <p:spPr>
          <a:xfrm>
            <a:off x="3511296" y="3730752"/>
            <a:ext cx="7589520" cy="1645920"/>
          </a:xfrm>
          <a:prstGeom prst="rect">
            <a:avLst/>
          </a:prstGeom>
          <a:noFill/>
          <a:ln/>
        </p:spPr>
        <p:txBody>
          <a:bodyPr wrap="square" lIns="0" tIns="0" rIns="0" bIns="0" rtlCol="0" anchor="t"/>
          <a:lstStyle/>
          <a:p>
            <a:pPr marL="0" indent="0" algn="l">
              <a:lnSpc>
                <a:spcPct val="105000"/>
              </a:lnSpc>
              <a:spcAft>
                <a:spcPts val="800"/>
              </a:spcAft>
              <a:buNone/>
            </a:pPr>
            <a:r>
              <a:rPr lang="en-US" sz="1000" dirty="0">
                <a:solidFill>
                  <a:srgbClr val="1A2233"/>
                </a:solidFill>
                <a:latin typeface="맑은 고딕" pitchFamily="34" charset="0"/>
                <a:ea typeface="맑은 고딕" pitchFamily="34" charset="-122"/>
                <a:cs typeface="맑은 고딕" pitchFamily="34" charset="-120"/>
              </a:rPr>
              <a:t>경도 λ = atan2(Y, X) = atan2( +4,078,527.19,  −3,132,053.79 ) = 127.522008°      ( X &lt; 0, Y &gt; 0 → 2 사분면 )</a:t>
            </a:r>
            <a:endParaRPr lang="en-US" sz="1000" dirty="0"/>
          </a:p>
          <a:p>
            <a:pPr marL="0" indent="0" algn="l">
              <a:lnSpc>
                <a:spcPct val="105000"/>
              </a:lnSpc>
              <a:spcAft>
                <a:spcPts val="800"/>
              </a:spcAft>
              <a:buNone/>
            </a:pPr>
            <a:r>
              <a:rPr lang="en-US" sz="1000" dirty="0">
                <a:solidFill>
                  <a:srgbClr val="1A2233"/>
                </a:solidFill>
                <a:latin typeface="맑은 고딕" pitchFamily="34" charset="0"/>
                <a:ea typeface="맑은 고딕" pitchFamily="34" charset="-122"/>
                <a:cs typeface="맑은 고딕" pitchFamily="34" charset="-120"/>
              </a:rPr>
              <a:t>위도 φ : p = √(X² + Y²) = 5,142,387.09 m,     φ0 = arctan(Z / p) = 36.177411°      ( 지구를 구로 본 첫 값 )</a:t>
            </a:r>
            <a:endParaRPr lang="en-US" sz="1000" dirty="0"/>
          </a:p>
          <a:p>
            <a:pPr marL="0" indent="0" algn="l">
              <a:lnSpc>
                <a:spcPct val="105000"/>
              </a:lnSpc>
              <a:spcAft>
                <a:spcPts val="800"/>
              </a:spcAft>
              <a:buNone/>
            </a:pPr>
            <a:r>
              <a:rPr lang="en-US" sz="1000" dirty="0">
                <a:solidFill>
                  <a:srgbClr val="1A2233"/>
                </a:solidFill>
                <a:latin typeface="맑은 고딕" pitchFamily="34" charset="0"/>
                <a:ea typeface="맑은 고딕" pitchFamily="34" charset="-122"/>
                <a:cs typeface="맑은 고딕" pitchFamily="34" charset="-120"/>
              </a:rPr>
              <a:t>        tan φ = ( Z + e² RN sinφ ) / p   에 φ0 를 넣고 되풀이 :</a:t>
            </a:r>
            <a:endParaRPr lang="en-US" sz="1000" dirty="0"/>
          </a:p>
          <a:p>
            <a:pPr marL="0" indent="0" algn="l">
              <a:lnSpc>
                <a:spcPct val="105000"/>
              </a:lnSpc>
              <a:spcAft>
                <a:spcPts val="800"/>
              </a:spcAft>
              <a:buNone/>
            </a:pPr>
            <a:r>
              <a:rPr lang="en-US" sz="1000" dirty="0">
                <a:solidFill>
                  <a:srgbClr val="1A2233"/>
                </a:solidFill>
                <a:latin typeface="맑은 고딕" pitchFamily="34" charset="0"/>
                <a:ea typeface="맑은 고딕" pitchFamily="34" charset="-122"/>
                <a:cs typeface="맑은 고딕" pitchFamily="34" charset="-120"/>
              </a:rPr>
              <a:t>        φ1 = 36.360167°  →  φ2 = 36.360964°  →  φ3 = 36.360967°  →  φ4 = 36.360967176°      ( 변화 &lt; 1e-7°, 멈춤 )</a:t>
            </a:r>
            <a:endParaRPr lang="en-US" sz="1000" dirty="0"/>
          </a:p>
          <a:p>
            <a:pPr marL="0" indent="0" algn="l">
              <a:lnSpc>
                <a:spcPct val="105000"/>
              </a:lnSpc>
              <a:spcAft>
                <a:spcPts val="800"/>
              </a:spcAft>
              <a:buNone/>
            </a:pPr>
            <a:r>
              <a:rPr lang="en-US" sz="1000" dirty="0">
                <a:solidFill>
                  <a:srgbClr val="1A2233"/>
                </a:solidFill>
                <a:latin typeface="맑은 고딕" pitchFamily="34" charset="0"/>
                <a:ea typeface="맑은 고딕" pitchFamily="34" charset="-122"/>
                <a:cs typeface="맑은 고딕" pitchFamily="34" charset="-120"/>
              </a:rPr>
              <a:t>고도 h = p / cosφ − RN = 6,385,695.57 − 6,385,654.29 = 41.2824 m</a:t>
            </a:r>
            <a:endParaRPr lang="en-US" sz="1000" dirty="0"/>
          </a:p>
          <a:p>
            <a:pPr marL="0" indent="0" algn="l">
              <a:lnSpc>
                <a:spcPct val="105000"/>
              </a:lnSpc>
              <a:buNone/>
            </a:pPr>
            <a:r>
              <a:rPr lang="en-US" sz="1000" dirty="0">
                <a:solidFill>
                  <a:srgbClr val="1A2233"/>
                </a:solidFill>
                <a:latin typeface="맑은 고딕" pitchFamily="34" charset="0"/>
                <a:ea typeface="맑은 고딕" pitchFamily="34" charset="-122"/>
                <a:cs typeface="맑은 고딕" pitchFamily="34" charset="-120"/>
              </a:rPr>
              <a:t>→ 표적 LLA = ( 36.360967176°N, 127.522008441°E, 41.2824 m )</a:t>
            </a:r>
            <a:endParaRPr lang="en-US" sz="1000" dirty="0"/>
          </a:p>
        </p:txBody>
      </p:sp>
      <p:sp>
        <p:nvSpPr>
          <p:cNvPr id="32" name="Shape 30"/>
          <p:cNvSpPr/>
          <p:nvPr/>
        </p:nvSpPr>
        <p:spPr>
          <a:xfrm>
            <a:off x="914400" y="5614416"/>
            <a:ext cx="10360152" cy="0"/>
          </a:xfrm>
          <a:prstGeom prst="line">
            <a:avLst/>
          </a:prstGeom>
          <a:noFill/>
          <a:ln w="11430">
            <a:solidFill>
              <a:srgbClr val="C9D6EC"/>
            </a:solidFill>
            <a:prstDash val="solid"/>
            <a:headEnd type="none"/>
            <a:tailEnd type="none"/>
          </a:ln>
        </p:spPr>
        <p:txBody>
          <a:bodyPr/>
          <a:p/>
        </p:txBody>
      </p:sp>
      <p:sp>
        <p:nvSpPr>
          <p:cNvPr id="33" name="Text 31"/>
          <p:cNvSpPr txBox="1"/>
          <p:nvPr/>
        </p:nvSpPr>
        <p:spPr>
          <a:xfrm>
            <a:off x="914400" y="5632704"/>
            <a:ext cx="10360152" cy="310896"/>
          </a:xfrm>
          <a:prstGeom prst="rect">
            <a:avLst/>
          </a:prstGeom>
          <a:noFill/>
          <a:ln/>
        </p:spPr>
        <p:txBody>
          <a:bodyPr wrap="square" lIns="0" tIns="0" rIns="0" bIns="0" rtlCol="0" anchor="ctr"/>
          <a:lstStyle/>
          <a:p>
            <a:pPr marL="0" indent="0" algn="ctr">
              <a:buNone/>
            </a:pPr>
            <a:r>
              <a:rPr lang="en-US" sz="1500" b="1" dirty="0">
                <a:solidFill>
                  <a:srgbClr val="1A2233"/>
                </a:solidFill>
                <a:latin typeface="맑은 고딕" pitchFamily="34" charset="0"/>
                <a:ea typeface="맑은 고딕" pitchFamily="34" charset="-122"/>
                <a:cs typeface="맑은 고딕" pitchFamily="34" charset="-120"/>
              </a:rPr>
              <a:t>표적 LLA  =    36.360967176°N        127.522008441°E        고도 41.2824 m</a:t>
            </a:r>
            <a:endParaRPr lang="en-US" sz="1500" dirty="0"/>
          </a:p>
        </p:txBody>
      </p:sp>
      <p:sp>
        <p:nvSpPr>
          <p:cNvPr id="34" name="Shape 32"/>
          <p:cNvSpPr/>
          <p:nvPr/>
        </p:nvSpPr>
        <p:spPr>
          <a:xfrm>
            <a:off x="914400" y="5943600"/>
            <a:ext cx="10360152" cy="0"/>
          </a:xfrm>
          <a:prstGeom prst="line">
            <a:avLst/>
          </a:prstGeom>
          <a:noFill/>
          <a:ln w="11430">
            <a:solidFill>
              <a:srgbClr val="C9D6EC"/>
            </a:solidFill>
            <a:prstDash val="solid"/>
            <a:headEnd type="none"/>
            <a:tailEnd type="none"/>
          </a:ln>
        </p:spPr>
        <p:txBody>
          <a:body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8EDF5"/>
        </a:solidFill>
        <a:effectLst/>
      </p:bgPr>
    </p:bg>
    <p:spTree>
      <p:nvGrpSpPr>
        <p:cNvPr id="1" name=""/>
        <p:cNvGrpSpPr/>
        <p:nvPr/>
      </p:nvGrpSpPr>
      <p:grpSpPr>
        <a:xfrm>
          <a:off x="0" y="0"/>
          <a:ext cx="0" cy="0"/>
          <a:chOff x="0" y="0"/>
          <a:chExt cx="0" cy="0"/>
        </a:xfrm>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02. 역변환</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22</a:t>
            </a:r>
            <a:endParaRPr lang="en-US" sz="900" dirty="0"/>
          </a:p>
        </p:txBody>
      </p:sp>
      <p:sp>
        <p:nvSpPr>
          <p:cNvPr id="8" name="Shape 6"/>
          <p:cNvSpPr/>
          <p:nvPr/>
        </p:nvSpPr>
        <p:spPr>
          <a:xfrm>
            <a:off x="914400" y="1371600"/>
            <a:ext cx="10360152" cy="914400"/>
          </a:xfrm>
          <a:prstGeom prst="roundRect">
            <a:avLst>
              <a:gd name="adj" fmla="val 5000"/>
            </a:avLst>
          </a:prstGeom>
          <a:solidFill>
            <a:srgbClr val="EEF1F7"/>
          </a:solidFill>
          <a:ln/>
        </p:spPr>
        <p:txBody>
          <a:bodyPr/>
          <a:p/>
        </p:txBody>
      </p:sp>
      <p:sp>
        <p:nvSpPr>
          <p:cNvPr id="9" name="Text 7"/>
          <p:cNvSpPr txBox="1"/>
          <p:nvPr/>
        </p:nvSpPr>
        <p:spPr>
          <a:xfrm>
            <a:off x="1097280" y="1517904"/>
            <a:ext cx="9994392" cy="676656"/>
          </a:xfrm>
          <a:prstGeom prst="rect">
            <a:avLst/>
          </a:prstGeom>
          <a:noFill/>
          <a:ln/>
        </p:spPr>
        <p:txBody>
          <a:bodyPr wrap="square" lIns="0" tIns="0" rIns="0" bIns="0" rtlCol="0" anchor="t"/>
          <a:lstStyle/>
          <a:p>
            <a:pPr marL="0" indent="0" algn="ctr">
              <a:lnSpc>
                <a:spcPct val="105000"/>
              </a:lnSpc>
              <a:spcAft>
                <a:spcPts val="1000"/>
              </a:spcAft>
              <a:buNone/>
            </a:pPr>
            <a:r>
              <a:rPr lang="en-US" sz="1700" b="1" dirty="0">
                <a:solidFill>
                  <a:srgbClr val="1A2233"/>
                </a:solidFill>
                <a:latin typeface="맑은 고딕" pitchFamily="34" charset="0"/>
                <a:ea typeface="맑은 고딕" pitchFamily="34" charset="-122"/>
                <a:cs typeface="맑은 고딕" pitchFamily="34" charset="-120"/>
              </a:rPr>
              <a:t>역변환은 새로울 게 없다</a:t>
            </a:r>
            <a:endParaRPr lang="en-US" sz="1700" dirty="0"/>
          </a:p>
          <a:p>
            <a:pPr marL="0" indent="0" algn="ctr">
              <a:lnSpc>
                <a:spcPct val="105000"/>
              </a:lnSpc>
              <a:buNone/>
            </a:pPr>
            <a:r>
              <a:rPr lang="en-US" sz="1300" b="1" dirty="0">
                <a:solidFill>
                  <a:srgbClr val="1A2233"/>
                </a:solidFill>
                <a:latin typeface="맑은 고딕" pitchFamily="34" charset="0"/>
                <a:ea typeface="맑은 고딕" pitchFamily="34" charset="-122"/>
                <a:cs typeface="맑은 고딕" pitchFamily="34" charset="-120"/>
              </a:rPr>
              <a:t>① 회전은 전치(transpose)          ② 평행이동은 빼기          ③ 순서는 거꾸로</a:t>
            </a:r>
            <a:endParaRPr lang="en-US" sz="1700" dirty="0"/>
          </a:p>
        </p:txBody>
      </p:sp>
      <p:sp>
        <p:nvSpPr>
          <p:cNvPr id="10" name="Shape 8"/>
          <p:cNvSpPr/>
          <p:nvPr/>
        </p:nvSpPr>
        <p:spPr>
          <a:xfrm>
            <a:off x="914400" y="2487168"/>
            <a:ext cx="10360152" cy="2340864"/>
          </a:xfrm>
          <a:prstGeom prst="roundRect">
            <a:avLst>
              <a:gd name="adj" fmla="val 1953"/>
            </a:avLst>
          </a:prstGeom>
          <a:solidFill>
            <a:srgbClr val="EEF1F7"/>
          </a:solidFill>
          <a:ln/>
        </p:spPr>
        <p:txBody>
          <a:bodyPr/>
          <a:p/>
        </p:txBody>
      </p:sp>
      <p:sp>
        <p:nvSpPr>
          <p:cNvPr id="11" name="Text 9"/>
          <p:cNvSpPr txBox="1"/>
          <p:nvPr/>
        </p:nvSpPr>
        <p:spPr>
          <a:xfrm>
            <a:off x="1298448" y="2834640"/>
            <a:ext cx="5669280" cy="201168"/>
          </a:xfrm>
          <a:prstGeom prst="rect">
            <a:avLst/>
          </a:prstGeom>
          <a:noFill/>
          <a:ln/>
        </p:spPr>
        <p:txBody>
          <a:bodyPr wrap="square" lIns="0" tIns="0" rIns="0" bIns="0" rtlCol="0" anchor="ctr"/>
          <a:lstStyle/>
          <a:p>
            <a:pPr marL="0" indent="0" algn="l">
              <a:buNone/>
            </a:pPr>
            <a:r>
              <a:rPr lang="en-US" sz="1150" dirty="0">
                <a:solidFill>
                  <a:srgbClr val="1A2233"/>
                </a:solidFill>
                <a:latin typeface="맑은 고딕" pitchFamily="34" charset="0"/>
                <a:ea typeface="맑은 고딕" pitchFamily="34" charset="-122"/>
                <a:cs typeface="맑은 고딕" pitchFamily="34" charset="-120"/>
              </a:rPr>
              <a:t>표적 LLA ( 36.360967176°N,   127.522008441°E,   41.2824 m )</a:t>
            </a:r>
            <a:endParaRPr lang="en-US" sz="1150" dirty="0"/>
          </a:p>
        </p:txBody>
      </p:sp>
      <p:sp>
        <p:nvSpPr>
          <p:cNvPr id="12" name="Text 10"/>
          <p:cNvSpPr txBox="1"/>
          <p:nvPr/>
        </p:nvSpPr>
        <p:spPr>
          <a:xfrm>
            <a:off x="1298448" y="3136392"/>
            <a:ext cx="1737360" cy="201168"/>
          </a:xfrm>
          <a:prstGeom prst="rect">
            <a:avLst/>
          </a:prstGeom>
          <a:noFill/>
          <a:ln/>
        </p:spPr>
        <p:txBody>
          <a:bodyPr wrap="square" lIns="0" tIns="0" rIns="0" bIns="0" rtlCol="0" anchor="ctr"/>
          <a:lstStyle/>
          <a:p>
            <a:pPr marL="0" indent="0" algn="l">
              <a:buNone/>
            </a:pPr>
            <a:r>
              <a:rPr lang="en-US" sz="1150" dirty="0">
                <a:solidFill>
                  <a:srgbClr val="1A2233"/>
                </a:solidFill>
                <a:latin typeface="맑은 고딕" pitchFamily="34" charset="0"/>
                <a:ea typeface="맑은 고딕" pitchFamily="34" charset="-122"/>
                <a:cs typeface="맑은 고딕" pitchFamily="34" charset="-120"/>
              </a:rPr>
              <a:t>   → ECEF</a:t>
            </a:r>
            <a:endParaRPr lang="en-US" sz="1150" dirty="0"/>
          </a:p>
        </p:txBody>
      </p:sp>
      <p:sp>
        <p:nvSpPr>
          <p:cNvPr id="13" name="Text 11"/>
          <p:cNvSpPr txBox="1"/>
          <p:nvPr/>
        </p:nvSpPr>
        <p:spPr>
          <a:xfrm>
            <a:off x="9015984" y="3136392"/>
            <a:ext cx="2194560" cy="201168"/>
          </a:xfrm>
          <a:prstGeom prst="rect">
            <a:avLst/>
          </a:prstGeom>
          <a:noFill/>
          <a:ln/>
        </p:spPr>
        <p:txBody>
          <a:bodyPr wrap="square" lIns="0" tIns="0" rIns="0" bIns="0" rtlCol="0" anchor="ctr"/>
          <a:lstStyle/>
          <a:p>
            <a:pPr marL="0" indent="0" algn="l">
              <a:buNone/>
            </a:pPr>
            <a:r>
              <a:rPr lang="en-US" sz="1000" dirty="0">
                <a:solidFill>
                  <a:srgbClr val="5A6478"/>
                </a:solidFill>
                <a:latin typeface="맑은 고딕" pitchFamily="34" charset="0"/>
                <a:ea typeface="맑은 고딕" pitchFamily="34" charset="-122"/>
                <a:cs typeface="맑은 고딕" pitchFamily="34" charset="-120"/>
              </a:rPr>
              <a:t>// 정변환과 같은 공식</a:t>
            </a:r>
            <a:endParaRPr lang="en-US" sz="1100" dirty="0"/>
          </a:p>
        </p:txBody>
      </p:sp>
      <p:sp>
        <p:nvSpPr>
          <p:cNvPr id="14" name="Text 12"/>
          <p:cNvSpPr txBox="1"/>
          <p:nvPr/>
        </p:nvSpPr>
        <p:spPr>
          <a:xfrm>
            <a:off x="1298448" y="3438144"/>
            <a:ext cx="1737360" cy="201168"/>
          </a:xfrm>
          <a:prstGeom prst="rect">
            <a:avLst/>
          </a:prstGeom>
          <a:noFill/>
          <a:ln/>
        </p:spPr>
        <p:txBody>
          <a:bodyPr wrap="square" lIns="0" tIns="0" rIns="0" bIns="0" rtlCol="0" anchor="ctr"/>
          <a:lstStyle/>
          <a:p>
            <a:pPr marL="0" indent="0" algn="l">
              <a:buNone/>
            </a:pPr>
            <a:r>
              <a:rPr lang="en-US" sz="1150" dirty="0">
                <a:solidFill>
                  <a:srgbClr val="1A2233"/>
                </a:solidFill>
                <a:latin typeface="맑은 고딕" pitchFamily="34" charset="0"/>
                <a:ea typeface="맑은 고딕" pitchFamily="34" charset="-122"/>
                <a:cs typeface="맑은 고딕" pitchFamily="34" charset="-120"/>
              </a:rPr>
              <a:t>   → 로컬 NED</a:t>
            </a:r>
            <a:endParaRPr lang="en-US" sz="1150" dirty="0"/>
          </a:p>
        </p:txBody>
      </p:sp>
      <p:sp>
        <p:nvSpPr>
          <p:cNvPr id="15" name="Text 13"/>
          <p:cNvSpPr txBox="1"/>
          <p:nvPr/>
        </p:nvSpPr>
        <p:spPr>
          <a:xfrm>
            <a:off x="3035808" y="3438144"/>
            <a:ext cx="5852160" cy="201168"/>
          </a:xfrm>
          <a:prstGeom prst="rect">
            <a:avLst/>
          </a:prstGeom>
          <a:noFill/>
          <a:ln/>
        </p:spPr>
        <p:txBody>
          <a:bodyPr wrap="square" lIns="0" tIns="0" rIns="0" bIns="0" rtlCol="0" anchor="ctr"/>
          <a:lstStyle/>
          <a:p>
            <a:pPr marL="0" indent="0" algn="l">
              <a:buNone/>
            </a:pPr>
            <a:r>
              <a:rPr lang="en-US" sz="1050" dirty="0">
                <a:solidFill>
                  <a:srgbClr val="1A2233"/>
                </a:solidFill>
                <a:latin typeface="맑은 고딕" pitchFamily="34" charset="0"/>
                <a:ea typeface="맑은 고딕" pitchFamily="34" charset="-122"/>
                <a:cs typeface="맑은 고딕" pitchFamily="34" charset="-120"/>
              </a:rPr>
              <a:t>C_ecef←ned^T × ( 표적 − 배 )  =  ( −5,197.59,  +19,297.30,  −10.00 ) m</a:t>
            </a:r>
            <a:endParaRPr lang="en-US" sz="1150" dirty="0"/>
          </a:p>
        </p:txBody>
      </p:sp>
      <p:sp>
        <p:nvSpPr>
          <p:cNvPr id="16" name="Text 14"/>
          <p:cNvSpPr txBox="1"/>
          <p:nvPr/>
        </p:nvSpPr>
        <p:spPr>
          <a:xfrm>
            <a:off x="9015984" y="3438144"/>
            <a:ext cx="2194560" cy="201168"/>
          </a:xfrm>
          <a:prstGeom prst="rect">
            <a:avLst/>
          </a:prstGeom>
          <a:noFill/>
          <a:ln/>
        </p:spPr>
        <p:txBody>
          <a:bodyPr wrap="square" lIns="0" tIns="0" rIns="0" bIns="0" rtlCol="0" anchor="ctr"/>
          <a:lstStyle/>
          <a:p>
            <a:pPr marL="0" indent="0" algn="l">
              <a:buNone/>
            </a:pPr>
            <a:r>
              <a:rPr lang="en-US" sz="1000" dirty="0">
                <a:solidFill>
                  <a:srgbClr val="5A6478"/>
                </a:solidFill>
                <a:latin typeface="맑은 고딕" pitchFamily="34" charset="0"/>
                <a:ea typeface="맑은 고딕" pitchFamily="34" charset="-122"/>
                <a:cs typeface="맑은 고딕" pitchFamily="34" charset="-120"/>
              </a:rPr>
              <a:t>// 전치 + 빼기</a:t>
            </a:r>
            <a:endParaRPr lang="en-US" sz="1100" dirty="0"/>
          </a:p>
        </p:txBody>
      </p:sp>
      <p:sp>
        <p:nvSpPr>
          <p:cNvPr id="17" name="Text 15"/>
          <p:cNvSpPr txBox="1"/>
          <p:nvPr/>
        </p:nvSpPr>
        <p:spPr>
          <a:xfrm>
            <a:off x="1298448" y="3739896"/>
            <a:ext cx="1737360" cy="201168"/>
          </a:xfrm>
          <a:prstGeom prst="rect">
            <a:avLst/>
          </a:prstGeom>
          <a:noFill/>
          <a:ln/>
        </p:spPr>
        <p:txBody>
          <a:bodyPr wrap="square" lIns="0" tIns="0" rIns="0" bIns="0" rtlCol="0" anchor="ctr"/>
          <a:lstStyle/>
          <a:p>
            <a:pPr marL="0" indent="0" algn="l">
              <a:buNone/>
            </a:pPr>
            <a:r>
              <a:rPr lang="en-US" sz="1150" dirty="0">
                <a:solidFill>
                  <a:srgbClr val="1A2233"/>
                </a:solidFill>
                <a:latin typeface="맑은 고딕" pitchFamily="34" charset="0"/>
                <a:ea typeface="맑은 고딕" pitchFamily="34" charset="-122"/>
                <a:cs typeface="맑은 고딕" pitchFamily="34" charset="-120"/>
              </a:rPr>
              <a:t>   → 동체</a:t>
            </a:r>
            <a:endParaRPr lang="en-US" sz="1150" dirty="0"/>
          </a:p>
        </p:txBody>
      </p:sp>
      <p:sp>
        <p:nvSpPr>
          <p:cNvPr id="18" name="Text 16"/>
          <p:cNvSpPr txBox="1"/>
          <p:nvPr/>
        </p:nvSpPr>
        <p:spPr>
          <a:xfrm>
            <a:off x="3035808" y="3739896"/>
            <a:ext cx="5852160" cy="201168"/>
          </a:xfrm>
          <a:prstGeom prst="rect">
            <a:avLst/>
          </a:prstGeom>
          <a:noFill/>
          <a:ln/>
        </p:spPr>
        <p:txBody>
          <a:bodyPr wrap="square" lIns="0" tIns="0" rIns="0" bIns="0" rtlCol="0" anchor="ctr"/>
          <a:lstStyle/>
          <a:p>
            <a:pPr marL="0" indent="0" algn="l">
              <a:buNone/>
            </a:pPr>
            <a:r>
              <a:rPr lang="en-US" sz="1050" dirty="0">
                <a:solidFill>
                  <a:srgbClr val="1A2233"/>
                </a:solidFill>
                <a:latin typeface="맑은 고딕" pitchFamily="34" charset="0"/>
                <a:ea typeface="맑은 고딕" pitchFamily="34" charset="-122"/>
                <a:cs typeface="맑은 고딕" pitchFamily="34" charset="-120"/>
              </a:rPr>
              <a:t>C_ned←body^T × p_NED  =  ( +9,970.00,  +17,320.51,  −10.00 ) m</a:t>
            </a:r>
            <a:endParaRPr lang="en-US" sz="1150" dirty="0"/>
          </a:p>
        </p:txBody>
      </p:sp>
      <p:sp>
        <p:nvSpPr>
          <p:cNvPr id="19" name="Text 17"/>
          <p:cNvSpPr txBox="1"/>
          <p:nvPr/>
        </p:nvSpPr>
        <p:spPr>
          <a:xfrm>
            <a:off x="9015984" y="3739896"/>
            <a:ext cx="2194560" cy="201168"/>
          </a:xfrm>
          <a:prstGeom prst="rect">
            <a:avLst/>
          </a:prstGeom>
          <a:noFill/>
          <a:ln/>
        </p:spPr>
        <p:txBody>
          <a:bodyPr wrap="square" lIns="0" tIns="0" rIns="0" bIns="0" rtlCol="0" anchor="ctr"/>
          <a:lstStyle/>
          <a:p>
            <a:pPr marL="0" indent="0" algn="l">
              <a:buNone/>
            </a:pPr>
            <a:r>
              <a:rPr lang="en-US" sz="1000" dirty="0">
                <a:solidFill>
                  <a:srgbClr val="5A6478"/>
                </a:solidFill>
                <a:latin typeface="맑은 고딕" pitchFamily="34" charset="0"/>
                <a:ea typeface="맑은 고딕" pitchFamily="34" charset="-122"/>
                <a:cs typeface="맑은 고딕" pitchFamily="34" charset="-120"/>
              </a:rPr>
              <a:t>// 전치</a:t>
            </a:r>
            <a:endParaRPr lang="en-US" sz="1100" dirty="0"/>
          </a:p>
        </p:txBody>
      </p:sp>
      <p:sp>
        <p:nvSpPr>
          <p:cNvPr id="20" name="Text 18"/>
          <p:cNvSpPr txBox="1"/>
          <p:nvPr/>
        </p:nvSpPr>
        <p:spPr>
          <a:xfrm>
            <a:off x="1298448" y="4041648"/>
            <a:ext cx="1737360" cy="201168"/>
          </a:xfrm>
          <a:prstGeom prst="rect">
            <a:avLst/>
          </a:prstGeom>
          <a:noFill/>
          <a:ln/>
        </p:spPr>
        <p:txBody>
          <a:bodyPr wrap="square" lIns="0" tIns="0" rIns="0" bIns="0" rtlCol="0" anchor="ctr"/>
          <a:lstStyle/>
          <a:p>
            <a:pPr marL="0" indent="0" algn="l">
              <a:buNone/>
            </a:pPr>
            <a:r>
              <a:rPr lang="en-US" sz="1150" dirty="0">
                <a:solidFill>
                  <a:srgbClr val="1A2233"/>
                </a:solidFill>
                <a:latin typeface="맑은 고딕" pitchFamily="34" charset="0"/>
                <a:ea typeface="맑은 고딕" pitchFamily="34" charset="-122"/>
                <a:cs typeface="맑은 고딕" pitchFamily="34" charset="-120"/>
              </a:rPr>
              <a:t>   → 안테나</a:t>
            </a:r>
            <a:endParaRPr lang="en-US" sz="1150" dirty="0"/>
          </a:p>
        </p:txBody>
      </p:sp>
      <p:sp>
        <p:nvSpPr>
          <p:cNvPr id="21" name="Text 19"/>
          <p:cNvSpPr txBox="1"/>
          <p:nvPr/>
        </p:nvSpPr>
        <p:spPr>
          <a:xfrm>
            <a:off x="3035808" y="4041648"/>
            <a:ext cx="5852160" cy="201168"/>
          </a:xfrm>
          <a:prstGeom prst="rect">
            <a:avLst/>
          </a:prstGeom>
          <a:noFill/>
          <a:ln/>
        </p:spPr>
        <p:txBody>
          <a:bodyPr wrap="square" lIns="0" tIns="0" rIns="0" bIns="0" rtlCol="0" anchor="ctr"/>
          <a:lstStyle/>
          <a:p>
            <a:pPr marL="0" indent="0" algn="l">
              <a:buNone/>
            </a:pPr>
            <a:r>
              <a:rPr lang="en-US" sz="1050" dirty="0">
                <a:solidFill>
                  <a:srgbClr val="1A2233"/>
                </a:solidFill>
                <a:latin typeface="맑은 고딕" pitchFamily="34" charset="0"/>
                <a:ea typeface="맑은 고딕" pitchFamily="34" charset="-122"/>
                <a:cs typeface="맑은 고딕" pitchFamily="34" charset="-120"/>
              </a:rPr>
              <a:t>C_body←ant^T × ( p동체 − 레버암 )  =  ( +10,000.00,  0.00,  +17,320.51 ) m</a:t>
            </a:r>
            <a:endParaRPr lang="en-US" sz="1150" dirty="0"/>
          </a:p>
        </p:txBody>
      </p:sp>
      <p:sp>
        <p:nvSpPr>
          <p:cNvPr id="22" name="Text 20"/>
          <p:cNvSpPr txBox="1"/>
          <p:nvPr/>
        </p:nvSpPr>
        <p:spPr>
          <a:xfrm>
            <a:off x="9015984" y="4041648"/>
            <a:ext cx="2194560" cy="201168"/>
          </a:xfrm>
          <a:prstGeom prst="rect">
            <a:avLst/>
          </a:prstGeom>
          <a:noFill/>
          <a:ln/>
        </p:spPr>
        <p:txBody>
          <a:bodyPr wrap="square" lIns="0" tIns="0" rIns="0" bIns="0" rtlCol="0" anchor="ctr"/>
          <a:lstStyle/>
          <a:p>
            <a:pPr marL="0" indent="0" algn="l">
              <a:buNone/>
            </a:pPr>
            <a:r>
              <a:rPr lang="en-US" sz="1000" dirty="0">
                <a:solidFill>
                  <a:srgbClr val="5A6478"/>
                </a:solidFill>
                <a:latin typeface="맑은 고딕" pitchFamily="34" charset="0"/>
                <a:ea typeface="맑은 고딕" pitchFamily="34" charset="-122"/>
                <a:cs typeface="맑은 고딕" pitchFamily="34" charset="-120"/>
              </a:rPr>
              <a:t>// 전치 + 빼기</a:t>
            </a:r>
            <a:endParaRPr lang="en-US" sz="1100" dirty="0"/>
          </a:p>
        </p:txBody>
      </p:sp>
      <p:sp>
        <p:nvSpPr>
          <p:cNvPr id="23" name="Text 21"/>
          <p:cNvSpPr txBox="1"/>
          <p:nvPr/>
        </p:nvSpPr>
        <p:spPr>
          <a:xfrm>
            <a:off x="1298448" y="4343400"/>
            <a:ext cx="1737360" cy="201168"/>
          </a:xfrm>
          <a:prstGeom prst="rect">
            <a:avLst/>
          </a:prstGeom>
          <a:noFill/>
          <a:ln/>
        </p:spPr>
        <p:txBody>
          <a:bodyPr wrap="square" lIns="0" tIns="0" rIns="0" bIns="0" rtlCol="0" anchor="ctr"/>
          <a:lstStyle/>
          <a:p>
            <a:pPr marL="0" indent="0" algn="l">
              <a:buNone/>
            </a:pPr>
            <a:r>
              <a:rPr lang="en-US" sz="1150" dirty="0">
                <a:solidFill>
                  <a:srgbClr val="1A2233"/>
                </a:solidFill>
                <a:latin typeface="맑은 고딕" pitchFamily="34" charset="0"/>
                <a:ea typeface="맑은 고딕" pitchFamily="34" charset="-122"/>
                <a:cs typeface="맑은 고딕" pitchFamily="34" charset="-120"/>
              </a:rPr>
              <a:t>   → 극좌표</a:t>
            </a:r>
            <a:endParaRPr lang="en-US" sz="1150" dirty="0"/>
          </a:p>
        </p:txBody>
      </p:sp>
      <p:sp>
        <p:nvSpPr>
          <p:cNvPr id="24" name="Text 22"/>
          <p:cNvSpPr txBox="1"/>
          <p:nvPr/>
        </p:nvSpPr>
        <p:spPr>
          <a:xfrm>
            <a:off x="3035808" y="4343400"/>
            <a:ext cx="5852160" cy="201168"/>
          </a:xfrm>
          <a:prstGeom prst="rect">
            <a:avLst/>
          </a:prstGeom>
          <a:noFill/>
          <a:ln/>
        </p:spPr>
        <p:txBody>
          <a:bodyPr wrap="square" lIns="0" tIns="0" rIns="0" bIns="0" rtlCol="0" anchor="ctr"/>
          <a:lstStyle/>
          <a:p>
            <a:pPr marL="0" indent="0" algn="l">
              <a:buNone/>
            </a:pPr>
            <a:r>
              <a:rPr lang="en-US" sz="1050" dirty="0">
                <a:solidFill>
                  <a:srgbClr val="1A2233"/>
                </a:solidFill>
                <a:latin typeface="맑은 고딕" pitchFamily="34" charset="0"/>
                <a:ea typeface="맑은 고딕" pitchFamily="34" charset="-122"/>
                <a:cs typeface="맑은 고딕" pitchFamily="34" charset="-120"/>
              </a:rPr>
              <a:t>R = √(x²+y²+z²),     Az = atan2(x, z),     El = atan2(y, √(x²+z²))</a:t>
            </a:r>
            <a:endParaRPr lang="en-US" sz="1150" dirty="0"/>
          </a:p>
        </p:txBody>
      </p:sp>
      <p:sp>
        <p:nvSpPr>
          <p:cNvPr id="25" name="Shape 23"/>
          <p:cNvSpPr/>
          <p:nvPr/>
        </p:nvSpPr>
        <p:spPr>
          <a:xfrm>
            <a:off x="914400" y="5029200"/>
            <a:ext cx="10360152" cy="841248"/>
          </a:xfrm>
          <a:prstGeom prst="roundRect">
            <a:avLst>
              <a:gd name="adj" fmla="val 5435"/>
            </a:avLst>
          </a:prstGeom>
          <a:solidFill>
            <a:srgbClr val="EEF1F7"/>
          </a:solidFill>
          <a:ln/>
        </p:spPr>
        <p:txBody>
          <a:bodyPr/>
          <a:p/>
        </p:txBody>
      </p:sp>
      <p:sp>
        <p:nvSpPr>
          <p:cNvPr id="26" name="Text 24"/>
          <p:cNvSpPr txBox="1"/>
          <p:nvPr/>
        </p:nvSpPr>
        <p:spPr>
          <a:xfrm>
            <a:off x="914400" y="5029200"/>
            <a:ext cx="10360152" cy="841248"/>
          </a:xfrm>
          <a:prstGeom prst="rect">
            <a:avLst/>
          </a:prstGeom>
          <a:noFill/>
          <a:ln/>
        </p:spPr>
        <p:txBody>
          <a:bodyPr wrap="square" lIns="0" tIns="0" rIns="0" bIns="0" rtlCol="0" anchor="ctr"/>
          <a:lstStyle/>
          <a:p>
            <a:pPr marL="0" indent="0" algn="ctr">
              <a:buNone/>
            </a:pPr>
            <a:r>
              <a:rPr lang="en-US" sz="1700" b="1" dirty="0">
                <a:solidFill>
                  <a:srgbClr val="1A2233"/>
                </a:solidFill>
                <a:latin typeface="맑은 고딕" pitchFamily="34" charset="0"/>
                <a:ea typeface="맑은 고딕" pitchFamily="34" charset="-122"/>
                <a:cs typeface="맑은 고딕" pitchFamily="34" charset="-120"/>
              </a:rPr>
              <a:t>결과 :  R = 20,000.000000 m          Az = 30.000000°          El = 0.000000°</a:t>
            </a:r>
            <a:endParaRPr lang="en-US" sz="1700" dirty="0"/>
          </a:p>
        </p:txBody>
      </p:sp>
      <p:sp>
        <p:nvSpPr>
          <p:cNvPr id="9001" name="Text 9001"/>
          <p:cNvSpPr txBox="1"/>
          <p:nvPr/>
        </p:nvSpPr>
        <p:spPr>
          <a:xfrm>
            <a:off x="3035808" y="3136392"/>
            <a:ext cx="5852160" cy="201168"/>
          </a:xfrm>
          <a:prstGeom prst="rect">
            <a:avLst/>
          </a:prstGeom>
          <a:noFill/>
          <a:ln/>
        </p:spPr>
        <p:txBody>
          <a:bodyPr wrap="square" lIns="0" tIns="0" rIns="0" bIns="0" rtlCol="0" anchor="ctr"/>
          <a:lstStyle/>
          <a:p>
            <a:pPr marL="0" indent="0" algn="l">
              <a:buNone/>
            </a:pPr>
            <a:r>
              <a:rPr lang="en-US" sz="1050" dirty="0">
                <a:solidFill>
                  <a:srgbClr val="1A2233"/>
                </a:solidFill>
                <a:latin typeface="맑은 고딕" pitchFamily="34" charset="0"/>
                <a:ea typeface="맑은 고딕" pitchFamily="34" charset="-122"/>
                <a:cs typeface="맑은 고딕" pitchFamily="34" charset="-120"/>
              </a:rPr>
              <a:t>( −3,132,053.79,  +4,078,527.19,  +3,760,545.95 ) m</a:t>
            </a:r>
            <a:endParaRPr lang="en-US" sz="11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Shape 0"/>
          <p:cNvSpPr/>
          <p:nvPr/>
        </p:nvSpPr>
        <p:spPr>
          <a:xfrm>
            <a:off x="0" y="0"/>
            <a:ext cx="4224528" cy="6858000"/>
          </a:xfrm>
          <a:prstGeom prst="rect">
            <a:avLst/>
          </a:prstGeom>
          <a:solidFill>
            <a:srgbClr val="13233F"/>
          </a:solidFill>
          <a:ln/>
        </p:spPr>
        <p:txBody>
          <a:bodyPr/>
          <a:p/>
        </p:txBody>
      </p:sp>
      <p:sp>
        <p:nvSpPr>
          <p:cNvPr id="3" name="Text 1"/>
          <p:cNvSpPr txBox="1"/>
          <p:nvPr/>
        </p:nvSpPr>
        <p:spPr>
          <a:xfrm>
            <a:off x="2532888" y="566928"/>
            <a:ext cx="640080" cy="365760"/>
          </a:xfrm>
          <a:prstGeom prst="rect">
            <a:avLst/>
          </a:prstGeom>
          <a:noFill/>
          <a:ln/>
        </p:spPr>
        <p:txBody>
          <a:bodyPr wrap="square" lIns="0" tIns="0" rIns="0" bIns="0" rtlCol="0" anchor="ctr"/>
          <a:lstStyle/>
          <a:p>
            <a:pPr marL="0" indent="0" algn="r">
              <a:buNone/>
            </a:pPr>
            <a:r>
              <a:rPr lang="en-US" sz="1900" b="1" dirty="0">
                <a:solidFill>
                  <a:srgbClr val="FFFFFF"/>
                </a:solidFill>
                <a:latin typeface="Arial" pitchFamily="34" charset="0"/>
                <a:ea typeface="Arial" pitchFamily="34" charset="-122"/>
                <a:cs typeface="Arial" pitchFamily="34" charset="-120"/>
              </a:rPr>
              <a:t>03</a:t>
            </a:r>
            <a:endParaRPr lang="en-US" sz="1900" dirty="0"/>
          </a:p>
        </p:txBody>
      </p:sp>
      <p:sp>
        <p:nvSpPr>
          <p:cNvPr id="4" name="Shape 2"/>
          <p:cNvSpPr/>
          <p:nvPr/>
        </p:nvSpPr>
        <p:spPr>
          <a:xfrm>
            <a:off x="3264408" y="749808"/>
            <a:ext cx="960120" cy="0"/>
          </a:xfrm>
          <a:prstGeom prst="line">
            <a:avLst/>
          </a:prstGeom>
          <a:noFill/>
          <a:ln w="12700">
            <a:solidFill>
              <a:srgbClr val="C9D6EC"/>
            </a:solidFill>
            <a:prstDash val="solid"/>
            <a:headEnd type="none"/>
            <a:tailEnd type="none"/>
          </a:ln>
        </p:spPr>
        <p:txBody>
          <a:bodyPr/>
          <a:p/>
        </p:txBody>
      </p:sp>
      <p:sp>
        <p:nvSpPr>
          <p:cNvPr id="5" name="Shape 3"/>
          <p:cNvSpPr/>
          <p:nvPr/>
        </p:nvSpPr>
        <p:spPr>
          <a:xfrm>
            <a:off x="4224528" y="749808"/>
            <a:ext cx="7400239" cy="0"/>
          </a:xfrm>
          <a:prstGeom prst="line">
            <a:avLst/>
          </a:prstGeom>
          <a:noFill/>
          <a:ln w="11430">
            <a:solidFill>
              <a:srgbClr val="13233F"/>
            </a:solidFill>
            <a:prstDash val="solid"/>
            <a:headEnd type="none"/>
            <a:tailEnd type="none"/>
          </a:ln>
        </p:spPr>
        <p:txBody>
          <a:bodyPr/>
          <a:p/>
        </p:txBody>
      </p:sp>
      <p:sp>
        <p:nvSpPr>
          <p:cNvPr id="6" name="Text 4"/>
          <p:cNvSpPr txBox="1"/>
          <p:nvPr/>
        </p:nvSpPr>
        <p:spPr>
          <a:xfrm>
            <a:off x="274320" y="3017520"/>
            <a:ext cx="3675888" cy="822960"/>
          </a:xfrm>
          <a:prstGeom prst="rect">
            <a:avLst/>
          </a:prstGeom>
          <a:noFill/>
          <a:ln/>
        </p:spPr>
        <p:txBody>
          <a:bodyPr wrap="square" lIns="0" tIns="0" rIns="0" bIns="0" rtlCol="0" anchor="ctr"/>
          <a:lstStyle/>
          <a:p>
            <a:pPr marL="0" indent="0" algn="ctr">
              <a:buNone/>
            </a:pPr>
            <a:r>
              <a:rPr lang="en-US" sz="2900" b="1" dirty="0">
                <a:solidFill>
                  <a:srgbClr val="FFFFFF"/>
                </a:solidFill>
                <a:latin typeface="맑은 고딕" pitchFamily="34" charset="0"/>
                <a:ea typeface="맑은 고딕" pitchFamily="34" charset="-122"/>
                <a:cs typeface="맑은 고딕" pitchFamily="34" charset="-120"/>
              </a:rPr>
              <a:t>C언어로 구현</a:t>
            </a:r>
            <a:endParaRPr lang="en-US" sz="2900" dirty="0"/>
          </a:p>
        </p:txBody>
      </p:sp>
      <p:sp>
        <p:nvSpPr>
          <p:cNvPr id="8" name="Text 6"/>
          <p:cNvSpPr txBox="1"/>
          <p:nvPr/>
        </p:nvSpPr>
        <p:spPr>
          <a:xfrm>
            <a:off x="4224528" y="6419088"/>
            <a:ext cx="7967167"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23</a:t>
            </a:r>
            <a:endParaRPr lang="en-US" sz="900" dirty="0"/>
          </a:p>
        </p:txBody>
      </p:sp>
      <p:sp>
        <p:nvSpPr>
          <p:cNvPr id="11" name="Text 9"/>
          <p:cNvSpPr txBox="1"/>
          <p:nvPr/>
        </p:nvSpPr>
        <p:spPr>
          <a:xfrm>
            <a:off x="5001768" y="1481328"/>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1</a:t>
            </a:r>
            <a:endParaRPr lang="en-US" sz="2100" dirty="0"/>
          </a:p>
        </p:txBody>
      </p:sp>
      <p:sp>
        <p:nvSpPr>
          <p:cNvPr id="12" name="Text 10"/>
          <p:cNvSpPr txBox="1"/>
          <p:nvPr/>
        </p:nvSpPr>
        <p:spPr>
          <a:xfrm>
            <a:off x="5797296" y="1481328"/>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회전행렬 – 공식과 코드</a:t>
            </a:r>
            <a:endParaRPr lang="en-US" sz="1350" dirty="0"/>
          </a:p>
        </p:txBody>
      </p:sp>
      <p:sp>
        <p:nvSpPr>
          <p:cNvPr id="13" name="Text 11"/>
          <p:cNvSpPr txBox="1"/>
          <p:nvPr/>
        </p:nvSpPr>
        <p:spPr>
          <a:xfrm>
            <a:off x="5001768" y="2871216"/>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3</a:t>
            </a:r>
            <a:endParaRPr lang="en-US" sz="2100" dirty="0"/>
          </a:p>
        </p:txBody>
      </p:sp>
      <p:sp>
        <p:nvSpPr>
          <p:cNvPr id="14" name="Text 12"/>
          <p:cNvSpPr txBox="1"/>
          <p:nvPr/>
        </p:nvSpPr>
        <p:spPr>
          <a:xfrm>
            <a:off x="5797296" y="2871216"/>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안테나 극좌표 → 직교 → 동체</a:t>
            </a:r>
            <a:endParaRPr lang="en-US" sz="1350" dirty="0"/>
          </a:p>
        </p:txBody>
      </p:sp>
      <p:sp>
        <p:nvSpPr>
          <p:cNvPr id="15" name="Text 13"/>
          <p:cNvSpPr txBox="1"/>
          <p:nvPr/>
        </p:nvSpPr>
        <p:spPr>
          <a:xfrm>
            <a:off x="5001768" y="3566160"/>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4</a:t>
            </a:r>
            <a:endParaRPr lang="en-US" sz="2100" dirty="0"/>
          </a:p>
        </p:txBody>
      </p:sp>
      <p:sp>
        <p:nvSpPr>
          <p:cNvPr id="16" name="Text 14"/>
          <p:cNvSpPr txBox="1"/>
          <p:nvPr/>
        </p:nvSpPr>
        <p:spPr>
          <a:xfrm>
            <a:off x="5797296" y="3566160"/>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동체 → NED → ECEF</a:t>
            </a:r>
            <a:endParaRPr lang="en-US" sz="1350" dirty="0"/>
          </a:p>
        </p:txBody>
      </p:sp>
      <p:sp>
        <p:nvSpPr>
          <p:cNvPr id="17" name="Text 15"/>
          <p:cNvSpPr txBox="1"/>
          <p:nvPr/>
        </p:nvSpPr>
        <p:spPr>
          <a:xfrm>
            <a:off x="5001768" y="4261104"/>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5</a:t>
            </a:r>
            <a:endParaRPr lang="en-US" sz="2100" dirty="0"/>
          </a:p>
        </p:txBody>
      </p:sp>
      <p:sp>
        <p:nvSpPr>
          <p:cNvPr id="18" name="Text 16"/>
          <p:cNvSpPr txBox="1"/>
          <p:nvPr/>
        </p:nvSpPr>
        <p:spPr>
          <a:xfrm>
            <a:off x="5797296" y="4261104"/>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ECEF ↔ LLA</a:t>
            </a:r>
            <a:endParaRPr lang="en-US" sz="1350" dirty="0"/>
          </a:p>
        </p:txBody>
      </p:sp>
      <p:sp>
        <p:nvSpPr>
          <p:cNvPr id="19" name="Copy 19"/>
          <p:cNvSpPr txBox="1"/>
          <p:nvPr/>
        </p:nvSpPr>
        <p:spPr>
          <a:xfrm>
            <a:off x="5001768" y="4956048"/>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6</a:t>
            </a:r>
            <a:endParaRPr lang="en-US" sz="2100" dirty="0"/>
          </a:p>
        </p:txBody>
      </p:sp>
      <p:sp>
        <p:nvSpPr>
          <p:cNvPr id="20" name="Copy 20"/>
          <p:cNvSpPr txBox="1"/>
          <p:nvPr/>
        </p:nvSpPr>
        <p:spPr>
          <a:xfrm>
            <a:off x="5797296" y="4956048"/>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역변환</a:t>
            </a:r>
            <a:endParaRPr lang="en-US" sz="1350" dirty="0"/>
          </a:p>
        </p:txBody>
      </p:sp>
      <p:sp>
        <p:nvSpPr>
          <p:cNvPr id="21" name="Copy 21"/>
          <p:cNvSpPr txBox="1"/>
          <p:nvPr/>
        </p:nvSpPr>
        <p:spPr>
          <a:xfrm>
            <a:off x="5001768" y="5650992"/>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7</a:t>
            </a:r>
            <a:endParaRPr lang="en-US" sz="2100" dirty="0"/>
          </a:p>
        </p:txBody>
      </p:sp>
      <p:sp>
        <p:nvSpPr>
          <p:cNvPr id="22" name="Copy 22"/>
          <p:cNvSpPr txBox="1"/>
          <p:nvPr/>
        </p:nvSpPr>
        <p:spPr>
          <a:xfrm>
            <a:off x="5797296" y="5650992"/>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실행 결과와 UI 확인</a:t>
            </a:r>
            <a:endParaRPr lang="en-US" sz="1350" dirty="0"/>
          </a:p>
        </p:txBody>
      </p:sp>
      <p:sp>
        <p:nvSpPr>
          <p:cNvPr id="92" name="Copy 22"/>
          <p:cNvSpPr txBox="1"/>
          <p:nvPr/>
        </p:nvSpPr>
        <p:spPr>
          <a:xfrm>
            <a:off x="5797296" y="2176272"/>
            <a:ext cx="6035040" cy="384048"/>
          </a:xfrm>
          <a:prstGeom prst="rect">
            <a:avLst/>
          </a:prstGeom>
          <a:noFill/>
          <a:ln/>
        </p:spPr>
        <p:txBody>
          <a:bodyPr wrap="square" lIns="0" tIns="0" rIns="0" bIns="0" rtlCol="0" anchor="ctr"/>
          <a:lstStyle/>
          <a:p>
            <a:pPr marL="0" indent="0">
              <a:buNone/>
            </a:pPr>
            <a:r>
              <a:rPr lang="en-US" sz="1350" dirty="0">
                <a:solidFill>
                  <a:srgbClr val="1A2233"/>
                </a:solidFill>
                <a:latin typeface="맑은 고딕" pitchFamily="34" charset="0"/>
                <a:ea typeface="맑은 고딕" pitchFamily="34" charset="-122"/>
                <a:cs typeface="맑은 고딕" pitchFamily="34" charset="-120"/>
              </a:rPr>
              <a:t>안테나 → 동체 – 축 맞춤과 회전 순서</a:t>
            </a:r>
            <a:endParaRPr lang="en-US" sz="1350" dirty="0"/>
          </a:p>
        </p:txBody>
      </p:sp>
      <p:sp>
        <p:nvSpPr>
          <p:cNvPr id="91" name="Copy 21"/>
          <p:cNvSpPr txBox="1"/>
          <p:nvPr/>
        </p:nvSpPr>
        <p:spPr>
          <a:xfrm>
            <a:off x="5001768" y="2176272"/>
            <a:ext cx="457200" cy="384048"/>
          </a:xfrm>
          <a:prstGeom prst="rect">
            <a:avLst/>
          </a:prstGeom>
          <a:noFill/>
          <a:ln/>
        </p:spPr>
        <p:txBody>
          <a:bodyPr wrap="square" lIns="0" tIns="0" rIns="0" bIns="0" rtlCol="0" anchor="ctr"/>
          <a:lstStyle/>
          <a:p>
            <a:pPr marL="0" indent="0">
              <a:buNone/>
            </a:pPr>
            <a:r>
              <a:rPr lang="en-US" sz="2100" b="1" dirty="0">
                <a:solidFill>
                  <a:srgbClr val="2B57A6"/>
                </a:solidFill>
                <a:latin typeface="Arial" pitchFamily="34" charset="0"/>
                <a:ea typeface="Arial" pitchFamily="34" charset="-122"/>
                <a:cs typeface="Arial" pitchFamily="34" charset="-120"/>
              </a:rPr>
              <a:t>2</a:t>
            </a:r>
            <a:endParaRPr lang="en-US" sz="21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회전행렬 – 공식과 코드</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24</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공식의 3×3 을 그대로 배열 칸에 옮겨 담는다. 0 인 칸은 아예 건드리지 않는다.</a:t>
            </a:r>
            <a:endParaRPr lang="en-US" sz="1450" dirty="0"/>
          </a:p>
        </p:txBody>
      </p:sp>
      <p:sp>
        <p:nvSpPr>
          <p:cNvPr id="10" name="TextBox 9"/>
          <p:cNvSpPr txBox="1"/>
          <p:nvPr/>
        </p:nvSpPr>
        <p:spPr>
          <a:xfrm>
            <a:off x="914400" y="1773936"/>
            <a:ext cx="4663440" cy="219456"/>
          </a:xfrm>
          <a:prstGeom prst="rect">
            <a:avLst/>
          </a:prstGeom>
          <a:noFill/>
          <a:ln/>
        </p:spPr>
        <p:txBody>
          <a:bodyPr wrap="square" lIns="0" rIns="0" tIns="0" bIns="0">
            <a:spAutoFit/>
          </a:bodyPr>
          <a:lstStyle/>
          <a:p>
            <a:r>
              <a:rPr sz="1050" b="1">
                <a:solidFill>
                  <a:srgbClr val="1A2233"/>
                </a:solidFill>
                <a:latin typeface="맑은 고딕"/>
              </a:rPr>
              <a:t>공식</a:t>
            </a:r>
          </a:p>
        </p:txBody>
      </p:sp>
      <p:sp>
        <p:nvSpPr>
          <p:cNvPr id="11" name="Rounded Rectangle 10"/>
          <p:cNvSpPr/>
          <p:nvPr/>
        </p:nvSpPr>
        <p:spPr>
          <a:xfrm>
            <a:off x="914400" y="2029968"/>
            <a:ext cx="4663440" cy="1536192"/>
          </a:xfrm>
          <a:prstGeom prst="roundRect">
            <a:avLst>
              <a:gd name="adj" fmla="val 4000"/>
            </a:avLst>
          </a:prstGeom>
          <a:solidFill>
            <a:srgbClr val="EEF1F7"/>
          </a:solidFill>
          <a:ln>
            <a:noFill/>
          </a:ln>
          <a:effectLst/>
        </p:spPr>
        <p:txBody>
          <a:bodyPr rtlCol="0" anchor="ctr"/>
          <a:lstStyle/>
          <a:p>
            <a:pPr algn="ctr"/>
          </a:p>
        </p:txBody>
      </p:sp>
      <p:pic>
        <p:nvPicPr>
          <p:cNvPr id="12" name="Picture 11" descr="rotz.png"/>
          <p:cNvPicPr>
            <a:picLocks noChangeAspect="1"/>
          </p:cNvPicPr>
          <p:nvPr/>
        </p:nvPicPr>
        <p:blipFill>
          <a:blip r:embed="rId2"/>
          <a:stretch>
            <a:fillRect/>
          </a:stretch>
        </p:blipFill>
        <p:spPr>
          <a:xfrm>
            <a:off x="1351929" y="2157984"/>
            <a:ext cx="3788380" cy="1280160"/>
          </a:xfrm>
          <a:prstGeom prst="rect">
            <a:avLst/>
          </a:prstGeom>
          <a:ln/>
        </p:spPr>
      </p:pic>
      <p:sp>
        <p:nvSpPr>
          <p:cNvPr id="13" name="TextBox 12"/>
          <p:cNvSpPr txBox="1"/>
          <p:nvPr/>
        </p:nvSpPr>
        <p:spPr>
          <a:xfrm>
            <a:off x="5760720" y="1773936"/>
            <a:ext cx="5513832" cy="219456"/>
          </a:xfrm>
          <a:prstGeom prst="rect">
            <a:avLst/>
          </a:prstGeom>
          <a:noFill/>
          <a:ln/>
        </p:spPr>
        <p:txBody>
          <a:bodyPr wrap="square" lIns="0" rIns="0" tIns="0" bIns="0">
            <a:spAutoFit/>
          </a:bodyPr>
          <a:lstStyle/>
          <a:p>
            <a:r>
              <a:rPr sz="1050" b="1">
                <a:solidFill>
                  <a:srgbClr val="1A2233"/>
                </a:solidFill>
                <a:latin typeface="맑은 고딕"/>
              </a:rPr>
              <a:t>C 구현    f_RotZ()</a:t>
            </a:r>
          </a:p>
        </p:txBody>
      </p:sp>
      <p:sp>
        <p:nvSpPr>
          <p:cNvPr id="14" name="Rounded Rectangle 13"/>
          <p:cNvSpPr/>
          <p:nvPr/>
        </p:nvSpPr>
        <p:spPr>
          <a:xfrm>
            <a:off x="5760720" y="2029968"/>
            <a:ext cx="5513832" cy="1536192"/>
          </a:xfrm>
          <a:prstGeom prst="roundRect">
            <a:avLst>
              <a:gd name="adj" fmla="val 2000"/>
            </a:avLst>
          </a:prstGeom>
          <a:solidFill>
            <a:srgbClr val="F5F7FB"/>
          </a:solidFill>
          <a:ln>
            <a:noFill/>
          </a:ln>
          <a:effectLst/>
        </p:spPr>
        <p:txBody>
          <a:bodyPr rtlCol="0" anchor="ctr"/>
          <a:lstStyle/>
          <a:p>
            <a:pPr algn="ctr"/>
          </a:p>
        </p:txBody>
      </p:sp>
      <p:sp>
        <p:nvSpPr>
          <p:cNvPr id="15" name="TextBox 14"/>
          <p:cNvSpPr txBox="1"/>
          <p:nvPr/>
        </p:nvSpPr>
        <p:spPr>
          <a:xfrm>
            <a:off x="5907024" y="2112264"/>
            <a:ext cx="5221224" cy="1389888"/>
          </a:xfrm>
          <a:prstGeom prst="rect">
            <a:avLst/>
          </a:prstGeom>
          <a:noFill/>
          <a:ln/>
        </p:spPr>
        <p:txBody>
          <a:bodyPr wrap="square" lIns="0" rIns="0" tIns="0" bIns="0">
            <a:spAutoFit/>
          </a:bodyPr>
          <a:lstStyle/>
          <a:p>
            <a:pPr>
              <a:spcBef>
                <a:spcPts val="0"/>
              </a:spcBef>
            </a:pPr>
            <a:r>
              <a:rPr sz="900" b="0">
                <a:solidFill>
                  <a:srgbClr val="1A2233"/>
                </a:solidFill>
                <a:latin typeface="Consolas"/>
              </a:rPr>
              <a:t>static matrix f_RotZ(const FLOAT64 dAng)</a:t>
            </a:r>
          </a:p>
          <a:p>
            <a:pPr>
              <a:spcBef>
                <a:spcPts val="160"/>
              </a:spcBef>
            </a:pPr>
            <a:r>
              <a:rPr sz="900" b="0">
                <a:solidFill>
                  <a:srgbClr val="1A2233"/>
                </a:solidFill>
                <a:latin typeface="Consolas"/>
              </a:rPr>
              <a:t>{</a:t>
            </a:r>
          </a:p>
          <a:p>
            <a:pPr>
              <a:spcBef>
                <a:spcPts val="160"/>
              </a:spcBef>
            </a:pPr>
            <a:r>
              <a:rPr sz="900" b="0">
                <a:solidFill>
                  <a:srgbClr val="1A2233"/>
                </a:solidFill>
                <a:latin typeface="Consolas"/>
              </a:rPr>
              <a:t>    matrix stR;</a:t>
            </a:r>
          </a:p>
          <a:p>
            <a:pPr>
              <a:spcBef>
                <a:spcPts val="160"/>
              </a:spcBef>
            </a:pPr>
            <a:r>
              <a:rPr sz="900" b="0">
                <a:solidFill>
                  <a:srgbClr val="1A2233"/>
                </a:solidFill>
                <a:latin typeface="Consolas"/>
              </a:rPr>
              <a:t>    Matrix_initialize(&amp;stR, 3, 3);   // 3x3 으로 잡고 전부 0</a:t>
            </a:r>
          </a:p>
          <a:p>
            <a:pPr>
              <a:spcBef>
                <a:spcPts val="160"/>
              </a:spcBef>
            </a:pPr>
            <a:r>
              <a:rPr sz="900" b="0">
                <a:solidFill>
                  <a:srgbClr val="1A2233"/>
                </a:solidFill>
                <a:latin typeface="Consolas"/>
              </a:rPr>
              <a:t>    stR.e[0][0] =  cos(dAng);   stR.e[0][1] = -sin(dAng);</a:t>
            </a:r>
          </a:p>
          <a:p>
            <a:pPr>
              <a:spcBef>
                <a:spcPts val="160"/>
              </a:spcBef>
            </a:pPr>
            <a:r>
              <a:rPr sz="900" b="0">
                <a:solidFill>
                  <a:srgbClr val="1A2233"/>
                </a:solidFill>
                <a:latin typeface="Consolas"/>
              </a:rPr>
              <a:t>    stR.e[1][0] =  sin(dAng);   stR.e[1][1] =  cos(dAng);</a:t>
            </a:r>
          </a:p>
          <a:p>
            <a:pPr>
              <a:spcBef>
                <a:spcPts val="160"/>
              </a:spcBef>
            </a:pPr>
            <a:r>
              <a:rPr sz="900" b="0">
                <a:solidFill>
                  <a:srgbClr val="1A2233"/>
                </a:solidFill>
                <a:latin typeface="Consolas"/>
              </a:rPr>
              <a:t>    stR.e[2][2] = 1.0;</a:t>
            </a:r>
          </a:p>
          <a:p>
            <a:pPr>
              <a:spcBef>
                <a:spcPts val="160"/>
              </a:spcBef>
            </a:pPr>
            <a:r>
              <a:rPr sz="900" b="0">
                <a:solidFill>
                  <a:srgbClr val="1A2233"/>
                </a:solidFill>
                <a:latin typeface="Consolas"/>
              </a:rPr>
              <a:t>    return stR;</a:t>
            </a:r>
          </a:p>
          <a:p>
            <a:pPr>
              <a:spcBef>
                <a:spcPts val="160"/>
              </a:spcBef>
            </a:pPr>
            <a:r>
              <a:rPr sz="900" b="0">
                <a:solidFill>
                  <a:srgbClr val="1A2233"/>
                </a:solidFill>
                <a:latin typeface="Consolas"/>
              </a:rPr>
              <a:t>}</a:t>
            </a:r>
          </a:p>
        </p:txBody>
      </p:sp>
      <p:sp>
        <p:nvSpPr>
          <p:cNvPr id="16" name="Rounded Rectangle 15"/>
          <p:cNvSpPr/>
          <p:nvPr/>
        </p:nvSpPr>
        <p:spPr>
          <a:xfrm>
            <a:off x="914400" y="3712463"/>
            <a:ext cx="10360152" cy="914400"/>
          </a:xfrm>
          <a:prstGeom prst="roundRect">
            <a:avLst>
              <a:gd name="adj" fmla="val 4000"/>
            </a:avLst>
          </a:prstGeom>
          <a:solidFill>
            <a:srgbClr val="EEF1F7"/>
          </a:solidFill>
          <a:ln>
            <a:noFill/>
          </a:ln>
          <a:effectLst/>
        </p:spPr>
        <p:txBody>
          <a:bodyPr rtlCol="0" anchor="ctr"/>
          <a:lstStyle/>
          <a:p>
            <a:pPr algn="ctr"/>
          </a:p>
        </p:txBody>
      </p:sp>
      <p:sp>
        <p:nvSpPr>
          <p:cNvPr id="17" name="TextBox 16"/>
          <p:cNvSpPr txBox="1"/>
          <p:nvPr/>
        </p:nvSpPr>
        <p:spPr>
          <a:xfrm>
            <a:off x="1133856" y="3803904"/>
            <a:ext cx="9921240" cy="749808"/>
          </a:xfrm>
          <a:prstGeom prst="rect">
            <a:avLst/>
          </a:prstGeom>
          <a:noFill/>
          <a:ln/>
        </p:spPr>
        <p:txBody>
          <a:bodyPr wrap="square" lIns="0" rIns="0" tIns="0" bIns="0">
            <a:spAutoFit/>
          </a:bodyPr>
          <a:lstStyle/>
          <a:p>
            <a:r>
              <a:rPr sz="1150" b="1">
                <a:solidFill>
                  <a:srgbClr val="1A2233"/>
                </a:solidFill>
                <a:latin typeface="맑은 고딕"/>
              </a:rPr>
              <a:t>행렬 칸 ↔ 배열 첨자는 1 : 1</a:t>
            </a:r>
          </a:p>
          <a:p>
            <a:pPr>
              <a:spcBef>
                <a:spcPts val="500"/>
              </a:spcBef>
            </a:pPr>
            <a:r>
              <a:rPr sz="900" b="0">
                <a:solidFill>
                  <a:srgbClr val="1A2233"/>
                </a:solidFill>
                <a:latin typeface="Consolas"/>
              </a:rPr>
              <a:t>e[0][0] = cos θ    e[0][1] = −sin θ        e[1][0] = sin θ    e[1][1] = cos θ        e[2][2] = 1        나머지 네 칸은 0 그대로</a:t>
            </a:r>
          </a:p>
          <a:p>
            <a:pPr>
              <a:spcBef>
                <a:spcPts val="400"/>
              </a:spcBef>
            </a:pPr>
            <a:r>
              <a:rPr sz="900" b="0">
                <a:solidFill>
                  <a:srgbClr val="5A6478"/>
                </a:solidFill>
                <a:latin typeface="맑은 고딕"/>
              </a:rPr>
              <a:t>f_RotX · f_RotY 도 같은 방식이다. 다만 Ry 만 부호가 반대라 e[0][2] = +sin, e[2][0] = −sin 이다 (p.6 공식 그대로).</a:t>
            </a:r>
          </a:p>
        </p:txBody>
      </p:sp>
      <p:sp>
        <p:nvSpPr>
          <p:cNvPr id="20" name="Rounded Rectangle 19"/>
          <p:cNvSpPr/>
          <p:nvPr/>
        </p:nvSpPr>
        <p:spPr>
          <a:xfrm>
            <a:off x="914400" y="4773168"/>
            <a:ext cx="10360152" cy="1005840"/>
          </a:xfrm>
          <a:prstGeom prst="roundRect">
            <a:avLst>
              <a:gd name="adj" fmla="val 4000"/>
            </a:avLst>
          </a:prstGeom>
          <a:solidFill>
            <a:srgbClr val="EEF1F7"/>
          </a:solidFill>
          <a:ln>
            <a:noFill/>
          </a:ln>
          <a:effectLst/>
        </p:spPr>
        <p:txBody>
          <a:bodyPr rtlCol="0" anchor="ctr"/>
          <a:lstStyle/>
          <a:p>
            <a:pPr algn="ctr"/>
          </a:p>
        </p:txBody>
      </p:sp>
      <p:sp>
        <p:nvSpPr>
          <p:cNvPr id="21" name="TextBox 20"/>
          <p:cNvSpPr txBox="1"/>
          <p:nvPr/>
        </p:nvSpPr>
        <p:spPr>
          <a:xfrm>
            <a:off x="1133856" y="4873752"/>
            <a:ext cx="9921240" cy="841248"/>
          </a:xfrm>
          <a:prstGeom prst="rect">
            <a:avLst/>
          </a:prstGeom>
          <a:noFill/>
          <a:ln/>
        </p:spPr>
        <p:txBody>
          <a:bodyPr wrap="square" lIns="0" rIns="0" tIns="0" bIns="0">
            <a:spAutoFit/>
          </a:bodyPr>
          <a:lstStyle/>
          <a:p>
            <a:r>
              <a:rPr sz="1150" b="1">
                <a:solidFill>
                  <a:srgbClr val="1A2233"/>
                </a:solidFill>
                <a:latin typeface="맑은 고딕"/>
              </a:rPr>
              <a:t>곱하는 순서가 결과를 바꾼다</a:t>
            </a:r>
          </a:p>
          <a:p>
            <a:pPr>
              <a:spcBef>
                <a:spcPts val="400"/>
              </a:spcBef>
            </a:pPr>
            <a:r>
              <a:rPr sz="880" b="0">
                <a:solidFill>
                  <a:srgbClr val="5A6478"/>
                </a:solidFill>
                <a:latin typeface="맑은 고딕"/>
              </a:rPr>
              <a:t>R₁ · R₂ ≠ R₂ · R₁ — 회전에는 교환법칙이 없다. 오른쪽 행렬이 벡터에 먼저 걸린다.</a:t>
            </a:r>
          </a:p>
          <a:p>
            <a:pPr>
              <a:spcBef>
                <a:spcPts val="200"/>
              </a:spcBef>
            </a:pPr>
            <a:r>
              <a:rPr sz="880" b="0">
                <a:solidFill>
                  <a:srgbClr val="5A6478"/>
                </a:solidFill>
                <a:latin typeface="맑은 고딕"/>
              </a:rPr>
              <a:t>각 회전은 자기 축이 놓인 좌표계에 도달한 뒤에 걸어야 한다.</a:t>
            </a:r>
          </a:p>
          <a:p>
            <a:pPr>
              <a:spcBef>
                <a:spcPts val="200"/>
              </a:spcBef>
            </a:pPr>
            <a:r>
              <a:rPr sz="880" b="0">
                <a:solidFill>
                  <a:srgbClr val="5A6478"/>
                </a:solidFill>
                <a:latin typeface="맑은 고딕"/>
              </a:rPr>
              <a:t>순서를 바꿔도 에러가 아니라 조용히 다른 값이 나온다 (p.25 · p.27).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안테나 → 동체    회전이 세 번인 이유</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25</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안테나 축을 동체 축 이름으로 바꾸고(A), 그 위에 실제 설치 자세를 얹는다(Ry · Rz).</a:t>
            </a:r>
            <a:endParaRPr lang="en-US" sz="1450" dirty="0"/>
          </a:p>
        </p:txBody>
      </p:sp>
      <p:sp>
        <p:nvSpPr>
          <p:cNvPr id="10" name="TextBox 9"/>
          <p:cNvSpPr txBox="1"/>
          <p:nvPr/>
        </p:nvSpPr>
        <p:spPr>
          <a:xfrm>
            <a:off x="914400" y="1773936"/>
            <a:ext cx="4663440" cy="219456"/>
          </a:xfrm>
          <a:prstGeom prst="rect">
            <a:avLst/>
          </a:prstGeom>
          <a:noFill/>
          <a:ln/>
        </p:spPr>
        <p:txBody>
          <a:bodyPr wrap="square" lIns="0" rIns="0" tIns="0" bIns="0">
            <a:spAutoFit/>
          </a:bodyPr>
          <a:lstStyle/>
          <a:p>
            <a:r>
              <a:rPr sz="1050" b="1">
                <a:solidFill>
                  <a:srgbClr val="1A2233"/>
                </a:solidFill>
                <a:latin typeface="맑은 고딕"/>
              </a:rPr>
              <a:t>① A — 축 이름 재배치 (설치와 무관한 상수)</a:t>
            </a:r>
          </a:p>
        </p:txBody>
      </p:sp>
      <p:sp>
        <p:nvSpPr>
          <p:cNvPr id="11" name="Rounded Rectangle 10"/>
          <p:cNvSpPr/>
          <p:nvPr/>
        </p:nvSpPr>
        <p:spPr>
          <a:xfrm>
            <a:off x="914400" y="2029968"/>
            <a:ext cx="4663440" cy="1188720"/>
          </a:xfrm>
          <a:prstGeom prst="roundRect">
            <a:avLst>
              <a:gd name="adj" fmla="val 4000"/>
            </a:avLst>
          </a:prstGeom>
          <a:solidFill>
            <a:srgbClr val="EEF1F7"/>
          </a:solidFill>
          <a:ln>
            <a:noFill/>
          </a:ln>
          <a:effectLst/>
        </p:spPr>
        <p:txBody>
          <a:bodyPr rtlCol="0" anchor="ctr"/>
          <a:lstStyle/>
          <a:p>
            <a:pPr algn="ctr"/>
          </a:p>
        </p:txBody>
      </p:sp>
      <p:sp>
        <p:nvSpPr>
          <p:cNvPr id="13" name="TextBox 12"/>
          <p:cNvSpPr txBox="1"/>
          <p:nvPr/>
        </p:nvSpPr>
        <p:spPr>
          <a:xfrm>
            <a:off x="5760720" y="1773936"/>
            <a:ext cx="5513832" cy="219456"/>
          </a:xfrm>
          <a:prstGeom prst="rect">
            <a:avLst/>
          </a:prstGeom>
          <a:noFill/>
          <a:ln/>
        </p:spPr>
        <p:txBody>
          <a:bodyPr wrap="square" lIns="0" rIns="0" tIns="0" bIns="0">
            <a:spAutoFit/>
          </a:bodyPr>
          <a:lstStyle/>
          <a:p>
            <a:r>
              <a:rPr sz="1050" b="1">
                <a:solidFill>
                  <a:srgbClr val="1A2233"/>
                </a:solidFill>
                <a:latin typeface="맑은 고딕"/>
              </a:rPr>
              <a:t>② ③ 설치 자세 — 보어사이트 추적 (방위 90°, 백틸트 20° 예)</a:t>
            </a:r>
          </a:p>
        </p:txBody>
      </p:sp>
      <p:sp>
        <p:nvSpPr>
          <p:cNvPr id="14" name="Rounded Rectangle 13"/>
          <p:cNvSpPr/>
          <p:nvPr/>
        </p:nvSpPr>
        <p:spPr>
          <a:xfrm>
            <a:off x="5760720" y="2029968"/>
            <a:ext cx="5513832" cy="1188720"/>
          </a:xfrm>
          <a:prstGeom prst="roundRect">
            <a:avLst>
              <a:gd name="adj" fmla="val 2000"/>
            </a:avLst>
          </a:prstGeom>
          <a:solidFill>
            <a:srgbClr val="EEF1F7"/>
          </a:solidFill>
          <a:ln>
            <a:noFill/>
          </a:ln>
          <a:effectLst/>
        </p:spPr>
        <p:txBody>
          <a:bodyPr rtlCol="0" anchor="ctr"/>
          <a:lstStyle/>
          <a:p>
            <a:pPr algn="ctr"/>
          </a:p>
        </p:txBody>
      </p:sp>
      <p:sp>
        <p:nvSpPr>
          <p:cNvPr id="90" name="TextBox 14"/>
          <p:cNvSpPr txBox="1"/>
          <p:nvPr/>
        </p:nvSpPr>
        <p:spPr>
          <a:xfrm>
            <a:off x="1060704" y="2112264"/>
            <a:ext cx="4370832" cy="1042415"/>
          </a:xfrm>
          <a:prstGeom prst="rect">
            <a:avLst/>
          </a:prstGeom>
          <a:noFill/>
          <a:ln/>
        </p:spPr>
        <p:txBody>
          <a:bodyPr wrap="square" lIns="0" rIns="0" tIns="0" bIns="0">
            <a:spAutoFit/>
          </a:bodyPr>
          <a:lstStyle/>
          <a:p>
            <a:pPr>
              <a:spcBef>
                <a:spcPts val="0"/>
              </a:spcBef>
            </a:pPr>
            <a:r>
              <a:rPr sz="900" b="0">
                <a:solidFill>
                  <a:srgbClr val="1A2233"/>
                </a:solidFill>
                <a:latin typeface="Consolas"/>
              </a:rPr>
              <a:t>안테나 x (왼쪽)         →   동체 −y (좌현)</a:t>
            </a:r>
          </a:p>
          <a:p>
            <a:pPr>
              <a:spcBef>
                <a:spcPts val="160"/>
              </a:spcBef>
            </a:pPr>
            <a:r>
              <a:rPr sz="900" b="0">
                <a:solidFill>
                  <a:srgbClr val="1A2233"/>
                </a:solidFill>
                <a:latin typeface="Consolas"/>
              </a:rPr>
              <a:t>안테나 y (위)           →   동체 −z (위)</a:t>
            </a:r>
          </a:p>
          <a:p>
            <a:pPr>
              <a:spcBef>
                <a:spcPts val="160"/>
              </a:spcBef>
            </a:pPr>
            <a:r>
              <a:rPr sz="900" b="0">
                <a:solidFill>
                  <a:srgbClr val="1A2233"/>
                </a:solidFill>
                <a:latin typeface="Consolas"/>
              </a:rPr>
              <a:t>안테나 z (보어사이트)   →   동체 +x (선수)</a:t>
            </a:r>
          </a:p>
          <a:p>
            <a:pPr>
              <a:spcBef>
                <a:spcPts val="160"/>
              </a:spcBef>
            </a:pPr>
            <a:r>
              <a:rPr sz="900" b="0">
                <a:solidFill>
                  <a:srgbClr val="1A2233"/>
                </a:solidFill>
                <a:latin typeface="Consolas"/>
              </a:rPr>
              <a:t>돌리는 게 아니라 (좌, 위, 정면) 을</a:t>
            </a:r>
          </a:p>
          <a:p>
            <a:pPr>
              <a:spcBef>
                <a:spcPts val="160"/>
              </a:spcBef>
            </a:pPr>
            <a:r>
              <a:rPr sz="900" b="0">
                <a:solidFill>
                  <a:srgbClr val="1A2233"/>
                </a:solidFill>
                <a:latin typeface="Consolas"/>
              </a:rPr>
              <a:t>(정면, 우, 아래) 순서로 다시 적는 것. 그래서 상수.</a:t>
            </a:r>
          </a:p>
        </p:txBody>
      </p:sp>
      <p:sp>
        <p:nvSpPr>
          <p:cNvPr id="15" name="TextBox 14"/>
          <p:cNvSpPr txBox="1"/>
          <p:nvPr/>
        </p:nvSpPr>
        <p:spPr>
          <a:xfrm>
            <a:off x="5907024" y="2112264"/>
            <a:ext cx="5221224" cy="1042415"/>
          </a:xfrm>
          <a:prstGeom prst="rect">
            <a:avLst/>
          </a:prstGeom>
          <a:noFill/>
          <a:ln/>
        </p:spPr>
        <p:txBody>
          <a:bodyPr wrap="square" lIns="0" rIns="0" tIns="0" bIns="0">
            <a:spAutoFit/>
          </a:bodyPr>
          <a:lstStyle/>
          <a:p>
            <a:pPr>
              <a:spcBef>
                <a:spcPts val="0"/>
              </a:spcBef>
            </a:pPr>
            <a:r>
              <a:rPr sz="900" b="0">
                <a:solidFill>
                  <a:srgbClr val="1A2233"/>
                </a:solidFill>
                <a:latin typeface="Consolas"/>
              </a:rPr>
              <a:t>A · p                    선수              고각  0°</a:t>
            </a:r>
          </a:p>
          <a:p>
            <a:pPr>
              <a:spcBef>
                <a:spcPts val="160"/>
              </a:spcBef>
            </a:pPr>
            <a:r>
              <a:rPr sz="900" b="0">
                <a:solidFill>
                  <a:srgbClr val="1A2233"/>
                </a:solidFill>
                <a:latin typeface="Consolas"/>
              </a:rPr>
              <a:t>Ry(τ) · A · p            선수에서 위로     고각 20°</a:t>
            </a:r>
          </a:p>
          <a:p>
            <a:pPr>
              <a:spcBef>
                <a:spcPts val="160"/>
              </a:spcBef>
            </a:pPr>
            <a:r>
              <a:rPr sz="900" b="0">
                <a:solidFill>
                  <a:srgbClr val="1A2233"/>
                </a:solidFill>
                <a:latin typeface="Consolas"/>
              </a:rPr>
              <a:t>Rz(ψ) · Ry(τ) · A · p    우현에서 위로     고각 20°   ← 실제 설치</a:t>
            </a:r>
          </a:p>
          <a:p>
            <a:pPr>
              <a:spcBef>
                <a:spcPts val="160"/>
              </a:spcBef>
            </a:pPr>
            <a:r>
              <a:rPr sz="900" b="0">
                <a:solidFill>
                  <a:srgbClr val="1A2233"/>
                </a:solidFill>
                <a:latin typeface="Consolas"/>
              </a:rPr>
              <a:t/>
            </a:r>
          </a:p>
          <a:p>
            <a:pPr>
              <a:spcBef>
                <a:spcPts val="160"/>
              </a:spcBef>
            </a:pPr>
            <a:r>
              <a:rPr sz="900" b="0">
                <a:solidFill>
                  <a:srgbClr val="1A2233"/>
                </a:solidFill>
                <a:latin typeface="Consolas"/>
              </a:rPr>
              <a:t>ψ = 설치 방위(뱃머리에서 시계방향),  τ = 안테나 면이 들린 각</a:t>
            </a:r>
          </a:p>
        </p:txBody>
      </p:sp>
      <p:sp>
        <p:nvSpPr>
          <p:cNvPr id="16" name="Rounded Rectangle 15"/>
          <p:cNvSpPr/>
          <p:nvPr/>
        </p:nvSpPr>
        <p:spPr>
          <a:xfrm>
            <a:off x="914400" y="3438144"/>
            <a:ext cx="10360152" cy="1024128"/>
          </a:xfrm>
          <a:prstGeom prst="roundRect">
            <a:avLst>
              <a:gd name="adj" fmla="val 4000"/>
            </a:avLst>
          </a:prstGeom>
          <a:solidFill>
            <a:srgbClr val="EEF1F7"/>
          </a:solidFill>
          <a:ln>
            <a:noFill/>
          </a:ln>
          <a:effectLst/>
        </p:spPr>
        <p:txBody>
          <a:bodyPr rtlCol="0" anchor="ctr"/>
          <a:lstStyle/>
          <a:p>
            <a:pPr algn="ctr"/>
          </a:p>
        </p:txBody>
      </p:sp>
      <p:sp>
        <p:nvSpPr>
          <p:cNvPr id="17" name="TextBox 16"/>
          <p:cNvSpPr txBox="1"/>
          <p:nvPr/>
        </p:nvSpPr>
        <p:spPr>
          <a:xfrm>
            <a:off x="1133856" y="3538728"/>
            <a:ext cx="9921240" cy="841248"/>
          </a:xfrm>
          <a:prstGeom prst="rect">
            <a:avLst/>
          </a:prstGeom>
          <a:noFill/>
          <a:ln/>
        </p:spPr>
        <p:txBody>
          <a:bodyPr wrap="square" lIns="0" rIns="0" tIns="0" bIns="0">
            <a:spAutoFit/>
          </a:bodyPr>
          <a:lstStyle/>
          <a:p>
            <a:r>
              <a:rPr sz="1150" b="1">
                <a:solidFill>
                  <a:srgbClr val="1A2233"/>
                </a:solidFill>
                <a:latin typeface="맑은 고딕"/>
              </a:rPr>
              <a:t>왜 이 순서인가 — 회전은 자기 축이 놓인 좌표계에 도달한 뒤에 걸린다</a:t>
            </a:r>
          </a:p>
          <a:p>
            <a:pPr>
              <a:spcBef>
                <a:spcPts val="500"/>
              </a:spcBef>
            </a:pPr>
            <a:r>
              <a:rPr sz="900" b="0">
                <a:solidFill>
                  <a:srgbClr val="1A2233"/>
                </a:solidFill>
                <a:latin typeface="Consolas"/>
              </a:rPr>
              <a:t>p_body = Rz(ψ) · Ry(τ) · A · p_ant + t_lever          맨 오른쪽 A 가 벡터에 가장 먼저 걸린다</a:t>
            </a:r>
          </a:p>
          <a:p>
            <a:pPr>
              <a:spcBef>
                <a:spcPts val="400"/>
              </a:spcBef>
            </a:pPr>
            <a:r>
              <a:rPr sz="900" b="0">
                <a:solidFill>
                  <a:srgbClr val="5A6478"/>
                </a:solidFill>
                <a:latin typeface="맑은 고딕"/>
              </a:rPr>
              <a:t>Rz(ψ) 는 동체 z(아래) 둘레 회전이다. A 보다 먼저 걸리면 벡터가 아직 안테나 좌표여서, 동체의 '아래' 가 아니라 보어사이트 축 둘레로 돌아 버린다.</a:t>
            </a:r>
          </a:p>
        </p:txBody>
      </p:sp>
      <p:sp>
        <p:nvSpPr>
          <p:cNvPr id="18" name="Rounded Rectangle 17"/>
          <p:cNvSpPr/>
          <p:nvPr/>
        </p:nvSpPr>
        <p:spPr>
          <a:xfrm>
            <a:off x="914400" y="4663440"/>
            <a:ext cx="5074920" cy="1133856"/>
          </a:xfrm>
          <a:prstGeom prst="roundRect">
            <a:avLst>
              <a:gd name="adj" fmla="val 4000"/>
            </a:avLst>
          </a:prstGeom>
          <a:solidFill>
            <a:srgbClr val="EEF1F7"/>
          </a:solidFill>
          <a:ln>
            <a:noFill/>
          </a:ln>
          <a:effectLst/>
        </p:spPr>
        <p:txBody>
          <a:bodyPr rtlCol="0" anchor="ctr"/>
          <a:lstStyle/>
          <a:p>
            <a:pPr algn="ctr"/>
          </a:p>
        </p:txBody>
      </p:sp>
      <p:sp>
        <p:nvSpPr>
          <p:cNvPr id="19" name="TextBox 18"/>
          <p:cNvSpPr txBox="1"/>
          <p:nvPr/>
        </p:nvSpPr>
        <p:spPr>
          <a:xfrm>
            <a:off x="1097280" y="4764024"/>
            <a:ext cx="4709160" cy="950976"/>
          </a:xfrm>
          <a:prstGeom prst="rect">
            <a:avLst/>
          </a:prstGeom>
          <a:noFill/>
          <a:ln/>
        </p:spPr>
        <p:txBody>
          <a:bodyPr wrap="square" lIns="0" rIns="0" tIns="0" bIns="0">
            <a:spAutoFit/>
          </a:bodyPr>
          <a:lstStyle/>
          <a:p>
            <a:r>
              <a:rPr sz="1150" b="1">
                <a:solidFill>
                  <a:srgbClr val="1A2233"/>
                </a:solidFill>
                <a:latin typeface="맑은 고딕"/>
              </a:rPr>
              <a:t>순서를 바꾸면</a:t>
            </a:r>
          </a:p>
          <a:p>
            <a:pPr>
              <a:spcBef>
                <a:spcPts val="400"/>
              </a:spcBef>
            </a:pPr>
            <a:r>
              <a:rPr sz="880" b="0">
                <a:solidFill>
                  <a:srgbClr val="5A6478"/>
                </a:solidFill>
                <a:latin typeface="맑은 고딕"/>
              </a:rPr>
              <a:t>A · Rz(ψ)  →  (17,320.51,  0,  −10,000) — 표적이 상공 10 km</a:t>
            </a:r>
          </a:p>
          <a:p>
            <a:pPr>
              <a:spcBef>
                <a:spcPts val="200"/>
              </a:spcBef>
            </a:pPr>
            <a:r>
              <a:rPr sz="880" b="0">
                <a:solidFill>
                  <a:srgbClr val="5A6478"/>
                </a:solidFill>
                <a:latin typeface="맑은 고딕"/>
              </a:rPr>
              <a:t>Ry(τ) · Rz(ψ)  →  우현 설치에서 백틸트가 통째로 사라진다</a:t>
            </a:r>
          </a:p>
          <a:p>
            <a:pPr>
              <a:spcBef>
                <a:spcPts val="200"/>
              </a:spcBef>
            </a:pPr>
            <a:r>
              <a:rPr sz="880" b="0">
                <a:solidFill>
                  <a:srgbClr val="5A6478"/>
                </a:solidFill>
                <a:latin typeface="맑은 고딕"/>
              </a:rPr>
              <a:t>회전축과 보어사이트가 겹쳐 Ry 가 아무 일도 하지 않기 때문</a:t>
            </a:r>
          </a:p>
        </p:txBody>
      </p:sp>
      <p:sp>
        <p:nvSpPr>
          <p:cNvPr id="20" name="Rounded Rectangle 19"/>
          <p:cNvSpPr/>
          <p:nvPr/>
        </p:nvSpPr>
        <p:spPr>
          <a:xfrm>
            <a:off x="6199632" y="4663440"/>
            <a:ext cx="5074920" cy="1133856"/>
          </a:xfrm>
          <a:prstGeom prst="roundRect">
            <a:avLst>
              <a:gd name="adj" fmla="val 4000"/>
            </a:avLst>
          </a:prstGeom>
          <a:solidFill>
            <a:srgbClr val="EEF1F7"/>
          </a:solidFill>
          <a:ln>
            <a:noFill/>
          </a:ln>
          <a:effectLst/>
        </p:spPr>
        <p:txBody>
          <a:bodyPr rtlCol="0" anchor="ctr"/>
          <a:lstStyle/>
          <a:p>
            <a:pPr algn="ctr"/>
          </a:p>
        </p:txBody>
      </p:sp>
      <p:sp>
        <p:nvSpPr>
          <p:cNvPr id="21" name="TextBox 20"/>
          <p:cNvSpPr txBox="1"/>
          <p:nvPr/>
        </p:nvSpPr>
        <p:spPr>
          <a:xfrm>
            <a:off x="6382512" y="4764024"/>
            <a:ext cx="4709160" cy="950976"/>
          </a:xfrm>
          <a:prstGeom prst="rect">
            <a:avLst/>
          </a:prstGeom>
          <a:noFill/>
          <a:ln/>
        </p:spPr>
        <p:txBody>
          <a:bodyPr wrap="square" lIns="0" rIns="0" tIns="0" bIns="0">
            <a:spAutoFit/>
          </a:bodyPr>
          <a:lstStyle/>
          <a:p>
            <a:r>
              <a:rPr sz="1150" b="1">
                <a:solidFill>
                  <a:srgbClr val="1A2233"/>
                </a:solidFill>
                <a:latin typeface="맑은 고딕"/>
              </a:rPr>
              <a:t>이번 과제에서는 드러나지 않는다</a:t>
            </a:r>
          </a:p>
          <a:p>
            <a:pPr>
              <a:spcBef>
                <a:spcPts val="400"/>
              </a:spcBef>
            </a:pPr>
            <a:r>
              <a:rPr sz="880" b="0">
                <a:solidFill>
                  <a:srgbClr val="5A6478"/>
                </a:solidFill>
                <a:latin typeface="맑은 고딕"/>
              </a:rPr>
              <a:t>백틸트가 0° 라 Ry = I. 순서를 바꿔도 결과가 같다.</a:t>
            </a:r>
          </a:p>
          <a:p>
            <a:pPr>
              <a:spcBef>
                <a:spcPts val="200"/>
              </a:spcBef>
            </a:pPr>
            <a:r>
              <a:rPr sz="880" b="0">
                <a:solidFill>
                  <a:srgbClr val="5A6478"/>
                </a:solidFill>
                <a:latin typeface="맑은 고딕"/>
              </a:rPr>
              <a:t>왕복오차도 정 · 역이 같은 행렬을 써서 이 오류를 못 잡는다.</a:t>
            </a:r>
          </a:p>
          <a:p>
            <a:pPr>
              <a:spcBef>
                <a:spcPts val="200"/>
              </a:spcBef>
            </a:pPr>
            <a:r>
              <a:rPr sz="880" b="0">
                <a:solidFill>
                  <a:srgbClr val="5A6478"/>
                </a:solidFill>
                <a:latin typeface="맑은 고딕"/>
              </a:rPr>
              <a:t>백틸트를 주는 순간 조용히 틀리는 자리다.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공식과 코드 ①    안테나 극좌표 → 직교 → 동체</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26</a:t>
            </a:r>
            <a:endParaRPr lang="en-US" sz="900" dirty="0"/>
          </a:p>
        </p:txBody>
      </p:sp>
      <p:sp>
        <p:nvSpPr>
          <p:cNvPr id="8" name="TextBox 7"/>
          <p:cNvSpPr txBox="1"/>
          <p:nvPr/>
        </p:nvSpPr>
        <p:spPr>
          <a:xfrm>
            <a:off x="2798064" y="1335024"/>
            <a:ext cx="3749039" cy="219456"/>
          </a:xfrm>
          <a:prstGeom prst="rect">
            <a:avLst/>
          </a:prstGeom>
          <a:noFill/>
          <a:ln/>
        </p:spPr>
        <p:txBody>
          <a:bodyPr wrap="square" lIns="0" rIns="0" tIns="0" bIns="0">
            <a:spAutoFit/>
          </a:bodyPr>
          <a:lstStyle/>
          <a:p>
            <a:r>
              <a:rPr sz="1000" b="1">
                <a:solidFill>
                  <a:srgbClr val="5A6478"/>
                </a:solidFill>
                <a:latin typeface="맑은 고딕"/>
              </a:rPr>
              <a:t>공식</a:t>
            </a:r>
          </a:p>
        </p:txBody>
      </p:sp>
      <p:sp>
        <p:nvSpPr>
          <p:cNvPr id="9" name="TextBox 8"/>
          <p:cNvSpPr txBox="1"/>
          <p:nvPr/>
        </p:nvSpPr>
        <p:spPr>
          <a:xfrm>
            <a:off x="6693408" y="1335024"/>
            <a:ext cx="4581144" cy="219456"/>
          </a:xfrm>
          <a:prstGeom prst="rect">
            <a:avLst/>
          </a:prstGeom>
          <a:noFill/>
          <a:ln/>
        </p:spPr>
        <p:txBody>
          <a:bodyPr wrap="square" lIns="0" rIns="0" tIns="0" bIns="0">
            <a:spAutoFit/>
          </a:bodyPr>
          <a:lstStyle/>
          <a:p>
            <a:r>
              <a:rPr sz="1000" b="1">
                <a:solidFill>
                  <a:srgbClr val="5A6478"/>
                </a:solidFill>
                <a:latin typeface="맑은 고딕"/>
              </a:rPr>
              <a:t>C 구현</a:t>
            </a:r>
          </a:p>
        </p:txBody>
      </p:sp>
      <p:sp>
        <p:nvSpPr>
          <p:cNvPr id="10" name="Rounded Rectangle 9"/>
          <p:cNvSpPr/>
          <p:nvPr/>
        </p:nvSpPr>
        <p:spPr>
          <a:xfrm>
            <a:off x="914400" y="1591056"/>
            <a:ext cx="1737360" cy="1426464"/>
          </a:xfrm>
          <a:prstGeom prst="roundRect">
            <a:avLst>
              <a:gd name="adj" fmla="val 4000"/>
            </a:avLst>
          </a:prstGeom>
          <a:solidFill>
            <a:srgbClr val="13233F"/>
          </a:solidFill>
          <a:ln>
            <a:noFill/>
          </a:ln>
          <a:effectLst/>
        </p:spPr>
        <p:txBody>
          <a:bodyPr rtlCol="0" anchor="ctr"/>
          <a:lstStyle/>
          <a:p>
            <a:pPr algn="ctr"/>
          </a:p>
        </p:txBody>
      </p:sp>
      <p:sp>
        <p:nvSpPr>
          <p:cNvPr id="11" name="TextBox 10"/>
          <p:cNvSpPr txBox="1"/>
          <p:nvPr/>
        </p:nvSpPr>
        <p:spPr>
          <a:xfrm>
            <a:off x="1024128" y="2020824"/>
            <a:ext cx="1517904" cy="566928"/>
          </a:xfrm>
          <a:prstGeom prst="rect">
            <a:avLst/>
          </a:prstGeom>
          <a:noFill/>
          <a:ln/>
        </p:spPr>
        <p:txBody>
          <a:bodyPr wrap="square" lIns="0" rIns="0" tIns="0" bIns="0">
            <a:spAutoFit/>
          </a:bodyPr>
          <a:lstStyle/>
          <a:p>
            <a:pPr algn="ctr"/>
            <a:r>
              <a:rPr sz="1500" b="1">
                <a:solidFill>
                  <a:srgbClr val="FFFFFF"/>
                </a:solidFill>
                <a:latin typeface="맑은 고딕"/>
              </a:rPr>
              <a:t>①</a:t>
            </a:r>
          </a:p>
          <a:p>
            <a:pPr algn="ctr">
              <a:spcBef>
                <a:spcPts val="300"/>
              </a:spcBef>
            </a:pPr>
            <a:r>
              <a:rPr sz="1100" b="1">
                <a:solidFill>
                  <a:srgbClr val="FFFFFF"/>
                </a:solidFill>
                <a:latin typeface="맑은 고딕"/>
              </a:rPr>
              <a:t>극좌표 → 직교</a:t>
            </a:r>
          </a:p>
          <a:p>
            <a:pPr algn="ctr">
              <a:spcBef>
                <a:spcPts val="300"/>
              </a:spcBef>
            </a:pPr>
            <a:r>
              <a:rPr sz="750" b="0">
                <a:solidFill>
                  <a:srgbClr val="9DB3D6"/>
                </a:solidFill>
                <a:latin typeface="맑은 고딕"/>
              </a:rPr>
              <a:t>표현만 바꿈</a:t>
            </a:r>
          </a:p>
        </p:txBody>
      </p:sp>
      <p:sp>
        <p:nvSpPr>
          <p:cNvPr id="12" name="Rounded Rectangle 11"/>
          <p:cNvSpPr/>
          <p:nvPr/>
        </p:nvSpPr>
        <p:spPr>
          <a:xfrm>
            <a:off x="2798064" y="1591056"/>
            <a:ext cx="3749039" cy="1426464"/>
          </a:xfrm>
          <a:prstGeom prst="roundRect">
            <a:avLst>
              <a:gd name="adj" fmla="val 4000"/>
            </a:avLst>
          </a:prstGeom>
          <a:solidFill>
            <a:srgbClr val="EEF1F7"/>
          </a:solidFill>
          <a:ln>
            <a:noFill/>
          </a:ln>
          <a:effectLst/>
        </p:spPr>
        <p:txBody>
          <a:bodyPr rtlCol="0" anchor="ctr"/>
          <a:lstStyle/>
          <a:p>
            <a:pPr algn="ctr"/>
          </a:p>
        </p:txBody>
      </p:sp>
      <p:pic>
        <p:nvPicPr>
          <p:cNvPr id="13" name="Picture 12" descr="polar2xyz.png"/>
          <p:cNvPicPr>
            <a:picLocks noChangeAspect="1"/>
          </p:cNvPicPr>
          <p:nvPr/>
        </p:nvPicPr>
        <p:blipFill>
          <a:blip r:embed="rId2"/>
          <a:stretch>
            <a:fillRect/>
          </a:stretch>
        </p:blipFill>
        <p:spPr>
          <a:xfrm>
            <a:off x="3372829" y="1700784"/>
            <a:ext cx="2599508" cy="1207008"/>
          </a:xfrm>
          <a:prstGeom prst="rect">
            <a:avLst/>
          </a:prstGeom>
          <a:ln/>
        </p:spPr>
      </p:pic>
      <p:sp>
        <p:nvSpPr>
          <p:cNvPr id="14" name="Rounded Rectangle 13"/>
          <p:cNvSpPr/>
          <p:nvPr/>
        </p:nvSpPr>
        <p:spPr>
          <a:xfrm>
            <a:off x="6693408" y="1591056"/>
            <a:ext cx="4581144" cy="1426464"/>
          </a:xfrm>
          <a:prstGeom prst="roundRect">
            <a:avLst>
              <a:gd name="adj" fmla="val 2000"/>
            </a:avLst>
          </a:prstGeom>
          <a:solidFill>
            <a:srgbClr val="F5F7FB"/>
          </a:solidFill>
          <a:ln>
            <a:noFill/>
          </a:ln>
          <a:effectLst/>
        </p:spPr>
        <p:txBody>
          <a:bodyPr rtlCol="0" anchor="ctr"/>
          <a:lstStyle/>
          <a:p>
            <a:pPr algn="ctr"/>
          </a:p>
        </p:txBody>
      </p:sp>
      <p:sp>
        <p:nvSpPr>
          <p:cNvPr id="15" name="TextBox 14"/>
          <p:cNvSpPr txBox="1"/>
          <p:nvPr/>
        </p:nvSpPr>
        <p:spPr>
          <a:xfrm>
            <a:off x="6839712" y="1673352"/>
            <a:ext cx="4288536" cy="1280160"/>
          </a:xfrm>
          <a:prstGeom prst="rect">
            <a:avLst/>
          </a:prstGeom>
          <a:noFill/>
          <a:ln/>
        </p:spPr>
        <p:txBody>
          <a:bodyPr wrap="square" lIns="0" rIns="0" tIns="0" bIns="0">
            <a:spAutoFit/>
          </a:bodyPr>
          <a:lstStyle/>
          <a:p>
            <a:pPr>
              <a:spcBef>
                <a:spcPts val="0"/>
              </a:spcBef>
            </a:pPr>
            <a:r>
              <a:rPr sz="850" b="0">
                <a:solidFill>
                  <a:srgbClr val="5A6478"/>
                </a:solidFill>
                <a:latin typeface="Consolas"/>
              </a:rPr>
              <a:t>ST_Vec3 f_PolarToXyz(const ST_Polar stPolar)</a:t>
            </a:r>
          </a:p>
          <a:p>
            <a:pPr>
              <a:spcBef>
                <a:spcPts val="150"/>
              </a:spcBef>
            </a:pPr>
            <a:r>
              <a:rPr sz="850" b="0">
                <a:solidFill>
                  <a:srgbClr val="1A2233"/>
                </a:solidFill>
                <a:latin typeface="Consolas"/>
              </a:rPr>
              <a:t>{</a:t>
            </a:r>
          </a:p>
          <a:p>
            <a:pPr>
              <a:spcBef>
                <a:spcPts val="150"/>
              </a:spcBef>
            </a:pPr>
            <a:r>
              <a:rPr sz="850" b="0">
                <a:solidFill>
                  <a:srgbClr val="1A2233"/>
                </a:solidFill>
                <a:latin typeface="Consolas"/>
              </a:rPr>
              <a:t>  stXyz.dX = stPolar.dRange * cos(stPolar.dEl)</a:t>
            </a:r>
          </a:p>
          <a:p>
            <a:pPr>
              <a:spcBef>
                <a:spcPts val="150"/>
              </a:spcBef>
            </a:pPr>
            <a:r>
              <a:rPr sz="850" b="0">
                <a:solidFill>
                  <a:srgbClr val="1A2233"/>
                </a:solidFill>
                <a:latin typeface="Consolas"/>
              </a:rPr>
              <a:t>                            * sin(stPolar.dAz);</a:t>
            </a:r>
          </a:p>
          <a:p>
            <a:pPr>
              <a:spcBef>
                <a:spcPts val="150"/>
              </a:spcBef>
            </a:pPr>
            <a:r>
              <a:rPr sz="850" b="0">
                <a:solidFill>
                  <a:srgbClr val="1A2233"/>
                </a:solidFill>
                <a:latin typeface="Consolas"/>
              </a:rPr>
              <a:t>  stXyz.dY = stPolar.dRange * sin(stPolar.dEl);</a:t>
            </a:r>
          </a:p>
          <a:p>
            <a:pPr>
              <a:spcBef>
                <a:spcPts val="150"/>
              </a:spcBef>
            </a:pPr>
            <a:r>
              <a:rPr sz="850" b="0">
                <a:solidFill>
                  <a:srgbClr val="1A2233"/>
                </a:solidFill>
                <a:latin typeface="Consolas"/>
              </a:rPr>
              <a:t>  stXyz.dZ = stPolar.dRange * cos(stPolar.dEl)</a:t>
            </a:r>
          </a:p>
          <a:p>
            <a:pPr>
              <a:spcBef>
                <a:spcPts val="150"/>
              </a:spcBef>
            </a:pPr>
            <a:r>
              <a:rPr sz="850" b="0">
                <a:solidFill>
                  <a:srgbClr val="1A2233"/>
                </a:solidFill>
                <a:latin typeface="Consolas"/>
              </a:rPr>
              <a:t>                            * cos(stPolar.dAz);</a:t>
            </a:r>
          </a:p>
          <a:p>
            <a:pPr>
              <a:spcBef>
                <a:spcPts val="150"/>
              </a:spcBef>
            </a:pPr>
            <a:r>
              <a:rPr sz="850" b="0">
                <a:solidFill>
                  <a:srgbClr val="1A2233"/>
                </a:solidFill>
                <a:latin typeface="Consolas"/>
              </a:rPr>
              <a:t>}</a:t>
            </a:r>
          </a:p>
        </p:txBody>
      </p:sp>
      <p:sp>
        <p:nvSpPr>
          <p:cNvPr id="16" name="Rounded Rectangle 15"/>
          <p:cNvSpPr/>
          <p:nvPr/>
        </p:nvSpPr>
        <p:spPr>
          <a:xfrm>
            <a:off x="914400" y="3163824"/>
            <a:ext cx="1737360" cy="2048256"/>
          </a:xfrm>
          <a:prstGeom prst="roundRect">
            <a:avLst>
              <a:gd name="adj" fmla="val 4000"/>
            </a:avLst>
          </a:prstGeom>
          <a:solidFill>
            <a:srgbClr val="13233F"/>
          </a:solidFill>
          <a:ln>
            <a:noFill/>
          </a:ln>
          <a:effectLst/>
        </p:spPr>
        <p:txBody>
          <a:bodyPr rtlCol="0" anchor="ctr"/>
          <a:lstStyle/>
          <a:p>
            <a:pPr algn="ctr"/>
          </a:p>
        </p:txBody>
      </p:sp>
      <p:sp>
        <p:nvSpPr>
          <p:cNvPr id="17" name="TextBox 16"/>
          <p:cNvSpPr txBox="1"/>
          <p:nvPr/>
        </p:nvSpPr>
        <p:spPr>
          <a:xfrm>
            <a:off x="1024128" y="3904487"/>
            <a:ext cx="1517904" cy="566928"/>
          </a:xfrm>
          <a:prstGeom prst="rect">
            <a:avLst/>
          </a:prstGeom>
          <a:noFill/>
          <a:ln/>
        </p:spPr>
        <p:txBody>
          <a:bodyPr wrap="square" lIns="0" rIns="0" tIns="0" bIns="0">
            <a:spAutoFit/>
          </a:bodyPr>
          <a:lstStyle/>
          <a:p>
            <a:pPr algn="ctr"/>
            <a:r>
              <a:rPr sz="1500" b="1">
                <a:solidFill>
                  <a:srgbClr val="FFFFFF"/>
                </a:solidFill>
                <a:latin typeface="맑은 고딕"/>
              </a:rPr>
              <a:t>②</a:t>
            </a:r>
          </a:p>
          <a:p>
            <a:pPr algn="ctr">
              <a:spcBef>
                <a:spcPts val="300"/>
              </a:spcBef>
            </a:pPr>
            <a:r>
              <a:rPr sz="1100" b="1">
                <a:solidFill>
                  <a:srgbClr val="FFFFFF"/>
                </a:solidFill>
                <a:latin typeface="맑은 고딕"/>
              </a:rPr>
              <a:t>안테나 → 동체</a:t>
            </a:r>
          </a:p>
          <a:p>
            <a:pPr algn="ctr">
              <a:spcBef>
                <a:spcPts val="300"/>
              </a:spcBef>
            </a:pPr>
            <a:r>
              <a:rPr sz="750" b="0">
                <a:solidFill>
                  <a:srgbClr val="9DB3D6"/>
                </a:solidFill>
                <a:latin typeface="맑은 고딕"/>
              </a:rPr>
              <a:t>회전 + 평행이동</a:t>
            </a:r>
          </a:p>
        </p:txBody>
      </p:sp>
      <p:sp>
        <p:nvSpPr>
          <p:cNvPr id="18" name="Rounded Rectangle 17"/>
          <p:cNvSpPr/>
          <p:nvPr/>
        </p:nvSpPr>
        <p:spPr>
          <a:xfrm>
            <a:off x="2798064" y="3163824"/>
            <a:ext cx="3749039" cy="2048256"/>
          </a:xfrm>
          <a:prstGeom prst="roundRect">
            <a:avLst>
              <a:gd name="adj" fmla="val 4000"/>
            </a:avLst>
          </a:prstGeom>
          <a:solidFill>
            <a:srgbClr val="EEF1F7"/>
          </a:solidFill>
          <a:ln>
            <a:noFill/>
          </a:ln>
          <a:effectLst/>
        </p:spPr>
        <p:txBody>
          <a:bodyPr rtlCol="0" anchor="ctr"/>
          <a:lstStyle/>
          <a:p>
            <a:pPr algn="ctr"/>
          </a:p>
        </p:txBody>
      </p:sp>
      <p:pic>
        <p:nvPicPr>
          <p:cNvPr id="19" name="Picture 18" descr="ant2body.png"/>
          <p:cNvPicPr>
            <a:picLocks noChangeAspect="1"/>
          </p:cNvPicPr>
          <p:nvPr/>
        </p:nvPicPr>
        <p:blipFill>
          <a:blip r:embed="rId3"/>
          <a:stretch>
            <a:fillRect/>
          </a:stretch>
        </p:blipFill>
        <p:spPr>
          <a:xfrm>
            <a:off x="2926080" y="3297538"/>
            <a:ext cx="3493008" cy="537243"/>
          </a:xfrm>
          <a:prstGeom prst="rect">
            <a:avLst/>
          </a:prstGeom>
          <a:ln/>
        </p:spPr>
      </p:pic>
      <p:pic>
        <p:nvPicPr>
          <p:cNvPr id="20" name="Picture 19" descr="amat.png"/>
          <p:cNvPicPr>
            <a:picLocks noChangeAspect="1"/>
          </p:cNvPicPr>
          <p:nvPr/>
        </p:nvPicPr>
        <p:blipFill>
          <a:blip r:embed="rId4"/>
          <a:stretch>
            <a:fillRect/>
          </a:stretch>
        </p:blipFill>
        <p:spPr>
          <a:xfrm>
            <a:off x="3315018" y="3931920"/>
            <a:ext cx="2715130" cy="1170432"/>
          </a:xfrm>
          <a:prstGeom prst="rect">
            <a:avLst/>
          </a:prstGeom>
          <a:ln/>
        </p:spPr>
      </p:pic>
      <p:sp>
        <p:nvSpPr>
          <p:cNvPr id="21" name="Rounded Rectangle 20"/>
          <p:cNvSpPr/>
          <p:nvPr/>
        </p:nvSpPr>
        <p:spPr>
          <a:xfrm>
            <a:off x="6693408" y="3163824"/>
            <a:ext cx="4581144" cy="2048256"/>
          </a:xfrm>
          <a:prstGeom prst="roundRect">
            <a:avLst>
              <a:gd name="adj" fmla="val 2000"/>
            </a:avLst>
          </a:prstGeom>
          <a:solidFill>
            <a:srgbClr val="F5F7FB"/>
          </a:solidFill>
          <a:ln>
            <a:noFill/>
          </a:ln>
          <a:effectLst/>
        </p:spPr>
        <p:txBody>
          <a:bodyPr rtlCol="0" anchor="ctr"/>
          <a:lstStyle/>
          <a:p>
            <a:pPr algn="ctr"/>
          </a:p>
        </p:txBody>
      </p:sp>
      <p:sp>
        <p:nvSpPr>
          <p:cNvPr id="22" name="TextBox 21"/>
          <p:cNvSpPr txBox="1"/>
          <p:nvPr/>
        </p:nvSpPr>
        <p:spPr>
          <a:xfrm>
            <a:off x="6839712" y="3246120"/>
            <a:ext cx="4288536" cy="1901952"/>
          </a:xfrm>
          <a:prstGeom prst="rect">
            <a:avLst/>
          </a:prstGeom>
          <a:noFill/>
          <a:ln/>
        </p:spPr>
        <p:txBody>
          <a:bodyPr wrap="square" lIns="0" rIns="0" tIns="0" bIns="0">
            <a:spAutoFit/>
          </a:bodyPr>
          <a:lstStyle/>
          <a:p>
            <a:pPr>
              <a:spcBef>
                <a:spcPts val="0"/>
              </a:spcBef>
            </a:pPr>
            <a:r>
              <a:rPr sz="850" b="0">
                <a:solidFill>
                  <a:srgbClr val="5A6478"/>
                </a:solidFill>
                <a:latin typeface="Consolas"/>
              </a:rPr>
              <a:t>static matrix f_RotAntToBody(const ST_Mount m)</a:t>
            </a:r>
          </a:p>
          <a:p>
            <a:pPr>
              <a:spcBef>
                <a:spcPts val="150"/>
              </a:spcBef>
            </a:pPr>
            <a:r>
              <a:rPr sz="850" b="0">
                <a:solidFill>
                  <a:srgbClr val="1A2233"/>
                </a:solidFill>
                <a:latin typeface="Consolas"/>
              </a:rPr>
              <a:t>{  matrix stRz   = f_RotZ(m.dAz);      // 설치 방위</a:t>
            </a:r>
          </a:p>
          <a:p>
            <a:pPr>
              <a:spcBef>
                <a:spcPts val="150"/>
              </a:spcBef>
            </a:pPr>
            <a:r>
              <a:rPr sz="850" b="0">
                <a:solidFill>
                  <a:srgbClr val="1A2233"/>
                </a:solidFill>
                <a:latin typeface="Consolas"/>
              </a:rPr>
              <a:t>   matrix stRy   = f_RotY(m.dTilt);    // 백틸트</a:t>
            </a:r>
          </a:p>
          <a:p>
            <a:pPr>
              <a:spcBef>
                <a:spcPts val="150"/>
              </a:spcBef>
            </a:pPr>
            <a:r>
              <a:rPr sz="850" b="0">
                <a:solidFill>
                  <a:srgbClr val="1A2233"/>
                </a:solidFill>
                <a:latin typeface="Consolas"/>
              </a:rPr>
              <a:t>   matrix stAxis = f_RotAntAxisToBody();  // 축 맞춤 A</a:t>
            </a:r>
          </a:p>
          <a:p>
            <a:pPr>
              <a:spcBef>
                <a:spcPts val="150"/>
              </a:spcBef>
            </a:pPr>
            <a:r>
              <a:rPr sz="850" b="0">
                <a:solidFill>
                  <a:srgbClr val="1A2233"/>
                </a:solidFill>
                <a:latin typeface="Consolas"/>
              </a:rPr>
              <a:t>   matrix stMnt  = Matrix_Product2(&amp;stRz, &amp;stRy);</a:t>
            </a:r>
          </a:p>
          <a:p>
            <a:pPr>
              <a:spcBef>
                <a:spcPts val="150"/>
              </a:spcBef>
            </a:pPr>
            <a:r>
              <a:rPr sz="850" b="0">
                <a:solidFill>
                  <a:srgbClr val="1A2233"/>
                </a:solidFill>
                <a:latin typeface="Consolas"/>
              </a:rPr>
              <a:t>   return Matrix_Product2(&amp;stMnt, &amp;stAxis);  }</a:t>
            </a:r>
          </a:p>
          <a:p>
            <a:pPr>
              <a:spcBef>
                <a:spcPts val="150"/>
              </a:spcBef>
            </a:pPr>
            <a:r>
              <a:rPr sz="850" b="0">
                <a:solidFill>
                  <a:srgbClr val="1A2233"/>
                </a:solidFill>
                <a:latin typeface="Consolas"/>
              </a:rPr>
              <a:t/>
            </a:r>
          </a:p>
          <a:p>
            <a:pPr>
              <a:spcBef>
                <a:spcPts val="150"/>
              </a:spcBef>
            </a:pPr>
            <a:r>
              <a:rPr sz="850" b="0">
                <a:solidFill>
                  <a:srgbClr val="5A6478"/>
                </a:solidFill>
                <a:latin typeface="Consolas"/>
              </a:rPr>
              <a:t>ST_Vec3 f_AntToBody(...)</a:t>
            </a:r>
          </a:p>
          <a:p>
            <a:pPr>
              <a:spcBef>
                <a:spcPts val="150"/>
              </a:spcBef>
            </a:pPr>
            <a:r>
              <a:rPr sz="850" b="0">
                <a:solidFill>
                  <a:srgbClr val="1A2233"/>
                </a:solidFill>
                <a:latin typeface="Consolas"/>
              </a:rPr>
              <a:t>{  stRot = Matrix_Product2(&amp;stR, &amp;stP);   // R·p</a:t>
            </a:r>
          </a:p>
          <a:p>
            <a:pPr>
              <a:spcBef>
                <a:spcPts val="150"/>
              </a:spcBef>
            </a:pPr>
            <a:r>
              <a:rPr sz="850" b="0">
                <a:solidFill>
                  <a:srgbClr val="1A2233"/>
                </a:solidFill>
                <a:latin typeface="Consolas"/>
              </a:rPr>
              <a:t>   stOut = Matrix_Add(&amp;stRot, &amp;stOff);  }  // + 레버암</a:t>
            </a:r>
          </a:p>
        </p:txBody>
      </p:sp>
      <p:sp>
        <p:nvSpPr>
          <p:cNvPr id="23" name="Rounded Rectangle 22"/>
          <p:cNvSpPr/>
          <p:nvPr/>
        </p:nvSpPr>
        <p:spPr>
          <a:xfrm>
            <a:off x="914400" y="5358384"/>
            <a:ext cx="10360152" cy="493776"/>
          </a:xfrm>
          <a:prstGeom prst="roundRect">
            <a:avLst>
              <a:gd name="adj" fmla="val 4000"/>
            </a:avLst>
          </a:prstGeom>
          <a:solidFill>
            <a:srgbClr val="34507F"/>
          </a:solidFill>
          <a:ln>
            <a:noFill/>
          </a:ln>
          <a:effectLst/>
        </p:spPr>
        <p:txBody>
          <a:bodyPr rtlCol="0" anchor="ctr"/>
          <a:lstStyle/>
          <a:p>
            <a:pPr algn="ctr"/>
          </a:p>
        </p:txBody>
      </p:sp>
      <p:sp>
        <p:nvSpPr>
          <p:cNvPr id="24" name="TextBox 23"/>
          <p:cNvSpPr txBox="1"/>
          <p:nvPr/>
        </p:nvSpPr>
        <p:spPr>
          <a:xfrm>
            <a:off x="1133856" y="5449824"/>
            <a:ext cx="9921240" cy="347472"/>
          </a:xfrm>
          <a:prstGeom prst="rect">
            <a:avLst/>
          </a:prstGeom>
          <a:noFill/>
          <a:ln/>
        </p:spPr>
        <p:txBody>
          <a:bodyPr wrap="square" lIns="0" rIns="0" tIns="0" bIns="0">
            <a:spAutoFit/>
          </a:bodyPr>
          <a:lstStyle/>
          <a:p>
            <a:r>
              <a:rPr sz="1000" b="1">
                <a:solidFill>
                  <a:srgbClr val="FFFFFF"/>
                </a:solidFill>
                <a:latin typeface="맑은 고딕"/>
              </a:rPr>
              <a:t>이번 과제 값</a:t>
            </a:r>
          </a:p>
          <a:p>
            <a:pPr>
              <a:spcBef>
                <a:spcPts val="300"/>
              </a:spcBef>
            </a:pPr>
            <a:r>
              <a:rPr sz="850" b="0">
                <a:solidFill>
                  <a:srgbClr val="C9D6EC"/>
                </a:solidFill>
                <a:latin typeface="Consolas"/>
              </a:rPr>
              <a:t>p_ant  = ( +10,000.00,  0.00,  +17,320.51 ) m        →   p_body = ( +9,970.00,  +17,320.51,  −10.00 ) m       ( A 는 설치 방위 0° 기준 · 축과 순서는 p.25 )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공식과 코드 ②    동체 → NED → ECEF</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27</a:t>
            </a:r>
            <a:endParaRPr lang="en-US" sz="900" dirty="0"/>
          </a:p>
        </p:txBody>
      </p:sp>
      <p:sp>
        <p:nvSpPr>
          <p:cNvPr id="8" name="TextBox 7"/>
          <p:cNvSpPr txBox="1"/>
          <p:nvPr/>
        </p:nvSpPr>
        <p:spPr>
          <a:xfrm>
            <a:off x="2798064" y="1335024"/>
            <a:ext cx="3749039" cy="219456"/>
          </a:xfrm>
          <a:prstGeom prst="rect">
            <a:avLst/>
          </a:prstGeom>
          <a:noFill/>
          <a:ln/>
        </p:spPr>
        <p:txBody>
          <a:bodyPr wrap="square" lIns="0" rIns="0" tIns="0" bIns="0">
            <a:spAutoFit/>
          </a:bodyPr>
          <a:lstStyle/>
          <a:p>
            <a:r>
              <a:rPr sz="1000" b="1">
                <a:solidFill>
                  <a:srgbClr val="5A6478"/>
                </a:solidFill>
                <a:latin typeface="맑은 고딕"/>
              </a:rPr>
              <a:t>공식</a:t>
            </a:r>
          </a:p>
        </p:txBody>
      </p:sp>
      <p:sp>
        <p:nvSpPr>
          <p:cNvPr id="9" name="TextBox 8"/>
          <p:cNvSpPr txBox="1"/>
          <p:nvPr/>
        </p:nvSpPr>
        <p:spPr>
          <a:xfrm>
            <a:off x="6693408" y="1335024"/>
            <a:ext cx="4581144" cy="219456"/>
          </a:xfrm>
          <a:prstGeom prst="rect">
            <a:avLst/>
          </a:prstGeom>
          <a:noFill/>
          <a:ln/>
        </p:spPr>
        <p:txBody>
          <a:bodyPr wrap="square" lIns="0" rIns="0" tIns="0" bIns="0">
            <a:spAutoFit/>
          </a:bodyPr>
          <a:lstStyle/>
          <a:p>
            <a:r>
              <a:rPr sz="1000" b="1">
                <a:solidFill>
                  <a:srgbClr val="5A6478"/>
                </a:solidFill>
                <a:latin typeface="맑은 고딕"/>
              </a:rPr>
              <a:t>C 구현</a:t>
            </a:r>
          </a:p>
        </p:txBody>
      </p:sp>
      <p:sp>
        <p:nvSpPr>
          <p:cNvPr id="10" name="Rounded Rectangle 9"/>
          <p:cNvSpPr/>
          <p:nvPr/>
        </p:nvSpPr>
        <p:spPr>
          <a:xfrm>
            <a:off x="914400" y="1591056"/>
            <a:ext cx="1737360" cy="1371600"/>
          </a:xfrm>
          <a:prstGeom prst="roundRect">
            <a:avLst>
              <a:gd name="adj" fmla="val 4000"/>
            </a:avLst>
          </a:prstGeom>
          <a:solidFill>
            <a:srgbClr val="13233F"/>
          </a:solidFill>
          <a:ln>
            <a:noFill/>
          </a:ln>
          <a:effectLst/>
        </p:spPr>
        <p:txBody>
          <a:bodyPr rtlCol="0" anchor="ctr"/>
          <a:lstStyle/>
          <a:p>
            <a:pPr algn="ctr"/>
          </a:p>
        </p:txBody>
      </p:sp>
      <p:sp>
        <p:nvSpPr>
          <p:cNvPr id="11" name="TextBox 10"/>
          <p:cNvSpPr txBox="1"/>
          <p:nvPr/>
        </p:nvSpPr>
        <p:spPr>
          <a:xfrm>
            <a:off x="1024128" y="1993392"/>
            <a:ext cx="1517904" cy="566928"/>
          </a:xfrm>
          <a:prstGeom prst="rect">
            <a:avLst/>
          </a:prstGeom>
          <a:noFill/>
          <a:ln/>
        </p:spPr>
        <p:txBody>
          <a:bodyPr wrap="square" lIns="0" rIns="0" tIns="0" bIns="0">
            <a:spAutoFit/>
          </a:bodyPr>
          <a:lstStyle/>
          <a:p>
            <a:pPr algn="ctr"/>
            <a:r>
              <a:rPr sz="1500" b="1">
                <a:solidFill>
                  <a:srgbClr val="FFFFFF"/>
                </a:solidFill>
                <a:latin typeface="맑은 고딕"/>
              </a:rPr>
              <a:t>③</a:t>
            </a:r>
          </a:p>
          <a:p>
            <a:pPr algn="ctr">
              <a:spcBef>
                <a:spcPts val="300"/>
              </a:spcBef>
            </a:pPr>
            <a:r>
              <a:rPr sz="1100" b="1">
                <a:solidFill>
                  <a:srgbClr val="FFFFFF"/>
                </a:solidFill>
                <a:latin typeface="맑은 고딕"/>
              </a:rPr>
              <a:t>동체 → NED</a:t>
            </a:r>
          </a:p>
          <a:p>
            <a:pPr algn="ctr">
              <a:spcBef>
                <a:spcPts val="300"/>
              </a:spcBef>
            </a:pPr>
            <a:r>
              <a:rPr sz="750" b="0">
                <a:solidFill>
                  <a:srgbClr val="9DB3D6"/>
                </a:solidFill>
                <a:latin typeface="맑은 고딕"/>
              </a:rPr>
              <a:t>회전만 (원점 같음)</a:t>
            </a:r>
          </a:p>
        </p:txBody>
      </p:sp>
      <p:sp>
        <p:nvSpPr>
          <p:cNvPr id="12" name="Rounded Rectangle 11"/>
          <p:cNvSpPr/>
          <p:nvPr/>
        </p:nvSpPr>
        <p:spPr>
          <a:xfrm>
            <a:off x="2798064" y="1591056"/>
            <a:ext cx="3749039" cy="1371600"/>
          </a:xfrm>
          <a:prstGeom prst="roundRect">
            <a:avLst>
              <a:gd name="adj" fmla="val 4000"/>
            </a:avLst>
          </a:prstGeom>
          <a:solidFill>
            <a:srgbClr val="EEF1F7"/>
          </a:solidFill>
          <a:ln>
            <a:noFill/>
          </a:ln>
          <a:effectLst/>
        </p:spPr>
        <p:txBody>
          <a:bodyPr rtlCol="0" anchor="ctr"/>
          <a:lstStyle/>
          <a:p>
            <a:pPr algn="ctr"/>
          </a:p>
        </p:txBody>
      </p:sp>
      <p:pic>
        <p:nvPicPr>
          <p:cNvPr id="13" name="Picture 12" descr="body2ned.png"/>
          <p:cNvPicPr>
            <a:picLocks noChangeAspect="1"/>
          </p:cNvPicPr>
          <p:nvPr/>
        </p:nvPicPr>
        <p:blipFill>
          <a:blip r:embed="rId2"/>
          <a:stretch>
            <a:fillRect/>
          </a:stretch>
        </p:blipFill>
        <p:spPr>
          <a:xfrm>
            <a:off x="2926080" y="2164615"/>
            <a:ext cx="3493008" cy="224481"/>
          </a:xfrm>
          <a:prstGeom prst="rect">
            <a:avLst/>
          </a:prstGeom>
          <a:ln/>
        </p:spPr>
      </p:pic>
      <p:sp>
        <p:nvSpPr>
          <p:cNvPr id="14" name="Rounded Rectangle 13"/>
          <p:cNvSpPr/>
          <p:nvPr/>
        </p:nvSpPr>
        <p:spPr>
          <a:xfrm>
            <a:off x="6693408" y="1591056"/>
            <a:ext cx="4581144" cy="1371600"/>
          </a:xfrm>
          <a:prstGeom prst="roundRect">
            <a:avLst>
              <a:gd name="adj" fmla="val 2000"/>
            </a:avLst>
          </a:prstGeom>
          <a:solidFill>
            <a:srgbClr val="F5F7FB"/>
          </a:solidFill>
          <a:ln>
            <a:noFill/>
          </a:ln>
          <a:effectLst/>
        </p:spPr>
        <p:txBody>
          <a:bodyPr rtlCol="0" anchor="ctr"/>
          <a:lstStyle/>
          <a:p>
            <a:pPr algn="ctr"/>
          </a:p>
        </p:txBody>
      </p:sp>
      <p:sp>
        <p:nvSpPr>
          <p:cNvPr id="15" name="TextBox 14"/>
          <p:cNvSpPr txBox="1"/>
          <p:nvPr/>
        </p:nvSpPr>
        <p:spPr>
          <a:xfrm>
            <a:off x="6839712" y="1673352"/>
            <a:ext cx="4288536" cy="1225296"/>
          </a:xfrm>
          <a:prstGeom prst="rect">
            <a:avLst/>
          </a:prstGeom>
          <a:noFill/>
          <a:ln/>
        </p:spPr>
        <p:txBody>
          <a:bodyPr wrap="square" lIns="0" rIns="0" tIns="0" bIns="0">
            <a:spAutoFit/>
          </a:bodyPr>
          <a:lstStyle/>
          <a:p>
            <a:pPr>
              <a:spcBef>
                <a:spcPts val="0"/>
              </a:spcBef>
            </a:pPr>
            <a:r>
              <a:rPr sz="850" b="0">
                <a:solidFill>
                  <a:srgbClr val="5A6478"/>
                </a:solidFill>
                <a:latin typeface="Consolas"/>
              </a:rPr>
              <a:t>static matrix f_RotBodyToNed(const ST_Attitude a)</a:t>
            </a:r>
          </a:p>
          <a:p>
            <a:pPr>
              <a:spcBef>
                <a:spcPts val="150"/>
              </a:spcBef>
            </a:pPr>
            <a:r>
              <a:rPr sz="850" b="0">
                <a:solidFill>
                  <a:srgbClr val="1A2233"/>
                </a:solidFill>
                <a:latin typeface="Consolas"/>
              </a:rPr>
              <a:t>{  matrix stRz = f_RotZ(a.dYaw);</a:t>
            </a:r>
          </a:p>
          <a:p>
            <a:pPr>
              <a:spcBef>
                <a:spcPts val="150"/>
              </a:spcBef>
            </a:pPr>
            <a:r>
              <a:rPr sz="850" b="0">
                <a:solidFill>
                  <a:srgbClr val="1A2233"/>
                </a:solidFill>
                <a:latin typeface="Consolas"/>
              </a:rPr>
              <a:t>   matrix stRy = f_RotY(a.dPitch);</a:t>
            </a:r>
          </a:p>
          <a:p>
            <a:pPr>
              <a:spcBef>
                <a:spcPts val="150"/>
              </a:spcBef>
            </a:pPr>
            <a:r>
              <a:rPr sz="850" b="0">
                <a:solidFill>
                  <a:srgbClr val="1A2233"/>
                </a:solidFill>
                <a:latin typeface="Consolas"/>
              </a:rPr>
              <a:t>   matrix stRx = f_RotX(a.dRoll);</a:t>
            </a:r>
          </a:p>
          <a:p>
            <a:pPr>
              <a:spcBef>
                <a:spcPts val="150"/>
              </a:spcBef>
            </a:pPr>
            <a:r>
              <a:rPr sz="850" b="0">
                <a:solidFill>
                  <a:srgbClr val="1A2233"/>
                </a:solidFill>
                <a:latin typeface="Consolas"/>
              </a:rPr>
              <a:t>   return Matrix_Product3(&amp;stRz, &amp;stRy, &amp;stRx);  }</a:t>
            </a:r>
          </a:p>
          <a:p>
            <a:pPr>
              <a:spcBef>
                <a:spcPts val="150"/>
              </a:spcBef>
            </a:pPr>
            <a:r>
              <a:rPr sz="850" b="0">
                <a:solidFill>
                  <a:srgbClr val="5A6478"/>
                </a:solidFill>
                <a:latin typeface="Consolas"/>
              </a:rPr>
              <a:t>            // Product3 = (Rz·Ry)·Rx → Rx 가 먼저 걸림</a:t>
            </a:r>
          </a:p>
        </p:txBody>
      </p:sp>
      <p:sp>
        <p:nvSpPr>
          <p:cNvPr id="16" name="Rounded Rectangle 15"/>
          <p:cNvSpPr/>
          <p:nvPr/>
        </p:nvSpPr>
        <p:spPr>
          <a:xfrm>
            <a:off x="914400" y="3108960"/>
            <a:ext cx="1737360" cy="2103120"/>
          </a:xfrm>
          <a:prstGeom prst="roundRect">
            <a:avLst>
              <a:gd name="adj" fmla="val 4000"/>
            </a:avLst>
          </a:prstGeom>
          <a:solidFill>
            <a:srgbClr val="13233F"/>
          </a:solidFill>
          <a:ln>
            <a:noFill/>
          </a:ln>
          <a:effectLst/>
        </p:spPr>
        <p:txBody>
          <a:bodyPr rtlCol="0" anchor="ctr"/>
          <a:lstStyle/>
          <a:p>
            <a:pPr algn="ctr"/>
          </a:p>
        </p:txBody>
      </p:sp>
      <p:sp>
        <p:nvSpPr>
          <p:cNvPr id="17" name="TextBox 16"/>
          <p:cNvSpPr txBox="1"/>
          <p:nvPr/>
        </p:nvSpPr>
        <p:spPr>
          <a:xfrm>
            <a:off x="1024128" y="3877056"/>
            <a:ext cx="1517904" cy="566928"/>
          </a:xfrm>
          <a:prstGeom prst="rect">
            <a:avLst/>
          </a:prstGeom>
          <a:noFill/>
          <a:ln/>
        </p:spPr>
        <p:txBody>
          <a:bodyPr wrap="square" lIns="0" rIns="0" tIns="0" bIns="0">
            <a:spAutoFit/>
          </a:bodyPr>
          <a:lstStyle/>
          <a:p>
            <a:pPr algn="ctr"/>
            <a:r>
              <a:rPr sz="1500" b="1">
                <a:solidFill>
                  <a:srgbClr val="FFFFFF"/>
                </a:solidFill>
                <a:latin typeface="맑은 고딕"/>
              </a:rPr>
              <a:t>④</a:t>
            </a:r>
          </a:p>
          <a:p>
            <a:pPr algn="ctr">
              <a:spcBef>
                <a:spcPts val="300"/>
              </a:spcBef>
            </a:pPr>
            <a:r>
              <a:rPr sz="1100" b="1">
                <a:solidFill>
                  <a:srgbClr val="FFFFFF"/>
                </a:solidFill>
                <a:latin typeface="맑은 고딕"/>
              </a:rPr>
              <a:t>NED → ECEF</a:t>
            </a:r>
          </a:p>
          <a:p>
            <a:pPr algn="ctr">
              <a:spcBef>
                <a:spcPts val="300"/>
              </a:spcBef>
            </a:pPr>
            <a:r>
              <a:rPr sz="750" b="0">
                <a:solidFill>
                  <a:srgbClr val="9DB3D6"/>
                </a:solidFill>
                <a:latin typeface="맑은 고딕"/>
              </a:rPr>
              <a:t>회전 + 평행이동</a:t>
            </a:r>
          </a:p>
        </p:txBody>
      </p:sp>
      <p:sp>
        <p:nvSpPr>
          <p:cNvPr id="18" name="Rounded Rectangle 17"/>
          <p:cNvSpPr/>
          <p:nvPr/>
        </p:nvSpPr>
        <p:spPr>
          <a:xfrm>
            <a:off x="2798064" y="3108960"/>
            <a:ext cx="3749039" cy="2103120"/>
          </a:xfrm>
          <a:prstGeom prst="roundRect">
            <a:avLst>
              <a:gd name="adj" fmla="val 4000"/>
            </a:avLst>
          </a:prstGeom>
          <a:solidFill>
            <a:srgbClr val="EEF1F7"/>
          </a:solidFill>
          <a:ln>
            <a:noFill/>
          </a:ln>
          <a:effectLst/>
        </p:spPr>
        <p:txBody>
          <a:bodyPr rtlCol="0" anchor="ctr"/>
          <a:lstStyle/>
          <a:p>
            <a:pPr algn="ctr"/>
          </a:p>
        </p:txBody>
      </p:sp>
      <p:pic>
        <p:nvPicPr>
          <p:cNvPr id="19" name="Picture 18" descr="ned2ecef.png"/>
          <p:cNvPicPr>
            <a:picLocks noChangeAspect="1"/>
          </p:cNvPicPr>
          <p:nvPr/>
        </p:nvPicPr>
        <p:blipFill>
          <a:blip r:embed="rId3"/>
          <a:stretch>
            <a:fillRect/>
          </a:stretch>
        </p:blipFill>
        <p:spPr>
          <a:xfrm>
            <a:off x="2889504" y="4051313"/>
            <a:ext cx="3566160" cy="218413"/>
          </a:xfrm>
          <a:prstGeom prst="rect">
            <a:avLst/>
          </a:prstGeom>
          <a:ln/>
        </p:spPr>
      </p:pic>
      <p:sp>
        <p:nvSpPr>
          <p:cNvPr id="20" name="Rounded Rectangle 19"/>
          <p:cNvSpPr/>
          <p:nvPr/>
        </p:nvSpPr>
        <p:spPr>
          <a:xfrm>
            <a:off x="6693408" y="3108960"/>
            <a:ext cx="4581144" cy="2103120"/>
          </a:xfrm>
          <a:prstGeom prst="roundRect">
            <a:avLst>
              <a:gd name="adj" fmla="val 2000"/>
            </a:avLst>
          </a:prstGeom>
          <a:solidFill>
            <a:srgbClr val="F5F7FB"/>
          </a:solidFill>
          <a:ln>
            <a:noFill/>
          </a:ln>
          <a:effectLst/>
        </p:spPr>
        <p:txBody>
          <a:bodyPr rtlCol="0" anchor="ctr"/>
          <a:lstStyle/>
          <a:p>
            <a:pPr algn="ctr"/>
          </a:p>
        </p:txBody>
      </p:sp>
      <p:sp>
        <p:nvSpPr>
          <p:cNvPr id="21" name="TextBox 20"/>
          <p:cNvSpPr txBox="1"/>
          <p:nvPr/>
        </p:nvSpPr>
        <p:spPr>
          <a:xfrm>
            <a:off x="6839712" y="3191256"/>
            <a:ext cx="4288536" cy="1956815"/>
          </a:xfrm>
          <a:prstGeom prst="rect">
            <a:avLst/>
          </a:prstGeom>
          <a:noFill/>
          <a:ln/>
        </p:spPr>
        <p:txBody>
          <a:bodyPr wrap="square" lIns="0" rIns="0" tIns="0" bIns="0">
            <a:spAutoFit/>
          </a:bodyPr>
          <a:lstStyle/>
          <a:p>
            <a:pPr>
              <a:spcBef>
                <a:spcPts val="0"/>
              </a:spcBef>
            </a:pPr>
            <a:r>
              <a:rPr sz="850" b="0">
                <a:solidFill>
                  <a:srgbClr val="5A6478"/>
                </a:solidFill>
                <a:latin typeface="Consolas"/>
              </a:rPr>
              <a:t>static matrix f_RotNedToEcef(const ST_Lla o)</a:t>
            </a:r>
          </a:p>
          <a:p>
            <a:pPr>
              <a:spcBef>
                <a:spcPts val="150"/>
              </a:spcBef>
            </a:pPr>
            <a:r>
              <a:rPr sz="850" b="0">
                <a:solidFill>
                  <a:srgbClr val="1A2233"/>
                </a:solidFill>
                <a:latin typeface="Consolas"/>
              </a:rPr>
              <a:t>{  matrix stRz = f_RotZ(o.dLon);</a:t>
            </a:r>
          </a:p>
          <a:p>
            <a:pPr>
              <a:spcBef>
                <a:spcPts val="150"/>
              </a:spcBef>
            </a:pPr>
            <a:r>
              <a:rPr sz="850" b="0">
                <a:solidFill>
                  <a:srgbClr val="1A2233"/>
                </a:solidFill>
                <a:latin typeface="Consolas"/>
              </a:rPr>
              <a:t>   matrix stRy = f_RotY(-PI / 2.0 - o.dLat);</a:t>
            </a:r>
          </a:p>
          <a:p>
            <a:pPr>
              <a:spcBef>
                <a:spcPts val="150"/>
              </a:spcBef>
            </a:pPr>
            <a:r>
              <a:rPr sz="850" b="0">
                <a:solidFill>
                  <a:srgbClr val="1A2233"/>
                </a:solidFill>
                <a:latin typeface="Consolas"/>
              </a:rPr>
              <a:t>   return Matrix_Product2(&amp;stRz, &amp;stRy);  }</a:t>
            </a:r>
          </a:p>
          <a:p>
            <a:pPr>
              <a:spcBef>
                <a:spcPts val="150"/>
              </a:spcBef>
            </a:pPr>
            <a:r>
              <a:rPr sz="850" b="0">
                <a:solidFill>
                  <a:srgbClr val="1A2233"/>
                </a:solidFill>
                <a:latin typeface="Consolas"/>
              </a:rPr>
              <a:t/>
            </a:r>
          </a:p>
          <a:p>
            <a:pPr>
              <a:spcBef>
                <a:spcPts val="150"/>
              </a:spcBef>
            </a:pPr>
            <a:r>
              <a:rPr sz="850" b="0">
                <a:solidFill>
                  <a:srgbClr val="5A6478"/>
                </a:solidFill>
                <a:latin typeface="Consolas"/>
              </a:rPr>
              <a:t>ST_Vec3 f_NedToEcef(const ST_Lla o, const ST_Vec3 n)</a:t>
            </a:r>
          </a:p>
          <a:p>
            <a:pPr>
              <a:spcBef>
                <a:spcPts val="150"/>
              </a:spcBef>
            </a:pPr>
            <a:r>
              <a:rPr sz="850" b="0">
                <a:solidFill>
                  <a:srgbClr val="1A2233"/>
                </a:solidFill>
                <a:latin typeface="Consolas"/>
              </a:rPr>
              <a:t>{  stRot  = Matrix_Product2(&amp;stR, &amp;stP);</a:t>
            </a:r>
          </a:p>
          <a:p>
            <a:pPr>
              <a:spcBef>
                <a:spcPts val="150"/>
              </a:spcBef>
            </a:pPr>
            <a:r>
              <a:rPr sz="850" b="0">
                <a:solidFill>
                  <a:srgbClr val="1A2233"/>
                </a:solidFill>
                <a:latin typeface="Consolas"/>
              </a:rPr>
              <a:t>   stShip = f_ToMat(f_LlaToEcef(o));</a:t>
            </a:r>
          </a:p>
          <a:p>
            <a:pPr>
              <a:spcBef>
                <a:spcPts val="150"/>
              </a:spcBef>
            </a:pPr>
            <a:r>
              <a:rPr sz="850" b="0">
                <a:solidFill>
                  <a:srgbClr val="5A6478"/>
                </a:solidFill>
                <a:latin typeface="Consolas"/>
              </a:rPr>
              <a:t>            // 함선 ECEF 를 함수가 안에서 구한다</a:t>
            </a:r>
          </a:p>
          <a:p>
            <a:pPr>
              <a:spcBef>
                <a:spcPts val="150"/>
              </a:spcBef>
            </a:pPr>
            <a:r>
              <a:rPr sz="850" b="0">
                <a:solidFill>
                  <a:srgbClr val="1A2233"/>
                </a:solidFill>
                <a:latin typeface="Consolas"/>
              </a:rPr>
              <a:t>   stOut  = Matrix_Add(&amp;stRot, &amp;stShip);  }</a:t>
            </a:r>
          </a:p>
        </p:txBody>
      </p:sp>
      <p:sp>
        <p:nvSpPr>
          <p:cNvPr id="22" name="Rounded Rectangle 21"/>
          <p:cNvSpPr/>
          <p:nvPr/>
        </p:nvSpPr>
        <p:spPr>
          <a:xfrm>
            <a:off x="914400" y="5358384"/>
            <a:ext cx="10360152" cy="493776"/>
          </a:xfrm>
          <a:prstGeom prst="roundRect">
            <a:avLst>
              <a:gd name="adj" fmla="val 4000"/>
            </a:avLst>
          </a:prstGeom>
          <a:solidFill>
            <a:srgbClr val="34507F"/>
          </a:solidFill>
          <a:ln>
            <a:noFill/>
          </a:ln>
          <a:effectLst/>
        </p:spPr>
        <p:txBody>
          <a:bodyPr rtlCol="0" anchor="ctr"/>
          <a:lstStyle/>
          <a:p>
            <a:pPr algn="ctr"/>
          </a:p>
        </p:txBody>
      </p:sp>
      <p:sp>
        <p:nvSpPr>
          <p:cNvPr id="23" name="TextBox 22"/>
          <p:cNvSpPr txBox="1"/>
          <p:nvPr/>
        </p:nvSpPr>
        <p:spPr>
          <a:xfrm>
            <a:off x="1133856" y="5449824"/>
            <a:ext cx="9921240" cy="347472"/>
          </a:xfrm>
          <a:prstGeom prst="rect">
            <a:avLst/>
          </a:prstGeom>
          <a:noFill/>
          <a:ln/>
        </p:spPr>
        <p:txBody>
          <a:bodyPr wrap="square" lIns="0" rIns="0" tIns="0" bIns="0">
            <a:spAutoFit/>
          </a:bodyPr>
          <a:lstStyle/>
          <a:p>
            <a:r>
              <a:rPr sz="1000" b="1">
                <a:solidFill>
                  <a:srgbClr val="FFFFFF"/>
                </a:solidFill>
                <a:latin typeface="맑은 고딕"/>
              </a:rPr>
              <a:t>이번 과제 값</a:t>
            </a:r>
          </a:p>
          <a:p>
            <a:pPr>
              <a:spcBef>
                <a:spcPts val="300"/>
              </a:spcBef>
            </a:pPr>
            <a:r>
              <a:rPr sz="850" b="0">
                <a:solidFill>
                  <a:srgbClr val="C9D6EC"/>
                </a:solidFill>
                <a:latin typeface="Consolas"/>
              </a:rPr>
              <a:t>p_NED  = ( −5,197.59,  +19,297.30,  −10.00 ) m           p_ECEF = ( −3,132,053.79,  +4,078,527.19,  +3,760,545.95 ) 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공식과 코드 ③    ECEF ↔ LLA</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28</a:t>
            </a:r>
            <a:endParaRPr lang="en-US" sz="900" dirty="0"/>
          </a:p>
        </p:txBody>
      </p:sp>
      <p:sp>
        <p:nvSpPr>
          <p:cNvPr id="8" name="TextBox 7"/>
          <p:cNvSpPr txBox="1"/>
          <p:nvPr/>
        </p:nvSpPr>
        <p:spPr>
          <a:xfrm>
            <a:off x="2798064" y="1335024"/>
            <a:ext cx="3749039" cy="219456"/>
          </a:xfrm>
          <a:prstGeom prst="rect">
            <a:avLst/>
          </a:prstGeom>
          <a:noFill/>
          <a:ln/>
        </p:spPr>
        <p:txBody>
          <a:bodyPr wrap="square" lIns="0" rIns="0" tIns="0" bIns="0">
            <a:spAutoFit/>
          </a:bodyPr>
          <a:lstStyle/>
          <a:p>
            <a:r>
              <a:rPr sz="1000" b="1">
                <a:solidFill>
                  <a:srgbClr val="5A6478"/>
                </a:solidFill>
                <a:latin typeface="맑은 고딕"/>
              </a:rPr>
              <a:t>공식</a:t>
            </a:r>
          </a:p>
        </p:txBody>
      </p:sp>
      <p:sp>
        <p:nvSpPr>
          <p:cNvPr id="9" name="TextBox 8"/>
          <p:cNvSpPr txBox="1"/>
          <p:nvPr/>
        </p:nvSpPr>
        <p:spPr>
          <a:xfrm>
            <a:off x="6693408" y="1335024"/>
            <a:ext cx="4581144" cy="219456"/>
          </a:xfrm>
          <a:prstGeom prst="rect">
            <a:avLst/>
          </a:prstGeom>
          <a:noFill/>
          <a:ln/>
        </p:spPr>
        <p:txBody>
          <a:bodyPr wrap="square" lIns="0" rIns="0" tIns="0" bIns="0">
            <a:spAutoFit/>
          </a:bodyPr>
          <a:lstStyle/>
          <a:p>
            <a:r>
              <a:rPr sz="1000" b="1">
                <a:solidFill>
                  <a:srgbClr val="5A6478"/>
                </a:solidFill>
                <a:latin typeface="맑은 고딕"/>
              </a:rPr>
              <a:t>C 구현</a:t>
            </a:r>
          </a:p>
        </p:txBody>
      </p:sp>
      <p:sp>
        <p:nvSpPr>
          <p:cNvPr id="10" name="Rounded Rectangle 9"/>
          <p:cNvSpPr/>
          <p:nvPr/>
        </p:nvSpPr>
        <p:spPr>
          <a:xfrm>
            <a:off x="914400" y="1591056"/>
            <a:ext cx="1737360" cy="1536192"/>
          </a:xfrm>
          <a:prstGeom prst="roundRect">
            <a:avLst>
              <a:gd name="adj" fmla="val 4000"/>
            </a:avLst>
          </a:prstGeom>
          <a:solidFill>
            <a:srgbClr val="13233F"/>
          </a:solidFill>
          <a:ln>
            <a:noFill/>
          </a:ln>
          <a:effectLst/>
        </p:spPr>
        <p:txBody>
          <a:bodyPr rtlCol="0" anchor="ctr"/>
          <a:lstStyle/>
          <a:p>
            <a:pPr algn="ctr"/>
          </a:p>
        </p:txBody>
      </p:sp>
      <p:sp>
        <p:nvSpPr>
          <p:cNvPr id="11" name="TextBox 10"/>
          <p:cNvSpPr txBox="1"/>
          <p:nvPr/>
        </p:nvSpPr>
        <p:spPr>
          <a:xfrm>
            <a:off x="1024128" y="2075688"/>
            <a:ext cx="1517904" cy="566928"/>
          </a:xfrm>
          <a:prstGeom prst="rect">
            <a:avLst/>
          </a:prstGeom>
          <a:noFill/>
          <a:ln/>
        </p:spPr>
        <p:txBody>
          <a:bodyPr wrap="square" lIns="0" rIns="0" tIns="0" bIns="0">
            <a:spAutoFit/>
          </a:bodyPr>
          <a:lstStyle/>
          <a:p>
            <a:pPr algn="ctr"/>
            <a:r>
              <a:rPr sz="1500" b="1">
                <a:solidFill>
                  <a:srgbClr val="FFFFFF"/>
                </a:solidFill>
                <a:latin typeface="맑은 고딕"/>
              </a:rPr>
              <a:t>⑤</a:t>
            </a:r>
          </a:p>
          <a:p>
            <a:pPr algn="ctr">
              <a:spcBef>
                <a:spcPts val="300"/>
              </a:spcBef>
            </a:pPr>
            <a:r>
              <a:rPr sz="1100" b="1">
                <a:solidFill>
                  <a:srgbClr val="FFFFFF"/>
                </a:solidFill>
                <a:latin typeface="맑은 고딕"/>
              </a:rPr>
              <a:t>LLA → ECEF</a:t>
            </a:r>
          </a:p>
          <a:p>
            <a:pPr algn="ctr">
              <a:spcBef>
                <a:spcPts val="300"/>
              </a:spcBef>
            </a:pPr>
            <a:r>
              <a:rPr sz="750" b="0">
                <a:solidFill>
                  <a:srgbClr val="9DB3D6"/>
                </a:solidFill>
                <a:latin typeface="맑은 고딕"/>
              </a:rPr>
              <a:t>한 번에 나온다</a:t>
            </a:r>
          </a:p>
        </p:txBody>
      </p:sp>
      <p:sp>
        <p:nvSpPr>
          <p:cNvPr id="12" name="Rounded Rectangle 11"/>
          <p:cNvSpPr/>
          <p:nvPr/>
        </p:nvSpPr>
        <p:spPr>
          <a:xfrm>
            <a:off x="2798064" y="1591056"/>
            <a:ext cx="3749039" cy="1536192"/>
          </a:xfrm>
          <a:prstGeom prst="roundRect">
            <a:avLst>
              <a:gd name="adj" fmla="val 4000"/>
            </a:avLst>
          </a:prstGeom>
          <a:solidFill>
            <a:srgbClr val="EEF1F7"/>
          </a:solidFill>
          <a:ln>
            <a:noFill/>
          </a:ln>
          <a:effectLst/>
        </p:spPr>
        <p:txBody>
          <a:bodyPr rtlCol="0" anchor="ctr"/>
          <a:lstStyle/>
          <a:p>
            <a:pPr algn="ctr"/>
          </a:p>
        </p:txBody>
      </p:sp>
      <p:pic>
        <p:nvPicPr>
          <p:cNvPr id="13" name="Picture 12" descr="lla2ecef.png"/>
          <p:cNvPicPr>
            <a:picLocks noChangeAspect="1"/>
          </p:cNvPicPr>
          <p:nvPr/>
        </p:nvPicPr>
        <p:blipFill>
          <a:blip r:embed="rId2"/>
          <a:stretch>
            <a:fillRect/>
          </a:stretch>
        </p:blipFill>
        <p:spPr>
          <a:xfrm>
            <a:off x="3556391" y="1700784"/>
            <a:ext cx="2232385" cy="1316735"/>
          </a:xfrm>
          <a:prstGeom prst="rect">
            <a:avLst/>
          </a:prstGeom>
          <a:ln/>
        </p:spPr>
      </p:pic>
      <p:sp>
        <p:nvSpPr>
          <p:cNvPr id="14" name="Rounded Rectangle 13"/>
          <p:cNvSpPr/>
          <p:nvPr/>
        </p:nvSpPr>
        <p:spPr>
          <a:xfrm>
            <a:off x="6693408" y="1591056"/>
            <a:ext cx="4581144" cy="1536192"/>
          </a:xfrm>
          <a:prstGeom prst="roundRect">
            <a:avLst>
              <a:gd name="adj" fmla="val 2000"/>
            </a:avLst>
          </a:prstGeom>
          <a:solidFill>
            <a:srgbClr val="F5F7FB"/>
          </a:solidFill>
          <a:ln>
            <a:noFill/>
          </a:ln>
          <a:effectLst/>
        </p:spPr>
        <p:txBody>
          <a:bodyPr rtlCol="0" anchor="ctr"/>
          <a:lstStyle/>
          <a:p>
            <a:pPr algn="ctr"/>
          </a:p>
        </p:txBody>
      </p:sp>
      <p:sp>
        <p:nvSpPr>
          <p:cNvPr id="15" name="TextBox 14"/>
          <p:cNvSpPr txBox="1"/>
          <p:nvPr/>
        </p:nvSpPr>
        <p:spPr>
          <a:xfrm>
            <a:off x="6839712" y="1673352"/>
            <a:ext cx="4288536" cy="1389888"/>
          </a:xfrm>
          <a:prstGeom prst="rect">
            <a:avLst/>
          </a:prstGeom>
          <a:noFill/>
          <a:ln/>
        </p:spPr>
        <p:txBody>
          <a:bodyPr wrap="square" lIns="0" rIns="0" tIns="0" bIns="0">
            <a:spAutoFit/>
          </a:bodyPr>
          <a:lstStyle/>
          <a:p>
            <a:pPr>
              <a:spcBef>
                <a:spcPts val="0"/>
              </a:spcBef>
            </a:pPr>
            <a:r>
              <a:rPr sz="850" b="0">
                <a:solidFill>
                  <a:srgbClr val="1A2233"/>
                </a:solidFill>
                <a:latin typeface="Consolas"/>
              </a:rPr>
              <a:t>dN = WGS84_A / sqrt(1.0 - WGS84_E2</a:t>
            </a:r>
          </a:p>
          <a:p>
            <a:pPr>
              <a:spcBef>
                <a:spcPts val="150"/>
              </a:spcBef>
            </a:pPr>
            <a:r>
              <a:rPr sz="850" b="0">
                <a:solidFill>
                  <a:srgbClr val="1A2233"/>
                </a:solidFill>
                <a:latin typeface="Consolas"/>
              </a:rPr>
              <a:t>                   * sin(dLat) * sin(dLat));</a:t>
            </a:r>
          </a:p>
          <a:p>
            <a:pPr>
              <a:spcBef>
                <a:spcPts val="150"/>
              </a:spcBef>
            </a:pPr>
            <a:r>
              <a:rPr sz="850" b="0">
                <a:solidFill>
                  <a:srgbClr val="1A2233"/>
                </a:solidFill>
                <a:latin typeface="Consolas"/>
              </a:rPr>
              <a:t>stEcef.dX = (dN + dAlt) * cos(dLat) * cos(dLon);</a:t>
            </a:r>
          </a:p>
          <a:p>
            <a:pPr>
              <a:spcBef>
                <a:spcPts val="150"/>
              </a:spcBef>
            </a:pPr>
            <a:r>
              <a:rPr sz="850" b="0">
                <a:solidFill>
                  <a:srgbClr val="1A2233"/>
                </a:solidFill>
                <a:latin typeface="Consolas"/>
              </a:rPr>
              <a:t>stEcef.dY = (dN + dAlt) * cos(dLat) * sin(dLon);</a:t>
            </a:r>
          </a:p>
          <a:p>
            <a:pPr>
              <a:spcBef>
                <a:spcPts val="150"/>
              </a:spcBef>
            </a:pPr>
            <a:r>
              <a:rPr sz="850" b="0">
                <a:solidFill>
                  <a:srgbClr val="1A2233"/>
                </a:solidFill>
                <a:latin typeface="Consolas"/>
              </a:rPr>
              <a:t>stEcef.dZ = (dN * (1.0 - WGS84_E2) + dAlt)</a:t>
            </a:r>
          </a:p>
          <a:p>
            <a:pPr>
              <a:spcBef>
                <a:spcPts val="150"/>
              </a:spcBef>
            </a:pPr>
            <a:r>
              <a:rPr sz="850" b="0">
                <a:solidFill>
                  <a:srgbClr val="1A2233"/>
                </a:solidFill>
                <a:latin typeface="Consolas"/>
              </a:rPr>
              <a:t>                        * sin(dLat);</a:t>
            </a:r>
          </a:p>
          <a:p>
            <a:pPr>
              <a:spcBef>
                <a:spcPts val="150"/>
              </a:spcBef>
            </a:pPr>
            <a:r>
              <a:rPr sz="850" b="0">
                <a:solidFill>
                  <a:srgbClr val="5A6478"/>
                </a:solidFill>
                <a:latin typeface="Consolas"/>
              </a:rPr>
              <a:t>        // z 에만 (1 - e²) — 극 쪽으로 눌린 만큼</a:t>
            </a:r>
          </a:p>
        </p:txBody>
      </p:sp>
      <p:sp>
        <p:nvSpPr>
          <p:cNvPr id="16" name="Rounded Rectangle 15"/>
          <p:cNvSpPr/>
          <p:nvPr/>
        </p:nvSpPr>
        <p:spPr>
          <a:xfrm>
            <a:off x="914400" y="3273552"/>
            <a:ext cx="1737360" cy="1938528"/>
          </a:xfrm>
          <a:prstGeom prst="roundRect">
            <a:avLst>
              <a:gd name="adj" fmla="val 4000"/>
            </a:avLst>
          </a:prstGeom>
          <a:solidFill>
            <a:srgbClr val="13233F"/>
          </a:solidFill>
          <a:ln>
            <a:noFill/>
          </a:ln>
          <a:effectLst/>
        </p:spPr>
        <p:txBody>
          <a:bodyPr rtlCol="0" anchor="ctr"/>
          <a:lstStyle/>
          <a:p>
            <a:pPr algn="ctr"/>
          </a:p>
        </p:txBody>
      </p:sp>
      <p:sp>
        <p:nvSpPr>
          <p:cNvPr id="17" name="TextBox 16"/>
          <p:cNvSpPr txBox="1"/>
          <p:nvPr/>
        </p:nvSpPr>
        <p:spPr>
          <a:xfrm>
            <a:off x="1024128" y="3959352"/>
            <a:ext cx="1517904" cy="566928"/>
          </a:xfrm>
          <a:prstGeom prst="rect">
            <a:avLst/>
          </a:prstGeom>
          <a:noFill/>
          <a:ln/>
        </p:spPr>
        <p:txBody>
          <a:bodyPr wrap="square" lIns="0" rIns="0" tIns="0" bIns="0">
            <a:spAutoFit/>
          </a:bodyPr>
          <a:lstStyle/>
          <a:p>
            <a:pPr algn="ctr"/>
            <a:r>
              <a:rPr sz="1500" b="1">
                <a:solidFill>
                  <a:srgbClr val="FFFFFF"/>
                </a:solidFill>
                <a:latin typeface="맑은 고딕"/>
              </a:rPr>
              <a:t>⑥</a:t>
            </a:r>
          </a:p>
          <a:p>
            <a:pPr algn="ctr">
              <a:spcBef>
                <a:spcPts val="300"/>
              </a:spcBef>
            </a:pPr>
            <a:r>
              <a:rPr sz="1100" b="1">
                <a:solidFill>
                  <a:srgbClr val="FFFFFF"/>
                </a:solidFill>
                <a:latin typeface="맑은 고딕"/>
              </a:rPr>
              <a:t>ECEF → LLA</a:t>
            </a:r>
          </a:p>
          <a:p>
            <a:pPr algn="ctr">
              <a:spcBef>
                <a:spcPts val="300"/>
              </a:spcBef>
            </a:pPr>
            <a:r>
              <a:rPr sz="750" b="0">
                <a:solidFill>
                  <a:srgbClr val="9DB3D6"/>
                </a:solidFill>
                <a:latin typeface="맑은 고딕"/>
              </a:rPr>
              <a:t>위도·고도 반복</a:t>
            </a:r>
          </a:p>
        </p:txBody>
      </p:sp>
      <p:sp>
        <p:nvSpPr>
          <p:cNvPr id="18" name="Rounded Rectangle 17"/>
          <p:cNvSpPr/>
          <p:nvPr/>
        </p:nvSpPr>
        <p:spPr>
          <a:xfrm>
            <a:off x="2798064" y="3273552"/>
            <a:ext cx="3749039" cy="1938528"/>
          </a:xfrm>
          <a:prstGeom prst="roundRect">
            <a:avLst>
              <a:gd name="adj" fmla="val 4000"/>
            </a:avLst>
          </a:prstGeom>
          <a:solidFill>
            <a:srgbClr val="EEF1F7"/>
          </a:solidFill>
          <a:ln>
            <a:noFill/>
          </a:ln>
          <a:effectLst/>
        </p:spPr>
        <p:txBody>
          <a:bodyPr rtlCol="0" anchor="ctr"/>
          <a:lstStyle/>
          <a:p>
            <a:pPr algn="ctr"/>
          </a:p>
        </p:txBody>
      </p:sp>
      <p:pic>
        <p:nvPicPr>
          <p:cNvPr id="19" name="Picture 18" descr="ecef2lla.png"/>
          <p:cNvPicPr>
            <a:picLocks noChangeAspect="1"/>
          </p:cNvPicPr>
          <p:nvPr/>
        </p:nvPicPr>
        <p:blipFill>
          <a:blip r:embed="rId3"/>
          <a:stretch>
            <a:fillRect/>
          </a:stretch>
        </p:blipFill>
        <p:spPr>
          <a:xfrm>
            <a:off x="2889504" y="3485720"/>
            <a:ext cx="3547872" cy="1514190"/>
          </a:xfrm>
          <a:prstGeom prst="rect">
            <a:avLst/>
          </a:prstGeom>
          <a:ln/>
        </p:spPr>
      </p:pic>
      <p:sp>
        <p:nvSpPr>
          <p:cNvPr id="20" name="Rounded Rectangle 19"/>
          <p:cNvSpPr/>
          <p:nvPr/>
        </p:nvSpPr>
        <p:spPr>
          <a:xfrm>
            <a:off x="6693408" y="3273552"/>
            <a:ext cx="4581144" cy="1938528"/>
          </a:xfrm>
          <a:prstGeom prst="roundRect">
            <a:avLst>
              <a:gd name="adj" fmla="val 2000"/>
            </a:avLst>
          </a:prstGeom>
          <a:solidFill>
            <a:srgbClr val="F5F7FB"/>
          </a:solidFill>
          <a:ln>
            <a:noFill/>
          </a:ln>
          <a:effectLst/>
        </p:spPr>
        <p:txBody>
          <a:bodyPr rtlCol="0" anchor="ctr"/>
          <a:lstStyle/>
          <a:p>
            <a:pPr algn="ctr"/>
          </a:p>
        </p:txBody>
      </p:sp>
      <p:sp>
        <p:nvSpPr>
          <p:cNvPr id="21" name="TextBox 20"/>
          <p:cNvSpPr txBox="1"/>
          <p:nvPr/>
        </p:nvSpPr>
        <p:spPr>
          <a:xfrm>
            <a:off x="6839712" y="3355848"/>
            <a:ext cx="4288536" cy="1792224"/>
          </a:xfrm>
          <a:prstGeom prst="rect">
            <a:avLst/>
          </a:prstGeom>
          <a:noFill/>
          <a:ln/>
        </p:spPr>
        <p:txBody>
          <a:bodyPr wrap="square" lIns="0" rIns="0" tIns="0" bIns="0">
            <a:spAutoFit/>
          </a:bodyPr>
          <a:lstStyle/>
          <a:p>
            <a:pPr>
              <a:spcBef>
                <a:spcPts val="0"/>
              </a:spcBef>
            </a:pPr>
            <a:r>
              <a:rPr sz="850" b="0">
                <a:solidFill>
                  <a:srgbClr val="1A2233"/>
                </a:solidFill>
                <a:latin typeface="Consolas"/>
              </a:rPr>
              <a:t>stLla.dLon = atan2(stEcef.dY, stEcef.dX);</a:t>
            </a:r>
          </a:p>
          <a:p>
            <a:pPr>
              <a:spcBef>
                <a:spcPts val="120"/>
              </a:spcBef>
            </a:pPr>
            <a:r>
              <a:rPr sz="850" b="0">
                <a:solidFill>
                  <a:srgbClr val="1A2233"/>
                </a:solidFill>
                <a:latin typeface="Consolas"/>
              </a:rPr>
              <a:t>dLat0 = atan2(stEcef.dZ, dP);   dAlt0 = 0.0;</a:t>
            </a:r>
          </a:p>
          <a:p>
            <a:pPr>
              <a:spcBef>
                <a:spcPts val="120"/>
              </a:spcBef>
            </a:pPr>
            <a:r>
              <a:rPr sz="850" b="0">
                <a:solidFill>
                  <a:srgbClr val="1A2233"/>
                </a:solidFill>
                <a:latin typeface="Consolas"/>
              </a:rPr>
              <a:t>for (i = 0; i &lt; LLA_ITER_MAX; i++) {</a:t>
            </a:r>
          </a:p>
          <a:p>
            <a:pPr>
              <a:spcBef>
                <a:spcPts val="120"/>
              </a:spcBef>
            </a:pPr>
            <a:r>
              <a:rPr sz="850" b="0">
                <a:solidFill>
                  <a:srgbClr val="1A2233"/>
                </a:solidFill>
                <a:latin typeface="Consolas"/>
              </a:rPr>
              <a:t>  dN   = WGS84_A / sqrt(1.0 - WGS84_E2</a:t>
            </a:r>
          </a:p>
          <a:p>
            <a:pPr>
              <a:spcBef>
                <a:spcPts val="120"/>
              </a:spcBef>
            </a:pPr>
            <a:r>
              <a:rPr sz="850" b="0">
                <a:solidFill>
                  <a:srgbClr val="1A2233"/>
                </a:solidFill>
                <a:latin typeface="Consolas"/>
              </a:rPr>
              <a:t>                     * sin(dLat0)*sin(dLat0));</a:t>
            </a:r>
          </a:p>
          <a:p>
            <a:pPr>
              <a:spcBef>
                <a:spcPts val="120"/>
              </a:spcBef>
            </a:pPr>
            <a:r>
              <a:rPr sz="850" b="0">
                <a:solidFill>
                  <a:srgbClr val="1A2233"/>
                </a:solidFill>
                <a:latin typeface="Consolas"/>
              </a:rPr>
              <a:t>  dAlt = dP / cos(dLat0) - dN;</a:t>
            </a:r>
          </a:p>
          <a:p>
            <a:pPr>
              <a:spcBef>
                <a:spcPts val="120"/>
              </a:spcBef>
            </a:pPr>
            <a:r>
              <a:rPr sz="850" b="0">
                <a:solidFill>
                  <a:srgbClr val="1A2233"/>
                </a:solidFill>
                <a:latin typeface="Consolas"/>
              </a:rPr>
              <a:t>  dLat = atan2(dZ * (dN + dAlt),</a:t>
            </a:r>
          </a:p>
          <a:p>
            <a:pPr>
              <a:spcBef>
                <a:spcPts val="120"/>
              </a:spcBef>
            </a:pPr>
            <a:r>
              <a:rPr sz="850" b="0">
                <a:solidFill>
                  <a:srgbClr val="1A2233"/>
                </a:solidFill>
                <a:latin typeface="Consolas"/>
              </a:rPr>
              <a:t>           dP * (dN * (1.0 - WGS84_E2) + dAlt));</a:t>
            </a:r>
          </a:p>
          <a:p>
            <a:pPr>
              <a:spcBef>
                <a:spcPts val="120"/>
              </a:spcBef>
            </a:pPr>
            <a:r>
              <a:rPr sz="850" b="0">
                <a:solidFill>
                  <a:srgbClr val="1A2233"/>
                </a:solidFill>
                <a:latin typeface="Consolas"/>
              </a:rPr>
              <a:t>  if (fabs(dLat - dLat0) &lt; LLA_TOL_LAT &amp;&amp;</a:t>
            </a:r>
          </a:p>
          <a:p>
            <a:pPr>
              <a:spcBef>
                <a:spcPts val="120"/>
              </a:spcBef>
            </a:pPr>
            <a:r>
              <a:rPr sz="850" b="0">
                <a:solidFill>
                  <a:srgbClr val="1A2233"/>
                </a:solidFill>
                <a:latin typeface="Consolas"/>
              </a:rPr>
              <a:t>      fabs(dAlt - dAlt0) &lt; LLA_TOL_ALT)  break;</a:t>
            </a:r>
          </a:p>
          <a:p>
            <a:pPr>
              <a:spcBef>
                <a:spcPts val="120"/>
              </a:spcBef>
            </a:pPr>
            <a:r>
              <a:rPr sz="850" b="0">
                <a:solidFill>
                  <a:srgbClr val="1A2233"/>
                </a:solidFill>
                <a:latin typeface="Consolas"/>
              </a:rPr>
              <a:t>  dLat0 = dLat;   dAlt0 = dAlt;   }</a:t>
            </a:r>
          </a:p>
        </p:txBody>
      </p:sp>
      <p:sp>
        <p:nvSpPr>
          <p:cNvPr id="22" name="Rounded Rectangle 21"/>
          <p:cNvSpPr/>
          <p:nvPr/>
        </p:nvSpPr>
        <p:spPr>
          <a:xfrm>
            <a:off x="914400" y="5358384"/>
            <a:ext cx="10360152" cy="493776"/>
          </a:xfrm>
          <a:prstGeom prst="roundRect">
            <a:avLst>
              <a:gd name="adj" fmla="val 4000"/>
            </a:avLst>
          </a:prstGeom>
          <a:solidFill>
            <a:srgbClr val="34507F"/>
          </a:solidFill>
          <a:ln>
            <a:noFill/>
          </a:ln>
          <a:effectLst/>
        </p:spPr>
        <p:txBody>
          <a:bodyPr rtlCol="0" anchor="ctr"/>
          <a:lstStyle/>
          <a:p>
            <a:pPr algn="ctr"/>
          </a:p>
        </p:txBody>
      </p:sp>
      <p:sp>
        <p:nvSpPr>
          <p:cNvPr id="23" name="TextBox 22"/>
          <p:cNvSpPr txBox="1"/>
          <p:nvPr/>
        </p:nvSpPr>
        <p:spPr>
          <a:xfrm>
            <a:off x="1133856" y="5431536"/>
            <a:ext cx="9921240" cy="384048"/>
          </a:xfrm>
          <a:prstGeom prst="rect">
            <a:avLst/>
          </a:prstGeom>
          <a:noFill/>
          <a:ln/>
        </p:spPr>
        <p:txBody>
          <a:bodyPr wrap="square" lIns="0" rIns="0" tIns="0" bIns="0">
            <a:spAutoFit/>
          </a:bodyPr>
          <a:lstStyle/>
          <a:p>
            <a:r>
              <a:rPr sz="900" b="1">
                <a:solidFill>
                  <a:srgbClr val="FFFFFF"/>
                </a:solidFill>
                <a:latin typeface="맑은 고딕"/>
              </a:rPr>
              <a:t>반복 경과   위도 [deg]</a:t>
            </a:r>
          </a:p>
          <a:p>
            <a:pPr>
              <a:spcBef>
                <a:spcPts val="300"/>
              </a:spcBef>
            </a:pPr>
            <a:r>
              <a:rPr sz="850" b="0">
                <a:solidFill>
                  <a:srgbClr val="C9D6EC"/>
                </a:solidFill>
                <a:latin typeface="Consolas"/>
              </a:rPr>
              <a:t>초기 36.177411  →  ① 36.361399  →  ② 36.360966  →  ③ 36.3609672  →  ④⑤ 36.360967176  →  ⑥ 변화 2e−16, break        ( 고도 41.2824 m · 최대 10 회 · 허용오차 1e−12 rad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공식과 코드 ④    역변환</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29</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새로 만드는 공식이 없다. 회전은 전치, 이동은 빼기, 그리고 순서를 거꾸로.</a:t>
            </a:r>
            <a:endParaRPr lang="en-US" sz="1450" dirty="0"/>
          </a:p>
        </p:txBody>
      </p:sp>
      <p:sp>
        <p:nvSpPr>
          <p:cNvPr id="10" name="Rounded Rectangle 9"/>
          <p:cNvSpPr/>
          <p:nvPr/>
        </p:nvSpPr>
        <p:spPr>
          <a:xfrm>
            <a:off x="914400" y="1773936"/>
            <a:ext cx="4160520" cy="932688"/>
          </a:xfrm>
          <a:prstGeom prst="roundRect">
            <a:avLst>
              <a:gd name="adj" fmla="val 4000"/>
            </a:avLst>
          </a:prstGeom>
          <a:solidFill>
            <a:srgbClr val="EEF1F7"/>
          </a:solidFill>
          <a:ln>
            <a:noFill/>
          </a:ln>
          <a:effectLst/>
        </p:spPr>
        <p:txBody>
          <a:bodyPr rtlCol="0" anchor="ctr"/>
          <a:lstStyle/>
          <a:p>
            <a:pPr algn="ctr"/>
          </a:p>
        </p:txBody>
      </p:sp>
      <p:pic>
        <p:nvPicPr>
          <p:cNvPr id="11" name="Picture 10" descr="inverse.png"/>
          <p:cNvPicPr>
            <a:picLocks noChangeAspect="1"/>
          </p:cNvPicPr>
          <p:nvPr/>
        </p:nvPicPr>
        <p:blipFill>
          <a:blip r:embed="rId2"/>
          <a:stretch>
            <a:fillRect/>
          </a:stretch>
        </p:blipFill>
        <p:spPr>
          <a:xfrm>
            <a:off x="1500110" y="1865376"/>
            <a:ext cx="2989099" cy="749808"/>
          </a:xfrm>
          <a:prstGeom prst="rect">
            <a:avLst/>
          </a:prstGeom>
          <a:ln/>
        </p:spPr>
      </p:pic>
      <p:sp>
        <p:nvSpPr>
          <p:cNvPr id="12" name="Rounded Rectangle 11"/>
          <p:cNvSpPr/>
          <p:nvPr/>
        </p:nvSpPr>
        <p:spPr>
          <a:xfrm>
            <a:off x="5285232" y="1773936"/>
            <a:ext cx="5989320" cy="932688"/>
          </a:xfrm>
          <a:prstGeom prst="roundRect">
            <a:avLst>
              <a:gd name="adj" fmla="val 4000"/>
            </a:avLst>
          </a:prstGeom>
          <a:solidFill>
            <a:srgbClr val="EEF1F7"/>
          </a:solidFill>
          <a:ln>
            <a:noFill/>
          </a:ln>
          <a:effectLst/>
        </p:spPr>
        <p:txBody>
          <a:bodyPr rtlCol="0" anchor="ctr"/>
          <a:lstStyle/>
          <a:p>
            <a:pPr algn="ctr"/>
          </a:p>
        </p:txBody>
      </p:sp>
      <p:sp>
        <p:nvSpPr>
          <p:cNvPr id="13" name="TextBox 12"/>
          <p:cNvSpPr txBox="1"/>
          <p:nvPr/>
        </p:nvSpPr>
        <p:spPr>
          <a:xfrm>
            <a:off x="5468112" y="1874519"/>
            <a:ext cx="5623559" cy="768096"/>
          </a:xfrm>
          <a:prstGeom prst="rect">
            <a:avLst/>
          </a:prstGeom>
          <a:noFill/>
          <a:ln/>
        </p:spPr>
        <p:txBody>
          <a:bodyPr wrap="square" lIns="0" rIns="0" tIns="0" bIns="0">
            <a:spAutoFit/>
          </a:bodyPr>
          <a:lstStyle/>
          <a:p>
            <a:r>
              <a:rPr sz="1150" b="1">
                <a:solidFill>
                  <a:srgbClr val="1A2233"/>
                </a:solidFill>
                <a:latin typeface="맑은 고딕"/>
              </a:rPr>
              <a:t>순서까지 뒤집어야 한다</a:t>
            </a:r>
          </a:p>
          <a:p>
            <a:pPr>
              <a:spcBef>
                <a:spcPts val="400"/>
              </a:spcBef>
            </a:pPr>
            <a:r>
              <a:rPr sz="900" b="0">
                <a:solidFill>
                  <a:srgbClr val="5A6478"/>
                </a:solidFill>
                <a:latin typeface="맑은 고딕"/>
              </a:rPr>
              <a:t>레버암은 동체 좌표계에서 잰 값이다. 그래서 동체 좌표에서 먼저 빼고, 그다음에 안테나 축으로 되돌린다.</a:t>
            </a:r>
          </a:p>
          <a:p>
            <a:pPr>
              <a:spcBef>
                <a:spcPts val="200"/>
              </a:spcBef>
            </a:pPr>
            <a:r>
              <a:rPr sz="900" b="0">
                <a:solidFill>
                  <a:srgbClr val="5A6478"/>
                </a:solidFill>
                <a:latin typeface="맑은 고딕"/>
              </a:rPr>
              <a:t>두 줄을 바꾸면 레버암이 엉뚱한 좌표계에서 빠져 결과가 틀어진다.</a:t>
            </a:r>
          </a:p>
        </p:txBody>
      </p:sp>
      <p:sp>
        <p:nvSpPr>
          <p:cNvPr id="14" name="TextBox 13"/>
          <p:cNvSpPr txBox="1"/>
          <p:nvPr/>
        </p:nvSpPr>
        <p:spPr>
          <a:xfrm>
            <a:off x="914400" y="2871216"/>
            <a:ext cx="5074920" cy="219456"/>
          </a:xfrm>
          <a:prstGeom prst="rect">
            <a:avLst/>
          </a:prstGeom>
          <a:noFill/>
          <a:ln/>
        </p:spPr>
        <p:txBody>
          <a:bodyPr wrap="square" lIns="0" rIns="0" tIns="0" bIns="0">
            <a:spAutoFit/>
          </a:bodyPr>
          <a:lstStyle/>
          <a:p>
            <a:r>
              <a:rPr sz="1050" b="1">
                <a:solidFill>
                  <a:srgbClr val="1A2233"/>
                </a:solidFill>
                <a:latin typeface="맑은 고딕"/>
              </a:rPr>
              <a:t>정변환   f_AntToBody</a:t>
            </a:r>
          </a:p>
        </p:txBody>
      </p:sp>
      <p:sp>
        <p:nvSpPr>
          <p:cNvPr id="15" name="TextBox 14"/>
          <p:cNvSpPr txBox="1"/>
          <p:nvPr/>
        </p:nvSpPr>
        <p:spPr>
          <a:xfrm>
            <a:off x="6199632" y="2871216"/>
            <a:ext cx="5074920" cy="219456"/>
          </a:xfrm>
          <a:prstGeom prst="rect">
            <a:avLst/>
          </a:prstGeom>
          <a:noFill/>
          <a:ln/>
        </p:spPr>
        <p:txBody>
          <a:bodyPr wrap="square" lIns="0" rIns="0" tIns="0" bIns="0">
            <a:spAutoFit/>
          </a:bodyPr>
          <a:lstStyle/>
          <a:p>
            <a:r>
              <a:rPr sz="1050" b="1">
                <a:solidFill>
                  <a:srgbClr val="1A2233"/>
                </a:solidFill>
                <a:latin typeface="맑은 고딕"/>
              </a:rPr>
              <a:t>역변환   f_BodyToAnt</a:t>
            </a:r>
          </a:p>
        </p:txBody>
      </p:sp>
      <p:sp>
        <p:nvSpPr>
          <p:cNvPr id="16" name="Rounded Rectangle 15"/>
          <p:cNvSpPr/>
          <p:nvPr/>
        </p:nvSpPr>
        <p:spPr>
          <a:xfrm>
            <a:off x="914400" y="3127248"/>
            <a:ext cx="5074920" cy="1097280"/>
          </a:xfrm>
          <a:prstGeom prst="roundRect">
            <a:avLst>
              <a:gd name="adj" fmla="val 2000"/>
            </a:avLst>
          </a:prstGeom>
          <a:solidFill>
            <a:srgbClr val="F5F7FB"/>
          </a:solidFill>
          <a:ln>
            <a:noFill/>
          </a:ln>
          <a:effectLst/>
        </p:spPr>
        <p:txBody>
          <a:bodyPr rtlCol="0" anchor="ctr"/>
          <a:lstStyle/>
          <a:p>
            <a:pPr algn="ctr"/>
          </a:p>
        </p:txBody>
      </p:sp>
      <p:sp>
        <p:nvSpPr>
          <p:cNvPr id="17" name="TextBox 16"/>
          <p:cNvSpPr txBox="1"/>
          <p:nvPr/>
        </p:nvSpPr>
        <p:spPr>
          <a:xfrm>
            <a:off x="1060704" y="3209544"/>
            <a:ext cx="4782312" cy="950976"/>
          </a:xfrm>
          <a:prstGeom prst="rect">
            <a:avLst/>
          </a:prstGeom>
          <a:noFill/>
          <a:ln/>
        </p:spPr>
        <p:txBody>
          <a:bodyPr wrap="square" lIns="0" rIns="0" tIns="0" bIns="0">
            <a:spAutoFit/>
          </a:bodyPr>
          <a:lstStyle/>
          <a:p>
            <a:pPr>
              <a:spcBef>
                <a:spcPts val="0"/>
              </a:spcBef>
            </a:pPr>
            <a:r>
              <a:rPr sz="850" b="0">
                <a:solidFill>
                  <a:srgbClr val="1A2233"/>
                </a:solidFill>
                <a:latin typeface="Consolas"/>
              </a:rPr>
              <a:t>stR   = f_RotAntToBody(stMount);</a:t>
            </a:r>
          </a:p>
          <a:p>
            <a:pPr>
              <a:spcBef>
                <a:spcPts val="220"/>
              </a:spcBef>
            </a:pPr>
            <a:r>
              <a:rPr sz="850" b="0">
                <a:solidFill>
                  <a:srgbClr val="1A2233"/>
                </a:solidFill>
                <a:latin typeface="Consolas"/>
              </a:rPr>
              <a:t>stRot = Matrix_Product2(&amp;stR, &amp;stP);      // ① 회전</a:t>
            </a:r>
          </a:p>
          <a:p>
            <a:pPr>
              <a:spcBef>
                <a:spcPts val="220"/>
              </a:spcBef>
            </a:pPr>
            <a:r>
              <a:rPr sz="850" b="0">
                <a:solidFill>
                  <a:srgbClr val="1A2233"/>
                </a:solidFill>
                <a:latin typeface="Consolas"/>
              </a:rPr>
              <a:t>stOut = Matrix_Add(&amp;stRot, &amp;stOff);       // ② 더하기</a:t>
            </a:r>
          </a:p>
        </p:txBody>
      </p:sp>
      <p:sp>
        <p:nvSpPr>
          <p:cNvPr id="18" name="Rounded Rectangle 17"/>
          <p:cNvSpPr/>
          <p:nvPr/>
        </p:nvSpPr>
        <p:spPr>
          <a:xfrm>
            <a:off x="6199632" y="3127248"/>
            <a:ext cx="5074920" cy="1097280"/>
          </a:xfrm>
          <a:prstGeom prst="roundRect">
            <a:avLst>
              <a:gd name="adj" fmla="val 2000"/>
            </a:avLst>
          </a:prstGeom>
          <a:solidFill>
            <a:srgbClr val="F5F7FB"/>
          </a:solidFill>
          <a:ln>
            <a:noFill/>
          </a:ln>
          <a:effectLst/>
        </p:spPr>
        <p:txBody>
          <a:bodyPr rtlCol="0" anchor="ctr"/>
          <a:lstStyle/>
          <a:p>
            <a:pPr algn="ctr"/>
          </a:p>
        </p:txBody>
      </p:sp>
      <p:sp>
        <p:nvSpPr>
          <p:cNvPr id="19" name="TextBox 18"/>
          <p:cNvSpPr txBox="1"/>
          <p:nvPr/>
        </p:nvSpPr>
        <p:spPr>
          <a:xfrm>
            <a:off x="6345936" y="3209544"/>
            <a:ext cx="4782312" cy="950976"/>
          </a:xfrm>
          <a:prstGeom prst="rect">
            <a:avLst/>
          </a:prstGeom>
          <a:noFill/>
          <a:ln/>
        </p:spPr>
        <p:txBody>
          <a:bodyPr wrap="square" lIns="0" rIns="0" tIns="0" bIns="0">
            <a:spAutoFit/>
          </a:bodyPr>
          <a:lstStyle/>
          <a:p>
            <a:pPr>
              <a:spcBef>
                <a:spcPts val="0"/>
              </a:spcBef>
            </a:pPr>
            <a:r>
              <a:rPr sz="850" b="0">
                <a:solidFill>
                  <a:srgbClr val="1A2233"/>
                </a:solidFill>
                <a:latin typeface="Consolas"/>
              </a:rPr>
              <a:t>stRt   = Matrix_Transpose(&amp;stR);          // 전치</a:t>
            </a:r>
          </a:p>
          <a:p>
            <a:pPr>
              <a:spcBef>
                <a:spcPts val="220"/>
              </a:spcBef>
            </a:pPr>
            <a:r>
              <a:rPr sz="850" b="0">
                <a:solidFill>
                  <a:srgbClr val="1A2233"/>
                </a:solidFill>
                <a:latin typeface="Consolas"/>
              </a:rPr>
              <a:t>stDiff = Matrix_Subtract(&amp;stP, &amp;stOff);   // ① 빼기</a:t>
            </a:r>
          </a:p>
          <a:p>
            <a:pPr>
              <a:spcBef>
                <a:spcPts val="220"/>
              </a:spcBef>
            </a:pPr>
            <a:r>
              <a:rPr sz="850" b="0">
                <a:solidFill>
                  <a:srgbClr val="1A2233"/>
                </a:solidFill>
                <a:latin typeface="Consolas"/>
              </a:rPr>
              <a:t>stOut  = Matrix_Product2(&amp;stRt, &amp;stDiff); // ② 회전</a:t>
            </a:r>
          </a:p>
        </p:txBody>
      </p:sp>
      <p:sp>
        <p:nvSpPr>
          <p:cNvPr id="20" name="TextBox 19"/>
          <p:cNvSpPr txBox="1"/>
          <p:nvPr/>
        </p:nvSpPr>
        <p:spPr>
          <a:xfrm>
            <a:off x="914400" y="4370832"/>
            <a:ext cx="5074920" cy="219456"/>
          </a:xfrm>
          <a:prstGeom prst="rect">
            <a:avLst/>
          </a:prstGeom>
          <a:noFill/>
          <a:ln/>
        </p:spPr>
        <p:txBody>
          <a:bodyPr wrap="square" lIns="0" rIns="0" tIns="0" bIns="0">
            <a:spAutoFit/>
          </a:bodyPr>
          <a:lstStyle/>
          <a:p>
            <a:r>
              <a:rPr sz="1050" b="1">
                <a:solidFill>
                  <a:srgbClr val="1A2233"/>
                </a:solidFill>
                <a:latin typeface="맑은 고딕"/>
              </a:rPr>
              <a:t>직교 → 극좌표   f_XyzToPolar</a:t>
            </a:r>
          </a:p>
        </p:txBody>
      </p:sp>
      <p:sp>
        <p:nvSpPr>
          <p:cNvPr id="21" name="Rounded Rectangle 20"/>
          <p:cNvSpPr/>
          <p:nvPr/>
        </p:nvSpPr>
        <p:spPr>
          <a:xfrm>
            <a:off x="914400" y="4626864"/>
            <a:ext cx="5074920" cy="1133856"/>
          </a:xfrm>
          <a:prstGeom prst="roundRect">
            <a:avLst>
              <a:gd name="adj" fmla="val 4000"/>
            </a:avLst>
          </a:prstGeom>
          <a:solidFill>
            <a:srgbClr val="EEF1F7"/>
          </a:solidFill>
          <a:ln>
            <a:noFill/>
          </a:ln>
          <a:effectLst/>
        </p:spPr>
        <p:txBody>
          <a:bodyPr rtlCol="0" anchor="ctr"/>
          <a:lstStyle/>
          <a:p>
            <a:pPr algn="ctr"/>
          </a:p>
        </p:txBody>
      </p:sp>
      <p:pic>
        <p:nvPicPr>
          <p:cNvPr id="22" name="Picture 21" descr="xyz2polar.png"/>
          <p:cNvPicPr>
            <a:picLocks noChangeAspect="1"/>
          </p:cNvPicPr>
          <p:nvPr/>
        </p:nvPicPr>
        <p:blipFill>
          <a:blip r:embed="rId3"/>
          <a:stretch>
            <a:fillRect/>
          </a:stretch>
        </p:blipFill>
        <p:spPr>
          <a:xfrm>
            <a:off x="2363724" y="4718304"/>
            <a:ext cx="2173923" cy="950976"/>
          </a:xfrm>
          <a:prstGeom prst="rect">
            <a:avLst/>
          </a:prstGeom>
          <a:ln/>
        </p:spPr>
      </p:pic>
      <p:sp>
        <p:nvSpPr>
          <p:cNvPr id="23" name="Rounded Rectangle 22"/>
          <p:cNvSpPr/>
          <p:nvPr/>
        </p:nvSpPr>
        <p:spPr>
          <a:xfrm>
            <a:off x="6199632" y="4626864"/>
            <a:ext cx="5074920" cy="1133856"/>
          </a:xfrm>
          <a:prstGeom prst="roundRect">
            <a:avLst>
              <a:gd name="adj" fmla="val 2000"/>
            </a:avLst>
          </a:prstGeom>
          <a:solidFill>
            <a:srgbClr val="F5F7FB"/>
          </a:solidFill>
          <a:ln>
            <a:noFill/>
          </a:ln>
          <a:effectLst/>
        </p:spPr>
        <p:txBody>
          <a:bodyPr rtlCol="0" anchor="ctr"/>
          <a:lstStyle/>
          <a:p>
            <a:pPr algn="ctr"/>
          </a:p>
        </p:txBody>
      </p:sp>
      <p:sp>
        <p:nvSpPr>
          <p:cNvPr id="24" name="TextBox 23"/>
          <p:cNvSpPr txBox="1"/>
          <p:nvPr/>
        </p:nvSpPr>
        <p:spPr>
          <a:xfrm>
            <a:off x="6345936" y="4709160"/>
            <a:ext cx="4782312" cy="987552"/>
          </a:xfrm>
          <a:prstGeom prst="rect">
            <a:avLst/>
          </a:prstGeom>
          <a:noFill/>
          <a:ln/>
        </p:spPr>
        <p:txBody>
          <a:bodyPr wrap="square" lIns="0" rIns="0" tIns="0" bIns="0">
            <a:spAutoFit/>
          </a:bodyPr>
          <a:lstStyle/>
          <a:p>
            <a:pPr>
              <a:spcBef>
                <a:spcPts val="0"/>
              </a:spcBef>
            </a:pPr>
            <a:r>
              <a:rPr sz="850" b="0">
                <a:solidFill>
                  <a:srgbClr val="1A2233"/>
                </a:solidFill>
                <a:latin typeface="Consolas"/>
              </a:rPr>
              <a:t>dXz = sqrt(dX*dX + dZ*dZ);</a:t>
            </a:r>
          </a:p>
          <a:p>
            <a:pPr>
              <a:spcBef>
                <a:spcPts val="180"/>
              </a:spcBef>
            </a:pPr>
            <a:r>
              <a:rPr sz="850" b="0">
                <a:solidFill>
                  <a:srgbClr val="1A2233"/>
                </a:solidFill>
                <a:latin typeface="Consolas"/>
              </a:rPr>
              <a:t>dRange = sqrt(dXz*dXz + dY*dY);</a:t>
            </a:r>
          </a:p>
          <a:p>
            <a:pPr>
              <a:spcBef>
                <a:spcPts val="180"/>
              </a:spcBef>
            </a:pPr>
            <a:r>
              <a:rPr sz="850" b="0">
                <a:solidFill>
                  <a:srgbClr val="1A2233"/>
                </a:solidFill>
                <a:latin typeface="Consolas"/>
              </a:rPr>
              <a:t>dAz    = atan2(stXyz.dX, stXyz.dZ);</a:t>
            </a:r>
          </a:p>
          <a:p>
            <a:pPr>
              <a:spcBef>
                <a:spcPts val="180"/>
              </a:spcBef>
            </a:pPr>
            <a:r>
              <a:rPr sz="850" b="0">
                <a:solidFill>
                  <a:srgbClr val="1A2233"/>
                </a:solidFill>
                <a:latin typeface="Consolas"/>
              </a:rPr>
              <a:t>dEl    = atan2(stXyz.dY, dXz);</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실행 결과</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30</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radar_coord.exe 를 그대로 돌린 화면. 발표자료 p.20 ~ p.22 의 손계산과 전 단계가 일치한다.</a:t>
            </a:r>
            <a:endParaRPr lang="en-US" sz="1450" dirty="0"/>
          </a:p>
        </p:txBody>
      </p:sp>
      <p:sp>
        <p:nvSpPr>
          <p:cNvPr id="10" name="Rounded Rectangle 9"/>
          <p:cNvSpPr/>
          <p:nvPr/>
        </p:nvSpPr>
        <p:spPr>
          <a:xfrm>
            <a:off x="914400" y="1773936"/>
            <a:ext cx="6903720" cy="3749039"/>
          </a:xfrm>
          <a:prstGeom prst="roundRect">
            <a:avLst>
              <a:gd name="adj" fmla="val 2000"/>
            </a:avLst>
          </a:prstGeom>
          <a:solidFill>
            <a:srgbClr val="F5F7FB"/>
          </a:solidFill>
          <a:ln>
            <a:noFill/>
          </a:ln>
          <a:effectLst/>
        </p:spPr>
        <p:txBody>
          <a:bodyPr rtlCol="0" anchor="ctr"/>
          <a:lstStyle/>
          <a:p>
            <a:pPr algn="ctr"/>
          </a:p>
        </p:txBody>
      </p:sp>
      <p:sp>
        <p:nvSpPr>
          <p:cNvPr id="11" name="TextBox 10"/>
          <p:cNvSpPr txBox="1"/>
          <p:nvPr/>
        </p:nvSpPr>
        <p:spPr>
          <a:xfrm>
            <a:off x="1060704" y="1856231"/>
            <a:ext cx="6611112" cy="3602735"/>
          </a:xfrm>
          <a:prstGeom prst="rect">
            <a:avLst/>
          </a:prstGeom>
          <a:noFill/>
          <a:ln/>
        </p:spPr>
        <p:txBody>
          <a:bodyPr wrap="square" lIns="0" rIns="0" tIns="0" bIns="0">
            <a:spAutoFit/>
          </a:bodyPr>
          <a:lstStyle/>
          <a:p>
            <a:pPr>
              <a:spcBef>
                <a:spcPts val="0"/>
              </a:spcBef>
            </a:pPr>
            <a:r>
              <a:rPr sz="850" b="0">
                <a:solidFill>
                  <a:srgbClr val="1A2233"/>
                </a:solidFill>
                <a:latin typeface="Consolas"/>
              </a:rPr>
              <a:t>[입력]</a:t>
            </a:r>
          </a:p>
          <a:p>
            <a:pPr>
              <a:spcBef>
                <a:spcPts val="150"/>
              </a:spcBef>
            </a:pPr>
            <a:r>
              <a:rPr sz="850" b="0">
                <a:solidFill>
                  <a:srgbClr val="1A2233"/>
                </a:solidFill>
                <a:latin typeface="Consolas"/>
              </a:rPr>
              <a:t>  측정값       R = 20000.0 m, Az = 30.000 deg, El = 0.000 deg</a:t>
            </a:r>
          </a:p>
          <a:p>
            <a:pPr>
              <a:spcBef>
                <a:spcPts val="150"/>
              </a:spcBef>
            </a:pPr>
            <a:r>
              <a:rPr sz="850" b="0">
                <a:solidFill>
                  <a:srgbClr val="1A2233"/>
                </a:solidFill>
                <a:latin typeface="Consolas"/>
              </a:rPr>
              <a:t>  플랫폼 위치  lat = 36.408000 deg, lon = 127.307000 deg, alt = 0.0 m</a:t>
            </a:r>
          </a:p>
          <a:p>
            <a:pPr>
              <a:spcBef>
                <a:spcPts val="150"/>
              </a:spcBef>
            </a:pPr>
            <a:r>
              <a:rPr sz="850" b="0">
                <a:solidFill>
                  <a:srgbClr val="1A2233"/>
                </a:solidFill>
                <a:latin typeface="Consolas"/>
              </a:rPr>
              <a:t>  플랫폼 자세  (r, y, p) = (0.000, 45.000, 0.000) deg</a:t>
            </a:r>
          </a:p>
          <a:p>
            <a:pPr>
              <a:spcBef>
                <a:spcPts val="150"/>
              </a:spcBef>
            </a:pPr>
            <a:r>
              <a:rPr sz="850" b="0">
                <a:solidFill>
                  <a:srgbClr val="1A2233"/>
                </a:solidFill>
                <a:latin typeface="Consolas"/>
              </a:rPr>
              <a:t>  안테나 설치  az = 90.000 deg, tilt = 0.000 deg, offset = (-30.0, 0.0, -10.0) m</a:t>
            </a:r>
          </a:p>
          <a:p>
            <a:pPr>
              <a:spcBef>
                <a:spcPts val="150"/>
              </a:spcBef>
            </a:pPr>
            <a:r>
              <a:rPr sz="850" b="0">
                <a:solidFill>
                  <a:srgbClr val="1A2233"/>
                </a:solidFill>
                <a:latin typeface="Consolas"/>
              </a:rPr>
              <a:t/>
            </a:r>
          </a:p>
          <a:p>
            <a:pPr>
              <a:spcBef>
                <a:spcPts val="150"/>
              </a:spcBef>
            </a:pPr>
            <a:r>
              <a:rPr sz="850" b="0">
                <a:solidFill>
                  <a:srgbClr val="1A2233"/>
                </a:solidFill>
                <a:latin typeface="Consolas"/>
              </a:rPr>
              <a:t>[정변환]</a:t>
            </a:r>
          </a:p>
          <a:p>
            <a:pPr>
              <a:spcBef>
                <a:spcPts val="150"/>
              </a:spcBef>
            </a:pPr>
            <a:r>
              <a:rPr sz="850" b="0">
                <a:solidFill>
                  <a:srgbClr val="1A2233"/>
                </a:solidFill>
                <a:latin typeface="Consolas"/>
              </a:rPr>
              <a:t>  1) 극좌표 -&gt; 안테나 직교      10000.0000        0.0000    17320.5081  [m]</a:t>
            </a:r>
          </a:p>
          <a:p>
            <a:pPr>
              <a:spcBef>
                <a:spcPts val="150"/>
              </a:spcBef>
            </a:pPr>
            <a:r>
              <a:rPr sz="850" b="0">
                <a:solidFill>
                  <a:srgbClr val="1A2233"/>
                </a:solidFill>
                <a:latin typeface="Consolas"/>
              </a:rPr>
              <a:t>  2) 안테나 -&gt; 동체              9970.0000    17320.5081      -10.0000  [m]</a:t>
            </a:r>
          </a:p>
          <a:p>
            <a:pPr>
              <a:spcBef>
                <a:spcPts val="150"/>
              </a:spcBef>
            </a:pPr>
            <a:r>
              <a:rPr sz="850" b="0">
                <a:solidFill>
                  <a:srgbClr val="1A2233"/>
                </a:solidFill>
                <a:latin typeface="Consolas"/>
              </a:rPr>
              <a:t>  3) 동체 -&gt; NED                -5197.5941    19297.3033      -10.0000  [m]</a:t>
            </a:r>
          </a:p>
          <a:p>
            <a:pPr>
              <a:spcBef>
                <a:spcPts val="150"/>
              </a:spcBef>
            </a:pPr>
            <a:r>
              <a:rPr sz="850" b="0">
                <a:solidFill>
                  <a:srgbClr val="1A2233"/>
                </a:solidFill>
                <a:latin typeface="Consolas"/>
              </a:rPr>
              <a:t>  4) NED -&gt; ECEF            -3132053.7872  4078527.1919  3760545.9526  [m]</a:t>
            </a:r>
          </a:p>
          <a:p>
            <a:pPr>
              <a:spcBef>
                <a:spcPts val="150"/>
              </a:spcBef>
            </a:pPr>
            <a:r>
              <a:rPr sz="850" b="0">
                <a:solidFill>
                  <a:srgbClr val="1A2233"/>
                </a:solidFill>
                <a:latin typeface="Consolas"/>
              </a:rPr>
              <a:t>     함선 ECEF              -3114830.1107  4087762.8525  3764723.0978  [m]</a:t>
            </a:r>
          </a:p>
          <a:p>
            <a:pPr>
              <a:spcBef>
                <a:spcPts val="150"/>
              </a:spcBef>
            </a:pPr>
            <a:r>
              <a:rPr sz="850" b="0">
                <a:solidFill>
                  <a:srgbClr val="1A2233"/>
                </a:solidFill>
                <a:latin typeface="Consolas"/>
              </a:rPr>
              <a:t>  5) ECEF -&gt; LLA</a:t>
            </a:r>
          </a:p>
          <a:p>
            <a:pPr>
              <a:spcBef>
                <a:spcPts val="150"/>
              </a:spcBef>
            </a:pPr>
            <a:r>
              <a:rPr sz="850" b="0">
                <a:solidFill>
                  <a:srgbClr val="1A2233"/>
                </a:solidFill>
                <a:latin typeface="Consolas"/>
              </a:rPr>
              <a:t>      lat = 36.360967176 deg, lon = 127.522008441 deg, alt = 41.2824 m</a:t>
            </a:r>
          </a:p>
          <a:p>
            <a:pPr>
              <a:spcBef>
                <a:spcPts val="150"/>
              </a:spcBef>
            </a:pPr>
            <a:r>
              <a:rPr sz="850" b="0">
                <a:solidFill>
                  <a:srgbClr val="1A2233"/>
                </a:solidFill>
                <a:latin typeface="Consolas"/>
              </a:rPr>
              <a:t/>
            </a:r>
          </a:p>
          <a:p>
            <a:pPr>
              <a:spcBef>
                <a:spcPts val="150"/>
              </a:spcBef>
            </a:pPr>
            <a:r>
              <a:rPr sz="850" b="0">
                <a:solidFill>
                  <a:srgbClr val="1A2233"/>
                </a:solidFill>
                <a:latin typeface="Consolas"/>
              </a:rPr>
              <a:t>[역변환]        ( 정변환의 값을 그대로 되짚어 온다 )</a:t>
            </a:r>
          </a:p>
          <a:p>
            <a:pPr>
              <a:spcBef>
                <a:spcPts val="150"/>
              </a:spcBef>
            </a:pPr>
            <a:r>
              <a:rPr sz="850" b="0">
                <a:solidFill>
                  <a:srgbClr val="1A2233"/>
                </a:solidFill>
                <a:latin typeface="Consolas"/>
              </a:rPr>
              <a:t>  2) ECEF -&gt; NED                -5197.5941    19297.3033      -10.0000  [m]</a:t>
            </a:r>
          </a:p>
          <a:p>
            <a:pPr>
              <a:spcBef>
                <a:spcPts val="150"/>
              </a:spcBef>
            </a:pPr>
            <a:r>
              <a:rPr sz="850" b="0">
                <a:solidFill>
                  <a:srgbClr val="1A2233"/>
                </a:solidFill>
                <a:latin typeface="Consolas"/>
              </a:rPr>
              <a:t>  3) NED -&gt; 동체                 9970.0000    17320.5081      -10.0000  [m]</a:t>
            </a:r>
          </a:p>
          <a:p>
            <a:pPr>
              <a:spcBef>
                <a:spcPts val="150"/>
              </a:spcBef>
            </a:pPr>
            <a:r>
              <a:rPr sz="850" b="0">
                <a:solidFill>
                  <a:srgbClr val="1A2233"/>
                </a:solidFill>
                <a:latin typeface="Consolas"/>
              </a:rPr>
              <a:t>  4) 동체 -&gt; 안테나 직교        10000.0000        0.0000    17320.5081  [m]</a:t>
            </a:r>
          </a:p>
          <a:p>
            <a:pPr>
              <a:spcBef>
                <a:spcPts val="150"/>
              </a:spcBef>
            </a:pPr>
            <a:r>
              <a:rPr sz="850" b="0">
                <a:solidFill>
                  <a:srgbClr val="1A2233"/>
                </a:solidFill>
                <a:latin typeface="Consolas"/>
              </a:rPr>
              <a:t>  5) R = 20000.000000 m, Az = 30.000000000 deg, El = 0.000000000 deg</a:t>
            </a:r>
          </a:p>
          <a:p>
            <a:pPr>
              <a:spcBef>
                <a:spcPts val="150"/>
              </a:spcBef>
            </a:pPr>
            <a:r>
              <a:rPr sz="850" b="0">
                <a:solidFill>
                  <a:srgbClr val="1A2233"/>
                </a:solidFill>
                <a:latin typeface="Consolas"/>
              </a:rPr>
              <a:t>      입력과 차이  dR = 6.8e-10 m, dAz = 6.8e-13 deg, dEl = 3.8e-12 deg</a:t>
            </a:r>
          </a:p>
        </p:txBody>
      </p:sp>
      <p:sp>
        <p:nvSpPr>
          <p:cNvPr id="12" name="Rounded Rectangle 11"/>
          <p:cNvSpPr/>
          <p:nvPr/>
        </p:nvSpPr>
        <p:spPr>
          <a:xfrm>
            <a:off x="8001000" y="1773936"/>
            <a:ext cx="3273552" cy="1078992"/>
          </a:xfrm>
          <a:prstGeom prst="roundRect">
            <a:avLst>
              <a:gd name="adj" fmla="val 4000"/>
            </a:avLst>
          </a:prstGeom>
          <a:solidFill>
            <a:srgbClr val="EEF1F7"/>
          </a:solidFill>
          <a:ln>
            <a:noFill/>
          </a:ln>
          <a:effectLst/>
        </p:spPr>
        <p:txBody>
          <a:bodyPr rtlCol="0" anchor="ctr"/>
          <a:lstStyle/>
          <a:p>
            <a:pPr algn="ctr"/>
          </a:p>
        </p:txBody>
      </p:sp>
      <p:sp>
        <p:nvSpPr>
          <p:cNvPr id="13" name="TextBox 12"/>
          <p:cNvSpPr txBox="1"/>
          <p:nvPr/>
        </p:nvSpPr>
        <p:spPr>
          <a:xfrm>
            <a:off x="8183879" y="1865376"/>
            <a:ext cx="2907792" cy="914400"/>
          </a:xfrm>
          <a:prstGeom prst="rect">
            <a:avLst/>
          </a:prstGeom>
          <a:noFill/>
          <a:ln/>
        </p:spPr>
        <p:txBody>
          <a:bodyPr wrap="square" lIns="0" rIns="0" tIns="0" bIns="0">
            <a:spAutoFit/>
          </a:bodyPr>
          <a:lstStyle/>
          <a:p>
            <a:r>
              <a:rPr sz="1200" b="1">
                <a:solidFill>
                  <a:srgbClr val="1A2233"/>
                </a:solidFill>
                <a:latin typeface="맑은 고딕"/>
              </a:rPr>
              <a:t>ECEF 에서 자릿수가 뛴다</a:t>
            </a:r>
          </a:p>
          <a:p>
            <a:pPr>
              <a:spcBef>
                <a:spcPts val="400"/>
              </a:spcBef>
            </a:pPr>
            <a:r>
              <a:rPr sz="900" b="0">
                <a:solidFill>
                  <a:srgbClr val="5A6478"/>
                </a:solidFill>
                <a:latin typeface="맑은 고딕"/>
              </a:rPr>
              <a:t>표적까지 20 km 인데 좌표는 3,132 km 다. 원점이 지구 중심이라서.</a:t>
            </a:r>
          </a:p>
          <a:p>
            <a:pPr>
              <a:spcBef>
                <a:spcPts val="200"/>
              </a:spcBef>
            </a:pPr>
            <a:r>
              <a:rPr sz="900" b="0">
                <a:solidFill>
                  <a:srgbClr val="5A6478"/>
                </a:solidFill>
                <a:latin typeface="맑은 고딕"/>
              </a:rPr>
              <a:t>float 32bit 은 이 크기에서 눈금이 0.25 m —</a:t>
            </a:r>
          </a:p>
          <a:p>
            <a:pPr>
              <a:spcBef>
                <a:spcPts val="200"/>
              </a:spcBef>
            </a:pPr>
            <a:r>
              <a:rPr sz="900" b="0">
                <a:solidFill>
                  <a:srgbClr val="5A6478"/>
                </a:solidFill>
                <a:latin typeface="맑은 고딕"/>
              </a:rPr>
              <a:t>미터 이하가 날아간다. 전 구간 double 을 쓰는 이유다.</a:t>
            </a:r>
          </a:p>
        </p:txBody>
      </p:sp>
      <p:sp>
        <p:nvSpPr>
          <p:cNvPr id="14" name="Rounded Rectangle 13"/>
          <p:cNvSpPr/>
          <p:nvPr/>
        </p:nvSpPr>
        <p:spPr>
          <a:xfrm>
            <a:off x="8001000" y="2962656"/>
            <a:ext cx="3273552" cy="932688"/>
          </a:xfrm>
          <a:prstGeom prst="roundRect">
            <a:avLst>
              <a:gd name="adj" fmla="val 4000"/>
            </a:avLst>
          </a:prstGeom>
          <a:solidFill>
            <a:srgbClr val="EEF1F7"/>
          </a:solidFill>
          <a:ln>
            <a:noFill/>
          </a:ln>
          <a:effectLst/>
        </p:spPr>
        <p:txBody>
          <a:bodyPr rtlCol="0" anchor="ctr"/>
          <a:lstStyle/>
          <a:p>
            <a:pPr algn="ctr"/>
          </a:p>
        </p:txBody>
      </p:sp>
      <p:sp>
        <p:nvSpPr>
          <p:cNvPr id="15" name="TextBox 14"/>
          <p:cNvSpPr txBox="1"/>
          <p:nvPr/>
        </p:nvSpPr>
        <p:spPr>
          <a:xfrm>
            <a:off x="8183879" y="3054096"/>
            <a:ext cx="2907792" cy="768096"/>
          </a:xfrm>
          <a:prstGeom prst="rect">
            <a:avLst/>
          </a:prstGeom>
          <a:noFill/>
          <a:ln/>
        </p:spPr>
        <p:txBody>
          <a:bodyPr wrap="square" lIns="0" rIns="0" tIns="0" bIns="0">
            <a:spAutoFit/>
          </a:bodyPr>
          <a:lstStyle/>
          <a:p>
            <a:r>
              <a:rPr sz="1200" b="1">
                <a:solidFill>
                  <a:srgbClr val="1A2233"/>
                </a:solidFill>
                <a:latin typeface="맑은 고딕"/>
              </a:rPr>
              <a:t>과제 최종 출력 2가지</a:t>
            </a:r>
          </a:p>
          <a:p>
            <a:pPr>
              <a:spcBef>
                <a:spcPts val="400"/>
              </a:spcBef>
            </a:pPr>
            <a:r>
              <a:rPr sz="900" b="0">
                <a:solidFill>
                  <a:srgbClr val="5A6478"/>
                </a:solidFill>
                <a:latin typeface="맑은 고딕"/>
              </a:rPr>
              <a:t>①  36.360967 °N,  127.522008 °E,  41.3 m</a:t>
            </a:r>
          </a:p>
          <a:p>
            <a:pPr>
              <a:spcBef>
                <a:spcPts val="200"/>
              </a:spcBef>
            </a:pPr>
            <a:r>
              <a:rPr sz="900" b="0">
                <a:solidFill>
                  <a:srgbClr val="5A6478"/>
                </a:solidFill>
                <a:latin typeface="맑은 고딕"/>
              </a:rPr>
              <a:t>②  R 20000.0 m,  Az 30.000°,  El 0.000°</a:t>
            </a:r>
          </a:p>
        </p:txBody>
      </p:sp>
      <p:sp>
        <p:nvSpPr>
          <p:cNvPr id="16" name="Rounded Rectangle 15"/>
          <p:cNvSpPr/>
          <p:nvPr/>
        </p:nvSpPr>
        <p:spPr>
          <a:xfrm>
            <a:off x="8001000" y="4005072"/>
            <a:ext cx="3273552" cy="1517904"/>
          </a:xfrm>
          <a:prstGeom prst="roundRect">
            <a:avLst>
              <a:gd name="adj" fmla="val 4000"/>
            </a:avLst>
          </a:prstGeom>
          <a:solidFill>
            <a:srgbClr val="EEF1F7"/>
          </a:solidFill>
          <a:ln>
            <a:noFill/>
          </a:ln>
          <a:effectLst/>
        </p:spPr>
        <p:txBody>
          <a:bodyPr rtlCol="0" anchor="ctr"/>
          <a:lstStyle/>
          <a:p>
            <a:pPr algn="ctr"/>
          </a:p>
        </p:txBody>
      </p:sp>
      <p:sp>
        <p:nvSpPr>
          <p:cNvPr id="17" name="TextBox 16"/>
          <p:cNvSpPr txBox="1"/>
          <p:nvPr/>
        </p:nvSpPr>
        <p:spPr>
          <a:xfrm>
            <a:off x="8183879" y="4087368"/>
            <a:ext cx="2907792" cy="566928"/>
          </a:xfrm>
          <a:prstGeom prst="rect">
            <a:avLst/>
          </a:prstGeom>
          <a:noFill/>
          <a:ln/>
        </p:spPr>
        <p:txBody>
          <a:bodyPr wrap="square" lIns="0" rIns="0" tIns="0" bIns="0">
            <a:spAutoFit/>
          </a:bodyPr>
          <a:lstStyle/>
          <a:p>
            <a:r>
              <a:rPr sz="1200" b="1">
                <a:solidFill>
                  <a:srgbClr val="1A2233"/>
                </a:solidFill>
                <a:latin typeface="맑은 고딕"/>
              </a:rPr>
              <a:t>고도가 41.3 m 인 이유</a:t>
            </a:r>
          </a:p>
          <a:p>
            <a:pPr>
              <a:spcBef>
                <a:spcPts val="400"/>
              </a:spcBef>
            </a:pPr>
            <a:r>
              <a:rPr sz="900" b="0">
                <a:solidFill>
                  <a:srgbClr val="5A6478"/>
                </a:solidFill>
                <a:latin typeface="맑은 고딕"/>
              </a:rPr>
              <a:t>표적은 수평면에서 10 m 위지만, 20 km 앞이라</a:t>
            </a:r>
          </a:p>
          <a:p>
            <a:pPr>
              <a:spcBef>
                <a:spcPts val="200"/>
              </a:spcBef>
            </a:pPr>
            <a:r>
              <a:rPr sz="900" b="0">
                <a:solidFill>
                  <a:srgbClr val="5A6478"/>
                </a:solidFill>
                <a:latin typeface="맑은 고딕"/>
              </a:rPr>
              <a:t>지구 표면이 31.3 m 아래로 내려간다.</a:t>
            </a:r>
          </a:p>
        </p:txBody>
      </p:sp>
      <p:cxnSp>
        <p:nvCxnSpPr>
          <p:cNvPr id="18" name="Connector 17"/>
          <p:cNvCxnSpPr/>
          <p:nvPr/>
        </p:nvCxnSpPr>
        <p:spPr>
          <a:xfrm>
            <a:off x="8366760" y="4956048"/>
            <a:ext cx="2075688" cy="0"/>
          </a:xfrm>
          <a:prstGeom prst="line">
            <a:avLst/>
          </a:prstGeom>
          <a:ln w="15875">
            <a:solidFill>
              <a:srgbClr val="2B57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366760" y="4956048"/>
            <a:ext cx="207568" cy="3291"/>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74328" y="4959339"/>
            <a:ext cx="207569" cy="9876"/>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781897" y="4969215"/>
            <a:ext cx="207569" cy="16459"/>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989466" y="4985674"/>
            <a:ext cx="207569" cy="23043"/>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197035" y="5008717"/>
            <a:ext cx="207569" cy="29627"/>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404604" y="5038344"/>
            <a:ext cx="207568" cy="36210"/>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12172" y="5074554"/>
            <a:ext cx="207569" cy="42794"/>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9741" y="5117348"/>
            <a:ext cx="207569" cy="49377"/>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027310" y="5166725"/>
            <a:ext cx="207569" cy="55962"/>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234879" y="5222687"/>
            <a:ext cx="207569" cy="62545"/>
          </a:xfrm>
          <a:prstGeom prst="line">
            <a:avLst/>
          </a:prstGeom>
          <a:ln w="12700">
            <a:solidFill>
              <a:srgbClr val="1A223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442448" y="4956048"/>
            <a:ext cx="0" cy="329184"/>
          </a:xfrm>
          <a:prstGeom prst="line">
            <a:avLst/>
          </a:prstGeom>
          <a:ln w="9525">
            <a:solidFill>
              <a:srgbClr val="5A6478"/>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8325612" y="4914900"/>
            <a:ext cx="82296" cy="82296"/>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1080" y="4773168"/>
            <a:ext cx="1371600" cy="155448"/>
          </a:xfrm>
          <a:prstGeom prst="rect">
            <a:avLst/>
          </a:prstGeom>
          <a:noFill/>
        </p:spPr>
        <p:txBody>
          <a:bodyPr wrap="none" lIns="0" rIns="0" tIns="0" bIns="0">
            <a:spAutoFit/>
          </a:bodyPr>
          <a:lstStyle/>
          <a:p>
            <a:r>
              <a:rPr sz="700" b="1">
                <a:solidFill>
                  <a:srgbClr val="2B57A6"/>
                </a:solidFill>
                <a:latin typeface="맑은 고딕"/>
              </a:rPr>
              <a:t>20 km 직진 (수평면)</a:t>
            </a:r>
          </a:p>
        </p:txBody>
      </p:sp>
      <p:sp>
        <p:nvSpPr>
          <p:cNvPr id="32" name="TextBox 31"/>
          <p:cNvSpPr txBox="1"/>
          <p:nvPr/>
        </p:nvSpPr>
        <p:spPr>
          <a:xfrm>
            <a:off x="10497312" y="5038344"/>
            <a:ext cx="640080" cy="155448"/>
          </a:xfrm>
          <a:prstGeom prst="rect">
            <a:avLst/>
          </a:prstGeom>
          <a:noFill/>
        </p:spPr>
        <p:txBody>
          <a:bodyPr wrap="none" lIns="0" rIns="0" tIns="0" bIns="0">
            <a:spAutoFit/>
          </a:bodyPr>
          <a:lstStyle/>
          <a:p>
            <a:r>
              <a:rPr sz="700" b="1">
                <a:solidFill>
                  <a:srgbClr val="1A2233"/>
                </a:solidFill>
                <a:latin typeface="맑은 고딕"/>
              </a:rPr>
              <a:t>31.3 m</a:t>
            </a:r>
          </a:p>
        </p:txBody>
      </p:sp>
      <p:sp>
        <p:nvSpPr>
          <p:cNvPr id="33" name="TextBox 32"/>
          <p:cNvSpPr txBox="1"/>
          <p:nvPr/>
        </p:nvSpPr>
        <p:spPr>
          <a:xfrm>
            <a:off x="8476488" y="5138928"/>
            <a:ext cx="1005840" cy="155448"/>
          </a:xfrm>
          <a:prstGeom prst="rect">
            <a:avLst/>
          </a:prstGeom>
          <a:noFill/>
        </p:spPr>
        <p:txBody>
          <a:bodyPr wrap="none" lIns="0" rIns="0" tIns="0" bIns="0">
            <a:spAutoFit/>
          </a:bodyPr>
          <a:lstStyle/>
          <a:p>
            <a:r>
              <a:rPr sz="700" b="0">
                <a:solidFill>
                  <a:srgbClr val="5A6478"/>
                </a:solidFill>
                <a:latin typeface="맑은 고딕"/>
              </a:rPr>
              <a:t>지구 표면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Shape 0"/>
          <p:cNvSpPr/>
          <p:nvPr/>
        </p:nvSpPr>
        <p:spPr>
          <a:xfrm>
            <a:off x="548640" y="384048"/>
            <a:ext cx="11094415" cy="566928"/>
          </a:xfrm>
          <a:prstGeom prst="rect">
            <a:avLst/>
          </a:prstGeom>
          <a:solidFill>
            <a:srgbClr val="13233F"/>
          </a:solidFill>
          <a:ln/>
        </p:spPr>
        <p:txBody>
          <a:bodyPr/>
          <a:p/>
        </p:txBody>
      </p:sp>
      <p:sp>
        <p:nvSpPr>
          <p:cNvPr id="3" name="Text 1"/>
          <p:cNvSpPr txBox="1"/>
          <p:nvPr/>
        </p:nvSpPr>
        <p:spPr>
          <a:xfrm>
            <a:off x="749808" y="384048"/>
            <a:ext cx="10692079" cy="566928"/>
          </a:xfrm>
          <a:prstGeom prst="rect">
            <a:avLst/>
          </a:prstGeom>
          <a:noFill/>
          <a:ln/>
        </p:spPr>
        <p:txBody>
          <a:bodyPr wrap="square" lIns="0" tIns="0" rIns="0" bIns="0" rtlCol="0" anchor="ctr"/>
          <a:lstStyle/>
          <a:p>
            <a:pPr marL="0" indent="0">
              <a:buNone/>
            </a:pPr>
            <a:r>
              <a:rPr lang="en-US" sz="2000" b="1" dirty="0">
                <a:solidFill>
                  <a:srgbClr val="FFFFFF"/>
                </a:solidFill>
                <a:latin typeface="맑은 고딕" pitchFamily="34" charset="0"/>
                <a:ea typeface="맑은 고딕" pitchFamily="34" charset="-122"/>
                <a:cs typeface="맑은 고딕" pitchFamily="34" charset="-120"/>
              </a:rPr>
              <a:t>03. UI 화면에서 확인</a:t>
            </a:r>
            <a:endParaRPr lang="en-US" sz="2000" dirty="0"/>
          </a:p>
        </p:txBody>
      </p:sp>
      <p:sp>
        <p:nvSpPr>
          <p:cNvPr id="4" name="Shape 2"/>
          <p:cNvSpPr/>
          <p:nvPr/>
        </p:nvSpPr>
        <p:spPr>
          <a:xfrm>
            <a:off x="548640" y="1097280"/>
            <a:ext cx="11094415" cy="4864608"/>
          </a:xfrm>
          <a:prstGeom prst="rect">
            <a:avLst/>
          </a:prstGeom>
          <a:solidFill>
            <a:srgbClr val="FFFFFF"/>
          </a:solidFill>
          <a:ln/>
        </p:spPr>
        <p:txBody>
          <a:bodyPr/>
          <a:p/>
        </p:txBody>
      </p:sp>
      <p:sp>
        <p:nvSpPr>
          <p:cNvPr id="5" name="Shape 3"/>
          <p:cNvSpPr/>
          <p:nvPr/>
        </p:nvSpPr>
        <p:spPr>
          <a:xfrm>
            <a:off x="548640" y="6199632"/>
            <a:ext cx="11094415" cy="0"/>
          </a:xfrm>
          <a:prstGeom prst="line">
            <a:avLst/>
          </a:prstGeom>
          <a:noFill/>
          <a:ln w="9525">
            <a:solidFill>
              <a:srgbClr val="C9D6EC"/>
            </a:solidFill>
            <a:prstDash val="solid"/>
          </a:ln>
        </p:spPr>
        <p:txBody>
          <a:bodyPr/>
          <a:p/>
        </p:txBody>
      </p:sp>
      <p:sp>
        <p:nvSpPr>
          <p:cNvPr id="7" name="Text 5"/>
          <p:cNvSpPr txBox="1"/>
          <p:nvPr/>
        </p:nvSpPr>
        <p:spPr>
          <a:xfrm>
            <a:off x="0" y="6419088"/>
            <a:ext cx="12191695" cy="219456"/>
          </a:xfrm>
          <a:prstGeom prst="rect">
            <a:avLst/>
          </a:prstGeom>
          <a:noFill/>
          <a:ln/>
        </p:spPr>
        <p:txBody>
          <a:bodyPr wrap="square" lIns="0" tIns="0" rIns="0" bIns="0" rtlCol="0" anchor="ctr"/>
          <a:lstStyle/>
          <a:p>
            <a:pPr marL="0" indent="0" algn="ctr">
              <a:buNone/>
            </a:pPr>
            <a:r>
              <a:rPr lang="en-US" sz="900" dirty="0">
                <a:solidFill>
                  <a:srgbClr val="5A6478"/>
                </a:solidFill>
                <a:latin typeface="Arial" pitchFamily="34" charset="0"/>
                <a:ea typeface="Arial" pitchFamily="34" charset="-122"/>
                <a:cs typeface="Arial" pitchFamily="34" charset="-120"/>
              </a:rPr>
              <a:t>31</a:t>
            </a:r>
            <a:endParaRPr lang="en-US" sz="900" dirty="0"/>
          </a:p>
        </p:txBody>
      </p:sp>
      <p:sp>
        <p:nvSpPr>
          <p:cNvPr id="8" name="Shape 6"/>
          <p:cNvSpPr/>
          <p:nvPr/>
        </p:nvSpPr>
        <p:spPr>
          <a:xfrm>
            <a:off x="786384" y="1335024"/>
            <a:ext cx="50292" cy="274320"/>
          </a:xfrm>
          <a:prstGeom prst="rect">
            <a:avLst/>
          </a:prstGeom>
          <a:solidFill>
            <a:srgbClr val="13233F"/>
          </a:solidFill>
          <a:ln/>
        </p:spPr>
        <p:txBody>
          <a:bodyPr/>
          <a:p/>
        </p:txBody>
      </p:sp>
      <p:sp>
        <p:nvSpPr>
          <p:cNvPr id="9" name="Text 7"/>
          <p:cNvSpPr txBox="1"/>
          <p:nvPr/>
        </p:nvSpPr>
        <p:spPr>
          <a:xfrm>
            <a:off x="932688" y="1298448"/>
            <a:ext cx="10271455" cy="347472"/>
          </a:xfrm>
          <a:prstGeom prst="rect">
            <a:avLst/>
          </a:prstGeom>
          <a:noFill/>
          <a:ln/>
        </p:spPr>
        <p:txBody>
          <a:bodyPr wrap="square" lIns="0" tIns="0" rIns="0" bIns="0" rtlCol="0" anchor="ctr"/>
          <a:lstStyle/>
          <a:p>
            <a:pPr marL="0" indent="0">
              <a:buNone/>
            </a:pPr>
            <a:r>
              <a:rPr lang="en-US" sz="1450" b="1" dirty="0">
                <a:solidFill>
                  <a:srgbClr val="1A2233"/>
                </a:solidFill>
                <a:latin typeface="맑은 고딕" pitchFamily="34" charset="0"/>
                <a:ea typeface="맑은 고딕" pitchFamily="34" charset="-122"/>
                <a:cs typeface="맑은 고딕" pitchFamily="34" charset="-120"/>
              </a:rPr>
              <a:t>CoordUI 는 같은 CoordCore 를 호출한다. 입력을 바꾸면 단계별 값이 그 자리에서 다시 계산된다.</a:t>
            </a:r>
            <a:endParaRPr lang="en-US" sz="1450" dirty="0"/>
          </a:p>
        </p:txBody>
      </p:sp>
      <p:pic>
        <p:nvPicPr>
          <p:cNvPr id="10" name="Picture 9" descr="coordui.png"/>
          <p:cNvPicPr>
            <a:picLocks noChangeAspect="1"/>
          </p:cNvPicPr>
          <p:nvPr/>
        </p:nvPicPr>
        <p:blipFill>
          <a:blip r:embed="rId2"/>
          <a:stretch>
            <a:fillRect/>
          </a:stretch>
        </p:blipFill>
        <p:spPr>
          <a:xfrm>
            <a:off x="914400" y="1773936"/>
            <a:ext cx="7589520" cy="3858837"/>
          </a:xfrm>
          <a:prstGeom prst="rect">
            <a:avLst/>
          </a:prstGeom>
          <a:ln/>
        </p:spPr>
      </p:pic>
      <p:sp>
        <p:nvSpPr>
          <p:cNvPr id="11" name="Rounded Rectangle 10"/>
          <p:cNvSpPr/>
          <p:nvPr/>
        </p:nvSpPr>
        <p:spPr>
          <a:xfrm>
            <a:off x="8778240" y="1773936"/>
            <a:ext cx="2496312" cy="1188720"/>
          </a:xfrm>
          <a:prstGeom prst="roundRect">
            <a:avLst>
              <a:gd name="adj" fmla="val 4000"/>
            </a:avLst>
          </a:prstGeom>
          <a:solidFill>
            <a:srgbClr val="EEF1F7"/>
          </a:solidFill>
          <a:ln>
            <a:noFill/>
          </a:ln>
          <a:effectLst/>
        </p:spPr>
        <p:txBody>
          <a:bodyPr rtlCol="0" anchor="ctr"/>
          <a:lstStyle/>
          <a:p>
            <a:pPr algn="ctr"/>
          </a:p>
        </p:txBody>
      </p:sp>
      <p:sp>
        <p:nvSpPr>
          <p:cNvPr id="12" name="TextBox 11"/>
          <p:cNvSpPr txBox="1"/>
          <p:nvPr/>
        </p:nvSpPr>
        <p:spPr>
          <a:xfrm>
            <a:off x="8961119" y="1874519"/>
            <a:ext cx="2130552" cy="1024128"/>
          </a:xfrm>
          <a:prstGeom prst="rect">
            <a:avLst/>
          </a:prstGeom>
          <a:noFill/>
          <a:ln/>
        </p:spPr>
        <p:txBody>
          <a:bodyPr wrap="square" lIns="0" rIns="0" tIns="0" bIns="0">
            <a:spAutoFit/>
          </a:bodyPr>
          <a:lstStyle/>
          <a:p>
            <a:r>
              <a:rPr sz="1100" b="1">
                <a:solidFill>
                  <a:srgbClr val="1A2233"/>
                </a:solidFill>
                <a:latin typeface="맑은 고딕"/>
              </a:rPr>
              <a:t>① 입력</a:t>
            </a:r>
          </a:p>
          <a:p>
            <a:pPr>
              <a:spcBef>
                <a:spcPts val="400"/>
              </a:spcBef>
            </a:pPr>
            <a:r>
              <a:rPr sz="819" b="0">
                <a:solidFill>
                  <a:srgbClr val="5A6478"/>
                </a:solidFill>
                <a:latin typeface="맑은 고딕"/>
              </a:rPr>
              <a:t>측정값 · 플랫폼 위치 · 자세 · 안테나 설치를 그대로 넣는다.</a:t>
            </a:r>
          </a:p>
          <a:p>
            <a:pPr>
              <a:spcBef>
                <a:spcPts val="200"/>
              </a:spcBef>
            </a:pPr>
            <a:r>
              <a:rPr sz="819" b="0">
                <a:solidFill>
                  <a:srgbClr val="5A6478"/>
                </a:solidFill>
                <a:latin typeface="맑은 고딕"/>
              </a:rPr>
              <a:t>roll / pitch / yaw 는 슬라이더로도 바꾼다.</a:t>
            </a:r>
          </a:p>
        </p:txBody>
      </p:sp>
      <p:sp>
        <p:nvSpPr>
          <p:cNvPr id="13" name="Rounded Rectangle 12"/>
          <p:cNvSpPr/>
          <p:nvPr/>
        </p:nvSpPr>
        <p:spPr>
          <a:xfrm>
            <a:off x="8778240" y="3090672"/>
            <a:ext cx="2496312" cy="1188720"/>
          </a:xfrm>
          <a:prstGeom prst="roundRect">
            <a:avLst>
              <a:gd name="adj" fmla="val 4000"/>
            </a:avLst>
          </a:prstGeom>
          <a:solidFill>
            <a:srgbClr val="EEF1F7"/>
          </a:solidFill>
          <a:ln>
            <a:noFill/>
          </a:ln>
          <a:effectLst/>
        </p:spPr>
        <p:txBody>
          <a:bodyPr rtlCol="0" anchor="ctr"/>
          <a:lstStyle/>
          <a:p>
            <a:pPr algn="ctr"/>
          </a:p>
        </p:txBody>
      </p:sp>
      <p:sp>
        <p:nvSpPr>
          <p:cNvPr id="14" name="TextBox 13"/>
          <p:cNvSpPr txBox="1"/>
          <p:nvPr/>
        </p:nvSpPr>
        <p:spPr>
          <a:xfrm>
            <a:off x="8961119" y="3191256"/>
            <a:ext cx="2130552" cy="1024128"/>
          </a:xfrm>
          <a:prstGeom prst="rect">
            <a:avLst/>
          </a:prstGeom>
          <a:noFill/>
          <a:ln/>
        </p:spPr>
        <p:txBody>
          <a:bodyPr wrap="square" lIns="0" rIns="0" tIns="0" bIns="0">
            <a:spAutoFit/>
          </a:bodyPr>
          <a:lstStyle/>
          <a:p>
            <a:r>
              <a:rPr sz="1100" b="1">
                <a:solidFill>
                  <a:srgbClr val="1A2233"/>
                </a:solidFill>
                <a:latin typeface="맑은 고딕"/>
              </a:rPr>
              <a:t>② 단계별 결과</a:t>
            </a:r>
          </a:p>
          <a:p>
            <a:pPr>
              <a:spcBef>
                <a:spcPts val="400"/>
              </a:spcBef>
            </a:pPr>
            <a:r>
              <a:rPr sz="819" b="0">
                <a:solidFill>
                  <a:srgbClr val="5A6478"/>
                </a:solidFill>
                <a:latin typeface="맑은 고딕"/>
              </a:rPr>
              <a:t>정변환 5 단계와 역변환 5 단계가 한 표에 나온다.</a:t>
            </a:r>
          </a:p>
          <a:p>
            <a:pPr>
              <a:spcBef>
                <a:spcPts val="200"/>
              </a:spcBef>
            </a:pPr>
            <a:r>
              <a:rPr sz="819" b="0">
                <a:solidFill>
                  <a:srgbClr val="5A6478"/>
                </a:solidFill>
                <a:latin typeface="맑은 고딕"/>
              </a:rPr>
              <a:t>콘솔 출력과 값이 같다.</a:t>
            </a:r>
          </a:p>
        </p:txBody>
      </p:sp>
      <p:sp>
        <p:nvSpPr>
          <p:cNvPr id="15" name="Rounded Rectangle 14"/>
          <p:cNvSpPr/>
          <p:nvPr/>
        </p:nvSpPr>
        <p:spPr>
          <a:xfrm>
            <a:off x="8778240" y="4407408"/>
            <a:ext cx="2496312" cy="1225296"/>
          </a:xfrm>
          <a:prstGeom prst="roundRect">
            <a:avLst>
              <a:gd name="adj" fmla="val 4000"/>
            </a:avLst>
          </a:prstGeom>
          <a:solidFill>
            <a:srgbClr val="EEF1F7"/>
          </a:solidFill>
          <a:ln>
            <a:noFill/>
          </a:ln>
          <a:effectLst/>
        </p:spPr>
        <p:txBody>
          <a:bodyPr rtlCol="0" anchor="ctr"/>
          <a:lstStyle/>
          <a:p>
            <a:pPr algn="ctr"/>
          </a:p>
        </p:txBody>
      </p:sp>
      <p:sp>
        <p:nvSpPr>
          <p:cNvPr id="16" name="TextBox 15"/>
          <p:cNvSpPr txBox="1"/>
          <p:nvPr/>
        </p:nvSpPr>
        <p:spPr>
          <a:xfrm>
            <a:off x="8961119" y="4507992"/>
            <a:ext cx="2130552" cy="1060704"/>
          </a:xfrm>
          <a:prstGeom prst="rect">
            <a:avLst/>
          </a:prstGeom>
          <a:noFill/>
          <a:ln/>
        </p:spPr>
        <p:txBody>
          <a:bodyPr wrap="square" lIns="0" rIns="0" tIns="0" bIns="0">
            <a:spAutoFit/>
          </a:bodyPr>
          <a:lstStyle/>
          <a:p>
            <a:r>
              <a:rPr sz="1100" b="1">
                <a:solidFill>
                  <a:srgbClr val="1A2233"/>
                </a:solidFill>
                <a:latin typeface="맑은 고딕"/>
              </a:rPr>
              <a:t>③ 최종 출력</a:t>
            </a:r>
          </a:p>
          <a:p>
            <a:pPr>
              <a:spcBef>
                <a:spcPts val="400"/>
              </a:spcBef>
            </a:pPr>
            <a:r>
              <a:rPr sz="819" b="0">
                <a:solidFill>
                  <a:srgbClr val="5A6478"/>
                </a:solidFill>
                <a:latin typeface="맑은 고딕"/>
              </a:rPr>
              <a:t>표적 위/경/고도와 안테나 극좌표,</a:t>
            </a:r>
          </a:p>
          <a:p>
            <a:pPr>
              <a:spcBef>
                <a:spcPts val="200"/>
              </a:spcBef>
            </a:pPr>
            <a:r>
              <a:rPr sz="819" b="0">
                <a:solidFill>
                  <a:srgbClr val="5A6478"/>
                </a:solidFill>
                <a:latin typeface="맑은 고딕"/>
              </a:rPr>
              <a:t>그리고 왕복오차까지 한 눈에 확인된다.</a:t>
            </a:r>
          </a:p>
        </p:txBody>
      </p:sp>
      <p:sp>
        <p:nvSpPr>
          <p:cNvPr id="17" name="Rounded Rectangle 16"/>
          <p:cNvSpPr/>
          <p:nvPr/>
        </p:nvSpPr>
        <p:spPr>
          <a:xfrm>
            <a:off x="914400" y="5504688"/>
            <a:ext cx="7589520" cy="329184"/>
          </a:xfrm>
          <a:prstGeom prst="roundRect">
            <a:avLst>
              <a:gd name="adj" fmla="val 4000"/>
            </a:avLst>
          </a:prstGeom>
          <a:solidFill>
            <a:srgbClr val="34507F"/>
          </a:solidFill>
          <a:ln>
            <a:noFill/>
          </a:ln>
          <a:effectLst/>
        </p:spPr>
        <p:txBody>
          <a:bodyPr rtlCol="0" anchor="ctr"/>
          <a:lstStyle/>
          <a:p>
            <a:pPr algn="ctr"/>
          </a:p>
        </p:txBody>
      </p:sp>
      <p:sp>
        <p:nvSpPr>
          <p:cNvPr id="18" name="TextBox 17"/>
          <p:cNvSpPr txBox="1"/>
          <p:nvPr/>
        </p:nvSpPr>
        <p:spPr>
          <a:xfrm>
            <a:off x="1097280" y="5559552"/>
            <a:ext cx="7315200" cy="237744"/>
          </a:xfrm>
          <a:prstGeom prst="rect">
            <a:avLst/>
          </a:prstGeom>
          <a:noFill/>
          <a:ln/>
        </p:spPr>
        <p:txBody>
          <a:bodyPr wrap="square" lIns="0" rIns="0" tIns="0" bIns="0">
            <a:spAutoFit/>
          </a:bodyPr>
          <a:lstStyle/>
          <a:p>
            <a:r>
              <a:rPr sz="900" b="1">
                <a:solidFill>
                  <a:srgbClr val="FFFFFF"/>
                </a:solidFill>
                <a:latin typeface="맑은 고딕"/>
              </a:rPr>
              <a:t>표에 찍힌 값이 발표자료 p.20 ~ p.22 · 앞 장 콘솔 출력과 모두 같다.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3920</Words>
  <Application>Microsoft Office PowerPoint</Application>
  <PresentationFormat>사용자 지정</PresentationFormat>
  <Paragraphs>652</Paragraphs>
  <Slides>22</Slides>
  <Notes>22</Notes>
  <HiddenSlides>0</HiddenSlides>
  <MMClips>0</MMClips>
  <ScaleCrop>false</ScaleCrop>
  <HeadingPairs>
    <vt:vector size="4" baseType="variant">
      <vt:variant>
        <vt:lpstr>테마</vt:lpstr>
      </vt:variant>
      <vt:variant>
        <vt:i4>1</vt:i4>
      </vt:variant>
      <vt:variant>
        <vt:lpstr>슬라이드 제목</vt:lpstr>
      </vt:variant>
      <vt:variant>
        <vt:i4>22</vt:i4>
      </vt:variant>
    </vt:vector>
  </HeadingPairs>
  <TitlesOfParts>
    <vt:vector size="23" baseType="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좌표계와 좌표변환</dc:title>
  <dc:subject>레이다 표적 좌표변환 설계</dc:subject>
  <dc:creator>PptxGenJS</dc:creator>
  <cp:lastModifiedBy>harley</cp:lastModifiedBy>
  <cp:revision>2</cp:revision>
  <dcterms:created xsi:type="dcterms:W3CDTF">2026-09-08T14:28:41Z</dcterms:created>
  <dcterms:modified xsi:type="dcterms:W3CDTF">2026-09-08T14:34:23Z</dcterms:modified>
</cp:coreProperties>
</file>