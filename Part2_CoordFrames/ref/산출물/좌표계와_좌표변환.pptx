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67" d="100"/>
          <a:sy n="167" d="100"/>
        </p:scale>
        <p:origin x="3696" y="-17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C62FB1-80D8-459A-8761-60CEA13F1B0B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A1D49C-8DA1-43FF-BC21-3A721E390A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532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46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32688"/>
            <a:ext cx="11094415" cy="0"/>
          </a:xfrm>
          <a:prstGeom prst="line">
            <a:avLst/>
          </a:prstGeom>
          <a:noFill/>
          <a:ln w="11430">
            <a:solidFill>
              <a:srgbClr val="6E7681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 txBox="1"/>
          <p:nvPr/>
        </p:nvSpPr>
        <p:spPr>
          <a:xfrm>
            <a:off x="548640" y="11155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레이다 신호처리 · 표적 위치 산출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95728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좌표계와 좌표변환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85216" y="3584448"/>
            <a:ext cx="2340864" cy="0"/>
          </a:xfrm>
          <a:prstGeom prst="line">
            <a:avLst/>
          </a:prstGeom>
          <a:noFill/>
          <a:ln w="2794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 txBox="1"/>
          <p:nvPr/>
        </p:nvSpPr>
        <p:spPr>
          <a:xfrm>
            <a:off x="548640" y="378561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2D8D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 함선 레이다 – 안테나 극좌표에서 위경도까지의 변환 체인 설계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02575" y="5175504"/>
            <a:ext cx="3840480" cy="0"/>
          </a:xfrm>
          <a:prstGeom prst="line">
            <a:avLst/>
          </a:prstGeom>
          <a:noFill/>
          <a:ln w="11430">
            <a:solidFill>
              <a:srgbClr val="6E7681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 txBox="1"/>
          <p:nvPr/>
        </p:nvSpPr>
        <p:spPr>
          <a:xfrm>
            <a:off x="7802575" y="532180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100" dirty="0" smtClean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2026. 09. 10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8638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91056"/>
            <a:ext cx="11094415" cy="0"/>
          </a:xfrm>
          <a:prstGeom prst="line">
            <a:avLst/>
          </a:prstGeom>
          <a:noFill/>
          <a:ln w="20320">
            <a:solidFill>
              <a:srgbClr val="3E4650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 txBox="1"/>
          <p:nvPr/>
        </p:nvSpPr>
        <p:spPr>
          <a:xfrm>
            <a:off x="603504" y="19385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883664" y="195681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좌표변환의 기초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883664" y="235915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좌표계가 여럿인가  ·  회전과 평행이동  ·  회전행렬의 유도와 성질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0545775" y="19568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94415" cy="0"/>
          </a:xfrm>
          <a:prstGeom prst="line">
            <a:avLst/>
          </a:prstGeom>
          <a:noFill/>
          <a:ln w="1016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603504" y="309067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883664" y="31089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좌표계 여섯 가지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883664" y="3511296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안테나(극좌표 · 직교좌표 · UV)  ·  동체(Body)  ·  INS  ·  NED / ENU  ·  ECEF / ECI  ·  LLA  ·  변환 체인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45775" y="3108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895344"/>
            <a:ext cx="11094415" cy="0"/>
          </a:xfrm>
          <a:prstGeom prst="line">
            <a:avLst/>
          </a:prstGeom>
          <a:noFill/>
          <a:ln w="1016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603504" y="424281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1883664" y="426110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실전 설계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883664" y="466344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조건  ·  단계별 좌표계 선정  ·  안테나 → 동체 → 로컬  ·  로컬 → ECEF → 위경도  ·  역변환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0545775" y="42611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17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Copy 21"/>
          <p:cNvSpPr/>
          <p:nvPr/>
        </p:nvSpPr>
        <p:spPr>
          <a:xfrm>
            <a:off x="548640" y="5047488"/>
            <a:ext cx="11094415" cy="0"/>
          </a:xfrm>
          <a:prstGeom prst="line">
            <a:avLst/>
          </a:prstGeom>
          <a:noFill/>
          <a:ln w="10160">
            <a:solidFill>
              <a:srgbClr val="D8D8D8"/>
            </a:solidFill>
            <a:prstDash val="solid"/>
            <a:headEnd type="none"/>
            <a:tailEnd type="none"/>
          </a:ln>
        </p:spPr>
      </p:sp>
      <p:sp>
        <p:nvSpPr>
          <p:cNvPr id="22" name="Copy 22"/>
          <p:cNvSpPr txBox="1"/>
          <p:nvPr/>
        </p:nvSpPr>
        <p:spPr>
          <a:xfrm>
            <a:off x="603504" y="539496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Copy 23"/>
          <p:cNvSpPr txBox="1"/>
          <p:nvPr/>
        </p:nvSpPr>
        <p:spPr>
          <a:xfrm>
            <a:off x="1883664" y="541324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C언어로 구현</a:t>
            </a:r>
            <a:endParaRPr lang="en-US" sz="1900" dirty="0"/>
          </a:p>
        </p:txBody>
      </p:sp>
      <p:sp>
        <p:nvSpPr>
          <p:cNvPr id="24" name="Copy 24"/>
          <p:cNvSpPr txBox="1"/>
          <p:nvPr/>
        </p:nvSpPr>
        <p:spPr>
          <a:xfrm>
            <a:off x="1883664" y="581558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자료구조  ·  회전행렬  ·  공식과 코드 대응  ·  역변환  ·  실행 결과와 UI 확인</a:t>
            </a:r>
            <a:endParaRPr lang="en-US" sz="1050" dirty="0"/>
          </a:p>
        </p:txBody>
      </p:sp>
      <p:sp>
        <p:nvSpPr>
          <p:cNvPr id="25" name="Copy 25"/>
          <p:cNvSpPr txBox="1"/>
          <p:nvPr/>
        </p:nvSpPr>
        <p:spPr>
          <a:xfrm>
            <a:off x="10545775" y="54132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23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24528" cy="685800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32888" y="5669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64408" y="749808"/>
            <a:ext cx="96012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4224528" y="749808"/>
            <a:ext cx="7400239" cy="0"/>
          </a:xfrm>
          <a:prstGeom prst="line">
            <a:avLst/>
          </a:prstGeom>
          <a:noFill/>
          <a:ln w="11430">
            <a:solidFill>
              <a:srgbClr val="3A3A3A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 txBox="1"/>
          <p:nvPr/>
        </p:nvSpPr>
        <p:spPr>
          <a:xfrm>
            <a:off x="274320" y="3017520"/>
            <a:ext cx="3675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좌표변환의 기초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4224528" y="6419088"/>
            <a:ext cx="79671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001768" y="254203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797296" y="254203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좌표계가 여럿인가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001768" y="34930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797296" y="349300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좌표변환의 기본 동작 – 회전과 평행이동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001768" y="44439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5797296" y="444398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회전행렬의 유도와 성질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00. 왜 좌표계가 여럿인가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" y="1335024"/>
            <a:ext cx="50292" cy="27432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1298448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물체를 두 사람이 본다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2834640" cy="2834640"/>
          </a:xfrm>
          <a:prstGeom prst="pie">
            <a:avLst>
              <a:gd name="adj1" fmla="val -2520000"/>
              <a:gd name="adj2" fmla="val 2640000"/>
            </a:avLst>
          </a:prstGeom>
          <a:solidFill>
            <a:srgbClr val="E6E6E6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1435608"/>
            <a:ext cx="2651760" cy="2651760"/>
          </a:xfrm>
          <a:prstGeom prst="pie">
            <a:avLst>
              <a:gd name="adj1" fmla="val 7920000"/>
              <a:gd name="adj2" fmla="val 13080000"/>
            </a:avLst>
          </a:prstGeom>
          <a:solidFill>
            <a:srgbClr val="E6E6E6"/>
          </a:solidFill>
          <a:ln/>
        </p:spPr>
      </p:sp>
      <p:sp>
        <p:nvSpPr>
          <p:cNvPr id="12" name="Shape 10"/>
          <p:cNvSpPr/>
          <p:nvPr/>
        </p:nvSpPr>
        <p:spPr>
          <a:xfrm rot="5400000">
            <a:off x="1490472" y="3209544"/>
            <a:ext cx="310896" cy="384048"/>
          </a:xfrm>
          <a:prstGeom prst="triangle">
            <a:avLst/>
          </a:prstGeom>
          <a:solidFill>
            <a:srgbClr val="FFFFFF"/>
          </a:solidFill>
          <a:ln w="1397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96212" y="3268980"/>
            <a:ext cx="265176" cy="26517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9260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관측자 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rot="16200000">
            <a:off x="5888736" y="2569464"/>
            <a:ext cx="310896" cy="384048"/>
          </a:xfrm>
          <a:prstGeom prst="triangle">
            <a:avLst/>
          </a:prstGeom>
          <a:solidFill>
            <a:srgbClr val="FFFFFF"/>
          </a:solidFill>
          <a:ln w="1397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9572" y="2628900"/>
            <a:ext cx="265176" cy="26517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22585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관측자 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78992" y="2450592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1430">
            <a:solidFill>
              <a:srgbClr val="55555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78992" y="245059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오른쪽에 있는데.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138928" y="182880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1430">
            <a:solidFill>
              <a:srgbClr val="55555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38928" y="18288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왼쪽에 있는데?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020824" y="3401568"/>
            <a:ext cx="1335024" cy="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3410712" y="338328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 rot="785514">
            <a:off x="2005085" y="3538728"/>
            <a:ext cx="1211054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 rot="5595000">
            <a:off x="2837464" y="3450737"/>
            <a:ext cx="9849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 rot="5985000">
            <a:off x="2826332" y="3548442"/>
            <a:ext cx="9849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 txBox="1"/>
          <p:nvPr/>
        </p:nvSpPr>
        <p:spPr>
          <a:xfrm>
            <a:off x="2441448" y="37124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21°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 rot="10100442">
            <a:off x="4495855" y="2953512"/>
            <a:ext cx="1176417" cy="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4325112" y="3017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 rot="8555679">
            <a:off x="4606722" y="3191256"/>
            <a:ext cx="1174141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 rot="-5870000">
            <a:off x="4826012" y="2941535"/>
            <a:ext cx="114274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 rot="-5370000">
            <a:off x="4818723" y="2827796"/>
            <a:ext cx="114274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 rot="-4870000">
            <a:off x="4827996" y="2714201"/>
            <a:ext cx="114274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 rot="-4370000">
            <a:off x="4853634" y="2603150"/>
            <a:ext cx="114274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 rot="-3870000">
            <a:off x="4895096" y="2496988"/>
            <a:ext cx="114274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 rot="-3370000">
            <a:off x="4951507" y="2397955"/>
            <a:ext cx="114274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 txBox="1"/>
          <p:nvPr/>
        </p:nvSpPr>
        <p:spPr>
          <a:xfrm>
            <a:off x="4233672" y="33284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29°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 rot="1370019">
            <a:off x="1943091" y="4078224"/>
            <a:ext cx="2450609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ysDot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 rot="7521748">
            <a:off x="4388819" y="3790188"/>
            <a:ext cx="1737961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ysDot"/>
            <a:headEnd type="none"/>
            <a:tailEnd type="none"/>
          </a:ln>
        </p:spPr>
      </p:sp>
      <p:sp>
        <p:nvSpPr>
          <p:cNvPr id="40" name="Text 38"/>
          <p:cNvSpPr txBox="1"/>
          <p:nvPr/>
        </p:nvSpPr>
        <p:spPr>
          <a:xfrm>
            <a:off x="2788920" y="4224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m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5230368" y="39502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m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306824" y="4443984"/>
            <a:ext cx="384048" cy="329184"/>
          </a:xfrm>
          <a:prstGeom prst="rect">
            <a:avLst/>
          </a:prstGeom>
          <a:solidFill>
            <a:srgbClr val="5A5A5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813048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 하나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242048" y="1755648"/>
            <a:ext cx="4160520" cy="1481328"/>
          </a:xfrm>
          <a:prstGeom prst="roundRect">
            <a:avLst>
              <a:gd name="adj" fmla="val 3086"/>
            </a:avLst>
          </a:prstGeom>
          <a:solidFill>
            <a:srgbClr val="DCDCDC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498080" y="1956816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관측자 A 가 말하면</a:t>
            </a:r>
            <a:endParaRPr lang="en-US" sz="1500" dirty="0"/>
          </a:p>
          <a:p>
            <a:pPr marL="0" indent="0" algn="l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"내 오른쪽에 있는데."</a:t>
            </a:r>
            <a:endParaRPr lang="en-US" sz="15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앞에서 오른쪽으로 21도, 9 m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7242048" y="3401568"/>
            <a:ext cx="4160520" cy="1481328"/>
          </a:xfrm>
          <a:prstGeom prst="roundRect">
            <a:avLst>
              <a:gd name="adj" fmla="val 3086"/>
            </a:avLst>
          </a:prstGeom>
          <a:solidFill>
            <a:srgbClr val="DCDCDC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498080" y="3602736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관측자 B 가 말하면</a:t>
            </a:r>
            <a:endParaRPr lang="en-US" sz="1500" dirty="0"/>
          </a:p>
          <a:p>
            <a:pPr marL="0" indent="0" algn="l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"내 왼쪽에 있는데?"</a:t>
            </a:r>
            <a:endParaRPr lang="en-US" sz="15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앞에서 왼쪽으로 29도, 7 m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786384" y="5074920"/>
            <a:ext cx="10607040" cy="786384"/>
          </a:xfrm>
          <a:prstGeom prst="roundRect">
            <a:avLst>
              <a:gd name="adj" fmla="val 5814"/>
            </a:avLst>
          </a:prstGeom>
          <a:solidFill>
            <a:srgbClr val="E7E7E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1005840" y="5230368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것은 두 가지뿐이다 – 어디에 서서 재는가 (원점), 어디를 보고 재는가 (축)</a:t>
            </a:r>
            <a:endParaRPr lang="en-US" sz="1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좌표계란 그 둘을 미리 정해 놓은 약속이고, 기준이 다른 두 좌표계의 숫자를 서로 옮겨 주는 계산이 좌표변환이다.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00. 좌표변환의 기본 동작 – 회전과 평행이동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 rot="5400000">
            <a:off x="4700016" y="2743200"/>
            <a:ext cx="2779776" cy="0"/>
          </a:xfrm>
          <a:prstGeom prst="line">
            <a:avLst/>
          </a:prstGeom>
          <a:noFill/>
          <a:ln w="11430">
            <a:solidFill>
              <a:srgbClr val="C8C8C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932688" y="1371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회전 (rotation) — 기준 방향이 다를 때</a:t>
            </a:r>
            <a:endParaRPr lang="en-US" sz="13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좌표계의 축이 어긋난 만큼 θ 돌려서 맞춘다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017520" y="3675888"/>
            <a:ext cx="1627632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 rot="-5400000">
            <a:off x="2322576" y="2980944"/>
            <a:ext cx="1389888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 rot="-2109251">
            <a:off x="2872689" y="3218688"/>
            <a:ext cx="1588110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 rot="-7509251">
            <a:off x="1766265" y="3026664"/>
            <a:ext cx="1588110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 rot="3562500">
            <a:off x="3775221" y="3183567"/>
            <a:ext cx="147879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rot="4087500">
            <a:off x="3840436" y="3315809"/>
            <a:ext cx="147879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rot="4612500">
            <a:off x="3884774" y="3456432"/>
            <a:ext cx="147879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rot="5137500">
            <a:off x="3907204" y="3602164"/>
            <a:ext cx="147879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4718304" y="36576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980944" y="210312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370832" y="26334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901952" y="22860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y'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023360" y="341985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240280" y="38221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원점은 같다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382512" y="1371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평행이동 (translation) — 기준 점이 다를 때</a:t>
            </a:r>
            <a:endParaRPr lang="en-US" sz="13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좌표계의 원점이 떨어진 만큼 t 옮겨서 맞춘다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 rot="-5400000">
            <a:off x="6702552" y="3172968"/>
            <a:ext cx="1078992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242048" y="3712464"/>
            <a:ext cx="1097280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 rot="-5400000">
            <a:off x="8906256" y="2761488"/>
            <a:ext cx="1097280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54896" y="3310128"/>
            <a:ext cx="1207008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 rot="-598017">
            <a:off x="7225304" y="3520440"/>
            <a:ext cx="2218904" cy="0"/>
          </a:xfrm>
          <a:prstGeom prst="line">
            <a:avLst/>
          </a:prstGeom>
          <a:noFill/>
          <a:ln w="17145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7196328" y="245059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412480" y="369417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409176" y="20299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y'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0735056" y="32918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334670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739128" y="39319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축방향은 같다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14400" y="4352544"/>
            <a:ext cx="4882896" cy="676656"/>
          </a:xfrm>
          <a:prstGeom prst="roundRect">
            <a:avLst>
              <a:gd name="adj" fmla="val 8108"/>
            </a:avLst>
          </a:prstGeom>
          <a:solidFill>
            <a:srgbClr val="8E8E8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115568" y="445312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회전 – 방향만 바꾼다</a:t>
            </a:r>
            <a:endParaRPr lang="en-US" sz="1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길이도 각도도 변하지 않는다. 축을 돌려 다시 읽을 뿐이다.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391656" y="4352544"/>
            <a:ext cx="4882896" cy="676656"/>
          </a:xfrm>
          <a:prstGeom prst="roundRect">
            <a:avLst>
              <a:gd name="adj" fmla="val 8108"/>
            </a:avLst>
          </a:prstGeom>
          <a:solidFill>
            <a:srgbClr val="8E8E8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592824" y="445312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평행이동 – 자리만 옮긴다</a:t>
            </a:r>
            <a:endParaRPr lang="en-US" sz="1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F0F0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방향은 그대로다. 원점 사이의 차이를 벡터 하나로 더하거나 뺀다.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14400" y="5157216"/>
            <a:ext cx="10360152" cy="713232"/>
          </a:xfrm>
          <a:prstGeom prst="roundRect">
            <a:avLst>
              <a:gd name="adj" fmla="val 6410"/>
            </a:avLst>
          </a:prstGeom>
          <a:solidFill>
            <a:srgbClr val="DCDCD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097280" y="5294376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좌표   =   R   ·   기존 좌표   +   t</a:t>
            </a:r>
            <a:endParaRPr lang="en-US" sz="1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회전행렬 (3 x 3) ·  t 평행이동 (3 x 1).    모든 단계는 이 두 개로 동작한다.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00. 회전행렬의 유도와 성질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" y="1335024"/>
            <a:ext cx="50292" cy="274320"/>
          </a:xfrm>
          <a:prstGeom prst="rect">
            <a:avLst/>
          </a:prstGeom>
          <a:solidFill>
            <a:srgbClr val="3E4650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32688" y="1298448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삼각함수 덧셈정리 한 줄에서 나온다.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207008" y="4315968"/>
            <a:ext cx="1572768" cy="0"/>
          </a:xfrm>
          <a:prstGeom prst="line">
            <a:avLst/>
          </a:prstGeom>
          <a:noFill/>
          <a:ln w="14605">
            <a:solidFill>
              <a:srgbClr val="33333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 rot="-5400000">
            <a:off x="164592" y="3273552"/>
            <a:ext cx="2084832" cy="0"/>
          </a:xfrm>
          <a:prstGeom prst="line">
            <a:avLst/>
          </a:prstGeom>
          <a:noFill/>
          <a:ln w="14605">
            <a:solidFill>
              <a:srgbClr val="33333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2834640" y="42976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204825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rot="-1529853">
            <a:off x="1142873" y="4032504"/>
            <a:ext cx="1316990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rot="-3705016">
            <a:off x="840707" y="3703320"/>
            <a:ext cx="1390970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dash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354580" y="3707892"/>
            <a:ext cx="82296" cy="82296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824228" y="3049524"/>
            <a:ext cx="82296" cy="82296"/>
          </a:xfrm>
          <a:prstGeom prst="ellipse">
            <a:avLst/>
          </a:prstGeom>
          <a:solidFill>
            <a:srgbClr val="333333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1042416" y="29077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P'(x', y')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450592" y="37673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(x, y)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 rot="4150000">
            <a:off x="1639263" y="4137577"/>
            <a:ext cx="73082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rot="4650000">
            <a:off x="1660168" y="4207404"/>
            <a:ext cx="73082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rot="5150000">
            <a:off x="1670732" y="4279523"/>
            <a:ext cx="73082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rot="1902000">
            <a:off x="1619080" y="3555135"/>
            <a:ext cx="11565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2346000">
            <a:off x="1713158" y="3621993"/>
            <a:ext cx="11565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rot="2790000">
            <a:off x="1797842" y="3700411"/>
            <a:ext cx="11565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rot="3234000">
            <a:off x="1871720" y="3789083"/>
            <a:ext cx="11565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rot="3678000">
            <a:off x="1933563" y="3886531"/>
            <a:ext cx="11565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1609344" y="416966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773936" y="341985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 rot="10800000">
            <a:off x="1207008" y="3749040"/>
            <a:ext cx="1188720" cy="0"/>
          </a:xfrm>
          <a:prstGeom prst="line">
            <a:avLst/>
          </a:prstGeom>
          <a:noFill/>
          <a:ln w="9525">
            <a:solidFill>
              <a:srgbClr val="888888"/>
            </a:solidFill>
            <a:prstDash val="sysDot"/>
            <a:headEnd type="none"/>
            <a:tailEnd type="none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rot="5400000">
            <a:off x="2112264" y="4032504"/>
            <a:ext cx="566928" cy="0"/>
          </a:xfrm>
          <a:prstGeom prst="line">
            <a:avLst/>
          </a:prstGeom>
          <a:noFill/>
          <a:ln w="9525">
            <a:solidFill>
              <a:srgbClr val="888888"/>
            </a:solidFill>
            <a:prstDash val="sysDot"/>
            <a:headEnd type="none"/>
            <a:tailEnd type="none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rot="10800000">
            <a:off x="1207008" y="3090672"/>
            <a:ext cx="658368" cy="0"/>
          </a:xfrm>
          <a:prstGeom prst="line">
            <a:avLst/>
          </a:prstGeom>
          <a:noFill/>
          <a:ln w="9525">
            <a:solidFill>
              <a:srgbClr val="888888"/>
            </a:solidFill>
            <a:prstDash val="sysDot"/>
            <a:headEnd type="none"/>
            <a:tailEnd type="none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5400000">
            <a:off x="1252728" y="3703320"/>
            <a:ext cx="1225296" cy="0"/>
          </a:xfrm>
          <a:prstGeom prst="line">
            <a:avLst/>
          </a:prstGeom>
          <a:noFill/>
          <a:ln w="9525">
            <a:solidFill>
              <a:srgbClr val="888888"/>
            </a:solidFill>
            <a:prstDash val="sysDot"/>
            <a:headEnd type="none"/>
            <a:tailEnd type="none"/>
          </a:ln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3035808" y="1883664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원래 점을 극좌표로 쓰면</a:t>
            </a:r>
            <a:endParaRPr lang="en-US" sz="950" dirty="0"/>
          </a:p>
          <a:p>
            <a:pPr marL="0" indent="0" algn="l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= r·cos α ,   y = r·sin α</a:t>
            </a:r>
            <a:endParaRPr lang="en-US" sz="950" dirty="0"/>
          </a:p>
          <a:p>
            <a:pPr marL="0" indent="0" algn="l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θ 만큼 더 돌리면 각이 α+θ 가 되므로</a:t>
            </a:r>
            <a:endParaRPr lang="en-US" sz="95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x' = r·cos(α+θ) = r·cosα·cosθ − r·sinα·sinθ</a:t>
            </a:r>
            <a:endParaRPr lang="en-US" sz="950" dirty="0"/>
          </a:p>
          <a:p>
            <a:pPr marL="0" indent="0" algn="l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y' = r·sin(α+θ) = r·sinα·cosθ + r·cosα·sinθ</a:t>
            </a:r>
            <a:endParaRPr lang="en-US" sz="950" dirty="0"/>
          </a:p>
          <a:p>
            <a:pPr marL="0" indent="0" algn="l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r·cosα = x,  r·sin α = y 를 되돌려 넣으면</a:t>
            </a:r>
            <a:endParaRPr lang="en-US" sz="95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x' = x·cos θ − y·sin θ</a:t>
            </a:r>
            <a:endParaRPr lang="en-US" sz="950" dirty="0"/>
          </a:p>
          <a:p>
            <a:pPr marL="0" indent="0" algn="l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y' = x·sin θ + y·cos θ</a:t>
            </a:r>
            <a:endParaRPr lang="en-US" sz="9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두 줄을 표로 적은 것이 Rz(θ) 다.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33488" y="1755648"/>
            <a:ext cx="4041648" cy="3968496"/>
          </a:xfrm>
          <a:prstGeom prst="roundRect">
            <a:avLst>
              <a:gd name="adj" fmla="val 1152"/>
            </a:avLst>
          </a:prstGeom>
          <a:solidFill>
            <a:srgbClr val="DCDCDC"/>
          </a:solidFill>
          <a:ln/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7333488" y="1883664"/>
            <a:ext cx="4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축 둘레의 회전행렬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7607808" y="23042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Rz(θ) — z 축 둘레 (yaw)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7882128" y="257860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cos θ    −sin θ      0 ]</a:t>
            </a:r>
            <a:endParaRPr lang="en-US" sz="1100" dirty="0"/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sin θ     cos θ      0 ]</a:t>
            </a:r>
            <a:endParaRPr lang="en-US" sz="1100" dirty="0"/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 0         0        1 ]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607808" y="3456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Ry(θ) — y 축 둘레 (pitch)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7882128" y="3730752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cos θ      0     sin θ ]</a:t>
            </a:r>
            <a:endParaRPr lang="en-US" sz="1100" dirty="0"/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 0        1       0   ]</a:t>
            </a:r>
            <a:endParaRPr lang="en-US" sz="1100" dirty="0"/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−sin θ     0     cos θ ]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7607808" y="46085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Rx(θ) — x 축 둘레 (roll)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7882128" y="4882896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 1        0       0   ]</a:t>
            </a:r>
            <a:endParaRPr lang="en-US" sz="1100" dirty="0"/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 0     cos θ   −sin θ ]</a:t>
            </a:r>
            <a:endParaRPr lang="en-US" sz="1100" dirty="0"/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 0     sin θ    cos θ ]</a:t>
            </a:r>
            <a:endParaRPr lang="en-US" sz="1100" dirty="0"/>
          </a:p>
        </p:txBody>
      </p:sp>
      <p:sp>
        <p:nvSpPr>
          <p:cNvPr id="43" name="Rounded Rectangle 42"/>
          <p:cNvSpPr/>
          <p:nvPr/>
        </p:nvSpPr>
        <p:spPr>
          <a:xfrm>
            <a:off x="786384" y="4700016"/>
            <a:ext cx="6437376" cy="1188720"/>
          </a:xfrm>
          <a:prstGeom prst="roundRect">
            <a:avLst>
              <a:gd name="adj" fmla="val 4000"/>
            </a:avLst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7552" y="4773168"/>
            <a:ext cx="603504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1A1A1A"/>
                </a:solidFill>
                <a:latin typeface="맑은 고딕"/>
              </a:rPr>
              <a:t>성질 — 역변환에서 전치를 쓰는 근거</a:t>
            </a:r>
          </a:p>
          <a:p>
            <a:pPr>
              <a:spcBef>
                <a:spcPts val="500"/>
              </a:spcBef>
            </a:pPr>
            <a:r>
              <a:rPr sz="900" b="0">
                <a:solidFill>
                  <a:srgbClr val="1A1A1A"/>
                </a:solidFill>
                <a:latin typeface="맑은 고딕"/>
              </a:rPr>
              <a:t>R^T · R = I ,   즉   R⁻¹ = R^T   —   역행렬을 따로 구할 필요가 없다 (p.22 역변환)</a:t>
            </a:r>
          </a:p>
          <a:p>
            <a:pPr>
              <a:spcBef>
                <a:spcPts val="250"/>
              </a:spcBef>
            </a:pPr>
            <a:r>
              <a:rPr sz="900" b="0">
                <a:solidFill>
                  <a:srgbClr val="1A1A1A"/>
                </a:solidFill>
                <a:latin typeface="맑은 고딕"/>
              </a:rPr>
              <a:t>det R = 1   —   오른손 좌표계는 오른손 좌표계로 남는다</a:t>
            </a:r>
          </a:p>
          <a:p>
            <a:pPr>
              <a:spcBef>
                <a:spcPts val="250"/>
              </a:spcBef>
            </a:pPr>
            <a:r>
              <a:rPr sz="900" b="0">
                <a:solidFill>
                  <a:srgbClr val="1A1A1A"/>
                </a:solidFill>
                <a:latin typeface="맑은 고딕"/>
              </a:rPr>
              <a:t>|Rp| = |p|   —   길이도, 두 벡터가 이루는 각도도 그대로다</a:t>
            </a:r>
          </a:p>
          <a:p>
            <a:pPr>
              <a:spcBef>
                <a:spcPts val="250"/>
              </a:spcBef>
            </a:pPr>
            <a:r>
              <a:rPr sz="900" b="0">
                <a:solidFill>
                  <a:srgbClr val="555555"/>
                </a:solidFill>
                <a:latin typeface="맑은 고딕"/>
              </a:rPr>
              <a:t>위 유도는 점을 θ 돌린 것. 축을 θ 돌려 같은 점을 다시 읽으면 R^T 가 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24528" cy="685800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32888" y="5669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64408" y="749808"/>
            <a:ext cx="96012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4224528" y="749808"/>
            <a:ext cx="7400239" cy="0"/>
          </a:xfrm>
          <a:prstGeom prst="line">
            <a:avLst/>
          </a:prstGeom>
          <a:noFill/>
          <a:ln w="11430">
            <a:solidFill>
              <a:srgbClr val="3A3A3A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 txBox="1"/>
          <p:nvPr/>
        </p:nvSpPr>
        <p:spPr>
          <a:xfrm>
            <a:off x="274320" y="3017520"/>
            <a:ext cx="3675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좌표계 여섯 가지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4224528" y="6419088"/>
            <a:ext cx="79671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001768" y="14813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797296" y="148132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안테나 좌표계 – 극좌표 · 직교좌표 · UV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001768" y="21762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797296" y="217627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동체(Body) 좌표계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001768" y="28712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5797296" y="287121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 좌표계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001768" y="35661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5797296" y="35661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NED / ENU 국지수평 좌표계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001768" y="426110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5797296" y="426110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ECEF / ECI 지구 중심 좌표계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001768" y="49560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5797296" y="495604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LLA 측지 좌표계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001768" y="56509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5797296" y="565099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 체인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안테나 좌표계 ① 극좌표(Polar)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" y="1335024"/>
            <a:ext cx="50292" cy="27432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1298448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레이다가 물리적으로 잴 수 있는 것 – 거리 하나와 각도 둘. 기준은 안테나 자기 정면(보어사이트).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 rot="5400000">
            <a:off x="2816352" y="3493008"/>
            <a:ext cx="3364992" cy="0"/>
          </a:xfrm>
          <a:prstGeom prst="line">
            <a:avLst/>
          </a:prstGeom>
          <a:noFill/>
          <a:ln w="11430">
            <a:solidFill>
              <a:srgbClr val="C8C8C8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 txBox="1"/>
          <p:nvPr/>
        </p:nvSpPr>
        <p:spPr>
          <a:xfrm>
            <a:off x="96012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본 안테나 – 방위각 Az(Azimuth)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 rot="5400000">
            <a:off x="1389888" y="3639312"/>
            <a:ext cx="310896" cy="548640"/>
          </a:xfrm>
          <a:prstGeom prst="trapezoid">
            <a:avLst/>
          </a:prstGeom>
          <a:solidFill>
            <a:srgbClr val="B4B4B4"/>
          </a:solidFill>
          <a:ln/>
        </p:spPr>
      </p:sp>
      <p:sp>
        <p:nvSpPr>
          <p:cNvPr id="13" name="Shape 11"/>
          <p:cNvSpPr/>
          <p:nvPr/>
        </p:nvSpPr>
        <p:spPr>
          <a:xfrm>
            <a:off x="1664208" y="3346704"/>
            <a:ext cx="137160" cy="1133856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" y="3694176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레이다</a:t>
            </a:r>
            <a:endParaRPr lang="en-US" sz="950" dirty="0"/>
          </a:p>
          <a:p>
            <a:pPr marL="0" indent="0" algn="r">
              <a:lnSpc>
                <a:spcPct val="10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안테나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10512" y="3913632"/>
            <a:ext cx="1920240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496312" y="40965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 보어사이트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 rot="-5400000">
            <a:off x="1033272" y="3136392"/>
            <a:ext cx="1554480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1901952" y="22311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왼쪽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 rot="-1713950">
            <a:off x="1696446" y="3465576"/>
            <a:ext cx="1874052" cy="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2596896" y="331012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3930000">
            <a:off x="2430267" y="3610841"/>
            <a:ext cx="8931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rot="4350000">
            <a:off x="2462216" y="3694070"/>
            <a:ext cx="8931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 rot="4770000">
            <a:off x="2483783" y="3780572"/>
            <a:ext cx="8931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 rot="5190000">
            <a:off x="2494647" y="3869057"/>
            <a:ext cx="8931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 txBox="1"/>
          <p:nvPr/>
        </p:nvSpPr>
        <p:spPr>
          <a:xfrm>
            <a:off x="2432304" y="36576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61004" y="2930652"/>
            <a:ext cx="100584" cy="10058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291840" y="27432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옆에서 본 안테나 – 고각 El(Elevation)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541264" y="3346704"/>
            <a:ext cx="137160" cy="1133856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30" name="Shape 28"/>
          <p:cNvSpPr/>
          <p:nvPr/>
        </p:nvSpPr>
        <p:spPr>
          <a:xfrm>
            <a:off x="5193792" y="3456432"/>
            <a:ext cx="347472" cy="566928"/>
          </a:xfrm>
          <a:prstGeom prst="rect">
            <a:avLst/>
          </a:prstGeom>
          <a:solidFill>
            <a:srgbClr val="B4B4B4"/>
          </a:solidFill>
          <a:ln/>
        </p:spPr>
      </p:sp>
      <p:sp>
        <p:nvSpPr>
          <p:cNvPr id="31" name="Shape 29"/>
          <p:cNvSpPr/>
          <p:nvPr/>
        </p:nvSpPr>
        <p:spPr>
          <a:xfrm>
            <a:off x="5303520" y="4023360"/>
            <a:ext cx="146304" cy="658368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32" name="Shape 30"/>
          <p:cNvSpPr/>
          <p:nvPr/>
        </p:nvSpPr>
        <p:spPr>
          <a:xfrm>
            <a:off x="4901184" y="4681728"/>
            <a:ext cx="950976" cy="118872"/>
          </a:xfrm>
          <a:prstGeom prst="rect">
            <a:avLst/>
          </a:prstGeom>
          <a:solidFill>
            <a:srgbClr val="A0A0A0"/>
          </a:solidFill>
          <a:ln/>
        </p:spPr>
      </p:sp>
      <p:sp>
        <p:nvSpPr>
          <p:cNvPr id="33" name="Shape 31"/>
          <p:cNvSpPr/>
          <p:nvPr/>
        </p:nvSpPr>
        <p:spPr>
          <a:xfrm>
            <a:off x="4773168" y="4818888"/>
            <a:ext cx="1234440" cy="0"/>
          </a:xfrm>
          <a:prstGeom prst="line">
            <a:avLst/>
          </a:prstGeom>
          <a:noFill/>
          <a:ln w="10160">
            <a:solidFill>
              <a:srgbClr val="999999"/>
            </a:solidFill>
            <a:prstDash val="sysDot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5687568" y="3913632"/>
            <a:ext cx="1920240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6327648" y="40965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 보어사이트 (수평)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 rot="-5400000">
            <a:off x="4910328" y="3136392"/>
            <a:ext cx="1554480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5779008" y="22311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 위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 rot="-1840136">
            <a:off x="5559689" y="3447288"/>
            <a:ext cx="1828526" cy="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6419088" y="327355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 rot="3825000">
            <a:off x="6339912" y="3566568"/>
            <a:ext cx="102864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 rot="4275000">
            <a:off x="6379192" y="3661398"/>
            <a:ext cx="102864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 rot="4725000">
            <a:off x="6405759" y="3760545"/>
            <a:ext cx="102864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 rot="5175000">
            <a:off x="6419156" y="3862310"/>
            <a:ext cx="102864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4" name="Text 42"/>
          <p:cNvSpPr txBox="1"/>
          <p:nvPr/>
        </p:nvSpPr>
        <p:spPr>
          <a:xfrm>
            <a:off x="6364224" y="363931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264908" y="2894076"/>
            <a:ext cx="100584" cy="10058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095744" y="270662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973568" y="1755648"/>
            <a:ext cx="3401568" cy="3675888"/>
          </a:xfrm>
          <a:prstGeom prst="roundRect">
            <a:avLst>
              <a:gd name="adj" fmla="val 1344"/>
            </a:avLst>
          </a:prstGeom>
          <a:solidFill>
            <a:srgbClr val="DCDCDC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229600" y="1901952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성분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2395728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시선거리</a:t>
            </a:r>
            <a:endParaRPr lang="en-US" sz="13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Range · 전파 왕복시간 × c ÷ 2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8229600" y="3127248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Az 방위각</a:t>
            </a:r>
            <a:endParaRPr lang="en-US" sz="13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Azimuth · 보어사이트에서 왼쪽(반시계)으로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8229600" y="3858768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El 고각</a:t>
            </a:r>
            <a:endParaRPr lang="en-US" sz="13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Elevation · 수평면에서 위로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8229600" y="4590288"/>
            <a:ext cx="2889504" cy="566928"/>
          </a:xfrm>
          <a:prstGeom prst="roundRect">
            <a:avLst>
              <a:gd name="adj" fmla="val 12903"/>
            </a:avLst>
          </a:prstGeom>
          <a:solidFill>
            <a:srgbClr val="8E8E8E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229600" y="4590288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km  /  30°  /  0°</a:t>
            </a:r>
            <a:endParaRPr lang="en-US" sz="1500" dirty="0"/>
          </a:p>
        </p:txBody>
      </p:sp>
      <p:sp>
        <p:nvSpPr>
          <p:cNvPr id="54" name="Text 52"/>
          <p:cNvSpPr txBox="1"/>
          <p:nvPr/>
        </p:nvSpPr>
        <p:spPr>
          <a:xfrm>
            <a:off x="914400" y="541324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보어사이트 = 안테나가 똑바로 바라보는 방향. 안테나 신호가 가장 세게 나가고 들어오는 한가운데 방향.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안테나 좌표계 ② 직교좌표(Cartesian)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" y="1335024"/>
            <a:ext cx="50292" cy="27432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1298448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표적을 각도 대신 서로 직각인 세 축 방향 거리(x, y, z)로 적은 것.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18836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 보어사이트 · x 왼쪽 · y 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rot="10800000">
            <a:off x="1234440" y="3127248"/>
            <a:ext cx="5577840" cy="1975104"/>
          </a:xfrm>
          <a:prstGeom prst="parallelogram">
            <a:avLst/>
          </a:prstGeom>
          <a:solidFill>
            <a:srgbClr val="EAEAEA"/>
          </a:solidFill>
          <a:ln w="10160">
            <a:solidFill>
              <a:srgbClr val="C4C4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9232" y="4828032"/>
            <a:ext cx="3383280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6437376" y="4809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z축 (보어사이트)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 rot="-8100000">
            <a:off x="1166960" y="4069080"/>
            <a:ext cx="2146640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1170432" y="30540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x축 (왼쪽)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 rot="-5400000">
            <a:off x="2423160" y="4251960"/>
            <a:ext cx="1152144" cy="0"/>
          </a:xfrm>
          <a:prstGeom prst="line">
            <a:avLst/>
          </a:prstGeom>
          <a:noFill/>
          <a:ln w="15875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2212848" y="3712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y축 (위)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99232" y="4828032"/>
            <a:ext cx="2578608" cy="0"/>
          </a:xfrm>
          <a:prstGeom prst="line">
            <a:avLst/>
          </a:prstGeom>
          <a:noFill/>
          <a:ln w="20320">
            <a:solidFill>
              <a:srgbClr val="333333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rot="-7956843">
            <a:off x="4535962" y="4370832"/>
            <a:ext cx="1242508" cy="0"/>
          </a:xfrm>
          <a:prstGeom prst="line">
            <a:avLst/>
          </a:prstGeom>
          <a:noFill/>
          <a:ln w="20320">
            <a:solidFill>
              <a:srgbClr val="333333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rot="-1665512">
            <a:off x="2886262" y="4370832"/>
            <a:ext cx="1963300" cy="0"/>
          </a:xfrm>
          <a:prstGeom prst="line">
            <a:avLst/>
          </a:prstGeom>
          <a:noFill/>
          <a:ln w="20320">
            <a:solidFill>
              <a:srgbClr val="333333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 rot="-3205059">
            <a:off x="2410340" y="3657600"/>
            <a:ext cx="2915144" cy="0"/>
          </a:xfrm>
          <a:prstGeom prst="line">
            <a:avLst/>
          </a:prstGeom>
          <a:noFill/>
          <a:ln w="17780">
            <a:solidFill>
              <a:srgbClr val="333333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rot="-5400000">
            <a:off x="4023360" y="3200400"/>
            <a:ext cx="1426464" cy="0"/>
          </a:xfrm>
          <a:prstGeom prst="line">
            <a:avLst/>
          </a:prstGeom>
          <a:noFill/>
          <a:ln w="20320">
            <a:solidFill>
              <a:srgbClr val="333333"/>
            </a:solidFill>
            <a:prstDash val="dash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 rot="1200000">
            <a:off x="5266944" y="4645152"/>
            <a:ext cx="164592" cy="164592"/>
          </a:xfrm>
          <a:prstGeom prst="rect">
            <a:avLst/>
          </a:prstGeom>
          <a:ln w="1143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3739896"/>
            <a:ext cx="155448" cy="155448"/>
          </a:xfrm>
          <a:prstGeom prst="rect">
            <a:avLst/>
          </a:prstGeom>
          <a:ln w="1143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45152" y="2395728"/>
            <a:ext cx="182880" cy="18288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279392" y="21762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3584448" y="367588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828032" y="3035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sin(El)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864608" y="33101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y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712464" y="4315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cos(El)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358384" y="426110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041648" y="504748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 rot="2780000">
            <a:off x="3752113" y="4046472"/>
            <a:ext cx="13185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 rot="3180000">
            <a:off x="3837310" y="4146815"/>
            <a:ext cx="13185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 rot="3580000">
            <a:off x="3910282" y="4256370"/>
            <a:ext cx="131856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 txBox="1"/>
          <p:nvPr/>
        </p:nvSpPr>
        <p:spPr>
          <a:xfrm>
            <a:off x="3968496" y="3584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El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 rot="4400000">
            <a:off x="3836995" y="4560987"/>
            <a:ext cx="108462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 rot="4800000">
            <a:off x="3861965" y="4666346"/>
            <a:ext cx="108462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 rot="5200000">
            <a:off x="3874536" y="4773893"/>
            <a:ext cx="108462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0" name="Text 38"/>
          <p:cNvSpPr txBox="1"/>
          <p:nvPr/>
        </p:nvSpPr>
        <p:spPr>
          <a:xfrm>
            <a:off x="3639312" y="45537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Az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961888" y="51206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수평면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589520" y="1755648"/>
            <a:ext cx="3749040" cy="1371600"/>
          </a:xfrm>
          <a:prstGeom prst="roundRect">
            <a:avLst>
              <a:gd name="adj" fmla="val 3333"/>
            </a:avLst>
          </a:prstGeom>
          <a:solidFill>
            <a:srgbClr val="DCDCD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845552" y="1901952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직교좌표로 바꾸나</a:t>
            </a:r>
            <a:endParaRPr lang="en-US" sz="14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극좌표끼리는 회전을 합성할 수 없다.</a:t>
            </a:r>
            <a:endParaRPr lang="en-US" sz="1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회전행렬은 벡터에만 곱할 수 있다.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589520" y="3310128"/>
            <a:ext cx="3749040" cy="2029968"/>
          </a:xfrm>
          <a:prstGeom prst="roundRect">
            <a:avLst>
              <a:gd name="adj" fmla="val 2252"/>
            </a:avLst>
          </a:prstGeom>
          <a:solidFill>
            <a:srgbClr val="DCDCDC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845552" y="3493008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</a:t>
            </a:r>
            <a:endParaRPr lang="en-US" sz="1400" dirty="0"/>
          </a:p>
          <a:p>
            <a:pPr marL="0" indent="0" algn="l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 =  R  ×  cos(El)  ×  sin (Az)</a:t>
            </a:r>
            <a:endParaRPr lang="en-US" sz="1400" dirty="0"/>
          </a:p>
          <a:p>
            <a:pPr marL="0" indent="0" algn="l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  =  R  ×  sin(El)</a:t>
            </a:r>
            <a:endParaRPr lang="en-US" sz="1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  =  R  ×  cos(El)  ×  cos(Az)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914400" y="5468112"/>
            <a:ext cx="10360152" cy="420624"/>
          </a:xfrm>
          <a:prstGeom prst="roundRect">
            <a:avLst>
              <a:gd name="adj" fmla="val 10870"/>
            </a:avLst>
          </a:prstGeom>
          <a:solidFill>
            <a:srgbClr val="E7E7E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115568" y="5468112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예제값   R = 20,000 m · Az = 30° · El = 0°   →   x = +10,000.0000 m,    y = 0.0000 m,    z = +17,320.5081 m ( = 10,000√3 )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안테나 좌표계 ③ UV(방향코사인)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" y="1335024"/>
            <a:ext cx="50292" cy="27432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1298448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 방향을 길이 1인 화살표로 보고, 그 화살표를 안테나 세 축에 나눠 담은 값이다.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17922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 1 화살표를 세 축에 나눠 담기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El 로 위아래를 떼고  →  ② 남은 cos(El) 을 Az 로 나눈다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-1437749">
            <a:off x="1118862" y="2670048"/>
            <a:ext cx="1621043" cy="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 rot="5400000">
            <a:off x="2340864" y="2670048"/>
            <a:ext cx="658368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188720" y="2999232"/>
            <a:ext cx="1481328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2670048" y="2999232"/>
            <a:ext cx="822960" cy="0"/>
          </a:xfrm>
          <a:prstGeom prst="line">
            <a:avLst/>
          </a:prstGeom>
          <a:noFill/>
          <a:ln w="11430">
            <a:solidFill>
              <a:srgbClr val="888888"/>
            </a:solidFill>
            <a:prstDash val="sysDot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rot="4200000">
            <a:off x="1601276" y="2837002"/>
            <a:ext cx="66337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rot="4680000">
            <a:off x="1619516" y="2900613"/>
            <a:ext cx="66337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rot="5160000">
            <a:off x="1628726" y="2966144"/>
            <a:ext cx="66337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1444752" y="24323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 1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572768" y="28529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0" y="2615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 = sin(El)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591056" y="30906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cos(El)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29809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수평면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188720" y="3950208"/>
            <a:ext cx="1481328" cy="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 rot="5400000">
            <a:off x="2276856" y="4343400"/>
            <a:ext cx="786384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 rot="1677734">
            <a:off x="1090824" y="4343400"/>
            <a:ext cx="1677120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2670048" y="3950208"/>
            <a:ext cx="822960" cy="0"/>
          </a:xfrm>
          <a:prstGeom prst="line">
            <a:avLst/>
          </a:prstGeom>
          <a:noFill/>
          <a:ln w="11430">
            <a:solidFill>
              <a:srgbClr val="888888"/>
            </a:solidFill>
            <a:prstDash val="sysDot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 rot="5610000">
            <a:off x="1667615" y="3981410"/>
            <a:ext cx="62522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 rot="6030000">
            <a:off x="1660010" y="4043350"/>
            <a:ext cx="62522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 rot="6450000">
            <a:off x="1644912" y="4103901"/>
            <a:ext cx="62522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 rot="6870000">
            <a:off x="1622549" y="4162161"/>
            <a:ext cx="62522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 txBox="1"/>
          <p:nvPr/>
        </p:nvSpPr>
        <p:spPr>
          <a:xfrm>
            <a:off x="1280160" y="37307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 = cos(El)·cos(Az)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1463040" y="41330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2743200" y="43342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 = cos(El)·sin(Az)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517904" y="47365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cos(El)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3072384" y="39319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보어사이트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4864608" y="179222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안테나 면에서 본 u – v 평면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(u, v) 는 표적 방향의 그림자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102352" y="2505456"/>
            <a:ext cx="2340864" cy="2340864"/>
          </a:xfrm>
          <a:prstGeom prst="ellipse">
            <a:avLst/>
          </a:prstGeom>
          <a:solidFill>
            <a:srgbClr val="E9E9E9"/>
          </a:solidFill>
          <a:ln w="13970">
            <a:solidFill>
              <a:srgbClr val="5A5A5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87568" y="3090672"/>
            <a:ext cx="1170432" cy="1170432"/>
          </a:xfrm>
          <a:prstGeom prst="ellipse">
            <a:avLst/>
          </a:prstGeom>
          <a:ln w="10160">
            <a:solidFill>
              <a:srgbClr val="A8A8A8"/>
            </a:solidFill>
            <a:prstDash val="sysDot"/>
          </a:ln>
        </p:spPr>
      </p:sp>
      <p:sp>
        <p:nvSpPr>
          <p:cNvPr id="39" name="Shape 37"/>
          <p:cNvSpPr/>
          <p:nvPr/>
        </p:nvSpPr>
        <p:spPr>
          <a:xfrm>
            <a:off x="5259190" y="2662294"/>
            <a:ext cx="2027188" cy="2027188"/>
          </a:xfrm>
          <a:prstGeom prst="ellipse">
            <a:avLst/>
          </a:prstGeom>
          <a:ln w="10160">
            <a:solidFill>
              <a:srgbClr val="A8A8A8"/>
            </a:solidFill>
            <a:prstDash val="sysDot"/>
          </a:ln>
        </p:spPr>
      </p:sp>
      <p:sp>
        <p:nvSpPr>
          <p:cNvPr id="40" name="Shape 38"/>
          <p:cNvSpPr/>
          <p:nvPr/>
        </p:nvSpPr>
        <p:spPr>
          <a:xfrm>
            <a:off x="6272784" y="3675888"/>
            <a:ext cx="1426464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 rot="-5400000">
            <a:off x="5559552" y="2962656"/>
            <a:ext cx="1426464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7754112" y="36576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236208" y="208483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89420" y="3607308"/>
            <a:ext cx="137160" cy="137160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45" name="Shape 43"/>
          <p:cNvSpPr/>
          <p:nvPr/>
        </p:nvSpPr>
        <p:spPr>
          <a:xfrm>
            <a:off x="6217920" y="3621024"/>
            <a:ext cx="109728" cy="109728"/>
          </a:xfrm>
          <a:prstGeom prst="ellipse">
            <a:avLst/>
          </a:prstGeom>
          <a:ln w="11430">
            <a:solidFill>
              <a:srgbClr val="3A3A3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31536" y="2926080"/>
            <a:ext cx="365760" cy="365760"/>
          </a:xfrm>
          <a:prstGeom prst="ellipse">
            <a:avLst/>
          </a:prstGeom>
          <a:ln w="10160">
            <a:solidFill>
              <a:srgbClr val="777777"/>
            </a:solidFill>
            <a:prstDash val="dash"/>
          </a:ln>
        </p:spPr>
      </p:sp>
      <p:sp>
        <p:nvSpPr>
          <p:cNvPr id="47" name="Text 45"/>
          <p:cNvSpPr txBox="1"/>
          <p:nvPr/>
        </p:nvSpPr>
        <p:spPr>
          <a:xfrm>
            <a:off x="5212080" y="27432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격자로브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5541264" y="30723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6400800" y="405993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30°</a:t>
            </a:r>
            <a:endParaRPr lang="en-US" sz="750" dirty="0"/>
          </a:p>
        </p:txBody>
      </p:sp>
      <p:sp>
        <p:nvSpPr>
          <p:cNvPr id="50" name="Text 48"/>
          <p:cNvSpPr txBox="1"/>
          <p:nvPr/>
        </p:nvSpPr>
        <p:spPr>
          <a:xfrm>
            <a:off x="6400800" y="455371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60°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5175504" y="393192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 u = 0.500, v = 0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4553712" y="49011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u² + v² ≤ 1 — 이 원 밖으로는 빔을 못 만든다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960120" y="5102352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 = cos(El) · sin(Az)      v = sin(El)      w = cos(El) · cos(Az)</a:t>
            </a:r>
            <a:endParaRPr lang="en-US" sz="1250" dirty="0"/>
          </a:p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성분을 제곱해 더하면 1 이 된다 — 길이 1 인 화살표를 나눠 담은 것이므로.</a:t>
            </a:r>
            <a:endParaRPr lang="en-US" sz="12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성분은 그 축과 이루는 각의 코사인이라 '방향코사인' 이라 부른다. u, v 는 약자가 아니라 성분의 이름이다.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7882128" y="1755648"/>
            <a:ext cx="3474720" cy="3675888"/>
          </a:xfrm>
          <a:prstGeom prst="roundRect">
            <a:avLst>
              <a:gd name="adj" fmla="val 1316"/>
            </a:avLst>
          </a:prstGeom>
          <a:solidFill>
            <a:srgbClr val="DCDCDC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119872" y="1901952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UV 를 쓰나</a:t>
            </a:r>
            <a:endParaRPr lang="en-US" sz="1400" dirty="0"/>
          </a:p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현대 레이다는 대부분 위상배열이다.</a:t>
            </a:r>
            <a:endParaRPr lang="en-US" sz="1400" dirty="0"/>
          </a:p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수백 ~ 수천 개 소자에 위상차를 줘서</a:t>
            </a:r>
            <a:endParaRPr lang="en-US" sz="1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빔 방향을 전자적으로 바꾼다.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8065008" y="3145536"/>
            <a:ext cx="310896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065008" y="314553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φ(m, n) = −k ( m·d·u + n·d·v )</a:t>
            </a:r>
            <a:endParaRPr lang="en-US" sz="1250" dirty="0"/>
          </a:p>
        </p:txBody>
      </p:sp>
      <p:sp>
        <p:nvSpPr>
          <p:cNvPr id="58" name="Text 56"/>
          <p:cNvSpPr txBox="1"/>
          <p:nvPr/>
        </p:nvSpPr>
        <p:spPr>
          <a:xfrm>
            <a:off x="8193024" y="3785616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850" i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 = 2π/λ · d 소자 간격 · m, n 소자 번호</a:t>
            </a:r>
            <a:endParaRPr lang="en-US" sz="900" dirty="0"/>
          </a:p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850" i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소자 번호에 u, v 를 곱하기만 하면 된다.</a:t>
            </a:r>
            <a:endParaRPr lang="en-US" sz="900" dirty="0"/>
          </a:p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850" i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 (Az, El) 로는 이렇게 단순해지지 않는다.</a:t>
            </a:r>
            <a:endParaRPr lang="en-US" sz="900" dirty="0"/>
          </a:p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850" i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격자로브 : d &gt; λ/2 이면 원치 않는 제2 빔이 생긴다.</a:t>
            </a:r>
            <a:endParaRPr lang="en-US" sz="9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되돌릴 때는 asin 대신 atan2 를 쓴다.</a:t>
            </a:r>
            <a:endParaRPr lang="en-US" sz="9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Az = atan2(u, w)</a:t>
            </a:r>
            <a:endParaRPr lang="en-US" sz="9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El = atan2(v, √(u²+w²))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914400" y="5705856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UV 에는 거리가 없다 → 방향만 담는 표현이라, 표적 위치를 옮기는 이번 변환에는 들어가지 않는다.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동체(Body) 좌표계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133502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동체(Body) 좌표계 = FRD</a:t>
            </a:r>
            <a:endParaRPr lang="en-US" sz="1250" dirty="0"/>
          </a:p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FRD = Forward-Right-Down.</a:t>
            </a:r>
            <a:endParaRPr lang="en-US" sz="12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원점은 무게중심. 세 축은 배에 붙어 함께 움직인다.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133502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방위 · 백틸트 · 레버암 – 이 셋이 안테나 → 동체 변환의 전부다.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rot="5400000">
            <a:off x="2322576" y="3090672"/>
            <a:ext cx="2706624" cy="0"/>
          </a:xfrm>
          <a:prstGeom prst="line">
            <a:avLst/>
          </a:prstGeom>
          <a:noFill/>
          <a:ln w="11430">
            <a:solidFill>
              <a:srgbClr val="C8C8C8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 rot="5400000">
            <a:off x="6492240" y="3090672"/>
            <a:ext cx="2706624" cy="0"/>
          </a:xfrm>
          <a:prstGeom prst="line">
            <a:avLst/>
          </a:prstGeom>
          <a:noFill/>
          <a:ln w="11430">
            <a:solidFill>
              <a:srgbClr val="C8C8C8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 rot="1680000">
            <a:off x="1115568" y="2468880"/>
            <a:ext cx="859536" cy="1243584"/>
          </a:xfrm>
          <a:prstGeom prst="parallelogram">
            <a:avLst/>
          </a:prstGeom>
          <a:solidFill>
            <a:srgbClr val="E2E2E2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2747089">
            <a:off x="1594497" y="2441448"/>
            <a:ext cx="944093" cy="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432304" y="19933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선수(앞)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rot="1976953">
            <a:off x="1642714" y="3099816"/>
            <a:ext cx="1176844" cy="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761488" y="33649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 우현(오른쪽)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rot="5400000">
            <a:off x="1106424" y="3410712"/>
            <a:ext cx="1261872" cy="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1261872" y="40965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 아래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87952" y="2743200"/>
            <a:ext cx="2834640" cy="566928"/>
          </a:xfrm>
          <a:prstGeom prst="hexagon">
            <a:avLst/>
          </a:prstGeom>
          <a:solidFill>
            <a:srgbClr val="F7F7F7"/>
          </a:solidFill>
          <a:ln w="15240">
            <a:solidFill>
              <a:srgbClr val="44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871216"/>
            <a:ext cx="786384" cy="274320"/>
          </a:xfrm>
          <a:prstGeom prst="rect">
            <a:avLst/>
          </a:prstGeom>
          <a:solidFill>
            <a:srgbClr val="D6D6D6"/>
          </a:solidFill>
          <a:ln w="8890">
            <a:solidFill>
              <a:srgbClr val="5555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59552" y="2871216"/>
            <a:ext cx="530352" cy="274320"/>
          </a:xfrm>
          <a:prstGeom prst="rect">
            <a:avLst/>
          </a:prstGeom>
          <a:solidFill>
            <a:srgbClr val="D6D6D6"/>
          </a:solidFill>
          <a:ln w="8890">
            <a:solidFill>
              <a:srgbClr val="5555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2871216"/>
            <a:ext cx="420624" cy="274320"/>
          </a:xfrm>
          <a:prstGeom prst="rect">
            <a:avLst/>
          </a:prstGeom>
          <a:solidFill>
            <a:srgbClr val="D6D6D6"/>
          </a:solidFill>
          <a:ln w="8890">
            <a:solidFill>
              <a:srgbClr val="5555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06824" y="2935224"/>
            <a:ext cx="164592" cy="164592"/>
          </a:xfrm>
          <a:prstGeom prst="ellipse">
            <a:avLst/>
          </a:prstGeom>
          <a:ln w="11430">
            <a:solidFill>
              <a:srgbClr val="44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18304" y="2578608"/>
            <a:ext cx="365760" cy="365760"/>
          </a:xfrm>
          <a:prstGeom prst="ellipse">
            <a:avLst/>
          </a:prstGeom>
          <a:solidFill>
            <a:srgbClr val="C9C9C9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96712" y="2971800"/>
            <a:ext cx="91440" cy="9144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6" name="Shape 24"/>
          <p:cNvSpPr/>
          <p:nvPr/>
        </p:nvSpPr>
        <p:spPr>
          <a:xfrm rot="-5400000">
            <a:off x="4754880" y="2304288"/>
            <a:ext cx="292608" cy="0"/>
          </a:xfrm>
          <a:prstGeom prst="line">
            <a:avLst/>
          </a:prstGeom>
          <a:noFill/>
          <a:ln w="10160">
            <a:solidFill>
              <a:srgbClr val="555555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 rot="-5400000">
            <a:off x="5449824" y="2450592"/>
            <a:ext cx="585216" cy="0"/>
          </a:xfrm>
          <a:prstGeom prst="line">
            <a:avLst/>
          </a:prstGeom>
          <a:noFill/>
          <a:ln w="10160">
            <a:solidFill>
              <a:srgbClr val="555555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 rot="10800000">
            <a:off x="4901184" y="2231136"/>
            <a:ext cx="84124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headEnd type="triangle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4059936" y="19202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레버암 x = −30 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 rot="-945070">
            <a:off x="5783382" y="2734056"/>
            <a:ext cx="741059" cy="0"/>
          </a:xfrm>
          <a:prstGeom prst="line">
            <a:avLst/>
          </a:prstGeom>
          <a:noFill/>
          <a:ln w="11430">
            <a:solidFill>
              <a:srgbClr val="555555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 txBox="1"/>
          <p:nvPr/>
        </p:nvSpPr>
        <p:spPr>
          <a:xfrm>
            <a:off x="6547104" y="2560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무게중심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742432" y="3017520"/>
            <a:ext cx="1719072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7498080" y="29992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x_b 선수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 rot="5400000">
            <a:off x="4434840" y="3575304"/>
            <a:ext cx="932688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4279392" y="40782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z_a 보어사이트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 rot="-10545000">
            <a:off x="4819978" y="3654587"/>
            <a:ext cx="8131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 rot="-10035000">
            <a:off x="4739775" y="3642600"/>
            <a:ext cx="8131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 rot="-9525000">
            <a:off x="4662224" y="3618891"/>
            <a:ext cx="8131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 rot="-9015000">
            <a:off x="4589030" y="3583979"/>
            <a:ext cx="8131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 rot="-8505000">
            <a:off x="4521799" y="3538632"/>
            <a:ext cx="8131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 rot="-7995000">
            <a:off x="4462011" y="3483845"/>
            <a:ext cx="8131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 rot="-7485000">
            <a:off x="4410976" y="3420823"/>
            <a:ext cx="8131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 rot="-6975000">
            <a:off x="4369818" y="3350950"/>
            <a:ext cx="8131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 rot="-6465000">
            <a:off x="4339440" y="3275761"/>
            <a:ext cx="8131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 rot="-5955000">
            <a:off x="4320508" y="3196907"/>
            <a:ext cx="8131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5376672" y="35844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방위 90°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3968496" y="43159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본 그림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3968496" y="45445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과제 값 : 설치 방위 90° · 백틸트 0°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814816" y="3200400"/>
            <a:ext cx="1755648" cy="1097280"/>
          </a:xfrm>
          <a:prstGeom prst="chord">
            <a:avLst>
              <a:gd name="adj1" fmla="val 0"/>
              <a:gd name="adj2" fmla="val 10800000"/>
            </a:avLst>
          </a:prstGeom>
          <a:solidFill>
            <a:srgbClr val="F7F7F7"/>
          </a:solidFill>
          <a:ln w="15240">
            <a:solidFill>
              <a:srgbClr val="4444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35440" y="2834640"/>
            <a:ext cx="914400" cy="384048"/>
          </a:xfrm>
          <a:prstGeom prst="rect">
            <a:avLst/>
          </a:prstGeom>
          <a:solidFill>
            <a:srgbClr val="E2E2E2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81744" y="2505456"/>
            <a:ext cx="621792" cy="347472"/>
          </a:xfrm>
          <a:prstGeom prst="rect">
            <a:avLst/>
          </a:prstGeom>
          <a:solidFill>
            <a:srgbClr val="D2D2D2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546336" y="2157984"/>
            <a:ext cx="292608" cy="365760"/>
          </a:xfrm>
          <a:prstGeom prst="rect">
            <a:avLst/>
          </a:prstGeom>
          <a:solidFill>
            <a:srgbClr val="C4C4C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1320000">
            <a:off x="9610344" y="1773936"/>
            <a:ext cx="274320" cy="402336"/>
          </a:xfrm>
          <a:prstGeom prst="rect">
            <a:avLst/>
          </a:prstGeom>
          <a:solidFill>
            <a:srgbClr val="BEBEB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-1709738">
            <a:off x="9794828" y="1764792"/>
            <a:ext cx="728313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9784080" y="1773936"/>
            <a:ext cx="768096" cy="0"/>
          </a:xfrm>
          <a:prstGeom prst="line">
            <a:avLst/>
          </a:prstGeom>
          <a:noFill/>
          <a:ln w="10160">
            <a:solidFill>
              <a:srgbClr val="888888"/>
            </a:solidFill>
            <a:prstDash val="sysDot"/>
            <a:headEnd type="none"/>
            <a:tailEnd type="none"/>
          </a:ln>
        </p:spPr>
      </p:sp>
      <p:sp>
        <p:nvSpPr>
          <p:cNvPr id="56" name="Text 54"/>
          <p:cNvSpPr txBox="1"/>
          <p:nvPr/>
        </p:nvSpPr>
        <p:spPr>
          <a:xfrm>
            <a:off x="10479024" y="1481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백틸트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628632" y="3374136"/>
            <a:ext cx="91440" cy="9144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9857232" y="34381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무게중심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449056" y="1828800"/>
            <a:ext cx="1133856" cy="0"/>
          </a:xfrm>
          <a:prstGeom prst="line">
            <a:avLst/>
          </a:prstGeom>
          <a:noFill/>
          <a:ln w="10160">
            <a:solidFill>
              <a:srgbClr val="888888"/>
            </a:solidFill>
            <a:prstDash val="sysDot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8449056" y="3419856"/>
            <a:ext cx="1152144" cy="0"/>
          </a:xfrm>
          <a:prstGeom prst="line">
            <a:avLst/>
          </a:prstGeom>
          <a:noFill/>
          <a:ln w="10160">
            <a:solidFill>
              <a:srgbClr val="888888"/>
            </a:solidFill>
            <a:prstDash val="sysDot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 rot="5400000">
            <a:off x="7744968" y="2624328"/>
            <a:ext cx="1591056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headEnd type="triangle"/>
            <a:tailEnd type="triangle"/>
          </a:ln>
        </p:spPr>
      </p:sp>
      <p:sp>
        <p:nvSpPr>
          <p:cNvPr id="62" name="Text 60"/>
          <p:cNvSpPr txBox="1"/>
          <p:nvPr/>
        </p:nvSpPr>
        <p:spPr>
          <a:xfrm>
            <a:off x="7205472" y="2450592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레버암</a:t>
            </a:r>
            <a:endParaRPr lang="en-US" sz="950" dirty="0"/>
          </a:p>
          <a:p>
            <a:pPr marL="0" indent="0" algn="r">
              <a:lnSpc>
                <a:spcPct val="10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 = −10 m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8101584" y="43159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선미에서 본 그림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8101584" y="45445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레버암 (−30, 0, −10) m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14400" y="4791456"/>
            <a:ext cx="3127248" cy="1170432"/>
          </a:xfrm>
          <a:prstGeom prst="roundRect">
            <a:avLst>
              <a:gd name="adj" fmla="val 4167"/>
            </a:avLst>
          </a:prstGeom>
          <a:solidFill>
            <a:srgbClr val="DCDCDC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1115568" y="4919472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원점 · 축</a:t>
            </a:r>
            <a:endParaRPr lang="en-US" sz="1200" dirty="0"/>
          </a:p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원점 = 배의 무게중심</a:t>
            </a:r>
            <a:endParaRPr lang="en-US" sz="1200" dirty="0"/>
          </a:p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선수 · y 우현 · z 아래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FRD(Forward-Right-Down)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4261104" y="4791456"/>
            <a:ext cx="7013448" cy="1170432"/>
          </a:xfrm>
          <a:prstGeom prst="roundRect">
            <a:avLst>
              <a:gd name="adj" fmla="val 4167"/>
            </a:avLst>
          </a:prstGeom>
          <a:solidFill>
            <a:srgbClr val="DCDCDC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4462272" y="4846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안테나 → 동체 변환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4462272" y="5120640"/>
            <a:ext cx="193852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462272" y="512064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p안테나 (x 왼쪽, y 위, z 보어사이트)</a:t>
            </a:r>
            <a:endParaRPr lang="en-US" sz="750" dirty="0"/>
          </a:p>
        </p:txBody>
      </p:sp>
      <p:sp>
        <p:nvSpPr>
          <p:cNvPr id="71" name="Text 69"/>
          <p:cNvSpPr txBox="1"/>
          <p:nvPr/>
        </p:nvSpPr>
        <p:spPr>
          <a:xfrm>
            <a:off x="4370832" y="539496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과제 값 →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6419088" y="5257800"/>
            <a:ext cx="118872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6556248" y="5120640"/>
            <a:ext cx="74980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556248" y="51206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맞춤 A</a:t>
            </a:r>
            <a:endParaRPr lang="en-US" sz="800" dirty="0"/>
          </a:p>
        </p:txBody>
      </p:sp>
      <p:sp>
        <p:nvSpPr>
          <p:cNvPr id="75" name="Text 73"/>
          <p:cNvSpPr txBox="1"/>
          <p:nvPr/>
        </p:nvSpPr>
        <p:spPr>
          <a:xfrm>
            <a:off x="6464808" y="539496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Rz(−90°)·Rx(−90°)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7324344" y="5257800"/>
            <a:ext cx="118872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7461504" y="5120640"/>
            <a:ext cx="859536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7461504" y="512064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Ry(백틸트)</a:t>
            </a:r>
            <a:endParaRPr lang="en-US" sz="800" dirty="0"/>
          </a:p>
        </p:txBody>
      </p:sp>
      <p:sp>
        <p:nvSpPr>
          <p:cNvPr id="79" name="Text 77"/>
          <p:cNvSpPr txBox="1"/>
          <p:nvPr/>
        </p:nvSpPr>
        <p:spPr>
          <a:xfrm>
            <a:off x="7370064" y="539496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백틸트 0°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8339328" y="5257800"/>
            <a:ext cx="118872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8476488" y="5120640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8476488" y="5120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Rz(설치방위)</a:t>
            </a:r>
            <a:endParaRPr lang="en-US" sz="800" dirty="0"/>
          </a:p>
        </p:txBody>
      </p:sp>
      <p:sp>
        <p:nvSpPr>
          <p:cNvPr id="83" name="Text 81"/>
          <p:cNvSpPr txBox="1"/>
          <p:nvPr/>
        </p:nvSpPr>
        <p:spPr>
          <a:xfrm>
            <a:off x="8385048" y="53949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방위 90°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9500616" y="5257800"/>
            <a:ext cx="118872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9637776" y="5120640"/>
            <a:ext cx="73152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9637776" y="5120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레버암</a:t>
            </a:r>
            <a:endParaRPr lang="en-US" sz="800" dirty="0"/>
          </a:p>
        </p:txBody>
      </p:sp>
      <p:sp>
        <p:nvSpPr>
          <p:cNvPr id="87" name="Text 85"/>
          <p:cNvSpPr txBox="1"/>
          <p:nvPr/>
        </p:nvSpPr>
        <p:spPr>
          <a:xfrm>
            <a:off x="9546336" y="5394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레버암 (−30, 0, −10) m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10387584" y="5257800"/>
            <a:ext cx="118872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10524744" y="5120640"/>
            <a:ext cx="54864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10524744" y="5120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p동체</a:t>
            </a:r>
            <a:endParaRPr lang="en-US" sz="800" dirty="0"/>
          </a:p>
        </p:txBody>
      </p:sp>
      <p:sp>
        <p:nvSpPr>
          <p:cNvPr id="91" name="Text 89"/>
          <p:cNvSpPr txBox="1"/>
          <p:nvPr/>
        </p:nvSpPr>
        <p:spPr>
          <a:xfrm>
            <a:off x="4462272" y="5614416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식으로 쓰면   p동체 = Rz(설치방위) · Ry(백틸트) · A · p안테나 + 레버암</a:t>
            </a:r>
            <a:endParaRPr lang="en-US" sz="780" dirty="0"/>
          </a:p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= Rz(−90°)·Rx(−90°) — 안테나 면 기준 축을 동체 축으로 돌려 놓는 상수 행렬 (참고자료 : CIWS-II 데이터처리를 위한 좌표계 및 좌표변환 §2.2.9)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INS 좌표계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" y="1335024"/>
            <a:ext cx="50292" cy="27432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1298448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자세각 = 동체 축이 북 · 동 · 아래에 대해 얼마나 돌아가 있나.  동체 좌표계는 북이 어딘지 모르지만, INS 는 안다.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 rot="720000">
            <a:off x="2244898" y="2969402"/>
            <a:ext cx="1316736" cy="566928"/>
          </a:xfrm>
          <a:prstGeom prst="chord">
            <a:avLst>
              <a:gd name="adj1" fmla="val 0"/>
              <a:gd name="adj2" fmla="val 10800000"/>
            </a:avLst>
          </a:prstGeom>
          <a:solidFill>
            <a:srgbClr val="D8D8D8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720000">
            <a:off x="2495496" y="2910589"/>
            <a:ext cx="914400" cy="219456"/>
          </a:xfrm>
          <a:prstGeom prst="rect">
            <a:avLst/>
          </a:prstGeom>
          <a:solidFill>
            <a:srgbClr val="CFCFCF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720000">
            <a:off x="2696571" y="2695929"/>
            <a:ext cx="603504" cy="219456"/>
          </a:xfrm>
          <a:prstGeom prst="rect">
            <a:avLst/>
          </a:prstGeom>
          <a:solidFill>
            <a:srgbClr val="C4C4C4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720000">
            <a:off x="3011947" y="2472125"/>
            <a:ext cx="64008" cy="237744"/>
          </a:xfrm>
          <a:prstGeom prst="rect">
            <a:avLst/>
          </a:prstGeom>
          <a:solidFill>
            <a:srgbClr val="8A8A8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47088" y="3200400"/>
            <a:ext cx="2157984" cy="0"/>
          </a:xfrm>
          <a:prstGeom prst="line">
            <a:avLst/>
          </a:prstGeom>
          <a:noFill/>
          <a:ln w="11430">
            <a:solidFill>
              <a:srgbClr val="9A9A9A"/>
            </a:solidFill>
            <a:prstDash val="sysDot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rot="1512067">
            <a:off x="1757584" y="2999232"/>
            <a:ext cx="343600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 rot="1512067">
            <a:off x="3750976" y="3383280"/>
            <a:ext cx="343600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 rot="840000">
            <a:off x="5135095" y="3060524"/>
            <a:ext cx="1975104" cy="310896"/>
          </a:xfrm>
          <a:prstGeom prst="trapezoid">
            <a:avLst/>
          </a:prstGeom>
          <a:solidFill>
            <a:srgbClr val="D8D8D8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840000">
            <a:off x="5553620" y="2924715"/>
            <a:ext cx="969264" cy="201168"/>
          </a:xfrm>
          <a:prstGeom prst="rect">
            <a:avLst/>
          </a:prstGeom>
          <a:solidFill>
            <a:srgbClr val="CFCFCF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840000">
            <a:off x="5682875" y="2725146"/>
            <a:ext cx="621792" cy="201168"/>
          </a:xfrm>
          <a:prstGeom prst="rect">
            <a:avLst/>
          </a:prstGeom>
          <a:solidFill>
            <a:srgbClr val="C4C4C4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840000">
            <a:off x="5939602" y="2520857"/>
            <a:ext cx="54864" cy="219456"/>
          </a:xfrm>
          <a:prstGeom prst="rect">
            <a:avLst/>
          </a:prstGeom>
          <a:solidFill>
            <a:srgbClr val="8A8A8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3218688"/>
            <a:ext cx="2432304" cy="0"/>
          </a:xfrm>
          <a:prstGeom prst="line">
            <a:avLst/>
          </a:prstGeom>
          <a:noFill/>
          <a:ln w="11430">
            <a:solidFill>
              <a:srgbClr val="9A9A9A"/>
            </a:solidFill>
            <a:prstDash val="sysDot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rot="7753846">
            <a:off x="6879514" y="3543602"/>
            <a:ext cx="155155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 rot="8261538">
            <a:off x="6773079" y="3655912"/>
            <a:ext cx="155155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 rot="8769231">
            <a:off x="6651276" y="3751339"/>
            <a:ext cx="155155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 rot="9276923">
            <a:off x="6516758" y="3827804"/>
            <a:ext cx="155155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 rot="9784615">
            <a:off x="6372452" y="3883642"/>
            <a:ext cx="155155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 rot="10292308">
            <a:off x="6221501" y="3917639"/>
            <a:ext cx="155155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 rot="10800000">
            <a:off x="6067190" y="3929055"/>
            <a:ext cx="155155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 rot="-10292308">
            <a:off x="5912880" y="3917639"/>
            <a:ext cx="155155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 rot="-9784615">
            <a:off x="5761929" y="3883642"/>
            <a:ext cx="155155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 rot="-9276923">
            <a:off x="5617623" y="3827804"/>
            <a:ext cx="155155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 rot="-8769231">
            <a:off x="5483105" y="3751339"/>
            <a:ext cx="155155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 rot="-8261538">
            <a:off x="5361302" y="3655912"/>
            <a:ext cx="155155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 rot="-7753846">
            <a:off x="5254866" y="3543602"/>
            <a:ext cx="155155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 rot="-5400000">
            <a:off x="8732520" y="2404872"/>
            <a:ext cx="859536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8814816" y="179222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 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162288" y="2834640"/>
            <a:ext cx="969264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10186416" y="28163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 동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 rot="-2700000">
            <a:off x="9022148" y="2496312"/>
            <a:ext cx="956936" cy="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9875520" y="2048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x_b 선수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 rot="2700000">
            <a:off x="9044873" y="3118104"/>
            <a:ext cx="801757" cy="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9765792" y="33649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y_b 우현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 rot="270000">
            <a:off x="9162129" y="2180325"/>
            <a:ext cx="10331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 rot="810000">
            <a:off x="9263852" y="2196436"/>
            <a:ext cx="10331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 rot="1350000">
            <a:off x="9361803" y="2228262"/>
            <a:ext cx="10331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 rot="1890000">
            <a:off x="9453569" y="2275019"/>
            <a:ext cx="10331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 rot="2430000">
            <a:off x="9536891" y="2335556"/>
            <a:ext cx="10331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8" name="Text 46"/>
          <p:cNvSpPr txBox="1"/>
          <p:nvPr/>
        </p:nvSpPr>
        <p:spPr>
          <a:xfrm>
            <a:off x="9217152" y="223113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45°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 rot="-2700000">
            <a:off x="9180576" y="2414016"/>
            <a:ext cx="841248" cy="274320"/>
          </a:xfrm>
          <a:prstGeom prst="hexagon">
            <a:avLst/>
          </a:prstGeom>
          <a:solidFill>
            <a:srgbClr val="D2D2D2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461504" y="28895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북은 선수에서</a:t>
            </a:r>
            <a:endParaRPr lang="en-US" sz="850" dirty="0"/>
          </a:p>
          <a:p>
            <a:pPr marL="0" indent="0" algn="r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왼쪽으로 45°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1005840" y="38221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roll  (횡동요)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1005840" y="40599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뒤에서 본 그림 · x축(선수축) 둘레 · 우현이 내려가면 +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1005840" y="4297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과제 0°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4261104" y="38221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pitch  (종동요)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4261104" y="40599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옆에서 본 그림 · y축(우현축) 둘레 · 선수가 올라가면 +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4261104" y="4297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과제 0°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7461504" y="38221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yaw  (선수방위)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7461504" y="40599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본 그림 · z축(아래축) 둘레 · 진북에서 시계방향 +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7461504" y="4297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과제 45°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14400" y="4572000"/>
            <a:ext cx="4882896" cy="914400"/>
          </a:xfrm>
          <a:prstGeom prst="roundRect">
            <a:avLst>
              <a:gd name="adj" fmla="val 5000"/>
            </a:avLst>
          </a:prstGeom>
          <a:solidFill>
            <a:srgbClr val="DCDCDC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115568" y="468172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 좌표계란</a:t>
            </a:r>
            <a:endParaRPr lang="en-US" sz="1200" dirty="0"/>
          </a:p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 센서에 붙은 좌표계 – 원점은 센서 블록의 기준점, 축은 센서의 직교 3축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배의 자세와 위치를 재서 준다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391656" y="4572000"/>
            <a:ext cx="4882896" cy="914400"/>
          </a:xfrm>
          <a:prstGeom prst="roundRect">
            <a:avLst>
              <a:gd name="adj" fmla="val 5000"/>
            </a:avLst>
          </a:prstGeom>
          <a:solidFill>
            <a:srgbClr val="DCDCDC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6592824" y="4681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 가 주는 값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6592824" y="49194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7461504" y="4919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roll 0° · pitch 0° · yaw  45°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6592824" y="51023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7461504" y="51023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36.408 °N · 127.307 °E · 0 m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6592824" y="52852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7461504" y="52852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과제에선 사용 안 함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914400" y="5559552"/>
            <a:ext cx="10360152" cy="347472"/>
          </a:xfrm>
          <a:prstGeom prst="roundRect">
            <a:avLst>
              <a:gd name="adj" fmla="val 13158"/>
            </a:avLst>
          </a:prstGeom>
          <a:solidFill>
            <a:srgbClr val="E7E7E7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1115568" y="560527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 는 값의 공급원이다. – 자세각은 로컬 NED 좌표를 만드는데, 위경도는 그 뒤 지구 좌표로 갈 때 쓰인다.</a:t>
            </a:r>
            <a:endParaRPr lang="en-US" sz="9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yaw 45° 는 "진북이 선수에서 왼쪽으로 45°" 라는 뜻이다.  북이 어느 쪽인지 알았으니, 동체 좌표를 북 · 동 기준으로 다시 적을 수 있다.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NED / ENU 국지수평 좌표계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" y="1335024"/>
            <a:ext cx="50292" cy="27432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1298448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배가 아무리 흔들려도 북쪽은 계속 북쪽이다.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17739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NED (항공우주 · 항법 · 무기체계)</a:t>
            </a:r>
            <a:endParaRPr lang="en-US" sz="12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North-East-Down.  북 → 동 → 아래 순서, 셋째 축이 아래로 +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882896" y="17739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ENU (측지 · 측량 · GIS · 로보틱스)</a:t>
            </a:r>
            <a:endParaRPr lang="en-US" sz="12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East-North-Up.  동 → 북 → 위 순서, 셋째 축이 위로 +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 rot="10800000">
            <a:off x="1097280" y="2724912"/>
            <a:ext cx="3017520" cy="969264"/>
          </a:xfrm>
          <a:prstGeom prst="parallelogram">
            <a:avLst/>
          </a:prstGeom>
          <a:solidFill>
            <a:srgbClr val="E9E9E9"/>
          </a:solidFill>
          <a:ln w="10160">
            <a:solidFill>
              <a:srgbClr val="C0C0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7579323">
            <a:off x="2195960" y="2807208"/>
            <a:ext cx="655568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706624" y="23957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 북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359152" y="270662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 rot="1338372">
            <a:off x="2366883" y="3255264"/>
            <a:ext cx="770921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145536" y="33649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 동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615184" y="312724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 rot="5400000">
            <a:off x="2029968" y="3474720"/>
            <a:ext cx="731520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2468880" y="37856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 아래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2212848" y="352958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412748" y="3259836"/>
            <a:ext cx="100584" cy="10058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6384" y="32918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2999232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 수평면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rot="10800000">
            <a:off x="5065776" y="2724912"/>
            <a:ext cx="3017520" cy="969264"/>
          </a:xfrm>
          <a:prstGeom prst="parallelogram">
            <a:avLst/>
          </a:prstGeom>
          <a:solidFill>
            <a:srgbClr val="E9E9E9"/>
          </a:solidFill>
          <a:ln w="10160">
            <a:solidFill>
              <a:srgbClr val="C0C0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-5400000">
            <a:off x="5943600" y="2688336"/>
            <a:ext cx="841248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6437376" y="21945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 위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250545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 rot="1338372">
            <a:off x="6335379" y="3255264"/>
            <a:ext cx="770921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7114032" y="33649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 동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312724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 rot="-4020677">
            <a:off x="6164456" y="2807208"/>
            <a:ext cx="655568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6675120" y="23957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 북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327648" y="270662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381244" y="3259836"/>
            <a:ext cx="100584" cy="10058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754880" y="32918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6967728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 수평면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1060704" y="40965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(N −5,197.59,   E +19,297.30,   D −10.00) m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060704" y="43159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 높이는 수평면 기준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5029200" y="40965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(E +19,297.30,   N −5,197.59,   U +10.00) m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2706624" y="4315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 · 동은 같은 방향이다. 셋째 축만 뒤집히고, 둘 다 오른손 좌표계다.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485632" y="1755648"/>
            <a:ext cx="2788920" cy="2688336"/>
          </a:xfrm>
          <a:prstGeom prst="roundRect">
            <a:avLst>
              <a:gd name="adj" fmla="val 1701"/>
            </a:avLst>
          </a:prstGeom>
          <a:solidFill>
            <a:srgbClr val="DCDCD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686800" y="1938528"/>
            <a:ext cx="23957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좌표계의 존재 이유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배와 함께 이동하지만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회전하지는 않는다.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표적이 실제로 움직인 것과</a:t>
            </a:r>
            <a:endParaRPr lang="en-US" sz="1300" dirty="0"/>
          </a:p>
          <a:p>
            <a:pPr marL="0" indent="0" algn="l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배가 흔들린 것을 구분할 수 있다.</a:t>
            </a:r>
            <a:endParaRPr lang="en-US" sz="13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추적 필터를 여기서 돌리는 이유다.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14400" y="4590288"/>
            <a:ext cx="10360152" cy="1298448"/>
          </a:xfrm>
          <a:prstGeom prst="roundRect">
            <a:avLst>
              <a:gd name="adj" fmla="val 3521"/>
            </a:avLst>
          </a:prstGeom>
          <a:solidFill>
            <a:srgbClr val="DCDCDC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133856" y="464515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동체 → NED 변환 공식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1188720" y="4937760"/>
            <a:ext cx="65836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188720" y="49377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p동체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932688" y="525780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원점 = 무게중심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1865376" y="5074920"/>
            <a:ext cx="146304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2029968" y="4937760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029968" y="493776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 (roll)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1773936" y="525780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과제 0°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2834640" y="5074920"/>
            <a:ext cx="146304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2999232" y="4937760"/>
            <a:ext cx="859536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999232" y="493776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Ry(pitch)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2743200" y="5257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과제 0°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3877056" y="5074920"/>
            <a:ext cx="146304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4041648" y="4937760"/>
            <a:ext cx="786384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041648" y="493776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Rz(yaw)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3785616" y="525780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과제 45°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4846320" y="5074920"/>
            <a:ext cx="146304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5010912" y="4937760"/>
            <a:ext cx="129844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010912" y="493776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p_NED  (N, E, D)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4754880" y="525780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원점 = 무게중심 → 평행이동 없음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6327648" y="5074920"/>
            <a:ext cx="146304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6492240" y="4937760"/>
            <a:ext cx="120700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492240" y="493776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순서만 바꿈</a:t>
            </a:r>
            <a:endParaRPr lang="en-US" sz="900" dirty="0"/>
          </a:p>
        </p:txBody>
      </p:sp>
      <p:sp>
        <p:nvSpPr>
          <p:cNvPr id="68" name="Text 66"/>
          <p:cNvSpPr txBox="1"/>
          <p:nvPr/>
        </p:nvSpPr>
        <p:spPr>
          <a:xfrm>
            <a:off x="6236208" y="525780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(E, N, U) = (E, N, −D)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7717536" y="5074920"/>
            <a:ext cx="146304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7882128" y="4937760"/>
            <a:ext cx="1298448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882128" y="493776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p_ENU  (E, N, U)</a:t>
            </a:r>
            <a:endParaRPr lang="en-US" sz="900" dirty="0"/>
          </a:p>
        </p:txBody>
      </p:sp>
      <p:sp>
        <p:nvSpPr>
          <p:cNvPr id="72" name="Text 70"/>
          <p:cNvSpPr txBox="1"/>
          <p:nvPr/>
        </p:nvSpPr>
        <p:spPr>
          <a:xfrm>
            <a:off x="7626096" y="525780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값을 다른 순서로</a:t>
            </a:r>
            <a:endParaRPr lang="en-US" sz="650" dirty="0"/>
          </a:p>
        </p:txBody>
      </p:sp>
      <p:sp>
        <p:nvSpPr>
          <p:cNvPr id="73" name="Text 71"/>
          <p:cNvSpPr txBox="1"/>
          <p:nvPr/>
        </p:nvSpPr>
        <p:spPr>
          <a:xfrm>
            <a:off x="9381744" y="493776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줄임말 : 세 회전행렬의 곱 = C_ned←body</a:t>
            </a:r>
            <a:endParaRPr lang="en-US" sz="7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'동체 → NED 변환 행렬' — 설계 장에서 이 줄임말을 쓴다</a:t>
            </a:r>
            <a:endParaRPr lang="en-US" sz="700" dirty="0"/>
          </a:p>
        </p:txBody>
      </p:sp>
      <p:sp>
        <p:nvSpPr>
          <p:cNvPr id="74" name="Text 72"/>
          <p:cNvSpPr txBox="1"/>
          <p:nvPr/>
        </p:nvSpPr>
        <p:spPr>
          <a:xfrm>
            <a:off x="1188720" y="550468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식으로 쓰면  p_NED = Rz(yaw) · Ry(pitch) · Rx(roll) · p동체  —  벡터에 가까운 오른쪽(roll)부터 차례로 곱한다</a:t>
            </a:r>
            <a:endParaRPr lang="en-US" sz="8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과제  p_NED = Rz(45°) · Ry(0°) · Rx(0°) · p동체 = Rz(45°) · p동체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ECEF / ECI 지구 중심 좌표계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" y="1335024"/>
            <a:ext cx="50292" cy="27432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1298448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원점은 같고, 축이 도느냐 마느냐만 다르다.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17556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ECEF — 지구와 함께 돈다</a:t>
            </a:r>
            <a:endParaRPr lang="en-US" sz="1200" dirty="0"/>
          </a:p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Earth-Centered, Earth-Fixed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축과 건물이 같이 도니 사이 각(경도)이 언제 봐도 같다.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44752" y="2542032"/>
            <a:ext cx="1353312" cy="1353312"/>
          </a:xfrm>
          <a:prstGeom prst="ellipse">
            <a:avLst/>
          </a:prstGeom>
          <a:solidFill>
            <a:srgbClr val="E4E4E4"/>
          </a:solidFill>
          <a:ln w="13970">
            <a:solidFill>
              <a:srgbClr val="4A4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154680"/>
            <a:ext cx="128016" cy="128016"/>
          </a:xfrm>
          <a:prstGeom prst="ellipse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95805" y="3193085"/>
            <a:ext cx="51206" cy="51206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4" name="Shape 12"/>
          <p:cNvSpPr/>
          <p:nvPr/>
        </p:nvSpPr>
        <p:spPr>
          <a:xfrm>
            <a:off x="2121408" y="3218688"/>
            <a:ext cx="1152144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328416" y="32004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rot="-3011666">
            <a:off x="1992923" y="2944368"/>
            <a:ext cx="714169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2514600" y="2496312"/>
            <a:ext cx="237744" cy="237744"/>
          </a:xfrm>
          <a:prstGeom prst="ellipse">
            <a:avLst/>
          </a:prstGeom>
          <a:solidFill>
            <a:srgbClr val="6E6E6E"/>
          </a:solidFill>
          <a:ln/>
        </p:spPr>
      </p:sp>
      <p:sp>
        <p:nvSpPr>
          <p:cNvPr id="18" name="Shape 16"/>
          <p:cNvSpPr/>
          <p:nvPr/>
        </p:nvSpPr>
        <p:spPr>
          <a:xfrm rot="2650000">
            <a:off x="2349002" y="2957016"/>
            <a:ext cx="53151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rot="3150000">
            <a:off x="2384243" y="2996616"/>
            <a:ext cx="53151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rot="3650000">
            <a:off x="2413372" y="3040905"/>
            <a:ext cx="53151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 rot="4150000">
            <a:off x="2435775" y="3088949"/>
            <a:ext cx="53151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rot="4650000">
            <a:off x="2450979" y="3139732"/>
            <a:ext cx="53151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 rot="5150000">
            <a:off x="2458662" y="3192183"/>
            <a:ext cx="53151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 txBox="1"/>
          <p:nvPr/>
        </p:nvSpPr>
        <p:spPr>
          <a:xfrm>
            <a:off x="2377440" y="29443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경도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 rot="3826682">
            <a:off x="1228167" y="3172968"/>
            <a:ext cx="1365858" cy="0"/>
          </a:xfrm>
          <a:prstGeom prst="line">
            <a:avLst/>
          </a:prstGeom>
          <a:noFill/>
          <a:ln w="11430">
            <a:solidFill>
              <a:srgbClr val="777777"/>
            </a:solidFill>
            <a:prstDash val="dash"/>
            <a:headEnd type="none"/>
            <a:tailEnd type="none"/>
          </a:ln>
        </p:spPr>
      </p:sp>
      <p:sp>
        <p:nvSpPr>
          <p:cNvPr id="26" name="Text 24"/>
          <p:cNvSpPr txBox="1"/>
          <p:nvPr/>
        </p:nvSpPr>
        <p:spPr>
          <a:xfrm>
            <a:off x="932688" y="36027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그리니치 자오선</a:t>
            </a:r>
            <a:endParaRPr lang="en-US" sz="650" dirty="0"/>
          </a:p>
        </p:txBody>
      </p:sp>
      <p:sp>
        <p:nvSpPr>
          <p:cNvPr id="27" name="Text 25"/>
          <p:cNvSpPr txBox="1"/>
          <p:nvPr/>
        </p:nvSpPr>
        <p:spPr>
          <a:xfrm>
            <a:off x="4590288" y="1755648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ECI — 별에 고정, 돌지 않는다</a:t>
            </a:r>
            <a:endParaRPr lang="en-US" sz="1200" dirty="0"/>
          </a:p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Earth-Centered Inertial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축이 멈춰 있으니 건물은 하루에 한 바퀴 돈다.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64608" y="2340864"/>
            <a:ext cx="1755648" cy="1755648"/>
          </a:xfrm>
          <a:prstGeom prst="ellipse">
            <a:avLst/>
          </a:prstGeom>
          <a:ln w="11430">
            <a:solidFill>
              <a:srgbClr val="777777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065776" y="2542032"/>
            <a:ext cx="1353312" cy="1353312"/>
          </a:xfrm>
          <a:prstGeom prst="ellipse">
            <a:avLst/>
          </a:prstGeom>
          <a:solidFill>
            <a:srgbClr val="E4E4E4"/>
          </a:solidFill>
          <a:ln w="13970">
            <a:solidFill>
              <a:srgbClr val="4A4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78424" y="3154680"/>
            <a:ext cx="128016" cy="128016"/>
          </a:xfrm>
          <a:prstGeom prst="ellipse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6829" y="3193085"/>
            <a:ext cx="51206" cy="51206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2" name="Shape 30"/>
          <p:cNvSpPr/>
          <p:nvPr/>
        </p:nvSpPr>
        <p:spPr>
          <a:xfrm>
            <a:off x="5742432" y="3218688"/>
            <a:ext cx="1152144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6949440" y="320040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 rot="-3011666">
            <a:off x="5613947" y="2944368"/>
            <a:ext cx="714169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6135624" y="2496312"/>
            <a:ext cx="237744" cy="237744"/>
          </a:xfrm>
          <a:prstGeom prst="ellipse">
            <a:avLst/>
          </a:prstGeom>
          <a:solidFill>
            <a:srgbClr val="6E6E6E"/>
          </a:solidFill>
          <a:ln/>
        </p:spPr>
      </p:sp>
      <p:sp>
        <p:nvSpPr>
          <p:cNvPr id="36" name="Shape 34"/>
          <p:cNvSpPr/>
          <p:nvPr/>
        </p:nvSpPr>
        <p:spPr>
          <a:xfrm rot="2650000">
            <a:off x="5981405" y="2943932"/>
            <a:ext cx="5580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 rot="3150000">
            <a:off x="6018408" y="2985512"/>
            <a:ext cx="5580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 rot="3650000">
            <a:off x="6048994" y="3032016"/>
            <a:ext cx="5580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 rot="4150000">
            <a:off x="6072518" y="3082462"/>
            <a:ext cx="5580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 rot="4650000">
            <a:off x="6088481" y="3135785"/>
            <a:ext cx="5580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 rot="5150000">
            <a:off x="6096548" y="3190858"/>
            <a:ext cx="5580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42" name="Text 40"/>
          <p:cNvSpPr txBox="1"/>
          <p:nvPr/>
        </p:nvSpPr>
        <p:spPr>
          <a:xfrm>
            <a:off x="6035040" y="29260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5010912" y="28346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춘분점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3310128" y="2871216"/>
            <a:ext cx="1170432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3493008" y="26700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Rz(θ)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 rot="10800000">
            <a:off x="3310128" y="3584448"/>
            <a:ext cx="1170432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3438144" y="3712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Rz(θ)^T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4535424" y="3749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한 바퀴</a:t>
            </a:r>
            <a:endParaRPr lang="en-US" sz="700" dirty="0"/>
          </a:p>
        </p:txBody>
      </p:sp>
      <p:sp>
        <p:nvSpPr>
          <p:cNvPr id="49" name="Text 47"/>
          <p:cNvSpPr txBox="1"/>
          <p:nvPr/>
        </p:nvSpPr>
        <p:spPr>
          <a:xfrm>
            <a:off x="932688" y="41696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축 = 그리니치 자오선. 지구와 함께 돈다.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4590288" y="41696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축 = 별(춘분점)에 고정. 돌지 않는다.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932688" y="4370832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θ = GMST (Greenwich Mean Sidereal Time).  시각이 1 ms 어긋나면 적도에서 0.47 m 어긋난다.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589520" y="1755648"/>
            <a:ext cx="3749040" cy="1481328"/>
          </a:xfrm>
          <a:prstGeom prst="roundRect">
            <a:avLst>
              <a:gd name="adj" fmla="val 3086"/>
            </a:avLst>
          </a:prstGeom>
          <a:solidFill>
            <a:srgbClr val="DCDCDC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7808976" y="1901952"/>
            <a:ext cx="332841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ECEF — Earth-Centered, Earth-Fixed   ( 이번 과제 O )</a:t>
            </a:r>
            <a:endParaRPr lang="en-US" sz="105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원점 = 지구 중심 . X = 그리니치 자오선 . Z = 북극 . Y = 오른손</a:t>
            </a:r>
            <a:endParaRPr lang="en-US" sz="105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지구와 함께 돈다 → 지표 한 점의 좌표가 시각과 무관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GPS · 지도 · 위경도의 바탕이 되는 좌표계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589520" y="3401568"/>
            <a:ext cx="3749040" cy="1481328"/>
          </a:xfrm>
          <a:prstGeom prst="roundRect">
            <a:avLst>
              <a:gd name="adj" fmla="val 3086"/>
            </a:avLst>
          </a:prstGeom>
          <a:solidFill>
            <a:srgbClr val="DCDCDC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7808976" y="3547872"/>
            <a:ext cx="332841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ECI — Earth-Centered Inertial   ( 이번 과제 X )</a:t>
            </a:r>
            <a:endParaRPr lang="en-US" sz="105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원점 = 지구 중심 . X = 춘분점 ( 별 ) 방향 · Z = 북극</a:t>
            </a:r>
            <a:endParaRPr lang="en-US" sz="1050" dirty="0"/>
          </a:p>
          <a:p>
            <a:pPr marL="0" indent="0" algn="l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돌지 않는다 → 뉴턴 법칙이 그대로 성립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위성 · 탄도탄의 궤도 계산에 쓴다 ( 중력만 받는 운동 )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914400" y="45902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 공식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14400" y="4828032"/>
            <a:ext cx="10360152" cy="1060704"/>
          </a:xfrm>
          <a:prstGeom prst="roundRect">
            <a:avLst>
              <a:gd name="adj" fmla="val 4310"/>
            </a:avLst>
          </a:prstGeom>
          <a:solidFill>
            <a:srgbClr val="DCDCDC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1097280" y="50474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NED → ECEF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542032" y="4937760"/>
            <a:ext cx="676656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2542032" y="4937760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p_NED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236976" y="5065776"/>
            <a:ext cx="128016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3383280" y="4937760"/>
            <a:ext cx="1389888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3383280" y="493776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Ry(−90° − 위도)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3108960" y="5248656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 축에 맞춰 돌린다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4791456" y="5065776"/>
            <a:ext cx="128016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4937760" y="4937760"/>
            <a:ext cx="932688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4937760" y="493776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Rz(경도)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888736" y="5065776"/>
            <a:ext cx="128016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6035040" y="4937760"/>
            <a:ext cx="64008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035040" y="49377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P배</a:t>
            </a:r>
            <a:endParaRPr lang="en-US" sz="900" dirty="0"/>
          </a:p>
        </p:txBody>
      </p:sp>
      <p:sp>
        <p:nvSpPr>
          <p:cNvPr id="71" name="Text 69"/>
          <p:cNvSpPr txBox="1"/>
          <p:nvPr/>
        </p:nvSpPr>
        <p:spPr>
          <a:xfrm>
            <a:off x="5760720" y="51937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배의 ECEF 위치를 더한다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6693408" y="5065776"/>
            <a:ext cx="128016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6839712" y="4937760"/>
            <a:ext cx="786384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839712" y="493776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p_ECEF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7735824" y="49011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줄임말 : Rz(경도) · Ry(−90° − 위도) = C_ecef←ned</a:t>
            </a:r>
            <a:endParaRPr lang="en-US" sz="6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R_N 은 그 위도의 곡률반경, e² 는 WGS-84 상수 — 다음 장 LLA 에서</a:t>
            </a:r>
            <a:endParaRPr lang="en-US" sz="650" dirty="0"/>
          </a:p>
        </p:txBody>
      </p:sp>
      <p:sp>
        <p:nvSpPr>
          <p:cNvPr id="76" name="Text 74"/>
          <p:cNvSpPr txBox="1"/>
          <p:nvPr/>
        </p:nvSpPr>
        <p:spPr>
          <a:xfrm>
            <a:off x="1097280" y="5504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ECEF → ECI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2542032" y="5394960"/>
            <a:ext cx="786384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2542032" y="539496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p_ECEF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346704" y="5522976"/>
            <a:ext cx="128016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3493008" y="5394960"/>
            <a:ext cx="676656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3493008" y="5394960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Rz(θ)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187952" y="5522976"/>
            <a:ext cx="128016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4334256" y="5394960"/>
            <a:ext cx="64008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4334256" y="53949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p_ECI</a:t>
            </a:r>
            <a:endParaRPr lang="en-US" sz="900" dirty="0"/>
          </a:p>
        </p:txBody>
      </p:sp>
      <p:sp>
        <p:nvSpPr>
          <p:cNvPr id="85" name="Text 83"/>
          <p:cNvSpPr txBox="1"/>
          <p:nvPr/>
        </p:nvSpPr>
        <p:spPr>
          <a:xfrm>
            <a:off x="5047488" y="54498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θ = 지구 자전각 (GMST) — 시각으로 정해진다</a:t>
            </a:r>
            <a:endParaRPr lang="en-US" sz="6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지구가 돈 각만큼 되돌리면 별 기준 좌표. 거꾸로는 전치.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7735824" y="5285232"/>
            <a:ext cx="34015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7772400" y="5358384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P배 = 배의 위경도 · 고도 (φ, λ, h) 에서</a:t>
            </a:r>
            <a:endParaRPr lang="en-US" sz="7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6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= (R_N + h)cosφcosλ,   Y = (R_N + h)cosφsinλ,   Z = (R_N(1 − e²) + h)sinφ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LLA 측지 좌표계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33856" y="1755648"/>
            <a:ext cx="2157984" cy="2157984"/>
          </a:xfrm>
          <a:prstGeom prst="ellipse">
            <a:avLst/>
          </a:prstGeom>
          <a:ln w="13970">
            <a:solidFill>
              <a:srgbClr val="4A4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" y="2450592"/>
            <a:ext cx="2157984" cy="768096"/>
          </a:xfrm>
          <a:prstGeom prst="ellipse">
            <a:avLst/>
          </a:prstGeom>
          <a:ln w="10160">
            <a:solidFill>
              <a:srgbClr val="8A8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1755648"/>
            <a:ext cx="768096" cy="2157984"/>
          </a:xfrm>
          <a:prstGeom prst="ellipse">
            <a:avLst/>
          </a:prstGeom>
          <a:ln w="10160">
            <a:solidFill>
              <a:srgbClr val="8A8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1755648"/>
            <a:ext cx="1682496" cy="2157984"/>
          </a:xfrm>
          <a:prstGeom prst="ellipse">
            <a:avLst/>
          </a:prstGeom>
          <a:ln w="8890">
            <a:solidFill>
              <a:srgbClr val="A8A8A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 rot="-5400000">
            <a:off x="1472184" y="2185416"/>
            <a:ext cx="1481328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1892808" y="12801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북극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 rot="-2343188">
            <a:off x="2073406" y="2441448"/>
            <a:ext cx="124814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rot="-2436078">
            <a:off x="3141521" y="1938528"/>
            <a:ext cx="337214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dash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3383280" y="1773936"/>
            <a:ext cx="109728" cy="109728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7" name="Shape 15"/>
          <p:cNvSpPr/>
          <p:nvPr/>
        </p:nvSpPr>
        <p:spPr>
          <a:xfrm>
            <a:off x="3131820" y="1997964"/>
            <a:ext cx="100584" cy="100584"/>
          </a:xfrm>
          <a:prstGeom prst="ellipse">
            <a:avLst/>
          </a:prstGeom>
          <a:ln w="1143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18688" y="15910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(φ, λ, h)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999232" y="22677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 고도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2304288" y="2048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타원체 면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 rot="3240000">
            <a:off x="2617355" y="2512943"/>
            <a:ext cx="76542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rot="3720000">
            <a:off x="2657817" y="2577697"/>
            <a:ext cx="76542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 rot="4200000">
            <a:off x="2688874" y="2647451"/>
            <a:ext cx="76542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 rot="4680000">
            <a:off x="2709920" y="2720849"/>
            <a:ext cx="76542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 rot="5160000">
            <a:off x="2720547" y="2796462"/>
            <a:ext cx="76542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 txBox="1"/>
          <p:nvPr/>
        </p:nvSpPr>
        <p:spPr>
          <a:xfrm>
            <a:off x="2560320" y="298094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φ 위도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938528" y="34381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λ 경도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630936" y="31455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적도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316736" y="28895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지구중심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978408" y="40599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그리니치 자오선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4041648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자오선 단면 — 위도 φ 는 어디서 재나 (편평률 과장)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 rot="270000">
            <a:off x="4498530" y="1836906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 rot="810000">
            <a:off x="4701976" y="1869128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 rot="1350000">
            <a:off x="4897878" y="1932781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 rot="1890000">
            <a:off x="5081410" y="2026295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 rot="2430000">
            <a:off x="5248054" y="2147369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 rot="2970000">
            <a:off x="5393705" y="2293021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 rot="3510000">
            <a:off x="5514779" y="2459664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 rot="4050000">
            <a:off x="5608293" y="2643196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 rot="4590000">
            <a:off x="5671946" y="2839098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 rot="5130000">
            <a:off x="5704168" y="3042545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 rot="5670000">
            <a:off x="5704168" y="3248527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 rot="6210000">
            <a:off x="5671946" y="3451974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 rot="6750000">
            <a:off x="5608293" y="3647876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 rot="7290000">
            <a:off x="5514779" y="3831408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 rot="7830000">
            <a:off x="5393705" y="3998051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 rot="8370000">
            <a:off x="5248054" y="4143703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 rot="8910000">
            <a:off x="5081410" y="4264777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 rot="9450000">
            <a:off x="4897878" y="4358291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 rot="9990000">
            <a:off x="4701976" y="4421944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51" name="Shape 49"/>
          <p:cNvSpPr/>
          <p:nvPr/>
        </p:nvSpPr>
        <p:spPr>
          <a:xfrm rot="10530000">
            <a:off x="4498530" y="4454166"/>
            <a:ext cx="20662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 rot="5400000">
            <a:off x="3182112" y="3145536"/>
            <a:ext cx="2633472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4498848" y="3145536"/>
            <a:ext cx="1773936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headEnd type="none"/>
            <a:tailEnd type="none"/>
          </a:ln>
        </p:spPr>
      </p:sp>
      <p:sp>
        <p:nvSpPr>
          <p:cNvPr id="54" name="Text 52"/>
          <p:cNvSpPr txBox="1"/>
          <p:nvPr/>
        </p:nvSpPr>
        <p:spPr>
          <a:xfrm>
            <a:off x="5870448" y="3127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적도면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 rot="-5400000">
            <a:off x="4343400" y="1746504"/>
            <a:ext cx="310896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3822192" y="15179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자전축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3803904" y="312724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O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385816" y="2194560"/>
            <a:ext cx="91440" cy="9144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59" name="Shape 57"/>
          <p:cNvSpPr/>
          <p:nvPr/>
        </p:nvSpPr>
        <p:spPr>
          <a:xfrm rot="-2648694">
            <a:off x="4315308" y="2692908"/>
            <a:ext cx="1299767" cy="0"/>
          </a:xfrm>
          <a:prstGeom prst="line">
            <a:avLst/>
          </a:prstGeom>
          <a:noFill/>
          <a:ln w="11430">
            <a:solidFill>
              <a:srgbClr val="888888"/>
            </a:solidFill>
            <a:prstDash val="dash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 rot="-3080412">
            <a:off x="4981423" y="2221992"/>
            <a:ext cx="936803" cy="0"/>
          </a:xfrm>
          <a:prstGeom prst="line">
            <a:avLst/>
          </a:prstGeom>
          <a:noFill/>
          <a:ln w="13970">
            <a:solidFill>
              <a:srgbClr val="333333"/>
            </a:solidFill>
            <a:prstDash val="solid"/>
            <a:headEnd type="none"/>
            <a:tailEnd type="triangle"/>
          </a:ln>
        </p:spPr>
      </p:sp>
      <p:sp>
        <p:nvSpPr>
          <p:cNvPr id="61" name="Text 59"/>
          <p:cNvSpPr txBox="1"/>
          <p:nvPr/>
        </p:nvSpPr>
        <p:spPr>
          <a:xfrm>
            <a:off x="5522976" y="16916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수직선 (타원체 면에 수직)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 rot="7304915">
            <a:off x="4257219" y="2683764"/>
            <a:ext cx="1946298" cy="0"/>
          </a:xfrm>
          <a:prstGeom prst="line">
            <a:avLst/>
          </a:prstGeom>
          <a:noFill/>
          <a:ln w="10795">
            <a:solidFill>
              <a:srgbClr val="888888"/>
            </a:solidFill>
            <a:prstDash val="sysDot"/>
            <a:headEnd type="none"/>
            <a:tailEnd type="none"/>
          </a:ln>
        </p:spPr>
      </p:sp>
      <p:sp>
        <p:nvSpPr>
          <p:cNvPr id="63" name="Shape 61"/>
          <p:cNvSpPr/>
          <p:nvPr/>
        </p:nvSpPr>
        <p:spPr>
          <a:xfrm rot="2815000">
            <a:off x="5020216" y="3199730"/>
            <a:ext cx="62459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64" name="Shape 62"/>
          <p:cNvSpPr/>
          <p:nvPr/>
        </p:nvSpPr>
        <p:spPr>
          <a:xfrm rot="3285000">
            <a:off x="5059571" y="3248042"/>
            <a:ext cx="62459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 rot="3755000">
            <a:off x="5091975" y="3301266"/>
            <a:ext cx="62459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66" name="Shape 64"/>
          <p:cNvSpPr/>
          <p:nvPr/>
        </p:nvSpPr>
        <p:spPr>
          <a:xfrm rot="4225000">
            <a:off x="5116822" y="3358411"/>
            <a:ext cx="62459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67" name="Shape 65"/>
          <p:cNvSpPr/>
          <p:nvPr/>
        </p:nvSpPr>
        <p:spPr>
          <a:xfrm rot="4695000">
            <a:off x="5133649" y="3418408"/>
            <a:ext cx="62459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 rot="5165000">
            <a:off x="5142142" y="3480140"/>
            <a:ext cx="62459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headEnd type="none"/>
            <a:tailEnd type="none"/>
          </a:ln>
        </p:spPr>
      </p:sp>
      <p:sp>
        <p:nvSpPr>
          <p:cNvPr id="69" name="Text 67"/>
          <p:cNvSpPr txBox="1"/>
          <p:nvPr/>
        </p:nvSpPr>
        <p:spPr>
          <a:xfrm>
            <a:off x="5193792" y="334670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φ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677156" y="3470148"/>
            <a:ext cx="82296" cy="82296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3749039" y="37307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  ·  OG = e² · RN · sinφ</a:t>
            </a:r>
            <a:endParaRPr lang="en-US" sz="700" dirty="0"/>
          </a:p>
        </p:txBody>
      </p:sp>
      <p:sp>
        <p:nvSpPr>
          <p:cNvPr id="72" name="Text 70"/>
          <p:cNvSpPr txBox="1"/>
          <p:nvPr/>
        </p:nvSpPr>
        <p:spPr>
          <a:xfrm>
            <a:off x="4864608" y="29443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수선의 발</a:t>
            </a:r>
            <a:endParaRPr lang="en-US" sz="650" dirty="0"/>
          </a:p>
        </p:txBody>
      </p:sp>
      <p:sp>
        <p:nvSpPr>
          <p:cNvPr id="73" name="Text 71"/>
          <p:cNvSpPr txBox="1"/>
          <p:nvPr/>
        </p:nvSpPr>
        <p:spPr>
          <a:xfrm>
            <a:off x="3803904" y="44988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φ 측지위도 = 적도면 ~ 수직선.  지도 · GPS · 이 자료의 위도가 이것</a:t>
            </a:r>
            <a:endParaRPr lang="en-US" sz="750" dirty="0"/>
          </a:p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φ' 지심위도 = 적도면 ~ 중심에서 그은 선.  다른 값 — 지도에서 안 쓴다</a:t>
            </a:r>
            <a:endParaRPr lang="en-US" sz="7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지구(편평 비율)는 거의 구라 φ − φ' 는 최대 0.19°, 경도 λ 는 영향 없음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7882128" y="1444752"/>
            <a:ext cx="3474720" cy="1481328"/>
          </a:xfrm>
          <a:prstGeom prst="roundRect">
            <a:avLst>
              <a:gd name="adj" fmla="val 3086"/>
            </a:avLst>
          </a:prstGeom>
          <a:solidFill>
            <a:srgbClr val="DCDCDC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8101584" y="1572768"/>
            <a:ext cx="30540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LLA — Latitude · Longitude · Altitude  (이번 과제 O)</a:t>
            </a:r>
            <a:endParaRPr lang="en-US" sz="1000" dirty="0"/>
          </a:p>
          <a:p>
            <a:pPr marL="0" indent="0" algn="l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φ 위도 = 적도면에서 잰 각 . 북 +, 남 − (−90° ~ +90°)</a:t>
            </a:r>
            <a:endParaRPr lang="en-US" sz="1000" dirty="0"/>
          </a:p>
          <a:p>
            <a:pPr marL="0" indent="0" algn="l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λ 경도 = 그리니치 자오선에서 동쪽으로 잰 각 (−180° ~ +180°)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 고도 = 타원체 면에서 수직으로 잰 높이 . 지도 · 해도 · GPS 가 쓰는 좌표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7882128" y="3108960"/>
            <a:ext cx="3474720" cy="1536192"/>
          </a:xfrm>
          <a:prstGeom prst="roundRect">
            <a:avLst>
              <a:gd name="adj" fmla="val 2976"/>
            </a:avLst>
          </a:prstGeom>
          <a:solidFill>
            <a:srgbClr val="DCDCDC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8101584" y="3255264"/>
            <a:ext cx="30540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WGS-84 — 지구 모형과 상수</a:t>
            </a:r>
            <a:endParaRPr lang="en-US" sz="1200" dirty="0"/>
          </a:p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지구를 적도 반지름 a · 극 반지름 b 의 타원체로 본 세계 표준 모형</a:t>
            </a:r>
            <a:endParaRPr lang="en-US" sz="1200" dirty="0"/>
          </a:p>
          <a:p>
            <a:pPr marL="0" indent="0" algn="l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= 6,378,137.0 m ,   b = 6,356,752.3 m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1/f = 298.257223563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e² = 1 − b²/a² = 0.00669438   (RN 에 들어가는 상수)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914400" y="47000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 공식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914400" y="4919472"/>
            <a:ext cx="10360152" cy="1042415"/>
          </a:xfrm>
          <a:prstGeom prst="roundRect">
            <a:avLst>
              <a:gd name="adj" fmla="val 4717"/>
            </a:avLst>
          </a:prstGeom>
          <a:solidFill>
            <a:srgbClr val="DCDCDC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1097280" y="51023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LLA → ECEF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432304" y="4992624"/>
            <a:ext cx="100584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2432304" y="49926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LLA (φ, λ, h)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456432" y="5111496"/>
            <a:ext cx="146304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3639312" y="4974336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3639312" y="4974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RN = a / √(1 − e² sin²φ)</a:t>
            </a:r>
            <a:endParaRPr lang="en-US" sz="750" dirty="0"/>
          </a:p>
        </p:txBody>
      </p:sp>
      <p:sp>
        <p:nvSpPr>
          <p:cNvPr id="86" name="Text 84"/>
          <p:cNvSpPr txBox="1"/>
          <p:nvPr/>
        </p:nvSpPr>
        <p:spPr>
          <a:xfrm>
            <a:off x="3639312" y="52669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위도의 곡률반경</a:t>
            </a:r>
            <a:endParaRPr lang="en-US" sz="600" dirty="0"/>
          </a:p>
        </p:txBody>
      </p:sp>
      <p:sp>
        <p:nvSpPr>
          <p:cNvPr id="87" name="Shape 85"/>
          <p:cNvSpPr/>
          <p:nvPr/>
        </p:nvSpPr>
        <p:spPr>
          <a:xfrm>
            <a:off x="5559552" y="5111496"/>
            <a:ext cx="146304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5742432" y="4937760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5742432" y="4937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90" name="Text 88"/>
          <p:cNvSpPr txBox="1"/>
          <p:nvPr/>
        </p:nvSpPr>
        <p:spPr>
          <a:xfrm>
            <a:off x="5779008" y="496519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6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= (RN + h)cosφcosλ</a:t>
            </a:r>
            <a:endParaRPr lang="en-US" sz="650" dirty="0"/>
          </a:p>
          <a:p>
            <a:pPr marL="0" indent="0" algn="ctr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6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 = (RN + h)cosφsinλ</a:t>
            </a:r>
            <a:endParaRPr lang="en-US" sz="6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6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 = (RN(1 − e²) + h)sinφ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8302752" y="5111496"/>
            <a:ext cx="146304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8485632" y="4992624"/>
            <a:ext cx="1133856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8485632" y="4992624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ECEF (X, Y, Z)</a:t>
            </a:r>
            <a:endParaRPr lang="en-US" sz="800" dirty="0"/>
          </a:p>
        </p:txBody>
      </p:sp>
      <p:sp>
        <p:nvSpPr>
          <p:cNvPr id="94" name="Text 92"/>
          <p:cNvSpPr txBox="1"/>
          <p:nvPr/>
        </p:nvSpPr>
        <p:spPr>
          <a:xfrm>
            <a:off x="8485632" y="525780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넣으면 바로 나온다</a:t>
            </a:r>
            <a:endParaRPr lang="en-US" sz="600" dirty="0"/>
          </a:p>
        </p:txBody>
      </p:sp>
      <p:sp>
        <p:nvSpPr>
          <p:cNvPr id="95" name="Text 93"/>
          <p:cNvSpPr txBox="1"/>
          <p:nvPr/>
        </p:nvSpPr>
        <p:spPr>
          <a:xfrm>
            <a:off x="1097280" y="55778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ECEF → LLA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2432304" y="5468112"/>
            <a:ext cx="100584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2432304" y="54681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ECEF (X, Y, Z)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3456432" y="5586984"/>
            <a:ext cx="146304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99" name="Shape 97"/>
          <p:cNvSpPr/>
          <p:nvPr/>
        </p:nvSpPr>
        <p:spPr>
          <a:xfrm>
            <a:off x="3639312" y="5468112"/>
            <a:ext cx="969264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3639312" y="5468112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= √(X² + Y²)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4626864" y="5586984"/>
            <a:ext cx="128016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102" name="Shape 100"/>
          <p:cNvSpPr/>
          <p:nvPr/>
        </p:nvSpPr>
        <p:spPr>
          <a:xfrm>
            <a:off x="4773168" y="5468112"/>
            <a:ext cx="109728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4773168" y="54681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φ₀ = arctan(Z / p)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5888736" y="5586984"/>
            <a:ext cx="128016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105" name="Shape 103"/>
          <p:cNvSpPr/>
          <p:nvPr/>
        </p:nvSpPr>
        <p:spPr>
          <a:xfrm>
            <a:off x="6035040" y="5468112"/>
            <a:ext cx="1700784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6035040" y="5468112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tan φ = (Z + e²RN sinφ) / p  →  φ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7754112" y="5586984"/>
            <a:ext cx="128016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108" name="Shape 106"/>
          <p:cNvSpPr/>
          <p:nvPr/>
        </p:nvSpPr>
        <p:spPr>
          <a:xfrm>
            <a:off x="7900416" y="5468112"/>
            <a:ext cx="118872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7900416" y="54681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 = p / cosφ − RN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9107424" y="5586984"/>
            <a:ext cx="128016" cy="0"/>
          </a:xfrm>
          <a:prstGeom prst="line">
            <a:avLst/>
          </a:prstGeom>
          <a:noFill/>
          <a:ln w="16510">
            <a:solidFill>
              <a:srgbClr val="3A3A3A"/>
            </a:solidFill>
            <a:prstDash val="solid"/>
            <a:headEnd type="none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9253728" y="5468112"/>
            <a:ext cx="100584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1430">
            <a:solidFill>
              <a:srgbClr val="4C4C4C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9253728" y="54681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LLA (φ, λ, h)</a:t>
            </a:r>
            <a:endParaRPr lang="en-US" sz="750" dirty="0"/>
          </a:p>
        </p:txBody>
      </p:sp>
      <p:sp>
        <p:nvSpPr>
          <p:cNvPr id="113" name="Text 111"/>
          <p:cNvSpPr txBox="1"/>
          <p:nvPr/>
        </p:nvSpPr>
        <p:spPr>
          <a:xfrm>
            <a:off x="9253728" y="57424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λ = atan2(Y, X) — 바로 나온다</a:t>
            </a:r>
            <a:endParaRPr lang="en-US" sz="600" dirty="0"/>
          </a:p>
        </p:txBody>
      </p:sp>
      <p:sp>
        <p:nvSpPr>
          <p:cNvPr id="114" name="Text 112"/>
          <p:cNvSpPr txBox="1"/>
          <p:nvPr/>
        </p:nvSpPr>
        <p:spPr>
          <a:xfrm>
            <a:off x="5760720" y="57424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 값과 다르면 다시 넣는다 (보통 3 ~ 4 번)</a:t>
            </a:r>
            <a:endParaRPr lang="en-US" sz="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변환 체인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" y="1335024"/>
            <a:ext cx="50292" cy="27432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1298448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회전은 설치 방위와 INS 자세가, 이동은 레버암과 INS 위치가 공급한다 — 그대로 오차의 출처 목록이 된다.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14400" y="1792224"/>
            <a:ext cx="4224528" cy="512064"/>
          </a:xfrm>
          <a:prstGeom prst="roundRect">
            <a:avLst>
              <a:gd name="adj" fmla="val 8929"/>
            </a:avLst>
          </a:prstGeom>
          <a:solidFill>
            <a:srgbClr val="DCDCD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33856" y="1865376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신호처리 출력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R, Az, El (안테나 극좌표)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 rot="10800000">
            <a:off x="2926080" y="2345436"/>
            <a:ext cx="201168" cy="118872"/>
          </a:xfrm>
          <a:prstGeom prst="triangle">
            <a:avLst/>
          </a:prstGeom>
          <a:solidFill>
            <a:srgbClr val="9A9A9A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2505456"/>
            <a:ext cx="4224528" cy="512064"/>
          </a:xfrm>
          <a:prstGeom prst="roundRect">
            <a:avLst>
              <a:gd name="adj" fmla="val 8929"/>
            </a:avLst>
          </a:prstGeom>
          <a:solidFill>
            <a:srgbClr val="DCDCD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33856" y="257860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안테나 좌표계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Polar → Cartesian → (UV)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 rot="10800000">
            <a:off x="2926080" y="3058668"/>
            <a:ext cx="201168" cy="118872"/>
          </a:xfrm>
          <a:prstGeom prst="triangle">
            <a:avLst/>
          </a:prstGeom>
          <a:solidFill>
            <a:srgbClr val="9A9A9A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3218688"/>
            <a:ext cx="4224528" cy="512064"/>
          </a:xfrm>
          <a:prstGeom prst="roundRect">
            <a:avLst>
              <a:gd name="adj" fmla="val 8929"/>
            </a:avLst>
          </a:prstGeom>
          <a:solidFill>
            <a:srgbClr val="DCDCD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33856" y="3291840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동체(Body) 좌표계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x=선수  y=우현  z=아래 (FRD)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 rot="10800000">
            <a:off x="2926080" y="3771900"/>
            <a:ext cx="201168" cy="118872"/>
          </a:xfrm>
          <a:prstGeom prst="triangle">
            <a:avLst/>
          </a:prstGeom>
          <a:solidFill>
            <a:srgbClr val="9A9A9A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3931920"/>
            <a:ext cx="4224528" cy="512064"/>
          </a:xfrm>
          <a:prstGeom prst="roundRect">
            <a:avLst>
              <a:gd name="adj" fmla="val 8929"/>
            </a:avLst>
          </a:prstGeom>
          <a:solidFill>
            <a:srgbClr val="DCDCD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33856" y="4005072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로컬(NED) 좌표계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x=북  y=동  z=아래   데이터처리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 rot="10800000">
            <a:off x="2926080" y="4485132"/>
            <a:ext cx="201168" cy="118872"/>
          </a:xfrm>
          <a:prstGeom prst="triangle">
            <a:avLst/>
          </a:prstGeom>
          <a:solidFill>
            <a:srgbClr val="9A9A9A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4645152"/>
            <a:ext cx="4224528" cy="512064"/>
          </a:xfrm>
          <a:prstGeom prst="roundRect">
            <a:avLst>
              <a:gd name="adj" fmla="val 8929"/>
            </a:avLst>
          </a:prstGeom>
          <a:solidFill>
            <a:srgbClr val="DCDCD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133856" y="4718304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ECEF 좌표계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지구중심 지구고정 직교좌표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 rot="10800000">
            <a:off x="2926080" y="5198364"/>
            <a:ext cx="201168" cy="118872"/>
          </a:xfrm>
          <a:prstGeom prst="triangle">
            <a:avLst/>
          </a:prstGeom>
          <a:solidFill>
            <a:srgbClr val="9A9A9A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" y="5358384"/>
            <a:ext cx="4224528" cy="512064"/>
          </a:xfrm>
          <a:prstGeom prst="roundRect">
            <a:avLst>
              <a:gd name="adj" fmla="val 8929"/>
            </a:avLst>
          </a:prstGeom>
          <a:solidFill>
            <a:srgbClr val="DCDCD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133856" y="5431536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LLA 좌표계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위도  경도  고도 → 전시기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541264" y="2048256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극좌표를 x, y, z 세 성분으로 분해</a:t>
            </a:r>
            <a:endParaRPr lang="en-US" sz="12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표현만 바꿀 뿐 · 회전도 이동도 없음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541264" y="2761488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p동체 = Rz(설치방위) · Ry(백틸트) · A · p안테나  +  레버암</a:t>
            </a:r>
            <a:endParaRPr lang="en-US" sz="12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회전+이동   설치 도면이 공급 · 고정형이라 상수 · A 는 축 맞춤 상수 행렬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541264" y="347472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C_ned ← body = Rz(yaw)  ·  Ry(pitch)  ·  Rx(roll)</a:t>
            </a:r>
            <a:endParaRPr lang="en-US" sz="12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   INS 자세가 공급 · 매 순간 변함 · 벡터에 가까운 Rx(roll) 부터 적용된다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541264" y="4187952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p_ECEF = C_ecef←ned(위도, 경도) · p_NED  +  배의 ECEF 위치</a:t>
            </a:r>
            <a:endParaRPr lang="en-US" sz="12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회전+이동   INS 위치가 공급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541264" y="4901184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위도  ·  고도 반복 계산  (값이 안 변할 때까지)</a:t>
            </a:r>
            <a:endParaRPr lang="en-US" sz="12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WGS-84 타원체  직교좌표 → 위경도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24528" cy="685800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32888" y="5669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64408" y="749808"/>
            <a:ext cx="96012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4224528" y="749808"/>
            <a:ext cx="7400239" cy="0"/>
          </a:xfrm>
          <a:prstGeom prst="line">
            <a:avLst/>
          </a:prstGeom>
          <a:noFill/>
          <a:ln w="11430">
            <a:solidFill>
              <a:srgbClr val="3A3A3A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 txBox="1"/>
          <p:nvPr/>
        </p:nvSpPr>
        <p:spPr>
          <a:xfrm>
            <a:off x="274320" y="3017520"/>
            <a:ext cx="3675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실전 설계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4224528" y="6419088"/>
            <a:ext cx="79671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001768" y="17830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797296" y="178308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조건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001768" y="26517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797296" y="26517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좌표계 선정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001768" y="3520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5797296" y="352044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변환 – 안테나 → 동체 → 로컬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001768" y="43891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5797296" y="438912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변환 – 로컬 → ECEF → 위경도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001768" y="52578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5797296" y="525780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역변환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설계 조건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" y="1335024"/>
            <a:ext cx="50292" cy="27432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1298448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주어진 조건 여섯 가지와, 그것이 설계를 어떻게 묶는가</a:t>
            </a:r>
            <a:endParaRPr lang="en-US" sz="14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773936"/>
          <a:ext cx="10360152" cy="3621024"/>
        </p:xfrm>
        <a:graphic>
          <a:graphicData uri="http://schemas.openxmlformats.org/drawingml/2006/table">
            <a:tbl>
              <a:tblPr/>
              <a:tblGrid>
                <a:gridCol w="1737360"/>
                <a:gridCol w="4160520"/>
                <a:gridCol w="4462272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7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7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설계에 미치는 영향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747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플랫폼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해상 함선, 고정형 안테나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안테나 → 동체 변환이 상수.  배의 흔들림은 INS 자세로 보상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안테나 설치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선수 기준 시계방향 90°, 무게중심에서 30m 뒤 / 10m 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설치 방위 90°, 백틸트 0°, 레버암 (−30, 0, −10) m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INS 설치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무게중심과 축 일치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INS 값 (자세 · 위치)을 보정 없이 그대로 동체 값으로 쓴다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입력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안테나 기준 거리 · 방위각 · 고각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체인의 출발점 = 안테나 극좌표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처리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로컬 좌표계에서 수행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체인의 중간 목적지 = 로컬 수평 좌표계(NED)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⑥ 출력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 / 경 / 고도 + 안테나 극좌표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정변환뿐 아니라 역변환도 필요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단계별 좌표계 선정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" y="1335024"/>
            <a:ext cx="50292" cy="27432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1298448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단계, 각 단계에서 왜 그 좌표계를 쓰는가</a:t>
            </a:r>
            <a:endParaRPr lang="en-US" sz="14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773936"/>
          <a:ext cx="10360152" cy="3255264"/>
        </p:xfrm>
        <a:graphic>
          <a:graphicData uri="http://schemas.openxmlformats.org/drawingml/2006/table">
            <a:tbl>
              <a:tblPr/>
              <a:tblGrid>
                <a:gridCol w="1005840"/>
                <a:gridCol w="2377440"/>
                <a:gridCol w="6976872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7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좌표계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7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왜 이것인가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747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안테나 – 극좌표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레이다가 물리적으로 잴 수 있는 것이 거리와 두 각도뿐이다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안테나 – 직교좌표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회전행렬은 벡터에만 곱할 수 있다.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동체(Body)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안테나 · INS · 무장이 만나는 유일한 공통 기준.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로컬(NED)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배와 함께 가되 흔들리지는 않아 표적의 실제 움직임만 남는다 → 여기서 추적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NED 인 이유: 동체 FRD 와 축 의미가 같다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ECEF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 위치를 더하려면 지구에 고정된 직교좌표가 필요 – 로컬과 위경도의 다리 역할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LLA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전시기 · 통제제어가 지도 위에 표시하는 형식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7000" marR="1270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914400" y="5212080"/>
            <a:ext cx="2487168" cy="676656"/>
          </a:xfrm>
          <a:prstGeom prst="roundRect">
            <a:avLst>
              <a:gd name="adj" fmla="val 6757"/>
            </a:avLst>
          </a:prstGeom>
          <a:solidFill>
            <a:srgbClr val="DCDCD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15568" y="5285232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무게중심에 축을 맞춰 설치.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547872" y="5212080"/>
            <a:ext cx="2487168" cy="676656"/>
          </a:xfrm>
          <a:prstGeom prst="roundRect">
            <a:avLst>
              <a:gd name="adj" fmla="val 6757"/>
            </a:avLst>
          </a:prstGeom>
          <a:solidFill>
            <a:srgbClr val="DCDCD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749040" y="5285232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UV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방향만 있고 거리가 없다.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81344" y="5212080"/>
            <a:ext cx="2487168" cy="676656"/>
          </a:xfrm>
          <a:prstGeom prst="roundRect">
            <a:avLst>
              <a:gd name="adj" fmla="val 6757"/>
            </a:avLst>
          </a:prstGeom>
          <a:solidFill>
            <a:srgbClr val="DCDCD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382512" y="5285232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ECI</a:t>
            </a:r>
            <a:endParaRPr lang="en-US" sz="1200" dirty="0"/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관성 동역학 전파가 필요할 때만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(위성 · 탄도탄)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814816" y="5212080"/>
            <a:ext cx="2487168" cy="676656"/>
          </a:xfrm>
          <a:prstGeom prst="roundRect">
            <a:avLst>
              <a:gd name="adj" fmla="val 6757"/>
            </a:avLst>
          </a:prstGeom>
          <a:solidFill>
            <a:srgbClr val="DCDCD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015984" y="5285232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ENU</a:t>
            </a:r>
            <a:endParaRPr lang="en-US" sz="1200" dirty="0"/>
          </a:p>
          <a:p>
            <a:pPr marL="0" indent="0"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NED 와 정보량이 같다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동체 FRD 와 축 의미가 다름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단계별 변환    안테나 → 동체 → 로컬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1316736"/>
            <a:ext cx="2212848" cy="129844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60704" y="1463040"/>
            <a:ext cx="1920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안테나 극좌표</a:t>
            </a:r>
            <a:endParaRPr lang="en-US" sz="1400" dirty="0"/>
          </a:p>
          <a:p>
            <a:pPr marL="0" indent="0" algn="ctr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직교 좌표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D8D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 변경 (회전 · 이동 없음)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1316736"/>
            <a:ext cx="7982712" cy="1298448"/>
          </a:xfrm>
          <a:prstGeom prst="roundRect">
            <a:avLst>
              <a:gd name="adj" fmla="val 3521"/>
            </a:avLst>
          </a:prstGeom>
          <a:solidFill>
            <a:srgbClr val="E7E7E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47872" y="1444752"/>
            <a:ext cx="74980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= R cos El sin Az = 20,000 × cos 0° × sin 30° = +10,000.00 m</a:t>
            </a:r>
            <a:endParaRPr lang="en-US" sz="1200" dirty="0"/>
          </a:p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 = R sin El = 20,000 × sin 0° = 0.00 m</a:t>
            </a:r>
            <a:endParaRPr lang="en-US" sz="1200" dirty="0"/>
          </a:p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 = R cos El cos Az = 20,000 × cos 0° × cos 30° = +17,320.51 m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p 안테나 = ( +10,000.00, 0.00, +17,320.51 ) 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779776"/>
            <a:ext cx="2212848" cy="146304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60704" y="292608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안테나 → 동체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D8D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 + 평행이동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91840" y="2779776"/>
            <a:ext cx="7982712" cy="1463040"/>
          </a:xfrm>
          <a:prstGeom prst="roundRect">
            <a:avLst>
              <a:gd name="adj" fmla="val 3125"/>
            </a:avLst>
          </a:prstGeom>
          <a:solidFill>
            <a:srgbClr val="E7E7E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47872" y="292608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동체 = Rz(90°)·Ry(0°)·A·p 안테나 + 레버암     ( A = Rz(−90°)·Rx(−90°) 축 맞춤,   아래 3×3 = Rz(90°)·Ry(0°)·A 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32186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1   0   0 ]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828032" y="321868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+10,000.00 ]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272784" y="321868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+10,000.00 ]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7717536" y="3218688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−30 ]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631936" y="321868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+9,970.00 ]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34198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0   0   1 ]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828032" y="341985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     0.00 ]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272784" y="341985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+17,320.51 ]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7717536" y="3419856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 0 ]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8631936" y="341985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+17,320.51 ]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3566160" y="36210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0  −1   0 ]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4828032" y="362102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+17,320.51 ]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6272784" y="362102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     0.00 ]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7717536" y="362102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−10 ]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8631936" y="362102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   −10.00 ]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4672584" y="341985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135624" y="341985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580376" y="341985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513064" y="341985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3547872" y="39867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p 동체 = ( +9,970.00, +17,320.51, −10.00 ) 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14400" y="4407408"/>
            <a:ext cx="2212848" cy="146304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60704" y="4553712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동체 → 로컬 (NED)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dirty="0">
                <a:solidFill>
                  <a:srgbClr val="D8D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회전만 (원점이 같음)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291840" y="4407408"/>
            <a:ext cx="7982712" cy="1463040"/>
          </a:xfrm>
          <a:prstGeom prst="roundRect">
            <a:avLst>
              <a:gd name="adj" fmla="val 3125"/>
            </a:avLst>
          </a:prstGeom>
          <a:solidFill>
            <a:srgbClr val="E7E7E7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547872" y="453542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pNED = Rz(45°)·Ry(0°)·Rx(0°)·p 동체 = Rz(45°)·p 동체 (cos 45° = sin 45° = 0.7071)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3566160" y="48280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cos 45°  −sin 45°   0 ]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5394960" y="482803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+9,970.00 ]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6839712" y="482803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−5,197.59 ]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3566160" y="50292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sin 45°   cos 45°   0 ]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5394960" y="502920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+17,320.51 ]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6839712" y="502920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+19,297.30 ]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3566160" y="52303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  0         0      1 ]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5394960" y="523036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   −10.00 ]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6839712" y="523036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   −10.00 ]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5321808" y="5029200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6711696" y="5029200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8321040" y="4809744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 = cos45°·(+9,970.00) − sin45°·17,320.51</a:t>
            </a:r>
            <a:endParaRPr lang="en-US" sz="850" dirty="0"/>
          </a:p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 = sin45°·(+9,970.00) + cos45°·17,320.51</a:t>
            </a:r>
            <a:endParaRPr lang="en-US" sz="850" dirty="0"/>
          </a:p>
          <a:p>
            <a:pPr marL="0" indent="0"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 = −10.00 (z 그대로)</a:t>
            </a:r>
            <a:endParaRPr lang="en-US" sz="8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방위 = atan2(E, N) = 105.074°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3547872" y="559612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pNED = ( −5,197.59, +19,297.30, −10.00 ) m, 방위 105.074°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단계별 변환    로컬 → ECEF → 위경도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1335024"/>
            <a:ext cx="2212848" cy="212140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60704" y="215798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로컬 → ECEF</a:t>
            </a:r>
            <a:endParaRPr lang="en-US" sz="15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D8D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 + 평행이동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91840" y="1335024"/>
            <a:ext cx="7982712" cy="2121408"/>
          </a:xfrm>
          <a:prstGeom prst="roundRect">
            <a:avLst>
              <a:gd name="adj" fmla="val 2155"/>
            </a:avLst>
          </a:prstGeom>
          <a:solidFill>
            <a:srgbClr val="E7E7E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11296" y="1444752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RN = a / √(1 − e² sin²φ) = 6,378,137 / √(1 − 0.00669438 × 0.5935313²) = 6,385,671.08 m</a:t>
            </a:r>
            <a:endParaRPr lang="en-US" sz="1000" dirty="0"/>
          </a:p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배 = ( (RN+h) cosφ cosλ, (RN+h) cosφ sinλ, (RN(1−e²)+h) sinφ )  (φ = 36.408°, λ = 127.307°, h = 0)</a:t>
            </a:r>
            <a:endParaRPr lang="en-US" sz="1000" dirty="0"/>
          </a:p>
          <a:p>
            <a:pPr marL="0" indent="0"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= ( −3,114,830.11, +4,087,762.85, +3,764,723.10 ) m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Cecef←ned = Rz(λ)·Ry(−90° − φ)   (sinφ = 0.5935, cosφ = 0.8048, sinλ = 0.7954, cosλ = −0.6061)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511296" y="24323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−sinφ cosλ   −sinλ   −cosφ cosλ ]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961888" y="2432304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0.3597   −0.7954    0.4878 ]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174736" y="24323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−5,197.59 ]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9473184" y="24323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−17,223.68 ]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3511296" y="2651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−sinφ sinλ    cosλ   −cosφ sinλ ]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5961888" y="265176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−0.4721   −0.6061   −0.6401 ]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8174736" y="2651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+19,297.30 ]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9473184" y="2651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−9,235.66 ]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3511296" y="28712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     cosφ       0        −sinφ ]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5961888" y="2871216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0.8048         0   −0.5935 ]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174736" y="28712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   −10.00 ]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9473184" y="28712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−4,177.15 ]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5815584" y="2651760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2651760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345168" y="2651760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511296" y="318211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P 표적 = P 배 + C · pNED = (  −3,132,053.79,   +4,078,527.19,   +3,760,545.95 ) 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4400" y="3602736"/>
            <a:ext cx="2212848" cy="1883664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60704" y="4297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ECEF → LLA</a:t>
            </a:r>
            <a:endParaRPr lang="en-US" sz="15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D8D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위도 · 고도 반복 계산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291840" y="3602736"/>
            <a:ext cx="7982712" cy="1883664"/>
          </a:xfrm>
          <a:prstGeom prst="roundRect">
            <a:avLst>
              <a:gd name="adj" fmla="val 2427"/>
            </a:avLst>
          </a:prstGeom>
          <a:solidFill>
            <a:srgbClr val="E7E7E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11296" y="3730752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경도 λ = atan2(Y, X) = atan2( +4,078,527.19,  −3,132,053.79 ) = 127.522008°      ( X &lt; 0, Y &gt; 0 → 2 사분면 )</a:t>
            </a:r>
            <a:endParaRPr lang="en-US" sz="1000" dirty="0"/>
          </a:p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위도 φ : p = √(X² + Y²) = 5,142,387.09 m,     φ0 = arctan(Z / p) = 36.177411°      ( 지구를 구로 본 첫 값 )</a:t>
            </a:r>
            <a:endParaRPr lang="en-US" sz="1000" dirty="0"/>
          </a:p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tan φ = ( Z + e² RN sinφ ) / p   에 φ0 를 넣고 되풀이 :</a:t>
            </a:r>
            <a:endParaRPr lang="en-US" sz="1000" dirty="0"/>
          </a:p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φ1 = 36.360167°  →  φ2 = 36.360964°  →  φ3 = 36.360967°  →  φ4 = 36.360967176°      ( 변화 &lt; 1e-7°, 멈춤 )</a:t>
            </a:r>
            <a:endParaRPr lang="en-US" sz="1000" dirty="0"/>
          </a:p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고도 h = p / cosφ − RN = 6,385,695.57 − 6,385,654.29 = 41.2824 m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표적 LLA = ( 36.360967176°N, 127.522008441°E, 41.2824 m 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14400" y="5614416"/>
            <a:ext cx="10360152" cy="0"/>
          </a:xfrm>
          <a:prstGeom prst="line">
            <a:avLst/>
          </a:prstGeom>
          <a:noFill/>
          <a:ln w="11430">
            <a:solidFill>
              <a:srgbClr val="A8A8A8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 txBox="1"/>
          <p:nvPr/>
        </p:nvSpPr>
        <p:spPr>
          <a:xfrm>
            <a:off x="914400" y="5632704"/>
            <a:ext cx="10360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 LLA  =    36.360967176°N        127.522008441°E        고도 41.2824 m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14400" y="5943600"/>
            <a:ext cx="10360152" cy="0"/>
          </a:xfrm>
          <a:prstGeom prst="line">
            <a:avLst/>
          </a:prstGeom>
          <a:noFill/>
          <a:ln w="11430">
            <a:solidFill>
              <a:srgbClr val="A8A8A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역변환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1371600"/>
            <a:ext cx="10360152" cy="914400"/>
          </a:xfrm>
          <a:prstGeom prst="roundRect">
            <a:avLst>
              <a:gd name="adj" fmla="val 5000"/>
            </a:avLst>
          </a:prstGeom>
          <a:solidFill>
            <a:srgbClr val="DCDCD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1517904"/>
            <a:ext cx="99943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역변환은 새로울 게 없다</a:t>
            </a:r>
            <a:endParaRPr lang="en-US" sz="17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회전은 전치(transpose)          ② 평행이동은 빼기          ③ 순서는 거꾸로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2487168"/>
            <a:ext cx="10360152" cy="2340864"/>
          </a:xfrm>
          <a:prstGeom prst="roundRect">
            <a:avLst>
              <a:gd name="adj" fmla="val 1953"/>
            </a:avLst>
          </a:prstGeom>
          <a:solidFill>
            <a:srgbClr val="DCDCD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98448" y="283464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 LLA ( 36.360967176°N,   127.522008441°E,   41.2824 m 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31363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ECEF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9015984" y="31363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// 정변환과 같은 공식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34381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로컬 NED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035808" y="343814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C_ecef←ned^T × ( 표적 − 배 )  =  ( −5,197.59,  +19,297.30,  −10.00 ) m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9015984" y="34381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// 전치 + 빼기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37398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동체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035808" y="373989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C_ned←body^T × p_NED  =  ( +9,970.00,  +17,320.51,  −10.00 ) m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015984" y="3739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// 전치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298448" y="40416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안테나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035808" y="404164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C_body←ant^T × ( p동체 − 레버암 )  =  ( +10,000.00,  0.00,  +17,320.51 ) m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015984" y="40416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// 전치 + 빼기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298448" y="43434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극좌표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035808" y="434340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= √(x²+y²+z²),     Az = atan2(x, z),     El = atan2(y, √(x²+z²))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14400" y="5029200"/>
            <a:ext cx="10360152" cy="841248"/>
          </a:xfrm>
          <a:prstGeom prst="roundRect">
            <a:avLst>
              <a:gd name="adj" fmla="val 5435"/>
            </a:avLst>
          </a:prstGeom>
          <a:solidFill>
            <a:srgbClr val="DCDCD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5029200"/>
            <a:ext cx="10360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:  R = 20,000.000000 m          Az = 30.000000°          El = 0.000000°</a:t>
            </a:r>
            <a:endParaRPr lang="en-US" sz="1700" dirty="0"/>
          </a:p>
        </p:txBody>
      </p:sp>
      <p:sp>
        <p:nvSpPr>
          <p:cNvPr id="9001" name="Text 9001"/>
          <p:cNvSpPr txBox="1"/>
          <p:nvPr/>
        </p:nvSpPr>
        <p:spPr>
          <a:xfrm>
            <a:off x="3035808" y="313639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−3,132,053.79,  +4,078,527.19,  +3,760,545.95 ) m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4224528" cy="685800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32888" y="5669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64408" y="749808"/>
            <a:ext cx="96012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4224528" y="749808"/>
            <a:ext cx="7400239" cy="0"/>
          </a:xfrm>
          <a:prstGeom prst="line">
            <a:avLst/>
          </a:prstGeom>
          <a:noFill/>
          <a:ln w="11430">
            <a:solidFill>
              <a:srgbClr val="3A3A3A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 txBox="1"/>
          <p:nvPr/>
        </p:nvSpPr>
        <p:spPr>
          <a:xfrm>
            <a:off x="274320" y="3017520"/>
            <a:ext cx="3675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C언어로 구현</a:t>
            </a:r>
            <a:endParaRPr lang="en-US" sz="2900" dirty="0"/>
          </a:p>
        </p:txBody>
      </p:sp>
      <p:sp>
        <p:nvSpPr>
          <p:cNvPr id="8" name="Text 6"/>
          <p:cNvSpPr txBox="1"/>
          <p:nvPr/>
        </p:nvSpPr>
        <p:spPr>
          <a:xfrm>
            <a:off x="4224528" y="6419088"/>
            <a:ext cx="79671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001768" y="14813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797296" y="148132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자료구조와 코딩 규약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001768" y="21762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797296" y="217627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회전행렬 – 공식과 코드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001768" y="28712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5797296" y="287121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안테나 극좌표 → 직교 → 동체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001768" y="35661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5797296" y="35661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동체 → NED → ECEF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001768" y="426110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5797296" y="426110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ECEF ↔ LLA</a:t>
            </a:r>
            <a:endParaRPr lang="en-US" sz="1350" dirty="0"/>
          </a:p>
        </p:txBody>
      </p:sp>
      <p:sp>
        <p:nvSpPr>
          <p:cNvPr id="19" name="Copy 19"/>
          <p:cNvSpPr txBox="1"/>
          <p:nvPr/>
        </p:nvSpPr>
        <p:spPr>
          <a:xfrm>
            <a:off x="5001768" y="49560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100" dirty="0"/>
          </a:p>
        </p:txBody>
      </p:sp>
      <p:sp>
        <p:nvSpPr>
          <p:cNvPr id="20" name="Copy 20"/>
          <p:cNvSpPr txBox="1"/>
          <p:nvPr/>
        </p:nvSpPr>
        <p:spPr>
          <a:xfrm>
            <a:off x="5797296" y="495604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역변환</a:t>
            </a:r>
            <a:endParaRPr lang="en-US" sz="1350" dirty="0"/>
          </a:p>
        </p:txBody>
      </p:sp>
      <p:sp>
        <p:nvSpPr>
          <p:cNvPr id="21" name="Copy 21"/>
          <p:cNvSpPr txBox="1"/>
          <p:nvPr/>
        </p:nvSpPr>
        <p:spPr>
          <a:xfrm>
            <a:off x="5001768" y="56509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100" dirty="0"/>
          </a:p>
        </p:txBody>
      </p:sp>
      <p:sp>
        <p:nvSpPr>
          <p:cNvPr id="22" name="Copy 22"/>
          <p:cNvSpPr txBox="1"/>
          <p:nvPr/>
        </p:nvSpPr>
        <p:spPr>
          <a:xfrm>
            <a:off x="5797296" y="565099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결과와 UI 확인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자료구조와 코딩 규약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" y="1335024"/>
            <a:ext cx="50292" cy="27432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1298448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측정값 · 자세 · 설치처럼 뜻이 다른 값은 타입을 따로 뒀다. 다만 위치는 네 좌표계가 ST_Vec3 하나를 같이 쓴다.</a:t>
            </a:r>
            <a:endParaRPr lang="en-US" sz="1450" dirty="0"/>
          </a:p>
        </p:txBody>
      </p:sp>
      <p:sp>
        <p:nvSpPr>
          <p:cNvPr id="10" name="Rounded Rectangle 9"/>
          <p:cNvSpPr/>
          <p:nvPr/>
        </p:nvSpPr>
        <p:spPr>
          <a:xfrm>
            <a:off x="914400" y="1773936"/>
            <a:ext cx="6309360" cy="23957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1856231"/>
            <a:ext cx="6016752" cy="2249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50" b="0">
                <a:solidFill>
                  <a:srgbClr val="1A1A1A"/>
                </a:solidFill>
                <a:latin typeface="Consolas"/>
              </a:rPr>
              <a:t>typedef struct { FLOAT64 dX, dY, dZ; }              ST_Vec3;</a:t>
            </a:r>
          </a:p>
          <a:p>
            <a:pPr>
              <a:spcBef>
                <a:spcPts val="220"/>
              </a:spcBef>
            </a:pPr>
            <a:r>
              <a:rPr sz="950" b="0">
                <a:solidFill>
                  <a:srgbClr val="777777"/>
                </a:solidFill>
                <a:latin typeface="Consolas"/>
              </a:rPr>
              <a:t>        // 어느 좌표계든 3차원 위치 [m]</a:t>
            </a:r>
          </a:p>
          <a:p>
            <a:pPr>
              <a:spcBef>
                <a:spcPts val="220"/>
              </a:spcBef>
            </a:pPr>
            <a:r>
              <a:rPr sz="950" b="0">
                <a:solidFill>
                  <a:srgbClr val="1A1A1A"/>
                </a:solidFill>
                <a:latin typeface="Consolas"/>
              </a:rPr>
              <a:t>typedef struct { FLOAT64 dRange, dAz, dEl; }        ST_Polar;</a:t>
            </a:r>
          </a:p>
          <a:p>
            <a:pPr>
              <a:spcBef>
                <a:spcPts val="220"/>
              </a:spcBef>
            </a:pPr>
            <a:r>
              <a:rPr sz="950" b="0">
                <a:solidFill>
                  <a:srgbClr val="777777"/>
                </a:solidFill>
                <a:latin typeface="Consolas"/>
              </a:rPr>
              <a:t>        // 신호처리 측정값.  Az/El 은 [rad]</a:t>
            </a:r>
          </a:p>
          <a:p>
            <a:pPr>
              <a:spcBef>
                <a:spcPts val="220"/>
              </a:spcBef>
            </a:pPr>
            <a:r>
              <a:rPr sz="950" b="0">
                <a:solidFill>
                  <a:srgbClr val="1A1A1A"/>
                </a:solidFill>
                <a:latin typeface="Consolas"/>
              </a:rPr>
              <a:t>typedef struct { FLOAT64 dLat, dLon, dAlt; }        ST_Lla;</a:t>
            </a:r>
          </a:p>
          <a:p>
            <a:pPr>
              <a:spcBef>
                <a:spcPts val="220"/>
              </a:spcBef>
            </a:pPr>
            <a:r>
              <a:rPr sz="950" b="0">
                <a:solidFill>
                  <a:srgbClr val="777777"/>
                </a:solidFill>
                <a:latin typeface="Consolas"/>
              </a:rPr>
              <a:t>        // 위도·경도 [rad], 타원체고 [m]</a:t>
            </a:r>
          </a:p>
          <a:p>
            <a:pPr>
              <a:spcBef>
                <a:spcPts val="220"/>
              </a:spcBef>
            </a:pPr>
            <a:r>
              <a:rPr sz="950" b="0">
                <a:solidFill>
                  <a:srgbClr val="1A1A1A"/>
                </a:solidFill>
                <a:latin typeface="Consolas"/>
              </a:rPr>
              <a:t>typedef struct { FLOAT64 dRoll, dPitch, dYaw; }     ST_Attitude;</a:t>
            </a:r>
          </a:p>
          <a:p>
            <a:pPr>
              <a:spcBef>
                <a:spcPts val="220"/>
              </a:spcBef>
            </a:pPr>
            <a:r>
              <a:rPr sz="950" b="0">
                <a:solidFill>
                  <a:srgbClr val="777777"/>
                </a:solidFill>
                <a:latin typeface="Consolas"/>
              </a:rPr>
              <a:t>        // INS 자세 [rad]</a:t>
            </a:r>
          </a:p>
          <a:p>
            <a:pPr>
              <a:spcBef>
                <a:spcPts val="220"/>
              </a:spcBef>
            </a:pPr>
            <a:r>
              <a:rPr sz="950" b="0">
                <a:solidFill>
                  <a:srgbClr val="1A1A1A"/>
                </a:solidFill>
                <a:latin typeface="Consolas"/>
              </a:rPr>
              <a:t>typedef struct { FLOAT64 dAz, dTilt;</a:t>
            </a:r>
          </a:p>
          <a:p>
            <a:pPr>
              <a:spcBef>
                <a:spcPts val="220"/>
              </a:spcBef>
            </a:pPr>
            <a:r>
              <a:rPr sz="950" b="0">
                <a:solidFill>
                  <a:srgbClr val="1A1A1A"/>
                </a:solidFill>
                <a:latin typeface="Consolas"/>
              </a:rPr>
              <a:t>                 ST_Vec3 stOffset;   }              ST_Mount;</a:t>
            </a:r>
          </a:p>
          <a:p>
            <a:pPr>
              <a:spcBef>
                <a:spcPts val="220"/>
              </a:spcBef>
            </a:pPr>
            <a:r>
              <a:rPr sz="950" b="0">
                <a:solidFill>
                  <a:srgbClr val="777777"/>
                </a:solidFill>
                <a:latin typeface="Consolas"/>
              </a:rPr>
              <a:t>        // 설치 방위·백틸트 [rad] + 레버암 [m].  고정형이라 상수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79792" y="1773936"/>
            <a:ext cx="3794760" cy="1133856"/>
          </a:xfrm>
          <a:prstGeom prst="roundRect">
            <a:avLst>
              <a:gd name="adj" fmla="val 4000"/>
            </a:avLst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62671" y="1874519"/>
            <a:ext cx="342900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A1A1A"/>
                </a:solidFill>
                <a:latin typeface="맑은 고딕"/>
              </a:rPr>
              <a:t>단위는 경계에서만 바꾼다</a:t>
            </a:r>
          </a:p>
          <a:p>
            <a:pPr>
              <a:spcBef>
                <a:spcPts val="400"/>
              </a:spcBef>
            </a:pPr>
            <a:r>
              <a:rPr sz="900" b="0">
                <a:solidFill>
                  <a:srgbClr val="555555"/>
                </a:solidFill>
                <a:latin typeface="맑은 고딕"/>
              </a:rPr>
              <a:t>라이브러리 안은 전부 라디안 · m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555555"/>
                </a:solidFill>
                <a:latin typeface="맑은 고딕"/>
              </a:rPr>
              <a:t>DEG2RAD / RAD2DEG 는 main.c 와 UI 에서만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555555"/>
                </a:solidFill>
                <a:latin typeface="맑은 고딕"/>
              </a:rPr>
              <a:t>WGS84_A · WGS84_F · WGS84_E2 는 헤더 한 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9792" y="3017520"/>
            <a:ext cx="3794760" cy="1133856"/>
          </a:xfrm>
          <a:prstGeom prst="roundRect">
            <a:avLst>
              <a:gd name="adj" fmla="val 4000"/>
            </a:avLst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2671" y="3118103"/>
            <a:ext cx="342900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A1A1A"/>
                </a:solidFill>
                <a:latin typeface="맑은 고딕"/>
              </a:rPr>
              <a:t>전부 값 전달 · 값 반환</a:t>
            </a:r>
          </a:p>
          <a:p>
            <a:pPr>
              <a:spcBef>
                <a:spcPts val="400"/>
              </a:spcBef>
            </a:pPr>
            <a:r>
              <a:rPr sz="900" b="0">
                <a:solidFill>
                  <a:srgbClr val="555555"/>
                </a:solidFill>
                <a:latin typeface="맑은 고딕"/>
              </a:rPr>
              <a:t>const ST_Mount stMount 처럼 값으로 받고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555555"/>
                </a:solidFill>
                <a:latin typeface="맑은 고딕"/>
              </a:rPr>
              <a:t>구조체를 그대로 return — 포인터 · malloc ·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555555"/>
                </a:solidFill>
                <a:latin typeface="맑은 고딕"/>
              </a:rPr>
              <a:t>전역 상태가 없다 → 재진입 · 스레드 안전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297680"/>
            <a:ext cx="10360152" cy="1444752"/>
          </a:xfrm>
          <a:prstGeom prst="roundRect">
            <a:avLst>
              <a:gd name="adj" fmla="val 4000"/>
            </a:avLst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4389120"/>
            <a:ext cx="9921240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A1A1A"/>
                </a:solidFill>
                <a:latin typeface="맑은 고딕"/>
              </a:rPr>
              <a:t>이름 규칙 — 읽는 사람이 타입과 단위를 이름만 보고 안다</a:t>
            </a:r>
          </a:p>
          <a:p>
            <a:pPr>
              <a:spcBef>
                <a:spcPts val="400"/>
              </a:spcBef>
            </a:pPr>
            <a:r>
              <a:rPr sz="900" b="0">
                <a:solidFill>
                  <a:srgbClr val="555555"/>
                </a:solidFill>
                <a:latin typeface="맑은 고딕"/>
              </a:rPr>
              <a:t>ST_  구조체 타입     ·     f_  함수     ·     st  구조체 변수     ·     d  double 변수     ·     n / i  정수</a:t>
            </a:r>
          </a:p>
          <a:p>
            <a:pPr>
              <a:spcBef>
                <a:spcPts val="400"/>
              </a:spcBef>
            </a:pPr>
            <a:r>
              <a:rPr sz="900" b="0">
                <a:solidFill>
                  <a:srgbClr val="555555"/>
                </a:solidFill>
                <a:latin typeface="맑은 고딕"/>
              </a:rPr>
              <a:t>FLOAT64 · INT32 · CHAR · VOID 는 헤더에서 typedef. windows.h 를 먼저 include 하면 그쪽 정의를 그대로 쓰도록 #ifndef _WINDOWS_ 로 감쌌다.</a:t>
            </a:r>
          </a:p>
          <a:p>
            <a:pPr>
              <a:spcBef>
                <a:spcPts val="400"/>
              </a:spcBef>
            </a:pPr>
            <a:r>
              <a:rPr sz="900" b="0">
                <a:solidFill>
                  <a:srgbClr val="555555"/>
                </a:solidFill>
                <a:latin typeface="맑은 고딕"/>
              </a:rPr>
              <a:t>extern "C" 로 감싸 두어 C++ 인 MFC 쪽(CoordUIDlg.cpp)에서 헤더 하나만 include 하면 바로 호출된다.</a:t>
            </a:r>
          </a:p>
          <a:p>
            <a:pPr>
              <a:spcBef>
                <a:spcPts val="500"/>
              </a:spcBef>
            </a:pPr>
            <a:r>
              <a:rPr sz="900" b="0">
                <a:solidFill>
                  <a:srgbClr val="1A1A1A"/>
                </a:solidFill>
                <a:latin typeface="맑은 고딕"/>
              </a:rPr>
              <a:t>다만 좌표계는 타입이 아니라 함수 이름이 지킨다 — ST_Vec3 를 안테나 · 동체 · NED · ECEF 가 같이 쓰므로, 엉뚱한 좌표계를 넘겨도 컴파일러는 잡아 주지 않는다.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회전행렬 – 공식과 코드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" y="1335024"/>
            <a:ext cx="50292" cy="27432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1298448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공식의 3×3 을 그대로 배열 칸에 옮겨 담는다. 0 인 칸은 아예 건드리지 않는다.</a:t>
            </a:r>
            <a:endParaRPr lang="en-US" sz="1450" dirty="0"/>
          </a:p>
        </p:txBody>
      </p:sp>
      <p:sp>
        <p:nvSpPr>
          <p:cNvPr id="10" name="TextBox 9"/>
          <p:cNvSpPr txBox="1"/>
          <p:nvPr/>
        </p:nvSpPr>
        <p:spPr>
          <a:xfrm>
            <a:off x="914400" y="1773936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A1A1A"/>
                </a:solidFill>
                <a:latin typeface="맑은 고딕"/>
              </a:rPr>
              <a:t>공식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029968"/>
            <a:ext cx="4663440" cy="1536192"/>
          </a:xfrm>
          <a:prstGeom prst="roundRect">
            <a:avLst>
              <a:gd name="adj" fmla="val 4000"/>
            </a:avLst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rot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929" y="2157984"/>
            <a:ext cx="3788380" cy="1280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60720" y="1773936"/>
            <a:ext cx="55138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A1A1A"/>
                </a:solidFill>
                <a:latin typeface="맑은 고딕"/>
              </a:rPr>
              <a:t>C 구현    f_RotZ()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2029968"/>
            <a:ext cx="5513832" cy="153619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07024" y="2112264"/>
            <a:ext cx="5221224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>
                <a:solidFill>
                  <a:srgbClr val="1A1A1A"/>
                </a:solidFill>
                <a:latin typeface="Consolas"/>
              </a:rPr>
              <a:t>static matrix f_RotZ(const FLOAT64 dAng)</a:t>
            </a:r>
          </a:p>
          <a:p>
            <a:pPr>
              <a:spcBef>
                <a:spcPts val="160"/>
              </a:spcBef>
            </a:pPr>
            <a:r>
              <a:rPr sz="900" b="0">
                <a:solidFill>
                  <a:srgbClr val="1A1A1A"/>
                </a:solidFill>
                <a:latin typeface="Consolas"/>
              </a:rPr>
              <a:t>{</a:t>
            </a:r>
          </a:p>
          <a:p>
            <a:pPr>
              <a:spcBef>
                <a:spcPts val="160"/>
              </a:spcBef>
            </a:pPr>
            <a:r>
              <a:rPr sz="900" b="0">
                <a:solidFill>
                  <a:srgbClr val="1A1A1A"/>
                </a:solidFill>
                <a:latin typeface="Consolas"/>
              </a:rPr>
              <a:t>    matrix stR;</a:t>
            </a:r>
          </a:p>
          <a:p>
            <a:pPr>
              <a:spcBef>
                <a:spcPts val="160"/>
              </a:spcBef>
            </a:pPr>
            <a:r>
              <a:rPr sz="900" b="0">
                <a:solidFill>
                  <a:srgbClr val="1A1A1A"/>
                </a:solidFill>
                <a:latin typeface="Consolas"/>
              </a:rPr>
              <a:t>    Matrix_initialize(&amp;stR, 3, 3);   // 3x3 으로 잡고 전부 0</a:t>
            </a:r>
          </a:p>
          <a:p>
            <a:pPr>
              <a:spcBef>
                <a:spcPts val="160"/>
              </a:spcBef>
            </a:pPr>
            <a:r>
              <a:rPr sz="900" b="0">
                <a:solidFill>
                  <a:srgbClr val="1A1A1A"/>
                </a:solidFill>
                <a:latin typeface="Consolas"/>
              </a:rPr>
              <a:t>    stR.e[0][0] =  cos(dAng);   stR.e[0][1] = -sin(dAng);</a:t>
            </a:r>
          </a:p>
          <a:p>
            <a:pPr>
              <a:spcBef>
                <a:spcPts val="160"/>
              </a:spcBef>
            </a:pPr>
            <a:r>
              <a:rPr sz="900" b="0">
                <a:solidFill>
                  <a:srgbClr val="1A1A1A"/>
                </a:solidFill>
                <a:latin typeface="Consolas"/>
              </a:rPr>
              <a:t>    stR.e[1][0] =  sin(dAng);   stR.e[1][1] =  cos(dAng);</a:t>
            </a:r>
          </a:p>
          <a:p>
            <a:pPr>
              <a:spcBef>
                <a:spcPts val="160"/>
              </a:spcBef>
            </a:pPr>
            <a:r>
              <a:rPr sz="900" b="0">
                <a:solidFill>
                  <a:srgbClr val="1A1A1A"/>
                </a:solidFill>
                <a:latin typeface="Consolas"/>
              </a:rPr>
              <a:t>    stR.e[2][2] = 1.0;</a:t>
            </a:r>
          </a:p>
          <a:p>
            <a:pPr>
              <a:spcBef>
                <a:spcPts val="160"/>
              </a:spcBef>
            </a:pPr>
            <a:r>
              <a:rPr sz="900" b="0">
                <a:solidFill>
                  <a:srgbClr val="1A1A1A"/>
                </a:solidFill>
                <a:latin typeface="Consolas"/>
              </a:rPr>
              <a:t>    return stR;</a:t>
            </a:r>
          </a:p>
          <a:p>
            <a:pPr>
              <a:spcBef>
                <a:spcPts val="160"/>
              </a:spcBef>
            </a:pPr>
            <a:r>
              <a:rPr sz="900" b="0">
                <a:solidFill>
                  <a:srgbClr val="1A1A1A"/>
                </a:solidFill>
                <a:latin typeface="Consolas"/>
              </a:rPr>
              <a:t>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712463"/>
            <a:ext cx="10360152" cy="914400"/>
          </a:xfrm>
          <a:prstGeom prst="roundRect">
            <a:avLst>
              <a:gd name="adj" fmla="val 4000"/>
            </a:avLst>
          </a:prstGeom>
          <a:solidFill>
            <a:srgbClr val="E7E7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3803904"/>
            <a:ext cx="992124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A1A1A"/>
                </a:solidFill>
                <a:latin typeface="맑은 고딕"/>
              </a:rPr>
              <a:t>행렬 칸 ↔ 배열 첨자는 1 : 1</a:t>
            </a:r>
          </a:p>
          <a:p>
            <a:pPr>
              <a:spcBef>
                <a:spcPts val="500"/>
              </a:spcBef>
            </a:pPr>
            <a:r>
              <a:rPr sz="900" b="0">
                <a:solidFill>
                  <a:srgbClr val="1A1A1A"/>
                </a:solidFill>
                <a:latin typeface="Consolas"/>
              </a:rPr>
              <a:t>e[0][0] = cos θ    e[0][1] = −sin θ        e[1][0] = sin θ    e[1][1] = cos θ        e[2][2] = 1        나머지 다섯 칸은 0 그대로</a:t>
            </a:r>
          </a:p>
          <a:p>
            <a:pPr>
              <a:spcBef>
                <a:spcPts val="400"/>
              </a:spcBef>
            </a:pPr>
            <a:r>
              <a:rPr sz="900" b="0">
                <a:solidFill>
                  <a:srgbClr val="555555"/>
                </a:solidFill>
                <a:latin typeface="맑은 고딕"/>
              </a:rPr>
              <a:t>f_RotX · f_RotY 도 똑같은 방식이다 — 공식에서 0 이 아닌 칸만 그대로 옮겨 적는다.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773168"/>
            <a:ext cx="5074920" cy="1005840"/>
          </a:xfrm>
          <a:prstGeom prst="roundRect">
            <a:avLst>
              <a:gd name="adj" fmla="val 4000"/>
            </a:avLst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873752"/>
            <a:ext cx="470915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A1A1A"/>
                </a:solidFill>
                <a:latin typeface="맑은 고딕"/>
              </a:rPr>
              <a:t>쓰는 라이브러리 함수는 넷뿐</a:t>
            </a:r>
          </a:p>
          <a:p>
            <a:pPr>
              <a:spcBef>
                <a:spcPts val="400"/>
              </a:spcBef>
            </a:pPr>
            <a:r>
              <a:rPr sz="880" b="0">
                <a:solidFill>
                  <a:srgbClr val="555555"/>
                </a:solidFill>
                <a:latin typeface="맑은 고딕"/>
              </a:rPr>
              <a:t>Matrix_Product2(A, B) = A · B          Matrix_Transpose(A) = A^T</a:t>
            </a:r>
          </a:p>
          <a:p>
            <a:pPr>
              <a:spcBef>
                <a:spcPts val="200"/>
              </a:spcBef>
            </a:pPr>
            <a:r>
              <a:rPr sz="880" b="0">
                <a:solidFill>
                  <a:srgbClr val="555555"/>
                </a:solidFill>
                <a:latin typeface="맑은 고딕"/>
              </a:rPr>
              <a:t>Matrix_Product3(A, B, C) = (A · B) · C     Matrix_Add / Subtract</a:t>
            </a:r>
          </a:p>
          <a:p>
            <a:pPr>
              <a:spcBef>
                <a:spcPts val="200"/>
              </a:spcBef>
            </a:pPr>
            <a:r>
              <a:rPr sz="880" b="0">
                <a:solidFill>
                  <a:srgbClr val="555555"/>
                </a:solidFill>
                <a:latin typeface="맑은 고딕"/>
              </a:rPr>
              <a:t>Matrix_Inverse 는 안 쓴다 — 회전행렬은 전치가 곧 역행렬 (p.6)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4773168"/>
            <a:ext cx="5074920" cy="1005840"/>
          </a:xfrm>
          <a:prstGeom prst="roundRect">
            <a:avLst>
              <a:gd name="adj" fmla="val 4000"/>
            </a:avLst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4873752"/>
            <a:ext cx="470915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A1A1A"/>
                </a:solidFill>
                <a:latin typeface="맑은 고딕"/>
              </a:rPr>
              <a:t>MAXSIZE_MAT = 9 가 만드는 두 가지</a:t>
            </a:r>
          </a:p>
          <a:p>
            <a:pPr>
              <a:spcBef>
                <a:spcPts val="400"/>
              </a:spcBef>
            </a:pPr>
            <a:r>
              <a:rPr sz="880" b="0">
                <a:solidFill>
                  <a:srgbClr val="555555"/>
                </a:solidFill>
                <a:latin typeface="맑은 고딕"/>
              </a:rPr>
              <a:t>Matrix_Identity 는 크기를 9×9 로 덮어써서 못 쓴다 → initialize(3,3)</a:t>
            </a:r>
          </a:p>
          <a:p>
            <a:pPr>
              <a:spcBef>
                <a:spcPts val="200"/>
              </a:spcBef>
            </a:pPr>
            <a:r>
              <a:rPr sz="880" b="0">
                <a:solidFill>
                  <a:srgbClr val="555555"/>
                </a:solidFill>
                <a:latin typeface="맑은 고딕"/>
              </a:rPr>
              <a:t>matrix 는 3×3 을 담아도 항상 656 B. 24 B 벡터 하나를 옮기려고</a:t>
            </a:r>
          </a:p>
          <a:p>
            <a:pPr>
              <a:spcBef>
                <a:spcPts val="200"/>
              </a:spcBef>
            </a:pPr>
            <a:r>
              <a:rPr sz="880" b="0">
                <a:solidFill>
                  <a:srgbClr val="555555"/>
                </a:solidFill>
                <a:latin typeface="맑은 고딕"/>
              </a:rPr>
              <a:t>f_AntToBody 한 번에 이 구조체가 값으로 열 번 넘게 오간다.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공식과 코드 ①    안테나 극좌표 → 직교 → 동체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8" name="TextBox 7"/>
          <p:cNvSpPr txBox="1"/>
          <p:nvPr/>
        </p:nvSpPr>
        <p:spPr>
          <a:xfrm>
            <a:off x="2798064" y="1335024"/>
            <a:ext cx="374903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888888"/>
                </a:solidFill>
                <a:latin typeface="맑은 고딕"/>
              </a:rPr>
              <a:t>공식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93408" y="1335024"/>
            <a:ext cx="45811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888888"/>
                </a:solidFill>
                <a:latin typeface="맑은 고딕"/>
              </a:rPr>
              <a:t>C 구현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591056"/>
            <a:ext cx="1737360" cy="1426464"/>
          </a:xfrm>
          <a:prstGeom prst="roundRect">
            <a:avLst>
              <a:gd name="adj" fmla="val 4000"/>
            </a:avLst>
          </a:prstGeom>
          <a:solidFill>
            <a:srgbClr val="3E46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020824"/>
            <a:ext cx="1517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①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FFFFFF"/>
                </a:solidFill>
                <a:latin typeface="맑은 고딕"/>
              </a:rPr>
              <a:t>극좌표 → 직교</a:t>
            </a:r>
          </a:p>
          <a:p>
            <a:pPr algn="ctr">
              <a:spcBef>
                <a:spcPts val="300"/>
              </a:spcBef>
            </a:pPr>
            <a:r>
              <a:rPr sz="750" b="0">
                <a:solidFill>
                  <a:srgbClr val="B4B4B4"/>
                </a:solidFill>
                <a:latin typeface="맑은 고딕"/>
              </a:rPr>
              <a:t>표현만 바꿈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8064" y="1591056"/>
            <a:ext cx="3749039" cy="1426464"/>
          </a:xfrm>
          <a:prstGeom prst="roundRect">
            <a:avLst>
              <a:gd name="adj" fmla="val 4000"/>
            </a:avLst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polar2xy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829" y="1700784"/>
            <a:ext cx="2599508" cy="120700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693408" y="1591056"/>
            <a:ext cx="4581144" cy="14264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9712" y="1673352"/>
            <a:ext cx="428853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50" b="0">
                <a:solidFill>
                  <a:srgbClr val="777777"/>
                </a:solidFill>
                <a:latin typeface="Consolas"/>
              </a:rPr>
              <a:t>ST_Vec3 f_PolarToXyz(const ST_Polar stPolar)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{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stXyz.dX = stPolar.dRange * cos(stPolar.dEl)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                          * sin(stPolar.dAz);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stXyz.dY = stPolar.dRange * sin(stPolar.dEl);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stXyz.dZ = stPolar.dRange * cos(stPolar.dEl)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                          * cos(stPolar.dAz);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163824"/>
            <a:ext cx="1737360" cy="2048256"/>
          </a:xfrm>
          <a:prstGeom prst="roundRect">
            <a:avLst>
              <a:gd name="adj" fmla="val 4000"/>
            </a:avLst>
          </a:prstGeom>
          <a:solidFill>
            <a:srgbClr val="3E46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904487"/>
            <a:ext cx="1517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②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FFFFFF"/>
                </a:solidFill>
                <a:latin typeface="맑은 고딕"/>
              </a:rPr>
              <a:t>안테나 → 동체</a:t>
            </a:r>
          </a:p>
          <a:p>
            <a:pPr algn="ctr">
              <a:spcBef>
                <a:spcPts val="300"/>
              </a:spcBef>
            </a:pPr>
            <a:r>
              <a:rPr sz="750" b="0">
                <a:solidFill>
                  <a:srgbClr val="B4B4B4"/>
                </a:solidFill>
                <a:latin typeface="맑은 고딕"/>
              </a:rPr>
              <a:t>회전 + 평행이동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98064" y="3163824"/>
            <a:ext cx="3749039" cy="2048256"/>
          </a:xfrm>
          <a:prstGeom prst="roundRect">
            <a:avLst>
              <a:gd name="adj" fmla="val 4000"/>
            </a:avLst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ant2bo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3297538"/>
            <a:ext cx="3493008" cy="537243"/>
          </a:xfrm>
          <a:prstGeom prst="rect">
            <a:avLst/>
          </a:prstGeom>
        </p:spPr>
      </p:pic>
      <p:pic>
        <p:nvPicPr>
          <p:cNvPr id="20" name="Picture 19" descr="am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5018" y="3931920"/>
            <a:ext cx="2715130" cy="117043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693408" y="3163824"/>
            <a:ext cx="4581144" cy="204825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3246120"/>
            <a:ext cx="4288536" cy="1901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50" b="0">
                <a:solidFill>
                  <a:srgbClr val="777777"/>
                </a:solidFill>
                <a:latin typeface="Consolas"/>
              </a:rPr>
              <a:t>static matrix f_RotAntToBody(const ST_Mount m)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{  matrix stRz   = f_RotZ(m.dAz);      // 설치 방위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 matrix stRy   = f_RotY(m.dTilt);    // 백틸트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 matrix stAxis = f_RotAntAxisToBody();   // A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 matrix stMnt  = Matrix_Product2(&amp;stRz, &amp;stRy);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 return Matrix_Product2(&amp;stMnt, &amp;stAxis);  }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/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777777"/>
                </a:solidFill>
                <a:latin typeface="Consolas"/>
              </a:rPr>
              <a:t>ST_Vec3 f_AntToBody(...)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{  stRot = Matrix_Product2(&amp;stR, &amp;stP);   // R·p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 stOut = Matrix_Add(&amp;stRot, &amp;stOff);  }  // + 레버암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358384"/>
            <a:ext cx="10360152" cy="493776"/>
          </a:xfrm>
          <a:prstGeom prst="roundRect">
            <a:avLst>
              <a:gd name="adj" fmla="val 4000"/>
            </a:avLst>
          </a:prstGeom>
          <a:solidFill>
            <a:srgbClr val="8E8E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" y="5449824"/>
            <a:ext cx="9921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맑은 고딕"/>
              </a:rPr>
              <a:t>이번 과제 값</a:t>
            </a:r>
          </a:p>
          <a:p>
            <a:pPr>
              <a:spcBef>
                <a:spcPts val="300"/>
              </a:spcBef>
            </a:pPr>
            <a:r>
              <a:rPr sz="850" b="0">
                <a:solidFill>
                  <a:srgbClr val="F0F0F0"/>
                </a:solidFill>
                <a:latin typeface="Consolas"/>
              </a:rPr>
              <a:t>p_ant  = ( +10,000.00,  0.00,  +17,320.51 ) m        →   p_body = ( +9,970.00,  +17,320.51,  −10.00 ) m       ( A 가 맨 오른쪽이라 벡터에 가장 먼저 걸린다 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공식과 코드 ②    동체 → NED → ECEF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8" name="TextBox 7"/>
          <p:cNvSpPr txBox="1"/>
          <p:nvPr/>
        </p:nvSpPr>
        <p:spPr>
          <a:xfrm>
            <a:off x="2798064" y="1335024"/>
            <a:ext cx="374903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888888"/>
                </a:solidFill>
                <a:latin typeface="맑은 고딕"/>
              </a:rPr>
              <a:t>공식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93408" y="1335024"/>
            <a:ext cx="45811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888888"/>
                </a:solidFill>
                <a:latin typeface="맑은 고딕"/>
              </a:rPr>
              <a:t>C 구현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591056"/>
            <a:ext cx="1737360" cy="1371600"/>
          </a:xfrm>
          <a:prstGeom prst="roundRect">
            <a:avLst>
              <a:gd name="adj" fmla="val 4000"/>
            </a:avLst>
          </a:prstGeom>
          <a:solidFill>
            <a:srgbClr val="3E46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993392"/>
            <a:ext cx="1517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③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FFFFFF"/>
                </a:solidFill>
                <a:latin typeface="맑은 고딕"/>
              </a:rPr>
              <a:t>동체 → NED</a:t>
            </a:r>
          </a:p>
          <a:p>
            <a:pPr algn="ctr">
              <a:spcBef>
                <a:spcPts val="300"/>
              </a:spcBef>
            </a:pPr>
            <a:r>
              <a:rPr sz="750" b="0">
                <a:solidFill>
                  <a:srgbClr val="B4B4B4"/>
                </a:solidFill>
                <a:latin typeface="맑은 고딕"/>
              </a:rPr>
              <a:t>회전만 (원점 같음)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8064" y="1591056"/>
            <a:ext cx="3749039" cy="1371600"/>
          </a:xfrm>
          <a:prstGeom prst="roundRect">
            <a:avLst>
              <a:gd name="adj" fmla="val 4000"/>
            </a:avLst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body2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2164615"/>
            <a:ext cx="3493008" cy="22448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693408" y="1591056"/>
            <a:ext cx="4581144" cy="1371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9712" y="1673352"/>
            <a:ext cx="4288536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50" b="0">
                <a:solidFill>
                  <a:srgbClr val="777777"/>
                </a:solidFill>
                <a:latin typeface="Consolas"/>
              </a:rPr>
              <a:t>static matrix f_RotBodyToNed(const ST_Attitude a)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{  matrix stRz = f_RotZ(a.dYaw);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 matrix stRy = f_RotY(a.dPitch);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 matrix stRx = f_RotX(a.dRoll);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 return Matrix_Product3(&amp;stRz, &amp;stRy, &amp;stRx);  }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777777"/>
                </a:solidFill>
                <a:latin typeface="Consolas"/>
              </a:rPr>
              <a:t>            // Product3 = (Rz·Ry)·Rx → Rx 가 먼저 걸림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108960"/>
            <a:ext cx="1737360" cy="2103120"/>
          </a:xfrm>
          <a:prstGeom prst="roundRect">
            <a:avLst>
              <a:gd name="adj" fmla="val 4000"/>
            </a:avLst>
          </a:prstGeom>
          <a:solidFill>
            <a:srgbClr val="3E46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877056"/>
            <a:ext cx="1517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④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FFFFFF"/>
                </a:solidFill>
                <a:latin typeface="맑은 고딕"/>
              </a:rPr>
              <a:t>NED → ECEF</a:t>
            </a:r>
          </a:p>
          <a:p>
            <a:pPr algn="ctr">
              <a:spcBef>
                <a:spcPts val="300"/>
              </a:spcBef>
            </a:pPr>
            <a:r>
              <a:rPr sz="750" b="0">
                <a:solidFill>
                  <a:srgbClr val="B4B4B4"/>
                </a:solidFill>
                <a:latin typeface="맑은 고딕"/>
              </a:rPr>
              <a:t>회전 + 평행이동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98064" y="3108960"/>
            <a:ext cx="3749039" cy="2103120"/>
          </a:xfrm>
          <a:prstGeom prst="roundRect">
            <a:avLst>
              <a:gd name="adj" fmla="val 4000"/>
            </a:avLst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ned2ec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504" y="4051313"/>
            <a:ext cx="3566160" cy="218413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693408" y="3108960"/>
            <a:ext cx="4581144" cy="2103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3191256"/>
            <a:ext cx="4288536" cy="1956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50" b="0">
                <a:solidFill>
                  <a:srgbClr val="777777"/>
                </a:solidFill>
                <a:latin typeface="Consolas"/>
              </a:rPr>
              <a:t>static matrix f_RotNedToEcef(const ST_Lla o)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{  matrix stRz = f_RotZ(o.dLon);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 matrix stRy = f_RotY(-PI / 2.0 - o.dLat);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 return Matrix_Product2(&amp;stRz, &amp;stRy);  }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/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777777"/>
                </a:solidFill>
                <a:latin typeface="Consolas"/>
              </a:rPr>
              <a:t>ST_Vec3 f_NedToEcef(const ST_Lla o, const ST_Vec3 n)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{  stRot  = Matrix_Product2(&amp;stR, &amp;stP);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 stShip = f_ToMat(f_LlaToEcef(o));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777777"/>
                </a:solidFill>
                <a:latin typeface="Consolas"/>
              </a:rPr>
              <a:t>            // 함선 ECEF 를 함수가 안에서 구한다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 stOut  = Matrix_Add(&amp;stRot, &amp;stShip);  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358384"/>
            <a:ext cx="10360152" cy="493776"/>
          </a:xfrm>
          <a:prstGeom prst="roundRect">
            <a:avLst>
              <a:gd name="adj" fmla="val 4000"/>
            </a:avLst>
          </a:prstGeom>
          <a:solidFill>
            <a:srgbClr val="8E8E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3856" y="5449824"/>
            <a:ext cx="9921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맑은 고딕"/>
              </a:rPr>
              <a:t>이번 과제 값</a:t>
            </a:r>
          </a:p>
          <a:p>
            <a:pPr>
              <a:spcBef>
                <a:spcPts val="300"/>
              </a:spcBef>
            </a:pPr>
            <a:r>
              <a:rPr sz="850" b="0">
                <a:solidFill>
                  <a:srgbClr val="F0F0F0"/>
                </a:solidFill>
                <a:latin typeface="Consolas"/>
              </a:rPr>
              <a:t>p_NED  = ( −5,197.59,  +19,297.30,  −10.00 ) m           p_ECEF = ( −3,132,053.79,  +4,078,527.19,  +3,760,545.95 ) 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공식과 코드 ③    ECEF ↔ LLA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8" name="TextBox 7"/>
          <p:cNvSpPr txBox="1"/>
          <p:nvPr/>
        </p:nvSpPr>
        <p:spPr>
          <a:xfrm>
            <a:off x="2798064" y="1335024"/>
            <a:ext cx="374903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888888"/>
                </a:solidFill>
                <a:latin typeface="맑은 고딕"/>
              </a:rPr>
              <a:t>공식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93408" y="1335024"/>
            <a:ext cx="45811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888888"/>
                </a:solidFill>
                <a:latin typeface="맑은 고딕"/>
              </a:rPr>
              <a:t>C 구현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591056"/>
            <a:ext cx="1737360" cy="1536192"/>
          </a:xfrm>
          <a:prstGeom prst="roundRect">
            <a:avLst>
              <a:gd name="adj" fmla="val 4000"/>
            </a:avLst>
          </a:prstGeom>
          <a:solidFill>
            <a:srgbClr val="3E46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075688"/>
            <a:ext cx="1517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⑤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FFFFFF"/>
                </a:solidFill>
                <a:latin typeface="맑은 고딕"/>
              </a:rPr>
              <a:t>LLA → ECEF</a:t>
            </a:r>
          </a:p>
          <a:p>
            <a:pPr algn="ctr">
              <a:spcBef>
                <a:spcPts val="300"/>
              </a:spcBef>
            </a:pPr>
            <a:r>
              <a:rPr sz="750" b="0">
                <a:solidFill>
                  <a:srgbClr val="B4B4B4"/>
                </a:solidFill>
                <a:latin typeface="맑은 고딕"/>
              </a:rPr>
              <a:t>한 번에 나온다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8064" y="1591056"/>
            <a:ext cx="3749039" cy="1536192"/>
          </a:xfrm>
          <a:prstGeom prst="roundRect">
            <a:avLst>
              <a:gd name="adj" fmla="val 4000"/>
            </a:avLst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lla2ec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391" y="1700784"/>
            <a:ext cx="2232385" cy="131673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693408" y="1591056"/>
            <a:ext cx="4581144" cy="153619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9712" y="1673352"/>
            <a:ext cx="4288536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dN = WGS84_A / sqrt(1.0 - WGS84_E2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                 * sin(dLat) * sin(dLat));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stEcef.dX = (dN + dAlt) * cos(dLat) * cos(dLon);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stEcef.dY = (dN + dAlt) * cos(dLat) * sin(dLon);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stEcef.dZ = (dN * (1.0 - WGS84_E2) + dAlt)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                      * sin(dLat);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777777"/>
                </a:solidFill>
                <a:latin typeface="Consolas"/>
              </a:rPr>
              <a:t>        // z 에만 (1 - e²) — 극 쪽으로 눌린 만큼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273552"/>
            <a:ext cx="1737360" cy="1938528"/>
          </a:xfrm>
          <a:prstGeom prst="roundRect">
            <a:avLst>
              <a:gd name="adj" fmla="val 4000"/>
            </a:avLst>
          </a:prstGeom>
          <a:solidFill>
            <a:srgbClr val="3E46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959352"/>
            <a:ext cx="1517904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⑥</a:t>
            </a:r>
          </a:p>
          <a:p>
            <a:pPr algn="ctr">
              <a:spcBef>
                <a:spcPts val="300"/>
              </a:spcBef>
            </a:pPr>
            <a:r>
              <a:rPr sz="1100" b="1">
                <a:solidFill>
                  <a:srgbClr val="FFFFFF"/>
                </a:solidFill>
                <a:latin typeface="맑은 고딕"/>
              </a:rPr>
              <a:t>ECEF → LLA</a:t>
            </a:r>
          </a:p>
          <a:p>
            <a:pPr algn="ctr">
              <a:spcBef>
                <a:spcPts val="300"/>
              </a:spcBef>
            </a:pPr>
            <a:r>
              <a:rPr sz="750" b="0">
                <a:solidFill>
                  <a:srgbClr val="B4B4B4"/>
                </a:solidFill>
                <a:latin typeface="맑은 고딕"/>
              </a:rPr>
              <a:t>위도·고도 반복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98064" y="3273552"/>
            <a:ext cx="3749039" cy="1938528"/>
          </a:xfrm>
          <a:prstGeom prst="roundRect">
            <a:avLst>
              <a:gd name="adj" fmla="val 4000"/>
            </a:avLst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ecef2l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504" y="3485720"/>
            <a:ext cx="3547872" cy="151419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693408" y="3273552"/>
            <a:ext cx="4581144" cy="19385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3355848"/>
            <a:ext cx="4288536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stLla.dLon = atan2(stEcef.dY, stEcef.dX);</a:t>
            </a:r>
          </a:p>
          <a:p>
            <a:pPr>
              <a:spcBef>
                <a:spcPts val="12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dLat0 = atan2(stEcef.dZ, dP);   dAlt0 = 0.0;</a:t>
            </a:r>
          </a:p>
          <a:p>
            <a:pPr>
              <a:spcBef>
                <a:spcPts val="12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for (i = 0; i &lt; LLA_ITER_MAX; i++) {</a:t>
            </a:r>
          </a:p>
          <a:p>
            <a:pPr>
              <a:spcBef>
                <a:spcPts val="12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dN   = WGS84_A / sqrt(1.0 - WGS84_E2</a:t>
            </a:r>
          </a:p>
          <a:p>
            <a:pPr>
              <a:spcBef>
                <a:spcPts val="12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                   * sin(dLat0)*sin(dLat0));</a:t>
            </a:r>
          </a:p>
          <a:p>
            <a:pPr>
              <a:spcBef>
                <a:spcPts val="12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dAlt = dP / cos(dLat0) - dN;</a:t>
            </a:r>
          </a:p>
          <a:p>
            <a:pPr>
              <a:spcBef>
                <a:spcPts val="12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dLat = atan2(dZ * (dN + dAlt),</a:t>
            </a:r>
          </a:p>
          <a:p>
            <a:pPr>
              <a:spcBef>
                <a:spcPts val="12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         dP * (dN * (1.0 - WGS84_E2) + dAlt));</a:t>
            </a:r>
          </a:p>
          <a:p>
            <a:pPr>
              <a:spcBef>
                <a:spcPts val="12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if (fabs(dLat - dLat0) &lt; LLA_TOL_LAT &amp;&amp;</a:t>
            </a:r>
          </a:p>
          <a:p>
            <a:pPr>
              <a:spcBef>
                <a:spcPts val="12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    fabs(dAlt - dAlt0) &lt; LLA_TOL_ALT)  break;</a:t>
            </a:r>
          </a:p>
          <a:p>
            <a:pPr>
              <a:spcBef>
                <a:spcPts val="12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dLat0 = dLat;   dAlt0 = dAlt;   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358384"/>
            <a:ext cx="10360152" cy="493776"/>
          </a:xfrm>
          <a:prstGeom prst="roundRect">
            <a:avLst>
              <a:gd name="adj" fmla="val 4000"/>
            </a:avLst>
          </a:prstGeom>
          <a:solidFill>
            <a:srgbClr val="8E8E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3856" y="5431536"/>
            <a:ext cx="9921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맑은 고딕"/>
              </a:rPr>
              <a:t>반복 경과   위도 [deg]</a:t>
            </a:r>
          </a:p>
          <a:p>
            <a:pPr>
              <a:spcBef>
                <a:spcPts val="300"/>
              </a:spcBef>
            </a:pPr>
            <a:r>
              <a:rPr sz="850" b="0">
                <a:solidFill>
                  <a:srgbClr val="F0F0F0"/>
                </a:solidFill>
                <a:latin typeface="Consolas"/>
              </a:rPr>
              <a:t>초기 36.177411  →  ① 36.361399  →  ② 36.360966  →  ③ 36.3609672  →  ④⑤ 36.360967176  →  ⑥ 변화 2e−16, break        ( 고도 41.2824 m · 최대 10 회 · 허용오차 1e−12 rad 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공식과 코드 ④    역변환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" y="1335024"/>
            <a:ext cx="50292" cy="27432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1298448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만드는 공식이 없다. 회전은 전치, 이동은 빼기, 그리고 순서를 거꾸로.</a:t>
            </a:r>
            <a:endParaRPr lang="en-US" sz="1450" dirty="0"/>
          </a:p>
        </p:txBody>
      </p:sp>
      <p:sp>
        <p:nvSpPr>
          <p:cNvPr id="10" name="Rounded Rectangle 9"/>
          <p:cNvSpPr/>
          <p:nvPr/>
        </p:nvSpPr>
        <p:spPr>
          <a:xfrm>
            <a:off x="914400" y="1773936"/>
            <a:ext cx="4160520" cy="932688"/>
          </a:xfrm>
          <a:prstGeom prst="roundRect">
            <a:avLst>
              <a:gd name="adj" fmla="val 4000"/>
            </a:avLst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in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110" y="1865376"/>
            <a:ext cx="2989099" cy="7498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285232" y="1773936"/>
            <a:ext cx="5989320" cy="932688"/>
          </a:xfrm>
          <a:prstGeom prst="roundRect">
            <a:avLst>
              <a:gd name="adj" fmla="val 4000"/>
            </a:avLst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8112" y="1874519"/>
            <a:ext cx="5623559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A1A1A"/>
                </a:solidFill>
                <a:latin typeface="맑은 고딕"/>
              </a:rPr>
              <a:t>순서까지 뒤집어야 한다</a:t>
            </a:r>
          </a:p>
          <a:p>
            <a:pPr>
              <a:spcBef>
                <a:spcPts val="400"/>
              </a:spcBef>
            </a:pPr>
            <a:r>
              <a:rPr sz="900" b="0">
                <a:solidFill>
                  <a:srgbClr val="555555"/>
                </a:solidFill>
                <a:latin typeface="맑은 고딕"/>
              </a:rPr>
              <a:t>레버암은 동체 좌표계에서 잰 값이다. 그래서 동체 좌표에서 먼저 빼고, 그다음에 안테나 축으로 되돌린다.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555555"/>
                </a:solidFill>
                <a:latin typeface="맑은 고딕"/>
              </a:rPr>
              <a:t>두 줄을 바꾸면 레버암이 엉뚱한 좌표계에서 빠져 결과가 틀어진다.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71216"/>
            <a:ext cx="5074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A1A1A"/>
                </a:solidFill>
                <a:latin typeface="맑은 고딕"/>
              </a:rPr>
              <a:t>정변환   f_AntToBody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2871216"/>
            <a:ext cx="5074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A1A1A"/>
                </a:solidFill>
                <a:latin typeface="맑은 고딕"/>
              </a:rPr>
              <a:t>역변환   f_BodyToAnt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127248"/>
            <a:ext cx="5074920" cy="1097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" y="3209544"/>
            <a:ext cx="4782312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stR   = f_RotAntToBody(stMount);</a:t>
            </a:r>
          </a:p>
          <a:p>
            <a:pPr>
              <a:spcBef>
                <a:spcPts val="22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stRot = Matrix_Product2(&amp;stR, &amp;stP);      // ① 회전</a:t>
            </a:r>
          </a:p>
          <a:p>
            <a:pPr>
              <a:spcBef>
                <a:spcPts val="22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stOut = Matrix_Add(&amp;stRot, &amp;stOff);       // ② 더하기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3127248"/>
            <a:ext cx="5074920" cy="1097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3209544"/>
            <a:ext cx="4782312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stRt   = Matrix_Transpose(&amp;stR);          // 전치</a:t>
            </a:r>
          </a:p>
          <a:p>
            <a:pPr>
              <a:spcBef>
                <a:spcPts val="22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stDiff = Matrix_Subtract(&amp;stP, &amp;stOff);   // ① 빼기</a:t>
            </a:r>
          </a:p>
          <a:p>
            <a:pPr>
              <a:spcBef>
                <a:spcPts val="22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stOut  = Matrix_Product2(&amp;stRt, &amp;stDiff); // ② 회전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70832"/>
            <a:ext cx="4160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A1A1A"/>
                </a:solidFill>
                <a:latin typeface="맑은 고딕"/>
              </a:rPr>
              <a:t>직교 → 극좌표   f_XyzToPolar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626864"/>
            <a:ext cx="4160520" cy="1133856"/>
          </a:xfrm>
          <a:prstGeom prst="roundRect">
            <a:avLst>
              <a:gd name="adj" fmla="val 4000"/>
            </a:avLst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xyz2po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698" y="4718304"/>
            <a:ext cx="2173923" cy="95097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285232" y="4626864"/>
            <a:ext cx="3566160" cy="113385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31536" y="4709159"/>
            <a:ext cx="3273552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dXz = sqrt(dX*dX + dZ*dZ);</a:t>
            </a:r>
          </a:p>
          <a:p>
            <a:pPr>
              <a:spcBef>
                <a:spcPts val="18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dRange = sqrt(dXz*dXz + dY*dY);</a:t>
            </a:r>
          </a:p>
          <a:p>
            <a:pPr>
              <a:spcBef>
                <a:spcPts val="18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dAz    = atan2(stXyz.dX, stXyz.dZ);</a:t>
            </a:r>
          </a:p>
          <a:p>
            <a:pPr>
              <a:spcBef>
                <a:spcPts val="18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dEl    = atan2(stXyz.dY, dXz);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4626864"/>
            <a:ext cx="2221992" cy="1133856"/>
          </a:xfrm>
          <a:prstGeom prst="roundRect">
            <a:avLst>
              <a:gd name="adj" fmla="val 4000"/>
            </a:avLst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4727448"/>
            <a:ext cx="1856232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A1A1A"/>
                </a:solidFill>
                <a:latin typeface="맑은 고딕"/>
              </a:rPr>
              <a:t>asin 이 아니라 atan2</a:t>
            </a:r>
          </a:p>
          <a:p>
            <a:pPr>
              <a:spcBef>
                <a:spcPts val="400"/>
              </a:spcBef>
            </a:pPr>
            <a:r>
              <a:rPr sz="819" b="0">
                <a:solidFill>
                  <a:srgbClr val="555555"/>
                </a:solidFill>
                <a:latin typeface="맑은 고딕"/>
              </a:rPr>
              <a:t>반올림으로 인자가 1 을 조금만 넘어도 asin 은 NaN 을 뱉는다.</a:t>
            </a:r>
          </a:p>
          <a:p>
            <a:pPr>
              <a:spcBef>
                <a:spcPts val="200"/>
              </a:spcBef>
            </a:pPr>
            <a:r>
              <a:rPr sz="819" b="0">
                <a:solidFill>
                  <a:srgbClr val="555555"/>
                </a:solidFill>
                <a:latin typeface="맑은 고딕"/>
              </a:rPr>
              <a:t>atan2 는 그런 구간이 없고 사분면까지 가려 준다.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실행 결과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" y="1335024"/>
            <a:ext cx="50292" cy="27432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1298448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radar_coord.exe 를 그대로 돌린 화면. 발표자료 p.20 ~ p.22 의 손계산과 전 단계가 일치한다.</a:t>
            </a:r>
            <a:endParaRPr lang="en-US" sz="1450" dirty="0"/>
          </a:p>
        </p:txBody>
      </p:sp>
      <p:sp>
        <p:nvSpPr>
          <p:cNvPr id="10" name="Rounded Rectangle 9"/>
          <p:cNvSpPr/>
          <p:nvPr/>
        </p:nvSpPr>
        <p:spPr>
          <a:xfrm>
            <a:off x="914400" y="1773936"/>
            <a:ext cx="6903720" cy="374903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1856231"/>
            <a:ext cx="6611112" cy="36027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[입력]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측정값       R = 20000.0 m, Az = 30.000 deg, El = 0.000 deg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플랫폼 위치  lat = 36.408000 deg, lon = 127.307000 deg, alt = 0.0 m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플랫폼 자세  (r, y, p) = (0.000, 45.000, 0.000) deg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안테나 설치  az = 90.000 deg, tilt = 0.000 deg, offset = (-30.0, 0.0, -10.0) m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/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[정변환]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1) 극좌표 -&gt; 안테나 직교      10000.0000        0.0000    17320.5081  [m]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2) 안테나 -&gt; 동체              9970.0000    17320.5081      -10.0000  [m]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3) 동체 -&gt; NED                -5197.5941    19297.3033      -10.0000  [m]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4) NED -&gt; ECEF            -3132053.7872  4078527.1919  3760545.9526  [m]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   함선 ECEF              -3114830.1107  4087762.8525  3764723.0978  [m]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5) ECEF -&gt; LLA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    lat = 36.360967176 deg, lon = 127.522008441 deg, alt = 41.2824 m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/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[역변환]        ( 정변환의 값을 그대로 되짚어 온다 )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2) ECEF -&gt; NED                -5197.5941    19297.3033      -10.0000  [m]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3) NED -&gt; 동체                 9970.0000    17320.5081      -10.0000  [m]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4) 동체 -&gt; 안테나 직교        10000.0000        0.0000    17320.5081  [m]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5) R = 20000.000000 m, Az = 30.000000000 deg, El = 0.000000000 deg</a:t>
            </a:r>
          </a:p>
          <a:p>
            <a:pPr>
              <a:spcBef>
                <a:spcPts val="150"/>
              </a:spcBef>
            </a:pPr>
            <a:r>
              <a:rPr sz="850" b="0">
                <a:solidFill>
                  <a:srgbClr val="1A1A1A"/>
                </a:solidFill>
                <a:latin typeface="Consolas"/>
              </a:rPr>
              <a:t>      입력과 차이  dR = 6.8e-10 m, dAz = 6.8e-13 deg, dEl = 3.8e-12 deg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773936"/>
            <a:ext cx="3273552" cy="1188720"/>
          </a:xfrm>
          <a:prstGeom prst="roundRect">
            <a:avLst>
              <a:gd name="adj" fmla="val 4000"/>
            </a:avLst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874519"/>
            <a:ext cx="2907792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A1A1A"/>
                </a:solidFill>
                <a:latin typeface="맑은 고딕"/>
              </a:rPr>
              <a:t>왕복 오차가 말해 주는 것</a:t>
            </a:r>
          </a:p>
          <a:p>
            <a:pPr>
              <a:spcBef>
                <a:spcPts val="400"/>
              </a:spcBef>
            </a:pPr>
            <a:r>
              <a:rPr sz="900" b="0">
                <a:solidFill>
                  <a:srgbClr val="555555"/>
                </a:solidFill>
                <a:latin typeface="맑은 고딕"/>
              </a:rPr>
              <a:t>거리 오차 0.68 nm — 배정도 실수의 반올림 한계.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555555"/>
                </a:solidFill>
                <a:latin typeface="맑은 고딕"/>
              </a:rPr>
              <a:t>정변환과 역변환이 서로 정확한 역이라는 뜻이다.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035808"/>
            <a:ext cx="3273552" cy="1188720"/>
          </a:xfrm>
          <a:prstGeom prst="roundRect">
            <a:avLst>
              <a:gd name="adj" fmla="val 4000"/>
            </a:avLst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3136391"/>
            <a:ext cx="2907792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A1A1A"/>
                </a:solidFill>
                <a:latin typeface="맑은 고딕"/>
              </a:rPr>
              <a:t>과제 최종 출력 2가지</a:t>
            </a:r>
          </a:p>
          <a:p>
            <a:pPr>
              <a:spcBef>
                <a:spcPts val="400"/>
              </a:spcBef>
            </a:pPr>
            <a:r>
              <a:rPr sz="900" b="0">
                <a:solidFill>
                  <a:srgbClr val="555555"/>
                </a:solidFill>
                <a:latin typeface="맑은 고딕"/>
              </a:rPr>
              <a:t>①  36.360967 °N,  127.522008 °E,  41.3 m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555555"/>
                </a:solidFill>
                <a:latin typeface="맑은 고딕"/>
              </a:rPr>
              <a:t>②  R 20000.0 m,  Az 30.000°,  El 0.000°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4297680"/>
            <a:ext cx="3273552" cy="1225296"/>
          </a:xfrm>
          <a:prstGeom prst="roundRect">
            <a:avLst>
              <a:gd name="adj" fmla="val 4000"/>
            </a:avLst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4398264"/>
            <a:ext cx="2907792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A1A1A"/>
                </a:solidFill>
                <a:latin typeface="맑은 고딕"/>
              </a:rPr>
              <a:t>고도가 41.3 m 인 이유</a:t>
            </a:r>
          </a:p>
          <a:p>
            <a:pPr>
              <a:spcBef>
                <a:spcPts val="400"/>
              </a:spcBef>
            </a:pPr>
            <a:r>
              <a:rPr sz="900" b="0">
                <a:solidFill>
                  <a:srgbClr val="555555"/>
                </a:solidFill>
                <a:latin typeface="맑은 고딕"/>
              </a:rPr>
              <a:t>표적은 수평면에서 10 m 위인데, 20 km 앞이라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555555"/>
                </a:solidFill>
                <a:latin typeface="맑은 고딕"/>
              </a:rPr>
              <a:t>지구가 31.3 m 만큼 휘어 내려간다.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555555"/>
                </a:solidFill>
                <a:latin typeface="맑은 고딕"/>
              </a:rPr>
              <a:t>10 + 31.3 ≒ 41.3 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84048"/>
            <a:ext cx="10692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UI 화면에서 확인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94415" cy="48646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199632"/>
            <a:ext cx="11094415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641908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6384" y="1335024"/>
            <a:ext cx="50292" cy="274320"/>
          </a:xfrm>
          <a:prstGeom prst="rect">
            <a:avLst/>
          </a:prstGeom>
          <a:solidFill>
            <a:srgbClr val="3E46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1298448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CoordUI 는 같은 CoordCore 를 호출한다. 입력을 바꾸면 단계별 값이 그 자리에서 다시 계산된다.</a:t>
            </a:r>
            <a:endParaRPr lang="en-US" sz="1450" dirty="0"/>
          </a:p>
        </p:txBody>
      </p:sp>
      <p:pic>
        <p:nvPicPr>
          <p:cNvPr id="10" name="Picture 9" descr="coord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73936"/>
            <a:ext cx="7589520" cy="385883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778240" y="1773936"/>
            <a:ext cx="2496312" cy="1188720"/>
          </a:xfrm>
          <a:prstGeom prst="roundRect">
            <a:avLst>
              <a:gd name="adj" fmla="val 4000"/>
            </a:avLst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19" y="1874519"/>
            <a:ext cx="2130552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A1A1A"/>
                </a:solidFill>
                <a:latin typeface="맑은 고딕"/>
              </a:rPr>
              <a:t>① 입력</a:t>
            </a:r>
          </a:p>
          <a:p>
            <a:pPr>
              <a:spcBef>
                <a:spcPts val="400"/>
              </a:spcBef>
            </a:pPr>
            <a:r>
              <a:rPr sz="819" b="0">
                <a:solidFill>
                  <a:srgbClr val="555555"/>
                </a:solidFill>
                <a:latin typeface="맑은 고딕"/>
              </a:rPr>
              <a:t>측정값 · 플랫폼 위치 · 자세 · 안테나 설치를 그대로 넣는다.</a:t>
            </a:r>
          </a:p>
          <a:p>
            <a:pPr>
              <a:spcBef>
                <a:spcPts val="200"/>
              </a:spcBef>
            </a:pPr>
            <a:r>
              <a:rPr sz="819" b="0">
                <a:solidFill>
                  <a:srgbClr val="555555"/>
                </a:solidFill>
                <a:latin typeface="맑은 고딕"/>
              </a:rPr>
              <a:t>roll / pitch / yaw 는 슬라이더로도 바꾼다.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3090672"/>
            <a:ext cx="2496312" cy="1188720"/>
          </a:xfrm>
          <a:prstGeom prst="roundRect">
            <a:avLst>
              <a:gd name="adj" fmla="val 4000"/>
            </a:avLst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19" y="3191256"/>
            <a:ext cx="2130552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A1A1A"/>
                </a:solidFill>
                <a:latin typeface="맑은 고딕"/>
              </a:rPr>
              <a:t>② 단계별 결과</a:t>
            </a:r>
          </a:p>
          <a:p>
            <a:pPr>
              <a:spcBef>
                <a:spcPts val="400"/>
              </a:spcBef>
            </a:pPr>
            <a:r>
              <a:rPr sz="819" b="0">
                <a:solidFill>
                  <a:srgbClr val="555555"/>
                </a:solidFill>
                <a:latin typeface="맑은 고딕"/>
              </a:rPr>
              <a:t>정변환 5 단계와 역변환 5 단계가 한 표에 나온다.</a:t>
            </a:r>
          </a:p>
          <a:p>
            <a:pPr>
              <a:spcBef>
                <a:spcPts val="200"/>
              </a:spcBef>
            </a:pPr>
            <a:r>
              <a:rPr sz="819" b="0">
                <a:solidFill>
                  <a:srgbClr val="555555"/>
                </a:solidFill>
                <a:latin typeface="맑은 고딕"/>
              </a:rPr>
              <a:t>콘솔 출력과 값이 같다.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4407408"/>
            <a:ext cx="2496312" cy="1225296"/>
          </a:xfrm>
          <a:prstGeom prst="roundRect">
            <a:avLst>
              <a:gd name="adj" fmla="val 4000"/>
            </a:avLst>
          </a:prstGeom>
          <a:solidFill>
            <a:srgbClr val="DCDC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19" y="4507992"/>
            <a:ext cx="2130552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A1A1A"/>
                </a:solidFill>
                <a:latin typeface="맑은 고딕"/>
              </a:rPr>
              <a:t>③ 최종 출력</a:t>
            </a:r>
          </a:p>
          <a:p>
            <a:pPr>
              <a:spcBef>
                <a:spcPts val="400"/>
              </a:spcBef>
            </a:pPr>
            <a:r>
              <a:rPr sz="819" b="0">
                <a:solidFill>
                  <a:srgbClr val="555555"/>
                </a:solidFill>
                <a:latin typeface="맑은 고딕"/>
              </a:rPr>
              <a:t>표적 위/경/고도와 안테나 극좌표,</a:t>
            </a:r>
          </a:p>
          <a:p>
            <a:pPr>
              <a:spcBef>
                <a:spcPts val="200"/>
              </a:spcBef>
            </a:pPr>
            <a:r>
              <a:rPr sz="819" b="0">
                <a:solidFill>
                  <a:srgbClr val="555555"/>
                </a:solidFill>
                <a:latin typeface="맑은 고딕"/>
              </a:rPr>
              <a:t>그리고 왕복오차까지 한 눈에 확인된다.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504688"/>
            <a:ext cx="7589520" cy="329184"/>
          </a:xfrm>
          <a:prstGeom prst="roundRect">
            <a:avLst>
              <a:gd name="adj" fmla="val 4000"/>
            </a:avLst>
          </a:prstGeom>
          <a:solidFill>
            <a:srgbClr val="8E8E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559552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맑은 고딕"/>
              </a:rPr>
              <a:t>표에 찍힌 값이 발표자료 p.20 ~ p.22 · 앞 장 콘솔 출력과 모두 같다.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3920</Words>
  <Application>Microsoft Office PowerPoint</Application>
  <PresentationFormat>사용자 지정</PresentationFormat>
  <Paragraphs>652</Paragraphs>
  <Slides>22</Slides>
  <Notes>22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3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좌표계와 좌표변환</dc:title>
  <dc:subject>레이다 표적 좌표변환 설계</dc:subject>
  <dc:creator>PptxGenJS</dc:creator>
  <cp:lastModifiedBy>harley</cp:lastModifiedBy>
  <cp:revision>2</cp:revision>
  <dcterms:created xsi:type="dcterms:W3CDTF">2026-09-08T14:28:41Z</dcterms:created>
  <dcterms:modified xsi:type="dcterms:W3CDTF">2026-09-08T14:34:23Z</dcterms:modified>
</cp:coreProperties>
</file>