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3"/>
  </p:notesMasterIdLst>
  <p:sldIdLst>
    <p:sldId id="256" r:id="rId2"/>
    <p:sldId id="258" r:id="rId3"/>
    <p:sldId id="259" r:id="rId4"/>
    <p:sldId id="261" r:id="rId5"/>
    <p:sldId id="263" r:id="rId6"/>
    <p:sldId id="292" r:id="rId7"/>
    <p:sldId id="265" r:id="rId8"/>
    <p:sldId id="295" r:id="rId9"/>
    <p:sldId id="267" r:id="rId10"/>
    <p:sldId id="268" r:id="rId11"/>
    <p:sldId id="271" r:id="rId12"/>
    <p:sldId id="272" r:id="rId13"/>
    <p:sldId id="273" r:id="rId14"/>
    <p:sldId id="274" r:id="rId15"/>
    <p:sldId id="293" r:id="rId16"/>
    <p:sldId id="278" r:id="rId17"/>
    <p:sldId id="279" r:id="rId18"/>
    <p:sldId id="281" r:id="rId19"/>
    <p:sldId id="282" r:id="rId20"/>
    <p:sldId id="283" r:id="rId21"/>
    <p:sldId id="294" r:id="rId22"/>
    <p:sldId id="296" r:id="rId23"/>
    <p:sldId id="297" r:id="rId24"/>
    <p:sldId id="298" r:id="rId25"/>
    <p:sldId id="299" r:id="rId26"/>
    <p:sldId id="300" r:id="rId27"/>
    <p:sldId id="301" r:id="rId28"/>
    <p:sldId id="302" r:id="rId29"/>
    <p:sldId id="288" r:id="rId30"/>
    <p:sldId id="270" r:id="rId31"/>
    <p:sldId id="275" r:id="rId3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78999" autoAdjust="0"/>
  </p:normalViewPr>
  <p:slideViewPr>
    <p:cSldViewPr snapToGrid="0" snapToObjects="1">
      <p:cViewPr varScale="1">
        <p:scale>
          <a:sx n="129" d="100"/>
          <a:sy n="129" d="100"/>
        </p:scale>
        <p:origin x="-1548" y="-96"/>
      </p:cViewPr>
      <p:guideLst>
        <p:guide orient="horz" pos="2160"/>
        <p:guide pos="3840"/>
      </p:guideLst>
    </p:cSldViewPr>
  </p:slideViewPr>
  <p:notesTextViewPr>
    <p:cViewPr>
      <p:scale>
        <a:sx n="125" d="100"/>
        <a:sy n="125"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609600"/>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609600"/>
          </a:xfrm>
          <a:prstGeom prst="rect">
            <a:avLst/>
          </a:prstGeom>
        </p:spPr>
        <p:txBody>
          <a:bodyPr vert="horz" lIns="91440" tIns="45720" rIns="91440" bIns="45720" rtlCol="0"/>
          <a:lstStyle>
            <a:lvl1pPr algn="r">
              <a:defRPr sz="1200"/>
            </a:lvl1pPr>
          </a:lstStyle>
          <a:p>
            <a:fld id="{5262204F-8928-4D1A-AEE8-8094EF0D8CE8}" type="datetimeFigureOut">
              <a:rPr lang="ko-KR" altLang="en-US" smtClean="0"/>
              <a:t>2026-09-10</a:t>
            </a:fld>
            <a:endParaRPr lang="ko-KR" altLang="en-US"/>
          </a:p>
        </p:txBody>
      </p:sp>
      <p:sp>
        <p:nvSpPr>
          <p:cNvPr id="4" name="슬라이드 이미지 개체 틀 3"/>
          <p:cNvSpPr>
            <a:spLocks noGrp="1" noRot="1" noChangeAspect="1"/>
          </p:cNvSpPr>
          <p:nvPr>
            <p:ph type="sldImg" idx="2"/>
          </p:nvPr>
        </p:nvSpPr>
        <p:spPr>
          <a:xfrm>
            <a:off x="-635000" y="914400"/>
            <a:ext cx="8128000" cy="45720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5791200"/>
            <a:ext cx="5486400" cy="5486400"/>
          </a:xfrm>
          <a:prstGeom prst="rect">
            <a:avLst/>
          </a:prstGeom>
        </p:spPr>
        <p:txBody>
          <a:bodyPr vert="horz" lIns="91440" tIns="45720" rIns="91440" bIns="45720" rtlCol="0"/>
          <a:lstStyle/>
          <a:p>
            <a:pPr lvl="0"/>
            <a:r>
              <a:rPr lang="ko-KR" altLang="en-US" smtClean="0"/>
              <a:t>마스터 텍스트 스타일을 편집합니다</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6" name="바닥글 개체 틀 5"/>
          <p:cNvSpPr>
            <a:spLocks noGrp="1"/>
          </p:cNvSpPr>
          <p:nvPr>
            <p:ph type="ftr" sz="quarter" idx="4"/>
          </p:nvPr>
        </p:nvSpPr>
        <p:spPr>
          <a:xfrm>
            <a:off x="0" y="11580813"/>
            <a:ext cx="2971800" cy="609600"/>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11580813"/>
            <a:ext cx="2971800" cy="609600"/>
          </a:xfrm>
          <a:prstGeom prst="rect">
            <a:avLst/>
          </a:prstGeom>
        </p:spPr>
        <p:txBody>
          <a:bodyPr vert="horz" lIns="91440" tIns="45720" rIns="91440" bIns="45720" rtlCol="0" anchor="b"/>
          <a:lstStyle>
            <a:lvl1pPr algn="r">
              <a:defRPr sz="1200"/>
            </a:lvl1pPr>
          </a:lstStyle>
          <a:p>
            <a:fld id="{AA4BA033-1EBD-43E4-9BD9-9D5734DB395B}" type="slidenum">
              <a:rPr lang="ko-KR" altLang="en-US" smtClean="0"/>
              <a:t>‹#›</a:t>
            </a:fld>
            <a:endParaRPr lang="ko-KR" altLang="en-US"/>
          </a:p>
        </p:txBody>
      </p:sp>
    </p:spTree>
    <p:extLst>
      <p:ext uri="{BB962C8B-B14F-4D97-AF65-F5344CB8AC3E}">
        <p14:creationId xmlns:p14="http://schemas.microsoft.com/office/powerpoint/2010/main" val="3499184068"/>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안녕하십니까. 이번 과제의 주제는 좌표계와 좌표변환입니다. 레이다 안테나가 잰 거리와 각도가 전시기의 위도 · 경도가 되기까지, 그 사이에 어떤 좌표계를 거치고 각 단계에서 무엇이 바뀌는지를 다루겠습니다.</a:t>
            </a:r>
          </a:p>
          <a:p>
            <a:r>
              <a:t>진행은 개념, 설계, C 구현 검증 순서입니다.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smtClean="0"/>
              <a:t>전체는 네 부분입니다</a:t>
            </a:r>
            <a:r>
              <a:rPr lang="en-US" altLang="ko-KR" dirty="0" smtClean="0"/>
              <a:t>.</a:t>
            </a:r>
          </a:p>
          <a:p>
            <a:r>
              <a:rPr lang="ko-KR" altLang="en-US" dirty="0" smtClean="0"/>
              <a:t>먼저 좌표변환의 두 가지 개념인 회전과 평행이동을 확인하며</a:t>
            </a:r>
            <a:r>
              <a:rPr lang="en-US" altLang="ko-KR" dirty="0" smtClean="0"/>
              <a:t>, </a:t>
            </a:r>
            <a:r>
              <a:rPr lang="ko-KR" altLang="en-US" dirty="0" smtClean="0"/>
              <a:t>이번 설계에 나오는 </a:t>
            </a:r>
            <a:r>
              <a:rPr lang="ko-KR" altLang="en-US" dirty="0" err="1" smtClean="0"/>
              <a:t>좌표계</a:t>
            </a:r>
            <a:r>
              <a:rPr lang="ko-KR" altLang="en-US" dirty="0" smtClean="0"/>
              <a:t> 여섯 가지를 설명하겠습니다</a:t>
            </a:r>
            <a:r>
              <a:rPr lang="en-US" altLang="ko-KR" dirty="0" smtClean="0"/>
              <a:t>.</a:t>
            </a:r>
          </a:p>
          <a:p>
            <a:r>
              <a:rPr lang="ko-KR" altLang="en-US" dirty="0" smtClean="0"/>
              <a:t>그 다음 과제 조건으로 실제 체인을 설계하고</a:t>
            </a:r>
            <a:r>
              <a:rPr lang="en-US" altLang="ko-KR" dirty="0" smtClean="0"/>
              <a:t>, </a:t>
            </a:r>
            <a:r>
              <a:rPr lang="ko-KR" altLang="en-US" dirty="0" smtClean="0"/>
              <a:t>마지막에 </a:t>
            </a:r>
            <a:r>
              <a:rPr lang="en-US" altLang="ko-KR" dirty="0" smtClean="0"/>
              <a:t>C</a:t>
            </a:r>
            <a:r>
              <a:rPr lang="en-US" altLang="ko-KR" baseline="0" dirty="0" smtClean="0"/>
              <a:t> </a:t>
            </a:r>
            <a:r>
              <a:rPr lang="ko-KR" altLang="en-US" baseline="0" dirty="0" smtClean="0"/>
              <a:t>코드와 실행 결과를 보여드리겠습니다</a:t>
            </a:r>
            <a:r>
              <a:rPr lang="en-US" altLang="ko-KR" baseline="0" dirty="0" smtClean="0"/>
              <a:t>.</a:t>
            </a:r>
            <a:endParaRPr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smtClean="0"/>
              <a:t>우선</a:t>
            </a:r>
            <a:r>
              <a:rPr lang="en-US" altLang="ko-KR" dirty="0" smtClean="0"/>
              <a:t>, </a:t>
            </a:r>
            <a:r>
              <a:rPr lang="ko-KR" altLang="en-US" dirty="0" err="1" smtClean="0"/>
              <a:t>좌표계를</a:t>
            </a:r>
            <a:r>
              <a:rPr lang="ko-KR" altLang="en-US" dirty="0" smtClean="0"/>
              <a:t> </a:t>
            </a:r>
            <a:r>
              <a:rPr lang="ko-KR" altLang="en-US" dirty="0" err="1" smtClean="0"/>
              <a:t>여섯가지를</a:t>
            </a:r>
            <a:r>
              <a:rPr lang="ko-KR" altLang="en-US" dirty="0" smtClean="0"/>
              <a:t> 소개하고 있는데</a:t>
            </a:r>
            <a:r>
              <a:rPr lang="en-US" altLang="ko-KR" dirty="0" smtClean="0"/>
              <a:t>, </a:t>
            </a:r>
            <a:r>
              <a:rPr lang="ko-KR" altLang="en-US" dirty="0" smtClean="0"/>
              <a:t>왜 좌표계가 여럿인가 보면</a:t>
            </a:r>
            <a:r>
              <a:rPr lang="en-US" altLang="ko-KR" dirty="0" smtClean="0"/>
              <a:t>…</a:t>
            </a:r>
          </a:p>
          <a:p>
            <a:r>
              <a:rPr lang="ko-KR" altLang="en-US" dirty="0" smtClean="0"/>
              <a:t>그림과 같이 같은 물체를 두 사람이 보면 한 명은 오른쪽 </a:t>
            </a:r>
            <a:r>
              <a:rPr lang="en-US" altLang="ko-KR" dirty="0" smtClean="0"/>
              <a:t>21</a:t>
            </a:r>
            <a:r>
              <a:rPr lang="ko-KR" altLang="en-US" dirty="0" smtClean="0"/>
              <a:t>도 </a:t>
            </a:r>
            <a:r>
              <a:rPr lang="en-US" altLang="ko-KR" dirty="0" smtClean="0"/>
              <a:t>9</a:t>
            </a:r>
            <a:r>
              <a:rPr lang="ko-KR" altLang="en-US" dirty="0" smtClean="0"/>
              <a:t>미터</a:t>
            </a:r>
            <a:r>
              <a:rPr lang="en-US" altLang="ko-KR" dirty="0" smtClean="0"/>
              <a:t>, </a:t>
            </a:r>
            <a:r>
              <a:rPr lang="ko-KR" altLang="en-US" dirty="0" smtClean="0"/>
              <a:t>다른 </a:t>
            </a:r>
            <a:r>
              <a:rPr lang="ko-KR" altLang="en-US" dirty="0" err="1" smtClean="0"/>
              <a:t>한명은</a:t>
            </a:r>
            <a:r>
              <a:rPr lang="ko-KR" altLang="en-US" dirty="0" smtClean="0"/>
              <a:t> 왼쪽 </a:t>
            </a:r>
            <a:r>
              <a:rPr lang="en-US" altLang="ko-KR" dirty="0" smtClean="0"/>
              <a:t>29</a:t>
            </a:r>
            <a:r>
              <a:rPr lang="ko-KR" altLang="en-US" dirty="0" smtClean="0"/>
              <a:t>도 </a:t>
            </a:r>
            <a:r>
              <a:rPr lang="en-US" altLang="ko-KR" dirty="0" smtClean="0"/>
              <a:t>7</a:t>
            </a:r>
            <a:r>
              <a:rPr lang="ko-KR" altLang="en-US" dirty="0" smtClean="0"/>
              <a:t>미터라고 말합니다</a:t>
            </a:r>
            <a:r>
              <a:rPr lang="en-US" altLang="ko-KR" dirty="0" smtClean="0"/>
              <a:t>.</a:t>
            </a:r>
          </a:p>
          <a:p>
            <a:r>
              <a:rPr lang="ko-KR" altLang="en-US" dirty="0" smtClean="0"/>
              <a:t>물체는 하나인데 숫자가 다릅니다</a:t>
            </a:r>
            <a:r>
              <a:rPr lang="en-US" altLang="ko-KR" dirty="0" smtClean="0"/>
              <a:t>. </a:t>
            </a:r>
            <a:r>
              <a:rPr lang="ko-KR" altLang="en-US" dirty="0" smtClean="0"/>
              <a:t>다른 건 딱 두 가지 </a:t>
            </a:r>
            <a:r>
              <a:rPr lang="en-US" altLang="ko-KR" dirty="0" smtClean="0"/>
              <a:t>– </a:t>
            </a:r>
            <a:r>
              <a:rPr lang="ko-KR" altLang="en-US" dirty="0" smtClean="0"/>
              <a:t>어디에 서서 재는가</a:t>
            </a:r>
            <a:r>
              <a:rPr lang="en-US" altLang="ko-KR" dirty="0" smtClean="0"/>
              <a:t>, </a:t>
            </a:r>
            <a:r>
              <a:rPr lang="ko-KR" altLang="en-US" dirty="0" smtClean="0"/>
              <a:t>어디를 보고 재는가</a:t>
            </a:r>
            <a:r>
              <a:rPr lang="en-US" altLang="ko-KR" dirty="0" smtClean="0"/>
              <a:t>.</a:t>
            </a:r>
          </a:p>
          <a:p>
            <a:r>
              <a:rPr lang="ko-KR" altLang="en-US" dirty="0" smtClean="0"/>
              <a:t>그 둘을 미리 정해 둔 약속이 좌표계고</a:t>
            </a:r>
            <a:r>
              <a:rPr lang="en-US" altLang="ko-KR" dirty="0" smtClean="0"/>
              <a:t>, </a:t>
            </a:r>
            <a:r>
              <a:rPr lang="ko-KR" altLang="en-US" dirty="0" smtClean="0"/>
              <a:t>약속이 다른 두 숫자를 서로 옮겨 주는 계산이 좌표 변환입니다</a:t>
            </a:r>
            <a:r>
              <a:rPr lang="en-US" altLang="ko-KR" dirty="0" smtClean="0"/>
              <a: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smtClean="0"/>
              <a:t>좌표변환은 </a:t>
            </a:r>
            <a:r>
              <a:rPr lang="ko-KR" altLang="en-US" baseline="0" dirty="0" smtClean="0"/>
              <a:t>딱 두 가지로 이루어집니다</a:t>
            </a:r>
            <a:r>
              <a:rPr lang="en-US" altLang="ko-KR" baseline="0" dirty="0" smtClean="0"/>
              <a:t>.</a:t>
            </a:r>
          </a:p>
          <a:p>
            <a:r>
              <a:rPr lang="ko-KR" altLang="en-US" baseline="0" dirty="0" smtClean="0"/>
              <a:t>축이 어긋나 있으면 회전</a:t>
            </a:r>
            <a:r>
              <a:rPr lang="en-US" altLang="ko-KR" baseline="0" dirty="0" smtClean="0"/>
              <a:t>, </a:t>
            </a:r>
            <a:r>
              <a:rPr lang="ko-KR" altLang="en-US" baseline="0" dirty="0" smtClean="0"/>
              <a:t>원점이 떨어져 있으면 평행이동</a:t>
            </a:r>
            <a:r>
              <a:rPr lang="en-US" altLang="ko-KR" baseline="0" dirty="0" smtClean="0"/>
              <a:t>.</a:t>
            </a:r>
          </a:p>
          <a:p>
            <a:r>
              <a:rPr lang="ko-KR" altLang="en-US" baseline="0" dirty="0" smtClean="0"/>
              <a:t>회전은 방향만 바꾸고 길이와 각도는 그대로 두며</a:t>
            </a:r>
            <a:r>
              <a:rPr lang="en-US" altLang="ko-KR" baseline="0" dirty="0" smtClean="0"/>
              <a:t>, </a:t>
            </a:r>
            <a:r>
              <a:rPr lang="ko-KR" altLang="en-US" baseline="0" dirty="0" smtClean="0"/>
              <a:t>평행이동은 자리만 옮기고 방향은 건드리지 않습니다</a:t>
            </a:r>
            <a:r>
              <a:rPr lang="en-US" altLang="ko-KR" baseline="0" dirty="0" smtClean="0"/>
              <a:t>.</a:t>
            </a:r>
          </a:p>
          <a:p>
            <a:r>
              <a:rPr lang="ko-KR" altLang="en-US" baseline="0" dirty="0" smtClean="0"/>
              <a:t>앞으로 나올 모든 단계가 </a:t>
            </a:r>
            <a:r>
              <a:rPr lang="en-US" altLang="ko-KR" baseline="0" dirty="0" smtClean="0"/>
              <a:t>‘</a:t>
            </a:r>
            <a:r>
              <a:rPr lang="ko-KR" altLang="en-US" baseline="0" dirty="0" smtClean="0"/>
              <a:t>새 좌표 </a:t>
            </a:r>
            <a:r>
              <a:rPr lang="en-US" altLang="ko-KR" baseline="0" dirty="0" smtClean="0"/>
              <a:t>= R </a:t>
            </a:r>
            <a:r>
              <a:rPr lang="ko-KR" altLang="en-US" baseline="0" dirty="0" smtClean="0"/>
              <a:t>곱하기 기존 좌표</a:t>
            </a:r>
            <a:r>
              <a:rPr lang="en-US" altLang="ko-KR" baseline="0" dirty="0" smtClean="0"/>
              <a:t>, </a:t>
            </a:r>
            <a:r>
              <a:rPr lang="ko-KR" altLang="en-US" baseline="0" dirty="0" smtClean="0"/>
              <a:t>더하기 </a:t>
            </a:r>
            <a:r>
              <a:rPr lang="en-US" altLang="ko-KR" baseline="0" dirty="0" smtClean="0"/>
              <a:t>t’ </a:t>
            </a:r>
            <a:r>
              <a:rPr lang="ko-KR" altLang="en-US" baseline="0" dirty="0" smtClean="0"/>
              <a:t>이 한 줄로 동작합니다</a:t>
            </a:r>
            <a:r>
              <a:rPr lang="en-US" altLang="ko-KR" baseline="0" dirty="0" smtClean="0"/>
              <a:t>.</a:t>
            </a:r>
            <a:endParaRPr lang="en-US" altLang="ko-KR" dirty="0" smtClean="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smtClean="0"/>
              <a:t>회전행렬은 점을 </a:t>
            </a:r>
            <a:r>
              <a:rPr lang="ko-KR" altLang="en-US" dirty="0" err="1" smtClean="0"/>
              <a:t>극좌표로</a:t>
            </a:r>
            <a:r>
              <a:rPr lang="ko-KR" altLang="en-US" dirty="0" smtClean="0"/>
              <a:t> 쓰고 </a:t>
            </a:r>
            <a:r>
              <a:rPr lang="ko-KR" altLang="en-US" dirty="0" err="1" smtClean="0"/>
              <a:t>세타만큼</a:t>
            </a:r>
            <a:r>
              <a:rPr lang="ko-KR" altLang="en-US" dirty="0" smtClean="0"/>
              <a:t> 더 돌리면 삼각함수 덧셈정리 한 줄에서 그대로 나옵니다</a:t>
            </a:r>
            <a:r>
              <a:rPr lang="en-US" altLang="ko-KR" dirty="0" smtClean="0"/>
              <a:t>.</a:t>
            </a:r>
          </a:p>
          <a:p>
            <a:r>
              <a:rPr lang="en-US" dirty="0" smtClean="0"/>
              <a:t>Z</a:t>
            </a:r>
            <a:r>
              <a:rPr lang="ko-KR" altLang="en-US" dirty="0" smtClean="0"/>
              <a:t>축 기준으로 회전을 예시로 계산해보면</a:t>
            </a:r>
            <a:r>
              <a:rPr lang="en-US" altLang="ko-KR" dirty="0" smtClean="0"/>
              <a:t>, </a:t>
            </a:r>
            <a:r>
              <a:rPr lang="ko-KR" altLang="en-US" dirty="0" smtClean="0"/>
              <a:t>점 </a:t>
            </a:r>
            <a:r>
              <a:rPr lang="en-US" altLang="ko-KR" dirty="0" smtClean="0"/>
              <a:t>P</a:t>
            </a:r>
            <a:r>
              <a:rPr lang="ko-KR" altLang="en-US" dirty="0" smtClean="0"/>
              <a:t>를 </a:t>
            </a:r>
            <a:r>
              <a:rPr lang="ko-KR" altLang="en-US" dirty="0" err="1" smtClean="0"/>
              <a:t>극좌표로</a:t>
            </a:r>
            <a:r>
              <a:rPr lang="ko-KR" altLang="en-US" dirty="0" smtClean="0"/>
              <a:t> 쓰면</a:t>
            </a:r>
            <a:r>
              <a:rPr lang="en-US" altLang="ko-KR" dirty="0" smtClean="0"/>
              <a:t>, x</a:t>
            </a:r>
            <a:r>
              <a:rPr lang="ko-KR" altLang="en-US" dirty="0" smtClean="0"/>
              <a:t>는 </a:t>
            </a:r>
            <a:r>
              <a:rPr lang="en-US" altLang="ko-KR" dirty="0" smtClean="0"/>
              <a:t>r cos </a:t>
            </a:r>
            <a:r>
              <a:rPr lang="ko-KR" altLang="en-US" dirty="0" smtClean="0"/>
              <a:t>알파</a:t>
            </a:r>
            <a:r>
              <a:rPr lang="en-US" altLang="ko-KR" dirty="0" smtClean="0"/>
              <a:t>, y</a:t>
            </a:r>
            <a:r>
              <a:rPr lang="ko-KR" altLang="en-US" baseline="0" dirty="0" smtClean="0"/>
              <a:t>는 </a:t>
            </a:r>
            <a:r>
              <a:rPr lang="en-US" altLang="ko-KR" baseline="0" dirty="0" smtClean="0"/>
              <a:t>r sin</a:t>
            </a:r>
            <a:r>
              <a:rPr lang="ko-KR" altLang="en-US" baseline="0" dirty="0" smtClean="0"/>
              <a:t>알파가 되는데</a:t>
            </a:r>
            <a:r>
              <a:rPr lang="en-US" altLang="ko-KR" baseline="0" dirty="0" smtClean="0"/>
              <a:t>,</a:t>
            </a:r>
          </a:p>
          <a:p>
            <a:r>
              <a:rPr lang="ko-KR" altLang="en-US" baseline="0" dirty="0" smtClean="0"/>
              <a:t>여기서 알파 각에서 </a:t>
            </a:r>
            <a:r>
              <a:rPr lang="ko-KR" altLang="en-US" baseline="0" dirty="0" err="1" smtClean="0"/>
              <a:t>세타</a:t>
            </a:r>
            <a:r>
              <a:rPr lang="ko-KR" altLang="en-US" baseline="0" dirty="0" smtClean="0"/>
              <a:t> 각을 더하면 삼각함수 덧셈 공식에 의해 풀어지고</a:t>
            </a:r>
            <a:r>
              <a:rPr lang="en-US" altLang="ko-KR" baseline="0" dirty="0" smtClean="0"/>
              <a:t>, </a:t>
            </a:r>
            <a:r>
              <a:rPr lang="ko-KR" altLang="en-US" baseline="0" dirty="0" smtClean="0"/>
              <a:t>앞에서 정한 </a:t>
            </a:r>
            <a:r>
              <a:rPr lang="en-US" altLang="ko-KR" baseline="0" dirty="0" smtClean="0"/>
              <a:t>x, y</a:t>
            </a:r>
            <a:r>
              <a:rPr lang="ko-KR" altLang="en-US" baseline="0" dirty="0" smtClean="0"/>
              <a:t>를 대입하면 아래와 같이 나옵니다</a:t>
            </a:r>
            <a:r>
              <a:rPr lang="en-US" altLang="ko-KR" baseline="0" dirty="0" smtClean="0"/>
              <a:t>.</a:t>
            </a:r>
          </a:p>
          <a:p>
            <a:r>
              <a:rPr lang="ko-KR" altLang="en-US" baseline="0" dirty="0" smtClean="0"/>
              <a:t>여기서 </a:t>
            </a:r>
            <a:r>
              <a:rPr lang="en-US" altLang="ko-KR" baseline="0" dirty="0" smtClean="0"/>
              <a:t>z</a:t>
            </a:r>
            <a:r>
              <a:rPr lang="ko-KR" altLang="en-US" baseline="0" dirty="0" smtClean="0"/>
              <a:t>축을 포함해서 </a:t>
            </a:r>
            <a:r>
              <a:rPr lang="en-US" altLang="ko-KR" baseline="0" dirty="0" smtClean="0"/>
              <a:t>3x3 </a:t>
            </a:r>
            <a:r>
              <a:rPr lang="ko-KR" altLang="en-US" baseline="0" dirty="0" smtClean="0"/>
              <a:t>회전행렬을 만들면 </a:t>
            </a:r>
            <a:r>
              <a:rPr lang="en-US" altLang="ko-KR" baseline="0" dirty="0" err="1" smtClean="0"/>
              <a:t>Rz</a:t>
            </a:r>
            <a:r>
              <a:rPr lang="en-US" altLang="ko-KR" baseline="0" dirty="0" smtClean="0"/>
              <a:t>(</a:t>
            </a:r>
            <a:r>
              <a:rPr lang="ko-KR" altLang="ko-KR" sz="1200" b="0" dirty="0" smtClean="0">
                <a:solidFill>
                  <a:srgbClr val="1A2233"/>
                </a:solidFill>
                <a:latin typeface="Consolas" pitchFamily="34" charset="0"/>
                <a:ea typeface="Consolas" pitchFamily="34" charset="-122"/>
                <a:cs typeface="Consolas" pitchFamily="34" charset="-120"/>
              </a:rPr>
              <a:t>θ</a:t>
            </a:r>
            <a:r>
              <a:rPr lang="en-US" altLang="ko-KR" sz="1200" b="0" dirty="0" smtClean="0">
                <a:solidFill>
                  <a:srgbClr val="1A2233"/>
                </a:solidFill>
                <a:latin typeface="Consolas" pitchFamily="34" charset="0"/>
                <a:ea typeface="Consolas" pitchFamily="34" charset="-122"/>
                <a:cs typeface="Consolas" pitchFamily="34" charset="-120"/>
              </a:rPr>
              <a:t>)</a:t>
            </a:r>
            <a:r>
              <a:rPr lang="ko-KR" altLang="en-US" sz="1200" b="0" dirty="0" smtClean="0">
                <a:solidFill>
                  <a:srgbClr val="1A2233"/>
                </a:solidFill>
                <a:latin typeface="Consolas" pitchFamily="34" charset="0"/>
                <a:ea typeface="Consolas" pitchFamily="34" charset="-122"/>
                <a:cs typeface="Consolas" pitchFamily="34" charset="-120"/>
              </a:rPr>
              <a:t>가</a:t>
            </a:r>
            <a:r>
              <a:rPr lang="en-US" altLang="ko-KR" sz="1200" b="0" dirty="0" smtClean="0">
                <a:solidFill>
                  <a:srgbClr val="1A2233"/>
                </a:solidFill>
                <a:latin typeface="Consolas" pitchFamily="34" charset="0"/>
                <a:ea typeface="Consolas" pitchFamily="34" charset="-122"/>
                <a:cs typeface="Consolas" pitchFamily="34" charset="-120"/>
              </a:rPr>
              <a:t> </a:t>
            </a:r>
            <a:r>
              <a:rPr lang="ko-KR" altLang="en-US" sz="1200" b="0" dirty="0" smtClean="0">
                <a:solidFill>
                  <a:srgbClr val="1A2233"/>
                </a:solidFill>
                <a:latin typeface="Consolas" pitchFamily="34" charset="0"/>
                <a:ea typeface="Consolas" pitchFamily="34" charset="-122"/>
                <a:cs typeface="Consolas" pitchFamily="34" charset="-120"/>
              </a:rPr>
              <a:t>됩니다</a:t>
            </a:r>
            <a:r>
              <a:rPr lang="en-US" altLang="ko-KR" sz="1200" b="0" dirty="0" smtClean="0">
                <a:solidFill>
                  <a:srgbClr val="1A2233"/>
                </a:solidFill>
                <a:latin typeface="Consolas" pitchFamily="34" charset="0"/>
                <a:ea typeface="Consolas" pitchFamily="34" charset="-122"/>
                <a:cs typeface="Consolas" pitchFamily="34" charset="-120"/>
              </a:rPr>
              <a:t>.</a:t>
            </a:r>
          </a:p>
          <a:p>
            <a:endParaRPr lang="en-US" sz="1200" b="0" dirty="0" smtClean="0">
              <a:solidFill>
                <a:srgbClr val="1A2233"/>
              </a:solidFill>
              <a:latin typeface="Consolas" pitchFamily="34" charset="0"/>
            </a:endParaRPr>
          </a:p>
          <a:p>
            <a:r>
              <a:rPr lang="ko-KR" altLang="en-US" sz="1200" b="0" dirty="0" smtClean="0">
                <a:solidFill>
                  <a:srgbClr val="1A2233"/>
                </a:solidFill>
                <a:latin typeface="Consolas" pitchFamily="34" charset="0"/>
              </a:rPr>
              <a:t>마찬가지로 </a:t>
            </a:r>
            <a:r>
              <a:rPr lang="en-US" altLang="ko-KR" sz="1200" b="0" dirty="0" smtClean="0">
                <a:solidFill>
                  <a:srgbClr val="1A2233"/>
                </a:solidFill>
                <a:latin typeface="Consolas" pitchFamily="34" charset="0"/>
              </a:rPr>
              <a:t>y</a:t>
            </a:r>
            <a:r>
              <a:rPr lang="ko-KR" altLang="en-US" sz="1200" b="0" dirty="0" smtClean="0">
                <a:solidFill>
                  <a:srgbClr val="1A2233"/>
                </a:solidFill>
                <a:latin typeface="Consolas" pitchFamily="34" charset="0"/>
              </a:rPr>
              <a:t>축</a:t>
            </a:r>
            <a:r>
              <a:rPr lang="en-US" altLang="ko-KR" sz="1200" b="0" dirty="0" smtClean="0">
                <a:solidFill>
                  <a:srgbClr val="1A2233"/>
                </a:solidFill>
                <a:latin typeface="Consolas" pitchFamily="34" charset="0"/>
              </a:rPr>
              <a:t>, x</a:t>
            </a:r>
            <a:r>
              <a:rPr lang="ko-KR" altLang="en-US" sz="1200" b="0" dirty="0" smtClean="0">
                <a:solidFill>
                  <a:srgbClr val="1A2233"/>
                </a:solidFill>
                <a:latin typeface="Consolas" pitchFamily="34" charset="0"/>
              </a:rPr>
              <a:t>축도 </a:t>
            </a:r>
            <a:r>
              <a:rPr lang="en-US" altLang="ko-KR" sz="1200" b="0" dirty="0" smtClean="0">
                <a:solidFill>
                  <a:srgbClr val="1A2233"/>
                </a:solidFill>
                <a:latin typeface="Consolas" pitchFamily="34" charset="0"/>
              </a:rPr>
              <a:t>Ry, Rx</a:t>
            </a:r>
            <a:r>
              <a:rPr lang="ko-KR" altLang="en-US" sz="1200" b="0" dirty="0" smtClean="0">
                <a:solidFill>
                  <a:srgbClr val="1A2233"/>
                </a:solidFill>
                <a:latin typeface="Consolas" pitchFamily="34" charset="0"/>
              </a:rPr>
              <a:t>와 같이 나옵니다</a:t>
            </a:r>
            <a:r>
              <a:rPr lang="en-US" altLang="ko-KR" sz="1200" b="0" dirty="0" smtClean="0">
                <a:solidFill>
                  <a:srgbClr val="1A2233"/>
                </a:solidFill>
                <a:latin typeface="Consolas" pitchFamily="34" charset="0"/>
              </a:rPr>
              <a:t>.</a:t>
            </a:r>
            <a:endParaRPr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ko-KR" altLang="en-US" dirty="0" smtClean="0"/>
              <a:t>이제 이번 설계에 등장하는 </a:t>
            </a:r>
            <a:r>
              <a:rPr lang="ko-KR" altLang="en-US" dirty="0" err="1" smtClean="0"/>
              <a:t>좌표계를</a:t>
            </a:r>
            <a:r>
              <a:rPr lang="ko-KR" altLang="en-US" dirty="0" smtClean="0"/>
              <a:t> 하나씩 보겠습니다</a:t>
            </a:r>
            <a:r>
              <a:rPr lang="en-US" altLang="ko-KR" dirty="0" smtClean="0"/>
              <a:t>.</a:t>
            </a:r>
          </a:p>
          <a:p>
            <a:r>
              <a:rPr lang="ko-KR" altLang="en-US" dirty="0" smtClean="0"/>
              <a:t>안테나에서 시작해 동체</a:t>
            </a:r>
            <a:r>
              <a:rPr lang="en-US" altLang="ko-KR" dirty="0" smtClean="0"/>
              <a:t>, INS,</a:t>
            </a:r>
            <a:r>
              <a:rPr lang="en-US" altLang="ko-KR" baseline="0" dirty="0" smtClean="0"/>
              <a:t> </a:t>
            </a:r>
            <a:r>
              <a:rPr lang="ko-KR" altLang="en-US" baseline="0" dirty="0" smtClean="0"/>
              <a:t>로컬 수평면</a:t>
            </a:r>
            <a:r>
              <a:rPr lang="en-US" altLang="ko-KR" baseline="0" dirty="0" smtClean="0"/>
              <a:t>, </a:t>
            </a:r>
            <a:r>
              <a:rPr lang="ko-KR" altLang="en-US" baseline="0" dirty="0" smtClean="0"/>
              <a:t>지구 중심</a:t>
            </a:r>
            <a:r>
              <a:rPr lang="en-US" altLang="ko-KR" baseline="0" dirty="0" smtClean="0"/>
              <a:t>, </a:t>
            </a:r>
            <a:r>
              <a:rPr lang="ko-KR" altLang="en-US" baseline="0" dirty="0" smtClean="0"/>
              <a:t>그리고 </a:t>
            </a:r>
            <a:r>
              <a:rPr lang="ko-KR" altLang="en-US" baseline="0" dirty="0" err="1" smtClean="0"/>
              <a:t>위경도까지</a:t>
            </a:r>
            <a:r>
              <a:rPr lang="ko-KR" altLang="en-US" baseline="0" dirty="0" smtClean="0"/>
              <a:t> 여섯 가지입니다</a:t>
            </a:r>
            <a:r>
              <a:rPr lang="en-US" altLang="ko-KR" baseline="0" dirty="0" smtClean="0"/>
              <a: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err="1" smtClean="0"/>
              <a:t>레이다가</a:t>
            </a:r>
            <a:r>
              <a:rPr lang="ko-KR" altLang="en-US" dirty="0" smtClean="0"/>
              <a:t> 물리적으로 잴 수 있는 건 거리 하나와 각도 </a:t>
            </a:r>
            <a:r>
              <a:rPr lang="ko-KR" altLang="en-US" dirty="0" err="1" smtClean="0"/>
              <a:t>두개</a:t>
            </a:r>
            <a:r>
              <a:rPr lang="ko-KR" altLang="en-US" dirty="0" smtClean="0"/>
              <a:t> 입니다</a:t>
            </a:r>
            <a:r>
              <a:rPr lang="en-US" altLang="ko-KR" dirty="0" smtClean="0"/>
              <a:t>.</a:t>
            </a:r>
          </a:p>
          <a:p>
            <a:r>
              <a:rPr lang="ko-KR" altLang="en-US" dirty="0" smtClean="0"/>
              <a:t>전파 왕복</a:t>
            </a:r>
            <a:r>
              <a:rPr lang="ko-KR" altLang="en-US" baseline="0" dirty="0" smtClean="0"/>
              <a:t> 시간으로 얻는 거리</a:t>
            </a:r>
            <a:r>
              <a:rPr lang="en-US" altLang="ko-KR" baseline="0" dirty="0" smtClean="0"/>
              <a:t>, </a:t>
            </a:r>
            <a:r>
              <a:rPr lang="ko-KR" altLang="en-US" baseline="0" dirty="0" smtClean="0"/>
              <a:t>그리고 안테나 정면인 보어사이트 기준의 방위각과 </a:t>
            </a:r>
            <a:r>
              <a:rPr lang="ko-KR" altLang="en-US" baseline="0" dirty="0" err="1" smtClean="0"/>
              <a:t>고각</a:t>
            </a:r>
            <a:r>
              <a:rPr lang="en-US" altLang="ko-KR" baseline="0" dirty="0" smtClean="0"/>
              <a:t>.</a:t>
            </a:r>
          </a:p>
          <a:p>
            <a:r>
              <a:rPr lang="ko-KR" altLang="en-US" baseline="0" dirty="0" smtClean="0"/>
              <a:t>이번 과제의 입력이 거리 </a:t>
            </a:r>
            <a:r>
              <a:rPr lang="en-US" altLang="ko-KR" baseline="0" dirty="0" smtClean="0"/>
              <a:t>20 </a:t>
            </a:r>
            <a:r>
              <a:rPr lang="ko-KR" altLang="en-US" baseline="0" dirty="0" smtClean="0"/>
              <a:t>킬로미터</a:t>
            </a:r>
            <a:r>
              <a:rPr lang="en-US" altLang="ko-KR" baseline="0" dirty="0" smtClean="0"/>
              <a:t>, </a:t>
            </a:r>
            <a:r>
              <a:rPr lang="ko-KR" altLang="en-US" baseline="0" dirty="0" smtClean="0"/>
              <a:t>방위 </a:t>
            </a:r>
            <a:r>
              <a:rPr lang="en-US" altLang="ko-KR" baseline="0" dirty="0" smtClean="0"/>
              <a:t>30</a:t>
            </a:r>
            <a:r>
              <a:rPr lang="ko-KR" altLang="en-US" baseline="0" dirty="0" smtClean="0"/>
              <a:t>도</a:t>
            </a:r>
            <a:r>
              <a:rPr lang="en-US" altLang="ko-KR" baseline="0" dirty="0" smtClean="0"/>
              <a:t>, </a:t>
            </a:r>
            <a:r>
              <a:rPr lang="ko-KR" altLang="en-US" baseline="0" dirty="0" err="1" smtClean="0"/>
              <a:t>고각</a:t>
            </a:r>
            <a:r>
              <a:rPr lang="ko-KR" altLang="en-US" baseline="0" dirty="0" smtClean="0"/>
              <a:t> </a:t>
            </a:r>
            <a:r>
              <a:rPr lang="en-US" altLang="ko-KR" baseline="0" dirty="0" smtClean="0"/>
              <a:t>0</a:t>
            </a:r>
            <a:r>
              <a:rPr lang="ko-KR" altLang="en-US" baseline="0" dirty="0" smtClean="0"/>
              <a:t>도 입니다</a:t>
            </a:r>
            <a:r>
              <a:rPr lang="en-US" altLang="ko-KR" baseline="0" dirty="0" smtClean="0"/>
              <a:t>. </a:t>
            </a:r>
            <a:r>
              <a:rPr lang="ko-KR" altLang="en-US" baseline="0" dirty="0" smtClean="0"/>
              <a:t>모든 변환이 이 세 숫자에서 출발합니다</a:t>
            </a:r>
            <a:r>
              <a:rPr lang="en-US" altLang="ko-KR" baseline="0" dirty="0" smtClean="0"/>
              <a:t>.</a:t>
            </a:r>
          </a:p>
          <a:p>
            <a:r>
              <a:rPr lang="ko-KR" altLang="en-US" baseline="0" dirty="0" smtClean="0"/>
              <a:t>그리고 참고문서에서 좌측이 </a:t>
            </a:r>
            <a:r>
              <a:rPr lang="en-US" altLang="ko-KR" baseline="0" dirty="0" smtClean="0"/>
              <a:t>x, </a:t>
            </a:r>
            <a:r>
              <a:rPr lang="ko-KR" altLang="en-US" baseline="0" dirty="0" smtClean="0"/>
              <a:t>위가 </a:t>
            </a:r>
            <a:r>
              <a:rPr lang="en-US" altLang="ko-KR" baseline="0" dirty="0" smtClean="0"/>
              <a:t>y, </a:t>
            </a:r>
            <a:r>
              <a:rPr lang="ko-KR" altLang="en-US" baseline="0" dirty="0" smtClean="0"/>
              <a:t>정면이 </a:t>
            </a:r>
            <a:r>
              <a:rPr lang="en-US" altLang="ko-KR" baseline="0" dirty="0" smtClean="0"/>
              <a:t>z</a:t>
            </a:r>
            <a:r>
              <a:rPr lang="ko-KR" altLang="en-US" baseline="0" dirty="0" smtClean="0"/>
              <a:t>라고 정의하기 때문에</a:t>
            </a:r>
            <a:r>
              <a:rPr lang="en-US" altLang="ko-KR" baseline="0" dirty="0" smtClean="0"/>
              <a:t>, </a:t>
            </a:r>
            <a:r>
              <a:rPr lang="ko-KR" altLang="en-US" baseline="0" dirty="0" smtClean="0"/>
              <a:t>그에 따라 설계해야 합니다</a:t>
            </a:r>
            <a:r>
              <a:rPr lang="en-US" altLang="ko-KR" baseline="0" dirty="0" smtClean="0"/>
              <a:t>.</a:t>
            </a:r>
            <a:endParaRPr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ko-KR" altLang="en-US" dirty="0" err="1" smtClean="0"/>
              <a:t>극좌표에</a:t>
            </a:r>
            <a:r>
              <a:rPr lang="ko-KR" altLang="en-US" dirty="0" smtClean="0"/>
              <a:t> 바로 회전 행렬을 적용할 수 없습니다</a:t>
            </a:r>
            <a:r>
              <a:rPr lang="en-US" altLang="ko-KR" dirty="0" smtClean="0"/>
              <a:t>.</a:t>
            </a:r>
          </a:p>
          <a:p>
            <a:r>
              <a:rPr lang="ko-KR" altLang="en-US" dirty="0" smtClean="0"/>
              <a:t>그래서 같은 표적을 </a:t>
            </a:r>
            <a:r>
              <a:rPr lang="en-US" altLang="ko-KR" dirty="0" smtClean="0"/>
              <a:t>x, y, z </a:t>
            </a:r>
            <a:r>
              <a:rPr lang="ko-KR" altLang="en-US" dirty="0" smtClean="0"/>
              <a:t>세 방향 거리로 다시 적습니다</a:t>
            </a:r>
            <a:r>
              <a:rPr lang="en-US" altLang="ko-KR" dirty="0" smtClean="0"/>
              <a:t>.</a:t>
            </a:r>
          </a:p>
          <a:p>
            <a:r>
              <a:rPr lang="ko-KR" altLang="en-US" dirty="0" smtClean="0"/>
              <a:t>표적까지 거리가 </a:t>
            </a:r>
            <a:r>
              <a:rPr lang="en-US" altLang="ko-KR" dirty="0" smtClean="0"/>
              <a:t>R</a:t>
            </a:r>
            <a:r>
              <a:rPr lang="ko-KR" altLang="en-US" dirty="0" smtClean="0"/>
              <a:t>이니 </a:t>
            </a:r>
            <a:r>
              <a:rPr lang="en-US" altLang="ko-KR" dirty="0" err="1" smtClean="0"/>
              <a:t>Rcos</a:t>
            </a:r>
            <a:r>
              <a:rPr lang="en-US" altLang="ko-KR" dirty="0" smtClean="0"/>
              <a:t>(El)</a:t>
            </a:r>
            <a:r>
              <a:rPr lang="ko-KR" altLang="en-US" dirty="0" smtClean="0"/>
              <a:t>이 수평거리가 되고</a:t>
            </a:r>
            <a:r>
              <a:rPr lang="en-US" altLang="ko-KR" dirty="0" smtClean="0"/>
              <a:t>, y</a:t>
            </a:r>
            <a:r>
              <a:rPr lang="ko-KR" altLang="en-US" dirty="0" smtClean="0"/>
              <a:t>축은 </a:t>
            </a:r>
            <a:r>
              <a:rPr lang="en-US" altLang="ko-KR" dirty="0" err="1" smtClean="0"/>
              <a:t>Rsin</a:t>
            </a:r>
            <a:r>
              <a:rPr lang="en-US" altLang="ko-KR" dirty="0" smtClean="0"/>
              <a:t>(El)</a:t>
            </a:r>
            <a:r>
              <a:rPr lang="ko-KR" altLang="en-US" dirty="0" smtClean="0"/>
              <a:t>가 됩니다</a:t>
            </a:r>
            <a:r>
              <a:rPr lang="en-US" altLang="ko-KR" dirty="0" smtClean="0"/>
              <a:t>.</a:t>
            </a:r>
          </a:p>
          <a:p>
            <a:r>
              <a:rPr lang="ko-KR" altLang="en-US" dirty="0" smtClean="0"/>
              <a:t>그리고 그 값을 토대로 </a:t>
            </a:r>
            <a:r>
              <a:rPr lang="en-US" altLang="ko-KR" dirty="0" smtClean="0"/>
              <a:t>z</a:t>
            </a:r>
            <a:r>
              <a:rPr lang="ko-KR" altLang="en-US" dirty="0" smtClean="0"/>
              <a:t>축이 </a:t>
            </a:r>
            <a:r>
              <a:rPr lang="en-US" altLang="ko-KR" dirty="0" smtClean="0"/>
              <a:t>R*cos(El)*cos(</a:t>
            </a:r>
            <a:r>
              <a:rPr lang="en-US" altLang="ko-KR" dirty="0" err="1" smtClean="0"/>
              <a:t>Az</a:t>
            </a:r>
            <a:r>
              <a:rPr lang="en-US" altLang="ko-KR" dirty="0" smtClean="0"/>
              <a:t>)</a:t>
            </a:r>
            <a:r>
              <a:rPr lang="ko-KR" altLang="en-US" dirty="0" smtClean="0"/>
              <a:t>이 되고</a:t>
            </a:r>
            <a:r>
              <a:rPr lang="en-US" altLang="ko-KR" dirty="0" smtClean="0"/>
              <a:t>, x</a:t>
            </a:r>
            <a:r>
              <a:rPr lang="ko-KR" altLang="en-US" dirty="0" smtClean="0"/>
              <a:t>축이 </a:t>
            </a:r>
            <a:r>
              <a:rPr lang="en-US" altLang="ko-KR" dirty="0" smtClean="0"/>
              <a:t>R*cos(El)*sin(</a:t>
            </a:r>
            <a:r>
              <a:rPr lang="en-US" altLang="ko-KR" dirty="0" err="1" smtClean="0"/>
              <a:t>Az</a:t>
            </a:r>
            <a:r>
              <a:rPr lang="en-US" altLang="ko-KR" dirty="0" smtClean="0"/>
              <a:t>)</a:t>
            </a:r>
            <a:r>
              <a:rPr lang="ko-KR" altLang="en-US" dirty="0" smtClean="0"/>
              <a:t>가 됩니다</a:t>
            </a:r>
            <a:r>
              <a:rPr lang="en-US" altLang="ko-KR" dirty="0" smtClean="0"/>
              <a:t>.</a:t>
            </a:r>
          </a:p>
          <a:p>
            <a:r>
              <a:rPr lang="ko-KR" altLang="en-US" dirty="0" smtClean="0"/>
              <a:t>여기에 이번 과제의 예제를 대입해보면 </a:t>
            </a:r>
            <a:r>
              <a:rPr lang="en-US" altLang="ko-KR" dirty="0" smtClean="0"/>
              <a:t>x, y, z </a:t>
            </a:r>
            <a:r>
              <a:rPr lang="ko-KR" altLang="en-US" dirty="0" smtClean="0"/>
              <a:t>좌표가 이렇게 계산됩니다</a:t>
            </a:r>
            <a:r>
              <a:rPr lang="en-US" altLang="ko-KR" dirty="0" smtClean="0"/>
              <a:t>.</a:t>
            </a:r>
            <a:endParaRPr lang="ko-KR" altLang="en-US" dirty="0"/>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UV 는 표적 방향을 길이 1 인 화살표로 보고 세 축에 나눠 담은 값입니다.</a:t>
            </a:r>
          </a:p>
          <a:p>
            <a:r>
              <a:t>길이가 1 이라 u² + v² + w² = 1 이고, 그래서 방향은 언제나 반지름 1 인 반구 위의 한 점이 됩니다.</a:t>
            </a:r>
          </a:p>
          <a:p>
            <a:r>
              <a:t>그 점을 안테나 면에 내린 그림자가 (u, v) 이고, 남은 높이가 w 입니다.</a:t>
            </a:r>
          </a:p>
          <a:p>
            <a:r>
              <a:t>다만 UV 에는 거리가 없습니다. 방향만 담는 표현이라 표적 위치를 옮기는 이번 체인에는 들어가지 않습니다.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안테나에서 나온 값을 이제 배 기준으로 옮깁니다.</a:t>
            </a:r>
          </a:p>
          <a:p/>
          <a:p>
            <a:r>
              <a:t>동체 좌표계는 FRD 입니다. Forward-Right-Down. X가 선수 앞, y가 우현, z가 아래입니다.</a:t>
            </a:r>
          </a:p>
          <a:p>
            <a:r>
              <a:t>원점은 배의 무게중심이고, 세 축은 배에 붙어서 배와 함께 움직입니다.</a:t>
            </a:r>
          </a:p>
          <a:p>
            <a:r>
              <a:t>안테나에서 동체로 가는 데 필요한 정보는 세 가지입니다.</a:t>
            </a:r>
          </a:p>
          <a:p>
            <a:r>
              <a:t>먼저 안테나가 뱃머리 기준 어느 방향으로 달렸냐 하는 설치 방위, 안테나 면을 위로 얼마나 들었냐 하는 백틸트, 마지막으로 무게중심에서 안테나가 얼마나 벗어나있냐 하는 레버암입니다.</a:t>
            </a:r>
          </a:p>
          <a:p>
            <a:r>
              <a:t>이번 과제에서는 설치 방위 90도, 백틸트 0도, 레버암 (-30, 0, -10) 미터를 줬기 때문에, 아래 흐름도로 어떻게 변환이 진행되는지 표현할 수 있습니다.</a:t>
            </a:r>
          </a:p>
          <a:p>
            <a:r>
              <a:t>여기서 축 맞춤 A라는 단계가 있는데, 이것은 동체 좌표계의 FRD의 x, y, z 좌표와 안테나의 x, y, z 좌표가 바라보는 방향들이 다르기 때문에 이걸 맞춰줘야 합니다.</a:t>
            </a:r>
          </a:p>
          <a:p>
            <a:r>
              <a:t>그래서 그 축 맞춤을 해주는 행렬을 적용시켜주는 단계입니다.</a:t>
            </a:r>
          </a:p>
          <a:p>
            <a:r>
              <a:t>회전은 축 맞춤을 먼저 걸고 설치 방위, 백틸트 순으로 돌린 다음, 마지막에 레버암을 더합니다. 설치 방위와 백틸트의 순서는 12장 자세 회전을 yaw, pitch 순으로 거는 것과 같은 약속입니다.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INS 는 </a:t>
            </a:r>
            <a:r>
              <a:rPr dirty="0" err="1"/>
              <a:t>배의</a:t>
            </a:r>
            <a:r>
              <a:rPr dirty="0"/>
              <a:t> </a:t>
            </a:r>
            <a:r>
              <a:rPr dirty="0" err="1"/>
              <a:t>자세와</a:t>
            </a:r>
            <a:r>
              <a:rPr dirty="0"/>
              <a:t> </a:t>
            </a:r>
            <a:r>
              <a:rPr dirty="0" err="1"/>
              <a:t>위치를</a:t>
            </a:r>
            <a:r>
              <a:rPr dirty="0"/>
              <a:t> </a:t>
            </a:r>
            <a:r>
              <a:rPr dirty="0" err="1"/>
              <a:t>재서</a:t>
            </a:r>
            <a:r>
              <a:rPr dirty="0"/>
              <a:t> </a:t>
            </a:r>
            <a:r>
              <a:rPr dirty="0" err="1"/>
              <a:t>주는</a:t>
            </a:r>
            <a:r>
              <a:rPr dirty="0"/>
              <a:t> </a:t>
            </a:r>
            <a:r>
              <a:rPr dirty="0" err="1"/>
              <a:t>장치입니다</a:t>
            </a:r>
            <a:r>
              <a:rPr dirty="0"/>
              <a:t>. </a:t>
            </a:r>
            <a:endParaRPr lang="en-US" dirty="0" smtClean="0"/>
          </a:p>
          <a:p>
            <a:r>
              <a:rPr b="0" smtClean="0"/>
              <a:t>이 </a:t>
            </a:r>
            <a:r>
              <a:rPr b="0" dirty="0" err="1"/>
              <a:t>과제에서는</a:t>
            </a:r>
            <a:r>
              <a:rPr b="0" dirty="0"/>
              <a:t> </a:t>
            </a:r>
            <a:r>
              <a:rPr b="0" dirty="0" err="1"/>
              <a:t>무게중심에</a:t>
            </a:r>
            <a:r>
              <a:rPr b="0" dirty="0"/>
              <a:t> </a:t>
            </a:r>
            <a:r>
              <a:rPr b="0" dirty="0" err="1"/>
              <a:t>축을</a:t>
            </a:r>
            <a:r>
              <a:rPr b="0" dirty="0"/>
              <a:t> </a:t>
            </a:r>
            <a:r>
              <a:rPr b="0" dirty="0" err="1"/>
              <a:t>맞춰</a:t>
            </a:r>
            <a:r>
              <a:rPr b="0" dirty="0"/>
              <a:t> </a:t>
            </a:r>
            <a:r>
              <a:rPr b="0" dirty="0" err="1"/>
              <a:t>달아</a:t>
            </a:r>
            <a:r>
              <a:rPr b="0" dirty="0"/>
              <a:t> </a:t>
            </a:r>
            <a:r>
              <a:rPr b="0" dirty="0" err="1"/>
              <a:t>동체</a:t>
            </a:r>
            <a:r>
              <a:rPr b="0" dirty="0"/>
              <a:t> </a:t>
            </a:r>
            <a:r>
              <a:rPr b="0" dirty="0" err="1"/>
              <a:t>좌표계와</a:t>
            </a:r>
            <a:r>
              <a:rPr b="0" dirty="0"/>
              <a:t> </a:t>
            </a:r>
            <a:r>
              <a:rPr b="0" dirty="0" err="1"/>
              <a:t>같습니다</a:t>
            </a:r>
            <a:r>
              <a:rPr b="0" dirty="0"/>
              <a:t>. </a:t>
            </a:r>
            <a:endParaRPr lang="en-US" b="0" dirty="0" smtClean="0"/>
          </a:p>
          <a:p>
            <a:endParaRPr lang="en-US" dirty="0" smtClean="0"/>
          </a:p>
          <a:p>
            <a:r>
              <a:rPr dirty="0" err="1" smtClean="0"/>
              <a:t>자세가</a:t>
            </a:r>
            <a:r>
              <a:rPr dirty="0" smtClean="0"/>
              <a:t> </a:t>
            </a:r>
            <a:r>
              <a:rPr dirty="0"/>
              <a:t>위 </a:t>
            </a:r>
            <a:r>
              <a:rPr dirty="0" err="1"/>
              <a:t>그림의</a:t>
            </a:r>
            <a:r>
              <a:rPr dirty="0"/>
              <a:t> 세 </a:t>
            </a:r>
            <a:r>
              <a:rPr dirty="0" err="1"/>
              <a:t>각입니다</a:t>
            </a:r>
            <a:r>
              <a:rPr dirty="0"/>
              <a:t>. </a:t>
            </a:r>
            <a:endParaRPr lang="en-US" dirty="0" smtClean="0"/>
          </a:p>
          <a:p>
            <a:r>
              <a:rPr dirty="0" smtClean="0"/>
              <a:t>roll </a:t>
            </a:r>
            <a:r>
              <a:rPr dirty="0"/>
              <a:t>은 </a:t>
            </a:r>
            <a:r>
              <a:rPr dirty="0" err="1"/>
              <a:t>좌우</a:t>
            </a:r>
            <a:r>
              <a:rPr dirty="0"/>
              <a:t> </a:t>
            </a:r>
            <a:r>
              <a:rPr dirty="0" err="1"/>
              <a:t>기울기</a:t>
            </a:r>
            <a:r>
              <a:rPr dirty="0"/>
              <a:t>, pitch 는 </a:t>
            </a:r>
            <a:r>
              <a:rPr dirty="0" err="1"/>
              <a:t>앞뒤</a:t>
            </a:r>
            <a:r>
              <a:rPr dirty="0"/>
              <a:t> </a:t>
            </a:r>
            <a:r>
              <a:rPr dirty="0" err="1"/>
              <a:t>기울기</a:t>
            </a:r>
            <a:r>
              <a:rPr dirty="0"/>
              <a:t>, yaw 는 </a:t>
            </a:r>
            <a:r>
              <a:rPr dirty="0" err="1"/>
              <a:t>진북에서</a:t>
            </a:r>
            <a:r>
              <a:rPr dirty="0"/>
              <a:t> </a:t>
            </a:r>
            <a:r>
              <a:rPr dirty="0" err="1"/>
              <a:t>시계방향으로</a:t>
            </a:r>
            <a:r>
              <a:rPr dirty="0"/>
              <a:t> 잰 </a:t>
            </a:r>
            <a:r>
              <a:rPr dirty="0" err="1"/>
              <a:t>선수</a:t>
            </a:r>
            <a:r>
              <a:rPr dirty="0"/>
              <a:t> </a:t>
            </a:r>
            <a:r>
              <a:rPr dirty="0" err="1"/>
              <a:t>방위입니다</a:t>
            </a:r>
            <a:r>
              <a:rPr dirty="0"/>
              <a:t>. </a:t>
            </a:r>
            <a:endParaRPr lang="en-US" dirty="0" smtClean="0"/>
          </a:p>
          <a:p>
            <a:r>
              <a:rPr dirty="0" smtClean="0"/>
              <a:t>셋 </a:t>
            </a:r>
            <a:r>
              <a:rPr dirty="0"/>
              <a:t>다 </a:t>
            </a:r>
            <a:r>
              <a:rPr dirty="0" err="1"/>
              <a:t>동체</a:t>
            </a:r>
            <a:r>
              <a:rPr dirty="0"/>
              <a:t> </a:t>
            </a:r>
            <a:r>
              <a:rPr dirty="0" err="1"/>
              <a:t>축이</a:t>
            </a:r>
            <a:r>
              <a:rPr dirty="0"/>
              <a:t> 북 · 동 · </a:t>
            </a:r>
            <a:r>
              <a:rPr dirty="0" err="1"/>
              <a:t>아래에</a:t>
            </a:r>
            <a:r>
              <a:rPr dirty="0"/>
              <a:t> </a:t>
            </a:r>
            <a:r>
              <a:rPr dirty="0" err="1"/>
              <a:t>대해</a:t>
            </a:r>
            <a:r>
              <a:rPr dirty="0"/>
              <a:t> </a:t>
            </a:r>
            <a:r>
              <a:rPr dirty="0" err="1"/>
              <a:t>얼마나</a:t>
            </a:r>
            <a:r>
              <a:rPr dirty="0"/>
              <a:t> </a:t>
            </a:r>
            <a:r>
              <a:rPr dirty="0" err="1"/>
              <a:t>돌아가</a:t>
            </a:r>
            <a:r>
              <a:rPr dirty="0"/>
              <a:t> </a:t>
            </a:r>
            <a:r>
              <a:rPr dirty="0" err="1"/>
              <a:t>있는가를</a:t>
            </a:r>
            <a:r>
              <a:rPr dirty="0"/>
              <a:t> 잰 </a:t>
            </a:r>
            <a:r>
              <a:rPr dirty="0" err="1"/>
              <a:t>값입니다</a:t>
            </a:r>
            <a:r>
              <a:rPr dirty="0"/>
              <a:t>. </a:t>
            </a:r>
            <a:endParaRPr lang="en-US" dirty="0" smtClean="0"/>
          </a:p>
          <a:p>
            <a:r>
              <a:rPr dirty="0" err="1" smtClean="0"/>
              <a:t>동체</a:t>
            </a:r>
            <a:r>
              <a:rPr dirty="0" smtClean="0"/>
              <a:t> </a:t>
            </a:r>
            <a:r>
              <a:rPr dirty="0" err="1"/>
              <a:t>좌표계</a:t>
            </a:r>
            <a:r>
              <a:rPr dirty="0"/>
              <a:t> </a:t>
            </a:r>
            <a:r>
              <a:rPr dirty="0" err="1"/>
              <a:t>자체는</a:t>
            </a:r>
            <a:r>
              <a:rPr dirty="0"/>
              <a:t> </a:t>
            </a:r>
            <a:r>
              <a:rPr dirty="0" err="1"/>
              <a:t>북이</a:t>
            </a:r>
            <a:r>
              <a:rPr dirty="0"/>
              <a:t> </a:t>
            </a:r>
            <a:r>
              <a:rPr dirty="0" err="1"/>
              <a:t>어딘지</a:t>
            </a:r>
            <a:r>
              <a:rPr dirty="0"/>
              <a:t> </a:t>
            </a:r>
            <a:r>
              <a:rPr dirty="0" err="1"/>
              <a:t>모르지만</a:t>
            </a:r>
            <a:r>
              <a:rPr dirty="0"/>
              <a:t> INS 는 </a:t>
            </a:r>
            <a:r>
              <a:rPr dirty="0" err="1"/>
              <a:t>압니다</a:t>
            </a:r>
            <a:r>
              <a:rPr dirty="0"/>
              <a:t>.</a:t>
            </a:r>
          </a:p>
          <a:p>
            <a:r>
              <a:rPr dirty="0"/>
              <a:t>INS </a:t>
            </a:r>
            <a:r>
              <a:rPr lang="ko-KR" altLang="en-US" dirty="0" err="1" smtClean="0"/>
              <a:t>로부터</a:t>
            </a:r>
            <a:r>
              <a:rPr lang="ko-KR" altLang="en-US" dirty="0" smtClean="0"/>
              <a:t> 얻은 </a:t>
            </a:r>
            <a:r>
              <a:rPr lang="ko-KR" altLang="en-US" dirty="0" err="1" smtClean="0"/>
              <a:t>자세각은</a:t>
            </a:r>
            <a:r>
              <a:rPr lang="ko-KR" altLang="en-US" dirty="0" smtClean="0"/>
              <a:t> 동체 좌표를</a:t>
            </a:r>
            <a:r>
              <a:rPr dirty="0" smtClean="0"/>
              <a:t> </a:t>
            </a:r>
            <a:r>
              <a:rPr dirty="0" err="1"/>
              <a:t>로컬</a:t>
            </a:r>
            <a:r>
              <a:rPr dirty="0"/>
              <a:t> NED 로 </a:t>
            </a:r>
            <a:r>
              <a:rPr dirty="0" err="1"/>
              <a:t>바꾸는</a:t>
            </a:r>
            <a:r>
              <a:rPr dirty="0"/>
              <a:t> </a:t>
            </a:r>
            <a:r>
              <a:rPr dirty="0" smtClean="0"/>
              <a:t>데</a:t>
            </a:r>
            <a:r>
              <a:rPr lang="en-US" dirty="0" smtClean="0"/>
              <a:t> </a:t>
            </a:r>
            <a:r>
              <a:rPr lang="ko-KR" altLang="en-US" dirty="0" smtClean="0"/>
              <a:t>쓰이고</a:t>
            </a:r>
            <a:r>
              <a:rPr dirty="0" smtClean="0"/>
              <a:t>, </a:t>
            </a:r>
            <a:r>
              <a:rPr dirty="0" err="1"/>
              <a:t>위경도는</a:t>
            </a:r>
            <a:r>
              <a:rPr dirty="0"/>
              <a:t> 그 뒤 </a:t>
            </a:r>
            <a:r>
              <a:rPr dirty="0" err="1"/>
              <a:t>지구</a:t>
            </a:r>
            <a:r>
              <a:rPr dirty="0"/>
              <a:t> </a:t>
            </a:r>
            <a:r>
              <a:rPr dirty="0" err="1"/>
              <a:t>좌표로</a:t>
            </a:r>
            <a:r>
              <a:rPr dirty="0"/>
              <a:t> 갈 때 </a:t>
            </a:r>
            <a:r>
              <a:rPr dirty="0" err="1"/>
              <a:t>쓰입니다</a:t>
            </a:r>
            <a:r>
              <a:rPr dirty="0"/>
              <a:t>. </a:t>
            </a:r>
            <a:endParaRPr lang="en-US" dirty="0" smtClean="0"/>
          </a:p>
          <a:p>
            <a:r>
              <a:rPr dirty="0" err="1" smtClean="0"/>
              <a:t>이번</a:t>
            </a:r>
            <a:r>
              <a:rPr dirty="0" smtClean="0"/>
              <a:t> </a:t>
            </a:r>
            <a:r>
              <a:rPr dirty="0" err="1"/>
              <a:t>과제의</a:t>
            </a:r>
            <a:r>
              <a:rPr dirty="0"/>
              <a:t> yaw 45도는 </a:t>
            </a:r>
            <a:r>
              <a:rPr lang="ko-KR" altLang="en-US" dirty="0" smtClean="0"/>
              <a:t>북쪽에서 선수가 오른쪽 </a:t>
            </a:r>
            <a:r>
              <a:rPr dirty="0" smtClean="0"/>
              <a:t>45도</a:t>
            </a:r>
            <a:r>
              <a:rPr lang="en-US" dirty="0" smtClean="0"/>
              <a:t> </a:t>
            </a:r>
            <a:r>
              <a:rPr lang="ko-KR" altLang="en-US" dirty="0" smtClean="0"/>
              <a:t>틀어져있다라는 뜻입니다</a:t>
            </a:r>
            <a:r>
              <a:rPr lang="en-US" altLang="ko-KR" dirty="0" smtClean="0"/>
              <a:t>.</a:t>
            </a:r>
            <a:endParaRPr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NED,</a:t>
            </a:r>
            <a:r>
              <a:rPr lang="en-US" baseline="0" dirty="0" smtClean="0"/>
              <a:t> ENU </a:t>
            </a:r>
            <a:r>
              <a:rPr lang="ko-KR" altLang="en-US" baseline="0" dirty="0" smtClean="0"/>
              <a:t>같은 로컬 </a:t>
            </a:r>
            <a:r>
              <a:rPr lang="ko-KR" altLang="en-US" baseline="0" dirty="0" err="1" smtClean="0"/>
              <a:t>좌표계에서는</a:t>
            </a:r>
            <a:r>
              <a:rPr lang="ko-KR" altLang="en-US" baseline="0" dirty="0" smtClean="0"/>
              <a:t> 배가 아무리 흔들려도 북쪽은 계속 북쪽입니다</a:t>
            </a:r>
            <a:r>
              <a:rPr lang="en-US" altLang="ko-KR" baseline="0" dirty="0" smtClean="0"/>
              <a:t>.</a:t>
            </a:r>
          </a:p>
          <a:p>
            <a:r>
              <a:rPr lang="en-US" baseline="0" dirty="0" smtClean="0"/>
              <a:t>NED </a:t>
            </a:r>
            <a:r>
              <a:rPr lang="ko-KR" altLang="en-US" baseline="0" dirty="0" smtClean="0"/>
              <a:t>는 </a:t>
            </a:r>
            <a:r>
              <a:rPr lang="en-US" altLang="ko-KR" baseline="0" dirty="0" smtClean="0"/>
              <a:t>North, East, Down </a:t>
            </a:r>
            <a:r>
              <a:rPr lang="ko-KR" altLang="en-US" baseline="0" dirty="0" smtClean="0"/>
              <a:t>으로 북</a:t>
            </a:r>
            <a:r>
              <a:rPr lang="en-US" altLang="ko-KR" baseline="0" dirty="0" smtClean="0"/>
              <a:t>, </a:t>
            </a:r>
            <a:r>
              <a:rPr lang="ko-KR" altLang="en-US" baseline="0" dirty="0" smtClean="0"/>
              <a:t>동</a:t>
            </a:r>
            <a:r>
              <a:rPr lang="en-US" altLang="ko-KR" baseline="0" dirty="0" smtClean="0"/>
              <a:t>, </a:t>
            </a:r>
            <a:r>
              <a:rPr lang="ko-KR" altLang="en-US" baseline="0" dirty="0" smtClean="0"/>
              <a:t>아래가 양수 방향이고</a:t>
            </a:r>
            <a:r>
              <a:rPr lang="en-US" altLang="ko-KR" baseline="0" dirty="0" smtClean="0"/>
              <a:t>, ENU</a:t>
            </a:r>
            <a:r>
              <a:rPr lang="ko-KR" altLang="en-US" baseline="0" dirty="0" smtClean="0"/>
              <a:t>는</a:t>
            </a:r>
            <a:r>
              <a:rPr lang="en-US" altLang="ko-KR" baseline="0" dirty="0" smtClean="0"/>
              <a:t> East, North, Up </a:t>
            </a:r>
            <a:r>
              <a:rPr lang="ko-KR" altLang="en-US" baseline="0" dirty="0" smtClean="0"/>
              <a:t>으로 동</a:t>
            </a:r>
            <a:r>
              <a:rPr lang="en-US" altLang="ko-KR" baseline="0" dirty="0" smtClean="0"/>
              <a:t>, </a:t>
            </a:r>
            <a:r>
              <a:rPr lang="ko-KR" altLang="en-US" baseline="0" dirty="0" smtClean="0"/>
              <a:t>북</a:t>
            </a:r>
            <a:r>
              <a:rPr lang="en-US" altLang="ko-KR" baseline="0" dirty="0" smtClean="0"/>
              <a:t>, </a:t>
            </a:r>
            <a:r>
              <a:rPr lang="ko-KR" altLang="en-US" baseline="0" dirty="0" smtClean="0"/>
              <a:t>위가 양수 방향입니다</a:t>
            </a:r>
            <a:r>
              <a:rPr lang="en-US" altLang="ko-KR" baseline="0" dirty="0" smtClean="0"/>
              <a:t>.</a:t>
            </a:r>
          </a:p>
          <a:p>
            <a:r>
              <a:rPr lang="ko-KR" altLang="en-US" baseline="0" dirty="0" smtClean="0"/>
              <a:t>관례상 항공우주나 항법</a:t>
            </a:r>
            <a:r>
              <a:rPr lang="en-US" altLang="ko-KR" baseline="0" dirty="0" smtClean="0"/>
              <a:t>, </a:t>
            </a:r>
            <a:r>
              <a:rPr lang="ko-KR" altLang="en-US" baseline="0" dirty="0" smtClean="0"/>
              <a:t>무기체계에서는 </a:t>
            </a:r>
            <a:r>
              <a:rPr lang="en-US" altLang="ko-KR" baseline="0" dirty="0" smtClean="0"/>
              <a:t>NED</a:t>
            </a:r>
            <a:r>
              <a:rPr lang="ko-KR" altLang="en-US" baseline="0" dirty="0" smtClean="0"/>
              <a:t>를 사용하고</a:t>
            </a:r>
            <a:r>
              <a:rPr lang="en-US" altLang="ko-KR" baseline="0" dirty="0" smtClean="0"/>
              <a:t>, </a:t>
            </a:r>
            <a:r>
              <a:rPr lang="ko-KR" altLang="en-US" baseline="0" dirty="0" smtClean="0"/>
              <a:t>측지</a:t>
            </a:r>
            <a:r>
              <a:rPr lang="en-US" altLang="ko-KR" baseline="0" dirty="0" smtClean="0"/>
              <a:t>, GIS </a:t>
            </a:r>
            <a:r>
              <a:rPr lang="ko-KR" altLang="en-US" baseline="0" dirty="0" smtClean="0"/>
              <a:t>쪽에서는 </a:t>
            </a:r>
            <a:r>
              <a:rPr lang="en-US" altLang="ko-KR" baseline="0" dirty="0" smtClean="0"/>
              <a:t>ENU</a:t>
            </a:r>
            <a:r>
              <a:rPr lang="ko-KR" altLang="en-US" baseline="0" dirty="0" smtClean="0"/>
              <a:t>를 씁니다</a:t>
            </a:r>
            <a:r>
              <a:rPr lang="en-US" altLang="ko-KR" baseline="0" dirty="0" smtClean="0"/>
              <a:t>.</a:t>
            </a:r>
          </a:p>
          <a:p>
            <a:endParaRPr lang="en-US" baseline="0" dirty="0" smtClean="0"/>
          </a:p>
          <a:p>
            <a:r>
              <a:rPr lang="ko-KR" altLang="en-US" baseline="0" dirty="0" smtClean="0"/>
              <a:t>이 </a:t>
            </a:r>
            <a:r>
              <a:rPr lang="ko-KR" altLang="en-US" baseline="0" dirty="0" err="1" smtClean="0"/>
              <a:t>좌표계는</a:t>
            </a:r>
            <a:r>
              <a:rPr lang="ko-KR" altLang="en-US" baseline="0" dirty="0" smtClean="0"/>
              <a:t> 배가 움직일 때 같이 따라 이동하지만 함께 회전하지는 않아서</a:t>
            </a:r>
            <a:r>
              <a:rPr lang="en-US" altLang="ko-KR" baseline="0" dirty="0" smtClean="0"/>
              <a:t>, </a:t>
            </a:r>
            <a:r>
              <a:rPr lang="ko-KR" altLang="en-US" baseline="0" dirty="0" smtClean="0"/>
              <a:t>표적이 실제로 움직인 것과 배가 흔들린 것을 구분할 수 있습니다</a:t>
            </a:r>
            <a:r>
              <a:rPr lang="en-US" altLang="ko-KR" baseline="0" dirty="0" smtClean="0"/>
              <a:t>.</a:t>
            </a:r>
          </a:p>
          <a:p>
            <a:r>
              <a:rPr lang="ko-KR" altLang="en-US" baseline="0" dirty="0" smtClean="0"/>
              <a:t>그래서 추적 필터를 여기서 돌리게 됩니다</a:t>
            </a:r>
            <a:r>
              <a:rPr lang="en-US" altLang="ko-KR" baseline="0" dirty="0" smtClean="0"/>
              <a:t>.</a:t>
            </a:r>
          </a:p>
          <a:p>
            <a:endParaRPr lang="en-US" baseline="0" dirty="0" smtClean="0"/>
          </a:p>
          <a:p>
            <a:r>
              <a:rPr lang="ko-KR" altLang="en-US" baseline="0" dirty="0" smtClean="0"/>
              <a:t>아래가 동체에서 </a:t>
            </a:r>
            <a:r>
              <a:rPr lang="en-US" altLang="ko-KR" baseline="0" dirty="0" smtClean="0"/>
              <a:t>NED</a:t>
            </a:r>
            <a:r>
              <a:rPr lang="ko-KR" altLang="en-US" baseline="0" dirty="0" smtClean="0"/>
              <a:t>로 가는 변환입니다</a:t>
            </a:r>
            <a:r>
              <a:rPr lang="en-US" altLang="ko-KR" baseline="0" dirty="0" smtClean="0"/>
              <a:t>. </a:t>
            </a:r>
            <a:r>
              <a:rPr lang="ko-KR" altLang="en-US" baseline="0" dirty="0" smtClean="0"/>
              <a:t>원점이 둘 다 무게 중심이라 평행 이동이 없고 회전만 걸립니다</a:t>
            </a:r>
            <a:r>
              <a:rPr lang="en-US" altLang="ko-KR" baseline="0" dirty="0" smtClean="0"/>
              <a:t>. </a:t>
            </a:r>
            <a:r>
              <a:rPr lang="ko-KR" altLang="en-US" baseline="0" dirty="0" smtClean="0"/>
              <a:t>요</a:t>
            </a:r>
            <a:r>
              <a:rPr lang="en-US" altLang="ko-KR" baseline="0" dirty="0" smtClean="0"/>
              <a:t>, </a:t>
            </a:r>
            <a:r>
              <a:rPr lang="ko-KR" altLang="en-US" baseline="0" dirty="0" smtClean="0"/>
              <a:t>피치</a:t>
            </a:r>
            <a:r>
              <a:rPr lang="en-US" altLang="ko-KR" baseline="0" dirty="0" smtClean="0"/>
              <a:t>, </a:t>
            </a:r>
            <a:r>
              <a:rPr lang="ko-KR" altLang="en-US" baseline="0" dirty="0" err="1" smtClean="0"/>
              <a:t>롤</a:t>
            </a:r>
            <a:r>
              <a:rPr lang="ko-KR" altLang="en-US" baseline="0" dirty="0" smtClean="0"/>
              <a:t> 순서로 회전을 곱합니다</a:t>
            </a:r>
            <a:r>
              <a:rPr lang="en-US" altLang="ko-KR" baseline="0" dirty="0" smtClean="0"/>
              <a:t>.</a:t>
            </a:r>
          </a:p>
          <a:p>
            <a:r>
              <a:rPr lang="ko-KR" altLang="en-US" baseline="0" dirty="0" smtClean="0"/>
              <a:t>이번 과제에서는 </a:t>
            </a:r>
            <a:r>
              <a:rPr lang="ko-KR" altLang="en-US" baseline="0" dirty="0" err="1" smtClean="0"/>
              <a:t>롤과</a:t>
            </a:r>
            <a:r>
              <a:rPr lang="ko-KR" altLang="en-US" baseline="0" dirty="0" smtClean="0"/>
              <a:t> 피치가 </a:t>
            </a:r>
            <a:r>
              <a:rPr lang="en-US" altLang="ko-KR" baseline="0" dirty="0" smtClean="0"/>
              <a:t>0</a:t>
            </a:r>
            <a:r>
              <a:rPr lang="ko-KR" altLang="en-US" baseline="0" dirty="0" smtClean="0"/>
              <a:t>이고</a:t>
            </a:r>
            <a:r>
              <a:rPr lang="en-US" altLang="ko-KR" baseline="0" dirty="0" smtClean="0"/>
              <a:t>, </a:t>
            </a:r>
            <a:r>
              <a:rPr lang="ko-KR" altLang="en-US" baseline="0" dirty="0" smtClean="0"/>
              <a:t>요 </a:t>
            </a:r>
            <a:r>
              <a:rPr lang="en-US" altLang="ko-KR" baseline="0" dirty="0" smtClean="0"/>
              <a:t>45</a:t>
            </a:r>
            <a:r>
              <a:rPr lang="ko-KR" altLang="en-US" baseline="0" dirty="0" smtClean="0"/>
              <a:t>도만을 주었습니다</a:t>
            </a:r>
            <a:r>
              <a:rPr lang="en-US" altLang="ko-KR" baseline="0" dirty="0" smtClean="0"/>
              <a:t>.</a:t>
            </a:r>
            <a:endParaRPr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둘 다 원점은 지구 중심이고, 다른 점은 축이 지구와 함께 도느냐 마느냐 하나입니다.</a:t>
            </a:r>
          </a:p>
          <a:p>
            <a:r>
              <a:t>ECEF 는 X 축이 그리니치 자오선, Z 축이 북극을 향하고 지구와 함께 돕니다. 그래서 지표 한 점의 좌표가 시각과 무관하게 일정합니다. </a:t>
            </a:r>
          </a:p>
          <a:p>
            <a:r>
              <a:t>GPS 와 지도, 위경도의 바탕이고 이번 과제에서 씁니다.</a:t>
            </a:r>
          </a:p>
          <a:p>
            <a:endParaRPr/>
          </a:p>
          <a:p>
            <a:r>
              <a:t>ECI 는 X 축이 별에 고정돼 돌지 않습니다. </a:t>
            </a:r>
          </a:p>
          <a:p>
            <a:r>
              <a:t>회전하지 않으니 뉴턴 법칙이 그대로 성립해서 위성이나 탄도탄의 궤도 계산에 쓰고, 이번 과제에서는 쓰지 않습니다.</a:t>
            </a:r>
          </a:p>
          <a:p>
            <a:endParaRPr/>
          </a:p>
          <a:p>
            <a:r>
              <a:t>변환 공식은 아래와 같습니다. </a:t>
            </a:r>
          </a:p>
          <a:p>
            <a:r>
              <a:t>로컬 벡터를 회전행렬로 지구 축에 맞춰 돌린 뒤 배의 ECEF 위치를 더하면 됩니다.</a:t>
            </a:r>
          </a:p>
          <a:p>
            <a:r>
              <a:t>회전각은 배의 위경도가 정하고, 배의 ECEF 위치는 위경도와 고도에서 나옵니다. 그 공식은 다음 장 아래쪽 흐름도의 윗줄, LLA 에서 ECEF 로 가는 줄에 있습니다.</a:t>
            </a:r>
          </a:p>
          <a:p>
            <a:r>
              <a:t>ECEF 에서 ECI 로는 지구가 돈 각만큼 되돌리면 됩니다.</a:t>
            </a:r>
          </a:p>
          <a:p>
            <a:r>
              <a:t>두 식 모두 지구에 고정된 축으로 옮기는 표준 변환식으로 표현됩니다.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LLA 는 Latitude, Longitude, Altitude, 위도 · 경도 · 고도입니다. 지구 위 한 점을 세 수로 적는, 우리가 아는 그 지도 좌표이고 이번 과제의 마지막 output입니다.</a:t>
            </a:r>
          </a:p>
          <a:p>
            <a:r>
              <a:t>참고로 오른쪽 그림과 같이 위도는 지구 중심에서 잰 각이 아니라, 타원체 면에 수직인 선이 적도면과 이루는 각입니다.</a:t>
            </a:r>
          </a:p>
          <a:p>
            <a:r>
              <a:t>기준면은 우측에서 설명하고 있는 지구 모형인 WGS-84 타원체입니다. 해당 상수값들이 공식에 적용됩니다.</a:t>
            </a:r>
          </a:p>
          <a:p/>
          <a:p>
            <a:r>
              <a:t>변환은 아래 흐름도입니다. 윗줄이 LLA 에서 ECEF 로 가는 식인데, 앞 장에서 미뤄 둔 배의 ECEF 위치를 구하는 공식이 바로 이것입니다. 배의 위도 · 경도 · 고도를 그대로 넣으면 배의 ECEF 좌표가 나옵니다. 표적이든 배든 같은 식을 씁니다.</a:t>
            </a:r>
          </a:p>
          <a:p>
            <a:r>
              <a:t>그런데 ECEF 에서 LLA로는 경도만 바로 나오고 위도가 복잡한데, 위도를 구하는 식에 또 위도를 넣어서 구하기 때문에 한 번에 안 풀립니다.</a:t>
            </a:r>
          </a:p>
          <a:p>
            <a:r>
              <a:t>그래서 지구를 구로 본 값으로 시작해 대입을 되풀이하면서 값이 수렴할때 그 값으로 정합니다. 위도와 고도를 한 번에 하나씩 번갈아 구하고, 둘 다 더 안 변하면 멈춥니다. 이번 과제는 여섯 번입니다.</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ko-KR" altLang="en-US" dirty="0" smtClean="0"/>
              <a:t>이제 실제 과제 조건으로 설계합니다</a:t>
            </a:r>
            <a:r>
              <a:rPr lang="en-US" altLang="ko-KR" dirty="0" smtClean="0"/>
              <a:t>.</a:t>
            </a:r>
          </a:p>
          <a:p>
            <a:r>
              <a:rPr lang="ko-KR" altLang="en-US" dirty="0" smtClean="0"/>
              <a:t>함선 고정형 안테나라는 조건을 놓고</a:t>
            </a:r>
            <a:r>
              <a:rPr lang="en-US" altLang="ko-KR" dirty="0" smtClean="0"/>
              <a:t>, </a:t>
            </a:r>
            <a:r>
              <a:rPr lang="ko-KR" altLang="en-US" dirty="0" smtClean="0"/>
              <a:t>주어진 조건 여섯 가지가 설계를 어떻게 묶는지</a:t>
            </a:r>
            <a:r>
              <a:rPr lang="en-US" altLang="ko-KR" dirty="0" smtClean="0"/>
              <a:t>, </a:t>
            </a:r>
            <a:r>
              <a:rPr lang="ko-KR" altLang="en-US" dirty="0" smtClean="0"/>
              <a:t>다섯 단계에 어떤 </a:t>
            </a:r>
            <a:r>
              <a:rPr lang="ko-KR" altLang="en-US" dirty="0" err="1" smtClean="0"/>
              <a:t>좌표계를</a:t>
            </a:r>
            <a:r>
              <a:rPr lang="ko-KR" altLang="en-US" dirty="0" smtClean="0"/>
              <a:t> 쓰고 무엇을 쓰지 않는지를 정합니다</a:t>
            </a:r>
            <a:r>
              <a:rPr lang="en-US" altLang="ko-KR" dirty="0" smtClean="0"/>
              <a:t>.</a:t>
            </a:r>
          </a:p>
          <a:p>
            <a:r>
              <a:rPr lang="ko-KR" altLang="en-US" dirty="0" smtClean="0"/>
              <a:t>그리고 주어진 </a:t>
            </a:r>
            <a:r>
              <a:rPr lang="ko-KR" altLang="en-US" dirty="0" err="1" smtClean="0"/>
              <a:t>예제값으로</a:t>
            </a:r>
            <a:r>
              <a:rPr lang="ko-KR" altLang="en-US" dirty="0" smtClean="0"/>
              <a:t> 안테나에서 </a:t>
            </a:r>
            <a:r>
              <a:rPr lang="ko-KR" altLang="en-US" dirty="0" err="1" smtClean="0"/>
              <a:t>위경도까지</a:t>
            </a:r>
            <a:r>
              <a:rPr lang="ko-KR" altLang="en-US" dirty="0" smtClean="0"/>
              <a:t> 실제로 따라가보고</a:t>
            </a:r>
            <a:r>
              <a:rPr lang="en-US" altLang="ko-KR" dirty="0" smtClean="0"/>
              <a:t>, </a:t>
            </a:r>
            <a:r>
              <a:rPr lang="ko-KR" altLang="en-US" dirty="0" smtClean="0"/>
              <a:t>마지막에 되돌아오는 </a:t>
            </a:r>
            <a:r>
              <a:rPr lang="ko-KR" altLang="en-US" dirty="0" err="1" smtClean="0"/>
              <a:t>역변환까지</a:t>
            </a:r>
            <a:r>
              <a:rPr lang="ko-KR" altLang="en-US" dirty="0" smtClean="0"/>
              <a:t> 진행하겠습니다</a:t>
            </a:r>
            <a:r>
              <a:rPr lang="en-US" altLang="ko-KR" dirty="0" smtClean="0"/>
              <a: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smtClean="0"/>
              <a:t>이건 과제에서 주어진 조건 여섯 가지입니다</a:t>
            </a:r>
            <a:r>
              <a:rPr lang="en-US" altLang="ko-KR" dirty="0" smtClean="0"/>
              <a:t>.</a:t>
            </a:r>
          </a:p>
          <a:p>
            <a:r>
              <a:rPr lang="ko-KR" altLang="en-US" dirty="0" smtClean="0"/>
              <a:t>주어진 각 조건들에 따라서 어느 </a:t>
            </a:r>
            <a:r>
              <a:rPr lang="ko-KR" altLang="en-US" dirty="0" err="1" smtClean="0"/>
              <a:t>좌표계를</a:t>
            </a:r>
            <a:r>
              <a:rPr lang="ko-KR" altLang="en-US" dirty="0" smtClean="0"/>
              <a:t> 쓸지</a:t>
            </a:r>
            <a:r>
              <a:rPr lang="en-US" altLang="ko-KR" dirty="0" smtClean="0"/>
              <a:t>, </a:t>
            </a:r>
            <a:r>
              <a:rPr lang="ko-KR" altLang="en-US" dirty="0" smtClean="0"/>
              <a:t>어떤 항을 넣을지를 결정하게 됩니다</a:t>
            </a:r>
            <a:r>
              <a:rPr lang="en-US" altLang="ko-KR" dirty="0" smtClean="0"/>
              <a:t>.</a:t>
            </a:r>
          </a:p>
          <a:p>
            <a:r>
              <a:rPr lang="ko-KR" altLang="en-US" dirty="0" smtClean="0"/>
              <a:t>이건 과제에서 주어진 조건 내용이기 때문에 표로 정리만 하고 넘어가겠습니다</a:t>
            </a:r>
            <a:r>
              <a:rPr lang="en-US" altLang="ko-KR" dirty="0" smtClean="0"/>
              <a:t>.</a:t>
            </a:r>
            <a:endParaRPr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smtClean="0"/>
              <a:t>다음은 뭘 쓰고 뭘 안 </a:t>
            </a:r>
            <a:r>
              <a:rPr lang="ko-KR" altLang="en-US" dirty="0" err="1" smtClean="0"/>
              <a:t>쓸건지를</a:t>
            </a:r>
            <a:r>
              <a:rPr lang="ko-KR" altLang="en-US" dirty="0" smtClean="0"/>
              <a:t> </a:t>
            </a:r>
            <a:r>
              <a:rPr lang="ko-KR" altLang="en-US" dirty="0" err="1" smtClean="0"/>
              <a:t>결정해야합니다</a:t>
            </a:r>
            <a:r>
              <a:rPr lang="en-US" altLang="ko-KR" dirty="0" smtClean="0"/>
              <a:t>.</a:t>
            </a:r>
          </a:p>
          <a:p>
            <a:r>
              <a:rPr lang="ko-KR" altLang="en-US" dirty="0" err="1" smtClean="0"/>
              <a:t>레이다</a:t>
            </a:r>
            <a:r>
              <a:rPr lang="ko-KR" altLang="en-US" dirty="0" smtClean="0"/>
              <a:t> 센서로부터 들어오는 거리와 두 각도 값인 </a:t>
            </a:r>
            <a:r>
              <a:rPr lang="ko-KR" altLang="en-US" dirty="0" err="1" smtClean="0"/>
              <a:t>극좌표를</a:t>
            </a:r>
            <a:r>
              <a:rPr lang="ko-KR" altLang="en-US" dirty="0" smtClean="0"/>
              <a:t> 이용해서</a:t>
            </a:r>
            <a:endParaRPr lang="en-US" altLang="ko-KR" dirty="0" smtClean="0"/>
          </a:p>
          <a:p>
            <a:r>
              <a:rPr lang="ko-KR" altLang="en-US" dirty="0" smtClean="0"/>
              <a:t>회전행렬을 곱해주기 위해 </a:t>
            </a:r>
            <a:r>
              <a:rPr lang="en-US" altLang="ko-KR" dirty="0" smtClean="0"/>
              <a:t>x, y, z </a:t>
            </a:r>
            <a:r>
              <a:rPr lang="ko-KR" altLang="en-US" dirty="0" smtClean="0"/>
              <a:t>좌표인 직교좌표로 변환해주고</a:t>
            </a:r>
            <a:r>
              <a:rPr lang="en-US" altLang="ko-KR" dirty="0" smtClean="0"/>
              <a:t>,</a:t>
            </a:r>
          </a:p>
          <a:p>
            <a:r>
              <a:rPr lang="ko-KR" altLang="en-US" dirty="0" smtClean="0"/>
              <a:t>안테나가 배 위에 붙어 있기 때문에 배라는 동체에 어떤 자세로</a:t>
            </a:r>
            <a:r>
              <a:rPr lang="en-US" altLang="ko-KR" dirty="0" smtClean="0"/>
              <a:t>, </a:t>
            </a:r>
            <a:r>
              <a:rPr lang="ko-KR" altLang="en-US" dirty="0" smtClean="0"/>
              <a:t>어떤 위치에 붙어있는지에 대한 변환을 해줍니다</a:t>
            </a:r>
            <a:r>
              <a:rPr lang="en-US" altLang="ko-KR" dirty="0" smtClean="0"/>
              <a:t>.</a:t>
            </a:r>
          </a:p>
          <a:p>
            <a:r>
              <a:rPr lang="ko-KR" altLang="en-US" dirty="0" smtClean="0"/>
              <a:t>지금까지 만든 동체 </a:t>
            </a:r>
            <a:r>
              <a:rPr lang="ko-KR" altLang="en-US" dirty="0" err="1" smtClean="0"/>
              <a:t>좌표계는</a:t>
            </a:r>
            <a:r>
              <a:rPr lang="ko-KR" altLang="en-US" dirty="0" smtClean="0"/>
              <a:t> 배가 흔들리면 동체 좌표도 흔들리기 때문에</a:t>
            </a:r>
            <a:r>
              <a:rPr lang="en-US" altLang="ko-KR" dirty="0" smtClean="0"/>
              <a:t>, </a:t>
            </a:r>
            <a:r>
              <a:rPr lang="ko-KR" altLang="en-US" dirty="0" smtClean="0"/>
              <a:t>배가 흔들리더라도 기준이 되는 축은 고정이 되도록 해서 표적의 움직임을 분리하도록 로컬 </a:t>
            </a:r>
            <a:r>
              <a:rPr lang="en-US" altLang="ko-KR" dirty="0" smtClean="0"/>
              <a:t>NED </a:t>
            </a:r>
            <a:r>
              <a:rPr lang="ko-KR" altLang="en-US" dirty="0" smtClean="0"/>
              <a:t>좌표로 변환해줍니다</a:t>
            </a:r>
            <a:r>
              <a:rPr lang="en-US" altLang="ko-KR" dirty="0" smtClean="0"/>
              <a:t>.</a:t>
            </a:r>
          </a:p>
          <a:p>
            <a:r>
              <a:rPr lang="ko-KR" altLang="en-US" dirty="0" smtClean="0"/>
              <a:t>이때 배의 </a:t>
            </a:r>
            <a:r>
              <a:rPr lang="en-US" altLang="ko-KR" dirty="0" smtClean="0"/>
              <a:t>FRD</a:t>
            </a:r>
            <a:r>
              <a:rPr lang="ko-KR" altLang="en-US" dirty="0" smtClean="0"/>
              <a:t>와 축 의미가 같은 </a:t>
            </a:r>
            <a:r>
              <a:rPr lang="en-US" altLang="ko-KR" dirty="0" smtClean="0"/>
              <a:t>NED</a:t>
            </a:r>
            <a:r>
              <a:rPr lang="ko-KR" altLang="en-US" dirty="0" smtClean="0"/>
              <a:t>를 사용합니다</a:t>
            </a:r>
            <a:r>
              <a:rPr lang="en-US" altLang="ko-KR" dirty="0" smtClean="0"/>
              <a:t>.</a:t>
            </a:r>
          </a:p>
          <a:p>
            <a:r>
              <a:rPr lang="ko-KR" altLang="en-US" dirty="0" smtClean="0"/>
              <a:t>다음으로</a:t>
            </a:r>
            <a:r>
              <a:rPr lang="en-US" altLang="ko-KR" dirty="0" smtClean="0"/>
              <a:t>, NED</a:t>
            </a:r>
            <a:r>
              <a:rPr lang="ko-KR" altLang="en-US" dirty="0" smtClean="0"/>
              <a:t>는 원점이 배라서</a:t>
            </a:r>
            <a:r>
              <a:rPr lang="en-US" altLang="ko-KR" dirty="0" smtClean="0"/>
              <a:t>, </a:t>
            </a:r>
            <a:r>
              <a:rPr lang="ko-KR" altLang="en-US" dirty="0" smtClean="0"/>
              <a:t>배가 움직이면 같은 표적의 좌표도 달라집니다</a:t>
            </a:r>
            <a:r>
              <a:rPr lang="en-US" altLang="ko-KR" dirty="0" smtClean="0"/>
              <a:t>. </a:t>
            </a:r>
            <a:r>
              <a:rPr lang="ko-KR" altLang="en-US" dirty="0" smtClean="0"/>
              <a:t>절대 위치를 만들려면 지구에 고정된 원점이 필요하고</a:t>
            </a:r>
            <a:r>
              <a:rPr lang="en-US" altLang="ko-KR" dirty="0" smtClean="0"/>
              <a:t>, </a:t>
            </a:r>
            <a:r>
              <a:rPr lang="ko-KR" altLang="en-US" dirty="0" smtClean="0"/>
              <a:t>위도경도로 건너가려면 이 좌표를 </a:t>
            </a:r>
            <a:r>
              <a:rPr lang="ko-KR" altLang="en-US" dirty="0" err="1" smtClean="0"/>
              <a:t>거쳐야합니다</a:t>
            </a:r>
            <a:r>
              <a:rPr lang="en-US" altLang="ko-KR" dirty="0" smtClean="0"/>
              <a:t>.</a:t>
            </a:r>
          </a:p>
          <a:p>
            <a:r>
              <a:rPr lang="ko-KR" altLang="en-US" dirty="0" smtClean="0"/>
              <a:t>그런 다음</a:t>
            </a:r>
            <a:r>
              <a:rPr lang="en-US" altLang="ko-KR" baseline="0" dirty="0" smtClean="0"/>
              <a:t> </a:t>
            </a:r>
            <a:r>
              <a:rPr lang="ko-KR" altLang="en-US" baseline="0" dirty="0" smtClean="0"/>
              <a:t>마지막으로 과제에서 요구한 출력인 </a:t>
            </a:r>
            <a:r>
              <a:rPr lang="en-US" altLang="ko-KR" baseline="0" dirty="0" smtClean="0"/>
              <a:t>LLA</a:t>
            </a:r>
            <a:r>
              <a:rPr lang="ko-KR" altLang="en-US" baseline="0" dirty="0" smtClean="0"/>
              <a:t>로 넘어갑니다</a:t>
            </a:r>
            <a:r>
              <a:rPr lang="en-US" altLang="ko-KR" baseline="0" dirty="0" smtClean="0"/>
              <a:t>.</a:t>
            </a:r>
          </a:p>
          <a:p>
            <a:endParaRPr lang="en-US" altLang="ko-KR" baseline="0" dirty="0" smtClean="0"/>
          </a:p>
          <a:p>
            <a:r>
              <a:rPr lang="ko-KR" altLang="en-US" baseline="0" dirty="0" smtClean="0"/>
              <a:t>아래 </a:t>
            </a:r>
            <a:r>
              <a:rPr lang="en-US" altLang="ko-KR" baseline="0" dirty="0" smtClean="0"/>
              <a:t>4</a:t>
            </a:r>
            <a:r>
              <a:rPr lang="ko-KR" altLang="en-US" baseline="0" dirty="0" smtClean="0"/>
              <a:t>개는 사용하지 않는 것들입니다</a:t>
            </a:r>
            <a:r>
              <a:rPr lang="en-US" altLang="ko-KR" baseline="0" dirty="0" smtClean="0"/>
              <a:t>.</a:t>
            </a:r>
          </a:p>
          <a:p>
            <a:r>
              <a:rPr lang="en-US" altLang="ko-KR" baseline="0" dirty="0" smtClean="0"/>
              <a:t>INS</a:t>
            </a:r>
            <a:r>
              <a:rPr lang="ko-KR" altLang="en-US" baseline="0" dirty="0" smtClean="0"/>
              <a:t>는 무게중심에 축을 맞춰 설치했기 때문에 따로 변환이 </a:t>
            </a:r>
            <a:r>
              <a:rPr lang="ko-KR" altLang="en-US" baseline="0" dirty="0" err="1" smtClean="0"/>
              <a:t>필요없고</a:t>
            </a:r>
            <a:r>
              <a:rPr lang="en-US" altLang="ko-KR" baseline="0" dirty="0" smtClean="0"/>
              <a:t>, </a:t>
            </a:r>
            <a:r>
              <a:rPr lang="ko-KR" altLang="en-US" baseline="0" dirty="0" err="1" smtClean="0"/>
              <a:t>좌표계라기보단</a:t>
            </a:r>
            <a:r>
              <a:rPr lang="ko-KR" altLang="en-US" baseline="0" dirty="0" smtClean="0"/>
              <a:t> 자세와 위치를 공급하는데 씁니다</a:t>
            </a:r>
            <a:r>
              <a:rPr lang="en-US" altLang="ko-KR" baseline="0" dirty="0" smtClean="0"/>
              <a:t>.</a:t>
            </a:r>
          </a:p>
          <a:p>
            <a:r>
              <a:rPr lang="en-US" altLang="ko-KR" baseline="0" dirty="0" smtClean="0"/>
              <a:t>UV</a:t>
            </a:r>
            <a:r>
              <a:rPr lang="ko-KR" altLang="en-US" baseline="0" dirty="0" smtClean="0"/>
              <a:t>는 방향만 있고 거리가 없어서 표적의 위치를 옮길 수 없고</a:t>
            </a:r>
            <a:r>
              <a:rPr lang="en-US" altLang="ko-KR" baseline="0" dirty="0" smtClean="0"/>
              <a:t>,</a:t>
            </a:r>
          </a:p>
          <a:p>
            <a:r>
              <a:rPr lang="en-US" altLang="ko-KR" dirty="0" smtClean="0"/>
              <a:t>ECI</a:t>
            </a:r>
            <a:r>
              <a:rPr lang="ko-KR" altLang="en-US" dirty="0" smtClean="0"/>
              <a:t>는 위성이나 탄도탄처럼 궤도를 전파할 일이 없어 사용하지 않으며</a:t>
            </a:r>
            <a:r>
              <a:rPr lang="en-US" altLang="ko-KR" dirty="0" smtClean="0"/>
              <a:t>,</a:t>
            </a:r>
          </a:p>
          <a:p>
            <a:r>
              <a:rPr lang="en-US" altLang="ko-KR" dirty="0" smtClean="0"/>
              <a:t>ENU</a:t>
            </a:r>
            <a:r>
              <a:rPr lang="ko-KR" altLang="en-US" dirty="0" smtClean="0"/>
              <a:t>는 동체 좌표의 </a:t>
            </a:r>
            <a:r>
              <a:rPr lang="en-US" altLang="ko-KR" dirty="0" smtClean="0"/>
              <a:t>FRD</a:t>
            </a:r>
            <a:r>
              <a:rPr lang="ko-KR" altLang="en-US" dirty="0" smtClean="0"/>
              <a:t>와 축 의미가 달라서 대신에 </a:t>
            </a:r>
            <a:r>
              <a:rPr lang="en-US" altLang="ko-KR" dirty="0" smtClean="0"/>
              <a:t>NED</a:t>
            </a:r>
            <a:r>
              <a:rPr lang="ko-KR" altLang="en-US" dirty="0" smtClean="0"/>
              <a:t>를 사용합니다</a:t>
            </a:r>
            <a:r>
              <a:rPr lang="en-US" altLang="ko-KR" dirty="0" smtClean="0"/>
              <a:t>.</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smtClean="0"/>
              <a:t>이제 앞서 설명했던 공식들로 계산해본 과정입니다</a:t>
            </a:r>
            <a:r>
              <a:rPr lang="en-US" altLang="ko-KR" dirty="0" smtClean="0"/>
              <a:t>.</a:t>
            </a:r>
          </a:p>
          <a:p>
            <a:r>
              <a:rPr lang="ko-KR" altLang="en-US" dirty="0" err="1" smtClean="0"/>
              <a:t>극좌표를</a:t>
            </a:r>
            <a:r>
              <a:rPr lang="ko-KR" altLang="en-US" dirty="0" smtClean="0"/>
              <a:t> 직교좌표로 바꾸면 </a:t>
            </a:r>
            <a:r>
              <a:rPr lang="en-US" altLang="ko-KR" dirty="0" smtClean="0"/>
              <a:t>(10000, 0, 17320)</a:t>
            </a:r>
            <a:r>
              <a:rPr lang="ko-KR" altLang="en-US" dirty="0" smtClean="0"/>
              <a:t>이 나옵니다</a:t>
            </a:r>
            <a:r>
              <a:rPr lang="en-US" altLang="ko-KR" dirty="0" smtClean="0"/>
              <a:t>.</a:t>
            </a:r>
          </a:p>
          <a:p>
            <a:r>
              <a:rPr lang="ko-KR" altLang="en-US" dirty="0" smtClean="0"/>
              <a:t>여기에 축 맞춤과 설치 방위를 걸고 </a:t>
            </a:r>
            <a:r>
              <a:rPr lang="ko-KR" altLang="en-US" dirty="0" err="1" smtClean="0"/>
              <a:t>레버암을</a:t>
            </a:r>
            <a:r>
              <a:rPr lang="ko-KR" altLang="en-US" dirty="0" smtClean="0"/>
              <a:t> 더하면 동체 좌표 </a:t>
            </a:r>
            <a:r>
              <a:rPr lang="en-US" altLang="ko-KR" dirty="0" smtClean="0"/>
              <a:t>(9970, 17320, -10).</a:t>
            </a:r>
          </a:p>
          <a:p>
            <a:r>
              <a:rPr lang="ko-KR" altLang="en-US" dirty="0" smtClean="0"/>
              <a:t>마지막으로 요 </a:t>
            </a:r>
            <a:r>
              <a:rPr lang="en-US" altLang="ko-KR" dirty="0" smtClean="0"/>
              <a:t>45</a:t>
            </a:r>
            <a:r>
              <a:rPr lang="ko-KR" altLang="en-US" dirty="0" smtClean="0"/>
              <a:t>도를 걸면 </a:t>
            </a:r>
            <a:r>
              <a:rPr lang="en-US" altLang="ko-KR" dirty="0" smtClean="0"/>
              <a:t>NED</a:t>
            </a:r>
            <a:r>
              <a:rPr lang="ko-KR" altLang="en-US" dirty="0" smtClean="0"/>
              <a:t>에서 북으로 </a:t>
            </a:r>
            <a:r>
              <a:rPr lang="en-US" altLang="ko-KR" dirty="0" smtClean="0"/>
              <a:t>-5197,</a:t>
            </a:r>
            <a:r>
              <a:rPr lang="en-US" altLang="ko-KR" baseline="0" dirty="0" smtClean="0"/>
              <a:t> </a:t>
            </a:r>
            <a:r>
              <a:rPr lang="ko-KR" altLang="en-US" baseline="0" dirty="0" smtClean="0"/>
              <a:t>동으로</a:t>
            </a:r>
            <a:r>
              <a:rPr lang="en-US" altLang="ko-KR" dirty="0" smtClean="0"/>
              <a:t> 19297,</a:t>
            </a:r>
            <a:r>
              <a:rPr lang="en-US" altLang="ko-KR" baseline="0" dirty="0" smtClean="0"/>
              <a:t> z</a:t>
            </a:r>
            <a:r>
              <a:rPr lang="ko-KR" altLang="en-US" baseline="0" dirty="0" smtClean="0"/>
              <a:t>축이 </a:t>
            </a:r>
            <a:r>
              <a:rPr lang="en-US" altLang="ko-KR" baseline="0" dirty="0" smtClean="0"/>
              <a:t>-10</a:t>
            </a:r>
            <a:r>
              <a:rPr lang="ko-KR" altLang="en-US" baseline="0" dirty="0" smtClean="0"/>
              <a:t>이니 위로 </a:t>
            </a:r>
            <a:r>
              <a:rPr lang="en-US" altLang="ko-KR" baseline="0" dirty="0" smtClean="0"/>
              <a:t>10m</a:t>
            </a:r>
            <a:r>
              <a:rPr lang="ko-KR" altLang="en-US" dirty="0" smtClean="0"/>
              <a:t>가 나옵니다</a:t>
            </a:r>
            <a:r>
              <a:rPr lang="en-US" altLang="ko-KR" dirty="0" smtClean="0"/>
              <a:t>.</a:t>
            </a:r>
            <a:endParaRPr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NED를 지구 축에 맞춰 돌리고 배의 ECEF 위치를 더하면 표적의 ECEF 가 나옵니다.</a:t>
            </a:r>
          </a:p>
          <a:p>
            <a:r>
              <a:t>값이 3백만 미터 단위로 뛰는데, 원점이 지구 중심이라서 그렇습니다.</a:t>
            </a:r>
          </a:p>
          <a:p>
            <a:r>
              <a:t>마지막으로 ECEF 를 위경도로 되돌리면 북위 36.360967도, 동경 127.522008도, 고도 41.28미터.</a:t>
            </a:r>
          </a:p>
          <a:p>
            <a:r>
              <a:t>이게 최종 출력입니다.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역변환은 새로울 게 없습니다. 회전은 전치, 평행이동은 빼기, 그리고 순서를 거꾸로.</a:t>
            </a:r>
          </a:p>
          <a:p>
            <a:r>
              <a:t>이 세 가지로 위경도에서 극좌표까지 되짚어 오면 20 킬로미터, 30도, 0도가 그대로 나옵니다.</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ko-KR" altLang="en-US" dirty="0" smtClean="0"/>
              <a:t>마지막으로 </a:t>
            </a:r>
            <a:r>
              <a:rPr lang="en-US" altLang="ko-KR" dirty="0" smtClean="0"/>
              <a:t>C </a:t>
            </a:r>
            <a:r>
              <a:rPr lang="ko-KR" altLang="en-US" dirty="0" smtClean="0"/>
              <a:t>구현입니다</a:t>
            </a:r>
            <a:r>
              <a:rPr lang="en-US" altLang="ko-KR" dirty="0" smtClean="0"/>
              <a:t>.</a:t>
            </a:r>
          </a:p>
          <a:p>
            <a:r>
              <a:rPr lang="ko-KR" altLang="en-US" dirty="0" smtClean="0"/>
              <a:t>회전행렬을 코드로 어떻게 옮기는지부터 단계별 공식과 코드 대응</a:t>
            </a:r>
            <a:r>
              <a:rPr lang="en-US" altLang="ko-KR" dirty="0" smtClean="0"/>
              <a:t>, </a:t>
            </a:r>
            <a:r>
              <a:rPr lang="ko-KR" altLang="en-US" dirty="0" smtClean="0"/>
              <a:t>그리고 실행 결과까지 보겠습니다</a:t>
            </a:r>
            <a:r>
              <a:rPr lang="en-US" altLang="ko-KR" smtClean="0"/>
              <a: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회전행렬을 코드로 옮기는 건 그대로 베껴 적는 일입니다.</a:t>
            </a:r>
          </a:p>
          <a:p>
            <a:r>
              <a:t>공식의 3×3 에서 0 이 아닌 칸만 배열에 채워 넣으면 끝입니다.</a:t>
            </a:r>
          </a:p>
          <a:p>
            <a:r>
              <a:t>Rz 하나만 보시면 Rx 와 Ry 도 같은 방식입니다.</a:t>
            </a:r>
          </a:p>
          <a:p>
            <a:r>
              <a:t>쓰는 연산은 곱셈과 전치, 덧셈뿐입니다. 역행렬은 쓰지 않습니다. 회전행렬은 전치가 곧 역행렬이니까요.</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여기서부터는 왼쪽이 공식, 오른쪽이 그 공식을 그대로 옮긴 코드입니다.</a:t>
            </a:r>
          </a:p>
          <a:p>
            <a:r>
              <a:t>극좌표에서 직교로 가는 건 곱셈 세 줄이 전부입니다.</a:t>
            </a:r>
          </a:p>
          <a:p>
            <a:r>
              <a:t>안테나에서 동체로 갈 때는 축 맞춤을 먼저 걸고 설치 방위, 백틸트 순으로 돌린 뒤 레버암을 더합니다.</a:t>
            </a:r>
          </a:p>
          <a:p>
            <a:r>
              <a:t>여기도 순서가 바뀌면 다른 값이 나옵니다.</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동체에서 NED 는 회전만 합니다. 원점이 같으니 더할 것이 없습니다.</a:t>
            </a:r>
          </a:p>
          <a:p>
            <a:r>
              <a:t>요, 피치, 롤 순서로 곱합니다. 순서가 바뀌면 다른 값이 나오니 이 순서를 지켜야 합니다.</a:t>
            </a:r>
          </a:p>
          <a:p>
            <a:r>
              <a:t>NED 에서 ECEF 로 갈 때는 지구 축에 맞춰 돌리고 배의 위치를 더합니다.</a:t>
            </a:r>
          </a:p>
          <a:p>
            <a:r>
              <a:t>배의 ECEF 위치는 함수가 안에서 알아서 구하니 따로 넘겨줄 필요가 없습니다.</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위경도에서 ECEF 로 가는 건 공식에 넣으면 바로 나옵니다.</a:t>
            </a:r>
          </a:p>
          <a:p>
            <a:r>
              <a:t>반대는 한 번에 안 풀립니다. 위도를 알아야 곡률반경이 나오고, 곡률반경을 알아야 위도가 나오기 때문입니다.</a:t>
            </a:r>
          </a:p>
          <a:p>
            <a:r>
              <a:t>그래서 지구를 구로 본 값으로 시작해서 위도와 고도를 번갈아 계산하며 값이 안 변할 때까지 되풀이합니다.</a:t>
            </a:r>
          </a:p>
          <a:p>
            <a:r>
              <a:t>이번 과제는 여섯 번에서 멈춥니다. 최대 열 번으로 잘라 두어 어떤 값이 들어와도 무한루프가 없습니다.</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역변환은 앞에서 본 그대로입니다. 회전은 전치, 이동은 빼기, 순서는 거꾸로.</a:t>
            </a:r>
          </a:p>
          <a:p>
            <a:r>
              <a:t>중요한 건 연산만이 아니라 순서까지 뒤집는다는 점입니다.</a:t>
            </a:r>
          </a:p>
          <a:p>
            <a:r>
              <a:t>레버암은 동체 좌표에서 잰 값이라 동체 좌표에서 먼저 빼고, 그다음에 안테나 축으로 되돌려야 합니다.</a:t>
            </a:r>
          </a:p>
          <a:p>
            <a:r>
              <a:t>두 줄을 바꾸면 엉뚱한 좌표계에서 빼게 되어 결과가 틀어집니다.</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실제로 프로그램을 돌린 화면입니다.</a:t>
            </a:r>
          </a:p>
          <a:p>
            <a:r>
              <a:t>단계별 값이 앞에서 손으로 계산한 것과 전부 같습니다.</a:t>
            </a:r>
          </a:p>
          <a:p>
            <a:r>
              <a:t>아래쪽 왕복 오차를 보시면 거리가 0.68 나노미터입니다. 배정도 실수의 반올림 한계라 사실상 오차가 없다는 뜻입니다.</a:t>
            </a:r>
          </a:p>
          <a:p>
            <a:r>
              <a:t>고도가 41.3 미터로 나오는데, 표적은 수평면에서 10 미터 위입니다. 20 킬로미터 앞이라 지구가 31 미터 휘어 내려간 만큼 더해진 값입니다.</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같은 라이브러리를 MFC 화면에서도 그대로 부릅니다.</a:t>
            </a:r>
          </a:p>
          <a:p>
            <a:r>
              <a:t>왼쪽에 입력을 넣으면 가운데 표에 정변환 다섯 단계와 역변환 다섯 단계가 바로 나옵니다.</a:t>
            </a:r>
          </a:p>
          <a:p>
            <a:r>
              <a:t>자세 슬라이더를 움직이면 그 자리에서 다시 계산됩니다.</a:t>
            </a:r>
          </a:p>
          <a:p>
            <a:r>
              <a:t>표에 찍힌 값이 앞 장 콘솔 출력과, 그리고 손계산과 모두 같습니다.</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일곱 가지로 정리하겠습니다.</a:t>
            </a:r>
          </a:p>
          <a:p>
            <a:r>
              <a:t>하나, 좌표계는 "어디에 서서 어느 방향을 기준으로 재는가" 이고 좌표변환은 그 기준을 맞추는 계산입니다. 둘, 변환의 재료는 회전과 평행이동 둘뿐입니다. 셋, 순서는 안테나, 동체, 로컬, ECEF, 위경도이고 건너뛸 수 없습니다. 넷, 회전은 설치 방위와 INS 의 자세 · 위경도가, 평행이동은 레버암과 배의 위치가 공급합니다. 다섯, 돌아올 때는 전치하고 빼고 곱하는 순서를 뒤집습니다. 왕복이 맞으면 구현이 맞은 것입니다. 여섯, 배가 기울면 각도 덧셈은 깨지고 회전행렬은 필수입니다. 일곱, 로컬 평면 좌표를 고도로 그대로 쓰면 안 됩니다. 지구는 둥급니다.</a:t>
            </a:r>
          </a:p>
          <a:p>
            <a:r>
              <a:t>이상입니다. 질문 환영합니다. 코드와 문서는 radar-sw-study 저장소의 Part2_CoordFrames 에 있습니다.</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"플랫폼 좌표계" 라는 말의 의미가 여기서 갈립니다.</a:t>
            </a:r>
          </a:p>
          <a:p>
            <a:r>
              <a:t>짐벌형은 센서가 짐벌 위에 얹혀 있고 모터가 늘 수평을 유지합니다. 플랫폼 좌표계가 실제로 존재하는 물리적 프레임입니다. 정밀하지만 크고 무겁고 비쌉니다.</a:t>
            </a:r>
          </a:p>
          <a:p>
            <a:r>
              <a:t>스트랩다운은 센서가 동체에 직접 고정되어 배와 함께 기울고, 수평 유지는 계산이 합니다. 플랫폼 좌표계는 소프트웨어 안의 상태값일 뿐입니다. 현대 함정 INS 는 사실상 전부 이쪽입니다.</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여섯 좌표계를 표 하나로 모았습니다. 원점, 축, 붙은 곳, 주 용도 순서입니다.</a:t>
            </a:r>
          </a:p>
          <a:p>
            <a:r>
              <a:t>안테나와 동체와 INS 는 배에 붙어 있고, NED 는 바다 위 지점에 붙어 회전하지 않고, ECEF 는 지구에 붙어 자전하고, ECI 는 아무 데도 안 붙어 있고, LLA 는 지구 기준입니다.</a:t>
            </a:r>
          </a:p>
          <a:p>
            <a:r>
              <a:t>중요한 것은 순서를 건너뛸 수 없다는 점입니다. 안테나는 배에 붙어 있고, 배의 방향은 북쪽 기준으로 알려지고, 로컬 원점의 위치는 지구 좌표로만 표현되기 때문입니다.</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7.png"/><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3.png"/><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5.png"/><Relationship Id="rId4" Type="http://schemas.openxmlformats.org/officeDocument/2006/relationships/image" Target="../media/image1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2.png"/><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4.png"/><Relationship Id="rId4" Type="http://schemas.openxmlformats.org/officeDocument/2006/relationships/image" Target="../media/image2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26.png"/><Relationship Id="rId4" Type="http://schemas.openxmlformats.org/officeDocument/2006/relationships/image" Target="../media/image2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2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2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33F"/>
        </a:solidFill>
        <a:effectLst/>
      </p:bgPr>
    </p:bg>
    <p:spTree>
      <p:nvGrpSpPr>
        <p:cNvPr id="1" name=""/>
        <p:cNvGrpSpPr/>
        <p:nvPr/>
      </p:nvGrpSpPr>
      <p:grpSpPr>
        <a:xfrm>
          <a:off x="0" y="0"/>
          <a:ext cx="0" cy="0"/>
          <a:chOff x="0" y="0"/>
          <a:chExt cx="0" cy="0"/>
        </a:xfrm>
      </p:grpSpPr>
      <p:sp>
        <p:nvSpPr>
          <p:cNvPr id="3" name="TextBox 2"/>
          <p:cNvSpPr txBox="1"/>
          <p:nvPr/>
        </p:nvSpPr>
        <p:spPr>
          <a:xfrm>
            <a:off x="9418320" y="502920"/>
            <a:ext cx="2286000" cy="320040"/>
          </a:xfrm>
          <a:prstGeom prst="rect">
            <a:avLst/>
          </a:prstGeom>
          <a:noFill/>
        </p:spPr>
        <p:txBody>
          <a:bodyPr wrap="none" lIns="0" tIns="0" rIns="0" bIns="0" anchor="t">
            <a:spAutoFit/>
          </a:bodyPr>
          <a:lstStyle/>
          <a:p>
            <a:pPr algn="r"/>
            <a:r>
              <a:rPr sz="1100" b="1">
                <a:solidFill>
                  <a:srgbClr val="FFFFFF"/>
                </a:solidFill>
                <a:latin typeface="Arial"/>
              </a:rPr>
              <a:t>Chapter 2</a:t>
            </a:r>
          </a:p>
        </p:txBody>
      </p:sp>
      <p:sp>
        <p:nvSpPr>
          <p:cNvPr id="4" name="TextBox 3"/>
          <p:cNvSpPr txBox="1"/>
          <p:nvPr/>
        </p:nvSpPr>
        <p:spPr>
          <a:xfrm>
            <a:off x="3931920" y="2468880"/>
            <a:ext cx="7772400" cy="914400"/>
          </a:xfrm>
          <a:prstGeom prst="rect">
            <a:avLst/>
          </a:prstGeom>
          <a:noFill/>
        </p:spPr>
        <p:txBody>
          <a:bodyPr wrap="square" lIns="0" tIns="0" rIns="0" bIns="0" anchor="ctr">
            <a:spAutoFit/>
          </a:bodyPr>
          <a:lstStyle/>
          <a:p>
            <a:pPr algn="r"/>
            <a:r>
              <a:rPr sz="4000" b="1">
                <a:solidFill>
                  <a:srgbClr val="FFFFFF"/>
                </a:solidFill>
                <a:latin typeface="맑은 고딕"/>
              </a:rPr>
              <a:t>좌표계와 좌표변환</a:t>
            </a:r>
          </a:p>
        </p:txBody>
      </p:sp>
      <p:sp>
        <p:nvSpPr>
          <p:cNvPr id="5" name="TextBox 4"/>
          <p:cNvSpPr txBox="1"/>
          <p:nvPr/>
        </p:nvSpPr>
        <p:spPr>
          <a:xfrm>
            <a:off x="3931920" y="3401568"/>
            <a:ext cx="7772400" cy="384048"/>
          </a:xfrm>
          <a:prstGeom prst="rect">
            <a:avLst/>
          </a:prstGeom>
          <a:noFill/>
        </p:spPr>
        <p:txBody>
          <a:bodyPr wrap="square" lIns="0" tIns="0" rIns="0" bIns="0" anchor="t">
            <a:spAutoFit/>
          </a:bodyPr>
          <a:lstStyle/>
          <a:p>
            <a:pPr algn="r"/>
            <a:r>
              <a:rPr sz="1600" b="0">
                <a:solidFill>
                  <a:srgbClr val="C9D6EC"/>
                </a:solidFill>
                <a:latin typeface="맑은 고딕"/>
              </a:rPr>
              <a:t>안테나가 잰 각도가 지도 위 위경도가 되기까지</a:t>
            </a:r>
          </a:p>
        </p:txBody>
      </p:sp>
      <p:sp>
        <p:nvSpPr>
          <p:cNvPr id="7" name="TextBox 6"/>
          <p:cNvSpPr txBox="1"/>
          <p:nvPr/>
        </p:nvSpPr>
        <p:spPr>
          <a:xfrm>
            <a:off x="6217920" y="4389120"/>
            <a:ext cx="5486400" cy="320040"/>
          </a:xfrm>
          <a:prstGeom prst="rect">
            <a:avLst/>
          </a:prstGeom>
          <a:noFill/>
        </p:spPr>
        <p:txBody>
          <a:bodyPr wrap="square" lIns="0" tIns="0" rIns="0" bIns="0" anchor="t">
            <a:spAutoFit/>
          </a:bodyPr>
          <a:lstStyle/>
          <a:p>
            <a:pPr algn="r"/>
            <a:r>
              <a:rPr sz="1200" b="0">
                <a:solidFill>
                  <a:srgbClr val="C9D6EC"/>
                </a:solidFill>
                <a:latin typeface="맑은 고딕"/>
              </a:rPr>
              <a:t>레이다 시스템 소프트웨어 스터디  ·  Part 2</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E8EDF5"/>
        </a:solidFill>
        <a:effectLst/>
      </p:bgPr>
    </p:bg>
    <p:spTree>
      <p:nvGrpSpPr>
        <p:cNvPr id="1" name=""/>
        <p:cNvGrpSpPr/>
        <p:nvPr/>
      </p:nvGrpSpPr>
      <p:grpSpPr>
        <a:xfrm>
          <a:off x="0" y="0"/>
          <a:ext cx="0" cy="0"/>
          <a:chOff x="0" y="0"/>
          <a:chExt cx="0" cy="0"/>
        </a:xfrm>
      </p:grpSpPr>
      <p:sp>
        <p:nvSpPr>
          <p:cNvPr id="2" name="Rectangle 1"/>
          <p:cNvSpPr/>
          <p:nvPr/>
        </p:nvSpPr>
        <p:spPr>
          <a:xfrm>
            <a:off x="0" y="0"/>
            <a:ext cx="4480560" cy="685800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endParaRPr/>
          </a:p>
        </p:txBody>
      </p:sp>
      <p:sp>
        <p:nvSpPr>
          <p:cNvPr id="3" name="TextBox 2"/>
          <p:cNvSpPr txBox="1"/>
          <p:nvPr/>
        </p:nvSpPr>
        <p:spPr>
          <a:xfrm>
            <a:off x="1143000" y="502920"/>
            <a:ext cx="2011680" cy="548640"/>
          </a:xfrm>
          <a:prstGeom prst="rect">
            <a:avLst/>
          </a:prstGeom>
          <a:noFill/>
        </p:spPr>
        <p:txBody>
          <a:bodyPr wrap="none" lIns="0" tIns="0" rIns="0" bIns="0" anchor="ctr">
            <a:spAutoFit/>
          </a:bodyPr>
          <a:lstStyle/>
          <a:p>
            <a:pPr algn="l"/>
            <a:r>
              <a:rPr sz="3000" b="1">
                <a:solidFill>
                  <a:srgbClr val="FFFFFF"/>
                </a:solidFill>
                <a:latin typeface="Arial"/>
              </a:rPr>
              <a:t>INDEX</a:t>
            </a:r>
          </a:p>
        </p:txBody>
      </p:sp>
      <p:cxnSp>
        <p:nvCxnSpPr>
          <p:cNvPr id="4" name="Connector 3"/>
          <p:cNvCxnSpPr/>
          <p:nvPr/>
        </p:nvCxnSpPr>
        <p:spPr>
          <a:xfrm>
            <a:off x="2423160" y="786384"/>
            <a:ext cx="8549640"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2788920"/>
            <a:ext cx="3657600" cy="1280160"/>
          </a:xfrm>
          <a:prstGeom prst="rect">
            <a:avLst/>
          </a:prstGeom>
          <a:noFill/>
        </p:spPr>
        <p:txBody>
          <a:bodyPr wrap="square" lIns="0" tIns="0" rIns="0" bIns="0" anchor="ctr">
            <a:spAutoFit/>
          </a:bodyPr>
          <a:lstStyle/>
          <a:p>
            <a:pPr algn="ctr"/>
            <a:r>
              <a:rPr sz="3000" b="1">
                <a:solidFill>
                  <a:srgbClr val="FFFFFF"/>
                </a:solidFill>
                <a:latin typeface="맑은 고딕"/>
              </a:rPr>
              <a:t>목차</a:t>
            </a:r>
          </a:p>
        </p:txBody>
      </p:sp>
      <p:sp>
        <p:nvSpPr>
          <p:cNvPr id="8" name="TextBox 7"/>
          <p:cNvSpPr txBox="1"/>
          <p:nvPr/>
        </p:nvSpPr>
        <p:spPr>
          <a:xfrm>
            <a:off x="5669280" y="6400800"/>
            <a:ext cx="914400" cy="274320"/>
          </a:xfrm>
          <a:prstGeom prst="rect">
            <a:avLst/>
          </a:prstGeom>
          <a:noFill/>
        </p:spPr>
        <p:txBody>
          <a:bodyPr wrap="none" lIns="0" tIns="0" rIns="0" bIns="0">
            <a:spAutoFit/>
          </a:bodyPr>
          <a:lstStyle/>
          <a:p>
            <a:pPr algn="ctr"/>
            <a:fld id="{1D0B0B0B-0000-4000-8000-00000000C0DE}" type="slidenum">
              <a:rPr lang="ko-KR" altLang="en-US" sz="1000" b="0" dirty="0">
                <a:solidFill>
                  <a:srgbClr val="1A2233"/>
                </a:solidFill>
                <a:latin typeface="Arial"/>
                <a:ea typeface="Arial"/>
              </a:rPr>
              <a:t>2</a:t>
            </a:fld>
            <a:endParaRPr lang="ko-KR" altLang="en-US" sz="1000" b="0" dirty="0">
              <a:solidFill>
                <a:srgbClr val="1A2233"/>
              </a:solidFill>
              <a:latin typeface="Arial"/>
              <a:ea typeface="Arial"/>
            </a:endParaRPr>
          </a:p>
        </p:txBody>
      </p:sp>
      <p:cxnSp>
        <p:nvCxnSpPr>
          <p:cNvPr id="12" name="Connector 11"/>
          <p:cNvCxnSpPr/>
          <p:nvPr/>
        </p:nvCxnSpPr>
        <p:spPr>
          <a:xfrm>
            <a:off x="5074920" y="2880360"/>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074920" y="2039112"/>
            <a:ext cx="1005840" cy="566928"/>
          </a:xfrm>
          <a:prstGeom prst="rect">
            <a:avLst/>
          </a:prstGeom>
          <a:noFill/>
        </p:spPr>
        <p:txBody>
          <a:bodyPr wrap="square" lIns="0" tIns="0" rIns="0" bIns="0" anchor="ctr">
            <a:spAutoFit/>
          </a:bodyPr>
          <a:lstStyle/>
          <a:p>
            <a:pPr algn="l"/>
            <a:r>
              <a:rPr sz="3400" b="1" dirty="0">
                <a:solidFill>
                  <a:srgbClr val="13233F"/>
                </a:solidFill>
                <a:latin typeface="Arial"/>
              </a:rPr>
              <a:t>01</a:t>
            </a:r>
          </a:p>
        </p:txBody>
      </p:sp>
      <p:sp>
        <p:nvSpPr>
          <p:cNvPr id="14" name="TextBox 13"/>
          <p:cNvSpPr txBox="1"/>
          <p:nvPr/>
        </p:nvSpPr>
        <p:spPr>
          <a:xfrm>
            <a:off x="6217920" y="2176382"/>
            <a:ext cx="2468880" cy="292388"/>
          </a:xfrm>
          <a:prstGeom prst="rect">
            <a:avLst/>
          </a:prstGeom>
          <a:noFill/>
        </p:spPr>
        <p:txBody>
          <a:bodyPr wrap="square" lIns="0" tIns="0" rIns="0" bIns="0" anchor="ctr">
            <a:spAutoFit/>
          </a:bodyPr>
          <a:lstStyle/>
          <a:p>
            <a:pPr algn="l"/>
            <a:r>
              <a:rPr sz="1900" b="0" dirty="0" err="1">
                <a:solidFill>
                  <a:srgbClr val="1A2233"/>
                </a:solidFill>
                <a:latin typeface="맑은 고딕"/>
              </a:rPr>
              <a:t>좌표계</a:t>
            </a:r>
            <a:r>
              <a:rPr sz="1900" b="0" dirty="0">
                <a:solidFill>
                  <a:srgbClr val="1A2233"/>
                </a:solidFill>
                <a:latin typeface="맑은 고딕"/>
              </a:rPr>
              <a:t> </a:t>
            </a:r>
            <a:r>
              <a:rPr sz="1900" b="0" dirty="0" err="1" smtClean="0">
                <a:solidFill>
                  <a:srgbClr val="1A2233"/>
                </a:solidFill>
                <a:latin typeface="맑은 고딕"/>
              </a:rPr>
              <a:t>여섯</a:t>
            </a:r>
            <a:r>
              <a:rPr sz="1900" b="0" dirty="0" smtClean="0">
                <a:solidFill>
                  <a:srgbClr val="1A2233"/>
                </a:solidFill>
                <a:latin typeface="맑은 고딕"/>
              </a:rPr>
              <a:t> </a:t>
            </a:r>
            <a:r>
              <a:rPr sz="1900" b="0" dirty="0" err="1" smtClean="0">
                <a:solidFill>
                  <a:srgbClr val="1A2233"/>
                </a:solidFill>
                <a:latin typeface="맑은 고딕"/>
              </a:rPr>
              <a:t>가지</a:t>
            </a:r>
            <a:endParaRPr sz="1900" b="0" dirty="0">
              <a:solidFill>
                <a:srgbClr val="1A2233"/>
              </a:solidFill>
              <a:latin typeface="맑은 고딕"/>
            </a:endParaRPr>
          </a:p>
        </p:txBody>
      </p:sp>
      <p:cxnSp>
        <p:nvCxnSpPr>
          <p:cNvPr id="16" name="Connector 15"/>
          <p:cNvCxnSpPr/>
          <p:nvPr/>
        </p:nvCxnSpPr>
        <p:spPr>
          <a:xfrm>
            <a:off x="5074920" y="3995928"/>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074920" y="3154680"/>
            <a:ext cx="1005840" cy="566928"/>
          </a:xfrm>
          <a:prstGeom prst="rect">
            <a:avLst/>
          </a:prstGeom>
          <a:noFill/>
        </p:spPr>
        <p:txBody>
          <a:bodyPr wrap="square" lIns="0" tIns="0" rIns="0" bIns="0" anchor="ctr">
            <a:spAutoFit/>
          </a:bodyPr>
          <a:lstStyle/>
          <a:p>
            <a:pPr algn="l"/>
            <a:r>
              <a:rPr sz="3400" b="1">
                <a:solidFill>
                  <a:srgbClr val="13233F"/>
                </a:solidFill>
                <a:latin typeface="Arial"/>
              </a:rPr>
              <a:t>02</a:t>
            </a:r>
          </a:p>
        </p:txBody>
      </p:sp>
      <p:sp>
        <p:nvSpPr>
          <p:cNvPr id="18" name="TextBox 17"/>
          <p:cNvSpPr txBox="1"/>
          <p:nvPr/>
        </p:nvSpPr>
        <p:spPr>
          <a:xfrm>
            <a:off x="6217920" y="3154680"/>
            <a:ext cx="2468880" cy="566928"/>
          </a:xfrm>
          <a:prstGeom prst="rect">
            <a:avLst/>
          </a:prstGeom>
          <a:noFill/>
        </p:spPr>
        <p:txBody>
          <a:bodyPr wrap="square" lIns="0" tIns="0" rIns="0" bIns="0" anchor="ctr">
            <a:spAutoFit/>
          </a:bodyPr>
          <a:lstStyle/>
          <a:p>
            <a:pPr algn="l"/>
            <a:r>
              <a:rPr sz="1900" b="0">
                <a:solidFill>
                  <a:srgbClr val="1A2233"/>
                </a:solidFill>
                <a:latin typeface="맑은 고딕"/>
              </a:rPr>
              <a:t>실전 설계</a:t>
            </a:r>
          </a:p>
        </p:txBody>
      </p:sp>
      <p:sp>
        <p:nvSpPr>
          <p:cNvPr id="21" name="TextBox 20"/>
          <p:cNvSpPr txBox="1"/>
          <p:nvPr/>
        </p:nvSpPr>
        <p:spPr>
          <a:xfrm>
            <a:off x="5074920" y="4270248"/>
            <a:ext cx="1005840" cy="566928"/>
          </a:xfrm>
          <a:prstGeom prst="rect">
            <a:avLst/>
          </a:prstGeom>
          <a:noFill/>
        </p:spPr>
        <p:txBody>
          <a:bodyPr wrap="square" lIns="0" tIns="0" rIns="0" bIns="0" anchor="ctr">
            <a:spAutoFit/>
          </a:bodyPr>
          <a:lstStyle/>
          <a:p>
            <a:pPr algn="l"/>
            <a:r>
              <a:rPr sz="3400" b="1">
                <a:solidFill>
                  <a:srgbClr val="13233F"/>
                </a:solidFill>
                <a:latin typeface="Arial"/>
              </a:rPr>
              <a:t>03</a:t>
            </a:r>
          </a:p>
        </p:txBody>
      </p:sp>
      <p:sp>
        <p:nvSpPr>
          <p:cNvPr id="22" name="TextBox 21"/>
          <p:cNvSpPr txBox="1"/>
          <p:nvPr/>
        </p:nvSpPr>
        <p:spPr>
          <a:xfrm>
            <a:off x="6217920" y="4270248"/>
            <a:ext cx="2468880" cy="566928"/>
          </a:xfrm>
          <a:prstGeom prst="rect">
            <a:avLst/>
          </a:prstGeom>
          <a:noFill/>
        </p:spPr>
        <p:txBody>
          <a:bodyPr wrap="square" lIns="0" tIns="0" rIns="0" bIns="0" anchor="ctr">
            <a:spAutoFit/>
          </a:bodyPr>
          <a:lstStyle/>
          <a:p>
            <a:pPr algn="l"/>
            <a:r>
              <a:rPr sz="1900" b="0">
                <a:solidFill>
                  <a:srgbClr val="1A2233"/>
                </a:solidFill>
                <a:latin typeface="맑은 고딕"/>
              </a:rPr>
              <a:t>C 로 확인</a:t>
            </a:r>
          </a:p>
        </p:txBody>
      </p:sp>
      <p:sp>
        <p:nvSpPr>
          <p:cNvPr id="15" name="TextBox 14"/>
          <p:cNvSpPr txBox="1"/>
          <p:nvPr/>
        </p:nvSpPr>
        <p:spPr>
          <a:xfrm>
            <a:off x="5074920" y="940088"/>
            <a:ext cx="1005840" cy="523220"/>
          </a:xfrm>
          <a:prstGeom prst="rect">
            <a:avLst/>
          </a:prstGeom>
          <a:noFill/>
        </p:spPr>
        <p:txBody>
          <a:bodyPr wrap="square" lIns="0" tIns="0" rIns="0" bIns="0" anchor="ctr">
            <a:spAutoFit/>
          </a:bodyPr>
          <a:lstStyle/>
          <a:p>
            <a:pPr algn="l"/>
            <a:r>
              <a:rPr sz="3400" b="1" dirty="0" smtClean="0">
                <a:solidFill>
                  <a:srgbClr val="13233F"/>
                </a:solidFill>
                <a:latin typeface="Arial"/>
              </a:rPr>
              <a:t>0</a:t>
            </a:r>
            <a:r>
              <a:rPr lang="en-US" sz="3400" b="1" dirty="0" smtClean="0">
                <a:solidFill>
                  <a:srgbClr val="13233F"/>
                </a:solidFill>
                <a:latin typeface="Arial"/>
              </a:rPr>
              <a:t>0</a:t>
            </a:r>
            <a:endParaRPr sz="3400" b="1" dirty="0">
              <a:solidFill>
                <a:srgbClr val="13233F"/>
              </a:solidFill>
              <a:latin typeface="Arial"/>
            </a:endParaRPr>
          </a:p>
        </p:txBody>
      </p:sp>
      <p:sp>
        <p:nvSpPr>
          <p:cNvPr id="19" name="TextBox 18"/>
          <p:cNvSpPr txBox="1"/>
          <p:nvPr/>
        </p:nvSpPr>
        <p:spPr>
          <a:xfrm>
            <a:off x="6217920" y="1051560"/>
            <a:ext cx="2468880" cy="292388"/>
          </a:xfrm>
          <a:prstGeom prst="rect">
            <a:avLst/>
          </a:prstGeom>
          <a:noFill/>
        </p:spPr>
        <p:txBody>
          <a:bodyPr wrap="square" lIns="0" tIns="0" rIns="0" bIns="0" anchor="ctr">
            <a:spAutoFit/>
          </a:bodyPr>
          <a:lstStyle/>
          <a:p>
            <a:pPr algn="l"/>
            <a:r>
              <a:rPr lang="ko-KR" altLang="en-US" sz="1900" dirty="0" smtClean="0">
                <a:solidFill>
                  <a:srgbClr val="1A2233"/>
                </a:solidFill>
                <a:latin typeface="맑은 고딕"/>
              </a:rPr>
              <a:t>좌표 변환의 기초</a:t>
            </a:r>
            <a:endParaRPr sz="1900" b="0" dirty="0">
              <a:solidFill>
                <a:srgbClr val="1A2233"/>
              </a:solidFill>
              <a:latin typeface="맑은 고딕"/>
            </a:endParaRPr>
          </a:p>
        </p:txBody>
      </p:sp>
      <p:cxnSp>
        <p:nvCxnSpPr>
          <p:cNvPr id="20" name="Connector 11"/>
          <p:cNvCxnSpPr/>
          <p:nvPr/>
        </p:nvCxnSpPr>
        <p:spPr>
          <a:xfrm>
            <a:off x="5074920" y="1796355"/>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E8EDF5"/>
        </a:solidFill>
        <a:effectLst/>
      </p:bgPr>
    </p:bg>
    <p:spTree>
      <p:nvGrpSpPr>
        <p:cNvPr id="1" name=""/>
        <p:cNvGrpSpPr/>
        <p:nvPr/>
      </p:nvGrpSpPr>
      <p:grpSpPr>
        <a:xfrm>
          <a:off x="0" y="0"/>
          <a:ext cx="0" cy="0"/>
          <a:chOff x="0" y="0"/>
          <a:chExt cx="0" cy="0"/>
        </a:xfrm>
      </p:grpSpPr>
      <p:sp>
        <p:nvSpPr>
          <p:cNvPr id="16" name="Rectangle 15"/>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endParaRPr/>
          </a:p>
        </p:txBody>
      </p:sp>
      <p:sp>
        <p:nvSpPr>
          <p:cNvPr id="17" name="Rectangle 16"/>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endParaRPr/>
          </a:p>
        </p:txBody>
      </p:sp>
      <p:sp>
        <p:nvSpPr>
          <p:cNvPr id="18" name="TextBox 17"/>
          <p:cNvSpPr txBox="1"/>
          <p:nvPr/>
        </p:nvSpPr>
        <p:spPr>
          <a:xfrm>
            <a:off x="640080" y="411480"/>
            <a:ext cx="8732520" cy="777240"/>
          </a:xfrm>
          <a:prstGeom prst="rect">
            <a:avLst/>
          </a:prstGeom>
          <a:noFill/>
        </p:spPr>
        <p:txBody>
          <a:bodyPr wrap="square" lIns="0" tIns="0" rIns="0" bIns="0" anchor="ctr">
            <a:spAutoFit/>
          </a:bodyPr>
          <a:lstStyle/>
          <a:p>
            <a:pPr algn="l">
              <a:spcAft>
                <a:spcPts val="300"/>
              </a:spcAft>
            </a:pPr>
            <a:r>
              <a:rPr sz="1900" b="1">
                <a:solidFill>
                  <a:srgbClr val="FFFFFF"/>
                </a:solidFill>
                <a:latin typeface="맑은 고딕"/>
              </a:rPr>
              <a:t>왜 좌표계가 여럿인가</a:t>
            </a:r>
          </a:p>
          <a:p>
            <a:pPr algn="l">
              <a:lnSpc>
                <a:spcPts val="1400"/>
              </a:lnSpc>
            </a:pPr>
            <a:r>
              <a:rPr sz="1100" b="0">
                <a:solidFill>
                  <a:srgbClr val="C9D6EC"/>
                </a:solidFill>
                <a:latin typeface="맑은 고딕"/>
              </a:rPr>
              <a:t>같은 물체라도 어디에 서서 어디를 보느냐에 따라 말이 달라집니다</a:t>
            </a:r>
          </a:p>
        </p:txBody>
      </p:sp>
      <p:cxnSp>
        <p:nvCxnSpPr>
          <p:cNvPr id="20" name="Connector 19"/>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669280" y="6400800"/>
            <a:ext cx="914400" cy="274320"/>
          </a:xfrm>
          <a:prstGeom prst="rect">
            <a:avLst/>
          </a:prstGeom>
          <a:noFill/>
        </p:spPr>
        <p:txBody>
          <a:bodyPr wrap="none" lIns="0" tIns="0" rIns="0" bIns="0">
            <a:spAutoFit/>
          </a:bodyPr>
          <a:lstStyle/>
          <a:p>
            <a:pPr algn="ctr"/>
            <a:fld id="{1D0B0B0B-0000-4000-8000-00000000C0DE}" type="slidenum">
              <a:rPr lang="ko-KR" altLang="en-US" sz="1000" b="0" dirty="0">
                <a:solidFill>
                  <a:srgbClr val="1A2233"/>
                </a:solidFill>
                <a:latin typeface="Arial"/>
                <a:ea typeface="Arial"/>
              </a:rPr>
              <a:t>3</a:t>
            </a:fld>
            <a:endParaRPr lang="ko-KR" altLang="en-US" sz="1000" b="0" dirty="0">
              <a:solidFill>
                <a:srgbClr val="1A2233"/>
              </a:solidFill>
              <a:latin typeface="Arial"/>
              <a:ea typeface="Arial"/>
            </a:endParaRPr>
          </a:p>
        </p:txBody>
      </p:sp>
      <p:pic>
        <p:nvPicPr>
          <p:cNvPr id="23" name="Picture 22" descr="fig18_observers.png"/>
          <p:cNvPicPr>
            <a:picLocks noChangeAspect="1"/>
          </p:cNvPicPr>
          <p:nvPr/>
        </p:nvPicPr>
        <p:blipFill>
          <a:blip r:embed="rId3"/>
          <a:stretch>
            <a:fillRect/>
          </a:stretch>
        </p:blipFill>
        <p:spPr>
          <a:xfrm>
            <a:off x="566928" y="1371600"/>
            <a:ext cx="6766560" cy="3429000"/>
          </a:xfrm>
          <a:prstGeom prst="rect">
            <a:avLst/>
          </a:prstGeom>
        </p:spPr>
      </p:pic>
      <p:sp>
        <p:nvSpPr>
          <p:cNvPr id="24" name="Card 0"/>
          <p:cNvSpPr/>
          <p:nvPr/>
        </p:nvSpPr>
        <p:spPr>
          <a:xfrm>
            <a:off x="7498079" y="1371600"/>
            <a:ext cx="4133087" cy="1207008"/>
          </a:xfrm>
          <a:prstGeom prst="roundRect">
            <a:avLst>
              <a:gd name="adj" fmla="val 8696"/>
            </a:avLst>
          </a:prstGeom>
          <a:solidFill>
            <a:srgbClr val="EEF1F7"/>
          </a:solidFill>
          <a:ln w="12700">
            <a:solidFill>
              <a:srgbClr val="FFFFFF"/>
            </a:solidFill>
            <a:prstDash val="solid"/>
          </a:ln>
        </p:spPr>
        <p:txBody>
          <a:bodyPr/>
          <a:lstStyle/>
          <a:p>
            <a:endParaRPr/>
          </a:p>
        </p:txBody>
      </p:sp>
      <p:sp>
        <p:nvSpPr>
          <p:cNvPr id="25" name="CardText 0"/>
          <p:cNvSpPr txBox="1"/>
          <p:nvPr/>
        </p:nvSpPr>
        <p:spPr>
          <a:xfrm>
            <a:off x="7717536" y="1517904"/>
            <a:ext cx="3694176" cy="914400"/>
          </a:xfrm>
          <a:prstGeom prst="rect">
            <a:avLst/>
          </a:prstGeom>
          <a:noFill/>
          <a:ln/>
        </p:spPr>
        <p:txBody>
          <a:bodyPr wrap="square" lIns="0" tIns="0" rIns="0" bIns="0" rtlCol="0" anchor="t"/>
          <a:lstStyle/>
          <a:p>
            <a:pPr marL="0" indent="0">
              <a:lnSpc>
                <a:spcPts val="1700"/>
              </a:lnSpc>
              <a:buNone/>
            </a:pPr>
            <a:r>
              <a:rPr lang="ko-KR" sz="1200" b="1" dirty="0">
                <a:solidFill>
                  <a:srgbClr val="2B57A6"/>
                </a:solidFill>
                <a:latin typeface="맑은 고딕" pitchFamily="34" charset="0"/>
                <a:ea typeface="맑은 고딕" pitchFamily="34" charset="-122"/>
                <a:cs typeface="맑은 고딕" pitchFamily="34" charset="-120"/>
              </a:rPr>
              <a:t>관측자 A 가 말하면</a:t>
            </a:r>
          </a:p>
          <a:p>
            <a:pPr marL="0" indent="0">
              <a:lnSpc>
                <a:spcPts val="2100"/>
              </a:lnSpc>
              <a:buNone/>
            </a:pPr>
            <a:r>
              <a:rPr lang="ko-KR" sz="1350" b="1" dirty="0">
                <a:solidFill>
                  <a:srgbClr val="1A2233"/>
                </a:solidFill>
                <a:latin typeface="맑은 고딕" pitchFamily="34" charset="0"/>
                <a:ea typeface="맑은 고딕" pitchFamily="34" charset="-122"/>
                <a:cs typeface="맑은 고딕" pitchFamily="34" charset="-120"/>
              </a:rPr>
              <a:t>"내 오른쪽에 있는데."</a:t>
            </a:r>
          </a:p>
          <a:p>
            <a:pPr marL="0" indent="0">
              <a:lnSpc>
                <a:spcPts val="1700"/>
              </a:lnSpc>
              <a:buNone/>
            </a:pPr>
            <a:r>
              <a:rPr lang="ko-KR" sz="1200" b="0" dirty="0">
                <a:solidFill>
                  <a:srgbClr val="5A6478"/>
                </a:solidFill>
                <a:latin typeface="맑은 고딕" pitchFamily="34" charset="0"/>
                <a:ea typeface="맑은 고딕" pitchFamily="34" charset="-122"/>
                <a:cs typeface="맑은 고딕" pitchFamily="34" charset="-120"/>
              </a:rPr>
              <a:t>앞에서 오른쪽으로 21°,  9 m</a:t>
            </a:r>
          </a:p>
        </p:txBody>
      </p:sp>
      <p:sp>
        <p:nvSpPr>
          <p:cNvPr id="26" name="Card 1"/>
          <p:cNvSpPr/>
          <p:nvPr/>
        </p:nvSpPr>
        <p:spPr>
          <a:xfrm>
            <a:off x="7498079" y="2724912"/>
            <a:ext cx="4133087" cy="1207008"/>
          </a:xfrm>
          <a:prstGeom prst="roundRect">
            <a:avLst>
              <a:gd name="adj" fmla="val 8696"/>
            </a:avLst>
          </a:prstGeom>
          <a:solidFill>
            <a:srgbClr val="EEF1F7"/>
          </a:solidFill>
          <a:ln w="12700">
            <a:solidFill>
              <a:srgbClr val="FFFFFF"/>
            </a:solidFill>
            <a:prstDash val="solid"/>
          </a:ln>
        </p:spPr>
        <p:txBody>
          <a:bodyPr/>
          <a:lstStyle/>
          <a:p>
            <a:endParaRPr/>
          </a:p>
        </p:txBody>
      </p:sp>
      <p:sp>
        <p:nvSpPr>
          <p:cNvPr id="27" name="CardText 1"/>
          <p:cNvSpPr txBox="1"/>
          <p:nvPr/>
        </p:nvSpPr>
        <p:spPr>
          <a:xfrm>
            <a:off x="7717536" y="2871216"/>
            <a:ext cx="3694176" cy="914400"/>
          </a:xfrm>
          <a:prstGeom prst="rect">
            <a:avLst/>
          </a:prstGeom>
          <a:noFill/>
          <a:ln/>
        </p:spPr>
        <p:txBody>
          <a:bodyPr wrap="square" lIns="0" tIns="0" rIns="0" bIns="0" rtlCol="0" anchor="t"/>
          <a:lstStyle/>
          <a:p>
            <a:pPr marL="0" indent="0">
              <a:lnSpc>
                <a:spcPts val="1700"/>
              </a:lnSpc>
              <a:buNone/>
            </a:pPr>
            <a:r>
              <a:rPr lang="ko-KR" sz="1200" b="1" dirty="0">
                <a:solidFill>
                  <a:srgbClr val="C2521C"/>
                </a:solidFill>
                <a:latin typeface="맑은 고딕" pitchFamily="34" charset="0"/>
                <a:ea typeface="맑은 고딕" pitchFamily="34" charset="-122"/>
                <a:cs typeface="맑은 고딕" pitchFamily="34" charset="-120"/>
              </a:rPr>
              <a:t>관측자 B 가 말하면</a:t>
            </a:r>
          </a:p>
          <a:p>
            <a:pPr marL="0" indent="0">
              <a:lnSpc>
                <a:spcPts val="2100"/>
              </a:lnSpc>
              <a:buNone/>
            </a:pPr>
            <a:r>
              <a:rPr lang="ko-KR" sz="1350" b="1" dirty="0">
                <a:solidFill>
                  <a:srgbClr val="1A2233"/>
                </a:solidFill>
                <a:latin typeface="맑은 고딕" pitchFamily="34" charset="0"/>
                <a:ea typeface="맑은 고딕" pitchFamily="34" charset="-122"/>
                <a:cs typeface="맑은 고딕" pitchFamily="34" charset="-120"/>
              </a:rPr>
              <a:t>"내 왼쪽에 있는데?"</a:t>
            </a:r>
          </a:p>
          <a:p>
            <a:pPr marL="0" indent="0">
              <a:lnSpc>
                <a:spcPts val="1700"/>
              </a:lnSpc>
              <a:buNone/>
            </a:pPr>
            <a:r>
              <a:rPr lang="ko-KR" sz="1200" b="0" dirty="0">
                <a:solidFill>
                  <a:srgbClr val="5A6478"/>
                </a:solidFill>
                <a:latin typeface="맑은 고딕" pitchFamily="34" charset="0"/>
                <a:ea typeface="맑은 고딕" pitchFamily="34" charset="-122"/>
                <a:cs typeface="맑은 고딕" pitchFamily="34" charset="-120"/>
              </a:rPr>
              <a:t>앞에서 왼쪽으로 29°,  7 m</a:t>
            </a:r>
          </a:p>
        </p:txBody>
      </p:sp>
      <p:sp>
        <p:nvSpPr>
          <p:cNvPr id="28" name="Card 2"/>
          <p:cNvSpPr/>
          <p:nvPr/>
        </p:nvSpPr>
        <p:spPr>
          <a:xfrm>
            <a:off x="7498079" y="4078224"/>
            <a:ext cx="4133087" cy="722376"/>
          </a:xfrm>
          <a:prstGeom prst="roundRect">
            <a:avLst>
              <a:gd name="adj" fmla="val 8696"/>
            </a:avLst>
          </a:prstGeom>
          <a:solidFill>
            <a:srgbClr val="FBEADF"/>
          </a:solidFill>
          <a:ln w="12700">
            <a:solidFill>
              <a:srgbClr val="FFFFFF"/>
            </a:solidFill>
            <a:prstDash val="solid"/>
          </a:ln>
        </p:spPr>
        <p:txBody>
          <a:bodyPr/>
          <a:lstStyle/>
          <a:p>
            <a:endParaRPr/>
          </a:p>
        </p:txBody>
      </p:sp>
      <p:sp>
        <p:nvSpPr>
          <p:cNvPr id="29" name="CardText 2"/>
          <p:cNvSpPr txBox="1"/>
          <p:nvPr/>
        </p:nvSpPr>
        <p:spPr>
          <a:xfrm>
            <a:off x="7717536" y="4078224"/>
            <a:ext cx="3694176" cy="722376"/>
          </a:xfrm>
          <a:prstGeom prst="rect">
            <a:avLst/>
          </a:prstGeom>
          <a:noFill/>
          <a:ln/>
        </p:spPr>
        <p:txBody>
          <a:bodyPr wrap="square" lIns="0" tIns="0" rIns="0" bIns="0" rtlCol="0" anchor="ctr"/>
          <a:lstStyle/>
          <a:p>
            <a:pPr marL="0" indent="0" algn="ctr">
              <a:buNone/>
            </a:pPr>
            <a:r>
              <a:rPr lang="ko-KR" sz="1500" b="1" dirty="0">
                <a:solidFill>
                  <a:srgbClr val="C2521C"/>
                </a:solidFill>
                <a:latin typeface="맑은 고딕" pitchFamily="34" charset="0"/>
                <a:ea typeface="맑은 고딕" pitchFamily="34" charset="-122"/>
                <a:cs typeface="맑은 고딕" pitchFamily="34" charset="-120"/>
              </a:rPr>
              <a:t>물체는 하나 · 숫자는 둘</a:t>
            </a:r>
          </a:p>
        </p:txBody>
      </p:sp>
      <p:sp>
        <p:nvSpPr>
          <p:cNvPr id="30" name="Shape 2"/>
          <p:cNvSpPr/>
          <p:nvPr/>
        </p:nvSpPr>
        <p:spPr>
          <a:xfrm>
            <a:off x="566928" y="4956048"/>
            <a:ext cx="11064240" cy="1207008"/>
          </a:xfrm>
          <a:prstGeom prst="roundRect">
            <a:avLst>
              <a:gd name="adj" fmla="val 8696"/>
            </a:avLst>
          </a:prstGeom>
          <a:solidFill>
            <a:srgbClr val="FBEADF"/>
          </a:solidFill>
          <a:ln w="12700">
            <a:solidFill>
              <a:srgbClr val="FFFFFF"/>
            </a:solidFill>
            <a:prstDash val="solid"/>
          </a:ln>
        </p:spPr>
        <p:txBody>
          <a:bodyPr/>
          <a:lstStyle/>
          <a:p>
            <a:endParaRPr/>
          </a:p>
        </p:txBody>
      </p:sp>
      <p:sp>
        <p:nvSpPr>
          <p:cNvPr id="31" name="Text 3"/>
          <p:cNvSpPr txBox="1"/>
          <p:nvPr/>
        </p:nvSpPr>
        <p:spPr>
          <a:xfrm>
            <a:off x="786384" y="4956048"/>
            <a:ext cx="10625328" cy="1207008"/>
          </a:xfrm>
          <a:prstGeom prst="rect">
            <a:avLst/>
          </a:prstGeom>
          <a:noFill/>
          <a:ln/>
        </p:spPr>
        <p:txBody>
          <a:bodyPr wrap="square" lIns="0" tIns="0" rIns="0" bIns="0" rtlCol="0" anchor="ctr"/>
          <a:lstStyle/>
          <a:p>
            <a:pPr marL="0" indent="0">
              <a:lnSpc>
                <a:spcPts val="2200"/>
              </a:lnSpc>
              <a:buNone/>
            </a:pPr>
            <a:r>
              <a:rPr lang="ko-KR" sz="1440" b="1" dirty="0">
                <a:solidFill>
                  <a:srgbClr val="C2521C"/>
                </a:solidFill>
                <a:latin typeface="맑은 고딕" pitchFamily="34" charset="0"/>
                <a:ea typeface="맑은 고딕" pitchFamily="34" charset="-122"/>
                <a:cs typeface="맑은 고딕" pitchFamily="34" charset="-120"/>
              </a:rPr>
              <a:t>달라진 것은 두 가지뿐입니다 —  어디에 서서 재는가(원점), 어디를 보고 재는가(축).</a:t>
            </a:r>
          </a:p>
          <a:p>
            <a:pPr marL="0" indent="0">
              <a:lnSpc>
                <a:spcPts val="1800"/>
              </a:lnSpc>
              <a:buNone/>
            </a:pPr>
            <a:r>
              <a:rPr lang="ko-KR" sz="1150" b="0" dirty="0">
                <a:solidFill>
                  <a:srgbClr val="5A6478"/>
                </a:solidFill>
                <a:latin typeface="맑은 고딕" pitchFamily="34" charset="0"/>
                <a:ea typeface="맑은 고딕" pitchFamily="34" charset="-122"/>
                <a:cs typeface="맑은 고딕" pitchFamily="34" charset="-120"/>
              </a:rPr>
              <a:t>좌표계란 그 둘을 미리 정해 놓은 약속이고, 기준이 다른 두 좌표계의 숫자를 서로 옮겨 주는 계산이 좌표변환입니다.</a:t>
            </a:r>
          </a:p>
          <a:p>
            <a:pPr marL="0" indent="0">
              <a:lnSpc>
                <a:spcPts val="1800"/>
              </a:lnSpc>
              <a:buNone/>
            </a:pPr>
            <a:r>
              <a:rPr lang="ko-KR" sz="1150" b="0" dirty="0">
                <a:solidFill>
                  <a:srgbClr val="5A6478"/>
                </a:solidFill>
                <a:latin typeface="맑은 고딕" pitchFamily="34" charset="0"/>
                <a:ea typeface="맑은 고딕" pitchFamily="34" charset="-122"/>
                <a:cs typeface="맑은 고딕" pitchFamily="34" charset="-120"/>
              </a:rPr>
              <a:t>이 발표에서는 같은 일이 "레이다가 잰 각도" 와 "전시기의 위·경도" 사이에서 일어납니다.</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6">
    <p:bg>
      <p:bgPr>
        <a:solidFill>
          <a:srgbClr val="E8EDF5"/>
        </a:solidFill>
        <a:effectLst/>
      </p:bgPr>
    </p:bg>
    <p:spTree>
      <p:nvGrpSpPr>
        <p:cNvPr id="1" name=""/>
        <p:cNvGrpSpPr/>
        <p:nvPr/>
      </p:nvGrpSpPr>
      <p:grpSpPr>
        <a:xfrm>
          <a:off x="0" y="0"/>
          <a:ext cx="0" cy="0"/>
          <a:chOff x="0" y="0"/>
          <a:chExt cx="0" cy="0"/>
        </a:xfrm>
      </p:grpSpPr>
      <p:sp>
        <p:nvSpPr>
          <p:cNvPr id="19" name="Rectangle 18"/>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endParaRPr/>
          </a:p>
        </p:txBody>
      </p:sp>
      <p:sp>
        <p:nvSpPr>
          <p:cNvPr id="20" name="Rectangle 19"/>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endParaRPr/>
          </a:p>
        </p:txBody>
      </p:sp>
      <p:sp>
        <p:nvSpPr>
          <p:cNvPr id="21" name="TextBox 20"/>
          <p:cNvSpPr txBox="1"/>
          <p:nvPr/>
        </p:nvSpPr>
        <p:spPr>
          <a:xfrm>
            <a:off x="640080" y="411480"/>
            <a:ext cx="8732520" cy="777240"/>
          </a:xfrm>
          <a:prstGeom prst="rect">
            <a:avLst/>
          </a:prstGeom>
          <a:noFill/>
        </p:spPr>
        <p:txBody>
          <a:bodyPr wrap="square" lIns="0" tIns="0" rIns="0" bIns="0" anchor="ctr">
            <a:spAutoFit/>
          </a:bodyPr>
          <a:lstStyle/>
          <a:p>
            <a:pPr algn="l">
              <a:spcAft>
                <a:spcPts val="300"/>
              </a:spcAft>
            </a:pPr>
            <a:r>
              <a:rPr sz="1900" b="1">
                <a:solidFill>
                  <a:srgbClr val="FFFFFF"/>
                </a:solidFill>
                <a:latin typeface="맑은 고딕"/>
              </a:rPr>
              <a:t>좌표변환의 기본 동작 — 회전과 평행이동</a:t>
            </a:r>
          </a:p>
          <a:p>
            <a:pPr algn="l">
              <a:lnSpc>
                <a:spcPts val="1400"/>
              </a:lnSpc>
            </a:pPr>
            <a:r>
              <a:rPr sz="1100" b="0">
                <a:solidFill>
                  <a:srgbClr val="C9D6EC"/>
                </a:solidFill>
                <a:latin typeface="맑은 고딕"/>
              </a:rPr>
              <a:t>복잡한 수학처럼 들리지만 실제로 하는 일은 두 가지입니다</a:t>
            </a:r>
          </a:p>
        </p:txBody>
      </p:sp>
      <p:cxnSp>
        <p:nvCxnSpPr>
          <p:cNvPr id="23" name="Connector 22"/>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0" y="6400800"/>
            <a:ext cx="914400" cy="274320"/>
          </a:xfrm>
          <a:prstGeom prst="rect">
            <a:avLst/>
          </a:prstGeom>
          <a:noFill/>
        </p:spPr>
        <p:txBody>
          <a:bodyPr wrap="none" lIns="0" tIns="0" rIns="0" bIns="0">
            <a:spAutoFit/>
          </a:bodyPr>
          <a:lstStyle/>
          <a:p>
            <a:pPr algn="ctr"/>
            <a:fld id="{1D0B0B0B-0000-4000-8000-00000000C0DE}" type="slidenum">
              <a:rPr lang="ko-KR" altLang="en-US" sz="1000" b="0" dirty="0">
                <a:solidFill>
                  <a:srgbClr val="1A2233"/>
                </a:solidFill>
                <a:latin typeface="Arial"/>
                <a:ea typeface="Arial"/>
              </a:rPr>
              <a:t>4</a:t>
            </a:fld>
            <a:endParaRPr lang="ko-KR" altLang="en-US" sz="1000" b="0" dirty="0">
              <a:solidFill>
                <a:srgbClr val="1A2233"/>
              </a:solidFill>
              <a:latin typeface="Arial"/>
              <a:ea typeface="Arial"/>
            </a:endParaRPr>
          </a:p>
        </p:txBody>
      </p:sp>
      <p:pic>
        <p:nvPicPr>
          <p:cNvPr id="26" name="Picture 25" descr="fig19_two_frames.png"/>
          <p:cNvPicPr>
            <a:picLocks noChangeAspect="1"/>
          </p:cNvPicPr>
          <p:nvPr/>
        </p:nvPicPr>
        <p:blipFill>
          <a:blip r:embed="rId3"/>
          <a:stretch>
            <a:fillRect/>
          </a:stretch>
        </p:blipFill>
        <p:spPr>
          <a:xfrm>
            <a:off x="822960" y="1389888"/>
            <a:ext cx="10552176" cy="2638044"/>
          </a:xfrm>
          <a:prstGeom prst="rect">
            <a:avLst/>
          </a:prstGeom>
        </p:spPr>
      </p:pic>
      <p:sp>
        <p:nvSpPr>
          <p:cNvPr id="27" name="Card 0"/>
          <p:cNvSpPr/>
          <p:nvPr/>
        </p:nvSpPr>
        <p:spPr>
          <a:xfrm>
            <a:off x="566928" y="4169663"/>
            <a:ext cx="5449824" cy="914400"/>
          </a:xfrm>
          <a:prstGeom prst="roundRect">
            <a:avLst>
              <a:gd name="adj" fmla="val 8696"/>
            </a:avLst>
          </a:prstGeom>
          <a:solidFill>
            <a:srgbClr val="EEF1F7"/>
          </a:solidFill>
          <a:ln w="12700">
            <a:solidFill>
              <a:srgbClr val="FFFFFF"/>
            </a:solidFill>
            <a:prstDash val="solid"/>
          </a:ln>
        </p:spPr>
        <p:txBody>
          <a:bodyPr/>
          <a:lstStyle/>
          <a:p>
            <a:endParaRPr/>
          </a:p>
        </p:txBody>
      </p:sp>
      <p:sp>
        <p:nvSpPr>
          <p:cNvPr id="28" name="CardText 0"/>
          <p:cNvSpPr txBox="1"/>
          <p:nvPr/>
        </p:nvSpPr>
        <p:spPr>
          <a:xfrm>
            <a:off x="786384" y="4261104"/>
            <a:ext cx="5010912" cy="731520"/>
          </a:xfrm>
          <a:prstGeom prst="rect">
            <a:avLst/>
          </a:prstGeom>
          <a:noFill/>
          <a:ln/>
        </p:spPr>
        <p:txBody>
          <a:bodyPr wrap="square" lIns="0" tIns="0" rIns="0" bIns="0" rtlCol="0" anchor="t"/>
          <a:lstStyle/>
          <a:p>
            <a:pPr marL="0" indent="0">
              <a:lnSpc>
                <a:spcPts val="1900"/>
              </a:lnSpc>
              <a:buNone/>
            </a:pPr>
            <a:r>
              <a:rPr lang="ko-KR" sz="1400" b="1" dirty="0">
                <a:solidFill>
                  <a:srgbClr val="2B57A6"/>
                </a:solidFill>
                <a:latin typeface="맑은 고딕" pitchFamily="34" charset="0"/>
                <a:ea typeface="맑은 고딕" pitchFamily="34" charset="-122"/>
                <a:cs typeface="맑은 고딕" pitchFamily="34" charset="-120"/>
              </a:rPr>
              <a:t>① 회전 — 방향만 바꾼다</a:t>
            </a:r>
          </a:p>
          <a:p>
            <a:pPr marL="0" indent="0">
              <a:lnSpc>
                <a:spcPts val="1800"/>
              </a:lnSpc>
              <a:buNone/>
            </a:pPr>
            <a:r>
              <a:rPr lang="ko-KR" sz="1200" b="0" dirty="0">
                <a:solidFill>
                  <a:srgbClr val="5A6478"/>
                </a:solidFill>
                <a:latin typeface="맑은 고딕" pitchFamily="34" charset="0"/>
                <a:ea typeface="맑은 고딕" pitchFamily="34" charset="-122"/>
                <a:cs typeface="맑은 고딕" pitchFamily="34" charset="-120"/>
              </a:rPr>
              <a:t>길이도 각도도 변하지 않는다. 축을 돌려 다시 읽을 뿐이다.</a:t>
            </a:r>
          </a:p>
        </p:txBody>
      </p:sp>
      <p:sp>
        <p:nvSpPr>
          <p:cNvPr id="29" name="Card 1"/>
          <p:cNvSpPr/>
          <p:nvPr/>
        </p:nvSpPr>
        <p:spPr>
          <a:xfrm>
            <a:off x="6163056" y="4169663"/>
            <a:ext cx="5449824" cy="914400"/>
          </a:xfrm>
          <a:prstGeom prst="roundRect">
            <a:avLst>
              <a:gd name="adj" fmla="val 8696"/>
            </a:avLst>
          </a:prstGeom>
          <a:solidFill>
            <a:srgbClr val="EEF1F7"/>
          </a:solidFill>
          <a:ln w="12700">
            <a:solidFill>
              <a:srgbClr val="FFFFFF"/>
            </a:solidFill>
            <a:prstDash val="solid"/>
          </a:ln>
        </p:spPr>
        <p:txBody>
          <a:bodyPr/>
          <a:lstStyle/>
          <a:p>
            <a:endParaRPr/>
          </a:p>
        </p:txBody>
      </p:sp>
      <p:sp>
        <p:nvSpPr>
          <p:cNvPr id="31" name="Shape 2"/>
          <p:cNvSpPr/>
          <p:nvPr/>
        </p:nvSpPr>
        <p:spPr>
          <a:xfrm>
            <a:off x="566928" y="5230368"/>
            <a:ext cx="11064240" cy="932688"/>
          </a:xfrm>
          <a:prstGeom prst="roundRect">
            <a:avLst>
              <a:gd name="adj" fmla="val 8696"/>
            </a:avLst>
          </a:prstGeom>
          <a:solidFill>
            <a:srgbClr val="FBEADF"/>
          </a:solidFill>
          <a:ln w="12700">
            <a:solidFill>
              <a:srgbClr val="FFFFFF"/>
            </a:solidFill>
            <a:prstDash val="solid"/>
          </a:ln>
        </p:spPr>
        <p:txBody>
          <a:bodyPr/>
          <a:lstStyle/>
          <a:p>
            <a:endParaRPr/>
          </a:p>
        </p:txBody>
      </p:sp>
      <p:sp>
        <p:nvSpPr>
          <p:cNvPr id="32" name="Text 3"/>
          <p:cNvSpPr txBox="1"/>
          <p:nvPr/>
        </p:nvSpPr>
        <p:spPr>
          <a:xfrm>
            <a:off x="786384" y="5230368"/>
            <a:ext cx="10625328" cy="932688"/>
          </a:xfrm>
          <a:prstGeom prst="rect">
            <a:avLst/>
          </a:prstGeom>
          <a:noFill/>
          <a:ln/>
        </p:spPr>
        <p:txBody>
          <a:bodyPr wrap="square" lIns="0" tIns="0" rIns="0" bIns="0" rtlCol="0" anchor="ctr"/>
          <a:lstStyle/>
          <a:p>
            <a:pPr marL="0" indent="0" algn="ctr">
              <a:lnSpc>
                <a:spcPts val="2800"/>
              </a:lnSpc>
              <a:buNone/>
            </a:pPr>
            <a:r>
              <a:rPr lang="ko-KR" sz="2000" b="1" dirty="0">
                <a:solidFill>
                  <a:srgbClr val="1A2233"/>
                </a:solidFill>
                <a:latin typeface="Consolas" pitchFamily="34" charset="0"/>
                <a:ea typeface="Consolas" pitchFamily="34" charset="-122"/>
                <a:cs typeface="Consolas" pitchFamily="34" charset="-120"/>
              </a:rPr>
              <a:t>새 좌표  =  R · 옛 좌표  +  t</a:t>
            </a:r>
          </a:p>
          <a:p>
            <a:pPr marL="0" indent="0" algn="ctr">
              <a:lnSpc>
                <a:spcPts val="1800"/>
              </a:lnSpc>
              <a:buNone/>
            </a:pPr>
            <a:r>
              <a:rPr lang="ko-KR" sz="1200" b="0" dirty="0">
                <a:solidFill>
                  <a:srgbClr val="5A6478"/>
                </a:solidFill>
                <a:latin typeface="맑은 고딕" pitchFamily="34" charset="0"/>
                <a:ea typeface="맑은 고딕" pitchFamily="34" charset="-122"/>
                <a:cs typeface="맑은 고딕" pitchFamily="34" charset="-120"/>
              </a:rPr>
              <a:t>R  회전행렬 (3×3)  ·  t  평행이동 (3×1).    모든 단계는 이 둘 중 하나거나, 둘 다입니다.</a:t>
            </a:r>
          </a:p>
        </p:txBody>
      </p:sp>
      <p:sp>
        <p:nvSpPr>
          <p:cNvPr id="33" name="CardText 1"/>
          <p:cNvSpPr txBox="1"/>
          <p:nvPr/>
        </p:nvSpPr>
        <p:spPr>
          <a:xfrm>
            <a:off x="6382512" y="4261104"/>
            <a:ext cx="5010912" cy="749808"/>
          </a:xfrm>
          <a:prstGeom prst="rect">
            <a:avLst/>
          </a:prstGeom>
          <a:noFill/>
          <a:ln/>
        </p:spPr>
        <p:txBody>
          <a:bodyPr wrap="square" lIns="0" tIns="0" rIns="0" bIns="0" rtlCol="0" anchor="t"/>
          <a:lstStyle/>
          <a:p>
            <a:pPr marL="0" indent="0">
              <a:lnSpc>
                <a:spcPts val="1900"/>
              </a:lnSpc>
              <a:buNone/>
            </a:pPr>
            <a:r>
              <a:rPr lang="ko-KR" sz="1400" b="1" dirty="0">
                <a:solidFill>
                  <a:srgbClr val="C2521C"/>
                </a:solidFill>
                <a:latin typeface="맑은 고딕" pitchFamily="34" charset="0"/>
                <a:ea typeface="맑은 고딕" pitchFamily="34" charset="-122"/>
                <a:cs typeface="맑은 고딕" pitchFamily="34" charset="-120"/>
              </a:rPr>
              <a:t>② 평행이동 — 자리만 옮긴다</a:t>
            </a:r>
          </a:p>
          <a:p>
            <a:pPr marL="0" indent="0">
              <a:lnSpc>
                <a:spcPts val="1800"/>
              </a:lnSpc>
              <a:buNone/>
            </a:pPr>
            <a:r>
              <a:rPr lang="ko-KR" sz="1200" b="0" dirty="0">
                <a:solidFill>
                  <a:srgbClr val="5A6478"/>
                </a:solidFill>
                <a:latin typeface="맑은 고딕" pitchFamily="34" charset="0"/>
                <a:ea typeface="맑은 고딕" pitchFamily="34" charset="-122"/>
                <a:cs typeface="맑은 고딕" pitchFamily="34" charset="-120"/>
              </a:rPr>
              <a:t>방향은 그대로다. 원점 사이의 차이를 벡터 하나로 더하거나 뺀다.</a:t>
            </a:r>
          </a:p>
          <a:p>
            <a:pPr marL="0" indent="0">
              <a:lnSpc>
                <a:spcPts val="1700"/>
              </a:lnSpc>
              <a:buNone/>
            </a:pPr>
            <a:r>
              <a:rPr lang="ko-KR" sz="1100" b="0" dirty="0">
                <a:solidFill>
                  <a:srgbClr val="2B57A6"/>
                </a:solidFill>
                <a:latin typeface="맑은 고딕" pitchFamily="34" charset="0"/>
                <a:ea typeface="맑은 고딕" pitchFamily="34" charset="-122"/>
                <a:cs typeface="맑은 고딕" pitchFamily="34" charset="-120"/>
              </a:rPr>
              <a:t>장비 설치에서는 이 원점 차이를 레버암(lever arm) 이라고 부른다.</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8">
    <p:bg>
      <p:bgPr>
        <a:solidFill>
          <a:srgbClr val="E8EDF5"/>
        </a:solidFill>
        <a:effectLst/>
      </p:bgPr>
    </p:bg>
    <p:spTree>
      <p:nvGrpSpPr>
        <p:cNvPr id="1" name=""/>
        <p:cNvGrpSpPr/>
        <p:nvPr/>
      </p:nvGrpSpPr>
      <p:grpSpPr>
        <a:xfrm>
          <a:off x="0" y="0"/>
          <a:ext cx="0" cy="0"/>
          <a:chOff x="0" y="0"/>
          <a:chExt cx="0" cy="0"/>
        </a:xfrm>
      </p:grpSpPr>
      <p:sp>
        <p:nvSpPr>
          <p:cNvPr id="13" name="Rectangle 12"/>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endParaRPr/>
          </a:p>
        </p:txBody>
      </p:sp>
      <p:pic>
        <p:nvPicPr>
          <p:cNvPr id="4" name="Image 0" descr="/home/claude/gitpkg/Part2_CoordFrames/doc/figures/fig04_rot_derive.png"/>
          <p:cNvPicPr>
            <a:picLocks noChangeAspect="1"/>
          </p:cNvPicPr>
          <p:nvPr/>
        </p:nvPicPr>
        <p:blipFill>
          <a:blip r:embed="rId3"/>
          <a:stretch>
            <a:fillRect/>
          </a:stretch>
        </p:blipFill>
        <p:spPr>
          <a:xfrm>
            <a:off x="566928" y="1953264"/>
            <a:ext cx="6309360" cy="3255629"/>
          </a:xfrm>
          <a:prstGeom prst="rect">
            <a:avLst/>
          </a:prstGeom>
        </p:spPr>
      </p:pic>
      <p:sp>
        <p:nvSpPr>
          <p:cNvPr id="14" name="Rectangle 13"/>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endParaRPr/>
          </a:p>
        </p:txBody>
      </p:sp>
      <p:sp>
        <p:nvSpPr>
          <p:cNvPr id="15" name="TextBox 14"/>
          <p:cNvSpPr txBox="1"/>
          <p:nvPr/>
        </p:nvSpPr>
        <p:spPr>
          <a:xfrm>
            <a:off x="640080" y="551955"/>
            <a:ext cx="8732520" cy="496290"/>
          </a:xfrm>
          <a:prstGeom prst="rect">
            <a:avLst/>
          </a:prstGeom>
          <a:noFill/>
        </p:spPr>
        <p:txBody>
          <a:bodyPr wrap="square" lIns="0" tIns="0" rIns="0" bIns="0" anchor="ctr">
            <a:spAutoFit/>
          </a:bodyPr>
          <a:lstStyle/>
          <a:p>
            <a:pPr algn="l">
              <a:spcAft>
                <a:spcPts val="300"/>
              </a:spcAft>
            </a:pPr>
            <a:r>
              <a:rPr sz="1900" b="1" dirty="0" err="1">
                <a:solidFill>
                  <a:srgbClr val="FFFFFF"/>
                </a:solidFill>
                <a:latin typeface="맑은 고딕"/>
              </a:rPr>
              <a:t>회전행렬</a:t>
            </a:r>
            <a:r>
              <a:rPr sz="1900" b="1" dirty="0">
                <a:solidFill>
                  <a:srgbClr val="FFFFFF"/>
                </a:solidFill>
                <a:latin typeface="맑은 고딕"/>
              </a:rPr>
              <a:t> — </a:t>
            </a:r>
            <a:r>
              <a:rPr sz="1900" b="1" dirty="0" err="1">
                <a:solidFill>
                  <a:srgbClr val="FFFFFF"/>
                </a:solidFill>
                <a:latin typeface="맑은 고딕"/>
              </a:rPr>
              <a:t>Rz</a:t>
            </a:r>
            <a:r>
              <a:rPr sz="1900" b="1" dirty="0">
                <a:solidFill>
                  <a:srgbClr val="FFFFFF"/>
                </a:solidFill>
                <a:latin typeface="맑은 고딕"/>
              </a:rPr>
              <a:t> · Ry · Rx</a:t>
            </a:r>
          </a:p>
          <a:p>
            <a:pPr algn="l">
              <a:lnSpc>
                <a:spcPts val="1400"/>
              </a:lnSpc>
            </a:pPr>
            <a:r>
              <a:rPr sz="1100" b="0" dirty="0" err="1" smtClean="0">
                <a:solidFill>
                  <a:srgbClr val="C9D6EC"/>
                </a:solidFill>
                <a:latin typeface="맑은 고딕"/>
              </a:rPr>
              <a:t>삼각함수</a:t>
            </a:r>
            <a:r>
              <a:rPr sz="1100" b="0" dirty="0" smtClean="0">
                <a:solidFill>
                  <a:srgbClr val="C9D6EC"/>
                </a:solidFill>
                <a:latin typeface="맑은 고딕"/>
              </a:rPr>
              <a:t> </a:t>
            </a:r>
            <a:r>
              <a:rPr sz="1100" b="0" dirty="0" err="1">
                <a:solidFill>
                  <a:srgbClr val="C9D6EC"/>
                </a:solidFill>
                <a:latin typeface="맑은 고딕"/>
              </a:rPr>
              <a:t>덧셈정리</a:t>
            </a:r>
            <a:r>
              <a:rPr sz="1100" b="0" dirty="0">
                <a:solidFill>
                  <a:srgbClr val="C9D6EC"/>
                </a:solidFill>
                <a:latin typeface="맑은 고딕"/>
              </a:rPr>
              <a:t> 한 </a:t>
            </a:r>
            <a:r>
              <a:rPr sz="1100" b="0" dirty="0" err="1">
                <a:solidFill>
                  <a:srgbClr val="C9D6EC"/>
                </a:solidFill>
                <a:latin typeface="맑은 고딕"/>
              </a:rPr>
              <a:t>줄에서</a:t>
            </a:r>
            <a:r>
              <a:rPr sz="1100" b="0" dirty="0">
                <a:solidFill>
                  <a:srgbClr val="C9D6EC"/>
                </a:solidFill>
                <a:latin typeface="맑은 고딕"/>
              </a:rPr>
              <a:t> </a:t>
            </a:r>
            <a:r>
              <a:rPr sz="1100" b="0" dirty="0" err="1">
                <a:solidFill>
                  <a:srgbClr val="C9D6EC"/>
                </a:solidFill>
                <a:latin typeface="맑은 고딕"/>
              </a:rPr>
              <a:t>바로</a:t>
            </a:r>
            <a:r>
              <a:rPr sz="1100" b="0" dirty="0">
                <a:solidFill>
                  <a:srgbClr val="C9D6EC"/>
                </a:solidFill>
                <a:latin typeface="맑은 고딕"/>
              </a:rPr>
              <a:t> </a:t>
            </a:r>
            <a:r>
              <a:rPr sz="1100" b="0" dirty="0" err="1">
                <a:solidFill>
                  <a:srgbClr val="C9D6EC"/>
                </a:solidFill>
                <a:latin typeface="맑은 고딕"/>
              </a:rPr>
              <a:t>나옵니다</a:t>
            </a:r>
            <a:endParaRPr sz="1100" b="0" dirty="0">
              <a:solidFill>
                <a:srgbClr val="C9D6EC"/>
              </a:solidFill>
              <a:latin typeface="맑은 고딕"/>
            </a:endParaRPr>
          </a:p>
        </p:txBody>
      </p:sp>
      <p:cxnSp>
        <p:nvCxnSpPr>
          <p:cNvPr id="17" name="Connector 16"/>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69280" y="6400800"/>
            <a:ext cx="914400" cy="274320"/>
          </a:xfrm>
          <a:prstGeom prst="rect">
            <a:avLst/>
          </a:prstGeom>
          <a:noFill/>
        </p:spPr>
        <p:txBody>
          <a:bodyPr wrap="none" lIns="0" tIns="0" rIns="0" bIns="0">
            <a:spAutoFit/>
          </a:bodyPr>
          <a:lstStyle/>
          <a:p>
            <a:pPr algn="ctr"/>
            <a:fld id="{1D0B0B0B-0000-4000-8000-00000000C0DE}" type="slidenum">
              <a:rPr lang="ko-KR" altLang="en-US" sz="1000" b="0" dirty="0">
                <a:solidFill>
                  <a:srgbClr val="1A2233"/>
                </a:solidFill>
                <a:latin typeface="Arial"/>
                <a:ea typeface="Arial"/>
              </a:rPr>
              <a:t>5</a:t>
            </a:fld>
            <a:endParaRPr lang="ko-KR" altLang="en-US" sz="1000" b="0" dirty="0">
              <a:solidFill>
                <a:srgbClr val="1A2233"/>
              </a:solidFill>
              <a:latin typeface="Arial"/>
              <a:ea typeface="Arial"/>
            </a:endParaRPr>
          </a:p>
        </p:txBody>
      </p:sp>
      <p:sp>
        <p:nvSpPr>
          <p:cNvPr id="20" name="Shape 2"/>
          <p:cNvSpPr/>
          <p:nvPr/>
        </p:nvSpPr>
        <p:spPr>
          <a:xfrm>
            <a:off x="7000174" y="1627632"/>
            <a:ext cx="4572000" cy="4077929"/>
          </a:xfrm>
          <a:prstGeom prst="roundRect">
            <a:avLst>
              <a:gd name="adj" fmla="val 8696"/>
            </a:avLst>
          </a:prstGeom>
          <a:solidFill>
            <a:srgbClr val="EEF1F7"/>
          </a:solidFill>
          <a:ln w="12700">
            <a:solidFill>
              <a:srgbClr val="FFFFFF"/>
            </a:solidFill>
            <a:prstDash val="solid"/>
          </a:ln>
        </p:spPr>
        <p:txBody>
          <a:bodyPr/>
          <a:lstStyle/>
          <a:p>
            <a:endParaRPr/>
          </a:p>
        </p:txBody>
      </p:sp>
      <p:sp>
        <p:nvSpPr>
          <p:cNvPr id="21" name="Text 3"/>
          <p:cNvSpPr txBox="1"/>
          <p:nvPr/>
        </p:nvSpPr>
        <p:spPr>
          <a:xfrm>
            <a:off x="7296912" y="1953264"/>
            <a:ext cx="4096512" cy="292608"/>
          </a:xfrm>
          <a:prstGeom prst="rect">
            <a:avLst/>
          </a:prstGeom>
          <a:noFill/>
          <a:ln/>
        </p:spPr>
        <p:txBody>
          <a:bodyPr wrap="square" lIns="0" tIns="0" rIns="0" bIns="0" rtlCol="0" anchor="ctr"/>
          <a:lstStyle/>
          <a:p>
            <a:pPr marL="0" indent="0">
              <a:buNone/>
            </a:pPr>
            <a:r>
              <a:rPr lang="ko-KR" sz="1500" b="1" dirty="0">
                <a:solidFill>
                  <a:srgbClr val="2B57A6"/>
                </a:solidFill>
                <a:latin typeface="맑은 고딕" pitchFamily="34" charset="0"/>
                <a:ea typeface="맑은 고딕" pitchFamily="34" charset="-122"/>
                <a:cs typeface="맑은 고딕" pitchFamily="34" charset="-120"/>
              </a:rPr>
              <a:t>세 축 둘레의 회전행렬</a:t>
            </a:r>
          </a:p>
        </p:txBody>
      </p:sp>
      <p:sp>
        <p:nvSpPr>
          <p:cNvPr id="22" name="MatLabel 0"/>
          <p:cNvSpPr txBox="1"/>
          <p:nvPr/>
        </p:nvSpPr>
        <p:spPr>
          <a:xfrm>
            <a:off x="7296912" y="2337312"/>
            <a:ext cx="4096512" cy="237744"/>
          </a:xfrm>
          <a:prstGeom prst="rect">
            <a:avLst/>
          </a:prstGeom>
          <a:noFill/>
          <a:ln/>
        </p:spPr>
        <p:txBody>
          <a:bodyPr wrap="square" lIns="0" tIns="0" rIns="0" bIns="0" rtlCol="0" anchor="ctr"/>
          <a:lstStyle/>
          <a:p>
            <a:pPr marL="0" indent="0">
              <a:buNone/>
            </a:pPr>
            <a:r>
              <a:rPr lang="ko-KR" sz="1150" b="1" dirty="0">
                <a:solidFill>
                  <a:srgbClr val="1A2233"/>
                </a:solidFill>
                <a:latin typeface="맑은 고딕" pitchFamily="34" charset="0"/>
                <a:ea typeface="맑은 고딕" pitchFamily="34" charset="-122"/>
                <a:cs typeface="맑은 고딕" pitchFamily="34" charset="-120"/>
              </a:rPr>
              <a:t>Rz(θ)  —  z 축 둘레 (yaw)</a:t>
            </a:r>
          </a:p>
        </p:txBody>
      </p:sp>
      <p:sp>
        <p:nvSpPr>
          <p:cNvPr id="23" name="Mat 0"/>
          <p:cNvSpPr txBox="1"/>
          <p:nvPr/>
        </p:nvSpPr>
        <p:spPr>
          <a:xfrm>
            <a:off x="7461504" y="2611632"/>
            <a:ext cx="3931920" cy="566928"/>
          </a:xfrm>
          <a:prstGeom prst="rect">
            <a:avLst/>
          </a:prstGeom>
          <a:noFill/>
          <a:ln/>
        </p:spPr>
        <p:txBody>
          <a:bodyPr wrap="square" lIns="0" tIns="0" rIns="0" bIns="0" rtlCol="0" anchor="t"/>
          <a:lstStyle/>
          <a:p>
            <a:pPr marL="0" indent="0">
              <a:lnSpc>
                <a:spcPts val="1400"/>
              </a:lnSpc>
              <a:buNone/>
            </a:pPr>
            <a:r>
              <a:rPr lang="ko-KR" sz="1100" b="0" dirty="0">
                <a:solidFill>
                  <a:srgbClr val="1A2233"/>
                </a:solidFill>
                <a:latin typeface="Consolas" pitchFamily="34" charset="0"/>
                <a:ea typeface="Consolas" pitchFamily="34" charset="-122"/>
                <a:cs typeface="Consolas" pitchFamily="34" charset="-120"/>
              </a:rPr>
              <a:t>[ cos θ   − sin θ     0   ]</a:t>
            </a:r>
          </a:p>
          <a:p>
            <a:pPr marL="0" indent="0">
              <a:lnSpc>
                <a:spcPts val="1400"/>
              </a:lnSpc>
              <a:buNone/>
            </a:pPr>
            <a:r>
              <a:rPr lang="ko-KR" sz="1100" b="0" dirty="0">
                <a:solidFill>
                  <a:srgbClr val="1A2233"/>
                </a:solidFill>
                <a:latin typeface="Consolas" pitchFamily="34" charset="0"/>
                <a:ea typeface="Consolas" pitchFamily="34" charset="-122"/>
                <a:cs typeface="Consolas" pitchFamily="34" charset="-120"/>
              </a:rPr>
              <a:t>[ sin θ     cos θ     0   ]</a:t>
            </a:r>
          </a:p>
          <a:p>
            <a:pPr marL="0" indent="0">
              <a:lnSpc>
                <a:spcPts val="1400"/>
              </a:lnSpc>
              <a:buNone/>
            </a:pPr>
            <a:r>
              <a:rPr lang="ko-KR" sz="1100" b="0" dirty="0">
                <a:solidFill>
                  <a:srgbClr val="1A2233"/>
                </a:solidFill>
                <a:latin typeface="Consolas" pitchFamily="34" charset="0"/>
                <a:ea typeface="Consolas" pitchFamily="34" charset="-122"/>
                <a:cs typeface="Consolas" pitchFamily="34" charset="-120"/>
              </a:rPr>
              <a:t>[   0         0       1   ]</a:t>
            </a:r>
          </a:p>
        </p:txBody>
      </p:sp>
      <p:sp>
        <p:nvSpPr>
          <p:cNvPr id="24" name="MatLabel 1"/>
          <p:cNvSpPr txBox="1"/>
          <p:nvPr/>
        </p:nvSpPr>
        <p:spPr>
          <a:xfrm>
            <a:off x="7296912" y="3306576"/>
            <a:ext cx="4096512" cy="237744"/>
          </a:xfrm>
          <a:prstGeom prst="rect">
            <a:avLst/>
          </a:prstGeom>
          <a:noFill/>
          <a:ln/>
        </p:spPr>
        <p:txBody>
          <a:bodyPr wrap="square" lIns="0" tIns="0" rIns="0" bIns="0" rtlCol="0" anchor="ctr"/>
          <a:lstStyle/>
          <a:p>
            <a:pPr marL="0" indent="0">
              <a:buNone/>
            </a:pPr>
            <a:r>
              <a:rPr lang="ko-KR" sz="1150" b="1" dirty="0">
                <a:solidFill>
                  <a:srgbClr val="1A2233"/>
                </a:solidFill>
                <a:latin typeface="맑은 고딕" pitchFamily="34" charset="0"/>
                <a:ea typeface="맑은 고딕" pitchFamily="34" charset="-122"/>
                <a:cs typeface="맑은 고딕" pitchFamily="34" charset="-120"/>
              </a:rPr>
              <a:t>Ry(θ)  —  y 축 둘레 (pitch)</a:t>
            </a:r>
          </a:p>
        </p:txBody>
      </p:sp>
      <p:sp>
        <p:nvSpPr>
          <p:cNvPr id="25" name="Mat 1"/>
          <p:cNvSpPr txBox="1"/>
          <p:nvPr/>
        </p:nvSpPr>
        <p:spPr>
          <a:xfrm>
            <a:off x="7461504" y="3580896"/>
            <a:ext cx="3931920" cy="566928"/>
          </a:xfrm>
          <a:prstGeom prst="rect">
            <a:avLst/>
          </a:prstGeom>
          <a:noFill/>
          <a:ln/>
        </p:spPr>
        <p:txBody>
          <a:bodyPr wrap="square" lIns="0" tIns="0" rIns="0" bIns="0" rtlCol="0" anchor="t"/>
          <a:lstStyle/>
          <a:p>
            <a:pPr marL="0" indent="0">
              <a:lnSpc>
                <a:spcPts val="1400"/>
              </a:lnSpc>
              <a:buNone/>
            </a:pPr>
            <a:r>
              <a:rPr lang="ko-KR" sz="1100" b="0" dirty="0">
                <a:solidFill>
                  <a:srgbClr val="1A2233"/>
                </a:solidFill>
                <a:latin typeface="Consolas" pitchFamily="34" charset="0"/>
                <a:ea typeface="Consolas" pitchFamily="34" charset="-122"/>
                <a:cs typeface="Consolas" pitchFamily="34" charset="-120"/>
              </a:rPr>
              <a:t>[  cos θ     0    sin θ  ]</a:t>
            </a:r>
          </a:p>
          <a:p>
            <a:pPr marL="0" indent="0">
              <a:lnSpc>
                <a:spcPts val="1400"/>
              </a:lnSpc>
              <a:buNone/>
            </a:pPr>
            <a:r>
              <a:rPr lang="ko-KR" sz="1100" b="0" dirty="0">
                <a:solidFill>
                  <a:srgbClr val="1A2233"/>
                </a:solidFill>
                <a:latin typeface="Consolas" pitchFamily="34" charset="0"/>
                <a:ea typeface="Consolas" pitchFamily="34" charset="-122"/>
                <a:cs typeface="Consolas" pitchFamily="34" charset="-120"/>
              </a:rPr>
              <a:t>[    0       1      0    ]</a:t>
            </a:r>
          </a:p>
          <a:p>
            <a:pPr marL="0" indent="0">
              <a:lnSpc>
                <a:spcPts val="1400"/>
              </a:lnSpc>
              <a:buNone/>
            </a:pPr>
            <a:r>
              <a:rPr lang="ko-KR" sz="1100" b="0" dirty="0">
                <a:solidFill>
                  <a:srgbClr val="1A2233"/>
                </a:solidFill>
                <a:latin typeface="Consolas" pitchFamily="34" charset="0"/>
                <a:ea typeface="Consolas" pitchFamily="34" charset="-122"/>
                <a:cs typeface="Consolas" pitchFamily="34" charset="-120"/>
              </a:rPr>
              <a:t>[ − sin θ    0    cos θ  ]</a:t>
            </a:r>
          </a:p>
        </p:txBody>
      </p:sp>
      <p:sp>
        <p:nvSpPr>
          <p:cNvPr id="26" name="MatLabel 2"/>
          <p:cNvSpPr txBox="1"/>
          <p:nvPr/>
        </p:nvSpPr>
        <p:spPr>
          <a:xfrm>
            <a:off x="7296912" y="4275840"/>
            <a:ext cx="4096512" cy="237744"/>
          </a:xfrm>
          <a:prstGeom prst="rect">
            <a:avLst/>
          </a:prstGeom>
          <a:noFill/>
          <a:ln/>
        </p:spPr>
        <p:txBody>
          <a:bodyPr wrap="square" lIns="0" tIns="0" rIns="0" bIns="0" rtlCol="0" anchor="ctr"/>
          <a:lstStyle/>
          <a:p>
            <a:pPr marL="0" indent="0">
              <a:buNone/>
            </a:pPr>
            <a:r>
              <a:rPr lang="ko-KR" sz="1150" b="1" dirty="0">
                <a:solidFill>
                  <a:srgbClr val="1A2233"/>
                </a:solidFill>
                <a:latin typeface="맑은 고딕" pitchFamily="34" charset="0"/>
                <a:ea typeface="맑은 고딕" pitchFamily="34" charset="-122"/>
                <a:cs typeface="맑은 고딕" pitchFamily="34" charset="-120"/>
              </a:rPr>
              <a:t>Rx(θ)  —  x 축 둘레 (roll)</a:t>
            </a:r>
          </a:p>
        </p:txBody>
      </p:sp>
      <p:sp>
        <p:nvSpPr>
          <p:cNvPr id="27" name="Mat 2"/>
          <p:cNvSpPr txBox="1"/>
          <p:nvPr/>
        </p:nvSpPr>
        <p:spPr>
          <a:xfrm>
            <a:off x="7461504" y="4550160"/>
            <a:ext cx="3931920" cy="566928"/>
          </a:xfrm>
          <a:prstGeom prst="rect">
            <a:avLst/>
          </a:prstGeom>
          <a:noFill/>
          <a:ln/>
        </p:spPr>
        <p:txBody>
          <a:bodyPr wrap="square" lIns="0" tIns="0" rIns="0" bIns="0" rtlCol="0" anchor="t"/>
          <a:lstStyle/>
          <a:p>
            <a:pPr marL="0" indent="0">
              <a:lnSpc>
                <a:spcPts val="1400"/>
              </a:lnSpc>
              <a:buNone/>
            </a:pPr>
            <a:r>
              <a:rPr lang="ko-KR" sz="1100" b="0" dirty="0">
                <a:solidFill>
                  <a:srgbClr val="1A2233"/>
                </a:solidFill>
                <a:latin typeface="Consolas" pitchFamily="34" charset="0"/>
                <a:ea typeface="Consolas" pitchFamily="34" charset="-122"/>
                <a:cs typeface="Consolas" pitchFamily="34" charset="-120"/>
              </a:rPr>
              <a:t>[  1      0        0     ]</a:t>
            </a:r>
          </a:p>
          <a:p>
            <a:pPr marL="0" indent="0">
              <a:lnSpc>
                <a:spcPts val="1400"/>
              </a:lnSpc>
              <a:buNone/>
            </a:pPr>
            <a:r>
              <a:rPr lang="ko-KR" sz="1100" b="0" dirty="0">
                <a:solidFill>
                  <a:srgbClr val="1A2233"/>
                </a:solidFill>
                <a:latin typeface="Consolas" pitchFamily="34" charset="0"/>
                <a:ea typeface="Consolas" pitchFamily="34" charset="-122"/>
                <a:cs typeface="Consolas" pitchFamily="34" charset="-120"/>
              </a:rPr>
              <a:t>[  0    cos θ   − sin θ  ]</a:t>
            </a:r>
          </a:p>
          <a:p>
            <a:pPr marL="0" indent="0">
              <a:lnSpc>
                <a:spcPts val="1400"/>
              </a:lnSpc>
              <a:buNone/>
            </a:pPr>
            <a:r>
              <a:rPr lang="ko-KR" sz="1100" b="0" dirty="0">
                <a:solidFill>
                  <a:srgbClr val="1A2233"/>
                </a:solidFill>
                <a:latin typeface="Consolas" pitchFamily="34" charset="0"/>
                <a:ea typeface="Consolas" pitchFamily="34" charset="-122"/>
                <a:cs typeface="Consolas" pitchFamily="34" charset="-120"/>
              </a:rPr>
              <a:t>[  0    sin θ     cos θ  ]</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E8EDF5"/>
        </a:solidFill>
        <a:effectLst/>
      </p:bgPr>
    </p:bg>
    <p:spTree>
      <p:nvGrpSpPr>
        <p:cNvPr id="1" name=""/>
        <p:cNvGrpSpPr/>
        <p:nvPr/>
      </p:nvGrpSpPr>
      <p:grpSpPr>
        <a:xfrm>
          <a:off x="0" y="0"/>
          <a:ext cx="0" cy="0"/>
          <a:chOff x="0" y="0"/>
          <a:chExt cx="0" cy="0"/>
        </a:xfrm>
      </p:grpSpPr>
      <p:sp>
        <p:nvSpPr>
          <p:cNvPr id="2" name="Rectangle 1"/>
          <p:cNvSpPr/>
          <p:nvPr/>
        </p:nvSpPr>
        <p:spPr>
          <a:xfrm>
            <a:off x="0" y="0"/>
            <a:ext cx="4480560" cy="685800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endParaRPr/>
          </a:p>
        </p:txBody>
      </p:sp>
      <p:sp>
        <p:nvSpPr>
          <p:cNvPr id="3" name="TextBox 2"/>
          <p:cNvSpPr txBox="1"/>
          <p:nvPr/>
        </p:nvSpPr>
        <p:spPr>
          <a:xfrm>
            <a:off x="1143000" y="502920"/>
            <a:ext cx="2011680" cy="548640"/>
          </a:xfrm>
          <a:prstGeom prst="rect">
            <a:avLst/>
          </a:prstGeom>
          <a:noFill/>
        </p:spPr>
        <p:txBody>
          <a:bodyPr wrap="none" lIns="0" tIns="0" rIns="0" bIns="0" anchor="ctr">
            <a:spAutoFit/>
          </a:bodyPr>
          <a:lstStyle/>
          <a:p>
            <a:pPr marL="0" indent="0">
              <a:buNone/>
            </a:pPr>
            <a:r>
              <a:rPr lang="ko-KR" sz="3000" b="1">
                <a:solidFill>
                  <a:srgbClr val="FFFFFF"/>
                </a:solidFill>
                <a:latin typeface="Arial"/>
                <a:ea typeface="Arial"/>
                <a:cs typeface="Arial"/>
              </a:rPr>
              <a:t>01</a:t>
            </a:r>
          </a:p>
        </p:txBody>
      </p:sp>
      <p:cxnSp>
        <p:nvCxnSpPr>
          <p:cNvPr id="4" name="Connector 3"/>
          <p:cNvCxnSpPr/>
          <p:nvPr/>
        </p:nvCxnSpPr>
        <p:spPr>
          <a:xfrm>
            <a:off x="2423160" y="786384"/>
            <a:ext cx="8549640"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11480" y="2788920"/>
            <a:ext cx="3657600" cy="1280160"/>
          </a:xfrm>
          <a:prstGeom prst="rect">
            <a:avLst/>
          </a:prstGeom>
          <a:noFill/>
        </p:spPr>
        <p:txBody>
          <a:bodyPr wrap="square" lIns="0" tIns="0" rIns="0" bIns="0" anchor="ctr">
            <a:spAutoFit/>
          </a:bodyPr>
          <a:lstStyle/>
          <a:p>
            <a:pPr marL="0" indent="0" algn="ctr">
              <a:buNone/>
            </a:pPr>
            <a:r>
              <a:rPr lang="ko-KR" sz="3000" b="1">
                <a:solidFill>
                  <a:srgbClr val="FFFFFF"/>
                </a:solidFill>
                <a:latin typeface="맑은 고딕"/>
                <a:ea typeface="맑은 고딕"/>
                <a:cs typeface="맑은 고딕"/>
              </a:rPr>
              <a:t>좌표계 여섯 가지</a:t>
            </a:r>
          </a:p>
        </p:txBody>
      </p:sp>
      <p:sp>
        <p:nvSpPr>
          <p:cNvPr id="35" name="TextBox 34"/>
          <p:cNvSpPr txBox="1"/>
          <p:nvPr/>
        </p:nvSpPr>
        <p:spPr>
          <a:xfrm>
            <a:off x="5669280" y="6400800"/>
            <a:ext cx="914400" cy="274320"/>
          </a:xfrm>
          <a:prstGeom prst="rect">
            <a:avLst/>
          </a:prstGeom>
          <a:noFill/>
        </p:spPr>
        <p:txBody>
          <a:bodyPr wrap="none" lIns="0" tIns="0" rIns="0" bIns="0">
            <a:spAutoFit/>
          </a:bodyPr>
          <a:lstStyle/>
          <a:p>
            <a:pPr algn="ctr"/>
            <a:fld id="{1D0B0B0B-0000-4000-8000-00000000C0DE}" type="slidenum">
              <a:rPr lang="ko-KR" altLang="en-US" sz="1000" b="0" dirty="0">
                <a:solidFill>
                  <a:srgbClr val="1A2233"/>
                </a:solidFill>
                <a:latin typeface="Arial"/>
                <a:ea typeface="Arial"/>
              </a:rPr>
              <a:t>6</a:t>
            </a:fld>
            <a:endParaRPr lang="ko-KR" altLang="en-US" sz="1000" b="0" dirty="0">
              <a:solidFill>
                <a:srgbClr val="1A2233"/>
              </a:solidFill>
              <a:latin typeface="Arial"/>
              <a:ea typeface="Arial"/>
            </a:endParaRPr>
          </a:p>
        </p:txBody>
      </p:sp>
      <p:sp>
        <p:nvSpPr>
          <p:cNvPr id="36" name="TextBox 35"/>
          <p:cNvSpPr txBox="1"/>
          <p:nvPr/>
        </p:nvSpPr>
        <p:spPr>
          <a:xfrm>
            <a:off x="5074920" y="1481328"/>
            <a:ext cx="548640" cy="457200"/>
          </a:xfrm>
          <a:prstGeom prst="rect">
            <a:avLst/>
          </a:prstGeom>
          <a:noFill/>
        </p:spPr>
        <p:txBody>
          <a:bodyPr wrap="square" lIns="0" tIns="0" rIns="0" bIns="0" anchor="ctr">
            <a:spAutoFit/>
          </a:bodyPr>
          <a:lstStyle/>
          <a:p>
            <a:pPr>
              <a:buNone/>
            </a:pPr>
            <a:r>
              <a:rPr lang="ko-KR" sz="1600" b="1">
                <a:solidFill>
                  <a:srgbClr val="2B57A6"/>
                </a:solidFill>
                <a:latin typeface="Arial"/>
                <a:ea typeface="Arial"/>
                <a:cs typeface="Arial"/>
              </a:rPr>
              <a:t>1</a:t>
            </a:r>
          </a:p>
        </p:txBody>
      </p:sp>
      <p:sp>
        <p:nvSpPr>
          <p:cNvPr id="37" name="TextBox 36"/>
          <p:cNvSpPr txBox="1"/>
          <p:nvPr/>
        </p:nvSpPr>
        <p:spPr>
          <a:xfrm>
            <a:off x="5760720" y="1481328"/>
            <a:ext cx="5943600" cy="457200"/>
          </a:xfrm>
          <a:prstGeom prst="rect">
            <a:avLst/>
          </a:prstGeom>
          <a:noFill/>
        </p:spPr>
        <p:txBody>
          <a:bodyPr wrap="square" lIns="0" tIns="0" rIns="0" bIns="0" anchor="ctr">
            <a:spAutoFit/>
          </a:bodyPr>
          <a:lstStyle/>
          <a:p>
            <a:pPr>
              <a:buNone/>
            </a:pPr>
            <a:r>
              <a:rPr lang="ko-KR" sz="1600" b="1">
                <a:solidFill>
                  <a:srgbClr val="1A2233"/>
                </a:solidFill>
                <a:latin typeface="맑은 고딕"/>
                <a:ea typeface="맑은 고딕"/>
                <a:cs typeface="맑은 고딕"/>
              </a:rPr>
              <a:t>안테나 좌표계 — 극좌표 · 직교좌표 · UV</a:t>
            </a:r>
          </a:p>
        </p:txBody>
      </p:sp>
      <p:cxnSp>
        <p:nvCxnSpPr>
          <p:cNvPr id="38" name="Connector 37"/>
          <p:cNvCxnSpPr/>
          <p:nvPr/>
        </p:nvCxnSpPr>
        <p:spPr>
          <a:xfrm>
            <a:off x="5074920" y="2011680"/>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074920" y="2121408"/>
            <a:ext cx="548640" cy="457200"/>
          </a:xfrm>
          <a:prstGeom prst="rect">
            <a:avLst/>
          </a:prstGeom>
          <a:noFill/>
        </p:spPr>
        <p:txBody>
          <a:bodyPr wrap="square" lIns="0" tIns="0" rIns="0" bIns="0" anchor="ctr">
            <a:spAutoFit/>
          </a:bodyPr>
          <a:lstStyle/>
          <a:p>
            <a:pPr>
              <a:buNone/>
            </a:pPr>
            <a:r>
              <a:rPr lang="ko-KR" sz="1600" b="1">
                <a:solidFill>
                  <a:srgbClr val="2B57A6"/>
                </a:solidFill>
                <a:latin typeface="Arial"/>
                <a:ea typeface="Arial"/>
                <a:cs typeface="Arial"/>
              </a:rPr>
              <a:t>2</a:t>
            </a:r>
          </a:p>
        </p:txBody>
      </p:sp>
      <p:sp>
        <p:nvSpPr>
          <p:cNvPr id="40" name="TextBox 39"/>
          <p:cNvSpPr txBox="1"/>
          <p:nvPr/>
        </p:nvSpPr>
        <p:spPr>
          <a:xfrm>
            <a:off x="5760720" y="2121408"/>
            <a:ext cx="5943600" cy="457200"/>
          </a:xfrm>
          <a:prstGeom prst="rect">
            <a:avLst/>
          </a:prstGeom>
          <a:noFill/>
        </p:spPr>
        <p:txBody>
          <a:bodyPr wrap="square" lIns="0" tIns="0" rIns="0" bIns="0" anchor="ctr">
            <a:spAutoFit/>
          </a:bodyPr>
          <a:lstStyle/>
          <a:p>
            <a:pPr>
              <a:buNone/>
            </a:pPr>
            <a:r>
              <a:rPr lang="ko-KR" sz="1600" b="1">
                <a:solidFill>
                  <a:srgbClr val="1A2233"/>
                </a:solidFill>
                <a:latin typeface="맑은 고딕"/>
                <a:ea typeface="맑은 고딕"/>
                <a:cs typeface="맑은 고딕"/>
              </a:rPr>
              <a:t>동체(Body) 좌표계</a:t>
            </a:r>
          </a:p>
        </p:txBody>
      </p:sp>
      <p:cxnSp>
        <p:nvCxnSpPr>
          <p:cNvPr id="41" name="Connector 40"/>
          <p:cNvCxnSpPr/>
          <p:nvPr/>
        </p:nvCxnSpPr>
        <p:spPr>
          <a:xfrm>
            <a:off x="5074920" y="2651760"/>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074920" y="2761488"/>
            <a:ext cx="548640" cy="457200"/>
          </a:xfrm>
          <a:prstGeom prst="rect">
            <a:avLst/>
          </a:prstGeom>
          <a:noFill/>
        </p:spPr>
        <p:txBody>
          <a:bodyPr wrap="square" lIns="0" tIns="0" rIns="0" bIns="0" anchor="ctr">
            <a:spAutoFit/>
          </a:bodyPr>
          <a:lstStyle/>
          <a:p>
            <a:pPr>
              <a:buNone/>
            </a:pPr>
            <a:r>
              <a:rPr lang="ko-KR" sz="1600" b="1">
                <a:solidFill>
                  <a:srgbClr val="2B57A6"/>
                </a:solidFill>
                <a:latin typeface="Arial"/>
                <a:ea typeface="Arial"/>
                <a:cs typeface="Arial"/>
              </a:rPr>
              <a:t>3</a:t>
            </a:r>
          </a:p>
        </p:txBody>
      </p:sp>
      <p:sp>
        <p:nvSpPr>
          <p:cNvPr id="43" name="TextBox 42"/>
          <p:cNvSpPr txBox="1"/>
          <p:nvPr/>
        </p:nvSpPr>
        <p:spPr>
          <a:xfrm>
            <a:off x="5760720" y="2761488"/>
            <a:ext cx="5943600" cy="457200"/>
          </a:xfrm>
          <a:prstGeom prst="rect">
            <a:avLst/>
          </a:prstGeom>
          <a:noFill/>
        </p:spPr>
        <p:txBody>
          <a:bodyPr wrap="square" lIns="0" tIns="0" rIns="0" bIns="0" anchor="ctr">
            <a:spAutoFit/>
          </a:bodyPr>
          <a:lstStyle/>
          <a:p>
            <a:pPr>
              <a:buNone/>
            </a:pPr>
            <a:r>
              <a:rPr lang="ko-KR" sz="1600" b="1">
                <a:solidFill>
                  <a:srgbClr val="1A2233"/>
                </a:solidFill>
                <a:latin typeface="맑은 고딕"/>
                <a:ea typeface="맑은 고딕"/>
                <a:cs typeface="맑은 고딕"/>
              </a:rPr>
              <a:t>INS 좌표계</a:t>
            </a:r>
          </a:p>
        </p:txBody>
      </p:sp>
      <p:cxnSp>
        <p:nvCxnSpPr>
          <p:cNvPr id="44" name="Connector 43"/>
          <p:cNvCxnSpPr/>
          <p:nvPr/>
        </p:nvCxnSpPr>
        <p:spPr>
          <a:xfrm>
            <a:off x="5074920" y="3291840"/>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074920" y="3401568"/>
            <a:ext cx="548640" cy="457200"/>
          </a:xfrm>
          <a:prstGeom prst="rect">
            <a:avLst/>
          </a:prstGeom>
          <a:noFill/>
        </p:spPr>
        <p:txBody>
          <a:bodyPr wrap="square" lIns="0" tIns="0" rIns="0" bIns="0" anchor="ctr">
            <a:spAutoFit/>
          </a:bodyPr>
          <a:lstStyle/>
          <a:p>
            <a:pPr>
              <a:buNone/>
            </a:pPr>
            <a:r>
              <a:rPr lang="ko-KR" sz="1600" b="1">
                <a:solidFill>
                  <a:srgbClr val="2B57A6"/>
                </a:solidFill>
                <a:latin typeface="Arial"/>
                <a:ea typeface="Arial"/>
                <a:cs typeface="Arial"/>
              </a:rPr>
              <a:t>4</a:t>
            </a:r>
          </a:p>
        </p:txBody>
      </p:sp>
      <p:sp>
        <p:nvSpPr>
          <p:cNvPr id="46" name="TextBox 45"/>
          <p:cNvSpPr txBox="1"/>
          <p:nvPr/>
        </p:nvSpPr>
        <p:spPr>
          <a:xfrm>
            <a:off x="5760720" y="3401568"/>
            <a:ext cx="5943600" cy="457200"/>
          </a:xfrm>
          <a:prstGeom prst="rect">
            <a:avLst/>
          </a:prstGeom>
          <a:noFill/>
        </p:spPr>
        <p:txBody>
          <a:bodyPr wrap="square" lIns="0" tIns="0" rIns="0" bIns="0" anchor="ctr">
            <a:spAutoFit/>
          </a:bodyPr>
          <a:lstStyle/>
          <a:p>
            <a:pPr>
              <a:buNone/>
            </a:pPr>
            <a:r>
              <a:rPr lang="ko-KR" sz="1600" b="1">
                <a:solidFill>
                  <a:srgbClr val="1A2233"/>
                </a:solidFill>
                <a:latin typeface="맑은 고딕"/>
                <a:ea typeface="맑은 고딕"/>
                <a:cs typeface="맑은 고딕"/>
              </a:rPr>
              <a:t>NED / ENU 국지수평 좌표계</a:t>
            </a:r>
          </a:p>
        </p:txBody>
      </p:sp>
      <p:cxnSp>
        <p:nvCxnSpPr>
          <p:cNvPr id="47" name="Connector 46"/>
          <p:cNvCxnSpPr/>
          <p:nvPr/>
        </p:nvCxnSpPr>
        <p:spPr>
          <a:xfrm>
            <a:off x="5074920" y="3931920"/>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5074920" y="4041648"/>
            <a:ext cx="548640" cy="457200"/>
          </a:xfrm>
          <a:prstGeom prst="rect">
            <a:avLst/>
          </a:prstGeom>
          <a:noFill/>
        </p:spPr>
        <p:txBody>
          <a:bodyPr wrap="square" lIns="0" tIns="0" rIns="0" bIns="0" anchor="ctr">
            <a:spAutoFit/>
          </a:bodyPr>
          <a:lstStyle/>
          <a:p>
            <a:pPr>
              <a:buNone/>
            </a:pPr>
            <a:r>
              <a:rPr lang="ko-KR" sz="1600" b="1">
                <a:solidFill>
                  <a:srgbClr val="2B57A6"/>
                </a:solidFill>
                <a:latin typeface="Arial"/>
                <a:ea typeface="Arial"/>
                <a:cs typeface="Arial"/>
              </a:rPr>
              <a:t>5</a:t>
            </a:r>
          </a:p>
        </p:txBody>
      </p:sp>
      <p:sp>
        <p:nvSpPr>
          <p:cNvPr id="49" name="TextBox 48"/>
          <p:cNvSpPr txBox="1"/>
          <p:nvPr/>
        </p:nvSpPr>
        <p:spPr>
          <a:xfrm>
            <a:off x="5760720" y="4041648"/>
            <a:ext cx="5943600" cy="457200"/>
          </a:xfrm>
          <a:prstGeom prst="rect">
            <a:avLst/>
          </a:prstGeom>
          <a:noFill/>
        </p:spPr>
        <p:txBody>
          <a:bodyPr wrap="square" lIns="0" tIns="0" rIns="0" bIns="0" anchor="ctr">
            <a:spAutoFit/>
          </a:bodyPr>
          <a:lstStyle/>
          <a:p>
            <a:pPr>
              <a:buNone/>
            </a:pPr>
            <a:r>
              <a:rPr lang="ko-KR" sz="1600" b="1">
                <a:solidFill>
                  <a:srgbClr val="1A2233"/>
                </a:solidFill>
                <a:latin typeface="맑은 고딕"/>
                <a:ea typeface="맑은 고딕"/>
                <a:cs typeface="맑은 고딕"/>
              </a:rPr>
              <a:t>ECEF / ECI 지구 중심 좌표계</a:t>
            </a:r>
          </a:p>
        </p:txBody>
      </p:sp>
      <p:cxnSp>
        <p:nvCxnSpPr>
          <p:cNvPr id="50" name="Connector 49"/>
          <p:cNvCxnSpPr/>
          <p:nvPr/>
        </p:nvCxnSpPr>
        <p:spPr>
          <a:xfrm>
            <a:off x="5074920" y="4572000"/>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5074920" y="4681728"/>
            <a:ext cx="548640" cy="457200"/>
          </a:xfrm>
          <a:prstGeom prst="rect">
            <a:avLst/>
          </a:prstGeom>
          <a:noFill/>
        </p:spPr>
        <p:txBody>
          <a:bodyPr wrap="square" lIns="0" tIns="0" rIns="0" bIns="0" anchor="ctr">
            <a:spAutoFit/>
          </a:bodyPr>
          <a:lstStyle/>
          <a:p>
            <a:pPr>
              <a:buNone/>
            </a:pPr>
            <a:r>
              <a:rPr lang="ko-KR" sz="1600" b="1">
                <a:solidFill>
                  <a:srgbClr val="2B57A6"/>
                </a:solidFill>
                <a:latin typeface="Arial"/>
                <a:ea typeface="Arial"/>
                <a:cs typeface="Arial"/>
              </a:rPr>
              <a:t>6</a:t>
            </a:r>
          </a:p>
        </p:txBody>
      </p:sp>
      <p:sp>
        <p:nvSpPr>
          <p:cNvPr id="52" name="TextBox 51"/>
          <p:cNvSpPr txBox="1"/>
          <p:nvPr/>
        </p:nvSpPr>
        <p:spPr>
          <a:xfrm>
            <a:off x="5760720" y="4681728"/>
            <a:ext cx="5943600" cy="457200"/>
          </a:xfrm>
          <a:prstGeom prst="rect">
            <a:avLst/>
          </a:prstGeom>
          <a:noFill/>
        </p:spPr>
        <p:txBody>
          <a:bodyPr wrap="square" lIns="0" tIns="0" rIns="0" bIns="0" anchor="ctr">
            <a:spAutoFit/>
          </a:bodyPr>
          <a:lstStyle/>
          <a:p>
            <a:pPr>
              <a:buNone/>
            </a:pPr>
            <a:r>
              <a:rPr lang="ko-KR" sz="1600" b="1">
                <a:solidFill>
                  <a:srgbClr val="1A2233"/>
                </a:solidFill>
                <a:latin typeface="맑은 고딕"/>
                <a:ea typeface="맑은 고딕"/>
                <a:cs typeface="맑은 고딕"/>
              </a:rPr>
              <a:t>LLA 측지 좌표계</a:t>
            </a:r>
          </a:p>
        </p:txBody>
      </p:sp>
      <p:cxnSp>
        <p:nvCxnSpPr>
          <p:cNvPr id="53" name="Connector 52"/>
          <p:cNvCxnSpPr/>
          <p:nvPr/>
        </p:nvCxnSpPr>
        <p:spPr>
          <a:xfrm>
            <a:off x="5074920" y="5212080"/>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074920" y="5870448"/>
            <a:ext cx="6629400" cy="365760"/>
          </a:xfrm>
          <a:prstGeom prst="rect">
            <a:avLst/>
          </a:prstGeom>
          <a:noFill/>
          <a:ln/>
        </p:spPr>
        <p:txBody>
          <a:bodyPr wrap="square" lIns="0" tIns="0" rIns="0" bIns="0" rtlCol="0" anchor="ctr"/>
          <a:lstStyle/>
          <a:p>
            <a:pPr marL="0" indent="0">
              <a:buNone/>
            </a:pPr>
            <a:r>
              <a:rPr lang="ko-KR" sz="1100" b="0" dirty="0">
                <a:solidFill>
                  <a:srgbClr val="5A6478"/>
                </a:solidFill>
                <a:latin typeface="맑은 고딕" pitchFamily="34" charset="0"/>
                <a:ea typeface="맑은 고딕" pitchFamily="34" charset="-122"/>
                <a:cs typeface="맑은 고딕" pitchFamily="34" charset="-120"/>
              </a:rPr>
              <a:t>이 발표의 약속 :  안테나 · 동체 · NED 좌표계에서 z 는 아래.  "10 m 위" 는 z = −10 입니다.</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0">
    <p:bg>
      <p:bgPr>
        <a:solidFill>
          <a:srgbClr val="E8EDF5"/>
        </a:solidFill>
        <a:effectLst/>
      </p:bgPr>
    </p:bg>
    <p:spTree>
      <p:nvGrpSpPr>
        <p:cNvPr id="1" name=""/>
        <p:cNvGrpSpPr/>
        <p:nvPr/>
      </p:nvGrpSpPr>
      <p:grpSpPr>
        <a:xfrm>
          <a:off x="0" y="0"/>
          <a:ext cx="0" cy="0"/>
          <a:chOff x="0" y="0"/>
          <a:chExt cx="0" cy="0"/>
        </a:xfrm>
      </p:grpSpPr>
      <p:sp>
        <p:nvSpPr>
          <p:cNvPr id="28" name="Rectangle 27"/>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endParaRPr/>
          </a:p>
        </p:txBody>
      </p:sp>
      <p:sp>
        <p:nvSpPr>
          <p:cNvPr id="4" name="Shape 2"/>
          <p:cNvSpPr/>
          <p:nvPr/>
        </p:nvSpPr>
        <p:spPr>
          <a:xfrm>
            <a:off x="2112264" y="1371600"/>
            <a:ext cx="1170432" cy="329184"/>
          </a:xfrm>
          <a:prstGeom prst="roundRect">
            <a:avLst>
              <a:gd name="adj" fmla="val 47222"/>
            </a:avLst>
          </a:prstGeom>
          <a:solidFill>
            <a:srgbClr val="EEF1F7"/>
          </a:solidFill>
          <a:ln w="12700">
            <a:solidFill>
              <a:srgbClr val="C9D6EC"/>
            </a:solidFill>
            <a:prstDash val="solid"/>
          </a:ln>
        </p:spPr>
        <p:txBody>
          <a:bodyPr/>
          <a:lstStyle/>
          <a:p>
            <a:endParaRPr/>
          </a:p>
        </p:txBody>
      </p:sp>
      <p:sp>
        <p:nvSpPr>
          <p:cNvPr id="5" name="Text 3"/>
          <p:cNvSpPr txBox="1"/>
          <p:nvPr/>
        </p:nvSpPr>
        <p:spPr>
          <a:xfrm>
            <a:off x="2112264" y="1371600"/>
            <a:ext cx="1170432" cy="329184"/>
          </a:xfrm>
          <a:prstGeom prst="rect">
            <a:avLst/>
          </a:prstGeom>
          <a:noFill/>
          <a:ln/>
        </p:spPr>
        <p:txBody>
          <a:bodyPr wrap="square" lIns="0" tIns="0" rIns="0" bIns="0" rtlCol="0" anchor="ctr"/>
          <a:lstStyle/>
          <a:p>
            <a:pPr marL="0" indent="0" algn="ctr">
              <a:buNone/>
            </a:pPr>
            <a:r>
              <a:rPr lang="en-US" sz="1100" dirty="0">
                <a:solidFill>
                  <a:srgbClr val="5A6478"/>
                </a:solidFill>
                <a:latin typeface="맑은 고딕" pitchFamily="34" charset="0"/>
                <a:ea typeface="맑은 고딕" pitchFamily="34" charset="-122"/>
                <a:cs typeface="맑은 고딕" pitchFamily="34" charset="-120"/>
              </a:rPr>
              <a:t>측정</a:t>
            </a:r>
            <a:endParaRPr lang="en-US" sz="1100" dirty="0"/>
          </a:p>
        </p:txBody>
      </p:sp>
      <p:sp>
        <p:nvSpPr>
          <p:cNvPr id="6" name="Text 4"/>
          <p:cNvSpPr txBox="1"/>
          <p:nvPr/>
        </p:nvSpPr>
        <p:spPr>
          <a:xfrm>
            <a:off x="3282696" y="1371600"/>
            <a:ext cx="182880" cy="329184"/>
          </a:xfrm>
          <a:prstGeom prst="rect">
            <a:avLst/>
          </a:prstGeom>
          <a:noFill/>
          <a:ln/>
        </p:spPr>
        <p:txBody>
          <a:bodyPr wrap="square" lIns="0" tIns="0" rIns="0" bIns="0" rtlCol="0" anchor="ctr"/>
          <a:lstStyle/>
          <a:p>
            <a:pPr marL="0" indent="0" algn="ctr">
              <a:buNone/>
            </a:pPr>
            <a:r>
              <a:rPr lang="en-US" sz="1000" dirty="0">
                <a:solidFill>
                  <a:srgbClr val="C9D6EC"/>
                </a:solidFill>
              </a:rPr>
              <a:t>▸</a:t>
            </a:r>
            <a:endParaRPr lang="en-US" sz="1000" dirty="0"/>
          </a:p>
        </p:txBody>
      </p:sp>
      <p:sp>
        <p:nvSpPr>
          <p:cNvPr id="7" name="Shape 5"/>
          <p:cNvSpPr/>
          <p:nvPr/>
        </p:nvSpPr>
        <p:spPr>
          <a:xfrm>
            <a:off x="3465576" y="1371600"/>
            <a:ext cx="1170432" cy="329184"/>
          </a:xfrm>
          <a:prstGeom prst="roundRect">
            <a:avLst>
              <a:gd name="adj" fmla="val 47222"/>
            </a:avLst>
          </a:prstGeom>
          <a:solidFill>
            <a:srgbClr val="C2521C"/>
          </a:solidFill>
          <a:ln w="12700">
            <a:solidFill>
              <a:srgbClr val="C2521C"/>
            </a:solidFill>
            <a:prstDash val="solid"/>
          </a:ln>
        </p:spPr>
        <p:txBody>
          <a:bodyPr/>
          <a:lstStyle/>
          <a:p>
            <a:endParaRPr/>
          </a:p>
        </p:txBody>
      </p:sp>
      <p:sp>
        <p:nvSpPr>
          <p:cNvPr id="8" name="Text 6"/>
          <p:cNvSpPr txBox="1"/>
          <p:nvPr/>
        </p:nvSpPr>
        <p:spPr>
          <a:xfrm>
            <a:off x="3465576" y="1371600"/>
            <a:ext cx="1170432" cy="329184"/>
          </a:xfrm>
          <a:prstGeom prst="rect">
            <a:avLst/>
          </a:prstGeom>
          <a:noFill/>
          <a:ln/>
        </p:spPr>
        <p:txBody>
          <a:bodyPr wrap="square" lIns="0" tIns="0" rIns="0" bIns="0" rtlCol="0" anchor="ctr"/>
          <a:lstStyle/>
          <a:p>
            <a:pPr marL="0" indent="0" algn="ctr">
              <a:buNone/>
            </a:pPr>
            <a:r>
              <a:rPr lang="en-US" sz="1100" b="1" dirty="0">
                <a:solidFill>
                  <a:srgbClr val="FFFFFF"/>
                </a:solidFill>
                <a:latin typeface="맑은 고딕" pitchFamily="34" charset="0"/>
                <a:ea typeface="맑은 고딕" pitchFamily="34" charset="-122"/>
                <a:cs typeface="맑은 고딕" pitchFamily="34" charset="-120"/>
              </a:rPr>
              <a:t>안테나</a:t>
            </a:r>
            <a:endParaRPr lang="en-US" sz="1100" dirty="0"/>
          </a:p>
        </p:txBody>
      </p:sp>
      <p:sp>
        <p:nvSpPr>
          <p:cNvPr id="9" name="Text 7"/>
          <p:cNvSpPr txBox="1"/>
          <p:nvPr/>
        </p:nvSpPr>
        <p:spPr>
          <a:xfrm>
            <a:off x="4636008" y="1371600"/>
            <a:ext cx="182880" cy="329184"/>
          </a:xfrm>
          <a:prstGeom prst="rect">
            <a:avLst/>
          </a:prstGeom>
          <a:noFill/>
          <a:ln/>
        </p:spPr>
        <p:txBody>
          <a:bodyPr wrap="square" lIns="0" tIns="0" rIns="0" bIns="0" rtlCol="0" anchor="ctr"/>
          <a:lstStyle/>
          <a:p>
            <a:pPr marL="0" indent="0" algn="ctr">
              <a:buNone/>
            </a:pPr>
            <a:r>
              <a:rPr lang="en-US" sz="1000" dirty="0">
                <a:solidFill>
                  <a:srgbClr val="C9D6EC"/>
                </a:solidFill>
              </a:rPr>
              <a:t>▸</a:t>
            </a:r>
            <a:endParaRPr lang="en-US" sz="1000" dirty="0"/>
          </a:p>
        </p:txBody>
      </p:sp>
      <p:sp>
        <p:nvSpPr>
          <p:cNvPr id="10" name="Shape 8"/>
          <p:cNvSpPr/>
          <p:nvPr/>
        </p:nvSpPr>
        <p:spPr>
          <a:xfrm>
            <a:off x="4818888" y="1371600"/>
            <a:ext cx="1170432" cy="329184"/>
          </a:xfrm>
          <a:prstGeom prst="roundRect">
            <a:avLst>
              <a:gd name="adj" fmla="val 47222"/>
            </a:avLst>
          </a:prstGeom>
          <a:solidFill>
            <a:srgbClr val="EEF1F7"/>
          </a:solidFill>
          <a:ln w="12700">
            <a:solidFill>
              <a:srgbClr val="C9D6EC"/>
            </a:solidFill>
            <a:prstDash val="solid"/>
          </a:ln>
        </p:spPr>
        <p:txBody>
          <a:bodyPr/>
          <a:lstStyle/>
          <a:p>
            <a:endParaRPr/>
          </a:p>
        </p:txBody>
      </p:sp>
      <p:sp>
        <p:nvSpPr>
          <p:cNvPr id="11" name="Text 9"/>
          <p:cNvSpPr txBox="1"/>
          <p:nvPr/>
        </p:nvSpPr>
        <p:spPr>
          <a:xfrm>
            <a:off x="4818888" y="1371600"/>
            <a:ext cx="1170432" cy="329184"/>
          </a:xfrm>
          <a:prstGeom prst="rect">
            <a:avLst/>
          </a:prstGeom>
          <a:noFill/>
          <a:ln/>
        </p:spPr>
        <p:txBody>
          <a:bodyPr wrap="square" lIns="0" tIns="0" rIns="0" bIns="0" rtlCol="0" anchor="ctr"/>
          <a:lstStyle/>
          <a:p>
            <a:pPr marL="0" indent="0" algn="ctr">
              <a:buNone/>
            </a:pPr>
            <a:r>
              <a:rPr lang="en-US" sz="1100" dirty="0">
                <a:solidFill>
                  <a:srgbClr val="5A6478"/>
                </a:solidFill>
                <a:latin typeface="맑은 고딕" pitchFamily="34" charset="0"/>
                <a:ea typeface="맑은 고딕" pitchFamily="34" charset="-122"/>
                <a:cs typeface="맑은 고딕" pitchFamily="34" charset="-120"/>
              </a:rPr>
              <a:t>동체</a:t>
            </a:r>
            <a:endParaRPr lang="en-US" sz="1100" dirty="0"/>
          </a:p>
        </p:txBody>
      </p:sp>
      <p:sp>
        <p:nvSpPr>
          <p:cNvPr id="12" name="Text 10"/>
          <p:cNvSpPr txBox="1"/>
          <p:nvPr/>
        </p:nvSpPr>
        <p:spPr>
          <a:xfrm>
            <a:off x="5989320" y="1371600"/>
            <a:ext cx="182880" cy="329184"/>
          </a:xfrm>
          <a:prstGeom prst="rect">
            <a:avLst/>
          </a:prstGeom>
          <a:noFill/>
          <a:ln/>
        </p:spPr>
        <p:txBody>
          <a:bodyPr wrap="square" lIns="0" tIns="0" rIns="0" bIns="0" rtlCol="0" anchor="ctr"/>
          <a:lstStyle/>
          <a:p>
            <a:pPr marL="0" indent="0" algn="ctr">
              <a:buNone/>
            </a:pPr>
            <a:r>
              <a:rPr lang="en-US" sz="1000" dirty="0">
                <a:solidFill>
                  <a:srgbClr val="C9D6EC"/>
                </a:solidFill>
              </a:rPr>
              <a:t>▸</a:t>
            </a:r>
            <a:endParaRPr lang="en-US" sz="1000" dirty="0"/>
          </a:p>
        </p:txBody>
      </p:sp>
      <p:sp>
        <p:nvSpPr>
          <p:cNvPr id="13" name="Shape 11"/>
          <p:cNvSpPr/>
          <p:nvPr/>
        </p:nvSpPr>
        <p:spPr>
          <a:xfrm>
            <a:off x="6172200" y="1371600"/>
            <a:ext cx="1170432" cy="329184"/>
          </a:xfrm>
          <a:prstGeom prst="roundRect">
            <a:avLst>
              <a:gd name="adj" fmla="val 47222"/>
            </a:avLst>
          </a:prstGeom>
          <a:solidFill>
            <a:srgbClr val="EEF1F7"/>
          </a:solidFill>
          <a:ln w="12700">
            <a:solidFill>
              <a:srgbClr val="C9D6EC"/>
            </a:solidFill>
            <a:prstDash val="solid"/>
          </a:ln>
        </p:spPr>
        <p:txBody>
          <a:bodyPr/>
          <a:lstStyle/>
          <a:p>
            <a:endParaRPr/>
          </a:p>
        </p:txBody>
      </p:sp>
      <p:sp>
        <p:nvSpPr>
          <p:cNvPr id="14" name="Text 12"/>
          <p:cNvSpPr txBox="1"/>
          <p:nvPr/>
        </p:nvSpPr>
        <p:spPr>
          <a:xfrm>
            <a:off x="6172200" y="1371600"/>
            <a:ext cx="1170432" cy="329184"/>
          </a:xfrm>
          <a:prstGeom prst="rect">
            <a:avLst/>
          </a:prstGeom>
          <a:noFill/>
          <a:ln/>
        </p:spPr>
        <p:txBody>
          <a:bodyPr wrap="square" lIns="0" tIns="0" rIns="0" bIns="0" rtlCol="0" anchor="ctr"/>
          <a:lstStyle/>
          <a:p>
            <a:pPr marL="0" indent="0" algn="ctr">
              <a:buNone/>
            </a:pPr>
            <a:r>
              <a:rPr lang="en-US" sz="1100" dirty="0">
                <a:solidFill>
                  <a:srgbClr val="5A6478"/>
                </a:solidFill>
                <a:latin typeface="맑은 고딕" pitchFamily="34" charset="0"/>
                <a:ea typeface="맑은 고딕" pitchFamily="34" charset="-122"/>
                <a:cs typeface="맑은 고딕" pitchFamily="34" charset="-120"/>
              </a:rPr>
              <a:t>NED</a:t>
            </a:r>
            <a:endParaRPr lang="en-US" sz="1100" dirty="0"/>
          </a:p>
        </p:txBody>
      </p:sp>
      <p:sp>
        <p:nvSpPr>
          <p:cNvPr id="15" name="Text 13"/>
          <p:cNvSpPr txBox="1"/>
          <p:nvPr/>
        </p:nvSpPr>
        <p:spPr>
          <a:xfrm>
            <a:off x="7342632" y="1371600"/>
            <a:ext cx="182880" cy="329184"/>
          </a:xfrm>
          <a:prstGeom prst="rect">
            <a:avLst/>
          </a:prstGeom>
          <a:noFill/>
          <a:ln/>
        </p:spPr>
        <p:txBody>
          <a:bodyPr wrap="square" lIns="0" tIns="0" rIns="0" bIns="0" rtlCol="0" anchor="ctr"/>
          <a:lstStyle/>
          <a:p>
            <a:pPr marL="0" indent="0" algn="ctr">
              <a:buNone/>
            </a:pPr>
            <a:r>
              <a:rPr lang="en-US" sz="1000" dirty="0">
                <a:solidFill>
                  <a:srgbClr val="C9D6EC"/>
                </a:solidFill>
              </a:rPr>
              <a:t>▸</a:t>
            </a:r>
            <a:endParaRPr lang="en-US" sz="1000" dirty="0"/>
          </a:p>
        </p:txBody>
      </p:sp>
      <p:sp>
        <p:nvSpPr>
          <p:cNvPr id="16" name="Shape 14"/>
          <p:cNvSpPr/>
          <p:nvPr/>
        </p:nvSpPr>
        <p:spPr>
          <a:xfrm>
            <a:off x="7525512" y="1371600"/>
            <a:ext cx="1170432" cy="329184"/>
          </a:xfrm>
          <a:prstGeom prst="roundRect">
            <a:avLst>
              <a:gd name="adj" fmla="val 47222"/>
            </a:avLst>
          </a:prstGeom>
          <a:solidFill>
            <a:srgbClr val="EEF1F7"/>
          </a:solidFill>
          <a:ln w="12700">
            <a:solidFill>
              <a:srgbClr val="C9D6EC"/>
            </a:solidFill>
            <a:prstDash val="solid"/>
          </a:ln>
        </p:spPr>
        <p:txBody>
          <a:bodyPr/>
          <a:lstStyle/>
          <a:p>
            <a:endParaRPr/>
          </a:p>
        </p:txBody>
      </p:sp>
      <p:sp>
        <p:nvSpPr>
          <p:cNvPr id="17" name="Text 15"/>
          <p:cNvSpPr txBox="1"/>
          <p:nvPr/>
        </p:nvSpPr>
        <p:spPr>
          <a:xfrm>
            <a:off x="7525512" y="1371600"/>
            <a:ext cx="1170432" cy="329184"/>
          </a:xfrm>
          <a:prstGeom prst="rect">
            <a:avLst/>
          </a:prstGeom>
          <a:noFill/>
          <a:ln/>
        </p:spPr>
        <p:txBody>
          <a:bodyPr wrap="square" lIns="0" tIns="0" rIns="0" bIns="0" rtlCol="0" anchor="ctr"/>
          <a:lstStyle/>
          <a:p>
            <a:pPr marL="0" indent="0" algn="ctr">
              <a:buNone/>
            </a:pPr>
            <a:r>
              <a:rPr lang="en-US" sz="1100" dirty="0">
                <a:solidFill>
                  <a:srgbClr val="5A6478"/>
                </a:solidFill>
                <a:latin typeface="맑은 고딕" pitchFamily="34" charset="0"/>
                <a:ea typeface="맑은 고딕" pitchFamily="34" charset="-122"/>
                <a:cs typeface="맑은 고딕" pitchFamily="34" charset="-120"/>
              </a:rPr>
              <a:t>ECEF</a:t>
            </a:r>
            <a:endParaRPr lang="en-US" sz="1100" dirty="0"/>
          </a:p>
        </p:txBody>
      </p:sp>
      <p:sp>
        <p:nvSpPr>
          <p:cNvPr id="18" name="Text 16"/>
          <p:cNvSpPr txBox="1"/>
          <p:nvPr/>
        </p:nvSpPr>
        <p:spPr>
          <a:xfrm>
            <a:off x="8695944" y="1371600"/>
            <a:ext cx="182880" cy="329184"/>
          </a:xfrm>
          <a:prstGeom prst="rect">
            <a:avLst/>
          </a:prstGeom>
          <a:noFill/>
          <a:ln/>
        </p:spPr>
        <p:txBody>
          <a:bodyPr wrap="square" lIns="0" tIns="0" rIns="0" bIns="0" rtlCol="0" anchor="ctr"/>
          <a:lstStyle/>
          <a:p>
            <a:pPr marL="0" indent="0" algn="ctr">
              <a:buNone/>
            </a:pPr>
            <a:r>
              <a:rPr lang="en-US" sz="1000" dirty="0">
                <a:solidFill>
                  <a:srgbClr val="C9D6EC"/>
                </a:solidFill>
              </a:rPr>
              <a:t>▸</a:t>
            </a:r>
            <a:endParaRPr lang="en-US" sz="1000" dirty="0"/>
          </a:p>
        </p:txBody>
      </p:sp>
      <p:sp>
        <p:nvSpPr>
          <p:cNvPr id="19" name="Shape 17"/>
          <p:cNvSpPr/>
          <p:nvPr/>
        </p:nvSpPr>
        <p:spPr>
          <a:xfrm>
            <a:off x="8878824" y="1371600"/>
            <a:ext cx="1170432" cy="329184"/>
          </a:xfrm>
          <a:prstGeom prst="roundRect">
            <a:avLst>
              <a:gd name="adj" fmla="val 47222"/>
            </a:avLst>
          </a:prstGeom>
          <a:solidFill>
            <a:srgbClr val="EEF1F7"/>
          </a:solidFill>
          <a:ln w="12700">
            <a:solidFill>
              <a:srgbClr val="C9D6EC"/>
            </a:solidFill>
            <a:prstDash val="solid"/>
          </a:ln>
        </p:spPr>
        <p:txBody>
          <a:bodyPr/>
          <a:lstStyle/>
          <a:p>
            <a:endParaRPr/>
          </a:p>
        </p:txBody>
      </p:sp>
      <p:sp>
        <p:nvSpPr>
          <p:cNvPr id="20" name="Text 18"/>
          <p:cNvSpPr txBox="1"/>
          <p:nvPr/>
        </p:nvSpPr>
        <p:spPr>
          <a:xfrm>
            <a:off x="8878824" y="1371600"/>
            <a:ext cx="1170432" cy="329184"/>
          </a:xfrm>
          <a:prstGeom prst="rect">
            <a:avLst/>
          </a:prstGeom>
          <a:noFill/>
          <a:ln/>
        </p:spPr>
        <p:txBody>
          <a:bodyPr wrap="square" lIns="0" tIns="0" rIns="0" bIns="0" rtlCol="0" anchor="ctr"/>
          <a:lstStyle/>
          <a:p>
            <a:pPr marL="0" indent="0" algn="ctr">
              <a:buNone/>
            </a:pPr>
            <a:r>
              <a:rPr lang="en-US" sz="1100" dirty="0">
                <a:solidFill>
                  <a:srgbClr val="5A6478"/>
                </a:solidFill>
                <a:latin typeface="맑은 고딕" pitchFamily="34" charset="0"/>
                <a:ea typeface="맑은 고딕" pitchFamily="34" charset="-122"/>
                <a:cs typeface="맑은 고딕" pitchFamily="34" charset="-120"/>
              </a:rPr>
              <a:t>LLA</a:t>
            </a:r>
            <a:endParaRPr lang="en-US" sz="1100" dirty="0"/>
          </a:p>
        </p:txBody>
      </p:sp>
      <p:pic>
        <p:nvPicPr>
          <p:cNvPr id="21" name="Image 0" descr="/home/claude/gitpkg/Part2_CoordFrames/doc/figures/fig02_polar.png"/>
          <p:cNvPicPr>
            <a:picLocks noChangeAspect="1"/>
          </p:cNvPicPr>
          <p:nvPr/>
        </p:nvPicPr>
        <p:blipFill>
          <a:blip r:embed="rId3"/>
          <a:stretch>
            <a:fillRect/>
          </a:stretch>
        </p:blipFill>
        <p:spPr>
          <a:xfrm>
            <a:off x="566928" y="2002536"/>
            <a:ext cx="7680960" cy="3611880"/>
          </a:xfrm>
          <a:prstGeom prst="rect">
            <a:avLst/>
          </a:prstGeom>
        </p:spPr>
      </p:pic>
      <p:sp>
        <p:nvSpPr>
          <p:cNvPr id="22" name="Shape 19"/>
          <p:cNvSpPr/>
          <p:nvPr/>
        </p:nvSpPr>
        <p:spPr>
          <a:xfrm>
            <a:off x="8485632" y="1801368"/>
            <a:ext cx="3145536" cy="3895344"/>
          </a:xfrm>
          <a:prstGeom prst="roundRect">
            <a:avLst>
              <a:gd name="adj" fmla="val 2326"/>
            </a:avLst>
          </a:prstGeom>
          <a:solidFill>
            <a:srgbClr val="EEF1F7"/>
          </a:solidFill>
          <a:ln w="12700">
            <a:solidFill>
              <a:srgbClr val="FFFFFF"/>
            </a:solidFill>
            <a:prstDash val="solid"/>
          </a:ln>
        </p:spPr>
        <p:txBody>
          <a:bodyPr/>
          <a:lstStyle/>
          <a:p>
            <a:endParaRPr/>
          </a:p>
        </p:txBody>
      </p:sp>
      <p:sp>
        <p:nvSpPr>
          <p:cNvPr id="23" name="Text 20"/>
          <p:cNvSpPr txBox="1"/>
          <p:nvPr/>
        </p:nvSpPr>
        <p:spPr>
          <a:xfrm>
            <a:off x="8741664" y="2039112"/>
            <a:ext cx="2651760" cy="329184"/>
          </a:xfrm>
          <a:prstGeom prst="rect">
            <a:avLst/>
          </a:prstGeom>
          <a:noFill/>
          <a:ln/>
        </p:spPr>
        <p:txBody>
          <a:bodyPr wrap="square" lIns="0" tIns="0" rIns="0" bIns="0" rtlCol="0" anchor="ctr"/>
          <a:lstStyle/>
          <a:p>
            <a:pPr marL="0" indent="0">
              <a:buNone/>
            </a:pPr>
            <a:r>
              <a:rPr lang="en-US" sz="1500" b="1" dirty="0">
                <a:solidFill>
                  <a:srgbClr val="2B57A6"/>
                </a:solidFill>
                <a:latin typeface="맑은 고딕" pitchFamily="34" charset="0"/>
                <a:ea typeface="맑은 고딕" pitchFamily="34" charset="-122"/>
                <a:cs typeface="맑은 고딕" pitchFamily="34" charset="-120"/>
              </a:rPr>
              <a:t>세 성분</a:t>
            </a:r>
            <a:endParaRPr lang="en-US" sz="1500" dirty="0"/>
          </a:p>
        </p:txBody>
      </p:sp>
      <p:sp>
        <p:nvSpPr>
          <p:cNvPr id="24" name="Text 21"/>
          <p:cNvSpPr txBox="1"/>
          <p:nvPr/>
        </p:nvSpPr>
        <p:spPr>
          <a:xfrm>
            <a:off x="8741664" y="2459736"/>
            <a:ext cx="2651760" cy="2286000"/>
          </a:xfrm>
          <a:prstGeom prst="rect">
            <a:avLst/>
          </a:prstGeom>
          <a:noFill/>
          <a:ln/>
        </p:spPr>
        <p:txBody>
          <a:bodyPr wrap="square" lIns="0" tIns="0" rIns="0" bIns="0" rtlCol="0" anchor="ctr"/>
          <a:lstStyle/>
          <a:p>
            <a:pPr marL="0" indent="0">
              <a:lnSpc>
                <a:spcPts val="1900"/>
              </a:lnSpc>
              <a:buNone/>
            </a:pPr>
            <a:r>
              <a:rPr lang="en-US" sz="1350" b="1" dirty="0">
                <a:solidFill>
                  <a:srgbClr val="1A2233"/>
                </a:solidFill>
                <a:latin typeface="맑은 고딕" pitchFamily="34" charset="0"/>
                <a:ea typeface="맑은 고딕" pitchFamily="34" charset="-122"/>
                <a:cs typeface="맑은 고딕" pitchFamily="34" charset="-120"/>
              </a:rPr>
              <a:t>Azimuth  ·  보어사이트에서 왼쪽(반시계)으로</a:t>
            </a:r>
            <a:endParaRPr lang="en-US" sz="1350" dirty="0"/>
          </a:p>
          <a:p>
            <a:pPr marL="0" indent="0">
              <a:lnSpc>
                <a:spcPts val="1900"/>
              </a:lnSpc>
              <a:buNone/>
            </a:pPr>
            <a:endParaRPr lang="en-US" sz="1350" dirty="0"/>
          </a:p>
          <a:p>
            <a:pPr marL="0" indent="0">
              <a:lnSpc>
                <a:spcPts val="1900"/>
              </a:lnSpc>
              <a:buNone/>
            </a:pPr>
            <a:endParaRPr lang="en-US" sz="1350" dirty="0"/>
          </a:p>
          <a:p>
            <a:pPr marL="0" indent="0">
              <a:lnSpc>
                <a:spcPts val="1900"/>
              </a:lnSpc>
              <a:buNone/>
            </a:pPr>
            <a:endParaRPr lang="en-US" sz="1350" dirty="0"/>
          </a:p>
          <a:p>
            <a:pPr marL="0" indent="0">
              <a:lnSpc>
                <a:spcPts val="1900"/>
              </a:lnSpc>
              <a:buNone/>
            </a:pPr>
            <a:endParaRPr lang="en-US" sz="1350" dirty="0"/>
          </a:p>
          <a:p>
            <a:pPr marL="0" indent="0">
              <a:lnSpc>
                <a:spcPts val="1900"/>
              </a:lnSpc>
              <a:buNone/>
            </a:pPr>
            <a:endParaRPr lang="en-US" sz="1350" dirty="0"/>
          </a:p>
          <a:p>
            <a:pPr marL="0" indent="0">
              <a:lnSpc>
                <a:spcPts val="1900"/>
              </a:lnSpc>
              <a:buNone/>
            </a:pPr>
            <a:endParaRPr lang="en-US" sz="1350" dirty="0"/>
          </a:p>
          <a:p>
            <a:pPr marL="0" indent="0">
              <a:lnSpc>
                <a:spcPts val="1900"/>
              </a:lnSpc>
              <a:buNone/>
            </a:pPr>
            <a:endParaRPr lang="en-US" sz="1350" dirty="0"/>
          </a:p>
        </p:txBody>
      </p:sp>
      <p:sp>
        <p:nvSpPr>
          <p:cNvPr id="25" name="Shape 22"/>
          <p:cNvSpPr/>
          <p:nvPr/>
        </p:nvSpPr>
        <p:spPr>
          <a:xfrm>
            <a:off x="8741664" y="4965192"/>
            <a:ext cx="2651760" cy="548640"/>
          </a:xfrm>
          <a:prstGeom prst="roundRect">
            <a:avLst>
              <a:gd name="adj" fmla="val 13333"/>
            </a:avLst>
          </a:prstGeom>
          <a:solidFill>
            <a:srgbClr val="FBEADF"/>
          </a:solidFill>
          <a:ln w="12700">
            <a:solidFill>
              <a:srgbClr val="FFFFFF"/>
            </a:solidFill>
            <a:prstDash val="solid"/>
          </a:ln>
        </p:spPr>
        <p:txBody>
          <a:bodyPr/>
          <a:lstStyle/>
          <a:p>
            <a:endParaRPr/>
          </a:p>
        </p:txBody>
      </p:sp>
      <p:sp>
        <p:nvSpPr>
          <p:cNvPr id="26" name="Text 23"/>
          <p:cNvSpPr txBox="1"/>
          <p:nvPr/>
        </p:nvSpPr>
        <p:spPr>
          <a:xfrm>
            <a:off x="8741664" y="4965192"/>
            <a:ext cx="2651760" cy="548640"/>
          </a:xfrm>
          <a:prstGeom prst="rect">
            <a:avLst/>
          </a:prstGeom>
          <a:noFill/>
          <a:ln/>
        </p:spPr>
        <p:txBody>
          <a:bodyPr wrap="square" lIns="0" tIns="0" rIns="0" bIns="0" rtlCol="0" anchor="ctr"/>
          <a:lstStyle/>
          <a:p>
            <a:pPr marL="0" indent="0" algn="ctr">
              <a:buNone/>
            </a:pPr>
            <a:r>
              <a:rPr lang="en-US" sz="1300" b="1" dirty="0">
                <a:solidFill>
                  <a:srgbClr val="C2521C"/>
                </a:solidFill>
                <a:latin typeface="Consolas" pitchFamily="34" charset="0"/>
                <a:ea typeface="Consolas" pitchFamily="34" charset="-122"/>
                <a:cs typeface="Consolas" pitchFamily="34" charset="-120"/>
              </a:rPr>
              <a:t>20 km / 30° / 0°</a:t>
            </a:r>
            <a:endParaRPr lang="en-US" sz="1300" dirty="0"/>
          </a:p>
        </p:txBody>
      </p:sp>
      <p:sp>
        <p:nvSpPr>
          <p:cNvPr id="27" name="Text 24"/>
          <p:cNvSpPr txBox="1"/>
          <p:nvPr/>
        </p:nvSpPr>
        <p:spPr>
          <a:xfrm>
            <a:off x="566928" y="5870448"/>
            <a:ext cx="11064240" cy="365760"/>
          </a:xfrm>
          <a:prstGeom prst="rect">
            <a:avLst/>
          </a:prstGeom>
          <a:noFill/>
          <a:ln/>
        </p:spPr>
        <p:txBody>
          <a:bodyPr wrap="square" lIns="0" tIns="0" rIns="0" bIns="0" rtlCol="0" anchor="ctr"/>
          <a:lstStyle/>
          <a:p>
            <a:pPr marL="0" indent="0" algn="ctr">
              <a:buNone/>
            </a:pPr>
            <a:r>
              <a:rPr lang="en-US" sz="1300" i="1" dirty="0">
                <a:solidFill>
                  <a:srgbClr val="5A6478"/>
                </a:solidFill>
                <a:latin typeface="맑은 고딕" pitchFamily="34" charset="0"/>
                <a:ea typeface="맑은 고딕" pitchFamily="34" charset="-122"/>
                <a:cs typeface="맑은 고딕" pitchFamily="34" charset="-120"/>
              </a:rPr>
              <a:t>보어사이트 = 안테나가 똑바로 바라보는 방향.  Az · El 은 전부 이 방향을 0 으로 놓고 잰 각이라, 배가 어느 쪽을 향하는지는 아직 들어오지 않습니다.</a:t>
            </a:r>
            <a:endParaRPr lang="en-US" sz="1300" dirty="0"/>
          </a:p>
        </p:txBody>
      </p:sp>
      <p:sp>
        <p:nvSpPr>
          <p:cNvPr id="29" name="Rectangle 28"/>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endParaRPr/>
          </a:p>
        </p:txBody>
      </p:sp>
      <p:sp>
        <p:nvSpPr>
          <p:cNvPr id="30" name="TextBox 29"/>
          <p:cNvSpPr txBox="1"/>
          <p:nvPr/>
        </p:nvSpPr>
        <p:spPr>
          <a:xfrm>
            <a:off x="640080" y="411480"/>
            <a:ext cx="8732520" cy="777240"/>
          </a:xfrm>
          <a:prstGeom prst="rect">
            <a:avLst/>
          </a:prstGeom>
          <a:noFill/>
        </p:spPr>
        <p:txBody>
          <a:bodyPr wrap="square" lIns="0" tIns="0" rIns="0" bIns="0" anchor="ctr">
            <a:spAutoFit/>
          </a:bodyPr>
          <a:lstStyle/>
          <a:p>
            <a:pPr algn="l">
              <a:spcAft>
                <a:spcPts val="300"/>
              </a:spcAft>
            </a:pPr>
            <a:r>
              <a:rPr sz="1900" b="1">
                <a:solidFill>
                  <a:srgbClr val="FFFFFF"/>
                </a:solidFill>
                <a:latin typeface="맑은 고딕"/>
              </a:rPr>
              <a:t>01. 안테나 좌표계 ①  극좌표 (Polar)</a:t>
            </a:r>
          </a:p>
          <a:p>
            <a:pPr algn="l">
              <a:lnSpc>
                <a:spcPts val="1400"/>
              </a:lnSpc>
            </a:pPr>
            <a:r>
              <a:rPr sz="1100" b="0">
                <a:solidFill>
                  <a:srgbClr val="C9D6EC"/>
                </a:solidFill>
                <a:latin typeface="맑은 고딕"/>
              </a:rPr>
              <a:t>레이다가 물리적으로 잴 수 있는 것 — 거리 하나와 각도 둘.  기준은 안테나 자기 정면(보어사이트)입니다</a:t>
            </a:r>
          </a:p>
        </p:txBody>
      </p:sp>
      <p:cxnSp>
        <p:nvCxnSpPr>
          <p:cNvPr id="32" name="Connector 31"/>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669280" y="6400800"/>
            <a:ext cx="914400" cy="274320"/>
          </a:xfrm>
          <a:prstGeom prst="rect">
            <a:avLst/>
          </a:prstGeom>
          <a:noFill/>
        </p:spPr>
        <p:txBody>
          <a:bodyPr wrap="none" lIns="0" tIns="0" rIns="0" bIns="0">
            <a:spAutoFit/>
          </a:bodyPr>
          <a:lstStyle/>
          <a:p>
            <a:pPr algn="ctr"/>
            <a:fld id="{1D0B0B0B-0000-4000-8000-00000000C0DE}" type="slidenum">
              <a:rPr lang="ko-KR" altLang="en-US" sz="1000" b="0" dirty="0">
                <a:solidFill>
                  <a:srgbClr val="1A2233"/>
                </a:solidFill>
                <a:latin typeface="Arial"/>
                <a:ea typeface="Arial"/>
              </a:rPr>
              <a:t>7</a:t>
            </a:fld>
            <a:endParaRPr lang="ko-KR" altLang="en-US" sz="1000" b="0" dirty="0">
              <a:solidFill>
                <a:srgbClr val="1A2233"/>
              </a:solidFill>
              <a:latin typeface="Arial"/>
              <a:ea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E8EDF5"/>
        </a:solidFill>
        <a:effectLst/>
      </p:bgPr>
    </p:bg>
    <p:spTree>
      <p:nvGrpSpPr>
        <p:cNvPr id="1" name=""/>
        <p:cNvGrpSpPr/>
        <p:nvPr/>
      </p:nvGrpSpPr>
      <p:grpSpPr>
        <a:xfrm>
          <a:off x="0" y="0"/>
          <a:ext cx="0" cy="0"/>
          <a:chOff x="0" y="0"/>
          <a:chExt cx="0" cy="0"/>
        </a:xfrm>
      </p:grpSpPr>
      <p:sp>
        <p:nvSpPr>
          <p:cNvPr id="31" name="Rectangle 30"/>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endParaRPr/>
          </a:p>
        </p:txBody>
      </p:sp>
      <p:sp>
        <p:nvSpPr>
          <p:cNvPr id="4" name="Shape 2"/>
          <p:cNvSpPr/>
          <p:nvPr/>
        </p:nvSpPr>
        <p:spPr>
          <a:xfrm>
            <a:off x="2112264" y="1371600"/>
            <a:ext cx="1170432" cy="329184"/>
          </a:xfrm>
          <a:prstGeom prst="roundRect">
            <a:avLst>
              <a:gd name="adj" fmla="val 47222"/>
            </a:avLst>
          </a:prstGeom>
          <a:solidFill>
            <a:srgbClr val="EEF1F7"/>
          </a:solidFill>
          <a:ln w="12700">
            <a:solidFill>
              <a:srgbClr val="C9D6EC"/>
            </a:solidFill>
            <a:prstDash val="solid"/>
          </a:ln>
        </p:spPr>
        <p:txBody>
          <a:bodyPr/>
          <a:lstStyle/>
          <a:p>
            <a:endParaRPr/>
          </a:p>
        </p:txBody>
      </p:sp>
      <p:sp>
        <p:nvSpPr>
          <p:cNvPr id="5" name="Text 3"/>
          <p:cNvSpPr txBox="1"/>
          <p:nvPr/>
        </p:nvSpPr>
        <p:spPr>
          <a:xfrm>
            <a:off x="2112264" y="1371600"/>
            <a:ext cx="1170432" cy="329184"/>
          </a:xfrm>
          <a:prstGeom prst="rect">
            <a:avLst/>
          </a:prstGeom>
          <a:noFill/>
          <a:ln/>
        </p:spPr>
        <p:txBody>
          <a:bodyPr wrap="square" lIns="0" tIns="0" rIns="0" bIns="0" rtlCol="0" anchor="ctr"/>
          <a:lstStyle/>
          <a:p>
            <a:pPr marL="0" indent="0" algn="ctr">
              <a:buNone/>
            </a:pPr>
            <a:r>
              <a:rPr lang="en-US" sz="1100" dirty="0">
                <a:solidFill>
                  <a:srgbClr val="5A6478"/>
                </a:solidFill>
                <a:latin typeface="맑은 고딕" pitchFamily="34" charset="0"/>
                <a:ea typeface="맑은 고딕" pitchFamily="34" charset="-122"/>
                <a:cs typeface="맑은 고딕" pitchFamily="34" charset="-120"/>
              </a:rPr>
              <a:t>측정</a:t>
            </a:r>
            <a:endParaRPr lang="en-US" sz="1100" dirty="0"/>
          </a:p>
        </p:txBody>
      </p:sp>
      <p:sp>
        <p:nvSpPr>
          <p:cNvPr id="6" name="Text 4"/>
          <p:cNvSpPr txBox="1"/>
          <p:nvPr/>
        </p:nvSpPr>
        <p:spPr>
          <a:xfrm>
            <a:off x="3282696" y="1371600"/>
            <a:ext cx="182880" cy="329184"/>
          </a:xfrm>
          <a:prstGeom prst="rect">
            <a:avLst/>
          </a:prstGeom>
          <a:noFill/>
          <a:ln/>
        </p:spPr>
        <p:txBody>
          <a:bodyPr wrap="square" lIns="0" tIns="0" rIns="0" bIns="0" rtlCol="0" anchor="ctr"/>
          <a:lstStyle/>
          <a:p>
            <a:pPr marL="0" indent="0" algn="ctr">
              <a:buNone/>
            </a:pPr>
            <a:r>
              <a:rPr lang="en-US" sz="1000" dirty="0">
                <a:solidFill>
                  <a:srgbClr val="C9D6EC"/>
                </a:solidFill>
              </a:rPr>
              <a:t>▸</a:t>
            </a:r>
            <a:endParaRPr lang="en-US" sz="1000" dirty="0"/>
          </a:p>
        </p:txBody>
      </p:sp>
      <p:sp>
        <p:nvSpPr>
          <p:cNvPr id="7" name="Shape 5"/>
          <p:cNvSpPr/>
          <p:nvPr/>
        </p:nvSpPr>
        <p:spPr>
          <a:xfrm>
            <a:off x="3465576" y="1371600"/>
            <a:ext cx="1170432" cy="329184"/>
          </a:xfrm>
          <a:prstGeom prst="roundRect">
            <a:avLst>
              <a:gd name="adj" fmla="val 47222"/>
            </a:avLst>
          </a:prstGeom>
          <a:solidFill>
            <a:srgbClr val="C2521C"/>
          </a:solidFill>
          <a:ln w="12700">
            <a:solidFill>
              <a:srgbClr val="C2521C"/>
            </a:solidFill>
            <a:prstDash val="solid"/>
          </a:ln>
        </p:spPr>
        <p:txBody>
          <a:bodyPr/>
          <a:lstStyle/>
          <a:p>
            <a:endParaRPr/>
          </a:p>
        </p:txBody>
      </p:sp>
      <p:sp>
        <p:nvSpPr>
          <p:cNvPr id="8" name="Text 6"/>
          <p:cNvSpPr txBox="1"/>
          <p:nvPr/>
        </p:nvSpPr>
        <p:spPr>
          <a:xfrm>
            <a:off x="3465576" y="1371600"/>
            <a:ext cx="1170432" cy="329184"/>
          </a:xfrm>
          <a:prstGeom prst="rect">
            <a:avLst/>
          </a:prstGeom>
          <a:noFill/>
          <a:ln/>
        </p:spPr>
        <p:txBody>
          <a:bodyPr wrap="square" lIns="0" tIns="0" rIns="0" bIns="0" rtlCol="0" anchor="ctr"/>
          <a:lstStyle/>
          <a:p>
            <a:pPr marL="0" indent="0" algn="ctr">
              <a:buNone/>
            </a:pPr>
            <a:r>
              <a:rPr lang="en-US" sz="1100" b="1" dirty="0">
                <a:solidFill>
                  <a:srgbClr val="FFFFFF"/>
                </a:solidFill>
                <a:latin typeface="맑은 고딕" pitchFamily="34" charset="0"/>
                <a:ea typeface="맑은 고딕" pitchFamily="34" charset="-122"/>
                <a:cs typeface="맑은 고딕" pitchFamily="34" charset="-120"/>
              </a:rPr>
              <a:t>안테나</a:t>
            </a:r>
            <a:endParaRPr lang="en-US" sz="1100" dirty="0"/>
          </a:p>
        </p:txBody>
      </p:sp>
      <p:sp>
        <p:nvSpPr>
          <p:cNvPr id="9" name="Text 7"/>
          <p:cNvSpPr txBox="1"/>
          <p:nvPr/>
        </p:nvSpPr>
        <p:spPr>
          <a:xfrm>
            <a:off x="4636008" y="1371600"/>
            <a:ext cx="182880" cy="329184"/>
          </a:xfrm>
          <a:prstGeom prst="rect">
            <a:avLst/>
          </a:prstGeom>
          <a:noFill/>
          <a:ln/>
        </p:spPr>
        <p:txBody>
          <a:bodyPr wrap="square" lIns="0" tIns="0" rIns="0" bIns="0" rtlCol="0" anchor="ctr"/>
          <a:lstStyle/>
          <a:p>
            <a:pPr marL="0" indent="0" algn="ctr">
              <a:buNone/>
            </a:pPr>
            <a:r>
              <a:rPr lang="en-US" sz="1000" dirty="0">
                <a:solidFill>
                  <a:srgbClr val="C9D6EC"/>
                </a:solidFill>
              </a:rPr>
              <a:t>▸</a:t>
            </a:r>
            <a:endParaRPr lang="en-US" sz="1000" dirty="0"/>
          </a:p>
        </p:txBody>
      </p:sp>
      <p:sp>
        <p:nvSpPr>
          <p:cNvPr id="10" name="Shape 8"/>
          <p:cNvSpPr/>
          <p:nvPr/>
        </p:nvSpPr>
        <p:spPr>
          <a:xfrm>
            <a:off x="4818888" y="1371600"/>
            <a:ext cx="1170432" cy="329184"/>
          </a:xfrm>
          <a:prstGeom prst="roundRect">
            <a:avLst>
              <a:gd name="adj" fmla="val 47222"/>
            </a:avLst>
          </a:prstGeom>
          <a:solidFill>
            <a:srgbClr val="EEF1F7"/>
          </a:solidFill>
          <a:ln w="12700">
            <a:solidFill>
              <a:srgbClr val="C9D6EC"/>
            </a:solidFill>
            <a:prstDash val="solid"/>
          </a:ln>
        </p:spPr>
        <p:txBody>
          <a:bodyPr/>
          <a:lstStyle/>
          <a:p>
            <a:endParaRPr/>
          </a:p>
        </p:txBody>
      </p:sp>
      <p:sp>
        <p:nvSpPr>
          <p:cNvPr id="11" name="Text 9"/>
          <p:cNvSpPr txBox="1"/>
          <p:nvPr/>
        </p:nvSpPr>
        <p:spPr>
          <a:xfrm>
            <a:off x="4818888" y="1371600"/>
            <a:ext cx="1170432" cy="329184"/>
          </a:xfrm>
          <a:prstGeom prst="rect">
            <a:avLst/>
          </a:prstGeom>
          <a:noFill/>
          <a:ln/>
        </p:spPr>
        <p:txBody>
          <a:bodyPr wrap="square" lIns="0" tIns="0" rIns="0" bIns="0" rtlCol="0" anchor="ctr"/>
          <a:lstStyle/>
          <a:p>
            <a:pPr marL="0" indent="0" algn="ctr">
              <a:buNone/>
            </a:pPr>
            <a:r>
              <a:rPr lang="en-US" sz="1100" dirty="0">
                <a:solidFill>
                  <a:srgbClr val="5A6478"/>
                </a:solidFill>
                <a:latin typeface="맑은 고딕" pitchFamily="34" charset="0"/>
                <a:ea typeface="맑은 고딕" pitchFamily="34" charset="-122"/>
                <a:cs typeface="맑은 고딕" pitchFamily="34" charset="-120"/>
              </a:rPr>
              <a:t>동체</a:t>
            </a:r>
            <a:endParaRPr lang="en-US" sz="1100" dirty="0"/>
          </a:p>
        </p:txBody>
      </p:sp>
      <p:sp>
        <p:nvSpPr>
          <p:cNvPr id="12" name="Text 10"/>
          <p:cNvSpPr txBox="1"/>
          <p:nvPr/>
        </p:nvSpPr>
        <p:spPr>
          <a:xfrm>
            <a:off x="5989320" y="1371600"/>
            <a:ext cx="182880" cy="329184"/>
          </a:xfrm>
          <a:prstGeom prst="rect">
            <a:avLst/>
          </a:prstGeom>
          <a:noFill/>
          <a:ln/>
        </p:spPr>
        <p:txBody>
          <a:bodyPr wrap="square" lIns="0" tIns="0" rIns="0" bIns="0" rtlCol="0" anchor="ctr"/>
          <a:lstStyle/>
          <a:p>
            <a:pPr marL="0" indent="0" algn="ctr">
              <a:buNone/>
            </a:pPr>
            <a:r>
              <a:rPr lang="en-US" sz="1000" dirty="0">
                <a:solidFill>
                  <a:srgbClr val="C9D6EC"/>
                </a:solidFill>
              </a:rPr>
              <a:t>▸</a:t>
            </a:r>
            <a:endParaRPr lang="en-US" sz="1000" dirty="0"/>
          </a:p>
        </p:txBody>
      </p:sp>
      <p:sp>
        <p:nvSpPr>
          <p:cNvPr id="13" name="Shape 11"/>
          <p:cNvSpPr/>
          <p:nvPr/>
        </p:nvSpPr>
        <p:spPr>
          <a:xfrm>
            <a:off x="6172200" y="1371600"/>
            <a:ext cx="1170432" cy="329184"/>
          </a:xfrm>
          <a:prstGeom prst="roundRect">
            <a:avLst>
              <a:gd name="adj" fmla="val 47222"/>
            </a:avLst>
          </a:prstGeom>
          <a:solidFill>
            <a:srgbClr val="EEF1F7"/>
          </a:solidFill>
          <a:ln w="12700">
            <a:solidFill>
              <a:srgbClr val="C9D6EC"/>
            </a:solidFill>
            <a:prstDash val="solid"/>
          </a:ln>
        </p:spPr>
        <p:txBody>
          <a:bodyPr/>
          <a:lstStyle/>
          <a:p>
            <a:endParaRPr/>
          </a:p>
        </p:txBody>
      </p:sp>
      <p:sp>
        <p:nvSpPr>
          <p:cNvPr id="14" name="Text 12"/>
          <p:cNvSpPr txBox="1"/>
          <p:nvPr/>
        </p:nvSpPr>
        <p:spPr>
          <a:xfrm>
            <a:off x="6172200" y="1371600"/>
            <a:ext cx="1170432" cy="329184"/>
          </a:xfrm>
          <a:prstGeom prst="rect">
            <a:avLst/>
          </a:prstGeom>
          <a:noFill/>
          <a:ln/>
        </p:spPr>
        <p:txBody>
          <a:bodyPr wrap="square" lIns="0" tIns="0" rIns="0" bIns="0" rtlCol="0" anchor="ctr"/>
          <a:lstStyle/>
          <a:p>
            <a:pPr marL="0" indent="0" algn="ctr">
              <a:buNone/>
            </a:pPr>
            <a:r>
              <a:rPr lang="en-US" sz="1100" dirty="0">
                <a:solidFill>
                  <a:srgbClr val="5A6478"/>
                </a:solidFill>
                <a:latin typeface="맑은 고딕" pitchFamily="34" charset="0"/>
                <a:ea typeface="맑은 고딕" pitchFamily="34" charset="-122"/>
                <a:cs typeface="맑은 고딕" pitchFamily="34" charset="-120"/>
              </a:rPr>
              <a:t>NED</a:t>
            </a:r>
            <a:endParaRPr lang="en-US" sz="1100" dirty="0"/>
          </a:p>
        </p:txBody>
      </p:sp>
      <p:sp>
        <p:nvSpPr>
          <p:cNvPr id="15" name="Text 13"/>
          <p:cNvSpPr txBox="1"/>
          <p:nvPr/>
        </p:nvSpPr>
        <p:spPr>
          <a:xfrm>
            <a:off x="7342632" y="1371600"/>
            <a:ext cx="182880" cy="329184"/>
          </a:xfrm>
          <a:prstGeom prst="rect">
            <a:avLst/>
          </a:prstGeom>
          <a:noFill/>
          <a:ln/>
        </p:spPr>
        <p:txBody>
          <a:bodyPr wrap="square" lIns="0" tIns="0" rIns="0" bIns="0" rtlCol="0" anchor="ctr"/>
          <a:lstStyle/>
          <a:p>
            <a:pPr marL="0" indent="0" algn="ctr">
              <a:buNone/>
            </a:pPr>
            <a:r>
              <a:rPr lang="en-US" sz="1000" dirty="0">
                <a:solidFill>
                  <a:srgbClr val="C9D6EC"/>
                </a:solidFill>
              </a:rPr>
              <a:t>▸</a:t>
            </a:r>
            <a:endParaRPr lang="en-US" sz="1000" dirty="0"/>
          </a:p>
        </p:txBody>
      </p:sp>
      <p:sp>
        <p:nvSpPr>
          <p:cNvPr id="16" name="Shape 14"/>
          <p:cNvSpPr/>
          <p:nvPr/>
        </p:nvSpPr>
        <p:spPr>
          <a:xfrm>
            <a:off x="7525512" y="1371600"/>
            <a:ext cx="1170432" cy="329184"/>
          </a:xfrm>
          <a:prstGeom prst="roundRect">
            <a:avLst>
              <a:gd name="adj" fmla="val 47222"/>
            </a:avLst>
          </a:prstGeom>
          <a:solidFill>
            <a:srgbClr val="EEF1F7"/>
          </a:solidFill>
          <a:ln w="12700">
            <a:solidFill>
              <a:srgbClr val="C9D6EC"/>
            </a:solidFill>
            <a:prstDash val="solid"/>
          </a:ln>
        </p:spPr>
        <p:txBody>
          <a:bodyPr/>
          <a:lstStyle/>
          <a:p>
            <a:endParaRPr/>
          </a:p>
        </p:txBody>
      </p:sp>
      <p:sp>
        <p:nvSpPr>
          <p:cNvPr id="17" name="Text 15"/>
          <p:cNvSpPr txBox="1"/>
          <p:nvPr/>
        </p:nvSpPr>
        <p:spPr>
          <a:xfrm>
            <a:off x="7525512" y="1371600"/>
            <a:ext cx="1170432" cy="329184"/>
          </a:xfrm>
          <a:prstGeom prst="rect">
            <a:avLst/>
          </a:prstGeom>
          <a:noFill/>
          <a:ln/>
        </p:spPr>
        <p:txBody>
          <a:bodyPr wrap="square" lIns="0" tIns="0" rIns="0" bIns="0" rtlCol="0" anchor="ctr"/>
          <a:lstStyle/>
          <a:p>
            <a:pPr marL="0" indent="0" algn="ctr">
              <a:buNone/>
            </a:pPr>
            <a:r>
              <a:rPr lang="en-US" sz="1100" dirty="0">
                <a:solidFill>
                  <a:srgbClr val="5A6478"/>
                </a:solidFill>
                <a:latin typeface="맑은 고딕" pitchFamily="34" charset="0"/>
                <a:ea typeface="맑은 고딕" pitchFamily="34" charset="-122"/>
                <a:cs typeface="맑은 고딕" pitchFamily="34" charset="-120"/>
              </a:rPr>
              <a:t>ECEF</a:t>
            </a:r>
            <a:endParaRPr lang="en-US" sz="1100" dirty="0"/>
          </a:p>
        </p:txBody>
      </p:sp>
      <p:sp>
        <p:nvSpPr>
          <p:cNvPr id="18" name="Text 16"/>
          <p:cNvSpPr txBox="1"/>
          <p:nvPr/>
        </p:nvSpPr>
        <p:spPr>
          <a:xfrm>
            <a:off x="8695944" y="1371600"/>
            <a:ext cx="182880" cy="329184"/>
          </a:xfrm>
          <a:prstGeom prst="rect">
            <a:avLst/>
          </a:prstGeom>
          <a:noFill/>
          <a:ln/>
        </p:spPr>
        <p:txBody>
          <a:bodyPr wrap="square" lIns="0" tIns="0" rIns="0" bIns="0" rtlCol="0" anchor="ctr"/>
          <a:lstStyle/>
          <a:p>
            <a:pPr marL="0" indent="0" algn="ctr">
              <a:buNone/>
            </a:pPr>
            <a:r>
              <a:rPr lang="en-US" sz="1000" dirty="0">
                <a:solidFill>
                  <a:srgbClr val="C9D6EC"/>
                </a:solidFill>
              </a:rPr>
              <a:t>▸</a:t>
            </a:r>
            <a:endParaRPr lang="en-US" sz="1000" dirty="0"/>
          </a:p>
        </p:txBody>
      </p:sp>
      <p:sp>
        <p:nvSpPr>
          <p:cNvPr id="19" name="Shape 17"/>
          <p:cNvSpPr/>
          <p:nvPr/>
        </p:nvSpPr>
        <p:spPr>
          <a:xfrm>
            <a:off x="8878824" y="1371600"/>
            <a:ext cx="1170432" cy="329184"/>
          </a:xfrm>
          <a:prstGeom prst="roundRect">
            <a:avLst>
              <a:gd name="adj" fmla="val 47222"/>
            </a:avLst>
          </a:prstGeom>
          <a:solidFill>
            <a:srgbClr val="EEF1F7"/>
          </a:solidFill>
          <a:ln w="12700">
            <a:solidFill>
              <a:srgbClr val="C9D6EC"/>
            </a:solidFill>
            <a:prstDash val="solid"/>
          </a:ln>
        </p:spPr>
        <p:txBody>
          <a:bodyPr/>
          <a:lstStyle/>
          <a:p>
            <a:endParaRPr/>
          </a:p>
        </p:txBody>
      </p:sp>
      <p:sp>
        <p:nvSpPr>
          <p:cNvPr id="20" name="Text 18"/>
          <p:cNvSpPr txBox="1"/>
          <p:nvPr/>
        </p:nvSpPr>
        <p:spPr>
          <a:xfrm>
            <a:off x="8878824" y="1371600"/>
            <a:ext cx="1170432" cy="329184"/>
          </a:xfrm>
          <a:prstGeom prst="rect">
            <a:avLst/>
          </a:prstGeom>
          <a:noFill/>
          <a:ln/>
        </p:spPr>
        <p:txBody>
          <a:bodyPr wrap="square" lIns="0" tIns="0" rIns="0" bIns="0" rtlCol="0" anchor="ctr"/>
          <a:lstStyle/>
          <a:p>
            <a:pPr marL="0" indent="0" algn="ctr">
              <a:buNone/>
            </a:pPr>
            <a:r>
              <a:rPr lang="en-US" sz="1100" dirty="0">
                <a:solidFill>
                  <a:srgbClr val="5A6478"/>
                </a:solidFill>
                <a:latin typeface="맑은 고딕" pitchFamily="34" charset="0"/>
                <a:ea typeface="맑은 고딕" pitchFamily="34" charset="-122"/>
                <a:cs typeface="맑은 고딕" pitchFamily="34" charset="-120"/>
              </a:rPr>
              <a:t>LLA</a:t>
            </a:r>
            <a:endParaRPr lang="en-US" sz="1100" dirty="0"/>
          </a:p>
        </p:txBody>
      </p:sp>
      <p:sp>
        <p:nvSpPr>
          <p:cNvPr id="32" name="Rectangle 31"/>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endParaRPr/>
          </a:p>
        </p:txBody>
      </p:sp>
      <p:sp>
        <p:nvSpPr>
          <p:cNvPr id="33" name="TextBox 32"/>
          <p:cNvSpPr txBox="1"/>
          <p:nvPr/>
        </p:nvSpPr>
        <p:spPr>
          <a:xfrm>
            <a:off x="640080" y="411480"/>
            <a:ext cx="8732520" cy="777240"/>
          </a:xfrm>
          <a:prstGeom prst="rect">
            <a:avLst/>
          </a:prstGeom>
          <a:noFill/>
        </p:spPr>
        <p:txBody>
          <a:bodyPr wrap="square" lIns="0" tIns="0" rIns="0" bIns="0" anchor="ctr">
            <a:spAutoFit/>
          </a:bodyPr>
          <a:lstStyle/>
          <a:p>
            <a:pPr algn="l">
              <a:spcAft>
                <a:spcPts val="300"/>
              </a:spcAft>
            </a:pPr>
            <a:r>
              <a:rPr sz="1900" b="1">
                <a:solidFill>
                  <a:srgbClr val="FFFFFF"/>
                </a:solidFill>
                <a:latin typeface="맑은 고딕"/>
              </a:rPr>
              <a:t>01. 안테나 좌표계 ②  직교좌표 (Cartesian)</a:t>
            </a:r>
          </a:p>
          <a:p>
            <a:pPr algn="l">
              <a:lnSpc>
                <a:spcPts val="1400"/>
              </a:lnSpc>
            </a:pPr>
            <a:r>
              <a:rPr sz="1100" b="0">
                <a:solidFill>
                  <a:srgbClr val="C9D6EC"/>
                </a:solidFill>
                <a:latin typeface="맑은 고딕"/>
              </a:rPr>
              <a:t>같은 표적을 각도 대신 세 축 방향 거리 (x · y · z) 로 적은 것.  회전행렬은 벡터에만 곱할 수 있어서 이 표기가 필요합니다</a:t>
            </a:r>
          </a:p>
        </p:txBody>
      </p:sp>
      <p:cxnSp>
        <p:nvCxnSpPr>
          <p:cNvPr id="35" name="Connector 34"/>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0" y="6400800"/>
            <a:ext cx="914400" cy="274320"/>
          </a:xfrm>
          <a:prstGeom prst="rect">
            <a:avLst/>
          </a:prstGeom>
          <a:noFill/>
        </p:spPr>
        <p:txBody>
          <a:bodyPr wrap="none" lIns="0" tIns="0" rIns="0" bIns="0">
            <a:spAutoFit/>
          </a:bodyPr>
          <a:lstStyle/>
          <a:p>
            <a:pPr algn="ctr"/>
            <a:fld id="{1D0B0B0B-0000-4000-8000-00000000C0DE}" type="slidenum">
              <a:rPr lang="ko-KR" altLang="en-US" sz="1000" b="0" dirty="0">
                <a:solidFill>
                  <a:srgbClr val="1A2233"/>
                </a:solidFill>
                <a:latin typeface="Arial"/>
                <a:ea typeface="Arial"/>
              </a:rPr>
              <a:t>8</a:t>
            </a:fld>
            <a:endParaRPr lang="ko-KR" altLang="en-US" sz="1000" b="0" dirty="0">
              <a:solidFill>
                <a:srgbClr val="1A2233"/>
              </a:solidFill>
              <a:latin typeface="Arial"/>
              <a:ea typeface="Arial"/>
            </a:endParaRPr>
          </a:p>
        </p:txBody>
      </p:sp>
      <p:pic>
        <p:nvPicPr>
          <p:cNvPr id="38" name="Picture 37" descr="fig17_cartesian.png"/>
          <p:cNvPicPr>
            <a:picLocks noChangeAspect="1"/>
          </p:cNvPicPr>
          <p:nvPr/>
        </p:nvPicPr>
        <p:blipFill>
          <a:blip r:embed="rId3"/>
          <a:stretch>
            <a:fillRect/>
          </a:stretch>
        </p:blipFill>
        <p:spPr>
          <a:xfrm>
            <a:off x="566928" y="1773936"/>
            <a:ext cx="7187184" cy="3825437"/>
          </a:xfrm>
          <a:prstGeom prst="rect">
            <a:avLst/>
          </a:prstGeom>
        </p:spPr>
      </p:pic>
      <p:sp>
        <p:nvSpPr>
          <p:cNvPr id="42" name="Shape 22"/>
          <p:cNvSpPr/>
          <p:nvPr/>
        </p:nvSpPr>
        <p:spPr>
          <a:xfrm>
            <a:off x="7823134" y="3244645"/>
            <a:ext cx="3749039" cy="2354727"/>
          </a:xfrm>
          <a:prstGeom prst="roundRect">
            <a:avLst>
              <a:gd name="adj" fmla="val 2105"/>
            </a:avLst>
          </a:prstGeom>
          <a:solidFill>
            <a:srgbClr val="EEF1F7"/>
          </a:solidFill>
          <a:ln w="12700">
            <a:solidFill>
              <a:srgbClr val="FFFFFF"/>
            </a:solidFill>
            <a:prstDash val="solid"/>
          </a:ln>
        </p:spPr>
        <p:txBody>
          <a:bodyPr/>
          <a:lstStyle/>
          <a:p>
            <a:endParaRPr/>
          </a:p>
        </p:txBody>
      </p:sp>
      <p:sp>
        <p:nvSpPr>
          <p:cNvPr id="43" name="Text 23"/>
          <p:cNvSpPr txBox="1"/>
          <p:nvPr/>
        </p:nvSpPr>
        <p:spPr>
          <a:xfrm>
            <a:off x="8101583" y="3517265"/>
            <a:ext cx="3310128" cy="338778"/>
          </a:xfrm>
          <a:prstGeom prst="rect">
            <a:avLst/>
          </a:prstGeom>
          <a:noFill/>
          <a:ln/>
        </p:spPr>
        <p:txBody>
          <a:bodyPr wrap="square" lIns="0" tIns="0" rIns="0" bIns="0" rtlCol="0" anchor="ctr"/>
          <a:lstStyle/>
          <a:p>
            <a:pPr marL="0" indent="0">
              <a:buNone/>
            </a:pPr>
            <a:r>
              <a:rPr lang="ko-KR" sz="1500" b="1" dirty="0">
                <a:solidFill>
                  <a:srgbClr val="2B57A6"/>
                </a:solidFill>
                <a:latin typeface="맑은 고딕" pitchFamily="34" charset="0"/>
                <a:ea typeface="맑은 고딕" pitchFamily="34" charset="-122"/>
                <a:cs typeface="맑은 고딕" pitchFamily="34" charset="-120"/>
              </a:rPr>
              <a:t>공식</a:t>
            </a:r>
          </a:p>
        </p:txBody>
      </p:sp>
      <p:sp>
        <p:nvSpPr>
          <p:cNvPr id="44" name="Text 24"/>
          <p:cNvSpPr txBox="1"/>
          <p:nvPr/>
        </p:nvSpPr>
        <p:spPr>
          <a:xfrm>
            <a:off x="8101583" y="4125704"/>
            <a:ext cx="3310128" cy="918244"/>
          </a:xfrm>
          <a:prstGeom prst="rect">
            <a:avLst/>
          </a:prstGeom>
          <a:noFill/>
          <a:ln/>
        </p:spPr>
        <p:txBody>
          <a:bodyPr wrap="square" lIns="0" tIns="0" rIns="0" bIns="0" rtlCol="0" anchor="t"/>
          <a:lstStyle/>
          <a:p>
            <a:pPr marL="0" indent="0">
              <a:lnSpc>
                <a:spcPts val="1700"/>
              </a:lnSpc>
              <a:buNone/>
            </a:pPr>
            <a:r>
              <a:rPr lang="ko-KR" sz="1300" b="0" dirty="0">
                <a:solidFill>
                  <a:srgbClr val="1A2233"/>
                </a:solidFill>
                <a:latin typeface="Consolas" pitchFamily="34" charset="0"/>
                <a:ea typeface="Consolas" pitchFamily="34" charset="-122"/>
                <a:cs typeface="Consolas" pitchFamily="34" charset="-120"/>
              </a:rPr>
              <a:t>x = R cos(El) sin(Az)</a:t>
            </a:r>
          </a:p>
          <a:p>
            <a:pPr marL="0" indent="0">
              <a:lnSpc>
                <a:spcPts val="1700"/>
              </a:lnSpc>
              <a:buNone/>
            </a:pPr>
            <a:r>
              <a:rPr lang="ko-KR" sz="1300" b="0" dirty="0">
                <a:solidFill>
                  <a:srgbClr val="1A2233"/>
                </a:solidFill>
                <a:latin typeface="Consolas" pitchFamily="34" charset="0"/>
                <a:ea typeface="Consolas" pitchFamily="34" charset="-122"/>
                <a:cs typeface="Consolas" pitchFamily="34" charset="-120"/>
              </a:rPr>
              <a:t>y = R sin(El)</a:t>
            </a:r>
          </a:p>
          <a:p>
            <a:pPr marL="0" indent="0">
              <a:lnSpc>
                <a:spcPts val="1700"/>
              </a:lnSpc>
              <a:buNone/>
            </a:pPr>
            <a:r>
              <a:rPr lang="ko-KR" sz="1300" b="0" dirty="0">
                <a:solidFill>
                  <a:srgbClr val="1A2233"/>
                </a:solidFill>
                <a:latin typeface="Consolas" pitchFamily="34" charset="0"/>
                <a:ea typeface="Consolas" pitchFamily="34" charset="-122"/>
                <a:cs typeface="Consolas" pitchFamily="34" charset="-120"/>
              </a:rPr>
              <a:t>z = R cos(El) cos(Az</a:t>
            </a:r>
            <a:r>
              <a:rPr lang="ko-KR" sz="1300" b="0" dirty="0" smtClean="0">
                <a:solidFill>
                  <a:srgbClr val="1A2233"/>
                </a:solidFill>
                <a:latin typeface="Consolas" pitchFamily="34" charset="0"/>
                <a:ea typeface="Consolas" pitchFamily="34" charset="-122"/>
                <a:cs typeface="Consolas" pitchFamily="34" charset="-120"/>
              </a:rPr>
              <a:t>)</a:t>
            </a:r>
            <a:endParaRPr lang="ko-KR" sz="1300" b="0" dirty="0">
              <a:solidFill>
                <a:srgbClr val="1A2233"/>
              </a:solidFill>
              <a:latin typeface="Consolas" pitchFamily="34" charset="0"/>
              <a:ea typeface="Consolas" pitchFamily="34" charset="-122"/>
              <a:cs typeface="Consolas" pitchFamily="34" charset="-120"/>
            </a:endParaRPr>
          </a:p>
        </p:txBody>
      </p:sp>
      <p:sp>
        <p:nvSpPr>
          <p:cNvPr id="45" name="Shape 25"/>
          <p:cNvSpPr/>
          <p:nvPr/>
        </p:nvSpPr>
        <p:spPr>
          <a:xfrm>
            <a:off x="7823133" y="1889268"/>
            <a:ext cx="3749039" cy="1200519"/>
          </a:xfrm>
          <a:prstGeom prst="roundRect">
            <a:avLst>
              <a:gd name="adj" fmla="val 2105"/>
            </a:avLst>
          </a:prstGeom>
          <a:solidFill>
            <a:srgbClr val="EEF1F7"/>
          </a:solidFill>
          <a:ln w="12700">
            <a:solidFill>
              <a:srgbClr val="FFFFFF"/>
            </a:solidFill>
            <a:prstDash val="solid"/>
          </a:ln>
        </p:spPr>
        <p:txBody>
          <a:bodyPr/>
          <a:lstStyle/>
          <a:p>
            <a:endParaRPr/>
          </a:p>
        </p:txBody>
      </p:sp>
      <p:sp>
        <p:nvSpPr>
          <p:cNvPr id="46" name="Text 26"/>
          <p:cNvSpPr txBox="1"/>
          <p:nvPr/>
        </p:nvSpPr>
        <p:spPr>
          <a:xfrm>
            <a:off x="8042589" y="2021413"/>
            <a:ext cx="3310128" cy="380652"/>
          </a:xfrm>
          <a:prstGeom prst="rect">
            <a:avLst/>
          </a:prstGeom>
          <a:noFill/>
          <a:ln/>
        </p:spPr>
        <p:txBody>
          <a:bodyPr wrap="square" lIns="0" tIns="0" rIns="0" bIns="0" rtlCol="0" anchor="ctr"/>
          <a:lstStyle/>
          <a:p>
            <a:pPr marL="0" indent="0">
              <a:buNone/>
            </a:pPr>
            <a:r>
              <a:rPr lang="ko-KR" sz="1250" b="1" dirty="0">
                <a:solidFill>
                  <a:srgbClr val="2B57A6"/>
                </a:solidFill>
                <a:latin typeface="맑은 고딕" pitchFamily="34" charset="0"/>
                <a:ea typeface="맑은 고딕" pitchFamily="34" charset="-122"/>
                <a:cs typeface="맑은 고딕" pitchFamily="34" charset="-120"/>
              </a:rPr>
              <a:t>왜 직교좌표로 바꾸나</a:t>
            </a:r>
          </a:p>
        </p:txBody>
      </p:sp>
      <p:sp>
        <p:nvSpPr>
          <p:cNvPr id="47" name="Text 27"/>
          <p:cNvSpPr txBox="1"/>
          <p:nvPr/>
        </p:nvSpPr>
        <p:spPr>
          <a:xfrm>
            <a:off x="8042588" y="2414935"/>
            <a:ext cx="3310128" cy="475747"/>
          </a:xfrm>
          <a:prstGeom prst="rect">
            <a:avLst/>
          </a:prstGeom>
          <a:noFill/>
          <a:ln/>
        </p:spPr>
        <p:txBody>
          <a:bodyPr wrap="square" lIns="0" tIns="0" rIns="0" bIns="0" rtlCol="0" anchor="t"/>
          <a:lstStyle/>
          <a:p>
            <a:pPr marL="0" indent="0">
              <a:lnSpc>
                <a:spcPts val="1400"/>
              </a:lnSpc>
              <a:buNone/>
            </a:pPr>
            <a:r>
              <a:rPr lang="ko-KR" sz="1100" b="0" dirty="0">
                <a:solidFill>
                  <a:srgbClr val="5A6478"/>
                </a:solidFill>
                <a:latin typeface="맑은 고딕" pitchFamily="34" charset="0"/>
                <a:ea typeface="맑은 고딕" pitchFamily="34" charset="-122"/>
                <a:cs typeface="맑은 고딕" pitchFamily="34" charset="-120"/>
              </a:rPr>
              <a:t>극좌표끼리는 회전을 합성할 수 없다.</a:t>
            </a:r>
          </a:p>
          <a:p>
            <a:pPr marL="0" indent="0">
              <a:lnSpc>
                <a:spcPts val="1400"/>
              </a:lnSpc>
              <a:buNone/>
            </a:pPr>
            <a:r>
              <a:rPr lang="ko-KR" sz="1100" b="0" dirty="0">
                <a:solidFill>
                  <a:srgbClr val="5A6478"/>
                </a:solidFill>
                <a:latin typeface="맑은 고딕" pitchFamily="34" charset="0"/>
                <a:ea typeface="맑은 고딕" pitchFamily="34" charset="-122"/>
                <a:cs typeface="맑은 고딕" pitchFamily="34" charset="-120"/>
              </a:rPr>
              <a:t>회전행렬은 벡터에만 곱할 수 있다.</a:t>
            </a:r>
          </a:p>
        </p:txBody>
      </p:sp>
      <p:sp>
        <p:nvSpPr>
          <p:cNvPr id="48" name="Shape 28"/>
          <p:cNvSpPr/>
          <p:nvPr/>
        </p:nvSpPr>
        <p:spPr>
          <a:xfrm>
            <a:off x="566928" y="5687568"/>
            <a:ext cx="11064240" cy="475488"/>
          </a:xfrm>
          <a:prstGeom prst="roundRect">
            <a:avLst>
              <a:gd name="adj" fmla="val 3000"/>
            </a:avLst>
          </a:prstGeom>
          <a:solidFill>
            <a:srgbClr val="F4F6FA"/>
          </a:solidFill>
          <a:ln w="12700">
            <a:solidFill>
              <a:srgbClr val="FFFFFF"/>
            </a:solidFill>
            <a:prstDash val="solid"/>
          </a:ln>
        </p:spPr>
        <p:txBody>
          <a:bodyPr/>
          <a:lstStyle/>
          <a:p>
            <a:endParaRPr/>
          </a:p>
        </p:txBody>
      </p:sp>
      <p:sp>
        <p:nvSpPr>
          <p:cNvPr id="49" name="Text 29"/>
          <p:cNvSpPr txBox="1"/>
          <p:nvPr/>
        </p:nvSpPr>
        <p:spPr>
          <a:xfrm>
            <a:off x="786384" y="5788152"/>
            <a:ext cx="10625328" cy="274320"/>
          </a:xfrm>
          <a:prstGeom prst="rect">
            <a:avLst/>
          </a:prstGeom>
          <a:noFill/>
          <a:ln/>
        </p:spPr>
        <p:txBody>
          <a:bodyPr wrap="square" lIns="0" tIns="0" rIns="0" bIns="0" rtlCol="0" anchor="ctr"/>
          <a:lstStyle/>
          <a:p>
            <a:pPr marL="0" indent="0">
              <a:buNone/>
            </a:pPr>
            <a:r>
              <a:rPr lang="ko-KR" sz="1150" b="0" dirty="0">
                <a:solidFill>
                  <a:srgbClr val="1A2233"/>
                </a:solidFill>
                <a:latin typeface="Consolas" pitchFamily="34" charset="0"/>
                <a:ea typeface="Consolas" pitchFamily="34" charset="-122"/>
                <a:cs typeface="Consolas" pitchFamily="34" charset="-120"/>
              </a:rPr>
              <a:t>예제값  R = 20,000 m · Az = 30° · El = 0°   →   x = +10,000.0000 m,   y = 0.0000 m,   z = +17,320.5081 m ( = 10,000√3 )</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2">
    <p:bg>
      <p:bgPr>
        <a:solidFill>
          <a:srgbClr val="E8EDF5"/>
        </a:solidFill>
        <a:effectLst/>
      </p:bgPr>
    </p:bg>
    <p:spTree>
      <p:nvGrpSpPr>
        <p:cNvPr id="1" name=""/>
        <p:cNvGrpSpPr/>
        <p:nvPr/>
      </p:nvGrpSpPr>
      <p:grpSpPr>
        <a:xfrm>
          <a:off x="0" y="0"/>
          <a:ext cx="0" cy="0"/>
          <a:chOff x="0" y="0"/>
          <a:chExt cx="0" cy="0"/>
        </a:xfrm>
      </p:grpSpPr>
      <p:sp>
        <p:nvSpPr>
          <p:cNvPr id="30" name="Rectangle 29"/>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endParaRPr/>
          </a:p>
        </p:txBody>
      </p:sp>
      <p:sp>
        <p:nvSpPr>
          <p:cNvPr id="4" name="Shape 2"/>
          <p:cNvSpPr/>
          <p:nvPr/>
        </p:nvSpPr>
        <p:spPr>
          <a:xfrm>
            <a:off x="2112264" y="1371600"/>
            <a:ext cx="1170432" cy="300903"/>
          </a:xfrm>
          <a:prstGeom prst="roundRect">
            <a:avLst>
              <a:gd name="adj" fmla="val 47222"/>
            </a:avLst>
          </a:prstGeom>
          <a:solidFill>
            <a:srgbClr val="EEF1F7"/>
          </a:solidFill>
          <a:ln w="12700">
            <a:solidFill>
              <a:srgbClr val="C9D6EC"/>
            </a:solidFill>
            <a:prstDash val="solid"/>
          </a:ln>
        </p:spPr>
        <p:txBody>
          <a:bodyPr/>
          <a:lstStyle/>
          <a:p>
            <a:endParaRPr/>
          </a:p>
        </p:txBody>
      </p:sp>
      <p:sp>
        <p:nvSpPr>
          <p:cNvPr id="5" name="Text 3"/>
          <p:cNvSpPr txBox="1"/>
          <p:nvPr/>
        </p:nvSpPr>
        <p:spPr>
          <a:xfrm>
            <a:off x="2112264" y="1371600"/>
            <a:ext cx="1170432" cy="300903"/>
          </a:xfrm>
          <a:prstGeom prst="rect">
            <a:avLst/>
          </a:prstGeom>
          <a:noFill/>
          <a:ln/>
        </p:spPr>
        <p:txBody>
          <a:bodyPr wrap="square" lIns="0" tIns="0" rIns="0" bIns="0" rtlCol="0" anchor="ctr"/>
          <a:lstStyle/>
          <a:p>
            <a:pPr marL="0" indent="0" algn="ctr">
              <a:buNone/>
            </a:pPr>
            <a:r>
              <a:rPr lang="en-US" sz="1010" dirty="0">
                <a:solidFill>
                  <a:srgbClr val="5A6478"/>
                </a:solidFill>
                <a:latin typeface="맑은 고딕" pitchFamily="34" charset="0"/>
                <a:ea typeface="맑은 고딕" pitchFamily="34" charset="-122"/>
                <a:cs typeface="맑은 고딕" pitchFamily="34" charset="-120"/>
              </a:rPr>
              <a:t>측정</a:t>
            </a:r>
            <a:endParaRPr lang="en-US" sz="1100" dirty="0"/>
          </a:p>
        </p:txBody>
      </p:sp>
      <p:sp>
        <p:nvSpPr>
          <p:cNvPr id="6" name="Text 4"/>
          <p:cNvSpPr txBox="1"/>
          <p:nvPr/>
        </p:nvSpPr>
        <p:spPr>
          <a:xfrm>
            <a:off x="3282696" y="1371600"/>
            <a:ext cx="182880" cy="300903"/>
          </a:xfrm>
          <a:prstGeom prst="rect">
            <a:avLst/>
          </a:prstGeom>
          <a:noFill/>
          <a:ln/>
        </p:spPr>
        <p:txBody>
          <a:bodyPr wrap="square" lIns="0" tIns="0" rIns="0" bIns="0" rtlCol="0" anchor="ctr"/>
          <a:lstStyle/>
          <a:p>
            <a:pPr marL="0" indent="0" algn="ctr">
              <a:buNone/>
            </a:pPr>
            <a:r>
              <a:rPr lang="en-US" sz="910" dirty="0">
                <a:solidFill>
                  <a:srgbClr val="C9D6EC"/>
                </a:solidFill>
              </a:rPr>
              <a:t>▸</a:t>
            </a:r>
            <a:endParaRPr lang="en-US" sz="1000" dirty="0"/>
          </a:p>
        </p:txBody>
      </p:sp>
      <p:sp>
        <p:nvSpPr>
          <p:cNvPr id="7" name="Shape 5"/>
          <p:cNvSpPr/>
          <p:nvPr/>
        </p:nvSpPr>
        <p:spPr>
          <a:xfrm>
            <a:off x="3465576" y="1371600"/>
            <a:ext cx="1170432" cy="300903"/>
          </a:xfrm>
          <a:prstGeom prst="roundRect">
            <a:avLst>
              <a:gd name="adj" fmla="val 47222"/>
            </a:avLst>
          </a:prstGeom>
          <a:solidFill>
            <a:srgbClr val="C2521C"/>
          </a:solidFill>
          <a:ln w="12700">
            <a:solidFill>
              <a:srgbClr val="C2521C"/>
            </a:solidFill>
            <a:prstDash val="solid"/>
          </a:ln>
        </p:spPr>
        <p:txBody>
          <a:bodyPr/>
          <a:lstStyle/>
          <a:p>
            <a:endParaRPr/>
          </a:p>
        </p:txBody>
      </p:sp>
      <p:sp>
        <p:nvSpPr>
          <p:cNvPr id="8" name="Text 6"/>
          <p:cNvSpPr txBox="1"/>
          <p:nvPr/>
        </p:nvSpPr>
        <p:spPr>
          <a:xfrm>
            <a:off x="3465576" y="1371600"/>
            <a:ext cx="1170432" cy="300903"/>
          </a:xfrm>
          <a:prstGeom prst="rect">
            <a:avLst/>
          </a:prstGeom>
          <a:noFill/>
          <a:ln/>
        </p:spPr>
        <p:txBody>
          <a:bodyPr wrap="square" lIns="0" tIns="0" rIns="0" bIns="0" rtlCol="0" anchor="ctr"/>
          <a:lstStyle/>
          <a:p>
            <a:pPr marL="0" indent="0" algn="ctr">
              <a:buNone/>
            </a:pPr>
            <a:r>
              <a:rPr lang="en-US" sz="1010" b="1" dirty="0">
                <a:solidFill>
                  <a:srgbClr val="FFFFFF"/>
                </a:solidFill>
                <a:latin typeface="맑은 고딕" pitchFamily="34" charset="0"/>
                <a:ea typeface="맑은 고딕" pitchFamily="34" charset="-122"/>
                <a:cs typeface="맑은 고딕" pitchFamily="34" charset="-120"/>
              </a:rPr>
              <a:t>안테나</a:t>
            </a:r>
            <a:endParaRPr lang="en-US" sz="1100" dirty="0"/>
          </a:p>
        </p:txBody>
      </p:sp>
      <p:sp>
        <p:nvSpPr>
          <p:cNvPr id="9" name="Text 7"/>
          <p:cNvSpPr txBox="1"/>
          <p:nvPr/>
        </p:nvSpPr>
        <p:spPr>
          <a:xfrm>
            <a:off x="4636008" y="1371600"/>
            <a:ext cx="182880" cy="300903"/>
          </a:xfrm>
          <a:prstGeom prst="rect">
            <a:avLst/>
          </a:prstGeom>
          <a:noFill/>
          <a:ln/>
        </p:spPr>
        <p:txBody>
          <a:bodyPr wrap="square" lIns="0" tIns="0" rIns="0" bIns="0" rtlCol="0" anchor="ctr"/>
          <a:lstStyle/>
          <a:p>
            <a:pPr marL="0" indent="0" algn="ctr">
              <a:buNone/>
            </a:pPr>
            <a:r>
              <a:rPr lang="en-US" sz="910" dirty="0">
                <a:solidFill>
                  <a:srgbClr val="C9D6EC"/>
                </a:solidFill>
              </a:rPr>
              <a:t>▸</a:t>
            </a:r>
            <a:endParaRPr lang="en-US" sz="1000" dirty="0"/>
          </a:p>
        </p:txBody>
      </p:sp>
      <p:sp>
        <p:nvSpPr>
          <p:cNvPr id="10" name="Shape 8"/>
          <p:cNvSpPr/>
          <p:nvPr/>
        </p:nvSpPr>
        <p:spPr>
          <a:xfrm>
            <a:off x="4818888" y="1371600"/>
            <a:ext cx="1170432" cy="300903"/>
          </a:xfrm>
          <a:prstGeom prst="roundRect">
            <a:avLst>
              <a:gd name="adj" fmla="val 47222"/>
            </a:avLst>
          </a:prstGeom>
          <a:solidFill>
            <a:srgbClr val="EEF1F7"/>
          </a:solidFill>
          <a:ln w="12700">
            <a:solidFill>
              <a:srgbClr val="C9D6EC"/>
            </a:solidFill>
            <a:prstDash val="solid"/>
          </a:ln>
        </p:spPr>
        <p:txBody>
          <a:bodyPr/>
          <a:lstStyle/>
          <a:p>
            <a:endParaRPr/>
          </a:p>
        </p:txBody>
      </p:sp>
      <p:sp>
        <p:nvSpPr>
          <p:cNvPr id="11" name="Text 9"/>
          <p:cNvSpPr txBox="1"/>
          <p:nvPr/>
        </p:nvSpPr>
        <p:spPr>
          <a:xfrm>
            <a:off x="4818888" y="1371600"/>
            <a:ext cx="1170432" cy="300903"/>
          </a:xfrm>
          <a:prstGeom prst="rect">
            <a:avLst/>
          </a:prstGeom>
          <a:noFill/>
          <a:ln/>
        </p:spPr>
        <p:txBody>
          <a:bodyPr wrap="square" lIns="0" tIns="0" rIns="0" bIns="0" rtlCol="0" anchor="ctr"/>
          <a:lstStyle/>
          <a:p>
            <a:pPr marL="0" indent="0" algn="ctr">
              <a:buNone/>
            </a:pPr>
            <a:r>
              <a:rPr lang="en-US" sz="1010" dirty="0">
                <a:solidFill>
                  <a:srgbClr val="5A6478"/>
                </a:solidFill>
                <a:latin typeface="맑은 고딕" pitchFamily="34" charset="0"/>
                <a:ea typeface="맑은 고딕" pitchFamily="34" charset="-122"/>
                <a:cs typeface="맑은 고딕" pitchFamily="34" charset="-120"/>
              </a:rPr>
              <a:t>동체</a:t>
            </a:r>
            <a:endParaRPr lang="en-US" sz="1100" dirty="0"/>
          </a:p>
        </p:txBody>
      </p:sp>
      <p:sp>
        <p:nvSpPr>
          <p:cNvPr id="12" name="Text 10"/>
          <p:cNvSpPr txBox="1"/>
          <p:nvPr/>
        </p:nvSpPr>
        <p:spPr>
          <a:xfrm>
            <a:off x="5989320" y="1371600"/>
            <a:ext cx="182880" cy="300903"/>
          </a:xfrm>
          <a:prstGeom prst="rect">
            <a:avLst/>
          </a:prstGeom>
          <a:noFill/>
          <a:ln/>
        </p:spPr>
        <p:txBody>
          <a:bodyPr wrap="square" lIns="0" tIns="0" rIns="0" bIns="0" rtlCol="0" anchor="ctr"/>
          <a:lstStyle/>
          <a:p>
            <a:pPr marL="0" indent="0" algn="ctr">
              <a:buNone/>
            </a:pPr>
            <a:r>
              <a:rPr lang="en-US" sz="910" dirty="0">
                <a:solidFill>
                  <a:srgbClr val="C9D6EC"/>
                </a:solidFill>
              </a:rPr>
              <a:t>▸</a:t>
            </a:r>
            <a:endParaRPr lang="en-US" sz="1000" dirty="0"/>
          </a:p>
        </p:txBody>
      </p:sp>
      <p:sp>
        <p:nvSpPr>
          <p:cNvPr id="13" name="Shape 11"/>
          <p:cNvSpPr/>
          <p:nvPr/>
        </p:nvSpPr>
        <p:spPr>
          <a:xfrm>
            <a:off x="6172200" y="1371600"/>
            <a:ext cx="1170432" cy="300903"/>
          </a:xfrm>
          <a:prstGeom prst="roundRect">
            <a:avLst>
              <a:gd name="adj" fmla="val 47222"/>
            </a:avLst>
          </a:prstGeom>
          <a:solidFill>
            <a:srgbClr val="EEF1F7"/>
          </a:solidFill>
          <a:ln w="12700">
            <a:solidFill>
              <a:srgbClr val="C9D6EC"/>
            </a:solidFill>
            <a:prstDash val="solid"/>
          </a:ln>
        </p:spPr>
        <p:txBody>
          <a:bodyPr/>
          <a:lstStyle/>
          <a:p>
            <a:endParaRPr/>
          </a:p>
        </p:txBody>
      </p:sp>
      <p:sp>
        <p:nvSpPr>
          <p:cNvPr id="14" name="Text 12"/>
          <p:cNvSpPr txBox="1"/>
          <p:nvPr/>
        </p:nvSpPr>
        <p:spPr>
          <a:xfrm>
            <a:off x="6172200" y="1371600"/>
            <a:ext cx="1170432" cy="300903"/>
          </a:xfrm>
          <a:prstGeom prst="rect">
            <a:avLst/>
          </a:prstGeom>
          <a:noFill/>
          <a:ln/>
        </p:spPr>
        <p:txBody>
          <a:bodyPr wrap="square" lIns="0" tIns="0" rIns="0" bIns="0" rtlCol="0" anchor="ctr"/>
          <a:lstStyle/>
          <a:p>
            <a:pPr marL="0" indent="0" algn="ctr">
              <a:buNone/>
            </a:pPr>
            <a:r>
              <a:rPr lang="en-US" sz="1010" dirty="0">
                <a:solidFill>
                  <a:srgbClr val="5A6478"/>
                </a:solidFill>
                <a:latin typeface="맑은 고딕" pitchFamily="34" charset="0"/>
                <a:ea typeface="맑은 고딕" pitchFamily="34" charset="-122"/>
                <a:cs typeface="맑은 고딕" pitchFamily="34" charset="-120"/>
              </a:rPr>
              <a:t>NED</a:t>
            </a:r>
            <a:endParaRPr lang="en-US" sz="1100" dirty="0"/>
          </a:p>
        </p:txBody>
      </p:sp>
      <p:sp>
        <p:nvSpPr>
          <p:cNvPr id="15" name="Text 13"/>
          <p:cNvSpPr txBox="1"/>
          <p:nvPr/>
        </p:nvSpPr>
        <p:spPr>
          <a:xfrm>
            <a:off x="7342632" y="1371600"/>
            <a:ext cx="182880" cy="300903"/>
          </a:xfrm>
          <a:prstGeom prst="rect">
            <a:avLst/>
          </a:prstGeom>
          <a:noFill/>
          <a:ln/>
        </p:spPr>
        <p:txBody>
          <a:bodyPr wrap="square" lIns="0" tIns="0" rIns="0" bIns="0" rtlCol="0" anchor="ctr"/>
          <a:lstStyle/>
          <a:p>
            <a:pPr marL="0" indent="0" algn="ctr">
              <a:buNone/>
            </a:pPr>
            <a:r>
              <a:rPr lang="en-US" sz="910" dirty="0">
                <a:solidFill>
                  <a:srgbClr val="C9D6EC"/>
                </a:solidFill>
              </a:rPr>
              <a:t>▸</a:t>
            </a:r>
            <a:endParaRPr lang="en-US" sz="1000" dirty="0"/>
          </a:p>
        </p:txBody>
      </p:sp>
      <p:sp>
        <p:nvSpPr>
          <p:cNvPr id="16" name="Shape 14"/>
          <p:cNvSpPr/>
          <p:nvPr/>
        </p:nvSpPr>
        <p:spPr>
          <a:xfrm>
            <a:off x="7525512" y="1371600"/>
            <a:ext cx="1170432" cy="300903"/>
          </a:xfrm>
          <a:prstGeom prst="roundRect">
            <a:avLst>
              <a:gd name="adj" fmla="val 47222"/>
            </a:avLst>
          </a:prstGeom>
          <a:solidFill>
            <a:srgbClr val="EEF1F7"/>
          </a:solidFill>
          <a:ln w="12700">
            <a:solidFill>
              <a:srgbClr val="C9D6EC"/>
            </a:solidFill>
            <a:prstDash val="solid"/>
          </a:ln>
        </p:spPr>
        <p:txBody>
          <a:bodyPr/>
          <a:lstStyle/>
          <a:p>
            <a:endParaRPr/>
          </a:p>
        </p:txBody>
      </p:sp>
      <p:sp>
        <p:nvSpPr>
          <p:cNvPr id="17" name="Text 15"/>
          <p:cNvSpPr txBox="1"/>
          <p:nvPr/>
        </p:nvSpPr>
        <p:spPr>
          <a:xfrm>
            <a:off x="7525512" y="1371600"/>
            <a:ext cx="1170432" cy="300903"/>
          </a:xfrm>
          <a:prstGeom prst="rect">
            <a:avLst/>
          </a:prstGeom>
          <a:noFill/>
          <a:ln/>
        </p:spPr>
        <p:txBody>
          <a:bodyPr wrap="square" lIns="0" tIns="0" rIns="0" bIns="0" rtlCol="0" anchor="ctr"/>
          <a:lstStyle/>
          <a:p>
            <a:pPr marL="0" indent="0" algn="ctr">
              <a:buNone/>
            </a:pPr>
            <a:r>
              <a:rPr lang="en-US" sz="1010" dirty="0">
                <a:solidFill>
                  <a:srgbClr val="5A6478"/>
                </a:solidFill>
                <a:latin typeface="맑은 고딕" pitchFamily="34" charset="0"/>
                <a:ea typeface="맑은 고딕" pitchFamily="34" charset="-122"/>
                <a:cs typeface="맑은 고딕" pitchFamily="34" charset="-120"/>
              </a:rPr>
              <a:t>ECEF</a:t>
            </a:r>
            <a:endParaRPr lang="en-US" sz="1100" dirty="0"/>
          </a:p>
        </p:txBody>
      </p:sp>
      <p:sp>
        <p:nvSpPr>
          <p:cNvPr id="18" name="Text 16"/>
          <p:cNvSpPr txBox="1"/>
          <p:nvPr/>
        </p:nvSpPr>
        <p:spPr>
          <a:xfrm>
            <a:off x="8695944" y="1371600"/>
            <a:ext cx="182880" cy="300903"/>
          </a:xfrm>
          <a:prstGeom prst="rect">
            <a:avLst/>
          </a:prstGeom>
          <a:noFill/>
          <a:ln/>
        </p:spPr>
        <p:txBody>
          <a:bodyPr wrap="square" lIns="0" tIns="0" rIns="0" bIns="0" rtlCol="0" anchor="ctr"/>
          <a:lstStyle/>
          <a:p>
            <a:pPr marL="0" indent="0" algn="ctr">
              <a:buNone/>
            </a:pPr>
            <a:r>
              <a:rPr lang="en-US" sz="910" dirty="0">
                <a:solidFill>
                  <a:srgbClr val="C9D6EC"/>
                </a:solidFill>
              </a:rPr>
              <a:t>▸</a:t>
            </a:r>
            <a:endParaRPr lang="en-US" sz="1000" dirty="0"/>
          </a:p>
        </p:txBody>
      </p:sp>
      <p:sp>
        <p:nvSpPr>
          <p:cNvPr id="19" name="Shape 17"/>
          <p:cNvSpPr/>
          <p:nvPr/>
        </p:nvSpPr>
        <p:spPr>
          <a:xfrm>
            <a:off x="8878824" y="1371600"/>
            <a:ext cx="1170432" cy="300903"/>
          </a:xfrm>
          <a:prstGeom prst="roundRect">
            <a:avLst>
              <a:gd name="adj" fmla="val 47222"/>
            </a:avLst>
          </a:prstGeom>
          <a:solidFill>
            <a:srgbClr val="EEF1F7"/>
          </a:solidFill>
          <a:ln w="12700">
            <a:solidFill>
              <a:srgbClr val="C9D6EC"/>
            </a:solidFill>
            <a:prstDash val="solid"/>
          </a:ln>
        </p:spPr>
        <p:txBody>
          <a:bodyPr/>
          <a:lstStyle/>
          <a:p>
            <a:endParaRPr/>
          </a:p>
        </p:txBody>
      </p:sp>
      <p:sp>
        <p:nvSpPr>
          <p:cNvPr id="20" name="Text 18"/>
          <p:cNvSpPr txBox="1"/>
          <p:nvPr/>
        </p:nvSpPr>
        <p:spPr>
          <a:xfrm>
            <a:off x="8878824" y="1371600"/>
            <a:ext cx="1170432" cy="300903"/>
          </a:xfrm>
          <a:prstGeom prst="rect">
            <a:avLst/>
          </a:prstGeom>
          <a:noFill/>
          <a:ln/>
        </p:spPr>
        <p:txBody>
          <a:bodyPr wrap="square" lIns="0" tIns="0" rIns="0" bIns="0" rtlCol="0" anchor="ctr"/>
          <a:lstStyle/>
          <a:p>
            <a:pPr marL="0" indent="0" algn="ctr">
              <a:buNone/>
            </a:pPr>
            <a:r>
              <a:rPr lang="en-US" sz="1010" dirty="0">
                <a:solidFill>
                  <a:srgbClr val="5A6478"/>
                </a:solidFill>
                <a:latin typeface="맑은 고딕" pitchFamily="34" charset="0"/>
                <a:ea typeface="맑은 고딕" pitchFamily="34" charset="-122"/>
                <a:cs typeface="맑은 고딕" pitchFamily="34" charset="-120"/>
              </a:rPr>
              <a:t>LLA</a:t>
            </a:r>
            <a:endParaRPr lang="en-US" sz="1100" dirty="0"/>
          </a:p>
        </p:txBody>
      </p:sp>
      <p:pic>
        <p:nvPicPr>
          <p:cNvPr id="29" name="Picture 28" descr="fig03_uv.png"/>
          <p:cNvPicPr>
            <a:picLocks noChangeAspect="1"/>
          </p:cNvPicPr>
          <p:nvPr/>
        </p:nvPicPr>
        <p:blipFill>
          <a:blip r:embed="rId3"/>
          <a:stretch>
            <a:fillRect/>
          </a:stretch>
        </p:blipFill>
        <p:spPr>
          <a:xfrm>
            <a:off x="2827455" y="1828800"/>
            <a:ext cx="6536785" cy="3749039"/>
          </a:xfrm>
          <a:prstGeom prst="rect">
            <a:avLst/>
          </a:prstGeom>
        </p:spPr>
      </p:pic>
      <p:sp>
        <p:nvSpPr>
          <p:cNvPr id="28" name="Text 25"/>
          <p:cNvSpPr txBox="1"/>
          <p:nvPr/>
        </p:nvSpPr>
        <p:spPr>
          <a:xfrm>
            <a:off x="998761" y="5729748"/>
            <a:ext cx="10346878" cy="476962"/>
          </a:xfrm>
          <a:prstGeom prst="rect">
            <a:avLst/>
          </a:prstGeom>
          <a:noFill/>
          <a:ln/>
        </p:spPr>
        <p:txBody>
          <a:bodyPr wrap="square" lIns="0" tIns="0" rIns="0" bIns="0" rtlCol="0" anchor="ctr"/>
          <a:lstStyle/>
          <a:p>
            <a:pPr marL="0" indent="0">
              <a:buNone/>
            </a:pPr>
            <a:r>
              <a:rPr lang="ko-KR" sz="1190" b="0" dirty="0">
                <a:solidFill>
                  <a:srgbClr val="5A6478"/>
                </a:solidFill>
                <a:latin typeface="맑은 고딕" pitchFamily="34" charset="0"/>
                <a:ea typeface="맑은 고딕" pitchFamily="34" charset="-122"/>
                <a:cs typeface="맑은 고딕" pitchFamily="34" charset="-120"/>
              </a:rPr>
              <a:t>UV 에는 거리가 없습니다 </a:t>
            </a:r>
            <a:r>
              <a:rPr lang="ko-KR" sz="1190" b="0" dirty="0" smtClean="0">
                <a:solidFill>
                  <a:srgbClr val="5A6478"/>
                </a:solidFill>
                <a:latin typeface="맑은 고딕" pitchFamily="34" charset="0"/>
                <a:ea typeface="맑은 고딕" pitchFamily="34" charset="-122"/>
                <a:cs typeface="맑은 고딕" pitchFamily="34" charset="-120"/>
              </a:rPr>
              <a:t>—방향만 </a:t>
            </a:r>
            <a:r>
              <a:rPr lang="ko-KR" sz="1190" b="0" dirty="0">
                <a:solidFill>
                  <a:srgbClr val="5A6478"/>
                </a:solidFill>
                <a:latin typeface="맑은 고딕" pitchFamily="34" charset="0"/>
                <a:ea typeface="맑은 고딕" pitchFamily="34" charset="-122"/>
                <a:cs typeface="맑은 고딕" pitchFamily="34" charset="-120"/>
              </a:rPr>
              <a:t>남긴 표현이라, 표적이 어디에 있는지는 적을 수 없습니다</a:t>
            </a:r>
            <a:r>
              <a:rPr lang="ko-KR" sz="1190" b="0" dirty="0" smtClean="0">
                <a:solidFill>
                  <a:srgbClr val="5A6478"/>
                </a:solidFill>
                <a:latin typeface="맑은 고딕" pitchFamily="34" charset="0"/>
                <a:ea typeface="맑은 고딕" pitchFamily="34" charset="-122"/>
                <a:cs typeface="맑은 고딕" pitchFamily="34" charset="-120"/>
              </a:rPr>
              <a:t>.</a:t>
            </a:r>
            <a:endParaRPr lang="ko-KR" sz="1190" b="0" dirty="0">
              <a:solidFill>
                <a:srgbClr val="5A6478"/>
              </a:solidFill>
              <a:latin typeface="맑은 고딕" pitchFamily="34" charset="0"/>
              <a:ea typeface="맑은 고딕" pitchFamily="34" charset="-122"/>
              <a:cs typeface="맑은 고딕" pitchFamily="34" charset="-120"/>
            </a:endParaRPr>
          </a:p>
        </p:txBody>
      </p:sp>
      <p:sp>
        <p:nvSpPr>
          <p:cNvPr id="31" name="Rectangle 30"/>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endParaRPr/>
          </a:p>
        </p:txBody>
      </p:sp>
      <p:sp>
        <p:nvSpPr>
          <p:cNvPr id="32" name="TextBox 31"/>
          <p:cNvSpPr txBox="1"/>
          <p:nvPr/>
        </p:nvSpPr>
        <p:spPr>
          <a:xfrm>
            <a:off x="640080" y="411480"/>
            <a:ext cx="8732520" cy="777240"/>
          </a:xfrm>
          <a:prstGeom prst="rect">
            <a:avLst/>
          </a:prstGeom>
          <a:noFill/>
        </p:spPr>
        <p:txBody>
          <a:bodyPr wrap="square" lIns="0" tIns="0" rIns="0" bIns="0" anchor="ctr">
            <a:spAutoFit/>
          </a:bodyPr>
          <a:lstStyle/>
          <a:p>
            <a:pPr algn="l">
              <a:spcAft>
                <a:spcPts val="300"/>
              </a:spcAft>
            </a:pPr>
            <a:r>
              <a:rPr sz="1900" b="1">
                <a:solidFill>
                  <a:srgbClr val="FFFFFF"/>
                </a:solidFill>
                <a:latin typeface="맑은 고딕"/>
              </a:rPr>
              <a:t>01.  안테나 좌표계 ③  UV (방향코사인)</a:t>
            </a:r>
          </a:p>
          <a:p>
            <a:pPr algn="l">
              <a:lnSpc>
                <a:spcPts val="1400"/>
              </a:lnSpc>
            </a:pPr>
            <a:r>
              <a:rPr sz="1100" b="0">
                <a:solidFill>
                  <a:srgbClr val="C9D6EC"/>
                </a:solidFill>
                <a:latin typeface="맑은 고딕"/>
              </a:rPr>
              <a:t>안테나 좌표를 적는 세 번째 방법.  거리를 빼고 방향만 남긴 표현입니다</a:t>
            </a:r>
          </a:p>
        </p:txBody>
      </p:sp>
      <p:cxnSp>
        <p:nvCxnSpPr>
          <p:cNvPr id="34" name="Connector 33"/>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669280" y="6400800"/>
            <a:ext cx="914400" cy="274320"/>
          </a:xfrm>
          <a:prstGeom prst="rect">
            <a:avLst/>
          </a:prstGeom>
          <a:noFill/>
        </p:spPr>
        <p:txBody>
          <a:bodyPr wrap="none" lIns="0" tIns="0" rIns="0" bIns="0">
            <a:spAutoFit/>
          </a:bodyPr>
          <a:lstStyle/>
          <a:p>
            <a:pPr algn="ctr"/>
            <a:fld id="{1D0B0B0B-0000-4000-8000-00000000C0DE}" type="slidenum">
              <a:rPr lang="ko-KR" altLang="en-US" sz="1000" b="0" dirty="0">
                <a:solidFill>
                  <a:srgbClr val="1A2233"/>
                </a:solidFill>
                <a:latin typeface="Arial"/>
                <a:ea typeface="Arial"/>
              </a:rPr>
              <a:t>9</a:t>
            </a:fld>
            <a:endParaRPr lang="ko-KR" altLang="en-US" sz="1000" b="0" dirty="0">
              <a:solidFill>
                <a:srgbClr val="1A2233"/>
              </a:solidFill>
              <a:latin typeface="Arial"/>
              <a:ea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3">
    <p:bg>
      <p:bgPr>
        <a:solidFill>
          <a:srgbClr val="E8EDF5"/>
        </a:solidFill>
        <a:effectLst/>
      </p:bgPr>
    </p:bg>
    <p:spTree>
      <p:nvGrpSpPr>
        <p:cNvPr id="1" name=""/>
        <p:cNvGrpSpPr/>
        <p:nvPr/>
      </p:nvGrpSpPr>
      <p:grpSpPr>
        <a:xfrm>
          <a:off x="0" y="0"/>
          <a:ext cx="0" cy="0"/>
          <a:chOff x="0" y="0"/>
          <a:chExt cx="0" cy="0"/>
        </a:xfrm>
      </p:grpSpPr>
      <p:sp>
        <p:nvSpPr>
          <p:cNvPr id="34" name="Rectangle 33"/>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endParaRPr/>
          </a:p>
        </p:txBody>
      </p:sp>
      <p:sp>
        <p:nvSpPr>
          <p:cNvPr id="4" name="Shape 2"/>
          <p:cNvSpPr/>
          <p:nvPr/>
        </p:nvSpPr>
        <p:spPr>
          <a:xfrm>
            <a:off x="2112264" y="1371600"/>
            <a:ext cx="1170432" cy="312724"/>
          </a:xfrm>
          <a:prstGeom prst="roundRect">
            <a:avLst>
              <a:gd name="adj" fmla="val 47222"/>
            </a:avLst>
          </a:prstGeom>
          <a:solidFill>
            <a:srgbClr val="EEF1F7"/>
          </a:solidFill>
          <a:ln w="12700">
            <a:solidFill>
              <a:srgbClr val="C9D6EC"/>
            </a:solidFill>
            <a:prstDash val="solid"/>
          </a:ln>
        </p:spPr>
        <p:txBody>
          <a:bodyPr/>
          <a:lstStyle/>
          <a:p>
            <a:endParaRPr/>
          </a:p>
        </p:txBody>
      </p:sp>
      <p:sp>
        <p:nvSpPr>
          <p:cNvPr id="5" name="Text 3"/>
          <p:cNvSpPr txBox="1"/>
          <p:nvPr/>
        </p:nvSpPr>
        <p:spPr>
          <a:xfrm>
            <a:off x="2112264" y="1371600"/>
            <a:ext cx="1170432" cy="312724"/>
          </a:xfrm>
          <a:prstGeom prst="rect">
            <a:avLst/>
          </a:prstGeom>
          <a:noFill/>
          <a:ln/>
        </p:spPr>
        <p:txBody>
          <a:bodyPr wrap="square" lIns="0" tIns="0" rIns="0" bIns="0" rtlCol="0" anchor="ctr"/>
          <a:lstStyle/>
          <a:p>
            <a:pPr marL="0" indent="0" algn="ctr">
              <a:buNone/>
            </a:pPr>
            <a:r>
              <a:rPr lang="en-US" sz="1050" dirty="0">
                <a:solidFill>
                  <a:srgbClr val="5A6478"/>
                </a:solidFill>
                <a:latin typeface="맑은 고딕" pitchFamily="34" charset="0"/>
                <a:ea typeface="맑은 고딕" pitchFamily="34" charset="-122"/>
                <a:cs typeface="맑은 고딕" pitchFamily="34" charset="-120"/>
              </a:rPr>
              <a:t>측정</a:t>
            </a:r>
            <a:endParaRPr lang="en-US" sz="1100" dirty="0"/>
          </a:p>
        </p:txBody>
      </p:sp>
      <p:sp>
        <p:nvSpPr>
          <p:cNvPr id="6" name="Text 4"/>
          <p:cNvSpPr txBox="1"/>
          <p:nvPr/>
        </p:nvSpPr>
        <p:spPr>
          <a:xfrm>
            <a:off x="3282696" y="1371600"/>
            <a:ext cx="182880" cy="312724"/>
          </a:xfrm>
          <a:prstGeom prst="rect">
            <a:avLst/>
          </a:prstGeom>
          <a:noFill/>
          <a:ln/>
        </p:spPr>
        <p:txBody>
          <a:bodyPr wrap="square" lIns="0" tIns="0" rIns="0" bIns="0" rtlCol="0" anchor="ctr"/>
          <a:lstStyle/>
          <a:p>
            <a:pPr marL="0" indent="0" algn="ctr">
              <a:buNone/>
            </a:pPr>
            <a:r>
              <a:rPr lang="en-US" sz="950" dirty="0">
                <a:solidFill>
                  <a:srgbClr val="C9D6EC"/>
                </a:solidFill>
              </a:rPr>
              <a:t>▸</a:t>
            </a:r>
            <a:endParaRPr lang="en-US" sz="1000" dirty="0"/>
          </a:p>
        </p:txBody>
      </p:sp>
      <p:sp>
        <p:nvSpPr>
          <p:cNvPr id="7" name="Shape 5"/>
          <p:cNvSpPr/>
          <p:nvPr/>
        </p:nvSpPr>
        <p:spPr>
          <a:xfrm>
            <a:off x="3465576" y="1371600"/>
            <a:ext cx="1170432" cy="312724"/>
          </a:xfrm>
          <a:prstGeom prst="roundRect">
            <a:avLst>
              <a:gd name="adj" fmla="val 47222"/>
            </a:avLst>
          </a:prstGeom>
          <a:solidFill>
            <a:srgbClr val="EEF1F7"/>
          </a:solidFill>
          <a:ln w="12700">
            <a:solidFill>
              <a:srgbClr val="C9D6EC"/>
            </a:solidFill>
            <a:prstDash val="solid"/>
          </a:ln>
        </p:spPr>
        <p:txBody>
          <a:bodyPr/>
          <a:lstStyle/>
          <a:p>
            <a:endParaRPr/>
          </a:p>
        </p:txBody>
      </p:sp>
      <p:sp>
        <p:nvSpPr>
          <p:cNvPr id="8" name="Text 6"/>
          <p:cNvSpPr txBox="1"/>
          <p:nvPr/>
        </p:nvSpPr>
        <p:spPr>
          <a:xfrm>
            <a:off x="3465576" y="1371600"/>
            <a:ext cx="1170432" cy="312724"/>
          </a:xfrm>
          <a:prstGeom prst="rect">
            <a:avLst/>
          </a:prstGeom>
          <a:noFill/>
          <a:ln/>
        </p:spPr>
        <p:txBody>
          <a:bodyPr wrap="square" lIns="0" tIns="0" rIns="0" bIns="0" rtlCol="0" anchor="ctr"/>
          <a:lstStyle/>
          <a:p>
            <a:pPr marL="0" indent="0" algn="ctr">
              <a:buNone/>
            </a:pPr>
            <a:r>
              <a:rPr lang="en-US" sz="1050" dirty="0">
                <a:solidFill>
                  <a:srgbClr val="5A6478"/>
                </a:solidFill>
                <a:latin typeface="맑은 고딕" pitchFamily="34" charset="0"/>
                <a:ea typeface="맑은 고딕" pitchFamily="34" charset="-122"/>
                <a:cs typeface="맑은 고딕" pitchFamily="34" charset="-120"/>
              </a:rPr>
              <a:t>안테나</a:t>
            </a:r>
            <a:endParaRPr lang="en-US" sz="1100" dirty="0"/>
          </a:p>
        </p:txBody>
      </p:sp>
      <p:sp>
        <p:nvSpPr>
          <p:cNvPr id="9" name="Text 7"/>
          <p:cNvSpPr txBox="1"/>
          <p:nvPr/>
        </p:nvSpPr>
        <p:spPr>
          <a:xfrm>
            <a:off x="4636008" y="1371600"/>
            <a:ext cx="182880" cy="312724"/>
          </a:xfrm>
          <a:prstGeom prst="rect">
            <a:avLst/>
          </a:prstGeom>
          <a:noFill/>
          <a:ln/>
        </p:spPr>
        <p:txBody>
          <a:bodyPr wrap="square" lIns="0" tIns="0" rIns="0" bIns="0" rtlCol="0" anchor="ctr"/>
          <a:lstStyle/>
          <a:p>
            <a:pPr marL="0" indent="0" algn="ctr">
              <a:buNone/>
            </a:pPr>
            <a:r>
              <a:rPr lang="en-US" sz="950" dirty="0">
                <a:solidFill>
                  <a:srgbClr val="C9D6EC"/>
                </a:solidFill>
              </a:rPr>
              <a:t>▸</a:t>
            </a:r>
            <a:endParaRPr lang="en-US" sz="1000" dirty="0"/>
          </a:p>
        </p:txBody>
      </p:sp>
      <p:sp>
        <p:nvSpPr>
          <p:cNvPr id="10" name="Shape 8"/>
          <p:cNvSpPr/>
          <p:nvPr/>
        </p:nvSpPr>
        <p:spPr>
          <a:xfrm>
            <a:off x="4818888" y="1371600"/>
            <a:ext cx="1170432" cy="312724"/>
          </a:xfrm>
          <a:prstGeom prst="roundRect">
            <a:avLst>
              <a:gd name="adj" fmla="val 47222"/>
            </a:avLst>
          </a:prstGeom>
          <a:solidFill>
            <a:srgbClr val="C2521C"/>
          </a:solidFill>
          <a:ln w="12700">
            <a:solidFill>
              <a:srgbClr val="C2521C"/>
            </a:solidFill>
            <a:prstDash val="solid"/>
          </a:ln>
        </p:spPr>
        <p:txBody>
          <a:bodyPr/>
          <a:lstStyle/>
          <a:p>
            <a:endParaRPr/>
          </a:p>
        </p:txBody>
      </p:sp>
      <p:sp>
        <p:nvSpPr>
          <p:cNvPr id="11" name="Text 9"/>
          <p:cNvSpPr txBox="1"/>
          <p:nvPr/>
        </p:nvSpPr>
        <p:spPr>
          <a:xfrm>
            <a:off x="4818888" y="1371600"/>
            <a:ext cx="1170432" cy="312724"/>
          </a:xfrm>
          <a:prstGeom prst="rect">
            <a:avLst/>
          </a:prstGeom>
          <a:noFill/>
          <a:ln/>
        </p:spPr>
        <p:txBody>
          <a:bodyPr wrap="square" lIns="0" tIns="0" rIns="0" bIns="0" rtlCol="0" anchor="ctr"/>
          <a:lstStyle/>
          <a:p>
            <a:pPr marL="0" indent="0" algn="ctr">
              <a:buNone/>
            </a:pPr>
            <a:r>
              <a:rPr lang="en-US" sz="1050" b="1" dirty="0">
                <a:solidFill>
                  <a:srgbClr val="FFFFFF"/>
                </a:solidFill>
                <a:latin typeface="맑은 고딕" pitchFamily="34" charset="0"/>
                <a:ea typeface="맑은 고딕" pitchFamily="34" charset="-122"/>
                <a:cs typeface="맑은 고딕" pitchFamily="34" charset="-120"/>
              </a:rPr>
              <a:t>동체</a:t>
            </a:r>
            <a:endParaRPr lang="en-US" sz="1100" dirty="0"/>
          </a:p>
        </p:txBody>
      </p:sp>
      <p:sp>
        <p:nvSpPr>
          <p:cNvPr id="12" name="Text 10"/>
          <p:cNvSpPr txBox="1"/>
          <p:nvPr/>
        </p:nvSpPr>
        <p:spPr>
          <a:xfrm>
            <a:off x="5989320" y="1371600"/>
            <a:ext cx="182880" cy="312724"/>
          </a:xfrm>
          <a:prstGeom prst="rect">
            <a:avLst/>
          </a:prstGeom>
          <a:noFill/>
          <a:ln/>
        </p:spPr>
        <p:txBody>
          <a:bodyPr wrap="square" lIns="0" tIns="0" rIns="0" bIns="0" rtlCol="0" anchor="ctr"/>
          <a:lstStyle/>
          <a:p>
            <a:pPr marL="0" indent="0" algn="ctr">
              <a:buNone/>
            </a:pPr>
            <a:r>
              <a:rPr lang="en-US" sz="950" dirty="0">
                <a:solidFill>
                  <a:srgbClr val="C9D6EC"/>
                </a:solidFill>
              </a:rPr>
              <a:t>▸</a:t>
            </a:r>
            <a:endParaRPr lang="en-US" sz="1000" dirty="0"/>
          </a:p>
        </p:txBody>
      </p:sp>
      <p:sp>
        <p:nvSpPr>
          <p:cNvPr id="13" name="Shape 11"/>
          <p:cNvSpPr/>
          <p:nvPr/>
        </p:nvSpPr>
        <p:spPr>
          <a:xfrm>
            <a:off x="6172200" y="1371600"/>
            <a:ext cx="1170432" cy="312724"/>
          </a:xfrm>
          <a:prstGeom prst="roundRect">
            <a:avLst>
              <a:gd name="adj" fmla="val 47222"/>
            </a:avLst>
          </a:prstGeom>
          <a:solidFill>
            <a:srgbClr val="EEF1F7"/>
          </a:solidFill>
          <a:ln w="12700">
            <a:solidFill>
              <a:srgbClr val="C9D6EC"/>
            </a:solidFill>
            <a:prstDash val="solid"/>
          </a:ln>
        </p:spPr>
        <p:txBody>
          <a:bodyPr/>
          <a:lstStyle/>
          <a:p>
            <a:endParaRPr/>
          </a:p>
        </p:txBody>
      </p:sp>
      <p:sp>
        <p:nvSpPr>
          <p:cNvPr id="14" name="Text 12"/>
          <p:cNvSpPr txBox="1"/>
          <p:nvPr/>
        </p:nvSpPr>
        <p:spPr>
          <a:xfrm>
            <a:off x="6172200" y="1371600"/>
            <a:ext cx="1170432" cy="312724"/>
          </a:xfrm>
          <a:prstGeom prst="rect">
            <a:avLst/>
          </a:prstGeom>
          <a:noFill/>
          <a:ln/>
        </p:spPr>
        <p:txBody>
          <a:bodyPr wrap="square" lIns="0" tIns="0" rIns="0" bIns="0" rtlCol="0" anchor="ctr"/>
          <a:lstStyle/>
          <a:p>
            <a:pPr marL="0" indent="0" algn="ctr">
              <a:buNone/>
            </a:pPr>
            <a:r>
              <a:rPr lang="en-US" sz="1050" dirty="0">
                <a:solidFill>
                  <a:srgbClr val="5A6478"/>
                </a:solidFill>
                <a:latin typeface="맑은 고딕" pitchFamily="34" charset="0"/>
                <a:ea typeface="맑은 고딕" pitchFamily="34" charset="-122"/>
                <a:cs typeface="맑은 고딕" pitchFamily="34" charset="-120"/>
              </a:rPr>
              <a:t>NED</a:t>
            </a:r>
            <a:endParaRPr lang="en-US" sz="1100" dirty="0"/>
          </a:p>
        </p:txBody>
      </p:sp>
      <p:sp>
        <p:nvSpPr>
          <p:cNvPr id="15" name="Text 13"/>
          <p:cNvSpPr txBox="1"/>
          <p:nvPr/>
        </p:nvSpPr>
        <p:spPr>
          <a:xfrm>
            <a:off x="7342632" y="1371600"/>
            <a:ext cx="182880" cy="312724"/>
          </a:xfrm>
          <a:prstGeom prst="rect">
            <a:avLst/>
          </a:prstGeom>
          <a:noFill/>
          <a:ln/>
        </p:spPr>
        <p:txBody>
          <a:bodyPr wrap="square" lIns="0" tIns="0" rIns="0" bIns="0" rtlCol="0" anchor="ctr"/>
          <a:lstStyle/>
          <a:p>
            <a:pPr marL="0" indent="0" algn="ctr">
              <a:buNone/>
            </a:pPr>
            <a:r>
              <a:rPr lang="en-US" sz="950" dirty="0">
                <a:solidFill>
                  <a:srgbClr val="C9D6EC"/>
                </a:solidFill>
              </a:rPr>
              <a:t>▸</a:t>
            </a:r>
            <a:endParaRPr lang="en-US" sz="1000" dirty="0"/>
          </a:p>
        </p:txBody>
      </p:sp>
      <p:sp>
        <p:nvSpPr>
          <p:cNvPr id="16" name="Shape 14"/>
          <p:cNvSpPr/>
          <p:nvPr/>
        </p:nvSpPr>
        <p:spPr>
          <a:xfrm>
            <a:off x="7525512" y="1371600"/>
            <a:ext cx="1170432" cy="312724"/>
          </a:xfrm>
          <a:prstGeom prst="roundRect">
            <a:avLst>
              <a:gd name="adj" fmla="val 47222"/>
            </a:avLst>
          </a:prstGeom>
          <a:solidFill>
            <a:srgbClr val="EEF1F7"/>
          </a:solidFill>
          <a:ln w="12700">
            <a:solidFill>
              <a:srgbClr val="C9D6EC"/>
            </a:solidFill>
            <a:prstDash val="solid"/>
          </a:ln>
        </p:spPr>
        <p:txBody>
          <a:bodyPr/>
          <a:lstStyle/>
          <a:p>
            <a:endParaRPr/>
          </a:p>
        </p:txBody>
      </p:sp>
      <p:sp>
        <p:nvSpPr>
          <p:cNvPr id="17" name="Text 15"/>
          <p:cNvSpPr txBox="1"/>
          <p:nvPr/>
        </p:nvSpPr>
        <p:spPr>
          <a:xfrm>
            <a:off x="7525512" y="1371600"/>
            <a:ext cx="1170432" cy="312724"/>
          </a:xfrm>
          <a:prstGeom prst="rect">
            <a:avLst/>
          </a:prstGeom>
          <a:noFill/>
          <a:ln/>
        </p:spPr>
        <p:txBody>
          <a:bodyPr wrap="square" lIns="0" tIns="0" rIns="0" bIns="0" rtlCol="0" anchor="ctr"/>
          <a:lstStyle/>
          <a:p>
            <a:pPr marL="0" indent="0" algn="ctr">
              <a:buNone/>
            </a:pPr>
            <a:r>
              <a:rPr lang="en-US" sz="1050" dirty="0">
                <a:solidFill>
                  <a:srgbClr val="5A6478"/>
                </a:solidFill>
                <a:latin typeface="맑은 고딕" pitchFamily="34" charset="0"/>
                <a:ea typeface="맑은 고딕" pitchFamily="34" charset="-122"/>
                <a:cs typeface="맑은 고딕" pitchFamily="34" charset="-120"/>
              </a:rPr>
              <a:t>ECEF</a:t>
            </a:r>
            <a:endParaRPr lang="en-US" sz="1100" dirty="0"/>
          </a:p>
        </p:txBody>
      </p:sp>
      <p:sp>
        <p:nvSpPr>
          <p:cNvPr id="18" name="Text 16"/>
          <p:cNvSpPr txBox="1"/>
          <p:nvPr/>
        </p:nvSpPr>
        <p:spPr>
          <a:xfrm>
            <a:off x="8695944" y="1371600"/>
            <a:ext cx="182880" cy="312724"/>
          </a:xfrm>
          <a:prstGeom prst="rect">
            <a:avLst/>
          </a:prstGeom>
          <a:noFill/>
          <a:ln/>
        </p:spPr>
        <p:txBody>
          <a:bodyPr wrap="square" lIns="0" tIns="0" rIns="0" bIns="0" rtlCol="0" anchor="ctr"/>
          <a:lstStyle/>
          <a:p>
            <a:pPr marL="0" indent="0" algn="ctr">
              <a:buNone/>
            </a:pPr>
            <a:r>
              <a:rPr lang="en-US" sz="950" dirty="0">
                <a:solidFill>
                  <a:srgbClr val="C9D6EC"/>
                </a:solidFill>
              </a:rPr>
              <a:t>▸</a:t>
            </a:r>
            <a:endParaRPr lang="en-US" sz="1000" dirty="0"/>
          </a:p>
        </p:txBody>
      </p:sp>
      <p:sp>
        <p:nvSpPr>
          <p:cNvPr id="19" name="Shape 17"/>
          <p:cNvSpPr/>
          <p:nvPr/>
        </p:nvSpPr>
        <p:spPr>
          <a:xfrm>
            <a:off x="8878824" y="1371600"/>
            <a:ext cx="1170432" cy="312724"/>
          </a:xfrm>
          <a:prstGeom prst="roundRect">
            <a:avLst>
              <a:gd name="adj" fmla="val 47222"/>
            </a:avLst>
          </a:prstGeom>
          <a:solidFill>
            <a:srgbClr val="EEF1F7"/>
          </a:solidFill>
          <a:ln w="12700">
            <a:solidFill>
              <a:srgbClr val="C9D6EC"/>
            </a:solidFill>
            <a:prstDash val="solid"/>
          </a:ln>
        </p:spPr>
        <p:txBody>
          <a:bodyPr/>
          <a:lstStyle/>
          <a:p>
            <a:endParaRPr/>
          </a:p>
        </p:txBody>
      </p:sp>
      <p:sp>
        <p:nvSpPr>
          <p:cNvPr id="20" name="Text 18"/>
          <p:cNvSpPr txBox="1"/>
          <p:nvPr/>
        </p:nvSpPr>
        <p:spPr>
          <a:xfrm>
            <a:off x="8878824" y="1371600"/>
            <a:ext cx="1170432" cy="312724"/>
          </a:xfrm>
          <a:prstGeom prst="rect">
            <a:avLst/>
          </a:prstGeom>
          <a:noFill/>
          <a:ln/>
        </p:spPr>
        <p:txBody>
          <a:bodyPr wrap="square" lIns="0" tIns="0" rIns="0" bIns="0" rtlCol="0" anchor="ctr"/>
          <a:lstStyle/>
          <a:p>
            <a:pPr marL="0" indent="0" algn="ctr">
              <a:buNone/>
            </a:pPr>
            <a:r>
              <a:rPr lang="en-US" sz="1050" dirty="0">
                <a:solidFill>
                  <a:srgbClr val="5A6478"/>
                </a:solidFill>
                <a:latin typeface="맑은 고딕" pitchFamily="34" charset="0"/>
                <a:ea typeface="맑은 고딕" pitchFamily="34" charset="-122"/>
                <a:cs typeface="맑은 고딕" pitchFamily="34" charset="-120"/>
              </a:rPr>
              <a:t>LLA</a:t>
            </a:r>
            <a:endParaRPr lang="en-US" sz="1100" dirty="0"/>
          </a:p>
        </p:txBody>
      </p:sp>
      <p:pic>
        <p:nvPicPr>
          <p:cNvPr id="21" name="Image 0" descr="/home/claude/gitpkg/Part2_CoordFrames/doc/figures/fig06_body.png"/>
          <p:cNvPicPr>
            <a:picLocks noChangeAspect="1"/>
          </p:cNvPicPr>
          <p:nvPr/>
        </p:nvPicPr>
        <p:blipFill>
          <a:blip r:embed="rId3"/>
          <a:stretch>
            <a:fillRect/>
          </a:stretch>
        </p:blipFill>
        <p:spPr>
          <a:xfrm>
            <a:off x="566928" y="1755648"/>
            <a:ext cx="11064240" cy="3218688"/>
          </a:xfrm>
          <a:prstGeom prst="rect">
            <a:avLst/>
          </a:prstGeom>
        </p:spPr>
      </p:pic>
      <p:sp>
        <p:nvSpPr>
          <p:cNvPr id="35" name="Rectangle 34"/>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endParaRPr/>
          </a:p>
        </p:txBody>
      </p:sp>
      <p:sp>
        <p:nvSpPr>
          <p:cNvPr id="36" name="TextBox 35"/>
          <p:cNvSpPr txBox="1"/>
          <p:nvPr/>
        </p:nvSpPr>
        <p:spPr>
          <a:xfrm>
            <a:off x="640080" y="411480"/>
            <a:ext cx="8732520" cy="777240"/>
          </a:xfrm>
          <a:prstGeom prst="rect">
            <a:avLst/>
          </a:prstGeom>
          <a:noFill/>
        </p:spPr>
        <p:txBody>
          <a:bodyPr wrap="square" lIns="0" tIns="0" rIns="0" bIns="0" anchor="ctr">
            <a:spAutoFit/>
          </a:bodyPr>
          <a:lstStyle/>
          <a:p>
            <a:pPr algn="l">
              <a:spcAft>
                <a:spcPts val="300"/>
              </a:spcAft>
            </a:pPr>
            <a:r>
              <a:rPr sz="1900" b="1">
                <a:solidFill>
                  <a:srgbClr val="FFFFFF"/>
                </a:solidFill>
                <a:latin typeface="맑은 고딕"/>
              </a:rPr>
              <a:t>01. 동체(Body) 좌표계</a:t>
            </a:r>
          </a:p>
          <a:p>
            <a:pPr algn="l">
              <a:lnSpc>
                <a:spcPts val="1400"/>
              </a:lnSpc>
            </a:pPr>
            <a:r>
              <a:rPr sz="1100" b="0">
                <a:solidFill>
                  <a:srgbClr val="C9D6EC"/>
                </a:solidFill>
                <a:latin typeface="맑은 고딕"/>
              </a:rPr>
              <a:t>배에 실린 모든 장비의 공통 기준 — 안테나 · INS · 무장이 모입니다.  안테나를 옮기는 데 필요한 것은 설치 정렬값 셋뿐입니다</a:t>
            </a:r>
          </a:p>
        </p:txBody>
      </p:sp>
      <p:cxnSp>
        <p:nvCxnSpPr>
          <p:cNvPr id="38" name="Connector 37"/>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0" y="6400800"/>
            <a:ext cx="914400" cy="274320"/>
          </a:xfrm>
          <a:prstGeom prst="rect">
            <a:avLst/>
          </a:prstGeom>
          <a:noFill/>
        </p:spPr>
        <p:txBody>
          <a:bodyPr wrap="none" lIns="0" tIns="0" rIns="0" bIns="0">
            <a:spAutoFit/>
          </a:bodyPr>
          <a:lstStyle/>
          <a:p>
            <a:pPr algn="ctr"/>
            <a:fld id="{1D0B0B0B-0000-4000-8000-00000000C0DE}" type="slidenum">
              <a:rPr lang="ko-KR" altLang="en-US" sz="1000" b="0" dirty="0">
                <a:solidFill>
                  <a:srgbClr val="1A2233"/>
                </a:solidFill>
                <a:latin typeface="Arial"/>
                <a:ea typeface="Arial"/>
              </a:rPr>
              <a:t>10</a:t>
            </a:fld>
            <a:endParaRPr lang="ko-KR" altLang="en-US" sz="1000" b="0" dirty="0">
              <a:solidFill>
                <a:srgbClr val="1A2233"/>
              </a:solidFill>
              <a:latin typeface="Arial"/>
              <a:ea typeface="Arial"/>
            </a:endParaRPr>
          </a:p>
        </p:txBody>
      </p:sp>
      <p:sp>
        <p:nvSpPr>
          <p:cNvPr id="41" name="Shape 19"/>
          <p:cNvSpPr/>
          <p:nvPr/>
        </p:nvSpPr>
        <p:spPr>
          <a:xfrm>
            <a:off x="566928" y="5047488"/>
            <a:ext cx="3017520" cy="1188720"/>
          </a:xfrm>
          <a:prstGeom prst="roundRect">
            <a:avLst>
              <a:gd name="adj" fmla="val 6800"/>
            </a:avLst>
          </a:prstGeom>
          <a:solidFill>
            <a:srgbClr val="EEF1F7"/>
          </a:solidFill>
          <a:ln w="12700">
            <a:solidFill>
              <a:srgbClr val="FFFFFF"/>
            </a:solidFill>
            <a:prstDash val="solid"/>
          </a:ln>
        </p:spPr>
        <p:txBody>
          <a:bodyPr/>
          <a:lstStyle/>
          <a:p>
            <a:endParaRPr/>
          </a:p>
        </p:txBody>
      </p:sp>
      <p:sp>
        <p:nvSpPr>
          <p:cNvPr id="42" name="Text 20"/>
          <p:cNvSpPr txBox="1"/>
          <p:nvPr/>
        </p:nvSpPr>
        <p:spPr>
          <a:xfrm>
            <a:off x="786384" y="5148072"/>
            <a:ext cx="2578608" cy="256032"/>
          </a:xfrm>
          <a:prstGeom prst="rect">
            <a:avLst/>
          </a:prstGeom>
          <a:noFill/>
          <a:ln/>
        </p:spPr>
        <p:txBody>
          <a:bodyPr wrap="square" lIns="0" tIns="0" rIns="0" bIns="0" rtlCol="0" anchor="t"/>
          <a:lstStyle/>
          <a:p>
            <a:pPr marL="0" indent="0">
              <a:buNone/>
            </a:pPr>
            <a:r>
              <a:rPr lang="ko-KR" sz="1140" b="1" dirty="0">
                <a:solidFill>
                  <a:srgbClr val="2B57A6"/>
                </a:solidFill>
                <a:latin typeface="맑은 고딕" pitchFamily="34" charset="0"/>
                <a:ea typeface="맑은 고딕" pitchFamily="34" charset="-122"/>
                <a:cs typeface="맑은 고딕" pitchFamily="34" charset="-120"/>
              </a:rPr>
              <a:t>동체 좌표계</a:t>
            </a:r>
          </a:p>
        </p:txBody>
      </p:sp>
      <p:sp>
        <p:nvSpPr>
          <p:cNvPr id="43" name="Text 21"/>
          <p:cNvSpPr txBox="1"/>
          <p:nvPr/>
        </p:nvSpPr>
        <p:spPr>
          <a:xfrm>
            <a:off x="786384" y="5449824"/>
            <a:ext cx="2578608" cy="694944"/>
          </a:xfrm>
          <a:prstGeom prst="rect">
            <a:avLst/>
          </a:prstGeom>
          <a:noFill/>
          <a:ln/>
        </p:spPr>
        <p:txBody>
          <a:bodyPr wrap="square" lIns="0" tIns="0" rIns="0" bIns="0" rtlCol="0" anchor="t"/>
          <a:lstStyle/>
          <a:p>
            <a:pPr marL="0" indent="0">
              <a:lnSpc>
                <a:spcPts val="1700"/>
              </a:lnSpc>
              <a:buNone/>
            </a:pPr>
            <a:r>
              <a:rPr lang="ko-KR" sz="1050" b="0" dirty="0">
                <a:solidFill>
                  <a:srgbClr val="1A2233"/>
                </a:solidFill>
                <a:latin typeface="맑은 고딕" pitchFamily="34" charset="0"/>
                <a:ea typeface="맑은 고딕" pitchFamily="34" charset="-122"/>
                <a:cs typeface="맑은 고딕" pitchFamily="34" charset="-120"/>
              </a:rPr>
              <a:t>원점 = 배의 무게중심</a:t>
            </a:r>
          </a:p>
          <a:p>
            <a:pPr marL="0" indent="0">
              <a:lnSpc>
                <a:spcPts val="1700"/>
              </a:lnSpc>
              <a:buNone/>
            </a:pPr>
            <a:r>
              <a:rPr lang="ko-KR" sz="1050" b="0" dirty="0">
                <a:solidFill>
                  <a:srgbClr val="1A2233"/>
                </a:solidFill>
                <a:latin typeface="맑은 고딕" pitchFamily="34" charset="0"/>
                <a:ea typeface="맑은 고딕" pitchFamily="34" charset="-122"/>
                <a:cs typeface="맑은 고딕" pitchFamily="34" charset="-120"/>
              </a:rPr>
              <a:t>x 선수 · y 우현 · z 아래</a:t>
            </a:r>
          </a:p>
          <a:p>
            <a:pPr marL="0" indent="0">
              <a:lnSpc>
                <a:spcPts val="1700"/>
              </a:lnSpc>
              <a:buNone/>
            </a:pPr>
            <a:r>
              <a:rPr lang="ko-KR" sz="1050" b="0" dirty="0">
                <a:solidFill>
                  <a:srgbClr val="5A6478"/>
                </a:solidFill>
                <a:latin typeface="맑은 고딕" pitchFamily="34" charset="0"/>
                <a:ea typeface="맑은 고딕" pitchFamily="34" charset="-122"/>
                <a:cs typeface="맑은 고딕" pitchFamily="34" charset="-120"/>
              </a:rPr>
              <a:t>→ FRD (Forward-Right-Down)</a:t>
            </a:r>
          </a:p>
        </p:txBody>
      </p:sp>
      <p:sp>
        <p:nvSpPr>
          <p:cNvPr id="44" name="Shape 22"/>
          <p:cNvSpPr/>
          <p:nvPr/>
        </p:nvSpPr>
        <p:spPr>
          <a:xfrm>
            <a:off x="3712463" y="5010912"/>
            <a:ext cx="7918704" cy="1280160"/>
          </a:xfrm>
          <a:prstGeom prst="roundRect">
            <a:avLst>
              <a:gd name="adj" fmla="val 6800"/>
            </a:avLst>
          </a:prstGeom>
          <a:solidFill>
            <a:srgbClr val="EEF1F7"/>
          </a:solidFill>
          <a:ln w="12700">
            <a:solidFill>
              <a:srgbClr val="FFFFFF"/>
            </a:solidFill>
            <a:prstDash val="solid"/>
          </a:ln>
        </p:spPr>
        <p:txBody>
          <a:bodyPr/>
          <a:lstStyle/>
          <a:p>
            <a:endParaRPr/>
          </a:p>
        </p:txBody>
      </p:sp>
      <p:pic>
        <p:nvPicPr>
          <p:cNvPr id="45" name="Flow 0" descr="fig25_body_flow.png"/>
          <p:cNvPicPr>
            <a:picLocks noChangeAspect="1"/>
          </p:cNvPicPr>
          <p:nvPr/>
        </p:nvPicPr>
        <p:blipFill>
          <a:blip r:embed="rId4"/>
          <a:stretch>
            <a:fillRect/>
          </a:stretch>
        </p:blipFill>
        <p:spPr>
          <a:xfrm>
            <a:off x="4060644" y="5084064"/>
            <a:ext cx="7222343" cy="105574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6">
    <p:bg>
      <p:bgPr>
        <a:solidFill>
          <a:srgbClr val="E8EDF5"/>
        </a:solidFill>
        <a:effectLst/>
      </p:bgPr>
    </p:bg>
    <p:spTree>
      <p:nvGrpSpPr>
        <p:cNvPr id="1" name=""/>
        <p:cNvGrpSpPr/>
        <p:nvPr/>
      </p:nvGrpSpPr>
      <p:grpSpPr>
        <a:xfrm>
          <a:off x="0" y="0"/>
          <a:ext cx="0" cy="0"/>
          <a:chOff x="0" y="0"/>
          <a:chExt cx="0" cy="0"/>
        </a:xfrm>
      </p:grpSpPr>
      <p:sp>
        <p:nvSpPr>
          <p:cNvPr id="27" name="Rectangle 26"/>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endParaRPr/>
          </a:p>
        </p:txBody>
      </p:sp>
      <p:sp>
        <p:nvSpPr>
          <p:cNvPr id="4" name="Shape 2"/>
          <p:cNvSpPr/>
          <p:nvPr/>
        </p:nvSpPr>
        <p:spPr>
          <a:xfrm>
            <a:off x="2112264" y="1371600"/>
            <a:ext cx="1170432" cy="329184"/>
          </a:xfrm>
          <a:prstGeom prst="roundRect">
            <a:avLst>
              <a:gd name="adj" fmla="val 47222"/>
            </a:avLst>
          </a:prstGeom>
          <a:solidFill>
            <a:srgbClr val="EEF1F7"/>
          </a:solidFill>
          <a:ln w="12700">
            <a:solidFill>
              <a:srgbClr val="C9D6EC"/>
            </a:solidFill>
            <a:prstDash val="solid"/>
          </a:ln>
        </p:spPr>
        <p:txBody>
          <a:bodyPr/>
          <a:lstStyle/>
          <a:p>
            <a:endParaRPr/>
          </a:p>
        </p:txBody>
      </p:sp>
      <p:sp>
        <p:nvSpPr>
          <p:cNvPr id="5" name="Text 3"/>
          <p:cNvSpPr txBox="1"/>
          <p:nvPr/>
        </p:nvSpPr>
        <p:spPr>
          <a:xfrm>
            <a:off x="2112264" y="1371600"/>
            <a:ext cx="1170432" cy="329184"/>
          </a:xfrm>
          <a:prstGeom prst="rect">
            <a:avLst/>
          </a:prstGeom>
          <a:noFill/>
          <a:ln/>
        </p:spPr>
        <p:txBody>
          <a:bodyPr wrap="square" lIns="0" tIns="0" rIns="0" bIns="0" rtlCol="0" anchor="ctr"/>
          <a:lstStyle/>
          <a:p>
            <a:pPr marL="0" indent="0" algn="ctr">
              <a:buNone/>
            </a:pPr>
            <a:r>
              <a:rPr lang="en-US" sz="1100" dirty="0">
                <a:solidFill>
                  <a:srgbClr val="5A6478"/>
                </a:solidFill>
                <a:latin typeface="맑은 고딕" pitchFamily="34" charset="0"/>
                <a:ea typeface="맑은 고딕" pitchFamily="34" charset="-122"/>
                <a:cs typeface="맑은 고딕" pitchFamily="34" charset="-120"/>
              </a:rPr>
              <a:t>측정</a:t>
            </a:r>
            <a:endParaRPr lang="en-US" sz="1100" dirty="0"/>
          </a:p>
        </p:txBody>
      </p:sp>
      <p:sp>
        <p:nvSpPr>
          <p:cNvPr id="6" name="Text 4"/>
          <p:cNvSpPr txBox="1"/>
          <p:nvPr/>
        </p:nvSpPr>
        <p:spPr>
          <a:xfrm>
            <a:off x="3282696" y="1371600"/>
            <a:ext cx="182880" cy="329184"/>
          </a:xfrm>
          <a:prstGeom prst="rect">
            <a:avLst/>
          </a:prstGeom>
          <a:noFill/>
          <a:ln/>
        </p:spPr>
        <p:txBody>
          <a:bodyPr wrap="square" lIns="0" tIns="0" rIns="0" bIns="0" rtlCol="0" anchor="ctr"/>
          <a:lstStyle/>
          <a:p>
            <a:pPr marL="0" indent="0" algn="ctr">
              <a:buNone/>
            </a:pPr>
            <a:r>
              <a:rPr lang="en-US" sz="1000" dirty="0">
                <a:solidFill>
                  <a:srgbClr val="C9D6EC"/>
                </a:solidFill>
              </a:rPr>
              <a:t>▸</a:t>
            </a:r>
            <a:endParaRPr lang="en-US" sz="1000" dirty="0"/>
          </a:p>
        </p:txBody>
      </p:sp>
      <p:sp>
        <p:nvSpPr>
          <p:cNvPr id="7" name="Shape 5"/>
          <p:cNvSpPr/>
          <p:nvPr/>
        </p:nvSpPr>
        <p:spPr>
          <a:xfrm>
            <a:off x="3465576" y="1371600"/>
            <a:ext cx="1170432" cy="329184"/>
          </a:xfrm>
          <a:prstGeom prst="roundRect">
            <a:avLst>
              <a:gd name="adj" fmla="val 47222"/>
            </a:avLst>
          </a:prstGeom>
          <a:solidFill>
            <a:srgbClr val="EEF1F7"/>
          </a:solidFill>
          <a:ln w="12700">
            <a:solidFill>
              <a:srgbClr val="C9D6EC"/>
            </a:solidFill>
            <a:prstDash val="solid"/>
          </a:ln>
        </p:spPr>
        <p:txBody>
          <a:bodyPr/>
          <a:lstStyle/>
          <a:p>
            <a:endParaRPr/>
          </a:p>
        </p:txBody>
      </p:sp>
      <p:sp>
        <p:nvSpPr>
          <p:cNvPr id="8" name="Text 6"/>
          <p:cNvSpPr txBox="1"/>
          <p:nvPr/>
        </p:nvSpPr>
        <p:spPr>
          <a:xfrm>
            <a:off x="3465576" y="1371600"/>
            <a:ext cx="1170432" cy="329184"/>
          </a:xfrm>
          <a:prstGeom prst="rect">
            <a:avLst/>
          </a:prstGeom>
          <a:noFill/>
          <a:ln/>
        </p:spPr>
        <p:txBody>
          <a:bodyPr wrap="square" lIns="0" tIns="0" rIns="0" bIns="0" rtlCol="0" anchor="ctr"/>
          <a:lstStyle/>
          <a:p>
            <a:pPr marL="0" indent="0" algn="ctr">
              <a:buNone/>
            </a:pPr>
            <a:r>
              <a:rPr lang="en-US" sz="1100" dirty="0">
                <a:solidFill>
                  <a:srgbClr val="5A6478"/>
                </a:solidFill>
                <a:latin typeface="맑은 고딕" pitchFamily="34" charset="0"/>
                <a:ea typeface="맑은 고딕" pitchFamily="34" charset="-122"/>
                <a:cs typeface="맑은 고딕" pitchFamily="34" charset="-120"/>
              </a:rPr>
              <a:t>안테나</a:t>
            </a:r>
            <a:endParaRPr lang="en-US" sz="1100" dirty="0"/>
          </a:p>
        </p:txBody>
      </p:sp>
      <p:sp>
        <p:nvSpPr>
          <p:cNvPr id="9" name="Text 7"/>
          <p:cNvSpPr txBox="1"/>
          <p:nvPr/>
        </p:nvSpPr>
        <p:spPr>
          <a:xfrm>
            <a:off x="4636008" y="1371600"/>
            <a:ext cx="182880" cy="329184"/>
          </a:xfrm>
          <a:prstGeom prst="rect">
            <a:avLst/>
          </a:prstGeom>
          <a:noFill/>
          <a:ln/>
        </p:spPr>
        <p:txBody>
          <a:bodyPr wrap="square" lIns="0" tIns="0" rIns="0" bIns="0" rtlCol="0" anchor="ctr"/>
          <a:lstStyle/>
          <a:p>
            <a:pPr marL="0" indent="0" algn="ctr">
              <a:buNone/>
            </a:pPr>
            <a:r>
              <a:rPr lang="en-US" sz="1000" dirty="0">
                <a:solidFill>
                  <a:srgbClr val="C9D6EC"/>
                </a:solidFill>
              </a:rPr>
              <a:t>▸</a:t>
            </a:r>
            <a:endParaRPr lang="en-US" sz="1000" dirty="0"/>
          </a:p>
        </p:txBody>
      </p:sp>
      <p:sp>
        <p:nvSpPr>
          <p:cNvPr id="10" name="Shape 8"/>
          <p:cNvSpPr/>
          <p:nvPr/>
        </p:nvSpPr>
        <p:spPr>
          <a:xfrm>
            <a:off x="4818888" y="1371600"/>
            <a:ext cx="1170432" cy="329184"/>
          </a:xfrm>
          <a:prstGeom prst="roundRect">
            <a:avLst>
              <a:gd name="adj" fmla="val 47222"/>
            </a:avLst>
          </a:prstGeom>
          <a:solidFill>
            <a:srgbClr val="C2521C"/>
          </a:solidFill>
          <a:ln w="12700">
            <a:solidFill>
              <a:srgbClr val="C2521C"/>
            </a:solidFill>
            <a:prstDash val="solid"/>
          </a:ln>
        </p:spPr>
        <p:txBody>
          <a:bodyPr/>
          <a:lstStyle/>
          <a:p>
            <a:endParaRPr/>
          </a:p>
        </p:txBody>
      </p:sp>
      <p:sp>
        <p:nvSpPr>
          <p:cNvPr id="11" name="Text 9"/>
          <p:cNvSpPr txBox="1"/>
          <p:nvPr/>
        </p:nvSpPr>
        <p:spPr>
          <a:xfrm>
            <a:off x="4818888" y="1371600"/>
            <a:ext cx="1170432" cy="329184"/>
          </a:xfrm>
          <a:prstGeom prst="rect">
            <a:avLst/>
          </a:prstGeom>
          <a:noFill/>
          <a:ln/>
        </p:spPr>
        <p:txBody>
          <a:bodyPr wrap="square" lIns="0" tIns="0" rIns="0" bIns="0" rtlCol="0" anchor="ctr"/>
          <a:lstStyle/>
          <a:p>
            <a:pPr marL="0" indent="0" algn="ctr">
              <a:buNone/>
            </a:pPr>
            <a:r>
              <a:rPr lang="en-US" sz="1100" b="1" dirty="0">
                <a:solidFill>
                  <a:srgbClr val="FFFFFF"/>
                </a:solidFill>
                <a:latin typeface="맑은 고딕" pitchFamily="34" charset="0"/>
                <a:ea typeface="맑은 고딕" pitchFamily="34" charset="-122"/>
                <a:cs typeface="맑은 고딕" pitchFamily="34" charset="-120"/>
              </a:rPr>
              <a:t>동체</a:t>
            </a:r>
            <a:endParaRPr lang="en-US" sz="1100" dirty="0"/>
          </a:p>
        </p:txBody>
      </p:sp>
      <p:sp>
        <p:nvSpPr>
          <p:cNvPr id="12" name="Text 10"/>
          <p:cNvSpPr txBox="1"/>
          <p:nvPr/>
        </p:nvSpPr>
        <p:spPr>
          <a:xfrm>
            <a:off x="5989320" y="1371600"/>
            <a:ext cx="182880" cy="329184"/>
          </a:xfrm>
          <a:prstGeom prst="rect">
            <a:avLst/>
          </a:prstGeom>
          <a:noFill/>
          <a:ln/>
        </p:spPr>
        <p:txBody>
          <a:bodyPr wrap="square" lIns="0" tIns="0" rIns="0" bIns="0" rtlCol="0" anchor="ctr"/>
          <a:lstStyle/>
          <a:p>
            <a:pPr marL="0" indent="0" algn="ctr">
              <a:buNone/>
            </a:pPr>
            <a:r>
              <a:rPr lang="en-US" sz="1000" dirty="0">
                <a:solidFill>
                  <a:srgbClr val="C9D6EC"/>
                </a:solidFill>
              </a:rPr>
              <a:t>▸</a:t>
            </a:r>
            <a:endParaRPr lang="en-US" sz="1000" dirty="0"/>
          </a:p>
        </p:txBody>
      </p:sp>
      <p:sp>
        <p:nvSpPr>
          <p:cNvPr id="13" name="Shape 11"/>
          <p:cNvSpPr/>
          <p:nvPr/>
        </p:nvSpPr>
        <p:spPr>
          <a:xfrm>
            <a:off x="6172200" y="1371600"/>
            <a:ext cx="1170432" cy="329184"/>
          </a:xfrm>
          <a:prstGeom prst="roundRect">
            <a:avLst>
              <a:gd name="adj" fmla="val 47222"/>
            </a:avLst>
          </a:prstGeom>
          <a:solidFill>
            <a:srgbClr val="EEF1F7"/>
          </a:solidFill>
          <a:ln w="12700">
            <a:solidFill>
              <a:srgbClr val="C9D6EC"/>
            </a:solidFill>
            <a:prstDash val="solid"/>
          </a:ln>
        </p:spPr>
        <p:txBody>
          <a:bodyPr/>
          <a:lstStyle/>
          <a:p>
            <a:endParaRPr/>
          </a:p>
        </p:txBody>
      </p:sp>
      <p:sp>
        <p:nvSpPr>
          <p:cNvPr id="14" name="Text 12"/>
          <p:cNvSpPr txBox="1"/>
          <p:nvPr/>
        </p:nvSpPr>
        <p:spPr>
          <a:xfrm>
            <a:off x="6172200" y="1371600"/>
            <a:ext cx="1170432" cy="329184"/>
          </a:xfrm>
          <a:prstGeom prst="rect">
            <a:avLst/>
          </a:prstGeom>
          <a:noFill/>
          <a:ln/>
        </p:spPr>
        <p:txBody>
          <a:bodyPr wrap="square" lIns="0" tIns="0" rIns="0" bIns="0" rtlCol="0" anchor="ctr"/>
          <a:lstStyle/>
          <a:p>
            <a:pPr marL="0" indent="0" algn="ctr">
              <a:buNone/>
            </a:pPr>
            <a:r>
              <a:rPr lang="en-US" sz="1100" dirty="0">
                <a:solidFill>
                  <a:srgbClr val="5A6478"/>
                </a:solidFill>
                <a:latin typeface="맑은 고딕" pitchFamily="34" charset="0"/>
                <a:ea typeface="맑은 고딕" pitchFamily="34" charset="-122"/>
                <a:cs typeface="맑은 고딕" pitchFamily="34" charset="-120"/>
              </a:rPr>
              <a:t>NED</a:t>
            </a:r>
            <a:endParaRPr lang="en-US" sz="1100" dirty="0"/>
          </a:p>
        </p:txBody>
      </p:sp>
      <p:sp>
        <p:nvSpPr>
          <p:cNvPr id="15" name="Text 13"/>
          <p:cNvSpPr txBox="1"/>
          <p:nvPr/>
        </p:nvSpPr>
        <p:spPr>
          <a:xfrm>
            <a:off x="7342632" y="1371600"/>
            <a:ext cx="182880" cy="329184"/>
          </a:xfrm>
          <a:prstGeom prst="rect">
            <a:avLst/>
          </a:prstGeom>
          <a:noFill/>
          <a:ln/>
        </p:spPr>
        <p:txBody>
          <a:bodyPr wrap="square" lIns="0" tIns="0" rIns="0" bIns="0" rtlCol="0" anchor="ctr"/>
          <a:lstStyle/>
          <a:p>
            <a:pPr marL="0" indent="0" algn="ctr">
              <a:buNone/>
            </a:pPr>
            <a:r>
              <a:rPr lang="en-US" sz="1000" dirty="0">
                <a:solidFill>
                  <a:srgbClr val="C9D6EC"/>
                </a:solidFill>
              </a:rPr>
              <a:t>▸</a:t>
            </a:r>
            <a:endParaRPr lang="en-US" sz="1000" dirty="0"/>
          </a:p>
        </p:txBody>
      </p:sp>
      <p:sp>
        <p:nvSpPr>
          <p:cNvPr id="16" name="Shape 14"/>
          <p:cNvSpPr/>
          <p:nvPr/>
        </p:nvSpPr>
        <p:spPr>
          <a:xfrm>
            <a:off x="7525512" y="1371600"/>
            <a:ext cx="1170432" cy="329184"/>
          </a:xfrm>
          <a:prstGeom prst="roundRect">
            <a:avLst>
              <a:gd name="adj" fmla="val 47222"/>
            </a:avLst>
          </a:prstGeom>
          <a:solidFill>
            <a:srgbClr val="EEF1F7"/>
          </a:solidFill>
          <a:ln w="12700">
            <a:solidFill>
              <a:srgbClr val="C9D6EC"/>
            </a:solidFill>
            <a:prstDash val="solid"/>
          </a:ln>
        </p:spPr>
        <p:txBody>
          <a:bodyPr/>
          <a:lstStyle/>
          <a:p>
            <a:endParaRPr/>
          </a:p>
        </p:txBody>
      </p:sp>
      <p:sp>
        <p:nvSpPr>
          <p:cNvPr id="17" name="Text 15"/>
          <p:cNvSpPr txBox="1"/>
          <p:nvPr/>
        </p:nvSpPr>
        <p:spPr>
          <a:xfrm>
            <a:off x="7525512" y="1371600"/>
            <a:ext cx="1170432" cy="329184"/>
          </a:xfrm>
          <a:prstGeom prst="rect">
            <a:avLst/>
          </a:prstGeom>
          <a:noFill/>
          <a:ln/>
        </p:spPr>
        <p:txBody>
          <a:bodyPr wrap="square" lIns="0" tIns="0" rIns="0" bIns="0" rtlCol="0" anchor="ctr"/>
          <a:lstStyle/>
          <a:p>
            <a:pPr marL="0" indent="0" algn="ctr">
              <a:buNone/>
            </a:pPr>
            <a:r>
              <a:rPr lang="en-US" sz="1100" dirty="0">
                <a:solidFill>
                  <a:srgbClr val="5A6478"/>
                </a:solidFill>
                <a:latin typeface="맑은 고딕" pitchFamily="34" charset="0"/>
                <a:ea typeface="맑은 고딕" pitchFamily="34" charset="-122"/>
                <a:cs typeface="맑은 고딕" pitchFamily="34" charset="-120"/>
              </a:rPr>
              <a:t>ECEF</a:t>
            </a:r>
            <a:endParaRPr lang="en-US" sz="1100" dirty="0"/>
          </a:p>
        </p:txBody>
      </p:sp>
      <p:sp>
        <p:nvSpPr>
          <p:cNvPr id="18" name="Text 16"/>
          <p:cNvSpPr txBox="1"/>
          <p:nvPr/>
        </p:nvSpPr>
        <p:spPr>
          <a:xfrm>
            <a:off x="8695944" y="1371600"/>
            <a:ext cx="182880" cy="329184"/>
          </a:xfrm>
          <a:prstGeom prst="rect">
            <a:avLst/>
          </a:prstGeom>
          <a:noFill/>
          <a:ln/>
        </p:spPr>
        <p:txBody>
          <a:bodyPr wrap="square" lIns="0" tIns="0" rIns="0" bIns="0" rtlCol="0" anchor="ctr"/>
          <a:lstStyle/>
          <a:p>
            <a:pPr marL="0" indent="0" algn="ctr">
              <a:buNone/>
            </a:pPr>
            <a:r>
              <a:rPr lang="en-US" sz="1000" dirty="0">
                <a:solidFill>
                  <a:srgbClr val="C9D6EC"/>
                </a:solidFill>
              </a:rPr>
              <a:t>▸</a:t>
            </a:r>
            <a:endParaRPr lang="en-US" sz="1000" dirty="0"/>
          </a:p>
        </p:txBody>
      </p:sp>
      <p:sp>
        <p:nvSpPr>
          <p:cNvPr id="19" name="Shape 17"/>
          <p:cNvSpPr/>
          <p:nvPr/>
        </p:nvSpPr>
        <p:spPr>
          <a:xfrm>
            <a:off x="8878824" y="1371600"/>
            <a:ext cx="1170432" cy="329184"/>
          </a:xfrm>
          <a:prstGeom prst="roundRect">
            <a:avLst>
              <a:gd name="adj" fmla="val 47222"/>
            </a:avLst>
          </a:prstGeom>
          <a:solidFill>
            <a:srgbClr val="EEF1F7"/>
          </a:solidFill>
          <a:ln w="12700">
            <a:solidFill>
              <a:srgbClr val="C9D6EC"/>
            </a:solidFill>
            <a:prstDash val="solid"/>
          </a:ln>
        </p:spPr>
        <p:txBody>
          <a:bodyPr/>
          <a:lstStyle/>
          <a:p>
            <a:endParaRPr/>
          </a:p>
        </p:txBody>
      </p:sp>
      <p:sp>
        <p:nvSpPr>
          <p:cNvPr id="20" name="Text 18"/>
          <p:cNvSpPr txBox="1"/>
          <p:nvPr/>
        </p:nvSpPr>
        <p:spPr>
          <a:xfrm>
            <a:off x="8878824" y="1371600"/>
            <a:ext cx="1170432" cy="329184"/>
          </a:xfrm>
          <a:prstGeom prst="rect">
            <a:avLst/>
          </a:prstGeom>
          <a:noFill/>
          <a:ln/>
        </p:spPr>
        <p:txBody>
          <a:bodyPr wrap="square" lIns="0" tIns="0" rIns="0" bIns="0" rtlCol="0" anchor="ctr"/>
          <a:lstStyle/>
          <a:p>
            <a:pPr marL="0" indent="0" algn="ctr">
              <a:buNone/>
            </a:pPr>
            <a:r>
              <a:rPr lang="en-US" sz="1100" dirty="0">
                <a:solidFill>
                  <a:srgbClr val="5A6478"/>
                </a:solidFill>
                <a:latin typeface="맑은 고딕" pitchFamily="34" charset="0"/>
                <a:ea typeface="맑은 고딕" pitchFamily="34" charset="-122"/>
                <a:cs typeface="맑은 고딕" pitchFamily="34" charset="-120"/>
              </a:rPr>
              <a:t>LLA</a:t>
            </a:r>
            <a:endParaRPr lang="en-US" sz="1100" dirty="0"/>
          </a:p>
        </p:txBody>
      </p:sp>
      <p:sp>
        <p:nvSpPr>
          <p:cNvPr id="28" name="Rectangle 27"/>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endParaRPr/>
          </a:p>
        </p:txBody>
      </p:sp>
      <p:sp>
        <p:nvSpPr>
          <p:cNvPr id="29" name="TextBox 28"/>
          <p:cNvSpPr txBox="1"/>
          <p:nvPr/>
        </p:nvSpPr>
        <p:spPr>
          <a:xfrm>
            <a:off x="640080" y="411480"/>
            <a:ext cx="8732520" cy="777240"/>
          </a:xfrm>
          <a:prstGeom prst="rect">
            <a:avLst/>
          </a:prstGeom>
          <a:noFill/>
        </p:spPr>
        <p:txBody>
          <a:bodyPr wrap="square" lIns="0" tIns="0" rIns="0" bIns="0" anchor="ctr">
            <a:spAutoFit/>
          </a:bodyPr>
          <a:lstStyle/>
          <a:p>
            <a:pPr algn="l">
              <a:spcAft>
                <a:spcPts val="300"/>
              </a:spcAft>
            </a:pPr>
            <a:r>
              <a:rPr sz="1900" b="1">
                <a:solidFill>
                  <a:srgbClr val="FFFFFF"/>
                </a:solidFill>
                <a:latin typeface="맑은 고딕"/>
              </a:rPr>
              <a:t>01. INS 좌표계</a:t>
            </a:r>
          </a:p>
          <a:p>
            <a:pPr algn="l">
              <a:lnSpc>
                <a:spcPts val="1400"/>
              </a:lnSpc>
            </a:pPr>
            <a:r>
              <a:rPr sz="1100" b="0">
                <a:solidFill>
                  <a:srgbClr val="C9D6EC"/>
                </a:solidFill>
                <a:latin typeface="맑은 고딕"/>
              </a:rPr>
              <a:t>이 과제에서는 무게중심에 축을 맞춰 달아 동체 좌표계와 같습니다 — 그래서 이 장은 INS 가 주는 값 이야기입니다</a:t>
            </a:r>
          </a:p>
        </p:txBody>
      </p:sp>
      <p:cxnSp>
        <p:nvCxnSpPr>
          <p:cNvPr id="31" name="Connector 30"/>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0" y="6400800"/>
            <a:ext cx="914400" cy="274320"/>
          </a:xfrm>
          <a:prstGeom prst="rect">
            <a:avLst/>
          </a:prstGeom>
          <a:noFill/>
        </p:spPr>
        <p:txBody>
          <a:bodyPr wrap="none" lIns="0" tIns="0" rIns="0" bIns="0">
            <a:spAutoFit/>
          </a:bodyPr>
          <a:lstStyle/>
          <a:p>
            <a:pPr algn="ctr"/>
            <a:fld id="{1D0B0B0B-0000-4000-8000-00000000C0DE}" type="slidenum">
              <a:rPr lang="ko-KR" altLang="en-US" sz="1000" b="0" dirty="0">
                <a:solidFill>
                  <a:srgbClr val="1A2233"/>
                </a:solidFill>
                <a:latin typeface="Arial"/>
                <a:ea typeface="Arial"/>
              </a:rPr>
              <a:t>11</a:t>
            </a:fld>
            <a:endParaRPr lang="ko-KR" altLang="en-US" sz="1000" b="0" dirty="0">
              <a:solidFill>
                <a:srgbClr val="1A2233"/>
              </a:solidFill>
              <a:latin typeface="Arial"/>
              <a:ea typeface="Arial"/>
            </a:endParaRPr>
          </a:p>
        </p:txBody>
      </p:sp>
      <p:pic>
        <p:nvPicPr>
          <p:cNvPr id="34" name="Image 0" descr="fig21_attitude.png"/>
          <p:cNvPicPr>
            <a:picLocks noChangeAspect="1"/>
          </p:cNvPicPr>
          <p:nvPr/>
        </p:nvPicPr>
        <p:blipFill>
          <a:blip r:embed="rId3"/>
          <a:stretch>
            <a:fillRect/>
          </a:stretch>
        </p:blipFill>
        <p:spPr>
          <a:xfrm>
            <a:off x="932688" y="1737360"/>
            <a:ext cx="10332720" cy="2295144"/>
          </a:xfrm>
          <a:prstGeom prst="rect">
            <a:avLst/>
          </a:prstGeom>
        </p:spPr>
      </p:pic>
      <p:sp>
        <p:nvSpPr>
          <p:cNvPr id="48" name="Text 32"/>
          <p:cNvSpPr txBox="1"/>
          <p:nvPr/>
        </p:nvSpPr>
        <p:spPr>
          <a:xfrm>
            <a:off x="566928" y="4059936"/>
            <a:ext cx="11064240" cy="237744"/>
          </a:xfrm>
          <a:prstGeom prst="rect">
            <a:avLst/>
          </a:prstGeom>
          <a:noFill/>
          <a:ln/>
        </p:spPr>
        <p:txBody>
          <a:bodyPr wrap="square" lIns="0" tIns="0" rIns="0" bIns="0" rtlCol="0" anchor="ctr"/>
          <a:lstStyle/>
          <a:p>
            <a:pPr marL="0" indent="0" algn="ctr">
              <a:buNone/>
            </a:pPr>
            <a:r>
              <a:rPr lang="ko-KR" sz="1100" b="1" dirty="0">
                <a:solidFill>
                  <a:srgbClr val="1A2233"/>
                </a:solidFill>
                <a:latin typeface="맑은 고딕" pitchFamily="34" charset="0"/>
                <a:ea typeface="맑은 고딕" pitchFamily="34" charset="-122"/>
                <a:cs typeface="맑은 고딕" pitchFamily="34" charset="-120"/>
              </a:rPr>
              <a:t>자세각 = 동체 축이 북 · 동 · 아래에 대해 얼마나 돌아가 있나.   </a:t>
            </a:r>
            <a:r>
              <a:rPr lang="ko-KR" sz="1100" b="0" dirty="0">
                <a:solidFill>
                  <a:srgbClr val="5A6478"/>
                </a:solidFill>
                <a:latin typeface="맑은 고딕" pitchFamily="34" charset="0"/>
                <a:ea typeface="맑은 고딕" pitchFamily="34" charset="-122"/>
                <a:cs typeface="맑은 고딕" pitchFamily="34" charset="-120"/>
              </a:rPr>
              <a:t>동체 좌표계는 북이 어딘지 모르지만, INS 는 안다.</a:t>
            </a:r>
          </a:p>
        </p:txBody>
      </p:sp>
      <p:sp>
        <p:nvSpPr>
          <p:cNvPr id="49" name="Shape 19"/>
          <p:cNvSpPr/>
          <p:nvPr/>
        </p:nvSpPr>
        <p:spPr>
          <a:xfrm>
            <a:off x="566928" y="4389120"/>
            <a:ext cx="5394960" cy="877824"/>
          </a:xfrm>
          <a:prstGeom prst="roundRect">
            <a:avLst>
              <a:gd name="adj" fmla="val 6800"/>
            </a:avLst>
          </a:prstGeom>
          <a:solidFill>
            <a:srgbClr val="EEF1F7"/>
          </a:solidFill>
          <a:ln w="12700">
            <a:solidFill>
              <a:srgbClr val="FFFFFF"/>
            </a:solidFill>
            <a:prstDash val="solid"/>
          </a:ln>
        </p:spPr>
        <p:txBody>
          <a:bodyPr/>
          <a:lstStyle/>
          <a:p>
            <a:endParaRPr/>
          </a:p>
        </p:txBody>
      </p:sp>
      <p:sp>
        <p:nvSpPr>
          <p:cNvPr id="50" name="Text 20"/>
          <p:cNvSpPr txBox="1"/>
          <p:nvPr/>
        </p:nvSpPr>
        <p:spPr>
          <a:xfrm>
            <a:off x="786384" y="4471416"/>
            <a:ext cx="4956048" cy="256032"/>
          </a:xfrm>
          <a:prstGeom prst="rect">
            <a:avLst/>
          </a:prstGeom>
          <a:noFill/>
          <a:ln/>
        </p:spPr>
        <p:txBody>
          <a:bodyPr wrap="square" lIns="0" tIns="0" rIns="0" bIns="0" rtlCol="0" anchor="t"/>
          <a:lstStyle/>
          <a:p>
            <a:pPr marL="0" indent="0">
              <a:buNone/>
            </a:pPr>
            <a:r>
              <a:rPr lang="ko-KR" sz="1140" b="1" dirty="0">
                <a:solidFill>
                  <a:srgbClr val="2B57A6"/>
                </a:solidFill>
                <a:latin typeface="맑은 고딕" pitchFamily="34" charset="0"/>
                <a:ea typeface="맑은 고딕" pitchFamily="34" charset="-122"/>
                <a:cs typeface="맑은 고딕" pitchFamily="34" charset="-120"/>
              </a:rPr>
              <a:t>INS 좌표계란</a:t>
            </a:r>
          </a:p>
        </p:txBody>
      </p:sp>
      <p:sp>
        <p:nvSpPr>
          <p:cNvPr id="51" name="Text 21"/>
          <p:cNvSpPr txBox="1"/>
          <p:nvPr/>
        </p:nvSpPr>
        <p:spPr>
          <a:xfrm>
            <a:off x="786384" y="4754880"/>
            <a:ext cx="4956048" cy="457200"/>
          </a:xfrm>
          <a:prstGeom prst="rect">
            <a:avLst/>
          </a:prstGeom>
          <a:noFill/>
          <a:ln/>
        </p:spPr>
        <p:txBody>
          <a:bodyPr wrap="square" lIns="0" tIns="0" rIns="0" bIns="0" rtlCol="0" anchor="t"/>
          <a:lstStyle/>
          <a:p>
            <a:pPr>
              <a:lnSpc>
                <a:spcPts val="1600"/>
              </a:lnSpc>
            </a:pPr>
            <a:r>
              <a:rPr lang="ko-KR" altLang="ko-KR" sz="1050" dirty="0">
                <a:latin typeface="맑은 고딕" pitchFamily="34" charset="0"/>
                <a:ea typeface="맑은 고딕" pitchFamily="34" charset="-122"/>
                <a:cs typeface="맑은 고딕" pitchFamily="34" charset="-120"/>
              </a:rPr>
              <a:t>배의 자세와 위치를 재서 </a:t>
            </a:r>
            <a:r>
              <a:rPr lang="ko-KR" altLang="en-US" sz="1050" dirty="0" smtClean="0">
                <a:latin typeface="맑은 고딕" pitchFamily="34" charset="0"/>
                <a:ea typeface="맑은 고딕" pitchFamily="34" charset="-122"/>
                <a:cs typeface="맑은 고딕" pitchFamily="34" charset="-120"/>
              </a:rPr>
              <a:t>주는 장치</a:t>
            </a:r>
            <a:endParaRPr lang="ko-KR" altLang="ko-KR" sz="1050" dirty="0">
              <a:latin typeface="맑은 고딕" pitchFamily="34" charset="0"/>
              <a:ea typeface="맑은 고딕" pitchFamily="34" charset="-122"/>
              <a:cs typeface="맑은 고딕" pitchFamily="34" charset="-120"/>
            </a:endParaRPr>
          </a:p>
          <a:p>
            <a:pPr marL="0" indent="0">
              <a:lnSpc>
                <a:spcPts val="1600"/>
              </a:lnSpc>
              <a:buNone/>
            </a:pPr>
            <a:r>
              <a:rPr lang="ko-KR" sz="1050" b="0" dirty="0" smtClean="0">
                <a:solidFill>
                  <a:schemeClr val="bg1">
                    <a:lumMod val="50000"/>
                  </a:schemeClr>
                </a:solidFill>
                <a:latin typeface="맑은 고딕" pitchFamily="34" charset="0"/>
                <a:ea typeface="맑은 고딕" pitchFamily="34" charset="-122"/>
                <a:cs typeface="맑은 고딕" pitchFamily="34" charset="-120"/>
              </a:rPr>
              <a:t>INS </a:t>
            </a:r>
            <a:r>
              <a:rPr lang="ko-KR" sz="1050" b="0" dirty="0">
                <a:solidFill>
                  <a:schemeClr val="bg1">
                    <a:lumMod val="50000"/>
                  </a:schemeClr>
                </a:solidFill>
                <a:latin typeface="맑은 고딕" pitchFamily="34" charset="0"/>
                <a:ea typeface="맑은 고딕" pitchFamily="34" charset="-122"/>
                <a:cs typeface="맑은 고딕" pitchFamily="34" charset="-120"/>
              </a:rPr>
              <a:t>센서에 붙은 좌표계 — 원점은 센서 블록의 기준점, 축은 센서의 직교 3</a:t>
            </a:r>
            <a:r>
              <a:rPr lang="ko-KR" sz="1050" b="0" dirty="0" smtClean="0">
                <a:solidFill>
                  <a:schemeClr val="bg1">
                    <a:lumMod val="50000"/>
                  </a:schemeClr>
                </a:solidFill>
                <a:latin typeface="맑은 고딕" pitchFamily="34" charset="0"/>
                <a:ea typeface="맑은 고딕" pitchFamily="34" charset="-122"/>
                <a:cs typeface="맑은 고딕" pitchFamily="34" charset="-120"/>
              </a:rPr>
              <a:t>축</a:t>
            </a:r>
            <a:endParaRPr lang="ko-KR" sz="1050" b="0" dirty="0">
              <a:solidFill>
                <a:schemeClr val="bg1">
                  <a:lumMod val="50000"/>
                </a:schemeClr>
              </a:solidFill>
              <a:latin typeface="맑은 고딕" pitchFamily="34" charset="0"/>
              <a:ea typeface="맑은 고딕" pitchFamily="34" charset="-122"/>
              <a:cs typeface="맑은 고딕" pitchFamily="34" charset="-120"/>
            </a:endParaRPr>
          </a:p>
        </p:txBody>
      </p:sp>
      <p:sp>
        <p:nvSpPr>
          <p:cNvPr id="52" name="Shape 22"/>
          <p:cNvSpPr/>
          <p:nvPr/>
        </p:nvSpPr>
        <p:spPr>
          <a:xfrm>
            <a:off x="6236208" y="4389120"/>
            <a:ext cx="5394960" cy="877824"/>
          </a:xfrm>
          <a:prstGeom prst="roundRect">
            <a:avLst>
              <a:gd name="adj" fmla="val 6800"/>
            </a:avLst>
          </a:prstGeom>
          <a:solidFill>
            <a:srgbClr val="EEF1F7"/>
          </a:solidFill>
          <a:ln w="12700">
            <a:solidFill>
              <a:srgbClr val="FFFFFF"/>
            </a:solidFill>
            <a:prstDash val="solid"/>
          </a:ln>
        </p:spPr>
        <p:txBody>
          <a:bodyPr/>
          <a:lstStyle/>
          <a:p>
            <a:endParaRPr/>
          </a:p>
        </p:txBody>
      </p:sp>
      <p:sp>
        <p:nvSpPr>
          <p:cNvPr id="53" name="Text 23"/>
          <p:cNvSpPr txBox="1"/>
          <p:nvPr/>
        </p:nvSpPr>
        <p:spPr>
          <a:xfrm>
            <a:off x="6455664" y="4471416"/>
            <a:ext cx="4956048" cy="256032"/>
          </a:xfrm>
          <a:prstGeom prst="rect">
            <a:avLst/>
          </a:prstGeom>
          <a:noFill/>
          <a:ln/>
        </p:spPr>
        <p:txBody>
          <a:bodyPr wrap="square" lIns="0" tIns="0" rIns="0" bIns="0" rtlCol="0" anchor="t"/>
          <a:lstStyle/>
          <a:p>
            <a:pPr marL="0" indent="0">
              <a:buNone/>
            </a:pPr>
            <a:r>
              <a:rPr lang="ko-KR" sz="1140" b="1" dirty="0">
                <a:solidFill>
                  <a:srgbClr val="2B57A6"/>
                </a:solidFill>
                <a:latin typeface="맑은 고딕" pitchFamily="34" charset="0"/>
                <a:ea typeface="맑은 고딕" pitchFamily="34" charset="-122"/>
                <a:cs typeface="맑은 고딕" pitchFamily="34" charset="-120"/>
              </a:rPr>
              <a:t>INS 가 주는 값 (이번 과제)</a:t>
            </a:r>
          </a:p>
        </p:txBody>
      </p:sp>
      <p:sp>
        <p:nvSpPr>
          <p:cNvPr id="54" name="Text 24"/>
          <p:cNvSpPr txBox="1"/>
          <p:nvPr/>
        </p:nvSpPr>
        <p:spPr>
          <a:xfrm>
            <a:off x="6455664" y="4754880"/>
            <a:ext cx="4956048" cy="457200"/>
          </a:xfrm>
          <a:prstGeom prst="rect">
            <a:avLst/>
          </a:prstGeom>
          <a:noFill/>
          <a:ln/>
        </p:spPr>
        <p:txBody>
          <a:bodyPr wrap="square" lIns="0" tIns="0" rIns="0" bIns="0" rtlCol="0" anchor="t"/>
          <a:lstStyle/>
          <a:p>
            <a:pPr marL="0" indent="0">
              <a:lnSpc>
                <a:spcPts val="1600"/>
              </a:lnSpc>
              <a:buNone/>
            </a:pPr>
            <a:r>
              <a:rPr lang="ko-KR" sz="1050" b="0" dirty="0">
                <a:solidFill>
                  <a:srgbClr val="1A2233"/>
                </a:solidFill>
                <a:latin typeface="맑은 고딕" pitchFamily="34" charset="0"/>
                <a:ea typeface="맑은 고딕" pitchFamily="34" charset="-122"/>
                <a:cs typeface="맑은 고딕" pitchFamily="34" charset="-120"/>
              </a:rPr>
              <a:t>자세   roll 0° · pitch 0° · yaw 45°</a:t>
            </a:r>
          </a:p>
          <a:p>
            <a:pPr marL="0" indent="0">
              <a:lnSpc>
                <a:spcPts val="1600"/>
              </a:lnSpc>
              <a:buNone/>
            </a:pPr>
            <a:r>
              <a:rPr lang="ko-KR" sz="1050" b="0" dirty="0">
                <a:solidFill>
                  <a:srgbClr val="1A2233"/>
                </a:solidFill>
                <a:latin typeface="맑은 고딕" pitchFamily="34" charset="0"/>
                <a:ea typeface="맑은 고딕" pitchFamily="34" charset="-122"/>
                <a:cs typeface="맑은 고딕" pitchFamily="34" charset="-120"/>
              </a:rPr>
              <a:t>위치   36.408°N · 127.307°E · 0 m</a:t>
            </a:r>
          </a:p>
        </p:txBody>
      </p:sp>
      <p:sp>
        <p:nvSpPr>
          <p:cNvPr id="55" name="Shape 28"/>
          <p:cNvSpPr/>
          <p:nvPr/>
        </p:nvSpPr>
        <p:spPr>
          <a:xfrm>
            <a:off x="566928" y="5358384"/>
            <a:ext cx="11064240" cy="877824"/>
          </a:xfrm>
          <a:prstGeom prst="roundRect">
            <a:avLst>
              <a:gd name="adj" fmla="val 6800"/>
            </a:avLst>
          </a:prstGeom>
          <a:solidFill>
            <a:srgbClr val="FDF0E7"/>
          </a:solidFill>
          <a:ln w="12700">
            <a:solidFill>
              <a:srgbClr val="FDF0E7"/>
            </a:solidFill>
            <a:prstDash val="solid"/>
          </a:ln>
        </p:spPr>
        <p:txBody>
          <a:bodyPr/>
          <a:lstStyle/>
          <a:p>
            <a:endParaRPr/>
          </a:p>
        </p:txBody>
      </p:sp>
      <p:sp>
        <p:nvSpPr>
          <p:cNvPr id="56" name="Text 29"/>
          <p:cNvSpPr txBox="1"/>
          <p:nvPr/>
        </p:nvSpPr>
        <p:spPr>
          <a:xfrm>
            <a:off x="786384" y="5358384"/>
            <a:ext cx="10625328" cy="877824"/>
          </a:xfrm>
          <a:prstGeom prst="rect">
            <a:avLst/>
          </a:prstGeom>
          <a:noFill/>
          <a:ln/>
        </p:spPr>
        <p:txBody>
          <a:bodyPr wrap="square" lIns="0" tIns="0" rIns="0" bIns="0" rtlCol="0" anchor="ctr"/>
          <a:lstStyle/>
          <a:p>
            <a:pPr marL="0" indent="0">
              <a:lnSpc>
                <a:spcPts val="2000"/>
              </a:lnSpc>
              <a:buNone/>
            </a:pPr>
            <a:r>
              <a:rPr lang="ko-KR" sz="1200" b="1" dirty="0">
                <a:solidFill>
                  <a:srgbClr val="C2521C"/>
                </a:solidFill>
                <a:latin typeface="맑은 고딕" pitchFamily="34" charset="0"/>
                <a:ea typeface="맑은 고딕" pitchFamily="34" charset="-122"/>
                <a:cs typeface="맑은 고딕" pitchFamily="34" charset="-120"/>
              </a:rPr>
              <a:t>INS 는 값의 공급원입니다 — 자세각은 로컬 NED 좌표를 만드는 데, 위경도는 그 뒤 지구 좌표로 갈 때 쓰입니다</a:t>
            </a:r>
          </a:p>
          <a:p>
            <a:pPr marL="0" indent="0">
              <a:lnSpc>
                <a:spcPts val="1800"/>
              </a:lnSpc>
              <a:buNone/>
            </a:pPr>
            <a:r>
              <a:rPr lang="ko-KR" sz="1100" b="0" dirty="0">
                <a:solidFill>
                  <a:srgbClr val="5A6478"/>
                </a:solidFill>
                <a:latin typeface="맑은 고딕" pitchFamily="34" charset="0"/>
                <a:ea typeface="맑은 고딕" pitchFamily="34" charset="-122"/>
                <a:cs typeface="맑은 고딕" pitchFamily="34" charset="-120"/>
              </a:rPr>
              <a:t>yaw 45° 는 "북은 선수에서 왼쪽으로 45°" 라는 뜻입니다.  북이 어느 쪽인지 알았으니 동체 좌표를 북 · 동 기준으로 다시 적을 수 있습니다.</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7">
    <p:bg>
      <p:bgPr>
        <a:solidFill>
          <a:srgbClr val="E8EDF5"/>
        </a:solidFill>
        <a:effectLst/>
      </p:bgPr>
    </p:bg>
    <p:spTree>
      <p:nvGrpSpPr>
        <p:cNvPr id="1" name=""/>
        <p:cNvGrpSpPr/>
        <p:nvPr/>
      </p:nvGrpSpPr>
      <p:grpSpPr>
        <a:xfrm>
          <a:off x="0" y="0"/>
          <a:ext cx="0" cy="0"/>
          <a:chOff x="0" y="0"/>
          <a:chExt cx="0" cy="0"/>
        </a:xfrm>
      </p:grpSpPr>
      <p:sp>
        <p:nvSpPr>
          <p:cNvPr id="31" name="Rectangle 30"/>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endParaRPr/>
          </a:p>
        </p:txBody>
      </p:sp>
      <p:sp>
        <p:nvSpPr>
          <p:cNvPr id="4" name="Shape 2"/>
          <p:cNvSpPr/>
          <p:nvPr/>
        </p:nvSpPr>
        <p:spPr>
          <a:xfrm>
            <a:off x="2112264" y="1371600"/>
            <a:ext cx="1170432" cy="329184"/>
          </a:xfrm>
          <a:prstGeom prst="roundRect">
            <a:avLst>
              <a:gd name="adj" fmla="val 47222"/>
            </a:avLst>
          </a:prstGeom>
          <a:solidFill>
            <a:srgbClr val="EEF1F7"/>
          </a:solidFill>
          <a:ln w="12700">
            <a:solidFill>
              <a:srgbClr val="C9D6EC"/>
            </a:solidFill>
            <a:prstDash val="solid"/>
          </a:ln>
        </p:spPr>
        <p:txBody>
          <a:bodyPr/>
          <a:lstStyle/>
          <a:p>
            <a:endParaRPr/>
          </a:p>
        </p:txBody>
      </p:sp>
      <p:sp>
        <p:nvSpPr>
          <p:cNvPr id="5" name="Text 3"/>
          <p:cNvSpPr txBox="1"/>
          <p:nvPr/>
        </p:nvSpPr>
        <p:spPr>
          <a:xfrm>
            <a:off x="2112264" y="1371600"/>
            <a:ext cx="1170432" cy="329184"/>
          </a:xfrm>
          <a:prstGeom prst="rect">
            <a:avLst/>
          </a:prstGeom>
          <a:noFill/>
          <a:ln/>
        </p:spPr>
        <p:txBody>
          <a:bodyPr wrap="square" lIns="0" tIns="0" rIns="0" bIns="0" rtlCol="0" anchor="ctr"/>
          <a:lstStyle/>
          <a:p>
            <a:pPr marL="0" indent="0" algn="ctr">
              <a:buNone/>
            </a:pPr>
            <a:r>
              <a:rPr lang="en-US" sz="1100" dirty="0">
                <a:solidFill>
                  <a:srgbClr val="5A6478"/>
                </a:solidFill>
                <a:latin typeface="맑은 고딕" pitchFamily="34" charset="0"/>
                <a:ea typeface="맑은 고딕" pitchFamily="34" charset="-122"/>
                <a:cs typeface="맑은 고딕" pitchFamily="34" charset="-120"/>
              </a:rPr>
              <a:t>측정</a:t>
            </a:r>
            <a:endParaRPr lang="en-US" sz="1100" dirty="0"/>
          </a:p>
        </p:txBody>
      </p:sp>
      <p:sp>
        <p:nvSpPr>
          <p:cNvPr id="6" name="Text 4"/>
          <p:cNvSpPr txBox="1"/>
          <p:nvPr/>
        </p:nvSpPr>
        <p:spPr>
          <a:xfrm>
            <a:off x="3282696" y="1371600"/>
            <a:ext cx="182880" cy="329184"/>
          </a:xfrm>
          <a:prstGeom prst="rect">
            <a:avLst/>
          </a:prstGeom>
          <a:noFill/>
          <a:ln/>
        </p:spPr>
        <p:txBody>
          <a:bodyPr wrap="square" lIns="0" tIns="0" rIns="0" bIns="0" rtlCol="0" anchor="ctr"/>
          <a:lstStyle/>
          <a:p>
            <a:pPr marL="0" indent="0" algn="ctr">
              <a:buNone/>
            </a:pPr>
            <a:r>
              <a:rPr lang="en-US" sz="1000" dirty="0">
                <a:solidFill>
                  <a:srgbClr val="C9D6EC"/>
                </a:solidFill>
              </a:rPr>
              <a:t>▸</a:t>
            </a:r>
            <a:endParaRPr lang="en-US" sz="1000" dirty="0"/>
          </a:p>
        </p:txBody>
      </p:sp>
      <p:sp>
        <p:nvSpPr>
          <p:cNvPr id="7" name="Shape 5"/>
          <p:cNvSpPr/>
          <p:nvPr/>
        </p:nvSpPr>
        <p:spPr>
          <a:xfrm>
            <a:off x="3465576" y="1371600"/>
            <a:ext cx="1170432" cy="329184"/>
          </a:xfrm>
          <a:prstGeom prst="roundRect">
            <a:avLst>
              <a:gd name="adj" fmla="val 47222"/>
            </a:avLst>
          </a:prstGeom>
          <a:solidFill>
            <a:srgbClr val="EEF1F7"/>
          </a:solidFill>
          <a:ln w="12700">
            <a:solidFill>
              <a:srgbClr val="C9D6EC"/>
            </a:solidFill>
            <a:prstDash val="solid"/>
          </a:ln>
        </p:spPr>
        <p:txBody>
          <a:bodyPr/>
          <a:lstStyle/>
          <a:p>
            <a:endParaRPr/>
          </a:p>
        </p:txBody>
      </p:sp>
      <p:sp>
        <p:nvSpPr>
          <p:cNvPr id="8" name="Text 6"/>
          <p:cNvSpPr txBox="1"/>
          <p:nvPr/>
        </p:nvSpPr>
        <p:spPr>
          <a:xfrm>
            <a:off x="3465576" y="1371600"/>
            <a:ext cx="1170432" cy="329184"/>
          </a:xfrm>
          <a:prstGeom prst="rect">
            <a:avLst/>
          </a:prstGeom>
          <a:noFill/>
          <a:ln/>
        </p:spPr>
        <p:txBody>
          <a:bodyPr wrap="square" lIns="0" tIns="0" rIns="0" bIns="0" rtlCol="0" anchor="ctr"/>
          <a:lstStyle/>
          <a:p>
            <a:pPr marL="0" indent="0" algn="ctr">
              <a:buNone/>
            </a:pPr>
            <a:r>
              <a:rPr lang="en-US" sz="1100" dirty="0">
                <a:solidFill>
                  <a:srgbClr val="5A6478"/>
                </a:solidFill>
                <a:latin typeface="맑은 고딕" pitchFamily="34" charset="0"/>
                <a:ea typeface="맑은 고딕" pitchFamily="34" charset="-122"/>
                <a:cs typeface="맑은 고딕" pitchFamily="34" charset="-120"/>
              </a:rPr>
              <a:t>안테나</a:t>
            </a:r>
            <a:endParaRPr lang="en-US" sz="1100" dirty="0"/>
          </a:p>
        </p:txBody>
      </p:sp>
      <p:sp>
        <p:nvSpPr>
          <p:cNvPr id="9" name="Text 7"/>
          <p:cNvSpPr txBox="1"/>
          <p:nvPr/>
        </p:nvSpPr>
        <p:spPr>
          <a:xfrm>
            <a:off x="4636008" y="1371600"/>
            <a:ext cx="182880" cy="329184"/>
          </a:xfrm>
          <a:prstGeom prst="rect">
            <a:avLst/>
          </a:prstGeom>
          <a:noFill/>
          <a:ln/>
        </p:spPr>
        <p:txBody>
          <a:bodyPr wrap="square" lIns="0" tIns="0" rIns="0" bIns="0" rtlCol="0" anchor="ctr"/>
          <a:lstStyle/>
          <a:p>
            <a:pPr marL="0" indent="0" algn="ctr">
              <a:buNone/>
            </a:pPr>
            <a:r>
              <a:rPr lang="en-US" sz="1000" dirty="0">
                <a:solidFill>
                  <a:srgbClr val="C9D6EC"/>
                </a:solidFill>
              </a:rPr>
              <a:t>▸</a:t>
            </a:r>
            <a:endParaRPr lang="en-US" sz="1000" dirty="0"/>
          </a:p>
        </p:txBody>
      </p:sp>
      <p:sp>
        <p:nvSpPr>
          <p:cNvPr id="10" name="Shape 8"/>
          <p:cNvSpPr/>
          <p:nvPr/>
        </p:nvSpPr>
        <p:spPr>
          <a:xfrm>
            <a:off x="4818888" y="1371600"/>
            <a:ext cx="1170432" cy="329184"/>
          </a:xfrm>
          <a:prstGeom prst="roundRect">
            <a:avLst>
              <a:gd name="adj" fmla="val 47222"/>
            </a:avLst>
          </a:prstGeom>
          <a:solidFill>
            <a:srgbClr val="EEF1F7"/>
          </a:solidFill>
          <a:ln w="12700">
            <a:solidFill>
              <a:srgbClr val="C9D6EC"/>
            </a:solidFill>
            <a:prstDash val="solid"/>
          </a:ln>
        </p:spPr>
        <p:txBody>
          <a:bodyPr/>
          <a:lstStyle/>
          <a:p>
            <a:endParaRPr/>
          </a:p>
        </p:txBody>
      </p:sp>
      <p:sp>
        <p:nvSpPr>
          <p:cNvPr id="11" name="Text 9"/>
          <p:cNvSpPr txBox="1"/>
          <p:nvPr/>
        </p:nvSpPr>
        <p:spPr>
          <a:xfrm>
            <a:off x="4818888" y="1371600"/>
            <a:ext cx="1170432" cy="329184"/>
          </a:xfrm>
          <a:prstGeom prst="rect">
            <a:avLst/>
          </a:prstGeom>
          <a:noFill/>
          <a:ln/>
        </p:spPr>
        <p:txBody>
          <a:bodyPr wrap="square" lIns="0" tIns="0" rIns="0" bIns="0" rtlCol="0" anchor="ctr"/>
          <a:lstStyle/>
          <a:p>
            <a:pPr marL="0" indent="0" algn="ctr">
              <a:buNone/>
            </a:pPr>
            <a:r>
              <a:rPr lang="en-US" sz="1100" dirty="0">
                <a:solidFill>
                  <a:srgbClr val="5A6478"/>
                </a:solidFill>
                <a:latin typeface="맑은 고딕" pitchFamily="34" charset="0"/>
                <a:ea typeface="맑은 고딕" pitchFamily="34" charset="-122"/>
                <a:cs typeface="맑은 고딕" pitchFamily="34" charset="-120"/>
              </a:rPr>
              <a:t>동체</a:t>
            </a:r>
            <a:endParaRPr lang="en-US" sz="1100" dirty="0"/>
          </a:p>
        </p:txBody>
      </p:sp>
      <p:sp>
        <p:nvSpPr>
          <p:cNvPr id="12" name="Text 10"/>
          <p:cNvSpPr txBox="1"/>
          <p:nvPr/>
        </p:nvSpPr>
        <p:spPr>
          <a:xfrm>
            <a:off x="5989320" y="1371600"/>
            <a:ext cx="182880" cy="329184"/>
          </a:xfrm>
          <a:prstGeom prst="rect">
            <a:avLst/>
          </a:prstGeom>
          <a:noFill/>
          <a:ln/>
        </p:spPr>
        <p:txBody>
          <a:bodyPr wrap="square" lIns="0" tIns="0" rIns="0" bIns="0" rtlCol="0" anchor="ctr"/>
          <a:lstStyle/>
          <a:p>
            <a:pPr marL="0" indent="0" algn="ctr">
              <a:buNone/>
            </a:pPr>
            <a:r>
              <a:rPr lang="en-US" sz="1000" dirty="0">
                <a:solidFill>
                  <a:srgbClr val="C9D6EC"/>
                </a:solidFill>
              </a:rPr>
              <a:t>▸</a:t>
            </a:r>
            <a:endParaRPr lang="en-US" sz="1000" dirty="0"/>
          </a:p>
        </p:txBody>
      </p:sp>
      <p:sp>
        <p:nvSpPr>
          <p:cNvPr id="13" name="Shape 11"/>
          <p:cNvSpPr/>
          <p:nvPr/>
        </p:nvSpPr>
        <p:spPr>
          <a:xfrm>
            <a:off x="6172200" y="1371600"/>
            <a:ext cx="1170432" cy="329184"/>
          </a:xfrm>
          <a:prstGeom prst="roundRect">
            <a:avLst>
              <a:gd name="adj" fmla="val 47222"/>
            </a:avLst>
          </a:prstGeom>
          <a:solidFill>
            <a:srgbClr val="C2521C"/>
          </a:solidFill>
          <a:ln w="12700">
            <a:solidFill>
              <a:srgbClr val="C2521C"/>
            </a:solidFill>
            <a:prstDash val="solid"/>
          </a:ln>
        </p:spPr>
        <p:txBody>
          <a:bodyPr/>
          <a:lstStyle/>
          <a:p>
            <a:endParaRPr/>
          </a:p>
        </p:txBody>
      </p:sp>
      <p:sp>
        <p:nvSpPr>
          <p:cNvPr id="14" name="Text 12"/>
          <p:cNvSpPr txBox="1"/>
          <p:nvPr/>
        </p:nvSpPr>
        <p:spPr>
          <a:xfrm>
            <a:off x="6172200" y="1371600"/>
            <a:ext cx="1170432" cy="329184"/>
          </a:xfrm>
          <a:prstGeom prst="rect">
            <a:avLst/>
          </a:prstGeom>
          <a:noFill/>
          <a:ln/>
        </p:spPr>
        <p:txBody>
          <a:bodyPr wrap="square" lIns="0" tIns="0" rIns="0" bIns="0" rtlCol="0" anchor="ctr"/>
          <a:lstStyle/>
          <a:p>
            <a:pPr marL="0" indent="0" algn="ctr">
              <a:buNone/>
            </a:pPr>
            <a:r>
              <a:rPr lang="en-US" sz="1100" b="1" dirty="0">
                <a:solidFill>
                  <a:srgbClr val="FFFFFF"/>
                </a:solidFill>
                <a:latin typeface="맑은 고딕" pitchFamily="34" charset="0"/>
                <a:ea typeface="맑은 고딕" pitchFamily="34" charset="-122"/>
                <a:cs typeface="맑은 고딕" pitchFamily="34" charset="-120"/>
              </a:rPr>
              <a:t>NED</a:t>
            </a:r>
            <a:endParaRPr lang="en-US" sz="1100" dirty="0"/>
          </a:p>
        </p:txBody>
      </p:sp>
      <p:sp>
        <p:nvSpPr>
          <p:cNvPr id="15" name="Text 13"/>
          <p:cNvSpPr txBox="1"/>
          <p:nvPr/>
        </p:nvSpPr>
        <p:spPr>
          <a:xfrm>
            <a:off x="7342632" y="1371600"/>
            <a:ext cx="182880" cy="329184"/>
          </a:xfrm>
          <a:prstGeom prst="rect">
            <a:avLst/>
          </a:prstGeom>
          <a:noFill/>
          <a:ln/>
        </p:spPr>
        <p:txBody>
          <a:bodyPr wrap="square" lIns="0" tIns="0" rIns="0" bIns="0" rtlCol="0" anchor="ctr"/>
          <a:lstStyle/>
          <a:p>
            <a:pPr marL="0" indent="0" algn="ctr">
              <a:buNone/>
            </a:pPr>
            <a:r>
              <a:rPr lang="en-US" sz="1000" dirty="0">
                <a:solidFill>
                  <a:srgbClr val="C9D6EC"/>
                </a:solidFill>
              </a:rPr>
              <a:t>▸</a:t>
            </a:r>
            <a:endParaRPr lang="en-US" sz="1000" dirty="0"/>
          </a:p>
        </p:txBody>
      </p:sp>
      <p:sp>
        <p:nvSpPr>
          <p:cNvPr id="16" name="Shape 14"/>
          <p:cNvSpPr/>
          <p:nvPr/>
        </p:nvSpPr>
        <p:spPr>
          <a:xfrm>
            <a:off x="7525512" y="1371600"/>
            <a:ext cx="1170432" cy="329184"/>
          </a:xfrm>
          <a:prstGeom prst="roundRect">
            <a:avLst>
              <a:gd name="adj" fmla="val 47222"/>
            </a:avLst>
          </a:prstGeom>
          <a:solidFill>
            <a:srgbClr val="EEF1F7"/>
          </a:solidFill>
          <a:ln w="12700">
            <a:solidFill>
              <a:srgbClr val="C9D6EC"/>
            </a:solidFill>
            <a:prstDash val="solid"/>
          </a:ln>
        </p:spPr>
        <p:txBody>
          <a:bodyPr/>
          <a:lstStyle/>
          <a:p>
            <a:endParaRPr/>
          </a:p>
        </p:txBody>
      </p:sp>
      <p:sp>
        <p:nvSpPr>
          <p:cNvPr id="17" name="Text 15"/>
          <p:cNvSpPr txBox="1"/>
          <p:nvPr/>
        </p:nvSpPr>
        <p:spPr>
          <a:xfrm>
            <a:off x="7525512" y="1371600"/>
            <a:ext cx="1170432" cy="329184"/>
          </a:xfrm>
          <a:prstGeom prst="rect">
            <a:avLst/>
          </a:prstGeom>
          <a:noFill/>
          <a:ln/>
        </p:spPr>
        <p:txBody>
          <a:bodyPr wrap="square" lIns="0" tIns="0" rIns="0" bIns="0" rtlCol="0" anchor="ctr"/>
          <a:lstStyle/>
          <a:p>
            <a:pPr marL="0" indent="0" algn="ctr">
              <a:buNone/>
            </a:pPr>
            <a:r>
              <a:rPr lang="en-US" sz="1100" dirty="0">
                <a:solidFill>
                  <a:srgbClr val="5A6478"/>
                </a:solidFill>
                <a:latin typeface="맑은 고딕" pitchFamily="34" charset="0"/>
                <a:ea typeface="맑은 고딕" pitchFamily="34" charset="-122"/>
                <a:cs typeface="맑은 고딕" pitchFamily="34" charset="-120"/>
              </a:rPr>
              <a:t>ECEF</a:t>
            </a:r>
            <a:endParaRPr lang="en-US" sz="1100" dirty="0"/>
          </a:p>
        </p:txBody>
      </p:sp>
      <p:sp>
        <p:nvSpPr>
          <p:cNvPr id="18" name="Text 16"/>
          <p:cNvSpPr txBox="1"/>
          <p:nvPr/>
        </p:nvSpPr>
        <p:spPr>
          <a:xfrm>
            <a:off x="8695944" y="1371600"/>
            <a:ext cx="182880" cy="329184"/>
          </a:xfrm>
          <a:prstGeom prst="rect">
            <a:avLst/>
          </a:prstGeom>
          <a:noFill/>
          <a:ln/>
        </p:spPr>
        <p:txBody>
          <a:bodyPr wrap="square" lIns="0" tIns="0" rIns="0" bIns="0" rtlCol="0" anchor="ctr"/>
          <a:lstStyle/>
          <a:p>
            <a:pPr marL="0" indent="0" algn="ctr">
              <a:buNone/>
            </a:pPr>
            <a:r>
              <a:rPr lang="en-US" sz="1000" dirty="0">
                <a:solidFill>
                  <a:srgbClr val="C9D6EC"/>
                </a:solidFill>
              </a:rPr>
              <a:t>▸</a:t>
            </a:r>
            <a:endParaRPr lang="en-US" sz="1000" dirty="0"/>
          </a:p>
        </p:txBody>
      </p:sp>
      <p:sp>
        <p:nvSpPr>
          <p:cNvPr id="19" name="Shape 17"/>
          <p:cNvSpPr/>
          <p:nvPr/>
        </p:nvSpPr>
        <p:spPr>
          <a:xfrm>
            <a:off x="8878824" y="1371600"/>
            <a:ext cx="1170432" cy="329184"/>
          </a:xfrm>
          <a:prstGeom prst="roundRect">
            <a:avLst>
              <a:gd name="adj" fmla="val 47222"/>
            </a:avLst>
          </a:prstGeom>
          <a:solidFill>
            <a:srgbClr val="EEF1F7"/>
          </a:solidFill>
          <a:ln w="12700">
            <a:solidFill>
              <a:srgbClr val="C9D6EC"/>
            </a:solidFill>
            <a:prstDash val="solid"/>
          </a:ln>
        </p:spPr>
        <p:txBody>
          <a:bodyPr/>
          <a:lstStyle/>
          <a:p>
            <a:endParaRPr/>
          </a:p>
        </p:txBody>
      </p:sp>
      <p:sp>
        <p:nvSpPr>
          <p:cNvPr id="20" name="Text 18"/>
          <p:cNvSpPr txBox="1"/>
          <p:nvPr/>
        </p:nvSpPr>
        <p:spPr>
          <a:xfrm>
            <a:off x="8878824" y="1371600"/>
            <a:ext cx="1170432" cy="329184"/>
          </a:xfrm>
          <a:prstGeom prst="rect">
            <a:avLst/>
          </a:prstGeom>
          <a:noFill/>
          <a:ln/>
        </p:spPr>
        <p:txBody>
          <a:bodyPr wrap="square" lIns="0" tIns="0" rIns="0" bIns="0" rtlCol="0" anchor="ctr"/>
          <a:lstStyle/>
          <a:p>
            <a:pPr marL="0" indent="0" algn="ctr">
              <a:buNone/>
            </a:pPr>
            <a:r>
              <a:rPr lang="en-US" sz="1100" dirty="0">
                <a:solidFill>
                  <a:srgbClr val="5A6478"/>
                </a:solidFill>
                <a:latin typeface="맑은 고딕" pitchFamily="34" charset="0"/>
                <a:ea typeface="맑은 고딕" pitchFamily="34" charset="-122"/>
                <a:cs typeface="맑은 고딕" pitchFamily="34" charset="-120"/>
              </a:rPr>
              <a:t>LLA</a:t>
            </a:r>
            <a:endParaRPr lang="en-US" sz="1100" dirty="0"/>
          </a:p>
        </p:txBody>
      </p:sp>
      <p:pic>
        <p:nvPicPr>
          <p:cNvPr id="21" name="Image 0" descr="/home/claude/gitpkg/Part2_CoordFrames/doc/figures/fig07_ned_enu.png"/>
          <p:cNvPicPr>
            <a:picLocks noChangeAspect="1"/>
          </p:cNvPicPr>
          <p:nvPr/>
        </p:nvPicPr>
        <p:blipFill>
          <a:blip r:embed="rId3"/>
          <a:stretch>
            <a:fillRect/>
          </a:stretch>
        </p:blipFill>
        <p:spPr>
          <a:xfrm>
            <a:off x="960120" y="1865376"/>
            <a:ext cx="6353675" cy="2651760"/>
          </a:xfrm>
          <a:prstGeom prst="rect">
            <a:avLst/>
          </a:prstGeom>
        </p:spPr>
      </p:pic>
      <p:sp>
        <p:nvSpPr>
          <p:cNvPr id="32" name="Rectangle 31"/>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endParaRPr/>
          </a:p>
        </p:txBody>
      </p:sp>
      <p:sp>
        <p:nvSpPr>
          <p:cNvPr id="33" name="TextBox 32"/>
          <p:cNvSpPr txBox="1"/>
          <p:nvPr/>
        </p:nvSpPr>
        <p:spPr>
          <a:xfrm>
            <a:off x="640080" y="411480"/>
            <a:ext cx="8732520" cy="777240"/>
          </a:xfrm>
          <a:prstGeom prst="rect">
            <a:avLst/>
          </a:prstGeom>
          <a:noFill/>
        </p:spPr>
        <p:txBody>
          <a:bodyPr wrap="square" lIns="0" tIns="0" rIns="0" bIns="0" anchor="ctr">
            <a:spAutoFit/>
          </a:bodyPr>
          <a:lstStyle/>
          <a:p>
            <a:pPr algn="l">
              <a:spcAft>
                <a:spcPts val="300"/>
              </a:spcAft>
            </a:pPr>
            <a:r>
              <a:rPr sz="1900" b="1">
                <a:solidFill>
                  <a:srgbClr val="FFFFFF"/>
                </a:solidFill>
                <a:latin typeface="맑은 고딕"/>
              </a:rPr>
              <a:t>01. NED / ENU  국지수평 좌표계</a:t>
            </a:r>
          </a:p>
          <a:p>
            <a:pPr algn="l">
              <a:lnSpc>
                <a:spcPts val="1400"/>
              </a:lnSpc>
            </a:pPr>
            <a:r>
              <a:rPr sz="1100" b="0">
                <a:solidFill>
                  <a:srgbClr val="C9D6EC"/>
                </a:solidFill>
                <a:latin typeface="맑은 고딕"/>
              </a:rPr>
              <a:t>배가 아무리 흔들려도 북쪽은 계속 북쪽입니다</a:t>
            </a:r>
          </a:p>
        </p:txBody>
      </p:sp>
      <p:cxnSp>
        <p:nvCxnSpPr>
          <p:cNvPr id="35" name="Connector 34"/>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0" y="6400800"/>
            <a:ext cx="914400" cy="274320"/>
          </a:xfrm>
          <a:prstGeom prst="rect">
            <a:avLst/>
          </a:prstGeom>
          <a:noFill/>
        </p:spPr>
        <p:txBody>
          <a:bodyPr wrap="none" lIns="0" tIns="0" rIns="0" bIns="0">
            <a:spAutoFit/>
          </a:bodyPr>
          <a:lstStyle/>
          <a:p>
            <a:pPr algn="ctr"/>
            <a:fld id="{1D0B0B0B-0000-4000-8000-00000000C0DE}" type="slidenum">
              <a:rPr lang="ko-KR" altLang="en-US" sz="1000" b="0" dirty="0">
                <a:solidFill>
                  <a:srgbClr val="1A2233"/>
                </a:solidFill>
                <a:latin typeface="Arial"/>
                <a:ea typeface="Arial"/>
              </a:rPr>
              <a:t>12</a:t>
            </a:fld>
            <a:endParaRPr lang="ko-KR" altLang="en-US" sz="1000" b="0" dirty="0">
              <a:solidFill>
                <a:srgbClr val="1A2233"/>
              </a:solidFill>
              <a:latin typeface="Arial"/>
              <a:ea typeface="Arial"/>
            </a:endParaRPr>
          </a:p>
        </p:txBody>
      </p:sp>
      <p:sp>
        <p:nvSpPr>
          <p:cNvPr id="38" name="Shape 19"/>
          <p:cNvSpPr/>
          <p:nvPr/>
        </p:nvSpPr>
        <p:spPr>
          <a:xfrm>
            <a:off x="7882127" y="1901952"/>
            <a:ext cx="3749039" cy="2578608"/>
          </a:xfrm>
          <a:prstGeom prst="roundRect">
            <a:avLst>
              <a:gd name="adj" fmla="val 6800"/>
            </a:avLst>
          </a:prstGeom>
          <a:solidFill>
            <a:srgbClr val="EEF1F7"/>
          </a:solidFill>
          <a:ln w="12700">
            <a:solidFill>
              <a:srgbClr val="FFFFFF"/>
            </a:solidFill>
            <a:prstDash val="solid"/>
          </a:ln>
        </p:spPr>
        <p:txBody>
          <a:bodyPr/>
          <a:lstStyle/>
          <a:p>
            <a:endParaRPr/>
          </a:p>
        </p:txBody>
      </p:sp>
      <p:sp>
        <p:nvSpPr>
          <p:cNvPr id="39" name="Text 20"/>
          <p:cNvSpPr txBox="1"/>
          <p:nvPr/>
        </p:nvSpPr>
        <p:spPr>
          <a:xfrm>
            <a:off x="8138160" y="2084831"/>
            <a:ext cx="3291840" cy="329184"/>
          </a:xfrm>
          <a:prstGeom prst="rect">
            <a:avLst/>
          </a:prstGeom>
          <a:noFill/>
          <a:ln/>
        </p:spPr>
        <p:txBody>
          <a:bodyPr wrap="square" lIns="0" tIns="0" rIns="0" bIns="0" rtlCol="0" anchor="t"/>
          <a:lstStyle/>
          <a:p>
            <a:pPr marL="0" indent="0">
              <a:buNone/>
            </a:pPr>
            <a:r>
              <a:rPr lang="ko-KR" sz="1500" b="1" dirty="0">
                <a:solidFill>
                  <a:srgbClr val="2B57A6"/>
                </a:solidFill>
                <a:latin typeface="맑은 고딕" pitchFamily="34" charset="0"/>
                <a:ea typeface="맑은 고딕" pitchFamily="34" charset="-122"/>
                <a:cs typeface="맑은 고딕" pitchFamily="34" charset="-120"/>
              </a:rPr>
              <a:t>이 좌표계의 존재 이유</a:t>
            </a:r>
          </a:p>
        </p:txBody>
      </p:sp>
      <p:sp>
        <p:nvSpPr>
          <p:cNvPr id="40" name="Text 21"/>
          <p:cNvSpPr txBox="1"/>
          <p:nvPr/>
        </p:nvSpPr>
        <p:spPr>
          <a:xfrm>
            <a:off x="8138160" y="2487168"/>
            <a:ext cx="3291840" cy="1828800"/>
          </a:xfrm>
          <a:prstGeom prst="rect">
            <a:avLst/>
          </a:prstGeom>
          <a:noFill/>
          <a:ln/>
        </p:spPr>
        <p:txBody>
          <a:bodyPr wrap="square" lIns="0" tIns="0" rIns="0" bIns="0" rtlCol="0" anchor="t"/>
          <a:lstStyle/>
          <a:p>
            <a:pPr marL="0" indent="0">
              <a:lnSpc>
                <a:spcPts val="1900"/>
              </a:lnSpc>
              <a:buNone/>
            </a:pPr>
            <a:r>
              <a:rPr lang="ko-KR" sz="1150" b="0" dirty="0">
                <a:solidFill>
                  <a:srgbClr val="1A2233"/>
                </a:solidFill>
                <a:latin typeface="맑은 고딕" pitchFamily="34" charset="0"/>
                <a:ea typeface="맑은 고딕" pitchFamily="34" charset="-122"/>
                <a:cs typeface="맑은 고딕" pitchFamily="34" charset="-120"/>
              </a:rPr>
              <a:t>배와 함께 이동하지만</a:t>
            </a:r>
          </a:p>
          <a:p>
            <a:pPr marL="0" indent="0">
              <a:lnSpc>
                <a:spcPts val="1900"/>
              </a:lnSpc>
              <a:buNone/>
            </a:pPr>
            <a:r>
              <a:rPr lang="ko-KR" sz="1150" b="0" dirty="0">
                <a:solidFill>
                  <a:srgbClr val="1A2233"/>
                </a:solidFill>
                <a:latin typeface="맑은 고딕" pitchFamily="34" charset="0"/>
                <a:ea typeface="맑은 고딕" pitchFamily="34" charset="-122"/>
                <a:cs typeface="맑은 고딕" pitchFamily="34" charset="-120"/>
              </a:rPr>
              <a:t>함께 회전하지는 않는다.</a:t>
            </a:r>
          </a:p>
          <a:p>
            <a:pPr marL="0" indent="0">
              <a:lnSpc>
                <a:spcPts val="1200"/>
              </a:lnSpc>
              <a:buNone/>
            </a:pPr>
            <a:endParaRPr lang="ko-KR" sz="1150" b="0" dirty="0">
              <a:solidFill>
                <a:srgbClr val="1A2233"/>
              </a:solidFill>
              <a:latin typeface="맑은 고딕" pitchFamily="34" charset="0"/>
              <a:ea typeface="맑은 고딕" pitchFamily="34" charset="-122"/>
              <a:cs typeface="맑은 고딕" pitchFamily="34" charset="-120"/>
            </a:endParaRPr>
          </a:p>
          <a:p>
            <a:pPr marL="0" indent="0">
              <a:lnSpc>
                <a:spcPts val="1900"/>
              </a:lnSpc>
              <a:buNone/>
            </a:pPr>
            <a:r>
              <a:rPr lang="ko-KR" sz="1150" b="0" dirty="0">
                <a:solidFill>
                  <a:srgbClr val="1A2233"/>
                </a:solidFill>
                <a:latin typeface="맑은 고딕" pitchFamily="34" charset="0"/>
                <a:ea typeface="맑은 고딕" pitchFamily="34" charset="-122"/>
                <a:cs typeface="맑은 고딕" pitchFamily="34" charset="-120"/>
              </a:rPr>
              <a:t>그래서 표적이 실제로 움직인 것과</a:t>
            </a:r>
          </a:p>
          <a:p>
            <a:pPr marL="0" indent="0">
              <a:lnSpc>
                <a:spcPts val="1900"/>
              </a:lnSpc>
              <a:buNone/>
            </a:pPr>
            <a:r>
              <a:rPr lang="ko-KR" sz="1150" b="0" dirty="0">
                <a:solidFill>
                  <a:srgbClr val="1A2233"/>
                </a:solidFill>
                <a:latin typeface="맑은 고딕" pitchFamily="34" charset="0"/>
                <a:ea typeface="맑은 고딕" pitchFamily="34" charset="-122"/>
                <a:cs typeface="맑은 고딕" pitchFamily="34" charset="-120"/>
              </a:rPr>
              <a:t>배가 흔들린 것을 구분할 수 있다.</a:t>
            </a:r>
          </a:p>
          <a:p>
            <a:pPr marL="0" indent="0">
              <a:lnSpc>
                <a:spcPts val="1200"/>
              </a:lnSpc>
              <a:buNone/>
            </a:pPr>
            <a:endParaRPr lang="ko-KR" sz="1150" b="0" dirty="0">
              <a:solidFill>
                <a:srgbClr val="1A2233"/>
              </a:solidFill>
              <a:latin typeface="맑은 고딕" pitchFamily="34" charset="0"/>
              <a:ea typeface="맑은 고딕" pitchFamily="34" charset="-122"/>
              <a:cs typeface="맑은 고딕" pitchFamily="34" charset="-120"/>
            </a:endParaRPr>
          </a:p>
          <a:p>
            <a:pPr marL="0" indent="0">
              <a:lnSpc>
                <a:spcPts val="1900"/>
              </a:lnSpc>
              <a:buNone/>
            </a:pPr>
            <a:r>
              <a:rPr lang="ko-KR" sz="1150" b="0" dirty="0">
                <a:solidFill>
                  <a:srgbClr val="1A2233"/>
                </a:solidFill>
                <a:latin typeface="맑은 고딕" pitchFamily="34" charset="0"/>
                <a:ea typeface="맑은 고딕" pitchFamily="34" charset="-122"/>
                <a:cs typeface="맑은 고딕" pitchFamily="34" charset="-120"/>
              </a:rPr>
              <a:t>추적 필터를 여기서 돌리는 이유다.</a:t>
            </a:r>
          </a:p>
        </p:txBody>
      </p:sp>
      <p:sp>
        <p:nvSpPr>
          <p:cNvPr id="41" name="Shape 22"/>
          <p:cNvSpPr/>
          <p:nvPr/>
        </p:nvSpPr>
        <p:spPr>
          <a:xfrm>
            <a:off x="566928" y="4626864"/>
            <a:ext cx="11064240" cy="1609344"/>
          </a:xfrm>
          <a:prstGeom prst="roundRect">
            <a:avLst>
              <a:gd name="adj" fmla="val 6800"/>
            </a:avLst>
          </a:prstGeom>
          <a:solidFill>
            <a:srgbClr val="EEF1F7"/>
          </a:solidFill>
          <a:ln w="12700">
            <a:solidFill>
              <a:srgbClr val="FFFFFF"/>
            </a:solidFill>
            <a:prstDash val="solid"/>
          </a:ln>
        </p:spPr>
        <p:txBody>
          <a:bodyPr/>
          <a:lstStyle/>
          <a:p>
            <a:endParaRPr/>
          </a:p>
        </p:txBody>
      </p:sp>
      <p:pic>
        <p:nvPicPr>
          <p:cNvPr id="42" name="Flow 0" descr="fig26_ned_flow.png"/>
          <p:cNvPicPr>
            <a:picLocks noChangeAspect="1"/>
          </p:cNvPicPr>
          <p:nvPr/>
        </p:nvPicPr>
        <p:blipFill>
          <a:blip r:embed="rId4"/>
          <a:stretch>
            <a:fillRect/>
          </a:stretch>
        </p:blipFill>
        <p:spPr>
          <a:xfrm>
            <a:off x="786384" y="4700016"/>
            <a:ext cx="10625328" cy="1500827"/>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8">
    <p:bg>
      <p:bgPr>
        <a:solidFill>
          <a:srgbClr val="E8EDF5"/>
        </a:solidFill>
        <a:effectLst/>
      </p:bgPr>
    </p:bg>
    <p:spTree>
      <p:nvGrpSpPr>
        <p:cNvPr id="1" name=""/>
        <p:cNvGrpSpPr/>
        <p:nvPr/>
      </p:nvGrpSpPr>
      <p:grpSpPr>
        <a:xfrm>
          <a:off x="0" y="0"/>
          <a:ext cx="0" cy="0"/>
          <a:chOff x="0" y="0"/>
          <a:chExt cx="0" cy="0"/>
        </a:xfrm>
      </p:grpSpPr>
      <p:sp>
        <p:nvSpPr>
          <p:cNvPr id="28" name="Rectangle 27"/>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endParaRPr/>
          </a:p>
        </p:txBody>
      </p:sp>
      <p:sp>
        <p:nvSpPr>
          <p:cNvPr id="4" name="Shape 2"/>
          <p:cNvSpPr/>
          <p:nvPr/>
        </p:nvSpPr>
        <p:spPr>
          <a:xfrm>
            <a:off x="2112264" y="1371600"/>
            <a:ext cx="1170432" cy="316111"/>
          </a:xfrm>
          <a:prstGeom prst="roundRect">
            <a:avLst>
              <a:gd name="adj" fmla="val 47222"/>
            </a:avLst>
          </a:prstGeom>
          <a:solidFill>
            <a:srgbClr val="EEF1F7"/>
          </a:solidFill>
          <a:ln w="12700">
            <a:solidFill>
              <a:srgbClr val="C9D6EC"/>
            </a:solidFill>
            <a:prstDash val="solid"/>
          </a:ln>
        </p:spPr>
        <p:txBody>
          <a:bodyPr/>
          <a:lstStyle/>
          <a:p>
            <a:endParaRPr/>
          </a:p>
        </p:txBody>
      </p:sp>
      <p:sp>
        <p:nvSpPr>
          <p:cNvPr id="5" name="Text 3"/>
          <p:cNvSpPr txBox="1"/>
          <p:nvPr/>
        </p:nvSpPr>
        <p:spPr>
          <a:xfrm>
            <a:off x="2112264" y="1371600"/>
            <a:ext cx="1170432" cy="316111"/>
          </a:xfrm>
          <a:prstGeom prst="rect">
            <a:avLst/>
          </a:prstGeom>
          <a:noFill/>
          <a:ln/>
        </p:spPr>
        <p:txBody>
          <a:bodyPr wrap="square" lIns="0" tIns="0" rIns="0" bIns="0" rtlCol="0" anchor="ctr"/>
          <a:lstStyle/>
          <a:p>
            <a:pPr marL="0" indent="0" algn="ctr">
              <a:buNone/>
            </a:pPr>
            <a:r>
              <a:rPr lang="en-US" sz="1060" dirty="0">
                <a:solidFill>
                  <a:srgbClr val="5A6478"/>
                </a:solidFill>
                <a:latin typeface="맑은 고딕" pitchFamily="34" charset="0"/>
                <a:ea typeface="맑은 고딕" pitchFamily="34" charset="-122"/>
                <a:cs typeface="맑은 고딕" pitchFamily="34" charset="-120"/>
              </a:rPr>
              <a:t>측정</a:t>
            </a:r>
            <a:endParaRPr lang="en-US" sz="1100" dirty="0"/>
          </a:p>
        </p:txBody>
      </p:sp>
      <p:sp>
        <p:nvSpPr>
          <p:cNvPr id="6" name="Text 4"/>
          <p:cNvSpPr txBox="1"/>
          <p:nvPr/>
        </p:nvSpPr>
        <p:spPr>
          <a:xfrm>
            <a:off x="3282696" y="1371600"/>
            <a:ext cx="182880" cy="316111"/>
          </a:xfrm>
          <a:prstGeom prst="rect">
            <a:avLst/>
          </a:prstGeom>
          <a:noFill/>
          <a:ln/>
        </p:spPr>
        <p:txBody>
          <a:bodyPr wrap="square" lIns="0" tIns="0" rIns="0" bIns="0" rtlCol="0" anchor="ctr"/>
          <a:lstStyle/>
          <a:p>
            <a:pPr marL="0" indent="0" algn="ctr">
              <a:buNone/>
            </a:pPr>
            <a:r>
              <a:rPr lang="en-US" sz="960" dirty="0">
                <a:solidFill>
                  <a:srgbClr val="C9D6EC"/>
                </a:solidFill>
              </a:rPr>
              <a:t>▸</a:t>
            </a:r>
            <a:endParaRPr lang="en-US" sz="1000" dirty="0"/>
          </a:p>
        </p:txBody>
      </p:sp>
      <p:sp>
        <p:nvSpPr>
          <p:cNvPr id="7" name="Shape 5"/>
          <p:cNvSpPr/>
          <p:nvPr/>
        </p:nvSpPr>
        <p:spPr>
          <a:xfrm>
            <a:off x="3465576" y="1371600"/>
            <a:ext cx="1170432" cy="316111"/>
          </a:xfrm>
          <a:prstGeom prst="roundRect">
            <a:avLst>
              <a:gd name="adj" fmla="val 47222"/>
            </a:avLst>
          </a:prstGeom>
          <a:solidFill>
            <a:srgbClr val="EEF1F7"/>
          </a:solidFill>
          <a:ln w="12700">
            <a:solidFill>
              <a:srgbClr val="C9D6EC"/>
            </a:solidFill>
            <a:prstDash val="solid"/>
          </a:ln>
        </p:spPr>
        <p:txBody>
          <a:bodyPr/>
          <a:lstStyle/>
          <a:p>
            <a:endParaRPr/>
          </a:p>
        </p:txBody>
      </p:sp>
      <p:sp>
        <p:nvSpPr>
          <p:cNvPr id="8" name="Text 6"/>
          <p:cNvSpPr txBox="1"/>
          <p:nvPr/>
        </p:nvSpPr>
        <p:spPr>
          <a:xfrm>
            <a:off x="3465576" y="1371600"/>
            <a:ext cx="1170432" cy="316111"/>
          </a:xfrm>
          <a:prstGeom prst="rect">
            <a:avLst/>
          </a:prstGeom>
          <a:noFill/>
          <a:ln/>
        </p:spPr>
        <p:txBody>
          <a:bodyPr wrap="square" lIns="0" tIns="0" rIns="0" bIns="0" rtlCol="0" anchor="ctr"/>
          <a:lstStyle/>
          <a:p>
            <a:pPr marL="0" indent="0" algn="ctr">
              <a:buNone/>
            </a:pPr>
            <a:r>
              <a:rPr lang="en-US" sz="1060" dirty="0">
                <a:solidFill>
                  <a:srgbClr val="5A6478"/>
                </a:solidFill>
                <a:latin typeface="맑은 고딕" pitchFamily="34" charset="0"/>
                <a:ea typeface="맑은 고딕" pitchFamily="34" charset="-122"/>
                <a:cs typeface="맑은 고딕" pitchFamily="34" charset="-120"/>
              </a:rPr>
              <a:t>안테나</a:t>
            </a:r>
            <a:endParaRPr lang="en-US" sz="1100" dirty="0"/>
          </a:p>
        </p:txBody>
      </p:sp>
      <p:sp>
        <p:nvSpPr>
          <p:cNvPr id="9" name="Text 7"/>
          <p:cNvSpPr txBox="1"/>
          <p:nvPr/>
        </p:nvSpPr>
        <p:spPr>
          <a:xfrm>
            <a:off x="4636008" y="1371600"/>
            <a:ext cx="182880" cy="316111"/>
          </a:xfrm>
          <a:prstGeom prst="rect">
            <a:avLst/>
          </a:prstGeom>
          <a:noFill/>
          <a:ln/>
        </p:spPr>
        <p:txBody>
          <a:bodyPr wrap="square" lIns="0" tIns="0" rIns="0" bIns="0" rtlCol="0" anchor="ctr"/>
          <a:lstStyle/>
          <a:p>
            <a:pPr marL="0" indent="0" algn="ctr">
              <a:buNone/>
            </a:pPr>
            <a:r>
              <a:rPr lang="en-US" sz="960" dirty="0">
                <a:solidFill>
                  <a:srgbClr val="C9D6EC"/>
                </a:solidFill>
              </a:rPr>
              <a:t>▸</a:t>
            </a:r>
            <a:endParaRPr lang="en-US" sz="1000" dirty="0"/>
          </a:p>
        </p:txBody>
      </p:sp>
      <p:sp>
        <p:nvSpPr>
          <p:cNvPr id="10" name="Shape 8"/>
          <p:cNvSpPr/>
          <p:nvPr/>
        </p:nvSpPr>
        <p:spPr>
          <a:xfrm>
            <a:off x="4818888" y="1371600"/>
            <a:ext cx="1170432" cy="316111"/>
          </a:xfrm>
          <a:prstGeom prst="roundRect">
            <a:avLst>
              <a:gd name="adj" fmla="val 47222"/>
            </a:avLst>
          </a:prstGeom>
          <a:solidFill>
            <a:srgbClr val="EEF1F7"/>
          </a:solidFill>
          <a:ln w="12700">
            <a:solidFill>
              <a:srgbClr val="C9D6EC"/>
            </a:solidFill>
            <a:prstDash val="solid"/>
          </a:ln>
        </p:spPr>
        <p:txBody>
          <a:bodyPr/>
          <a:lstStyle/>
          <a:p>
            <a:endParaRPr/>
          </a:p>
        </p:txBody>
      </p:sp>
      <p:sp>
        <p:nvSpPr>
          <p:cNvPr id="11" name="Text 9"/>
          <p:cNvSpPr txBox="1"/>
          <p:nvPr/>
        </p:nvSpPr>
        <p:spPr>
          <a:xfrm>
            <a:off x="4818888" y="1371600"/>
            <a:ext cx="1170432" cy="316111"/>
          </a:xfrm>
          <a:prstGeom prst="rect">
            <a:avLst/>
          </a:prstGeom>
          <a:noFill/>
          <a:ln/>
        </p:spPr>
        <p:txBody>
          <a:bodyPr wrap="square" lIns="0" tIns="0" rIns="0" bIns="0" rtlCol="0" anchor="ctr"/>
          <a:lstStyle/>
          <a:p>
            <a:pPr marL="0" indent="0" algn="ctr">
              <a:buNone/>
            </a:pPr>
            <a:r>
              <a:rPr lang="en-US" sz="1060" dirty="0">
                <a:solidFill>
                  <a:srgbClr val="5A6478"/>
                </a:solidFill>
                <a:latin typeface="맑은 고딕" pitchFamily="34" charset="0"/>
                <a:ea typeface="맑은 고딕" pitchFamily="34" charset="-122"/>
                <a:cs typeface="맑은 고딕" pitchFamily="34" charset="-120"/>
              </a:rPr>
              <a:t>동체</a:t>
            </a:r>
            <a:endParaRPr lang="en-US" sz="1100" dirty="0"/>
          </a:p>
        </p:txBody>
      </p:sp>
      <p:sp>
        <p:nvSpPr>
          <p:cNvPr id="12" name="Text 10"/>
          <p:cNvSpPr txBox="1"/>
          <p:nvPr/>
        </p:nvSpPr>
        <p:spPr>
          <a:xfrm>
            <a:off x="5989320" y="1371600"/>
            <a:ext cx="182880" cy="316111"/>
          </a:xfrm>
          <a:prstGeom prst="rect">
            <a:avLst/>
          </a:prstGeom>
          <a:noFill/>
          <a:ln/>
        </p:spPr>
        <p:txBody>
          <a:bodyPr wrap="square" lIns="0" tIns="0" rIns="0" bIns="0" rtlCol="0" anchor="ctr"/>
          <a:lstStyle/>
          <a:p>
            <a:pPr marL="0" indent="0" algn="ctr">
              <a:buNone/>
            </a:pPr>
            <a:r>
              <a:rPr lang="en-US" sz="960" dirty="0">
                <a:solidFill>
                  <a:srgbClr val="C9D6EC"/>
                </a:solidFill>
              </a:rPr>
              <a:t>▸</a:t>
            </a:r>
            <a:endParaRPr lang="en-US" sz="1000" dirty="0"/>
          </a:p>
        </p:txBody>
      </p:sp>
      <p:sp>
        <p:nvSpPr>
          <p:cNvPr id="13" name="Shape 11"/>
          <p:cNvSpPr/>
          <p:nvPr/>
        </p:nvSpPr>
        <p:spPr>
          <a:xfrm>
            <a:off x="6172200" y="1371600"/>
            <a:ext cx="1170432" cy="316111"/>
          </a:xfrm>
          <a:prstGeom prst="roundRect">
            <a:avLst>
              <a:gd name="adj" fmla="val 47222"/>
            </a:avLst>
          </a:prstGeom>
          <a:solidFill>
            <a:srgbClr val="EEF1F7"/>
          </a:solidFill>
          <a:ln w="12700">
            <a:solidFill>
              <a:srgbClr val="C9D6EC"/>
            </a:solidFill>
            <a:prstDash val="solid"/>
          </a:ln>
        </p:spPr>
        <p:txBody>
          <a:bodyPr/>
          <a:lstStyle/>
          <a:p>
            <a:endParaRPr/>
          </a:p>
        </p:txBody>
      </p:sp>
      <p:sp>
        <p:nvSpPr>
          <p:cNvPr id="14" name="Text 12"/>
          <p:cNvSpPr txBox="1"/>
          <p:nvPr/>
        </p:nvSpPr>
        <p:spPr>
          <a:xfrm>
            <a:off x="6172200" y="1371600"/>
            <a:ext cx="1170432" cy="316111"/>
          </a:xfrm>
          <a:prstGeom prst="rect">
            <a:avLst/>
          </a:prstGeom>
          <a:noFill/>
          <a:ln/>
        </p:spPr>
        <p:txBody>
          <a:bodyPr wrap="square" lIns="0" tIns="0" rIns="0" bIns="0" rtlCol="0" anchor="ctr"/>
          <a:lstStyle/>
          <a:p>
            <a:pPr marL="0" indent="0" algn="ctr">
              <a:buNone/>
            </a:pPr>
            <a:r>
              <a:rPr lang="en-US" sz="1060" dirty="0">
                <a:solidFill>
                  <a:srgbClr val="5A6478"/>
                </a:solidFill>
                <a:latin typeface="맑은 고딕" pitchFamily="34" charset="0"/>
                <a:ea typeface="맑은 고딕" pitchFamily="34" charset="-122"/>
                <a:cs typeface="맑은 고딕" pitchFamily="34" charset="-120"/>
              </a:rPr>
              <a:t>NED</a:t>
            </a:r>
            <a:endParaRPr lang="en-US" sz="1100" dirty="0"/>
          </a:p>
        </p:txBody>
      </p:sp>
      <p:sp>
        <p:nvSpPr>
          <p:cNvPr id="15" name="Text 13"/>
          <p:cNvSpPr txBox="1"/>
          <p:nvPr/>
        </p:nvSpPr>
        <p:spPr>
          <a:xfrm>
            <a:off x="7342632" y="1371600"/>
            <a:ext cx="182880" cy="316111"/>
          </a:xfrm>
          <a:prstGeom prst="rect">
            <a:avLst/>
          </a:prstGeom>
          <a:noFill/>
          <a:ln/>
        </p:spPr>
        <p:txBody>
          <a:bodyPr wrap="square" lIns="0" tIns="0" rIns="0" bIns="0" rtlCol="0" anchor="ctr"/>
          <a:lstStyle/>
          <a:p>
            <a:pPr marL="0" indent="0" algn="ctr">
              <a:buNone/>
            </a:pPr>
            <a:r>
              <a:rPr lang="en-US" sz="960" dirty="0">
                <a:solidFill>
                  <a:srgbClr val="C9D6EC"/>
                </a:solidFill>
              </a:rPr>
              <a:t>▸</a:t>
            </a:r>
            <a:endParaRPr lang="en-US" sz="1000" dirty="0"/>
          </a:p>
        </p:txBody>
      </p:sp>
      <p:sp>
        <p:nvSpPr>
          <p:cNvPr id="16" name="Shape 14"/>
          <p:cNvSpPr/>
          <p:nvPr/>
        </p:nvSpPr>
        <p:spPr>
          <a:xfrm>
            <a:off x="7525512" y="1371600"/>
            <a:ext cx="1170432" cy="316111"/>
          </a:xfrm>
          <a:prstGeom prst="roundRect">
            <a:avLst>
              <a:gd name="adj" fmla="val 47222"/>
            </a:avLst>
          </a:prstGeom>
          <a:solidFill>
            <a:srgbClr val="C2521C"/>
          </a:solidFill>
          <a:ln w="12700">
            <a:solidFill>
              <a:srgbClr val="C2521C"/>
            </a:solidFill>
            <a:prstDash val="solid"/>
          </a:ln>
        </p:spPr>
        <p:txBody>
          <a:bodyPr/>
          <a:lstStyle/>
          <a:p>
            <a:endParaRPr/>
          </a:p>
        </p:txBody>
      </p:sp>
      <p:sp>
        <p:nvSpPr>
          <p:cNvPr id="17" name="Text 15"/>
          <p:cNvSpPr txBox="1"/>
          <p:nvPr/>
        </p:nvSpPr>
        <p:spPr>
          <a:xfrm>
            <a:off x="7525512" y="1371600"/>
            <a:ext cx="1170432" cy="316111"/>
          </a:xfrm>
          <a:prstGeom prst="rect">
            <a:avLst/>
          </a:prstGeom>
          <a:noFill/>
          <a:ln/>
        </p:spPr>
        <p:txBody>
          <a:bodyPr wrap="square" lIns="0" tIns="0" rIns="0" bIns="0" rtlCol="0" anchor="ctr"/>
          <a:lstStyle/>
          <a:p>
            <a:pPr marL="0" indent="0" algn="ctr">
              <a:buNone/>
            </a:pPr>
            <a:r>
              <a:rPr lang="en-US" sz="1060" b="1" dirty="0">
                <a:solidFill>
                  <a:srgbClr val="FFFFFF"/>
                </a:solidFill>
                <a:latin typeface="맑은 고딕" pitchFamily="34" charset="0"/>
                <a:ea typeface="맑은 고딕" pitchFamily="34" charset="-122"/>
                <a:cs typeface="맑은 고딕" pitchFamily="34" charset="-120"/>
              </a:rPr>
              <a:t>ECEF</a:t>
            </a:r>
            <a:endParaRPr lang="en-US" sz="1100" dirty="0"/>
          </a:p>
        </p:txBody>
      </p:sp>
      <p:sp>
        <p:nvSpPr>
          <p:cNvPr id="18" name="Text 16"/>
          <p:cNvSpPr txBox="1"/>
          <p:nvPr/>
        </p:nvSpPr>
        <p:spPr>
          <a:xfrm>
            <a:off x="8695944" y="1371600"/>
            <a:ext cx="182880" cy="316111"/>
          </a:xfrm>
          <a:prstGeom prst="rect">
            <a:avLst/>
          </a:prstGeom>
          <a:noFill/>
          <a:ln/>
        </p:spPr>
        <p:txBody>
          <a:bodyPr wrap="square" lIns="0" tIns="0" rIns="0" bIns="0" rtlCol="0" anchor="ctr"/>
          <a:lstStyle/>
          <a:p>
            <a:pPr marL="0" indent="0" algn="ctr">
              <a:buNone/>
            </a:pPr>
            <a:r>
              <a:rPr lang="en-US" sz="960" dirty="0">
                <a:solidFill>
                  <a:srgbClr val="C9D6EC"/>
                </a:solidFill>
              </a:rPr>
              <a:t>▸</a:t>
            </a:r>
            <a:endParaRPr lang="en-US" sz="1000" dirty="0"/>
          </a:p>
        </p:txBody>
      </p:sp>
      <p:sp>
        <p:nvSpPr>
          <p:cNvPr id="19" name="Shape 17"/>
          <p:cNvSpPr/>
          <p:nvPr/>
        </p:nvSpPr>
        <p:spPr>
          <a:xfrm>
            <a:off x="8878824" y="1371600"/>
            <a:ext cx="1170432" cy="316111"/>
          </a:xfrm>
          <a:prstGeom prst="roundRect">
            <a:avLst>
              <a:gd name="adj" fmla="val 47222"/>
            </a:avLst>
          </a:prstGeom>
          <a:solidFill>
            <a:srgbClr val="EEF1F7"/>
          </a:solidFill>
          <a:ln w="12700">
            <a:solidFill>
              <a:srgbClr val="C9D6EC"/>
            </a:solidFill>
            <a:prstDash val="solid"/>
          </a:ln>
        </p:spPr>
        <p:txBody>
          <a:bodyPr/>
          <a:lstStyle/>
          <a:p>
            <a:endParaRPr/>
          </a:p>
        </p:txBody>
      </p:sp>
      <p:sp>
        <p:nvSpPr>
          <p:cNvPr id="20" name="Text 18"/>
          <p:cNvSpPr txBox="1"/>
          <p:nvPr/>
        </p:nvSpPr>
        <p:spPr>
          <a:xfrm>
            <a:off x="8878824" y="1371600"/>
            <a:ext cx="1170432" cy="316111"/>
          </a:xfrm>
          <a:prstGeom prst="rect">
            <a:avLst/>
          </a:prstGeom>
          <a:noFill/>
          <a:ln/>
        </p:spPr>
        <p:txBody>
          <a:bodyPr wrap="square" lIns="0" tIns="0" rIns="0" bIns="0" rtlCol="0" anchor="ctr"/>
          <a:lstStyle/>
          <a:p>
            <a:pPr marL="0" indent="0" algn="ctr">
              <a:buNone/>
            </a:pPr>
            <a:r>
              <a:rPr lang="en-US" sz="1060" dirty="0">
                <a:solidFill>
                  <a:srgbClr val="5A6478"/>
                </a:solidFill>
                <a:latin typeface="맑은 고딕" pitchFamily="34" charset="0"/>
                <a:ea typeface="맑은 고딕" pitchFamily="34" charset="-122"/>
                <a:cs typeface="맑은 고딕" pitchFamily="34" charset="-120"/>
              </a:rPr>
              <a:t>LLA</a:t>
            </a:r>
            <a:endParaRPr lang="en-US" sz="1100" dirty="0"/>
          </a:p>
        </p:txBody>
      </p:sp>
      <p:pic>
        <p:nvPicPr>
          <p:cNvPr id="21" name="Image 0" descr="/home/claude/gitpkg/Part2_CoordFrames/doc/figures/fig09_ecef_eci.png"/>
          <p:cNvPicPr>
            <a:picLocks noChangeAspect="1"/>
          </p:cNvPicPr>
          <p:nvPr/>
        </p:nvPicPr>
        <p:blipFill>
          <a:blip r:embed="rId3"/>
          <a:stretch>
            <a:fillRect/>
          </a:stretch>
        </p:blipFill>
        <p:spPr>
          <a:xfrm>
            <a:off x="566928" y="1773936"/>
            <a:ext cx="5669280" cy="2546604"/>
          </a:xfrm>
          <a:prstGeom prst="rect">
            <a:avLst/>
          </a:prstGeom>
        </p:spPr>
      </p:pic>
      <p:sp>
        <p:nvSpPr>
          <p:cNvPr id="29" name="Rectangle 28"/>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endParaRPr/>
          </a:p>
        </p:txBody>
      </p:sp>
      <p:sp>
        <p:nvSpPr>
          <p:cNvPr id="30" name="TextBox 29"/>
          <p:cNvSpPr txBox="1"/>
          <p:nvPr/>
        </p:nvSpPr>
        <p:spPr>
          <a:xfrm>
            <a:off x="640080" y="411480"/>
            <a:ext cx="8732520" cy="777240"/>
          </a:xfrm>
          <a:prstGeom prst="rect">
            <a:avLst/>
          </a:prstGeom>
          <a:noFill/>
        </p:spPr>
        <p:txBody>
          <a:bodyPr wrap="square" lIns="0" tIns="0" rIns="0" bIns="0" anchor="ctr">
            <a:spAutoFit/>
          </a:bodyPr>
          <a:lstStyle/>
          <a:p>
            <a:pPr algn="l">
              <a:spcAft>
                <a:spcPts val="300"/>
              </a:spcAft>
            </a:pPr>
            <a:r>
              <a:rPr sz="1900" b="1">
                <a:solidFill>
                  <a:srgbClr val="FFFFFF"/>
                </a:solidFill>
                <a:latin typeface="맑은 고딕"/>
              </a:rPr>
              <a:t>01. ECEF / ECI  지구 중심 좌표계</a:t>
            </a:r>
          </a:p>
          <a:p>
            <a:pPr algn="l">
              <a:lnSpc>
                <a:spcPts val="1400"/>
              </a:lnSpc>
            </a:pPr>
            <a:r>
              <a:rPr sz="1100" b="0">
                <a:solidFill>
                  <a:srgbClr val="C9D6EC"/>
                </a:solidFill>
                <a:latin typeface="맑은 고딕"/>
              </a:rPr>
              <a:t>둘 다 원점은 지구 중심 — ECEF 는 지구와 함께 돌고, ECI 는 별에 고정돼 돌지 않습니다</a:t>
            </a:r>
          </a:p>
        </p:txBody>
      </p:sp>
      <p:cxnSp>
        <p:nvCxnSpPr>
          <p:cNvPr id="32" name="Connector 31"/>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669280" y="6400800"/>
            <a:ext cx="914400" cy="274320"/>
          </a:xfrm>
          <a:prstGeom prst="rect">
            <a:avLst/>
          </a:prstGeom>
          <a:noFill/>
        </p:spPr>
        <p:txBody>
          <a:bodyPr wrap="none" lIns="0" tIns="0" rIns="0" bIns="0">
            <a:spAutoFit/>
          </a:bodyPr>
          <a:lstStyle/>
          <a:p>
            <a:pPr algn="ctr"/>
            <a:fld id="{1D0B0B0B-0000-4000-8000-00000000C0DE}" type="slidenum">
              <a:rPr lang="ko-KR" altLang="en-US" sz="1000" b="0" dirty="0">
                <a:solidFill>
                  <a:srgbClr val="1A2233"/>
                </a:solidFill>
                <a:latin typeface="Arial"/>
                <a:ea typeface="Arial"/>
              </a:rPr>
              <a:t>13</a:t>
            </a:fld>
            <a:endParaRPr lang="ko-KR" altLang="en-US" sz="1000" b="0" dirty="0">
              <a:solidFill>
                <a:srgbClr val="1A2233"/>
              </a:solidFill>
              <a:latin typeface="Arial"/>
              <a:ea typeface="Arial"/>
            </a:endParaRPr>
          </a:p>
        </p:txBody>
      </p:sp>
      <p:sp>
        <p:nvSpPr>
          <p:cNvPr id="35" name="Shape 19"/>
          <p:cNvSpPr/>
          <p:nvPr/>
        </p:nvSpPr>
        <p:spPr>
          <a:xfrm>
            <a:off x="6419088" y="1773936"/>
            <a:ext cx="5212080" cy="1225296"/>
          </a:xfrm>
          <a:prstGeom prst="roundRect">
            <a:avLst>
              <a:gd name="adj" fmla="val 6800"/>
            </a:avLst>
          </a:prstGeom>
          <a:solidFill>
            <a:srgbClr val="EEF1F7"/>
          </a:solidFill>
          <a:ln w="12700">
            <a:solidFill>
              <a:srgbClr val="FFFFFF"/>
            </a:solidFill>
            <a:prstDash val="solid"/>
          </a:ln>
        </p:spPr>
        <p:txBody>
          <a:bodyPr/>
          <a:lstStyle/>
          <a:p>
            <a:endParaRPr/>
          </a:p>
        </p:txBody>
      </p:sp>
      <p:sp>
        <p:nvSpPr>
          <p:cNvPr id="38" name="Shape 22"/>
          <p:cNvSpPr/>
          <p:nvPr/>
        </p:nvSpPr>
        <p:spPr>
          <a:xfrm>
            <a:off x="6419088" y="3090672"/>
            <a:ext cx="5212080" cy="1225296"/>
          </a:xfrm>
          <a:prstGeom prst="roundRect">
            <a:avLst>
              <a:gd name="adj" fmla="val 6800"/>
            </a:avLst>
          </a:prstGeom>
          <a:solidFill>
            <a:srgbClr val="EEF1F7"/>
          </a:solidFill>
          <a:ln w="12700">
            <a:solidFill>
              <a:srgbClr val="FFFFFF"/>
            </a:solidFill>
            <a:prstDash val="solid"/>
          </a:ln>
        </p:spPr>
        <p:txBody>
          <a:bodyPr/>
          <a:lstStyle/>
          <a:p>
            <a:endParaRPr/>
          </a:p>
        </p:txBody>
      </p:sp>
      <p:sp>
        <p:nvSpPr>
          <p:cNvPr id="41" name="Shape 25"/>
          <p:cNvSpPr/>
          <p:nvPr/>
        </p:nvSpPr>
        <p:spPr>
          <a:xfrm>
            <a:off x="566928" y="4480560"/>
            <a:ext cx="11064240" cy="1572768"/>
          </a:xfrm>
          <a:prstGeom prst="roundRect">
            <a:avLst>
              <a:gd name="adj" fmla="val 6800"/>
            </a:avLst>
          </a:prstGeom>
          <a:solidFill>
            <a:srgbClr val="EEF1F7"/>
          </a:solidFill>
          <a:ln w="12700">
            <a:solidFill>
              <a:srgbClr val="FFFFFF"/>
            </a:solidFill>
            <a:prstDash val="solid"/>
          </a:ln>
        </p:spPr>
        <p:txBody>
          <a:bodyPr/>
          <a:lstStyle/>
          <a:p>
            <a:endParaRPr/>
          </a:p>
        </p:txBody>
      </p:sp>
      <p:sp>
        <p:nvSpPr>
          <p:cNvPr id="42" name="Text 20"/>
          <p:cNvSpPr txBox="1"/>
          <p:nvPr/>
        </p:nvSpPr>
        <p:spPr>
          <a:xfrm>
            <a:off x="6638544" y="1865376"/>
            <a:ext cx="4773168" cy="274320"/>
          </a:xfrm>
          <a:prstGeom prst="rect">
            <a:avLst/>
          </a:prstGeom>
          <a:noFill/>
          <a:ln/>
        </p:spPr>
        <p:txBody>
          <a:bodyPr wrap="square" lIns="0" tIns="0" rIns="0" bIns="0" rtlCol="0" anchor="t"/>
          <a:lstStyle/>
          <a:p>
            <a:pPr marL="0" indent="0">
              <a:buNone/>
            </a:pPr>
            <a:r>
              <a:rPr lang="ko-KR" sz="1200" b="1" dirty="0">
                <a:solidFill>
                  <a:srgbClr val="2B57A6"/>
                </a:solidFill>
                <a:latin typeface="맑은 고딕" pitchFamily="34" charset="0"/>
                <a:ea typeface="맑은 고딕" pitchFamily="34" charset="-122"/>
                <a:cs typeface="맑은 고딕" pitchFamily="34" charset="-120"/>
              </a:rPr>
              <a:t>ECEF  —  Earth-Centered, Earth-Fixed</a:t>
            </a:r>
            <a:r>
              <a:rPr lang="ko-KR" sz="1050" b="0" dirty="0">
                <a:solidFill>
                  <a:srgbClr val="5A6478"/>
                </a:solidFill>
                <a:latin typeface="맑은 고딕" pitchFamily="34" charset="0"/>
                <a:ea typeface="맑은 고딕" pitchFamily="34" charset="-122"/>
                <a:cs typeface="맑은 고딕" pitchFamily="34" charset="-120"/>
              </a:rPr>
              <a:t>    (이번 과제 O)</a:t>
            </a:r>
          </a:p>
        </p:txBody>
      </p:sp>
      <p:sp>
        <p:nvSpPr>
          <p:cNvPr id="43" name="Text 21"/>
          <p:cNvSpPr txBox="1"/>
          <p:nvPr/>
        </p:nvSpPr>
        <p:spPr>
          <a:xfrm>
            <a:off x="6638544" y="2176272"/>
            <a:ext cx="4773168" cy="786384"/>
          </a:xfrm>
          <a:prstGeom prst="rect">
            <a:avLst/>
          </a:prstGeom>
          <a:noFill/>
          <a:ln/>
        </p:spPr>
        <p:txBody>
          <a:bodyPr wrap="square" lIns="0" tIns="0" rIns="0" bIns="0" rtlCol="0" anchor="t"/>
          <a:lstStyle/>
          <a:p>
            <a:pPr marL="0" indent="0">
              <a:lnSpc>
                <a:spcPts val="1600"/>
              </a:lnSpc>
              <a:buNone/>
            </a:pPr>
            <a:r>
              <a:rPr lang="ko-KR" sz="1050" b="0" dirty="0">
                <a:solidFill>
                  <a:srgbClr val="1A2233"/>
                </a:solidFill>
                <a:latin typeface="맑은 고딕" pitchFamily="34" charset="0"/>
                <a:ea typeface="맑은 고딕" pitchFamily="34" charset="-122"/>
                <a:cs typeface="맑은 고딕" pitchFamily="34" charset="-120"/>
              </a:rPr>
              <a:t>원점 = 지구 중심.   X = 그리니치 자오선 · Z = 북극 · Y = 오른손</a:t>
            </a:r>
          </a:p>
          <a:p>
            <a:pPr marL="0" indent="0">
              <a:lnSpc>
                <a:spcPts val="1600"/>
              </a:lnSpc>
              <a:buNone/>
            </a:pPr>
            <a:r>
              <a:rPr lang="ko-KR" sz="1050" b="0" dirty="0">
                <a:solidFill>
                  <a:srgbClr val="1A2233"/>
                </a:solidFill>
                <a:latin typeface="맑은 고딕" pitchFamily="34" charset="0"/>
                <a:ea typeface="맑은 고딕" pitchFamily="34" charset="-122"/>
                <a:cs typeface="맑은 고딕" pitchFamily="34" charset="-120"/>
              </a:rPr>
              <a:t>지구와 함께 돈다  →  지표 한 점의 좌표가 시각과 무관</a:t>
            </a:r>
          </a:p>
          <a:p>
            <a:pPr marL="0" indent="0">
              <a:lnSpc>
                <a:spcPts val="1600"/>
              </a:lnSpc>
              <a:buNone/>
            </a:pPr>
            <a:r>
              <a:rPr lang="ko-KR" sz="1050" b="0" dirty="0">
                <a:solidFill>
                  <a:srgbClr val="5A6478"/>
                </a:solidFill>
                <a:latin typeface="맑은 고딕" pitchFamily="34" charset="0"/>
                <a:ea typeface="맑은 고딕" pitchFamily="34" charset="-122"/>
                <a:cs typeface="맑은 고딕" pitchFamily="34" charset="-120"/>
              </a:rPr>
              <a:t>GPS · 지도 · 위경도의 바탕이 되는 좌표계</a:t>
            </a:r>
          </a:p>
        </p:txBody>
      </p:sp>
      <p:sp>
        <p:nvSpPr>
          <p:cNvPr id="44" name="Text 23"/>
          <p:cNvSpPr txBox="1"/>
          <p:nvPr/>
        </p:nvSpPr>
        <p:spPr>
          <a:xfrm>
            <a:off x="6638544" y="3182112"/>
            <a:ext cx="4773168" cy="274320"/>
          </a:xfrm>
          <a:prstGeom prst="rect">
            <a:avLst/>
          </a:prstGeom>
          <a:noFill/>
          <a:ln/>
        </p:spPr>
        <p:txBody>
          <a:bodyPr wrap="square" lIns="0" tIns="0" rIns="0" bIns="0" rtlCol="0" anchor="t"/>
          <a:lstStyle/>
          <a:p>
            <a:pPr marL="0" indent="0">
              <a:buNone/>
            </a:pPr>
            <a:r>
              <a:rPr lang="ko-KR" sz="1200" b="1" dirty="0">
                <a:solidFill>
                  <a:srgbClr val="2B57A6"/>
                </a:solidFill>
                <a:latin typeface="맑은 고딕" pitchFamily="34" charset="0"/>
                <a:ea typeface="맑은 고딕" pitchFamily="34" charset="-122"/>
                <a:cs typeface="맑은 고딕" pitchFamily="34" charset="-120"/>
              </a:rPr>
              <a:t>ECI  —  Earth-Centered Inertial</a:t>
            </a:r>
            <a:r>
              <a:rPr lang="ko-KR" sz="1050" b="0" dirty="0">
                <a:solidFill>
                  <a:srgbClr val="5A6478"/>
                </a:solidFill>
                <a:latin typeface="맑은 고딕" pitchFamily="34" charset="0"/>
                <a:ea typeface="맑은 고딕" pitchFamily="34" charset="-122"/>
                <a:cs typeface="맑은 고딕" pitchFamily="34" charset="-120"/>
              </a:rPr>
              <a:t>    (이번 과제 X)</a:t>
            </a:r>
          </a:p>
        </p:txBody>
      </p:sp>
      <p:sp>
        <p:nvSpPr>
          <p:cNvPr id="45" name="Text 24"/>
          <p:cNvSpPr txBox="1"/>
          <p:nvPr/>
        </p:nvSpPr>
        <p:spPr>
          <a:xfrm>
            <a:off x="6638544" y="3493008"/>
            <a:ext cx="4773168" cy="786384"/>
          </a:xfrm>
          <a:prstGeom prst="rect">
            <a:avLst/>
          </a:prstGeom>
          <a:noFill/>
          <a:ln/>
        </p:spPr>
        <p:txBody>
          <a:bodyPr wrap="square" lIns="0" tIns="0" rIns="0" bIns="0" rtlCol="0" anchor="t"/>
          <a:lstStyle/>
          <a:p>
            <a:pPr marL="0" indent="0">
              <a:lnSpc>
                <a:spcPts val="1600"/>
              </a:lnSpc>
              <a:buNone/>
            </a:pPr>
            <a:r>
              <a:rPr lang="ko-KR" sz="1050" b="0" dirty="0">
                <a:solidFill>
                  <a:srgbClr val="1A2233"/>
                </a:solidFill>
                <a:latin typeface="맑은 고딕" pitchFamily="34" charset="0"/>
                <a:ea typeface="맑은 고딕" pitchFamily="34" charset="-122"/>
                <a:cs typeface="맑은 고딕" pitchFamily="34" charset="-120"/>
              </a:rPr>
              <a:t>원점 = 지구 중심.   X = 춘분점(별) 방향 · Z = 북극</a:t>
            </a:r>
          </a:p>
          <a:p>
            <a:pPr marL="0" indent="0">
              <a:lnSpc>
                <a:spcPts val="1600"/>
              </a:lnSpc>
              <a:buNone/>
            </a:pPr>
            <a:r>
              <a:rPr lang="ko-KR" sz="1050" b="0" dirty="0">
                <a:solidFill>
                  <a:srgbClr val="1A2233"/>
                </a:solidFill>
                <a:latin typeface="맑은 고딕" pitchFamily="34" charset="0"/>
                <a:ea typeface="맑은 고딕" pitchFamily="34" charset="-122"/>
                <a:cs typeface="맑은 고딕" pitchFamily="34" charset="-120"/>
              </a:rPr>
              <a:t>돌지 않는다  →  뉴턴 법칙이 그대로 성립</a:t>
            </a:r>
          </a:p>
          <a:p>
            <a:pPr marL="0" indent="0">
              <a:lnSpc>
                <a:spcPts val="1600"/>
              </a:lnSpc>
              <a:buNone/>
            </a:pPr>
            <a:r>
              <a:rPr lang="ko-KR" sz="1050" b="0" dirty="0">
                <a:solidFill>
                  <a:srgbClr val="5A6478"/>
                </a:solidFill>
                <a:latin typeface="맑은 고딕" pitchFamily="34" charset="0"/>
                <a:ea typeface="맑은 고딕" pitchFamily="34" charset="-122"/>
                <a:cs typeface="맑은 고딕" pitchFamily="34" charset="-120"/>
              </a:rPr>
              <a:t>위성 · 탄도탄의 궤도 계산에 쓴다 (중력만 받는 운동)</a:t>
            </a:r>
          </a:p>
        </p:txBody>
      </p:sp>
      <p:sp>
        <p:nvSpPr>
          <p:cNvPr id="46" name="Ecef T"/>
          <p:cNvSpPr txBox="1"/>
          <p:nvPr/>
        </p:nvSpPr>
        <p:spPr>
          <a:xfrm>
            <a:off x="786384" y="4572000"/>
            <a:ext cx="10625328" cy="256032"/>
          </a:xfrm>
          <a:prstGeom prst="rect">
            <a:avLst/>
          </a:prstGeom>
          <a:noFill/>
          <a:ln/>
        </p:spPr>
        <p:txBody>
          <a:bodyPr wrap="square" lIns="0" tIns="0" rIns="0" bIns="0" rtlCol="0" anchor="t"/>
          <a:lstStyle/>
          <a:p>
            <a:pPr marL="0" indent="0">
              <a:buNone/>
            </a:pPr>
            <a:r>
              <a:rPr lang="ko-KR" sz="1140" b="1" dirty="0">
                <a:solidFill>
                  <a:srgbClr val="2B57A6"/>
                </a:solidFill>
                <a:latin typeface="맑은 고딕" pitchFamily="34" charset="0"/>
                <a:ea typeface="맑은 고딕" pitchFamily="34" charset="-122"/>
                <a:cs typeface="맑은 고딕" pitchFamily="34" charset="-120"/>
              </a:rPr>
              <a:t>변환 공식</a:t>
            </a:r>
          </a:p>
        </p:txBody>
      </p:sp>
      <p:sp>
        <p:nvSpPr>
          <p:cNvPr id="47" name="Ecef F"/>
          <p:cNvSpPr txBox="1"/>
          <p:nvPr/>
        </p:nvSpPr>
        <p:spPr>
          <a:xfrm>
            <a:off x="786384" y="4864608"/>
            <a:ext cx="10625328" cy="1133856"/>
          </a:xfrm>
          <a:prstGeom prst="rect">
            <a:avLst/>
          </a:prstGeom>
          <a:noFill/>
          <a:ln/>
        </p:spPr>
        <p:txBody>
          <a:bodyPr wrap="square" lIns="0" tIns="0" rIns="0" bIns="0" rtlCol="0" anchor="t"/>
          <a:lstStyle/>
          <a:p>
            <a:pPr marL="0" indent="0">
              <a:lnSpc>
                <a:spcPts val="1900"/>
              </a:lnSpc>
              <a:buNone/>
            </a:pPr>
            <a:r>
              <a:rPr lang="ko-KR" sz="1250" b="1" dirty="0">
                <a:solidFill>
                  <a:srgbClr val="1A2233"/>
                </a:solidFill>
                <a:latin typeface="맑은 고딕" pitchFamily="34" charset="0"/>
                <a:ea typeface="맑은 고딕" pitchFamily="34" charset="-122"/>
                <a:cs typeface="맑은 고딕" pitchFamily="34" charset="-120"/>
              </a:rPr>
              <a:t>NED → ECEF :   p</a:t>
            </a:r>
            <a:r>
              <a:rPr lang="ko-KR" sz="900" b="1" dirty="0">
                <a:solidFill>
                  <a:srgbClr val="1A2233"/>
                </a:solidFill>
                <a:latin typeface="맑은 고딕" pitchFamily="34" charset="0"/>
                <a:ea typeface="맑은 고딕" pitchFamily="34" charset="-122"/>
                <a:cs typeface="맑은 고딕" pitchFamily="34" charset="-120"/>
              </a:rPr>
              <a:t>ECEF</a:t>
            </a:r>
            <a:r>
              <a:rPr lang="ko-KR" sz="1250" b="1" dirty="0">
                <a:solidFill>
                  <a:srgbClr val="1A2233"/>
                </a:solidFill>
                <a:latin typeface="맑은 고딕" pitchFamily="34" charset="0"/>
                <a:ea typeface="맑은 고딕" pitchFamily="34" charset="-122"/>
                <a:cs typeface="맑은 고딕" pitchFamily="34" charset="-120"/>
              </a:rPr>
              <a:t> = C</a:t>
            </a:r>
            <a:r>
              <a:rPr lang="ko-KR" sz="900" b="1" dirty="0">
                <a:solidFill>
                  <a:srgbClr val="1A2233"/>
                </a:solidFill>
                <a:latin typeface="맑은 고딕" pitchFamily="34" charset="0"/>
                <a:ea typeface="맑은 고딕" pitchFamily="34" charset="-122"/>
                <a:cs typeface="맑은 고딕" pitchFamily="34" charset="-120"/>
              </a:rPr>
              <a:t>ecef←ned</a:t>
            </a:r>
            <a:r>
              <a:rPr lang="ko-KR" sz="1250" b="1" dirty="0">
                <a:solidFill>
                  <a:srgbClr val="1A2233"/>
                </a:solidFill>
                <a:latin typeface="맑은 고딕" pitchFamily="34" charset="0"/>
                <a:ea typeface="맑은 고딕" pitchFamily="34" charset="-122"/>
                <a:cs typeface="맑은 고딕" pitchFamily="34" charset="-120"/>
              </a:rPr>
              <a:t> · p</a:t>
            </a:r>
            <a:r>
              <a:rPr lang="ko-KR" sz="900" b="1" dirty="0">
                <a:solidFill>
                  <a:srgbClr val="1A2233"/>
                </a:solidFill>
                <a:latin typeface="맑은 고딕" pitchFamily="34" charset="0"/>
                <a:ea typeface="맑은 고딕" pitchFamily="34" charset="-122"/>
                <a:cs typeface="맑은 고딕" pitchFamily="34" charset="-120"/>
              </a:rPr>
              <a:t>NED</a:t>
            </a:r>
            <a:r>
              <a:rPr lang="ko-KR" sz="1250" b="1" dirty="0">
                <a:solidFill>
                  <a:srgbClr val="1A2233"/>
                </a:solidFill>
                <a:latin typeface="맑은 고딕" pitchFamily="34" charset="0"/>
                <a:ea typeface="맑은 고딕" pitchFamily="34" charset="-122"/>
                <a:cs typeface="맑은 고딕" pitchFamily="34" charset="-120"/>
              </a:rPr>
              <a:t> + P</a:t>
            </a:r>
            <a:r>
              <a:rPr lang="ko-KR" sz="900" b="1" dirty="0">
                <a:solidFill>
                  <a:srgbClr val="1A2233"/>
                </a:solidFill>
                <a:latin typeface="맑은 고딕" pitchFamily="34" charset="0"/>
                <a:ea typeface="맑은 고딕" pitchFamily="34" charset="-122"/>
                <a:cs typeface="맑은 고딕" pitchFamily="34" charset="-120"/>
              </a:rPr>
              <a:t>배</a:t>
            </a:r>
          </a:p>
          <a:p>
            <a:pPr marL="0" indent="0">
              <a:lnSpc>
                <a:spcPts val="1600"/>
              </a:lnSpc>
              <a:buNone/>
            </a:pPr>
            <a:r>
              <a:rPr lang="ko-KR" sz="1050" b="0" dirty="0">
                <a:solidFill>
                  <a:srgbClr val="5A6478"/>
                </a:solidFill>
                <a:latin typeface="맑은 고딕" pitchFamily="34" charset="0"/>
                <a:ea typeface="맑은 고딕" pitchFamily="34" charset="-122"/>
                <a:cs typeface="맑은 고딕" pitchFamily="34" charset="-120"/>
              </a:rPr>
              <a:t>C</a:t>
            </a:r>
            <a:r>
              <a:rPr lang="ko-KR" sz="756" b="0" dirty="0">
                <a:solidFill>
                  <a:srgbClr val="5A6478"/>
                </a:solidFill>
                <a:latin typeface="맑은 고딕" pitchFamily="34" charset="0"/>
                <a:ea typeface="맑은 고딕" pitchFamily="34" charset="-122"/>
                <a:cs typeface="맑은 고딕" pitchFamily="34" charset="-120"/>
              </a:rPr>
              <a:t>ecef←ned</a:t>
            </a:r>
            <a:r>
              <a:rPr lang="ko-KR" sz="1050" b="0" dirty="0">
                <a:solidFill>
                  <a:srgbClr val="5A6478"/>
                </a:solidFill>
                <a:latin typeface="맑은 고딕" pitchFamily="34" charset="0"/>
                <a:ea typeface="맑은 고딕" pitchFamily="34" charset="-122"/>
                <a:cs typeface="맑은 고딕" pitchFamily="34" charset="-120"/>
              </a:rPr>
              <a:t> = Rz(경도) · Ry(−90° − 위도) — 회전각은 배의 위경도가 정한다.    P</a:t>
            </a:r>
            <a:r>
              <a:rPr lang="ko-KR" sz="756" b="0" dirty="0">
                <a:solidFill>
                  <a:srgbClr val="5A6478"/>
                </a:solidFill>
                <a:latin typeface="맑은 고딕" pitchFamily="34" charset="0"/>
                <a:ea typeface="맑은 고딕" pitchFamily="34" charset="-122"/>
                <a:cs typeface="맑은 고딕" pitchFamily="34" charset="-120"/>
              </a:rPr>
              <a:t>배</a:t>
            </a:r>
            <a:r>
              <a:rPr lang="ko-KR" sz="1050" b="0" dirty="0">
                <a:solidFill>
                  <a:srgbClr val="5A6478"/>
                </a:solidFill>
                <a:latin typeface="맑은 고딕" pitchFamily="34" charset="0"/>
                <a:ea typeface="맑은 고딕" pitchFamily="34" charset="-122"/>
                <a:cs typeface="맑은 고딕" pitchFamily="34" charset="-120"/>
              </a:rPr>
              <a:t> = 배의 위경도 · 고도를 ECEF 로 옮긴 것 (다음 장 공식)</a:t>
            </a:r>
          </a:p>
          <a:p>
            <a:pPr marL="0" indent="0">
              <a:lnSpc>
                <a:spcPts val="1900"/>
              </a:lnSpc>
              <a:buNone/>
            </a:pPr>
            <a:r>
              <a:rPr lang="ko-KR" sz="1250" b="1" dirty="0">
                <a:solidFill>
                  <a:srgbClr val="1A2233"/>
                </a:solidFill>
                <a:latin typeface="맑은 고딕" pitchFamily="34" charset="0"/>
                <a:ea typeface="맑은 고딕" pitchFamily="34" charset="-122"/>
                <a:cs typeface="맑은 고딕" pitchFamily="34" charset="-120"/>
              </a:rPr>
              <a:t>ECEF → ECI :   p</a:t>
            </a:r>
            <a:r>
              <a:rPr lang="ko-KR" sz="900" b="1" dirty="0">
                <a:solidFill>
                  <a:srgbClr val="1A2233"/>
                </a:solidFill>
                <a:latin typeface="맑은 고딕" pitchFamily="34" charset="0"/>
                <a:ea typeface="맑은 고딕" pitchFamily="34" charset="-122"/>
                <a:cs typeface="맑은 고딕" pitchFamily="34" charset="-120"/>
              </a:rPr>
              <a:t>ECI</a:t>
            </a:r>
            <a:r>
              <a:rPr lang="ko-KR" sz="1250" b="1" dirty="0">
                <a:solidFill>
                  <a:srgbClr val="1A2233"/>
                </a:solidFill>
                <a:latin typeface="맑은 고딕" pitchFamily="34" charset="0"/>
                <a:ea typeface="맑은 고딕" pitchFamily="34" charset="-122"/>
                <a:cs typeface="맑은 고딕" pitchFamily="34" charset="-120"/>
              </a:rPr>
              <a:t> = Rz(θ) · p</a:t>
            </a:r>
            <a:r>
              <a:rPr lang="ko-KR" sz="900" b="1" dirty="0">
                <a:solidFill>
                  <a:srgbClr val="1A2233"/>
                </a:solidFill>
                <a:latin typeface="맑은 고딕" pitchFamily="34" charset="0"/>
                <a:ea typeface="맑은 고딕" pitchFamily="34" charset="-122"/>
                <a:cs typeface="맑은 고딕" pitchFamily="34" charset="-120"/>
              </a:rPr>
              <a:t>ECEF</a:t>
            </a:r>
          </a:p>
          <a:p>
            <a:pPr marL="0" indent="0">
              <a:lnSpc>
                <a:spcPts val="1600"/>
              </a:lnSpc>
              <a:buNone/>
            </a:pPr>
            <a:r>
              <a:rPr lang="ko-KR" sz="1050" b="0" dirty="0">
                <a:solidFill>
                  <a:srgbClr val="5A6478"/>
                </a:solidFill>
                <a:latin typeface="맑은 고딕" pitchFamily="34" charset="0"/>
                <a:ea typeface="맑은 고딕" pitchFamily="34" charset="-122"/>
                <a:cs typeface="맑은 고딕" pitchFamily="34" charset="-120"/>
              </a:rPr>
              <a:t>θ 는 시각으로 정해지는 지구 자전각(GMST).   둘 다 지구에 고정된 축으로 옮기는 표준 변환식이라, 참고 문서의 식을 그대로 씁니다.</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9">
    <p:bg>
      <p:bgPr>
        <a:solidFill>
          <a:srgbClr val="E8EDF5"/>
        </a:solidFill>
        <a:effectLst/>
      </p:bgPr>
    </p:bg>
    <p:spTree>
      <p:nvGrpSpPr>
        <p:cNvPr id="1" name=""/>
        <p:cNvGrpSpPr/>
        <p:nvPr/>
      </p:nvGrpSpPr>
      <p:grpSpPr>
        <a:xfrm>
          <a:off x="0" y="0"/>
          <a:ext cx="0" cy="0"/>
          <a:chOff x="0" y="0"/>
          <a:chExt cx="0" cy="0"/>
        </a:xfrm>
      </p:grpSpPr>
      <p:sp>
        <p:nvSpPr>
          <p:cNvPr id="30" name="Rectangle 29"/>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endParaRPr/>
          </a:p>
        </p:txBody>
      </p:sp>
      <p:sp>
        <p:nvSpPr>
          <p:cNvPr id="4" name="Shape 2"/>
          <p:cNvSpPr/>
          <p:nvPr/>
        </p:nvSpPr>
        <p:spPr>
          <a:xfrm>
            <a:off x="2112264" y="1371600"/>
            <a:ext cx="1170432" cy="314974"/>
          </a:xfrm>
          <a:prstGeom prst="roundRect">
            <a:avLst>
              <a:gd name="adj" fmla="val 47222"/>
            </a:avLst>
          </a:prstGeom>
          <a:solidFill>
            <a:srgbClr val="EEF1F7"/>
          </a:solidFill>
          <a:ln w="12700">
            <a:solidFill>
              <a:srgbClr val="C9D6EC"/>
            </a:solidFill>
            <a:prstDash val="solid"/>
          </a:ln>
        </p:spPr>
        <p:txBody>
          <a:bodyPr/>
          <a:lstStyle/>
          <a:p>
            <a:endParaRPr/>
          </a:p>
        </p:txBody>
      </p:sp>
      <p:sp>
        <p:nvSpPr>
          <p:cNvPr id="5" name="Text 3"/>
          <p:cNvSpPr txBox="1"/>
          <p:nvPr/>
        </p:nvSpPr>
        <p:spPr>
          <a:xfrm>
            <a:off x="2112264" y="1371600"/>
            <a:ext cx="1170432" cy="314974"/>
          </a:xfrm>
          <a:prstGeom prst="rect">
            <a:avLst/>
          </a:prstGeom>
          <a:noFill/>
          <a:ln/>
        </p:spPr>
        <p:txBody>
          <a:bodyPr wrap="square" lIns="0" tIns="0" rIns="0" bIns="0" rtlCol="0" anchor="ctr"/>
          <a:lstStyle/>
          <a:p>
            <a:pPr marL="0" indent="0" algn="ctr">
              <a:buNone/>
            </a:pPr>
            <a:r>
              <a:rPr lang="en-US" sz="1050" dirty="0">
                <a:solidFill>
                  <a:srgbClr val="5A6478"/>
                </a:solidFill>
                <a:latin typeface="맑은 고딕" pitchFamily="34" charset="0"/>
                <a:ea typeface="맑은 고딕" pitchFamily="34" charset="-122"/>
                <a:cs typeface="맑은 고딕" pitchFamily="34" charset="-120"/>
              </a:rPr>
              <a:t>측정</a:t>
            </a:r>
            <a:endParaRPr lang="en-US" sz="1100" dirty="0"/>
          </a:p>
        </p:txBody>
      </p:sp>
      <p:sp>
        <p:nvSpPr>
          <p:cNvPr id="6" name="Text 4"/>
          <p:cNvSpPr txBox="1"/>
          <p:nvPr/>
        </p:nvSpPr>
        <p:spPr>
          <a:xfrm>
            <a:off x="3282696" y="1371600"/>
            <a:ext cx="182880" cy="314974"/>
          </a:xfrm>
          <a:prstGeom prst="rect">
            <a:avLst/>
          </a:prstGeom>
          <a:noFill/>
          <a:ln/>
        </p:spPr>
        <p:txBody>
          <a:bodyPr wrap="square" lIns="0" tIns="0" rIns="0" bIns="0" rtlCol="0" anchor="ctr"/>
          <a:lstStyle/>
          <a:p>
            <a:pPr marL="0" indent="0" algn="ctr">
              <a:buNone/>
            </a:pPr>
            <a:r>
              <a:rPr lang="en-US" sz="960" dirty="0">
                <a:solidFill>
                  <a:srgbClr val="C9D6EC"/>
                </a:solidFill>
              </a:rPr>
              <a:t>▸</a:t>
            </a:r>
            <a:endParaRPr lang="en-US" sz="1000" dirty="0"/>
          </a:p>
        </p:txBody>
      </p:sp>
      <p:sp>
        <p:nvSpPr>
          <p:cNvPr id="7" name="Shape 5"/>
          <p:cNvSpPr/>
          <p:nvPr/>
        </p:nvSpPr>
        <p:spPr>
          <a:xfrm>
            <a:off x="3465576" y="1371600"/>
            <a:ext cx="1170432" cy="314974"/>
          </a:xfrm>
          <a:prstGeom prst="roundRect">
            <a:avLst>
              <a:gd name="adj" fmla="val 47222"/>
            </a:avLst>
          </a:prstGeom>
          <a:solidFill>
            <a:srgbClr val="EEF1F7"/>
          </a:solidFill>
          <a:ln w="12700">
            <a:solidFill>
              <a:srgbClr val="C9D6EC"/>
            </a:solidFill>
            <a:prstDash val="solid"/>
          </a:ln>
        </p:spPr>
        <p:txBody>
          <a:bodyPr/>
          <a:lstStyle/>
          <a:p>
            <a:endParaRPr/>
          </a:p>
        </p:txBody>
      </p:sp>
      <p:sp>
        <p:nvSpPr>
          <p:cNvPr id="8" name="Text 6"/>
          <p:cNvSpPr txBox="1"/>
          <p:nvPr/>
        </p:nvSpPr>
        <p:spPr>
          <a:xfrm>
            <a:off x="3465576" y="1371600"/>
            <a:ext cx="1170432" cy="314974"/>
          </a:xfrm>
          <a:prstGeom prst="rect">
            <a:avLst/>
          </a:prstGeom>
          <a:noFill/>
          <a:ln/>
        </p:spPr>
        <p:txBody>
          <a:bodyPr wrap="square" lIns="0" tIns="0" rIns="0" bIns="0" rtlCol="0" anchor="ctr"/>
          <a:lstStyle/>
          <a:p>
            <a:pPr marL="0" indent="0" algn="ctr">
              <a:buNone/>
            </a:pPr>
            <a:r>
              <a:rPr lang="en-US" sz="1050" dirty="0">
                <a:solidFill>
                  <a:srgbClr val="5A6478"/>
                </a:solidFill>
                <a:latin typeface="맑은 고딕" pitchFamily="34" charset="0"/>
                <a:ea typeface="맑은 고딕" pitchFamily="34" charset="-122"/>
                <a:cs typeface="맑은 고딕" pitchFamily="34" charset="-120"/>
              </a:rPr>
              <a:t>안테나</a:t>
            </a:r>
            <a:endParaRPr lang="en-US" sz="1100" dirty="0"/>
          </a:p>
        </p:txBody>
      </p:sp>
      <p:sp>
        <p:nvSpPr>
          <p:cNvPr id="9" name="Text 7"/>
          <p:cNvSpPr txBox="1"/>
          <p:nvPr/>
        </p:nvSpPr>
        <p:spPr>
          <a:xfrm>
            <a:off x="4636008" y="1371600"/>
            <a:ext cx="182880" cy="314974"/>
          </a:xfrm>
          <a:prstGeom prst="rect">
            <a:avLst/>
          </a:prstGeom>
          <a:noFill/>
          <a:ln/>
        </p:spPr>
        <p:txBody>
          <a:bodyPr wrap="square" lIns="0" tIns="0" rIns="0" bIns="0" rtlCol="0" anchor="ctr"/>
          <a:lstStyle/>
          <a:p>
            <a:pPr marL="0" indent="0" algn="ctr">
              <a:buNone/>
            </a:pPr>
            <a:r>
              <a:rPr lang="en-US" sz="960" dirty="0">
                <a:solidFill>
                  <a:srgbClr val="C9D6EC"/>
                </a:solidFill>
              </a:rPr>
              <a:t>▸</a:t>
            </a:r>
            <a:endParaRPr lang="en-US" sz="1000" dirty="0"/>
          </a:p>
        </p:txBody>
      </p:sp>
      <p:sp>
        <p:nvSpPr>
          <p:cNvPr id="10" name="Shape 8"/>
          <p:cNvSpPr/>
          <p:nvPr/>
        </p:nvSpPr>
        <p:spPr>
          <a:xfrm>
            <a:off x="4818888" y="1371600"/>
            <a:ext cx="1170432" cy="314974"/>
          </a:xfrm>
          <a:prstGeom prst="roundRect">
            <a:avLst>
              <a:gd name="adj" fmla="val 47222"/>
            </a:avLst>
          </a:prstGeom>
          <a:solidFill>
            <a:srgbClr val="EEF1F7"/>
          </a:solidFill>
          <a:ln w="12700">
            <a:solidFill>
              <a:srgbClr val="C9D6EC"/>
            </a:solidFill>
            <a:prstDash val="solid"/>
          </a:ln>
        </p:spPr>
        <p:txBody>
          <a:bodyPr/>
          <a:lstStyle/>
          <a:p>
            <a:endParaRPr/>
          </a:p>
        </p:txBody>
      </p:sp>
      <p:sp>
        <p:nvSpPr>
          <p:cNvPr id="11" name="Text 9"/>
          <p:cNvSpPr txBox="1"/>
          <p:nvPr/>
        </p:nvSpPr>
        <p:spPr>
          <a:xfrm>
            <a:off x="4818888" y="1371600"/>
            <a:ext cx="1170432" cy="314974"/>
          </a:xfrm>
          <a:prstGeom prst="rect">
            <a:avLst/>
          </a:prstGeom>
          <a:noFill/>
          <a:ln/>
        </p:spPr>
        <p:txBody>
          <a:bodyPr wrap="square" lIns="0" tIns="0" rIns="0" bIns="0" rtlCol="0" anchor="ctr"/>
          <a:lstStyle/>
          <a:p>
            <a:pPr marL="0" indent="0" algn="ctr">
              <a:buNone/>
            </a:pPr>
            <a:r>
              <a:rPr lang="en-US" sz="1050" dirty="0">
                <a:solidFill>
                  <a:srgbClr val="5A6478"/>
                </a:solidFill>
                <a:latin typeface="맑은 고딕" pitchFamily="34" charset="0"/>
                <a:ea typeface="맑은 고딕" pitchFamily="34" charset="-122"/>
                <a:cs typeface="맑은 고딕" pitchFamily="34" charset="-120"/>
              </a:rPr>
              <a:t>동체</a:t>
            </a:r>
            <a:endParaRPr lang="en-US" sz="1100" dirty="0"/>
          </a:p>
        </p:txBody>
      </p:sp>
      <p:sp>
        <p:nvSpPr>
          <p:cNvPr id="12" name="Text 10"/>
          <p:cNvSpPr txBox="1"/>
          <p:nvPr/>
        </p:nvSpPr>
        <p:spPr>
          <a:xfrm>
            <a:off x="5989320" y="1371600"/>
            <a:ext cx="182880" cy="314974"/>
          </a:xfrm>
          <a:prstGeom prst="rect">
            <a:avLst/>
          </a:prstGeom>
          <a:noFill/>
          <a:ln/>
        </p:spPr>
        <p:txBody>
          <a:bodyPr wrap="square" lIns="0" tIns="0" rIns="0" bIns="0" rtlCol="0" anchor="ctr"/>
          <a:lstStyle/>
          <a:p>
            <a:pPr marL="0" indent="0" algn="ctr">
              <a:buNone/>
            </a:pPr>
            <a:r>
              <a:rPr lang="en-US" sz="960" dirty="0">
                <a:solidFill>
                  <a:srgbClr val="C9D6EC"/>
                </a:solidFill>
              </a:rPr>
              <a:t>▸</a:t>
            </a:r>
            <a:endParaRPr lang="en-US" sz="1000" dirty="0"/>
          </a:p>
        </p:txBody>
      </p:sp>
      <p:sp>
        <p:nvSpPr>
          <p:cNvPr id="13" name="Shape 11"/>
          <p:cNvSpPr/>
          <p:nvPr/>
        </p:nvSpPr>
        <p:spPr>
          <a:xfrm>
            <a:off x="6172200" y="1371600"/>
            <a:ext cx="1170432" cy="314974"/>
          </a:xfrm>
          <a:prstGeom prst="roundRect">
            <a:avLst>
              <a:gd name="adj" fmla="val 47222"/>
            </a:avLst>
          </a:prstGeom>
          <a:solidFill>
            <a:srgbClr val="EEF1F7"/>
          </a:solidFill>
          <a:ln w="12700">
            <a:solidFill>
              <a:srgbClr val="C9D6EC"/>
            </a:solidFill>
            <a:prstDash val="solid"/>
          </a:ln>
        </p:spPr>
        <p:txBody>
          <a:bodyPr/>
          <a:lstStyle/>
          <a:p>
            <a:endParaRPr/>
          </a:p>
        </p:txBody>
      </p:sp>
      <p:sp>
        <p:nvSpPr>
          <p:cNvPr id="14" name="Text 12"/>
          <p:cNvSpPr txBox="1"/>
          <p:nvPr/>
        </p:nvSpPr>
        <p:spPr>
          <a:xfrm>
            <a:off x="6172200" y="1371600"/>
            <a:ext cx="1170432" cy="314974"/>
          </a:xfrm>
          <a:prstGeom prst="rect">
            <a:avLst/>
          </a:prstGeom>
          <a:noFill/>
          <a:ln/>
        </p:spPr>
        <p:txBody>
          <a:bodyPr wrap="square" lIns="0" tIns="0" rIns="0" bIns="0" rtlCol="0" anchor="ctr"/>
          <a:lstStyle/>
          <a:p>
            <a:pPr marL="0" indent="0" algn="ctr">
              <a:buNone/>
            </a:pPr>
            <a:r>
              <a:rPr lang="en-US" sz="1050" dirty="0">
                <a:solidFill>
                  <a:srgbClr val="5A6478"/>
                </a:solidFill>
                <a:latin typeface="맑은 고딕" pitchFamily="34" charset="0"/>
                <a:ea typeface="맑은 고딕" pitchFamily="34" charset="-122"/>
                <a:cs typeface="맑은 고딕" pitchFamily="34" charset="-120"/>
              </a:rPr>
              <a:t>NED</a:t>
            </a:r>
            <a:endParaRPr lang="en-US" sz="1100" dirty="0"/>
          </a:p>
        </p:txBody>
      </p:sp>
      <p:sp>
        <p:nvSpPr>
          <p:cNvPr id="15" name="Text 13"/>
          <p:cNvSpPr txBox="1"/>
          <p:nvPr/>
        </p:nvSpPr>
        <p:spPr>
          <a:xfrm>
            <a:off x="7342632" y="1371600"/>
            <a:ext cx="182880" cy="314974"/>
          </a:xfrm>
          <a:prstGeom prst="rect">
            <a:avLst/>
          </a:prstGeom>
          <a:noFill/>
          <a:ln/>
        </p:spPr>
        <p:txBody>
          <a:bodyPr wrap="square" lIns="0" tIns="0" rIns="0" bIns="0" rtlCol="0" anchor="ctr"/>
          <a:lstStyle/>
          <a:p>
            <a:pPr marL="0" indent="0" algn="ctr">
              <a:buNone/>
            </a:pPr>
            <a:r>
              <a:rPr lang="en-US" sz="960" dirty="0">
                <a:solidFill>
                  <a:srgbClr val="C9D6EC"/>
                </a:solidFill>
              </a:rPr>
              <a:t>▸</a:t>
            </a:r>
            <a:endParaRPr lang="en-US" sz="1000" dirty="0"/>
          </a:p>
        </p:txBody>
      </p:sp>
      <p:sp>
        <p:nvSpPr>
          <p:cNvPr id="16" name="Shape 14"/>
          <p:cNvSpPr/>
          <p:nvPr/>
        </p:nvSpPr>
        <p:spPr>
          <a:xfrm>
            <a:off x="7525512" y="1371600"/>
            <a:ext cx="1170432" cy="314974"/>
          </a:xfrm>
          <a:prstGeom prst="roundRect">
            <a:avLst>
              <a:gd name="adj" fmla="val 47222"/>
            </a:avLst>
          </a:prstGeom>
          <a:solidFill>
            <a:srgbClr val="EEF1F7"/>
          </a:solidFill>
          <a:ln w="12700">
            <a:solidFill>
              <a:srgbClr val="C9D6EC"/>
            </a:solidFill>
            <a:prstDash val="solid"/>
          </a:ln>
        </p:spPr>
        <p:txBody>
          <a:bodyPr/>
          <a:lstStyle/>
          <a:p>
            <a:endParaRPr/>
          </a:p>
        </p:txBody>
      </p:sp>
      <p:sp>
        <p:nvSpPr>
          <p:cNvPr id="17" name="Text 15"/>
          <p:cNvSpPr txBox="1"/>
          <p:nvPr/>
        </p:nvSpPr>
        <p:spPr>
          <a:xfrm>
            <a:off x="7525512" y="1371600"/>
            <a:ext cx="1170432" cy="314974"/>
          </a:xfrm>
          <a:prstGeom prst="rect">
            <a:avLst/>
          </a:prstGeom>
          <a:noFill/>
          <a:ln/>
        </p:spPr>
        <p:txBody>
          <a:bodyPr wrap="square" lIns="0" tIns="0" rIns="0" bIns="0" rtlCol="0" anchor="ctr"/>
          <a:lstStyle/>
          <a:p>
            <a:pPr marL="0" indent="0" algn="ctr">
              <a:buNone/>
            </a:pPr>
            <a:r>
              <a:rPr lang="en-US" sz="1050" dirty="0">
                <a:solidFill>
                  <a:srgbClr val="5A6478"/>
                </a:solidFill>
                <a:latin typeface="맑은 고딕" pitchFamily="34" charset="0"/>
                <a:ea typeface="맑은 고딕" pitchFamily="34" charset="-122"/>
                <a:cs typeface="맑은 고딕" pitchFamily="34" charset="-120"/>
              </a:rPr>
              <a:t>ECEF</a:t>
            </a:r>
            <a:endParaRPr lang="en-US" sz="1100" dirty="0"/>
          </a:p>
        </p:txBody>
      </p:sp>
      <p:sp>
        <p:nvSpPr>
          <p:cNvPr id="18" name="Text 16"/>
          <p:cNvSpPr txBox="1"/>
          <p:nvPr/>
        </p:nvSpPr>
        <p:spPr>
          <a:xfrm>
            <a:off x="8695944" y="1371600"/>
            <a:ext cx="182880" cy="314974"/>
          </a:xfrm>
          <a:prstGeom prst="rect">
            <a:avLst/>
          </a:prstGeom>
          <a:noFill/>
          <a:ln/>
        </p:spPr>
        <p:txBody>
          <a:bodyPr wrap="square" lIns="0" tIns="0" rIns="0" bIns="0" rtlCol="0" anchor="ctr"/>
          <a:lstStyle/>
          <a:p>
            <a:pPr marL="0" indent="0" algn="ctr">
              <a:buNone/>
            </a:pPr>
            <a:r>
              <a:rPr lang="en-US" sz="960" dirty="0">
                <a:solidFill>
                  <a:srgbClr val="C9D6EC"/>
                </a:solidFill>
              </a:rPr>
              <a:t>▸</a:t>
            </a:r>
            <a:endParaRPr lang="en-US" sz="1000" dirty="0"/>
          </a:p>
        </p:txBody>
      </p:sp>
      <p:sp>
        <p:nvSpPr>
          <p:cNvPr id="19" name="Shape 17"/>
          <p:cNvSpPr/>
          <p:nvPr/>
        </p:nvSpPr>
        <p:spPr>
          <a:xfrm>
            <a:off x="8878824" y="1371600"/>
            <a:ext cx="1170432" cy="314974"/>
          </a:xfrm>
          <a:prstGeom prst="roundRect">
            <a:avLst>
              <a:gd name="adj" fmla="val 47222"/>
            </a:avLst>
          </a:prstGeom>
          <a:solidFill>
            <a:srgbClr val="C2521C"/>
          </a:solidFill>
          <a:ln w="12700">
            <a:solidFill>
              <a:srgbClr val="C2521C"/>
            </a:solidFill>
            <a:prstDash val="solid"/>
          </a:ln>
        </p:spPr>
        <p:txBody>
          <a:bodyPr/>
          <a:lstStyle/>
          <a:p>
            <a:endParaRPr/>
          </a:p>
        </p:txBody>
      </p:sp>
      <p:sp>
        <p:nvSpPr>
          <p:cNvPr id="20" name="Text 18"/>
          <p:cNvSpPr txBox="1"/>
          <p:nvPr/>
        </p:nvSpPr>
        <p:spPr>
          <a:xfrm>
            <a:off x="8878824" y="1371600"/>
            <a:ext cx="1170432" cy="314974"/>
          </a:xfrm>
          <a:prstGeom prst="rect">
            <a:avLst/>
          </a:prstGeom>
          <a:noFill/>
          <a:ln/>
        </p:spPr>
        <p:txBody>
          <a:bodyPr wrap="square" lIns="0" tIns="0" rIns="0" bIns="0" rtlCol="0" anchor="ctr"/>
          <a:lstStyle/>
          <a:p>
            <a:pPr marL="0" indent="0" algn="ctr">
              <a:buNone/>
            </a:pPr>
            <a:r>
              <a:rPr lang="en-US" sz="1050" b="1" dirty="0">
                <a:solidFill>
                  <a:srgbClr val="FFFFFF"/>
                </a:solidFill>
                <a:latin typeface="맑은 고딕" pitchFamily="34" charset="0"/>
                <a:ea typeface="맑은 고딕" pitchFamily="34" charset="-122"/>
                <a:cs typeface="맑은 고딕" pitchFamily="34" charset="-120"/>
              </a:rPr>
              <a:t>LLA</a:t>
            </a:r>
            <a:endParaRPr lang="en-US" sz="1100" dirty="0"/>
          </a:p>
        </p:txBody>
      </p:sp>
      <p:pic>
        <p:nvPicPr>
          <p:cNvPr id="21" name="Image 0" descr="/home/claude/gitpkg/Part2_CoordFrames/doc/figures/fig08_ellipsoid.png"/>
          <p:cNvPicPr>
            <a:picLocks noChangeAspect="1"/>
          </p:cNvPicPr>
          <p:nvPr/>
        </p:nvPicPr>
        <p:blipFill>
          <a:blip r:embed="rId3"/>
          <a:stretch>
            <a:fillRect/>
          </a:stretch>
        </p:blipFill>
        <p:spPr>
          <a:xfrm>
            <a:off x="566928" y="1822643"/>
            <a:ext cx="5303520" cy="2188586"/>
          </a:xfrm>
          <a:prstGeom prst="rect">
            <a:avLst/>
          </a:prstGeom>
        </p:spPr>
      </p:pic>
      <p:sp>
        <p:nvSpPr>
          <p:cNvPr id="31" name="Rectangle 30"/>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endParaRPr/>
          </a:p>
        </p:txBody>
      </p:sp>
      <p:sp>
        <p:nvSpPr>
          <p:cNvPr id="32" name="TextBox 31"/>
          <p:cNvSpPr txBox="1"/>
          <p:nvPr/>
        </p:nvSpPr>
        <p:spPr>
          <a:xfrm>
            <a:off x="640080" y="411480"/>
            <a:ext cx="8732520" cy="777240"/>
          </a:xfrm>
          <a:prstGeom prst="rect">
            <a:avLst/>
          </a:prstGeom>
          <a:noFill/>
        </p:spPr>
        <p:txBody>
          <a:bodyPr wrap="square" lIns="0" tIns="0" rIns="0" bIns="0" anchor="ctr">
            <a:spAutoFit/>
          </a:bodyPr>
          <a:lstStyle/>
          <a:p>
            <a:pPr algn="l">
              <a:spcAft>
                <a:spcPts val="300"/>
              </a:spcAft>
            </a:pPr>
            <a:r>
              <a:rPr sz="1900" b="1">
                <a:solidFill>
                  <a:srgbClr val="FFFFFF"/>
                </a:solidFill>
                <a:latin typeface="맑은 고딕"/>
              </a:rPr>
              <a:t>01. LLA  측지 좌표계  (Latitude · Longitude · Altitude)</a:t>
            </a:r>
          </a:p>
          <a:p>
            <a:pPr algn="l">
              <a:lnSpc>
                <a:spcPts val="1400"/>
              </a:lnSpc>
            </a:pPr>
            <a:r>
              <a:rPr sz="1100" b="0">
                <a:solidFill>
                  <a:srgbClr val="C9D6EC"/>
                </a:solidFill>
                <a:latin typeface="맑은 고딕"/>
              </a:rPr>
              <a:t>지구 위 한 점을 위도 · 경도 · 고도 세 수로 적는 지도 좌표 — 기준면은 WGS-84 타원체입니다</a:t>
            </a:r>
          </a:p>
        </p:txBody>
      </p:sp>
      <p:cxnSp>
        <p:nvCxnSpPr>
          <p:cNvPr id="34" name="Connector 33"/>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669280" y="6400800"/>
            <a:ext cx="914400" cy="274320"/>
          </a:xfrm>
          <a:prstGeom prst="rect">
            <a:avLst/>
          </a:prstGeom>
          <a:noFill/>
        </p:spPr>
        <p:txBody>
          <a:bodyPr wrap="none" lIns="0" tIns="0" rIns="0" bIns="0">
            <a:spAutoFit/>
          </a:bodyPr>
          <a:lstStyle/>
          <a:p>
            <a:pPr algn="ctr"/>
            <a:fld id="{1D0B0B0B-0000-4000-8000-00000000C0DE}" type="slidenum">
              <a:rPr lang="ko-KR" altLang="en-US" sz="1000" b="0" dirty="0">
                <a:solidFill>
                  <a:srgbClr val="1A2233"/>
                </a:solidFill>
                <a:latin typeface="Arial"/>
                <a:ea typeface="Arial"/>
              </a:rPr>
              <a:t>14</a:t>
            </a:fld>
            <a:endParaRPr lang="ko-KR" altLang="en-US" sz="1000" b="0" dirty="0">
              <a:solidFill>
                <a:srgbClr val="1A2233"/>
              </a:solidFill>
              <a:latin typeface="Arial"/>
              <a:ea typeface="Arial"/>
            </a:endParaRPr>
          </a:p>
        </p:txBody>
      </p:sp>
      <p:sp>
        <p:nvSpPr>
          <p:cNvPr id="37" name="Shape LA"/>
          <p:cNvSpPr/>
          <p:nvPr/>
        </p:nvSpPr>
        <p:spPr>
          <a:xfrm>
            <a:off x="6419088" y="1773936"/>
            <a:ext cx="5212080" cy="1097280"/>
          </a:xfrm>
          <a:prstGeom prst="roundRect">
            <a:avLst>
              <a:gd name="adj" fmla="val 6800"/>
            </a:avLst>
          </a:prstGeom>
          <a:solidFill>
            <a:srgbClr val="EEF1F7"/>
          </a:solidFill>
          <a:ln w="12700">
            <a:solidFill>
              <a:srgbClr val="FFFFFF"/>
            </a:solidFill>
            <a:prstDash val="solid"/>
          </a:ln>
        </p:spPr>
        <p:txBody>
          <a:bodyPr/>
          <a:lstStyle/>
          <a:p>
            <a:endParaRPr/>
          </a:p>
        </p:txBody>
      </p:sp>
      <p:sp>
        <p:nvSpPr>
          <p:cNvPr id="38" name="Text LAt"/>
          <p:cNvSpPr txBox="1"/>
          <p:nvPr/>
        </p:nvSpPr>
        <p:spPr>
          <a:xfrm>
            <a:off x="6638544" y="1865376"/>
            <a:ext cx="4773168" cy="274320"/>
          </a:xfrm>
          <a:prstGeom prst="rect">
            <a:avLst/>
          </a:prstGeom>
          <a:noFill/>
          <a:ln/>
        </p:spPr>
        <p:txBody>
          <a:bodyPr wrap="square" lIns="0" tIns="0" rIns="0" bIns="0" rtlCol="0" anchor="t"/>
          <a:lstStyle/>
          <a:p>
            <a:pPr marL="0" indent="0">
              <a:buNone/>
            </a:pPr>
            <a:r>
              <a:rPr lang="ko-KR" sz="1200" b="1" dirty="0">
                <a:solidFill>
                  <a:srgbClr val="2B57A6"/>
                </a:solidFill>
                <a:latin typeface="맑은 고딕" pitchFamily="34" charset="0"/>
                <a:ea typeface="맑은 고딕" pitchFamily="34" charset="-122"/>
                <a:cs typeface="맑은 고딕" pitchFamily="34" charset="-120"/>
              </a:rPr>
              <a:t>LLA  —  Latitude · Longitude · Altitude</a:t>
            </a:r>
            <a:r>
              <a:rPr lang="ko-KR" sz="1050" b="0" dirty="0">
                <a:solidFill>
                  <a:srgbClr val="5A6478"/>
                </a:solidFill>
                <a:latin typeface="맑은 고딕" pitchFamily="34" charset="0"/>
                <a:ea typeface="맑은 고딕" pitchFamily="34" charset="-122"/>
                <a:cs typeface="맑은 고딕" pitchFamily="34" charset="-120"/>
              </a:rPr>
              <a:t>    (이번 과제 O)</a:t>
            </a:r>
          </a:p>
        </p:txBody>
      </p:sp>
      <p:sp>
        <p:nvSpPr>
          <p:cNvPr id="39" name="Text LAb"/>
          <p:cNvSpPr txBox="1"/>
          <p:nvPr/>
        </p:nvSpPr>
        <p:spPr>
          <a:xfrm>
            <a:off x="6638544" y="2157984"/>
            <a:ext cx="4773168" cy="658368"/>
          </a:xfrm>
          <a:prstGeom prst="rect">
            <a:avLst/>
          </a:prstGeom>
          <a:noFill/>
          <a:ln/>
        </p:spPr>
        <p:txBody>
          <a:bodyPr wrap="square" lIns="0" tIns="0" rIns="0" bIns="0" rtlCol="0" anchor="t"/>
          <a:lstStyle/>
          <a:p>
            <a:pPr marL="0" indent="0">
              <a:lnSpc>
                <a:spcPts val="1500"/>
              </a:lnSpc>
              <a:buNone/>
            </a:pPr>
            <a:r>
              <a:rPr lang="ko-KR" sz="1050" b="0" dirty="0">
                <a:solidFill>
                  <a:srgbClr val="1A2233"/>
                </a:solidFill>
                <a:latin typeface="맑은 고딕" pitchFamily="34" charset="0"/>
                <a:ea typeface="맑은 고딕" pitchFamily="34" charset="-122"/>
                <a:cs typeface="맑은 고딕" pitchFamily="34" charset="-120"/>
              </a:rPr>
              <a:t>φ 위도 = 적도면에서 잰 각.  북 +, 남 −  (−90° ~ +90°)</a:t>
            </a:r>
          </a:p>
          <a:p>
            <a:pPr marL="0" indent="0">
              <a:lnSpc>
                <a:spcPts val="1500"/>
              </a:lnSpc>
              <a:buNone/>
            </a:pPr>
            <a:r>
              <a:rPr lang="ko-KR" sz="1050" b="0" dirty="0">
                <a:solidFill>
                  <a:srgbClr val="1A2233"/>
                </a:solidFill>
                <a:latin typeface="맑은 고딕" pitchFamily="34" charset="0"/>
                <a:ea typeface="맑은 고딕" pitchFamily="34" charset="-122"/>
                <a:cs typeface="맑은 고딕" pitchFamily="34" charset="-120"/>
              </a:rPr>
              <a:t>λ 경도 = 그리니치 자오선에서 동쪽으로 잰 각  (−180° ~ +180°)</a:t>
            </a:r>
          </a:p>
          <a:p>
            <a:pPr marL="0" indent="0">
              <a:lnSpc>
                <a:spcPts val="1500"/>
              </a:lnSpc>
              <a:buNone/>
            </a:pPr>
            <a:r>
              <a:rPr lang="ko-KR" sz="1050" b="0" dirty="0">
                <a:solidFill>
                  <a:srgbClr val="5A6478"/>
                </a:solidFill>
                <a:latin typeface="맑은 고딕" pitchFamily="34" charset="0"/>
                <a:ea typeface="맑은 고딕" pitchFamily="34" charset="-122"/>
                <a:cs typeface="맑은 고딕" pitchFamily="34" charset="-120"/>
              </a:rPr>
              <a:t>h 고도 = 타원체 면에서 수직으로 잰 높이.  지도 · 해도 · GPS 가 쓰는 좌표</a:t>
            </a:r>
          </a:p>
        </p:txBody>
      </p:sp>
      <p:sp>
        <p:nvSpPr>
          <p:cNvPr id="40" name="Shape LB"/>
          <p:cNvSpPr/>
          <p:nvPr/>
        </p:nvSpPr>
        <p:spPr>
          <a:xfrm>
            <a:off x="6419088" y="2962656"/>
            <a:ext cx="5212080" cy="1097280"/>
          </a:xfrm>
          <a:prstGeom prst="roundRect">
            <a:avLst>
              <a:gd name="adj" fmla="val 6800"/>
            </a:avLst>
          </a:prstGeom>
          <a:solidFill>
            <a:srgbClr val="EEF1F7"/>
          </a:solidFill>
          <a:ln w="12700">
            <a:solidFill>
              <a:srgbClr val="FFFFFF"/>
            </a:solidFill>
            <a:prstDash val="solid"/>
          </a:ln>
        </p:spPr>
        <p:txBody>
          <a:bodyPr/>
          <a:lstStyle/>
          <a:p>
            <a:endParaRPr/>
          </a:p>
        </p:txBody>
      </p:sp>
      <p:sp>
        <p:nvSpPr>
          <p:cNvPr id="41" name="Text LBt"/>
          <p:cNvSpPr txBox="1"/>
          <p:nvPr/>
        </p:nvSpPr>
        <p:spPr>
          <a:xfrm>
            <a:off x="6638544" y="3054096"/>
            <a:ext cx="4773168" cy="274320"/>
          </a:xfrm>
          <a:prstGeom prst="rect">
            <a:avLst/>
          </a:prstGeom>
          <a:noFill/>
          <a:ln/>
        </p:spPr>
        <p:txBody>
          <a:bodyPr wrap="square" lIns="0" tIns="0" rIns="0" bIns="0" rtlCol="0" anchor="t"/>
          <a:lstStyle/>
          <a:p>
            <a:pPr marL="0" indent="0">
              <a:buNone/>
            </a:pPr>
            <a:r>
              <a:rPr lang="ko-KR" sz="1200" b="1" dirty="0">
                <a:solidFill>
                  <a:srgbClr val="2B57A6"/>
                </a:solidFill>
                <a:latin typeface="맑은 고딕" pitchFamily="34" charset="0"/>
                <a:ea typeface="맑은 고딕" pitchFamily="34" charset="-122"/>
                <a:cs typeface="맑은 고딕" pitchFamily="34" charset="-120"/>
              </a:rPr>
              <a:t>WGS-84  —  지구 모형과 상수</a:t>
            </a:r>
          </a:p>
        </p:txBody>
      </p:sp>
      <p:sp>
        <p:nvSpPr>
          <p:cNvPr id="42" name="Text LBb"/>
          <p:cNvSpPr txBox="1"/>
          <p:nvPr/>
        </p:nvSpPr>
        <p:spPr>
          <a:xfrm>
            <a:off x="6638544" y="3346704"/>
            <a:ext cx="4773168" cy="658368"/>
          </a:xfrm>
          <a:prstGeom prst="rect">
            <a:avLst/>
          </a:prstGeom>
          <a:noFill/>
          <a:ln/>
        </p:spPr>
        <p:txBody>
          <a:bodyPr wrap="square" lIns="0" tIns="0" rIns="0" bIns="0" rtlCol="0" anchor="t"/>
          <a:lstStyle/>
          <a:p>
            <a:pPr marL="0" indent="0">
              <a:lnSpc>
                <a:spcPts val="1500"/>
              </a:lnSpc>
              <a:buNone/>
            </a:pPr>
            <a:r>
              <a:rPr lang="ko-KR" sz="1050" b="0" dirty="0">
                <a:solidFill>
                  <a:srgbClr val="1A2233"/>
                </a:solidFill>
                <a:latin typeface="맑은 고딕" pitchFamily="34" charset="0"/>
                <a:ea typeface="맑은 고딕" pitchFamily="34" charset="-122"/>
                <a:cs typeface="맑은 고딕" pitchFamily="34" charset="-120"/>
              </a:rPr>
              <a:t>지구를 적도 반지름 a · 극 반지름 b 의 타원체로 본 세계 표준 모형</a:t>
            </a:r>
          </a:p>
          <a:p>
            <a:pPr marL="0" indent="0">
              <a:lnSpc>
                <a:spcPts val="1500"/>
              </a:lnSpc>
              <a:buNone/>
            </a:pPr>
            <a:r>
              <a:rPr lang="ko-KR" sz="1050" b="0" dirty="0">
                <a:solidFill>
                  <a:srgbClr val="1A2233"/>
                </a:solidFill>
                <a:latin typeface="맑은 고딕" pitchFamily="34" charset="0"/>
                <a:ea typeface="맑은 고딕" pitchFamily="34" charset="-122"/>
                <a:cs typeface="맑은 고딕" pitchFamily="34" charset="-120"/>
              </a:rPr>
              <a:t>a = 6,378,137.0 m,   b = 6,356,752.3 m,   1/f = 298.257223563</a:t>
            </a:r>
          </a:p>
          <a:p>
            <a:pPr marL="0" indent="0">
              <a:lnSpc>
                <a:spcPts val="1500"/>
              </a:lnSpc>
              <a:buNone/>
            </a:pPr>
            <a:r>
              <a:rPr lang="ko-KR" sz="1050" b="0" dirty="0">
                <a:solidFill>
                  <a:srgbClr val="5A6478"/>
                </a:solidFill>
                <a:latin typeface="맑은 고딕" pitchFamily="34" charset="0"/>
                <a:ea typeface="맑은 고딕" pitchFamily="34" charset="-122"/>
                <a:cs typeface="맑은 고딕" pitchFamily="34" charset="-120"/>
              </a:rPr>
              <a:t>e² = 1 − b²/a² = 0.00669438  —  아래 공식의 R</a:t>
            </a:r>
            <a:r>
              <a:rPr lang="ko-KR" sz="756" b="0" dirty="0">
                <a:solidFill>
                  <a:srgbClr val="5A6478"/>
                </a:solidFill>
                <a:latin typeface="맑은 고딕" pitchFamily="34" charset="0"/>
                <a:ea typeface="맑은 고딕" pitchFamily="34" charset="-122"/>
                <a:cs typeface="맑은 고딕" pitchFamily="34" charset="-120"/>
              </a:rPr>
              <a:t>N</a:t>
            </a:r>
            <a:r>
              <a:rPr lang="ko-KR" sz="1050" b="0" dirty="0">
                <a:solidFill>
                  <a:srgbClr val="5A6478"/>
                </a:solidFill>
                <a:latin typeface="맑은 고딕" pitchFamily="34" charset="0"/>
                <a:ea typeface="맑은 고딕" pitchFamily="34" charset="-122"/>
                <a:cs typeface="맑은 고딕" pitchFamily="34" charset="-120"/>
              </a:rPr>
              <a:t> 에 들어가는 상수</a:t>
            </a:r>
          </a:p>
        </p:txBody>
      </p:sp>
      <p:sp>
        <p:nvSpPr>
          <p:cNvPr id="43" name="Shape LF"/>
          <p:cNvSpPr/>
          <p:nvPr/>
        </p:nvSpPr>
        <p:spPr>
          <a:xfrm>
            <a:off x="566928" y="4151376"/>
            <a:ext cx="11064240" cy="2157984"/>
          </a:xfrm>
          <a:prstGeom prst="roundRect">
            <a:avLst>
              <a:gd name="adj" fmla="val 6800"/>
            </a:avLst>
          </a:prstGeom>
          <a:solidFill>
            <a:srgbClr val="EEF1F7"/>
          </a:solidFill>
          <a:ln w="12700">
            <a:solidFill>
              <a:srgbClr val="FFFFFF"/>
            </a:solidFill>
            <a:prstDash val="solid"/>
          </a:ln>
        </p:spPr>
        <p:txBody>
          <a:bodyPr/>
          <a:lstStyle/>
          <a:p>
            <a:endParaRPr/>
          </a:p>
        </p:txBody>
      </p:sp>
      <p:pic>
        <p:nvPicPr>
          <p:cNvPr id="44" name="Flow 0" descr="fig24_lla_flow.png"/>
          <p:cNvPicPr>
            <a:picLocks noChangeAspect="1"/>
          </p:cNvPicPr>
          <p:nvPr/>
        </p:nvPicPr>
        <p:blipFill>
          <a:blip r:embed="rId4"/>
          <a:stretch>
            <a:fillRect/>
          </a:stretch>
        </p:blipFill>
        <p:spPr>
          <a:xfrm>
            <a:off x="786384" y="4224528"/>
            <a:ext cx="10625328" cy="2049803"/>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E8EDF5"/>
        </a:solidFill>
        <a:effectLst/>
      </p:bgPr>
    </p:bg>
    <p:spTree>
      <p:nvGrpSpPr>
        <p:cNvPr id="1" name=""/>
        <p:cNvGrpSpPr/>
        <p:nvPr/>
      </p:nvGrpSpPr>
      <p:grpSpPr>
        <a:xfrm>
          <a:off x="0" y="0"/>
          <a:ext cx="0" cy="0"/>
          <a:chOff x="0" y="0"/>
          <a:chExt cx="0" cy="0"/>
        </a:xfrm>
      </p:grpSpPr>
      <p:sp>
        <p:nvSpPr>
          <p:cNvPr id="2" name="Rectangle 1"/>
          <p:cNvSpPr/>
          <p:nvPr/>
        </p:nvSpPr>
        <p:spPr>
          <a:xfrm>
            <a:off x="0" y="0"/>
            <a:ext cx="4480560" cy="685800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endParaRPr/>
          </a:p>
        </p:txBody>
      </p:sp>
      <p:sp>
        <p:nvSpPr>
          <p:cNvPr id="3" name="TextBox 2"/>
          <p:cNvSpPr txBox="1"/>
          <p:nvPr/>
        </p:nvSpPr>
        <p:spPr>
          <a:xfrm>
            <a:off x="1143000" y="502920"/>
            <a:ext cx="2011680" cy="548640"/>
          </a:xfrm>
          <a:prstGeom prst="rect">
            <a:avLst/>
          </a:prstGeom>
          <a:noFill/>
        </p:spPr>
        <p:txBody>
          <a:bodyPr wrap="none" lIns="0" tIns="0" rIns="0" bIns="0" anchor="ctr">
            <a:spAutoFit/>
          </a:bodyPr>
          <a:lstStyle/>
          <a:p>
            <a:pPr marL="0" indent="0">
              <a:buNone/>
            </a:pPr>
            <a:r>
              <a:rPr lang="ko-KR" sz="3000" b="1">
                <a:solidFill>
                  <a:srgbClr val="FFFFFF"/>
                </a:solidFill>
                <a:latin typeface="Arial"/>
                <a:ea typeface="Arial"/>
                <a:cs typeface="Arial"/>
              </a:rPr>
              <a:t>02</a:t>
            </a:r>
          </a:p>
        </p:txBody>
      </p:sp>
      <p:cxnSp>
        <p:nvCxnSpPr>
          <p:cNvPr id="4" name="Connector 3"/>
          <p:cNvCxnSpPr/>
          <p:nvPr/>
        </p:nvCxnSpPr>
        <p:spPr>
          <a:xfrm>
            <a:off x="2423160" y="786384"/>
            <a:ext cx="8549640"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11480" y="2788920"/>
            <a:ext cx="3657600" cy="1280160"/>
          </a:xfrm>
          <a:prstGeom prst="rect">
            <a:avLst/>
          </a:prstGeom>
          <a:noFill/>
        </p:spPr>
        <p:txBody>
          <a:bodyPr wrap="square" lIns="0" tIns="0" rIns="0" bIns="0" anchor="ctr">
            <a:spAutoFit/>
          </a:bodyPr>
          <a:lstStyle/>
          <a:p>
            <a:pPr marL="0" indent="0" algn="ctr">
              <a:buNone/>
            </a:pPr>
            <a:r>
              <a:rPr lang="ko-KR" sz="3000" b="1">
                <a:solidFill>
                  <a:srgbClr val="FFFFFF"/>
                </a:solidFill>
                <a:latin typeface="맑은 고딕"/>
                <a:ea typeface="맑은 고딕"/>
                <a:cs typeface="맑은 고딕"/>
              </a:rPr>
              <a:t>실전 설계</a:t>
            </a:r>
          </a:p>
        </p:txBody>
      </p:sp>
      <p:sp>
        <p:nvSpPr>
          <p:cNvPr id="27" name="TextBox 26"/>
          <p:cNvSpPr txBox="1"/>
          <p:nvPr/>
        </p:nvSpPr>
        <p:spPr>
          <a:xfrm>
            <a:off x="5669280" y="6400800"/>
            <a:ext cx="914400" cy="274320"/>
          </a:xfrm>
          <a:prstGeom prst="rect">
            <a:avLst/>
          </a:prstGeom>
          <a:noFill/>
        </p:spPr>
        <p:txBody>
          <a:bodyPr wrap="none" lIns="0" tIns="0" rIns="0" bIns="0">
            <a:spAutoFit/>
          </a:bodyPr>
          <a:lstStyle/>
          <a:p>
            <a:pPr algn="ctr"/>
            <a:fld id="{1D0B0B0B-0000-4000-8000-00000000C0DE}" type="slidenum">
              <a:rPr lang="ko-KR" altLang="en-US" sz="1000" b="0" dirty="0">
                <a:solidFill>
                  <a:srgbClr val="1A2233"/>
                </a:solidFill>
                <a:latin typeface="Arial"/>
                <a:ea typeface="Arial"/>
              </a:rPr>
              <a:t>15</a:t>
            </a:fld>
            <a:endParaRPr lang="ko-KR" altLang="en-US" sz="1000" b="0" dirty="0">
              <a:solidFill>
                <a:srgbClr val="1A2233"/>
              </a:solidFill>
              <a:latin typeface="Arial"/>
              <a:ea typeface="Arial"/>
            </a:endParaRPr>
          </a:p>
        </p:txBody>
      </p:sp>
      <p:sp>
        <p:nvSpPr>
          <p:cNvPr id="28" name="TextBox 27"/>
          <p:cNvSpPr txBox="1"/>
          <p:nvPr/>
        </p:nvSpPr>
        <p:spPr>
          <a:xfrm>
            <a:off x="5074920" y="1481328"/>
            <a:ext cx="548640" cy="457200"/>
          </a:xfrm>
          <a:prstGeom prst="rect">
            <a:avLst/>
          </a:prstGeom>
          <a:noFill/>
        </p:spPr>
        <p:txBody>
          <a:bodyPr wrap="square" lIns="0" tIns="0" rIns="0" bIns="0" anchor="ctr">
            <a:spAutoFit/>
          </a:bodyPr>
          <a:lstStyle/>
          <a:p>
            <a:pPr>
              <a:buNone/>
            </a:pPr>
            <a:r>
              <a:rPr lang="ko-KR" sz="1600" b="1">
                <a:solidFill>
                  <a:srgbClr val="2B57A6"/>
                </a:solidFill>
                <a:latin typeface="Arial"/>
                <a:ea typeface="Arial"/>
                <a:cs typeface="Arial"/>
              </a:rPr>
              <a:t>1</a:t>
            </a:r>
          </a:p>
        </p:txBody>
      </p:sp>
      <p:sp>
        <p:nvSpPr>
          <p:cNvPr id="29" name="TextBox 28"/>
          <p:cNvSpPr txBox="1"/>
          <p:nvPr/>
        </p:nvSpPr>
        <p:spPr>
          <a:xfrm>
            <a:off x="5760720" y="1481328"/>
            <a:ext cx="5943600" cy="457200"/>
          </a:xfrm>
          <a:prstGeom prst="rect">
            <a:avLst/>
          </a:prstGeom>
          <a:noFill/>
        </p:spPr>
        <p:txBody>
          <a:bodyPr wrap="square" lIns="0" tIns="0" rIns="0" bIns="0" anchor="ctr">
            <a:spAutoFit/>
          </a:bodyPr>
          <a:lstStyle/>
          <a:p>
            <a:pPr>
              <a:buNone/>
            </a:pPr>
            <a:r>
              <a:rPr lang="ko-KR" sz="1800" b="1">
                <a:solidFill>
                  <a:srgbClr val="1A2233"/>
                </a:solidFill>
                <a:latin typeface="맑은 고딕"/>
                <a:ea typeface="맑은 고딕"/>
                <a:cs typeface="맑은 고딕"/>
              </a:rPr>
              <a:t>설계 조건</a:t>
            </a:r>
          </a:p>
        </p:txBody>
      </p:sp>
      <p:cxnSp>
        <p:nvCxnSpPr>
          <p:cNvPr id="30" name="Connector 29"/>
          <p:cNvCxnSpPr/>
          <p:nvPr/>
        </p:nvCxnSpPr>
        <p:spPr>
          <a:xfrm>
            <a:off x="5074920" y="2267712"/>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074920" y="2377440"/>
            <a:ext cx="548640" cy="457200"/>
          </a:xfrm>
          <a:prstGeom prst="rect">
            <a:avLst/>
          </a:prstGeom>
          <a:noFill/>
        </p:spPr>
        <p:txBody>
          <a:bodyPr wrap="square" lIns="0" tIns="0" rIns="0" bIns="0" anchor="ctr">
            <a:spAutoFit/>
          </a:bodyPr>
          <a:lstStyle/>
          <a:p>
            <a:pPr>
              <a:buNone/>
            </a:pPr>
            <a:r>
              <a:rPr lang="ko-KR" sz="1600" b="1">
                <a:solidFill>
                  <a:srgbClr val="2B57A6"/>
                </a:solidFill>
                <a:latin typeface="Arial"/>
                <a:ea typeface="Arial"/>
                <a:cs typeface="Arial"/>
              </a:rPr>
              <a:t>2</a:t>
            </a:r>
          </a:p>
        </p:txBody>
      </p:sp>
      <p:sp>
        <p:nvSpPr>
          <p:cNvPr id="32" name="TextBox 31"/>
          <p:cNvSpPr txBox="1"/>
          <p:nvPr/>
        </p:nvSpPr>
        <p:spPr>
          <a:xfrm>
            <a:off x="5760720" y="2377440"/>
            <a:ext cx="5943600" cy="457200"/>
          </a:xfrm>
          <a:prstGeom prst="rect">
            <a:avLst/>
          </a:prstGeom>
          <a:noFill/>
        </p:spPr>
        <p:txBody>
          <a:bodyPr wrap="square" lIns="0" tIns="0" rIns="0" bIns="0" anchor="ctr">
            <a:spAutoFit/>
          </a:bodyPr>
          <a:lstStyle/>
          <a:p>
            <a:pPr>
              <a:buNone/>
            </a:pPr>
            <a:r>
              <a:rPr lang="ko-KR" sz="1800" b="1">
                <a:solidFill>
                  <a:srgbClr val="1A2233"/>
                </a:solidFill>
                <a:latin typeface="맑은 고딕"/>
                <a:ea typeface="맑은 고딕"/>
                <a:cs typeface="맑은 고딕"/>
              </a:rPr>
              <a:t>단계별 좌표계 선정</a:t>
            </a:r>
          </a:p>
        </p:txBody>
      </p:sp>
      <p:cxnSp>
        <p:nvCxnSpPr>
          <p:cNvPr id="33" name="Connector 32"/>
          <p:cNvCxnSpPr/>
          <p:nvPr/>
        </p:nvCxnSpPr>
        <p:spPr>
          <a:xfrm>
            <a:off x="5074920" y="3163824"/>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074920" y="3273552"/>
            <a:ext cx="548640" cy="457200"/>
          </a:xfrm>
          <a:prstGeom prst="rect">
            <a:avLst/>
          </a:prstGeom>
          <a:noFill/>
        </p:spPr>
        <p:txBody>
          <a:bodyPr wrap="square" lIns="0" tIns="0" rIns="0" bIns="0" anchor="ctr">
            <a:spAutoFit/>
          </a:bodyPr>
          <a:lstStyle/>
          <a:p>
            <a:pPr>
              <a:buNone/>
            </a:pPr>
            <a:r>
              <a:rPr lang="ko-KR" sz="1600" b="1">
                <a:solidFill>
                  <a:srgbClr val="2B57A6"/>
                </a:solidFill>
                <a:latin typeface="Arial"/>
                <a:ea typeface="Arial"/>
                <a:cs typeface="Arial"/>
              </a:rPr>
              <a:t>3</a:t>
            </a:r>
          </a:p>
        </p:txBody>
      </p:sp>
      <p:sp>
        <p:nvSpPr>
          <p:cNvPr id="35" name="TextBox 34"/>
          <p:cNvSpPr txBox="1"/>
          <p:nvPr/>
        </p:nvSpPr>
        <p:spPr>
          <a:xfrm>
            <a:off x="5760720" y="3273552"/>
            <a:ext cx="5943600" cy="457200"/>
          </a:xfrm>
          <a:prstGeom prst="rect">
            <a:avLst/>
          </a:prstGeom>
          <a:noFill/>
        </p:spPr>
        <p:txBody>
          <a:bodyPr wrap="square" lIns="0" tIns="0" rIns="0" bIns="0" anchor="ctr">
            <a:spAutoFit/>
          </a:bodyPr>
          <a:lstStyle/>
          <a:p>
            <a:pPr>
              <a:buNone/>
            </a:pPr>
            <a:r>
              <a:rPr lang="ko-KR" sz="1800" b="1">
                <a:solidFill>
                  <a:srgbClr val="1A2233"/>
                </a:solidFill>
                <a:latin typeface="맑은 고딕"/>
                <a:ea typeface="맑은 고딕"/>
                <a:cs typeface="맑은 고딕"/>
              </a:rPr>
              <a:t>단계별 변환 ①~③ — 안테나 → 동체 → 로컬</a:t>
            </a:r>
          </a:p>
        </p:txBody>
      </p:sp>
      <p:cxnSp>
        <p:nvCxnSpPr>
          <p:cNvPr id="36" name="Connector 35"/>
          <p:cNvCxnSpPr/>
          <p:nvPr/>
        </p:nvCxnSpPr>
        <p:spPr>
          <a:xfrm>
            <a:off x="5074920" y="4059936"/>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074920" y="4169664"/>
            <a:ext cx="548640" cy="457200"/>
          </a:xfrm>
          <a:prstGeom prst="rect">
            <a:avLst/>
          </a:prstGeom>
          <a:noFill/>
        </p:spPr>
        <p:txBody>
          <a:bodyPr wrap="square" lIns="0" tIns="0" rIns="0" bIns="0" anchor="ctr">
            <a:spAutoFit/>
          </a:bodyPr>
          <a:lstStyle/>
          <a:p>
            <a:pPr>
              <a:buNone/>
            </a:pPr>
            <a:r>
              <a:rPr lang="ko-KR" sz="1600" b="1">
                <a:solidFill>
                  <a:srgbClr val="2B57A6"/>
                </a:solidFill>
                <a:latin typeface="Arial"/>
                <a:ea typeface="Arial"/>
                <a:cs typeface="Arial"/>
              </a:rPr>
              <a:t>4</a:t>
            </a:r>
          </a:p>
        </p:txBody>
      </p:sp>
      <p:sp>
        <p:nvSpPr>
          <p:cNvPr id="38" name="TextBox 37"/>
          <p:cNvSpPr txBox="1"/>
          <p:nvPr/>
        </p:nvSpPr>
        <p:spPr>
          <a:xfrm>
            <a:off x="5760720" y="4169664"/>
            <a:ext cx="5943600" cy="457200"/>
          </a:xfrm>
          <a:prstGeom prst="rect">
            <a:avLst/>
          </a:prstGeom>
          <a:noFill/>
        </p:spPr>
        <p:txBody>
          <a:bodyPr wrap="square" lIns="0" tIns="0" rIns="0" bIns="0" anchor="ctr">
            <a:spAutoFit/>
          </a:bodyPr>
          <a:lstStyle/>
          <a:p>
            <a:pPr>
              <a:buNone/>
            </a:pPr>
            <a:r>
              <a:rPr lang="ko-KR" sz="1800" b="1">
                <a:solidFill>
                  <a:srgbClr val="1A2233"/>
                </a:solidFill>
                <a:latin typeface="맑은 고딕"/>
                <a:ea typeface="맑은 고딕"/>
                <a:cs typeface="맑은 고딕"/>
              </a:rPr>
              <a:t>단계별 변환 ④~⑤ — 로컬 → ECEF → 위경도</a:t>
            </a:r>
          </a:p>
        </p:txBody>
      </p:sp>
      <p:cxnSp>
        <p:nvCxnSpPr>
          <p:cNvPr id="39" name="Connector 38"/>
          <p:cNvCxnSpPr/>
          <p:nvPr/>
        </p:nvCxnSpPr>
        <p:spPr>
          <a:xfrm>
            <a:off x="5074920" y="4956048"/>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074920" y="5065776"/>
            <a:ext cx="548640" cy="457200"/>
          </a:xfrm>
          <a:prstGeom prst="rect">
            <a:avLst/>
          </a:prstGeom>
          <a:noFill/>
        </p:spPr>
        <p:txBody>
          <a:bodyPr wrap="square" lIns="0" tIns="0" rIns="0" bIns="0" anchor="ctr">
            <a:spAutoFit/>
          </a:bodyPr>
          <a:lstStyle/>
          <a:p>
            <a:pPr>
              <a:buNone/>
            </a:pPr>
            <a:r>
              <a:rPr lang="ko-KR" sz="1600" b="1">
                <a:solidFill>
                  <a:srgbClr val="2B57A6"/>
                </a:solidFill>
                <a:latin typeface="Arial"/>
                <a:ea typeface="Arial"/>
                <a:cs typeface="Arial"/>
              </a:rPr>
              <a:t>5</a:t>
            </a:r>
          </a:p>
        </p:txBody>
      </p:sp>
      <p:sp>
        <p:nvSpPr>
          <p:cNvPr id="41" name="TextBox 40"/>
          <p:cNvSpPr txBox="1"/>
          <p:nvPr/>
        </p:nvSpPr>
        <p:spPr>
          <a:xfrm>
            <a:off x="5760720" y="5065776"/>
            <a:ext cx="5943600" cy="457200"/>
          </a:xfrm>
          <a:prstGeom prst="rect">
            <a:avLst/>
          </a:prstGeom>
          <a:noFill/>
        </p:spPr>
        <p:txBody>
          <a:bodyPr wrap="square" lIns="0" tIns="0" rIns="0" bIns="0" anchor="ctr">
            <a:spAutoFit/>
          </a:bodyPr>
          <a:lstStyle/>
          <a:p>
            <a:pPr>
              <a:buNone/>
            </a:pPr>
            <a:r>
              <a:rPr lang="ko-KR" sz="1800" b="1">
                <a:solidFill>
                  <a:srgbClr val="1A2233"/>
                </a:solidFill>
                <a:latin typeface="맑은 고딕"/>
                <a:ea typeface="맑은 고딕"/>
                <a:cs typeface="맑은 고딕"/>
              </a:rPr>
              <a:t>역변환</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23">
    <p:bg>
      <p:bgPr>
        <a:solidFill>
          <a:srgbClr val="E8EDF5"/>
        </a:solidFill>
        <a:effectLst/>
      </p:bgPr>
    </p:bg>
    <p:spTree>
      <p:nvGrpSpPr>
        <p:cNvPr id="1" name=""/>
        <p:cNvGrpSpPr/>
        <p:nvPr/>
      </p:nvGrpSpPr>
      <p:grpSpPr>
        <a:xfrm>
          <a:off x="0" y="0"/>
          <a:ext cx="0" cy="0"/>
          <a:chOff x="0" y="0"/>
          <a:chExt cx="0" cy="0"/>
        </a:xfrm>
      </p:grpSpPr>
      <p:sp>
        <p:nvSpPr>
          <p:cNvPr id="25" name="Rectangle 24"/>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endParaRPr/>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66928" y="1371600"/>
          <a:ext cx="11064240" cy="3840480"/>
        </p:xfrm>
        <a:graphic>
          <a:graphicData uri="http://schemas.openxmlformats.org/drawingml/2006/table">
            <a:tbl>
              <a:tblPr/>
              <a:tblGrid>
                <a:gridCol w="1737360"/>
                <a:gridCol w="3931920"/>
                <a:gridCol w="5394960"/>
              </a:tblGrid>
              <a:tr h="548640">
                <a:tc>
                  <a:txBody>
                    <a:bodyPr/>
                    <a:lstStyle/>
                    <a:p>
                      <a:pPr marL="0" indent="0">
                        <a:buNone/>
                      </a:pPr>
                      <a:r>
                        <a:rPr lang="en-US" sz="1200" b="1" dirty="0">
                          <a:solidFill>
                            <a:srgbClr val="FFFFFF"/>
                          </a:solidFill>
                          <a:latin typeface="맑은 고딕" pitchFamily="34" charset="0"/>
                          <a:ea typeface="맑은 고딕" pitchFamily="34" charset="-122"/>
                          <a:cs typeface="맑은 고딕" pitchFamily="34" charset="-120"/>
                        </a:rPr>
                        <a:t>조건</a:t>
                      </a:r>
                      <a:endParaRPr lang="en-US" sz="120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marL="0" indent="0">
                        <a:buNone/>
                      </a:pPr>
                      <a:r>
                        <a:rPr lang="en-US" sz="1200" b="1" dirty="0">
                          <a:solidFill>
                            <a:srgbClr val="FFFFFF"/>
                          </a:solidFill>
                          <a:latin typeface="맑은 고딕" pitchFamily="34" charset="0"/>
                          <a:ea typeface="맑은 고딕" pitchFamily="34" charset="-122"/>
                          <a:cs typeface="맑은 고딕" pitchFamily="34" charset="-120"/>
                        </a:rPr>
                        <a:t>내용</a:t>
                      </a:r>
                      <a:endParaRPr lang="en-US" sz="120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marL="0" indent="0">
                        <a:buNone/>
                      </a:pPr>
                      <a:r>
                        <a:rPr lang="en-US" sz="1200" b="1" dirty="0">
                          <a:solidFill>
                            <a:srgbClr val="FFFFFF"/>
                          </a:solidFill>
                          <a:latin typeface="맑은 고딕" pitchFamily="34" charset="0"/>
                          <a:ea typeface="맑은 고딕" pitchFamily="34" charset="-122"/>
                          <a:cs typeface="맑은 고딕" pitchFamily="34" charset="-120"/>
                        </a:rPr>
                        <a:t>설계에 미치는 영향</a:t>
                      </a:r>
                      <a:endParaRPr lang="en-US" sz="120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548640">
                <a:tc>
                  <a:txBody>
                    <a:bodyPr/>
                    <a:lstStyle/>
                    <a:p>
                      <a:pPr marL="0" indent="0">
                        <a:buNone/>
                      </a:pPr>
                      <a:r>
                        <a:rPr lang="en-US" sz="1200" b="1" dirty="0">
                          <a:solidFill>
                            <a:srgbClr val="1A2233"/>
                          </a:solidFill>
                          <a:latin typeface="맑은 고딕" pitchFamily="34" charset="0"/>
                          <a:ea typeface="맑은 고딕" pitchFamily="34" charset="-122"/>
                          <a:cs typeface="맑은 고딕" pitchFamily="34" charset="-120"/>
                        </a:rPr>
                        <a:t>① 플랫폼</a:t>
                      </a:r>
                      <a:endParaRPr lang="en-US" sz="120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marL="0" indent="0">
                        <a:buNone/>
                      </a:pPr>
                      <a:r>
                        <a:rPr lang="ko-KR" sz="1150" b="0" dirty="0">
                          <a:solidFill>
                            <a:srgbClr val="1A2233"/>
                          </a:solidFill>
                          <a:latin typeface="맑은 고딕" pitchFamily="34" charset="0"/>
                          <a:ea typeface="맑은 고딕" pitchFamily="34" charset="-122"/>
                          <a:cs typeface="맑은 고딕" pitchFamily="34" charset="-120"/>
                        </a:rPr>
                        <a:t>해상 함선, 고정형 안테나</a:t>
                      </a: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marL="0" indent="0">
                        <a:buNone/>
                      </a:pPr>
                      <a:r>
                        <a:rPr lang="ko-KR" sz="1150" b="0" dirty="0">
                          <a:solidFill>
                            <a:srgbClr val="1A2233"/>
                          </a:solidFill>
                          <a:latin typeface="맑은 고딕" pitchFamily="34" charset="0"/>
                          <a:ea typeface="맑은 고딕" pitchFamily="34" charset="-122"/>
                          <a:cs typeface="맑은 고딕" pitchFamily="34" charset="-120"/>
                        </a:rPr>
                        <a:t>안테나 → 동체 변환이 상수.  배의 흔들림은 INS 자세로 보상</a:t>
                      </a: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48640">
                <a:tc>
                  <a:txBody>
                    <a:bodyPr/>
                    <a:lstStyle/>
                    <a:p>
                      <a:pPr marL="0" indent="0">
                        <a:buNone/>
                      </a:pPr>
                      <a:r>
                        <a:rPr lang="en-US" sz="1200" b="1" dirty="0">
                          <a:solidFill>
                            <a:srgbClr val="1A2233"/>
                          </a:solidFill>
                          <a:latin typeface="맑은 고딕" pitchFamily="34" charset="0"/>
                          <a:ea typeface="맑은 고딕" pitchFamily="34" charset="-122"/>
                          <a:cs typeface="맑은 고딕" pitchFamily="34" charset="-120"/>
                        </a:rPr>
                        <a:t>② 안테나 설치</a:t>
                      </a:r>
                      <a:endParaRPr lang="en-US" sz="120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marL="0" indent="0">
                        <a:buNone/>
                      </a:pPr>
                      <a:r>
                        <a:rPr lang="ko-KR" sz="1150" b="0" dirty="0">
                          <a:solidFill>
                            <a:srgbClr val="1A2233"/>
                          </a:solidFill>
                          <a:latin typeface="맑은 고딕" pitchFamily="34" charset="0"/>
                          <a:ea typeface="맑은 고딕" pitchFamily="34" charset="-122"/>
                          <a:cs typeface="맑은 고딕" pitchFamily="34" charset="-120"/>
                        </a:rPr>
                        <a:t>선수 기준 시계방향 90°,</a:t>
                      </a:r>
                    </a:p>
                    <a:p>
                      <a:pPr marL="0" indent="0">
                        <a:buNone/>
                      </a:pPr>
                      <a:r>
                        <a:rPr lang="ko-KR" sz="1150" b="0" dirty="0">
                          <a:solidFill>
                            <a:srgbClr val="1A2233"/>
                          </a:solidFill>
                          <a:latin typeface="맑은 고딕" pitchFamily="34" charset="0"/>
                          <a:ea typeface="맑은 고딕" pitchFamily="34" charset="-122"/>
                          <a:cs typeface="맑은 고딕" pitchFamily="34" charset="-120"/>
                        </a:rPr>
                        <a:t>무게중심에서 30 m 뒤 / 10 m 위</a:t>
                      </a: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marL="0" indent="0">
                        <a:buNone/>
                      </a:pPr>
                      <a:r>
                        <a:rPr lang="ko-KR" sz="1150" b="0" dirty="0">
                          <a:solidFill>
                            <a:srgbClr val="1A2233"/>
                          </a:solidFill>
                          <a:latin typeface="맑은 고딕" pitchFamily="34" charset="0"/>
                          <a:ea typeface="맑은 고딕" pitchFamily="34" charset="-122"/>
                          <a:cs typeface="맑은 고딕" pitchFamily="34" charset="-120"/>
                        </a:rPr>
                        <a:t>설치 방위 90° · 백틸트 0° (가정) · 레버암 (−30, 0, −10) m</a:t>
                      </a: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48640">
                <a:tc>
                  <a:txBody>
                    <a:bodyPr/>
                    <a:lstStyle/>
                    <a:p>
                      <a:pPr marL="0" indent="0">
                        <a:buNone/>
                      </a:pPr>
                      <a:r>
                        <a:rPr lang="en-US" sz="1200" b="1" dirty="0">
                          <a:solidFill>
                            <a:srgbClr val="1A2233"/>
                          </a:solidFill>
                          <a:latin typeface="맑은 고딕" pitchFamily="34" charset="0"/>
                          <a:ea typeface="맑은 고딕" pitchFamily="34" charset="-122"/>
                          <a:cs typeface="맑은 고딕" pitchFamily="34" charset="-120"/>
                        </a:rPr>
                        <a:t>③ INS 설치</a:t>
                      </a:r>
                      <a:endParaRPr lang="en-US" sz="120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marL="0" indent="0">
                        <a:buNone/>
                      </a:pPr>
                      <a:r>
                        <a:rPr lang="ko-KR" sz="1150" b="0" dirty="0">
                          <a:solidFill>
                            <a:srgbClr val="1A2233"/>
                          </a:solidFill>
                          <a:latin typeface="맑은 고딕" pitchFamily="34" charset="0"/>
                          <a:ea typeface="맑은 고딕" pitchFamily="34" charset="-122"/>
                          <a:cs typeface="맑은 고딕" pitchFamily="34" charset="-120"/>
                        </a:rPr>
                        <a:t>무게중심과 축 일치</a:t>
                      </a: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marL="0" indent="0">
                        <a:buNone/>
                      </a:pPr>
                      <a:r>
                        <a:rPr lang="ko-KR" sz="1150" b="0" dirty="0">
                          <a:solidFill>
                            <a:srgbClr val="1A2233"/>
                          </a:solidFill>
                          <a:latin typeface="맑은 고딕" pitchFamily="34" charset="0"/>
                          <a:ea typeface="맑은 고딕" pitchFamily="34" charset="-122"/>
                          <a:cs typeface="맑은 고딕" pitchFamily="34" charset="-120"/>
                        </a:rPr>
                        <a:t>INS 값(자세 · 위치)을 보정 없이 그대로 동체 값으로 쓴다</a:t>
                      </a: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48640">
                <a:tc>
                  <a:txBody>
                    <a:bodyPr/>
                    <a:lstStyle/>
                    <a:p>
                      <a:pPr marL="0" indent="0">
                        <a:buNone/>
                      </a:pPr>
                      <a:r>
                        <a:rPr lang="en-US" sz="1200" b="1" dirty="0">
                          <a:solidFill>
                            <a:srgbClr val="C2521C"/>
                          </a:solidFill>
                          <a:latin typeface="맑은 고딕" pitchFamily="34" charset="0"/>
                          <a:ea typeface="맑은 고딕" pitchFamily="34" charset="-122"/>
                          <a:cs typeface="맑은 고딕" pitchFamily="34" charset="-120"/>
                        </a:rPr>
                        <a:t>④ 입력</a:t>
                      </a:r>
                      <a:endParaRPr lang="en-US" sz="120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marL="0" indent="0">
                        <a:buNone/>
                      </a:pPr>
                      <a:r>
                        <a:rPr lang="ko-KR" sz="1150" b="0" dirty="0">
                          <a:solidFill>
                            <a:srgbClr val="C2521C"/>
                          </a:solidFill>
                          <a:latin typeface="맑은 고딕" pitchFamily="34" charset="0"/>
                          <a:ea typeface="맑은 고딕" pitchFamily="34" charset="-122"/>
                          <a:cs typeface="맑은 고딕" pitchFamily="34" charset="-120"/>
                        </a:rPr>
                        <a:t>안테나 기준 거리 · 방위각 · 고각</a:t>
                      </a: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marL="0" indent="0">
                        <a:buNone/>
                      </a:pPr>
                      <a:r>
                        <a:rPr lang="ko-KR" sz="1150" b="0" dirty="0">
                          <a:solidFill>
                            <a:srgbClr val="C2521C"/>
                          </a:solidFill>
                          <a:latin typeface="맑은 고딕" pitchFamily="34" charset="0"/>
                          <a:ea typeface="맑은 고딕" pitchFamily="34" charset="-122"/>
                          <a:cs typeface="맑은 고딕" pitchFamily="34" charset="-120"/>
                        </a:rPr>
                        <a:t>체인의 출발점 = 안테나 극좌표</a:t>
                      </a: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48640">
                <a:tc>
                  <a:txBody>
                    <a:bodyPr/>
                    <a:lstStyle/>
                    <a:p>
                      <a:pPr marL="0" indent="0">
                        <a:buNone/>
                      </a:pPr>
                      <a:r>
                        <a:rPr lang="en-US" sz="1200" b="1" dirty="0">
                          <a:solidFill>
                            <a:srgbClr val="C2521C"/>
                          </a:solidFill>
                          <a:latin typeface="맑은 고딕" pitchFamily="34" charset="0"/>
                          <a:ea typeface="맑은 고딕" pitchFamily="34" charset="-122"/>
                          <a:cs typeface="맑은 고딕" pitchFamily="34" charset="-120"/>
                        </a:rPr>
                        <a:t>⑤ 처리</a:t>
                      </a:r>
                      <a:endParaRPr lang="en-US" sz="120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marL="0" indent="0">
                        <a:buNone/>
                      </a:pPr>
                      <a:r>
                        <a:rPr lang="ko-KR" sz="1150" b="0" dirty="0">
                          <a:solidFill>
                            <a:srgbClr val="C2521C"/>
                          </a:solidFill>
                          <a:latin typeface="맑은 고딕" pitchFamily="34" charset="0"/>
                          <a:ea typeface="맑은 고딕" pitchFamily="34" charset="-122"/>
                          <a:cs typeface="맑은 고딕" pitchFamily="34" charset="-120"/>
                        </a:rPr>
                        <a:t>로컬 좌표계에서 수행</a:t>
                      </a: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marL="0" indent="0">
                        <a:buNone/>
                      </a:pPr>
                      <a:r>
                        <a:rPr lang="ko-KR" sz="1150" b="0" dirty="0">
                          <a:solidFill>
                            <a:srgbClr val="C2521C"/>
                          </a:solidFill>
                          <a:latin typeface="맑은 고딕" pitchFamily="34" charset="0"/>
                          <a:ea typeface="맑은 고딕" pitchFamily="34" charset="-122"/>
                          <a:cs typeface="맑은 고딕" pitchFamily="34" charset="-120"/>
                        </a:rPr>
                        <a:t>체인의 중간 목적지 = 로컬 수평 좌표계  (NED / ENU 선택은 다음 장)</a:t>
                      </a: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48640">
                <a:tc>
                  <a:txBody>
                    <a:bodyPr/>
                    <a:lstStyle/>
                    <a:p>
                      <a:pPr marL="0" indent="0">
                        <a:buNone/>
                      </a:pPr>
                      <a:r>
                        <a:rPr lang="en-US" sz="1200" b="1" dirty="0">
                          <a:solidFill>
                            <a:srgbClr val="C2521C"/>
                          </a:solidFill>
                          <a:latin typeface="맑은 고딕" pitchFamily="34" charset="0"/>
                          <a:ea typeface="맑은 고딕" pitchFamily="34" charset="-122"/>
                          <a:cs typeface="맑은 고딕" pitchFamily="34" charset="-120"/>
                        </a:rPr>
                        <a:t>⑥ 출력</a:t>
                      </a:r>
                      <a:endParaRPr lang="en-US" sz="120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marL="0" indent="0">
                        <a:buNone/>
                      </a:pPr>
                      <a:r>
                        <a:rPr lang="ko-KR" sz="1150" b="0" dirty="0">
                          <a:solidFill>
                            <a:srgbClr val="C2521C"/>
                          </a:solidFill>
                          <a:latin typeface="맑은 고딕" pitchFamily="34" charset="0"/>
                          <a:ea typeface="맑은 고딕" pitchFamily="34" charset="-122"/>
                          <a:cs typeface="맑은 고딕" pitchFamily="34" charset="-120"/>
                        </a:rPr>
                        <a:t>위 / 경 / 고도  +  안테나 극좌표</a:t>
                      </a: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marL="0" indent="0">
                        <a:buNone/>
                      </a:pPr>
                      <a:r>
                        <a:rPr lang="ko-KR" sz="1150" b="0" dirty="0">
                          <a:solidFill>
                            <a:srgbClr val="C2521C"/>
                          </a:solidFill>
                          <a:latin typeface="맑은 고딕" pitchFamily="34" charset="0"/>
                          <a:ea typeface="맑은 고딕" pitchFamily="34" charset="-122"/>
                          <a:cs typeface="맑은 고딕" pitchFamily="34" charset="-120"/>
                        </a:rPr>
                        <a:t>역변환도 필요 — 추적 결과를 안테나 각으로 되돌려 빔을 지향한다</a:t>
                      </a: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
        <p:nvSpPr>
          <p:cNvPr id="26" name="Rectangle 25"/>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endParaRPr/>
          </a:p>
        </p:txBody>
      </p:sp>
      <p:sp>
        <p:nvSpPr>
          <p:cNvPr id="27" name="TextBox 26"/>
          <p:cNvSpPr txBox="1"/>
          <p:nvPr/>
        </p:nvSpPr>
        <p:spPr>
          <a:xfrm>
            <a:off x="640080" y="411480"/>
            <a:ext cx="8732520" cy="777240"/>
          </a:xfrm>
          <a:prstGeom prst="rect">
            <a:avLst/>
          </a:prstGeom>
          <a:noFill/>
        </p:spPr>
        <p:txBody>
          <a:bodyPr wrap="square" lIns="0" tIns="0" rIns="0" bIns="0" anchor="ctr">
            <a:spAutoFit/>
          </a:bodyPr>
          <a:lstStyle/>
          <a:p>
            <a:pPr algn="l">
              <a:spcAft>
                <a:spcPts val="300"/>
              </a:spcAft>
            </a:pPr>
            <a:r>
              <a:rPr sz="1900" b="1">
                <a:solidFill>
                  <a:srgbClr val="FFFFFF"/>
                </a:solidFill>
                <a:latin typeface="맑은 고딕"/>
              </a:rPr>
              <a:t>02. 설계 조건</a:t>
            </a:r>
          </a:p>
          <a:p>
            <a:pPr algn="l">
              <a:lnSpc>
                <a:spcPts val="1400"/>
              </a:lnSpc>
            </a:pPr>
            <a:r>
              <a:rPr sz="1100" b="0">
                <a:solidFill>
                  <a:srgbClr val="C9D6EC"/>
                </a:solidFill>
                <a:latin typeface="맑은 고딕"/>
              </a:rPr>
              <a:t>주어진 조건 여섯 가지와, 그것이 설계를 어떻게 묶는가</a:t>
            </a:r>
          </a:p>
        </p:txBody>
      </p:sp>
      <p:cxnSp>
        <p:nvCxnSpPr>
          <p:cNvPr id="29" name="Connector 28"/>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669280" y="6400800"/>
            <a:ext cx="914400" cy="274320"/>
          </a:xfrm>
          <a:prstGeom prst="rect">
            <a:avLst/>
          </a:prstGeom>
          <a:noFill/>
        </p:spPr>
        <p:txBody>
          <a:bodyPr wrap="none" lIns="0" tIns="0" rIns="0" bIns="0">
            <a:spAutoFit/>
          </a:bodyPr>
          <a:lstStyle/>
          <a:p>
            <a:pPr algn="ctr"/>
            <a:fld id="{1D0B0B0B-0000-4000-8000-00000000C0DE}" type="slidenum">
              <a:rPr lang="ko-KR" altLang="en-US" sz="1000" b="0" dirty="0">
                <a:solidFill>
                  <a:srgbClr val="1A2233"/>
                </a:solidFill>
                <a:latin typeface="Arial"/>
                <a:ea typeface="Arial"/>
              </a:rPr>
              <a:t>16</a:t>
            </a:fld>
            <a:endParaRPr lang="ko-KR" altLang="en-US" sz="1000" b="0" dirty="0">
              <a:solidFill>
                <a:srgbClr val="1A2233"/>
              </a:solidFill>
              <a:latin typeface="Arial"/>
              <a:ea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24">
    <p:bg>
      <p:bgPr>
        <a:solidFill>
          <a:srgbClr val="E8EDF5"/>
        </a:solidFill>
        <a:effectLst/>
      </p:bgPr>
    </p:bg>
    <p:spTree>
      <p:nvGrpSpPr>
        <p:cNvPr id="1" name=""/>
        <p:cNvGrpSpPr/>
        <p:nvPr/>
      </p:nvGrpSpPr>
      <p:grpSpPr>
        <a:xfrm>
          <a:off x="0" y="0"/>
          <a:ext cx="0" cy="0"/>
          <a:chOff x="0" y="0"/>
          <a:chExt cx="0" cy="0"/>
        </a:xfrm>
      </p:grpSpPr>
      <p:sp>
        <p:nvSpPr>
          <p:cNvPr id="26" name="Rectangle 25"/>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endParaRPr/>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66928" y="1371600"/>
          <a:ext cx="11064240" cy="3200400"/>
        </p:xfrm>
        <a:graphic>
          <a:graphicData uri="http://schemas.openxmlformats.org/drawingml/2006/table">
            <a:tbl>
              <a:tblPr/>
              <a:tblGrid>
                <a:gridCol w="548640"/>
                <a:gridCol w="1645920"/>
                <a:gridCol w="3108960"/>
                <a:gridCol w="5760720"/>
              </a:tblGrid>
              <a:tr h="457200">
                <a:tc>
                  <a:txBody>
                    <a:bodyPr/>
                    <a:lstStyle/>
                    <a:p>
                      <a:pPr marL="0" indent="0">
                        <a:buNone/>
                      </a:pPr>
                      <a:r>
                        <a:rPr lang="en-US" sz="1250" b="1" dirty="0">
                          <a:solidFill>
                            <a:srgbClr val="FFFFFF"/>
                          </a:solidFill>
                          <a:latin typeface="맑은 고딕" pitchFamily="34" charset="0"/>
                          <a:ea typeface="맑은 고딕" pitchFamily="34" charset="-122"/>
                          <a:cs typeface="맑은 고딕" pitchFamily="34" charset="-120"/>
                        </a:rPr>
                        <a:t>단계</a:t>
                      </a:r>
                      <a:endParaRPr lang="en-US" sz="125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marL="0" indent="0">
                        <a:buNone/>
                      </a:pPr>
                      <a:r>
                        <a:rPr lang="en-US" sz="1250" b="1" dirty="0">
                          <a:solidFill>
                            <a:srgbClr val="FFFFFF"/>
                          </a:solidFill>
                          <a:latin typeface="맑은 고딕" pitchFamily="34" charset="0"/>
                          <a:ea typeface="맑은 고딕" pitchFamily="34" charset="-122"/>
                          <a:cs typeface="맑은 고딕" pitchFamily="34" charset="-120"/>
                        </a:rPr>
                        <a:t>좌표계</a:t>
                      </a:r>
                      <a:endParaRPr lang="en-US" sz="125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marL="0" indent="0">
                        <a:buNone/>
                      </a:pPr>
                      <a:r>
                        <a:rPr lang="ko-KR" sz="1200" b="1" dirty="0">
                          <a:solidFill>
                            <a:srgbClr val="FFFFFF"/>
                          </a:solidFill>
                          <a:latin typeface="맑은 고딕" pitchFamily="34" charset="0"/>
                          <a:ea typeface="맑은 고딕" pitchFamily="34" charset="-122"/>
                          <a:cs typeface="맑은 고딕" pitchFamily="34" charset="-120"/>
                        </a:rPr>
                        <a:t>원점 · 축</a:t>
                      </a: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marL="0" indent="0">
                        <a:buNone/>
                      </a:pPr>
                      <a:r>
                        <a:rPr lang="en-US" sz="1250" b="1" dirty="0">
                          <a:solidFill>
                            <a:srgbClr val="FFFFFF"/>
                          </a:solidFill>
                          <a:latin typeface="맑은 고딕" pitchFamily="34" charset="0"/>
                          <a:ea typeface="맑은 고딕" pitchFamily="34" charset="-122"/>
                          <a:cs typeface="맑은 고딕" pitchFamily="34" charset="-120"/>
                        </a:rPr>
                        <a:t>왜 이것인가</a:t>
                      </a:r>
                      <a:endParaRPr lang="en-US" sz="125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457200">
                <a:tc>
                  <a:txBody>
                    <a:bodyPr/>
                    <a:lstStyle/>
                    <a:p>
                      <a:pPr marL="0" indent="0">
                        <a:buNone/>
                      </a:pPr>
                      <a:r>
                        <a:rPr lang="en-US" sz="1250" b="1" dirty="0">
                          <a:solidFill>
                            <a:srgbClr val="1A2233"/>
                          </a:solidFill>
                          <a:latin typeface="맑은 고딕" pitchFamily="34" charset="0"/>
                          <a:ea typeface="맑은 고딕" pitchFamily="34" charset="-122"/>
                          <a:cs typeface="맑은 고딕" pitchFamily="34" charset="-120"/>
                        </a:rPr>
                        <a:t>0</a:t>
                      </a:r>
                      <a:endParaRPr lang="en-US" sz="125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marL="0" indent="0">
                        <a:buNone/>
                      </a:pPr>
                      <a:r>
                        <a:rPr lang="ko-KR" sz="1200" b="0" dirty="0">
                          <a:solidFill>
                            <a:srgbClr val="1A2233"/>
                          </a:solidFill>
                          <a:latin typeface="맑은 고딕" pitchFamily="34" charset="0"/>
                          <a:ea typeface="맑은 고딕" pitchFamily="34" charset="-122"/>
                          <a:cs typeface="맑은 고딕" pitchFamily="34" charset="-120"/>
                        </a:rPr>
                        <a:t>안테나 — 극좌표</a:t>
                      </a: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marL="0" indent="0">
                        <a:buNone/>
                      </a:pPr>
                      <a:r>
                        <a:rPr lang="ko-KR" sz="1100" b="0" dirty="0">
                          <a:solidFill>
                            <a:srgbClr val="1A2233"/>
                          </a:solidFill>
                          <a:latin typeface="맑은 고딕" pitchFamily="34" charset="0"/>
                          <a:ea typeface="맑은 고딕" pitchFamily="34" charset="-122"/>
                          <a:cs typeface="맑은 고딕" pitchFamily="34" charset="-120"/>
                        </a:rPr>
                        <a:t>안테나 중심 · R, Az (왼쪽 +), El (위 +)</a:t>
                      </a: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marL="0" indent="0">
                        <a:buNone/>
                      </a:pPr>
                      <a:r>
                        <a:rPr lang="ko-KR" sz="1150" b="0" dirty="0">
                          <a:solidFill>
                            <a:srgbClr val="1A2233"/>
                          </a:solidFill>
                          <a:latin typeface="맑은 고딕" pitchFamily="34" charset="0"/>
                          <a:ea typeface="맑은 고딕" pitchFamily="34" charset="-122"/>
                          <a:cs typeface="맑은 고딕" pitchFamily="34" charset="-120"/>
                        </a:rPr>
                        <a:t>레이다가 재는 값이 거리와 두 각도뿐이다</a:t>
                      </a: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marL="0" indent="0">
                        <a:buNone/>
                      </a:pPr>
                      <a:r>
                        <a:rPr lang="en-US" sz="1250" b="1" dirty="0">
                          <a:solidFill>
                            <a:srgbClr val="1A2233"/>
                          </a:solidFill>
                          <a:latin typeface="맑은 고딕" pitchFamily="34" charset="0"/>
                          <a:ea typeface="맑은 고딕" pitchFamily="34" charset="-122"/>
                          <a:cs typeface="맑은 고딕" pitchFamily="34" charset="-120"/>
                        </a:rPr>
                        <a:t>1</a:t>
                      </a:r>
                      <a:endParaRPr lang="en-US" sz="125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marL="0" indent="0">
                        <a:buNone/>
                      </a:pPr>
                      <a:r>
                        <a:rPr lang="ko-KR" sz="1200" b="0" dirty="0">
                          <a:solidFill>
                            <a:srgbClr val="1A2233"/>
                          </a:solidFill>
                          <a:latin typeface="맑은 고딕" pitchFamily="34" charset="0"/>
                          <a:ea typeface="맑은 고딕" pitchFamily="34" charset="-122"/>
                          <a:cs typeface="맑은 고딕" pitchFamily="34" charset="-120"/>
                        </a:rPr>
                        <a:t>안테나 — 직교좌표</a:t>
                      </a: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marL="0" indent="0">
                        <a:buNone/>
                      </a:pPr>
                      <a:r>
                        <a:rPr lang="ko-KR" sz="1100" b="0" dirty="0">
                          <a:solidFill>
                            <a:srgbClr val="1A2233"/>
                          </a:solidFill>
                          <a:latin typeface="맑은 고딕" pitchFamily="34" charset="0"/>
                          <a:ea typeface="맑은 고딕" pitchFamily="34" charset="-122"/>
                          <a:cs typeface="맑은 고딕" pitchFamily="34" charset="-120"/>
                        </a:rPr>
                        <a:t>안테나 중심 · x 왼쪽, y 위, z 보어사이트</a:t>
                      </a: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marL="0" indent="0">
                        <a:buNone/>
                      </a:pPr>
                      <a:r>
                        <a:rPr lang="ko-KR" sz="1150" b="0" dirty="0">
                          <a:solidFill>
                            <a:srgbClr val="1A2233"/>
                          </a:solidFill>
                          <a:latin typeface="맑은 고딕" pitchFamily="34" charset="0"/>
                          <a:ea typeface="맑은 고딕" pitchFamily="34" charset="-122"/>
                          <a:cs typeface="맑은 고딕" pitchFamily="34" charset="-120"/>
                        </a:rPr>
                        <a:t>회전행렬은 벡터에만 곱할 수 있다</a:t>
                      </a: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marL="0" indent="0">
                        <a:buNone/>
                      </a:pPr>
                      <a:r>
                        <a:rPr lang="en-US" sz="1250" b="1" dirty="0">
                          <a:solidFill>
                            <a:srgbClr val="1A2233"/>
                          </a:solidFill>
                          <a:latin typeface="맑은 고딕" pitchFamily="34" charset="0"/>
                          <a:ea typeface="맑은 고딕" pitchFamily="34" charset="-122"/>
                          <a:cs typeface="맑은 고딕" pitchFamily="34" charset="-120"/>
                        </a:rPr>
                        <a:t>2</a:t>
                      </a:r>
                      <a:endParaRPr lang="en-US" sz="125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marL="0" indent="0">
                        <a:buNone/>
                      </a:pPr>
                      <a:r>
                        <a:rPr lang="ko-KR" sz="1200" b="0" dirty="0">
                          <a:solidFill>
                            <a:srgbClr val="1A2233"/>
                          </a:solidFill>
                          <a:latin typeface="맑은 고딕" pitchFamily="34" charset="0"/>
                          <a:ea typeface="맑은 고딕" pitchFamily="34" charset="-122"/>
                          <a:cs typeface="맑은 고딕" pitchFamily="34" charset="-120"/>
                        </a:rPr>
                        <a:t>동체 (Body)</a:t>
                      </a: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marL="0" indent="0">
                        <a:buNone/>
                      </a:pPr>
                      <a:r>
                        <a:rPr lang="ko-KR" sz="1100" b="0" dirty="0">
                          <a:solidFill>
                            <a:srgbClr val="1A2233"/>
                          </a:solidFill>
                          <a:latin typeface="맑은 고딕" pitchFamily="34" charset="0"/>
                          <a:ea typeface="맑은 고딕" pitchFamily="34" charset="-122"/>
                          <a:cs typeface="맑은 고딕" pitchFamily="34" charset="-120"/>
                        </a:rPr>
                        <a:t>무게중심 · x 선수, y 우현, z 아래</a:t>
                      </a: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marL="0" indent="0">
                        <a:buNone/>
                      </a:pPr>
                      <a:r>
                        <a:rPr lang="ko-KR" sz="1150" b="0" dirty="0">
                          <a:solidFill>
                            <a:srgbClr val="1A2233"/>
                          </a:solidFill>
                          <a:latin typeface="맑은 고딕" pitchFamily="34" charset="0"/>
                          <a:ea typeface="맑은 고딕" pitchFamily="34" charset="-122"/>
                          <a:cs typeface="맑은 고딕" pitchFamily="34" charset="-120"/>
                        </a:rPr>
                        <a:t>안테나 · INS · 무장이 만나는 공통 기준 — 설치값이 이 축 기준으로 적혀 있다</a:t>
                      </a: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marL="0" indent="0">
                        <a:buNone/>
                      </a:pPr>
                      <a:r>
                        <a:rPr lang="en-US" sz="1250" b="1" dirty="0">
                          <a:solidFill>
                            <a:srgbClr val="C2521C"/>
                          </a:solidFill>
                          <a:latin typeface="맑은 고딕" pitchFamily="34" charset="0"/>
                          <a:ea typeface="맑은 고딕" pitchFamily="34" charset="-122"/>
                          <a:cs typeface="맑은 고딕" pitchFamily="34" charset="-120"/>
                        </a:rPr>
                        <a:t>3</a:t>
                      </a:r>
                      <a:endParaRPr lang="en-US" sz="125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marL="0" indent="0">
                        <a:buNone/>
                      </a:pPr>
                      <a:r>
                        <a:rPr lang="ko-KR" sz="1200" b="1" dirty="0">
                          <a:solidFill>
                            <a:srgbClr val="C2521C"/>
                          </a:solidFill>
                          <a:latin typeface="맑은 고딕" pitchFamily="34" charset="0"/>
                          <a:ea typeface="맑은 고딕" pitchFamily="34" charset="-122"/>
                          <a:cs typeface="맑은 고딕" pitchFamily="34" charset="-120"/>
                        </a:rPr>
                        <a:t>로컬 (NED)</a:t>
                      </a: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marL="0" indent="0">
                        <a:buNone/>
                      </a:pPr>
                      <a:r>
                        <a:rPr lang="ko-KR" sz="1100" b="0" dirty="0">
                          <a:solidFill>
                            <a:srgbClr val="C2521C"/>
                          </a:solidFill>
                          <a:latin typeface="맑은 고딕" pitchFamily="34" charset="0"/>
                          <a:ea typeface="맑은 고딕" pitchFamily="34" charset="-122"/>
                          <a:cs typeface="맑은 고딕" pitchFamily="34" charset="-120"/>
                        </a:rPr>
                        <a:t>무게중심 · N 북, E 동, D 아래</a:t>
                      </a: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marL="0" indent="0">
                        <a:buNone/>
                      </a:pPr>
                      <a:r>
                        <a:rPr lang="ko-KR" sz="1150" b="0" dirty="0">
                          <a:solidFill>
                            <a:srgbClr val="C2521C"/>
                          </a:solidFill>
                          <a:latin typeface="맑은 고딕" pitchFamily="34" charset="0"/>
                          <a:ea typeface="맑은 고딕" pitchFamily="34" charset="-122"/>
                          <a:cs typeface="맑은 고딕" pitchFamily="34" charset="-120"/>
                        </a:rPr>
                        <a:t>배와 함께 가되 흔들리지는 않아 표적의 실제 움직임만 남는다 → 추적은 여기서</a:t>
                      </a:r>
                    </a:p>
                    <a:p>
                      <a:pPr marL="0" indent="0">
                        <a:buNone/>
                      </a:pPr>
                      <a:r>
                        <a:rPr lang="ko-KR" sz="1150" b="0" dirty="0">
                          <a:solidFill>
                            <a:srgbClr val="C2521C"/>
                          </a:solidFill>
                          <a:latin typeface="맑은 고딕" pitchFamily="34" charset="0"/>
                          <a:ea typeface="맑은 고딕" pitchFamily="34" charset="-122"/>
                          <a:cs typeface="맑은 고딕" pitchFamily="34" charset="-120"/>
                        </a:rPr>
                        <a:t>NED 인 이유 : 동체 FRD 와 축 의미가 같다</a:t>
                      </a: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marL="0" indent="0">
                        <a:buNone/>
                      </a:pPr>
                      <a:r>
                        <a:rPr lang="en-US" sz="1250" b="1" dirty="0">
                          <a:solidFill>
                            <a:srgbClr val="1A2233"/>
                          </a:solidFill>
                          <a:latin typeface="맑은 고딕" pitchFamily="34" charset="0"/>
                          <a:ea typeface="맑은 고딕" pitchFamily="34" charset="-122"/>
                          <a:cs typeface="맑은 고딕" pitchFamily="34" charset="-120"/>
                        </a:rPr>
                        <a:t>4</a:t>
                      </a:r>
                      <a:endParaRPr lang="en-US" sz="125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marL="0" indent="0">
                        <a:buNone/>
                      </a:pPr>
                      <a:r>
                        <a:rPr lang="ko-KR" sz="1200" b="0" dirty="0">
                          <a:solidFill>
                            <a:srgbClr val="1A2233"/>
                          </a:solidFill>
                          <a:latin typeface="맑은 고딕" pitchFamily="34" charset="0"/>
                          <a:ea typeface="맑은 고딕" pitchFamily="34" charset="-122"/>
                          <a:cs typeface="맑은 고딕" pitchFamily="34" charset="-120"/>
                        </a:rPr>
                        <a:t>ECEF</a:t>
                      </a: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marL="0" indent="0">
                        <a:buNone/>
                      </a:pPr>
                      <a:r>
                        <a:rPr lang="ko-KR" sz="1100" b="0" dirty="0">
                          <a:solidFill>
                            <a:srgbClr val="1A2233"/>
                          </a:solidFill>
                          <a:latin typeface="맑은 고딕" pitchFamily="34" charset="0"/>
                          <a:ea typeface="맑은 고딕" pitchFamily="34" charset="-122"/>
                          <a:cs typeface="맑은 고딕" pitchFamily="34" charset="-120"/>
                        </a:rPr>
                        <a:t>지구 중심 · X, Y, Z (지구에 고정)</a:t>
                      </a: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marL="0" indent="0">
                        <a:buNone/>
                      </a:pPr>
                      <a:r>
                        <a:rPr lang="ko-KR" sz="1150" b="0" dirty="0">
                          <a:solidFill>
                            <a:srgbClr val="1A2233"/>
                          </a:solidFill>
                          <a:latin typeface="맑은 고딕" pitchFamily="34" charset="0"/>
                          <a:ea typeface="맑은 고딕" pitchFamily="34" charset="-122"/>
                          <a:cs typeface="맑은 고딕" pitchFamily="34" charset="-120"/>
                        </a:rPr>
                        <a:t>배의 위치를 더하려면 지구에 고정된 직교좌표가 필요 — 로컬과 위경도의 다리</a:t>
                      </a: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marL="0" indent="0">
                        <a:buNone/>
                      </a:pPr>
                      <a:r>
                        <a:rPr lang="en-US" sz="1250" b="1" dirty="0">
                          <a:solidFill>
                            <a:srgbClr val="1A2233"/>
                          </a:solidFill>
                          <a:latin typeface="맑은 고딕" pitchFamily="34" charset="0"/>
                          <a:ea typeface="맑은 고딕" pitchFamily="34" charset="-122"/>
                          <a:cs typeface="맑은 고딕" pitchFamily="34" charset="-120"/>
                        </a:rPr>
                        <a:t>5</a:t>
                      </a:r>
                      <a:endParaRPr lang="en-US" sz="125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marL="0" indent="0">
                        <a:buNone/>
                      </a:pPr>
                      <a:r>
                        <a:rPr lang="ko-KR" sz="1200" b="0" dirty="0">
                          <a:solidFill>
                            <a:srgbClr val="1A2233"/>
                          </a:solidFill>
                          <a:latin typeface="맑은 고딕" pitchFamily="34" charset="0"/>
                          <a:ea typeface="맑은 고딕" pitchFamily="34" charset="-122"/>
                          <a:cs typeface="맑은 고딕" pitchFamily="34" charset="-120"/>
                        </a:rPr>
                        <a:t>LLA</a:t>
                      </a: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marL="0" indent="0">
                        <a:buNone/>
                      </a:pPr>
                      <a:r>
                        <a:rPr lang="ko-KR" sz="1100" b="0" dirty="0">
                          <a:solidFill>
                            <a:srgbClr val="1A2233"/>
                          </a:solidFill>
                          <a:latin typeface="맑은 고딕" pitchFamily="34" charset="0"/>
                          <a:ea typeface="맑은 고딕" pitchFamily="34" charset="-122"/>
                          <a:cs typeface="맑은 고딕" pitchFamily="34" charset="-120"/>
                        </a:rPr>
                        <a:t>WGS-84 · φ 위도, λ 경도, h 고도</a:t>
                      </a: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marL="0" indent="0">
                        <a:buNone/>
                      </a:pPr>
                      <a:r>
                        <a:rPr lang="ko-KR" sz="1150" b="0" dirty="0">
                          <a:solidFill>
                            <a:srgbClr val="1A2233"/>
                          </a:solidFill>
                          <a:latin typeface="맑은 고딕" pitchFamily="34" charset="0"/>
                          <a:ea typeface="맑은 고딕" pitchFamily="34" charset="-122"/>
                          <a:cs typeface="맑은 고딕" pitchFamily="34" charset="-120"/>
                        </a:rPr>
                        <a:t>전시기 · 통제제어가 지도에 표시하는 형식</a:t>
                      </a: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
        <p:nvSpPr>
          <p:cNvPr id="27" name="Rectangle 26"/>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endParaRPr/>
          </a:p>
        </p:txBody>
      </p:sp>
      <p:cxnSp>
        <p:nvCxnSpPr>
          <p:cNvPr id="30" name="Connector 29"/>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5669280" y="6400800"/>
            <a:ext cx="914400" cy="274320"/>
          </a:xfrm>
          <a:prstGeom prst="rect">
            <a:avLst/>
          </a:prstGeom>
          <a:noFill/>
        </p:spPr>
        <p:txBody>
          <a:bodyPr wrap="none" lIns="0" tIns="0" rIns="0" bIns="0">
            <a:spAutoFit/>
          </a:bodyPr>
          <a:lstStyle/>
          <a:p>
            <a:pPr algn="ctr"/>
            <a:fld id="{1D0B0B0B-0000-4000-8000-00000000C0DE}" type="slidenum">
              <a:rPr lang="ko-KR" altLang="en-US" sz="1000" b="0" dirty="0">
                <a:solidFill>
                  <a:srgbClr val="1A2233"/>
                </a:solidFill>
                <a:latin typeface="Arial"/>
                <a:ea typeface="Arial"/>
              </a:rPr>
              <a:t>17</a:t>
            </a:fld>
            <a:endParaRPr lang="ko-KR" altLang="en-US" sz="1000" b="0" dirty="0">
              <a:solidFill>
                <a:srgbClr val="1A2233"/>
              </a:solidFill>
              <a:latin typeface="Arial"/>
              <a:ea typeface="Arial"/>
            </a:endParaRPr>
          </a:p>
        </p:txBody>
      </p:sp>
      <p:sp>
        <p:nvSpPr>
          <p:cNvPr id="33" name="Shape 2"/>
          <p:cNvSpPr/>
          <p:nvPr/>
        </p:nvSpPr>
        <p:spPr>
          <a:xfrm>
            <a:off x="566928" y="5266944"/>
            <a:ext cx="11064240" cy="969264"/>
          </a:xfrm>
          <a:prstGeom prst="roundRect">
            <a:avLst>
              <a:gd name="adj" fmla="val 8696"/>
            </a:avLst>
          </a:prstGeom>
          <a:solidFill>
            <a:srgbClr val="EEF1F7"/>
          </a:solidFill>
          <a:ln w="12700">
            <a:solidFill>
              <a:srgbClr val="FFFFFF"/>
            </a:solidFill>
            <a:prstDash val="solid"/>
          </a:ln>
        </p:spPr>
        <p:txBody>
          <a:bodyPr/>
          <a:lstStyle/>
          <a:p>
            <a:endParaRPr/>
          </a:p>
        </p:txBody>
      </p:sp>
      <p:sp>
        <p:nvSpPr>
          <p:cNvPr id="34" name="Text 1"/>
          <p:cNvSpPr txBox="1"/>
          <p:nvPr/>
        </p:nvSpPr>
        <p:spPr>
          <a:xfrm>
            <a:off x="566928" y="4937760"/>
            <a:ext cx="6400800" cy="292608"/>
          </a:xfrm>
          <a:prstGeom prst="rect">
            <a:avLst/>
          </a:prstGeom>
          <a:noFill/>
          <a:ln/>
        </p:spPr>
        <p:txBody>
          <a:bodyPr wrap="square" lIns="0" tIns="0" rIns="0" bIns="0" rtlCol="0" anchor="t"/>
          <a:lstStyle/>
          <a:p>
            <a:pPr marL="0" indent="0">
              <a:buNone/>
            </a:pPr>
            <a:r>
              <a:rPr lang="ko-KR" sz="1400" b="1" dirty="0">
                <a:solidFill>
                  <a:srgbClr val="1A2233"/>
                </a:solidFill>
                <a:latin typeface="맑은 고딕" pitchFamily="34" charset="0"/>
                <a:ea typeface="맑은 고딕" pitchFamily="34" charset="-122"/>
                <a:cs typeface="맑은 고딕" pitchFamily="34" charset="-120"/>
              </a:rPr>
              <a:t>쓰지 않은 좌표계</a:t>
            </a:r>
            <a:r>
              <a:rPr lang="ko-KR" sz="1150" b="0" dirty="0">
                <a:solidFill>
                  <a:srgbClr val="5A6478"/>
                </a:solidFill>
                <a:latin typeface="맑은 고딕" pitchFamily="34" charset="0"/>
                <a:ea typeface="맑은 고딕" pitchFamily="34" charset="-122"/>
                <a:cs typeface="맑은 고딕" pitchFamily="34" charset="-120"/>
              </a:rPr>
              <a:t>   —   왜 이 과제에는 맞지 않는가</a:t>
            </a:r>
          </a:p>
        </p:txBody>
      </p:sp>
      <p:sp>
        <p:nvSpPr>
          <p:cNvPr id="37" name="TextBox 27"/>
          <p:cNvSpPr txBox="1"/>
          <p:nvPr/>
        </p:nvSpPr>
        <p:spPr>
          <a:xfrm>
            <a:off x="640080" y="411480"/>
            <a:ext cx="8732520" cy="777240"/>
          </a:xfrm>
          <a:prstGeom prst="rect">
            <a:avLst/>
          </a:prstGeom>
          <a:noFill/>
          <a:ln/>
        </p:spPr>
        <p:txBody>
          <a:bodyPr wrap="square" lIns="0" tIns="0" rIns="0" bIns="0" rtlCol="0" anchor="ctr"/>
          <a:lstStyle/>
          <a:p>
            <a:pPr marL="0" indent="0">
              <a:buNone/>
            </a:pPr>
            <a:r>
              <a:rPr lang="ko-KR" sz="2000" b="1" dirty="0">
                <a:solidFill>
                  <a:srgbClr val="FFFFFF"/>
                </a:solidFill>
                <a:latin typeface="맑은 고딕" pitchFamily="34" charset="0"/>
                <a:ea typeface="맑은 고딕" pitchFamily="34" charset="-122"/>
                <a:cs typeface="맑은 고딕" pitchFamily="34" charset="-120"/>
              </a:rPr>
              <a:t>02. 단계별 좌표계 선정</a:t>
            </a:r>
          </a:p>
          <a:p>
            <a:pPr marL="0" indent="0">
              <a:buNone/>
            </a:pPr>
            <a:r>
              <a:rPr lang="ko-KR" sz="1100" b="0" dirty="0">
                <a:solidFill>
                  <a:srgbClr val="C9D6EC"/>
                </a:solidFill>
                <a:latin typeface="맑은 고딕" pitchFamily="34" charset="0"/>
                <a:ea typeface="맑은 고딕" pitchFamily="34" charset="-122"/>
                <a:cs typeface="맑은 고딕" pitchFamily="34" charset="-120"/>
              </a:rPr>
              <a:t>앞의 변환 체인이 "무엇을 하는가" 였다면, 여기는 "왜 이 좌표계인가", 그리고 "왜 저 좌표계는 아닌가" 입니다</a:t>
            </a:r>
          </a:p>
        </p:txBody>
      </p:sp>
      <p:sp>
        <p:nvSpPr>
          <p:cNvPr id="38" name="Text 2"/>
          <p:cNvSpPr txBox="1"/>
          <p:nvPr/>
        </p:nvSpPr>
        <p:spPr>
          <a:xfrm>
            <a:off x="640080" y="5312664"/>
            <a:ext cx="676656" cy="877824"/>
          </a:xfrm>
          <a:prstGeom prst="rect">
            <a:avLst/>
          </a:prstGeom>
          <a:noFill/>
          <a:ln/>
        </p:spPr>
        <p:txBody>
          <a:bodyPr wrap="square" lIns="0" tIns="0" rIns="0" bIns="0" rtlCol="0" anchor="ctr"/>
          <a:lstStyle/>
          <a:p>
            <a:pPr marL="0" indent="0" algn="r">
              <a:lnSpc>
                <a:spcPts val="1700"/>
              </a:lnSpc>
              <a:buNone/>
            </a:pPr>
            <a:r>
              <a:rPr lang="ko-KR" sz="1150" b="1" dirty="0">
                <a:solidFill>
                  <a:srgbClr val="C2521C"/>
                </a:solidFill>
                <a:latin typeface="맑은 고딕" pitchFamily="34" charset="0"/>
                <a:ea typeface="맑은 고딕" pitchFamily="34" charset="-122"/>
                <a:cs typeface="맑은 고딕" pitchFamily="34" charset="-120"/>
              </a:rPr>
              <a:t>UV</a:t>
            </a:r>
          </a:p>
          <a:p>
            <a:pPr marL="0" indent="0" algn="r">
              <a:lnSpc>
                <a:spcPts val="1700"/>
              </a:lnSpc>
              <a:buNone/>
            </a:pPr>
            <a:r>
              <a:rPr lang="ko-KR" sz="1150" b="1" dirty="0">
                <a:solidFill>
                  <a:srgbClr val="C2521C"/>
                </a:solidFill>
                <a:latin typeface="맑은 고딕" pitchFamily="34" charset="0"/>
                <a:ea typeface="맑은 고딕" pitchFamily="34" charset="-122"/>
                <a:cs typeface="맑은 고딕" pitchFamily="34" charset="-120"/>
              </a:rPr>
              <a:t>INS</a:t>
            </a:r>
          </a:p>
          <a:p>
            <a:pPr marL="0" indent="0" algn="r">
              <a:lnSpc>
                <a:spcPts val="1700"/>
              </a:lnSpc>
              <a:buNone/>
            </a:pPr>
            <a:r>
              <a:rPr lang="ko-KR" sz="1150" b="1" dirty="0">
                <a:solidFill>
                  <a:srgbClr val="C2521C"/>
                </a:solidFill>
                <a:latin typeface="맑은 고딕" pitchFamily="34" charset="0"/>
                <a:ea typeface="맑은 고딕" pitchFamily="34" charset="-122"/>
                <a:cs typeface="맑은 고딕" pitchFamily="34" charset="-120"/>
              </a:rPr>
              <a:t>ECI</a:t>
            </a:r>
          </a:p>
          <a:p>
            <a:pPr marL="0" indent="0" algn="r">
              <a:lnSpc>
                <a:spcPts val="1700"/>
              </a:lnSpc>
              <a:buNone/>
            </a:pPr>
            <a:r>
              <a:rPr lang="ko-KR" sz="1150" b="1" dirty="0">
                <a:solidFill>
                  <a:srgbClr val="C2521C"/>
                </a:solidFill>
                <a:latin typeface="맑은 고딕" pitchFamily="34" charset="0"/>
                <a:ea typeface="맑은 고딕" pitchFamily="34" charset="-122"/>
                <a:cs typeface="맑은 고딕" pitchFamily="34" charset="-120"/>
              </a:rPr>
              <a:t>ENU</a:t>
            </a:r>
          </a:p>
        </p:txBody>
      </p:sp>
      <p:sp>
        <p:nvSpPr>
          <p:cNvPr id="39" name="Text 3"/>
          <p:cNvSpPr txBox="1"/>
          <p:nvPr/>
        </p:nvSpPr>
        <p:spPr>
          <a:xfrm>
            <a:off x="1408176" y="5312664"/>
            <a:ext cx="10058400" cy="877824"/>
          </a:xfrm>
          <a:prstGeom prst="rect">
            <a:avLst/>
          </a:prstGeom>
          <a:noFill/>
          <a:ln/>
        </p:spPr>
        <p:txBody>
          <a:bodyPr wrap="square" lIns="0" tIns="0" rIns="0" bIns="0" rtlCol="0" anchor="ctr"/>
          <a:lstStyle/>
          <a:p>
            <a:pPr marL="0" indent="0">
              <a:lnSpc>
                <a:spcPts val="1700"/>
              </a:lnSpc>
              <a:buNone/>
            </a:pPr>
            <a:r>
              <a:rPr lang="ko-KR" sz="1150" b="0" dirty="0">
                <a:solidFill>
                  <a:srgbClr val="1A2233"/>
                </a:solidFill>
                <a:latin typeface="맑은 고딕" pitchFamily="34" charset="0"/>
                <a:ea typeface="맑은 고딕" pitchFamily="34" charset="-122"/>
                <a:cs typeface="맑은 고딕" pitchFamily="34" charset="-120"/>
              </a:rPr>
              <a:t>—   방향만 있고 거리가 없다.  표적 위치를 옮기는 이 체인에는 넣을 값이 없다.</a:t>
            </a:r>
          </a:p>
          <a:p>
            <a:pPr marL="0" indent="0">
              <a:lnSpc>
                <a:spcPts val="1700"/>
              </a:lnSpc>
              <a:buNone/>
            </a:pPr>
            <a:r>
              <a:rPr lang="ko-KR" sz="1150" b="0" dirty="0">
                <a:solidFill>
                  <a:srgbClr val="1A2233"/>
                </a:solidFill>
                <a:latin typeface="맑은 고딕" pitchFamily="34" charset="0"/>
                <a:ea typeface="맑은 고딕" pitchFamily="34" charset="-122"/>
                <a:cs typeface="맑은 고딕" pitchFamily="34" charset="-120"/>
              </a:rPr>
              <a:t>—   무게중심에 축을 맞춰 설치됐다 (조건 ③).  INS 값이 곧 동체 값이라 변환 단계가 없다.</a:t>
            </a:r>
          </a:p>
          <a:p>
            <a:pPr marL="0" indent="0">
              <a:lnSpc>
                <a:spcPts val="1700"/>
              </a:lnSpc>
              <a:buNone/>
            </a:pPr>
            <a:r>
              <a:rPr lang="ko-KR" sz="1150" b="0" dirty="0">
                <a:solidFill>
                  <a:srgbClr val="1A2233"/>
                </a:solidFill>
                <a:latin typeface="맑은 고딕" pitchFamily="34" charset="0"/>
                <a:ea typeface="맑은 고딕" pitchFamily="34" charset="-122"/>
                <a:cs typeface="맑은 고딕" pitchFamily="34" charset="-120"/>
              </a:rPr>
              <a:t>—   위성 · 탄도탄의 긴 궤도 전파용이다.  몇 초 안의 표적 위치에는 ECEF 로 충분하다.</a:t>
            </a:r>
          </a:p>
          <a:p>
            <a:pPr marL="0" indent="0">
              <a:lnSpc>
                <a:spcPts val="1700"/>
              </a:lnSpc>
              <a:buNone/>
            </a:pPr>
            <a:r>
              <a:rPr lang="ko-KR" sz="1150" b="0" dirty="0">
                <a:solidFill>
                  <a:srgbClr val="1A2233"/>
                </a:solidFill>
                <a:latin typeface="맑은 고딕" pitchFamily="34" charset="0"/>
                <a:ea typeface="맑은 고딕" pitchFamily="34" charset="-122"/>
                <a:cs typeface="맑은 고딕" pitchFamily="34" charset="-120"/>
              </a:rPr>
              <a:t>—   NED 와 담긴 정보가 같다.  동체 FRD 와 축 의미가 같은 NED 를 골랐다.</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6">
    <p:bg>
      <p:bgPr>
        <a:solidFill>
          <a:srgbClr val="E8EDF5"/>
        </a:solidFill>
        <a:effectLst/>
      </p:bgPr>
    </p:bg>
    <p:spTree>
      <p:nvGrpSpPr>
        <p:cNvPr id="1" name=""/>
        <p:cNvGrpSpPr/>
        <p:nvPr/>
      </p:nvGrpSpPr>
      <p:grpSpPr>
        <a:xfrm>
          <a:off x="0" y="0"/>
          <a:ext cx="0" cy="0"/>
          <a:chOff x="0" y="0"/>
          <a:chExt cx="0" cy="0"/>
        </a:xfrm>
      </p:grpSpPr>
      <p:sp>
        <p:nvSpPr>
          <p:cNvPr id="23" name="Rectangle 22"/>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endParaRPr/>
          </a:p>
        </p:txBody>
      </p:sp>
      <p:sp>
        <p:nvSpPr>
          <p:cNvPr id="3" name="Shape 1"/>
          <p:cNvSpPr/>
          <p:nvPr/>
        </p:nvSpPr>
        <p:spPr>
          <a:xfrm>
            <a:off x="566928" y="1371600"/>
            <a:ext cx="11064240" cy="1463040"/>
          </a:xfrm>
          <a:prstGeom prst="roundRect">
            <a:avLst>
              <a:gd name="adj" fmla="val 5479"/>
            </a:avLst>
          </a:prstGeom>
          <a:solidFill>
            <a:srgbClr val="EEF1F7"/>
          </a:solidFill>
          <a:ln w="12700">
            <a:solidFill>
              <a:srgbClr val="FFFFFF"/>
            </a:solidFill>
            <a:prstDash val="solid"/>
          </a:ln>
        </p:spPr>
        <p:txBody>
          <a:bodyPr/>
          <a:lstStyle/>
          <a:p>
            <a:endParaRPr/>
          </a:p>
        </p:txBody>
      </p:sp>
      <p:sp>
        <p:nvSpPr>
          <p:cNvPr id="4" name="Shape 2"/>
          <p:cNvSpPr/>
          <p:nvPr/>
        </p:nvSpPr>
        <p:spPr>
          <a:xfrm>
            <a:off x="822960" y="1554480"/>
            <a:ext cx="402336" cy="402336"/>
          </a:xfrm>
          <a:prstGeom prst="ellipse">
            <a:avLst/>
          </a:prstGeom>
          <a:solidFill>
            <a:srgbClr val="2B57A6"/>
          </a:solidFill>
          <a:ln/>
        </p:spPr>
        <p:txBody>
          <a:bodyPr/>
          <a:lstStyle/>
          <a:p>
            <a:endParaRPr/>
          </a:p>
        </p:txBody>
      </p:sp>
      <p:sp>
        <p:nvSpPr>
          <p:cNvPr id="5" name="Text 3"/>
          <p:cNvSpPr txBox="1"/>
          <p:nvPr/>
        </p:nvSpPr>
        <p:spPr>
          <a:xfrm>
            <a:off x="822960" y="155448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1</a:t>
            </a:r>
            <a:endParaRPr lang="en-US" sz="1500" dirty="0"/>
          </a:p>
        </p:txBody>
      </p:sp>
      <p:sp>
        <p:nvSpPr>
          <p:cNvPr id="6" name="Text 4"/>
          <p:cNvSpPr txBox="1"/>
          <p:nvPr/>
        </p:nvSpPr>
        <p:spPr>
          <a:xfrm>
            <a:off x="1371600" y="1536192"/>
            <a:ext cx="3657600" cy="329184"/>
          </a:xfrm>
          <a:prstGeom prst="rect">
            <a:avLst/>
          </a:prstGeom>
          <a:noFill/>
          <a:ln/>
        </p:spPr>
        <p:txBody>
          <a:bodyPr wrap="square" lIns="0" tIns="0" rIns="0" bIns="0" rtlCol="0" anchor="ctr"/>
          <a:lstStyle/>
          <a:p>
            <a:pPr marL="0" indent="0">
              <a:buNone/>
            </a:pPr>
            <a:r>
              <a:rPr lang="en-US" sz="1600" b="1" dirty="0">
                <a:solidFill>
                  <a:srgbClr val="2B57A6"/>
                </a:solidFill>
                <a:latin typeface="맑은 고딕" pitchFamily="34" charset="0"/>
                <a:ea typeface="맑은 고딕" pitchFamily="34" charset="-122"/>
                <a:cs typeface="맑은 고딕" pitchFamily="34" charset="-120"/>
              </a:rPr>
              <a:t>안테나 극좌표 → 직교좌표</a:t>
            </a:r>
            <a:endParaRPr lang="en-US" sz="1600" dirty="0"/>
          </a:p>
        </p:txBody>
      </p:sp>
      <p:sp>
        <p:nvSpPr>
          <p:cNvPr id="7" name="Text 5"/>
          <p:cNvSpPr txBox="1"/>
          <p:nvPr/>
        </p:nvSpPr>
        <p:spPr>
          <a:xfrm>
            <a:off x="1371600" y="1901952"/>
            <a:ext cx="3657600" cy="292608"/>
          </a:xfrm>
          <a:prstGeom prst="rect">
            <a:avLst/>
          </a:prstGeom>
          <a:noFill/>
          <a:ln/>
        </p:spPr>
        <p:txBody>
          <a:bodyPr wrap="square" lIns="0" tIns="0" rIns="0" bIns="0" rtlCol="0" anchor="ctr"/>
          <a:lstStyle/>
          <a:p>
            <a:pPr marL="0" indent="0">
              <a:buNone/>
            </a:pPr>
            <a:r>
              <a:rPr lang="en-US" sz="1200" i="1" dirty="0">
                <a:solidFill>
                  <a:srgbClr val="5A6478"/>
                </a:solidFill>
                <a:latin typeface="맑은 고딕" pitchFamily="34" charset="0"/>
                <a:ea typeface="맑은 고딕" pitchFamily="34" charset="-122"/>
                <a:cs typeface="맑은 고딕" pitchFamily="34" charset="-120"/>
              </a:rPr>
              <a:t>표현 변경</a:t>
            </a:r>
            <a:endParaRPr lang="en-US" sz="1200" dirty="0"/>
          </a:p>
        </p:txBody>
      </p:sp>
      <p:sp>
        <p:nvSpPr>
          <p:cNvPr id="9" name="Shape 7"/>
          <p:cNvSpPr/>
          <p:nvPr/>
        </p:nvSpPr>
        <p:spPr>
          <a:xfrm>
            <a:off x="566928" y="2907792"/>
            <a:ext cx="11064240" cy="1463040"/>
          </a:xfrm>
          <a:prstGeom prst="roundRect">
            <a:avLst>
              <a:gd name="adj" fmla="val 5479"/>
            </a:avLst>
          </a:prstGeom>
          <a:solidFill>
            <a:srgbClr val="EEF1F7"/>
          </a:solidFill>
          <a:ln w="12700">
            <a:solidFill>
              <a:srgbClr val="FFFFFF"/>
            </a:solidFill>
            <a:prstDash val="solid"/>
          </a:ln>
        </p:spPr>
        <p:txBody>
          <a:bodyPr/>
          <a:lstStyle/>
          <a:p>
            <a:endParaRPr/>
          </a:p>
        </p:txBody>
      </p:sp>
      <p:sp>
        <p:nvSpPr>
          <p:cNvPr id="10" name="Shape 8"/>
          <p:cNvSpPr/>
          <p:nvPr/>
        </p:nvSpPr>
        <p:spPr>
          <a:xfrm>
            <a:off x="822960" y="3090672"/>
            <a:ext cx="402336" cy="402336"/>
          </a:xfrm>
          <a:prstGeom prst="ellipse">
            <a:avLst/>
          </a:prstGeom>
          <a:solidFill>
            <a:srgbClr val="2B57A6"/>
          </a:solidFill>
          <a:ln/>
        </p:spPr>
        <p:txBody>
          <a:bodyPr/>
          <a:lstStyle/>
          <a:p>
            <a:endParaRPr/>
          </a:p>
        </p:txBody>
      </p:sp>
      <p:sp>
        <p:nvSpPr>
          <p:cNvPr id="11" name="Text 9"/>
          <p:cNvSpPr txBox="1"/>
          <p:nvPr/>
        </p:nvSpPr>
        <p:spPr>
          <a:xfrm>
            <a:off x="822960" y="3090672"/>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2</a:t>
            </a:r>
            <a:endParaRPr lang="en-US" sz="1500" dirty="0"/>
          </a:p>
        </p:txBody>
      </p:sp>
      <p:sp>
        <p:nvSpPr>
          <p:cNvPr id="12" name="Text 10"/>
          <p:cNvSpPr txBox="1"/>
          <p:nvPr/>
        </p:nvSpPr>
        <p:spPr>
          <a:xfrm>
            <a:off x="1371600" y="3072384"/>
            <a:ext cx="3657600" cy="329184"/>
          </a:xfrm>
          <a:prstGeom prst="rect">
            <a:avLst/>
          </a:prstGeom>
          <a:noFill/>
          <a:ln/>
        </p:spPr>
        <p:txBody>
          <a:bodyPr wrap="square" lIns="0" tIns="0" rIns="0" bIns="0" rtlCol="0" anchor="ctr"/>
          <a:lstStyle/>
          <a:p>
            <a:pPr marL="0" indent="0">
              <a:buNone/>
            </a:pPr>
            <a:r>
              <a:rPr lang="en-US" sz="1600" b="1" dirty="0">
                <a:solidFill>
                  <a:srgbClr val="2B57A6"/>
                </a:solidFill>
                <a:latin typeface="맑은 고딕" pitchFamily="34" charset="0"/>
                <a:ea typeface="맑은 고딕" pitchFamily="34" charset="-122"/>
                <a:cs typeface="맑은 고딕" pitchFamily="34" charset="-120"/>
              </a:rPr>
              <a:t>안테나 → 동체</a:t>
            </a:r>
            <a:endParaRPr lang="en-US" sz="1600" dirty="0"/>
          </a:p>
        </p:txBody>
      </p:sp>
      <p:sp>
        <p:nvSpPr>
          <p:cNvPr id="13" name="Text 11"/>
          <p:cNvSpPr txBox="1"/>
          <p:nvPr/>
        </p:nvSpPr>
        <p:spPr>
          <a:xfrm>
            <a:off x="1371600" y="3438144"/>
            <a:ext cx="3657600" cy="292608"/>
          </a:xfrm>
          <a:prstGeom prst="rect">
            <a:avLst/>
          </a:prstGeom>
          <a:noFill/>
          <a:ln/>
        </p:spPr>
        <p:txBody>
          <a:bodyPr wrap="square" lIns="0" tIns="0" rIns="0" bIns="0" rtlCol="0" anchor="ctr"/>
          <a:lstStyle/>
          <a:p>
            <a:pPr marL="0" indent="0">
              <a:buNone/>
            </a:pPr>
            <a:r>
              <a:rPr lang="en-US" sz="1200" i="1" dirty="0">
                <a:solidFill>
                  <a:srgbClr val="5A6478"/>
                </a:solidFill>
                <a:latin typeface="맑은 고딕" pitchFamily="34" charset="0"/>
                <a:ea typeface="맑은 고딕" pitchFamily="34" charset="-122"/>
                <a:cs typeface="맑은 고딕" pitchFamily="34" charset="-120"/>
              </a:rPr>
              <a:t>회전 + 평행이동</a:t>
            </a:r>
            <a:endParaRPr lang="en-US" sz="1200" dirty="0"/>
          </a:p>
        </p:txBody>
      </p:sp>
      <p:sp>
        <p:nvSpPr>
          <p:cNvPr id="15" name="Shape 13"/>
          <p:cNvSpPr/>
          <p:nvPr/>
        </p:nvSpPr>
        <p:spPr>
          <a:xfrm>
            <a:off x="566928" y="4443984"/>
            <a:ext cx="11064240" cy="1463040"/>
          </a:xfrm>
          <a:prstGeom prst="roundRect">
            <a:avLst>
              <a:gd name="adj" fmla="val 5479"/>
            </a:avLst>
          </a:prstGeom>
          <a:solidFill>
            <a:srgbClr val="EEF1F7"/>
          </a:solidFill>
          <a:ln w="12700">
            <a:solidFill>
              <a:srgbClr val="FFFFFF"/>
            </a:solidFill>
            <a:prstDash val="solid"/>
          </a:ln>
        </p:spPr>
        <p:txBody>
          <a:bodyPr/>
          <a:lstStyle/>
          <a:p>
            <a:endParaRPr/>
          </a:p>
        </p:txBody>
      </p:sp>
      <p:sp>
        <p:nvSpPr>
          <p:cNvPr id="16" name="Shape 14"/>
          <p:cNvSpPr/>
          <p:nvPr/>
        </p:nvSpPr>
        <p:spPr>
          <a:xfrm>
            <a:off x="822960" y="4626864"/>
            <a:ext cx="402336" cy="402336"/>
          </a:xfrm>
          <a:prstGeom prst="ellipse">
            <a:avLst/>
          </a:prstGeom>
          <a:solidFill>
            <a:srgbClr val="2B57A6"/>
          </a:solidFill>
          <a:ln/>
        </p:spPr>
        <p:txBody>
          <a:bodyPr/>
          <a:lstStyle/>
          <a:p>
            <a:endParaRPr/>
          </a:p>
        </p:txBody>
      </p:sp>
      <p:sp>
        <p:nvSpPr>
          <p:cNvPr id="17" name="Text 15"/>
          <p:cNvSpPr txBox="1"/>
          <p:nvPr/>
        </p:nvSpPr>
        <p:spPr>
          <a:xfrm>
            <a:off x="822960" y="4626864"/>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3</a:t>
            </a:r>
            <a:endParaRPr lang="en-US" sz="1500" dirty="0"/>
          </a:p>
        </p:txBody>
      </p:sp>
      <p:sp>
        <p:nvSpPr>
          <p:cNvPr id="18" name="Text 16"/>
          <p:cNvSpPr txBox="1"/>
          <p:nvPr/>
        </p:nvSpPr>
        <p:spPr>
          <a:xfrm>
            <a:off x="1371600" y="4608576"/>
            <a:ext cx="3657600" cy="329184"/>
          </a:xfrm>
          <a:prstGeom prst="rect">
            <a:avLst/>
          </a:prstGeom>
          <a:noFill/>
          <a:ln/>
        </p:spPr>
        <p:txBody>
          <a:bodyPr wrap="square" lIns="0" tIns="0" rIns="0" bIns="0" rtlCol="0" anchor="ctr"/>
          <a:lstStyle/>
          <a:p>
            <a:pPr marL="0" indent="0">
              <a:buNone/>
            </a:pPr>
            <a:r>
              <a:rPr lang="en-US" sz="1600" b="1" dirty="0">
                <a:solidFill>
                  <a:srgbClr val="2B57A6"/>
                </a:solidFill>
                <a:latin typeface="맑은 고딕" pitchFamily="34" charset="0"/>
                <a:ea typeface="맑은 고딕" pitchFamily="34" charset="-122"/>
                <a:cs typeface="맑은 고딕" pitchFamily="34" charset="-120"/>
              </a:rPr>
              <a:t>동체 → 로컬 (NED)</a:t>
            </a:r>
            <a:endParaRPr lang="en-US" sz="1600" dirty="0"/>
          </a:p>
        </p:txBody>
      </p:sp>
      <p:sp>
        <p:nvSpPr>
          <p:cNvPr id="19" name="Text 17"/>
          <p:cNvSpPr txBox="1"/>
          <p:nvPr/>
        </p:nvSpPr>
        <p:spPr>
          <a:xfrm>
            <a:off x="1371600" y="4974336"/>
            <a:ext cx="3657600" cy="292608"/>
          </a:xfrm>
          <a:prstGeom prst="rect">
            <a:avLst/>
          </a:prstGeom>
          <a:noFill/>
          <a:ln/>
        </p:spPr>
        <p:txBody>
          <a:bodyPr wrap="square" lIns="0" tIns="0" rIns="0" bIns="0" rtlCol="0" anchor="ctr"/>
          <a:lstStyle/>
          <a:p>
            <a:pPr marL="0" indent="0">
              <a:buNone/>
            </a:pPr>
            <a:r>
              <a:rPr lang="en-US" sz="1200" i="1" dirty="0">
                <a:solidFill>
                  <a:srgbClr val="5A6478"/>
                </a:solidFill>
                <a:latin typeface="맑은 고딕" pitchFamily="34" charset="0"/>
                <a:ea typeface="맑은 고딕" pitchFamily="34" charset="-122"/>
                <a:cs typeface="맑은 고딕" pitchFamily="34" charset="-120"/>
              </a:rPr>
              <a:t>회전만</a:t>
            </a:r>
            <a:endParaRPr lang="en-US" sz="1200" dirty="0"/>
          </a:p>
        </p:txBody>
      </p:sp>
      <p:sp>
        <p:nvSpPr>
          <p:cNvPr id="21" name="Shape 19"/>
          <p:cNvSpPr/>
          <p:nvPr/>
        </p:nvSpPr>
        <p:spPr>
          <a:xfrm>
            <a:off x="566928" y="5961888"/>
            <a:ext cx="11064240" cy="329184"/>
          </a:xfrm>
          <a:prstGeom prst="roundRect">
            <a:avLst>
              <a:gd name="adj" fmla="val 16000"/>
            </a:avLst>
          </a:prstGeom>
          <a:solidFill>
            <a:srgbClr val="FBEADF"/>
          </a:solidFill>
          <a:ln w="12700">
            <a:solidFill>
              <a:srgbClr val="FFFFFF"/>
            </a:solidFill>
            <a:prstDash val="solid"/>
          </a:ln>
        </p:spPr>
        <p:txBody>
          <a:bodyPr/>
          <a:lstStyle/>
          <a:p>
            <a:endParaRPr/>
          </a:p>
        </p:txBody>
      </p:sp>
      <p:sp>
        <p:nvSpPr>
          <p:cNvPr id="22" name="Text 20"/>
          <p:cNvSpPr txBox="1"/>
          <p:nvPr/>
        </p:nvSpPr>
        <p:spPr>
          <a:xfrm>
            <a:off x="566928" y="5961888"/>
            <a:ext cx="11064240" cy="329184"/>
          </a:xfrm>
          <a:prstGeom prst="rect">
            <a:avLst/>
          </a:prstGeom>
          <a:noFill/>
          <a:ln/>
        </p:spPr>
        <p:txBody>
          <a:bodyPr wrap="square" lIns="0" tIns="0" rIns="0" bIns="0" rtlCol="0" anchor="ctr"/>
          <a:lstStyle/>
          <a:p>
            <a:pPr marL="0" indent="0" algn="ctr">
              <a:buNone/>
            </a:pPr>
            <a:r>
              <a:rPr lang="en-US" sz="1250" b="1" dirty="0">
                <a:solidFill>
                  <a:srgbClr val="C2521C"/>
                </a:solidFill>
                <a:latin typeface="맑은 고딕" pitchFamily="34" charset="0"/>
                <a:ea typeface="맑은 고딕" pitchFamily="34" charset="-122"/>
                <a:cs typeface="맑은 고딕" pitchFamily="34" charset="-120"/>
              </a:rPr>
              <a:t>여기가 데이터 처리 구간 — 추적 · 필터링은 이 로컬 좌표계에서 합니다</a:t>
            </a:r>
            <a:endParaRPr lang="en-US" sz="1350" dirty="0"/>
          </a:p>
        </p:txBody>
      </p:sp>
      <p:sp>
        <p:nvSpPr>
          <p:cNvPr id="24" name="Rectangle 23"/>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endParaRPr/>
          </a:p>
        </p:txBody>
      </p:sp>
      <p:sp>
        <p:nvSpPr>
          <p:cNvPr id="25" name="TextBox 24"/>
          <p:cNvSpPr txBox="1"/>
          <p:nvPr/>
        </p:nvSpPr>
        <p:spPr>
          <a:xfrm>
            <a:off x="640080" y="411480"/>
            <a:ext cx="8732520" cy="777240"/>
          </a:xfrm>
          <a:prstGeom prst="rect">
            <a:avLst/>
          </a:prstGeom>
          <a:noFill/>
        </p:spPr>
        <p:txBody>
          <a:bodyPr wrap="square" lIns="0" tIns="0" rIns="0" bIns="0" anchor="ctr">
            <a:spAutoFit/>
          </a:bodyPr>
          <a:lstStyle/>
          <a:p>
            <a:pPr algn="l">
              <a:spcAft>
                <a:spcPts val="300"/>
              </a:spcAft>
            </a:pPr>
            <a:r>
              <a:rPr sz="2000" b="1">
                <a:solidFill>
                  <a:srgbClr val="FFFFFF"/>
                </a:solidFill>
                <a:latin typeface="맑은 고딕"/>
              </a:rPr>
              <a:t>02. 단계별 변환  ①~③  안테나 → 동체 → 로컬</a:t>
            </a:r>
          </a:p>
        </p:txBody>
      </p:sp>
      <p:cxnSp>
        <p:nvCxnSpPr>
          <p:cNvPr id="27" name="Connector 26"/>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0" y="6400800"/>
            <a:ext cx="914400" cy="274320"/>
          </a:xfrm>
          <a:prstGeom prst="rect">
            <a:avLst/>
          </a:prstGeom>
          <a:noFill/>
        </p:spPr>
        <p:txBody>
          <a:bodyPr wrap="none" lIns="0" tIns="0" rIns="0" bIns="0">
            <a:spAutoFit/>
          </a:bodyPr>
          <a:lstStyle/>
          <a:p>
            <a:pPr algn="ctr"/>
            <a:fld id="{1D0B0B0B-0000-4000-8000-00000000C0DE}" type="slidenum">
              <a:rPr lang="ko-KR" altLang="en-US" sz="1000" b="0" dirty="0">
                <a:solidFill>
                  <a:srgbClr val="1A2233"/>
                </a:solidFill>
                <a:latin typeface="Arial"/>
                <a:ea typeface="Arial"/>
              </a:rPr>
              <a:t>18</a:t>
            </a:fld>
            <a:endParaRPr lang="ko-KR" altLang="en-US" sz="1000" b="0" dirty="0">
              <a:solidFill>
                <a:srgbClr val="1A2233"/>
              </a:solidFill>
              <a:latin typeface="Arial"/>
              <a:ea typeface="Arial"/>
            </a:endParaRPr>
          </a:p>
        </p:txBody>
      </p:sp>
      <p:sp>
        <p:nvSpPr>
          <p:cNvPr id="30" name="Step 1"/>
          <p:cNvSpPr txBox="1"/>
          <p:nvPr/>
        </p:nvSpPr>
        <p:spPr>
          <a:xfrm>
            <a:off x="5029200" y="1499616"/>
            <a:ext cx="6400800" cy="1188720"/>
          </a:xfrm>
          <a:prstGeom prst="rect">
            <a:avLst/>
          </a:prstGeom>
          <a:noFill/>
          <a:ln/>
        </p:spPr>
        <p:txBody>
          <a:bodyPr wrap="square" lIns="0" tIns="0" rIns="0" bIns="0" rtlCol="0" anchor="t"/>
          <a:lstStyle/>
          <a:p>
            <a:pPr marL="0" indent="0">
              <a:lnSpc>
                <a:spcPts val="1800"/>
              </a:lnSpc>
              <a:buNone/>
            </a:pPr>
            <a:r>
              <a:rPr lang="ko-KR" sz="1100" b="0" dirty="0">
                <a:solidFill>
                  <a:srgbClr val="1A2233"/>
                </a:solidFill>
                <a:latin typeface="맑은 고딕" pitchFamily="34" charset="0"/>
                <a:ea typeface="맑은 고딕" pitchFamily="34" charset="-122"/>
                <a:cs typeface="맑은 고딕" pitchFamily="34" charset="-120"/>
              </a:rPr>
              <a:t>x = R cos El sin Az = 20,000 × cos 0° × sin 30° = +10,000.00 m</a:t>
            </a:r>
          </a:p>
          <a:p>
            <a:pPr marL="0" indent="0">
              <a:lnSpc>
                <a:spcPts val="1800"/>
              </a:lnSpc>
              <a:buNone/>
            </a:pPr>
            <a:r>
              <a:rPr lang="ko-KR" sz="1100" b="0" dirty="0">
                <a:solidFill>
                  <a:srgbClr val="1A2233"/>
                </a:solidFill>
                <a:latin typeface="맑은 고딕" pitchFamily="34" charset="0"/>
                <a:ea typeface="맑은 고딕" pitchFamily="34" charset="-122"/>
                <a:cs typeface="맑은 고딕" pitchFamily="34" charset="-120"/>
              </a:rPr>
              <a:t>y = R sin El = 20,000 × sin 0° = 0.00 m</a:t>
            </a:r>
          </a:p>
          <a:p>
            <a:pPr marL="0" indent="0">
              <a:lnSpc>
                <a:spcPts val="1800"/>
              </a:lnSpc>
              <a:buNone/>
            </a:pPr>
            <a:r>
              <a:rPr lang="ko-KR" sz="1100" b="0" dirty="0">
                <a:solidFill>
                  <a:srgbClr val="1A2233"/>
                </a:solidFill>
                <a:latin typeface="맑은 고딕" pitchFamily="34" charset="0"/>
                <a:ea typeface="맑은 고딕" pitchFamily="34" charset="-122"/>
                <a:cs typeface="맑은 고딕" pitchFamily="34" charset="-120"/>
              </a:rPr>
              <a:t>z = R cos El cos Az = 20,000 × cos 0° × cos 30° = +17,320.51 m</a:t>
            </a:r>
          </a:p>
          <a:p>
            <a:pPr marL="0" indent="0">
              <a:lnSpc>
                <a:spcPts val="2000"/>
              </a:lnSpc>
              <a:buNone/>
            </a:pPr>
            <a:r>
              <a:rPr lang="ko-KR" sz="1150" b="1" dirty="0">
                <a:solidFill>
                  <a:srgbClr val="C2521C"/>
                </a:solidFill>
                <a:latin typeface="맑은 고딕" pitchFamily="34" charset="0"/>
                <a:ea typeface="맑은 고딕" pitchFamily="34" charset="-122"/>
                <a:cs typeface="맑은 고딕" pitchFamily="34" charset="-120"/>
              </a:rPr>
              <a:t>→  p안테나 = ( +10,000.00,  0.00,  +17,320.51 ) m</a:t>
            </a:r>
          </a:p>
        </p:txBody>
      </p:sp>
      <p:sp>
        <p:nvSpPr>
          <p:cNvPr id="31" name="Step 2a"/>
          <p:cNvSpPr txBox="1"/>
          <p:nvPr/>
        </p:nvSpPr>
        <p:spPr>
          <a:xfrm>
            <a:off x="5029200" y="3017520"/>
            <a:ext cx="6400800" cy="256032"/>
          </a:xfrm>
          <a:prstGeom prst="rect">
            <a:avLst/>
          </a:prstGeom>
          <a:noFill/>
          <a:ln/>
        </p:spPr>
        <p:txBody>
          <a:bodyPr wrap="square" lIns="0" tIns="0" rIns="0" bIns="0" rtlCol="0" anchor="t"/>
          <a:lstStyle/>
          <a:p>
            <a:pPr marL="0" indent="0">
              <a:buNone/>
            </a:pPr>
            <a:r>
              <a:rPr lang="ko-KR" sz="1100" b="0" dirty="0">
                <a:solidFill>
                  <a:srgbClr val="1A2233"/>
                </a:solidFill>
                <a:latin typeface="맑은 고딕" pitchFamily="34" charset="0"/>
                <a:ea typeface="맑은 고딕" pitchFamily="34" charset="-122"/>
                <a:cs typeface="맑은 고딕" pitchFamily="34" charset="-120"/>
              </a:rPr>
              <a:t>p동체 = Rz(90°)·Ry(0°)·A·p안테나 + 레버암      A = Rz(−90°)·Rx(−90°) (축 맞춤)</a:t>
            </a:r>
          </a:p>
        </p:txBody>
      </p:sp>
      <p:pic>
        <p:nvPicPr>
          <p:cNvPr id="32" name="Calc 2" descr="fig29_step2.png"/>
          <p:cNvPicPr>
            <a:picLocks noChangeAspect="1"/>
          </p:cNvPicPr>
          <p:nvPr/>
        </p:nvPicPr>
        <p:blipFill>
          <a:blip r:embed="rId3"/>
          <a:stretch>
            <a:fillRect/>
          </a:stretch>
        </p:blipFill>
        <p:spPr>
          <a:xfrm>
            <a:off x="5029200" y="3328416"/>
            <a:ext cx="5331304" cy="566928"/>
          </a:xfrm>
          <a:prstGeom prst="rect">
            <a:avLst/>
          </a:prstGeom>
        </p:spPr>
      </p:pic>
      <p:sp>
        <p:nvSpPr>
          <p:cNvPr id="33" name="Step 2b"/>
          <p:cNvSpPr txBox="1"/>
          <p:nvPr/>
        </p:nvSpPr>
        <p:spPr>
          <a:xfrm>
            <a:off x="5029200" y="3986784"/>
            <a:ext cx="6400800" cy="256032"/>
          </a:xfrm>
          <a:prstGeom prst="rect">
            <a:avLst/>
          </a:prstGeom>
          <a:noFill/>
          <a:ln/>
        </p:spPr>
        <p:txBody>
          <a:bodyPr wrap="square" lIns="0" tIns="0" rIns="0" bIns="0" rtlCol="0" anchor="t"/>
          <a:lstStyle/>
          <a:p>
            <a:pPr marL="0" indent="0">
              <a:buNone/>
            </a:pPr>
            <a:r>
              <a:rPr lang="ko-KR" sz="1150" b="1" dirty="0">
                <a:solidFill>
                  <a:srgbClr val="C2521C"/>
                </a:solidFill>
                <a:latin typeface="맑은 고딕" pitchFamily="34" charset="0"/>
                <a:ea typeface="맑은 고딕" pitchFamily="34" charset="-122"/>
                <a:cs typeface="맑은 고딕" pitchFamily="34" charset="-120"/>
              </a:rPr>
              <a:t>→  p동체 = ( +9,970.00,  +17,320.51,  −10.00 ) m</a:t>
            </a:r>
          </a:p>
        </p:txBody>
      </p:sp>
      <p:sp>
        <p:nvSpPr>
          <p:cNvPr id="34" name="Step 3a"/>
          <p:cNvSpPr txBox="1"/>
          <p:nvPr/>
        </p:nvSpPr>
        <p:spPr>
          <a:xfrm>
            <a:off x="5029200" y="4535424"/>
            <a:ext cx="6400800" cy="256032"/>
          </a:xfrm>
          <a:prstGeom prst="rect">
            <a:avLst/>
          </a:prstGeom>
          <a:noFill/>
          <a:ln/>
        </p:spPr>
        <p:txBody>
          <a:bodyPr wrap="square" lIns="0" tIns="0" rIns="0" bIns="0" rtlCol="0" anchor="t"/>
          <a:lstStyle/>
          <a:p>
            <a:pPr marL="0" indent="0">
              <a:buNone/>
            </a:pPr>
            <a:r>
              <a:rPr lang="ko-KR" sz="1100" b="0" dirty="0">
                <a:solidFill>
                  <a:srgbClr val="1A2233"/>
                </a:solidFill>
                <a:latin typeface="맑은 고딕" pitchFamily="34" charset="0"/>
                <a:ea typeface="맑은 고딕" pitchFamily="34" charset="-122"/>
                <a:cs typeface="맑은 고딕" pitchFamily="34" charset="-120"/>
              </a:rPr>
              <a:t>p</a:t>
            </a:r>
            <a:r>
              <a:rPr lang="ko-KR" sz="792" b="0" dirty="0">
                <a:solidFill>
                  <a:srgbClr val="1A2233"/>
                </a:solidFill>
                <a:latin typeface="맑은 고딕" pitchFamily="34" charset="0"/>
                <a:ea typeface="맑은 고딕" pitchFamily="34" charset="-122"/>
                <a:cs typeface="맑은 고딕" pitchFamily="34" charset="-120"/>
              </a:rPr>
              <a:t>NED</a:t>
            </a:r>
            <a:r>
              <a:rPr lang="ko-KR" sz="1100" b="0" dirty="0">
                <a:solidFill>
                  <a:srgbClr val="1A2233"/>
                </a:solidFill>
                <a:latin typeface="맑은 고딕" pitchFamily="34" charset="0"/>
                <a:ea typeface="맑은 고딕" pitchFamily="34" charset="-122"/>
                <a:cs typeface="맑은 고딕" pitchFamily="34" charset="-120"/>
              </a:rPr>
              <a:t> = Rz(45°)·Ry(0°)·Rx(0°)·p</a:t>
            </a:r>
            <a:r>
              <a:rPr lang="ko-KR" sz="792" b="0" dirty="0">
                <a:solidFill>
                  <a:srgbClr val="1A2233"/>
                </a:solidFill>
                <a:latin typeface="맑은 고딕" pitchFamily="34" charset="0"/>
                <a:ea typeface="맑은 고딕" pitchFamily="34" charset="-122"/>
                <a:cs typeface="맑은 고딕" pitchFamily="34" charset="-120"/>
              </a:rPr>
              <a:t>동체</a:t>
            </a:r>
            <a:r>
              <a:rPr lang="ko-KR" sz="1100" b="0" dirty="0">
                <a:solidFill>
                  <a:srgbClr val="1A2233"/>
                </a:solidFill>
                <a:latin typeface="맑은 고딕" pitchFamily="34" charset="0"/>
                <a:ea typeface="맑은 고딕" pitchFamily="34" charset="-122"/>
                <a:cs typeface="맑은 고딕" pitchFamily="34" charset="-120"/>
              </a:rPr>
              <a:t> = Rz(45°)·p</a:t>
            </a:r>
            <a:r>
              <a:rPr lang="ko-KR" sz="792" b="0" dirty="0">
                <a:solidFill>
                  <a:srgbClr val="1A2233"/>
                </a:solidFill>
                <a:latin typeface="맑은 고딕" pitchFamily="34" charset="0"/>
                <a:ea typeface="맑은 고딕" pitchFamily="34" charset="-122"/>
                <a:cs typeface="맑은 고딕" pitchFamily="34" charset="-120"/>
              </a:rPr>
              <a:t>동체</a:t>
            </a:r>
            <a:r>
              <a:rPr lang="ko-KR" sz="1100" b="0" dirty="0">
                <a:solidFill>
                  <a:srgbClr val="1A2233"/>
                </a:solidFill>
                <a:latin typeface="맑은 고딕" pitchFamily="34" charset="0"/>
                <a:ea typeface="맑은 고딕" pitchFamily="34" charset="-122"/>
                <a:cs typeface="맑은 고딕" pitchFamily="34" charset="-120"/>
              </a:rPr>
              <a:t>      (cos 45° = sin 45° = 0.7071)</a:t>
            </a:r>
          </a:p>
        </p:txBody>
      </p:sp>
      <p:pic>
        <p:nvPicPr>
          <p:cNvPr id="35" name="Calc 3" descr="fig30_step3.png"/>
          <p:cNvPicPr>
            <a:picLocks noChangeAspect="1"/>
          </p:cNvPicPr>
          <p:nvPr/>
        </p:nvPicPr>
        <p:blipFill>
          <a:blip r:embed="rId4"/>
          <a:stretch>
            <a:fillRect/>
          </a:stretch>
        </p:blipFill>
        <p:spPr>
          <a:xfrm>
            <a:off x="5029200" y="4828032"/>
            <a:ext cx="3590778" cy="548640"/>
          </a:xfrm>
          <a:prstGeom prst="rect">
            <a:avLst/>
          </a:prstGeom>
        </p:spPr>
      </p:pic>
      <p:sp>
        <p:nvSpPr>
          <p:cNvPr id="36" name="Step 3b"/>
          <p:cNvSpPr txBox="1"/>
          <p:nvPr/>
        </p:nvSpPr>
        <p:spPr>
          <a:xfrm>
            <a:off x="8757138" y="4791456"/>
            <a:ext cx="2672862" cy="658368"/>
          </a:xfrm>
          <a:prstGeom prst="rect">
            <a:avLst/>
          </a:prstGeom>
          <a:noFill/>
          <a:ln/>
        </p:spPr>
        <p:txBody>
          <a:bodyPr wrap="square" lIns="0" tIns="0" rIns="0" bIns="0" rtlCol="0" anchor="t"/>
          <a:lstStyle/>
          <a:p>
            <a:pPr marL="0" indent="0">
              <a:lnSpc>
                <a:spcPts val="1250"/>
              </a:lnSpc>
              <a:buNone/>
            </a:pPr>
            <a:r>
              <a:rPr lang="ko-KR" sz="900" b="0" dirty="0">
                <a:solidFill>
                  <a:srgbClr val="5A6478"/>
                </a:solidFill>
                <a:latin typeface="맑은 고딕" pitchFamily="34" charset="0"/>
                <a:ea typeface="맑은 고딕" pitchFamily="34" charset="-122"/>
                <a:cs typeface="맑은 고딕" pitchFamily="34" charset="-120"/>
              </a:rPr>
              <a:t>N = cos45°·(+9,970.00) − sin45°·17,320.51</a:t>
            </a:r>
          </a:p>
          <a:p>
            <a:pPr marL="0" indent="0">
              <a:lnSpc>
                <a:spcPts val="1250"/>
              </a:lnSpc>
              <a:buNone/>
            </a:pPr>
            <a:r>
              <a:rPr lang="ko-KR" sz="900" b="0" dirty="0">
                <a:solidFill>
                  <a:srgbClr val="5A6478"/>
                </a:solidFill>
                <a:latin typeface="맑은 고딕" pitchFamily="34" charset="0"/>
                <a:ea typeface="맑은 고딕" pitchFamily="34" charset="-122"/>
                <a:cs typeface="맑은 고딕" pitchFamily="34" charset="-120"/>
              </a:rPr>
              <a:t>E = sin45°·(+9,970.00) + cos45°·17,320.51</a:t>
            </a:r>
          </a:p>
          <a:p>
            <a:pPr marL="0" indent="0">
              <a:lnSpc>
                <a:spcPts val="1250"/>
              </a:lnSpc>
              <a:buNone/>
            </a:pPr>
            <a:r>
              <a:rPr lang="ko-KR" sz="900" b="0" dirty="0">
                <a:solidFill>
                  <a:srgbClr val="5A6478"/>
                </a:solidFill>
                <a:latin typeface="맑은 고딕" pitchFamily="34" charset="0"/>
                <a:ea typeface="맑은 고딕" pitchFamily="34" charset="-122"/>
                <a:cs typeface="맑은 고딕" pitchFamily="34" charset="-120"/>
              </a:rPr>
              <a:t>D = −10.00  (z 그대로)</a:t>
            </a:r>
          </a:p>
          <a:p>
            <a:pPr marL="0" indent="0">
              <a:lnSpc>
                <a:spcPts val="1250"/>
              </a:lnSpc>
              <a:buNone/>
            </a:pPr>
            <a:r>
              <a:rPr lang="ko-KR" sz="900" b="0" dirty="0">
                <a:solidFill>
                  <a:srgbClr val="5A6478"/>
                </a:solidFill>
                <a:latin typeface="맑은 고딕" pitchFamily="34" charset="0"/>
                <a:ea typeface="맑은 고딕" pitchFamily="34" charset="-122"/>
                <a:cs typeface="맑은 고딕" pitchFamily="34" charset="-120"/>
              </a:rPr>
              <a:t>방위 = 180° − arctan(E/N) = 105.074°</a:t>
            </a:r>
          </a:p>
        </p:txBody>
      </p:sp>
      <p:sp>
        <p:nvSpPr>
          <p:cNvPr id="37" name="Step 3c"/>
          <p:cNvSpPr txBox="1"/>
          <p:nvPr/>
        </p:nvSpPr>
        <p:spPr>
          <a:xfrm>
            <a:off x="5029200" y="5486400"/>
            <a:ext cx="6400800" cy="274320"/>
          </a:xfrm>
          <a:prstGeom prst="rect">
            <a:avLst/>
          </a:prstGeom>
          <a:noFill/>
          <a:ln/>
        </p:spPr>
        <p:txBody>
          <a:bodyPr wrap="square" lIns="0" tIns="0" rIns="0" bIns="0" rtlCol="0" anchor="t"/>
          <a:lstStyle/>
          <a:p>
            <a:pPr marL="0" indent="0">
              <a:buNone/>
            </a:pPr>
            <a:r>
              <a:rPr lang="ko-KR" sz="1150" b="1" dirty="0">
                <a:solidFill>
                  <a:srgbClr val="C2521C"/>
                </a:solidFill>
                <a:latin typeface="맑은 고딕" pitchFamily="34" charset="0"/>
                <a:ea typeface="맑은 고딕" pitchFamily="34" charset="-122"/>
                <a:cs typeface="맑은 고딕" pitchFamily="34" charset="-120"/>
              </a:rPr>
              <a:t>→  pNED = ( −5,197.59,  +19,297.30,  −10.00 ) m,      방위 105.074°</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7">
    <p:bg>
      <p:bgPr>
        <a:solidFill>
          <a:srgbClr val="E8EDF5"/>
        </a:solidFill>
        <a:effectLst/>
      </p:bgPr>
    </p:bg>
    <p:spTree>
      <p:nvGrpSpPr>
        <p:cNvPr id="1" name=""/>
        <p:cNvGrpSpPr/>
        <p:nvPr/>
      </p:nvGrpSpPr>
      <p:grpSpPr>
        <a:xfrm>
          <a:off x="0" y="0"/>
          <a:ext cx="0" cy="0"/>
          <a:chOff x="0" y="0"/>
          <a:chExt cx="0" cy="0"/>
        </a:xfrm>
      </p:grpSpPr>
      <p:sp>
        <p:nvSpPr>
          <p:cNvPr id="20" name="Rectangle 19"/>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endParaRPr/>
          </a:p>
        </p:txBody>
      </p:sp>
      <p:sp>
        <p:nvSpPr>
          <p:cNvPr id="3" name="Shape 1"/>
          <p:cNvSpPr/>
          <p:nvPr/>
        </p:nvSpPr>
        <p:spPr>
          <a:xfrm>
            <a:off x="566928" y="1371600"/>
            <a:ext cx="11064240" cy="2175387"/>
          </a:xfrm>
          <a:prstGeom prst="roundRect">
            <a:avLst>
              <a:gd name="adj" fmla="val 3419"/>
            </a:avLst>
          </a:prstGeom>
          <a:solidFill>
            <a:srgbClr val="EEF1F7"/>
          </a:solidFill>
          <a:ln w="12700">
            <a:solidFill>
              <a:srgbClr val="FFFFFF"/>
            </a:solidFill>
            <a:prstDash val="solid"/>
          </a:ln>
        </p:spPr>
        <p:txBody>
          <a:bodyPr/>
          <a:lstStyle/>
          <a:p>
            <a:endParaRPr/>
          </a:p>
        </p:txBody>
      </p:sp>
      <p:sp>
        <p:nvSpPr>
          <p:cNvPr id="4" name="Shape 2"/>
          <p:cNvSpPr/>
          <p:nvPr/>
        </p:nvSpPr>
        <p:spPr>
          <a:xfrm>
            <a:off x="822960" y="1554480"/>
            <a:ext cx="402336" cy="402336"/>
          </a:xfrm>
          <a:prstGeom prst="ellipse">
            <a:avLst/>
          </a:prstGeom>
          <a:solidFill>
            <a:srgbClr val="2B57A6"/>
          </a:solidFill>
          <a:ln/>
        </p:spPr>
        <p:txBody>
          <a:bodyPr/>
          <a:lstStyle/>
          <a:p>
            <a:endParaRPr/>
          </a:p>
        </p:txBody>
      </p:sp>
      <p:sp>
        <p:nvSpPr>
          <p:cNvPr id="5" name="Text 3"/>
          <p:cNvSpPr txBox="1"/>
          <p:nvPr/>
        </p:nvSpPr>
        <p:spPr>
          <a:xfrm>
            <a:off x="822960" y="155448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4</a:t>
            </a:r>
            <a:endParaRPr lang="en-US" sz="1500" dirty="0"/>
          </a:p>
        </p:txBody>
      </p:sp>
      <p:sp>
        <p:nvSpPr>
          <p:cNvPr id="6" name="Text 4"/>
          <p:cNvSpPr txBox="1"/>
          <p:nvPr/>
        </p:nvSpPr>
        <p:spPr>
          <a:xfrm>
            <a:off x="1371600" y="1536192"/>
            <a:ext cx="2103120" cy="329184"/>
          </a:xfrm>
          <a:prstGeom prst="rect">
            <a:avLst/>
          </a:prstGeom>
          <a:noFill/>
          <a:ln/>
        </p:spPr>
        <p:txBody>
          <a:bodyPr wrap="square" lIns="0" tIns="0" rIns="0" bIns="0" rtlCol="0" anchor="ctr"/>
          <a:lstStyle/>
          <a:p>
            <a:pPr marL="0" indent="0">
              <a:buNone/>
            </a:pPr>
            <a:r>
              <a:rPr lang="en-US" sz="1600" b="1" dirty="0">
                <a:solidFill>
                  <a:srgbClr val="2B57A6"/>
                </a:solidFill>
                <a:latin typeface="맑은 고딕" pitchFamily="34" charset="0"/>
                <a:ea typeface="맑은 고딕" pitchFamily="34" charset="-122"/>
                <a:cs typeface="맑은 고딕" pitchFamily="34" charset="-120"/>
              </a:rPr>
              <a:t>로컬 → ECEF</a:t>
            </a:r>
            <a:endParaRPr lang="en-US" sz="1600" dirty="0"/>
          </a:p>
        </p:txBody>
      </p:sp>
      <p:sp>
        <p:nvSpPr>
          <p:cNvPr id="7" name="Text 5"/>
          <p:cNvSpPr txBox="1"/>
          <p:nvPr/>
        </p:nvSpPr>
        <p:spPr>
          <a:xfrm>
            <a:off x="1371600" y="1883664"/>
            <a:ext cx="2103120" cy="274320"/>
          </a:xfrm>
          <a:prstGeom prst="rect">
            <a:avLst/>
          </a:prstGeom>
          <a:noFill/>
          <a:ln/>
        </p:spPr>
        <p:txBody>
          <a:bodyPr wrap="square" lIns="0" tIns="0" rIns="0" bIns="0" rtlCol="0" anchor="ctr"/>
          <a:lstStyle/>
          <a:p>
            <a:pPr marL="0" indent="0">
              <a:buNone/>
            </a:pPr>
            <a:r>
              <a:rPr lang="en-US" sz="1200" i="1" dirty="0">
                <a:solidFill>
                  <a:srgbClr val="5A6478"/>
                </a:solidFill>
                <a:latin typeface="맑은 고딕" pitchFamily="34" charset="0"/>
                <a:ea typeface="맑은 고딕" pitchFamily="34" charset="-122"/>
                <a:cs typeface="맑은 고딕" pitchFamily="34" charset="-120"/>
              </a:rPr>
              <a:t>회전 + 평행이동</a:t>
            </a:r>
            <a:endParaRPr lang="en-US" sz="1200" dirty="0"/>
          </a:p>
        </p:txBody>
      </p:sp>
      <p:sp>
        <p:nvSpPr>
          <p:cNvPr id="9" name="Shape 7"/>
          <p:cNvSpPr/>
          <p:nvPr/>
        </p:nvSpPr>
        <p:spPr>
          <a:xfrm>
            <a:off x="563727" y="3674117"/>
            <a:ext cx="11064240" cy="1790159"/>
          </a:xfrm>
          <a:prstGeom prst="roundRect">
            <a:avLst>
              <a:gd name="adj" fmla="val 3419"/>
            </a:avLst>
          </a:prstGeom>
          <a:solidFill>
            <a:srgbClr val="EEF1F7"/>
          </a:solidFill>
          <a:ln w="12700">
            <a:solidFill>
              <a:srgbClr val="FFFFFF"/>
            </a:solidFill>
            <a:prstDash val="solid"/>
          </a:ln>
        </p:spPr>
        <p:txBody>
          <a:bodyPr/>
          <a:lstStyle/>
          <a:p>
            <a:endParaRPr/>
          </a:p>
        </p:txBody>
      </p:sp>
      <p:sp>
        <p:nvSpPr>
          <p:cNvPr id="10" name="Shape 8"/>
          <p:cNvSpPr/>
          <p:nvPr/>
        </p:nvSpPr>
        <p:spPr>
          <a:xfrm>
            <a:off x="822960" y="3712463"/>
            <a:ext cx="402336" cy="402336"/>
          </a:xfrm>
          <a:prstGeom prst="ellipse">
            <a:avLst/>
          </a:prstGeom>
          <a:solidFill>
            <a:srgbClr val="2B57A6"/>
          </a:solidFill>
          <a:ln/>
        </p:spPr>
        <p:txBody>
          <a:bodyPr/>
          <a:lstStyle/>
          <a:p>
            <a:endParaRPr/>
          </a:p>
        </p:txBody>
      </p:sp>
      <p:sp>
        <p:nvSpPr>
          <p:cNvPr id="11" name="Text 9"/>
          <p:cNvSpPr txBox="1"/>
          <p:nvPr/>
        </p:nvSpPr>
        <p:spPr>
          <a:xfrm>
            <a:off x="822960" y="3712463"/>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5</a:t>
            </a:r>
            <a:endParaRPr lang="en-US" sz="1500" dirty="0"/>
          </a:p>
        </p:txBody>
      </p:sp>
      <p:sp>
        <p:nvSpPr>
          <p:cNvPr id="12" name="Text 10"/>
          <p:cNvSpPr txBox="1"/>
          <p:nvPr/>
        </p:nvSpPr>
        <p:spPr>
          <a:xfrm>
            <a:off x="1371600" y="3694176"/>
            <a:ext cx="2103120" cy="329184"/>
          </a:xfrm>
          <a:prstGeom prst="rect">
            <a:avLst/>
          </a:prstGeom>
          <a:noFill/>
          <a:ln/>
        </p:spPr>
        <p:txBody>
          <a:bodyPr wrap="square" lIns="0" tIns="0" rIns="0" bIns="0" rtlCol="0" anchor="ctr"/>
          <a:lstStyle/>
          <a:p>
            <a:pPr marL="0" indent="0">
              <a:buNone/>
            </a:pPr>
            <a:r>
              <a:rPr lang="en-US" sz="1600" b="1" dirty="0">
                <a:solidFill>
                  <a:srgbClr val="2B57A6"/>
                </a:solidFill>
                <a:latin typeface="맑은 고딕" pitchFamily="34" charset="0"/>
                <a:ea typeface="맑은 고딕" pitchFamily="34" charset="-122"/>
                <a:cs typeface="맑은 고딕" pitchFamily="34" charset="-120"/>
              </a:rPr>
              <a:t>ECEF → LLA</a:t>
            </a:r>
            <a:endParaRPr lang="en-US" sz="1600" dirty="0"/>
          </a:p>
        </p:txBody>
      </p:sp>
      <p:sp>
        <p:nvSpPr>
          <p:cNvPr id="13" name="Text 11"/>
          <p:cNvSpPr txBox="1"/>
          <p:nvPr/>
        </p:nvSpPr>
        <p:spPr>
          <a:xfrm>
            <a:off x="1371600" y="4041648"/>
            <a:ext cx="2103120" cy="274320"/>
          </a:xfrm>
          <a:prstGeom prst="rect">
            <a:avLst/>
          </a:prstGeom>
          <a:noFill/>
          <a:ln/>
        </p:spPr>
        <p:txBody>
          <a:bodyPr wrap="square" lIns="0" tIns="0" rIns="0" bIns="0" rtlCol="0" anchor="ctr"/>
          <a:lstStyle/>
          <a:p>
            <a:pPr marL="0" indent="0">
              <a:buNone/>
            </a:pPr>
            <a:r>
              <a:rPr lang="en-US" sz="1200" i="1" dirty="0">
                <a:solidFill>
                  <a:srgbClr val="5A6478"/>
                </a:solidFill>
                <a:latin typeface="맑은 고딕" pitchFamily="34" charset="0"/>
                <a:ea typeface="맑은 고딕" pitchFamily="34" charset="-122"/>
                <a:cs typeface="맑은 고딕" pitchFamily="34" charset="-120"/>
              </a:rPr>
              <a:t>λ 는 바로, φ · h 는 대입 반복</a:t>
            </a:r>
            <a:endParaRPr lang="en-US" sz="1200" dirty="0"/>
          </a:p>
        </p:txBody>
      </p:sp>
      <p:sp>
        <p:nvSpPr>
          <p:cNvPr id="15" name="Shape 13"/>
          <p:cNvSpPr/>
          <p:nvPr/>
        </p:nvSpPr>
        <p:spPr>
          <a:xfrm>
            <a:off x="563727" y="5625330"/>
            <a:ext cx="11064240" cy="493776"/>
          </a:xfrm>
          <a:prstGeom prst="roundRect">
            <a:avLst>
              <a:gd name="adj" fmla="val 8000"/>
            </a:avLst>
          </a:prstGeom>
          <a:solidFill>
            <a:srgbClr val="FBEADF"/>
          </a:solidFill>
          <a:ln w="12700">
            <a:solidFill>
              <a:srgbClr val="FFFFFF"/>
            </a:solidFill>
            <a:prstDash val="solid"/>
          </a:ln>
        </p:spPr>
        <p:txBody>
          <a:bodyPr/>
          <a:lstStyle/>
          <a:p>
            <a:endParaRPr/>
          </a:p>
        </p:txBody>
      </p:sp>
      <p:sp>
        <p:nvSpPr>
          <p:cNvPr id="16" name="Text 14"/>
          <p:cNvSpPr txBox="1"/>
          <p:nvPr/>
        </p:nvSpPr>
        <p:spPr>
          <a:xfrm>
            <a:off x="594360" y="5625330"/>
            <a:ext cx="11064240" cy="493776"/>
          </a:xfrm>
          <a:prstGeom prst="rect">
            <a:avLst/>
          </a:prstGeom>
          <a:noFill/>
          <a:ln/>
        </p:spPr>
        <p:txBody>
          <a:bodyPr wrap="square" lIns="0" tIns="0" rIns="0" bIns="0" rtlCol="0" anchor="ctr"/>
          <a:lstStyle/>
          <a:p>
            <a:pPr marL="0" indent="0" algn="ctr">
              <a:buNone/>
            </a:pPr>
            <a:r>
              <a:rPr lang="en-US" sz="2000" b="1" dirty="0">
                <a:solidFill>
                  <a:srgbClr val="C2521C"/>
                </a:solidFill>
                <a:latin typeface="Consolas" pitchFamily="34" charset="0"/>
                <a:ea typeface="Consolas" pitchFamily="34" charset="-122"/>
                <a:cs typeface="Consolas" pitchFamily="34" charset="-120"/>
              </a:rPr>
              <a:t>표적 LLA  =  36.360967176°N   127.522008441°E   고도 41.2824 m</a:t>
            </a:r>
            <a:endParaRPr lang="en-US" sz="2200" dirty="0"/>
          </a:p>
        </p:txBody>
      </p:sp>
      <p:sp>
        <p:nvSpPr>
          <p:cNvPr id="21" name="Rectangle 20"/>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endParaRPr/>
          </a:p>
        </p:txBody>
      </p:sp>
      <p:sp>
        <p:nvSpPr>
          <p:cNvPr id="22" name="TextBox 21"/>
          <p:cNvSpPr txBox="1"/>
          <p:nvPr/>
        </p:nvSpPr>
        <p:spPr>
          <a:xfrm>
            <a:off x="640080" y="411480"/>
            <a:ext cx="8732520" cy="777240"/>
          </a:xfrm>
          <a:prstGeom prst="rect">
            <a:avLst/>
          </a:prstGeom>
          <a:noFill/>
        </p:spPr>
        <p:txBody>
          <a:bodyPr wrap="square" lIns="0" tIns="0" rIns="0" bIns="0" anchor="ctr">
            <a:spAutoFit/>
          </a:bodyPr>
          <a:lstStyle/>
          <a:p>
            <a:pPr algn="l">
              <a:spcAft>
                <a:spcPts val="300"/>
              </a:spcAft>
            </a:pPr>
            <a:r>
              <a:rPr sz="2000" b="1">
                <a:solidFill>
                  <a:srgbClr val="FFFFFF"/>
                </a:solidFill>
                <a:latin typeface="맑은 고딕"/>
              </a:rPr>
              <a:t>02. 단계별 변환  ④~⑤  로컬 → ECEF → 위경도</a:t>
            </a:r>
          </a:p>
        </p:txBody>
      </p:sp>
      <p:cxnSp>
        <p:nvCxnSpPr>
          <p:cNvPr id="24" name="Connector 23"/>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669280" y="6400800"/>
            <a:ext cx="914400" cy="274320"/>
          </a:xfrm>
          <a:prstGeom prst="rect">
            <a:avLst/>
          </a:prstGeom>
          <a:noFill/>
        </p:spPr>
        <p:txBody>
          <a:bodyPr wrap="none" lIns="0" tIns="0" rIns="0" bIns="0">
            <a:spAutoFit/>
          </a:bodyPr>
          <a:lstStyle/>
          <a:p>
            <a:pPr algn="ctr"/>
            <a:fld id="{1D0B0B0B-0000-4000-8000-00000000C0DE}" type="slidenum">
              <a:rPr lang="ko-KR" altLang="en-US" sz="1000" b="0" dirty="0">
                <a:solidFill>
                  <a:srgbClr val="1A2233"/>
                </a:solidFill>
                <a:latin typeface="Arial"/>
                <a:ea typeface="Arial"/>
              </a:rPr>
              <a:t>19</a:t>
            </a:fld>
            <a:endParaRPr lang="ko-KR" altLang="en-US" sz="1000" b="0" dirty="0">
              <a:solidFill>
                <a:srgbClr val="1A2233"/>
              </a:solidFill>
              <a:latin typeface="Arial"/>
              <a:ea typeface="Arial"/>
            </a:endParaRPr>
          </a:p>
        </p:txBody>
      </p:sp>
      <p:sp>
        <p:nvSpPr>
          <p:cNvPr id="27" name="Step 4a"/>
          <p:cNvSpPr txBox="1"/>
          <p:nvPr/>
        </p:nvSpPr>
        <p:spPr>
          <a:xfrm>
            <a:off x="3520440" y="1481328"/>
            <a:ext cx="7909560" cy="960120"/>
          </a:xfrm>
          <a:prstGeom prst="rect">
            <a:avLst/>
          </a:prstGeom>
          <a:noFill/>
          <a:ln/>
        </p:spPr>
        <p:txBody>
          <a:bodyPr wrap="square" lIns="0" tIns="0" rIns="0" bIns="0" rtlCol="0" anchor="t"/>
          <a:lstStyle/>
          <a:p>
            <a:pPr marL="0" indent="0">
              <a:lnSpc>
                <a:spcPts val="1800"/>
              </a:lnSpc>
              <a:buNone/>
            </a:pPr>
            <a:r>
              <a:rPr lang="ko-KR" sz="1100" b="0" dirty="0">
                <a:solidFill>
                  <a:srgbClr val="1A2233"/>
                </a:solidFill>
                <a:latin typeface="맑은 고딕" pitchFamily="34" charset="0"/>
                <a:ea typeface="맑은 고딕" pitchFamily="34" charset="-122"/>
                <a:cs typeface="맑은 고딕" pitchFamily="34" charset="-120"/>
              </a:rPr>
              <a:t>①  R</a:t>
            </a:r>
            <a:r>
              <a:rPr lang="ko-KR" sz="792" b="0" dirty="0">
                <a:solidFill>
                  <a:srgbClr val="1A2233"/>
                </a:solidFill>
                <a:latin typeface="맑은 고딕" pitchFamily="34" charset="0"/>
                <a:ea typeface="맑은 고딕" pitchFamily="34" charset="-122"/>
                <a:cs typeface="맑은 고딕" pitchFamily="34" charset="-120"/>
              </a:rPr>
              <a:t>N</a:t>
            </a:r>
            <a:r>
              <a:rPr lang="ko-KR" sz="1100" b="0" dirty="0">
                <a:solidFill>
                  <a:srgbClr val="1A2233"/>
                </a:solidFill>
                <a:latin typeface="맑은 고딕" pitchFamily="34" charset="0"/>
                <a:ea typeface="맑은 고딕" pitchFamily="34" charset="-122"/>
                <a:cs typeface="맑은 고딕" pitchFamily="34" charset="-120"/>
              </a:rPr>
              <a:t> = a / √(1 − e² sin²φ) = 6,378,137 / √(1 − 0.00669438 × 0.5935²) = 6,385,671.08 m</a:t>
            </a:r>
          </a:p>
          <a:p>
            <a:pPr marL="0" indent="0">
              <a:lnSpc>
                <a:spcPts val="1800"/>
              </a:lnSpc>
              <a:buNone/>
            </a:pPr>
            <a:r>
              <a:rPr lang="ko-KR" sz="1100" b="0" dirty="0">
                <a:solidFill>
                  <a:srgbClr val="1A2233"/>
                </a:solidFill>
                <a:latin typeface="맑은 고딕" pitchFamily="34" charset="0"/>
                <a:ea typeface="맑은 고딕" pitchFamily="34" charset="-122"/>
                <a:cs typeface="맑은 고딕" pitchFamily="34" charset="-120"/>
              </a:rPr>
              <a:t>     P</a:t>
            </a:r>
            <a:r>
              <a:rPr lang="ko-KR" sz="792" b="0" dirty="0">
                <a:solidFill>
                  <a:srgbClr val="1A2233"/>
                </a:solidFill>
                <a:latin typeface="맑은 고딕" pitchFamily="34" charset="0"/>
                <a:ea typeface="맑은 고딕" pitchFamily="34" charset="-122"/>
                <a:cs typeface="맑은 고딕" pitchFamily="34" charset="-120"/>
              </a:rPr>
              <a:t>배</a:t>
            </a:r>
            <a:r>
              <a:rPr lang="ko-KR" sz="1100" b="0" dirty="0">
                <a:solidFill>
                  <a:srgbClr val="1A2233"/>
                </a:solidFill>
                <a:latin typeface="맑은 고딕" pitchFamily="34" charset="0"/>
                <a:ea typeface="맑은 고딕" pitchFamily="34" charset="-122"/>
                <a:cs typeface="맑은 고딕" pitchFamily="34" charset="-120"/>
              </a:rPr>
              <a:t> = ( (R</a:t>
            </a:r>
            <a:r>
              <a:rPr lang="ko-KR" sz="792" b="0" dirty="0">
                <a:solidFill>
                  <a:srgbClr val="1A2233"/>
                </a:solidFill>
                <a:latin typeface="맑은 고딕" pitchFamily="34" charset="0"/>
                <a:ea typeface="맑은 고딕" pitchFamily="34" charset="-122"/>
                <a:cs typeface="맑은 고딕" pitchFamily="34" charset="-120"/>
              </a:rPr>
              <a:t>N</a:t>
            </a:r>
            <a:r>
              <a:rPr lang="ko-KR" sz="1100" b="0" dirty="0">
                <a:solidFill>
                  <a:srgbClr val="1A2233"/>
                </a:solidFill>
                <a:latin typeface="맑은 고딕" pitchFamily="34" charset="0"/>
                <a:ea typeface="맑은 고딕" pitchFamily="34" charset="-122"/>
                <a:cs typeface="맑은 고딕" pitchFamily="34" charset="-120"/>
              </a:rPr>
              <a:t>+h) cosφ cosλ,  (R</a:t>
            </a:r>
            <a:r>
              <a:rPr lang="ko-KR" sz="792" b="0" dirty="0">
                <a:solidFill>
                  <a:srgbClr val="1A2233"/>
                </a:solidFill>
                <a:latin typeface="맑은 고딕" pitchFamily="34" charset="0"/>
                <a:ea typeface="맑은 고딕" pitchFamily="34" charset="-122"/>
                <a:cs typeface="맑은 고딕" pitchFamily="34" charset="-120"/>
              </a:rPr>
              <a:t>N</a:t>
            </a:r>
            <a:r>
              <a:rPr lang="ko-KR" sz="1100" b="0" dirty="0">
                <a:solidFill>
                  <a:srgbClr val="1A2233"/>
                </a:solidFill>
                <a:latin typeface="맑은 고딕" pitchFamily="34" charset="0"/>
                <a:ea typeface="맑은 고딕" pitchFamily="34" charset="-122"/>
                <a:cs typeface="맑은 고딕" pitchFamily="34" charset="-120"/>
              </a:rPr>
              <a:t>+h) cosφ sinλ,  (R</a:t>
            </a:r>
            <a:r>
              <a:rPr lang="ko-KR" sz="792" b="0" dirty="0">
                <a:solidFill>
                  <a:srgbClr val="1A2233"/>
                </a:solidFill>
                <a:latin typeface="맑은 고딕" pitchFamily="34" charset="0"/>
                <a:ea typeface="맑은 고딕" pitchFamily="34" charset="-122"/>
                <a:cs typeface="맑은 고딕" pitchFamily="34" charset="-120"/>
              </a:rPr>
              <a:t>N</a:t>
            </a:r>
            <a:r>
              <a:rPr lang="ko-KR" sz="1100" b="0" dirty="0">
                <a:solidFill>
                  <a:srgbClr val="1A2233"/>
                </a:solidFill>
                <a:latin typeface="맑은 고딕" pitchFamily="34" charset="0"/>
                <a:ea typeface="맑은 고딕" pitchFamily="34" charset="-122"/>
                <a:cs typeface="맑은 고딕" pitchFamily="34" charset="-120"/>
              </a:rPr>
              <a:t>(1−e²)+h) sinφ )       φ 위도 · λ 경도 · h 타원체고</a:t>
            </a:r>
          </a:p>
          <a:p>
            <a:pPr marL="0" indent="0">
              <a:lnSpc>
                <a:spcPts val="1800"/>
              </a:lnSpc>
              <a:buNone/>
            </a:pPr>
            <a:r>
              <a:rPr lang="ko-KR" sz="1100" b="0" dirty="0">
                <a:solidFill>
                  <a:srgbClr val="1A2233"/>
                </a:solidFill>
                <a:latin typeface="맑은 고딕" pitchFamily="34" charset="0"/>
                <a:ea typeface="맑은 고딕" pitchFamily="34" charset="-122"/>
                <a:cs typeface="맑은 고딕" pitchFamily="34" charset="-120"/>
              </a:rPr>
              <a:t>          = ( −3,114,830.11,  +4,087,762.85,  +3,764,723.10 ) m       배 :  φ 36.408°,  λ 127.307°,  h 0</a:t>
            </a:r>
          </a:p>
          <a:p>
            <a:pPr marL="0" indent="0">
              <a:lnSpc>
                <a:spcPts val="1800"/>
              </a:lnSpc>
              <a:buNone/>
            </a:pPr>
            <a:r>
              <a:rPr lang="ko-KR" sz="1100" b="0" dirty="0">
                <a:solidFill>
                  <a:srgbClr val="1A2233"/>
                </a:solidFill>
                <a:latin typeface="맑은 고딕" pitchFamily="34" charset="0"/>
                <a:ea typeface="맑은 고딕" pitchFamily="34" charset="-122"/>
                <a:cs typeface="맑은 고딕" pitchFamily="34" charset="-120"/>
              </a:rPr>
              <a:t>②  C</a:t>
            </a:r>
            <a:r>
              <a:rPr lang="ko-KR" sz="792" b="0" dirty="0">
                <a:solidFill>
                  <a:srgbClr val="1A2233"/>
                </a:solidFill>
                <a:latin typeface="맑은 고딕" pitchFamily="34" charset="0"/>
                <a:ea typeface="맑은 고딕" pitchFamily="34" charset="-122"/>
                <a:cs typeface="맑은 고딕" pitchFamily="34" charset="-120"/>
              </a:rPr>
              <a:t>ecef←ned</a:t>
            </a:r>
            <a:r>
              <a:rPr lang="ko-KR" sz="1100" b="0" dirty="0">
                <a:solidFill>
                  <a:srgbClr val="1A2233"/>
                </a:solidFill>
                <a:latin typeface="맑은 고딕" pitchFamily="34" charset="0"/>
                <a:ea typeface="맑은 고딕" pitchFamily="34" charset="-122"/>
                <a:cs typeface="맑은 고딕" pitchFamily="34" charset="-120"/>
              </a:rPr>
              <a:t> = Rz(λ)·Ry(−90° − φ)      (sinφ = 0.5935, cosφ = 0.8048, sinλ = 0.7954, cosλ = −0.6061)</a:t>
            </a:r>
          </a:p>
        </p:txBody>
      </p:sp>
      <p:pic>
        <p:nvPicPr>
          <p:cNvPr id="28" name="Calc 4" descr="fig31_step4.png"/>
          <p:cNvPicPr>
            <a:picLocks noChangeAspect="1"/>
          </p:cNvPicPr>
          <p:nvPr/>
        </p:nvPicPr>
        <p:blipFill>
          <a:blip r:embed="rId3"/>
          <a:stretch>
            <a:fillRect/>
          </a:stretch>
        </p:blipFill>
        <p:spPr>
          <a:xfrm>
            <a:off x="3520440" y="2468880"/>
            <a:ext cx="6453554" cy="548640"/>
          </a:xfrm>
          <a:prstGeom prst="rect">
            <a:avLst/>
          </a:prstGeom>
        </p:spPr>
      </p:pic>
      <p:sp>
        <p:nvSpPr>
          <p:cNvPr id="29" name="Step 4c"/>
          <p:cNvSpPr txBox="1"/>
          <p:nvPr/>
        </p:nvSpPr>
        <p:spPr>
          <a:xfrm>
            <a:off x="3520440" y="3090672"/>
            <a:ext cx="7909560" cy="274320"/>
          </a:xfrm>
          <a:prstGeom prst="rect">
            <a:avLst/>
          </a:prstGeom>
          <a:noFill/>
          <a:ln/>
        </p:spPr>
        <p:txBody>
          <a:bodyPr wrap="square" lIns="0" tIns="0" rIns="0" bIns="0" rtlCol="0" anchor="t"/>
          <a:lstStyle/>
          <a:p>
            <a:pPr marL="0" indent="0">
              <a:buNone/>
            </a:pPr>
            <a:r>
              <a:rPr lang="ko-KR" sz="1150" b="1" dirty="0">
                <a:solidFill>
                  <a:srgbClr val="C2521C"/>
                </a:solidFill>
                <a:latin typeface="맑은 고딕" pitchFamily="34" charset="0"/>
                <a:ea typeface="맑은 고딕" pitchFamily="34" charset="-122"/>
                <a:cs typeface="맑은 고딕" pitchFamily="34" charset="-120"/>
              </a:rPr>
              <a:t>③  P표적 = P배 + C · pNED = ( −3,132,053.79,  +4,078,527.19,  +3,760,545.95 ) m</a:t>
            </a:r>
          </a:p>
        </p:txBody>
      </p:sp>
      <p:sp>
        <p:nvSpPr>
          <p:cNvPr id="30" name="Step 5"/>
          <p:cNvSpPr txBox="1"/>
          <p:nvPr/>
        </p:nvSpPr>
        <p:spPr>
          <a:xfrm>
            <a:off x="3517239" y="3783845"/>
            <a:ext cx="7909560" cy="1613225"/>
          </a:xfrm>
          <a:prstGeom prst="rect">
            <a:avLst/>
          </a:prstGeom>
          <a:noFill/>
          <a:ln/>
        </p:spPr>
        <p:txBody>
          <a:bodyPr wrap="square" lIns="0" tIns="0" rIns="0" bIns="0" rtlCol="0" anchor="t"/>
          <a:lstStyle/>
          <a:p>
            <a:pPr marL="0" indent="0">
              <a:lnSpc>
                <a:spcPts val="1800"/>
              </a:lnSpc>
              <a:buNone/>
            </a:pPr>
            <a:r>
              <a:rPr lang="ko-KR" sz="1100" b="0" dirty="0">
                <a:solidFill>
                  <a:srgbClr val="1A2233"/>
                </a:solidFill>
                <a:latin typeface="맑은 고딕" pitchFamily="34" charset="0"/>
                <a:ea typeface="맑은 고딕" pitchFamily="34" charset="-122"/>
                <a:cs typeface="맑은 고딕" pitchFamily="34" charset="-120"/>
              </a:rPr>
              <a:t>경도 λ = arctan(Y / X) = arctan( 4,078,527.19 / −3,132,053.79 ) = 127.522008°      (X &lt; 0, Y &gt; 0 → 2사분면)</a:t>
            </a:r>
          </a:p>
          <a:p>
            <a:pPr marL="0" indent="0">
              <a:lnSpc>
                <a:spcPts val="1800"/>
              </a:lnSpc>
              <a:buNone/>
            </a:pPr>
            <a:r>
              <a:rPr lang="ko-KR" sz="1100" b="0" dirty="0">
                <a:solidFill>
                  <a:srgbClr val="1A2233"/>
                </a:solidFill>
                <a:latin typeface="맑은 고딕" pitchFamily="34" charset="0"/>
                <a:ea typeface="맑은 고딕" pitchFamily="34" charset="-122"/>
                <a:cs typeface="맑은 고딕" pitchFamily="34" charset="-120"/>
              </a:rPr>
              <a:t>위도 φ · 고도 h :  p = √(X² + Y²) = 5,142,387.09 m,   φ0 = arctan(Z / p) = 36.177411°,  h0 = 0      (지구를 구로 본 첫 값)</a:t>
            </a:r>
          </a:p>
          <a:p>
            <a:pPr marL="0" indent="0">
              <a:lnSpc>
                <a:spcPts val="1800"/>
              </a:lnSpc>
              <a:buNone/>
            </a:pPr>
            <a:r>
              <a:rPr lang="ko-KR" sz="1100" b="0" dirty="0">
                <a:solidFill>
                  <a:srgbClr val="1A2233"/>
                </a:solidFill>
                <a:latin typeface="맑은 고딕" pitchFamily="34" charset="0"/>
                <a:ea typeface="맑은 고딕" pitchFamily="34" charset="-122"/>
                <a:cs typeface="맑은 고딕" pitchFamily="34" charset="-120"/>
              </a:rPr>
              <a:t>     RN = a / √(1 − e² sin²φ)  →  h = p / cosφ − RN  →  tanφ = Z(RN + h) / ( p (RN(1−e²) + h) )  를 되풀이 :</a:t>
            </a:r>
          </a:p>
          <a:p>
            <a:pPr marL="0" indent="0">
              <a:lnSpc>
                <a:spcPts val="1800"/>
              </a:lnSpc>
              <a:buNone/>
            </a:pPr>
            <a:r>
              <a:rPr lang="ko-KR" sz="1100" b="0" dirty="0">
                <a:solidFill>
                  <a:srgbClr val="1A2233"/>
                </a:solidFill>
                <a:latin typeface="맑은 고딕" pitchFamily="34" charset="0"/>
                <a:ea typeface="맑은 고딕" pitchFamily="34" charset="-122"/>
                <a:cs typeface="맑은 고딕" pitchFamily="34" charset="-120"/>
              </a:rPr>
              <a:t>     φ1 36.361399° → φ2 36.360966° → φ3 36.3609672° → φ4~φ6 36.360967176°      (6 회에서 멈춤)</a:t>
            </a:r>
          </a:p>
          <a:p>
            <a:pPr marL="0" indent="0">
              <a:lnSpc>
                <a:spcPts val="1800"/>
              </a:lnSpc>
              <a:buNone/>
            </a:pPr>
            <a:r>
              <a:rPr lang="ko-KR" sz="1100" b="0" dirty="0">
                <a:solidFill>
                  <a:srgbClr val="1A2233"/>
                </a:solidFill>
                <a:latin typeface="맑은 고딕" pitchFamily="34" charset="0"/>
                <a:ea typeface="맑은 고딕" pitchFamily="34" charset="-122"/>
                <a:cs typeface="맑은 고딕" pitchFamily="34" charset="-120"/>
              </a:rPr>
              <a:t>고도 h = p / cosφ − RN = 6,385,695.57 − 6,385,654.29 = 41.2824 m      (반복 안에서 φ 와 함께 나온다)</a:t>
            </a:r>
          </a:p>
          <a:p>
            <a:pPr marL="0" indent="0">
              <a:lnSpc>
                <a:spcPts val="2000"/>
              </a:lnSpc>
              <a:buNone/>
            </a:pPr>
            <a:r>
              <a:rPr lang="ko-KR" sz="1150" b="1" dirty="0">
                <a:solidFill>
                  <a:srgbClr val="C2521C"/>
                </a:solidFill>
                <a:latin typeface="맑은 고딕" pitchFamily="34" charset="0"/>
                <a:ea typeface="맑은 고딕" pitchFamily="34" charset="-122"/>
                <a:cs typeface="맑은 고딕" pitchFamily="34" charset="-120"/>
              </a:rPr>
              <a:t>→  표적 LLA = ( 36.360967176°N,  127.522008441°E,  41.2824 m )</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8">
    <p:bg>
      <p:bgPr>
        <a:solidFill>
          <a:srgbClr val="E8EDF5"/>
        </a:solidFill>
        <a:effectLst/>
      </p:bgPr>
    </p:bg>
    <p:spTree>
      <p:nvGrpSpPr>
        <p:cNvPr id="1" name=""/>
        <p:cNvGrpSpPr/>
        <p:nvPr/>
      </p:nvGrpSpPr>
      <p:grpSpPr>
        <a:xfrm>
          <a:off x="0" y="0"/>
          <a:ext cx="0" cy="0"/>
          <a:chOff x="0" y="0"/>
          <a:chExt cx="0" cy="0"/>
        </a:xfrm>
      </p:grpSpPr>
      <p:sp>
        <p:nvSpPr>
          <p:cNvPr id="13" name="Rectangle 12"/>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endParaRPr/>
          </a:p>
        </p:txBody>
      </p:sp>
      <p:sp>
        <p:nvSpPr>
          <p:cNvPr id="4" name="Shape 2"/>
          <p:cNvSpPr/>
          <p:nvPr/>
        </p:nvSpPr>
        <p:spPr>
          <a:xfrm>
            <a:off x="566928" y="1371600"/>
            <a:ext cx="11064240" cy="1042416"/>
          </a:xfrm>
          <a:prstGeom prst="roundRect">
            <a:avLst>
              <a:gd name="adj" fmla="val 7018"/>
            </a:avLst>
          </a:prstGeom>
          <a:solidFill>
            <a:srgbClr val="EEF1F7"/>
          </a:solidFill>
          <a:ln w="12700">
            <a:solidFill>
              <a:srgbClr val="FFFFFF"/>
            </a:solidFill>
            <a:prstDash val="solid"/>
          </a:ln>
        </p:spPr>
        <p:txBody>
          <a:bodyPr/>
          <a:lstStyle/>
          <a:p>
            <a:endParaRPr/>
          </a:p>
        </p:txBody>
      </p:sp>
      <p:sp>
        <p:nvSpPr>
          <p:cNvPr id="5" name="Text 3"/>
          <p:cNvSpPr txBox="1"/>
          <p:nvPr/>
        </p:nvSpPr>
        <p:spPr>
          <a:xfrm>
            <a:off x="566928" y="1481328"/>
            <a:ext cx="11064240" cy="365760"/>
          </a:xfrm>
          <a:prstGeom prst="rect">
            <a:avLst/>
          </a:prstGeom>
          <a:noFill/>
          <a:ln/>
        </p:spPr>
        <p:txBody>
          <a:bodyPr wrap="square" lIns="0" tIns="0" rIns="0" bIns="0" rtlCol="0" anchor="ctr"/>
          <a:lstStyle/>
          <a:p>
            <a:pPr marL="0" indent="0" algn="ctr">
              <a:buNone/>
            </a:pPr>
            <a:r>
              <a:rPr lang="en-US" sz="1800" b="1" dirty="0" err="1">
                <a:solidFill>
                  <a:srgbClr val="2B57A6"/>
                </a:solidFill>
                <a:latin typeface="맑은 고딕" pitchFamily="34" charset="0"/>
                <a:ea typeface="맑은 고딕" pitchFamily="34" charset="-122"/>
                <a:cs typeface="맑은 고딕" pitchFamily="34" charset="-120"/>
              </a:rPr>
              <a:t>역변환은</a:t>
            </a:r>
            <a:r>
              <a:rPr lang="en-US" sz="1800" b="1" dirty="0">
                <a:solidFill>
                  <a:srgbClr val="2B57A6"/>
                </a:solidFill>
                <a:latin typeface="맑은 고딕" pitchFamily="34" charset="0"/>
                <a:ea typeface="맑은 고딕" pitchFamily="34" charset="-122"/>
                <a:cs typeface="맑은 고딕" pitchFamily="34" charset="-120"/>
              </a:rPr>
              <a:t> </a:t>
            </a:r>
            <a:r>
              <a:rPr lang="en-US" sz="1800" b="1" dirty="0" err="1" smtClean="0">
                <a:solidFill>
                  <a:srgbClr val="2B57A6"/>
                </a:solidFill>
                <a:latin typeface="맑은 고딕" pitchFamily="34" charset="0"/>
                <a:ea typeface="맑은 고딕" pitchFamily="34" charset="-122"/>
                <a:cs typeface="맑은 고딕" pitchFamily="34" charset="-120"/>
              </a:rPr>
              <a:t>새로</a:t>
            </a:r>
            <a:r>
              <a:rPr lang="ko-KR" altLang="en-US" sz="1800" b="1" dirty="0" smtClean="0">
                <a:solidFill>
                  <a:srgbClr val="2B57A6"/>
                </a:solidFill>
                <a:latin typeface="맑은 고딕" pitchFamily="34" charset="0"/>
                <a:ea typeface="맑은 고딕" pitchFamily="34" charset="-122"/>
                <a:cs typeface="맑은 고딕" pitchFamily="34" charset="-120"/>
              </a:rPr>
              <a:t>울 게</a:t>
            </a:r>
            <a:r>
              <a:rPr lang="en-US" sz="1800" b="1" dirty="0" smtClean="0">
                <a:solidFill>
                  <a:srgbClr val="2B57A6"/>
                </a:solidFill>
                <a:latin typeface="맑은 고딕" pitchFamily="34" charset="0"/>
                <a:ea typeface="맑은 고딕" pitchFamily="34" charset="-122"/>
                <a:cs typeface="맑은 고딕" pitchFamily="34" charset="-120"/>
              </a:rPr>
              <a:t> </a:t>
            </a:r>
            <a:r>
              <a:rPr lang="en-US" sz="1800" b="1" dirty="0">
                <a:solidFill>
                  <a:srgbClr val="2B57A6"/>
                </a:solidFill>
                <a:latin typeface="맑은 고딕" pitchFamily="34" charset="0"/>
                <a:ea typeface="맑은 고딕" pitchFamily="34" charset="-122"/>
                <a:cs typeface="맑은 고딕" pitchFamily="34" charset="-120"/>
              </a:rPr>
              <a:t>없습니다</a:t>
            </a:r>
            <a:endParaRPr lang="en-US" sz="1800" dirty="0"/>
          </a:p>
        </p:txBody>
      </p:sp>
      <p:sp>
        <p:nvSpPr>
          <p:cNvPr id="6" name="Text 4"/>
          <p:cNvSpPr txBox="1"/>
          <p:nvPr/>
        </p:nvSpPr>
        <p:spPr>
          <a:xfrm>
            <a:off x="566928" y="1883663"/>
            <a:ext cx="11064240" cy="402336"/>
          </a:xfrm>
          <a:prstGeom prst="rect">
            <a:avLst/>
          </a:prstGeom>
          <a:noFill/>
          <a:ln/>
        </p:spPr>
        <p:txBody>
          <a:bodyPr wrap="square" lIns="0" tIns="0" rIns="0" bIns="0" rtlCol="0" anchor="ctr"/>
          <a:lstStyle/>
          <a:p>
            <a:pPr marL="0" indent="0" algn="ctr">
              <a:buNone/>
            </a:pPr>
            <a:r>
              <a:rPr lang="en-US" sz="1600" b="1" dirty="0">
                <a:solidFill>
                  <a:srgbClr val="1A2233"/>
                </a:solidFill>
                <a:latin typeface="맑은 고딕" pitchFamily="34" charset="0"/>
                <a:ea typeface="맑은 고딕" pitchFamily="34" charset="-122"/>
                <a:cs typeface="맑은 고딕" pitchFamily="34" charset="-120"/>
              </a:rPr>
              <a:t>① 회전은 전치 (transpose)      ② 평행이동은 빼기      ③ 곱하는 순서는 거꾸로</a:t>
            </a:r>
            <a:endParaRPr lang="en-US" sz="1600" dirty="0"/>
          </a:p>
        </p:txBody>
      </p:sp>
      <p:sp>
        <p:nvSpPr>
          <p:cNvPr id="7" name="Shape 5"/>
          <p:cNvSpPr/>
          <p:nvPr/>
        </p:nvSpPr>
        <p:spPr>
          <a:xfrm>
            <a:off x="566928" y="2596896"/>
            <a:ext cx="11064240" cy="1773936"/>
          </a:xfrm>
          <a:prstGeom prst="roundRect">
            <a:avLst>
              <a:gd name="adj" fmla="val 4124"/>
            </a:avLst>
          </a:prstGeom>
          <a:solidFill>
            <a:srgbClr val="F4F6FA"/>
          </a:solidFill>
          <a:ln w="12700">
            <a:solidFill>
              <a:srgbClr val="FFFFFF"/>
            </a:solidFill>
            <a:prstDash val="solid"/>
          </a:ln>
        </p:spPr>
        <p:txBody>
          <a:bodyPr/>
          <a:lstStyle/>
          <a:p>
            <a:endParaRPr/>
          </a:p>
        </p:txBody>
      </p:sp>
      <p:sp>
        <p:nvSpPr>
          <p:cNvPr id="8" name="Text 6"/>
          <p:cNvSpPr txBox="1"/>
          <p:nvPr/>
        </p:nvSpPr>
        <p:spPr>
          <a:xfrm>
            <a:off x="731520" y="2706624"/>
            <a:ext cx="10735056" cy="1554480"/>
          </a:xfrm>
          <a:prstGeom prst="rect">
            <a:avLst/>
          </a:prstGeom>
          <a:noFill/>
          <a:ln/>
        </p:spPr>
        <p:txBody>
          <a:bodyPr wrap="square" lIns="0" tIns="0" rIns="0" bIns="0" rtlCol="0" anchor="ctr"/>
          <a:lstStyle/>
          <a:p>
            <a:pPr marL="0" indent="0">
              <a:lnSpc>
                <a:spcPts val="1700"/>
              </a:lnSpc>
              <a:buNone/>
            </a:pPr>
            <a:r>
              <a:rPr lang="en-US" sz="1250" dirty="0">
                <a:solidFill>
                  <a:srgbClr val="1A2233"/>
                </a:solidFill>
                <a:latin typeface="Consolas" pitchFamily="34" charset="0"/>
                <a:ea typeface="Consolas" pitchFamily="34" charset="-122"/>
                <a:cs typeface="Consolas" pitchFamily="34" charset="-120"/>
              </a:rPr>
              <a:t>표적 LLA (36.360967°N, 127.522008°E, 41.2824 m)</a:t>
            </a:r>
            <a:endParaRPr lang="en-US" sz="1250" dirty="0"/>
          </a:p>
          <a:p>
            <a:pPr marL="0" indent="0">
              <a:lnSpc>
                <a:spcPts val="1700"/>
              </a:lnSpc>
              <a:buNone/>
            </a:pPr>
            <a:r>
              <a:rPr lang="en-US" sz="1250" dirty="0">
                <a:solidFill>
                  <a:srgbClr val="1A2233"/>
                </a:solidFill>
                <a:latin typeface="Consolas" pitchFamily="34" charset="0"/>
                <a:ea typeface="Consolas" pitchFamily="34" charset="-122"/>
                <a:cs typeface="Consolas" pitchFamily="34" charset="-120"/>
              </a:rPr>
              <a:t>  → ECEF                                    // 정변환과 같은 공식</a:t>
            </a:r>
            <a:endParaRPr lang="en-US" sz="1250" dirty="0"/>
          </a:p>
          <a:p>
            <a:pPr marL="0" indent="0">
              <a:lnSpc>
                <a:spcPts val="1700"/>
              </a:lnSpc>
              <a:buNone/>
            </a:pPr>
            <a:r>
              <a:rPr lang="en-US" sz="1250" dirty="0">
                <a:solidFill>
                  <a:srgbClr val="1A2233"/>
                </a:solidFill>
                <a:latin typeface="Consolas" pitchFamily="34" charset="0"/>
                <a:ea typeface="Consolas" pitchFamily="34" charset="-122"/>
                <a:cs typeface="Consolas" pitchFamily="34" charset="-120"/>
              </a:rPr>
              <a:t>  → 로컬 NED    C_ecef←ned^T × (표적 − 배)      // 전치 + 빼기</a:t>
            </a:r>
            <a:endParaRPr lang="en-US" sz="1250" dirty="0"/>
          </a:p>
          <a:p>
            <a:pPr marL="0" indent="0">
              <a:lnSpc>
                <a:spcPts val="1700"/>
              </a:lnSpc>
              <a:buNone/>
            </a:pPr>
            <a:r>
              <a:rPr lang="en-US" sz="1250" dirty="0">
                <a:solidFill>
                  <a:srgbClr val="1A2233"/>
                </a:solidFill>
                <a:latin typeface="Consolas" pitchFamily="34" charset="0"/>
                <a:ea typeface="Consolas" pitchFamily="34" charset="-122"/>
                <a:cs typeface="Consolas" pitchFamily="34" charset="-120"/>
              </a:rPr>
              <a:t>  → 동체        C_ned←body^T × p_ned          // 전치</a:t>
            </a:r>
            <a:endParaRPr lang="en-US" sz="1250" dirty="0"/>
          </a:p>
          <a:p>
            <a:pPr marL="0" indent="0">
              <a:lnSpc>
                <a:spcPts val="1700"/>
              </a:lnSpc>
              <a:buNone/>
            </a:pPr>
            <a:r>
              <a:rPr lang="en-US" sz="1250" dirty="0">
                <a:solidFill>
                  <a:srgbClr val="1A2233"/>
                </a:solidFill>
                <a:latin typeface="Consolas" pitchFamily="34" charset="0"/>
                <a:ea typeface="Consolas" pitchFamily="34" charset="-122"/>
                <a:cs typeface="Consolas" pitchFamily="34" charset="-120"/>
              </a:rPr>
              <a:t>  → 안테나      C_body←ant^T × (p_body − 레버암)  // 전치 + 빼기</a:t>
            </a:r>
            <a:endParaRPr lang="en-US" sz="1250" dirty="0"/>
          </a:p>
          <a:p>
            <a:pPr marL="0" indent="0">
              <a:lnSpc>
                <a:spcPts val="1700"/>
              </a:lnSpc>
              <a:buNone/>
            </a:pPr>
            <a:r>
              <a:rPr lang="en-US" sz="1250" dirty="0">
                <a:solidFill>
                  <a:srgbClr val="1A2233"/>
                </a:solidFill>
                <a:latin typeface="Consolas" pitchFamily="34" charset="0"/>
                <a:ea typeface="Consolas" pitchFamily="34" charset="-122"/>
                <a:cs typeface="Consolas" pitchFamily="34" charset="-120"/>
              </a:rPr>
              <a:t>  → 극좌표      R = √(x²+y²+z²),  Az = arctan(x / z),  El = arctan(y / √(x²+z²))</a:t>
            </a:r>
            <a:endParaRPr lang="en-US" sz="1250" dirty="0"/>
          </a:p>
        </p:txBody>
      </p:sp>
      <p:sp>
        <p:nvSpPr>
          <p:cNvPr id="9" name="Shape 7"/>
          <p:cNvSpPr/>
          <p:nvPr/>
        </p:nvSpPr>
        <p:spPr>
          <a:xfrm>
            <a:off x="566928" y="4590288"/>
            <a:ext cx="11064240" cy="786384"/>
          </a:xfrm>
          <a:prstGeom prst="roundRect">
            <a:avLst>
              <a:gd name="adj" fmla="val 9302"/>
            </a:avLst>
          </a:prstGeom>
          <a:solidFill>
            <a:srgbClr val="FBEADF"/>
          </a:solidFill>
          <a:ln w="12700">
            <a:solidFill>
              <a:srgbClr val="FFFFFF"/>
            </a:solidFill>
            <a:prstDash val="solid"/>
          </a:ln>
        </p:spPr>
        <p:txBody>
          <a:bodyPr/>
          <a:lstStyle/>
          <a:p>
            <a:endParaRPr/>
          </a:p>
        </p:txBody>
      </p:sp>
      <p:sp>
        <p:nvSpPr>
          <p:cNvPr id="10" name="Text 8"/>
          <p:cNvSpPr txBox="1"/>
          <p:nvPr/>
        </p:nvSpPr>
        <p:spPr>
          <a:xfrm>
            <a:off x="566928" y="4590288"/>
            <a:ext cx="11064240" cy="786384"/>
          </a:xfrm>
          <a:prstGeom prst="rect">
            <a:avLst/>
          </a:prstGeom>
          <a:noFill/>
          <a:ln/>
        </p:spPr>
        <p:txBody>
          <a:bodyPr wrap="square" lIns="0" tIns="0" rIns="0" bIns="0" rtlCol="0" anchor="ctr"/>
          <a:lstStyle/>
          <a:p>
            <a:pPr marL="0" indent="0" algn="ctr">
              <a:buNone/>
            </a:pPr>
            <a:r>
              <a:rPr lang="en-US" sz="1900" b="1" dirty="0">
                <a:solidFill>
                  <a:srgbClr val="C2521C"/>
                </a:solidFill>
                <a:latin typeface="Consolas" pitchFamily="34" charset="0"/>
                <a:ea typeface="Consolas" pitchFamily="34" charset="-122"/>
                <a:cs typeface="Consolas" pitchFamily="34" charset="-120"/>
              </a:rPr>
              <a:t>결과 :  R = 20,000.000000 m     Az = 30.000000°     El = 0.000000°</a:t>
            </a:r>
            <a:endParaRPr lang="en-US" sz="1900" dirty="0"/>
          </a:p>
        </p:txBody>
      </p:sp>
      <p:sp>
        <p:nvSpPr>
          <p:cNvPr id="11" name="Text 9"/>
          <p:cNvSpPr txBox="1"/>
          <p:nvPr/>
        </p:nvSpPr>
        <p:spPr>
          <a:xfrm>
            <a:off x="566928" y="5504688"/>
            <a:ext cx="11064240" cy="347472"/>
          </a:xfrm>
          <a:prstGeom prst="rect">
            <a:avLst/>
          </a:prstGeom>
          <a:noFill/>
          <a:ln/>
        </p:spPr>
        <p:txBody>
          <a:bodyPr wrap="square" lIns="0" tIns="0" rIns="0" bIns="0" rtlCol="0" anchor="ctr"/>
          <a:lstStyle/>
          <a:p>
            <a:pPr marL="0" indent="0" algn="ctr">
              <a:buNone/>
            </a:pPr>
            <a:r>
              <a:rPr lang="en-US" sz="1400" b="1" dirty="0">
                <a:solidFill>
                  <a:srgbClr val="1A2233"/>
                </a:solidFill>
                <a:latin typeface="맑은 고딕" pitchFamily="34" charset="0"/>
                <a:ea typeface="맑은 고딕" pitchFamily="34" charset="-122"/>
                <a:cs typeface="맑은 고딕" pitchFamily="34" charset="-120"/>
              </a:rPr>
              <a:t>입력값과 정확히 같은 값이 돌아왔습니다.  왕복오차 ΔR = 6.8e−10 m, ΔAz = 6.8e−13° — 컴퓨터 반올림 수준입니다.</a:t>
            </a:r>
            <a:endParaRPr lang="en-US" sz="1400" dirty="0"/>
          </a:p>
        </p:txBody>
      </p:sp>
      <p:sp>
        <p:nvSpPr>
          <p:cNvPr id="12" name="Text 10"/>
          <p:cNvSpPr txBox="1"/>
          <p:nvPr/>
        </p:nvSpPr>
        <p:spPr>
          <a:xfrm>
            <a:off x="566928" y="5870447"/>
            <a:ext cx="11064240" cy="347472"/>
          </a:xfrm>
          <a:prstGeom prst="rect">
            <a:avLst/>
          </a:prstGeom>
          <a:noFill/>
          <a:ln/>
        </p:spPr>
        <p:txBody>
          <a:bodyPr wrap="square" lIns="0" tIns="0" rIns="0" bIns="0" rtlCol="0" anchor="ctr"/>
          <a:lstStyle/>
          <a:p>
            <a:pPr marL="0" indent="0" algn="ctr">
              <a:buNone/>
            </a:pPr>
            <a:r>
              <a:rPr lang="en-US" sz="1250" i="1" dirty="0">
                <a:solidFill>
                  <a:srgbClr val="5A6478"/>
                </a:solidFill>
                <a:latin typeface="맑은 고딕" pitchFamily="34" charset="0"/>
                <a:ea typeface="맑은 고딕" pitchFamily="34" charset="-122"/>
                <a:cs typeface="맑은 고딕" pitchFamily="34" charset="-120"/>
              </a:rPr>
              <a:t>부호 하나, 전치 방향 하나만 틀려도 이 왕복 시험은 즉시 실패합니다 — 그래서 가장 강력한 검증 수단이 됩니다.</a:t>
            </a:r>
            <a:endParaRPr lang="en-US" sz="1250" dirty="0"/>
          </a:p>
        </p:txBody>
      </p:sp>
      <p:sp>
        <p:nvSpPr>
          <p:cNvPr id="14" name="Rectangle 13"/>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endParaRPr/>
          </a:p>
        </p:txBody>
      </p:sp>
      <p:sp>
        <p:nvSpPr>
          <p:cNvPr id="15" name="TextBox 14"/>
          <p:cNvSpPr txBox="1"/>
          <p:nvPr/>
        </p:nvSpPr>
        <p:spPr>
          <a:xfrm>
            <a:off x="640080" y="411480"/>
            <a:ext cx="8732520" cy="777240"/>
          </a:xfrm>
          <a:prstGeom prst="rect">
            <a:avLst/>
          </a:prstGeom>
          <a:noFill/>
        </p:spPr>
        <p:txBody>
          <a:bodyPr wrap="square" lIns="0" tIns="0" rIns="0" bIns="0" anchor="ctr">
            <a:spAutoFit/>
          </a:bodyPr>
          <a:lstStyle/>
          <a:p>
            <a:pPr algn="l">
              <a:spcAft>
                <a:spcPts val="300"/>
              </a:spcAft>
            </a:pPr>
            <a:r>
              <a:rPr sz="1900" b="1">
                <a:solidFill>
                  <a:srgbClr val="FFFFFF"/>
                </a:solidFill>
                <a:latin typeface="맑은 고딕"/>
              </a:rPr>
              <a:t>02. 역변환</a:t>
            </a:r>
          </a:p>
          <a:p>
            <a:pPr algn="l">
              <a:lnSpc>
                <a:spcPts val="1400"/>
              </a:lnSpc>
            </a:pPr>
            <a:r>
              <a:rPr sz="1100" b="0">
                <a:solidFill>
                  <a:srgbClr val="C9D6EC"/>
                </a:solidFill>
                <a:latin typeface="맑은 고딕"/>
              </a:rPr>
              <a:t>조건 ⑥ 은 결과를 두 가지 형태로 요구합니다</a:t>
            </a:r>
          </a:p>
        </p:txBody>
      </p:sp>
      <p:cxnSp>
        <p:nvCxnSpPr>
          <p:cNvPr id="17" name="Connector 16"/>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69280" y="6400800"/>
            <a:ext cx="914400" cy="274320"/>
          </a:xfrm>
          <a:prstGeom prst="rect">
            <a:avLst/>
          </a:prstGeom>
          <a:noFill/>
        </p:spPr>
        <p:txBody>
          <a:bodyPr wrap="none" lIns="0" tIns="0" rIns="0" bIns="0">
            <a:spAutoFit/>
          </a:bodyPr>
          <a:lstStyle/>
          <a:p>
            <a:pPr algn="ctr"/>
            <a:fld id="{1D0B0B0B-0000-4000-8000-00000000C0DE}" type="slidenum">
              <a:rPr lang="ko-KR" altLang="en-US" sz="1000" b="0" dirty="0">
                <a:solidFill>
                  <a:srgbClr val="1A2233"/>
                </a:solidFill>
                <a:latin typeface="Arial"/>
                <a:ea typeface="Arial"/>
              </a:rPr>
              <a:t>20</a:t>
            </a:fld>
            <a:endParaRPr lang="ko-KR" altLang="en-US" sz="1000" b="0" dirty="0">
              <a:solidFill>
                <a:srgbClr val="1A2233"/>
              </a:solidFill>
              <a:latin typeface="Arial"/>
              <a:ea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E8EDF5"/>
        </a:solidFill>
        <a:effectLst/>
      </p:bgPr>
    </p:bg>
    <p:spTree>
      <p:nvGrpSpPr>
        <p:cNvPr id="1" name=""/>
        <p:cNvGrpSpPr/>
        <p:nvPr/>
      </p:nvGrpSpPr>
      <p:grpSpPr>
        <a:xfrm>
          <a:off x="0" y="0"/>
          <a:ext cx="0" cy="0"/>
          <a:chOff x="0" y="0"/>
          <a:chExt cx="0" cy="0"/>
        </a:xfrm>
      </p:grpSpPr>
      <p:sp>
        <p:nvSpPr>
          <p:cNvPr id="2" name="Rectangle 1"/>
          <p:cNvSpPr/>
          <p:nvPr/>
        </p:nvSpPr>
        <p:spPr>
          <a:xfrm>
            <a:off x="0" y="0"/>
            <a:ext cx="4480560" cy="685800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endParaRPr/>
          </a:p>
        </p:txBody>
      </p:sp>
      <p:sp>
        <p:nvSpPr>
          <p:cNvPr id="3" name="TextBox 2"/>
          <p:cNvSpPr txBox="1"/>
          <p:nvPr/>
        </p:nvSpPr>
        <p:spPr>
          <a:xfrm>
            <a:off x="1143000" y="502920"/>
            <a:ext cx="2011680" cy="548640"/>
          </a:xfrm>
          <a:prstGeom prst="rect">
            <a:avLst/>
          </a:prstGeom>
          <a:noFill/>
        </p:spPr>
        <p:txBody>
          <a:bodyPr wrap="none" lIns="0" tIns="0" rIns="0" bIns="0" anchor="ctr">
            <a:spAutoFit/>
          </a:bodyPr>
          <a:lstStyle/>
          <a:p>
            <a:pPr marL="0" indent="0">
              <a:buNone/>
            </a:pPr>
            <a:r>
              <a:rPr lang="ko-KR" sz="3000" b="1">
                <a:solidFill>
                  <a:srgbClr val="FFFFFF"/>
                </a:solidFill>
                <a:latin typeface="Arial"/>
                <a:ea typeface="Arial"/>
                <a:cs typeface="Arial"/>
              </a:rPr>
              <a:t>03</a:t>
            </a:r>
          </a:p>
        </p:txBody>
      </p:sp>
      <p:cxnSp>
        <p:nvCxnSpPr>
          <p:cNvPr id="4" name="Connector 3"/>
          <p:cNvCxnSpPr/>
          <p:nvPr/>
        </p:nvCxnSpPr>
        <p:spPr>
          <a:xfrm>
            <a:off x="2423160" y="786384"/>
            <a:ext cx="8549640"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11480" y="2788920"/>
            <a:ext cx="3657600" cy="1280160"/>
          </a:xfrm>
          <a:prstGeom prst="rect">
            <a:avLst/>
          </a:prstGeom>
          <a:noFill/>
        </p:spPr>
        <p:txBody>
          <a:bodyPr wrap="square" lIns="0" tIns="0" rIns="0" bIns="0" anchor="ctr">
            <a:spAutoFit/>
          </a:bodyPr>
          <a:lstStyle/>
          <a:p>
            <a:pPr marL="0" indent="0" algn="ctr">
              <a:buNone/>
            </a:pPr>
            <a:r>
              <a:rPr lang="ko-KR" sz="3000" b="1">
                <a:solidFill>
                  <a:srgbClr val="FFFFFF"/>
                </a:solidFill>
                <a:latin typeface="맑은 고딕"/>
                <a:ea typeface="맑은 고딕"/>
                <a:cs typeface="맑은 고딕"/>
              </a:rPr>
              <a:t>C 로 확인</a:t>
            </a:r>
          </a:p>
        </p:txBody>
      </p:sp>
      <p:sp>
        <p:nvSpPr>
          <p:cNvPr id="19" name="TextBox 18"/>
          <p:cNvSpPr txBox="1"/>
          <p:nvPr/>
        </p:nvSpPr>
        <p:spPr>
          <a:xfrm>
            <a:off x="5669280" y="6400800"/>
            <a:ext cx="914400" cy="274320"/>
          </a:xfrm>
          <a:prstGeom prst="rect">
            <a:avLst/>
          </a:prstGeom>
          <a:noFill/>
        </p:spPr>
        <p:txBody>
          <a:bodyPr wrap="none" lIns="0" tIns="0" rIns="0" bIns="0">
            <a:spAutoFit/>
          </a:bodyPr>
          <a:lstStyle/>
          <a:p>
            <a:pPr algn="ctr"/>
            <a:fld id="{1D0B0B0B-0000-4000-8000-00000000C0DE}" type="slidenum">
              <a:rPr lang="ko-KR" altLang="en-US" sz="1000" b="0" dirty="0">
                <a:solidFill>
                  <a:srgbClr val="1A2233"/>
                </a:solidFill>
                <a:latin typeface="Arial"/>
                <a:ea typeface="Arial"/>
              </a:rPr>
              <a:t>21</a:t>
            </a:fld>
            <a:endParaRPr lang="ko-KR" altLang="en-US" sz="1000" b="0" dirty="0">
              <a:solidFill>
                <a:srgbClr val="1A2233"/>
              </a:solidFill>
              <a:latin typeface="Arial"/>
              <a:ea typeface="Arial"/>
            </a:endParaRPr>
          </a:p>
        </p:txBody>
      </p:sp>
      <p:sp>
        <p:nvSpPr>
          <p:cNvPr id="48" name="Text 9"/>
          <p:cNvSpPr txBox="1"/>
          <p:nvPr/>
        </p:nvSpPr>
        <p:spPr>
          <a:xfrm>
            <a:off x="5001768" y="1571588"/>
            <a:ext cx="457200" cy="384048"/>
          </a:xfrm>
          <a:prstGeom prst="rect">
            <a:avLst/>
          </a:prstGeom>
          <a:noFill/>
          <a:ln/>
        </p:spPr>
        <p:txBody>
          <a:bodyPr wrap="square" lIns="0" tIns="0" rIns="0" bIns="0" rtlCol="0" anchor="ctr"/>
          <a:lstStyle/>
          <a:p>
            <a:pPr marL="0" indent="0">
              <a:buNone/>
            </a:pPr>
            <a:r>
              <a:rPr lang="en-US" sz="2100" b="1" dirty="0">
                <a:solidFill>
                  <a:srgbClr val="1A1A1A"/>
                </a:solidFill>
                <a:latin typeface="Arial" pitchFamily="34" charset="0"/>
                <a:cs typeface="Arial" pitchFamily="34" charset="-120"/>
              </a:rPr>
              <a:t>1</a:t>
            </a:r>
            <a:endParaRPr lang="en-US" sz="2100" dirty="0"/>
          </a:p>
        </p:txBody>
      </p:sp>
      <p:sp>
        <p:nvSpPr>
          <p:cNvPr id="49" name="Text 10"/>
          <p:cNvSpPr txBox="1"/>
          <p:nvPr/>
        </p:nvSpPr>
        <p:spPr>
          <a:xfrm>
            <a:off x="5797296" y="1571588"/>
            <a:ext cx="6035040" cy="384048"/>
          </a:xfrm>
          <a:prstGeom prst="rect">
            <a:avLst/>
          </a:prstGeom>
          <a:noFill/>
          <a:ln/>
        </p:spPr>
        <p:txBody>
          <a:bodyPr wrap="square" lIns="0" tIns="0" rIns="0" bIns="0" rtlCol="0" anchor="ctr"/>
          <a:lstStyle/>
          <a:p>
            <a:pPr marL="0" indent="0">
              <a:buNone/>
            </a:pPr>
            <a:r>
              <a:rPr lang="en-US" sz="1350" dirty="0">
                <a:solidFill>
                  <a:srgbClr val="1A1A1A"/>
                </a:solidFill>
                <a:latin typeface="맑은 고딕" pitchFamily="34" charset="0"/>
                <a:ea typeface="맑은 고딕" pitchFamily="34" charset="-122"/>
                <a:cs typeface="맑은 고딕" pitchFamily="34" charset="-120"/>
              </a:rPr>
              <a:t>회전행렬 – 공식과 코드</a:t>
            </a:r>
            <a:endParaRPr lang="en-US" sz="1350" dirty="0"/>
          </a:p>
        </p:txBody>
      </p:sp>
      <p:sp>
        <p:nvSpPr>
          <p:cNvPr id="50" name="Text 11"/>
          <p:cNvSpPr txBox="1"/>
          <p:nvPr/>
        </p:nvSpPr>
        <p:spPr>
          <a:xfrm>
            <a:off x="5001768" y="2266532"/>
            <a:ext cx="457200" cy="384048"/>
          </a:xfrm>
          <a:prstGeom prst="rect">
            <a:avLst/>
          </a:prstGeom>
          <a:noFill/>
          <a:ln/>
        </p:spPr>
        <p:txBody>
          <a:bodyPr wrap="square" lIns="0" tIns="0" rIns="0" bIns="0" rtlCol="0" anchor="ctr"/>
          <a:lstStyle/>
          <a:p>
            <a:pPr marL="0" indent="0">
              <a:buNone/>
            </a:pPr>
            <a:r>
              <a:rPr lang="en-US" sz="2100" b="1" dirty="0" smtClean="0">
                <a:solidFill>
                  <a:srgbClr val="1A1A1A"/>
                </a:solidFill>
                <a:latin typeface="Arial" pitchFamily="34" charset="0"/>
                <a:ea typeface="Arial" pitchFamily="34" charset="-122"/>
                <a:cs typeface="Arial" pitchFamily="34" charset="-120"/>
              </a:rPr>
              <a:t>2</a:t>
            </a:r>
            <a:endParaRPr lang="en-US" sz="2100" dirty="0"/>
          </a:p>
        </p:txBody>
      </p:sp>
      <p:sp>
        <p:nvSpPr>
          <p:cNvPr id="51" name="Text 12"/>
          <p:cNvSpPr txBox="1"/>
          <p:nvPr/>
        </p:nvSpPr>
        <p:spPr>
          <a:xfrm>
            <a:off x="5797296" y="2266532"/>
            <a:ext cx="6035040" cy="384048"/>
          </a:xfrm>
          <a:prstGeom prst="rect">
            <a:avLst/>
          </a:prstGeom>
          <a:noFill/>
          <a:ln/>
        </p:spPr>
        <p:txBody>
          <a:bodyPr wrap="square" lIns="0" tIns="0" rIns="0" bIns="0" rtlCol="0" anchor="ctr"/>
          <a:lstStyle/>
          <a:p>
            <a:pPr marL="0" indent="0">
              <a:buNone/>
            </a:pPr>
            <a:r>
              <a:rPr lang="en-US" sz="1350" dirty="0">
                <a:solidFill>
                  <a:srgbClr val="1A1A1A"/>
                </a:solidFill>
                <a:latin typeface="맑은 고딕" pitchFamily="34" charset="0"/>
                <a:ea typeface="맑은 고딕" pitchFamily="34" charset="-122"/>
                <a:cs typeface="맑은 고딕" pitchFamily="34" charset="-120"/>
              </a:rPr>
              <a:t>안테나 극좌표 → 직교 → 동체</a:t>
            </a:r>
            <a:endParaRPr lang="en-US" sz="1350" dirty="0"/>
          </a:p>
        </p:txBody>
      </p:sp>
      <p:sp>
        <p:nvSpPr>
          <p:cNvPr id="52" name="Text 13"/>
          <p:cNvSpPr txBox="1"/>
          <p:nvPr/>
        </p:nvSpPr>
        <p:spPr>
          <a:xfrm>
            <a:off x="5001768" y="2961476"/>
            <a:ext cx="457200" cy="384048"/>
          </a:xfrm>
          <a:prstGeom prst="rect">
            <a:avLst/>
          </a:prstGeom>
          <a:noFill/>
          <a:ln/>
        </p:spPr>
        <p:txBody>
          <a:bodyPr wrap="square" lIns="0" tIns="0" rIns="0" bIns="0" rtlCol="0" anchor="ctr"/>
          <a:lstStyle/>
          <a:p>
            <a:pPr marL="0" indent="0">
              <a:buNone/>
            </a:pPr>
            <a:r>
              <a:rPr lang="en-US" sz="2100" b="1" dirty="0" smtClean="0">
                <a:solidFill>
                  <a:srgbClr val="1A1A1A"/>
                </a:solidFill>
                <a:latin typeface="Arial" pitchFamily="34" charset="0"/>
                <a:ea typeface="Arial" pitchFamily="34" charset="-122"/>
                <a:cs typeface="Arial" pitchFamily="34" charset="-120"/>
              </a:rPr>
              <a:t>3</a:t>
            </a:r>
            <a:endParaRPr lang="en-US" sz="2100" dirty="0"/>
          </a:p>
        </p:txBody>
      </p:sp>
      <p:sp>
        <p:nvSpPr>
          <p:cNvPr id="53" name="Text 14"/>
          <p:cNvSpPr txBox="1"/>
          <p:nvPr/>
        </p:nvSpPr>
        <p:spPr>
          <a:xfrm>
            <a:off x="5797296" y="2961476"/>
            <a:ext cx="6035040" cy="384048"/>
          </a:xfrm>
          <a:prstGeom prst="rect">
            <a:avLst/>
          </a:prstGeom>
          <a:noFill/>
          <a:ln/>
        </p:spPr>
        <p:txBody>
          <a:bodyPr wrap="square" lIns="0" tIns="0" rIns="0" bIns="0" rtlCol="0" anchor="ctr"/>
          <a:lstStyle/>
          <a:p>
            <a:pPr marL="0" indent="0">
              <a:buNone/>
            </a:pPr>
            <a:r>
              <a:rPr lang="en-US" sz="1350" dirty="0">
                <a:solidFill>
                  <a:srgbClr val="1A1A1A"/>
                </a:solidFill>
                <a:latin typeface="맑은 고딕" pitchFamily="34" charset="0"/>
                <a:ea typeface="맑은 고딕" pitchFamily="34" charset="-122"/>
                <a:cs typeface="맑은 고딕" pitchFamily="34" charset="-120"/>
              </a:rPr>
              <a:t>동체 → NED → ECEF</a:t>
            </a:r>
            <a:endParaRPr lang="en-US" sz="1350" dirty="0"/>
          </a:p>
        </p:txBody>
      </p:sp>
      <p:sp>
        <p:nvSpPr>
          <p:cNvPr id="54" name="Text 15"/>
          <p:cNvSpPr txBox="1"/>
          <p:nvPr/>
        </p:nvSpPr>
        <p:spPr>
          <a:xfrm>
            <a:off x="5001768" y="3656420"/>
            <a:ext cx="457200" cy="384048"/>
          </a:xfrm>
          <a:prstGeom prst="rect">
            <a:avLst/>
          </a:prstGeom>
          <a:noFill/>
          <a:ln/>
        </p:spPr>
        <p:txBody>
          <a:bodyPr wrap="square" lIns="0" tIns="0" rIns="0" bIns="0" rtlCol="0" anchor="ctr"/>
          <a:lstStyle/>
          <a:p>
            <a:pPr marL="0" indent="0">
              <a:buNone/>
            </a:pPr>
            <a:r>
              <a:rPr lang="en-US" sz="2100" b="1" dirty="0" smtClean="0">
                <a:solidFill>
                  <a:srgbClr val="1A1A1A"/>
                </a:solidFill>
                <a:latin typeface="Arial" pitchFamily="34" charset="0"/>
                <a:ea typeface="Arial" pitchFamily="34" charset="-122"/>
                <a:cs typeface="Arial" pitchFamily="34" charset="-120"/>
              </a:rPr>
              <a:t>4</a:t>
            </a:r>
            <a:endParaRPr lang="en-US" sz="2100" dirty="0"/>
          </a:p>
        </p:txBody>
      </p:sp>
      <p:sp>
        <p:nvSpPr>
          <p:cNvPr id="55" name="Text 16"/>
          <p:cNvSpPr txBox="1"/>
          <p:nvPr/>
        </p:nvSpPr>
        <p:spPr>
          <a:xfrm>
            <a:off x="5797296" y="3656420"/>
            <a:ext cx="6035040" cy="384048"/>
          </a:xfrm>
          <a:prstGeom prst="rect">
            <a:avLst/>
          </a:prstGeom>
          <a:noFill/>
          <a:ln/>
        </p:spPr>
        <p:txBody>
          <a:bodyPr wrap="square" lIns="0" tIns="0" rIns="0" bIns="0" rtlCol="0" anchor="ctr"/>
          <a:lstStyle/>
          <a:p>
            <a:pPr marL="0" indent="0">
              <a:buNone/>
            </a:pPr>
            <a:r>
              <a:rPr lang="en-US" sz="1350" dirty="0">
                <a:solidFill>
                  <a:srgbClr val="1A1A1A"/>
                </a:solidFill>
                <a:latin typeface="맑은 고딕" pitchFamily="34" charset="0"/>
                <a:ea typeface="맑은 고딕" pitchFamily="34" charset="-122"/>
                <a:cs typeface="맑은 고딕" pitchFamily="34" charset="-120"/>
              </a:rPr>
              <a:t>ECEF ↔ LLA</a:t>
            </a:r>
            <a:endParaRPr lang="en-US" sz="1350" dirty="0"/>
          </a:p>
        </p:txBody>
      </p:sp>
      <p:sp>
        <p:nvSpPr>
          <p:cNvPr id="56" name="Copy 19"/>
          <p:cNvSpPr txBox="1"/>
          <p:nvPr/>
        </p:nvSpPr>
        <p:spPr>
          <a:xfrm>
            <a:off x="5001768" y="4351364"/>
            <a:ext cx="457200" cy="384048"/>
          </a:xfrm>
          <a:prstGeom prst="rect">
            <a:avLst/>
          </a:prstGeom>
          <a:noFill/>
          <a:ln/>
        </p:spPr>
        <p:txBody>
          <a:bodyPr wrap="square" lIns="0" tIns="0" rIns="0" bIns="0" rtlCol="0" anchor="ctr"/>
          <a:lstStyle/>
          <a:p>
            <a:pPr marL="0" indent="0">
              <a:buNone/>
            </a:pPr>
            <a:r>
              <a:rPr lang="en-US" sz="2100" b="1" dirty="0" smtClean="0">
                <a:solidFill>
                  <a:srgbClr val="1A1A1A"/>
                </a:solidFill>
                <a:latin typeface="Arial" pitchFamily="34" charset="0"/>
                <a:ea typeface="Arial" pitchFamily="34" charset="-122"/>
                <a:cs typeface="Arial" pitchFamily="34" charset="-120"/>
              </a:rPr>
              <a:t>5</a:t>
            </a:r>
            <a:endParaRPr lang="en-US" sz="2100" dirty="0"/>
          </a:p>
        </p:txBody>
      </p:sp>
      <p:sp>
        <p:nvSpPr>
          <p:cNvPr id="57" name="Copy 20"/>
          <p:cNvSpPr txBox="1"/>
          <p:nvPr/>
        </p:nvSpPr>
        <p:spPr>
          <a:xfrm>
            <a:off x="5797296" y="4351364"/>
            <a:ext cx="6035040" cy="384048"/>
          </a:xfrm>
          <a:prstGeom prst="rect">
            <a:avLst/>
          </a:prstGeom>
          <a:noFill/>
          <a:ln/>
        </p:spPr>
        <p:txBody>
          <a:bodyPr wrap="square" lIns="0" tIns="0" rIns="0" bIns="0" rtlCol="0" anchor="ctr"/>
          <a:lstStyle/>
          <a:p>
            <a:pPr marL="0" indent="0">
              <a:buNone/>
            </a:pPr>
            <a:r>
              <a:rPr lang="en-US" sz="1350" dirty="0">
                <a:solidFill>
                  <a:srgbClr val="1A1A1A"/>
                </a:solidFill>
                <a:latin typeface="맑은 고딕" pitchFamily="34" charset="0"/>
                <a:ea typeface="맑은 고딕" pitchFamily="34" charset="-122"/>
                <a:cs typeface="맑은 고딕" pitchFamily="34" charset="-120"/>
              </a:rPr>
              <a:t>역변환</a:t>
            </a:r>
            <a:endParaRPr lang="en-US" sz="1350" dirty="0"/>
          </a:p>
        </p:txBody>
      </p:sp>
      <p:sp>
        <p:nvSpPr>
          <p:cNvPr id="58" name="Copy 21"/>
          <p:cNvSpPr txBox="1"/>
          <p:nvPr/>
        </p:nvSpPr>
        <p:spPr>
          <a:xfrm>
            <a:off x="5001768" y="5046308"/>
            <a:ext cx="457200" cy="384048"/>
          </a:xfrm>
          <a:prstGeom prst="rect">
            <a:avLst/>
          </a:prstGeom>
          <a:noFill/>
          <a:ln/>
        </p:spPr>
        <p:txBody>
          <a:bodyPr wrap="square" lIns="0" tIns="0" rIns="0" bIns="0" rtlCol="0" anchor="ctr"/>
          <a:lstStyle/>
          <a:p>
            <a:pPr marL="0" indent="0">
              <a:buNone/>
            </a:pPr>
            <a:r>
              <a:rPr lang="en-US" sz="2100" b="1" dirty="0" smtClean="0">
                <a:solidFill>
                  <a:srgbClr val="1A1A1A"/>
                </a:solidFill>
                <a:latin typeface="Arial" pitchFamily="34" charset="0"/>
                <a:ea typeface="Arial" pitchFamily="34" charset="-122"/>
                <a:cs typeface="Arial" pitchFamily="34" charset="-120"/>
              </a:rPr>
              <a:t>6</a:t>
            </a:r>
            <a:endParaRPr lang="en-US" sz="2100" dirty="0"/>
          </a:p>
        </p:txBody>
      </p:sp>
      <p:sp>
        <p:nvSpPr>
          <p:cNvPr id="59" name="Copy 22"/>
          <p:cNvSpPr txBox="1"/>
          <p:nvPr/>
        </p:nvSpPr>
        <p:spPr>
          <a:xfrm>
            <a:off x="5797296" y="5046308"/>
            <a:ext cx="6035040" cy="384048"/>
          </a:xfrm>
          <a:prstGeom prst="rect">
            <a:avLst/>
          </a:prstGeom>
          <a:noFill/>
          <a:ln/>
        </p:spPr>
        <p:txBody>
          <a:bodyPr wrap="square" lIns="0" tIns="0" rIns="0" bIns="0" rtlCol="0" anchor="ctr"/>
          <a:lstStyle/>
          <a:p>
            <a:pPr marL="0" indent="0">
              <a:buNone/>
            </a:pPr>
            <a:r>
              <a:rPr lang="en-US" sz="1350" dirty="0">
                <a:solidFill>
                  <a:srgbClr val="1A1A1A"/>
                </a:solidFill>
                <a:latin typeface="맑은 고딕" pitchFamily="34" charset="0"/>
                <a:ea typeface="맑은 고딕" pitchFamily="34" charset="-122"/>
                <a:cs typeface="맑은 고딕" pitchFamily="34" charset="-120"/>
              </a:rPr>
              <a:t>실행 결과와 UI 확인</a:t>
            </a:r>
            <a:endParaRPr lang="en-US" sz="13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457200" y="411480"/>
            <a:ext cx="11274552" cy="777240"/>
          </a:xfrm>
          <a:prstGeom prst="rect">
            <a:avLst/>
          </a:prstGeom>
          <a:solidFill>
            <a:srgbClr val="13233F"/>
          </a:solidFill>
          <a:ln/>
        </p:spPr>
        <p:txBody>
          <a:bodyPr/>
          <a:lstStyle/>
          <a:p>
            <a:endParaRPr/>
          </a:p>
        </p:txBody>
      </p:sp>
      <p:sp>
        <p:nvSpPr>
          <p:cNvPr id="3" name="Text 1"/>
          <p:cNvSpPr txBox="1"/>
          <p:nvPr/>
        </p:nvSpPr>
        <p:spPr>
          <a:xfrm>
            <a:off x="640080" y="411480"/>
            <a:ext cx="8732520" cy="777240"/>
          </a:xfrm>
          <a:prstGeom prst="rect">
            <a:avLst/>
          </a:prstGeom>
          <a:noFill/>
          <a:ln/>
        </p:spPr>
        <p:txBody>
          <a:bodyPr wrap="square" lIns="0" tIns="0" rIns="0" bIns="0" rtlCol="0" anchor="ctr"/>
          <a:lstStyle/>
          <a:p>
            <a:pPr marL="0" indent="0">
              <a:buNone/>
            </a:pPr>
            <a:r>
              <a:rPr lang="en-US" sz="2000" b="1" dirty="0">
                <a:solidFill>
                  <a:srgbClr val="FFFFFF"/>
                </a:solidFill>
                <a:latin typeface="맑은 고딕" pitchFamily="34" charset="0"/>
                <a:ea typeface="맑은 고딕" pitchFamily="34" charset="-122"/>
                <a:cs typeface="맑은 고딕" pitchFamily="34" charset="-120"/>
              </a:rPr>
              <a:t>03. 회전행렬 – 공식과 코드</a:t>
            </a:r>
            <a:endParaRPr lang="en-US" sz="2000" dirty="0"/>
          </a:p>
        </p:txBody>
      </p:sp>
      <p:sp>
        <p:nvSpPr>
          <p:cNvPr id="4" name="Shape 2"/>
          <p:cNvSpPr/>
          <p:nvPr/>
        </p:nvSpPr>
        <p:spPr>
          <a:xfrm>
            <a:off x="457200" y="1188720"/>
            <a:ext cx="11274552" cy="4956048"/>
          </a:xfrm>
          <a:prstGeom prst="rect">
            <a:avLst/>
          </a:prstGeom>
          <a:solidFill>
            <a:srgbClr val="FFFFFF"/>
          </a:solidFill>
          <a:ln/>
        </p:spPr>
        <p:txBody>
          <a:bodyPr/>
          <a:lstStyle/>
          <a:p>
            <a:endParaRPr/>
          </a:p>
        </p:txBody>
      </p:sp>
      <p:sp>
        <p:nvSpPr>
          <p:cNvPr id="5" name="Shape 3"/>
          <p:cNvSpPr/>
          <p:nvPr/>
        </p:nvSpPr>
        <p:spPr>
          <a:xfrm>
            <a:off x="548640" y="6199632"/>
            <a:ext cx="11094415" cy="0"/>
          </a:xfrm>
          <a:prstGeom prst="line">
            <a:avLst/>
          </a:prstGeom>
          <a:noFill/>
          <a:ln w="9525">
            <a:solidFill>
              <a:srgbClr val="BFBFBF"/>
            </a:solidFill>
            <a:prstDash val="solid"/>
          </a:ln>
        </p:spPr>
        <p:txBody>
          <a:bodyPr/>
          <a:lstStyle/>
          <a:p>
            <a:endParaRPr/>
          </a:p>
        </p:txBody>
      </p:sp>
      <p:sp>
        <p:nvSpPr>
          <p:cNvPr id="8" name="Shape 6"/>
          <p:cNvSpPr/>
          <p:nvPr/>
        </p:nvSpPr>
        <p:spPr>
          <a:xfrm>
            <a:off x="786384" y="1335024"/>
            <a:ext cx="50292" cy="274320"/>
          </a:xfrm>
          <a:prstGeom prst="rect">
            <a:avLst/>
          </a:prstGeom>
          <a:solidFill>
            <a:srgbClr val="EEF1F7"/>
          </a:solidFill>
          <a:ln/>
        </p:spPr>
        <p:txBody>
          <a:bodyPr/>
          <a:lstStyle/>
          <a:p>
            <a:endParaRPr/>
          </a:p>
        </p:txBody>
      </p:sp>
      <p:sp>
        <p:nvSpPr>
          <p:cNvPr id="9" name="Text 7"/>
          <p:cNvSpPr txBox="1"/>
          <p:nvPr/>
        </p:nvSpPr>
        <p:spPr>
          <a:xfrm>
            <a:off x="932688" y="1298448"/>
            <a:ext cx="10271455" cy="347472"/>
          </a:xfrm>
          <a:prstGeom prst="rect">
            <a:avLst/>
          </a:prstGeom>
          <a:noFill/>
          <a:ln/>
        </p:spPr>
        <p:txBody>
          <a:bodyPr wrap="square" lIns="0" tIns="0" rIns="0" bIns="0" rtlCol="0" anchor="ctr"/>
          <a:lstStyle/>
          <a:p>
            <a:pPr marL="0" indent="0">
              <a:buNone/>
            </a:pPr>
            <a:r>
              <a:rPr lang="en-US" sz="1450" b="1" dirty="0">
                <a:solidFill>
                  <a:srgbClr val="1A2233"/>
                </a:solidFill>
                <a:latin typeface="맑은 고딕" pitchFamily="34" charset="0"/>
                <a:ea typeface="맑은 고딕" pitchFamily="34" charset="-122"/>
                <a:cs typeface="맑은 고딕" pitchFamily="34" charset="-120"/>
              </a:rPr>
              <a:t>공식의 3×3 을 그대로 배열 칸에 옮겨 담는다. 0 인 칸은 아예 건드리지 않는다.</a:t>
            </a:r>
            <a:endParaRPr lang="en-US" sz="1450" dirty="0"/>
          </a:p>
        </p:txBody>
      </p:sp>
      <p:sp>
        <p:nvSpPr>
          <p:cNvPr id="10" name="TextBox 9"/>
          <p:cNvSpPr txBox="1"/>
          <p:nvPr/>
        </p:nvSpPr>
        <p:spPr>
          <a:xfrm>
            <a:off x="914400" y="1773936"/>
            <a:ext cx="4663440" cy="219456"/>
          </a:xfrm>
          <a:prstGeom prst="rect">
            <a:avLst/>
          </a:prstGeom>
          <a:noFill/>
        </p:spPr>
        <p:txBody>
          <a:bodyPr wrap="square" lIns="0" tIns="0" rIns="0" bIns="0">
            <a:spAutoFit/>
          </a:bodyPr>
          <a:lstStyle/>
          <a:p>
            <a:r>
              <a:rPr sz="1050" b="1">
                <a:solidFill>
                  <a:srgbClr val="1A2233"/>
                </a:solidFill>
                <a:latin typeface="맑은 고딕"/>
              </a:rPr>
              <a:t>공식</a:t>
            </a:r>
          </a:p>
        </p:txBody>
      </p:sp>
      <p:sp>
        <p:nvSpPr>
          <p:cNvPr id="11" name="Rounded Rectangle 10"/>
          <p:cNvSpPr/>
          <p:nvPr/>
        </p:nvSpPr>
        <p:spPr>
          <a:xfrm>
            <a:off x="914400" y="2029968"/>
            <a:ext cx="4663440" cy="1536192"/>
          </a:xfrm>
          <a:prstGeom prst="roundRect">
            <a:avLst>
              <a:gd name="adj" fmla="val 4000"/>
            </a:avLst>
          </a:prstGeom>
          <a:solidFill>
            <a:srgbClr val="EEF1F7"/>
          </a:solidFill>
          <a:ln>
            <a:noFill/>
          </a:ln>
          <a:effectLst/>
        </p:spPr>
        <p:txBody>
          <a:bodyPr rtlCol="0" anchor="ctr"/>
          <a:lstStyle/>
          <a:p>
            <a:pPr algn="ctr"/>
            <a:endParaRPr/>
          </a:p>
        </p:txBody>
      </p:sp>
      <p:pic>
        <p:nvPicPr>
          <p:cNvPr id="12" name="Picture 11" descr="rotz.png"/>
          <p:cNvPicPr>
            <a:picLocks noChangeAspect="1"/>
          </p:cNvPicPr>
          <p:nvPr/>
        </p:nvPicPr>
        <p:blipFill>
          <a:blip r:embed="rId3"/>
          <a:stretch>
            <a:fillRect/>
          </a:stretch>
        </p:blipFill>
        <p:spPr>
          <a:xfrm>
            <a:off x="1351929" y="2157984"/>
            <a:ext cx="3788380" cy="1280160"/>
          </a:xfrm>
          <a:prstGeom prst="rect">
            <a:avLst/>
          </a:prstGeom>
        </p:spPr>
      </p:pic>
      <p:sp>
        <p:nvSpPr>
          <p:cNvPr id="13" name="TextBox 12"/>
          <p:cNvSpPr txBox="1"/>
          <p:nvPr/>
        </p:nvSpPr>
        <p:spPr>
          <a:xfrm>
            <a:off x="5760720" y="1773936"/>
            <a:ext cx="5513832" cy="219456"/>
          </a:xfrm>
          <a:prstGeom prst="rect">
            <a:avLst/>
          </a:prstGeom>
          <a:noFill/>
        </p:spPr>
        <p:txBody>
          <a:bodyPr wrap="square" lIns="0" tIns="0" rIns="0" bIns="0">
            <a:spAutoFit/>
          </a:bodyPr>
          <a:lstStyle/>
          <a:p>
            <a:r>
              <a:rPr sz="1050" b="1">
                <a:solidFill>
                  <a:srgbClr val="1A2233"/>
                </a:solidFill>
                <a:latin typeface="맑은 고딕"/>
              </a:rPr>
              <a:t>C 구현    f_RotZ()</a:t>
            </a:r>
          </a:p>
        </p:txBody>
      </p:sp>
      <p:sp>
        <p:nvSpPr>
          <p:cNvPr id="14" name="Rounded Rectangle 13"/>
          <p:cNvSpPr/>
          <p:nvPr/>
        </p:nvSpPr>
        <p:spPr>
          <a:xfrm>
            <a:off x="5760720" y="2029968"/>
            <a:ext cx="5513832" cy="1536192"/>
          </a:xfrm>
          <a:prstGeom prst="roundRect">
            <a:avLst>
              <a:gd name="adj" fmla="val 2000"/>
            </a:avLst>
          </a:prstGeom>
          <a:solidFill>
            <a:srgbClr val="F4F6FA"/>
          </a:solidFill>
          <a:ln>
            <a:noFill/>
          </a:ln>
          <a:effectLst/>
        </p:spPr>
        <p:txBody>
          <a:bodyPr rtlCol="0" anchor="ctr"/>
          <a:lstStyle/>
          <a:p>
            <a:pPr algn="ctr"/>
            <a:endParaRPr/>
          </a:p>
        </p:txBody>
      </p:sp>
      <p:sp>
        <p:nvSpPr>
          <p:cNvPr id="15" name="TextBox 14"/>
          <p:cNvSpPr txBox="1"/>
          <p:nvPr/>
        </p:nvSpPr>
        <p:spPr>
          <a:xfrm>
            <a:off x="5907024" y="2112264"/>
            <a:ext cx="5221224" cy="1389888"/>
          </a:xfrm>
          <a:prstGeom prst="rect">
            <a:avLst/>
          </a:prstGeom>
          <a:noFill/>
        </p:spPr>
        <p:txBody>
          <a:bodyPr wrap="square" lIns="0" tIns="0" rIns="0" bIns="0">
            <a:spAutoFit/>
          </a:bodyPr>
          <a:lstStyle/>
          <a:p>
            <a:pPr>
              <a:spcBef>
                <a:spcPts val="0"/>
              </a:spcBef>
            </a:pPr>
            <a:r>
              <a:rPr sz="900" b="0">
                <a:solidFill>
                  <a:srgbClr val="1A2233"/>
                </a:solidFill>
                <a:latin typeface="Consolas"/>
              </a:rPr>
              <a:t>static matrix f_RotZ(const FLOAT64 dAng)</a:t>
            </a:r>
          </a:p>
          <a:p>
            <a:pPr>
              <a:spcBef>
                <a:spcPts val="160"/>
              </a:spcBef>
            </a:pPr>
            <a:r>
              <a:rPr sz="900" b="0">
                <a:solidFill>
                  <a:srgbClr val="1A2233"/>
                </a:solidFill>
                <a:latin typeface="Consolas"/>
              </a:rPr>
              <a:t>{</a:t>
            </a:r>
          </a:p>
          <a:p>
            <a:pPr>
              <a:spcBef>
                <a:spcPts val="160"/>
              </a:spcBef>
            </a:pPr>
            <a:r>
              <a:rPr sz="900" b="0">
                <a:solidFill>
                  <a:srgbClr val="1A2233"/>
                </a:solidFill>
                <a:latin typeface="Consolas"/>
              </a:rPr>
              <a:t>    matrix stR;</a:t>
            </a:r>
          </a:p>
          <a:p>
            <a:pPr>
              <a:spcBef>
                <a:spcPts val="160"/>
              </a:spcBef>
            </a:pPr>
            <a:r>
              <a:rPr sz="900" b="0">
                <a:solidFill>
                  <a:srgbClr val="1A2233"/>
                </a:solidFill>
                <a:latin typeface="Consolas"/>
              </a:rPr>
              <a:t>    Matrix_initialize(&amp;stR, 3, 3);   // 3x3 으로 잡고 전부 0</a:t>
            </a:r>
          </a:p>
          <a:p>
            <a:pPr>
              <a:spcBef>
                <a:spcPts val="160"/>
              </a:spcBef>
            </a:pPr>
            <a:r>
              <a:rPr sz="900" b="0">
                <a:solidFill>
                  <a:srgbClr val="1A2233"/>
                </a:solidFill>
                <a:latin typeface="Consolas"/>
              </a:rPr>
              <a:t>    stR.e[0][0] =  cos(dAng);   stR.e[0][1] = -sin(dAng);</a:t>
            </a:r>
          </a:p>
          <a:p>
            <a:pPr>
              <a:spcBef>
                <a:spcPts val="160"/>
              </a:spcBef>
            </a:pPr>
            <a:r>
              <a:rPr sz="900" b="0">
                <a:solidFill>
                  <a:srgbClr val="1A2233"/>
                </a:solidFill>
                <a:latin typeface="Consolas"/>
              </a:rPr>
              <a:t>    stR.e[1][0] =  sin(dAng);   stR.e[1][1] =  cos(dAng);</a:t>
            </a:r>
          </a:p>
          <a:p>
            <a:pPr>
              <a:spcBef>
                <a:spcPts val="160"/>
              </a:spcBef>
            </a:pPr>
            <a:r>
              <a:rPr sz="900" b="0">
                <a:solidFill>
                  <a:srgbClr val="1A2233"/>
                </a:solidFill>
                <a:latin typeface="Consolas"/>
              </a:rPr>
              <a:t>    stR.e[2][2] = 1.0;</a:t>
            </a:r>
          </a:p>
          <a:p>
            <a:pPr>
              <a:spcBef>
                <a:spcPts val="160"/>
              </a:spcBef>
            </a:pPr>
            <a:r>
              <a:rPr sz="900" b="0">
                <a:solidFill>
                  <a:srgbClr val="1A2233"/>
                </a:solidFill>
                <a:latin typeface="Consolas"/>
              </a:rPr>
              <a:t>    return stR;</a:t>
            </a:r>
          </a:p>
          <a:p>
            <a:pPr>
              <a:spcBef>
                <a:spcPts val="160"/>
              </a:spcBef>
            </a:pPr>
            <a:r>
              <a:rPr sz="900" b="0">
                <a:solidFill>
                  <a:srgbClr val="1A2233"/>
                </a:solidFill>
                <a:latin typeface="Consolas"/>
              </a:rPr>
              <a:t>}</a:t>
            </a:r>
          </a:p>
        </p:txBody>
      </p:sp>
      <p:sp>
        <p:nvSpPr>
          <p:cNvPr id="16" name="Rounded Rectangle 15"/>
          <p:cNvSpPr/>
          <p:nvPr/>
        </p:nvSpPr>
        <p:spPr>
          <a:xfrm>
            <a:off x="914400" y="3712463"/>
            <a:ext cx="10360152" cy="914400"/>
          </a:xfrm>
          <a:prstGeom prst="roundRect">
            <a:avLst>
              <a:gd name="adj" fmla="val 4000"/>
            </a:avLst>
          </a:prstGeom>
          <a:solidFill>
            <a:srgbClr val="EEF1F7"/>
          </a:solidFill>
          <a:ln>
            <a:noFill/>
          </a:ln>
          <a:effectLst/>
        </p:spPr>
        <p:txBody>
          <a:bodyPr rtlCol="0" anchor="ctr"/>
          <a:lstStyle/>
          <a:p>
            <a:pPr algn="ctr"/>
            <a:endParaRPr/>
          </a:p>
        </p:txBody>
      </p:sp>
      <p:sp>
        <p:nvSpPr>
          <p:cNvPr id="17" name="TextBox 16"/>
          <p:cNvSpPr txBox="1"/>
          <p:nvPr/>
        </p:nvSpPr>
        <p:spPr>
          <a:xfrm>
            <a:off x="1133856" y="3803904"/>
            <a:ext cx="9921240" cy="749808"/>
          </a:xfrm>
          <a:prstGeom prst="rect">
            <a:avLst/>
          </a:prstGeom>
          <a:noFill/>
        </p:spPr>
        <p:txBody>
          <a:bodyPr wrap="square" lIns="0" tIns="0" rIns="0" bIns="0">
            <a:spAutoFit/>
          </a:bodyPr>
          <a:lstStyle/>
          <a:p>
            <a:r>
              <a:rPr sz="1150" b="1">
                <a:solidFill>
                  <a:srgbClr val="1A2233"/>
                </a:solidFill>
                <a:latin typeface="맑은 고딕"/>
              </a:rPr>
              <a:t>행렬 칸 ↔ 배열 첨자는 1 : 1</a:t>
            </a:r>
          </a:p>
          <a:p>
            <a:pPr>
              <a:spcBef>
                <a:spcPts val="500"/>
              </a:spcBef>
            </a:pPr>
            <a:r>
              <a:rPr sz="900" b="0">
                <a:solidFill>
                  <a:srgbClr val="1A2233"/>
                </a:solidFill>
                <a:latin typeface="Consolas"/>
              </a:rPr>
              <a:t>e[0][0] = cos θ    e[0][1] = −sin θ        e[1][0] = sin θ    e[1][1] = cos θ        e[2][2] = 1        나머지 다섯 칸은 0 그대로</a:t>
            </a:r>
          </a:p>
          <a:p>
            <a:pPr>
              <a:spcBef>
                <a:spcPts val="400"/>
              </a:spcBef>
            </a:pPr>
            <a:r>
              <a:rPr sz="900" b="0">
                <a:solidFill>
                  <a:srgbClr val="5A6478"/>
                </a:solidFill>
                <a:latin typeface="맑은 고딕"/>
              </a:rPr>
              <a:t>f_RotX · f_RotY 도 똑같은 방식이다 — 공식에서 0 이 아닌 칸만 그대로 옮겨 적는다.</a:t>
            </a:r>
          </a:p>
        </p:txBody>
      </p:sp>
      <p:sp>
        <p:nvSpPr>
          <p:cNvPr id="18" name="Rounded Rectangle 17"/>
          <p:cNvSpPr/>
          <p:nvPr/>
        </p:nvSpPr>
        <p:spPr>
          <a:xfrm>
            <a:off x="914400" y="4773168"/>
            <a:ext cx="5074920" cy="1005840"/>
          </a:xfrm>
          <a:prstGeom prst="roundRect">
            <a:avLst>
              <a:gd name="adj" fmla="val 4000"/>
            </a:avLst>
          </a:prstGeom>
          <a:solidFill>
            <a:srgbClr val="EEF1F7"/>
          </a:solidFill>
          <a:ln>
            <a:noFill/>
          </a:ln>
          <a:effectLst/>
        </p:spPr>
        <p:txBody>
          <a:bodyPr rtlCol="0" anchor="ctr"/>
          <a:lstStyle/>
          <a:p>
            <a:pPr algn="ctr"/>
            <a:endParaRPr/>
          </a:p>
        </p:txBody>
      </p:sp>
      <p:sp>
        <p:nvSpPr>
          <p:cNvPr id="19" name="TextBox 18"/>
          <p:cNvSpPr txBox="1"/>
          <p:nvPr/>
        </p:nvSpPr>
        <p:spPr>
          <a:xfrm>
            <a:off x="1097280" y="4873752"/>
            <a:ext cx="4709159" cy="841248"/>
          </a:xfrm>
          <a:prstGeom prst="rect">
            <a:avLst/>
          </a:prstGeom>
          <a:noFill/>
        </p:spPr>
        <p:txBody>
          <a:bodyPr wrap="square" lIns="0" tIns="0" rIns="0" bIns="0">
            <a:spAutoFit/>
          </a:bodyPr>
          <a:lstStyle/>
          <a:p>
            <a:r>
              <a:rPr sz="1150" b="1">
                <a:solidFill>
                  <a:srgbClr val="1A2233"/>
                </a:solidFill>
                <a:latin typeface="맑은 고딕"/>
              </a:rPr>
              <a:t>쓰는 라이브러리 함수는 넷뿐</a:t>
            </a:r>
          </a:p>
          <a:p>
            <a:pPr>
              <a:spcBef>
                <a:spcPts val="400"/>
              </a:spcBef>
            </a:pPr>
            <a:r>
              <a:rPr sz="880" b="0">
                <a:solidFill>
                  <a:srgbClr val="5A6478"/>
                </a:solidFill>
                <a:latin typeface="맑은 고딕"/>
              </a:rPr>
              <a:t>Matrix_Product2(A, B) = A · B          Matrix_Transpose(A) = A^T</a:t>
            </a:r>
          </a:p>
          <a:p>
            <a:pPr>
              <a:spcBef>
                <a:spcPts val="200"/>
              </a:spcBef>
            </a:pPr>
            <a:r>
              <a:rPr sz="880" b="0">
                <a:solidFill>
                  <a:srgbClr val="5A6478"/>
                </a:solidFill>
                <a:latin typeface="맑은 고딕"/>
              </a:rPr>
              <a:t>Matrix_Product3(A, B, C) = (A · B) · C     Matrix_Add / Subtract</a:t>
            </a:r>
          </a:p>
          <a:p>
            <a:pPr>
              <a:spcBef>
                <a:spcPts val="200"/>
              </a:spcBef>
            </a:pPr>
            <a:r>
              <a:rPr sz="880" b="0">
                <a:solidFill>
                  <a:srgbClr val="5A6478"/>
                </a:solidFill>
                <a:latin typeface="맑은 고딕"/>
              </a:rPr>
              <a:t>Matrix_Inverse 는 안 쓴다 — 회전행렬은 전치가 곧 역행렬 (p.5)</a:t>
            </a:r>
          </a:p>
        </p:txBody>
      </p:sp>
      <p:sp>
        <p:nvSpPr>
          <p:cNvPr id="20" name="Rounded Rectangle 19"/>
          <p:cNvSpPr/>
          <p:nvPr/>
        </p:nvSpPr>
        <p:spPr>
          <a:xfrm>
            <a:off x="6199632" y="4773168"/>
            <a:ext cx="5074920" cy="1005840"/>
          </a:xfrm>
          <a:prstGeom prst="roundRect">
            <a:avLst>
              <a:gd name="adj" fmla="val 4000"/>
            </a:avLst>
          </a:prstGeom>
          <a:solidFill>
            <a:srgbClr val="EEF1F7"/>
          </a:solidFill>
          <a:ln>
            <a:noFill/>
          </a:ln>
          <a:effectLst/>
        </p:spPr>
        <p:txBody>
          <a:bodyPr rtlCol="0" anchor="ctr"/>
          <a:lstStyle/>
          <a:p>
            <a:pPr algn="ctr"/>
            <a:endParaRPr/>
          </a:p>
        </p:txBody>
      </p:sp>
      <p:sp>
        <p:nvSpPr>
          <p:cNvPr id="21" name="TextBox 20"/>
          <p:cNvSpPr txBox="1"/>
          <p:nvPr/>
        </p:nvSpPr>
        <p:spPr>
          <a:xfrm>
            <a:off x="6382512" y="4873752"/>
            <a:ext cx="4709159" cy="841248"/>
          </a:xfrm>
          <a:prstGeom prst="rect">
            <a:avLst/>
          </a:prstGeom>
          <a:noFill/>
        </p:spPr>
        <p:txBody>
          <a:bodyPr wrap="square" lIns="0" tIns="0" rIns="0" bIns="0">
            <a:spAutoFit/>
          </a:bodyPr>
          <a:lstStyle/>
          <a:p>
            <a:r>
              <a:rPr sz="1150" b="1">
                <a:solidFill>
                  <a:srgbClr val="1A2233"/>
                </a:solidFill>
                <a:latin typeface="맑은 고딕"/>
              </a:rPr>
              <a:t>MAXSIZE_MAT = 9 가 만드는 두 가지</a:t>
            </a:r>
          </a:p>
          <a:p>
            <a:pPr>
              <a:spcBef>
                <a:spcPts val="400"/>
              </a:spcBef>
            </a:pPr>
            <a:r>
              <a:rPr sz="880" b="0">
                <a:solidFill>
                  <a:srgbClr val="5A6478"/>
                </a:solidFill>
                <a:latin typeface="맑은 고딕"/>
              </a:rPr>
              <a:t>Matrix_Identity 는 크기를 9×9 로 덮어써서 못 쓴다 → initialize(3,3)</a:t>
            </a:r>
          </a:p>
          <a:p>
            <a:pPr>
              <a:spcBef>
                <a:spcPts val="200"/>
              </a:spcBef>
            </a:pPr>
            <a:r>
              <a:rPr sz="880" b="0">
                <a:solidFill>
                  <a:srgbClr val="5A6478"/>
                </a:solidFill>
                <a:latin typeface="맑은 고딕"/>
              </a:rPr>
              <a:t>matrix 는 3×3 을 담아도 항상 656 B. 24 B 벡터 하나를 옮기려고</a:t>
            </a:r>
          </a:p>
          <a:p>
            <a:pPr>
              <a:spcBef>
                <a:spcPts val="200"/>
              </a:spcBef>
            </a:pPr>
            <a:r>
              <a:rPr sz="880" b="0">
                <a:solidFill>
                  <a:srgbClr val="5A6478"/>
                </a:solidFill>
                <a:latin typeface="맑은 고딕"/>
              </a:rPr>
              <a:t>f_AntToBody 한 번에 이 구조체가 값으로 열 번 넘게 오간다.</a:t>
            </a:r>
          </a:p>
        </p:txBody>
      </p:sp>
      <p:sp>
        <p:nvSpPr>
          <p:cNvPr id="22" name="SlideNum"/>
          <p:cNvSpPr txBox="1"/>
          <p:nvPr/>
        </p:nvSpPr>
        <p:spPr>
          <a:xfrm>
            <a:off x="5669280" y="6400800"/>
            <a:ext cx="914400" cy="274320"/>
          </a:xfrm>
          <a:prstGeom prst="rect">
            <a:avLst/>
          </a:prstGeom>
          <a:noFill/>
        </p:spPr>
        <p:txBody>
          <a:bodyPr wrap="none" lIns="0" tIns="0" rIns="0" bIns="0">
            <a:spAutoFit/>
          </a:bodyPr>
          <a:lstStyle/>
          <a:p>
            <a:pPr algn="ctr"/>
            <a:fld id="{1D0B0B0B-0000-4000-8000-00000000C0DE}" type="slidenum">
              <a:rPr lang="ko-KR" altLang="en-US" sz="1000" b="0" dirty="0">
                <a:solidFill>
                  <a:srgbClr val="1A2233"/>
                </a:solidFill>
                <a:latin typeface="Arial"/>
                <a:ea typeface="Arial"/>
              </a:rPr>
              <a:t>22</a:t>
            </a:fld>
            <a:endParaRPr lang="ko-KR" altLang="en-US" sz="1000" b="0" dirty="0">
              <a:solidFill>
                <a:srgbClr val="1A2233"/>
              </a:solidFill>
              <a:latin typeface="Arial"/>
              <a:ea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457200" y="411480"/>
            <a:ext cx="11274552" cy="777240"/>
          </a:xfrm>
          <a:prstGeom prst="rect">
            <a:avLst/>
          </a:prstGeom>
          <a:solidFill>
            <a:srgbClr val="13233F"/>
          </a:solidFill>
          <a:ln/>
        </p:spPr>
        <p:txBody>
          <a:bodyPr/>
          <a:lstStyle/>
          <a:p>
            <a:endParaRPr/>
          </a:p>
        </p:txBody>
      </p:sp>
      <p:sp>
        <p:nvSpPr>
          <p:cNvPr id="3" name="Text 1"/>
          <p:cNvSpPr txBox="1"/>
          <p:nvPr/>
        </p:nvSpPr>
        <p:spPr>
          <a:xfrm>
            <a:off x="640080" y="411480"/>
            <a:ext cx="8732520" cy="777240"/>
          </a:xfrm>
          <a:prstGeom prst="rect">
            <a:avLst/>
          </a:prstGeom>
          <a:noFill/>
          <a:ln/>
        </p:spPr>
        <p:txBody>
          <a:bodyPr wrap="square" lIns="0" tIns="0" rIns="0" bIns="0" rtlCol="0" anchor="ctr"/>
          <a:lstStyle/>
          <a:p>
            <a:pPr marL="0" indent="0">
              <a:buNone/>
            </a:pPr>
            <a:r>
              <a:rPr lang="en-US" sz="2000" b="1" dirty="0">
                <a:solidFill>
                  <a:srgbClr val="FFFFFF"/>
                </a:solidFill>
                <a:latin typeface="맑은 고딕" pitchFamily="34" charset="0"/>
                <a:ea typeface="맑은 고딕" pitchFamily="34" charset="-122"/>
                <a:cs typeface="맑은 고딕" pitchFamily="34" charset="-120"/>
              </a:rPr>
              <a:t>03. 공식과 코드 ①    안테나 극좌표 → 직교 → 동체</a:t>
            </a:r>
            <a:endParaRPr lang="en-US" sz="2000" dirty="0"/>
          </a:p>
        </p:txBody>
      </p:sp>
      <p:sp>
        <p:nvSpPr>
          <p:cNvPr id="4" name="Shape 2"/>
          <p:cNvSpPr/>
          <p:nvPr/>
        </p:nvSpPr>
        <p:spPr>
          <a:xfrm>
            <a:off x="457200" y="1188720"/>
            <a:ext cx="11274552" cy="4956048"/>
          </a:xfrm>
          <a:prstGeom prst="rect">
            <a:avLst/>
          </a:prstGeom>
          <a:solidFill>
            <a:srgbClr val="FFFFFF"/>
          </a:solidFill>
          <a:ln/>
        </p:spPr>
        <p:txBody>
          <a:bodyPr/>
          <a:lstStyle/>
          <a:p>
            <a:endParaRPr/>
          </a:p>
        </p:txBody>
      </p:sp>
      <p:sp>
        <p:nvSpPr>
          <p:cNvPr id="5" name="Shape 3"/>
          <p:cNvSpPr/>
          <p:nvPr/>
        </p:nvSpPr>
        <p:spPr>
          <a:xfrm>
            <a:off x="548640" y="6199632"/>
            <a:ext cx="11094415" cy="0"/>
          </a:xfrm>
          <a:prstGeom prst="line">
            <a:avLst/>
          </a:prstGeom>
          <a:noFill/>
          <a:ln w="9525">
            <a:solidFill>
              <a:srgbClr val="BFBFBF"/>
            </a:solidFill>
            <a:prstDash val="solid"/>
          </a:ln>
        </p:spPr>
        <p:txBody>
          <a:bodyPr/>
          <a:lstStyle/>
          <a:p>
            <a:endParaRPr/>
          </a:p>
        </p:txBody>
      </p:sp>
      <p:sp>
        <p:nvSpPr>
          <p:cNvPr id="8" name="TextBox 7"/>
          <p:cNvSpPr txBox="1"/>
          <p:nvPr/>
        </p:nvSpPr>
        <p:spPr>
          <a:xfrm>
            <a:off x="2798064" y="1335024"/>
            <a:ext cx="3749039" cy="219456"/>
          </a:xfrm>
          <a:prstGeom prst="rect">
            <a:avLst/>
          </a:prstGeom>
          <a:noFill/>
        </p:spPr>
        <p:txBody>
          <a:bodyPr wrap="square" lIns="0" tIns="0" rIns="0" bIns="0">
            <a:spAutoFit/>
          </a:bodyPr>
          <a:lstStyle/>
          <a:p>
            <a:r>
              <a:rPr sz="1000" b="1">
                <a:solidFill>
                  <a:srgbClr val="5A6478"/>
                </a:solidFill>
                <a:latin typeface="맑은 고딕"/>
              </a:rPr>
              <a:t>공식</a:t>
            </a:r>
          </a:p>
        </p:txBody>
      </p:sp>
      <p:sp>
        <p:nvSpPr>
          <p:cNvPr id="9" name="TextBox 8"/>
          <p:cNvSpPr txBox="1"/>
          <p:nvPr/>
        </p:nvSpPr>
        <p:spPr>
          <a:xfrm>
            <a:off x="6693408" y="1335024"/>
            <a:ext cx="4581144" cy="219456"/>
          </a:xfrm>
          <a:prstGeom prst="rect">
            <a:avLst/>
          </a:prstGeom>
          <a:noFill/>
        </p:spPr>
        <p:txBody>
          <a:bodyPr wrap="square" lIns="0" tIns="0" rIns="0" bIns="0">
            <a:spAutoFit/>
          </a:bodyPr>
          <a:lstStyle/>
          <a:p>
            <a:r>
              <a:rPr sz="1000" b="1">
                <a:solidFill>
                  <a:srgbClr val="5A6478"/>
                </a:solidFill>
                <a:latin typeface="맑은 고딕"/>
              </a:rPr>
              <a:t>C 구현</a:t>
            </a:r>
          </a:p>
        </p:txBody>
      </p:sp>
      <p:sp>
        <p:nvSpPr>
          <p:cNvPr id="10" name="Rounded Rectangle 9"/>
          <p:cNvSpPr/>
          <p:nvPr/>
        </p:nvSpPr>
        <p:spPr>
          <a:xfrm>
            <a:off x="914400" y="1591056"/>
            <a:ext cx="1737360" cy="1426464"/>
          </a:xfrm>
          <a:prstGeom prst="roundRect">
            <a:avLst>
              <a:gd name="adj" fmla="val 4000"/>
            </a:avLst>
          </a:prstGeom>
          <a:solidFill>
            <a:srgbClr val="EEF1F7"/>
          </a:solidFill>
          <a:ln>
            <a:noFill/>
          </a:ln>
          <a:effectLst/>
        </p:spPr>
        <p:txBody>
          <a:bodyPr rtlCol="0" anchor="ctr"/>
          <a:lstStyle/>
          <a:p>
            <a:pPr algn="ctr"/>
            <a:endParaRPr/>
          </a:p>
        </p:txBody>
      </p:sp>
      <p:sp>
        <p:nvSpPr>
          <p:cNvPr id="11" name="TextBox 10"/>
          <p:cNvSpPr txBox="1"/>
          <p:nvPr/>
        </p:nvSpPr>
        <p:spPr>
          <a:xfrm>
            <a:off x="1024128" y="2020824"/>
            <a:ext cx="1517904" cy="566928"/>
          </a:xfrm>
          <a:prstGeom prst="rect">
            <a:avLst/>
          </a:prstGeom>
          <a:noFill/>
        </p:spPr>
        <p:txBody>
          <a:bodyPr wrap="square" lIns="0" tIns="0" rIns="0" bIns="0">
            <a:spAutoFit/>
          </a:bodyPr>
          <a:lstStyle/>
          <a:p>
            <a:pPr algn="ctr"/>
            <a:r>
              <a:rPr sz="1500" b="1">
                <a:solidFill>
                  <a:srgbClr val="2B57A6"/>
                </a:solidFill>
                <a:latin typeface="맑은 고딕"/>
              </a:rPr>
              <a:t>①</a:t>
            </a:r>
          </a:p>
          <a:p>
            <a:pPr algn="ctr">
              <a:spcBef>
                <a:spcPts val="300"/>
              </a:spcBef>
            </a:pPr>
            <a:r>
              <a:rPr sz="1100" b="1">
                <a:solidFill>
                  <a:srgbClr val="2B57A6"/>
                </a:solidFill>
                <a:latin typeface="맑은 고딕"/>
              </a:rPr>
              <a:t>극좌표 → 직교</a:t>
            </a:r>
          </a:p>
          <a:p>
            <a:pPr algn="ctr">
              <a:spcBef>
                <a:spcPts val="300"/>
              </a:spcBef>
            </a:pPr>
            <a:r>
              <a:rPr sz="750" b="0">
                <a:solidFill>
                  <a:srgbClr val="5A6478"/>
                </a:solidFill>
                <a:latin typeface="맑은 고딕"/>
              </a:rPr>
              <a:t>표현만 바꿈</a:t>
            </a:r>
          </a:p>
        </p:txBody>
      </p:sp>
      <p:sp>
        <p:nvSpPr>
          <p:cNvPr id="12" name="Rounded Rectangle 11"/>
          <p:cNvSpPr/>
          <p:nvPr/>
        </p:nvSpPr>
        <p:spPr>
          <a:xfrm>
            <a:off x="2798064" y="1591056"/>
            <a:ext cx="3749039" cy="1426464"/>
          </a:xfrm>
          <a:prstGeom prst="roundRect">
            <a:avLst>
              <a:gd name="adj" fmla="val 4000"/>
            </a:avLst>
          </a:prstGeom>
          <a:solidFill>
            <a:srgbClr val="EEF1F7"/>
          </a:solidFill>
          <a:ln>
            <a:noFill/>
          </a:ln>
          <a:effectLst/>
        </p:spPr>
        <p:txBody>
          <a:bodyPr rtlCol="0" anchor="ctr"/>
          <a:lstStyle/>
          <a:p>
            <a:pPr algn="ctr"/>
            <a:endParaRPr/>
          </a:p>
        </p:txBody>
      </p:sp>
      <p:pic>
        <p:nvPicPr>
          <p:cNvPr id="13" name="Picture 12" descr="polar2xyz.png"/>
          <p:cNvPicPr>
            <a:picLocks noChangeAspect="1"/>
          </p:cNvPicPr>
          <p:nvPr/>
        </p:nvPicPr>
        <p:blipFill>
          <a:blip r:embed="rId3"/>
          <a:stretch>
            <a:fillRect/>
          </a:stretch>
        </p:blipFill>
        <p:spPr>
          <a:xfrm>
            <a:off x="3372829" y="1700784"/>
            <a:ext cx="2599508" cy="1207008"/>
          </a:xfrm>
          <a:prstGeom prst="rect">
            <a:avLst/>
          </a:prstGeom>
        </p:spPr>
      </p:pic>
      <p:sp>
        <p:nvSpPr>
          <p:cNvPr id="14" name="Rounded Rectangle 13"/>
          <p:cNvSpPr/>
          <p:nvPr/>
        </p:nvSpPr>
        <p:spPr>
          <a:xfrm>
            <a:off x="6693408" y="1591056"/>
            <a:ext cx="4581144" cy="1426464"/>
          </a:xfrm>
          <a:prstGeom prst="roundRect">
            <a:avLst>
              <a:gd name="adj" fmla="val 2000"/>
            </a:avLst>
          </a:prstGeom>
          <a:solidFill>
            <a:srgbClr val="F4F6FA"/>
          </a:solidFill>
          <a:ln>
            <a:noFill/>
          </a:ln>
          <a:effectLst/>
        </p:spPr>
        <p:txBody>
          <a:bodyPr rtlCol="0" anchor="ctr"/>
          <a:lstStyle/>
          <a:p>
            <a:pPr algn="ctr"/>
            <a:endParaRPr/>
          </a:p>
        </p:txBody>
      </p:sp>
      <p:sp>
        <p:nvSpPr>
          <p:cNvPr id="15" name="TextBox 14"/>
          <p:cNvSpPr txBox="1"/>
          <p:nvPr/>
        </p:nvSpPr>
        <p:spPr>
          <a:xfrm>
            <a:off x="6839712" y="1673352"/>
            <a:ext cx="4288536" cy="1280160"/>
          </a:xfrm>
          <a:prstGeom prst="rect">
            <a:avLst/>
          </a:prstGeom>
          <a:noFill/>
        </p:spPr>
        <p:txBody>
          <a:bodyPr wrap="square" lIns="0" tIns="0" rIns="0" bIns="0">
            <a:spAutoFit/>
          </a:bodyPr>
          <a:lstStyle/>
          <a:p>
            <a:pPr>
              <a:spcBef>
                <a:spcPts val="0"/>
              </a:spcBef>
            </a:pPr>
            <a:r>
              <a:rPr sz="850" b="0">
                <a:solidFill>
                  <a:srgbClr val="5A6478"/>
                </a:solidFill>
                <a:latin typeface="Consolas"/>
              </a:rPr>
              <a:t>ST_Vec3 f_PolarToXyz(const ST_Polar stPolar)</a:t>
            </a:r>
          </a:p>
          <a:p>
            <a:pPr>
              <a:spcBef>
                <a:spcPts val="150"/>
              </a:spcBef>
            </a:pPr>
            <a:r>
              <a:rPr sz="850" b="0">
                <a:solidFill>
                  <a:srgbClr val="1A2233"/>
                </a:solidFill>
                <a:latin typeface="Consolas"/>
              </a:rPr>
              <a:t>{</a:t>
            </a:r>
          </a:p>
          <a:p>
            <a:pPr>
              <a:spcBef>
                <a:spcPts val="150"/>
              </a:spcBef>
            </a:pPr>
            <a:r>
              <a:rPr sz="850" b="0">
                <a:solidFill>
                  <a:srgbClr val="1A2233"/>
                </a:solidFill>
                <a:latin typeface="Consolas"/>
              </a:rPr>
              <a:t>  stXyz.dX = stPolar.dRange * cos(stPolar.dEl)</a:t>
            </a:r>
          </a:p>
          <a:p>
            <a:pPr>
              <a:spcBef>
                <a:spcPts val="150"/>
              </a:spcBef>
            </a:pPr>
            <a:r>
              <a:rPr sz="850" b="0">
                <a:solidFill>
                  <a:srgbClr val="1A2233"/>
                </a:solidFill>
                <a:latin typeface="Consolas"/>
              </a:rPr>
              <a:t>                            * sin(stPolar.dAz);</a:t>
            </a:r>
          </a:p>
          <a:p>
            <a:pPr>
              <a:spcBef>
                <a:spcPts val="150"/>
              </a:spcBef>
            </a:pPr>
            <a:r>
              <a:rPr sz="850" b="0">
                <a:solidFill>
                  <a:srgbClr val="1A2233"/>
                </a:solidFill>
                <a:latin typeface="Consolas"/>
              </a:rPr>
              <a:t>  stXyz.dY = stPolar.dRange * sin(stPolar.dEl);</a:t>
            </a:r>
          </a:p>
          <a:p>
            <a:pPr>
              <a:spcBef>
                <a:spcPts val="150"/>
              </a:spcBef>
            </a:pPr>
            <a:r>
              <a:rPr sz="850" b="0">
                <a:solidFill>
                  <a:srgbClr val="1A2233"/>
                </a:solidFill>
                <a:latin typeface="Consolas"/>
              </a:rPr>
              <a:t>  stXyz.dZ = stPolar.dRange * cos(stPolar.dEl)</a:t>
            </a:r>
          </a:p>
          <a:p>
            <a:pPr>
              <a:spcBef>
                <a:spcPts val="150"/>
              </a:spcBef>
            </a:pPr>
            <a:r>
              <a:rPr sz="850" b="0">
                <a:solidFill>
                  <a:srgbClr val="1A2233"/>
                </a:solidFill>
                <a:latin typeface="Consolas"/>
              </a:rPr>
              <a:t>                            * cos(stPolar.dAz);</a:t>
            </a:r>
          </a:p>
          <a:p>
            <a:pPr>
              <a:spcBef>
                <a:spcPts val="150"/>
              </a:spcBef>
            </a:pPr>
            <a:r>
              <a:rPr sz="850" b="0">
                <a:solidFill>
                  <a:srgbClr val="1A2233"/>
                </a:solidFill>
                <a:latin typeface="Consolas"/>
              </a:rPr>
              <a:t>}</a:t>
            </a:r>
          </a:p>
        </p:txBody>
      </p:sp>
      <p:sp>
        <p:nvSpPr>
          <p:cNvPr id="16" name="Rounded Rectangle 15"/>
          <p:cNvSpPr/>
          <p:nvPr/>
        </p:nvSpPr>
        <p:spPr>
          <a:xfrm>
            <a:off x="914400" y="3163824"/>
            <a:ext cx="1737360" cy="2048256"/>
          </a:xfrm>
          <a:prstGeom prst="roundRect">
            <a:avLst>
              <a:gd name="adj" fmla="val 4000"/>
            </a:avLst>
          </a:prstGeom>
          <a:solidFill>
            <a:srgbClr val="EEF1F7"/>
          </a:solidFill>
          <a:ln>
            <a:noFill/>
          </a:ln>
          <a:effectLst/>
        </p:spPr>
        <p:txBody>
          <a:bodyPr rtlCol="0" anchor="ctr"/>
          <a:lstStyle/>
          <a:p>
            <a:pPr algn="ctr"/>
            <a:endParaRPr/>
          </a:p>
        </p:txBody>
      </p:sp>
      <p:sp>
        <p:nvSpPr>
          <p:cNvPr id="17" name="TextBox 16"/>
          <p:cNvSpPr txBox="1"/>
          <p:nvPr/>
        </p:nvSpPr>
        <p:spPr>
          <a:xfrm>
            <a:off x="1024128" y="3904487"/>
            <a:ext cx="1517904" cy="566928"/>
          </a:xfrm>
          <a:prstGeom prst="rect">
            <a:avLst/>
          </a:prstGeom>
          <a:noFill/>
        </p:spPr>
        <p:txBody>
          <a:bodyPr wrap="square" lIns="0" tIns="0" rIns="0" bIns="0">
            <a:spAutoFit/>
          </a:bodyPr>
          <a:lstStyle/>
          <a:p>
            <a:pPr algn="ctr"/>
            <a:r>
              <a:rPr sz="1500" b="1">
                <a:solidFill>
                  <a:srgbClr val="2B57A6"/>
                </a:solidFill>
                <a:latin typeface="맑은 고딕"/>
              </a:rPr>
              <a:t>②</a:t>
            </a:r>
          </a:p>
          <a:p>
            <a:pPr algn="ctr">
              <a:spcBef>
                <a:spcPts val="300"/>
              </a:spcBef>
            </a:pPr>
            <a:r>
              <a:rPr sz="1100" b="1">
                <a:solidFill>
                  <a:srgbClr val="2B57A6"/>
                </a:solidFill>
                <a:latin typeface="맑은 고딕"/>
              </a:rPr>
              <a:t>안테나 → 동체</a:t>
            </a:r>
          </a:p>
          <a:p>
            <a:pPr algn="ctr">
              <a:spcBef>
                <a:spcPts val="300"/>
              </a:spcBef>
            </a:pPr>
            <a:r>
              <a:rPr sz="750" b="0">
                <a:solidFill>
                  <a:srgbClr val="5A6478"/>
                </a:solidFill>
                <a:latin typeface="맑은 고딕"/>
              </a:rPr>
              <a:t>회전 + 평행이동</a:t>
            </a:r>
          </a:p>
        </p:txBody>
      </p:sp>
      <p:sp>
        <p:nvSpPr>
          <p:cNvPr id="18" name="Rounded Rectangle 17"/>
          <p:cNvSpPr/>
          <p:nvPr/>
        </p:nvSpPr>
        <p:spPr>
          <a:xfrm>
            <a:off x="2798064" y="3163824"/>
            <a:ext cx="3749039" cy="2048256"/>
          </a:xfrm>
          <a:prstGeom prst="roundRect">
            <a:avLst>
              <a:gd name="adj" fmla="val 4000"/>
            </a:avLst>
          </a:prstGeom>
          <a:solidFill>
            <a:srgbClr val="EEF1F7"/>
          </a:solidFill>
          <a:ln>
            <a:noFill/>
          </a:ln>
          <a:effectLst/>
        </p:spPr>
        <p:txBody>
          <a:bodyPr rtlCol="0" anchor="ctr"/>
          <a:lstStyle/>
          <a:p>
            <a:pPr algn="ctr"/>
            <a:endParaRPr/>
          </a:p>
        </p:txBody>
      </p:sp>
      <p:pic>
        <p:nvPicPr>
          <p:cNvPr id="19" name="Picture 18" descr="ant2body.png"/>
          <p:cNvPicPr>
            <a:picLocks noChangeAspect="1"/>
          </p:cNvPicPr>
          <p:nvPr/>
        </p:nvPicPr>
        <p:blipFill>
          <a:blip r:embed="rId4"/>
          <a:stretch>
            <a:fillRect/>
          </a:stretch>
        </p:blipFill>
        <p:spPr>
          <a:xfrm>
            <a:off x="2926080" y="3297538"/>
            <a:ext cx="3493008" cy="537243"/>
          </a:xfrm>
          <a:prstGeom prst="rect">
            <a:avLst/>
          </a:prstGeom>
        </p:spPr>
      </p:pic>
      <p:pic>
        <p:nvPicPr>
          <p:cNvPr id="20" name="Picture 19" descr="amat.png"/>
          <p:cNvPicPr>
            <a:picLocks noChangeAspect="1"/>
          </p:cNvPicPr>
          <p:nvPr/>
        </p:nvPicPr>
        <p:blipFill>
          <a:blip r:embed="rId5"/>
          <a:stretch>
            <a:fillRect/>
          </a:stretch>
        </p:blipFill>
        <p:spPr>
          <a:xfrm>
            <a:off x="3315018" y="3931920"/>
            <a:ext cx="2715130" cy="1170432"/>
          </a:xfrm>
          <a:prstGeom prst="rect">
            <a:avLst/>
          </a:prstGeom>
        </p:spPr>
      </p:pic>
      <p:sp>
        <p:nvSpPr>
          <p:cNvPr id="21" name="Rounded Rectangle 20"/>
          <p:cNvSpPr/>
          <p:nvPr/>
        </p:nvSpPr>
        <p:spPr>
          <a:xfrm>
            <a:off x="6693408" y="3163824"/>
            <a:ext cx="4581144" cy="2048256"/>
          </a:xfrm>
          <a:prstGeom prst="roundRect">
            <a:avLst>
              <a:gd name="adj" fmla="val 2000"/>
            </a:avLst>
          </a:prstGeom>
          <a:solidFill>
            <a:srgbClr val="F4F6FA"/>
          </a:solidFill>
          <a:ln>
            <a:noFill/>
          </a:ln>
          <a:effectLst/>
        </p:spPr>
        <p:txBody>
          <a:bodyPr rtlCol="0" anchor="ctr"/>
          <a:lstStyle/>
          <a:p>
            <a:pPr algn="ctr"/>
            <a:endParaRPr/>
          </a:p>
        </p:txBody>
      </p:sp>
      <p:sp>
        <p:nvSpPr>
          <p:cNvPr id="22" name="TextBox 21"/>
          <p:cNvSpPr txBox="1"/>
          <p:nvPr/>
        </p:nvSpPr>
        <p:spPr>
          <a:xfrm>
            <a:off x="6839712" y="3246120"/>
            <a:ext cx="4288536" cy="1901952"/>
          </a:xfrm>
          <a:prstGeom prst="rect">
            <a:avLst/>
          </a:prstGeom>
          <a:noFill/>
        </p:spPr>
        <p:txBody>
          <a:bodyPr wrap="square" lIns="0" tIns="0" rIns="0" bIns="0">
            <a:spAutoFit/>
          </a:bodyPr>
          <a:lstStyle/>
          <a:p>
            <a:pPr>
              <a:spcBef>
                <a:spcPts val="0"/>
              </a:spcBef>
            </a:pPr>
            <a:r>
              <a:rPr sz="850" b="0">
                <a:solidFill>
                  <a:srgbClr val="5A6478"/>
                </a:solidFill>
                <a:latin typeface="Consolas"/>
              </a:rPr>
              <a:t>static matrix f_RotAntToBody(const ST_Mount m)</a:t>
            </a:r>
          </a:p>
          <a:p>
            <a:pPr>
              <a:spcBef>
                <a:spcPts val="150"/>
              </a:spcBef>
            </a:pPr>
            <a:r>
              <a:rPr sz="850" b="0">
                <a:solidFill>
                  <a:srgbClr val="1A2233"/>
                </a:solidFill>
                <a:latin typeface="Consolas"/>
              </a:rPr>
              <a:t>{  matrix stRz   = f_RotZ(m.dAz);      // 설치 방위</a:t>
            </a:r>
          </a:p>
          <a:p>
            <a:pPr>
              <a:spcBef>
                <a:spcPts val="150"/>
              </a:spcBef>
            </a:pPr>
            <a:r>
              <a:rPr sz="850" b="0">
                <a:solidFill>
                  <a:srgbClr val="1A2233"/>
                </a:solidFill>
                <a:latin typeface="Consolas"/>
              </a:rPr>
              <a:t>   matrix stRy   = f_RotY(m.dTilt);    // 백틸트</a:t>
            </a:r>
          </a:p>
          <a:p>
            <a:pPr>
              <a:spcBef>
                <a:spcPts val="150"/>
              </a:spcBef>
            </a:pPr>
            <a:r>
              <a:rPr sz="850" b="0">
                <a:solidFill>
                  <a:srgbClr val="1A2233"/>
                </a:solidFill>
                <a:latin typeface="Consolas"/>
              </a:rPr>
              <a:t>   matrix stAxis = f_RotAntAxisToBody();   // A</a:t>
            </a:r>
          </a:p>
          <a:p>
            <a:pPr>
              <a:spcBef>
                <a:spcPts val="150"/>
              </a:spcBef>
            </a:pPr>
            <a:r>
              <a:rPr sz="850" b="0">
                <a:solidFill>
                  <a:srgbClr val="1A2233"/>
                </a:solidFill>
                <a:latin typeface="Consolas"/>
              </a:rPr>
              <a:t>   matrix stMnt  = Matrix_Product2(&amp;stRz, &amp;stRy);</a:t>
            </a:r>
          </a:p>
          <a:p>
            <a:pPr>
              <a:spcBef>
                <a:spcPts val="150"/>
              </a:spcBef>
            </a:pPr>
            <a:r>
              <a:rPr sz="850" b="0">
                <a:solidFill>
                  <a:srgbClr val="1A2233"/>
                </a:solidFill>
                <a:latin typeface="Consolas"/>
              </a:rPr>
              <a:t>   return Matrix_Product2(&amp;stMnt, &amp;stAxis);  }</a:t>
            </a:r>
          </a:p>
          <a:p>
            <a:pPr>
              <a:spcBef>
                <a:spcPts val="150"/>
              </a:spcBef>
            </a:pPr>
            <a:endParaRPr sz="850" b="0">
              <a:solidFill>
                <a:srgbClr val="1A1A1A"/>
              </a:solidFill>
              <a:latin typeface="Consolas"/>
            </a:endParaRPr>
          </a:p>
          <a:p>
            <a:pPr>
              <a:spcBef>
                <a:spcPts val="150"/>
              </a:spcBef>
            </a:pPr>
            <a:r>
              <a:rPr sz="850" b="0">
                <a:solidFill>
                  <a:srgbClr val="5A6478"/>
                </a:solidFill>
                <a:latin typeface="Consolas"/>
              </a:rPr>
              <a:t>ST_Vec3 f_AntToBody(...)</a:t>
            </a:r>
          </a:p>
          <a:p>
            <a:pPr>
              <a:spcBef>
                <a:spcPts val="150"/>
              </a:spcBef>
            </a:pPr>
            <a:r>
              <a:rPr sz="850" b="0">
                <a:solidFill>
                  <a:srgbClr val="1A2233"/>
                </a:solidFill>
                <a:latin typeface="Consolas"/>
              </a:rPr>
              <a:t>{  stRot = Matrix_Product2(&amp;stR, &amp;stP);   // R·p</a:t>
            </a:r>
          </a:p>
          <a:p>
            <a:pPr>
              <a:spcBef>
                <a:spcPts val="150"/>
              </a:spcBef>
            </a:pPr>
            <a:r>
              <a:rPr sz="850" b="0">
                <a:solidFill>
                  <a:srgbClr val="1A2233"/>
                </a:solidFill>
                <a:latin typeface="Consolas"/>
              </a:rPr>
              <a:t>   stOut = Matrix_Add(&amp;stRot, &amp;stOff);  }  // + 레버암</a:t>
            </a:r>
          </a:p>
        </p:txBody>
      </p:sp>
      <p:sp>
        <p:nvSpPr>
          <p:cNvPr id="23" name="Rounded Rectangle 22"/>
          <p:cNvSpPr/>
          <p:nvPr/>
        </p:nvSpPr>
        <p:spPr>
          <a:xfrm>
            <a:off x="914400" y="5358384"/>
            <a:ext cx="10360152" cy="493776"/>
          </a:xfrm>
          <a:prstGeom prst="roundRect">
            <a:avLst>
              <a:gd name="adj" fmla="val 4000"/>
            </a:avLst>
          </a:prstGeom>
          <a:solidFill>
            <a:srgbClr val="FBEADF"/>
          </a:solidFill>
          <a:ln>
            <a:noFill/>
          </a:ln>
          <a:effectLst/>
        </p:spPr>
        <p:txBody>
          <a:bodyPr rtlCol="0" anchor="ctr"/>
          <a:lstStyle/>
          <a:p>
            <a:pPr algn="ctr"/>
            <a:endParaRPr/>
          </a:p>
        </p:txBody>
      </p:sp>
      <p:sp>
        <p:nvSpPr>
          <p:cNvPr id="24" name="TextBox 23"/>
          <p:cNvSpPr txBox="1"/>
          <p:nvPr/>
        </p:nvSpPr>
        <p:spPr>
          <a:xfrm>
            <a:off x="1133856" y="5449824"/>
            <a:ext cx="9921240" cy="347472"/>
          </a:xfrm>
          <a:prstGeom prst="rect">
            <a:avLst/>
          </a:prstGeom>
          <a:noFill/>
        </p:spPr>
        <p:txBody>
          <a:bodyPr wrap="square" lIns="0" tIns="0" rIns="0" bIns="0">
            <a:spAutoFit/>
          </a:bodyPr>
          <a:lstStyle/>
          <a:p>
            <a:r>
              <a:rPr sz="1000" b="1">
                <a:solidFill>
                  <a:srgbClr val="C2521C"/>
                </a:solidFill>
                <a:latin typeface="맑은 고딕"/>
              </a:rPr>
              <a:t>이번 과제 값</a:t>
            </a:r>
          </a:p>
          <a:p>
            <a:pPr>
              <a:spcBef>
                <a:spcPts val="300"/>
              </a:spcBef>
            </a:pPr>
            <a:r>
              <a:rPr sz="850" b="0">
                <a:solidFill>
                  <a:srgbClr val="C2521C"/>
                </a:solidFill>
                <a:latin typeface="Consolas"/>
              </a:rPr>
              <a:t>p_ant  = ( +10,000.00,  0.00,  +17,320.51 ) m        →   p_body = ( +9,970.00,  +17,320.51,  −10.00 ) m       ( 축 맞춤 A → 설치 방위 → 백틸트 순서 )</a:t>
            </a:r>
          </a:p>
        </p:txBody>
      </p:sp>
      <p:sp>
        <p:nvSpPr>
          <p:cNvPr id="25" name="SlideNum"/>
          <p:cNvSpPr txBox="1"/>
          <p:nvPr/>
        </p:nvSpPr>
        <p:spPr>
          <a:xfrm>
            <a:off x="5669280" y="6400800"/>
            <a:ext cx="914400" cy="274320"/>
          </a:xfrm>
          <a:prstGeom prst="rect">
            <a:avLst/>
          </a:prstGeom>
          <a:noFill/>
        </p:spPr>
        <p:txBody>
          <a:bodyPr wrap="none" lIns="0" tIns="0" rIns="0" bIns="0">
            <a:spAutoFit/>
          </a:bodyPr>
          <a:lstStyle/>
          <a:p>
            <a:pPr algn="ctr"/>
            <a:fld id="{1D0B0B0B-0000-4000-8000-00000000C0DE}" type="slidenum">
              <a:rPr lang="ko-KR" altLang="en-US" sz="1000" b="0" dirty="0">
                <a:solidFill>
                  <a:srgbClr val="1A2233"/>
                </a:solidFill>
                <a:latin typeface="Arial"/>
                <a:ea typeface="Arial"/>
              </a:rPr>
              <a:t>23</a:t>
            </a:fld>
            <a:endParaRPr lang="ko-KR" altLang="en-US" sz="1000" b="0" dirty="0">
              <a:solidFill>
                <a:srgbClr val="1A2233"/>
              </a:solidFill>
              <a:latin typeface="Arial"/>
              <a:ea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457200" y="411480"/>
            <a:ext cx="11274552" cy="777240"/>
          </a:xfrm>
          <a:prstGeom prst="rect">
            <a:avLst/>
          </a:prstGeom>
          <a:solidFill>
            <a:srgbClr val="13233F"/>
          </a:solidFill>
          <a:ln/>
        </p:spPr>
        <p:txBody>
          <a:bodyPr/>
          <a:lstStyle/>
          <a:p>
            <a:endParaRPr/>
          </a:p>
        </p:txBody>
      </p:sp>
      <p:sp>
        <p:nvSpPr>
          <p:cNvPr id="3" name="Text 1"/>
          <p:cNvSpPr txBox="1"/>
          <p:nvPr/>
        </p:nvSpPr>
        <p:spPr>
          <a:xfrm>
            <a:off x="640080" y="411480"/>
            <a:ext cx="8732520" cy="777240"/>
          </a:xfrm>
          <a:prstGeom prst="rect">
            <a:avLst/>
          </a:prstGeom>
          <a:noFill/>
          <a:ln/>
        </p:spPr>
        <p:txBody>
          <a:bodyPr wrap="square" lIns="0" tIns="0" rIns="0" bIns="0" rtlCol="0" anchor="ctr"/>
          <a:lstStyle/>
          <a:p>
            <a:pPr marL="0" indent="0">
              <a:buNone/>
            </a:pPr>
            <a:r>
              <a:rPr lang="en-US" sz="2000" b="1" dirty="0">
                <a:solidFill>
                  <a:srgbClr val="FFFFFF"/>
                </a:solidFill>
                <a:latin typeface="맑은 고딕" pitchFamily="34" charset="0"/>
                <a:ea typeface="맑은 고딕" pitchFamily="34" charset="-122"/>
                <a:cs typeface="맑은 고딕" pitchFamily="34" charset="-120"/>
              </a:rPr>
              <a:t>03. 공식과 코드 ②    동체 → NED → ECEF</a:t>
            </a:r>
            <a:endParaRPr lang="en-US" sz="2000" dirty="0"/>
          </a:p>
        </p:txBody>
      </p:sp>
      <p:sp>
        <p:nvSpPr>
          <p:cNvPr id="4" name="Shape 2"/>
          <p:cNvSpPr/>
          <p:nvPr/>
        </p:nvSpPr>
        <p:spPr>
          <a:xfrm>
            <a:off x="457200" y="1188720"/>
            <a:ext cx="11274552" cy="4956048"/>
          </a:xfrm>
          <a:prstGeom prst="rect">
            <a:avLst/>
          </a:prstGeom>
          <a:solidFill>
            <a:srgbClr val="FFFFFF"/>
          </a:solidFill>
          <a:ln/>
        </p:spPr>
        <p:txBody>
          <a:bodyPr/>
          <a:lstStyle/>
          <a:p>
            <a:endParaRPr/>
          </a:p>
        </p:txBody>
      </p:sp>
      <p:sp>
        <p:nvSpPr>
          <p:cNvPr id="5" name="Shape 3"/>
          <p:cNvSpPr/>
          <p:nvPr/>
        </p:nvSpPr>
        <p:spPr>
          <a:xfrm>
            <a:off x="548640" y="6199632"/>
            <a:ext cx="11094415" cy="0"/>
          </a:xfrm>
          <a:prstGeom prst="line">
            <a:avLst/>
          </a:prstGeom>
          <a:noFill/>
          <a:ln w="9525">
            <a:solidFill>
              <a:srgbClr val="BFBFBF"/>
            </a:solidFill>
            <a:prstDash val="solid"/>
          </a:ln>
        </p:spPr>
        <p:txBody>
          <a:bodyPr/>
          <a:lstStyle/>
          <a:p>
            <a:endParaRPr/>
          </a:p>
        </p:txBody>
      </p:sp>
      <p:sp>
        <p:nvSpPr>
          <p:cNvPr id="8" name="TextBox 7"/>
          <p:cNvSpPr txBox="1"/>
          <p:nvPr/>
        </p:nvSpPr>
        <p:spPr>
          <a:xfrm>
            <a:off x="2798064" y="1335024"/>
            <a:ext cx="3749039" cy="219456"/>
          </a:xfrm>
          <a:prstGeom prst="rect">
            <a:avLst/>
          </a:prstGeom>
          <a:noFill/>
        </p:spPr>
        <p:txBody>
          <a:bodyPr wrap="square" lIns="0" tIns="0" rIns="0" bIns="0">
            <a:spAutoFit/>
          </a:bodyPr>
          <a:lstStyle/>
          <a:p>
            <a:r>
              <a:rPr sz="1000" b="1">
                <a:solidFill>
                  <a:srgbClr val="5A6478"/>
                </a:solidFill>
                <a:latin typeface="맑은 고딕"/>
              </a:rPr>
              <a:t>공식</a:t>
            </a:r>
          </a:p>
        </p:txBody>
      </p:sp>
      <p:sp>
        <p:nvSpPr>
          <p:cNvPr id="9" name="TextBox 8"/>
          <p:cNvSpPr txBox="1"/>
          <p:nvPr/>
        </p:nvSpPr>
        <p:spPr>
          <a:xfrm>
            <a:off x="6693408" y="1335024"/>
            <a:ext cx="4581144" cy="219456"/>
          </a:xfrm>
          <a:prstGeom prst="rect">
            <a:avLst/>
          </a:prstGeom>
          <a:noFill/>
        </p:spPr>
        <p:txBody>
          <a:bodyPr wrap="square" lIns="0" tIns="0" rIns="0" bIns="0">
            <a:spAutoFit/>
          </a:bodyPr>
          <a:lstStyle/>
          <a:p>
            <a:r>
              <a:rPr sz="1000" b="1">
                <a:solidFill>
                  <a:srgbClr val="5A6478"/>
                </a:solidFill>
                <a:latin typeface="맑은 고딕"/>
              </a:rPr>
              <a:t>C 구현</a:t>
            </a:r>
          </a:p>
        </p:txBody>
      </p:sp>
      <p:sp>
        <p:nvSpPr>
          <p:cNvPr id="10" name="Rounded Rectangle 9"/>
          <p:cNvSpPr/>
          <p:nvPr/>
        </p:nvSpPr>
        <p:spPr>
          <a:xfrm>
            <a:off x="914400" y="1591056"/>
            <a:ext cx="1737360" cy="1371600"/>
          </a:xfrm>
          <a:prstGeom prst="roundRect">
            <a:avLst>
              <a:gd name="adj" fmla="val 4000"/>
            </a:avLst>
          </a:prstGeom>
          <a:solidFill>
            <a:srgbClr val="EEF1F7"/>
          </a:solidFill>
          <a:ln>
            <a:noFill/>
          </a:ln>
          <a:effectLst/>
        </p:spPr>
        <p:txBody>
          <a:bodyPr rtlCol="0" anchor="ctr"/>
          <a:lstStyle/>
          <a:p>
            <a:pPr algn="ctr"/>
            <a:endParaRPr/>
          </a:p>
        </p:txBody>
      </p:sp>
      <p:sp>
        <p:nvSpPr>
          <p:cNvPr id="11" name="TextBox 10"/>
          <p:cNvSpPr txBox="1"/>
          <p:nvPr/>
        </p:nvSpPr>
        <p:spPr>
          <a:xfrm>
            <a:off x="1024128" y="1993392"/>
            <a:ext cx="1517904" cy="566928"/>
          </a:xfrm>
          <a:prstGeom prst="rect">
            <a:avLst/>
          </a:prstGeom>
          <a:noFill/>
        </p:spPr>
        <p:txBody>
          <a:bodyPr wrap="square" lIns="0" tIns="0" rIns="0" bIns="0">
            <a:spAutoFit/>
          </a:bodyPr>
          <a:lstStyle/>
          <a:p>
            <a:pPr algn="ctr"/>
            <a:r>
              <a:rPr sz="1500" b="1">
                <a:solidFill>
                  <a:srgbClr val="2B57A6"/>
                </a:solidFill>
                <a:latin typeface="맑은 고딕"/>
              </a:rPr>
              <a:t>③</a:t>
            </a:r>
          </a:p>
          <a:p>
            <a:pPr algn="ctr">
              <a:spcBef>
                <a:spcPts val="300"/>
              </a:spcBef>
            </a:pPr>
            <a:r>
              <a:rPr sz="1100" b="1">
                <a:solidFill>
                  <a:srgbClr val="2B57A6"/>
                </a:solidFill>
                <a:latin typeface="맑은 고딕"/>
              </a:rPr>
              <a:t>동체 → NED</a:t>
            </a:r>
          </a:p>
          <a:p>
            <a:pPr algn="ctr">
              <a:spcBef>
                <a:spcPts val="300"/>
              </a:spcBef>
            </a:pPr>
            <a:r>
              <a:rPr sz="750" b="0">
                <a:solidFill>
                  <a:srgbClr val="5A6478"/>
                </a:solidFill>
                <a:latin typeface="맑은 고딕"/>
              </a:rPr>
              <a:t>회전만 (원점 같음)</a:t>
            </a:r>
          </a:p>
        </p:txBody>
      </p:sp>
      <p:sp>
        <p:nvSpPr>
          <p:cNvPr id="12" name="Rounded Rectangle 11"/>
          <p:cNvSpPr/>
          <p:nvPr/>
        </p:nvSpPr>
        <p:spPr>
          <a:xfrm>
            <a:off x="2798064" y="1591056"/>
            <a:ext cx="3749039" cy="1371600"/>
          </a:xfrm>
          <a:prstGeom prst="roundRect">
            <a:avLst>
              <a:gd name="adj" fmla="val 4000"/>
            </a:avLst>
          </a:prstGeom>
          <a:solidFill>
            <a:srgbClr val="EEF1F7"/>
          </a:solidFill>
          <a:ln>
            <a:noFill/>
          </a:ln>
          <a:effectLst/>
        </p:spPr>
        <p:txBody>
          <a:bodyPr rtlCol="0" anchor="ctr"/>
          <a:lstStyle/>
          <a:p>
            <a:pPr algn="ctr"/>
            <a:endParaRPr/>
          </a:p>
        </p:txBody>
      </p:sp>
      <p:pic>
        <p:nvPicPr>
          <p:cNvPr id="13" name="Picture 12" descr="body2ned.png"/>
          <p:cNvPicPr>
            <a:picLocks noChangeAspect="1"/>
          </p:cNvPicPr>
          <p:nvPr/>
        </p:nvPicPr>
        <p:blipFill>
          <a:blip r:embed="rId3"/>
          <a:stretch>
            <a:fillRect/>
          </a:stretch>
        </p:blipFill>
        <p:spPr>
          <a:xfrm>
            <a:off x="2926080" y="2164615"/>
            <a:ext cx="3493008" cy="224481"/>
          </a:xfrm>
          <a:prstGeom prst="rect">
            <a:avLst/>
          </a:prstGeom>
        </p:spPr>
      </p:pic>
      <p:sp>
        <p:nvSpPr>
          <p:cNvPr id="14" name="Rounded Rectangle 13"/>
          <p:cNvSpPr/>
          <p:nvPr/>
        </p:nvSpPr>
        <p:spPr>
          <a:xfrm>
            <a:off x="6693408" y="1591056"/>
            <a:ext cx="4581144" cy="1371600"/>
          </a:xfrm>
          <a:prstGeom prst="roundRect">
            <a:avLst>
              <a:gd name="adj" fmla="val 2000"/>
            </a:avLst>
          </a:prstGeom>
          <a:solidFill>
            <a:srgbClr val="F4F6FA"/>
          </a:solidFill>
          <a:ln>
            <a:noFill/>
          </a:ln>
          <a:effectLst/>
        </p:spPr>
        <p:txBody>
          <a:bodyPr rtlCol="0" anchor="ctr"/>
          <a:lstStyle/>
          <a:p>
            <a:pPr algn="ctr"/>
            <a:endParaRPr/>
          </a:p>
        </p:txBody>
      </p:sp>
      <p:sp>
        <p:nvSpPr>
          <p:cNvPr id="15" name="TextBox 14"/>
          <p:cNvSpPr txBox="1"/>
          <p:nvPr/>
        </p:nvSpPr>
        <p:spPr>
          <a:xfrm>
            <a:off x="6839712" y="1673352"/>
            <a:ext cx="4288536" cy="1225296"/>
          </a:xfrm>
          <a:prstGeom prst="rect">
            <a:avLst/>
          </a:prstGeom>
          <a:noFill/>
        </p:spPr>
        <p:txBody>
          <a:bodyPr wrap="square" lIns="0" tIns="0" rIns="0" bIns="0">
            <a:spAutoFit/>
          </a:bodyPr>
          <a:lstStyle/>
          <a:p>
            <a:pPr>
              <a:spcBef>
                <a:spcPts val="0"/>
              </a:spcBef>
            </a:pPr>
            <a:r>
              <a:rPr sz="850" b="0">
                <a:solidFill>
                  <a:srgbClr val="5A6478"/>
                </a:solidFill>
                <a:latin typeface="Consolas"/>
              </a:rPr>
              <a:t>static matrix f_RotBodyToNed(const ST_Attitude a)</a:t>
            </a:r>
          </a:p>
          <a:p>
            <a:pPr>
              <a:spcBef>
                <a:spcPts val="150"/>
              </a:spcBef>
            </a:pPr>
            <a:r>
              <a:rPr sz="850" b="0">
                <a:solidFill>
                  <a:srgbClr val="1A2233"/>
                </a:solidFill>
                <a:latin typeface="Consolas"/>
              </a:rPr>
              <a:t>{  matrix stRz = f_RotZ(a.dYaw);</a:t>
            </a:r>
          </a:p>
          <a:p>
            <a:pPr>
              <a:spcBef>
                <a:spcPts val="150"/>
              </a:spcBef>
            </a:pPr>
            <a:r>
              <a:rPr sz="850" b="0">
                <a:solidFill>
                  <a:srgbClr val="1A2233"/>
                </a:solidFill>
                <a:latin typeface="Consolas"/>
              </a:rPr>
              <a:t>   matrix stRy = f_RotY(a.dPitch);</a:t>
            </a:r>
          </a:p>
          <a:p>
            <a:pPr>
              <a:spcBef>
                <a:spcPts val="150"/>
              </a:spcBef>
            </a:pPr>
            <a:r>
              <a:rPr sz="850" b="0">
                <a:solidFill>
                  <a:srgbClr val="1A2233"/>
                </a:solidFill>
                <a:latin typeface="Consolas"/>
              </a:rPr>
              <a:t>   matrix stRx = f_RotX(a.dRoll);</a:t>
            </a:r>
          </a:p>
          <a:p>
            <a:pPr>
              <a:spcBef>
                <a:spcPts val="150"/>
              </a:spcBef>
            </a:pPr>
            <a:r>
              <a:rPr sz="850" b="0">
                <a:solidFill>
                  <a:srgbClr val="1A2233"/>
                </a:solidFill>
                <a:latin typeface="Consolas"/>
              </a:rPr>
              <a:t>   return Matrix_Product3(&amp;stRz, &amp;stRy, &amp;stRx);  }</a:t>
            </a:r>
          </a:p>
          <a:p>
            <a:pPr>
              <a:spcBef>
                <a:spcPts val="150"/>
              </a:spcBef>
            </a:pPr>
            <a:r>
              <a:rPr sz="850" b="0">
                <a:solidFill>
                  <a:srgbClr val="5A6478"/>
                </a:solidFill>
                <a:latin typeface="Consolas"/>
              </a:rPr>
              <a:t>            // Rz·Ry·Rx — yaw → pitch → roll 순서</a:t>
            </a:r>
          </a:p>
        </p:txBody>
      </p:sp>
      <p:sp>
        <p:nvSpPr>
          <p:cNvPr id="16" name="Rounded Rectangle 15"/>
          <p:cNvSpPr/>
          <p:nvPr/>
        </p:nvSpPr>
        <p:spPr>
          <a:xfrm>
            <a:off x="914400" y="3108960"/>
            <a:ext cx="1737360" cy="2103120"/>
          </a:xfrm>
          <a:prstGeom prst="roundRect">
            <a:avLst>
              <a:gd name="adj" fmla="val 4000"/>
            </a:avLst>
          </a:prstGeom>
          <a:solidFill>
            <a:srgbClr val="EEF1F7"/>
          </a:solidFill>
          <a:ln>
            <a:noFill/>
          </a:ln>
          <a:effectLst/>
        </p:spPr>
        <p:txBody>
          <a:bodyPr rtlCol="0" anchor="ctr"/>
          <a:lstStyle/>
          <a:p>
            <a:pPr algn="ctr"/>
            <a:endParaRPr/>
          </a:p>
        </p:txBody>
      </p:sp>
      <p:sp>
        <p:nvSpPr>
          <p:cNvPr id="17" name="TextBox 16"/>
          <p:cNvSpPr txBox="1"/>
          <p:nvPr/>
        </p:nvSpPr>
        <p:spPr>
          <a:xfrm>
            <a:off x="1024128" y="3877056"/>
            <a:ext cx="1517904" cy="566928"/>
          </a:xfrm>
          <a:prstGeom prst="rect">
            <a:avLst/>
          </a:prstGeom>
          <a:noFill/>
        </p:spPr>
        <p:txBody>
          <a:bodyPr wrap="square" lIns="0" tIns="0" rIns="0" bIns="0">
            <a:spAutoFit/>
          </a:bodyPr>
          <a:lstStyle/>
          <a:p>
            <a:pPr algn="ctr"/>
            <a:r>
              <a:rPr sz="1500" b="1">
                <a:solidFill>
                  <a:srgbClr val="2B57A6"/>
                </a:solidFill>
                <a:latin typeface="맑은 고딕"/>
              </a:rPr>
              <a:t>④</a:t>
            </a:r>
          </a:p>
          <a:p>
            <a:pPr algn="ctr">
              <a:spcBef>
                <a:spcPts val="300"/>
              </a:spcBef>
            </a:pPr>
            <a:r>
              <a:rPr sz="1100" b="1">
                <a:solidFill>
                  <a:srgbClr val="2B57A6"/>
                </a:solidFill>
                <a:latin typeface="맑은 고딕"/>
              </a:rPr>
              <a:t>NED → ECEF</a:t>
            </a:r>
          </a:p>
          <a:p>
            <a:pPr algn="ctr">
              <a:spcBef>
                <a:spcPts val="300"/>
              </a:spcBef>
            </a:pPr>
            <a:r>
              <a:rPr sz="750" b="0">
                <a:solidFill>
                  <a:srgbClr val="5A6478"/>
                </a:solidFill>
                <a:latin typeface="맑은 고딕"/>
              </a:rPr>
              <a:t>회전 + 평행이동</a:t>
            </a:r>
          </a:p>
        </p:txBody>
      </p:sp>
      <p:sp>
        <p:nvSpPr>
          <p:cNvPr id="18" name="Rounded Rectangle 17"/>
          <p:cNvSpPr/>
          <p:nvPr/>
        </p:nvSpPr>
        <p:spPr>
          <a:xfrm>
            <a:off x="2798064" y="3108960"/>
            <a:ext cx="3749039" cy="2103120"/>
          </a:xfrm>
          <a:prstGeom prst="roundRect">
            <a:avLst>
              <a:gd name="adj" fmla="val 4000"/>
            </a:avLst>
          </a:prstGeom>
          <a:solidFill>
            <a:srgbClr val="EEF1F7"/>
          </a:solidFill>
          <a:ln>
            <a:noFill/>
          </a:ln>
          <a:effectLst/>
        </p:spPr>
        <p:txBody>
          <a:bodyPr rtlCol="0" anchor="ctr"/>
          <a:lstStyle/>
          <a:p>
            <a:pPr algn="ctr"/>
            <a:endParaRPr/>
          </a:p>
        </p:txBody>
      </p:sp>
      <p:pic>
        <p:nvPicPr>
          <p:cNvPr id="19" name="Picture 18" descr="ned2ecef.png"/>
          <p:cNvPicPr>
            <a:picLocks noChangeAspect="1"/>
          </p:cNvPicPr>
          <p:nvPr/>
        </p:nvPicPr>
        <p:blipFill>
          <a:blip r:embed="rId4"/>
          <a:stretch>
            <a:fillRect/>
          </a:stretch>
        </p:blipFill>
        <p:spPr>
          <a:xfrm>
            <a:off x="2889504" y="4051313"/>
            <a:ext cx="3566160" cy="218413"/>
          </a:xfrm>
          <a:prstGeom prst="rect">
            <a:avLst/>
          </a:prstGeom>
        </p:spPr>
      </p:pic>
      <p:sp>
        <p:nvSpPr>
          <p:cNvPr id="20" name="Rounded Rectangle 19"/>
          <p:cNvSpPr/>
          <p:nvPr/>
        </p:nvSpPr>
        <p:spPr>
          <a:xfrm>
            <a:off x="6693408" y="3108960"/>
            <a:ext cx="4581144" cy="2103120"/>
          </a:xfrm>
          <a:prstGeom prst="roundRect">
            <a:avLst>
              <a:gd name="adj" fmla="val 2000"/>
            </a:avLst>
          </a:prstGeom>
          <a:solidFill>
            <a:srgbClr val="F4F6FA"/>
          </a:solidFill>
          <a:ln>
            <a:noFill/>
          </a:ln>
          <a:effectLst/>
        </p:spPr>
        <p:txBody>
          <a:bodyPr rtlCol="0" anchor="ctr"/>
          <a:lstStyle/>
          <a:p>
            <a:pPr algn="ctr"/>
            <a:endParaRPr/>
          </a:p>
        </p:txBody>
      </p:sp>
      <p:sp>
        <p:nvSpPr>
          <p:cNvPr id="21" name="TextBox 20"/>
          <p:cNvSpPr txBox="1"/>
          <p:nvPr/>
        </p:nvSpPr>
        <p:spPr>
          <a:xfrm>
            <a:off x="6839712" y="3191256"/>
            <a:ext cx="4288536" cy="1956815"/>
          </a:xfrm>
          <a:prstGeom prst="rect">
            <a:avLst/>
          </a:prstGeom>
          <a:noFill/>
        </p:spPr>
        <p:txBody>
          <a:bodyPr wrap="square" lIns="0" tIns="0" rIns="0" bIns="0">
            <a:spAutoFit/>
          </a:bodyPr>
          <a:lstStyle/>
          <a:p>
            <a:pPr>
              <a:spcBef>
                <a:spcPts val="0"/>
              </a:spcBef>
            </a:pPr>
            <a:r>
              <a:rPr sz="850" b="0">
                <a:solidFill>
                  <a:srgbClr val="5A6478"/>
                </a:solidFill>
                <a:latin typeface="Consolas"/>
              </a:rPr>
              <a:t>static matrix f_RotNedToEcef(const ST_Lla o)</a:t>
            </a:r>
          </a:p>
          <a:p>
            <a:pPr>
              <a:spcBef>
                <a:spcPts val="150"/>
              </a:spcBef>
            </a:pPr>
            <a:r>
              <a:rPr sz="850" b="0">
                <a:solidFill>
                  <a:srgbClr val="1A2233"/>
                </a:solidFill>
                <a:latin typeface="Consolas"/>
              </a:rPr>
              <a:t>{  matrix stRz = f_RotZ(o.dLon);</a:t>
            </a:r>
          </a:p>
          <a:p>
            <a:pPr>
              <a:spcBef>
                <a:spcPts val="150"/>
              </a:spcBef>
            </a:pPr>
            <a:r>
              <a:rPr sz="850" b="0">
                <a:solidFill>
                  <a:srgbClr val="1A2233"/>
                </a:solidFill>
                <a:latin typeface="Consolas"/>
              </a:rPr>
              <a:t>   matrix stRy = f_RotY(-PI / 2.0 - o.dLat);</a:t>
            </a:r>
          </a:p>
          <a:p>
            <a:pPr>
              <a:spcBef>
                <a:spcPts val="150"/>
              </a:spcBef>
            </a:pPr>
            <a:r>
              <a:rPr sz="850" b="0">
                <a:solidFill>
                  <a:srgbClr val="1A2233"/>
                </a:solidFill>
                <a:latin typeface="Consolas"/>
              </a:rPr>
              <a:t>   return Matrix_Product2(&amp;stRz, &amp;stRy);  }</a:t>
            </a:r>
          </a:p>
          <a:p>
            <a:pPr>
              <a:spcBef>
                <a:spcPts val="150"/>
              </a:spcBef>
            </a:pPr>
            <a:endParaRPr sz="850" b="0">
              <a:solidFill>
                <a:srgbClr val="1A1A1A"/>
              </a:solidFill>
              <a:latin typeface="Consolas"/>
            </a:endParaRPr>
          </a:p>
          <a:p>
            <a:pPr>
              <a:spcBef>
                <a:spcPts val="150"/>
              </a:spcBef>
            </a:pPr>
            <a:r>
              <a:rPr sz="850" b="0">
                <a:solidFill>
                  <a:srgbClr val="5A6478"/>
                </a:solidFill>
                <a:latin typeface="Consolas"/>
              </a:rPr>
              <a:t>ST_Vec3 f_NedToEcef(const ST_Lla o, const ST_Vec3 n)</a:t>
            </a:r>
          </a:p>
          <a:p>
            <a:pPr>
              <a:spcBef>
                <a:spcPts val="150"/>
              </a:spcBef>
            </a:pPr>
            <a:r>
              <a:rPr sz="850" b="0">
                <a:solidFill>
                  <a:srgbClr val="1A2233"/>
                </a:solidFill>
                <a:latin typeface="Consolas"/>
              </a:rPr>
              <a:t>{  stRot  = Matrix_Product2(&amp;stR, &amp;stP);</a:t>
            </a:r>
          </a:p>
          <a:p>
            <a:pPr>
              <a:spcBef>
                <a:spcPts val="150"/>
              </a:spcBef>
            </a:pPr>
            <a:r>
              <a:rPr sz="850" b="0">
                <a:solidFill>
                  <a:srgbClr val="1A2233"/>
                </a:solidFill>
                <a:latin typeface="Consolas"/>
              </a:rPr>
              <a:t>   stShip = f_ToMat(f_LlaToEcef(o));</a:t>
            </a:r>
          </a:p>
          <a:p>
            <a:pPr>
              <a:spcBef>
                <a:spcPts val="150"/>
              </a:spcBef>
            </a:pPr>
            <a:r>
              <a:rPr sz="850" b="0">
                <a:solidFill>
                  <a:srgbClr val="5A6478"/>
                </a:solidFill>
                <a:latin typeface="Consolas"/>
              </a:rPr>
              <a:t>            // 함선 ECEF 를 함수가 안에서 구한다</a:t>
            </a:r>
          </a:p>
          <a:p>
            <a:pPr>
              <a:spcBef>
                <a:spcPts val="150"/>
              </a:spcBef>
            </a:pPr>
            <a:r>
              <a:rPr sz="850" b="0">
                <a:solidFill>
                  <a:srgbClr val="1A2233"/>
                </a:solidFill>
                <a:latin typeface="Consolas"/>
              </a:rPr>
              <a:t>   stOut  = Matrix_Add(&amp;stRot, &amp;stShip);  }</a:t>
            </a:r>
          </a:p>
        </p:txBody>
      </p:sp>
      <p:sp>
        <p:nvSpPr>
          <p:cNvPr id="22" name="Rounded Rectangle 21"/>
          <p:cNvSpPr/>
          <p:nvPr/>
        </p:nvSpPr>
        <p:spPr>
          <a:xfrm>
            <a:off x="914400" y="5358384"/>
            <a:ext cx="10360152" cy="493776"/>
          </a:xfrm>
          <a:prstGeom prst="roundRect">
            <a:avLst>
              <a:gd name="adj" fmla="val 4000"/>
            </a:avLst>
          </a:prstGeom>
          <a:solidFill>
            <a:srgbClr val="FBEADF"/>
          </a:solidFill>
          <a:ln>
            <a:noFill/>
          </a:ln>
          <a:effectLst/>
        </p:spPr>
        <p:txBody>
          <a:bodyPr rtlCol="0" anchor="ctr"/>
          <a:lstStyle/>
          <a:p>
            <a:pPr algn="ctr"/>
            <a:endParaRPr/>
          </a:p>
        </p:txBody>
      </p:sp>
      <p:sp>
        <p:nvSpPr>
          <p:cNvPr id="23" name="TextBox 22"/>
          <p:cNvSpPr txBox="1"/>
          <p:nvPr/>
        </p:nvSpPr>
        <p:spPr>
          <a:xfrm>
            <a:off x="1133856" y="5449824"/>
            <a:ext cx="9921240" cy="347472"/>
          </a:xfrm>
          <a:prstGeom prst="rect">
            <a:avLst/>
          </a:prstGeom>
          <a:noFill/>
        </p:spPr>
        <p:txBody>
          <a:bodyPr wrap="square" lIns="0" tIns="0" rIns="0" bIns="0">
            <a:spAutoFit/>
          </a:bodyPr>
          <a:lstStyle/>
          <a:p>
            <a:r>
              <a:rPr sz="1000" b="1">
                <a:solidFill>
                  <a:srgbClr val="C2521C"/>
                </a:solidFill>
                <a:latin typeface="맑은 고딕"/>
              </a:rPr>
              <a:t>이번 과제 값</a:t>
            </a:r>
          </a:p>
          <a:p>
            <a:pPr>
              <a:spcBef>
                <a:spcPts val="300"/>
              </a:spcBef>
            </a:pPr>
            <a:r>
              <a:rPr sz="850" b="0">
                <a:solidFill>
                  <a:srgbClr val="C2521C"/>
                </a:solidFill>
                <a:latin typeface="Consolas"/>
              </a:rPr>
              <a:t>p_NED  = ( −5,197.59,  +19,297.30,  −10.00 ) m           p_ECEF = ( −3,132,053.79,  +4,078,527.19,  +3,760,545.95 ) m</a:t>
            </a:r>
          </a:p>
        </p:txBody>
      </p:sp>
      <p:sp>
        <p:nvSpPr>
          <p:cNvPr id="24" name="SlideNum"/>
          <p:cNvSpPr txBox="1"/>
          <p:nvPr/>
        </p:nvSpPr>
        <p:spPr>
          <a:xfrm>
            <a:off x="5669280" y="6400800"/>
            <a:ext cx="914400" cy="274320"/>
          </a:xfrm>
          <a:prstGeom prst="rect">
            <a:avLst/>
          </a:prstGeom>
          <a:noFill/>
        </p:spPr>
        <p:txBody>
          <a:bodyPr wrap="none" lIns="0" tIns="0" rIns="0" bIns="0">
            <a:spAutoFit/>
          </a:bodyPr>
          <a:lstStyle/>
          <a:p>
            <a:pPr algn="ctr"/>
            <a:fld id="{1D0B0B0B-0000-4000-8000-00000000C0DE}" type="slidenum">
              <a:rPr lang="ko-KR" altLang="en-US" sz="1000" b="0" dirty="0">
                <a:solidFill>
                  <a:srgbClr val="1A2233"/>
                </a:solidFill>
                <a:latin typeface="Arial"/>
                <a:ea typeface="Arial"/>
              </a:rPr>
              <a:t>24</a:t>
            </a:fld>
            <a:endParaRPr lang="ko-KR" altLang="en-US" sz="1000" b="0" dirty="0">
              <a:solidFill>
                <a:srgbClr val="1A2233"/>
              </a:solidFill>
              <a:latin typeface="Arial"/>
              <a:ea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457200" y="411480"/>
            <a:ext cx="11274552" cy="777240"/>
          </a:xfrm>
          <a:prstGeom prst="rect">
            <a:avLst/>
          </a:prstGeom>
          <a:solidFill>
            <a:srgbClr val="13233F"/>
          </a:solidFill>
          <a:ln/>
        </p:spPr>
        <p:txBody>
          <a:bodyPr/>
          <a:lstStyle/>
          <a:p>
            <a:endParaRPr/>
          </a:p>
        </p:txBody>
      </p:sp>
      <p:sp>
        <p:nvSpPr>
          <p:cNvPr id="3" name="Text 1"/>
          <p:cNvSpPr txBox="1"/>
          <p:nvPr/>
        </p:nvSpPr>
        <p:spPr>
          <a:xfrm>
            <a:off x="640080" y="411480"/>
            <a:ext cx="8732520" cy="777240"/>
          </a:xfrm>
          <a:prstGeom prst="rect">
            <a:avLst/>
          </a:prstGeom>
          <a:noFill/>
          <a:ln/>
        </p:spPr>
        <p:txBody>
          <a:bodyPr wrap="square" lIns="0" tIns="0" rIns="0" bIns="0" rtlCol="0" anchor="ctr"/>
          <a:lstStyle/>
          <a:p>
            <a:pPr marL="0" indent="0">
              <a:buNone/>
            </a:pPr>
            <a:r>
              <a:rPr lang="en-US" sz="2000" b="1" dirty="0">
                <a:solidFill>
                  <a:srgbClr val="FFFFFF"/>
                </a:solidFill>
                <a:latin typeface="맑은 고딕" pitchFamily="34" charset="0"/>
                <a:ea typeface="맑은 고딕" pitchFamily="34" charset="-122"/>
                <a:cs typeface="맑은 고딕" pitchFamily="34" charset="-120"/>
              </a:rPr>
              <a:t>03. 공식과 코드 ③    ECEF ↔ LLA</a:t>
            </a:r>
            <a:endParaRPr lang="en-US" sz="2000" dirty="0"/>
          </a:p>
        </p:txBody>
      </p:sp>
      <p:sp>
        <p:nvSpPr>
          <p:cNvPr id="4" name="Shape 2"/>
          <p:cNvSpPr/>
          <p:nvPr/>
        </p:nvSpPr>
        <p:spPr>
          <a:xfrm>
            <a:off x="457200" y="1188720"/>
            <a:ext cx="11274552" cy="4956048"/>
          </a:xfrm>
          <a:prstGeom prst="rect">
            <a:avLst/>
          </a:prstGeom>
          <a:solidFill>
            <a:srgbClr val="FFFFFF"/>
          </a:solidFill>
          <a:ln/>
        </p:spPr>
        <p:txBody>
          <a:bodyPr/>
          <a:lstStyle/>
          <a:p>
            <a:endParaRPr/>
          </a:p>
        </p:txBody>
      </p:sp>
      <p:sp>
        <p:nvSpPr>
          <p:cNvPr id="5" name="Shape 3"/>
          <p:cNvSpPr/>
          <p:nvPr/>
        </p:nvSpPr>
        <p:spPr>
          <a:xfrm>
            <a:off x="548640" y="6199632"/>
            <a:ext cx="11094415" cy="0"/>
          </a:xfrm>
          <a:prstGeom prst="line">
            <a:avLst/>
          </a:prstGeom>
          <a:noFill/>
          <a:ln w="9525">
            <a:solidFill>
              <a:srgbClr val="BFBFBF"/>
            </a:solidFill>
            <a:prstDash val="solid"/>
          </a:ln>
        </p:spPr>
        <p:txBody>
          <a:bodyPr/>
          <a:lstStyle/>
          <a:p>
            <a:endParaRPr/>
          </a:p>
        </p:txBody>
      </p:sp>
      <p:sp>
        <p:nvSpPr>
          <p:cNvPr id="8" name="TextBox 7"/>
          <p:cNvSpPr txBox="1"/>
          <p:nvPr/>
        </p:nvSpPr>
        <p:spPr>
          <a:xfrm>
            <a:off x="2798064" y="1335024"/>
            <a:ext cx="3749039" cy="219456"/>
          </a:xfrm>
          <a:prstGeom prst="rect">
            <a:avLst/>
          </a:prstGeom>
          <a:noFill/>
        </p:spPr>
        <p:txBody>
          <a:bodyPr wrap="square" lIns="0" tIns="0" rIns="0" bIns="0">
            <a:spAutoFit/>
          </a:bodyPr>
          <a:lstStyle/>
          <a:p>
            <a:r>
              <a:rPr sz="1000" b="1">
                <a:solidFill>
                  <a:srgbClr val="5A6478"/>
                </a:solidFill>
                <a:latin typeface="맑은 고딕"/>
              </a:rPr>
              <a:t>공식</a:t>
            </a:r>
          </a:p>
        </p:txBody>
      </p:sp>
      <p:sp>
        <p:nvSpPr>
          <p:cNvPr id="9" name="TextBox 8"/>
          <p:cNvSpPr txBox="1"/>
          <p:nvPr/>
        </p:nvSpPr>
        <p:spPr>
          <a:xfrm>
            <a:off x="6693408" y="1335024"/>
            <a:ext cx="4581144" cy="219456"/>
          </a:xfrm>
          <a:prstGeom prst="rect">
            <a:avLst/>
          </a:prstGeom>
          <a:noFill/>
        </p:spPr>
        <p:txBody>
          <a:bodyPr wrap="square" lIns="0" tIns="0" rIns="0" bIns="0">
            <a:spAutoFit/>
          </a:bodyPr>
          <a:lstStyle/>
          <a:p>
            <a:r>
              <a:rPr sz="1000" b="1">
                <a:solidFill>
                  <a:srgbClr val="5A6478"/>
                </a:solidFill>
                <a:latin typeface="맑은 고딕"/>
              </a:rPr>
              <a:t>C 구현</a:t>
            </a:r>
          </a:p>
        </p:txBody>
      </p:sp>
      <p:sp>
        <p:nvSpPr>
          <p:cNvPr id="10" name="Rounded Rectangle 9"/>
          <p:cNvSpPr/>
          <p:nvPr/>
        </p:nvSpPr>
        <p:spPr>
          <a:xfrm>
            <a:off x="914400" y="1591056"/>
            <a:ext cx="1737360" cy="1536192"/>
          </a:xfrm>
          <a:prstGeom prst="roundRect">
            <a:avLst>
              <a:gd name="adj" fmla="val 4000"/>
            </a:avLst>
          </a:prstGeom>
          <a:solidFill>
            <a:srgbClr val="EEF1F7"/>
          </a:solidFill>
          <a:ln>
            <a:noFill/>
          </a:ln>
          <a:effectLst/>
        </p:spPr>
        <p:txBody>
          <a:bodyPr rtlCol="0" anchor="ctr"/>
          <a:lstStyle/>
          <a:p>
            <a:pPr algn="ctr"/>
            <a:endParaRPr/>
          </a:p>
        </p:txBody>
      </p:sp>
      <p:sp>
        <p:nvSpPr>
          <p:cNvPr id="11" name="TextBox 10"/>
          <p:cNvSpPr txBox="1"/>
          <p:nvPr/>
        </p:nvSpPr>
        <p:spPr>
          <a:xfrm>
            <a:off x="1024128" y="2075688"/>
            <a:ext cx="1517904" cy="566928"/>
          </a:xfrm>
          <a:prstGeom prst="rect">
            <a:avLst/>
          </a:prstGeom>
          <a:noFill/>
        </p:spPr>
        <p:txBody>
          <a:bodyPr wrap="square" lIns="0" tIns="0" rIns="0" bIns="0">
            <a:spAutoFit/>
          </a:bodyPr>
          <a:lstStyle/>
          <a:p>
            <a:pPr algn="ctr"/>
            <a:r>
              <a:rPr sz="1500" b="1">
                <a:solidFill>
                  <a:srgbClr val="2B57A6"/>
                </a:solidFill>
                <a:latin typeface="맑은 고딕"/>
              </a:rPr>
              <a:t>⑤</a:t>
            </a:r>
          </a:p>
          <a:p>
            <a:pPr algn="ctr">
              <a:spcBef>
                <a:spcPts val="300"/>
              </a:spcBef>
            </a:pPr>
            <a:r>
              <a:rPr sz="1100" b="1">
                <a:solidFill>
                  <a:srgbClr val="2B57A6"/>
                </a:solidFill>
                <a:latin typeface="맑은 고딕"/>
              </a:rPr>
              <a:t>LLA → ECEF</a:t>
            </a:r>
          </a:p>
          <a:p>
            <a:pPr algn="ctr">
              <a:spcBef>
                <a:spcPts val="300"/>
              </a:spcBef>
            </a:pPr>
            <a:r>
              <a:rPr sz="750" b="0">
                <a:solidFill>
                  <a:srgbClr val="5A6478"/>
                </a:solidFill>
                <a:latin typeface="맑은 고딕"/>
              </a:rPr>
              <a:t>한 번에 나온다</a:t>
            </a:r>
          </a:p>
        </p:txBody>
      </p:sp>
      <p:sp>
        <p:nvSpPr>
          <p:cNvPr id="12" name="Rounded Rectangle 11"/>
          <p:cNvSpPr/>
          <p:nvPr/>
        </p:nvSpPr>
        <p:spPr>
          <a:xfrm>
            <a:off x="2798064" y="1591056"/>
            <a:ext cx="3749039" cy="1536192"/>
          </a:xfrm>
          <a:prstGeom prst="roundRect">
            <a:avLst>
              <a:gd name="adj" fmla="val 4000"/>
            </a:avLst>
          </a:prstGeom>
          <a:solidFill>
            <a:srgbClr val="EEF1F7"/>
          </a:solidFill>
          <a:ln>
            <a:noFill/>
          </a:ln>
          <a:effectLst/>
        </p:spPr>
        <p:txBody>
          <a:bodyPr rtlCol="0" anchor="ctr"/>
          <a:lstStyle/>
          <a:p>
            <a:pPr algn="ctr"/>
            <a:endParaRPr/>
          </a:p>
        </p:txBody>
      </p:sp>
      <p:pic>
        <p:nvPicPr>
          <p:cNvPr id="13" name="Picture 12" descr="lla2ecef.png"/>
          <p:cNvPicPr>
            <a:picLocks noChangeAspect="1"/>
          </p:cNvPicPr>
          <p:nvPr/>
        </p:nvPicPr>
        <p:blipFill>
          <a:blip r:embed="rId3"/>
          <a:stretch>
            <a:fillRect/>
          </a:stretch>
        </p:blipFill>
        <p:spPr>
          <a:xfrm>
            <a:off x="3556391" y="1700784"/>
            <a:ext cx="2232385" cy="1316735"/>
          </a:xfrm>
          <a:prstGeom prst="rect">
            <a:avLst/>
          </a:prstGeom>
        </p:spPr>
      </p:pic>
      <p:sp>
        <p:nvSpPr>
          <p:cNvPr id="14" name="Rounded Rectangle 13"/>
          <p:cNvSpPr/>
          <p:nvPr/>
        </p:nvSpPr>
        <p:spPr>
          <a:xfrm>
            <a:off x="6693408" y="1591056"/>
            <a:ext cx="4581144" cy="1536192"/>
          </a:xfrm>
          <a:prstGeom prst="roundRect">
            <a:avLst>
              <a:gd name="adj" fmla="val 2000"/>
            </a:avLst>
          </a:prstGeom>
          <a:solidFill>
            <a:srgbClr val="F4F6FA"/>
          </a:solidFill>
          <a:ln>
            <a:noFill/>
          </a:ln>
          <a:effectLst/>
        </p:spPr>
        <p:txBody>
          <a:bodyPr rtlCol="0" anchor="ctr"/>
          <a:lstStyle/>
          <a:p>
            <a:pPr algn="ctr"/>
            <a:endParaRPr/>
          </a:p>
        </p:txBody>
      </p:sp>
      <p:sp>
        <p:nvSpPr>
          <p:cNvPr id="15" name="TextBox 14"/>
          <p:cNvSpPr txBox="1"/>
          <p:nvPr/>
        </p:nvSpPr>
        <p:spPr>
          <a:xfrm>
            <a:off x="6839712" y="1673352"/>
            <a:ext cx="4288536" cy="913070"/>
          </a:xfrm>
          <a:prstGeom prst="rect">
            <a:avLst/>
          </a:prstGeom>
          <a:noFill/>
        </p:spPr>
        <p:txBody>
          <a:bodyPr wrap="square" lIns="0" tIns="0" rIns="0" bIns="0">
            <a:spAutoFit/>
          </a:bodyPr>
          <a:lstStyle/>
          <a:p>
            <a:pPr>
              <a:spcBef>
                <a:spcPts val="0"/>
              </a:spcBef>
            </a:pPr>
            <a:r>
              <a:rPr sz="850" b="0" dirty="0" err="1">
                <a:solidFill>
                  <a:srgbClr val="1A2233"/>
                </a:solidFill>
                <a:latin typeface="Consolas"/>
              </a:rPr>
              <a:t>dN</a:t>
            </a:r>
            <a:r>
              <a:rPr sz="850" b="0" dirty="0">
                <a:solidFill>
                  <a:srgbClr val="1A2233"/>
                </a:solidFill>
                <a:latin typeface="Consolas"/>
              </a:rPr>
              <a:t> = WGS84_A / </a:t>
            </a:r>
            <a:r>
              <a:rPr sz="850" b="0" dirty="0" err="1">
                <a:solidFill>
                  <a:srgbClr val="1A2233"/>
                </a:solidFill>
                <a:latin typeface="Consolas"/>
              </a:rPr>
              <a:t>sqrt</a:t>
            </a:r>
            <a:r>
              <a:rPr sz="850" b="0" dirty="0">
                <a:solidFill>
                  <a:srgbClr val="1A2233"/>
                </a:solidFill>
                <a:latin typeface="Consolas"/>
              </a:rPr>
              <a:t>(1.0 </a:t>
            </a:r>
            <a:r>
              <a:rPr sz="850" b="0">
                <a:solidFill>
                  <a:srgbClr val="1A2233"/>
                </a:solidFill>
                <a:latin typeface="Consolas"/>
              </a:rPr>
              <a:t>- </a:t>
            </a:r>
            <a:r>
              <a:rPr sz="850" b="0" smtClean="0">
                <a:solidFill>
                  <a:srgbClr val="1A2233"/>
                </a:solidFill>
                <a:latin typeface="Consolas"/>
              </a:rPr>
              <a:t>WGS84_E2 </a:t>
            </a:r>
            <a:r>
              <a:rPr sz="850" b="0" dirty="0">
                <a:solidFill>
                  <a:srgbClr val="1A2233"/>
                </a:solidFill>
                <a:latin typeface="Consolas"/>
              </a:rPr>
              <a:t>* sin(</a:t>
            </a:r>
            <a:r>
              <a:rPr sz="850" b="0" dirty="0" err="1">
                <a:solidFill>
                  <a:srgbClr val="1A2233"/>
                </a:solidFill>
                <a:latin typeface="Consolas"/>
              </a:rPr>
              <a:t>dLat</a:t>
            </a:r>
            <a:r>
              <a:rPr sz="850" b="0" dirty="0">
                <a:solidFill>
                  <a:srgbClr val="1A2233"/>
                </a:solidFill>
                <a:latin typeface="Consolas"/>
              </a:rPr>
              <a:t>) * sin(</a:t>
            </a:r>
            <a:r>
              <a:rPr sz="850" b="0" dirty="0" err="1">
                <a:solidFill>
                  <a:srgbClr val="1A2233"/>
                </a:solidFill>
                <a:latin typeface="Consolas"/>
              </a:rPr>
              <a:t>dLat</a:t>
            </a:r>
            <a:r>
              <a:rPr sz="850" b="0" dirty="0">
                <a:solidFill>
                  <a:srgbClr val="1A2233"/>
                </a:solidFill>
                <a:latin typeface="Consolas"/>
              </a:rPr>
              <a:t>));</a:t>
            </a:r>
          </a:p>
          <a:p>
            <a:pPr>
              <a:spcBef>
                <a:spcPts val="150"/>
              </a:spcBef>
            </a:pPr>
            <a:r>
              <a:rPr sz="850" b="0" dirty="0" err="1">
                <a:solidFill>
                  <a:srgbClr val="1A2233"/>
                </a:solidFill>
                <a:latin typeface="Consolas"/>
              </a:rPr>
              <a:t>stEcef.dX</a:t>
            </a:r>
            <a:r>
              <a:rPr sz="850" b="0" dirty="0">
                <a:solidFill>
                  <a:srgbClr val="1A2233"/>
                </a:solidFill>
                <a:latin typeface="Consolas"/>
              </a:rPr>
              <a:t> = (</a:t>
            </a:r>
            <a:r>
              <a:rPr sz="850" b="0" dirty="0" err="1">
                <a:solidFill>
                  <a:srgbClr val="1A2233"/>
                </a:solidFill>
                <a:latin typeface="Consolas"/>
              </a:rPr>
              <a:t>dN</a:t>
            </a:r>
            <a:r>
              <a:rPr sz="850" b="0" dirty="0">
                <a:solidFill>
                  <a:srgbClr val="1A2233"/>
                </a:solidFill>
                <a:latin typeface="Consolas"/>
              </a:rPr>
              <a:t> + </a:t>
            </a:r>
            <a:r>
              <a:rPr sz="850" b="0" dirty="0" err="1">
                <a:solidFill>
                  <a:srgbClr val="1A2233"/>
                </a:solidFill>
                <a:latin typeface="Consolas"/>
              </a:rPr>
              <a:t>dAlt</a:t>
            </a:r>
            <a:r>
              <a:rPr sz="850" b="0" dirty="0">
                <a:solidFill>
                  <a:srgbClr val="1A2233"/>
                </a:solidFill>
                <a:latin typeface="Consolas"/>
              </a:rPr>
              <a:t>) * cos(</a:t>
            </a:r>
            <a:r>
              <a:rPr sz="850" b="0" dirty="0" err="1">
                <a:solidFill>
                  <a:srgbClr val="1A2233"/>
                </a:solidFill>
                <a:latin typeface="Consolas"/>
              </a:rPr>
              <a:t>dLat</a:t>
            </a:r>
            <a:r>
              <a:rPr sz="850" b="0" dirty="0">
                <a:solidFill>
                  <a:srgbClr val="1A2233"/>
                </a:solidFill>
                <a:latin typeface="Consolas"/>
              </a:rPr>
              <a:t>) * cos(</a:t>
            </a:r>
            <a:r>
              <a:rPr sz="850" b="0" dirty="0" err="1">
                <a:solidFill>
                  <a:srgbClr val="1A2233"/>
                </a:solidFill>
                <a:latin typeface="Consolas"/>
              </a:rPr>
              <a:t>dLon</a:t>
            </a:r>
            <a:r>
              <a:rPr sz="850" b="0" dirty="0">
                <a:solidFill>
                  <a:srgbClr val="1A2233"/>
                </a:solidFill>
                <a:latin typeface="Consolas"/>
              </a:rPr>
              <a:t>);</a:t>
            </a:r>
          </a:p>
          <a:p>
            <a:pPr>
              <a:spcBef>
                <a:spcPts val="150"/>
              </a:spcBef>
            </a:pPr>
            <a:r>
              <a:rPr sz="850" b="0" dirty="0" err="1">
                <a:solidFill>
                  <a:srgbClr val="1A2233"/>
                </a:solidFill>
                <a:latin typeface="Consolas"/>
              </a:rPr>
              <a:t>stEcef.dY</a:t>
            </a:r>
            <a:r>
              <a:rPr sz="850" b="0" dirty="0">
                <a:solidFill>
                  <a:srgbClr val="1A2233"/>
                </a:solidFill>
                <a:latin typeface="Consolas"/>
              </a:rPr>
              <a:t> = (</a:t>
            </a:r>
            <a:r>
              <a:rPr sz="850" b="0" dirty="0" err="1">
                <a:solidFill>
                  <a:srgbClr val="1A2233"/>
                </a:solidFill>
                <a:latin typeface="Consolas"/>
              </a:rPr>
              <a:t>dN</a:t>
            </a:r>
            <a:r>
              <a:rPr sz="850" b="0" dirty="0">
                <a:solidFill>
                  <a:srgbClr val="1A2233"/>
                </a:solidFill>
                <a:latin typeface="Consolas"/>
              </a:rPr>
              <a:t> + </a:t>
            </a:r>
            <a:r>
              <a:rPr sz="850" b="0" dirty="0" err="1">
                <a:solidFill>
                  <a:srgbClr val="1A2233"/>
                </a:solidFill>
                <a:latin typeface="Consolas"/>
              </a:rPr>
              <a:t>dAlt</a:t>
            </a:r>
            <a:r>
              <a:rPr sz="850" b="0" dirty="0">
                <a:solidFill>
                  <a:srgbClr val="1A2233"/>
                </a:solidFill>
                <a:latin typeface="Consolas"/>
              </a:rPr>
              <a:t>) * cos(</a:t>
            </a:r>
            <a:r>
              <a:rPr sz="850" b="0" dirty="0" err="1">
                <a:solidFill>
                  <a:srgbClr val="1A2233"/>
                </a:solidFill>
                <a:latin typeface="Consolas"/>
              </a:rPr>
              <a:t>dLat</a:t>
            </a:r>
            <a:r>
              <a:rPr sz="850" b="0" dirty="0">
                <a:solidFill>
                  <a:srgbClr val="1A2233"/>
                </a:solidFill>
                <a:latin typeface="Consolas"/>
              </a:rPr>
              <a:t>) * sin(</a:t>
            </a:r>
            <a:r>
              <a:rPr sz="850" b="0" dirty="0" err="1">
                <a:solidFill>
                  <a:srgbClr val="1A2233"/>
                </a:solidFill>
                <a:latin typeface="Consolas"/>
              </a:rPr>
              <a:t>dLon</a:t>
            </a:r>
            <a:r>
              <a:rPr sz="850" b="0" dirty="0">
                <a:solidFill>
                  <a:srgbClr val="1A2233"/>
                </a:solidFill>
                <a:latin typeface="Consolas"/>
              </a:rPr>
              <a:t>);</a:t>
            </a:r>
          </a:p>
          <a:p>
            <a:pPr>
              <a:spcBef>
                <a:spcPts val="150"/>
              </a:spcBef>
            </a:pPr>
            <a:r>
              <a:rPr sz="850" b="0" dirty="0" err="1">
                <a:solidFill>
                  <a:srgbClr val="1A2233"/>
                </a:solidFill>
                <a:latin typeface="Consolas"/>
              </a:rPr>
              <a:t>stEcef.dZ</a:t>
            </a:r>
            <a:r>
              <a:rPr sz="850" b="0" dirty="0">
                <a:solidFill>
                  <a:srgbClr val="1A2233"/>
                </a:solidFill>
                <a:latin typeface="Consolas"/>
              </a:rPr>
              <a:t> = (</a:t>
            </a:r>
            <a:r>
              <a:rPr sz="850" b="0" dirty="0" err="1">
                <a:solidFill>
                  <a:srgbClr val="1A2233"/>
                </a:solidFill>
                <a:latin typeface="Consolas"/>
              </a:rPr>
              <a:t>dN</a:t>
            </a:r>
            <a:r>
              <a:rPr sz="850" b="0" dirty="0">
                <a:solidFill>
                  <a:srgbClr val="1A2233"/>
                </a:solidFill>
                <a:latin typeface="Consolas"/>
              </a:rPr>
              <a:t> * (1.0 - WGS84_E2) + </a:t>
            </a:r>
            <a:r>
              <a:rPr sz="850" b="0" dirty="0" err="1">
                <a:solidFill>
                  <a:srgbClr val="1A2233"/>
                </a:solidFill>
                <a:latin typeface="Consolas"/>
              </a:rPr>
              <a:t>dAlt</a:t>
            </a:r>
            <a:r>
              <a:rPr sz="850" b="0" dirty="0">
                <a:solidFill>
                  <a:srgbClr val="1A2233"/>
                </a:solidFill>
                <a:latin typeface="Consolas"/>
              </a:rPr>
              <a:t>)</a:t>
            </a:r>
          </a:p>
          <a:p>
            <a:pPr>
              <a:spcBef>
                <a:spcPts val="150"/>
              </a:spcBef>
            </a:pPr>
            <a:r>
              <a:rPr sz="850" b="0" dirty="0">
                <a:solidFill>
                  <a:srgbClr val="1A2233"/>
                </a:solidFill>
                <a:latin typeface="Consolas"/>
              </a:rPr>
              <a:t>                        * sin(</a:t>
            </a:r>
            <a:r>
              <a:rPr sz="850" b="0" dirty="0" err="1">
                <a:solidFill>
                  <a:srgbClr val="1A2233"/>
                </a:solidFill>
                <a:latin typeface="Consolas"/>
              </a:rPr>
              <a:t>dLat</a:t>
            </a:r>
            <a:r>
              <a:rPr sz="850" b="0" dirty="0">
                <a:solidFill>
                  <a:srgbClr val="1A2233"/>
                </a:solidFill>
                <a:latin typeface="Consolas"/>
              </a:rPr>
              <a:t>);</a:t>
            </a:r>
          </a:p>
          <a:p>
            <a:pPr>
              <a:spcBef>
                <a:spcPts val="150"/>
              </a:spcBef>
            </a:pPr>
            <a:r>
              <a:rPr sz="850" b="0" dirty="0">
                <a:solidFill>
                  <a:srgbClr val="5A6478"/>
                </a:solidFill>
                <a:latin typeface="Consolas"/>
              </a:rPr>
              <a:t>        // z </a:t>
            </a:r>
            <a:r>
              <a:rPr sz="850" b="0" dirty="0" err="1">
                <a:solidFill>
                  <a:srgbClr val="5A6478"/>
                </a:solidFill>
                <a:latin typeface="Consolas"/>
              </a:rPr>
              <a:t>에만</a:t>
            </a:r>
            <a:r>
              <a:rPr sz="850" b="0" dirty="0">
                <a:solidFill>
                  <a:srgbClr val="5A6478"/>
                </a:solidFill>
                <a:latin typeface="Consolas"/>
              </a:rPr>
              <a:t> (1 - e²) — 극 </a:t>
            </a:r>
            <a:r>
              <a:rPr sz="850" b="0" dirty="0" err="1">
                <a:solidFill>
                  <a:srgbClr val="5A6478"/>
                </a:solidFill>
                <a:latin typeface="Consolas"/>
              </a:rPr>
              <a:t>쪽으로</a:t>
            </a:r>
            <a:r>
              <a:rPr sz="850" b="0" dirty="0">
                <a:solidFill>
                  <a:srgbClr val="5A6478"/>
                </a:solidFill>
                <a:latin typeface="Consolas"/>
              </a:rPr>
              <a:t> </a:t>
            </a:r>
            <a:r>
              <a:rPr sz="850" b="0" dirty="0" err="1">
                <a:solidFill>
                  <a:srgbClr val="5A6478"/>
                </a:solidFill>
                <a:latin typeface="Consolas"/>
              </a:rPr>
              <a:t>눌린</a:t>
            </a:r>
            <a:r>
              <a:rPr sz="850" b="0" dirty="0">
                <a:solidFill>
                  <a:srgbClr val="5A6478"/>
                </a:solidFill>
                <a:latin typeface="Consolas"/>
              </a:rPr>
              <a:t> </a:t>
            </a:r>
            <a:r>
              <a:rPr sz="850" b="0" dirty="0" err="1">
                <a:solidFill>
                  <a:srgbClr val="5A6478"/>
                </a:solidFill>
                <a:latin typeface="Consolas"/>
              </a:rPr>
              <a:t>만큼</a:t>
            </a:r>
            <a:endParaRPr sz="850" b="0" dirty="0">
              <a:solidFill>
                <a:srgbClr val="5A6478"/>
              </a:solidFill>
              <a:latin typeface="Consolas"/>
            </a:endParaRPr>
          </a:p>
        </p:txBody>
      </p:sp>
      <p:sp>
        <p:nvSpPr>
          <p:cNvPr id="16" name="Rounded Rectangle 15"/>
          <p:cNvSpPr/>
          <p:nvPr/>
        </p:nvSpPr>
        <p:spPr>
          <a:xfrm>
            <a:off x="914400" y="3273552"/>
            <a:ext cx="1737360" cy="1938528"/>
          </a:xfrm>
          <a:prstGeom prst="roundRect">
            <a:avLst>
              <a:gd name="adj" fmla="val 4000"/>
            </a:avLst>
          </a:prstGeom>
          <a:solidFill>
            <a:srgbClr val="EEF1F7"/>
          </a:solidFill>
          <a:ln>
            <a:noFill/>
          </a:ln>
          <a:effectLst/>
        </p:spPr>
        <p:txBody>
          <a:bodyPr rtlCol="0" anchor="ctr"/>
          <a:lstStyle/>
          <a:p>
            <a:pPr algn="ctr"/>
            <a:endParaRPr/>
          </a:p>
        </p:txBody>
      </p:sp>
      <p:sp>
        <p:nvSpPr>
          <p:cNvPr id="17" name="TextBox 16"/>
          <p:cNvSpPr txBox="1"/>
          <p:nvPr/>
        </p:nvSpPr>
        <p:spPr>
          <a:xfrm>
            <a:off x="1024128" y="3959352"/>
            <a:ext cx="1517904" cy="566928"/>
          </a:xfrm>
          <a:prstGeom prst="rect">
            <a:avLst/>
          </a:prstGeom>
          <a:noFill/>
        </p:spPr>
        <p:txBody>
          <a:bodyPr wrap="square" lIns="0" tIns="0" rIns="0" bIns="0">
            <a:spAutoFit/>
          </a:bodyPr>
          <a:lstStyle/>
          <a:p>
            <a:pPr algn="ctr"/>
            <a:r>
              <a:rPr sz="1500" b="1">
                <a:solidFill>
                  <a:srgbClr val="2B57A6"/>
                </a:solidFill>
                <a:latin typeface="맑은 고딕"/>
              </a:rPr>
              <a:t>⑥</a:t>
            </a:r>
          </a:p>
          <a:p>
            <a:pPr algn="ctr">
              <a:spcBef>
                <a:spcPts val="300"/>
              </a:spcBef>
            </a:pPr>
            <a:r>
              <a:rPr sz="1100" b="1">
                <a:solidFill>
                  <a:srgbClr val="2B57A6"/>
                </a:solidFill>
                <a:latin typeface="맑은 고딕"/>
              </a:rPr>
              <a:t>ECEF → LLA</a:t>
            </a:r>
          </a:p>
          <a:p>
            <a:pPr algn="ctr">
              <a:spcBef>
                <a:spcPts val="300"/>
              </a:spcBef>
            </a:pPr>
            <a:r>
              <a:rPr sz="750" b="0">
                <a:solidFill>
                  <a:srgbClr val="5A6478"/>
                </a:solidFill>
                <a:latin typeface="맑은 고딕"/>
              </a:rPr>
              <a:t>위도·고도 반복</a:t>
            </a:r>
          </a:p>
        </p:txBody>
      </p:sp>
      <p:sp>
        <p:nvSpPr>
          <p:cNvPr id="18" name="Rounded Rectangle 17"/>
          <p:cNvSpPr/>
          <p:nvPr/>
        </p:nvSpPr>
        <p:spPr>
          <a:xfrm>
            <a:off x="2798064" y="3273552"/>
            <a:ext cx="3749039" cy="1938528"/>
          </a:xfrm>
          <a:prstGeom prst="roundRect">
            <a:avLst>
              <a:gd name="adj" fmla="val 4000"/>
            </a:avLst>
          </a:prstGeom>
          <a:solidFill>
            <a:srgbClr val="EEF1F7"/>
          </a:solidFill>
          <a:ln>
            <a:noFill/>
          </a:ln>
          <a:effectLst/>
        </p:spPr>
        <p:txBody>
          <a:bodyPr rtlCol="0" anchor="ctr"/>
          <a:lstStyle/>
          <a:p>
            <a:pPr algn="ctr"/>
            <a:endParaRPr/>
          </a:p>
        </p:txBody>
      </p:sp>
      <p:pic>
        <p:nvPicPr>
          <p:cNvPr id="19" name="Picture 18" descr="ecef2lla.png"/>
          <p:cNvPicPr>
            <a:picLocks noChangeAspect="1"/>
          </p:cNvPicPr>
          <p:nvPr/>
        </p:nvPicPr>
        <p:blipFill>
          <a:blip r:embed="rId4"/>
          <a:stretch>
            <a:fillRect/>
          </a:stretch>
        </p:blipFill>
        <p:spPr>
          <a:xfrm>
            <a:off x="2889504" y="3485720"/>
            <a:ext cx="3547872" cy="1514190"/>
          </a:xfrm>
          <a:prstGeom prst="rect">
            <a:avLst/>
          </a:prstGeom>
        </p:spPr>
      </p:pic>
      <p:sp>
        <p:nvSpPr>
          <p:cNvPr id="20" name="Rounded Rectangle 19"/>
          <p:cNvSpPr/>
          <p:nvPr/>
        </p:nvSpPr>
        <p:spPr>
          <a:xfrm>
            <a:off x="6693408" y="3273552"/>
            <a:ext cx="4581144" cy="1938528"/>
          </a:xfrm>
          <a:prstGeom prst="roundRect">
            <a:avLst>
              <a:gd name="adj" fmla="val 2000"/>
            </a:avLst>
          </a:prstGeom>
          <a:solidFill>
            <a:srgbClr val="F4F6FA"/>
          </a:solidFill>
          <a:ln>
            <a:noFill/>
          </a:ln>
          <a:effectLst/>
        </p:spPr>
        <p:txBody>
          <a:bodyPr rtlCol="0" anchor="ctr"/>
          <a:lstStyle/>
          <a:p>
            <a:pPr algn="ctr"/>
            <a:endParaRPr/>
          </a:p>
        </p:txBody>
      </p:sp>
      <p:sp>
        <p:nvSpPr>
          <p:cNvPr id="21" name="TextBox 20"/>
          <p:cNvSpPr txBox="1"/>
          <p:nvPr/>
        </p:nvSpPr>
        <p:spPr>
          <a:xfrm>
            <a:off x="6839712" y="3355848"/>
            <a:ext cx="4288536" cy="1792224"/>
          </a:xfrm>
          <a:prstGeom prst="rect">
            <a:avLst/>
          </a:prstGeom>
          <a:noFill/>
        </p:spPr>
        <p:txBody>
          <a:bodyPr wrap="square" lIns="0" tIns="0" rIns="0" bIns="0">
            <a:spAutoFit/>
          </a:bodyPr>
          <a:lstStyle/>
          <a:p>
            <a:pPr>
              <a:spcBef>
                <a:spcPts val="0"/>
              </a:spcBef>
            </a:pPr>
            <a:r>
              <a:rPr sz="850" b="0">
                <a:solidFill>
                  <a:srgbClr val="1A2233"/>
                </a:solidFill>
                <a:latin typeface="Consolas"/>
              </a:rPr>
              <a:t>stLla.dLon = atan2(stEcef.dY, stEcef.dX);</a:t>
            </a:r>
          </a:p>
          <a:p>
            <a:pPr>
              <a:spcBef>
                <a:spcPts val="120"/>
              </a:spcBef>
            </a:pPr>
            <a:r>
              <a:rPr sz="850" b="0">
                <a:solidFill>
                  <a:srgbClr val="1A2233"/>
                </a:solidFill>
                <a:latin typeface="Consolas"/>
              </a:rPr>
              <a:t>dLat0 = atan2(stEcef.dZ, dP);   dAlt0 = 0.0;</a:t>
            </a:r>
          </a:p>
          <a:p>
            <a:pPr>
              <a:spcBef>
                <a:spcPts val="120"/>
              </a:spcBef>
            </a:pPr>
            <a:r>
              <a:rPr sz="850" b="0">
                <a:solidFill>
                  <a:srgbClr val="1A2233"/>
                </a:solidFill>
                <a:latin typeface="Consolas"/>
              </a:rPr>
              <a:t>for (i = 0; i &lt; LLA_ITER_MAX; i++) {</a:t>
            </a:r>
          </a:p>
          <a:p>
            <a:pPr>
              <a:spcBef>
                <a:spcPts val="120"/>
              </a:spcBef>
            </a:pPr>
            <a:r>
              <a:rPr sz="850" b="0">
                <a:solidFill>
                  <a:srgbClr val="1A2233"/>
                </a:solidFill>
                <a:latin typeface="Consolas"/>
              </a:rPr>
              <a:t>  dN   = WGS84_A / sqrt(1.0 - WGS84_E2</a:t>
            </a:r>
          </a:p>
          <a:p>
            <a:pPr>
              <a:spcBef>
                <a:spcPts val="120"/>
              </a:spcBef>
            </a:pPr>
            <a:r>
              <a:rPr sz="850" b="0">
                <a:solidFill>
                  <a:srgbClr val="1A2233"/>
                </a:solidFill>
                <a:latin typeface="Consolas"/>
              </a:rPr>
              <a:t>                     * sin(dLat0)*sin(dLat0));</a:t>
            </a:r>
          </a:p>
          <a:p>
            <a:pPr>
              <a:spcBef>
                <a:spcPts val="120"/>
              </a:spcBef>
            </a:pPr>
            <a:r>
              <a:rPr sz="850" b="0">
                <a:solidFill>
                  <a:srgbClr val="1A2233"/>
                </a:solidFill>
                <a:latin typeface="Consolas"/>
              </a:rPr>
              <a:t>  dAlt = dP / cos(dLat0) - dN;</a:t>
            </a:r>
          </a:p>
          <a:p>
            <a:pPr>
              <a:spcBef>
                <a:spcPts val="120"/>
              </a:spcBef>
            </a:pPr>
            <a:r>
              <a:rPr sz="850" b="0">
                <a:solidFill>
                  <a:srgbClr val="1A2233"/>
                </a:solidFill>
                <a:latin typeface="Consolas"/>
              </a:rPr>
              <a:t>  dLat = atan2(dZ * (dN + dAlt),</a:t>
            </a:r>
          </a:p>
          <a:p>
            <a:pPr>
              <a:spcBef>
                <a:spcPts val="120"/>
              </a:spcBef>
            </a:pPr>
            <a:r>
              <a:rPr sz="850" b="0">
                <a:solidFill>
                  <a:srgbClr val="1A2233"/>
                </a:solidFill>
                <a:latin typeface="Consolas"/>
              </a:rPr>
              <a:t>           dP * (dN * (1.0 - WGS84_E2) + dAlt));</a:t>
            </a:r>
          </a:p>
          <a:p>
            <a:pPr>
              <a:spcBef>
                <a:spcPts val="120"/>
              </a:spcBef>
            </a:pPr>
            <a:r>
              <a:rPr sz="850" b="0">
                <a:solidFill>
                  <a:srgbClr val="1A2233"/>
                </a:solidFill>
                <a:latin typeface="Consolas"/>
              </a:rPr>
              <a:t>  if (fabs(dLat - dLat0) &lt; LLA_TOL_LAT &amp;&amp;</a:t>
            </a:r>
          </a:p>
          <a:p>
            <a:pPr>
              <a:spcBef>
                <a:spcPts val="120"/>
              </a:spcBef>
            </a:pPr>
            <a:r>
              <a:rPr sz="850" b="0">
                <a:solidFill>
                  <a:srgbClr val="1A2233"/>
                </a:solidFill>
                <a:latin typeface="Consolas"/>
              </a:rPr>
              <a:t>      fabs(dAlt - dAlt0) &lt; LLA_TOL_ALT)  break;</a:t>
            </a:r>
          </a:p>
          <a:p>
            <a:pPr>
              <a:spcBef>
                <a:spcPts val="120"/>
              </a:spcBef>
            </a:pPr>
            <a:r>
              <a:rPr sz="850" b="0">
                <a:solidFill>
                  <a:srgbClr val="1A2233"/>
                </a:solidFill>
                <a:latin typeface="Consolas"/>
              </a:rPr>
              <a:t>  dLat0 = dLat;   dAlt0 = dAlt;   }</a:t>
            </a:r>
          </a:p>
        </p:txBody>
      </p:sp>
      <p:sp>
        <p:nvSpPr>
          <p:cNvPr id="22" name="Rounded Rectangle 21"/>
          <p:cNvSpPr/>
          <p:nvPr/>
        </p:nvSpPr>
        <p:spPr>
          <a:xfrm>
            <a:off x="914400" y="5358384"/>
            <a:ext cx="10360152" cy="493776"/>
          </a:xfrm>
          <a:prstGeom prst="roundRect">
            <a:avLst>
              <a:gd name="adj" fmla="val 4000"/>
            </a:avLst>
          </a:prstGeom>
          <a:solidFill>
            <a:srgbClr val="FBEADF"/>
          </a:solidFill>
          <a:ln>
            <a:noFill/>
          </a:ln>
          <a:effectLst/>
        </p:spPr>
        <p:txBody>
          <a:bodyPr rtlCol="0" anchor="ctr"/>
          <a:lstStyle/>
          <a:p>
            <a:pPr algn="ctr"/>
            <a:endParaRPr/>
          </a:p>
        </p:txBody>
      </p:sp>
      <p:sp>
        <p:nvSpPr>
          <p:cNvPr id="23" name="TextBox 22"/>
          <p:cNvSpPr txBox="1"/>
          <p:nvPr/>
        </p:nvSpPr>
        <p:spPr>
          <a:xfrm>
            <a:off x="1133856" y="5431536"/>
            <a:ext cx="9921240" cy="384048"/>
          </a:xfrm>
          <a:prstGeom prst="rect">
            <a:avLst/>
          </a:prstGeom>
          <a:noFill/>
        </p:spPr>
        <p:txBody>
          <a:bodyPr wrap="square" lIns="0" tIns="0" rIns="0" bIns="0">
            <a:spAutoFit/>
          </a:bodyPr>
          <a:lstStyle/>
          <a:p>
            <a:r>
              <a:rPr sz="900" b="1">
                <a:solidFill>
                  <a:srgbClr val="C2521C"/>
                </a:solidFill>
                <a:latin typeface="맑은 고딕"/>
              </a:rPr>
              <a:t>반복 경과   위도 [deg]</a:t>
            </a:r>
          </a:p>
          <a:p>
            <a:pPr>
              <a:spcBef>
                <a:spcPts val="300"/>
              </a:spcBef>
            </a:pPr>
            <a:r>
              <a:rPr sz="850" b="0">
                <a:solidFill>
                  <a:srgbClr val="C2521C"/>
                </a:solidFill>
                <a:latin typeface="Consolas"/>
              </a:rPr>
              <a:t>초기 36.177411  →  ① 36.361399  →  ② 36.360966  →  ③ 36.3609672  →  ④⑤ 36.360967176  →  ⑥ 변화 2e−16, break        ( 고도 41.2824 m · 최대 10 회 · 허용오차 1e−12 rad )</a:t>
            </a:r>
          </a:p>
        </p:txBody>
      </p:sp>
      <p:sp>
        <p:nvSpPr>
          <p:cNvPr id="24" name="SlideNum"/>
          <p:cNvSpPr txBox="1"/>
          <p:nvPr/>
        </p:nvSpPr>
        <p:spPr>
          <a:xfrm>
            <a:off x="5669280" y="6400800"/>
            <a:ext cx="914400" cy="274320"/>
          </a:xfrm>
          <a:prstGeom prst="rect">
            <a:avLst/>
          </a:prstGeom>
          <a:noFill/>
        </p:spPr>
        <p:txBody>
          <a:bodyPr wrap="none" lIns="0" tIns="0" rIns="0" bIns="0">
            <a:spAutoFit/>
          </a:bodyPr>
          <a:lstStyle/>
          <a:p>
            <a:pPr algn="ctr"/>
            <a:fld id="{1D0B0B0B-0000-4000-8000-00000000C0DE}" type="slidenum">
              <a:rPr lang="ko-KR" altLang="en-US" sz="1000" b="0" dirty="0">
                <a:solidFill>
                  <a:srgbClr val="1A2233"/>
                </a:solidFill>
                <a:latin typeface="Arial"/>
                <a:ea typeface="Arial"/>
              </a:rPr>
              <a:t>25</a:t>
            </a:fld>
            <a:endParaRPr lang="ko-KR" altLang="en-US" sz="1000" b="0" dirty="0">
              <a:solidFill>
                <a:srgbClr val="1A2233"/>
              </a:solidFill>
              <a:latin typeface="Arial"/>
              <a:ea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457200" y="411480"/>
            <a:ext cx="11274552" cy="777240"/>
          </a:xfrm>
          <a:prstGeom prst="rect">
            <a:avLst/>
          </a:prstGeom>
          <a:solidFill>
            <a:srgbClr val="13233F"/>
          </a:solidFill>
          <a:ln/>
        </p:spPr>
        <p:txBody>
          <a:bodyPr/>
          <a:lstStyle/>
          <a:p>
            <a:endParaRPr/>
          </a:p>
        </p:txBody>
      </p:sp>
      <p:sp>
        <p:nvSpPr>
          <p:cNvPr id="3" name="Text 1"/>
          <p:cNvSpPr txBox="1"/>
          <p:nvPr/>
        </p:nvSpPr>
        <p:spPr>
          <a:xfrm>
            <a:off x="640080" y="411480"/>
            <a:ext cx="8732520" cy="777240"/>
          </a:xfrm>
          <a:prstGeom prst="rect">
            <a:avLst/>
          </a:prstGeom>
          <a:noFill/>
          <a:ln/>
        </p:spPr>
        <p:txBody>
          <a:bodyPr wrap="square" lIns="0" tIns="0" rIns="0" bIns="0" rtlCol="0" anchor="ctr"/>
          <a:lstStyle/>
          <a:p>
            <a:pPr marL="0" indent="0">
              <a:buNone/>
            </a:pPr>
            <a:r>
              <a:rPr lang="en-US" sz="2000" b="1" dirty="0">
                <a:solidFill>
                  <a:srgbClr val="FFFFFF"/>
                </a:solidFill>
                <a:latin typeface="맑은 고딕" pitchFamily="34" charset="0"/>
                <a:ea typeface="맑은 고딕" pitchFamily="34" charset="-122"/>
                <a:cs typeface="맑은 고딕" pitchFamily="34" charset="-120"/>
              </a:rPr>
              <a:t>03. 공식과 코드 ④    역변환</a:t>
            </a:r>
            <a:endParaRPr lang="en-US" sz="2000" dirty="0"/>
          </a:p>
        </p:txBody>
      </p:sp>
      <p:sp>
        <p:nvSpPr>
          <p:cNvPr id="4" name="Shape 2"/>
          <p:cNvSpPr/>
          <p:nvPr/>
        </p:nvSpPr>
        <p:spPr>
          <a:xfrm>
            <a:off x="457200" y="1188720"/>
            <a:ext cx="11274552" cy="4956048"/>
          </a:xfrm>
          <a:prstGeom prst="rect">
            <a:avLst/>
          </a:prstGeom>
          <a:solidFill>
            <a:srgbClr val="FFFFFF"/>
          </a:solidFill>
          <a:ln/>
        </p:spPr>
        <p:txBody>
          <a:bodyPr/>
          <a:lstStyle/>
          <a:p>
            <a:endParaRPr/>
          </a:p>
        </p:txBody>
      </p:sp>
      <p:sp>
        <p:nvSpPr>
          <p:cNvPr id="5" name="Shape 3"/>
          <p:cNvSpPr/>
          <p:nvPr/>
        </p:nvSpPr>
        <p:spPr>
          <a:xfrm>
            <a:off x="548640" y="6199632"/>
            <a:ext cx="11094415" cy="0"/>
          </a:xfrm>
          <a:prstGeom prst="line">
            <a:avLst/>
          </a:prstGeom>
          <a:noFill/>
          <a:ln w="9525">
            <a:solidFill>
              <a:srgbClr val="BFBFBF"/>
            </a:solidFill>
            <a:prstDash val="solid"/>
          </a:ln>
        </p:spPr>
        <p:txBody>
          <a:bodyPr/>
          <a:lstStyle/>
          <a:p>
            <a:endParaRPr/>
          </a:p>
        </p:txBody>
      </p:sp>
      <p:sp>
        <p:nvSpPr>
          <p:cNvPr id="8" name="Shape 6"/>
          <p:cNvSpPr/>
          <p:nvPr/>
        </p:nvSpPr>
        <p:spPr>
          <a:xfrm>
            <a:off x="786384" y="1335024"/>
            <a:ext cx="50292" cy="274320"/>
          </a:xfrm>
          <a:prstGeom prst="rect">
            <a:avLst/>
          </a:prstGeom>
          <a:solidFill>
            <a:srgbClr val="EEF1F7"/>
          </a:solidFill>
          <a:ln/>
        </p:spPr>
        <p:txBody>
          <a:bodyPr/>
          <a:lstStyle/>
          <a:p>
            <a:endParaRPr/>
          </a:p>
        </p:txBody>
      </p:sp>
      <p:sp>
        <p:nvSpPr>
          <p:cNvPr id="9" name="Text 7"/>
          <p:cNvSpPr txBox="1"/>
          <p:nvPr/>
        </p:nvSpPr>
        <p:spPr>
          <a:xfrm>
            <a:off x="932688" y="1298448"/>
            <a:ext cx="10271455" cy="347472"/>
          </a:xfrm>
          <a:prstGeom prst="rect">
            <a:avLst/>
          </a:prstGeom>
          <a:noFill/>
          <a:ln/>
        </p:spPr>
        <p:txBody>
          <a:bodyPr wrap="square" lIns="0" tIns="0" rIns="0" bIns="0" rtlCol="0" anchor="ctr"/>
          <a:lstStyle/>
          <a:p>
            <a:pPr marL="0" indent="0">
              <a:buNone/>
            </a:pPr>
            <a:r>
              <a:rPr lang="en-US" sz="1450" b="1" dirty="0">
                <a:solidFill>
                  <a:srgbClr val="1A2233"/>
                </a:solidFill>
                <a:latin typeface="맑은 고딕" pitchFamily="34" charset="0"/>
                <a:ea typeface="맑은 고딕" pitchFamily="34" charset="-122"/>
                <a:cs typeface="맑은 고딕" pitchFamily="34" charset="-120"/>
              </a:rPr>
              <a:t>새로 만드는 공식이 없다. 회전은 전치, 이동은 빼기, 그리고 순서를 거꾸로.</a:t>
            </a:r>
            <a:endParaRPr lang="en-US" sz="1450" dirty="0"/>
          </a:p>
        </p:txBody>
      </p:sp>
      <p:sp>
        <p:nvSpPr>
          <p:cNvPr id="10" name="Rounded Rectangle 9"/>
          <p:cNvSpPr/>
          <p:nvPr/>
        </p:nvSpPr>
        <p:spPr>
          <a:xfrm>
            <a:off x="914400" y="1773936"/>
            <a:ext cx="4160520" cy="932688"/>
          </a:xfrm>
          <a:prstGeom prst="roundRect">
            <a:avLst>
              <a:gd name="adj" fmla="val 4000"/>
            </a:avLst>
          </a:prstGeom>
          <a:solidFill>
            <a:srgbClr val="EEF1F7"/>
          </a:solidFill>
          <a:ln>
            <a:noFill/>
          </a:ln>
          <a:effectLst/>
        </p:spPr>
        <p:txBody>
          <a:bodyPr rtlCol="0" anchor="ctr"/>
          <a:lstStyle/>
          <a:p>
            <a:pPr algn="ctr"/>
            <a:endParaRPr/>
          </a:p>
        </p:txBody>
      </p:sp>
      <p:pic>
        <p:nvPicPr>
          <p:cNvPr id="11" name="Picture 10" descr="inverse.png"/>
          <p:cNvPicPr>
            <a:picLocks noChangeAspect="1"/>
          </p:cNvPicPr>
          <p:nvPr/>
        </p:nvPicPr>
        <p:blipFill>
          <a:blip r:embed="rId3"/>
          <a:stretch>
            <a:fillRect/>
          </a:stretch>
        </p:blipFill>
        <p:spPr>
          <a:xfrm>
            <a:off x="1500110" y="1865376"/>
            <a:ext cx="2989099" cy="749808"/>
          </a:xfrm>
          <a:prstGeom prst="rect">
            <a:avLst/>
          </a:prstGeom>
        </p:spPr>
      </p:pic>
      <p:sp>
        <p:nvSpPr>
          <p:cNvPr id="12" name="Rounded Rectangle 11"/>
          <p:cNvSpPr/>
          <p:nvPr/>
        </p:nvSpPr>
        <p:spPr>
          <a:xfrm>
            <a:off x="5285232" y="1773936"/>
            <a:ext cx="5989320" cy="932688"/>
          </a:xfrm>
          <a:prstGeom prst="roundRect">
            <a:avLst>
              <a:gd name="adj" fmla="val 4000"/>
            </a:avLst>
          </a:prstGeom>
          <a:solidFill>
            <a:srgbClr val="EEF1F7"/>
          </a:solidFill>
          <a:ln>
            <a:noFill/>
          </a:ln>
          <a:effectLst/>
        </p:spPr>
        <p:txBody>
          <a:bodyPr rtlCol="0" anchor="ctr"/>
          <a:lstStyle/>
          <a:p>
            <a:pPr algn="ctr"/>
            <a:endParaRPr/>
          </a:p>
        </p:txBody>
      </p:sp>
      <p:sp>
        <p:nvSpPr>
          <p:cNvPr id="13" name="TextBox 12"/>
          <p:cNvSpPr txBox="1"/>
          <p:nvPr/>
        </p:nvSpPr>
        <p:spPr>
          <a:xfrm>
            <a:off x="5468112" y="1874519"/>
            <a:ext cx="5623559" cy="768096"/>
          </a:xfrm>
          <a:prstGeom prst="rect">
            <a:avLst/>
          </a:prstGeom>
          <a:noFill/>
        </p:spPr>
        <p:txBody>
          <a:bodyPr wrap="square" lIns="0" tIns="0" rIns="0" bIns="0">
            <a:spAutoFit/>
          </a:bodyPr>
          <a:lstStyle/>
          <a:p>
            <a:r>
              <a:rPr sz="1150" b="1">
                <a:solidFill>
                  <a:srgbClr val="1A2233"/>
                </a:solidFill>
                <a:latin typeface="맑은 고딕"/>
              </a:rPr>
              <a:t>순서까지 뒤집어야 한다</a:t>
            </a:r>
          </a:p>
          <a:p>
            <a:pPr>
              <a:spcBef>
                <a:spcPts val="400"/>
              </a:spcBef>
            </a:pPr>
            <a:r>
              <a:rPr sz="900" b="0">
                <a:solidFill>
                  <a:srgbClr val="5A6478"/>
                </a:solidFill>
                <a:latin typeface="맑은 고딕"/>
              </a:rPr>
              <a:t>레버암은 동체 좌표계에서 잰 값이다. 그래서 동체 좌표에서 먼저 빼고, 그다음에 안테나 축으로 되돌린다.</a:t>
            </a:r>
          </a:p>
          <a:p>
            <a:pPr>
              <a:spcBef>
                <a:spcPts val="200"/>
              </a:spcBef>
            </a:pPr>
            <a:r>
              <a:rPr sz="900" b="0">
                <a:solidFill>
                  <a:srgbClr val="5A6478"/>
                </a:solidFill>
                <a:latin typeface="맑은 고딕"/>
              </a:rPr>
              <a:t>두 줄을 바꾸면 레버암이 엉뚱한 좌표계에서 빠져 결과가 틀어진다.</a:t>
            </a:r>
          </a:p>
        </p:txBody>
      </p:sp>
      <p:sp>
        <p:nvSpPr>
          <p:cNvPr id="14" name="TextBox 13"/>
          <p:cNvSpPr txBox="1"/>
          <p:nvPr/>
        </p:nvSpPr>
        <p:spPr>
          <a:xfrm>
            <a:off x="914400" y="2871216"/>
            <a:ext cx="5074920" cy="219456"/>
          </a:xfrm>
          <a:prstGeom prst="rect">
            <a:avLst/>
          </a:prstGeom>
          <a:noFill/>
        </p:spPr>
        <p:txBody>
          <a:bodyPr wrap="square" lIns="0" tIns="0" rIns="0" bIns="0">
            <a:spAutoFit/>
          </a:bodyPr>
          <a:lstStyle/>
          <a:p>
            <a:r>
              <a:rPr sz="1050" b="1">
                <a:solidFill>
                  <a:srgbClr val="1A2233"/>
                </a:solidFill>
                <a:latin typeface="맑은 고딕"/>
              </a:rPr>
              <a:t>정변환   f_AntToBody</a:t>
            </a:r>
          </a:p>
        </p:txBody>
      </p:sp>
      <p:sp>
        <p:nvSpPr>
          <p:cNvPr id="15" name="TextBox 14"/>
          <p:cNvSpPr txBox="1"/>
          <p:nvPr/>
        </p:nvSpPr>
        <p:spPr>
          <a:xfrm>
            <a:off x="6199632" y="2871216"/>
            <a:ext cx="5074920" cy="219456"/>
          </a:xfrm>
          <a:prstGeom prst="rect">
            <a:avLst/>
          </a:prstGeom>
          <a:noFill/>
        </p:spPr>
        <p:txBody>
          <a:bodyPr wrap="square" lIns="0" tIns="0" rIns="0" bIns="0">
            <a:spAutoFit/>
          </a:bodyPr>
          <a:lstStyle/>
          <a:p>
            <a:r>
              <a:rPr sz="1050" b="1">
                <a:solidFill>
                  <a:srgbClr val="1A2233"/>
                </a:solidFill>
                <a:latin typeface="맑은 고딕"/>
              </a:rPr>
              <a:t>역변환   f_BodyToAnt</a:t>
            </a:r>
          </a:p>
        </p:txBody>
      </p:sp>
      <p:sp>
        <p:nvSpPr>
          <p:cNvPr id="16" name="Rounded Rectangle 15"/>
          <p:cNvSpPr/>
          <p:nvPr/>
        </p:nvSpPr>
        <p:spPr>
          <a:xfrm>
            <a:off x="914400" y="3127248"/>
            <a:ext cx="5074920" cy="1097280"/>
          </a:xfrm>
          <a:prstGeom prst="roundRect">
            <a:avLst>
              <a:gd name="adj" fmla="val 2000"/>
            </a:avLst>
          </a:prstGeom>
          <a:solidFill>
            <a:srgbClr val="F4F6FA"/>
          </a:solidFill>
          <a:ln>
            <a:noFill/>
          </a:ln>
          <a:effectLst/>
        </p:spPr>
        <p:txBody>
          <a:bodyPr rtlCol="0" anchor="ctr"/>
          <a:lstStyle/>
          <a:p>
            <a:pPr algn="ctr"/>
            <a:endParaRPr/>
          </a:p>
        </p:txBody>
      </p:sp>
      <p:sp>
        <p:nvSpPr>
          <p:cNvPr id="17" name="TextBox 16"/>
          <p:cNvSpPr txBox="1"/>
          <p:nvPr/>
        </p:nvSpPr>
        <p:spPr>
          <a:xfrm>
            <a:off x="1060704" y="3209544"/>
            <a:ext cx="4782312" cy="950976"/>
          </a:xfrm>
          <a:prstGeom prst="rect">
            <a:avLst/>
          </a:prstGeom>
          <a:noFill/>
        </p:spPr>
        <p:txBody>
          <a:bodyPr wrap="square" lIns="0" tIns="0" rIns="0" bIns="0">
            <a:spAutoFit/>
          </a:bodyPr>
          <a:lstStyle/>
          <a:p>
            <a:pPr>
              <a:spcBef>
                <a:spcPts val="0"/>
              </a:spcBef>
            </a:pPr>
            <a:r>
              <a:rPr sz="850" b="0">
                <a:solidFill>
                  <a:srgbClr val="1A2233"/>
                </a:solidFill>
                <a:latin typeface="Consolas"/>
              </a:rPr>
              <a:t>stR   = f_RotAntToBody(stMount);</a:t>
            </a:r>
          </a:p>
          <a:p>
            <a:pPr>
              <a:spcBef>
                <a:spcPts val="220"/>
              </a:spcBef>
            </a:pPr>
            <a:r>
              <a:rPr sz="850" b="0">
                <a:solidFill>
                  <a:srgbClr val="1A2233"/>
                </a:solidFill>
                <a:latin typeface="Consolas"/>
              </a:rPr>
              <a:t>stRot = Matrix_Product2(&amp;stR, &amp;stP);      // ① 회전</a:t>
            </a:r>
          </a:p>
          <a:p>
            <a:pPr>
              <a:spcBef>
                <a:spcPts val="220"/>
              </a:spcBef>
            </a:pPr>
            <a:r>
              <a:rPr sz="850" b="0">
                <a:solidFill>
                  <a:srgbClr val="1A2233"/>
                </a:solidFill>
                <a:latin typeface="Consolas"/>
              </a:rPr>
              <a:t>stOut = Matrix_Add(&amp;stRot, &amp;stOff);       // ② 더하기</a:t>
            </a:r>
          </a:p>
        </p:txBody>
      </p:sp>
      <p:sp>
        <p:nvSpPr>
          <p:cNvPr id="18" name="Rounded Rectangle 17"/>
          <p:cNvSpPr/>
          <p:nvPr/>
        </p:nvSpPr>
        <p:spPr>
          <a:xfrm>
            <a:off x="6199632" y="3127248"/>
            <a:ext cx="5074920" cy="1097280"/>
          </a:xfrm>
          <a:prstGeom prst="roundRect">
            <a:avLst>
              <a:gd name="adj" fmla="val 2000"/>
            </a:avLst>
          </a:prstGeom>
          <a:solidFill>
            <a:srgbClr val="F4F6FA"/>
          </a:solidFill>
          <a:ln>
            <a:noFill/>
          </a:ln>
          <a:effectLst/>
        </p:spPr>
        <p:txBody>
          <a:bodyPr rtlCol="0" anchor="ctr"/>
          <a:lstStyle/>
          <a:p>
            <a:pPr algn="ctr"/>
            <a:endParaRPr/>
          </a:p>
        </p:txBody>
      </p:sp>
      <p:sp>
        <p:nvSpPr>
          <p:cNvPr id="19" name="TextBox 18"/>
          <p:cNvSpPr txBox="1"/>
          <p:nvPr/>
        </p:nvSpPr>
        <p:spPr>
          <a:xfrm>
            <a:off x="6345936" y="3209544"/>
            <a:ext cx="4782312" cy="950976"/>
          </a:xfrm>
          <a:prstGeom prst="rect">
            <a:avLst/>
          </a:prstGeom>
          <a:noFill/>
        </p:spPr>
        <p:txBody>
          <a:bodyPr wrap="square" lIns="0" tIns="0" rIns="0" bIns="0">
            <a:spAutoFit/>
          </a:bodyPr>
          <a:lstStyle/>
          <a:p>
            <a:pPr>
              <a:spcBef>
                <a:spcPts val="0"/>
              </a:spcBef>
            </a:pPr>
            <a:r>
              <a:rPr sz="850" b="0">
                <a:solidFill>
                  <a:srgbClr val="1A2233"/>
                </a:solidFill>
                <a:latin typeface="Consolas"/>
              </a:rPr>
              <a:t>stRt   = Matrix_Transpose(&amp;stR);          // 전치</a:t>
            </a:r>
          </a:p>
          <a:p>
            <a:pPr>
              <a:spcBef>
                <a:spcPts val="220"/>
              </a:spcBef>
            </a:pPr>
            <a:r>
              <a:rPr sz="850" b="0">
                <a:solidFill>
                  <a:srgbClr val="1A2233"/>
                </a:solidFill>
                <a:latin typeface="Consolas"/>
              </a:rPr>
              <a:t>stDiff = Matrix_Subtract(&amp;stP, &amp;stOff);   // ① 빼기</a:t>
            </a:r>
          </a:p>
          <a:p>
            <a:pPr>
              <a:spcBef>
                <a:spcPts val="220"/>
              </a:spcBef>
            </a:pPr>
            <a:r>
              <a:rPr sz="850" b="0">
                <a:solidFill>
                  <a:srgbClr val="1A2233"/>
                </a:solidFill>
                <a:latin typeface="Consolas"/>
              </a:rPr>
              <a:t>stOut  = Matrix_Product2(&amp;stRt, &amp;stDiff); // ② 회전</a:t>
            </a:r>
          </a:p>
        </p:txBody>
      </p:sp>
      <p:sp>
        <p:nvSpPr>
          <p:cNvPr id="20" name="TextBox 19"/>
          <p:cNvSpPr txBox="1"/>
          <p:nvPr/>
        </p:nvSpPr>
        <p:spPr>
          <a:xfrm>
            <a:off x="914400" y="4370832"/>
            <a:ext cx="4160520" cy="219456"/>
          </a:xfrm>
          <a:prstGeom prst="rect">
            <a:avLst/>
          </a:prstGeom>
          <a:noFill/>
        </p:spPr>
        <p:txBody>
          <a:bodyPr wrap="square" lIns="0" tIns="0" rIns="0" bIns="0">
            <a:spAutoFit/>
          </a:bodyPr>
          <a:lstStyle/>
          <a:p>
            <a:r>
              <a:rPr sz="1050" b="1">
                <a:solidFill>
                  <a:srgbClr val="1A2233"/>
                </a:solidFill>
                <a:latin typeface="맑은 고딕"/>
              </a:rPr>
              <a:t>직교 → 극좌표   f_XyzToPolar</a:t>
            </a:r>
          </a:p>
        </p:txBody>
      </p:sp>
      <p:sp>
        <p:nvSpPr>
          <p:cNvPr id="21" name="Rounded Rectangle 20"/>
          <p:cNvSpPr/>
          <p:nvPr/>
        </p:nvSpPr>
        <p:spPr>
          <a:xfrm>
            <a:off x="914400" y="4626864"/>
            <a:ext cx="4160520" cy="1133856"/>
          </a:xfrm>
          <a:prstGeom prst="roundRect">
            <a:avLst>
              <a:gd name="adj" fmla="val 4000"/>
            </a:avLst>
          </a:prstGeom>
          <a:solidFill>
            <a:srgbClr val="EEF1F7"/>
          </a:solidFill>
          <a:ln>
            <a:noFill/>
          </a:ln>
          <a:effectLst/>
        </p:spPr>
        <p:txBody>
          <a:bodyPr rtlCol="0" anchor="ctr"/>
          <a:lstStyle/>
          <a:p>
            <a:pPr algn="ctr"/>
            <a:endParaRPr/>
          </a:p>
        </p:txBody>
      </p:sp>
      <p:pic>
        <p:nvPicPr>
          <p:cNvPr id="22" name="Picture 21" descr="xyz2polar.png"/>
          <p:cNvPicPr>
            <a:picLocks noChangeAspect="1"/>
          </p:cNvPicPr>
          <p:nvPr/>
        </p:nvPicPr>
        <p:blipFill>
          <a:blip r:embed="rId4"/>
          <a:stretch>
            <a:fillRect/>
          </a:stretch>
        </p:blipFill>
        <p:spPr>
          <a:xfrm>
            <a:off x="1907698" y="4718304"/>
            <a:ext cx="2173923" cy="950976"/>
          </a:xfrm>
          <a:prstGeom prst="rect">
            <a:avLst/>
          </a:prstGeom>
        </p:spPr>
      </p:pic>
      <p:sp>
        <p:nvSpPr>
          <p:cNvPr id="23" name="Rounded Rectangle 22"/>
          <p:cNvSpPr/>
          <p:nvPr/>
        </p:nvSpPr>
        <p:spPr>
          <a:xfrm>
            <a:off x="5285232" y="4626864"/>
            <a:ext cx="5989320" cy="1133856"/>
          </a:xfrm>
          <a:prstGeom prst="roundRect">
            <a:avLst>
              <a:gd name="adj" fmla="val 2000"/>
            </a:avLst>
          </a:prstGeom>
          <a:solidFill>
            <a:srgbClr val="F4F6FA"/>
          </a:solidFill>
          <a:ln>
            <a:noFill/>
          </a:ln>
          <a:effectLst/>
        </p:spPr>
        <p:txBody>
          <a:bodyPr rtlCol="0" anchor="ctr"/>
          <a:lstStyle/>
          <a:p>
            <a:pPr algn="ctr"/>
            <a:endParaRPr/>
          </a:p>
        </p:txBody>
      </p:sp>
      <p:sp>
        <p:nvSpPr>
          <p:cNvPr id="24" name="TextBox 23"/>
          <p:cNvSpPr txBox="1"/>
          <p:nvPr/>
        </p:nvSpPr>
        <p:spPr>
          <a:xfrm>
            <a:off x="5431536" y="4709159"/>
            <a:ext cx="5550408" cy="987552"/>
          </a:xfrm>
          <a:prstGeom prst="rect">
            <a:avLst/>
          </a:prstGeom>
          <a:noFill/>
        </p:spPr>
        <p:txBody>
          <a:bodyPr wrap="square" lIns="0" tIns="0" rIns="0" bIns="0">
            <a:spAutoFit/>
          </a:bodyPr>
          <a:lstStyle/>
          <a:p>
            <a:pPr>
              <a:spcBef>
                <a:spcPts val="0"/>
              </a:spcBef>
            </a:pPr>
            <a:r>
              <a:rPr sz="850" b="0">
                <a:solidFill>
                  <a:srgbClr val="1A2233"/>
                </a:solidFill>
                <a:latin typeface="Consolas"/>
              </a:rPr>
              <a:t>dXz = sqrt(dX*dX + dZ*dZ);</a:t>
            </a:r>
          </a:p>
          <a:p>
            <a:pPr>
              <a:spcBef>
                <a:spcPts val="180"/>
              </a:spcBef>
            </a:pPr>
            <a:r>
              <a:rPr sz="850" b="0">
                <a:solidFill>
                  <a:srgbClr val="1A2233"/>
                </a:solidFill>
                <a:latin typeface="Consolas"/>
              </a:rPr>
              <a:t>dRange = sqrt(dXz*dXz + dY*dY);</a:t>
            </a:r>
          </a:p>
          <a:p>
            <a:pPr>
              <a:spcBef>
                <a:spcPts val="180"/>
              </a:spcBef>
            </a:pPr>
            <a:r>
              <a:rPr sz="850" b="0">
                <a:solidFill>
                  <a:srgbClr val="1A2233"/>
                </a:solidFill>
                <a:latin typeface="Consolas"/>
              </a:rPr>
              <a:t>dAz    = atan2(stXyz.dX, stXyz.dZ);</a:t>
            </a:r>
          </a:p>
          <a:p>
            <a:pPr>
              <a:spcBef>
                <a:spcPts val="180"/>
              </a:spcBef>
            </a:pPr>
            <a:r>
              <a:rPr sz="850" b="0">
                <a:solidFill>
                  <a:srgbClr val="1A2233"/>
                </a:solidFill>
                <a:latin typeface="Consolas"/>
              </a:rPr>
              <a:t>dEl    = atan2(stXyz.dY, dXz);</a:t>
            </a:r>
          </a:p>
        </p:txBody>
      </p:sp>
      <p:sp>
        <p:nvSpPr>
          <p:cNvPr id="27" name="SlideNum"/>
          <p:cNvSpPr txBox="1"/>
          <p:nvPr/>
        </p:nvSpPr>
        <p:spPr>
          <a:xfrm>
            <a:off x="5669280" y="6400800"/>
            <a:ext cx="914400" cy="274320"/>
          </a:xfrm>
          <a:prstGeom prst="rect">
            <a:avLst/>
          </a:prstGeom>
          <a:noFill/>
        </p:spPr>
        <p:txBody>
          <a:bodyPr wrap="none" lIns="0" tIns="0" rIns="0" bIns="0">
            <a:spAutoFit/>
          </a:bodyPr>
          <a:lstStyle/>
          <a:p>
            <a:pPr algn="ctr"/>
            <a:fld id="{1D0B0B0B-0000-4000-8000-00000000C0DE}" type="slidenum">
              <a:rPr lang="ko-KR" altLang="en-US" sz="1000" b="0" dirty="0">
                <a:solidFill>
                  <a:srgbClr val="1A2233"/>
                </a:solidFill>
                <a:latin typeface="Arial"/>
                <a:ea typeface="Arial"/>
              </a:rPr>
              <a:t>26</a:t>
            </a:fld>
            <a:endParaRPr lang="ko-KR" altLang="en-US" sz="1000" b="0" dirty="0">
              <a:solidFill>
                <a:srgbClr val="1A2233"/>
              </a:solidFill>
              <a:latin typeface="Arial"/>
              <a:ea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457200" y="411480"/>
            <a:ext cx="11274552" cy="777240"/>
          </a:xfrm>
          <a:prstGeom prst="rect">
            <a:avLst/>
          </a:prstGeom>
          <a:solidFill>
            <a:srgbClr val="13233F"/>
          </a:solidFill>
          <a:ln/>
        </p:spPr>
        <p:txBody>
          <a:bodyPr/>
          <a:lstStyle/>
          <a:p>
            <a:endParaRPr/>
          </a:p>
        </p:txBody>
      </p:sp>
      <p:sp>
        <p:nvSpPr>
          <p:cNvPr id="3" name="Text 1"/>
          <p:cNvSpPr txBox="1"/>
          <p:nvPr/>
        </p:nvSpPr>
        <p:spPr>
          <a:xfrm>
            <a:off x="640080" y="411480"/>
            <a:ext cx="8732520" cy="777240"/>
          </a:xfrm>
          <a:prstGeom prst="rect">
            <a:avLst/>
          </a:prstGeom>
          <a:noFill/>
          <a:ln/>
        </p:spPr>
        <p:txBody>
          <a:bodyPr wrap="square" lIns="0" tIns="0" rIns="0" bIns="0" rtlCol="0" anchor="ctr"/>
          <a:lstStyle/>
          <a:p>
            <a:pPr marL="0" indent="0">
              <a:buNone/>
            </a:pPr>
            <a:r>
              <a:rPr lang="en-US" sz="2000" b="1" dirty="0">
                <a:solidFill>
                  <a:srgbClr val="FFFFFF"/>
                </a:solidFill>
                <a:latin typeface="맑은 고딕" pitchFamily="34" charset="0"/>
                <a:ea typeface="맑은 고딕" pitchFamily="34" charset="-122"/>
                <a:cs typeface="맑은 고딕" pitchFamily="34" charset="-120"/>
              </a:rPr>
              <a:t>03. 실행 결과</a:t>
            </a:r>
            <a:endParaRPr lang="en-US" sz="2000" dirty="0"/>
          </a:p>
        </p:txBody>
      </p:sp>
      <p:sp>
        <p:nvSpPr>
          <p:cNvPr id="4" name="Shape 2"/>
          <p:cNvSpPr/>
          <p:nvPr/>
        </p:nvSpPr>
        <p:spPr>
          <a:xfrm>
            <a:off x="457200" y="1188720"/>
            <a:ext cx="11274552" cy="4956048"/>
          </a:xfrm>
          <a:prstGeom prst="rect">
            <a:avLst/>
          </a:prstGeom>
          <a:solidFill>
            <a:srgbClr val="FFFFFF"/>
          </a:solidFill>
          <a:ln/>
        </p:spPr>
        <p:txBody>
          <a:bodyPr/>
          <a:lstStyle/>
          <a:p>
            <a:endParaRPr/>
          </a:p>
        </p:txBody>
      </p:sp>
      <p:sp>
        <p:nvSpPr>
          <p:cNvPr id="5" name="Shape 3"/>
          <p:cNvSpPr/>
          <p:nvPr/>
        </p:nvSpPr>
        <p:spPr>
          <a:xfrm>
            <a:off x="548640" y="6199632"/>
            <a:ext cx="11094415" cy="0"/>
          </a:xfrm>
          <a:prstGeom prst="line">
            <a:avLst/>
          </a:prstGeom>
          <a:noFill/>
          <a:ln w="9525">
            <a:solidFill>
              <a:srgbClr val="BFBFBF"/>
            </a:solidFill>
            <a:prstDash val="solid"/>
          </a:ln>
        </p:spPr>
        <p:txBody>
          <a:bodyPr/>
          <a:lstStyle/>
          <a:p>
            <a:endParaRPr/>
          </a:p>
        </p:txBody>
      </p:sp>
      <p:sp>
        <p:nvSpPr>
          <p:cNvPr id="8" name="Shape 6"/>
          <p:cNvSpPr/>
          <p:nvPr/>
        </p:nvSpPr>
        <p:spPr>
          <a:xfrm>
            <a:off x="786384" y="1335024"/>
            <a:ext cx="50292" cy="274320"/>
          </a:xfrm>
          <a:prstGeom prst="rect">
            <a:avLst/>
          </a:prstGeom>
          <a:solidFill>
            <a:srgbClr val="EEF1F7"/>
          </a:solidFill>
          <a:ln/>
        </p:spPr>
        <p:txBody>
          <a:bodyPr/>
          <a:lstStyle/>
          <a:p>
            <a:endParaRPr/>
          </a:p>
        </p:txBody>
      </p:sp>
      <p:sp>
        <p:nvSpPr>
          <p:cNvPr id="9" name="Text 7"/>
          <p:cNvSpPr txBox="1"/>
          <p:nvPr/>
        </p:nvSpPr>
        <p:spPr>
          <a:xfrm>
            <a:off x="932688" y="1298448"/>
            <a:ext cx="10271455" cy="347472"/>
          </a:xfrm>
          <a:prstGeom prst="rect">
            <a:avLst/>
          </a:prstGeom>
          <a:noFill/>
          <a:ln/>
        </p:spPr>
        <p:txBody>
          <a:bodyPr wrap="square" lIns="0" tIns="0" rIns="0" bIns="0" rtlCol="0" anchor="ctr"/>
          <a:lstStyle/>
          <a:p>
            <a:pPr marL="0" indent="0">
              <a:buNone/>
            </a:pPr>
            <a:r>
              <a:rPr lang="en-US" sz="1450" b="1" dirty="0">
                <a:solidFill>
                  <a:srgbClr val="1A2233"/>
                </a:solidFill>
                <a:latin typeface="맑은 고딕" pitchFamily="34" charset="0"/>
                <a:ea typeface="맑은 고딕" pitchFamily="34" charset="-122"/>
                <a:cs typeface="맑은 고딕" pitchFamily="34" charset="-120"/>
              </a:rPr>
              <a:t>radar_coord.exe 를 그대로 돌린 화면. 발표자료 p.18 ~ p.20 의 손계산과 전 단계가 일치한다.</a:t>
            </a:r>
            <a:endParaRPr lang="en-US" sz="1450" dirty="0"/>
          </a:p>
        </p:txBody>
      </p:sp>
      <p:sp>
        <p:nvSpPr>
          <p:cNvPr id="10" name="Rounded Rectangle 9"/>
          <p:cNvSpPr/>
          <p:nvPr/>
        </p:nvSpPr>
        <p:spPr>
          <a:xfrm>
            <a:off x="914400" y="1773936"/>
            <a:ext cx="6903720" cy="3749039"/>
          </a:xfrm>
          <a:prstGeom prst="roundRect">
            <a:avLst>
              <a:gd name="adj" fmla="val 2000"/>
            </a:avLst>
          </a:prstGeom>
          <a:solidFill>
            <a:srgbClr val="F4F6FA"/>
          </a:solidFill>
          <a:ln>
            <a:noFill/>
          </a:ln>
          <a:effectLst/>
        </p:spPr>
        <p:txBody>
          <a:bodyPr rtlCol="0" anchor="ctr"/>
          <a:lstStyle/>
          <a:p>
            <a:pPr algn="ctr"/>
            <a:endParaRPr/>
          </a:p>
        </p:txBody>
      </p:sp>
      <p:sp>
        <p:nvSpPr>
          <p:cNvPr id="11" name="TextBox 10"/>
          <p:cNvSpPr txBox="1"/>
          <p:nvPr/>
        </p:nvSpPr>
        <p:spPr>
          <a:xfrm>
            <a:off x="1060704" y="1856231"/>
            <a:ext cx="6611112" cy="3602735"/>
          </a:xfrm>
          <a:prstGeom prst="rect">
            <a:avLst/>
          </a:prstGeom>
          <a:noFill/>
        </p:spPr>
        <p:txBody>
          <a:bodyPr wrap="square" lIns="0" tIns="0" rIns="0" bIns="0">
            <a:spAutoFit/>
          </a:bodyPr>
          <a:lstStyle/>
          <a:p>
            <a:pPr>
              <a:spcBef>
                <a:spcPts val="0"/>
              </a:spcBef>
            </a:pPr>
            <a:r>
              <a:rPr sz="850" b="0">
                <a:solidFill>
                  <a:srgbClr val="1A2233"/>
                </a:solidFill>
                <a:latin typeface="Consolas"/>
              </a:rPr>
              <a:t>[입력]</a:t>
            </a:r>
          </a:p>
          <a:p>
            <a:pPr>
              <a:spcBef>
                <a:spcPts val="150"/>
              </a:spcBef>
            </a:pPr>
            <a:r>
              <a:rPr sz="850" b="0">
                <a:solidFill>
                  <a:srgbClr val="1A2233"/>
                </a:solidFill>
                <a:latin typeface="Consolas"/>
              </a:rPr>
              <a:t>  측정값       R = 20000.0 m, Az = 30.000 deg, El = 0.000 deg</a:t>
            </a:r>
          </a:p>
          <a:p>
            <a:pPr>
              <a:spcBef>
                <a:spcPts val="150"/>
              </a:spcBef>
            </a:pPr>
            <a:r>
              <a:rPr sz="850" b="0">
                <a:solidFill>
                  <a:srgbClr val="1A2233"/>
                </a:solidFill>
                <a:latin typeface="Consolas"/>
              </a:rPr>
              <a:t>  플랫폼 위치  lat = 36.408000 deg, lon = 127.307000 deg, alt = 0.0 m</a:t>
            </a:r>
          </a:p>
          <a:p>
            <a:pPr>
              <a:spcBef>
                <a:spcPts val="150"/>
              </a:spcBef>
            </a:pPr>
            <a:r>
              <a:rPr sz="850" b="0">
                <a:solidFill>
                  <a:srgbClr val="1A2233"/>
                </a:solidFill>
                <a:latin typeface="Consolas"/>
              </a:rPr>
              <a:t>  플랫폼 자세  (r, y, p) = (0.000, 45.000, 0.000) deg</a:t>
            </a:r>
          </a:p>
          <a:p>
            <a:pPr>
              <a:spcBef>
                <a:spcPts val="150"/>
              </a:spcBef>
            </a:pPr>
            <a:r>
              <a:rPr sz="850" b="0">
                <a:solidFill>
                  <a:srgbClr val="1A2233"/>
                </a:solidFill>
                <a:latin typeface="Consolas"/>
              </a:rPr>
              <a:t>  안테나 설치  az = 90.000 deg, tilt = 0.000 deg, offset = (-30.0, 0.0, -10.0) m</a:t>
            </a:r>
          </a:p>
          <a:p>
            <a:pPr>
              <a:spcBef>
                <a:spcPts val="150"/>
              </a:spcBef>
            </a:pPr>
            <a:endParaRPr sz="850" b="0">
              <a:solidFill>
                <a:srgbClr val="1A1A1A"/>
              </a:solidFill>
              <a:latin typeface="Consolas"/>
            </a:endParaRPr>
          </a:p>
          <a:p>
            <a:pPr>
              <a:spcBef>
                <a:spcPts val="150"/>
              </a:spcBef>
            </a:pPr>
            <a:r>
              <a:rPr sz="850" b="0">
                <a:solidFill>
                  <a:srgbClr val="1A2233"/>
                </a:solidFill>
                <a:latin typeface="Consolas"/>
              </a:rPr>
              <a:t>[정변환]</a:t>
            </a:r>
          </a:p>
          <a:p>
            <a:pPr>
              <a:spcBef>
                <a:spcPts val="150"/>
              </a:spcBef>
            </a:pPr>
            <a:r>
              <a:rPr sz="850" b="0">
                <a:solidFill>
                  <a:srgbClr val="1A2233"/>
                </a:solidFill>
                <a:latin typeface="Consolas"/>
              </a:rPr>
              <a:t>  1) 극좌표 -&gt; 안테나 직교      10000.0000        0.0000    17320.5081  [m]</a:t>
            </a:r>
          </a:p>
          <a:p>
            <a:pPr>
              <a:spcBef>
                <a:spcPts val="150"/>
              </a:spcBef>
            </a:pPr>
            <a:r>
              <a:rPr sz="850" b="0">
                <a:solidFill>
                  <a:srgbClr val="1A2233"/>
                </a:solidFill>
                <a:latin typeface="Consolas"/>
              </a:rPr>
              <a:t>  2) 안테나 -&gt; 동체              9970.0000    17320.5081      -10.0000  [m]</a:t>
            </a:r>
          </a:p>
          <a:p>
            <a:pPr>
              <a:spcBef>
                <a:spcPts val="150"/>
              </a:spcBef>
            </a:pPr>
            <a:r>
              <a:rPr sz="850" b="0">
                <a:solidFill>
                  <a:srgbClr val="1A2233"/>
                </a:solidFill>
                <a:latin typeface="Consolas"/>
              </a:rPr>
              <a:t>  3) 동체 -&gt; NED                -5197.5941    19297.3033      -10.0000  [m]</a:t>
            </a:r>
          </a:p>
          <a:p>
            <a:pPr>
              <a:spcBef>
                <a:spcPts val="150"/>
              </a:spcBef>
            </a:pPr>
            <a:r>
              <a:rPr sz="850" b="0">
                <a:solidFill>
                  <a:srgbClr val="1A2233"/>
                </a:solidFill>
                <a:latin typeface="Consolas"/>
              </a:rPr>
              <a:t>  4) NED -&gt; ECEF            -3132053.7872  4078527.1919  3760545.9526  [m]</a:t>
            </a:r>
          </a:p>
          <a:p>
            <a:pPr>
              <a:spcBef>
                <a:spcPts val="150"/>
              </a:spcBef>
            </a:pPr>
            <a:r>
              <a:rPr sz="850" b="0">
                <a:solidFill>
                  <a:srgbClr val="1A2233"/>
                </a:solidFill>
                <a:latin typeface="Consolas"/>
              </a:rPr>
              <a:t>     함선 ECEF              -3114830.1107  4087762.8525  3764723.0978  [m]</a:t>
            </a:r>
          </a:p>
          <a:p>
            <a:pPr>
              <a:spcBef>
                <a:spcPts val="150"/>
              </a:spcBef>
            </a:pPr>
            <a:r>
              <a:rPr sz="850" b="0">
                <a:solidFill>
                  <a:srgbClr val="1A2233"/>
                </a:solidFill>
                <a:latin typeface="Consolas"/>
              </a:rPr>
              <a:t>  5) ECEF -&gt; LLA</a:t>
            </a:r>
          </a:p>
          <a:p>
            <a:pPr>
              <a:spcBef>
                <a:spcPts val="150"/>
              </a:spcBef>
            </a:pPr>
            <a:r>
              <a:rPr sz="850" b="0">
                <a:solidFill>
                  <a:srgbClr val="1A2233"/>
                </a:solidFill>
                <a:latin typeface="Consolas"/>
              </a:rPr>
              <a:t>      lat = 36.360967176 deg, lon = 127.522008441 deg, alt = 41.2824 m</a:t>
            </a:r>
          </a:p>
          <a:p>
            <a:pPr>
              <a:spcBef>
                <a:spcPts val="150"/>
              </a:spcBef>
            </a:pPr>
            <a:endParaRPr sz="850" b="0">
              <a:solidFill>
                <a:srgbClr val="1A1A1A"/>
              </a:solidFill>
              <a:latin typeface="Consolas"/>
            </a:endParaRPr>
          </a:p>
          <a:p>
            <a:pPr>
              <a:spcBef>
                <a:spcPts val="150"/>
              </a:spcBef>
            </a:pPr>
            <a:r>
              <a:rPr sz="850" b="0">
                <a:solidFill>
                  <a:srgbClr val="1A2233"/>
                </a:solidFill>
                <a:latin typeface="Consolas"/>
              </a:rPr>
              <a:t>[역변환]        ( 정변환의 값을 그대로 되짚어 온다 )</a:t>
            </a:r>
          </a:p>
          <a:p>
            <a:pPr>
              <a:spcBef>
                <a:spcPts val="150"/>
              </a:spcBef>
            </a:pPr>
            <a:r>
              <a:rPr sz="850" b="0">
                <a:solidFill>
                  <a:srgbClr val="1A2233"/>
                </a:solidFill>
                <a:latin typeface="Consolas"/>
              </a:rPr>
              <a:t>  2) ECEF -&gt; NED                -5197.5941    19297.3033      -10.0000  [m]</a:t>
            </a:r>
          </a:p>
          <a:p>
            <a:pPr>
              <a:spcBef>
                <a:spcPts val="150"/>
              </a:spcBef>
            </a:pPr>
            <a:r>
              <a:rPr sz="850" b="0">
                <a:solidFill>
                  <a:srgbClr val="1A2233"/>
                </a:solidFill>
                <a:latin typeface="Consolas"/>
              </a:rPr>
              <a:t>  3) NED -&gt; 동체                 9970.0000    17320.5081      -10.0000  [m]</a:t>
            </a:r>
          </a:p>
          <a:p>
            <a:pPr>
              <a:spcBef>
                <a:spcPts val="150"/>
              </a:spcBef>
            </a:pPr>
            <a:r>
              <a:rPr sz="850" b="0">
                <a:solidFill>
                  <a:srgbClr val="1A2233"/>
                </a:solidFill>
                <a:latin typeface="Consolas"/>
              </a:rPr>
              <a:t>  4) 동체 -&gt; 안테나 직교        10000.0000        0.0000    17320.5081  [m]</a:t>
            </a:r>
          </a:p>
          <a:p>
            <a:pPr>
              <a:spcBef>
                <a:spcPts val="150"/>
              </a:spcBef>
            </a:pPr>
            <a:r>
              <a:rPr sz="850" b="0">
                <a:solidFill>
                  <a:srgbClr val="1A2233"/>
                </a:solidFill>
                <a:latin typeface="Consolas"/>
              </a:rPr>
              <a:t>  5) R = 20000.000000 m, Az = 30.000000000 deg, El = 0.000000000 deg</a:t>
            </a:r>
          </a:p>
          <a:p>
            <a:pPr>
              <a:spcBef>
                <a:spcPts val="150"/>
              </a:spcBef>
            </a:pPr>
            <a:r>
              <a:rPr sz="850" b="0">
                <a:solidFill>
                  <a:srgbClr val="1A2233"/>
                </a:solidFill>
                <a:latin typeface="Consolas"/>
              </a:rPr>
              <a:t>      입력과 차이  dR = 6.8e-10 m, dAz = 6.8e-13 deg, dEl = 3.8e-12 deg</a:t>
            </a:r>
          </a:p>
        </p:txBody>
      </p:sp>
      <p:sp>
        <p:nvSpPr>
          <p:cNvPr id="12" name="Rounded Rectangle 11"/>
          <p:cNvSpPr/>
          <p:nvPr/>
        </p:nvSpPr>
        <p:spPr>
          <a:xfrm>
            <a:off x="8001000" y="1773936"/>
            <a:ext cx="3273552" cy="1188720"/>
          </a:xfrm>
          <a:prstGeom prst="roundRect">
            <a:avLst>
              <a:gd name="adj" fmla="val 4000"/>
            </a:avLst>
          </a:prstGeom>
          <a:solidFill>
            <a:srgbClr val="EEF1F7"/>
          </a:solidFill>
          <a:ln>
            <a:noFill/>
          </a:ln>
          <a:effectLst/>
        </p:spPr>
        <p:txBody>
          <a:bodyPr rtlCol="0" anchor="ctr"/>
          <a:lstStyle/>
          <a:p>
            <a:pPr algn="ctr"/>
            <a:endParaRPr/>
          </a:p>
        </p:txBody>
      </p:sp>
      <p:sp>
        <p:nvSpPr>
          <p:cNvPr id="13" name="TextBox 12"/>
          <p:cNvSpPr txBox="1"/>
          <p:nvPr/>
        </p:nvSpPr>
        <p:spPr>
          <a:xfrm>
            <a:off x="8183879" y="1874519"/>
            <a:ext cx="2907792" cy="1024128"/>
          </a:xfrm>
          <a:prstGeom prst="rect">
            <a:avLst/>
          </a:prstGeom>
          <a:noFill/>
        </p:spPr>
        <p:txBody>
          <a:bodyPr wrap="square" lIns="0" tIns="0" rIns="0" bIns="0">
            <a:spAutoFit/>
          </a:bodyPr>
          <a:lstStyle/>
          <a:p>
            <a:r>
              <a:rPr sz="1200" b="1">
                <a:solidFill>
                  <a:srgbClr val="1A2233"/>
                </a:solidFill>
                <a:latin typeface="맑은 고딕"/>
              </a:rPr>
              <a:t>왕복 오차가 말해 주는 것</a:t>
            </a:r>
          </a:p>
          <a:p>
            <a:pPr>
              <a:spcBef>
                <a:spcPts val="400"/>
              </a:spcBef>
            </a:pPr>
            <a:r>
              <a:rPr sz="900" b="0">
                <a:solidFill>
                  <a:srgbClr val="5A6478"/>
                </a:solidFill>
                <a:latin typeface="맑은 고딕"/>
              </a:rPr>
              <a:t>거리 오차 0.68 nm — 배정도 실수의 반올림 한계.</a:t>
            </a:r>
          </a:p>
          <a:p>
            <a:pPr>
              <a:spcBef>
                <a:spcPts val="200"/>
              </a:spcBef>
            </a:pPr>
            <a:r>
              <a:rPr sz="900" b="0">
                <a:solidFill>
                  <a:srgbClr val="5A6478"/>
                </a:solidFill>
                <a:latin typeface="맑은 고딕"/>
              </a:rPr>
              <a:t>정변환과 역변환이 서로 정확한 역이라는 뜻이다.</a:t>
            </a:r>
          </a:p>
        </p:txBody>
      </p:sp>
      <p:sp>
        <p:nvSpPr>
          <p:cNvPr id="14" name="Rounded Rectangle 13"/>
          <p:cNvSpPr/>
          <p:nvPr/>
        </p:nvSpPr>
        <p:spPr>
          <a:xfrm>
            <a:off x="8001000" y="3035808"/>
            <a:ext cx="3273552" cy="1188720"/>
          </a:xfrm>
          <a:prstGeom prst="roundRect">
            <a:avLst>
              <a:gd name="adj" fmla="val 4000"/>
            </a:avLst>
          </a:prstGeom>
          <a:solidFill>
            <a:srgbClr val="EEF1F7"/>
          </a:solidFill>
          <a:ln>
            <a:noFill/>
          </a:ln>
          <a:effectLst/>
        </p:spPr>
        <p:txBody>
          <a:bodyPr rtlCol="0" anchor="ctr"/>
          <a:lstStyle/>
          <a:p>
            <a:pPr algn="ctr"/>
            <a:endParaRPr/>
          </a:p>
        </p:txBody>
      </p:sp>
      <p:sp>
        <p:nvSpPr>
          <p:cNvPr id="15" name="TextBox 14"/>
          <p:cNvSpPr txBox="1"/>
          <p:nvPr/>
        </p:nvSpPr>
        <p:spPr>
          <a:xfrm>
            <a:off x="8183879" y="3136391"/>
            <a:ext cx="2907792" cy="1024128"/>
          </a:xfrm>
          <a:prstGeom prst="rect">
            <a:avLst/>
          </a:prstGeom>
          <a:noFill/>
        </p:spPr>
        <p:txBody>
          <a:bodyPr wrap="square" lIns="0" tIns="0" rIns="0" bIns="0">
            <a:spAutoFit/>
          </a:bodyPr>
          <a:lstStyle/>
          <a:p>
            <a:r>
              <a:rPr sz="1200" b="1">
                <a:solidFill>
                  <a:srgbClr val="1A2233"/>
                </a:solidFill>
                <a:latin typeface="맑은 고딕"/>
              </a:rPr>
              <a:t>과제 최종 출력 2가지</a:t>
            </a:r>
          </a:p>
          <a:p>
            <a:pPr>
              <a:spcBef>
                <a:spcPts val="400"/>
              </a:spcBef>
            </a:pPr>
            <a:r>
              <a:rPr sz="900" b="0">
                <a:solidFill>
                  <a:srgbClr val="5A6478"/>
                </a:solidFill>
                <a:latin typeface="맑은 고딕"/>
              </a:rPr>
              <a:t>①  36.360967 °N,  127.522008 °E,  41.3 m</a:t>
            </a:r>
          </a:p>
          <a:p>
            <a:pPr>
              <a:spcBef>
                <a:spcPts val="200"/>
              </a:spcBef>
            </a:pPr>
            <a:r>
              <a:rPr sz="900" b="0">
                <a:solidFill>
                  <a:srgbClr val="5A6478"/>
                </a:solidFill>
                <a:latin typeface="맑은 고딕"/>
              </a:rPr>
              <a:t>②  R 20000.0 m,  Az 30.000°,  El 0.000°</a:t>
            </a:r>
          </a:p>
        </p:txBody>
      </p:sp>
      <p:sp>
        <p:nvSpPr>
          <p:cNvPr id="16" name="Rounded Rectangle 15"/>
          <p:cNvSpPr/>
          <p:nvPr/>
        </p:nvSpPr>
        <p:spPr>
          <a:xfrm>
            <a:off x="8001000" y="4297680"/>
            <a:ext cx="3273552" cy="1225296"/>
          </a:xfrm>
          <a:prstGeom prst="roundRect">
            <a:avLst>
              <a:gd name="adj" fmla="val 4000"/>
            </a:avLst>
          </a:prstGeom>
          <a:solidFill>
            <a:srgbClr val="EEF1F7"/>
          </a:solidFill>
          <a:ln>
            <a:noFill/>
          </a:ln>
          <a:effectLst/>
        </p:spPr>
        <p:txBody>
          <a:bodyPr rtlCol="0" anchor="ctr"/>
          <a:lstStyle/>
          <a:p>
            <a:pPr algn="ctr"/>
            <a:endParaRPr/>
          </a:p>
        </p:txBody>
      </p:sp>
      <p:sp>
        <p:nvSpPr>
          <p:cNvPr id="17" name="TextBox 16"/>
          <p:cNvSpPr txBox="1"/>
          <p:nvPr/>
        </p:nvSpPr>
        <p:spPr>
          <a:xfrm>
            <a:off x="8183879" y="4398264"/>
            <a:ext cx="2907792" cy="1060704"/>
          </a:xfrm>
          <a:prstGeom prst="rect">
            <a:avLst/>
          </a:prstGeom>
          <a:noFill/>
        </p:spPr>
        <p:txBody>
          <a:bodyPr wrap="square" lIns="0" tIns="0" rIns="0" bIns="0">
            <a:spAutoFit/>
          </a:bodyPr>
          <a:lstStyle/>
          <a:p>
            <a:r>
              <a:rPr sz="1200" b="1">
                <a:solidFill>
                  <a:srgbClr val="1A2233"/>
                </a:solidFill>
                <a:latin typeface="맑은 고딕"/>
              </a:rPr>
              <a:t>고도가 41.3 m 인 이유</a:t>
            </a:r>
          </a:p>
          <a:p>
            <a:pPr>
              <a:spcBef>
                <a:spcPts val="400"/>
              </a:spcBef>
            </a:pPr>
            <a:r>
              <a:rPr sz="900" b="0">
                <a:solidFill>
                  <a:srgbClr val="5A6478"/>
                </a:solidFill>
                <a:latin typeface="맑은 고딕"/>
              </a:rPr>
              <a:t>표적은 수평면에서 10 m 위인데, 20 km 앞이라</a:t>
            </a:r>
          </a:p>
          <a:p>
            <a:pPr>
              <a:spcBef>
                <a:spcPts val="200"/>
              </a:spcBef>
            </a:pPr>
            <a:r>
              <a:rPr sz="900" b="0">
                <a:solidFill>
                  <a:srgbClr val="5A6478"/>
                </a:solidFill>
                <a:latin typeface="맑은 고딕"/>
              </a:rPr>
              <a:t>지구가 31.3 m 만큼 휘어 내려간다.</a:t>
            </a:r>
          </a:p>
          <a:p>
            <a:pPr>
              <a:spcBef>
                <a:spcPts val="200"/>
              </a:spcBef>
            </a:pPr>
            <a:r>
              <a:rPr sz="900" b="0">
                <a:solidFill>
                  <a:srgbClr val="5A6478"/>
                </a:solidFill>
                <a:latin typeface="맑은 고딕"/>
              </a:rPr>
              <a:t>10 + 31.3 ≒ 41.3 m.</a:t>
            </a:r>
          </a:p>
        </p:txBody>
      </p:sp>
      <p:sp>
        <p:nvSpPr>
          <p:cNvPr id="20" name="SlideNum"/>
          <p:cNvSpPr txBox="1"/>
          <p:nvPr/>
        </p:nvSpPr>
        <p:spPr>
          <a:xfrm>
            <a:off x="5669280" y="6400800"/>
            <a:ext cx="914400" cy="274320"/>
          </a:xfrm>
          <a:prstGeom prst="rect">
            <a:avLst/>
          </a:prstGeom>
          <a:noFill/>
        </p:spPr>
        <p:txBody>
          <a:bodyPr wrap="none" lIns="0" tIns="0" rIns="0" bIns="0">
            <a:spAutoFit/>
          </a:bodyPr>
          <a:lstStyle/>
          <a:p>
            <a:pPr algn="ctr"/>
            <a:fld id="{1D0B0B0B-0000-4000-8000-00000000C0DE}" type="slidenum">
              <a:rPr lang="ko-KR" altLang="en-US" sz="1000" b="0" dirty="0">
                <a:solidFill>
                  <a:srgbClr val="1A2233"/>
                </a:solidFill>
                <a:latin typeface="Arial"/>
                <a:ea typeface="Arial"/>
              </a:rPr>
              <a:t>27</a:t>
            </a:fld>
            <a:endParaRPr lang="ko-KR" altLang="en-US" sz="1000" b="0" dirty="0">
              <a:solidFill>
                <a:srgbClr val="1A2233"/>
              </a:solidFill>
              <a:latin typeface="Arial"/>
              <a:ea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457200" y="411480"/>
            <a:ext cx="11274552" cy="777240"/>
          </a:xfrm>
          <a:prstGeom prst="rect">
            <a:avLst/>
          </a:prstGeom>
          <a:solidFill>
            <a:srgbClr val="13233F"/>
          </a:solidFill>
          <a:ln/>
        </p:spPr>
        <p:txBody>
          <a:bodyPr/>
          <a:lstStyle/>
          <a:p>
            <a:endParaRPr/>
          </a:p>
        </p:txBody>
      </p:sp>
      <p:sp>
        <p:nvSpPr>
          <p:cNvPr id="3" name="Text 1"/>
          <p:cNvSpPr txBox="1"/>
          <p:nvPr/>
        </p:nvSpPr>
        <p:spPr>
          <a:xfrm>
            <a:off x="640080" y="411480"/>
            <a:ext cx="8732520" cy="777240"/>
          </a:xfrm>
          <a:prstGeom prst="rect">
            <a:avLst/>
          </a:prstGeom>
          <a:noFill/>
          <a:ln/>
        </p:spPr>
        <p:txBody>
          <a:bodyPr wrap="square" lIns="0" tIns="0" rIns="0" bIns="0" rtlCol="0" anchor="ctr"/>
          <a:lstStyle/>
          <a:p>
            <a:pPr marL="0" indent="0">
              <a:buNone/>
            </a:pPr>
            <a:r>
              <a:rPr lang="en-US" sz="2000" b="1" dirty="0">
                <a:solidFill>
                  <a:srgbClr val="FFFFFF"/>
                </a:solidFill>
                <a:latin typeface="맑은 고딕" pitchFamily="34" charset="0"/>
                <a:ea typeface="맑은 고딕" pitchFamily="34" charset="-122"/>
                <a:cs typeface="맑은 고딕" pitchFamily="34" charset="-120"/>
              </a:rPr>
              <a:t>03. UI 화면에서 확인</a:t>
            </a:r>
            <a:endParaRPr lang="en-US" sz="2000" dirty="0"/>
          </a:p>
        </p:txBody>
      </p:sp>
      <p:sp>
        <p:nvSpPr>
          <p:cNvPr id="4" name="Shape 2"/>
          <p:cNvSpPr/>
          <p:nvPr/>
        </p:nvSpPr>
        <p:spPr>
          <a:xfrm>
            <a:off x="457200" y="1188720"/>
            <a:ext cx="11274552" cy="4956048"/>
          </a:xfrm>
          <a:prstGeom prst="rect">
            <a:avLst/>
          </a:prstGeom>
          <a:solidFill>
            <a:srgbClr val="FFFFFF"/>
          </a:solidFill>
          <a:ln/>
        </p:spPr>
        <p:txBody>
          <a:bodyPr/>
          <a:lstStyle/>
          <a:p>
            <a:endParaRPr/>
          </a:p>
        </p:txBody>
      </p:sp>
      <p:sp>
        <p:nvSpPr>
          <p:cNvPr id="5" name="Shape 3"/>
          <p:cNvSpPr/>
          <p:nvPr/>
        </p:nvSpPr>
        <p:spPr>
          <a:xfrm>
            <a:off x="548640" y="6199632"/>
            <a:ext cx="11094415" cy="0"/>
          </a:xfrm>
          <a:prstGeom prst="line">
            <a:avLst/>
          </a:prstGeom>
          <a:noFill/>
          <a:ln w="9525">
            <a:solidFill>
              <a:srgbClr val="BFBFBF"/>
            </a:solidFill>
            <a:prstDash val="solid"/>
          </a:ln>
        </p:spPr>
        <p:txBody>
          <a:bodyPr/>
          <a:lstStyle/>
          <a:p>
            <a:endParaRPr/>
          </a:p>
        </p:txBody>
      </p:sp>
      <p:sp>
        <p:nvSpPr>
          <p:cNvPr id="8" name="Shape 6"/>
          <p:cNvSpPr/>
          <p:nvPr/>
        </p:nvSpPr>
        <p:spPr>
          <a:xfrm>
            <a:off x="786384" y="1335024"/>
            <a:ext cx="50292" cy="274320"/>
          </a:xfrm>
          <a:prstGeom prst="rect">
            <a:avLst/>
          </a:prstGeom>
          <a:solidFill>
            <a:srgbClr val="EEF1F7"/>
          </a:solidFill>
          <a:ln/>
        </p:spPr>
        <p:txBody>
          <a:bodyPr/>
          <a:lstStyle/>
          <a:p>
            <a:endParaRPr/>
          </a:p>
        </p:txBody>
      </p:sp>
      <p:sp>
        <p:nvSpPr>
          <p:cNvPr id="9" name="Text 7"/>
          <p:cNvSpPr txBox="1"/>
          <p:nvPr/>
        </p:nvSpPr>
        <p:spPr>
          <a:xfrm>
            <a:off x="932688" y="1298448"/>
            <a:ext cx="10271455" cy="347472"/>
          </a:xfrm>
          <a:prstGeom prst="rect">
            <a:avLst/>
          </a:prstGeom>
          <a:noFill/>
          <a:ln/>
        </p:spPr>
        <p:txBody>
          <a:bodyPr wrap="square" lIns="0" tIns="0" rIns="0" bIns="0" rtlCol="0" anchor="ctr"/>
          <a:lstStyle/>
          <a:p>
            <a:pPr marL="0" indent="0">
              <a:buNone/>
            </a:pPr>
            <a:r>
              <a:rPr lang="en-US" sz="1450" b="1" dirty="0">
                <a:solidFill>
                  <a:srgbClr val="1A2233"/>
                </a:solidFill>
                <a:latin typeface="맑은 고딕" pitchFamily="34" charset="0"/>
                <a:ea typeface="맑은 고딕" pitchFamily="34" charset="-122"/>
                <a:cs typeface="맑은 고딕" pitchFamily="34" charset="-120"/>
              </a:rPr>
              <a:t>CoordUI 는 같은 CoordCore 를 호출한다. 입력을 바꾸면 단계별 값이 그 자리에서 다시 계산된다.</a:t>
            </a:r>
            <a:endParaRPr lang="en-US" sz="1450" dirty="0"/>
          </a:p>
        </p:txBody>
      </p:sp>
      <p:pic>
        <p:nvPicPr>
          <p:cNvPr id="10" name="Picture 9" descr="coordui.png"/>
          <p:cNvPicPr>
            <a:picLocks noChangeAspect="1"/>
          </p:cNvPicPr>
          <p:nvPr/>
        </p:nvPicPr>
        <p:blipFill>
          <a:blip r:embed="rId3"/>
          <a:stretch>
            <a:fillRect/>
          </a:stretch>
        </p:blipFill>
        <p:spPr>
          <a:xfrm>
            <a:off x="914400" y="1773936"/>
            <a:ext cx="7589520" cy="3858837"/>
          </a:xfrm>
          <a:prstGeom prst="rect">
            <a:avLst/>
          </a:prstGeom>
        </p:spPr>
      </p:pic>
      <p:sp>
        <p:nvSpPr>
          <p:cNvPr id="11" name="Rounded Rectangle 10"/>
          <p:cNvSpPr/>
          <p:nvPr/>
        </p:nvSpPr>
        <p:spPr>
          <a:xfrm>
            <a:off x="8778240" y="1773936"/>
            <a:ext cx="2496312" cy="1188720"/>
          </a:xfrm>
          <a:prstGeom prst="roundRect">
            <a:avLst>
              <a:gd name="adj" fmla="val 4000"/>
            </a:avLst>
          </a:prstGeom>
          <a:solidFill>
            <a:srgbClr val="EEF1F7"/>
          </a:solidFill>
          <a:ln>
            <a:noFill/>
          </a:ln>
          <a:effectLst/>
        </p:spPr>
        <p:txBody>
          <a:bodyPr rtlCol="0" anchor="ctr"/>
          <a:lstStyle/>
          <a:p>
            <a:pPr algn="ctr"/>
            <a:endParaRPr/>
          </a:p>
        </p:txBody>
      </p:sp>
      <p:sp>
        <p:nvSpPr>
          <p:cNvPr id="12" name="TextBox 11"/>
          <p:cNvSpPr txBox="1"/>
          <p:nvPr/>
        </p:nvSpPr>
        <p:spPr>
          <a:xfrm>
            <a:off x="8961119" y="1874519"/>
            <a:ext cx="2130552" cy="1024128"/>
          </a:xfrm>
          <a:prstGeom prst="rect">
            <a:avLst/>
          </a:prstGeom>
          <a:noFill/>
        </p:spPr>
        <p:txBody>
          <a:bodyPr wrap="square" lIns="0" tIns="0" rIns="0" bIns="0">
            <a:spAutoFit/>
          </a:bodyPr>
          <a:lstStyle/>
          <a:p>
            <a:r>
              <a:rPr sz="1100" b="1">
                <a:solidFill>
                  <a:srgbClr val="1A2233"/>
                </a:solidFill>
                <a:latin typeface="맑은 고딕"/>
              </a:rPr>
              <a:t>① 입력</a:t>
            </a:r>
          </a:p>
          <a:p>
            <a:pPr>
              <a:spcBef>
                <a:spcPts val="400"/>
              </a:spcBef>
            </a:pPr>
            <a:r>
              <a:rPr sz="819" b="0">
                <a:solidFill>
                  <a:srgbClr val="5A6478"/>
                </a:solidFill>
                <a:latin typeface="맑은 고딕"/>
              </a:rPr>
              <a:t>측정값 · 플랫폼 위치 · 자세 · 안테나 설치를 그대로 넣는다.</a:t>
            </a:r>
          </a:p>
          <a:p>
            <a:pPr>
              <a:spcBef>
                <a:spcPts val="200"/>
              </a:spcBef>
            </a:pPr>
            <a:r>
              <a:rPr sz="819" b="0">
                <a:solidFill>
                  <a:srgbClr val="5A6478"/>
                </a:solidFill>
                <a:latin typeface="맑은 고딕"/>
              </a:rPr>
              <a:t>roll / pitch / yaw 는 슬라이더로도 바꾼다.</a:t>
            </a:r>
          </a:p>
        </p:txBody>
      </p:sp>
      <p:sp>
        <p:nvSpPr>
          <p:cNvPr id="13" name="Rounded Rectangle 12"/>
          <p:cNvSpPr/>
          <p:nvPr/>
        </p:nvSpPr>
        <p:spPr>
          <a:xfrm>
            <a:off x="8778240" y="3090672"/>
            <a:ext cx="2496312" cy="1188720"/>
          </a:xfrm>
          <a:prstGeom prst="roundRect">
            <a:avLst>
              <a:gd name="adj" fmla="val 4000"/>
            </a:avLst>
          </a:prstGeom>
          <a:solidFill>
            <a:srgbClr val="EEF1F7"/>
          </a:solidFill>
          <a:ln>
            <a:noFill/>
          </a:ln>
          <a:effectLst/>
        </p:spPr>
        <p:txBody>
          <a:bodyPr rtlCol="0" anchor="ctr"/>
          <a:lstStyle/>
          <a:p>
            <a:pPr algn="ctr"/>
            <a:endParaRPr/>
          </a:p>
        </p:txBody>
      </p:sp>
      <p:sp>
        <p:nvSpPr>
          <p:cNvPr id="14" name="TextBox 13"/>
          <p:cNvSpPr txBox="1"/>
          <p:nvPr/>
        </p:nvSpPr>
        <p:spPr>
          <a:xfrm>
            <a:off x="8961119" y="3191256"/>
            <a:ext cx="2130552" cy="1024128"/>
          </a:xfrm>
          <a:prstGeom prst="rect">
            <a:avLst/>
          </a:prstGeom>
          <a:noFill/>
        </p:spPr>
        <p:txBody>
          <a:bodyPr wrap="square" lIns="0" tIns="0" rIns="0" bIns="0">
            <a:spAutoFit/>
          </a:bodyPr>
          <a:lstStyle/>
          <a:p>
            <a:r>
              <a:rPr sz="1100" b="1">
                <a:solidFill>
                  <a:srgbClr val="1A2233"/>
                </a:solidFill>
                <a:latin typeface="맑은 고딕"/>
              </a:rPr>
              <a:t>② 단계별 결과</a:t>
            </a:r>
          </a:p>
          <a:p>
            <a:pPr>
              <a:spcBef>
                <a:spcPts val="400"/>
              </a:spcBef>
            </a:pPr>
            <a:r>
              <a:rPr sz="819" b="0">
                <a:solidFill>
                  <a:srgbClr val="5A6478"/>
                </a:solidFill>
                <a:latin typeface="맑은 고딕"/>
              </a:rPr>
              <a:t>정변환 5 단계와 역변환 5 단계가 한 표에 나온다.</a:t>
            </a:r>
          </a:p>
          <a:p>
            <a:pPr>
              <a:spcBef>
                <a:spcPts val="200"/>
              </a:spcBef>
            </a:pPr>
            <a:r>
              <a:rPr sz="819" b="0">
                <a:solidFill>
                  <a:srgbClr val="5A6478"/>
                </a:solidFill>
                <a:latin typeface="맑은 고딕"/>
              </a:rPr>
              <a:t>콘솔 출력과 값이 같다.</a:t>
            </a:r>
          </a:p>
        </p:txBody>
      </p:sp>
      <p:sp>
        <p:nvSpPr>
          <p:cNvPr id="15" name="Rounded Rectangle 14"/>
          <p:cNvSpPr/>
          <p:nvPr/>
        </p:nvSpPr>
        <p:spPr>
          <a:xfrm>
            <a:off x="8778240" y="4407408"/>
            <a:ext cx="2496312" cy="1225296"/>
          </a:xfrm>
          <a:prstGeom prst="roundRect">
            <a:avLst>
              <a:gd name="adj" fmla="val 4000"/>
            </a:avLst>
          </a:prstGeom>
          <a:solidFill>
            <a:srgbClr val="EEF1F7"/>
          </a:solidFill>
          <a:ln>
            <a:noFill/>
          </a:ln>
          <a:effectLst/>
        </p:spPr>
        <p:txBody>
          <a:bodyPr rtlCol="0" anchor="ctr"/>
          <a:lstStyle/>
          <a:p>
            <a:pPr algn="ctr"/>
            <a:endParaRPr/>
          </a:p>
        </p:txBody>
      </p:sp>
      <p:sp>
        <p:nvSpPr>
          <p:cNvPr id="16" name="TextBox 15"/>
          <p:cNvSpPr txBox="1"/>
          <p:nvPr/>
        </p:nvSpPr>
        <p:spPr>
          <a:xfrm>
            <a:off x="8961119" y="4507992"/>
            <a:ext cx="2130552" cy="1060704"/>
          </a:xfrm>
          <a:prstGeom prst="rect">
            <a:avLst/>
          </a:prstGeom>
          <a:noFill/>
        </p:spPr>
        <p:txBody>
          <a:bodyPr wrap="square" lIns="0" tIns="0" rIns="0" bIns="0">
            <a:spAutoFit/>
          </a:bodyPr>
          <a:lstStyle/>
          <a:p>
            <a:r>
              <a:rPr sz="1100" b="1">
                <a:solidFill>
                  <a:srgbClr val="1A2233"/>
                </a:solidFill>
                <a:latin typeface="맑은 고딕"/>
              </a:rPr>
              <a:t>③ 최종 출력</a:t>
            </a:r>
          </a:p>
          <a:p>
            <a:pPr>
              <a:spcBef>
                <a:spcPts val="400"/>
              </a:spcBef>
            </a:pPr>
            <a:r>
              <a:rPr sz="819" b="0">
                <a:solidFill>
                  <a:srgbClr val="5A6478"/>
                </a:solidFill>
                <a:latin typeface="맑은 고딕"/>
              </a:rPr>
              <a:t>표적 위/경/고도와 안테나 극좌표,</a:t>
            </a:r>
          </a:p>
          <a:p>
            <a:pPr>
              <a:spcBef>
                <a:spcPts val="200"/>
              </a:spcBef>
            </a:pPr>
            <a:r>
              <a:rPr sz="819" b="0">
                <a:solidFill>
                  <a:srgbClr val="5A6478"/>
                </a:solidFill>
                <a:latin typeface="맑은 고딕"/>
              </a:rPr>
              <a:t>그리고 왕복오차까지 한 눈에 확인된다.</a:t>
            </a:r>
          </a:p>
        </p:txBody>
      </p:sp>
      <p:sp>
        <p:nvSpPr>
          <p:cNvPr id="17" name="Rounded Rectangle 16"/>
          <p:cNvSpPr/>
          <p:nvPr/>
        </p:nvSpPr>
        <p:spPr>
          <a:xfrm>
            <a:off x="914400" y="5504688"/>
            <a:ext cx="7589520" cy="329184"/>
          </a:xfrm>
          <a:prstGeom prst="roundRect">
            <a:avLst>
              <a:gd name="adj" fmla="val 4000"/>
            </a:avLst>
          </a:prstGeom>
          <a:solidFill>
            <a:srgbClr val="FBEADF"/>
          </a:solidFill>
          <a:ln>
            <a:noFill/>
          </a:ln>
          <a:effectLst/>
        </p:spPr>
        <p:txBody>
          <a:bodyPr rtlCol="0" anchor="ctr"/>
          <a:lstStyle/>
          <a:p>
            <a:pPr algn="ctr"/>
            <a:endParaRPr/>
          </a:p>
        </p:txBody>
      </p:sp>
      <p:sp>
        <p:nvSpPr>
          <p:cNvPr id="18" name="TextBox 17"/>
          <p:cNvSpPr txBox="1"/>
          <p:nvPr/>
        </p:nvSpPr>
        <p:spPr>
          <a:xfrm>
            <a:off x="1097280" y="5559552"/>
            <a:ext cx="7315200" cy="237744"/>
          </a:xfrm>
          <a:prstGeom prst="rect">
            <a:avLst/>
          </a:prstGeom>
          <a:noFill/>
        </p:spPr>
        <p:txBody>
          <a:bodyPr wrap="square" lIns="0" tIns="0" rIns="0" bIns="0">
            <a:spAutoFit/>
          </a:bodyPr>
          <a:lstStyle/>
          <a:p>
            <a:r>
              <a:rPr sz="900" b="1">
                <a:solidFill>
                  <a:srgbClr val="C2521C"/>
                </a:solidFill>
                <a:latin typeface="맑은 고딕"/>
              </a:rPr>
              <a:t>표에 찍힌 값이 발표자료 p.18 ~ p.20 · 앞 장 콘솔 출력과 모두 같다.</a:t>
            </a:r>
          </a:p>
        </p:txBody>
      </p:sp>
      <p:sp>
        <p:nvSpPr>
          <p:cNvPr id="20" name="SlideNum"/>
          <p:cNvSpPr txBox="1"/>
          <p:nvPr/>
        </p:nvSpPr>
        <p:spPr>
          <a:xfrm>
            <a:off x="5669280" y="6400800"/>
            <a:ext cx="914400" cy="274320"/>
          </a:xfrm>
          <a:prstGeom prst="rect">
            <a:avLst/>
          </a:prstGeom>
          <a:noFill/>
        </p:spPr>
        <p:txBody>
          <a:bodyPr wrap="none" lIns="0" tIns="0" rIns="0" bIns="0">
            <a:spAutoFit/>
          </a:bodyPr>
          <a:lstStyle/>
          <a:p>
            <a:pPr algn="ctr"/>
            <a:fld id="{1D0B0B0B-0000-4000-8000-00000000C0DE}" type="slidenum">
              <a:rPr lang="ko-KR" altLang="en-US" sz="1000" b="0" dirty="0">
                <a:solidFill>
                  <a:srgbClr val="1A2233"/>
                </a:solidFill>
                <a:latin typeface="Arial"/>
                <a:ea typeface="Arial"/>
              </a:rPr>
              <a:t>28</a:t>
            </a:fld>
            <a:endParaRPr lang="ko-KR" altLang="en-US" sz="1000" b="0" dirty="0">
              <a:solidFill>
                <a:srgbClr val="1A2233"/>
              </a:solidFill>
              <a:latin typeface="Arial"/>
              <a:ea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33">
    <p:bg>
      <p:bgPr>
        <a:solidFill>
          <a:srgbClr val="13233F"/>
        </a:solidFill>
        <a:effectLst/>
      </p:bgPr>
    </p:bg>
    <p:spTree>
      <p:nvGrpSpPr>
        <p:cNvPr id="1" name=""/>
        <p:cNvGrpSpPr/>
        <p:nvPr/>
      </p:nvGrpSpPr>
      <p:grpSpPr>
        <a:xfrm>
          <a:off x="0" y="0"/>
          <a:ext cx="0" cy="0"/>
          <a:chOff x="0" y="0"/>
          <a:chExt cx="0" cy="0"/>
        </a:xfrm>
      </p:grpSpPr>
      <p:sp>
        <p:nvSpPr>
          <p:cNvPr id="3" name="Shape 1"/>
          <p:cNvSpPr/>
          <p:nvPr/>
        </p:nvSpPr>
        <p:spPr>
          <a:xfrm>
            <a:off x="822960" y="1911095"/>
            <a:ext cx="347472" cy="347472"/>
          </a:xfrm>
          <a:prstGeom prst="ellipse">
            <a:avLst/>
          </a:prstGeom>
          <a:solidFill>
            <a:srgbClr val="1E3357"/>
          </a:solidFill>
          <a:ln w="12700">
            <a:solidFill>
              <a:srgbClr val="34507F"/>
            </a:solidFill>
            <a:prstDash val="solid"/>
          </a:ln>
        </p:spPr>
        <p:txBody>
          <a:bodyPr/>
          <a:lstStyle/>
          <a:p>
            <a:endParaRPr/>
          </a:p>
        </p:txBody>
      </p:sp>
      <p:sp>
        <p:nvSpPr>
          <p:cNvPr id="4" name="Text 2"/>
          <p:cNvSpPr txBox="1"/>
          <p:nvPr/>
        </p:nvSpPr>
        <p:spPr>
          <a:xfrm>
            <a:off x="822960" y="1911095"/>
            <a:ext cx="347472" cy="347472"/>
          </a:xfrm>
          <a:prstGeom prst="rect">
            <a:avLst/>
          </a:prstGeom>
          <a:noFill/>
          <a:ln/>
        </p:spPr>
        <p:txBody>
          <a:bodyPr wrap="square" lIns="0" tIns="0" rIns="0" bIns="0" rtlCol="0" anchor="ctr"/>
          <a:lstStyle/>
          <a:p>
            <a:pPr marL="0" indent="0" algn="ctr">
              <a:buNone/>
            </a:pPr>
            <a:r>
              <a:rPr lang="en-US" sz="1300" b="1" dirty="0">
                <a:solidFill>
                  <a:srgbClr val="9DB3D6"/>
                </a:solidFill>
                <a:latin typeface="맑은 고딕" pitchFamily="34" charset="0"/>
                <a:ea typeface="맑은 고딕" pitchFamily="34" charset="-122"/>
                <a:cs typeface="맑은 고딕" pitchFamily="34" charset="-120"/>
              </a:rPr>
              <a:t>1</a:t>
            </a:r>
            <a:endParaRPr lang="en-US" sz="1300" dirty="0"/>
          </a:p>
        </p:txBody>
      </p:sp>
      <p:sp>
        <p:nvSpPr>
          <p:cNvPr id="5" name="Text 3"/>
          <p:cNvSpPr txBox="1"/>
          <p:nvPr/>
        </p:nvSpPr>
        <p:spPr>
          <a:xfrm>
            <a:off x="1353312" y="1874519"/>
            <a:ext cx="10058400" cy="420624"/>
          </a:xfrm>
          <a:prstGeom prst="rect">
            <a:avLst/>
          </a:prstGeom>
          <a:noFill/>
          <a:ln/>
        </p:spPr>
        <p:txBody>
          <a:bodyPr wrap="square" lIns="0" tIns="0" rIns="0" bIns="0" rtlCol="0" anchor="ctr"/>
          <a:lstStyle/>
          <a:p>
            <a:pPr marL="0" indent="0">
              <a:buNone/>
            </a:pPr>
            <a:r>
              <a:rPr lang="en-US" sz="1600" dirty="0">
                <a:solidFill>
                  <a:srgbClr val="D6DFF0"/>
                </a:solidFill>
                <a:latin typeface="맑은 고딕" pitchFamily="34" charset="0"/>
                <a:ea typeface="맑은 고딕" pitchFamily="34" charset="-122"/>
                <a:cs typeface="맑은 고딕" pitchFamily="34" charset="-120"/>
              </a:rPr>
              <a:t>좌표계는 "어디에 서서 어느 방향을 기준으로 재는가" 이고, 좌표변환은 그 기준을 맞추는 계산이다</a:t>
            </a:r>
            <a:endParaRPr lang="en-US" sz="1600" dirty="0"/>
          </a:p>
        </p:txBody>
      </p:sp>
      <p:sp>
        <p:nvSpPr>
          <p:cNvPr id="6" name="Shape 4"/>
          <p:cNvSpPr/>
          <p:nvPr/>
        </p:nvSpPr>
        <p:spPr>
          <a:xfrm>
            <a:off x="822960" y="2496312"/>
            <a:ext cx="347472" cy="347472"/>
          </a:xfrm>
          <a:prstGeom prst="ellipse">
            <a:avLst/>
          </a:prstGeom>
          <a:solidFill>
            <a:srgbClr val="1E3357"/>
          </a:solidFill>
          <a:ln w="12700">
            <a:solidFill>
              <a:srgbClr val="34507F"/>
            </a:solidFill>
            <a:prstDash val="solid"/>
          </a:ln>
        </p:spPr>
        <p:txBody>
          <a:bodyPr/>
          <a:lstStyle/>
          <a:p>
            <a:endParaRPr/>
          </a:p>
        </p:txBody>
      </p:sp>
      <p:sp>
        <p:nvSpPr>
          <p:cNvPr id="7" name="Text 5"/>
          <p:cNvSpPr txBox="1"/>
          <p:nvPr/>
        </p:nvSpPr>
        <p:spPr>
          <a:xfrm>
            <a:off x="822960" y="2496312"/>
            <a:ext cx="347472" cy="347472"/>
          </a:xfrm>
          <a:prstGeom prst="rect">
            <a:avLst/>
          </a:prstGeom>
          <a:noFill/>
          <a:ln/>
        </p:spPr>
        <p:txBody>
          <a:bodyPr wrap="square" lIns="0" tIns="0" rIns="0" bIns="0" rtlCol="0" anchor="ctr"/>
          <a:lstStyle/>
          <a:p>
            <a:pPr marL="0" indent="0" algn="ctr">
              <a:buNone/>
            </a:pPr>
            <a:r>
              <a:rPr lang="en-US" sz="1300" b="1" dirty="0">
                <a:solidFill>
                  <a:srgbClr val="9DB3D6"/>
                </a:solidFill>
                <a:latin typeface="맑은 고딕" pitchFamily="34" charset="0"/>
                <a:ea typeface="맑은 고딕" pitchFamily="34" charset="-122"/>
                <a:cs typeface="맑은 고딕" pitchFamily="34" charset="-120"/>
              </a:rPr>
              <a:t>2</a:t>
            </a:r>
            <a:endParaRPr lang="en-US" sz="1300" dirty="0"/>
          </a:p>
        </p:txBody>
      </p:sp>
      <p:sp>
        <p:nvSpPr>
          <p:cNvPr id="8" name="Text 6"/>
          <p:cNvSpPr txBox="1"/>
          <p:nvPr/>
        </p:nvSpPr>
        <p:spPr>
          <a:xfrm>
            <a:off x="1353312" y="2459736"/>
            <a:ext cx="10058400" cy="420624"/>
          </a:xfrm>
          <a:prstGeom prst="rect">
            <a:avLst/>
          </a:prstGeom>
          <a:noFill/>
          <a:ln/>
        </p:spPr>
        <p:txBody>
          <a:bodyPr wrap="square" lIns="0" tIns="0" rIns="0" bIns="0" rtlCol="0" anchor="ctr"/>
          <a:lstStyle/>
          <a:p>
            <a:pPr marL="0" indent="0">
              <a:buNone/>
            </a:pPr>
            <a:r>
              <a:rPr lang="en-US" sz="1600" dirty="0">
                <a:solidFill>
                  <a:srgbClr val="D6DFF0"/>
                </a:solidFill>
                <a:latin typeface="맑은 고딕" pitchFamily="34" charset="0"/>
                <a:ea typeface="맑은 고딕" pitchFamily="34" charset="-122"/>
                <a:cs typeface="맑은 고딕" pitchFamily="34" charset="-120"/>
              </a:rPr>
              <a:t>변환의 재료는 회전과 평행이동 둘뿐이다</a:t>
            </a:r>
            <a:endParaRPr lang="en-US" sz="1600" dirty="0"/>
          </a:p>
        </p:txBody>
      </p:sp>
      <p:sp>
        <p:nvSpPr>
          <p:cNvPr id="9" name="Shape 7"/>
          <p:cNvSpPr/>
          <p:nvPr/>
        </p:nvSpPr>
        <p:spPr>
          <a:xfrm>
            <a:off x="822960" y="3081528"/>
            <a:ext cx="347472" cy="347472"/>
          </a:xfrm>
          <a:prstGeom prst="ellipse">
            <a:avLst/>
          </a:prstGeom>
          <a:solidFill>
            <a:srgbClr val="1E3357"/>
          </a:solidFill>
          <a:ln w="12700">
            <a:solidFill>
              <a:srgbClr val="34507F"/>
            </a:solidFill>
            <a:prstDash val="solid"/>
          </a:ln>
        </p:spPr>
        <p:txBody>
          <a:bodyPr/>
          <a:lstStyle/>
          <a:p>
            <a:endParaRPr/>
          </a:p>
        </p:txBody>
      </p:sp>
      <p:sp>
        <p:nvSpPr>
          <p:cNvPr id="10" name="Text 8"/>
          <p:cNvSpPr txBox="1"/>
          <p:nvPr/>
        </p:nvSpPr>
        <p:spPr>
          <a:xfrm>
            <a:off x="822960" y="3081528"/>
            <a:ext cx="347472" cy="347472"/>
          </a:xfrm>
          <a:prstGeom prst="rect">
            <a:avLst/>
          </a:prstGeom>
          <a:noFill/>
          <a:ln/>
        </p:spPr>
        <p:txBody>
          <a:bodyPr wrap="square" lIns="0" tIns="0" rIns="0" bIns="0" rtlCol="0" anchor="ctr"/>
          <a:lstStyle/>
          <a:p>
            <a:pPr marL="0" indent="0" algn="ctr">
              <a:buNone/>
            </a:pPr>
            <a:r>
              <a:rPr lang="en-US" sz="1300" b="1" dirty="0">
                <a:solidFill>
                  <a:srgbClr val="9DB3D6"/>
                </a:solidFill>
                <a:latin typeface="맑은 고딕" pitchFamily="34" charset="0"/>
                <a:ea typeface="맑은 고딕" pitchFamily="34" charset="-122"/>
                <a:cs typeface="맑은 고딕" pitchFamily="34" charset="-120"/>
              </a:rPr>
              <a:t>3</a:t>
            </a:r>
            <a:endParaRPr lang="en-US" sz="1300" dirty="0"/>
          </a:p>
        </p:txBody>
      </p:sp>
      <p:sp>
        <p:nvSpPr>
          <p:cNvPr id="11" name="Text 9"/>
          <p:cNvSpPr txBox="1"/>
          <p:nvPr/>
        </p:nvSpPr>
        <p:spPr>
          <a:xfrm>
            <a:off x="1353312" y="3044952"/>
            <a:ext cx="10058400" cy="420624"/>
          </a:xfrm>
          <a:prstGeom prst="rect">
            <a:avLst/>
          </a:prstGeom>
          <a:noFill/>
          <a:ln/>
        </p:spPr>
        <p:txBody>
          <a:bodyPr wrap="square" lIns="0" tIns="0" rIns="0" bIns="0" rtlCol="0" anchor="ctr"/>
          <a:lstStyle/>
          <a:p>
            <a:pPr marL="0" indent="0">
              <a:buNone/>
            </a:pPr>
            <a:r>
              <a:rPr lang="en-US" sz="1600" dirty="0">
                <a:solidFill>
                  <a:srgbClr val="D6DFF0"/>
                </a:solidFill>
                <a:latin typeface="맑은 고딕" pitchFamily="34" charset="0"/>
                <a:ea typeface="맑은 고딕" pitchFamily="34" charset="-122"/>
                <a:cs typeface="맑은 고딕" pitchFamily="34" charset="-120"/>
              </a:rPr>
              <a:t>순서는 안테나 → 동체 → 로컬 → ECEF → 위경도. 건너뛸 수 없다</a:t>
            </a:r>
            <a:endParaRPr lang="en-US" sz="1600" dirty="0"/>
          </a:p>
        </p:txBody>
      </p:sp>
      <p:sp>
        <p:nvSpPr>
          <p:cNvPr id="12" name="Shape 10"/>
          <p:cNvSpPr/>
          <p:nvPr/>
        </p:nvSpPr>
        <p:spPr>
          <a:xfrm>
            <a:off x="822960" y="3666744"/>
            <a:ext cx="347472" cy="347472"/>
          </a:xfrm>
          <a:prstGeom prst="ellipse">
            <a:avLst/>
          </a:prstGeom>
          <a:solidFill>
            <a:srgbClr val="1E3357"/>
          </a:solidFill>
          <a:ln w="12700">
            <a:solidFill>
              <a:srgbClr val="34507F"/>
            </a:solidFill>
            <a:prstDash val="solid"/>
          </a:ln>
        </p:spPr>
        <p:txBody>
          <a:bodyPr/>
          <a:lstStyle/>
          <a:p>
            <a:endParaRPr/>
          </a:p>
        </p:txBody>
      </p:sp>
      <p:sp>
        <p:nvSpPr>
          <p:cNvPr id="13" name="Text 11"/>
          <p:cNvSpPr txBox="1"/>
          <p:nvPr/>
        </p:nvSpPr>
        <p:spPr>
          <a:xfrm>
            <a:off x="822960" y="3666744"/>
            <a:ext cx="347472" cy="347472"/>
          </a:xfrm>
          <a:prstGeom prst="rect">
            <a:avLst/>
          </a:prstGeom>
          <a:noFill/>
          <a:ln/>
        </p:spPr>
        <p:txBody>
          <a:bodyPr wrap="square" lIns="0" tIns="0" rIns="0" bIns="0" rtlCol="0" anchor="ctr"/>
          <a:lstStyle/>
          <a:p>
            <a:pPr marL="0" indent="0" algn="ctr">
              <a:buNone/>
            </a:pPr>
            <a:r>
              <a:rPr lang="en-US" sz="1300" b="1" dirty="0">
                <a:solidFill>
                  <a:srgbClr val="9DB3D6"/>
                </a:solidFill>
                <a:latin typeface="맑은 고딕" pitchFamily="34" charset="0"/>
                <a:ea typeface="맑은 고딕" pitchFamily="34" charset="-122"/>
                <a:cs typeface="맑은 고딕" pitchFamily="34" charset="-120"/>
              </a:rPr>
              <a:t>4</a:t>
            </a:r>
            <a:endParaRPr lang="en-US" sz="1300" dirty="0"/>
          </a:p>
        </p:txBody>
      </p:sp>
      <p:sp>
        <p:nvSpPr>
          <p:cNvPr id="14" name="Text 12"/>
          <p:cNvSpPr txBox="1"/>
          <p:nvPr/>
        </p:nvSpPr>
        <p:spPr>
          <a:xfrm>
            <a:off x="1353312" y="3630168"/>
            <a:ext cx="10058400" cy="420624"/>
          </a:xfrm>
          <a:prstGeom prst="rect">
            <a:avLst/>
          </a:prstGeom>
          <a:noFill/>
          <a:ln/>
        </p:spPr>
        <p:txBody>
          <a:bodyPr wrap="square" lIns="0" tIns="0" rIns="0" bIns="0" rtlCol="0" anchor="ctr"/>
          <a:lstStyle/>
          <a:p>
            <a:pPr marL="0" indent="0">
              <a:buNone/>
            </a:pPr>
            <a:r>
              <a:rPr lang="en-US" sz="1600" dirty="0">
                <a:solidFill>
                  <a:srgbClr val="D6DFF0"/>
                </a:solidFill>
                <a:latin typeface="맑은 고딕" pitchFamily="34" charset="0"/>
                <a:ea typeface="맑은 고딕" pitchFamily="34" charset="-122"/>
                <a:cs typeface="맑은 고딕" pitchFamily="34" charset="-120"/>
              </a:rPr>
              <a:t>회전은 설치 방위와 INS 자세·위경도가, 평행이동은 레버암과 배의 위치가 공급한다</a:t>
            </a:r>
            <a:endParaRPr lang="en-US" sz="1600" dirty="0"/>
          </a:p>
        </p:txBody>
      </p:sp>
      <p:sp>
        <p:nvSpPr>
          <p:cNvPr id="15" name="Shape 13"/>
          <p:cNvSpPr/>
          <p:nvPr/>
        </p:nvSpPr>
        <p:spPr>
          <a:xfrm>
            <a:off x="822960" y="4251960"/>
            <a:ext cx="347472" cy="347472"/>
          </a:xfrm>
          <a:prstGeom prst="ellipse">
            <a:avLst/>
          </a:prstGeom>
          <a:solidFill>
            <a:srgbClr val="1E3357"/>
          </a:solidFill>
          <a:ln w="12700">
            <a:solidFill>
              <a:srgbClr val="34507F"/>
            </a:solidFill>
            <a:prstDash val="solid"/>
          </a:ln>
        </p:spPr>
        <p:txBody>
          <a:bodyPr/>
          <a:lstStyle/>
          <a:p>
            <a:endParaRPr/>
          </a:p>
        </p:txBody>
      </p:sp>
      <p:sp>
        <p:nvSpPr>
          <p:cNvPr id="16" name="Text 14"/>
          <p:cNvSpPr txBox="1"/>
          <p:nvPr/>
        </p:nvSpPr>
        <p:spPr>
          <a:xfrm>
            <a:off x="822960" y="4251960"/>
            <a:ext cx="347472" cy="347472"/>
          </a:xfrm>
          <a:prstGeom prst="rect">
            <a:avLst/>
          </a:prstGeom>
          <a:noFill/>
          <a:ln/>
        </p:spPr>
        <p:txBody>
          <a:bodyPr wrap="square" lIns="0" tIns="0" rIns="0" bIns="0" rtlCol="0" anchor="ctr"/>
          <a:lstStyle/>
          <a:p>
            <a:pPr marL="0" indent="0" algn="ctr">
              <a:buNone/>
            </a:pPr>
            <a:r>
              <a:rPr lang="en-US" sz="1300" b="1" dirty="0">
                <a:solidFill>
                  <a:srgbClr val="9DB3D6"/>
                </a:solidFill>
                <a:latin typeface="맑은 고딕" pitchFamily="34" charset="0"/>
                <a:ea typeface="맑은 고딕" pitchFamily="34" charset="-122"/>
                <a:cs typeface="맑은 고딕" pitchFamily="34" charset="-120"/>
              </a:rPr>
              <a:t>5</a:t>
            </a:r>
            <a:endParaRPr lang="en-US" sz="1300" dirty="0"/>
          </a:p>
        </p:txBody>
      </p:sp>
      <p:sp>
        <p:nvSpPr>
          <p:cNvPr id="17" name="Text 15"/>
          <p:cNvSpPr txBox="1"/>
          <p:nvPr/>
        </p:nvSpPr>
        <p:spPr>
          <a:xfrm>
            <a:off x="1353312" y="4215383"/>
            <a:ext cx="10058400" cy="420624"/>
          </a:xfrm>
          <a:prstGeom prst="rect">
            <a:avLst/>
          </a:prstGeom>
          <a:noFill/>
          <a:ln/>
        </p:spPr>
        <p:txBody>
          <a:bodyPr wrap="square" lIns="0" tIns="0" rIns="0" bIns="0" rtlCol="0" anchor="ctr"/>
          <a:lstStyle/>
          <a:p>
            <a:pPr marL="0" indent="0">
              <a:buNone/>
            </a:pPr>
            <a:r>
              <a:rPr lang="en-US" sz="1600" dirty="0">
                <a:solidFill>
                  <a:srgbClr val="D6DFF0"/>
                </a:solidFill>
                <a:latin typeface="맑은 고딕" pitchFamily="34" charset="0"/>
                <a:ea typeface="맑은 고딕" pitchFamily="34" charset="-122"/>
                <a:cs typeface="맑은 고딕" pitchFamily="34" charset="-120"/>
              </a:rPr>
              <a:t>돌아올 때는 전치하고, 빼고, 곱하는 순서를 뒤집는다. 왕복이 맞으면 구현이 맞은 것이다</a:t>
            </a:r>
            <a:endParaRPr lang="en-US" sz="1600" dirty="0"/>
          </a:p>
        </p:txBody>
      </p:sp>
      <p:sp>
        <p:nvSpPr>
          <p:cNvPr id="18" name="Shape 16"/>
          <p:cNvSpPr/>
          <p:nvPr/>
        </p:nvSpPr>
        <p:spPr>
          <a:xfrm>
            <a:off x="822960" y="4837176"/>
            <a:ext cx="347472" cy="347472"/>
          </a:xfrm>
          <a:prstGeom prst="ellipse">
            <a:avLst/>
          </a:prstGeom>
          <a:solidFill>
            <a:srgbClr val="C2521C"/>
          </a:solidFill>
          <a:ln w="12700">
            <a:solidFill>
              <a:srgbClr val="C2521C"/>
            </a:solidFill>
            <a:prstDash val="solid"/>
          </a:ln>
        </p:spPr>
        <p:txBody>
          <a:bodyPr/>
          <a:lstStyle/>
          <a:p>
            <a:endParaRPr/>
          </a:p>
        </p:txBody>
      </p:sp>
      <p:sp>
        <p:nvSpPr>
          <p:cNvPr id="19" name="Text 17"/>
          <p:cNvSpPr txBox="1"/>
          <p:nvPr/>
        </p:nvSpPr>
        <p:spPr>
          <a:xfrm>
            <a:off x="822960" y="4837176"/>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맑은 고딕" pitchFamily="34" charset="0"/>
                <a:ea typeface="맑은 고딕" pitchFamily="34" charset="-122"/>
                <a:cs typeface="맑은 고딕" pitchFamily="34" charset="-120"/>
              </a:rPr>
              <a:t>6</a:t>
            </a:r>
            <a:endParaRPr lang="en-US" sz="1300" dirty="0"/>
          </a:p>
        </p:txBody>
      </p:sp>
      <p:sp>
        <p:nvSpPr>
          <p:cNvPr id="20" name="Text 18"/>
          <p:cNvSpPr txBox="1"/>
          <p:nvPr/>
        </p:nvSpPr>
        <p:spPr>
          <a:xfrm>
            <a:off x="1353312" y="4800600"/>
            <a:ext cx="10058400" cy="420624"/>
          </a:xfrm>
          <a:prstGeom prst="rect">
            <a:avLst/>
          </a:prstGeom>
          <a:noFill/>
          <a:ln/>
        </p:spPr>
        <p:txBody>
          <a:bodyPr wrap="square" lIns="0" tIns="0" rIns="0" bIns="0" rtlCol="0" anchor="ctr"/>
          <a:lstStyle/>
          <a:p>
            <a:pPr marL="0" indent="0">
              <a:buNone/>
            </a:pPr>
            <a:r>
              <a:rPr lang="en-US" sz="1600" dirty="0">
                <a:solidFill>
                  <a:srgbClr val="FFFFFF"/>
                </a:solidFill>
                <a:latin typeface="맑은 고딕" pitchFamily="34" charset="0"/>
                <a:ea typeface="맑은 고딕" pitchFamily="34" charset="-122"/>
                <a:cs typeface="맑은 고딕" pitchFamily="34" charset="-120"/>
              </a:rPr>
              <a:t>배가 기울면 각도 덧셈은 깨진다 — 회전행렬은 필수다</a:t>
            </a:r>
            <a:endParaRPr lang="en-US" sz="1600" dirty="0"/>
          </a:p>
        </p:txBody>
      </p:sp>
      <p:sp>
        <p:nvSpPr>
          <p:cNvPr id="21" name="Shape 19"/>
          <p:cNvSpPr/>
          <p:nvPr/>
        </p:nvSpPr>
        <p:spPr>
          <a:xfrm>
            <a:off x="822960" y="5422392"/>
            <a:ext cx="347472" cy="347472"/>
          </a:xfrm>
          <a:prstGeom prst="ellipse">
            <a:avLst/>
          </a:prstGeom>
          <a:solidFill>
            <a:srgbClr val="C2521C"/>
          </a:solidFill>
          <a:ln w="12700">
            <a:solidFill>
              <a:srgbClr val="C2521C"/>
            </a:solidFill>
            <a:prstDash val="solid"/>
          </a:ln>
        </p:spPr>
        <p:txBody>
          <a:bodyPr/>
          <a:lstStyle/>
          <a:p>
            <a:endParaRPr/>
          </a:p>
        </p:txBody>
      </p:sp>
      <p:sp>
        <p:nvSpPr>
          <p:cNvPr id="22" name="Text 20"/>
          <p:cNvSpPr txBox="1"/>
          <p:nvPr/>
        </p:nvSpPr>
        <p:spPr>
          <a:xfrm>
            <a:off x="822960" y="5422392"/>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맑은 고딕" pitchFamily="34" charset="0"/>
                <a:ea typeface="맑은 고딕" pitchFamily="34" charset="-122"/>
                <a:cs typeface="맑은 고딕" pitchFamily="34" charset="-120"/>
              </a:rPr>
              <a:t>7</a:t>
            </a:r>
            <a:endParaRPr lang="en-US" sz="1300" dirty="0"/>
          </a:p>
        </p:txBody>
      </p:sp>
      <p:sp>
        <p:nvSpPr>
          <p:cNvPr id="23" name="Text 21"/>
          <p:cNvSpPr txBox="1"/>
          <p:nvPr/>
        </p:nvSpPr>
        <p:spPr>
          <a:xfrm>
            <a:off x="1353312" y="5385816"/>
            <a:ext cx="10058400" cy="420624"/>
          </a:xfrm>
          <a:prstGeom prst="rect">
            <a:avLst/>
          </a:prstGeom>
          <a:noFill/>
          <a:ln/>
        </p:spPr>
        <p:txBody>
          <a:bodyPr wrap="square" lIns="0" tIns="0" rIns="0" bIns="0" rtlCol="0" anchor="ctr"/>
          <a:lstStyle/>
          <a:p>
            <a:pPr marL="0" indent="0">
              <a:buNone/>
            </a:pPr>
            <a:r>
              <a:rPr lang="en-US" sz="1600" dirty="0">
                <a:solidFill>
                  <a:srgbClr val="FFFFFF"/>
                </a:solidFill>
                <a:latin typeface="맑은 고딕" pitchFamily="34" charset="0"/>
                <a:ea typeface="맑은 고딕" pitchFamily="34" charset="-122"/>
                <a:cs typeface="맑은 고딕" pitchFamily="34" charset="-120"/>
              </a:rPr>
              <a:t>로컬 평면 좌표를 고도로 그대로 쓰면 안 된다. 지구는 둥글다</a:t>
            </a:r>
            <a:endParaRPr lang="en-US" sz="1600" dirty="0"/>
          </a:p>
        </p:txBody>
      </p:sp>
      <p:cxnSp>
        <p:nvCxnSpPr>
          <p:cNvPr id="25" name="Connector 24"/>
          <p:cNvCxnSpPr/>
          <p:nvPr/>
        </p:nvCxnSpPr>
        <p:spPr>
          <a:xfrm>
            <a:off x="1828800" y="786384"/>
            <a:ext cx="9902952"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68680" y="1115568"/>
            <a:ext cx="10515600" cy="530352"/>
          </a:xfrm>
          <a:prstGeom prst="rect">
            <a:avLst/>
          </a:prstGeom>
          <a:noFill/>
        </p:spPr>
        <p:txBody>
          <a:bodyPr wrap="square" lIns="0" tIns="0" rIns="0" bIns="0" anchor="ctr">
            <a:spAutoFit/>
          </a:bodyPr>
          <a:lstStyle/>
          <a:p>
            <a:pPr algn="l"/>
            <a:r>
              <a:rPr sz="3000" b="1">
                <a:solidFill>
                  <a:srgbClr val="FFFFFF"/>
                </a:solidFill>
                <a:latin typeface="맑은 고딕"/>
              </a:rPr>
              <a:t>정리</a:t>
            </a:r>
          </a:p>
        </p:txBody>
      </p:sp>
      <p:cxnSp>
        <p:nvCxnSpPr>
          <p:cNvPr id="28" name="Connector 27"/>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669280" y="6400800"/>
            <a:ext cx="914400" cy="274320"/>
          </a:xfrm>
          <a:prstGeom prst="rect">
            <a:avLst/>
          </a:prstGeom>
          <a:noFill/>
        </p:spPr>
        <p:txBody>
          <a:bodyPr wrap="none" lIns="0" tIns="0" rIns="0" bIns="0">
            <a:spAutoFit/>
          </a:bodyPr>
          <a:lstStyle/>
          <a:p>
            <a:pPr algn="ctr"/>
            <a:fld id="{1D0B0B0B-0000-4000-8000-00000000C0DE}" type="slidenum">
              <a:rPr lang="ko-KR" altLang="en-US" sz="1000" b="0" dirty="0">
                <a:solidFill>
                  <a:srgbClr val="FFFFFF"/>
                </a:solidFill>
                <a:latin typeface="Arial"/>
                <a:ea typeface="Arial"/>
              </a:rPr>
              <a:t>29</a:t>
            </a:fld>
            <a:endParaRPr lang="ko-KR" altLang="en-US" sz="1000" b="0" dirty="0">
              <a:solidFill>
                <a:srgbClr val="FFFFFF"/>
              </a:solidFill>
              <a:latin typeface="Arial"/>
              <a:ea typeface="Arial"/>
            </a:endParaRPr>
          </a:p>
        </p:txBody>
      </p:sp>
      <p:sp>
        <p:nvSpPr>
          <p:cNvPr id="31" name="TextBox 30"/>
          <p:cNvSpPr txBox="1"/>
          <p:nvPr/>
        </p:nvSpPr>
        <p:spPr>
          <a:xfrm>
            <a:off x="868680" y="5870448"/>
            <a:ext cx="10515600" cy="384048"/>
          </a:xfrm>
          <a:prstGeom prst="rect">
            <a:avLst/>
          </a:prstGeom>
          <a:noFill/>
        </p:spPr>
        <p:txBody>
          <a:bodyPr wrap="square" lIns="0" tIns="0" rIns="0" bIns="0" anchor="ctr">
            <a:spAutoFit/>
          </a:bodyPr>
          <a:lstStyle/>
          <a:p>
            <a:pPr marL="0" indent="0" algn="ctr">
              <a:buNone/>
            </a:pPr>
            <a:r>
              <a:rPr lang="ko-KR" sz="1300" b="1">
                <a:solidFill>
                  <a:srgbClr val="FFFFFF"/>
                </a:solidFill>
                <a:latin typeface="맑은 고딕"/>
                <a:ea typeface="맑은 고딕"/>
                <a:cs typeface="맑은 고딕"/>
              </a:rPr>
              <a:t>질문 환영합니다</a:t>
            </a:r>
            <a:r>
              <a:rPr lang="ko-KR" sz="1100" b="0">
                <a:solidFill>
                  <a:srgbClr val="C9D6EC"/>
                </a:solidFill>
                <a:latin typeface="맑은 고딕"/>
                <a:ea typeface="맑은 고딕"/>
                <a:cs typeface="맑은 고딕"/>
              </a:rPr>
              <a:t>       코드 · 문서 :  radar-sw-study / Part2_CoordFrames</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5">
    <p:bg>
      <p:bgPr>
        <a:solidFill>
          <a:srgbClr val="E8EDF5"/>
        </a:solidFill>
        <a:effectLst/>
      </p:bgPr>
    </p:bg>
    <p:spTree>
      <p:nvGrpSpPr>
        <p:cNvPr id="1" name=""/>
        <p:cNvGrpSpPr/>
        <p:nvPr/>
      </p:nvGrpSpPr>
      <p:grpSpPr>
        <a:xfrm>
          <a:off x="0" y="0"/>
          <a:ext cx="0" cy="0"/>
          <a:chOff x="0" y="0"/>
          <a:chExt cx="0" cy="0"/>
        </a:xfrm>
      </p:grpSpPr>
      <p:sp>
        <p:nvSpPr>
          <p:cNvPr id="22" name="Rectangle 21"/>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endParaRPr/>
          </a:p>
        </p:txBody>
      </p:sp>
      <p:sp>
        <p:nvSpPr>
          <p:cNvPr id="4" name="Shape 2"/>
          <p:cNvSpPr/>
          <p:nvPr/>
        </p:nvSpPr>
        <p:spPr>
          <a:xfrm>
            <a:off x="2112264" y="1371600"/>
            <a:ext cx="1170432" cy="329184"/>
          </a:xfrm>
          <a:prstGeom prst="roundRect">
            <a:avLst>
              <a:gd name="adj" fmla="val 47222"/>
            </a:avLst>
          </a:prstGeom>
          <a:solidFill>
            <a:srgbClr val="EEF1F7"/>
          </a:solidFill>
          <a:ln w="12700">
            <a:solidFill>
              <a:srgbClr val="C9D6EC"/>
            </a:solidFill>
            <a:prstDash val="solid"/>
          </a:ln>
        </p:spPr>
        <p:txBody>
          <a:bodyPr/>
          <a:lstStyle/>
          <a:p>
            <a:endParaRPr/>
          </a:p>
        </p:txBody>
      </p:sp>
      <p:sp>
        <p:nvSpPr>
          <p:cNvPr id="5" name="Text 3"/>
          <p:cNvSpPr txBox="1"/>
          <p:nvPr/>
        </p:nvSpPr>
        <p:spPr>
          <a:xfrm>
            <a:off x="2112264" y="1371600"/>
            <a:ext cx="1170432" cy="329184"/>
          </a:xfrm>
          <a:prstGeom prst="rect">
            <a:avLst/>
          </a:prstGeom>
          <a:noFill/>
          <a:ln/>
        </p:spPr>
        <p:txBody>
          <a:bodyPr wrap="square" lIns="0" tIns="0" rIns="0" bIns="0" rtlCol="0" anchor="ctr"/>
          <a:lstStyle/>
          <a:p>
            <a:pPr marL="0" indent="0" algn="ctr">
              <a:buNone/>
            </a:pPr>
            <a:r>
              <a:rPr lang="en-US" sz="1100" dirty="0">
                <a:solidFill>
                  <a:srgbClr val="5A6478"/>
                </a:solidFill>
                <a:latin typeface="맑은 고딕" pitchFamily="34" charset="0"/>
                <a:ea typeface="맑은 고딕" pitchFamily="34" charset="-122"/>
                <a:cs typeface="맑은 고딕" pitchFamily="34" charset="-120"/>
              </a:rPr>
              <a:t>측정</a:t>
            </a:r>
            <a:endParaRPr lang="en-US" sz="1100" dirty="0"/>
          </a:p>
        </p:txBody>
      </p:sp>
      <p:sp>
        <p:nvSpPr>
          <p:cNvPr id="6" name="Text 4"/>
          <p:cNvSpPr txBox="1"/>
          <p:nvPr/>
        </p:nvSpPr>
        <p:spPr>
          <a:xfrm>
            <a:off x="3282696" y="1371600"/>
            <a:ext cx="182880" cy="329184"/>
          </a:xfrm>
          <a:prstGeom prst="rect">
            <a:avLst/>
          </a:prstGeom>
          <a:noFill/>
          <a:ln/>
        </p:spPr>
        <p:txBody>
          <a:bodyPr wrap="square" lIns="0" tIns="0" rIns="0" bIns="0" rtlCol="0" anchor="ctr"/>
          <a:lstStyle/>
          <a:p>
            <a:pPr marL="0" indent="0" algn="ctr">
              <a:buNone/>
            </a:pPr>
            <a:r>
              <a:rPr lang="en-US" sz="1000" dirty="0">
                <a:solidFill>
                  <a:srgbClr val="C9D6EC"/>
                </a:solidFill>
              </a:rPr>
              <a:t>▸</a:t>
            </a:r>
            <a:endParaRPr lang="en-US" sz="1000" dirty="0"/>
          </a:p>
        </p:txBody>
      </p:sp>
      <p:sp>
        <p:nvSpPr>
          <p:cNvPr id="7" name="Shape 5"/>
          <p:cNvSpPr/>
          <p:nvPr/>
        </p:nvSpPr>
        <p:spPr>
          <a:xfrm>
            <a:off x="3465576" y="1371600"/>
            <a:ext cx="1170432" cy="329184"/>
          </a:xfrm>
          <a:prstGeom prst="roundRect">
            <a:avLst>
              <a:gd name="adj" fmla="val 47222"/>
            </a:avLst>
          </a:prstGeom>
          <a:solidFill>
            <a:srgbClr val="EEF1F7"/>
          </a:solidFill>
          <a:ln w="12700">
            <a:solidFill>
              <a:srgbClr val="C9D6EC"/>
            </a:solidFill>
            <a:prstDash val="solid"/>
          </a:ln>
        </p:spPr>
        <p:txBody>
          <a:bodyPr/>
          <a:lstStyle/>
          <a:p>
            <a:endParaRPr/>
          </a:p>
        </p:txBody>
      </p:sp>
      <p:sp>
        <p:nvSpPr>
          <p:cNvPr id="8" name="Text 6"/>
          <p:cNvSpPr txBox="1"/>
          <p:nvPr/>
        </p:nvSpPr>
        <p:spPr>
          <a:xfrm>
            <a:off x="3465576" y="1371600"/>
            <a:ext cx="1170432" cy="329184"/>
          </a:xfrm>
          <a:prstGeom prst="rect">
            <a:avLst/>
          </a:prstGeom>
          <a:noFill/>
          <a:ln/>
        </p:spPr>
        <p:txBody>
          <a:bodyPr wrap="square" lIns="0" tIns="0" rIns="0" bIns="0" rtlCol="0" anchor="ctr"/>
          <a:lstStyle/>
          <a:p>
            <a:pPr marL="0" indent="0" algn="ctr">
              <a:buNone/>
            </a:pPr>
            <a:r>
              <a:rPr lang="en-US" sz="1100" dirty="0">
                <a:solidFill>
                  <a:srgbClr val="5A6478"/>
                </a:solidFill>
                <a:latin typeface="맑은 고딕" pitchFamily="34" charset="0"/>
                <a:ea typeface="맑은 고딕" pitchFamily="34" charset="-122"/>
                <a:cs typeface="맑은 고딕" pitchFamily="34" charset="-120"/>
              </a:rPr>
              <a:t>안테나</a:t>
            </a:r>
            <a:endParaRPr lang="en-US" sz="1100" dirty="0"/>
          </a:p>
        </p:txBody>
      </p:sp>
      <p:sp>
        <p:nvSpPr>
          <p:cNvPr id="9" name="Text 7"/>
          <p:cNvSpPr txBox="1"/>
          <p:nvPr/>
        </p:nvSpPr>
        <p:spPr>
          <a:xfrm>
            <a:off x="4636008" y="1371600"/>
            <a:ext cx="182880" cy="329184"/>
          </a:xfrm>
          <a:prstGeom prst="rect">
            <a:avLst/>
          </a:prstGeom>
          <a:noFill/>
          <a:ln/>
        </p:spPr>
        <p:txBody>
          <a:bodyPr wrap="square" lIns="0" tIns="0" rIns="0" bIns="0" rtlCol="0" anchor="ctr"/>
          <a:lstStyle/>
          <a:p>
            <a:pPr marL="0" indent="0" algn="ctr">
              <a:buNone/>
            </a:pPr>
            <a:r>
              <a:rPr lang="en-US" sz="1000" dirty="0">
                <a:solidFill>
                  <a:srgbClr val="C9D6EC"/>
                </a:solidFill>
              </a:rPr>
              <a:t>▸</a:t>
            </a:r>
            <a:endParaRPr lang="en-US" sz="1000" dirty="0"/>
          </a:p>
        </p:txBody>
      </p:sp>
      <p:sp>
        <p:nvSpPr>
          <p:cNvPr id="10" name="Shape 8"/>
          <p:cNvSpPr/>
          <p:nvPr/>
        </p:nvSpPr>
        <p:spPr>
          <a:xfrm>
            <a:off x="4818888" y="1371600"/>
            <a:ext cx="1170432" cy="329184"/>
          </a:xfrm>
          <a:prstGeom prst="roundRect">
            <a:avLst>
              <a:gd name="adj" fmla="val 47222"/>
            </a:avLst>
          </a:prstGeom>
          <a:solidFill>
            <a:srgbClr val="C2521C"/>
          </a:solidFill>
          <a:ln w="12700">
            <a:solidFill>
              <a:srgbClr val="C2521C"/>
            </a:solidFill>
            <a:prstDash val="solid"/>
          </a:ln>
        </p:spPr>
        <p:txBody>
          <a:bodyPr/>
          <a:lstStyle/>
          <a:p>
            <a:endParaRPr/>
          </a:p>
        </p:txBody>
      </p:sp>
      <p:sp>
        <p:nvSpPr>
          <p:cNvPr id="11" name="Text 9"/>
          <p:cNvSpPr txBox="1"/>
          <p:nvPr/>
        </p:nvSpPr>
        <p:spPr>
          <a:xfrm>
            <a:off x="4818888" y="1371600"/>
            <a:ext cx="1170432" cy="329184"/>
          </a:xfrm>
          <a:prstGeom prst="rect">
            <a:avLst/>
          </a:prstGeom>
          <a:noFill/>
          <a:ln/>
        </p:spPr>
        <p:txBody>
          <a:bodyPr wrap="square" lIns="0" tIns="0" rIns="0" bIns="0" rtlCol="0" anchor="ctr"/>
          <a:lstStyle/>
          <a:p>
            <a:pPr marL="0" indent="0" algn="ctr">
              <a:buNone/>
            </a:pPr>
            <a:r>
              <a:rPr lang="en-US" sz="1100" b="1" dirty="0">
                <a:solidFill>
                  <a:srgbClr val="FFFFFF"/>
                </a:solidFill>
                <a:latin typeface="맑은 고딕" pitchFamily="34" charset="0"/>
                <a:ea typeface="맑은 고딕" pitchFamily="34" charset="-122"/>
                <a:cs typeface="맑은 고딕" pitchFamily="34" charset="-120"/>
              </a:rPr>
              <a:t>동체</a:t>
            </a:r>
            <a:endParaRPr lang="en-US" sz="1100" dirty="0"/>
          </a:p>
        </p:txBody>
      </p:sp>
      <p:sp>
        <p:nvSpPr>
          <p:cNvPr id="12" name="Text 10"/>
          <p:cNvSpPr txBox="1"/>
          <p:nvPr/>
        </p:nvSpPr>
        <p:spPr>
          <a:xfrm>
            <a:off x="5989320" y="1371600"/>
            <a:ext cx="182880" cy="329184"/>
          </a:xfrm>
          <a:prstGeom prst="rect">
            <a:avLst/>
          </a:prstGeom>
          <a:noFill/>
          <a:ln/>
        </p:spPr>
        <p:txBody>
          <a:bodyPr wrap="square" lIns="0" tIns="0" rIns="0" bIns="0" rtlCol="0" anchor="ctr"/>
          <a:lstStyle/>
          <a:p>
            <a:pPr marL="0" indent="0" algn="ctr">
              <a:buNone/>
            </a:pPr>
            <a:r>
              <a:rPr lang="en-US" sz="1000" dirty="0">
                <a:solidFill>
                  <a:srgbClr val="C9D6EC"/>
                </a:solidFill>
              </a:rPr>
              <a:t>▸</a:t>
            </a:r>
            <a:endParaRPr lang="en-US" sz="1000" dirty="0"/>
          </a:p>
        </p:txBody>
      </p:sp>
      <p:sp>
        <p:nvSpPr>
          <p:cNvPr id="13" name="Shape 11"/>
          <p:cNvSpPr/>
          <p:nvPr/>
        </p:nvSpPr>
        <p:spPr>
          <a:xfrm>
            <a:off x="6172200" y="1371600"/>
            <a:ext cx="1170432" cy="329184"/>
          </a:xfrm>
          <a:prstGeom prst="roundRect">
            <a:avLst>
              <a:gd name="adj" fmla="val 47222"/>
            </a:avLst>
          </a:prstGeom>
          <a:solidFill>
            <a:srgbClr val="EEF1F7"/>
          </a:solidFill>
          <a:ln w="12700">
            <a:solidFill>
              <a:srgbClr val="C9D6EC"/>
            </a:solidFill>
            <a:prstDash val="solid"/>
          </a:ln>
        </p:spPr>
        <p:txBody>
          <a:bodyPr/>
          <a:lstStyle/>
          <a:p>
            <a:endParaRPr/>
          </a:p>
        </p:txBody>
      </p:sp>
      <p:sp>
        <p:nvSpPr>
          <p:cNvPr id="14" name="Text 12"/>
          <p:cNvSpPr txBox="1"/>
          <p:nvPr/>
        </p:nvSpPr>
        <p:spPr>
          <a:xfrm>
            <a:off x="6172200" y="1371600"/>
            <a:ext cx="1170432" cy="329184"/>
          </a:xfrm>
          <a:prstGeom prst="rect">
            <a:avLst/>
          </a:prstGeom>
          <a:noFill/>
          <a:ln/>
        </p:spPr>
        <p:txBody>
          <a:bodyPr wrap="square" lIns="0" tIns="0" rIns="0" bIns="0" rtlCol="0" anchor="ctr"/>
          <a:lstStyle/>
          <a:p>
            <a:pPr marL="0" indent="0" algn="ctr">
              <a:buNone/>
            </a:pPr>
            <a:r>
              <a:rPr lang="en-US" sz="1100" dirty="0">
                <a:solidFill>
                  <a:srgbClr val="5A6478"/>
                </a:solidFill>
                <a:latin typeface="맑은 고딕" pitchFamily="34" charset="0"/>
                <a:ea typeface="맑은 고딕" pitchFamily="34" charset="-122"/>
                <a:cs typeface="맑은 고딕" pitchFamily="34" charset="-120"/>
              </a:rPr>
              <a:t>NED</a:t>
            </a:r>
            <a:endParaRPr lang="en-US" sz="1100" dirty="0"/>
          </a:p>
        </p:txBody>
      </p:sp>
      <p:sp>
        <p:nvSpPr>
          <p:cNvPr id="15" name="Text 13"/>
          <p:cNvSpPr txBox="1"/>
          <p:nvPr/>
        </p:nvSpPr>
        <p:spPr>
          <a:xfrm>
            <a:off x="7342632" y="1371600"/>
            <a:ext cx="182880" cy="329184"/>
          </a:xfrm>
          <a:prstGeom prst="rect">
            <a:avLst/>
          </a:prstGeom>
          <a:noFill/>
          <a:ln/>
        </p:spPr>
        <p:txBody>
          <a:bodyPr wrap="square" lIns="0" tIns="0" rIns="0" bIns="0" rtlCol="0" anchor="ctr"/>
          <a:lstStyle/>
          <a:p>
            <a:pPr marL="0" indent="0" algn="ctr">
              <a:buNone/>
            </a:pPr>
            <a:r>
              <a:rPr lang="en-US" sz="1000" dirty="0">
                <a:solidFill>
                  <a:srgbClr val="C9D6EC"/>
                </a:solidFill>
              </a:rPr>
              <a:t>▸</a:t>
            </a:r>
            <a:endParaRPr lang="en-US" sz="1000" dirty="0"/>
          </a:p>
        </p:txBody>
      </p:sp>
      <p:sp>
        <p:nvSpPr>
          <p:cNvPr id="16" name="Shape 14"/>
          <p:cNvSpPr/>
          <p:nvPr/>
        </p:nvSpPr>
        <p:spPr>
          <a:xfrm>
            <a:off x="7525512" y="1371600"/>
            <a:ext cx="1170432" cy="329184"/>
          </a:xfrm>
          <a:prstGeom prst="roundRect">
            <a:avLst>
              <a:gd name="adj" fmla="val 47222"/>
            </a:avLst>
          </a:prstGeom>
          <a:solidFill>
            <a:srgbClr val="EEF1F7"/>
          </a:solidFill>
          <a:ln w="12700">
            <a:solidFill>
              <a:srgbClr val="C9D6EC"/>
            </a:solidFill>
            <a:prstDash val="solid"/>
          </a:ln>
        </p:spPr>
        <p:txBody>
          <a:bodyPr/>
          <a:lstStyle/>
          <a:p>
            <a:endParaRPr/>
          </a:p>
        </p:txBody>
      </p:sp>
      <p:sp>
        <p:nvSpPr>
          <p:cNvPr id="17" name="Text 15"/>
          <p:cNvSpPr txBox="1"/>
          <p:nvPr/>
        </p:nvSpPr>
        <p:spPr>
          <a:xfrm>
            <a:off x="7525512" y="1371600"/>
            <a:ext cx="1170432" cy="329184"/>
          </a:xfrm>
          <a:prstGeom prst="rect">
            <a:avLst/>
          </a:prstGeom>
          <a:noFill/>
          <a:ln/>
        </p:spPr>
        <p:txBody>
          <a:bodyPr wrap="square" lIns="0" tIns="0" rIns="0" bIns="0" rtlCol="0" anchor="ctr"/>
          <a:lstStyle/>
          <a:p>
            <a:pPr marL="0" indent="0" algn="ctr">
              <a:buNone/>
            </a:pPr>
            <a:r>
              <a:rPr lang="en-US" sz="1100" dirty="0">
                <a:solidFill>
                  <a:srgbClr val="5A6478"/>
                </a:solidFill>
                <a:latin typeface="맑은 고딕" pitchFamily="34" charset="0"/>
                <a:ea typeface="맑은 고딕" pitchFamily="34" charset="-122"/>
                <a:cs typeface="맑은 고딕" pitchFamily="34" charset="-120"/>
              </a:rPr>
              <a:t>ECEF</a:t>
            </a:r>
            <a:endParaRPr lang="en-US" sz="1100" dirty="0"/>
          </a:p>
        </p:txBody>
      </p:sp>
      <p:sp>
        <p:nvSpPr>
          <p:cNvPr id="18" name="Text 16"/>
          <p:cNvSpPr txBox="1"/>
          <p:nvPr/>
        </p:nvSpPr>
        <p:spPr>
          <a:xfrm>
            <a:off x="8695944" y="1371600"/>
            <a:ext cx="182880" cy="329184"/>
          </a:xfrm>
          <a:prstGeom prst="rect">
            <a:avLst/>
          </a:prstGeom>
          <a:noFill/>
          <a:ln/>
        </p:spPr>
        <p:txBody>
          <a:bodyPr wrap="square" lIns="0" tIns="0" rIns="0" bIns="0" rtlCol="0" anchor="ctr"/>
          <a:lstStyle/>
          <a:p>
            <a:pPr marL="0" indent="0" algn="ctr">
              <a:buNone/>
            </a:pPr>
            <a:r>
              <a:rPr lang="en-US" sz="1000" dirty="0">
                <a:solidFill>
                  <a:srgbClr val="C9D6EC"/>
                </a:solidFill>
              </a:rPr>
              <a:t>▸</a:t>
            </a:r>
            <a:endParaRPr lang="en-US" sz="1000" dirty="0"/>
          </a:p>
        </p:txBody>
      </p:sp>
      <p:sp>
        <p:nvSpPr>
          <p:cNvPr id="19" name="Shape 17"/>
          <p:cNvSpPr/>
          <p:nvPr/>
        </p:nvSpPr>
        <p:spPr>
          <a:xfrm>
            <a:off x="8878824" y="1371600"/>
            <a:ext cx="1170432" cy="329184"/>
          </a:xfrm>
          <a:prstGeom prst="roundRect">
            <a:avLst>
              <a:gd name="adj" fmla="val 47222"/>
            </a:avLst>
          </a:prstGeom>
          <a:solidFill>
            <a:srgbClr val="EEF1F7"/>
          </a:solidFill>
          <a:ln w="12700">
            <a:solidFill>
              <a:srgbClr val="C9D6EC"/>
            </a:solidFill>
            <a:prstDash val="solid"/>
          </a:ln>
        </p:spPr>
        <p:txBody>
          <a:bodyPr/>
          <a:lstStyle/>
          <a:p>
            <a:endParaRPr/>
          </a:p>
        </p:txBody>
      </p:sp>
      <p:sp>
        <p:nvSpPr>
          <p:cNvPr id="20" name="Text 18"/>
          <p:cNvSpPr txBox="1"/>
          <p:nvPr/>
        </p:nvSpPr>
        <p:spPr>
          <a:xfrm>
            <a:off x="8878824" y="1371600"/>
            <a:ext cx="1170432" cy="329184"/>
          </a:xfrm>
          <a:prstGeom prst="rect">
            <a:avLst/>
          </a:prstGeom>
          <a:noFill/>
          <a:ln/>
        </p:spPr>
        <p:txBody>
          <a:bodyPr wrap="square" lIns="0" tIns="0" rIns="0" bIns="0" rtlCol="0" anchor="ctr"/>
          <a:lstStyle/>
          <a:p>
            <a:pPr marL="0" indent="0" algn="ctr">
              <a:buNone/>
            </a:pPr>
            <a:r>
              <a:rPr lang="en-US" sz="1100" dirty="0">
                <a:solidFill>
                  <a:srgbClr val="5A6478"/>
                </a:solidFill>
                <a:latin typeface="맑은 고딕" pitchFamily="34" charset="0"/>
                <a:ea typeface="맑은 고딕" pitchFamily="34" charset="-122"/>
                <a:cs typeface="맑은 고딕" pitchFamily="34" charset="-120"/>
              </a:rPr>
              <a:t>LLA</a:t>
            </a:r>
            <a:endParaRPr lang="en-US" sz="1100" dirty="0"/>
          </a:p>
        </p:txBody>
      </p:sp>
      <p:pic>
        <p:nvPicPr>
          <p:cNvPr id="21" name="Image 0" descr="/home/claude/gitpkg/Part2_CoordFrames/doc/figures/fig13_ins.png"/>
          <p:cNvPicPr>
            <a:picLocks noChangeAspect="1"/>
          </p:cNvPicPr>
          <p:nvPr/>
        </p:nvPicPr>
        <p:blipFill>
          <a:blip r:embed="rId3"/>
          <a:stretch>
            <a:fillRect/>
          </a:stretch>
        </p:blipFill>
        <p:spPr>
          <a:xfrm>
            <a:off x="3009582" y="1813739"/>
            <a:ext cx="6178933" cy="2834640"/>
          </a:xfrm>
          <a:prstGeom prst="rect">
            <a:avLst/>
          </a:prstGeom>
        </p:spPr>
      </p:pic>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66928" y="4727448"/>
          <a:ext cx="11064240" cy="1508760"/>
        </p:xfrm>
        <a:graphic>
          <a:graphicData uri="http://schemas.openxmlformats.org/drawingml/2006/table">
            <a:tbl>
              <a:tblPr/>
              <a:tblGrid>
                <a:gridCol w="1828800"/>
                <a:gridCol w="4617720"/>
                <a:gridCol w="4617720"/>
              </a:tblGrid>
              <a:tr h="301752">
                <a:tc>
                  <a:txBody>
                    <a:bodyPr/>
                    <a:lstStyle/>
                    <a:p>
                      <a:pPr marL="0" indent="0">
                        <a:buNone/>
                      </a:pPr>
                      <a:endParaRPr lang="en-US" sz="120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marL="0" indent="0">
                        <a:buNone/>
                      </a:pPr>
                      <a:r>
                        <a:rPr lang="en-US" sz="1200" b="1" dirty="0">
                          <a:solidFill>
                            <a:srgbClr val="FFFFFF"/>
                          </a:solidFill>
                          <a:latin typeface="맑은 고딕" pitchFamily="34" charset="0"/>
                          <a:ea typeface="맑은 고딕" pitchFamily="34" charset="-122"/>
                          <a:cs typeface="맑은 고딕" pitchFamily="34" charset="-120"/>
                        </a:rPr>
                        <a:t>짐벌형 (gimbaled)</a:t>
                      </a:r>
                      <a:endParaRPr lang="en-US" sz="120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marL="0" indent="0">
                        <a:buNone/>
                      </a:pPr>
                      <a:r>
                        <a:rPr lang="en-US" sz="1200" b="1" dirty="0">
                          <a:solidFill>
                            <a:srgbClr val="FFFFFF"/>
                          </a:solidFill>
                          <a:latin typeface="맑은 고딕" pitchFamily="34" charset="0"/>
                          <a:ea typeface="맑은 고딕" pitchFamily="34" charset="-122"/>
                          <a:cs typeface="맑은 고딕" pitchFamily="34" charset="-120"/>
                        </a:rPr>
                        <a:t>스트랩다운 (strapdown)</a:t>
                      </a:r>
                      <a:endParaRPr lang="en-US" sz="120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301752">
                <a:tc>
                  <a:txBody>
                    <a:bodyPr/>
                    <a:lstStyle/>
                    <a:p>
                      <a:pPr marL="0" indent="0">
                        <a:buNone/>
                      </a:pPr>
                      <a:r>
                        <a:rPr lang="en-US" sz="1200" b="1" dirty="0">
                          <a:solidFill>
                            <a:srgbClr val="1A2233"/>
                          </a:solidFill>
                          <a:latin typeface="맑은 고딕" pitchFamily="34" charset="0"/>
                          <a:ea typeface="맑은 고딕" pitchFamily="34" charset="-122"/>
                          <a:cs typeface="맑은 고딕" pitchFamily="34" charset="-120"/>
                        </a:rPr>
                        <a:t>구조</a:t>
                      </a:r>
                      <a:endParaRPr lang="en-US" sz="120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marL="0" indent="0">
                        <a:buNone/>
                      </a:pPr>
                      <a:r>
                        <a:rPr lang="en-US" sz="1200" dirty="0">
                          <a:solidFill>
                            <a:srgbClr val="1A2233"/>
                          </a:solidFill>
                          <a:latin typeface="맑은 고딕" pitchFamily="34" charset="0"/>
                          <a:ea typeface="맑은 고딕" pitchFamily="34" charset="-122"/>
                          <a:cs typeface="맑은 고딕" pitchFamily="34" charset="-120"/>
                        </a:rPr>
                        <a:t>센서가 짐벌 위에 얹혀 있고 모터가 늘 수평 유지</a:t>
                      </a:r>
                      <a:endParaRPr lang="en-US" sz="120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marL="0" indent="0">
                        <a:buNone/>
                      </a:pPr>
                      <a:r>
                        <a:rPr lang="en-US" sz="1200" dirty="0">
                          <a:solidFill>
                            <a:srgbClr val="1A2233"/>
                          </a:solidFill>
                          <a:latin typeface="맑은 고딕" pitchFamily="34" charset="0"/>
                          <a:ea typeface="맑은 고딕" pitchFamily="34" charset="-122"/>
                          <a:cs typeface="맑은 고딕" pitchFamily="34" charset="-120"/>
                        </a:rPr>
                        <a:t>센서가 동체에 직접 고정, 배와 함께 기운다</a:t>
                      </a:r>
                      <a:endParaRPr lang="en-US" sz="120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301752">
                <a:tc>
                  <a:txBody>
                    <a:bodyPr/>
                    <a:lstStyle/>
                    <a:p>
                      <a:pPr marL="0" indent="0">
                        <a:buNone/>
                      </a:pPr>
                      <a:r>
                        <a:rPr lang="en-US" sz="1200" b="1" dirty="0">
                          <a:solidFill>
                            <a:srgbClr val="1A2233"/>
                          </a:solidFill>
                          <a:latin typeface="맑은 고딕" pitchFamily="34" charset="0"/>
                          <a:ea typeface="맑은 고딕" pitchFamily="34" charset="-122"/>
                          <a:cs typeface="맑은 고딕" pitchFamily="34" charset="-120"/>
                        </a:rPr>
                        <a:t>수평 유지</a:t>
                      </a:r>
                      <a:endParaRPr lang="en-US" sz="120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marL="0" indent="0">
                        <a:buNone/>
                      </a:pPr>
                      <a:r>
                        <a:rPr lang="en-US" sz="1200" dirty="0">
                          <a:solidFill>
                            <a:srgbClr val="1A2233"/>
                          </a:solidFill>
                          <a:latin typeface="맑은 고딕" pitchFamily="34" charset="0"/>
                          <a:ea typeface="맑은 고딕" pitchFamily="34" charset="-122"/>
                          <a:cs typeface="맑은 고딕" pitchFamily="34" charset="-120"/>
                        </a:rPr>
                        <a:t>기계가 물리적으로 한다</a:t>
                      </a:r>
                      <a:endParaRPr lang="en-US" sz="120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marL="0" indent="0">
                        <a:buNone/>
                      </a:pPr>
                      <a:r>
                        <a:rPr lang="en-US" sz="1200" dirty="0">
                          <a:solidFill>
                            <a:srgbClr val="1A2233"/>
                          </a:solidFill>
                          <a:latin typeface="맑은 고딕" pitchFamily="34" charset="0"/>
                          <a:ea typeface="맑은 고딕" pitchFamily="34" charset="-122"/>
                          <a:cs typeface="맑은 고딕" pitchFamily="34" charset="-120"/>
                        </a:rPr>
                        <a:t>계산이 한다 (DCM = Direction Cosine Matrix / 쿼터니언)</a:t>
                      </a:r>
                      <a:endParaRPr lang="en-US" sz="120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301752">
                <a:tc>
                  <a:txBody>
                    <a:bodyPr/>
                    <a:lstStyle/>
                    <a:p>
                      <a:pPr marL="0" indent="0">
                        <a:buNone/>
                      </a:pPr>
                      <a:r>
                        <a:rPr lang="en-US" sz="1200" b="1" dirty="0">
                          <a:solidFill>
                            <a:srgbClr val="1A2233"/>
                          </a:solidFill>
                          <a:latin typeface="맑은 고딕" pitchFamily="34" charset="0"/>
                          <a:ea typeface="맑은 고딕" pitchFamily="34" charset="-122"/>
                          <a:cs typeface="맑은 고딕" pitchFamily="34" charset="-120"/>
                        </a:rPr>
                        <a:t>"플랫폼 좌표계"</a:t>
                      </a:r>
                      <a:endParaRPr lang="en-US" sz="120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marL="0" indent="0">
                        <a:buNone/>
                      </a:pPr>
                      <a:r>
                        <a:rPr lang="en-US" sz="1200" dirty="0">
                          <a:solidFill>
                            <a:srgbClr val="1A2233"/>
                          </a:solidFill>
                          <a:latin typeface="맑은 고딕" pitchFamily="34" charset="0"/>
                          <a:ea typeface="맑은 고딕" pitchFamily="34" charset="-122"/>
                          <a:cs typeface="맑은 고딕" pitchFamily="34" charset="-120"/>
                        </a:rPr>
                        <a:t>실제로 존재하는 물리적 프레임</a:t>
                      </a:r>
                      <a:endParaRPr lang="en-US" sz="120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marL="0" indent="0">
                        <a:buNone/>
                      </a:pPr>
                      <a:r>
                        <a:rPr lang="en-US" sz="1200" b="1" dirty="0">
                          <a:solidFill>
                            <a:srgbClr val="C2521C"/>
                          </a:solidFill>
                          <a:latin typeface="맑은 고딕" pitchFamily="34" charset="0"/>
                          <a:ea typeface="맑은 고딕" pitchFamily="34" charset="-122"/>
                          <a:cs typeface="맑은 고딕" pitchFamily="34" charset="-120"/>
                        </a:rPr>
                        <a:t>소프트웨어 안의 상태값일 뿐</a:t>
                      </a:r>
                      <a:endParaRPr lang="en-US" sz="120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301752">
                <a:tc>
                  <a:txBody>
                    <a:bodyPr/>
                    <a:lstStyle/>
                    <a:p>
                      <a:pPr marL="0" indent="0">
                        <a:buNone/>
                      </a:pPr>
                      <a:r>
                        <a:rPr lang="en-US" sz="1200" b="1" dirty="0">
                          <a:solidFill>
                            <a:srgbClr val="1A2233"/>
                          </a:solidFill>
                          <a:latin typeface="맑은 고딕" pitchFamily="34" charset="0"/>
                          <a:ea typeface="맑은 고딕" pitchFamily="34" charset="-122"/>
                          <a:cs typeface="맑은 고딕" pitchFamily="34" charset="-120"/>
                        </a:rPr>
                        <a:t>특징</a:t>
                      </a:r>
                      <a:endParaRPr lang="en-US" sz="120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marL="0" indent="0">
                        <a:buNone/>
                      </a:pPr>
                      <a:r>
                        <a:rPr lang="en-US" sz="1200" dirty="0">
                          <a:solidFill>
                            <a:srgbClr val="1A2233"/>
                          </a:solidFill>
                          <a:latin typeface="맑은 고딕" pitchFamily="34" charset="0"/>
                          <a:ea typeface="맑은 고딕" pitchFamily="34" charset="-122"/>
                          <a:cs typeface="맑은 고딕" pitchFamily="34" charset="-120"/>
                        </a:rPr>
                        <a:t>정밀하지만 크고 무겁고 비싸다</a:t>
                      </a:r>
                      <a:endParaRPr lang="en-US" sz="120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marL="0" indent="0">
                        <a:buNone/>
                      </a:pPr>
                      <a:r>
                        <a:rPr lang="en-US" sz="1200" b="1" dirty="0">
                          <a:solidFill>
                            <a:srgbClr val="C2521C"/>
                          </a:solidFill>
                          <a:latin typeface="맑은 고딕" pitchFamily="34" charset="0"/>
                          <a:ea typeface="맑은 고딕" pitchFamily="34" charset="-122"/>
                          <a:cs typeface="맑은 고딕" pitchFamily="34" charset="-120"/>
                        </a:rPr>
                        <a:t>현대 함정 INS 는 사실상 전부 이쪽</a:t>
                      </a:r>
                      <a:endParaRPr lang="en-US" sz="120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
        <p:nvSpPr>
          <p:cNvPr id="23" name="Rectangle 22"/>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endParaRPr/>
          </a:p>
        </p:txBody>
      </p:sp>
      <p:sp>
        <p:nvSpPr>
          <p:cNvPr id="24" name="TextBox 23"/>
          <p:cNvSpPr txBox="1"/>
          <p:nvPr/>
        </p:nvSpPr>
        <p:spPr>
          <a:xfrm>
            <a:off x="640080" y="411480"/>
            <a:ext cx="8732520" cy="777240"/>
          </a:xfrm>
          <a:prstGeom prst="rect">
            <a:avLst/>
          </a:prstGeom>
          <a:noFill/>
        </p:spPr>
        <p:txBody>
          <a:bodyPr wrap="square" lIns="0" tIns="0" rIns="0" bIns="0" anchor="ctr">
            <a:spAutoFit/>
          </a:bodyPr>
          <a:lstStyle/>
          <a:p>
            <a:pPr algn="l">
              <a:spcAft>
                <a:spcPts val="300"/>
              </a:spcAft>
            </a:pPr>
            <a:r>
              <a:rPr sz="1900" b="1">
                <a:solidFill>
                  <a:srgbClr val="FFFFFF"/>
                </a:solidFill>
                <a:latin typeface="맑은 고딕"/>
              </a:rPr>
              <a:t>부록 A.  스트랩다운과 짐벌형</a:t>
            </a:r>
          </a:p>
          <a:p>
            <a:pPr algn="l">
              <a:lnSpc>
                <a:spcPts val="1400"/>
              </a:lnSpc>
            </a:pPr>
            <a:r>
              <a:rPr sz="1100" b="0">
                <a:solidFill>
                  <a:srgbClr val="C9D6EC"/>
                </a:solidFill>
                <a:latin typeface="맑은 고딕"/>
              </a:rPr>
              <a:t>"플랫폼 좌표계"라는 말의 의미가 여기서 갈립니다</a:t>
            </a:r>
          </a:p>
        </p:txBody>
      </p:sp>
      <p:cxnSp>
        <p:nvCxnSpPr>
          <p:cNvPr id="26" name="Connector 25"/>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0" y="6400800"/>
            <a:ext cx="914400" cy="274320"/>
          </a:xfrm>
          <a:prstGeom prst="rect">
            <a:avLst/>
          </a:prstGeom>
          <a:noFill/>
        </p:spPr>
        <p:txBody>
          <a:bodyPr wrap="none" lIns="0" tIns="0" rIns="0" bIns="0">
            <a:spAutoFit/>
          </a:bodyPr>
          <a:lstStyle/>
          <a:p>
            <a:pPr algn="ctr"/>
            <a:fld id="{1D0B0B0B-0000-4000-8000-00000000C0DE}" type="slidenum">
              <a:rPr lang="ko-KR" altLang="en-US" sz="1000" b="0" dirty="0">
                <a:solidFill>
                  <a:srgbClr val="1A2233"/>
                </a:solidFill>
                <a:latin typeface="Arial"/>
                <a:ea typeface="Arial"/>
              </a:rPr>
              <a:t>30</a:t>
            </a:fld>
            <a:endParaRPr lang="ko-KR" altLang="en-US" sz="1000" b="0" dirty="0">
              <a:solidFill>
                <a:srgbClr val="1A2233"/>
              </a:solidFill>
              <a:latin typeface="Arial"/>
              <a:ea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0">
    <p:bg>
      <p:bgPr>
        <a:solidFill>
          <a:srgbClr val="E8EDF5"/>
        </a:solidFill>
        <a:effectLst/>
      </p:bgPr>
    </p:bg>
    <p:spTree>
      <p:nvGrpSpPr>
        <p:cNvPr id="1" name=""/>
        <p:cNvGrpSpPr/>
        <p:nvPr/>
      </p:nvGrpSpPr>
      <p:grpSpPr>
        <a:xfrm>
          <a:off x="0" y="0"/>
          <a:ext cx="0" cy="0"/>
          <a:chOff x="0" y="0"/>
          <a:chExt cx="0" cy="0"/>
        </a:xfrm>
      </p:grpSpPr>
      <p:sp>
        <p:nvSpPr>
          <p:cNvPr id="22" name="Rectangle 21"/>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endParaRPr/>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66928" y="1371600"/>
          <a:ext cx="11064240" cy="3657600"/>
        </p:xfrm>
        <a:graphic>
          <a:graphicData uri="http://schemas.openxmlformats.org/drawingml/2006/table">
            <a:tbl>
              <a:tblPr/>
              <a:tblGrid>
                <a:gridCol w="1371600"/>
                <a:gridCol w="1920240"/>
                <a:gridCol w="2926080"/>
                <a:gridCol w="1691640"/>
                <a:gridCol w="3154680"/>
              </a:tblGrid>
              <a:tr h="457200">
                <a:tc>
                  <a:txBody>
                    <a:bodyPr/>
                    <a:lstStyle/>
                    <a:p>
                      <a:pPr marL="0" indent="0">
                        <a:buNone/>
                      </a:pPr>
                      <a:r>
                        <a:rPr lang="en-US" sz="1150" b="1" dirty="0">
                          <a:solidFill>
                            <a:srgbClr val="FFFFFF"/>
                          </a:solidFill>
                          <a:latin typeface="맑은 고딕" pitchFamily="34" charset="0"/>
                          <a:ea typeface="맑은 고딕" pitchFamily="34" charset="-122"/>
                          <a:cs typeface="맑은 고딕" pitchFamily="34" charset="-120"/>
                        </a:rPr>
                        <a:t>좌표계</a:t>
                      </a:r>
                      <a:endParaRPr lang="en-US" sz="115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marL="0" indent="0">
                        <a:buNone/>
                      </a:pPr>
                      <a:r>
                        <a:rPr lang="en-US" sz="1150" b="1" dirty="0">
                          <a:solidFill>
                            <a:srgbClr val="FFFFFF"/>
                          </a:solidFill>
                          <a:latin typeface="맑은 고딕" pitchFamily="34" charset="0"/>
                          <a:ea typeface="맑은 고딕" pitchFamily="34" charset="-122"/>
                          <a:cs typeface="맑은 고딕" pitchFamily="34" charset="-120"/>
                        </a:rPr>
                        <a:t>원점</a:t>
                      </a:r>
                      <a:endParaRPr lang="en-US" sz="115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marL="0" indent="0">
                        <a:buNone/>
                      </a:pPr>
                      <a:r>
                        <a:rPr lang="en-US" sz="1150" b="1" dirty="0">
                          <a:solidFill>
                            <a:srgbClr val="FFFFFF"/>
                          </a:solidFill>
                          <a:latin typeface="맑은 고딕" pitchFamily="34" charset="0"/>
                          <a:ea typeface="맑은 고딕" pitchFamily="34" charset="-122"/>
                          <a:cs typeface="맑은 고딕" pitchFamily="34" charset="-120"/>
                        </a:rPr>
                        <a:t>축</a:t>
                      </a:r>
                      <a:endParaRPr lang="en-US" sz="115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marL="0" indent="0">
                        <a:buNone/>
                      </a:pPr>
                      <a:r>
                        <a:rPr lang="en-US" sz="1150" b="1" dirty="0">
                          <a:solidFill>
                            <a:srgbClr val="FFFFFF"/>
                          </a:solidFill>
                          <a:latin typeface="맑은 고딕" pitchFamily="34" charset="0"/>
                          <a:ea typeface="맑은 고딕" pitchFamily="34" charset="-122"/>
                          <a:cs typeface="맑은 고딕" pitchFamily="34" charset="-120"/>
                        </a:rPr>
                        <a:t>붙은 곳</a:t>
                      </a:r>
                      <a:endParaRPr lang="en-US" sz="115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marL="0" indent="0">
                        <a:buNone/>
                      </a:pPr>
                      <a:r>
                        <a:rPr lang="en-US" sz="1150" b="1" dirty="0">
                          <a:solidFill>
                            <a:srgbClr val="FFFFFF"/>
                          </a:solidFill>
                          <a:latin typeface="맑은 고딕" pitchFamily="34" charset="0"/>
                          <a:ea typeface="맑은 고딕" pitchFamily="34" charset="-122"/>
                          <a:cs typeface="맑은 고딕" pitchFamily="34" charset="-120"/>
                        </a:rPr>
                        <a:t>주 용도</a:t>
                      </a:r>
                      <a:endParaRPr lang="en-US" sz="115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457200">
                <a:tc>
                  <a:txBody>
                    <a:bodyPr/>
                    <a:lstStyle/>
                    <a:p>
                      <a:pPr marL="0" indent="0">
                        <a:buNone/>
                      </a:pPr>
                      <a:r>
                        <a:rPr lang="en-US" sz="1150" b="1" dirty="0">
                          <a:solidFill>
                            <a:srgbClr val="1A2233"/>
                          </a:solidFill>
                          <a:latin typeface="맑은 고딕" pitchFamily="34" charset="0"/>
                          <a:ea typeface="맑은 고딕" pitchFamily="34" charset="-122"/>
                          <a:cs typeface="맑은 고딕" pitchFamily="34" charset="-120"/>
                        </a:rPr>
                        <a:t>안테나</a:t>
                      </a:r>
                      <a:endParaRPr lang="en-US" sz="115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marL="0" indent="0">
                        <a:buNone/>
                      </a:pPr>
                      <a:r>
                        <a:rPr lang="en-US" sz="1150" dirty="0">
                          <a:solidFill>
                            <a:srgbClr val="1A2233"/>
                          </a:solidFill>
                          <a:latin typeface="맑은 고딕" pitchFamily="34" charset="0"/>
                          <a:ea typeface="맑은 고딕" pitchFamily="34" charset="-122"/>
                          <a:cs typeface="맑은 고딕" pitchFamily="34" charset="-120"/>
                        </a:rPr>
                        <a:t>안테나 면 중심</a:t>
                      </a:r>
                      <a:endParaRPr lang="en-US" sz="115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marL="0" indent="0">
                        <a:buNone/>
                      </a:pPr>
                      <a:r>
                        <a:rPr lang="en-US" sz="1150" dirty="0">
                          <a:solidFill>
                            <a:srgbClr val="1A2233"/>
                          </a:solidFill>
                          <a:latin typeface="맑은 고딕" pitchFamily="34" charset="0"/>
                          <a:ea typeface="맑은 고딕" pitchFamily="34" charset="-122"/>
                          <a:cs typeface="맑은 고딕" pitchFamily="34" charset="-120"/>
                        </a:rPr>
                        <a:t>x 보어사이트 · y 오른쪽 · z 아래</a:t>
                      </a:r>
                      <a:endParaRPr lang="en-US" sz="115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marL="0" indent="0">
                        <a:buNone/>
                      </a:pPr>
                      <a:r>
                        <a:rPr lang="en-US" sz="1150" dirty="0">
                          <a:solidFill>
                            <a:srgbClr val="1A2233"/>
                          </a:solidFill>
                          <a:latin typeface="맑은 고딕" pitchFamily="34" charset="0"/>
                          <a:ea typeface="맑은 고딕" pitchFamily="34" charset="-122"/>
                          <a:cs typeface="맑은 고딕" pitchFamily="34" charset="-120"/>
                        </a:rPr>
                        <a:t>배</a:t>
                      </a:r>
                      <a:endParaRPr lang="en-US" sz="115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marL="0" indent="0">
                        <a:buNone/>
                      </a:pPr>
                      <a:r>
                        <a:rPr lang="en-US" sz="1150" dirty="0">
                          <a:solidFill>
                            <a:srgbClr val="1A2233"/>
                          </a:solidFill>
                          <a:latin typeface="맑은 고딕" pitchFamily="34" charset="0"/>
                          <a:ea typeface="맑은 고딕" pitchFamily="34" charset="-122"/>
                          <a:cs typeface="맑은 고딕" pitchFamily="34" charset="-120"/>
                        </a:rPr>
                        <a:t>표적 측정 (R, Az, El) / 빔 조향 (u, v)</a:t>
                      </a:r>
                      <a:endParaRPr lang="en-US" sz="115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marL="0" indent="0">
                        <a:buNone/>
                      </a:pPr>
                      <a:r>
                        <a:rPr lang="en-US" sz="1150" b="1" dirty="0">
                          <a:solidFill>
                            <a:srgbClr val="1A2233"/>
                          </a:solidFill>
                          <a:latin typeface="맑은 고딕" pitchFamily="34" charset="0"/>
                          <a:ea typeface="맑은 고딕" pitchFamily="34" charset="-122"/>
                          <a:cs typeface="맑은 고딕" pitchFamily="34" charset="-120"/>
                        </a:rPr>
                        <a:t>동체</a:t>
                      </a:r>
                      <a:endParaRPr lang="en-US" sz="115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marL="0" indent="0">
                        <a:buNone/>
                      </a:pPr>
                      <a:r>
                        <a:rPr lang="en-US" sz="1150" dirty="0">
                          <a:solidFill>
                            <a:srgbClr val="1A2233"/>
                          </a:solidFill>
                          <a:latin typeface="맑은 고딕" pitchFamily="34" charset="0"/>
                          <a:ea typeface="맑은 고딕" pitchFamily="34" charset="-122"/>
                          <a:cs typeface="맑은 고딕" pitchFamily="34" charset="-120"/>
                        </a:rPr>
                        <a:t>배 무게중심</a:t>
                      </a:r>
                      <a:endParaRPr lang="en-US" sz="115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marL="0" indent="0">
                        <a:buNone/>
                      </a:pPr>
                      <a:r>
                        <a:rPr lang="en-US" sz="1150" dirty="0">
                          <a:solidFill>
                            <a:srgbClr val="1A2233"/>
                          </a:solidFill>
                          <a:latin typeface="맑은 고딕" pitchFamily="34" charset="0"/>
                          <a:ea typeface="맑은 고딕" pitchFamily="34" charset="-122"/>
                          <a:cs typeface="맑은 고딕" pitchFamily="34" charset="-120"/>
                        </a:rPr>
                        <a:t>x 선수 · y 우현 · z 아래</a:t>
                      </a:r>
                      <a:endParaRPr lang="en-US" sz="115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marL="0" indent="0">
                        <a:buNone/>
                      </a:pPr>
                      <a:r>
                        <a:rPr lang="en-US" sz="1150" dirty="0">
                          <a:solidFill>
                            <a:srgbClr val="1A2233"/>
                          </a:solidFill>
                          <a:latin typeface="맑은 고딕" pitchFamily="34" charset="0"/>
                          <a:ea typeface="맑은 고딕" pitchFamily="34" charset="-122"/>
                          <a:cs typeface="맑은 고딕" pitchFamily="34" charset="-120"/>
                        </a:rPr>
                        <a:t>배</a:t>
                      </a:r>
                      <a:endParaRPr lang="en-US" sz="115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marL="0" indent="0">
                        <a:buNone/>
                      </a:pPr>
                      <a:r>
                        <a:rPr lang="en-US" sz="1150" dirty="0">
                          <a:solidFill>
                            <a:srgbClr val="1A2233"/>
                          </a:solidFill>
                          <a:latin typeface="맑은 고딕" pitchFamily="34" charset="0"/>
                          <a:ea typeface="맑은 고딕" pitchFamily="34" charset="-122"/>
                          <a:cs typeface="맑은 고딕" pitchFamily="34" charset="-120"/>
                        </a:rPr>
                        <a:t>탑재 장비의 공통 기준</a:t>
                      </a:r>
                      <a:endParaRPr lang="en-US" sz="115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marL="0" indent="0">
                        <a:buNone/>
                      </a:pPr>
                      <a:r>
                        <a:rPr lang="en-US" sz="1150" b="1" dirty="0">
                          <a:solidFill>
                            <a:srgbClr val="1A2233"/>
                          </a:solidFill>
                          <a:latin typeface="맑은 고딕" pitchFamily="34" charset="0"/>
                          <a:ea typeface="맑은 고딕" pitchFamily="34" charset="-122"/>
                          <a:cs typeface="맑은 고딕" pitchFamily="34" charset="-120"/>
                        </a:rPr>
                        <a:t>INS</a:t>
                      </a:r>
                      <a:endParaRPr lang="en-US" sz="115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marL="0" indent="0">
                        <a:buNone/>
                      </a:pPr>
                      <a:r>
                        <a:rPr lang="en-US" sz="1150" dirty="0">
                          <a:solidFill>
                            <a:srgbClr val="1A2233"/>
                          </a:solidFill>
                          <a:latin typeface="맑은 고딕" pitchFamily="34" charset="0"/>
                          <a:ea typeface="맑은 고딕" pitchFamily="34" charset="-122"/>
                          <a:cs typeface="맑은 고딕" pitchFamily="34" charset="-120"/>
                        </a:rPr>
                        <a:t>INS 설치 위치</a:t>
                      </a:r>
                      <a:endParaRPr lang="en-US" sz="115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marL="0" indent="0">
                        <a:buNone/>
                      </a:pPr>
                      <a:r>
                        <a:rPr lang="en-US" sz="1150" dirty="0">
                          <a:solidFill>
                            <a:srgbClr val="1A2233"/>
                          </a:solidFill>
                          <a:latin typeface="맑은 고딕" pitchFamily="34" charset="0"/>
                          <a:ea typeface="맑은 고딕" pitchFamily="34" charset="-122"/>
                          <a:cs typeface="맑은 고딕" pitchFamily="34" charset="-120"/>
                        </a:rPr>
                        <a:t>자이로·가속도계 3축</a:t>
                      </a:r>
                      <a:endParaRPr lang="en-US" sz="115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marL="0" indent="0">
                        <a:buNone/>
                      </a:pPr>
                      <a:r>
                        <a:rPr lang="en-US" sz="1150" dirty="0">
                          <a:solidFill>
                            <a:srgbClr val="1A2233"/>
                          </a:solidFill>
                          <a:latin typeface="맑은 고딕" pitchFamily="34" charset="0"/>
                          <a:ea typeface="맑은 고딕" pitchFamily="34" charset="-122"/>
                          <a:cs typeface="맑은 고딕" pitchFamily="34" charset="-120"/>
                        </a:rPr>
                        <a:t>배</a:t>
                      </a:r>
                      <a:endParaRPr lang="en-US" sz="115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marL="0" indent="0">
                        <a:buNone/>
                      </a:pPr>
                      <a:r>
                        <a:rPr lang="en-US" sz="1150" dirty="0">
                          <a:solidFill>
                            <a:srgbClr val="1A2233"/>
                          </a:solidFill>
                          <a:latin typeface="맑은 고딕" pitchFamily="34" charset="0"/>
                          <a:ea typeface="맑은 고딕" pitchFamily="34" charset="-122"/>
                          <a:cs typeface="맑은 고딕" pitchFamily="34" charset="-120"/>
                        </a:rPr>
                        <a:t>위치 · 자세 · 속도 공급</a:t>
                      </a:r>
                      <a:endParaRPr lang="en-US" sz="115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marL="0" indent="0">
                        <a:buNone/>
                      </a:pPr>
                      <a:r>
                        <a:rPr lang="en-US" sz="1150" b="1" dirty="0">
                          <a:solidFill>
                            <a:srgbClr val="1A2233"/>
                          </a:solidFill>
                          <a:latin typeface="맑은 고딕" pitchFamily="34" charset="0"/>
                          <a:ea typeface="맑은 고딕" pitchFamily="34" charset="-122"/>
                          <a:cs typeface="맑은 고딕" pitchFamily="34" charset="-120"/>
                        </a:rPr>
                        <a:t>NED / ENU</a:t>
                      </a:r>
                      <a:endParaRPr lang="en-US" sz="115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marL="0" indent="0">
                        <a:buNone/>
                      </a:pPr>
                      <a:r>
                        <a:rPr lang="en-US" sz="1150" dirty="0">
                          <a:solidFill>
                            <a:srgbClr val="1A2233"/>
                          </a:solidFill>
                          <a:latin typeface="맑은 고딕" pitchFamily="34" charset="0"/>
                          <a:ea typeface="맑은 고딕" pitchFamily="34" charset="-122"/>
                          <a:cs typeface="맑은 고딕" pitchFamily="34" charset="-120"/>
                        </a:rPr>
                        <a:t>배의 현재 위치</a:t>
                      </a:r>
                      <a:endParaRPr lang="en-US" sz="115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marL="0" indent="0">
                        <a:buNone/>
                      </a:pPr>
                      <a:r>
                        <a:rPr lang="en-US" sz="1150" dirty="0">
                          <a:solidFill>
                            <a:srgbClr val="1A2233"/>
                          </a:solidFill>
                          <a:latin typeface="맑은 고딕" pitchFamily="34" charset="0"/>
                          <a:ea typeface="맑은 고딕" pitchFamily="34" charset="-122"/>
                          <a:cs typeface="맑은 고딕" pitchFamily="34" charset="-120"/>
                        </a:rPr>
                        <a:t>N,E,D  /  E,N,U</a:t>
                      </a:r>
                      <a:endParaRPr lang="en-US" sz="115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marL="0" indent="0">
                        <a:buNone/>
                      </a:pPr>
                      <a:r>
                        <a:rPr lang="en-US" sz="1150" dirty="0">
                          <a:solidFill>
                            <a:srgbClr val="1A2233"/>
                          </a:solidFill>
                          <a:latin typeface="맑은 고딕" pitchFamily="34" charset="0"/>
                          <a:ea typeface="맑은 고딕" pitchFamily="34" charset="-122"/>
                          <a:cs typeface="맑은 고딕" pitchFamily="34" charset="-120"/>
                        </a:rPr>
                        <a:t>바다 위 지점</a:t>
                      </a:r>
                      <a:endParaRPr lang="en-US" sz="1150" dirty="0">
                        <a:latin typeface="맑은 고딕" charset="0"/>
                        <a:ea typeface="맑은 고딕" charset="0"/>
                        <a:cs typeface="맑은 고딕" charset="0"/>
                      </a:endParaRPr>
                    </a:p>
                    <a:p>
                      <a:pPr marL="0" indent="0">
                        <a:buNone/>
                      </a:pPr>
                      <a:r>
                        <a:rPr lang="en-US" sz="1150" dirty="0">
                          <a:solidFill>
                            <a:srgbClr val="1A2233"/>
                          </a:solidFill>
                          <a:latin typeface="맑은 고딕" pitchFamily="34" charset="0"/>
                          <a:ea typeface="맑은 고딕" pitchFamily="34" charset="-122"/>
                          <a:cs typeface="맑은 고딕" pitchFamily="34" charset="-120"/>
                        </a:rPr>
                        <a:t>(회전 안 함)</a:t>
                      </a:r>
                      <a:endParaRPr lang="en-US" sz="115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marL="0" indent="0">
                        <a:buNone/>
                      </a:pPr>
                      <a:r>
                        <a:rPr lang="en-US" sz="1150" dirty="0">
                          <a:solidFill>
                            <a:srgbClr val="1A2233"/>
                          </a:solidFill>
                          <a:latin typeface="맑은 고딕" pitchFamily="34" charset="0"/>
                          <a:ea typeface="맑은 고딕" pitchFamily="34" charset="-122"/>
                          <a:cs typeface="맑은 고딕" pitchFamily="34" charset="-120"/>
                        </a:rPr>
                        <a:t>데이터 처리 (추적 · 필터링)</a:t>
                      </a:r>
                      <a:endParaRPr lang="en-US" sz="115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marL="0" indent="0">
                        <a:buNone/>
                      </a:pPr>
                      <a:r>
                        <a:rPr lang="en-US" sz="1150" b="1" dirty="0">
                          <a:solidFill>
                            <a:srgbClr val="1A2233"/>
                          </a:solidFill>
                          <a:latin typeface="맑은 고딕" pitchFamily="34" charset="0"/>
                          <a:ea typeface="맑은 고딕" pitchFamily="34" charset="-122"/>
                          <a:cs typeface="맑은 고딕" pitchFamily="34" charset="-120"/>
                        </a:rPr>
                        <a:t>ECEF</a:t>
                      </a:r>
                      <a:endParaRPr lang="en-US" sz="115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marL="0" indent="0">
                        <a:buNone/>
                      </a:pPr>
                      <a:r>
                        <a:rPr lang="en-US" sz="1150" dirty="0">
                          <a:solidFill>
                            <a:srgbClr val="1A2233"/>
                          </a:solidFill>
                          <a:latin typeface="맑은 고딕" pitchFamily="34" charset="0"/>
                          <a:ea typeface="맑은 고딕" pitchFamily="34" charset="-122"/>
                          <a:cs typeface="맑은 고딕" pitchFamily="34" charset="-120"/>
                        </a:rPr>
                        <a:t>지구 중심</a:t>
                      </a:r>
                      <a:endParaRPr lang="en-US" sz="115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marL="0" indent="0">
                        <a:buNone/>
                      </a:pPr>
                      <a:r>
                        <a:rPr lang="en-US" sz="1150" dirty="0">
                          <a:solidFill>
                            <a:srgbClr val="1A2233"/>
                          </a:solidFill>
                          <a:latin typeface="맑은 고딕" pitchFamily="34" charset="0"/>
                          <a:ea typeface="맑은 고딕" pitchFamily="34" charset="-122"/>
                          <a:cs typeface="맑은 고딕" pitchFamily="34" charset="-120"/>
                        </a:rPr>
                        <a:t>Z 북극 · X 적도∩그리니치</a:t>
                      </a:r>
                      <a:endParaRPr lang="en-US" sz="115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marL="0" indent="0">
                        <a:buNone/>
                      </a:pPr>
                      <a:r>
                        <a:rPr lang="en-US" sz="1150" dirty="0">
                          <a:solidFill>
                            <a:srgbClr val="1A2233"/>
                          </a:solidFill>
                          <a:latin typeface="맑은 고딕" pitchFamily="34" charset="0"/>
                          <a:ea typeface="맑은 고딕" pitchFamily="34" charset="-122"/>
                          <a:cs typeface="맑은 고딕" pitchFamily="34" charset="-120"/>
                        </a:rPr>
                        <a:t>지구 (자전함)</a:t>
                      </a:r>
                      <a:endParaRPr lang="en-US" sz="115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marL="0" indent="0">
                        <a:buNone/>
                      </a:pPr>
                      <a:r>
                        <a:rPr lang="en-US" sz="1150" dirty="0">
                          <a:solidFill>
                            <a:srgbClr val="1A2233"/>
                          </a:solidFill>
                          <a:latin typeface="맑은 고딕" pitchFamily="34" charset="0"/>
                          <a:ea typeface="맑은 고딕" pitchFamily="34" charset="-122"/>
                          <a:cs typeface="맑은 고딕" pitchFamily="34" charset="-120"/>
                        </a:rPr>
                        <a:t>지구 기준 공통 좌표, 위경도로 가는 다리</a:t>
                      </a:r>
                      <a:endParaRPr lang="en-US" sz="115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marL="0" indent="0">
                        <a:buNone/>
                      </a:pPr>
                      <a:r>
                        <a:rPr lang="en-US" sz="1150" b="1" dirty="0">
                          <a:solidFill>
                            <a:srgbClr val="1A2233"/>
                          </a:solidFill>
                          <a:latin typeface="맑은 고딕" pitchFamily="34" charset="0"/>
                          <a:ea typeface="맑은 고딕" pitchFamily="34" charset="-122"/>
                          <a:cs typeface="맑은 고딕" pitchFamily="34" charset="-120"/>
                        </a:rPr>
                        <a:t>ECI</a:t>
                      </a:r>
                      <a:endParaRPr lang="en-US" sz="115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marL="0" indent="0">
                        <a:buNone/>
                      </a:pPr>
                      <a:r>
                        <a:rPr lang="en-US" sz="1150" dirty="0">
                          <a:solidFill>
                            <a:srgbClr val="1A2233"/>
                          </a:solidFill>
                          <a:latin typeface="맑은 고딕" pitchFamily="34" charset="0"/>
                          <a:ea typeface="맑은 고딕" pitchFamily="34" charset="-122"/>
                          <a:cs typeface="맑은 고딕" pitchFamily="34" charset="-120"/>
                        </a:rPr>
                        <a:t>지구 중심</a:t>
                      </a:r>
                      <a:endParaRPr lang="en-US" sz="115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marL="0" indent="0">
                        <a:buNone/>
                      </a:pPr>
                      <a:r>
                        <a:rPr lang="en-US" sz="1150" dirty="0">
                          <a:solidFill>
                            <a:srgbClr val="1A2233"/>
                          </a:solidFill>
                          <a:latin typeface="맑은 고딕" pitchFamily="34" charset="0"/>
                          <a:ea typeface="맑은 고딕" pitchFamily="34" charset="-122"/>
                          <a:cs typeface="맑은 고딕" pitchFamily="34" charset="-120"/>
                        </a:rPr>
                        <a:t>별자리에 고정</a:t>
                      </a:r>
                      <a:endParaRPr lang="en-US" sz="115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marL="0" indent="0">
                        <a:buNone/>
                      </a:pPr>
                      <a:r>
                        <a:rPr lang="en-US" sz="1150" dirty="0">
                          <a:solidFill>
                            <a:srgbClr val="1A2233"/>
                          </a:solidFill>
                          <a:latin typeface="맑은 고딕" pitchFamily="34" charset="0"/>
                          <a:ea typeface="맑은 고딕" pitchFamily="34" charset="-122"/>
                          <a:cs typeface="맑은 고딕" pitchFamily="34" charset="-120"/>
                        </a:rPr>
                        <a:t>없음 (회전 안 함)</a:t>
                      </a:r>
                      <a:endParaRPr lang="en-US" sz="115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marL="0" indent="0">
                        <a:buNone/>
                      </a:pPr>
                      <a:r>
                        <a:rPr lang="en-US" sz="1150" dirty="0">
                          <a:solidFill>
                            <a:srgbClr val="1A2233"/>
                          </a:solidFill>
                          <a:latin typeface="맑은 고딕" pitchFamily="34" charset="0"/>
                          <a:ea typeface="맑은 고딕" pitchFamily="34" charset="-122"/>
                          <a:cs typeface="맑은 고딕" pitchFamily="34" charset="-120"/>
                        </a:rPr>
                        <a:t>위성 · 탄도 표적의 운동 계산</a:t>
                      </a:r>
                      <a:endParaRPr lang="en-US" sz="115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marL="0" indent="0">
                        <a:buNone/>
                      </a:pPr>
                      <a:r>
                        <a:rPr lang="en-US" sz="1150" b="1" dirty="0">
                          <a:solidFill>
                            <a:srgbClr val="C2521C"/>
                          </a:solidFill>
                          <a:latin typeface="맑은 고딕" pitchFamily="34" charset="0"/>
                          <a:ea typeface="맑은 고딕" pitchFamily="34" charset="-122"/>
                          <a:cs typeface="맑은 고딕" pitchFamily="34" charset="-120"/>
                        </a:rPr>
                        <a:t>LLA</a:t>
                      </a:r>
                      <a:endParaRPr lang="en-US" sz="115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marL="0" indent="0">
                        <a:buNone/>
                      </a:pPr>
                      <a:r>
                        <a:rPr lang="en-US" sz="1150" dirty="0">
                          <a:solidFill>
                            <a:srgbClr val="C2521C"/>
                          </a:solidFill>
                          <a:latin typeface="맑은 고딕" pitchFamily="34" charset="0"/>
                          <a:ea typeface="맑은 고딕" pitchFamily="34" charset="-122"/>
                          <a:cs typeface="맑은 고딕" pitchFamily="34" charset="-120"/>
                        </a:rPr>
                        <a:t>(적도면 / 그리니치)</a:t>
                      </a:r>
                      <a:endParaRPr lang="en-US" sz="115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marL="0" indent="0">
                        <a:buNone/>
                      </a:pPr>
                      <a:r>
                        <a:rPr lang="en-US" sz="1150" dirty="0">
                          <a:solidFill>
                            <a:srgbClr val="C2521C"/>
                          </a:solidFill>
                          <a:latin typeface="맑은 고딕" pitchFamily="34" charset="0"/>
                          <a:ea typeface="맑은 고딕" pitchFamily="34" charset="-122"/>
                          <a:cs typeface="맑은 고딕" pitchFamily="34" charset="-120"/>
                        </a:rPr>
                        <a:t>위도 · 경도 · 고도</a:t>
                      </a:r>
                      <a:endParaRPr lang="en-US" sz="115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marL="0" indent="0">
                        <a:buNone/>
                      </a:pPr>
                      <a:r>
                        <a:rPr lang="en-US" sz="1150" dirty="0">
                          <a:solidFill>
                            <a:srgbClr val="C2521C"/>
                          </a:solidFill>
                          <a:latin typeface="맑은 고딕" pitchFamily="34" charset="0"/>
                          <a:ea typeface="맑은 고딕" pitchFamily="34" charset="-122"/>
                          <a:cs typeface="맑은 고딕" pitchFamily="34" charset="-120"/>
                        </a:rPr>
                        <a:t>지구</a:t>
                      </a:r>
                      <a:endParaRPr lang="en-US" sz="115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marL="0" indent="0">
                        <a:buNone/>
                      </a:pPr>
                      <a:r>
                        <a:rPr lang="en-US" sz="1150" dirty="0">
                          <a:solidFill>
                            <a:srgbClr val="C2521C"/>
                          </a:solidFill>
                          <a:latin typeface="맑은 고딕" pitchFamily="34" charset="0"/>
                          <a:ea typeface="맑은 고딕" pitchFamily="34" charset="-122"/>
                          <a:cs typeface="맑은 고딕" pitchFamily="34" charset="-120"/>
                        </a:rPr>
                        <a:t>지도 표시, 외부 전달</a:t>
                      </a:r>
                      <a:endParaRPr lang="en-US" sz="1150" dirty="0">
                        <a:latin typeface="맑은 고딕" charset="0"/>
                        <a:ea typeface="맑은 고딕" charset="0"/>
                        <a:cs typeface="맑은 고딕" charset="0"/>
                      </a:endParaRPr>
                    </a:p>
                  </a:txBody>
                  <a:tcPr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
        <p:nvSpPr>
          <p:cNvPr id="4" name="Shape 1"/>
          <p:cNvSpPr/>
          <p:nvPr/>
        </p:nvSpPr>
        <p:spPr>
          <a:xfrm>
            <a:off x="566928" y="5413248"/>
            <a:ext cx="11064240" cy="786384"/>
          </a:xfrm>
          <a:prstGeom prst="roundRect">
            <a:avLst>
              <a:gd name="adj" fmla="val 9302"/>
            </a:avLst>
          </a:prstGeom>
          <a:solidFill>
            <a:srgbClr val="EEF1F7"/>
          </a:solidFill>
          <a:ln w="12700">
            <a:solidFill>
              <a:srgbClr val="FFFFFF"/>
            </a:solidFill>
            <a:prstDash val="solid"/>
          </a:ln>
        </p:spPr>
        <p:txBody>
          <a:bodyPr/>
          <a:lstStyle/>
          <a:p>
            <a:endParaRPr/>
          </a:p>
        </p:txBody>
      </p:sp>
      <p:sp>
        <p:nvSpPr>
          <p:cNvPr id="5" name="Text 2"/>
          <p:cNvSpPr txBox="1"/>
          <p:nvPr/>
        </p:nvSpPr>
        <p:spPr>
          <a:xfrm>
            <a:off x="566928" y="5413248"/>
            <a:ext cx="11064240" cy="786384"/>
          </a:xfrm>
          <a:prstGeom prst="rect">
            <a:avLst/>
          </a:prstGeom>
          <a:noFill/>
          <a:ln/>
        </p:spPr>
        <p:txBody>
          <a:bodyPr wrap="square" lIns="0" tIns="0" rIns="0" bIns="0" rtlCol="0" anchor="ctr"/>
          <a:lstStyle/>
          <a:p>
            <a:pPr marL="0" indent="0" algn="ctr">
              <a:buNone/>
            </a:pPr>
            <a:r>
              <a:rPr lang="en-US" sz="1350" dirty="0">
                <a:solidFill>
                  <a:srgbClr val="1A2233"/>
                </a:solidFill>
                <a:latin typeface="맑은 고딕" pitchFamily="34" charset="0"/>
                <a:ea typeface="맑은 고딕" pitchFamily="34" charset="-122"/>
                <a:cs typeface="맑은 고딕" pitchFamily="34" charset="-120"/>
              </a:rPr>
              <a:t>순서를 건너뛸 수 없습니다.  안테나는 배에 붙어 있고, 배의 방향은 북쪽 기준으로 알려지고, 로컬 원점의 위치는 지구 좌표로만 표현되기 때문입니다.</a:t>
            </a:r>
            <a:endParaRPr lang="en-US" sz="1350" dirty="0"/>
          </a:p>
        </p:txBody>
      </p:sp>
      <p:sp>
        <p:nvSpPr>
          <p:cNvPr id="23" name="Rectangle 22"/>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endParaRPr/>
          </a:p>
        </p:txBody>
      </p:sp>
      <p:sp>
        <p:nvSpPr>
          <p:cNvPr id="24" name="TextBox 23"/>
          <p:cNvSpPr txBox="1"/>
          <p:nvPr/>
        </p:nvSpPr>
        <p:spPr>
          <a:xfrm>
            <a:off x="640080" y="411480"/>
            <a:ext cx="8732520" cy="777240"/>
          </a:xfrm>
          <a:prstGeom prst="rect">
            <a:avLst/>
          </a:prstGeom>
          <a:noFill/>
        </p:spPr>
        <p:txBody>
          <a:bodyPr wrap="square" lIns="0" tIns="0" rIns="0" bIns="0" anchor="ctr">
            <a:spAutoFit/>
          </a:bodyPr>
          <a:lstStyle/>
          <a:p>
            <a:pPr algn="l">
              <a:spcAft>
                <a:spcPts val="300"/>
              </a:spcAft>
            </a:pPr>
            <a:r>
              <a:rPr sz="2000" b="1">
                <a:solidFill>
                  <a:srgbClr val="FFFFFF"/>
                </a:solidFill>
                <a:latin typeface="맑은 고딕"/>
              </a:rPr>
              <a:t>부록 B.  여섯 좌표계 한눈에</a:t>
            </a:r>
          </a:p>
        </p:txBody>
      </p:sp>
      <p:cxnSp>
        <p:nvCxnSpPr>
          <p:cNvPr id="26" name="Connector 25"/>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0" y="6400800"/>
            <a:ext cx="914400" cy="274320"/>
          </a:xfrm>
          <a:prstGeom prst="rect">
            <a:avLst/>
          </a:prstGeom>
          <a:noFill/>
        </p:spPr>
        <p:txBody>
          <a:bodyPr wrap="none" lIns="0" tIns="0" rIns="0" bIns="0">
            <a:spAutoFit/>
          </a:bodyPr>
          <a:lstStyle/>
          <a:p>
            <a:pPr algn="ctr"/>
            <a:fld id="{1D0B0B0B-0000-4000-8000-00000000C0DE}" type="slidenum">
              <a:rPr lang="ko-KR" altLang="en-US" sz="1000" b="0" dirty="0">
                <a:solidFill>
                  <a:srgbClr val="1A2233"/>
                </a:solidFill>
                <a:latin typeface="Arial"/>
                <a:ea typeface="Arial"/>
              </a:rPr>
              <a:t>31</a:t>
            </a:fld>
            <a:endParaRPr lang="ko-KR" altLang="en-US" sz="1000" b="0" dirty="0">
              <a:solidFill>
                <a:srgbClr val="1A2233"/>
              </a:solidFill>
              <a:latin typeface="Arial"/>
              <a:ea typeface="Aria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92</TotalTime>
  <Words>6633</Words>
  <Application>Microsoft Office PowerPoint</Application>
  <PresentationFormat>사용자 지정</PresentationFormat>
  <Paragraphs>831</Paragraphs>
  <Slides>31</Slides>
  <Notes>31</Notes>
  <HiddenSlides>0</HiddenSlides>
  <MMClips>0</MMClips>
  <ScaleCrop>false</ScaleCrop>
  <HeadingPairs>
    <vt:vector size="4" baseType="variant">
      <vt:variant>
        <vt:lpstr>테마</vt:lpstr>
      </vt:variant>
      <vt:variant>
        <vt:i4>1</vt:i4>
      </vt:variant>
      <vt:variant>
        <vt:lpstr>슬라이드 제목</vt:lpstr>
      </vt:variant>
      <vt:variant>
        <vt:i4>31</vt:i4>
      </vt:variant>
    </vt:vector>
  </HeadingPairs>
  <TitlesOfParts>
    <vt:vector size="32" baseType="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PptxGenJS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2. 좌표계와 좌표변환</dc:title>
  <dc:subject>PptxGenJS Presentation</dc:subject>
  <dc:creator>radar-sw-study</dc:creator>
  <cp:lastModifiedBy>harley</cp:lastModifiedBy>
  <cp:revision>45</cp:revision>
  <dcterms:created xsi:type="dcterms:W3CDTF">2026-09-01T09:24:56Z</dcterms:created>
  <dcterms:modified xsi:type="dcterms:W3CDTF">2026-09-09T17:49:14Z</dcterms:modified>
</cp:coreProperties>
</file>